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oboto Slab"/>
      <p:regular r:id="rId17"/>
    </p:embeddedFont>
    <p:embeddedFont>
      <p:font typeface="Roboto Slab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14644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DevOps: Logging y Monitoreo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21124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logging y monitoreo son pilares fundamentales en DevOps. Permiten obtener visibilidad del sistema, detectar problemas y optimizar el rendimiento. Esta presentación explorará las herramientas y prácticas esenciales en este campo crucial.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934908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D89970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99252" y="6067544"/>
            <a:ext cx="124658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3C383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DR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918002"/>
            <a:ext cx="312515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por Diego Molina Roldan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552" y="2540556"/>
            <a:ext cx="5037296" cy="31483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412" y="637699"/>
            <a:ext cx="7887176" cy="1122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Principales herramientas de monitoreo</a:t>
            </a:r>
            <a:endParaRPr lang="en-US" sz="35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12" y="2029063"/>
            <a:ext cx="448866" cy="44886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28412" y="2657475"/>
            <a:ext cx="2244328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Prometheus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628412" y="3045619"/>
            <a:ext cx="7887176" cy="287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 de monitoreo y alerta de código abierto. Recopila y almacena métricas en tiempo real.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412" y="3871436"/>
            <a:ext cx="448866" cy="44886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28412" y="4499848"/>
            <a:ext cx="2244328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Grafana</a:t>
            </a:r>
            <a:endParaRPr lang="en-US" sz="1750" dirty="0"/>
          </a:p>
        </p:txBody>
      </p:sp>
      <p:sp>
        <p:nvSpPr>
          <p:cNvPr id="10" name="Text 4"/>
          <p:cNvSpPr/>
          <p:nvPr/>
        </p:nvSpPr>
        <p:spPr>
          <a:xfrm>
            <a:off x="628412" y="4887992"/>
            <a:ext cx="7887176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 de visualización y análisis. Crea dashboards interactivos con datos de múltiples fuentes.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12" y="6000988"/>
            <a:ext cx="448866" cy="44886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8412" y="6629400"/>
            <a:ext cx="2244328" cy="28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ELK Stack</a:t>
            </a: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628412" y="7017544"/>
            <a:ext cx="7887176" cy="574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Conjunto de herramientas para recopilar, procesar y visualizar logs. Incluye Elasticsearch, Logstash y Kibana.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Alertas y métricas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Alert Manager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Gestiona alertas enviadas por aplicaciones cliente. Agrupa, silencia y enruta notificaciones a los destinatarios adecuados.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Grafana Alerting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Integrado en Grafana. Permite crear reglas de alerta basadas en umbrales y patrones en los datos visualizados.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Métricas clave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CPU, memoria, latencia, errores y tiempo de respuesta. Fundamentales para evaluar el rendimiento del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13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1622" y="2579489"/>
            <a:ext cx="4391501" cy="528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Centralización de logs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833676" y="3361253"/>
            <a:ext cx="22860" cy="4402098"/>
          </a:xfrm>
          <a:prstGeom prst="roundRect">
            <a:avLst>
              <a:gd name="adj" fmla="val 110934"/>
            </a:avLst>
          </a:prstGeom>
          <a:solidFill>
            <a:srgbClr val="CFD2D8"/>
          </a:solidFill>
          <a:ln/>
        </p:spPr>
      </p:sp>
      <p:sp>
        <p:nvSpPr>
          <p:cNvPr id="5" name="Shape 2"/>
          <p:cNvSpPr/>
          <p:nvPr/>
        </p:nvSpPr>
        <p:spPr>
          <a:xfrm>
            <a:off x="1012388" y="3730109"/>
            <a:ext cx="591622" cy="22860"/>
          </a:xfrm>
          <a:prstGeom prst="roundRect">
            <a:avLst>
              <a:gd name="adj" fmla="val 110934"/>
            </a:avLst>
          </a:prstGeom>
          <a:solidFill>
            <a:srgbClr val="CFD2D8"/>
          </a:solidFill>
          <a:ln/>
        </p:spPr>
      </p:sp>
      <p:sp>
        <p:nvSpPr>
          <p:cNvPr id="6" name="Shape 3"/>
          <p:cNvSpPr/>
          <p:nvPr/>
        </p:nvSpPr>
        <p:spPr>
          <a:xfrm>
            <a:off x="654963" y="3551396"/>
            <a:ext cx="380286" cy="38028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7" name="Text 4"/>
          <p:cNvSpPr/>
          <p:nvPr/>
        </p:nvSpPr>
        <p:spPr>
          <a:xfrm>
            <a:off x="792837" y="3614738"/>
            <a:ext cx="104537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774865" y="3530203"/>
            <a:ext cx="2113240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Recopilación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774865" y="3895606"/>
            <a:ext cx="12263914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Agentes en cada servidor recolectan logs de aplicaciones y sistemas.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12388" y="4872871"/>
            <a:ext cx="591622" cy="22860"/>
          </a:xfrm>
          <a:prstGeom prst="roundRect">
            <a:avLst>
              <a:gd name="adj" fmla="val 110934"/>
            </a:avLst>
          </a:prstGeom>
          <a:solidFill>
            <a:srgbClr val="CFD2D8"/>
          </a:solidFill>
          <a:ln/>
        </p:spPr>
      </p:sp>
      <p:sp>
        <p:nvSpPr>
          <p:cNvPr id="11" name="Shape 8"/>
          <p:cNvSpPr/>
          <p:nvPr/>
        </p:nvSpPr>
        <p:spPr>
          <a:xfrm>
            <a:off x="654963" y="4694158"/>
            <a:ext cx="380286" cy="38028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775097" y="4757499"/>
            <a:ext cx="140018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774865" y="4672965"/>
            <a:ext cx="2113240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Procesamiento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774865" y="5038368"/>
            <a:ext cx="12263914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logs se normalizan y enriquecen para facilitar su análisis.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12388" y="6015633"/>
            <a:ext cx="591622" cy="22860"/>
          </a:xfrm>
          <a:prstGeom prst="roundRect">
            <a:avLst>
              <a:gd name="adj" fmla="val 110934"/>
            </a:avLst>
          </a:prstGeom>
          <a:solidFill>
            <a:srgbClr val="CFD2D8"/>
          </a:solidFill>
          <a:ln/>
        </p:spPr>
      </p:sp>
      <p:sp>
        <p:nvSpPr>
          <p:cNvPr id="16" name="Shape 13"/>
          <p:cNvSpPr/>
          <p:nvPr/>
        </p:nvSpPr>
        <p:spPr>
          <a:xfrm>
            <a:off x="654963" y="5836920"/>
            <a:ext cx="380286" cy="38028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17" name="Text 14"/>
          <p:cNvSpPr/>
          <p:nvPr/>
        </p:nvSpPr>
        <p:spPr>
          <a:xfrm>
            <a:off x="776645" y="5900261"/>
            <a:ext cx="136922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774865" y="5815727"/>
            <a:ext cx="2113240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Almacenamiento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774865" y="6181130"/>
            <a:ext cx="12263914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guardan en un sistema centralizado como Elasticsearch para su consulta y análisis.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12388" y="7158395"/>
            <a:ext cx="591622" cy="22860"/>
          </a:xfrm>
          <a:prstGeom prst="roundRect">
            <a:avLst>
              <a:gd name="adj" fmla="val 110934"/>
            </a:avLst>
          </a:prstGeom>
          <a:solidFill>
            <a:srgbClr val="CFD2D8"/>
          </a:solidFill>
          <a:ln/>
        </p:spPr>
      </p:sp>
      <p:sp>
        <p:nvSpPr>
          <p:cNvPr id="21" name="Shape 18"/>
          <p:cNvSpPr/>
          <p:nvPr/>
        </p:nvSpPr>
        <p:spPr>
          <a:xfrm>
            <a:off x="654963" y="6979682"/>
            <a:ext cx="380286" cy="380286"/>
          </a:xfrm>
          <a:prstGeom prst="roundRect">
            <a:avLst>
              <a:gd name="adj" fmla="val 6669"/>
            </a:avLst>
          </a:prstGeom>
          <a:solidFill>
            <a:srgbClr val="E9ECF2"/>
          </a:solidFill>
          <a:ln/>
        </p:spPr>
      </p:sp>
      <p:sp>
        <p:nvSpPr>
          <p:cNvPr id="22" name="Text 19"/>
          <p:cNvSpPr/>
          <p:nvPr/>
        </p:nvSpPr>
        <p:spPr>
          <a:xfrm>
            <a:off x="771644" y="7043023"/>
            <a:ext cx="146923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774865" y="6958489"/>
            <a:ext cx="2113240" cy="26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Visualización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774865" y="7323892"/>
            <a:ext cx="12263914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Herramientas como Kibana permiten explorar y visualizar los logs centralizados.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860358"/>
            <a:ext cx="4919305" cy="25088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72687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Monitoreo de aplicaciones en la nube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484596"/>
            <a:ext cx="3664863" cy="2758559"/>
          </a:xfrm>
          <a:prstGeom prst="roundRect">
            <a:avLst>
              <a:gd name="adj" fmla="val 1233"/>
            </a:avLst>
          </a:prstGeom>
          <a:solidFill>
            <a:srgbClr val="E9ECF2"/>
          </a:solidFill>
          <a:ln/>
        </p:spPr>
      </p:sp>
      <p:sp>
        <p:nvSpPr>
          <p:cNvPr id="6" name="Text 2"/>
          <p:cNvSpPr/>
          <p:nvPr/>
        </p:nvSpPr>
        <p:spPr>
          <a:xfrm>
            <a:off x="1020604" y="2711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Escalabilidad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201829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Monitoreo adaptable a entornos dinámicos con recursos que cambian constantemente.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4685467" y="2484596"/>
            <a:ext cx="3664863" cy="2758559"/>
          </a:xfrm>
          <a:prstGeom prst="roundRect">
            <a:avLst>
              <a:gd name="adj" fmla="val 1233"/>
            </a:avLst>
          </a:prstGeom>
          <a:solidFill>
            <a:srgbClr val="E9ECF2"/>
          </a:solidFill>
          <a:ln/>
        </p:spPr>
      </p:sp>
      <p:sp>
        <p:nvSpPr>
          <p:cNvPr id="9" name="Text 5"/>
          <p:cNvSpPr/>
          <p:nvPr/>
        </p:nvSpPr>
        <p:spPr>
          <a:xfrm>
            <a:off x="4912281" y="27114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Integración nativa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912281" y="3201829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herramientas proporcionadas por proveedores de nube como AWS CloudWatch o Azure Monitor.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5469969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</p:sp>
      <p:sp>
        <p:nvSpPr>
          <p:cNvPr id="12" name="Text 8"/>
          <p:cNvSpPr/>
          <p:nvPr/>
        </p:nvSpPr>
        <p:spPr>
          <a:xfrm>
            <a:off x="1020604" y="5696783"/>
            <a:ext cx="29053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Monitoreo distribuido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020604" y="6187202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Seguimiento de aplicaciones y servicios en múltiples regiones y zonas de disponibilidad.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4685467" y="5469969"/>
            <a:ext cx="3664863" cy="2032754"/>
          </a:xfrm>
          <a:prstGeom prst="roundRect">
            <a:avLst>
              <a:gd name="adj" fmla="val 1674"/>
            </a:avLst>
          </a:prstGeom>
          <a:solidFill>
            <a:srgbClr val="E9ECF2"/>
          </a:solidFill>
          <a:ln/>
        </p:spPr>
      </p:sp>
      <p:sp>
        <p:nvSpPr>
          <p:cNvPr id="15" name="Text 11"/>
          <p:cNvSpPr/>
          <p:nvPr/>
        </p:nvSpPr>
        <p:spPr>
          <a:xfrm>
            <a:off x="4912281" y="5696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Costos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912281" y="6187202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Optimización de recursos mediante el monitoreo detallado del uso y rendimiento.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3657" y="537448"/>
            <a:ext cx="4883825" cy="61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Tracing distribuido</a:t>
            </a:r>
            <a:endParaRPr lang="en-US" sz="38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57" y="1440894"/>
            <a:ext cx="976670" cy="1562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53339" y="1636157"/>
            <a:ext cx="244185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Instrumentación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953339" y="2058472"/>
            <a:ext cx="6507004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Añadir código para generar spans y trazar solicitudes a través de los servicios.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7" y="3003709"/>
            <a:ext cx="976670" cy="15628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53339" y="3198971"/>
            <a:ext cx="282154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Propagación de contexto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1953339" y="3621286"/>
            <a:ext cx="6507004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Transmitir información de trazado entre servicios para mantener la coherencia del trace.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7" y="4566523"/>
            <a:ext cx="976670" cy="15628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953339" y="4761786"/>
            <a:ext cx="244185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Recopilación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1953339" y="5184100"/>
            <a:ext cx="650700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Enviar datos de tracing a un sistema centralizado como Jaeger o Zipkin.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7" y="6129338"/>
            <a:ext cx="976670" cy="156281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953339" y="6324600"/>
            <a:ext cx="2441853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Análisis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1953339" y="6746915"/>
            <a:ext cx="6507004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Visualizar y analizar los traces para identificar cuellos de botella y optimizar el rendimiento.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2341721"/>
            <a:ext cx="4919305" cy="35460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7481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Logging en contenedores y microservicios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93790" y="276105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6" name="Text 2"/>
          <p:cNvSpPr/>
          <p:nvPr/>
        </p:nvSpPr>
        <p:spPr>
          <a:xfrm>
            <a:off x="978813" y="2846070"/>
            <a:ext cx="14025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3"/>
          <p:cNvSpPr/>
          <p:nvPr/>
        </p:nvSpPr>
        <p:spPr>
          <a:xfrm>
            <a:off x="1530906" y="27610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Desafíos únicos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530906" y="3251478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naturaleza efímera de los contenedores requiere estrategias de logging especializadas.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4685467" y="276105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0" name="Text 6"/>
          <p:cNvSpPr/>
          <p:nvPr/>
        </p:nvSpPr>
        <p:spPr>
          <a:xfrm>
            <a:off x="4846677" y="2846070"/>
            <a:ext cx="18788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5422583" y="2761059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Logging de stdout/stderr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22583" y="3605808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Captura de logs directamente desde la salida estándar de los contenedores.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53938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4" name="Text 10"/>
          <p:cNvSpPr/>
          <p:nvPr/>
        </p:nvSpPr>
        <p:spPr>
          <a:xfrm>
            <a:off x="957024" y="5624393"/>
            <a:ext cx="1837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1"/>
          <p:cNvSpPr/>
          <p:nvPr/>
        </p:nvSpPr>
        <p:spPr>
          <a:xfrm>
            <a:off x="1530906" y="5539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Sidecar containers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530906" y="6029801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Uso de contenedores adicionales dedicados a la recopilación y envío de logs.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4685467" y="553938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8" name="Text 14"/>
          <p:cNvSpPr/>
          <p:nvPr/>
        </p:nvSpPr>
        <p:spPr>
          <a:xfrm>
            <a:off x="4842034" y="5624393"/>
            <a:ext cx="19716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5"/>
          <p:cNvSpPr/>
          <p:nvPr/>
        </p:nvSpPr>
        <p:spPr>
          <a:xfrm>
            <a:off x="5422583" y="5539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Correlación de logs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422583" y="6029801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Implementación de IDs de correlación para rastrear solicitudes a través de microservicios.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24789"/>
            <a:ext cx="123414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Importancia del monitoreo y la observabilidad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73729"/>
            <a:ext cx="13042821" cy="1966198"/>
          </a:xfrm>
          <a:prstGeom prst="roundRect">
            <a:avLst>
              <a:gd name="adj" fmla="val 173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5081349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522505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Detección temprana de problemas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45824" y="5225058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Optimización del rendimiento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573166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587537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de la experiencia del usuario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545824" y="587537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Reducción de costos operativos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638198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8224" y="652569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Cumplimiento de SLAs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545824" y="652569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 de decisiones informada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558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3545" y="3240048"/>
            <a:ext cx="10563939" cy="663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Integración de herramientas de monitoreo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3545" y="4541163"/>
            <a:ext cx="13143309" cy="22860"/>
          </a:xfrm>
          <a:prstGeom prst="roundRect">
            <a:avLst>
              <a:gd name="adj" fmla="val 139414"/>
            </a:avLst>
          </a:prstGeom>
          <a:solidFill>
            <a:srgbClr val="CFD2D8"/>
          </a:solidFill>
          <a:ln/>
        </p:spPr>
      </p:sp>
      <p:sp>
        <p:nvSpPr>
          <p:cNvPr id="5" name="Shape 2"/>
          <p:cNvSpPr/>
          <p:nvPr/>
        </p:nvSpPr>
        <p:spPr>
          <a:xfrm>
            <a:off x="2295168" y="4541103"/>
            <a:ext cx="22860" cy="743545"/>
          </a:xfrm>
          <a:prstGeom prst="roundRect">
            <a:avLst>
              <a:gd name="adj" fmla="val 139414"/>
            </a:avLst>
          </a:prstGeom>
          <a:solidFill>
            <a:srgbClr val="CFD2D8"/>
          </a:solidFill>
          <a:ln/>
        </p:spPr>
      </p:sp>
      <p:sp>
        <p:nvSpPr>
          <p:cNvPr id="6" name="Shape 3"/>
          <p:cNvSpPr/>
          <p:nvPr/>
        </p:nvSpPr>
        <p:spPr>
          <a:xfrm>
            <a:off x="2067639" y="4302145"/>
            <a:ext cx="478036" cy="478036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7" name="Text 4"/>
          <p:cNvSpPr/>
          <p:nvPr/>
        </p:nvSpPr>
        <p:spPr>
          <a:xfrm>
            <a:off x="2240994" y="4381798"/>
            <a:ext cx="131326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955953" y="5497235"/>
            <a:ext cx="2701647" cy="66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Recopilación de datos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955953" y="6288524"/>
            <a:ext cx="2701647" cy="101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Agentes y exportadores recogen métricas, logs y traces de diversas fuentes.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634157" y="4541103"/>
            <a:ext cx="22860" cy="743545"/>
          </a:xfrm>
          <a:prstGeom prst="roundRect">
            <a:avLst>
              <a:gd name="adj" fmla="val 139414"/>
            </a:avLst>
          </a:prstGeom>
          <a:solidFill>
            <a:srgbClr val="CFD2D8"/>
          </a:solidFill>
          <a:ln/>
        </p:spPr>
      </p:sp>
      <p:sp>
        <p:nvSpPr>
          <p:cNvPr id="11" name="Shape 8"/>
          <p:cNvSpPr/>
          <p:nvPr/>
        </p:nvSpPr>
        <p:spPr>
          <a:xfrm>
            <a:off x="5406628" y="4302145"/>
            <a:ext cx="478036" cy="478036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2" name="Text 9"/>
          <p:cNvSpPr/>
          <p:nvPr/>
        </p:nvSpPr>
        <p:spPr>
          <a:xfrm>
            <a:off x="5557599" y="4381798"/>
            <a:ext cx="175974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4294823" y="5497235"/>
            <a:ext cx="2701766" cy="66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Almacenamiento centralizado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4294823" y="6288524"/>
            <a:ext cx="2701766" cy="101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datos se almacenan en sistemas como Prometheus o Elasticsearch.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8973026" y="4541103"/>
            <a:ext cx="22860" cy="743545"/>
          </a:xfrm>
          <a:prstGeom prst="roundRect">
            <a:avLst>
              <a:gd name="adj" fmla="val 139414"/>
            </a:avLst>
          </a:prstGeom>
          <a:solidFill>
            <a:srgbClr val="CFD2D8"/>
          </a:solidFill>
          <a:ln/>
        </p:spPr>
      </p:sp>
      <p:sp>
        <p:nvSpPr>
          <p:cNvPr id="16" name="Shape 13"/>
          <p:cNvSpPr/>
          <p:nvPr/>
        </p:nvSpPr>
        <p:spPr>
          <a:xfrm>
            <a:off x="8745498" y="4302145"/>
            <a:ext cx="478036" cy="478036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7" name="Text 14"/>
          <p:cNvSpPr/>
          <p:nvPr/>
        </p:nvSpPr>
        <p:spPr>
          <a:xfrm>
            <a:off x="8898374" y="4381798"/>
            <a:ext cx="172164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7633811" y="5497235"/>
            <a:ext cx="2701647" cy="66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Procesamiento y análisis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633811" y="6288524"/>
            <a:ext cx="2701647" cy="135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Herramientas como Logstash o Fluentd procesan y enriquecen los datos.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2312015" y="4541103"/>
            <a:ext cx="22860" cy="743545"/>
          </a:xfrm>
          <a:prstGeom prst="roundRect">
            <a:avLst>
              <a:gd name="adj" fmla="val 139414"/>
            </a:avLst>
          </a:prstGeom>
          <a:solidFill>
            <a:srgbClr val="CFD2D8"/>
          </a:solidFill>
          <a:ln/>
        </p:spPr>
      </p:sp>
      <p:sp>
        <p:nvSpPr>
          <p:cNvPr id="21" name="Shape 18"/>
          <p:cNvSpPr/>
          <p:nvPr/>
        </p:nvSpPr>
        <p:spPr>
          <a:xfrm>
            <a:off x="12084487" y="4302145"/>
            <a:ext cx="478036" cy="478036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22" name="Text 19"/>
          <p:cNvSpPr/>
          <p:nvPr/>
        </p:nvSpPr>
        <p:spPr>
          <a:xfrm>
            <a:off x="12231172" y="4381798"/>
            <a:ext cx="184666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10972681" y="5497235"/>
            <a:ext cx="2701766" cy="66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Visualización unificada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10972681" y="6288524"/>
            <a:ext cx="2701766" cy="135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Dashboards en Grafana integran datos de múltiples fuentes para una visión completa.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253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Buenas prácticas y recomendaciones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382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5" name="Text 2"/>
          <p:cNvSpPr/>
          <p:nvPr/>
        </p:nvSpPr>
        <p:spPr>
          <a:xfrm>
            <a:off x="6465213" y="3023235"/>
            <a:ext cx="140256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2938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Monitoreo proactivo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428643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Establecer alertas basadas en umbrales para detectar problemas antes de que afecten a los usuarios.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29382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9" name="Text 6"/>
          <p:cNvSpPr/>
          <p:nvPr/>
        </p:nvSpPr>
        <p:spPr>
          <a:xfrm>
            <a:off x="10333077" y="3023235"/>
            <a:ext cx="18788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2938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Logs estructurados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42864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Utilizar formatos como JSON para facilitar el parsing y análisis de logs.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36221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3" name="Text 10"/>
          <p:cNvSpPr/>
          <p:nvPr/>
        </p:nvSpPr>
        <p:spPr>
          <a:xfrm>
            <a:off x="6443424" y="5447228"/>
            <a:ext cx="1837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362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Retención de datos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5852636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Definir políticas de retención adecuadas para equilibrar el análisis histórico y los costos.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10171867" y="536221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9ECF2"/>
          </a:solidFill>
          <a:ln/>
        </p:spPr>
      </p:sp>
      <p:sp>
        <p:nvSpPr>
          <p:cNvPr id="17" name="Text 14"/>
          <p:cNvSpPr/>
          <p:nvPr/>
        </p:nvSpPr>
        <p:spPr>
          <a:xfrm>
            <a:off x="10328434" y="5447228"/>
            <a:ext cx="19716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10908983" y="5362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Automatización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0908983" y="5852636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la configuración de monitoreo como código para mantener la consistencia.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2024-11-04T15:08:41Z</dcterms:created>
  <dcterms:modified xsi:type="dcterms:W3CDTF">2024-11-04T15:08:41Z</dcterms:modified>
</cp:coreProperties>
</file>