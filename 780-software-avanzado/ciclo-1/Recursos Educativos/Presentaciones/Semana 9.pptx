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Alexandria Semi Bold"/>
      <p:regular r:id="rId15"/>
    </p:embeddedFont>
    <p:embeddedFont>
      <p:font typeface="Alexandria Semi Bold"/>
      <p:regular r:id="rId16"/>
    </p:embeddedFont>
    <p:embeddedFont>
      <p:font typeface="Sora Light"/>
      <p:regular r:id="rId17"/>
    </p:embeddedFont>
    <p:embeddedFont>
      <p:font typeface="Sora Light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1790462"/>
            <a:ext cx="7627382" cy="1967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DevOps: Testing &amp; Entrega Continua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6244709" y="4082534"/>
            <a:ext cx="7627382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DevOps es una filosofía que integra el desarrollo de software (Dev) y las operaciones (Ops) para mejorar la calidad, la velocidad y la confiabilidad del ciclo de vida del software. Esto se logra mediante la automatización de los procesos, la colaboración entre equipos y la entrega continua de software.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6244709" y="6075998"/>
            <a:ext cx="346591" cy="346591"/>
          </a:xfrm>
          <a:prstGeom prst="roundRect">
            <a:avLst>
              <a:gd name="adj" fmla="val 26380043"/>
            </a:avLst>
          </a:prstGeom>
          <a:solidFill>
            <a:srgbClr val="D89970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344960" y="6200537"/>
            <a:ext cx="146090" cy="97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50"/>
              </a:lnSpc>
              <a:buNone/>
            </a:pPr>
            <a:r>
              <a:rPr lang="en-US" sz="750" dirty="0">
                <a:solidFill>
                  <a:srgbClr val="3C3838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DR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6699528" y="6059805"/>
            <a:ext cx="3452932" cy="379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1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por Diego Molina Roldan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063710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Conceptos de CI/CD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3317915"/>
            <a:ext cx="3613190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Integración Continua (CI)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309" y="3890724"/>
            <a:ext cx="4018359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Proceso de fusionar constantemente los cambios de código de un equipo en una rama principal, construyendo y probando el software de manera automática.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312926" y="3317915"/>
            <a:ext cx="3232309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Entrega Continua (CD)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12926" y="3890724"/>
            <a:ext cx="4018359" cy="2080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Práctica de asegurar que el software puede ser lanzado de manera segura en cualquier momento, a través de la automatización de todo el proceso de construcción, pruebas y despliegue.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867543" y="3317915"/>
            <a:ext cx="3023711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Despliegue Continuo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67543" y="3890724"/>
            <a:ext cx="4018359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Extensión de la entrega continua donde los cambios se despliegan automáticamente en producción tan pronto como superan las pruebas.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3235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0558" y="2834759"/>
            <a:ext cx="4891564" cy="611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800"/>
              </a:lnSpc>
              <a:buNone/>
            </a:pPr>
            <a:r>
              <a:rPr lang="en-US" sz="38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Pipelines CI/CD</a:t>
            </a:r>
            <a:endParaRPr lang="en-US" sz="3850" dirty="0"/>
          </a:p>
        </p:txBody>
      </p:sp>
      <p:sp>
        <p:nvSpPr>
          <p:cNvPr id="4" name="Shape 1"/>
          <p:cNvSpPr/>
          <p:nvPr/>
        </p:nvSpPr>
        <p:spPr>
          <a:xfrm>
            <a:off x="650558" y="5572958"/>
            <a:ext cx="13329285" cy="22860"/>
          </a:xfrm>
          <a:prstGeom prst="roundRect">
            <a:avLst>
              <a:gd name="adj" fmla="val 341513"/>
            </a:avLst>
          </a:prstGeom>
          <a:solidFill>
            <a:srgbClr val="BBC2DC"/>
          </a:solidFill>
          <a:ln/>
        </p:spPr>
      </p:sp>
      <p:sp>
        <p:nvSpPr>
          <p:cNvPr id="5" name="Shape 2"/>
          <p:cNvSpPr/>
          <p:nvPr/>
        </p:nvSpPr>
        <p:spPr>
          <a:xfrm>
            <a:off x="3249216" y="4922401"/>
            <a:ext cx="22860" cy="650558"/>
          </a:xfrm>
          <a:prstGeom prst="roundRect">
            <a:avLst>
              <a:gd name="adj" fmla="val 341513"/>
            </a:avLst>
          </a:prstGeom>
          <a:solidFill>
            <a:srgbClr val="BBC2DC"/>
          </a:solidFill>
          <a:ln/>
        </p:spPr>
      </p:sp>
      <p:sp>
        <p:nvSpPr>
          <p:cNvPr id="6" name="Shape 3"/>
          <p:cNvSpPr/>
          <p:nvPr/>
        </p:nvSpPr>
        <p:spPr>
          <a:xfrm>
            <a:off x="3051572" y="5363885"/>
            <a:ext cx="418148" cy="418147"/>
          </a:xfrm>
          <a:prstGeom prst="roundRect">
            <a:avLst>
              <a:gd name="adj" fmla="val 18670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2900" y="5426154"/>
            <a:ext cx="11537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1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2037755" y="3724870"/>
            <a:ext cx="2445782" cy="305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Commit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36414" y="4141946"/>
            <a:ext cx="4848463" cy="594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Cada cambio de código es confirmado en el sistema de control de versiones.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952173" y="5572958"/>
            <a:ext cx="22860" cy="650558"/>
          </a:xfrm>
          <a:prstGeom prst="roundRect">
            <a:avLst>
              <a:gd name="adj" fmla="val 341513"/>
            </a:avLst>
          </a:prstGeom>
          <a:solidFill>
            <a:srgbClr val="BBC2DC"/>
          </a:solidFill>
          <a:ln/>
        </p:spPr>
      </p:sp>
      <p:sp>
        <p:nvSpPr>
          <p:cNvPr id="11" name="Shape 8"/>
          <p:cNvSpPr/>
          <p:nvPr/>
        </p:nvSpPr>
        <p:spPr>
          <a:xfrm>
            <a:off x="5754529" y="5363885"/>
            <a:ext cx="418148" cy="418147"/>
          </a:xfrm>
          <a:prstGeom prst="roundRect">
            <a:avLst>
              <a:gd name="adj" fmla="val 18670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75973" y="5426154"/>
            <a:ext cx="175260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2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4740712" y="6409373"/>
            <a:ext cx="2445782" cy="305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Construir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3539371" y="6826448"/>
            <a:ext cx="4848463" cy="594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El código es compilado y empaquetado de manera automática.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8655248" y="4922401"/>
            <a:ext cx="22860" cy="650558"/>
          </a:xfrm>
          <a:prstGeom prst="roundRect">
            <a:avLst>
              <a:gd name="adj" fmla="val 341513"/>
            </a:avLst>
          </a:prstGeom>
          <a:solidFill>
            <a:srgbClr val="BBC2DC"/>
          </a:solidFill>
          <a:ln/>
        </p:spPr>
      </p:sp>
      <p:sp>
        <p:nvSpPr>
          <p:cNvPr id="16" name="Shape 13"/>
          <p:cNvSpPr/>
          <p:nvPr/>
        </p:nvSpPr>
        <p:spPr>
          <a:xfrm>
            <a:off x="8457605" y="5363885"/>
            <a:ext cx="418148" cy="418147"/>
          </a:xfrm>
          <a:prstGeom prst="roundRect">
            <a:avLst>
              <a:gd name="adj" fmla="val 18670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578929" y="5426154"/>
            <a:ext cx="175498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3</a:t>
            </a:r>
            <a:endParaRPr lang="en-US" sz="2300" dirty="0"/>
          </a:p>
        </p:txBody>
      </p:sp>
      <p:sp>
        <p:nvSpPr>
          <p:cNvPr id="18" name="Text 15"/>
          <p:cNvSpPr/>
          <p:nvPr/>
        </p:nvSpPr>
        <p:spPr>
          <a:xfrm>
            <a:off x="7443788" y="3724870"/>
            <a:ext cx="2445782" cy="305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Probar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6242447" y="4141946"/>
            <a:ext cx="4848463" cy="594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Se ejecutan las pruebas unitarias, de integración y de aceptación de manera automática.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11358205" y="5572958"/>
            <a:ext cx="22860" cy="650558"/>
          </a:xfrm>
          <a:prstGeom prst="roundRect">
            <a:avLst>
              <a:gd name="adj" fmla="val 341513"/>
            </a:avLst>
          </a:prstGeom>
          <a:solidFill>
            <a:srgbClr val="BBC2DC"/>
          </a:solidFill>
          <a:ln/>
        </p:spPr>
      </p:sp>
      <p:sp>
        <p:nvSpPr>
          <p:cNvPr id="21" name="Shape 18"/>
          <p:cNvSpPr/>
          <p:nvPr/>
        </p:nvSpPr>
        <p:spPr>
          <a:xfrm>
            <a:off x="11160562" y="5363885"/>
            <a:ext cx="418148" cy="418147"/>
          </a:xfrm>
          <a:prstGeom prst="roundRect">
            <a:avLst>
              <a:gd name="adj" fmla="val 18670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281172" y="5426154"/>
            <a:ext cx="176927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4</a:t>
            </a:r>
            <a:endParaRPr lang="en-US" sz="2300" dirty="0"/>
          </a:p>
        </p:txBody>
      </p:sp>
      <p:sp>
        <p:nvSpPr>
          <p:cNvPr id="23" name="Text 20"/>
          <p:cNvSpPr/>
          <p:nvPr/>
        </p:nvSpPr>
        <p:spPr>
          <a:xfrm>
            <a:off x="10146744" y="6409373"/>
            <a:ext cx="2445782" cy="305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Desplegar</a:t>
            </a:r>
            <a:endParaRPr lang="en-US" sz="1900" dirty="0"/>
          </a:p>
        </p:txBody>
      </p:sp>
      <p:sp>
        <p:nvSpPr>
          <p:cNvPr id="24" name="Text 21"/>
          <p:cNvSpPr/>
          <p:nvPr/>
        </p:nvSpPr>
        <p:spPr>
          <a:xfrm>
            <a:off x="8945404" y="6826448"/>
            <a:ext cx="4848463" cy="891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Los cambios se despliegan automáticamente a los diferentes entornos (desarrollo, pruebas, producción).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4475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324" y="2985968"/>
            <a:ext cx="8252817" cy="644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050"/>
              </a:lnSpc>
              <a:buNone/>
            </a:pPr>
            <a:r>
              <a:rPr lang="en-US" sz="40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Automatización de despliegues</a:t>
            </a:r>
            <a:endParaRPr lang="en-US" sz="4050" dirty="0"/>
          </a:p>
        </p:txBody>
      </p:sp>
      <p:sp>
        <p:nvSpPr>
          <p:cNvPr id="4" name="Shape 1"/>
          <p:cNvSpPr/>
          <p:nvPr/>
        </p:nvSpPr>
        <p:spPr>
          <a:xfrm>
            <a:off x="685324" y="3923705"/>
            <a:ext cx="6532007" cy="1786295"/>
          </a:xfrm>
          <a:prstGeom prst="roundRect">
            <a:avLst>
              <a:gd name="adj" fmla="val 4604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88683" y="4127063"/>
            <a:ext cx="3752255" cy="322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Infraestructura como Código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88683" y="4566523"/>
            <a:ext cx="6125289" cy="94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Utilizar código para definir y aprovisionar la infraestructura (servidores, redes, bases de datos, etc.) de manera automatizada.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413069" y="3923705"/>
            <a:ext cx="6532007" cy="1786295"/>
          </a:xfrm>
          <a:prstGeom prst="roundRect">
            <a:avLst>
              <a:gd name="adj" fmla="val 4604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16428" y="4127063"/>
            <a:ext cx="3107650" cy="322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Despliegues Blue/Green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616428" y="4566523"/>
            <a:ext cx="6125289" cy="94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Técnica que permite realizar despliegues sin tiempo de inactividad, manteniendo en paralelo dos entornos de producción.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85324" y="5905738"/>
            <a:ext cx="6532007" cy="1786295"/>
          </a:xfrm>
          <a:prstGeom prst="roundRect">
            <a:avLst>
              <a:gd name="adj" fmla="val 4604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8683" y="6109097"/>
            <a:ext cx="2576393" cy="322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Canary Releases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888683" y="6548557"/>
            <a:ext cx="6125289" cy="94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Lanzar nuevas versiones a un pequeño segmento de usuarios primero, para monitorear el impacto antes de desplegar a toda la base de usuarios.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413069" y="5905738"/>
            <a:ext cx="6532007" cy="1786295"/>
          </a:xfrm>
          <a:prstGeom prst="roundRect">
            <a:avLst>
              <a:gd name="adj" fmla="val 4604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16428" y="6109097"/>
            <a:ext cx="3339941" cy="322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Rollbacks Automatizados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7616428" y="6548557"/>
            <a:ext cx="6125289" cy="626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Capacidad de volver rápidamente a una versión anterior en caso de que surjan problemas con un nuevo despliegue.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3031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5808" y="586026"/>
            <a:ext cx="7652385" cy="1401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Gestión de versiones y release tagging</a:t>
            </a:r>
            <a:endParaRPr lang="en-US" sz="44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808" y="2307431"/>
            <a:ext cx="1065490" cy="170485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130862" y="2520434"/>
            <a:ext cx="2804041" cy="35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Branches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2130862" y="2998589"/>
            <a:ext cx="6267331" cy="681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Mantener ramas separadas para desarrollos, correcciones de bugs, lanzamientos, etc.</a:t>
            </a:r>
            <a:endParaRPr lang="en-US" sz="16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808" y="4012287"/>
            <a:ext cx="1065490" cy="170485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130862" y="4225290"/>
            <a:ext cx="2804041" cy="35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Etiquetas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2130862" y="4703445"/>
            <a:ext cx="6267331" cy="681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Marcar versiones específicas del código para facilitar la trazabilidad y los despliegues.</a:t>
            </a:r>
            <a:endParaRPr lang="en-US" sz="16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808" y="5717143"/>
            <a:ext cx="1065490" cy="192714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130862" y="5930146"/>
            <a:ext cx="2804041" cy="35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Semver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2130862" y="6408301"/>
            <a:ext cx="6267331" cy="1022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Utilizar la convención de versiones Semánticas (mayor.menor.parche) para indicar el impacto de los cambios.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237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6388" y="2731056"/>
            <a:ext cx="13377624" cy="1177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Integración continua vs. entrega continua vs. despliegue continuo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26388" y="5956340"/>
            <a:ext cx="13377624" cy="22860"/>
          </a:xfrm>
          <a:prstGeom prst="roundRect">
            <a:avLst>
              <a:gd name="adj" fmla="val 328836"/>
            </a:avLst>
          </a:prstGeom>
          <a:solidFill>
            <a:srgbClr val="BBC2DC"/>
          </a:solidFill>
          <a:ln/>
        </p:spPr>
      </p:sp>
      <p:sp>
        <p:nvSpPr>
          <p:cNvPr id="5" name="Shape 2"/>
          <p:cNvSpPr/>
          <p:nvPr/>
        </p:nvSpPr>
        <p:spPr>
          <a:xfrm>
            <a:off x="3914537" y="5329952"/>
            <a:ext cx="22860" cy="626388"/>
          </a:xfrm>
          <a:prstGeom prst="roundRect">
            <a:avLst>
              <a:gd name="adj" fmla="val 328836"/>
            </a:avLst>
          </a:prstGeom>
          <a:solidFill>
            <a:srgbClr val="BBC2DC"/>
          </a:solidFill>
          <a:ln/>
        </p:spPr>
      </p:sp>
      <p:sp>
        <p:nvSpPr>
          <p:cNvPr id="6" name="Shape 3"/>
          <p:cNvSpPr/>
          <p:nvPr/>
        </p:nvSpPr>
        <p:spPr>
          <a:xfrm>
            <a:off x="3724632" y="5755005"/>
            <a:ext cx="402669" cy="402669"/>
          </a:xfrm>
          <a:prstGeom prst="roundRect">
            <a:avLst>
              <a:gd name="adj" fmla="val 18668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70365" y="5815013"/>
            <a:ext cx="111085" cy="282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2664500" y="4176951"/>
            <a:ext cx="2522934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Integración Continua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05339" y="4578548"/>
            <a:ext cx="6241375" cy="57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Fusionar y probar los cambios de código de manera automática, sin preocuparse por el despliegue.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303651" y="5956340"/>
            <a:ext cx="22860" cy="626388"/>
          </a:xfrm>
          <a:prstGeom prst="roundRect">
            <a:avLst>
              <a:gd name="adj" fmla="val 328836"/>
            </a:avLst>
          </a:prstGeom>
          <a:solidFill>
            <a:srgbClr val="BBC2DC"/>
          </a:solidFill>
          <a:ln/>
        </p:spPr>
      </p:sp>
      <p:sp>
        <p:nvSpPr>
          <p:cNvPr id="11" name="Shape 8"/>
          <p:cNvSpPr/>
          <p:nvPr/>
        </p:nvSpPr>
        <p:spPr>
          <a:xfrm>
            <a:off x="7113746" y="5755005"/>
            <a:ext cx="402669" cy="402669"/>
          </a:xfrm>
          <a:prstGeom prst="roundRect">
            <a:avLst>
              <a:gd name="adj" fmla="val 18668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230666" y="5815013"/>
            <a:ext cx="168712" cy="282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137672" y="6761678"/>
            <a:ext cx="2354937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Entrega Continua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4194453" y="7163276"/>
            <a:ext cx="6241375" cy="57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Asegurar que el software está siempre listo para ser desplegado, pero el despliegue es manual.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10692884" y="5329952"/>
            <a:ext cx="22860" cy="626388"/>
          </a:xfrm>
          <a:prstGeom prst="roundRect">
            <a:avLst>
              <a:gd name="adj" fmla="val 328836"/>
            </a:avLst>
          </a:prstGeom>
          <a:solidFill>
            <a:srgbClr val="BBC2DC"/>
          </a:solidFill>
          <a:ln/>
        </p:spPr>
      </p:sp>
      <p:sp>
        <p:nvSpPr>
          <p:cNvPr id="16" name="Shape 13"/>
          <p:cNvSpPr/>
          <p:nvPr/>
        </p:nvSpPr>
        <p:spPr>
          <a:xfrm>
            <a:off x="10502979" y="5755005"/>
            <a:ext cx="402669" cy="402669"/>
          </a:xfrm>
          <a:prstGeom prst="roundRect">
            <a:avLst>
              <a:gd name="adj" fmla="val 18668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619780" y="5815013"/>
            <a:ext cx="169069" cy="282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9455706" y="4176951"/>
            <a:ext cx="2497098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Despliegue Continuo</a:t>
            </a:r>
            <a:endParaRPr lang="en-US" sz="1850" dirty="0"/>
          </a:p>
        </p:txBody>
      </p:sp>
      <p:sp>
        <p:nvSpPr>
          <p:cNvPr id="19" name="Text 16"/>
          <p:cNvSpPr/>
          <p:nvPr/>
        </p:nvSpPr>
        <p:spPr>
          <a:xfrm>
            <a:off x="7583567" y="4578548"/>
            <a:ext cx="6241494" cy="57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Desplegar automáticamente los cambios a producción tan pronto como pasan las pruebas.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326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78868" y="544116"/>
            <a:ext cx="7759065" cy="1301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100"/>
              </a:lnSpc>
              <a:buNone/>
            </a:pPr>
            <a:r>
              <a:rPr lang="en-US" sz="41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Principales herramientas CI/CD</a:t>
            </a:r>
            <a:endParaRPr lang="en-US" sz="41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8868" y="2142411"/>
            <a:ext cx="494586" cy="49458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178868" y="2834759"/>
            <a:ext cx="2603421" cy="325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Jenkins</a:t>
            </a:r>
            <a:endParaRPr lang="en-US" sz="2050" dirty="0"/>
          </a:p>
        </p:txBody>
      </p:sp>
      <p:sp>
        <p:nvSpPr>
          <p:cNvPr id="6" name="Text 2"/>
          <p:cNvSpPr/>
          <p:nvPr/>
        </p:nvSpPr>
        <p:spPr>
          <a:xfrm>
            <a:off x="6178868" y="3278862"/>
            <a:ext cx="7759065" cy="316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Plataforma de automatización de código abierto líder en el mercado.</a:t>
            </a:r>
            <a:endParaRPr lang="en-US" sz="15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8868" y="4188976"/>
            <a:ext cx="494586" cy="49458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178868" y="4881324"/>
            <a:ext cx="2603421" cy="325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CircleCI</a:t>
            </a:r>
            <a:endParaRPr lang="en-US" sz="2050" dirty="0"/>
          </a:p>
        </p:txBody>
      </p:sp>
      <p:sp>
        <p:nvSpPr>
          <p:cNvPr id="9" name="Text 4"/>
          <p:cNvSpPr/>
          <p:nvPr/>
        </p:nvSpPr>
        <p:spPr>
          <a:xfrm>
            <a:off x="6178868" y="5325428"/>
            <a:ext cx="7759065" cy="316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Servicio de CI/CD basado en la nube, con configuración declarativa.</a:t>
            </a:r>
            <a:endParaRPr lang="en-US" sz="15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8868" y="6235541"/>
            <a:ext cx="494586" cy="49458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178868" y="6927890"/>
            <a:ext cx="2603421" cy="325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GitLab CI/CD</a:t>
            </a:r>
            <a:endParaRPr lang="en-US" sz="2050" dirty="0"/>
          </a:p>
        </p:txBody>
      </p:sp>
      <p:sp>
        <p:nvSpPr>
          <p:cNvPr id="12" name="Text 6"/>
          <p:cNvSpPr/>
          <p:nvPr/>
        </p:nvSpPr>
        <p:spPr>
          <a:xfrm>
            <a:off x="6178868" y="7371993"/>
            <a:ext cx="7759065" cy="316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Herramienta integrada en la suite de herramientas de desarrollo de GitLab.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1366242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Recomendaciones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58309" y="2647593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34760" y="2720221"/>
            <a:ext cx="134422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462326" y="264759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Comenzar Pequeño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462326" y="3133725"/>
            <a:ext cx="3001447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Implementar CI/CD de manera incremental, empezando por un proyecto piloto.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680347" y="2647593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21912" y="2720221"/>
            <a:ext cx="204192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384363" y="264759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Automatizar todo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384363" y="3133725"/>
            <a:ext cx="3001447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Buscar oportunidades para automatizar procesos y reducir la intervención manual.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58309" y="4980861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9755" y="5053489"/>
            <a:ext cx="204549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462326" y="4980861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Mentalidad DevOps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462326" y="5466993"/>
            <a:ext cx="3001447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Promover la colaboración entre desarrolladores y operaciones en todo el ciclo de vida.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4680347" y="4980861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20960" y="5053489"/>
            <a:ext cx="206216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4</a:t>
            </a:r>
            <a:endParaRPr lang="en-US" sz="2650" dirty="0"/>
          </a:p>
        </p:txBody>
      </p:sp>
      <p:sp>
        <p:nvSpPr>
          <p:cNvPr id="18" name="Text 15"/>
          <p:cNvSpPr/>
          <p:nvPr/>
        </p:nvSpPr>
        <p:spPr>
          <a:xfrm>
            <a:off x="5384363" y="4980861"/>
            <a:ext cx="3001447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Monitoreo Constante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5384363" y="5823228"/>
            <a:ext cx="3001447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Mantener una supervisión constante del rendimiento y la salud de los sistemas.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2024-11-04T08:35:55Z</dcterms:created>
  <dcterms:modified xsi:type="dcterms:W3CDTF">2024-11-04T08:35:55Z</dcterms:modified>
</cp:coreProperties>
</file>