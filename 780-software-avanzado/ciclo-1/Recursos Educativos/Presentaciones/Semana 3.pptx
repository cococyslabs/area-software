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4630400" cy="8229600"/>
  <p:notesSz cx="8229600" cy="14630400"/>
  <p:embeddedFontLst>
    <p:embeddedFont>
      <p:font typeface="Barlow"/>
      <p:regular r:id="rId17"/>
    </p:embeddedFont>
    <p:embeddedFont>
      <p:font typeface="Barlow"/>
      <p:regular r:id="rId18"/>
    </p:embeddedFont>
    <p:embeddedFont>
      <p:font typeface="Barlow"/>
      <p:regular r:id="rId19"/>
    </p:embeddedFont>
    <p:embeddedFont>
      <p:font typeface="Barlow"/>
      <p:regular r:id="rId20"/>
    </p:embeddedFont>
    <p:embeddedFont>
      <p:font typeface="Montserrat"/>
      <p:regular r:id="rId21"/>
    </p:embeddedFont>
    <p:embeddedFont>
      <p:font typeface="Montserrat"/>
      <p:regular r:id="rId22"/>
    </p:embeddedFont>
    <p:embeddedFont>
      <p:font typeface="Montserrat"/>
      <p:regular r:id="rId23"/>
    </p:embeddedFont>
    <p:embeddedFont>
      <p:font typeface="Montserrat"/>
      <p:regular r:id="rId24"/>
    </p:embeddedFont>
  </p:embeddedFon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Relationship Id="rId17" Type="http://schemas.openxmlformats.org/officeDocument/2006/relationships/font" Target="fonts/font1.fntdata"/><Relationship Id="rId18" Type="http://schemas.openxmlformats.org/officeDocument/2006/relationships/font" Target="fonts/font2.fntdata"/><Relationship Id="rId19" Type="http://schemas.openxmlformats.org/officeDocument/2006/relationships/font" Target="fonts/font3.fntdata"/><Relationship Id="rId20" Type="http://schemas.openxmlformats.org/officeDocument/2006/relationships/font" Target="fonts/font4.fntdata"/><Relationship Id="rId21" Type="http://schemas.openxmlformats.org/officeDocument/2006/relationships/font" Target="fonts/font5.fntdata"/><Relationship Id="rId22" Type="http://schemas.openxmlformats.org/officeDocument/2006/relationships/font" Target="fonts/font6.fntdata"/><Relationship Id="rId23" Type="http://schemas.openxmlformats.org/officeDocument/2006/relationships/font" Target="fonts/font7.fntdata"/><Relationship Id="rId24" Type="http://schemas.openxmlformats.org/officeDocument/2006/relationships/font" Target="fonts/font8.fntdata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2-1.png"/><Relationship Id="rId2" Type="http://schemas.openxmlformats.org/officeDocument/2006/relationships/image" Target="../media/image-1002-2.png"/><Relationship Id="rId4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3-1.png"/><Relationship Id="rId2" Type="http://schemas.openxmlformats.org/officeDocument/2006/relationships/image" Target="../media/image-1003-2.png"/><Relationship Id="rId4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4-1.png"/><Relationship Id="rId2" Type="http://schemas.openxmlformats.org/officeDocument/2006/relationships/image" Target="../media/image-1004-2.png"/><Relationship Id="rId4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5-1.png"/><Relationship Id="rId2" Type="http://schemas.openxmlformats.org/officeDocument/2006/relationships/image" Target="../media/image-1005-2.png"/><Relationship Id="rId4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6-1.png"/><Relationship Id="rId2" Type="http://schemas.openxmlformats.org/officeDocument/2006/relationships/image" Target="../media/image-1006-2.png"/><Relationship Id="rId4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7-1.png"/><Relationship Id="rId2" Type="http://schemas.openxmlformats.org/officeDocument/2006/relationships/image" Target="../media/image-1007-2.png"/><Relationship Id="rId4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8-1.png"/><Relationship Id="rId2" Type="http://schemas.openxmlformats.org/officeDocument/2006/relationships/image" Target="../media/image-1008-2.png"/><Relationship Id="rId4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9-1.png"/><Relationship Id="rId2" Type="http://schemas.openxmlformats.org/officeDocument/2006/relationships/image" Target="../media/image-1009-2.png"/><Relationship Id="rId4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10-1.png"/><Relationship Id="rId2" Type="http://schemas.openxmlformats.org/officeDocument/2006/relationships/image" Target="../media/image-1010-2.png"/><Relationship Id="rId4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11-1.png"/><Relationship Id="rId2" Type="http://schemas.openxmlformats.org/officeDocument/2006/relationships/image" Target="../media/image-1011-2.png"/><Relationship Id="rId4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EEFF5"/>
          </a:solidFill>
          <a:ln/>
        </p:spPr>
      </p:sp>
      <p:pic>
        <p:nvPicPr>
          <p:cNvPr id="4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EEFF5"/>
          </a:solidFill>
          <a:ln/>
        </p:spPr>
      </p:sp>
      <p:pic>
        <p:nvPicPr>
          <p:cNvPr id="4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EEFF5"/>
          </a:solidFill>
          <a:ln/>
        </p:spPr>
      </p:sp>
      <p:pic>
        <p:nvPicPr>
          <p:cNvPr id="4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EEFF5"/>
          </a:solidFill>
          <a:ln/>
        </p:spPr>
      </p:sp>
      <p:pic>
        <p:nvPicPr>
          <p:cNvPr id="4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EEFF5"/>
          </a:solidFill>
          <a:ln/>
        </p:spPr>
      </p:sp>
      <p:pic>
        <p:nvPicPr>
          <p:cNvPr id="4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EEFF5"/>
          </a:solidFill>
          <a:ln/>
        </p:spPr>
      </p:sp>
      <p:pic>
        <p:nvPicPr>
          <p:cNvPr id="4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7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EEFF5"/>
          </a:solidFill>
          <a:ln/>
        </p:spPr>
      </p:sp>
      <p:pic>
        <p:nvPicPr>
          <p:cNvPr id="4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8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EEFF5"/>
          </a:solidFill>
          <a:ln/>
        </p:spPr>
      </p:sp>
      <p:pic>
        <p:nvPicPr>
          <p:cNvPr id="4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9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EEFF5"/>
          </a:solidFill>
          <a:ln/>
        </p:spPr>
      </p:sp>
      <p:pic>
        <p:nvPicPr>
          <p:cNvPr id="4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0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EEFF5"/>
          </a:solidFill>
          <a:ln/>
        </p:spPr>
      </p:sp>
      <p:pic>
        <p:nvPicPr>
          <p:cNvPr id="4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5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6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slideLayout" Target="../slideLayouts/slideLayout7.xml"/><Relationship Id="rId6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slideLayout" Target="../slideLayouts/slideLayout8.xml"/><Relationship Id="rId6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9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244709" y="1541264"/>
            <a:ext cx="7627382" cy="14254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5600"/>
              </a:lnSpc>
              <a:buNone/>
            </a:pPr>
            <a:r>
              <a:rPr lang="en-US" sz="4450" b="1" dirty="0">
                <a:solidFill>
                  <a:srgbClr val="7068F4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La Revolución de la Computación en la Nube</a:t>
            </a:r>
            <a:endParaRPr lang="en-US" sz="4450" dirty="0"/>
          </a:p>
        </p:txBody>
      </p:sp>
      <p:sp>
        <p:nvSpPr>
          <p:cNvPr id="4" name="Text 1"/>
          <p:cNvSpPr/>
          <p:nvPr/>
        </p:nvSpPr>
        <p:spPr>
          <a:xfrm>
            <a:off x="6244709" y="3291602"/>
            <a:ext cx="7627382" cy="2773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700"/>
              </a:lnSpc>
              <a:buNone/>
            </a:pPr>
            <a:r>
              <a:rPr lang="en-US" sz="1700" dirty="0">
                <a:solidFill>
                  <a:srgbClr val="27252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La computación en la nube ha transformado la forma en que las empresas y organizaciones interactúan con la tecnología. Ya no es necesario tener un centro de datos físico ni adquirir costosos equipos, pues la nube ofrece una forma más flexible, escalable y rentable de acceder a recursos informáticos bajo demanda. Esta sección explorará los conceptos clave de la computación en la nube y cómo las principales plataformas (AWS, GCP y Azure) están liderando esta revolución tecnológica.</a:t>
            </a:r>
            <a:endParaRPr lang="en-US" sz="1700" dirty="0"/>
          </a:p>
        </p:txBody>
      </p:sp>
      <p:sp>
        <p:nvSpPr>
          <p:cNvPr id="5" name="Shape 2"/>
          <p:cNvSpPr/>
          <p:nvPr/>
        </p:nvSpPr>
        <p:spPr>
          <a:xfrm>
            <a:off x="6244709" y="6325195"/>
            <a:ext cx="346591" cy="346591"/>
          </a:xfrm>
          <a:prstGeom prst="roundRect">
            <a:avLst>
              <a:gd name="adj" fmla="val 26380043"/>
            </a:avLst>
          </a:prstGeom>
          <a:noFill/>
          <a:ln w="7620">
            <a:solidFill>
              <a:srgbClr val="FFFFFF"/>
            </a:solidFill>
            <a:prstDash val="solid"/>
          </a:ln>
        </p:spPr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52329" y="6332815"/>
            <a:ext cx="331351" cy="331351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6699528" y="6309003"/>
            <a:ext cx="4793694" cy="3792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950"/>
              </a:lnSpc>
              <a:buNone/>
            </a:pPr>
            <a:r>
              <a:rPr lang="en-US" sz="2100" b="1" dirty="0">
                <a:solidFill>
                  <a:srgbClr val="272525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by MIKE LEONEL MOLINA GARCIA</a:t>
            </a:r>
            <a:endParaRPr lang="en-US" sz="2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58309" y="1192173"/>
            <a:ext cx="12521089" cy="7127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ts val="5600"/>
              </a:lnSpc>
              <a:buNone/>
            </a:pPr>
            <a:r>
              <a:rPr lang="en-US" sz="4450" b="1" dirty="0">
                <a:solidFill>
                  <a:srgbClr val="7068F4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Modelos de Servicio en la Nube: IaaS, PaaS y SaaS</a:t>
            </a:r>
            <a:endParaRPr lang="en-US" sz="4450" dirty="0"/>
          </a:p>
        </p:txBody>
      </p:sp>
      <p:sp>
        <p:nvSpPr>
          <p:cNvPr id="3" name="Text 1"/>
          <p:cNvSpPr/>
          <p:nvPr/>
        </p:nvSpPr>
        <p:spPr>
          <a:xfrm>
            <a:off x="758309" y="2446377"/>
            <a:ext cx="4018359" cy="7124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800"/>
              </a:lnSpc>
              <a:buNone/>
            </a:pPr>
            <a:r>
              <a:rPr lang="en-US" sz="2200" b="1" dirty="0">
                <a:solidFill>
                  <a:srgbClr val="7068F4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IaaS (Infraestructura como Servicio)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758309" y="3375422"/>
            <a:ext cx="4018359" cy="2773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700"/>
              </a:lnSpc>
              <a:buNone/>
            </a:pPr>
            <a:r>
              <a:rPr lang="en-US" sz="1700" dirty="0">
                <a:solidFill>
                  <a:srgbClr val="27252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IaaS ofrece acceso a recursos de cómputo, almacenamiento y redes a través de la nube, lo que permite a las organizaciones implementar y administrar su propia infraestructura de manera flexible y escalable sin tener que adquirir y mantener hardware físico.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5312926" y="2446377"/>
            <a:ext cx="4018359" cy="7124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800"/>
              </a:lnSpc>
              <a:buNone/>
            </a:pPr>
            <a:r>
              <a:rPr lang="en-US" sz="2200" b="1" dirty="0">
                <a:solidFill>
                  <a:srgbClr val="7068F4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PaaS (Plataforma como Servicio)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5312926" y="3375422"/>
            <a:ext cx="4018359" cy="3467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700"/>
              </a:lnSpc>
              <a:buNone/>
            </a:pPr>
            <a:r>
              <a:rPr lang="en-US" sz="1700" dirty="0">
                <a:solidFill>
                  <a:srgbClr val="27252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PaaS proporciona una plataforma de desarrollo y ejecución de aplicaciones en la nube, incluyendo herramientas, frameworks y servicios de back-end. Esto permite a los desarrolladores centrarse en la creación de aplicaciones sin tener que preocuparse por la administración de la infraestructura subyacente.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9867543" y="2446377"/>
            <a:ext cx="3926443" cy="3562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ts val="2800"/>
              </a:lnSpc>
              <a:buNone/>
            </a:pPr>
            <a:r>
              <a:rPr lang="en-US" sz="2200" b="1" dirty="0">
                <a:solidFill>
                  <a:srgbClr val="7068F4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SaaS (Software como Servicio)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9867543" y="3019187"/>
            <a:ext cx="4018359" cy="2773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700"/>
              </a:lnSpc>
              <a:buNone/>
            </a:pPr>
            <a:r>
              <a:rPr lang="en-US" sz="1700" dirty="0">
                <a:solidFill>
                  <a:srgbClr val="27252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SaaS ofrece aplicaciones de software a través de la nube, a las que se puede acceder mediante un navegador web o una aplicación móvil. Los usuarios finales pueden utilizar el software sin necesidad de instalarlo o mantenerlo en sus propios dispositivos.</a:t>
            </a:r>
            <a:endParaRPr lang="en-US" sz="17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2702" y="671155"/>
            <a:ext cx="8298418" cy="6228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ts val="4900"/>
              </a:lnSpc>
              <a:buNone/>
            </a:pPr>
            <a:r>
              <a:rPr lang="en-US" sz="3900" b="1" dirty="0">
                <a:solidFill>
                  <a:srgbClr val="7068F4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Explorando AWS: La Nube de Amazon</a:t>
            </a:r>
            <a:endParaRPr lang="en-US" sz="3900" dirty="0"/>
          </a:p>
        </p:txBody>
      </p:sp>
      <p:sp>
        <p:nvSpPr>
          <p:cNvPr id="3" name="Shape 1"/>
          <p:cNvSpPr/>
          <p:nvPr/>
        </p:nvSpPr>
        <p:spPr>
          <a:xfrm>
            <a:off x="662702" y="4766905"/>
            <a:ext cx="13304996" cy="22860"/>
          </a:xfrm>
          <a:prstGeom prst="roundRect">
            <a:avLst>
              <a:gd name="adj" fmla="val 745452"/>
            </a:avLst>
          </a:prstGeom>
          <a:solidFill>
            <a:srgbClr val="C1C3D0"/>
          </a:solidFill>
          <a:ln/>
        </p:spPr>
      </p:sp>
      <p:sp>
        <p:nvSpPr>
          <p:cNvPr id="4" name="Shape 2"/>
          <p:cNvSpPr/>
          <p:nvPr/>
        </p:nvSpPr>
        <p:spPr>
          <a:xfrm>
            <a:off x="3255407" y="4104203"/>
            <a:ext cx="22860" cy="662702"/>
          </a:xfrm>
          <a:prstGeom prst="roundRect">
            <a:avLst>
              <a:gd name="adj" fmla="val 745452"/>
            </a:avLst>
          </a:prstGeom>
          <a:solidFill>
            <a:srgbClr val="C1C3D0"/>
          </a:solidFill>
          <a:ln/>
        </p:spPr>
      </p:sp>
      <p:sp>
        <p:nvSpPr>
          <p:cNvPr id="5" name="Shape 3"/>
          <p:cNvSpPr/>
          <p:nvPr/>
        </p:nvSpPr>
        <p:spPr>
          <a:xfrm>
            <a:off x="3053834" y="4553902"/>
            <a:ext cx="426006" cy="426006"/>
          </a:xfrm>
          <a:prstGeom prst="roundRect">
            <a:avLst>
              <a:gd name="adj" fmla="val 40002"/>
            </a:avLst>
          </a:prstGeom>
          <a:solidFill>
            <a:srgbClr val="EEEFF5"/>
          </a:solidFill>
          <a:ln/>
          <a:effectLst>
            <a:outerShdw sx="100000" sy="100000" kx="0" ky="0" algn="bl" rotWithShape="0" blurRad="46990" dist="22860" dir="13500000">
              <a:srgbClr val="ffffff">
                <a:alpha val="7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3213854" y="4617363"/>
            <a:ext cx="105847" cy="2989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350"/>
              </a:lnSpc>
              <a:buNone/>
            </a:pPr>
            <a:r>
              <a:rPr lang="en-US" sz="2350" b="1" dirty="0">
                <a:solidFill>
                  <a:srgbClr val="272525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1</a:t>
            </a:r>
            <a:endParaRPr lang="en-US" sz="2350" dirty="0"/>
          </a:p>
        </p:txBody>
      </p:sp>
      <p:sp>
        <p:nvSpPr>
          <p:cNvPr id="7" name="Text 5"/>
          <p:cNvSpPr/>
          <p:nvPr/>
        </p:nvSpPr>
        <p:spPr>
          <a:xfrm>
            <a:off x="1694378" y="1975485"/>
            <a:ext cx="3144917" cy="3113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450"/>
              </a:lnSpc>
              <a:buNone/>
            </a:pPr>
            <a:r>
              <a:rPr lang="en-US" sz="1950" b="1" dirty="0">
                <a:solidFill>
                  <a:srgbClr val="272525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EC2 (Elastic Compute Cloud)</a:t>
            </a:r>
            <a:endParaRPr lang="en-US" sz="1950" dirty="0"/>
          </a:p>
        </p:txBody>
      </p:sp>
      <p:sp>
        <p:nvSpPr>
          <p:cNvPr id="8" name="Text 6"/>
          <p:cNvSpPr/>
          <p:nvPr/>
        </p:nvSpPr>
        <p:spPr>
          <a:xfrm>
            <a:off x="852011" y="2400419"/>
            <a:ext cx="4829770" cy="15144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350"/>
              </a:lnSpc>
              <a:buNone/>
            </a:pPr>
            <a:r>
              <a:rPr lang="en-US" sz="1450" dirty="0">
                <a:solidFill>
                  <a:srgbClr val="27252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EC2 es el servicio de computación en la nube de AWS, que permite a los usuarios aprovisionar y administrar servidores virtuales (instancias) de manera rápida y sencilla, adaptándose a las necesidades de carga de trabajo cambiantes.</a:t>
            </a:r>
            <a:endParaRPr lang="en-US" sz="1450" dirty="0"/>
          </a:p>
        </p:txBody>
      </p:sp>
      <p:sp>
        <p:nvSpPr>
          <p:cNvPr id="9" name="Shape 7"/>
          <p:cNvSpPr/>
          <p:nvPr/>
        </p:nvSpPr>
        <p:spPr>
          <a:xfrm>
            <a:off x="5954197" y="4766905"/>
            <a:ext cx="22860" cy="662702"/>
          </a:xfrm>
          <a:prstGeom prst="roundRect">
            <a:avLst>
              <a:gd name="adj" fmla="val 745452"/>
            </a:avLst>
          </a:prstGeom>
          <a:solidFill>
            <a:srgbClr val="C1C3D0"/>
          </a:solidFill>
          <a:ln/>
        </p:spPr>
      </p:sp>
      <p:sp>
        <p:nvSpPr>
          <p:cNvPr id="10" name="Shape 8"/>
          <p:cNvSpPr/>
          <p:nvPr/>
        </p:nvSpPr>
        <p:spPr>
          <a:xfrm>
            <a:off x="5752624" y="4553902"/>
            <a:ext cx="426006" cy="426006"/>
          </a:xfrm>
          <a:prstGeom prst="roundRect">
            <a:avLst>
              <a:gd name="adj" fmla="val 40002"/>
            </a:avLst>
          </a:prstGeom>
          <a:solidFill>
            <a:srgbClr val="EEEFF5"/>
          </a:solidFill>
          <a:ln/>
          <a:effectLst>
            <a:outerShdw sx="100000" sy="100000" kx="0" ky="0" algn="bl" rotWithShape="0" blurRad="46990" dist="22860" dir="13500000">
              <a:srgbClr val="ffffff">
                <a:alpha val="70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881926" y="4617363"/>
            <a:ext cx="167402" cy="2989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350"/>
              </a:lnSpc>
              <a:buNone/>
            </a:pPr>
            <a:r>
              <a:rPr lang="en-US" sz="2350" b="1" dirty="0">
                <a:solidFill>
                  <a:srgbClr val="272525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2</a:t>
            </a:r>
            <a:endParaRPr lang="en-US" sz="2350" dirty="0"/>
          </a:p>
        </p:txBody>
      </p:sp>
      <p:sp>
        <p:nvSpPr>
          <p:cNvPr id="12" name="Text 10"/>
          <p:cNvSpPr/>
          <p:nvPr/>
        </p:nvSpPr>
        <p:spPr>
          <a:xfrm>
            <a:off x="4422458" y="5618917"/>
            <a:ext cx="3086338" cy="3113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450"/>
              </a:lnSpc>
              <a:buNone/>
            </a:pPr>
            <a:r>
              <a:rPr lang="en-US" sz="1950" b="1" dirty="0">
                <a:solidFill>
                  <a:srgbClr val="272525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S3 (Simple Storage Service)</a:t>
            </a:r>
            <a:endParaRPr lang="en-US" sz="1950" dirty="0"/>
          </a:p>
        </p:txBody>
      </p:sp>
      <p:sp>
        <p:nvSpPr>
          <p:cNvPr id="13" name="Text 11"/>
          <p:cNvSpPr/>
          <p:nvPr/>
        </p:nvSpPr>
        <p:spPr>
          <a:xfrm>
            <a:off x="3550801" y="6043851"/>
            <a:ext cx="4829770" cy="15144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350"/>
              </a:lnSpc>
              <a:buNone/>
            </a:pPr>
            <a:r>
              <a:rPr lang="en-US" sz="1450" dirty="0">
                <a:solidFill>
                  <a:srgbClr val="27252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S3 es el servicio de almacenamiento de objetos de AWS, que ofrece una solución escalable, durable y altamente disponible para almacenar y recuperar cualquier cantidad de datos, desde imágenes y documentos hasta copias de seguridad.</a:t>
            </a:r>
            <a:endParaRPr lang="en-US" sz="1450" dirty="0"/>
          </a:p>
        </p:txBody>
      </p:sp>
      <p:sp>
        <p:nvSpPr>
          <p:cNvPr id="14" name="Shape 12"/>
          <p:cNvSpPr/>
          <p:nvPr/>
        </p:nvSpPr>
        <p:spPr>
          <a:xfrm>
            <a:off x="8653105" y="4104203"/>
            <a:ext cx="22860" cy="662702"/>
          </a:xfrm>
          <a:prstGeom prst="roundRect">
            <a:avLst>
              <a:gd name="adj" fmla="val 745452"/>
            </a:avLst>
          </a:prstGeom>
          <a:solidFill>
            <a:srgbClr val="C1C3D0"/>
          </a:solidFill>
          <a:ln/>
        </p:spPr>
      </p:sp>
      <p:sp>
        <p:nvSpPr>
          <p:cNvPr id="15" name="Shape 13"/>
          <p:cNvSpPr/>
          <p:nvPr/>
        </p:nvSpPr>
        <p:spPr>
          <a:xfrm>
            <a:off x="8451533" y="4553902"/>
            <a:ext cx="426006" cy="426006"/>
          </a:xfrm>
          <a:prstGeom prst="roundRect">
            <a:avLst>
              <a:gd name="adj" fmla="val 40002"/>
            </a:avLst>
          </a:prstGeom>
          <a:solidFill>
            <a:srgbClr val="EEEFF5"/>
          </a:solidFill>
          <a:ln/>
          <a:effectLst>
            <a:outerShdw sx="100000" sy="100000" kx="0" ky="0" algn="bl" rotWithShape="0" blurRad="46990" dist="22860" dir="13500000">
              <a:srgbClr val="ffffff">
                <a:alpha val="70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8583811" y="4617363"/>
            <a:ext cx="161449" cy="2989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350"/>
              </a:lnSpc>
              <a:buNone/>
            </a:pPr>
            <a:r>
              <a:rPr lang="en-US" sz="2350" b="1" dirty="0">
                <a:solidFill>
                  <a:srgbClr val="272525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3</a:t>
            </a:r>
            <a:endParaRPr lang="en-US" sz="2350" dirty="0"/>
          </a:p>
        </p:txBody>
      </p:sp>
      <p:sp>
        <p:nvSpPr>
          <p:cNvPr id="17" name="Text 15"/>
          <p:cNvSpPr/>
          <p:nvPr/>
        </p:nvSpPr>
        <p:spPr>
          <a:xfrm>
            <a:off x="6782157" y="1672590"/>
            <a:ext cx="3764875" cy="3113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450"/>
              </a:lnSpc>
              <a:buNone/>
            </a:pPr>
            <a:r>
              <a:rPr lang="en-US" sz="1950" b="1" dirty="0">
                <a:solidFill>
                  <a:srgbClr val="272525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RDS (Relational Database Service)</a:t>
            </a:r>
            <a:endParaRPr lang="en-US" sz="1950" dirty="0"/>
          </a:p>
        </p:txBody>
      </p:sp>
      <p:sp>
        <p:nvSpPr>
          <p:cNvPr id="18" name="Text 16"/>
          <p:cNvSpPr/>
          <p:nvPr/>
        </p:nvSpPr>
        <p:spPr>
          <a:xfrm>
            <a:off x="6249710" y="2097524"/>
            <a:ext cx="4829770" cy="18173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350"/>
              </a:lnSpc>
              <a:buNone/>
            </a:pPr>
            <a:r>
              <a:rPr lang="en-US" sz="1450" dirty="0">
                <a:solidFill>
                  <a:srgbClr val="27252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RDS es el servicio de base de datos relacional de AWS, que facilita la configuración, el funcionamiento y el escalado de bases de datos en la nube, con compatibilidad con motores populares como MySQL, PostgreSQL, Oracle y SQL Server.</a:t>
            </a:r>
            <a:endParaRPr lang="en-US" sz="1450" dirty="0"/>
          </a:p>
        </p:txBody>
      </p:sp>
      <p:sp>
        <p:nvSpPr>
          <p:cNvPr id="19" name="Shape 17"/>
          <p:cNvSpPr/>
          <p:nvPr/>
        </p:nvSpPr>
        <p:spPr>
          <a:xfrm>
            <a:off x="11351895" y="4766905"/>
            <a:ext cx="22860" cy="662702"/>
          </a:xfrm>
          <a:prstGeom prst="roundRect">
            <a:avLst>
              <a:gd name="adj" fmla="val 745452"/>
            </a:avLst>
          </a:prstGeom>
          <a:solidFill>
            <a:srgbClr val="C1C3D0"/>
          </a:solidFill>
          <a:ln/>
        </p:spPr>
      </p:sp>
      <p:sp>
        <p:nvSpPr>
          <p:cNvPr id="20" name="Shape 18"/>
          <p:cNvSpPr/>
          <p:nvPr/>
        </p:nvSpPr>
        <p:spPr>
          <a:xfrm>
            <a:off x="11150322" y="4553902"/>
            <a:ext cx="426006" cy="426006"/>
          </a:xfrm>
          <a:prstGeom prst="roundRect">
            <a:avLst>
              <a:gd name="adj" fmla="val 40002"/>
            </a:avLst>
          </a:prstGeom>
          <a:solidFill>
            <a:srgbClr val="EEEFF5"/>
          </a:solidFill>
          <a:ln/>
          <a:effectLst>
            <a:outerShdw sx="100000" sy="100000" kx="0" ky="0" algn="bl" rotWithShape="0" blurRad="46990" dist="22860" dir="13500000">
              <a:srgbClr val="ffffff">
                <a:alpha val="70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11272838" y="4617363"/>
            <a:ext cx="180856" cy="2989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350"/>
              </a:lnSpc>
              <a:buNone/>
            </a:pPr>
            <a:r>
              <a:rPr lang="en-US" sz="2350" b="1" dirty="0">
                <a:solidFill>
                  <a:srgbClr val="272525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4</a:t>
            </a:r>
            <a:endParaRPr lang="en-US" sz="2350" dirty="0"/>
          </a:p>
        </p:txBody>
      </p:sp>
      <p:sp>
        <p:nvSpPr>
          <p:cNvPr id="22" name="Text 20"/>
          <p:cNvSpPr/>
          <p:nvPr/>
        </p:nvSpPr>
        <p:spPr>
          <a:xfrm>
            <a:off x="10117693" y="5618917"/>
            <a:ext cx="2491264" cy="3113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450"/>
              </a:lnSpc>
              <a:buNone/>
            </a:pPr>
            <a:r>
              <a:rPr lang="en-US" sz="1950" b="1" dirty="0">
                <a:solidFill>
                  <a:srgbClr val="272525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Lambda</a:t>
            </a:r>
            <a:endParaRPr lang="en-US" sz="1950" dirty="0"/>
          </a:p>
        </p:txBody>
      </p:sp>
      <p:sp>
        <p:nvSpPr>
          <p:cNvPr id="23" name="Text 21"/>
          <p:cNvSpPr/>
          <p:nvPr/>
        </p:nvSpPr>
        <p:spPr>
          <a:xfrm>
            <a:off x="8948499" y="6043851"/>
            <a:ext cx="4829770" cy="15144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350"/>
              </a:lnSpc>
              <a:buNone/>
            </a:pPr>
            <a:r>
              <a:rPr lang="en-US" sz="1450" dirty="0">
                <a:solidFill>
                  <a:srgbClr val="27252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Lambda es el servicio de computación sin servidor de AWS, que permite a los desarrolladores ejecutar código en respuesta a eventos o solicitudes, sin necesidad de aprovisionar o administrar servidores.</a:t>
            </a:r>
            <a:endParaRPr lang="en-US" sz="14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178391" y="653177"/>
            <a:ext cx="7760018" cy="130063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5100"/>
              </a:lnSpc>
              <a:buNone/>
            </a:pPr>
            <a:r>
              <a:rPr lang="en-US" sz="4050" b="1" dirty="0">
                <a:solidFill>
                  <a:srgbClr val="7068F4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Introducción a Google Cloud Platform (GCP)</a:t>
            </a:r>
            <a:endParaRPr lang="en-US" sz="4050" dirty="0"/>
          </a:p>
        </p:txBody>
      </p:sp>
      <p:sp>
        <p:nvSpPr>
          <p:cNvPr id="4" name="Shape 1"/>
          <p:cNvSpPr/>
          <p:nvPr/>
        </p:nvSpPr>
        <p:spPr>
          <a:xfrm>
            <a:off x="6178391" y="2472690"/>
            <a:ext cx="444818" cy="444818"/>
          </a:xfrm>
          <a:prstGeom prst="roundRect">
            <a:avLst>
              <a:gd name="adj" fmla="val 40005"/>
            </a:avLst>
          </a:prstGeom>
          <a:solidFill>
            <a:srgbClr val="EEEFF5"/>
          </a:solidFill>
          <a:ln/>
          <a:effectLst>
            <a:outerShdw sx="100000" sy="100000" kx="0" ky="0" algn="bl" rotWithShape="0" blurRad="48260" dist="24130" dir="13500000">
              <a:srgbClr val="ffffff">
                <a:alpha val="70000"/>
              </a:srgbClr>
            </a:outerShdw>
          </a:effectLst>
        </p:spPr>
      </p:sp>
      <p:sp>
        <p:nvSpPr>
          <p:cNvPr id="5" name="Text 2"/>
          <p:cNvSpPr/>
          <p:nvPr/>
        </p:nvSpPr>
        <p:spPr>
          <a:xfrm>
            <a:off x="6345555" y="2539008"/>
            <a:ext cx="110490" cy="31218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450"/>
              </a:lnSpc>
              <a:buNone/>
            </a:pPr>
            <a:r>
              <a:rPr lang="en-US" sz="2450" b="1" dirty="0">
                <a:solidFill>
                  <a:srgbClr val="272525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1</a:t>
            </a:r>
            <a:endParaRPr lang="en-US" sz="2450" dirty="0"/>
          </a:p>
        </p:txBody>
      </p:sp>
      <p:sp>
        <p:nvSpPr>
          <p:cNvPr id="6" name="Text 3"/>
          <p:cNvSpPr/>
          <p:nvPr/>
        </p:nvSpPr>
        <p:spPr>
          <a:xfrm>
            <a:off x="6820853" y="2472690"/>
            <a:ext cx="2601516" cy="3251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ts val="2550"/>
              </a:lnSpc>
              <a:buNone/>
            </a:pPr>
            <a:r>
              <a:rPr lang="en-US" sz="2000" b="1" dirty="0">
                <a:solidFill>
                  <a:srgbClr val="272525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Compute Engine</a:t>
            </a:r>
            <a:endParaRPr lang="en-US" sz="2000" dirty="0"/>
          </a:p>
        </p:txBody>
      </p:sp>
      <p:sp>
        <p:nvSpPr>
          <p:cNvPr id="7" name="Text 4"/>
          <p:cNvSpPr/>
          <p:nvPr/>
        </p:nvSpPr>
        <p:spPr>
          <a:xfrm>
            <a:off x="6820853" y="2916436"/>
            <a:ext cx="3138726" cy="284714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450"/>
              </a:lnSpc>
              <a:buNone/>
            </a:pPr>
            <a:r>
              <a:rPr lang="en-US" sz="1550" dirty="0">
                <a:solidFill>
                  <a:srgbClr val="27252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Compute Engine es el servicio de infraestructura como servicio (IaaS) de GCP, que permite a los usuarios aprovisionar y ejecutar máquinas virtuales con una amplia variedad de configuraciones de hardware y software.</a:t>
            </a:r>
            <a:endParaRPr lang="en-US" sz="1550" dirty="0"/>
          </a:p>
        </p:txBody>
      </p:sp>
      <p:sp>
        <p:nvSpPr>
          <p:cNvPr id="8" name="Shape 5"/>
          <p:cNvSpPr/>
          <p:nvPr/>
        </p:nvSpPr>
        <p:spPr>
          <a:xfrm>
            <a:off x="10157222" y="2472690"/>
            <a:ext cx="444818" cy="444818"/>
          </a:xfrm>
          <a:prstGeom prst="roundRect">
            <a:avLst>
              <a:gd name="adj" fmla="val 40005"/>
            </a:avLst>
          </a:prstGeom>
          <a:solidFill>
            <a:srgbClr val="EEEFF5"/>
          </a:solidFill>
          <a:ln/>
          <a:effectLst>
            <a:outerShdw sx="100000" sy="100000" kx="0" ky="0" algn="bl" rotWithShape="0" blurRad="48260" dist="24130" dir="13500000">
              <a:srgbClr val="ffffff">
                <a:alpha val="70000"/>
              </a:srgbClr>
            </a:outerShdw>
          </a:effectLst>
        </p:spPr>
      </p:sp>
      <p:sp>
        <p:nvSpPr>
          <p:cNvPr id="9" name="Text 6"/>
          <p:cNvSpPr/>
          <p:nvPr/>
        </p:nvSpPr>
        <p:spPr>
          <a:xfrm>
            <a:off x="10292239" y="2539008"/>
            <a:ext cx="174784" cy="31218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450"/>
              </a:lnSpc>
              <a:buNone/>
            </a:pPr>
            <a:r>
              <a:rPr lang="en-US" sz="2450" b="1" dirty="0">
                <a:solidFill>
                  <a:srgbClr val="272525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2</a:t>
            </a:r>
            <a:endParaRPr lang="en-US" sz="2450" dirty="0"/>
          </a:p>
        </p:txBody>
      </p:sp>
      <p:sp>
        <p:nvSpPr>
          <p:cNvPr id="10" name="Text 7"/>
          <p:cNvSpPr/>
          <p:nvPr/>
        </p:nvSpPr>
        <p:spPr>
          <a:xfrm>
            <a:off x="10799683" y="2472690"/>
            <a:ext cx="2601516" cy="3251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ts val="2550"/>
              </a:lnSpc>
              <a:buNone/>
            </a:pPr>
            <a:r>
              <a:rPr lang="en-US" sz="2000" b="1" dirty="0">
                <a:solidFill>
                  <a:srgbClr val="272525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Cloud Storage</a:t>
            </a:r>
            <a:endParaRPr lang="en-US" sz="2000" dirty="0"/>
          </a:p>
        </p:txBody>
      </p:sp>
      <p:sp>
        <p:nvSpPr>
          <p:cNvPr id="11" name="Text 8"/>
          <p:cNvSpPr/>
          <p:nvPr/>
        </p:nvSpPr>
        <p:spPr>
          <a:xfrm>
            <a:off x="10799683" y="2916436"/>
            <a:ext cx="3138726" cy="253079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450"/>
              </a:lnSpc>
              <a:buNone/>
            </a:pPr>
            <a:r>
              <a:rPr lang="en-US" sz="1550" dirty="0">
                <a:solidFill>
                  <a:srgbClr val="27252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Cloud Storage es el servicio de almacenamiento de objetos de GCP, que ofrece una solución escalable, durable y altamente disponible para almacenar y acceder a datos, incluyendo archivos, imágenes y otros tipos de contenido.</a:t>
            </a:r>
            <a:endParaRPr lang="en-US" sz="1550" dirty="0"/>
          </a:p>
        </p:txBody>
      </p:sp>
      <p:sp>
        <p:nvSpPr>
          <p:cNvPr id="12" name="Shape 9"/>
          <p:cNvSpPr/>
          <p:nvPr/>
        </p:nvSpPr>
        <p:spPr>
          <a:xfrm>
            <a:off x="6178391" y="6183630"/>
            <a:ext cx="444818" cy="444818"/>
          </a:xfrm>
          <a:prstGeom prst="roundRect">
            <a:avLst>
              <a:gd name="adj" fmla="val 40005"/>
            </a:avLst>
          </a:prstGeom>
          <a:solidFill>
            <a:srgbClr val="EEEFF5"/>
          </a:solidFill>
          <a:ln/>
          <a:effectLst>
            <a:outerShdw sx="100000" sy="100000" kx="0" ky="0" algn="bl" rotWithShape="0" blurRad="48260" dist="24130" dir="13500000">
              <a:srgbClr val="ffffff">
                <a:alpha val="70000"/>
              </a:srgbClr>
            </a:outerShdw>
          </a:effectLst>
        </p:spPr>
      </p:sp>
      <p:sp>
        <p:nvSpPr>
          <p:cNvPr id="13" name="Text 10"/>
          <p:cNvSpPr/>
          <p:nvPr/>
        </p:nvSpPr>
        <p:spPr>
          <a:xfrm>
            <a:off x="6316504" y="6249948"/>
            <a:ext cx="168593" cy="31218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450"/>
              </a:lnSpc>
              <a:buNone/>
            </a:pPr>
            <a:r>
              <a:rPr lang="en-US" sz="2450" b="1" dirty="0">
                <a:solidFill>
                  <a:srgbClr val="272525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3</a:t>
            </a:r>
            <a:endParaRPr lang="en-US" sz="2450" dirty="0"/>
          </a:p>
        </p:txBody>
      </p:sp>
      <p:sp>
        <p:nvSpPr>
          <p:cNvPr id="14" name="Text 11"/>
          <p:cNvSpPr/>
          <p:nvPr/>
        </p:nvSpPr>
        <p:spPr>
          <a:xfrm>
            <a:off x="6820853" y="6183630"/>
            <a:ext cx="2601516" cy="3251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ts val="2550"/>
              </a:lnSpc>
              <a:buNone/>
            </a:pPr>
            <a:r>
              <a:rPr lang="en-US" sz="2000" b="1" dirty="0">
                <a:solidFill>
                  <a:srgbClr val="272525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Cloud Functions</a:t>
            </a:r>
            <a:endParaRPr lang="en-US" sz="2000" dirty="0"/>
          </a:p>
        </p:txBody>
      </p:sp>
      <p:sp>
        <p:nvSpPr>
          <p:cNvPr id="15" name="Text 12"/>
          <p:cNvSpPr/>
          <p:nvPr/>
        </p:nvSpPr>
        <p:spPr>
          <a:xfrm>
            <a:off x="6820853" y="6627376"/>
            <a:ext cx="7117556" cy="94904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450"/>
              </a:lnSpc>
              <a:buNone/>
            </a:pPr>
            <a:r>
              <a:rPr lang="en-US" sz="1550" dirty="0">
                <a:solidFill>
                  <a:srgbClr val="27252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Cloud Functions es el servicio de computación sin servidor de GCP, que permite a los desarrolladores ejecutar código en respuesta a eventos o solicitudes, sin necesidad de administrar servidores.</a:t>
            </a:r>
            <a:endParaRPr lang="en-US" sz="15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168152" y="690086"/>
            <a:ext cx="7780496" cy="12813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5000"/>
              </a:lnSpc>
              <a:buNone/>
            </a:pPr>
            <a:r>
              <a:rPr lang="en-US" sz="4000" b="1" dirty="0">
                <a:solidFill>
                  <a:srgbClr val="7068F4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Microsoft Azure: La Nube de Microsoft</a:t>
            </a:r>
            <a:endParaRPr lang="en-US" sz="4000" dirty="0"/>
          </a:p>
        </p:txBody>
      </p:sp>
      <p:sp>
        <p:nvSpPr>
          <p:cNvPr id="4" name="Shape 1"/>
          <p:cNvSpPr/>
          <p:nvPr/>
        </p:nvSpPr>
        <p:spPr>
          <a:xfrm>
            <a:off x="6168152" y="2263616"/>
            <a:ext cx="3792855" cy="3319463"/>
          </a:xfrm>
          <a:prstGeom prst="roundRect">
            <a:avLst>
              <a:gd name="adj" fmla="val 5281"/>
            </a:avLst>
          </a:prstGeom>
          <a:solidFill>
            <a:srgbClr val="EEEFF5"/>
          </a:solidFill>
          <a:ln/>
          <a:effectLst>
            <a:outerShdw sx="100000" sy="100000" kx="0" ky="0" algn="bl" rotWithShape="0" blurRad="48260" dist="24130" dir="13500000">
              <a:srgbClr val="ffffff">
                <a:alpha val="70000"/>
              </a:srgbClr>
            </a:outerShdw>
          </a:effectLst>
        </p:spPr>
      </p:sp>
      <p:sp>
        <p:nvSpPr>
          <p:cNvPr id="5" name="Text 2"/>
          <p:cNvSpPr/>
          <p:nvPr/>
        </p:nvSpPr>
        <p:spPr>
          <a:xfrm>
            <a:off x="6362938" y="2458403"/>
            <a:ext cx="2563058" cy="32039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ts val="2500"/>
              </a:lnSpc>
              <a:buNone/>
            </a:pPr>
            <a:r>
              <a:rPr lang="en-US" sz="2000" b="1" dirty="0">
                <a:solidFill>
                  <a:srgbClr val="272525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Virtual Machines</a:t>
            </a:r>
            <a:endParaRPr lang="en-US" sz="2000" dirty="0"/>
          </a:p>
        </p:txBody>
      </p:sp>
      <p:sp>
        <p:nvSpPr>
          <p:cNvPr id="6" name="Text 3"/>
          <p:cNvSpPr/>
          <p:nvPr/>
        </p:nvSpPr>
        <p:spPr>
          <a:xfrm>
            <a:off x="6362938" y="2895600"/>
            <a:ext cx="3403283" cy="249269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450"/>
              </a:lnSpc>
              <a:buNone/>
            </a:pPr>
            <a:r>
              <a:rPr lang="en-US" sz="1500" dirty="0">
                <a:solidFill>
                  <a:srgbClr val="27252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Virtual Machines es el servicio de infraestructura como servicio (IaaS) de Azure, que permite a los usuarios aprovisionar y administrar máquinas virtuales con una amplia variedad de sistemas operativos y aplicaciones preinstaladas.</a:t>
            </a:r>
            <a:endParaRPr lang="en-US" sz="1500" dirty="0"/>
          </a:p>
        </p:txBody>
      </p:sp>
      <p:sp>
        <p:nvSpPr>
          <p:cNvPr id="7" name="Shape 4"/>
          <p:cNvSpPr/>
          <p:nvPr/>
        </p:nvSpPr>
        <p:spPr>
          <a:xfrm>
            <a:off x="10155793" y="2263616"/>
            <a:ext cx="3792855" cy="3319463"/>
          </a:xfrm>
          <a:prstGeom prst="roundRect">
            <a:avLst>
              <a:gd name="adj" fmla="val 5281"/>
            </a:avLst>
          </a:prstGeom>
          <a:solidFill>
            <a:srgbClr val="EEEFF5"/>
          </a:solidFill>
          <a:ln/>
          <a:effectLst>
            <a:outerShdw sx="100000" sy="100000" kx="0" ky="0" algn="bl" rotWithShape="0" blurRad="48260" dist="24130" dir="13500000">
              <a:srgbClr val="ffffff">
                <a:alpha val="70000"/>
              </a:srgbClr>
            </a:outerShdw>
          </a:effectLst>
        </p:spPr>
      </p:sp>
      <p:sp>
        <p:nvSpPr>
          <p:cNvPr id="8" name="Text 5"/>
          <p:cNvSpPr/>
          <p:nvPr/>
        </p:nvSpPr>
        <p:spPr>
          <a:xfrm>
            <a:off x="10350579" y="2458403"/>
            <a:ext cx="2563058" cy="32039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ts val="2500"/>
              </a:lnSpc>
              <a:buNone/>
            </a:pPr>
            <a:r>
              <a:rPr lang="en-US" sz="2000" b="1" dirty="0">
                <a:solidFill>
                  <a:srgbClr val="272525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Blob Storage</a:t>
            </a:r>
            <a:endParaRPr lang="en-US" sz="2000" dirty="0"/>
          </a:p>
        </p:txBody>
      </p:sp>
      <p:sp>
        <p:nvSpPr>
          <p:cNvPr id="9" name="Text 6"/>
          <p:cNvSpPr/>
          <p:nvPr/>
        </p:nvSpPr>
        <p:spPr>
          <a:xfrm>
            <a:off x="10350579" y="2895600"/>
            <a:ext cx="3403283" cy="218110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450"/>
              </a:lnSpc>
              <a:buNone/>
            </a:pPr>
            <a:r>
              <a:rPr lang="en-US" sz="1500" dirty="0">
                <a:solidFill>
                  <a:srgbClr val="27252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Blob Storage es el servicio de almacenamiento de objetos de Azure, que ofrece una solución escalable y durable para almacenar y acceder a diferentes tipos de datos, como documentos, imágenes y archivos multimedia.</a:t>
            </a:r>
            <a:endParaRPr lang="en-US" sz="1500" dirty="0"/>
          </a:p>
        </p:txBody>
      </p:sp>
      <p:sp>
        <p:nvSpPr>
          <p:cNvPr id="10" name="Shape 7"/>
          <p:cNvSpPr/>
          <p:nvPr/>
        </p:nvSpPr>
        <p:spPr>
          <a:xfrm>
            <a:off x="6168152" y="5777865"/>
            <a:ext cx="7780496" cy="1761530"/>
          </a:xfrm>
          <a:prstGeom prst="roundRect">
            <a:avLst>
              <a:gd name="adj" fmla="val 9952"/>
            </a:avLst>
          </a:prstGeom>
          <a:solidFill>
            <a:srgbClr val="EEEFF5"/>
          </a:solidFill>
          <a:ln/>
          <a:effectLst>
            <a:outerShdw sx="100000" sy="100000" kx="0" ky="0" algn="bl" rotWithShape="0" blurRad="48260" dist="24130" dir="13500000">
              <a:srgbClr val="ffffff">
                <a:alpha val="70000"/>
              </a:srgbClr>
            </a:outerShdw>
          </a:effectLst>
        </p:spPr>
      </p:sp>
      <p:sp>
        <p:nvSpPr>
          <p:cNvPr id="11" name="Text 8"/>
          <p:cNvSpPr/>
          <p:nvPr/>
        </p:nvSpPr>
        <p:spPr>
          <a:xfrm>
            <a:off x="6362938" y="5972651"/>
            <a:ext cx="2563058" cy="32039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ts val="2500"/>
              </a:lnSpc>
              <a:buNone/>
            </a:pPr>
            <a:r>
              <a:rPr lang="en-US" sz="2000" b="1" dirty="0">
                <a:solidFill>
                  <a:srgbClr val="272525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App Services</a:t>
            </a:r>
            <a:endParaRPr lang="en-US" sz="2000" dirty="0"/>
          </a:p>
        </p:txBody>
      </p:sp>
      <p:sp>
        <p:nvSpPr>
          <p:cNvPr id="12" name="Text 9"/>
          <p:cNvSpPr/>
          <p:nvPr/>
        </p:nvSpPr>
        <p:spPr>
          <a:xfrm>
            <a:off x="6362938" y="6409849"/>
            <a:ext cx="7390924" cy="934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450"/>
              </a:lnSpc>
              <a:buNone/>
            </a:pPr>
            <a:r>
              <a:rPr lang="en-US" sz="1500" dirty="0">
                <a:solidFill>
                  <a:srgbClr val="27252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App Services es el servicio de plataforma como servicio (PaaS) de Azure, que permite a los desarrolladores crear, implementar y escalar aplicaciones web, móviles y API sin tener que administrar la infraestructura subyacente.</a:t>
            </a:r>
            <a:endParaRPr lang="en-US" sz="15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0" y="0"/>
            <a:ext cx="5486400" cy="8230791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01147" y="472321"/>
            <a:ext cx="6638449" cy="5650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ts val="4400"/>
              </a:lnSpc>
              <a:buNone/>
            </a:pPr>
            <a:r>
              <a:rPr lang="en-US" sz="3550" b="1" dirty="0">
                <a:solidFill>
                  <a:srgbClr val="7068F4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Costos y Escalabilidad en la Nube</a:t>
            </a:r>
            <a:endParaRPr lang="en-US" sz="3550" dirty="0"/>
          </a:p>
        </p:txBody>
      </p:sp>
      <p:pic>
        <p:nvPicPr>
          <p:cNvPr id="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1147" y="1295043"/>
            <a:ext cx="429458" cy="429458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601147" y="1896189"/>
            <a:ext cx="2260283" cy="2824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1750" b="1" dirty="0">
                <a:solidFill>
                  <a:srgbClr val="272525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Modelos de Precios</a:t>
            </a:r>
            <a:endParaRPr lang="en-US" sz="1750" dirty="0"/>
          </a:p>
        </p:txBody>
      </p:sp>
      <p:sp>
        <p:nvSpPr>
          <p:cNvPr id="6" name="Text 2"/>
          <p:cNvSpPr/>
          <p:nvPr/>
        </p:nvSpPr>
        <p:spPr>
          <a:xfrm>
            <a:off x="601147" y="2281595"/>
            <a:ext cx="7941707" cy="82438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50"/>
              </a:lnSpc>
              <a:buNone/>
            </a:pPr>
            <a:r>
              <a:rPr lang="en-US" sz="1350" dirty="0">
                <a:solidFill>
                  <a:srgbClr val="27252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Las principales plataformas de nube ofrecen diversos modelos de precios, como pago por uso, reservas y planes a largo plazo, para que las organizaciones puedan elegir la opción más adecuada a sus necesidades y presupuesto.</a:t>
            </a:r>
            <a:endParaRPr lang="en-US" sz="1350" dirty="0"/>
          </a:p>
        </p:txBody>
      </p:sp>
      <p:pic>
        <p:nvPicPr>
          <p:cNvPr id="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1147" y="3621286"/>
            <a:ext cx="429458" cy="429458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601147" y="4222433"/>
            <a:ext cx="2260283" cy="2824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1750" b="1" dirty="0">
                <a:solidFill>
                  <a:srgbClr val="272525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Escalabilidad Elástica</a:t>
            </a:r>
            <a:endParaRPr lang="en-US" sz="1750" dirty="0"/>
          </a:p>
        </p:txBody>
      </p:sp>
      <p:sp>
        <p:nvSpPr>
          <p:cNvPr id="9" name="Text 4"/>
          <p:cNvSpPr/>
          <p:nvPr/>
        </p:nvSpPr>
        <p:spPr>
          <a:xfrm>
            <a:off x="601147" y="4607838"/>
            <a:ext cx="7941707" cy="82438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50"/>
              </a:lnSpc>
              <a:buNone/>
            </a:pPr>
            <a:r>
              <a:rPr lang="en-US" sz="1350" dirty="0">
                <a:solidFill>
                  <a:srgbClr val="27252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La computación en la nube permite a las organizaciones escalar recursos de manera elástica, aumentando o disminuyendo la capacidad según la demanda, lo que evita el sobredimensionamiento o la subutilización de recursos.</a:t>
            </a:r>
            <a:endParaRPr lang="en-US" sz="1350" dirty="0"/>
          </a:p>
        </p:txBody>
      </p:sp>
      <p:pic>
        <p:nvPicPr>
          <p:cNvPr id="1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1147" y="5947529"/>
            <a:ext cx="429458" cy="429458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601147" y="6548676"/>
            <a:ext cx="2350056" cy="2824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1750" b="1" dirty="0">
                <a:solidFill>
                  <a:srgbClr val="272525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Optimización de Costos</a:t>
            </a:r>
            <a:endParaRPr lang="en-US" sz="1750" dirty="0"/>
          </a:p>
        </p:txBody>
      </p:sp>
      <p:sp>
        <p:nvSpPr>
          <p:cNvPr id="12" name="Text 6"/>
          <p:cNvSpPr/>
          <p:nvPr/>
        </p:nvSpPr>
        <p:spPr>
          <a:xfrm>
            <a:off x="601147" y="6934081"/>
            <a:ext cx="7941707" cy="82438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50"/>
              </a:lnSpc>
              <a:buNone/>
            </a:pPr>
            <a:r>
              <a:rPr lang="en-US" sz="1350" dirty="0">
                <a:solidFill>
                  <a:srgbClr val="27252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Las plataformas de nube ofrecen herramientas y servicios para ayudar a las organizaciones a optimizar sus costos, como recomendaciones de uso, análisis de gastos y facturación detallada.</a:t>
            </a:r>
            <a:endParaRPr lang="en-US" sz="13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2447806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85324" y="3073479"/>
            <a:ext cx="11668601" cy="6441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ts val="5050"/>
              </a:lnSpc>
              <a:buNone/>
            </a:pPr>
            <a:r>
              <a:rPr lang="en-US" sz="4050" b="1" dirty="0">
                <a:solidFill>
                  <a:srgbClr val="7068F4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Configuración de Entornos de Desarrollo en la Nube</a:t>
            </a:r>
            <a:endParaRPr lang="en-US" sz="4050" dirty="0"/>
          </a:p>
        </p:txBody>
      </p:sp>
      <p:pic>
        <p:nvPicPr>
          <p:cNvPr id="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324" y="4011335"/>
            <a:ext cx="4419838" cy="783312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881063" y="5088374"/>
            <a:ext cx="3630692" cy="32206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2000" b="1" dirty="0">
                <a:solidFill>
                  <a:srgbClr val="272525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Aprovisionamiento de Recursos</a:t>
            </a:r>
            <a:endParaRPr lang="en-US" sz="2000" dirty="0"/>
          </a:p>
        </p:txBody>
      </p:sp>
      <p:sp>
        <p:nvSpPr>
          <p:cNvPr id="6" name="Text 2"/>
          <p:cNvSpPr/>
          <p:nvPr/>
        </p:nvSpPr>
        <p:spPr>
          <a:xfrm>
            <a:off x="881063" y="5527834"/>
            <a:ext cx="4028361" cy="188023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450"/>
              </a:lnSpc>
              <a:buNone/>
            </a:pPr>
            <a:r>
              <a:rPr lang="en-US" sz="1500" dirty="0">
                <a:solidFill>
                  <a:srgbClr val="27252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Utilizar la interfaz de usuario o la línea de comandos de las plataformas de nube para aprovisionar máquinas virtuales, bases de datos, servicios de almacenamiento y otros recursos necesarios para el desarrollo.</a:t>
            </a:r>
            <a:endParaRPr lang="en-US" sz="1500" dirty="0"/>
          </a:p>
        </p:txBody>
      </p:sp>
      <p:pic>
        <p:nvPicPr>
          <p:cNvPr id="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05162" y="4011335"/>
            <a:ext cx="4419957" cy="783312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5300901" y="5088374"/>
            <a:ext cx="2576632" cy="32206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2000" b="1" dirty="0">
                <a:solidFill>
                  <a:srgbClr val="272525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Integración con IDEs</a:t>
            </a:r>
            <a:endParaRPr lang="en-US" sz="2000" dirty="0"/>
          </a:p>
        </p:txBody>
      </p:sp>
      <p:sp>
        <p:nvSpPr>
          <p:cNvPr id="9" name="Text 4"/>
          <p:cNvSpPr/>
          <p:nvPr/>
        </p:nvSpPr>
        <p:spPr>
          <a:xfrm>
            <a:off x="5300901" y="5527834"/>
            <a:ext cx="4028480" cy="15668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450"/>
              </a:lnSpc>
              <a:buNone/>
            </a:pPr>
            <a:r>
              <a:rPr lang="en-US" sz="1500" dirty="0">
                <a:solidFill>
                  <a:srgbClr val="27252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Conectar el entorno de desarrollo local (como Visual Studio Code o IntelliJ IDEA) con los servicios de nube, para facilitar la implementación y el despliegue de aplicaciones.</a:t>
            </a:r>
            <a:endParaRPr lang="en-US" sz="1500" dirty="0"/>
          </a:p>
        </p:txBody>
      </p:sp>
      <p:pic>
        <p:nvPicPr>
          <p:cNvPr id="1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525119" y="4011335"/>
            <a:ext cx="4419957" cy="783312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9720858" y="5088374"/>
            <a:ext cx="3264575" cy="32206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2000" b="1" dirty="0">
                <a:solidFill>
                  <a:srgbClr val="272525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Automatización de Procesos</a:t>
            </a:r>
            <a:endParaRPr lang="en-US" sz="2000" dirty="0"/>
          </a:p>
        </p:txBody>
      </p:sp>
      <p:sp>
        <p:nvSpPr>
          <p:cNvPr id="12" name="Text 6"/>
          <p:cNvSpPr/>
          <p:nvPr/>
        </p:nvSpPr>
        <p:spPr>
          <a:xfrm>
            <a:off x="9720858" y="5527834"/>
            <a:ext cx="4028480" cy="15668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450"/>
              </a:lnSpc>
              <a:buNone/>
            </a:pPr>
            <a:r>
              <a:rPr lang="en-US" sz="1500" dirty="0">
                <a:solidFill>
                  <a:srgbClr val="27252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Configurar flujos de trabajo de integración y entrega continuas (CI/CD) para automatizar tareas como compilación, pruebas y despliegue de la aplicación en la nube.</a:t>
            </a:r>
            <a:endParaRPr lang="en-US" sz="15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79596" y="1163598"/>
            <a:ext cx="7185422" cy="5448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ts val="4250"/>
              </a:lnSpc>
              <a:buNone/>
            </a:pPr>
            <a:r>
              <a:rPr lang="en-US" sz="3400" b="1" dirty="0">
                <a:solidFill>
                  <a:srgbClr val="7068F4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Desplegando Aplicaciones en la Nube</a:t>
            </a:r>
            <a:endParaRPr lang="en-US" sz="3400" dirty="0"/>
          </a:p>
        </p:txBody>
      </p:sp>
      <p:sp>
        <p:nvSpPr>
          <p:cNvPr id="4" name="Shape 1"/>
          <p:cNvSpPr/>
          <p:nvPr/>
        </p:nvSpPr>
        <p:spPr>
          <a:xfrm>
            <a:off x="579596" y="1956792"/>
            <a:ext cx="7984808" cy="5109210"/>
          </a:xfrm>
          <a:prstGeom prst="roundRect">
            <a:avLst>
              <a:gd name="adj" fmla="val 2918"/>
            </a:avLst>
          </a:prstGeom>
          <a:noFill/>
          <a:ln w="7620">
            <a:solidFill>
              <a:srgbClr val="000000">
                <a:alpha val="8000"/>
              </a:srgbClr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587216" y="1964412"/>
            <a:ext cx="7969567" cy="1008578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</p:sp>
      <p:sp>
        <p:nvSpPr>
          <p:cNvPr id="6" name="Text 3"/>
          <p:cNvSpPr/>
          <p:nvPr/>
        </p:nvSpPr>
        <p:spPr>
          <a:xfrm>
            <a:off x="752832" y="2071330"/>
            <a:ext cx="3649742" cy="2649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ts val="2050"/>
              </a:lnSpc>
              <a:buNone/>
            </a:pPr>
            <a:r>
              <a:rPr lang="en-US" sz="1300" dirty="0">
                <a:solidFill>
                  <a:srgbClr val="27252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Contenedores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4741426" y="2071330"/>
            <a:ext cx="3649742" cy="79474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050"/>
              </a:lnSpc>
              <a:buNone/>
            </a:pPr>
            <a:r>
              <a:rPr lang="en-US" sz="1300" dirty="0">
                <a:solidFill>
                  <a:srgbClr val="27252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Empaquetar la aplicación en contenedores Docker para garantizar la portabilidad y la consistencia del entorno de ejecución.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587216" y="2972991"/>
            <a:ext cx="7969567" cy="1273493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</p:sp>
      <p:sp>
        <p:nvSpPr>
          <p:cNvPr id="9" name="Text 6"/>
          <p:cNvSpPr/>
          <p:nvPr/>
        </p:nvSpPr>
        <p:spPr>
          <a:xfrm>
            <a:off x="752832" y="3079909"/>
            <a:ext cx="3649742" cy="2649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ts val="2050"/>
              </a:lnSpc>
              <a:buNone/>
            </a:pPr>
            <a:r>
              <a:rPr lang="en-US" sz="1300" dirty="0">
                <a:solidFill>
                  <a:srgbClr val="27252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Orquestación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4741426" y="3079909"/>
            <a:ext cx="3649742" cy="1059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050"/>
              </a:lnSpc>
              <a:buNone/>
            </a:pPr>
            <a:r>
              <a:rPr lang="en-US" sz="1300" dirty="0">
                <a:solidFill>
                  <a:srgbClr val="27252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Utilizar plataformas de orquestación de contenedores, como Kubernetes, para administrar y escalar las aplicaciones desplegadas en la nube.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587216" y="4246483"/>
            <a:ext cx="7969567" cy="1538407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</p:sp>
      <p:sp>
        <p:nvSpPr>
          <p:cNvPr id="12" name="Text 9"/>
          <p:cNvSpPr/>
          <p:nvPr/>
        </p:nvSpPr>
        <p:spPr>
          <a:xfrm>
            <a:off x="752832" y="4353401"/>
            <a:ext cx="3649742" cy="2649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ts val="2050"/>
              </a:lnSpc>
              <a:buNone/>
            </a:pPr>
            <a:r>
              <a:rPr lang="en-US" sz="1300" dirty="0">
                <a:solidFill>
                  <a:srgbClr val="27252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Serverless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4741426" y="4353401"/>
            <a:ext cx="3649742" cy="13245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050"/>
              </a:lnSpc>
              <a:buNone/>
            </a:pPr>
            <a:r>
              <a:rPr lang="en-US" sz="1300" dirty="0">
                <a:solidFill>
                  <a:srgbClr val="27252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Aprovechar los servicios sin servidor, como AWS Lambda o Google Cloud Functions, para implementar aplicaciones y funciones específicas sin tener que administrar la infraestructura subyacente.</a:t>
            </a:r>
            <a:endParaRPr lang="en-US" sz="1300" dirty="0"/>
          </a:p>
        </p:txBody>
      </p:sp>
      <p:sp>
        <p:nvSpPr>
          <p:cNvPr id="14" name="Shape 11"/>
          <p:cNvSpPr/>
          <p:nvPr/>
        </p:nvSpPr>
        <p:spPr>
          <a:xfrm>
            <a:off x="587216" y="5784890"/>
            <a:ext cx="7969567" cy="1273493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</p:sp>
      <p:sp>
        <p:nvSpPr>
          <p:cNvPr id="15" name="Text 12"/>
          <p:cNvSpPr/>
          <p:nvPr/>
        </p:nvSpPr>
        <p:spPr>
          <a:xfrm>
            <a:off x="752832" y="5891808"/>
            <a:ext cx="3649742" cy="2649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ts val="2050"/>
              </a:lnSpc>
              <a:buNone/>
            </a:pPr>
            <a:r>
              <a:rPr lang="en-US" sz="1300" dirty="0">
                <a:solidFill>
                  <a:srgbClr val="27252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Entrega Continua</a:t>
            </a:r>
            <a:endParaRPr lang="en-US" sz="1300" dirty="0"/>
          </a:p>
        </p:txBody>
      </p:sp>
      <p:sp>
        <p:nvSpPr>
          <p:cNvPr id="16" name="Text 13"/>
          <p:cNvSpPr/>
          <p:nvPr/>
        </p:nvSpPr>
        <p:spPr>
          <a:xfrm>
            <a:off x="4741426" y="5891808"/>
            <a:ext cx="3649742" cy="1059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050"/>
              </a:lnSpc>
              <a:buNone/>
            </a:pPr>
            <a:r>
              <a:rPr lang="en-US" sz="1300" dirty="0">
                <a:solidFill>
                  <a:srgbClr val="27252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Configurar flujos de trabajo de integración y entrega continuas (CI/CD) para automatizar el proceso de construcción, prueba y despliegue de las aplicaciones en la nube.</a:t>
            </a:r>
            <a:endParaRPr lang="en-US" sz="13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58309" y="2063710"/>
            <a:ext cx="9351526" cy="7127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ts val="5600"/>
              </a:lnSpc>
              <a:buNone/>
            </a:pPr>
            <a:r>
              <a:rPr lang="en-US" sz="4450" b="1" dirty="0">
                <a:solidFill>
                  <a:srgbClr val="7068F4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Comparativa de Plataformas de Nube</a:t>
            </a:r>
            <a:endParaRPr lang="en-US" sz="4450" dirty="0"/>
          </a:p>
        </p:txBody>
      </p:sp>
      <p:sp>
        <p:nvSpPr>
          <p:cNvPr id="3" name="Text 1"/>
          <p:cNvSpPr/>
          <p:nvPr/>
        </p:nvSpPr>
        <p:spPr>
          <a:xfrm>
            <a:off x="758309" y="3317915"/>
            <a:ext cx="3649385" cy="3562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ts val="2800"/>
              </a:lnSpc>
              <a:buNone/>
            </a:pPr>
            <a:r>
              <a:rPr lang="en-US" sz="2200" b="1" dirty="0">
                <a:solidFill>
                  <a:srgbClr val="7068F4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AWS (Amazon Web Services)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758309" y="3890724"/>
            <a:ext cx="4018359" cy="20802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700"/>
              </a:lnSpc>
              <a:buNone/>
            </a:pPr>
            <a:r>
              <a:rPr lang="en-US" sz="1700" dirty="0">
                <a:solidFill>
                  <a:srgbClr val="27252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AWS es la plataforma de nube líder a nivel global, con una amplia gama de servicios, una sólida infraestructura y una comunidad de desarrolladores y partners en constante crecimiento.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5312926" y="3317915"/>
            <a:ext cx="3583186" cy="3562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ts val="2800"/>
              </a:lnSpc>
              <a:buNone/>
            </a:pPr>
            <a:r>
              <a:rPr lang="en-US" sz="2200" b="1" dirty="0">
                <a:solidFill>
                  <a:srgbClr val="7068F4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Google Cloud Platform (GCP)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5312926" y="3890724"/>
            <a:ext cx="4018359" cy="20802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700"/>
              </a:lnSpc>
              <a:buNone/>
            </a:pPr>
            <a:r>
              <a:rPr lang="en-US" sz="1700" dirty="0">
                <a:solidFill>
                  <a:srgbClr val="27252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GCP se destaca por sus servicios avanzados de inteligencia artificial y aprendizaje automático, así como por su fuerte integración con las herramientas y ecosistema de Google.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9867543" y="3317915"/>
            <a:ext cx="2850713" cy="3562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ts val="2800"/>
              </a:lnSpc>
              <a:buNone/>
            </a:pPr>
            <a:r>
              <a:rPr lang="en-US" sz="2200" b="1" dirty="0">
                <a:solidFill>
                  <a:srgbClr val="7068F4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Microsoft Azure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9867543" y="3890724"/>
            <a:ext cx="4018359" cy="20802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700"/>
              </a:lnSpc>
              <a:buNone/>
            </a:pPr>
            <a:r>
              <a:rPr lang="en-US" sz="1700" dirty="0">
                <a:solidFill>
                  <a:srgbClr val="27252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Azure es la opción preferida por muchas organizaciones que ya utilizan tecnologías de Microsoft, gracias a su profunda integración con productos como Office 365 y Active Directory.</a:t>
            </a:r>
            <a:endParaRPr lang="en-US" sz="17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58309" y="2033111"/>
            <a:ext cx="7320915" cy="7127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ts val="5600"/>
              </a:lnSpc>
              <a:buNone/>
            </a:pPr>
            <a:r>
              <a:rPr lang="en-US" sz="4450" b="1" dirty="0">
                <a:solidFill>
                  <a:srgbClr val="7068F4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Conclusión y Próximos Pasos</a:t>
            </a:r>
            <a:endParaRPr lang="en-US" sz="4450" dirty="0"/>
          </a:p>
        </p:txBody>
      </p:sp>
      <p:sp>
        <p:nvSpPr>
          <p:cNvPr id="3" name="Text 1"/>
          <p:cNvSpPr/>
          <p:nvPr/>
        </p:nvSpPr>
        <p:spPr>
          <a:xfrm>
            <a:off x="758309" y="3179088"/>
            <a:ext cx="13113782" cy="10401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700"/>
              </a:lnSpc>
              <a:buNone/>
            </a:pPr>
            <a:r>
              <a:rPr lang="en-US" sz="1700" dirty="0">
                <a:solidFill>
                  <a:srgbClr val="27252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La computación en la nube ha revolucionado la forma en que las empresas y organizaciones acceden y utilizan la tecnología. Con servicios como IaaS, PaaS y SaaS, las principales plataformas de nube (AWS, GCP y Azure) ofrecen una forma más flexible, escalable y rentable de implementar y gestionar soluciones informáticas.</a:t>
            </a:r>
            <a:endParaRPr lang="en-US" sz="1700" dirty="0"/>
          </a:p>
        </p:txBody>
      </p:sp>
      <p:sp>
        <p:nvSpPr>
          <p:cNvPr id="4" name="Text 2"/>
          <p:cNvSpPr/>
          <p:nvPr/>
        </p:nvSpPr>
        <p:spPr>
          <a:xfrm>
            <a:off x="758309" y="4462939"/>
            <a:ext cx="13113782" cy="1733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700"/>
              </a:lnSpc>
              <a:buNone/>
            </a:pPr>
            <a:r>
              <a:rPr lang="en-US" sz="1700" dirty="0">
                <a:solidFill>
                  <a:srgbClr val="27252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 medida que la adopción de la nube sigue creciendo, es crucial que los profesionales de TI y los desarrolladores se familiaricen con estas tecnologías y aprendan a aprovechar al máximo sus capacidades. Seguir explorando los servicios de nube, practicar con entornos de desarrollo y despliegue, y mantenerse al tanto de las últimas tendencias y mejores prácticas serán pasos clave para dominar la computación en la nube y liderar la transformación digital de las organizaciones.</a:t>
            </a:r>
            <a:endParaRPr lang="en-US" sz="17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2024-10-27T17:11:38Z</dcterms:created>
  <dcterms:modified xsi:type="dcterms:W3CDTF">2024-10-27T17:11:38Z</dcterms:modified>
</cp:coreProperties>
</file>