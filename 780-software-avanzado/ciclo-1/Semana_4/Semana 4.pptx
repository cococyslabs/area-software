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p:regular r:id="rId17"/>
    </p:embeddedFont>
    <p:embeddedFont>
      <p:font typeface="Barlow"/>
      <p:regular r:id="rId18"/>
    </p:embeddedFont>
    <p:embeddedFont>
      <p:font typeface="Barlow"/>
      <p:regular r:id="rId19"/>
    </p:embeddedFont>
    <p:embeddedFont>
      <p:font typeface="Barlow"/>
      <p:regular r:id="rId20"/>
    </p:embeddedFont>
    <p:embeddedFont>
      <p:font typeface="Montserrat"/>
      <p:regular r:id="rId21"/>
    </p:embeddedFont>
    <p:embeddedFont>
      <p:font typeface="Montserrat"/>
      <p:regular r:id="rId22"/>
    </p:embeddedFont>
    <p:embeddedFont>
      <p:font typeface="Montserrat"/>
      <p:regular r:id="rId23"/>
    </p:embeddedFont>
    <p:embeddedFont>
      <p:font typeface="Montserrat"/>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778669"/>
            <a:ext cx="7627382" cy="2950726"/>
          </a:xfrm>
          <a:prstGeom prst="rect">
            <a:avLst/>
          </a:prstGeom>
          <a:noFill/>
          <a:ln/>
        </p:spPr>
        <p:txBody>
          <a:bodyPr wrap="square" lIns="0" tIns="0" rIns="0" bIns="0" rtlCol="0" anchor="t"/>
          <a:lstStyle/>
          <a:p>
            <a:pPr indent="0" marL="0">
              <a:lnSpc>
                <a:spcPts val="7700"/>
              </a:lnSpc>
              <a:buNone/>
            </a:pPr>
            <a:r>
              <a:rPr lang="en-US" sz="6150" b="1" dirty="0">
                <a:solidFill>
                  <a:srgbClr val="7068F4"/>
                </a:solidFill>
                <a:latin typeface="Barlow Bold" pitchFamily="34" charset="0"/>
                <a:ea typeface="Barlow Bold" pitchFamily="34" charset="-122"/>
                <a:cs typeface="Barlow Bold" pitchFamily="34" charset="-120"/>
              </a:rPr>
              <a:t>Introducción a Docker: Contenedores</a:t>
            </a:r>
            <a:endParaRPr lang="en-US" sz="6150" dirty="0"/>
          </a:p>
        </p:txBody>
      </p:sp>
      <p:sp>
        <p:nvSpPr>
          <p:cNvPr id="4" name="Text 1"/>
          <p:cNvSpPr/>
          <p:nvPr/>
        </p:nvSpPr>
        <p:spPr>
          <a:xfrm>
            <a:off x="6244709" y="4054316"/>
            <a:ext cx="7627382" cy="277368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es una plataforma de software que permite crear, implementar y ejecutar aplicaciones dentro de entornos aislados llamados contenedores. Los contenedores son unidades de software ligeras, portables y autosuficientes que incluyen todo lo necesario para que una aplicación funcione: código, tiempo de ejecución, herramientas del sistema y bibliotecas. Esta tecnología brinda a los desarrolladores y a las empresas una forma más eficiente de desarrollar, implementar y escalar aplicaciones en diferentes entornos.</a:t>
            </a:r>
            <a:endParaRPr lang="en-US" sz="1700" dirty="0"/>
          </a:p>
        </p:txBody>
      </p:sp>
      <p:sp>
        <p:nvSpPr>
          <p:cNvPr id="5" name="Shape 2"/>
          <p:cNvSpPr/>
          <p:nvPr/>
        </p:nvSpPr>
        <p:spPr>
          <a:xfrm>
            <a:off x="6244709" y="7087910"/>
            <a:ext cx="346591" cy="346591"/>
          </a:xfrm>
          <a:prstGeom prst="roundRect">
            <a:avLst>
              <a:gd name="adj" fmla="val 26380043"/>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6252329" y="7095530"/>
            <a:ext cx="331351" cy="331351"/>
          </a:xfrm>
          <a:prstGeom prst="rect">
            <a:avLst/>
          </a:prstGeom>
        </p:spPr>
      </p:pic>
      <p:sp>
        <p:nvSpPr>
          <p:cNvPr id="7" name="Text 3"/>
          <p:cNvSpPr/>
          <p:nvPr/>
        </p:nvSpPr>
        <p:spPr>
          <a:xfrm>
            <a:off x="6699528" y="7071717"/>
            <a:ext cx="4793694" cy="379214"/>
          </a:xfrm>
          <a:prstGeom prst="rect">
            <a:avLst/>
          </a:prstGeom>
          <a:noFill/>
          <a:ln/>
        </p:spPr>
        <p:txBody>
          <a:bodyPr wrap="none" lIns="0" tIns="0" rIns="0" bIns="0" rtlCol="0" anchor="t"/>
          <a:lstStyle/>
          <a:p>
            <a:pPr algn="l" indent="0" marL="0">
              <a:lnSpc>
                <a:spcPts val="2950"/>
              </a:lnSpc>
              <a:buNone/>
            </a:pPr>
            <a:r>
              <a:rPr lang="en-US" sz="2100" b="1" dirty="0">
                <a:solidFill>
                  <a:srgbClr val="272525"/>
                </a:solidFill>
                <a:latin typeface="Montserrat Bold" pitchFamily="34" charset="0"/>
                <a:ea typeface="Montserrat Bold" pitchFamily="34" charset="-122"/>
                <a:cs typeface="Montserrat Bold" pitchFamily="34" charset="-120"/>
              </a:rPr>
              <a:t>by MIKE LEONEL MOLINA GARCIA</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534001"/>
            <a:ext cx="13113782" cy="1425416"/>
          </a:xfrm>
          <a:prstGeom prst="rect">
            <a:avLst/>
          </a:prstGeom>
          <a:noFill/>
          <a:ln/>
        </p:spPr>
        <p:txBody>
          <a:bodyPr wrap="squar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Ventajas de los contenedores sobre las máquinas virtuales</a:t>
            </a:r>
            <a:endParaRPr lang="en-US" sz="4450" dirty="0"/>
          </a:p>
        </p:txBody>
      </p:sp>
      <p:sp>
        <p:nvSpPr>
          <p:cNvPr id="3" name="Text 1"/>
          <p:cNvSpPr/>
          <p:nvPr/>
        </p:nvSpPr>
        <p:spPr>
          <a:xfrm>
            <a:off x="758309" y="3500914"/>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Rendimiento</a:t>
            </a:r>
            <a:endParaRPr lang="en-US" sz="2200" dirty="0"/>
          </a:p>
        </p:txBody>
      </p:sp>
      <p:sp>
        <p:nvSpPr>
          <p:cNvPr id="4" name="Text 2"/>
          <p:cNvSpPr/>
          <p:nvPr/>
        </p:nvSpPr>
        <p:spPr>
          <a:xfrm>
            <a:off x="758309" y="4073723"/>
            <a:ext cx="4018359" cy="242697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Los contenedores son más livianos y eficientes que las máquinas virtuales, ya que comparten el kernel del sistema operativo anfitrión, lo que reduce el overhead de virtualización y mejora el rendimiento.</a:t>
            </a:r>
            <a:endParaRPr lang="en-US" sz="1700" dirty="0"/>
          </a:p>
        </p:txBody>
      </p:sp>
      <p:sp>
        <p:nvSpPr>
          <p:cNvPr id="5" name="Text 3"/>
          <p:cNvSpPr/>
          <p:nvPr/>
        </p:nvSpPr>
        <p:spPr>
          <a:xfrm>
            <a:off x="5312926" y="3500914"/>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Portabilidad</a:t>
            </a:r>
            <a:endParaRPr lang="en-US" sz="2200" dirty="0"/>
          </a:p>
        </p:txBody>
      </p:sp>
      <p:sp>
        <p:nvSpPr>
          <p:cNvPr id="6" name="Text 4"/>
          <p:cNvSpPr/>
          <p:nvPr/>
        </p:nvSpPr>
        <p:spPr>
          <a:xfrm>
            <a:off x="5312926" y="4073723"/>
            <a:ext cx="4018359"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Los contenedores son portables entre diferentes sistemas operativos y plataformas de nube, lo que facilita la escalabilidad y el despliegue de aplicaciones en diferentes entornos.</a:t>
            </a:r>
            <a:endParaRPr lang="en-US" sz="1700" dirty="0"/>
          </a:p>
        </p:txBody>
      </p:sp>
      <p:sp>
        <p:nvSpPr>
          <p:cNvPr id="7" name="Text 5"/>
          <p:cNvSpPr/>
          <p:nvPr/>
        </p:nvSpPr>
        <p:spPr>
          <a:xfrm>
            <a:off x="9867543" y="3500914"/>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Aislamiento</a:t>
            </a:r>
            <a:endParaRPr lang="en-US" sz="2200" dirty="0"/>
          </a:p>
        </p:txBody>
      </p:sp>
      <p:sp>
        <p:nvSpPr>
          <p:cNvPr id="8" name="Text 6"/>
          <p:cNvSpPr/>
          <p:nvPr/>
        </p:nvSpPr>
        <p:spPr>
          <a:xfrm>
            <a:off x="9867543" y="4073723"/>
            <a:ext cx="4018359" cy="138684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Cada contenedor se ejecuta de forma aislada, lo que garantiza la seguridad y evita conflictos entre aplicaciones o dependencias.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972800" y="0"/>
            <a:ext cx="3657600" cy="8229600"/>
          </a:xfrm>
          <a:prstGeom prst="rect">
            <a:avLst/>
          </a:prstGeom>
        </p:spPr>
      </p:pic>
      <p:sp>
        <p:nvSpPr>
          <p:cNvPr id="3" name="Text 0"/>
          <p:cNvSpPr/>
          <p:nvPr/>
        </p:nvSpPr>
        <p:spPr>
          <a:xfrm>
            <a:off x="758309" y="639842"/>
            <a:ext cx="5701546"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Instalación de Docker</a:t>
            </a:r>
            <a:endParaRPr lang="en-US" sz="4450" dirty="0"/>
          </a:p>
        </p:txBody>
      </p:sp>
      <p:pic>
        <p:nvPicPr>
          <p:cNvPr id="4" name="Image 1" descr="preencoded.png">    </p:cNvPr>
          <p:cNvPicPr>
            <a:picLocks noChangeAspect="1"/>
          </p:cNvPicPr>
          <p:nvPr/>
        </p:nvPicPr>
        <p:blipFill>
          <a:blip r:embed="rId2"/>
          <a:stretch>
            <a:fillRect/>
          </a:stretch>
        </p:blipFill>
        <p:spPr>
          <a:xfrm>
            <a:off x="758309" y="1677472"/>
            <a:ext cx="541615" cy="541615"/>
          </a:xfrm>
          <a:prstGeom prst="rect">
            <a:avLst/>
          </a:prstGeom>
        </p:spPr>
      </p:pic>
      <p:sp>
        <p:nvSpPr>
          <p:cNvPr id="5" name="Text 1"/>
          <p:cNvSpPr/>
          <p:nvPr/>
        </p:nvSpPr>
        <p:spPr>
          <a:xfrm>
            <a:off x="758309" y="243566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Windows</a:t>
            </a:r>
            <a:endParaRPr lang="en-US" sz="2200" dirty="0"/>
          </a:p>
        </p:txBody>
      </p:sp>
      <p:sp>
        <p:nvSpPr>
          <p:cNvPr id="6" name="Text 2"/>
          <p:cNvSpPr/>
          <p:nvPr/>
        </p:nvSpPr>
        <p:spPr>
          <a:xfrm>
            <a:off x="758309" y="2921794"/>
            <a:ext cx="4565571"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Desktop para Windows es la opción más sencilla para instalar Docker en sistemas operativos Windows 10 y Windows Server.</a:t>
            </a:r>
            <a:endParaRPr lang="en-US" sz="1700" dirty="0"/>
          </a:p>
        </p:txBody>
      </p:sp>
      <p:pic>
        <p:nvPicPr>
          <p:cNvPr id="7" name="Image 2" descr="preencoded.png">    </p:cNvPr>
          <p:cNvPicPr>
            <a:picLocks noChangeAspect="1"/>
          </p:cNvPicPr>
          <p:nvPr/>
        </p:nvPicPr>
        <p:blipFill>
          <a:blip r:embed="rId3"/>
          <a:stretch>
            <a:fillRect/>
          </a:stretch>
        </p:blipFill>
        <p:spPr>
          <a:xfrm>
            <a:off x="5648801" y="1677472"/>
            <a:ext cx="541615" cy="541615"/>
          </a:xfrm>
          <a:prstGeom prst="rect">
            <a:avLst/>
          </a:prstGeom>
        </p:spPr>
      </p:pic>
      <p:sp>
        <p:nvSpPr>
          <p:cNvPr id="8" name="Text 3"/>
          <p:cNvSpPr/>
          <p:nvPr/>
        </p:nvSpPr>
        <p:spPr>
          <a:xfrm>
            <a:off x="5648801" y="243566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macOS</a:t>
            </a:r>
            <a:endParaRPr lang="en-US" sz="2200" dirty="0"/>
          </a:p>
        </p:txBody>
      </p:sp>
      <p:sp>
        <p:nvSpPr>
          <p:cNvPr id="9" name="Text 4"/>
          <p:cNvSpPr/>
          <p:nvPr/>
        </p:nvSpPr>
        <p:spPr>
          <a:xfrm>
            <a:off x="5648801" y="2921794"/>
            <a:ext cx="4565690" cy="104013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Desktop para Mac es la solución de instalación recomendada para sistemas operativos macOS.</a:t>
            </a:r>
            <a:endParaRPr lang="en-US" sz="1700" dirty="0"/>
          </a:p>
        </p:txBody>
      </p:sp>
      <p:pic>
        <p:nvPicPr>
          <p:cNvPr id="10" name="Image 3" descr="preencoded.png">    </p:cNvPr>
          <p:cNvPicPr>
            <a:picLocks noChangeAspect="1"/>
          </p:cNvPicPr>
          <p:nvPr/>
        </p:nvPicPr>
        <p:blipFill>
          <a:blip r:embed="rId4"/>
          <a:stretch>
            <a:fillRect/>
          </a:stretch>
        </p:blipFill>
        <p:spPr>
          <a:xfrm>
            <a:off x="758309" y="4958596"/>
            <a:ext cx="541615" cy="541615"/>
          </a:xfrm>
          <a:prstGeom prst="rect">
            <a:avLst/>
          </a:prstGeom>
        </p:spPr>
      </p:pic>
      <p:sp>
        <p:nvSpPr>
          <p:cNvPr id="11" name="Text 5"/>
          <p:cNvSpPr/>
          <p:nvPr/>
        </p:nvSpPr>
        <p:spPr>
          <a:xfrm>
            <a:off x="758309" y="5716786"/>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Linux</a:t>
            </a:r>
            <a:endParaRPr lang="en-US" sz="2200" dirty="0"/>
          </a:p>
        </p:txBody>
      </p:sp>
      <p:sp>
        <p:nvSpPr>
          <p:cNvPr id="12" name="Text 6"/>
          <p:cNvSpPr/>
          <p:nvPr/>
        </p:nvSpPr>
        <p:spPr>
          <a:xfrm>
            <a:off x="758309" y="6202918"/>
            <a:ext cx="4565571"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En sistemas Linux, es necesario instalar Docker desde los repositorios del sistema operativo o mediante la ejecución de un script de instalación.</a:t>
            </a:r>
            <a:endParaRPr lang="en-US" sz="1700" dirty="0"/>
          </a:p>
        </p:txBody>
      </p:sp>
      <p:pic>
        <p:nvPicPr>
          <p:cNvPr id="13" name="Image 4" descr="preencoded.png">    </p:cNvPr>
          <p:cNvPicPr>
            <a:picLocks noChangeAspect="1"/>
          </p:cNvPicPr>
          <p:nvPr/>
        </p:nvPicPr>
        <p:blipFill>
          <a:blip r:embed="rId5"/>
          <a:stretch>
            <a:fillRect/>
          </a:stretch>
        </p:blipFill>
        <p:spPr>
          <a:xfrm>
            <a:off x="5648801" y="4958596"/>
            <a:ext cx="541615" cy="541615"/>
          </a:xfrm>
          <a:prstGeom prst="rect">
            <a:avLst/>
          </a:prstGeom>
        </p:spPr>
      </p:pic>
      <p:sp>
        <p:nvSpPr>
          <p:cNvPr id="14" name="Text 7"/>
          <p:cNvSpPr/>
          <p:nvPr/>
        </p:nvSpPr>
        <p:spPr>
          <a:xfrm>
            <a:off x="5648801" y="5716786"/>
            <a:ext cx="2873812"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Plataformas en la nube</a:t>
            </a:r>
            <a:endParaRPr lang="en-US" sz="2200" dirty="0"/>
          </a:p>
        </p:txBody>
      </p:sp>
      <p:sp>
        <p:nvSpPr>
          <p:cNvPr id="15" name="Text 8"/>
          <p:cNvSpPr/>
          <p:nvPr/>
        </p:nvSpPr>
        <p:spPr>
          <a:xfrm>
            <a:off x="5648801" y="6202918"/>
            <a:ext cx="4565690"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Algunas plataformas de nube como AWS, Google Cloud y Microsoft Azure ofrecen servicios de contenedores que simplifican la instalación y gestión de Docker.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08196"/>
          </a:xfrm>
          <a:prstGeom prst="rect">
            <a:avLst/>
          </a:prstGeom>
        </p:spPr>
      </p:pic>
      <p:sp>
        <p:nvSpPr>
          <p:cNvPr id="3" name="Text 0"/>
          <p:cNvSpPr/>
          <p:nvPr/>
        </p:nvSpPr>
        <p:spPr>
          <a:xfrm>
            <a:off x="758309" y="3418523"/>
            <a:ext cx="7397829"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Comandos básicos de Docker</a:t>
            </a:r>
            <a:endParaRPr lang="en-US" sz="4450" dirty="0"/>
          </a:p>
        </p:txBody>
      </p:sp>
      <p:sp>
        <p:nvSpPr>
          <p:cNvPr id="4" name="Shape 1"/>
          <p:cNvSpPr/>
          <p:nvPr/>
        </p:nvSpPr>
        <p:spPr>
          <a:xfrm>
            <a:off x="758309" y="4699873"/>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sp>
        <p:nvSpPr>
          <p:cNvPr id="5" name="Text 2"/>
          <p:cNvSpPr/>
          <p:nvPr/>
        </p:nvSpPr>
        <p:spPr>
          <a:xfrm>
            <a:off x="941427" y="4772501"/>
            <a:ext cx="121087" cy="342067"/>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Barlow Bold" pitchFamily="34" charset="0"/>
                <a:ea typeface="Barlow Bold" pitchFamily="34" charset="-122"/>
                <a:cs typeface="Barlow Bold" pitchFamily="34" charset="-120"/>
              </a:rPr>
              <a:t>1</a:t>
            </a:r>
            <a:endParaRPr lang="en-US" sz="2650" dirty="0"/>
          </a:p>
        </p:txBody>
      </p:sp>
      <p:sp>
        <p:nvSpPr>
          <p:cNvPr id="6" name="Text 3"/>
          <p:cNvSpPr/>
          <p:nvPr/>
        </p:nvSpPr>
        <p:spPr>
          <a:xfrm>
            <a:off x="1462326" y="4699873"/>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docker run</a:t>
            </a:r>
            <a:endParaRPr lang="en-US" sz="2200" dirty="0"/>
          </a:p>
        </p:txBody>
      </p:sp>
      <p:sp>
        <p:nvSpPr>
          <p:cNvPr id="7" name="Text 4"/>
          <p:cNvSpPr/>
          <p:nvPr/>
        </p:nvSpPr>
        <p:spPr>
          <a:xfrm>
            <a:off x="1462326" y="5186005"/>
            <a:ext cx="5744647" cy="69342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Crea y ejecuta un nuevo contenedor a partir de una imagen.</a:t>
            </a:r>
            <a:endParaRPr lang="en-US" sz="1700" dirty="0"/>
          </a:p>
        </p:txBody>
      </p:sp>
      <p:sp>
        <p:nvSpPr>
          <p:cNvPr id="8" name="Shape 5"/>
          <p:cNvSpPr/>
          <p:nvPr/>
        </p:nvSpPr>
        <p:spPr>
          <a:xfrm>
            <a:off x="7423547" y="4699873"/>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sp>
        <p:nvSpPr>
          <p:cNvPr id="9" name="Text 6"/>
          <p:cNvSpPr/>
          <p:nvPr/>
        </p:nvSpPr>
        <p:spPr>
          <a:xfrm>
            <a:off x="7571423" y="4772501"/>
            <a:ext cx="191572" cy="342067"/>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Barlow Bold" pitchFamily="34" charset="0"/>
                <a:ea typeface="Barlow Bold" pitchFamily="34" charset="-122"/>
                <a:cs typeface="Barlow Bold" pitchFamily="34" charset="-120"/>
              </a:rPr>
              <a:t>2</a:t>
            </a:r>
            <a:endParaRPr lang="en-US" sz="2650" dirty="0"/>
          </a:p>
        </p:txBody>
      </p:sp>
      <p:sp>
        <p:nvSpPr>
          <p:cNvPr id="10" name="Text 7"/>
          <p:cNvSpPr/>
          <p:nvPr/>
        </p:nvSpPr>
        <p:spPr>
          <a:xfrm>
            <a:off x="8127563" y="4699873"/>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docker ps</a:t>
            </a:r>
            <a:endParaRPr lang="en-US" sz="2200" dirty="0"/>
          </a:p>
        </p:txBody>
      </p:sp>
      <p:sp>
        <p:nvSpPr>
          <p:cNvPr id="11" name="Text 8"/>
          <p:cNvSpPr/>
          <p:nvPr/>
        </p:nvSpPr>
        <p:spPr>
          <a:xfrm>
            <a:off x="8127563" y="5186005"/>
            <a:ext cx="5744647" cy="69342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Muestra los contenedores en ejecución en el sistema.</a:t>
            </a:r>
            <a:endParaRPr lang="en-US" sz="1700" dirty="0"/>
          </a:p>
        </p:txBody>
      </p:sp>
      <p:sp>
        <p:nvSpPr>
          <p:cNvPr id="12" name="Shape 9"/>
          <p:cNvSpPr/>
          <p:nvPr/>
        </p:nvSpPr>
        <p:spPr>
          <a:xfrm>
            <a:off x="758309" y="6339721"/>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sp>
        <p:nvSpPr>
          <p:cNvPr id="13" name="Text 10"/>
          <p:cNvSpPr/>
          <p:nvPr/>
        </p:nvSpPr>
        <p:spPr>
          <a:xfrm>
            <a:off x="909638" y="6412349"/>
            <a:ext cx="184666" cy="342067"/>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Barlow Bold" pitchFamily="34" charset="0"/>
                <a:ea typeface="Barlow Bold" pitchFamily="34" charset="-122"/>
                <a:cs typeface="Barlow Bold" pitchFamily="34" charset="-120"/>
              </a:rPr>
              <a:t>3</a:t>
            </a:r>
            <a:endParaRPr lang="en-US" sz="2650" dirty="0"/>
          </a:p>
        </p:txBody>
      </p:sp>
      <p:sp>
        <p:nvSpPr>
          <p:cNvPr id="14" name="Text 11"/>
          <p:cNvSpPr/>
          <p:nvPr/>
        </p:nvSpPr>
        <p:spPr>
          <a:xfrm>
            <a:off x="1462326" y="6339721"/>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docker images</a:t>
            </a:r>
            <a:endParaRPr lang="en-US" sz="2200" dirty="0"/>
          </a:p>
        </p:txBody>
      </p:sp>
      <p:sp>
        <p:nvSpPr>
          <p:cNvPr id="15" name="Text 12"/>
          <p:cNvSpPr/>
          <p:nvPr/>
        </p:nvSpPr>
        <p:spPr>
          <a:xfrm>
            <a:off x="1462326" y="6825853"/>
            <a:ext cx="5744647" cy="69342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Lista las imágenes Docker descargadas en el sistema.</a:t>
            </a:r>
            <a:endParaRPr lang="en-US" sz="1700" dirty="0"/>
          </a:p>
        </p:txBody>
      </p:sp>
      <p:sp>
        <p:nvSpPr>
          <p:cNvPr id="16" name="Shape 13"/>
          <p:cNvSpPr/>
          <p:nvPr/>
        </p:nvSpPr>
        <p:spPr>
          <a:xfrm>
            <a:off x="7423547" y="6339721"/>
            <a:ext cx="487442" cy="487442"/>
          </a:xfrm>
          <a:prstGeom prst="roundRect">
            <a:avLst>
              <a:gd name="adj" fmla="val 40004"/>
            </a:avLst>
          </a:prstGeom>
          <a:solidFill>
            <a:srgbClr val="EEEFF5"/>
          </a:solidFill>
          <a:ln/>
          <a:effectLst>
            <a:outerShdw sx="100000" sy="100000" kx="0" ky="0" algn="bl" rotWithShape="0" blurRad="53340" dist="26670" dir="13500000">
              <a:srgbClr val="ffffff">
                <a:alpha val="70000"/>
              </a:srgbClr>
            </a:outerShdw>
          </a:effectLst>
        </p:spPr>
      </p:sp>
      <p:sp>
        <p:nvSpPr>
          <p:cNvPr id="17" name="Text 14"/>
          <p:cNvSpPr/>
          <p:nvPr/>
        </p:nvSpPr>
        <p:spPr>
          <a:xfrm>
            <a:off x="7563803" y="6412349"/>
            <a:ext cx="206931" cy="342067"/>
          </a:xfrm>
          <a:prstGeom prst="rect">
            <a:avLst/>
          </a:prstGeom>
          <a:noFill/>
          <a:ln/>
        </p:spPr>
        <p:txBody>
          <a:bodyPr wrap="none" lIns="0" tIns="0" rIns="0" bIns="0" rtlCol="0" anchor="t"/>
          <a:lstStyle/>
          <a:p>
            <a:pPr algn="ctr" indent="0" marL="0">
              <a:lnSpc>
                <a:spcPts val="2650"/>
              </a:lnSpc>
              <a:buNone/>
            </a:pPr>
            <a:r>
              <a:rPr lang="en-US" sz="2650" b="1" dirty="0">
                <a:solidFill>
                  <a:srgbClr val="272525"/>
                </a:solidFill>
                <a:latin typeface="Barlow Bold" pitchFamily="34" charset="0"/>
                <a:ea typeface="Barlow Bold" pitchFamily="34" charset="-122"/>
                <a:cs typeface="Barlow Bold" pitchFamily="34" charset="-120"/>
              </a:rPr>
              <a:t>4</a:t>
            </a:r>
            <a:endParaRPr lang="en-US" sz="2650" dirty="0"/>
          </a:p>
        </p:txBody>
      </p:sp>
      <p:sp>
        <p:nvSpPr>
          <p:cNvPr id="18" name="Text 15"/>
          <p:cNvSpPr/>
          <p:nvPr/>
        </p:nvSpPr>
        <p:spPr>
          <a:xfrm>
            <a:off x="8127563" y="6339721"/>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docker stop/start</a:t>
            </a:r>
            <a:endParaRPr lang="en-US" sz="2200" dirty="0"/>
          </a:p>
        </p:txBody>
      </p:sp>
      <p:sp>
        <p:nvSpPr>
          <p:cNvPr id="19" name="Text 16"/>
          <p:cNvSpPr/>
          <p:nvPr/>
        </p:nvSpPr>
        <p:spPr>
          <a:xfrm>
            <a:off x="8127563" y="6825853"/>
            <a:ext cx="5744647" cy="346710"/>
          </a:xfrm>
          <a:prstGeom prst="rect">
            <a:avLst/>
          </a:prstGeom>
          <a:noFill/>
          <a:ln/>
        </p:spPr>
        <p:txBody>
          <a:bodyPr wrap="non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Detiene o inicia un contenedor en ejecución.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22790"/>
          </a:xfrm>
          <a:prstGeom prst="rect">
            <a:avLst/>
          </a:prstGeom>
        </p:spPr>
      </p:pic>
      <p:sp>
        <p:nvSpPr>
          <p:cNvPr id="3" name="Text 0"/>
          <p:cNvSpPr/>
          <p:nvPr/>
        </p:nvSpPr>
        <p:spPr>
          <a:xfrm>
            <a:off x="650319" y="2834759"/>
            <a:ext cx="7751564" cy="611148"/>
          </a:xfrm>
          <a:prstGeom prst="rect">
            <a:avLst/>
          </a:prstGeom>
          <a:noFill/>
          <a:ln/>
        </p:spPr>
        <p:txBody>
          <a:bodyPr wrap="none" lIns="0" tIns="0" rIns="0" bIns="0" rtlCol="0" anchor="t"/>
          <a:lstStyle/>
          <a:p>
            <a:pPr indent="0" marL="0">
              <a:lnSpc>
                <a:spcPts val="4800"/>
              </a:lnSpc>
              <a:buNone/>
            </a:pPr>
            <a:r>
              <a:rPr lang="en-US" sz="3850" b="1" dirty="0">
                <a:solidFill>
                  <a:srgbClr val="7068F4"/>
                </a:solidFill>
                <a:latin typeface="Barlow Bold" pitchFamily="34" charset="0"/>
                <a:ea typeface="Barlow Bold" pitchFamily="34" charset="-122"/>
                <a:cs typeface="Barlow Bold" pitchFamily="34" charset="-120"/>
              </a:rPr>
              <a:t>Creación y gestión de contenedores</a:t>
            </a:r>
            <a:endParaRPr lang="en-US" sz="3850" dirty="0"/>
          </a:p>
        </p:txBody>
      </p:sp>
      <p:sp>
        <p:nvSpPr>
          <p:cNvPr id="4" name="Shape 1"/>
          <p:cNvSpPr/>
          <p:nvPr/>
        </p:nvSpPr>
        <p:spPr>
          <a:xfrm>
            <a:off x="650319" y="5869781"/>
            <a:ext cx="13329761" cy="22860"/>
          </a:xfrm>
          <a:prstGeom prst="roundRect">
            <a:avLst>
              <a:gd name="adj" fmla="val 731608"/>
            </a:avLst>
          </a:prstGeom>
          <a:solidFill>
            <a:srgbClr val="C1C3D0"/>
          </a:solidFill>
          <a:ln/>
        </p:spPr>
      </p:sp>
      <p:sp>
        <p:nvSpPr>
          <p:cNvPr id="5" name="Shape 2"/>
          <p:cNvSpPr/>
          <p:nvPr/>
        </p:nvSpPr>
        <p:spPr>
          <a:xfrm>
            <a:off x="3248978" y="5219521"/>
            <a:ext cx="22860" cy="650319"/>
          </a:xfrm>
          <a:prstGeom prst="roundRect">
            <a:avLst>
              <a:gd name="adj" fmla="val 731608"/>
            </a:avLst>
          </a:prstGeom>
          <a:solidFill>
            <a:srgbClr val="C1C3D0"/>
          </a:solidFill>
          <a:ln/>
        </p:spPr>
      </p:sp>
      <p:sp>
        <p:nvSpPr>
          <p:cNvPr id="6" name="Shape 3"/>
          <p:cNvSpPr/>
          <p:nvPr/>
        </p:nvSpPr>
        <p:spPr>
          <a:xfrm>
            <a:off x="3051453" y="5660767"/>
            <a:ext cx="418028" cy="418028"/>
          </a:xfrm>
          <a:prstGeom prst="roundRect">
            <a:avLst>
              <a:gd name="adj" fmla="val 40008"/>
            </a:avLst>
          </a:prstGeom>
          <a:solidFill>
            <a:srgbClr val="EEEFF5"/>
          </a:solidFill>
          <a:ln/>
          <a:effectLst>
            <a:outerShdw sx="100000" sy="100000" kx="0" ky="0" algn="bl" rotWithShape="0" blurRad="45720" dist="22860" dir="13500000">
              <a:srgbClr val="ffffff">
                <a:alpha val="70000"/>
              </a:srgbClr>
            </a:outerShdw>
          </a:effectLst>
        </p:spPr>
      </p:sp>
      <p:sp>
        <p:nvSpPr>
          <p:cNvPr id="7" name="Text 4"/>
          <p:cNvSpPr/>
          <p:nvPr/>
        </p:nvSpPr>
        <p:spPr>
          <a:xfrm>
            <a:off x="3208496" y="5723037"/>
            <a:ext cx="103942" cy="293370"/>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1</a:t>
            </a:r>
            <a:endParaRPr lang="en-US" sz="2300" dirty="0"/>
          </a:p>
        </p:txBody>
      </p:sp>
      <p:sp>
        <p:nvSpPr>
          <p:cNvPr id="8" name="Text 5"/>
          <p:cNvSpPr/>
          <p:nvPr/>
        </p:nvSpPr>
        <p:spPr>
          <a:xfrm>
            <a:off x="2037993" y="3724632"/>
            <a:ext cx="2445068" cy="305633"/>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Crear</a:t>
            </a:r>
            <a:endParaRPr lang="en-US" sz="1900" dirty="0"/>
          </a:p>
        </p:txBody>
      </p:sp>
      <p:sp>
        <p:nvSpPr>
          <p:cNvPr id="9" name="Text 6"/>
          <p:cNvSpPr/>
          <p:nvPr/>
        </p:nvSpPr>
        <p:spPr>
          <a:xfrm>
            <a:off x="836057" y="4141708"/>
            <a:ext cx="4848939" cy="891897"/>
          </a:xfrm>
          <a:prstGeom prst="rect">
            <a:avLst/>
          </a:prstGeom>
          <a:noFill/>
          <a:ln/>
        </p:spPr>
        <p:txBody>
          <a:bodyPr wrap="square" lIns="0" tIns="0" rIns="0" bIns="0" rtlCol="0" anchor="t"/>
          <a:lstStyle/>
          <a:p>
            <a:pPr algn="ctr"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Utiliza el comando "docker run" para crear y ejecutar un nuevo contenedor a partir de una imagen.</a:t>
            </a:r>
            <a:endParaRPr lang="en-US" sz="1450" dirty="0"/>
          </a:p>
        </p:txBody>
      </p:sp>
      <p:sp>
        <p:nvSpPr>
          <p:cNvPr id="10" name="Shape 7"/>
          <p:cNvSpPr/>
          <p:nvPr/>
        </p:nvSpPr>
        <p:spPr>
          <a:xfrm>
            <a:off x="5952053" y="5869722"/>
            <a:ext cx="22860" cy="650319"/>
          </a:xfrm>
          <a:prstGeom prst="roundRect">
            <a:avLst>
              <a:gd name="adj" fmla="val 731608"/>
            </a:avLst>
          </a:prstGeom>
          <a:solidFill>
            <a:srgbClr val="C1C3D0"/>
          </a:solidFill>
          <a:ln/>
        </p:spPr>
      </p:sp>
      <p:sp>
        <p:nvSpPr>
          <p:cNvPr id="11" name="Shape 8"/>
          <p:cNvSpPr/>
          <p:nvPr/>
        </p:nvSpPr>
        <p:spPr>
          <a:xfrm>
            <a:off x="5754529" y="5660767"/>
            <a:ext cx="418028" cy="418028"/>
          </a:xfrm>
          <a:prstGeom prst="roundRect">
            <a:avLst>
              <a:gd name="adj" fmla="val 40008"/>
            </a:avLst>
          </a:prstGeom>
          <a:solidFill>
            <a:srgbClr val="EEEFF5"/>
          </a:solidFill>
          <a:ln/>
          <a:effectLst>
            <a:outerShdw sx="100000" sy="100000" kx="0" ky="0" algn="bl" rotWithShape="0" blurRad="45720" dist="22860" dir="13500000">
              <a:srgbClr val="ffffff">
                <a:alpha val="70000"/>
              </a:srgbClr>
            </a:outerShdw>
          </a:effectLst>
        </p:spPr>
      </p:sp>
      <p:sp>
        <p:nvSpPr>
          <p:cNvPr id="12" name="Text 9"/>
          <p:cNvSpPr/>
          <p:nvPr/>
        </p:nvSpPr>
        <p:spPr>
          <a:xfrm>
            <a:off x="5881330" y="5723037"/>
            <a:ext cx="164306" cy="293370"/>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2</a:t>
            </a:r>
            <a:endParaRPr lang="en-US" sz="2300" dirty="0"/>
          </a:p>
        </p:txBody>
      </p:sp>
      <p:sp>
        <p:nvSpPr>
          <p:cNvPr id="13" name="Text 10"/>
          <p:cNvSpPr/>
          <p:nvPr/>
        </p:nvSpPr>
        <p:spPr>
          <a:xfrm>
            <a:off x="4741069" y="6705957"/>
            <a:ext cx="2445068" cy="305633"/>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Listar</a:t>
            </a:r>
            <a:endParaRPr lang="en-US" sz="1900" dirty="0"/>
          </a:p>
        </p:txBody>
      </p:sp>
      <p:sp>
        <p:nvSpPr>
          <p:cNvPr id="14" name="Text 11"/>
          <p:cNvSpPr/>
          <p:nvPr/>
        </p:nvSpPr>
        <p:spPr>
          <a:xfrm>
            <a:off x="3539133" y="7123033"/>
            <a:ext cx="4848939" cy="594598"/>
          </a:xfrm>
          <a:prstGeom prst="rect">
            <a:avLst/>
          </a:prstGeom>
          <a:noFill/>
          <a:ln/>
        </p:spPr>
        <p:txBody>
          <a:bodyPr wrap="square" lIns="0" tIns="0" rIns="0" bIns="0" rtlCol="0" anchor="t"/>
          <a:lstStyle/>
          <a:p>
            <a:pPr algn="ctr"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El comando "docker ps" permite ver todos los contenedores en ejecución en el sistema.</a:t>
            </a:r>
            <a:endParaRPr lang="en-US" sz="1450" dirty="0"/>
          </a:p>
        </p:txBody>
      </p:sp>
      <p:sp>
        <p:nvSpPr>
          <p:cNvPr id="15" name="Shape 12"/>
          <p:cNvSpPr/>
          <p:nvPr/>
        </p:nvSpPr>
        <p:spPr>
          <a:xfrm>
            <a:off x="8655129" y="5219521"/>
            <a:ext cx="22860" cy="650319"/>
          </a:xfrm>
          <a:prstGeom prst="roundRect">
            <a:avLst>
              <a:gd name="adj" fmla="val 731608"/>
            </a:avLst>
          </a:prstGeom>
          <a:solidFill>
            <a:srgbClr val="C1C3D0"/>
          </a:solidFill>
          <a:ln/>
        </p:spPr>
      </p:sp>
      <p:sp>
        <p:nvSpPr>
          <p:cNvPr id="16" name="Shape 13"/>
          <p:cNvSpPr/>
          <p:nvPr/>
        </p:nvSpPr>
        <p:spPr>
          <a:xfrm>
            <a:off x="8457605" y="5660767"/>
            <a:ext cx="418028" cy="418028"/>
          </a:xfrm>
          <a:prstGeom prst="roundRect">
            <a:avLst>
              <a:gd name="adj" fmla="val 40008"/>
            </a:avLst>
          </a:prstGeom>
          <a:solidFill>
            <a:srgbClr val="EEEFF5"/>
          </a:solidFill>
          <a:ln/>
          <a:effectLst>
            <a:outerShdw sx="100000" sy="100000" kx="0" ky="0" algn="bl" rotWithShape="0" blurRad="45720" dist="22860" dir="13500000">
              <a:srgbClr val="ffffff">
                <a:alpha val="70000"/>
              </a:srgbClr>
            </a:outerShdw>
          </a:effectLst>
        </p:spPr>
      </p:sp>
      <p:sp>
        <p:nvSpPr>
          <p:cNvPr id="17" name="Text 14"/>
          <p:cNvSpPr/>
          <p:nvPr/>
        </p:nvSpPr>
        <p:spPr>
          <a:xfrm>
            <a:off x="8587383" y="5723037"/>
            <a:ext cx="158472" cy="293370"/>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3</a:t>
            </a:r>
            <a:endParaRPr lang="en-US" sz="2300" dirty="0"/>
          </a:p>
        </p:txBody>
      </p:sp>
      <p:sp>
        <p:nvSpPr>
          <p:cNvPr id="18" name="Text 15"/>
          <p:cNvSpPr/>
          <p:nvPr/>
        </p:nvSpPr>
        <p:spPr>
          <a:xfrm>
            <a:off x="7444145" y="4021931"/>
            <a:ext cx="2445068" cy="305633"/>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Detener/Iniciar</a:t>
            </a:r>
            <a:endParaRPr lang="en-US" sz="1900" dirty="0"/>
          </a:p>
        </p:txBody>
      </p:sp>
      <p:sp>
        <p:nvSpPr>
          <p:cNvPr id="19" name="Text 16"/>
          <p:cNvSpPr/>
          <p:nvPr/>
        </p:nvSpPr>
        <p:spPr>
          <a:xfrm>
            <a:off x="6242209" y="4439007"/>
            <a:ext cx="4848939" cy="594598"/>
          </a:xfrm>
          <a:prstGeom prst="rect">
            <a:avLst/>
          </a:prstGeom>
          <a:noFill/>
          <a:ln/>
        </p:spPr>
        <p:txBody>
          <a:bodyPr wrap="square" lIns="0" tIns="0" rIns="0" bIns="0" rtlCol="0" anchor="t"/>
          <a:lstStyle/>
          <a:p>
            <a:pPr algn="ctr"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Usa "docker stop" y "docker start" para detener y reiniciar contenedores de forma individual.</a:t>
            </a:r>
            <a:endParaRPr lang="en-US" sz="1450" dirty="0"/>
          </a:p>
        </p:txBody>
      </p:sp>
      <p:sp>
        <p:nvSpPr>
          <p:cNvPr id="20" name="Shape 17"/>
          <p:cNvSpPr/>
          <p:nvPr/>
        </p:nvSpPr>
        <p:spPr>
          <a:xfrm>
            <a:off x="11358205" y="5869722"/>
            <a:ext cx="22860" cy="650319"/>
          </a:xfrm>
          <a:prstGeom prst="roundRect">
            <a:avLst>
              <a:gd name="adj" fmla="val 731608"/>
            </a:avLst>
          </a:prstGeom>
          <a:solidFill>
            <a:srgbClr val="C1C3D0"/>
          </a:solidFill>
          <a:ln/>
        </p:spPr>
      </p:sp>
      <p:sp>
        <p:nvSpPr>
          <p:cNvPr id="21" name="Shape 18"/>
          <p:cNvSpPr/>
          <p:nvPr/>
        </p:nvSpPr>
        <p:spPr>
          <a:xfrm>
            <a:off x="11160681" y="5660767"/>
            <a:ext cx="418028" cy="418028"/>
          </a:xfrm>
          <a:prstGeom prst="roundRect">
            <a:avLst>
              <a:gd name="adj" fmla="val 40008"/>
            </a:avLst>
          </a:prstGeom>
          <a:solidFill>
            <a:srgbClr val="EEEFF5"/>
          </a:solidFill>
          <a:ln/>
          <a:effectLst>
            <a:outerShdw sx="100000" sy="100000" kx="0" ky="0" algn="bl" rotWithShape="0" blurRad="45720" dist="22860" dir="13500000">
              <a:srgbClr val="ffffff">
                <a:alpha val="70000"/>
              </a:srgbClr>
            </a:outerShdw>
          </a:effectLst>
        </p:spPr>
      </p:sp>
      <p:sp>
        <p:nvSpPr>
          <p:cNvPr id="22" name="Text 19"/>
          <p:cNvSpPr/>
          <p:nvPr/>
        </p:nvSpPr>
        <p:spPr>
          <a:xfrm>
            <a:off x="11280934" y="5723037"/>
            <a:ext cx="177522" cy="293370"/>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Barlow Bold" pitchFamily="34" charset="0"/>
                <a:ea typeface="Barlow Bold" pitchFamily="34" charset="-122"/>
                <a:cs typeface="Barlow Bold" pitchFamily="34" charset="-120"/>
              </a:rPr>
              <a:t>4</a:t>
            </a:r>
            <a:endParaRPr lang="en-US" sz="2300" dirty="0"/>
          </a:p>
        </p:txBody>
      </p:sp>
      <p:sp>
        <p:nvSpPr>
          <p:cNvPr id="23" name="Text 20"/>
          <p:cNvSpPr/>
          <p:nvPr/>
        </p:nvSpPr>
        <p:spPr>
          <a:xfrm>
            <a:off x="10147221" y="6705957"/>
            <a:ext cx="2445068" cy="305633"/>
          </a:xfrm>
          <a:prstGeom prst="rect">
            <a:avLst/>
          </a:prstGeom>
          <a:noFill/>
          <a:ln/>
        </p:spPr>
        <p:txBody>
          <a:bodyPr wrap="none" lIns="0" tIns="0" rIns="0" bIns="0" rtlCol="0" anchor="t"/>
          <a:lstStyle/>
          <a:p>
            <a:pPr algn="ctr"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Eliminar</a:t>
            </a:r>
            <a:endParaRPr lang="en-US" sz="1900" dirty="0"/>
          </a:p>
        </p:txBody>
      </p:sp>
      <p:sp>
        <p:nvSpPr>
          <p:cNvPr id="24" name="Text 21"/>
          <p:cNvSpPr/>
          <p:nvPr/>
        </p:nvSpPr>
        <p:spPr>
          <a:xfrm>
            <a:off x="8945285" y="7123033"/>
            <a:ext cx="4848939" cy="594598"/>
          </a:xfrm>
          <a:prstGeom prst="rect">
            <a:avLst/>
          </a:prstGeom>
          <a:noFill/>
          <a:ln/>
        </p:spPr>
        <p:txBody>
          <a:bodyPr wrap="square" lIns="0" tIns="0" rIns="0" bIns="0" rtlCol="0" anchor="t"/>
          <a:lstStyle/>
          <a:p>
            <a:pPr algn="ctr"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El comando "docker rm" se utiliza para eliminar uno o más contenedores del sistema.</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60797" y="795338"/>
            <a:ext cx="7822406" cy="1242060"/>
          </a:xfrm>
          <a:prstGeom prst="rect">
            <a:avLst/>
          </a:prstGeom>
          <a:noFill/>
          <a:ln/>
        </p:spPr>
        <p:txBody>
          <a:bodyPr wrap="square" lIns="0" tIns="0" rIns="0" bIns="0" rtlCol="0" anchor="t"/>
          <a:lstStyle/>
          <a:p>
            <a:pPr indent="0" marL="0">
              <a:lnSpc>
                <a:spcPts val="4850"/>
              </a:lnSpc>
              <a:buNone/>
            </a:pPr>
            <a:r>
              <a:rPr lang="en-US" sz="3900" b="1" dirty="0">
                <a:solidFill>
                  <a:srgbClr val="7068F4"/>
                </a:solidFill>
                <a:latin typeface="Barlow Bold" pitchFamily="34" charset="0"/>
                <a:ea typeface="Barlow Bold" pitchFamily="34" charset="-122"/>
                <a:cs typeface="Barlow Bold" pitchFamily="34" charset="-120"/>
              </a:rPr>
              <a:t>Creación de imágenes Docker personalizadas</a:t>
            </a:r>
            <a:endParaRPr lang="en-US" sz="3900" dirty="0"/>
          </a:p>
        </p:txBody>
      </p:sp>
      <p:sp>
        <p:nvSpPr>
          <p:cNvPr id="4" name="Shape 1"/>
          <p:cNvSpPr/>
          <p:nvPr/>
        </p:nvSpPr>
        <p:spPr>
          <a:xfrm>
            <a:off x="660797" y="2320528"/>
            <a:ext cx="3816906" cy="3217664"/>
          </a:xfrm>
          <a:prstGeom prst="roundRect">
            <a:avLst>
              <a:gd name="adj" fmla="val 5281"/>
            </a:avLst>
          </a:prstGeom>
          <a:solidFill>
            <a:srgbClr val="EEEFF5"/>
          </a:solidFill>
          <a:ln/>
          <a:effectLst>
            <a:outerShdw sx="100000" sy="100000" kx="0" ky="0" algn="bl" rotWithShape="0" blurRad="46990" dist="22860" dir="13500000">
              <a:srgbClr val="ffffff">
                <a:alpha val="70000"/>
              </a:srgbClr>
            </a:outerShdw>
          </a:effectLst>
        </p:spPr>
      </p:sp>
      <p:sp>
        <p:nvSpPr>
          <p:cNvPr id="5" name="Text 2"/>
          <p:cNvSpPr/>
          <p:nvPr/>
        </p:nvSpPr>
        <p:spPr>
          <a:xfrm>
            <a:off x="849511" y="2509242"/>
            <a:ext cx="2484239" cy="310515"/>
          </a:xfrm>
          <a:prstGeom prst="rect">
            <a:avLst/>
          </a:prstGeom>
          <a:noFill/>
          <a:ln/>
        </p:spPr>
        <p:txBody>
          <a:bodyPr wrap="none" lIns="0" tIns="0" rIns="0" bIns="0" rtlCol="0" anchor="t"/>
          <a:lstStyle/>
          <a:p>
            <a:pPr indent="0" marL="0">
              <a:lnSpc>
                <a:spcPts val="2400"/>
              </a:lnSpc>
              <a:buNone/>
            </a:pPr>
            <a:r>
              <a:rPr lang="en-US" sz="1950" b="1" dirty="0">
                <a:solidFill>
                  <a:srgbClr val="272525"/>
                </a:solidFill>
                <a:latin typeface="Barlow Bold" pitchFamily="34" charset="0"/>
                <a:ea typeface="Barlow Bold" pitchFamily="34" charset="-122"/>
                <a:cs typeface="Barlow Bold" pitchFamily="34" charset="-120"/>
              </a:rPr>
              <a:t>Dockerfile</a:t>
            </a:r>
            <a:endParaRPr lang="en-US" sz="1950" dirty="0"/>
          </a:p>
        </p:txBody>
      </p:sp>
      <p:sp>
        <p:nvSpPr>
          <p:cNvPr id="6" name="Text 3"/>
          <p:cNvSpPr/>
          <p:nvPr/>
        </p:nvSpPr>
        <p:spPr>
          <a:xfrm>
            <a:off x="849511" y="2932986"/>
            <a:ext cx="3439478" cy="2416493"/>
          </a:xfrm>
          <a:prstGeom prst="rect">
            <a:avLst/>
          </a:prstGeom>
          <a:noFill/>
          <a:ln/>
        </p:spPr>
        <p:txBody>
          <a:bodyPr wrap="square" lIns="0" tIns="0" rIns="0" bIns="0" rtlCol="0" anchor="t"/>
          <a:lstStyle/>
          <a:p>
            <a:pPr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Un Dockerfile es un archivo de texto que contiene una serie de instrucciones para construir una imagen Docker personalizada. Estas instrucciones incluyen la selección de una imagen base, la instalación de paquetes, la copia de archivos y la definición de puntos de entrada.</a:t>
            </a:r>
            <a:endParaRPr lang="en-US" sz="1450" dirty="0"/>
          </a:p>
        </p:txBody>
      </p:sp>
      <p:sp>
        <p:nvSpPr>
          <p:cNvPr id="7" name="Shape 4"/>
          <p:cNvSpPr/>
          <p:nvPr/>
        </p:nvSpPr>
        <p:spPr>
          <a:xfrm>
            <a:off x="4666417" y="2320528"/>
            <a:ext cx="3816906" cy="3217664"/>
          </a:xfrm>
          <a:prstGeom prst="roundRect">
            <a:avLst>
              <a:gd name="adj" fmla="val 5281"/>
            </a:avLst>
          </a:prstGeom>
          <a:solidFill>
            <a:srgbClr val="EEEFF5"/>
          </a:solidFill>
          <a:ln/>
          <a:effectLst>
            <a:outerShdw sx="100000" sy="100000" kx="0" ky="0" algn="bl" rotWithShape="0" blurRad="46990" dist="22860" dir="13500000">
              <a:srgbClr val="ffffff">
                <a:alpha val="70000"/>
              </a:srgbClr>
            </a:outerShdw>
          </a:effectLst>
        </p:spPr>
      </p:sp>
      <p:sp>
        <p:nvSpPr>
          <p:cNvPr id="8" name="Text 5"/>
          <p:cNvSpPr/>
          <p:nvPr/>
        </p:nvSpPr>
        <p:spPr>
          <a:xfrm>
            <a:off x="4855131" y="2509242"/>
            <a:ext cx="2484239" cy="310515"/>
          </a:xfrm>
          <a:prstGeom prst="rect">
            <a:avLst/>
          </a:prstGeom>
          <a:noFill/>
          <a:ln/>
        </p:spPr>
        <p:txBody>
          <a:bodyPr wrap="none" lIns="0" tIns="0" rIns="0" bIns="0" rtlCol="0" anchor="t"/>
          <a:lstStyle/>
          <a:p>
            <a:pPr indent="0" marL="0">
              <a:lnSpc>
                <a:spcPts val="2400"/>
              </a:lnSpc>
              <a:buNone/>
            </a:pPr>
            <a:r>
              <a:rPr lang="en-US" sz="1950" b="1" dirty="0">
                <a:solidFill>
                  <a:srgbClr val="272525"/>
                </a:solidFill>
                <a:latin typeface="Barlow Bold" pitchFamily="34" charset="0"/>
                <a:ea typeface="Barlow Bold" pitchFamily="34" charset="-122"/>
                <a:cs typeface="Barlow Bold" pitchFamily="34" charset="-120"/>
              </a:rPr>
              <a:t>docker build</a:t>
            </a:r>
            <a:endParaRPr lang="en-US" sz="1950" dirty="0"/>
          </a:p>
        </p:txBody>
      </p:sp>
      <p:sp>
        <p:nvSpPr>
          <p:cNvPr id="9" name="Text 6"/>
          <p:cNvSpPr/>
          <p:nvPr/>
        </p:nvSpPr>
        <p:spPr>
          <a:xfrm>
            <a:off x="4855131" y="2932986"/>
            <a:ext cx="3439478" cy="1812369"/>
          </a:xfrm>
          <a:prstGeom prst="rect">
            <a:avLst/>
          </a:prstGeom>
          <a:noFill/>
          <a:ln/>
        </p:spPr>
        <p:txBody>
          <a:bodyPr wrap="square" lIns="0" tIns="0" rIns="0" bIns="0" rtlCol="0" anchor="t"/>
          <a:lstStyle/>
          <a:p>
            <a:pPr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El comando "docker build" se utiliza para construir una nueva imagen a partir de un Dockerfile. Este proceso se basa en las instrucciones definidas en el Dockerfile y genera una imagen única y personalizada.</a:t>
            </a:r>
            <a:endParaRPr lang="en-US" sz="1450" dirty="0"/>
          </a:p>
        </p:txBody>
      </p:sp>
      <p:sp>
        <p:nvSpPr>
          <p:cNvPr id="10" name="Shape 7"/>
          <p:cNvSpPr/>
          <p:nvPr/>
        </p:nvSpPr>
        <p:spPr>
          <a:xfrm>
            <a:off x="660797" y="5726906"/>
            <a:ext cx="7822406" cy="1707356"/>
          </a:xfrm>
          <a:prstGeom prst="roundRect">
            <a:avLst>
              <a:gd name="adj" fmla="val 9953"/>
            </a:avLst>
          </a:prstGeom>
          <a:solidFill>
            <a:srgbClr val="EEEFF5"/>
          </a:solidFill>
          <a:ln/>
          <a:effectLst>
            <a:outerShdw sx="100000" sy="100000" kx="0" ky="0" algn="bl" rotWithShape="0" blurRad="46990" dist="22860" dir="13500000">
              <a:srgbClr val="ffffff">
                <a:alpha val="70000"/>
              </a:srgbClr>
            </a:outerShdw>
          </a:effectLst>
        </p:spPr>
      </p:sp>
      <p:sp>
        <p:nvSpPr>
          <p:cNvPr id="11" name="Text 8"/>
          <p:cNvSpPr/>
          <p:nvPr/>
        </p:nvSpPr>
        <p:spPr>
          <a:xfrm>
            <a:off x="849511" y="5915620"/>
            <a:ext cx="2484239" cy="310515"/>
          </a:xfrm>
          <a:prstGeom prst="rect">
            <a:avLst/>
          </a:prstGeom>
          <a:noFill/>
          <a:ln/>
        </p:spPr>
        <p:txBody>
          <a:bodyPr wrap="none" lIns="0" tIns="0" rIns="0" bIns="0" rtlCol="0" anchor="t"/>
          <a:lstStyle/>
          <a:p>
            <a:pPr indent="0" marL="0">
              <a:lnSpc>
                <a:spcPts val="2400"/>
              </a:lnSpc>
              <a:buNone/>
            </a:pPr>
            <a:r>
              <a:rPr lang="en-US" sz="1950" b="1" dirty="0">
                <a:solidFill>
                  <a:srgbClr val="272525"/>
                </a:solidFill>
                <a:latin typeface="Barlow Bold" pitchFamily="34" charset="0"/>
                <a:ea typeface="Barlow Bold" pitchFamily="34" charset="-122"/>
                <a:cs typeface="Barlow Bold" pitchFamily="34" charset="-120"/>
              </a:rPr>
              <a:t>docker push</a:t>
            </a:r>
            <a:endParaRPr lang="en-US" sz="1950" dirty="0"/>
          </a:p>
        </p:txBody>
      </p:sp>
      <p:sp>
        <p:nvSpPr>
          <p:cNvPr id="12" name="Text 9"/>
          <p:cNvSpPr/>
          <p:nvPr/>
        </p:nvSpPr>
        <p:spPr>
          <a:xfrm>
            <a:off x="849511" y="6339364"/>
            <a:ext cx="7444978" cy="906185"/>
          </a:xfrm>
          <a:prstGeom prst="rect">
            <a:avLst/>
          </a:prstGeom>
          <a:noFill/>
          <a:ln/>
        </p:spPr>
        <p:txBody>
          <a:bodyPr wrap="square" lIns="0" tIns="0" rIns="0" bIns="0" rtlCol="0" anchor="t"/>
          <a:lstStyle/>
          <a:p>
            <a:pPr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Una vez construida la imagen personalizada, se puede hacer "docker push" para subirla a un registro de imágenes, como Docker Hub o un registro privado, y compartirla con otros usuarios o equipos.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61008" y="567095"/>
            <a:ext cx="7794784" cy="1268254"/>
          </a:xfrm>
          <a:prstGeom prst="rect">
            <a:avLst/>
          </a:prstGeom>
          <a:noFill/>
          <a:ln/>
        </p:spPr>
        <p:txBody>
          <a:bodyPr wrap="square" lIns="0" tIns="0" rIns="0" bIns="0" rtlCol="0" anchor="t"/>
          <a:lstStyle/>
          <a:p>
            <a:pPr indent="0" marL="0">
              <a:lnSpc>
                <a:spcPts val="4950"/>
              </a:lnSpc>
              <a:buNone/>
            </a:pPr>
            <a:r>
              <a:rPr lang="en-US" sz="3950" b="1" dirty="0">
                <a:solidFill>
                  <a:srgbClr val="7068F4"/>
                </a:solidFill>
                <a:latin typeface="Barlow Bold" pitchFamily="34" charset="0"/>
                <a:ea typeface="Barlow Bold" pitchFamily="34" charset="-122"/>
                <a:cs typeface="Barlow Bold" pitchFamily="34" charset="-120"/>
              </a:rPr>
              <a:t>Gestión de volúmenes y redes en Docker</a:t>
            </a:r>
            <a:endParaRPr lang="en-US" sz="3950" dirty="0"/>
          </a:p>
        </p:txBody>
      </p:sp>
      <p:pic>
        <p:nvPicPr>
          <p:cNvPr id="4" name="Image 1" descr="preencoded.png">    </p:cNvPr>
          <p:cNvPicPr>
            <a:picLocks noChangeAspect="1"/>
          </p:cNvPicPr>
          <p:nvPr/>
        </p:nvPicPr>
        <p:blipFill>
          <a:blip r:embed="rId2"/>
          <a:stretch>
            <a:fillRect/>
          </a:stretch>
        </p:blipFill>
        <p:spPr>
          <a:xfrm>
            <a:off x="6161008" y="2124432"/>
            <a:ext cx="963811" cy="1743194"/>
          </a:xfrm>
          <a:prstGeom prst="rect">
            <a:avLst/>
          </a:prstGeom>
        </p:spPr>
      </p:pic>
      <p:sp>
        <p:nvSpPr>
          <p:cNvPr id="5" name="Text 1"/>
          <p:cNvSpPr/>
          <p:nvPr/>
        </p:nvSpPr>
        <p:spPr>
          <a:xfrm>
            <a:off x="7413903" y="2317194"/>
            <a:ext cx="2536508" cy="316944"/>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Volúmenes</a:t>
            </a:r>
            <a:endParaRPr lang="en-US" sz="1950" dirty="0"/>
          </a:p>
        </p:txBody>
      </p:sp>
      <p:sp>
        <p:nvSpPr>
          <p:cNvPr id="6" name="Text 2"/>
          <p:cNvSpPr/>
          <p:nvPr/>
        </p:nvSpPr>
        <p:spPr>
          <a:xfrm>
            <a:off x="7413903" y="2749748"/>
            <a:ext cx="6541889" cy="925116"/>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Montserrat" pitchFamily="34" charset="0"/>
                <a:ea typeface="Montserrat" pitchFamily="34" charset="-122"/>
                <a:cs typeface="Montserrat" pitchFamily="34" charset="-120"/>
              </a:rPr>
              <a:t>Los volúmenes de Docker permiten persistir datos fuera del ciclo de vida de un contenedor, lo que facilita el almacenamiento y el intercambio de datos entre contenedores.</a:t>
            </a:r>
            <a:endParaRPr lang="en-US" sz="1500" dirty="0"/>
          </a:p>
        </p:txBody>
      </p:sp>
      <p:pic>
        <p:nvPicPr>
          <p:cNvPr id="7" name="Image 2" descr="preencoded.png">    </p:cNvPr>
          <p:cNvPicPr>
            <a:picLocks noChangeAspect="1"/>
          </p:cNvPicPr>
          <p:nvPr/>
        </p:nvPicPr>
        <p:blipFill>
          <a:blip r:embed="rId3"/>
          <a:stretch>
            <a:fillRect/>
          </a:stretch>
        </p:blipFill>
        <p:spPr>
          <a:xfrm>
            <a:off x="6161008" y="3867626"/>
            <a:ext cx="963811" cy="2051566"/>
          </a:xfrm>
          <a:prstGeom prst="rect">
            <a:avLst/>
          </a:prstGeom>
        </p:spPr>
      </p:pic>
      <p:sp>
        <p:nvSpPr>
          <p:cNvPr id="8" name="Text 3"/>
          <p:cNvSpPr/>
          <p:nvPr/>
        </p:nvSpPr>
        <p:spPr>
          <a:xfrm>
            <a:off x="7413903" y="4060388"/>
            <a:ext cx="2536508" cy="316944"/>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Redes</a:t>
            </a:r>
            <a:endParaRPr lang="en-US" sz="1950" dirty="0"/>
          </a:p>
        </p:txBody>
      </p:sp>
      <p:sp>
        <p:nvSpPr>
          <p:cNvPr id="9" name="Text 4"/>
          <p:cNvSpPr/>
          <p:nvPr/>
        </p:nvSpPr>
        <p:spPr>
          <a:xfrm>
            <a:off x="7413903" y="4492942"/>
            <a:ext cx="6541889" cy="1233487"/>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Montserrat" pitchFamily="34" charset="0"/>
                <a:ea typeface="Montserrat" pitchFamily="34" charset="-122"/>
                <a:cs typeface="Montserrat" pitchFamily="34" charset="-120"/>
              </a:rPr>
              <a:t>Docker proporciona redes virtuales que permiten a los contenedores comunicarse entre sí de manera segura y eficiente, incluyendo opciones de conectividad a internet y acceso a servicios externos.</a:t>
            </a:r>
            <a:endParaRPr lang="en-US" sz="1500" dirty="0"/>
          </a:p>
        </p:txBody>
      </p:sp>
      <p:pic>
        <p:nvPicPr>
          <p:cNvPr id="10" name="Image 3" descr="preencoded.png">    </p:cNvPr>
          <p:cNvPicPr>
            <a:picLocks noChangeAspect="1"/>
          </p:cNvPicPr>
          <p:nvPr/>
        </p:nvPicPr>
        <p:blipFill>
          <a:blip r:embed="rId4"/>
          <a:stretch>
            <a:fillRect/>
          </a:stretch>
        </p:blipFill>
        <p:spPr>
          <a:xfrm>
            <a:off x="6161008" y="5919192"/>
            <a:ext cx="963811" cy="1743194"/>
          </a:xfrm>
          <a:prstGeom prst="rect">
            <a:avLst/>
          </a:prstGeom>
        </p:spPr>
      </p:pic>
      <p:sp>
        <p:nvSpPr>
          <p:cNvPr id="11" name="Text 5"/>
          <p:cNvSpPr/>
          <p:nvPr/>
        </p:nvSpPr>
        <p:spPr>
          <a:xfrm>
            <a:off x="7413903" y="6111954"/>
            <a:ext cx="2536508" cy="316944"/>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Integración</a:t>
            </a:r>
            <a:endParaRPr lang="en-US" sz="1950" dirty="0"/>
          </a:p>
        </p:txBody>
      </p:sp>
      <p:sp>
        <p:nvSpPr>
          <p:cNvPr id="12" name="Text 6"/>
          <p:cNvSpPr/>
          <p:nvPr/>
        </p:nvSpPr>
        <p:spPr>
          <a:xfrm>
            <a:off x="7413903" y="6544508"/>
            <a:ext cx="6541889" cy="925116"/>
          </a:xfrm>
          <a:prstGeom prst="rect">
            <a:avLst/>
          </a:prstGeom>
          <a:noFill/>
          <a:ln/>
        </p:spPr>
        <p:txBody>
          <a:bodyPr wrap="square" lIns="0" tIns="0" rIns="0" bIns="0" rtlCol="0" anchor="t"/>
          <a:lstStyle/>
          <a:p>
            <a:pPr algn="l" indent="0" marL="0">
              <a:lnSpc>
                <a:spcPts val="2400"/>
              </a:lnSpc>
              <a:buNone/>
            </a:pPr>
            <a:r>
              <a:rPr lang="en-US" sz="1500" dirty="0">
                <a:solidFill>
                  <a:srgbClr val="272525"/>
                </a:solidFill>
                <a:latin typeface="Montserrat" pitchFamily="34" charset="0"/>
                <a:ea typeface="Montserrat" pitchFamily="34" charset="-122"/>
                <a:cs typeface="Montserrat" pitchFamily="34" charset="-120"/>
              </a:rPr>
              <a:t>La combinación de volúmenes y redes en Docker permite crear entornos más robustos y escalables, donde los datos y la comunicación entre contenedores están garantizados.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2063710"/>
            <a:ext cx="12436673"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Docker Compose: Aplicaciones multi-contenedor</a:t>
            </a:r>
            <a:endParaRPr lang="en-US" sz="4450" dirty="0"/>
          </a:p>
        </p:txBody>
      </p:sp>
      <p:sp>
        <p:nvSpPr>
          <p:cNvPr id="3" name="Text 1"/>
          <p:cNvSpPr/>
          <p:nvPr/>
        </p:nvSpPr>
        <p:spPr>
          <a:xfrm>
            <a:off x="758309" y="331791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Definición</a:t>
            </a:r>
            <a:endParaRPr lang="en-US" sz="2200" dirty="0"/>
          </a:p>
        </p:txBody>
      </p:sp>
      <p:sp>
        <p:nvSpPr>
          <p:cNvPr id="4" name="Text 2"/>
          <p:cNvSpPr/>
          <p:nvPr/>
        </p:nvSpPr>
        <p:spPr>
          <a:xfrm>
            <a:off x="758309" y="3890724"/>
            <a:ext cx="4018359"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Compose es una herramienta que permite definir y ejecutar aplicaciones compuestas por varios contenedores de manera declarativa a través de un archivo YAML.</a:t>
            </a:r>
            <a:endParaRPr lang="en-US" sz="1700" dirty="0"/>
          </a:p>
        </p:txBody>
      </p:sp>
      <p:sp>
        <p:nvSpPr>
          <p:cNvPr id="5" name="Text 3"/>
          <p:cNvSpPr/>
          <p:nvPr/>
        </p:nvSpPr>
        <p:spPr>
          <a:xfrm>
            <a:off x="5312926" y="331791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Beneficios</a:t>
            </a:r>
            <a:endParaRPr lang="en-US" sz="2200" dirty="0"/>
          </a:p>
        </p:txBody>
      </p:sp>
      <p:sp>
        <p:nvSpPr>
          <p:cNvPr id="6" name="Text 4"/>
          <p:cNvSpPr/>
          <p:nvPr/>
        </p:nvSpPr>
        <p:spPr>
          <a:xfrm>
            <a:off x="5312926" y="3890724"/>
            <a:ext cx="4018359"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Compose simplifica el despliegue de aplicaciones complejas, ya que permite definir la arquitectura completa, las dependencias y la configuración de cada servicio en un solo archivo.</a:t>
            </a:r>
            <a:endParaRPr lang="en-US" sz="1700" dirty="0"/>
          </a:p>
        </p:txBody>
      </p:sp>
      <p:sp>
        <p:nvSpPr>
          <p:cNvPr id="7" name="Text 5"/>
          <p:cNvSpPr/>
          <p:nvPr/>
        </p:nvSpPr>
        <p:spPr>
          <a:xfrm>
            <a:off x="9867543" y="3317915"/>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Comandos</a:t>
            </a:r>
            <a:endParaRPr lang="en-US" sz="2200" dirty="0"/>
          </a:p>
        </p:txBody>
      </p:sp>
      <p:sp>
        <p:nvSpPr>
          <p:cNvPr id="8" name="Text 6"/>
          <p:cNvSpPr/>
          <p:nvPr/>
        </p:nvSpPr>
        <p:spPr>
          <a:xfrm>
            <a:off x="9867543" y="3890724"/>
            <a:ext cx="4018359"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Los principales comandos de Docker Compose son "up" para iniciar la aplicación, "down" para detenerla y "ps" para ver el estado de los contenedores.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1012746"/>
            <a:ext cx="7363658"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Registro de imágenes Docker</a:t>
            </a:r>
            <a:endParaRPr lang="en-US" sz="4450" dirty="0"/>
          </a:p>
        </p:txBody>
      </p:sp>
      <p:pic>
        <p:nvPicPr>
          <p:cNvPr id="3" name="Image 0" descr="preencoded.png">    </p:cNvPr>
          <p:cNvPicPr>
            <a:picLocks noChangeAspect="1"/>
          </p:cNvPicPr>
          <p:nvPr/>
        </p:nvPicPr>
        <p:blipFill>
          <a:blip r:embed="rId1"/>
          <a:stretch>
            <a:fillRect/>
          </a:stretch>
        </p:blipFill>
        <p:spPr>
          <a:xfrm>
            <a:off x="758309" y="2158722"/>
            <a:ext cx="4154567" cy="2567702"/>
          </a:xfrm>
          <a:prstGeom prst="rect">
            <a:avLst/>
          </a:prstGeom>
        </p:spPr>
      </p:pic>
      <p:sp>
        <p:nvSpPr>
          <p:cNvPr id="4" name="Text 1"/>
          <p:cNvSpPr/>
          <p:nvPr/>
        </p:nvSpPr>
        <p:spPr>
          <a:xfrm>
            <a:off x="758309" y="499717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Docker Hub</a:t>
            </a:r>
            <a:endParaRPr lang="en-US" sz="2200" dirty="0"/>
          </a:p>
        </p:txBody>
      </p:sp>
      <p:sp>
        <p:nvSpPr>
          <p:cNvPr id="5" name="Text 2"/>
          <p:cNvSpPr/>
          <p:nvPr/>
        </p:nvSpPr>
        <p:spPr>
          <a:xfrm>
            <a:off x="758309" y="5483304"/>
            <a:ext cx="4154567" cy="138684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Docker Hub es el registro público de imágenes Docker más popular, donde se pueden encontrar y compartir imágenes oficiales y personalizadas.</a:t>
            </a:r>
            <a:endParaRPr lang="en-US" sz="1700" dirty="0"/>
          </a:p>
        </p:txBody>
      </p:sp>
      <p:pic>
        <p:nvPicPr>
          <p:cNvPr id="6" name="Image 1" descr="preencoded.png">    </p:cNvPr>
          <p:cNvPicPr>
            <a:picLocks noChangeAspect="1"/>
          </p:cNvPicPr>
          <p:nvPr/>
        </p:nvPicPr>
        <p:blipFill>
          <a:blip r:embed="rId2"/>
          <a:stretch>
            <a:fillRect/>
          </a:stretch>
        </p:blipFill>
        <p:spPr>
          <a:xfrm>
            <a:off x="5237798" y="2158722"/>
            <a:ext cx="4154686" cy="2567702"/>
          </a:xfrm>
          <a:prstGeom prst="rect">
            <a:avLst/>
          </a:prstGeom>
        </p:spPr>
      </p:pic>
      <p:sp>
        <p:nvSpPr>
          <p:cNvPr id="7" name="Text 3"/>
          <p:cNvSpPr/>
          <p:nvPr/>
        </p:nvSpPr>
        <p:spPr>
          <a:xfrm>
            <a:off x="5237798" y="499717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AWS ECR</a:t>
            </a:r>
            <a:endParaRPr lang="en-US" sz="2200" dirty="0"/>
          </a:p>
        </p:txBody>
      </p:sp>
      <p:sp>
        <p:nvSpPr>
          <p:cNvPr id="8" name="Text 4"/>
          <p:cNvSpPr/>
          <p:nvPr/>
        </p:nvSpPr>
        <p:spPr>
          <a:xfrm>
            <a:off x="5237798" y="5483304"/>
            <a:ext cx="4154686" cy="173355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AWS Elastic Container Registry (ECR) es el servicio de registro de imágenes de Amazon Web Services, ideal para almacenar y distribuir imágenes Docker en la nube.</a:t>
            </a:r>
            <a:endParaRPr lang="en-US" sz="1700" dirty="0"/>
          </a:p>
        </p:txBody>
      </p:sp>
      <p:pic>
        <p:nvPicPr>
          <p:cNvPr id="9" name="Image 2" descr="preencoded.png">    </p:cNvPr>
          <p:cNvPicPr>
            <a:picLocks noChangeAspect="1"/>
          </p:cNvPicPr>
          <p:nvPr/>
        </p:nvPicPr>
        <p:blipFill>
          <a:blip r:embed="rId3"/>
          <a:stretch>
            <a:fillRect/>
          </a:stretch>
        </p:blipFill>
        <p:spPr>
          <a:xfrm>
            <a:off x="9717405" y="2158722"/>
            <a:ext cx="4154567" cy="2567702"/>
          </a:xfrm>
          <a:prstGeom prst="rect">
            <a:avLst/>
          </a:prstGeom>
        </p:spPr>
      </p:pic>
      <p:sp>
        <p:nvSpPr>
          <p:cNvPr id="10" name="Text 5"/>
          <p:cNvSpPr/>
          <p:nvPr/>
        </p:nvSpPr>
        <p:spPr>
          <a:xfrm>
            <a:off x="9717405" y="4997172"/>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272525"/>
                </a:solidFill>
                <a:latin typeface="Barlow Bold" pitchFamily="34" charset="0"/>
                <a:ea typeface="Barlow Bold" pitchFamily="34" charset="-122"/>
                <a:cs typeface="Barlow Bold" pitchFamily="34" charset="-120"/>
              </a:rPr>
              <a:t>Google GCR</a:t>
            </a:r>
            <a:endParaRPr lang="en-US" sz="2200" dirty="0"/>
          </a:p>
        </p:txBody>
      </p:sp>
      <p:sp>
        <p:nvSpPr>
          <p:cNvPr id="11" name="Text 6"/>
          <p:cNvSpPr/>
          <p:nvPr/>
        </p:nvSpPr>
        <p:spPr>
          <a:xfrm>
            <a:off x="9717405" y="5483304"/>
            <a:ext cx="4154567" cy="1733550"/>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Google Container Registry (GCR) es el registro de imágenes de Google Cloud Platform, que ofrece seguridad, rendimiento y escalabilidad para las imágenes Docker.</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78034" y="812721"/>
            <a:ext cx="7760732" cy="1300163"/>
          </a:xfrm>
          <a:prstGeom prst="rect">
            <a:avLst/>
          </a:prstGeom>
          <a:noFill/>
          <a:ln/>
        </p:spPr>
        <p:txBody>
          <a:bodyPr wrap="square" lIns="0" tIns="0" rIns="0" bIns="0" rtlCol="0" anchor="t"/>
          <a:lstStyle/>
          <a:p>
            <a:pPr indent="0" marL="0">
              <a:lnSpc>
                <a:spcPts val="5100"/>
              </a:lnSpc>
              <a:buNone/>
            </a:pPr>
            <a:r>
              <a:rPr lang="en-US" sz="4050" b="1" dirty="0">
                <a:solidFill>
                  <a:srgbClr val="7068F4"/>
                </a:solidFill>
                <a:latin typeface="Barlow Bold" pitchFamily="34" charset="0"/>
                <a:ea typeface="Barlow Bold" pitchFamily="34" charset="-122"/>
                <a:cs typeface="Barlow Bold" pitchFamily="34" charset="-120"/>
              </a:rPr>
              <a:t>Casos de uso y mejores prácticas de Docker</a:t>
            </a:r>
            <a:endParaRPr lang="en-US" sz="4050" dirty="0"/>
          </a:p>
        </p:txBody>
      </p:sp>
      <p:sp>
        <p:nvSpPr>
          <p:cNvPr id="4" name="Shape 1"/>
          <p:cNvSpPr/>
          <p:nvPr/>
        </p:nvSpPr>
        <p:spPr>
          <a:xfrm>
            <a:off x="6178034" y="2631519"/>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5" name="Text 2"/>
          <p:cNvSpPr/>
          <p:nvPr/>
        </p:nvSpPr>
        <p:spPr>
          <a:xfrm>
            <a:off x="6345079" y="2697718"/>
            <a:ext cx="110490"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1</a:t>
            </a:r>
            <a:endParaRPr lang="en-US" sz="2450" dirty="0"/>
          </a:p>
        </p:txBody>
      </p:sp>
      <p:sp>
        <p:nvSpPr>
          <p:cNvPr id="6" name="Text 3"/>
          <p:cNvSpPr/>
          <p:nvPr/>
        </p:nvSpPr>
        <p:spPr>
          <a:xfrm>
            <a:off x="6820138" y="2631519"/>
            <a:ext cx="3027521"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Desarrollo de aplicaciones</a:t>
            </a:r>
            <a:endParaRPr lang="en-US" sz="2000" dirty="0"/>
          </a:p>
        </p:txBody>
      </p:sp>
      <p:sp>
        <p:nvSpPr>
          <p:cNvPr id="7" name="Text 4"/>
          <p:cNvSpPr/>
          <p:nvPr/>
        </p:nvSpPr>
        <p:spPr>
          <a:xfrm>
            <a:off x="6820138" y="3075027"/>
            <a:ext cx="3139559" cy="158115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Docker facilita el desarrollo de aplicaciones al proporcionar un entorno de desarrollo coherente y replicable en diferentes sistemas.</a:t>
            </a:r>
            <a:endParaRPr lang="en-US" sz="1550" dirty="0"/>
          </a:p>
        </p:txBody>
      </p:sp>
      <p:sp>
        <p:nvSpPr>
          <p:cNvPr id="8" name="Shape 5"/>
          <p:cNvSpPr/>
          <p:nvPr/>
        </p:nvSpPr>
        <p:spPr>
          <a:xfrm>
            <a:off x="10157222" y="2631519"/>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9" name="Text 6"/>
          <p:cNvSpPr/>
          <p:nvPr/>
        </p:nvSpPr>
        <p:spPr>
          <a:xfrm>
            <a:off x="10292120" y="2697718"/>
            <a:ext cx="174784"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2</a:t>
            </a:r>
            <a:endParaRPr lang="en-US" sz="2450" dirty="0"/>
          </a:p>
        </p:txBody>
      </p:sp>
      <p:sp>
        <p:nvSpPr>
          <p:cNvPr id="10" name="Text 7"/>
          <p:cNvSpPr/>
          <p:nvPr/>
        </p:nvSpPr>
        <p:spPr>
          <a:xfrm>
            <a:off x="10799326" y="2631519"/>
            <a:ext cx="2600206"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Despliegue y escalado</a:t>
            </a:r>
            <a:endParaRPr lang="en-US" sz="2000" dirty="0"/>
          </a:p>
        </p:txBody>
      </p:sp>
      <p:sp>
        <p:nvSpPr>
          <p:cNvPr id="11" name="Text 8"/>
          <p:cNvSpPr/>
          <p:nvPr/>
        </p:nvSpPr>
        <p:spPr>
          <a:xfrm>
            <a:off x="10799326" y="3075027"/>
            <a:ext cx="3139559" cy="158115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Los contenedores Docker permiten un despliegue rápido y escalable de aplicaciones en diferentes entornos, desde la nube hasta el edge computing.</a:t>
            </a:r>
            <a:endParaRPr lang="en-US" sz="1550" dirty="0"/>
          </a:p>
        </p:txBody>
      </p:sp>
      <p:sp>
        <p:nvSpPr>
          <p:cNvPr id="12" name="Shape 9"/>
          <p:cNvSpPr/>
          <p:nvPr/>
        </p:nvSpPr>
        <p:spPr>
          <a:xfrm>
            <a:off x="6178034" y="5075992"/>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13" name="Text 10"/>
          <p:cNvSpPr/>
          <p:nvPr/>
        </p:nvSpPr>
        <p:spPr>
          <a:xfrm>
            <a:off x="6316028" y="5142190"/>
            <a:ext cx="168473"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3</a:t>
            </a:r>
            <a:endParaRPr lang="en-US" sz="2450" dirty="0"/>
          </a:p>
        </p:txBody>
      </p:sp>
      <p:sp>
        <p:nvSpPr>
          <p:cNvPr id="14" name="Text 11"/>
          <p:cNvSpPr/>
          <p:nvPr/>
        </p:nvSpPr>
        <p:spPr>
          <a:xfrm>
            <a:off x="6820138" y="5075992"/>
            <a:ext cx="2600206"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Microservicios</a:t>
            </a:r>
            <a:endParaRPr lang="en-US" sz="2000" dirty="0"/>
          </a:p>
        </p:txBody>
      </p:sp>
      <p:sp>
        <p:nvSpPr>
          <p:cNvPr id="15" name="Text 12"/>
          <p:cNvSpPr/>
          <p:nvPr/>
        </p:nvSpPr>
        <p:spPr>
          <a:xfrm>
            <a:off x="6820138" y="5519499"/>
            <a:ext cx="3139559" cy="189738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Docker es una herramienta clave para la arquitectura de microservicios, al permitir el empaquetado y la implementación independiente de cada servicio.</a:t>
            </a:r>
            <a:endParaRPr lang="en-US" sz="1550" dirty="0"/>
          </a:p>
        </p:txBody>
      </p:sp>
      <p:sp>
        <p:nvSpPr>
          <p:cNvPr id="16" name="Shape 13"/>
          <p:cNvSpPr/>
          <p:nvPr/>
        </p:nvSpPr>
        <p:spPr>
          <a:xfrm>
            <a:off x="10157222" y="5075992"/>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17" name="Text 14"/>
          <p:cNvSpPr/>
          <p:nvPr/>
        </p:nvSpPr>
        <p:spPr>
          <a:xfrm>
            <a:off x="10285095" y="5142190"/>
            <a:ext cx="188833"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4</a:t>
            </a:r>
            <a:endParaRPr lang="en-US" sz="2450" dirty="0"/>
          </a:p>
        </p:txBody>
      </p:sp>
      <p:sp>
        <p:nvSpPr>
          <p:cNvPr id="18" name="Text 15"/>
          <p:cNvSpPr/>
          <p:nvPr/>
        </p:nvSpPr>
        <p:spPr>
          <a:xfrm>
            <a:off x="10799326" y="5075992"/>
            <a:ext cx="2600206"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Continuidad</a:t>
            </a:r>
            <a:endParaRPr lang="en-US" sz="2000" dirty="0"/>
          </a:p>
        </p:txBody>
      </p:sp>
      <p:sp>
        <p:nvSpPr>
          <p:cNvPr id="19" name="Text 16"/>
          <p:cNvSpPr/>
          <p:nvPr/>
        </p:nvSpPr>
        <p:spPr>
          <a:xfrm>
            <a:off x="10799326" y="5519499"/>
            <a:ext cx="3139559" cy="189738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Docker facilita la implementación de procesos de integración y entrega continua, lo que mejora la agilidad y la fiabilidad del desarrollo de software.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2024-10-27T17:14:28Z</dcterms:created>
  <dcterms:modified xsi:type="dcterms:W3CDTF">2024-10-27T17:14:28Z</dcterms:modified>
</cp:coreProperties>
</file>