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iQ8Y0uMRXjqRCZ5snkrE5OxZ7w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38802B-5EA7-4535-A51C-23B275F44ACF}">
  <a:tblStyle styleId="{5E38802B-5EA7-4535-A51C-23B275F44AC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0920415-69DA-4314-8F80-1AB995D5C9F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ef875a66c8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1ef875a66c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f0a58de352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1f0a58de352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f1d637526d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1f1d637526d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f1d637526d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1f1d637526d_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1f1d637526d_2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f1d637526d_2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1f1d637526d_2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1f1d637526d_2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1d637526d_2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1f1d637526d_2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1f1d637526d_2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f1d637526d_2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1f1d637526d_2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1f1d637526d_2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f1d637526d_2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1f1d637526d_2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1f1d637526d_2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f1d637526d_2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1f1d637526d_2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1f1d637526d_2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f1d637526d_2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1f1d637526d_2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1f1d637526d_2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f1d637526d_2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1f1d637526d_2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1f1d637526d_2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f1d637526d_2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1f1d637526d_2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1f1d637526d_2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f1d637526d_2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1f1d637526d_2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1f1d637526d_2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3dbde2f6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3dbde2f6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ef875a66c8_0_6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" name="Google Shape;17;g1ef875a66c8_0_6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" name="Google Shape;18;g1ef875a66c8_0_6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25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6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1ef875a66c8_0_6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8" y="0"/>
            <a:ext cx="12169464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5" name="Google Shape;105;g1ef875a66c8_0_65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{5E38802B-5EA7-4535-A51C-23B275F44ACF}</a:tableStyleId>
              </a:tblPr>
              <a:tblGrid>
                <a:gridCol w="2024275"/>
                <a:gridCol w="2896500"/>
              </a:tblGrid>
              <a:tr h="42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ES" sz="19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ES" sz="1900"/>
                        <a:t>Viernes</a:t>
                      </a:r>
                      <a:r>
                        <a:rPr lang="es-ES" sz="1900" u="none" cap="none" strike="noStrike"/>
                        <a:t>, </a:t>
                      </a:r>
                      <a:r>
                        <a:rPr lang="es-ES" sz="1900"/>
                        <a:t>07</a:t>
                      </a:r>
                      <a:r>
                        <a:rPr lang="es-ES" sz="1900" u="none" cap="none" strike="noStrike"/>
                        <a:t>/0</a:t>
                      </a:r>
                      <a:r>
                        <a:rPr lang="es-ES" sz="1900"/>
                        <a:t>3</a:t>
                      </a:r>
                      <a:r>
                        <a:rPr lang="es-ES" sz="1900" u="none" cap="none" strike="noStrike"/>
                        <a:t>/202</a:t>
                      </a:r>
                      <a:r>
                        <a:rPr lang="es-ES" sz="1900"/>
                        <a:t>5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  <a:tr h="48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ES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ES" sz="1900" u="none" cap="none" strike="noStrike"/>
                        <a:t>1</a:t>
                      </a:r>
                      <a:r>
                        <a:rPr lang="es-ES" sz="1900"/>
                        <a:t>6</a:t>
                      </a:r>
                      <a:r>
                        <a:rPr lang="es-ES" sz="1900" u="none" cap="none" strike="noStrike"/>
                        <a:t>:30 - 1</a:t>
                      </a:r>
                      <a:r>
                        <a:rPr lang="es-ES" sz="1900"/>
                        <a:t>8</a:t>
                      </a:r>
                      <a:r>
                        <a:rPr lang="es-ES" sz="1900" u="none" cap="none" strike="noStrike"/>
                        <a:t>:</a:t>
                      </a:r>
                      <a:r>
                        <a:rPr lang="es-ES" sz="1900"/>
                        <a:t>1</a:t>
                      </a:r>
                      <a:r>
                        <a:rPr lang="es-E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106" name="Google Shape;106;g1ef875a66c8_0_65"/>
          <p:cNvSpPr txBox="1"/>
          <p:nvPr/>
        </p:nvSpPr>
        <p:spPr>
          <a:xfrm>
            <a:off x="1920233" y="3011067"/>
            <a:ext cx="7448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s-E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Avanzado, sección A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1ef875a66c8_0_65"/>
          <p:cNvSpPr txBox="1"/>
          <p:nvPr/>
        </p:nvSpPr>
        <p:spPr>
          <a:xfrm>
            <a:off x="2371600" y="4283467"/>
            <a:ext cx="7448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E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Diego Rene Molina </a:t>
            </a:r>
            <a:r>
              <a:rPr lang="es-ES" sz="2700"/>
              <a:t>Roldán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>
            <p:ph type="ctrTitle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s-ES" sz="5400"/>
              <a:t>Kubernetes</a:t>
            </a:r>
            <a:endParaRPr/>
          </a:p>
        </p:txBody>
      </p:sp>
      <p:sp>
        <p:nvSpPr>
          <p:cNvPr id="114" name="Google Shape;114;p1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954"/>
              <a:buNone/>
            </a:pPr>
            <a:r>
              <a:t/>
            </a:r>
            <a:endParaRPr sz="2974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8485"/>
              <a:buNone/>
            </a:pPr>
            <a:r>
              <a:rPr b="1" lang="es-ES" sz="5716"/>
              <a:t>Semana 5: Kubernetes</a:t>
            </a:r>
            <a:endParaRPr b="1" sz="5716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8485"/>
              <a:buNone/>
            </a:pPr>
            <a:r>
              <a:t/>
            </a:r>
            <a:endParaRPr b="1" sz="5716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8485"/>
              <a:buNone/>
            </a:pPr>
            <a:r>
              <a:rPr b="1" lang="es-ES" sz="5716"/>
              <a:t>Diego Molina</a:t>
            </a:r>
            <a:endParaRPr b="1" sz="5716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9286"/>
              <a:buNone/>
            </a:pPr>
            <a:r>
              <a:t/>
            </a:r>
            <a:endParaRPr b="1" sz="2774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9286"/>
              <a:buNone/>
            </a:pPr>
            <a:r>
              <a:t/>
            </a:r>
            <a:endParaRPr b="1" sz="2774"/>
          </a:p>
          <a:p>
            <a:pPr indent="1397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2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  <a:p>
            <a:pPr indent="1397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200"/>
          </a:p>
        </p:txBody>
      </p:sp>
      <p:pic>
        <p:nvPicPr>
          <p:cNvPr id="116" name="Google Shape;116;p1"/>
          <p:cNvPicPr preferRelativeResize="0"/>
          <p:nvPr/>
        </p:nvPicPr>
        <p:blipFill rotWithShape="1">
          <a:blip r:embed="rId3">
            <a:alphaModFix/>
          </a:blip>
          <a:srcRect b="-1" l="2957" r="29087" t="0"/>
          <a:stretch/>
        </p:blipFill>
        <p:spPr>
          <a:xfrm>
            <a:off x="5311702" y="10"/>
            <a:ext cx="6878775" cy="6857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414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 flipH="1">
            <a:off x="0" y="0"/>
            <a:ext cx="5331534" cy="6858000"/>
          </a:xfrm>
          <a:custGeom>
            <a:rect b="b" l="l" r="r" t="t"/>
            <a:pathLst>
              <a:path extrusionOk="0" h="6858000" w="5331534">
                <a:moveTo>
                  <a:pt x="5331534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5331534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0" y="0"/>
            <a:ext cx="5173318" cy="6860381"/>
          </a:xfrm>
          <a:custGeom>
            <a:rect b="b" l="l" r="r" t="t"/>
            <a:pathLst>
              <a:path extrusionOk="0" h="6860381" w="5203198">
                <a:moveTo>
                  <a:pt x="0" y="2381"/>
                </a:moveTo>
                <a:lnTo>
                  <a:pt x="5142946" y="0"/>
                </a:lnTo>
                <a:cubicBezTo>
                  <a:pt x="5149221" y="44580"/>
                  <a:pt x="5155497" y="91541"/>
                  <a:pt x="5161772" y="136121"/>
                </a:cubicBezTo>
                <a:cubicBezTo>
                  <a:pt x="5189165" y="379610"/>
                  <a:pt x="5203198" y="626664"/>
                  <a:pt x="5203198" y="876677"/>
                </a:cubicBezTo>
                <a:cubicBezTo>
                  <a:pt x="5203198" y="3251799"/>
                  <a:pt x="3936740" y="5359908"/>
                  <a:pt x="1980154" y="6680759"/>
                </a:cubicBezTo>
                <a:lnTo>
                  <a:pt x="1678899" y="6860381"/>
                </a:lnTo>
                <a:lnTo>
                  <a:pt x="0" y="6860381"/>
                </a:lnTo>
                <a:lnTo>
                  <a:pt x="0" y="2381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>
            <p:ph type="title"/>
          </p:nvPr>
        </p:nvSpPr>
        <p:spPr>
          <a:xfrm>
            <a:off x="804672" y="513977"/>
            <a:ext cx="3591964" cy="3475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>
                <a:solidFill>
                  <a:schemeClr val="dk1"/>
                </a:solidFill>
              </a:rPr>
              <a:t>AGENDA</a:t>
            </a:r>
            <a:endParaRPr/>
          </a:p>
        </p:txBody>
      </p:sp>
      <p:grpSp>
        <p:nvGrpSpPr>
          <p:cNvPr id="124" name="Google Shape;124;p2"/>
          <p:cNvGrpSpPr/>
          <p:nvPr/>
        </p:nvGrpSpPr>
        <p:grpSpPr>
          <a:xfrm>
            <a:off x="5009898" y="595324"/>
            <a:ext cx="6772196" cy="5662908"/>
            <a:chOff x="0" y="1833"/>
            <a:chExt cx="6772196" cy="5662908"/>
          </a:xfrm>
        </p:grpSpPr>
        <p:sp>
          <p:nvSpPr>
            <p:cNvPr id="125" name="Google Shape;125;p2"/>
            <p:cNvSpPr/>
            <p:nvPr/>
          </p:nvSpPr>
          <p:spPr>
            <a:xfrm>
              <a:off x="0" y="1833"/>
              <a:ext cx="6772196" cy="781090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36279" y="177578"/>
              <a:ext cx="429599" cy="42959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902159" y="1833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902159" y="1833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650" lIns="82650" spcFirstLastPara="1" rIns="82650" wrap="square" tIns="8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0" i="0" lang="es-ES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Anuncios generales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0" y="978196"/>
              <a:ext cx="6772196" cy="781090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236279" y="1153942"/>
              <a:ext cx="429599" cy="4295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902159" y="978196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902159" y="978196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650" lIns="82650" spcFirstLastPara="1" rIns="82650" wrap="square" tIns="8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0" i="0" lang="es-ES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Dudas iniciales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0" y="1954560"/>
              <a:ext cx="6772196" cy="781090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236279" y="2130305"/>
              <a:ext cx="429599" cy="4295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902159" y="1954560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902159" y="1954560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650" lIns="82650" spcFirstLastPara="1" rIns="82650" wrap="square" tIns="8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0" y="2930923"/>
              <a:ext cx="6772196" cy="781090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236279" y="3106669"/>
              <a:ext cx="429599" cy="4295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902159" y="2930923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 txBox="1"/>
            <p:nvPr/>
          </p:nvSpPr>
          <p:spPr>
            <a:xfrm>
              <a:off x="902159" y="2930923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650" lIns="82650" spcFirstLastPara="1" rIns="82650" wrap="square" tIns="8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0" i="0" lang="es-ES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Kubernetes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0" y="3907287"/>
              <a:ext cx="6772196" cy="781090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236279" y="4083032"/>
              <a:ext cx="429599" cy="4295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902159" y="3907287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 txBox="1"/>
            <p:nvPr/>
          </p:nvSpPr>
          <p:spPr>
            <a:xfrm>
              <a:off x="902159" y="3907287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650" lIns="82650" spcFirstLastPara="1" rIns="82650" wrap="square" tIns="8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0" i="0" lang="es-ES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Dudas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0" y="4883651"/>
              <a:ext cx="6772196" cy="781090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902159" y="4883651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902159" y="4883651"/>
              <a:ext cx="5870036" cy="781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650" lIns="82650" spcFirstLastPara="1" rIns="82650" wrap="square" tIns="82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0" i="0" lang="es-ES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Examen Corto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2"/>
          <p:cNvSpPr/>
          <p:nvPr/>
        </p:nvSpPr>
        <p:spPr>
          <a:xfrm>
            <a:off x="5224327" y="5620344"/>
            <a:ext cx="429600" cy="42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1f0a58de352_0_2"/>
          <p:cNvPicPr preferRelativeResize="0"/>
          <p:nvPr/>
        </p:nvPicPr>
        <p:blipFill rotWithShape="1">
          <a:blip r:embed="rId3">
            <a:alphaModFix amt="35000"/>
          </a:blip>
          <a:srcRect b="11966" l="0" r="0" t="3637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1f0a58de352_0_2"/>
          <p:cNvSpPr txBox="1"/>
          <p:nvPr>
            <p:ph type="title"/>
          </p:nvPr>
        </p:nvSpPr>
        <p:spPr>
          <a:xfrm>
            <a:off x="838200" y="1065850"/>
            <a:ext cx="10792800" cy="46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ES" sz="6500"/>
              <a:t>Espacio para dudas</a:t>
            </a:r>
            <a:endParaRPr sz="6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"/>
          <p:cNvPicPr preferRelativeResize="0"/>
          <p:nvPr/>
        </p:nvPicPr>
        <p:blipFill rotWithShape="1">
          <a:blip r:embed="rId3">
            <a:alphaModFix amt="35000"/>
          </a:blip>
          <a:srcRect b="11967" l="0" r="-2" t="3635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"/>
          <p:cNvSpPr txBox="1"/>
          <p:nvPr>
            <p:ph type="title"/>
          </p:nvPr>
        </p:nvSpPr>
        <p:spPr>
          <a:xfrm>
            <a:off x="1031630" y="1065900"/>
            <a:ext cx="4052100" cy="47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ES"/>
              <a:t>Kubernetes: domando la ballena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6096001" y="0"/>
            <a:ext cx="6095980" cy="685799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6483875" y="846374"/>
            <a:ext cx="5559900" cy="231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conocido como K8s, es una plataforma de código abierto para la automatización de la implementación, escalado y gestión de aplicaciones en contenedores.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5338" y="3446500"/>
            <a:ext cx="4457298" cy="250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5833240" y="0"/>
            <a:ext cx="6358759" cy="6858000"/>
          </a:xfrm>
          <a:prstGeom prst="rect">
            <a:avLst/>
          </a:prstGeom>
          <a:solidFill>
            <a:srgbClr val="757070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831724" y="1373570"/>
            <a:ext cx="4887310" cy="411085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K8s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95150" y="737850"/>
            <a:ext cx="5439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b="0" i="0" lang="es-E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Proyecto Google (basado en Borg)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b="0" i="0" lang="es-E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Sistema de orquestacion de contenedores: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</a:pPr>
            <a:r>
              <a:rPr b="0" i="0" lang="es-E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Distribución inteligente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</a:pPr>
            <a:r>
              <a:rPr b="0" i="0" lang="es-E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Administración de cargas de trabajo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</a:pPr>
            <a:r>
              <a:rPr b="0" i="0" lang="es-E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Facilita la gestión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</a:pPr>
            <a:r>
              <a:rPr b="0" i="0" lang="es-E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Provee de alta disponibilidad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</a:pPr>
            <a:r>
              <a:rPr b="0" i="0" lang="es-E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Modular, flexible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>
            <p:ph type="title"/>
          </p:nvPr>
        </p:nvSpPr>
        <p:spPr>
          <a:xfrm>
            <a:off x="762000" y="559678"/>
            <a:ext cx="3567915" cy="4952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Comparación</a:t>
            </a:r>
            <a:r>
              <a:rPr lang="es-ES">
                <a:solidFill>
                  <a:schemeClr val="lt1"/>
                </a:solidFill>
              </a:rPr>
              <a:t> entre VM - Docker y K8s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78" name="Google Shape;178;p4"/>
          <p:cNvCxnSpPr/>
          <p:nvPr/>
        </p:nvCxnSpPr>
        <p:spPr>
          <a:xfrm>
            <a:off x="0" y="6199730"/>
            <a:ext cx="429768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6051" y="1336963"/>
            <a:ext cx="7862175" cy="418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f1d637526d_2_1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1f1d637526d_2_1"/>
          <p:cNvSpPr txBox="1"/>
          <p:nvPr>
            <p:ph type="title"/>
          </p:nvPr>
        </p:nvSpPr>
        <p:spPr>
          <a:xfrm>
            <a:off x="762000" y="559675"/>
            <a:ext cx="3567900" cy="16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Arquitectura de K8s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86" name="Google Shape;186;g1f1d637526d_2_1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7" name="Google Shape;187;g1f1d637526d_2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925" y="1547125"/>
            <a:ext cx="9713075" cy="4811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/>
          <p:nvPr/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>
            <p:ph type="title"/>
          </p:nvPr>
        </p:nvSpPr>
        <p:spPr>
          <a:xfrm>
            <a:off x="762000" y="559678"/>
            <a:ext cx="3567915" cy="4952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Por qué usar Kubernetes y no Docker simplemente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95" name="Google Shape;195;p5"/>
          <p:cNvCxnSpPr/>
          <p:nvPr/>
        </p:nvCxnSpPr>
        <p:spPr>
          <a:xfrm>
            <a:off x="0" y="6199730"/>
            <a:ext cx="429768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5"/>
          <p:cNvSpPr txBox="1"/>
          <p:nvPr/>
        </p:nvSpPr>
        <p:spPr>
          <a:xfrm>
            <a:off x="5874943" y="1759551"/>
            <a:ext cx="57501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25" lIns="182825" spcFirstLastPara="1" rIns="182825" wrap="square" tIns="1828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Docker: ayuda a crear, empaquetar y ejecutar aplicaciones en contenedores.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Kubernetes:  ayuda a automatizar la implementación, escalado y gestión de aplicaciones en contenedores.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f1d637526d_2_10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f1d637526d_2_10"/>
          <p:cNvSpPr txBox="1"/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Funcionalidades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04" name="Google Shape;204;g1f1d637526d_2_10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05" name="Google Shape;205;g1f1d637526d_2_10"/>
          <p:cNvGraphicFramePr/>
          <p:nvPr/>
        </p:nvGraphicFramePr>
        <p:xfrm>
          <a:off x="6782500" y="195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{30920415-69DA-4314-8F80-1AB995D5C9FE}</a:tableStyleId>
              </a:tblPr>
              <a:tblGrid>
                <a:gridCol w="1334100"/>
                <a:gridCol w="1334100"/>
                <a:gridCol w="13341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Funcionalidad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Kubernetes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Docker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Empaquetar aplicaciones en contenedores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Sí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Ejecutar contenedores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Sí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Orquestación de contenedores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Sí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Escalado automático de aplicaciones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Sí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Alta disponibilidad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Sí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Balanceo de carga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Sí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Gestión de la salud de las aplicaciones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Sí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Implementación de aplicaciones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Sí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Monitorización de aplicaciones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Sí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Registro de eventos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Sí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Seguridad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Sí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Facilidad de uso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Más complejo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Más sencillo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Costo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Más costoso (depende de la implementación)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Menos costoso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414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>
            <p:ph type="title"/>
          </p:nvPr>
        </p:nvSpPr>
        <p:spPr>
          <a:xfrm>
            <a:off x="8042354" y="1008733"/>
            <a:ext cx="3732244" cy="4104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9"/>
              <a:buFont typeface="Calibri"/>
              <a:buNone/>
            </a:pPr>
            <a:r>
              <a:rPr lang="es-ES"/>
              <a:t>Indagando en el cluster de kubernetes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0" y="0"/>
            <a:ext cx="753652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26285" y="650014"/>
            <a:ext cx="3367217" cy="32660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152946" y="650014"/>
            <a:ext cx="2765758" cy="21367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26285" y="4088215"/>
            <a:ext cx="3367217" cy="212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152946" y="2947051"/>
            <a:ext cx="2765758" cy="32660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437" y="1334638"/>
            <a:ext cx="7800975" cy="47529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0" y="0"/>
            <a:ext cx="6358759" cy="6858000"/>
          </a:xfrm>
          <a:prstGeom prst="rect">
            <a:avLst/>
          </a:prstGeom>
          <a:solidFill>
            <a:srgbClr val="757070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41129" y="657881"/>
            <a:ext cx="5076497" cy="55422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nodos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6999888" y="848482"/>
            <a:ext cx="43761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Existen 3 tipos de nodos</a:t>
            </a:r>
            <a:endParaRPr b="0" i="0" sz="2400" u="none" cap="none" strike="noStrike">
              <a:solidFill>
                <a:srgbClr val="E6E6E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E6E6E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2400"/>
              <a:buFont typeface="Arial"/>
              <a:buChar char="●"/>
            </a:pPr>
            <a:r>
              <a:rPr b="0" i="0" lang="es-ES" sz="2400" u="none" cap="none" strike="noStrik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Deployments</a:t>
            </a:r>
            <a:endParaRPr b="0" i="0" sz="2400" u="none" cap="none" strike="noStrike">
              <a:solidFill>
                <a:srgbClr val="E6E6E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2400"/>
              <a:buFont typeface="Arial"/>
              <a:buChar char="●"/>
            </a:pPr>
            <a:r>
              <a:rPr b="0" i="0" lang="es-ES" sz="2400" u="none" cap="none" strike="noStrik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Cronjob</a:t>
            </a:r>
            <a:endParaRPr b="0" i="0" sz="2400" u="none" cap="none" strike="noStrike">
              <a:solidFill>
                <a:srgbClr val="E6E6E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2400"/>
              <a:buFont typeface="Arial"/>
              <a:buChar char="●"/>
            </a:pPr>
            <a:r>
              <a:rPr b="0" i="0" lang="es-ES" sz="2400" u="none" cap="none" strike="noStrik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b="0" i="0" sz="2400" u="none" cap="none" strike="noStrike">
              <a:solidFill>
                <a:srgbClr val="E6E6E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1d637526d_2_22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f1d637526d_2_22"/>
          <p:cNvSpPr txBox="1"/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Deployments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33" name="Google Shape;233;g1f1d637526d_2_22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4" name="Google Shape;234;g1f1d637526d_2_22"/>
          <p:cNvSpPr txBox="1"/>
          <p:nvPr/>
        </p:nvSpPr>
        <p:spPr>
          <a:xfrm>
            <a:off x="5827150" y="900650"/>
            <a:ext cx="54255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Objeto que representa una estrategia de implementación para una aplicación en contenedores. Permite definir cómo se implementarán y actualizarán las pods de tu aplicación a lo largo del tiempo.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1d637526d_2_37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1f1d637526d_2_37"/>
          <p:cNvSpPr txBox="1"/>
          <p:nvPr>
            <p:ph type="title"/>
          </p:nvPr>
        </p:nvSpPr>
        <p:spPr>
          <a:xfrm>
            <a:off x="499150" y="559675"/>
            <a:ext cx="39390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Beneficios de los deployments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42" name="Google Shape;242;g1f1d637526d_2_37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3" name="Google Shape;243;g1f1d637526d_2_37"/>
          <p:cNvSpPr txBox="1"/>
          <p:nvPr/>
        </p:nvSpPr>
        <p:spPr>
          <a:xfrm>
            <a:off x="5827150" y="900650"/>
            <a:ext cx="54255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s-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Automatización: Despliega tu aplicación automáticamente sin necesidad de intervenir manualmente.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s-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versiones: Permite realizar un seguimiento de las diferentes versiones de tu aplicación.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s-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Actualizaciones sin interrupciones: Actualiza tu aplicación sin afectar a los usuarios finales.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s-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Escalabilidad: Puedes escalar tu aplicación horizontalmente aumentando o disminuyendo el número de pods en ejecución.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s-E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Reversibilidad: Puedes revertir a una versión anterior de tu aplicación si hay algún problema.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5833240" y="0"/>
            <a:ext cx="6358800" cy="6858000"/>
          </a:xfrm>
          <a:prstGeom prst="rect">
            <a:avLst/>
          </a:prstGeom>
          <a:solidFill>
            <a:srgbClr val="757070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2125" y="0"/>
            <a:ext cx="8007748" cy="661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f1d637526d_2_46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1f1d637526d_2_46"/>
          <p:cNvSpPr txBox="1"/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Cronjobs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58" name="Google Shape;258;g1f1d637526d_2_46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9" name="Google Shape;259;g1f1d637526d_2_46"/>
          <p:cNvSpPr txBox="1"/>
          <p:nvPr/>
        </p:nvSpPr>
        <p:spPr>
          <a:xfrm>
            <a:off x="5827150" y="900650"/>
            <a:ext cx="54255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CronJob en Kubernetes es un objeto que te permite ejecutar tareas recurrentes a intervalos regulares. Es una herramienta ideal para automatizar tareas como: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Copias de seguridad: Realizar copias de seguridad de tus datos de forma regular.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Eliminación de datos: Eliminar datos antiguos o innecesarios de forma automática.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Procesamiento de datos: Procesar datos de forma periódica.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Envío de notificaciones: Enviar notificaciones por correo electrónico o SMS a intervalos regulares.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f1d637526d_2_54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1f1d637526d_2_54"/>
          <p:cNvSpPr txBox="1"/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Beneficios de los Cronjobs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67" name="Google Shape;267;g1f1d637526d_2_54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8" name="Google Shape;268;g1f1d637526d_2_54"/>
          <p:cNvSpPr txBox="1"/>
          <p:nvPr/>
        </p:nvSpPr>
        <p:spPr>
          <a:xfrm>
            <a:off x="5827150" y="900650"/>
            <a:ext cx="54255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Beneficios de usar CronJobs: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Automatización: Automatiza tareas recurrentes para que no tengas que ejecutarlas manualmente.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Precisión: Ejecuta las tareas a intervalos precisos.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Escalabilidad: Puedes ejecutar CronJobs en múltiples nodos de tu clúster de Kubernetes.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Confiabilidad: Kubernetes se encarga de reiniciar los CronJobs si fallan.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f1d637526d_2_62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g1f1d637526d_2_62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6" name="Google Shape;276;g1f1d637526d_2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4624" y="250050"/>
            <a:ext cx="7233001" cy="610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f1d637526d_2_71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1f1d637526d_2_71"/>
          <p:cNvSpPr txBox="1"/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Services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84" name="Google Shape;284;g1f1d637526d_2_71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5" name="Google Shape;285;g1f1d637526d_2_71"/>
          <p:cNvSpPr txBox="1"/>
          <p:nvPr/>
        </p:nvSpPr>
        <p:spPr>
          <a:xfrm>
            <a:off x="5783725" y="2108875"/>
            <a:ext cx="54366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en Kubernetes es un objeto que exporta un conjunto de pods como un único servicio de red. Permite a los pods acceder entre sí y a los usuarios externos acceder a las aplicaciones que se ejecutan en los pods.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f1d637526d_2_79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1f1d637526d_2_79"/>
          <p:cNvSpPr txBox="1"/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Beneficios de los services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93" name="Google Shape;293;g1f1d637526d_2_79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4" name="Google Shape;294;g1f1d637526d_2_79"/>
          <p:cNvSpPr txBox="1"/>
          <p:nvPr/>
        </p:nvSpPr>
        <p:spPr>
          <a:xfrm>
            <a:off x="5772875" y="264175"/>
            <a:ext cx="5436600" cy="5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Beneficios de usar Services: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E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Abstracción: Oculta la complejidad de los pods al usuario final.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E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Balanceo de carga: Distribuye el tráfico entre los pods de forma uniforme.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E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Escalabilidad: Permite escalar tu aplicación horizontalmente sin necesidad de modificar el código.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E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Disponibilidad: Garantiza que tu aplicación siempre esté disponible para los usuarios finales.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E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Enrutamiento flexible: Permite enrutar el tráfico a diferentes pods en función de diferentes criterios.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f1d637526d_2_89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f1d637526d_2_89"/>
          <p:cNvSpPr txBox="1"/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Subtipos de services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02" name="Google Shape;302;g1f1d637526d_2_89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3" name="Google Shape;303;g1f1d637526d_2_89"/>
          <p:cNvSpPr txBox="1"/>
          <p:nvPr/>
        </p:nvSpPr>
        <p:spPr>
          <a:xfrm>
            <a:off x="5664375" y="1350475"/>
            <a:ext cx="54366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E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ClusterIP: Solo accesible desde dentro del clúster.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E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NodePort: Accesible desde cualquier nodo del clúster.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E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LoadBalancer: Accesible desde Internet mediante un balanceador de carga externo.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f1d637526d_2_99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g1f1d637526d_2_99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11" name="Google Shape;311;g1f1d637526d_2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9800" y="859024"/>
            <a:ext cx="6149000" cy="454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>
            <p:ph type="ctrTitle"/>
          </p:nvPr>
        </p:nvSpPr>
        <p:spPr>
          <a:xfrm>
            <a:off x="2399234" y="2073715"/>
            <a:ext cx="6935759" cy="2993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Calibri"/>
              <a:buNone/>
            </a:pPr>
            <a:r>
              <a:rPr lang="es-ES" sz="8800">
                <a:solidFill>
                  <a:schemeClr val="lt1"/>
                </a:solidFill>
              </a:rPr>
              <a:t>¿Dudas?</a:t>
            </a:r>
            <a:endParaRPr sz="8800">
              <a:solidFill>
                <a:schemeClr val="lt1"/>
              </a:solidFill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13"/>
          <p:cNvCxnSpPr/>
          <p:nvPr/>
        </p:nvCxnSpPr>
        <p:spPr>
          <a:xfrm rot="10800000">
            <a:off x="2399233" y="1883640"/>
            <a:ext cx="693576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0" name="Google Shape;320;p13"/>
          <p:cNvCxnSpPr/>
          <p:nvPr/>
        </p:nvCxnSpPr>
        <p:spPr>
          <a:xfrm rot="10800000">
            <a:off x="2399233" y="5066757"/>
            <a:ext cx="693576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>
            <p:ph type="ctrTitle"/>
          </p:nvPr>
        </p:nvSpPr>
        <p:spPr>
          <a:xfrm>
            <a:off x="2399234" y="2073715"/>
            <a:ext cx="6935759" cy="2993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Calibri"/>
              <a:buNone/>
            </a:pPr>
            <a:r>
              <a:rPr lang="es-ES" sz="8800">
                <a:solidFill>
                  <a:schemeClr val="lt1"/>
                </a:solidFill>
              </a:rPr>
              <a:t>Gracias</a:t>
            </a:r>
            <a:endParaRPr sz="8800">
              <a:solidFill>
                <a:schemeClr val="lt1"/>
              </a:solidFill>
            </a:endParaRPr>
          </a:p>
        </p:txBody>
      </p:sp>
      <p:sp>
        <p:nvSpPr>
          <p:cNvPr id="327" name="Google Shape;327;p14"/>
          <p:cNvSpPr txBox="1"/>
          <p:nvPr>
            <p:ph idx="1" type="subTitle"/>
          </p:nvPr>
        </p:nvSpPr>
        <p:spPr>
          <a:xfrm>
            <a:off x="2399234" y="1369077"/>
            <a:ext cx="6935759" cy="2201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4"/>
          <p:cNvCxnSpPr/>
          <p:nvPr/>
        </p:nvCxnSpPr>
        <p:spPr>
          <a:xfrm rot="10800000">
            <a:off x="2399233" y="1883640"/>
            <a:ext cx="693576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0" name="Google Shape;330;p14"/>
          <p:cNvCxnSpPr/>
          <p:nvPr/>
        </p:nvCxnSpPr>
        <p:spPr>
          <a:xfrm rot="10800000">
            <a:off x="2399233" y="5066757"/>
            <a:ext cx="693576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g33dbde2f6cf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8" y="0"/>
            <a:ext cx="12169464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6" name="Google Shape;336;g33dbde2f6cf_0_0"/>
          <p:cNvGraphicFramePr/>
          <p:nvPr/>
        </p:nvGraphicFramePr>
        <p:xfrm>
          <a:off x="11267" y="10048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{5E38802B-5EA7-4535-A51C-23B275F44ACF}</a:tableStyleId>
              </a:tblPr>
              <a:tblGrid>
                <a:gridCol w="3688725"/>
                <a:gridCol w="3284425"/>
              </a:tblGrid>
              <a:tr h="42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ES" sz="19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ES" sz="1900"/>
                        <a:t>Examen Corto 1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  <a:tr h="48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ES" sz="19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  <a:tr h="4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ES" sz="19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ES" sz="1900"/>
                        <a:t>No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337" name="Google Shape;337;g33dbde2f6cf_0_0"/>
          <p:cNvSpPr txBox="1"/>
          <p:nvPr/>
        </p:nvSpPr>
        <p:spPr>
          <a:xfrm>
            <a:off x="0" y="2854600"/>
            <a:ext cx="12025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E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3dbde2f6cf_0_0"/>
          <p:cNvSpPr txBox="1"/>
          <p:nvPr/>
        </p:nvSpPr>
        <p:spPr>
          <a:xfrm>
            <a:off x="11267" y="3303867"/>
            <a:ext cx="4111500" cy="124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9" name="Google Shape;339;g33dbde2f6cf_0_0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{5E38802B-5EA7-4535-A51C-23B275F44ACF}</a:tableStyleId>
              </a:tblPr>
              <a:tblGrid>
                <a:gridCol w="1961700"/>
                <a:gridCol w="2959075"/>
              </a:tblGrid>
              <a:tr h="42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ES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121900" marB="121900" marR="121900" marL="121900"/>
                </a:tc>
              </a:tr>
              <a:tr h="48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ES" sz="19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  <a:tr h="4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-ES" sz="1900" u="none" cap="none" strike="noStrike">
                          <a:solidFill>
                            <a:schemeClr val="dk1"/>
                          </a:solidFill>
                        </a:rPr>
                        <a:t>Duración(min):</a:t>
                      </a:r>
                      <a:endParaRPr b="1" sz="7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ES" sz="1900"/>
                        <a:t>20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340" name="Google Shape;340;g33dbde2f6cf_0_0"/>
          <p:cNvSpPr txBox="1"/>
          <p:nvPr/>
        </p:nvSpPr>
        <p:spPr>
          <a:xfrm>
            <a:off x="4290150" y="3352140"/>
            <a:ext cx="4111500" cy="44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341" name="Google Shape;341;g33dbde2f6cf_0_0"/>
          <p:cNvSpPr txBox="1"/>
          <p:nvPr/>
        </p:nvSpPr>
        <p:spPr>
          <a:xfrm>
            <a:off x="8337533" y="3303867"/>
            <a:ext cx="3843300" cy="53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2021-01-24T02:47:27Z</dcterms:created>
</cp:coreProperties>
</file>