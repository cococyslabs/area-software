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6858000" cx="12192000"/>
  <p:notesSz cx="6858000" cy="9144000"/>
  <p:embeddedFontLst>
    <p:embeddedFont>
      <p:font typeface="Open Sans"/>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7" roundtripDataSignature="AMtx7mjV/6r0wsPMie3SgsvBA6ThdOeWl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429A345-8295-4AE3-9F6D-F388C2C0667B}">
  <a:tblStyle styleId="{8429A345-8295-4AE3-9F6D-F388C2C0667B}"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OpenSans-regular.fntdata"/><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OpenSans-italic.fntdata"/><Relationship Id="rId12" Type="http://schemas.openxmlformats.org/officeDocument/2006/relationships/slide" Target="slides/slide7.xml"/><Relationship Id="rId34" Type="http://schemas.openxmlformats.org/officeDocument/2006/relationships/font" Target="fonts/OpenSans-bold.fntdata"/><Relationship Id="rId15" Type="http://schemas.openxmlformats.org/officeDocument/2006/relationships/slide" Target="slides/slide10.xml"/><Relationship Id="rId37" Type="http://customschemas.google.com/relationships/presentationmetadata" Target="metadata"/><Relationship Id="rId14" Type="http://schemas.openxmlformats.org/officeDocument/2006/relationships/slide" Target="slides/slide9.xml"/><Relationship Id="rId36" Type="http://schemas.openxmlformats.org/officeDocument/2006/relationships/font" Target="fonts/OpenSans-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 name="Google Shape;9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60af37007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g360af370078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 name="Google Shape;11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Enunciado</a:t>
            </a:r>
            <a:endParaRPr/>
          </a:p>
          <a:p>
            <a:pPr indent="0" lvl="0" marL="0" rtl="0" algn="l">
              <a:lnSpc>
                <a:spcPct val="100000"/>
              </a:lnSpc>
              <a:spcBef>
                <a:spcPts val="0"/>
              </a:spcBef>
              <a:spcAft>
                <a:spcPts val="0"/>
              </a:spcAft>
              <a:buSzPts val="1400"/>
              <a:buNone/>
            </a:pPr>
            <a:r>
              <a:rPr lang="en-US"/>
              <a:t>Hc</a:t>
            </a:r>
            <a:endParaRPr/>
          </a:p>
          <a:p>
            <a:pPr indent="0" lvl="0" marL="0" rtl="0" algn="l">
              <a:lnSpc>
                <a:spcPct val="100000"/>
              </a:lnSpc>
              <a:spcBef>
                <a:spcPts val="0"/>
              </a:spcBef>
              <a:spcAft>
                <a:spcPts val="0"/>
              </a:spcAft>
              <a:buSzPts val="1400"/>
              <a:buNone/>
            </a:pPr>
            <a:r>
              <a:rPr lang="en-US"/>
              <a:t>dudas</a:t>
            </a:r>
            <a:endParaRPr/>
          </a:p>
        </p:txBody>
      </p:sp>
      <p:sp>
        <p:nvSpPr>
          <p:cNvPr id="148" name="Google Shape;14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1f4ab7b10d1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g1f4ab7b10d1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Enunciado</a:t>
            </a:r>
            <a:endParaRPr/>
          </a:p>
          <a:p>
            <a:pPr indent="0" lvl="0" marL="0" rtl="0" algn="l">
              <a:lnSpc>
                <a:spcPct val="100000"/>
              </a:lnSpc>
              <a:spcBef>
                <a:spcPts val="0"/>
              </a:spcBef>
              <a:spcAft>
                <a:spcPts val="0"/>
              </a:spcAft>
              <a:buSzPts val="1400"/>
              <a:buNone/>
            </a:pPr>
            <a:r>
              <a:rPr lang="en-US"/>
              <a:t>Hc</a:t>
            </a:r>
            <a:endParaRPr/>
          </a:p>
          <a:p>
            <a:pPr indent="0" lvl="0" marL="0" rtl="0" algn="l">
              <a:lnSpc>
                <a:spcPct val="100000"/>
              </a:lnSpc>
              <a:spcBef>
                <a:spcPts val="0"/>
              </a:spcBef>
              <a:spcAft>
                <a:spcPts val="0"/>
              </a:spcAft>
              <a:buSzPts val="1400"/>
              <a:buNone/>
            </a:pPr>
            <a:r>
              <a:rPr lang="en-US"/>
              <a:t>dudas</a:t>
            </a:r>
            <a:endParaRPr/>
          </a:p>
        </p:txBody>
      </p:sp>
      <p:sp>
        <p:nvSpPr>
          <p:cNvPr id="161" name="Google Shape;161;g1f4ab7b10d1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3" name="Google Shape;17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48584de576676619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g48584de576676619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DevOps se define como una metodología que ha venido a revolucionar el marco de desarrollo de aplicaciones, gracias a la aplicación de diferentes prácticas y herramientas de automatización que permiten producir </a:t>
            </a:r>
            <a:r>
              <a:rPr i="1" lang="en-US" sz="1200">
                <a:solidFill>
                  <a:schemeClr val="dk1"/>
                </a:solidFill>
                <a:latin typeface="Calibri"/>
                <a:ea typeface="Calibri"/>
                <a:cs typeface="Calibri"/>
                <a:sym typeface="Calibri"/>
              </a:rPr>
              <a:t>software </a:t>
            </a:r>
            <a:r>
              <a:rPr lang="en-US" sz="1200">
                <a:solidFill>
                  <a:schemeClr val="dk1"/>
                </a:solidFill>
                <a:latin typeface="Calibri"/>
                <a:ea typeface="Calibri"/>
                <a:cs typeface="Calibri"/>
                <a:sym typeface="Calibri"/>
              </a:rPr>
              <a:t>más rápido. Además de lo mencionado, esta metodología permite la unificación de Desarrollo y Operaciones, lo que facilita el trabajo y la distribución la infraestructura aplicativa. </a:t>
            </a:r>
            <a:endParaRPr/>
          </a:p>
          <a:p>
            <a:pPr indent="0" lvl="0" marL="0" rtl="0" algn="l">
              <a:lnSpc>
                <a:spcPct val="100000"/>
              </a:lnSpc>
              <a:spcBef>
                <a:spcPts val="0"/>
              </a:spcBef>
              <a:spcAft>
                <a:spcPts val="0"/>
              </a:spcAft>
              <a:buSzPts val="1400"/>
              <a:buNone/>
            </a:pPr>
            <a:r>
              <a:t/>
            </a:r>
            <a:endParaRPr/>
          </a:p>
        </p:txBody>
      </p:sp>
      <p:sp>
        <p:nvSpPr>
          <p:cNvPr id="182" name="Google Shape;182;g48584de576676619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DevOps se define como una metodología que ha venido a revolucionar el marco de desarrollo de aplicaciones, gracias a la aplicación de diferentes prácticas y herramientas de automatización que permiten producir </a:t>
            </a:r>
            <a:r>
              <a:rPr i="1" lang="en-US" sz="1200">
                <a:solidFill>
                  <a:schemeClr val="dk1"/>
                </a:solidFill>
                <a:latin typeface="Calibri"/>
                <a:ea typeface="Calibri"/>
                <a:cs typeface="Calibri"/>
                <a:sym typeface="Calibri"/>
              </a:rPr>
              <a:t>software </a:t>
            </a:r>
            <a:r>
              <a:rPr lang="en-US" sz="1200">
                <a:solidFill>
                  <a:schemeClr val="dk1"/>
                </a:solidFill>
                <a:latin typeface="Calibri"/>
                <a:ea typeface="Calibri"/>
                <a:cs typeface="Calibri"/>
                <a:sym typeface="Calibri"/>
              </a:rPr>
              <a:t>más rápido. Además de lo mencionado, esta metodología permite la unificación de Desarrollo y Operaciones, lo que facilita el trabajo y la distribución la infraestructura aplicativa. </a:t>
            </a:r>
            <a:endParaRPr/>
          </a:p>
          <a:p>
            <a:pPr indent="0" lvl="0" marL="0" rtl="0" algn="l">
              <a:lnSpc>
                <a:spcPct val="100000"/>
              </a:lnSpc>
              <a:spcBef>
                <a:spcPts val="0"/>
              </a:spcBef>
              <a:spcAft>
                <a:spcPts val="0"/>
              </a:spcAft>
              <a:buSzPts val="1400"/>
              <a:buNone/>
            </a:pPr>
            <a:r>
              <a:t/>
            </a:r>
            <a:endParaRPr/>
          </a:p>
        </p:txBody>
      </p:sp>
      <p:sp>
        <p:nvSpPr>
          <p:cNvPr id="191" name="Google Shape;19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8" name="Google Shape;19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48584de576676619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g48584de576676619_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DevOps se define como una metodología que ha venido a revolucionar el marco de desarrollo de aplicaciones, gracias a la aplicación de diferentes prácticas y herramientas de automatización que permiten producir </a:t>
            </a:r>
            <a:r>
              <a:rPr i="1" lang="en-US" sz="1200">
                <a:solidFill>
                  <a:schemeClr val="dk1"/>
                </a:solidFill>
                <a:latin typeface="Calibri"/>
                <a:ea typeface="Calibri"/>
                <a:cs typeface="Calibri"/>
                <a:sym typeface="Calibri"/>
              </a:rPr>
              <a:t>software </a:t>
            </a:r>
            <a:r>
              <a:rPr lang="en-US" sz="1200">
                <a:solidFill>
                  <a:schemeClr val="dk1"/>
                </a:solidFill>
                <a:latin typeface="Calibri"/>
                <a:ea typeface="Calibri"/>
                <a:cs typeface="Calibri"/>
                <a:sym typeface="Calibri"/>
              </a:rPr>
              <a:t>más rápido. Además de lo mencionado, esta metodología permite la unificación de Desarrollo y Operaciones, lo que facilita el trabajo y la distribución la infraestructura aplicativa. </a:t>
            </a:r>
            <a:endParaRPr/>
          </a:p>
          <a:p>
            <a:pPr indent="0" lvl="0" marL="0" rtl="0" algn="l">
              <a:lnSpc>
                <a:spcPct val="100000"/>
              </a:lnSpc>
              <a:spcBef>
                <a:spcPts val="0"/>
              </a:spcBef>
              <a:spcAft>
                <a:spcPts val="0"/>
              </a:spcAft>
              <a:buSzPts val="1400"/>
              <a:buNone/>
            </a:pPr>
            <a:r>
              <a:t/>
            </a:r>
            <a:endParaRPr/>
          </a:p>
        </p:txBody>
      </p:sp>
      <p:sp>
        <p:nvSpPr>
          <p:cNvPr id="207" name="Google Shape;207;g48584de576676619_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5" name="Google Shape;21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7" name="Google Shape;24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48584de576676619_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7" name="Google Shape;257;g48584de576676619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4" name="Google Shape;26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48584de576676619_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5" name="Google Shape;275;g48584de576676619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48584de576676619_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8" name="Google Shape;288;g48584de576676619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48584de576676619_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4" name="Google Shape;304;g48584de576676619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2" name="Google Shape;31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5" name="Google Shape;32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48584de576676619_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3" name="Google Shape;333;g48584de576676619_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48584de576676619_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g48584de576676619_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48584de576676619_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9" name="Google Shape;349;g48584de576676619_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48584de576676619_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2" name="Google Shape;362;g48584de576676619_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60af370078_0_1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0" name="Google Shape;370;g360af370078_0_1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4" name="Google Shape;384;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15" name="Shape 15"/>
        <p:cNvGrpSpPr/>
        <p:nvPr/>
      </p:nvGrpSpPr>
      <p:grpSpPr>
        <a:xfrm>
          <a:off x="0" y="0"/>
          <a:ext cx="0" cy="0"/>
          <a:chOff x="0" y="0"/>
          <a:chExt cx="0" cy="0"/>
        </a:xfrm>
      </p:grpSpPr>
      <p:sp>
        <p:nvSpPr>
          <p:cNvPr id="16" name="Google Shape;16;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9" name="Shape 19"/>
        <p:cNvGrpSpPr/>
        <p:nvPr/>
      </p:nvGrpSpPr>
      <p:grpSpPr>
        <a:xfrm>
          <a:off x="0" y="0"/>
          <a:ext cx="0" cy="0"/>
          <a:chOff x="0" y="0"/>
          <a:chExt cx="0" cy="0"/>
        </a:xfrm>
      </p:grpSpPr>
      <p:sp>
        <p:nvSpPr>
          <p:cNvPr id="20" name="Google Shape;20;p2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2" name="Google Shape;22;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5" name="Shape 25"/>
        <p:cNvGrpSpPr/>
        <p:nvPr/>
      </p:nvGrpSpPr>
      <p:grpSpPr>
        <a:xfrm>
          <a:off x="0" y="0"/>
          <a:ext cx="0" cy="0"/>
          <a:chOff x="0" y="0"/>
          <a:chExt cx="0" cy="0"/>
        </a:xfrm>
      </p:grpSpPr>
      <p:sp>
        <p:nvSpPr>
          <p:cNvPr id="26" name="Google Shape;26;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1" name="Shape 31"/>
        <p:cNvGrpSpPr/>
        <p:nvPr/>
      </p:nvGrpSpPr>
      <p:grpSpPr>
        <a:xfrm>
          <a:off x="0" y="0"/>
          <a:ext cx="0" cy="0"/>
          <a:chOff x="0" y="0"/>
          <a:chExt cx="0" cy="0"/>
        </a:xfrm>
      </p:grpSpPr>
      <p:sp>
        <p:nvSpPr>
          <p:cNvPr id="32" name="Google Shape;32;g1f2e196bda9_0_8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33" name="Google Shape;33;g1f2e196bda9_0_89"/>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34" name="Google Shape;34;g1f2e196bda9_0_89"/>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35" name="Shape 35"/>
        <p:cNvGrpSpPr/>
        <p:nvPr/>
      </p:nvGrpSpPr>
      <p:grpSpPr>
        <a:xfrm>
          <a:off x="0" y="0"/>
          <a:ext cx="0" cy="0"/>
          <a:chOff x="0" y="0"/>
          <a:chExt cx="0" cy="0"/>
        </a:xfrm>
      </p:grpSpPr>
      <p:sp>
        <p:nvSpPr>
          <p:cNvPr id="36" name="Google Shape;36;p2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8" name="Google Shape;38;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41" name="Shape 41"/>
        <p:cNvGrpSpPr/>
        <p:nvPr/>
      </p:nvGrpSpPr>
      <p:grpSpPr>
        <a:xfrm>
          <a:off x="0" y="0"/>
          <a:ext cx="0" cy="0"/>
          <a:chOff x="0" y="0"/>
          <a:chExt cx="0" cy="0"/>
        </a:xfrm>
      </p:grpSpPr>
      <p:sp>
        <p:nvSpPr>
          <p:cNvPr id="42" name="Google Shape;42;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8" name="Shape 48"/>
        <p:cNvGrpSpPr/>
        <p:nvPr/>
      </p:nvGrpSpPr>
      <p:grpSpPr>
        <a:xfrm>
          <a:off x="0" y="0"/>
          <a:ext cx="0" cy="0"/>
          <a:chOff x="0" y="0"/>
          <a:chExt cx="0" cy="0"/>
        </a:xfrm>
      </p:grpSpPr>
      <p:sp>
        <p:nvSpPr>
          <p:cNvPr id="49" name="Google Shape;49;p2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2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2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2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57" name="Shape 57"/>
        <p:cNvGrpSpPr/>
        <p:nvPr/>
      </p:nvGrpSpPr>
      <p:grpSpPr>
        <a:xfrm>
          <a:off x="0" y="0"/>
          <a:ext cx="0" cy="0"/>
          <a:chOff x="0" y="0"/>
          <a:chExt cx="0" cy="0"/>
        </a:xfrm>
      </p:grpSpPr>
      <p:sp>
        <p:nvSpPr>
          <p:cNvPr id="58" name="Google Shape;58;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62" name="Shape 62"/>
        <p:cNvGrpSpPr/>
        <p:nvPr/>
      </p:nvGrpSpPr>
      <p:grpSpPr>
        <a:xfrm>
          <a:off x="0" y="0"/>
          <a:ext cx="0" cy="0"/>
          <a:chOff x="0" y="0"/>
          <a:chExt cx="0" cy="0"/>
        </a:xfrm>
      </p:grpSpPr>
      <p:sp>
        <p:nvSpPr>
          <p:cNvPr id="63" name="Google Shape;63;p3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5" name="Google Shape;65;p3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6" name="Google Shape;66;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9" name="Shape 69"/>
        <p:cNvGrpSpPr/>
        <p:nvPr/>
      </p:nvGrpSpPr>
      <p:grpSpPr>
        <a:xfrm>
          <a:off x="0" y="0"/>
          <a:ext cx="0" cy="0"/>
          <a:chOff x="0" y="0"/>
          <a:chExt cx="0" cy="0"/>
        </a:xfrm>
      </p:grpSpPr>
      <p:sp>
        <p:nvSpPr>
          <p:cNvPr id="70" name="Google Shape;70;p3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2"/>
          <p:cNvSpPr/>
          <p:nvPr>
            <p:ph idx="2" type="pic"/>
          </p:nvPr>
        </p:nvSpPr>
        <p:spPr>
          <a:xfrm>
            <a:off x="5183188" y="987425"/>
            <a:ext cx="6172200" cy="4873625"/>
          </a:xfrm>
          <a:prstGeom prst="rect">
            <a:avLst/>
          </a:prstGeom>
          <a:noFill/>
          <a:ln>
            <a:noFill/>
          </a:ln>
        </p:spPr>
      </p:sp>
      <p:sp>
        <p:nvSpPr>
          <p:cNvPr id="72" name="Google Shape;72;p3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3" name="Google Shape;73;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6" name="Shape 76"/>
        <p:cNvGrpSpPr/>
        <p:nvPr/>
      </p:nvGrpSpPr>
      <p:grpSpPr>
        <a:xfrm>
          <a:off x="0" y="0"/>
          <a:ext cx="0" cy="0"/>
          <a:chOff x="0" y="0"/>
          <a:chExt cx="0" cy="0"/>
        </a:xfrm>
      </p:grpSpPr>
      <p:sp>
        <p:nvSpPr>
          <p:cNvPr id="77" name="Google Shape;77;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 name="Google Shape;79;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82" name="Shape 82"/>
        <p:cNvGrpSpPr/>
        <p:nvPr/>
      </p:nvGrpSpPr>
      <p:grpSpPr>
        <a:xfrm>
          <a:off x="0" y="0"/>
          <a:ext cx="0" cy="0"/>
          <a:chOff x="0" y="0"/>
          <a:chExt cx="0" cy="0"/>
        </a:xfrm>
      </p:grpSpPr>
      <p:sp>
        <p:nvSpPr>
          <p:cNvPr id="83" name="Google Shape;83;p3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3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
          <p:cNvPicPr preferRelativeResize="0"/>
          <p:nvPr/>
        </p:nvPicPr>
        <p:blipFill rotWithShape="1">
          <a:blip r:embed="rId3">
            <a:alphaModFix amt="62000"/>
          </a:blip>
          <a:srcRect b="0" l="0" r="0" t="0"/>
          <a:stretch/>
        </p:blipFill>
        <p:spPr>
          <a:xfrm>
            <a:off x="11269" y="1"/>
            <a:ext cx="12169465" cy="6858001"/>
          </a:xfrm>
          <a:prstGeom prst="rect">
            <a:avLst/>
          </a:prstGeom>
          <a:noFill/>
          <a:ln>
            <a:noFill/>
          </a:ln>
        </p:spPr>
      </p:pic>
      <p:graphicFrame>
        <p:nvGraphicFramePr>
          <p:cNvPr id="93" name="Google Shape;93;p1"/>
          <p:cNvGraphicFramePr/>
          <p:nvPr/>
        </p:nvGraphicFramePr>
        <p:xfrm>
          <a:off x="6493942" y="1328692"/>
          <a:ext cx="3000000" cy="3000000"/>
        </p:xfrm>
        <a:graphic>
          <a:graphicData uri="http://schemas.openxmlformats.org/drawingml/2006/table">
            <a:tbl>
              <a:tblPr>
                <a:noFill/>
                <a:tableStyleId>{8429A345-8295-4AE3-9F6D-F388C2C0667B}</a:tableStyleId>
              </a:tblPr>
              <a:tblGrid>
                <a:gridCol w="2265425"/>
                <a:gridCol w="3241550"/>
              </a:tblGrid>
              <a:tr h="609550">
                <a:tc>
                  <a:txBody>
                    <a:bodyPr/>
                    <a:lstStyle/>
                    <a:p>
                      <a:pPr indent="0" lvl="0" marL="0" marR="0" rtl="0" algn="l">
                        <a:lnSpc>
                          <a:spcPct val="100000"/>
                        </a:lnSpc>
                        <a:spcBef>
                          <a:spcPts val="0"/>
                        </a:spcBef>
                        <a:spcAft>
                          <a:spcPts val="0"/>
                        </a:spcAft>
                        <a:buClr>
                          <a:schemeClr val="dk1"/>
                        </a:buClr>
                        <a:buSzPts val="1900"/>
                        <a:buFont typeface="Calibri"/>
                        <a:buNone/>
                      </a:pPr>
                      <a:r>
                        <a:rPr b="1" lang="en-US" sz="1900" u="none" cap="none" strike="noStrike">
                          <a:solidFill>
                            <a:schemeClr val="dk1"/>
                          </a:solidFill>
                        </a:rPr>
                        <a:t>Día, Fecha:</a:t>
                      </a:r>
                      <a:endParaRPr b="1" sz="1900" u="none" cap="none" strike="noStrike">
                        <a:solidFill>
                          <a:schemeClr val="dk1"/>
                        </a:solidFill>
                      </a:endParaRPr>
                    </a:p>
                  </a:txBody>
                  <a:tcPr marT="121900" marB="121900" marR="121900" marL="121900"/>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Jueves, 03/10/2024</a:t>
                      </a:r>
                      <a:endParaRPr sz="2400" u="none" cap="none" strike="noStrike"/>
                    </a:p>
                  </a:txBody>
                  <a:tcPr marT="121900" marB="121900" marR="121900" marL="121900"/>
                </a:tc>
              </a:tr>
              <a:tr h="609550">
                <a:tc>
                  <a:txBody>
                    <a:bodyPr/>
                    <a:lstStyle/>
                    <a:p>
                      <a:pPr indent="0" lvl="0" marL="0" marR="0" rtl="0" algn="l">
                        <a:lnSpc>
                          <a:spcPct val="100000"/>
                        </a:lnSpc>
                        <a:spcBef>
                          <a:spcPts val="0"/>
                        </a:spcBef>
                        <a:spcAft>
                          <a:spcPts val="0"/>
                        </a:spcAft>
                        <a:buClr>
                          <a:schemeClr val="dk1"/>
                        </a:buClr>
                        <a:buSzPts val="1900"/>
                        <a:buFont typeface="Calibri"/>
                        <a:buNone/>
                      </a:pPr>
                      <a:r>
                        <a:rPr b="1" lang="en-US" sz="1900" u="none" cap="none" strike="noStrike">
                          <a:solidFill>
                            <a:schemeClr val="dk1"/>
                          </a:solidFill>
                        </a:rPr>
                        <a:t>Hora de inicio:</a:t>
                      </a:r>
                      <a:endParaRPr b="1" sz="1900" u="none" cap="none" strike="noStrike">
                        <a:solidFill>
                          <a:schemeClr val="dk1"/>
                        </a:solidFill>
                      </a:endParaRPr>
                    </a:p>
                  </a:txBody>
                  <a:tcPr marT="121900" marB="121900" marR="121900" marL="121900"/>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17:20</a:t>
                      </a:r>
                      <a:endParaRPr sz="2400" u="none" cap="none" strike="noStrike"/>
                    </a:p>
                  </a:txBody>
                  <a:tcPr marT="121900" marB="121900" marR="121900" marL="121900"/>
                </a:tc>
              </a:tr>
            </a:tbl>
          </a:graphicData>
        </a:graphic>
      </p:graphicFrame>
      <p:sp>
        <p:nvSpPr>
          <p:cNvPr id="94" name="Google Shape;94;p1"/>
          <p:cNvSpPr txBox="1"/>
          <p:nvPr/>
        </p:nvSpPr>
        <p:spPr>
          <a:xfrm>
            <a:off x="1920233" y="3011067"/>
            <a:ext cx="9056100" cy="7593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333"/>
              <a:buFont typeface="Arial"/>
              <a:buNone/>
            </a:pPr>
            <a:r>
              <a:rPr b="0" i="0" lang="en-US" sz="3333" u="none" cap="none" strike="noStrike">
                <a:solidFill>
                  <a:schemeClr val="dk1"/>
                </a:solidFill>
                <a:latin typeface="Calibri"/>
                <a:ea typeface="Calibri"/>
                <a:cs typeface="Calibri"/>
                <a:sym typeface="Calibri"/>
              </a:rPr>
              <a:t>Software Avanzado Sección A</a:t>
            </a:r>
            <a:endParaRPr b="0" i="0" sz="3333" u="none" cap="none" strike="noStrike">
              <a:solidFill>
                <a:schemeClr val="dk1"/>
              </a:solidFill>
              <a:latin typeface="Calibri"/>
              <a:ea typeface="Calibri"/>
              <a:cs typeface="Calibri"/>
              <a:sym typeface="Calibri"/>
            </a:endParaRPr>
          </a:p>
        </p:txBody>
      </p:sp>
      <p:sp>
        <p:nvSpPr>
          <p:cNvPr id="95" name="Google Shape;95;p1"/>
          <p:cNvSpPr txBox="1"/>
          <p:nvPr/>
        </p:nvSpPr>
        <p:spPr>
          <a:xfrm>
            <a:off x="2371600" y="3867668"/>
            <a:ext cx="7448800" cy="656614"/>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2667"/>
              <a:buFont typeface="Arial"/>
              <a:buNone/>
            </a:pPr>
            <a:r>
              <a:rPr b="0" i="0" lang="en-US" sz="2667" u="none" cap="none" strike="noStrike">
                <a:solidFill>
                  <a:schemeClr val="dk1"/>
                </a:solidFill>
                <a:latin typeface="Calibri"/>
                <a:ea typeface="Calibri"/>
                <a:cs typeface="Calibri"/>
                <a:sym typeface="Calibri"/>
              </a:rPr>
              <a:t>Diego Molina</a:t>
            </a:r>
            <a:endParaRPr b="0" i="0" sz="2667"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g360af370078_0_0"/>
          <p:cNvSpPr/>
          <p:nvPr/>
        </p:nvSpPr>
        <p:spPr>
          <a:xfrm>
            <a:off x="8360873" y="0"/>
            <a:ext cx="3835916" cy="1142613"/>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101" name="Google Shape;101;g360af370078_0_0"/>
          <p:cNvSpPr/>
          <p:nvPr/>
        </p:nvSpPr>
        <p:spPr>
          <a:xfrm>
            <a:off x="8360873" y="4014585"/>
            <a:ext cx="2776923" cy="2746629"/>
          </a:xfrm>
          <a:custGeom>
            <a:rect b="b" l="l" r="r" t="t"/>
            <a:pathLst>
              <a:path extrusionOk="0" h="4114800" w="4160184">
                <a:moveTo>
                  <a:pt x="0" y="0"/>
                </a:moveTo>
                <a:lnTo>
                  <a:pt x="4160184" y="0"/>
                </a:lnTo>
                <a:lnTo>
                  <a:pt x="4160184" y="4114800"/>
                </a:lnTo>
                <a:lnTo>
                  <a:pt x="0" y="4114800"/>
                </a:lnTo>
                <a:lnTo>
                  <a:pt x="0" y="0"/>
                </a:lnTo>
                <a:close/>
              </a:path>
            </a:pathLst>
          </a:custGeom>
          <a:blipFill rotWithShape="1">
            <a:blip r:embed="rId4">
              <a:alphaModFix/>
            </a:blip>
            <a:stretch>
              <a:fillRect b="0" l="0" r="0" t="0"/>
            </a:stretch>
          </a:blipFill>
          <a:ln>
            <a:noFill/>
          </a:ln>
        </p:spPr>
      </p:sp>
      <p:sp>
        <p:nvSpPr>
          <p:cNvPr id="102" name="Google Shape;102;g360af370078_0_0"/>
          <p:cNvSpPr txBox="1"/>
          <p:nvPr/>
        </p:nvSpPr>
        <p:spPr>
          <a:xfrm>
            <a:off x="685794" y="4235339"/>
            <a:ext cx="3811500" cy="12192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300"/>
              <a:buFont typeface="Arial"/>
              <a:buNone/>
            </a:pPr>
            <a:r>
              <a:rPr b="1" lang="en-US" sz="3300">
                <a:solidFill>
                  <a:srgbClr val="131416"/>
                </a:solidFill>
                <a:latin typeface="Open Sans"/>
                <a:ea typeface="Open Sans"/>
                <a:cs typeface="Open Sans"/>
                <a:sym typeface="Open Sans"/>
              </a:rPr>
              <a:t>Software Avanzado</a:t>
            </a:r>
            <a:endParaRPr b="1" sz="3300">
              <a:solidFill>
                <a:srgbClr val="131416"/>
              </a:solidFill>
              <a:latin typeface="Open Sans"/>
              <a:ea typeface="Open Sans"/>
              <a:cs typeface="Open Sans"/>
              <a:sym typeface="Open Sans"/>
            </a:endParaRPr>
          </a:p>
        </p:txBody>
      </p:sp>
      <p:sp>
        <p:nvSpPr>
          <p:cNvPr id="103" name="Google Shape;103;g360af370078_0_0"/>
          <p:cNvSpPr txBox="1"/>
          <p:nvPr/>
        </p:nvSpPr>
        <p:spPr>
          <a:xfrm>
            <a:off x="1699553" y="2092633"/>
            <a:ext cx="8250000" cy="22533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6100"/>
              <a:buFont typeface="Arial"/>
              <a:buNone/>
            </a:pPr>
            <a:r>
              <a:rPr b="1" lang="en-US" sz="6100">
                <a:solidFill>
                  <a:srgbClr val="131416"/>
                </a:solidFill>
                <a:latin typeface="Open Sans"/>
                <a:ea typeface="Open Sans"/>
                <a:cs typeface="Open Sans"/>
                <a:sym typeface="Open Sans"/>
              </a:rPr>
              <a:t>DevOps: Build &amp; Testing</a:t>
            </a:r>
            <a:endParaRPr b="0" i="0" sz="900" u="none" cap="none" strike="noStrike">
              <a:solidFill>
                <a:srgbClr val="000000"/>
              </a:solidFill>
              <a:latin typeface="Arial"/>
              <a:ea typeface="Arial"/>
              <a:cs typeface="Arial"/>
              <a:sym typeface="Arial"/>
            </a:endParaRPr>
          </a:p>
        </p:txBody>
      </p:sp>
      <p:sp>
        <p:nvSpPr>
          <p:cNvPr id="104" name="Google Shape;104;g360af370078_0_0"/>
          <p:cNvSpPr txBox="1"/>
          <p:nvPr/>
        </p:nvSpPr>
        <p:spPr>
          <a:xfrm>
            <a:off x="685794" y="5483392"/>
            <a:ext cx="4654200" cy="6282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1700"/>
              <a:buFont typeface="Arial"/>
              <a:buNone/>
            </a:pPr>
            <a:r>
              <a:rPr b="1" i="0" lang="en-US" sz="1700" u="none" cap="none" strike="noStrike">
                <a:solidFill>
                  <a:srgbClr val="131416"/>
                </a:solidFill>
                <a:latin typeface="Open Sans"/>
                <a:ea typeface="Open Sans"/>
                <a:cs typeface="Open Sans"/>
                <a:sym typeface="Open Sans"/>
              </a:rPr>
              <a:t>Escuela de Ingenieria de Ciencias Y Sistemas</a:t>
            </a:r>
            <a:endParaRPr b="1" i="0" sz="1700" u="none" cap="none" strike="noStrike">
              <a:solidFill>
                <a:srgbClr val="131416"/>
              </a:solidFill>
              <a:latin typeface="Open Sans"/>
              <a:ea typeface="Open Sans"/>
              <a:cs typeface="Open Sans"/>
              <a:sym typeface="Open Sans"/>
            </a:endParaRPr>
          </a:p>
        </p:txBody>
      </p:sp>
      <p:sp>
        <p:nvSpPr>
          <p:cNvPr id="105" name="Google Shape;105;g360af370078_0_0"/>
          <p:cNvSpPr txBox="1"/>
          <p:nvPr/>
        </p:nvSpPr>
        <p:spPr>
          <a:xfrm>
            <a:off x="685800" y="6140450"/>
            <a:ext cx="4445100" cy="2616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1700"/>
              <a:buFont typeface="Arial"/>
              <a:buNone/>
            </a:pPr>
            <a:r>
              <a:rPr b="1" i="0" lang="en-US" sz="1700" u="none" cap="none" strike="noStrike">
                <a:solidFill>
                  <a:srgbClr val="131416"/>
                </a:solidFill>
                <a:latin typeface="Open Sans"/>
                <a:ea typeface="Open Sans"/>
                <a:cs typeface="Open Sans"/>
                <a:sym typeface="Open Sans"/>
              </a:rPr>
              <a:t>Facultad de Ingenieria</a:t>
            </a:r>
            <a:endParaRPr b="1" i="0" sz="1700" u="none" cap="none" strike="noStrike">
              <a:solidFill>
                <a:srgbClr val="131416"/>
              </a:solidFill>
              <a:latin typeface="Open Sans"/>
              <a:ea typeface="Open Sans"/>
              <a:cs typeface="Open Sans"/>
              <a:sym typeface="Open Sans"/>
            </a:endParaRPr>
          </a:p>
        </p:txBody>
      </p:sp>
      <p:sp>
        <p:nvSpPr>
          <p:cNvPr id="106" name="Google Shape;106;g360af370078_0_0"/>
          <p:cNvSpPr txBox="1"/>
          <p:nvPr/>
        </p:nvSpPr>
        <p:spPr>
          <a:xfrm>
            <a:off x="152400" y="6392169"/>
            <a:ext cx="5410200" cy="261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1700"/>
              <a:buFont typeface="Arial"/>
              <a:buNone/>
            </a:pPr>
            <a:r>
              <a:rPr b="1" i="0" lang="en-US" sz="1700" u="none" cap="none" strike="noStrike">
                <a:solidFill>
                  <a:srgbClr val="131416"/>
                </a:solidFill>
                <a:latin typeface="Open Sans"/>
                <a:ea typeface="Open Sans"/>
                <a:cs typeface="Open Sans"/>
                <a:sym typeface="Open Sans"/>
              </a:rPr>
              <a:t>Universidad de San Carlos de Guatemala</a:t>
            </a:r>
            <a:endParaRPr b="0" i="0" sz="900" u="none" cap="none" strike="noStrike">
              <a:solidFill>
                <a:srgbClr val="000000"/>
              </a:solidFill>
              <a:latin typeface="Arial"/>
              <a:ea typeface="Arial"/>
              <a:cs typeface="Arial"/>
              <a:sym typeface="Arial"/>
            </a:endParaRPr>
          </a:p>
        </p:txBody>
      </p:sp>
      <p:sp>
        <p:nvSpPr>
          <p:cNvPr id="107" name="Google Shape;107;g360af370078_0_0"/>
          <p:cNvSpPr txBox="1"/>
          <p:nvPr/>
        </p:nvSpPr>
        <p:spPr>
          <a:xfrm>
            <a:off x="8652721" y="4950693"/>
            <a:ext cx="2189700" cy="138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17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1" name="Shape 111"/>
        <p:cNvGrpSpPr/>
        <p:nvPr/>
      </p:nvGrpSpPr>
      <p:grpSpPr>
        <a:xfrm>
          <a:off x="0" y="0"/>
          <a:ext cx="0" cy="0"/>
          <a:chOff x="0" y="0"/>
          <a:chExt cx="0" cy="0"/>
        </a:xfrm>
      </p:grpSpPr>
      <p:sp>
        <p:nvSpPr>
          <p:cNvPr id="112" name="Google Shape;112;p3"/>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3" name="Google Shape;113;p3"/>
          <p:cNvSpPr/>
          <p:nvPr/>
        </p:nvSpPr>
        <p:spPr>
          <a:xfrm>
            <a:off x="-1" y="0"/>
            <a:ext cx="4818889" cy="6858000"/>
          </a:xfrm>
          <a:custGeom>
            <a:rect b="b" l="l" r="r" t="t"/>
            <a:pathLst>
              <a:path extrusionOk="0" h="6858000" w="4818889">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solidFill>
            <a:schemeClr val="lt1"/>
          </a:solidFill>
          <a:ln cap="flat" cmpd="sng" w="9525">
            <a:solidFill>
              <a:srgbClr val="EFEFEF"/>
            </a:solidFill>
            <a:prstDash val="solid"/>
            <a:miter lim="800000"/>
            <a:headEnd len="sm" w="sm" type="none"/>
            <a:tailEnd len="sm" w="sm" type="none"/>
          </a:ln>
          <a:effectLst>
            <a:outerShdw blurRad="88900" rotWithShape="0" algn="l" dist="38100">
              <a:srgbClr val="D8D8D8">
                <a:alpha val="48235"/>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4" name="Google Shape;114;p3"/>
          <p:cNvSpPr/>
          <p:nvPr/>
        </p:nvSpPr>
        <p:spPr>
          <a:xfrm>
            <a:off x="1" y="0"/>
            <a:ext cx="4811477" cy="6858000"/>
          </a:xfrm>
          <a:custGeom>
            <a:rect b="b" l="l" r="r" t="t"/>
            <a:pathLst>
              <a:path extrusionOk="0" h="6858000" w="4811477">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5" name="Google Shape;115;p3"/>
          <p:cNvSpPr txBox="1"/>
          <p:nvPr>
            <p:ph type="title"/>
          </p:nvPr>
        </p:nvSpPr>
        <p:spPr>
          <a:xfrm>
            <a:off x="621792" y="1161288"/>
            <a:ext cx="3602736" cy="45262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t>AGENDA</a:t>
            </a:r>
            <a:endParaRPr/>
          </a:p>
        </p:txBody>
      </p:sp>
      <p:sp>
        <p:nvSpPr>
          <p:cNvPr id="116" name="Google Shape;116;p3"/>
          <p:cNvSpPr/>
          <p:nvPr/>
        </p:nvSpPr>
        <p:spPr>
          <a:xfrm>
            <a:off x="0" y="3081528"/>
            <a:ext cx="128016" cy="704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117" name="Google Shape;117;p3"/>
          <p:cNvGrpSpPr/>
          <p:nvPr/>
        </p:nvGrpSpPr>
        <p:grpSpPr>
          <a:xfrm>
            <a:off x="5303520" y="682037"/>
            <a:ext cx="6364200" cy="5503190"/>
            <a:chOff x="0" y="5381"/>
            <a:chExt cx="6364200" cy="5503190"/>
          </a:xfrm>
        </p:grpSpPr>
        <p:sp>
          <p:nvSpPr>
            <p:cNvPr id="118" name="Google Shape;118;p3"/>
            <p:cNvSpPr/>
            <p:nvPr/>
          </p:nvSpPr>
          <p:spPr>
            <a:xfrm>
              <a:off x="0" y="5381"/>
              <a:ext cx="6364200" cy="500400"/>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3"/>
            <p:cNvSpPr/>
            <p:nvPr/>
          </p:nvSpPr>
          <p:spPr>
            <a:xfrm>
              <a:off x="577822" y="5381"/>
              <a:ext cx="5785800" cy="5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3"/>
            <p:cNvSpPr txBox="1"/>
            <p:nvPr/>
          </p:nvSpPr>
          <p:spPr>
            <a:xfrm>
              <a:off x="577822" y="5381"/>
              <a:ext cx="5785800" cy="500400"/>
            </a:xfrm>
            <a:prstGeom prst="rect">
              <a:avLst/>
            </a:prstGeom>
            <a:noFill/>
            <a:ln>
              <a:noFill/>
            </a:ln>
          </p:spPr>
          <p:txBody>
            <a:bodyPr anchorCtr="0" anchor="ctr" bIns="52925" lIns="52925" spcFirstLastPara="1" rIns="52925" wrap="square" tIns="52925">
              <a:noAutofit/>
            </a:bodyPr>
            <a:lstStyle/>
            <a:p>
              <a:pPr indent="0" lvl="0" marL="0" marR="0" rtl="0" algn="l">
                <a:lnSpc>
                  <a:spcPct val="100000"/>
                </a:lnSpc>
                <a:spcBef>
                  <a:spcPts val="0"/>
                </a:spcBef>
                <a:spcAft>
                  <a:spcPts val="0"/>
                </a:spcAft>
                <a:buClr>
                  <a:schemeClr val="dk1"/>
                </a:buClr>
                <a:buSzPts val="1600"/>
                <a:buFont typeface="Calibri"/>
                <a:buNone/>
              </a:pPr>
              <a:r>
                <a:rPr b="0" i="0" lang="en-US" sz="1600" u="none" cap="none" strike="noStrike">
                  <a:solidFill>
                    <a:schemeClr val="dk1"/>
                  </a:solidFill>
                  <a:latin typeface="Calibri"/>
                  <a:ea typeface="Calibri"/>
                  <a:cs typeface="Calibri"/>
                  <a:sym typeface="Calibri"/>
                </a:rPr>
                <a:t>Anuncios generales</a:t>
              </a:r>
              <a:endParaRPr b="0" i="0" sz="1600" u="none" cap="none" strike="noStrike">
                <a:solidFill>
                  <a:schemeClr val="dk1"/>
                </a:solidFill>
                <a:latin typeface="Calibri"/>
                <a:ea typeface="Calibri"/>
                <a:cs typeface="Calibri"/>
                <a:sym typeface="Calibri"/>
              </a:endParaRPr>
            </a:p>
          </p:txBody>
        </p:sp>
        <p:sp>
          <p:nvSpPr>
            <p:cNvPr id="121" name="Google Shape;121;p3"/>
            <p:cNvSpPr/>
            <p:nvPr/>
          </p:nvSpPr>
          <p:spPr>
            <a:xfrm>
              <a:off x="0" y="630730"/>
              <a:ext cx="6364200" cy="500400"/>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3"/>
            <p:cNvSpPr/>
            <p:nvPr/>
          </p:nvSpPr>
          <p:spPr>
            <a:xfrm>
              <a:off x="577822" y="630730"/>
              <a:ext cx="5785800" cy="5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3"/>
            <p:cNvSpPr txBox="1"/>
            <p:nvPr/>
          </p:nvSpPr>
          <p:spPr>
            <a:xfrm>
              <a:off x="577822" y="630730"/>
              <a:ext cx="5785800" cy="500400"/>
            </a:xfrm>
            <a:prstGeom prst="rect">
              <a:avLst/>
            </a:prstGeom>
            <a:noFill/>
            <a:ln>
              <a:noFill/>
            </a:ln>
          </p:spPr>
          <p:txBody>
            <a:bodyPr anchorCtr="0" anchor="ctr" bIns="52925" lIns="52925" spcFirstLastPara="1" rIns="52925" wrap="square" tIns="52925">
              <a:noAutofit/>
            </a:bodyPr>
            <a:lstStyle/>
            <a:p>
              <a:pPr indent="0" lvl="0" marL="0" marR="0" rtl="0" algn="l">
                <a:lnSpc>
                  <a:spcPct val="100000"/>
                </a:lnSpc>
                <a:spcBef>
                  <a:spcPts val="0"/>
                </a:spcBef>
                <a:spcAft>
                  <a:spcPts val="0"/>
                </a:spcAft>
                <a:buClr>
                  <a:schemeClr val="dk1"/>
                </a:buClr>
                <a:buSzPts val="1600"/>
                <a:buFont typeface="Calibri"/>
                <a:buNone/>
              </a:pPr>
              <a:r>
                <a:rPr b="0" i="0" lang="en-US" sz="1600" u="none" cap="none" strike="noStrike">
                  <a:solidFill>
                    <a:schemeClr val="dk1"/>
                  </a:solidFill>
                  <a:latin typeface="Calibri"/>
                  <a:ea typeface="Calibri"/>
                  <a:cs typeface="Calibri"/>
                  <a:sym typeface="Calibri"/>
                </a:rPr>
                <a:t>Espacio para dudas</a:t>
              </a:r>
              <a:endParaRPr b="0" i="0" sz="1600" u="none" cap="none" strike="noStrike">
                <a:solidFill>
                  <a:schemeClr val="dk1"/>
                </a:solidFill>
                <a:latin typeface="Calibri"/>
                <a:ea typeface="Calibri"/>
                <a:cs typeface="Calibri"/>
                <a:sym typeface="Calibri"/>
              </a:endParaRPr>
            </a:p>
          </p:txBody>
        </p:sp>
        <p:sp>
          <p:nvSpPr>
            <p:cNvPr id="124" name="Google Shape;124;p3"/>
            <p:cNvSpPr/>
            <p:nvPr/>
          </p:nvSpPr>
          <p:spPr>
            <a:xfrm>
              <a:off x="0" y="1256079"/>
              <a:ext cx="6364200" cy="500400"/>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3"/>
            <p:cNvSpPr/>
            <p:nvPr/>
          </p:nvSpPr>
          <p:spPr>
            <a:xfrm>
              <a:off x="577822" y="1256079"/>
              <a:ext cx="5785800" cy="5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3"/>
            <p:cNvSpPr txBox="1"/>
            <p:nvPr/>
          </p:nvSpPr>
          <p:spPr>
            <a:xfrm>
              <a:off x="577822" y="1256079"/>
              <a:ext cx="5785800" cy="500400"/>
            </a:xfrm>
            <a:prstGeom prst="rect">
              <a:avLst/>
            </a:prstGeom>
            <a:noFill/>
            <a:ln>
              <a:noFill/>
            </a:ln>
          </p:spPr>
          <p:txBody>
            <a:bodyPr anchorCtr="0" anchor="ctr" bIns="52925" lIns="52925" spcFirstLastPara="1" rIns="52925" wrap="square" tIns="52925">
              <a:noAutofit/>
            </a:bodyPr>
            <a:lstStyle/>
            <a:p>
              <a:pPr indent="0" lvl="0" marL="0" marR="0" rtl="0" algn="l">
                <a:lnSpc>
                  <a:spcPct val="100000"/>
                </a:lnSpc>
                <a:spcBef>
                  <a:spcPts val="0"/>
                </a:spcBef>
                <a:spcAft>
                  <a:spcPts val="0"/>
                </a:spcAft>
                <a:buClr>
                  <a:schemeClr val="dk1"/>
                </a:buClr>
                <a:buSzPts val="1600"/>
                <a:buFont typeface="Calibri"/>
                <a:buNone/>
              </a:pPr>
              <a:r>
                <a:rPr b="0" i="0" lang="en-US" sz="1600" u="none" cap="none" strike="noStrike">
                  <a:solidFill>
                    <a:schemeClr val="dk1"/>
                  </a:solidFill>
                  <a:latin typeface="Calibri"/>
                  <a:ea typeface="Calibri"/>
                  <a:cs typeface="Calibri"/>
                  <a:sym typeface="Calibri"/>
                </a:rPr>
                <a:t>Planificacion y codificacion</a:t>
              </a:r>
              <a:endParaRPr b="0" i="0" sz="1600" u="none" cap="none" strike="noStrike">
                <a:solidFill>
                  <a:schemeClr val="dk1"/>
                </a:solidFill>
                <a:latin typeface="Calibri"/>
                <a:ea typeface="Calibri"/>
                <a:cs typeface="Calibri"/>
                <a:sym typeface="Calibri"/>
              </a:endParaRPr>
            </a:p>
          </p:txBody>
        </p:sp>
        <p:sp>
          <p:nvSpPr>
            <p:cNvPr id="127" name="Google Shape;127;p3"/>
            <p:cNvSpPr/>
            <p:nvPr/>
          </p:nvSpPr>
          <p:spPr>
            <a:xfrm>
              <a:off x="0" y="1881427"/>
              <a:ext cx="6364200" cy="500400"/>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3"/>
            <p:cNvSpPr/>
            <p:nvPr/>
          </p:nvSpPr>
          <p:spPr>
            <a:xfrm>
              <a:off x="577822" y="1881427"/>
              <a:ext cx="5785800" cy="5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3"/>
            <p:cNvSpPr/>
            <p:nvPr/>
          </p:nvSpPr>
          <p:spPr>
            <a:xfrm>
              <a:off x="0" y="2506776"/>
              <a:ext cx="6364200" cy="500400"/>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3"/>
            <p:cNvSpPr/>
            <p:nvPr/>
          </p:nvSpPr>
          <p:spPr>
            <a:xfrm>
              <a:off x="577822" y="2506776"/>
              <a:ext cx="5785800" cy="5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3"/>
            <p:cNvSpPr txBox="1"/>
            <p:nvPr/>
          </p:nvSpPr>
          <p:spPr>
            <a:xfrm>
              <a:off x="577822" y="2506776"/>
              <a:ext cx="5785800" cy="500400"/>
            </a:xfrm>
            <a:prstGeom prst="rect">
              <a:avLst/>
            </a:prstGeom>
            <a:noFill/>
            <a:ln>
              <a:noFill/>
            </a:ln>
          </p:spPr>
          <p:txBody>
            <a:bodyPr anchorCtr="0" anchor="ctr" bIns="52925" lIns="52925" spcFirstLastPara="1" rIns="52925" wrap="square" tIns="52925">
              <a:noAutofit/>
            </a:bodyPr>
            <a:lstStyle/>
            <a:p>
              <a:pPr indent="0" lvl="0" marL="0" marR="0" rtl="0" algn="l">
                <a:lnSpc>
                  <a:spcPct val="100000"/>
                </a:lnSpc>
                <a:spcBef>
                  <a:spcPts val="0"/>
                </a:spcBef>
                <a:spcAft>
                  <a:spcPts val="0"/>
                </a:spcAft>
                <a:buClr>
                  <a:schemeClr val="dk1"/>
                </a:buClr>
                <a:buSzPts val="1600"/>
                <a:buFont typeface="Calibri"/>
                <a:buNone/>
              </a:pPr>
              <a:r>
                <a:rPr b="0" i="0" lang="en-US" sz="1600" u="none" cap="none" strike="noStrike">
                  <a:solidFill>
                    <a:schemeClr val="dk1"/>
                  </a:solidFill>
                  <a:latin typeface="Calibri"/>
                  <a:ea typeface="Calibri"/>
                  <a:cs typeface="Calibri"/>
                  <a:sym typeface="Calibri"/>
                </a:rPr>
                <a:t>Testing Unitario</a:t>
              </a:r>
              <a:endParaRPr b="0" i="0" sz="1400" u="none" cap="none" strike="noStrike">
                <a:solidFill>
                  <a:srgbClr val="000000"/>
                </a:solidFill>
                <a:latin typeface="Arial"/>
                <a:ea typeface="Arial"/>
                <a:cs typeface="Arial"/>
                <a:sym typeface="Arial"/>
              </a:endParaRPr>
            </a:p>
          </p:txBody>
        </p:sp>
        <p:sp>
          <p:nvSpPr>
            <p:cNvPr id="132" name="Google Shape;132;p3"/>
            <p:cNvSpPr/>
            <p:nvPr/>
          </p:nvSpPr>
          <p:spPr>
            <a:xfrm>
              <a:off x="0" y="3132125"/>
              <a:ext cx="6364200" cy="500400"/>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3"/>
            <p:cNvSpPr/>
            <p:nvPr/>
          </p:nvSpPr>
          <p:spPr>
            <a:xfrm>
              <a:off x="577822" y="3132125"/>
              <a:ext cx="5785800" cy="5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3"/>
            <p:cNvSpPr txBox="1"/>
            <p:nvPr/>
          </p:nvSpPr>
          <p:spPr>
            <a:xfrm>
              <a:off x="577822" y="3132125"/>
              <a:ext cx="5785800" cy="500400"/>
            </a:xfrm>
            <a:prstGeom prst="rect">
              <a:avLst/>
            </a:prstGeom>
            <a:noFill/>
            <a:ln>
              <a:noFill/>
            </a:ln>
          </p:spPr>
          <p:txBody>
            <a:bodyPr anchorCtr="0" anchor="ctr" bIns="52925" lIns="52925" spcFirstLastPara="1" rIns="52925" wrap="square" tIns="52925">
              <a:noAutofit/>
            </a:bodyPr>
            <a:lstStyle/>
            <a:p>
              <a:pPr indent="0" lvl="0" marL="0" marR="0" rtl="0" algn="l">
                <a:lnSpc>
                  <a:spcPct val="100000"/>
                </a:lnSpc>
                <a:spcBef>
                  <a:spcPts val="0"/>
                </a:spcBef>
                <a:spcAft>
                  <a:spcPts val="0"/>
                </a:spcAft>
                <a:buClr>
                  <a:schemeClr val="dk1"/>
                </a:buClr>
                <a:buSzPts val="1600"/>
                <a:buFont typeface="Calibri"/>
                <a:buNone/>
              </a:pPr>
              <a:r>
                <a:rPr b="0" i="0" lang="en-US" sz="1600" u="none" cap="none" strike="noStrike">
                  <a:solidFill>
                    <a:schemeClr val="dk1"/>
                  </a:solidFill>
                  <a:latin typeface="Calibri"/>
                  <a:ea typeface="Calibri"/>
                  <a:cs typeface="Calibri"/>
                  <a:sym typeface="Calibri"/>
                </a:rPr>
                <a:t>Testing de integracion</a:t>
              </a:r>
              <a:endParaRPr b="0" i="0" sz="1400" u="none" cap="none" strike="noStrike">
                <a:solidFill>
                  <a:srgbClr val="000000"/>
                </a:solidFill>
                <a:latin typeface="Arial"/>
                <a:ea typeface="Arial"/>
                <a:cs typeface="Arial"/>
                <a:sym typeface="Arial"/>
              </a:endParaRPr>
            </a:p>
          </p:txBody>
        </p:sp>
        <p:sp>
          <p:nvSpPr>
            <p:cNvPr id="135" name="Google Shape;135;p3"/>
            <p:cNvSpPr/>
            <p:nvPr/>
          </p:nvSpPr>
          <p:spPr>
            <a:xfrm>
              <a:off x="0" y="3757473"/>
              <a:ext cx="6364200" cy="500400"/>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3"/>
            <p:cNvSpPr/>
            <p:nvPr/>
          </p:nvSpPr>
          <p:spPr>
            <a:xfrm>
              <a:off x="577822" y="3757473"/>
              <a:ext cx="5785800" cy="5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3"/>
            <p:cNvSpPr/>
            <p:nvPr/>
          </p:nvSpPr>
          <p:spPr>
            <a:xfrm>
              <a:off x="0" y="4382822"/>
              <a:ext cx="6364200" cy="500400"/>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3"/>
            <p:cNvSpPr/>
            <p:nvPr/>
          </p:nvSpPr>
          <p:spPr>
            <a:xfrm>
              <a:off x="577822" y="4382822"/>
              <a:ext cx="5785800" cy="5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3"/>
            <p:cNvSpPr txBox="1"/>
            <p:nvPr/>
          </p:nvSpPr>
          <p:spPr>
            <a:xfrm>
              <a:off x="577822" y="4382822"/>
              <a:ext cx="5785800" cy="500400"/>
            </a:xfrm>
            <a:prstGeom prst="rect">
              <a:avLst/>
            </a:prstGeom>
            <a:noFill/>
            <a:ln>
              <a:noFill/>
            </a:ln>
          </p:spPr>
          <p:txBody>
            <a:bodyPr anchorCtr="0" anchor="ctr" bIns="52925" lIns="52925" spcFirstLastPara="1" rIns="52925" wrap="square" tIns="52925">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400" u="none" cap="none" strike="noStrike">
                <a:solidFill>
                  <a:srgbClr val="000000"/>
                </a:solidFill>
                <a:latin typeface="Arial"/>
                <a:ea typeface="Arial"/>
                <a:cs typeface="Arial"/>
                <a:sym typeface="Arial"/>
              </a:endParaRPr>
            </a:p>
          </p:txBody>
        </p:sp>
        <p:sp>
          <p:nvSpPr>
            <p:cNvPr id="140" name="Google Shape;140;p3"/>
            <p:cNvSpPr/>
            <p:nvPr/>
          </p:nvSpPr>
          <p:spPr>
            <a:xfrm>
              <a:off x="0" y="5008171"/>
              <a:ext cx="6364200" cy="500400"/>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3"/>
            <p:cNvSpPr/>
            <p:nvPr/>
          </p:nvSpPr>
          <p:spPr>
            <a:xfrm>
              <a:off x="577822" y="5008171"/>
              <a:ext cx="2863800" cy="5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3"/>
            <p:cNvSpPr/>
            <p:nvPr/>
          </p:nvSpPr>
          <p:spPr>
            <a:xfrm>
              <a:off x="3441722" y="5008171"/>
              <a:ext cx="2922000" cy="5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3"/>
            <p:cNvSpPr txBox="1"/>
            <p:nvPr/>
          </p:nvSpPr>
          <p:spPr>
            <a:xfrm>
              <a:off x="577822" y="1881427"/>
              <a:ext cx="5785800" cy="500400"/>
            </a:xfrm>
            <a:prstGeom prst="rect">
              <a:avLst/>
            </a:prstGeom>
            <a:noFill/>
            <a:ln>
              <a:noFill/>
            </a:ln>
          </p:spPr>
          <p:txBody>
            <a:bodyPr anchorCtr="0" anchor="ctr" bIns="52925" lIns="52925" spcFirstLastPara="1" rIns="52925" wrap="square" tIns="52925">
              <a:noAutofit/>
            </a:bodyPr>
            <a:lstStyle/>
            <a:p>
              <a:pPr indent="0" lvl="0" marL="0" marR="0" rtl="0" algn="l">
                <a:lnSpc>
                  <a:spcPct val="100000"/>
                </a:lnSpc>
                <a:spcBef>
                  <a:spcPts val="0"/>
                </a:spcBef>
                <a:spcAft>
                  <a:spcPts val="0"/>
                </a:spcAft>
                <a:buClr>
                  <a:schemeClr val="dk1"/>
                </a:buClr>
                <a:buSzPts val="1600"/>
                <a:buFont typeface="Calibri"/>
                <a:buNone/>
              </a:pPr>
              <a:r>
                <a:rPr b="0" i="0" lang="en-US" sz="1600" u="none" cap="none" strike="noStrike">
                  <a:solidFill>
                    <a:schemeClr val="dk1"/>
                  </a:solidFill>
                  <a:latin typeface="Calibri"/>
                  <a:ea typeface="Calibri"/>
                  <a:cs typeface="Calibri"/>
                  <a:sym typeface="Calibri"/>
                </a:rPr>
                <a:t>QA</a:t>
              </a:r>
              <a:endParaRPr b="0" i="0" sz="1400" u="none" cap="none" strike="noStrike">
                <a:solidFill>
                  <a:srgbClr val="000000"/>
                </a:solidFill>
                <a:latin typeface="Arial"/>
                <a:ea typeface="Arial"/>
                <a:cs typeface="Arial"/>
                <a:sym typeface="Arial"/>
              </a:endParaRPr>
            </a:p>
          </p:txBody>
        </p:sp>
      </p:grpSp>
      <p:sp>
        <p:nvSpPr>
          <p:cNvPr id="144" name="Google Shape;144;p3"/>
          <p:cNvSpPr txBox="1"/>
          <p:nvPr/>
        </p:nvSpPr>
        <p:spPr>
          <a:xfrm>
            <a:off x="5881917" y="4456558"/>
            <a:ext cx="5785800" cy="500400"/>
          </a:xfrm>
          <a:prstGeom prst="rect">
            <a:avLst/>
          </a:prstGeom>
          <a:noFill/>
          <a:ln>
            <a:noFill/>
          </a:ln>
        </p:spPr>
        <p:txBody>
          <a:bodyPr anchorCtr="0" anchor="ctr" bIns="52925" lIns="52925" spcFirstLastPara="1" rIns="52925" wrap="square" tIns="52925">
            <a:noAutofit/>
          </a:bodyPr>
          <a:lstStyle/>
          <a:p>
            <a:pPr indent="0" lvl="0" marL="0" marR="0" rtl="0" algn="l">
              <a:lnSpc>
                <a:spcPct val="100000"/>
              </a:lnSpc>
              <a:spcBef>
                <a:spcPts val="0"/>
              </a:spcBef>
              <a:spcAft>
                <a:spcPts val="0"/>
              </a:spcAft>
              <a:buClr>
                <a:schemeClr val="dk1"/>
              </a:buClr>
              <a:buSzPts val="1600"/>
              <a:buFont typeface="Calibri"/>
              <a:buNone/>
            </a:pPr>
            <a:r>
              <a:rPr b="0" i="0" lang="en-US" sz="1600" u="none" cap="none" strike="noStrike">
                <a:solidFill>
                  <a:schemeClr val="dk1"/>
                </a:solidFill>
                <a:latin typeface="Calibri"/>
                <a:ea typeface="Calibri"/>
                <a:cs typeface="Calibri"/>
                <a:sym typeface="Calibri"/>
              </a:rPr>
              <a:t>Tipos de testing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9" name="Shape 149"/>
        <p:cNvGrpSpPr/>
        <p:nvPr/>
      </p:nvGrpSpPr>
      <p:grpSpPr>
        <a:xfrm>
          <a:off x="0" y="0"/>
          <a:ext cx="0" cy="0"/>
          <a:chOff x="0" y="0"/>
          <a:chExt cx="0" cy="0"/>
        </a:xfrm>
      </p:grpSpPr>
      <p:sp>
        <p:nvSpPr>
          <p:cNvPr id="150" name="Google Shape;150;p4"/>
          <p:cNvSpPr/>
          <p:nvPr/>
        </p:nvSpPr>
        <p:spPr>
          <a:xfrm>
            <a:off x="0" y="-1"/>
            <a:ext cx="12191695" cy="685202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1" name="Google Shape;151;p4"/>
          <p:cNvSpPr/>
          <p:nvPr/>
        </p:nvSpPr>
        <p:spPr>
          <a:xfrm>
            <a:off x="5" y="80300"/>
            <a:ext cx="121917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2" name="Google Shape;152;p4"/>
          <p:cNvSpPr txBox="1"/>
          <p:nvPr>
            <p:ph type="title"/>
          </p:nvPr>
        </p:nvSpPr>
        <p:spPr>
          <a:xfrm>
            <a:off x="6549203" y="2681111"/>
            <a:ext cx="4806000" cy="1297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chemeClr val="dk2"/>
              </a:buClr>
              <a:buSzPct val="100000"/>
              <a:buFont typeface="Calibri"/>
              <a:buNone/>
            </a:pPr>
            <a:r>
              <a:rPr lang="en-US" sz="8800">
                <a:solidFill>
                  <a:schemeClr val="dk2"/>
                </a:solidFill>
              </a:rPr>
              <a:t>Anuncios Generales</a:t>
            </a:r>
            <a:endParaRPr/>
          </a:p>
        </p:txBody>
      </p:sp>
      <p:pic>
        <p:nvPicPr>
          <p:cNvPr descr="Maestro" id="153" name="Google Shape;153;p4"/>
          <p:cNvPicPr preferRelativeResize="0"/>
          <p:nvPr/>
        </p:nvPicPr>
        <p:blipFill rotWithShape="1">
          <a:blip r:embed="rId3">
            <a:alphaModFix/>
          </a:blip>
          <a:srcRect b="0" l="0" r="0" t="0"/>
          <a:stretch/>
        </p:blipFill>
        <p:spPr>
          <a:xfrm>
            <a:off x="340470" y="1815320"/>
            <a:ext cx="4141760" cy="4141760"/>
          </a:xfrm>
          <a:custGeom>
            <a:rect b="b" l="l" r="r" t="t"/>
            <a:pathLst>
              <a:path extrusionOk="0" h="4377846" w="4141760">
                <a:moveTo>
                  <a:pt x="0" y="0"/>
                </a:moveTo>
                <a:lnTo>
                  <a:pt x="4141760" y="0"/>
                </a:lnTo>
                <a:lnTo>
                  <a:pt x="4141760" y="4377846"/>
                </a:lnTo>
                <a:lnTo>
                  <a:pt x="0" y="4377846"/>
                </a:lnTo>
                <a:close/>
              </a:path>
            </a:pathLst>
          </a:custGeom>
          <a:noFill/>
          <a:ln>
            <a:noFill/>
          </a:ln>
        </p:spPr>
      </p:pic>
      <p:grpSp>
        <p:nvGrpSpPr>
          <p:cNvPr id="154" name="Google Shape;154;p4"/>
          <p:cNvGrpSpPr/>
          <p:nvPr/>
        </p:nvGrpSpPr>
        <p:grpSpPr>
          <a:xfrm>
            <a:off x="-4253" y="-5977"/>
            <a:ext cx="6238675" cy="6863979"/>
            <a:chOff x="305" y="-5977"/>
            <a:chExt cx="6238675" cy="6863979"/>
          </a:xfrm>
        </p:grpSpPr>
        <p:sp>
          <p:nvSpPr>
            <p:cNvPr id="155" name="Google Shape;155;p4"/>
            <p:cNvSpPr/>
            <p:nvPr/>
          </p:nvSpPr>
          <p:spPr>
            <a:xfrm flipH="1">
              <a:off x="305" y="34854"/>
              <a:ext cx="6028697" cy="6817170"/>
            </a:xfrm>
            <a:custGeom>
              <a:rect b="b" l="l" r="r" t="t"/>
              <a:pathLst>
                <a:path extrusionOk="0" h="6817170" w="6028697">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0">
                  <a:srgbClr val="FFFFFF">
                    <a:alpha val="8235"/>
                  </a:srgbClr>
                </a:gs>
                <a:gs pos="2000">
                  <a:srgbClr val="FFFFFF">
                    <a:alpha val="8235"/>
                  </a:srgbClr>
                </a:gs>
                <a:gs pos="16000">
                  <a:srgbClr val="70AD47">
                    <a:alpha val="8235"/>
                  </a:srgbClr>
                </a:gs>
                <a:gs pos="85000">
                  <a:srgbClr val="4472C4">
                    <a:alpha val="8235"/>
                  </a:srgbClr>
                </a:gs>
                <a:gs pos="100000">
                  <a:srgbClr val="FFFFFF">
                    <a:alpha val="8235"/>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6" name="Google Shape;156;p4"/>
            <p:cNvSpPr/>
            <p:nvPr/>
          </p:nvSpPr>
          <p:spPr>
            <a:xfrm flipH="1">
              <a:off x="305" y="1"/>
              <a:ext cx="6165116" cy="6858001"/>
            </a:xfrm>
            <a:custGeom>
              <a:rect b="b" l="l" r="r" t="t"/>
              <a:pathLst>
                <a:path extrusionOk="0" h="6858001" w="6264586">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0">
                  <a:srgbClr val="FFFFFF">
                    <a:alpha val="8235"/>
                  </a:srgbClr>
                </a:gs>
                <a:gs pos="2000">
                  <a:srgbClr val="FFFFFF">
                    <a:alpha val="8235"/>
                  </a:srgbClr>
                </a:gs>
                <a:gs pos="16000">
                  <a:srgbClr val="70AD47">
                    <a:alpha val="8235"/>
                  </a:srgbClr>
                </a:gs>
                <a:gs pos="85000">
                  <a:srgbClr val="4472C4">
                    <a:alpha val="8235"/>
                  </a:srgbClr>
                </a:gs>
                <a:gs pos="100000">
                  <a:srgbClr val="FFFFFF">
                    <a:alpha val="8235"/>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7" name="Google Shape;157;p4"/>
            <p:cNvSpPr/>
            <p:nvPr/>
          </p:nvSpPr>
          <p:spPr>
            <a:xfrm flipH="1">
              <a:off x="305" y="-5977"/>
              <a:ext cx="6238675" cy="6858001"/>
            </a:xfrm>
            <a:custGeom>
              <a:rect b="b" l="l" r="r" t="t"/>
              <a:pathLst>
                <a:path extrusionOk="0" h="6858001" w="6264586">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0">
                  <a:srgbClr val="FFFFFF">
                    <a:alpha val="8235"/>
                  </a:srgbClr>
                </a:gs>
                <a:gs pos="2000">
                  <a:srgbClr val="FFFFFF">
                    <a:alpha val="8235"/>
                  </a:srgbClr>
                </a:gs>
                <a:gs pos="16000">
                  <a:srgbClr val="70AD47">
                    <a:alpha val="8235"/>
                  </a:srgbClr>
                </a:gs>
                <a:gs pos="85000">
                  <a:srgbClr val="4472C4">
                    <a:alpha val="8235"/>
                  </a:srgbClr>
                </a:gs>
                <a:gs pos="100000">
                  <a:srgbClr val="FFFFFF">
                    <a:alpha val="8235"/>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2" name="Shape 162"/>
        <p:cNvGrpSpPr/>
        <p:nvPr/>
      </p:nvGrpSpPr>
      <p:grpSpPr>
        <a:xfrm>
          <a:off x="0" y="0"/>
          <a:ext cx="0" cy="0"/>
          <a:chOff x="0" y="0"/>
          <a:chExt cx="0" cy="0"/>
        </a:xfrm>
      </p:grpSpPr>
      <p:sp>
        <p:nvSpPr>
          <p:cNvPr id="163" name="Google Shape;163;g1f4ab7b10d1_0_1"/>
          <p:cNvSpPr/>
          <p:nvPr/>
        </p:nvSpPr>
        <p:spPr>
          <a:xfrm>
            <a:off x="0" y="-1"/>
            <a:ext cx="12191700" cy="6852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4" name="Google Shape;164;g1f4ab7b10d1_0_1"/>
          <p:cNvSpPr/>
          <p:nvPr/>
        </p:nvSpPr>
        <p:spPr>
          <a:xfrm>
            <a:off x="5" y="80300"/>
            <a:ext cx="121917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5" name="Google Shape;165;g1f4ab7b10d1_0_1"/>
          <p:cNvSpPr txBox="1"/>
          <p:nvPr>
            <p:ph type="title"/>
          </p:nvPr>
        </p:nvSpPr>
        <p:spPr>
          <a:xfrm>
            <a:off x="6549203" y="2681111"/>
            <a:ext cx="4806000" cy="1297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chemeClr val="dk2"/>
              </a:buClr>
              <a:buSzPct val="100000"/>
              <a:buFont typeface="Calibri"/>
              <a:buNone/>
            </a:pPr>
            <a:r>
              <a:rPr lang="en-US" sz="8800">
                <a:solidFill>
                  <a:schemeClr val="dk2"/>
                </a:solidFill>
              </a:rPr>
              <a:t>Dudas</a:t>
            </a:r>
            <a:endParaRPr/>
          </a:p>
        </p:txBody>
      </p:sp>
      <p:pic>
        <p:nvPicPr>
          <p:cNvPr descr="Maestro" id="166" name="Google Shape;166;g1f4ab7b10d1_0_1"/>
          <p:cNvPicPr preferRelativeResize="0"/>
          <p:nvPr/>
        </p:nvPicPr>
        <p:blipFill rotWithShape="1">
          <a:blip r:embed="rId3">
            <a:alphaModFix/>
          </a:blip>
          <a:srcRect b="0" l="0" r="0" t="0"/>
          <a:stretch/>
        </p:blipFill>
        <p:spPr>
          <a:xfrm>
            <a:off x="340470" y="1815320"/>
            <a:ext cx="4141760" cy="4137064"/>
          </a:xfrm>
          <a:custGeom>
            <a:rect b="b" l="l" r="r" t="t"/>
            <a:pathLst>
              <a:path extrusionOk="0" h="4377846" w="4141760">
                <a:moveTo>
                  <a:pt x="0" y="0"/>
                </a:moveTo>
                <a:lnTo>
                  <a:pt x="4141760" y="0"/>
                </a:lnTo>
                <a:lnTo>
                  <a:pt x="4141760" y="4377846"/>
                </a:lnTo>
                <a:lnTo>
                  <a:pt x="0" y="4377846"/>
                </a:lnTo>
                <a:close/>
              </a:path>
            </a:pathLst>
          </a:custGeom>
          <a:noFill/>
          <a:ln>
            <a:noFill/>
          </a:ln>
        </p:spPr>
      </p:pic>
      <p:grpSp>
        <p:nvGrpSpPr>
          <p:cNvPr id="167" name="Google Shape;167;g1f4ab7b10d1_0_1"/>
          <p:cNvGrpSpPr/>
          <p:nvPr/>
        </p:nvGrpSpPr>
        <p:grpSpPr>
          <a:xfrm>
            <a:off x="-9754" y="-5977"/>
            <a:ext cx="6244176" cy="6863979"/>
            <a:chOff x="-5196" y="-5977"/>
            <a:chExt cx="6244176" cy="6863979"/>
          </a:xfrm>
        </p:grpSpPr>
        <p:sp>
          <p:nvSpPr>
            <p:cNvPr id="168" name="Google Shape;168;g1f4ab7b10d1_0_1"/>
            <p:cNvSpPr/>
            <p:nvPr/>
          </p:nvSpPr>
          <p:spPr>
            <a:xfrm flipH="1">
              <a:off x="305" y="34854"/>
              <a:ext cx="6028697" cy="6817170"/>
            </a:xfrm>
            <a:custGeom>
              <a:rect b="b" l="l" r="r" t="t"/>
              <a:pathLst>
                <a:path extrusionOk="0" h="6817170" w="6028697">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0">
                  <a:srgbClr val="FFFFFF">
                    <a:alpha val="8235"/>
                  </a:srgbClr>
                </a:gs>
                <a:gs pos="2000">
                  <a:srgbClr val="FFFFFF">
                    <a:alpha val="8235"/>
                  </a:srgbClr>
                </a:gs>
                <a:gs pos="16000">
                  <a:srgbClr val="70AD47">
                    <a:alpha val="8235"/>
                  </a:srgbClr>
                </a:gs>
                <a:gs pos="85000">
                  <a:srgbClr val="4472C4">
                    <a:alpha val="8235"/>
                  </a:srgbClr>
                </a:gs>
                <a:gs pos="100000">
                  <a:srgbClr val="FFFFFF">
                    <a:alpha val="8235"/>
                  </a:srgbClr>
                </a:gs>
              </a:gsLst>
              <a:lin ang="12000143"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9" name="Google Shape;169;g1f4ab7b10d1_0_1"/>
            <p:cNvSpPr/>
            <p:nvPr/>
          </p:nvSpPr>
          <p:spPr>
            <a:xfrm flipH="1">
              <a:off x="-5196" y="1"/>
              <a:ext cx="6170617" cy="6858001"/>
            </a:xfrm>
            <a:custGeom>
              <a:rect b="b" l="l" r="r" t="t"/>
              <a:pathLst>
                <a:path extrusionOk="0" h="6858001" w="6264586">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0">
                  <a:srgbClr val="FFFFFF">
                    <a:alpha val="8235"/>
                  </a:srgbClr>
                </a:gs>
                <a:gs pos="2000">
                  <a:srgbClr val="FFFFFF">
                    <a:alpha val="8235"/>
                  </a:srgbClr>
                </a:gs>
                <a:gs pos="16000">
                  <a:srgbClr val="70AD47">
                    <a:alpha val="8235"/>
                  </a:srgbClr>
                </a:gs>
                <a:gs pos="85000">
                  <a:srgbClr val="4472C4">
                    <a:alpha val="8235"/>
                  </a:srgbClr>
                </a:gs>
                <a:gs pos="100000">
                  <a:srgbClr val="FFFFFF">
                    <a:alpha val="8235"/>
                  </a:srgbClr>
                </a:gs>
              </a:gsLst>
              <a:lin ang="12000143"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0" name="Google Shape;170;g1f4ab7b10d1_0_1"/>
            <p:cNvSpPr/>
            <p:nvPr/>
          </p:nvSpPr>
          <p:spPr>
            <a:xfrm flipH="1">
              <a:off x="5717" y="-5977"/>
              <a:ext cx="6233263" cy="6858001"/>
            </a:xfrm>
            <a:custGeom>
              <a:rect b="b" l="l" r="r" t="t"/>
              <a:pathLst>
                <a:path extrusionOk="0" h="6858001" w="6264586">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0">
                  <a:srgbClr val="FFFFFF">
                    <a:alpha val="8235"/>
                  </a:srgbClr>
                </a:gs>
                <a:gs pos="2000">
                  <a:srgbClr val="FFFFFF">
                    <a:alpha val="8235"/>
                  </a:srgbClr>
                </a:gs>
                <a:gs pos="16000">
                  <a:srgbClr val="70AD47">
                    <a:alpha val="8235"/>
                  </a:srgbClr>
                </a:gs>
                <a:gs pos="85000">
                  <a:srgbClr val="4472C4">
                    <a:alpha val="8235"/>
                  </a:srgbClr>
                </a:gs>
                <a:gs pos="100000">
                  <a:srgbClr val="FFFFFF">
                    <a:alpha val="8235"/>
                  </a:srgbClr>
                </a:gs>
              </a:gsLst>
              <a:lin ang="12000143"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4" name="Shape 174"/>
        <p:cNvGrpSpPr/>
        <p:nvPr/>
      </p:nvGrpSpPr>
      <p:grpSpPr>
        <a:xfrm>
          <a:off x="0" y="0"/>
          <a:ext cx="0" cy="0"/>
          <a:chOff x="0" y="0"/>
          <a:chExt cx="0" cy="0"/>
        </a:xfrm>
      </p:grpSpPr>
      <p:sp>
        <p:nvSpPr>
          <p:cNvPr id="175" name="Google Shape;175;p6"/>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6" name="Google Shape;176;p6"/>
          <p:cNvSpPr txBox="1"/>
          <p:nvPr>
            <p:ph type="title"/>
          </p:nvPr>
        </p:nvSpPr>
        <p:spPr>
          <a:xfrm>
            <a:off x="572493" y="238539"/>
            <a:ext cx="11018520" cy="143441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Calibri"/>
              <a:buNone/>
            </a:pPr>
            <a:r>
              <a:rPr b="1" lang="en-US" sz="5400"/>
              <a:t>Testing en DevOps</a:t>
            </a:r>
            <a:endParaRPr sz="5400"/>
          </a:p>
        </p:txBody>
      </p:sp>
      <p:sp>
        <p:nvSpPr>
          <p:cNvPr id="177" name="Google Shape;177;p6"/>
          <p:cNvSpPr/>
          <p:nvPr/>
        </p:nvSpPr>
        <p:spPr>
          <a:xfrm>
            <a:off x="572493" y="1681544"/>
            <a:ext cx="10972800" cy="18288"/>
          </a:xfrm>
          <a:custGeom>
            <a:rect b="b" l="l" r="r" t="t"/>
            <a:pathLst>
              <a:path extrusionOk="0" fill="none" h="18288" w="1097280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extrusionOk="0" h="18288" w="1097280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3333"/>
            </a:schemeClr>
          </a:solidFill>
          <a:ln cap="rnd" cmpd="sng" w="44450">
            <a:solidFill>
              <a:schemeClr val="accent2">
                <a:alpha val="7333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78" name="Google Shape;178;p6"/>
          <p:cNvPicPr preferRelativeResize="0"/>
          <p:nvPr/>
        </p:nvPicPr>
        <p:blipFill rotWithShape="1">
          <a:blip r:embed="rId3">
            <a:alphaModFix/>
          </a:blip>
          <a:srcRect b="0" l="0" r="0" t="0"/>
          <a:stretch/>
        </p:blipFill>
        <p:spPr>
          <a:xfrm>
            <a:off x="2756250" y="2106375"/>
            <a:ext cx="7832151" cy="39160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3" name="Shape 183"/>
        <p:cNvGrpSpPr/>
        <p:nvPr/>
      </p:nvGrpSpPr>
      <p:grpSpPr>
        <a:xfrm>
          <a:off x="0" y="0"/>
          <a:ext cx="0" cy="0"/>
          <a:chOff x="0" y="0"/>
          <a:chExt cx="0" cy="0"/>
        </a:xfrm>
      </p:grpSpPr>
      <p:sp>
        <p:nvSpPr>
          <p:cNvPr id="184" name="Google Shape;184;g48584de576676619_4"/>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5" name="Google Shape;185;g48584de576676619_4"/>
          <p:cNvSpPr txBox="1"/>
          <p:nvPr>
            <p:ph type="title"/>
          </p:nvPr>
        </p:nvSpPr>
        <p:spPr>
          <a:xfrm>
            <a:off x="640080" y="329184"/>
            <a:ext cx="6894600" cy="17832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Calibri"/>
              <a:buNone/>
            </a:pPr>
            <a:r>
              <a:rPr lang="en-US" sz="5400"/>
              <a:t>Continuous Testing</a:t>
            </a:r>
            <a:endParaRPr/>
          </a:p>
        </p:txBody>
      </p:sp>
      <p:sp>
        <p:nvSpPr>
          <p:cNvPr id="186" name="Google Shape;186;g48584de576676619_4"/>
          <p:cNvSpPr/>
          <p:nvPr/>
        </p:nvSpPr>
        <p:spPr>
          <a:xfrm>
            <a:off x="758952" y="2395728"/>
            <a:ext cx="4243589" cy="18288"/>
          </a:xfrm>
          <a:custGeom>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7" name="Google Shape;187;g48584de576676619_4"/>
          <p:cNvSpPr txBox="1"/>
          <p:nvPr>
            <p:ph idx="1" type="body"/>
          </p:nvPr>
        </p:nvSpPr>
        <p:spPr>
          <a:xfrm>
            <a:off x="640080" y="2706624"/>
            <a:ext cx="6894600" cy="3483900"/>
          </a:xfrm>
          <a:prstGeom prst="rect">
            <a:avLst/>
          </a:prstGeom>
          <a:noFill/>
          <a:ln>
            <a:noFill/>
          </a:ln>
        </p:spPr>
        <p:txBody>
          <a:bodyPr anchorCtr="0" anchor="t" bIns="45700" lIns="91425" spcFirstLastPara="1" rIns="91425" wrap="square" tIns="45700">
            <a:normAutofit fontScale="85000" lnSpcReduction="20000"/>
          </a:bodyPr>
          <a:lstStyle/>
          <a:p>
            <a:pPr indent="-207645" lvl="0" marL="228600" rtl="0" algn="l">
              <a:lnSpc>
                <a:spcPct val="90000"/>
              </a:lnSpc>
              <a:spcBef>
                <a:spcPts val="0"/>
              </a:spcBef>
              <a:spcAft>
                <a:spcPts val="0"/>
              </a:spcAft>
              <a:buClr>
                <a:schemeClr val="dk1"/>
              </a:buClr>
              <a:buSzPct val="78571"/>
              <a:buChar char="•"/>
            </a:pPr>
            <a:r>
              <a:rPr lang="en-US"/>
              <a:t>metodología en el desarrollo de software en la cual las pruebas automatizadas se ejecutan de manera constante a lo largo del ciclo de vida del desarrollo de software. Esto asegura que los cambios de código sean evaluados constantemente en términos de corrección y calidad. En lugar de realizar pruebas solo al final del ciclo de desarrollo, como en los enfoques tradicionales, las pruebas continuas integran la prueba en cada fase del desarrollo.</a:t>
            </a:r>
            <a:endParaRPr/>
          </a:p>
          <a:p>
            <a:pPr indent="0" lvl="0" marL="457200" rtl="0" algn="l">
              <a:lnSpc>
                <a:spcPct val="90000"/>
              </a:lnSpc>
              <a:spcBef>
                <a:spcPts val="1000"/>
              </a:spcBef>
              <a:spcAft>
                <a:spcPts val="0"/>
              </a:spcAft>
              <a:buSzPct val="75630"/>
              <a:buNone/>
            </a:pPr>
            <a:r>
              <a:t/>
            </a:r>
            <a:endParaRPr/>
          </a:p>
          <a:p>
            <a:pPr indent="0" lvl="0" marL="457200" rtl="0" algn="l">
              <a:lnSpc>
                <a:spcPct val="90000"/>
              </a:lnSpc>
              <a:spcBef>
                <a:spcPts val="1000"/>
              </a:spcBef>
              <a:spcAft>
                <a:spcPts val="0"/>
              </a:spcAft>
              <a:buSzPct val="64285"/>
              <a:buNone/>
            </a:pPr>
            <a:r>
              <a:t/>
            </a:r>
            <a:endParaRPr/>
          </a:p>
          <a:p>
            <a:pPr indent="0" lvl="0" marL="0" rtl="0" algn="l">
              <a:lnSpc>
                <a:spcPct val="90000"/>
              </a:lnSpc>
              <a:spcBef>
                <a:spcPts val="1000"/>
              </a:spcBef>
              <a:spcAft>
                <a:spcPts val="0"/>
              </a:spcAft>
              <a:buClr>
                <a:schemeClr val="dk1"/>
              </a:buClr>
              <a:buSzPct val="100000"/>
              <a:buNone/>
            </a:pPr>
            <a:r>
              <a:t/>
            </a:r>
            <a:endParaRPr sz="22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2" name="Shape 192"/>
        <p:cNvGrpSpPr/>
        <p:nvPr/>
      </p:nvGrpSpPr>
      <p:grpSpPr>
        <a:xfrm>
          <a:off x="0" y="0"/>
          <a:ext cx="0" cy="0"/>
          <a:chOff x="0" y="0"/>
          <a:chExt cx="0" cy="0"/>
        </a:xfrm>
      </p:grpSpPr>
      <p:sp>
        <p:nvSpPr>
          <p:cNvPr id="193" name="Google Shape;193;p5"/>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4" name="Google Shape;194;p5"/>
          <p:cNvSpPr/>
          <p:nvPr/>
        </p:nvSpPr>
        <p:spPr>
          <a:xfrm>
            <a:off x="758952" y="2395728"/>
            <a:ext cx="4243589" cy="18288"/>
          </a:xfrm>
          <a:custGeom>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95" name="Google Shape;195;p5"/>
          <p:cNvPicPr preferRelativeResize="0"/>
          <p:nvPr/>
        </p:nvPicPr>
        <p:blipFill rotWithShape="1">
          <a:blip r:embed="rId3">
            <a:alphaModFix/>
          </a:blip>
          <a:srcRect b="0" l="0" r="0" t="0"/>
          <a:stretch/>
        </p:blipFill>
        <p:spPr>
          <a:xfrm>
            <a:off x="651075" y="528325"/>
            <a:ext cx="10836075" cy="59105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9" name="Shape 199"/>
        <p:cNvGrpSpPr/>
        <p:nvPr/>
      </p:nvGrpSpPr>
      <p:grpSpPr>
        <a:xfrm>
          <a:off x="0" y="0"/>
          <a:ext cx="0" cy="0"/>
          <a:chOff x="0" y="0"/>
          <a:chExt cx="0" cy="0"/>
        </a:xfrm>
      </p:grpSpPr>
      <p:sp>
        <p:nvSpPr>
          <p:cNvPr id="200" name="Google Shape;200;p7"/>
          <p:cNvSpPr/>
          <p:nvPr/>
        </p:nvSpPr>
        <p:spPr>
          <a:xfrm>
            <a:off x="-30575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1" name="Google Shape;201;p7"/>
          <p:cNvSpPr/>
          <p:nvPr>
            <p:ph type="title"/>
          </p:nvPr>
        </p:nvSpPr>
        <p:spPr>
          <a:xfrm>
            <a:off x="316700" y="639200"/>
            <a:ext cx="6552300" cy="3641700"/>
          </a:xfrm>
          <a:prstGeom prst="ellipse">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600"/>
              <a:buFont typeface="Calibri"/>
              <a:buNone/>
            </a:pPr>
            <a:r>
              <a:rPr lang="en-US" sz="5600"/>
              <a:t>Caracteristicas </a:t>
            </a:r>
            <a:endParaRPr sz="5600"/>
          </a:p>
          <a:p>
            <a:pPr indent="0" lvl="0" marL="0" rtl="0" algn="l">
              <a:lnSpc>
                <a:spcPct val="90000"/>
              </a:lnSpc>
              <a:spcBef>
                <a:spcPts val="0"/>
              </a:spcBef>
              <a:spcAft>
                <a:spcPts val="0"/>
              </a:spcAft>
              <a:buClr>
                <a:schemeClr val="dk1"/>
              </a:buClr>
              <a:buSzPts val="5600"/>
              <a:buFont typeface="Calibri"/>
              <a:buNone/>
            </a:pPr>
            <a:r>
              <a:rPr lang="en-US" sz="5600"/>
              <a:t>Principales</a:t>
            </a:r>
            <a:endParaRPr sz="5600"/>
          </a:p>
        </p:txBody>
      </p:sp>
      <p:sp>
        <p:nvSpPr>
          <p:cNvPr id="202" name="Google Shape;202;p7"/>
          <p:cNvSpPr/>
          <p:nvPr/>
        </p:nvSpPr>
        <p:spPr>
          <a:xfrm>
            <a:off x="643278" y="4409267"/>
            <a:ext cx="3255095" cy="18288"/>
          </a:xfrm>
          <a:custGeom>
            <a:rect b="b" l="l" r="r" t="t"/>
            <a:pathLst>
              <a:path extrusionOk="0" fill="none" h="18288" w="3255095">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extrusionOk="0" h="18288" w="3255095">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cap="rnd" cmpd="sng" w="381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3" name="Google Shape;203;p7"/>
          <p:cNvSpPr txBox="1"/>
          <p:nvPr/>
        </p:nvSpPr>
        <p:spPr>
          <a:xfrm>
            <a:off x="6967200" y="1474250"/>
            <a:ext cx="4433700" cy="40635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0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Pruebas automatizadas</a:t>
            </a:r>
            <a:endParaRPr b="0" i="0" sz="2800" u="none" cap="none" strike="noStrike">
              <a:solidFill>
                <a:schemeClr val="dk1"/>
              </a:solidFill>
              <a:latin typeface="Calibri"/>
              <a:ea typeface="Calibri"/>
              <a:cs typeface="Calibri"/>
              <a:sym typeface="Calibri"/>
            </a:endParaRPr>
          </a:p>
          <a:p>
            <a:pPr indent="-406400" lvl="0" marL="457200" marR="0" rtl="0" algn="l">
              <a:lnSpc>
                <a:spcPct val="10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CI/CD</a:t>
            </a:r>
            <a:endParaRPr b="0" i="0" sz="2800" u="none" cap="none" strike="noStrike">
              <a:solidFill>
                <a:schemeClr val="dk1"/>
              </a:solidFill>
              <a:latin typeface="Calibri"/>
              <a:ea typeface="Calibri"/>
              <a:cs typeface="Calibri"/>
              <a:sym typeface="Calibri"/>
            </a:endParaRPr>
          </a:p>
          <a:p>
            <a:pPr indent="-406400" lvl="0" marL="457200" marR="0" rtl="0" algn="l">
              <a:lnSpc>
                <a:spcPct val="10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Rapido feedback</a:t>
            </a:r>
            <a:endParaRPr b="0" i="0" sz="2800" u="none" cap="none" strike="noStrike">
              <a:solidFill>
                <a:schemeClr val="dk1"/>
              </a:solidFill>
              <a:latin typeface="Calibri"/>
              <a:ea typeface="Calibri"/>
              <a:cs typeface="Calibri"/>
              <a:sym typeface="Calibri"/>
            </a:endParaRPr>
          </a:p>
          <a:p>
            <a:pPr indent="-406400" lvl="0" marL="457200" marR="0" rtl="0" algn="l">
              <a:lnSpc>
                <a:spcPct val="10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Cobertura de prueba integral</a:t>
            </a:r>
            <a:endParaRPr b="0" i="0" sz="2800" u="none" cap="none" strike="noStrike">
              <a:solidFill>
                <a:schemeClr val="dk1"/>
              </a:solidFill>
              <a:latin typeface="Calibri"/>
              <a:ea typeface="Calibri"/>
              <a:cs typeface="Calibri"/>
              <a:sym typeface="Calibri"/>
            </a:endParaRPr>
          </a:p>
          <a:p>
            <a:pPr indent="-406400" lvl="0" marL="457200" marR="0" rtl="0" algn="l">
              <a:lnSpc>
                <a:spcPct val="10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Shift-left Testing</a:t>
            </a:r>
            <a:endParaRPr b="0" i="0" sz="2800" u="none" cap="none" strike="noStrike">
              <a:solidFill>
                <a:schemeClr val="dk1"/>
              </a:solidFill>
              <a:latin typeface="Calibri"/>
              <a:ea typeface="Calibri"/>
              <a:cs typeface="Calibri"/>
              <a:sym typeface="Calibri"/>
            </a:endParaRPr>
          </a:p>
          <a:p>
            <a:pPr indent="-406400" lvl="0" marL="457200" marR="0" rtl="0" algn="l">
              <a:lnSpc>
                <a:spcPct val="10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Monitoreo y feedback continuo</a:t>
            </a:r>
            <a:endParaRPr b="0" i="0" sz="28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8" name="Shape 208"/>
        <p:cNvGrpSpPr/>
        <p:nvPr/>
      </p:nvGrpSpPr>
      <p:grpSpPr>
        <a:xfrm>
          <a:off x="0" y="0"/>
          <a:ext cx="0" cy="0"/>
          <a:chOff x="0" y="0"/>
          <a:chExt cx="0" cy="0"/>
        </a:xfrm>
      </p:grpSpPr>
      <p:sp>
        <p:nvSpPr>
          <p:cNvPr id="209" name="Google Shape;209;g48584de576676619_13"/>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0" name="Google Shape;210;g48584de576676619_13"/>
          <p:cNvSpPr txBox="1"/>
          <p:nvPr>
            <p:ph type="title"/>
          </p:nvPr>
        </p:nvSpPr>
        <p:spPr>
          <a:xfrm>
            <a:off x="640080" y="329184"/>
            <a:ext cx="6894600" cy="17832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Calibri"/>
              <a:buNone/>
            </a:pPr>
            <a:r>
              <a:rPr lang="en-US" sz="5400"/>
              <a:t>Quality Assurance (QA)</a:t>
            </a:r>
            <a:endParaRPr/>
          </a:p>
        </p:txBody>
      </p:sp>
      <p:sp>
        <p:nvSpPr>
          <p:cNvPr id="211" name="Google Shape;211;g48584de576676619_13"/>
          <p:cNvSpPr/>
          <p:nvPr/>
        </p:nvSpPr>
        <p:spPr>
          <a:xfrm>
            <a:off x="758952" y="2395728"/>
            <a:ext cx="4243589" cy="18288"/>
          </a:xfrm>
          <a:custGeom>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2" name="Google Shape;212;g48584de576676619_13"/>
          <p:cNvSpPr txBox="1"/>
          <p:nvPr>
            <p:ph idx="1" type="body"/>
          </p:nvPr>
        </p:nvSpPr>
        <p:spPr>
          <a:xfrm>
            <a:off x="640080" y="2706624"/>
            <a:ext cx="6894600" cy="3483900"/>
          </a:xfrm>
          <a:prstGeom prst="rect">
            <a:avLst/>
          </a:prstGeom>
          <a:noFill/>
          <a:ln>
            <a:noFill/>
          </a:ln>
        </p:spPr>
        <p:txBody>
          <a:bodyPr anchorCtr="0" anchor="t" bIns="45700" lIns="91425" spcFirstLastPara="1" rIns="91425" wrap="square" tIns="45700">
            <a:normAutofit fontScale="85000" lnSpcReduction="20000"/>
          </a:bodyPr>
          <a:lstStyle/>
          <a:p>
            <a:pPr indent="-207645" lvl="0" marL="228600" rtl="0" algn="l">
              <a:lnSpc>
                <a:spcPct val="90000"/>
              </a:lnSpc>
              <a:spcBef>
                <a:spcPts val="0"/>
              </a:spcBef>
              <a:spcAft>
                <a:spcPts val="0"/>
              </a:spcAft>
              <a:buClr>
                <a:schemeClr val="dk1"/>
              </a:buClr>
              <a:buSzPct val="78571"/>
              <a:buChar char="•"/>
            </a:pPr>
            <a:r>
              <a:rPr lang="en-US"/>
              <a:t>Se refiere al conjunto de actividades planificadas y sistemáticas destinadas a garantizar que un producto o servicio de software cumpla con los estándares de calidad esperados. El objetivo principal del QA es identificar y prevenir defectos en el software antes de que el producto final sea entregado a los usuarios finales. El QA es una parte integral del ciclo de vida del desarrollo de software y abarca varias actividades y responsabilidades</a:t>
            </a:r>
            <a:endParaRPr/>
          </a:p>
          <a:p>
            <a:pPr indent="0" lvl="0" marL="457200" rtl="0" algn="l">
              <a:lnSpc>
                <a:spcPct val="90000"/>
              </a:lnSpc>
              <a:spcBef>
                <a:spcPts val="1000"/>
              </a:spcBef>
              <a:spcAft>
                <a:spcPts val="0"/>
              </a:spcAft>
              <a:buSzPct val="75630"/>
              <a:buNone/>
            </a:pPr>
            <a:r>
              <a:t/>
            </a:r>
            <a:endParaRPr/>
          </a:p>
          <a:p>
            <a:pPr indent="0" lvl="0" marL="457200" rtl="0" algn="l">
              <a:lnSpc>
                <a:spcPct val="90000"/>
              </a:lnSpc>
              <a:spcBef>
                <a:spcPts val="1000"/>
              </a:spcBef>
              <a:spcAft>
                <a:spcPts val="0"/>
              </a:spcAft>
              <a:buSzPct val="64285"/>
              <a:buNone/>
            </a:pPr>
            <a:r>
              <a:t/>
            </a:r>
            <a:endParaRPr/>
          </a:p>
          <a:p>
            <a:pPr indent="0" lvl="0" marL="0" rtl="0" algn="l">
              <a:lnSpc>
                <a:spcPct val="90000"/>
              </a:lnSpc>
              <a:spcBef>
                <a:spcPts val="1000"/>
              </a:spcBef>
              <a:spcAft>
                <a:spcPts val="0"/>
              </a:spcAft>
              <a:buClr>
                <a:schemeClr val="dk1"/>
              </a:buClr>
              <a:buSzPct val="100000"/>
              <a:buNone/>
            </a:pPr>
            <a:r>
              <a:t/>
            </a:r>
            <a:endParaRPr sz="22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6" name="Shape 216"/>
        <p:cNvGrpSpPr/>
        <p:nvPr/>
      </p:nvGrpSpPr>
      <p:grpSpPr>
        <a:xfrm>
          <a:off x="0" y="0"/>
          <a:ext cx="0" cy="0"/>
          <a:chOff x="0" y="0"/>
          <a:chExt cx="0" cy="0"/>
        </a:xfrm>
      </p:grpSpPr>
      <p:sp>
        <p:nvSpPr>
          <p:cNvPr id="217" name="Google Shape;217;p8"/>
          <p:cNvSpPr/>
          <p:nvPr/>
        </p:nvSpPr>
        <p:spPr>
          <a:xfrm>
            <a:off x="0" y="1"/>
            <a:ext cx="12191695"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8" name="Google Shape;218;p8"/>
          <p:cNvSpPr/>
          <p:nvPr/>
        </p:nvSpPr>
        <p:spPr>
          <a:xfrm>
            <a:off x="305" y="0"/>
            <a:ext cx="12191695"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Calibri"/>
              <a:ea typeface="Calibri"/>
              <a:cs typeface="Calibri"/>
              <a:sym typeface="Calibri"/>
            </a:endParaRPr>
          </a:p>
        </p:txBody>
      </p:sp>
      <p:sp>
        <p:nvSpPr>
          <p:cNvPr id="219" name="Google Shape;219;p8"/>
          <p:cNvSpPr txBox="1"/>
          <p:nvPr>
            <p:ph type="title"/>
          </p:nvPr>
        </p:nvSpPr>
        <p:spPr>
          <a:xfrm>
            <a:off x="804672" y="457200"/>
            <a:ext cx="10579608" cy="11887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2"/>
              </a:buClr>
              <a:buSzPts val="4000"/>
              <a:buFont typeface="Calibri"/>
              <a:buNone/>
            </a:pPr>
            <a:r>
              <a:rPr b="1" lang="en-US" sz="4000">
                <a:solidFill>
                  <a:schemeClr val="dk2"/>
                </a:solidFill>
              </a:rPr>
              <a:t>Caracteristicas de QA </a:t>
            </a:r>
            <a:endParaRPr sz="4000">
              <a:solidFill>
                <a:schemeClr val="dk2"/>
              </a:solidFill>
            </a:endParaRPr>
          </a:p>
        </p:txBody>
      </p:sp>
      <p:grpSp>
        <p:nvGrpSpPr>
          <p:cNvPr id="220" name="Google Shape;220;p8"/>
          <p:cNvGrpSpPr/>
          <p:nvPr/>
        </p:nvGrpSpPr>
        <p:grpSpPr>
          <a:xfrm rot="5400000">
            <a:off x="9262397" y="134260"/>
            <a:ext cx="3142400" cy="2716805"/>
            <a:chOff x="-305" y="-4155"/>
            <a:chExt cx="2514948" cy="2174333"/>
          </a:xfrm>
        </p:grpSpPr>
        <p:sp>
          <p:nvSpPr>
            <p:cNvPr id="221" name="Google Shape;221;p8"/>
            <p:cNvSpPr/>
            <p:nvPr/>
          </p:nvSpPr>
          <p:spPr>
            <a:xfrm>
              <a:off x="-305" y="0"/>
              <a:ext cx="2514948" cy="2170178"/>
            </a:xfrm>
            <a:custGeom>
              <a:rect b="b" l="l" r="r" t="t"/>
              <a:pathLst>
                <a:path extrusionOk="0" h="2170178" w="251494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0">
                  <a:srgbClr val="FFFFFF">
                    <a:alpha val="8235"/>
                  </a:srgbClr>
                </a:gs>
                <a:gs pos="2000">
                  <a:srgbClr val="FFFFFF">
                    <a:alpha val="8235"/>
                  </a:srgbClr>
                </a:gs>
                <a:gs pos="16000">
                  <a:srgbClr val="70AD47">
                    <a:alpha val="8235"/>
                  </a:srgbClr>
                </a:gs>
                <a:gs pos="85000">
                  <a:srgbClr val="4472C4">
                    <a:alpha val="8235"/>
                  </a:srgbClr>
                </a:gs>
                <a:gs pos="100000">
                  <a:srgbClr val="FFFFFF">
                    <a:alpha val="8235"/>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2" name="Google Shape;222;p8"/>
            <p:cNvSpPr/>
            <p:nvPr/>
          </p:nvSpPr>
          <p:spPr>
            <a:xfrm>
              <a:off x="-305" y="-4155"/>
              <a:ext cx="2493062" cy="1947896"/>
            </a:xfrm>
            <a:custGeom>
              <a:rect b="b" l="l" r="r" t="t"/>
              <a:pathLst>
                <a:path extrusionOk="0" h="1947896" w="2493062">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0">
                  <a:srgbClr val="FFFFFF">
                    <a:alpha val="8235"/>
                  </a:srgbClr>
                </a:gs>
                <a:gs pos="2000">
                  <a:srgbClr val="FFFFFF">
                    <a:alpha val="8235"/>
                  </a:srgbClr>
                </a:gs>
                <a:gs pos="16000">
                  <a:srgbClr val="70AD47">
                    <a:alpha val="8235"/>
                  </a:srgbClr>
                </a:gs>
                <a:gs pos="85000">
                  <a:srgbClr val="4472C4">
                    <a:alpha val="8235"/>
                  </a:srgbClr>
                </a:gs>
                <a:gs pos="100000">
                  <a:srgbClr val="FFFFFF">
                    <a:alpha val="8235"/>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3" name="Google Shape;223;p8"/>
            <p:cNvSpPr/>
            <p:nvPr/>
          </p:nvSpPr>
          <p:spPr>
            <a:xfrm>
              <a:off x="-305" y="0"/>
              <a:ext cx="2501089" cy="1972702"/>
            </a:xfrm>
            <a:custGeom>
              <a:rect b="b" l="l" r="r" t="t"/>
              <a:pathLst>
                <a:path extrusionOk="0" h="1972702" w="2501089">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0">
                  <a:srgbClr val="FFFFFF">
                    <a:alpha val="8235"/>
                  </a:srgbClr>
                </a:gs>
                <a:gs pos="2000">
                  <a:srgbClr val="FFFFFF">
                    <a:alpha val="8235"/>
                  </a:srgbClr>
                </a:gs>
                <a:gs pos="16000">
                  <a:srgbClr val="70AD47">
                    <a:alpha val="8235"/>
                  </a:srgbClr>
                </a:gs>
                <a:gs pos="85000">
                  <a:srgbClr val="4472C4">
                    <a:alpha val="8235"/>
                  </a:srgbClr>
                </a:gs>
                <a:gs pos="100000">
                  <a:srgbClr val="FFFFFF">
                    <a:alpha val="8235"/>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Calibri"/>
                <a:ea typeface="Calibri"/>
                <a:cs typeface="Calibri"/>
                <a:sym typeface="Calibri"/>
              </a:endParaRPr>
            </a:p>
          </p:txBody>
        </p:sp>
        <p:sp>
          <p:nvSpPr>
            <p:cNvPr id="224" name="Google Shape;224;p8"/>
            <p:cNvSpPr/>
            <p:nvPr/>
          </p:nvSpPr>
          <p:spPr>
            <a:xfrm>
              <a:off x="305" y="1"/>
              <a:ext cx="2491105" cy="1943661"/>
            </a:xfrm>
            <a:custGeom>
              <a:rect b="b" l="l" r="r" t="t"/>
              <a:pathLst>
                <a:path extrusionOk="0" h="1943661" w="2491105">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0">
                  <a:srgbClr val="FFFFFF">
                    <a:alpha val="8235"/>
                  </a:srgbClr>
                </a:gs>
                <a:gs pos="2000">
                  <a:srgbClr val="FFFFFF">
                    <a:alpha val="8235"/>
                  </a:srgbClr>
                </a:gs>
                <a:gs pos="16000">
                  <a:srgbClr val="70AD47">
                    <a:alpha val="8235"/>
                  </a:srgbClr>
                </a:gs>
                <a:gs pos="85000">
                  <a:srgbClr val="4472C4">
                    <a:alpha val="8235"/>
                  </a:srgbClr>
                </a:gs>
                <a:gs pos="100000">
                  <a:srgbClr val="FFFFFF">
                    <a:alpha val="8235"/>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225" name="Google Shape;225;p8"/>
          <p:cNvGrpSpPr/>
          <p:nvPr/>
        </p:nvGrpSpPr>
        <p:grpSpPr>
          <a:xfrm flipH="1" rot="10800000">
            <a:off x="0" y="5047906"/>
            <a:ext cx="2412221" cy="1810094"/>
            <a:chOff x="-305" y="-1"/>
            <a:chExt cx="3832880" cy="2876136"/>
          </a:xfrm>
        </p:grpSpPr>
        <p:sp>
          <p:nvSpPr>
            <p:cNvPr id="226" name="Google Shape;226;p8"/>
            <p:cNvSpPr/>
            <p:nvPr/>
          </p:nvSpPr>
          <p:spPr>
            <a:xfrm>
              <a:off x="305" y="1"/>
              <a:ext cx="3815424" cy="2653659"/>
            </a:xfrm>
            <a:custGeom>
              <a:rect b="b" l="l" r="r" t="t"/>
              <a:pathLst>
                <a:path extrusionOk="0" h="2653659" w="3815424">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0">
                  <a:srgbClr val="FFFFFF">
                    <a:alpha val="8235"/>
                  </a:srgbClr>
                </a:gs>
                <a:gs pos="2000">
                  <a:srgbClr val="FFFFFF">
                    <a:alpha val="8235"/>
                  </a:srgbClr>
                </a:gs>
                <a:gs pos="16000">
                  <a:srgbClr val="70AD47">
                    <a:alpha val="8235"/>
                  </a:srgbClr>
                </a:gs>
                <a:gs pos="85000">
                  <a:srgbClr val="4472C4">
                    <a:alpha val="8235"/>
                  </a:srgbClr>
                </a:gs>
                <a:gs pos="100000">
                  <a:srgbClr val="FFFFFF">
                    <a:alpha val="8235"/>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7" name="Google Shape;227;p8"/>
            <p:cNvSpPr/>
            <p:nvPr/>
          </p:nvSpPr>
          <p:spPr>
            <a:xfrm>
              <a:off x="305" y="-1"/>
              <a:ext cx="3815424" cy="2653660"/>
            </a:xfrm>
            <a:custGeom>
              <a:rect b="b" l="l" r="r" t="t"/>
              <a:pathLst>
                <a:path extrusionOk="0" h="2653660" w="3815424">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0">
                  <a:srgbClr val="FFFFFF">
                    <a:alpha val="8235"/>
                  </a:srgbClr>
                </a:gs>
                <a:gs pos="2000">
                  <a:srgbClr val="FFFFFF">
                    <a:alpha val="8235"/>
                  </a:srgbClr>
                </a:gs>
                <a:gs pos="16000">
                  <a:srgbClr val="70AD47">
                    <a:alpha val="8235"/>
                  </a:srgbClr>
                </a:gs>
                <a:gs pos="85000">
                  <a:srgbClr val="4472C4">
                    <a:alpha val="8235"/>
                  </a:srgbClr>
                </a:gs>
                <a:gs pos="100000">
                  <a:srgbClr val="FFFFFF">
                    <a:alpha val="8235"/>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8" name="Google Shape;228;p8"/>
            <p:cNvSpPr/>
            <p:nvPr/>
          </p:nvSpPr>
          <p:spPr>
            <a:xfrm>
              <a:off x="-305" y="1"/>
              <a:ext cx="3815986" cy="2675935"/>
            </a:xfrm>
            <a:custGeom>
              <a:rect b="b" l="l" r="r" t="t"/>
              <a:pathLst>
                <a:path extrusionOk="0" h="2675935" w="3815986">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0">
                  <a:srgbClr val="FFFFFF">
                    <a:alpha val="8235"/>
                  </a:srgbClr>
                </a:gs>
                <a:gs pos="2000">
                  <a:srgbClr val="FFFFFF">
                    <a:alpha val="8235"/>
                  </a:srgbClr>
                </a:gs>
                <a:gs pos="16000">
                  <a:srgbClr val="70AD47">
                    <a:alpha val="8235"/>
                  </a:srgbClr>
                </a:gs>
                <a:gs pos="85000">
                  <a:srgbClr val="4472C4">
                    <a:alpha val="8235"/>
                  </a:srgbClr>
                </a:gs>
                <a:gs pos="100000">
                  <a:srgbClr val="FFFFFF">
                    <a:alpha val="8235"/>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9" name="Google Shape;229;p8"/>
            <p:cNvSpPr/>
            <p:nvPr/>
          </p:nvSpPr>
          <p:spPr>
            <a:xfrm>
              <a:off x="305" y="-1"/>
              <a:ext cx="3832270" cy="2876136"/>
            </a:xfrm>
            <a:custGeom>
              <a:rect b="b" l="l" r="r" t="t"/>
              <a:pathLst>
                <a:path extrusionOk="0" h="2876136" w="3832270">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0">
                  <a:srgbClr val="FFFFFF">
                    <a:alpha val="8235"/>
                  </a:srgbClr>
                </a:gs>
                <a:gs pos="2000">
                  <a:srgbClr val="FFFFFF">
                    <a:alpha val="8235"/>
                  </a:srgbClr>
                </a:gs>
                <a:gs pos="16000">
                  <a:srgbClr val="70AD47">
                    <a:alpha val="8235"/>
                  </a:srgbClr>
                </a:gs>
                <a:gs pos="85000">
                  <a:srgbClr val="4472C4">
                    <a:alpha val="8235"/>
                  </a:srgbClr>
                </a:gs>
                <a:gs pos="100000">
                  <a:srgbClr val="FFFFFF">
                    <a:alpha val="8235"/>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230" name="Google Shape;230;p8"/>
          <p:cNvGrpSpPr/>
          <p:nvPr/>
        </p:nvGrpSpPr>
        <p:grpSpPr>
          <a:xfrm>
            <a:off x="1039284" y="2797938"/>
            <a:ext cx="10113430" cy="3057549"/>
            <a:chOff x="2964" y="254305"/>
            <a:chExt cx="10113430" cy="3057549"/>
          </a:xfrm>
        </p:grpSpPr>
        <p:sp>
          <p:nvSpPr>
            <p:cNvPr id="231" name="Google Shape;231;p8"/>
            <p:cNvSpPr/>
            <p:nvPr/>
          </p:nvSpPr>
          <p:spPr>
            <a:xfrm>
              <a:off x="2964" y="254305"/>
              <a:ext cx="2351960" cy="1411176"/>
            </a:xfrm>
            <a:prstGeom prst="rect">
              <a:avLst/>
            </a:prstGeom>
            <a:solidFill>
              <a:schemeClr val="accent2"/>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8"/>
            <p:cNvSpPr txBox="1"/>
            <p:nvPr/>
          </p:nvSpPr>
          <p:spPr>
            <a:xfrm>
              <a:off x="2964" y="254305"/>
              <a:ext cx="2351960" cy="1411176"/>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chemeClr val="lt1"/>
                </a:buClr>
                <a:buSzPts val="2800"/>
                <a:buFont typeface="Calibri"/>
                <a:buNone/>
              </a:pPr>
              <a:r>
                <a:rPr b="0" i="0" lang="en-US" sz="2800" u="none" cap="none" strike="noStrike">
                  <a:solidFill>
                    <a:schemeClr val="lt1"/>
                  </a:solidFill>
                  <a:latin typeface="Calibri"/>
                  <a:ea typeface="Calibri"/>
                  <a:cs typeface="Calibri"/>
                  <a:sym typeface="Calibri"/>
                </a:rPr>
                <a:t>Planificación de la calidad</a:t>
              </a:r>
              <a:endParaRPr b="0" i="0" sz="2800" u="none" cap="none" strike="noStrike">
                <a:solidFill>
                  <a:schemeClr val="lt1"/>
                </a:solidFill>
                <a:latin typeface="Calibri"/>
                <a:ea typeface="Calibri"/>
                <a:cs typeface="Calibri"/>
                <a:sym typeface="Calibri"/>
              </a:endParaRPr>
            </a:p>
          </p:txBody>
        </p:sp>
        <p:sp>
          <p:nvSpPr>
            <p:cNvPr id="233" name="Google Shape;233;p8"/>
            <p:cNvSpPr/>
            <p:nvPr/>
          </p:nvSpPr>
          <p:spPr>
            <a:xfrm>
              <a:off x="2590121" y="254305"/>
              <a:ext cx="2351960" cy="1411176"/>
            </a:xfrm>
            <a:prstGeom prst="rect">
              <a:avLst/>
            </a:prstGeom>
            <a:solidFill>
              <a:schemeClr val="accent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8"/>
            <p:cNvSpPr txBox="1"/>
            <p:nvPr/>
          </p:nvSpPr>
          <p:spPr>
            <a:xfrm>
              <a:off x="2590121" y="254305"/>
              <a:ext cx="2351960" cy="1411176"/>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chemeClr val="lt1"/>
                </a:buClr>
                <a:buSzPts val="2800"/>
                <a:buFont typeface="Calibri"/>
                <a:buNone/>
              </a:pPr>
              <a:r>
                <a:rPr b="0" i="0" lang="en-US" sz="2800" u="none" cap="none" strike="noStrike">
                  <a:solidFill>
                    <a:schemeClr val="lt1"/>
                  </a:solidFill>
                  <a:latin typeface="Calibri"/>
                  <a:ea typeface="Calibri"/>
                  <a:cs typeface="Calibri"/>
                  <a:sym typeface="Calibri"/>
                </a:rPr>
                <a:t>Revision de requisitos</a:t>
              </a:r>
              <a:endParaRPr b="0" i="0" sz="2800" u="none" cap="none" strike="noStrike">
                <a:solidFill>
                  <a:schemeClr val="lt1"/>
                </a:solidFill>
                <a:latin typeface="Calibri"/>
                <a:ea typeface="Calibri"/>
                <a:cs typeface="Calibri"/>
                <a:sym typeface="Calibri"/>
              </a:endParaRPr>
            </a:p>
          </p:txBody>
        </p:sp>
        <p:sp>
          <p:nvSpPr>
            <p:cNvPr id="235" name="Google Shape;235;p8"/>
            <p:cNvSpPr/>
            <p:nvPr/>
          </p:nvSpPr>
          <p:spPr>
            <a:xfrm>
              <a:off x="5177278" y="254305"/>
              <a:ext cx="2351960" cy="1411176"/>
            </a:xfrm>
            <a:prstGeom prst="rect">
              <a:avLst/>
            </a:prstGeom>
            <a:solidFill>
              <a:schemeClr val="accent4"/>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8"/>
            <p:cNvSpPr txBox="1"/>
            <p:nvPr/>
          </p:nvSpPr>
          <p:spPr>
            <a:xfrm>
              <a:off x="5114542" y="254317"/>
              <a:ext cx="2474700" cy="1411200"/>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chemeClr val="lt1"/>
                </a:buClr>
                <a:buSzPts val="2800"/>
                <a:buFont typeface="Calibri"/>
                <a:buNone/>
              </a:pPr>
              <a:r>
                <a:rPr b="0" i="0" lang="en-US" sz="2800" u="none" cap="none" strike="noStrike">
                  <a:solidFill>
                    <a:schemeClr val="lt1"/>
                  </a:solidFill>
                  <a:latin typeface="Calibri"/>
                  <a:ea typeface="Calibri"/>
                  <a:cs typeface="Calibri"/>
                  <a:sym typeface="Calibri"/>
                </a:rPr>
                <a:t>Diseño y arquitectura</a:t>
              </a:r>
              <a:endParaRPr b="0" i="0" sz="2800" u="none" cap="none" strike="noStrike">
                <a:solidFill>
                  <a:schemeClr val="lt1"/>
                </a:solidFill>
                <a:latin typeface="Calibri"/>
                <a:ea typeface="Calibri"/>
                <a:cs typeface="Calibri"/>
                <a:sym typeface="Calibri"/>
              </a:endParaRPr>
            </a:p>
          </p:txBody>
        </p:sp>
        <p:sp>
          <p:nvSpPr>
            <p:cNvPr id="237" name="Google Shape;237;p8"/>
            <p:cNvSpPr/>
            <p:nvPr/>
          </p:nvSpPr>
          <p:spPr>
            <a:xfrm>
              <a:off x="7764434" y="254305"/>
              <a:ext cx="2351960" cy="1411176"/>
            </a:xfrm>
            <a:prstGeom prst="rect">
              <a:avLst/>
            </a:prstGeom>
            <a:solidFill>
              <a:srgbClr val="599BD5"/>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8"/>
            <p:cNvSpPr txBox="1"/>
            <p:nvPr/>
          </p:nvSpPr>
          <p:spPr>
            <a:xfrm>
              <a:off x="7764434" y="254305"/>
              <a:ext cx="2351960" cy="1411176"/>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chemeClr val="lt1"/>
                </a:buClr>
                <a:buSzPts val="2800"/>
                <a:buFont typeface="Calibri"/>
                <a:buNone/>
              </a:pPr>
              <a:r>
                <a:rPr b="0" i="0" lang="en-US" sz="2800" u="none" cap="none" strike="noStrike">
                  <a:solidFill>
                    <a:schemeClr val="lt1"/>
                  </a:solidFill>
                  <a:latin typeface="Calibri"/>
                  <a:ea typeface="Calibri"/>
                  <a:cs typeface="Calibri"/>
                  <a:sym typeface="Calibri"/>
                </a:rPr>
                <a:t>Pruebas de software. </a:t>
              </a:r>
              <a:endParaRPr b="0" i="0" sz="2800" u="none" cap="none" strike="noStrike">
                <a:solidFill>
                  <a:schemeClr val="lt1"/>
                </a:solidFill>
                <a:latin typeface="Calibri"/>
                <a:ea typeface="Calibri"/>
                <a:cs typeface="Calibri"/>
                <a:sym typeface="Calibri"/>
              </a:endParaRPr>
            </a:p>
          </p:txBody>
        </p:sp>
        <p:sp>
          <p:nvSpPr>
            <p:cNvPr id="239" name="Google Shape;239;p8"/>
            <p:cNvSpPr/>
            <p:nvPr/>
          </p:nvSpPr>
          <p:spPr>
            <a:xfrm>
              <a:off x="1296543" y="1900678"/>
              <a:ext cx="2351960" cy="1411176"/>
            </a:xfrm>
            <a:prstGeom prst="rect">
              <a:avLst/>
            </a:prstGeom>
            <a:solidFill>
              <a:schemeClr val="accent6"/>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8"/>
            <p:cNvSpPr txBox="1"/>
            <p:nvPr/>
          </p:nvSpPr>
          <p:spPr>
            <a:xfrm>
              <a:off x="1296543" y="1900678"/>
              <a:ext cx="2351960" cy="1411176"/>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chemeClr val="lt1"/>
                </a:buClr>
                <a:buSzPts val="2800"/>
                <a:buFont typeface="Calibri"/>
                <a:buNone/>
              </a:pPr>
              <a:r>
                <a:rPr b="0" i="0" lang="en-US" sz="2800" u="none" cap="none" strike="noStrike">
                  <a:solidFill>
                    <a:schemeClr val="lt1"/>
                  </a:solidFill>
                  <a:latin typeface="Calibri"/>
                  <a:ea typeface="Calibri"/>
                  <a:cs typeface="Calibri"/>
                  <a:sym typeface="Calibri"/>
                </a:rPr>
                <a:t>Pruebas de software</a:t>
              </a:r>
              <a:endParaRPr b="0" i="0" sz="2800" u="none" cap="none" strike="noStrike">
                <a:solidFill>
                  <a:schemeClr val="lt1"/>
                </a:solidFill>
                <a:latin typeface="Calibri"/>
                <a:ea typeface="Calibri"/>
                <a:cs typeface="Calibri"/>
                <a:sym typeface="Calibri"/>
              </a:endParaRPr>
            </a:p>
          </p:txBody>
        </p:sp>
        <p:sp>
          <p:nvSpPr>
            <p:cNvPr id="241" name="Google Shape;241;p8"/>
            <p:cNvSpPr/>
            <p:nvPr/>
          </p:nvSpPr>
          <p:spPr>
            <a:xfrm>
              <a:off x="3883699" y="1900678"/>
              <a:ext cx="2351960" cy="1411176"/>
            </a:xfrm>
            <a:prstGeom prst="rect">
              <a:avLst/>
            </a:prstGeom>
            <a:solidFill>
              <a:schemeClr val="accent2"/>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8"/>
            <p:cNvSpPr txBox="1"/>
            <p:nvPr/>
          </p:nvSpPr>
          <p:spPr>
            <a:xfrm>
              <a:off x="3883699" y="1900678"/>
              <a:ext cx="2351960" cy="1411176"/>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chemeClr val="lt1"/>
                </a:buClr>
                <a:buSzPts val="2800"/>
                <a:buFont typeface="Calibri"/>
                <a:buNone/>
              </a:pPr>
              <a:r>
                <a:rPr b="0" i="0" lang="en-US" sz="2800" u="none" cap="none" strike="noStrike">
                  <a:solidFill>
                    <a:schemeClr val="lt1"/>
                  </a:solidFill>
                  <a:latin typeface="Calibri"/>
                  <a:ea typeface="Calibri"/>
                  <a:cs typeface="Calibri"/>
                  <a:sym typeface="Calibri"/>
                </a:rPr>
                <a:t>Seguimiento y reporte de problemas</a:t>
              </a:r>
              <a:endParaRPr b="0" i="0" sz="2800" u="none" cap="none" strike="noStrike">
                <a:solidFill>
                  <a:schemeClr val="lt1"/>
                </a:solidFill>
                <a:latin typeface="Calibri"/>
                <a:ea typeface="Calibri"/>
                <a:cs typeface="Calibri"/>
                <a:sym typeface="Calibri"/>
              </a:endParaRPr>
            </a:p>
          </p:txBody>
        </p:sp>
        <p:sp>
          <p:nvSpPr>
            <p:cNvPr id="243" name="Google Shape;243;p8"/>
            <p:cNvSpPr/>
            <p:nvPr/>
          </p:nvSpPr>
          <p:spPr>
            <a:xfrm>
              <a:off x="6470856" y="1900678"/>
              <a:ext cx="2351960" cy="1411176"/>
            </a:xfrm>
            <a:prstGeom prst="rect">
              <a:avLst/>
            </a:prstGeom>
            <a:solidFill>
              <a:schemeClr val="accent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8"/>
            <p:cNvSpPr txBox="1"/>
            <p:nvPr/>
          </p:nvSpPr>
          <p:spPr>
            <a:xfrm>
              <a:off x="6470856" y="1900678"/>
              <a:ext cx="2351960" cy="1411176"/>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chemeClr val="lt1"/>
                </a:buClr>
                <a:buSzPts val="2800"/>
                <a:buFont typeface="Calibri"/>
                <a:buNone/>
              </a:pPr>
              <a:r>
                <a:rPr b="0" i="0" lang="en-US" sz="2800" u="none" cap="none" strike="noStrike">
                  <a:solidFill>
                    <a:schemeClr val="lt1"/>
                  </a:solidFill>
                  <a:latin typeface="Calibri"/>
                  <a:ea typeface="Calibri"/>
                  <a:cs typeface="Calibri"/>
                  <a:sym typeface="Calibri"/>
                </a:rPr>
                <a:t>Auditorias de calidad</a:t>
              </a:r>
              <a:endParaRPr b="0" i="0" sz="2800" u="none" cap="none" strike="noStrike">
                <a:solidFill>
                  <a:schemeClr val="lt1"/>
                </a:solidFill>
                <a:latin typeface="Calibri"/>
                <a:ea typeface="Calibri"/>
                <a:cs typeface="Calibri"/>
                <a:sym typeface="Calibri"/>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8" name="Shape 248"/>
        <p:cNvGrpSpPr/>
        <p:nvPr/>
      </p:nvGrpSpPr>
      <p:grpSpPr>
        <a:xfrm>
          <a:off x="0" y="0"/>
          <a:ext cx="0" cy="0"/>
          <a:chOff x="0" y="0"/>
          <a:chExt cx="0" cy="0"/>
        </a:xfrm>
      </p:grpSpPr>
      <p:sp>
        <p:nvSpPr>
          <p:cNvPr id="249" name="Google Shape;249;p9"/>
          <p:cNvSpPr/>
          <p:nvPr/>
        </p:nvSpPr>
        <p:spPr>
          <a:xfrm>
            <a:off x="3048"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0" name="Google Shape;250;p9"/>
          <p:cNvSpPr/>
          <p:nvPr/>
        </p:nvSpPr>
        <p:spPr>
          <a:xfrm>
            <a:off x="489189" y="1119031"/>
            <a:ext cx="4619938" cy="4619938"/>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1" name="Google Shape;251;p9"/>
          <p:cNvSpPr txBox="1"/>
          <p:nvPr>
            <p:ph type="title"/>
          </p:nvPr>
        </p:nvSpPr>
        <p:spPr>
          <a:xfrm>
            <a:off x="1171074" y="1396686"/>
            <a:ext cx="3240506" cy="406462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libri"/>
              <a:buNone/>
            </a:pPr>
            <a:r>
              <a:rPr lang="en-US">
                <a:solidFill>
                  <a:srgbClr val="FFFFFF"/>
                </a:solidFill>
              </a:rPr>
              <a:t>Entonces QA y Continuous Testing son lo mismo…</a:t>
            </a:r>
            <a:endParaRPr>
              <a:solidFill>
                <a:srgbClr val="FFFFFF"/>
              </a:solidFill>
            </a:endParaRPr>
          </a:p>
        </p:txBody>
      </p:sp>
      <p:sp>
        <p:nvSpPr>
          <p:cNvPr id="252" name="Google Shape;252;p9"/>
          <p:cNvSpPr/>
          <p:nvPr/>
        </p:nvSpPr>
        <p:spPr>
          <a:xfrm rot="-1790889">
            <a:off x="8683720" y="941148"/>
            <a:ext cx="2987899" cy="2987899"/>
          </a:xfrm>
          <a:prstGeom prst="arc">
            <a:avLst>
              <a:gd fmla="val 15817365" name="adj1"/>
              <a:gd fmla="val 178138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53" name="Google Shape;253;p9"/>
          <p:cNvSpPr/>
          <p:nvPr/>
        </p:nvSpPr>
        <p:spPr>
          <a:xfrm>
            <a:off x="910048" y="4780992"/>
            <a:ext cx="546100" cy="546100"/>
          </a:xfrm>
          <a:prstGeom prst="ellipse">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4" name="Google Shape;254;p9"/>
          <p:cNvSpPr txBox="1"/>
          <p:nvPr>
            <p:ph idx="1" type="body"/>
          </p:nvPr>
        </p:nvSpPr>
        <p:spPr>
          <a:xfrm>
            <a:off x="5370153" y="1526033"/>
            <a:ext cx="5536397" cy="3935281"/>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NO. No confundir la maizena con la magnesia.</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8" name="Shape 258"/>
        <p:cNvGrpSpPr/>
        <p:nvPr/>
      </p:nvGrpSpPr>
      <p:grpSpPr>
        <a:xfrm>
          <a:off x="0" y="0"/>
          <a:ext cx="0" cy="0"/>
          <a:chOff x="0" y="0"/>
          <a:chExt cx="0" cy="0"/>
        </a:xfrm>
      </p:grpSpPr>
      <p:sp>
        <p:nvSpPr>
          <p:cNvPr id="259" name="Google Shape;259;g48584de576676619_23"/>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just">
              <a:lnSpc>
                <a:spcPct val="90000"/>
              </a:lnSpc>
              <a:spcBef>
                <a:spcPts val="0"/>
              </a:spcBef>
              <a:spcAft>
                <a:spcPts val="0"/>
              </a:spcAft>
              <a:buClr>
                <a:schemeClr val="dk1"/>
              </a:buClr>
              <a:buSzPts val="5040"/>
              <a:buFont typeface="Calibri"/>
              <a:buNone/>
            </a:pPr>
            <a:r>
              <a:rPr b="0" i="0" lang="en-US" sz="1940" u="none" cap="none" strike="noStrike">
                <a:solidFill>
                  <a:schemeClr val="dk1"/>
                </a:solidFill>
                <a:latin typeface="Calibri"/>
                <a:ea typeface="Calibri"/>
                <a:cs typeface="Calibri"/>
                <a:sym typeface="Calibri"/>
              </a:rPr>
              <a:t>z</a:t>
            </a:r>
            <a:endParaRPr b="0" i="0" sz="1400" u="none" cap="none" strike="noStrike">
              <a:solidFill>
                <a:srgbClr val="000000"/>
              </a:solidFill>
              <a:latin typeface="Arial"/>
              <a:ea typeface="Arial"/>
              <a:cs typeface="Arial"/>
              <a:sym typeface="Arial"/>
            </a:endParaRPr>
          </a:p>
        </p:txBody>
      </p:sp>
      <p:sp>
        <p:nvSpPr>
          <p:cNvPr id="260" name="Google Shape;260;g48584de576676619_23"/>
          <p:cNvSpPr txBox="1"/>
          <p:nvPr>
            <p:ph type="title"/>
          </p:nvPr>
        </p:nvSpPr>
        <p:spPr>
          <a:xfrm>
            <a:off x="6010248" y="1301127"/>
            <a:ext cx="4569600" cy="4821600"/>
          </a:xfrm>
          <a:prstGeom prst="rect">
            <a:avLst/>
          </a:prstGeom>
          <a:noFill/>
          <a:ln>
            <a:noFill/>
          </a:ln>
        </p:spPr>
        <p:txBody>
          <a:bodyPr anchorCtr="0" anchor="b" bIns="45700" lIns="91425" spcFirstLastPara="1" rIns="91425" wrap="square" tIns="45700">
            <a:noAutofit/>
          </a:bodyPr>
          <a:lstStyle/>
          <a:p>
            <a:pPr indent="0" lvl="0" marL="0" rtl="0" algn="just">
              <a:lnSpc>
                <a:spcPct val="90000"/>
              </a:lnSpc>
              <a:spcBef>
                <a:spcPts val="0"/>
              </a:spcBef>
              <a:spcAft>
                <a:spcPts val="0"/>
              </a:spcAft>
              <a:buClr>
                <a:schemeClr val="dk1"/>
              </a:buClr>
              <a:buSzPts val="5040"/>
              <a:buFont typeface="Calibri"/>
              <a:buNone/>
            </a:pPr>
            <a:r>
              <a:rPr lang="en-US" sz="1940"/>
              <a:t>Continuous Testing, por otro lado, es una práctica específica dentro del proceso de desarrollo de software que se centra en la ejecución automatizada de pruebas a lo largo del ciclo de vida del desarrollo, con el objetivo de proporcionar una retroalimentación rápida sobre la calidad del software en desarrollo. Continuous Testing es una parte clave de las metodologías de desarrollo ágil y DevOps, donde las pruebas automatizadas se integran en los pipelines de CI/CD para ejecutarse de manera continua con cada cambio de código. El objetivo es identificar problemas de calidad de manera temprana y asegurar que el software sea siempre funcional y libre de defectos.</a:t>
            </a:r>
            <a:endParaRPr sz="860"/>
          </a:p>
        </p:txBody>
      </p:sp>
      <p:sp>
        <p:nvSpPr>
          <p:cNvPr id="261" name="Google Shape;261;g48584de576676619_23"/>
          <p:cNvSpPr txBox="1"/>
          <p:nvPr>
            <p:ph type="title"/>
          </p:nvPr>
        </p:nvSpPr>
        <p:spPr>
          <a:xfrm>
            <a:off x="747873" y="540727"/>
            <a:ext cx="4569600" cy="4821600"/>
          </a:xfrm>
          <a:prstGeom prst="rect">
            <a:avLst/>
          </a:prstGeom>
          <a:noFill/>
          <a:ln>
            <a:noFill/>
          </a:ln>
        </p:spPr>
        <p:txBody>
          <a:bodyPr anchorCtr="0" anchor="b" bIns="45700" lIns="91425" spcFirstLastPara="1" rIns="91425" wrap="square" tIns="45700">
            <a:noAutofit/>
          </a:bodyPr>
          <a:lstStyle/>
          <a:p>
            <a:pPr indent="0" lvl="0" marL="0" rtl="0" algn="just">
              <a:lnSpc>
                <a:spcPct val="90000"/>
              </a:lnSpc>
              <a:spcBef>
                <a:spcPts val="0"/>
              </a:spcBef>
              <a:spcAft>
                <a:spcPts val="0"/>
              </a:spcAft>
              <a:buClr>
                <a:schemeClr val="dk1"/>
              </a:buClr>
              <a:buSzPts val="5040"/>
              <a:buFont typeface="Calibri"/>
              <a:buNone/>
            </a:pPr>
            <a:r>
              <a:rPr lang="en-US" sz="1940"/>
              <a:t>QA se refiere al conjunto de actividades y procesos planificados y sistemáticos que se implementan para garantizar que un producto o servicio cumpla con los estándares de calidad establecidos. Estas actividades pueden incluir la planificación de la calidad, la revisión de requisitos, el diseño y arquitectura, las pruebas de software, la automatización de pruebas, la gestión de la configuración, entre otras. El QA se enfoca en asegurar la calidad del producto final mediante la prevención y detección temprana de defectos a lo largo del ciclo de vida del desarrollo de software.</a:t>
            </a:r>
            <a:endParaRPr sz="86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5" name="Shape 265"/>
        <p:cNvGrpSpPr/>
        <p:nvPr/>
      </p:nvGrpSpPr>
      <p:grpSpPr>
        <a:xfrm>
          <a:off x="0" y="0"/>
          <a:ext cx="0" cy="0"/>
          <a:chOff x="0" y="0"/>
          <a:chExt cx="0" cy="0"/>
        </a:xfrm>
      </p:grpSpPr>
      <p:sp>
        <p:nvSpPr>
          <p:cNvPr id="266" name="Google Shape;266;p10"/>
          <p:cNvSpPr/>
          <p:nvPr/>
        </p:nvSpPr>
        <p:spPr>
          <a:xfrm>
            <a:off x="3048"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7" name="Google Shape;267;p10"/>
          <p:cNvSpPr/>
          <p:nvPr/>
        </p:nvSpPr>
        <p:spPr>
          <a:xfrm>
            <a:off x="0" y="0"/>
            <a:ext cx="12192000" cy="685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8" name="Google Shape;268;p10"/>
          <p:cNvSpPr/>
          <p:nvPr/>
        </p:nvSpPr>
        <p:spPr>
          <a:xfrm>
            <a:off x="2769476" y="220196"/>
            <a:ext cx="9422524" cy="6637806"/>
          </a:xfrm>
          <a:custGeom>
            <a:rect b="b" l="l" r="r" t="t"/>
            <a:pathLst>
              <a:path extrusionOk="0" h="5770597" w="8191500">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9" name="Google Shape;269;p10"/>
          <p:cNvSpPr/>
          <p:nvPr/>
        </p:nvSpPr>
        <p:spPr>
          <a:xfrm>
            <a:off x="2209800" y="2099696"/>
            <a:ext cx="1942241" cy="1889551"/>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0" name="Google Shape;270;p10"/>
          <p:cNvSpPr/>
          <p:nvPr/>
        </p:nvSpPr>
        <p:spPr>
          <a:xfrm rot="-3079828">
            <a:off x="1613162" y="1492572"/>
            <a:ext cx="2987899" cy="2987899"/>
          </a:xfrm>
          <a:prstGeom prst="arc">
            <a:avLst>
              <a:gd fmla="val 14455503" name="adj1"/>
              <a:gd fmla="val 227775"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1" name="Google Shape;271;p10"/>
          <p:cNvSpPr txBox="1"/>
          <p:nvPr>
            <p:ph type="ctrTitle"/>
          </p:nvPr>
        </p:nvSpPr>
        <p:spPr>
          <a:xfrm>
            <a:off x="4202400" y="-402266"/>
            <a:ext cx="7644600" cy="2751000"/>
          </a:xfrm>
          <a:prstGeom prst="rect">
            <a:avLst/>
          </a:prstGeom>
          <a:noFill/>
          <a:ln>
            <a:noFill/>
          </a:ln>
        </p:spPr>
        <p:txBody>
          <a:bodyPr anchorCtr="0" anchor="b" bIns="45700" lIns="91425" spcFirstLastPara="1" rIns="91425" wrap="square" tIns="45700">
            <a:normAutofit/>
          </a:bodyPr>
          <a:lstStyle/>
          <a:p>
            <a:pPr indent="0" lvl="0" marL="0" rtl="0" algn="r">
              <a:lnSpc>
                <a:spcPct val="90000"/>
              </a:lnSpc>
              <a:spcBef>
                <a:spcPts val="0"/>
              </a:spcBef>
              <a:spcAft>
                <a:spcPts val="0"/>
              </a:spcAft>
              <a:buClr>
                <a:schemeClr val="dk1"/>
              </a:buClr>
              <a:buSzPts val="6000"/>
              <a:buFont typeface="Calibri"/>
              <a:buNone/>
            </a:pPr>
            <a:r>
              <a:rPr lang="en-US"/>
              <a:t>Tipos de Testing</a:t>
            </a:r>
            <a:endParaRPr/>
          </a:p>
        </p:txBody>
      </p:sp>
      <p:sp>
        <p:nvSpPr>
          <p:cNvPr id="272" name="Google Shape;272;p10"/>
          <p:cNvSpPr txBox="1"/>
          <p:nvPr>
            <p:ph idx="1" type="subTitle"/>
          </p:nvPr>
        </p:nvSpPr>
        <p:spPr>
          <a:xfrm>
            <a:off x="4038600" y="3123240"/>
            <a:ext cx="7644600" cy="2988600"/>
          </a:xfrm>
          <a:prstGeom prst="rect">
            <a:avLst/>
          </a:prstGeom>
          <a:noFill/>
          <a:ln>
            <a:noFill/>
          </a:ln>
        </p:spPr>
        <p:txBody>
          <a:bodyPr anchorCtr="0" anchor="t" bIns="45700" lIns="91425" spcFirstLastPara="1" rIns="91425" wrap="square" tIns="45700">
            <a:normAutofit lnSpcReduction="20000"/>
          </a:bodyPr>
          <a:lstStyle/>
          <a:p>
            <a:pPr indent="0" lvl="0" marL="0" rtl="0" algn="r">
              <a:lnSpc>
                <a:spcPct val="90000"/>
              </a:lnSpc>
              <a:spcBef>
                <a:spcPts val="0"/>
              </a:spcBef>
              <a:spcAft>
                <a:spcPts val="0"/>
              </a:spcAft>
              <a:buClr>
                <a:schemeClr val="dk1"/>
              </a:buClr>
              <a:buSzPts val="1100"/>
              <a:buFont typeface="Arial"/>
              <a:buNone/>
            </a:pPr>
            <a:r>
              <a:rPr b="1" lang="en-US" sz="2500"/>
              <a:t>Pruebas unitarias</a:t>
            </a:r>
            <a:endParaRPr b="1" sz="2500"/>
          </a:p>
          <a:p>
            <a:pPr indent="0" lvl="0" marL="0" rtl="0" algn="r">
              <a:lnSpc>
                <a:spcPct val="90000"/>
              </a:lnSpc>
              <a:spcBef>
                <a:spcPts val="0"/>
              </a:spcBef>
              <a:spcAft>
                <a:spcPts val="0"/>
              </a:spcAft>
              <a:buClr>
                <a:schemeClr val="dk1"/>
              </a:buClr>
              <a:buSzPts val="1100"/>
              <a:buFont typeface="Arial"/>
              <a:buNone/>
            </a:pPr>
            <a:r>
              <a:rPr b="1" lang="en-US" sz="2500"/>
              <a:t>Pruebas de integracion</a:t>
            </a:r>
            <a:endParaRPr b="1" sz="2500"/>
          </a:p>
          <a:p>
            <a:pPr indent="0" lvl="0" marL="0" rtl="0" algn="r">
              <a:lnSpc>
                <a:spcPct val="90000"/>
              </a:lnSpc>
              <a:spcBef>
                <a:spcPts val="0"/>
              </a:spcBef>
              <a:spcAft>
                <a:spcPts val="0"/>
              </a:spcAft>
              <a:buClr>
                <a:schemeClr val="dk1"/>
              </a:buClr>
              <a:buSzPts val="1100"/>
              <a:buFont typeface="Arial"/>
              <a:buNone/>
            </a:pPr>
            <a:r>
              <a:rPr b="1" lang="en-US" sz="2500"/>
              <a:t>Pruebas de regresion</a:t>
            </a:r>
            <a:endParaRPr b="1" sz="2500"/>
          </a:p>
          <a:p>
            <a:pPr indent="0" lvl="0" marL="0" rtl="0" algn="r">
              <a:lnSpc>
                <a:spcPct val="90000"/>
              </a:lnSpc>
              <a:spcBef>
                <a:spcPts val="0"/>
              </a:spcBef>
              <a:spcAft>
                <a:spcPts val="0"/>
              </a:spcAft>
              <a:buClr>
                <a:schemeClr val="dk1"/>
              </a:buClr>
              <a:buSzPts val="1100"/>
              <a:buFont typeface="Arial"/>
              <a:buNone/>
            </a:pPr>
            <a:r>
              <a:rPr b="1" lang="en-US" sz="2500"/>
              <a:t>Pruebas de aceptacion de usuario (UAT)</a:t>
            </a:r>
            <a:endParaRPr b="1" sz="2500"/>
          </a:p>
          <a:p>
            <a:pPr indent="0" lvl="0" marL="0" rtl="0" algn="r">
              <a:lnSpc>
                <a:spcPct val="90000"/>
              </a:lnSpc>
              <a:spcBef>
                <a:spcPts val="0"/>
              </a:spcBef>
              <a:spcAft>
                <a:spcPts val="0"/>
              </a:spcAft>
              <a:buClr>
                <a:schemeClr val="dk1"/>
              </a:buClr>
              <a:buSzPts val="1100"/>
              <a:buFont typeface="Arial"/>
              <a:buNone/>
            </a:pPr>
            <a:r>
              <a:rPr b="1" lang="en-US" sz="2500"/>
              <a:t>Pruebas de interfaz de usuario (UI)</a:t>
            </a:r>
            <a:endParaRPr b="1" sz="2500"/>
          </a:p>
          <a:p>
            <a:pPr indent="0" lvl="0" marL="0" rtl="0" algn="r">
              <a:lnSpc>
                <a:spcPct val="90000"/>
              </a:lnSpc>
              <a:spcBef>
                <a:spcPts val="0"/>
              </a:spcBef>
              <a:spcAft>
                <a:spcPts val="0"/>
              </a:spcAft>
              <a:buClr>
                <a:schemeClr val="dk1"/>
              </a:buClr>
              <a:buSzPts val="1100"/>
              <a:buFont typeface="Arial"/>
              <a:buNone/>
            </a:pPr>
            <a:r>
              <a:rPr b="1" lang="en-US" sz="2500"/>
              <a:t>Pruebas de rendimiento</a:t>
            </a:r>
            <a:endParaRPr b="1" sz="2500"/>
          </a:p>
          <a:p>
            <a:pPr indent="0" lvl="0" marL="0" rtl="0" algn="r">
              <a:lnSpc>
                <a:spcPct val="90000"/>
              </a:lnSpc>
              <a:spcBef>
                <a:spcPts val="0"/>
              </a:spcBef>
              <a:spcAft>
                <a:spcPts val="0"/>
              </a:spcAft>
              <a:buClr>
                <a:schemeClr val="dk1"/>
              </a:buClr>
              <a:buSzPts val="1100"/>
              <a:buFont typeface="Arial"/>
              <a:buNone/>
            </a:pPr>
            <a:r>
              <a:rPr b="1" lang="en-US" sz="2500"/>
              <a:t>Pruebas de Seguridad</a:t>
            </a:r>
            <a:endParaRPr b="1" sz="2500"/>
          </a:p>
          <a:p>
            <a:pPr indent="0" lvl="0" marL="0" rtl="0" algn="r">
              <a:lnSpc>
                <a:spcPct val="90000"/>
              </a:lnSpc>
              <a:spcBef>
                <a:spcPts val="0"/>
              </a:spcBef>
              <a:spcAft>
                <a:spcPts val="0"/>
              </a:spcAft>
              <a:buClr>
                <a:schemeClr val="dk1"/>
              </a:buClr>
              <a:buSzPts val="1100"/>
              <a:buFont typeface="Arial"/>
              <a:buNone/>
            </a:pPr>
            <a:r>
              <a:rPr b="1" lang="en-US" sz="2500"/>
              <a:t>Pruebas de Integracion Continua</a:t>
            </a:r>
            <a:endParaRPr b="1" sz="2500"/>
          </a:p>
          <a:p>
            <a:pPr indent="0" lvl="0" marL="0" rtl="0" algn="r">
              <a:lnSpc>
                <a:spcPct val="90000"/>
              </a:lnSpc>
              <a:spcBef>
                <a:spcPts val="0"/>
              </a:spcBef>
              <a:spcAft>
                <a:spcPts val="0"/>
              </a:spcAft>
              <a:buClr>
                <a:schemeClr val="dk1"/>
              </a:buClr>
              <a:buSzPts val="1100"/>
              <a:buFont typeface="Arial"/>
              <a:buNone/>
            </a:pPr>
            <a:r>
              <a:rPr b="1" lang="en-US" sz="2500"/>
              <a:t>Pruebas de Despliegue Continuo</a:t>
            </a:r>
            <a:endParaRPr b="1" sz="2500"/>
          </a:p>
          <a:p>
            <a:pPr indent="0" lvl="0" marL="0" rtl="0" algn="r">
              <a:lnSpc>
                <a:spcPct val="90000"/>
              </a:lnSpc>
              <a:spcBef>
                <a:spcPts val="0"/>
              </a:spcBef>
              <a:spcAft>
                <a:spcPts val="0"/>
              </a:spcAft>
              <a:buClr>
                <a:schemeClr val="dk1"/>
              </a:buClr>
              <a:buSzPts val="2400"/>
              <a:buNone/>
            </a:pPr>
            <a:r>
              <a:t/>
            </a:r>
            <a:endParaRPr b="1"/>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6" name="Shape 276"/>
        <p:cNvGrpSpPr/>
        <p:nvPr/>
      </p:nvGrpSpPr>
      <p:grpSpPr>
        <a:xfrm>
          <a:off x="0" y="0"/>
          <a:ext cx="0" cy="0"/>
          <a:chOff x="0" y="0"/>
          <a:chExt cx="0" cy="0"/>
        </a:xfrm>
      </p:grpSpPr>
      <p:sp>
        <p:nvSpPr>
          <p:cNvPr id="277" name="Google Shape;277;g48584de576676619_44"/>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8" name="Google Shape;278;g48584de576676619_44"/>
          <p:cNvSpPr/>
          <p:nvPr/>
        </p:nvSpPr>
        <p:spPr>
          <a:xfrm>
            <a:off x="0" y="-1"/>
            <a:ext cx="12192000" cy="6858000"/>
          </a:xfrm>
          <a:prstGeom prst="rect">
            <a:avLst/>
          </a:prstGeom>
          <a:solidFill>
            <a:schemeClr val="accent1">
              <a:alpha val="2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9" name="Google Shape;279;g48584de576676619_44"/>
          <p:cNvSpPr txBox="1"/>
          <p:nvPr>
            <p:ph type="title"/>
          </p:nvPr>
        </p:nvSpPr>
        <p:spPr>
          <a:xfrm>
            <a:off x="731520" y="1170432"/>
            <a:ext cx="10533900" cy="27342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8000"/>
              <a:buFont typeface="Calibri"/>
              <a:buNone/>
            </a:pPr>
            <a:r>
              <a:rPr b="1" lang="en-US" sz="8000">
                <a:solidFill>
                  <a:schemeClr val="dk2"/>
                </a:solidFill>
              </a:rPr>
              <a:t>Herramientas </a:t>
            </a:r>
            <a:br>
              <a:rPr b="1" lang="en-US" sz="8000">
                <a:solidFill>
                  <a:schemeClr val="dk2"/>
                </a:solidFill>
              </a:rPr>
            </a:br>
            <a:r>
              <a:rPr b="1" lang="en-US" sz="8000">
                <a:solidFill>
                  <a:schemeClr val="dk2"/>
                </a:solidFill>
              </a:rPr>
              <a:t>de testing</a:t>
            </a:r>
            <a:endParaRPr sz="8000">
              <a:solidFill>
                <a:schemeClr val="dk2"/>
              </a:solidFill>
            </a:endParaRPr>
          </a:p>
        </p:txBody>
      </p:sp>
      <p:cxnSp>
        <p:nvCxnSpPr>
          <p:cNvPr id="280" name="Google Shape;280;g48584de576676619_44"/>
          <p:cNvCxnSpPr/>
          <p:nvPr/>
        </p:nvCxnSpPr>
        <p:spPr>
          <a:xfrm flipH="1">
            <a:off x="732463" y="246028"/>
            <a:ext cx="255600" cy="546600"/>
          </a:xfrm>
          <a:prstGeom prst="straightConnector1">
            <a:avLst/>
          </a:prstGeom>
          <a:noFill/>
          <a:ln cap="flat" cmpd="sng" w="12700">
            <a:solidFill>
              <a:schemeClr val="dk2"/>
            </a:solidFill>
            <a:prstDash val="solid"/>
            <a:miter lim="800000"/>
            <a:headEnd len="sm" w="sm" type="none"/>
            <a:tailEnd len="sm" w="sm" type="none"/>
          </a:ln>
        </p:spPr>
      </p:cxnSp>
      <p:sp>
        <p:nvSpPr>
          <p:cNvPr id="281" name="Google Shape;281;g48584de576676619_44"/>
          <p:cNvSpPr txBox="1"/>
          <p:nvPr>
            <p:ph idx="1" type="body"/>
          </p:nvPr>
        </p:nvSpPr>
        <p:spPr>
          <a:xfrm>
            <a:off x="731520" y="4069080"/>
            <a:ext cx="10515600" cy="2042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t/>
            </a:r>
            <a:endParaRPr sz="1800">
              <a:solidFill>
                <a:schemeClr val="dk2"/>
              </a:solidFill>
            </a:endParaRPr>
          </a:p>
        </p:txBody>
      </p:sp>
      <p:cxnSp>
        <p:nvCxnSpPr>
          <p:cNvPr id="282" name="Google Shape;282;g48584de576676619_44"/>
          <p:cNvCxnSpPr/>
          <p:nvPr/>
        </p:nvCxnSpPr>
        <p:spPr>
          <a:xfrm rot="10800000">
            <a:off x="840428" y="6522756"/>
            <a:ext cx="10717200" cy="0"/>
          </a:xfrm>
          <a:prstGeom prst="straightConnector1">
            <a:avLst/>
          </a:prstGeom>
          <a:noFill/>
          <a:ln cap="sq" cmpd="sng" w="12700">
            <a:solidFill>
              <a:schemeClr val="dk2"/>
            </a:solidFill>
            <a:prstDash val="solid"/>
            <a:miter lim="800000"/>
            <a:headEnd len="sm" w="sm" type="none"/>
            <a:tailEnd len="sm" w="sm" type="none"/>
          </a:ln>
        </p:spPr>
      </p:cxnSp>
      <p:grpSp>
        <p:nvGrpSpPr>
          <p:cNvPr id="283" name="Google Shape;283;g48584de576676619_44"/>
          <p:cNvGrpSpPr/>
          <p:nvPr/>
        </p:nvGrpSpPr>
        <p:grpSpPr>
          <a:xfrm>
            <a:off x="12829917" y="6400806"/>
            <a:ext cx="338400" cy="240221"/>
            <a:chOff x="4089400" y="933450"/>
            <a:chExt cx="338400" cy="342000"/>
          </a:xfrm>
        </p:grpSpPr>
        <p:cxnSp>
          <p:nvCxnSpPr>
            <p:cNvPr id="284" name="Google Shape;284;g48584de576676619_44"/>
            <p:cNvCxnSpPr/>
            <p:nvPr/>
          </p:nvCxnSpPr>
          <p:spPr>
            <a:xfrm>
              <a:off x="4258564" y="933450"/>
              <a:ext cx="0" cy="342000"/>
            </a:xfrm>
            <a:prstGeom prst="straightConnector1">
              <a:avLst/>
            </a:prstGeom>
            <a:noFill/>
            <a:ln cap="flat" cmpd="sng" w="12700">
              <a:solidFill>
                <a:schemeClr val="dk2"/>
              </a:solidFill>
              <a:prstDash val="solid"/>
              <a:miter lim="800000"/>
              <a:headEnd len="sm" w="sm" type="none"/>
              <a:tailEnd len="sm" w="sm" type="none"/>
            </a:ln>
          </p:spPr>
        </p:cxnSp>
        <p:cxnSp>
          <p:nvCxnSpPr>
            <p:cNvPr id="285" name="Google Shape;285;g48584de576676619_44"/>
            <p:cNvCxnSpPr/>
            <p:nvPr/>
          </p:nvCxnSpPr>
          <p:spPr>
            <a:xfrm>
              <a:off x="4089400" y="1104419"/>
              <a:ext cx="338400" cy="0"/>
            </a:xfrm>
            <a:prstGeom prst="straightConnector1">
              <a:avLst/>
            </a:prstGeom>
            <a:noFill/>
            <a:ln cap="flat" cmpd="sng" w="12700">
              <a:solidFill>
                <a:schemeClr val="dk2"/>
              </a:solidFill>
              <a:prstDash val="solid"/>
              <a:miter lim="800000"/>
              <a:headEnd len="sm" w="sm" type="none"/>
              <a:tailEnd len="sm" w="sm" type="none"/>
            </a:ln>
          </p:spPr>
        </p:cxn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9" name="Shape 289"/>
        <p:cNvGrpSpPr/>
        <p:nvPr/>
      </p:nvGrpSpPr>
      <p:grpSpPr>
        <a:xfrm>
          <a:off x="0" y="0"/>
          <a:ext cx="0" cy="0"/>
          <a:chOff x="0" y="0"/>
          <a:chExt cx="0" cy="0"/>
        </a:xfrm>
      </p:grpSpPr>
      <p:sp>
        <p:nvSpPr>
          <p:cNvPr id="290" name="Google Shape;290;g48584de576676619_56"/>
          <p:cNvSpPr/>
          <p:nvPr/>
        </p:nvSpPr>
        <p:spPr>
          <a:xfrm>
            <a:off x="0" y="0"/>
            <a:ext cx="12192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1" name="Google Shape;291;g48584de576676619_56"/>
          <p:cNvSpPr/>
          <p:nvPr/>
        </p:nvSpPr>
        <p:spPr>
          <a:xfrm>
            <a:off x="0" y="0"/>
            <a:ext cx="2013600" cy="6858000"/>
          </a:xfrm>
          <a:prstGeom prst="rect">
            <a:avLst/>
          </a:prstGeom>
          <a:solidFill>
            <a:srgbClr val="35475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2" name="Google Shape;292;g48584de576676619_56"/>
          <p:cNvSpPr/>
          <p:nvPr>
            <p:ph type="title"/>
          </p:nvPr>
        </p:nvSpPr>
        <p:spPr>
          <a:xfrm>
            <a:off x="640080" y="2074363"/>
            <a:ext cx="2752500" cy="2709300"/>
          </a:xfrm>
          <a:prstGeom prst="ellipse">
            <a:avLst/>
          </a:prstGeom>
          <a:solidFill>
            <a:srgbClr val="262626"/>
          </a:solidFill>
          <a:ln cap="flat" cmpd="thinThick" w="174625">
            <a:solidFill>
              <a:srgbClr val="262626"/>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2200"/>
              <a:buFont typeface="Calibri"/>
              <a:buNone/>
            </a:pPr>
            <a:r>
              <a:t/>
            </a:r>
            <a:endParaRPr sz="2200">
              <a:solidFill>
                <a:srgbClr val="FFFFFF"/>
              </a:solidFill>
              <a:latin typeface="Calibri"/>
              <a:ea typeface="Calibri"/>
              <a:cs typeface="Calibri"/>
              <a:sym typeface="Calibri"/>
            </a:endParaRPr>
          </a:p>
        </p:txBody>
      </p:sp>
      <p:pic>
        <p:nvPicPr>
          <p:cNvPr id="293" name="Google Shape;293;g48584de576676619_56"/>
          <p:cNvPicPr preferRelativeResize="0"/>
          <p:nvPr/>
        </p:nvPicPr>
        <p:blipFill rotWithShape="1">
          <a:blip r:embed="rId3">
            <a:alphaModFix/>
          </a:blip>
          <a:srcRect b="0" l="0" r="0" t="0"/>
          <a:stretch/>
        </p:blipFill>
        <p:spPr>
          <a:xfrm>
            <a:off x="4259100" y="675625"/>
            <a:ext cx="7194349" cy="539022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7" name="Shape 297"/>
        <p:cNvGrpSpPr/>
        <p:nvPr/>
      </p:nvGrpSpPr>
      <p:grpSpPr>
        <a:xfrm>
          <a:off x="0" y="0"/>
          <a:ext cx="0" cy="0"/>
          <a:chOff x="0" y="0"/>
          <a:chExt cx="0" cy="0"/>
        </a:xfrm>
      </p:grpSpPr>
      <p:sp>
        <p:nvSpPr>
          <p:cNvPr id="298" name="Google Shape;298;p13"/>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9" name="Google Shape;299;p13"/>
          <p:cNvSpPr txBox="1"/>
          <p:nvPr>
            <p:ph type="title"/>
          </p:nvPr>
        </p:nvSpPr>
        <p:spPr>
          <a:xfrm>
            <a:off x="638882" y="639193"/>
            <a:ext cx="3571810" cy="357351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600"/>
              <a:buFont typeface="Calibri"/>
              <a:buNone/>
            </a:pPr>
            <a:r>
              <a:rPr lang="en-US" sz="5600"/>
              <a:t>Pruebas unitarias</a:t>
            </a:r>
            <a:endParaRPr/>
          </a:p>
        </p:txBody>
      </p:sp>
      <p:sp>
        <p:nvSpPr>
          <p:cNvPr id="300" name="Google Shape;300;p13"/>
          <p:cNvSpPr/>
          <p:nvPr/>
        </p:nvSpPr>
        <p:spPr>
          <a:xfrm>
            <a:off x="643278" y="4409267"/>
            <a:ext cx="3255095" cy="18288"/>
          </a:xfrm>
          <a:custGeom>
            <a:rect b="b" l="l" r="r" t="t"/>
            <a:pathLst>
              <a:path extrusionOk="0" fill="none" h="18288" w="3255095">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extrusionOk="0" h="18288" w="3255095">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cap="rnd" cmpd="sng" w="381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1" name="Google Shape;301;p13"/>
          <p:cNvSpPr txBox="1"/>
          <p:nvPr/>
        </p:nvSpPr>
        <p:spPr>
          <a:xfrm>
            <a:off x="5929800" y="1397250"/>
            <a:ext cx="5558400" cy="39096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alibri"/>
                <a:ea typeface="Calibri"/>
                <a:cs typeface="Calibri"/>
                <a:sym typeface="Calibri"/>
              </a:rPr>
              <a:t>Tipo de prueba en el desarrollo de software que se centra en verificar el funcionamiento individual de unidades aisladas de código, como funciones, métodos o clases. El objetivo principal de las pruebas unitarias es asegurar que cada unidad de código funcione correctamente según su especificación y que produzca el resultado esperado para un conjunto específico de entradas.</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5" name="Shape 305"/>
        <p:cNvGrpSpPr/>
        <p:nvPr/>
      </p:nvGrpSpPr>
      <p:grpSpPr>
        <a:xfrm>
          <a:off x="0" y="0"/>
          <a:ext cx="0" cy="0"/>
          <a:chOff x="0" y="0"/>
          <a:chExt cx="0" cy="0"/>
        </a:xfrm>
      </p:grpSpPr>
      <p:sp>
        <p:nvSpPr>
          <p:cNvPr id="306" name="Google Shape;306;g48584de576676619_35"/>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7" name="Google Shape;307;g48584de576676619_35"/>
          <p:cNvSpPr txBox="1"/>
          <p:nvPr>
            <p:ph type="title"/>
          </p:nvPr>
        </p:nvSpPr>
        <p:spPr>
          <a:xfrm>
            <a:off x="638875" y="639200"/>
            <a:ext cx="4613100" cy="35736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600"/>
              <a:buFont typeface="Calibri"/>
              <a:buNone/>
            </a:pPr>
            <a:r>
              <a:rPr lang="en-US" sz="5600"/>
              <a:t>Caracteristicas</a:t>
            </a:r>
            <a:endParaRPr/>
          </a:p>
        </p:txBody>
      </p:sp>
      <p:sp>
        <p:nvSpPr>
          <p:cNvPr id="308" name="Google Shape;308;g48584de576676619_35"/>
          <p:cNvSpPr/>
          <p:nvPr/>
        </p:nvSpPr>
        <p:spPr>
          <a:xfrm>
            <a:off x="643278" y="4409267"/>
            <a:ext cx="3255095" cy="18288"/>
          </a:xfrm>
          <a:custGeom>
            <a:rect b="b" l="l" r="r" t="t"/>
            <a:pathLst>
              <a:path extrusionOk="0" fill="none" h="18288" w="3255095">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extrusionOk="0" h="18288" w="3255095">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cap="rnd" cmpd="sng" w="381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9" name="Google Shape;309;g48584de576676619_35"/>
          <p:cNvSpPr txBox="1"/>
          <p:nvPr/>
        </p:nvSpPr>
        <p:spPr>
          <a:xfrm>
            <a:off x="5810450" y="2243650"/>
            <a:ext cx="5558400" cy="32016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0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 Aislamiento de la unidad de código</a:t>
            </a:r>
            <a:endParaRPr b="0" i="0" sz="2800" u="none" cap="none" strike="noStrike">
              <a:solidFill>
                <a:schemeClr val="dk1"/>
              </a:solidFill>
              <a:latin typeface="Calibri"/>
              <a:ea typeface="Calibri"/>
              <a:cs typeface="Calibri"/>
              <a:sym typeface="Calibri"/>
            </a:endParaRPr>
          </a:p>
          <a:p>
            <a:pPr indent="-406400" lvl="0" marL="457200" marR="0" rtl="0" algn="l">
              <a:lnSpc>
                <a:spcPct val="10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Automatizacion</a:t>
            </a:r>
            <a:endParaRPr b="0" i="0" sz="2800" u="none" cap="none" strike="noStrike">
              <a:solidFill>
                <a:schemeClr val="dk1"/>
              </a:solidFill>
              <a:latin typeface="Calibri"/>
              <a:ea typeface="Calibri"/>
              <a:cs typeface="Calibri"/>
              <a:sym typeface="Calibri"/>
            </a:endParaRPr>
          </a:p>
          <a:p>
            <a:pPr indent="-406400" lvl="0" marL="457200" marR="0" rtl="0" algn="l">
              <a:lnSpc>
                <a:spcPct val="10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Especificidad y Granularidad</a:t>
            </a:r>
            <a:endParaRPr b="0" i="0" sz="2800" u="none" cap="none" strike="noStrike">
              <a:solidFill>
                <a:schemeClr val="dk1"/>
              </a:solidFill>
              <a:latin typeface="Calibri"/>
              <a:ea typeface="Calibri"/>
              <a:cs typeface="Calibri"/>
              <a:sym typeface="Calibri"/>
            </a:endParaRPr>
          </a:p>
          <a:p>
            <a:pPr indent="-406400" lvl="0" marL="457200" marR="0" rtl="0" algn="l">
              <a:lnSpc>
                <a:spcPct val="10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Retroalimentación inmediata</a:t>
            </a:r>
            <a:endParaRPr b="0" i="0" sz="28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3" name="Shape 313"/>
        <p:cNvGrpSpPr/>
        <p:nvPr/>
      </p:nvGrpSpPr>
      <p:grpSpPr>
        <a:xfrm>
          <a:off x="0" y="0"/>
          <a:ext cx="0" cy="0"/>
          <a:chOff x="0" y="0"/>
          <a:chExt cx="0" cy="0"/>
        </a:xfrm>
      </p:grpSpPr>
      <p:sp>
        <p:nvSpPr>
          <p:cNvPr id="314" name="Google Shape;314;p14"/>
          <p:cNvSpPr/>
          <p:nvPr/>
        </p:nvSpPr>
        <p:spPr>
          <a:xfrm>
            <a:off x="0" y="0"/>
            <a:ext cx="12192000" cy="6858001"/>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5" name="Google Shape;315;p14"/>
          <p:cNvSpPr/>
          <p:nvPr/>
        </p:nvSpPr>
        <p:spPr>
          <a:xfrm>
            <a:off x="0" y="-1"/>
            <a:ext cx="12192000" cy="6858000"/>
          </a:xfrm>
          <a:prstGeom prst="rect">
            <a:avLst/>
          </a:prstGeom>
          <a:solidFill>
            <a:schemeClr val="accent1">
              <a:alpha val="2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6" name="Google Shape;316;p14"/>
          <p:cNvSpPr txBox="1"/>
          <p:nvPr>
            <p:ph type="title"/>
          </p:nvPr>
        </p:nvSpPr>
        <p:spPr>
          <a:xfrm>
            <a:off x="731520" y="1170432"/>
            <a:ext cx="10533888" cy="273405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8000"/>
              <a:buFont typeface="Calibri"/>
              <a:buNone/>
            </a:pPr>
            <a:r>
              <a:rPr b="1" lang="en-US" sz="8000">
                <a:solidFill>
                  <a:schemeClr val="dk2"/>
                </a:solidFill>
              </a:rPr>
              <a:t>Herramientas </a:t>
            </a:r>
            <a:br>
              <a:rPr b="1" lang="en-US" sz="8000">
                <a:solidFill>
                  <a:schemeClr val="dk2"/>
                </a:solidFill>
              </a:rPr>
            </a:br>
            <a:r>
              <a:rPr b="1" lang="en-US" sz="8000">
                <a:solidFill>
                  <a:schemeClr val="dk2"/>
                </a:solidFill>
              </a:rPr>
              <a:t>Pruebas unitarias</a:t>
            </a:r>
            <a:endParaRPr sz="8000">
              <a:solidFill>
                <a:schemeClr val="dk2"/>
              </a:solidFill>
            </a:endParaRPr>
          </a:p>
        </p:txBody>
      </p:sp>
      <p:cxnSp>
        <p:nvCxnSpPr>
          <p:cNvPr id="317" name="Google Shape;317;p14"/>
          <p:cNvCxnSpPr/>
          <p:nvPr/>
        </p:nvCxnSpPr>
        <p:spPr>
          <a:xfrm flipH="1">
            <a:off x="732568" y="246028"/>
            <a:ext cx="255495" cy="546559"/>
          </a:xfrm>
          <a:prstGeom prst="straightConnector1">
            <a:avLst/>
          </a:prstGeom>
          <a:noFill/>
          <a:ln cap="flat" cmpd="sng" w="12700">
            <a:solidFill>
              <a:schemeClr val="dk2"/>
            </a:solidFill>
            <a:prstDash val="solid"/>
            <a:miter lim="800000"/>
            <a:headEnd len="sm" w="sm" type="none"/>
            <a:tailEnd len="sm" w="sm" type="none"/>
          </a:ln>
        </p:spPr>
      </p:cxnSp>
      <p:sp>
        <p:nvSpPr>
          <p:cNvPr id="318" name="Google Shape;318;p14"/>
          <p:cNvSpPr txBox="1"/>
          <p:nvPr>
            <p:ph idx="1" type="body"/>
          </p:nvPr>
        </p:nvSpPr>
        <p:spPr>
          <a:xfrm>
            <a:off x="731520" y="4069080"/>
            <a:ext cx="10515600" cy="204260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t/>
            </a:r>
            <a:endParaRPr sz="1800">
              <a:solidFill>
                <a:schemeClr val="dk2"/>
              </a:solidFill>
            </a:endParaRPr>
          </a:p>
        </p:txBody>
      </p:sp>
      <p:cxnSp>
        <p:nvCxnSpPr>
          <p:cNvPr id="319" name="Google Shape;319;p14"/>
          <p:cNvCxnSpPr/>
          <p:nvPr/>
        </p:nvCxnSpPr>
        <p:spPr>
          <a:xfrm rot="10800000">
            <a:off x="840441" y="6522756"/>
            <a:ext cx="10717187" cy="0"/>
          </a:xfrm>
          <a:prstGeom prst="straightConnector1">
            <a:avLst/>
          </a:prstGeom>
          <a:noFill/>
          <a:ln cap="sq" cmpd="sng" w="12700">
            <a:solidFill>
              <a:schemeClr val="dk2"/>
            </a:solidFill>
            <a:prstDash val="solid"/>
            <a:miter lim="800000"/>
            <a:headEnd len="sm" w="sm" type="none"/>
            <a:tailEnd len="sm" w="sm" type="none"/>
          </a:ln>
        </p:spPr>
      </p:cxnSp>
      <p:grpSp>
        <p:nvGrpSpPr>
          <p:cNvPr id="320" name="Google Shape;320;p14"/>
          <p:cNvGrpSpPr/>
          <p:nvPr/>
        </p:nvGrpSpPr>
        <p:grpSpPr>
          <a:xfrm>
            <a:off x="12829917" y="6400800"/>
            <a:ext cx="338328" cy="240175"/>
            <a:chOff x="4089400" y="933450"/>
            <a:chExt cx="338328" cy="341938"/>
          </a:xfrm>
        </p:grpSpPr>
        <p:cxnSp>
          <p:nvCxnSpPr>
            <p:cNvPr id="321" name="Google Shape;321;p14"/>
            <p:cNvCxnSpPr/>
            <p:nvPr/>
          </p:nvCxnSpPr>
          <p:spPr>
            <a:xfrm>
              <a:off x="4258564" y="933450"/>
              <a:ext cx="0" cy="341938"/>
            </a:xfrm>
            <a:prstGeom prst="straightConnector1">
              <a:avLst/>
            </a:prstGeom>
            <a:noFill/>
            <a:ln cap="flat" cmpd="sng" w="12700">
              <a:solidFill>
                <a:schemeClr val="dk2"/>
              </a:solidFill>
              <a:prstDash val="solid"/>
              <a:miter lim="800000"/>
              <a:headEnd len="sm" w="sm" type="none"/>
              <a:tailEnd len="sm" w="sm" type="none"/>
            </a:ln>
          </p:spPr>
        </p:cxnSp>
        <p:cxnSp>
          <p:nvCxnSpPr>
            <p:cNvPr id="322" name="Google Shape;322;p14"/>
            <p:cNvCxnSpPr/>
            <p:nvPr/>
          </p:nvCxnSpPr>
          <p:spPr>
            <a:xfrm>
              <a:off x="4089400" y="1104419"/>
              <a:ext cx="338328" cy="0"/>
            </a:xfrm>
            <a:prstGeom prst="straightConnector1">
              <a:avLst/>
            </a:prstGeom>
            <a:noFill/>
            <a:ln cap="flat" cmpd="sng" w="12700">
              <a:solidFill>
                <a:schemeClr val="dk2"/>
              </a:solidFill>
              <a:prstDash val="solid"/>
              <a:miter lim="800000"/>
              <a:headEnd len="sm" w="sm" type="none"/>
              <a:tailEnd len="sm" w="sm" type="none"/>
            </a:ln>
          </p:spPr>
        </p:cxn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6" name="Shape 326"/>
        <p:cNvGrpSpPr/>
        <p:nvPr/>
      </p:nvGrpSpPr>
      <p:grpSpPr>
        <a:xfrm>
          <a:off x="0" y="0"/>
          <a:ext cx="0" cy="0"/>
          <a:chOff x="0" y="0"/>
          <a:chExt cx="0" cy="0"/>
        </a:xfrm>
      </p:grpSpPr>
      <p:sp>
        <p:nvSpPr>
          <p:cNvPr id="327" name="Google Shape;327;p17"/>
          <p:cNvSpPr/>
          <p:nvPr/>
        </p:nvSpPr>
        <p:spPr>
          <a:xfrm>
            <a:off x="0" y="0"/>
            <a:ext cx="12192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8" name="Google Shape;328;p17"/>
          <p:cNvSpPr/>
          <p:nvPr/>
        </p:nvSpPr>
        <p:spPr>
          <a:xfrm>
            <a:off x="0" y="0"/>
            <a:ext cx="2013557" cy="6858000"/>
          </a:xfrm>
          <a:prstGeom prst="rect">
            <a:avLst/>
          </a:prstGeom>
          <a:solidFill>
            <a:srgbClr val="35475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9" name="Google Shape;329;p17"/>
          <p:cNvSpPr/>
          <p:nvPr>
            <p:ph type="title"/>
          </p:nvPr>
        </p:nvSpPr>
        <p:spPr>
          <a:xfrm>
            <a:off x="640080" y="2074363"/>
            <a:ext cx="2752354" cy="2709275"/>
          </a:xfrm>
          <a:prstGeom prst="ellipse">
            <a:avLst/>
          </a:prstGeom>
          <a:solidFill>
            <a:srgbClr val="262626"/>
          </a:solidFill>
          <a:ln cap="flat" cmpd="thinThick" w="174625">
            <a:solidFill>
              <a:srgbClr val="262626"/>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2200"/>
              <a:buFont typeface="Calibri"/>
              <a:buNone/>
            </a:pPr>
            <a:r>
              <a:rPr b="1" lang="en-US" sz="2200">
                <a:solidFill>
                  <a:srgbClr val="FFFFFF"/>
                </a:solidFill>
              </a:rPr>
              <a:t>Terraform</a:t>
            </a:r>
            <a:endParaRPr sz="2200">
              <a:solidFill>
                <a:srgbClr val="FFFFFF"/>
              </a:solidFill>
              <a:latin typeface="Calibri"/>
              <a:ea typeface="Calibri"/>
              <a:cs typeface="Calibri"/>
              <a:sym typeface="Calibri"/>
            </a:endParaRPr>
          </a:p>
        </p:txBody>
      </p:sp>
      <p:pic>
        <p:nvPicPr>
          <p:cNvPr id="330" name="Google Shape;330;p17"/>
          <p:cNvPicPr preferRelativeResize="0"/>
          <p:nvPr/>
        </p:nvPicPr>
        <p:blipFill rotWithShape="1">
          <a:blip r:embed="rId3">
            <a:alphaModFix/>
          </a:blip>
          <a:srcRect b="0" l="0" r="0" t="0"/>
          <a:stretch/>
        </p:blipFill>
        <p:spPr>
          <a:xfrm>
            <a:off x="3646025" y="770449"/>
            <a:ext cx="8181850" cy="460227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4" name="Shape 334"/>
        <p:cNvGrpSpPr/>
        <p:nvPr/>
      </p:nvGrpSpPr>
      <p:grpSpPr>
        <a:xfrm>
          <a:off x="0" y="0"/>
          <a:ext cx="0" cy="0"/>
          <a:chOff x="0" y="0"/>
          <a:chExt cx="0" cy="0"/>
        </a:xfrm>
      </p:grpSpPr>
      <p:sp>
        <p:nvSpPr>
          <p:cNvPr id="335" name="Google Shape;335;g48584de576676619_64"/>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6" name="Google Shape;336;g48584de576676619_64"/>
          <p:cNvSpPr txBox="1"/>
          <p:nvPr>
            <p:ph type="title"/>
          </p:nvPr>
        </p:nvSpPr>
        <p:spPr>
          <a:xfrm>
            <a:off x="643282" y="682593"/>
            <a:ext cx="3571800" cy="35736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600"/>
              <a:buFont typeface="Calibri"/>
              <a:buNone/>
            </a:pPr>
            <a:r>
              <a:rPr lang="en-US" sz="5600"/>
              <a:t>Pruebas de integración</a:t>
            </a:r>
            <a:endParaRPr sz="5600"/>
          </a:p>
          <a:p>
            <a:pPr indent="0" lvl="0" marL="0" rtl="0" algn="l">
              <a:lnSpc>
                <a:spcPct val="90000"/>
              </a:lnSpc>
              <a:spcBef>
                <a:spcPts val="0"/>
              </a:spcBef>
              <a:spcAft>
                <a:spcPts val="0"/>
              </a:spcAft>
              <a:buClr>
                <a:schemeClr val="dk1"/>
              </a:buClr>
              <a:buSzPts val="5600"/>
              <a:buFont typeface="Calibri"/>
              <a:buNone/>
            </a:pPr>
            <a:r>
              <a:rPr lang="en-US" sz="5600"/>
              <a:t> </a:t>
            </a:r>
            <a:endParaRPr/>
          </a:p>
        </p:txBody>
      </p:sp>
      <p:sp>
        <p:nvSpPr>
          <p:cNvPr id="337" name="Google Shape;337;g48584de576676619_64"/>
          <p:cNvSpPr/>
          <p:nvPr/>
        </p:nvSpPr>
        <p:spPr>
          <a:xfrm>
            <a:off x="643278" y="4409267"/>
            <a:ext cx="3255095" cy="18288"/>
          </a:xfrm>
          <a:custGeom>
            <a:rect b="b" l="l" r="r" t="t"/>
            <a:pathLst>
              <a:path extrusionOk="0" fill="none" h="18288" w="3255095">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extrusionOk="0" h="18288" w="3255095">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cap="rnd" cmpd="sng" w="381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8" name="Google Shape;338;g48584de576676619_64"/>
          <p:cNvSpPr txBox="1"/>
          <p:nvPr/>
        </p:nvSpPr>
        <p:spPr>
          <a:xfrm>
            <a:off x="5929800" y="1397250"/>
            <a:ext cx="5558400" cy="57876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chemeClr val="dk1"/>
              </a:buClr>
              <a:buSzPts val="1100"/>
              <a:buFont typeface="Arial"/>
              <a:buNone/>
            </a:pPr>
            <a:r>
              <a:rPr b="0" i="0" lang="en-US" sz="2000" u="none" cap="none" strike="noStrike">
                <a:solidFill>
                  <a:schemeClr val="dk1"/>
                </a:solidFill>
                <a:latin typeface="Calibri"/>
                <a:ea typeface="Calibri"/>
                <a:cs typeface="Calibri"/>
                <a:sym typeface="Calibri"/>
              </a:rPr>
              <a:t>Son un tipo de prueba en el desarrollo de software que se centra en verificar la interacción y la integración entre diferentes componentes, módulos o subsistemas de un sistema de software. El objetivo principal de las pruebas de integración es asegurar que los diferentes elementos del sistema funcionen correctamente juntos como un sistema completo, verificando la comunicación, la interoperabilidad y la compatibilidad entre ellos.</a:t>
            </a:r>
            <a:endParaRPr b="0" i="0" sz="20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chemeClr val="dk1"/>
              </a:buClr>
              <a:buSzPts val="1100"/>
              <a:buFont typeface="Arial"/>
              <a:buNone/>
            </a:pPr>
            <a:r>
              <a:t/>
            </a:r>
            <a:endParaRPr b="0" i="0" sz="20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chemeClr val="dk1"/>
              </a:buClr>
              <a:buSzPts val="1100"/>
              <a:buFont typeface="Arial"/>
              <a:buNone/>
            </a:pPr>
            <a:r>
              <a:rPr b="0" i="0" lang="en-US" sz="2000" u="none" cap="none" strike="noStrike">
                <a:solidFill>
                  <a:schemeClr val="dk1"/>
                </a:solidFill>
                <a:latin typeface="Calibri"/>
                <a:ea typeface="Calibri"/>
                <a:cs typeface="Calibri"/>
                <a:sym typeface="Calibri"/>
              </a:rPr>
              <a:t>Las pruebas de integración se realizan después de que las pruebas unitarias hayan validado el correcto funcionamiento de las unidades individuales de código</a:t>
            </a:r>
            <a:endParaRPr b="0" i="0" sz="20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2" name="Shape 342"/>
        <p:cNvGrpSpPr/>
        <p:nvPr/>
      </p:nvGrpSpPr>
      <p:grpSpPr>
        <a:xfrm>
          <a:off x="0" y="0"/>
          <a:ext cx="0" cy="0"/>
          <a:chOff x="0" y="0"/>
          <a:chExt cx="0" cy="0"/>
        </a:xfrm>
      </p:grpSpPr>
      <p:sp>
        <p:nvSpPr>
          <p:cNvPr id="343" name="Google Shape;343;g48584de576676619_71"/>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4" name="Google Shape;344;g48584de576676619_71"/>
          <p:cNvSpPr txBox="1"/>
          <p:nvPr>
            <p:ph type="title"/>
          </p:nvPr>
        </p:nvSpPr>
        <p:spPr>
          <a:xfrm>
            <a:off x="638875" y="639200"/>
            <a:ext cx="4613100" cy="35736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600"/>
              <a:buFont typeface="Calibri"/>
              <a:buNone/>
            </a:pPr>
            <a:r>
              <a:rPr lang="en-US" sz="5600"/>
              <a:t>Caracteristicas</a:t>
            </a:r>
            <a:endParaRPr/>
          </a:p>
        </p:txBody>
      </p:sp>
      <p:sp>
        <p:nvSpPr>
          <p:cNvPr id="345" name="Google Shape;345;g48584de576676619_71"/>
          <p:cNvSpPr/>
          <p:nvPr/>
        </p:nvSpPr>
        <p:spPr>
          <a:xfrm>
            <a:off x="643278" y="4409267"/>
            <a:ext cx="3255095" cy="18288"/>
          </a:xfrm>
          <a:custGeom>
            <a:rect b="b" l="l" r="r" t="t"/>
            <a:pathLst>
              <a:path extrusionOk="0" fill="none" h="18288" w="3255095">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extrusionOk="0" h="18288" w="3255095">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cap="rnd" cmpd="sng" w="381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6" name="Google Shape;346;g48584de576676619_71"/>
          <p:cNvSpPr txBox="1"/>
          <p:nvPr/>
        </p:nvSpPr>
        <p:spPr>
          <a:xfrm>
            <a:off x="5810450" y="2243650"/>
            <a:ext cx="5558400" cy="40635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0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Enfoque en la interaccion entre componentes</a:t>
            </a:r>
            <a:endParaRPr b="0" i="0" sz="2800" u="none" cap="none" strike="noStrike">
              <a:solidFill>
                <a:schemeClr val="dk1"/>
              </a:solidFill>
              <a:latin typeface="Calibri"/>
              <a:ea typeface="Calibri"/>
              <a:cs typeface="Calibri"/>
              <a:sym typeface="Calibri"/>
            </a:endParaRPr>
          </a:p>
          <a:p>
            <a:pPr indent="-406400" lvl="0" marL="457200" marR="0" rtl="0" algn="l">
              <a:lnSpc>
                <a:spcPct val="10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Pruebas de interfaces</a:t>
            </a:r>
            <a:endParaRPr b="0" i="0" sz="2800" u="none" cap="none" strike="noStrike">
              <a:solidFill>
                <a:schemeClr val="dk1"/>
              </a:solidFill>
              <a:latin typeface="Calibri"/>
              <a:ea typeface="Calibri"/>
              <a:cs typeface="Calibri"/>
              <a:sym typeface="Calibri"/>
            </a:endParaRPr>
          </a:p>
          <a:p>
            <a:pPr indent="-406400" lvl="0" marL="457200" marR="0" rtl="0" algn="l">
              <a:lnSpc>
                <a:spcPct val="10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Identificación de problemas de integración</a:t>
            </a:r>
            <a:endParaRPr b="0" i="0" sz="2800" u="none" cap="none" strike="noStrike">
              <a:solidFill>
                <a:schemeClr val="dk1"/>
              </a:solidFill>
              <a:latin typeface="Calibri"/>
              <a:ea typeface="Calibri"/>
              <a:cs typeface="Calibri"/>
              <a:sym typeface="Calibri"/>
            </a:endParaRPr>
          </a:p>
          <a:p>
            <a:pPr indent="-406400" lvl="0" marL="457200" marR="0" rtl="0" algn="l">
              <a:lnSpc>
                <a:spcPct val="10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Simulación de entornos reales</a:t>
            </a:r>
            <a:endParaRPr b="0" i="0" sz="2800" u="none" cap="none" strike="noStrike">
              <a:solidFill>
                <a:schemeClr val="dk1"/>
              </a:solidFill>
              <a:latin typeface="Calibri"/>
              <a:ea typeface="Calibri"/>
              <a:cs typeface="Calibri"/>
              <a:sym typeface="Calibri"/>
            </a:endParaRPr>
          </a:p>
          <a:p>
            <a:pPr indent="-406400" lvl="0" marL="457200" marR="0" rtl="0" algn="l">
              <a:lnSpc>
                <a:spcPct val="10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Automatizacion</a:t>
            </a:r>
            <a:endParaRPr b="0" i="0" sz="28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0" name="Shape 350"/>
        <p:cNvGrpSpPr/>
        <p:nvPr/>
      </p:nvGrpSpPr>
      <p:grpSpPr>
        <a:xfrm>
          <a:off x="0" y="0"/>
          <a:ext cx="0" cy="0"/>
          <a:chOff x="0" y="0"/>
          <a:chExt cx="0" cy="0"/>
        </a:xfrm>
      </p:grpSpPr>
      <p:sp>
        <p:nvSpPr>
          <p:cNvPr id="351" name="Google Shape;351;g48584de576676619_78"/>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52" name="Google Shape;352;g48584de576676619_78"/>
          <p:cNvSpPr/>
          <p:nvPr/>
        </p:nvSpPr>
        <p:spPr>
          <a:xfrm>
            <a:off x="0" y="-1"/>
            <a:ext cx="12192000" cy="6858000"/>
          </a:xfrm>
          <a:prstGeom prst="rect">
            <a:avLst/>
          </a:prstGeom>
          <a:solidFill>
            <a:schemeClr val="accent1">
              <a:alpha val="2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53" name="Google Shape;353;g48584de576676619_78"/>
          <p:cNvSpPr txBox="1"/>
          <p:nvPr>
            <p:ph type="title"/>
          </p:nvPr>
        </p:nvSpPr>
        <p:spPr>
          <a:xfrm>
            <a:off x="731520" y="1170432"/>
            <a:ext cx="10533900" cy="27342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8000"/>
              <a:buFont typeface="Calibri"/>
              <a:buNone/>
            </a:pPr>
            <a:r>
              <a:rPr b="1" lang="en-US" sz="8000">
                <a:solidFill>
                  <a:schemeClr val="dk2"/>
                </a:solidFill>
              </a:rPr>
              <a:t>Herramientas </a:t>
            </a:r>
            <a:br>
              <a:rPr b="1" lang="en-US" sz="8000">
                <a:solidFill>
                  <a:schemeClr val="dk2"/>
                </a:solidFill>
              </a:rPr>
            </a:br>
            <a:r>
              <a:rPr b="1" lang="en-US" sz="8000">
                <a:solidFill>
                  <a:schemeClr val="dk2"/>
                </a:solidFill>
              </a:rPr>
              <a:t>Pruebas de integracion</a:t>
            </a:r>
            <a:endParaRPr sz="8000">
              <a:solidFill>
                <a:schemeClr val="dk2"/>
              </a:solidFill>
            </a:endParaRPr>
          </a:p>
        </p:txBody>
      </p:sp>
      <p:cxnSp>
        <p:nvCxnSpPr>
          <p:cNvPr id="354" name="Google Shape;354;g48584de576676619_78"/>
          <p:cNvCxnSpPr/>
          <p:nvPr/>
        </p:nvCxnSpPr>
        <p:spPr>
          <a:xfrm flipH="1">
            <a:off x="732463" y="246028"/>
            <a:ext cx="255600" cy="546600"/>
          </a:xfrm>
          <a:prstGeom prst="straightConnector1">
            <a:avLst/>
          </a:prstGeom>
          <a:noFill/>
          <a:ln cap="flat" cmpd="sng" w="12700">
            <a:solidFill>
              <a:schemeClr val="dk2"/>
            </a:solidFill>
            <a:prstDash val="solid"/>
            <a:miter lim="800000"/>
            <a:headEnd len="sm" w="sm" type="none"/>
            <a:tailEnd len="sm" w="sm" type="none"/>
          </a:ln>
        </p:spPr>
      </p:cxnSp>
      <p:sp>
        <p:nvSpPr>
          <p:cNvPr id="355" name="Google Shape;355;g48584de576676619_78"/>
          <p:cNvSpPr txBox="1"/>
          <p:nvPr>
            <p:ph idx="1" type="body"/>
          </p:nvPr>
        </p:nvSpPr>
        <p:spPr>
          <a:xfrm>
            <a:off x="731520" y="4069080"/>
            <a:ext cx="10515600" cy="2042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t/>
            </a:r>
            <a:endParaRPr sz="1800">
              <a:solidFill>
                <a:schemeClr val="dk2"/>
              </a:solidFill>
            </a:endParaRPr>
          </a:p>
        </p:txBody>
      </p:sp>
      <p:cxnSp>
        <p:nvCxnSpPr>
          <p:cNvPr id="356" name="Google Shape;356;g48584de576676619_78"/>
          <p:cNvCxnSpPr/>
          <p:nvPr/>
        </p:nvCxnSpPr>
        <p:spPr>
          <a:xfrm rot="10800000">
            <a:off x="840428" y="6522756"/>
            <a:ext cx="10717200" cy="0"/>
          </a:xfrm>
          <a:prstGeom prst="straightConnector1">
            <a:avLst/>
          </a:prstGeom>
          <a:noFill/>
          <a:ln cap="sq" cmpd="sng" w="12700">
            <a:solidFill>
              <a:schemeClr val="dk2"/>
            </a:solidFill>
            <a:prstDash val="solid"/>
            <a:miter lim="800000"/>
            <a:headEnd len="sm" w="sm" type="none"/>
            <a:tailEnd len="sm" w="sm" type="none"/>
          </a:ln>
        </p:spPr>
      </p:cxnSp>
      <p:grpSp>
        <p:nvGrpSpPr>
          <p:cNvPr id="357" name="Google Shape;357;g48584de576676619_78"/>
          <p:cNvGrpSpPr/>
          <p:nvPr/>
        </p:nvGrpSpPr>
        <p:grpSpPr>
          <a:xfrm>
            <a:off x="12829917" y="6400806"/>
            <a:ext cx="338400" cy="240221"/>
            <a:chOff x="4089400" y="933450"/>
            <a:chExt cx="338400" cy="342000"/>
          </a:xfrm>
        </p:grpSpPr>
        <p:cxnSp>
          <p:nvCxnSpPr>
            <p:cNvPr id="358" name="Google Shape;358;g48584de576676619_78"/>
            <p:cNvCxnSpPr/>
            <p:nvPr/>
          </p:nvCxnSpPr>
          <p:spPr>
            <a:xfrm>
              <a:off x="4258564" y="933450"/>
              <a:ext cx="0" cy="342000"/>
            </a:xfrm>
            <a:prstGeom prst="straightConnector1">
              <a:avLst/>
            </a:prstGeom>
            <a:noFill/>
            <a:ln cap="flat" cmpd="sng" w="12700">
              <a:solidFill>
                <a:schemeClr val="dk2"/>
              </a:solidFill>
              <a:prstDash val="solid"/>
              <a:miter lim="800000"/>
              <a:headEnd len="sm" w="sm" type="none"/>
              <a:tailEnd len="sm" w="sm" type="none"/>
            </a:ln>
          </p:spPr>
        </p:cxnSp>
        <p:cxnSp>
          <p:nvCxnSpPr>
            <p:cNvPr id="359" name="Google Shape;359;g48584de576676619_78"/>
            <p:cNvCxnSpPr/>
            <p:nvPr/>
          </p:nvCxnSpPr>
          <p:spPr>
            <a:xfrm>
              <a:off x="4089400" y="1104419"/>
              <a:ext cx="338400" cy="0"/>
            </a:xfrm>
            <a:prstGeom prst="straightConnector1">
              <a:avLst/>
            </a:prstGeom>
            <a:noFill/>
            <a:ln cap="flat" cmpd="sng" w="12700">
              <a:solidFill>
                <a:schemeClr val="dk2"/>
              </a:solidFill>
              <a:prstDash val="solid"/>
              <a:miter lim="800000"/>
              <a:headEnd len="sm" w="sm" type="none"/>
              <a:tailEnd len="sm" w="sm" type="none"/>
            </a:ln>
          </p:spPr>
        </p:cxn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3" name="Shape 363"/>
        <p:cNvGrpSpPr/>
        <p:nvPr/>
      </p:nvGrpSpPr>
      <p:grpSpPr>
        <a:xfrm>
          <a:off x="0" y="0"/>
          <a:ext cx="0" cy="0"/>
          <a:chOff x="0" y="0"/>
          <a:chExt cx="0" cy="0"/>
        </a:xfrm>
      </p:grpSpPr>
      <p:sp>
        <p:nvSpPr>
          <p:cNvPr id="364" name="Google Shape;364;g48584de576676619_90"/>
          <p:cNvSpPr/>
          <p:nvPr/>
        </p:nvSpPr>
        <p:spPr>
          <a:xfrm>
            <a:off x="0" y="0"/>
            <a:ext cx="12192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65" name="Google Shape;365;g48584de576676619_90"/>
          <p:cNvSpPr/>
          <p:nvPr/>
        </p:nvSpPr>
        <p:spPr>
          <a:xfrm>
            <a:off x="0" y="0"/>
            <a:ext cx="2013600" cy="6858000"/>
          </a:xfrm>
          <a:prstGeom prst="rect">
            <a:avLst/>
          </a:prstGeom>
          <a:solidFill>
            <a:srgbClr val="35475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66" name="Google Shape;366;g48584de576676619_90"/>
          <p:cNvSpPr/>
          <p:nvPr>
            <p:ph type="title"/>
          </p:nvPr>
        </p:nvSpPr>
        <p:spPr>
          <a:xfrm>
            <a:off x="640080" y="2074363"/>
            <a:ext cx="2752500" cy="2709300"/>
          </a:xfrm>
          <a:prstGeom prst="ellipse">
            <a:avLst/>
          </a:prstGeom>
          <a:solidFill>
            <a:srgbClr val="262626"/>
          </a:solidFill>
          <a:ln cap="flat" cmpd="thinThick" w="174625">
            <a:solidFill>
              <a:srgbClr val="262626"/>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2200"/>
              <a:buFont typeface="Calibri"/>
              <a:buNone/>
            </a:pPr>
            <a:r>
              <a:rPr lang="en-US" sz="2200">
                <a:solidFill>
                  <a:srgbClr val="FFFFFF"/>
                </a:solidFill>
              </a:rPr>
              <a:t>Herramientas</a:t>
            </a:r>
            <a:endParaRPr sz="2200">
              <a:solidFill>
                <a:srgbClr val="FFFFFF"/>
              </a:solidFill>
              <a:latin typeface="Calibri"/>
              <a:ea typeface="Calibri"/>
              <a:cs typeface="Calibri"/>
              <a:sym typeface="Calibri"/>
            </a:endParaRPr>
          </a:p>
        </p:txBody>
      </p:sp>
      <p:pic>
        <p:nvPicPr>
          <p:cNvPr id="367" name="Google Shape;367;g48584de576676619_90"/>
          <p:cNvPicPr preferRelativeResize="0"/>
          <p:nvPr/>
        </p:nvPicPr>
        <p:blipFill rotWithShape="1">
          <a:blip r:embed="rId3">
            <a:alphaModFix/>
          </a:blip>
          <a:srcRect b="0" l="0" r="0" t="0"/>
          <a:stretch/>
        </p:blipFill>
        <p:spPr>
          <a:xfrm>
            <a:off x="4086700" y="912413"/>
            <a:ext cx="7143750" cy="41433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g360af370078_0_176"/>
          <p:cNvSpPr txBox="1"/>
          <p:nvPr/>
        </p:nvSpPr>
        <p:spPr>
          <a:xfrm>
            <a:off x="1648575" y="1978500"/>
            <a:ext cx="9593400" cy="15081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4600"/>
              <a:buFont typeface="Arial"/>
              <a:buNone/>
            </a:pPr>
            <a:r>
              <a:rPr lang="en-US" sz="4600">
                <a:solidFill>
                  <a:srgbClr val="131416"/>
                </a:solidFill>
                <a:latin typeface="Impact"/>
                <a:ea typeface="Impact"/>
                <a:cs typeface="Impact"/>
                <a:sym typeface="Impact"/>
              </a:rPr>
              <a:t>Valor de la Unidad: </a:t>
            </a:r>
            <a:br>
              <a:rPr lang="en-US" sz="4600">
                <a:solidFill>
                  <a:srgbClr val="131416"/>
                </a:solidFill>
                <a:latin typeface="Impact"/>
                <a:ea typeface="Impact"/>
                <a:cs typeface="Impact"/>
                <a:sym typeface="Impact"/>
              </a:rPr>
            </a:br>
            <a:r>
              <a:rPr lang="en-US" sz="4600">
                <a:solidFill>
                  <a:srgbClr val="131416"/>
                </a:solidFill>
                <a:latin typeface="Impact"/>
                <a:ea typeface="Impact"/>
                <a:cs typeface="Impact"/>
                <a:sym typeface="Impact"/>
              </a:rPr>
              <a:t>Paciencia y Empatia</a:t>
            </a:r>
            <a:endParaRPr b="0" i="0" sz="900" u="none" cap="none" strike="noStrike">
              <a:solidFill>
                <a:srgbClr val="000000"/>
              </a:solidFill>
              <a:latin typeface="Impact"/>
              <a:ea typeface="Impact"/>
              <a:cs typeface="Impact"/>
              <a:sym typeface="Impact"/>
            </a:endParaRPr>
          </a:p>
        </p:txBody>
      </p:sp>
      <p:sp>
        <p:nvSpPr>
          <p:cNvPr id="373" name="Google Shape;373;g360af370078_0_176"/>
          <p:cNvSpPr txBox="1"/>
          <p:nvPr/>
        </p:nvSpPr>
        <p:spPr>
          <a:xfrm>
            <a:off x="3371104" y="4275653"/>
            <a:ext cx="4607700" cy="3231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2100"/>
              <a:buFont typeface="Arial"/>
              <a:buNone/>
            </a:pPr>
            <a:r>
              <a:t/>
            </a:r>
            <a:endParaRPr b="0" i="0" sz="2100" u="none" cap="none" strike="noStrike">
              <a:solidFill>
                <a:srgbClr val="131416"/>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7" name="Shape 377"/>
        <p:cNvGrpSpPr/>
        <p:nvPr/>
      </p:nvGrpSpPr>
      <p:grpSpPr>
        <a:xfrm>
          <a:off x="0" y="0"/>
          <a:ext cx="0" cy="0"/>
          <a:chOff x="0" y="0"/>
          <a:chExt cx="0" cy="0"/>
        </a:xfrm>
      </p:grpSpPr>
      <p:sp>
        <p:nvSpPr>
          <p:cNvPr id="378" name="Google Shape;378;p21"/>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79" name="Google Shape;379;p21"/>
          <p:cNvSpPr/>
          <p:nvPr/>
        </p:nvSpPr>
        <p:spPr>
          <a:xfrm flipH="1">
            <a:off x="8576720" y="3335867"/>
            <a:ext cx="3291840" cy="3200400"/>
          </a:xfrm>
          <a:prstGeom prst="rtTriangle">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80" name="Google Shape;380;p21"/>
          <p:cNvSpPr/>
          <p:nvPr/>
        </p:nvSpPr>
        <p:spPr>
          <a:xfrm>
            <a:off x="641774" y="623275"/>
            <a:ext cx="10905053" cy="5607882"/>
          </a:xfrm>
          <a:prstGeom prst="rect">
            <a:avLst/>
          </a:prstGeom>
          <a:noFill/>
          <a:ln cap="flat" cmpd="sng" w="19050">
            <a:solidFill>
              <a:srgbClr val="3F3F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81" name="Google Shape;381;p21"/>
          <p:cNvSpPr txBox="1"/>
          <p:nvPr>
            <p:ph type="ctrTitle"/>
          </p:nvPr>
        </p:nvSpPr>
        <p:spPr>
          <a:xfrm>
            <a:off x="1285241" y="1008993"/>
            <a:ext cx="9231410" cy="354204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11500"/>
              <a:buFont typeface="Calibri"/>
              <a:buNone/>
            </a:pPr>
            <a:r>
              <a:rPr lang="en-US" sz="11500"/>
              <a:t>¿Dudas?</a:t>
            </a:r>
            <a:endParaRPr sz="115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5" name="Shape 385"/>
        <p:cNvGrpSpPr/>
        <p:nvPr/>
      </p:nvGrpSpPr>
      <p:grpSpPr>
        <a:xfrm>
          <a:off x="0" y="0"/>
          <a:ext cx="0" cy="0"/>
          <a:chOff x="0" y="0"/>
          <a:chExt cx="0" cy="0"/>
        </a:xfrm>
      </p:grpSpPr>
      <p:sp>
        <p:nvSpPr>
          <p:cNvPr id="386" name="Google Shape;386;p22"/>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87" name="Google Shape;387;p22"/>
          <p:cNvSpPr/>
          <p:nvPr/>
        </p:nvSpPr>
        <p:spPr>
          <a:xfrm flipH="1">
            <a:off x="8576720" y="3335867"/>
            <a:ext cx="3291840" cy="3200400"/>
          </a:xfrm>
          <a:prstGeom prst="rtTriangle">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88" name="Google Shape;388;p22"/>
          <p:cNvSpPr/>
          <p:nvPr/>
        </p:nvSpPr>
        <p:spPr>
          <a:xfrm>
            <a:off x="641774" y="623275"/>
            <a:ext cx="10905053" cy="5607882"/>
          </a:xfrm>
          <a:prstGeom prst="rect">
            <a:avLst/>
          </a:prstGeom>
          <a:noFill/>
          <a:ln cap="flat" cmpd="sng" w="19050">
            <a:solidFill>
              <a:srgbClr val="3F3F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89" name="Google Shape;389;p22"/>
          <p:cNvSpPr txBox="1"/>
          <p:nvPr>
            <p:ph type="ctrTitle"/>
          </p:nvPr>
        </p:nvSpPr>
        <p:spPr>
          <a:xfrm>
            <a:off x="1285241" y="1008993"/>
            <a:ext cx="9231410" cy="354204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11500"/>
              <a:buFont typeface="Calibri"/>
              <a:buNone/>
            </a:pPr>
            <a:r>
              <a:rPr lang="en-US" sz="11500"/>
              <a:t>Gracias por su atención</a:t>
            </a:r>
            <a:endParaRPr sz="11500"/>
          </a:p>
        </p:txBody>
      </p:sp>
      <p:sp>
        <p:nvSpPr>
          <p:cNvPr id="390" name="Google Shape;390;p22"/>
          <p:cNvSpPr txBox="1"/>
          <p:nvPr>
            <p:ph idx="1" type="subTitle"/>
          </p:nvPr>
        </p:nvSpPr>
        <p:spPr>
          <a:xfrm>
            <a:off x="1285241" y="4582814"/>
            <a:ext cx="7132335" cy="131265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2023-07-25T00:36:49Z</dcterms:created>
  <dc:creator>Madeline Pérez</dc:creator>
</cp:coreProperties>
</file>