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hdiYDnBKr5y3volgAXApSsbqL2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04F77B-CCA8-4B0C-9DE0-BC0445A985AE}">
  <a:tblStyle styleId="{6604F77B-CCA8-4B0C-9DE0-BC0445A985A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ef875a66c8_0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1ef875a66c8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f0a58de352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1f0a58de352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66" name="Google Shape;16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8393cb8ca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38393cb8ca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74" name="Google Shape;174;g338393cb8ca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38393cb8ca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38393cb8ca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82" name="Google Shape;182;g338393cb8ca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38393cb8ca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g338393cb8ca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38393cb8ca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g338393cb8ca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38393cb8ca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38393cb8ca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38393cb8ca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38393cb8ca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09" name="Google Shape;209;g338393cb8ca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38393cb8ca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38393cb8ca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g338393cb8ca_0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38393cb8ca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38393cb8ca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37" name="Google Shape;237;g338393cb8ca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38393cb8ca_0_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g338393cb8ca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38393cb8ca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38393cb8ca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338393cb8ca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38393cb8ca_0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338393cb8ca_0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g338393cb8ca_0_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38393cb8ca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38393cb8ca_0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g338393cb8ca_0_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38393cb8ca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38393cb8ca_0_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g338393cb8ca_0_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38393cb8ca_0_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338393cb8ca_0_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g338393cb8ca_0_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38393cb8ca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338393cb8ca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338393cb8ca_0_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38393cb8ca_0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338393cb8ca_0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g338393cb8ca_0_1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38393cb8ca_0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38393cb8ca_0_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g338393cb8ca_0_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38393cb8ca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g338393cb8ca_0_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g338393cb8ca_0_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38393cb8ca_0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38393cb8ca_0_2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g338393cb8ca_0_2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38393cb8ca_0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g338393cb8ca_0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g338393cb8ca_0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g1ef875a66c8_0_6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7" name="Google Shape;17;g1ef875a66c8_0_6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8" name="Google Shape;18;g1ef875a66c8_0_6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6"/>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1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2"/>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2"/>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2"/>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25"/>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25"/>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26"/>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p:nvPr>
            <p:ph idx="2" type="pic"/>
          </p:nvPr>
        </p:nvSpPr>
        <p:spPr>
          <a:xfrm>
            <a:off x="5183188" y="987425"/>
            <a:ext cx="6172200" cy="4873500"/>
          </a:xfrm>
          <a:prstGeom prst="rect">
            <a:avLst/>
          </a:prstGeom>
          <a:noFill/>
          <a:ln>
            <a:noFill/>
          </a:ln>
        </p:spPr>
      </p:sp>
      <p:sp>
        <p:nvSpPr>
          <p:cNvPr id="72" name="Google Shape;72;p26"/>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2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2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28"/>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8"/>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2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4" name="Shape 94"/>
        <p:cNvGrpSpPr/>
        <p:nvPr/>
      </p:nvGrpSpPr>
      <p:grpSpPr>
        <a:xfrm>
          <a:off x="0" y="0"/>
          <a:ext cx="0" cy="0"/>
          <a:chOff x="0" y="0"/>
          <a:chExt cx="0" cy="0"/>
        </a:xfrm>
      </p:grpSpPr>
      <p:sp>
        <p:nvSpPr>
          <p:cNvPr id="95" name="Google Shape;95;p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7" name="Google Shape;97;p1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8" name="Shape 88"/>
        <p:cNvGrpSpPr/>
        <p:nvPr/>
      </p:nvGrpSpPr>
      <p:grpSpPr>
        <a:xfrm>
          <a:off x="0" y="0"/>
          <a:ext cx="0" cy="0"/>
          <a:chOff x="0" y="0"/>
          <a:chExt cx="0" cy="0"/>
        </a:xfrm>
      </p:grpSpPr>
      <p:sp>
        <p:nvSpPr>
          <p:cNvPr id="89" name="Google Shape;89;p1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0" name="Google Shape;90;p1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91" name="Google Shape;91;p1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92" name="Google Shape;92;p1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93" name="Google Shape;93;p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2" r:id="rId1"/>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2.jpg"/><Relationship Id="rId4" Type="http://schemas.openxmlformats.org/officeDocument/2006/relationships/image" Target="../media/image18.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g1ef875a66c8_0_65"/>
          <p:cNvPicPr preferRelativeResize="0"/>
          <p:nvPr/>
        </p:nvPicPr>
        <p:blipFill rotWithShape="1">
          <a:blip r:embed="rId3">
            <a:alphaModFix amt="62000"/>
          </a:blip>
          <a:srcRect b="0" l="0" r="0" t="0"/>
          <a:stretch/>
        </p:blipFill>
        <p:spPr>
          <a:xfrm>
            <a:off x="11268" y="0"/>
            <a:ext cx="12169464" cy="6858000"/>
          </a:xfrm>
          <a:prstGeom prst="rect">
            <a:avLst/>
          </a:prstGeom>
          <a:noFill/>
          <a:ln>
            <a:noFill/>
          </a:ln>
        </p:spPr>
      </p:pic>
      <p:graphicFrame>
        <p:nvGraphicFramePr>
          <p:cNvPr id="105" name="Google Shape;105;g1ef875a66c8_0_65"/>
          <p:cNvGraphicFramePr/>
          <p:nvPr/>
        </p:nvGraphicFramePr>
        <p:xfrm>
          <a:off x="7104267" y="1293367"/>
          <a:ext cx="3000000" cy="3000000"/>
        </p:xfrm>
        <a:graphic>
          <a:graphicData uri="http://schemas.openxmlformats.org/drawingml/2006/table">
            <a:tbl>
              <a:tblPr>
                <a:noFill/>
                <a:tableStyleId>{6604F77B-CCA8-4B0C-9DE0-BC0445A985AE}</a:tableStyleId>
              </a:tblPr>
              <a:tblGrid>
                <a:gridCol w="2024275"/>
                <a:gridCol w="2896500"/>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ES" sz="1900" u="none" cap="none" strike="noStrike">
                          <a:solidFill>
                            <a:schemeClr val="dk1"/>
                          </a:solidFill>
                        </a:rPr>
                        <a:t>Día, Fecha:</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rgbClr val="000000"/>
                        </a:buClr>
                        <a:buSzPts val="1900"/>
                        <a:buFont typeface="Arial"/>
                        <a:buNone/>
                      </a:pPr>
                      <a:r>
                        <a:rPr lang="es-ES" sz="1900" u="none" cap="none" strike="noStrike"/>
                        <a:t>Jueves, </a:t>
                      </a:r>
                      <a:r>
                        <a:rPr lang="es-ES" sz="1900"/>
                        <a:t>21</a:t>
                      </a:r>
                      <a:r>
                        <a:rPr lang="es-ES" sz="1900" u="none" cap="none" strike="noStrike"/>
                        <a:t>/0</a:t>
                      </a:r>
                      <a:r>
                        <a:rPr lang="es-ES" sz="1900"/>
                        <a:t>2</a:t>
                      </a:r>
                      <a:r>
                        <a:rPr lang="es-ES" sz="1900" u="none" cap="none" strike="noStrike"/>
                        <a:t>/202</a:t>
                      </a:r>
                      <a:r>
                        <a:rPr lang="es-ES" sz="1900"/>
                        <a:t>5</a:t>
                      </a:r>
                      <a:endParaRPr sz="1900"/>
                    </a:p>
                  </a:txBody>
                  <a:tcPr marT="121900" marB="121900" marR="121900" marL="121900"/>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ES" sz="1900" u="none" cap="none" strike="noStrike">
                          <a:solidFill>
                            <a:schemeClr val="dk1"/>
                          </a:solidFill>
                        </a:rPr>
                        <a:t>Hora de inicio:</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rgbClr val="000000"/>
                        </a:buClr>
                        <a:buSzPts val="1900"/>
                        <a:buFont typeface="Arial"/>
                        <a:buNone/>
                      </a:pPr>
                      <a:r>
                        <a:rPr lang="es-ES" sz="1900" u="none" cap="none" strike="noStrike"/>
                        <a:t>1</a:t>
                      </a:r>
                      <a:r>
                        <a:rPr lang="es-ES" sz="1900"/>
                        <a:t>6</a:t>
                      </a:r>
                      <a:r>
                        <a:rPr lang="es-ES" sz="1900" u="none" cap="none" strike="noStrike"/>
                        <a:t>:</a:t>
                      </a:r>
                      <a:r>
                        <a:rPr lang="es-ES" sz="1900"/>
                        <a:t>3</a:t>
                      </a:r>
                      <a:r>
                        <a:rPr lang="es-ES" sz="1900" u="none" cap="none" strike="noStrike"/>
                        <a:t>0</a:t>
                      </a:r>
                      <a:endParaRPr sz="1900" u="none" cap="none" strike="noStrike"/>
                    </a:p>
                  </a:txBody>
                  <a:tcPr marT="121900" marB="121900" marR="121900" marL="121900"/>
                </a:tc>
              </a:tr>
            </a:tbl>
          </a:graphicData>
        </a:graphic>
      </p:graphicFrame>
      <p:sp>
        <p:nvSpPr>
          <p:cNvPr id="106" name="Google Shape;106;g1ef875a66c8_0_65"/>
          <p:cNvSpPr txBox="1"/>
          <p:nvPr/>
        </p:nvSpPr>
        <p:spPr>
          <a:xfrm>
            <a:off x="1920233" y="3011067"/>
            <a:ext cx="7448700" cy="754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00000"/>
                </a:solidFill>
                <a:latin typeface="Arial"/>
                <a:ea typeface="Arial"/>
                <a:cs typeface="Arial"/>
                <a:sym typeface="Arial"/>
              </a:rPr>
              <a:t>Software Avanzado, sección A</a:t>
            </a:r>
            <a:endParaRPr b="0" i="0" sz="3300" u="none" cap="none" strike="noStrike">
              <a:solidFill>
                <a:srgbClr val="000000"/>
              </a:solidFill>
              <a:latin typeface="Arial"/>
              <a:ea typeface="Arial"/>
              <a:cs typeface="Arial"/>
              <a:sym typeface="Arial"/>
            </a:endParaRPr>
          </a:p>
        </p:txBody>
      </p:sp>
      <p:sp>
        <p:nvSpPr>
          <p:cNvPr id="107" name="Google Shape;107;g1ef875a66c8_0_65"/>
          <p:cNvSpPr txBox="1"/>
          <p:nvPr/>
        </p:nvSpPr>
        <p:spPr>
          <a:xfrm>
            <a:off x="2371600" y="4283467"/>
            <a:ext cx="7448700" cy="661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Arial"/>
                <a:ea typeface="Arial"/>
                <a:cs typeface="Arial"/>
                <a:sym typeface="Arial"/>
              </a:rPr>
              <a:t>Diego Rene Molina Roldan</a:t>
            </a:r>
            <a:endParaRPr b="0" i="0" sz="27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1"/>
          <p:cNvSpPr txBox="1"/>
          <p:nvPr>
            <p:ph type="ctrTitle"/>
          </p:nvPr>
        </p:nvSpPr>
        <p:spPr>
          <a:xfrm>
            <a:off x="640080" y="325369"/>
            <a:ext cx="4368602" cy="19568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ES" sz="5400"/>
              <a:t>Software Avanzado</a:t>
            </a:r>
            <a:endParaRPr sz="5400"/>
          </a:p>
        </p:txBody>
      </p:sp>
      <p:sp>
        <p:nvSpPr>
          <p:cNvPr id="114" name="Google Shape;114;p1"/>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1"/>
          <p:cNvSpPr txBox="1"/>
          <p:nvPr>
            <p:ph idx="1" type="subTitle"/>
          </p:nvPr>
        </p:nvSpPr>
        <p:spPr>
          <a:xfrm>
            <a:off x="640080" y="2872899"/>
            <a:ext cx="4243589" cy="332066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lang="es-ES" sz="2250"/>
              <a:t>Semana 3: Microservicios y </a:t>
            </a:r>
            <a:r>
              <a:rPr lang="es-ES" sz="2250"/>
              <a:t>cómo</a:t>
            </a:r>
            <a:r>
              <a:rPr lang="es-ES" sz="2250"/>
              <a:t> diseñarlos.</a:t>
            </a:r>
            <a:endParaRPr b="1" sz="2250"/>
          </a:p>
          <a:p>
            <a:pPr indent="0" lvl="0" marL="0" rtl="0" algn="l">
              <a:lnSpc>
                <a:spcPct val="90000"/>
              </a:lnSpc>
              <a:spcBef>
                <a:spcPts val="1000"/>
              </a:spcBef>
              <a:spcAft>
                <a:spcPts val="0"/>
              </a:spcAft>
              <a:buClr>
                <a:schemeClr val="dk1"/>
              </a:buClr>
              <a:buSzPts val="2199"/>
              <a:buNone/>
            </a:pPr>
            <a:r>
              <a:t/>
            </a:r>
            <a:endParaRPr b="1" sz="2774"/>
          </a:p>
          <a:p>
            <a:pPr indent="0" lvl="0" marL="0" rtl="0" algn="l">
              <a:lnSpc>
                <a:spcPct val="90000"/>
              </a:lnSpc>
              <a:spcBef>
                <a:spcPts val="1000"/>
              </a:spcBef>
              <a:spcAft>
                <a:spcPts val="0"/>
              </a:spcAft>
              <a:buClr>
                <a:schemeClr val="dk1"/>
              </a:buClr>
              <a:buSzPts val="2199"/>
              <a:buNone/>
            </a:pPr>
            <a:r>
              <a:t/>
            </a:r>
            <a:endParaRPr b="1" sz="2774"/>
          </a:p>
          <a:p>
            <a:pPr indent="139700" lvl="0" marL="0" rtl="0" algn="l">
              <a:lnSpc>
                <a:spcPct val="90000"/>
              </a:lnSpc>
              <a:spcBef>
                <a:spcPts val="1000"/>
              </a:spcBef>
              <a:spcAft>
                <a:spcPts val="0"/>
              </a:spcAft>
              <a:buClr>
                <a:schemeClr val="dk1"/>
              </a:buClr>
              <a:buSzPts val="2200"/>
              <a:buFont typeface="Arial"/>
              <a:buNone/>
            </a:pPr>
            <a:r>
              <a:t/>
            </a:r>
            <a:endParaRPr sz="2200"/>
          </a:p>
          <a:p>
            <a:pPr indent="0" lvl="0" marL="457200" rtl="0" algn="l">
              <a:lnSpc>
                <a:spcPct val="90000"/>
              </a:lnSpc>
              <a:spcBef>
                <a:spcPts val="1000"/>
              </a:spcBef>
              <a:spcAft>
                <a:spcPts val="0"/>
              </a:spcAft>
              <a:buSzPts val="3097"/>
              <a:buNone/>
            </a:pPr>
            <a:r>
              <a:t/>
            </a:r>
            <a:endParaRPr/>
          </a:p>
          <a:p>
            <a:pPr indent="139700" lvl="0" marL="0" rtl="0" algn="l">
              <a:lnSpc>
                <a:spcPct val="90000"/>
              </a:lnSpc>
              <a:spcBef>
                <a:spcPts val="1000"/>
              </a:spcBef>
              <a:spcAft>
                <a:spcPts val="0"/>
              </a:spcAft>
              <a:buClr>
                <a:schemeClr val="dk1"/>
              </a:buClr>
              <a:buSzPts val="2200"/>
              <a:buFont typeface="Arial"/>
              <a:buNone/>
            </a:pPr>
            <a:r>
              <a:t/>
            </a:r>
            <a:endParaRPr sz="2200"/>
          </a:p>
        </p:txBody>
      </p:sp>
      <p:pic>
        <p:nvPicPr>
          <p:cNvPr id="116" name="Google Shape;116;p1"/>
          <p:cNvPicPr preferRelativeResize="0"/>
          <p:nvPr/>
        </p:nvPicPr>
        <p:blipFill rotWithShape="1">
          <a:blip r:embed="rId3">
            <a:alphaModFix/>
          </a:blip>
          <a:srcRect b="-1" l="2957" r="29087" t="0"/>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20" name="Shape 120"/>
        <p:cNvGrpSpPr/>
        <p:nvPr/>
      </p:nvGrpSpPr>
      <p:grpSpPr>
        <a:xfrm>
          <a:off x="0" y="0"/>
          <a:ext cx="0" cy="0"/>
          <a:chOff x="0" y="0"/>
          <a:chExt cx="0" cy="0"/>
        </a:xfrm>
      </p:grpSpPr>
      <p:sp>
        <p:nvSpPr>
          <p:cNvPr id="121" name="Google Shape;121;p2"/>
          <p:cNvSpPr/>
          <p:nvPr/>
        </p:nvSpPr>
        <p:spPr>
          <a:xfrm flipH="1">
            <a:off x="0" y="0"/>
            <a:ext cx="5331534" cy="6858000"/>
          </a:xfrm>
          <a:custGeom>
            <a:rect b="b" l="l" r="r" t="t"/>
            <a:pathLst>
              <a:path extrusionOk="0" h="6858000" w="5331534">
                <a:moveTo>
                  <a:pt x="5331534" y="0"/>
                </a:moveTo>
                <a:lnTo>
                  <a:pt x="69075" y="0"/>
                </a:lnTo>
                <a:lnTo>
                  <a:pt x="35131" y="267128"/>
                </a:lnTo>
                <a:cubicBezTo>
                  <a:pt x="11901" y="495874"/>
                  <a:pt x="0" y="727970"/>
                  <a:pt x="0" y="962845"/>
                </a:cubicBezTo>
                <a:cubicBezTo>
                  <a:pt x="0" y="3429034"/>
                  <a:pt x="1312002" y="5588789"/>
                  <a:pt x="3276103" y="6782205"/>
                </a:cubicBezTo>
                <a:lnTo>
                  <a:pt x="3407923" y="6858000"/>
                </a:lnTo>
                <a:lnTo>
                  <a:pt x="5331534" y="6858000"/>
                </a:ln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 name="Google Shape;122;p2"/>
          <p:cNvSpPr/>
          <p:nvPr/>
        </p:nvSpPr>
        <p:spPr>
          <a:xfrm>
            <a:off x="0" y="0"/>
            <a:ext cx="5173318" cy="6860381"/>
          </a:xfrm>
          <a:custGeom>
            <a:rect b="b" l="l" r="r" t="t"/>
            <a:pathLst>
              <a:path extrusionOk="0" h="6860381" w="5203198">
                <a:moveTo>
                  <a:pt x="0" y="2381"/>
                </a:moveTo>
                <a:lnTo>
                  <a:pt x="5142946" y="0"/>
                </a:lnTo>
                <a:cubicBezTo>
                  <a:pt x="5149221" y="44580"/>
                  <a:pt x="5155497" y="91541"/>
                  <a:pt x="5161772" y="136121"/>
                </a:cubicBezTo>
                <a:cubicBezTo>
                  <a:pt x="5189165" y="379610"/>
                  <a:pt x="5203198" y="626664"/>
                  <a:pt x="5203198" y="876677"/>
                </a:cubicBezTo>
                <a:cubicBezTo>
                  <a:pt x="5203198" y="3251799"/>
                  <a:pt x="3936740" y="5359908"/>
                  <a:pt x="1980154" y="6680759"/>
                </a:cubicBezTo>
                <a:lnTo>
                  <a:pt x="1678899" y="6860381"/>
                </a:lnTo>
                <a:lnTo>
                  <a:pt x="0" y="6860381"/>
                </a:lnTo>
                <a:lnTo>
                  <a:pt x="0" y="2381"/>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 name="Google Shape;123;p2"/>
          <p:cNvSpPr txBox="1"/>
          <p:nvPr>
            <p:ph type="title"/>
          </p:nvPr>
        </p:nvSpPr>
        <p:spPr>
          <a:xfrm>
            <a:off x="804672" y="513977"/>
            <a:ext cx="3591964" cy="347556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rPr>
              <a:t>AGENDA</a:t>
            </a:r>
            <a:endParaRPr/>
          </a:p>
        </p:txBody>
      </p:sp>
      <p:grpSp>
        <p:nvGrpSpPr>
          <p:cNvPr id="124" name="Google Shape;124;p2"/>
          <p:cNvGrpSpPr/>
          <p:nvPr/>
        </p:nvGrpSpPr>
        <p:grpSpPr>
          <a:xfrm>
            <a:off x="5009898" y="595324"/>
            <a:ext cx="6772196" cy="5662908"/>
            <a:chOff x="0" y="1833"/>
            <a:chExt cx="6772196" cy="5662908"/>
          </a:xfrm>
        </p:grpSpPr>
        <p:sp>
          <p:nvSpPr>
            <p:cNvPr id="125" name="Google Shape;125;p2"/>
            <p:cNvSpPr/>
            <p:nvPr/>
          </p:nvSpPr>
          <p:spPr>
            <a:xfrm>
              <a:off x="0" y="1833"/>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236279" y="177578"/>
              <a:ext cx="429599" cy="42959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902159" y="1833"/>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txBox="1"/>
            <p:nvPr/>
          </p:nvSpPr>
          <p:spPr>
            <a:xfrm>
              <a:off x="902159" y="1833"/>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b="0" i="0" lang="es-ES" sz="1900" u="none" cap="none" strike="noStrike">
                  <a:solidFill>
                    <a:schemeClr val="lt1"/>
                  </a:solidFill>
                  <a:latin typeface="Calibri"/>
                  <a:ea typeface="Calibri"/>
                  <a:cs typeface="Calibri"/>
                  <a:sym typeface="Calibri"/>
                </a:rPr>
                <a:t>Dudas iniciales</a:t>
              </a:r>
              <a:endParaRPr b="0" i="0" sz="1900" u="none" cap="none" strike="noStrike">
                <a:solidFill>
                  <a:schemeClr val="lt1"/>
                </a:solidFill>
                <a:latin typeface="Calibri"/>
                <a:ea typeface="Calibri"/>
                <a:cs typeface="Calibri"/>
                <a:sym typeface="Calibri"/>
              </a:endParaRPr>
            </a:p>
          </p:txBody>
        </p:sp>
        <p:sp>
          <p:nvSpPr>
            <p:cNvPr id="129" name="Google Shape;129;p2"/>
            <p:cNvSpPr/>
            <p:nvPr/>
          </p:nvSpPr>
          <p:spPr>
            <a:xfrm>
              <a:off x="0" y="978196"/>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
            <p:cNvSpPr/>
            <p:nvPr/>
          </p:nvSpPr>
          <p:spPr>
            <a:xfrm>
              <a:off x="236279" y="1153942"/>
              <a:ext cx="429599" cy="42959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
            <p:cNvSpPr/>
            <p:nvPr/>
          </p:nvSpPr>
          <p:spPr>
            <a:xfrm>
              <a:off x="902159" y="978196"/>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
            <p:cNvSpPr txBox="1"/>
            <p:nvPr/>
          </p:nvSpPr>
          <p:spPr>
            <a:xfrm>
              <a:off x="902159" y="978196"/>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b="0" i="0" lang="es-ES" sz="1900" u="none" cap="none" strike="noStrike">
                  <a:solidFill>
                    <a:schemeClr val="lt1"/>
                  </a:solidFill>
                  <a:latin typeface="Calibri"/>
                  <a:ea typeface="Calibri"/>
                  <a:cs typeface="Calibri"/>
                  <a:sym typeface="Calibri"/>
                </a:rPr>
                <a:t>Anuncios generales</a:t>
              </a:r>
              <a:endParaRPr b="0" i="0" sz="1900" u="none" cap="none" strike="noStrike">
                <a:solidFill>
                  <a:schemeClr val="lt1"/>
                </a:solidFill>
                <a:latin typeface="Calibri"/>
                <a:ea typeface="Calibri"/>
                <a:cs typeface="Calibri"/>
                <a:sym typeface="Calibri"/>
              </a:endParaRPr>
            </a:p>
          </p:txBody>
        </p:sp>
        <p:sp>
          <p:nvSpPr>
            <p:cNvPr id="133" name="Google Shape;133;p2"/>
            <p:cNvSpPr/>
            <p:nvPr/>
          </p:nvSpPr>
          <p:spPr>
            <a:xfrm>
              <a:off x="0" y="1954560"/>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
            <p:cNvSpPr/>
            <p:nvPr/>
          </p:nvSpPr>
          <p:spPr>
            <a:xfrm>
              <a:off x="236279" y="2130305"/>
              <a:ext cx="429599" cy="429599"/>
            </a:xfrm>
            <a:prstGeom prst="rect">
              <a:avLst/>
            </a:prstGeom>
            <a:blipFill rotWithShape="1">
              <a:blip r:embed="rId5">
                <a:alphaModFix/>
              </a:blip>
              <a:stretch>
                <a:fillRect b="0" l="0" r="0" t="0"/>
              </a:stretch>
            </a:blipFill>
            <a:ln cap="flat" cmpd="sng" w="12700">
              <a:solidFill>
                <a:schemeClr val="lt1">
                  <a:alpha val="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
            <p:cNvSpPr/>
            <p:nvPr/>
          </p:nvSpPr>
          <p:spPr>
            <a:xfrm>
              <a:off x="902159" y="1954560"/>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txBox="1"/>
            <p:nvPr/>
          </p:nvSpPr>
          <p:spPr>
            <a:xfrm>
              <a:off x="902159" y="1954560"/>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lang="es-ES" sz="1900">
                  <a:solidFill>
                    <a:schemeClr val="lt1"/>
                  </a:solidFill>
                  <a:latin typeface="Calibri"/>
                  <a:ea typeface="Calibri"/>
                  <a:cs typeface="Calibri"/>
                  <a:sym typeface="Calibri"/>
                </a:rPr>
                <a:t>Que son los microservicios</a:t>
              </a:r>
              <a:endParaRPr b="0" i="0" sz="1400" u="none" cap="none" strike="noStrike">
                <a:solidFill>
                  <a:srgbClr val="000000"/>
                </a:solidFill>
                <a:latin typeface="Arial"/>
                <a:ea typeface="Arial"/>
                <a:cs typeface="Arial"/>
                <a:sym typeface="Arial"/>
              </a:endParaRPr>
            </a:p>
          </p:txBody>
        </p:sp>
        <p:sp>
          <p:nvSpPr>
            <p:cNvPr id="137" name="Google Shape;137;p2"/>
            <p:cNvSpPr/>
            <p:nvPr/>
          </p:nvSpPr>
          <p:spPr>
            <a:xfrm>
              <a:off x="0" y="2930923"/>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
            <p:cNvSpPr/>
            <p:nvPr/>
          </p:nvSpPr>
          <p:spPr>
            <a:xfrm>
              <a:off x="236279" y="3106669"/>
              <a:ext cx="429599" cy="429599"/>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
            <p:cNvSpPr/>
            <p:nvPr/>
          </p:nvSpPr>
          <p:spPr>
            <a:xfrm>
              <a:off x="902159" y="2930923"/>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
            <p:cNvSpPr txBox="1"/>
            <p:nvPr/>
          </p:nvSpPr>
          <p:spPr>
            <a:xfrm>
              <a:off x="902159" y="2930923"/>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lang="es-ES" sz="1900">
                  <a:solidFill>
                    <a:schemeClr val="lt1"/>
                  </a:solidFill>
                  <a:latin typeface="Calibri"/>
                  <a:ea typeface="Calibri"/>
                  <a:cs typeface="Calibri"/>
                  <a:sym typeface="Calibri"/>
                </a:rPr>
                <a:t>Como diseñarlos</a:t>
              </a:r>
              <a:endParaRPr b="0" i="0" sz="1900" u="none" cap="none" strike="noStrike">
                <a:solidFill>
                  <a:schemeClr val="lt1"/>
                </a:solidFill>
                <a:latin typeface="Calibri"/>
                <a:ea typeface="Calibri"/>
                <a:cs typeface="Calibri"/>
                <a:sym typeface="Calibri"/>
              </a:endParaRPr>
            </a:p>
          </p:txBody>
        </p:sp>
        <p:sp>
          <p:nvSpPr>
            <p:cNvPr id="141" name="Google Shape;141;p2"/>
            <p:cNvSpPr/>
            <p:nvPr/>
          </p:nvSpPr>
          <p:spPr>
            <a:xfrm>
              <a:off x="0" y="3907287"/>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236279" y="4083032"/>
              <a:ext cx="429599" cy="429599"/>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902159" y="3907287"/>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
            <p:cNvSpPr txBox="1"/>
            <p:nvPr/>
          </p:nvSpPr>
          <p:spPr>
            <a:xfrm>
              <a:off x="902159" y="3907287"/>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lang="es-ES" sz="1900">
                  <a:solidFill>
                    <a:schemeClr val="lt1"/>
                  </a:solidFill>
                  <a:latin typeface="Calibri"/>
                  <a:ea typeface="Calibri"/>
                  <a:cs typeface="Calibri"/>
                  <a:sym typeface="Calibri"/>
                </a:rPr>
                <a:t>Buenas practicas</a:t>
              </a:r>
              <a:endParaRPr sz="1900">
                <a:solidFill>
                  <a:schemeClr val="lt1"/>
                </a:solidFill>
                <a:latin typeface="Calibri"/>
                <a:ea typeface="Calibri"/>
                <a:cs typeface="Calibri"/>
                <a:sym typeface="Calibri"/>
              </a:endParaRPr>
            </a:p>
          </p:txBody>
        </p:sp>
        <p:sp>
          <p:nvSpPr>
            <p:cNvPr id="145" name="Google Shape;145;p2"/>
            <p:cNvSpPr/>
            <p:nvPr/>
          </p:nvSpPr>
          <p:spPr>
            <a:xfrm>
              <a:off x="0" y="4883651"/>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
            <p:cNvSpPr/>
            <p:nvPr/>
          </p:nvSpPr>
          <p:spPr>
            <a:xfrm>
              <a:off x="902159" y="4883651"/>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txBox="1"/>
            <p:nvPr/>
          </p:nvSpPr>
          <p:spPr>
            <a:xfrm>
              <a:off x="902159" y="4883651"/>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b="0" i="0" lang="es-ES" sz="1900" u="none" cap="none" strike="noStrike">
                  <a:solidFill>
                    <a:schemeClr val="lt1"/>
                  </a:solidFill>
                  <a:latin typeface="Calibri"/>
                  <a:ea typeface="Calibri"/>
                  <a:cs typeface="Calibri"/>
                  <a:sym typeface="Calibri"/>
                </a:rPr>
                <a:t>Dudas finales</a:t>
              </a:r>
              <a:endParaRPr b="0" i="0" sz="1400" u="none" cap="none" strike="noStrike">
                <a:solidFill>
                  <a:srgbClr val="000000"/>
                </a:solidFill>
                <a:latin typeface="Arial"/>
                <a:ea typeface="Arial"/>
                <a:cs typeface="Arial"/>
                <a:sym typeface="Arial"/>
              </a:endParaRPr>
            </a:p>
          </p:txBody>
        </p:sp>
      </p:grpSp>
      <p:sp>
        <p:nvSpPr>
          <p:cNvPr id="148" name="Google Shape;148;p2"/>
          <p:cNvSpPr/>
          <p:nvPr/>
        </p:nvSpPr>
        <p:spPr>
          <a:xfrm>
            <a:off x="5224327" y="5620344"/>
            <a:ext cx="429600" cy="4296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2" name="Shape 152"/>
        <p:cNvGrpSpPr/>
        <p:nvPr/>
      </p:nvGrpSpPr>
      <p:grpSpPr>
        <a:xfrm>
          <a:off x="0" y="0"/>
          <a:ext cx="0" cy="0"/>
          <a:chOff x="0" y="0"/>
          <a:chExt cx="0" cy="0"/>
        </a:xfrm>
      </p:grpSpPr>
      <p:pic>
        <p:nvPicPr>
          <p:cNvPr id="153" name="Google Shape;153;g1f0a58de352_0_2"/>
          <p:cNvPicPr preferRelativeResize="0"/>
          <p:nvPr/>
        </p:nvPicPr>
        <p:blipFill rotWithShape="1">
          <a:blip r:embed="rId3">
            <a:alphaModFix amt="35000"/>
          </a:blip>
          <a:srcRect b="11966" l="0" r="0" t="3637"/>
          <a:stretch/>
        </p:blipFill>
        <p:spPr>
          <a:xfrm>
            <a:off x="20" y="1"/>
            <a:ext cx="12191980" cy="6857999"/>
          </a:xfrm>
          <a:prstGeom prst="rect">
            <a:avLst/>
          </a:prstGeom>
          <a:noFill/>
          <a:ln>
            <a:noFill/>
          </a:ln>
        </p:spPr>
      </p:pic>
      <p:sp>
        <p:nvSpPr>
          <p:cNvPr id="154" name="Google Shape;154;g1f0a58de352_0_2"/>
          <p:cNvSpPr txBox="1"/>
          <p:nvPr>
            <p:ph type="title"/>
          </p:nvPr>
        </p:nvSpPr>
        <p:spPr>
          <a:xfrm>
            <a:off x="838200" y="1065850"/>
            <a:ext cx="10792800" cy="4614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000"/>
              <a:buFont typeface="Calibri"/>
              <a:buNone/>
            </a:pPr>
            <a:r>
              <a:rPr lang="es-ES" sz="6500"/>
              <a:t>Espacio para dudas</a:t>
            </a:r>
            <a:endParaRPr sz="6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8" name="Shape 158"/>
        <p:cNvGrpSpPr/>
        <p:nvPr/>
      </p:nvGrpSpPr>
      <p:grpSpPr>
        <a:xfrm>
          <a:off x="0" y="0"/>
          <a:ext cx="0" cy="0"/>
          <a:chOff x="0" y="0"/>
          <a:chExt cx="0" cy="0"/>
        </a:xfrm>
      </p:grpSpPr>
      <p:pic>
        <p:nvPicPr>
          <p:cNvPr id="159" name="Google Shape;159;p3"/>
          <p:cNvPicPr preferRelativeResize="0"/>
          <p:nvPr/>
        </p:nvPicPr>
        <p:blipFill rotWithShape="1">
          <a:blip r:embed="rId3">
            <a:alphaModFix amt="35000"/>
          </a:blip>
          <a:srcRect b="11967" l="0" r="-2" t="3635"/>
          <a:stretch/>
        </p:blipFill>
        <p:spPr>
          <a:xfrm>
            <a:off x="20" y="1"/>
            <a:ext cx="12191980" cy="6857999"/>
          </a:xfrm>
          <a:prstGeom prst="rect">
            <a:avLst/>
          </a:prstGeom>
          <a:noFill/>
          <a:ln>
            <a:noFill/>
          </a:ln>
        </p:spPr>
      </p:pic>
      <p:sp>
        <p:nvSpPr>
          <p:cNvPr id="160" name="Google Shape;160;p3"/>
          <p:cNvSpPr txBox="1"/>
          <p:nvPr>
            <p:ph type="title"/>
          </p:nvPr>
        </p:nvSpPr>
        <p:spPr>
          <a:xfrm>
            <a:off x="1031630" y="1065900"/>
            <a:ext cx="4052100" cy="47262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rgbClr val="FFFFFF"/>
              </a:buClr>
              <a:buSzPts val="4000"/>
              <a:buFont typeface="Calibri"/>
              <a:buNone/>
            </a:pPr>
            <a:r>
              <a:rPr lang="es-ES"/>
              <a:t>¿</a:t>
            </a:r>
            <a:r>
              <a:rPr lang="es-ES"/>
              <a:t>Qué</a:t>
            </a:r>
            <a:r>
              <a:rPr lang="es-ES"/>
              <a:t> son los microservicios?</a:t>
            </a:r>
            <a:endParaRPr/>
          </a:p>
        </p:txBody>
      </p:sp>
      <p:sp>
        <p:nvSpPr>
          <p:cNvPr id="161" name="Google Shape;161;p3"/>
          <p:cNvSpPr/>
          <p:nvPr/>
        </p:nvSpPr>
        <p:spPr>
          <a:xfrm>
            <a:off x="6096001" y="0"/>
            <a:ext cx="6095980" cy="6857999"/>
          </a:xfrm>
          <a:prstGeom prst="rect">
            <a:avLst/>
          </a:prstGeom>
          <a:solidFill>
            <a:schemeClr val="l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2" name="Google Shape;162;p3"/>
          <p:cNvSpPr txBox="1"/>
          <p:nvPr/>
        </p:nvSpPr>
        <p:spPr>
          <a:xfrm>
            <a:off x="6364050" y="1766145"/>
            <a:ext cx="5559900" cy="36000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lang="es-ES" sz="2800">
                <a:solidFill>
                  <a:schemeClr val="dk1"/>
                </a:solidFill>
                <a:latin typeface="Calibri"/>
                <a:ea typeface="Calibri"/>
                <a:cs typeface="Calibri"/>
                <a:sym typeface="Calibri"/>
              </a:rPr>
              <a:t>Tipo de arquitectura de software donde una aplicación se divide en múltiples servicios pequeños e independientes. Cada uno de estos servicios se encarga de una función específica y puede desarrollarse, desplegarse y escalarse de manera autónoma.</a:t>
            </a:r>
            <a:endParaRPr b="1" i="0" sz="2800" u="none" cap="none" strike="noStrike">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7" name="Shape 167"/>
        <p:cNvGrpSpPr/>
        <p:nvPr/>
      </p:nvGrpSpPr>
      <p:grpSpPr>
        <a:xfrm>
          <a:off x="0" y="0"/>
          <a:ext cx="0" cy="0"/>
          <a:chOff x="0" y="0"/>
          <a:chExt cx="0" cy="0"/>
        </a:xfrm>
      </p:grpSpPr>
      <p:sp>
        <p:nvSpPr>
          <p:cNvPr id="168" name="Google Shape;168;p8"/>
          <p:cNvSpPr/>
          <p:nvPr/>
        </p:nvSpPr>
        <p:spPr>
          <a:xfrm>
            <a:off x="5833240" y="0"/>
            <a:ext cx="6358759" cy="6858000"/>
          </a:xfrm>
          <a:prstGeom prst="rect">
            <a:avLst/>
          </a:prstGeom>
          <a:solidFill>
            <a:srgbClr val="757070"/>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9" name="Google Shape;169;p8"/>
          <p:cNvSpPr/>
          <p:nvPr/>
        </p:nvSpPr>
        <p:spPr>
          <a:xfrm>
            <a:off x="6831724" y="1373570"/>
            <a:ext cx="4887310" cy="4110859"/>
          </a:xfrm>
          <a:prstGeom prst="rect">
            <a:avLst/>
          </a:prstGeom>
          <a:solidFill>
            <a:schemeClr val="l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lang="es-ES" sz="4400">
                <a:solidFill>
                  <a:schemeClr val="dk1"/>
                </a:solidFill>
              </a:rPr>
              <a:t>Breve historia de los microservicios</a:t>
            </a:r>
            <a:endParaRPr b="0" i="0" sz="4400" u="none" cap="none" strike="noStrike">
              <a:solidFill>
                <a:schemeClr val="dk1"/>
              </a:solidFill>
              <a:latin typeface="Arial"/>
              <a:ea typeface="Arial"/>
              <a:cs typeface="Arial"/>
              <a:sym typeface="Arial"/>
            </a:endParaRPr>
          </a:p>
        </p:txBody>
      </p:sp>
      <p:sp>
        <p:nvSpPr>
          <p:cNvPr id="170" name="Google Shape;170;p8"/>
          <p:cNvSpPr txBox="1"/>
          <p:nvPr/>
        </p:nvSpPr>
        <p:spPr>
          <a:xfrm>
            <a:off x="701685" y="1596112"/>
            <a:ext cx="4614000" cy="3786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lang="es-ES" sz="2400">
                <a:solidFill>
                  <a:schemeClr val="lt1"/>
                </a:solidFill>
              </a:rPr>
              <a:t>El término fue creado por un grupo de arquitectos de software en 2012, pero recién en 2014 empezó hacerse conocido, cuando Martín Fowler, desarrollador de software y autor conocido de la comunidad, comenzó a usar el término en algunas de sus publicaciones de su página web</a:t>
            </a:r>
            <a:endParaRPr b="0" i="0" sz="2400"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5" name="Shape 175"/>
        <p:cNvGrpSpPr/>
        <p:nvPr/>
      </p:nvGrpSpPr>
      <p:grpSpPr>
        <a:xfrm>
          <a:off x="0" y="0"/>
          <a:ext cx="0" cy="0"/>
          <a:chOff x="0" y="0"/>
          <a:chExt cx="0" cy="0"/>
        </a:xfrm>
      </p:grpSpPr>
      <p:sp>
        <p:nvSpPr>
          <p:cNvPr id="176" name="Google Shape;176;g338393cb8ca_0_1"/>
          <p:cNvSpPr/>
          <p:nvPr/>
        </p:nvSpPr>
        <p:spPr>
          <a:xfrm>
            <a:off x="5833240" y="0"/>
            <a:ext cx="6358800" cy="6858000"/>
          </a:xfrm>
          <a:prstGeom prst="rect">
            <a:avLst/>
          </a:prstGeom>
          <a:solidFill>
            <a:srgbClr val="757070"/>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7" name="Google Shape;177;g338393cb8ca_0_1"/>
          <p:cNvSpPr/>
          <p:nvPr/>
        </p:nvSpPr>
        <p:spPr>
          <a:xfrm>
            <a:off x="6831725" y="356250"/>
            <a:ext cx="4887300" cy="6067500"/>
          </a:xfrm>
          <a:prstGeom prst="rect">
            <a:avLst/>
          </a:prstGeom>
          <a:solidFill>
            <a:schemeClr val="l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349250" lvl="0" marL="457200" marR="0" rtl="0" algn="l">
              <a:lnSpc>
                <a:spcPct val="100000"/>
              </a:lnSpc>
              <a:spcBef>
                <a:spcPts val="0"/>
              </a:spcBef>
              <a:spcAft>
                <a:spcPts val="0"/>
              </a:spcAft>
              <a:buClr>
                <a:schemeClr val="dk1"/>
              </a:buClr>
              <a:buSzPts val="1900"/>
              <a:buChar char="●"/>
            </a:pPr>
            <a:r>
              <a:rPr b="1" lang="es-ES" sz="1900">
                <a:solidFill>
                  <a:schemeClr val="dk1"/>
                </a:solidFill>
              </a:rPr>
              <a:t>Arquitectura Monolítica (Años 90 - 2000s)</a:t>
            </a:r>
            <a:endParaRPr b="1" sz="1900">
              <a:solidFill>
                <a:schemeClr val="dk1"/>
              </a:solidFill>
            </a:endParaRPr>
          </a:p>
          <a:p>
            <a:pPr indent="0" lvl="0" marL="0" marR="0" rtl="0" algn="l">
              <a:lnSpc>
                <a:spcPct val="100000"/>
              </a:lnSpc>
              <a:spcBef>
                <a:spcPts val="0"/>
              </a:spcBef>
              <a:spcAft>
                <a:spcPts val="0"/>
              </a:spcAft>
              <a:buClr>
                <a:srgbClr val="000000"/>
              </a:buClr>
              <a:buSzPts val="4400"/>
              <a:buFont typeface="Arial"/>
              <a:buNone/>
            </a:pPr>
            <a:r>
              <a:t/>
            </a:r>
            <a:endParaRPr sz="1900">
              <a:solidFill>
                <a:schemeClr val="dk1"/>
              </a:solidFill>
            </a:endParaRPr>
          </a:p>
          <a:p>
            <a:pPr indent="0" lvl="0" marL="457200" marR="0" rtl="0" algn="l">
              <a:lnSpc>
                <a:spcPct val="100000"/>
              </a:lnSpc>
              <a:spcBef>
                <a:spcPts val="0"/>
              </a:spcBef>
              <a:spcAft>
                <a:spcPts val="0"/>
              </a:spcAft>
              <a:buClr>
                <a:srgbClr val="000000"/>
              </a:buClr>
              <a:buSzPts val="4400"/>
              <a:buFont typeface="Arial"/>
              <a:buNone/>
            </a:pPr>
            <a:r>
              <a:rPr lang="es-ES" sz="1900">
                <a:solidFill>
                  <a:schemeClr val="dk1"/>
                </a:solidFill>
              </a:rPr>
              <a:t>Antes, la mayoría de las aplicaciones eran monolíticas, es decir, un solo bloque de código donde todos los componentes estaban integrados.</a:t>
            </a:r>
            <a:endParaRPr sz="1900">
              <a:solidFill>
                <a:schemeClr val="dk1"/>
              </a:solidFill>
            </a:endParaRPr>
          </a:p>
          <a:p>
            <a:pPr indent="0" lvl="0" marL="457200" marR="0" rtl="0" algn="l">
              <a:lnSpc>
                <a:spcPct val="100000"/>
              </a:lnSpc>
              <a:spcBef>
                <a:spcPts val="0"/>
              </a:spcBef>
              <a:spcAft>
                <a:spcPts val="0"/>
              </a:spcAft>
              <a:buClr>
                <a:srgbClr val="000000"/>
              </a:buClr>
              <a:buSzPts val="4400"/>
              <a:buFont typeface="Arial"/>
              <a:buNone/>
            </a:pPr>
            <a:r>
              <a:rPr lang="es-ES" sz="1900">
                <a:solidFill>
                  <a:schemeClr val="dk1"/>
                </a:solidFill>
              </a:rPr>
              <a:t>Problema: Dificultad para escalar y actualizar sin afectar toda la aplicación.</a:t>
            </a:r>
            <a:endParaRPr sz="1900">
              <a:solidFill>
                <a:schemeClr val="dk1"/>
              </a:solidFill>
            </a:endParaRPr>
          </a:p>
          <a:p>
            <a:pPr indent="0" lvl="0" marL="0" marR="0" rtl="0" algn="l">
              <a:lnSpc>
                <a:spcPct val="100000"/>
              </a:lnSpc>
              <a:spcBef>
                <a:spcPts val="0"/>
              </a:spcBef>
              <a:spcAft>
                <a:spcPts val="0"/>
              </a:spcAft>
              <a:buClr>
                <a:srgbClr val="000000"/>
              </a:buClr>
              <a:buSzPts val="4400"/>
              <a:buFont typeface="Arial"/>
              <a:buNone/>
            </a:pPr>
            <a:r>
              <a:t/>
            </a:r>
            <a:endParaRPr sz="1900">
              <a:solidFill>
                <a:schemeClr val="dk1"/>
              </a:solidFill>
            </a:endParaRPr>
          </a:p>
          <a:p>
            <a:pPr indent="-349250" lvl="0" marL="457200" marR="0" rtl="0" algn="l">
              <a:lnSpc>
                <a:spcPct val="100000"/>
              </a:lnSpc>
              <a:spcBef>
                <a:spcPts val="0"/>
              </a:spcBef>
              <a:spcAft>
                <a:spcPts val="0"/>
              </a:spcAft>
              <a:buClr>
                <a:schemeClr val="dk1"/>
              </a:buClr>
              <a:buSzPts val="1900"/>
              <a:buChar char="●"/>
            </a:pPr>
            <a:r>
              <a:rPr b="1" lang="es-ES" sz="1900">
                <a:solidFill>
                  <a:schemeClr val="dk1"/>
                </a:solidFill>
              </a:rPr>
              <a:t>Arquitectura Orientada a Servicios (SOA) (2000s - 2010s)</a:t>
            </a:r>
            <a:endParaRPr b="1" sz="1900">
              <a:solidFill>
                <a:schemeClr val="dk1"/>
              </a:solidFill>
            </a:endParaRPr>
          </a:p>
          <a:p>
            <a:pPr indent="0" lvl="0" marL="0" marR="0" rtl="0" algn="l">
              <a:lnSpc>
                <a:spcPct val="100000"/>
              </a:lnSpc>
              <a:spcBef>
                <a:spcPts val="0"/>
              </a:spcBef>
              <a:spcAft>
                <a:spcPts val="0"/>
              </a:spcAft>
              <a:buClr>
                <a:srgbClr val="000000"/>
              </a:buClr>
              <a:buSzPts val="4400"/>
              <a:buFont typeface="Arial"/>
              <a:buNone/>
            </a:pPr>
            <a:r>
              <a:t/>
            </a:r>
            <a:endParaRPr sz="1900">
              <a:solidFill>
                <a:schemeClr val="dk1"/>
              </a:solidFill>
            </a:endParaRPr>
          </a:p>
          <a:p>
            <a:pPr indent="0" lvl="0" marL="457200" marR="0" rtl="0" algn="l">
              <a:lnSpc>
                <a:spcPct val="100000"/>
              </a:lnSpc>
              <a:spcBef>
                <a:spcPts val="0"/>
              </a:spcBef>
              <a:spcAft>
                <a:spcPts val="0"/>
              </a:spcAft>
              <a:buClr>
                <a:srgbClr val="000000"/>
              </a:buClr>
              <a:buSzPts val="4400"/>
              <a:buFont typeface="Arial"/>
              <a:buNone/>
            </a:pPr>
            <a:r>
              <a:rPr lang="es-ES" sz="1900">
                <a:solidFill>
                  <a:schemeClr val="dk1"/>
                </a:solidFill>
              </a:rPr>
              <a:t>SOA promovió la idea de dividir las aplicaciones en servicios reutilizables que se comunican mediante protocolos como SOAP.</a:t>
            </a:r>
            <a:endParaRPr sz="1900">
              <a:solidFill>
                <a:schemeClr val="dk1"/>
              </a:solidFill>
            </a:endParaRPr>
          </a:p>
          <a:p>
            <a:pPr indent="0" lvl="0" marL="457200" marR="0" rtl="0" algn="l">
              <a:lnSpc>
                <a:spcPct val="100000"/>
              </a:lnSpc>
              <a:spcBef>
                <a:spcPts val="0"/>
              </a:spcBef>
              <a:spcAft>
                <a:spcPts val="0"/>
              </a:spcAft>
              <a:buClr>
                <a:srgbClr val="000000"/>
              </a:buClr>
              <a:buSzPts val="4400"/>
              <a:buFont typeface="Arial"/>
              <a:buNone/>
            </a:pPr>
            <a:r>
              <a:rPr lang="es-ES" sz="1900">
                <a:solidFill>
                  <a:schemeClr val="dk1"/>
                </a:solidFill>
              </a:rPr>
              <a:t>Problema: SOA era pesado y complejo, con grandes necesidades de infraestructura y gobernanza.</a:t>
            </a:r>
            <a:endParaRPr sz="1900">
              <a:solidFill>
                <a:schemeClr val="dk1"/>
              </a:solidFill>
            </a:endParaRPr>
          </a:p>
        </p:txBody>
      </p:sp>
      <p:sp>
        <p:nvSpPr>
          <p:cNvPr id="178" name="Google Shape;178;g338393cb8ca_0_1"/>
          <p:cNvSpPr txBox="1"/>
          <p:nvPr/>
        </p:nvSpPr>
        <p:spPr>
          <a:xfrm>
            <a:off x="679410" y="1796512"/>
            <a:ext cx="4614000" cy="2539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lang="es-ES" sz="5300">
                <a:solidFill>
                  <a:schemeClr val="lt1"/>
                </a:solidFill>
              </a:rPr>
              <a:t>Orígenes</a:t>
            </a:r>
            <a:r>
              <a:rPr lang="es-ES" sz="5300">
                <a:solidFill>
                  <a:schemeClr val="lt1"/>
                </a:solidFill>
              </a:rPr>
              <a:t> y primeros acercamientos</a:t>
            </a:r>
            <a:endParaRPr b="0" i="0" sz="53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3" name="Shape 183"/>
        <p:cNvGrpSpPr/>
        <p:nvPr/>
      </p:nvGrpSpPr>
      <p:grpSpPr>
        <a:xfrm>
          <a:off x="0" y="0"/>
          <a:ext cx="0" cy="0"/>
          <a:chOff x="0" y="0"/>
          <a:chExt cx="0" cy="0"/>
        </a:xfrm>
      </p:grpSpPr>
      <p:sp>
        <p:nvSpPr>
          <p:cNvPr id="184" name="Google Shape;184;g338393cb8ca_0_27"/>
          <p:cNvSpPr/>
          <p:nvPr/>
        </p:nvSpPr>
        <p:spPr>
          <a:xfrm>
            <a:off x="5833240" y="0"/>
            <a:ext cx="6358800" cy="6858000"/>
          </a:xfrm>
          <a:prstGeom prst="rect">
            <a:avLst/>
          </a:prstGeom>
          <a:solidFill>
            <a:srgbClr val="757070"/>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5" name="Google Shape;185;g338393cb8ca_0_27"/>
          <p:cNvSpPr/>
          <p:nvPr/>
        </p:nvSpPr>
        <p:spPr>
          <a:xfrm>
            <a:off x="6831724" y="1373570"/>
            <a:ext cx="4887300" cy="4110900"/>
          </a:xfrm>
          <a:prstGeom prst="rect">
            <a:avLst/>
          </a:prstGeom>
          <a:solidFill>
            <a:schemeClr val="l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lang="es-ES" sz="4400">
                <a:solidFill>
                  <a:schemeClr val="dk1"/>
                </a:solidFill>
              </a:rPr>
              <a:t>Factores que impulsaron los microservicios</a:t>
            </a:r>
            <a:endParaRPr b="0" i="0" sz="4400" u="none" cap="none" strike="noStrike">
              <a:solidFill>
                <a:schemeClr val="dk1"/>
              </a:solidFill>
              <a:latin typeface="Arial"/>
              <a:ea typeface="Arial"/>
              <a:cs typeface="Arial"/>
              <a:sym typeface="Arial"/>
            </a:endParaRPr>
          </a:p>
        </p:txBody>
      </p:sp>
      <p:sp>
        <p:nvSpPr>
          <p:cNvPr id="186" name="Google Shape;186;g338393cb8ca_0_27"/>
          <p:cNvSpPr txBox="1"/>
          <p:nvPr/>
        </p:nvSpPr>
        <p:spPr>
          <a:xfrm>
            <a:off x="701675" y="1596099"/>
            <a:ext cx="4820400" cy="2678100"/>
          </a:xfrm>
          <a:prstGeom prst="rect">
            <a:avLst/>
          </a:prstGeom>
          <a:noFill/>
          <a:ln>
            <a:noFill/>
          </a:ln>
        </p:spPr>
        <p:txBody>
          <a:bodyPr anchorCtr="0" anchor="t" bIns="45700" lIns="91425" spcFirstLastPara="1" rIns="91425" wrap="square" tIns="45700">
            <a:spAutoFit/>
          </a:bodyPr>
          <a:lstStyle/>
          <a:p>
            <a:pPr indent="-381000" lvl="0" marL="457200" marR="0" rtl="0" algn="just">
              <a:lnSpc>
                <a:spcPct val="100000"/>
              </a:lnSpc>
              <a:spcBef>
                <a:spcPts val="0"/>
              </a:spcBef>
              <a:spcAft>
                <a:spcPts val="0"/>
              </a:spcAft>
              <a:buClr>
                <a:schemeClr val="lt1"/>
              </a:buClr>
              <a:buSzPts val="2400"/>
              <a:buChar char="●"/>
            </a:pPr>
            <a:r>
              <a:rPr lang="es-ES" sz="2400">
                <a:solidFill>
                  <a:schemeClr val="lt1"/>
                </a:solidFill>
              </a:rPr>
              <a:t>Crecimiento del cómputo en la nube</a:t>
            </a:r>
            <a:endParaRPr sz="2400">
              <a:solidFill>
                <a:schemeClr val="lt1"/>
              </a:solidFill>
            </a:endParaRPr>
          </a:p>
          <a:p>
            <a:pPr indent="-381000" lvl="0" marL="457200" marR="0" rtl="0" algn="just">
              <a:lnSpc>
                <a:spcPct val="100000"/>
              </a:lnSpc>
              <a:spcBef>
                <a:spcPts val="0"/>
              </a:spcBef>
              <a:spcAft>
                <a:spcPts val="0"/>
              </a:spcAft>
              <a:buClr>
                <a:schemeClr val="lt1"/>
              </a:buClr>
              <a:buSzPts val="2400"/>
              <a:buChar char="●"/>
            </a:pPr>
            <a:r>
              <a:rPr lang="es-ES" sz="2400">
                <a:solidFill>
                  <a:schemeClr val="lt1"/>
                </a:solidFill>
              </a:rPr>
              <a:t>DevOps y CI/CD</a:t>
            </a:r>
            <a:endParaRPr sz="2400">
              <a:solidFill>
                <a:schemeClr val="lt1"/>
              </a:solidFill>
            </a:endParaRPr>
          </a:p>
          <a:p>
            <a:pPr indent="-381000" lvl="0" marL="457200" marR="0" rtl="0" algn="just">
              <a:lnSpc>
                <a:spcPct val="100000"/>
              </a:lnSpc>
              <a:spcBef>
                <a:spcPts val="0"/>
              </a:spcBef>
              <a:spcAft>
                <a:spcPts val="0"/>
              </a:spcAft>
              <a:buClr>
                <a:schemeClr val="lt1"/>
              </a:buClr>
              <a:buSzPts val="2400"/>
              <a:buChar char="●"/>
            </a:pPr>
            <a:r>
              <a:rPr lang="es-ES" sz="2400">
                <a:solidFill>
                  <a:schemeClr val="lt1"/>
                </a:solidFill>
              </a:rPr>
              <a:t>Contenedores y Kubernetes – Herramientas como Docker y Kubernetes</a:t>
            </a:r>
            <a:endParaRPr sz="2400">
              <a:solidFill>
                <a:schemeClr val="lt1"/>
              </a:solidFill>
            </a:endParaRPr>
          </a:p>
          <a:p>
            <a:pPr indent="-381000" lvl="0" marL="457200" marR="0" rtl="0" algn="just">
              <a:lnSpc>
                <a:spcPct val="100000"/>
              </a:lnSpc>
              <a:spcBef>
                <a:spcPts val="0"/>
              </a:spcBef>
              <a:spcAft>
                <a:spcPts val="0"/>
              </a:spcAft>
              <a:buClr>
                <a:schemeClr val="lt1"/>
              </a:buClr>
              <a:buSzPts val="2400"/>
              <a:buChar char="●"/>
            </a:pPr>
            <a:r>
              <a:rPr lang="es-ES" sz="2400">
                <a:solidFill>
                  <a:schemeClr val="lt1"/>
                </a:solidFill>
              </a:rPr>
              <a:t>Necesidad de escalabilidad</a:t>
            </a:r>
            <a:endParaRPr sz="24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0" name="Shape 190"/>
        <p:cNvGrpSpPr/>
        <p:nvPr/>
      </p:nvGrpSpPr>
      <p:grpSpPr>
        <a:xfrm>
          <a:off x="0" y="0"/>
          <a:ext cx="0" cy="0"/>
          <a:chOff x="0" y="0"/>
          <a:chExt cx="0" cy="0"/>
        </a:xfrm>
      </p:grpSpPr>
      <p:pic>
        <p:nvPicPr>
          <p:cNvPr id="191" name="Google Shape;191;g338393cb8ca_0_9"/>
          <p:cNvPicPr preferRelativeResize="0"/>
          <p:nvPr/>
        </p:nvPicPr>
        <p:blipFill rotWithShape="1">
          <a:blip r:embed="rId3">
            <a:alphaModFix amt="35000"/>
          </a:blip>
          <a:srcRect b="11967" l="0" r="0" t="3637"/>
          <a:stretch/>
        </p:blipFill>
        <p:spPr>
          <a:xfrm>
            <a:off x="20" y="1"/>
            <a:ext cx="12191980" cy="6857999"/>
          </a:xfrm>
          <a:prstGeom prst="rect">
            <a:avLst/>
          </a:prstGeom>
          <a:noFill/>
          <a:ln>
            <a:noFill/>
          </a:ln>
        </p:spPr>
      </p:pic>
      <p:pic>
        <p:nvPicPr>
          <p:cNvPr id="192" name="Google Shape;192;g338393cb8ca_0_9"/>
          <p:cNvPicPr preferRelativeResize="0"/>
          <p:nvPr/>
        </p:nvPicPr>
        <p:blipFill>
          <a:blip r:embed="rId4">
            <a:alphaModFix/>
          </a:blip>
          <a:stretch>
            <a:fillRect/>
          </a:stretch>
        </p:blipFill>
        <p:spPr>
          <a:xfrm>
            <a:off x="2364076" y="756838"/>
            <a:ext cx="7641950" cy="5344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6" name="Shape 196"/>
        <p:cNvGrpSpPr/>
        <p:nvPr/>
      </p:nvGrpSpPr>
      <p:grpSpPr>
        <a:xfrm>
          <a:off x="0" y="0"/>
          <a:ext cx="0" cy="0"/>
          <a:chOff x="0" y="0"/>
          <a:chExt cx="0" cy="0"/>
        </a:xfrm>
      </p:grpSpPr>
      <p:pic>
        <p:nvPicPr>
          <p:cNvPr id="197" name="Google Shape;197;g338393cb8ca_0_15"/>
          <p:cNvPicPr preferRelativeResize="0"/>
          <p:nvPr/>
        </p:nvPicPr>
        <p:blipFill rotWithShape="1">
          <a:blip r:embed="rId3">
            <a:alphaModFix amt="35000"/>
          </a:blip>
          <a:srcRect b="11967" l="0" r="0" t="3637"/>
          <a:stretch/>
        </p:blipFill>
        <p:spPr>
          <a:xfrm>
            <a:off x="20" y="1"/>
            <a:ext cx="12191980" cy="6857999"/>
          </a:xfrm>
          <a:prstGeom prst="rect">
            <a:avLst/>
          </a:prstGeom>
          <a:noFill/>
          <a:ln>
            <a:noFill/>
          </a:ln>
        </p:spPr>
      </p:pic>
      <p:pic>
        <p:nvPicPr>
          <p:cNvPr id="198" name="Google Shape;198;g338393cb8ca_0_15"/>
          <p:cNvPicPr preferRelativeResize="0"/>
          <p:nvPr/>
        </p:nvPicPr>
        <p:blipFill>
          <a:blip r:embed="rId4">
            <a:alphaModFix/>
          </a:blip>
          <a:stretch>
            <a:fillRect/>
          </a:stretch>
        </p:blipFill>
        <p:spPr>
          <a:xfrm>
            <a:off x="2231024" y="352013"/>
            <a:ext cx="7729975" cy="6153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2" name="Shape 202"/>
        <p:cNvGrpSpPr/>
        <p:nvPr/>
      </p:nvGrpSpPr>
      <p:grpSpPr>
        <a:xfrm>
          <a:off x="0" y="0"/>
          <a:ext cx="0" cy="0"/>
          <a:chOff x="0" y="0"/>
          <a:chExt cx="0" cy="0"/>
        </a:xfrm>
      </p:grpSpPr>
      <p:pic>
        <p:nvPicPr>
          <p:cNvPr id="203" name="Google Shape;203;g338393cb8ca_0_35"/>
          <p:cNvPicPr preferRelativeResize="0"/>
          <p:nvPr/>
        </p:nvPicPr>
        <p:blipFill rotWithShape="1">
          <a:blip r:embed="rId3">
            <a:alphaModFix amt="35000"/>
          </a:blip>
          <a:srcRect b="11967" l="0" r="0" t="3637"/>
          <a:stretch/>
        </p:blipFill>
        <p:spPr>
          <a:xfrm>
            <a:off x="20" y="1"/>
            <a:ext cx="12191980" cy="6857999"/>
          </a:xfrm>
          <a:prstGeom prst="rect">
            <a:avLst/>
          </a:prstGeom>
          <a:noFill/>
          <a:ln>
            <a:noFill/>
          </a:ln>
        </p:spPr>
      </p:pic>
      <p:pic>
        <p:nvPicPr>
          <p:cNvPr id="204" name="Google Shape;204;g338393cb8ca_0_35"/>
          <p:cNvPicPr preferRelativeResize="0"/>
          <p:nvPr/>
        </p:nvPicPr>
        <p:blipFill>
          <a:blip r:embed="rId4">
            <a:alphaModFix/>
          </a:blip>
          <a:stretch>
            <a:fillRect/>
          </a:stretch>
        </p:blipFill>
        <p:spPr>
          <a:xfrm>
            <a:off x="2231024" y="352013"/>
            <a:ext cx="7729975" cy="6153975"/>
          </a:xfrm>
          <a:prstGeom prst="rect">
            <a:avLst/>
          </a:prstGeom>
          <a:noFill/>
          <a:ln>
            <a:noFill/>
          </a:ln>
        </p:spPr>
      </p:pic>
      <p:pic>
        <p:nvPicPr>
          <p:cNvPr id="205" name="Google Shape;205;g338393cb8ca_0_35"/>
          <p:cNvPicPr preferRelativeResize="0"/>
          <p:nvPr/>
        </p:nvPicPr>
        <p:blipFill>
          <a:blip r:embed="rId5">
            <a:alphaModFix/>
          </a:blip>
          <a:stretch>
            <a:fillRect/>
          </a:stretch>
        </p:blipFill>
        <p:spPr>
          <a:xfrm>
            <a:off x="1021873" y="0"/>
            <a:ext cx="10148255"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0" name="Shape 210"/>
        <p:cNvGrpSpPr/>
        <p:nvPr/>
      </p:nvGrpSpPr>
      <p:grpSpPr>
        <a:xfrm>
          <a:off x="0" y="0"/>
          <a:ext cx="0" cy="0"/>
          <a:chOff x="0" y="0"/>
          <a:chExt cx="0" cy="0"/>
        </a:xfrm>
      </p:grpSpPr>
      <p:sp>
        <p:nvSpPr>
          <p:cNvPr id="211" name="Google Shape;211;g338393cb8ca_0_42"/>
          <p:cNvSpPr/>
          <p:nvPr/>
        </p:nvSpPr>
        <p:spPr>
          <a:xfrm>
            <a:off x="0" y="0"/>
            <a:ext cx="6358800" cy="6858000"/>
          </a:xfrm>
          <a:prstGeom prst="rect">
            <a:avLst/>
          </a:prstGeom>
          <a:solidFill>
            <a:srgbClr val="757070"/>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2" name="Google Shape;212;g338393cb8ca_0_42"/>
          <p:cNvSpPr/>
          <p:nvPr/>
        </p:nvSpPr>
        <p:spPr>
          <a:xfrm>
            <a:off x="641129" y="657881"/>
            <a:ext cx="5076600" cy="5542200"/>
          </a:xfrm>
          <a:prstGeom prst="rect">
            <a:avLst/>
          </a:prstGeom>
          <a:solidFill>
            <a:schemeClr val="l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4400"/>
              <a:buFont typeface="Arial"/>
              <a:buNone/>
            </a:pPr>
            <a:r>
              <a:rPr lang="es-ES" sz="2250">
                <a:solidFill>
                  <a:schemeClr val="dk1"/>
                </a:solidFill>
              </a:rPr>
              <a:t>Ventajas</a:t>
            </a:r>
            <a:endParaRPr sz="2250">
              <a:solidFill>
                <a:schemeClr val="dk1"/>
              </a:solidFill>
            </a:endParaRPr>
          </a:p>
          <a:p>
            <a:pPr indent="0" lvl="0" marL="0" marR="0" rtl="0" algn="just">
              <a:lnSpc>
                <a:spcPct val="100000"/>
              </a:lnSpc>
              <a:spcBef>
                <a:spcPts val="0"/>
              </a:spcBef>
              <a:spcAft>
                <a:spcPts val="0"/>
              </a:spcAft>
              <a:buClr>
                <a:srgbClr val="000000"/>
              </a:buClr>
              <a:buSzPts val="4400"/>
              <a:buFont typeface="Arial"/>
              <a:buNone/>
            </a:pPr>
            <a:r>
              <a:t/>
            </a:r>
            <a:endParaRPr sz="2250">
              <a:solidFill>
                <a:schemeClr val="dk1"/>
              </a:solidFill>
            </a:endParaRPr>
          </a:p>
          <a:p>
            <a:pPr indent="-371475" lvl="0" marL="457200" marR="0" rtl="0" algn="just">
              <a:lnSpc>
                <a:spcPct val="100000"/>
              </a:lnSpc>
              <a:spcBef>
                <a:spcPts val="0"/>
              </a:spcBef>
              <a:spcAft>
                <a:spcPts val="0"/>
              </a:spcAft>
              <a:buClr>
                <a:schemeClr val="dk1"/>
              </a:buClr>
              <a:buSzPts val="2250"/>
              <a:buChar char="●"/>
            </a:pPr>
            <a:r>
              <a:rPr lang="es-ES" sz="2250">
                <a:solidFill>
                  <a:schemeClr val="dk1"/>
                </a:solidFill>
              </a:rPr>
              <a:t>Escalabilidad Independiente</a:t>
            </a:r>
            <a:endParaRPr sz="2250">
              <a:solidFill>
                <a:schemeClr val="dk1"/>
              </a:solidFill>
            </a:endParaRPr>
          </a:p>
          <a:p>
            <a:pPr indent="-371475" lvl="0" marL="457200" marR="0" rtl="0" algn="just">
              <a:lnSpc>
                <a:spcPct val="100000"/>
              </a:lnSpc>
              <a:spcBef>
                <a:spcPts val="0"/>
              </a:spcBef>
              <a:spcAft>
                <a:spcPts val="0"/>
              </a:spcAft>
              <a:buClr>
                <a:schemeClr val="dk1"/>
              </a:buClr>
              <a:buSzPts val="2250"/>
              <a:buChar char="●"/>
            </a:pPr>
            <a:r>
              <a:rPr lang="es-ES" sz="2250">
                <a:solidFill>
                  <a:schemeClr val="dk1"/>
                </a:solidFill>
              </a:rPr>
              <a:t>Desarrollo y Despliegue Ágil</a:t>
            </a:r>
            <a:endParaRPr sz="2250">
              <a:solidFill>
                <a:schemeClr val="dk1"/>
              </a:solidFill>
            </a:endParaRPr>
          </a:p>
          <a:p>
            <a:pPr indent="-371475" lvl="0" marL="457200" marR="0" rtl="0" algn="just">
              <a:lnSpc>
                <a:spcPct val="100000"/>
              </a:lnSpc>
              <a:spcBef>
                <a:spcPts val="0"/>
              </a:spcBef>
              <a:spcAft>
                <a:spcPts val="0"/>
              </a:spcAft>
              <a:buClr>
                <a:schemeClr val="dk1"/>
              </a:buClr>
              <a:buSzPts val="2250"/>
              <a:buChar char="●"/>
            </a:pPr>
            <a:r>
              <a:rPr lang="es-ES" sz="2250">
                <a:solidFill>
                  <a:schemeClr val="dk1"/>
                </a:solidFill>
              </a:rPr>
              <a:t>Flexibilidad Tecnológic</a:t>
            </a:r>
            <a:r>
              <a:rPr lang="es-ES" sz="2250">
                <a:solidFill>
                  <a:schemeClr val="dk1"/>
                </a:solidFill>
              </a:rPr>
              <a:t>a</a:t>
            </a:r>
            <a:endParaRPr sz="2250">
              <a:solidFill>
                <a:schemeClr val="dk1"/>
              </a:solidFill>
            </a:endParaRPr>
          </a:p>
          <a:p>
            <a:pPr indent="-371475" lvl="0" marL="457200" marR="0" rtl="0" algn="just">
              <a:lnSpc>
                <a:spcPct val="100000"/>
              </a:lnSpc>
              <a:spcBef>
                <a:spcPts val="0"/>
              </a:spcBef>
              <a:spcAft>
                <a:spcPts val="0"/>
              </a:spcAft>
              <a:buClr>
                <a:schemeClr val="dk1"/>
              </a:buClr>
              <a:buSzPts val="2250"/>
              <a:buChar char="●"/>
            </a:pPr>
            <a:r>
              <a:rPr lang="es-ES" sz="2250">
                <a:solidFill>
                  <a:schemeClr val="dk1"/>
                </a:solidFill>
              </a:rPr>
              <a:t>Mayor Resiliencia y Tolerancia a Fallos</a:t>
            </a:r>
            <a:endParaRPr sz="2250">
              <a:solidFill>
                <a:schemeClr val="dk1"/>
              </a:solidFill>
            </a:endParaRPr>
          </a:p>
          <a:p>
            <a:pPr indent="-371475" lvl="0" marL="457200" marR="0" rtl="0" algn="just">
              <a:lnSpc>
                <a:spcPct val="100000"/>
              </a:lnSpc>
              <a:spcBef>
                <a:spcPts val="0"/>
              </a:spcBef>
              <a:spcAft>
                <a:spcPts val="0"/>
              </a:spcAft>
              <a:buClr>
                <a:schemeClr val="dk1"/>
              </a:buClr>
              <a:buSzPts val="2250"/>
              <a:buChar char="●"/>
            </a:pPr>
            <a:r>
              <a:rPr lang="es-ES" sz="2250">
                <a:solidFill>
                  <a:schemeClr val="dk1"/>
                </a:solidFill>
              </a:rPr>
              <a:t>Facilidad para Integraciones</a:t>
            </a:r>
            <a:endParaRPr sz="2250">
              <a:solidFill>
                <a:schemeClr val="dk1"/>
              </a:solidFill>
            </a:endParaRPr>
          </a:p>
        </p:txBody>
      </p:sp>
      <p:sp>
        <p:nvSpPr>
          <p:cNvPr id="213" name="Google Shape;213;g338393cb8ca_0_42"/>
          <p:cNvSpPr txBox="1"/>
          <p:nvPr/>
        </p:nvSpPr>
        <p:spPr>
          <a:xfrm>
            <a:off x="6933101" y="1872725"/>
            <a:ext cx="4890300" cy="3209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lang="es-ES" sz="2250">
                <a:solidFill>
                  <a:srgbClr val="E6E6E6"/>
                </a:solidFill>
              </a:rPr>
              <a:t>Desventajas</a:t>
            </a:r>
            <a:endParaRPr sz="2250">
              <a:solidFill>
                <a:srgbClr val="E6E6E6"/>
              </a:solidFill>
            </a:endParaRPr>
          </a:p>
          <a:p>
            <a:pPr indent="0" lvl="0" marL="0" marR="0" rtl="0" algn="just">
              <a:lnSpc>
                <a:spcPct val="100000"/>
              </a:lnSpc>
              <a:spcBef>
                <a:spcPts val="0"/>
              </a:spcBef>
              <a:spcAft>
                <a:spcPts val="0"/>
              </a:spcAft>
              <a:buClr>
                <a:srgbClr val="000000"/>
              </a:buClr>
              <a:buSzPts val="2400"/>
              <a:buFont typeface="Arial"/>
              <a:buNone/>
            </a:pPr>
            <a:r>
              <a:t/>
            </a:r>
            <a:endParaRPr sz="2250">
              <a:solidFill>
                <a:srgbClr val="E6E6E6"/>
              </a:solidFill>
            </a:endParaRPr>
          </a:p>
          <a:p>
            <a:pPr indent="-371475" lvl="0" marL="457200" marR="0" rtl="0" algn="just">
              <a:lnSpc>
                <a:spcPct val="100000"/>
              </a:lnSpc>
              <a:spcBef>
                <a:spcPts val="0"/>
              </a:spcBef>
              <a:spcAft>
                <a:spcPts val="0"/>
              </a:spcAft>
              <a:buClr>
                <a:srgbClr val="E6E6E6"/>
              </a:buClr>
              <a:buSzPts val="2250"/>
              <a:buChar char="●"/>
            </a:pPr>
            <a:r>
              <a:rPr lang="es-ES" sz="2250">
                <a:solidFill>
                  <a:srgbClr val="E6E6E6"/>
                </a:solidFill>
              </a:rPr>
              <a:t>Mayor Complejidad en la Gestión</a:t>
            </a:r>
            <a:endParaRPr sz="2250">
              <a:solidFill>
                <a:srgbClr val="E6E6E6"/>
              </a:solidFill>
            </a:endParaRPr>
          </a:p>
          <a:p>
            <a:pPr indent="-371475" lvl="0" marL="457200" marR="0" rtl="0" algn="just">
              <a:lnSpc>
                <a:spcPct val="100000"/>
              </a:lnSpc>
              <a:spcBef>
                <a:spcPts val="0"/>
              </a:spcBef>
              <a:spcAft>
                <a:spcPts val="0"/>
              </a:spcAft>
              <a:buClr>
                <a:srgbClr val="E6E6E6"/>
              </a:buClr>
              <a:buSzPts val="2250"/>
              <a:buChar char="●"/>
            </a:pPr>
            <a:r>
              <a:rPr lang="es-ES" sz="2250">
                <a:solidFill>
                  <a:srgbClr val="E6E6E6"/>
                </a:solidFill>
              </a:rPr>
              <a:t>Mayor Carga Operativa</a:t>
            </a:r>
            <a:endParaRPr sz="2250">
              <a:solidFill>
                <a:srgbClr val="E6E6E6"/>
              </a:solidFill>
            </a:endParaRPr>
          </a:p>
          <a:p>
            <a:pPr indent="-371475" lvl="0" marL="457200" marR="0" rtl="0" algn="just">
              <a:lnSpc>
                <a:spcPct val="100000"/>
              </a:lnSpc>
              <a:spcBef>
                <a:spcPts val="0"/>
              </a:spcBef>
              <a:spcAft>
                <a:spcPts val="0"/>
              </a:spcAft>
              <a:buClr>
                <a:srgbClr val="E6E6E6"/>
              </a:buClr>
              <a:buSzPts val="2250"/>
              <a:buChar char="●"/>
            </a:pPr>
            <a:r>
              <a:rPr lang="es-ES" sz="2250">
                <a:solidFill>
                  <a:srgbClr val="E6E6E6"/>
                </a:solidFill>
              </a:rPr>
              <a:t>Dificultad en la Comunicación</a:t>
            </a:r>
            <a:endParaRPr sz="2250">
              <a:solidFill>
                <a:srgbClr val="E6E6E6"/>
              </a:solidFill>
            </a:endParaRPr>
          </a:p>
          <a:p>
            <a:pPr indent="-371475" lvl="0" marL="457200" marR="0" rtl="0" algn="just">
              <a:lnSpc>
                <a:spcPct val="100000"/>
              </a:lnSpc>
              <a:spcBef>
                <a:spcPts val="0"/>
              </a:spcBef>
              <a:spcAft>
                <a:spcPts val="0"/>
              </a:spcAft>
              <a:buClr>
                <a:srgbClr val="E6E6E6"/>
              </a:buClr>
              <a:buSzPts val="2250"/>
              <a:buChar char="●"/>
            </a:pPr>
            <a:r>
              <a:rPr lang="es-ES" sz="2250">
                <a:solidFill>
                  <a:srgbClr val="E6E6E6"/>
                </a:solidFill>
              </a:rPr>
              <a:t>Problemas de Consistencia de Datos</a:t>
            </a:r>
            <a:endParaRPr sz="2250">
              <a:solidFill>
                <a:srgbClr val="E6E6E6"/>
              </a:solidFill>
            </a:endParaRPr>
          </a:p>
          <a:p>
            <a:pPr indent="-371475" lvl="0" marL="457200" marR="0" rtl="0" algn="just">
              <a:lnSpc>
                <a:spcPct val="100000"/>
              </a:lnSpc>
              <a:spcBef>
                <a:spcPts val="0"/>
              </a:spcBef>
              <a:spcAft>
                <a:spcPts val="0"/>
              </a:spcAft>
              <a:buClr>
                <a:srgbClr val="E6E6E6"/>
              </a:buClr>
              <a:buSzPts val="2250"/>
              <a:buChar char="●"/>
            </a:pPr>
            <a:r>
              <a:rPr lang="es-ES" sz="2250">
                <a:solidFill>
                  <a:srgbClr val="E6E6E6"/>
                </a:solidFill>
              </a:rPr>
              <a:t>Tiempo de Desarrollo Inicial Mayor</a:t>
            </a:r>
            <a:endParaRPr sz="2250">
              <a:solidFill>
                <a:srgbClr val="E6E6E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7" name="Shape 217"/>
        <p:cNvGrpSpPr/>
        <p:nvPr/>
      </p:nvGrpSpPr>
      <p:grpSpPr>
        <a:xfrm>
          <a:off x="0" y="0"/>
          <a:ext cx="0" cy="0"/>
          <a:chOff x="0" y="0"/>
          <a:chExt cx="0" cy="0"/>
        </a:xfrm>
      </p:grpSpPr>
      <p:sp>
        <p:nvSpPr>
          <p:cNvPr id="218" name="Google Shape;218;p4"/>
          <p:cNvSpPr/>
          <p:nvPr/>
        </p:nvSpPr>
        <p:spPr>
          <a:xfrm>
            <a:off x="-1" y="0"/>
            <a:ext cx="4654295"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9" name="Google Shape;219;p4"/>
          <p:cNvSpPr txBox="1"/>
          <p:nvPr>
            <p:ph type="title"/>
          </p:nvPr>
        </p:nvSpPr>
        <p:spPr>
          <a:xfrm>
            <a:off x="762000" y="559678"/>
            <a:ext cx="3567915" cy="495249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Así</a:t>
            </a:r>
            <a:r>
              <a:rPr lang="es-ES">
                <a:solidFill>
                  <a:schemeClr val="lt1"/>
                </a:solidFill>
              </a:rPr>
              <a:t> se ve un microservicio</a:t>
            </a:r>
            <a:endParaRPr>
              <a:solidFill>
                <a:schemeClr val="lt1"/>
              </a:solidFill>
            </a:endParaRPr>
          </a:p>
        </p:txBody>
      </p:sp>
      <p:cxnSp>
        <p:nvCxnSpPr>
          <p:cNvPr id="220" name="Google Shape;220;p4"/>
          <p:cNvCxnSpPr/>
          <p:nvPr/>
        </p:nvCxnSpPr>
        <p:spPr>
          <a:xfrm>
            <a:off x="0" y="6199730"/>
            <a:ext cx="4297680" cy="0"/>
          </a:xfrm>
          <a:prstGeom prst="straightConnector1">
            <a:avLst/>
          </a:prstGeom>
          <a:noFill/>
          <a:ln cap="flat" cmpd="sng" w="25400">
            <a:solidFill>
              <a:schemeClr val="lt1"/>
            </a:solidFill>
            <a:prstDash val="solid"/>
            <a:miter lim="800000"/>
            <a:headEnd len="sm" w="sm" type="none"/>
            <a:tailEnd len="sm" w="sm" type="none"/>
          </a:ln>
        </p:spPr>
      </p:cxnSp>
      <p:pic>
        <p:nvPicPr>
          <p:cNvPr id="221" name="Google Shape;221;p4"/>
          <p:cNvPicPr preferRelativeResize="0"/>
          <p:nvPr/>
        </p:nvPicPr>
        <p:blipFill>
          <a:blip r:embed="rId3">
            <a:alphaModFix/>
          </a:blip>
          <a:stretch>
            <a:fillRect/>
          </a:stretch>
        </p:blipFill>
        <p:spPr>
          <a:xfrm>
            <a:off x="4780969" y="1394750"/>
            <a:ext cx="7232907" cy="4068510"/>
          </a:xfrm>
          <a:prstGeom prst="rect">
            <a:avLst/>
          </a:prstGeom>
          <a:noFill/>
          <a:ln>
            <a:noFill/>
          </a:ln>
        </p:spPr>
      </p:pic>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3F3F"/>
        </a:solidFill>
      </p:bgPr>
    </p:bg>
    <p:spTree>
      <p:nvGrpSpPr>
        <p:cNvPr id="226" name="Shape 226"/>
        <p:cNvGrpSpPr/>
        <p:nvPr/>
      </p:nvGrpSpPr>
      <p:grpSpPr>
        <a:xfrm>
          <a:off x="0" y="0"/>
          <a:ext cx="0" cy="0"/>
          <a:chOff x="0" y="0"/>
          <a:chExt cx="0" cy="0"/>
        </a:xfrm>
      </p:grpSpPr>
      <p:sp>
        <p:nvSpPr>
          <p:cNvPr id="227" name="Google Shape;227;g338393cb8ca_0_53"/>
          <p:cNvSpPr txBox="1"/>
          <p:nvPr>
            <p:ph type="title"/>
          </p:nvPr>
        </p:nvSpPr>
        <p:spPr>
          <a:xfrm>
            <a:off x="8042354" y="1008733"/>
            <a:ext cx="3732300" cy="410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Las 3 reglas de un microservicio</a:t>
            </a:r>
            <a:endParaRPr>
              <a:solidFill>
                <a:schemeClr val="lt1"/>
              </a:solidFill>
            </a:endParaRPr>
          </a:p>
        </p:txBody>
      </p:sp>
      <p:sp>
        <p:nvSpPr>
          <p:cNvPr id="228" name="Google Shape;228;g338393cb8ca_0_53"/>
          <p:cNvSpPr/>
          <p:nvPr/>
        </p:nvSpPr>
        <p:spPr>
          <a:xfrm>
            <a:off x="0" y="0"/>
            <a:ext cx="75366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9" name="Google Shape;229;g338393cb8ca_0_53"/>
          <p:cNvSpPr/>
          <p:nvPr/>
        </p:nvSpPr>
        <p:spPr>
          <a:xfrm>
            <a:off x="626285" y="650014"/>
            <a:ext cx="3367200" cy="3266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0" name="Google Shape;230;g338393cb8ca_0_53"/>
          <p:cNvSpPr/>
          <p:nvPr/>
        </p:nvSpPr>
        <p:spPr>
          <a:xfrm>
            <a:off x="4152946" y="650014"/>
            <a:ext cx="2765700" cy="2136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1" name="Google Shape;231;g338393cb8ca_0_53"/>
          <p:cNvSpPr/>
          <p:nvPr/>
        </p:nvSpPr>
        <p:spPr>
          <a:xfrm>
            <a:off x="626285" y="4088215"/>
            <a:ext cx="3367200" cy="2124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2" name="Google Shape;232;g338393cb8ca_0_53"/>
          <p:cNvSpPr/>
          <p:nvPr/>
        </p:nvSpPr>
        <p:spPr>
          <a:xfrm>
            <a:off x="4152946" y="2947051"/>
            <a:ext cx="2765700" cy="3266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233" name="Google Shape;233;g338393cb8ca_0_53"/>
          <p:cNvPicPr preferRelativeResize="0"/>
          <p:nvPr/>
        </p:nvPicPr>
        <p:blipFill>
          <a:blip r:embed="rId3">
            <a:alphaModFix/>
          </a:blip>
          <a:stretch>
            <a:fillRect/>
          </a:stretch>
        </p:blipFill>
        <p:spPr>
          <a:xfrm>
            <a:off x="110663" y="1427275"/>
            <a:ext cx="7315200" cy="4114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8" name="Shape 238"/>
        <p:cNvGrpSpPr/>
        <p:nvPr/>
      </p:nvGrpSpPr>
      <p:grpSpPr>
        <a:xfrm>
          <a:off x="0" y="0"/>
          <a:ext cx="0" cy="0"/>
          <a:chOff x="0" y="0"/>
          <a:chExt cx="0" cy="0"/>
        </a:xfrm>
      </p:grpSpPr>
      <p:sp>
        <p:nvSpPr>
          <p:cNvPr id="239" name="Google Shape;239;g338393cb8ca_0_64"/>
          <p:cNvSpPr/>
          <p:nvPr/>
        </p:nvSpPr>
        <p:spPr>
          <a:xfrm>
            <a:off x="0" y="0"/>
            <a:ext cx="6358800" cy="6858000"/>
          </a:xfrm>
          <a:prstGeom prst="rect">
            <a:avLst/>
          </a:prstGeom>
          <a:solidFill>
            <a:srgbClr val="757070"/>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0" name="Google Shape;240;g338393cb8ca_0_64"/>
          <p:cNvSpPr/>
          <p:nvPr/>
        </p:nvSpPr>
        <p:spPr>
          <a:xfrm>
            <a:off x="641129" y="657881"/>
            <a:ext cx="5076600" cy="5542200"/>
          </a:xfrm>
          <a:prstGeom prst="rect">
            <a:avLst/>
          </a:prstGeom>
          <a:solidFill>
            <a:schemeClr val="l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4400"/>
              <a:buFont typeface="Arial"/>
              <a:buNone/>
            </a:pPr>
            <a:r>
              <a:rPr b="1" i="1" lang="es-ES" sz="2250">
                <a:solidFill>
                  <a:schemeClr val="dk1"/>
                </a:solidFill>
              </a:rPr>
              <a:t>Cumplir una </a:t>
            </a:r>
            <a:r>
              <a:rPr b="1" i="1" lang="es-ES" sz="2250">
                <a:solidFill>
                  <a:schemeClr val="dk1"/>
                </a:solidFill>
              </a:rPr>
              <a:t>única</a:t>
            </a:r>
            <a:r>
              <a:rPr b="1" i="1" lang="es-ES" sz="2250">
                <a:solidFill>
                  <a:schemeClr val="dk1"/>
                </a:solidFill>
              </a:rPr>
              <a:t> </a:t>
            </a:r>
            <a:r>
              <a:rPr b="1" i="1" lang="es-ES" sz="2250">
                <a:solidFill>
                  <a:schemeClr val="dk1"/>
                </a:solidFill>
              </a:rPr>
              <a:t>función</a:t>
            </a:r>
            <a:endParaRPr b="1" i="1" sz="2250">
              <a:solidFill>
                <a:schemeClr val="dk1"/>
              </a:solidFill>
            </a:endParaRPr>
          </a:p>
          <a:p>
            <a:pPr indent="0" lvl="0" marL="0" marR="0" rtl="0" algn="just">
              <a:lnSpc>
                <a:spcPct val="100000"/>
              </a:lnSpc>
              <a:spcBef>
                <a:spcPts val="0"/>
              </a:spcBef>
              <a:spcAft>
                <a:spcPts val="0"/>
              </a:spcAft>
              <a:buClr>
                <a:srgbClr val="000000"/>
              </a:buClr>
              <a:buSzPts val="4400"/>
              <a:buFont typeface="Arial"/>
              <a:buNone/>
            </a:pPr>
            <a:r>
              <a:t/>
            </a:r>
            <a:endParaRPr sz="2250">
              <a:solidFill>
                <a:schemeClr val="dk1"/>
              </a:solidFill>
            </a:endParaRPr>
          </a:p>
          <a:p>
            <a:pPr indent="0" lvl="0" marL="0" marR="0" rtl="0" algn="just">
              <a:lnSpc>
                <a:spcPct val="100000"/>
              </a:lnSpc>
              <a:spcBef>
                <a:spcPts val="0"/>
              </a:spcBef>
              <a:spcAft>
                <a:spcPts val="0"/>
              </a:spcAft>
              <a:buClr>
                <a:srgbClr val="000000"/>
              </a:buClr>
              <a:buSzPts val="4400"/>
              <a:buFont typeface="Arial"/>
              <a:buNone/>
            </a:pPr>
            <a:r>
              <a:rPr lang="es-ES" sz="2250">
                <a:solidFill>
                  <a:schemeClr val="dk1"/>
                </a:solidFill>
              </a:rPr>
              <a:t>Cada microservicio debe enfocarse en una única función o capacidad de negocio.</a:t>
            </a:r>
            <a:endParaRPr sz="2250">
              <a:solidFill>
                <a:schemeClr val="dk1"/>
              </a:solidFill>
            </a:endParaRPr>
          </a:p>
          <a:p>
            <a:pPr indent="0" lvl="0" marL="0" marR="0" rtl="0" algn="just">
              <a:lnSpc>
                <a:spcPct val="100000"/>
              </a:lnSpc>
              <a:spcBef>
                <a:spcPts val="0"/>
              </a:spcBef>
              <a:spcAft>
                <a:spcPts val="0"/>
              </a:spcAft>
              <a:buClr>
                <a:srgbClr val="000000"/>
              </a:buClr>
              <a:buSzPts val="4400"/>
              <a:buFont typeface="Arial"/>
              <a:buNone/>
            </a:pPr>
            <a:r>
              <a:t/>
            </a:r>
            <a:endParaRPr sz="2250">
              <a:solidFill>
                <a:schemeClr val="dk1"/>
              </a:solidFill>
            </a:endParaRPr>
          </a:p>
          <a:p>
            <a:pPr indent="0" lvl="0" marL="0" marR="0" rtl="0" algn="just">
              <a:lnSpc>
                <a:spcPct val="100000"/>
              </a:lnSpc>
              <a:spcBef>
                <a:spcPts val="0"/>
              </a:spcBef>
              <a:spcAft>
                <a:spcPts val="0"/>
              </a:spcAft>
              <a:buClr>
                <a:srgbClr val="000000"/>
              </a:buClr>
              <a:buSzPts val="4400"/>
              <a:buFont typeface="Arial"/>
              <a:buNone/>
            </a:pPr>
            <a:r>
              <a:rPr lang="es-ES" sz="2250">
                <a:solidFill>
                  <a:schemeClr val="dk1"/>
                </a:solidFill>
              </a:rPr>
              <a:t>No deben existir servicios que hagan muchas cosas a la vez (evitar servicios gigantes o "macroservicios").</a:t>
            </a:r>
            <a:endParaRPr sz="2250">
              <a:solidFill>
                <a:schemeClr val="dk1"/>
              </a:solidFill>
            </a:endParaRPr>
          </a:p>
          <a:p>
            <a:pPr indent="0" lvl="0" marL="0" marR="0" rtl="0" algn="just">
              <a:lnSpc>
                <a:spcPct val="100000"/>
              </a:lnSpc>
              <a:spcBef>
                <a:spcPts val="0"/>
              </a:spcBef>
              <a:spcAft>
                <a:spcPts val="0"/>
              </a:spcAft>
              <a:buClr>
                <a:srgbClr val="000000"/>
              </a:buClr>
              <a:buSzPts val="4400"/>
              <a:buFont typeface="Arial"/>
              <a:buNone/>
            </a:pPr>
            <a:r>
              <a:t/>
            </a:r>
            <a:endParaRPr sz="2250">
              <a:solidFill>
                <a:schemeClr val="dk1"/>
              </a:solidFill>
            </a:endParaRPr>
          </a:p>
          <a:p>
            <a:pPr indent="0" lvl="0" marL="0" marR="0" rtl="0" algn="just">
              <a:lnSpc>
                <a:spcPct val="100000"/>
              </a:lnSpc>
              <a:spcBef>
                <a:spcPts val="0"/>
              </a:spcBef>
              <a:spcAft>
                <a:spcPts val="0"/>
              </a:spcAft>
              <a:buClr>
                <a:srgbClr val="000000"/>
              </a:buClr>
              <a:buSzPts val="4400"/>
              <a:buFont typeface="Arial"/>
              <a:buNone/>
            </a:pPr>
            <a:r>
              <a:rPr lang="es-ES" sz="2250">
                <a:solidFill>
                  <a:schemeClr val="dk1"/>
                </a:solidFill>
              </a:rPr>
              <a:t>Ejemplo: Un servicio de autenticación solo debería encargarse del login y la seguridad, sin manejar pedidos o pagos.</a:t>
            </a:r>
            <a:endParaRPr sz="2250">
              <a:solidFill>
                <a:schemeClr val="dk1"/>
              </a:solidFill>
            </a:endParaRPr>
          </a:p>
          <a:p>
            <a:pPr indent="0" lvl="0" marL="457200" marR="0" rtl="0" algn="just">
              <a:lnSpc>
                <a:spcPct val="100000"/>
              </a:lnSpc>
              <a:spcBef>
                <a:spcPts val="0"/>
              </a:spcBef>
              <a:spcAft>
                <a:spcPts val="0"/>
              </a:spcAft>
              <a:buNone/>
            </a:pPr>
            <a:r>
              <a:t/>
            </a:r>
            <a:endParaRPr sz="2250">
              <a:solidFill>
                <a:schemeClr val="dk1"/>
              </a:solidFill>
            </a:endParaRPr>
          </a:p>
        </p:txBody>
      </p:sp>
      <p:sp>
        <p:nvSpPr>
          <p:cNvPr id="241" name="Google Shape;241;g338393cb8ca_0_64"/>
          <p:cNvSpPr txBox="1"/>
          <p:nvPr/>
        </p:nvSpPr>
        <p:spPr>
          <a:xfrm>
            <a:off x="6866301" y="547875"/>
            <a:ext cx="4890300" cy="2855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lang="es-ES" sz="2050">
                <a:solidFill>
                  <a:srgbClr val="E6E6E6"/>
                </a:solidFill>
              </a:rPr>
              <a:t>Ser </a:t>
            </a:r>
            <a:r>
              <a:rPr b="1" lang="es-ES" sz="2050">
                <a:solidFill>
                  <a:srgbClr val="E6E6E6"/>
                </a:solidFill>
              </a:rPr>
              <a:t>Autónomo</a:t>
            </a:r>
            <a:endParaRPr b="1" sz="2050">
              <a:solidFill>
                <a:srgbClr val="E6E6E6"/>
              </a:solidFill>
            </a:endParaRPr>
          </a:p>
          <a:p>
            <a:pPr indent="0" lvl="0" marL="0" marR="0" rtl="0" algn="just">
              <a:lnSpc>
                <a:spcPct val="100000"/>
              </a:lnSpc>
              <a:spcBef>
                <a:spcPts val="0"/>
              </a:spcBef>
              <a:spcAft>
                <a:spcPts val="0"/>
              </a:spcAft>
              <a:buClr>
                <a:srgbClr val="000000"/>
              </a:buClr>
              <a:buSzPts val="2400"/>
              <a:buFont typeface="Arial"/>
              <a:buNone/>
            </a:pPr>
            <a:r>
              <a:t/>
            </a:r>
            <a:endParaRPr sz="2250">
              <a:solidFill>
                <a:srgbClr val="E6E6E6"/>
              </a:solidFill>
            </a:endParaRPr>
          </a:p>
          <a:p>
            <a:pPr indent="-352425" lvl="0" marL="457200" marR="0" rtl="0" algn="just">
              <a:lnSpc>
                <a:spcPct val="100000"/>
              </a:lnSpc>
              <a:spcBef>
                <a:spcPts val="0"/>
              </a:spcBef>
              <a:spcAft>
                <a:spcPts val="0"/>
              </a:spcAft>
              <a:buClr>
                <a:srgbClr val="E6E6E6"/>
              </a:buClr>
              <a:buSzPts val="1950"/>
              <a:buChar char="●"/>
            </a:pPr>
            <a:r>
              <a:rPr lang="es-ES" sz="1950">
                <a:solidFill>
                  <a:srgbClr val="E6E6E6"/>
                </a:solidFill>
              </a:rPr>
              <a:t>Cada microservicio debe ser independiente y autónomo, sin depender directamente de otros servicios para funcionar.</a:t>
            </a:r>
            <a:endParaRPr sz="1950">
              <a:solidFill>
                <a:srgbClr val="E6E6E6"/>
              </a:solidFill>
            </a:endParaRPr>
          </a:p>
          <a:p>
            <a:pPr indent="-352425" lvl="0" marL="457200" marR="0" rtl="0" algn="just">
              <a:lnSpc>
                <a:spcPct val="100000"/>
              </a:lnSpc>
              <a:spcBef>
                <a:spcPts val="0"/>
              </a:spcBef>
              <a:spcAft>
                <a:spcPts val="0"/>
              </a:spcAft>
              <a:buClr>
                <a:srgbClr val="E6E6E6"/>
              </a:buClr>
              <a:buSzPts val="1950"/>
              <a:buChar char="●"/>
            </a:pPr>
            <a:r>
              <a:rPr lang="es-ES" sz="1950">
                <a:solidFill>
                  <a:srgbClr val="E6E6E6"/>
                </a:solidFill>
              </a:rPr>
              <a:t>Debe poder desarrollarse, desplegarse y escalarse sin afectar el resto del sistema.</a:t>
            </a:r>
            <a:endParaRPr sz="1950">
              <a:solidFill>
                <a:srgbClr val="E6E6E6"/>
              </a:solidFill>
            </a:endParaRPr>
          </a:p>
        </p:txBody>
      </p:sp>
      <p:sp>
        <p:nvSpPr>
          <p:cNvPr id="242" name="Google Shape;242;g338393cb8ca_0_64"/>
          <p:cNvSpPr txBox="1"/>
          <p:nvPr/>
        </p:nvSpPr>
        <p:spPr>
          <a:xfrm>
            <a:off x="7018726" y="3650575"/>
            <a:ext cx="4890300" cy="1954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lang="es-ES" sz="2050">
                <a:solidFill>
                  <a:srgbClr val="E6E6E6"/>
                </a:solidFill>
              </a:rPr>
              <a:t>Estar aislados</a:t>
            </a:r>
            <a:endParaRPr b="1" sz="2050">
              <a:solidFill>
                <a:srgbClr val="E6E6E6"/>
              </a:solidFill>
            </a:endParaRPr>
          </a:p>
          <a:p>
            <a:pPr indent="0" lvl="0" marL="0" marR="0" rtl="0" algn="just">
              <a:lnSpc>
                <a:spcPct val="100000"/>
              </a:lnSpc>
              <a:spcBef>
                <a:spcPts val="0"/>
              </a:spcBef>
              <a:spcAft>
                <a:spcPts val="0"/>
              </a:spcAft>
              <a:buClr>
                <a:srgbClr val="000000"/>
              </a:buClr>
              <a:buSzPts val="2400"/>
              <a:buFont typeface="Arial"/>
              <a:buNone/>
            </a:pPr>
            <a:r>
              <a:t/>
            </a:r>
            <a:endParaRPr sz="2250">
              <a:solidFill>
                <a:srgbClr val="E6E6E6"/>
              </a:solidFill>
            </a:endParaRPr>
          </a:p>
          <a:p>
            <a:pPr indent="-352425" lvl="0" marL="457200" marR="0" rtl="0" algn="just">
              <a:lnSpc>
                <a:spcPct val="100000"/>
              </a:lnSpc>
              <a:spcBef>
                <a:spcPts val="0"/>
              </a:spcBef>
              <a:spcAft>
                <a:spcPts val="0"/>
              </a:spcAft>
              <a:buClr>
                <a:srgbClr val="E6E6E6"/>
              </a:buClr>
              <a:buSzPts val="1950"/>
              <a:buChar char="●"/>
            </a:pPr>
            <a:r>
              <a:rPr lang="es-ES" sz="1950">
                <a:solidFill>
                  <a:srgbClr val="E6E6E6"/>
                </a:solidFill>
              </a:rPr>
              <a:t>Deben correr en entornos separados, con sus propios recursos y, muy recomendable, cada uno con su propia base de datos.</a:t>
            </a:r>
            <a:endParaRPr sz="1950">
              <a:solidFill>
                <a:srgbClr val="E6E6E6"/>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6" name="Shape 246"/>
        <p:cNvGrpSpPr/>
        <p:nvPr/>
      </p:nvGrpSpPr>
      <p:grpSpPr>
        <a:xfrm>
          <a:off x="0" y="0"/>
          <a:ext cx="0" cy="0"/>
          <a:chOff x="0" y="0"/>
          <a:chExt cx="0" cy="0"/>
        </a:xfrm>
      </p:grpSpPr>
      <p:pic>
        <p:nvPicPr>
          <p:cNvPr id="247" name="Google Shape;247;g338393cb8ca_0_76"/>
          <p:cNvPicPr preferRelativeResize="0"/>
          <p:nvPr/>
        </p:nvPicPr>
        <p:blipFill rotWithShape="1">
          <a:blip r:embed="rId3">
            <a:alphaModFix amt="35000"/>
          </a:blip>
          <a:srcRect b="11967" l="0" r="0" t="3637"/>
          <a:stretch/>
        </p:blipFill>
        <p:spPr>
          <a:xfrm>
            <a:off x="20" y="1"/>
            <a:ext cx="12191980" cy="6857999"/>
          </a:xfrm>
          <a:prstGeom prst="rect">
            <a:avLst/>
          </a:prstGeom>
          <a:noFill/>
          <a:ln>
            <a:noFill/>
          </a:ln>
        </p:spPr>
      </p:pic>
      <p:sp>
        <p:nvSpPr>
          <p:cNvPr id="248" name="Google Shape;248;g338393cb8ca_0_76"/>
          <p:cNvSpPr txBox="1"/>
          <p:nvPr>
            <p:ph type="title"/>
          </p:nvPr>
        </p:nvSpPr>
        <p:spPr>
          <a:xfrm>
            <a:off x="838200" y="1065850"/>
            <a:ext cx="10792800" cy="4614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000"/>
              <a:buFont typeface="Calibri"/>
              <a:buNone/>
            </a:pPr>
            <a:r>
              <a:rPr lang="es-ES" sz="6500"/>
              <a:t>Herramientas y estrategias para diseño de microservicios</a:t>
            </a:r>
            <a:endParaRPr sz="6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 name="Shape 253"/>
        <p:cNvGrpSpPr/>
        <p:nvPr/>
      </p:nvGrpSpPr>
      <p:grpSpPr>
        <a:xfrm>
          <a:off x="0" y="0"/>
          <a:ext cx="0" cy="0"/>
          <a:chOff x="0" y="0"/>
          <a:chExt cx="0" cy="0"/>
        </a:xfrm>
      </p:grpSpPr>
      <p:sp>
        <p:nvSpPr>
          <p:cNvPr id="254" name="Google Shape;254;g338393cb8ca_0_81"/>
          <p:cNvSpPr/>
          <p:nvPr/>
        </p:nvSpPr>
        <p:spPr>
          <a:xfrm>
            <a:off x="-1" y="0"/>
            <a:ext cx="46542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5" name="Google Shape;255;g338393cb8ca_0_81"/>
          <p:cNvSpPr txBox="1"/>
          <p:nvPr>
            <p:ph type="title"/>
          </p:nvPr>
        </p:nvSpPr>
        <p:spPr>
          <a:xfrm>
            <a:off x="762000" y="559678"/>
            <a:ext cx="3567900" cy="4952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Arquitectura Hexagonal</a:t>
            </a:r>
            <a:endParaRPr>
              <a:solidFill>
                <a:schemeClr val="lt1"/>
              </a:solidFill>
            </a:endParaRPr>
          </a:p>
        </p:txBody>
      </p:sp>
      <p:cxnSp>
        <p:nvCxnSpPr>
          <p:cNvPr id="256" name="Google Shape;256;g338393cb8ca_0_81"/>
          <p:cNvCxnSpPr/>
          <p:nvPr/>
        </p:nvCxnSpPr>
        <p:spPr>
          <a:xfrm>
            <a:off x="0" y="6199730"/>
            <a:ext cx="4297800" cy="0"/>
          </a:xfrm>
          <a:prstGeom prst="straightConnector1">
            <a:avLst/>
          </a:prstGeom>
          <a:noFill/>
          <a:ln cap="flat" cmpd="sng" w="25400">
            <a:solidFill>
              <a:schemeClr val="lt1"/>
            </a:solidFill>
            <a:prstDash val="solid"/>
            <a:miter lim="800000"/>
            <a:headEnd len="sm" w="sm" type="none"/>
            <a:tailEnd len="sm" w="sm" type="none"/>
          </a:ln>
        </p:spPr>
      </p:cxnSp>
      <p:grpSp>
        <p:nvGrpSpPr>
          <p:cNvPr id="257" name="Google Shape;257;g338393cb8ca_0_81"/>
          <p:cNvGrpSpPr/>
          <p:nvPr/>
        </p:nvGrpSpPr>
        <p:grpSpPr>
          <a:xfrm>
            <a:off x="5885793" y="552021"/>
            <a:ext cx="6211500" cy="3151543"/>
            <a:chOff x="1647825" y="9615"/>
            <a:chExt cx="6211500" cy="6046705"/>
          </a:xfrm>
        </p:grpSpPr>
        <p:sp>
          <p:nvSpPr>
            <p:cNvPr id="258" name="Google Shape;258;g338393cb8ca_0_81"/>
            <p:cNvSpPr txBox="1"/>
            <p:nvPr/>
          </p:nvSpPr>
          <p:spPr>
            <a:xfrm>
              <a:off x="1647825" y="656786"/>
              <a:ext cx="5750100" cy="4897800"/>
            </a:xfrm>
            <a:prstGeom prst="rect">
              <a:avLst/>
            </a:prstGeom>
            <a:noFill/>
            <a:ln>
              <a:noFill/>
            </a:ln>
          </p:spPr>
          <p:txBody>
            <a:bodyPr anchorCtr="0" anchor="ctr" bIns="182825" lIns="182825" spcFirstLastPara="1" rIns="182825" wrap="square" tIns="182825">
              <a:noAutofit/>
            </a:bodyPr>
            <a:lstStyle/>
            <a:p>
              <a:pPr indent="0" lvl="0" marL="0" marR="0" rtl="0" algn="just">
                <a:lnSpc>
                  <a:spcPct val="100000"/>
                </a:lnSpc>
                <a:spcBef>
                  <a:spcPts val="0"/>
                </a:spcBef>
                <a:spcAft>
                  <a:spcPts val="0"/>
                </a:spcAft>
                <a:buClr>
                  <a:schemeClr val="dk1"/>
                </a:buClr>
                <a:buSzPts val="2500"/>
                <a:buFont typeface="Calibri"/>
                <a:buNone/>
              </a:pPr>
              <a:r>
                <a:rPr lang="es-ES" sz="2400">
                  <a:solidFill>
                    <a:srgbClr val="333333"/>
                  </a:solidFill>
                </a:rPr>
                <a:t>arquitectura basada en puertos y adaptadores para comunicar a los microservicios. Los puertos son interfaces que definen cómo se conectarán los microservicios y los adaptadores son implementaciones concretas de estos puertos.</a:t>
              </a:r>
              <a:endParaRPr b="0" i="0" sz="1800" u="none" cap="none" strike="noStrike">
                <a:solidFill>
                  <a:schemeClr val="dk1"/>
                </a:solidFill>
                <a:latin typeface="Calibri"/>
                <a:ea typeface="Calibri"/>
                <a:cs typeface="Calibri"/>
                <a:sym typeface="Calibri"/>
              </a:endParaRPr>
            </a:p>
          </p:txBody>
        </p:sp>
        <p:sp>
          <p:nvSpPr>
            <p:cNvPr id="259" name="Google Shape;259;g338393cb8ca_0_81"/>
            <p:cNvSpPr/>
            <p:nvPr/>
          </p:nvSpPr>
          <p:spPr>
            <a:xfrm>
              <a:off x="5242786" y="9615"/>
              <a:ext cx="2154900" cy="1727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338393cb8ca_0_81"/>
            <p:cNvSpPr/>
            <p:nvPr/>
          </p:nvSpPr>
          <p:spPr>
            <a:xfrm>
              <a:off x="1843790" y="2169117"/>
              <a:ext cx="3399000" cy="1727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338393cb8ca_0_81"/>
            <p:cNvSpPr/>
            <p:nvPr/>
          </p:nvSpPr>
          <p:spPr>
            <a:xfrm>
              <a:off x="4935703" y="2169117"/>
              <a:ext cx="2769300" cy="1727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338393cb8ca_0_81"/>
            <p:cNvSpPr txBox="1"/>
            <p:nvPr/>
          </p:nvSpPr>
          <p:spPr>
            <a:xfrm>
              <a:off x="4061025" y="2169125"/>
              <a:ext cx="3798300" cy="1727700"/>
            </a:xfrm>
            <a:prstGeom prst="rect">
              <a:avLst/>
            </a:prstGeom>
            <a:noFill/>
            <a:ln>
              <a:noFill/>
            </a:ln>
          </p:spPr>
          <p:txBody>
            <a:bodyPr anchorCtr="0" anchor="ctr" bIns="182825" lIns="182825" spcFirstLastPara="1" rIns="182825" wrap="square" tIns="182825">
              <a:noAutofit/>
            </a:bodyPr>
            <a:lstStyle/>
            <a:p>
              <a:pPr indent="0" lvl="0" marL="0" marR="0" rtl="0" algn="l">
                <a:lnSpc>
                  <a:spcPct val="100000"/>
                </a:lnSpc>
                <a:spcBef>
                  <a:spcPts val="49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263" name="Google Shape;263;g338393cb8ca_0_81"/>
            <p:cNvSpPr/>
            <p:nvPr/>
          </p:nvSpPr>
          <p:spPr>
            <a:xfrm>
              <a:off x="1843790" y="4328620"/>
              <a:ext cx="3399000" cy="1727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338393cb8ca_0_81"/>
            <p:cNvSpPr/>
            <p:nvPr/>
          </p:nvSpPr>
          <p:spPr>
            <a:xfrm>
              <a:off x="5242786" y="4328620"/>
              <a:ext cx="2154900" cy="1727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65" name="Google Shape;265;g338393cb8ca_0_81"/>
          <p:cNvPicPr preferRelativeResize="0"/>
          <p:nvPr/>
        </p:nvPicPr>
        <p:blipFill>
          <a:blip r:embed="rId3">
            <a:alphaModFix/>
          </a:blip>
          <a:stretch>
            <a:fillRect/>
          </a:stretch>
        </p:blipFill>
        <p:spPr>
          <a:xfrm>
            <a:off x="4693163" y="3543342"/>
            <a:ext cx="3904625" cy="2656383"/>
          </a:xfrm>
          <a:prstGeom prst="rect">
            <a:avLst/>
          </a:prstGeom>
          <a:noFill/>
          <a:ln>
            <a:noFill/>
          </a:ln>
        </p:spPr>
      </p:pic>
      <p:pic>
        <p:nvPicPr>
          <p:cNvPr id="266" name="Google Shape;266;g338393cb8ca_0_81"/>
          <p:cNvPicPr preferRelativeResize="0"/>
          <p:nvPr/>
        </p:nvPicPr>
        <p:blipFill>
          <a:blip r:embed="rId4">
            <a:alphaModFix/>
          </a:blip>
          <a:stretch>
            <a:fillRect/>
          </a:stretch>
        </p:blipFill>
        <p:spPr>
          <a:xfrm>
            <a:off x="8597775" y="3780076"/>
            <a:ext cx="3618674" cy="2419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1" name="Shape 271"/>
        <p:cNvGrpSpPr/>
        <p:nvPr/>
      </p:nvGrpSpPr>
      <p:grpSpPr>
        <a:xfrm>
          <a:off x="0" y="0"/>
          <a:ext cx="0" cy="0"/>
          <a:chOff x="0" y="0"/>
          <a:chExt cx="0" cy="0"/>
        </a:xfrm>
      </p:grpSpPr>
      <p:sp>
        <p:nvSpPr>
          <p:cNvPr id="272" name="Google Shape;272;p5"/>
          <p:cNvSpPr/>
          <p:nvPr/>
        </p:nvSpPr>
        <p:spPr>
          <a:xfrm>
            <a:off x="-1" y="0"/>
            <a:ext cx="4654295"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 name="Google Shape;273;p5"/>
          <p:cNvSpPr txBox="1"/>
          <p:nvPr>
            <p:ph type="title"/>
          </p:nvPr>
        </p:nvSpPr>
        <p:spPr>
          <a:xfrm>
            <a:off x="762000" y="559678"/>
            <a:ext cx="3567915" cy="495249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Utilización de protocolos de comunicacion</a:t>
            </a:r>
            <a:endParaRPr>
              <a:solidFill>
                <a:schemeClr val="lt1"/>
              </a:solidFill>
            </a:endParaRPr>
          </a:p>
          <a:p>
            <a:pPr indent="0" lvl="0" marL="0" rtl="0" algn="l">
              <a:lnSpc>
                <a:spcPct val="90000"/>
              </a:lnSpc>
              <a:spcBef>
                <a:spcPts val="0"/>
              </a:spcBef>
              <a:spcAft>
                <a:spcPts val="0"/>
              </a:spcAft>
              <a:buClr>
                <a:schemeClr val="lt1"/>
              </a:buClr>
              <a:buSzPts val="4400"/>
              <a:buFont typeface="Calibri"/>
              <a:buNone/>
            </a:pPr>
            <a:r>
              <a:rPr lang="es-ES">
                <a:solidFill>
                  <a:schemeClr val="lt1"/>
                </a:solidFill>
              </a:rPr>
              <a:t>(HTTP, gRPC, eventos)</a:t>
            </a:r>
            <a:endParaRPr>
              <a:solidFill>
                <a:schemeClr val="lt1"/>
              </a:solidFill>
            </a:endParaRPr>
          </a:p>
        </p:txBody>
      </p:sp>
      <p:cxnSp>
        <p:nvCxnSpPr>
          <p:cNvPr id="274" name="Google Shape;274;p5"/>
          <p:cNvCxnSpPr/>
          <p:nvPr/>
        </p:nvCxnSpPr>
        <p:spPr>
          <a:xfrm>
            <a:off x="0" y="6199730"/>
            <a:ext cx="4297680" cy="0"/>
          </a:xfrm>
          <a:prstGeom prst="straightConnector1">
            <a:avLst/>
          </a:prstGeom>
          <a:noFill/>
          <a:ln cap="flat" cmpd="sng" w="25400">
            <a:solidFill>
              <a:schemeClr val="lt1"/>
            </a:solidFill>
            <a:prstDash val="solid"/>
            <a:miter lim="800000"/>
            <a:headEnd len="sm" w="sm" type="none"/>
            <a:tailEnd len="sm" w="sm" type="none"/>
          </a:ln>
        </p:spPr>
      </p:cxnSp>
      <p:sp>
        <p:nvSpPr>
          <p:cNvPr id="275" name="Google Shape;275;p5"/>
          <p:cNvSpPr txBox="1"/>
          <p:nvPr/>
        </p:nvSpPr>
        <p:spPr>
          <a:xfrm>
            <a:off x="5603993" y="706576"/>
            <a:ext cx="5750100" cy="2552700"/>
          </a:xfrm>
          <a:prstGeom prst="rect">
            <a:avLst/>
          </a:prstGeom>
          <a:noFill/>
          <a:ln>
            <a:noFill/>
          </a:ln>
        </p:spPr>
        <p:txBody>
          <a:bodyPr anchorCtr="0" anchor="ctr" bIns="182825" lIns="182825" spcFirstLastPara="1" rIns="182825" wrap="square" tIns="182825">
            <a:noAutofit/>
          </a:bodyPr>
          <a:lstStyle/>
          <a:p>
            <a:pPr indent="0" lvl="0" marL="0" marR="0" rtl="0" algn="just">
              <a:lnSpc>
                <a:spcPct val="100000"/>
              </a:lnSpc>
              <a:spcBef>
                <a:spcPts val="0"/>
              </a:spcBef>
              <a:spcAft>
                <a:spcPts val="0"/>
              </a:spcAft>
              <a:buClr>
                <a:schemeClr val="dk1"/>
              </a:buClr>
              <a:buSzPts val="2500"/>
              <a:buFont typeface="Calibri"/>
              <a:buNone/>
            </a:pPr>
            <a:r>
              <a:rPr lang="es-ES" sz="2100">
                <a:solidFill>
                  <a:srgbClr val="333333"/>
                </a:solidFill>
              </a:rPr>
              <a:t>HTTP (Hypertext Transfer Protocol)</a:t>
            </a:r>
            <a:endParaRPr sz="21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1800">
                <a:solidFill>
                  <a:srgbClr val="333333"/>
                </a:solidFill>
              </a:rPr>
              <a:t>Protocolo que constituye los cimientos de la red mundial, y se utiliza para cargar páginas web mediante enlaces de hipertexto. HTTP es un protocolo de capa de aplicación diseñado para transferir información entre los dispositivos conectados de la red, y se ejecuta sobre otras capas del conjunto de protocolos de la red. Un flujo típico sobre HTTP implica una máquina cliente que realiza una solicitud a un servidor, que a continuación envía un mensaje de respuesta. </a:t>
            </a:r>
            <a:endParaRPr sz="1800">
              <a:solidFill>
                <a:srgbClr val="333333"/>
              </a:solidFill>
            </a:endParaRPr>
          </a:p>
        </p:txBody>
      </p:sp>
      <p:pic>
        <p:nvPicPr>
          <p:cNvPr id="276" name="Google Shape;276;p5"/>
          <p:cNvPicPr preferRelativeResize="0"/>
          <p:nvPr/>
        </p:nvPicPr>
        <p:blipFill>
          <a:blip r:embed="rId3">
            <a:alphaModFix/>
          </a:blip>
          <a:stretch>
            <a:fillRect/>
          </a:stretch>
        </p:blipFill>
        <p:spPr>
          <a:xfrm>
            <a:off x="6258112" y="3640750"/>
            <a:ext cx="4597726" cy="3043575"/>
          </a:xfrm>
          <a:prstGeom prst="rect">
            <a:avLst/>
          </a:prstGeom>
          <a:noFill/>
          <a:ln>
            <a:noFill/>
          </a:ln>
        </p:spPr>
      </p:pic>
    </p:spTree>
  </p:cSld>
  <p:clrMapOvr>
    <a:masterClrMapping/>
  </p:clrMapOvr>
  <p:transition spd="slow">
    <p:wipe dir="l"/>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1" name="Shape 281"/>
        <p:cNvGrpSpPr/>
        <p:nvPr/>
      </p:nvGrpSpPr>
      <p:grpSpPr>
        <a:xfrm>
          <a:off x="0" y="0"/>
          <a:ext cx="0" cy="0"/>
          <a:chOff x="0" y="0"/>
          <a:chExt cx="0" cy="0"/>
        </a:xfrm>
      </p:grpSpPr>
      <p:sp>
        <p:nvSpPr>
          <p:cNvPr id="282" name="Google Shape;282;g338393cb8ca_0_155"/>
          <p:cNvSpPr/>
          <p:nvPr/>
        </p:nvSpPr>
        <p:spPr>
          <a:xfrm>
            <a:off x="-1" y="0"/>
            <a:ext cx="46542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3" name="Google Shape;283;g338393cb8ca_0_155"/>
          <p:cNvSpPr txBox="1"/>
          <p:nvPr>
            <p:ph type="title"/>
          </p:nvPr>
        </p:nvSpPr>
        <p:spPr>
          <a:xfrm>
            <a:off x="762000" y="559678"/>
            <a:ext cx="3567900" cy="4952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GraphQL como parte de HTTP y reemplazo de REST</a:t>
            </a:r>
            <a:endParaRPr>
              <a:solidFill>
                <a:schemeClr val="lt1"/>
              </a:solidFill>
            </a:endParaRPr>
          </a:p>
        </p:txBody>
      </p:sp>
      <p:cxnSp>
        <p:nvCxnSpPr>
          <p:cNvPr id="284" name="Google Shape;284;g338393cb8ca_0_155"/>
          <p:cNvCxnSpPr/>
          <p:nvPr/>
        </p:nvCxnSpPr>
        <p:spPr>
          <a:xfrm>
            <a:off x="0" y="6199730"/>
            <a:ext cx="4297800" cy="0"/>
          </a:xfrm>
          <a:prstGeom prst="straightConnector1">
            <a:avLst/>
          </a:prstGeom>
          <a:noFill/>
          <a:ln cap="flat" cmpd="sng" w="25400">
            <a:solidFill>
              <a:schemeClr val="lt1"/>
            </a:solidFill>
            <a:prstDash val="solid"/>
            <a:miter lim="800000"/>
            <a:headEnd len="sm" w="sm" type="none"/>
            <a:tailEnd len="sm" w="sm" type="none"/>
          </a:ln>
        </p:spPr>
      </p:cxnSp>
      <p:sp>
        <p:nvSpPr>
          <p:cNvPr id="285" name="Google Shape;285;g338393cb8ca_0_155"/>
          <p:cNvSpPr txBox="1"/>
          <p:nvPr/>
        </p:nvSpPr>
        <p:spPr>
          <a:xfrm>
            <a:off x="5603993" y="706576"/>
            <a:ext cx="5750100" cy="2552700"/>
          </a:xfrm>
          <a:prstGeom prst="rect">
            <a:avLst/>
          </a:prstGeom>
          <a:noFill/>
          <a:ln>
            <a:noFill/>
          </a:ln>
        </p:spPr>
        <p:txBody>
          <a:bodyPr anchorCtr="0" anchor="ctr" bIns="182825" lIns="182825" spcFirstLastPara="1" rIns="182825" wrap="square" tIns="182825">
            <a:noAutofit/>
          </a:bodyPr>
          <a:lstStyle/>
          <a:p>
            <a:pPr indent="0" lvl="0" marL="0" marR="0" rtl="0" algn="just">
              <a:lnSpc>
                <a:spcPct val="100000"/>
              </a:lnSpc>
              <a:spcBef>
                <a:spcPts val="0"/>
              </a:spcBef>
              <a:spcAft>
                <a:spcPts val="0"/>
              </a:spcAft>
              <a:buClr>
                <a:schemeClr val="dk1"/>
              </a:buClr>
              <a:buSzPts val="2500"/>
              <a:buFont typeface="Calibri"/>
              <a:buNone/>
            </a:pPr>
            <a:r>
              <a:rPr lang="es-ES" sz="2100">
                <a:solidFill>
                  <a:srgbClr val="333333"/>
                </a:solidFill>
              </a:rPr>
              <a:t>GraphQL</a:t>
            </a:r>
            <a:endParaRPr sz="21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2100">
                <a:solidFill>
                  <a:srgbClr val="333333"/>
                </a:solidFill>
              </a:rPr>
              <a:t>Es un lenguaje de consulta y un tiempo de ejecución del servidor para las interfaces de programación de aplicaciones (API); su función es brindar a los clientes exactamente los datos que solicitan y nada más.</a:t>
            </a:r>
            <a:endParaRPr sz="21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2100">
                <a:solidFill>
                  <a:srgbClr val="333333"/>
                </a:solidFill>
              </a:rPr>
              <a:t>Como alternativa a REST, GraphQL permite que los desarrolladores creen consultas para extraer datos de varias fuentes en una sola llamada a la API.</a:t>
            </a:r>
            <a:endParaRPr sz="2100">
              <a:solidFill>
                <a:srgbClr val="333333"/>
              </a:solidFill>
            </a:endParaRPr>
          </a:p>
        </p:txBody>
      </p:sp>
      <p:pic>
        <p:nvPicPr>
          <p:cNvPr id="286" name="Google Shape;286;g338393cb8ca_0_155"/>
          <p:cNvPicPr preferRelativeResize="0"/>
          <p:nvPr/>
        </p:nvPicPr>
        <p:blipFill>
          <a:blip r:embed="rId3">
            <a:alphaModFix/>
          </a:blip>
          <a:stretch>
            <a:fillRect/>
          </a:stretch>
        </p:blipFill>
        <p:spPr>
          <a:xfrm>
            <a:off x="4784669" y="3734526"/>
            <a:ext cx="7232907" cy="295056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1" name="Shape 291"/>
        <p:cNvGrpSpPr/>
        <p:nvPr/>
      </p:nvGrpSpPr>
      <p:grpSpPr>
        <a:xfrm>
          <a:off x="0" y="0"/>
          <a:ext cx="0" cy="0"/>
          <a:chOff x="0" y="0"/>
          <a:chExt cx="0" cy="0"/>
        </a:xfrm>
      </p:grpSpPr>
      <p:sp>
        <p:nvSpPr>
          <p:cNvPr id="292" name="Google Shape;292;g338393cb8ca_0_120"/>
          <p:cNvSpPr/>
          <p:nvPr/>
        </p:nvSpPr>
        <p:spPr>
          <a:xfrm>
            <a:off x="-1" y="0"/>
            <a:ext cx="46542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3" name="Google Shape;293;g338393cb8ca_0_120"/>
          <p:cNvSpPr txBox="1"/>
          <p:nvPr>
            <p:ph type="title"/>
          </p:nvPr>
        </p:nvSpPr>
        <p:spPr>
          <a:xfrm>
            <a:off x="762000" y="559678"/>
            <a:ext cx="3567900" cy="4952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Utilizacion de protocolos de comunicacion</a:t>
            </a:r>
            <a:endParaRPr>
              <a:solidFill>
                <a:schemeClr val="lt1"/>
              </a:solidFill>
            </a:endParaRPr>
          </a:p>
          <a:p>
            <a:pPr indent="0" lvl="0" marL="0" rtl="0" algn="l">
              <a:lnSpc>
                <a:spcPct val="90000"/>
              </a:lnSpc>
              <a:spcBef>
                <a:spcPts val="0"/>
              </a:spcBef>
              <a:spcAft>
                <a:spcPts val="0"/>
              </a:spcAft>
              <a:buClr>
                <a:schemeClr val="lt1"/>
              </a:buClr>
              <a:buSzPts val="4400"/>
              <a:buFont typeface="Calibri"/>
              <a:buNone/>
            </a:pPr>
            <a:r>
              <a:rPr lang="es-ES">
                <a:solidFill>
                  <a:schemeClr val="lt1"/>
                </a:solidFill>
              </a:rPr>
              <a:t>(HTTP, gRPC, eventos)</a:t>
            </a:r>
            <a:endParaRPr>
              <a:solidFill>
                <a:schemeClr val="lt1"/>
              </a:solidFill>
            </a:endParaRPr>
          </a:p>
        </p:txBody>
      </p:sp>
      <p:cxnSp>
        <p:nvCxnSpPr>
          <p:cNvPr id="294" name="Google Shape;294;g338393cb8ca_0_120"/>
          <p:cNvCxnSpPr/>
          <p:nvPr/>
        </p:nvCxnSpPr>
        <p:spPr>
          <a:xfrm>
            <a:off x="0" y="6199730"/>
            <a:ext cx="4297800" cy="0"/>
          </a:xfrm>
          <a:prstGeom prst="straightConnector1">
            <a:avLst/>
          </a:prstGeom>
          <a:noFill/>
          <a:ln cap="flat" cmpd="sng" w="25400">
            <a:solidFill>
              <a:schemeClr val="lt1"/>
            </a:solidFill>
            <a:prstDash val="solid"/>
            <a:miter lim="800000"/>
            <a:headEnd len="sm" w="sm" type="none"/>
            <a:tailEnd len="sm" w="sm" type="none"/>
          </a:ln>
        </p:spPr>
      </p:cxnSp>
      <p:sp>
        <p:nvSpPr>
          <p:cNvPr id="295" name="Google Shape;295;g338393cb8ca_0_120"/>
          <p:cNvSpPr txBox="1"/>
          <p:nvPr/>
        </p:nvSpPr>
        <p:spPr>
          <a:xfrm>
            <a:off x="5603993" y="706576"/>
            <a:ext cx="5750100" cy="2552700"/>
          </a:xfrm>
          <a:prstGeom prst="rect">
            <a:avLst/>
          </a:prstGeom>
          <a:noFill/>
          <a:ln>
            <a:noFill/>
          </a:ln>
        </p:spPr>
        <p:txBody>
          <a:bodyPr anchorCtr="0" anchor="ctr" bIns="182825" lIns="182825" spcFirstLastPara="1" rIns="182825" wrap="square" tIns="182825">
            <a:noAutofit/>
          </a:bodyPr>
          <a:lstStyle/>
          <a:p>
            <a:pPr indent="0" lvl="0" marL="0" marR="0" rtl="0" algn="just">
              <a:lnSpc>
                <a:spcPct val="100000"/>
              </a:lnSpc>
              <a:spcBef>
                <a:spcPts val="0"/>
              </a:spcBef>
              <a:spcAft>
                <a:spcPts val="0"/>
              </a:spcAft>
              <a:buClr>
                <a:schemeClr val="dk1"/>
              </a:buClr>
              <a:buSzPts val="2500"/>
              <a:buFont typeface="Calibri"/>
              <a:buNone/>
            </a:pPr>
            <a:r>
              <a:rPr lang="es-ES" sz="2100">
                <a:solidFill>
                  <a:srgbClr val="333333"/>
                </a:solidFill>
              </a:rPr>
              <a:t>gRPC (Google Remote Procedure Call)</a:t>
            </a:r>
            <a:endParaRPr sz="21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2100">
                <a:solidFill>
                  <a:srgbClr val="333333"/>
                </a:solidFill>
              </a:rPr>
              <a:t>Se emplea en comunicaciones cliente-servidor distribuidas por su eficiencia gracias a la ingeniería de procesos basada en RPC. Este mecanismo permite la comunicación de una forma tan sencilla como si se tratara de una comunicación local entre procesos de una misma máquina.</a:t>
            </a:r>
            <a:endParaRPr sz="2100">
              <a:solidFill>
                <a:srgbClr val="333333"/>
              </a:solidFill>
            </a:endParaRPr>
          </a:p>
        </p:txBody>
      </p:sp>
      <p:pic>
        <p:nvPicPr>
          <p:cNvPr id="296" name="Google Shape;296;g338393cb8ca_0_120"/>
          <p:cNvPicPr preferRelativeResize="0"/>
          <p:nvPr/>
        </p:nvPicPr>
        <p:blipFill>
          <a:blip r:embed="rId3">
            <a:alphaModFix/>
          </a:blip>
          <a:stretch>
            <a:fillRect/>
          </a:stretch>
        </p:blipFill>
        <p:spPr>
          <a:xfrm>
            <a:off x="6544606" y="3344901"/>
            <a:ext cx="3868882" cy="329392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1" name="Shape 301"/>
        <p:cNvGrpSpPr/>
        <p:nvPr/>
      </p:nvGrpSpPr>
      <p:grpSpPr>
        <a:xfrm>
          <a:off x="0" y="0"/>
          <a:ext cx="0" cy="0"/>
          <a:chOff x="0" y="0"/>
          <a:chExt cx="0" cy="0"/>
        </a:xfrm>
      </p:grpSpPr>
      <p:sp>
        <p:nvSpPr>
          <p:cNvPr id="302" name="Google Shape;302;g338393cb8ca_0_165"/>
          <p:cNvSpPr/>
          <p:nvPr/>
        </p:nvSpPr>
        <p:spPr>
          <a:xfrm>
            <a:off x="-1" y="0"/>
            <a:ext cx="46542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3" name="Google Shape;303;g338393cb8ca_0_165"/>
          <p:cNvSpPr txBox="1"/>
          <p:nvPr>
            <p:ph type="title"/>
          </p:nvPr>
        </p:nvSpPr>
        <p:spPr>
          <a:xfrm>
            <a:off x="762000" y="559678"/>
            <a:ext cx="3567900" cy="4952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Utilizacion de protocolos de comunicacion</a:t>
            </a:r>
            <a:endParaRPr>
              <a:solidFill>
                <a:schemeClr val="lt1"/>
              </a:solidFill>
            </a:endParaRPr>
          </a:p>
          <a:p>
            <a:pPr indent="0" lvl="0" marL="0" rtl="0" algn="l">
              <a:lnSpc>
                <a:spcPct val="90000"/>
              </a:lnSpc>
              <a:spcBef>
                <a:spcPts val="0"/>
              </a:spcBef>
              <a:spcAft>
                <a:spcPts val="0"/>
              </a:spcAft>
              <a:buClr>
                <a:schemeClr val="lt1"/>
              </a:buClr>
              <a:buSzPts val="4400"/>
              <a:buFont typeface="Calibri"/>
              <a:buNone/>
            </a:pPr>
            <a:r>
              <a:rPr lang="es-ES">
                <a:solidFill>
                  <a:schemeClr val="lt1"/>
                </a:solidFill>
              </a:rPr>
              <a:t>(HTTP, gRPC, eventos)</a:t>
            </a:r>
            <a:endParaRPr>
              <a:solidFill>
                <a:schemeClr val="lt1"/>
              </a:solidFill>
            </a:endParaRPr>
          </a:p>
        </p:txBody>
      </p:sp>
      <p:cxnSp>
        <p:nvCxnSpPr>
          <p:cNvPr id="304" name="Google Shape;304;g338393cb8ca_0_165"/>
          <p:cNvCxnSpPr/>
          <p:nvPr/>
        </p:nvCxnSpPr>
        <p:spPr>
          <a:xfrm>
            <a:off x="0" y="6199730"/>
            <a:ext cx="4297800" cy="0"/>
          </a:xfrm>
          <a:prstGeom prst="straightConnector1">
            <a:avLst/>
          </a:prstGeom>
          <a:noFill/>
          <a:ln cap="flat" cmpd="sng" w="25400">
            <a:solidFill>
              <a:schemeClr val="lt1"/>
            </a:solidFill>
            <a:prstDash val="solid"/>
            <a:miter lim="800000"/>
            <a:headEnd len="sm" w="sm" type="none"/>
            <a:tailEnd len="sm" w="sm" type="none"/>
          </a:ln>
        </p:spPr>
      </p:cxnSp>
      <p:sp>
        <p:nvSpPr>
          <p:cNvPr id="305" name="Google Shape;305;g338393cb8ca_0_165"/>
          <p:cNvSpPr txBox="1"/>
          <p:nvPr/>
        </p:nvSpPr>
        <p:spPr>
          <a:xfrm>
            <a:off x="5604000" y="706575"/>
            <a:ext cx="5952300" cy="2638200"/>
          </a:xfrm>
          <a:prstGeom prst="rect">
            <a:avLst/>
          </a:prstGeom>
          <a:noFill/>
          <a:ln>
            <a:noFill/>
          </a:ln>
        </p:spPr>
        <p:txBody>
          <a:bodyPr anchorCtr="0" anchor="ctr" bIns="182825" lIns="182825" spcFirstLastPara="1" rIns="182825" wrap="square" tIns="182825">
            <a:noAutofit/>
          </a:bodyPr>
          <a:lstStyle/>
          <a:p>
            <a:pPr indent="0" lvl="0" marL="0" marR="0" rtl="0" algn="just">
              <a:lnSpc>
                <a:spcPct val="100000"/>
              </a:lnSpc>
              <a:spcBef>
                <a:spcPts val="0"/>
              </a:spcBef>
              <a:spcAft>
                <a:spcPts val="0"/>
              </a:spcAft>
              <a:buClr>
                <a:schemeClr val="dk1"/>
              </a:buClr>
              <a:buSzPts val="2500"/>
              <a:buFont typeface="Calibri"/>
              <a:buNone/>
            </a:pPr>
            <a:r>
              <a:rPr lang="es-ES" sz="1800">
                <a:solidFill>
                  <a:srgbClr val="333333"/>
                </a:solidFill>
              </a:rPr>
              <a:t>Eventos</a:t>
            </a:r>
            <a:r>
              <a:rPr lang="es-ES" sz="1800">
                <a:solidFill>
                  <a:srgbClr val="333333"/>
                </a:solidFill>
              </a:rPr>
              <a:t> (Modelo de </a:t>
            </a:r>
            <a:r>
              <a:rPr lang="es-ES" sz="1800">
                <a:solidFill>
                  <a:srgbClr val="333333"/>
                </a:solidFill>
              </a:rPr>
              <a:t>comunicación</a:t>
            </a:r>
            <a:r>
              <a:rPr lang="es-ES" sz="1800">
                <a:solidFill>
                  <a:srgbClr val="333333"/>
                </a:solidFill>
              </a:rPr>
              <a:t> asincrona)</a:t>
            </a:r>
            <a:endParaRPr sz="18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1800">
                <a:solidFill>
                  <a:srgbClr val="333333"/>
                </a:solidFill>
              </a:rPr>
              <a:t>En lugar de peticiones y respuestas, los microservicios trabajarán con el concepto de eventos. Un evento es un mensaje o registro que representa un acontecimiento en el dominio de nuestra aplicación.</a:t>
            </a:r>
            <a:endParaRPr sz="18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t/>
            </a:r>
            <a:endParaRPr sz="18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1800">
                <a:solidFill>
                  <a:srgbClr val="333333"/>
                </a:solidFill>
              </a:rPr>
              <a:t>Al trabajar con eventos tendremos dos roles implicados, productores y suscriptores.</a:t>
            </a:r>
            <a:endParaRPr sz="18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t/>
            </a:r>
            <a:endParaRPr sz="18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1800">
                <a:solidFill>
                  <a:srgbClr val="333333"/>
                </a:solidFill>
              </a:rPr>
              <a:t>Productores: generan eventos en el sistema.</a:t>
            </a:r>
            <a:endParaRPr sz="18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1800">
                <a:solidFill>
                  <a:srgbClr val="333333"/>
                </a:solidFill>
              </a:rPr>
              <a:t>Suscriptores: consumen eventos y reaccionan a ellos.</a:t>
            </a:r>
            <a:endParaRPr sz="18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1800">
                <a:solidFill>
                  <a:srgbClr val="333333"/>
                </a:solidFill>
              </a:rPr>
              <a:t>Un microservicio puede ser productor de eventos, suscriptor o ambos roles simultáneamente.</a:t>
            </a:r>
            <a:endParaRPr sz="1800">
              <a:solidFill>
                <a:srgbClr val="333333"/>
              </a:solidFill>
            </a:endParaRPr>
          </a:p>
        </p:txBody>
      </p:sp>
      <p:pic>
        <p:nvPicPr>
          <p:cNvPr id="306" name="Google Shape;306;g338393cb8ca_0_165"/>
          <p:cNvPicPr preferRelativeResize="0"/>
          <p:nvPr/>
        </p:nvPicPr>
        <p:blipFill>
          <a:blip r:embed="rId3">
            <a:alphaModFix/>
          </a:blip>
          <a:stretch>
            <a:fillRect/>
          </a:stretch>
        </p:blipFill>
        <p:spPr>
          <a:xfrm>
            <a:off x="6543375" y="3764375"/>
            <a:ext cx="3967950" cy="28375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311" name="Shape 311"/>
        <p:cNvGrpSpPr/>
        <p:nvPr/>
      </p:nvGrpSpPr>
      <p:grpSpPr>
        <a:xfrm>
          <a:off x="0" y="0"/>
          <a:ext cx="0" cy="0"/>
          <a:chOff x="0" y="0"/>
          <a:chExt cx="0" cy="0"/>
        </a:xfrm>
      </p:grpSpPr>
      <p:sp>
        <p:nvSpPr>
          <p:cNvPr id="312" name="Google Shape;312;g338393cb8ca_0_176"/>
          <p:cNvSpPr txBox="1"/>
          <p:nvPr>
            <p:ph type="title"/>
          </p:nvPr>
        </p:nvSpPr>
        <p:spPr>
          <a:xfrm>
            <a:off x="8042354" y="1008733"/>
            <a:ext cx="3732300" cy="410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889"/>
              <a:buFont typeface="Calibri"/>
              <a:buNone/>
            </a:pPr>
            <a:r>
              <a:rPr lang="es-ES"/>
              <a:t>Patrones de dise</a:t>
            </a:r>
            <a:r>
              <a:rPr lang="es-ES"/>
              <a:t>ño: SAGA y Circuit Breaker</a:t>
            </a:r>
            <a:br>
              <a:rPr lang="es-ES"/>
            </a:br>
            <a:br>
              <a:rPr lang="es-ES"/>
            </a:br>
            <a:br>
              <a:rPr lang="es-ES"/>
            </a:br>
            <a:endParaRPr/>
          </a:p>
        </p:txBody>
      </p:sp>
      <p:sp>
        <p:nvSpPr>
          <p:cNvPr id="313" name="Google Shape;313;g338393cb8ca_0_176"/>
          <p:cNvSpPr/>
          <p:nvPr/>
        </p:nvSpPr>
        <p:spPr>
          <a:xfrm>
            <a:off x="0" y="0"/>
            <a:ext cx="75366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 name="Google Shape;314;g338393cb8ca_0_176"/>
          <p:cNvSpPr/>
          <p:nvPr/>
        </p:nvSpPr>
        <p:spPr>
          <a:xfrm>
            <a:off x="626276" y="650024"/>
            <a:ext cx="5908800" cy="5417400"/>
          </a:xfrm>
          <a:prstGeom prst="rect">
            <a:avLst/>
          </a:prstGeom>
          <a:solidFill>
            <a:srgbClr val="FFFFFF"/>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s-ES" sz="2100"/>
              <a:t>¿Qué es el Patrón Saga?</a:t>
            </a:r>
            <a:endParaRPr b="1" sz="2100"/>
          </a:p>
          <a:p>
            <a:pPr indent="0" lvl="0" marL="0" rtl="0" algn="l">
              <a:spcBef>
                <a:spcPts val="0"/>
              </a:spcBef>
              <a:spcAft>
                <a:spcPts val="0"/>
              </a:spcAft>
              <a:buNone/>
            </a:pPr>
            <a:r>
              <a:rPr lang="es-ES" sz="2100"/>
              <a:t>El patrón Saga es una estrategia de diseño que se utiliza para mantener la consistencia de las transacciones en sistemas distribuidos. En lugar de depender de una única transacción global que involucra múltiples servicios, el patrón Saga divide la transacción en una serie de pasos más pequeños y autónomos. Cada uno de estos pasos es responsabilidad de un servicio específico y se ejecuta dentro de su propia transacción. Si un paso falla, se desencadena un proceso de compensación para revertir los cambios realizados en los pasos anteriores.</a:t>
            </a:r>
            <a:endParaRPr sz="2100"/>
          </a:p>
        </p:txBody>
      </p:sp>
      <p:pic>
        <p:nvPicPr>
          <p:cNvPr id="315" name="Google Shape;315;g338393cb8ca_0_176"/>
          <p:cNvPicPr preferRelativeResize="0"/>
          <p:nvPr/>
        </p:nvPicPr>
        <p:blipFill>
          <a:blip r:embed="rId3">
            <a:alphaModFix/>
          </a:blip>
          <a:stretch>
            <a:fillRect/>
          </a:stretch>
        </p:blipFill>
        <p:spPr>
          <a:xfrm>
            <a:off x="6390400" y="4070250"/>
            <a:ext cx="5677925" cy="2204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320" name="Shape 320"/>
        <p:cNvGrpSpPr/>
        <p:nvPr/>
      </p:nvGrpSpPr>
      <p:grpSpPr>
        <a:xfrm>
          <a:off x="0" y="0"/>
          <a:ext cx="0" cy="0"/>
          <a:chOff x="0" y="0"/>
          <a:chExt cx="0" cy="0"/>
        </a:xfrm>
      </p:grpSpPr>
      <p:sp>
        <p:nvSpPr>
          <p:cNvPr id="321" name="Google Shape;321;g338393cb8ca_0_188"/>
          <p:cNvSpPr txBox="1"/>
          <p:nvPr>
            <p:ph type="title"/>
          </p:nvPr>
        </p:nvSpPr>
        <p:spPr>
          <a:xfrm>
            <a:off x="8042354" y="1008733"/>
            <a:ext cx="3732300" cy="410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889"/>
              <a:buFont typeface="Calibri"/>
              <a:buNone/>
            </a:pPr>
            <a:r>
              <a:rPr lang="es-ES"/>
              <a:t>Patrones de diseño: SAGA y Circuit Breaker</a:t>
            </a:r>
            <a:br>
              <a:rPr lang="es-ES"/>
            </a:br>
            <a:br>
              <a:rPr lang="es-ES"/>
            </a:br>
            <a:br>
              <a:rPr lang="es-ES"/>
            </a:br>
            <a:endParaRPr/>
          </a:p>
        </p:txBody>
      </p:sp>
      <p:sp>
        <p:nvSpPr>
          <p:cNvPr id="322" name="Google Shape;322;g338393cb8ca_0_188"/>
          <p:cNvSpPr/>
          <p:nvPr/>
        </p:nvSpPr>
        <p:spPr>
          <a:xfrm>
            <a:off x="0" y="0"/>
            <a:ext cx="75366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3" name="Google Shape;323;g338393cb8ca_0_188"/>
          <p:cNvSpPr/>
          <p:nvPr/>
        </p:nvSpPr>
        <p:spPr>
          <a:xfrm>
            <a:off x="626276" y="650024"/>
            <a:ext cx="5908800" cy="5417400"/>
          </a:xfrm>
          <a:prstGeom prst="rect">
            <a:avLst/>
          </a:prstGeom>
          <a:solidFill>
            <a:srgbClr val="FFFFFF"/>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s-ES" sz="2000"/>
              <a:t>¿Qué es el Circuit Breaker?</a:t>
            </a:r>
            <a:endParaRPr b="1" sz="2000"/>
          </a:p>
          <a:p>
            <a:pPr indent="0" lvl="0" marL="0" rtl="0" algn="l">
              <a:spcBef>
                <a:spcPts val="0"/>
              </a:spcBef>
              <a:spcAft>
                <a:spcPts val="0"/>
              </a:spcAft>
              <a:buNone/>
            </a:pPr>
            <a:r>
              <a:rPr lang="es-ES" sz="2000"/>
              <a:t>Se define como una opción utilizada para detectar fallos y encapsula la lógica de prevenir que un fallo se repita constantemente durante el mantenimiento, un fallo temporal de sistema externo o dificultades inesperadas del sistema.</a:t>
            </a:r>
            <a:endParaRPr sz="2000"/>
          </a:p>
          <a:p>
            <a:pPr indent="0" lvl="0" marL="0" rtl="0" algn="l">
              <a:spcBef>
                <a:spcPts val="0"/>
              </a:spcBef>
              <a:spcAft>
                <a:spcPts val="0"/>
              </a:spcAft>
              <a:buNone/>
            </a:pPr>
            <a:r>
              <a:rPr lang="es-ES" sz="2000"/>
              <a:t>Esto quiere decir que impide que un sistema lleve a cabo o continúe haciendo solicitudes a otro cuando existen altas posibilidades de que falle el proceso.</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s-ES" sz="2000"/>
              <a:t>Además, permite el cierre de la comunicación con un servicio específico cuando se identifica que este se encuentra fallando, lo que implica que debe actuar como un proxy para las operaciones que pueden llegar a presentar errores.</a:t>
            </a:r>
            <a:endParaRPr sz="2000"/>
          </a:p>
        </p:txBody>
      </p:sp>
      <p:pic>
        <p:nvPicPr>
          <p:cNvPr id="324" name="Google Shape;324;g338393cb8ca_0_188"/>
          <p:cNvPicPr preferRelativeResize="0"/>
          <p:nvPr/>
        </p:nvPicPr>
        <p:blipFill>
          <a:blip r:embed="rId3">
            <a:alphaModFix/>
          </a:blip>
          <a:stretch>
            <a:fillRect/>
          </a:stretch>
        </p:blipFill>
        <p:spPr>
          <a:xfrm>
            <a:off x="6657525" y="3632088"/>
            <a:ext cx="5314950" cy="2867025"/>
          </a:xfrm>
          <a:prstGeom prst="rect">
            <a:avLst/>
          </a:prstGeom>
          <a:solidFill>
            <a:srgbClr val="FFFFFF"/>
          </a:solid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9" name="Shape 329"/>
        <p:cNvGrpSpPr/>
        <p:nvPr/>
      </p:nvGrpSpPr>
      <p:grpSpPr>
        <a:xfrm>
          <a:off x="0" y="0"/>
          <a:ext cx="0" cy="0"/>
          <a:chOff x="0" y="0"/>
          <a:chExt cx="0" cy="0"/>
        </a:xfrm>
      </p:grpSpPr>
      <p:sp>
        <p:nvSpPr>
          <p:cNvPr id="330" name="Google Shape;330;g338393cb8ca_0_101"/>
          <p:cNvSpPr/>
          <p:nvPr/>
        </p:nvSpPr>
        <p:spPr>
          <a:xfrm>
            <a:off x="-1" y="0"/>
            <a:ext cx="46542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 name="Google Shape;331;g338393cb8ca_0_101"/>
          <p:cNvSpPr txBox="1"/>
          <p:nvPr>
            <p:ph type="title"/>
          </p:nvPr>
        </p:nvSpPr>
        <p:spPr>
          <a:xfrm>
            <a:off x="762000" y="559678"/>
            <a:ext cx="3567900" cy="4952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Antipatrones en los microservicios</a:t>
            </a:r>
            <a:endParaRPr>
              <a:solidFill>
                <a:schemeClr val="lt1"/>
              </a:solidFill>
            </a:endParaRPr>
          </a:p>
        </p:txBody>
      </p:sp>
      <p:cxnSp>
        <p:nvCxnSpPr>
          <p:cNvPr id="332" name="Google Shape;332;g338393cb8ca_0_101"/>
          <p:cNvCxnSpPr/>
          <p:nvPr/>
        </p:nvCxnSpPr>
        <p:spPr>
          <a:xfrm>
            <a:off x="0" y="6199730"/>
            <a:ext cx="4297800" cy="0"/>
          </a:xfrm>
          <a:prstGeom prst="straightConnector1">
            <a:avLst/>
          </a:prstGeom>
          <a:noFill/>
          <a:ln cap="flat" cmpd="sng" w="25400">
            <a:solidFill>
              <a:schemeClr val="lt1"/>
            </a:solidFill>
            <a:prstDash val="solid"/>
            <a:miter lim="800000"/>
            <a:headEnd len="sm" w="sm" type="none"/>
            <a:tailEnd len="sm" w="sm" type="none"/>
          </a:ln>
        </p:spPr>
      </p:cxnSp>
      <p:sp>
        <p:nvSpPr>
          <p:cNvPr id="333" name="Google Shape;333;g338393cb8ca_0_101"/>
          <p:cNvSpPr txBox="1"/>
          <p:nvPr/>
        </p:nvSpPr>
        <p:spPr>
          <a:xfrm>
            <a:off x="5885793" y="889326"/>
            <a:ext cx="5750100" cy="2552733"/>
          </a:xfrm>
          <a:prstGeom prst="rect">
            <a:avLst/>
          </a:prstGeom>
          <a:noFill/>
          <a:ln>
            <a:noFill/>
          </a:ln>
        </p:spPr>
        <p:txBody>
          <a:bodyPr anchorCtr="0" anchor="ctr" bIns="182825" lIns="182825" spcFirstLastPara="1" rIns="182825" wrap="square" tIns="182825">
            <a:noAutofit/>
          </a:bodyPr>
          <a:lstStyle/>
          <a:p>
            <a:pPr indent="0" lvl="0" marL="0" marR="0" rtl="0" algn="just">
              <a:lnSpc>
                <a:spcPct val="100000"/>
              </a:lnSpc>
              <a:spcBef>
                <a:spcPts val="0"/>
              </a:spcBef>
              <a:spcAft>
                <a:spcPts val="0"/>
              </a:spcAft>
              <a:buClr>
                <a:schemeClr val="dk1"/>
              </a:buClr>
              <a:buSzPts val="2500"/>
              <a:buFont typeface="Calibri"/>
              <a:buNone/>
            </a:pPr>
            <a:r>
              <a:rPr lang="es-ES" sz="2400">
                <a:solidFill>
                  <a:srgbClr val="333333"/>
                </a:solidFill>
              </a:rPr>
              <a:t>Monolito Distribuido</a:t>
            </a:r>
            <a:endParaRPr sz="24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t/>
            </a:r>
            <a:endParaRPr sz="24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2400">
                <a:solidFill>
                  <a:srgbClr val="333333"/>
                </a:solidFill>
              </a:rPr>
              <a:t>Evitar separar solo el </a:t>
            </a:r>
            <a:r>
              <a:rPr lang="es-ES" sz="2400">
                <a:solidFill>
                  <a:srgbClr val="333333"/>
                </a:solidFill>
              </a:rPr>
              <a:t>código</a:t>
            </a:r>
            <a:r>
              <a:rPr lang="es-ES" sz="2400">
                <a:solidFill>
                  <a:srgbClr val="333333"/>
                </a:solidFill>
              </a:rPr>
              <a:t>; separar la persistencia, aplicar una base de datos por servicio y usar la </a:t>
            </a:r>
            <a:r>
              <a:rPr lang="es-ES" sz="2400">
                <a:solidFill>
                  <a:srgbClr val="333333"/>
                </a:solidFill>
              </a:rPr>
              <a:t>comunicación</a:t>
            </a:r>
            <a:r>
              <a:rPr lang="es-ES" sz="2400">
                <a:solidFill>
                  <a:srgbClr val="333333"/>
                </a:solidFill>
              </a:rPr>
              <a:t> de forma adecuada</a:t>
            </a:r>
            <a:endParaRPr sz="24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t/>
            </a:r>
            <a:endParaRPr sz="2400">
              <a:solidFill>
                <a:srgbClr val="333333"/>
              </a:solidFill>
            </a:endParaRPr>
          </a:p>
        </p:txBody>
      </p:sp>
      <p:pic>
        <p:nvPicPr>
          <p:cNvPr id="334" name="Google Shape;334;g338393cb8ca_0_101"/>
          <p:cNvPicPr preferRelativeResize="0"/>
          <p:nvPr/>
        </p:nvPicPr>
        <p:blipFill>
          <a:blip r:embed="rId3">
            <a:alphaModFix/>
          </a:blip>
          <a:stretch>
            <a:fillRect/>
          </a:stretch>
        </p:blipFill>
        <p:spPr>
          <a:xfrm>
            <a:off x="7189099" y="3364135"/>
            <a:ext cx="3317129" cy="311114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9" name="Shape 339"/>
        <p:cNvGrpSpPr/>
        <p:nvPr/>
      </p:nvGrpSpPr>
      <p:grpSpPr>
        <a:xfrm>
          <a:off x="0" y="0"/>
          <a:ext cx="0" cy="0"/>
          <a:chOff x="0" y="0"/>
          <a:chExt cx="0" cy="0"/>
        </a:xfrm>
      </p:grpSpPr>
      <p:sp>
        <p:nvSpPr>
          <p:cNvPr id="340" name="Google Shape;340;g338393cb8ca_0_199"/>
          <p:cNvSpPr/>
          <p:nvPr/>
        </p:nvSpPr>
        <p:spPr>
          <a:xfrm>
            <a:off x="-1" y="0"/>
            <a:ext cx="46542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1" name="Google Shape;341;g338393cb8ca_0_199"/>
          <p:cNvSpPr txBox="1"/>
          <p:nvPr>
            <p:ph type="title"/>
          </p:nvPr>
        </p:nvSpPr>
        <p:spPr>
          <a:xfrm>
            <a:off x="762000" y="559678"/>
            <a:ext cx="3567900" cy="4952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Antipatrones en los microservicios</a:t>
            </a:r>
            <a:endParaRPr>
              <a:solidFill>
                <a:schemeClr val="lt1"/>
              </a:solidFill>
            </a:endParaRPr>
          </a:p>
        </p:txBody>
      </p:sp>
      <p:cxnSp>
        <p:nvCxnSpPr>
          <p:cNvPr id="342" name="Google Shape;342;g338393cb8ca_0_199"/>
          <p:cNvCxnSpPr/>
          <p:nvPr/>
        </p:nvCxnSpPr>
        <p:spPr>
          <a:xfrm>
            <a:off x="0" y="6199730"/>
            <a:ext cx="4297800" cy="0"/>
          </a:xfrm>
          <a:prstGeom prst="straightConnector1">
            <a:avLst/>
          </a:prstGeom>
          <a:noFill/>
          <a:ln cap="flat" cmpd="sng" w="25400">
            <a:solidFill>
              <a:schemeClr val="lt1"/>
            </a:solidFill>
            <a:prstDash val="solid"/>
            <a:miter lim="800000"/>
            <a:headEnd len="sm" w="sm" type="none"/>
            <a:tailEnd len="sm" w="sm" type="none"/>
          </a:ln>
        </p:spPr>
      </p:cxnSp>
      <p:sp>
        <p:nvSpPr>
          <p:cNvPr id="343" name="Google Shape;343;g338393cb8ca_0_199"/>
          <p:cNvSpPr txBox="1"/>
          <p:nvPr/>
        </p:nvSpPr>
        <p:spPr>
          <a:xfrm>
            <a:off x="5885793" y="889326"/>
            <a:ext cx="5750100" cy="2552700"/>
          </a:xfrm>
          <a:prstGeom prst="rect">
            <a:avLst/>
          </a:prstGeom>
          <a:noFill/>
          <a:ln>
            <a:noFill/>
          </a:ln>
        </p:spPr>
        <p:txBody>
          <a:bodyPr anchorCtr="0" anchor="ctr" bIns="182825" lIns="182825" spcFirstLastPara="1" rIns="182825" wrap="square" tIns="182825">
            <a:noAutofit/>
          </a:bodyPr>
          <a:lstStyle/>
          <a:p>
            <a:pPr indent="0" lvl="0" marL="0" marR="0" rtl="0" algn="just">
              <a:lnSpc>
                <a:spcPct val="100000"/>
              </a:lnSpc>
              <a:spcBef>
                <a:spcPts val="0"/>
              </a:spcBef>
              <a:spcAft>
                <a:spcPts val="0"/>
              </a:spcAft>
              <a:buClr>
                <a:schemeClr val="dk1"/>
              </a:buClr>
              <a:buSzPts val="2500"/>
              <a:buFont typeface="Calibri"/>
              <a:buNone/>
            </a:pPr>
            <a:r>
              <a:rPr lang="es-ES" sz="2400">
                <a:solidFill>
                  <a:srgbClr val="333333"/>
                </a:solidFill>
              </a:rPr>
              <a:t>Enfoque “el microservicio”</a:t>
            </a:r>
            <a:endParaRPr sz="24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t/>
            </a:r>
            <a:endParaRPr sz="24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2400">
                <a:solidFill>
                  <a:srgbClr val="333333"/>
                </a:solidFill>
              </a:rPr>
              <a:t>No implementar un servicio “dios” que contenga toda la logica de negocio importante. Un servicio excesivamente grande es m</a:t>
            </a:r>
            <a:r>
              <a:rPr lang="es-ES" sz="2400">
                <a:solidFill>
                  <a:srgbClr val="333333"/>
                </a:solidFill>
              </a:rPr>
              <a:t>ás difícil de manter y escalar</a:t>
            </a:r>
            <a:endParaRPr sz="24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t/>
            </a:r>
            <a:endParaRPr sz="2400">
              <a:solidFill>
                <a:srgbClr val="333333"/>
              </a:solidFill>
            </a:endParaRPr>
          </a:p>
        </p:txBody>
      </p:sp>
      <p:pic>
        <p:nvPicPr>
          <p:cNvPr id="344" name="Google Shape;344;g338393cb8ca_0_199"/>
          <p:cNvPicPr preferRelativeResize="0"/>
          <p:nvPr/>
        </p:nvPicPr>
        <p:blipFill>
          <a:blip r:embed="rId3">
            <a:alphaModFix/>
          </a:blip>
          <a:stretch>
            <a:fillRect/>
          </a:stretch>
        </p:blipFill>
        <p:spPr>
          <a:xfrm>
            <a:off x="6770425" y="3317975"/>
            <a:ext cx="3841475" cy="2782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9" name="Shape 349"/>
        <p:cNvGrpSpPr/>
        <p:nvPr/>
      </p:nvGrpSpPr>
      <p:grpSpPr>
        <a:xfrm>
          <a:off x="0" y="0"/>
          <a:ext cx="0" cy="0"/>
          <a:chOff x="0" y="0"/>
          <a:chExt cx="0" cy="0"/>
        </a:xfrm>
      </p:grpSpPr>
      <p:sp>
        <p:nvSpPr>
          <p:cNvPr id="350" name="Google Shape;350;g338393cb8ca_0_209"/>
          <p:cNvSpPr/>
          <p:nvPr/>
        </p:nvSpPr>
        <p:spPr>
          <a:xfrm>
            <a:off x="-1" y="0"/>
            <a:ext cx="46542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1" name="Google Shape;351;g338393cb8ca_0_209"/>
          <p:cNvSpPr txBox="1"/>
          <p:nvPr>
            <p:ph type="title"/>
          </p:nvPr>
        </p:nvSpPr>
        <p:spPr>
          <a:xfrm>
            <a:off x="762000" y="559678"/>
            <a:ext cx="3567900" cy="4952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Antipatrones en los microservicios</a:t>
            </a:r>
            <a:endParaRPr>
              <a:solidFill>
                <a:schemeClr val="lt1"/>
              </a:solidFill>
            </a:endParaRPr>
          </a:p>
        </p:txBody>
      </p:sp>
      <p:cxnSp>
        <p:nvCxnSpPr>
          <p:cNvPr id="352" name="Google Shape;352;g338393cb8ca_0_209"/>
          <p:cNvCxnSpPr/>
          <p:nvPr/>
        </p:nvCxnSpPr>
        <p:spPr>
          <a:xfrm>
            <a:off x="0" y="6199730"/>
            <a:ext cx="4297800" cy="0"/>
          </a:xfrm>
          <a:prstGeom prst="straightConnector1">
            <a:avLst/>
          </a:prstGeom>
          <a:noFill/>
          <a:ln cap="flat" cmpd="sng" w="25400">
            <a:solidFill>
              <a:schemeClr val="lt1"/>
            </a:solidFill>
            <a:prstDash val="solid"/>
            <a:miter lim="800000"/>
            <a:headEnd len="sm" w="sm" type="none"/>
            <a:tailEnd len="sm" w="sm" type="none"/>
          </a:ln>
        </p:spPr>
      </p:cxnSp>
      <p:sp>
        <p:nvSpPr>
          <p:cNvPr id="353" name="Google Shape;353;g338393cb8ca_0_209"/>
          <p:cNvSpPr txBox="1"/>
          <p:nvPr/>
        </p:nvSpPr>
        <p:spPr>
          <a:xfrm>
            <a:off x="5885793" y="889326"/>
            <a:ext cx="5750100" cy="2552700"/>
          </a:xfrm>
          <a:prstGeom prst="rect">
            <a:avLst/>
          </a:prstGeom>
          <a:noFill/>
          <a:ln>
            <a:noFill/>
          </a:ln>
        </p:spPr>
        <p:txBody>
          <a:bodyPr anchorCtr="0" anchor="ctr" bIns="182825" lIns="182825" spcFirstLastPara="1" rIns="182825" wrap="square" tIns="182825">
            <a:noAutofit/>
          </a:bodyPr>
          <a:lstStyle/>
          <a:p>
            <a:pPr indent="0" lvl="0" marL="0" marR="0" rtl="0" algn="just">
              <a:lnSpc>
                <a:spcPct val="100000"/>
              </a:lnSpc>
              <a:spcBef>
                <a:spcPts val="0"/>
              </a:spcBef>
              <a:spcAft>
                <a:spcPts val="0"/>
              </a:spcAft>
              <a:buClr>
                <a:schemeClr val="dk1"/>
              </a:buClr>
              <a:buSzPts val="2500"/>
              <a:buFont typeface="Calibri"/>
              <a:buNone/>
            </a:pPr>
            <a:r>
              <a:rPr lang="es-ES" sz="2400">
                <a:solidFill>
                  <a:srgbClr val="333333"/>
                </a:solidFill>
              </a:rPr>
              <a:t>Infraestructura compartida</a:t>
            </a:r>
            <a:endParaRPr sz="24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t/>
            </a:r>
            <a:endParaRPr sz="24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2400">
                <a:solidFill>
                  <a:srgbClr val="333333"/>
                </a:solidFill>
              </a:rPr>
              <a:t>Evitar que dos servicios usen la misma base de datos, </a:t>
            </a:r>
            <a:r>
              <a:rPr lang="es-ES" sz="2400">
                <a:solidFill>
                  <a:srgbClr val="333333"/>
                </a:solidFill>
              </a:rPr>
              <a:t>caché</a:t>
            </a:r>
            <a:r>
              <a:rPr lang="es-ES" sz="2400">
                <a:solidFill>
                  <a:srgbClr val="333333"/>
                </a:solidFill>
              </a:rPr>
              <a:t> o desplegados en el mismo nodo. Compartir recursos es riesgoso, ya que </a:t>
            </a:r>
            <a:r>
              <a:rPr lang="es-ES" sz="2400">
                <a:solidFill>
                  <a:srgbClr val="333333"/>
                </a:solidFill>
              </a:rPr>
              <a:t>será</a:t>
            </a:r>
            <a:r>
              <a:rPr lang="es-ES" sz="2400">
                <a:solidFill>
                  <a:srgbClr val="333333"/>
                </a:solidFill>
              </a:rPr>
              <a:t> </a:t>
            </a:r>
            <a:r>
              <a:rPr lang="es-ES" sz="2400">
                <a:solidFill>
                  <a:srgbClr val="333333"/>
                </a:solidFill>
              </a:rPr>
              <a:t>más</a:t>
            </a:r>
            <a:r>
              <a:rPr lang="es-ES" sz="2400">
                <a:solidFill>
                  <a:srgbClr val="333333"/>
                </a:solidFill>
              </a:rPr>
              <a:t> propenso a la falta de disponibilidad y </a:t>
            </a:r>
            <a:r>
              <a:rPr lang="es-ES" sz="2400">
                <a:solidFill>
                  <a:srgbClr val="333333"/>
                </a:solidFill>
              </a:rPr>
              <a:t>más</a:t>
            </a:r>
            <a:r>
              <a:rPr lang="es-ES" sz="2400">
                <a:solidFill>
                  <a:srgbClr val="333333"/>
                </a:solidFill>
              </a:rPr>
              <a:t> dificultad al escalar.</a:t>
            </a:r>
            <a:endParaRPr sz="24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t/>
            </a:r>
            <a:endParaRPr sz="2400">
              <a:solidFill>
                <a:srgbClr val="333333"/>
              </a:solidFill>
            </a:endParaRPr>
          </a:p>
        </p:txBody>
      </p:sp>
      <p:pic>
        <p:nvPicPr>
          <p:cNvPr id="354" name="Google Shape;354;g338393cb8ca_0_209"/>
          <p:cNvPicPr preferRelativeResize="0"/>
          <p:nvPr/>
        </p:nvPicPr>
        <p:blipFill>
          <a:blip r:embed="rId3">
            <a:alphaModFix/>
          </a:blip>
          <a:stretch>
            <a:fillRect/>
          </a:stretch>
        </p:blipFill>
        <p:spPr>
          <a:xfrm>
            <a:off x="6754874" y="3442026"/>
            <a:ext cx="4316262" cy="31111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9" name="Shape 359"/>
        <p:cNvGrpSpPr/>
        <p:nvPr/>
      </p:nvGrpSpPr>
      <p:grpSpPr>
        <a:xfrm>
          <a:off x="0" y="0"/>
          <a:ext cx="0" cy="0"/>
          <a:chOff x="0" y="0"/>
          <a:chExt cx="0" cy="0"/>
        </a:xfrm>
      </p:grpSpPr>
      <p:sp>
        <p:nvSpPr>
          <p:cNvPr id="360" name="Google Shape;360;g338393cb8ca_0_226"/>
          <p:cNvSpPr/>
          <p:nvPr/>
        </p:nvSpPr>
        <p:spPr>
          <a:xfrm>
            <a:off x="-1" y="0"/>
            <a:ext cx="46542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1" name="Google Shape;361;g338393cb8ca_0_226"/>
          <p:cNvSpPr txBox="1"/>
          <p:nvPr>
            <p:ph type="title"/>
          </p:nvPr>
        </p:nvSpPr>
        <p:spPr>
          <a:xfrm>
            <a:off x="762000" y="559678"/>
            <a:ext cx="3567900" cy="4952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Antipatrones en los microservicios</a:t>
            </a:r>
            <a:endParaRPr>
              <a:solidFill>
                <a:schemeClr val="lt1"/>
              </a:solidFill>
            </a:endParaRPr>
          </a:p>
        </p:txBody>
      </p:sp>
      <p:cxnSp>
        <p:nvCxnSpPr>
          <p:cNvPr id="362" name="Google Shape;362;g338393cb8ca_0_226"/>
          <p:cNvCxnSpPr/>
          <p:nvPr/>
        </p:nvCxnSpPr>
        <p:spPr>
          <a:xfrm>
            <a:off x="0" y="6199730"/>
            <a:ext cx="4297800" cy="0"/>
          </a:xfrm>
          <a:prstGeom prst="straightConnector1">
            <a:avLst/>
          </a:prstGeom>
          <a:noFill/>
          <a:ln cap="flat" cmpd="sng" w="25400">
            <a:solidFill>
              <a:schemeClr val="lt1"/>
            </a:solidFill>
            <a:prstDash val="solid"/>
            <a:miter lim="800000"/>
            <a:headEnd len="sm" w="sm" type="none"/>
            <a:tailEnd len="sm" w="sm" type="none"/>
          </a:ln>
        </p:spPr>
      </p:cxnSp>
      <p:sp>
        <p:nvSpPr>
          <p:cNvPr id="363" name="Google Shape;363;g338393cb8ca_0_226"/>
          <p:cNvSpPr txBox="1"/>
          <p:nvPr/>
        </p:nvSpPr>
        <p:spPr>
          <a:xfrm>
            <a:off x="5874643" y="793476"/>
            <a:ext cx="5750100" cy="2552700"/>
          </a:xfrm>
          <a:prstGeom prst="rect">
            <a:avLst/>
          </a:prstGeom>
          <a:noFill/>
          <a:ln>
            <a:noFill/>
          </a:ln>
        </p:spPr>
        <p:txBody>
          <a:bodyPr anchorCtr="0" anchor="ctr" bIns="182825" lIns="182825" spcFirstLastPara="1" rIns="182825" wrap="square" tIns="182825">
            <a:noAutofit/>
          </a:bodyPr>
          <a:lstStyle/>
          <a:p>
            <a:pPr indent="0" lvl="0" marL="0" marR="0" rtl="0" algn="just">
              <a:lnSpc>
                <a:spcPct val="100000"/>
              </a:lnSpc>
              <a:spcBef>
                <a:spcPts val="0"/>
              </a:spcBef>
              <a:spcAft>
                <a:spcPts val="0"/>
              </a:spcAft>
              <a:buClr>
                <a:schemeClr val="dk1"/>
              </a:buClr>
              <a:buSzPts val="2500"/>
              <a:buFont typeface="Calibri"/>
              <a:buNone/>
            </a:pPr>
            <a:r>
              <a:rPr lang="es-ES" sz="2300">
                <a:solidFill>
                  <a:srgbClr val="333333"/>
                </a:solidFill>
              </a:rPr>
              <a:t>Excesivo uso de </a:t>
            </a:r>
            <a:r>
              <a:rPr lang="es-ES" sz="2300">
                <a:solidFill>
                  <a:srgbClr val="333333"/>
                </a:solidFill>
              </a:rPr>
              <a:t>tecnologías</a:t>
            </a:r>
            <a:endParaRPr sz="23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t/>
            </a:r>
            <a:endParaRPr sz="23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2300">
                <a:solidFill>
                  <a:srgbClr val="333333"/>
                </a:solidFill>
              </a:rPr>
              <a:t>Aunque sea una de las </a:t>
            </a:r>
            <a:r>
              <a:rPr lang="es-ES" sz="2300">
                <a:solidFill>
                  <a:srgbClr val="333333"/>
                </a:solidFill>
              </a:rPr>
              <a:t>ventajas</a:t>
            </a:r>
            <a:r>
              <a:rPr lang="es-ES" sz="2300">
                <a:solidFill>
                  <a:srgbClr val="333333"/>
                </a:solidFill>
              </a:rPr>
              <a:t>, no porque se pueda significa que debamos implementar una gran diversidad de </a:t>
            </a:r>
            <a:r>
              <a:rPr lang="es-ES" sz="2300">
                <a:solidFill>
                  <a:srgbClr val="333333"/>
                </a:solidFill>
              </a:rPr>
              <a:t>tecnologías</a:t>
            </a:r>
            <a:r>
              <a:rPr lang="es-ES" sz="2300">
                <a:solidFill>
                  <a:srgbClr val="333333"/>
                </a:solidFill>
              </a:rPr>
              <a:t>, ya que </a:t>
            </a:r>
            <a:r>
              <a:rPr lang="es-ES" sz="2300">
                <a:solidFill>
                  <a:srgbClr val="333333"/>
                </a:solidFill>
              </a:rPr>
              <a:t>agregaría</a:t>
            </a:r>
            <a:r>
              <a:rPr lang="es-ES" sz="2300">
                <a:solidFill>
                  <a:srgbClr val="333333"/>
                </a:solidFill>
              </a:rPr>
              <a:t> una capa de dificultad al mantenimiento </a:t>
            </a:r>
            <a:r>
              <a:rPr lang="es-ES" sz="2300">
                <a:solidFill>
                  <a:srgbClr val="333333"/>
                </a:solidFill>
              </a:rPr>
              <a:t>además</a:t>
            </a:r>
            <a:r>
              <a:rPr lang="es-ES" sz="2300">
                <a:solidFill>
                  <a:srgbClr val="333333"/>
                </a:solidFill>
              </a:rPr>
              <a:t> de la </a:t>
            </a:r>
            <a:r>
              <a:rPr lang="es-ES" sz="2300">
                <a:solidFill>
                  <a:srgbClr val="333333"/>
                </a:solidFill>
              </a:rPr>
              <a:t>difícil</a:t>
            </a:r>
            <a:r>
              <a:rPr lang="es-ES" sz="2300">
                <a:solidFill>
                  <a:srgbClr val="333333"/>
                </a:solidFill>
              </a:rPr>
              <a:t> tarea de conseguir un equipo </a:t>
            </a:r>
            <a:r>
              <a:rPr lang="es-ES" sz="2300">
                <a:solidFill>
                  <a:srgbClr val="333333"/>
                </a:solidFill>
              </a:rPr>
              <a:t>sólido</a:t>
            </a:r>
            <a:r>
              <a:rPr lang="es-ES" sz="2300">
                <a:solidFill>
                  <a:srgbClr val="333333"/>
                </a:solidFill>
              </a:rPr>
              <a:t> y capaz de resolver problemas que se presenten.</a:t>
            </a:r>
            <a:endParaRPr sz="2300">
              <a:solidFill>
                <a:srgbClr val="333333"/>
              </a:solidFill>
            </a:endParaRPr>
          </a:p>
        </p:txBody>
      </p:sp>
      <p:pic>
        <p:nvPicPr>
          <p:cNvPr id="364" name="Google Shape;364;g338393cb8ca_0_226"/>
          <p:cNvPicPr preferRelativeResize="0"/>
          <p:nvPr/>
        </p:nvPicPr>
        <p:blipFill>
          <a:blip r:embed="rId3">
            <a:alphaModFix/>
          </a:blip>
          <a:stretch>
            <a:fillRect/>
          </a:stretch>
        </p:blipFill>
        <p:spPr>
          <a:xfrm>
            <a:off x="7868225" y="3959425"/>
            <a:ext cx="3042250" cy="26704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9" name="Shape 369"/>
        <p:cNvGrpSpPr/>
        <p:nvPr/>
      </p:nvGrpSpPr>
      <p:grpSpPr>
        <a:xfrm>
          <a:off x="0" y="0"/>
          <a:ext cx="0" cy="0"/>
          <a:chOff x="0" y="0"/>
          <a:chExt cx="0" cy="0"/>
        </a:xfrm>
      </p:grpSpPr>
      <p:sp>
        <p:nvSpPr>
          <p:cNvPr id="370" name="Google Shape;370;g338393cb8ca_0_244"/>
          <p:cNvSpPr/>
          <p:nvPr/>
        </p:nvSpPr>
        <p:spPr>
          <a:xfrm>
            <a:off x="-1" y="0"/>
            <a:ext cx="46542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1" name="Google Shape;371;g338393cb8ca_0_244"/>
          <p:cNvSpPr txBox="1"/>
          <p:nvPr>
            <p:ph type="title"/>
          </p:nvPr>
        </p:nvSpPr>
        <p:spPr>
          <a:xfrm>
            <a:off x="762000" y="559678"/>
            <a:ext cx="3567900" cy="4952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Antipatrones en los microservicios</a:t>
            </a:r>
            <a:endParaRPr>
              <a:solidFill>
                <a:schemeClr val="lt1"/>
              </a:solidFill>
            </a:endParaRPr>
          </a:p>
        </p:txBody>
      </p:sp>
      <p:cxnSp>
        <p:nvCxnSpPr>
          <p:cNvPr id="372" name="Google Shape;372;g338393cb8ca_0_244"/>
          <p:cNvCxnSpPr/>
          <p:nvPr/>
        </p:nvCxnSpPr>
        <p:spPr>
          <a:xfrm>
            <a:off x="0" y="6199730"/>
            <a:ext cx="4297800" cy="0"/>
          </a:xfrm>
          <a:prstGeom prst="straightConnector1">
            <a:avLst/>
          </a:prstGeom>
          <a:noFill/>
          <a:ln cap="flat" cmpd="sng" w="25400">
            <a:solidFill>
              <a:schemeClr val="lt1"/>
            </a:solidFill>
            <a:prstDash val="solid"/>
            <a:miter lim="800000"/>
            <a:headEnd len="sm" w="sm" type="none"/>
            <a:tailEnd len="sm" w="sm" type="none"/>
          </a:ln>
        </p:spPr>
      </p:cxnSp>
      <p:sp>
        <p:nvSpPr>
          <p:cNvPr id="373" name="Google Shape;373;g338393cb8ca_0_244"/>
          <p:cNvSpPr txBox="1"/>
          <p:nvPr/>
        </p:nvSpPr>
        <p:spPr>
          <a:xfrm>
            <a:off x="5874643" y="793476"/>
            <a:ext cx="5750100" cy="2552700"/>
          </a:xfrm>
          <a:prstGeom prst="rect">
            <a:avLst/>
          </a:prstGeom>
          <a:noFill/>
          <a:ln>
            <a:noFill/>
          </a:ln>
        </p:spPr>
        <p:txBody>
          <a:bodyPr anchorCtr="0" anchor="ctr" bIns="182825" lIns="182825" spcFirstLastPara="1" rIns="182825" wrap="square" tIns="182825">
            <a:noAutofit/>
          </a:bodyPr>
          <a:lstStyle/>
          <a:p>
            <a:pPr indent="0" lvl="0" marL="0" marR="0" rtl="0" algn="just">
              <a:lnSpc>
                <a:spcPct val="100000"/>
              </a:lnSpc>
              <a:spcBef>
                <a:spcPts val="0"/>
              </a:spcBef>
              <a:spcAft>
                <a:spcPts val="0"/>
              </a:spcAft>
              <a:buClr>
                <a:schemeClr val="dk1"/>
              </a:buClr>
              <a:buSzPts val="2500"/>
              <a:buFont typeface="Calibri"/>
              <a:buNone/>
            </a:pPr>
            <a:r>
              <a:rPr lang="es-ES" sz="2300">
                <a:solidFill>
                  <a:srgbClr val="333333"/>
                </a:solidFill>
              </a:rPr>
              <a:t>Comunicación</a:t>
            </a:r>
            <a:r>
              <a:rPr lang="es-ES" sz="2300">
                <a:solidFill>
                  <a:srgbClr val="333333"/>
                </a:solidFill>
              </a:rPr>
              <a:t> Excesiva</a:t>
            </a:r>
            <a:endParaRPr sz="23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t/>
            </a:r>
            <a:endParaRPr sz="23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2300">
                <a:solidFill>
                  <a:srgbClr val="333333"/>
                </a:solidFill>
              </a:rPr>
              <a:t>Reducir tanto como sea posible las llamadas </a:t>
            </a:r>
            <a:r>
              <a:rPr lang="es-ES" sz="2300">
                <a:solidFill>
                  <a:srgbClr val="333333"/>
                </a:solidFill>
              </a:rPr>
              <a:t>síncronas</a:t>
            </a:r>
            <a:r>
              <a:rPr lang="es-ES" sz="2300">
                <a:solidFill>
                  <a:srgbClr val="333333"/>
                </a:solidFill>
              </a:rPr>
              <a:t> entre servicios. Evitar dependencias </a:t>
            </a:r>
            <a:r>
              <a:rPr lang="es-ES" sz="2300">
                <a:solidFill>
                  <a:srgbClr val="333333"/>
                </a:solidFill>
              </a:rPr>
              <a:t>cíclicas</a:t>
            </a:r>
            <a:r>
              <a:rPr lang="es-ES" sz="2300">
                <a:solidFill>
                  <a:srgbClr val="333333"/>
                </a:solidFill>
              </a:rPr>
              <a:t>. Si es posible, usar la estrategia de mensajes/eventos.</a:t>
            </a:r>
            <a:endParaRPr sz="23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t/>
            </a:r>
            <a:endParaRPr sz="2300">
              <a:solidFill>
                <a:srgbClr val="333333"/>
              </a:solidFill>
            </a:endParaRPr>
          </a:p>
          <a:p>
            <a:pPr indent="0" lvl="0" marL="0" marR="0" rtl="0" algn="just">
              <a:lnSpc>
                <a:spcPct val="100000"/>
              </a:lnSpc>
              <a:spcBef>
                <a:spcPts val="0"/>
              </a:spcBef>
              <a:spcAft>
                <a:spcPts val="0"/>
              </a:spcAft>
              <a:buClr>
                <a:schemeClr val="dk1"/>
              </a:buClr>
              <a:buSzPts val="2500"/>
              <a:buFont typeface="Calibri"/>
              <a:buNone/>
            </a:pPr>
            <a:r>
              <a:rPr lang="es-ES" sz="2300">
                <a:solidFill>
                  <a:srgbClr val="333333"/>
                </a:solidFill>
              </a:rPr>
              <a:t>Dicho de otra forma, evitar al maximo el chatting.</a:t>
            </a:r>
            <a:endParaRPr sz="2300">
              <a:solidFill>
                <a:srgbClr val="333333"/>
              </a:solidFill>
            </a:endParaRPr>
          </a:p>
        </p:txBody>
      </p:sp>
      <p:pic>
        <p:nvPicPr>
          <p:cNvPr id="374" name="Google Shape;374;g338393cb8ca_0_244"/>
          <p:cNvPicPr preferRelativeResize="0"/>
          <p:nvPr/>
        </p:nvPicPr>
        <p:blipFill>
          <a:blip r:embed="rId3">
            <a:alphaModFix/>
          </a:blip>
          <a:stretch>
            <a:fillRect/>
          </a:stretch>
        </p:blipFill>
        <p:spPr>
          <a:xfrm>
            <a:off x="7578724" y="3860126"/>
            <a:ext cx="2909226" cy="238414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8" name="Shape 378"/>
        <p:cNvGrpSpPr/>
        <p:nvPr/>
      </p:nvGrpSpPr>
      <p:grpSpPr>
        <a:xfrm>
          <a:off x="0" y="0"/>
          <a:ext cx="0" cy="0"/>
          <a:chOff x="0" y="0"/>
          <a:chExt cx="0" cy="0"/>
        </a:xfrm>
      </p:grpSpPr>
      <p:sp>
        <p:nvSpPr>
          <p:cNvPr id="379" name="Google Shape;379;p13"/>
          <p:cNvSpPr/>
          <p:nvPr/>
        </p:nvSpPr>
        <p:spPr>
          <a:xfrm>
            <a:off x="0" y="0"/>
            <a:ext cx="12192000" cy="6858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p13"/>
          <p:cNvSpPr txBox="1"/>
          <p:nvPr>
            <p:ph type="ctrTitle"/>
          </p:nvPr>
        </p:nvSpPr>
        <p:spPr>
          <a:xfrm>
            <a:off x="2399234" y="2073715"/>
            <a:ext cx="6935759" cy="299304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8800"/>
              <a:buFont typeface="Calibri"/>
              <a:buNone/>
            </a:pPr>
            <a:r>
              <a:rPr lang="es-ES" sz="8800">
                <a:solidFill>
                  <a:schemeClr val="lt1"/>
                </a:solidFill>
              </a:rPr>
              <a:t>¿Dudas?</a:t>
            </a:r>
            <a:endParaRPr sz="8800">
              <a:solidFill>
                <a:schemeClr val="lt1"/>
              </a:solidFill>
            </a:endParaRPr>
          </a:p>
        </p:txBody>
      </p:sp>
      <p:sp>
        <p:nvSpPr>
          <p:cNvPr id="381" name="Google Shape;381;p13"/>
          <p:cNvSpPr/>
          <p:nvPr/>
        </p:nvSpPr>
        <p:spPr>
          <a:xfrm>
            <a:off x="126206" y="115193"/>
            <a:ext cx="11939588" cy="6627614"/>
          </a:xfrm>
          <a:prstGeom prst="rect">
            <a:avLst/>
          </a:prstGeom>
          <a:no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382" name="Google Shape;382;p13"/>
          <p:cNvCxnSpPr/>
          <p:nvPr/>
        </p:nvCxnSpPr>
        <p:spPr>
          <a:xfrm rot="10800000">
            <a:off x="2399233" y="1883640"/>
            <a:ext cx="6935760" cy="0"/>
          </a:xfrm>
          <a:prstGeom prst="straightConnector1">
            <a:avLst/>
          </a:prstGeom>
          <a:noFill/>
          <a:ln cap="flat" cmpd="sng" w="12700">
            <a:solidFill>
              <a:schemeClr val="accent2"/>
            </a:solidFill>
            <a:prstDash val="solid"/>
            <a:miter lim="800000"/>
            <a:headEnd len="sm" w="sm" type="none"/>
            <a:tailEnd len="sm" w="sm" type="none"/>
          </a:ln>
        </p:spPr>
      </p:cxnSp>
      <p:cxnSp>
        <p:nvCxnSpPr>
          <p:cNvPr id="383" name="Google Shape;383;p13"/>
          <p:cNvCxnSpPr/>
          <p:nvPr/>
        </p:nvCxnSpPr>
        <p:spPr>
          <a:xfrm rot="10800000">
            <a:off x="2399233" y="5066757"/>
            <a:ext cx="6935760" cy="0"/>
          </a:xfrm>
          <a:prstGeom prst="straightConnector1">
            <a:avLst/>
          </a:prstGeom>
          <a:noFill/>
          <a:ln cap="flat" cmpd="sng" w="12700">
            <a:solidFill>
              <a:schemeClr val="accent2"/>
            </a:solidFill>
            <a:prstDash val="solid"/>
            <a:miter lim="800000"/>
            <a:headEnd len="sm" w="sm" type="none"/>
            <a:tailEnd len="sm" w="sm" type="none"/>
          </a:ln>
        </p:spPr>
      </p:cxnSp>
    </p:spTree>
  </p:cSld>
  <p:clrMapOvr>
    <a:masterClrMapping/>
  </p:clrMapOvr>
  <p:transition spd="slow">
    <p:wipe dir="l"/>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7" name="Shape 387"/>
        <p:cNvGrpSpPr/>
        <p:nvPr/>
      </p:nvGrpSpPr>
      <p:grpSpPr>
        <a:xfrm>
          <a:off x="0" y="0"/>
          <a:ext cx="0" cy="0"/>
          <a:chOff x="0" y="0"/>
          <a:chExt cx="0" cy="0"/>
        </a:xfrm>
      </p:grpSpPr>
      <p:sp>
        <p:nvSpPr>
          <p:cNvPr id="388" name="Google Shape;388;p14"/>
          <p:cNvSpPr/>
          <p:nvPr/>
        </p:nvSpPr>
        <p:spPr>
          <a:xfrm>
            <a:off x="0" y="0"/>
            <a:ext cx="12192000" cy="6858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4"/>
          <p:cNvSpPr txBox="1"/>
          <p:nvPr>
            <p:ph type="ctrTitle"/>
          </p:nvPr>
        </p:nvSpPr>
        <p:spPr>
          <a:xfrm>
            <a:off x="2399234" y="2073715"/>
            <a:ext cx="6935759" cy="299304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8800"/>
              <a:buFont typeface="Calibri"/>
              <a:buNone/>
            </a:pPr>
            <a:r>
              <a:rPr lang="es-ES" sz="8800">
                <a:solidFill>
                  <a:schemeClr val="lt1"/>
                </a:solidFill>
              </a:rPr>
              <a:t>Gracias</a:t>
            </a:r>
            <a:endParaRPr sz="8800">
              <a:solidFill>
                <a:schemeClr val="lt1"/>
              </a:solidFill>
            </a:endParaRPr>
          </a:p>
        </p:txBody>
      </p:sp>
      <p:sp>
        <p:nvSpPr>
          <p:cNvPr id="390" name="Google Shape;390;p14"/>
          <p:cNvSpPr txBox="1"/>
          <p:nvPr>
            <p:ph idx="1" type="subTitle"/>
          </p:nvPr>
        </p:nvSpPr>
        <p:spPr>
          <a:xfrm>
            <a:off x="2399234" y="1369077"/>
            <a:ext cx="6935759" cy="220115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t/>
            </a:r>
            <a:endParaRPr sz="2000">
              <a:solidFill>
                <a:schemeClr val="lt1"/>
              </a:solidFill>
            </a:endParaRPr>
          </a:p>
        </p:txBody>
      </p:sp>
      <p:sp>
        <p:nvSpPr>
          <p:cNvPr id="391" name="Google Shape;391;p14"/>
          <p:cNvSpPr/>
          <p:nvPr/>
        </p:nvSpPr>
        <p:spPr>
          <a:xfrm>
            <a:off x="126206" y="115193"/>
            <a:ext cx="11939588" cy="6627614"/>
          </a:xfrm>
          <a:prstGeom prst="rect">
            <a:avLst/>
          </a:prstGeom>
          <a:no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392" name="Google Shape;392;p14"/>
          <p:cNvCxnSpPr/>
          <p:nvPr/>
        </p:nvCxnSpPr>
        <p:spPr>
          <a:xfrm rot="10800000">
            <a:off x="2399233" y="1883640"/>
            <a:ext cx="6935760" cy="0"/>
          </a:xfrm>
          <a:prstGeom prst="straightConnector1">
            <a:avLst/>
          </a:prstGeom>
          <a:noFill/>
          <a:ln cap="flat" cmpd="sng" w="12700">
            <a:solidFill>
              <a:schemeClr val="accent2"/>
            </a:solidFill>
            <a:prstDash val="solid"/>
            <a:miter lim="800000"/>
            <a:headEnd len="sm" w="sm" type="none"/>
            <a:tailEnd len="sm" w="sm" type="none"/>
          </a:ln>
        </p:spPr>
      </p:cxnSp>
      <p:cxnSp>
        <p:nvCxnSpPr>
          <p:cNvPr id="393" name="Google Shape;393;p14"/>
          <p:cNvCxnSpPr/>
          <p:nvPr/>
        </p:nvCxnSpPr>
        <p:spPr>
          <a:xfrm rot="10800000">
            <a:off x="2399233" y="5066757"/>
            <a:ext cx="6935760" cy="0"/>
          </a:xfrm>
          <a:prstGeom prst="straightConnector1">
            <a:avLst/>
          </a:prstGeom>
          <a:noFill/>
          <a:ln cap="flat" cmpd="sng" w="12700">
            <a:solidFill>
              <a:schemeClr val="accent2"/>
            </a:solidFill>
            <a:prstDash val="solid"/>
            <a:miter lim="800000"/>
            <a:headEnd len="sm" w="sm" type="none"/>
            <a:tailEnd len="sm" w="sm" type="none"/>
          </a:ln>
        </p:spPr>
      </p:cxnSp>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2021-01-24T02:47:27Z</dcterms:created>
</cp:coreProperties>
</file>