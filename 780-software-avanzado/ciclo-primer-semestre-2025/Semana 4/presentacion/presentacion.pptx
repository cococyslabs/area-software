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b3goUDd5qQVNrLL6lmU6uJ4yTI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COCOCYS ECY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082BB6-F095-4B3F-9BDF-5904AAA7983B}">
  <a:tblStyle styleId="{01082BB6-F095-4B3F-9BDF-5904AAA7983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26T19:20:14.250">
    <p:pos x="1493" y="2698"/>
    <p:text>hola, gracias por lo avances. nos ayudas agregando el valor que se relaciona con lo aprendido para apoyar en el saber ser de la competencia.
Asi tambien agregar la competnecias que abordaran en esta clase</p:text>
    <p:extLst>
      <p:ext uri="{C676402C-5697-4E1C-873F-D02D1690AC5C}">
        <p15:threadingInfo timeZoneBias="0"/>
      </p:ext>
      <p:ext uri="http://customooxmlschemas.google.com/">
        <go:slidesCustomData xmlns:go="http://customooxmlschemas.google.com/" commentPostId="AAABkXiARS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ef875a66c8_0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1ef875a66c8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f0a58de352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1f0a58de352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67" name="Google Shape;1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12" name="Google Shape;21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21" name="Google Shape;22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sz="1800"/>
              <a:t>docker run -p 8080:8080 nginx - - name webContainer</a:t>
            </a:r>
            <a:endParaRPr sz="1800"/>
          </a:p>
          <a:p>
            <a:pPr indent="0" lvl="0" marL="0" rtl="0" algn="l">
              <a:lnSpc>
                <a:spcPct val="100000"/>
              </a:lnSpc>
              <a:spcBef>
                <a:spcPts val="0"/>
              </a:spcBef>
              <a:spcAft>
                <a:spcPts val="0"/>
              </a:spcAft>
              <a:buSzPts val="1400"/>
              <a:buNone/>
            </a:pPr>
            <a:r>
              <a:rPr lang="es-ES" sz="1800"/>
              <a:t>docker run -p nginx - - name webContainer</a:t>
            </a:r>
            <a:endParaRPr sz="1800"/>
          </a:p>
        </p:txBody>
      </p:sp>
      <p:sp>
        <p:nvSpPr>
          <p:cNvPr id="255" name="Google Shape;25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dced892eb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2dced892eb6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g1ef875a66c8_0_6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7" name="Google Shape;17;g1ef875a66c8_0_6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8" name="Google Shape;18;g1ef875a66c8_0_6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6"/>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2"/>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2"/>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2"/>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25"/>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25"/>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26"/>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p:nvPr>
            <p:ph idx="2" type="pic"/>
          </p:nvPr>
        </p:nvSpPr>
        <p:spPr>
          <a:xfrm>
            <a:off x="5183188" y="987425"/>
            <a:ext cx="6172200" cy="4873500"/>
          </a:xfrm>
          <a:prstGeom prst="rect">
            <a:avLst/>
          </a:prstGeom>
          <a:noFill/>
          <a:ln>
            <a:noFill/>
          </a:ln>
        </p:spPr>
      </p:sp>
      <p:sp>
        <p:nvSpPr>
          <p:cNvPr id="72" name="Google Shape;72;p26"/>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2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28"/>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8"/>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2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4" name="Shape 94"/>
        <p:cNvGrpSpPr/>
        <p:nvPr/>
      </p:nvGrpSpPr>
      <p:grpSpPr>
        <a:xfrm>
          <a:off x="0" y="0"/>
          <a:ext cx="0" cy="0"/>
          <a:chOff x="0" y="0"/>
          <a:chExt cx="0" cy="0"/>
        </a:xfrm>
      </p:grpSpPr>
      <p:sp>
        <p:nvSpPr>
          <p:cNvPr id="95" name="Google Shape;95;p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7" name="Google Shape;97;p1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8" name="Shape 88"/>
        <p:cNvGrpSpPr/>
        <p:nvPr/>
      </p:nvGrpSpPr>
      <p:grpSpPr>
        <a:xfrm>
          <a:off x="0" y="0"/>
          <a:ext cx="0" cy="0"/>
          <a:chOff x="0" y="0"/>
          <a:chExt cx="0" cy="0"/>
        </a:xfrm>
      </p:grpSpPr>
      <p:sp>
        <p:nvSpPr>
          <p:cNvPr id="89" name="Google Shape;89;p1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0" name="Google Shape;90;p1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91" name="Google Shape;91;p1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92" name="Google Shape;92;p1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93" name="Google Shape;93;p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2" r:id="rId1"/>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 Id="rId6" Type="http://schemas.openxmlformats.org/officeDocument/2006/relationships/image" Target="../media/image17.png"/><Relationship Id="rId7"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g1ef875a66c8_0_65"/>
          <p:cNvPicPr preferRelativeResize="0"/>
          <p:nvPr/>
        </p:nvPicPr>
        <p:blipFill rotWithShape="1">
          <a:blip r:embed="rId4">
            <a:alphaModFix amt="62000"/>
          </a:blip>
          <a:srcRect b="0" l="0" r="0" t="0"/>
          <a:stretch/>
        </p:blipFill>
        <p:spPr>
          <a:xfrm>
            <a:off x="11268" y="0"/>
            <a:ext cx="12169464" cy="6858000"/>
          </a:xfrm>
          <a:prstGeom prst="rect">
            <a:avLst/>
          </a:prstGeom>
          <a:noFill/>
          <a:ln>
            <a:noFill/>
          </a:ln>
        </p:spPr>
      </p:pic>
      <p:graphicFrame>
        <p:nvGraphicFramePr>
          <p:cNvPr id="105" name="Google Shape;105;g1ef875a66c8_0_65"/>
          <p:cNvGraphicFramePr/>
          <p:nvPr/>
        </p:nvGraphicFramePr>
        <p:xfrm>
          <a:off x="7104267" y="1293367"/>
          <a:ext cx="3000000" cy="3000000"/>
        </p:xfrm>
        <a:graphic>
          <a:graphicData uri="http://schemas.openxmlformats.org/drawingml/2006/table">
            <a:tbl>
              <a:tblPr>
                <a:noFill/>
                <a:tableStyleId>{01082BB6-F095-4B3F-9BDF-5904AAA7983B}</a:tableStyleId>
              </a:tblPr>
              <a:tblGrid>
                <a:gridCol w="2024275"/>
                <a:gridCol w="2896500"/>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ES" sz="1900" u="none" cap="none" strike="noStrike">
                          <a:solidFill>
                            <a:schemeClr val="dk1"/>
                          </a:solidFill>
                        </a:rPr>
                        <a:t>Día, Fecha:</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rgbClr val="000000"/>
                        </a:buClr>
                        <a:buSzPts val="1900"/>
                        <a:buFont typeface="Arial"/>
                        <a:buNone/>
                      </a:pPr>
                      <a:r>
                        <a:rPr lang="es-ES" sz="1900" u="none" cap="none" strike="noStrike"/>
                        <a:t>Viernes, 28/02/2025</a:t>
                      </a:r>
                      <a:endParaRPr sz="1900" u="none" cap="none" strike="noStrike"/>
                    </a:p>
                  </a:txBody>
                  <a:tcPr marT="121900" marB="121900" marR="121900" marL="121900"/>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ES" sz="1900" u="none" cap="none" strike="noStrike">
                          <a:solidFill>
                            <a:schemeClr val="dk1"/>
                          </a:solidFill>
                        </a:rPr>
                        <a:t>Hora de inicio:</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rgbClr val="000000"/>
                        </a:buClr>
                        <a:buSzPts val="1900"/>
                        <a:buFont typeface="Arial"/>
                        <a:buNone/>
                      </a:pPr>
                      <a:r>
                        <a:rPr lang="es-ES" sz="1900" u="none" cap="none" strike="noStrike"/>
                        <a:t>16:30</a:t>
                      </a:r>
                      <a:endParaRPr sz="1900" u="none" cap="none" strike="noStrike"/>
                    </a:p>
                  </a:txBody>
                  <a:tcPr marT="121900" marB="121900" marR="121900" marL="121900"/>
                </a:tc>
              </a:tr>
            </a:tbl>
          </a:graphicData>
        </a:graphic>
      </p:graphicFrame>
      <p:sp>
        <p:nvSpPr>
          <p:cNvPr id="106" name="Google Shape;106;g1ef875a66c8_0_65"/>
          <p:cNvSpPr txBox="1"/>
          <p:nvPr/>
        </p:nvSpPr>
        <p:spPr>
          <a:xfrm>
            <a:off x="1920233" y="3011067"/>
            <a:ext cx="7448700" cy="754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00000"/>
                </a:solidFill>
                <a:latin typeface="Arial"/>
                <a:ea typeface="Arial"/>
                <a:cs typeface="Arial"/>
                <a:sym typeface="Arial"/>
              </a:rPr>
              <a:t>Software Avanzado, sección B</a:t>
            </a:r>
            <a:endParaRPr b="0" i="0" sz="3300" u="none" cap="none" strike="noStrike">
              <a:solidFill>
                <a:srgbClr val="000000"/>
              </a:solidFill>
              <a:latin typeface="Arial"/>
              <a:ea typeface="Arial"/>
              <a:cs typeface="Arial"/>
              <a:sym typeface="Arial"/>
            </a:endParaRPr>
          </a:p>
        </p:txBody>
      </p:sp>
      <p:sp>
        <p:nvSpPr>
          <p:cNvPr id="107" name="Google Shape;107;g1ef875a66c8_0_65"/>
          <p:cNvSpPr txBox="1"/>
          <p:nvPr/>
        </p:nvSpPr>
        <p:spPr>
          <a:xfrm>
            <a:off x="2371600" y="4283467"/>
            <a:ext cx="7448700" cy="661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Arial"/>
                <a:ea typeface="Arial"/>
                <a:cs typeface="Arial"/>
                <a:sym typeface="Arial"/>
              </a:rPr>
              <a:t>Diego Rene Molina Roldan</a:t>
            </a:r>
            <a:endParaRPr b="0" i="0" sz="27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1"/>
          <p:cNvSpPr txBox="1"/>
          <p:nvPr>
            <p:ph type="ctrTitle"/>
          </p:nvPr>
        </p:nvSpPr>
        <p:spPr>
          <a:xfrm>
            <a:off x="640080" y="325369"/>
            <a:ext cx="4368602" cy="19568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ES" sz="5400"/>
              <a:t>Docker</a:t>
            </a:r>
            <a:endParaRPr/>
          </a:p>
        </p:txBody>
      </p:sp>
      <p:sp>
        <p:nvSpPr>
          <p:cNvPr id="114" name="Google Shape;114;p1"/>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1"/>
          <p:cNvSpPr txBox="1"/>
          <p:nvPr>
            <p:ph idx="1" type="subTitle"/>
          </p:nvPr>
        </p:nvSpPr>
        <p:spPr>
          <a:xfrm>
            <a:off x="640080" y="2872899"/>
            <a:ext cx="4243589" cy="3320668"/>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90000"/>
              </a:lnSpc>
              <a:spcBef>
                <a:spcPts val="0"/>
              </a:spcBef>
              <a:spcAft>
                <a:spcPts val="0"/>
              </a:spcAft>
              <a:buClr>
                <a:schemeClr val="dk1"/>
              </a:buClr>
              <a:buSzPct val="73955"/>
              <a:buNone/>
            </a:pPr>
            <a:r>
              <a:t/>
            </a:r>
            <a:endParaRPr sz="2974"/>
          </a:p>
          <a:p>
            <a:pPr indent="0" lvl="0" marL="0" rtl="0" algn="l">
              <a:lnSpc>
                <a:spcPct val="90000"/>
              </a:lnSpc>
              <a:spcBef>
                <a:spcPts val="0"/>
              </a:spcBef>
              <a:spcAft>
                <a:spcPts val="0"/>
              </a:spcAft>
              <a:buClr>
                <a:schemeClr val="dk1"/>
              </a:buClr>
              <a:buSzPct val="37184"/>
              <a:buNone/>
            </a:pPr>
            <a:r>
              <a:rPr lang="es-ES" sz="5916"/>
              <a:t>Secciones A y B</a:t>
            </a:r>
            <a:endParaRPr sz="5916"/>
          </a:p>
          <a:p>
            <a:pPr indent="0" lvl="0" marL="0" rtl="0" algn="l">
              <a:lnSpc>
                <a:spcPct val="90000"/>
              </a:lnSpc>
              <a:spcBef>
                <a:spcPts val="1000"/>
              </a:spcBef>
              <a:spcAft>
                <a:spcPts val="0"/>
              </a:spcAft>
              <a:buClr>
                <a:schemeClr val="dk1"/>
              </a:buClr>
              <a:buSzPct val="38485"/>
              <a:buNone/>
            </a:pPr>
            <a:r>
              <a:rPr b="1" lang="es-ES" sz="5716"/>
              <a:t>Semana 4: Docker</a:t>
            </a:r>
            <a:endParaRPr b="1" sz="5716"/>
          </a:p>
          <a:p>
            <a:pPr indent="0" lvl="0" marL="0" rtl="0" algn="l">
              <a:lnSpc>
                <a:spcPct val="90000"/>
              </a:lnSpc>
              <a:spcBef>
                <a:spcPts val="1000"/>
              </a:spcBef>
              <a:spcAft>
                <a:spcPts val="0"/>
              </a:spcAft>
              <a:buClr>
                <a:schemeClr val="dk1"/>
              </a:buClr>
              <a:buSzPct val="38485"/>
              <a:buNone/>
            </a:pPr>
            <a:r>
              <a:t/>
            </a:r>
            <a:endParaRPr b="1" sz="5716"/>
          </a:p>
          <a:p>
            <a:pPr indent="0" lvl="0" marL="0" rtl="0" algn="l">
              <a:lnSpc>
                <a:spcPct val="90000"/>
              </a:lnSpc>
              <a:spcBef>
                <a:spcPts val="1000"/>
              </a:spcBef>
              <a:spcAft>
                <a:spcPts val="0"/>
              </a:spcAft>
              <a:buClr>
                <a:schemeClr val="dk1"/>
              </a:buClr>
              <a:buSzPct val="38485"/>
              <a:buNone/>
            </a:pPr>
            <a:r>
              <a:t/>
            </a:r>
            <a:endParaRPr b="1" sz="5716"/>
          </a:p>
          <a:p>
            <a:pPr indent="0" lvl="0" marL="0" rtl="0" algn="l">
              <a:lnSpc>
                <a:spcPct val="90000"/>
              </a:lnSpc>
              <a:spcBef>
                <a:spcPts val="1000"/>
              </a:spcBef>
              <a:spcAft>
                <a:spcPts val="0"/>
              </a:spcAft>
              <a:buClr>
                <a:schemeClr val="dk1"/>
              </a:buClr>
              <a:buSzPct val="79286"/>
              <a:buNone/>
            </a:pPr>
            <a:r>
              <a:t/>
            </a:r>
            <a:endParaRPr b="1" sz="2774"/>
          </a:p>
          <a:p>
            <a:pPr indent="0" lvl="0" marL="0" rtl="0" algn="l">
              <a:lnSpc>
                <a:spcPct val="90000"/>
              </a:lnSpc>
              <a:spcBef>
                <a:spcPts val="1000"/>
              </a:spcBef>
              <a:spcAft>
                <a:spcPts val="0"/>
              </a:spcAft>
              <a:buClr>
                <a:schemeClr val="dk1"/>
              </a:buClr>
              <a:buSzPct val="79286"/>
              <a:buNone/>
            </a:pPr>
            <a:r>
              <a:t/>
            </a:r>
            <a:endParaRPr b="1" sz="2774"/>
          </a:p>
          <a:p>
            <a:pPr indent="139700" lvl="0" marL="0" rtl="0" algn="l">
              <a:lnSpc>
                <a:spcPct val="90000"/>
              </a:lnSpc>
              <a:spcBef>
                <a:spcPts val="1000"/>
              </a:spcBef>
              <a:spcAft>
                <a:spcPts val="0"/>
              </a:spcAft>
              <a:buClr>
                <a:schemeClr val="dk1"/>
              </a:buClr>
              <a:buSzPct val="100000"/>
              <a:buFont typeface="Arial"/>
              <a:buNone/>
            </a:pPr>
            <a:r>
              <a:t/>
            </a:r>
            <a:endParaRPr sz="2200"/>
          </a:p>
          <a:p>
            <a:pPr indent="0" lvl="0" marL="457200" rtl="0" algn="l">
              <a:lnSpc>
                <a:spcPct val="90000"/>
              </a:lnSpc>
              <a:spcBef>
                <a:spcPts val="1000"/>
              </a:spcBef>
              <a:spcAft>
                <a:spcPts val="0"/>
              </a:spcAft>
              <a:buSzPct val="129032"/>
              <a:buNone/>
            </a:pPr>
            <a:r>
              <a:t/>
            </a:r>
            <a:endParaRPr/>
          </a:p>
          <a:p>
            <a:pPr indent="139700" lvl="0" marL="0" rtl="0" algn="l">
              <a:lnSpc>
                <a:spcPct val="90000"/>
              </a:lnSpc>
              <a:spcBef>
                <a:spcPts val="1000"/>
              </a:spcBef>
              <a:spcAft>
                <a:spcPts val="0"/>
              </a:spcAft>
              <a:buClr>
                <a:schemeClr val="dk1"/>
              </a:buClr>
              <a:buSzPct val="100000"/>
              <a:buFont typeface="Arial"/>
              <a:buNone/>
            </a:pPr>
            <a:r>
              <a:t/>
            </a:r>
            <a:endParaRPr sz="2200"/>
          </a:p>
        </p:txBody>
      </p:sp>
      <p:pic>
        <p:nvPicPr>
          <p:cNvPr id="116" name="Google Shape;116;p1"/>
          <p:cNvPicPr preferRelativeResize="0"/>
          <p:nvPr/>
        </p:nvPicPr>
        <p:blipFill rotWithShape="1">
          <a:blip r:embed="rId3">
            <a:alphaModFix/>
          </a:blip>
          <a:srcRect b="-1" l="2957" r="29087" t="0"/>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20" name="Shape 120"/>
        <p:cNvGrpSpPr/>
        <p:nvPr/>
      </p:nvGrpSpPr>
      <p:grpSpPr>
        <a:xfrm>
          <a:off x="0" y="0"/>
          <a:ext cx="0" cy="0"/>
          <a:chOff x="0" y="0"/>
          <a:chExt cx="0" cy="0"/>
        </a:xfrm>
      </p:grpSpPr>
      <p:sp>
        <p:nvSpPr>
          <p:cNvPr id="121" name="Google Shape;121;p2"/>
          <p:cNvSpPr/>
          <p:nvPr/>
        </p:nvSpPr>
        <p:spPr>
          <a:xfrm flipH="1">
            <a:off x="0" y="0"/>
            <a:ext cx="5331534" cy="6858000"/>
          </a:xfrm>
          <a:custGeom>
            <a:rect b="b" l="l" r="r" t="t"/>
            <a:pathLst>
              <a:path extrusionOk="0" h="6858000" w="5331534">
                <a:moveTo>
                  <a:pt x="5331534" y="0"/>
                </a:moveTo>
                <a:lnTo>
                  <a:pt x="69075" y="0"/>
                </a:lnTo>
                <a:lnTo>
                  <a:pt x="35131" y="267128"/>
                </a:lnTo>
                <a:cubicBezTo>
                  <a:pt x="11901" y="495874"/>
                  <a:pt x="0" y="727970"/>
                  <a:pt x="0" y="962845"/>
                </a:cubicBezTo>
                <a:cubicBezTo>
                  <a:pt x="0" y="3429034"/>
                  <a:pt x="1312002" y="5588789"/>
                  <a:pt x="3276103" y="6782205"/>
                </a:cubicBezTo>
                <a:lnTo>
                  <a:pt x="3407923" y="6858000"/>
                </a:lnTo>
                <a:lnTo>
                  <a:pt x="5331534" y="6858000"/>
                </a:ln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 name="Google Shape;122;p2"/>
          <p:cNvSpPr/>
          <p:nvPr/>
        </p:nvSpPr>
        <p:spPr>
          <a:xfrm>
            <a:off x="0" y="0"/>
            <a:ext cx="5173318" cy="6860381"/>
          </a:xfrm>
          <a:custGeom>
            <a:rect b="b" l="l" r="r" t="t"/>
            <a:pathLst>
              <a:path extrusionOk="0" h="6860381" w="5203198">
                <a:moveTo>
                  <a:pt x="0" y="2381"/>
                </a:moveTo>
                <a:lnTo>
                  <a:pt x="5142946" y="0"/>
                </a:lnTo>
                <a:cubicBezTo>
                  <a:pt x="5149221" y="44580"/>
                  <a:pt x="5155497" y="91541"/>
                  <a:pt x="5161772" y="136121"/>
                </a:cubicBezTo>
                <a:cubicBezTo>
                  <a:pt x="5189165" y="379610"/>
                  <a:pt x="5203198" y="626664"/>
                  <a:pt x="5203198" y="876677"/>
                </a:cubicBezTo>
                <a:cubicBezTo>
                  <a:pt x="5203198" y="3251799"/>
                  <a:pt x="3936740" y="5359908"/>
                  <a:pt x="1980154" y="6680759"/>
                </a:cubicBezTo>
                <a:lnTo>
                  <a:pt x="1678899" y="6860381"/>
                </a:lnTo>
                <a:lnTo>
                  <a:pt x="0" y="6860381"/>
                </a:lnTo>
                <a:lnTo>
                  <a:pt x="0" y="2381"/>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 name="Google Shape;123;p2"/>
          <p:cNvSpPr txBox="1"/>
          <p:nvPr>
            <p:ph type="title"/>
          </p:nvPr>
        </p:nvSpPr>
        <p:spPr>
          <a:xfrm>
            <a:off x="804672" y="513977"/>
            <a:ext cx="3591964" cy="347556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solidFill>
                  <a:schemeClr val="dk1"/>
                </a:solidFill>
              </a:rPr>
              <a:t>AGENDA</a:t>
            </a:r>
            <a:endParaRPr/>
          </a:p>
        </p:txBody>
      </p:sp>
      <p:grpSp>
        <p:nvGrpSpPr>
          <p:cNvPr id="124" name="Google Shape;124;p2"/>
          <p:cNvGrpSpPr/>
          <p:nvPr/>
        </p:nvGrpSpPr>
        <p:grpSpPr>
          <a:xfrm>
            <a:off x="5009898" y="595324"/>
            <a:ext cx="6772196" cy="5662908"/>
            <a:chOff x="0" y="1833"/>
            <a:chExt cx="6772196" cy="5662908"/>
          </a:xfrm>
        </p:grpSpPr>
        <p:sp>
          <p:nvSpPr>
            <p:cNvPr id="125" name="Google Shape;125;p2"/>
            <p:cNvSpPr/>
            <p:nvPr/>
          </p:nvSpPr>
          <p:spPr>
            <a:xfrm>
              <a:off x="0" y="1833"/>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236279" y="177578"/>
              <a:ext cx="429599" cy="42959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902159" y="1833"/>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txBox="1"/>
            <p:nvPr/>
          </p:nvSpPr>
          <p:spPr>
            <a:xfrm>
              <a:off x="902159" y="1833"/>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b="0" i="0" lang="es-ES" sz="1900" u="none" cap="none" strike="noStrike">
                  <a:solidFill>
                    <a:schemeClr val="lt1"/>
                  </a:solidFill>
                  <a:latin typeface="Calibri"/>
                  <a:ea typeface="Calibri"/>
                  <a:cs typeface="Calibri"/>
                  <a:sym typeface="Calibri"/>
                </a:rPr>
                <a:t>Dudas iniciales</a:t>
              </a:r>
              <a:endParaRPr b="0" i="0" sz="1900" u="none" cap="none" strike="noStrike">
                <a:solidFill>
                  <a:schemeClr val="lt1"/>
                </a:solidFill>
                <a:latin typeface="Calibri"/>
                <a:ea typeface="Calibri"/>
                <a:cs typeface="Calibri"/>
                <a:sym typeface="Calibri"/>
              </a:endParaRPr>
            </a:p>
          </p:txBody>
        </p:sp>
        <p:sp>
          <p:nvSpPr>
            <p:cNvPr id="129" name="Google Shape;129;p2"/>
            <p:cNvSpPr/>
            <p:nvPr/>
          </p:nvSpPr>
          <p:spPr>
            <a:xfrm>
              <a:off x="0" y="978196"/>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
            <p:cNvSpPr/>
            <p:nvPr/>
          </p:nvSpPr>
          <p:spPr>
            <a:xfrm>
              <a:off x="236279" y="1153942"/>
              <a:ext cx="429599" cy="42959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
            <p:cNvSpPr/>
            <p:nvPr/>
          </p:nvSpPr>
          <p:spPr>
            <a:xfrm>
              <a:off x="902159" y="978196"/>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
            <p:cNvSpPr txBox="1"/>
            <p:nvPr/>
          </p:nvSpPr>
          <p:spPr>
            <a:xfrm>
              <a:off x="902159" y="978196"/>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b="0" i="0" lang="es-ES" sz="1900" u="none" cap="none" strike="noStrike">
                  <a:solidFill>
                    <a:schemeClr val="lt1"/>
                  </a:solidFill>
                  <a:latin typeface="Calibri"/>
                  <a:ea typeface="Calibri"/>
                  <a:cs typeface="Calibri"/>
                  <a:sym typeface="Calibri"/>
                </a:rPr>
                <a:t>Anuncios generales</a:t>
              </a:r>
              <a:endParaRPr b="0" i="0" sz="1900" u="none" cap="none" strike="noStrike">
                <a:solidFill>
                  <a:schemeClr val="lt1"/>
                </a:solidFill>
                <a:latin typeface="Calibri"/>
                <a:ea typeface="Calibri"/>
                <a:cs typeface="Calibri"/>
                <a:sym typeface="Calibri"/>
              </a:endParaRPr>
            </a:p>
          </p:txBody>
        </p:sp>
        <p:sp>
          <p:nvSpPr>
            <p:cNvPr id="133" name="Google Shape;133;p2"/>
            <p:cNvSpPr/>
            <p:nvPr/>
          </p:nvSpPr>
          <p:spPr>
            <a:xfrm>
              <a:off x="0" y="1954560"/>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
            <p:cNvSpPr/>
            <p:nvPr/>
          </p:nvSpPr>
          <p:spPr>
            <a:xfrm>
              <a:off x="236279" y="2130305"/>
              <a:ext cx="429599" cy="429599"/>
            </a:xfrm>
            <a:prstGeom prst="rect">
              <a:avLst/>
            </a:prstGeom>
            <a:blipFill rotWithShape="1">
              <a:blip r:embed="rId5">
                <a:alphaModFix/>
              </a:blip>
              <a:stretch>
                <a:fillRect b="0" l="0" r="0" t="0"/>
              </a:stretch>
            </a:blipFill>
            <a:ln cap="flat" cmpd="sng" w="12700">
              <a:solidFill>
                <a:schemeClr val="lt1">
                  <a:alpha val="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
            <p:cNvSpPr/>
            <p:nvPr/>
          </p:nvSpPr>
          <p:spPr>
            <a:xfrm>
              <a:off x="902159" y="1954560"/>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txBox="1"/>
            <p:nvPr/>
          </p:nvSpPr>
          <p:spPr>
            <a:xfrm>
              <a:off x="902159" y="1954560"/>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b="0" i="0" lang="es-ES" sz="1900" u="none" cap="none" strike="noStrike">
                  <a:solidFill>
                    <a:schemeClr val="lt1"/>
                  </a:solidFill>
                  <a:latin typeface="Calibri"/>
                  <a:ea typeface="Calibri"/>
                  <a:cs typeface="Calibri"/>
                  <a:sym typeface="Calibri"/>
                </a:rPr>
                <a:t>Enunciado Fase 1</a:t>
              </a:r>
              <a:endParaRPr b="0" i="0" sz="1400" u="none" cap="none" strike="noStrike">
                <a:solidFill>
                  <a:srgbClr val="000000"/>
                </a:solidFill>
                <a:latin typeface="Arial"/>
                <a:ea typeface="Arial"/>
                <a:cs typeface="Arial"/>
                <a:sym typeface="Arial"/>
              </a:endParaRPr>
            </a:p>
          </p:txBody>
        </p:sp>
        <p:sp>
          <p:nvSpPr>
            <p:cNvPr id="137" name="Google Shape;137;p2"/>
            <p:cNvSpPr/>
            <p:nvPr/>
          </p:nvSpPr>
          <p:spPr>
            <a:xfrm>
              <a:off x="0" y="2930923"/>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
            <p:cNvSpPr/>
            <p:nvPr/>
          </p:nvSpPr>
          <p:spPr>
            <a:xfrm>
              <a:off x="236279" y="3106669"/>
              <a:ext cx="429599" cy="429599"/>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
            <p:cNvSpPr/>
            <p:nvPr/>
          </p:nvSpPr>
          <p:spPr>
            <a:xfrm>
              <a:off x="902159" y="2930923"/>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
            <p:cNvSpPr txBox="1"/>
            <p:nvPr/>
          </p:nvSpPr>
          <p:spPr>
            <a:xfrm>
              <a:off x="902159" y="2930923"/>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b="0" i="0" lang="es-ES" sz="1900" u="none" cap="none" strike="noStrike">
                  <a:solidFill>
                    <a:schemeClr val="lt1"/>
                  </a:solidFill>
                  <a:latin typeface="Calibri"/>
                  <a:ea typeface="Calibri"/>
                  <a:cs typeface="Calibri"/>
                  <a:sym typeface="Calibri"/>
                </a:rPr>
                <a:t>Docker</a:t>
              </a:r>
              <a:endParaRPr b="0" i="0" sz="1900" u="none" cap="none" strike="noStrike">
                <a:solidFill>
                  <a:schemeClr val="lt1"/>
                </a:solidFill>
                <a:latin typeface="Calibri"/>
                <a:ea typeface="Calibri"/>
                <a:cs typeface="Calibri"/>
                <a:sym typeface="Calibri"/>
              </a:endParaRPr>
            </a:p>
          </p:txBody>
        </p:sp>
        <p:sp>
          <p:nvSpPr>
            <p:cNvPr id="141" name="Google Shape;141;p2"/>
            <p:cNvSpPr/>
            <p:nvPr/>
          </p:nvSpPr>
          <p:spPr>
            <a:xfrm>
              <a:off x="0" y="3907287"/>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236279" y="4083032"/>
              <a:ext cx="429599" cy="429599"/>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902159" y="3907287"/>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
            <p:cNvSpPr txBox="1"/>
            <p:nvPr/>
          </p:nvSpPr>
          <p:spPr>
            <a:xfrm>
              <a:off x="902159" y="3907287"/>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b="0" i="0" lang="es-ES" sz="1900" u="none" cap="none" strike="noStrike">
                  <a:solidFill>
                    <a:schemeClr val="lt1"/>
                  </a:solidFill>
                  <a:latin typeface="Calibri"/>
                  <a:ea typeface="Calibri"/>
                  <a:cs typeface="Calibri"/>
                  <a:sym typeface="Calibri"/>
                </a:rPr>
                <a:t>Ejemplo práctico</a:t>
              </a:r>
              <a:endParaRPr b="0" i="0" sz="1900" u="none" cap="none" strike="noStrike">
                <a:solidFill>
                  <a:schemeClr val="lt1"/>
                </a:solidFill>
                <a:latin typeface="Calibri"/>
                <a:ea typeface="Calibri"/>
                <a:cs typeface="Calibri"/>
                <a:sym typeface="Calibri"/>
              </a:endParaRPr>
            </a:p>
          </p:txBody>
        </p:sp>
        <p:sp>
          <p:nvSpPr>
            <p:cNvPr id="145" name="Google Shape;145;p2"/>
            <p:cNvSpPr/>
            <p:nvPr/>
          </p:nvSpPr>
          <p:spPr>
            <a:xfrm>
              <a:off x="0" y="4883651"/>
              <a:ext cx="6772196" cy="781090"/>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
            <p:cNvSpPr/>
            <p:nvPr/>
          </p:nvSpPr>
          <p:spPr>
            <a:xfrm>
              <a:off x="902159" y="4883651"/>
              <a:ext cx="5870036" cy="78109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txBox="1"/>
            <p:nvPr/>
          </p:nvSpPr>
          <p:spPr>
            <a:xfrm>
              <a:off x="902159" y="4883651"/>
              <a:ext cx="5870036" cy="781090"/>
            </a:xfrm>
            <a:prstGeom prst="rect">
              <a:avLst/>
            </a:prstGeom>
            <a:noFill/>
            <a:ln>
              <a:noFill/>
            </a:ln>
          </p:spPr>
          <p:txBody>
            <a:bodyPr anchorCtr="0" anchor="ctr" bIns="82650" lIns="82650" spcFirstLastPara="1" rIns="82650" wrap="square" tIns="82650">
              <a:noAutofit/>
            </a:bodyPr>
            <a:lstStyle/>
            <a:p>
              <a:pPr indent="0" lvl="0" marL="0" marR="0" rtl="0" algn="l">
                <a:lnSpc>
                  <a:spcPct val="100000"/>
                </a:lnSpc>
                <a:spcBef>
                  <a:spcPts val="0"/>
                </a:spcBef>
                <a:spcAft>
                  <a:spcPts val="0"/>
                </a:spcAft>
                <a:buClr>
                  <a:schemeClr val="lt1"/>
                </a:buClr>
                <a:buSzPts val="1900"/>
                <a:buFont typeface="Calibri"/>
                <a:buNone/>
              </a:pPr>
              <a:r>
                <a:rPr b="0" i="0" lang="es-ES" sz="1900" u="none" cap="none" strike="noStrike">
                  <a:solidFill>
                    <a:schemeClr val="lt1"/>
                  </a:solidFill>
                  <a:latin typeface="Calibri"/>
                  <a:ea typeface="Calibri"/>
                  <a:cs typeface="Calibri"/>
                  <a:sym typeface="Calibri"/>
                </a:rPr>
                <a:t>Dudas finales</a:t>
              </a:r>
              <a:endParaRPr b="0" i="0" sz="1400" u="none" cap="none" strike="noStrike">
                <a:solidFill>
                  <a:srgbClr val="000000"/>
                </a:solidFill>
                <a:latin typeface="Arial"/>
                <a:ea typeface="Arial"/>
                <a:cs typeface="Arial"/>
                <a:sym typeface="Arial"/>
              </a:endParaRPr>
            </a:p>
          </p:txBody>
        </p:sp>
      </p:grpSp>
      <p:sp>
        <p:nvSpPr>
          <p:cNvPr id="148" name="Google Shape;148;p2"/>
          <p:cNvSpPr/>
          <p:nvPr/>
        </p:nvSpPr>
        <p:spPr>
          <a:xfrm>
            <a:off x="5224327" y="5620344"/>
            <a:ext cx="429600" cy="4296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2" name="Shape 152"/>
        <p:cNvGrpSpPr/>
        <p:nvPr/>
      </p:nvGrpSpPr>
      <p:grpSpPr>
        <a:xfrm>
          <a:off x="0" y="0"/>
          <a:ext cx="0" cy="0"/>
          <a:chOff x="0" y="0"/>
          <a:chExt cx="0" cy="0"/>
        </a:xfrm>
      </p:grpSpPr>
      <p:pic>
        <p:nvPicPr>
          <p:cNvPr id="153" name="Google Shape;153;g1f0a58de352_0_2"/>
          <p:cNvPicPr preferRelativeResize="0"/>
          <p:nvPr/>
        </p:nvPicPr>
        <p:blipFill rotWithShape="1">
          <a:blip r:embed="rId3">
            <a:alphaModFix amt="35000"/>
          </a:blip>
          <a:srcRect b="11966" l="0" r="0" t="3637"/>
          <a:stretch/>
        </p:blipFill>
        <p:spPr>
          <a:xfrm>
            <a:off x="20" y="1"/>
            <a:ext cx="12191980" cy="6857999"/>
          </a:xfrm>
          <a:prstGeom prst="rect">
            <a:avLst/>
          </a:prstGeom>
          <a:noFill/>
          <a:ln>
            <a:noFill/>
          </a:ln>
        </p:spPr>
      </p:pic>
      <p:sp>
        <p:nvSpPr>
          <p:cNvPr id="154" name="Google Shape;154;g1f0a58de352_0_2"/>
          <p:cNvSpPr txBox="1"/>
          <p:nvPr>
            <p:ph type="title"/>
          </p:nvPr>
        </p:nvSpPr>
        <p:spPr>
          <a:xfrm>
            <a:off x="838200" y="1065850"/>
            <a:ext cx="10792800" cy="4614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Calibri"/>
              <a:buNone/>
            </a:pPr>
            <a:r>
              <a:rPr lang="es-ES" sz="6500"/>
              <a:t>Espacio para dudas</a:t>
            </a:r>
            <a:endParaRPr sz="6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8" name="Shape 158"/>
        <p:cNvGrpSpPr/>
        <p:nvPr/>
      </p:nvGrpSpPr>
      <p:grpSpPr>
        <a:xfrm>
          <a:off x="0" y="0"/>
          <a:ext cx="0" cy="0"/>
          <a:chOff x="0" y="0"/>
          <a:chExt cx="0" cy="0"/>
        </a:xfrm>
      </p:grpSpPr>
      <p:pic>
        <p:nvPicPr>
          <p:cNvPr id="159" name="Google Shape;159;p3"/>
          <p:cNvPicPr preferRelativeResize="0"/>
          <p:nvPr/>
        </p:nvPicPr>
        <p:blipFill rotWithShape="1">
          <a:blip r:embed="rId3">
            <a:alphaModFix amt="35000"/>
          </a:blip>
          <a:srcRect b="11967" l="0" r="-2" t="3635"/>
          <a:stretch/>
        </p:blipFill>
        <p:spPr>
          <a:xfrm>
            <a:off x="20" y="1"/>
            <a:ext cx="12191980" cy="6857999"/>
          </a:xfrm>
          <a:prstGeom prst="rect">
            <a:avLst/>
          </a:prstGeom>
          <a:noFill/>
          <a:ln>
            <a:noFill/>
          </a:ln>
        </p:spPr>
      </p:pic>
      <p:sp>
        <p:nvSpPr>
          <p:cNvPr id="160" name="Google Shape;160;p3"/>
          <p:cNvSpPr txBox="1"/>
          <p:nvPr>
            <p:ph type="title"/>
          </p:nvPr>
        </p:nvSpPr>
        <p:spPr>
          <a:xfrm>
            <a:off x="1031630" y="1065900"/>
            <a:ext cx="4052100" cy="47262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rgbClr val="FFFFFF"/>
              </a:buClr>
              <a:buSzPts val="4000"/>
              <a:buFont typeface="Calibri"/>
              <a:buNone/>
            </a:pPr>
            <a:r>
              <a:rPr lang="es-ES"/>
              <a:t>Docker: La magia de los contenedores</a:t>
            </a:r>
            <a:endParaRPr/>
          </a:p>
        </p:txBody>
      </p:sp>
      <p:pic>
        <p:nvPicPr>
          <p:cNvPr descr="Logotipo&#10;&#10;Descripción generada automáticamente" id="161" name="Google Shape;161;p3"/>
          <p:cNvPicPr preferRelativeResize="0"/>
          <p:nvPr/>
        </p:nvPicPr>
        <p:blipFill rotWithShape="1">
          <a:blip r:embed="rId4">
            <a:alphaModFix/>
          </a:blip>
          <a:srcRect b="0" l="0" r="0" t="0"/>
          <a:stretch/>
        </p:blipFill>
        <p:spPr>
          <a:xfrm>
            <a:off x="713066" y="2738803"/>
            <a:ext cx="4876800" cy="4876800"/>
          </a:xfrm>
          <a:prstGeom prst="rect">
            <a:avLst/>
          </a:prstGeom>
          <a:noFill/>
          <a:ln>
            <a:noFill/>
          </a:ln>
        </p:spPr>
      </p:pic>
      <p:sp>
        <p:nvSpPr>
          <p:cNvPr id="162" name="Google Shape;162;p3"/>
          <p:cNvSpPr/>
          <p:nvPr/>
        </p:nvSpPr>
        <p:spPr>
          <a:xfrm>
            <a:off x="6096001" y="0"/>
            <a:ext cx="6095980" cy="6857999"/>
          </a:xfrm>
          <a:prstGeom prst="rect">
            <a:avLst/>
          </a:prstGeom>
          <a:solidFill>
            <a:schemeClr val="l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3" name="Google Shape;163;p3"/>
          <p:cNvSpPr txBox="1"/>
          <p:nvPr/>
        </p:nvSpPr>
        <p:spPr>
          <a:xfrm>
            <a:off x="6520733" y="2879480"/>
            <a:ext cx="5559898" cy="1890346"/>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Calibri"/>
                <a:ea typeface="Calibri"/>
                <a:cs typeface="Calibri"/>
                <a:sym typeface="Calibri"/>
              </a:rPr>
              <a:t>Plataforma de código abierto que permite a los desarrolladores crear, implementar, y gestionar </a:t>
            </a:r>
            <a:r>
              <a:rPr b="1" i="0" lang="es-ES" sz="2800" u="none" cap="none" strike="noStrike">
                <a:solidFill>
                  <a:schemeClr val="dk1"/>
                </a:solidFill>
                <a:latin typeface="Calibri"/>
                <a:ea typeface="Calibri"/>
                <a:cs typeface="Calibri"/>
                <a:sym typeface="Calibri"/>
              </a:rPr>
              <a:t>contenedores.</a:t>
            </a:r>
            <a:endParaRPr b="1" i="0" sz="2800" u="none" cap="none" strike="noStrike">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8" name="Shape 168"/>
        <p:cNvGrpSpPr/>
        <p:nvPr/>
      </p:nvGrpSpPr>
      <p:grpSpPr>
        <a:xfrm>
          <a:off x="0" y="0"/>
          <a:ext cx="0" cy="0"/>
          <a:chOff x="0" y="0"/>
          <a:chExt cx="0" cy="0"/>
        </a:xfrm>
      </p:grpSpPr>
      <p:sp>
        <p:nvSpPr>
          <p:cNvPr id="169" name="Google Shape;169;p8"/>
          <p:cNvSpPr/>
          <p:nvPr/>
        </p:nvSpPr>
        <p:spPr>
          <a:xfrm>
            <a:off x="5833240" y="0"/>
            <a:ext cx="6358759" cy="6858000"/>
          </a:xfrm>
          <a:prstGeom prst="rect">
            <a:avLst/>
          </a:prstGeom>
          <a:solidFill>
            <a:srgbClr val="757070"/>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0" name="Google Shape;170;p8"/>
          <p:cNvSpPr/>
          <p:nvPr/>
        </p:nvSpPr>
        <p:spPr>
          <a:xfrm>
            <a:off x="6831724" y="1373570"/>
            <a:ext cx="4887310" cy="4110859"/>
          </a:xfrm>
          <a:prstGeom prst="rect">
            <a:avLst/>
          </a:prstGeom>
          <a:solidFill>
            <a:schemeClr val="l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0" i="0" lang="es-ES" sz="4400" u="none" cap="none" strike="noStrike">
                <a:solidFill>
                  <a:schemeClr val="dk1"/>
                </a:solidFill>
                <a:latin typeface="Arial"/>
                <a:ea typeface="Arial"/>
                <a:cs typeface="Arial"/>
                <a:sym typeface="Arial"/>
              </a:rPr>
              <a:t>¿Qué son los contenedores?</a:t>
            </a:r>
            <a:endParaRPr b="0" i="0" sz="4400" u="none" cap="none" strike="noStrike">
              <a:solidFill>
                <a:schemeClr val="dk1"/>
              </a:solidFill>
              <a:latin typeface="Arial"/>
              <a:ea typeface="Arial"/>
              <a:cs typeface="Arial"/>
              <a:sym typeface="Arial"/>
            </a:endParaRPr>
          </a:p>
        </p:txBody>
      </p:sp>
      <p:sp>
        <p:nvSpPr>
          <p:cNvPr id="171" name="Google Shape;171;p8"/>
          <p:cNvSpPr txBox="1"/>
          <p:nvPr/>
        </p:nvSpPr>
        <p:spPr>
          <a:xfrm>
            <a:off x="746235" y="2241837"/>
            <a:ext cx="4614040" cy="26776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s-ES" sz="2400" u="none" cap="none" strike="noStrike">
                <a:solidFill>
                  <a:schemeClr val="lt1"/>
                </a:solidFill>
                <a:latin typeface="Arial"/>
                <a:ea typeface="Arial"/>
                <a:cs typeface="Arial"/>
                <a:sym typeface="Arial"/>
              </a:rPr>
              <a:t>Unidades ejecutables de software donde se empaqueta el código de aplicación, junto con sus bibliotecas y dependencias, de forma común para que se pueda ejecutar en cualquier lugar</a:t>
            </a:r>
            <a:endParaRPr b="0" i="0" sz="2400"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4"/>
          <p:cNvSpPr/>
          <p:nvPr/>
        </p:nvSpPr>
        <p:spPr>
          <a:xfrm>
            <a:off x="-1" y="0"/>
            <a:ext cx="4654295"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7" name="Google Shape;177;p4"/>
          <p:cNvSpPr txBox="1"/>
          <p:nvPr>
            <p:ph type="title"/>
          </p:nvPr>
        </p:nvSpPr>
        <p:spPr>
          <a:xfrm>
            <a:off x="762000" y="559678"/>
            <a:ext cx="3567915" cy="49524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Arquitectura de Docker</a:t>
            </a:r>
            <a:endParaRPr>
              <a:solidFill>
                <a:schemeClr val="lt1"/>
              </a:solidFill>
            </a:endParaRPr>
          </a:p>
        </p:txBody>
      </p:sp>
      <p:cxnSp>
        <p:nvCxnSpPr>
          <p:cNvPr id="178" name="Google Shape;178;p4"/>
          <p:cNvCxnSpPr/>
          <p:nvPr/>
        </p:nvCxnSpPr>
        <p:spPr>
          <a:xfrm>
            <a:off x="0" y="6199730"/>
            <a:ext cx="4297680" cy="0"/>
          </a:xfrm>
          <a:prstGeom prst="straightConnector1">
            <a:avLst/>
          </a:prstGeom>
          <a:noFill/>
          <a:ln cap="flat" cmpd="sng" w="25400">
            <a:solidFill>
              <a:schemeClr val="lt1"/>
            </a:solidFill>
            <a:prstDash val="solid"/>
            <a:miter lim="800000"/>
            <a:headEnd len="sm" w="sm" type="none"/>
            <a:tailEnd len="sm" w="sm" type="none"/>
          </a:ln>
        </p:spPr>
      </p:cxnSp>
      <p:pic>
        <p:nvPicPr>
          <p:cNvPr descr="Qué es Docker y cómo funciona, introducción a Docker |" id="179" name="Google Shape;179;p4"/>
          <p:cNvPicPr preferRelativeResize="0"/>
          <p:nvPr/>
        </p:nvPicPr>
        <p:blipFill rotWithShape="1">
          <a:blip r:embed="rId3">
            <a:alphaModFix/>
          </a:blip>
          <a:srcRect b="0" l="0" r="0" t="0"/>
          <a:stretch/>
        </p:blipFill>
        <p:spPr>
          <a:xfrm>
            <a:off x="4730311" y="1397219"/>
            <a:ext cx="7654181" cy="4246836"/>
          </a:xfrm>
          <a:prstGeom prst="rect">
            <a:avLst/>
          </a:prstGeom>
          <a:noFill/>
          <a:ln>
            <a:noFill/>
          </a:ln>
        </p:spPr>
      </p:pic>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5"/>
          <p:cNvSpPr/>
          <p:nvPr/>
        </p:nvSpPr>
        <p:spPr>
          <a:xfrm>
            <a:off x="-1" y="0"/>
            <a:ext cx="4654295"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6" name="Google Shape;186;p5"/>
          <p:cNvSpPr txBox="1"/>
          <p:nvPr>
            <p:ph type="title"/>
          </p:nvPr>
        </p:nvSpPr>
        <p:spPr>
          <a:xfrm>
            <a:off x="762000" y="559678"/>
            <a:ext cx="3567915" cy="49524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Docker Image</a:t>
            </a:r>
            <a:endParaRPr>
              <a:solidFill>
                <a:schemeClr val="lt1"/>
              </a:solidFill>
            </a:endParaRPr>
          </a:p>
        </p:txBody>
      </p:sp>
      <p:cxnSp>
        <p:nvCxnSpPr>
          <p:cNvPr id="187" name="Google Shape;187;p5"/>
          <p:cNvCxnSpPr/>
          <p:nvPr/>
        </p:nvCxnSpPr>
        <p:spPr>
          <a:xfrm>
            <a:off x="0" y="6199730"/>
            <a:ext cx="4297680" cy="0"/>
          </a:xfrm>
          <a:prstGeom prst="straightConnector1">
            <a:avLst/>
          </a:prstGeom>
          <a:noFill/>
          <a:ln cap="flat" cmpd="sng" w="25400">
            <a:solidFill>
              <a:schemeClr val="lt1"/>
            </a:solidFill>
            <a:prstDash val="solid"/>
            <a:miter lim="800000"/>
            <a:headEnd len="sm" w="sm" type="none"/>
            <a:tailEnd len="sm" w="sm" type="none"/>
          </a:ln>
        </p:spPr>
      </p:cxnSp>
      <p:grpSp>
        <p:nvGrpSpPr>
          <p:cNvPr id="188" name="Google Shape;188;p5"/>
          <p:cNvGrpSpPr/>
          <p:nvPr/>
        </p:nvGrpSpPr>
        <p:grpSpPr>
          <a:xfrm>
            <a:off x="5885793" y="552021"/>
            <a:ext cx="6211614" cy="3151730"/>
            <a:chOff x="1647825" y="9615"/>
            <a:chExt cx="6211614" cy="6046607"/>
          </a:xfrm>
        </p:grpSpPr>
        <p:sp>
          <p:nvSpPr>
            <p:cNvPr id="189" name="Google Shape;189;p5"/>
            <p:cNvSpPr txBox="1"/>
            <p:nvPr/>
          </p:nvSpPr>
          <p:spPr>
            <a:xfrm>
              <a:off x="1647825" y="656786"/>
              <a:ext cx="5750006" cy="4897821"/>
            </a:xfrm>
            <a:prstGeom prst="rect">
              <a:avLst/>
            </a:prstGeom>
            <a:noFill/>
            <a:ln>
              <a:noFill/>
            </a:ln>
          </p:spPr>
          <p:txBody>
            <a:bodyPr anchorCtr="0" anchor="ctr" bIns="182825" lIns="182825" spcFirstLastPara="1" rIns="182825" wrap="square" tIns="182825">
              <a:noAutofit/>
            </a:bodyPr>
            <a:lstStyle/>
            <a:p>
              <a:pPr indent="0" lvl="0" marL="0" marR="0" rtl="0" algn="just">
                <a:lnSpc>
                  <a:spcPct val="100000"/>
                </a:lnSpc>
                <a:spcBef>
                  <a:spcPts val="0"/>
                </a:spcBef>
                <a:spcAft>
                  <a:spcPts val="0"/>
                </a:spcAft>
                <a:buClr>
                  <a:schemeClr val="dk1"/>
                </a:buClr>
                <a:buSzPts val="2500"/>
                <a:buFont typeface="Calibri"/>
                <a:buNone/>
              </a:pPr>
              <a:r>
                <a:rPr b="0" i="0" lang="es-ES" sz="2400" u="none" cap="none" strike="noStrike">
                  <a:solidFill>
                    <a:srgbClr val="333333"/>
                  </a:solidFill>
                  <a:latin typeface="Arial"/>
                  <a:ea typeface="Arial"/>
                  <a:cs typeface="Arial"/>
                  <a:sym typeface="Arial"/>
                </a:rPr>
                <a:t>Es una plantilla de solo lectura que define su contenedor. La imagen contiene el código que se ejecutará, incluida cualquier definición para cualquier biblioteca o dependencia que el código necesite.</a:t>
              </a:r>
              <a:endParaRPr b="0" i="0" sz="1800" u="none" cap="none" strike="noStrike">
                <a:solidFill>
                  <a:schemeClr val="dk1"/>
                </a:solidFill>
                <a:latin typeface="Calibri"/>
                <a:ea typeface="Calibri"/>
                <a:cs typeface="Calibri"/>
                <a:sym typeface="Calibri"/>
              </a:endParaRPr>
            </a:p>
          </p:txBody>
        </p:sp>
        <p:sp>
          <p:nvSpPr>
            <p:cNvPr id="190" name="Google Shape;190;p5"/>
            <p:cNvSpPr/>
            <p:nvPr/>
          </p:nvSpPr>
          <p:spPr>
            <a:xfrm>
              <a:off x="5242786" y="9615"/>
              <a:ext cx="2155045" cy="172760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5"/>
            <p:cNvSpPr/>
            <p:nvPr/>
          </p:nvSpPr>
          <p:spPr>
            <a:xfrm>
              <a:off x="1843790" y="2169117"/>
              <a:ext cx="3398996" cy="172760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5"/>
            <p:cNvSpPr/>
            <p:nvPr/>
          </p:nvSpPr>
          <p:spPr>
            <a:xfrm>
              <a:off x="4935703" y="2169117"/>
              <a:ext cx="2769211" cy="172760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5"/>
            <p:cNvSpPr txBox="1"/>
            <p:nvPr/>
          </p:nvSpPr>
          <p:spPr>
            <a:xfrm>
              <a:off x="4061025" y="2169125"/>
              <a:ext cx="3798414" cy="1727594"/>
            </a:xfrm>
            <a:prstGeom prst="rect">
              <a:avLst/>
            </a:prstGeom>
            <a:noFill/>
            <a:ln>
              <a:noFill/>
            </a:ln>
          </p:spPr>
          <p:txBody>
            <a:bodyPr anchorCtr="0" anchor="ctr" bIns="182825" lIns="182825" spcFirstLastPara="1" rIns="182825" wrap="square" tIns="182825">
              <a:noAutofit/>
            </a:bodyPr>
            <a:lstStyle/>
            <a:p>
              <a:pPr indent="0" lvl="0" marL="0" marR="0" rtl="0" algn="l">
                <a:lnSpc>
                  <a:spcPct val="100000"/>
                </a:lnSpc>
                <a:spcBef>
                  <a:spcPts val="49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94" name="Google Shape;194;p5"/>
            <p:cNvSpPr/>
            <p:nvPr/>
          </p:nvSpPr>
          <p:spPr>
            <a:xfrm>
              <a:off x="1843790" y="4328620"/>
              <a:ext cx="3398996" cy="172760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5"/>
            <p:cNvSpPr/>
            <p:nvPr/>
          </p:nvSpPr>
          <p:spPr>
            <a:xfrm>
              <a:off x="5242786" y="4328620"/>
              <a:ext cx="2155045" cy="172760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What Is a Docker Image? | Packagecloud Blog" id="196" name="Google Shape;196;p5"/>
          <p:cNvPicPr preferRelativeResize="0"/>
          <p:nvPr/>
        </p:nvPicPr>
        <p:blipFill rotWithShape="1">
          <a:blip r:embed="rId3">
            <a:alphaModFix/>
          </a:blip>
          <a:srcRect b="0" l="0" r="0" t="0"/>
          <a:stretch/>
        </p:blipFill>
        <p:spPr>
          <a:xfrm>
            <a:off x="5968270" y="3703507"/>
            <a:ext cx="5461730" cy="3072223"/>
          </a:xfrm>
          <a:prstGeom prst="rect">
            <a:avLst/>
          </a:prstGeom>
          <a:noFill/>
          <a:ln>
            <a:noFill/>
          </a:ln>
        </p:spPr>
      </p:pic>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201" name="Shape 201"/>
        <p:cNvGrpSpPr/>
        <p:nvPr/>
      </p:nvGrpSpPr>
      <p:grpSpPr>
        <a:xfrm>
          <a:off x="0" y="0"/>
          <a:ext cx="0" cy="0"/>
          <a:chOff x="0" y="0"/>
          <a:chExt cx="0" cy="0"/>
        </a:xfrm>
      </p:grpSpPr>
      <p:sp>
        <p:nvSpPr>
          <p:cNvPr id="202" name="Google Shape;202;p6"/>
          <p:cNvSpPr txBox="1"/>
          <p:nvPr>
            <p:ph type="title"/>
          </p:nvPr>
        </p:nvSpPr>
        <p:spPr>
          <a:xfrm>
            <a:off x="8042354" y="1008733"/>
            <a:ext cx="3732244" cy="410449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11111"/>
              <a:buFont typeface="Calibri"/>
              <a:buNone/>
            </a:pPr>
            <a:r>
              <a:rPr lang="es-ES"/>
              <a:t>¿Es un contenedor lo mismo que una imagen?</a:t>
            </a:r>
            <a:br>
              <a:rPr lang="es-ES"/>
            </a:br>
            <a:br>
              <a:rPr lang="es-ES"/>
            </a:br>
            <a:br>
              <a:rPr lang="es-ES"/>
            </a:br>
            <a:r>
              <a:rPr lang="es-ES"/>
              <a:t>Respuesta: No</a:t>
            </a:r>
            <a:endParaRPr/>
          </a:p>
        </p:txBody>
      </p:sp>
      <p:sp>
        <p:nvSpPr>
          <p:cNvPr id="203" name="Google Shape;203;p6"/>
          <p:cNvSpPr/>
          <p:nvPr/>
        </p:nvSpPr>
        <p:spPr>
          <a:xfrm>
            <a:off x="0" y="0"/>
            <a:ext cx="7536523"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 name="Google Shape;204;p6"/>
          <p:cNvSpPr/>
          <p:nvPr/>
        </p:nvSpPr>
        <p:spPr>
          <a:xfrm>
            <a:off x="626285" y="650014"/>
            <a:ext cx="3367217" cy="326602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 name="Google Shape;205;p6"/>
          <p:cNvSpPr/>
          <p:nvPr/>
        </p:nvSpPr>
        <p:spPr>
          <a:xfrm>
            <a:off x="4152946" y="650014"/>
            <a:ext cx="2765758" cy="213673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 name="Google Shape;206;p6"/>
          <p:cNvSpPr/>
          <p:nvPr/>
        </p:nvSpPr>
        <p:spPr>
          <a:xfrm>
            <a:off x="626285" y="4088215"/>
            <a:ext cx="3367217" cy="212485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 name="Google Shape;207;p6"/>
          <p:cNvSpPr/>
          <p:nvPr/>
        </p:nvSpPr>
        <p:spPr>
          <a:xfrm>
            <a:off x="4152946" y="2947051"/>
            <a:ext cx="2765758" cy="326602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208" name="Google Shape;208;p6"/>
          <p:cNvPicPr preferRelativeResize="0"/>
          <p:nvPr/>
        </p:nvPicPr>
        <p:blipFill rotWithShape="1">
          <a:blip r:embed="rId3">
            <a:alphaModFix/>
          </a:blip>
          <a:srcRect b="0" l="0" r="0" t="0"/>
          <a:stretch/>
        </p:blipFill>
        <p:spPr>
          <a:xfrm>
            <a:off x="1516543" y="2007126"/>
            <a:ext cx="4766976" cy="2843748"/>
          </a:xfrm>
          <a:prstGeom prst="rect">
            <a:avLst/>
          </a:prstGeom>
          <a:noFill/>
          <a:ln>
            <a:noFill/>
          </a:ln>
        </p:spPr>
      </p:pic>
    </p:spTree>
  </p:cSld>
  <p:clrMapOvr>
    <a:masterClrMapping/>
  </p:clrMapOvr>
  <p:transition spd="slow">
    <p:wipe dir="l"/>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3" name="Shape 213"/>
        <p:cNvGrpSpPr/>
        <p:nvPr/>
      </p:nvGrpSpPr>
      <p:grpSpPr>
        <a:xfrm>
          <a:off x="0" y="0"/>
          <a:ext cx="0" cy="0"/>
          <a:chOff x="0" y="0"/>
          <a:chExt cx="0" cy="0"/>
        </a:xfrm>
      </p:grpSpPr>
      <p:sp>
        <p:nvSpPr>
          <p:cNvPr id="214" name="Google Shape;214;p9"/>
          <p:cNvSpPr/>
          <p:nvPr/>
        </p:nvSpPr>
        <p:spPr>
          <a:xfrm>
            <a:off x="0" y="0"/>
            <a:ext cx="6358759" cy="6858000"/>
          </a:xfrm>
          <a:prstGeom prst="rect">
            <a:avLst/>
          </a:prstGeom>
          <a:solidFill>
            <a:srgbClr val="757070"/>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5" name="Google Shape;215;p9"/>
          <p:cNvSpPr/>
          <p:nvPr/>
        </p:nvSpPr>
        <p:spPr>
          <a:xfrm>
            <a:off x="641129" y="657881"/>
            <a:ext cx="5076497" cy="5542238"/>
          </a:xfrm>
          <a:prstGeom prst="rect">
            <a:avLst/>
          </a:prstGeom>
          <a:solidFill>
            <a:schemeClr val="l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0" i="0" lang="es-ES" sz="4400" u="none" cap="none" strike="noStrike">
                <a:solidFill>
                  <a:schemeClr val="dk1"/>
                </a:solidFill>
                <a:latin typeface="Arial"/>
                <a:ea typeface="Arial"/>
                <a:cs typeface="Arial"/>
                <a:sym typeface="Arial"/>
              </a:rPr>
              <a:t>Dockerfile: la forma de definir un contenedor</a:t>
            </a:r>
            <a:endParaRPr b="0" i="0" sz="4400" u="none" cap="none" strike="noStrike">
              <a:solidFill>
                <a:schemeClr val="dk1"/>
              </a:solidFill>
              <a:latin typeface="Arial"/>
              <a:ea typeface="Arial"/>
              <a:cs typeface="Arial"/>
              <a:sym typeface="Arial"/>
            </a:endParaRPr>
          </a:p>
        </p:txBody>
      </p:sp>
      <p:pic>
        <p:nvPicPr>
          <p:cNvPr descr="Cách viết Dockerfile - Khánh website" id="216" name="Google Shape;216;p9"/>
          <p:cNvPicPr preferRelativeResize="0"/>
          <p:nvPr/>
        </p:nvPicPr>
        <p:blipFill rotWithShape="1">
          <a:blip r:embed="rId3">
            <a:alphaModFix/>
          </a:blip>
          <a:srcRect b="0" l="0" r="0" t="0"/>
          <a:stretch/>
        </p:blipFill>
        <p:spPr>
          <a:xfrm>
            <a:off x="2581744" y="4481889"/>
            <a:ext cx="1195269" cy="1519518"/>
          </a:xfrm>
          <a:prstGeom prst="rect">
            <a:avLst/>
          </a:prstGeom>
          <a:noFill/>
          <a:ln>
            <a:noFill/>
          </a:ln>
        </p:spPr>
      </p:pic>
      <p:sp>
        <p:nvSpPr>
          <p:cNvPr id="217" name="Google Shape;217;p9"/>
          <p:cNvSpPr txBox="1"/>
          <p:nvPr/>
        </p:nvSpPr>
        <p:spPr>
          <a:xfrm>
            <a:off x="6999888" y="848482"/>
            <a:ext cx="4376104" cy="575542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s-ES" sz="2400" u="none" cap="none" strike="noStrike">
                <a:solidFill>
                  <a:srgbClr val="E6E6E6"/>
                </a:solidFill>
                <a:latin typeface="Arial"/>
                <a:ea typeface="Arial"/>
                <a:cs typeface="Arial"/>
                <a:sym typeface="Arial"/>
              </a:rPr>
              <a:t>Archivo de texto que contiene las instrucciones necesarias para crear una nueva imagen del contenedor.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E6E6E6"/>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s-ES" sz="2400" u="none" cap="none" strike="noStrike">
                <a:solidFill>
                  <a:srgbClr val="E6E6E6"/>
                </a:solidFill>
                <a:latin typeface="Arial"/>
                <a:ea typeface="Arial"/>
                <a:cs typeface="Arial"/>
                <a:sym typeface="Arial"/>
              </a:rPr>
              <a:t>Estas instrucciones incluyen la identificación de una imagen existente que se usará como base, los comandos que se ejecutarán durante el proceso de creación de la imagen y un comando que se ejecutará cuando se implementen instancias nuevas de la imagen del contenedor.</a:t>
            </a:r>
            <a:endParaRPr b="0" i="0" sz="2400" u="none" cap="none" strike="noStrike">
              <a:solidFill>
                <a:srgbClr val="000000"/>
              </a:solidFill>
              <a:latin typeface="Arial"/>
              <a:ea typeface="Arial"/>
              <a:cs typeface="Arial"/>
              <a:sym typeface="Arial"/>
            </a:endParaRPr>
          </a:p>
        </p:txBody>
      </p:sp>
    </p:spTree>
  </p:cSld>
  <p:clrMapOvr>
    <a:masterClrMapping/>
  </p:clrMapOvr>
  <p:transition spd="slow">
    <p:wipe dir="l"/>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2" name="Shape 222"/>
        <p:cNvGrpSpPr/>
        <p:nvPr/>
      </p:nvGrpSpPr>
      <p:grpSpPr>
        <a:xfrm>
          <a:off x="0" y="0"/>
          <a:ext cx="0" cy="0"/>
          <a:chOff x="0" y="0"/>
          <a:chExt cx="0" cy="0"/>
        </a:xfrm>
      </p:grpSpPr>
      <p:sp>
        <p:nvSpPr>
          <p:cNvPr id="223" name="Google Shape;223;p10"/>
          <p:cNvSpPr/>
          <p:nvPr/>
        </p:nvSpPr>
        <p:spPr>
          <a:xfrm>
            <a:off x="5833240" y="0"/>
            <a:ext cx="6358759" cy="6858000"/>
          </a:xfrm>
          <a:prstGeom prst="rect">
            <a:avLst/>
          </a:prstGeom>
          <a:solidFill>
            <a:srgbClr val="757070"/>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4" name="Google Shape;224;p10"/>
          <p:cNvSpPr/>
          <p:nvPr/>
        </p:nvSpPr>
        <p:spPr>
          <a:xfrm>
            <a:off x="6831724" y="1373570"/>
            <a:ext cx="4887310" cy="4110859"/>
          </a:xfrm>
          <a:prstGeom prst="rect">
            <a:avLst/>
          </a:prstGeom>
          <a:solidFill>
            <a:schemeClr val="l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0" i="0" lang="es-ES" sz="4400" u="none" cap="none" strike="noStrike">
                <a:solidFill>
                  <a:schemeClr val="dk1"/>
                </a:solidFill>
                <a:latin typeface="Arial"/>
                <a:ea typeface="Arial"/>
                <a:cs typeface="Arial"/>
                <a:sym typeface="Arial"/>
              </a:rPr>
              <a:t>Ejemplo de Dockerfile</a:t>
            </a:r>
            <a:endParaRPr b="0" i="0" sz="4400" u="none" cap="none" strike="noStrike">
              <a:solidFill>
                <a:schemeClr val="dk1"/>
              </a:solidFill>
              <a:latin typeface="Arial"/>
              <a:ea typeface="Arial"/>
              <a:cs typeface="Arial"/>
              <a:sym typeface="Arial"/>
            </a:endParaRPr>
          </a:p>
        </p:txBody>
      </p:sp>
      <p:sp>
        <p:nvSpPr>
          <p:cNvPr id="225" name="Google Shape;225;p10"/>
          <p:cNvSpPr txBox="1"/>
          <p:nvPr/>
        </p:nvSpPr>
        <p:spPr>
          <a:xfrm>
            <a:off x="746235" y="2241837"/>
            <a:ext cx="4614040" cy="26776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s-ES" sz="2400" u="none" cap="none" strike="noStrike">
                <a:solidFill>
                  <a:schemeClr val="lt1"/>
                </a:solidFill>
                <a:latin typeface="Arial"/>
                <a:ea typeface="Arial"/>
                <a:cs typeface="Arial"/>
                <a:sym typeface="Arial"/>
              </a:rPr>
              <a:t>Unidades ejecutables de software donde se empaqueta el código de aplicación, junto con sus bibliotecas y dependencias, de forma común para que se pueda ejecutar en cualquier lugar</a:t>
            </a:r>
            <a:endParaRPr b="0" i="0" sz="2400" u="none" cap="none" strike="noStrike">
              <a:solidFill>
                <a:schemeClr val="lt1"/>
              </a:solidFill>
              <a:latin typeface="Arial"/>
              <a:ea typeface="Arial"/>
              <a:cs typeface="Arial"/>
              <a:sym typeface="Arial"/>
            </a:endParaRPr>
          </a:p>
        </p:txBody>
      </p:sp>
      <p:pic>
        <p:nvPicPr>
          <p:cNvPr id="226" name="Google Shape;226;p10"/>
          <p:cNvPicPr preferRelativeResize="0"/>
          <p:nvPr/>
        </p:nvPicPr>
        <p:blipFill rotWithShape="1">
          <a:blip r:embed="rId3">
            <a:alphaModFix/>
          </a:blip>
          <a:srcRect b="0" l="0" r="0" t="0"/>
          <a:stretch/>
        </p:blipFill>
        <p:spPr>
          <a:xfrm>
            <a:off x="105103" y="2067904"/>
            <a:ext cx="5632393" cy="2851589"/>
          </a:xfrm>
          <a:prstGeom prst="rect">
            <a:avLst/>
          </a:prstGeom>
          <a:noFill/>
          <a:ln>
            <a:noFill/>
          </a:ln>
        </p:spPr>
      </p:pic>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3F3F"/>
        </a:solidFill>
      </p:bgPr>
    </p:bg>
    <p:spTree>
      <p:nvGrpSpPr>
        <p:cNvPr id="231" name="Shape 231"/>
        <p:cNvGrpSpPr/>
        <p:nvPr/>
      </p:nvGrpSpPr>
      <p:grpSpPr>
        <a:xfrm>
          <a:off x="0" y="0"/>
          <a:ext cx="0" cy="0"/>
          <a:chOff x="0" y="0"/>
          <a:chExt cx="0" cy="0"/>
        </a:xfrm>
      </p:grpSpPr>
      <p:sp>
        <p:nvSpPr>
          <p:cNvPr id="232" name="Google Shape;232;p29"/>
          <p:cNvSpPr txBox="1"/>
          <p:nvPr>
            <p:ph type="title"/>
          </p:nvPr>
        </p:nvSpPr>
        <p:spPr>
          <a:xfrm>
            <a:off x="8042354" y="1008733"/>
            <a:ext cx="3732244" cy="41044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Flujo de un contenedor de docker</a:t>
            </a:r>
            <a:endParaRPr>
              <a:solidFill>
                <a:schemeClr val="lt1"/>
              </a:solidFill>
            </a:endParaRPr>
          </a:p>
        </p:txBody>
      </p:sp>
      <p:sp>
        <p:nvSpPr>
          <p:cNvPr id="233" name="Google Shape;233;p29"/>
          <p:cNvSpPr/>
          <p:nvPr/>
        </p:nvSpPr>
        <p:spPr>
          <a:xfrm>
            <a:off x="0" y="0"/>
            <a:ext cx="7536523"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4" name="Google Shape;234;p29"/>
          <p:cNvSpPr/>
          <p:nvPr/>
        </p:nvSpPr>
        <p:spPr>
          <a:xfrm>
            <a:off x="626285" y="650014"/>
            <a:ext cx="3367217" cy="326602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5" name="Google Shape;235;p29"/>
          <p:cNvSpPr/>
          <p:nvPr/>
        </p:nvSpPr>
        <p:spPr>
          <a:xfrm>
            <a:off x="4152946" y="650014"/>
            <a:ext cx="2765758" cy="213673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 name="Google Shape;236;p29"/>
          <p:cNvSpPr/>
          <p:nvPr/>
        </p:nvSpPr>
        <p:spPr>
          <a:xfrm>
            <a:off x="626285" y="4088215"/>
            <a:ext cx="3367217" cy="212485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7" name="Google Shape;237;p29"/>
          <p:cNvSpPr/>
          <p:nvPr/>
        </p:nvSpPr>
        <p:spPr>
          <a:xfrm>
            <a:off x="4152946" y="2947051"/>
            <a:ext cx="2765758" cy="326602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Las 10 Instrucciones Imprescindibles para Crear un Dockerfile | by Juan  Pujol | Medium" id="238" name="Google Shape;238;p29"/>
          <p:cNvPicPr preferRelativeResize="0"/>
          <p:nvPr/>
        </p:nvPicPr>
        <p:blipFill rotWithShape="1">
          <a:blip r:embed="rId3">
            <a:alphaModFix/>
          </a:blip>
          <a:srcRect b="0" l="0" r="0" t="0"/>
          <a:stretch/>
        </p:blipFill>
        <p:spPr>
          <a:xfrm>
            <a:off x="-19443" y="2235993"/>
            <a:ext cx="7555966" cy="2520623"/>
          </a:xfrm>
          <a:prstGeom prst="rect">
            <a:avLst/>
          </a:prstGeom>
          <a:noFill/>
          <a:ln>
            <a:noFill/>
          </a:ln>
        </p:spPr>
      </p:pic>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p:nvPr/>
        </p:nvSpPr>
        <p:spPr>
          <a:xfrm>
            <a:off x="-1" y="0"/>
            <a:ext cx="4654295"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5" name="Google Shape;245;p30"/>
          <p:cNvSpPr txBox="1"/>
          <p:nvPr>
            <p:ph type="title"/>
          </p:nvPr>
        </p:nvSpPr>
        <p:spPr>
          <a:xfrm>
            <a:off x="762000" y="559678"/>
            <a:ext cx="3567915" cy="49524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Como desplegar un contenedor</a:t>
            </a:r>
            <a:endParaRPr>
              <a:solidFill>
                <a:schemeClr val="lt1"/>
              </a:solidFill>
            </a:endParaRPr>
          </a:p>
        </p:txBody>
      </p:sp>
      <p:cxnSp>
        <p:nvCxnSpPr>
          <p:cNvPr id="246" name="Google Shape;246;p30"/>
          <p:cNvCxnSpPr/>
          <p:nvPr/>
        </p:nvCxnSpPr>
        <p:spPr>
          <a:xfrm>
            <a:off x="0" y="6199730"/>
            <a:ext cx="4297680" cy="0"/>
          </a:xfrm>
          <a:prstGeom prst="straightConnector1">
            <a:avLst/>
          </a:prstGeom>
          <a:noFill/>
          <a:ln cap="flat" cmpd="sng" w="25400">
            <a:solidFill>
              <a:schemeClr val="lt1"/>
            </a:solidFill>
            <a:prstDash val="solid"/>
            <a:miter lim="800000"/>
            <a:headEnd len="sm" w="sm" type="none"/>
            <a:tailEnd len="sm" w="sm" type="none"/>
          </a:ln>
        </p:spPr>
      </p:cxnSp>
      <p:grpSp>
        <p:nvGrpSpPr>
          <p:cNvPr id="247" name="Google Shape;247;p30"/>
          <p:cNvGrpSpPr/>
          <p:nvPr/>
        </p:nvGrpSpPr>
        <p:grpSpPr>
          <a:xfrm>
            <a:off x="6081758" y="1677638"/>
            <a:ext cx="5861124" cy="2026112"/>
            <a:chOff x="1843790" y="2169117"/>
            <a:chExt cx="5861124" cy="3887105"/>
          </a:xfrm>
        </p:grpSpPr>
        <p:sp>
          <p:nvSpPr>
            <p:cNvPr id="248" name="Google Shape;248;p30"/>
            <p:cNvSpPr/>
            <p:nvPr/>
          </p:nvSpPr>
          <p:spPr>
            <a:xfrm>
              <a:off x="1843790" y="2169117"/>
              <a:ext cx="3398996" cy="172760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30"/>
            <p:cNvSpPr/>
            <p:nvPr/>
          </p:nvSpPr>
          <p:spPr>
            <a:xfrm>
              <a:off x="4935703" y="2169117"/>
              <a:ext cx="2769211" cy="172760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30"/>
            <p:cNvSpPr/>
            <p:nvPr/>
          </p:nvSpPr>
          <p:spPr>
            <a:xfrm>
              <a:off x="1843790" y="4328620"/>
              <a:ext cx="3398996" cy="172760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0"/>
            <p:cNvSpPr/>
            <p:nvPr/>
          </p:nvSpPr>
          <p:spPr>
            <a:xfrm>
              <a:off x="5242786" y="4328620"/>
              <a:ext cx="2155045" cy="172760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aphicFrame>
        <p:nvGraphicFramePr>
          <p:cNvPr id="252" name="Google Shape;252;p30"/>
          <p:cNvGraphicFramePr/>
          <p:nvPr/>
        </p:nvGraphicFramePr>
        <p:xfrm>
          <a:off x="4782207" y="1126604"/>
          <a:ext cx="3000000" cy="3000000"/>
        </p:xfrm>
        <a:graphic>
          <a:graphicData uri="http://schemas.openxmlformats.org/drawingml/2006/table">
            <a:tbl>
              <a:tblPr bandRow="1" firstRow="1">
                <a:noFill/>
                <a:tableStyleId>{01082BB6-F095-4B3F-9BDF-5904AAA7983B}</a:tableStyleId>
              </a:tblPr>
              <a:tblGrid>
                <a:gridCol w="3655650"/>
                <a:gridCol w="3608700"/>
              </a:tblGrid>
              <a:tr h="474525">
                <a:tc>
                  <a:txBody>
                    <a:bodyPr/>
                    <a:lstStyle/>
                    <a:p>
                      <a:pPr indent="0" lvl="0" marL="0" marR="0" rtl="0" algn="l">
                        <a:lnSpc>
                          <a:spcPct val="100000"/>
                        </a:lnSpc>
                        <a:spcBef>
                          <a:spcPts val="0"/>
                        </a:spcBef>
                        <a:spcAft>
                          <a:spcPts val="0"/>
                        </a:spcAft>
                        <a:buClr>
                          <a:srgbClr val="000000"/>
                        </a:buClr>
                        <a:buSzPts val="1400"/>
                        <a:buFont typeface="Arial"/>
                        <a:buNone/>
                      </a:pPr>
                      <a:r>
                        <a:rPr b="1" lang="es-ES" sz="1400" u="none" cap="none" strike="noStrike">
                          <a:latin typeface="Arial"/>
                          <a:ea typeface="Arial"/>
                          <a:cs typeface="Arial"/>
                          <a:sym typeface="Arial"/>
                        </a:rPr>
                        <a:t>Comando</a:t>
                      </a:r>
                      <a:endParaRPr sz="1400" u="none" cap="none" strike="noStrike">
                        <a:latin typeface="Arial"/>
                        <a:ea typeface="Arial"/>
                        <a:cs typeface="Arial"/>
                        <a:sym typeface="Arial"/>
                      </a:endParaRPr>
                    </a:p>
                  </a:txBody>
                  <a:tcPr marT="190500" marB="95250" marR="190500" marL="190500"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s-ES" sz="1400" u="none" cap="none" strike="noStrike">
                          <a:latin typeface="Arial"/>
                          <a:ea typeface="Arial"/>
                          <a:cs typeface="Arial"/>
                          <a:sym typeface="Arial"/>
                        </a:rPr>
                        <a:t>Explicación</a:t>
                      </a:r>
                      <a:endParaRPr sz="1400" u="none" cap="none" strike="noStrike">
                        <a:latin typeface="Arial"/>
                        <a:ea typeface="Arial"/>
                        <a:cs typeface="Arial"/>
                        <a:sym typeface="Arial"/>
                      </a:endParaRPr>
                    </a:p>
                  </a:txBody>
                  <a:tcPr marT="190500" marB="95250" marR="190500" marL="190500" anchor="ctr"/>
                </a:tc>
              </a:tr>
              <a:tr h="677375">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latin typeface="Arial"/>
                          <a:ea typeface="Arial"/>
                          <a:cs typeface="Arial"/>
                          <a:sym typeface="Arial"/>
                        </a:rPr>
                        <a:t>docker build</a:t>
                      </a:r>
                      <a:endParaRPr sz="1400" u="none" cap="none" strike="noStrike"/>
                    </a:p>
                  </a:txBody>
                  <a:tcPr marT="190500" marB="95250" marR="190500" marL="190500" anchor="ctr"/>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latin typeface="Arial"/>
                          <a:ea typeface="Arial"/>
                          <a:cs typeface="Arial"/>
                          <a:sym typeface="Arial"/>
                        </a:rPr>
                        <a:t>Construye una imagen a partir de un Dockerfile en el directorio actual</a:t>
                      </a:r>
                      <a:endParaRPr sz="1400" u="none" cap="none" strike="noStrike"/>
                    </a:p>
                  </a:txBody>
                  <a:tcPr marT="190500" marB="95250" marR="190500" marL="190500" anchor="ctr"/>
                </a:tc>
              </a:tr>
              <a:tr h="677375">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latin typeface="Arial"/>
                          <a:ea typeface="Arial"/>
                          <a:cs typeface="Arial"/>
                          <a:sym typeface="Arial"/>
                        </a:rPr>
                        <a:t>docker build https://github.com/docker</a:t>
                      </a:r>
                      <a:br>
                        <a:rPr lang="es-ES" sz="1400" u="none" cap="none" strike="noStrike">
                          <a:latin typeface="Arial"/>
                          <a:ea typeface="Arial"/>
                          <a:cs typeface="Arial"/>
                          <a:sym typeface="Arial"/>
                        </a:rPr>
                      </a:br>
                      <a:r>
                        <a:rPr lang="es-ES" sz="1400" u="none" cap="none" strike="noStrike">
                          <a:latin typeface="Arial"/>
                          <a:ea typeface="Arial"/>
                          <a:cs typeface="Arial"/>
                          <a:sym typeface="Arial"/>
                        </a:rPr>
                        <a:t>/rootfs.git#contenedor:docker</a:t>
                      </a:r>
                      <a:endParaRPr sz="1400" u="none" cap="none" strike="noStrike"/>
                    </a:p>
                  </a:txBody>
                  <a:tcPr marT="190500" marB="95250" marR="190500" marL="190500" anchor="ctr"/>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latin typeface="Arial"/>
                          <a:ea typeface="Arial"/>
                          <a:cs typeface="Arial"/>
                          <a:sym typeface="Arial"/>
                        </a:rPr>
                        <a:t>Construye una imagen desde un repositorio GIT remoto</a:t>
                      </a:r>
                      <a:endParaRPr sz="1400" u="none" cap="none" strike="noStrike"/>
                    </a:p>
                  </a:txBody>
                  <a:tcPr marT="190500" marB="95250" marR="190500" marL="190500" anchor="ctr"/>
                </a:tc>
              </a:tr>
              <a:tr h="677375">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latin typeface="Arial"/>
                          <a:ea typeface="Arial"/>
                          <a:cs typeface="Arial"/>
                          <a:sym typeface="Arial"/>
                        </a:rPr>
                        <a:t>docker build -t imagename/tag</a:t>
                      </a:r>
                      <a:endParaRPr sz="1400" u="none" cap="none" strike="noStrike"/>
                    </a:p>
                  </a:txBody>
                  <a:tcPr marT="190500" marB="95250" marR="190500" marL="190500" anchor="ctr"/>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latin typeface="Arial"/>
                          <a:ea typeface="Arial"/>
                          <a:cs typeface="Arial"/>
                          <a:sym typeface="Arial"/>
                        </a:rPr>
                        <a:t>Construye y etiqueta una imagen para facilitar su seguimiento</a:t>
                      </a:r>
                      <a:endParaRPr sz="1400" u="none" cap="none" strike="noStrike"/>
                    </a:p>
                  </a:txBody>
                  <a:tcPr marT="190500" marB="95250" marR="190500" marL="190500" anchor="ctr"/>
                </a:tc>
              </a:tr>
              <a:tr h="677375">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latin typeface="Arial"/>
                          <a:ea typeface="Arial"/>
                          <a:cs typeface="Arial"/>
                          <a:sym typeface="Arial"/>
                        </a:rPr>
                        <a:t>docker build https://yourserver/file.tar.gz</a:t>
                      </a:r>
                      <a:endParaRPr sz="1400" u="none" cap="none" strike="noStrike"/>
                    </a:p>
                  </a:txBody>
                  <a:tcPr marT="190500" marB="95250" marR="190500" marL="190500" anchor="ctr"/>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latin typeface="Arial"/>
                          <a:ea typeface="Arial"/>
                          <a:cs typeface="Arial"/>
                          <a:sym typeface="Arial"/>
                        </a:rPr>
                        <a:t>Crea una imagen a partir de un archivo tar remoto</a:t>
                      </a:r>
                      <a:endParaRPr sz="1400" u="none" cap="none" strike="noStrike"/>
                    </a:p>
                  </a:txBody>
                  <a:tcPr marT="190500" marB="95250" marR="190500" marL="190500" anchor="ctr"/>
                </a:tc>
              </a:tr>
              <a:tr h="880225">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latin typeface="Arial"/>
                          <a:ea typeface="Arial"/>
                          <a:cs typeface="Arial"/>
                          <a:sym typeface="Arial"/>
                        </a:rPr>
                        <a:t>docker build -t imagen:1.0-&lt;&lt;EOFFROM busyboxRUN echo «hola mundo «EOF</a:t>
                      </a:r>
                      <a:endParaRPr sz="1400" u="none" cap="none" strike="noStrike"/>
                    </a:p>
                  </a:txBody>
                  <a:tcPr marT="190500" marB="95250" marR="190500" marL="190500" anchor="ctr"/>
                </a:tc>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latin typeface="Arial"/>
                          <a:ea typeface="Arial"/>
                          <a:cs typeface="Arial"/>
                          <a:sym typeface="Arial"/>
                        </a:rPr>
                        <a:t>Construye una imagen mediante un archivo Dockerfile que se pasa a través de STDIN</a:t>
                      </a:r>
                      <a:endParaRPr sz="1400" u="none" cap="none" strike="noStrike"/>
                    </a:p>
                  </a:txBody>
                  <a:tcPr marT="190500" marB="95250" marR="190500" marL="190500" anchor="ctr"/>
                </a:tc>
              </a:tr>
            </a:tbl>
          </a:graphicData>
        </a:graphic>
      </p:graphicFrame>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6" name="Shape 256"/>
        <p:cNvGrpSpPr/>
        <p:nvPr/>
      </p:nvGrpSpPr>
      <p:grpSpPr>
        <a:xfrm>
          <a:off x="0" y="0"/>
          <a:ext cx="0" cy="0"/>
          <a:chOff x="0" y="0"/>
          <a:chExt cx="0" cy="0"/>
        </a:xfrm>
      </p:grpSpPr>
      <p:pic>
        <p:nvPicPr>
          <p:cNvPr id="257" name="Google Shape;257;p31"/>
          <p:cNvPicPr preferRelativeResize="0"/>
          <p:nvPr/>
        </p:nvPicPr>
        <p:blipFill rotWithShape="1">
          <a:blip r:embed="rId3">
            <a:alphaModFix/>
          </a:blip>
          <a:srcRect b="0" l="0" r="0" t="0"/>
          <a:stretch/>
        </p:blipFill>
        <p:spPr>
          <a:xfrm>
            <a:off x="830035" y="-1"/>
            <a:ext cx="10531929" cy="7053943"/>
          </a:xfrm>
          <a:prstGeom prst="rect">
            <a:avLst/>
          </a:prstGeom>
          <a:noFill/>
          <a:ln>
            <a:noFill/>
          </a:ln>
        </p:spPr>
      </p:pic>
    </p:spTree>
  </p:cSld>
  <p:clrMapOvr>
    <a:masterClrMapping/>
  </p:clrMapOvr>
  <p:transition spd="slow">
    <p:wipe dir="l"/>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3F3F"/>
        </a:solidFill>
      </p:bgPr>
    </p:bg>
    <p:spTree>
      <p:nvGrpSpPr>
        <p:cNvPr id="262" name="Shape 262"/>
        <p:cNvGrpSpPr/>
        <p:nvPr/>
      </p:nvGrpSpPr>
      <p:grpSpPr>
        <a:xfrm>
          <a:off x="0" y="0"/>
          <a:ext cx="0" cy="0"/>
          <a:chOff x="0" y="0"/>
          <a:chExt cx="0" cy="0"/>
        </a:xfrm>
      </p:grpSpPr>
      <p:sp>
        <p:nvSpPr>
          <p:cNvPr id="263" name="Google Shape;263;p32"/>
          <p:cNvSpPr txBox="1"/>
          <p:nvPr>
            <p:ph type="title"/>
          </p:nvPr>
        </p:nvSpPr>
        <p:spPr>
          <a:xfrm>
            <a:off x="8042354" y="1008733"/>
            <a:ext cx="3732244" cy="41044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s-ES">
                <a:solidFill>
                  <a:schemeClr val="lt1"/>
                </a:solidFill>
              </a:rPr>
              <a:t>Ciclo de vida de un contenedor</a:t>
            </a:r>
            <a:endParaRPr>
              <a:solidFill>
                <a:schemeClr val="lt1"/>
              </a:solidFill>
            </a:endParaRPr>
          </a:p>
        </p:txBody>
      </p:sp>
      <p:sp>
        <p:nvSpPr>
          <p:cNvPr id="264" name="Google Shape;264;p32"/>
          <p:cNvSpPr/>
          <p:nvPr/>
        </p:nvSpPr>
        <p:spPr>
          <a:xfrm>
            <a:off x="0" y="0"/>
            <a:ext cx="7536523"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5" name="Google Shape;265;p32"/>
          <p:cNvSpPr/>
          <p:nvPr/>
        </p:nvSpPr>
        <p:spPr>
          <a:xfrm>
            <a:off x="626285" y="650014"/>
            <a:ext cx="3367217" cy="326602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 name="Google Shape;266;p32"/>
          <p:cNvSpPr/>
          <p:nvPr/>
        </p:nvSpPr>
        <p:spPr>
          <a:xfrm>
            <a:off x="4152946" y="650014"/>
            <a:ext cx="2765758" cy="213673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7" name="Google Shape;267;p32"/>
          <p:cNvSpPr/>
          <p:nvPr/>
        </p:nvSpPr>
        <p:spPr>
          <a:xfrm>
            <a:off x="626285" y="4088215"/>
            <a:ext cx="3367217" cy="212485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8" name="Google Shape;268;p32"/>
          <p:cNvSpPr/>
          <p:nvPr/>
        </p:nvSpPr>
        <p:spPr>
          <a:xfrm>
            <a:off x="4152946" y="2947051"/>
            <a:ext cx="2765758" cy="326602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269" name="Google Shape;269;p32"/>
          <p:cNvPicPr preferRelativeResize="0"/>
          <p:nvPr/>
        </p:nvPicPr>
        <p:blipFill rotWithShape="1">
          <a:blip r:embed="rId3">
            <a:alphaModFix/>
          </a:blip>
          <a:srcRect b="0" l="0" r="0" t="0"/>
          <a:stretch/>
        </p:blipFill>
        <p:spPr>
          <a:xfrm>
            <a:off x="523546" y="644927"/>
            <a:ext cx="6667500" cy="5372100"/>
          </a:xfrm>
          <a:prstGeom prst="rect">
            <a:avLst/>
          </a:prstGeom>
          <a:noFill/>
          <a:ln>
            <a:noFill/>
          </a:ln>
        </p:spPr>
      </p:pic>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p7"/>
          <p:cNvSpPr/>
          <p:nvPr/>
        </p:nvSpPr>
        <p:spPr>
          <a:xfrm>
            <a:off x="1" y="0"/>
            <a:ext cx="12191999" cy="6866467"/>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75" name="Google Shape;275;p7"/>
          <p:cNvPicPr preferRelativeResize="0"/>
          <p:nvPr/>
        </p:nvPicPr>
        <p:blipFill rotWithShape="1">
          <a:blip r:embed="rId3">
            <a:alphaModFix amt="55000"/>
          </a:blip>
          <a:srcRect b="0" l="0" r="0" t="15730"/>
          <a:stretch/>
        </p:blipFill>
        <p:spPr>
          <a:xfrm>
            <a:off x="-22569" y="-12501"/>
            <a:ext cx="12191980" cy="6857990"/>
          </a:xfrm>
          <a:prstGeom prst="rect">
            <a:avLst/>
          </a:prstGeom>
          <a:noFill/>
          <a:ln>
            <a:noFill/>
          </a:ln>
        </p:spPr>
      </p:pic>
      <p:sp>
        <p:nvSpPr>
          <p:cNvPr id="276" name="Google Shape;276;p7"/>
          <p:cNvSpPr/>
          <p:nvPr/>
        </p:nvSpPr>
        <p:spPr>
          <a:xfrm>
            <a:off x="3111500" y="370600"/>
            <a:ext cx="5923842" cy="5923842"/>
          </a:xfrm>
          <a:prstGeom prst="ellipse">
            <a:avLst/>
          </a:prstGeom>
          <a:solidFill>
            <a:schemeClr val="lt1">
              <a:alpha val="9294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p7"/>
          <p:cNvSpPr txBox="1"/>
          <p:nvPr>
            <p:ph type="title"/>
          </p:nvPr>
        </p:nvSpPr>
        <p:spPr>
          <a:xfrm>
            <a:off x="3616267" y="2889969"/>
            <a:ext cx="5037616" cy="84934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s-ES" sz="5200"/>
              <a:t>Ejemplo practico</a:t>
            </a:r>
            <a:endParaRPr sz="5600"/>
          </a:p>
        </p:txBody>
      </p:sp>
      <p:sp>
        <p:nvSpPr>
          <p:cNvPr id="278" name="Google Shape;278;p7"/>
          <p:cNvSpPr/>
          <p:nvPr/>
        </p:nvSpPr>
        <p:spPr>
          <a:xfrm flipH="1" rot="-1433260">
            <a:off x="2607299" y="8363"/>
            <a:ext cx="6816262" cy="6816262"/>
          </a:xfrm>
          <a:prstGeom prst="arc">
            <a:avLst>
              <a:gd fmla="val 16200000" name="adj1"/>
              <a:gd fmla="val 20401595" name="adj2"/>
            </a:avLst>
          </a:prstGeom>
          <a:noFill/>
          <a:ln cap="rnd" cmpd="sng" w="127000">
            <a:solidFill>
              <a:schemeClr val="accent4">
                <a:alpha val="92941"/>
              </a:schemeClr>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9" name="Google Shape;279;p7"/>
          <p:cNvSpPr/>
          <p:nvPr/>
        </p:nvSpPr>
        <p:spPr>
          <a:xfrm>
            <a:off x="8153400" y="4609861"/>
            <a:ext cx="873032" cy="849349"/>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ransition spd="slow">
    <p:wipe dir="l"/>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sp>
        <p:nvSpPr>
          <p:cNvPr id="284" name="Google Shape;284;p13"/>
          <p:cNvSpPr/>
          <p:nvPr/>
        </p:nvSpPr>
        <p:spPr>
          <a:xfrm>
            <a:off x="0" y="0"/>
            <a:ext cx="12192000" cy="6858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13"/>
          <p:cNvSpPr txBox="1"/>
          <p:nvPr>
            <p:ph type="ctrTitle"/>
          </p:nvPr>
        </p:nvSpPr>
        <p:spPr>
          <a:xfrm>
            <a:off x="2399234" y="2073715"/>
            <a:ext cx="6935759" cy="299304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8800"/>
              <a:buFont typeface="Calibri"/>
              <a:buNone/>
            </a:pPr>
            <a:r>
              <a:rPr lang="es-ES" sz="8800">
                <a:solidFill>
                  <a:schemeClr val="lt1"/>
                </a:solidFill>
              </a:rPr>
              <a:t>¿Dudas?</a:t>
            </a:r>
            <a:endParaRPr sz="8800">
              <a:solidFill>
                <a:schemeClr val="lt1"/>
              </a:solidFill>
            </a:endParaRPr>
          </a:p>
        </p:txBody>
      </p:sp>
      <p:sp>
        <p:nvSpPr>
          <p:cNvPr id="286" name="Google Shape;286;p13"/>
          <p:cNvSpPr/>
          <p:nvPr/>
        </p:nvSpPr>
        <p:spPr>
          <a:xfrm>
            <a:off x="126206" y="115193"/>
            <a:ext cx="11939588" cy="6627614"/>
          </a:xfrm>
          <a:prstGeom prst="rect">
            <a:avLst/>
          </a:prstGeom>
          <a:no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87" name="Google Shape;287;p13"/>
          <p:cNvCxnSpPr/>
          <p:nvPr/>
        </p:nvCxnSpPr>
        <p:spPr>
          <a:xfrm rot="10800000">
            <a:off x="2399233" y="1883640"/>
            <a:ext cx="6935760" cy="0"/>
          </a:xfrm>
          <a:prstGeom prst="straightConnector1">
            <a:avLst/>
          </a:prstGeom>
          <a:noFill/>
          <a:ln cap="flat" cmpd="sng" w="12700">
            <a:solidFill>
              <a:schemeClr val="accent2"/>
            </a:solidFill>
            <a:prstDash val="solid"/>
            <a:miter lim="800000"/>
            <a:headEnd len="sm" w="sm" type="none"/>
            <a:tailEnd len="sm" w="sm" type="none"/>
          </a:ln>
        </p:spPr>
      </p:cxnSp>
      <p:cxnSp>
        <p:nvCxnSpPr>
          <p:cNvPr id="288" name="Google Shape;288;p13"/>
          <p:cNvCxnSpPr/>
          <p:nvPr/>
        </p:nvCxnSpPr>
        <p:spPr>
          <a:xfrm rot="10800000">
            <a:off x="2399233" y="5066757"/>
            <a:ext cx="6935760" cy="0"/>
          </a:xfrm>
          <a:prstGeom prst="straightConnector1">
            <a:avLst/>
          </a:prstGeom>
          <a:noFill/>
          <a:ln cap="flat" cmpd="sng" w="12700">
            <a:solidFill>
              <a:schemeClr val="accent2"/>
            </a:solidFill>
            <a:prstDash val="solid"/>
            <a:miter lim="800000"/>
            <a:headEnd len="sm" w="sm" type="none"/>
            <a:tailEnd len="sm" w="sm" type="none"/>
          </a:ln>
        </p:spPr>
      </p:cxnSp>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g2dced892eb6_1_0"/>
          <p:cNvPicPr preferRelativeResize="0"/>
          <p:nvPr/>
        </p:nvPicPr>
        <p:blipFill rotWithShape="1">
          <a:blip r:embed="rId3">
            <a:alphaModFix amt="62000"/>
          </a:blip>
          <a:srcRect b="0" l="0" r="0" t="0"/>
          <a:stretch/>
        </p:blipFill>
        <p:spPr>
          <a:xfrm>
            <a:off x="11268" y="0"/>
            <a:ext cx="12169464" cy="6858000"/>
          </a:xfrm>
          <a:prstGeom prst="rect">
            <a:avLst/>
          </a:prstGeom>
          <a:noFill/>
          <a:ln>
            <a:noFill/>
          </a:ln>
        </p:spPr>
      </p:pic>
      <p:graphicFrame>
        <p:nvGraphicFramePr>
          <p:cNvPr id="294" name="Google Shape;294;g2dced892eb6_1_0"/>
          <p:cNvGraphicFramePr/>
          <p:nvPr/>
        </p:nvGraphicFramePr>
        <p:xfrm>
          <a:off x="11267" y="1004833"/>
          <a:ext cx="3000000" cy="3000000"/>
        </p:xfrm>
        <a:graphic>
          <a:graphicData uri="http://schemas.openxmlformats.org/drawingml/2006/table">
            <a:tbl>
              <a:tblPr>
                <a:noFill/>
                <a:tableStyleId>{01082BB6-F095-4B3F-9BDF-5904AAA7983B}</a:tableStyleId>
              </a:tblPr>
              <a:tblGrid>
                <a:gridCol w="3688725"/>
                <a:gridCol w="328442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ES" sz="1900" u="none" cap="none" strike="noStrike">
                          <a:solidFill>
                            <a:schemeClr val="dk1"/>
                          </a:solidFill>
                        </a:rPr>
                        <a:t>Nombre de la actividad:</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rgbClr val="000000"/>
                        </a:buClr>
                        <a:buSzPts val="1900"/>
                        <a:buFont typeface="Arial"/>
                        <a:buNone/>
                      </a:pPr>
                      <a:r>
                        <a:rPr lang="es-ES" sz="1900" u="none" cap="none" strike="noStrike"/>
                        <a:t>Evaluación Docente 1</a:t>
                      </a:r>
                      <a:endParaRPr sz="1900" u="none" cap="none" strike="noStrike"/>
                    </a:p>
                  </a:txBody>
                  <a:tcPr marT="121900" marB="121900" marR="121900" marL="121900"/>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ES" sz="1900" u="none" cap="none" strike="noStrike">
                          <a:solidFill>
                            <a:schemeClr val="dk1"/>
                          </a:solidFill>
                        </a:rPr>
                        <a:t>Cantidad de participantes:</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rgbClr val="000000"/>
                        </a:buClr>
                        <a:buSzPts val="1900"/>
                        <a:buFont typeface="Arial"/>
                        <a:buNone/>
                      </a:pPr>
                      <a:r>
                        <a:t/>
                      </a:r>
                      <a:endParaRPr sz="1900" u="none" cap="none" strike="noStrike"/>
                    </a:p>
                  </a:txBody>
                  <a:tcPr marT="121900" marB="121900" marR="121900" marL="121900"/>
                </a:tc>
              </a:tr>
              <a:tr h="438125">
                <a:tc>
                  <a:txBody>
                    <a:bodyPr/>
                    <a:lstStyle/>
                    <a:p>
                      <a:pPr indent="0" lvl="0" marL="0" marR="0" rtl="0" algn="l">
                        <a:lnSpc>
                          <a:spcPct val="100000"/>
                        </a:lnSpc>
                        <a:spcBef>
                          <a:spcPts val="0"/>
                        </a:spcBef>
                        <a:spcAft>
                          <a:spcPts val="0"/>
                        </a:spcAft>
                        <a:buClr>
                          <a:srgbClr val="000000"/>
                        </a:buClr>
                        <a:buSzPts val="1900"/>
                        <a:buFont typeface="Arial"/>
                        <a:buNone/>
                      </a:pPr>
                      <a:r>
                        <a:rPr b="1" lang="es-ES" sz="1900" u="none" cap="none" strike="noStrike">
                          <a:solidFill>
                            <a:schemeClr val="dk1"/>
                          </a:solidFill>
                        </a:rPr>
                        <a:t>Doy fe que esta actividad está planificada en dtt (Sí/No):</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rgbClr val="000000"/>
                        </a:buClr>
                        <a:buSzPts val="1900"/>
                        <a:buFont typeface="Arial"/>
                        <a:buNone/>
                      </a:pPr>
                      <a:r>
                        <a:rPr lang="es-ES" sz="1900" u="none" cap="none" strike="noStrike"/>
                        <a:t>No</a:t>
                      </a:r>
                      <a:endParaRPr sz="1900" u="none" cap="none" strike="noStrike"/>
                    </a:p>
                  </a:txBody>
                  <a:tcPr marT="121900" marB="121900" marR="121900" marL="121900"/>
                </a:tc>
              </a:tr>
            </a:tbl>
          </a:graphicData>
        </a:graphic>
      </p:graphicFrame>
      <p:sp>
        <p:nvSpPr>
          <p:cNvPr id="295" name="Google Shape;295;g2dced892eb6_1_0"/>
          <p:cNvSpPr txBox="1"/>
          <p:nvPr/>
        </p:nvSpPr>
        <p:spPr>
          <a:xfrm>
            <a:off x="0" y="2854600"/>
            <a:ext cx="120252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Arial"/>
                <a:ea typeface="Arial"/>
                <a:cs typeface="Arial"/>
                <a:sym typeface="Arial"/>
              </a:rPr>
              <a:t>Participantes: llenar las siguientes cajas de texto (tomar información del chat del meet)</a:t>
            </a:r>
            <a:endParaRPr b="1" i="0" sz="1900" u="none" cap="none" strike="noStrike">
              <a:solidFill>
                <a:srgbClr val="000000"/>
              </a:solidFill>
              <a:latin typeface="Arial"/>
              <a:ea typeface="Arial"/>
              <a:cs typeface="Arial"/>
              <a:sym typeface="Arial"/>
            </a:endParaRPr>
          </a:p>
        </p:txBody>
      </p:sp>
      <p:sp>
        <p:nvSpPr>
          <p:cNvPr id="296" name="Google Shape;296;g2dced892eb6_1_0"/>
          <p:cNvSpPr txBox="1"/>
          <p:nvPr/>
        </p:nvSpPr>
        <p:spPr>
          <a:xfrm>
            <a:off x="11267" y="3303867"/>
            <a:ext cx="4111500" cy="4202100"/>
          </a:xfrm>
          <a:prstGeom prst="rect">
            <a:avLst/>
          </a:prstGeom>
          <a:noFill/>
          <a:ln cap="flat" cmpd="sng" w="9525">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01807032 - Douglas Soch</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Jefferson Molina - 201945242</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202113553- Kevin García</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201800992-Kevin Raul Pozuelos Estrada</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201908251 - Jose Pablo Ceron Urizar</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201902698-Pablo Batz</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201900364 Tomas Alexander Morales Saquic</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202000560 - Marjorie Reyes</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201903974 - Steven Josue González Monroy</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201314564 - Ronald Ordoñez</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202003975 - Diego Mazariegos</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201906051 Juan Francisco Urbina Silva</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2021009567- Álvaro Norberto García Meza</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201900647 - Eduardo González</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202100953 - Damaris Muralles</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201904016 - Cesar Daniel Martínez Mencos</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200" u="none" cap="none" strike="noStrike">
                <a:solidFill>
                  <a:schemeClr val="dk1"/>
                </a:solidFill>
                <a:highlight>
                  <a:srgbClr val="FFFFFF"/>
                </a:highlight>
                <a:latin typeface="Arial"/>
                <a:ea typeface="Arial"/>
                <a:cs typeface="Arial"/>
                <a:sym typeface="Arial"/>
              </a:rPr>
              <a:t>201404202 - Khristian García</a:t>
            </a:r>
            <a:endParaRPr b="0" i="0" sz="12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Arial"/>
              <a:buNone/>
            </a:pPr>
            <a:r>
              <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t/>
            </a:r>
            <a:endParaRPr b="0" i="0" sz="1900" u="none" cap="none" strike="noStrike">
              <a:solidFill>
                <a:schemeClr val="dk1"/>
              </a:solidFill>
              <a:latin typeface="Arial"/>
              <a:ea typeface="Arial"/>
              <a:cs typeface="Arial"/>
              <a:sym typeface="Arial"/>
            </a:endParaRPr>
          </a:p>
        </p:txBody>
      </p:sp>
      <p:graphicFrame>
        <p:nvGraphicFramePr>
          <p:cNvPr id="297" name="Google Shape;297;g2dced892eb6_1_0"/>
          <p:cNvGraphicFramePr/>
          <p:nvPr/>
        </p:nvGraphicFramePr>
        <p:xfrm>
          <a:off x="7104267" y="1293367"/>
          <a:ext cx="3000000" cy="3000000"/>
        </p:xfrm>
        <a:graphic>
          <a:graphicData uri="http://schemas.openxmlformats.org/drawingml/2006/table">
            <a:tbl>
              <a:tblPr>
                <a:noFill/>
                <a:tableStyleId>{01082BB6-F095-4B3F-9BDF-5904AAA7983B}</a:tableStyleId>
              </a:tblPr>
              <a:tblGrid>
                <a:gridCol w="1961700"/>
                <a:gridCol w="295907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ES" sz="1900" u="none" cap="none" strike="noStrike">
                          <a:solidFill>
                            <a:schemeClr val="dk1"/>
                          </a:solidFill>
                        </a:rPr>
                        <a:t>Hora de inicio:</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rgbClr val="000000"/>
                        </a:buClr>
                        <a:buSzPts val="1900"/>
                        <a:buFont typeface="Arial"/>
                        <a:buNone/>
                      </a:pPr>
                      <a:r>
                        <a:rPr lang="es-ES" sz="1900" u="none" cap="none" strike="noStrike"/>
                        <a:t>16:54</a:t>
                      </a:r>
                      <a:endParaRPr sz="1900" u="none" cap="none" strike="noStrike"/>
                    </a:p>
                  </a:txBody>
                  <a:tcPr marT="121900" marB="121900" marR="121900" marL="121900"/>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ES" sz="1900" u="none" cap="none" strike="noStrike">
                          <a:solidFill>
                            <a:schemeClr val="dk1"/>
                          </a:solidFill>
                        </a:rPr>
                        <a:t>Hora de fin:</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rgbClr val="000000"/>
                        </a:buClr>
                        <a:buSzPts val="1900"/>
                        <a:buFont typeface="Arial"/>
                        <a:buNone/>
                      </a:pPr>
                      <a:r>
                        <a:rPr lang="es-ES" sz="1900" u="none" cap="none" strike="noStrike"/>
                        <a:t>17:04</a:t>
                      </a:r>
                      <a:endParaRPr sz="1900" u="none" cap="none" strike="noStrike"/>
                    </a:p>
                  </a:txBody>
                  <a:tcPr marT="121900" marB="121900" marR="121900" marL="121900"/>
                </a:tc>
              </a:tr>
              <a:tr h="438125">
                <a:tc>
                  <a:txBody>
                    <a:bodyPr/>
                    <a:lstStyle/>
                    <a:p>
                      <a:pPr indent="0" lvl="0" marL="0" marR="0" rtl="0" algn="l">
                        <a:lnSpc>
                          <a:spcPct val="100000"/>
                        </a:lnSpc>
                        <a:spcBef>
                          <a:spcPts val="0"/>
                        </a:spcBef>
                        <a:spcAft>
                          <a:spcPts val="0"/>
                        </a:spcAft>
                        <a:buClr>
                          <a:schemeClr val="dk1"/>
                        </a:buClr>
                        <a:buSzPts val="1300"/>
                        <a:buFont typeface="Arial"/>
                        <a:buNone/>
                      </a:pPr>
                      <a:r>
                        <a:rPr b="1" lang="es-ES" sz="1900" u="none" cap="none" strike="noStrike">
                          <a:solidFill>
                            <a:schemeClr val="dk1"/>
                          </a:solidFill>
                        </a:rPr>
                        <a:t>Duración(min):</a:t>
                      </a:r>
                      <a:endParaRPr b="1" sz="700" u="none" cap="none" strike="noStrike"/>
                    </a:p>
                  </a:txBody>
                  <a:tcPr marT="121900" marB="121900" marR="121900" marL="121900"/>
                </a:tc>
                <a:tc>
                  <a:txBody>
                    <a:bodyPr/>
                    <a:lstStyle/>
                    <a:p>
                      <a:pPr indent="0" lvl="0" marL="0" marR="0" rtl="0" algn="l">
                        <a:lnSpc>
                          <a:spcPct val="100000"/>
                        </a:lnSpc>
                        <a:spcBef>
                          <a:spcPts val="0"/>
                        </a:spcBef>
                        <a:spcAft>
                          <a:spcPts val="0"/>
                        </a:spcAft>
                        <a:buClr>
                          <a:srgbClr val="000000"/>
                        </a:buClr>
                        <a:buSzPts val="1900"/>
                        <a:buFont typeface="Arial"/>
                        <a:buNone/>
                      </a:pPr>
                      <a:r>
                        <a:rPr lang="es-ES" sz="1900" u="none" cap="none" strike="noStrike"/>
                        <a:t>10</a:t>
                      </a:r>
                      <a:endParaRPr sz="1900" u="none" cap="none" strike="noStrike"/>
                    </a:p>
                  </a:txBody>
                  <a:tcPr marT="121900" marB="121900" marR="121900" marL="121900"/>
                </a:tc>
              </a:tr>
            </a:tbl>
          </a:graphicData>
        </a:graphic>
      </p:graphicFrame>
      <p:sp>
        <p:nvSpPr>
          <p:cNvPr id="298" name="Google Shape;298;g2dced892eb6_1_0"/>
          <p:cNvSpPr txBox="1"/>
          <p:nvPr/>
        </p:nvSpPr>
        <p:spPr>
          <a:xfrm>
            <a:off x="4290150" y="3352140"/>
            <a:ext cx="4111500" cy="3447900"/>
          </a:xfrm>
          <a:prstGeom prst="rect">
            <a:avLst/>
          </a:prstGeom>
          <a:noFill/>
          <a:ln cap="flat" cmpd="sng" w="9525">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201900619 - Yonathan Hernandez</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201700339 - Luis Fernando Sánchez Soto</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202006353 - Juan Josue Zuleta Beb</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201404341-Ocsael Ramírez</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202010814 - Luis Garcia</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202003892 - Diego Arriaga</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201903004 - Jonathan Alexander Alvarado Fernández</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201602983 - Jaime Alejandro Armira Us</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202000895 - Josue Rolando Gramajo Roldán</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201700603- Selvin Hernandez</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202104782 - Anthony Samuel Zea Herrera</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202006629 - Wilber Steven zúñiga Ruano</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201700381 - Nery Oswaldo Jiménez Contreras</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202105561 - Jeser Emanuel Rodas Medina</a:t>
            </a:r>
            <a:endParaRPr b="0" i="0" sz="13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ES" sz="1300" u="none" cap="none" strike="noStrike">
                <a:solidFill>
                  <a:schemeClr val="dk1"/>
                </a:solidFill>
                <a:highlight>
                  <a:srgbClr val="FFFFFF"/>
                </a:highlight>
                <a:latin typeface="Arial"/>
                <a:ea typeface="Arial"/>
                <a:cs typeface="Arial"/>
                <a:sym typeface="Arial"/>
              </a:rPr>
              <a:t>202104160 - Steven Facundo Mejía Xolop</a:t>
            </a:r>
            <a:endParaRPr b="0" i="0" sz="1300" u="none" cap="none" strike="noStrike">
              <a:solidFill>
                <a:schemeClr val="dk1"/>
              </a:solidFill>
              <a:highlight>
                <a:srgbClr val="FFFFFF"/>
              </a:highlight>
              <a:latin typeface="Arial"/>
              <a:ea typeface="Arial"/>
              <a:cs typeface="Arial"/>
              <a:sym typeface="Arial"/>
            </a:endParaRPr>
          </a:p>
        </p:txBody>
      </p:sp>
      <p:sp>
        <p:nvSpPr>
          <p:cNvPr id="299" name="Google Shape;299;g2dced892eb6_1_0"/>
          <p:cNvSpPr txBox="1"/>
          <p:nvPr/>
        </p:nvSpPr>
        <p:spPr>
          <a:xfrm>
            <a:off x="8337533" y="3303867"/>
            <a:ext cx="3843300" cy="538800"/>
          </a:xfrm>
          <a:prstGeom prst="rect">
            <a:avLst/>
          </a:prstGeom>
          <a:noFill/>
          <a:ln cap="flat" cmpd="sng" w="9525">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sp>
        <p:nvSpPr>
          <p:cNvPr id="304" name="Google Shape;304;p14"/>
          <p:cNvSpPr/>
          <p:nvPr/>
        </p:nvSpPr>
        <p:spPr>
          <a:xfrm>
            <a:off x="0" y="0"/>
            <a:ext cx="12192000" cy="6858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4"/>
          <p:cNvSpPr txBox="1"/>
          <p:nvPr>
            <p:ph type="ctrTitle"/>
          </p:nvPr>
        </p:nvSpPr>
        <p:spPr>
          <a:xfrm>
            <a:off x="2399234" y="2073715"/>
            <a:ext cx="6935759" cy="299304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8800"/>
              <a:buFont typeface="Calibri"/>
              <a:buNone/>
            </a:pPr>
            <a:r>
              <a:rPr lang="es-ES" sz="8800">
                <a:solidFill>
                  <a:schemeClr val="lt1"/>
                </a:solidFill>
              </a:rPr>
              <a:t>Gracias</a:t>
            </a:r>
            <a:endParaRPr sz="8800">
              <a:solidFill>
                <a:schemeClr val="lt1"/>
              </a:solidFill>
            </a:endParaRPr>
          </a:p>
        </p:txBody>
      </p:sp>
      <p:sp>
        <p:nvSpPr>
          <p:cNvPr id="306" name="Google Shape;306;p14"/>
          <p:cNvSpPr txBox="1"/>
          <p:nvPr>
            <p:ph idx="1" type="subTitle"/>
          </p:nvPr>
        </p:nvSpPr>
        <p:spPr>
          <a:xfrm>
            <a:off x="2399234" y="1369077"/>
            <a:ext cx="6935759" cy="220115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t/>
            </a:r>
            <a:endParaRPr sz="2000">
              <a:solidFill>
                <a:schemeClr val="lt1"/>
              </a:solidFill>
            </a:endParaRPr>
          </a:p>
        </p:txBody>
      </p:sp>
      <p:sp>
        <p:nvSpPr>
          <p:cNvPr id="307" name="Google Shape;307;p14"/>
          <p:cNvSpPr/>
          <p:nvPr/>
        </p:nvSpPr>
        <p:spPr>
          <a:xfrm>
            <a:off x="126206" y="115193"/>
            <a:ext cx="11939588" cy="6627614"/>
          </a:xfrm>
          <a:prstGeom prst="rect">
            <a:avLst/>
          </a:prstGeom>
          <a:no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308" name="Google Shape;308;p14"/>
          <p:cNvCxnSpPr/>
          <p:nvPr/>
        </p:nvCxnSpPr>
        <p:spPr>
          <a:xfrm rot="10800000">
            <a:off x="2399233" y="1883640"/>
            <a:ext cx="6935760" cy="0"/>
          </a:xfrm>
          <a:prstGeom prst="straightConnector1">
            <a:avLst/>
          </a:prstGeom>
          <a:noFill/>
          <a:ln cap="flat" cmpd="sng" w="12700">
            <a:solidFill>
              <a:schemeClr val="accent2"/>
            </a:solidFill>
            <a:prstDash val="solid"/>
            <a:miter lim="800000"/>
            <a:headEnd len="sm" w="sm" type="none"/>
            <a:tailEnd len="sm" w="sm" type="none"/>
          </a:ln>
        </p:spPr>
      </p:cxnSp>
      <p:cxnSp>
        <p:nvCxnSpPr>
          <p:cNvPr id="309" name="Google Shape;309;p14"/>
          <p:cNvCxnSpPr/>
          <p:nvPr/>
        </p:nvCxnSpPr>
        <p:spPr>
          <a:xfrm rot="10800000">
            <a:off x="2399233" y="5066757"/>
            <a:ext cx="6935760" cy="0"/>
          </a:xfrm>
          <a:prstGeom prst="straightConnector1">
            <a:avLst/>
          </a:prstGeom>
          <a:noFill/>
          <a:ln cap="flat" cmpd="sng" w="12700">
            <a:solidFill>
              <a:schemeClr val="accent2"/>
            </a:solidFill>
            <a:prstDash val="solid"/>
            <a:miter lim="800000"/>
            <a:headEnd len="sm" w="sm" type="none"/>
            <a:tailEnd len="sm" w="sm" type="none"/>
          </a:ln>
        </p:spPr>
      </p:cxnSp>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2021-01-24T02:47:27Z</dcterms:created>
</cp:coreProperties>
</file>