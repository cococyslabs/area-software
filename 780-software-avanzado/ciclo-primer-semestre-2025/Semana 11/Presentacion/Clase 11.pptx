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0KV7oKJ9mzMj2RgMjXj0lOvgg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8CFE40-74E3-4C7F-978A-434B909A6DEB}">
  <a:tblStyle styleId="{E08CFE40-74E3-4C7F-978A-434B909A6DE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0af58fc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g360af58fcb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f52ea93423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1f52ea93423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f52ea93423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1f52ea93423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8584de576676619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48584de576676619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se define como una metodología que ha venido a revolucionar el marco de desarrollo de aplicaciones, gracias a la aplicación de diferentes prácticas y herramientas de automatización que permiten producir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más rápido. Además de lo mencionado, esta metodología permite la unificación de Desarrollo y Operaciones, lo que facilita el trabajo y la distribución la infraestructura aplicativa.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48584de576676619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f7ea36dd15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1f7ea36dd15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se define como una metodología que ha venido a revolucionar el marco de desarrollo de aplicaciones, gracias a la aplicación de diferentes prácticas y herramientas de automatización que permiten producir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más rápido. Además de lo mencionado, esta metodología permite la unificación de Desarrollo y Operaciones, lo que facilita el trabajo y la distribución la infraestructura aplicativa.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1f7ea36dd15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f7ea36dd15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1f7ea36dd15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se define como una metodología que ha venido a revolucionar el marco de desarrollo de aplicaciones, gracias a la aplicación de diferentes prácticas y herramientas de automatización que permiten producir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más rápido. Además de lo mencionado, esta metodología permite la unificación de Desarrollo y Operaciones, lo que facilita el trabajo y la distribución la infraestructura aplicativa.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1f7ea36dd15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0af58fcb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60af58fcbd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f2e196bda9_0_8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3" name="Google Shape;33;g1f2e196bda9_0_8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4" name="Google Shape;34;g1f2e196bda9_0_8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1269" y="1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p1"/>
          <p:cNvGraphicFramePr/>
          <p:nvPr/>
        </p:nvGraphicFramePr>
        <p:xfrm>
          <a:off x="6493942" y="13286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{E08CFE40-74E3-4C7F-978A-434B909A6DEB}</a:tableStyleId>
              </a:tblPr>
              <a:tblGrid>
                <a:gridCol w="2265425"/>
                <a:gridCol w="3241550"/>
              </a:tblGrid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Viernes, 09/05/2025</a:t>
                      </a:r>
                      <a:endParaRPr sz="2400" u="none" cap="none" strike="noStrike"/>
                    </a:p>
                  </a:txBody>
                  <a:tcPr marT="121900" marB="121900" marR="121900" marL="121900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16:30</a:t>
                      </a:r>
                      <a:endParaRPr sz="2400" u="none" cap="none" strike="noStrike"/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  <p:sp>
        <p:nvSpPr>
          <p:cNvPr id="94" name="Google Shape;94;p1"/>
          <p:cNvSpPr txBox="1"/>
          <p:nvPr/>
        </p:nvSpPr>
        <p:spPr>
          <a:xfrm>
            <a:off x="1920233" y="3011067"/>
            <a:ext cx="90561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/>
              <a:buNone/>
            </a:pPr>
            <a:r>
              <a:rPr b="0" i="0" lang="en-US" sz="33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Avanzado Sección B</a:t>
            </a:r>
            <a:endParaRPr b="0" i="0" sz="3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371600" y="3867668"/>
            <a:ext cx="7448800" cy="65661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b="0" i="0" lang="en-US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Diego Molina</a:t>
            </a:r>
            <a:endParaRPr b="0" i="0" sz="26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0af58fcbd_0_0"/>
          <p:cNvSpPr/>
          <p:nvPr/>
        </p:nvSpPr>
        <p:spPr>
          <a:xfrm>
            <a:off x="8360873" y="0"/>
            <a:ext cx="3835916" cy="1142613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g360af58fcbd_0_0"/>
          <p:cNvSpPr/>
          <p:nvPr/>
        </p:nvSpPr>
        <p:spPr>
          <a:xfrm>
            <a:off x="8360873" y="4014585"/>
            <a:ext cx="2776923" cy="2746629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g360af58fcbd_0_0"/>
          <p:cNvSpPr txBox="1"/>
          <p:nvPr/>
        </p:nvSpPr>
        <p:spPr>
          <a:xfrm>
            <a:off x="685794" y="4235339"/>
            <a:ext cx="3811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Software Avanzado</a:t>
            </a:r>
            <a:endParaRPr b="1" sz="33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g360af58fcbd_0_0"/>
          <p:cNvSpPr txBox="1"/>
          <p:nvPr/>
        </p:nvSpPr>
        <p:spPr>
          <a:xfrm>
            <a:off x="1699553" y="2092633"/>
            <a:ext cx="8250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0"/>
              <a:buFont typeface="Arial"/>
              <a:buNone/>
            </a:pPr>
            <a:r>
              <a:rPr b="1" lang="en-US" sz="61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Ciberseguridad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60af58fcbd_0_0"/>
          <p:cNvSpPr txBox="1"/>
          <p:nvPr/>
        </p:nvSpPr>
        <p:spPr>
          <a:xfrm>
            <a:off x="685794" y="5483392"/>
            <a:ext cx="46542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17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g360af58fcbd_0_0"/>
          <p:cNvSpPr txBox="1"/>
          <p:nvPr/>
        </p:nvSpPr>
        <p:spPr>
          <a:xfrm>
            <a:off x="685800" y="6140450"/>
            <a:ext cx="4445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17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g360af58fcbd_0_0"/>
          <p:cNvSpPr txBox="1"/>
          <p:nvPr/>
        </p:nvSpPr>
        <p:spPr>
          <a:xfrm>
            <a:off x="152400" y="6392169"/>
            <a:ext cx="5410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60af58fcbd_0_0"/>
          <p:cNvSpPr txBox="1"/>
          <p:nvPr/>
        </p:nvSpPr>
        <p:spPr>
          <a:xfrm>
            <a:off x="8652721" y="4950693"/>
            <a:ext cx="2189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-1" y="0"/>
            <a:ext cx="4818889" cy="6858000"/>
          </a:xfrm>
          <a:custGeom>
            <a:rect b="b" l="l" r="r" t="t"/>
            <a:pathLst>
              <a:path extrusionOk="0" h="6858000" w="4818889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l" dist="38100">
              <a:srgbClr val="D8D8D8">
                <a:alpha val="4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1" y="0"/>
            <a:ext cx="4811477" cy="6858000"/>
          </a:xfrm>
          <a:custGeom>
            <a:rect b="b" l="l" r="r" t="t"/>
            <a:pathLst>
              <a:path extrusionOk="0" h="6858000" w="4811477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>
            <p:ph type="title"/>
          </p:nvPr>
        </p:nvSpPr>
        <p:spPr>
          <a:xfrm>
            <a:off x="621792" y="1161288"/>
            <a:ext cx="3602736" cy="452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AGENDA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3"/>
          <p:cNvGrpSpPr/>
          <p:nvPr/>
        </p:nvGrpSpPr>
        <p:grpSpPr>
          <a:xfrm>
            <a:off x="5303520" y="682037"/>
            <a:ext cx="6364200" cy="5503190"/>
            <a:chOff x="0" y="5381"/>
            <a:chExt cx="6364200" cy="5503190"/>
          </a:xfrm>
        </p:grpSpPr>
        <p:sp>
          <p:nvSpPr>
            <p:cNvPr id="118" name="Google Shape;118;p3"/>
            <p:cNvSpPr/>
            <p:nvPr/>
          </p:nvSpPr>
          <p:spPr>
            <a:xfrm>
              <a:off x="0" y="5381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577822" y="5381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 txBox="1"/>
            <p:nvPr/>
          </p:nvSpPr>
          <p:spPr>
            <a:xfrm>
              <a:off x="577822" y="5381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Anuncios generales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0" y="630730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577822" y="630730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"/>
            <p:cNvSpPr txBox="1"/>
            <p:nvPr/>
          </p:nvSpPr>
          <p:spPr>
            <a:xfrm>
              <a:off x="577822" y="630730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Espacio para dudas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0" y="1256079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577822" y="1256079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"/>
            <p:cNvSpPr txBox="1"/>
            <p:nvPr/>
          </p:nvSpPr>
          <p:spPr>
            <a:xfrm>
              <a:off x="577822" y="1256079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Ciberseguridad: el área olvidada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0" y="1881427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577822" y="1881427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0" y="2506776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77822" y="2506776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577822" y="2506776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Dudas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0" y="3132125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77822" y="3132125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577822" y="3132125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0" y="3757473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77822" y="3757473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0" y="4382822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77822" y="4382822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3"/>
            <p:cNvSpPr txBox="1"/>
            <p:nvPr/>
          </p:nvSpPr>
          <p:spPr>
            <a:xfrm>
              <a:off x="577822" y="4382822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0" y="5008171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77822" y="5008171"/>
              <a:ext cx="2863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3441722" y="5008171"/>
              <a:ext cx="29220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3"/>
            <p:cNvSpPr txBox="1"/>
            <p:nvPr/>
          </p:nvSpPr>
          <p:spPr>
            <a:xfrm>
              <a:off x="577822" y="1881427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Demo con snyk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" name="Google Shape;144;p3"/>
          <p:cNvSpPr txBox="1"/>
          <p:nvPr/>
        </p:nvSpPr>
        <p:spPr>
          <a:xfrm>
            <a:off x="5881917" y="4456558"/>
            <a:ext cx="57858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25" lIns="52925" spcFirstLastPara="1" rIns="52925" wrap="square" tIns="52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>
            <p:ph type="title"/>
          </p:nvPr>
        </p:nvSpPr>
        <p:spPr>
          <a:xfrm>
            <a:off x="572493" y="238539"/>
            <a:ext cx="11018520" cy="14344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Que es la ciberseguridad?</a:t>
            </a:r>
            <a:endParaRPr sz="5400"/>
          </a:p>
        </p:txBody>
      </p:sp>
      <p:sp>
        <p:nvSpPr>
          <p:cNvPr id="151" name="Google Shape;151;p6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2549"/>
            </a:schemeClr>
          </a:solidFill>
          <a:ln cap="rnd" cmpd="sng" w="44450">
            <a:solidFill>
              <a:schemeClr val="accent2">
                <a:alpha val="72549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500" y="2287275"/>
            <a:ext cx="6573399" cy="328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53" name="Google Shape;153;p6"/>
          <p:cNvSpPr txBox="1"/>
          <p:nvPr/>
        </p:nvSpPr>
        <p:spPr>
          <a:xfrm>
            <a:off x="7865025" y="2201475"/>
            <a:ext cx="40164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Conjunto de prácticas, tecnologías, procesos y controles diseñados para proteger sistemas, redes, datos y dispositivos contra ataques, daños, acceso no autorizado, robo de información y otras amenazas digitales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f52ea93423_0_4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1f52ea93423_0_4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Fundamentos de ciberseguridad</a:t>
            </a:r>
            <a:endParaRPr b="1" sz="5400"/>
          </a:p>
        </p:txBody>
      </p:sp>
      <p:sp>
        <p:nvSpPr>
          <p:cNvPr id="160" name="Google Shape;160;g1f52ea93423_0_4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g1f52ea93423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5100" y="1961588"/>
            <a:ext cx="8191500" cy="45624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f52ea93423_0_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1f52ea93423_0_90"/>
          <p:cNvSpPr txBox="1"/>
          <p:nvPr>
            <p:ph type="title"/>
          </p:nvPr>
        </p:nvSpPr>
        <p:spPr>
          <a:xfrm>
            <a:off x="841248" y="426720"/>
            <a:ext cx="10506600" cy="191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6000"/>
              <a:t>Amenazas comunes</a:t>
            </a:r>
            <a:endParaRPr sz="6000"/>
          </a:p>
        </p:txBody>
      </p:sp>
      <p:sp>
        <p:nvSpPr>
          <p:cNvPr id="168" name="Google Shape;168;g1f52ea93423_0_90"/>
          <p:cNvSpPr/>
          <p:nvPr/>
        </p:nvSpPr>
        <p:spPr>
          <a:xfrm>
            <a:off x="865953" y="2899927"/>
            <a:ext cx="10451700" cy="183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f52ea93423_0_90"/>
          <p:cNvSpPr/>
          <p:nvPr/>
        </p:nvSpPr>
        <p:spPr>
          <a:xfrm flipH="1" rot="10800000">
            <a:off x="841248" y="2776091"/>
            <a:ext cx="1873500" cy="13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1f52ea93423_0_90"/>
          <p:cNvSpPr txBox="1"/>
          <p:nvPr>
            <p:ph idx="1" type="body"/>
          </p:nvPr>
        </p:nvSpPr>
        <p:spPr>
          <a:xfrm>
            <a:off x="841248" y="3337269"/>
            <a:ext cx="10509600" cy="29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Malware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Phishing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Zero days exploits</a:t>
            </a:r>
            <a:endParaRPr sz="2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DDoS (?)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48584de576676619_4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48584de576676619_4"/>
          <p:cNvSpPr txBox="1"/>
          <p:nvPr>
            <p:ph type="title"/>
          </p:nvPr>
        </p:nvSpPr>
        <p:spPr>
          <a:xfrm>
            <a:off x="640080" y="329184"/>
            <a:ext cx="68946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Pero como me afecta todo esto como dev?</a:t>
            </a:r>
            <a:endParaRPr/>
          </a:p>
        </p:txBody>
      </p:sp>
      <p:sp>
        <p:nvSpPr>
          <p:cNvPr id="178" name="Google Shape;178;g48584de576676619_4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48584de576676619_4"/>
          <p:cNvSpPr txBox="1"/>
          <p:nvPr>
            <p:ph idx="1" type="body"/>
          </p:nvPr>
        </p:nvSpPr>
        <p:spPr>
          <a:xfrm>
            <a:off x="640080" y="2706624"/>
            <a:ext cx="68946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Respuesta: Bastante, y puede ser responsable directo de una brecha de seguiridad.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f7ea36dd15_0_2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1f7ea36dd15_0_2"/>
          <p:cNvSpPr txBox="1"/>
          <p:nvPr>
            <p:ph type="title"/>
          </p:nvPr>
        </p:nvSpPr>
        <p:spPr>
          <a:xfrm>
            <a:off x="640080" y="329184"/>
            <a:ext cx="68946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Amenazas comunes ignoradas por Devs</a:t>
            </a:r>
            <a:endParaRPr/>
          </a:p>
        </p:txBody>
      </p:sp>
      <p:sp>
        <p:nvSpPr>
          <p:cNvPr id="187" name="Google Shape;187;g1f7ea36dd15_0_2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1f7ea36dd15_0_2"/>
          <p:cNvSpPr txBox="1"/>
          <p:nvPr>
            <p:ph idx="1" type="body"/>
          </p:nvPr>
        </p:nvSpPr>
        <p:spPr>
          <a:xfrm>
            <a:off x="640080" y="2706624"/>
            <a:ext cx="68946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lang="en-US"/>
              <a:t>Inyeccion SQL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lang="en-US"/>
              <a:t>Backdoors sin controlar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lang="en-US"/>
              <a:t>Codigo mal implementado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lang="en-US"/>
              <a:t>Publicación de keys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lang="en-US"/>
              <a:t>Falta de encriptación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lang="en-US"/>
              <a:t>Cross-Site Scripting (XSS)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lang="en-US"/>
              <a:t>Debil autenticación y manejo de sesion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f7ea36dd15_0_10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1f7ea36dd15_0_10"/>
          <p:cNvSpPr txBox="1"/>
          <p:nvPr>
            <p:ph type="title"/>
          </p:nvPr>
        </p:nvSpPr>
        <p:spPr>
          <a:xfrm>
            <a:off x="640080" y="329184"/>
            <a:ext cx="68946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Estrategia de mitigacion</a:t>
            </a:r>
            <a:endParaRPr/>
          </a:p>
        </p:txBody>
      </p:sp>
      <p:sp>
        <p:nvSpPr>
          <p:cNvPr id="196" name="Google Shape;196;g1f7ea36dd15_0_10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1f7ea36dd15_0_10"/>
          <p:cNvSpPr txBox="1"/>
          <p:nvPr>
            <p:ph idx="1" type="body"/>
          </p:nvPr>
        </p:nvSpPr>
        <p:spPr>
          <a:xfrm>
            <a:off x="640080" y="2706624"/>
            <a:ext cx="68946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Pentesting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Acceso limitado al código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Sanitización y limitación de inputs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Implementacion de tokens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Analisis de codigo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>
            <p:ph type="title"/>
          </p:nvPr>
        </p:nvSpPr>
        <p:spPr>
          <a:xfrm>
            <a:off x="316700" y="639200"/>
            <a:ext cx="6552300" cy="3641700"/>
          </a:xfrm>
          <a:prstGeom prst="ellipse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Analisis de Codigo: Snyk.io</a:t>
            </a:r>
            <a:endParaRPr sz="5600"/>
          </a:p>
        </p:txBody>
      </p:sp>
      <p:sp>
        <p:nvSpPr>
          <p:cNvPr id="204" name="Google Shape;204;p7"/>
          <p:cNvSpPr/>
          <p:nvPr/>
        </p:nvSpPr>
        <p:spPr>
          <a:xfrm>
            <a:off x="643278" y="4409267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4875" y="492100"/>
            <a:ext cx="5715000" cy="5715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0af58fcbd_0_90"/>
          <p:cNvSpPr txBox="1"/>
          <p:nvPr/>
        </p:nvSpPr>
        <p:spPr>
          <a:xfrm>
            <a:off x="1648575" y="1978500"/>
            <a:ext cx="9593400" cy="15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6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 de la Unidad: </a:t>
            </a:r>
            <a:br>
              <a:rPr lang="en-US" sz="46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n-US" sz="46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Gratitud</a:t>
            </a:r>
            <a:endParaRPr sz="460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1" name="Google Shape;211;g360af58fcbd_0_90"/>
          <p:cNvSpPr txBox="1"/>
          <p:nvPr/>
        </p:nvSpPr>
        <p:spPr>
          <a:xfrm>
            <a:off x="3371104" y="4275653"/>
            <a:ext cx="4607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>
            <p:ph type="ctrTitle"/>
          </p:nvPr>
        </p:nvSpPr>
        <p:spPr>
          <a:xfrm>
            <a:off x="1285241" y="1008993"/>
            <a:ext cx="9231410" cy="35420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Calibri"/>
              <a:buNone/>
            </a:pPr>
            <a:r>
              <a:rPr lang="en-US" sz="11500"/>
              <a:t>¿Dudas?</a:t>
            </a:r>
            <a:endParaRPr sz="1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 txBox="1"/>
          <p:nvPr>
            <p:ph type="ctrTitle"/>
          </p:nvPr>
        </p:nvSpPr>
        <p:spPr>
          <a:xfrm>
            <a:off x="1285241" y="1008993"/>
            <a:ext cx="9231410" cy="35420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Calibri"/>
              <a:buNone/>
            </a:pPr>
            <a:r>
              <a:rPr lang="en-US" sz="11500"/>
              <a:t>Gracias por su atención</a:t>
            </a:r>
            <a:endParaRPr sz="11500"/>
          </a:p>
        </p:txBody>
      </p:sp>
      <p:sp>
        <p:nvSpPr>
          <p:cNvPr id="228" name="Google Shape;228;p22"/>
          <p:cNvSpPr txBox="1"/>
          <p:nvPr>
            <p:ph idx="1" type="subTitle"/>
          </p:nvPr>
        </p:nvSpPr>
        <p:spPr>
          <a:xfrm>
            <a:off x="1285241" y="4582814"/>
            <a:ext cx="7132335" cy="1312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2023-07-25T00:36:49Z</dcterms:created>
  <dc:creator>Madeline Pérez</dc:creator>
</cp:coreProperties>
</file>