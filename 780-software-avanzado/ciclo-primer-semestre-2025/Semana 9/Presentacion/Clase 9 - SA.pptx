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y="6858000" cx="12192000"/>
  <p:notesSz cx="6858000" cy="9144000"/>
  <p:embeddedFontLst>
    <p:embeddedFont>
      <p:font typeface="Open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iAreakNyBGdYFmGbIXUhn29iTkT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COCOCYS ECYS"/>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00245A-A86F-48D6-AB46-3B5DF031F4CA}">
  <a:tblStyle styleId="{1000245A-A86F-48D6-AB46-3B5DF031F4C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4.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OpenSans-regular.fntdata"/><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26T12:44:11.653">
    <p:pos x="6000" y="0"/>
    <p:text>Hola, gracias por el avance favor incluir el valor de la semana.  En este caso es indicar como el valor esta vinculado con lo aprendido en la clase de esa semana (Saber Ser). gracias</p:text>
    <p:extLst>
      <p:ext uri="{C676402C-5697-4E1C-873F-D02D1690AC5C}">
        <p15:threadingInfo timeZoneBias="0"/>
      </p:ext>
      <p:ext uri="http://customooxmlschemas.google.com/">
        <go:slidesCustomData xmlns:go="http://customooxmlschemas.google.com/" commentPostId="AAABkXU-K28"/>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6-02T19:21:02.937">
    <p:pos x="1186" y="1074"/>
    <p:text>Hola, gracias por el avance, complementar las presentaciones con la competencias que se formara en esa clase</p:text>
    <p:extLst>
      <p:ext uri="{C676402C-5697-4E1C-873F-D02D1690AC5C}">
        <p15:threadingInfo timeZoneBias="0"/>
      </p:ext>
      <p:ext uri="http://customooxmlschemas.google.com/">
        <go:slidesCustomData xmlns:go="http://customooxmlschemas.google.com/" commentPostId="AAABkq-qLfc"/>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60af06ba2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g360af06ba2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f4ab7b10d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g1f4ab7b10d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Enunciado</a:t>
            </a:r>
            <a:endParaRPr/>
          </a:p>
          <a:p>
            <a:pPr indent="0" lvl="0" marL="0" rtl="0" algn="l">
              <a:lnSpc>
                <a:spcPct val="100000"/>
              </a:lnSpc>
              <a:spcBef>
                <a:spcPts val="0"/>
              </a:spcBef>
              <a:spcAft>
                <a:spcPts val="0"/>
              </a:spcAft>
              <a:buSzPts val="1400"/>
              <a:buNone/>
            </a:pPr>
            <a:r>
              <a:rPr lang="en-US"/>
              <a:t>Hc</a:t>
            </a:r>
            <a:endParaRPr/>
          </a:p>
          <a:p>
            <a:pPr indent="0" lvl="0" marL="0" rtl="0" algn="l">
              <a:lnSpc>
                <a:spcPct val="100000"/>
              </a:lnSpc>
              <a:spcBef>
                <a:spcPts val="0"/>
              </a:spcBef>
              <a:spcAft>
                <a:spcPts val="0"/>
              </a:spcAft>
              <a:buSzPts val="1400"/>
              <a:buNone/>
            </a:pPr>
            <a:r>
              <a:rPr lang="en-US"/>
              <a:t>dudas</a:t>
            </a:r>
            <a:endParaRPr/>
          </a:p>
        </p:txBody>
      </p:sp>
      <p:sp>
        <p:nvSpPr>
          <p:cNvPr id="160" name="Google Shape;160;g1f4ab7b10d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48584de576676619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g48584de576676619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81" name="Google Shape;181;g48584de576676619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190" name="Google Shape;1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48584de576676619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g48584de576676619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06" name="Google Shape;206;g48584de576676619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d46eea4f4d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2d46eea4f4d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46eea4f4d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2d46eea4f4d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d46eea4f4d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8" name="Google Shape;228;g2d46eea4f4d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d46eea4f4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2d46eea4f4d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DevOps se define como una metodología que ha venido a revolucionar el marco de desarrollo de aplicaciones, gracias a la aplicación de diferentes prácticas y herramientas de automatización que permiten producir </a:t>
            </a:r>
            <a:r>
              <a:rPr i="1" lang="en-US" sz="1200">
                <a:solidFill>
                  <a:schemeClr val="dk1"/>
                </a:solidFill>
                <a:latin typeface="Calibri"/>
                <a:ea typeface="Calibri"/>
                <a:cs typeface="Calibri"/>
                <a:sym typeface="Calibri"/>
              </a:rPr>
              <a:t>software </a:t>
            </a:r>
            <a:r>
              <a:rPr lang="en-US" sz="1200">
                <a:solidFill>
                  <a:schemeClr val="dk1"/>
                </a:solidFill>
                <a:latin typeface="Calibri"/>
                <a:ea typeface="Calibri"/>
                <a:cs typeface="Calibri"/>
                <a:sym typeface="Calibri"/>
              </a:rPr>
              <a:t>más rápido. Además de lo mencionado, esta metodología permite la unificación de Desarrollo y Operaciones, lo que facilita el trabajo y la distribución la infraestructura aplicativa. </a:t>
            </a:r>
            <a:endParaRPr/>
          </a:p>
          <a:p>
            <a:pPr indent="0" lvl="0" marL="0" rtl="0" algn="l">
              <a:lnSpc>
                <a:spcPct val="100000"/>
              </a:lnSpc>
              <a:spcBef>
                <a:spcPts val="0"/>
              </a:spcBef>
              <a:spcAft>
                <a:spcPts val="0"/>
              </a:spcAft>
              <a:buSzPts val="1400"/>
              <a:buNone/>
            </a:pPr>
            <a:r>
              <a:t/>
            </a:r>
            <a:endParaRPr/>
          </a:p>
        </p:txBody>
      </p:sp>
      <p:sp>
        <p:nvSpPr>
          <p:cNvPr id="237" name="Google Shape;237;g2d46eea4f4d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d46eea4f4d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g2d46eea4f4d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d46eea4f4d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2d46eea4f4d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d46eea4f4d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2d46eea4f4d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48584de576676619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5" name="Google Shape;275;g48584de576676619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d46eea4f4d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2d46eea4f4d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d46eea4f4d_0_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g2d46eea4f4d_0_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d46eea4f4d_0_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2d46eea4f4d_0_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d46eea4f4d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2d46eea4f4d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d46eea4f4d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0" name="Google Shape;320;g2d46eea4f4d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d46eea4f4d_0_1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8" name="Google Shape;328;g2d46eea4f4d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d46eea4f4d_0_1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g2d46eea4f4d_0_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2d46eea4f4d_0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g2d46eea4f4d_0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d46eea4f4d_0_1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g2d46eea4f4d_0_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d46eea4f4d_0_1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g2d46eea4f4d_0_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60af06ba2e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60af06ba2e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g1f2e196bda9_0_8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3700"/>
              <a:buNone/>
              <a:defRPr/>
            </a:lvl1pPr>
            <a:lvl2pPr lvl="1" algn="l">
              <a:lnSpc>
                <a:spcPct val="100000"/>
              </a:lnSpc>
              <a:spcBef>
                <a:spcPts val="0"/>
              </a:spcBef>
              <a:spcAft>
                <a:spcPts val="0"/>
              </a:spcAft>
              <a:buSzPts val="3700"/>
              <a:buNone/>
              <a:defRPr/>
            </a:lvl2pPr>
            <a:lvl3pPr lvl="2" algn="l">
              <a:lnSpc>
                <a:spcPct val="100000"/>
              </a:lnSpc>
              <a:spcBef>
                <a:spcPts val="0"/>
              </a:spcBef>
              <a:spcAft>
                <a:spcPts val="0"/>
              </a:spcAft>
              <a:buSzPts val="3700"/>
              <a:buNone/>
              <a:defRPr/>
            </a:lvl3pPr>
            <a:lvl4pPr lvl="3" algn="l">
              <a:lnSpc>
                <a:spcPct val="100000"/>
              </a:lnSpc>
              <a:spcBef>
                <a:spcPts val="0"/>
              </a:spcBef>
              <a:spcAft>
                <a:spcPts val="0"/>
              </a:spcAft>
              <a:buSzPts val="3700"/>
              <a:buNone/>
              <a:defRPr/>
            </a:lvl4pPr>
            <a:lvl5pPr lvl="4" algn="l">
              <a:lnSpc>
                <a:spcPct val="100000"/>
              </a:lnSpc>
              <a:spcBef>
                <a:spcPts val="0"/>
              </a:spcBef>
              <a:spcAft>
                <a:spcPts val="0"/>
              </a:spcAft>
              <a:buSzPts val="3700"/>
              <a:buNone/>
              <a:defRPr/>
            </a:lvl5pPr>
            <a:lvl6pPr lvl="5" algn="l">
              <a:lnSpc>
                <a:spcPct val="100000"/>
              </a:lnSpc>
              <a:spcBef>
                <a:spcPts val="0"/>
              </a:spcBef>
              <a:spcAft>
                <a:spcPts val="0"/>
              </a:spcAft>
              <a:buSzPts val="3700"/>
              <a:buNone/>
              <a:defRPr/>
            </a:lvl6pPr>
            <a:lvl7pPr lvl="6" algn="l">
              <a:lnSpc>
                <a:spcPct val="100000"/>
              </a:lnSpc>
              <a:spcBef>
                <a:spcPts val="0"/>
              </a:spcBef>
              <a:spcAft>
                <a:spcPts val="0"/>
              </a:spcAft>
              <a:buSzPts val="3700"/>
              <a:buNone/>
              <a:defRPr/>
            </a:lvl7pPr>
            <a:lvl8pPr lvl="7" algn="l">
              <a:lnSpc>
                <a:spcPct val="100000"/>
              </a:lnSpc>
              <a:spcBef>
                <a:spcPts val="0"/>
              </a:spcBef>
              <a:spcAft>
                <a:spcPts val="0"/>
              </a:spcAft>
              <a:buSzPts val="3700"/>
              <a:buNone/>
              <a:defRPr/>
            </a:lvl8pPr>
            <a:lvl9pPr lvl="8" algn="l">
              <a:lnSpc>
                <a:spcPct val="100000"/>
              </a:lnSpc>
              <a:spcBef>
                <a:spcPts val="0"/>
              </a:spcBef>
              <a:spcAft>
                <a:spcPts val="0"/>
              </a:spcAft>
              <a:buSzPts val="3700"/>
              <a:buNone/>
              <a:defRPr/>
            </a:lvl9pPr>
          </a:lstStyle>
          <a:p/>
        </p:txBody>
      </p:sp>
      <p:sp>
        <p:nvSpPr>
          <p:cNvPr id="33" name="Google Shape;33;g1f2e196bda9_0_8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34" name="Google Shape;34;g1f2e196bda9_0_8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5" name="Shape 35"/>
        <p:cNvGrpSpPr/>
        <p:nvPr/>
      </p:nvGrpSpPr>
      <p:grpSpPr>
        <a:xfrm>
          <a:off x="0" y="0"/>
          <a:ext cx="0" cy="0"/>
          <a:chOff x="0" y="0"/>
          <a:chExt cx="0" cy="0"/>
        </a:xfrm>
      </p:grpSpPr>
      <p:sp>
        <p:nvSpPr>
          <p:cNvPr id="36" name="Google Shape;36;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1" name="Shape 41"/>
        <p:cNvGrpSpPr/>
        <p:nvPr/>
      </p:nvGrpSpPr>
      <p:grpSpPr>
        <a:xfrm>
          <a:off x="0" y="0"/>
          <a:ext cx="0" cy="0"/>
          <a:chOff x="0" y="0"/>
          <a:chExt cx="0" cy="0"/>
        </a:xfrm>
      </p:grpSpPr>
      <p:sp>
        <p:nvSpPr>
          <p:cNvPr id="42" name="Google Shape;4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8" name="Shape 48"/>
        <p:cNvGrpSpPr/>
        <p:nvPr/>
      </p:nvGrpSpPr>
      <p:grpSpPr>
        <a:xfrm>
          <a:off x="0" y="0"/>
          <a:ext cx="0" cy="0"/>
          <a:chOff x="0" y="0"/>
          <a:chExt cx="0" cy="0"/>
        </a:xfrm>
      </p:grpSpPr>
      <p:sp>
        <p:nvSpPr>
          <p:cNvPr id="49" name="Google Shape;4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7" name="Shape 57"/>
        <p:cNvGrpSpPr/>
        <p:nvPr/>
      </p:nvGrpSpPr>
      <p:grpSpPr>
        <a:xfrm>
          <a:off x="0" y="0"/>
          <a:ext cx="0" cy="0"/>
          <a:chOff x="0" y="0"/>
          <a:chExt cx="0" cy="0"/>
        </a:xfrm>
      </p:grpSpPr>
      <p:sp>
        <p:nvSpPr>
          <p:cNvPr id="58" name="Google Shape;5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2" name="Shape 62"/>
        <p:cNvGrpSpPr/>
        <p:nvPr/>
      </p:nvGrpSpPr>
      <p:grpSpPr>
        <a:xfrm>
          <a:off x="0" y="0"/>
          <a:ext cx="0" cy="0"/>
          <a:chOff x="0" y="0"/>
          <a:chExt cx="0" cy="0"/>
        </a:xfrm>
      </p:grpSpPr>
      <p:sp>
        <p:nvSpPr>
          <p:cNvPr id="63" name="Google Shape;63;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3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9" name="Shape 69"/>
        <p:cNvGrpSpPr/>
        <p:nvPr/>
      </p:nvGrpSpPr>
      <p:grpSpPr>
        <a:xfrm>
          <a:off x="0" y="0"/>
          <a:ext cx="0" cy="0"/>
          <a:chOff x="0" y="0"/>
          <a:chExt cx="0" cy="0"/>
        </a:xfrm>
      </p:grpSpPr>
      <p:sp>
        <p:nvSpPr>
          <p:cNvPr id="70" name="Google Shape;70;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2"/>
          <p:cNvSpPr/>
          <p:nvPr>
            <p:ph idx="2" type="pic"/>
          </p:nvPr>
        </p:nvSpPr>
        <p:spPr>
          <a:xfrm>
            <a:off x="5183188" y="987425"/>
            <a:ext cx="6172200" cy="4873625"/>
          </a:xfrm>
          <a:prstGeom prst="rect">
            <a:avLst/>
          </a:prstGeom>
          <a:noFill/>
          <a:ln>
            <a:noFill/>
          </a:ln>
        </p:spPr>
      </p:sp>
      <p:sp>
        <p:nvSpPr>
          <p:cNvPr id="72" name="Google Shape;72;p3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6" name="Shape 76"/>
        <p:cNvGrpSpPr/>
        <p:nvPr/>
      </p:nvGrpSpPr>
      <p:grpSpPr>
        <a:xfrm>
          <a:off x="0" y="0"/>
          <a:ext cx="0" cy="0"/>
          <a:chOff x="0" y="0"/>
          <a:chExt cx="0" cy="0"/>
        </a:xfrm>
      </p:grpSpPr>
      <p:sp>
        <p:nvSpPr>
          <p:cNvPr id="77" name="Google Shape;77;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2" name="Shape 82"/>
        <p:cNvGrpSpPr/>
        <p:nvPr/>
      </p:nvGrpSpPr>
      <p:grpSpPr>
        <a:xfrm>
          <a:off x="0" y="0"/>
          <a:ext cx="0" cy="0"/>
          <a:chOff x="0" y="0"/>
          <a:chExt cx="0" cy="0"/>
        </a:xfrm>
      </p:grpSpPr>
      <p:sp>
        <p:nvSpPr>
          <p:cNvPr id="83" name="Google Shape;83;p3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12.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
          <p:cNvPicPr preferRelativeResize="0"/>
          <p:nvPr/>
        </p:nvPicPr>
        <p:blipFill rotWithShape="1">
          <a:blip r:embed="rId4">
            <a:alphaModFix amt="62000"/>
          </a:blip>
          <a:srcRect b="0" l="0" r="0" t="0"/>
          <a:stretch/>
        </p:blipFill>
        <p:spPr>
          <a:xfrm>
            <a:off x="11269" y="1"/>
            <a:ext cx="12169465" cy="6858001"/>
          </a:xfrm>
          <a:prstGeom prst="rect">
            <a:avLst/>
          </a:prstGeom>
          <a:noFill/>
          <a:ln>
            <a:noFill/>
          </a:ln>
        </p:spPr>
      </p:pic>
      <p:graphicFrame>
        <p:nvGraphicFramePr>
          <p:cNvPr id="93" name="Google Shape;93;p1"/>
          <p:cNvGraphicFramePr/>
          <p:nvPr/>
        </p:nvGraphicFramePr>
        <p:xfrm>
          <a:off x="6493942" y="1328692"/>
          <a:ext cx="3000000" cy="3000000"/>
        </p:xfrm>
        <a:graphic>
          <a:graphicData uri="http://schemas.openxmlformats.org/drawingml/2006/table">
            <a:tbl>
              <a:tblPr>
                <a:noFill/>
                <a:tableStyleId>{1000245A-A86F-48D6-AB46-3B5DF031F4CA}</a:tableStyleId>
              </a:tblPr>
              <a:tblGrid>
                <a:gridCol w="2265425"/>
                <a:gridCol w="3241550"/>
              </a:tblGrid>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Día, Fecha:</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Jueves, 17/10/2024</a:t>
                      </a:r>
                      <a:endParaRPr sz="2400" u="none" cap="none" strike="noStrike"/>
                    </a:p>
                  </a:txBody>
                  <a:tcPr marT="121900" marB="121900" marR="121900" marL="121900"/>
                </a:tc>
              </a:tr>
              <a:tr h="609550">
                <a:tc>
                  <a:txBody>
                    <a:bodyPr/>
                    <a:lstStyle/>
                    <a:p>
                      <a:pPr indent="0" lvl="0" marL="0" marR="0" rtl="0" algn="l">
                        <a:lnSpc>
                          <a:spcPct val="100000"/>
                        </a:lnSpc>
                        <a:spcBef>
                          <a:spcPts val="0"/>
                        </a:spcBef>
                        <a:spcAft>
                          <a:spcPts val="0"/>
                        </a:spcAft>
                        <a:buClr>
                          <a:schemeClr val="dk1"/>
                        </a:buClr>
                        <a:buSzPts val="1900"/>
                        <a:buFont typeface="Calibri"/>
                        <a:buNone/>
                      </a:pPr>
                      <a:r>
                        <a:rPr b="1" lang="en-US" sz="1900" u="none" cap="none" strike="noStrike">
                          <a:solidFill>
                            <a:schemeClr val="dk1"/>
                          </a:solidFill>
                        </a:rPr>
                        <a:t>Hora de inicio:</a:t>
                      </a:r>
                      <a:endParaRPr b="1" sz="1900" u="none" cap="none" strike="noStrike">
                        <a:solidFill>
                          <a:schemeClr val="dk1"/>
                        </a:solidFill>
                      </a:endParaRPr>
                    </a:p>
                  </a:txBody>
                  <a:tcPr marT="121900" marB="121900" marR="121900" marL="121900"/>
                </a:tc>
                <a:tc>
                  <a:txBody>
                    <a:bodyPr/>
                    <a:lstStyle/>
                    <a:p>
                      <a:pPr indent="0" lvl="0" marL="0" marR="0" rtl="0" algn="l">
                        <a:lnSpc>
                          <a:spcPct val="100000"/>
                        </a:lnSpc>
                        <a:spcBef>
                          <a:spcPts val="0"/>
                        </a:spcBef>
                        <a:spcAft>
                          <a:spcPts val="0"/>
                        </a:spcAft>
                        <a:buClr>
                          <a:schemeClr val="dk1"/>
                        </a:buClr>
                        <a:buSzPts val="2400"/>
                        <a:buFont typeface="Calibri"/>
                        <a:buNone/>
                      </a:pPr>
                      <a:r>
                        <a:rPr lang="en-US" sz="2400" u="none" cap="none" strike="noStrike"/>
                        <a:t>17:20</a:t>
                      </a:r>
                      <a:endParaRPr sz="2400" u="none" cap="none" strike="noStrike"/>
                    </a:p>
                  </a:txBody>
                  <a:tcPr marT="121900" marB="121900" marR="121900" marL="121900"/>
                </a:tc>
              </a:tr>
            </a:tbl>
          </a:graphicData>
        </a:graphic>
      </p:graphicFrame>
      <p:sp>
        <p:nvSpPr>
          <p:cNvPr id="94" name="Google Shape;94;p1"/>
          <p:cNvSpPr txBox="1"/>
          <p:nvPr/>
        </p:nvSpPr>
        <p:spPr>
          <a:xfrm>
            <a:off x="1920233" y="3011067"/>
            <a:ext cx="9056100" cy="7593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333"/>
              <a:buFont typeface="Arial"/>
              <a:buNone/>
            </a:pPr>
            <a:r>
              <a:rPr b="0" i="0" lang="en-US" sz="3333" u="none" cap="none" strike="noStrike">
                <a:solidFill>
                  <a:schemeClr val="dk1"/>
                </a:solidFill>
                <a:latin typeface="Calibri"/>
                <a:ea typeface="Calibri"/>
                <a:cs typeface="Calibri"/>
                <a:sym typeface="Calibri"/>
              </a:rPr>
              <a:t>Software Avanzado Sección A</a:t>
            </a:r>
            <a:endParaRPr b="0" i="0" sz="3333" u="none" cap="none" strike="noStrike">
              <a:solidFill>
                <a:schemeClr val="dk1"/>
              </a:solidFill>
              <a:latin typeface="Calibri"/>
              <a:ea typeface="Calibri"/>
              <a:cs typeface="Calibri"/>
              <a:sym typeface="Calibri"/>
            </a:endParaRPr>
          </a:p>
        </p:txBody>
      </p:sp>
      <p:sp>
        <p:nvSpPr>
          <p:cNvPr id="95" name="Google Shape;95;p1"/>
          <p:cNvSpPr txBox="1"/>
          <p:nvPr/>
        </p:nvSpPr>
        <p:spPr>
          <a:xfrm>
            <a:off x="2371600" y="3867668"/>
            <a:ext cx="7448800" cy="656614"/>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667"/>
              <a:buFont typeface="Arial"/>
              <a:buNone/>
            </a:pPr>
            <a:r>
              <a:rPr b="0" i="0" lang="en-US" sz="2667" u="none" cap="none" strike="noStrike">
                <a:solidFill>
                  <a:schemeClr val="dk1"/>
                </a:solidFill>
                <a:latin typeface="Calibri"/>
                <a:ea typeface="Calibri"/>
                <a:cs typeface="Calibri"/>
                <a:sym typeface="Calibri"/>
              </a:rPr>
              <a:t>Diego Molina</a:t>
            </a:r>
            <a:endParaRPr b="0" i="0" sz="2667"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60af06ba2e_0_0"/>
          <p:cNvSpPr/>
          <p:nvPr/>
        </p:nvSpPr>
        <p:spPr>
          <a:xfrm>
            <a:off x="8360873" y="0"/>
            <a:ext cx="3835916" cy="1142613"/>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4">
              <a:alphaModFix/>
            </a:blip>
            <a:stretch>
              <a:fillRect b="0" l="0" r="0" t="0"/>
            </a:stretch>
          </a:blipFill>
          <a:ln>
            <a:noFill/>
          </a:ln>
        </p:spPr>
      </p:sp>
      <p:sp>
        <p:nvSpPr>
          <p:cNvPr id="101" name="Google Shape;101;g360af06ba2e_0_0"/>
          <p:cNvSpPr/>
          <p:nvPr/>
        </p:nvSpPr>
        <p:spPr>
          <a:xfrm>
            <a:off x="8360873" y="4014585"/>
            <a:ext cx="2776923" cy="2746629"/>
          </a:xfrm>
          <a:custGeom>
            <a:rect b="b" l="l" r="r" t="t"/>
            <a:pathLst>
              <a:path extrusionOk="0" h="4114800" w="4160184">
                <a:moveTo>
                  <a:pt x="0" y="0"/>
                </a:moveTo>
                <a:lnTo>
                  <a:pt x="4160184" y="0"/>
                </a:lnTo>
                <a:lnTo>
                  <a:pt x="4160184" y="4114800"/>
                </a:lnTo>
                <a:lnTo>
                  <a:pt x="0" y="4114800"/>
                </a:lnTo>
                <a:lnTo>
                  <a:pt x="0" y="0"/>
                </a:lnTo>
                <a:close/>
              </a:path>
            </a:pathLst>
          </a:custGeom>
          <a:blipFill rotWithShape="1">
            <a:blip r:embed="rId5">
              <a:alphaModFix/>
            </a:blip>
            <a:stretch>
              <a:fillRect b="0" l="0" r="0" t="0"/>
            </a:stretch>
          </a:blipFill>
          <a:ln>
            <a:noFill/>
          </a:ln>
        </p:spPr>
      </p:sp>
      <p:sp>
        <p:nvSpPr>
          <p:cNvPr id="102" name="Google Shape;102;g360af06ba2e_0_0"/>
          <p:cNvSpPr txBox="1"/>
          <p:nvPr/>
        </p:nvSpPr>
        <p:spPr>
          <a:xfrm>
            <a:off x="685794" y="4235339"/>
            <a:ext cx="3811500" cy="1219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300"/>
              <a:buFont typeface="Arial"/>
              <a:buNone/>
            </a:pPr>
            <a:r>
              <a:rPr b="1" lang="en-US" sz="3300">
                <a:solidFill>
                  <a:srgbClr val="131416"/>
                </a:solidFill>
                <a:latin typeface="Open Sans"/>
                <a:ea typeface="Open Sans"/>
                <a:cs typeface="Open Sans"/>
                <a:sym typeface="Open Sans"/>
              </a:rPr>
              <a:t>Software Avanzado</a:t>
            </a:r>
            <a:endParaRPr b="1" sz="3300">
              <a:solidFill>
                <a:srgbClr val="131416"/>
              </a:solidFill>
              <a:latin typeface="Open Sans"/>
              <a:ea typeface="Open Sans"/>
              <a:cs typeface="Open Sans"/>
              <a:sym typeface="Open Sans"/>
            </a:endParaRPr>
          </a:p>
        </p:txBody>
      </p:sp>
      <p:sp>
        <p:nvSpPr>
          <p:cNvPr id="103" name="Google Shape;103;g360af06ba2e_0_0"/>
          <p:cNvSpPr txBox="1"/>
          <p:nvPr/>
        </p:nvSpPr>
        <p:spPr>
          <a:xfrm>
            <a:off x="1883653" y="1705908"/>
            <a:ext cx="8250000" cy="22533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6100"/>
              <a:buFont typeface="Arial"/>
              <a:buNone/>
            </a:pPr>
            <a:r>
              <a:rPr b="1" lang="en-US" sz="6100">
                <a:solidFill>
                  <a:srgbClr val="131416"/>
                </a:solidFill>
                <a:latin typeface="Open Sans"/>
                <a:ea typeface="Open Sans"/>
                <a:cs typeface="Open Sans"/>
                <a:sym typeface="Open Sans"/>
              </a:rPr>
              <a:t>DevOps: Release &amp; Deploy</a:t>
            </a:r>
            <a:endParaRPr b="0" i="0" sz="900" u="none" cap="none" strike="noStrike">
              <a:solidFill>
                <a:srgbClr val="000000"/>
              </a:solidFill>
              <a:latin typeface="Arial"/>
              <a:ea typeface="Arial"/>
              <a:cs typeface="Arial"/>
              <a:sym typeface="Arial"/>
            </a:endParaRPr>
          </a:p>
        </p:txBody>
      </p:sp>
      <p:sp>
        <p:nvSpPr>
          <p:cNvPr id="104" name="Google Shape;104;g360af06ba2e_0_0"/>
          <p:cNvSpPr txBox="1"/>
          <p:nvPr/>
        </p:nvSpPr>
        <p:spPr>
          <a:xfrm>
            <a:off x="685794" y="5483392"/>
            <a:ext cx="4654200" cy="6282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Escuela de </a:t>
            </a:r>
            <a:r>
              <a:rPr b="1" lang="en-US" sz="1700">
                <a:solidFill>
                  <a:srgbClr val="131416"/>
                </a:solidFill>
                <a:latin typeface="Open Sans"/>
                <a:ea typeface="Open Sans"/>
                <a:cs typeface="Open Sans"/>
                <a:sym typeface="Open Sans"/>
              </a:rPr>
              <a:t>Ingeniería</a:t>
            </a:r>
            <a:r>
              <a:rPr b="1" i="0" lang="en-US" sz="1700" u="none" cap="none" strike="noStrike">
                <a:solidFill>
                  <a:srgbClr val="131416"/>
                </a:solidFill>
                <a:latin typeface="Open Sans"/>
                <a:ea typeface="Open Sans"/>
                <a:cs typeface="Open Sans"/>
                <a:sym typeface="Open Sans"/>
              </a:rPr>
              <a:t> de Ciencias Y Sistemas</a:t>
            </a:r>
            <a:endParaRPr b="1" i="0" sz="1700" u="none" cap="none" strike="noStrike">
              <a:solidFill>
                <a:srgbClr val="131416"/>
              </a:solidFill>
              <a:latin typeface="Open Sans"/>
              <a:ea typeface="Open Sans"/>
              <a:cs typeface="Open Sans"/>
              <a:sym typeface="Open Sans"/>
            </a:endParaRPr>
          </a:p>
        </p:txBody>
      </p:sp>
      <p:sp>
        <p:nvSpPr>
          <p:cNvPr id="105" name="Google Shape;105;g360af06ba2e_0_0"/>
          <p:cNvSpPr txBox="1"/>
          <p:nvPr/>
        </p:nvSpPr>
        <p:spPr>
          <a:xfrm>
            <a:off x="685800" y="6140450"/>
            <a:ext cx="4445100" cy="261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Facultad de </a:t>
            </a:r>
            <a:r>
              <a:rPr b="1" lang="en-US" sz="1700">
                <a:solidFill>
                  <a:srgbClr val="131416"/>
                </a:solidFill>
                <a:latin typeface="Open Sans"/>
                <a:ea typeface="Open Sans"/>
                <a:cs typeface="Open Sans"/>
                <a:sym typeface="Open Sans"/>
              </a:rPr>
              <a:t>Ingeniería</a:t>
            </a:r>
            <a:endParaRPr b="1" i="0" sz="1700" u="none" cap="none" strike="noStrike">
              <a:solidFill>
                <a:srgbClr val="131416"/>
              </a:solidFill>
              <a:latin typeface="Open Sans"/>
              <a:ea typeface="Open Sans"/>
              <a:cs typeface="Open Sans"/>
              <a:sym typeface="Open Sans"/>
            </a:endParaRPr>
          </a:p>
        </p:txBody>
      </p:sp>
      <p:sp>
        <p:nvSpPr>
          <p:cNvPr id="106" name="Google Shape;106;g360af06ba2e_0_0"/>
          <p:cNvSpPr txBox="1"/>
          <p:nvPr/>
        </p:nvSpPr>
        <p:spPr>
          <a:xfrm>
            <a:off x="152400" y="6392169"/>
            <a:ext cx="5410200" cy="261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700"/>
              <a:buFont typeface="Arial"/>
              <a:buNone/>
            </a:pPr>
            <a:r>
              <a:rPr b="1" i="0" lang="en-US" sz="1700" u="none" cap="none" strike="noStrike">
                <a:solidFill>
                  <a:srgbClr val="131416"/>
                </a:solidFill>
                <a:latin typeface="Open Sans"/>
                <a:ea typeface="Open Sans"/>
                <a:cs typeface="Open Sans"/>
                <a:sym typeface="Open Sans"/>
              </a:rPr>
              <a:t>Universidad de San Carlos de Guatemala</a:t>
            </a:r>
            <a:endParaRPr b="0" i="0" sz="900" u="none" cap="none" strike="noStrike">
              <a:solidFill>
                <a:srgbClr val="000000"/>
              </a:solidFill>
              <a:latin typeface="Arial"/>
              <a:ea typeface="Arial"/>
              <a:cs typeface="Arial"/>
              <a:sym typeface="Arial"/>
            </a:endParaRPr>
          </a:p>
        </p:txBody>
      </p:sp>
      <p:sp>
        <p:nvSpPr>
          <p:cNvPr id="107" name="Google Shape;107;g360af06ba2e_0_0"/>
          <p:cNvSpPr txBox="1"/>
          <p:nvPr/>
        </p:nvSpPr>
        <p:spPr>
          <a:xfrm>
            <a:off x="8652721" y="4950693"/>
            <a:ext cx="2189700" cy="138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1700"/>
              <a:buFont typeface="Arial"/>
              <a:buNone/>
            </a:pPr>
            <a:r>
              <a:t/>
            </a:r>
            <a:endParaRPr b="0" i="0" sz="9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 name="Google Shape;113;p3"/>
          <p:cNvSpPr/>
          <p:nvPr/>
        </p:nvSpPr>
        <p:spPr>
          <a:xfrm>
            <a:off x="-1" y="0"/>
            <a:ext cx="4818889" cy="6858000"/>
          </a:xfrm>
          <a:custGeom>
            <a:rect b="b" l="l" r="r" t="t"/>
            <a:pathLst>
              <a:path extrusionOk="0" h="6858000" w="4818889">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solidFill>
            <a:schemeClr val="lt1"/>
          </a:solidFill>
          <a:ln cap="flat" cmpd="sng" w="9525">
            <a:solidFill>
              <a:srgbClr val="EFEFEF"/>
            </a:solidFill>
            <a:prstDash val="solid"/>
            <a:miter lim="800000"/>
            <a:headEnd len="sm" w="sm" type="none"/>
            <a:tailEnd len="sm" w="sm" type="none"/>
          </a:ln>
          <a:effectLst>
            <a:outerShdw blurRad="88900" rotWithShape="0" algn="l" dist="38100">
              <a:srgbClr val="D8D8D8">
                <a:alpha val="4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4" name="Google Shape;114;p3"/>
          <p:cNvSpPr/>
          <p:nvPr/>
        </p:nvSpPr>
        <p:spPr>
          <a:xfrm>
            <a:off x="1" y="0"/>
            <a:ext cx="4811477" cy="6858000"/>
          </a:xfrm>
          <a:custGeom>
            <a:rect b="b" l="l" r="r" t="t"/>
            <a:pathLst>
              <a:path extrusionOk="0" h="6858000" w="4811477">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115" name="Google Shape;115;p3"/>
          <p:cNvSpPr txBox="1"/>
          <p:nvPr>
            <p:ph type="title"/>
          </p:nvPr>
        </p:nvSpPr>
        <p:spPr>
          <a:xfrm>
            <a:off x="621792" y="1161288"/>
            <a:ext cx="3602736" cy="45262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AGENDA</a:t>
            </a:r>
            <a:endParaRPr/>
          </a:p>
        </p:txBody>
      </p:sp>
      <p:sp>
        <p:nvSpPr>
          <p:cNvPr id="116" name="Google Shape;116;p3"/>
          <p:cNvSpPr/>
          <p:nvPr/>
        </p:nvSpPr>
        <p:spPr>
          <a:xfrm>
            <a:off x="0" y="3081528"/>
            <a:ext cx="128016" cy="704088"/>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17" name="Google Shape;117;p3"/>
          <p:cNvGrpSpPr/>
          <p:nvPr/>
        </p:nvGrpSpPr>
        <p:grpSpPr>
          <a:xfrm>
            <a:off x="5303520" y="682037"/>
            <a:ext cx="6364200" cy="5503190"/>
            <a:chOff x="0" y="5381"/>
            <a:chExt cx="6364200" cy="5503190"/>
          </a:xfrm>
        </p:grpSpPr>
        <p:sp>
          <p:nvSpPr>
            <p:cNvPr id="118" name="Google Shape;118;p3"/>
            <p:cNvSpPr/>
            <p:nvPr/>
          </p:nvSpPr>
          <p:spPr>
            <a:xfrm>
              <a:off x="0" y="538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577822" y="5381"/>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txBox="1"/>
            <p:nvPr/>
          </p:nvSpPr>
          <p:spPr>
            <a:xfrm>
              <a:off x="577822" y="5381"/>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Anuncios generales</a:t>
              </a:r>
              <a:endParaRPr b="0" i="0" sz="1600" u="none" cap="none" strike="noStrike">
                <a:solidFill>
                  <a:schemeClr val="dk1"/>
                </a:solidFill>
                <a:latin typeface="Calibri"/>
                <a:ea typeface="Calibri"/>
                <a:cs typeface="Calibri"/>
                <a:sym typeface="Calibri"/>
              </a:endParaRPr>
            </a:p>
          </p:txBody>
        </p:sp>
        <p:sp>
          <p:nvSpPr>
            <p:cNvPr id="121" name="Google Shape;121;p3"/>
            <p:cNvSpPr/>
            <p:nvPr/>
          </p:nvSpPr>
          <p:spPr>
            <a:xfrm>
              <a:off x="0" y="630730"/>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p:nvPr/>
          </p:nvSpPr>
          <p:spPr>
            <a:xfrm>
              <a:off x="577822" y="630730"/>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
            <p:cNvSpPr txBox="1"/>
            <p:nvPr/>
          </p:nvSpPr>
          <p:spPr>
            <a:xfrm>
              <a:off x="577822" y="630730"/>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Espacio para dudas</a:t>
              </a:r>
              <a:endParaRPr b="0" i="0" sz="1600" u="none" cap="none" strike="noStrike">
                <a:solidFill>
                  <a:schemeClr val="dk1"/>
                </a:solidFill>
                <a:latin typeface="Calibri"/>
                <a:ea typeface="Calibri"/>
                <a:cs typeface="Calibri"/>
                <a:sym typeface="Calibri"/>
              </a:endParaRPr>
            </a:p>
          </p:txBody>
        </p:sp>
        <p:sp>
          <p:nvSpPr>
            <p:cNvPr id="124" name="Google Shape;124;p3"/>
            <p:cNvSpPr/>
            <p:nvPr/>
          </p:nvSpPr>
          <p:spPr>
            <a:xfrm>
              <a:off x="0" y="1256079"/>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
            <p:cNvSpPr/>
            <p:nvPr/>
          </p:nvSpPr>
          <p:spPr>
            <a:xfrm>
              <a:off x="577822" y="1256079"/>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577822" y="1256079"/>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DevOps: Deployment Stage</a:t>
              </a:r>
              <a:endParaRPr b="0" i="0" sz="1600" u="none" cap="none" strike="noStrike">
                <a:solidFill>
                  <a:schemeClr val="dk1"/>
                </a:solidFill>
                <a:latin typeface="Calibri"/>
                <a:ea typeface="Calibri"/>
                <a:cs typeface="Calibri"/>
                <a:sym typeface="Calibri"/>
              </a:endParaRPr>
            </a:p>
          </p:txBody>
        </p:sp>
        <p:sp>
          <p:nvSpPr>
            <p:cNvPr id="127" name="Google Shape;127;p3"/>
            <p:cNvSpPr/>
            <p:nvPr/>
          </p:nvSpPr>
          <p:spPr>
            <a:xfrm>
              <a:off x="0" y="1881427"/>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
            <p:cNvSpPr/>
            <p:nvPr/>
          </p:nvSpPr>
          <p:spPr>
            <a:xfrm>
              <a:off x="577822" y="1881427"/>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
            <p:cNvSpPr/>
            <p:nvPr/>
          </p:nvSpPr>
          <p:spPr>
            <a:xfrm>
              <a:off x="0" y="2506776"/>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
            <p:cNvSpPr/>
            <p:nvPr/>
          </p:nvSpPr>
          <p:spPr>
            <a:xfrm>
              <a:off x="577822" y="2506776"/>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
            <p:cNvSpPr txBox="1"/>
            <p:nvPr/>
          </p:nvSpPr>
          <p:spPr>
            <a:xfrm>
              <a:off x="577822" y="2506776"/>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Tareas</a:t>
              </a:r>
              <a:endParaRPr b="0" i="0" sz="1400" u="none" cap="none" strike="noStrike">
                <a:solidFill>
                  <a:srgbClr val="000000"/>
                </a:solidFill>
                <a:latin typeface="Arial"/>
                <a:ea typeface="Arial"/>
                <a:cs typeface="Arial"/>
                <a:sym typeface="Arial"/>
              </a:endParaRPr>
            </a:p>
          </p:txBody>
        </p:sp>
        <p:sp>
          <p:nvSpPr>
            <p:cNvPr id="132" name="Google Shape;132;p3"/>
            <p:cNvSpPr/>
            <p:nvPr/>
          </p:nvSpPr>
          <p:spPr>
            <a:xfrm>
              <a:off x="0" y="3132125"/>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3"/>
            <p:cNvSpPr/>
            <p:nvPr/>
          </p:nvSpPr>
          <p:spPr>
            <a:xfrm>
              <a:off x="577822" y="3132125"/>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3"/>
            <p:cNvSpPr txBox="1"/>
            <p:nvPr/>
          </p:nvSpPr>
          <p:spPr>
            <a:xfrm>
              <a:off x="577822" y="3132125"/>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Herramientas</a:t>
              </a:r>
              <a:endParaRPr b="0" i="0" sz="1400" u="none" cap="none" strike="noStrike">
                <a:solidFill>
                  <a:srgbClr val="000000"/>
                </a:solidFill>
                <a:latin typeface="Arial"/>
                <a:ea typeface="Arial"/>
                <a:cs typeface="Arial"/>
                <a:sym typeface="Arial"/>
              </a:endParaRPr>
            </a:p>
          </p:txBody>
        </p:sp>
        <p:sp>
          <p:nvSpPr>
            <p:cNvPr id="135" name="Google Shape;135;p3"/>
            <p:cNvSpPr/>
            <p:nvPr/>
          </p:nvSpPr>
          <p:spPr>
            <a:xfrm>
              <a:off x="0" y="3757473"/>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p:nvPr/>
          </p:nvSpPr>
          <p:spPr>
            <a:xfrm>
              <a:off x="577822" y="3757473"/>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
            <p:cNvSpPr/>
            <p:nvPr/>
          </p:nvSpPr>
          <p:spPr>
            <a:xfrm>
              <a:off x="0" y="4382822"/>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
            <p:cNvSpPr/>
            <p:nvPr/>
          </p:nvSpPr>
          <p:spPr>
            <a:xfrm>
              <a:off x="577822" y="4382822"/>
              <a:ext cx="5785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txBox="1"/>
            <p:nvPr/>
          </p:nvSpPr>
          <p:spPr>
            <a:xfrm>
              <a:off x="577822" y="4382822"/>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t/>
              </a:r>
              <a:endParaRPr b="0" i="0" sz="1400" u="none" cap="none" strike="noStrike">
                <a:solidFill>
                  <a:srgbClr val="000000"/>
                </a:solidFill>
                <a:latin typeface="Arial"/>
                <a:ea typeface="Arial"/>
                <a:cs typeface="Arial"/>
                <a:sym typeface="Arial"/>
              </a:endParaRPr>
            </a:p>
          </p:txBody>
        </p:sp>
        <p:sp>
          <p:nvSpPr>
            <p:cNvPr id="140" name="Google Shape;140;p3"/>
            <p:cNvSpPr/>
            <p:nvPr/>
          </p:nvSpPr>
          <p:spPr>
            <a:xfrm>
              <a:off x="0" y="5008171"/>
              <a:ext cx="6364200" cy="500400"/>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
            <p:cNvSpPr/>
            <p:nvPr/>
          </p:nvSpPr>
          <p:spPr>
            <a:xfrm>
              <a:off x="577822" y="5008171"/>
              <a:ext cx="28638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
            <p:cNvSpPr/>
            <p:nvPr/>
          </p:nvSpPr>
          <p:spPr>
            <a:xfrm>
              <a:off x="3441722" y="5008171"/>
              <a:ext cx="2922000" cy="500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
            <p:cNvSpPr txBox="1"/>
            <p:nvPr/>
          </p:nvSpPr>
          <p:spPr>
            <a:xfrm>
              <a:off x="577822" y="1881427"/>
              <a:ext cx="5785800" cy="500400"/>
            </a:xfrm>
            <a:prstGeom prst="rect">
              <a:avLst/>
            </a:prstGeom>
            <a:noFill/>
            <a:ln>
              <a:noFill/>
            </a:ln>
          </p:spPr>
          <p:txBody>
            <a:bodyPr anchorCtr="0" anchor="ctr" bIns="52925" lIns="52925" spcFirstLastPara="1" rIns="52925" wrap="square" tIns="52925">
              <a:noAutofit/>
            </a:bodyPr>
            <a:lstStyle/>
            <a:p>
              <a:pPr indent="0" lvl="0" marL="0" marR="0" rtl="0" algn="l">
                <a:lnSpc>
                  <a:spcPct val="100000"/>
                </a:lnSpc>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Definicion</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4"/>
          <p:cNvSpPr/>
          <p:nvPr/>
        </p:nvSpPr>
        <p:spPr>
          <a:xfrm>
            <a:off x="0" y="-1"/>
            <a:ext cx="12191695" cy="6852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0" name="Google Shape;150;p4"/>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1" name="Google Shape;151;p4"/>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Anuncios Generales</a:t>
            </a:r>
            <a:endParaRPr/>
          </a:p>
        </p:txBody>
      </p:sp>
      <p:pic>
        <p:nvPicPr>
          <p:cNvPr descr="Maestro" id="152" name="Google Shape;152;p4"/>
          <p:cNvPicPr preferRelativeResize="0"/>
          <p:nvPr/>
        </p:nvPicPr>
        <p:blipFill rotWithShape="1">
          <a:blip r:embed="rId3">
            <a:alphaModFix/>
          </a:blip>
          <a:srcRect b="0" l="0" r="0" t="0"/>
          <a:stretch/>
        </p:blipFill>
        <p:spPr>
          <a:xfrm>
            <a:off x="340470" y="1815320"/>
            <a:ext cx="4141760" cy="4141760"/>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53" name="Google Shape;153;p4"/>
          <p:cNvGrpSpPr/>
          <p:nvPr/>
        </p:nvGrpSpPr>
        <p:grpSpPr>
          <a:xfrm>
            <a:off x="-4253" y="-5977"/>
            <a:ext cx="6238675" cy="6863979"/>
            <a:chOff x="305" y="-5977"/>
            <a:chExt cx="6238675" cy="6863979"/>
          </a:xfrm>
        </p:grpSpPr>
        <p:sp>
          <p:nvSpPr>
            <p:cNvPr id="154" name="Google Shape;154;p4"/>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5" name="Google Shape;155;p4"/>
            <p:cNvSpPr/>
            <p:nvPr/>
          </p:nvSpPr>
          <p:spPr>
            <a:xfrm flipH="1">
              <a:off x="305" y="1"/>
              <a:ext cx="6165116"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6" name="Google Shape;156;p4"/>
            <p:cNvSpPr/>
            <p:nvPr/>
          </p:nvSpPr>
          <p:spPr>
            <a:xfrm flipH="1">
              <a:off x="305" y="-5977"/>
              <a:ext cx="6238675"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sp>
        <p:nvSpPr>
          <p:cNvPr id="162" name="Google Shape;162;g1f4ab7b10d1_0_1"/>
          <p:cNvSpPr/>
          <p:nvPr/>
        </p:nvSpPr>
        <p:spPr>
          <a:xfrm>
            <a:off x="0" y="-1"/>
            <a:ext cx="12191700" cy="6852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3" name="Google Shape;163;g1f4ab7b10d1_0_1"/>
          <p:cNvSpPr/>
          <p:nvPr/>
        </p:nvSpPr>
        <p:spPr>
          <a:xfrm>
            <a:off x="5" y="80300"/>
            <a:ext cx="121917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4" name="Google Shape;164;g1f4ab7b10d1_0_1"/>
          <p:cNvSpPr txBox="1"/>
          <p:nvPr>
            <p:ph type="title"/>
          </p:nvPr>
        </p:nvSpPr>
        <p:spPr>
          <a:xfrm>
            <a:off x="6549203" y="2681111"/>
            <a:ext cx="4806000" cy="1297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Calibri"/>
              <a:buNone/>
            </a:pPr>
            <a:r>
              <a:rPr lang="en-US" sz="8800">
                <a:solidFill>
                  <a:schemeClr val="dk2"/>
                </a:solidFill>
              </a:rPr>
              <a:t>Dudas</a:t>
            </a:r>
            <a:endParaRPr/>
          </a:p>
        </p:txBody>
      </p:sp>
      <p:pic>
        <p:nvPicPr>
          <p:cNvPr descr="Maestro" id="165" name="Google Shape;165;g1f4ab7b10d1_0_1"/>
          <p:cNvPicPr preferRelativeResize="0"/>
          <p:nvPr/>
        </p:nvPicPr>
        <p:blipFill rotWithShape="1">
          <a:blip r:embed="rId3">
            <a:alphaModFix/>
          </a:blip>
          <a:srcRect b="0" l="0" r="0" t="0"/>
          <a:stretch/>
        </p:blipFill>
        <p:spPr>
          <a:xfrm>
            <a:off x="340470" y="1815320"/>
            <a:ext cx="4141760" cy="4137064"/>
          </a:xfrm>
          <a:custGeom>
            <a:rect b="b" l="l" r="r" t="t"/>
            <a:pathLst>
              <a:path extrusionOk="0" h="4377846" w="4141760">
                <a:moveTo>
                  <a:pt x="0" y="0"/>
                </a:moveTo>
                <a:lnTo>
                  <a:pt x="4141760" y="0"/>
                </a:lnTo>
                <a:lnTo>
                  <a:pt x="4141760" y="4377846"/>
                </a:lnTo>
                <a:lnTo>
                  <a:pt x="0" y="4377846"/>
                </a:lnTo>
                <a:close/>
              </a:path>
            </a:pathLst>
          </a:custGeom>
          <a:noFill/>
          <a:ln>
            <a:noFill/>
          </a:ln>
        </p:spPr>
      </p:pic>
      <p:grpSp>
        <p:nvGrpSpPr>
          <p:cNvPr id="166" name="Google Shape;166;g1f4ab7b10d1_0_1"/>
          <p:cNvGrpSpPr/>
          <p:nvPr/>
        </p:nvGrpSpPr>
        <p:grpSpPr>
          <a:xfrm>
            <a:off x="-9754" y="-5977"/>
            <a:ext cx="6244176" cy="6863979"/>
            <a:chOff x="-5196" y="-5977"/>
            <a:chExt cx="6244176" cy="6863979"/>
          </a:xfrm>
        </p:grpSpPr>
        <p:sp>
          <p:nvSpPr>
            <p:cNvPr id="167" name="Google Shape;167;g1f4ab7b10d1_0_1"/>
            <p:cNvSpPr/>
            <p:nvPr/>
          </p:nvSpPr>
          <p:spPr>
            <a:xfrm flipH="1">
              <a:off x="305" y="34854"/>
              <a:ext cx="6028697" cy="6817170"/>
            </a:xfrm>
            <a:custGeom>
              <a:rect b="b" l="l" r="r" t="t"/>
              <a:pathLst>
                <a:path extrusionOk="0" h="6817170" w="6028697">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g1f4ab7b10d1_0_1"/>
            <p:cNvSpPr/>
            <p:nvPr/>
          </p:nvSpPr>
          <p:spPr>
            <a:xfrm flipH="1">
              <a:off x="-5196" y="1"/>
              <a:ext cx="6170617"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g1f4ab7b10d1_0_1"/>
            <p:cNvSpPr/>
            <p:nvPr/>
          </p:nvSpPr>
          <p:spPr>
            <a:xfrm flipH="1">
              <a:off x="5717" y="-5977"/>
              <a:ext cx="6233263" cy="6858001"/>
            </a:xfrm>
            <a:custGeom>
              <a:rect b="b" l="l" r="r" t="t"/>
              <a:pathLst>
                <a:path extrusionOk="0" h="6858001" w="6264586">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0">
                  <a:srgbClr val="FFFFFF">
                    <a:alpha val="7843"/>
                  </a:srgbClr>
                </a:gs>
                <a:gs pos="2000">
                  <a:srgbClr val="FFFFFF">
                    <a:alpha val="7843"/>
                  </a:srgbClr>
                </a:gs>
                <a:gs pos="16000">
                  <a:srgbClr val="70AD47">
                    <a:alpha val="7843"/>
                  </a:srgbClr>
                </a:gs>
                <a:gs pos="85000">
                  <a:srgbClr val="4472C4">
                    <a:alpha val="7843"/>
                  </a:srgbClr>
                </a:gs>
                <a:gs pos="100000">
                  <a:srgbClr val="FFFFFF">
                    <a:alpha val="7843"/>
                  </a:srgbClr>
                </a:gs>
              </a:gsLst>
              <a:lin ang="1200014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sp>
        <p:nvSpPr>
          <p:cNvPr id="174" name="Google Shape;174;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5" name="Google Shape;175;p6"/>
          <p:cNvSpPr txBox="1"/>
          <p:nvPr>
            <p:ph type="title"/>
          </p:nvPr>
        </p:nvSpPr>
        <p:spPr>
          <a:xfrm>
            <a:off x="572493" y="238539"/>
            <a:ext cx="11018520" cy="143441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b="1" lang="en-US" sz="5400"/>
              <a:t>Deployment en DevOps</a:t>
            </a:r>
            <a:endParaRPr sz="5400"/>
          </a:p>
        </p:txBody>
      </p:sp>
      <p:sp>
        <p:nvSpPr>
          <p:cNvPr id="176" name="Google Shape;176;p6"/>
          <p:cNvSpPr/>
          <p:nvPr/>
        </p:nvSpPr>
        <p:spPr>
          <a:xfrm>
            <a:off x="572493" y="1681544"/>
            <a:ext cx="10972800" cy="18288"/>
          </a:xfrm>
          <a:custGeom>
            <a:rect b="b" l="l" r="r" t="t"/>
            <a:pathLst>
              <a:path extrusionOk="0" fill="none" h="18288" w="1097280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extrusionOk="0" h="18288" w="1097280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2941"/>
            </a:schemeClr>
          </a:solidFill>
          <a:ln cap="rnd" cmpd="sng" w="44450">
            <a:solidFill>
              <a:schemeClr val="accent2">
                <a:alpha val="72941"/>
              </a:scheme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77" name="Google Shape;177;p6"/>
          <p:cNvPicPr preferRelativeResize="0"/>
          <p:nvPr/>
        </p:nvPicPr>
        <p:blipFill rotWithShape="1">
          <a:blip r:embed="rId3">
            <a:alphaModFix/>
          </a:blip>
          <a:srcRect b="0" l="0" r="0" t="0"/>
          <a:stretch/>
        </p:blipFill>
        <p:spPr>
          <a:xfrm>
            <a:off x="2756250" y="2106375"/>
            <a:ext cx="7832151" cy="39160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g48584de576676619_4"/>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4" name="Google Shape;184;g48584de576676619_4"/>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Deployment en Devops</a:t>
            </a:r>
            <a:endParaRPr/>
          </a:p>
        </p:txBody>
      </p:sp>
      <p:sp>
        <p:nvSpPr>
          <p:cNvPr id="185" name="Google Shape;185;g48584de576676619_4"/>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6" name="Google Shape;186;g48584de576676619_4"/>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47500" lnSpcReduction="20000"/>
          </a:bodyPr>
          <a:lstStyle/>
          <a:p>
            <a:pPr indent="0" lvl="0" marL="457200" rtl="0" algn="l">
              <a:lnSpc>
                <a:spcPct val="90000"/>
              </a:lnSpc>
              <a:spcBef>
                <a:spcPts val="0"/>
              </a:spcBef>
              <a:spcAft>
                <a:spcPts val="0"/>
              </a:spcAft>
              <a:buClr>
                <a:schemeClr val="dk1"/>
              </a:buClr>
              <a:buSzPct val="26008"/>
              <a:buFont typeface="Arial"/>
              <a:buNone/>
            </a:pPr>
            <a:r>
              <a:rPr lang="en-US" sz="4229"/>
              <a:t>La fase de despliegue en el ciclo DevOps se refiere al proceso de poner en producción los cambios de código o aplicaciones, haciéndolos accesibles para los usuarios finales o clientes. Es una de las fases finales dentro del ciclo de DevOps y juega un papel clave en la entrega continua de software.</a:t>
            </a:r>
            <a:endParaRPr sz="4229"/>
          </a:p>
          <a:p>
            <a:pPr indent="0" lvl="0" marL="457200" rtl="0" algn="l">
              <a:lnSpc>
                <a:spcPct val="90000"/>
              </a:lnSpc>
              <a:spcBef>
                <a:spcPts val="0"/>
              </a:spcBef>
              <a:spcAft>
                <a:spcPts val="0"/>
              </a:spcAft>
              <a:buClr>
                <a:schemeClr val="dk1"/>
              </a:buClr>
              <a:buSzPct val="26008"/>
              <a:buFont typeface="Arial"/>
              <a:buNone/>
            </a:pPr>
            <a:r>
              <a:t/>
            </a:r>
            <a:endParaRPr sz="4229"/>
          </a:p>
          <a:p>
            <a:pPr indent="0" lvl="0" marL="457200" rtl="0" algn="l">
              <a:lnSpc>
                <a:spcPct val="90000"/>
              </a:lnSpc>
              <a:spcBef>
                <a:spcPts val="0"/>
              </a:spcBef>
              <a:spcAft>
                <a:spcPts val="0"/>
              </a:spcAft>
              <a:buClr>
                <a:schemeClr val="dk1"/>
              </a:buClr>
              <a:buSzPct val="26008"/>
              <a:buFont typeface="Arial"/>
              <a:buNone/>
            </a:pPr>
            <a:r>
              <a:rPr lang="en-US" sz="4229"/>
              <a:t>En DevOps, el despliegue se realiza de manera coordinada y automatizada para minimizar riesgos, reducir el tiempo de inactividad y asegurar que las nuevas versiones del software se integren y operen sin problemas en los entornos</a:t>
            </a:r>
            <a:endParaRPr sz="4229"/>
          </a:p>
          <a:p>
            <a:pPr indent="0" lvl="0" marL="457200" rtl="0" algn="l">
              <a:lnSpc>
                <a:spcPct val="90000"/>
              </a:lnSpc>
              <a:spcBef>
                <a:spcPts val="0"/>
              </a:spcBef>
              <a:spcAft>
                <a:spcPts val="0"/>
              </a:spcAft>
              <a:buSzPct val="135338"/>
              <a:buNone/>
            </a:pPr>
            <a:r>
              <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1" name="Shape 191"/>
        <p:cNvGrpSpPr/>
        <p:nvPr/>
      </p:nvGrpSpPr>
      <p:grpSpPr>
        <a:xfrm>
          <a:off x="0" y="0"/>
          <a:ext cx="0" cy="0"/>
          <a:chOff x="0" y="0"/>
          <a:chExt cx="0" cy="0"/>
        </a:xfrm>
      </p:grpSpPr>
      <p:sp>
        <p:nvSpPr>
          <p:cNvPr id="192" name="Google Shape;192;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p5"/>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94" name="Google Shape;194;p5"/>
          <p:cNvPicPr preferRelativeResize="0"/>
          <p:nvPr/>
        </p:nvPicPr>
        <p:blipFill rotWithShape="1">
          <a:blip r:embed="rId3">
            <a:alphaModFix/>
          </a:blip>
          <a:srcRect b="0" l="0" r="0" t="0"/>
          <a:stretch/>
        </p:blipFill>
        <p:spPr>
          <a:xfrm>
            <a:off x="651075" y="528325"/>
            <a:ext cx="10836075" cy="5910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7"/>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0" name="Google Shape;200;p7"/>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01" name="Google Shape;201;p7"/>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7"/>
          <p:cNvSpPr txBox="1"/>
          <p:nvPr/>
        </p:nvSpPr>
        <p:spPr>
          <a:xfrm>
            <a:off x="6967200" y="1474250"/>
            <a:ext cx="4433700" cy="2770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Automatización por medio de herramientas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Orquestación del entorno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Despliegue controlado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Monitoreo y rollbacks</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sp>
        <p:nvSpPr>
          <p:cNvPr id="208" name="Google Shape;208;g48584de576676619_13"/>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g48584de576676619_13"/>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Continous Integration (CI)</a:t>
            </a:r>
            <a:endParaRPr/>
          </a:p>
        </p:txBody>
      </p:sp>
      <p:sp>
        <p:nvSpPr>
          <p:cNvPr id="210" name="Google Shape;210;g48584de576676619_13"/>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g48584de576676619_13"/>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20000"/>
          </a:bodyPr>
          <a:lstStyle/>
          <a:p>
            <a:pPr indent="-218122" lvl="0" marL="228600" rtl="0" algn="l">
              <a:lnSpc>
                <a:spcPct val="90000"/>
              </a:lnSpc>
              <a:spcBef>
                <a:spcPts val="0"/>
              </a:spcBef>
              <a:spcAft>
                <a:spcPts val="0"/>
              </a:spcAft>
              <a:buClr>
                <a:schemeClr val="dk1"/>
              </a:buClr>
              <a:buSzPct val="78571"/>
              <a:buChar char="•"/>
            </a:pPr>
            <a:r>
              <a:rPr lang="en-US"/>
              <a:t>Práctica de desarrollo de software que consiste en integrar de manera frecuente (al menos diariamente) los cambios de código que hacen los desarrolladores en un repositorio compartido. Cada integración es verificada mediante la ejecución automática de pruebas para detectar errores lo antes posible.</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5" name="Shape 215"/>
        <p:cNvGrpSpPr/>
        <p:nvPr/>
      </p:nvGrpSpPr>
      <p:grpSpPr>
        <a:xfrm>
          <a:off x="0" y="0"/>
          <a:ext cx="0" cy="0"/>
          <a:chOff x="0" y="0"/>
          <a:chExt cx="0" cy="0"/>
        </a:xfrm>
      </p:grpSpPr>
      <p:sp>
        <p:nvSpPr>
          <p:cNvPr id="216" name="Google Shape;216;g2d46eea4f4d_0_3"/>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7" name="Google Shape;217;g2d46eea4f4d_0_3"/>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18" name="Google Shape;218;g2d46eea4f4d_0_3"/>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g2d46eea4f4d_0_3"/>
          <p:cNvSpPr txBox="1"/>
          <p:nvPr/>
        </p:nvSpPr>
        <p:spPr>
          <a:xfrm>
            <a:off x="6967200" y="1474250"/>
            <a:ext cx="4433700" cy="2339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Detección temprana de errores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Mejor calidad de código</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Despliegue rapido</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g2d46eea4f4d_0_10"/>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25" name="Google Shape;225;g2d46eea4f4d_0_10"/>
          <p:cNvPicPr preferRelativeResize="0"/>
          <p:nvPr/>
        </p:nvPicPr>
        <p:blipFill rotWithShape="1">
          <a:blip r:embed="rId3">
            <a:alphaModFix/>
          </a:blip>
          <a:srcRect b="0" l="0" r="0" t="0"/>
          <a:stretch/>
        </p:blipFill>
        <p:spPr>
          <a:xfrm>
            <a:off x="1517699" y="0"/>
            <a:ext cx="9156601" cy="685799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g2d46eea4f4d_0_18"/>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1" name="Google Shape;231;g2d46eea4f4d_0_18"/>
          <p:cNvSpPr/>
          <p:nvPr>
            <p:ph type="title"/>
          </p:nvPr>
        </p:nvSpPr>
        <p:spPr>
          <a:xfrm>
            <a:off x="-1005325" y="618925"/>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Herramientas</a:t>
            </a:r>
            <a:endParaRPr sz="5600"/>
          </a:p>
        </p:txBody>
      </p:sp>
      <p:sp>
        <p:nvSpPr>
          <p:cNvPr id="232" name="Google Shape;232;g2d46eea4f4d_0_18"/>
          <p:cNvSpPr/>
          <p:nvPr/>
        </p:nvSpPr>
        <p:spPr>
          <a:xfrm>
            <a:off x="3" y="38775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33" name="Google Shape;233;g2d46eea4f4d_0_18"/>
          <p:cNvPicPr preferRelativeResize="0"/>
          <p:nvPr/>
        </p:nvPicPr>
        <p:blipFill rotWithShape="1">
          <a:blip r:embed="rId3">
            <a:alphaModFix/>
          </a:blip>
          <a:srcRect b="0" l="0" r="0" t="0"/>
          <a:stretch/>
        </p:blipFill>
        <p:spPr>
          <a:xfrm>
            <a:off x="4264225" y="1608150"/>
            <a:ext cx="7040645" cy="36417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8" name="Shape 238"/>
        <p:cNvGrpSpPr/>
        <p:nvPr/>
      </p:nvGrpSpPr>
      <p:grpSpPr>
        <a:xfrm>
          <a:off x="0" y="0"/>
          <a:ext cx="0" cy="0"/>
          <a:chOff x="0" y="0"/>
          <a:chExt cx="0" cy="0"/>
        </a:xfrm>
      </p:grpSpPr>
      <p:sp>
        <p:nvSpPr>
          <p:cNvPr id="239" name="Google Shape;239;g2d46eea4f4d_0_36"/>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0" name="Google Shape;240;g2d46eea4f4d_0_36"/>
          <p:cNvSpPr txBox="1"/>
          <p:nvPr>
            <p:ph type="title"/>
          </p:nvPr>
        </p:nvSpPr>
        <p:spPr>
          <a:xfrm>
            <a:off x="640080" y="329184"/>
            <a:ext cx="6894600" cy="1783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400"/>
              <a:buFont typeface="Calibri"/>
              <a:buNone/>
            </a:pPr>
            <a:r>
              <a:rPr lang="en-US" sz="5400"/>
              <a:t>Continous Deployment (CD)</a:t>
            </a:r>
            <a:endParaRPr/>
          </a:p>
        </p:txBody>
      </p:sp>
      <p:sp>
        <p:nvSpPr>
          <p:cNvPr id="241" name="Google Shape;241;g2d46eea4f4d_0_36"/>
          <p:cNvSpPr/>
          <p:nvPr/>
        </p:nvSpPr>
        <p:spPr>
          <a:xfrm>
            <a:off x="758952" y="2395728"/>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g2d46eea4f4d_0_36"/>
          <p:cNvSpPr txBox="1"/>
          <p:nvPr>
            <p:ph idx="1" type="body"/>
          </p:nvPr>
        </p:nvSpPr>
        <p:spPr>
          <a:xfrm>
            <a:off x="640080" y="2706624"/>
            <a:ext cx="6894600" cy="3483900"/>
          </a:xfrm>
          <a:prstGeom prst="rect">
            <a:avLst/>
          </a:prstGeom>
          <a:noFill/>
          <a:ln>
            <a:noFill/>
          </a:ln>
        </p:spPr>
        <p:txBody>
          <a:bodyPr anchorCtr="0" anchor="t" bIns="45700" lIns="91425" spcFirstLastPara="1" rIns="91425" wrap="square" tIns="45700">
            <a:normAutofit fontScale="92500" lnSpcReduction="20000"/>
          </a:bodyPr>
          <a:lstStyle/>
          <a:p>
            <a:pPr indent="-218123" lvl="0" marL="228600" rtl="0" algn="l">
              <a:lnSpc>
                <a:spcPct val="90000"/>
              </a:lnSpc>
              <a:spcBef>
                <a:spcPts val="0"/>
              </a:spcBef>
              <a:spcAft>
                <a:spcPts val="0"/>
              </a:spcAft>
              <a:buClr>
                <a:schemeClr val="dk1"/>
              </a:buClr>
              <a:buSzPct val="78571"/>
              <a:buChar char="•"/>
            </a:pPr>
            <a:r>
              <a:rPr lang="en-US"/>
              <a:t>Práctica avanzada en la entrega de software donde cada cambio que pasa las pruebas automatizadas es desplegado automáticamente en producción, sin necesidad de intervención manual. Es la evolución natural de la Continuous Delivery, pero con el paso adicional de hacer que el despliegue en producción sea completamente automático.</a:t>
            </a:r>
            <a:endParaRPr/>
          </a:p>
          <a:p>
            <a:pPr indent="0" lvl="0" marL="457200" rtl="0" algn="l">
              <a:lnSpc>
                <a:spcPct val="90000"/>
              </a:lnSpc>
              <a:spcBef>
                <a:spcPts val="1000"/>
              </a:spcBef>
              <a:spcAft>
                <a:spcPts val="0"/>
              </a:spcAft>
              <a:buSzPct val="75630"/>
              <a:buNone/>
            </a:pPr>
            <a:r>
              <a:t/>
            </a:r>
            <a:endParaRPr/>
          </a:p>
          <a:p>
            <a:pPr indent="0" lvl="0" marL="457200" rtl="0" algn="l">
              <a:lnSpc>
                <a:spcPct val="90000"/>
              </a:lnSpc>
              <a:spcBef>
                <a:spcPts val="1000"/>
              </a:spcBef>
              <a:spcAft>
                <a:spcPts val="0"/>
              </a:spcAft>
              <a:buSzPct val="64285"/>
              <a:buNone/>
            </a:pPr>
            <a:r>
              <a:t/>
            </a:r>
            <a:endParaRPr/>
          </a:p>
          <a:p>
            <a:pPr indent="0" lvl="0" marL="0" rtl="0" algn="l">
              <a:lnSpc>
                <a:spcPct val="90000"/>
              </a:lnSpc>
              <a:spcBef>
                <a:spcPts val="1000"/>
              </a:spcBef>
              <a:spcAft>
                <a:spcPts val="0"/>
              </a:spcAft>
              <a:buClr>
                <a:schemeClr val="dk1"/>
              </a:buClr>
              <a:buSzPct val="100000"/>
              <a:buNone/>
            </a:pPr>
            <a:r>
              <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sp>
        <p:nvSpPr>
          <p:cNvPr id="247" name="Google Shape;247;g2d46eea4f4d_0_45"/>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8" name="Google Shape;248;g2d46eea4f4d_0_45"/>
          <p:cNvSpPr/>
          <p:nvPr>
            <p:ph type="title"/>
          </p:nvPr>
        </p:nvSpPr>
        <p:spPr>
          <a:xfrm>
            <a:off x="316700" y="639200"/>
            <a:ext cx="6552300" cy="3641700"/>
          </a:xfrm>
          <a:prstGeom prst="ellipse">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600"/>
              <a:buFont typeface="Calibri"/>
              <a:buNone/>
            </a:pPr>
            <a:r>
              <a:rPr lang="en-US" sz="5600"/>
              <a:t>Caracteristicas </a:t>
            </a:r>
            <a:endParaRPr sz="5600"/>
          </a:p>
          <a:p>
            <a:pPr indent="0" lvl="0" marL="0" rtl="0" algn="l">
              <a:lnSpc>
                <a:spcPct val="90000"/>
              </a:lnSpc>
              <a:spcBef>
                <a:spcPts val="0"/>
              </a:spcBef>
              <a:spcAft>
                <a:spcPts val="0"/>
              </a:spcAft>
              <a:buClr>
                <a:schemeClr val="dk1"/>
              </a:buClr>
              <a:buSzPts val="5600"/>
              <a:buFont typeface="Calibri"/>
              <a:buNone/>
            </a:pPr>
            <a:r>
              <a:rPr lang="en-US" sz="5600"/>
              <a:t>Principales</a:t>
            </a:r>
            <a:endParaRPr sz="5600"/>
          </a:p>
        </p:txBody>
      </p:sp>
      <p:sp>
        <p:nvSpPr>
          <p:cNvPr id="249" name="Google Shape;249;g2d46eea4f4d_0_45"/>
          <p:cNvSpPr/>
          <p:nvPr/>
        </p:nvSpPr>
        <p:spPr>
          <a:xfrm>
            <a:off x="643278" y="4409267"/>
            <a:ext cx="3255095" cy="18288"/>
          </a:xfrm>
          <a:custGeom>
            <a:rect b="b" l="l" r="r" t="t"/>
            <a:pathLst>
              <a:path extrusionOk="0" fill="none" h="18288" w="3255095">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extrusionOk="0" h="18288" w="3255095">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cap="rnd" cmpd="sng" w="381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0" name="Google Shape;250;g2d46eea4f4d_0_45"/>
          <p:cNvSpPr txBox="1"/>
          <p:nvPr/>
        </p:nvSpPr>
        <p:spPr>
          <a:xfrm>
            <a:off x="6967200" y="1474250"/>
            <a:ext cx="4433700" cy="2770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Rapido feedback</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Completa automatización</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Reducción de errores</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Entrega frecuente y rápida</a:t>
            </a:r>
            <a:endParaRPr b="0" i="0" sz="2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sp>
        <p:nvSpPr>
          <p:cNvPr id="255" name="Google Shape;255;g2d46eea4f4d_0_52"/>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56" name="Google Shape;256;g2d46eea4f4d_0_52"/>
          <p:cNvPicPr preferRelativeResize="0"/>
          <p:nvPr/>
        </p:nvPicPr>
        <p:blipFill rotWithShape="1">
          <a:blip r:embed="rId3">
            <a:alphaModFix/>
          </a:blip>
          <a:srcRect b="0" l="0" r="0" t="0"/>
          <a:stretch/>
        </p:blipFill>
        <p:spPr>
          <a:xfrm>
            <a:off x="421748" y="344525"/>
            <a:ext cx="10724526" cy="5829750"/>
          </a:xfrm>
          <a:prstGeom prst="rect">
            <a:avLst/>
          </a:prstGeom>
          <a:solidFill>
            <a:schemeClr val="lt1"/>
          </a:solid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0" name="Shape 260"/>
        <p:cNvGrpSpPr/>
        <p:nvPr/>
      </p:nvGrpSpPr>
      <p:grpSpPr>
        <a:xfrm>
          <a:off x="0" y="0"/>
          <a:ext cx="0" cy="0"/>
          <a:chOff x="0" y="0"/>
          <a:chExt cx="0" cy="0"/>
        </a:xfrm>
      </p:grpSpPr>
      <p:sp>
        <p:nvSpPr>
          <p:cNvPr id="261" name="Google Shape;261;p9"/>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9"/>
          <p:cNvSpPr/>
          <p:nvPr/>
        </p:nvSpPr>
        <p:spPr>
          <a:xfrm>
            <a:off x="489189" y="1119031"/>
            <a:ext cx="4619938" cy="4619938"/>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3" name="Google Shape;263;p9"/>
          <p:cNvSpPr txBox="1"/>
          <p:nvPr>
            <p:ph type="title"/>
          </p:nvPr>
        </p:nvSpPr>
        <p:spPr>
          <a:xfrm>
            <a:off x="1171074" y="1396686"/>
            <a:ext cx="3240506" cy="40646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Continuous Delivery == Continuous Deployment?</a:t>
            </a:r>
            <a:endParaRPr>
              <a:solidFill>
                <a:srgbClr val="FFFFFF"/>
              </a:solidFill>
            </a:endParaRPr>
          </a:p>
        </p:txBody>
      </p:sp>
      <p:sp>
        <p:nvSpPr>
          <p:cNvPr id="264" name="Google Shape;264;p9"/>
          <p:cNvSpPr/>
          <p:nvPr/>
        </p:nvSpPr>
        <p:spPr>
          <a:xfrm rot="-1790889">
            <a:off x="8683720" y="941148"/>
            <a:ext cx="2987899" cy="2987899"/>
          </a:xfrm>
          <a:prstGeom prst="arc">
            <a:avLst>
              <a:gd fmla="val 15817365" name="adj1"/>
              <a:gd fmla="val 178138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65" name="Google Shape;265;p9"/>
          <p:cNvSpPr/>
          <p:nvPr/>
        </p:nvSpPr>
        <p:spPr>
          <a:xfrm>
            <a:off x="910048" y="4780992"/>
            <a:ext cx="546100" cy="546100"/>
          </a:xfrm>
          <a:prstGeom prst="ellipse">
            <a:avLst/>
          </a:prstGeom>
          <a:solidFill>
            <a:schemeClr val="accent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66" name="Google Shape;266;p9"/>
          <p:cNvSpPr txBox="1"/>
          <p:nvPr>
            <p:ph idx="1" type="body"/>
          </p:nvPr>
        </p:nvSpPr>
        <p:spPr>
          <a:xfrm>
            <a:off x="5370153" y="1526033"/>
            <a:ext cx="5536397" cy="393528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NO. No confundir la maizena con la magnesia.</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g2d46eea4f4d_0_60"/>
          <p:cNvSpPr/>
          <p:nvPr/>
        </p:nvSpPr>
        <p:spPr>
          <a:xfrm>
            <a:off x="-30575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72" name="Google Shape;272;g2d46eea4f4d_0_60"/>
          <p:cNvPicPr preferRelativeResize="0"/>
          <p:nvPr/>
        </p:nvPicPr>
        <p:blipFill rotWithShape="1">
          <a:blip r:embed="rId3">
            <a:alphaModFix/>
          </a:blip>
          <a:srcRect b="0" l="0" r="0" t="0"/>
          <a:stretch/>
        </p:blipFill>
        <p:spPr>
          <a:xfrm>
            <a:off x="3048000" y="0"/>
            <a:ext cx="6096000" cy="6858000"/>
          </a:xfrm>
          <a:prstGeom prst="rect">
            <a:avLst/>
          </a:prstGeom>
          <a:solidFill>
            <a:schemeClr val="lt1"/>
          </a:solid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6" name="Shape 276"/>
        <p:cNvGrpSpPr/>
        <p:nvPr/>
      </p:nvGrpSpPr>
      <p:grpSpPr>
        <a:xfrm>
          <a:off x="0" y="0"/>
          <a:ext cx="0" cy="0"/>
          <a:chOff x="0" y="0"/>
          <a:chExt cx="0" cy="0"/>
        </a:xfrm>
      </p:grpSpPr>
      <p:sp>
        <p:nvSpPr>
          <p:cNvPr id="277" name="Google Shape;277;g48584de576676619_4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g48584de576676619_44"/>
          <p:cNvSpPr/>
          <p:nvPr/>
        </p:nvSpPr>
        <p:spPr>
          <a:xfrm>
            <a:off x="0" y="-1"/>
            <a:ext cx="12192000" cy="6858000"/>
          </a:xfrm>
          <a:prstGeom prst="rect">
            <a:avLst/>
          </a:prstGeom>
          <a:solidFill>
            <a:schemeClr val="accent1">
              <a:alpha val="20000"/>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9" name="Google Shape;279;g48584de576676619_44"/>
          <p:cNvSpPr txBox="1"/>
          <p:nvPr>
            <p:ph type="title"/>
          </p:nvPr>
        </p:nvSpPr>
        <p:spPr>
          <a:xfrm>
            <a:off x="731520" y="1170432"/>
            <a:ext cx="10533900" cy="27342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8000"/>
              <a:buFont typeface="Calibri"/>
              <a:buNone/>
            </a:pPr>
            <a:r>
              <a:rPr b="1" lang="en-US" sz="8000">
                <a:solidFill>
                  <a:schemeClr val="dk2"/>
                </a:solidFill>
              </a:rPr>
              <a:t>Ansible y Terraform</a:t>
            </a:r>
            <a:endParaRPr sz="8000">
              <a:solidFill>
                <a:schemeClr val="dk2"/>
              </a:solidFill>
            </a:endParaRPr>
          </a:p>
        </p:txBody>
      </p:sp>
      <p:cxnSp>
        <p:nvCxnSpPr>
          <p:cNvPr id="280" name="Google Shape;280;g48584de576676619_44"/>
          <p:cNvCxnSpPr/>
          <p:nvPr/>
        </p:nvCxnSpPr>
        <p:spPr>
          <a:xfrm flipH="1">
            <a:off x="732463" y="246028"/>
            <a:ext cx="255600" cy="546600"/>
          </a:xfrm>
          <a:prstGeom prst="straightConnector1">
            <a:avLst/>
          </a:prstGeom>
          <a:noFill/>
          <a:ln cap="flat" cmpd="sng" w="12700">
            <a:solidFill>
              <a:schemeClr val="dk2"/>
            </a:solidFill>
            <a:prstDash val="solid"/>
            <a:miter lim="800000"/>
            <a:headEnd len="sm" w="sm" type="none"/>
            <a:tailEnd len="sm" w="sm" type="none"/>
          </a:ln>
        </p:spPr>
      </p:cxnSp>
      <p:sp>
        <p:nvSpPr>
          <p:cNvPr id="281" name="Google Shape;281;g48584de576676619_44"/>
          <p:cNvSpPr txBox="1"/>
          <p:nvPr>
            <p:ph idx="1" type="body"/>
          </p:nvPr>
        </p:nvSpPr>
        <p:spPr>
          <a:xfrm>
            <a:off x="731520" y="4069080"/>
            <a:ext cx="10515600" cy="2042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chemeClr val="dk2"/>
              </a:solidFill>
            </a:endParaRPr>
          </a:p>
        </p:txBody>
      </p:sp>
      <p:cxnSp>
        <p:nvCxnSpPr>
          <p:cNvPr id="282" name="Google Shape;282;g48584de576676619_44"/>
          <p:cNvCxnSpPr/>
          <p:nvPr/>
        </p:nvCxnSpPr>
        <p:spPr>
          <a:xfrm rot="10800000">
            <a:off x="840428" y="6522756"/>
            <a:ext cx="10717200" cy="0"/>
          </a:xfrm>
          <a:prstGeom prst="straightConnector1">
            <a:avLst/>
          </a:prstGeom>
          <a:noFill/>
          <a:ln cap="sq" cmpd="sng" w="12700">
            <a:solidFill>
              <a:schemeClr val="dk2"/>
            </a:solidFill>
            <a:prstDash val="solid"/>
            <a:miter lim="800000"/>
            <a:headEnd len="sm" w="sm" type="none"/>
            <a:tailEnd len="sm" w="sm" type="none"/>
          </a:ln>
        </p:spPr>
      </p:cxnSp>
      <p:grpSp>
        <p:nvGrpSpPr>
          <p:cNvPr id="283" name="Google Shape;283;g48584de576676619_44"/>
          <p:cNvGrpSpPr/>
          <p:nvPr/>
        </p:nvGrpSpPr>
        <p:grpSpPr>
          <a:xfrm>
            <a:off x="12829917" y="6400806"/>
            <a:ext cx="338400" cy="240221"/>
            <a:chOff x="4089400" y="933450"/>
            <a:chExt cx="338400" cy="342000"/>
          </a:xfrm>
        </p:grpSpPr>
        <p:cxnSp>
          <p:nvCxnSpPr>
            <p:cNvPr id="284" name="Google Shape;284;g48584de576676619_44"/>
            <p:cNvCxnSpPr/>
            <p:nvPr/>
          </p:nvCxnSpPr>
          <p:spPr>
            <a:xfrm>
              <a:off x="4258564" y="933450"/>
              <a:ext cx="0" cy="342000"/>
            </a:xfrm>
            <a:prstGeom prst="straightConnector1">
              <a:avLst/>
            </a:prstGeom>
            <a:noFill/>
            <a:ln cap="flat" cmpd="sng" w="12700">
              <a:solidFill>
                <a:schemeClr val="dk2"/>
              </a:solidFill>
              <a:prstDash val="solid"/>
              <a:miter lim="800000"/>
              <a:headEnd len="sm" w="sm" type="none"/>
              <a:tailEnd len="sm" w="sm" type="none"/>
            </a:ln>
          </p:spPr>
        </p:cxnSp>
        <p:cxnSp>
          <p:nvCxnSpPr>
            <p:cNvPr id="285" name="Google Shape;285;g48584de576676619_44"/>
            <p:cNvCxnSpPr/>
            <p:nvPr/>
          </p:nvCxnSpPr>
          <p:spPr>
            <a:xfrm>
              <a:off x="4089400" y="1104419"/>
              <a:ext cx="338400" cy="0"/>
            </a:xfrm>
            <a:prstGeom prst="straightConnector1">
              <a:avLst/>
            </a:prstGeom>
            <a:noFill/>
            <a:ln cap="flat" cmpd="sng" w="12700">
              <a:solidFill>
                <a:schemeClr val="dk2"/>
              </a:solidFill>
              <a:prstDash val="solid"/>
              <a:miter lim="800000"/>
              <a:headEnd len="sm" w="sm" type="none"/>
              <a:tailEnd len="sm" w="sm" type="none"/>
            </a:ln>
          </p:spPr>
        </p:cxn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g2d46eea4f4d_0_67"/>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1" name="Google Shape;291;g2d46eea4f4d_0_67"/>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2" name="Google Shape;292;g2d46eea4f4d_0_67"/>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pic>
        <p:nvPicPr>
          <p:cNvPr id="293" name="Google Shape;293;g2d46eea4f4d_0_67"/>
          <p:cNvPicPr preferRelativeResize="0"/>
          <p:nvPr/>
        </p:nvPicPr>
        <p:blipFill rotWithShape="1">
          <a:blip r:embed="rId3">
            <a:alphaModFix/>
          </a:blip>
          <a:srcRect b="0" l="0" r="0" t="0"/>
          <a:stretch/>
        </p:blipFill>
        <p:spPr>
          <a:xfrm>
            <a:off x="4444313" y="1066800"/>
            <a:ext cx="6448425" cy="4724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7" name="Shape 297"/>
        <p:cNvGrpSpPr/>
        <p:nvPr/>
      </p:nvGrpSpPr>
      <p:grpSpPr>
        <a:xfrm>
          <a:off x="0" y="0"/>
          <a:ext cx="0" cy="0"/>
          <a:chOff x="0" y="0"/>
          <a:chExt cx="0" cy="0"/>
        </a:xfrm>
      </p:grpSpPr>
      <p:sp>
        <p:nvSpPr>
          <p:cNvPr id="298" name="Google Shape;298;g2d46eea4f4d_0_74"/>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99" name="Google Shape;299;g2d46eea4f4d_0_74"/>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0" name="Google Shape;300;g2d46eea4f4d_0_74"/>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sp>
        <p:nvSpPr>
          <p:cNvPr id="301" name="Google Shape;301;g2d46eea4f4d_0_74"/>
          <p:cNvSpPr txBox="1"/>
          <p:nvPr/>
        </p:nvSpPr>
        <p:spPr>
          <a:xfrm>
            <a:off x="5361900" y="1627125"/>
            <a:ext cx="6290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 Permite a los usuarios definir y configurar la infraestructura de sus aplicaciones de forma codificada utilizando un lenguaje específico llamado HCL (HashiCorp Configuration Language) o, alternativamente, JSON.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5" name="Shape 305"/>
        <p:cNvGrpSpPr/>
        <p:nvPr/>
      </p:nvGrpSpPr>
      <p:grpSpPr>
        <a:xfrm>
          <a:off x="0" y="0"/>
          <a:ext cx="0" cy="0"/>
          <a:chOff x="0" y="0"/>
          <a:chExt cx="0" cy="0"/>
        </a:xfrm>
      </p:grpSpPr>
      <p:sp>
        <p:nvSpPr>
          <p:cNvPr id="306" name="Google Shape;306;g2d46eea4f4d_0_81"/>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7" name="Google Shape;307;g2d46eea4f4d_0_81"/>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8" name="Google Shape;308;g2d46eea4f4d_0_81"/>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sp>
        <p:nvSpPr>
          <p:cNvPr id="309" name="Google Shape;309;g2d46eea4f4d_0_81"/>
          <p:cNvSpPr txBox="1"/>
          <p:nvPr/>
        </p:nvSpPr>
        <p:spPr>
          <a:xfrm>
            <a:off x="5263625" y="1310425"/>
            <a:ext cx="6290100" cy="40020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Gestión de infraestructura como código: Terraform permite a los equipos tratar su infraestructura de la misma manera que tratan su código de aplicación, lo que facilita la implementación consistente y repetible.</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Planificación y ejecución segura: Antes de aplicar cualquier cambio en la infraestructura, Terraform genera un plan detallado que muestra qué acciones tomará para alcanzar el estado deseado. Esto permite una revisión y aprobación seguras antes de aplicar los cambios.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3" name="Shape 313"/>
        <p:cNvGrpSpPr/>
        <p:nvPr/>
      </p:nvGrpSpPr>
      <p:grpSpPr>
        <a:xfrm>
          <a:off x="0" y="0"/>
          <a:ext cx="0" cy="0"/>
          <a:chOff x="0" y="0"/>
          <a:chExt cx="0" cy="0"/>
        </a:xfrm>
      </p:grpSpPr>
      <p:sp>
        <p:nvSpPr>
          <p:cNvPr id="314" name="Google Shape;314;g2d46eea4f4d_0_88"/>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5" name="Google Shape;315;g2d46eea4f4d_0_88"/>
          <p:cNvSpPr/>
          <p:nvPr/>
        </p:nvSpPr>
        <p:spPr>
          <a:xfrm>
            <a:off x="0" y="0"/>
            <a:ext cx="2013600" cy="6858000"/>
          </a:xfrm>
          <a:prstGeom prst="rect">
            <a:avLst/>
          </a:prstGeom>
          <a:solidFill>
            <a:srgbClr val="35475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g2d46eea4f4d_0_88"/>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200"/>
              <a:buFont typeface="Calibri"/>
              <a:buNone/>
            </a:pPr>
            <a:r>
              <a:rPr b="1" lang="en-US" sz="2200">
                <a:solidFill>
                  <a:srgbClr val="FFFFFF"/>
                </a:solidFill>
              </a:rPr>
              <a:t>Terraform</a:t>
            </a:r>
            <a:endParaRPr sz="2200">
              <a:solidFill>
                <a:srgbClr val="FFFFFF"/>
              </a:solidFill>
              <a:latin typeface="Calibri"/>
              <a:ea typeface="Calibri"/>
              <a:cs typeface="Calibri"/>
              <a:sym typeface="Calibri"/>
            </a:endParaRPr>
          </a:p>
        </p:txBody>
      </p:sp>
      <p:sp>
        <p:nvSpPr>
          <p:cNvPr id="317" name="Google Shape;317;g2d46eea4f4d_0_88"/>
          <p:cNvSpPr txBox="1"/>
          <p:nvPr/>
        </p:nvSpPr>
        <p:spPr>
          <a:xfrm>
            <a:off x="5263625" y="1310425"/>
            <a:ext cx="6290100" cy="4617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Estado de la infraestructura gestionado: Terraform mantiene un archivo de estado que registra el estado actual de la infraestructura administrada. Esto permite a Terraform identificar y gestionar cambios incrementales de manera eficiente.</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Extensibilidad y modularidad: Terraform es altamente extensible y permite la creación de módulos reutilizables que encapsulan recursos y configuraciones comunes. Esto promueve la reutilización del código y facilita la gestión de infraestructuras complejas.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1" name="Shape 321"/>
        <p:cNvGrpSpPr/>
        <p:nvPr/>
      </p:nvGrpSpPr>
      <p:grpSpPr>
        <a:xfrm>
          <a:off x="0" y="0"/>
          <a:ext cx="0" cy="0"/>
          <a:chOff x="0" y="0"/>
          <a:chExt cx="0" cy="0"/>
        </a:xfrm>
      </p:grpSpPr>
      <p:sp>
        <p:nvSpPr>
          <p:cNvPr id="322" name="Google Shape;322;g2d46eea4f4d_0_95"/>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g2d46eea4f4d_0_95"/>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4" name="Google Shape;324;g2d46eea4f4d_0_95"/>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pic>
        <p:nvPicPr>
          <p:cNvPr id="325" name="Google Shape;325;g2d46eea4f4d_0_95"/>
          <p:cNvPicPr preferRelativeResize="0"/>
          <p:nvPr/>
        </p:nvPicPr>
        <p:blipFill rotWithShape="1">
          <a:blip r:embed="rId3">
            <a:alphaModFix/>
          </a:blip>
          <a:srcRect b="0" l="0" r="0" t="0"/>
          <a:stretch/>
        </p:blipFill>
        <p:spPr>
          <a:xfrm>
            <a:off x="4358321" y="1168025"/>
            <a:ext cx="6284151" cy="4084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9" name="Shape 329"/>
        <p:cNvGrpSpPr/>
        <p:nvPr/>
      </p:nvGrpSpPr>
      <p:grpSpPr>
        <a:xfrm>
          <a:off x="0" y="0"/>
          <a:ext cx="0" cy="0"/>
          <a:chOff x="0" y="0"/>
          <a:chExt cx="0" cy="0"/>
        </a:xfrm>
      </p:grpSpPr>
      <p:sp>
        <p:nvSpPr>
          <p:cNvPr id="330" name="Google Shape;330;g2d46eea4f4d_0_102"/>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1" name="Google Shape;331;g2d46eea4f4d_0_102"/>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2" name="Google Shape;332;g2d46eea4f4d_0_102"/>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33" name="Google Shape;333;g2d46eea4f4d_0_102"/>
          <p:cNvSpPr txBox="1"/>
          <p:nvPr/>
        </p:nvSpPr>
        <p:spPr>
          <a:xfrm>
            <a:off x="6213700" y="1397250"/>
            <a:ext cx="53619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Popular herramienta de automatización de TI de código abierto desarrollada por Red Hat. Se utiliza para automatizar la administración, aprovisionamiento y configuración de sistemas informáticos, así como para la implementación y gestión de aplicaciones.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7" name="Shape 337"/>
        <p:cNvGrpSpPr/>
        <p:nvPr/>
      </p:nvGrpSpPr>
      <p:grpSpPr>
        <a:xfrm>
          <a:off x="0" y="0"/>
          <a:ext cx="0" cy="0"/>
          <a:chOff x="0" y="0"/>
          <a:chExt cx="0" cy="0"/>
        </a:xfrm>
      </p:grpSpPr>
      <p:sp>
        <p:nvSpPr>
          <p:cNvPr id="338" name="Google Shape;338;g2d46eea4f4d_0_109"/>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9" name="Google Shape;339;g2d46eea4f4d_0_109"/>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0" name="Google Shape;340;g2d46eea4f4d_0_109"/>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41" name="Google Shape;341;g2d46eea4f4d_0_109"/>
          <p:cNvSpPr txBox="1"/>
          <p:nvPr/>
        </p:nvSpPr>
        <p:spPr>
          <a:xfrm>
            <a:off x="5864250" y="1124250"/>
            <a:ext cx="5361900" cy="492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La principal característica de Ansible es su enfoque en la simplicidad y la facilidad de uso. Utiliza un lenguaje simple y legible llamado YAML (acrónimo de "YAML Ain't Markup Language") para definir la configuración y las tareas que se ejecutarán en los sistemas. Esto hace que sea accesible para usuarios con diversos niveles de experiencia en programación.</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5" name="Shape 345"/>
        <p:cNvGrpSpPr/>
        <p:nvPr/>
      </p:nvGrpSpPr>
      <p:grpSpPr>
        <a:xfrm>
          <a:off x="0" y="0"/>
          <a:ext cx="0" cy="0"/>
          <a:chOff x="0" y="0"/>
          <a:chExt cx="0" cy="0"/>
        </a:xfrm>
      </p:grpSpPr>
      <p:sp>
        <p:nvSpPr>
          <p:cNvPr id="346" name="Google Shape;346;g2d46eea4f4d_0_116"/>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7" name="Google Shape;347;g2d46eea4f4d_0_116"/>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8" name="Google Shape;348;g2d46eea4f4d_0_116"/>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49" name="Google Shape;349;g2d46eea4f4d_0_116"/>
          <p:cNvSpPr txBox="1"/>
          <p:nvPr/>
        </p:nvSpPr>
        <p:spPr>
          <a:xfrm>
            <a:off x="5864250" y="1124250"/>
            <a:ext cx="5361900" cy="49254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Orquestación sin agentes: Ansible opera en un modelo de comunicación sin agentes, lo que significa que no se requiere ningún software adicional para ser instalado en los sistemas de destino. Utiliza SSH para establecer conexiones y ejecutar comandos en los nodos remotos.</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Infraestructura como código: Ansible permite describir la infraestructura y la configuración del sistema en archivos de texto simple, lo que facilita la gestión de la infraestructura como código.</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3" name="Shape 353"/>
        <p:cNvGrpSpPr/>
        <p:nvPr/>
      </p:nvGrpSpPr>
      <p:grpSpPr>
        <a:xfrm>
          <a:off x="0" y="0"/>
          <a:ext cx="0" cy="0"/>
          <a:chOff x="0" y="0"/>
          <a:chExt cx="0" cy="0"/>
        </a:xfrm>
      </p:grpSpPr>
      <p:sp>
        <p:nvSpPr>
          <p:cNvPr id="354" name="Google Shape;354;g2d46eea4f4d_0_123"/>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5" name="Google Shape;355;g2d46eea4f4d_0_123"/>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56" name="Google Shape;356;g2d46eea4f4d_0_123"/>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57" name="Google Shape;357;g2d46eea4f4d_0_123"/>
          <p:cNvSpPr txBox="1"/>
          <p:nvPr/>
        </p:nvSpPr>
        <p:spPr>
          <a:xfrm>
            <a:off x="5842400" y="796625"/>
            <a:ext cx="5361900" cy="5941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Declarativo y basado en tareas: Ansible se basa en un modelo declarativo, lo que significa que los usuarios definen el estado deseado del sistema y Ansible se encarga de llevarlo a cabo. Las tareas se definen en archivos YAML utilizando un formato fácil de entender.</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Reutilización de roles y módulos: Ansible facilita la reutilización del código a través de la creación de roles y módulos. Los roles son conjuntos de tareas y configuraciones que se pueden aplicar a diferentes sistemas, lo que promueve la consistencia y la modularidad en la gestión de la infraestructura.</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1" name="Shape 361"/>
        <p:cNvGrpSpPr/>
        <p:nvPr/>
      </p:nvGrpSpPr>
      <p:grpSpPr>
        <a:xfrm>
          <a:off x="0" y="0"/>
          <a:ext cx="0" cy="0"/>
          <a:chOff x="0" y="0"/>
          <a:chExt cx="0" cy="0"/>
        </a:xfrm>
      </p:grpSpPr>
      <p:sp>
        <p:nvSpPr>
          <p:cNvPr id="362" name="Google Shape;362;g2d46eea4f4d_0_130"/>
          <p:cNvSpPr/>
          <p:nvPr/>
        </p:nvSpPr>
        <p:spPr>
          <a:xfrm>
            <a:off x="0" y="0"/>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3" name="Google Shape;363;g2d46eea4f4d_0_130"/>
          <p:cNvSpPr/>
          <p:nvPr/>
        </p:nvSpPr>
        <p:spPr>
          <a:xfrm>
            <a:off x="0" y="0"/>
            <a:ext cx="2013600" cy="6858000"/>
          </a:xfrm>
          <a:prstGeom prst="rect">
            <a:avLst/>
          </a:prstGeom>
          <a:solidFill>
            <a:srgbClr val="3666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64" name="Google Shape;364;g2d46eea4f4d_0_130"/>
          <p:cNvSpPr/>
          <p:nvPr>
            <p:ph type="title"/>
          </p:nvPr>
        </p:nvSpPr>
        <p:spPr>
          <a:xfrm>
            <a:off x="640080" y="2074363"/>
            <a:ext cx="2752500" cy="2709300"/>
          </a:xfrm>
          <a:prstGeom prst="ellipse">
            <a:avLst/>
          </a:prstGeom>
          <a:solidFill>
            <a:srgbClr val="262626"/>
          </a:solidFill>
          <a:ln cap="flat" cmpd="thinThick" w="174625">
            <a:solidFill>
              <a:srgbClr val="262626"/>
            </a:solidFill>
            <a:prstDash val="solid"/>
            <a:round/>
            <a:headEnd len="sm" w="sm" type="none"/>
            <a:tailEnd len="sm" w="sm" type="none"/>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2600"/>
              <a:buFont typeface="Calibri"/>
              <a:buNone/>
            </a:pPr>
            <a:r>
              <a:rPr b="1" lang="en-US" sz="2600">
                <a:solidFill>
                  <a:srgbClr val="FFFFFF"/>
                </a:solidFill>
              </a:rPr>
              <a:t>Ansible</a:t>
            </a:r>
            <a:r>
              <a:rPr b="1" lang="en-US" sz="2600">
                <a:solidFill>
                  <a:srgbClr val="FFFFFF"/>
                </a:solidFill>
                <a:latin typeface="Calibri"/>
                <a:ea typeface="Calibri"/>
                <a:cs typeface="Calibri"/>
                <a:sym typeface="Calibri"/>
              </a:rPr>
              <a:t> </a:t>
            </a:r>
            <a:endParaRPr sz="2600">
              <a:solidFill>
                <a:srgbClr val="FFFFFF"/>
              </a:solidFill>
              <a:latin typeface="Calibri"/>
              <a:ea typeface="Calibri"/>
              <a:cs typeface="Calibri"/>
              <a:sym typeface="Calibri"/>
            </a:endParaRPr>
          </a:p>
        </p:txBody>
      </p:sp>
      <p:sp>
        <p:nvSpPr>
          <p:cNvPr id="365" name="Google Shape;365;g2d46eea4f4d_0_130"/>
          <p:cNvSpPr txBox="1"/>
          <p:nvPr/>
        </p:nvSpPr>
        <p:spPr>
          <a:xfrm>
            <a:off x="5842400" y="796625"/>
            <a:ext cx="5361900" cy="3232500"/>
          </a:xfrm>
          <a:prstGeom prst="rect">
            <a:avLst/>
          </a:prstGeom>
          <a:noFill/>
          <a:ln>
            <a:noFill/>
          </a:ln>
        </p:spPr>
        <p:txBody>
          <a:bodyPr anchorCtr="0" anchor="t" bIns="91425" lIns="91425" spcFirstLastPara="1" rIns="91425" wrap="square" tIns="91425">
            <a:sp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Escalabilidad y paralelismo: Ansible puede administrar infraestructuras de cualquier tamaño, desde unos pocos servidores hasta miles de nodos. Además, tiene capacidades integradas para ejecutar tareas de forma paralela, lo que mejora el rendimiento y la velocidad de ejecución.</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360af06ba2e_0_90"/>
          <p:cNvSpPr txBox="1"/>
          <p:nvPr/>
        </p:nvSpPr>
        <p:spPr>
          <a:xfrm>
            <a:off x="1648575" y="1978500"/>
            <a:ext cx="9593400" cy="15081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4600"/>
              <a:buFont typeface="Arial"/>
              <a:buNone/>
            </a:pPr>
            <a:r>
              <a:rPr lang="en-US" sz="4600">
                <a:solidFill>
                  <a:srgbClr val="131416"/>
                </a:solidFill>
                <a:latin typeface="Impact"/>
                <a:ea typeface="Impact"/>
                <a:cs typeface="Impact"/>
                <a:sym typeface="Impact"/>
              </a:rPr>
              <a:t>Valor de la Unidad: </a:t>
            </a:r>
            <a:br>
              <a:rPr lang="en-US" sz="4600">
                <a:solidFill>
                  <a:srgbClr val="131416"/>
                </a:solidFill>
                <a:latin typeface="Impact"/>
                <a:ea typeface="Impact"/>
                <a:cs typeface="Impact"/>
                <a:sym typeface="Impact"/>
              </a:rPr>
            </a:br>
            <a:r>
              <a:rPr lang="en-US" sz="4600">
                <a:solidFill>
                  <a:srgbClr val="131416"/>
                </a:solidFill>
                <a:latin typeface="Impact"/>
                <a:ea typeface="Impact"/>
                <a:cs typeface="Impact"/>
                <a:sym typeface="Impact"/>
              </a:rPr>
              <a:t>Sacrificio</a:t>
            </a:r>
            <a:endParaRPr sz="4600">
              <a:solidFill>
                <a:srgbClr val="131416"/>
              </a:solidFill>
              <a:latin typeface="Impact"/>
              <a:ea typeface="Impact"/>
              <a:cs typeface="Impact"/>
              <a:sym typeface="Impact"/>
            </a:endParaRPr>
          </a:p>
        </p:txBody>
      </p:sp>
      <p:sp>
        <p:nvSpPr>
          <p:cNvPr id="371" name="Google Shape;371;g360af06ba2e_0_90"/>
          <p:cNvSpPr txBox="1"/>
          <p:nvPr/>
        </p:nvSpPr>
        <p:spPr>
          <a:xfrm>
            <a:off x="3371104" y="4275653"/>
            <a:ext cx="4607700" cy="3231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100"/>
              <a:buFont typeface="Arial"/>
              <a:buNone/>
            </a:pPr>
            <a:r>
              <a:t/>
            </a:r>
            <a:endParaRPr b="0" i="0" sz="2100" u="none" cap="none" strike="noStrike">
              <a:solidFill>
                <a:srgbClr val="131416"/>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5" name="Shape 375"/>
        <p:cNvGrpSpPr/>
        <p:nvPr/>
      </p:nvGrpSpPr>
      <p:grpSpPr>
        <a:xfrm>
          <a:off x="0" y="0"/>
          <a:ext cx="0" cy="0"/>
          <a:chOff x="0" y="0"/>
          <a:chExt cx="0" cy="0"/>
        </a:xfrm>
      </p:grpSpPr>
      <p:sp>
        <p:nvSpPr>
          <p:cNvPr id="376" name="Google Shape;376;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7" name="Google Shape;377;p2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8" name="Google Shape;378;p2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9" name="Google Shape;379;p21"/>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¿Dudas?</a:t>
            </a:r>
            <a:endParaRPr sz="11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3" name="Shape 383"/>
        <p:cNvGrpSpPr/>
        <p:nvPr/>
      </p:nvGrpSpPr>
      <p:grpSpPr>
        <a:xfrm>
          <a:off x="0" y="0"/>
          <a:ext cx="0" cy="0"/>
          <a:chOff x="0" y="0"/>
          <a:chExt cx="0" cy="0"/>
        </a:xfrm>
      </p:grpSpPr>
      <p:sp>
        <p:nvSpPr>
          <p:cNvPr id="384" name="Google Shape;384;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5" name="Google Shape;385;p22"/>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6" name="Google Shape;386;p22"/>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87" name="Google Shape;387;p22"/>
          <p:cNvSpPr txBox="1"/>
          <p:nvPr>
            <p:ph type="ctrTitle"/>
          </p:nvPr>
        </p:nvSpPr>
        <p:spPr>
          <a:xfrm>
            <a:off x="1285241" y="1008993"/>
            <a:ext cx="9231410" cy="3542045"/>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11500"/>
              <a:buFont typeface="Calibri"/>
              <a:buNone/>
            </a:pPr>
            <a:r>
              <a:rPr lang="en-US" sz="11500"/>
              <a:t>Gracias por su atención</a:t>
            </a:r>
            <a:endParaRPr sz="11500"/>
          </a:p>
        </p:txBody>
      </p:sp>
      <p:sp>
        <p:nvSpPr>
          <p:cNvPr id="388" name="Google Shape;388;p22"/>
          <p:cNvSpPr txBox="1"/>
          <p:nvPr>
            <p:ph idx="1" type="subTitle"/>
          </p:nvPr>
        </p:nvSpPr>
        <p:spPr>
          <a:xfrm>
            <a:off x="1285241" y="4582814"/>
            <a:ext cx="7132335" cy="131265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2023-07-25T00:36:49Z</dcterms:created>
  <dc:creator>Madeline Pérez</dc:creator>
</cp:coreProperties>
</file>