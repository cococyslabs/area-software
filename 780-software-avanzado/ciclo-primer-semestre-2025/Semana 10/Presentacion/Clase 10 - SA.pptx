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6858000" cx="12192000"/>
  <p:notesSz cx="6858000" cy="9144000"/>
  <p:embeddedFontLs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kHBQkYw/3DtI9JKoC7pb2gOOyd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COCYS ECY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6E98B7-00D2-4699-B637-E719AB99CDF0}">
  <a:tblStyle styleId="{446E98B7-00D2-4699-B637-E719AB99CDF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OpenSans-italic.fntdata"/><Relationship Id="rId10" Type="http://schemas.openxmlformats.org/officeDocument/2006/relationships/slide" Target="slides/slide3.xml"/><Relationship Id="rId32" Type="http://schemas.openxmlformats.org/officeDocument/2006/relationships/font" Target="fonts/OpenSans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02T19:19:42.702">
    <p:pos x="1038" y="1246"/>
    <p:text>Favor agregar un video o un ejemplo de como materializarlo
gracias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kq9YIfA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0af2c9b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60af2c9be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222" name="Google Shape;2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4ab7b10d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1f4ab7b10d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235" name="Google Shape;235;g1f4ab7b10d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48584de576676619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48584de576676619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48584de576676619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48584de576676619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48584de576676619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48584de576676619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46eea4f4d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2d46eea4f4d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d46eea4f4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2d46eea4f4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d4c469d57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g2d4c469d57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46eea4f4d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2d46eea4f4d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d4c469d57e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2d4c469d57e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4c469d57e_0_1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2d4c469d57e_0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4c469d57e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2d4c469d57e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d4c469d57e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2d4c469d57e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4c469d57e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2d4c469d57e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60af2c9be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g360af2c9bed_0_1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f2e196bda9_0_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1f2e196bda9_0_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g1f2e196bda9_0_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0af2c9bed_0_18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6" name="Google Shape;96;g360af2c9bed_0_18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97" name="Google Shape;97;g360af2c9bed_0_18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0af2c9bed_0_185"/>
          <p:cNvSpPr txBox="1"/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0" name="Google Shape;100;g360af2c9bed_0_185"/>
          <p:cNvSpPr txBox="1"/>
          <p:nvPr>
            <p:ph idx="1" type="subTitle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g360af2c9bed_0_18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2" name="Google Shape;102;g360af2c9bed_0_18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3" name="Google Shape;103;g360af2c9bed_0_18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af2c9bed_0_191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6" name="Google Shape;106;g360af2c9bed_0_191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07" name="Google Shape;107;g360af2c9bed_0_19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8" name="Google Shape;108;g360af2c9bed_0_19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09" name="Google Shape;109;g360af2c9bed_0_19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af2c9bed_0_197"/>
          <p:cNvSpPr txBox="1"/>
          <p:nvPr>
            <p:ph type="title"/>
          </p:nvPr>
        </p:nvSpPr>
        <p:spPr>
          <a:xfrm>
            <a:off x="481542" y="2937933"/>
            <a:ext cx="5181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2" name="Google Shape;112;g360af2c9bed_0_197"/>
          <p:cNvSpPr txBox="1"/>
          <p:nvPr>
            <p:ph idx="1" type="body"/>
          </p:nvPr>
        </p:nvSpPr>
        <p:spPr>
          <a:xfrm>
            <a:off x="481542" y="1937809"/>
            <a:ext cx="51816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3" name="Google Shape;113;g360af2c9bed_0_197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4" name="Google Shape;114;g360af2c9bed_0_197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5" name="Google Shape;115;g360af2c9bed_0_197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af2c9bed_0_203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18" name="Google Shape;118;g360af2c9bed_0_203"/>
          <p:cNvSpPr txBox="1"/>
          <p:nvPr>
            <p:ph idx="1" type="body"/>
          </p:nvPr>
        </p:nvSpPr>
        <p:spPr>
          <a:xfrm>
            <a:off x="304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19" name="Google Shape;119;g360af2c9bed_0_203"/>
          <p:cNvSpPr txBox="1"/>
          <p:nvPr>
            <p:ph idx="2" type="body"/>
          </p:nvPr>
        </p:nvSpPr>
        <p:spPr>
          <a:xfrm>
            <a:off x="3098800" y="1066800"/>
            <a:ext cx="2692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1pPr>
            <a:lvl2pPr indent="-3302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indent="-3111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20" name="Google Shape;120;g360af2c9bed_0_203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1" name="Google Shape;121;g360af2c9bed_0_203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2" name="Google Shape;122;g360af2c9bed_0_203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0af2c9bed_0_210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25" name="Google Shape;125;g360af2c9bed_0_210"/>
          <p:cNvSpPr txBox="1"/>
          <p:nvPr>
            <p:ph idx="1" type="body"/>
          </p:nvPr>
        </p:nvSpPr>
        <p:spPr>
          <a:xfrm>
            <a:off x="304800" y="1023409"/>
            <a:ext cx="26934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26" name="Google Shape;126;g360af2c9bed_0_210"/>
          <p:cNvSpPr txBox="1"/>
          <p:nvPr>
            <p:ph idx="2" type="body"/>
          </p:nvPr>
        </p:nvSpPr>
        <p:spPr>
          <a:xfrm>
            <a:off x="304800" y="1449917"/>
            <a:ext cx="26934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27" name="Google Shape;127;g360af2c9bed_0_210"/>
          <p:cNvSpPr txBox="1"/>
          <p:nvPr>
            <p:ph idx="3" type="body"/>
          </p:nvPr>
        </p:nvSpPr>
        <p:spPr>
          <a:xfrm>
            <a:off x="3096683" y="1023409"/>
            <a:ext cx="2694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b="1" sz="1100"/>
            </a:lvl9pPr>
          </a:lstStyle>
          <a:p/>
        </p:txBody>
      </p:sp>
      <p:sp>
        <p:nvSpPr>
          <p:cNvPr id="128" name="Google Shape;128;g360af2c9bed_0_210"/>
          <p:cNvSpPr txBox="1"/>
          <p:nvPr>
            <p:ph idx="4" type="body"/>
          </p:nvPr>
        </p:nvSpPr>
        <p:spPr>
          <a:xfrm>
            <a:off x="3096683" y="1449917"/>
            <a:ext cx="26946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11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84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–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»"/>
              <a:defRPr sz="1100"/>
            </a:lvl5pPr>
            <a:lvl6pPr indent="-2984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6pPr>
            <a:lvl7pPr indent="-2984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7pPr>
            <a:lvl8pPr indent="-2984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8pPr>
            <a:lvl9pPr indent="-2984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9pPr>
          </a:lstStyle>
          <a:p/>
        </p:txBody>
      </p:sp>
      <p:sp>
        <p:nvSpPr>
          <p:cNvPr id="129" name="Google Shape;129;g360af2c9bed_0_210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0" name="Google Shape;130;g360af2c9bed_0_210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1" name="Google Shape;131;g360af2c9bed_0_210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0af2c9bed_0_219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4" name="Google Shape;134;g360af2c9bed_0_219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5" name="Google Shape;135;g360af2c9bed_0_219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6" name="Google Shape;136;g360af2c9bed_0_219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0af2c9bed_0_224"/>
          <p:cNvSpPr txBox="1"/>
          <p:nvPr>
            <p:ph type="title"/>
          </p:nvPr>
        </p:nvSpPr>
        <p:spPr>
          <a:xfrm>
            <a:off x="304800" y="182033"/>
            <a:ext cx="2005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39" name="Google Shape;139;g360af2c9bed_0_224"/>
          <p:cNvSpPr txBox="1"/>
          <p:nvPr>
            <p:ph idx="1" type="body"/>
          </p:nvPr>
        </p:nvSpPr>
        <p:spPr>
          <a:xfrm>
            <a:off x="2383367" y="182033"/>
            <a:ext cx="3407700" cy="39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92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11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140" name="Google Shape;140;g360af2c9bed_0_224"/>
          <p:cNvSpPr txBox="1"/>
          <p:nvPr>
            <p:ph idx="2" type="body"/>
          </p:nvPr>
        </p:nvSpPr>
        <p:spPr>
          <a:xfrm>
            <a:off x="304800" y="956733"/>
            <a:ext cx="2005500" cy="3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1" name="Google Shape;141;g360af2c9bed_0_22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2" name="Google Shape;142;g360af2c9bed_0_22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3" name="Google Shape;143;g360af2c9bed_0_22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0af2c9bed_0_231"/>
          <p:cNvSpPr txBox="1"/>
          <p:nvPr>
            <p:ph type="title"/>
          </p:nvPr>
        </p:nvSpPr>
        <p:spPr>
          <a:xfrm>
            <a:off x="1194859" y="3200400"/>
            <a:ext cx="3657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  <a:defRPr b="1" sz="1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6" name="Google Shape;146;g360af2c9bed_0_231"/>
          <p:cNvSpPr/>
          <p:nvPr>
            <p:ph idx="2" type="pic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g360af2c9bed_0_231"/>
          <p:cNvSpPr txBox="1"/>
          <p:nvPr>
            <p:ph idx="1" type="body"/>
          </p:nvPr>
        </p:nvSpPr>
        <p:spPr>
          <a:xfrm>
            <a:off x="1194859" y="3578225"/>
            <a:ext cx="3657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148" name="Google Shape;148;g360af2c9bed_0_231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49" name="Google Shape;149;g360af2c9bed_0_231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0" name="Google Shape;150;g360af2c9bed_0_231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0af2c9bed_0_238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3" name="Google Shape;153;g360af2c9bed_0_238"/>
          <p:cNvSpPr txBox="1"/>
          <p:nvPr>
            <p:ph idx="1" type="body"/>
          </p:nvPr>
        </p:nvSpPr>
        <p:spPr>
          <a:xfrm rot="5400000">
            <a:off x="1539300" y="-167700"/>
            <a:ext cx="3017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54" name="Google Shape;154;g360af2c9bed_0_238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5" name="Google Shape;155;g360af2c9bed_0_238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6" name="Google Shape;156;g360af2c9bed_0_238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0af2c9bed_0_244"/>
          <p:cNvSpPr txBox="1"/>
          <p:nvPr>
            <p:ph type="title"/>
          </p:nvPr>
        </p:nvSpPr>
        <p:spPr>
          <a:xfrm rot="5400000">
            <a:off x="3154950" y="1447742"/>
            <a:ext cx="3900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59" name="Google Shape;159;g360af2c9bed_0_244"/>
          <p:cNvSpPr txBox="1"/>
          <p:nvPr>
            <p:ph idx="1" type="body"/>
          </p:nvPr>
        </p:nvSpPr>
        <p:spPr>
          <a:xfrm rot="5400000">
            <a:off x="361000" y="126992"/>
            <a:ext cx="3900900" cy="40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9pPr>
          </a:lstStyle>
          <a:p/>
        </p:txBody>
      </p:sp>
      <p:sp>
        <p:nvSpPr>
          <p:cNvPr id="160" name="Google Shape;160;g360af2c9bed_0_244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1" name="Google Shape;161;g360af2c9bed_0_244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/>
        </p:txBody>
      </p:sp>
      <p:sp>
        <p:nvSpPr>
          <p:cNvPr id="162" name="Google Shape;162;g360af2c9bed_0_244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0af2c9bed_0_175"/>
          <p:cNvSpPr txBox="1"/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g360af2c9bed_0_175"/>
          <p:cNvSpPr txBox="1"/>
          <p:nvPr>
            <p:ph idx="1" type="body"/>
          </p:nvPr>
        </p:nvSpPr>
        <p:spPr>
          <a:xfrm>
            <a:off x="304800" y="1066800"/>
            <a:ext cx="54864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475" lIns="60950" spcFirstLastPara="1" rIns="60950" wrap="square" tIns="30475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–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–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»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g360af2c9bed_0_175"/>
          <p:cNvSpPr txBox="1"/>
          <p:nvPr>
            <p:ph idx="10" type="dt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g360af2c9bed_0_175"/>
          <p:cNvSpPr txBox="1"/>
          <p:nvPr>
            <p:ph idx="11" type="ftr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60af2c9bed_0_175"/>
          <p:cNvSpPr txBox="1"/>
          <p:nvPr>
            <p:ph idx="12" type="sldNum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75" lIns="60950" spcFirstLastPara="1" rIns="60950" wrap="square" tIns="304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1"/>
          <p:cNvGraphicFramePr/>
          <p:nvPr/>
        </p:nvGraphicFramePr>
        <p:xfrm>
          <a:off x="6493942" y="1328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{446E98B7-00D2-4699-B637-E719AB99CDF0}</a:tableStyleId>
              </a:tblPr>
              <a:tblGrid>
                <a:gridCol w="2265425"/>
                <a:gridCol w="324155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Jueves, 31/10/2024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17:20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169" name="Google Shape;169;p1"/>
          <p:cNvSpPr txBox="1"/>
          <p:nvPr/>
        </p:nvSpPr>
        <p:spPr>
          <a:xfrm>
            <a:off x="1920233" y="3011067"/>
            <a:ext cx="9056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Avanzado Sección A</a:t>
            </a:r>
            <a:endParaRPr b="0" i="0" sz="3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b="0" i="0" lang="en-US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Molina</a:t>
            </a:r>
            <a:endParaRPr b="0" i="0" sz="26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0af2c9bed_0_0"/>
          <p:cNvSpPr/>
          <p:nvPr/>
        </p:nvSpPr>
        <p:spPr>
          <a:xfrm>
            <a:off x="8360873" y="0"/>
            <a:ext cx="3835916" cy="1142613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g360af2c9bed_0_0"/>
          <p:cNvSpPr/>
          <p:nvPr/>
        </p:nvSpPr>
        <p:spPr>
          <a:xfrm>
            <a:off x="8360873" y="4014585"/>
            <a:ext cx="2776923" cy="2746629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g360af2c9bed_0_0"/>
          <p:cNvSpPr txBox="1"/>
          <p:nvPr/>
        </p:nvSpPr>
        <p:spPr>
          <a:xfrm>
            <a:off x="685794" y="4235339"/>
            <a:ext cx="381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1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g360af2c9bed_0_0"/>
          <p:cNvSpPr txBox="1"/>
          <p:nvPr/>
        </p:nvSpPr>
        <p:spPr>
          <a:xfrm>
            <a:off x="1883653" y="1705908"/>
            <a:ext cx="82500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DevOps: Release &amp; Deploy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60af2c9bed_0_0"/>
          <p:cNvSpPr txBox="1"/>
          <p:nvPr/>
        </p:nvSpPr>
        <p:spPr>
          <a:xfrm>
            <a:off x="685794" y="5483392"/>
            <a:ext cx="46542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1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g360af2c9bed_0_0"/>
          <p:cNvSpPr txBox="1"/>
          <p:nvPr/>
        </p:nvSpPr>
        <p:spPr>
          <a:xfrm>
            <a:off x="685800" y="6140450"/>
            <a:ext cx="444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1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g360af2c9bed_0_0"/>
          <p:cNvSpPr txBox="1"/>
          <p:nvPr/>
        </p:nvSpPr>
        <p:spPr>
          <a:xfrm>
            <a:off x="152400" y="6392169"/>
            <a:ext cx="541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60af2c9bed_0_0"/>
          <p:cNvSpPr txBox="1"/>
          <p:nvPr/>
        </p:nvSpPr>
        <p:spPr>
          <a:xfrm>
            <a:off x="8652721" y="4950693"/>
            <a:ext cx="218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l" dist="38100">
              <a:srgbClr val="D8D8D8">
                <a:alpha val="4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 txBox="1"/>
          <p:nvPr>
            <p:ph type="title"/>
          </p:nvPr>
        </p:nvSpPr>
        <p:spPr>
          <a:xfrm>
            <a:off x="621792" y="1161288"/>
            <a:ext cx="3602736" cy="452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AGENDA</a:t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3"/>
          <p:cNvGrpSpPr/>
          <p:nvPr/>
        </p:nvGrpSpPr>
        <p:grpSpPr>
          <a:xfrm>
            <a:off x="5303520" y="682037"/>
            <a:ext cx="6364200" cy="5503190"/>
            <a:chOff x="0" y="5381"/>
            <a:chExt cx="6364200" cy="5503190"/>
          </a:xfrm>
        </p:grpSpPr>
        <p:sp>
          <p:nvSpPr>
            <p:cNvPr id="193" name="Google Shape;193;p3"/>
            <p:cNvSpPr/>
            <p:nvPr/>
          </p:nvSpPr>
          <p:spPr>
            <a:xfrm>
              <a:off x="0" y="538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"/>
            <p:cNvSpPr txBox="1"/>
            <p:nvPr/>
          </p:nvSpPr>
          <p:spPr>
            <a:xfrm>
              <a:off x="577822" y="5381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Anuncios generales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0" y="630730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577822" y="630730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"/>
            <p:cNvSpPr txBox="1"/>
            <p:nvPr/>
          </p:nvSpPr>
          <p:spPr>
            <a:xfrm>
              <a:off x="577822" y="630730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Espacio para dudas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0" y="1256079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577822" y="125607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577822" y="1256079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DevOps: 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Monitoring &amp; Operate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0" y="1881427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77822" y="188142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0" y="2506776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577822" y="250677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577822" y="2506776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Tareas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0" y="3132125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"/>
            <p:cNvSpPr txBox="1"/>
            <p:nvPr/>
          </p:nvSpPr>
          <p:spPr>
            <a:xfrm>
              <a:off x="577822" y="3132125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Herramientas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0" y="3757473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77822" y="3757473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0" y="4382822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"/>
            <p:cNvSpPr txBox="1"/>
            <p:nvPr/>
          </p:nvSpPr>
          <p:spPr>
            <a:xfrm>
              <a:off x="577822" y="4382822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0" y="5008171"/>
              <a:ext cx="6364200" cy="5004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77822" y="5008171"/>
              <a:ext cx="2863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3441722" y="5008171"/>
              <a:ext cx="29220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3"/>
            <p:cNvSpPr txBox="1"/>
            <p:nvPr/>
          </p:nvSpPr>
          <p:spPr>
            <a:xfrm>
              <a:off x="577822" y="1881427"/>
              <a:ext cx="57858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925" lIns="52925" spcFirstLastPara="1" rIns="52925" wrap="square" tIns="52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Definicion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5" y="803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Anuncios Generales</a:t>
            </a:r>
            <a:endParaRPr/>
          </a:p>
        </p:txBody>
      </p:sp>
      <p:pic>
        <p:nvPicPr>
          <p:cNvPr descr="Maestro" id="227" name="Google Shape;2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28" name="Google Shape;228;p4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9" name="Google Shape;229;p4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f4ab7b10d1_0_1"/>
          <p:cNvSpPr/>
          <p:nvPr/>
        </p:nvSpPr>
        <p:spPr>
          <a:xfrm>
            <a:off x="0" y="-1"/>
            <a:ext cx="12191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1f4ab7b10d1_0_1"/>
          <p:cNvSpPr/>
          <p:nvPr/>
        </p:nvSpPr>
        <p:spPr>
          <a:xfrm>
            <a:off x="5" y="803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1f4ab7b10d1_0_1"/>
          <p:cNvSpPr txBox="1"/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Dudas</a:t>
            </a:r>
            <a:endParaRPr/>
          </a:p>
        </p:txBody>
      </p:sp>
      <p:pic>
        <p:nvPicPr>
          <p:cNvPr descr="Maestro" id="240" name="Google Shape;240;g1f4ab7b10d1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37064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41" name="Google Shape;241;g1f4ab7b10d1_0_1"/>
          <p:cNvGrpSpPr/>
          <p:nvPr/>
        </p:nvGrpSpPr>
        <p:grpSpPr>
          <a:xfrm>
            <a:off x="-9754" y="-5977"/>
            <a:ext cx="6244176" cy="6863979"/>
            <a:chOff x="-5196" y="-5977"/>
            <a:chExt cx="6244176" cy="6863979"/>
          </a:xfrm>
        </p:grpSpPr>
        <p:sp>
          <p:nvSpPr>
            <p:cNvPr id="242" name="Google Shape;242;g1f4ab7b10d1_0_1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1f4ab7b10d1_0_1"/>
            <p:cNvSpPr/>
            <p:nvPr/>
          </p:nvSpPr>
          <p:spPr>
            <a:xfrm flipH="1">
              <a:off x="-5196" y="1"/>
              <a:ext cx="6170617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1f4ab7b10d1_0_1"/>
            <p:cNvSpPr/>
            <p:nvPr/>
          </p:nvSpPr>
          <p:spPr>
            <a:xfrm flipH="1">
              <a:off x="5717" y="-5977"/>
              <a:ext cx="6233263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450"/>
                  </a:srgbClr>
                </a:gs>
                <a:gs pos="2000">
                  <a:srgbClr val="FFFFFF">
                    <a:alpha val="7450"/>
                  </a:srgbClr>
                </a:gs>
                <a:gs pos="16000">
                  <a:srgbClr val="70AD47">
                    <a:alpha val="7450"/>
                  </a:srgbClr>
                </a:gs>
                <a:gs pos="85000">
                  <a:srgbClr val="4472C4">
                    <a:alpha val="7450"/>
                  </a:srgbClr>
                </a:gs>
                <a:gs pos="100000">
                  <a:srgbClr val="FFFFFF">
                    <a:alpha val="7450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 txBox="1"/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Monitoring &amp; Operate en DevOps</a:t>
            </a:r>
            <a:endParaRPr sz="5400"/>
          </a:p>
        </p:txBody>
      </p:sp>
      <p:sp>
        <p:nvSpPr>
          <p:cNvPr id="251" name="Google Shape;251;p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2549"/>
            </a:schemeClr>
          </a:solidFill>
          <a:ln cap="rnd" cmpd="sng" w="44450">
            <a:solidFill>
              <a:schemeClr val="accent2">
                <a:alpha val="72549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6250" y="2106375"/>
            <a:ext cx="7832151" cy="391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48584de576676619_4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48584de576676619_4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Monitoring en Devops</a:t>
            </a:r>
            <a:endParaRPr/>
          </a:p>
        </p:txBody>
      </p:sp>
      <p:sp>
        <p:nvSpPr>
          <p:cNvPr id="260" name="Google Shape;260;g48584de576676619_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48584de576676619_4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008"/>
              <a:buFont typeface="Arial"/>
              <a:buNone/>
            </a:pPr>
            <a:r>
              <a:rPr lang="en-US" sz="4229"/>
              <a:t>En DevOps, el monitoring (monitoreo) se refiere a la práctica de supervisar continuamente aplicaciones, servicios e infraestructuras en producción. Su objetivo principal es asegurar que los sistemas funcionen de manera óptima y estén disponibles para los usuarios finales</a:t>
            </a:r>
            <a:endParaRPr sz="4229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35338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075" y="528325"/>
            <a:ext cx="10836075" cy="591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Caracteristicas </a:t>
            </a:r>
            <a:endParaRPr sz="5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Principales</a:t>
            </a:r>
            <a:endParaRPr sz="5600"/>
          </a:p>
        </p:txBody>
      </p:sp>
      <p:sp>
        <p:nvSpPr>
          <p:cNvPr id="276" name="Google Shape;276;p7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6967200" y="1474250"/>
            <a:ext cx="4433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Recolección de métricas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Alertas y notificaciones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Analisis de Logs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y optimizacion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48584de576676619_13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48584de576676619_13"/>
          <p:cNvSpPr txBox="1"/>
          <p:nvPr>
            <p:ph type="title"/>
          </p:nvPr>
        </p:nvSpPr>
        <p:spPr>
          <a:xfrm>
            <a:off x="640080" y="329184"/>
            <a:ext cx="6894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Operate en Devops</a:t>
            </a:r>
            <a:endParaRPr/>
          </a:p>
        </p:txBody>
      </p:sp>
      <p:sp>
        <p:nvSpPr>
          <p:cNvPr id="285" name="Google Shape;285;g48584de576676619_13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48584de576676619_13"/>
          <p:cNvSpPr txBox="1"/>
          <p:nvPr>
            <p:ph idx="1" type="body"/>
          </p:nvPr>
        </p:nvSpPr>
        <p:spPr>
          <a:xfrm>
            <a:off x="640080" y="2706624"/>
            <a:ext cx="68946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/>
              <a:t>Se refiere a las actividades y prácticas relacionadas con la gestión y mantenimiento de los sistemas y aplicaciones en producción. Este aspecto es crucial para garantizar que los servicios sean estables, escalables y estén disponibles para los usuarios finales.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46eea4f4d_0_3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2d46eea4f4d_0_3"/>
          <p:cNvSpPr/>
          <p:nvPr>
            <p:ph type="title"/>
          </p:nvPr>
        </p:nvSpPr>
        <p:spPr>
          <a:xfrm>
            <a:off x="316700" y="639200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Caracteristicas </a:t>
            </a:r>
            <a:endParaRPr sz="5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Principales</a:t>
            </a:r>
            <a:endParaRPr sz="5600"/>
          </a:p>
        </p:txBody>
      </p:sp>
      <p:sp>
        <p:nvSpPr>
          <p:cNvPr id="293" name="Google Shape;293;g2d46eea4f4d_0_3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2d46eea4f4d_0_3"/>
          <p:cNvSpPr txBox="1"/>
          <p:nvPr/>
        </p:nvSpPr>
        <p:spPr>
          <a:xfrm>
            <a:off x="6967200" y="1474250"/>
            <a:ext cx="4433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 infraestructura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Mantenimiento y actualizaciones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 de incidentes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Documentacion y procedimientos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d46eea4f4d_0_10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g2d46eea4f4d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2475" y="86450"/>
            <a:ext cx="8550574" cy="653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60"/>
              <a:buFont typeface="Calibri"/>
              <a:buNone/>
            </a:pPr>
            <a:r>
              <a:rPr lang="en-US" sz="2960">
                <a:solidFill>
                  <a:srgbClr val="FFFFFF"/>
                </a:solidFill>
              </a:rPr>
              <a:t>“Lo que no se define no se puede medir. Lo que no se mide, no se puede mejorar. Lo que no se mejora, se degrada siempre”</a:t>
            </a:r>
            <a:endParaRPr sz="2960">
              <a:solidFill>
                <a:srgbClr val="FFFFFF"/>
              </a:solidFill>
            </a:endParaRPr>
          </a:p>
        </p:txBody>
      </p:sp>
      <p:sp>
        <p:nvSpPr>
          <p:cNvPr id="308" name="Google Shape;308;p9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>
            <p:ph idx="1" type="body"/>
          </p:nvPr>
        </p:nvSpPr>
        <p:spPr>
          <a:xfrm>
            <a:off x="5062453" y="4474433"/>
            <a:ext cx="5536500" cy="39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Frase de William Thomson Kelvin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d4c469d57e_0_5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g2d4c469d57e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0719" y="0"/>
            <a:ext cx="991056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d46eea4f4d_0_18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2d46eea4f4d_0_18"/>
          <p:cNvSpPr/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Herramientas</a:t>
            </a:r>
            <a:endParaRPr sz="5600"/>
          </a:p>
        </p:txBody>
      </p:sp>
      <p:sp>
        <p:nvSpPr>
          <p:cNvPr id="323" name="Google Shape;323;g2d46eea4f4d_0_18"/>
          <p:cNvSpPr/>
          <p:nvPr/>
        </p:nvSpPr>
        <p:spPr>
          <a:xfrm>
            <a:off x="3" y="38775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2d46eea4f4d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0149" y="161900"/>
            <a:ext cx="7308974" cy="62454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d4c469d57e_0_109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g2d4c469d57e_0_109"/>
          <p:cNvSpPr/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ELK Stack</a:t>
            </a:r>
            <a:endParaRPr sz="5600"/>
          </a:p>
        </p:txBody>
      </p:sp>
      <p:sp>
        <p:nvSpPr>
          <p:cNvPr id="331" name="Google Shape;331;g2d4c469d57e_0_109"/>
          <p:cNvSpPr/>
          <p:nvPr/>
        </p:nvSpPr>
        <p:spPr>
          <a:xfrm>
            <a:off x="3" y="38775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g2d4c469d57e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7725" y="2001850"/>
            <a:ext cx="7380750" cy="246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d4c469d57e_0_126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2d4c469d57e_0_126"/>
          <p:cNvSpPr/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Logstash</a:t>
            </a:r>
            <a:endParaRPr sz="5600"/>
          </a:p>
        </p:txBody>
      </p:sp>
      <p:sp>
        <p:nvSpPr>
          <p:cNvPr id="339" name="Google Shape;339;g2d4c469d57e_0_126"/>
          <p:cNvSpPr/>
          <p:nvPr/>
        </p:nvSpPr>
        <p:spPr>
          <a:xfrm>
            <a:off x="3" y="38775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2d4c469d57e_0_126"/>
          <p:cNvSpPr txBox="1"/>
          <p:nvPr/>
        </p:nvSpPr>
        <p:spPr>
          <a:xfrm>
            <a:off x="4989650" y="2043750"/>
            <a:ext cx="59679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herramienta de ingesta de datos y procesamiento de eventos. Se utiliza principalmente para recolectar, transformar y enviar datos a diferentes destinos, como Elasticsearch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4c469d57e_0_134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2d4c469d57e_0_134"/>
          <p:cNvSpPr/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Elasticsearch</a:t>
            </a:r>
            <a:endParaRPr sz="5600"/>
          </a:p>
        </p:txBody>
      </p:sp>
      <p:sp>
        <p:nvSpPr>
          <p:cNvPr id="347" name="Google Shape;347;g2d4c469d57e_0_134"/>
          <p:cNvSpPr/>
          <p:nvPr/>
        </p:nvSpPr>
        <p:spPr>
          <a:xfrm>
            <a:off x="3" y="38775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2d4c469d57e_0_134"/>
          <p:cNvSpPr txBox="1"/>
          <p:nvPr/>
        </p:nvSpPr>
        <p:spPr>
          <a:xfrm>
            <a:off x="4989650" y="2043750"/>
            <a:ext cx="5967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motor de búsqueda y análisis basado en Lucene, diseñado para manejar grandes volúmenes de datos de manera rápida y escalable. Se utiliza comúnmente para almacenar, buscar y analizar datos en tiempo real.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d4c469d57e_0_117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2d4c469d57e_0_117"/>
          <p:cNvSpPr/>
          <p:nvPr>
            <p:ph type="title"/>
          </p:nvPr>
        </p:nvSpPr>
        <p:spPr>
          <a:xfrm>
            <a:off x="-1005325" y="618925"/>
            <a:ext cx="6552300" cy="3641700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/>
              <a:t>Kibana</a:t>
            </a:r>
            <a:endParaRPr sz="5600"/>
          </a:p>
        </p:txBody>
      </p:sp>
      <p:sp>
        <p:nvSpPr>
          <p:cNvPr id="355" name="Google Shape;355;g2d4c469d57e_0_117"/>
          <p:cNvSpPr/>
          <p:nvPr/>
        </p:nvSpPr>
        <p:spPr>
          <a:xfrm>
            <a:off x="3" y="38775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2d4c469d57e_0_117"/>
          <p:cNvSpPr txBox="1"/>
          <p:nvPr/>
        </p:nvSpPr>
        <p:spPr>
          <a:xfrm>
            <a:off x="4989650" y="2043750"/>
            <a:ext cx="5967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 de visualización de datos que se utiliza principalmente con Elasticsearch. Permite a los usuarios explorar, visualizar y analizar datos almacenados en Elasticsearch a través de una interfaz gráfica intuitiva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d4c469d57e_0_142"/>
          <p:cNvSpPr/>
          <p:nvPr/>
        </p:nvSpPr>
        <p:spPr>
          <a:xfrm>
            <a:off x="-30575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g2d4c469d57e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80975"/>
            <a:ext cx="9753600" cy="68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0af2c9bed_0_170"/>
          <p:cNvSpPr txBox="1"/>
          <p:nvPr/>
        </p:nvSpPr>
        <p:spPr>
          <a:xfrm>
            <a:off x="1648575" y="1978500"/>
            <a:ext cx="9593400" cy="1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 de la Unidad: </a:t>
            </a:r>
            <a:b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</a:br>
            <a:r>
              <a:rPr lang="en-US" sz="46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 b="0" i="0" sz="9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8" name="Google Shape;368;g360af2c9bed_0_170"/>
          <p:cNvSpPr txBox="1"/>
          <p:nvPr/>
        </p:nvSpPr>
        <p:spPr>
          <a:xfrm>
            <a:off x="3371104" y="4275653"/>
            <a:ext cx="460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1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¿Dudas?</a:t>
            </a:r>
            <a:endParaRPr sz="1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350"/>
              <a:buFont typeface="Calibri"/>
              <a:buNone/>
            </a:pPr>
            <a:r>
              <a:rPr lang="en-US" sz="8750"/>
              <a:t>Gracias por su atención</a:t>
            </a:r>
            <a:endParaRPr sz="8750"/>
          </a:p>
        </p:txBody>
      </p:sp>
      <p:sp>
        <p:nvSpPr>
          <p:cNvPr id="385" name="Google Shape;385;p22"/>
          <p:cNvSpPr txBox="1"/>
          <p:nvPr>
            <p:ph idx="1" type="subTitle"/>
          </p:nvPr>
        </p:nvSpPr>
        <p:spPr>
          <a:xfrm>
            <a:off x="1285241" y="4582814"/>
            <a:ext cx="7132335" cy="131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2023-07-25T00:36:49Z</dcterms:created>
  <dc:creator>Madeline Pérez</dc:creator>
</cp:coreProperties>
</file>