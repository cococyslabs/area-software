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6858000" cx="12192000"/>
  <p:notesSz cx="6858000" cy="9144000"/>
  <p:embeddedFontLs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j3Uw7XOaqYlkhTiiWp8FgLKOid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E08800-7771-467D-AEEC-D9867A0F796B}">
  <a:tblStyle styleId="{D7E08800-7771-467D-AEEC-D9867A0F796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OpenSans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OpenSans-italic.fntdata"/><Relationship Id="rId14" Type="http://schemas.openxmlformats.org/officeDocument/2006/relationships/slide" Target="slides/slide8.xml"/><Relationship Id="rId36" Type="http://schemas.openxmlformats.org/officeDocument/2006/relationships/font" Target="fonts/OpenSans-bold.fntdata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font" Target="fonts/OpenSans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0aef264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g360aef264b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Enunciado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dudas</a:t>
            </a:r>
            <a:endParaRPr/>
          </a:p>
        </p:txBody>
      </p:sp>
      <p:sp>
        <p:nvSpPr>
          <p:cNvPr id="222" name="Google Shape;22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f4ab7b10d1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1f4ab7b10d1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Enunciado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dudas</a:t>
            </a:r>
            <a:endParaRPr/>
          </a:p>
        </p:txBody>
      </p:sp>
      <p:sp>
        <p:nvSpPr>
          <p:cNvPr id="235" name="Google Shape;235;g1f4ab7b10d1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f52ea93423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g1f52ea93423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f52ea93423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g1f52ea93423_0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48584de576676619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48584de576676619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DevOps se define como una metodología que ha venido a revolucionar el marco de desarrollo de aplicaciones, gracias a la aplicación de diferentes prácticas y herramientas de automatización que permiten producir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más rápido. Además de lo mencionado, esta metodología permite la unificación de Desarrollo y Operaciones, lo que facilita el trabajo y la distribución la infraestructura aplicativa.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g48584de576676619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DevOps se define como una metodología que ha venido a revolucionar el marco de desarrollo de aplicaciones, gracias a la aplicación de diferentes prácticas y herramientas de automatización que permiten producir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más rápido. Además de lo mencionado, esta metodología permite la unificación de Desarrollo y Operaciones, lo que facilita el trabajo y la distribución la infraestructura aplicativa.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f52ea93423_0_1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1f52ea93423_0_1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DevOps se define como una metodología que ha venido a revolucionar el marco de desarrollo de aplicaciones, gracias a la aplicación de diferentes prácticas y herramientas de automatización que permiten producir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más rápido. Además de lo mencionado, esta metodología permite la unificación de Desarrollo y Operaciones, lo que facilita el trabajo y la distribución la infraestructura aplicativa.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g1f52ea93423_0_1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f52ea93423_0_1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1f52ea93423_0_1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DevOps se define como una metodología que ha venido a revolucionar el marco de desarrollo de aplicaciones, gracias a la aplicación de diferentes prácticas y herramientas de automatización que permiten producir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más rápido. Además de lo mencionado, esta metodología permite la unificación de Desarrollo y Operaciones, lo que facilita el trabajo y la distribución la infraestructura aplicativa.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g1f52ea93423_0_1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f52ea93423_0_1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1f52ea93423_0_1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DevOps se define como una metodología que ha venido a revolucionar el marco de desarrollo de aplicaciones, gracias a la aplicación de diferentes prácticas y herramientas de automatización que permiten producir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más rápido. Además de lo mencionado, esta metodología permite la unificación de Desarrollo y Operaciones, lo que facilita el trabajo y la distribución la infraestructura aplicativa.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g1f52ea93423_0_1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f52ea93423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g1f52ea93423_0_2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f52ea93423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g1f52ea93423_0_2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f52ea93423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g1f52ea93423_0_2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f52ea93423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g1f52ea93423_0_2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48584de576676619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48584de576676619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DevOps se define como una metodología que ha venido a revolucionar el marco de desarrollo de aplicaciones, gracias a la aplicación de diferentes prácticas y herramientas de automatización que permiten producir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más rápido. Además de lo mencionado, esta metodología permite la unificación de Desarrollo y Operaciones, lo que facilita el trabajo y la distribución la infraestructura aplicativa.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g48584de576676619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f52ea93423_0_3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1f52ea93423_0_3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DevOps se define como una metodología que ha venido a revolucionar el marco de desarrollo de aplicaciones, gracias a la aplicación de diferentes prácticas y herramientas de automatización que permiten producir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más rápido. Además de lo mencionado, esta metodología permite la unificación de Desarrollo y Operaciones, lo que facilita el trabajo y la distribución la infraestructura aplicativa.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g1f52ea93423_0_3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7" name="Google Shape;36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f52ea93423_0_3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1f52ea93423_0_3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8" name="Google Shape;378;g1f52ea93423_0_3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f52ea93423_0_3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1f52ea93423_0_3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g1f52ea93423_0_3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f52ea93423_0_3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1f52ea93423_0_3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3" name="Google Shape;393;g1f52ea93423_0_3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48584de576676619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g48584de576676619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60aef264bf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3" name="Google Shape;413;g360aef264bf_0_1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7" name="Google Shape;42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1f2e196bda9_0_8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3" name="Google Shape;33;g1f2e196bda9_0_8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4" name="Google Shape;34;g1f2e196bda9_0_8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2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0aef264bf_0_185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6" name="Google Shape;96;g360aef264bf_0_185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7" name="Google Shape;97;g360aef264bf_0_185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0aef264bf_0_189"/>
          <p:cNvSpPr txBox="1"/>
          <p:nvPr>
            <p:ph type="ctrTitle"/>
          </p:nvPr>
        </p:nvSpPr>
        <p:spPr>
          <a:xfrm>
            <a:off x="457200" y="1420283"/>
            <a:ext cx="51816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0" name="Google Shape;100;g360aef264bf_0_189"/>
          <p:cNvSpPr txBox="1"/>
          <p:nvPr>
            <p:ph idx="1" type="subTitle"/>
          </p:nvPr>
        </p:nvSpPr>
        <p:spPr>
          <a:xfrm>
            <a:off x="914400" y="2590800"/>
            <a:ext cx="42672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g360aef264bf_0_189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2" name="Google Shape;102;g360aef264bf_0_189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3" name="Google Shape;103;g360aef264bf_0_189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0aef264bf_0_195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6" name="Google Shape;106;g360aef264bf_0_195"/>
          <p:cNvSpPr txBox="1"/>
          <p:nvPr>
            <p:ph idx="1" type="body"/>
          </p:nvPr>
        </p:nvSpPr>
        <p:spPr>
          <a:xfrm>
            <a:off x="304800" y="1066800"/>
            <a:ext cx="54864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107" name="Google Shape;107;g360aef264bf_0_195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8" name="Google Shape;108;g360aef264bf_0_195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9" name="Google Shape;109;g360aef264bf_0_195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0aef264bf_0_201"/>
          <p:cNvSpPr txBox="1"/>
          <p:nvPr>
            <p:ph type="title"/>
          </p:nvPr>
        </p:nvSpPr>
        <p:spPr>
          <a:xfrm>
            <a:off x="481542" y="2937933"/>
            <a:ext cx="5181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2" name="Google Shape;112;g360aef264bf_0_201"/>
          <p:cNvSpPr txBox="1"/>
          <p:nvPr>
            <p:ph idx="1" type="body"/>
          </p:nvPr>
        </p:nvSpPr>
        <p:spPr>
          <a:xfrm>
            <a:off x="481542" y="1937809"/>
            <a:ext cx="51816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 sz="13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3" name="Google Shape;113;g360aef264bf_0_201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4" name="Google Shape;114;g360aef264bf_0_201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5" name="Google Shape;115;g360aef264bf_0_201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0aef264bf_0_207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8" name="Google Shape;118;g360aef264bf_0_207"/>
          <p:cNvSpPr txBox="1"/>
          <p:nvPr>
            <p:ph idx="1" type="body"/>
          </p:nvPr>
        </p:nvSpPr>
        <p:spPr>
          <a:xfrm>
            <a:off x="304800" y="1066800"/>
            <a:ext cx="26925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1pPr>
            <a:lvl2pPr indent="-3302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11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19" name="Google Shape;119;g360aef264bf_0_207"/>
          <p:cNvSpPr txBox="1"/>
          <p:nvPr>
            <p:ph idx="2" type="body"/>
          </p:nvPr>
        </p:nvSpPr>
        <p:spPr>
          <a:xfrm>
            <a:off x="3098800" y="1066800"/>
            <a:ext cx="26925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1pPr>
            <a:lvl2pPr indent="-3302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11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20" name="Google Shape;120;g360aef264bf_0_207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1" name="Google Shape;121;g360aef264bf_0_207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2" name="Google Shape;122;g360aef264bf_0_207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0aef264bf_0_214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5" name="Google Shape;125;g360aef264bf_0_214"/>
          <p:cNvSpPr txBox="1"/>
          <p:nvPr>
            <p:ph idx="1" type="body"/>
          </p:nvPr>
        </p:nvSpPr>
        <p:spPr>
          <a:xfrm>
            <a:off x="304800" y="1023409"/>
            <a:ext cx="26934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9pPr>
          </a:lstStyle>
          <a:p/>
        </p:txBody>
      </p:sp>
      <p:sp>
        <p:nvSpPr>
          <p:cNvPr id="126" name="Google Shape;126;g360aef264bf_0_214"/>
          <p:cNvSpPr txBox="1"/>
          <p:nvPr>
            <p:ph idx="2" type="body"/>
          </p:nvPr>
        </p:nvSpPr>
        <p:spPr>
          <a:xfrm>
            <a:off x="304800" y="1449917"/>
            <a:ext cx="2693400" cy="26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11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84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2984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indent="-2984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/>
        </p:txBody>
      </p:sp>
      <p:sp>
        <p:nvSpPr>
          <p:cNvPr id="127" name="Google Shape;127;g360aef264bf_0_214"/>
          <p:cNvSpPr txBox="1"/>
          <p:nvPr>
            <p:ph idx="3" type="body"/>
          </p:nvPr>
        </p:nvSpPr>
        <p:spPr>
          <a:xfrm>
            <a:off x="3096683" y="1023409"/>
            <a:ext cx="26946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9pPr>
          </a:lstStyle>
          <a:p/>
        </p:txBody>
      </p:sp>
      <p:sp>
        <p:nvSpPr>
          <p:cNvPr id="128" name="Google Shape;128;g360aef264bf_0_214"/>
          <p:cNvSpPr txBox="1"/>
          <p:nvPr>
            <p:ph idx="4" type="body"/>
          </p:nvPr>
        </p:nvSpPr>
        <p:spPr>
          <a:xfrm>
            <a:off x="3096683" y="1449917"/>
            <a:ext cx="2694600" cy="26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11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84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2984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indent="-2984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/>
        </p:txBody>
      </p:sp>
      <p:sp>
        <p:nvSpPr>
          <p:cNvPr id="129" name="Google Shape;129;g360aef264bf_0_214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0" name="Google Shape;130;g360aef264bf_0_214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1" name="Google Shape;131;g360aef264bf_0_214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0aef264bf_0_223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4" name="Google Shape;134;g360aef264bf_0_223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5" name="Google Shape;135;g360aef264bf_0_223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6" name="Google Shape;136;g360aef264bf_0_223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0aef264bf_0_228"/>
          <p:cNvSpPr txBox="1"/>
          <p:nvPr>
            <p:ph type="title"/>
          </p:nvPr>
        </p:nvSpPr>
        <p:spPr>
          <a:xfrm>
            <a:off x="304800" y="182033"/>
            <a:ext cx="20055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b="1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9" name="Google Shape;139;g360aef264bf_0_228"/>
          <p:cNvSpPr txBox="1"/>
          <p:nvPr>
            <p:ph idx="1" type="body"/>
          </p:nvPr>
        </p:nvSpPr>
        <p:spPr>
          <a:xfrm>
            <a:off x="2383367" y="182033"/>
            <a:ext cx="3407700" cy="3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92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indent="-3302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11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4pPr>
            <a:lvl5pPr indent="-3111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 sz="1300"/>
            </a:lvl5pPr>
            <a:lvl6pPr indent="-3111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6pPr>
            <a:lvl7pPr indent="-3111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7pPr>
            <a:lvl8pPr indent="-3111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8pPr>
            <a:lvl9pPr indent="-3111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9pPr>
          </a:lstStyle>
          <a:p/>
        </p:txBody>
      </p:sp>
      <p:sp>
        <p:nvSpPr>
          <p:cNvPr id="140" name="Google Shape;140;g360aef264bf_0_228"/>
          <p:cNvSpPr txBox="1"/>
          <p:nvPr>
            <p:ph idx="2" type="body"/>
          </p:nvPr>
        </p:nvSpPr>
        <p:spPr>
          <a:xfrm>
            <a:off x="304800" y="956733"/>
            <a:ext cx="2005500" cy="31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41" name="Google Shape;141;g360aef264bf_0_228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2" name="Google Shape;142;g360aef264bf_0_228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3" name="Google Shape;143;g360aef264bf_0_228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0aef264bf_0_235"/>
          <p:cNvSpPr txBox="1"/>
          <p:nvPr>
            <p:ph type="title"/>
          </p:nvPr>
        </p:nvSpPr>
        <p:spPr>
          <a:xfrm>
            <a:off x="1194859" y="3200400"/>
            <a:ext cx="36576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b="1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6" name="Google Shape;146;g360aef264bf_0_235"/>
          <p:cNvSpPr/>
          <p:nvPr>
            <p:ph idx="2" type="pic"/>
          </p:nvPr>
        </p:nvSpPr>
        <p:spPr>
          <a:xfrm>
            <a:off x="1194859" y="408517"/>
            <a:ext cx="36576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g360aef264bf_0_235"/>
          <p:cNvSpPr txBox="1"/>
          <p:nvPr>
            <p:ph idx="1" type="body"/>
          </p:nvPr>
        </p:nvSpPr>
        <p:spPr>
          <a:xfrm>
            <a:off x="1194859" y="3578225"/>
            <a:ext cx="3657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48" name="Google Shape;148;g360aef264bf_0_235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9" name="Google Shape;149;g360aef264bf_0_235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0" name="Google Shape;150;g360aef264bf_0_235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0aef264bf_0_242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3" name="Google Shape;153;g360aef264bf_0_242"/>
          <p:cNvSpPr txBox="1"/>
          <p:nvPr>
            <p:ph idx="1" type="body"/>
          </p:nvPr>
        </p:nvSpPr>
        <p:spPr>
          <a:xfrm rot="5400000">
            <a:off x="1539300" y="-167700"/>
            <a:ext cx="3017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154" name="Google Shape;154;g360aef264bf_0_242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5" name="Google Shape;155;g360aef264bf_0_242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6" name="Google Shape;156;g360aef264bf_0_242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0aef264bf_0_248"/>
          <p:cNvSpPr txBox="1"/>
          <p:nvPr>
            <p:ph type="title"/>
          </p:nvPr>
        </p:nvSpPr>
        <p:spPr>
          <a:xfrm rot="5400000">
            <a:off x="3154950" y="1447742"/>
            <a:ext cx="3900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9" name="Google Shape;159;g360aef264bf_0_248"/>
          <p:cNvSpPr txBox="1"/>
          <p:nvPr>
            <p:ph idx="1" type="body"/>
          </p:nvPr>
        </p:nvSpPr>
        <p:spPr>
          <a:xfrm rot="5400000">
            <a:off x="361000" y="126992"/>
            <a:ext cx="3900900" cy="40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160" name="Google Shape;160;g360aef264bf_0_248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61" name="Google Shape;161;g360aef264bf_0_248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62" name="Google Shape;162;g360aef264bf_0_248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0aef264bf_0_179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g360aef264bf_0_179"/>
          <p:cNvSpPr txBox="1"/>
          <p:nvPr>
            <p:ph idx="1" type="body"/>
          </p:nvPr>
        </p:nvSpPr>
        <p:spPr>
          <a:xfrm>
            <a:off x="304800" y="1066800"/>
            <a:ext cx="54864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925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–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–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»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1150" lvl="5" marL="2743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1150" lvl="6" marL="3200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1150" lvl="7" marL="36576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1150" lvl="8" marL="4114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g360aef264bf_0_179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g360aef264bf_0_179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360aef264bf_0_179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1269" y="1"/>
            <a:ext cx="12169465" cy="6858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8" name="Google Shape;168;p1"/>
          <p:cNvGraphicFramePr/>
          <p:nvPr/>
        </p:nvGraphicFramePr>
        <p:xfrm>
          <a:off x="6493942" y="13286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{D7E08800-7771-467D-AEEC-D9867A0F796B}</a:tableStyleId>
              </a:tblPr>
              <a:tblGrid>
                <a:gridCol w="2265425"/>
                <a:gridCol w="3241550"/>
              </a:tblGrid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b="1" lang="en-US" sz="19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Miercoles, 01/08/2024</a:t>
                      </a:r>
                      <a:endParaRPr sz="2400" u="none" cap="none" strike="noStrike"/>
                    </a:p>
                  </a:txBody>
                  <a:tcPr marT="121900" marB="121900" marR="121900" marL="121900"/>
                </a:tc>
              </a:tr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b="1" lang="en-US" sz="19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17:20</a:t>
                      </a:r>
                      <a:endParaRPr sz="2400" u="none" cap="none" strike="noStrike"/>
                    </a:p>
                  </a:txBody>
                  <a:tcPr marT="121900" marB="121900" marR="121900" marL="121900"/>
                </a:tc>
              </a:tr>
            </a:tbl>
          </a:graphicData>
        </a:graphic>
      </p:graphicFrame>
      <p:sp>
        <p:nvSpPr>
          <p:cNvPr id="169" name="Google Shape;169;p1"/>
          <p:cNvSpPr txBox="1"/>
          <p:nvPr/>
        </p:nvSpPr>
        <p:spPr>
          <a:xfrm>
            <a:off x="1920233" y="3011067"/>
            <a:ext cx="90561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Font typeface="Arial"/>
              <a:buNone/>
            </a:pPr>
            <a:r>
              <a:rPr b="0" i="0" lang="en-US" sz="33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Avanzado Sección A</a:t>
            </a:r>
            <a:endParaRPr b="0" i="0" sz="33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"/>
          <p:cNvSpPr txBox="1"/>
          <p:nvPr/>
        </p:nvSpPr>
        <p:spPr>
          <a:xfrm>
            <a:off x="2371600" y="3867668"/>
            <a:ext cx="7448800" cy="65661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b="0" i="0" lang="en-US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Diego Molina</a:t>
            </a:r>
            <a:endParaRPr b="0" i="0" sz="26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0aef264bf_0_0"/>
          <p:cNvSpPr/>
          <p:nvPr/>
        </p:nvSpPr>
        <p:spPr>
          <a:xfrm>
            <a:off x="8360873" y="0"/>
            <a:ext cx="3835916" cy="1142613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g360aef264bf_0_0"/>
          <p:cNvSpPr/>
          <p:nvPr/>
        </p:nvSpPr>
        <p:spPr>
          <a:xfrm>
            <a:off x="8360873" y="4014585"/>
            <a:ext cx="2776923" cy="2746629"/>
          </a:xfrm>
          <a:custGeom>
            <a:rect b="b" l="l" r="r" t="t"/>
            <a:pathLst>
              <a:path extrusionOk="0"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g360aef264bf_0_0"/>
          <p:cNvSpPr txBox="1"/>
          <p:nvPr/>
        </p:nvSpPr>
        <p:spPr>
          <a:xfrm>
            <a:off x="685794" y="4235339"/>
            <a:ext cx="3811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Software Avanzado</a:t>
            </a:r>
            <a:endParaRPr b="1" sz="33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8" name="Google Shape;178;g360aef264bf_0_0"/>
          <p:cNvSpPr txBox="1"/>
          <p:nvPr/>
        </p:nvSpPr>
        <p:spPr>
          <a:xfrm>
            <a:off x="1791603" y="2610433"/>
            <a:ext cx="82500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0"/>
              <a:buFont typeface="Arial"/>
              <a:buNone/>
            </a:pPr>
            <a:r>
              <a:rPr b="1" lang="en-US" sz="61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 nube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60aef264bf_0_0"/>
          <p:cNvSpPr txBox="1"/>
          <p:nvPr/>
        </p:nvSpPr>
        <p:spPr>
          <a:xfrm>
            <a:off x="685794" y="5483392"/>
            <a:ext cx="46542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17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0" name="Google Shape;180;g360aef264bf_0_0"/>
          <p:cNvSpPr txBox="1"/>
          <p:nvPr/>
        </p:nvSpPr>
        <p:spPr>
          <a:xfrm>
            <a:off x="685800" y="6140450"/>
            <a:ext cx="4445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17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1" name="Google Shape;181;g360aef264bf_0_0"/>
          <p:cNvSpPr txBox="1"/>
          <p:nvPr/>
        </p:nvSpPr>
        <p:spPr>
          <a:xfrm>
            <a:off x="152400" y="6392169"/>
            <a:ext cx="5410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60aef264bf_0_0"/>
          <p:cNvSpPr txBox="1"/>
          <p:nvPr/>
        </p:nvSpPr>
        <p:spPr>
          <a:xfrm>
            <a:off x="8652721" y="4950693"/>
            <a:ext cx="2189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-1" y="0"/>
            <a:ext cx="4818889" cy="6858000"/>
          </a:xfrm>
          <a:custGeom>
            <a:rect b="b" l="l" r="r" t="t"/>
            <a:pathLst>
              <a:path extrusionOk="0" h="6858000" w="4818889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l" dist="38100">
              <a:srgbClr val="D8D8D8">
                <a:alpha val="4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1" y="0"/>
            <a:ext cx="4811477" cy="6858000"/>
          </a:xfrm>
          <a:custGeom>
            <a:rect b="b" l="l" r="r" t="t"/>
            <a:pathLst>
              <a:path extrusionOk="0" h="6858000" w="4811477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"/>
          <p:cNvSpPr txBox="1"/>
          <p:nvPr>
            <p:ph type="title"/>
          </p:nvPr>
        </p:nvSpPr>
        <p:spPr>
          <a:xfrm>
            <a:off x="621792" y="1161288"/>
            <a:ext cx="3602736" cy="452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AGENDA</a:t>
            </a:r>
            <a:endParaRPr/>
          </a:p>
        </p:txBody>
      </p:sp>
      <p:sp>
        <p:nvSpPr>
          <p:cNvPr id="191" name="Google Shape;191;p3"/>
          <p:cNvSpPr/>
          <p:nvPr/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" name="Google Shape;192;p3"/>
          <p:cNvGrpSpPr/>
          <p:nvPr/>
        </p:nvGrpSpPr>
        <p:grpSpPr>
          <a:xfrm>
            <a:off x="5303520" y="682037"/>
            <a:ext cx="6364200" cy="5503190"/>
            <a:chOff x="0" y="5381"/>
            <a:chExt cx="6364200" cy="5503190"/>
          </a:xfrm>
        </p:grpSpPr>
        <p:sp>
          <p:nvSpPr>
            <p:cNvPr id="193" name="Google Shape;193;p3"/>
            <p:cNvSpPr/>
            <p:nvPr/>
          </p:nvSpPr>
          <p:spPr>
            <a:xfrm>
              <a:off x="0" y="5381"/>
              <a:ext cx="6364200" cy="5004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577822" y="5381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3"/>
            <p:cNvSpPr txBox="1"/>
            <p:nvPr/>
          </p:nvSpPr>
          <p:spPr>
            <a:xfrm>
              <a:off x="577822" y="5381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925" lIns="52925" spcFirstLastPara="1" rIns="52925" wrap="square" tIns="52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Anuncios generales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0" y="630730"/>
              <a:ext cx="6364200" cy="5004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577822" y="630730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0" y="1256079"/>
              <a:ext cx="6364200" cy="5004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577822" y="1256079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3"/>
            <p:cNvSpPr txBox="1"/>
            <p:nvPr/>
          </p:nvSpPr>
          <p:spPr>
            <a:xfrm>
              <a:off x="485772" y="630729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925" lIns="52925" spcFirstLastPara="1" rIns="52925" wrap="square" tIns="52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Dudas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0" y="1881427"/>
              <a:ext cx="6364200" cy="5004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577822" y="1881427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0" y="2506776"/>
              <a:ext cx="6364200" cy="5004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577822" y="2506776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3"/>
            <p:cNvSpPr txBox="1"/>
            <p:nvPr/>
          </p:nvSpPr>
          <p:spPr>
            <a:xfrm>
              <a:off x="485772" y="1881426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925" lIns="52925" spcFirstLastPara="1" rIns="52925" wrap="square" tIns="52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Dudas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0" y="3132125"/>
              <a:ext cx="6364200" cy="5004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577822" y="3132125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3"/>
            <p:cNvSpPr txBox="1"/>
            <p:nvPr/>
          </p:nvSpPr>
          <p:spPr>
            <a:xfrm>
              <a:off x="577822" y="3132125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925" lIns="52925" spcFirstLastPara="1" rIns="52925" wrap="square" tIns="52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0" y="3757473"/>
              <a:ext cx="6364200" cy="5004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577822" y="3757473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0" y="4382822"/>
              <a:ext cx="6364200" cy="5004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577822" y="4382822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3"/>
            <p:cNvSpPr txBox="1"/>
            <p:nvPr/>
          </p:nvSpPr>
          <p:spPr>
            <a:xfrm>
              <a:off x="577822" y="4382822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925" lIns="52925" spcFirstLastPara="1" rIns="52925" wrap="square" tIns="52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0" y="5008171"/>
              <a:ext cx="6364200" cy="5004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577822" y="5008171"/>
              <a:ext cx="2863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3441722" y="5008171"/>
              <a:ext cx="29220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3"/>
            <p:cNvSpPr txBox="1"/>
            <p:nvPr/>
          </p:nvSpPr>
          <p:spPr>
            <a:xfrm>
              <a:off x="485772" y="1256077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925" lIns="52925" spcFirstLastPara="1" rIns="52925" wrap="square" tIns="52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nube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8" name="Google Shape;218;p3"/>
          <p:cNvSpPr txBox="1"/>
          <p:nvPr/>
        </p:nvSpPr>
        <p:spPr>
          <a:xfrm>
            <a:off x="5881917" y="4456558"/>
            <a:ext cx="57858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925" lIns="52925" spcFirstLastPara="1" rIns="52925" wrap="square" tIns="52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"/>
          <p:cNvSpPr/>
          <p:nvPr/>
        </p:nvSpPr>
        <p:spPr>
          <a:xfrm>
            <a:off x="0" y="-1"/>
            <a:ext cx="12191695" cy="6852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5" y="80300"/>
            <a:ext cx="12191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4"/>
          <p:cNvSpPr txBox="1"/>
          <p:nvPr>
            <p:ph type="title"/>
          </p:nvPr>
        </p:nvSpPr>
        <p:spPr>
          <a:xfrm>
            <a:off x="6549203" y="2681111"/>
            <a:ext cx="4806000" cy="12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 sz="8800">
                <a:solidFill>
                  <a:schemeClr val="dk2"/>
                </a:solidFill>
              </a:rPr>
              <a:t>Anuncios Generales</a:t>
            </a:r>
            <a:endParaRPr/>
          </a:p>
        </p:txBody>
      </p:sp>
      <p:pic>
        <p:nvPicPr>
          <p:cNvPr descr="Maestro" id="227" name="Google Shape;2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470" y="1815320"/>
            <a:ext cx="4141760" cy="4141760"/>
          </a:xfrm>
          <a:custGeom>
            <a:rect b="b" l="l" r="r" t="t"/>
            <a:pathLst>
              <a:path extrusionOk="0" h="4377846" w="414176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228" name="Google Shape;228;p4"/>
          <p:cNvGrpSpPr/>
          <p:nvPr/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29" name="Google Shape;229;p4"/>
            <p:cNvSpPr/>
            <p:nvPr/>
          </p:nvSpPr>
          <p:spPr>
            <a:xfrm flipH="1">
              <a:off x="305" y="34854"/>
              <a:ext cx="6028697" cy="6817170"/>
            </a:xfrm>
            <a:custGeom>
              <a:rect b="b" l="l" r="r" t="t"/>
              <a:pathLst>
                <a:path extrusionOk="0" h="6817170" w="6028697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7843"/>
                  </a:srgbClr>
                </a:gs>
                <a:gs pos="2000">
                  <a:srgbClr val="FFFFFF">
                    <a:alpha val="784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7843"/>
                  </a:srgbClr>
                </a:gs>
                <a:gs pos="100000">
                  <a:srgbClr val="FFFFFF">
                    <a:alpha val="784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4"/>
            <p:cNvSpPr/>
            <p:nvPr/>
          </p:nvSpPr>
          <p:spPr>
            <a:xfrm flipH="1">
              <a:off x="305" y="1"/>
              <a:ext cx="6165116" cy="6858001"/>
            </a:xfrm>
            <a:custGeom>
              <a:rect b="b" l="l" r="r" t="t"/>
              <a:pathLst>
                <a:path extrusionOk="0" h="6858001" w="6264586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7843"/>
                  </a:srgbClr>
                </a:gs>
                <a:gs pos="2000">
                  <a:srgbClr val="FFFFFF">
                    <a:alpha val="784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7843"/>
                  </a:srgbClr>
                </a:gs>
                <a:gs pos="100000">
                  <a:srgbClr val="FFFFFF">
                    <a:alpha val="784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4"/>
            <p:cNvSpPr/>
            <p:nvPr/>
          </p:nvSpPr>
          <p:spPr>
            <a:xfrm flipH="1">
              <a:off x="305" y="-5977"/>
              <a:ext cx="6238675" cy="6858001"/>
            </a:xfrm>
            <a:custGeom>
              <a:rect b="b" l="l" r="r" t="t"/>
              <a:pathLst>
                <a:path extrusionOk="0" h="6858001" w="6264586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7843"/>
                  </a:srgbClr>
                </a:gs>
                <a:gs pos="2000">
                  <a:srgbClr val="FFFFFF">
                    <a:alpha val="784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7843"/>
                  </a:srgbClr>
                </a:gs>
                <a:gs pos="100000">
                  <a:srgbClr val="FFFFFF">
                    <a:alpha val="784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f4ab7b10d1_0_1"/>
          <p:cNvSpPr/>
          <p:nvPr/>
        </p:nvSpPr>
        <p:spPr>
          <a:xfrm>
            <a:off x="0" y="-1"/>
            <a:ext cx="12191700" cy="685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1f4ab7b10d1_0_1"/>
          <p:cNvSpPr/>
          <p:nvPr/>
        </p:nvSpPr>
        <p:spPr>
          <a:xfrm>
            <a:off x="5" y="80300"/>
            <a:ext cx="12191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1f4ab7b10d1_0_1"/>
          <p:cNvSpPr txBox="1"/>
          <p:nvPr>
            <p:ph type="title"/>
          </p:nvPr>
        </p:nvSpPr>
        <p:spPr>
          <a:xfrm>
            <a:off x="6549203" y="2681111"/>
            <a:ext cx="4806000" cy="12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 sz="8800">
                <a:solidFill>
                  <a:schemeClr val="dk2"/>
                </a:solidFill>
              </a:rPr>
              <a:t>Dudas</a:t>
            </a:r>
            <a:endParaRPr/>
          </a:p>
        </p:txBody>
      </p:sp>
      <p:pic>
        <p:nvPicPr>
          <p:cNvPr descr="Maestro" id="240" name="Google Shape;240;g1f4ab7b10d1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470" y="1815320"/>
            <a:ext cx="4141760" cy="4137064"/>
          </a:xfrm>
          <a:custGeom>
            <a:rect b="b" l="l" r="r" t="t"/>
            <a:pathLst>
              <a:path extrusionOk="0" h="4377846" w="414176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241" name="Google Shape;241;g1f4ab7b10d1_0_1"/>
          <p:cNvGrpSpPr/>
          <p:nvPr/>
        </p:nvGrpSpPr>
        <p:grpSpPr>
          <a:xfrm>
            <a:off x="-9754" y="-5977"/>
            <a:ext cx="6244176" cy="6863979"/>
            <a:chOff x="-5196" y="-5977"/>
            <a:chExt cx="6244176" cy="6863979"/>
          </a:xfrm>
        </p:grpSpPr>
        <p:sp>
          <p:nvSpPr>
            <p:cNvPr id="242" name="Google Shape;242;g1f4ab7b10d1_0_1"/>
            <p:cNvSpPr/>
            <p:nvPr/>
          </p:nvSpPr>
          <p:spPr>
            <a:xfrm flipH="1">
              <a:off x="305" y="34854"/>
              <a:ext cx="6028697" cy="6817170"/>
            </a:xfrm>
            <a:custGeom>
              <a:rect b="b" l="l" r="r" t="t"/>
              <a:pathLst>
                <a:path extrusionOk="0" h="6817170" w="6028697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7843"/>
                  </a:srgbClr>
                </a:gs>
                <a:gs pos="2000">
                  <a:srgbClr val="FFFFFF">
                    <a:alpha val="784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7843"/>
                  </a:srgbClr>
                </a:gs>
                <a:gs pos="100000">
                  <a:srgbClr val="FFFFFF">
                    <a:alpha val="7843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g1f4ab7b10d1_0_1"/>
            <p:cNvSpPr/>
            <p:nvPr/>
          </p:nvSpPr>
          <p:spPr>
            <a:xfrm flipH="1">
              <a:off x="-5196" y="1"/>
              <a:ext cx="6170617" cy="6858001"/>
            </a:xfrm>
            <a:custGeom>
              <a:rect b="b" l="l" r="r" t="t"/>
              <a:pathLst>
                <a:path extrusionOk="0" h="6858001" w="6264586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7843"/>
                  </a:srgbClr>
                </a:gs>
                <a:gs pos="2000">
                  <a:srgbClr val="FFFFFF">
                    <a:alpha val="784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7843"/>
                  </a:srgbClr>
                </a:gs>
                <a:gs pos="100000">
                  <a:srgbClr val="FFFFFF">
                    <a:alpha val="7843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g1f4ab7b10d1_0_1"/>
            <p:cNvSpPr/>
            <p:nvPr/>
          </p:nvSpPr>
          <p:spPr>
            <a:xfrm flipH="1">
              <a:off x="5717" y="-5977"/>
              <a:ext cx="6233263" cy="6858001"/>
            </a:xfrm>
            <a:custGeom>
              <a:rect b="b" l="l" r="r" t="t"/>
              <a:pathLst>
                <a:path extrusionOk="0" h="6858001" w="6264586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7843"/>
                  </a:srgbClr>
                </a:gs>
                <a:gs pos="2000">
                  <a:srgbClr val="FFFFFF">
                    <a:alpha val="784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7843"/>
                  </a:srgbClr>
                </a:gs>
                <a:gs pos="100000">
                  <a:srgbClr val="FFFFFF">
                    <a:alpha val="7843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 txBox="1"/>
          <p:nvPr>
            <p:ph type="title"/>
          </p:nvPr>
        </p:nvSpPr>
        <p:spPr>
          <a:xfrm>
            <a:off x="572493" y="238539"/>
            <a:ext cx="11018520" cy="14344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Que es la nube?</a:t>
            </a:r>
            <a:endParaRPr sz="5400"/>
          </a:p>
        </p:txBody>
      </p:sp>
      <p:sp>
        <p:nvSpPr>
          <p:cNvPr id="251" name="Google Shape;251;p6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2941"/>
            </a:schemeClr>
          </a:solidFill>
          <a:ln cap="rnd" cmpd="sng" w="44450">
            <a:solidFill>
              <a:schemeClr val="accent2">
                <a:alpha val="72941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500" y="2287275"/>
            <a:ext cx="6573399" cy="328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53" name="Google Shape;253;p6"/>
          <p:cNvSpPr txBox="1"/>
          <p:nvPr/>
        </p:nvSpPr>
        <p:spPr>
          <a:xfrm>
            <a:off x="8192550" y="2509125"/>
            <a:ext cx="40164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Hace referencia a los servidores a los que se accede a través de Internet, y al software y bases de datos que se ejecutan en esos servidores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f52ea93423_0_4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1f52ea93423_0_4"/>
          <p:cNvSpPr txBox="1"/>
          <p:nvPr>
            <p:ph type="title"/>
          </p:nvPr>
        </p:nvSpPr>
        <p:spPr>
          <a:xfrm>
            <a:off x="572493" y="238539"/>
            <a:ext cx="110184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Modelos de servicio de la nube</a:t>
            </a:r>
            <a:endParaRPr sz="5400"/>
          </a:p>
        </p:txBody>
      </p:sp>
      <p:sp>
        <p:nvSpPr>
          <p:cNvPr id="260" name="Google Shape;260;g1f52ea93423_0_4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4117"/>
            </a:schemeClr>
          </a:solidFill>
          <a:ln cap="rnd" cmpd="sng" w="44450">
            <a:solidFill>
              <a:schemeClr val="accent2">
                <a:alpha val="74117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g1f52ea93423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5500" y="1845575"/>
            <a:ext cx="6798901" cy="471759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f52ea93423_0_9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1f52ea93423_0_90"/>
          <p:cNvSpPr txBox="1"/>
          <p:nvPr>
            <p:ph type="title"/>
          </p:nvPr>
        </p:nvSpPr>
        <p:spPr>
          <a:xfrm>
            <a:off x="841248" y="426720"/>
            <a:ext cx="10506600" cy="191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6000"/>
              <a:t>Modelos de implementacion</a:t>
            </a:r>
            <a:endParaRPr sz="6000"/>
          </a:p>
        </p:txBody>
      </p:sp>
      <p:sp>
        <p:nvSpPr>
          <p:cNvPr id="268" name="Google Shape;268;g1f52ea93423_0_90"/>
          <p:cNvSpPr/>
          <p:nvPr/>
        </p:nvSpPr>
        <p:spPr>
          <a:xfrm>
            <a:off x="865953" y="2899927"/>
            <a:ext cx="10451700" cy="183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1f52ea93423_0_90"/>
          <p:cNvSpPr/>
          <p:nvPr/>
        </p:nvSpPr>
        <p:spPr>
          <a:xfrm flipH="1" rot="10800000">
            <a:off x="841248" y="2776091"/>
            <a:ext cx="1873500" cy="13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1f52ea93423_0_90"/>
          <p:cNvSpPr txBox="1"/>
          <p:nvPr>
            <p:ph idx="1" type="body"/>
          </p:nvPr>
        </p:nvSpPr>
        <p:spPr>
          <a:xfrm>
            <a:off x="841248" y="3337269"/>
            <a:ext cx="10509600" cy="29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Nube publica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Nube privada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Nube hibrida</a:t>
            </a:r>
            <a:endParaRPr/>
          </a:p>
        </p:txBody>
      </p:sp>
      <p:pic>
        <p:nvPicPr>
          <p:cNvPr id="271" name="Google Shape;271;g1f52ea93423_0_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3100" y="2566300"/>
            <a:ext cx="7049112" cy="36766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48584de576676619_4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48584de576676619_4"/>
          <p:cNvSpPr txBox="1"/>
          <p:nvPr>
            <p:ph type="title"/>
          </p:nvPr>
        </p:nvSpPr>
        <p:spPr>
          <a:xfrm>
            <a:off x="640080" y="329184"/>
            <a:ext cx="68946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/>
              <a:t>Cloudconomics</a:t>
            </a:r>
            <a:endParaRPr/>
          </a:p>
        </p:txBody>
      </p:sp>
      <p:sp>
        <p:nvSpPr>
          <p:cNvPr id="279" name="Google Shape;279;g48584de576676619_4"/>
          <p:cNvSpPr/>
          <p:nvPr/>
        </p:nvSpPr>
        <p:spPr>
          <a:xfrm>
            <a:off x="758952" y="2395728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48584de576676619_4"/>
          <p:cNvSpPr txBox="1"/>
          <p:nvPr>
            <p:ph idx="1" type="body"/>
          </p:nvPr>
        </p:nvSpPr>
        <p:spPr>
          <a:xfrm>
            <a:off x="640080" y="2706624"/>
            <a:ext cx="68946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La nube nace como respuesta a la necesidad de poder gestionar los recursos de una mejor manera, de forma de poder disminuir costos sin impactar en el redimiento y funcionamiento de los sistemas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5"/>
          <p:cNvSpPr/>
          <p:nvPr/>
        </p:nvSpPr>
        <p:spPr>
          <a:xfrm>
            <a:off x="758952" y="2395728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0" y="0"/>
            <a:ext cx="10080549" cy="714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f52ea93423_0_179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1f52ea93423_0_179"/>
          <p:cNvSpPr/>
          <p:nvPr/>
        </p:nvSpPr>
        <p:spPr>
          <a:xfrm>
            <a:off x="758952" y="2395728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g1f52ea93423_0_1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828" y="-42100"/>
            <a:ext cx="9804295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f52ea93423_0_187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1f52ea93423_0_187"/>
          <p:cNvSpPr/>
          <p:nvPr/>
        </p:nvSpPr>
        <p:spPr>
          <a:xfrm>
            <a:off x="758952" y="2395728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g1f52ea93423_0_1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828" y="-42100"/>
            <a:ext cx="9804295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g1f52ea93423_0_1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0997" y="0"/>
            <a:ext cx="9950005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f52ea93423_0_195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1f52ea93423_0_195"/>
          <p:cNvSpPr/>
          <p:nvPr/>
        </p:nvSpPr>
        <p:spPr>
          <a:xfrm>
            <a:off x="758952" y="2395728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oud Economics In A Single Chart&#10;Achieving More With Less&#10;Lost sales&#10;Infrastructure&#10;cost $&#10;Tim&#10;e&#10;Large&#10;capital&#10;expenditur..." id="313" name="Google Shape;313;g1f52ea93423_0_195"/>
          <p:cNvPicPr preferRelativeResize="0"/>
          <p:nvPr/>
        </p:nvPicPr>
        <p:blipFill rotWithShape="1">
          <a:blip r:embed="rId3">
            <a:alphaModFix/>
          </a:blip>
          <a:srcRect b="0" l="0" r="0" t="17389"/>
          <a:stretch/>
        </p:blipFill>
        <p:spPr>
          <a:xfrm>
            <a:off x="826288" y="820525"/>
            <a:ext cx="9085262" cy="4224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f52ea93423_0_204"/>
          <p:cNvSpPr txBox="1"/>
          <p:nvPr>
            <p:ph idx="1" type="body"/>
          </p:nvPr>
        </p:nvSpPr>
        <p:spPr>
          <a:xfrm>
            <a:off x="719667" y="1196975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/>
              <a:t>1. Los servicios públicos cuestan menos aunque cuestan más.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/>
              <a:t>         </a:t>
            </a:r>
            <a:r>
              <a:rPr lang="en-US" sz="2000"/>
              <a:t>Las compañías de servicios públicos cobran una prima por sus servicios relativamente alta, pero los clientes ahorran dinero al no pagar los servicios que no están usando en otros tiempos.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-4572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/>
              <a:t>2. El servicio bajo demanda triunfa sobre las proyecciones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/>
              <a:t>      </a:t>
            </a:r>
            <a:r>
              <a:rPr lang="en-US" sz="2000"/>
              <a:t> La capacidad de aprovisionar y disminuir los recursos en forma rápida, captura ganancias y reduce los costos.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-4572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/>
              <a:t>3. El pico de la suma nunca es mayor que la suma de los picos.</a:t>
            </a:r>
            <a:endParaRPr/>
          </a:p>
          <a:p>
            <a:pPr indent="-9525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/>
              <a:t>   </a:t>
            </a:r>
            <a:r>
              <a:rPr lang="en-US" sz="2000"/>
              <a:t>Las empresas despliegan la capacidad para manejar sus demandas máximas (empresa de impuestos 15 del mes, minorista el Black Friday). Las nubes pueden reasignar recursos a través de muchas empresas con diferentes períodos pico, por lo que necesita desplegar menos capacidad.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/>
              <a:t>.</a:t>
            </a:r>
            <a:endParaRPr sz="2000"/>
          </a:p>
        </p:txBody>
      </p:sp>
      <p:sp>
        <p:nvSpPr>
          <p:cNvPr id="319" name="Google Shape;319;g1f52ea93423_0_204"/>
          <p:cNvSpPr txBox="1"/>
          <p:nvPr>
            <p:ph type="title"/>
          </p:nvPr>
        </p:nvSpPr>
        <p:spPr>
          <a:xfrm>
            <a:off x="609600" y="274638"/>
            <a:ext cx="109728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/>
              <a:t>Leyes del cloudonomics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f52ea93423_0_209"/>
          <p:cNvSpPr txBox="1"/>
          <p:nvPr>
            <p:ph idx="1" type="body"/>
          </p:nvPr>
        </p:nvSpPr>
        <p:spPr>
          <a:xfrm>
            <a:off x="711200" y="13716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/>
              <a:t>4. La demanda agregada es más suave que la individual.</a:t>
            </a:r>
            <a:endParaRPr/>
          </a:p>
          <a:p>
            <a:pPr indent="-9525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/>
              <a:t>El multicliente tiende a suavizar la variabilidad de la demanda individual. Con una demanda más predecible y menor variación, las nubes pueden funcionar a tasas de utilización más altas que los sistemas individuales. Esto permite que los sistemas en la nube operen con mayor eficiencia y menores costos.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/>
          </a:p>
          <a:p>
            <a:pPr indent="-4572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/>
              <a:t>5. Los costos unitarios promedio se reducen distribuyendo los costos fijos sobre más unidades de producción.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/>
              <a:t>        </a:t>
            </a:r>
            <a:r>
              <a:rPr lang="en-US" sz="1800"/>
              <a:t>Los vendedores en la nube tienen un tamaño que les permite comprar recursos a precios significativamente reducidos.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-4572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/>
              <a:t>6. La superioridad en los números es el factor más importante en el resultado de un combate (Clausewitz).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/>
              <a:t>       </a:t>
            </a:r>
            <a:r>
              <a:rPr lang="en-US" sz="1800"/>
              <a:t>Weinman argumenta que el tamaño de una gran nube tiene la capacidad de repeler botnets y ataques DDoS mejor que los sistemas más pequeños.</a:t>
            </a:r>
            <a:endParaRPr sz="1800"/>
          </a:p>
        </p:txBody>
      </p:sp>
      <p:sp>
        <p:nvSpPr>
          <p:cNvPr id="325" name="Google Shape;325;g1f52ea93423_0_209"/>
          <p:cNvSpPr txBox="1"/>
          <p:nvPr>
            <p:ph type="title"/>
          </p:nvPr>
        </p:nvSpPr>
        <p:spPr>
          <a:xfrm>
            <a:off x="258775" y="348300"/>
            <a:ext cx="11184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/>
              <a:t>Leyes del cloudonomics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f52ea93423_0_214"/>
          <p:cNvSpPr txBox="1"/>
          <p:nvPr>
            <p:ph idx="1" type="body"/>
          </p:nvPr>
        </p:nvSpPr>
        <p:spPr>
          <a:xfrm>
            <a:off x="711200" y="13716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/>
              <a:t>7. El espacio-tiempo es continuo (Einstein / Minkowski).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/>
              <a:t>       La capacidad de una tarea para llevarse a cabo en la nube mediante el procesamiento paralelo permite que las empresas en tiempo real respondan más rápidamente a las condiciones del negocio y acelera la toma de decisiones proporcionando una ventaja medible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-4572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/>
              <a:t>8. La dispersión es el cuadrado inverso de la latencia.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/>
              <a:t>       Reducir la latencia a la mitad requiere cuatro veces el número de nodos en un sistema.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/>
          </a:p>
          <a:p>
            <a:pPr indent="-4572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/>
              <a:t>9. No coloques todos tus huevos en una sola canasta.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/>
              <a:t>       Grandes proveedores de nubes con sitios geográficamente dispersos en todo el mundo por lo tanto, lograr tasas de confiabilidad que son difíciles para los sistemas privados.</a:t>
            </a:r>
            <a:endParaRPr sz="1800"/>
          </a:p>
        </p:txBody>
      </p:sp>
      <p:sp>
        <p:nvSpPr>
          <p:cNvPr id="331" name="Google Shape;331;g1f52ea93423_0_214"/>
          <p:cNvSpPr txBox="1"/>
          <p:nvPr>
            <p:ph type="title"/>
          </p:nvPr>
        </p:nvSpPr>
        <p:spPr>
          <a:xfrm>
            <a:off x="511375" y="390375"/>
            <a:ext cx="99882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/>
              <a:t>Leyes del cloudonomics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f52ea93423_0_219"/>
          <p:cNvSpPr txBox="1"/>
          <p:nvPr>
            <p:ph idx="1" type="body"/>
          </p:nvPr>
        </p:nvSpPr>
        <p:spPr>
          <a:xfrm>
            <a:off x="1786950" y="1447375"/>
            <a:ext cx="86181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/>
              <a:t>10. Un objeto en reposo tiende a permanecer en reposo (Newton).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/>
              <a:t>       </a:t>
            </a:r>
            <a:r>
              <a:rPr lang="en-US" sz="2000"/>
              <a:t>Los centros de datos privados tienden a estar ubicados en lugares donde se fundó o adquirió la empresa o unidad. Los proveedores de la nube pueden ubicar sus centros de datos en lo que se denominan "sitios nuevos".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-4572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       Un sitio nuevo es uno que respeta el medio ambiente: ubicaciones que están en una red troncal de red, tienen acceso barato a la energía y la refrigeración, donde la tierra es barata y el impacto ambiental es bajo.</a:t>
            </a:r>
            <a:endParaRPr sz="2000"/>
          </a:p>
        </p:txBody>
      </p:sp>
      <p:sp>
        <p:nvSpPr>
          <p:cNvPr id="337" name="Google Shape;337;g1f52ea93423_0_219"/>
          <p:cNvSpPr txBox="1"/>
          <p:nvPr>
            <p:ph type="title"/>
          </p:nvPr>
        </p:nvSpPr>
        <p:spPr>
          <a:xfrm>
            <a:off x="-111700" y="407250"/>
            <a:ext cx="11815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/>
              <a:t>Leyes del cloudonomics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7"/>
          <p:cNvSpPr/>
          <p:nvPr/>
        </p:nvSpPr>
        <p:spPr>
          <a:xfrm>
            <a:off x="-30575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7"/>
          <p:cNvSpPr/>
          <p:nvPr>
            <p:ph type="title"/>
          </p:nvPr>
        </p:nvSpPr>
        <p:spPr>
          <a:xfrm>
            <a:off x="316700" y="639200"/>
            <a:ext cx="6552300" cy="3641700"/>
          </a:xfrm>
          <a:prstGeom prst="ellipse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</a:pPr>
            <a:r>
              <a:rPr lang="en-US" sz="5600"/>
              <a:t>Caracteristicas </a:t>
            </a:r>
            <a:endParaRPr sz="5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</a:pPr>
            <a:r>
              <a:rPr lang="en-US" sz="5600"/>
              <a:t>Principales</a:t>
            </a:r>
            <a:endParaRPr sz="5600"/>
          </a:p>
        </p:txBody>
      </p:sp>
      <p:sp>
        <p:nvSpPr>
          <p:cNvPr id="344" name="Google Shape;344;p7"/>
          <p:cNvSpPr/>
          <p:nvPr/>
        </p:nvSpPr>
        <p:spPr>
          <a:xfrm>
            <a:off x="643278" y="4409267"/>
            <a:ext cx="3255095" cy="18288"/>
          </a:xfrm>
          <a:custGeom>
            <a:rect b="b" l="l" r="r" t="t"/>
            <a:pathLst>
              <a:path extrusionOk="0" fill="none" h="18288" w="3255095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extrusionOk="0" h="18288" w="3255095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7"/>
          <p:cNvSpPr txBox="1"/>
          <p:nvPr/>
        </p:nvSpPr>
        <p:spPr>
          <a:xfrm>
            <a:off x="6504100" y="211275"/>
            <a:ext cx="4433700" cy="6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Elasticidad y escalabilidad: La capacidad de aumentar o disminuir los recursos informáticos según la demanda, lo que permite adaptarse rápidamente a cambios en la carga de trabajo.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Pago por uso (Modelo de pago por consumo): Los usuarios pagan solo por los recursos informáticos que consumen, lo que puede resultar en ahorros significativos en comparación con la infraestructura de TI tradicional.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Auto-servicio bajo demanda: Los usuarios pueden aprovisionar recursos informáticos según sea necesario, sin necesidad de intervención manual por parte del proveedor de servicios en la nube.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Acceso remoto: Los recursos informáticos en la nube están disponibles a través de Internet desde cualquier ubicación, lo que facilita el acceso y la colaboración desde cualquier parte del mundo.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Resiliencia y redundancia: Los servicios en la nube suelen ofrecer altos niveles de redundancia y disponibilidad, lo que garantiza la continuidad del servicio incluso en caso de fallas de hardware o infraestructura.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Servicios gestionados: Los proveedores de servicios en la nube suelen ofrecer una amplia gama de servicios gestionados, como bases de datos, almacenamiento, redes, seguridad, etc., que permiten a los usuarios externalizar la gestión de ciertos aspectos de su infraestructura informática.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Seguridad: Los proveedores de servicios en la nube suelen implementar rigurosas medidas de seguridad física y lógica para proteger los datos y los recursos informáticos de los usuarios.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48584de576676619_13"/>
          <p:cNvSpPr/>
          <p:nvPr/>
        </p:nvSpPr>
        <p:spPr>
          <a:xfrm>
            <a:off x="50525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48584de576676619_13"/>
          <p:cNvSpPr txBox="1"/>
          <p:nvPr>
            <p:ph type="title"/>
          </p:nvPr>
        </p:nvSpPr>
        <p:spPr>
          <a:xfrm>
            <a:off x="640080" y="329184"/>
            <a:ext cx="68946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/>
              <a:t>Proveedores de nube</a:t>
            </a:r>
            <a:endParaRPr/>
          </a:p>
        </p:txBody>
      </p:sp>
      <p:sp>
        <p:nvSpPr>
          <p:cNvPr id="353" name="Google Shape;353;g48584de576676619_13"/>
          <p:cNvSpPr/>
          <p:nvPr/>
        </p:nvSpPr>
        <p:spPr>
          <a:xfrm>
            <a:off x="758952" y="2395728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48584de576676619_13"/>
          <p:cNvSpPr txBox="1"/>
          <p:nvPr>
            <p:ph idx="1" type="body"/>
          </p:nvPr>
        </p:nvSpPr>
        <p:spPr>
          <a:xfrm>
            <a:off x="640080" y="2706624"/>
            <a:ext cx="68946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598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t/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18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  <p:pic>
        <p:nvPicPr>
          <p:cNvPr id="355" name="Google Shape;355;g48584de576676619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9225" y="2501813"/>
            <a:ext cx="6800850" cy="41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f52ea93423_0_304"/>
          <p:cNvSpPr/>
          <p:nvPr/>
        </p:nvSpPr>
        <p:spPr>
          <a:xfrm>
            <a:off x="50525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1f52ea93423_0_304"/>
          <p:cNvSpPr txBox="1"/>
          <p:nvPr>
            <p:ph type="title"/>
          </p:nvPr>
        </p:nvSpPr>
        <p:spPr>
          <a:xfrm>
            <a:off x="682175" y="328404"/>
            <a:ext cx="68946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/>
              <a:t>Marketshare</a:t>
            </a:r>
            <a:endParaRPr/>
          </a:p>
        </p:txBody>
      </p:sp>
      <p:sp>
        <p:nvSpPr>
          <p:cNvPr id="363" name="Google Shape;363;g1f52ea93423_0_304"/>
          <p:cNvSpPr/>
          <p:nvPr/>
        </p:nvSpPr>
        <p:spPr>
          <a:xfrm>
            <a:off x="767377" y="1363103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2020 Magic Quadrant for Cloud Infrastructure &amp; Platform Services" id="364" name="Google Shape;364;g1f52ea93423_0_3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6769" y="1305621"/>
            <a:ext cx="5633813" cy="5661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9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 txBox="1"/>
          <p:nvPr>
            <p:ph type="title"/>
          </p:nvPr>
        </p:nvSpPr>
        <p:spPr>
          <a:xfrm>
            <a:off x="1171074" y="1396686"/>
            <a:ext cx="3240506" cy="4064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>
                <a:solidFill>
                  <a:srgbClr val="FFFFFF"/>
                </a:solidFill>
              </a:rPr>
              <a:t>Eso significa que hay una mejor que las demás…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>
                <a:solidFill>
                  <a:srgbClr val="FFFFFF"/>
                </a:solidFill>
              </a:rPr>
              <a:t>Spoiler: No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72" name="Google Shape;372;p9"/>
          <p:cNvSpPr/>
          <p:nvPr/>
        </p:nvSpPr>
        <p:spPr>
          <a:xfrm rot="-1790889">
            <a:off x="8683720" y="941148"/>
            <a:ext cx="2987899" cy="2987899"/>
          </a:xfrm>
          <a:prstGeom prst="arc">
            <a:avLst>
              <a:gd fmla="val 15817365" name="adj1"/>
              <a:gd fmla="val 178138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0150" y="1396675"/>
            <a:ext cx="7067424" cy="471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f52ea93423_0_314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1f52ea93423_0_314"/>
          <p:cNvSpPr/>
          <p:nvPr/>
        </p:nvSpPr>
        <p:spPr>
          <a:xfrm>
            <a:off x="758952" y="2395728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2" name="Google Shape;382;g1f52ea93423_0_3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46" y="0"/>
            <a:ext cx="1167990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1f52ea93423_0_331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9" name="Google Shape;389;g1f52ea93423_0_3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809625"/>
            <a:ext cx="8572500" cy="523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f52ea93423_0_322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" name="Google Shape;396;g1f52ea93423_0_3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0668" y="-117875"/>
            <a:ext cx="666256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g1f52ea93423_0_3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7875" y="1317925"/>
            <a:ext cx="4876800" cy="3733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48584de576676619_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48584de576676619_44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g48584de576676619_44"/>
          <p:cNvSpPr txBox="1"/>
          <p:nvPr>
            <p:ph type="title"/>
          </p:nvPr>
        </p:nvSpPr>
        <p:spPr>
          <a:xfrm>
            <a:off x="731520" y="1170432"/>
            <a:ext cx="10533900" cy="273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b="1" lang="en-US" sz="8000">
                <a:solidFill>
                  <a:schemeClr val="dk2"/>
                </a:solidFill>
              </a:rPr>
              <a:t>Conclusion: decidir conforme a las necesidades.</a:t>
            </a:r>
            <a:endParaRPr sz="8000">
              <a:solidFill>
                <a:schemeClr val="dk2"/>
              </a:solidFill>
            </a:endParaRPr>
          </a:p>
        </p:txBody>
      </p:sp>
      <p:cxnSp>
        <p:nvCxnSpPr>
          <p:cNvPr id="405" name="Google Shape;405;g48584de576676619_44"/>
          <p:cNvCxnSpPr/>
          <p:nvPr/>
        </p:nvCxnSpPr>
        <p:spPr>
          <a:xfrm flipH="1">
            <a:off x="732463" y="246028"/>
            <a:ext cx="255600" cy="5466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6" name="Google Shape;406;g48584de576676619_44"/>
          <p:cNvSpPr txBox="1"/>
          <p:nvPr>
            <p:ph idx="1" type="body"/>
          </p:nvPr>
        </p:nvSpPr>
        <p:spPr>
          <a:xfrm>
            <a:off x="731520" y="4069080"/>
            <a:ext cx="10515600" cy="20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407" name="Google Shape;407;g48584de576676619_44"/>
          <p:cNvCxnSpPr/>
          <p:nvPr/>
        </p:nvCxnSpPr>
        <p:spPr>
          <a:xfrm rot="10800000">
            <a:off x="840428" y="6522756"/>
            <a:ext cx="10717200" cy="0"/>
          </a:xfrm>
          <a:prstGeom prst="straightConnector1">
            <a:avLst/>
          </a:prstGeom>
          <a:noFill/>
          <a:ln cap="sq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408" name="Google Shape;408;g48584de576676619_44"/>
          <p:cNvGrpSpPr/>
          <p:nvPr/>
        </p:nvGrpSpPr>
        <p:grpSpPr>
          <a:xfrm>
            <a:off x="12829917" y="6400806"/>
            <a:ext cx="338400" cy="240221"/>
            <a:chOff x="4089400" y="933450"/>
            <a:chExt cx="338400" cy="342000"/>
          </a:xfrm>
        </p:grpSpPr>
        <p:cxnSp>
          <p:nvCxnSpPr>
            <p:cNvPr id="409" name="Google Shape;409;g48584de576676619_44"/>
            <p:cNvCxnSpPr/>
            <p:nvPr/>
          </p:nvCxnSpPr>
          <p:spPr>
            <a:xfrm>
              <a:off x="4258564" y="933450"/>
              <a:ext cx="0" cy="342000"/>
            </a:xfrm>
            <a:prstGeom prst="straightConnector1">
              <a:avLst/>
            </a:prstGeom>
            <a:noFill/>
            <a:ln cap="flat" cmpd="sng" w="1270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0" name="Google Shape;410;g48584de576676619_44"/>
            <p:cNvCxnSpPr/>
            <p:nvPr/>
          </p:nvCxnSpPr>
          <p:spPr>
            <a:xfrm>
              <a:off x="4089400" y="1104419"/>
              <a:ext cx="338400" cy="0"/>
            </a:xfrm>
            <a:prstGeom prst="straightConnector1">
              <a:avLst/>
            </a:prstGeom>
            <a:noFill/>
            <a:ln cap="flat" cmpd="sng" w="1270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60aef264bf_0_170"/>
          <p:cNvSpPr txBox="1"/>
          <p:nvPr/>
        </p:nvSpPr>
        <p:spPr>
          <a:xfrm>
            <a:off x="1648575" y="1978500"/>
            <a:ext cx="9593400" cy="15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US" sz="46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Valor de la Unidad: </a:t>
            </a:r>
            <a:br>
              <a:rPr lang="en-US" sz="46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n-US" sz="46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Superacion</a:t>
            </a:r>
            <a:endParaRPr b="0" i="0" sz="9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16" name="Google Shape;416;g360aef264bf_0_170"/>
          <p:cNvSpPr txBox="1"/>
          <p:nvPr/>
        </p:nvSpPr>
        <p:spPr>
          <a:xfrm>
            <a:off x="3371104" y="4275653"/>
            <a:ext cx="4607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1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1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1"/>
          <p:cNvSpPr txBox="1"/>
          <p:nvPr>
            <p:ph type="ctrTitle"/>
          </p:nvPr>
        </p:nvSpPr>
        <p:spPr>
          <a:xfrm>
            <a:off x="1285241" y="1008993"/>
            <a:ext cx="9231410" cy="35420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Calibri"/>
              <a:buNone/>
            </a:pPr>
            <a:r>
              <a:rPr lang="en-US" sz="11500"/>
              <a:t>¿Dudas?</a:t>
            </a:r>
            <a:endParaRPr sz="115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2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2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2"/>
          <p:cNvSpPr txBox="1"/>
          <p:nvPr>
            <p:ph type="ctrTitle"/>
          </p:nvPr>
        </p:nvSpPr>
        <p:spPr>
          <a:xfrm>
            <a:off x="1285241" y="1008993"/>
            <a:ext cx="9231410" cy="35420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Calibri"/>
              <a:buNone/>
            </a:pPr>
            <a:r>
              <a:rPr lang="en-US" sz="11500"/>
              <a:t>Gracias por su atención</a:t>
            </a:r>
            <a:endParaRPr sz="11500"/>
          </a:p>
        </p:txBody>
      </p:sp>
      <p:sp>
        <p:nvSpPr>
          <p:cNvPr id="433" name="Google Shape;433;p22"/>
          <p:cNvSpPr txBox="1"/>
          <p:nvPr>
            <p:ph idx="1" type="subTitle"/>
          </p:nvPr>
        </p:nvSpPr>
        <p:spPr>
          <a:xfrm>
            <a:off x="1285241" y="4582814"/>
            <a:ext cx="7132335" cy="1312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2023-07-25T00:36:49Z</dcterms:created>
  <dc:creator>Madeline Pérez</dc:creator>
</cp:coreProperties>
</file>