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6858000" cx="12192000"/>
  <p:notesSz cx="6858000" cy="9144000"/>
  <p:embeddedFontLs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1" roundtripDataSignature="AMtx7mgitZvYCnc773oojlIJDxMni9d4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A5733E-59EC-43D2-9210-C46AE1E5CADA}">
  <a:tblStyle styleId="{FDA5733E-59EC-43D2-9210-C46AE1E5CAD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pen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Open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0af0807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g360af0807e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Enunciado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dudas</a:t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DevOps se define como una metodología que ha venido a revolucionar el marco de desarrollo de aplicaciones, gracias a la aplicación de diferentes prácticas y herramientas de automatización que permiten producir </a:t>
            </a:r>
            <a:r>
              <a:rPr i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más rápido. Además de lo mencionado, esta metodología permite la unificación de Desarrollo y Operaciones, lo que facilita el trabajo y la distribución la infraestructura aplicativa.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bitbucket</a:t>
            </a:r>
            <a:endParaRPr/>
          </a:p>
        </p:txBody>
      </p:sp>
      <p:sp>
        <p:nvSpPr>
          <p:cNvPr id="264" name="Google Shape;26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0" name="Google Shape;28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4" name="Google Shape;314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f2e196bda9_0_8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3" name="Google Shape;33;g1f2e196bda9_0_8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34" name="Google Shape;34;g1f2e196bda9_0_89"/>
          <p:cNvSpPr txBox="1"/>
          <p:nvPr>
            <p:ph idx="12" type="sldNum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1269" y="1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p1"/>
          <p:cNvGraphicFramePr/>
          <p:nvPr/>
        </p:nvGraphicFramePr>
        <p:xfrm>
          <a:off x="6493942" y="13286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{FDA5733E-59EC-43D2-9210-C46AE1E5CADA}</a:tableStyleId>
              </a:tblPr>
              <a:tblGrid>
                <a:gridCol w="2265425"/>
                <a:gridCol w="3241550"/>
              </a:tblGrid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/>
                        <a:t>Jueves</a:t>
                      </a:r>
                      <a:r>
                        <a:rPr lang="en-US" sz="2400" u="none" cap="none" strike="noStrike"/>
                        <a:t>, </a:t>
                      </a:r>
                      <a:r>
                        <a:rPr lang="en-US" sz="2400"/>
                        <a:t>18</a:t>
                      </a:r>
                      <a:r>
                        <a:rPr lang="en-US" sz="2400" u="none" cap="none" strike="noStrike"/>
                        <a:t>/</a:t>
                      </a:r>
                      <a:r>
                        <a:rPr lang="en-US" sz="2400" u="none" cap="none" strike="noStrike"/>
                        <a:t>04</a:t>
                      </a:r>
                      <a:r>
                        <a:rPr lang="en-US" sz="2400" u="none" cap="none" strike="noStrike"/>
                        <a:t>/2025</a:t>
                      </a:r>
                      <a:endParaRPr sz="2400" u="none" cap="none" strike="noStrike"/>
                    </a:p>
                  </a:txBody>
                  <a:tcPr marT="121900" marB="121900" marR="121900" marL="121900"/>
                </a:tc>
              </a:tr>
              <a:tr h="60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900"/>
                        <a:buFont typeface="Calibri"/>
                        <a:buNone/>
                      </a:pPr>
                      <a:r>
                        <a:rPr b="1" lang="en-US" sz="19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lang="en-US" sz="2400" u="none" cap="none" strike="noStrike"/>
                        <a:t>16:30</a:t>
                      </a:r>
                      <a:endParaRPr sz="2400" u="none" cap="none" strike="noStrike"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94" name="Google Shape;94;p1"/>
          <p:cNvSpPr txBox="1"/>
          <p:nvPr/>
        </p:nvSpPr>
        <p:spPr>
          <a:xfrm>
            <a:off x="1920233" y="3011067"/>
            <a:ext cx="90561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33"/>
              <a:buFont typeface="Arial"/>
              <a:buNone/>
            </a:pPr>
            <a:r>
              <a:rPr b="0" i="0" lang="en-US" sz="33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Avanzado Sección B</a:t>
            </a:r>
            <a:endParaRPr b="0" i="0" sz="33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371600" y="3867668"/>
            <a:ext cx="7448800" cy="65661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b="0" i="0" lang="en-US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Diego Rene Molina Roldan</a:t>
            </a:r>
            <a:endParaRPr b="0" i="0" sz="26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60af0807e3_0_0"/>
          <p:cNvSpPr/>
          <p:nvPr/>
        </p:nvSpPr>
        <p:spPr>
          <a:xfrm>
            <a:off x="8360873" y="0"/>
            <a:ext cx="3835916" cy="1142613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1" name="Google Shape;101;g360af0807e3_0_0"/>
          <p:cNvSpPr/>
          <p:nvPr/>
        </p:nvSpPr>
        <p:spPr>
          <a:xfrm>
            <a:off x="8360873" y="4014585"/>
            <a:ext cx="2776923" cy="2746629"/>
          </a:xfrm>
          <a:custGeom>
            <a:rect b="b" l="l" r="r" t="t"/>
            <a:pathLst>
              <a:path extrusionOk="0" h="4114800" w="4160184">
                <a:moveTo>
                  <a:pt x="0" y="0"/>
                </a:moveTo>
                <a:lnTo>
                  <a:pt x="4160184" y="0"/>
                </a:lnTo>
                <a:lnTo>
                  <a:pt x="416018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g360af0807e3_0_0"/>
          <p:cNvSpPr txBox="1"/>
          <p:nvPr/>
        </p:nvSpPr>
        <p:spPr>
          <a:xfrm>
            <a:off x="685794" y="4235339"/>
            <a:ext cx="38115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Software Avanzado</a:t>
            </a:r>
            <a:endParaRPr b="1" sz="33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g360af0807e3_0_0"/>
          <p:cNvSpPr txBox="1"/>
          <p:nvPr/>
        </p:nvSpPr>
        <p:spPr>
          <a:xfrm>
            <a:off x="1780078" y="1920008"/>
            <a:ext cx="8250000" cy="22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0"/>
              <a:buFont typeface="Arial"/>
              <a:buNone/>
            </a:pPr>
            <a:r>
              <a:rPr b="1" lang="en-US" sz="61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Introduccion a DevOps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60af0807e3_0_0"/>
          <p:cNvSpPr txBox="1"/>
          <p:nvPr/>
        </p:nvSpPr>
        <p:spPr>
          <a:xfrm>
            <a:off x="685794" y="5483392"/>
            <a:ext cx="4654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g360af0807e3_0_0"/>
          <p:cNvSpPr txBox="1"/>
          <p:nvPr/>
        </p:nvSpPr>
        <p:spPr>
          <a:xfrm>
            <a:off x="685800" y="6140450"/>
            <a:ext cx="4445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g360af0807e3_0_0"/>
          <p:cNvSpPr txBox="1"/>
          <p:nvPr/>
        </p:nvSpPr>
        <p:spPr>
          <a:xfrm>
            <a:off x="8652721" y="4950693"/>
            <a:ext cx="2189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/>
          <p:nvPr/>
        </p:nvSpPr>
        <p:spPr>
          <a:xfrm>
            <a:off x="0" y="-1"/>
            <a:ext cx="12191695" cy="6852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-103545" y="68800"/>
            <a:ext cx="12191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 txBox="1"/>
          <p:nvPr>
            <p:ph type="title"/>
          </p:nvPr>
        </p:nvSpPr>
        <p:spPr>
          <a:xfrm>
            <a:off x="6549203" y="2681111"/>
            <a:ext cx="4806000" cy="12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Calibri"/>
              <a:buNone/>
            </a:pPr>
            <a:r>
              <a:rPr lang="en-US" sz="8800">
                <a:solidFill>
                  <a:schemeClr val="dk2"/>
                </a:solidFill>
              </a:rPr>
              <a:t>Dudas</a:t>
            </a:r>
            <a:endParaRPr sz="8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2000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Maestro"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470" y="1815320"/>
            <a:ext cx="4141760" cy="4141760"/>
          </a:xfrm>
          <a:custGeom>
            <a:rect b="b" l="l" r="r" t="t"/>
            <a:pathLst>
              <a:path extrusionOk="0" h="4377846" w="414176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116" name="Google Shape;116;p4"/>
          <p:cNvGrpSpPr/>
          <p:nvPr/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17" name="Google Shape;117;p4"/>
            <p:cNvSpPr/>
            <p:nvPr/>
          </p:nvSpPr>
          <p:spPr>
            <a:xfrm flipH="1">
              <a:off x="305" y="34854"/>
              <a:ext cx="6028697" cy="6817170"/>
            </a:xfrm>
            <a:custGeom>
              <a:rect b="b" l="l" r="r" t="t"/>
              <a:pathLst>
                <a:path extrusionOk="0" h="6817170" w="6028697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70AD47">
                    <a:alpha val="8627"/>
                  </a:srgbClr>
                </a:gs>
                <a:gs pos="85000">
                  <a:srgbClr val="4472C4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 flipH="1">
              <a:off x="305" y="1"/>
              <a:ext cx="6165116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70AD47">
                    <a:alpha val="8627"/>
                  </a:srgbClr>
                </a:gs>
                <a:gs pos="85000">
                  <a:srgbClr val="4472C4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 flipH="1">
              <a:off x="305" y="-5977"/>
              <a:ext cx="6238675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70AD47">
                    <a:alpha val="8627"/>
                  </a:srgbClr>
                </a:gs>
                <a:gs pos="85000">
                  <a:srgbClr val="4472C4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 txBox="1"/>
          <p:nvPr>
            <p:ph type="title"/>
          </p:nvPr>
        </p:nvSpPr>
        <p:spPr>
          <a:xfrm>
            <a:off x="640080" y="329184"/>
            <a:ext cx="689457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5400"/>
              <a:t>Introducción a DevOps</a:t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640080" y="2706624"/>
            <a:ext cx="6894576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DevOps es una metodología que busca integrar y agilizar la colaboración entre los equipos de desarrollo y operaciones de TI.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Crucial para acelerar la entrega de software, mejorar la calidad y la colaboración interdepartamental.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Ha revolucionado la manera de desarrollar software.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pic>
        <p:nvPicPr>
          <p:cNvPr descr="How DevOps is Killing QA - DevOps.com" id="129" name="Google Shape;12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65701" y="329183"/>
            <a:ext cx="3610493" cy="34299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63840" y="4083434"/>
            <a:ext cx="3995928" cy="21677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 txBox="1"/>
          <p:nvPr>
            <p:ph type="title"/>
          </p:nvPr>
        </p:nvSpPr>
        <p:spPr>
          <a:xfrm>
            <a:off x="572493" y="238539"/>
            <a:ext cx="11018520" cy="14344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b="1" lang="en-US" sz="5400"/>
              <a:t>Desarrollo Tradicional vs. DevOps</a:t>
            </a:r>
            <a:endParaRPr sz="5400"/>
          </a:p>
        </p:txBody>
      </p:sp>
      <p:sp>
        <p:nvSpPr>
          <p:cNvPr id="137" name="Google Shape;137;p6"/>
          <p:cNvSpPr/>
          <p:nvPr/>
        </p:nvSpPr>
        <p:spPr>
          <a:xfrm>
            <a:off x="572493" y="1681544"/>
            <a:ext cx="10972800" cy="18288"/>
          </a:xfrm>
          <a:custGeom>
            <a:rect b="b" l="l" r="r" t="t"/>
            <a:pathLst>
              <a:path extrusionOk="0" fill="none" h="18288" w="1097280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extrusionOk="0" h="18288" w="1097280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3725"/>
            </a:schemeClr>
          </a:solidFill>
          <a:ln cap="rnd" cmpd="sng" w="44450">
            <a:solidFill>
              <a:schemeClr val="accent2">
                <a:alpha val="73725"/>
              </a:scheme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iclo De Vida Del Software" id="138" name="Google Shape;138;p6"/>
          <p:cNvPicPr preferRelativeResize="0"/>
          <p:nvPr/>
        </p:nvPicPr>
        <p:blipFill rotWithShape="1">
          <a:blip r:embed="rId3">
            <a:alphaModFix/>
          </a:blip>
          <a:srcRect b="-2" l="4484" r="5558" t="0"/>
          <a:stretch/>
        </p:blipFill>
        <p:spPr>
          <a:xfrm>
            <a:off x="7467008" y="2082639"/>
            <a:ext cx="3941064" cy="40965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6"/>
          <p:cNvGrpSpPr/>
          <p:nvPr/>
        </p:nvGrpSpPr>
        <p:grpSpPr>
          <a:xfrm>
            <a:off x="657075" y="3004903"/>
            <a:ext cx="6544387" cy="2251997"/>
            <a:chOff x="84582" y="933587"/>
            <a:chExt cx="6544387" cy="2251997"/>
          </a:xfrm>
        </p:grpSpPr>
        <p:sp>
          <p:nvSpPr>
            <p:cNvPr id="140" name="Google Shape;140;p6"/>
            <p:cNvSpPr/>
            <p:nvPr/>
          </p:nvSpPr>
          <p:spPr>
            <a:xfrm>
              <a:off x="621808" y="933587"/>
              <a:ext cx="879096" cy="87909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84582" y="2150584"/>
              <a:ext cx="1953548" cy="10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6"/>
            <p:cNvSpPr txBox="1"/>
            <p:nvPr/>
          </p:nvSpPr>
          <p:spPr>
            <a:xfrm>
              <a:off x="84582" y="2150584"/>
              <a:ext cx="1953548" cy="10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 el enfoque tradicional, el desarrollo y las operaciones funcionan de forma aislada, lo que puede provocar problemas de comunicación y retrasos en los lanzamientos.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2917227" y="933587"/>
              <a:ext cx="879096" cy="87909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2380001" y="2150584"/>
              <a:ext cx="1953548" cy="10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6"/>
            <p:cNvSpPr txBox="1"/>
            <p:nvPr/>
          </p:nvSpPr>
          <p:spPr>
            <a:xfrm>
              <a:off x="2380001" y="2150584"/>
              <a:ext cx="1953548" cy="10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DevOps promueve la colaboración, la automatización y la entrega continua, a diferencia del enfoque secuencial y rígido del desarrollo tradicional.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5212647" y="933587"/>
              <a:ext cx="879096" cy="87909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4675421" y="2150584"/>
              <a:ext cx="1953548" cy="10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6"/>
            <p:cNvSpPr txBox="1"/>
            <p:nvPr/>
          </p:nvSpPr>
          <p:spPr>
            <a:xfrm>
              <a:off x="4675421" y="2150584"/>
              <a:ext cx="1953548" cy="103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implementación de DevOps resulta en un desarrollo más rápido, despliegues más seguros y una mayor capacidad de respuesta a los cambios del mercado.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>
            <p:ph type="title"/>
          </p:nvPr>
        </p:nvSpPr>
        <p:spPr>
          <a:xfrm>
            <a:off x="638882" y="639193"/>
            <a:ext cx="3571810" cy="3573516"/>
          </a:xfrm>
          <a:prstGeom prst="ellipse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Fases del ciclo DevOps</a:t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643278" y="4409267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4296" y="1458319"/>
            <a:ext cx="7214616" cy="3913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"/>
          <p:cNvSpPr/>
          <p:nvPr/>
        </p:nvSpPr>
        <p:spPr>
          <a:xfrm>
            <a:off x="0" y="1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0" sz="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 txBox="1"/>
          <p:nvPr>
            <p:ph type="title"/>
          </p:nvPr>
        </p:nvSpPr>
        <p:spPr>
          <a:xfrm>
            <a:off x="804672" y="457200"/>
            <a:ext cx="1057960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chemeClr val="dk2"/>
                </a:solidFill>
              </a:rPr>
              <a:t>Beneficios de la adopción de un entorno DevOps </a:t>
            </a:r>
            <a:endParaRPr sz="4000">
              <a:solidFill>
                <a:schemeClr val="dk2"/>
              </a:solidFill>
            </a:endParaRPr>
          </a:p>
        </p:txBody>
      </p:sp>
      <p:grpSp>
        <p:nvGrpSpPr>
          <p:cNvPr id="164" name="Google Shape;164;p8"/>
          <p:cNvGrpSpPr/>
          <p:nvPr/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165" name="Google Shape;165;p8"/>
            <p:cNvSpPr/>
            <p:nvPr/>
          </p:nvSpPr>
          <p:spPr>
            <a:xfrm>
              <a:off x="-305" y="0"/>
              <a:ext cx="2514948" cy="2170178"/>
            </a:xfrm>
            <a:custGeom>
              <a:rect b="b" l="l" r="r" t="t"/>
              <a:pathLst>
                <a:path extrusionOk="0" h="2170178" w="251494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70AD47">
                    <a:alpha val="8627"/>
                  </a:srgbClr>
                </a:gs>
                <a:gs pos="85000">
                  <a:srgbClr val="4472C4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8"/>
            <p:cNvSpPr/>
            <p:nvPr/>
          </p:nvSpPr>
          <p:spPr>
            <a:xfrm>
              <a:off x="-305" y="-4155"/>
              <a:ext cx="2493062" cy="1947896"/>
            </a:xfrm>
            <a:custGeom>
              <a:rect b="b" l="l" r="r" t="t"/>
              <a:pathLst>
                <a:path extrusionOk="0" h="1947896" w="2493062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70AD47">
                    <a:alpha val="8627"/>
                  </a:srgbClr>
                </a:gs>
                <a:gs pos="85000">
                  <a:srgbClr val="4472C4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8"/>
            <p:cNvSpPr/>
            <p:nvPr/>
          </p:nvSpPr>
          <p:spPr>
            <a:xfrm>
              <a:off x="-305" y="0"/>
              <a:ext cx="2501089" cy="1972702"/>
            </a:xfrm>
            <a:custGeom>
              <a:rect b="b" l="l" r="r" t="t"/>
              <a:pathLst>
                <a:path extrusionOk="0" h="1972702" w="2501089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70AD47">
                    <a:alpha val="8627"/>
                  </a:srgbClr>
                </a:gs>
                <a:gs pos="85000">
                  <a:srgbClr val="4472C4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305" y="1"/>
              <a:ext cx="2491105" cy="1943661"/>
            </a:xfrm>
            <a:custGeom>
              <a:rect b="b" l="l" r="r" t="t"/>
              <a:pathLst>
                <a:path extrusionOk="0" h="1943661" w="2491105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70AD47">
                    <a:alpha val="8627"/>
                  </a:srgbClr>
                </a:gs>
                <a:gs pos="85000">
                  <a:srgbClr val="4472C4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8"/>
          <p:cNvGrpSpPr/>
          <p:nvPr/>
        </p:nvGrpSpPr>
        <p:grpSpPr>
          <a:xfrm flipH="1" rot="10800000">
            <a:off x="0" y="5047906"/>
            <a:ext cx="2412221" cy="1810094"/>
            <a:chOff x="-305" y="-1"/>
            <a:chExt cx="3832880" cy="2876136"/>
          </a:xfrm>
        </p:grpSpPr>
        <p:sp>
          <p:nvSpPr>
            <p:cNvPr id="170" name="Google Shape;170;p8"/>
            <p:cNvSpPr/>
            <p:nvPr/>
          </p:nvSpPr>
          <p:spPr>
            <a:xfrm>
              <a:off x="305" y="1"/>
              <a:ext cx="3815424" cy="2653659"/>
            </a:xfrm>
            <a:custGeom>
              <a:rect b="b" l="l" r="r" t="t"/>
              <a:pathLst>
                <a:path extrusionOk="0" h="2653659" w="3815424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70AD47">
                    <a:alpha val="8627"/>
                  </a:srgbClr>
                </a:gs>
                <a:gs pos="85000">
                  <a:srgbClr val="4472C4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305" y="-1"/>
              <a:ext cx="3815424" cy="2653660"/>
            </a:xfrm>
            <a:custGeom>
              <a:rect b="b" l="l" r="r" t="t"/>
              <a:pathLst>
                <a:path extrusionOk="0" h="2653660" w="3815424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70AD47">
                    <a:alpha val="8627"/>
                  </a:srgbClr>
                </a:gs>
                <a:gs pos="85000">
                  <a:srgbClr val="4472C4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-305" y="1"/>
              <a:ext cx="3815986" cy="2675935"/>
            </a:xfrm>
            <a:custGeom>
              <a:rect b="b" l="l" r="r" t="t"/>
              <a:pathLst>
                <a:path extrusionOk="0" h="2675935" w="3815986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70AD47">
                    <a:alpha val="8627"/>
                  </a:srgbClr>
                </a:gs>
                <a:gs pos="85000">
                  <a:srgbClr val="4472C4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305" y="-1"/>
              <a:ext cx="3832270" cy="2876136"/>
            </a:xfrm>
            <a:custGeom>
              <a:rect b="b" l="l" r="r" t="t"/>
              <a:pathLst>
                <a:path extrusionOk="0" h="2876136" w="3832270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70AD47">
                    <a:alpha val="8627"/>
                  </a:srgbClr>
                </a:gs>
                <a:gs pos="85000">
                  <a:srgbClr val="4472C4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1039284" y="2797938"/>
            <a:ext cx="10113430" cy="3057549"/>
            <a:chOff x="2964" y="254305"/>
            <a:chExt cx="10113430" cy="3057549"/>
          </a:xfrm>
        </p:grpSpPr>
        <p:sp>
          <p:nvSpPr>
            <p:cNvPr id="175" name="Google Shape;175;p8"/>
            <p:cNvSpPr/>
            <p:nvPr/>
          </p:nvSpPr>
          <p:spPr>
            <a:xfrm>
              <a:off x="2964" y="254305"/>
              <a:ext cx="2351960" cy="1411176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8"/>
            <p:cNvSpPr txBox="1"/>
            <p:nvPr/>
          </p:nvSpPr>
          <p:spPr>
            <a:xfrm>
              <a:off x="2964" y="254305"/>
              <a:ext cx="2351960" cy="1411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Mayor velocidad de producción. </a:t>
              </a:r>
              <a:endPara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2590121" y="254305"/>
              <a:ext cx="2351960" cy="1411176"/>
            </a:xfrm>
            <a:prstGeom prst="rect">
              <a:avLst/>
            </a:pr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8"/>
            <p:cNvSpPr txBox="1"/>
            <p:nvPr/>
          </p:nvSpPr>
          <p:spPr>
            <a:xfrm>
              <a:off x="2590121" y="254305"/>
              <a:ext cx="2351960" cy="1411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Entrega rápida. </a:t>
              </a:r>
              <a:endPara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5177278" y="254305"/>
              <a:ext cx="2351960" cy="1411176"/>
            </a:xfrm>
            <a:prstGeom prst="rect">
              <a:avLst/>
            </a:prstGeom>
            <a:solidFill>
              <a:schemeClr val="accent4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8"/>
            <p:cNvSpPr txBox="1"/>
            <p:nvPr/>
          </p:nvSpPr>
          <p:spPr>
            <a:xfrm>
              <a:off x="5177278" y="254305"/>
              <a:ext cx="2351960" cy="1411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Seguridad. </a:t>
              </a:r>
              <a:endPara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7764434" y="254305"/>
              <a:ext cx="2351960" cy="1411176"/>
            </a:xfrm>
            <a:prstGeom prst="rect">
              <a:avLst/>
            </a:prstGeom>
            <a:solidFill>
              <a:srgbClr val="599BD5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8"/>
            <p:cNvSpPr txBox="1"/>
            <p:nvPr/>
          </p:nvSpPr>
          <p:spPr>
            <a:xfrm>
              <a:off x="7764434" y="254305"/>
              <a:ext cx="2351960" cy="1411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Escalabilidad. </a:t>
              </a:r>
              <a:endPara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1296543" y="1900678"/>
              <a:ext cx="2351960" cy="1411176"/>
            </a:xfrm>
            <a:prstGeom prst="rect">
              <a:avLst/>
            </a:prstGeom>
            <a:solidFill>
              <a:schemeClr val="accent6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8"/>
            <p:cNvSpPr txBox="1"/>
            <p:nvPr/>
          </p:nvSpPr>
          <p:spPr>
            <a:xfrm>
              <a:off x="1296543" y="1900678"/>
              <a:ext cx="2351960" cy="1411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Satisfacción del cliente. </a:t>
              </a:r>
              <a:endPara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8"/>
            <p:cNvSpPr/>
            <p:nvPr/>
          </p:nvSpPr>
          <p:spPr>
            <a:xfrm>
              <a:off x="3883699" y="1900678"/>
              <a:ext cx="2351960" cy="1411176"/>
            </a:xfrm>
            <a:prstGeom prst="rect">
              <a:avLst/>
            </a:prstGeom>
            <a:solidFill>
              <a:schemeClr val="accen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8"/>
            <p:cNvSpPr txBox="1"/>
            <p:nvPr/>
          </p:nvSpPr>
          <p:spPr>
            <a:xfrm>
              <a:off x="3883699" y="1900678"/>
              <a:ext cx="2351960" cy="1411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Mayor calidad de </a:t>
              </a:r>
              <a:r>
                <a:rPr b="0" i="1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software</a:t>
              </a: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endPara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>
              <a:off x="6470856" y="1900678"/>
              <a:ext cx="2351960" cy="1411176"/>
            </a:xfrm>
            <a:prstGeom prst="rect">
              <a:avLst/>
            </a:prstGeom>
            <a:solidFill>
              <a:schemeClr val="accent3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8"/>
            <p:cNvSpPr txBox="1"/>
            <p:nvPr/>
          </p:nvSpPr>
          <p:spPr>
            <a:xfrm>
              <a:off x="6470856" y="1900678"/>
              <a:ext cx="2351960" cy="14111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Estabilidad del </a:t>
              </a:r>
              <a:r>
                <a:rPr b="0" i="1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software</a:t>
              </a:r>
              <a:r>
                <a:rPr b="0" i="0" lang="en-US" sz="2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. </a:t>
              </a:r>
              <a:endPara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 txBox="1"/>
          <p:nvPr>
            <p:ph type="title"/>
          </p:nvPr>
        </p:nvSpPr>
        <p:spPr>
          <a:xfrm>
            <a:off x="1171074" y="1396686"/>
            <a:ext cx="3240506" cy="40646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Conceptos de CICD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96" name="Google Shape;196;p9"/>
          <p:cNvSpPr/>
          <p:nvPr/>
        </p:nvSpPr>
        <p:spPr>
          <a:xfrm rot="-1790889">
            <a:off x="8683720" y="941148"/>
            <a:ext cx="2987899" cy="2987899"/>
          </a:xfrm>
          <a:prstGeom prst="arc">
            <a:avLst>
              <a:gd fmla="val 15817365" name="adj1"/>
              <a:gd fmla="val 178138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 txBox="1"/>
          <p:nvPr>
            <p:ph idx="1" type="body"/>
          </p:nvPr>
        </p:nvSpPr>
        <p:spPr>
          <a:xfrm>
            <a:off x="5370153" y="1526033"/>
            <a:ext cx="5536397" cy="3935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CI (Integración Continua) y CD (Entrega Continua) son dos conceptos que se han unificado en un solo término (CI/CD), y que tienen en común automatizar procesos repetitivos para evitar gastos operacionales, y entre otros temas, con el objetivo de agilizar los procesos de desarrollo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2769476" y="220196"/>
            <a:ext cx="9422524" cy="6637806"/>
          </a:xfrm>
          <a:custGeom>
            <a:rect b="b" l="l" r="r" t="t"/>
            <a:pathLst>
              <a:path extrusionOk="0" h="5770597" w="8191500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 rot="-3079828">
            <a:off x="1613162" y="1492572"/>
            <a:ext cx="2987899" cy="2987899"/>
          </a:xfrm>
          <a:prstGeom prst="arc">
            <a:avLst>
              <a:gd fmla="val 14455503" name="adj1"/>
              <a:gd fmla="val 227775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/>
          <p:nvPr>
            <p:ph type="ctrTitle"/>
          </p:nvPr>
        </p:nvSpPr>
        <p:spPr>
          <a:xfrm>
            <a:off x="4038600" y="1939159"/>
            <a:ext cx="7644627" cy="27510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CI</a:t>
            </a:r>
            <a:endParaRPr/>
          </a:p>
        </p:txBody>
      </p:sp>
      <p:sp>
        <p:nvSpPr>
          <p:cNvPr id="209" name="Google Shape;209;p10"/>
          <p:cNvSpPr txBox="1"/>
          <p:nvPr>
            <p:ph idx="1" type="subTitle"/>
          </p:nvPr>
        </p:nvSpPr>
        <p:spPr>
          <a:xfrm>
            <a:off x="4038600" y="4782320"/>
            <a:ext cx="7644627" cy="13294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Integración Continua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/>
          <p:nvPr/>
        </p:nvSpPr>
        <p:spPr>
          <a:xfrm>
            <a:off x="0" y="-1"/>
            <a:ext cx="12191695" cy="6852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 txBox="1"/>
          <p:nvPr>
            <p:ph type="ctrTitle"/>
          </p:nvPr>
        </p:nvSpPr>
        <p:spPr>
          <a:xfrm>
            <a:off x="6590662" y="4267832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dk2"/>
                </a:solidFill>
              </a:rPr>
              <a:t>CD</a:t>
            </a:r>
            <a:endParaRPr/>
          </a:p>
        </p:txBody>
      </p:sp>
      <p:sp>
        <p:nvSpPr>
          <p:cNvPr id="217" name="Google Shape;217;p11"/>
          <p:cNvSpPr txBox="1"/>
          <p:nvPr>
            <p:ph idx="1" type="subTitle"/>
          </p:nvPr>
        </p:nvSpPr>
        <p:spPr>
          <a:xfrm>
            <a:off x="6590966" y="3428999"/>
            <a:ext cx="4805691" cy="8388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rPr b="1" lang="en-US" sz="2000">
                <a:solidFill>
                  <a:schemeClr val="dk2"/>
                </a:solidFill>
              </a:rPr>
              <a:t>Entrega Continua</a:t>
            </a:r>
            <a:endParaRPr sz="2000">
              <a:solidFill>
                <a:schemeClr val="dk2"/>
              </a:solidFill>
            </a:endParaRPr>
          </a:p>
        </p:txBody>
      </p:sp>
      <p:pic>
        <p:nvPicPr>
          <p:cNvPr descr="En ejecución" id="218" name="Google Shape;2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470" y="1815320"/>
            <a:ext cx="4141760" cy="4141760"/>
          </a:xfrm>
          <a:custGeom>
            <a:rect b="b" l="l" r="r" t="t"/>
            <a:pathLst>
              <a:path extrusionOk="0" h="4377846" w="414176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19" name="Google Shape;219;p11"/>
          <p:cNvGrpSpPr/>
          <p:nvPr/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20" name="Google Shape;220;p11"/>
            <p:cNvSpPr/>
            <p:nvPr/>
          </p:nvSpPr>
          <p:spPr>
            <a:xfrm flipH="1">
              <a:off x="305" y="34854"/>
              <a:ext cx="6028697" cy="6817170"/>
            </a:xfrm>
            <a:custGeom>
              <a:rect b="b" l="l" r="r" t="t"/>
              <a:pathLst>
                <a:path extrusionOk="0" h="6817170" w="6028697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70AD47">
                    <a:alpha val="8627"/>
                  </a:srgbClr>
                </a:gs>
                <a:gs pos="85000">
                  <a:srgbClr val="4472C4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1"/>
            <p:cNvSpPr/>
            <p:nvPr/>
          </p:nvSpPr>
          <p:spPr>
            <a:xfrm flipH="1">
              <a:off x="305" y="1"/>
              <a:ext cx="6165116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70AD47">
                    <a:alpha val="8627"/>
                  </a:srgbClr>
                </a:gs>
                <a:gs pos="85000">
                  <a:srgbClr val="4472C4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1"/>
            <p:cNvSpPr/>
            <p:nvPr/>
          </p:nvSpPr>
          <p:spPr>
            <a:xfrm flipH="1">
              <a:off x="305" y="-5977"/>
              <a:ext cx="6238675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8627"/>
                  </a:srgbClr>
                </a:gs>
                <a:gs pos="2000">
                  <a:srgbClr val="FFFFFF">
                    <a:alpha val="8627"/>
                  </a:srgbClr>
                </a:gs>
                <a:gs pos="16000">
                  <a:srgbClr val="70AD47">
                    <a:alpha val="8627"/>
                  </a:srgbClr>
                </a:gs>
                <a:gs pos="85000">
                  <a:srgbClr val="4472C4">
                    <a:alpha val="8627"/>
                  </a:srgbClr>
                </a:gs>
                <a:gs pos="100000">
                  <a:srgbClr val="FFFFFF">
                    <a:alpha val="8627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 txBox="1"/>
          <p:nvPr>
            <p:ph type="title"/>
          </p:nvPr>
        </p:nvSpPr>
        <p:spPr>
          <a:xfrm>
            <a:off x="841248" y="426720"/>
            <a:ext cx="10506456" cy="19191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6000"/>
              <a:t>Cultura DevOps y sus implicaciones</a:t>
            </a:r>
            <a:endParaRPr sz="6000"/>
          </a:p>
        </p:txBody>
      </p:sp>
      <p:sp>
        <p:nvSpPr>
          <p:cNvPr id="229" name="Google Shape;229;p12"/>
          <p:cNvSpPr/>
          <p:nvPr/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 flipH="1" rot="10800000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 txBox="1"/>
          <p:nvPr>
            <p:ph idx="1" type="body"/>
          </p:nvPr>
        </p:nvSpPr>
        <p:spPr>
          <a:xfrm>
            <a:off x="841248" y="3337269"/>
            <a:ext cx="10509504" cy="290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Al adoptar esta cultura, se debe considerar: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Ciclos de Despliegue cortos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Rendir cuentas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Visibilidad, colaboración y alineación.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Mentalidad de crecer. 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 txBox="1"/>
          <p:nvPr>
            <p:ph type="title"/>
          </p:nvPr>
        </p:nvSpPr>
        <p:spPr>
          <a:xfrm>
            <a:off x="638882" y="639193"/>
            <a:ext cx="3571810" cy="357351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Calibri"/>
              <a:buNone/>
            </a:pPr>
            <a:r>
              <a:rPr lang="en-US" sz="5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Ruta de aprendizaje DevOps</a:t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643278" y="4409267"/>
            <a:ext cx="3255095" cy="18288"/>
          </a:xfrm>
          <a:custGeom>
            <a:rect b="b" l="l" r="r" t="t"/>
            <a:pathLst>
              <a:path extrusionOk="0" fill="none" h="18288" w="3255095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extrusionOk="0" h="18288" w="3255095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" id="239" name="Google Shape;239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9812" y="74731"/>
            <a:ext cx="4715435" cy="664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4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 txBox="1"/>
          <p:nvPr>
            <p:ph type="title"/>
          </p:nvPr>
        </p:nvSpPr>
        <p:spPr>
          <a:xfrm>
            <a:off x="731520" y="1170432"/>
            <a:ext cx="10533888" cy="27340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chemeClr val="dk2"/>
                </a:solidFill>
              </a:rPr>
              <a:t>Herramientas DevOps </a:t>
            </a:r>
            <a:endParaRPr sz="8000">
              <a:solidFill>
                <a:schemeClr val="dk2"/>
              </a:solidFill>
            </a:endParaRPr>
          </a:p>
        </p:txBody>
      </p:sp>
      <p:cxnSp>
        <p:nvCxnSpPr>
          <p:cNvPr id="247" name="Google Shape;247;p14"/>
          <p:cNvCxnSpPr/>
          <p:nvPr/>
        </p:nvCxnSpPr>
        <p:spPr>
          <a:xfrm flipH="1">
            <a:off x="732568" y="246028"/>
            <a:ext cx="255495" cy="546559"/>
          </a:xfrm>
          <a:prstGeom prst="straightConnector1">
            <a:avLst/>
          </a:prstGeom>
          <a:noFill/>
          <a:ln cap="flat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8" name="Google Shape;248;p14"/>
          <p:cNvSpPr txBox="1"/>
          <p:nvPr>
            <p:ph idx="1" type="body"/>
          </p:nvPr>
        </p:nvSpPr>
        <p:spPr>
          <a:xfrm>
            <a:off x="731520" y="4069080"/>
            <a:ext cx="10515600" cy="20426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49" name="Google Shape;249;p14"/>
          <p:cNvCxnSpPr/>
          <p:nvPr/>
        </p:nvCxnSpPr>
        <p:spPr>
          <a:xfrm rot="10800000">
            <a:off x="840441" y="6522756"/>
            <a:ext cx="10717187" cy="0"/>
          </a:xfrm>
          <a:prstGeom prst="straightConnector1">
            <a:avLst/>
          </a:prstGeom>
          <a:noFill/>
          <a:ln cap="sq" cmpd="sng" w="1270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50" name="Google Shape;250;p14"/>
          <p:cNvGrpSpPr/>
          <p:nvPr/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251" name="Google Shape;251;p14"/>
            <p:cNvCxnSpPr/>
            <p:nvPr/>
          </p:nvCxnSpPr>
          <p:spPr>
            <a:xfrm>
              <a:off x="4258564" y="933450"/>
              <a:ext cx="0" cy="341938"/>
            </a:xfrm>
            <a:prstGeom prst="straightConnector1">
              <a:avLst/>
            </a:prstGeom>
            <a:noFill/>
            <a:ln cap="flat" cmpd="sng" w="127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52" name="Google Shape;252;p14"/>
            <p:cNvCxnSpPr/>
            <p:nvPr/>
          </p:nvCxnSpPr>
          <p:spPr>
            <a:xfrm>
              <a:off x="4089400" y="1104419"/>
              <a:ext cx="338328" cy="0"/>
            </a:xfrm>
            <a:prstGeom prst="straightConnector1">
              <a:avLst/>
            </a:prstGeom>
            <a:noFill/>
            <a:ln cap="flat" cmpd="sng" w="12700">
              <a:solidFill>
                <a:schemeClr val="dk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666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planificación </a:t>
            </a:r>
            <a:endParaRPr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ello vs. Jira: Which is right for you? | Zapier" id="260" name="Google Shape;260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600" y="1630256"/>
            <a:ext cx="7188199" cy="3594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6D6C5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Control de versiones </a:t>
            </a:r>
            <a:endParaRPr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it Storage: Comparing GitHub, GitLab, and Bitbucket" id="269" name="Google Shape;269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600" y="1028244"/>
            <a:ext cx="7188199" cy="4798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7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547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automatización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ocker Logo - símbolo, significado logotipo, historia, PNG" id="277" name="Google Shape;277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600" y="1405624"/>
            <a:ext cx="7188199" cy="4043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29486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/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Pipelines (CI/CD)</a:t>
            </a:r>
            <a:endParaRPr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dern CI/CD with Jenkins 2 and GitLab CI [Comparison] - inovex GmbH" id="285" name="Google Shape;285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600" y="2061547"/>
            <a:ext cx="7188199" cy="2731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9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9560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9"/>
          <p:cNvSpPr/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Monitorización </a:t>
            </a:r>
            <a:endParaRPr sz="2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ometheus Grafana Dashboard | Examples + How To | OpenLogic" id="293" name="Google Shape;293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3195" y="821184"/>
            <a:ext cx="3565369" cy="23798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oyant's Linkerd 2.13 service mesh release debuts free, automated health  checks and more - SiliconANGLE" id="294" name="Google Shape;29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378" y="3874364"/>
            <a:ext cx="4324904" cy="2162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/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cap="flat" cmpd="thinThick" w="174625">
            <a:solidFill>
              <a:srgbClr val="26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 pruebas </a:t>
            </a:r>
            <a:endParaRPr sz="2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Jasmine vs. Mocha | Marco Franssen" id="302" name="Google Shape;302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9376" y="1486346"/>
            <a:ext cx="3590968" cy="19426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elenium WebDriver Tutorial - Get Started With Selenium | Edureka" id="303" name="Google Shape;3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58959" y="3630968"/>
            <a:ext cx="4165050" cy="1586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1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 txBox="1"/>
          <p:nvPr>
            <p:ph type="ctrTitle"/>
          </p:nvPr>
        </p:nvSpPr>
        <p:spPr>
          <a:xfrm>
            <a:off x="1285241" y="1008993"/>
            <a:ext cx="9231410" cy="35420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Calibri"/>
              <a:buNone/>
            </a:pPr>
            <a:r>
              <a:rPr lang="en-US" sz="11500"/>
              <a:t>¿Dudas?</a:t>
            </a:r>
            <a:endParaRPr sz="11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/>
          <p:cNvSpPr txBox="1"/>
          <p:nvPr>
            <p:ph type="ctrTitle"/>
          </p:nvPr>
        </p:nvSpPr>
        <p:spPr>
          <a:xfrm>
            <a:off x="1285241" y="1008993"/>
            <a:ext cx="9231410" cy="354204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Calibri"/>
              <a:buNone/>
            </a:pPr>
            <a:r>
              <a:rPr lang="en-US" sz="11500"/>
              <a:t>Gracias por su atención</a:t>
            </a:r>
            <a:endParaRPr sz="11500"/>
          </a:p>
        </p:txBody>
      </p:sp>
      <p:sp>
        <p:nvSpPr>
          <p:cNvPr id="320" name="Google Shape;320;p22"/>
          <p:cNvSpPr txBox="1"/>
          <p:nvPr>
            <p:ph idx="1" type="subTitle"/>
          </p:nvPr>
        </p:nvSpPr>
        <p:spPr>
          <a:xfrm>
            <a:off x="1285241" y="4582814"/>
            <a:ext cx="7132335" cy="13126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2023-07-25T00:36:49Z</dcterms:created>
  <dc:creator>Madeline Pérez</dc:creator>
</cp:coreProperties>
</file>