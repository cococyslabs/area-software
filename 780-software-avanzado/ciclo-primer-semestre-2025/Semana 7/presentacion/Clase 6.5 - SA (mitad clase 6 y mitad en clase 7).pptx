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hymK+gWwjbFFEwXfRwOlLuvS0BY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DE174B1-C61A-40FF-9240-A6CA34C4FE9C}">
  <a:tblStyle styleId="{8DE174B1-C61A-40FF-9240-A6CA34C4FE9C}"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Enunciado</a:t>
            </a:r>
            <a:endParaRPr/>
          </a:p>
          <a:p>
            <a:pPr indent="0" lvl="0" marL="0" rtl="0" algn="l">
              <a:lnSpc>
                <a:spcPct val="100000"/>
              </a:lnSpc>
              <a:spcBef>
                <a:spcPts val="0"/>
              </a:spcBef>
              <a:spcAft>
                <a:spcPts val="0"/>
              </a:spcAft>
              <a:buSzPts val="1400"/>
              <a:buNone/>
            </a:pPr>
            <a:r>
              <a:rPr lang="en-US"/>
              <a:t>Hc</a:t>
            </a:r>
            <a:endParaRPr/>
          </a:p>
          <a:p>
            <a:pPr indent="0" lvl="0" marL="0" rtl="0" algn="l">
              <a:lnSpc>
                <a:spcPct val="100000"/>
              </a:lnSpc>
              <a:spcBef>
                <a:spcPts val="0"/>
              </a:spcBef>
              <a:spcAft>
                <a:spcPts val="0"/>
              </a:spcAft>
              <a:buSzPts val="1400"/>
              <a:buNone/>
            </a:pPr>
            <a:r>
              <a:rPr lang="en-US"/>
              <a:t>dudas</a:t>
            </a:r>
            <a:endParaRPr/>
          </a:p>
        </p:txBody>
      </p:sp>
      <p:sp>
        <p:nvSpPr>
          <p:cNvPr id="140" name="Google Shape;14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f4ab7b10d1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g1f4ab7b10d1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Enunciado</a:t>
            </a:r>
            <a:endParaRPr/>
          </a:p>
          <a:p>
            <a:pPr indent="0" lvl="0" marL="0" rtl="0" algn="l">
              <a:lnSpc>
                <a:spcPct val="100000"/>
              </a:lnSpc>
              <a:spcBef>
                <a:spcPts val="0"/>
              </a:spcBef>
              <a:spcAft>
                <a:spcPts val="0"/>
              </a:spcAft>
              <a:buSzPts val="1400"/>
              <a:buNone/>
            </a:pPr>
            <a:r>
              <a:rPr lang="en-US"/>
              <a:t>Hc</a:t>
            </a:r>
            <a:endParaRPr/>
          </a:p>
          <a:p>
            <a:pPr indent="0" lvl="0" marL="0" rtl="0" algn="l">
              <a:lnSpc>
                <a:spcPct val="100000"/>
              </a:lnSpc>
              <a:spcBef>
                <a:spcPts val="0"/>
              </a:spcBef>
              <a:spcAft>
                <a:spcPts val="0"/>
              </a:spcAft>
              <a:buSzPts val="1400"/>
              <a:buNone/>
            </a:pPr>
            <a:r>
              <a:rPr lang="en-US"/>
              <a:t>dudas</a:t>
            </a:r>
            <a:endParaRPr/>
          </a:p>
        </p:txBody>
      </p:sp>
      <p:sp>
        <p:nvSpPr>
          <p:cNvPr id="153" name="Google Shape;153;g1f4ab7b10d1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5" name="Google Shape;16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48584de576676619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48584de576676619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i="1" lang="en-US" sz="1200">
                <a:solidFill>
                  <a:schemeClr val="dk1"/>
                </a:solidFill>
                <a:latin typeface="Calibri"/>
                <a:ea typeface="Calibri"/>
                <a:cs typeface="Calibri"/>
                <a:sym typeface="Calibri"/>
              </a:rPr>
              <a:t>software </a:t>
            </a:r>
            <a:r>
              <a:rPr lang="en-U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indent="0" lvl="0" marL="0" rtl="0" algn="l">
              <a:lnSpc>
                <a:spcPct val="100000"/>
              </a:lnSpc>
              <a:spcBef>
                <a:spcPts val="0"/>
              </a:spcBef>
              <a:spcAft>
                <a:spcPts val="0"/>
              </a:spcAft>
              <a:buSzPts val="1400"/>
              <a:buNone/>
            </a:pPr>
            <a:r>
              <a:t/>
            </a:r>
            <a:endParaRPr/>
          </a:p>
        </p:txBody>
      </p:sp>
      <p:sp>
        <p:nvSpPr>
          <p:cNvPr id="174" name="Google Shape;174;g48584de576676619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i="1" lang="en-US" sz="1200">
                <a:solidFill>
                  <a:schemeClr val="dk1"/>
                </a:solidFill>
                <a:latin typeface="Calibri"/>
                <a:ea typeface="Calibri"/>
                <a:cs typeface="Calibri"/>
                <a:sym typeface="Calibri"/>
              </a:rPr>
              <a:t>software </a:t>
            </a:r>
            <a:r>
              <a:rPr lang="en-U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indent="0" lvl="0" marL="0" rtl="0" algn="l">
              <a:lnSpc>
                <a:spcPct val="100000"/>
              </a:lnSpc>
              <a:spcBef>
                <a:spcPts val="0"/>
              </a:spcBef>
              <a:spcAft>
                <a:spcPts val="0"/>
              </a:spcAft>
              <a:buSzPts val="1400"/>
              <a:buNone/>
            </a:pPr>
            <a:r>
              <a:t/>
            </a:r>
            <a:endParaRPr/>
          </a:p>
        </p:txBody>
      </p:sp>
      <p:sp>
        <p:nvSpPr>
          <p:cNvPr id="184" name="Google Shape;18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d2f2cfe28a_0_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2d2f2cfe28a_0_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d2f2cfe28a_0_1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g2d2f2cfe28a_0_1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i="1" lang="en-US" sz="1200">
                <a:solidFill>
                  <a:schemeClr val="dk1"/>
                </a:solidFill>
                <a:latin typeface="Calibri"/>
                <a:ea typeface="Calibri"/>
                <a:cs typeface="Calibri"/>
                <a:sym typeface="Calibri"/>
              </a:rPr>
              <a:t>software </a:t>
            </a:r>
            <a:r>
              <a:rPr lang="en-U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indent="0" lvl="0" marL="0" rtl="0" algn="l">
              <a:lnSpc>
                <a:spcPct val="100000"/>
              </a:lnSpc>
              <a:spcBef>
                <a:spcPts val="0"/>
              </a:spcBef>
              <a:spcAft>
                <a:spcPts val="0"/>
              </a:spcAft>
              <a:buSzPts val="1400"/>
              <a:buNone/>
            </a:pPr>
            <a:r>
              <a:t/>
            </a:r>
            <a:endParaRPr/>
          </a:p>
        </p:txBody>
      </p:sp>
      <p:sp>
        <p:nvSpPr>
          <p:cNvPr id="222" name="Google Shape;222;g2d2f2cfe28a_0_1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d2f2cfe28a_0_1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g2d2f2cfe28a_0_1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d2f2cfe28a_0_1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g2d2f2cfe28a_0_1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d2f2cfe28a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g2d2f2cfe28a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i="1" lang="en-US" sz="1200">
                <a:solidFill>
                  <a:schemeClr val="dk1"/>
                </a:solidFill>
                <a:latin typeface="Calibri"/>
                <a:ea typeface="Calibri"/>
                <a:cs typeface="Calibri"/>
                <a:sym typeface="Calibri"/>
              </a:rPr>
              <a:t>software </a:t>
            </a:r>
            <a:r>
              <a:rPr lang="en-U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indent="0" lvl="0" marL="0" rtl="0" algn="l">
              <a:lnSpc>
                <a:spcPct val="100000"/>
              </a:lnSpc>
              <a:spcBef>
                <a:spcPts val="0"/>
              </a:spcBef>
              <a:spcAft>
                <a:spcPts val="0"/>
              </a:spcAft>
              <a:buSzPts val="1400"/>
              <a:buNone/>
            </a:pPr>
            <a:r>
              <a:t/>
            </a:r>
            <a:endParaRPr/>
          </a:p>
        </p:txBody>
      </p:sp>
      <p:sp>
        <p:nvSpPr>
          <p:cNvPr id="265" name="Google Shape;265;g2d2f2cfe28a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3" name="Google Shape;27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48584de576676619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g48584de576676619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i="1" lang="en-US" sz="1200">
                <a:solidFill>
                  <a:schemeClr val="dk1"/>
                </a:solidFill>
                <a:latin typeface="Calibri"/>
                <a:ea typeface="Calibri"/>
                <a:cs typeface="Calibri"/>
                <a:sym typeface="Calibri"/>
              </a:rPr>
              <a:t>software </a:t>
            </a:r>
            <a:r>
              <a:rPr lang="en-U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indent="0" lvl="0" marL="0" rtl="0" algn="l">
              <a:lnSpc>
                <a:spcPct val="100000"/>
              </a:lnSpc>
              <a:spcBef>
                <a:spcPts val="0"/>
              </a:spcBef>
              <a:spcAft>
                <a:spcPts val="0"/>
              </a:spcAft>
              <a:buSzPts val="1400"/>
              <a:buNone/>
            </a:pPr>
            <a:r>
              <a:t/>
            </a:r>
            <a:endParaRPr/>
          </a:p>
        </p:txBody>
      </p:sp>
      <p:sp>
        <p:nvSpPr>
          <p:cNvPr id="282" name="Google Shape;282;g48584de576676619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0" name="Google Shape;29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d2f2cfe28a_0_2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g2d2f2cfe28a_0_2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i="1" lang="en-US" sz="1200">
                <a:solidFill>
                  <a:schemeClr val="dk1"/>
                </a:solidFill>
                <a:latin typeface="Calibri"/>
                <a:ea typeface="Calibri"/>
                <a:cs typeface="Calibri"/>
                <a:sym typeface="Calibri"/>
              </a:rPr>
              <a:t>software </a:t>
            </a:r>
            <a:r>
              <a:rPr lang="en-U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indent="0" lvl="0" marL="0" rtl="0" algn="l">
              <a:lnSpc>
                <a:spcPct val="100000"/>
              </a:lnSpc>
              <a:spcBef>
                <a:spcPts val="0"/>
              </a:spcBef>
              <a:spcAft>
                <a:spcPts val="0"/>
              </a:spcAft>
              <a:buSzPts val="1400"/>
              <a:buNone/>
            </a:pPr>
            <a:r>
              <a:t/>
            </a:r>
            <a:endParaRPr/>
          </a:p>
        </p:txBody>
      </p:sp>
      <p:sp>
        <p:nvSpPr>
          <p:cNvPr id="317" name="Google Shape;317;g2d2f2cfe28a_0_2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d2f2cfe28a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5" name="Google Shape;325;g2d2f2cfe28a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d2f2cfe28a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g2d2f2cfe28a_0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i="1" lang="en-US" sz="1200">
                <a:solidFill>
                  <a:schemeClr val="dk1"/>
                </a:solidFill>
                <a:latin typeface="Calibri"/>
                <a:ea typeface="Calibri"/>
                <a:cs typeface="Calibri"/>
                <a:sym typeface="Calibri"/>
              </a:rPr>
              <a:t>software </a:t>
            </a:r>
            <a:r>
              <a:rPr lang="en-U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indent="0" lvl="0" marL="0" rtl="0" algn="l">
              <a:lnSpc>
                <a:spcPct val="100000"/>
              </a:lnSpc>
              <a:spcBef>
                <a:spcPts val="0"/>
              </a:spcBef>
              <a:spcAft>
                <a:spcPts val="0"/>
              </a:spcAft>
              <a:buSzPts val="1400"/>
              <a:buNone/>
            </a:pPr>
            <a:r>
              <a:t/>
            </a:r>
            <a:endParaRPr/>
          </a:p>
        </p:txBody>
      </p:sp>
      <p:sp>
        <p:nvSpPr>
          <p:cNvPr id="358" name="Google Shape;358;g2d2f2cfe28a_0_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48584de576676619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5" name="Google Shape;375;g48584de576676619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d2f2cfe28a_0_2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g2d2f2cfe28a_0_2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9" name="Google Shape;389;g2d2f2cfe28a_0_2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4" name="Google Shape;40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5" name="Shape 15"/>
        <p:cNvGrpSpPr/>
        <p:nvPr/>
      </p:nvGrpSpPr>
      <p:grpSpPr>
        <a:xfrm>
          <a:off x="0" y="0"/>
          <a:ext cx="0" cy="0"/>
          <a:chOff x="0" y="0"/>
          <a:chExt cx="0" cy="0"/>
        </a:xfrm>
      </p:grpSpPr>
      <p:sp>
        <p:nvSpPr>
          <p:cNvPr id="16" name="Google Shape;1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9" name="Shape 19"/>
        <p:cNvGrpSpPr/>
        <p:nvPr/>
      </p:nvGrpSpPr>
      <p:grpSpPr>
        <a:xfrm>
          <a:off x="0" y="0"/>
          <a:ext cx="0" cy="0"/>
          <a:chOff x="0" y="0"/>
          <a:chExt cx="0" cy="0"/>
        </a:xfrm>
      </p:grpSpPr>
      <p:sp>
        <p:nvSpPr>
          <p:cNvPr id="20" name="Google Shape;20;p2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5" name="Shape 25"/>
        <p:cNvGrpSpPr/>
        <p:nvPr/>
      </p:nvGrpSpPr>
      <p:grpSpPr>
        <a:xfrm>
          <a:off x="0" y="0"/>
          <a:ext cx="0" cy="0"/>
          <a:chOff x="0" y="0"/>
          <a:chExt cx="0" cy="0"/>
        </a:xfrm>
      </p:grpSpPr>
      <p:sp>
        <p:nvSpPr>
          <p:cNvPr id="26" name="Google Shape;26;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 name="Shape 31"/>
        <p:cNvGrpSpPr/>
        <p:nvPr/>
      </p:nvGrpSpPr>
      <p:grpSpPr>
        <a:xfrm>
          <a:off x="0" y="0"/>
          <a:ext cx="0" cy="0"/>
          <a:chOff x="0" y="0"/>
          <a:chExt cx="0" cy="0"/>
        </a:xfrm>
      </p:grpSpPr>
      <p:sp>
        <p:nvSpPr>
          <p:cNvPr id="32" name="Google Shape;32;g1f2e196bda9_0_8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3" name="Google Shape;33;g1f2e196bda9_0_8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34" name="Google Shape;34;g1f2e196bda9_0_8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5" name="Shape 35"/>
        <p:cNvGrpSpPr/>
        <p:nvPr/>
      </p:nvGrpSpPr>
      <p:grpSpPr>
        <a:xfrm>
          <a:off x="0" y="0"/>
          <a:ext cx="0" cy="0"/>
          <a:chOff x="0" y="0"/>
          <a:chExt cx="0" cy="0"/>
        </a:xfrm>
      </p:grpSpPr>
      <p:sp>
        <p:nvSpPr>
          <p:cNvPr id="36" name="Google Shape;36;p2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8" name="Google Shape;3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1" name="Shape 41"/>
        <p:cNvGrpSpPr/>
        <p:nvPr/>
      </p:nvGrpSpPr>
      <p:grpSpPr>
        <a:xfrm>
          <a:off x="0" y="0"/>
          <a:ext cx="0" cy="0"/>
          <a:chOff x="0" y="0"/>
          <a:chExt cx="0" cy="0"/>
        </a:xfrm>
      </p:grpSpPr>
      <p:sp>
        <p:nvSpPr>
          <p:cNvPr id="42" name="Google Shape;4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8" name="Shape 48"/>
        <p:cNvGrpSpPr/>
        <p:nvPr/>
      </p:nvGrpSpPr>
      <p:grpSpPr>
        <a:xfrm>
          <a:off x="0" y="0"/>
          <a:ext cx="0" cy="0"/>
          <a:chOff x="0" y="0"/>
          <a:chExt cx="0" cy="0"/>
        </a:xfrm>
      </p:grpSpPr>
      <p:sp>
        <p:nvSpPr>
          <p:cNvPr id="49" name="Google Shape;49;p2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2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2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2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7" name="Shape 57"/>
        <p:cNvGrpSpPr/>
        <p:nvPr/>
      </p:nvGrpSpPr>
      <p:grpSpPr>
        <a:xfrm>
          <a:off x="0" y="0"/>
          <a:ext cx="0" cy="0"/>
          <a:chOff x="0" y="0"/>
          <a:chExt cx="0" cy="0"/>
        </a:xfrm>
      </p:grpSpPr>
      <p:sp>
        <p:nvSpPr>
          <p:cNvPr id="58" name="Google Shape;58;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2" name="Shape 62"/>
        <p:cNvGrpSpPr/>
        <p:nvPr/>
      </p:nvGrpSpPr>
      <p:grpSpPr>
        <a:xfrm>
          <a:off x="0" y="0"/>
          <a:ext cx="0" cy="0"/>
          <a:chOff x="0" y="0"/>
          <a:chExt cx="0" cy="0"/>
        </a:xfrm>
      </p:grpSpPr>
      <p:sp>
        <p:nvSpPr>
          <p:cNvPr id="63" name="Google Shape;63;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5" name="Google Shape;65;p3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9" name="Shape 69"/>
        <p:cNvGrpSpPr/>
        <p:nvPr/>
      </p:nvGrpSpPr>
      <p:grpSpPr>
        <a:xfrm>
          <a:off x="0" y="0"/>
          <a:ext cx="0" cy="0"/>
          <a:chOff x="0" y="0"/>
          <a:chExt cx="0" cy="0"/>
        </a:xfrm>
      </p:grpSpPr>
      <p:sp>
        <p:nvSpPr>
          <p:cNvPr id="70" name="Google Shape;70;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2"/>
          <p:cNvSpPr/>
          <p:nvPr>
            <p:ph idx="2" type="pic"/>
          </p:nvPr>
        </p:nvSpPr>
        <p:spPr>
          <a:xfrm>
            <a:off x="5183188" y="987425"/>
            <a:ext cx="6172200" cy="4873625"/>
          </a:xfrm>
          <a:prstGeom prst="rect">
            <a:avLst/>
          </a:prstGeom>
          <a:noFill/>
          <a:ln>
            <a:noFill/>
          </a:ln>
        </p:spPr>
      </p:sp>
      <p:sp>
        <p:nvSpPr>
          <p:cNvPr id="72" name="Google Shape;72;p3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 name="Google Shape;73;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6" name="Shape 76"/>
        <p:cNvGrpSpPr/>
        <p:nvPr/>
      </p:nvGrpSpPr>
      <p:grpSpPr>
        <a:xfrm>
          <a:off x="0" y="0"/>
          <a:ext cx="0" cy="0"/>
          <a:chOff x="0" y="0"/>
          <a:chExt cx="0" cy="0"/>
        </a:xfrm>
      </p:grpSpPr>
      <p:sp>
        <p:nvSpPr>
          <p:cNvPr id="77" name="Google Shape;77;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2" name="Shape 82"/>
        <p:cNvGrpSpPr/>
        <p:nvPr/>
      </p:nvGrpSpPr>
      <p:grpSpPr>
        <a:xfrm>
          <a:off x="0" y="0"/>
          <a:ext cx="0" cy="0"/>
          <a:chOff x="0" y="0"/>
          <a:chExt cx="0" cy="0"/>
        </a:xfrm>
      </p:grpSpPr>
      <p:sp>
        <p:nvSpPr>
          <p:cNvPr id="83" name="Google Shape;83;p3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
          <p:cNvPicPr preferRelativeResize="0"/>
          <p:nvPr/>
        </p:nvPicPr>
        <p:blipFill rotWithShape="1">
          <a:blip r:embed="rId3">
            <a:alphaModFix amt="62000"/>
          </a:blip>
          <a:srcRect b="0" l="0" r="0" t="0"/>
          <a:stretch/>
        </p:blipFill>
        <p:spPr>
          <a:xfrm>
            <a:off x="11269" y="1"/>
            <a:ext cx="12169465" cy="6858001"/>
          </a:xfrm>
          <a:prstGeom prst="rect">
            <a:avLst/>
          </a:prstGeom>
          <a:noFill/>
          <a:ln>
            <a:noFill/>
          </a:ln>
        </p:spPr>
      </p:pic>
      <p:graphicFrame>
        <p:nvGraphicFramePr>
          <p:cNvPr id="93" name="Google Shape;93;p1"/>
          <p:cNvGraphicFramePr/>
          <p:nvPr/>
        </p:nvGraphicFramePr>
        <p:xfrm>
          <a:off x="6493942" y="1328692"/>
          <a:ext cx="3000000" cy="3000000"/>
        </p:xfrm>
        <a:graphic>
          <a:graphicData uri="http://schemas.openxmlformats.org/drawingml/2006/table">
            <a:tbl>
              <a:tblPr>
                <a:noFill/>
                <a:tableStyleId>{8DE174B1-C61A-40FF-9240-A6CA34C4FE9C}</a:tableStyleId>
              </a:tblPr>
              <a:tblGrid>
                <a:gridCol w="2265425"/>
                <a:gridCol w="3241550"/>
              </a:tblGrid>
              <a:tr h="609550">
                <a:tc>
                  <a:txBody>
                    <a:bodyPr/>
                    <a:lstStyle/>
                    <a:p>
                      <a:pPr indent="0" lvl="0" marL="0" marR="0" rtl="0" algn="l">
                        <a:lnSpc>
                          <a:spcPct val="100000"/>
                        </a:lnSpc>
                        <a:spcBef>
                          <a:spcPts val="0"/>
                        </a:spcBef>
                        <a:spcAft>
                          <a:spcPts val="0"/>
                        </a:spcAft>
                        <a:buClr>
                          <a:schemeClr val="dk1"/>
                        </a:buClr>
                        <a:buSzPts val="1900"/>
                        <a:buFont typeface="Calibri"/>
                        <a:buNone/>
                      </a:pPr>
                      <a:r>
                        <a:rPr b="1" lang="en-US" sz="1900" u="none" cap="none" strike="noStrike">
                          <a:solidFill>
                            <a:schemeClr val="dk1"/>
                          </a:solidFill>
                        </a:rPr>
                        <a:t>Día, Fecha:</a:t>
                      </a:r>
                      <a:endParaRPr b="1" sz="1900" u="none" cap="none" strike="noStrike">
                        <a:solidFill>
                          <a:schemeClr val="dk1"/>
                        </a:solidFill>
                      </a:endParaRPr>
                    </a:p>
                  </a:txBody>
                  <a:tcPr marT="121900" marB="121900" marR="121900" marL="12190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Viernes, 04/04/2025</a:t>
                      </a:r>
                      <a:endParaRPr sz="2400" u="none" cap="none" strike="noStrike"/>
                    </a:p>
                  </a:txBody>
                  <a:tcPr marT="121900" marB="121900" marR="121900" marL="121900"/>
                </a:tc>
              </a:tr>
              <a:tr h="609550">
                <a:tc>
                  <a:txBody>
                    <a:bodyPr/>
                    <a:lstStyle/>
                    <a:p>
                      <a:pPr indent="0" lvl="0" marL="0" marR="0" rtl="0" algn="l">
                        <a:lnSpc>
                          <a:spcPct val="100000"/>
                        </a:lnSpc>
                        <a:spcBef>
                          <a:spcPts val="0"/>
                        </a:spcBef>
                        <a:spcAft>
                          <a:spcPts val="0"/>
                        </a:spcAft>
                        <a:buClr>
                          <a:schemeClr val="dk1"/>
                        </a:buClr>
                        <a:buSzPts val="1900"/>
                        <a:buFont typeface="Calibri"/>
                        <a:buNone/>
                      </a:pPr>
                      <a:r>
                        <a:rPr b="1" lang="en-US" sz="1900" u="none" cap="none" strike="noStrike">
                          <a:solidFill>
                            <a:schemeClr val="dk1"/>
                          </a:solidFill>
                        </a:rPr>
                        <a:t>Hora de inicio:</a:t>
                      </a:r>
                      <a:endParaRPr b="1" sz="1900" u="none" cap="none" strike="noStrike">
                        <a:solidFill>
                          <a:schemeClr val="dk1"/>
                        </a:solidFill>
                      </a:endParaRPr>
                    </a:p>
                  </a:txBody>
                  <a:tcPr marT="121900" marB="121900" marR="121900" marL="12190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16:30</a:t>
                      </a:r>
                      <a:endParaRPr sz="2400" u="none" cap="none" strike="noStrike"/>
                    </a:p>
                  </a:txBody>
                  <a:tcPr marT="121900" marB="121900" marR="121900" marL="121900"/>
                </a:tc>
              </a:tr>
            </a:tbl>
          </a:graphicData>
        </a:graphic>
      </p:graphicFrame>
      <p:sp>
        <p:nvSpPr>
          <p:cNvPr id="94" name="Google Shape;94;p1"/>
          <p:cNvSpPr txBox="1"/>
          <p:nvPr/>
        </p:nvSpPr>
        <p:spPr>
          <a:xfrm>
            <a:off x="1920233" y="3011067"/>
            <a:ext cx="9056100" cy="7593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333"/>
              <a:buFont typeface="Arial"/>
              <a:buNone/>
            </a:pPr>
            <a:r>
              <a:rPr b="0" i="0" lang="en-US" sz="3333" u="none" cap="none" strike="noStrike">
                <a:solidFill>
                  <a:schemeClr val="dk1"/>
                </a:solidFill>
                <a:latin typeface="Calibri"/>
                <a:ea typeface="Calibri"/>
                <a:cs typeface="Calibri"/>
                <a:sym typeface="Calibri"/>
              </a:rPr>
              <a:t>Software Avanzado Sección A</a:t>
            </a:r>
            <a:endParaRPr b="0" i="0" sz="3333" u="none" cap="none" strike="noStrike">
              <a:solidFill>
                <a:schemeClr val="dk1"/>
              </a:solidFill>
              <a:latin typeface="Calibri"/>
              <a:ea typeface="Calibri"/>
              <a:cs typeface="Calibri"/>
              <a:sym typeface="Calibri"/>
            </a:endParaRPr>
          </a:p>
        </p:txBody>
      </p:sp>
      <p:sp>
        <p:nvSpPr>
          <p:cNvPr id="95" name="Google Shape;95;p1"/>
          <p:cNvSpPr txBox="1"/>
          <p:nvPr/>
        </p:nvSpPr>
        <p:spPr>
          <a:xfrm>
            <a:off x="2371600" y="3867668"/>
            <a:ext cx="7448800" cy="656614"/>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667"/>
              <a:buFont typeface="Arial"/>
              <a:buNone/>
            </a:pPr>
            <a:r>
              <a:rPr b="0" i="0" lang="en-US" sz="2667" u="none" cap="none" strike="noStrike">
                <a:solidFill>
                  <a:schemeClr val="dk1"/>
                </a:solidFill>
                <a:latin typeface="Calibri"/>
                <a:ea typeface="Calibri"/>
                <a:cs typeface="Calibri"/>
                <a:sym typeface="Calibri"/>
              </a:rPr>
              <a:t>Diego Molina</a:t>
            </a:r>
            <a:endParaRPr b="0" i="0" sz="2667"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ph type="ctrTitle"/>
          </p:nvPr>
        </p:nvSpPr>
        <p:spPr>
          <a:xfrm>
            <a:off x="640080" y="325369"/>
            <a:ext cx="4368602" cy="195684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Software Avanzado</a:t>
            </a:r>
            <a:endParaRPr/>
          </a:p>
        </p:txBody>
      </p:sp>
      <p:sp>
        <p:nvSpPr>
          <p:cNvPr id="101" name="Google Shape;101;p2"/>
          <p:cNvSpPr txBox="1"/>
          <p:nvPr>
            <p:ph idx="1" type="subTitle"/>
          </p:nvPr>
        </p:nvSpPr>
        <p:spPr>
          <a:xfrm>
            <a:off x="640080" y="2872899"/>
            <a:ext cx="4243589" cy="332066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200"/>
              <a:buNone/>
            </a:pPr>
            <a:r>
              <a:rPr b="1" lang="en-US" sz="2200"/>
              <a:t>Secciones A y B</a:t>
            </a:r>
            <a:endParaRPr/>
          </a:p>
          <a:p>
            <a:pPr indent="0" lvl="0" marL="0" rtl="0" algn="l">
              <a:lnSpc>
                <a:spcPct val="90000"/>
              </a:lnSpc>
              <a:spcBef>
                <a:spcPts val="1000"/>
              </a:spcBef>
              <a:spcAft>
                <a:spcPts val="0"/>
              </a:spcAft>
              <a:buClr>
                <a:schemeClr val="dk1"/>
              </a:buClr>
              <a:buSzPts val="2200"/>
              <a:buNone/>
            </a:pPr>
            <a:r>
              <a:rPr b="1" lang="en-US" sz="2200"/>
              <a:t>CLASE 7</a:t>
            </a:r>
            <a:endParaRPr/>
          </a:p>
          <a:p>
            <a:pPr indent="139700" lvl="0" marL="0" rtl="0" algn="l">
              <a:lnSpc>
                <a:spcPct val="90000"/>
              </a:lnSpc>
              <a:spcBef>
                <a:spcPts val="1000"/>
              </a:spcBef>
              <a:spcAft>
                <a:spcPts val="0"/>
              </a:spcAft>
              <a:buClr>
                <a:schemeClr val="dk1"/>
              </a:buClr>
              <a:buSzPts val="2200"/>
              <a:buFont typeface="Arial"/>
              <a:buNone/>
            </a:pPr>
            <a:r>
              <a:t/>
            </a:r>
            <a:endParaRPr sz="2200"/>
          </a:p>
          <a:p>
            <a:pPr indent="-139700" lvl="0" marL="0" rtl="0" algn="l">
              <a:lnSpc>
                <a:spcPct val="90000"/>
              </a:lnSpc>
              <a:spcBef>
                <a:spcPts val="1000"/>
              </a:spcBef>
              <a:spcAft>
                <a:spcPts val="0"/>
              </a:spcAft>
              <a:buClr>
                <a:schemeClr val="dk1"/>
              </a:buClr>
              <a:buSzPts val="2200"/>
              <a:buFont typeface="Arial"/>
              <a:buChar char="•"/>
            </a:pPr>
            <a:r>
              <a:rPr lang="en-US" sz="2200"/>
              <a:t>MIKE MOLINA</a:t>
            </a:r>
            <a:endParaRPr/>
          </a:p>
          <a:p>
            <a:pPr indent="-139700" lvl="0" marL="0" rtl="0" algn="l">
              <a:lnSpc>
                <a:spcPct val="90000"/>
              </a:lnSpc>
              <a:spcBef>
                <a:spcPts val="1000"/>
              </a:spcBef>
              <a:spcAft>
                <a:spcPts val="0"/>
              </a:spcAft>
              <a:buClr>
                <a:schemeClr val="dk1"/>
              </a:buClr>
              <a:buSzPts val="2200"/>
              <a:buFont typeface="Arial"/>
              <a:buChar char="•"/>
            </a:pPr>
            <a:r>
              <a:rPr lang="en-US" sz="2200"/>
              <a:t>DIEGO MOLINA</a:t>
            </a:r>
            <a:endParaRPr sz="2200"/>
          </a:p>
        </p:txBody>
      </p:sp>
      <p:pic>
        <p:nvPicPr>
          <p:cNvPr id="102" name="Google Shape;102;p2"/>
          <p:cNvPicPr preferRelativeResize="0"/>
          <p:nvPr/>
        </p:nvPicPr>
        <p:blipFill rotWithShape="1">
          <a:blip r:embed="rId3">
            <a:alphaModFix/>
          </a:blip>
          <a:srcRect b="-1" l="2957" r="29087" t="0"/>
          <a:stretch/>
        </p:blipFill>
        <p:spPr>
          <a:xfrm>
            <a:off x="5311702" y="10"/>
            <a:ext cx="6878775" cy="6857990"/>
          </a:xfrm>
          <a:custGeom>
            <a:rect b="b" l="l" r="r" t="t"/>
            <a:pathLst>
              <a:path extrusionOk="0" h="6858000" w="6878775">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 name="Shape 106"/>
        <p:cNvGrpSpPr/>
        <p:nvPr/>
      </p:nvGrpSpPr>
      <p:grpSpPr>
        <a:xfrm>
          <a:off x="0" y="0"/>
          <a:ext cx="0" cy="0"/>
          <a:chOff x="0" y="0"/>
          <a:chExt cx="0" cy="0"/>
        </a:xfrm>
      </p:grpSpPr>
      <p:sp>
        <p:nvSpPr>
          <p:cNvPr id="107" name="Google Shape;107;p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8" name="Google Shape;108;p3"/>
          <p:cNvSpPr/>
          <p:nvPr/>
        </p:nvSpPr>
        <p:spPr>
          <a:xfrm>
            <a:off x="-1" y="0"/>
            <a:ext cx="4818889" cy="6858000"/>
          </a:xfrm>
          <a:custGeom>
            <a:rect b="b" l="l" r="r" t="t"/>
            <a:pathLst>
              <a:path extrusionOk="0" h="6858000" w="4818889">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solidFill>
            <a:schemeClr val="lt1"/>
          </a:solidFill>
          <a:ln cap="flat" cmpd="sng" w="9525">
            <a:solidFill>
              <a:srgbClr val="EFEFEF"/>
            </a:solidFill>
            <a:prstDash val="solid"/>
            <a:miter lim="800000"/>
            <a:headEnd len="sm" w="sm" type="none"/>
            <a:tailEnd len="sm" w="sm" type="none"/>
          </a:ln>
          <a:effectLst>
            <a:outerShdw blurRad="88900" rotWithShape="0" algn="l" dist="38100">
              <a:srgbClr val="D8D8D8">
                <a:alpha val="4784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9" name="Google Shape;109;p3"/>
          <p:cNvSpPr/>
          <p:nvPr/>
        </p:nvSpPr>
        <p:spPr>
          <a:xfrm>
            <a:off x="1" y="0"/>
            <a:ext cx="4811477" cy="6858000"/>
          </a:xfrm>
          <a:custGeom>
            <a:rect b="b" l="l" r="r" t="t"/>
            <a:pathLst>
              <a:path extrusionOk="0" h="6858000" w="4811477">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0" name="Google Shape;110;p3"/>
          <p:cNvSpPr txBox="1"/>
          <p:nvPr>
            <p:ph type="title"/>
          </p:nvPr>
        </p:nvSpPr>
        <p:spPr>
          <a:xfrm>
            <a:off x="621792" y="1161288"/>
            <a:ext cx="3602736" cy="45262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AGENDA</a:t>
            </a:r>
            <a:endParaRPr/>
          </a:p>
        </p:txBody>
      </p:sp>
      <p:sp>
        <p:nvSpPr>
          <p:cNvPr id="111" name="Google Shape;111;p3"/>
          <p:cNvSpPr/>
          <p:nvPr/>
        </p:nvSpPr>
        <p:spPr>
          <a:xfrm>
            <a:off x="0" y="3081528"/>
            <a:ext cx="128016"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12" name="Google Shape;112;p3"/>
          <p:cNvGrpSpPr/>
          <p:nvPr/>
        </p:nvGrpSpPr>
        <p:grpSpPr>
          <a:xfrm>
            <a:off x="5303520" y="682037"/>
            <a:ext cx="6364200" cy="5503190"/>
            <a:chOff x="0" y="5381"/>
            <a:chExt cx="6364200" cy="5503190"/>
          </a:xfrm>
        </p:grpSpPr>
        <p:sp>
          <p:nvSpPr>
            <p:cNvPr id="113" name="Google Shape;113;p3"/>
            <p:cNvSpPr/>
            <p:nvPr/>
          </p:nvSpPr>
          <p:spPr>
            <a:xfrm>
              <a:off x="0" y="5381"/>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3"/>
            <p:cNvSpPr/>
            <p:nvPr/>
          </p:nvSpPr>
          <p:spPr>
            <a:xfrm>
              <a:off x="577822" y="5381"/>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3"/>
            <p:cNvSpPr txBox="1"/>
            <p:nvPr/>
          </p:nvSpPr>
          <p:spPr>
            <a:xfrm>
              <a:off x="577822" y="5381"/>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Anuncios generales</a:t>
              </a:r>
              <a:endParaRPr b="0" i="0" sz="1600" u="none" cap="none" strike="noStrike">
                <a:solidFill>
                  <a:schemeClr val="dk1"/>
                </a:solidFill>
                <a:latin typeface="Calibri"/>
                <a:ea typeface="Calibri"/>
                <a:cs typeface="Calibri"/>
                <a:sym typeface="Calibri"/>
              </a:endParaRPr>
            </a:p>
          </p:txBody>
        </p:sp>
        <p:sp>
          <p:nvSpPr>
            <p:cNvPr id="116" name="Google Shape;116;p3"/>
            <p:cNvSpPr/>
            <p:nvPr/>
          </p:nvSpPr>
          <p:spPr>
            <a:xfrm>
              <a:off x="0" y="630730"/>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3"/>
            <p:cNvSpPr/>
            <p:nvPr/>
          </p:nvSpPr>
          <p:spPr>
            <a:xfrm>
              <a:off x="577822" y="630730"/>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3"/>
            <p:cNvSpPr txBox="1"/>
            <p:nvPr/>
          </p:nvSpPr>
          <p:spPr>
            <a:xfrm>
              <a:off x="577822" y="630730"/>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Espacio para dudas</a:t>
              </a:r>
              <a:endParaRPr b="0" i="0" sz="1600" u="none" cap="none" strike="noStrike">
                <a:solidFill>
                  <a:schemeClr val="dk1"/>
                </a:solidFill>
                <a:latin typeface="Calibri"/>
                <a:ea typeface="Calibri"/>
                <a:cs typeface="Calibri"/>
                <a:sym typeface="Calibri"/>
              </a:endParaRPr>
            </a:p>
          </p:txBody>
        </p:sp>
        <p:sp>
          <p:nvSpPr>
            <p:cNvPr id="119" name="Google Shape;119;p3"/>
            <p:cNvSpPr/>
            <p:nvPr/>
          </p:nvSpPr>
          <p:spPr>
            <a:xfrm>
              <a:off x="0" y="1256079"/>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3"/>
            <p:cNvSpPr/>
            <p:nvPr/>
          </p:nvSpPr>
          <p:spPr>
            <a:xfrm>
              <a:off x="577822" y="1256079"/>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3"/>
            <p:cNvSpPr txBox="1"/>
            <p:nvPr/>
          </p:nvSpPr>
          <p:spPr>
            <a:xfrm>
              <a:off x="577822" y="1256079"/>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Fase de devops: Planificación y codificacion</a:t>
              </a:r>
              <a:endParaRPr b="0" i="0" sz="1600" u="none" cap="none" strike="noStrike">
                <a:solidFill>
                  <a:schemeClr val="dk1"/>
                </a:solidFill>
                <a:latin typeface="Calibri"/>
                <a:ea typeface="Calibri"/>
                <a:cs typeface="Calibri"/>
                <a:sym typeface="Calibri"/>
              </a:endParaRPr>
            </a:p>
          </p:txBody>
        </p:sp>
        <p:sp>
          <p:nvSpPr>
            <p:cNvPr id="122" name="Google Shape;122;p3"/>
            <p:cNvSpPr/>
            <p:nvPr/>
          </p:nvSpPr>
          <p:spPr>
            <a:xfrm>
              <a:off x="0" y="1881427"/>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
            <p:cNvSpPr/>
            <p:nvPr/>
          </p:nvSpPr>
          <p:spPr>
            <a:xfrm>
              <a:off x="577822" y="1881427"/>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3"/>
            <p:cNvSpPr/>
            <p:nvPr/>
          </p:nvSpPr>
          <p:spPr>
            <a:xfrm>
              <a:off x="0" y="2506776"/>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
            <p:cNvSpPr/>
            <p:nvPr/>
          </p:nvSpPr>
          <p:spPr>
            <a:xfrm>
              <a:off x="577822" y="2506776"/>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3"/>
            <p:cNvSpPr txBox="1"/>
            <p:nvPr/>
          </p:nvSpPr>
          <p:spPr>
            <a:xfrm>
              <a:off x="577822" y="2506776"/>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400" u="none" cap="none" strike="noStrike">
                <a:solidFill>
                  <a:srgbClr val="000000"/>
                </a:solidFill>
                <a:latin typeface="Arial"/>
                <a:ea typeface="Arial"/>
                <a:cs typeface="Arial"/>
                <a:sym typeface="Arial"/>
              </a:endParaRPr>
            </a:p>
          </p:txBody>
        </p:sp>
        <p:sp>
          <p:nvSpPr>
            <p:cNvPr id="127" name="Google Shape;127;p3"/>
            <p:cNvSpPr/>
            <p:nvPr/>
          </p:nvSpPr>
          <p:spPr>
            <a:xfrm>
              <a:off x="0" y="3132125"/>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
            <p:cNvSpPr/>
            <p:nvPr/>
          </p:nvSpPr>
          <p:spPr>
            <a:xfrm>
              <a:off x="577822" y="3132125"/>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3"/>
            <p:cNvSpPr/>
            <p:nvPr/>
          </p:nvSpPr>
          <p:spPr>
            <a:xfrm>
              <a:off x="0" y="3757473"/>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3"/>
            <p:cNvSpPr/>
            <p:nvPr/>
          </p:nvSpPr>
          <p:spPr>
            <a:xfrm>
              <a:off x="577822" y="3757473"/>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
            <p:cNvSpPr/>
            <p:nvPr/>
          </p:nvSpPr>
          <p:spPr>
            <a:xfrm>
              <a:off x="0" y="4382822"/>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3"/>
            <p:cNvSpPr/>
            <p:nvPr/>
          </p:nvSpPr>
          <p:spPr>
            <a:xfrm>
              <a:off x="577822" y="4382822"/>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3"/>
            <p:cNvSpPr txBox="1"/>
            <p:nvPr/>
          </p:nvSpPr>
          <p:spPr>
            <a:xfrm>
              <a:off x="577822" y="4382822"/>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400" u="none" cap="none" strike="noStrike">
                <a:solidFill>
                  <a:srgbClr val="000000"/>
                </a:solidFill>
                <a:latin typeface="Arial"/>
                <a:ea typeface="Arial"/>
                <a:cs typeface="Arial"/>
                <a:sym typeface="Arial"/>
              </a:endParaRPr>
            </a:p>
          </p:txBody>
        </p:sp>
        <p:sp>
          <p:nvSpPr>
            <p:cNvPr id="134" name="Google Shape;134;p3"/>
            <p:cNvSpPr/>
            <p:nvPr/>
          </p:nvSpPr>
          <p:spPr>
            <a:xfrm>
              <a:off x="0" y="5008171"/>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3"/>
            <p:cNvSpPr/>
            <p:nvPr/>
          </p:nvSpPr>
          <p:spPr>
            <a:xfrm>
              <a:off x="577822" y="5008171"/>
              <a:ext cx="2863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3"/>
            <p:cNvSpPr/>
            <p:nvPr/>
          </p:nvSpPr>
          <p:spPr>
            <a:xfrm>
              <a:off x="3441722" y="5008171"/>
              <a:ext cx="29220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1" name="Shape 141"/>
        <p:cNvGrpSpPr/>
        <p:nvPr/>
      </p:nvGrpSpPr>
      <p:grpSpPr>
        <a:xfrm>
          <a:off x="0" y="0"/>
          <a:ext cx="0" cy="0"/>
          <a:chOff x="0" y="0"/>
          <a:chExt cx="0" cy="0"/>
        </a:xfrm>
      </p:grpSpPr>
      <p:sp>
        <p:nvSpPr>
          <p:cNvPr id="142" name="Google Shape;142;p4"/>
          <p:cNvSpPr/>
          <p:nvPr/>
        </p:nvSpPr>
        <p:spPr>
          <a:xfrm>
            <a:off x="0" y="-1"/>
            <a:ext cx="12191695" cy="685202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3" name="Google Shape;143;p4"/>
          <p:cNvSpPr/>
          <p:nvPr/>
        </p:nvSpPr>
        <p:spPr>
          <a:xfrm>
            <a:off x="5" y="80300"/>
            <a:ext cx="121917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4" name="Google Shape;144;p4"/>
          <p:cNvSpPr txBox="1"/>
          <p:nvPr>
            <p:ph type="title"/>
          </p:nvPr>
        </p:nvSpPr>
        <p:spPr>
          <a:xfrm>
            <a:off x="6549203" y="2681111"/>
            <a:ext cx="4806000" cy="1297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00000"/>
              <a:buFont typeface="Calibri"/>
              <a:buNone/>
            </a:pPr>
            <a:r>
              <a:rPr lang="en-US" sz="8800">
                <a:solidFill>
                  <a:schemeClr val="dk2"/>
                </a:solidFill>
              </a:rPr>
              <a:t>Anuncios Generales</a:t>
            </a:r>
            <a:endParaRPr/>
          </a:p>
        </p:txBody>
      </p:sp>
      <p:pic>
        <p:nvPicPr>
          <p:cNvPr descr="Maestro" id="145" name="Google Shape;145;p4"/>
          <p:cNvPicPr preferRelativeResize="0"/>
          <p:nvPr/>
        </p:nvPicPr>
        <p:blipFill rotWithShape="1">
          <a:blip r:embed="rId3">
            <a:alphaModFix/>
          </a:blip>
          <a:srcRect b="0" l="0" r="0" t="0"/>
          <a:stretch/>
        </p:blipFill>
        <p:spPr>
          <a:xfrm>
            <a:off x="340470" y="1815320"/>
            <a:ext cx="4141760" cy="4141760"/>
          </a:xfrm>
          <a:custGeom>
            <a:rect b="b" l="l" r="r" t="t"/>
            <a:pathLst>
              <a:path extrusionOk="0" h="4377846" w="4141760">
                <a:moveTo>
                  <a:pt x="0" y="0"/>
                </a:moveTo>
                <a:lnTo>
                  <a:pt x="4141760" y="0"/>
                </a:lnTo>
                <a:lnTo>
                  <a:pt x="4141760" y="4377846"/>
                </a:lnTo>
                <a:lnTo>
                  <a:pt x="0" y="4377846"/>
                </a:lnTo>
                <a:close/>
              </a:path>
            </a:pathLst>
          </a:custGeom>
          <a:noFill/>
          <a:ln>
            <a:noFill/>
          </a:ln>
        </p:spPr>
      </p:pic>
      <p:grpSp>
        <p:nvGrpSpPr>
          <p:cNvPr id="146" name="Google Shape;146;p4"/>
          <p:cNvGrpSpPr/>
          <p:nvPr/>
        </p:nvGrpSpPr>
        <p:grpSpPr>
          <a:xfrm>
            <a:off x="-4253" y="-5977"/>
            <a:ext cx="6238675" cy="6863979"/>
            <a:chOff x="305" y="-5977"/>
            <a:chExt cx="6238675" cy="6863979"/>
          </a:xfrm>
        </p:grpSpPr>
        <p:sp>
          <p:nvSpPr>
            <p:cNvPr id="147" name="Google Shape;147;p4"/>
            <p:cNvSpPr/>
            <p:nvPr/>
          </p:nvSpPr>
          <p:spPr>
            <a:xfrm flipH="1">
              <a:off x="305" y="34854"/>
              <a:ext cx="6028697" cy="6817170"/>
            </a:xfrm>
            <a:custGeom>
              <a:rect b="b" l="l" r="r" t="t"/>
              <a:pathLst>
                <a:path extrusionOk="0" h="6817170" w="6028697">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8" name="Google Shape;148;p4"/>
            <p:cNvSpPr/>
            <p:nvPr/>
          </p:nvSpPr>
          <p:spPr>
            <a:xfrm flipH="1">
              <a:off x="305" y="1"/>
              <a:ext cx="6165116" cy="6858001"/>
            </a:xfrm>
            <a:custGeom>
              <a:rect b="b" l="l" r="r" t="t"/>
              <a:pathLst>
                <a:path extrusionOk="0" h="6858001" w="6264586">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9" name="Google Shape;149;p4"/>
            <p:cNvSpPr/>
            <p:nvPr/>
          </p:nvSpPr>
          <p:spPr>
            <a:xfrm flipH="1">
              <a:off x="305" y="-5977"/>
              <a:ext cx="6238675" cy="6858001"/>
            </a:xfrm>
            <a:custGeom>
              <a:rect b="b" l="l" r="r" t="t"/>
              <a:pathLst>
                <a:path extrusionOk="0" h="6858001" w="6264586">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4" name="Shape 154"/>
        <p:cNvGrpSpPr/>
        <p:nvPr/>
      </p:nvGrpSpPr>
      <p:grpSpPr>
        <a:xfrm>
          <a:off x="0" y="0"/>
          <a:ext cx="0" cy="0"/>
          <a:chOff x="0" y="0"/>
          <a:chExt cx="0" cy="0"/>
        </a:xfrm>
      </p:grpSpPr>
      <p:sp>
        <p:nvSpPr>
          <p:cNvPr id="155" name="Google Shape;155;g1f4ab7b10d1_0_1"/>
          <p:cNvSpPr/>
          <p:nvPr/>
        </p:nvSpPr>
        <p:spPr>
          <a:xfrm>
            <a:off x="0" y="-1"/>
            <a:ext cx="12191700" cy="685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6" name="Google Shape;156;g1f4ab7b10d1_0_1"/>
          <p:cNvSpPr/>
          <p:nvPr/>
        </p:nvSpPr>
        <p:spPr>
          <a:xfrm>
            <a:off x="5" y="80300"/>
            <a:ext cx="121917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7" name="Google Shape;157;g1f4ab7b10d1_0_1"/>
          <p:cNvSpPr txBox="1"/>
          <p:nvPr>
            <p:ph type="title"/>
          </p:nvPr>
        </p:nvSpPr>
        <p:spPr>
          <a:xfrm>
            <a:off x="6549203" y="2681111"/>
            <a:ext cx="4806000" cy="1297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00000"/>
              <a:buFont typeface="Calibri"/>
              <a:buNone/>
            </a:pPr>
            <a:r>
              <a:rPr lang="en-US" sz="8800">
                <a:solidFill>
                  <a:schemeClr val="dk2"/>
                </a:solidFill>
              </a:rPr>
              <a:t>Dudas</a:t>
            </a:r>
            <a:endParaRPr/>
          </a:p>
        </p:txBody>
      </p:sp>
      <p:pic>
        <p:nvPicPr>
          <p:cNvPr descr="Maestro" id="158" name="Google Shape;158;g1f4ab7b10d1_0_1"/>
          <p:cNvPicPr preferRelativeResize="0"/>
          <p:nvPr/>
        </p:nvPicPr>
        <p:blipFill rotWithShape="1">
          <a:blip r:embed="rId3">
            <a:alphaModFix/>
          </a:blip>
          <a:srcRect b="0" l="0" r="0" t="0"/>
          <a:stretch/>
        </p:blipFill>
        <p:spPr>
          <a:xfrm>
            <a:off x="340470" y="1815320"/>
            <a:ext cx="4141760" cy="4137064"/>
          </a:xfrm>
          <a:custGeom>
            <a:rect b="b" l="l" r="r" t="t"/>
            <a:pathLst>
              <a:path extrusionOk="0" h="4377846" w="4141760">
                <a:moveTo>
                  <a:pt x="0" y="0"/>
                </a:moveTo>
                <a:lnTo>
                  <a:pt x="4141760" y="0"/>
                </a:lnTo>
                <a:lnTo>
                  <a:pt x="4141760" y="4377846"/>
                </a:lnTo>
                <a:lnTo>
                  <a:pt x="0" y="4377846"/>
                </a:lnTo>
                <a:close/>
              </a:path>
            </a:pathLst>
          </a:custGeom>
          <a:noFill/>
          <a:ln>
            <a:noFill/>
          </a:ln>
        </p:spPr>
      </p:pic>
      <p:grpSp>
        <p:nvGrpSpPr>
          <p:cNvPr id="159" name="Google Shape;159;g1f4ab7b10d1_0_1"/>
          <p:cNvGrpSpPr/>
          <p:nvPr/>
        </p:nvGrpSpPr>
        <p:grpSpPr>
          <a:xfrm>
            <a:off x="-9754" y="-5977"/>
            <a:ext cx="6244176" cy="6863979"/>
            <a:chOff x="-5196" y="-5977"/>
            <a:chExt cx="6244176" cy="6863979"/>
          </a:xfrm>
        </p:grpSpPr>
        <p:sp>
          <p:nvSpPr>
            <p:cNvPr id="160" name="Google Shape;160;g1f4ab7b10d1_0_1"/>
            <p:cNvSpPr/>
            <p:nvPr/>
          </p:nvSpPr>
          <p:spPr>
            <a:xfrm flipH="1">
              <a:off x="305" y="34854"/>
              <a:ext cx="6028697" cy="6817170"/>
            </a:xfrm>
            <a:custGeom>
              <a:rect b="b" l="l" r="r" t="t"/>
              <a:pathLst>
                <a:path extrusionOk="0" h="6817170" w="6028697">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1" name="Google Shape;161;g1f4ab7b10d1_0_1"/>
            <p:cNvSpPr/>
            <p:nvPr/>
          </p:nvSpPr>
          <p:spPr>
            <a:xfrm flipH="1">
              <a:off x="-5196" y="1"/>
              <a:ext cx="6170617" cy="6858001"/>
            </a:xfrm>
            <a:custGeom>
              <a:rect b="b" l="l" r="r" t="t"/>
              <a:pathLst>
                <a:path extrusionOk="0" h="6858001" w="6264586">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2" name="Google Shape;162;g1f4ab7b10d1_0_1"/>
            <p:cNvSpPr/>
            <p:nvPr/>
          </p:nvSpPr>
          <p:spPr>
            <a:xfrm flipH="1">
              <a:off x="5717" y="-5977"/>
              <a:ext cx="6233263" cy="6858001"/>
            </a:xfrm>
            <a:custGeom>
              <a:rect b="b" l="l" r="r" t="t"/>
              <a:pathLst>
                <a:path extrusionOk="0" h="6858001" w="6264586">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6" name="Shape 166"/>
        <p:cNvGrpSpPr/>
        <p:nvPr/>
      </p:nvGrpSpPr>
      <p:grpSpPr>
        <a:xfrm>
          <a:off x="0" y="0"/>
          <a:ext cx="0" cy="0"/>
          <a:chOff x="0" y="0"/>
          <a:chExt cx="0" cy="0"/>
        </a:xfrm>
      </p:grpSpPr>
      <p:sp>
        <p:nvSpPr>
          <p:cNvPr id="167" name="Google Shape;167;p6"/>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8" name="Google Shape;168;p6"/>
          <p:cNvSpPr txBox="1"/>
          <p:nvPr>
            <p:ph type="title"/>
          </p:nvPr>
        </p:nvSpPr>
        <p:spPr>
          <a:xfrm>
            <a:off x="572493" y="238539"/>
            <a:ext cx="11018520" cy="143441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b="1" lang="en-US" sz="5400"/>
              <a:t>Plan &amp; Code en DevOps</a:t>
            </a:r>
            <a:endParaRPr sz="5400"/>
          </a:p>
        </p:txBody>
      </p:sp>
      <p:sp>
        <p:nvSpPr>
          <p:cNvPr id="169" name="Google Shape;169;p6"/>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2941"/>
            </a:schemeClr>
          </a:solidFill>
          <a:ln cap="rnd" cmpd="sng" w="44450">
            <a:solidFill>
              <a:schemeClr val="accent2">
                <a:alpha val="72941"/>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70" name="Google Shape;170;p6"/>
          <p:cNvPicPr preferRelativeResize="0"/>
          <p:nvPr/>
        </p:nvPicPr>
        <p:blipFill rotWithShape="1">
          <a:blip r:embed="rId3">
            <a:alphaModFix/>
          </a:blip>
          <a:srcRect b="0" l="0" r="0" t="0"/>
          <a:stretch/>
        </p:blipFill>
        <p:spPr>
          <a:xfrm>
            <a:off x="2660375" y="2054100"/>
            <a:ext cx="7832151" cy="39160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5" name="Shape 175"/>
        <p:cNvGrpSpPr/>
        <p:nvPr/>
      </p:nvGrpSpPr>
      <p:grpSpPr>
        <a:xfrm>
          <a:off x="0" y="0"/>
          <a:ext cx="0" cy="0"/>
          <a:chOff x="0" y="0"/>
          <a:chExt cx="0" cy="0"/>
        </a:xfrm>
      </p:grpSpPr>
      <p:sp>
        <p:nvSpPr>
          <p:cNvPr id="176" name="Google Shape;176;g48584de576676619_4"/>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7" name="Google Shape;177;g48584de576676619_4"/>
          <p:cNvSpPr txBox="1"/>
          <p:nvPr>
            <p:ph type="title"/>
          </p:nvPr>
        </p:nvSpPr>
        <p:spPr>
          <a:xfrm>
            <a:off x="640080" y="329184"/>
            <a:ext cx="6894600" cy="1783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a:t>Planificación</a:t>
            </a:r>
            <a:endParaRPr/>
          </a:p>
        </p:txBody>
      </p:sp>
      <p:sp>
        <p:nvSpPr>
          <p:cNvPr id="178" name="Google Shape;178;g48584de576676619_4"/>
          <p:cNvSpPr/>
          <p:nvPr/>
        </p:nvSpPr>
        <p:spPr>
          <a:xfrm>
            <a:off x="758952" y="2395728"/>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9" name="Google Shape;179;g48584de576676619_4"/>
          <p:cNvSpPr txBox="1"/>
          <p:nvPr>
            <p:ph idx="1" type="body"/>
          </p:nvPr>
        </p:nvSpPr>
        <p:spPr>
          <a:xfrm>
            <a:off x="296205" y="2697374"/>
            <a:ext cx="6894600" cy="3483900"/>
          </a:xfrm>
          <a:prstGeom prst="rect">
            <a:avLst/>
          </a:prstGeom>
          <a:noFill/>
          <a:ln>
            <a:noFill/>
          </a:ln>
        </p:spPr>
        <p:txBody>
          <a:bodyPr anchorCtr="0" anchor="t" bIns="45700" lIns="91425" spcFirstLastPara="1" rIns="91425" wrap="square" tIns="45700">
            <a:normAutofit fontScale="70000" lnSpcReduction="10000"/>
          </a:bodyPr>
          <a:lstStyle/>
          <a:p>
            <a:pPr indent="-326389" lvl="0" marL="457200" rtl="0" algn="l">
              <a:lnSpc>
                <a:spcPct val="115000"/>
              </a:lnSpc>
              <a:spcBef>
                <a:spcPts val="1200"/>
              </a:spcBef>
              <a:spcAft>
                <a:spcPts val="0"/>
              </a:spcAft>
              <a:buSzPct val="78571"/>
              <a:buChar char="•"/>
            </a:pPr>
            <a:r>
              <a:rPr lang="en-US"/>
              <a:t>Es el proceso inicial dentro del ciclo de vida del desarrollo de software que establece los objetivos, las prioridades y los pasos necesarios para la creación y entrega de un producto. En el contexto de DevOps, esta planificación se alinea con los principios de colaboración continua entre los equipos de desarrollo (Dev) y operaciones (Ops), buscando mejorar la velocidad de entrega y la calidad del software.</a:t>
            </a:r>
            <a:endParaRPr/>
          </a:p>
          <a:p>
            <a:pPr indent="0" lvl="0" marL="457200" rtl="0" algn="l">
              <a:lnSpc>
                <a:spcPct val="90000"/>
              </a:lnSpc>
              <a:spcBef>
                <a:spcPts val="1200"/>
              </a:spcBef>
              <a:spcAft>
                <a:spcPts val="0"/>
              </a:spcAft>
              <a:buSzPct val="75630"/>
              <a:buNone/>
            </a:pPr>
            <a:r>
              <a:t/>
            </a:r>
            <a:endParaRPr/>
          </a:p>
          <a:p>
            <a:pPr indent="0" lvl="0" marL="457200" rtl="0" algn="l">
              <a:lnSpc>
                <a:spcPct val="90000"/>
              </a:lnSpc>
              <a:spcBef>
                <a:spcPts val="1000"/>
              </a:spcBef>
              <a:spcAft>
                <a:spcPts val="0"/>
              </a:spcAft>
              <a:buSzPct val="64285"/>
              <a:buNone/>
            </a:pPr>
            <a:r>
              <a:t/>
            </a:r>
            <a:endParaRPr/>
          </a:p>
          <a:p>
            <a:pPr indent="0" lvl="0" marL="0" rtl="0" algn="l">
              <a:lnSpc>
                <a:spcPct val="90000"/>
              </a:lnSpc>
              <a:spcBef>
                <a:spcPts val="1000"/>
              </a:spcBef>
              <a:spcAft>
                <a:spcPts val="0"/>
              </a:spcAft>
              <a:buClr>
                <a:schemeClr val="dk1"/>
              </a:buClr>
              <a:buSzPct val="100000"/>
              <a:buNone/>
            </a:pPr>
            <a:r>
              <a:t/>
            </a:r>
            <a:endParaRPr sz="2200"/>
          </a:p>
        </p:txBody>
      </p:sp>
      <p:pic>
        <p:nvPicPr>
          <p:cNvPr id="180" name="Google Shape;180;g48584de576676619_4"/>
          <p:cNvPicPr preferRelativeResize="0"/>
          <p:nvPr/>
        </p:nvPicPr>
        <p:blipFill rotWithShape="1">
          <a:blip r:embed="rId3">
            <a:alphaModFix/>
          </a:blip>
          <a:srcRect b="0" l="0" r="0" t="0"/>
          <a:stretch/>
        </p:blipFill>
        <p:spPr>
          <a:xfrm>
            <a:off x="7029925" y="2064625"/>
            <a:ext cx="5628925" cy="3336150"/>
          </a:xfrm>
          <a:prstGeom prst="rect">
            <a:avLst/>
          </a:prstGeom>
          <a:solidFill>
            <a:schemeClr val="lt1"/>
          </a:solid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5" name="Shape 185"/>
        <p:cNvGrpSpPr/>
        <p:nvPr/>
      </p:nvGrpSpPr>
      <p:grpSpPr>
        <a:xfrm>
          <a:off x="0" y="0"/>
          <a:ext cx="0" cy="0"/>
          <a:chOff x="0" y="0"/>
          <a:chExt cx="0" cy="0"/>
        </a:xfrm>
      </p:grpSpPr>
      <p:sp>
        <p:nvSpPr>
          <p:cNvPr id="186" name="Google Shape;186;p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7" name="Google Shape;187;p5"/>
          <p:cNvSpPr/>
          <p:nvPr/>
        </p:nvSpPr>
        <p:spPr>
          <a:xfrm>
            <a:off x="758952" y="2395728"/>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88" name="Google Shape;188;p5"/>
          <p:cNvPicPr preferRelativeResize="0"/>
          <p:nvPr/>
        </p:nvPicPr>
        <p:blipFill rotWithShape="1">
          <a:blip r:embed="rId3">
            <a:alphaModFix/>
          </a:blip>
          <a:srcRect b="0" l="0" r="0" t="0"/>
          <a:stretch/>
        </p:blipFill>
        <p:spPr>
          <a:xfrm>
            <a:off x="651075" y="528325"/>
            <a:ext cx="10836075" cy="59105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 name="Shape 192"/>
        <p:cNvGrpSpPr/>
        <p:nvPr/>
      </p:nvGrpSpPr>
      <p:grpSpPr>
        <a:xfrm>
          <a:off x="0" y="0"/>
          <a:ext cx="0" cy="0"/>
          <a:chOff x="0" y="0"/>
          <a:chExt cx="0" cy="0"/>
        </a:xfrm>
      </p:grpSpPr>
      <p:sp>
        <p:nvSpPr>
          <p:cNvPr id="193" name="Google Shape;193;g2d2f2cfe28a_0_99"/>
          <p:cNvSpPr/>
          <p:nvPr/>
        </p:nvSpPr>
        <p:spPr>
          <a:xfrm>
            <a:off x="0" y="1"/>
            <a:ext cx="121917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4" name="Google Shape;194;g2d2f2cfe28a_0_99"/>
          <p:cNvSpPr/>
          <p:nvPr/>
        </p:nvSpPr>
        <p:spPr>
          <a:xfrm>
            <a:off x="305" y="0"/>
            <a:ext cx="121917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Calibri"/>
              <a:ea typeface="Calibri"/>
              <a:cs typeface="Calibri"/>
              <a:sym typeface="Calibri"/>
            </a:endParaRPr>
          </a:p>
        </p:txBody>
      </p:sp>
      <p:sp>
        <p:nvSpPr>
          <p:cNvPr id="195" name="Google Shape;195;g2d2f2cfe28a_0_99"/>
          <p:cNvSpPr txBox="1"/>
          <p:nvPr>
            <p:ph type="title"/>
          </p:nvPr>
        </p:nvSpPr>
        <p:spPr>
          <a:xfrm>
            <a:off x="804672" y="457200"/>
            <a:ext cx="10579500" cy="1188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000"/>
              <a:buFont typeface="Calibri"/>
              <a:buNone/>
            </a:pPr>
            <a:r>
              <a:rPr b="1" lang="en-US" sz="4000">
                <a:solidFill>
                  <a:schemeClr val="dk2"/>
                </a:solidFill>
              </a:rPr>
              <a:t>Características de la planificación</a:t>
            </a:r>
            <a:endParaRPr sz="4000">
              <a:solidFill>
                <a:schemeClr val="dk2"/>
              </a:solidFill>
            </a:endParaRPr>
          </a:p>
        </p:txBody>
      </p:sp>
      <p:grpSp>
        <p:nvGrpSpPr>
          <p:cNvPr id="196" name="Google Shape;196;g2d2f2cfe28a_0_99"/>
          <p:cNvGrpSpPr/>
          <p:nvPr/>
        </p:nvGrpSpPr>
        <p:grpSpPr>
          <a:xfrm rot="5400000">
            <a:off x="9262371" y="134262"/>
            <a:ext cx="3142428" cy="2716829"/>
            <a:chOff x="-305" y="-4155"/>
            <a:chExt cx="2514948" cy="2174333"/>
          </a:xfrm>
        </p:grpSpPr>
        <p:sp>
          <p:nvSpPr>
            <p:cNvPr id="197" name="Google Shape;197;g2d2f2cfe28a_0_99"/>
            <p:cNvSpPr/>
            <p:nvPr/>
          </p:nvSpPr>
          <p:spPr>
            <a:xfrm>
              <a:off x="-305" y="0"/>
              <a:ext cx="2514948" cy="2170178"/>
            </a:xfrm>
            <a:custGeom>
              <a:rect b="b" l="l" r="r" t="t"/>
              <a:pathLst>
                <a:path extrusionOk="0" h="2170178" w="251494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8" name="Google Shape;198;g2d2f2cfe28a_0_99"/>
            <p:cNvSpPr/>
            <p:nvPr/>
          </p:nvSpPr>
          <p:spPr>
            <a:xfrm>
              <a:off x="-305" y="-4155"/>
              <a:ext cx="2493062" cy="1947896"/>
            </a:xfrm>
            <a:custGeom>
              <a:rect b="b" l="l" r="r" t="t"/>
              <a:pathLst>
                <a:path extrusionOk="0" h="1947896" w="2493062">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9" name="Google Shape;199;g2d2f2cfe28a_0_99"/>
            <p:cNvSpPr/>
            <p:nvPr/>
          </p:nvSpPr>
          <p:spPr>
            <a:xfrm>
              <a:off x="-305" y="0"/>
              <a:ext cx="2501089" cy="1972702"/>
            </a:xfrm>
            <a:custGeom>
              <a:rect b="b" l="l" r="r" t="t"/>
              <a:pathLst>
                <a:path extrusionOk="0" h="1972702" w="2501089">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Calibri"/>
                <a:ea typeface="Calibri"/>
                <a:cs typeface="Calibri"/>
                <a:sym typeface="Calibri"/>
              </a:endParaRPr>
            </a:p>
          </p:txBody>
        </p:sp>
        <p:sp>
          <p:nvSpPr>
            <p:cNvPr id="200" name="Google Shape;200;g2d2f2cfe28a_0_99"/>
            <p:cNvSpPr/>
            <p:nvPr/>
          </p:nvSpPr>
          <p:spPr>
            <a:xfrm>
              <a:off x="305" y="1"/>
              <a:ext cx="2491105" cy="1943661"/>
            </a:xfrm>
            <a:custGeom>
              <a:rect b="b" l="l" r="r" t="t"/>
              <a:pathLst>
                <a:path extrusionOk="0" h="1943661" w="2491105">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201" name="Google Shape;201;g2d2f2cfe28a_0_99"/>
          <p:cNvGrpSpPr/>
          <p:nvPr/>
        </p:nvGrpSpPr>
        <p:grpSpPr>
          <a:xfrm flipH="1" rot="10800000">
            <a:off x="0" y="5048048"/>
            <a:ext cx="2412031" cy="1809952"/>
            <a:chOff x="-305" y="-1"/>
            <a:chExt cx="3832880" cy="2876136"/>
          </a:xfrm>
        </p:grpSpPr>
        <p:sp>
          <p:nvSpPr>
            <p:cNvPr id="202" name="Google Shape;202;g2d2f2cfe28a_0_99"/>
            <p:cNvSpPr/>
            <p:nvPr/>
          </p:nvSpPr>
          <p:spPr>
            <a:xfrm>
              <a:off x="305" y="1"/>
              <a:ext cx="3815424" cy="2653659"/>
            </a:xfrm>
            <a:custGeom>
              <a:rect b="b" l="l" r="r" t="t"/>
              <a:pathLst>
                <a:path extrusionOk="0" h="2653659" w="3815424">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3" name="Google Shape;203;g2d2f2cfe28a_0_99"/>
            <p:cNvSpPr/>
            <p:nvPr/>
          </p:nvSpPr>
          <p:spPr>
            <a:xfrm>
              <a:off x="305" y="-1"/>
              <a:ext cx="3815424" cy="2653660"/>
            </a:xfrm>
            <a:custGeom>
              <a:rect b="b" l="l" r="r" t="t"/>
              <a:pathLst>
                <a:path extrusionOk="0" h="2653660" w="3815424">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4" name="Google Shape;204;g2d2f2cfe28a_0_99"/>
            <p:cNvSpPr/>
            <p:nvPr/>
          </p:nvSpPr>
          <p:spPr>
            <a:xfrm>
              <a:off x="-305" y="1"/>
              <a:ext cx="3815986" cy="2675935"/>
            </a:xfrm>
            <a:custGeom>
              <a:rect b="b" l="l" r="r" t="t"/>
              <a:pathLst>
                <a:path extrusionOk="0" h="2675935" w="3815986">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5" name="Google Shape;205;g2d2f2cfe28a_0_99"/>
            <p:cNvSpPr/>
            <p:nvPr/>
          </p:nvSpPr>
          <p:spPr>
            <a:xfrm>
              <a:off x="305" y="-1"/>
              <a:ext cx="3832270" cy="2876136"/>
            </a:xfrm>
            <a:custGeom>
              <a:rect b="b" l="l" r="r" t="t"/>
              <a:pathLst>
                <a:path extrusionOk="0" h="2876136" w="3832270">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206" name="Google Shape;206;g2d2f2cfe28a_0_99"/>
          <p:cNvGrpSpPr/>
          <p:nvPr/>
        </p:nvGrpSpPr>
        <p:grpSpPr>
          <a:xfrm>
            <a:off x="1039284" y="2797938"/>
            <a:ext cx="10113470" cy="3057573"/>
            <a:chOff x="2964" y="254305"/>
            <a:chExt cx="10113470" cy="3057573"/>
          </a:xfrm>
        </p:grpSpPr>
        <p:sp>
          <p:nvSpPr>
            <p:cNvPr id="207" name="Google Shape;207;g2d2f2cfe28a_0_99"/>
            <p:cNvSpPr/>
            <p:nvPr/>
          </p:nvSpPr>
          <p:spPr>
            <a:xfrm>
              <a:off x="2964" y="254305"/>
              <a:ext cx="2352000" cy="1411200"/>
            </a:xfrm>
            <a:prstGeom prst="rect">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g2d2f2cfe28a_0_99"/>
            <p:cNvSpPr txBox="1"/>
            <p:nvPr/>
          </p:nvSpPr>
          <p:spPr>
            <a:xfrm>
              <a:off x="2964" y="254305"/>
              <a:ext cx="2352000" cy="14112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Colaboracion entre equipos</a:t>
              </a:r>
              <a:endParaRPr b="0" i="0" sz="2800" u="none" cap="none" strike="noStrike">
                <a:solidFill>
                  <a:schemeClr val="lt1"/>
                </a:solidFill>
                <a:latin typeface="Calibri"/>
                <a:ea typeface="Calibri"/>
                <a:cs typeface="Calibri"/>
                <a:sym typeface="Calibri"/>
              </a:endParaRPr>
            </a:p>
          </p:txBody>
        </p:sp>
        <p:sp>
          <p:nvSpPr>
            <p:cNvPr id="209" name="Google Shape;209;g2d2f2cfe28a_0_99"/>
            <p:cNvSpPr/>
            <p:nvPr/>
          </p:nvSpPr>
          <p:spPr>
            <a:xfrm>
              <a:off x="2590121" y="254305"/>
              <a:ext cx="2352000" cy="1411200"/>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g2d2f2cfe28a_0_99"/>
            <p:cNvSpPr txBox="1"/>
            <p:nvPr/>
          </p:nvSpPr>
          <p:spPr>
            <a:xfrm>
              <a:off x="2590121" y="254305"/>
              <a:ext cx="2352000" cy="14112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Metodologias Ágiles</a:t>
              </a:r>
              <a:endParaRPr b="0" i="0" sz="2800" u="none" cap="none" strike="noStrike">
                <a:solidFill>
                  <a:schemeClr val="lt1"/>
                </a:solidFill>
                <a:latin typeface="Calibri"/>
                <a:ea typeface="Calibri"/>
                <a:cs typeface="Calibri"/>
                <a:sym typeface="Calibri"/>
              </a:endParaRPr>
            </a:p>
          </p:txBody>
        </p:sp>
        <p:sp>
          <p:nvSpPr>
            <p:cNvPr id="211" name="Google Shape;211;g2d2f2cfe28a_0_99"/>
            <p:cNvSpPr/>
            <p:nvPr/>
          </p:nvSpPr>
          <p:spPr>
            <a:xfrm>
              <a:off x="5177278" y="254305"/>
              <a:ext cx="2352000" cy="1411200"/>
            </a:xfrm>
            <a:prstGeom prst="rect">
              <a:avLst/>
            </a:prstGeom>
            <a:solidFill>
              <a:schemeClr val="accent4"/>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g2d2f2cfe28a_0_99"/>
            <p:cNvSpPr txBox="1"/>
            <p:nvPr/>
          </p:nvSpPr>
          <p:spPr>
            <a:xfrm>
              <a:off x="5114542" y="254317"/>
              <a:ext cx="2474700" cy="14112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Backlog</a:t>
              </a:r>
              <a:endParaRPr b="0" i="0" sz="2800" u="none" cap="none" strike="noStrike">
                <a:solidFill>
                  <a:schemeClr val="lt1"/>
                </a:solidFill>
                <a:latin typeface="Calibri"/>
                <a:ea typeface="Calibri"/>
                <a:cs typeface="Calibri"/>
                <a:sym typeface="Calibri"/>
              </a:endParaRPr>
            </a:p>
          </p:txBody>
        </p:sp>
        <p:sp>
          <p:nvSpPr>
            <p:cNvPr id="213" name="Google Shape;213;g2d2f2cfe28a_0_99"/>
            <p:cNvSpPr/>
            <p:nvPr/>
          </p:nvSpPr>
          <p:spPr>
            <a:xfrm>
              <a:off x="7764434" y="254305"/>
              <a:ext cx="2352000" cy="1411200"/>
            </a:xfrm>
            <a:prstGeom prst="rect">
              <a:avLst/>
            </a:prstGeom>
            <a:solidFill>
              <a:srgbClr val="599BD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g2d2f2cfe28a_0_99"/>
            <p:cNvSpPr txBox="1"/>
            <p:nvPr/>
          </p:nvSpPr>
          <p:spPr>
            <a:xfrm>
              <a:off x="7764434" y="254305"/>
              <a:ext cx="2352000" cy="14112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500" u="none" cap="none" strike="noStrike">
                  <a:solidFill>
                    <a:schemeClr val="lt1"/>
                  </a:solidFill>
                  <a:latin typeface="Calibri"/>
                  <a:ea typeface="Calibri"/>
                  <a:cs typeface="Calibri"/>
                  <a:sym typeface="Calibri"/>
                </a:rPr>
                <a:t>Automatización y herramientas</a:t>
              </a:r>
              <a:endParaRPr b="0" i="0" sz="2500" u="none" cap="none" strike="noStrike">
                <a:solidFill>
                  <a:schemeClr val="lt1"/>
                </a:solidFill>
                <a:latin typeface="Calibri"/>
                <a:ea typeface="Calibri"/>
                <a:cs typeface="Calibri"/>
                <a:sym typeface="Calibri"/>
              </a:endParaRPr>
            </a:p>
          </p:txBody>
        </p:sp>
        <p:sp>
          <p:nvSpPr>
            <p:cNvPr id="215" name="Google Shape;215;g2d2f2cfe28a_0_99"/>
            <p:cNvSpPr/>
            <p:nvPr/>
          </p:nvSpPr>
          <p:spPr>
            <a:xfrm>
              <a:off x="1296543" y="1900678"/>
              <a:ext cx="2352000" cy="1411200"/>
            </a:xfrm>
            <a:prstGeom prst="rect">
              <a:avLst/>
            </a:prstGeom>
            <a:solidFill>
              <a:schemeClr val="accent6"/>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g2d2f2cfe28a_0_99"/>
            <p:cNvSpPr txBox="1"/>
            <p:nvPr/>
          </p:nvSpPr>
          <p:spPr>
            <a:xfrm>
              <a:off x="1296543" y="1900678"/>
              <a:ext cx="2352000" cy="14112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Medicion y monitoreo</a:t>
              </a:r>
              <a:endParaRPr b="0" i="0" sz="2800" u="none" cap="none" strike="noStrike">
                <a:solidFill>
                  <a:schemeClr val="lt1"/>
                </a:solidFill>
                <a:latin typeface="Calibri"/>
                <a:ea typeface="Calibri"/>
                <a:cs typeface="Calibri"/>
                <a:sym typeface="Calibri"/>
              </a:endParaRPr>
            </a:p>
          </p:txBody>
        </p:sp>
        <p:sp>
          <p:nvSpPr>
            <p:cNvPr id="217" name="Google Shape;217;g2d2f2cfe28a_0_99"/>
            <p:cNvSpPr/>
            <p:nvPr/>
          </p:nvSpPr>
          <p:spPr>
            <a:xfrm>
              <a:off x="6470856" y="1900678"/>
              <a:ext cx="2352000" cy="1411200"/>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g2d2f2cfe28a_0_99"/>
            <p:cNvSpPr txBox="1"/>
            <p:nvPr/>
          </p:nvSpPr>
          <p:spPr>
            <a:xfrm>
              <a:off x="6470856" y="1900678"/>
              <a:ext cx="2352000" cy="14112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200" u="none" cap="none" strike="noStrike">
                  <a:solidFill>
                    <a:schemeClr val="lt1"/>
                  </a:solidFill>
                  <a:latin typeface="Calibri"/>
                  <a:ea typeface="Calibri"/>
                  <a:cs typeface="Calibri"/>
                  <a:sym typeface="Calibri"/>
                </a:rPr>
                <a:t>Ciclo de retroalimentación</a:t>
              </a:r>
              <a:endParaRPr b="0" i="0" sz="2200" u="none" cap="none" strike="noStrike">
                <a:solidFill>
                  <a:schemeClr val="lt1"/>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3" name="Shape 223"/>
        <p:cNvGrpSpPr/>
        <p:nvPr/>
      </p:nvGrpSpPr>
      <p:grpSpPr>
        <a:xfrm>
          <a:off x="0" y="0"/>
          <a:ext cx="0" cy="0"/>
          <a:chOff x="0" y="0"/>
          <a:chExt cx="0" cy="0"/>
        </a:xfrm>
      </p:grpSpPr>
      <p:sp>
        <p:nvSpPr>
          <p:cNvPr id="224" name="Google Shape;224;g2d2f2cfe28a_0_161"/>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5" name="Google Shape;225;g2d2f2cfe28a_0_161"/>
          <p:cNvSpPr txBox="1"/>
          <p:nvPr>
            <p:ph type="title"/>
          </p:nvPr>
        </p:nvSpPr>
        <p:spPr>
          <a:xfrm>
            <a:off x="640080" y="329184"/>
            <a:ext cx="6894600" cy="1783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Metodologías ágiles</a:t>
            </a:r>
            <a:endParaRPr/>
          </a:p>
        </p:txBody>
      </p:sp>
      <p:sp>
        <p:nvSpPr>
          <p:cNvPr id="226" name="Google Shape;226;g2d2f2cfe28a_0_161"/>
          <p:cNvSpPr/>
          <p:nvPr/>
        </p:nvSpPr>
        <p:spPr>
          <a:xfrm>
            <a:off x="758952" y="2395728"/>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7" name="Google Shape;227;g2d2f2cfe28a_0_161"/>
          <p:cNvSpPr txBox="1"/>
          <p:nvPr>
            <p:ph idx="1" type="body"/>
          </p:nvPr>
        </p:nvSpPr>
        <p:spPr>
          <a:xfrm>
            <a:off x="640080" y="2706624"/>
            <a:ext cx="6894600" cy="3483900"/>
          </a:xfrm>
          <a:prstGeom prst="rect">
            <a:avLst/>
          </a:prstGeom>
          <a:noFill/>
          <a:ln>
            <a:noFill/>
          </a:ln>
        </p:spPr>
        <p:txBody>
          <a:bodyPr anchorCtr="0" anchor="t" bIns="45700" lIns="91425" spcFirstLastPara="1" rIns="91425" wrap="square" tIns="45700">
            <a:normAutofit fontScale="85000" lnSpcReduction="20000"/>
          </a:bodyPr>
          <a:lstStyle/>
          <a:p>
            <a:pPr indent="-207645" lvl="0" marL="228600" rtl="0" algn="l">
              <a:lnSpc>
                <a:spcPct val="90000"/>
              </a:lnSpc>
              <a:spcBef>
                <a:spcPts val="0"/>
              </a:spcBef>
              <a:spcAft>
                <a:spcPts val="0"/>
              </a:spcAft>
              <a:buClr>
                <a:schemeClr val="dk1"/>
              </a:buClr>
              <a:buSzPct val="78571"/>
              <a:buChar char="•"/>
            </a:pPr>
            <a:r>
              <a:rPr lang="en-US"/>
              <a:t>Conjunto de prácticas y principios para el desarrollo de software que promueven la flexibilidad, la colaboración y la entrega rápida y continua de productos de alta calidad. Surgieron como una respuesta a los enfoques tradicionales de desarrollo de software (como el modelo en cascada), que a menudo eran rígidos y resultaban en entregas tardías o proyectos que no cumplían con las expectativas del cliente.</a:t>
            </a:r>
            <a:endParaRPr/>
          </a:p>
          <a:p>
            <a:pPr indent="0" lvl="0" marL="457200" rtl="0" algn="l">
              <a:lnSpc>
                <a:spcPct val="90000"/>
              </a:lnSpc>
              <a:spcBef>
                <a:spcPts val="1000"/>
              </a:spcBef>
              <a:spcAft>
                <a:spcPts val="0"/>
              </a:spcAft>
              <a:buSzPct val="75630"/>
              <a:buNone/>
            </a:pPr>
            <a:r>
              <a:t/>
            </a:r>
            <a:endParaRPr/>
          </a:p>
          <a:p>
            <a:pPr indent="0" lvl="0" marL="457200" rtl="0" algn="l">
              <a:lnSpc>
                <a:spcPct val="90000"/>
              </a:lnSpc>
              <a:spcBef>
                <a:spcPts val="1000"/>
              </a:spcBef>
              <a:spcAft>
                <a:spcPts val="0"/>
              </a:spcAft>
              <a:buSzPct val="64285"/>
              <a:buNone/>
            </a:pPr>
            <a:r>
              <a:t/>
            </a:r>
            <a:endParaRPr/>
          </a:p>
          <a:p>
            <a:pPr indent="0" lvl="0" marL="0" rtl="0" algn="l">
              <a:lnSpc>
                <a:spcPct val="90000"/>
              </a:lnSpc>
              <a:spcBef>
                <a:spcPts val="1000"/>
              </a:spcBef>
              <a:spcAft>
                <a:spcPts val="0"/>
              </a:spcAft>
              <a:buClr>
                <a:schemeClr val="dk1"/>
              </a:buClr>
              <a:buSzPct val="100000"/>
              <a:buNone/>
            </a:pPr>
            <a:r>
              <a:t/>
            </a:r>
            <a:endParaRPr sz="2200"/>
          </a:p>
        </p:txBody>
      </p:sp>
      <p:pic>
        <p:nvPicPr>
          <p:cNvPr id="228" name="Google Shape;228;g2d2f2cfe28a_0_161"/>
          <p:cNvPicPr preferRelativeResize="0"/>
          <p:nvPr/>
        </p:nvPicPr>
        <p:blipFill rotWithShape="1">
          <a:blip r:embed="rId3">
            <a:alphaModFix/>
          </a:blip>
          <a:srcRect b="0" l="0" r="0" t="0"/>
          <a:stretch/>
        </p:blipFill>
        <p:spPr>
          <a:xfrm>
            <a:off x="7420400" y="1076025"/>
            <a:ext cx="4514850" cy="4495800"/>
          </a:xfrm>
          <a:prstGeom prst="rect">
            <a:avLst/>
          </a:prstGeom>
          <a:solidFill>
            <a:schemeClr val="lt1"/>
          </a:solid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2" name="Shape 232"/>
        <p:cNvGrpSpPr/>
        <p:nvPr/>
      </p:nvGrpSpPr>
      <p:grpSpPr>
        <a:xfrm>
          <a:off x="0" y="0"/>
          <a:ext cx="0" cy="0"/>
          <a:chOff x="0" y="0"/>
          <a:chExt cx="0" cy="0"/>
        </a:xfrm>
      </p:grpSpPr>
      <p:sp>
        <p:nvSpPr>
          <p:cNvPr id="233" name="Google Shape;233;g2d2f2cfe28a_0_17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chemeClr val="dk1"/>
              </a:buClr>
              <a:buSzPts val="5040"/>
              <a:buFont typeface="Calibri"/>
              <a:buNone/>
            </a:pPr>
            <a:r>
              <a:t/>
            </a:r>
            <a:endParaRPr b="0" i="0" sz="1400" u="none" cap="none" strike="noStrike">
              <a:solidFill>
                <a:srgbClr val="000000"/>
              </a:solidFill>
              <a:latin typeface="Arial"/>
              <a:ea typeface="Arial"/>
              <a:cs typeface="Arial"/>
              <a:sym typeface="Arial"/>
            </a:endParaRPr>
          </a:p>
        </p:txBody>
      </p:sp>
      <p:sp>
        <p:nvSpPr>
          <p:cNvPr id="234" name="Google Shape;234;g2d2f2cfe28a_0_171"/>
          <p:cNvSpPr txBox="1"/>
          <p:nvPr>
            <p:ph type="title"/>
          </p:nvPr>
        </p:nvSpPr>
        <p:spPr>
          <a:xfrm>
            <a:off x="6000673" y="1018202"/>
            <a:ext cx="4569600" cy="4821600"/>
          </a:xfrm>
          <a:prstGeom prst="rect">
            <a:avLst/>
          </a:prstGeom>
          <a:noFill/>
          <a:ln>
            <a:noFill/>
          </a:ln>
        </p:spPr>
        <p:txBody>
          <a:bodyPr anchorCtr="0" anchor="b" bIns="45700" lIns="91425" spcFirstLastPara="1" rIns="91425" wrap="square" tIns="45700">
            <a:noAutofit/>
          </a:bodyPr>
          <a:lstStyle/>
          <a:p>
            <a:pPr indent="0" lvl="0" marL="0" rtl="0" algn="just">
              <a:lnSpc>
                <a:spcPct val="90000"/>
              </a:lnSpc>
              <a:spcBef>
                <a:spcPts val="0"/>
              </a:spcBef>
              <a:spcAft>
                <a:spcPts val="0"/>
              </a:spcAft>
              <a:buClr>
                <a:schemeClr val="dk1"/>
              </a:buClr>
              <a:buSzPts val="5040"/>
              <a:buFont typeface="Calibri"/>
              <a:buNone/>
            </a:pPr>
            <a:r>
              <a:rPr lang="en-US" sz="3240"/>
              <a:t>Caracteristicas</a:t>
            </a:r>
            <a:endParaRPr sz="3240"/>
          </a:p>
          <a:p>
            <a:pPr indent="0" lvl="0" marL="0" rtl="0" algn="just">
              <a:lnSpc>
                <a:spcPct val="90000"/>
              </a:lnSpc>
              <a:spcBef>
                <a:spcPts val="0"/>
              </a:spcBef>
              <a:spcAft>
                <a:spcPts val="0"/>
              </a:spcAft>
              <a:buClr>
                <a:schemeClr val="dk1"/>
              </a:buClr>
              <a:buSzPts val="5040"/>
              <a:buFont typeface="Calibri"/>
              <a:buNone/>
            </a:pPr>
            <a:r>
              <a:t/>
            </a:r>
            <a:endParaRPr sz="3240"/>
          </a:p>
          <a:p>
            <a:pPr indent="-349250" lvl="0" marL="457200" rtl="0" algn="l">
              <a:lnSpc>
                <a:spcPct val="115000"/>
              </a:lnSpc>
              <a:spcBef>
                <a:spcPts val="0"/>
              </a:spcBef>
              <a:spcAft>
                <a:spcPts val="0"/>
              </a:spcAft>
              <a:buSzPts val="1900"/>
              <a:buAutoNum type="arabicPeriod"/>
            </a:pPr>
            <a:r>
              <a:rPr lang="en-US" sz="1900"/>
              <a:t>Iteraciones cortas (sprints)</a:t>
            </a:r>
            <a:endParaRPr sz="1900"/>
          </a:p>
          <a:p>
            <a:pPr indent="-349250" lvl="0" marL="457200" rtl="0" algn="l">
              <a:lnSpc>
                <a:spcPct val="115000"/>
              </a:lnSpc>
              <a:spcBef>
                <a:spcPts val="0"/>
              </a:spcBef>
              <a:spcAft>
                <a:spcPts val="0"/>
              </a:spcAft>
              <a:buSzPts val="1900"/>
              <a:buAutoNum type="arabicPeriod"/>
            </a:pPr>
            <a:r>
              <a:rPr lang="en-US" sz="1900"/>
              <a:t>Adaptabilidad</a:t>
            </a:r>
            <a:endParaRPr sz="1900"/>
          </a:p>
          <a:p>
            <a:pPr indent="-349250" lvl="0" marL="457200" rtl="0" algn="l">
              <a:lnSpc>
                <a:spcPct val="115000"/>
              </a:lnSpc>
              <a:spcBef>
                <a:spcPts val="0"/>
              </a:spcBef>
              <a:spcAft>
                <a:spcPts val="0"/>
              </a:spcAft>
              <a:buSzPts val="1900"/>
              <a:buAutoNum type="arabicPeriod"/>
            </a:pPr>
            <a:r>
              <a:rPr lang="en-US" sz="1900"/>
              <a:t>Colaboración continua</a:t>
            </a:r>
            <a:endParaRPr sz="1900"/>
          </a:p>
          <a:p>
            <a:pPr indent="-349250" lvl="0" marL="457200" rtl="0" algn="l">
              <a:lnSpc>
                <a:spcPct val="115000"/>
              </a:lnSpc>
              <a:spcBef>
                <a:spcPts val="0"/>
              </a:spcBef>
              <a:spcAft>
                <a:spcPts val="0"/>
              </a:spcAft>
              <a:buSzPts val="1900"/>
              <a:buAutoNum type="arabicPeriod"/>
            </a:pPr>
            <a:r>
              <a:rPr lang="en-US" sz="1900"/>
              <a:t>Entrega continua</a:t>
            </a:r>
            <a:endParaRPr sz="1900"/>
          </a:p>
          <a:p>
            <a:pPr indent="-349250" lvl="0" marL="457200" rtl="0" algn="l">
              <a:lnSpc>
                <a:spcPct val="115000"/>
              </a:lnSpc>
              <a:spcBef>
                <a:spcPts val="0"/>
              </a:spcBef>
              <a:spcAft>
                <a:spcPts val="0"/>
              </a:spcAft>
              <a:buSzPts val="1900"/>
              <a:buAutoNum type="arabicPeriod"/>
            </a:pPr>
            <a:r>
              <a:rPr lang="en-US" sz="1900"/>
              <a:t>Retroalimentación constante</a:t>
            </a:r>
            <a:endParaRPr sz="1900"/>
          </a:p>
          <a:p>
            <a:pPr indent="-349250" lvl="0" marL="457200" rtl="0" algn="l">
              <a:lnSpc>
                <a:spcPct val="115000"/>
              </a:lnSpc>
              <a:spcBef>
                <a:spcPts val="0"/>
              </a:spcBef>
              <a:spcAft>
                <a:spcPts val="0"/>
              </a:spcAft>
              <a:buSzPts val="1900"/>
              <a:buAutoNum type="arabicPeriod"/>
            </a:pPr>
            <a:r>
              <a:rPr lang="en-US" sz="1900"/>
              <a:t>Priorización del cliente</a:t>
            </a:r>
            <a:endParaRPr sz="1900"/>
          </a:p>
          <a:p>
            <a:pPr indent="0" lvl="0" marL="0" rtl="0" algn="l">
              <a:lnSpc>
                <a:spcPct val="115000"/>
              </a:lnSpc>
              <a:spcBef>
                <a:spcPts val="0"/>
              </a:spcBef>
              <a:spcAft>
                <a:spcPts val="0"/>
              </a:spcAft>
              <a:buSzPts val="1800"/>
              <a:buNone/>
            </a:pPr>
            <a:r>
              <a:t/>
            </a:r>
            <a:endParaRPr sz="1900"/>
          </a:p>
          <a:p>
            <a:pPr indent="0" lvl="0" marL="0" rtl="0" algn="l">
              <a:lnSpc>
                <a:spcPct val="115000"/>
              </a:lnSpc>
              <a:spcBef>
                <a:spcPts val="0"/>
              </a:spcBef>
              <a:spcAft>
                <a:spcPts val="0"/>
              </a:spcAft>
              <a:buSzPts val="1800"/>
              <a:buNone/>
            </a:pPr>
            <a:r>
              <a:t/>
            </a:r>
            <a:endParaRPr sz="1900"/>
          </a:p>
          <a:p>
            <a:pPr indent="0" lvl="0" marL="0" rtl="0" algn="l">
              <a:lnSpc>
                <a:spcPct val="115000"/>
              </a:lnSpc>
              <a:spcBef>
                <a:spcPts val="0"/>
              </a:spcBef>
              <a:spcAft>
                <a:spcPts val="0"/>
              </a:spcAft>
              <a:buSzPts val="1800"/>
              <a:buNone/>
            </a:pPr>
            <a:r>
              <a:t/>
            </a:r>
            <a:endParaRPr sz="1900"/>
          </a:p>
          <a:p>
            <a:pPr indent="0" lvl="0" marL="0" rtl="0" algn="l">
              <a:lnSpc>
                <a:spcPct val="115000"/>
              </a:lnSpc>
              <a:spcBef>
                <a:spcPts val="0"/>
              </a:spcBef>
              <a:spcAft>
                <a:spcPts val="0"/>
              </a:spcAft>
              <a:buSzPts val="1800"/>
              <a:buNone/>
            </a:pPr>
            <a:r>
              <a:t/>
            </a:r>
            <a:endParaRPr sz="1900"/>
          </a:p>
          <a:p>
            <a:pPr indent="0" lvl="0" marL="0" rtl="0" algn="just">
              <a:lnSpc>
                <a:spcPct val="90000"/>
              </a:lnSpc>
              <a:spcBef>
                <a:spcPts val="0"/>
              </a:spcBef>
              <a:spcAft>
                <a:spcPts val="0"/>
              </a:spcAft>
              <a:buClr>
                <a:schemeClr val="dk1"/>
              </a:buClr>
              <a:buSzPts val="5040"/>
              <a:buFont typeface="Calibri"/>
              <a:buNone/>
            </a:pPr>
            <a:r>
              <a:t/>
            </a:r>
            <a:endParaRPr sz="3240"/>
          </a:p>
        </p:txBody>
      </p:sp>
      <p:sp>
        <p:nvSpPr>
          <p:cNvPr id="235" name="Google Shape;235;g2d2f2cfe28a_0_171"/>
          <p:cNvSpPr txBox="1"/>
          <p:nvPr>
            <p:ph type="title"/>
          </p:nvPr>
        </p:nvSpPr>
        <p:spPr>
          <a:xfrm>
            <a:off x="747873" y="540727"/>
            <a:ext cx="4569600" cy="4821600"/>
          </a:xfrm>
          <a:prstGeom prst="rect">
            <a:avLst/>
          </a:prstGeom>
          <a:noFill/>
          <a:ln>
            <a:noFill/>
          </a:ln>
        </p:spPr>
        <p:txBody>
          <a:bodyPr anchorCtr="0" anchor="b" bIns="45700" lIns="91425" spcFirstLastPara="1" rIns="91425" wrap="square" tIns="45700">
            <a:noAutofit/>
          </a:bodyPr>
          <a:lstStyle/>
          <a:p>
            <a:pPr indent="0" lvl="0" marL="0" rtl="0" algn="just">
              <a:lnSpc>
                <a:spcPct val="90000"/>
              </a:lnSpc>
              <a:spcBef>
                <a:spcPts val="0"/>
              </a:spcBef>
              <a:spcAft>
                <a:spcPts val="0"/>
              </a:spcAft>
              <a:buClr>
                <a:schemeClr val="dk1"/>
              </a:buClr>
              <a:buSzPts val="5040"/>
              <a:buFont typeface="Calibri"/>
              <a:buNone/>
            </a:pPr>
            <a:r>
              <a:rPr lang="en-US" sz="2840"/>
              <a:t>Principios</a:t>
            </a:r>
            <a:endParaRPr sz="2840"/>
          </a:p>
          <a:p>
            <a:pPr indent="0" lvl="0" marL="0" rtl="0" algn="just">
              <a:lnSpc>
                <a:spcPct val="90000"/>
              </a:lnSpc>
              <a:spcBef>
                <a:spcPts val="0"/>
              </a:spcBef>
              <a:spcAft>
                <a:spcPts val="0"/>
              </a:spcAft>
              <a:buClr>
                <a:schemeClr val="dk1"/>
              </a:buClr>
              <a:buSzPts val="5040"/>
              <a:buFont typeface="Calibri"/>
              <a:buNone/>
            </a:pPr>
            <a:r>
              <a:t/>
            </a:r>
            <a:endParaRPr sz="2840"/>
          </a:p>
          <a:p>
            <a:pPr indent="0" lvl="0" marL="0" rtl="0" algn="just">
              <a:lnSpc>
                <a:spcPct val="90000"/>
              </a:lnSpc>
              <a:spcBef>
                <a:spcPts val="0"/>
              </a:spcBef>
              <a:spcAft>
                <a:spcPts val="0"/>
              </a:spcAft>
              <a:buClr>
                <a:schemeClr val="dk1"/>
              </a:buClr>
              <a:buSzPts val="5040"/>
              <a:buFont typeface="Calibri"/>
              <a:buNone/>
            </a:pPr>
            <a:r>
              <a:t/>
            </a:r>
            <a:endParaRPr sz="2840"/>
          </a:p>
          <a:p>
            <a:pPr indent="-349250" lvl="0" marL="457200" rtl="0" algn="l">
              <a:lnSpc>
                <a:spcPct val="115000"/>
              </a:lnSpc>
              <a:spcBef>
                <a:spcPts val="0"/>
              </a:spcBef>
              <a:spcAft>
                <a:spcPts val="0"/>
              </a:spcAft>
              <a:buSzPts val="1900"/>
              <a:buAutoNum type="arabicPeriod"/>
            </a:pPr>
            <a:r>
              <a:rPr lang="en-US" sz="1900"/>
              <a:t>Individuos e interacciones sobre procesos y herramientas.</a:t>
            </a:r>
            <a:endParaRPr sz="1900"/>
          </a:p>
          <a:p>
            <a:pPr indent="-349250" lvl="0" marL="457200" rtl="0" algn="l">
              <a:lnSpc>
                <a:spcPct val="115000"/>
              </a:lnSpc>
              <a:spcBef>
                <a:spcPts val="0"/>
              </a:spcBef>
              <a:spcAft>
                <a:spcPts val="0"/>
              </a:spcAft>
              <a:buSzPts val="1900"/>
              <a:buAutoNum type="arabicPeriod"/>
            </a:pPr>
            <a:r>
              <a:rPr lang="en-US" sz="1900"/>
              <a:t>Software funcionando sobre documentación extensiva.</a:t>
            </a:r>
            <a:endParaRPr sz="1900"/>
          </a:p>
          <a:p>
            <a:pPr indent="-349250" lvl="0" marL="457200" rtl="0" algn="l">
              <a:lnSpc>
                <a:spcPct val="115000"/>
              </a:lnSpc>
              <a:spcBef>
                <a:spcPts val="0"/>
              </a:spcBef>
              <a:spcAft>
                <a:spcPts val="0"/>
              </a:spcAft>
              <a:buSzPts val="1900"/>
              <a:buAutoNum type="arabicPeriod"/>
            </a:pPr>
            <a:r>
              <a:rPr lang="en-US" sz="1900"/>
              <a:t>Colaboración con el cliente sobre la negociación de contratos.</a:t>
            </a:r>
            <a:endParaRPr sz="1900"/>
          </a:p>
          <a:p>
            <a:pPr indent="-349250" lvl="0" marL="457200" rtl="0" algn="l">
              <a:lnSpc>
                <a:spcPct val="115000"/>
              </a:lnSpc>
              <a:spcBef>
                <a:spcPts val="0"/>
              </a:spcBef>
              <a:spcAft>
                <a:spcPts val="0"/>
              </a:spcAft>
              <a:buSzPts val="1900"/>
              <a:buAutoNum type="arabicPeriod"/>
            </a:pPr>
            <a:r>
              <a:rPr lang="en-US" sz="1900"/>
              <a:t>Responder ante el cambio sobre seguir un plan predefinido.</a:t>
            </a:r>
            <a:endParaRPr sz="1900"/>
          </a:p>
          <a:p>
            <a:pPr indent="0" lvl="0" marL="0" rtl="0" algn="just">
              <a:lnSpc>
                <a:spcPct val="90000"/>
              </a:lnSpc>
              <a:spcBef>
                <a:spcPts val="0"/>
              </a:spcBef>
              <a:spcAft>
                <a:spcPts val="0"/>
              </a:spcAft>
              <a:buClr>
                <a:schemeClr val="dk1"/>
              </a:buClr>
              <a:buSzPts val="5040"/>
              <a:buFont typeface="Calibri"/>
              <a:buNone/>
            </a:pPr>
            <a:r>
              <a:t/>
            </a:r>
            <a:endParaRPr sz="1940"/>
          </a:p>
          <a:p>
            <a:pPr indent="0" lvl="0" marL="0" rtl="0" algn="just">
              <a:lnSpc>
                <a:spcPct val="90000"/>
              </a:lnSpc>
              <a:spcBef>
                <a:spcPts val="0"/>
              </a:spcBef>
              <a:spcAft>
                <a:spcPts val="0"/>
              </a:spcAft>
              <a:buClr>
                <a:schemeClr val="dk1"/>
              </a:buClr>
              <a:buSzPts val="5040"/>
              <a:buFont typeface="Calibri"/>
              <a:buNone/>
            </a:pPr>
            <a:r>
              <a:t/>
            </a:r>
            <a:endParaRPr sz="86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g2d2f2cfe28a_0_180"/>
          <p:cNvSpPr/>
          <p:nvPr/>
        </p:nvSpPr>
        <p:spPr>
          <a:xfrm>
            <a:off x="0" y="1"/>
            <a:ext cx="121917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1" name="Google Shape;241;g2d2f2cfe28a_0_180"/>
          <p:cNvSpPr/>
          <p:nvPr/>
        </p:nvSpPr>
        <p:spPr>
          <a:xfrm>
            <a:off x="305" y="0"/>
            <a:ext cx="121917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Calibri"/>
              <a:ea typeface="Calibri"/>
              <a:cs typeface="Calibri"/>
              <a:sym typeface="Calibri"/>
            </a:endParaRPr>
          </a:p>
        </p:txBody>
      </p:sp>
      <p:sp>
        <p:nvSpPr>
          <p:cNvPr id="242" name="Google Shape;242;g2d2f2cfe28a_0_180"/>
          <p:cNvSpPr txBox="1"/>
          <p:nvPr>
            <p:ph type="title"/>
          </p:nvPr>
        </p:nvSpPr>
        <p:spPr>
          <a:xfrm>
            <a:off x="804672" y="457200"/>
            <a:ext cx="10579500" cy="1188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000"/>
              <a:buFont typeface="Calibri"/>
              <a:buNone/>
            </a:pPr>
            <a:r>
              <a:rPr b="1" lang="en-US" sz="4000">
                <a:solidFill>
                  <a:schemeClr val="dk2"/>
                </a:solidFill>
              </a:rPr>
              <a:t>Metodologias agiles</a:t>
            </a:r>
            <a:endParaRPr sz="4000">
              <a:solidFill>
                <a:schemeClr val="dk2"/>
              </a:solidFill>
            </a:endParaRPr>
          </a:p>
        </p:txBody>
      </p:sp>
      <p:grpSp>
        <p:nvGrpSpPr>
          <p:cNvPr id="243" name="Google Shape;243;g2d2f2cfe28a_0_180"/>
          <p:cNvGrpSpPr/>
          <p:nvPr/>
        </p:nvGrpSpPr>
        <p:grpSpPr>
          <a:xfrm rot="5400000">
            <a:off x="9262371" y="134262"/>
            <a:ext cx="3142428" cy="2716829"/>
            <a:chOff x="-305" y="-4155"/>
            <a:chExt cx="2514948" cy="2174333"/>
          </a:xfrm>
        </p:grpSpPr>
        <p:sp>
          <p:nvSpPr>
            <p:cNvPr id="244" name="Google Shape;244;g2d2f2cfe28a_0_180"/>
            <p:cNvSpPr/>
            <p:nvPr/>
          </p:nvSpPr>
          <p:spPr>
            <a:xfrm>
              <a:off x="-305" y="0"/>
              <a:ext cx="2514948" cy="2170178"/>
            </a:xfrm>
            <a:custGeom>
              <a:rect b="b" l="l" r="r" t="t"/>
              <a:pathLst>
                <a:path extrusionOk="0" h="2170178" w="251494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5" name="Google Shape;245;g2d2f2cfe28a_0_180"/>
            <p:cNvSpPr/>
            <p:nvPr/>
          </p:nvSpPr>
          <p:spPr>
            <a:xfrm>
              <a:off x="-305" y="-4155"/>
              <a:ext cx="2493062" cy="1947896"/>
            </a:xfrm>
            <a:custGeom>
              <a:rect b="b" l="l" r="r" t="t"/>
              <a:pathLst>
                <a:path extrusionOk="0" h="1947896" w="2493062">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6" name="Google Shape;246;g2d2f2cfe28a_0_180"/>
            <p:cNvSpPr/>
            <p:nvPr/>
          </p:nvSpPr>
          <p:spPr>
            <a:xfrm>
              <a:off x="-305" y="0"/>
              <a:ext cx="2501089" cy="1972702"/>
            </a:xfrm>
            <a:custGeom>
              <a:rect b="b" l="l" r="r" t="t"/>
              <a:pathLst>
                <a:path extrusionOk="0" h="1972702" w="2501089">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Calibri"/>
                <a:ea typeface="Calibri"/>
                <a:cs typeface="Calibri"/>
                <a:sym typeface="Calibri"/>
              </a:endParaRPr>
            </a:p>
          </p:txBody>
        </p:sp>
        <p:sp>
          <p:nvSpPr>
            <p:cNvPr id="247" name="Google Shape;247;g2d2f2cfe28a_0_180"/>
            <p:cNvSpPr/>
            <p:nvPr/>
          </p:nvSpPr>
          <p:spPr>
            <a:xfrm>
              <a:off x="305" y="1"/>
              <a:ext cx="2491105" cy="1943661"/>
            </a:xfrm>
            <a:custGeom>
              <a:rect b="b" l="l" r="r" t="t"/>
              <a:pathLst>
                <a:path extrusionOk="0" h="1943661" w="2491105">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248" name="Google Shape;248;g2d2f2cfe28a_0_180"/>
          <p:cNvGrpSpPr/>
          <p:nvPr/>
        </p:nvGrpSpPr>
        <p:grpSpPr>
          <a:xfrm flipH="1" rot="10800000">
            <a:off x="0" y="5048048"/>
            <a:ext cx="2412031" cy="1809952"/>
            <a:chOff x="-305" y="-1"/>
            <a:chExt cx="3832880" cy="2876136"/>
          </a:xfrm>
        </p:grpSpPr>
        <p:sp>
          <p:nvSpPr>
            <p:cNvPr id="249" name="Google Shape;249;g2d2f2cfe28a_0_180"/>
            <p:cNvSpPr/>
            <p:nvPr/>
          </p:nvSpPr>
          <p:spPr>
            <a:xfrm>
              <a:off x="305" y="1"/>
              <a:ext cx="3815424" cy="2653659"/>
            </a:xfrm>
            <a:custGeom>
              <a:rect b="b" l="l" r="r" t="t"/>
              <a:pathLst>
                <a:path extrusionOk="0" h="2653659" w="3815424">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0" name="Google Shape;250;g2d2f2cfe28a_0_180"/>
            <p:cNvSpPr/>
            <p:nvPr/>
          </p:nvSpPr>
          <p:spPr>
            <a:xfrm>
              <a:off x="305" y="-1"/>
              <a:ext cx="3815424" cy="2653660"/>
            </a:xfrm>
            <a:custGeom>
              <a:rect b="b" l="l" r="r" t="t"/>
              <a:pathLst>
                <a:path extrusionOk="0" h="2653660" w="3815424">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1" name="Google Shape;251;g2d2f2cfe28a_0_180"/>
            <p:cNvSpPr/>
            <p:nvPr/>
          </p:nvSpPr>
          <p:spPr>
            <a:xfrm>
              <a:off x="-305" y="1"/>
              <a:ext cx="3815986" cy="2675935"/>
            </a:xfrm>
            <a:custGeom>
              <a:rect b="b" l="l" r="r" t="t"/>
              <a:pathLst>
                <a:path extrusionOk="0" h="2675935" w="3815986">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2" name="Google Shape;252;g2d2f2cfe28a_0_180"/>
            <p:cNvSpPr/>
            <p:nvPr/>
          </p:nvSpPr>
          <p:spPr>
            <a:xfrm>
              <a:off x="305" y="-1"/>
              <a:ext cx="3832270" cy="2876136"/>
            </a:xfrm>
            <a:custGeom>
              <a:rect b="b" l="l" r="r" t="t"/>
              <a:pathLst>
                <a:path extrusionOk="0" h="2876136" w="3832270">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253" name="Google Shape;253;g2d2f2cfe28a_0_180"/>
          <p:cNvGrpSpPr/>
          <p:nvPr/>
        </p:nvGrpSpPr>
        <p:grpSpPr>
          <a:xfrm>
            <a:off x="1039284" y="2797938"/>
            <a:ext cx="10113470" cy="1411212"/>
            <a:chOff x="2964" y="254305"/>
            <a:chExt cx="10113470" cy="1411212"/>
          </a:xfrm>
        </p:grpSpPr>
        <p:sp>
          <p:nvSpPr>
            <p:cNvPr id="254" name="Google Shape;254;g2d2f2cfe28a_0_180"/>
            <p:cNvSpPr/>
            <p:nvPr/>
          </p:nvSpPr>
          <p:spPr>
            <a:xfrm>
              <a:off x="2964" y="254305"/>
              <a:ext cx="2352000" cy="1411200"/>
            </a:xfrm>
            <a:prstGeom prst="rect">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g2d2f2cfe28a_0_180"/>
            <p:cNvSpPr txBox="1"/>
            <p:nvPr/>
          </p:nvSpPr>
          <p:spPr>
            <a:xfrm>
              <a:off x="2964" y="254305"/>
              <a:ext cx="2352000" cy="14112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Scrum</a:t>
              </a:r>
              <a:endParaRPr b="0" i="0" sz="2800" u="none" cap="none" strike="noStrike">
                <a:solidFill>
                  <a:schemeClr val="lt1"/>
                </a:solidFill>
                <a:latin typeface="Calibri"/>
                <a:ea typeface="Calibri"/>
                <a:cs typeface="Calibri"/>
                <a:sym typeface="Calibri"/>
              </a:endParaRPr>
            </a:p>
          </p:txBody>
        </p:sp>
        <p:sp>
          <p:nvSpPr>
            <p:cNvPr id="256" name="Google Shape;256;g2d2f2cfe28a_0_180"/>
            <p:cNvSpPr/>
            <p:nvPr/>
          </p:nvSpPr>
          <p:spPr>
            <a:xfrm>
              <a:off x="2590121" y="254305"/>
              <a:ext cx="2352000" cy="1411200"/>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g2d2f2cfe28a_0_180"/>
            <p:cNvSpPr txBox="1"/>
            <p:nvPr/>
          </p:nvSpPr>
          <p:spPr>
            <a:xfrm>
              <a:off x="2590121" y="254305"/>
              <a:ext cx="2352000" cy="14112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600" u="none" cap="none" strike="noStrike">
                  <a:solidFill>
                    <a:schemeClr val="lt1"/>
                  </a:solidFill>
                  <a:latin typeface="Calibri"/>
                  <a:ea typeface="Calibri"/>
                  <a:cs typeface="Calibri"/>
                  <a:sym typeface="Calibri"/>
                </a:rPr>
                <a:t>Kanban</a:t>
              </a:r>
              <a:endParaRPr b="0" i="0" sz="2600" u="none" cap="none" strike="noStrike">
                <a:solidFill>
                  <a:schemeClr val="lt1"/>
                </a:solidFill>
                <a:latin typeface="Calibri"/>
                <a:ea typeface="Calibri"/>
                <a:cs typeface="Calibri"/>
                <a:sym typeface="Calibri"/>
              </a:endParaRPr>
            </a:p>
          </p:txBody>
        </p:sp>
        <p:sp>
          <p:nvSpPr>
            <p:cNvPr id="258" name="Google Shape;258;g2d2f2cfe28a_0_180"/>
            <p:cNvSpPr/>
            <p:nvPr/>
          </p:nvSpPr>
          <p:spPr>
            <a:xfrm>
              <a:off x="5177278" y="254305"/>
              <a:ext cx="2352000" cy="1411200"/>
            </a:xfrm>
            <a:prstGeom prst="rect">
              <a:avLst/>
            </a:prstGeom>
            <a:solidFill>
              <a:schemeClr val="accent4"/>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g2d2f2cfe28a_0_180"/>
            <p:cNvSpPr txBox="1"/>
            <p:nvPr/>
          </p:nvSpPr>
          <p:spPr>
            <a:xfrm>
              <a:off x="5114542" y="254317"/>
              <a:ext cx="2474700" cy="14112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Extreme Programming (XP)</a:t>
              </a:r>
              <a:endParaRPr b="0" i="0" sz="2800" u="none" cap="none" strike="noStrike">
                <a:solidFill>
                  <a:schemeClr val="lt1"/>
                </a:solidFill>
                <a:latin typeface="Calibri"/>
                <a:ea typeface="Calibri"/>
                <a:cs typeface="Calibri"/>
                <a:sym typeface="Calibri"/>
              </a:endParaRPr>
            </a:p>
          </p:txBody>
        </p:sp>
        <p:sp>
          <p:nvSpPr>
            <p:cNvPr id="260" name="Google Shape;260;g2d2f2cfe28a_0_180"/>
            <p:cNvSpPr/>
            <p:nvPr/>
          </p:nvSpPr>
          <p:spPr>
            <a:xfrm>
              <a:off x="7764434" y="254305"/>
              <a:ext cx="2352000" cy="1411200"/>
            </a:xfrm>
            <a:prstGeom prst="rect">
              <a:avLst/>
            </a:prstGeom>
            <a:solidFill>
              <a:srgbClr val="599BD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g2d2f2cfe28a_0_180"/>
            <p:cNvSpPr txBox="1"/>
            <p:nvPr/>
          </p:nvSpPr>
          <p:spPr>
            <a:xfrm>
              <a:off x="7764434" y="254305"/>
              <a:ext cx="2352000" cy="14112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200" u="none" cap="none" strike="noStrike">
                  <a:solidFill>
                    <a:schemeClr val="lt1"/>
                  </a:solidFill>
                  <a:latin typeface="Calibri"/>
                  <a:ea typeface="Calibri"/>
                  <a:cs typeface="Calibri"/>
                  <a:sym typeface="Calibri"/>
                </a:rPr>
                <a:t>Lean Development</a:t>
              </a:r>
              <a:endParaRPr b="0" i="0" sz="2200" u="none" cap="none" strike="noStrike">
                <a:solidFill>
                  <a:schemeClr val="lt1"/>
                </a:solidFill>
                <a:latin typeface="Calibri"/>
                <a:ea typeface="Calibri"/>
                <a:cs typeface="Calibri"/>
                <a:sym typeface="Calibri"/>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6" name="Shape 266"/>
        <p:cNvGrpSpPr/>
        <p:nvPr/>
      </p:nvGrpSpPr>
      <p:grpSpPr>
        <a:xfrm>
          <a:off x="0" y="0"/>
          <a:ext cx="0" cy="0"/>
          <a:chOff x="0" y="0"/>
          <a:chExt cx="0" cy="0"/>
        </a:xfrm>
      </p:grpSpPr>
      <p:sp>
        <p:nvSpPr>
          <p:cNvPr id="267" name="Google Shape;267;g2d2f2cfe28a_0_40"/>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8" name="Google Shape;268;g2d2f2cfe28a_0_40"/>
          <p:cNvSpPr txBox="1"/>
          <p:nvPr>
            <p:ph type="title"/>
          </p:nvPr>
        </p:nvSpPr>
        <p:spPr>
          <a:xfrm>
            <a:off x="640080" y="329184"/>
            <a:ext cx="6894600" cy="1783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Continuous Development</a:t>
            </a:r>
            <a:endParaRPr/>
          </a:p>
        </p:txBody>
      </p:sp>
      <p:sp>
        <p:nvSpPr>
          <p:cNvPr id="269" name="Google Shape;269;g2d2f2cfe28a_0_40"/>
          <p:cNvSpPr/>
          <p:nvPr/>
        </p:nvSpPr>
        <p:spPr>
          <a:xfrm>
            <a:off x="758952" y="2395728"/>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0" name="Google Shape;270;g2d2f2cfe28a_0_40"/>
          <p:cNvSpPr txBox="1"/>
          <p:nvPr>
            <p:ph idx="1" type="body"/>
          </p:nvPr>
        </p:nvSpPr>
        <p:spPr>
          <a:xfrm>
            <a:off x="640080" y="2706624"/>
            <a:ext cx="6894600" cy="3483900"/>
          </a:xfrm>
          <a:prstGeom prst="rect">
            <a:avLst/>
          </a:prstGeom>
          <a:noFill/>
          <a:ln>
            <a:noFill/>
          </a:ln>
        </p:spPr>
        <p:txBody>
          <a:bodyPr anchorCtr="0" anchor="t" bIns="45700" lIns="91425" spcFirstLastPara="1" rIns="91425" wrap="square" tIns="45700">
            <a:normAutofit fontScale="85000" lnSpcReduction="20000"/>
          </a:bodyPr>
          <a:lstStyle/>
          <a:p>
            <a:pPr indent="-207645" lvl="0" marL="228600" rtl="0" algn="l">
              <a:lnSpc>
                <a:spcPct val="90000"/>
              </a:lnSpc>
              <a:spcBef>
                <a:spcPts val="0"/>
              </a:spcBef>
              <a:spcAft>
                <a:spcPts val="0"/>
              </a:spcAft>
              <a:buClr>
                <a:schemeClr val="dk1"/>
              </a:buClr>
              <a:buSzPct val="78571"/>
              <a:buChar char="•"/>
            </a:pPr>
            <a:r>
              <a:rPr lang="en-US"/>
              <a:t>Es una práctica en el ámbito del desarrollo de software que implica la entrega y mejora constante de un producto o aplicación mediante la implementación de procesos automatizados y metodologías ágiles. El concepto incluye varias etapas clave dentro de un ciclo de vida de desarrollo ágil, que permiten a los equipos entregar cambios, nuevas funcionalidades o correcciones de errores de manera frecuente y sin interrupciones.</a:t>
            </a:r>
            <a:endParaRPr/>
          </a:p>
          <a:p>
            <a:pPr indent="0" lvl="0" marL="457200" rtl="0" algn="l">
              <a:lnSpc>
                <a:spcPct val="90000"/>
              </a:lnSpc>
              <a:spcBef>
                <a:spcPts val="1000"/>
              </a:spcBef>
              <a:spcAft>
                <a:spcPts val="0"/>
              </a:spcAft>
              <a:buSzPct val="75630"/>
              <a:buNone/>
            </a:pPr>
            <a:r>
              <a:t/>
            </a:r>
            <a:endParaRPr/>
          </a:p>
          <a:p>
            <a:pPr indent="0" lvl="0" marL="457200" rtl="0" algn="l">
              <a:lnSpc>
                <a:spcPct val="90000"/>
              </a:lnSpc>
              <a:spcBef>
                <a:spcPts val="1000"/>
              </a:spcBef>
              <a:spcAft>
                <a:spcPts val="0"/>
              </a:spcAft>
              <a:buSzPct val="64285"/>
              <a:buNone/>
            </a:pPr>
            <a:r>
              <a:t/>
            </a:r>
            <a:endParaRPr/>
          </a:p>
          <a:p>
            <a:pPr indent="0" lvl="0" marL="0" rtl="0" algn="l">
              <a:lnSpc>
                <a:spcPct val="90000"/>
              </a:lnSpc>
              <a:spcBef>
                <a:spcPts val="1000"/>
              </a:spcBef>
              <a:spcAft>
                <a:spcPts val="0"/>
              </a:spcAft>
              <a:buClr>
                <a:schemeClr val="dk1"/>
              </a:buClr>
              <a:buSzPct val="100000"/>
              <a:buNone/>
            </a:pPr>
            <a:r>
              <a:t/>
            </a:r>
            <a:endParaRPr sz="22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4" name="Shape 274"/>
        <p:cNvGrpSpPr/>
        <p:nvPr/>
      </p:nvGrpSpPr>
      <p:grpSpPr>
        <a:xfrm>
          <a:off x="0" y="0"/>
          <a:ext cx="0" cy="0"/>
          <a:chOff x="0" y="0"/>
          <a:chExt cx="0" cy="0"/>
        </a:xfrm>
      </p:grpSpPr>
      <p:sp>
        <p:nvSpPr>
          <p:cNvPr id="275" name="Google Shape;275;p7"/>
          <p:cNvSpPr/>
          <p:nvPr/>
        </p:nvSpPr>
        <p:spPr>
          <a:xfrm>
            <a:off x="-30575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6" name="Google Shape;276;p7"/>
          <p:cNvSpPr/>
          <p:nvPr>
            <p:ph type="title"/>
          </p:nvPr>
        </p:nvSpPr>
        <p:spPr>
          <a:xfrm>
            <a:off x="316700" y="639200"/>
            <a:ext cx="6552300" cy="3641700"/>
          </a:xfrm>
          <a:prstGeom prst="ellipse">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600"/>
              <a:buFont typeface="Calibri"/>
              <a:buNone/>
            </a:pPr>
            <a:r>
              <a:rPr lang="en-US" sz="5600"/>
              <a:t>Caracteristicas </a:t>
            </a:r>
            <a:endParaRPr sz="5600"/>
          </a:p>
          <a:p>
            <a:pPr indent="0" lvl="0" marL="0" rtl="0" algn="l">
              <a:lnSpc>
                <a:spcPct val="90000"/>
              </a:lnSpc>
              <a:spcBef>
                <a:spcPts val="0"/>
              </a:spcBef>
              <a:spcAft>
                <a:spcPts val="0"/>
              </a:spcAft>
              <a:buClr>
                <a:schemeClr val="dk1"/>
              </a:buClr>
              <a:buSzPts val="5600"/>
              <a:buFont typeface="Calibri"/>
              <a:buNone/>
            </a:pPr>
            <a:r>
              <a:rPr lang="en-US" sz="5600"/>
              <a:t>Principales</a:t>
            </a:r>
            <a:endParaRPr sz="5600"/>
          </a:p>
        </p:txBody>
      </p:sp>
      <p:sp>
        <p:nvSpPr>
          <p:cNvPr id="277" name="Google Shape;277;p7"/>
          <p:cNvSpPr/>
          <p:nvPr/>
        </p:nvSpPr>
        <p:spPr>
          <a:xfrm>
            <a:off x="643278" y="4409267"/>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8" name="Google Shape;278;p7"/>
          <p:cNvSpPr txBox="1"/>
          <p:nvPr/>
        </p:nvSpPr>
        <p:spPr>
          <a:xfrm>
            <a:off x="6967200" y="1474250"/>
            <a:ext cx="4433700" cy="23397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Integracion Continua</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Entrega Continua</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Despliegue Continuo</a:t>
            </a:r>
            <a:endParaRPr b="0" i="0" sz="2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3" name="Shape 283"/>
        <p:cNvGrpSpPr/>
        <p:nvPr/>
      </p:nvGrpSpPr>
      <p:grpSpPr>
        <a:xfrm>
          <a:off x="0" y="0"/>
          <a:ext cx="0" cy="0"/>
          <a:chOff x="0" y="0"/>
          <a:chExt cx="0" cy="0"/>
        </a:xfrm>
      </p:grpSpPr>
      <p:sp>
        <p:nvSpPr>
          <p:cNvPr id="284" name="Google Shape;284;g48584de576676619_13"/>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5" name="Google Shape;285;g48584de576676619_13"/>
          <p:cNvSpPr txBox="1"/>
          <p:nvPr>
            <p:ph type="title"/>
          </p:nvPr>
        </p:nvSpPr>
        <p:spPr>
          <a:xfrm>
            <a:off x="640080" y="329184"/>
            <a:ext cx="6894600" cy="1783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Integracion Continua(CI)</a:t>
            </a:r>
            <a:endParaRPr/>
          </a:p>
        </p:txBody>
      </p:sp>
      <p:sp>
        <p:nvSpPr>
          <p:cNvPr id="286" name="Google Shape;286;g48584de576676619_13"/>
          <p:cNvSpPr/>
          <p:nvPr/>
        </p:nvSpPr>
        <p:spPr>
          <a:xfrm>
            <a:off x="758952" y="2395728"/>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7" name="Google Shape;287;g48584de576676619_13"/>
          <p:cNvSpPr txBox="1"/>
          <p:nvPr>
            <p:ph idx="1" type="body"/>
          </p:nvPr>
        </p:nvSpPr>
        <p:spPr>
          <a:xfrm>
            <a:off x="640080" y="2706624"/>
            <a:ext cx="6894600" cy="3483900"/>
          </a:xfrm>
          <a:prstGeom prst="rect">
            <a:avLst/>
          </a:prstGeom>
          <a:noFill/>
          <a:ln>
            <a:noFill/>
          </a:ln>
        </p:spPr>
        <p:txBody>
          <a:bodyPr anchorCtr="0" anchor="t" bIns="45700" lIns="91425" spcFirstLastPara="1" rIns="91425" wrap="square" tIns="45700">
            <a:normAutofit fontScale="70000" lnSpcReduction="10000"/>
          </a:bodyPr>
          <a:lstStyle/>
          <a:p>
            <a:pPr indent="0" lvl="0" marL="0" rtl="0" algn="l">
              <a:lnSpc>
                <a:spcPct val="115000"/>
              </a:lnSpc>
              <a:spcBef>
                <a:spcPts val="1200"/>
              </a:spcBef>
              <a:spcAft>
                <a:spcPts val="0"/>
              </a:spcAft>
              <a:buSzPct val="91836"/>
              <a:buNone/>
            </a:pPr>
            <a:r>
              <a:rPr lang="en-US"/>
              <a:t>Es una práctica de desarrollo de software en la que los desarrolladores integran su código en un repositorio compartido de manera frecuente, generalmente varias veces al día. Cada integración se verifica mediante la ejecución automática de pruebas (unitarias, de integración, etc.) para identificar errores o conflictos lo antes posible. El objetivo de la CI es detectar problemas rápidamente, reducir el tiempo de integración de código y mejorar la calidad del software.</a:t>
            </a:r>
            <a:endParaRPr/>
          </a:p>
          <a:p>
            <a:pPr indent="0" lvl="0" marL="457200" rtl="0" algn="l">
              <a:lnSpc>
                <a:spcPct val="90000"/>
              </a:lnSpc>
              <a:spcBef>
                <a:spcPts val="1200"/>
              </a:spcBef>
              <a:spcAft>
                <a:spcPts val="0"/>
              </a:spcAft>
              <a:buSzPct val="64285"/>
              <a:buNone/>
            </a:pPr>
            <a:r>
              <a:t/>
            </a:r>
            <a:endParaRPr/>
          </a:p>
          <a:p>
            <a:pPr indent="0" lvl="0" marL="0" rtl="0" algn="l">
              <a:lnSpc>
                <a:spcPct val="90000"/>
              </a:lnSpc>
              <a:spcBef>
                <a:spcPts val="1000"/>
              </a:spcBef>
              <a:spcAft>
                <a:spcPts val="0"/>
              </a:spcAft>
              <a:buClr>
                <a:schemeClr val="dk1"/>
              </a:buClr>
              <a:buSzPct val="100000"/>
              <a:buNone/>
            </a:pPr>
            <a:r>
              <a:t/>
            </a:r>
            <a:endParaRPr sz="2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1" name="Shape 291"/>
        <p:cNvGrpSpPr/>
        <p:nvPr/>
      </p:nvGrpSpPr>
      <p:grpSpPr>
        <a:xfrm>
          <a:off x="0" y="0"/>
          <a:ext cx="0" cy="0"/>
          <a:chOff x="0" y="0"/>
          <a:chExt cx="0" cy="0"/>
        </a:xfrm>
      </p:grpSpPr>
      <p:sp>
        <p:nvSpPr>
          <p:cNvPr id="292" name="Google Shape;292;p8"/>
          <p:cNvSpPr/>
          <p:nvPr/>
        </p:nvSpPr>
        <p:spPr>
          <a:xfrm>
            <a:off x="0" y="1"/>
            <a:ext cx="12191695"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3" name="Google Shape;293;p8"/>
          <p:cNvSpPr/>
          <p:nvPr/>
        </p:nvSpPr>
        <p:spPr>
          <a:xfrm>
            <a:off x="305" y="0"/>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Calibri"/>
              <a:ea typeface="Calibri"/>
              <a:cs typeface="Calibri"/>
              <a:sym typeface="Calibri"/>
            </a:endParaRPr>
          </a:p>
        </p:txBody>
      </p:sp>
      <p:sp>
        <p:nvSpPr>
          <p:cNvPr id="294" name="Google Shape;294;p8"/>
          <p:cNvSpPr txBox="1"/>
          <p:nvPr>
            <p:ph type="title"/>
          </p:nvPr>
        </p:nvSpPr>
        <p:spPr>
          <a:xfrm>
            <a:off x="804672" y="457200"/>
            <a:ext cx="10579608" cy="1188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000"/>
              <a:buFont typeface="Calibri"/>
              <a:buNone/>
            </a:pPr>
            <a:r>
              <a:rPr b="1" lang="en-US" sz="4000">
                <a:solidFill>
                  <a:schemeClr val="dk2"/>
                </a:solidFill>
              </a:rPr>
              <a:t>Caracteristicas de CI</a:t>
            </a:r>
            <a:endParaRPr sz="4000">
              <a:solidFill>
                <a:schemeClr val="dk2"/>
              </a:solidFill>
            </a:endParaRPr>
          </a:p>
        </p:txBody>
      </p:sp>
      <p:grpSp>
        <p:nvGrpSpPr>
          <p:cNvPr id="295" name="Google Shape;295;p8"/>
          <p:cNvGrpSpPr/>
          <p:nvPr/>
        </p:nvGrpSpPr>
        <p:grpSpPr>
          <a:xfrm rot="5400000">
            <a:off x="9262397" y="134260"/>
            <a:ext cx="3142400" cy="2716805"/>
            <a:chOff x="-305" y="-4155"/>
            <a:chExt cx="2514948" cy="2174333"/>
          </a:xfrm>
        </p:grpSpPr>
        <p:sp>
          <p:nvSpPr>
            <p:cNvPr id="296" name="Google Shape;296;p8"/>
            <p:cNvSpPr/>
            <p:nvPr/>
          </p:nvSpPr>
          <p:spPr>
            <a:xfrm>
              <a:off x="-305" y="0"/>
              <a:ext cx="2514948" cy="2170178"/>
            </a:xfrm>
            <a:custGeom>
              <a:rect b="b" l="l" r="r" t="t"/>
              <a:pathLst>
                <a:path extrusionOk="0" h="2170178" w="251494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7" name="Google Shape;297;p8"/>
            <p:cNvSpPr/>
            <p:nvPr/>
          </p:nvSpPr>
          <p:spPr>
            <a:xfrm>
              <a:off x="-305" y="-4155"/>
              <a:ext cx="2493062" cy="1947896"/>
            </a:xfrm>
            <a:custGeom>
              <a:rect b="b" l="l" r="r" t="t"/>
              <a:pathLst>
                <a:path extrusionOk="0" h="1947896" w="2493062">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8" name="Google Shape;298;p8"/>
            <p:cNvSpPr/>
            <p:nvPr/>
          </p:nvSpPr>
          <p:spPr>
            <a:xfrm>
              <a:off x="-305" y="0"/>
              <a:ext cx="2501089" cy="1972702"/>
            </a:xfrm>
            <a:custGeom>
              <a:rect b="b" l="l" r="r" t="t"/>
              <a:pathLst>
                <a:path extrusionOk="0" h="1972702" w="2501089">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Calibri"/>
                <a:ea typeface="Calibri"/>
                <a:cs typeface="Calibri"/>
                <a:sym typeface="Calibri"/>
              </a:endParaRPr>
            </a:p>
          </p:txBody>
        </p:sp>
        <p:sp>
          <p:nvSpPr>
            <p:cNvPr id="299" name="Google Shape;299;p8"/>
            <p:cNvSpPr/>
            <p:nvPr/>
          </p:nvSpPr>
          <p:spPr>
            <a:xfrm>
              <a:off x="305" y="1"/>
              <a:ext cx="2491105" cy="1943661"/>
            </a:xfrm>
            <a:custGeom>
              <a:rect b="b" l="l" r="r" t="t"/>
              <a:pathLst>
                <a:path extrusionOk="0" h="1943661" w="2491105">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300" name="Google Shape;300;p8"/>
          <p:cNvGrpSpPr/>
          <p:nvPr/>
        </p:nvGrpSpPr>
        <p:grpSpPr>
          <a:xfrm flipH="1" rot="10800000">
            <a:off x="0" y="5047906"/>
            <a:ext cx="2412221" cy="1810094"/>
            <a:chOff x="-305" y="-1"/>
            <a:chExt cx="3832880" cy="2876136"/>
          </a:xfrm>
        </p:grpSpPr>
        <p:sp>
          <p:nvSpPr>
            <p:cNvPr id="301" name="Google Shape;301;p8"/>
            <p:cNvSpPr/>
            <p:nvPr/>
          </p:nvSpPr>
          <p:spPr>
            <a:xfrm>
              <a:off x="305" y="1"/>
              <a:ext cx="3815424" cy="2653659"/>
            </a:xfrm>
            <a:custGeom>
              <a:rect b="b" l="l" r="r" t="t"/>
              <a:pathLst>
                <a:path extrusionOk="0" h="2653659" w="3815424">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2" name="Google Shape;302;p8"/>
            <p:cNvSpPr/>
            <p:nvPr/>
          </p:nvSpPr>
          <p:spPr>
            <a:xfrm>
              <a:off x="305" y="-1"/>
              <a:ext cx="3815424" cy="2653660"/>
            </a:xfrm>
            <a:custGeom>
              <a:rect b="b" l="l" r="r" t="t"/>
              <a:pathLst>
                <a:path extrusionOk="0" h="2653660" w="3815424">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3" name="Google Shape;303;p8"/>
            <p:cNvSpPr/>
            <p:nvPr/>
          </p:nvSpPr>
          <p:spPr>
            <a:xfrm>
              <a:off x="-305" y="1"/>
              <a:ext cx="3815986" cy="2675935"/>
            </a:xfrm>
            <a:custGeom>
              <a:rect b="b" l="l" r="r" t="t"/>
              <a:pathLst>
                <a:path extrusionOk="0" h="2675935" w="3815986">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4" name="Google Shape;304;p8"/>
            <p:cNvSpPr/>
            <p:nvPr/>
          </p:nvSpPr>
          <p:spPr>
            <a:xfrm>
              <a:off x="305" y="-1"/>
              <a:ext cx="3832270" cy="2876136"/>
            </a:xfrm>
            <a:custGeom>
              <a:rect b="b" l="l" r="r" t="t"/>
              <a:pathLst>
                <a:path extrusionOk="0" h="2876136" w="3832270">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305" name="Google Shape;305;p8"/>
          <p:cNvGrpSpPr/>
          <p:nvPr/>
        </p:nvGrpSpPr>
        <p:grpSpPr>
          <a:xfrm>
            <a:off x="1039284" y="2797938"/>
            <a:ext cx="10113470" cy="1411212"/>
            <a:chOff x="2964" y="254305"/>
            <a:chExt cx="10113470" cy="1411212"/>
          </a:xfrm>
        </p:grpSpPr>
        <p:sp>
          <p:nvSpPr>
            <p:cNvPr id="306" name="Google Shape;306;p8"/>
            <p:cNvSpPr/>
            <p:nvPr/>
          </p:nvSpPr>
          <p:spPr>
            <a:xfrm>
              <a:off x="2964" y="254305"/>
              <a:ext cx="2352000" cy="1411200"/>
            </a:xfrm>
            <a:prstGeom prst="rect">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8"/>
            <p:cNvSpPr txBox="1"/>
            <p:nvPr/>
          </p:nvSpPr>
          <p:spPr>
            <a:xfrm>
              <a:off x="2964" y="254305"/>
              <a:ext cx="2352000" cy="14112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Integración frecuente</a:t>
              </a:r>
              <a:endParaRPr b="0" i="0" sz="2800" u="none" cap="none" strike="noStrike">
                <a:solidFill>
                  <a:schemeClr val="lt1"/>
                </a:solidFill>
                <a:latin typeface="Calibri"/>
                <a:ea typeface="Calibri"/>
                <a:cs typeface="Calibri"/>
                <a:sym typeface="Calibri"/>
              </a:endParaRPr>
            </a:p>
          </p:txBody>
        </p:sp>
        <p:sp>
          <p:nvSpPr>
            <p:cNvPr id="308" name="Google Shape;308;p8"/>
            <p:cNvSpPr/>
            <p:nvPr/>
          </p:nvSpPr>
          <p:spPr>
            <a:xfrm>
              <a:off x="2590121" y="254305"/>
              <a:ext cx="2352000" cy="1411200"/>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8"/>
            <p:cNvSpPr txBox="1"/>
            <p:nvPr/>
          </p:nvSpPr>
          <p:spPr>
            <a:xfrm>
              <a:off x="2590121" y="254305"/>
              <a:ext cx="2352000" cy="14112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600" u="none" cap="none" strike="noStrike">
                  <a:solidFill>
                    <a:schemeClr val="lt1"/>
                  </a:solidFill>
                  <a:latin typeface="Calibri"/>
                  <a:ea typeface="Calibri"/>
                  <a:cs typeface="Calibri"/>
                  <a:sym typeface="Calibri"/>
                </a:rPr>
                <a:t>Automatización de pruebas</a:t>
              </a:r>
              <a:endParaRPr b="0" i="0" sz="2600" u="none" cap="none" strike="noStrike">
                <a:solidFill>
                  <a:schemeClr val="lt1"/>
                </a:solidFill>
                <a:latin typeface="Calibri"/>
                <a:ea typeface="Calibri"/>
                <a:cs typeface="Calibri"/>
                <a:sym typeface="Calibri"/>
              </a:endParaRPr>
            </a:p>
          </p:txBody>
        </p:sp>
        <p:sp>
          <p:nvSpPr>
            <p:cNvPr id="310" name="Google Shape;310;p8"/>
            <p:cNvSpPr/>
            <p:nvPr/>
          </p:nvSpPr>
          <p:spPr>
            <a:xfrm>
              <a:off x="5177278" y="254305"/>
              <a:ext cx="2352000" cy="1411200"/>
            </a:xfrm>
            <a:prstGeom prst="rect">
              <a:avLst/>
            </a:prstGeom>
            <a:solidFill>
              <a:schemeClr val="accent4"/>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8"/>
            <p:cNvSpPr txBox="1"/>
            <p:nvPr/>
          </p:nvSpPr>
          <p:spPr>
            <a:xfrm>
              <a:off x="5114542" y="254317"/>
              <a:ext cx="2474700" cy="14112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Compilación automática</a:t>
              </a:r>
              <a:endParaRPr b="0" i="0" sz="2800" u="none" cap="none" strike="noStrike">
                <a:solidFill>
                  <a:schemeClr val="lt1"/>
                </a:solidFill>
                <a:latin typeface="Calibri"/>
                <a:ea typeface="Calibri"/>
                <a:cs typeface="Calibri"/>
                <a:sym typeface="Calibri"/>
              </a:endParaRPr>
            </a:p>
          </p:txBody>
        </p:sp>
        <p:sp>
          <p:nvSpPr>
            <p:cNvPr id="312" name="Google Shape;312;p8"/>
            <p:cNvSpPr/>
            <p:nvPr/>
          </p:nvSpPr>
          <p:spPr>
            <a:xfrm>
              <a:off x="7764434" y="254305"/>
              <a:ext cx="2352000" cy="1411200"/>
            </a:xfrm>
            <a:prstGeom prst="rect">
              <a:avLst/>
            </a:prstGeom>
            <a:solidFill>
              <a:srgbClr val="599BD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8"/>
            <p:cNvSpPr txBox="1"/>
            <p:nvPr/>
          </p:nvSpPr>
          <p:spPr>
            <a:xfrm>
              <a:off x="7764434" y="254305"/>
              <a:ext cx="2352000" cy="14112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200" u="none" cap="none" strike="noStrike">
                  <a:solidFill>
                    <a:schemeClr val="lt1"/>
                  </a:solidFill>
                  <a:latin typeface="Calibri"/>
                  <a:ea typeface="Calibri"/>
                  <a:cs typeface="Calibri"/>
                  <a:sym typeface="Calibri"/>
                </a:rPr>
                <a:t>Rápida retroalimentación</a:t>
              </a:r>
              <a:endParaRPr b="0" i="0" sz="2200" u="none" cap="none" strike="noStrike">
                <a:solidFill>
                  <a:schemeClr val="lt1"/>
                </a:solidFill>
                <a:latin typeface="Calibri"/>
                <a:ea typeface="Calibri"/>
                <a:cs typeface="Calibri"/>
                <a:sym typeface="Calibri"/>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8" name="Shape 318"/>
        <p:cNvGrpSpPr/>
        <p:nvPr/>
      </p:nvGrpSpPr>
      <p:grpSpPr>
        <a:xfrm>
          <a:off x="0" y="0"/>
          <a:ext cx="0" cy="0"/>
          <a:chOff x="0" y="0"/>
          <a:chExt cx="0" cy="0"/>
        </a:xfrm>
      </p:grpSpPr>
      <p:sp>
        <p:nvSpPr>
          <p:cNvPr id="319" name="Google Shape;319;g2d2f2cfe28a_0_206"/>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0" name="Google Shape;320;g2d2f2cfe28a_0_206"/>
          <p:cNvSpPr txBox="1"/>
          <p:nvPr>
            <p:ph type="title"/>
          </p:nvPr>
        </p:nvSpPr>
        <p:spPr>
          <a:xfrm>
            <a:off x="640080" y="329184"/>
            <a:ext cx="6894600" cy="1783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Entrega continua (CD)</a:t>
            </a:r>
            <a:endParaRPr/>
          </a:p>
        </p:txBody>
      </p:sp>
      <p:sp>
        <p:nvSpPr>
          <p:cNvPr id="321" name="Google Shape;321;g2d2f2cfe28a_0_206"/>
          <p:cNvSpPr/>
          <p:nvPr/>
        </p:nvSpPr>
        <p:spPr>
          <a:xfrm>
            <a:off x="758952" y="2395728"/>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2" name="Google Shape;322;g2d2f2cfe28a_0_206"/>
          <p:cNvSpPr txBox="1"/>
          <p:nvPr>
            <p:ph idx="1" type="body"/>
          </p:nvPr>
        </p:nvSpPr>
        <p:spPr>
          <a:xfrm>
            <a:off x="640080" y="2706624"/>
            <a:ext cx="6894600" cy="3483900"/>
          </a:xfrm>
          <a:prstGeom prst="rect">
            <a:avLst/>
          </a:prstGeom>
          <a:noFill/>
          <a:ln>
            <a:noFill/>
          </a:ln>
        </p:spPr>
        <p:txBody>
          <a:bodyPr anchorCtr="0" anchor="t" bIns="45700" lIns="91425" spcFirstLastPara="1" rIns="91425" wrap="square" tIns="45700">
            <a:normAutofit fontScale="77500" lnSpcReduction="20000"/>
          </a:bodyPr>
          <a:lstStyle/>
          <a:p>
            <a:pPr indent="-197168" lvl="0" marL="228600" rtl="0" algn="l">
              <a:lnSpc>
                <a:spcPct val="90000"/>
              </a:lnSpc>
              <a:spcBef>
                <a:spcPts val="0"/>
              </a:spcBef>
              <a:spcAft>
                <a:spcPts val="0"/>
              </a:spcAft>
              <a:buClr>
                <a:schemeClr val="dk1"/>
              </a:buClr>
              <a:buSzPct val="78571"/>
              <a:buChar char="•"/>
            </a:pPr>
            <a:r>
              <a:rPr lang="en-US"/>
              <a:t>Es una práctica de desarrollo de software que automatiza el proceso de preparar el código para que esté listo para ser desplegado en producción en cualquier momento. En la entrega continua, cada cambio en el código pasa por un proceso automatizado de compilación, pruebas y preparación para el despliegue, de manera que siempre se cuenta con una versión funcional y probada del software que puede ser entregada rápidamente al usuario final si se decide hacerlo.</a:t>
            </a:r>
            <a:endParaRPr/>
          </a:p>
          <a:p>
            <a:pPr indent="0" lvl="0" marL="457200" rtl="0" algn="l">
              <a:lnSpc>
                <a:spcPct val="90000"/>
              </a:lnSpc>
              <a:spcBef>
                <a:spcPts val="1000"/>
              </a:spcBef>
              <a:spcAft>
                <a:spcPts val="0"/>
              </a:spcAft>
              <a:buSzPct val="75630"/>
              <a:buNone/>
            </a:pPr>
            <a:r>
              <a:t/>
            </a:r>
            <a:endParaRPr/>
          </a:p>
          <a:p>
            <a:pPr indent="0" lvl="0" marL="457200" rtl="0" algn="l">
              <a:lnSpc>
                <a:spcPct val="90000"/>
              </a:lnSpc>
              <a:spcBef>
                <a:spcPts val="1000"/>
              </a:spcBef>
              <a:spcAft>
                <a:spcPts val="0"/>
              </a:spcAft>
              <a:buSzPct val="64285"/>
              <a:buNone/>
            </a:pPr>
            <a:r>
              <a:t/>
            </a:r>
            <a:endParaRPr/>
          </a:p>
          <a:p>
            <a:pPr indent="0" lvl="0" marL="0" rtl="0" algn="l">
              <a:lnSpc>
                <a:spcPct val="90000"/>
              </a:lnSpc>
              <a:spcBef>
                <a:spcPts val="1000"/>
              </a:spcBef>
              <a:spcAft>
                <a:spcPts val="0"/>
              </a:spcAft>
              <a:buClr>
                <a:schemeClr val="dk1"/>
              </a:buClr>
              <a:buSzPct val="100000"/>
              <a:buNone/>
            </a:pPr>
            <a:r>
              <a:t/>
            </a:r>
            <a:endParaRPr sz="22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6" name="Shape 326"/>
        <p:cNvGrpSpPr/>
        <p:nvPr/>
      </p:nvGrpSpPr>
      <p:grpSpPr>
        <a:xfrm>
          <a:off x="0" y="0"/>
          <a:ext cx="0" cy="0"/>
          <a:chOff x="0" y="0"/>
          <a:chExt cx="0" cy="0"/>
        </a:xfrm>
      </p:grpSpPr>
      <p:sp>
        <p:nvSpPr>
          <p:cNvPr id="327" name="Google Shape;327;g2d2f2cfe28a_0_1"/>
          <p:cNvSpPr/>
          <p:nvPr/>
        </p:nvSpPr>
        <p:spPr>
          <a:xfrm>
            <a:off x="0" y="1"/>
            <a:ext cx="121917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8" name="Google Shape;328;g2d2f2cfe28a_0_1"/>
          <p:cNvSpPr/>
          <p:nvPr/>
        </p:nvSpPr>
        <p:spPr>
          <a:xfrm>
            <a:off x="305" y="0"/>
            <a:ext cx="121917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Calibri"/>
              <a:ea typeface="Calibri"/>
              <a:cs typeface="Calibri"/>
              <a:sym typeface="Calibri"/>
            </a:endParaRPr>
          </a:p>
        </p:txBody>
      </p:sp>
      <p:sp>
        <p:nvSpPr>
          <p:cNvPr id="329" name="Google Shape;329;g2d2f2cfe28a_0_1"/>
          <p:cNvSpPr txBox="1"/>
          <p:nvPr>
            <p:ph type="title"/>
          </p:nvPr>
        </p:nvSpPr>
        <p:spPr>
          <a:xfrm>
            <a:off x="804672" y="457200"/>
            <a:ext cx="10579500" cy="1188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000"/>
              <a:buFont typeface="Calibri"/>
              <a:buNone/>
            </a:pPr>
            <a:r>
              <a:rPr b="1" lang="en-US" sz="4000">
                <a:solidFill>
                  <a:schemeClr val="dk2"/>
                </a:solidFill>
              </a:rPr>
              <a:t>Caracteristicas de CD </a:t>
            </a:r>
            <a:endParaRPr sz="4000">
              <a:solidFill>
                <a:schemeClr val="dk2"/>
              </a:solidFill>
            </a:endParaRPr>
          </a:p>
        </p:txBody>
      </p:sp>
      <p:grpSp>
        <p:nvGrpSpPr>
          <p:cNvPr id="330" name="Google Shape;330;g2d2f2cfe28a_0_1"/>
          <p:cNvGrpSpPr/>
          <p:nvPr/>
        </p:nvGrpSpPr>
        <p:grpSpPr>
          <a:xfrm rot="5400000">
            <a:off x="9262371" y="134262"/>
            <a:ext cx="3142428" cy="2716829"/>
            <a:chOff x="-305" y="-4155"/>
            <a:chExt cx="2514948" cy="2174333"/>
          </a:xfrm>
        </p:grpSpPr>
        <p:sp>
          <p:nvSpPr>
            <p:cNvPr id="331" name="Google Shape;331;g2d2f2cfe28a_0_1"/>
            <p:cNvSpPr/>
            <p:nvPr/>
          </p:nvSpPr>
          <p:spPr>
            <a:xfrm>
              <a:off x="-305" y="0"/>
              <a:ext cx="2514948" cy="2170178"/>
            </a:xfrm>
            <a:custGeom>
              <a:rect b="b" l="l" r="r" t="t"/>
              <a:pathLst>
                <a:path extrusionOk="0" h="2170178" w="251494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2" name="Google Shape;332;g2d2f2cfe28a_0_1"/>
            <p:cNvSpPr/>
            <p:nvPr/>
          </p:nvSpPr>
          <p:spPr>
            <a:xfrm>
              <a:off x="-305" y="-4155"/>
              <a:ext cx="2493062" cy="1947896"/>
            </a:xfrm>
            <a:custGeom>
              <a:rect b="b" l="l" r="r" t="t"/>
              <a:pathLst>
                <a:path extrusionOk="0" h="1947896" w="2493062">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3" name="Google Shape;333;g2d2f2cfe28a_0_1"/>
            <p:cNvSpPr/>
            <p:nvPr/>
          </p:nvSpPr>
          <p:spPr>
            <a:xfrm>
              <a:off x="-305" y="0"/>
              <a:ext cx="2501089" cy="1972702"/>
            </a:xfrm>
            <a:custGeom>
              <a:rect b="b" l="l" r="r" t="t"/>
              <a:pathLst>
                <a:path extrusionOk="0" h="1972702" w="2501089">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Calibri"/>
                <a:ea typeface="Calibri"/>
                <a:cs typeface="Calibri"/>
                <a:sym typeface="Calibri"/>
              </a:endParaRPr>
            </a:p>
          </p:txBody>
        </p:sp>
        <p:sp>
          <p:nvSpPr>
            <p:cNvPr id="334" name="Google Shape;334;g2d2f2cfe28a_0_1"/>
            <p:cNvSpPr/>
            <p:nvPr/>
          </p:nvSpPr>
          <p:spPr>
            <a:xfrm>
              <a:off x="305" y="1"/>
              <a:ext cx="2491105" cy="1943661"/>
            </a:xfrm>
            <a:custGeom>
              <a:rect b="b" l="l" r="r" t="t"/>
              <a:pathLst>
                <a:path extrusionOk="0" h="1943661" w="2491105">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335" name="Google Shape;335;g2d2f2cfe28a_0_1"/>
          <p:cNvGrpSpPr/>
          <p:nvPr/>
        </p:nvGrpSpPr>
        <p:grpSpPr>
          <a:xfrm flipH="1" rot="10800000">
            <a:off x="0" y="5048048"/>
            <a:ext cx="2412031" cy="1809952"/>
            <a:chOff x="-305" y="-1"/>
            <a:chExt cx="3832880" cy="2876136"/>
          </a:xfrm>
        </p:grpSpPr>
        <p:sp>
          <p:nvSpPr>
            <p:cNvPr id="336" name="Google Shape;336;g2d2f2cfe28a_0_1"/>
            <p:cNvSpPr/>
            <p:nvPr/>
          </p:nvSpPr>
          <p:spPr>
            <a:xfrm>
              <a:off x="305" y="1"/>
              <a:ext cx="3815424" cy="2653659"/>
            </a:xfrm>
            <a:custGeom>
              <a:rect b="b" l="l" r="r" t="t"/>
              <a:pathLst>
                <a:path extrusionOk="0" h="2653659" w="3815424">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7" name="Google Shape;337;g2d2f2cfe28a_0_1"/>
            <p:cNvSpPr/>
            <p:nvPr/>
          </p:nvSpPr>
          <p:spPr>
            <a:xfrm>
              <a:off x="305" y="-1"/>
              <a:ext cx="3815424" cy="2653660"/>
            </a:xfrm>
            <a:custGeom>
              <a:rect b="b" l="l" r="r" t="t"/>
              <a:pathLst>
                <a:path extrusionOk="0" h="2653660" w="3815424">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8" name="Google Shape;338;g2d2f2cfe28a_0_1"/>
            <p:cNvSpPr/>
            <p:nvPr/>
          </p:nvSpPr>
          <p:spPr>
            <a:xfrm>
              <a:off x="-305" y="1"/>
              <a:ext cx="3815986" cy="2675935"/>
            </a:xfrm>
            <a:custGeom>
              <a:rect b="b" l="l" r="r" t="t"/>
              <a:pathLst>
                <a:path extrusionOk="0" h="2675935" w="3815986">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9" name="Google Shape;339;g2d2f2cfe28a_0_1"/>
            <p:cNvSpPr/>
            <p:nvPr/>
          </p:nvSpPr>
          <p:spPr>
            <a:xfrm>
              <a:off x="305" y="-1"/>
              <a:ext cx="3832270" cy="2876136"/>
            </a:xfrm>
            <a:custGeom>
              <a:rect b="b" l="l" r="r" t="t"/>
              <a:pathLst>
                <a:path extrusionOk="0" h="2876136" w="3832270">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340" name="Google Shape;340;g2d2f2cfe28a_0_1"/>
          <p:cNvGrpSpPr/>
          <p:nvPr/>
        </p:nvGrpSpPr>
        <p:grpSpPr>
          <a:xfrm>
            <a:off x="1039284" y="2797938"/>
            <a:ext cx="10113470" cy="3057573"/>
            <a:chOff x="2964" y="254305"/>
            <a:chExt cx="10113470" cy="3057573"/>
          </a:xfrm>
        </p:grpSpPr>
        <p:sp>
          <p:nvSpPr>
            <p:cNvPr id="341" name="Google Shape;341;g2d2f2cfe28a_0_1"/>
            <p:cNvSpPr/>
            <p:nvPr/>
          </p:nvSpPr>
          <p:spPr>
            <a:xfrm>
              <a:off x="2964" y="254305"/>
              <a:ext cx="2352000" cy="1411200"/>
            </a:xfrm>
            <a:prstGeom prst="rect">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g2d2f2cfe28a_0_1"/>
            <p:cNvSpPr txBox="1"/>
            <p:nvPr/>
          </p:nvSpPr>
          <p:spPr>
            <a:xfrm>
              <a:off x="2964" y="254305"/>
              <a:ext cx="2352000" cy="14112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Automatización de pipelines</a:t>
              </a:r>
              <a:endParaRPr b="0" i="0" sz="2800" u="none" cap="none" strike="noStrike">
                <a:solidFill>
                  <a:schemeClr val="lt1"/>
                </a:solidFill>
                <a:latin typeface="Calibri"/>
                <a:ea typeface="Calibri"/>
                <a:cs typeface="Calibri"/>
                <a:sym typeface="Calibri"/>
              </a:endParaRPr>
            </a:p>
          </p:txBody>
        </p:sp>
        <p:sp>
          <p:nvSpPr>
            <p:cNvPr id="343" name="Google Shape;343;g2d2f2cfe28a_0_1"/>
            <p:cNvSpPr/>
            <p:nvPr/>
          </p:nvSpPr>
          <p:spPr>
            <a:xfrm>
              <a:off x="2590121" y="254305"/>
              <a:ext cx="2352000" cy="1411200"/>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g2d2f2cfe28a_0_1"/>
            <p:cNvSpPr txBox="1"/>
            <p:nvPr/>
          </p:nvSpPr>
          <p:spPr>
            <a:xfrm>
              <a:off x="2590121" y="254305"/>
              <a:ext cx="2352000" cy="14112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Preparacion constante de despliegue</a:t>
              </a:r>
              <a:endParaRPr b="0" i="0" sz="2800" u="none" cap="none" strike="noStrike">
                <a:solidFill>
                  <a:schemeClr val="lt1"/>
                </a:solidFill>
                <a:latin typeface="Calibri"/>
                <a:ea typeface="Calibri"/>
                <a:cs typeface="Calibri"/>
                <a:sym typeface="Calibri"/>
              </a:endParaRPr>
            </a:p>
          </p:txBody>
        </p:sp>
        <p:sp>
          <p:nvSpPr>
            <p:cNvPr id="345" name="Google Shape;345;g2d2f2cfe28a_0_1"/>
            <p:cNvSpPr/>
            <p:nvPr/>
          </p:nvSpPr>
          <p:spPr>
            <a:xfrm>
              <a:off x="5177278" y="254305"/>
              <a:ext cx="2352000" cy="1411200"/>
            </a:xfrm>
            <a:prstGeom prst="rect">
              <a:avLst/>
            </a:prstGeom>
            <a:solidFill>
              <a:schemeClr val="accent4"/>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g2d2f2cfe28a_0_1"/>
            <p:cNvSpPr txBox="1"/>
            <p:nvPr/>
          </p:nvSpPr>
          <p:spPr>
            <a:xfrm>
              <a:off x="5114542" y="254317"/>
              <a:ext cx="2474700" cy="14112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Reduccion de riesgos</a:t>
              </a:r>
              <a:endParaRPr b="0" i="0" sz="2800" u="none" cap="none" strike="noStrike">
                <a:solidFill>
                  <a:schemeClr val="lt1"/>
                </a:solidFill>
                <a:latin typeface="Calibri"/>
                <a:ea typeface="Calibri"/>
                <a:cs typeface="Calibri"/>
                <a:sym typeface="Calibri"/>
              </a:endParaRPr>
            </a:p>
          </p:txBody>
        </p:sp>
        <p:sp>
          <p:nvSpPr>
            <p:cNvPr id="347" name="Google Shape;347;g2d2f2cfe28a_0_1"/>
            <p:cNvSpPr/>
            <p:nvPr/>
          </p:nvSpPr>
          <p:spPr>
            <a:xfrm>
              <a:off x="7764434" y="254305"/>
              <a:ext cx="2352000" cy="1411200"/>
            </a:xfrm>
            <a:prstGeom prst="rect">
              <a:avLst/>
            </a:prstGeom>
            <a:solidFill>
              <a:srgbClr val="599BD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g2d2f2cfe28a_0_1"/>
            <p:cNvSpPr txBox="1"/>
            <p:nvPr/>
          </p:nvSpPr>
          <p:spPr>
            <a:xfrm>
              <a:off x="7764434" y="254305"/>
              <a:ext cx="2352000" cy="14112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Pruebas de software. </a:t>
              </a:r>
              <a:endParaRPr b="0" i="0" sz="2800" u="none" cap="none" strike="noStrike">
                <a:solidFill>
                  <a:schemeClr val="lt1"/>
                </a:solidFill>
                <a:latin typeface="Calibri"/>
                <a:ea typeface="Calibri"/>
                <a:cs typeface="Calibri"/>
                <a:sym typeface="Calibri"/>
              </a:endParaRPr>
            </a:p>
          </p:txBody>
        </p:sp>
        <p:sp>
          <p:nvSpPr>
            <p:cNvPr id="349" name="Google Shape;349;g2d2f2cfe28a_0_1"/>
            <p:cNvSpPr/>
            <p:nvPr/>
          </p:nvSpPr>
          <p:spPr>
            <a:xfrm>
              <a:off x="1296543" y="1900678"/>
              <a:ext cx="2352000" cy="1411200"/>
            </a:xfrm>
            <a:prstGeom prst="rect">
              <a:avLst/>
            </a:prstGeom>
            <a:solidFill>
              <a:schemeClr val="accent6"/>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g2d2f2cfe28a_0_1"/>
            <p:cNvSpPr txBox="1"/>
            <p:nvPr/>
          </p:nvSpPr>
          <p:spPr>
            <a:xfrm>
              <a:off x="1296543" y="1900678"/>
              <a:ext cx="2352000" cy="14112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Pruebas de software</a:t>
              </a:r>
              <a:endParaRPr b="0" i="0" sz="2800" u="none" cap="none" strike="noStrike">
                <a:solidFill>
                  <a:schemeClr val="lt1"/>
                </a:solidFill>
                <a:latin typeface="Calibri"/>
                <a:ea typeface="Calibri"/>
                <a:cs typeface="Calibri"/>
                <a:sym typeface="Calibri"/>
              </a:endParaRPr>
            </a:p>
          </p:txBody>
        </p:sp>
        <p:sp>
          <p:nvSpPr>
            <p:cNvPr id="351" name="Google Shape;351;g2d2f2cfe28a_0_1"/>
            <p:cNvSpPr/>
            <p:nvPr/>
          </p:nvSpPr>
          <p:spPr>
            <a:xfrm>
              <a:off x="3883699" y="1900678"/>
              <a:ext cx="2352000" cy="1411200"/>
            </a:xfrm>
            <a:prstGeom prst="rect">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g2d2f2cfe28a_0_1"/>
            <p:cNvSpPr txBox="1"/>
            <p:nvPr/>
          </p:nvSpPr>
          <p:spPr>
            <a:xfrm>
              <a:off x="3883699" y="1900678"/>
              <a:ext cx="2352000" cy="14112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Seguimiento y reporte de problemas</a:t>
              </a:r>
              <a:endParaRPr b="0" i="0" sz="2800" u="none" cap="none" strike="noStrike">
                <a:solidFill>
                  <a:schemeClr val="lt1"/>
                </a:solidFill>
                <a:latin typeface="Calibri"/>
                <a:ea typeface="Calibri"/>
                <a:cs typeface="Calibri"/>
                <a:sym typeface="Calibri"/>
              </a:endParaRPr>
            </a:p>
          </p:txBody>
        </p:sp>
        <p:sp>
          <p:nvSpPr>
            <p:cNvPr id="353" name="Google Shape;353;g2d2f2cfe28a_0_1"/>
            <p:cNvSpPr/>
            <p:nvPr/>
          </p:nvSpPr>
          <p:spPr>
            <a:xfrm>
              <a:off x="6470856" y="1900678"/>
              <a:ext cx="2352000" cy="1411200"/>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g2d2f2cfe28a_0_1"/>
            <p:cNvSpPr txBox="1"/>
            <p:nvPr/>
          </p:nvSpPr>
          <p:spPr>
            <a:xfrm>
              <a:off x="6470856" y="1900678"/>
              <a:ext cx="2352000" cy="14112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Auditorias de calidad</a:t>
              </a:r>
              <a:endParaRPr b="0" i="0" sz="2800" u="none" cap="none" strike="noStrike">
                <a:solidFill>
                  <a:schemeClr val="lt1"/>
                </a:solidFill>
                <a:latin typeface="Calibri"/>
                <a:ea typeface="Calibri"/>
                <a:cs typeface="Calibri"/>
                <a:sym typeface="Calibri"/>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9" name="Shape 359"/>
        <p:cNvGrpSpPr/>
        <p:nvPr/>
      </p:nvGrpSpPr>
      <p:grpSpPr>
        <a:xfrm>
          <a:off x="0" y="0"/>
          <a:ext cx="0" cy="0"/>
          <a:chOff x="0" y="0"/>
          <a:chExt cx="0" cy="0"/>
        </a:xfrm>
      </p:grpSpPr>
      <p:sp>
        <p:nvSpPr>
          <p:cNvPr id="360" name="Google Shape;360;g2d2f2cfe28a_0_32"/>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1" name="Google Shape;361;g2d2f2cfe28a_0_32"/>
          <p:cNvSpPr txBox="1"/>
          <p:nvPr>
            <p:ph type="title"/>
          </p:nvPr>
        </p:nvSpPr>
        <p:spPr>
          <a:xfrm>
            <a:off x="640080" y="329184"/>
            <a:ext cx="6894600" cy="1783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Despliegue Continuo(CD)</a:t>
            </a:r>
            <a:endParaRPr/>
          </a:p>
        </p:txBody>
      </p:sp>
      <p:sp>
        <p:nvSpPr>
          <p:cNvPr id="362" name="Google Shape;362;g2d2f2cfe28a_0_32"/>
          <p:cNvSpPr/>
          <p:nvPr/>
        </p:nvSpPr>
        <p:spPr>
          <a:xfrm>
            <a:off x="758952" y="2395728"/>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3" name="Google Shape;363;g2d2f2cfe28a_0_32"/>
          <p:cNvSpPr txBox="1"/>
          <p:nvPr>
            <p:ph idx="1" type="body"/>
          </p:nvPr>
        </p:nvSpPr>
        <p:spPr>
          <a:xfrm>
            <a:off x="640080" y="2706624"/>
            <a:ext cx="6894600" cy="3483900"/>
          </a:xfrm>
          <a:prstGeom prst="rect">
            <a:avLst/>
          </a:prstGeom>
          <a:noFill/>
          <a:ln>
            <a:noFill/>
          </a:ln>
        </p:spPr>
        <p:txBody>
          <a:bodyPr anchorCtr="0" anchor="t" bIns="45700" lIns="91425" spcFirstLastPara="1" rIns="91425" wrap="square" tIns="45700">
            <a:normAutofit fontScale="92500" lnSpcReduction="10000"/>
          </a:bodyPr>
          <a:lstStyle/>
          <a:p>
            <a:pPr indent="-218123" lvl="0" marL="228600" rtl="0" algn="l">
              <a:lnSpc>
                <a:spcPct val="90000"/>
              </a:lnSpc>
              <a:spcBef>
                <a:spcPts val="0"/>
              </a:spcBef>
              <a:spcAft>
                <a:spcPts val="0"/>
              </a:spcAft>
              <a:buClr>
                <a:schemeClr val="dk1"/>
              </a:buClr>
              <a:buSzPct val="116444"/>
              <a:buChar char="•"/>
            </a:pPr>
            <a:r>
              <a:rPr lang="en-US"/>
              <a:t>E</a:t>
            </a:r>
            <a:r>
              <a:rPr lang="en-US" sz="2300"/>
              <a:t>s una práctica de desarrollo de software que lleva la automatización un paso más allá de la </a:t>
            </a:r>
            <a:r>
              <a:rPr b="1" lang="en-US" sz="2300"/>
              <a:t>entrega continua</a:t>
            </a:r>
            <a:r>
              <a:rPr lang="en-US" sz="2300"/>
              <a:t>. En el despliegue continuo, cada cambio que pasa por el pipeline de integración y pruebas automatizadas se despliega automáticamente en producción sin necesidad de intervención manual. Esto significa que siempre que el código cumple con los criterios de calidad y pasa todas las pruebas, se lanza directamente a los usuarios finales.</a:t>
            </a:r>
            <a:endParaRPr sz="2300"/>
          </a:p>
          <a:p>
            <a:pPr indent="0" lvl="0" marL="457200" rtl="0" algn="l">
              <a:lnSpc>
                <a:spcPct val="90000"/>
              </a:lnSpc>
              <a:spcBef>
                <a:spcPts val="1000"/>
              </a:spcBef>
              <a:spcAft>
                <a:spcPts val="0"/>
              </a:spcAft>
              <a:buSzPct val="75630"/>
              <a:buNone/>
            </a:pPr>
            <a:r>
              <a:t/>
            </a:r>
            <a:endParaRPr/>
          </a:p>
          <a:p>
            <a:pPr indent="0" lvl="0" marL="457200" rtl="0" algn="l">
              <a:lnSpc>
                <a:spcPct val="90000"/>
              </a:lnSpc>
              <a:spcBef>
                <a:spcPts val="1000"/>
              </a:spcBef>
              <a:spcAft>
                <a:spcPts val="0"/>
              </a:spcAft>
              <a:buSzPct val="64285"/>
              <a:buNone/>
            </a:pPr>
            <a:r>
              <a:t/>
            </a:r>
            <a:endParaRPr/>
          </a:p>
          <a:p>
            <a:pPr indent="0" lvl="0" marL="0" rtl="0" algn="l">
              <a:lnSpc>
                <a:spcPct val="90000"/>
              </a:lnSpc>
              <a:spcBef>
                <a:spcPts val="1000"/>
              </a:spcBef>
              <a:spcAft>
                <a:spcPts val="0"/>
              </a:spcAft>
              <a:buClr>
                <a:schemeClr val="dk1"/>
              </a:buClr>
              <a:buSzPct val="100000"/>
              <a:buNone/>
            </a:pPr>
            <a:r>
              <a:t/>
            </a:r>
            <a:endParaRPr sz="2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7" name="Shape 367"/>
        <p:cNvGrpSpPr/>
        <p:nvPr/>
      </p:nvGrpSpPr>
      <p:grpSpPr>
        <a:xfrm>
          <a:off x="0" y="0"/>
          <a:ext cx="0" cy="0"/>
          <a:chOff x="0" y="0"/>
          <a:chExt cx="0" cy="0"/>
        </a:xfrm>
      </p:grpSpPr>
      <p:sp>
        <p:nvSpPr>
          <p:cNvPr id="368" name="Google Shape;368;p9"/>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9" name="Google Shape;369;p9"/>
          <p:cNvSpPr/>
          <p:nvPr/>
        </p:nvSpPr>
        <p:spPr>
          <a:xfrm>
            <a:off x="489189" y="1119031"/>
            <a:ext cx="4619938" cy="4619938"/>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0" name="Google Shape;370;p9"/>
          <p:cNvSpPr txBox="1"/>
          <p:nvPr>
            <p:ph type="title"/>
          </p:nvPr>
        </p:nvSpPr>
        <p:spPr>
          <a:xfrm>
            <a:off x="1171074" y="1396686"/>
            <a:ext cx="3240506" cy="406462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lang="en-US">
                <a:solidFill>
                  <a:srgbClr val="FFFFFF"/>
                </a:solidFill>
              </a:rPr>
              <a:t>Entonces Despliegue continuo y entrega continua son lo mismo…</a:t>
            </a:r>
            <a:endParaRPr>
              <a:solidFill>
                <a:srgbClr val="FFFFFF"/>
              </a:solidFill>
            </a:endParaRPr>
          </a:p>
        </p:txBody>
      </p:sp>
      <p:sp>
        <p:nvSpPr>
          <p:cNvPr id="371" name="Google Shape;371;p9"/>
          <p:cNvSpPr/>
          <p:nvPr/>
        </p:nvSpPr>
        <p:spPr>
          <a:xfrm rot="-1790889">
            <a:off x="8683720" y="941148"/>
            <a:ext cx="2987899" cy="2987899"/>
          </a:xfrm>
          <a:prstGeom prst="arc">
            <a:avLst>
              <a:gd fmla="val 15817365" name="adj1"/>
              <a:gd fmla="val 178138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2" name="Google Shape;372;p9"/>
          <p:cNvSpPr txBox="1"/>
          <p:nvPr>
            <p:ph idx="1" type="body"/>
          </p:nvPr>
        </p:nvSpPr>
        <p:spPr>
          <a:xfrm>
            <a:off x="5370153" y="1526033"/>
            <a:ext cx="5536397" cy="3935281"/>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en-US"/>
              <a:t>NO. No confundir la maizena con la magnesia.</a:t>
            </a:r>
            <a:endParaRPr/>
          </a:p>
          <a:p>
            <a:pPr indent="0" lvl="0" marL="0" rtl="0" algn="l">
              <a:lnSpc>
                <a:spcPct val="90000"/>
              </a:lnSpc>
              <a:spcBef>
                <a:spcPts val="0"/>
              </a:spcBef>
              <a:spcAft>
                <a:spcPts val="0"/>
              </a:spcAft>
              <a:buClr>
                <a:schemeClr val="dk1"/>
              </a:buClr>
              <a:buSzPct val="100000"/>
              <a:buNone/>
            </a:pPr>
            <a:r>
              <a:t/>
            </a:r>
            <a:endParaRPr/>
          </a:p>
          <a:p>
            <a:pPr indent="-334327" lvl="0" marL="457200" rtl="0" algn="l">
              <a:lnSpc>
                <a:spcPct val="115000"/>
              </a:lnSpc>
              <a:spcBef>
                <a:spcPts val="0"/>
              </a:spcBef>
              <a:spcAft>
                <a:spcPts val="0"/>
              </a:spcAft>
              <a:buSzPct val="100000"/>
              <a:buChar char="•"/>
            </a:pPr>
            <a:r>
              <a:rPr b="1" lang="en-US" sz="1800"/>
              <a:t>Entrega Continua (Continuous Delivery):</a:t>
            </a:r>
            <a:r>
              <a:rPr lang="en-US" sz="1800"/>
              <a:t> El código está listo para ser desplegado en cualquier momento, pero el despliegue en producción aún requiere una aprobación manual.</a:t>
            </a:r>
            <a:endParaRPr sz="1800"/>
          </a:p>
          <a:p>
            <a:pPr indent="-334327" lvl="0" marL="457200" rtl="0" algn="l">
              <a:lnSpc>
                <a:spcPct val="115000"/>
              </a:lnSpc>
              <a:spcBef>
                <a:spcPts val="0"/>
              </a:spcBef>
              <a:spcAft>
                <a:spcPts val="0"/>
              </a:spcAft>
              <a:buSzPct val="100000"/>
              <a:buChar char="•"/>
            </a:pPr>
            <a:r>
              <a:rPr b="1" lang="en-US" sz="1800"/>
              <a:t>Despliegue Continuo (Continuous Deployment):</a:t>
            </a:r>
            <a:r>
              <a:rPr lang="en-US" sz="1800"/>
              <a:t> El código se despliega automáticamente en producción una vez que ha pasado todas las pruebas y validaciones, sin necesidad de intervención manual.</a:t>
            </a:r>
            <a:endParaRPr sz="1800"/>
          </a:p>
          <a:p>
            <a:pPr indent="0" lvl="0" marL="0" rtl="0" algn="l">
              <a:lnSpc>
                <a:spcPct val="90000"/>
              </a:lnSpc>
              <a:spcBef>
                <a:spcPts val="0"/>
              </a:spcBef>
              <a:spcAft>
                <a:spcPts val="0"/>
              </a:spcAft>
              <a:buClr>
                <a:schemeClr val="dk1"/>
              </a:buClr>
              <a:buSzPct val="100000"/>
              <a:buNone/>
            </a:pPr>
            <a:r>
              <a:t/>
            </a:r>
            <a:endParaRPr/>
          </a:p>
          <a:p>
            <a:pPr indent="-5080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6" name="Shape 376"/>
        <p:cNvGrpSpPr/>
        <p:nvPr/>
      </p:nvGrpSpPr>
      <p:grpSpPr>
        <a:xfrm>
          <a:off x="0" y="0"/>
          <a:ext cx="0" cy="0"/>
          <a:chOff x="0" y="0"/>
          <a:chExt cx="0" cy="0"/>
        </a:xfrm>
      </p:grpSpPr>
      <p:sp>
        <p:nvSpPr>
          <p:cNvPr id="377" name="Google Shape;377;g48584de576676619_4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8" name="Google Shape;378;g48584de576676619_44"/>
          <p:cNvSpPr/>
          <p:nvPr/>
        </p:nvSpPr>
        <p:spPr>
          <a:xfrm>
            <a:off x="0" y="-1"/>
            <a:ext cx="12192000" cy="6858000"/>
          </a:xfrm>
          <a:prstGeom prst="rect">
            <a:avLst/>
          </a:prstGeom>
          <a:solidFill>
            <a:schemeClr val="accen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9" name="Google Shape;379;g48584de576676619_44"/>
          <p:cNvSpPr txBox="1"/>
          <p:nvPr>
            <p:ph type="title"/>
          </p:nvPr>
        </p:nvSpPr>
        <p:spPr>
          <a:xfrm>
            <a:off x="731520" y="1170432"/>
            <a:ext cx="10533900" cy="2734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8000"/>
              <a:buFont typeface="Calibri"/>
              <a:buNone/>
            </a:pPr>
            <a:r>
              <a:rPr b="1" lang="en-US" sz="8000">
                <a:solidFill>
                  <a:schemeClr val="dk2"/>
                </a:solidFill>
              </a:rPr>
              <a:t>Herramientas </a:t>
            </a:r>
            <a:br>
              <a:rPr b="1" lang="en-US" sz="8000">
                <a:solidFill>
                  <a:schemeClr val="dk2"/>
                </a:solidFill>
              </a:rPr>
            </a:br>
            <a:endParaRPr sz="8000">
              <a:solidFill>
                <a:schemeClr val="dk2"/>
              </a:solidFill>
            </a:endParaRPr>
          </a:p>
        </p:txBody>
      </p:sp>
      <p:cxnSp>
        <p:nvCxnSpPr>
          <p:cNvPr id="380" name="Google Shape;380;g48584de576676619_44"/>
          <p:cNvCxnSpPr/>
          <p:nvPr/>
        </p:nvCxnSpPr>
        <p:spPr>
          <a:xfrm flipH="1">
            <a:off x="732463" y="246028"/>
            <a:ext cx="255600" cy="546600"/>
          </a:xfrm>
          <a:prstGeom prst="straightConnector1">
            <a:avLst/>
          </a:prstGeom>
          <a:noFill/>
          <a:ln cap="flat" cmpd="sng" w="12700">
            <a:solidFill>
              <a:schemeClr val="dk2"/>
            </a:solidFill>
            <a:prstDash val="solid"/>
            <a:miter lim="800000"/>
            <a:headEnd len="sm" w="sm" type="none"/>
            <a:tailEnd len="sm" w="sm" type="none"/>
          </a:ln>
        </p:spPr>
      </p:cxnSp>
      <p:sp>
        <p:nvSpPr>
          <p:cNvPr id="381" name="Google Shape;381;g48584de576676619_44"/>
          <p:cNvSpPr txBox="1"/>
          <p:nvPr>
            <p:ph idx="1" type="body"/>
          </p:nvPr>
        </p:nvSpPr>
        <p:spPr>
          <a:xfrm>
            <a:off x="731520" y="4069080"/>
            <a:ext cx="10515600" cy="2042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sz="1800">
              <a:solidFill>
                <a:schemeClr val="dk2"/>
              </a:solidFill>
            </a:endParaRPr>
          </a:p>
        </p:txBody>
      </p:sp>
      <p:cxnSp>
        <p:nvCxnSpPr>
          <p:cNvPr id="382" name="Google Shape;382;g48584de576676619_44"/>
          <p:cNvCxnSpPr/>
          <p:nvPr/>
        </p:nvCxnSpPr>
        <p:spPr>
          <a:xfrm rot="10800000">
            <a:off x="840428" y="6522756"/>
            <a:ext cx="10717200" cy="0"/>
          </a:xfrm>
          <a:prstGeom prst="straightConnector1">
            <a:avLst/>
          </a:prstGeom>
          <a:noFill/>
          <a:ln cap="sq" cmpd="sng" w="12700">
            <a:solidFill>
              <a:schemeClr val="dk2"/>
            </a:solidFill>
            <a:prstDash val="solid"/>
            <a:miter lim="800000"/>
            <a:headEnd len="sm" w="sm" type="none"/>
            <a:tailEnd len="sm" w="sm" type="none"/>
          </a:ln>
        </p:spPr>
      </p:cxnSp>
      <p:grpSp>
        <p:nvGrpSpPr>
          <p:cNvPr id="383" name="Google Shape;383;g48584de576676619_44"/>
          <p:cNvGrpSpPr/>
          <p:nvPr/>
        </p:nvGrpSpPr>
        <p:grpSpPr>
          <a:xfrm>
            <a:off x="12829917" y="6400806"/>
            <a:ext cx="338400" cy="240221"/>
            <a:chOff x="4089400" y="933450"/>
            <a:chExt cx="338400" cy="342000"/>
          </a:xfrm>
        </p:grpSpPr>
        <p:cxnSp>
          <p:nvCxnSpPr>
            <p:cNvPr id="384" name="Google Shape;384;g48584de576676619_44"/>
            <p:cNvCxnSpPr/>
            <p:nvPr/>
          </p:nvCxnSpPr>
          <p:spPr>
            <a:xfrm>
              <a:off x="4258564" y="933450"/>
              <a:ext cx="0" cy="342000"/>
            </a:xfrm>
            <a:prstGeom prst="straightConnector1">
              <a:avLst/>
            </a:prstGeom>
            <a:noFill/>
            <a:ln cap="flat" cmpd="sng" w="12700">
              <a:solidFill>
                <a:schemeClr val="dk2"/>
              </a:solidFill>
              <a:prstDash val="solid"/>
              <a:miter lim="800000"/>
              <a:headEnd len="sm" w="sm" type="none"/>
              <a:tailEnd len="sm" w="sm" type="none"/>
            </a:ln>
          </p:spPr>
        </p:cxnSp>
        <p:cxnSp>
          <p:nvCxnSpPr>
            <p:cNvPr id="385" name="Google Shape;385;g48584de576676619_44"/>
            <p:cNvCxnSpPr/>
            <p:nvPr/>
          </p:nvCxnSpPr>
          <p:spPr>
            <a:xfrm>
              <a:off x="4089400" y="1104419"/>
              <a:ext cx="338400" cy="0"/>
            </a:xfrm>
            <a:prstGeom prst="straightConnector1">
              <a:avLst/>
            </a:prstGeom>
            <a:noFill/>
            <a:ln cap="flat" cmpd="sng" w="12700">
              <a:solidFill>
                <a:schemeClr val="dk2"/>
              </a:solidFill>
              <a:prstDash val="solid"/>
              <a:miter lim="800000"/>
              <a:headEnd len="sm" w="sm" type="none"/>
              <a:tailEnd len="sm" w="sm" type="none"/>
            </a:ln>
          </p:spPr>
        </p:cxn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g2d2f2cfe28a_0_21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92" name="Google Shape;392;g2d2f2cfe28a_0_21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id="393" name="Google Shape;393;g2d2f2cfe28a_0_219"/>
          <p:cNvPicPr preferRelativeResize="0"/>
          <p:nvPr/>
        </p:nvPicPr>
        <p:blipFill rotWithShape="1">
          <a:blip r:embed="rId3">
            <a:alphaModFix/>
          </a:blip>
          <a:srcRect b="0" l="0" r="0" t="0"/>
          <a:stretch/>
        </p:blipFill>
        <p:spPr>
          <a:xfrm>
            <a:off x="952500" y="533400"/>
            <a:ext cx="10287000" cy="5791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7" name="Shape 397"/>
        <p:cNvGrpSpPr/>
        <p:nvPr/>
      </p:nvGrpSpPr>
      <p:grpSpPr>
        <a:xfrm>
          <a:off x="0" y="0"/>
          <a:ext cx="0" cy="0"/>
          <a:chOff x="0" y="0"/>
          <a:chExt cx="0" cy="0"/>
        </a:xfrm>
      </p:grpSpPr>
      <p:sp>
        <p:nvSpPr>
          <p:cNvPr id="398" name="Google Shape;398;p2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9" name="Google Shape;399;p21"/>
          <p:cNvSpPr/>
          <p:nvPr/>
        </p:nvSpPr>
        <p:spPr>
          <a:xfrm flipH="1">
            <a:off x="8576720" y="3335867"/>
            <a:ext cx="3291840" cy="3200400"/>
          </a:xfrm>
          <a:prstGeom prst="rtTriangl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0" name="Google Shape;400;p21"/>
          <p:cNvSpPr/>
          <p:nvPr/>
        </p:nvSpPr>
        <p:spPr>
          <a:xfrm>
            <a:off x="641774" y="623275"/>
            <a:ext cx="10905053" cy="5607882"/>
          </a:xfrm>
          <a:prstGeom prst="rect">
            <a:avLst/>
          </a:prstGeom>
          <a:noFill/>
          <a:ln cap="flat" cmpd="sng" w="1905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1" name="Google Shape;401;p21"/>
          <p:cNvSpPr txBox="1"/>
          <p:nvPr>
            <p:ph type="ctrTitle"/>
          </p:nvPr>
        </p:nvSpPr>
        <p:spPr>
          <a:xfrm>
            <a:off x="1285241" y="1008993"/>
            <a:ext cx="9231410" cy="354204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11500"/>
              <a:buFont typeface="Calibri"/>
              <a:buNone/>
            </a:pPr>
            <a:r>
              <a:rPr lang="en-US" sz="11500"/>
              <a:t>¿Dudas?</a:t>
            </a:r>
            <a:endParaRPr sz="11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5" name="Shape 405"/>
        <p:cNvGrpSpPr/>
        <p:nvPr/>
      </p:nvGrpSpPr>
      <p:grpSpPr>
        <a:xfrm>
          <a:off x="0" y="0"/>
          <a:ext cx="0" cy="0"/>
          <a:chOff x="0" y="0"/>
          <a:chExt cx="0" cy="0"/>
        </a:xfrm>
      </p:grpSpPr>
      <p:sp>
        <p:nvSpPr>
          <p:cNvPr id="406" name="Google Shape;406;p2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7" name="Google Shape;407;p22"/>
          <p:cNvSpPr/>
          <p:nvPr/>
        </p:nvSpPr>
        <p:spPr>
          <a:xfrm flipH="1">
            <a:off x="8576720" y="3335867"/>
            <a:ext cx="3291840" cy="3200400"/>
          </a:xfrm>
          <a:prstGeom prst="rtTriangl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8" name="Google Shape;408;p22"/>
          <p:cNvSpPr/>
          <p:nvPr/>
        </p:nvSpPr>
        <p:spPr>
          <a:xfrm>
            <a:off x="641774" y="623275"/>
            <a:ext cx="10905053" cy="5607882"/>
          </a:xfrm>
          <a:prstGeom prst="rect">
            <a:avLst/>
          </a:prstGeom>
          <a:noFill/>
          <a:ln cap="flat" cmpd="sng" w="1905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9" name="Google Shape;409;p22"/>
          <p:cNvSpPr txBox="1"/>
          <p:nvPr>
            <p:ph type="ctrTitle"/>
          </p:nvPr>
        </p:nvSpPr>
        <p:spPr>
          <a:xfrm>
            <a:off x="1285241" y="1008993"/>
            <a:ext cx="9231410" cy="354204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11500"/>
              <a:buFont typeface="Calibri"/>
              <a:buNone/>
            </a:pPr>
            <a:r>
              <a:rPr lang="en-US" sz="11500"/>
              <a:t>Gracias por su atención</a:t>
            </a:r>
            <a:endParaRPr sz="11500"/>
          </a:p>
        </p:txBody>
      </p:sp>
      <p:sp>
        <p:nvSpPr>
          <p:cNvPr id="410" name="Google Shape;410;p22"/>
          <p:cNvSpPr txBox="1"/>
          <p:nvPr>
            <p:ph idx="1" type="subTitle"/>
          </p:nvPr>
        </p:nvSpPr>
        <p:spPr>
          <a:xfrm>
            <a:off x="1285241" y="4582814"/>
            <a:ext cx="7132335" cy="131265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2023-07-25T00:36:49Z</dcterms:created>
  <dc:creator>Madeline Pérez</dc:creator>
</cp:coreProperties>
</file>