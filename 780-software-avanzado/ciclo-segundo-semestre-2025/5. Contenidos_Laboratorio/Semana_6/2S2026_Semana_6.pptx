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4"/>
  </p:notesMasterIdLst>
  <p:sldIdLst>
    <p:sldId id="256" r:id="rId2"/>
    <p:sldId id="281"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306" r:id="rId2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1" roundtripDataSignature="AMtx7miQ8Y0uMRXjqRCZ5snkrE5OxZ7wW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CFF8CEB-B0E9-4877-8986-A95859FF1C04}">
  <a:tblStyle styleId="{DCFF8CEB-B0E9-4877-8986-A95859FF1C04}"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891EB330-50F6-4ACE-A556-FCC03B3E2DE0}" styleName="Table_1">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284" y="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51" Type="http://customschemas.google.com/relationships/presentationmetadata" Target="metadata"/><Relationship Id="rId3" Type="http://schemas.openxmlformats.org/officeDocument/2006/relationships/slide" Target="slides/slide2.xml"/><Relationship Id="rId21" Type="http://schemas.openxmlformats.org/officeDocument/2006/relationships/slide" Target="slides/slide20.xml"/><Relationship Id="rId55"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64afea4f63_0_0: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6" name="Google Shape;86;g364afea4f63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s-GT"/>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5" name="Google Shape;10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s-GT"/>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8" name="Google Shape;118;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DevOps se define como una metodología que ha venido a revolucionar el marco de desarrollo de aplicaciones, gracias a la aplicación de diferentes prácticas y herramientas de automatización que permiten producir </a:t>
            </a:r>
            <a:r>
              <a:rPr lang="en-US" sz="1200" i="1">
                <a:solidFill>
                  <a:schemeClr val="dk1"/>
                </a:solidFill>
                <a:latin typeface="Calibri"/>
                <a:ea typeface="Calibri"/>
                <a:cs typeface="Calibri"/>
                <a:sym typeface="Calibri"/>
              </a:rPr>
              <a:t>software </a:t>
            </a:r>
            <a:r>
              <a:rPr lang="en-US" sz="1200">
                <a:solidFill>
                  <a:schemeClr val="dk1"/>
                </a:solidFill>
                <a:latin typeface="Calibri"/>
                <a:ea typeface="Calibri"/>
                <a:cs typeface="Calibri"/>
                <a:sym typeface="Calibri"/>
              </a:rPr>
              <a:t>más rápido. Además de lo mencionado, esta metodología permite la unificación de Desarrollo y Operaciones, lo que facilita el trabajo y la distribución la infraestructura aplicativa. </a:t>
            </a:r>
            <a:endParaRPr/>
          </a:p>
          <a:p>
            <a:pPr marL="0" lvl="0" indent="0" algn="l" rtl="0">
              <a:lnSpc>
                <a:spcPct val="100000"/>
              </a:lnSpc>
              <a:spcBef>
                <a:spcPts val="0"/>
              </a:spcBef>
              <a:spcAft>
                <a:spcPts val="0"/>
              </a:spcAft>
              <a:buSzPts val="1400"/>
              <a:buNone/>
            </a:pPr>
            <a:endParaRPr/>
          </a:p>
        </p:txBody>
      </p:sp>
      <p:sp>
        <p:nvSpPr>
          <p:cNvPr id="127" name="Google Shape;127;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6" name="Google Shape;136;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4" name="Google Shape;144;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5" name="Google Shape;155;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7" name="Google Shape;187;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7" name="Google Shape;197;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7" name="Google Shape;207;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5" name="Google Shape;215;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8" name="Google Shape;228;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1f3a3e07b40_0_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6" name="Google Shape;236;g1f3a3e07b40_0_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1f3a3e07b40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4" name="Google Shape;244;g1f3a3e07b40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1f3a3e07b40_0_3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2" name="Google Shape;252;g1f3a3e07b40_0_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0" name="Google Shape;260;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1f3a3e07b40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8" name="Google Shape;268;g1f3a3e07b40_0_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g1f3a3e07b40_0_5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6" name="Google Shape;276;g1f3a3e07b40_0_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1f3a3e07b40_0_6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4" name="Google Shape;284;g1f3a3e07b40_0_6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1f3a3e07b40_0_7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2" name="Google Shape;292;g1f3a3e07b40_0_7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g1f3a3e07b40_0_8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0" name="Google Shape;300;g1f3a3e07b40_0_8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0" name="Google Shape;22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s-GT"/>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20"/>
          <p:cNvSpPr txBox="1">
            <a:spLocks noGrp="1"/>
          </p:cNvSpPr>
          <p:nvPr>
            <p:ph type="title"/>
          </p:nvPr>
        </p:nvSpPr>
        <p:spPr>
          <a:xfrm>
            <a:off x="831850" y="1709738"/>
            <a:ext cx="10515600" cy="2852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20"/>
          <p:cNvSpPr txBox="1">
            <a:spLocks noGrp="1"/>
          </p:cNvSpPr>
          <p:nvPr>
            <p:ph type="body" idx="1"/>
          </p:nvPr>
        </p:nvSpPr>
        <p:spPr>
          <a:xfrm>
            <a:off x="831850" y="4589463"/>
            <a:ext cx="10515600" cy="15003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4" name="Google Shape;34;p20"/>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20"/>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20"/>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transition spd="slow">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22"/>
          <p:cNvSpPr txBox="1">
            <a:spLocks noGrp="1"/>
          </p:cNvSpPr>
          <p:nvPr>
            <p:ph type="title"/>
          </p:nvPr>
        </p:nvSpPr>
        <p:spPr>
          <a:xfrm>
            <a:off x="839788"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2"/>
          <p:cNvSpPr txBox="1">
            <a:spLocks noGrp="1"/>
          </p:cNvSpPr>
          <p:nvPr>
            <p:ph type="body" idx="1"/>
          </p:nvPr>
        </p:nvSpPr>
        <p:spPr>
          <a:xfrm>
            <a:off x="839788" y="1681163"/>
            <a:ext cx="51579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7" name="Google Shape;47;p22"/>
          <p:cNvSpPr txBox="1">
            <a:spLocks noGrp="1"/>
          </p:cNvSpPr>
          <p:nvPr>
            <p:ph type="body" idx="2"/>
          </p:nvPr>
        </p:nvSpPr>
        <p:spPr>
          <a:xfrm>
            <a:off x="839788" y="2505075"/>
            <a:ext cx="51579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22"/>
          <p:cNvSpPr txBox="1">
            <a:spLocks noGrp="1"/>
          </p:cNvSpPr>
          <p:nvPr>
            <p:ph type="body" idx="3"/>
          </p:nvPr>
        </p:nvSpPr>
        <p:spPr>
          <a:xfrm>
            <a:off x="6172200" y="1681163"/>
            <a:ext cx="51831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9" name="Google Shape;49;p22"/>
          <p:cNvSpPr txBox="1">
            <a:spLocks noGrp="1"/>
          </p:cNvSpPr>
          <p:nvPr>
            <p:ph type="body" idx="4"/>
          </p:nvPr>
        </p:nvSpPr>
        <p:spPr>
          <a:xfrm>
            <a:off x="6172200" y="2505075"/>
            <a:ext cx="51831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22"/>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2"/>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2"/>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transition spd="slow">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23"/>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3"/>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3"/>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23"/>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transition spd="slow">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8"/>
        <p:cNvGrpSpPr/>
        <p:nvPr/>
      </p:nvGrpSpPr>
      <p:grpSpPr>
        <a:xfrm>
          <a:off x="0" y="0"/>
          <a:ext cx="0" cy="0"/>
          <a:chOff x="0" y="0"/>
          <a:chExt cx="0" cy="0"/>
        </a:xfrm>
      </p:grpSpPr>
      <p:sp>
        <p:nvSpPr>
          <p:cNvPr id="59" name="Google Shape;59;p24"/>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24"/>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24"/>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2"/>
        <p:cNvGrpSpPr/>
        <p:nvPr/>
      </p:nvGrpSpPr>
      <p:grpSpPr>
        <a:xfrm>
          <a:off x="0" y="0"/>
          <a:ext cx="0" cy="0"/>
          <a:chOff x="0" y="0"/>
          <a:chExt cx="0" cy="0"/>
        </a:xfrm>
      </p:grpSpPr>
      <p:sp>
        <p:nvSpPr>
          <p:cNvPr id="63" name="Google Shape;63;p25"/>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25"/>
          <p:cNvSpPr txBox="1">
            <a:spLocks noGrp="1"/>
          </p:cNvSpPr>
          <p:nvPr>
            <p:ph type="body" idx="1"/>
          </p:nvPr>
        </p:nvSpPr>
        <p:spPr>
          <a:xfrm>
            <a:off x="5183188" y="987425"/>
            <a:ext cx="6172200" cy="4873500"/>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5" name="Google Shape;65;p25"/>
          <p:cNvSpPr txBox="1">
            <a:spLocks noGrp="1"/>
          </p:cNvSpPr>
          <p:nvPr>
            <p:ph type="body" idx="2"/>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6" name="Google Shape;66;p25"/>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5"/>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25"/>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transition spd="slow">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9"/>
        <p:cNvGrpSpPr/>
        <p:nvPr/>
      </p:nvGrpSpPr>
      <p:grpSpPr>
        <a:xfrm>
          <a:off x="0" y="0"/>
          <a:ext cx="0" cy="0"/>
          <a:chOff x="0" y="0"/>
          <a:chExt cx="0" cy="0"/>
        </a:xfrm>
      </p:grpSpPr>
      <p:sp>
        <p:nvSpPr>
          <p:cNvPr id="70" name="Google Shape;70;p26"/>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6"/>
          <p:cNvSpPr>
            <a:spLocks noGrp="1"/>
          </p:cNvSpPr>
          <p:nvPr>
            <p:ph type="pic" idx="2"/>
          </p:nvPr>
        </p:nvSpPr>
        <p:spPr>
          <a:xfrm>
            <a:off x="5183188" y="987425"/>
            <a:ext cx="6172200" cy="4873500"/>
          </a:xfrm>
          <a:prstGeom prst="rect">
            <a:avLst/>
          </a:prstGeom>
          <a:noFill/>
          <a:ln>
            <a:noFill/>
          </a:ln>
        </p:spPr>
      </p:sp>
      <p:sp>
        <p:nvSpPr>
          <p:cNvPr id="72" name="Google Shape;72;p26"/>
          <p:cNvSpPr txBox="1">
            <a:spLocks noGrp="1"/>
          </p:cNvSpPr>
          <p:nvPr>
            <p:ph type="body" idx="1"/>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3" name="Google Shape;73;p26"/>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6"/>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26"/>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transition spd="slow">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6"/>
        <p:cNvGrpSpPr/>
        <p:nvPr/>
      </p:nvGrpSpPr>
      <p:grpSpPr>
        <a:xfrm>
          <a:off x="0" y="0"/>
          <a:ext cx="0" cy="0"/>
          <a:chOff x="0" y="0"/>
          <a:chExt cx="0" cy="0"/>
        </a:xfrm>
      </p:grpSpPr>
      <p:sp>
        <p:nvSpPr>
          <p:cNvPr id="77" name="Google Shape;77;p2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27"/>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9" name="Google Shape;79;p27"/>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27"/>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7"/>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2"/>
        <p:cNvGrpSpPr/>
        <p:nvPr/>
      </p:nvGrpSpPr>
      <p:grpSpPr>
        <a:xfrm>
          <a:off x="0" y="0"/>
          <a:ext cx="0" cy="0"/>
          <a:chOff x="0" y="0"/>
          <a:chExt cx="0" cy="0"/>
        </a:xfrm>
      </p:grpSpPr>
      <p:sp>
        <p:nvSpPr>
          <p:cNvPr id="83" name="Google Shape;83;p28"/>
          <p:cNvSpPr txBox="1">
            <a:spLocks noGrp="1"/>
          </p:cNvSpPr>
          <p:nvPr>
            <p:ph type="title"/>
          </p:nvPr>
        </p:nvSpPr>
        <p:spPr>
          <a:xfrm rot="5400000">
            <a:off x="7133400" y="1956625"/>
            <a:ext cx="5811900"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28"/>
          <p:cNvSpPr txBox="1">
            <a:spLocks noGrp="1"/>
          </p:cNvSpPr>
          <p:nvPr>
            <p:ph type="body" idx="1"/>
          </p:nvPr>
        </p:nvSpPr>
        <p:spPr>
          <a:xfrm rot="5400000">
            <a:off x="1799400" y="-596075"/>
            <a:ext cx="5811900"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5" name="Google Shape;85;p28"/>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28"/>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28"/>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ítulo y objetos" type="obj">
  <p:cSld name="Título y objetos">
    <p:spTree>
      <p:nvGrpSpPr>
        <p:cNvPr id="1" name="Shape 25"/>
        <p:cNvGrpSpPr/>
        <p:nvPr/>
      </p:nvGrpSpPr>
      <p:grpSpPr>
        <a:xfrm>
          <a:off x="0" y="0"/>
          <a:ext cx="0" cy="0"/>
          <a:chOff x="0" y="0"/>
          <a:chExt cx="0" cy="0"/>
        </a:xfrm>
      </p:grpSpPr>
      <p:sp>
        <p:nvSpPr>
          <p:cNvPr id="26" name="Google Shape;26;p2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2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 name="Google Shape;28;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extLst>
      <p:ext uri="{BB962C8B-B14F-4D97-AF65-F5344CB8AC3E}">
        <p14:creationId xmlns:p14="http://schemas.microsoft.com/office/powerpoint/2010/main" val="4945641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Diapositiva de título" type="title">
  <p:cSld name="Diapositiva de título">
    <p:spTree>
      <p:nvGrpSpPr>
        <p:cNvPr id="1" name="Shape 19"/>
        <p:cNvGrpSpPr/>
        <p:nvPr/>
      </p:nvGrpSpPr>
      <p:grpSpPr>
        <a:xfrm>
          <a:off x="0" y="0"/>
          <a:ext cx="0" cy="0"/>
          <a:chOff x="0" y="0"/>
          <a:chExt cx="0" cy="0"/>
        </a:xfrm>
      </p:grpSpPr>
      <p:sp>
        <p:nvSpPr>
          <p:cNvPr id="20" name="Google Shape;20;p2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2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2" name="Google Shape;22;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extLst>
      <p:ext uri="{BB962C8B-B14F-4D97-AF65-F5344CB8AC3E}">
        <p14:creationId xmlns:p14="http://schemas.microsoft.com/office/powerpoint/2010/main" val="21019798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5"/>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5"/>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5"/>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5"/>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 bg1="lt1" tx1="dk1" bg2="dk2" tx2="lt2" accent1="accent1" accent2="accent2" accent3="accent3" accent4="accent4" accent5="accent5" accent6="accent6" hlink="hlink" folHlink="folHlink"/>
  <p:sldLayoutIdLst>
    <p:sldLayoutId id="2147483652"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Lst>
  <p:transition spd="slow">
    <p:wipe/>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88" name="Google Shape;88;g364afea4f63_0_0"/>
          <p:cNvPicPr preferRelativeResize="0"/>
          <p:nvPr/>
        </p:nvPicPr>
        <p:blipFill rotWithShape="1">
          <a:blip r:embed="rId3">
            <a:alphaModFix/>
          </a:blip>
          <a:srcRect/>
          <a:stretch/>
        </p:blipFill>
        <p:spPr>
          <a:xfrm>
            <a:off x="0" y="0"/>
            <a:ext cx="12192000" cy="6858002"/>
          </a:xfrm>
          <a:prstGeom prst="rect">
            <a:avLst/>
          </a:prstGeom>
          <a:noFill/>
          <a:ln>
            <a:noFill/>
          </a:ln>
        </p:spPr>
      </p:pic>
      <p:sp>
        <p:nvSpPr>
          <p:cNvPr id="89" name="Google Shape;89;g364afea4f63_0_0"/>
          <p:cNvSpPr/>
          <p:nvPr/>
        </p:nvSpPr>
        <p:spPr>
          <a:xfrm>
            <a:off x="2325912" y="3974253"/>
            <a:ext cx="4910000" cy="4830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60950" tIns="60950" rIns="60950" bIns="60950" anchor="ctr" anchorCtr="0">
            <a:noAutofit/>
          </a:bodyPr>
          <a:lstStyle/>
          <a:p>
            <a:pPr algn="ctr">
              <a:buSzPts val="2600"/>
            </a:pPr>
            <a:r>
              <a:rPr lang="es-GT" sz="1733" dirty="0">
                <a:latin typeface="Calibri"/>
                <a:ea typeface="Calibri"/>
                <a:cs typeface="Calibri"/>
                <a:sym typeface="Calibri"/>
              </a:rPr>
              <a:t>Kevin Raúl Pozuelos Estrada</a:t>
            </a:r>
          </a:p>
        </p:txBody>
      </p:sp>
      <p:sp>
        <p:nvSpPr>
          <p:cNvPr id="90" name="Google Shape;90;g364afea4f63_0_0"/>
          <p:cNvSpPr/>
          <p:nvPr/>
        </p:nvSpPr>
        <p:spPr>
          <a:xfrm>
            <a:off x="1323637" y="3116227"/>
            <a:ext cx="7811264" cy="4830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60950" tIns="60950" rIns="60950" bIns="60950" anchor="ctr" anchorCtr="0">
            <a:noAutofit/>
          </a:bodyPr>
          <a:lstStyle/>
          <a:p>
            <a:pPr algn="ctr">
              <a:buSzPts val="3100"/>
            </a:pPr>
            <a:r>
              <a:rPr lang="es-GT" sz="2067" dirty="0">
                <a:latin typeface="Calibri"/>
                <a:ea typeface="Calibri"/>
                <a:cs typeface="Calibri"/>
                <a:sym typeface="Calibri"/>
              </a:rPr>
              <a:t>Software Avanzado </a:t>
            </a:r>
            <a:r>
              <a:rPr lang="es-GT" sz="2067" dirty="0" err="1">
                <a:latin typeface="Calibri"/>
                <a:ea typeface="Calibri"/>
                <a:cs typeface="Calibri"/>
                <a:sym typeface="Calibri"/>
              </a:rPr>
              <a:t>Seccion</a:t>
            </a:r>
            <a:r>
              <a:rPr lang="es-GT" sz="2067" dirty="0">
                <a:latin typeface="Calibri"/>
                <a:ea typeface="Calibri"/>
                <a:cs typeface="Calibri"/>
                <a:sym typeface="Calibri"/>
              </a:rPr>
              <a:t> B</a:t>
            </a:r>
          </a:p>
        </p:txBody>
      </p:sp>
      <p:sp>
        <p:nvSpPr>
          <p:cNvPr id="2" name="Google Shape;90;g364afea4f63_0_0">
            <a:extLst>
              <a:ext uri="{FF2B5EF4-FFF2-40B4-BE49-F238E27FC236}">
                <a16:creationId xmlns:a16="http://schemas.microsoft.com/office/drawing/2014/main" id="{AA80F5D4-5F81-3DA5-7699-90AF77AA0920}"/>
              </a:ext>
            </a:extLst>
          </p:cNvPr>
          <p:cNvSpPr/>
          <p:nvPr/>
        </p:nvSpPr>
        <p:spPr>
          <a:xfrm>
            <a:off x="9134901" y="1296527"/>
            <a:ext cx="2875129" cy="523174"/>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60950" tIns="60950" rIns="60950" bIns="60950" anchor="ctr" anchorCtr="0">
            <a:noAutofit/>
          </a:bodyPr>
          <a:lstStyle/>
          <a:p>
            <a:pPr algn="ctr">
              <a:buSzPts val="3100"/>
            </a:pPr>
            <a:r>
              <a:rPr lang="es-GT" sz="2067" dirty="0">
                <a:latin typeface="Calibri"/>
                <a:ea typeface="Calibri"/>
                <a:cs typeface="Calibri"/>
                <a:sym typeface="Calibri"/>
              </a:rPr>
              <a:t>5/03/2026</a:t>
            </a:r>
          </a:p>
        </p:txBody>
      </p:sp>
      <p:sp>
        <p:nvSpPr>
          <p:cNvPr id="3" name="Google Shape;90;g364afea4f63_0_0">
            <a:extLst>
              <a:ext uri="{FF2B5EF4-FFF2-40B4-BE49-F238E27FC236}">
                <a16:creationId xmlns:a16="http://schemas.microsoft.com/office/drawing/2014/main" id="{5D6A39ED-BAEA-CDC0-8EF8-624CF982507D}"/>
              </a:ext>
            </a:extLst>
          </p:cNvPr>
          <p:cNvSpPr/>
          <p:nvPr/>
        </p:nvSpPr>
        <p:spPr>
          <a:xfrm>
            <a:off x="9134901" y="1819701"/>
            <a:ext cx="2875129" cy="523174"/>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60950" tIns="60950" rIns="60950" bIns="60950" anchor="ctr" anchorCtr="0">
            <a:noAutofit/>
          </a:bodyPr>
          <a:lstStyle/>
          <a:p>
            <a:pPr algn="ctr">
              <a:buSzPts val="3100"/>
            </a:pPr>
            <a:r>
              <a:rPr lang="es-GT" sz="2067" dirty="0">
                <a:latin typeface="Calibri"/>
                <a:ea typeface="Calibri"/>
                <a:cs typeface="Calibri"/>
                <a:sym typeface="Calibri"/>
              </a:rPr>
              <a:t>17:20</a:t>
            </a:r>
          </a:p>
        </p:txBody>
      </p:sp>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grpSp>
        <p:nvGrpSpPr>
          <p:cNvPr id="107" name="Google Shape;107;p2"/>
          <p:cNvGrpSpPr/>
          <p:nvPr/>
        </p:nvGrpSpPr>
        <p:grpSpPr>
          <a:xfrm>
            <a:off x="434496" y="2583898"/>
            <a:ext cx="3075701" cy="563590"/>
            <a:chOff x="0" y="-76200"/>
            <a:chExt cx="1964221" cy="359923"/>
          </a:xfrm>
        </p:grpSpPr>
        <p:sp>
          <p:nvSpPr>
            <p:cNvPr id="108" name="Google Shape;108;p2"/>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sz="933" dirty="0"/>
            </a:p>
          </p:txBody>
        </p:sp>
        <p:sp>
          <p:nvSpPr>
            <p:cNvPr id="109" name="Google Shape;109;p2"/>
            <p:cNvSpPr txBox="1"/>
            <p:nvPr/>
          </p:nvSpPr>
          <p:spPr>
            <a:xfrm>
              <a:off x="0" y="-76200"/>
              <a:ext cx="1849921" cy="359923"/>
            </a:xfrm>
            <a:prstGeom prst="rect">
              <a:avLst/>
            </a:prstGeom>
            <a:noFill/>
            <a:ln>
              <a:noFill/>
            </a:ln>
          </p:spPr>
          <p:txBody>
            <a:bodyPr spcFirstLastPara="1" wrap="square" lIns="33867" tIns="33867" rIns="33867" bIns="33867" anchor="ctr" anchorCtr="0">
              <a:noAutofit/>
            </a:bodyPr>
            <a:lstStyle/>
            <a:p>
              <a:pPr algn="ctr">
                <a:lnSpc>
                  <a:spcPct val="148017"/>
                </a:lnSpc>
                <a:buSzPts val="2799"/>
              </a:pPr>
              <a:r>
                <a:rPr lang="es-GT" sz="1866" dirty="0"/>
                <a:t>Dudas Iniciales</a:t>
              </a:r>
              <a:endParaRPr lang="es-GT" sz="933" dirty="0"/>
            </a:p>
          </p:txBody>
        </p:sp>
      </p:grpSp>
      <p:sp>
        <p:nvSpPr>
          <p:cNvPr id="110" name="Google Shape;110;p2"/>
          <p:cNvSpPr/>
          <p:nvPr/>
        </p:nvSpPr>
        <p:spPr>
          <a:xfrm>
            <a:off x="585766" y="2737906"/>
            <a:ext cx="302239" cy="366729"/>
          </a:xfrm>
          <a:custGeom>
            <a:avLst/>
            <a:gdLst/>
            <a:ahLst/>
            <a:cxnLst/>
            <a:rect l="l" t="t" r="r" b="b"/>
            <a:pathLst>
              <a:path w="453358" h="550094" extrusionOk="0">
                <a:moveTo>
                  <a:pt x="0" y="0"/>
                </a:moveTo>
                <a:lnTo>
                  <a:pt x="453359" y="0"/>
                </a:lnTo>
                <a:lnTo>
                  <a:pt x="453359" y="550094"/>
                </a:lnTo>
                <a:lnTo>
                  <a:pt x="0" y="550094"/>
                </a:lnTo>
                <a:lnTo>
                  <a:pt x="0" y="0"/>
                </a:lnTo>
                <a:close/>
              </a:path>
            </a:pathLst>
          </a:custGeom>
          <a:blipFill rotWithShape="1">
            <a:blip r:embed="rId3">
              <a:alphaModFix/>
            </a:blip>
            <a:stretch>
              <a:fillRect/>
            </a:stretch>
          </a:blipFill>
          <a:ln>
            <a:noFill/>
          </a:ln>
        </p:spPr>
        <p:txBody>
          <a:bodyPr/>
          <a:lstStyle/>
          <a:p>
            <a:endParaRPr lang="es-GT" sz="933" dirty="0"/>
          </a:p>
        </p:txBody>
      </p:sp>
      <p:grpSp>
        <p:nvGrpSpPr>
          <p:cNvPr id="111" name="Google Shape;111;p2"/>
          <p:cNvGrpSpPr/>
          <p:nvPr/>
        </p:nvGrpSpPr>
        <p:grpSpPr>
          <a:xfrm>
            <a:off x="1244656" y="1586934"/>
            <a:ext cx="2743460" cy="1037656"/>
            <a:chOff x="0" y="-76200"/>
            <a:chExt cx="1083836" cy="409938"/>
          </a:xfrm>
        </p:grpSpPr>
        <p:sp>
          <p:nvSpPr>
            <p:cNvPr id="112" name="Google Shape;112;p2"/>
            <p:cNvSpPr/>
            <p:nvPr/>
          </p:nvSpPr>
          <p:spPr>
            <a:xfrm>
              <a:off x="0" y="0"/>
              <a:ext cx="1083836" cy="333738"/>
            </a:xfrm>
            <a:custGeom>
              <a:avLst/>
              <a:gdLst/>
              <a:ahLst/>
              <a:cxnLst/>
              <a:rect l="l" t="t" r="r" b="b"/>
              <a:pathLst>
                <a:path w="1083836" h="333738" extrusionOk="0">
                  <a:moveTo>
                    <a:pt x="880636" y="0"/>
                  </a:moveTo>
                  <a:lnTo>
                    <a:pt x="0" y="0"/>
                  </a:lnTo>
                  <a:lnTo>
                    <a:pt x="0" y="333738"/>
                  </a:lnTo>
                  <a:lnTo>
                    <a:pt x="880636" y="333738"/>
                  </a:lnTo>
                  <a:lnTo>
                    <a:pt x="1083836" y="166869"/>
                  </a:lnTo>
                  <a:lnTo>
                    <a:pt x="880636" y="0"/>
                  </a:lnTo>
                  <a:close/>
                </a:path>
              </a:pathLst>
            </a:custGeom>
            <a:solidFill>
              <a:srgbClr val="FFFFFF"/>
            </a:solidFill>
            <a:ln>
              <a:noFill/>
            </a:ln>
          </p:spPr>
          <p:txBody>
            <a:bodyPr/>
            <a:lstStyle/>
            <a:p>
              <a:endParaRPr lang="es-GT" sz="933" dirty="0"/>
            </a:p>
          </p:txBody>
        </p:sp>
        <p:sp>
          <p:nvSpPr>
            <p:cNvPr id="113" name="Google Shape;113;p2"/>
            <p:cNvSpPr txBox="1"/>
            <p:nvPr/>
          </p:nvSpPr>
          <p:spPr>
            <a:xfrm>
              <a:off x="0" y="-76200"/>
              <a:ext cx="969536" cy="409938"/>
            </a:xfrm>
            <a:prstGeom prst="rect">
              <a:avLst/>
            </a:prstGeom>
            <a:noFill/>
            <a:ln>
              <a:noFill/>
            </a:ln>
          </p:spPr>
          <p:txBody>
            <a:bodyPr spcFirstLastPara="1" wrap="square" lIns="33867" tIns="33867" rIns="33867" bIns="33867" anchor="ctr" anchorCtr="0">
              <a:noAutofit/>
            </a:bodyPr>
            <a:lstStyle/>
            <a:p>
              <a:pPr algn="ctr">
                <a:lnSpc>
                  <a:spcPct val="148017"/>
                </a:lnSpc>
                <a:buSzPts val="2799"/>
              </a:pPr>
              <a:r>
                <a:rPr lang="es-GT" sz="1866" dirty="0"/>
                <a:t>RECORDATORIOS</a:t>
              </a:r>
              <a:endParaRPr lang="es-GT" sz="933" dirty="0"/>
            </a:p>
          </p:txBody>
        </p:sp>
      </p:grpSp>
      <p:sp>
        <p:nvSpPr>
          <p:cNvPr id="114" name="Google Shape;114;p2"/>
          <p:cNvSpPr/>
          <p:nvPr/>
        </p:nvSpPr>
        <p:spPr>
          <a:xfrm>
            <a:off x="434499" y="1864102"/>
            <a:ext cx="502595" cy="581952"/>
          </a:xfrm>
          <a:custGeom>
            <a:avLst/>
            <a:gdLst/>
            <a:ahLst/>
            <a:cxnLst/>
            <a:rect l="l" t="t" r="r" b="b"/>
            <a:pathLst>
              <a:path w="753892" h="872928" extrusionOk="0">
                <a:moveTo>
                  <a:pt x="0" y="0"/>
                </a:moveTo>
                <a:lnTo>
                  <a:pt x="753892" y="0"/>
                </a:lnTo>
                <a:lnTo>
                  <a:pt x="753892" y="872927"/>
                </a:lnTo>
                <a:lnTo>
                  <a:pt x="0" y="872927"/>
                </a:lnTo>
                <a:lnTo>
                  <a:pt x="0" y="0"/>
                </a:lnTo>
                <a:close/>
              </a:path>
            </a:pathLst>
          </a:custGeom>
          <a:blipFill rotWithShape="1">
            <a:blip r:embed="rId4">
              <a:alphaModFix/>
            </a:blip>
            <a:stretch>
              <a:fillRect/>
            </a:stretch>
          </a:blipFill>
          <a:ln>
            <a:noFill/>
          </a:ln>
        </p:spPr>
        <p:txBody>
          <a:bodyPr/>
          <a:lstStyle/>
          <a:p>
            <a:endParaRPr lang="es-GT" sz="933" dirty="0"/>
          </a:p>
        </p:txBody>
      </p:sp>
      <p:sp>
        <p:nvSpPr>
          <p:cNvPr id="115" name="Google Shape;115;p2"/>
          <p:cNvSpPr txBox="1"/>
          <p:nvPr/>
        </p:nvSpPr>
        <p:spPr>
          <a:xfrm>
            <a:off x="434500" y="327267"/>
            <a:ext cx="3996139" cy="1474891"/>
          </a:xfrm>
          <a:prstGeom prst="rect">
            <a:avLst/>
          </a:prstGeom>
          <a:noFill/>
          <a:ln>
            <a:noFill/>
          </a:ln>
        </p:spPr>
        <p:txBody>
          <a:bodyPr spcFirstLastPara="1" wrap="square" lIns="0" tIns="0" rIns="0" bIns="0" anchor="t" anchorCtr="0">
            <a:spAutoFit/>
          </a:bodyPr>
          <a:lstStyle/>
          <a:p>
            <a:pPr>
              <a:lnSpc>
                <a:spcPct val="115000"/>
              </a:lnSpc>
              <a:buSzPts val="15000"/>
            </a:pPr>
            <a:r>
              <a:rPr lang="es-GT" sz="8334" dirty="0">
                <a:solidFill>
                  <a:srgbClr val="131416"/>
                </a:solidFill>
                <a:latin typeface="Pacifico"/>
                <a:ea typeface="Pacifico"/>
                <a:cs typeface="Pacifico"/>
                <a:sym typeface="Pacifico"/>
              </a:rPr>
              <a:t>Agenda</a:t>
            </a:r>
            <a:endParaRPr lang="es-GT" sz="800" dirty="0">
              <a:latin typeface="Pacifico"/>
              <a:ea typeface="Pacifico"/>
              <a:cs typeface="Pacifico"/>
              <a:sym typeface="Pacifico"/>
            </a:endParaRPr>
          </a:p>
        </p:txBody>
      </p:sp>
      <p:sp>
        <p:nvSpPr>
          <p:cNvPr id="118" name="Google Shape;118;p2"/>
          <p:cNvSpPr/>
          <p:nvPr/>
        </p:nvSpPr>
        <p:spPr>
          <a:xfrm>
            <a:off x="7826537" y="2155078"/>
            <a:ext cx="3569097" cy="844775"/>
          </a:xfrm>
          <a:custGeom>
            <a:avLst/>
            <a:gdLst/>
            <a:ahLst/>
            <a:cxnLst/>
            <a:rect l="l" t="t" r="r" b="b"/>
            <a:pathLst>
              <a:path w="1410014" h="333738" extrusionOk="0">
                <a:moveTo>
                  <a:pt x="1206814" y="0"/>
                </a:moveTo>
                <a:lnTo>
                  <a:pt x="0" y="0"/>
                </a:lnTo>
                <a:lnTo>
                  <a:pt x="0" y="333738"/>
                </a:lnTo>
                <a:lnTo>
                  <a:pt x="1206814" y="333738"/>
                </a:lnTo>
                <a:lnTo>
                  <a:pt x="1410014" y="166869"/>
                </a:lnTo>
                <a:lnTo>
                  <a:pt x="1206814" y="0"/>
                </a:lnTo>
                <a:close/>
              </a:path>
            </a:pathLst>
          </a:custGeom>
          <a:solidFill>
            <a:srgbClr val="FFFFFF"/>
          </a:solidFill>
          <a:ln>
            <a:noFill/>
          </a:ln>
        </p:spPr>
        <p:txBody>
          <a:bodyPr/>
          <a:lstStyle/>
          <a:p>
            <a:endParaRPr lang="es-GT" sz="933" dirty="0"/>
          </a:p>
        </p:txBody>
      </p:sp>
      <p:grpSp>
        <p:nvGrpSpPr>
          <p:cNvPr id="123" name="Google Shape;123;p2"/>
          <p:cNvGrpSpPr/>
          <p:nvPr/>
        </p:nvGrpSpPr>
        <p:grpSpPr>
          <a:xfrm>
            <a:off x="127937" y="3182223"/>
            <a:ext cx="3464777" cy="563590"/>
            <a:chOff x="0" y="-72964"/>
            <a:chExt cx="2212695" cy="359923"/>
          </a:xfrm>
        </p:grpSpPr>
        <p:sp>
          <p:nvSpPr>
            <p:cNvPr id="124" name="Google Shape;124;p2"/>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sz="933" dirty="0"/>
            </a:p>
          </p:txBody>
        </p:sp>
        <p:sp>
          <p:nvSpPr>
            <p:cNvPr id="125" name="Google Shape;125;p2"/>
            <p:cNvSpPr txBox="1"/>
            <p:nvPr/>
          </p:nvSpPr>
          <p:spPr>
            <a:xfrm>
              <a:off x="362774" y="-72964"/>
              <a:ext cx="1849921" cy="359923"/>
            </a:xfrm>
            <a:prstGeom prst="rect">
              <a:avLst/>
            </a:prstGeom>
            <a:noFill/>
            <a:ln>
              <a:noFill/>
            </a:ln>
          </p:spPr>
          <p:txBody>
            <a:bodyPr spcFirstLastPara="1" wrap="square" lIns="33867" tIns="33867" rIns="33867" bIns="33867" anchor="ctr" anchorCtr="0">
              <a:noAutofit/>
            </a:bodyPr>
            <a:lstStyle/>
            <a:p>
              <a:pPr algn="ctr">
                <a:lnSpc>
                  <a:spcPct val="148017"/>
                </a:lnSpc>
                <a:buSzPts val="2799"/>
              </a:pPr>
              <a:r>
                <a:rPr lang="es-GT" sz="1866" dirty="0"/>
                <a:t>Anuncios Generales</a:t>
              </a:r>
              <a:endParaRPr lang="es-GT" sz="933" dirty="0"/>
            </a:p>
          </p:txBody>
        </p:sp>
      </p:grpSp>
      <p:grpSp>
        <p:nvGrpSpPr>
          <p:cNvPr id="126" name="Google Shape;126;p2"/>
          <p:cNvGrpSpPr/>
          <p:nvPr/>
        </p:nvGrpSpPr>
        <p:grpSpPr>
          <a:xfrm>
            <a:off x="-708385" y="3908940"/>
            <a:ext cx="7821067" cy="563590"/>
            <a:chOff x="-285752" y="-39018"/>
            <a:chExt cx="2249973" cy="359923"/>
          </a:xfrm>
        </p:grpSpPr>
        <p:sp>
          <p:nvSpPr>
            <p:cNvPr id="127" name="Google Shape;127;p2"/>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sz="933" dirty="0"/>
            </a:p>
          </p:txBody>
        </p:sp>
        <p:sp>
          <p:nvSpPr>
            <p:cNvPr id="128" name="Google Shape;128;p2"/>
            <p:cNvSpPr txBox="1"/>
            <p:nvPr/>
          </p:nvSpPr>
          <p:spPr>
            <a:xfrm>
              <a:off x="-285752" y="-39018"/>
              <a:ext cx="2056962" cy="359923"/>
            </a:xfrm>
            <a:prstGeom prst="rect">
              <a:avLst/>
            </a:prstGeom>
            <a:noFill/>
            <a:ln>
              <a:noFill/>
            </a:ln>
          </p:spPr>
          <p:txBody>
            <a:bodyPr spcFirstLastPara="1" wrap="square" lIns="33867" tIns="33867" rIns="33867" bIns="33867" anchor="ctr" anchorCtr="0">
              <a:noAutofit/>
            </a:bodyPr>
            <a:lstStyle/>
            <a:p>
              <a:pPr algn="ctr">
                <a:lnSpc>
                  <a:spcPct val="148017"/>
                </a:lnSpc>
                <a:buSzPts val="2799"/>
              </a:pPr>
              <a:r>
                <a:rPr lang="en-US" sz="2000" dirty="0" err="1"/>
                <a:t>Modelos</a:t>
              </a:r>
              <a:r>
                <a:rPr lang="en-US" sz="2000" dirty="0"/>
                <a:t> de </a:t>
              </a:r>
              <a:r>
                <a:rPr lang="en-US" sz="2000" dirty="0" err="1"/>
                <a:t>servicio</a:t>
              </a:r>
              <a:r>
                <a:rPr lang="en-US" sz="2000" dirty="0"/>
                <a:t> de la </a:t>
              </a:r>
              <a:r>
                <a:rPr lang="en-US" sz="2000" dirty="0" err="1"/>
                <a:t>nube</a:t>
              </a:r>
              <a:endParaRPr lang="es-GT" sz="933" dirty="0"/>
            </a:p>
          </p:txBody>
        </p:sp>
      </p:grpSp>
      <p:grpSp>
        <p:nvGrpSpPr>
          <p:cNvPr id="129" name="Google Shape;129;p2"/>
          <p:cNvGrpSpPr/>
          <p:nvPr/>
        </p:nvGrpSpPr>
        <p:grpSpPr>
          <a:xfrm>
            <a:off x="307785" y="4490682"/>
            <a:ext cx="3430388" cy="563590"/>
            <a:chOff x="0" y="-16001"/>
            <a:chExt cx="2190733" cy="359923"/>
          </a:xfrm>
        </p:grpSpPr>
        <p:sp>
          <p:nvSpPr>
            <p:cNvPr id="130" name="Google Shape;130;p2"/>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sz="933" dirty="0"/>
            </a:p>
          </p:txBody>
        </p:sp>
        <p:sp>
          <p:nvSpPr>
            <p:cNvPr id="131" name="Google Shape;131;p2"/>
            <p:cNvSpPr txBox="1"/>
            <p:nvPr/>
          </p:nvSpPr>
          <p:spPr>
            <a:xfrm>
              <a:off x="340812" y="-16001"/>
              <a:ext cx="1849921" cy="359923"/>
            </a:xfrm>
            <a:prstGeom prst="rect">
              <a:avLst/>
            </a:prstGeom>
            <a:noFill/>
            <a:ln>
              <a:noFill/>
            </a:ln>
          </p:spPr>
          <p:txBody>
            <a:bodyPr spcFirstLastPara="1" wrap="square" lIns="33867" tIns="33867" rIns="33867" bIns="33867" anchor="ctr" anchorCtr="0">
              <a:noAutofit/>
            </a:bodyPr>
            <a:lstStyle/>
            <a:p>
              <a:pPr algn="ctr">
                <a:lnSpc>
                  <a:spcPct val="148017"/>
                </a:lnSpc>
                <a:buSzPts val="2799"/>
              </a:pPr>
              <a:r>
                <a:rPr lang="en-US" sz="2000" dirty="0" err="1">
                  <a:solidFill>
                    <a:schemeClr val="tx1"/>
                  </a:solidFill>
                </a:rPr>
                <a:t>Herramientas</a:t>
              </a:r>
              <a:r>
                <a:rPr lang="en-US" sz="2000" dirty="0">
                  <a:solidFill>
                    <a:schemeClr val="tx1"/>
                  </a:solidFill>
                </a:rPr>
                <a:t> IaaS</a:t>
              </a:r>
              <a:endParaRPr lang="es-GT" sz="933" dirty="0">
                <a:solidFill>
                  <a:schemeClr val="tx1"/>
                </a:solidFill>
              </a:endParaRPr>
            </a:p>
          </p:txBody>
        </p:sp>
      </p:grpSp>
      <p:grpSp>
        <p:nvGrpSpPr>
          <p:cNvPr id="132" name="Google Shape;132;p2"/>
          <p:cNvGrpSpPr/>
          <p:nvPr/>
        </p:nvGrpSpPr>
        <p:grpSpPr>
          <a:xfrm>
            <a:off x="127937" y="5173986"/>
            <a:ext cx="3075701" cy="563590"/>
            <a:chOff x="0" y="-64861"/>
            <a:chExt cx="1964221" cy="359923"/>
          </a:xfrm>
        </p:grpSpPr>
        <p:sp>
          <p:nvSpPr>
            <p:cNvPr id="133" name="Google Shape;133;p2"/>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sz="933" dirty="0"/>
            </a:p>
          </p:txBody>
        </p:sp>
        <p:sp>
          <p:nvSpPr>
            <p:cNvPr id="134" name="Google Shape;134;p2"/>
            <p:cNvSpPr txBox="1"/>
            <p:nvPr/>
          </p:nvSpPr>
          <p:spPr>
            <a:xfrm>
              <a:off x="104397" y="-64861"/>
              <a:ext cx="1849921" cy="359923"/>
            </a:xfrm>
            <a:prstGeom prst="rect">
              <a:avLst/>
            </a:prstGeom>
            <a:noFill/>
            <a:ln>
              <a:noFill/>
            </a:ln>
          </p:spPr>
          <p:txBody>
            <a:bodyPr spcFirstLastPara="1" wrap="square" lIns="33867" tIns="33867" rIns="33867" bIns="33867" anchor="ctr" anchorCtr="0">
              <a:noAutofit/>
            </a:bodyPr>
            <a:lstStyle/>
            <a:p>
              <a:pPr algn="ctr">
                <a:lnSpc>
                  <a:spcPct val="148017"/>
                </a:lnSpc>
                <a:buSzPts val="2799"/>
              </a:pPr>
              <a:r>
                <a:rPr lang="es-GT" sz="1866" dirty="0"/>
                <a:t>Helm</a:t>
              </a:r>
              <a:endParaRPr lang="es-GT" sz="933" dirty="0"/>
            </a:p>
          </p:txBody>
        </p:sp>
      </p:grpSp>
      <p:sp>
        <p:nvSpPr>
          <p:cNvPr id="135" name="Google Shape;135;p2"/>
          <p:cNvSpPr/>
          <p:nvPr/>
        </p:nvSpPr>
        <p:spPr>
          <a:xfrm>
            <a:off x="585766" y="3326466"/>
            <a:ext cx="302239" cy="366729"/>
          </a:xfrm>
          <a:custGeom>
            <a:avLst/>
            <a:gdLst/>
            <a:ahLst/>
            <a:cxnLst/>
            <a:rect l="l" t="t" r="r" b="b"/>
            <a:pathLst>
              <a:path w="453358" h="550094" extrusionOk="0">
                <a:moveTo>
                  <a:pt x="0" y="0"/>
                </a:moveTo>
                <a:lnTo>
                  <a:pt x="453359" y="0"/>
                </a:lnTo>
                <a:lnTo>
                  <a:pt x="453359" y="550094"/>
                </a:lnTo>
                <a:lnTo>
                  <a:pt x="0" y="550094"/>
                </a:lnTo>
                <a:lnTo>
                  <a:pt x="0" y="0"/>
                </a:lnTo>
                <a:close/>
              </a:path>
            </a:pathLst>
          </a:custGeom>
          <a:blipFill rotWithShape="1">
            <a:blip r:embed="rId3">
              <a:alphaModFix/>
            </a:blip>
            <a:stretch>
              <a:fillRect/>
            </a:stretch>
          </a:blipFill>
          <a:ln>
            <a:noFill/>
          </a:ln>
        </p:spPr>
        <p:txBody>
          <a:bodyPr/>
          <a:lstStyle/>
          <a:p>
            <a:endParaRPr lang="es-GT" sz="933" dirty="0"/>
          </a:p>
        </p:txBody>
      </p:sp>
      <p:sp>
        <p:nvSpPr>
          <p:cNvPr id="136" name="Google Shape;136;p2"/>
          <p:cNvSpPr/>
          <p:nvPr/>
        </p:nvSpPr>
        <p:spPr>
          <a:xfrm>
            <a:off x="585766" y="3980848"/>
            <a:ext cx="302239" cy="366729"/>
          </a:xfrm>
          <a:custGeom>
            <a:avLst/>
            <a:gdLst/>
            <a:ahLst/>
            <a:cxnLst/>
            <a:rect l="l" t="t" r="r" b="b"/>
            <a:pathLst>
              <a:path w="453358" h="550094" extrusionOk="0">
                <a:moveTo>
                  <a:pt x="0" y="0"/>
                </a:moveTo>
                <a:lnTo>
                  <a:pt x="453359" y="0"/>
                </a:lnTo>
                <a:lnTo>
                  <a:pt x="453359" y="550094"/>
                </a:lnTo>
                <a:lnTo>
                  <a:pt x="0" y="550094"/>
                </a:lnTo>
                <a:lnTo>
                  <a:pt x="0" y="0"/>
                </a:lnTo>
                <a:close/>
              </a:path>
            </a:pathLst>
          </a:custGeom>
          <a:blipFill rotWithShape="1">
            <a:blip r:embed="rId3">
              <a:alphaModFix/>
            </a:blip>
            <a:stretch>
              <a:fillRect/>
            </a:stretch>
          </a:blipFill>
          <a:ln>
            <a:noFill/>
          </a:ln>
        </p:spPr>
        <p:txBody>
          <a:bodyPr/>
          <a:lstStyle/>
          <a:p>
            <a:endParaRPr lang="es-GT" sz="933" dirty="0"/>
          </a:p>
        </p:txBody>
      </p:sp>
      <p:sp>
        <p:nvSpPr>
          <p:cNvPr id="137" name="Google Shape;137;p2"/>
          <p:cNvSpPr/>
          <p:nvPr/>
        </p:nvSpPr>
        <p:spPr>
          <a:xfrm>
            <a:off x="585766" y="4647369"/>
            <a:ext cx="302239" cy="366729"/>
          </a:xfrm>
          <a:custGeom>
            <a:avLst/>
            <a:gdLst/>
            <a:ahLst/>
            <a:cxnLst/>
            <a:rect l="l" t="t" r="r" b="b"/>
            <a:pathLst>
              <a:path w="453358" h="550094" extrusionOk="0">
                <a:moveTo>
                  <a:pt x="0" y="0"/>
                </a:moveTo>
                <a:lnTo>
                  <a:pt x="453359" y="0"/>
                </a:lnTo>
                <a:lnTo>
                  <a:pt x="453359" y="550094"/>
                </a:lnTo>
                <a:lnTo>
                  <a:pt x="0" y="550094"/>
                </a:lnTo>
                <a:lnTo>
                  <a:pt x="0" y="0"/>
                </a:lnTo>
                <a:close/>
              </a:path>
            </a:pathLst>
          </a:custGeom>
          <a:blipFill rotWithShape="1">
            <a:blip r:embed="rId3">
              <a:alphaModFix/>
            </a:blip>
            <a:stretch>
              <a:fillRect/>
            </a:stretch>
          </a:blipFill>
          <a:ln>
            <a:noFill/>
          </a:ln>
        </p:spPr>
        <p:txBody>
          <a:bodyPr/>
          <a:lstStyle/>
          <a:p>
            <a:endParaRPr lang="es-GT" sz="933" dirty="0"/>
          </a:p>
        </p:txBody>
      </p:sp>
      <p:sp>
        <p:nvSpPr>
          <p:cNvPr id="138" name="Google Shape;138;p2"/>
          <p:cNvSpPr/>
          <p:nvPr/>
        </p:nvSpPr>
        <p:spPr>
          <a:xfrm>
            <a:off x="585766" y="5314639"/>
            <a:ext cx="302239" cy="366729"/>
          </a:xfrm>
          <a:custGeom>
            <a:avLst/>
            <a:gdLst/>
            <a:ahLst/>
            <a:cxnLst/>
            <a:rect l="l" t="t" r="r" b="b"/>
            <a:pathLst>
              <a:path w="453358" h="550094" extrusionOk="0">
                <a:moveTo>
                  <a:pt x="0" y="0"/>
                </a:moveTo>
                <a:lnTo>
                  <a:pt x="453359" y="0"/>
                </a:lnTo>
                <a:lnTo>
                  <a:pt x="453359" y="550095"/>
                </a:lnTo>
                <a:lnTo>
                  <a:pt x="0" y="550095"/>
                </a:lnTo>
                <a:lnTo>
                  <a:pt x="0" y="0"/>
                </a:lnTo>
                <a:close/>
              </a:path>
            </a:pathLst>
          </a:custGeom>
          <a:blipFill rotWithShape="1">
            <a:blip r:embed="rId3">
              <a:alphaModFix/>
            </a:blip>
            <a:stretch>
              <a:fillRect/>
            </a:stretch>
          </a:blipFill>
          <a:ln>
            <a:noFill/>
          </a:ln>
        </p:spPr>
        <p:txBody>
          <a:bodyPr/>
          <a:lstStyle/>
          <a:p>
            <a:endParaRPr lang="es-GT" sz="933" dirty="0"/>
          </a:p>
        </p:txBody>
      </p:sp>
      <p:grpSp>
        <p:nvGrpSpPr>
          <p:cNvPr id="10" name="Google Shape;132;p2">
            <a:extLst>
              <a:ext uri="{FF2B5EF4-FFF2-40B4-BE49-F238E27FC236}">
                <a16:creationId xmlns:a16="http://schemas.microsoft.com/office/drawing/2014/main" id="{DB5BB7A4-AE5E-86F8-4B7F-CEE5EE26A0E6}"/>
              </a:ext>
            </a:extLst>
          </p:cNvPr>
          <p:cNvGrpSpPr/>
          <p:nvPr/>
        </p:nvGrpSpPr>
        <p:grpSpPr>
          <a:xfrm>
            <a:off x="434497" y="5659485"/>
            <a:ext cx="6301581" cy="809875"/>
            <a:chOff x="-2060129" y="0"/>
            <a:chExt cx="4024350" cy="517207"/>
          </a:xfrm>
        </p:grpSpPr>
        <p:sp>
          <p:nvSpPr>
            <p:cNvPr id="11" name="Google Shape;133;p2">
              <a:extLst>
                <a:ext uri="{FF2B5EF4-FFF2-40B4-BE49-F238E27FC236}">
                  <a16:creationId xmlns:a16="http://schemas.microsoft.com/office/drawing/2014/main" id="{F01663B2-C686-2FF3-A923-B7E76CB920D4}"/>
                </a:ext>
              </a:extLst>
            </p:cNvPr>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sz="933" dirty="0"/>
            </a:p>
          </p:txBody>
        </p:sp>
        <p:sp>
          <p:nvSpPr>
            <p:cNvPr id="12" name="Google Shape;134;p2">
              <a:extLst>
                <a:ext uri="{FF2B5EF4-FFF2-40B4-BE49-F238E27FC236}">
                  <a16:creationId xmlns:a16="http://schemas.microsoft.com/office/drawing/2014/main" id="{4673B32B-14F2-36D6-8FDF-88189ED3BF90}"/>
                </a:ext>
              </a:extLst>
            </p:cNvPr>
            <p:cNvSpPr txBox="1"/>
            <p:nvPr/>
          </p:nvSpPr>
          <p:spPr>
            <a:xfrm>
              <a:off x="-2060129" y="157284"/>
              <a:ext cx="1849921" cy="359923"/>
            </a:xfrm>
            <a:prstGeom prst="rect">
              <a:avLst/>
            </a:prstGeom>
            <a:noFill/>
            <a:ln>
              <a:noFill/>
            </a:ln>
          </p:spPr>
          <p:txBody>
            <a:bodyPr spcFirstLastPara="1" wrap="square" lIns="33867" tIns="33867" rIns="33867" bIns="33867" anchor="ctr" anchorCtr="0">
              <a:noAutofit/>
            </a:bodyPr>
            <a:lstStyle/>
            <a:p>
              <a:pPr algn="ctr">
                <a:lnSpc>
                  <a:spcPct val="148017"/>
                </a:lnSpc>
                <a:buSzPts val="2799"/>
              </a:pPr>
              <a:r>
                <a:rPr lang="es-GT" sz="1866" dirty="0"/>
                <a:t>Dudas Finales</a:t>
              </a:r>
              <a:endParaRPr lang="es-GT" sz="933" dirty="0"/>
            </a:p>
          </p:txBody>
        </p:sp>
      </p:grpSp>
      <p:sp>
        <p:nvSpPr>
          <p:cNvPr id="13" name="Google Shape;138;p2">
            <a:extLst>
              <a:ext uri="{FF2B5EF4-FFF2-40B4-BE49-F238E27FC236}">
                <a16:creationId xmlns:a16="http://schemas.microsoft.com/office/drawing/2014/main" id="{DB9B4FB8-5289-6F72-4D0C-D213312F8747}"/>
              </a:ext>
            </a:extLst>
          </p:cNvPr>
          <p:cNvSpPr/>
          <p:nvPr/>
        </p:nvSpPr>
        <p:spPr>
          <a:xfrm>
            <a:off x="585766" y="6000830"/>
            <a:ext cx="302239" cy="366729"/>
          </a:xfrm>
          <a:custGeom>
            <a:avLst/>
            <a:gdLst/>
            <a:ahLst/>
            <a:cxnLst/>
            <a:rect l="l" t="t" r="r" b="b"/>
            <a:pathLst>
              <a:path w="453358" h="550094" extrusionOk="0">
                <a:moveTo>
                  <a:pt x="0" y="0"/>
                </a:moveTo>
                <a:lnTo>
                  <a:pt x="453359" y="0"/>
                </a:lnTo>
                <a:lnTo>
                  <a:pt x="453359" y="550095"/>
                </a:lnTo>
                <a:lnTo>
                  <a:pt x="0" y="550095"/>
                </a:lnTo>
                <a:lnTo>
                  <a:pt x="0" y="0"/>
                </a:lnTo>
                <a:close/>
              </a:path>
            </a:pathLst>
          </a:custGeom>
          <a:blipFill rotWithShape="1">
            <a:blip r:embed="rId3">
              <a:alphaModFix/>
            </a:blip>
            <a:stretch>
              <a:fillRect/>
            </a:stretch>
          </a:blipFill>
          <a:ln>
            <a:noFill/>
          </a:ln>
        </p:spPr>
        <p:txBody>
          <a:bodyPr/>
          <a:lstStyle/>
          <a:p>
            <a:endParaRPr lang="es-GT" sz="933" dirty="0"/>
          </a:p>
        </p:txBody>
      </p:sp>
    </p:spTree>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6"/>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Calibri"/>
              <a:ea typeface="Calibri"/>
              <a:cs typeface="Calibri"/>
              <a:sym typeface="Calibri"/>
            </a:endParaRPr>
          </a:p>
        </p:txBody>
      </p:sp>
      <p:sp>
        <p:nvSpPr>
          <p:cNvPr id="121" name="Google Shape;121;p6"/>
          <p:cNvSpPr txBox="1">
            <a:spLocks noGrp="1"/>
          </p:cNvSpPr>
          <p:nvPr>
            <p:ph type="title"/>
          </p:nvPr>
        </p:nvSpPr>
        <p:spPr>
          <a:xfrm>
            <a:off x="572493" y="238539"/>
            <a:ext cx="11018520" cy="1434415"/>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5400"/>
              <a:buFont typeface="Calibri"/>
              <a:buNone/>
            </a:pPr>
            <a:r>
              <a:rPr lang="en-US" sz="5400" b="1" dirty="0" err="1"/>
              <a:t>Modelos</a:t>
            </a:r>
            <a:r>
              <a:rPr lang="en-US" sz="5400" b="1" dirty="0"/>
              <a:t> de </a:t>
            </a:r>
            <a:r>
              <a:rPr lang="en-US" sz="5400" b="1" dirty="0" err="1"/>
              <a:t>servicio</a:t>
            </a:r>
            <a:r>
              <a:rPr lang="en-US" sz="5400" b="1" dirty="0"/>
              <a:t> de la </a:t>
            </a:r>
            <a:r>
              <a:rPr lang="en-US" sz="5400" b="1" dirty="0" err="1"/>
              <a:t>nube</a:t>
            </a:r>
            <a:endParaRPr sz="5400" dirty="0"/>
          </a:p>
        </p:txBody>
      </p:sp>
      <p:sp>
        <p:nvSpPr>
          <p:cNvPr id="122" name="Google Shape;122;p6"/>
          <p:cNvSpPr/>
          <p:nvPr/>
        </p:nvSpPr>
        <p:spPr>
          <a:xfrm>
            <a:off x="572493" y="1681544"/>
            <a:ext cx="10972800" cy="18288"/>
          </a:xfrm>
          <a:custGeom>
            <a:avLst/>
            <a:gdLst/>
            <a:ahLst/>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3725"/>
            </a:schemeClr>
          </a:solidFill>
          <a:ln w="44450" cap="rnd" cmpd="sng">
            <a:solidFill>
              <a:schemeClr val="accent2">
                <a:alpha val="73725"/>
              </a:scheme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23" name="Google Shape;123;p6"/>
          <p:cNvPicPr preferRelativeResize="0"/>
          <p:nvPr/>
        </p:nvPicPr>
        <p:blipFill rotWithShape="1">
          <a:blip r:embed="rId3">
            <a:alphaModFix/>
          </a:blip>
          <a:srcRect/>
          <a:stretch/>
        </p:blipFill>
        <p:spPr>
          <a:xfrm>
            <a:off x="2565500" y="1845575"/>
            <a:ext cx="6798901" cy="4717599"/>
          </a:xfrm>
          <a:prstGeom prst="rect">
            <a:avLst/>
          </a:prstGeom>
          <a:solidFill>
            <a:schemeClr val="lt1"/>
          </a:solid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5"/>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0" name="Google Shape;130;p5"/>
          <p:cNvSpPr txBox="1">
            <a:spLocks noGrp="1"/>
          </p:cNvSpPr>
          <p:nvPr>
            <p:ph type="title"/>
          </p:nvPr>
        </p:nvSpPr>
        <p:spPr>
          <a:xfrm>
            <a:off x="640080" y="329184"/>
            <a:ext cx="6894576" cy="1783080"/>
          </a:xfrm>
          <a:prstGeom prst="rect">
            <a:avLst/>
          </a:prstGeom>
          <a:noFill/>
          <a:ln>
            <a:noFill/>
          </a:ln>
        </p:spPr>
        <p:txBody>
          <a:bodyPr spcFirstLastPara="1" wrap="square" lIns="91425" tIns="45700" rIns="91425" bIns="45700" anchor="b"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US" sz="5400"/>
              <a:t>IaaS </a:t>
            </a:r>
            <a:br>
              <a:rPr lang="en-US" sz="5400"/>
            </a:br>
            <a:r>
              <a:rPr lang="en-US" sz="5400"/>
              <a:t>Infraestrcutre as a Service</a:t>
            </a:r>
            <a:endParaRPr/>
          </a:p>
        </p:txBody>
      </p:sp>
      <p:sp>
        <p:nvSpPr>
          <p:cNvPr id="131" name="Google Shape;131;p5"/>
          <p:cNvSpPr/>
          <p:nvPr/>
        </p:nvSpPr>
        <p:spPr>
          <a:xfrm>
            <a:off x="758952" y="2395728"/>
            <a:ext cx="4243589" cy="18288"/>
          </a:xfrm>
          <a:custGeom>
            <a:avLst/>
            <a:gdLst/>
            <a:ahLst/>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2" name="Google Shape;132;p5"/>
          <p:cNvSpPr txBox="1">
            <a:spLocks noGrp="1"/>
          </p:cNvSpPr>
          <p:nvPr>
            <p:ph type="body" idx="1"/>
          </p:nvPr>
        </p:nvSpPr>
        <p:spPr>
          <a:xfrm>
            <a:off x="640080" y="2706624"/>
            <a:ext cx="6894576" cy="3483864"/>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200"/>
              <a:buChar char="•"/>
            </a:pPr>
            <a:r>
              <a:rPr lang="en-US" sz="2200"/>
              <a:t>Es un modelo de servicios en la nube que proporciona a las organizaciones acceso a recursos informáticos fundamentales como capacidad de procesamiento, almacenamiento, redes y otros elementos de infraestructura de TI de forma virtualizada a través de internet.</a:t>
            </a:r>
            <a:endParaRPr/>
          </a:p>
          <a:p>
            <a:pPr marL="228600" lvl="0" indent="-228600" algn="l" rtl="0">
              <a:lnSpc>
                <a:spcPct val="90000"/>
              </a:lnSpc>
              <a:spcBef>
                <a:spcPts val="1000"/>
              </a:spcBef>
              <a:spcAft>
                <a:spcPts val="0"/>
              </a:spcAft>
              <a:buClr>
                <a:schemeClr val="dk1"/>
              </a:buClr>
              <a:buSzPts val="2200"/>
              <a:buChar char="•"/>
            </a:pPr>
            <a:r>
              <a:rPr lang="en-US" sz="2200"/>
              <a:t>En lugar de comprar y mantener servidores físicos y otros equipos de infraestructura localmente, las empresas pueden alquilar estos recursos según sea necesario en la nube</a:t>
            </a:r>
            <a:endParaRPr/>
          </a:p>
          <a:p>
            <a:pPr marL="457200" lvl="0" indent="0" algn="l" rtl="0">
              <a:lnSpc>
                <a:spcPct val="90000"/>
              </a:lnSpc>
              <a:spcBef>
                <a:spcPts val="1000"/>
              </a:spcBef>
              <a:spcAft>
                <a:spcPts val="0"/>
              </a:spcAft>
              <a:buSzPts val="1800"/>
              <a:buNone/>
            </a:pPr>
            <a:endParaRPr/>
          </a:p>
          <a:p>
            <a:pPr marL="0" lvl="0" indent="0" algn="l" rtl="0">
              <a:lnSpc>
                <a:spcPct val="90000"/>
              </a:lnSpc>
              <a:spcBef>
                <a:spcPts val="1000"/>
              </a:spcBef>
              <a:spcAft>
                <a:spcPts val="0"/>
              </a:spcAft>
              <a:buClr>
                <a:schemeClr val="dk1"/>
              </a:buClr>
              <a:buSzPts val="2200"/>
              <a:buNone/>
            </a:pPr>
            <a:endParaRPr sz="2200"/>
          </a:p>
        </p:txBody>
      </p:sp>
      <p:pic>
        <p:nvPicPr>
          <p:cNvPr id="133" name="Google Shape;133;p5"/>
          <p:cNvPicPr preferRelativeResize="0"/>
          <p:nvPr/>
        </p:nvPicPr>
        <p:blipFill rotWithShape="1">
          <a:blip r:embed="rId3">
            <a:alphaModFix/>
          </a:blip>
          <a:srcRect/>
          <a:stretch/>
        </p:blipFill>
        <p:spPr>
          <a:xfrm>
            <a:off x="7534650" y="2276100"/>
            <a:ext cx="4360726" cy="27254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7"/>
          <p:cNvSpPr/>
          <p:nvPr/>
        </p:nvSpPr>
        <p:spPr>
          <a:xfrm>
            <a:off x="-30575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9" name="Google Shape;139;p7"/>
          <p:cNvSpPr>
            <a:spLocks noGrp="1"/>
          </p:cNvSpPr>
          <p:nvPr>
            <p:ph type="title"/>
          </p:nvPr>
        </p:nvSpPr>
        <p:spPr>
          <a:xfrm>
            <a:off x="316700" y="639200"/>
            <a:ext cx="6552300" cy="3641700"/>
          </a:xfrm>
          <a:prstGeom prst="ellipse">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5600"/>
              <a:buFont typeface="Calibri"/>
              <a:buNone/>
            </a:pPr>
            <a:r>
              <a:rPr lang="en-US" sz="5600"/>
              <a:t>Caracteristicas </a:t>
            </a:r>
            <a:endParaRPr sz="5600"/>
          </a:p>
          <a:p>
            <a:pPr marL="0" lvl="0" indent="0" algn="l" rtl="0">
              <a:lnSpc>
                <a:spcPct val="90000"/>
              </a:lnSpc>
              <a:spcBef>
                <a:spcPts val="0"/>
              </a:spcBef>
              <a:spcAft>
                <a:spcPts val="0"/>
              </a:spcAft>
              <a:buClr>
                <a:schemeClr val="dk1"/>
              </a:buClr>
              <a:buSzPts val="5600"/>
              <a:buFont typeface="Calibri"/>
              <a:buNone/>
            </a:pPr>
            <a:r>
              <a:rPr lang="en-US" sz="5600"/>
              <a:t>Principales</a:t>
            </a:r>
            <a:endParaRPr sz="5600"/>
          </a:p>
        </p:txBody>
      </p:sp>
      <p:sp>
        <p:nvSpPr>
          <p:cNvPr id="140" name="Google Shape;140;p7"/>
          <p:cNvSpPr/>
          <p:nvPr/>
        </p:nvSpPr>
        <p:spPr>
          <a:xfrm>
            <a:off x="643278" y="4409267"/>
            <a:ext cx="3255095" cy="18288"/>
          </a:xfrm>
          <a:custGeom>
            <a:avLst/>
            <a:gdLst/>
            <a:ahLst/>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41" name="Google Shape;141;p7"/>
          <p:cNvSpPr txBox="1"/>
          <p:nvPr/>
        </p:nvSpPr>
        <p:spPr>
          <a:xfrm>
            <a:off x="6967200" y="1474250"/>
            <a:ext cx="4433700" cy="4063500"/>
          </a:xfrm>
          <a:prstGeom prst="rect">
            <a:avLst/>
          </a:prstGeom>
          <a:noFill/>
          <a:ln>
            <a:noFill/>
          </a:ln>
        </p:spPr>
        <p:txBody>
          <a:bodyPr spcFirstLastPara="1" wrap="square" lIns="91425" tIns="91425" rIns="91425" bIns="91425" anchor="t" anchorCtr="0">
            <a:spAutoFit/>
          </a:bodyPr>
          <a:lstStyle/>
          <a:p>
            <a:pPr marL="457200" marR="0" lvl="0" indent="-406400" algn="l" rtl="0">
              <a:lnSpc>
                <a:spcPct val="100000"/>
              </a:lnSpc>
              <a:spcBef>
                <a:spcPts val="0"/>
              </a:spcBef>
              <a:spcAft>
                <a:spcPts val="0"/>
              </a:spcAft>
              <a:buClr>
                <a:schemeClr val="dk1"/>
              </a:buClr>
              <a:buSzPts val="2800"/>
              <a:buFont typeface="Calibri"/>
              <a:buChar char="●"/>
            </a:pPr>
            <a:r>
              <a:rPr lang="en-US" sz="2800" b="0" i="0" u="none" strike="noStrike" cap="none">
                <a:solidFill>
                  <a:schemeClr val="dk1"/>
                </a:solidFill>
                <a:latin typeface="Calibri"/>
                <a:ea typeface="Calibri"/>
                <a:cs typeface="Calibri"/>
                <a:sym typeface="Calibri"/>
              </a:rPr>
              <a:t>Escalabilidad</a:t>
            </a:r>
            <a:endParaRPr sz="2800" b="0" i="0" u="none" strike="noStrike" cap="none">
              <a:solidFill>
                <a:schemeClr val="dk1"/>
              </a:solidFill>
              <a:latin typeface="Calibri"/>
              <a:ea typeface="Calibri"/>
              <a:cs typeface="Calibri"/>
              <a:sym typeface="Calibri"/>
            </a:endParaRPr>
          </a:p>
          <a:p>
            <a:pPr marL="457200" marR="0" lvl="0" indent="-406400" algn="l" rtl="0">
              <a:lnSpc>
                <a:spcPct val="100000"/>
              </a:lnSpc>
              <a:spcBef>
                <a:spcPts val="0"/>
              </a:spcBef>
              <a:spcAft>
                <a:spcPts val="0"/>
              </a:spcAft>
              <a:buClr>
                <a:schemeClr val="dk1"/>
              </a:buClr>
              <a:buSzPts val="2800"/>
              <a:buFont typeface="Calibri"/>
              <a:buChar char="●"/>
            </a:pPr>
            <a:r>
              <a:rPr lang="en-US" sz="2800" b="0" i="0" u="none" strike="noStrike" cap="none">
                <a:solidFill>
                  <a:schemeClr val="dk1"/>
                </a:solidFill>
                <a:latin typeface="Calibri"/>
                <a:ea typeface="Calibri"/>
                <a:cs typeface="Calibri"/>
                <a:sym typeface="Calibri"/>
              </a:rPr>
              <a:t>Pago por uso</a:t>
            </a:r>
            <a:endParaRPr sz="2800" b="0" i="0" u="none" strike="noStrike" cap="none">
              <a:solidFill>
                <a:schemeClr val="dk1"/>
              </a:solidFill>
              <a:latin typeface="Calibri"/>
              <a:ea typeface="Calibri"/>
              <a:cs typeface="Calibri"/>
              <a:sym typeface="Calibri"/>
            </a:endParaRPr>
          </a:p>
          <a:p>
            <a:pPr marL="457200" marR="0" lvl="0" indent="-406400" algn="l" rtl="0">
              <a:lnSpc>
                <a:spcPct val="100000"/>
              </a:lnSpc>
              <a:spcBef>
                <a:spcPts val="0"/>
              </a:spcBef>
              <a:spcAft>
                <a:spcPts val="0"/>
              </a:spcAft>
              <a:buClr>
                <a:schemeClr val="dk1"/>
              </a:buClr>
              <a:buSzPts val="2800"/>
              <a:buFont typeface="Calibri"/>
              <a:buChar char="●"/>
            </a:pPr>
            <a:r>
              <a:rPr lang="en-US" sz="2800" b="0" i="0" u="none" strike="noStrike" cap="none">
                <a:solidFill>
                  <a:schemeClr val="dk1"/>
                </a:solidFill>
                <a:latin typeface="Calibri"/>
                <a:ea typeface="Calibri"/>
                <a:cs typeface="Calibri"/>
                <a:sym typeface="Calibri"/>
              </a:rPr>
              <a:t>Automatizacion</a:t>
            </a:r>
            <a:endParaRPr sz="2800" b="0" i="0" u="none" strike="noStrike" cap="none">
              <a:solidFill>
                <a:schemeClr val="dk1"/>
              </a:solidFill>
              <a:latin typeface="Calibri"/>
              <a:ea typeface="Calibri"/>
              <a:cs typeface="Calibri"/>
              <a:sym typeface="Calibri"/>
            </a:endParaRPr>
          </a:p>
          <a:p>
            <a:pPr marL="457200" marR="0" lvl="0" indent="-406400" algn="l" rtl="0">
              <a:lnSpc>
                <a:spcPct val="100000"/>
              </a:lnSpc>
              <a:spcBef>
                <a:spcPts val="0"/>
              </a:spcBef>
              <a:spcAft>
                <a:spcPts val="0"/>
              </a:spcAft>
              <a:buClr>
                <a:schemeClr val="dk1"/>
              </a:buClr>
              <a:buSzPts val="2800"/>
              <a:buFont typeface="Calibri"/>
              <a:buChar char="●"/>
            </a:pPr>
            <a:r>
              <a:rPr lang="en-US" sz="2800" b="0" i="0" u="none" strike="noStrike" cap="none">
                <a:solidFill>
                  <a:schemeClr val="dk1"/>
                </a:solidFill>
                <a:latin typeface="Calibri"/>
                <a:ea typeface="Calibri"/>
                <a:cs typeface="Calibri"/>
                <a:sym typeface="Calibri"/>
              </a:rPr>
              <a:t>Virtualización</a:t>
            </a:r>
            <a:endParaRPr sz="2800" b="0" i="0" u="none" strike="noStrike" cap="none">
              <a:solidFill>
                <a:schemeClr val="dk1"/>
              </a:solidFill>
              <a:latin typeface="Calibri"/>
              <a:ea typeface="Calibri"/>
              <a:cs typeface="Calibri"/>
              <a:sym typeface="Calibri"/>
            </a:endParaRPr>
          </a:p>
          <a:p>
            <a:pPr marL="457200" marR="0" lvl="0" indent="-406400" algn="l" rtl="0">
              <a:lnSpc>
                <a:spcPct val="100000"/>
              </a:lnSpc>
              <a:spcBef>
                <a:spcPts val="0"/>
              </a:spcBef>
              <a:spcAft>
                <a:spcPts val="0"/>
              </a:spcAft>
              <a:buClr>
                <a:schemeClr val="dk1"/>
              </a:buClr>
              <a:buSzPts val="2800"/>
              <a:buFont typeface="Calibri"/>
              <a:buChar char="●"/>
            </a:pPr>
            <a:r>
              <a:rPr lang="en-US" sz="2800" b="0" i="0" u="none" strike="noStrike" cap="none">
                <a:solidFill>
                  <a:schemeClr val="dk1"/>
                </a:solidFill>
                <a:latin typeface="Calibri"/>
                <a:ea typeface="Calibri"/>
                <a:cs typeface="Calibri"/>
                <a:sym typeface="Calibri"/>
              </a:rPr>
              <a:t>Acceso remoto</a:t>
            </a:r>
            <a:endParaRPr sz="2800" b="0" i="0" u="none" strike="noStrike" cap="none">
              <a:solidFill>
                <a:schemeClr val="dk1"/>
              </a:solidFill>
              <a:latin typeface="Calibri"/>
              <a:ea typeface="Calibri"/>
              <a:cs typeface="Calibri"/>
              <a:sym typeface="Calibri"/>
            </a:endParaRPr>
          </a:p>
          <a:p>
            <a:pPr marL="457200" marR="0" lvl="0" indent="-406400" algn="l" rtl="0">
              <a:lnSpc>
                <a:spcPct val="100000"/>
              </a:lnSpc>
              <a:spcBef>
                <a:spcPts val="0"/>
              </a:spcBef>
              <a:spcAft>
                <a:spcPts val="0"/>
              </a:spcAft>
              <a:buClr>
                <a:schemeClr val="dk1"/>
              </a:buClr>
              <a:buSzPts val="2800"/>
              <a:buFont typeface="Calibri"/>
              <a:buChar char="●"/>
            </a:pPr>
            <a:r>
              <a:rPr lang="en-US" sz="2800" b="0" i="0" u="none" strike="noStrike" cap="none">
                <a:solidFill>
                  <a:schemeClr val="dk1"/>
                </a:solidFill>
                <a:latin typeface="Calibri"/>
                <a:ea typeface="Calibri"/>
                <a:cs typeface="Calibri"/>
                <a:sym typeface="Calibri"/>
              </a:rPr>
              <a:t>Alta disponibilidad</a:t>
            </a:r>
            <a:endParaRPr sz="2800" b="0" i="0" u="none" strike="noStrike" cap="none">
              <a:solidFill>
                <a:schemeClr val="dk1"/>
              </a:solidFill>
              <a:latin typeface="Calibri"/>
              <a:ea typeface="Calibri"/>
              <a:cs typeface="Calibri"/>
              <a:sym typeface="Calibri"/>
            </a:endParaRPr>
          </a:p>
          <a:p>
            <a:pPr marL="457200" marR="0" lvl="0" indent="-406400" algn="l" rtl="0">
              <a:lnSpc>
                <a:spcPct val="100000"/>
              </a:lnSpc>
              <a:spcBef>
                <a:spcPts val="0"/>
              </a:spcBef>
              <a:spcAft>
                <a:spcPts val="0"/>
              </a:spcAft>
              <a:buClr>
                <a:schemeClr val="dk1"/>
              </a:buClr>
              <a:buSzPts val="2800"/>
              <a:buFont typeface="Calibri"/>
              <a:buChar char="●"/>
            </a:pPr>
            <a:r>
              <a:rPr lang="en-US" sz="2800" b="0" i="0" u="none" strike="noStrike" cap="none">
                <a:solidFill>
                  <a:schemeClr val="dk1"/>
                </a:solidFill>
                <a:latin typeface="Calibri"/>
                <a:ea typeface="Calibri"/>
                <a:cs typeface="Calibri"/>
                <a:sym typeface="Calibri"/>
              </a:rPr>
              <a:t>Tolerancia a fallos</a:t>
            </a:r>
            <a:endParaRPr sz="2800" b="0" i="0" u="none" strike="noStrike" cap="none">
              <a:solidFill>
                <a:schemeClr val="dk1"/>
              </a:solidFill>
              <a:latin typeface="Calibri"/>
              <a:ea typeface="Calibri"/>
              <a:cs typeface="Calibri"/>
              <a:sym typeface="Calibri"/>
            </a:endParaRPr>
          </a:p>
          <a:p>
            <a:pPr marL="457200" marR="0" lvl="0" indent="-406400" algn="l" rtl="0">
              <a:lnSpc>
                <a:spcPct val="100000"/>
              </a:lnSpc>
              <a:spcBef>
                <a:spcPts val="0"/>
              </a:spcBef>
              <a:spcAft>
                <a:spcPts val="0"/>
              </a:spcAft>
              <a:buClr>
                <a:schemeClr val="dk1"/>
              </a:buClr>
              <a:buSzPts val="2800"/>
              <a:buFont typeface="Calibri"/>
              <a:buChar char="●"/>
            </a:pPr>
            <a:r>
              <a:rPr lang="en-US" sz="2800" b="0" i="0" u="none" strike="noStrike" cap="none">
                <a:solidFill>
                  <a:schemeClr val="dk1"/>
                </a:solidFill>
                <a:latin typeface="Calibri"/>
                <a:ea typeface="Calibri"/>
                <a:cs typeface="Calibri"/>
                <a:sym typeface="Calibri"/>
              </a:rPr>
              <a:t>Seguridad</a:t>
            </a:r>
            <a:endParaRPr sz="2800" b="0" i="0" u="none" strike="noStrike" cap="none">
              <a:solidFill>
                <a:schemeClr val="dk1"/>
              </a:solidFill>
              <a:latin typeface="Calibri"/>
              <a:ea typeface="Calibri"/>
              <a:cs typeface="Calibri"/>
              <a:sym typeface="Calibri"/>
            </a:endParaRPr>
          </a:p>
          <a:p>
            <a:pPr marL="457200" marR="0" lvl="0" indent="-406400" algn="l" rtl="0">
              <a:lnSpc>
                <a:spcPct val="100000"/>
              </a:lnSpc>
              <a:spcBef>
                <a:spcPts val="0"/>
              </a:spcBef>
              <a:spcAft>
                <a:spcPts val="0"/>
              </a:spcAft>
              <a:buClr>
                <a:schemeClr val="dk1"/>
              </a:buClr>
              <a:buSzPts val="2800"/>
              <a:buFont typeface="Calibri"/>
              <a:buChar char="●"/>
            </a:pPr>
            <a:r>
              <a:rPr lang="en-US" sz="2800" b="0" i="0" u="none" strike="noStrike" cap="none">
                <a:solidFill>
                  <a:schemeClr val="dk1"/>
                </a:solidFill>
                <a:latin typeface="Calibri"/>
                <a:ea typeface="Calibri"/>
                <a:cs typeface="Calibri"/>
                <a:sym typeface="Calibri"/>
              </a:rPr>
              <a:t>Flexibilidad tecnológica</a:t>
            </a:r>
            <a:endParaRPr sz="2800" b="0" i="0" u="none" strike="noStrike" cap="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0"/>
          <p:cNvSpPr/>
          <p:nvPr/>
        </p:nvSpPr>
        <p:spPr>
          <a:xfrm>
            <a:off x="3048"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47" name="Google Shape;147;p10"/>
          <p:cNvSpPr/>
          <p:nvPr/>
        </p:nvSpPr>
        <p:spPr>
          <a:xfrm>
            <a:off x="0" y="0"/>
            <a:ext cx="12192000" cy="68580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48" name="Google Shape;148;p10"/>
          <p:cNvSpPr/>
          <p:nvPr/>
        </p:nvSpPr>
        <p:spPr>
          <a:xfrm>
            <a:off x="2769476" y="220196"/>
            <a:ext cx="9422524" cy="6637806"/>
          </a:xfrm>
          <a:custGeom>
            <a:avLst/>
            <a:gdLst/>
            <a:ahLst/>
            <a:cxnLst/>
            <a:rect l="l" t="t" r="r" b="b"/>
            <a:pathLst>
              <a:path w="8191500" h="5770597" extrusionOk="0">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149" name="Google Shape;149;p10"/>
          <p:cNvSpPr/>
          <p:nvPr/>
        </p:nvSpPr>
        <p:spPr>
          <a:xfrm>
            <a:off x="2209800" y="2099696"/>
            <a:ext cx="1942241" cy="1889551"/>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150" name="Google Shape;150;p10"/>
          <p:cNvSpPr/>
          <p:nvPr/>
        </p:nvSpPr>
        <p:spPr>
          <a:xfrm rot="-3079828">
            <a:off x="1613162" y="1492572"/>
            <a:ext cx="2987899" cy="2987899"/>
          </a:xfrm>
          <a:prstGeom prst="arc">
            <a:avLst>
              <a:gd name="adj1" fmla="val 14455503"/>
              <a:gd name="adj2" fmla="val 227775"/>
            </a:avLst>
          </a:prstGeom>
          <a:noFill/>
          <a:ln w="127000" cap="rnd" cmpd="sng">
            <a:solidFill>
              <a:schemeClr val="accent4"/>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51" name="Google Shape;151;p10"/>
          <p:cNvSpPr txBox="1">
            <a:spLocks noGrp="1"/>
          </p:cNvSpPr>
          <p:nvPr>
            <p:ph type="ctrTitle"/>
          </p:nvPr>
        </p:nvSpPr>
        <p:spPr>
          <a:xfrm>
            <a:off x="4202400" y="-402266"/>
            <a:ext cx="7644600" cy="2751000"/>
          </a:xfrm>
          <a:prstGeom prst="rect">
            <a:avLst/>
          </a:prstGeom>
          <a:noFill/>
          <a:ln>
            <a:noFill/>
          </a:ln>
        </p:spPr>
        <p:txBody>
          <a:bodyPr spcFirstLastPara="1" wrap="square" lIns="91425" tIns="45700" rIns="91425" bIns="45700" anchor="b" anchorCtr="0">
            <a:normAutofit/>
          </a:bodyPr>
          <a:lstStyle/>
          <a:p>
            <a:pPr marL="0" lvl="0" indent="0" algn="r" rtl="0">
              <a:lnSpc>
                <a:spcPct val="90000"/>
              </a:lnSpc>
              <a:spcBef>
                <a:spcPts val="0"/>
              </a:spcBef>
              <a:spcAft>
                <a:spcPts val="0"/>
              </a:spcAft>
              <a:buClr>
                <a:schemeClr val="dk1"/>
              </a:buClr>
              <a:buSzPts val="6000"/>
              <a:buFont typeface="Calibri"/>
              <a:buNone/>
            </a:pPr>
            <a:r>
              <a:rPr lang="en-US"/>
              <a:t>Componentes</a:t>
            </a:r>
            <a:endParaRPr/>
          </a:p>
        </p:txBody>
      </p:sp>
      <p:sp>
        <p:nvSpPr>
          <p:cNvPr id="152" name="Google Shape;152;p10"/>
          <p:cNvSpPr txBox="1">
            <a:spLocks noGrp="1"/>
          </p:cNvSpPr>
          <p:nvPr>
            <p:ph type="subTitle" idx="1"/>
          </p:nvPr>
        </p:nvSpPr>
        <p:spPr>
          <a:xfrm>
            <a:off x="4038600" y="3123240"/>
            <a:ext cx="7644600" cy="2988600"/>
          </a:xfrm>
          <a:prstGeom prst="rect">
            <a:avLst/>
          </a:prstGeom>
          <a:noFill/>
          <a:ln>
            <a:noFill/>
          </a:ln>
        </p:spPr>
        <p:txBody>
          <a:bodyPr spcFirstLastPara="1" wrap="square" lIns="91425" tIns="45700" rIns="91425" bIns="45700" anchor="t" anchorCtr="0">
            <a:normAutofit/>
          </a:bodyPr>
          <a:lstStyle/>
          <a:p>
            <a:pPr marL="0" lvl="0" indent="0" algn="r" rtl="0">
              <a:lnSpc>
                <a:spcPct val="90000"/>
              </a:lnSpc>
              <a:spcBef>
                <a:spcPts val="0"/>
              </a:spcBef>
              <a:spcAft>
                <a:spcPts val="0"/>
              </a:spcAft>
              <a:buClr>
                <a:schemeClr val="dk1"/>
              </a:buClr>
              <a:buSzPts val="1100"/>
              <a:buFont typeface="Arial"/>
              <a:buNone/>
            </a:pPr>
            <a:r>
              <a:rPr lang="en-US" sz="2500" b="1"/>
              <a:t>Servidores virtuales</a:t>
            </a:r>
            <a:endParaRPr sz="2500" b="1"/>
          </a:p>
          <a:p>
            <a:pPr marL="0" lvl="0" indent="0" algn="r" rtl="0">
              <a:lnSpc>
                <a:spcPct val="90000"/>
              </a:lnSpc>
              <a:spcBef>
                <a:spcPts val="0"/>
              </a:spcBef>
              <a:spcAft>
                <a:spcPts val="0"/>
              </a:spcAft>
              <a:buClr>
                <a:schemeClr val="dk1"/>
              </a:buClr>
              <a:buSzPts val="1100"/>
              <a:buFont typeface="Arial"/>
              <a:buNone/>
            </a:pPr>
            <a:r>
              <a:rPr lang="en-US" sz="2500" b="1"/>
              <a:t>Almacenamiento en la nube</a:t>
            </a:r>
            <a:endParaRPr sz="2500" b="1"/>
          </a:p>
          <a:p>
            <a:pPr marL="0" lvl="0" indent="0" algn="r" rtl="0">
              <a:lnSpc>
                <a:spcPct val="90000"/>
              </a:lnSpc>
              <a:spcBef>
                <a:spcPts val="0"/>
              </a:spcBef>
              <a:spcAft>
                <a:spcPts val="0"/>
              </a:spcAft>
              <a:buClr>
                <a:schemeClr val="dk1"/>
              </a:buClr>
              <a:buSzPts val="1100"/>
              <a:buFont typeface="Arial"/>
              <a:buNone/>
            </a:pPr>
            <a:r>
              <a:rPr lang="en-US" sz="2500" b="1"/>
              <a:t>Redes definidas por software (SDN)</a:t>
            </a:r>
            <a:endParaRPr sz="2500" b="1"/>
          </a:p>
          <a:p>
            <a:pPr marL="0" lvl="0" indent="0" algn="r" rtl="0">
              <a:lnSpc>
                <a:spcPct val="90000"/>
              </a:lnSpc>
              <a:spcBef>
                <a:spcPts val="0"/>
              </a:spcBef>
              <a:spcAft>
                <a:spcPts val="0"/>
              </a:spcAft>
              <a:buClr>
                <a:schemeClr val="dk1"/>
              </a:buClr>
              <a:buSzPts val="1100"/>
              <a:buFont typeface="Arial"/>
              <a:buNone/>
            </a:pPr>
            <a:r>
              <a:rPr lang="en-US" sz="2500" b="1"/>
              <a:t>Balanceadores de carga</a:t>
            </a:r>
            <a:endParaRPr sz="2500" b="1"/>
          </a:p>
          <a:p>
            <a:pPr marL="0" lvl="0" indent="0" algn="r" rtl="0">
              <a:lnSpc>
                <a:spcPct val="90000"/>
              </a:lnSpc>
              <a:spcBef>
                <a:spcPts val="0"/>
              </a:spcBef>
              <a:spcAft>
                <a:spcPts val="0"/>
              </a:spcAft>
              <a:buClr>
                <a:schemeClr val="dk1"/>
              </a:buClr>
              <a:buSzPts val="1100"/>
              <a:buFont typeface="Arial"/>
              <a:buNone/>
            </a:pPr>
            <a:r>
              <a:rPr lang="en-US" sz="2500" b="1"/>
              <a:t>Otros componentes relevantes</a:t>
            </a:r>
            <a:endParaRPr sz="2500" b="1"/>
          </a:p>
          <a:p>
            <a:pPr marL="0" lvl="0" indent="0" algn="r" rtl="0">
              <a:lnSpc>
                <a:spcPct val="90000"/>
              </a:lnSpc>
              <a:spcBef>
                <a:spcPts val="0"/>
              </a:spcBef>
              <a:spcAft>
                <a:spcPts val="0"/>
              </a:spcAft>
              <a:buClr>
                <a:schemeClr val="dk1"/>
              </a:buClr>
              <a:buSzPts val="2400"/>
              <a:buNone/>
            </a:pPr>
            <a:endParaRPr b="1"/>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8"/>
          <p:cNvSpPr/>
          <p:nvPr/>
        </p:nvSpPr>
        <p:spPr>
          <a:xfrm>
            <a:off x="0" y="1"/>
            <a:ext cx="12191695"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58" name="Google Shape;158;p8"/>
          <p:cNvSpPr/>
          <p:nvPr/>
        </p:nvSpPr>
        <p:spPr>
          <a:xfrm>
            <a:off x="305" y="0"/>
            <a:ext cx="12191695"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800" b="0" i="0" u="none" strike="noStrike" cap="none">
              <a:solidFill>
                <a:schemeClr val="lt1"/>
              </a:solidFill>
              <a:latin typeface="Calibri"/>
              <a:ea typeface="Calibri"/>
              <a:cs typeface="Calibri"/>
              <a:sym typeface="Calibri"/>
            </a:endParaRPr>
          </a:p>
        </p:txBody>
      </p:sp>
      <p:sp>
        <p:nvSpPr>
          <p:cNvPr id="159" name="Google Shape;159;p8"/>
          <p:cNvSpPr txBox="1">
            <a:spLocks noGrp="1"/>
          </p:cNvSpPr>
          <p:nvPr>
            <p:ph type="title"/>
          </p:nvPr>
        </p:nvSpPr>
        <p:spPr>
          <a:xfrm>
            <a:off x="804672" y="457200"/>
            <a:ext cx="10579608" cy="118872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2"/>
              </a:buClr>
              <a:buSzPts val="4000"/>
              <a:buFont typeface="Calibri"/>
              <a:buNone/>
            </a:pPr>
            <a:r>
              <a:rPr lang="en-US" sz="4000" b="1">
                <a:solidFill>
                  <a:schemeClr val="dk2"/>
                </a:solidFill>
              </a:rPr>
              <a:t>Beneficios de la adopción de IaaS </a:t>
            </a:r>
            <a:endParaRPr sz="4000">
              <a:solidFill>
                <a:schemeClr val="dk2"/>
              </a:solidFill>
            </a:endParaRPr>
          </a:p>
        </p:txBody>
      </p:sp>
      <p:grpSp>
        <p:nvGrpSpPr>
          <p:cNvPr id="160" name="Google Shape;160;p8"/>
          <p:cNvGrpSpPr/>
          <p:nvPr/>
        </p:nvGrpSpPr>
        <p:grpSpPr>
          <a:xfrm rot="5400000">
            <a:off x="9262397" y="134260"/>
            <a:ext cx="3142400" cy="2716805"/>
            <a:chOff x="-305" y="-4155"/>
            <a:chExt cx="2514948" cy="2174333"/>
          </a:xfrm>
        </p:grpSpPr>
        <p:sp>
          <p:nvSpPr>
            <p:cNvPr id="161" name="Google Shape;161;p8"/>
            <p:cNvSpPr/>
            <p:nvPr/>
          </p:nvSpPr>
          <p:spPr>
            <a:xfrm>
              <a:off x="-305" y="0"/>
              <a:ext cx="2514948" cy="2170178"/>
            </a:xfrm>
            <a:custGeom>
              <a:avLst/>
              <a:gdLst/>
              <a:ahLst/>
              <a:cxnLst/>
              <a:rect l="l" t="t" r="r" b="b"/>
              <a:pathLst>
                <a:path w="2514948" h="2170178" extrusionOk="0">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0">
                  <a:srgbClr val="FFFFFF">
                    <a:alpha val="8627"/>
                  </a:srgbClr>
                </a:gs>
                <a:gs pos="2000">
                  <a:srgbClr val="FFFFFF">
                    <a:alpha val="8627"/>
                  </a:srgbClr>
                </a:gs>
                <a:gs pos="16000">
                  <a:srgbClr val="70AD47">
                    <a:alpha val="8627"/>
                  </a:srgbClr>
                </a:gs>
                <a:gs pos="85000">
                  <a:srgbClr val="4472C4">
                    <a:alpha val="8627"/>
                  </a:srgbClr>
                </a:gs>
                <a:gs pos="100000">
                  <a:srgbClr val="FFFFFF">
                    <a:alpha val="8627"/>
                  </a:srgbClr>
                </a:gs>
              </a:gsLst>
              <a:lin ang="12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62" name="Google Shape;162;p8"/>
            <p:cNvSpPr/>
            <p:nvPr/>
          </p:nvSpPr>
          <p:spPr>
            <a:xfrm>
              <a:off x="-305" y="-4155"/>
              <a:ext cx="2493062" cy="1947896"/>
            </a:xfrm>
            <a:custGeom>
              <a:avLst/>
              <a:gdLst/>
              <a:ahLst/>
              <a:cxnLst/>
              <a:rect l="l" t="t" r="r" b="b"/>
              <a:pathLst>
                <a:path w="2493062" h="1947896" extrusionOk="0">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0">
                  <a:srgbClr val="FFFFFF">
                    <a:alpha val="8627"/>
                  </a:srgbClr>
                </a:gs>
                <a:gs pos="2000">
                  <a:srgbClr val="FFFFFF">
                    <a:alpha val="8627"/>
                  </a:srgbClr>
                </a:gs>
                <a:gs pos="16000">
                  <a:srgbClr val="70AD47">
                    <a:alpha val="8627"/>
                  </a:srgbClr>
                </a:gs>
                <a:gs pos="85000">
                  <a:srgbClr val="4472C4">
                    <a:alpha val="8627"/>
                  </a:srgbClr>
                </a:gs>
                <a:gs pos="100000">
                  <a:srgbClr val="FFFFFF">
                    <a:alpha val="8627"/>
                  </a:srgbClr>
                </a:gs>
              </a:gsLst>
              <a:lin ang="12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63" name="Google Shape;163;p8"/>
            <p:cNvSpPr/>
            <p:nvPr/>
          </p:nvSpPr>
          <p:spPr>
            <a:xfrm>
              <a:off x="-305" y="0"/>
              <a:ext cx="2501089" cy="1972702"/>
            </a:xfrm>
            <a:custGeom>
              <a:avLst/>
              <a:gdLst/>
              <a:ahLst/>
              <a:cxnLst/>
              <a:rect l="l" t="t" r="r" b="b"/>
              <a:pathLst>
                <a:path w="2501089" h="1972702" extrusionOk="0">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0">
                  <a:srgbClr val="FFFFFF">
                    <a:alpha val="8627"/>
                  </a:srgbClr>
                </a:gs>
                <a:gs pos="2000">
                  <a:srgbClr val="FFFFFF">
                    <a:alpha val="8627"/>
                  </a:srgbClr>
                </a:gs>
                <a:gs pos="16000">
                  <a:srgbClr val="70AD47">
                    <a:alpha val="8627"/>
                  </a:srgbClr>
                </a:gs>
                <a:gs pos="85000">
                  <a:srgbClr val="4472C4">
                    <a:alpha val="8627"/>
                  </a:srgbClr>
                </a:gs>
                <a:gs pos="100000">
                  <a:srgbClr val="FFFFFF">
                    <a:alpha val="8627"/>
                  </a:srgbClr>
                </a:gs>
              </a:gsLst>
              <a:lin ang="12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800" b="0" i="0" u="none" strike="noStrike" cap="none">
                <a:solidFill>
                  <a:schemeClr val="lt1"/>
                </a:solidFill>
                <a:latin typeface="Calibri"/>
                <a:ea typeface="Calibri"/>
                <a:cs typeface="Calibri"/>
                <a:sym typeface="Calibri"/>
              </a:endParaRPr>
            </a:p>
          </p:txBody>
        </p:sp>
        <p:sp>
          <p:nvSpPr>
            <p:cNvPr id="164" name="Google Shape;164;p8"/>
            <p:cNvSpPr/>
            <p:nvPr/>
          </p:nvSpPr>
          <p:spPr>
            <a:xfrm>
              <a:off x="305" y="1"/>
              <a:ext cx="2491105" cy="1943661"/>
            </a:xfrm>
            <a:custGeom>
              <a:avLst/>
              <a:gdLst/>
              <a:ahLst/>
              <a:cxnLst/>
              <a:rect l="l" t="t" r="r" b="b"/>
              <a:pathLst>
                <a:path w="2491105" h="1943661" extrusionOk="0">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0">
                  <a:srgbClr val="FFFFFF">
                    <a:alpha val="8627"/>
                  </a:srgbClr>
                </a:gs>
                <a:gs pos="2000">
                  <a:srgbClr val="FFFFFF">
                    <a:alpha val="8627"/>
                  </a:srgbClr>
                </a:gs>
                <a:gs pos="16000">
                  <a:srgbClr val="70AD47">
                    <a:alpha val="8627"/>
                  </a:srgbClr>
                </a:gs>
                <a:gs pos="85000">
                  <a:srgbClr val="4472C4">
                    <a:alpha val="8627"/>
                  </a:srgbClr>
                </a:gs>
                <a:gs pos="100000">
                  <a:srgbClr val="FFFFFF">
                    <a:alpha val="8627"/>
                  </a:srgbClr>
                </a:gs>
              </a:gsLst>
              <a:lin ang="12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grpSp>
        <p:nvGrpSpPr>
          <p:cNvPr id="165" name="Google Shape;165;p8"/>
          <p:cNvGrpSpPr/>
          <p:nvPr/>
        </p:nvGrpSpPr>
        <p:grpSpPr>
          <a:xfrm rot="10800000" flipH="1">
            <a:off x="0" y="5047906"/>
            <a:ext cx="2412221" cy="1810094"/>
            <a:chOff x="-305" y="-1"/>
            <a:chExt cx="3832880" cy="2876136"/>
          </a:xfrm>
        </p:grpSpPr>
        <p:sp>
          <p:nvSpPr>
            <p:cNvPr id="166" name="Google Shape;166;p8"/>
            <p:cNvSpPr/>
            <p:nvPr/>
          </p:nvSpPr>
          <p:spPr>
            <a:xfrm>
              <a:off x="305" y="1"/>
              <a:ext cx="3815424" cy="2653659"/>
            </a:xfrm>
            <a:custGeom>
              <a:avLst/>
              <a:gdLst/>
              <a:ahLst/>
              <a:cxnLst/>
              <a:rect l="l" t="t" r="r" b="b"/>
              <a:pathLst>
                <a:path w="3815424" h="2653659" extrusionOk="0">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0">
                  <a:srgbClr val="FFFFFF">
                    <a:alpha val="8627"/>
                  </a:srgbClr>
                </a:gs>
                <a:gs pos="2000">
                  <a:srgbClr val="FFFFFF">
                    <a:alpha val="8627"/>
                  </a:srgbClr>
                </a:gs>
                <a:gs pos="16000">
                  <a:srgbClr val="70AD47">
                    <a:alpha val="8627"/>
                  </a:srgbClr>
                </a:gs>
                <a:gs pos="85000">
                  <a:srgbClr val="4472C4">
                    <a:alpha val="8627"/>
                  </a:srgbClr>
                </a:gs>
                <a:gs pos="100000">
                  <a:srgbClr val="FFFFFF">
                    <a:alpha val="8627"/>
                  </a:srgbClr>
                </a:gs>
              </a:gsLst>
              <a:lin ang="12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67" name="Google Shape;167;p8"/>
            <p:cNvSpPr/>
            <p:nvPr/>
          </p:nvSpPr>
          <p:spPr>
            <a:xfrm>
              <a:off x="305" y="-1"/>
              <a:ext cx="3815424" cy="2653660"/>
            </a:xfrm>
            <a:custGeom>
              <a:avLst/>
              <a:gdLst/>
              <a:ahLst/>
              <a:cxnLst/>
              <a:rect l="l" t="t" r="r" b="b"/>
              <a:pathLst>
                <a:path w="3815424" h="2653660" extrusionOk="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0">
                  <a:srgbClr val="FFFFFF">
                    <a:alpha val="8627"/>
                  </a:srgbClr>
                </a:gs>
                <a:gs pos="2000">
                  <a:srgbClr val="FFFFFF">
                    <a:alpha val="8627"/>
                  </a:srgbClr>
                </a:gs>
                <a:gs pos="16000">
                  <a:srgbClr val="70AD47">
                    <a:alpha val="8627"/>
                  </a:srgbClr>
                </a:gs>
                <a:gs pos="85000">
                  <a:srgbClr val="4472C4">
                    <a:alpha val="8627"/>
                  </a:srgbClr>
                </a:gs>
                <a:gs pos="100000">
                  <a:srgbClr val="FFFFFF">
                    <a:alpha val="8627"/>
                  </a:srgbClr>
                </a:gs>
              </a:gsLst>
              <a:lin ang="12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68" name="Google Shape;168;p8"/>
            <p:cNvSpPr/>
            <p:nvPr/>
          </p:nvSpPr>
          <p:spPr>
            <a:xfrm>
              <a:off x="-305" y="1"/>
              <a:ext cx="3815986" cy="2675935"/>
            </a:xfrm>
            <a:custGeom>
              <a:avLst/>
              <a:gdLst/>
              <a:ahLst/>
              <a:cxnLst/>
              <a:rect l="l" t="t" r="r" b="b"/>
              <a:pathLst>
                <a:path w="3815986" h="2675935" extrusionOk="0">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0">
                  <a:srgbClr val="FFFFFF">
                    <a:alpha val="8627"/>
                  </a:srgbClr>
                </a:gs>
                <a:gs pos="2000">
                  <a:srgbClr val="FFFFFF">
                    <a:alpha val="8627"/>
                  </a:srgbClr>
                </a:gs>
                <a:gs pos="16000">
                  <a:srgbClr val="70AD47">
                    <a:alpha val="8627"/>
                  </a:srgbClr>
                </a:gs>
                <a:gs pos="85000">
                  <a:srgbClr val="4472C4">
                    <a:alpha val="8627"/>
                  </a:srgbClr>
                </a:gs>
                <a:gs pos="100000">
                  <a:srgbClr val="FFFFFF">
                    <a:alpha val="8627"/>
                  </a:srgbClr>
                </a:gs>
              </a:gsLst>
              <a:lin ang="12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69" name="Google Shape;169;p8"/>
            <p:cNvSpPr/>
            <p:nvPr/>
          </p:nvSpPr>
          <p:spPr>
            <a:xfrm>
              <a:off x="305" y="-1"/>
              <a:ext cx="3832270" cy="2876136"/>
            </a:xfrm>
            <a:custGeom>
              <a:avLst/>
              <a:gdLst/>
              <a:ahLst/>
              <a:cxnLst/>
              <a:rect l="l" t="t" r="r" b="b"/>
              <a:pathLst>
                <a:path w="3832270" h="2876136" extrusionOk="0">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0">
                  <a:srgbClr val="FFFFFF">
                    <a:alpha val="8627"/>
                  </a:srgbClr>
                </a:gs>
                <a:gs pos="2000">
                  <a:srgbClr val="FFFFFF">
                    <a:alpha val="8627"/>
                  </a:srgbClr>
                </a:gs>
                <a:gs pos="16000">
                  <a:srgbClr val="70AD47">
                    <a:alpha val="8627"/>
                  </a:srgbClr>
                </a:gs>
                <a:gs pos="85000">
                  <a:srgbClr val="4472C4">
                    <a:alpha val="8627"/>
                  </a:srgbClr>
                </a:gs>
                <a:gs pos="100000">
                  <a:srgbClr val="FFFFFF">
                    <a:alpha val="8627"/>
                  </a:srgbClr>
                </a:gs>
              </a:gsLst>
              <a:lin ang="12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grpSp>
        <p:nvGrpSpPr>
          <p:cNvPr id="170" name="Google Shape;170;p8"/>
          <p:cNvGrpSpPr/>
          <p:nvPr/>
        </p:nvGrpSpPr>
        <p:grpSpPr>
          <a:xfrm>
            <a:off x="1039284" y="2797938"/>
            <a:ext cx="10113430" cy="3057549"/>
            <a:chOff x="2964" y="254305"/>
            <a:chExt cx="10113430" cy="3057549"/>
          </a:xfrm>
        </p:grpSpPr>
        <p:sp>
          <p:nvSpPr>
            <p:cNvPr id="171" name="Google Shape;171;p8"/>
            <p:cNvSpPr/>
            <p:nvPr/>
          </p:nvSpPr>
          <p:spPr>
            <a:xfrm>
              <a:off x="2964" y="254305"/>
              <a:ext cx="2351960" cy="1411176"/>
            </a:xfrm>
            <a:prstGeom prst="rect">
              <a:avLst/>
            </a:prstGeom>
            <a:solidFill>
              <a:schemeClr val="accent2"/>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 name="Google Shape;172;p8"/>
            <p:cNvSpPr txBox="1"/>
            <p:nvPr/>
          </p:nvSpPr>
          <p:spPr>
            <a:xfrm>
              <a:off x="2964" y="254305"/>
              <a:ext cx="2351960" cy="1411176"/>
            </a:xfrm>
            <a:prstGeom prst="rect">
              <a:avLst/>
            </a:prstGeom>
            <a:noFill/>
            <a:ln>
              <a:noFill/>
            </a:ln>
          </p:spPr>
          <p:txBody>
            <a:bodyPr spcFirstLastPara="1" wrap="square" lIns="106675" tIns="106675" rIns="106675" bIns="106675" anchor="ctr" anchorCtr="0">
              <a:noAutofit/>
            </a:bodyPr>
            <a:lstStyle/>
            <a:p>
              <a:pPr marL="0" marR="0" lvl="0" indent="0" algn="ctr" rtl="0">
                <a:lnSpc>
                  <a:spcPct val="90000"/>
                </a:lnSpc>
                <a:spcBef>
                  <a:spcPts val="0"/>
                </a:spcBef>
                <a:spcAft>
                  <a:spcPts val="0"/>
                </a:spcAft>
                <a:buClr>
                  <a:schemeClr val="lt1"/>
                </a:buClr>
                <a:buSzPts val="2800"/>
                <a:buFont typeface="Calibri"/>
                <a:buNone/>
              </a:pPr>
              <a:r>
                <a:rPr lang="en-US" sz="2800" b="0" i="0" u="none" strike="noStrike" cap="none">
                  <a:solidFill>
                    <a:schemeClr val="lt1"/>
                  </a:solidFill>
                  <a:latin typeface="Calibri"/>
                  <a:ea typeface="Calibri"/>
                  <a:cs typeface="Calibri"/>
                  <a:sym typeface="Calibri"/>
                </a:rPr>
                <a:t>Escalabilidad</a:t>
              </a:r>
              <a:endParaRPr sz="2800" b="0" i="0" u="none" strike="noStrike" cap="none">
                <a:solidFill>
                  <a:schemeClr val="lt1"/>
                </a:solidFill>
                <a:latin typeface="Calibri"/>
                <a:ea typeface="Calibri"/>
                <a:cs typeface="Calibri"/>
                <a:sym typeface="Calibri"/>
              </a:endParaRPr>
            </a:p>
          </p:txBody>
        </p:sp>
        <p:sp>
          <p:nvSpPr>
            <p:cNvPr id="173" name="Google Shape;173;p8"/>
            <p:cNvSpPr/>
            <p:nvPr/>
          </p:nvSpPr>
          <p:spPr>
            <a:xfrm>
              <a:off x="2590121" y="254305"/>
              <a:ext cx="2351960" cy="1411176"/>
            </a:xfrm>
            <a:prstGeom prst="rect">
              <a:avLst/>
            </a:prstGeom>
            <a:solidFill>
              <a:schemeClr val="accent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4" name="Google Shape;174;p8"/>
            <p:cNvSpPr txBox="1"/>
            <p:nvPr/>
          </p:nvSpPr>
          <p:spPr>
            <a:xfrm>
              <a:off x="2590121" y="254305"/>
              <a:ext cx="2351960" cy="1411176"/>
            </a:xfrm>
            <a:prstGeom prst="rect">
              <a:avLst/>
            </a:prstGeom>
            <a:noFill/>
            <a:ln>
              <a:noFill/>
            </a:ln>
          </p:spPr>
          <p:txBody>
            <a:bodyPr spcFirstLastPara="1" wrap="square" lIns="106675" tIns="106675" rIns="106675" bIns="106675" anchor="ctr" anchorCtr="0">
              <a:noAutofit/>
            </a:bodyPr>
            <a:lstStyle/>
            <a:p>
              <a:pPr marL="0" marR="0" lvl="0" indent="0" algn="ctr" rtl="0">
                <a:lnSpc>
                  <a:spcPct val="90000"/>
                </a:lnSpc>
                <a:spcBef>
                  <a:spcPts val="0"/>
                </a:spcBef>
                <a:spcAft>
                  <a:spcPts val="0"/>
                </a:spcAft>
                <a:buClr>
                  <a:schemeClr val="lt1"/>
                </a:buClr>
                <a:buSzPts val="2800"/>
                <a:buFont typeface="Calibri"/>
                <a:buNone/>
              </a:pPr>
              <a:r>
                <a:rPr lang="en-US" sz="2800" b="0" i="0" u="none" strike="noStrike" cap="none">
                  <a:solidFill>
                    <a:schemeClr val="lt1"/>
                  </a:solidFill>
                  <a:latin typeface="Calibri"/>
                  <a:ea typeface="Calibri"/>
                  <a:cs typeface="Calibri"/>
                  <a:sym typeface="Calibri"/>
                </a:rPr>
                <a:t>Pago por uso</a:t>
              </a:r>
              <a:endParaRPr sz="2800" b="0" i="0" u="none" strike="noStrike" cap="none">
                <a:solidFill>
                  <a:schemeClr val="lt1"/>
                </a:solidFill>
                <a:latin typeface="Calibri"/>
                <a:ea typeface="Calibri"/>
                <a:cs typeface="Calibri"/>
                <a:sym typeface="Calibri"/>
              </a:endParaRPr>
            </a:p>
          </p:txBody>
        </p:sp>
        <p:sp>
          <p:nvSpPr>
            <p:cNvPr id="175" name="Google Shape;175;p8"/>
            <p:cNvSpPr/>
            <p:nvPr/>
          </p:nvSpPr>
          <p:spPr>
            <a:xfrm>
              <a:off x="5177278" y="254305"/>
              <a:ext cx="2351960" cy="1411176"/>
            </a:xfrm>
            <a:prstGeom prst="rect">
              <a:avLst/>
            </a:prstGeom>
            <a:solidFill>
              <a:schemeClr val="accent4"/>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6" name="Google Shape;176;p8"/>
            <p:cNvSpPr txBox="1"/>
            <p:nvPr/>
          </p:nvSpPr>
          <p:spPr>
            <a:xfrm>
              <a:off x="5114542" y="254317"/>
              <a:ext cx="2474700" cy="1411200"/>
            </a:xfrm>
            <a:prstGeom prst="rect">
              <a:avLst/>
            </a:prstGeom>
            <a:noFill/>
            <a:ln>
              <a:noFill/>
            </a:ln>
          </p:spPr>
          <p:txBody>
            <a:bodyPr spcFirstLastPara="1" wrap="square" lIns="106675" tIns="106675" rIns="106675" bIns="106675" anchor="ctr" anchorCtr="0">
              <a:noAutofit/>
            </a:bodyPr>
            <a:lstStyle/>
            <a:p>
              <a:pPr marL="0" marR="0" lvl="0" indent="0" algn="ctr" rtl="0">
                <a:lnSpc>
                  <a:spcPct val="90000"/>
                </a:lnSpc>
                <a:spcBef>
                  <a:spcPts val="0"/>
                </a:spcBef>
                <a:spcAft>
                  <a:spcPts val="0"/>
                </a:spcAft>
                <a:buClr>
                  <a:schemeClr val="lt1"/>
                </a:buClr>
                <a:buSzPts val="2800"/>
                <a:buFont typeface="Calibri"/>
                <a:buNone/>
              </a:pPr>
              <a:r>
                <a:rPr lang="en-US" sz="2800" b="0" i="0" u="none" strike="noStrike" cap="none">
                  <a:solidFill>
                    <a:schemeClr val="lt1"/>
                  </a:solidFill>
                  <a:latin typeface="Calibri"/>
                  <a:ea typeface="Calibri"/>
                  <a:cs typeface="Calibri"/>
                  <a:sym typeface="Calibri"/>
                </a:rPr>
                <a:t>Automatizacion</a:t>
              </a:r>
              <a:endParaRPr sz="2800" b="0" i="0" u="none" strike="noStrike" cap="none">
                <a:solidFill>
                  <a:schemeClr val="lt1"/>
                </a:solidFill>
                <a:latin typeface="Calibri"/>
                <a:ea typeface="Calibri"/>
                <a:cs typeface="Calibri"/>
                <a:sym typeface="Calibri"/>
              </a:endParaRPr>
            </a:p>
          </p:txBody>
        </p:sp>
        <p:sp>
          <p:nvSpPr>
            <p:cNvPr id="177" name="Google Shape;177;p8"/>
            <p:cNvSpPr/>
            <p:nvPr/>
          </p:nvSpPr>
          <p:spPr>
            <a:xfrm>
              <a:off x="7764434" y="254305"/>
              <a:ext cx="2351960" cy="1411176"/>
            </a:xfrm>
            <a:prstGeom prst="rect">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8" name="Google Shape;178;p8"/>
            <p:cNvSpPr txBox="1"/>
            <p:nvPr/>
          </p:nvSpPr>
          <p:spPr>
            <a:xfrm>
              <a:off x="7764434" y="254305"/>
              <a:ext cx="2351960" cy="1411176"/>
            </a:xfrm>
            <a:prstGeom prst="rect">
              <a:avLst/>
            </a:prstGeom>
            <a:noFill/>
            <a:ln>
              <a:noFill/>
            </a:ln>
          </p:spPr>
          <p:txBody>
            <a:bodyPr spcFirstLastPara="1" wrap="square" lIns="106675" tIns="106675" rIns="106675" bIns="106675" anchor="ctr" anchorCtr="0">
              <a:noAutofit/>
            </a:bodyPr>
            <a:lstStyle/>
            <a:p>
              <a:pPr marL="0" marR="0" lvl="0" indent="0" algn="ctr" rtl="0">
                <a:lnSpc>
                  <a:spcPct val="90000"/>
                </a:lnSpc>
                <a:spcBef>
                  <a:spcPts val="0"/>
                </a:spcBef>
                <a:spcAft>
                  <a:spcPts val="0"/>
                </a:spcAft>
                <a:buClr>
                  <a:schemeClr val="lt1"/>
                </a:buClr>
                <a:buSzPts val="2800"/>
                <a:buFont typeface="Calibri"/>
                <a:buNone/>
              </a:pPr>
              <a:r>
                <a:rPr lang="en-US" sz="2800" b="0" i="0" u="none" strike="noStrike" cap="none">
                  <a:solidFill>
                    <a:schemeClr val="lt1"/>
                  </a:solidFill>
                  <a:latin typeface="Calibri"/>
                  <a:ea typeface="Calibri"/>
                  <a:cs typeface="Calibri"/>
                  <a:sym typeface="Calibri"/>
                </a:rPr>
                <a:t>Virtualización. </a:t>
              </a:r>
              <a:endParaRPr sz="2800" b="0" i="0" u="none" strike="noStrike" cap="none">
                <a:solidFill>
                  <a:schemeClr val="lt1"/>
                </a:solidFill>
                <a:latin typeface="Calibri"/>
                <a:ea typeface="Calibri"/>
                <a:cs typeface="Calibri"/>
                <a:sym typeface="Calibri"/>
              </a:endParaRPr>
            </a:p>
          </p:txBody>
        </p:sp>
        <p:sp>
          <p:nvSpPr>
            <p:cNvPr id="179" name="Google Shape;179;p8"/>
            <p:cNvSpPr/>
            <p:nvPr/>
          </p:nvSpPr>
          <p:spPr>
            <a:xfrm>
              <a:off x="1296543" y="1900678"/>
              <a:ext cx="2351960" cy="1411176"/>
            </a:xfrm>
            <a:prstGeom prst="rect">
              <a:avLst/>
            </a:prstGeom>
            <a:solidFill>
              <a:schemeClr val="accent6"/>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0" name="Google Shape;180;p8"/>
            <p:cNvSpPr txBox="1"/>
            <p:nvPr/>
          </p:nvSpPr>
          <p:spPr>
            <a:xfrm>
              <a:off x="1296543" y="1900678"/>
              <a:ext cx="2351960" cy="1411176"/>
            </a:xfrm>
            <a:prstGeom prst="rect">
              <a:avLst/>
            </a:prstGeom>
            <a:noFill/>
            <a:ln>
              <a:noFill/>
            </a:ln>
          </p:spPr>
          <p:txBody>
            <a:bodyPr spcFirstLastPara="1" wrap="square" lIns="106675" tIns="106675" rIns="106675" bIns="106675" anchor="ctr" anchorCtr="0">
              <a:noAutofit/>
            </a:bodyPr>
            <a:lstStyle/>
            <a:p>
              <a:pPr marL="0" marR="0" lvl="0" indent="0" algn="ctr" rtl="0">
                <a:lnSpc>
                  <a:spcPct val="90000"/>
                </a:lnSpc>
                <a:spcBef>
                  <a:spcPts val="0"/>
                </a:spcBef>
                <a:spcAft>
                  <a:spcPts val="0"/>
                </a:spcAft>
                <a:buClr>
                  <a:schemeClr val="lt1"/>
                </a:buClr>
                <a:buSzPts val="2800"/>
                <a:buFont typeface="Calibri"/>
                <a:buNone/>
              </a:pPr>
              <a:r>
                <a:rPr lang="en-US" sz="2800" b="0" i="0" u="none" strike="noStrike" cap="none">
                  <a:solidFill>
                    <a:schemeClr val="lt1"/>
                  </a:solidFill>
                  <a:latin typeface="Calibri"/>
                  <a:ea typeface="Calibri"/>
                  <a:cs typeface="Calibri"/>
                  <a:sym typeface="Calibri"/>
                </a:rPr>
                <a:t>Acceso Remoto</a:t>
              </a:r>
              <a:endParaRPr sz="2800" b="0" i="0" u="none" strike="noStrike" cap="none">
                <a:solidFill>
                  <a:schemeClr val="lt1"/>
                </a:solidFill>
                <a:latin typeface="Calibri"/>
                <a:ea typeface="Calibri"/>
                <a:cs typeface="Calibri"/>
                <a:sym typeface="Calibri"/>
              </a:endParaRPr>
            </a:p>
          </p:txBody>
        </p:sp>
        <p:sp>
          <p:nvSpPr>
            <p:cNvPr id="181" name="Google Shape;181;p8"/>
            <p:cNvSpPr/>
            <p:nvPr/>
          </p:nvSpPr>
          <p:spPr>
            <a:xfrm>
              <a:off x="3883699" y="1900678"/>
              <a:ext cx="2351960" cy="1411176"/>
            </a:xfrm>
            <a:prstGeom prst="rect">
              <a:avLst/>
            </a:prstGeom>
            <a:solidFill>
              <a:schemeClr val="accent2"/>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 name="Google Shape;182;p8"/>
            <p:cNvSpPr txBox="1"/>
            <p:nvPr/>
          </p:nvSpPr>
          <p:spPr>
            <a:xfrm>
              <a:off x="3883699" y="1900678"/>
              <a:ext cx="2351960" cy="1411176"/>
            </a:xfrm>
            <a:prstGeom prst="rect">
              <a:avLst/>
            </a:prstGeom>
            <a:noFill/>
            <a:ln>
              <a:noFill/>
            </a:ln>
          </p:spPr>
          <p:txBody>
            <a:bodyPr spcFirstLastPara="1" wrap="square" lIns="106675" tIns="106675" rIns="106675" bIns="106675" anchor="ctr" anchorCtr="0">
              <a:noAutofit/>
            </a:bodyPr>
            <a:lstStyle/>
            <a:p>
              <a:pPr marL="0" marR="0" lvl="0" indent="0" algn="ctr" rtl="0">
                <a:lnSpc>
                  <a:spcPct val="90000"/>
                </a:lnSpc>
                <a:spcBef>
                  <a:spcPts val="0"/>
                </a:spcBef>
                <a:spcAft>
                  <a:spcPts val="0"/>
                </a:spcAft>
                <a:buClr>
                  <a:schemeClr val="lt1"/>
                </a:buClr>
                <a:buSzPts val="2800"/>
                <a:buFont typeface="Calibri"/>
                <a:buNone/>
              </a:pPr>
              <a:r>
                <a:rPr lang="en-US" sz="2800" b="0" i="0" u="none" strike="noStrike" cap="none">
                  <a:solidFill>
                    <a:schemeClr val="lt1"/>
                  </a:solidFill>
                  <a:latin typeface="Calibri"/>
                  <a:ea typeface="Calibri"/>
                  <a:cs typeface="Calibri"/>
                  <a:sym typeface="Calibri"/>
                </a:rPr>
                <a:t>Alta disponilidad y tolerancia a fallos</a:t>
              </a:r>
              <a:endParaRPr sz="2800" b="0" i="0" u="none" strike="noStrike" cap="none">
                <a:solidFill>
                  <a:schemeClr val="lt1"/>
                </a:solidFill>
                <a:latin typeface="Calibri"/>
                <a:ea typeface="Calibri"/>
                <a:cs typeface="Calibri"/>
                <a:sym typeface="Calibri"/>
              </a:endParaRPr>
            </a:p>
          </p:txBody>
        </p:sp>
        <p:sp>
          <p:nvSpPr>
            <p:cNvPr id="183" name="Google Shape;183;p8"/>
            <p:cNvSpPr/>
            <p:nvPr/>
          </p:nvSpPr>
          <p:spPr>
            <a:xfrm>
              <a:off x="6470856" y="1900678"/>
              <a:ext cx="2351960" cy="1411176"/>
            </a:xfrm>
            <a:prstGeom prst="rect">
              <a:avLst/>
            </a:prstGeom>
            <a:solidFill>
              <a:schemeClr val="accent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4" name="Google Shape;184;p8"/>
            <p:cNvSpPr txBox="1"/>
            <p:nvPr/>
          </p:nvSpPr>
          <p:spPr>
            <a:xfrm>
              <a:off x="6470856" y="1900678"/>
              <a:ext cx="2351960" cy="1411176"/>
            </a:xfrm>
            <a:prstGeom prst="rect">
              <a:avLst/>
            </a:prstGeom>
            <a:noFill/>
            <a:ln>
              <a:noFill/>
            </a:ln>
          </p:spPr>
          <p:txBody>
            <a:bodyPr spcFirstLastPara="1" wrap="square" lIns="106675" tIns="106675" rIns="106675" bIns="106675" anchor="ctr" anchorCtr="0">
              <a:noAutofit/>
            </a:bodyPr>
            <a:lstStyle/>
            <a:p>
              <a:pPr marL="0" marR="0" lvl="0" indent="0" algn="ctr" rtl="0">
                <a:lnSpc>
                  <a:spcPct val="90000"/>
                </a:lnSpc>
                <a:spcBef>
                  <a:spcPts val="0"/>
                </a:spcBef>
                <a:spcAft>
                  <a:spcPts val="0"/>
                </a:spcAft>
                <a:buClr>
                  <a:schemeClr val="lt1"/>
                </a:buClr>
                <a:buSzPts val="2800"/>
                <a:buFont typeface="Calibri"/>
                <a:buNone/>
              </a:pPr>
              <a:r>
                <a:rPr lang="en-US" sz="2800" b="0" i="0" u="none" strike="noStrike" cap="none">
                  <a:solidFill>
                    <a:schemeClr val="lt1"/>
                  </a:solidFill>
                  <a:latin typeface="Calibri"/>
                  <a:ea typeface="Calibri"/>
                  <a:cs typeface="Calibri"/>
                  <a:sym typeface="Calibri"/>
                </a:rPr>
                <a:t>Seguridad</a:t>
              </a:r>
              <a:endParaRPr sz="2800" b="0" i="0" u="none" strike="noStrike" cap="none">
                <a:solidFill>
                  <a:schemeClr val="lt1"/>
                </a:solidFill>
                <a:latin typeface="Calibri"/>
                <a:ea typeface="Calibri"/>
                <a:cs typeface="Calibri"/>
                <a:sym typeface="Calibri"/>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9"/>
          <p:cNvSpPr/>
          <p:nvPr/>
        </p:nvSpPr>
        <p:spPr>
          <a:xfrm>
            <a:off x="3048"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90" name="Google Shape;190;p9"/>
          <p:cNvSpPr/>
          <p:nvPr/>
        </p:nvSpPr>
        <p:spPr>
          <a:xfrm>
            <a:off x="489189" y="1119031"/>
            <a:ext cx="4619938" cy="4619938"/>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91" name="Google Shape;191;p9"/>
          <p:cNvSpPr txBox="1">
            <a:spLocks noGrp="1"/>
          </p:cNvSpPr>
          <p:nvPr>
            <p:ph type="title"/>
          </p:nvPr>
        </p:nvSpPr>
        <p:spPr>
          <a:xfrm>
            <a:off x="1171074" y="1396686"/>
            <a:ext cx="3240506" cy="406462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4400"/>
              <a:buFont typeface="Calibri"/>
              <a:buNone/>
            </a:pPr>
            <a:r>
              <a:rPr lang="en-US">
                <a:solidFill>
                  <a:srgbClr val="FFFFFF"/>
                </a:solidFill>
              </a:rPr>
              <a:t>En resumen…</a:t>
            </a:r>
            <a:endParaRPr>
              <a:solidFill>
                <a:srgbClr val="FFFFFF"/>
              </a:solidFill>
            </a:endParaRPr>
          </a:p>
        </p:txBody>
      </p:sp>
      <p:sp>
        <p:nvSpPr>
          <p:cNvPr id="192" name="Google Shape;192;p9"/>
          <p:cNvSpPr/>
          <p:nvPr/>
        </p:nvSpPr>
        <p:spPr>
          <a:xfrm rot="-1790889">
            <a:off x="8683720" y="941148"/>
            <a:ext cx="2987899" cy="2987899"/>
          </a:xfrm>
          <a:prstGeom prst="arc">
            <a:avLst>
              <a:gd name="adj1" fmla="val 15817365"/>
              <a:gd name="adj2" fmla="val 1781380"/>
            </a:avLst>
          </a:prstGeom>
          <a:noFill/>
          <a:ln w="127000" cap="rnd" cmpd="sng">
            <a:solidFill>
              <a:schemeClr val="accent4"/>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93" name="Google Shape;193;p9"/>
          <p:cNvSpPr/>
          <p:nvPr/>
        </p:nvSpPr>
        <p:spPr>
          <a:xfrm>
            <a:off x="910048" y="4780992"/>
            <a:ext cx="546100" cy="546100"/>
          </a:xfrm>
          <a:prstGeom prst="ellipse">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194" name="Google Shape;194;p9"/>
          <p:cNvSpPr txBox="1">
            <a:spLocks noGrp="1"/>
          </p:cNvSpPr>
          <p:nvPr>
            <p:ph type="body" idx="1"/>
          </p:nvPr>
        </p:nvSpPr>
        <p:spPr>
          <a:xfrm>
            <a:off x="5370153" y="1526033"/>
            <a:ext cx="5536397" cy="3935281"/>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n-US"/>
              <a:t>IaaS ofrece una infraestructura de TI escalable y flexible, permitiendo a las organizaciones evitar los costos y la complejidad de administrar hardware físico, mientras proporciona la capacidad de adaptarse rápidamente a las demandas cambiantes del negocio.</a:t>
            </a:r>
            <a:endParaRPr/>
          </a:p>
          <a:p>
            <a:pPr marL="228600" lvl="0" indent="-50800" algn="l" rtl="0">
              <a:lnSpc>
                <a:spcPct val="90000"/>
              </a:lnSpc>
              <a:spcBef>
                <a:spcPts val="1000"/>
              </a:spcBef>
              <a:spcAft>
                <a:spcPts val="0"/>
              </a:spcAft>
              <a:buClr>
                <a:schemeClr val="dk1"/>
              </a:buClr>
              <a:buSzPts val="2800"/>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12"/>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00" name="Google Shape;200;p12"/>
          <p:cNvSpPr txBox="1">
            <a:spLocks noGrp="1"/>
          </p:cNvSpPr>
          <p:nvPr>
            <p:ph type="title"/>
          </p:nvPr>
        </p:nvSpPr>
        <p:spPr>
          <a:xfrm>
            <a:off x="841248" y="426720"/>
            <a:ext cx="10506456" cy="1919141"/>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6000"/>
              <a:buFont typeface="Calibri"/>
              <a:buNone/>
            </a:pPr>
            <a:r>
              <a:rPr lang="en-US" sz="6000"/>
              <a:t>Modelos de implementacion</a:t>
            </a:r>
            <a:endParaRPr sz="6000"/>
          </a:p>
        </p:txBody>
      </p:sp>
      <p:sp>
        <p:nvSpPr>
          <p:cNvPr id="201" name="Google Shape;201;p12"/>
          <p:cNvSpPr/>
          <p:nvPr/>
        </p:nvSpPr>
        <p:spPr>
          <a:xfrm>
            <a:off x="865953" y="2899927"/>
            <a:ext cx="10451592" cy="18288"/>
          </a:xfrm>
          <a:prstGeom prst="rect">
            <a:avLst/>
          </a:prstGeom>
          <a:solidFill>
            <a:srgbClr val="D5D5D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2" name="Google Shape;202;p12"/>
          <p:cNvSpPr/>
          <p:nvPr/>
        </p:nvSpPr>
        <p:spPr>
          <a:xfrm rot="10800000" flipH="1">
            <a:off x="841248" y="2776031"/>
            <a:ext cx="1873457" cy="13716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3" name="Google Shape;203;p12"/>
          <p:cNvSpPr txBox="1">
            <a:spLocks noGrp="1"/>
          </p:cNvSpPr>
          <p:nvPr>
            <p:ph type="body" idx="1"/>
          </p:nvPr>
        </p:nvSpPr>
        <p:spPr>
          <a:xfrm>
            <a:off x="841248" y="3337269"/>
            <a:ext cx="10509504" cy="2905686"/>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1000"/>
              </a:spcBef>
              <a:spcAft>
                <a:spcPts val="0"/>
              </a:spcAft>
              <a:buClr>
                <a:schemeClr val="dk1"/>
              </a:buClr>
              <a:buSzPts val="2200"/>
              <a:buNone/>
            </a:pPr>
            <a:r>
              <a:rPr lang="en-US" sz="2200"/>
              <a:t> </a:t>
            </a:r>
            <a:endParaRPr/>
          </a:p>
          <a:p>
            <a:pPr marL="685800" lvl="1" indent="-228600" algn="l" rtl="0">
              <a:lnSpc>
                <a:spcPct val="90000"/>
              </a:lnSpc>
              <a:spcBef>
                <a:spcPts val="500"/>
              </a:spcBef>
              <a:spcAft>
                <a:spcPts val="0"/>
              </a:spcAft>
              <a:buClr>
                <a:schemeClr val="dk1"/>
              </a:buClr>
              <a:buSzPts val="2200"/>
              <a:buChar char="•"/>
            </a:pPr>
            <a:r>
              <a:rPr lang="en-US" sz="2200"/>
              <a:t>Nube publica</a:t>
            </a:r>
            <a:endParaRPr/>
          </a:p>
          <a:p>
            <a:pPr marL="685800" lvl="1" indent="-228600" algn="l" rtl="0">
              <a:lnSpc>
                <a:spcPct val="90000"/>
              </a:lnSpc>
              <a:spcBef>
                <a:spcPts val="500"/>
              </a:spcBef>
              <a:spcAft>
                <a:spcPts val="0"/>
              </a:spcAft>
              <a:buClr>
                <a:schemeClr val="dk1"/>
              </a:buClr>
              <a:buSzPts val="2200"/>
              <a:buChar char="•"/>
            </a:pPr>
            <a:r>
              <a:rPr lang="en-US" sz="2200"/>
              <a:t>Nube privada </a:t>
            </a:r>
            <a:endParaRPr/>
          </a:p>
          <a:p>
            <a:pPr marL="685800" lvl="1" indent="-228600" algn="l" rtl="0">
              <a:lnSpc>
                <a:spcPct val="90000"/>
              </a:lnSpc>
              <a:spcBef>
                <a:spcPts val="500"/>
              </a:spcBef>
              <a:spcAft>
                <a:spcPts val="0"/>
              </a:spcAft>
              <a:buClr>
                <a:schemeClr val="dk1"/>
              </a:buClr>
              <a:buSzPts val="2200"/>
              <a:buChar char="•"/>
            </a:pPr>
            <a:r>
              <a:rPr lang="en-US" sz="2200"/>
              <a:t>Nube hibrida</a:t>
            </a:r>
            <a:endParaRPr/>
          </a:p>
        </p:txBody>
      </p:sp>
      <p:pic>
        <p:nvPicPr>
          <p:cNvPr id="204" name="Google Shape;204;p12"/>
          <p:cNvPicPr preferRelativeResize="0"/>
          <p:nvPr/>
        </p:nvPicPr>
        <p:blipFill rotWithShape="1">
          <a:blip r:embed="rId3">
            <a:alphaModFix/>
          </a:blip>
          <a:srcRect/>
          <a:stretch/>
        </p:blipFill>
        <p:spPr>
          <a:xfrm>
            <a:off x="3913100" y="2566300"/>
            <a:ext cx="7049112" cy="3676650"/>
          </a:xfrm>
          <a:prstGeom prst="rect">
            <a:avLst/>
          </a:prstGeom>
          <a:solidFill>
            <a:schemeClr val="lt1"/>
          </a:solid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3"/>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10" name="Google Shape;210;p13"/>
          <p:cNvSpPr txBox="1">
            <a:spLocks noGrp="1"/>
          </p:cNvSpPr>
          <p:nvPr>
            <p:ph type="title"/>
          </p:nvPr>
        </p:nvSpPr>
        <p:spPr>
          <a:xfrm>
            <a:off x="638882" y="639193"/>
            <a:ext cx="3571810" cy="3573516"/>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5600"/>
              <a:buFont typeface="Calibri"/>
              <a:buNone/>
            </a:pPr>
            <a:r>
              <a:rPr lang="en-US" sz="5600"/>
              <a:t>Casos de Uso</a:t>
            </a:r>
            <a:endParaRPr/>
          </a:p>
        </p:txBody>
      </p:sp>
      <p:sp>
        <p:nvSpPr>
          <p:cNvPr id="211" name="Google Shape;211;p13"/>
          <p:cNvSpPr/>
          <p:nvPr/>
        </p:nvSpPr>
        <p:spPr>
          <a:xfrm>
            <a:off x="643278" y="4409267"/>
            <a:ext cx="3255095" cy="18288"/>
          </a:xfrm>
          <a:custGeom>
            <a:avLst/>
            <a:gdLst/>
            <a:ahLst/>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12" name="Google Shape;212;p13"/>
          <p:cNvSpPr txBox="1"/>
          <p:nvPr/>
        </p:nvSpPr>
        <p:spPr>
          <a:xfrm>
            <a:off x="5929800" y="1397250"/>
            <a:ext cx="5558400" cy="4925400"/>
          </a:xfrm>
          <a:prstGeom prst="rect">
            <a:avLst/>
          </a:prstGeom>
          <a:noFill/>
          <a:ln>
            <a:noFill/>
          </a:ln>
        </p:spPr>
        <p:txBody>
          <a:bodyPr spcFirstLastPara="1" wrap="square" lIns="91425" tIns="91425" rIns="91425" bIns="91425" anchor="t" anchorCtr="0">
            <a:spAutoFit/>
          </a:bodyPr>
          <a:lstStyle/>
          <a:p>
            <a:pPr marL="457200" marR="0" lvl="0" indent="-406400" algn="l" rtl="0">
              <a:lnSpc>
                <a:spcPct val="100000"/>
              </a:lnSpc>
              <a:spcBef>
                <a:spcPts val="0"/>
              </a:spcBef>
              <a:spcAft>
                <a:spcPts val="0"/>
              </a:spcAft>
              <a:buClr>
                <a:schemeClr val="dk1"/>
              </a:buClr>
              <a:buSzPts val="2800"/>
              <a:buFont typeface="Calibri"/>
              <a:buChar char="●"/>
            </a:pPr>
            <a:r>
              <a:rPr lang="en-US" sz="2800" b="0" i="0" u="none" strike="noStrike" cap="none">
                <a:solidFill>
                  <a:schemeClr val="dk1"/>
                </a:solidFill>
                <a:latin typeface="Calibri"/>
                <a:ea typeface="Calibri"/>
                <a:cs typeface="Calibri"/>
                <a:sym typeface="Calibri"/>
              </a:rPr>
              <a:t>Desarrollo y pruebas de aplicaciones</a:t>
            </a:r>
            <a:endParaRPr sz="2800" b="0" i="0" u="none" strike="noStrike" cap="none">
              <a:solidFill>
                <a:schemeClr val="dk1"/>
              </a:solidFill>
              <a:latin typeface="Calibri"/>
              <a:ea typeface="Calibri"/>
              <a:cs typeface="Calibri"/>
              <a:sym typeface="Calibri"/>
            </a:endParaRPr>
          </a:p>
          <a:p>
            <a:pPr marL="457200" marR="0" lvl="0" indent="-406400" algn="l" rtl="0">
              <a:lnSpc>
                <a:spcPct val="100000"/>
              </a:lnSpc>
              <a:spcBef>
                <a:spcPts val="0"/>
              </a:spcBef>
              <a:spcAft>
                <a:spcPts val="0"/>
              </a:spcAft>
              <a:buClr>
                <a:schemeClr val="dk1"/>
              </a:buClr>
              <a:buSzPts val="2800"/>
              <a:buFont typeface="Calibri"/>
              <a:buChar char="●"/>
            </a:pPr>
            <a:r>
              <a:rPr lang="en-US" sz="2800" b="0" i="0" u="none" strike="noStrike" cap="none">
                <a:solidFill>
                  <a:schemeClr val="dk1"/>
                </a:solidFill>
                <a:latin typeface="Calibri"/>
                <a:ea typeface="Calibri"/>
                <a:cs typeface="Calibri"/>
                <a:sym typeface="Calibri"/>
              </a:rPr>
              <a:t>Alojamiento de sitios web y aplicaciones</a:t>
            </a:r>
            <a:endParaRPr sz="2800" b="0" i="0" u="none" strike="noStrike" cap="none">
              <a:solidFill>
                <a:schemeClr val="dk1"/>
              </a:solidFill>
              <a:latin typeface="Calibri"/>
              <a:ea typeface="Calibri"/>
              <a:cs typeface="Calibri"/>
              <a:sym typeface="Calibri"/>
            </a:endParaRPr>
          </a:p>
          <a:p>
            <a:pPr marL="457200" marR="0" lvl="0" indent="-406400" algn="l" rtl="0">
              <a:lnSpc>
                <a:spcPct val="100000"/>
              </a:lnSpc>
              <a:spcBef>
                <a:spcPts val="0"/>
              </a:spcBef>
              <a:spcAft>
                <a:spcPts val="0"/>
              </a:spcAft>
              <a:buClr>
                <a:schemeClr val="dk1"/>
              </a:buClr>
              <a:buSzPts val="2800"/>
              <a:buFont typeface="Calibri"/>
              <a:buChar char="●"/>
            </a:pPr>
            <a:r>
              <a:rPr lang="en-US" sz="2800" b="0" i="0" u="none" strike="noStrike" cap="none">
                <a:solidFill>
                  <a:schemeClr val="dk1"/>
                </a:solidFill>
                <a:latin typeface="Calibri"/>
                <a:ea typeface="Calibri"/>
                <a:cs typeface="Calibri"/>
                <a:sym typeface="Calibri"/>
              </a:rPr>
              <a:t>Big Data y análisis de datos</a:t>
            </a:r>
            <a:endParaRPr sz="2800" b="0" i="0" u="none" strike="noStrike" cap="none">
              <a:solidFill>
                <a:schemeClr val="dk1"/>
              </a:solidFill>
              <a:latin typeface="Calibri"/>
              <a:ea typeface="Calibri"/>
              <a:cs typeface="Calibri"/>
              <a:sym typeface="Calibri"/>
            </a:endParaRPr>
          </a:p>
          <a:p>
            <a:pPr marL="457200" marR="0" lvl="0" indent="-406400" algn="l" rtl="0">
              <a:lnSpc>
                <a:spcPct val="100000"/>
              </a:lnSpc>
              <a:spcBef>
                <a:spcPts val="0"/>
              </a:spcBef>
              <a:spcAft>
                <a:spcPts val="0"/>
              </a:spcAft>
              <a:buClr>
                <a:schemeClr val="dk1"/>
              </a:buClr>
              <a:buSzPts val="2800"/>
              <a:buFont typeface="Calibri"/>
              <a:buChar char="●"/>
            </a:pPr>
            <a:r>
              <a:rPr lang="en-US" sz="2800" b="0" i="0" u="none" strike="noStrike" cap="none">
                <a:solidFill>
                  <a:schemeClr val="dk1"/>
                </a:solidFill>
                <a:latin typeface="Calibri"/>
                <a:ea typeface="Calibri"/>
                <a:cs typeface="Calibri"/>
                <a:sym typeface="Calibri"/>
              </a:rPr>
              <a:t>Respaldo y recuperación de datos</a:t>
            </a:r>
            <a:endParaRPr sz="2800" b="0" i="0" u="none" strike="noStrike" cap="none">
              <a:solidFill>
                <a:schemeClr val="dk1"/>
              </a:solidFill>
              <a:latin typeface="Calibri"/>
              <a:ea typeface="Calibri"/>
              <a:cs typeface="Calibri"/>
              <a:sym typeface="Calibri"/>
            </a:endParaRPr>
          </a:p>
          <a:p>
            <a:pPr marL="457200" marR="0" lvl="0" indent="-406400" algn="l" rtl="0">
              <a:lnSpc>
                <a:spcPct val="100000"/>
              </a:lnSpc>
              <a:spcBef>
                <a:spcPts val="0"/>
              </a:spcBef>
              <a:spcAft>
                <a:spcPts val="0"/>
              </a:spcAft>
              <a:buClr>
                <a:schemeClr val="dk1"/>
              </a:buClr>
              <a:buSzPts val="2800"/>
              <a:buFont typeface="Calibri"/>
              <a:buChar char="●"/>
            </a:pPr>
            <a:r>
              <a:rPr lang="en-US" sz="2800" b="0" i="0" u="none" strike="noStrike" cap="none">
                <a:solidFill>
                  <a:schemeClr val="dk1"/>
                </a:solidFill>
                <a:latin typeface="Calibri"/>
                <a:ea typeface="Calibri"/>
                <a:cs typeface="Calibri"/>
                <a:sym typeface="Calibri"/>
              </a:rPr>
              <a:t>Escalabilidad y crecimiento empresarial</a:t>
            </a:r>
            <a:endParaRPr sz="2800" b="0" i="0" u="none" strike="noStrike" cap="none">
              <a:solidFill>
                <a:schemeClr val="dk1"/>
              </a:solidFill>
              <a:latin typeface="Calibri"/>
              <a:ea typeface="Calibri"/>
              <a:cs typeface="Calibri"/>
              <a:sym typeface="Calibri"/>
            </a:endParaRPr>
          </a:p>
          <a:p>
            <a:pPr marL="457200" marR="0" lvl="0" indent="-406400" algn="l" rtl="0">
              <a:lnSpc>
                <a:spcPct val="100000"/>
              </a:lnSpc>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IA y entrenamiento de nuevos modelos</a:t>
            </a:r>
            <a:endParaRPr sz="28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14"/>
          <p:cNvSpPr/>
          <p:nvPr/>
        </p:nvSpPr>
        <p:spPr>
          <a:xfrm>
            <a:off x="0" y="0"/>
            <a:ext cx="12192000" cy="685800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18" name="Google Shape;218;p14"/>
          <p:cNvSpPr/>
          <p:nvPr/>
        </p:nvSpPr>
        <p:spPr>
          <a:xfrm>
            <a:off x="0" y="-1"/>
            <a:ext cx="12192000" cy="6858000"/>
          </a:xfrm>
          <a:prstGeom prst="rect">
            <a:avLst/>
          </a:prstGeom>
          <a:solidFill>
            <a:schemeClr val="accent1">
              <a:alpha val="2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19" name="Google Shape;219;p14"/>
          <p:cNvSpPr txBox="1">
            <a:spLocks noGrp="1"/>
          </p:cNvSpPr>
          <p:nvPr>
            <p:ph type="title"/>
          </p:nvPr>
        </p:nvSpPr>
        <p:spPr>
          <a:xfrm>
            <a:off x="731520" y="1170432"/>
            <a:ext cx="10533888" cy="2734056"/>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2"/>
              </a:buClr>
              <a:buSzPts val="8000"/>
              <a:buFont typeface="Calibri"/>
              <a:buNone/>
            </a:pPr>
            <a:r>
              <a:rPr lang="en-US" sz="8000" b="1" dirty="0" err="1">
                <a:solidFill>
                  <a:schemeClr val="dk2"/>
                </a:solidFill>
              </a:rPr>
              <a:t>Herramientas</a:t>
            </a:r>
            <a:r>
              <a:rPr lang="en-US" sz="8000" b="1" dirty="0">
                <a:solidFill>
                  <a:schemeClr val="dk2"/>
                </a:solidFill>
              </a:rPr>
              <a:t> IaaS</a:t>
            </a:r>
            <a:endParaRPr sz="8000" dirty="0">
              <a:solidFill>
                <a:schemeClr val="dk2"/>
              </a:solidFill>
            </a:endParaRPr>
          </a:p>
        </p:txBody>
      </p:sp>
      <p:cxnSp>
        <p:nvCxnSpPr>
          <p:cNvPr id="220" name="Google Shape;220;p14"/>
          <p:cNvCxnSpPr/>
          <p:nvPr/>
        </p:nvCxnSpPr>
        <p:spPr>
          <a:xfrm flipH="1">
            <a:off x="732568" y="246028"/>
            <a:ext cx="255495" cy="546559"/>
          </a:xfrm>
          <a:prstGeom prst="straightConnector1">
            <a:avLst/>
          </a:prstGeom>
          <a:noFill/>
          <a:ln w="12700" cap="flat" cmpd="sng">
            <a:solidFill>
              <a:schemeClr val="dk2"/>
            </a:solidFill>
            <a:prstDash val="solid"/>
            <a:miter lim="800000"/>
            <a:headEnd type="none" w="sm" len="sm"/>
            <a:tailEnd type="none" w="sm" len="sm"/>
          </a:ln>
        </p:spPr>
      </p:cxnSp>
      <p:sp>
        <p:nvSpPr>
          <p:cNvPr id="221" name="Google Shape;221;p14"/>
          <p:cNvSpPr txBox="1">
            <a:spLocks noGrp="1"/>
          </p:cNvSpPr>
          <p:nvPr>
            <p:ph type="body" idx="1"/>
          </p:nvPr>
        </p:nvSpPr>
        <p:spPr>
          <a:xfrm>
            <a:off x="731520" y="4069080"/>
            <a:ext cx="10515600" cy="204260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1800"/>
              <a:buNone/>
            </a:pPr>
            <a:endParaRPr sz="1800">
              <a:solidFill>
                <a:schemeClr val="dk2"/>
              </a:solidFill>
            </a:endParaRPr>
          </a:p>
        </p:txBody>
      </p:sp>
      <p:cxnSp>
        <p:nvCxnSpPr>
          <p:cNvPr id="222" name="Google Shape;222;p14"/>
          <p:cNvCxnSpPr/>
          <p:nvPr/>
        </p:nvCxnSpPr>
        <p:spPr>
          <a:xfrm rot="10800000">
            <a:off x="840441" y="6522756"/>
            <a:ext cx="10717187" cy="0"/>
          </a:xfrm>
          <a:prstGeom prst="straightConnector1">
            <a:avLst/>
          </a:prstGeom>
          <a:noFill/>
          <a:ln w="12700" cap="sq" cmpd="sng">
            <a:solidFill>
              <a:schemeClr val="dk2"/>
            </a:solidFill>
            <a:prstDash val="solid"/>
            <a:miter lim="800000"/>
            <a:headEnd type="none" w="sm" len="sm"/>
            <a:tailEnd type="none" w="sm" len="sm"/>
          </a:ln>
        </p:spPr>
      </p:cxnSp>
      <p:grpSp>
        <p:nvGrpSpPr>
          <p:cNvPr id="223" name="Google Shape;223;p14"/>
          <p:cNvGrpSpPr/>
          <p:nvPr/>
        </p:nvGrpSpPr>
        <p:grpSpPr>
          <a:xfrm>
            <a:off x="12829917" y="6400800"/>
            <a:ext cx="338328" cy="240175"/>
            <a:chOff x="4089400" y="933450"/>
            <a:chExt cx="338328" cy="341938"/>
          </a:xfrm>
        </p:grpSpPr>
        <p:cxnSp>
          <p:nvCxnSpPr>
            <p:cNvPr id="224" name="Google Shape;224;p14"/>
            <p:cNvCxnSpPr/>
            <p:nvPr/>
          </p:nvCxnSpPr>
          <p:spPr>
            <a:xfrm>
              <a:off x="4258564" y="933450"/>
              <a:ext cx="0" cy="341938"/>
            </a:xfrm>
            <a:prstGeom prst="straightConnector1">
              <a:avLst/>
            </a:prstGeom>
            <a:noFill/>
            <a:ln w="12700" cap="flat" cmpd="sng">
              <a:solidFill>
                <a:schemeClr val="dk2"/>
              </a:solidFill>
              <a:prstDash val="solid"/>
              <a:miter lim="800000"/>
              <a:headEnd type="none" w="sm" len="sm"/>
              <a:tailEnd type="none" w="sm" len="sm"/>
            </a:ln>
          </p:spPr>
        </p:cxnSp>
        <p:cxnSp>
          <p:nvCxnSpPr>
            <p:cNvPr id="225" name="Google Shape;225;p14"/>
            <p:cNvCxnSpPr/>
            <p:nvPr/>
          </p:nvCxnSpPr>
          <p:spPr>
            <a:xfrm>
              <a:off x="4089400" y="1104419"/>
              <a:ext cx="338328" cy="0"/>
            </a:xfrm>
            <a:prstGeom prst="straightConnector1">
              <a:avLst/>
            </a:prstGeom>
            <a:noFill/>
            <a:ln w="12700" cap="flat" cmpd="sng">
              <a:solidFill>
                <a:schemeClr val="dk2"/>
              </a:solidFill>
              <a:prstDash val="solid"/>
              <a:miter lim="800000"/>
              <a:headEnd type="none" w="sm" len="sm"/>
              <a:tailEnd type="none" w="sm" len="sm"/>
            </a:ln>
          </p:spPr>
        </p:cxn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7"/>
          <p:cNvSpPr/>
          <p:nvPr/>
        </p:nvSpPr>
        <p:spPr>
          <a:xfrm>
            <a:off x="0" y="0"/>
            <a:ext cx="1219200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31" name="Google Shape;231;p17"/>
          <p:cNvSpPr/>
          <p:nvPr/>
        </p:nvSpPr>
        <p:spPr>
          <a:xfrm>
            <a:off x="0" y="0"/>
            <a:ext cx="2013557" cy="6858000"/>
          </a:xfrm>
          <a:prstGeom prst="rect">
            <a:avLst/>
          </a:prstGeom>
          <a:solidFill>
            <a:srgbClr val="35475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32" name="Google Shape;232;p17"/>
          <p:cNvSpPr>
            <a:spLocks noGrp="1"/>
          </p:cNvSpPr>
          <p:nvPr>
            <p:ph type="title"/>
          </p:nvPr>
        </p:nvSpPr>
        <p:spPr>
          <a:xfrm>
            <a:off x="640080" y="2074363"/>
            <a:ext cx="2752354" cy="2709275"/>
          </a:xfrm>
          <a:prstGeom prst="ellipse">
            <a:avLst/>
          </a:prstGeom>
          <a:solidFill>
            <a:srgbClr val="262626"/>
          </a:solidFill>
          <a:ln w="174625" cap="flat" cmpd="thinThick">
            <a:solidFill>
              <a:srgbClr val="262626"/>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FFFF"/>
              </a:buClr>
              <a:buSzPts val="2200"/>
              <a:buFont typeface="Calibri"/>
              <a:buNone/>
            </a:pPr>
            <a:r>
              <a:rPr lang="en-US" sz="2200" b="1">
                <a:solidFill>
                  <a:srgbClr val="FFFFFF"/>
                </a:solidFill>
              </a:rPr>
              <a:t>Terraform</a:t>
            </a:r>
            <a:endParaRPr sz="2200">
              <a:solidFill>
                <a:srgbClr val="FFFFFF"/>
              </a:solidFill>
              <a:latin typeface="Calibri"/>
              <a:ea typeface="Calibri"/>
              <a:cs typeface="Calibri"/>
              <a:sym typeface="Calibri"/>
            </a:endParaRPr>
          </a:p>
        </p:txBody>
      </p:sp>
      <p:pic>
        <p:nvPicPr>
          <p:cNvPr id="233" name="Google Shape;233;p17"/>
          <p:cNvPicPr preferRelativeResize="0"/>
          <p:nvPr/>
        </p:nvPicPr>
        <p:blipFill rotWithShape="1">
          <a:blip r:embed="rId3">
            <a:alphaModFix/>
          </a:blip>
          <a:srcRect/>
          <a:stretch/>
        </p:blipFill>
        <p:spPr>
          <a:xfrm>
            <a:off x="4444313" y="1066800"/>
            <a:ext cx="6448425" cy="47244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g1f3a3e07b40_0_16"/>
          <p:cNvSpPr/>
          <p:nvPr/>
        </p:nvSpPr>
        <p:spPr>
          <a:xfrm>
            <a:off x="0" y="0"/>
            <a:ext cx="1219200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39" name="Google Shape;239;g1f3a3e07b40_0_16"/>
          <p:cNvSpPr/>
          <p:nvPr/>
        </p:nvSpPr>
        <p:spPr>
          <a:xfrm>
            <a:off x="0" y="0"/>
            <a:ext cx="2013600" cy="6858000"/>
          </a:xfrm>
          <a:prstGeom prst="rect">
            <a:avLst/>
          </a:prstGeom>
          <a:solidFill>
            <a:srgbClr val="35475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40" name="Google Shape;240;g1f3a3e07b40_0_16"/>
          <p:cNvSpPr>
            <a:spLocks noGrp="1"/>
          </p:cNvSpPr>
          <p:nvPr>
            <p:ph type="title"/>
          </p:nvPr>
        </p:nvSpPr>
        <p:spPr>
          <a:xfrm>
            <a:off x="640080" y="2074363"/>
            <a:ext cx="2752500" cy="2709300"/>
          </a:xfrm>
          <a:prstGeom prst="ellipse">
            <a:avLst/>
          </a:prstGeom>
          <a:solidFill>
            <a:srgbClr val="262626"/>
          </a:solidFill>
          <a:ln w="174625" cap="flat" cmpd="thinThick">
            <a:solidFill>
              <a:srgbClr val="262626"/>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FFFF"/>
              </a:buClr>
              <a:buSzPts val="2200"/>
              <a:buFont typeface="Calibri"/>
              <a:buNone/>
            </a:pPr>
            <a:r>
              <a:rPr lang="en-US" sz="2200" b="1">
                <a:solidFill>
                  <a:srgbClr val="FFFFFF"/>
                </a:solidFill>
              </a:rPr>
              <a:t>Terraform</a:t>
            </a:r>
            <a:endParaRPr sz="2200">
              <a:solidFill>
                <a:srgbClr val="FFFFFF"/>
              </a:solidFill>
              <a:latin typeface="Calibri"/>
              <a:ea typeface="Calibri"/>
              <a:cs typeface="Calibri"/>
              <a:sym typeface="Calibri"/>
            </a:endParaRPr>
          </a:p>
        </p:txBody>
      </p:sp>
      <p:sp>
        <p:nvSpPr>
          <p:cNvPr id="241" name="Google Shape;241;g1f3a3e07b40_0_16"/>
          <p:cNvSpPr txBox="1"/>
          <p:nvPr/>
        </p:nvSpPr>
        <p:spPr>
          <a:xfrm>
            <a:off x="5361900" y="1627125"/>
            <a:ext cx="6290100" cy="2770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Calibri"/>
                <a:ea typeface="Calibri"/>
                <a:cs typeface="Calibri"/>
                <a:sym typeface="Calibri"/>
              </a:rPr>
              <a:t> Permite a los usuarios definir y configurar la infraestructura de sus aplicaciones de forma codificada utilizando un lenguaje específico llamado HCL (HashiCorp Configuration Language) o, alternativamente, JSON.</a:t>
            </a:r>
            <a:endParaRPr sz="2800" b="0" i="0" u="none" strike="noStrike" cap="non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g1f3a3e07b40_0_26"/>
          <p:cNvSpPr/>
          <p:nvPr/>
        </p:nvSpPr>
        <p:spPr>
          <a:xfrm>
            <a:off x="0" y="0"/>
            <a:ext cx="1219200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47" name="Google Shape;247;g1f3a3e07b40_0_26"/>
          <p:cNvSpPr/>
          <p:nvPr/>
        </p:nvSpPr>
        <p:spPr>
          <a:xfrm>
            <a:off x="0" y="0"/>
            <a:ext cx="2013600" cy="6858000"/>
          </a:xfrm>
          <a:prstGeom prst="rect">
            <a:avLst/>
          </a:prstGeom>
          <a:solidFill>
            <a:srgbClr val="35475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48" name="Google Shape;248;g1f3a3e07b40_0_26"/>
          <p:cNvSpPr>
            <a:spLocks noGrp="1"/>
          </p:cNvSpPr>
          <p:nvPr>
            <p:ph type="title"/>
          </p:nvPr>
        </p:nvSpPr>
        <p:spPr>
          <a:xfrm>
            <a:off x="640080" y="2074363"/>
            <a:ext cx="2752500" cy="2709300"/>
          </a:xfrm>
          <a:prstGeom prst="ellipse">
            <a:avLst/>
          </a:prstGeom>
          <a:solidFill>
            <a:srgbClr val="262626"/>
          </a:solidFill>
          <a:ln w="174625" cap="flat" cmpd="thinThick">
            <a:solidFill>
              <a:srgbClr val="262626"/>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FFFF"/>
              </a:buClr>
              <a:buSzPts val="2200"/>
              <a:buFont typeface="Calibri"/>
              <a:buNone/>
            </a:pPr>
            <a:r>
              <a:rPr lang="en-US" sz="2200" b="1">
                <a:solidFill>
                  <a:srgbClr val="FFFFFF"/>
                </a:solidFill>
              </a:rPr>
              <a:t>Terraform</a:t>
            </a:r>
            <a:endParaRPr sz="2200">
              <a:solidFill>
                <a:srgbClr val="FFFFFF"/>
              </a:solidFill>
              <a:latin typeface="Calibri"/>
              <a:ea typeface="Calibri"/>
              <a:cs typeface="Calibri"/>
              <a:sym typeface="Calibri"/>
            </a:endParaRPr>
          </a:p>
        </p:txBody>
      </p:sp>
      <p:sp>
        <p:nvSpPr>
          <p:cNvPr id="249" name="Google Shape;249;g1f3a3e07b40_0_26"/>
          <p:cNvSpPr txBox="1"/>
          <p:nvPr/>
        </p:nvSpPr>
        <p:spPr>
          <a:xfrm>
            <a:off x="5263625" y="1310425"/>
            <a:ext cx="6290100" cy="4002000"/>
          </a:xfrm>
          <a:prstGeom prst="rect">
            <a:avLst/>
          </a:prstGeom>
          <a:noFill/>
          <a:ln>
            <a:noFill/>
          </a:ln>
        </p:spPr>
        <p:txBody>
          <a:bodyPr spcFirstLastPara="1" wrap="square" lIns="91425" tIns="91425" rIns="91425" bIns="91425" anchor="t" anchorCtr="0">
            <a:spAutoFit/>
          </a:bodyPr>
          <a:lstStyle/>
          <a:p>
            <a:pPr marL="457200" marR="0" lvl="0" indent="-355600" algn="l" rtl="0">
              <a:lnSpc>
                <a:spcPct val="100000"/>
              </a:lnSpc>
              <a:spcBef>
                <a:spcPts val="0"/>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Gestión de infraestructura como código: Terraform permite a los equipos tratar su infraestructura de la misma manera que tratan su código de aplicación, lo que facilita la implementación consistente y repetible.</a:t>
            </a:r>
            <a:endParaRPr sz="2000" b="0" i="0" u="none" strike="noStrike" cap="none">
              <a:solidFill>
                <a:schemeClr val="dk1"/>
              </a:solidFill>
              <a:latin typeface="Calibri"/>
              <a:ea typeface="Calibri"/>
              <a:cs typeface="Calibri"/>
              <a:sym typeface="Calibri"/>
            </a:endParaRPr>
          </a:p>
          <a:p>
            <a:pPr marL="457200" marR="0" lvl="0" indent="0" algn="l"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Calibri"/>
              <a:ea typeface="Calibri"/>
              <a:cs typeface="Calibri"/>
              <a:sym typeface="Calibri"/>
            </a:endParaRPr>
          </a:p>
          <a:p>
            <a:pPr marL="457200" marR="0" lvl="0" indent="-355600" algn="l" rtl="0">
              <a:lnSpc>
                <a:spcPct val="100000"/>
              </a:lnSpc>
              <a:spcBef>
                <a:spcPts val="0"/>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Planificación y ejecución segura: Antes de aplicar cualquier cambio en la infraestructura, Terraform genera un plan detallado que muestra qué acciones tomará para alcanzar el estado deseado. Esto permite una revisión y aprobación seguras antes de aplicar los cambios.</a:t>
            </a:r>
            <a:endParaRPr sz="20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g1f3a3e07b40_0_36"/>
          <p:cNvSpPr/>
          <p:nvPr/>
        </p:nvSpPr>
        <p:spPr>
          <a:xfrm>
            <a:off x="0" y="0"/>
            <a:ext cx="1219200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5" name="Google Shape;255;g1f3a3e07b40_0_36"/>
          <p:cNvSpPr/>
          <p:nvPr/>
        </p:nvSpPr>
        <p:spPr>
          <a:xfrm>
            <a:off x="0" y="0"/>
            <a:ext cx="2013600" cy="6858000"/>
          </a:xfrm>
          <a:prstGeom prst="rect">
            <a:avLst/>
          </a:prstGeom>
          <a:solidFill>
            <a:srgbClr val="35475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6" name="Google Shape;256;g1f3a3e07b40_0_36"/>
          <p:cNvSpPr>
            <a:spLocks noGrp="1"/>
          </p:cNvSpPr>
          <p:nvPr>
            <p:ph type="title"/>
          </p:nvPr>
        </p:nvSpPr>
        <p:spPr>
          <a:xfrm>
            <a:off x="640080" y="2074363"/>
            <a:ext cx="2752500" cy="2709300"/>
          </a:xfrm>
          <a:prstGeom prst="ellipse">
            <a:avLst/>
          </a:prstGeom>
          <a:solidFill>
            <a:srgbClr val="262626"/>
          </a:solidFill>
          <a:ln w="174625" cap="flat" cmpd="thinThick">
            <a:solidFill>
              <a:srgbClr val="262626"/>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FFFF"/>
              </a:buClr>
              <a:buSzPts val="2200"/>
              <a:buFont typeface="Calibri"/>
              <a:buNone/>
            </a:pPr>
            <a:r>
              <a:rPr lang="en-US" sz="2200" b="1">
                <a:solidFill>
                  <a:srgbClr val="FFFFFF"/>
                </a:solidFill>
              </a:rPr>
              <a:t>Terraform</a:t>
            </a:r>
            <a:endParaRPr sz="2200">
              <a:solidFill>
                <a:srgbClr val="FFFFFF"/>
              </a:solidFill>
              <a:latin typeface="Calibri"/>
              <a:ea typeface="Calibri"/>
              <a:cs typeface="Calibri"/>
              <a:sym typeface="Calibri"/>
            </a:endParaRPr>
          </a:p>
        </p:txBody>
      </p:sp>
      <p:sp>
        <p:nvSpPr>
          <p:cNvPr id="257" name="Google Shape;257;g1f3a3e07b40_0_36"/>
          <p:cNvSpPr txBox="1"/>
          <p:nvPr/>
        </p:nvSpPr>
        <p:spPr>
          <a:xfrm>
            <a:off x="5263625" y="1310425"/>
            <a:ext cx="6290100" cy="4617600"/>
          </a:xfrm>
          <a:prstGeom prst="rect">
            <a:avLst/>
          </a:prstGeom>
          <a:noFill/>
          <a:ln>
            <a:noFill/>
          </a:ln>
        </p:spPr>
        <p:txBody>
          <a:bodyPr spcFirstLastPara="1" wrap="square" lIns="91425" tIns="91425" rIns="91425" bIns="91425" anchor="t" anchorCtr="0">
            <a:spAutoFit/>
          </a:bodyPr>
          <a:lstStyle/>
          <a:p>
            <a:pPr marL="457200" marR="0" lvl="0" indent="-355600" algn="l" rtl="0">
              <a:lnSpc>
                <a:spcPct val="100000"/>
              </a:lnSpc>
              <a:spcBef>
                <a:spcPts val="0"/>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Estado de la infraestructura gestionado: Terraform mantiene un archivo de estado que registra el estado actual de la infraestructura administrada. Esto permite a Terraform identificar y gestionar cambios incrementales de manera eficiente.</a:t>
            </a:r>
            <a:endParaRPr sz="2000" b="0" i="0" u="none" strike="noStrike" cap="none">
              <a:solidFill>
                <a:schemeClr val="dk1"/>
              </a:solidFill>
              <a:latin typeface="Calibri"/>
              <a:ea typeface="Calibri"/>
              <a:cs typeface="Calibri"/>
              <a:sym typeface="Calibri"/>
            </a:endParaRPr>
          </a:p>
          <a:p>
            <a:pPr marL="457200" marR="0" lvl="0" indent="0" algn="l"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Calibri"/>
              <a:ea typeface="Calibri"/>
              <a:cs typeface="Calibri"/>
              <a:sym typeface="Calibri"/>
            </a:endParaRPr>
          </a:p>
          <a:p>
            <a:pPr marL="457200" marR="0" lvl="0" indent="-355600" algn="l" rtl="0">
              <a:lnSpc>
                <a:spcPct val="100000"/>
              </a:lnSpc>
              <a:spcBef>
                <a:spcPts val="0"/>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Extensibilidad y modularidad: Terraform es altamente extensible y permite la creación de módulos reutilizables que encapsulan recursos y configuraciones comunes. Esto promueve la reutilización del código y facilita la gestión de infraestructuras complejas.</a:t>
            </a:r>
            <a:endParaRPr sz="20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15"/>
          <p:cNvSpPr/>
          <p:nvPr/>
        </p:nvSpPr>
        <p:spPr>
          <a:xfrm>
            <a:off x="0" y="0"/>
            <a:ext cx="1219200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3" name="Google Shape;263;p15"/>
          <p:cNvSpPr/>
          <p:nvPr/>
        </p:nvSpPr>
        <p:spPr>
          <a:xfrm>
            <a:off x="0" y="0"/>
            <a:ext cx="2013557" cy="6858000"/>
          </a:xfrm>
          <a:prstGeom prst="rect">
            <a:avLst/>
          </a:prstGeom>
          <a:solidFill>
            <a:srgbClr val="36669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4" name="Google Shape;264;p15"/>
          <p:cNvSpPr>
            <a:spLocks noGrp="1"/>
          </p:cNvSpPr>
          <p:nvPr>
            <p:ph type="title"/>
          </p:nvPr>
        </p:nvSpPr>
        <p:spPr>
          <a:xfrm>
            <a:off x="640080" y="2074363"/>
            <a:ext cx="2752354" cy="2709275"/>
          </a:xfrm>
          <a:prstGeom prst="ellipse">
            <a:avLst/>
          </a:prstGeom>
          <a:solidFill>
            <a:srgbClr val="262626"/>
          </a:solidFill>
          <a:ln w="174625" cap="flat" cmpd="thinThick">
            <a:solidFill>
              <a:srgbClr val="262626"/>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FFFF"/>
              </a:buClr>
              <a:buSzPts val="2600"/>
              <a:buFont typeface="Calibri"/>
              <a:buNone/>
            </a:pPr>
            <a:r>
              <a:rPr lang="en-US" sz="2600" b="1">
                <a:solidFill>
                  <a:srgbClr val="FFFFFF"/>
                </a:solidFill>
              </a:rPr>
              <a:t>Ansible</a:t>
            </a:r>
            <a:r>
              <a:rPr lang="en-US" sz="2600" b="1">
                <a:solidFill>
                  <a:srgbClr val="FFFFFF"/>
                </a:solidFill>
                <a:latin typeface="Calibri"/>
                <a:ea typeface="Calibri"/>
                <a:cs typeface="Calibri"/>
                <a:sym typeface="Calibri"/>
              </a:rPr>
              <a:t> </a:t>
            </a:r>
            <a:endParaRPr sz="2600">
              <a:solidFill>
                <a:srgbClr val="FFFFFF"/>
              </a:solidFill>
              <a:latin typeface="Calibri"/>
              <a:ea typeface="Calibri"/>
              <a:cs typeface="Calibri"/>
              <a:sym typeface="Calibri"/>
            </a:endParaRPr>
          </a:p>
        </p:txBody>
      </p:sp>
      <p:pic>
        <p:nvPicPr>
          <p:cNvPr id="265" name="Google Shape;265;p15"/>
          <p:cNvPicPr preferRelativeResize="0"/>
          <p:nvPr/>
        </p:nvPicPr>
        <p:blipFill rotWithShape="1">
          <a:blip r:embed="rId3">
            <a:alphaModFix/>
          </a:blip>
          <a:srcRect/>
          <a:stretch/>
        </p:blipFill>
        <p:spPr>
          <a:xfrm>
            <a:off x="4358321" y="1168025"/>
            <a:ext cx="6284151" cy="40847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g1f3a3e07b40_0_44"/>
          <p:cNvSpPr/>
          <p:nvPr/>
        </p:nvSpPr>
        <p:spPr>
          <a:xfrm>
            <a:off x="0" y="0"/>
            <a:ext cx="1219200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1" name="Google Shape;271;g1f3a3e07b40_0_44"/>
          <p:cNvSpPr/>
          <p:nvPr/>
        </p:nvSpPr>
        <p:spPr>
          <a:xfrm>
            <a:off x="0" y="0"/>
            <a:ext cx="2013600" cy="6858000"/>
          </a:xfrm>
          <a:prstGeom prst="rect">
            <a:avLst/>
          </a:prstGeom>
          <a:solidFill>
            <a:srgbClr val="36669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2" name="Google Shape;272;g1f3a3e07b40_0_44"/>
          <p:cNvSpPr>
            <a:spLocks noGrp="1"/>
          </p:cNvSpPr>
          <p:nvPr>
            <p:ph type="title"/>
          </p:nvPr>
        </p:nvSpPr>
        <p:spPr>
          <a:xfrm>
            <a:off x="640080" y="2074363"/>
            <a:ext cx="2752500" cy="2709300"/>
          </a:xfrm>
          <a:prstGeom prst="ellipse">
            <a:avLst/>
          </a:prstGeom>
          <a:solidFill>
            <a:srgbClr val="262626"/>
          </a:solidFill>
          <a:ln w="174625" cap="flat" cmpd="thinThick">
            <a:solidFill>
              <a:srgbClr val="262626"/>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FFFF"/>
              </a:buClr>
              <a:buSzPts val="2600"/>
              <a:buFont typeface="Calibri"/>
              <a:buNone/>
            </a:pPr>
            <a:r>
              <a:rPr lang="en-US" sz="2600" b="1">
                <a:solidFill>
                  <a:srgbClr val="FFFFFF"/>
                </a:solidFill>
              </a:rPr>
              <a:t>Ansible</a:t>
            </a:r>
            <a:r>
              <a:rPr lang="en-US" sz="2600" b="1">
                <a:solidFill>
                  <a:srgbClr val="FFFFFF"/>
                </a:solidFill>
                <a:latin typeface="Calibri"/>
                <a:ea typeface="Calibri"/>
                <a:cs typeface="Calibri"/>
                <a:sym typeface="Calibri"/>
              </a:rPr>
              <a:t> </a:t>
            </a:r>
            <a:endParaRPr sz="2600">
              <a:solidFill>
                <a:srgbClr val="FFFFFF"/>
              </a:solidFill>
              <a:latin typeface="Calibri"/>
              <a:ea typeface="Calibri"/>
              <a:cs typeface="Calibri"/>
              <a:sym typeface="Calibri"/>
            </a:endParaRPr>
          </a:p>
        </p:txBody>
      </p:sp>
      <p:sp>
        <p:nvSpPr>
          <p:cNvPr id="273" name="Google Shape;273;g1f3a3e07b40_0_44"/>
          <p:cNvSpPr txBox="1"/>
          <p:nvPr/>
        </p:nvSpPr>
        <p:spPr>
          <a:xfrm>
            <a:off x="6213700" y="1397250"/>
            <a:ext cx="5361900" cy="4063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Calibri"/>
                <a:ea typeface="Calibri"/>
                <a:cs typeface="Calibri"/>
                <a:sym typeface="Calibri"/>
              </a:rPr>
              <a:t>Popular herramienta de automatización de TI de código abierto desarrollada por Red Hat. Se utiliza para automatizar la administración, aprovisionamiento y configuración de sistemas informáticos, así como para la implementación y gestión de aplicaciones.</a:t>
            </a:r>
            <a:endParaRPr sz="2800" b="0" i="0" u="none" strike="noStrike" cap="non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f3a3e07b40_0_54"/>
          <p:cNvSpPr/>
          <p:nvPr/>
        </p:nvSpPr>
        <p:spPr>
          <a:xfrm>
            <a:off x="0" y="0"/>
            <a:ext cx="1219200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9" name="Google Shape;279;g1f3a3e07b40_0_54"/>
          <p:cNvSpPr/>
          <p:nvPr/>
        </p:nvSpPr>
        <p:spPr>
          <a:xfrm>
            <a:off x="0" y="0"/>
            <a:ext cx="2013600" cy="6858000"/>
          </a:xfrm>
          <a:prstGeom prst="rect">
            <a:avLst/>
          </a:prstGeom>
          <a:solidFill>
            <a:srgbClr val="36669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0" name="Google Shape;280;g1f3a3e07b40_0_54"/>
          <p:cNvSpPr>
            <a:spLocks noGrp="1"/>
          </p:cNvSpPr>
          <p:nvPr>
            <p:ph type="title"/>
          </p:nvPr>
        </p:nvSpPr>
        <p:spPr>
          <a:xfrm>
            <a:off x="640080" y="2074363"/>
            <a:ext cx="2752500" cy="2709300"/>
          </a:xfrm>
          <a:prstGeom prst="ellipse">
            <a:avLst/>
          </a:prstGeom>
          <a:solidFill>
            <a:srgbClr val="262626"/>
          </a:solidFill>
          <a:ln w="174625" cap="flat" cmpd="thinThick">
            <a:solidFill>
              <a:srgbClr val="262626"/>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FFFF"/>
              </a:buClr>
              <a:buSzPts val="2600"/>
              <a:buFont typeface="Calibri"/>
              <a:buNone/>
            </a:pPr>
            <a:r>
              <a:rPr lang="en-US" sz="2600" b="1">
                <a:solidFill>
                  <a:srgbClr val="FFFFFF"/>
                </a:solidFill>
              </a:rPr>
              <a:t>Ansible</a:t>
            </a:r>
            <a:r>
              <a:rPr lang="en-US" sz="2600" b="1">
                <a:solidFill>
                  <a:srgbClr val="FFFFFF"/>
                </a:solidFill>
                <a:latin typeface="Calibri"/>
                <a:ea typeface="Calibri"/>
                <a:cs typeface="Calibri"/>
                <a:sym typeface="Calibri"/>
              </a:rPr>
              <a:t> </a:t>
            </a:r>
            <a:endParaRPr sz="2600">
              <a:solidFill>
                <a:srgbClr val="FFFFFF"/>
              </a:solidFill>
              <a:latin typeface="Calibri"/>
              <a:ea typeface="Calibri"/>
              <a:cs typeface="Calibri"/>
              <a:sym typeface="Calibri"/>
            </a:endParaRPr>
          </a:p>
        </p:txBody>
      </p:sp>
      <p:sp>
        <p:nvSpPr>
          <p:cNvPr id="281" name="Google Shape;281;g1f3a3e07b40_0_54"/>
          <p:cNvSpPr txBox="1"/>
          <p:nvPr/>
        </p:nvSpPr>
        <p:spPr>
          <a:xfrm>
            <a:off x="5864250" y="1124250"/>
            <a:ext cx="5361900" cy="4925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Calibri"/>
                <a:ea typeface="Calibri"/>
                <a:cs typeface="Calibri"/>
                <a:sym typeface="Calibri"/>
              </a:rPr>
              <a:t>La principal característica de Ansible es su enfoque en la simplicidad y la facilidad de uso. Utiliza un lenguaje simple y legible llamado YAML (acrónimo de "YAML Ain't Markup Language") para definir la configuración y las tareas que se ejecutarán en los sistemas. Esto hace que sea accesible para usuarios con diversos niveles de experiencia en programación.</a:t>
            </a:r>
            <a:endParaRPr sz="2800" b="0" i="0" u="none" strike="noStrike" cap="non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g1f3a3e07b40_0_63"/>
          <p:cNvSpPr/>
          <p:nvPr/>
        </p:nvSpPr>
        <p:spPr>
          <a:xfrm>
            <a:off x="0" y="0"/>
            <a:ext cx="1219200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7" name="Google Shape;287;g1f3a3e07b40_0_63"/>
          <p:cNvSpPr/>
          <p:nvPr/>
        </p:nvSpPr>
        <p:spPr>
          <a:xfrm>
            <a:off x="0" y="0"/>
            <a:ext cx="2013600" cy="6858000"/>
          </a:xfrm>
          <a:prstGeom prst="rect">
            <a:avLst/>
          </a:prstGeom>
          <a:solidFill>
            <a:srgbClr val="36669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8" name="Google Shape;288;g1f3a3e07b40_0_63"/>
          <p:cNvSpPr>
            <a:spLocks noGrp="1"/>
          </p:cNvSpPr>
          <p:nvPr>
            <p:ph type="title"/>
          </p:nvPr>
        </p:nvSpPr>
        <p:spPr>
          <a:xfrm>
            <a:off x="640080" y="2074363"/>
            <a:ext cx="2752500" cy="2709300"/>
          </a:xfrm>
          <a:prstGeom prst="ellipse">
            <a:avLst/>
          </a:prstGeom>
          <a:solidFill>
            <a:srgbClr val="262626"/>
          </a:solidFill>
          <a:ln w="174625" cap="flat" cmpd="thinThick">
            <a:solidFill>
              <a:srgbClr val="262626"/>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FFFF"/>
              </a:buClr>
              <a:buSzPts val="2600"/>
              <a:buFont typeface="Calibri"/>
              <a:buNone/>
            </a:pPr>
            <a:r>
              <a:rPr lang="en-US" sz="2600" b="1">
                <a:solidFill>
                  <a:srgbClr val="FFFFFF"/>
                </a:solidFill>
              </a:rPr>
              <a:t>Ansible</a:t>
            </a:r>
            <a:r>
              <a:rPr lang="en-US" sz="2600" b="1">
                <a:solidFill>
                  <a:srgbClr val="FFFFFF"/>
                </a:solidFill>
                <a:latin typeface="Calibri"/>
                <a:ea typeface="Calibri"/>
                <a:cs typeface="Calibri"/>
                <a:sym typeface="Calibri"/>
              </a:rPr>
              <a:t> </a:t>
            </a:r>
            <a:endParaRPr sz="2600">
              <a:solidFill>
                <a:srgbClr val="FFFFFF"/>
              </a:solidFill>
              <a:latin typeface="Calibri"/>
              <a:ea typeface="Calibri"/>
              <a:cs typeface="Calibri"/>
              <a:sym typeface="Calibri"/>
            </a:endParaRPr>
          </a:p>
        </p:txBody>
      </p:sp>
      <p:sp>
        <p:nvSpPr>
          <p:cNvPr id="289" name="Google Shape;289;g1f3a3e07b40_0_63"/>
          <p:cNvSpPr txBox="1"/>
          <p:nvPr/>
        </p:nvSpPr>
        <p:spPr>
          <a:xfrm>
            <a:off x="5864250" y="1124250"/>
            <a:ext cx="5361900" cy="4925400"/>
          </a:xfrm>
          <a:prstGeom prst="rect">
            <a:avLst/>
          </a:prstGeom>
          <a:noFill/>
          <a:ln>
            <a:noFill/>
          </a:ln>
        </p:spPr>
        <p:txBody>
          <a:bodyPr spcFirstLastPara="1" wrap="square" lIns="91425" tIns="91425" rIns="91425" bIns="91425" anchor="t" anchorCtr="0">
            <a:spAutoFit/>
          </a:bodyPr>
          <a:lstStyle/>
          <a:p>
            <a:pPr marL="457200" marR="0" lvl="0" indent="-368300" algn="l" rtl="0">
              <a:lnSpc>
                <a:spcPct val="100000"/>
              </a:lnSpc>
              <a:spcBef>
                <a:spcPts val="0"/>
              </a:spcBef>
              <a:spcAft>
                <a:spcPts val="0"/>
              </a:spcAft>
              <a:buClr>
                <a:schemeClr val="dk1"/>
              </a:buClr>
              <a:buSzPts val="2200"/>
              <a:buFont typeface="Calibri"/>
              <a:buChar char="●"/>
            </a:pPr>
            <a:r>
              <a:rPr lang="en-US" sz="2200" b="0" i="0" u="none" strike="noStrike" cap="none">
                <a:solidFill>
                  <a:schemeClr val="dk1"/>
                </a:solidFill>
                <a:latin typeface="Calibri"/>
                <a:ea typeface="Calibri"/>
                <a:cs typeface="Calibri"/>
                <a:sym typeface="Calibri"/>
              </a:rPr>
              <a:t>Orquestación sin agentes: Ansible opera en un modelo de comunicación sin agentes, lo que significa que no se requiere ningún software adicional para ser instalado en los sistemas de destino. Utiliza SSH para establecer conexiones y ejecutar comandos en los nodos remotos.</a:t>
            </a:r>
            <a:endParaRPr sz="2200" b="0" i="0" u="none" strike="noStrike" cap="none">
              <a:solidFill>
                <a:schemeClr val="dk1"/>
              </a:solidFill>
              <a:latin typeface="Calibri"/>
              <a:ea typeface="Calibri"/>
              <a:cs typeface="Calibri"/>
              <a:sym typeface="Calibri"/>
            </a:endParaRPr>
          </a:p>
          <a:p>
            <a:pPr marL="457200" marR="0" lvl="0" indent="0" algn="l" rtl="0">
              <a:lnSpc>
                <a:spcPct val="100000"/>
              </a:lnSpc>
              <a:spcBef>
                <a:spcPts val="0"/>
              </a:spcBef>
              <a:spcAft>
                <a:spcPts val="0"/>
              </a:spcAft>
              <a:buClr>
                <a:srgbClr val="000000"/>
              </a:buClr>
              <a:buSzPts val="2200"/>
              <a:buFont typeface="Arial"/>
              <a:buNone/>
            </a:pPr>
            <a:endParaRPr sz="2200" b="0" i="0" u="none" strike="noStrike" cap="none">
              <a:solidFill>
                <a:schemeClr val="dk1"/>
              </a:solidFill>
              <a:latin typeface="Calibri"/>
              <a:ea typeface="Calibri"/>
              <a:cs typeface="Calibri"/>
              <a:sym typeface="Calibri"/>
            </a:endParaRPr>
          </a:p>
          <a:p>
            <a:pPr marL="457200" marR="0" lvl="0" indent="-368300" algn="l" rtl="0">
              <a:lnSpc>
                <a:spcPct val="100000"/>
              </a:lnSpc>
              <a:spcBef>
                <a:spcPts val="0"/>
              </a:spcBef>
              <a:spcAft>
                <a:spcPts val="0"/>
              </a:spcAft>
              <a:buClr>
                <a:schemeClr val="dk1"/>
              </a:buClr>
              <a:buSzPts val="2200"/>
              <a:buFont typeface="Calibri"/>
              <a:buChar char="●"/>
            </a:pPr>
            <a:r>
              <a:rPr lang="en-US" sz="2200" b="0" i="0" u="none" strike="noStrike" cap="none">
                <a:solidFill>
                  <a:schemeClr val="dk1"/>
                </a:solidFill>
                <a:latin typeface="Calibri"/>
                <a:ea typeface="Calibri"/>
                <a:cs typeface="Calibri"/>
                <a:sym typeface="Calibri"/>
              </a:rPr>
              <a:t>Infraestructura como código: Ansible permite describir la infraestructura y la configuración del sistema en archivos de texto simple, lo que facilita la gestión de la infraestructura como código.</a:t>
            </a:r>
            <a:endParaRPr sz="2800" b="0" i="0" u="none" strike="noStrike" cap="non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g1f3a3e07b40_0_71"/>
          <p:cNvSpPr/>
          <p:nvPr/>
        </p:nvSpPr>
        <p:spPr>
          <a:xfrm>
            <a:off x="0" y="0"/>
            <a:ext cx="1219200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5" name="Google Shape;295;g1f3a3e07b40_0_71"/>
          <p:cNvSpPr/>
          <p:nvPr/>
        </p:nvSpPr>
        <p:spPr>
          <a:xfrm>
            <a:off x="0" y="0"/>
            <a:ext cx="2013600" cy="6858000"/>
          </a:xfrm>
          <a:prstGeom prst="rect">
            <a:avLst/>
          </a:prstGeom>
          <a:solidFill>
            <a:srgbClr val="36669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6" name="Google Shape;296;g1f3a3e07b40_0_71"/>
          <p:cNvSpPr>
            <a:spLocks noGrp="1"/>
          </p:cNvSpPr>
          <p:nvPr>
            <p:ph type="title"/>
          </p:nvPr>
        </p:nvSpPr>
        <p:spPr>
          <a:xfrm>
            <a:off x="640080" y="2074363"/>
            <a:ext cx="2752500" cy="2709300"/>
          </a:xfrm>
          <a:prstGeom prst="ellipse">
            <a:avLst/>
          </a:prstGeom>
          <a:solidFill>
            <a:srgbClr val="262626"/>
          </a:solidFill>
          <a:ln w="174625" cap="flat" cmpd="thinThick">
            <a:solidFill>
              <a:srgbClr val="262626"/>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FFFF"/>
              </a:buClr>
              <a:buSzPts val="2600"/>
              <a:buFont typeface="Calibri"/>
              <a:buNone/>
            </a:pPr>
            <a:r>
              <a:rPr lang="en-US" sz="2600" b="1">
                <a:solidFill>
                  <a:srgbClr val="FFFFFF"/>
                </a:solidFill>
              </a:rPr>
              <a:t>Ansible</a:t>
            </a:r>
            <a:r>
              <a:rPr lang="en-US" sz="2600" b="1">
                <a:solidFill>
                  <a:srgbClr val="FFFFFF"/>
                </a:solidFill>
                <a:latin typeface="Calibri"/>
                <a:ea typeface="Calibri"/>
                <a:cs typeface="Calibri"/>
                <a:sym typeface="Calibri"/>
              </a:rPr>
              <a:t> </a:t>
            </a:r>
            <a:endParaRPr sz="2600">
              <a:solidFill>
                <a:srgbClr val="FFFFFF"/>
              </a:solidFill>
              <a:latin typeface="Calibri"/>
              <a:ea typeface="Calibri"/>
              <a:cs typeface="Calibri"/>
              <a:sym typeface="Calibri"/>
            </a:endParaRPr>
          </a:p>
        </p:txBody>
      </p:sp>
      <p:sp>
        <p:nvSpPr>
          <p:cNvPr id="297" name="Google Shape;297;g1f3a3e07b40_0_71"/>
          <p:cNvSpPr txBox="1"/>
          <p:nvPr/>
        </p:nvSpPr>
        <p:spPr>
          <a:xfrm>
            <a:off x="5842400" y="796625"/>
            <a:ext cx="5361900" cy="5941500"/>
          </a:xfrm>
          <a:prstGeom prst="rect">
            <a:avLst/>
          </a:prstGeom>
          <a:noFill/>
          <a:ln>
            <a:noFill/>
          </a:ln>
        </p:spPr>
        <p:txBody>
          <a:bodyPr spcFirstLastPara="1" wrap="square" lIns="91425" tIns="91425" rIns="91425" bIns="91425" anchor="t" anchorCtr="0">
            <a:spAutoFit/>
          </a:bodyPr>
          <a:lstStyle/>
          <a:p>
            <a:pPr marL="457200" marR="0" lvl="0" indent="-368300" algn="l" rtl="0">
              <a:lnSpc>
                <a:spcPct val="100000"/>
              </a:lnSpc>
              <a:spcBef>
                <a:spcPts val="0"/>
              </a:spcBef>
              <a:spcAft>
                <a:spcPts val="0"/>
              </a:spcAft>
              <a:buClr>
                <a:schemeClr val="dk1"/>
              </a:buClr>
              <a:buSzPts val="2200"/>
              <a:buFont typeface="Calibri"/>
              <a:buChar char="●"/>
            </a:pPr>
            <a:r>
              <a:rPr lang="en-US" sz="2200" b="0" i="0" u="none" strike="noStrike" cap="none">
                <a:solidFill>
                  <a:schemeClr val="dk1"/>
                </a:solidFill>
                <a:latin typeface="Calibri"/>
                <a:ea typeface="Calibri"/>
                <a:cs typeface="Calibri"/>
                <a:sym typeface="Calibri"/>
              </a:rPr>
              <a:t>Declarativo y basado en tareas: Ansible se basa en un modelo declarativo, lo que significa que los usuarios definen el estado deseado del sistema y Ansible se encarga de llevarlo a cabo. Las tareas se definen en archivos YAML utilizando un formato fácil de entender.</a:t>
            </a:r>
            <a:endParaRPr sz="2200" b="0" i="0" u="none" strike="noStrike" cap="none">
              <a:solidFill>
                <a:schemeClr val="dk1"/>
              </a:solidFill>
              <a:latin typeface="Calibri"/>
              <a:ea typeface="Calibri"/>
              <a:cs typeface="Calibri"/>
              <a:sym typeface="Calibri"/>
            </a:endParaRPr>
          </a:p>
          <a:p>
            <a:pPr marL="457200" marR="0" lvl="0" indent="0" algn="l" rtl="0">
              <a:lnSpc>
                <a:spcPct val="100000"/>
              </a:lnSpc>
              <a:spcBef>
                <a:spcPts val="0"/>
              </a:spcBef>
              <a:spcAft>
                <a:spcPts val="0"/>
              </a:spcAft>
              <a:buClr>
                <a:srgbClr val="000000"/>
              </a:buClr>
              <a:buSzPts val="2200"/>
              <a:buFont typeface="Arial"/>
              <a:buNone/>
            </a:pPr>
            <a:endParaRPr sz="2200" b="0" i="0" u="none" strike="noStrike" cap="none">
              <a:solidFill>
                <a:schemeClr val="dk1"/>
              </a:solidFill>
              <a:latin typeface="Calibri"/>
              <a:ea typeface="Calibri"/>
              <a:cs typeface="Calibri"/>
              <a:sym typeface="Calibri"/>
            </a:endParaRPr>
          </a:p>
          <a:p>
            <a:pPr marL="457200" marR="0" lvl="0" indent="-368300" algn="l" rtl="0">
              <a:lnSpc>
                <a:spcPct val="100000"/>
              </a:lnSpc>
              <a:spcBef>
                <a:spcPts val="0"/>
              </a:spcBef>
              <a:spcAft>
                <a:spcPts val="0"/>
              </a:spcAft>
              <a:buClr>
                <a:schemeClr val="dk1"/>
              </a:buClr>
              <a:buSzPts val="2200"/>
              <a:buFont typeface="Calibri"/>
              <a:buChar char="●"/>
            </a:pPr>
            <a:r>
              <a:rPr lang="en-US" sz="2200" b="0" i="0" u="none" strike="noStrike" cap="none">
                <a:solidFill>
                  <a:schemeClr val="dk1"/>
                </a:solidFill>
                <a:latin typeface="Calibri"/>
                <a:ea typeface="Calibri"/>
                <a:cs typeface="Calibri"/>
                <a:sym typeface="Calibri"/>
              </a:rPr>
              <a:t>Reutilización de roles y módulos: Ansible facilita la reutilización del código a través de la creación de roles y módulos. Los roles son conjuntos de tareas y configuraciones que se pueden aplicar a diferentes sistemas, lo que promueve la consistencia y la modularidad en la gestión de la infraestructura.</a:t>
            </a:r>
            <a:endParaRPr sz="2200" b="0" i="0" u="none" strike="noStrike" cap="none">
              <a:solidFill>
                <a:schemeClr val="dk1"/>
              </a:solidFill>
              <a:latin typeface="Calibri"/>
              <a:ea typeface="Calibri"/>
              <a:cs typeface="Calibri"/>
              <a:sym typeface="Calibri"/>
            </a:endParaRPr>
          </a:p>
          <a:p>
            <a:pPr marL="457200" marR="0" lvl="0" indent="0" algn="l" rtl="0">
              <a:lnSpc>
                <a:spcPct val="100000"/>
              </a:lnSpc>
              <a:spcBef>
                <a:spcPts val="0"/>
              </a:spcBef>
              <a:spcAft>
                <a:spcPts val="0"/>
              </a:spcAft>
              <a:buClr>
                <a:srgbClr val="000000"/>
              </a:buClr>
              <a:buSzPts val="2200"/>
              <a:buFont typeface="Arial"/>
              <a:buNone/>
            </a:pPr>
            <a:endParaRPr sz="2200" b="0" i="0" u="none" strike="noStrike" cap="non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g1f3a3e07b40_0_80"/>
          <p:cNvSpPr/>
          <p:nvPr/>
        </p:nvSpPr>
        <p:spPr>
          <a:xfrm>
            <a:off x="0" y="0"/>
            <a:ext cx="1219200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3" name="Google Shape;303;g1f3a3e07b40_0_80"/>
          <p:cNvSpPr/>
          <p:nvPr/>
        </p:nvSpPr>
        <p:spPr>
          <a:xfrm>
            <a:off x="0" y="0"/>
            <a:ext cx="2013600" cy="6858000"/>
          </a:xfrm>
          <a:prstGeom prst="rect">
            <a:avLst/>
          </a:prstGeom>
          <a:solidFill>
            <a:srgbClr val="36669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4" name="Google Shape;304;g1f3a3e07b40_0_80"/>
          <p:cNvSpPr>
            <a:spLocks noGrp="1"/>
          </p:cNvSpPr>
          <p:nvPr>
            <p:ph type="title"/>
          </p:nvPr>
        </p:nvSpPr>
        <p:spPr>
          <a:xfrm>
            <a:off x="640080" y="2074363"/>
            <a:ext cx="2752500" cy="2709300"/>
          </a:xfrm>
          <a:prstGeom prst="ellipse">
            <a:avLst/>
          </a:prstGeom>
          <a:solidFill>
            <a:srgbClr val="262626"/>
          </a:solidFill>
          <a:ln w="174625" cap="flat" cmpd="thinThick">
            <a:solidFill>
              <a:srgbClr val="262626"/>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FFFF"/>
              </a:buClr>
              <a:buSzPts val="2600"/>
              <a:buFont typeface="Calibri"/>
              <a:buNone/>
            </a:pPr>
            <a:r>
              <a:rPr lang="en-US" sz="2600" b="1">
                <a:solidFill>
                  <a:srgbClr val="FFFFFF"/>
                </a:solidFill>
              </a:rPr>
              <a:t>Ansible</a:t>
            </a:r>
            <a:r>
              <a:rPr lang="en-US" sz="2600" b="1">
                <a:solidFill>
                  <a:srgbClr val="FFFFFF"/>
                </a:solidFill>
                <a:latin typeface="Calibri"/>
                <a:ea typeface="Calibri"/>
                <a:cs typeface="Calibri"/>
                <a:sym typeface="Calibri"/>
              </a:rPr>
              <a:t> </a:t>
            </a:r>
            <a:endParaRPr sz="2600">
              <a:solidFill>
                <a:srgbClr val="FFFFFF"/>
              </a:solidFill>
              <a:latin typeface="Calibri"/>
              <a:ea typeface="Calibri"/>
              <a:cs typeface="Calibri"/>
              <a:sym typeface="Calibri"/>
            </a:endParaRPr>
          </a:p>
        </p:txBody>
      </p:sp>
      <p:sp>
        <p:nvSpPr>
          <p:cNvPr id="305" name="Google Shape;305;g1f3a3e07b40_0_80"/>
          <p:cNvSpPr txBox="1"/>
          <p:nvPr/>
        </p:nvSpPr>
        <p:spPr>
          <a:xfrm>
            <a:off x="5842400" y="796625"/>
            <a:ext cx="5361900" cy="3232500"/>
          </a:xfrm>
          <a:prstGeom prst="rect">
            <a:avLst/>
          </a:prstGeom>
          <a:noFill/>
          <a:ln>
            <a:noFill/>
          </a:ln>
        </p:spPr>
        <p:txBody>
          <a:bodyPr spcFirstLastPara="1" wrap="square" lIns="91425" tIns="91425" rIns="91425" bIns="91425" anchor="t" anchorCtr="0">
            <a:spAutoFit/>
          </a:bodyPr>
          <a:lstStyle/>
          <a:p>
            <a:pPr marL="457200" marR="0" lvl="0" indent="-368300" algn="l" rtl="0">
              <a:lnSpc>
                <a:spcPct val="100000"/>
              </a:lnSpc>
              <a:spcBef>
                <a:spcPts val="0"/>
              </a:spcBef>
              <a:spcAft>
                <a:spcPts val="0"/>
              </a:spcAft>
              <a:buClr>
                <a:schemeClr val="dk1"/>
              </a:buClr>
              <a:buSzPts val="2200"/>
              <a:buFont typeface="Calibri"/>
              <a:buChar char="●"/>
            </a:pPr>
            <a:r>
              <a:rPr lang="en-US" sz="2200" b="0" i="0" u="none" strike="noStrike" cap="none">
                <a:solidFill>
                  <a:schemeClr val="dk1"/>
                </a:solidFill>
                <a:latin typeface="Calibri"/>
                <a:ea typeface="Calibri"/>
                <a:cs typeface="Calibri"/>
                <a:sym typeface="Calibri"/>
              </a:rPr>
              <a:t>Escalabilidad y paralelismo: Ansible puede administrar infraestructuras de cualquier tamaño, desde unos pocos servidores hasta miles de nodos. Además, tiene capacidades integradas para ejecutar tareas de forma paralela, lo que mejora el rendimiento y la velocidad de ejecución.</a:t>
            </a:r>
            <a:endParaRPr sz="2200" b="0" i="0" u="none" strike="noStrike" cap="none">
              <a:solidFill>
                <a:schemeClr val="dk1"/>
              </a:solidFill>
              <a:latin typeface="Calibri"/>
              <a:ea typeface="Calibri"/>
              <a:cs typeface="Calibri"/>
              <a:sym typeface="Calibri"/>
            </a:endParaRPr>
          </a:p>
          <a:p>
            <a:pPr marL="457200" marR="0" lvl="0" indent="0" algn="l" rtl="0">
              <a:lnSpc>
                <a:spcPct val="100000"/>
              </a:lnSpc>
              <a:spcBef>
                <a:spcPts val="0"/>
              </a:spcBef>
              <a:spcAft>
                <a:spcPts val="0"/>
              </a:spcAft>
              <a:buClr>
                <a:srgbClr val="000000"/>
              </a:buClr>
              <a:buSzPts val="2200"/>
              <a:buFont typeface="Arial"/>
              <a:buNone/>
            </a:pPr>
            <a:endParaRPr sz="2200" b="0" i="0" u="none" strike="noStrike" cap="non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9"/>
          <p:cNvSpPr txBox="1"/>
          <p:nvPr/>
        </p:nvSpPr>
        <p:spPr>
          <a:xfrm>
            <a:off x="3047997" y="3450703"/>
            <a:ext cx="5772600" cy="1952073"/>
          </a:xfrm>
          <a:prstGeom prst="rect">
            <a:avLst/>
          </a:prstGeom>
          <a:noFill/>
          <a:ln>
            <a:noFill/>
          </a:ln>
        </p:spPr>
        <p:txBody>
          <a:bodyPr spcFirstLastPara="1" wrap="square" lIns="0" tIns="0" rIns="0" bIns="0" anchor="t" anchorCtr="0">
            <a:spAutoFit/>
          </a:bodyPr>
          <a:lstStyle/>
          <a:p>
            <a:pPr algn="just">
              <a:lnSpc>
                <a:spcPct val="104000"/>
              </a:lnSpc>
              <a:buSzPts val="6099"/>
            </a:pPr>
            <a:r>
              <a:rPr lang="es-GT" sz="4066" dirty="0">
                <a:solidFill>
                  <a:srgbClr val="131416"/>
                </a:solidFill>
                <a:latin typeface="Impact"/>
                <a:ea typeface="Impact"/>
                <a:cs typeface="Impact"/>
                <a:sym typeface="Impact"/>
              </a:rPr>
              <a:t>¡GRACIAS POR SU  ATENCIÓN!</a:t>
            </a:r>
            <a:endParaRPr lang="es-GT" sz="933" dirty="0">
              <a:latin typeface="Impact"/>
              <a:ea typeface="Impact"/>
              <a:cs typeface="Impact"/>
              <a:sym typeface="Impact"/>
            </a:endParaRPr>
          </a:p>
          <a:p>
            <a:pPr algn="just">
              <a:lnSpc>
                <a:spcPct val="104000"/>
              </a:lnSpc>
              <a:buSzPts val="6099"/>
            </a:pPr>
            <a:endParaRPr lang="es-GT" sz="4066" dirty="0">
              <a:solidFill>
                <a:srgbClr val="131416"/>
              </a:solidFill>
              <a:latin typeface="Impact"/>
              <a:ea typeface="Impact"/>
              <a:cs typeface="Impact"/>
              <a:sym typeface="Impact"/>
            </a:endParaRPr>
          </a:p>
        </p:txBody>
      </p:sp>
      <p:sp>
        <p:nvSpPr>
          <p:cNvPr id="223" name="Google Shape;223;p9"/>
          <p:cNvSpPr/>
          <p:nvPr/>
        </p:nvSpPr>
        <p:spPr>
          <a:xfrm>
            <a:off x="5176909" y="397733"/>
            <a:ext cx="1838179" cy="2513980"/>
          </a:xfrm>
          <a:custGeom>
            <a:avLst/>
            <a:gdLst/>
            <a:ahLst/>
            <a:cxnLst/>
            <a:rect l="l" t="t" r="r" b="b"/>
            <a:pathLst>
              <a:path w="2757268" h="3770970" extrusionOk="0">
                <a:moveTo>
                  <a:pt x="0" y="0"/>
                </a:moveTo>
                <a:lnTo>
                  <a:pt x="2757268" y="0"/>
                </a:lnTo>
                <a:lnTo>
                  <a:pt x="2757268" y="3770970"/>
                </a:lnTo>
                <a:lnTo>
                  <a:pt x="0" y="3770970"/>
                </a:lnTo>
                <a:lnTo>
                  <a:pt x="0" y="0"/>
                </a:lnTo>
                <a:close/>
              </a:path>
            </a:pathLst>
          </a:custGeom>
          <a:blipFill rotWithShape="1">
            <a:blip r:embed="rId3">
              <a:alphaModFix/>
            </a:blip>
            <a:stretch>
              <a:fillRect/>
            </a:stretch>
          </a:blipFill>
          <a:ln>
            <a:noFill/>
          </a:ln>
        </p:spPr>
        <p:txBody>
          <a:bodyPr/>
          <a:lstStyle/>
          <a:p>
            <a:endParaRPr lang="es-GT" sz="933" dirty="0"/>
          </a:p>
        </p:txBody>
      </p:sp>
      <p:sp>
        <p:nvSpPr>
          <p:cNvPr id="224" name="Google Shape;224;p9"/>
          <p:cNvSpPr txBox="1"/>
          <p:nvPr/>
        </p:nvSpPr>
        <p:spPr>
          <a:xfrm>
            <a:off x="1607399" y="5266490"/>
            <a:ext cx="8977203" cy="607218"/>
          </a:xfrm>
          <a:prstGeom prst="rect">
            <a:avLst/>
          </a:prstGeom>
          <a:noFill/>
          <a:ln>
            <a:noFill/>
          </a:ln>
        </p:spPr>
        <p:txBody>
          <a:bodyPr spcFirstLastPara="1" wrap="square" lIns="0" tIns="0" rIns="0" bIns="0" anchor="t" anchorCtr="0">
            <a:spAutoFit/>
          </a:bodyPr>
          <a:lstStyle/>
          <a:p>
            <a:pPr algn="ctr">
              <a:lnSpc>
                <a:spcPct val="148000"/>
              </a:lnSpc>
              <a:buSzPts val="2000"/>
            </a:pPr>
            <a:r>
              <a:rPr lang="es-GT" sz="1333" dirty="0">
                <a:solidFill>
                  <a:srgbClr val="131416"/>
                </a:solidFill>
              </a:rPr>
              <a:t>RECUERDA QUE TENEMOS NUESTRO FORO SEMANAL DONDE PUEDES CONSULTAR CUALQUIER DUDA QUE TE SURJA EN LA SEMANA</a:t>
            </a:r>
            <a:endParaRPr lang="es-GT" sz="933" dirty="0"/>
          </a:p>
        </p:txBody>
      </p:sp>
    </p:spTree>
  </p:cSld>
  <p:clrMapOvr>
    <a:masterClrMapping/>
  </p:clrMapOvr>
  <p:transition spd="slow">
    <p:wipe/>
  </p:transition>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TotalTime>
  <Words>858</Words>
  <Application>Microsoft Office PowerPoint</Application>
  <PresentationFormat>Panorámica</PresentationFormat>
  <Paragraphs>86</Paragraphs>
  <Slides>22</Slides>
  <Notes>22</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22</vt:i4>
      </vt:variant>
    </vt:vector>
  </HeadingPairs>
  <TitlesOfParts>
    <vt:vector size="27" baseType="lpstr">
      <vt:lpstr>Arial</vt:lpstr>
      <vt:lpstr>Calibri</vt:lpstr>
      <vt:lpstr>Impact</vt:lpstr>
      <vt:lpstr>Pacifico</vt:lpstr>
      <vt:lpstr>Office Theme</vt:lpstr>
      <vt:lpstr>Presentación de PowerPoint</vt:lpstr>
      <vt:lpstr>Presentación de PowerPoint</vt:lpstr>
      <vt:lpstr>Modelos de servicio de la nube</vt:lpstr>
      <vt:lpstr>IaaS  Infraestrcutre as a Service</vt:lpstr>
      <vt:lpstr>Caracteristicas  Principales</vt:lpstr>
      <vt:lpstr>Componentes</vt:lpstr>
      <vt:lpstr>Beneficios de la adopción de IaaS </vt:lpstr>
      <vt:lpstr>En resumen…</vt:lpstr>
      <vt:lpstr>Modelos de implementacion</vt:lpstr>
      <vt:lpstr>Casos de Uso</vt:lpstr>
      <vt:lpstr>Herramientas IaaS</vt:lpstr>
      <vt:lpstr>Terraform</vt:lpstr>
      <vt:lpstr>Terraform</vt:lpstr>
      <vt:lpstr>Terraform</vt:lpstr>
      <vt:lpstr>Terraform</vt:lpstr>
      <vt:lpstr>Ansible </vt:lpstr>
      <vt:lpstr>Ansible </vt:lpstr>
      <vt:lpstr>Ansible </vt:lpstr>
      <vt:lpstr>Ansible </vt:lpstr>
      <vt:lpstr>Ansible </vt:lpstr>
      <vt:lpstr>Ansible </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Kevin Pozuelos</dc:creator>
  <cp:lastModifiedBy>Kevin Pozuelos</cp:lastModifiedBy>
  <cp:revision>3</cp:revision>
  <dcterms:created xsi:type="dcterms:W3CDTF">2021-01-24T02:47:27Z</dcterms:created>
  <dcterms:modified xsi:type="dcterms:W3CDTF">2026-03-05T23:24:27Z</dcterms:modified>
</cp:coreProperties>
</file>