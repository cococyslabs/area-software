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8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12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307" r:id="rId22"/>
    <p:sldId id="308" r:id="rId23"/>
    <p:sldId id="309" r:id="rId24"/>
    <p:sldId id="310" r:id="rId25"/>
    <p:sldId id="311" r:id="rId26"/>
    <p:sldId id="306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1" roundtripDataSignature="AMtx7miQ8Y0uMRXjqRCZ5snkrE5OxZ7w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FF8CEB-B0E9-4877-8986-A95859FF1C04}">
  <a:tblStyle styleId="{DCFF8CEB-B0E9-4877-8986-A95859FF1C0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91EB330-50F6-4ACE-A556-FCC03B3E2DE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9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8" Type="http://schemas.openxmlformats.org/officeDocument/2006/relationships/slide" Target="slides/slide7.xml"/><Relationship Id="rId51" Type="http://customschemas.google.com/relationships/presentationmetadata" Target="meta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3D0D5B-A4B1-467B-A76D-59A74FE76AFE}" type="doc">
      <dgm:prSet loTypeId="urn:microsoft.com/office/officeart/2016/7/layout/VerticalSolidAction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CF28D8E-DADA-4D7E-BBCA-DCC03BD48CC5}">
      <dgm:prSet/>
      <dgm:spPr/>
      <dgm:t>
        <a:bodyPr/>
        <a:lstStyle/>
        <a:p>
          <a:r>
            <a:rPr lang="es-ES"/>
            <a:t>La seguridad se integra en todas las fases:</a:t>
          </a:r>
          <a:endParaRPr lang="en-US"/>
        </a:p>
      </dgm:t>
    </dgm:pt>
    <dgm:pt modelId="{053D56A2-CA11-4496-B300-6CD41ADEC7D9}" type="parTrans" cxnId="{FA5817AC-5698-4CD3-A7F3-57FAF2188532}">
      <dgm:prSet/>
      <dgm:spPr/>
      <dgm:t>
        <a:bodyPr/>
        <a:lstStyle/>
        <a:p>
          <a:endParaRPr lang="en-US"/>
        </a:p>
      </dgm:t>
    </dgm:pt>
    <dgm:pt modelId="{7613933A-2FA7-46ED-8B39-B42E5FF450DD}" type="sibTrans" cxnId="{FA5817AC-5698-4CD3-A7F3-57FAF2188532}">
      <dgm:prSet/>
      <dgm:spPr/>
      <dgm:t>
        <a:bodyPr/>
        <a:lstStyle/>
        <a:p>
          <a:endParaRPr lang="en-US"/>
        </a:p>
      </dgm:t>
    </dgm:pt>
    <dgm:pt modelId="{6F5762BB-FDEC-461B-8425-A66307838BBF}">
      <dgm:prSet/>
      <dgm:spPr/>
      <dgm:t>
        <a:bodyPr/>
        <a:lstStyle/>
        <a:p>
          <a:r>
            <a:rPr lang="es-ES" b="1"/>
            <a:t>Planificación</a:t>
          </a:r>
          <a:endParaRPr lang="en-US"/>
        </a:p>
      </dgm:t>
    </dgm:pt>
    <dgm:pt modelId="{03ADE2F2-85FD-4B41-96A3-C4ECF380056A}" type="parTrans" cxnId="{8308F28B-D435-453F-9125-4A8F90F0290D}">
      <dgm:prSet/>
      <dgm:spPr/>
      <dgm:t>
        <a:bodyPr/>
        <a:lstStyle/>
        <a:p>
          <a:endParaRPr lang="en-US"/>
        </a:p>
      </dgm:t>
    </dgm:pt>
    <dgm:pt modelId="{2DF6073E-F57D-4DBF-8269-1EEEEB1C112B}" type="sibTrans" cxnId="{8308F28B-D435-453F-9125-4A8F90F0290D}">
      <dgm:prSet/>
      <dgm:spPr/>
      <dgm:t>
        <a:bodyPr/>
        <a:lstStyle/>
        <a:p>
          <a:endParaRPr lang="en-US"/>
        </a:p>
      </dgm:t>
    </dgm:pt>
    <dgm:pt modelId="{8CE35A2C-4A56-4343-9E82-926192BB7CA4}">
      <dgm:prSet/>
      <dgm:spPr/>
      <dgm:t>
        <a:bodyPr/>
        <a:lstStyle/>
        <a:p>
          <a:r>
            <a:rPr lang="es-ES"/>
            <a:t>Definir requisitos de seguridad</a:t>
          </a:r>
          <a:endParaRPr lang="en-US"/>
        </a:p>
      </dgm:t>
    </dgm:pt>
    <dgm:pt modelId="{432CD5E8-2BBE-4C3B-9BB3-BA0A30864D64}" type="parTrans" cxnId="{BC46A3E6-82BD-4EFE-A547-5EEC9E37B830}">
      <dgm:prSet/>
      <dgm:spPr/>
      <dgm:t>
        <a:bodyPr/>
        <a:lstStyle/>
        <a:p>
          <a:endParaRPr lang="en-US"/>
        </a:p>
      </dgm:t>
    </dgm:pt>
    <dgm:pt modelId="{0DD3F9BC-9AA4-4E3C-A5E5-0A27E3FD0505}" type="sibTrans" cxnId="{BC46A3E6-82BD-4EFE-A547-5EEC9E37B830}">
      <dgm:prSet/>
      <dgm:spPr/>
      <dgm:t>
        <a:bodyPr/>
        <a:lstStyle/>
        <a:p>
          <a:endParaRPr lang="en-US"/>
        </a:p>
      </dgm:t>
    </dgm:pt>
    <dgm:pt modelId="{9DF05046-7C59-43D2-98CC-2BBB11EC84C8}">
      <dgm:prSet/>
      <dgm:spPr/>
      <dgm:t>
        <a:bodyPr/>
        <a:lstStyle/>
        <a:p>
          <a:r>
            <a:rPr lang="es-ES" b="1"/>
            <a:t>Desarrollo</a:t>
          </a:r>
          <a:endParaRPr lang="en-US"/>
        </a:p>
      </dgm:t>
    </dgm:pt>
    <dgm:pt modelId="{4E7A723B-EF9F-4517-9FA6-EB567C527FEA}" type="parTrans" cxnId="{2E05B4BD-CB06-4434-A6E1-91D41F137DED}">
      <dgm:prSet/>
      <dgm:spPr/>
      <dgm:t>
        <a:bodyPr/>
        <a:lstStyle/>
        <a:p>
          <a:endParaRPr lang="en-US"/>
        </a:p>
      </dgm:t>
    </dgm:pt>
    <dgm:pt modelId="{989ECD48-BFE7-4FFF-9172-06EAF89002BD}" type="sibTrans" cxnId="{2E05B4BD-CB06-4434-A6E1-91D41F137DED}">
      <dgm:prSet/>
      <dgm:spPr/>
      <dgm:t>
        <a:bodyPr/>
        <a:lstStyle/>
        <a:p>
          <a:endParaRPr lang="en-US"/>
        </a:p>
      </dgm:t>
    </dgm:pt>
    <dgm:pt modelId="{55BAAEC0-9BB0-4D89-BCEA-C8C087AB57DD}">
      <dgm:prSet/>
      <dgm:spPr/>
      <dgm:t>
        <a:bodyPr/>
        <a:lstStyle/>
        <a:p>
          <a:r>
            <a:rPr lang="es-ES"/>
            <a:t>Análisis estático de código</a:t>
          </a:r>
          <a:endParaRPr lang="en-US"/>
        </a:p>
      </dgm:t>
    </dgm:pt>
    <dgm:pt modelId="{7FDDCEC7-D92A-4AD2-BB5A-65B9C98DDB41}" type="parTrans" cxnId="{E9E4B854-3965-4577-908B-1819BEB27E50}">
      <dgm:prSet/>
      <dgm:spPr/>
      <dgm:t>
        <a:bodyPr/>
        <a:lstStyle/>
        <a:p>
          <a:endParaRPr lang="en-US"/>
        </a:p>
      </dgm:t>
    </dgm:pt>
    <dgm:pt modelId="{DEC84FC2-8AE1-41AE-9F7D-EEFDF28ED70F}" type="sibTrans" cxnId="{E9E4B854-3965-4577-908B-1819BEB27E50}">
      <dgm:prSet/>
      <dgm:spPr/>
      <dgm:t>
        <a:bodyPr/>
        <a:lstStyle/>
        <a:p>
          <a:endParaRPr lang="en-US"/>
        </a:p>
      </dgm:t>
    </dgm:pt>
    <dgm:pt modelId="{218F99E3-CE35-4547-99EC-892545D3DD90}">
      <dgm:prSet/>
      <dgm:spPr/>
      <dgm:t>
        <a:bodyPr/>
        <a:lstStyle/>
        <a:p>
          <a:r>
            <a:rPr lang="es-ES"/>
            <a:t>Buenas prácticas de programación segura</a:t>
          </a:r>
          <a:endParaRPr lang="en-US"/>
        </a:p>
      </dgm:t>
    </dgm:pt>
    <dgm:pt modelId="{F42249BD-FF78-4640-AA2E-7942C8823B53}" type="parTrans" cxnId="{F9844527-0D29-475C-8677-3D32C0336292}">
      <dgm:prSet/>
      <dgm:spPr/>
      <dgm:t>
        <a:bodyPr/>
        <a:lstStyle/>
        <a:p>
          <a:endParaRPr lang="en-US"/>
        </a:p>
      </dgm:t>
    </dgm:pt>
    <dgm:pt modelId="{5693344E-BCD4-481C-9FD1-2C80C46B6199}" type="sibTrans" cxnId="{F9844527-0D29-475C-8677-3D32C0336292}">
      <dgm:prSet/>
      <dgm:spPr/>
      <dgm:t>
        <a:bodyPr/>
        <a:lstStyle/>
        <a:p>
          <a:endParaRPr lang="en-US"/>
        </a:p>
      </dgm:t>
    </dgm:pt>
    <dgm:pt modelId="{576C356C-A882-4CB0-A8D7-2825058CEE14}">
      <dgm:prSet/>
      <dgm:spPr/>
      <dgm:t>
        <a:bodyPr/>
        <a:lstStyle/>
        <a:p>
          <a:r>
            <a:rPr lang="es-ES" b="1"/>
            <a:t>Integración Continua (CI)</a:t>
          </a:r>
          <a:endParaRPr lang="en-US"/>
        </a:p>
      </dgm:t>
    </dgm:pt>
    <dgm:pt modelId="{10443650-C955-48C9-8731-560526AD1AD9}" type="parTrans" cxnId="{B9389D25-6E05-44BB-B2A7-AA2A9FC65CAD}">
      <dgm:prSet/>
      <dgm:spPr/>
      <dgm:t>
        <a:bodyPr/>
        <a:lstStyle/>
        <a:p>
          <a:endParaRPr lang="en-US"/>
        </a:p>
      </dgm:t>
    </dgm:pt>
    <dgm:pt modelId="{5FD11D5B-9884-4CA9-8F93-546E066BA3BD}" type="sibTrans" cxnId="{B9389D25-6E05-44BB-B2A7-AA2A9FC65CAD}">
      <dgm:prSet/>
      <dgm:spPr/>
      <dgm:t>
        <a:bodyPr/>
        <a:lstStyle/>
        <a:p>
          <a:endParaRPr lang="en-US"/>
        </a:p>
      </dgm:t>
    </dgm:pt>
    <dgm:pt modelId="{51874E08-FFD4-4C9E-8B75-08CFCD36CCF5}">
      <dgm:prSet/>
      <dgm:spPr/>
      <dgm:t>
        <a:bodyPr/>
        <a:lstStyle/>
        <a:p>
          <a:r>
            <a:rPr lang="es-ES"/>
            <a:t>Escaneo automático de vulnerabilidades</a:t>
          </a:r>
          <a:endParaRPr lang="en-US"/>
        </a:p>
      </dgm:t>
    </dgm:pt>
    <dgm:pt modelId="{B48C68B3-29CC-4320-BD38-F1518D8E1E96}" type="parTrans" cxnId="{F7DB99B4-7990-4492-8C29-792D5BEFCCB8}">
      <dgm:prSet/>
      <dgm:spPr/>
      <dgm:t>
        <a:bodyPr/>
        <a:lstStyle/>
        <a:p>
          <a:endParaRPr lang="en-US"/>
        </a:p>
      </dgm:t>
    </dgm:pt>
    <dgm:pt modelId="{29FF27C5-1B34-47E5-8055-1C4C36185822}" type="sibTrans" cxnId="{F7DB99B4-7990-4492-8C29-792D5BEFCCB8}">
      <dgm:prSet/>
      <dgm:spPr/>
      <dgm:t>
        <a:bodyPr/>
        <a:lstStyle/>
        <a:p>
          <a:endParaRPr lang="en-US"/>
        </a:p>
      </dgm:t>
    </dgm:pt>
    <dgm:pt modelId="{B972BD12-62D1-4FCB-8BD0-5E7A90945C33}">
      <dgm:prSet/>
      <dgm:spPr/>
      <dgm:t>
        <a:bodyPr/>
        <a:lstStyle/>
        <a:p>
          <a:r>
            <a:rPr lang="es-ES" b="1"/>
            <a:t>Despliegue</a:t>
          </a:r>
          <a:endParaRPr lang="en-US"/>
        </a:p>
      </dgm:t>
    </dgm:pt>
    <dgm:pt modelId="{1FA3CA13-85AF-48AA-BA1E-DC7177F4E393}" type="parTrans" cxnId="{4148A2D6-B720-4E35-8939-A12CB696E11A}">
      <dgm:prSet/>
      <dgm:spPr/>
      <dgm:t>
        <a:bodyPr/>
        <a:lstStyle/>
        <a:p>
          <a:endParaRPr lang="en-US"/>
        </a:p>
      </dgm:t>
    </dgm:pt>
    <dgm:pt modelId="{E25BA10E-7562-4E9F-B6AC-020E136E5BD5}" type="sibTrans" cxnId="{4148A2D6-B720-4E35-8939-A12CB696E11A}">
      <dgm:prSet/>
      <dgm:spPr/>
      <dgm:t>
        <a:bodyPr/>
        <a:lstStyle/>
        <a:p>
          <a:endParaRPr lang="en-US"/>
        </a:p>
      </dgm:t>
    </dgm:pt>
    <dgm:pt modelId="{41E59933-ECA8-49F1-9EC4-D556B27A7AE1}">
      <dgm:prSet/>
      <dgm:spPr/>
      <dgm:t>
        <a:bodyPr/>
        <a:lstStyle/>
        <a:p>
          <a:r>
            <a:rPr lang="es-ES"/>
            <a:t>Validación de configuraciones seguras</a:t>
          </a:r>
          <a:endParaRPr lang="en-US"/>
        </a:p>
      </dgm:t>
    </dgm:pt>
    <dgm:pt modelId="{FC54E6B4-8E22-4970-A5EA-EF6CCC6E7767}" type="parTrans" cxnId="{B6E3DE73-7283-4A5A-BACA-2FFA4FC4AA03}">
      <dgm:prSet/>
      <dgm:spPr/>
      <dgm:t>
        <a:bodyPr/>
        <a:lstStyle/>
        <a:p>
          <a:endParaRPr lang="en-US"/>
        </a:p>
      </dgm:t>
    </dgm:pt>
    <dgm:pt modelId="{1928A322-4B2E-4AB9-BCF4-A2CFDE75DC9B}" type="sibTrans" cxnId="{B6E3DE73-7283-4A5A-BACA-2FFA4FC4AA03}">
      <dgm:prSet/>
      <dgm:spPr/>
      <dgm:t>
        <a:bodyPr/>
        <a:lstStyle/>
        <a:p>
          <a:endParaRPr lang="en-US"/>
        </a:p>
      </dgm:t>
    </dgm:pt>
    <dgm:pt modelId="{1907EB9D-E082-401E-B954-ED298B89B764}">
      <dgm:prSet/>
      <dgm:spPr/>
      <dgm:t>
        <a:bodyPr/>
        <a:lstStyle/>
        <a:p>
          <a:r>
            <a:rPr lang="es-ES" b="1"/>
            <a:t>Monitoreo</a:t>
          </a:r>
          <a:endParaRPr lang="en-US"/>
        </a:p>
      </dgm:t>
    </dgm:pt>
    <dgm:pt modelId="{D827F661-7500-41D0-86FC-7E71D8ADAFEA}" type="parTrans" cxnId="{06B20AAD-611F-45D7-967D-4482EBC52119}">
      <dgm:prSet/>
      <dgm:spPr/>
      <dgm:t>
        <a:bodyPr/>
        <a:lstStyle/>
        <a:p>
          <a:endParaRPr lang="en-US"/>
        </a:p>
      </dgm:t>
    </dgm:pt>
    <dgm:pt modelId="{D89D5FE1-1CF1-4A17-8C98-E1794048436D}" type="sibTrans" cxnId="{06B20AAD-611F-45D7-967D-4482EBC52119}">
      <dgm:prSet/>
      <dgm:spPr/>
      <dgm:t>
        <a:bodyPr/>
        <a:lstStyle/>
        <a:p>
          <a:endParaRPr lang="en-US"/>
        </a:p>
      </dgm:t>
    </dgm:pt>
    <dgm:pt modelId="{33A5B1B5-B0C9-4337-AD26-031705A05A51}">
      <dgm:prSet/>
      <dgm:spPr/>
      <dgm:t>
        <a:bodyPr/>
        <a:lstStyle/>
        <a:p>
          <a:r>
            <a:rPr lang="es-ES"/>
            <a:t>Detección de ataques o comportamientos anómalos</a:t>
          </a:r>
          <a:endParaRPr lang="en-US"/>
        </a:p>
      </dgm:t>
    </dgm:pt>
    <dgm:pt modelId="{27B21EC7-F4C1-4B77-AFD7-16A9BE50AEA8}" type="parTrans" cxnId="{52BAA75A-D39F-4297-A483-0BAC942FB6C0}">
      <dgm:prSet/>
      <dgm:spPr/>
      <dgm:t>
        <a:bodyPr/>
        <a:lstStyle/>
        <a:p>
          <a:endParaRPr lang="en-US"/>
        </a:p>
      </dgm:t>
    </dgm:pt>
    <dgm:pt modelId="{37AEE929-2003-4F1D-ACF3-EA140684E021}" type="sibTrans" cxnId="{52BAA75A-D39F-4297-A483-0BAC942FB6C0}">
      <dgm:prSet/>
      <dgm:spPr/>
      <dgm:t>
        <a:bodyPr/>
        <a:lstStyle/>
        <a:p>
          <a:endParaRPr lang="en-US"/>
        </a:p>
      </dgm:t>
    </dgm:pt>
    <dgm:pt modelId="{A1142CA7-0B02-4792-84EC-0416F10B2750}" type="pres">
      <dgm:prSet presAssocID="{763D0D5B-A4B1-467B-A76D-59A74FE76AFE}" presName="Name0" presStyleCnt="0">
        <dgm:presLayoutVars>
          <dgm:dir/>
          <dgm:animLvl val="lvl"/>
          <dgm:resizeHandles val="exact"/>
        </dgm:presLayoutVars>
      </dgm:prSet>
      <dgm:spPr/>
    </dgm:pt>
    <dgm:pt modelId="{1ED63E3E-3C77-4AB4-8B9B-8C299AD84E09}" type="pres">
      <dgm:prSet presAssocID="{9CF28D8E-DADA-4D7E-BBCA-DCC03BD48CC5}" presName="linNode" presStyleCnt="0"/>
      <dgm:spPr/>
    </dgm:pt>
    <dgm:pt modelId="{00B2A76B-B1E9-48B7-98B3-CF92D1259E7B}" type="pres">
      <dgm:prSet presAssocID="{9CF28D8E-DADA-4D7E-BBCA-DCC03BD48CC5}" presName="parentText" presStyleLbl="alignNode1" presStyleIdx="0" presStyleCnt="6">
        <dgm:presLayoutVars>
          <dgm:chMax val="1"/>
          <dgm:bulletEnabled/>
        </dgm:presLayoutVars>
      </dgm:prSet>
      <dgm:spPr/>
    </dgm:pt>
    <dgm:pt modelId="{16C8A52D-DBFC-4550-BF9B-DB27031FB00E}" type="pres">
      <dgm:prSet presAssocID="{9CF28D8E-DADA-4D7E-BBCA-DCC03BD48CC5}" presName="descendantText" presStyleLbl="alignAccFollowNode1" presStyleIdx="0" presStyleCnt="6">
        <dgm:presLayoutVars>
          <dgm:bulletEnabled/>
        </dgm:presLayoutVars>
      </dgm:prSet>
      <dgm:spPr/>
    </dgm:pt>
    <dgm:pt modelId="{11921799-EFB6-482B-8123-FE81D536AE8A}" type="pres">
      <dgm:prSet presAssocID="{7613933A-2FA7-46ED-8B39-B42E5FF450DD}" presName="sp" presStyleCnt="0"/>
      <dgm:spPr/>
    </dgm:pt>
    <dgm:pt modelId="{918C2B23-B53F-412A-9997-03F6EE41D7BB}" type="pres">
      <dgm:prSet presAssocID="{6F5762BB-FDEC-461B-8425-A66307838BBF}" presName="linNode" presStyleCnt="0"/>
      <dgm:spPr/>
    </dgm:pt>
    <dgm:pt modelId="{54CA272C-4108-45B6-96C8-A471F46F4BF8}" type="pres">
      <dgm:prSet presAssocID="{6F5762BB-FDEC-461B-8425-A66307838BBF}" presName="parentText" presStyleLbl="alignNode1" presStyleIdx="1" presStyleCnt="6">
        <dgm:presLayoutVars>
          <dgm:chMax val="1"/>
          <dgm:bulletEnabled/>
        </dgm:presLayoutVars>
      </dgm:prSet>
      <dgm:spPr/>
    </dgm:pt>
    <dgm:pt modelId="{3A1309F1-9698-4CF0-A028-45AE66E4993A}" type="pres">
      <dgm:prSet presAssocID="{6F5762BB-FDEC-461B-8425-A66307838BBF}" presName="descendantText" presStyleLbl="alignAccFollowNode1" presStyleIdx="1" presStyleCnt="6">
        <dgm:presLayoutVars>
          <dgm:bulletEnabled/>
        </dgm:presLayoutVars>
      </dgm:prSet>
      <dgm:spPr/>
    </dgm:pt>
    <dgm:pt modelId="{BED3496A-5D2F-468E-8EBB-1DE51DA5B830}" type="pres">
      <dgm:prSet presAssocID="{2DF6073E-F57D-4DBF-8269-1EEEEB1C112B}" presName="sp" presStyleCnt="0"/>
      <dgm:spPr/>
    </dgm:pt>
    <dgm:pt modelId="{7761A55B-C4DE-4952-8DC5-F27819C40AA7}" type="pres">
      <dgm:prSet presAssocID="{9DF05046-7C59-43D2-98CC-2BBB11EC84C8}" presName="linNode" presStyleCnt="0"/>
      <dgm:spPr/>
    </dgm:pt>
    <dgm:pt modelId="{874C6174-5C3A-414F-AA44-7C38FE5397D6}" type="pres">
      <dgm:prSet presAssocID="{9DF05046-7C59-43D2-98CC-2BBB11EC84C8}" presName="parentText" presStyleLbl="alignNode1" presStyleIdx="2" presStyleCnt="6">
        <dgm:presLayoutVars>
          <dgm:chMax val="1"/>
          <dgm:bulletEnabled/>
        </dgm:presLayoutVars>
      </dgm:prSet>
      <dgm:spPr/>
    </dgm:pt>
    <dgm:pt modelId="{6757A08A-7F69-4565-A44F-99828D3C0C77}" type="pres">
      <dgm:prSet presAssocID="{9DF05046-7C59-43D2-98CC-2BBB11EC84C8}" presName="descendantText" presStyleLbl="alignAccFollowNode1" presStyleIdx="2" presStyleCnt="6">
        <dgm:presLayoutVars>
          <dgm:bulletEnabled/>
        </dgm:presLayoutVars>
      </dgm:prSet>
      <dgm:spPr/>
    </dgm:pt>
    <dgm:pt modelId="{6F4DA7F2-22F4-45A7-8C05-D5E366151F97}" type="pres">
      <dgm:prSet presAssocID="{989ECD48-BFE7-4FFF-9172-06EAF89002BD}" presName="sp" presStyleCnt="0"/>
      <dgm:spPr/>
    </dgm:pt>
    <dgm:pt modelId="{37899922-A14C-4664-8954-083E6046B783}" type="pres">
      <dgm:prSet presAssocID="{576C356C-A882-4CB0-A8D7-2825058CEE14}" presName="linNode" presStyleCnt="0"/>
      <dgm:spPr/>
    </dgm:pt>
    <dgm:pt modelId="{8B59377D-7EE7-4CEB-8E6C-496F599A3840}" type="pres">
      <dgm:prSet presAssocID="{576C356C-A882-4CB0-A8D7-2825058CEE14}" presName="parentText" presStyleLbl="alignNode1" presStyleIdx="3" presStyleCnt="6">
        <dgm:presLayoutVars>
          <dgm:chMax val="1"/>
          <dgm:bulletEnabled/>
        </dgm:presLayoutVars>
      </dgm:prSet>
      <dgm:spPr/>
    </dgm:pt>
    <dgm:pt modelId="{10CE6FAC-2BA6-4D52-B92F-04D3D58A8E57}" type="pres">
      <dgm:prSet presAssocID="{576C356C-A882-4CB0-A8D7-2825058CEE14}" presName="descendantText" presStyleLbl="alignAccFollowNode1" presStyleIdx="3" presStyleCnt="6">
        <dgm:presLayoutVars>
          <dgm:bulletEnabled/>
        </dgm:presLayoutVars>
      </dgm:prSet>
      <dgm:spPr/>
    </dgm:pt>
    <dgm:pt modelId="{C2E4EF7C-1FE2-43A2-A504-1AEAAC9E9252}" type="pres">
      <dgm:prSet presAssocID="{5FD11D5B-9884-4CA9-8F93-546E066BA3BD}" presName="sp" presStyleCnt="0"/>
      <dgm:spPr/>
    </dgm:pt>
    <dgm:pt modelId="{AA493D10-EBA8-4443-A41E-DBAC46F31935}" type="pres">
      <dgm:prSet presAssocID="{B972BD12-62D1-4FCB-8BD0-5E7A90945C33}" presName="linNode" presStyleCnt="0"/>
      <dgm:spPr/>
    </dgm:pt>
    <dgm:pt modelId="{764A0C23-CEA2-4F14-97FD-9882891E8AA0}" type="pres">
      <dgm:prSet presAssocID="{B972BD12-62D1-4FCB-8BD0-5E7A90945C33}" presName="parentText" presStyleLbl="alignNode1" presStyleIdx="4" presStyleCnt="6">
        <dgm:presLayoutVars>
          <dgm:chMax val="1"/>
          <dgm:bulletEnabled/>
        </dgm:presLayoutVars>
      </dgm:prSet>
      <dgm:spPr/>
    </dgm:pt>
    <dgm:pt modelId="{B16F1853-AE4E-42F0-A973-D9E737CE1DFA}" type="pres">
      <dgm:prSet presAssocID="{B972BD12-62D1-4FCB-8BD0-5E7A90945C33}" presName="descendantText" presStyleLbl="alignAccFollowNode1" presStyleIdx="4" presStyleCnt="6">
        <dgm:presLayoutVars>
          <dgm:bulletEnabled/>
        </dgm:presLayoutVars>
      </dgm:prSet>
      <dgm:spPr/>
    </dgm:pt>
    <dgm:pt modelId="{96F768D8-D8A9-4B57-92FB-41E006760271}" type="pres">
      <dgm:prSet presAssocID="{E25BA10E-7562-4E9F-B6AC-020E136E5BD5}" presName="sp" presStyleCnt="0"/>
      <dgm:spPr/>
    </dgm:pt>
    <dgm:pt modelId="{E4645B2C-2448-42D8-8EED-BCC7C0C9E753}" type="pres">
      <dgm:prSet presAssocID="{1907EB9D-E082-401E-B954-ED298B89B764}" presName="linNode" presStyleCnt="0"/>
      <dgm:spPr/>
    </dgm:pt>
    <dgm:pt modelId="{888058E6-F887-4942-AFDC-5E85B4042718}" type="pres">
      <dgm:prSet presAssocID="{1907EB9D-E082-401E-B954-ED298B89B764}" presName="parentText" presStyleLbl="alignNode1" presStyleIdx="5" presStyleCnt="6">
        <dgm:presLayoutVars>
          <dgm:chMax val="1"/>
          <dgm:bulletEnabled/>
        </dgm:presLayoutVars>
      </dgm:prSet>
      <dgm:spPr/>
    </dgm:pt>
    <dgm:pt modelId="{B6238B21-4739-4157-A79A-3DADD2BB1F8F}" type="pres">
      <dgm:prSet presAssocID="{1907EB9D-E082-401E-B954-ED298B89B764}" presName="descendantText" presStyleLbl="alignAccFollowNode1" presStyleIdx="5" presStyleCnt="6">
        <dgm:presLayoutVars>
          <dgm:bulletEnabled/>
        </dgm:presLayoutVars>
      </dgm:prSet>
      <dgm:spPr/>
    </dgm:pt>
  </dgm:ptLst>
  <dgm:cxnLst>
    <dgm:cxn modelId="{34EB9900-1220-4441-A693-F17C8CE85C1D}" type="presOf" srcId="{51874E08-FFD4-4C9E-8B75-08CFCD36CCF5}" destId="{10CE6FAC-2BA6-4D52-B92F-04D3D58A8E57}" srcOrd="0" destOrd="0" presId="urn:microsoft.com/office/officeart/2016/7/layout/VerticalSolidActionList"/>
    <dgm:cxn modelId="{AB6A3612-3B9D-4C6C-9EE2-3FDF2B0F0995}" type="presOf" srcId="{33A5B1B5-B0C9-4337-AD26-031705A05A51}" destId="{B6238B21-4739-4157-A79A-3DADD2BB1F8F}" srcOrd="0" destOrd="0" presId="urn:microsoft.com/office/officeart/2016/7/layout/VerticalSolidActionList"/>
    <dgm:cxn modelId="{8DD0001B-628D-441E-A384-A9FDEFAA6C3A}" type="presOf" srcId="{B972BD12-62D1-4FCB-8BD0-5E7A90945C33}" destId="{764A0C23-CEA2-4F14-97FD-9882891E8AA0}" srcOrd="0" destOrd="0" presId="urn:microsoft.com/office/officeart/2016/7/layout/VerticalSolidActionList"/>
    <dgm:cxn modelId="{B9389D25-6E05-44BB-B2A7-AA2A9FC65CAD}" srcId="{763D0D5B-A4B1-467B-A76D-59A74FE76AFE}" destId="{576C356C-A882-4CB0-A8D7-2825058CEE14}" srcOrd="3" destOrd="0" parTransId="{10443650-C955-48C9-8731-560526AD1AD9}" sibTransId="{5FD11D5B-9884-4CA9-8F93-546E066BA3BD}"/>
    <dgm:cxn modelId="{F9844527-0D29-475C-8677-3D32C0336292}" srcId="{9DF05046-7C59-43D2-98CC-2BBB11EC84C8}" destId="{218F99E3-CE35-4547-99EC-892545D3DD90}" srcOrd="1" destOrd="0" parTransId="{F42249BD-FF78-4640-AA2E-7942C8823B53}" sibTransId="{5693344E-BCD4-481C-9FD1-2C80C46B6199}"/>
    <dgm:cxn modelId="{A1A95C6A-C108-4DDF-AC4A-DF47726EDB5D}" type="presOf" srcId="{763D0D5B-A4B1-467B-A76D-59A74FE76AFE}" destId="{A1142CA7-0B02-4792-84EC-0416F10B2750}" srcOrd="0" destOrd="0" presId="urn:microsoft.com/office/officeart/2016/7/layout/VerticalSolidActionList"/>
    <dgm:cxn modelId="{B6E3DE73-7283-4A5A-BACA-2FFA4FC4AA03}" srcId="{B972BD12-62D1-4FCB-8BD0-5E7A90945C33}" destId="{41E59933-ECA8-49F1-9EC4-D556B27A7AE1}" srcOrd="0" destOrd="0" parTransId="{FC54E6B4-8E22-4970-A5EA-EF6CCC6E7767}" sibTransId="{1928A322-4B2E-4AB9-BCF4-A2CFDE75DC9B}"/>
    <dgm:cxn modelId="{E9E4B854-3965-4577-908B-1819BEB27E50}" srcId="{9DF05046-7C59-43D2-98CC-2BBB11EC84C8}" destId="{55BAAEC0-9BB0-4D89-BCEA-C8C087AB57DD}" srcOrd="0" destOrd="0" parTransId="{7FDDCEC7-D92A-4AD2-BB5A-65B9C98DDB41}" sibTransId="{DEC84FC2-8AE1-41AE-9F7D-EEFDF28ED70F}"/>
    <dgm:cxn modelId="{52BAA75A-D39F-4297-A483-0BAC942FB6C0}" srcId="{1907EB9D-E082-401E-B954-ED298B89B764}" destId="{33A5B1B5-B0C9-4337-AD26-031705A05A51}" srcOrd="0" destOrd="0" parTransId="{27B21EC7-F4C1-4B77-AFD7-16A9BE50AEA8}" sibTransId="{37AEE929-2003-4F1D-ACF3-EA140684E021}"/>
    <dgm:cxn modelId="{51A38C7D-54BA-4662-A334-12C801C4CE5E}" type="presOf" srcId="{576C356C-A882-4CB0-A8D7-2825058CEE14}" destId="{8B59377D-7EE7-4CEB-8E6C-496F599A3840}" srcOrd="0" destOrd="0" presId="urn:microsoft.com/office/officeart/2016/7/layout/VerticalSolidActionList"/>
    <dgm:cxn modelId="{90926783-57C4-4343-8065-B9B8ADBC0F5B}" type="presOf" srcId="{9DF05046-7C59-43D2-98CC-2BBB11EC84C8}" destId="{874C6174-5C3A-414F-AA44-7C38FE5397D6}" srcOrd="0" destOrd="0" presId="urn:microsoft.com/office/officeart/2016/7/layout/VerticalSolidActionList"/>
    <dgm:cxn modelId="{8308F28B-D435-453F-9125-4A8F90F0290D}" srcId="{763D0D5B-A4B1-467B-A76D-59A74FE76AFE}" destId="{6F5762BB-FDEC-461B-8425-A66307838BBF}" srcOrd="1" destOrd="0" parTransId="{03ADE2F2-85FD-4B41-96A3-C4ECF380056A}" sibTransId="{2DF6073E-F57D-4DBF-8269-1EEEEB1C112B}"/>
    <dgm:cxn modelId="{FA5817AC-5698-4CD3-A7F3-57FAF2188532}" srcId="{763D0D5B-A4B1-467B-A76D-59A74FE76AFE}" destId="{9CF28D8E-DADA-4D7E-BBCA-DCC03BD48CC5}" srcOrd="0" destOrd="0" parTransId="{053D56A2-CA11-4496-B300-6CD41ADEC7D9}" sibTransId="{7613933A-2FA7-46ED-8B39-B42E5FF450DD}"/>
    <dgm:cxn modelId="{06B20AAD-611F-45D7-967D-4482EBC52119}" srcId="{763D0D5B-A4B1-467B-A76D-59A74FE76AFE}" destId="{1907EB9D-E082-401E-B954-ED298B89B764}" srcOrd="5" destOrd="0" parTransId="{D827F661-7500-41D0-86FC-7E71D8ADAFEA}" sibTransId="{D89D5FE1-1CF1-4A17-8C98-E1794048436D}"/>
    <dgm:cxn modelId="{F7DB99B4-7990-4492-8C29-792D5BEFCCB8}" srcId="{576C356C-A882-4CB0-A8D7-2825058CEE14}" destId="{51874E08-FFD4-4C9E-8B75-08CFCD36CCF5}" srcOrd="0" destOrd="0" parTransId="{B48C68B3-29CC-4320-BD38-F1518D8E1E96}" sibTransId="{29FF27C5-1B34-47E5-8055-1C4C36185822}"/>
    <dgm:cxn modelId="{2E05B4BD-CB06-4434-A6E1-91D41F137DED}" srcId="{763D0D5B-A4B1-467B-A76D-59A74FE76AFE}" destId="{9DF05046-7C59-43D2-98CC-2BBB11EC84C8}" srcOrd="2" destOrd="0" parTransId="{4E7A723B-EF9F-4517-9FA6-EB567C527FEA}" sibTransId="{989ECD48-BFE7-4FFF-9172-06EAF89002BD}"/>
    <dgm:cxn modelId="{426793CA-DA52-46E7-822B-BA40537014EA}" type="presOf" srcId="{218F99E3-CE35-4547-99EC-892545D3DD90}" destId="{6757A08A-7F69-4565-A44F-99828D3C0C77}" srcOrd="0" destOrd="1" presId="urn:microsoft.com/office/officeart/2016/7/layout/VerticalSolidActionList"/>
    <dgm:cxn modelId="{051749CD-3E0A-45D7-959D-7F2A746220FE}" type="presOf" srcId="{55BAAEC0-9BB0-4D89-BCEA-C8C087AB57DD}" destId="{6757A08A-7F69-4565-A44F-99828D3C0C77}" srcOrd="0" destOrd="0" presId="urn:microsoft.com/office/officeart/2016/7/layout/VerticalSolidActionList"/>
    <dgm:cxn modelId="{12F66ECE-EDBD-4BE0-9594-5D081F0CB9FE}" type="presOf" srcId="{41E59933-ECA8-49F1-9EC4-D556B27A7AE1}" destId="{B16F1853-AE4E-42F0-A973-D9E737CE1DFA}" srcOrd="0" destOrd="0" presId="urn:microsoft.com/office/officeart/2016/7/layout/VerticalSolidActionList"/>
    <dgm:cxn modelId="{4148A2D6-B720-4E35-8939-A12CB696E11A}" srcId="{763D0D5B-A4B1-467B-A76D-59A74FE76AFE}" destId="{B972BD12-62D1-4FCB-8BD0-5E7A90945C33}" srcOrd="4" destOrd="0" parTransId="{1FA3CA13-85AF-48AA-BA1E-DC7177F4E393}" sibTransId="{E25BA10E-7562-4E9F-B6AC-020E136E5BD5}"/>
    <dgm:cxn modelId="{BC46A3E6-82BD-4EFE-A547-5EEC9E37B830}" srcId="{6F5762BB-FDEC-461B-8425-A66307838BBF}" destId="{8CE35A2C-4A56-4343-9E82-926192BB7CA4}" srcOrd="0" destOrd="0" parTransId="{432CD5E8-2BBE-4C3B-9BB3-BA0A30864D64}" sibTransId="{0DD3F9BC-9AA4-4E3C-A5E5-0A27E3FD0505}"/>
    <dgm:cxn modelId="{131CB0E7-E1D5-4F0A-9BFE-A6C79608CC5F}" type="presOf" srcId="{1907EB9D-E082-401E-B954-ED298B89B764}" destId="{888058E6-F887-4942-AFDC-5E85B4042718}" srcOrd="0" destOrd="0" presId="urn:microsoft.com/office/officeart/2016/7/layout/VerticalSolidActionList"/>
    <dgm:cxn modelId="{7AF540E9-D0F1-4CB9-8864-699DCB172DEF}" type="presOf" srcId="{9CF28D8E-DADA-4D7E-BBCA-DCC03BD48CC5}" destId="{00B2A76B-B1E9-48B7-98B3-CF92D1259E7B}" srcOrd="0" destOrd="0" presId="urn:microsoft.com/office/officeart/2016/7/layout/VerticalSolidActionList"/>
    <dgm:cxn modelId="{510B7AF7-5BDE-4608-90FB-C177EA8F7A0F}" type="presOf" srcId="{6F5762BB-FDEC-461B-8425-A66307838BBF}" destId="{54CA272C-4108-45B6-96C8-A471F46F4BF8}" srcOrd="0" destOrd="0" presId="urn:microsoft.com/office/officeart/2016/7/layout/VerticalSolidActionList"/>
    <dgm:cxn modelId="{527854FA-9590-4231-A242-715C499175DD}" type="presOf" srcId="{8CE35A2C-4A56-4343-9E82-926192BB7CA4}" destId="{3A1309F1-9698-4CF0-A028-45AE66E4993A}" srcOrd="0" destOrd="0" presId="urn:microsoft.com/office/officeart/2016/7/layout/VerticalSolidActionList"/>
    <dgm:cxn modelId="{0685C6EC-CD9A-4710-9864-74047C7ED272}" type="presParOf" srcId="{A1142CA7-0B02-4792-84EC-0416F10B2750}" destId="{1ED63E3E-3C77-4AB4-8B9B-8C299AD84E09}" srcOrd="0" destOrd="0" presId="urn:microsoft.com/office/officeart/2016/7/layout/VerticalSolidActionList"/>
    <dgm:cxn modelId="{980E4794-68A0-4CE2-8600-62ACEE1B8D61}" type="presParOf" srcId="{1ED63E3E-3C77-4AB4-8B9B-8C299AD84E09}" destId="{00B2A76B-B1E9-48B7-98B3-CF92D1259E7B}" srcOrd="0" destOrd="0" presId="urn:microsoft.com/office/officeart/2016/7/layout/VerticalSolidActionList"/>
    <dgm:cxn modelId="{2136675D-DA41-41B3-A82A-F5184DF422D9}" type="presParOf" srcId="{1ED63E3E-3C77-4AB4-8B9B-8C299AD84E09}" destId="{16C8A52D-DBFC-4550-BF9B-DB27031FB00E}" srcOrd="1" destOrd="0" presId="urn:microsoft.com/office/officeart/2016/7/layout/VerticalSolidActionList"/>
    <dgm:cxn modelId="{7CBE8DBF-3E31-4009-9840-3B05E682A8AA}" type="presParOf" srcId="{A1142CA7-0B02-4792-84EC-0416F10B2750}" destId="{11921799-EFB6-482B-8123-FE81D536AE8A}" srcOrd="1" destOrd="0" presId="urn:microsoft.com/office/officeart/2016/7/layout/VerticalSolidActionList"/>
    <dgm:cxn modelId="{A4171502-CC86-4AC5-A6F9-52181B700A63}" type="presParOf" srcId="{A1142CA7-0B02-4792-84EC-0416F10B2750}" destId="{918C2B23-B53F-412A-9997-03F6EE41D7BB}" srcOrd="2" destOrd="0" presId="urn:microsoft.com/office/officeart/2016/7/layout/VerticalSolidActionList"/>
    <dgm:cxn modelId="{47409028-C9C5-4352-93CC-C13333699E65}" type="presParOf" srcId="{918C2B23-B53F-412A-9997-03F6EE41D7BB}" destId="{54CA272C-4108-45B6-96C8-A471F46F4BF8}" srcOrd="0" destOrd="0" presId="urn:microsoft.com/office/officeart/2016/7/layout/VerticalSolidActionList"/>
    <dgm:cxn modelId="{055354BF-FD18-494F-92E3-B8B9C4A33572}" type="presParOf" srcId="{918C2B23-B53F-412A-9997-03F6EE41D7BB}" destId="{3A1309F1-9698-4CF0-A028-45AE66E4993A}" srcOrd="1" destOrd="0" presId="urn:microsoft.com/office/officeart/2016/7/layout/VerticalSolidActionList"/>
    <dgm:cxn modelId="{C4EA0F89-CB9C-4EF4-AD28-3F9864A043CE}" type="presParOf" srcId="{A1142CA7-0B02-4792-84EC-0416F10B2750}" destId="{BED3496A-5D2F-468E-8EBB-1DE51DA5B830}" srcOrd="3" destOrd="0" presId="urn:microsoft.com/office/officeart/2016/7/layout/VerticalSolidActionList"/>
    <dgm:cxn modelId="{69755D6C-8F55-4B9A-B870-5A4AD9755309}" type="presParOf" srcId="{A1142CA7-0B02-4792-84EC-0416F10B2750}" destId="{7761A55B-C4DE-4952-8DC5-F27819C40AA7}" srcOrd="4" destOrd="0" presId="urn:microsoft.com/office/officeart/2016/7/layout/VerticalSolidActionList"/>
    <dgm:cxn modelId="{AB843161-4995-49E2-8657-05F8FA6E83EB}" type="presParOf" srcId="{7761A55B-C4DE-4952-8DC5-F27819C40AA7}" destId="{874C6174-5C3A-414F-AA44-7C38FE5397D6}" srcOrd="0" destOrd="0" presId="urn:microsoft.com/office/officeart/2016/7/layout/VerticalSolidActionList"/>
    <dgm:cxn modelId="{D0F616C2-20C5-4D22-8BBB-EFE3249C84E0}" type="presParOf" srcId="{7761A55B-C4DE-4952-8DC5-F27819C40AA7}" destId="{6757A08A-7F69-4565-A44F-99828D3C0C77}" srcOrd="1" destOrd="0" presId="urn:microsoft.com/office/officeart/2016/7/layout/VerticalSolidActionList"/>
    <dgm:cxn modelId="{D382CB49-D821-4E81-9589-41643E09E48D}" type="presParOf" srcId="{A1142CA7-0B02-4792-84EC-0416F10B2750}" destId="{6F4DA7F2-22F4-45A7-8C05-D5E366151F97}" srcOrd="5" destOrd="0" presId="urn:microsoft.com/office/officeart/2016/7/layout/VerticalSolidActionList"/>
    <dgm:cxn modelId="{742DBDB4-0C0A-467D-8E93-785FD012F633}" type="presParOf" srcId="{A1142CA7-0B02-4792-84EC-0416F10B2750}" destId="{37899922-A14C-4664-8954-083E6046B783}" srcOrd="6" destOrd="0" presId="urn:microsoft.com/office/officeart/2016/7/layout/VerticalSolidActionList"/>
    <dgm:cxn modelId="{ED5413C0-8C8D-44A3-9AAE-CD708738490A}" type="presParOf" srcId="{37899922-A14C-4664-8954-083E6046B783}" destId="{8B59377D-7EE7-4CEB-8E6C-496F599A3840}" srcOrd="0" destOrd="0" presId="urn:microsoft.com/office/officeart/2016/7/layout/VerticalSolidActionList"/>
    <dgm:cxn modelId="{3A76E542-0BC4-4135-8AFA-4CB57D45270D}" type="presParOf" srcId="{37899922-A14C-4664-8954-083E6046B783}" destId="{10CE6FAC-2BA6-4D52-B92F-04D3D58A8E57}" srcOrd="1" destOrd="0" presId="urn:microsoft.com/office/officeart/2016/7/layout/VerticalSolidActionList"/>
    <dgm:cxn modelId="{5CC154E8-C287-4D35-8F95-D3E447EDB6EB}" type="presParOf" srcId="{A1142CA7-0B02-4792-84EC-0416F10B2750}" destId="{C2E4EF7C-1FE2-43A2-A504-1AEAAC9E9252}" srcOrd="7" destOrd="0" presId="urn:microsoft.com/office/officeart/2016/7/layout/VerticalSolidActionList"/>
    <dgm:cxn modelId="{7714B1F0-E4E9-4F6B-90F8-95A552E2419B}" type="presParOf" srcId="{A1142CA7-0B02-4792-84EC-0416F10B2750}" destId="{AA493D10-EBA8-4443-A41E-DBAC46F31935}" srcOrd="8" destOrd="0" presId="urn:microsoft.com/office/officeart/2016/7/layout/VerticalSolidActionList"/>
    <dgm:cxn modelId="{726DE20B-9D13-4D88-96CA-0FE5A840E58B}" type="presParOf" srcId="{AA493D10-EBA8-4443-A41E-DBAC46F31935}" destId="{764A0C23-CEA2-4F14-97FD-9882891E8AA0}" srcOrd="0" destOrd="0" presId="urn:microsoft.com/office/officeart/2016/7/layout/VerticalSolidActionList"/>
    <dgm:cxn modelId="{4C4148CC-2FFF-4610-897F-17C675B4F207}" type="presParOf" srcId="{AA493D10-EBA8-4443-A41E-DBAC46F31935}" destId="{B16F1853-AE4E-42F0-A973-D9E737CE1DFA}" srcOrd="1" destOrd="0" presId="urn:microsoft.com/office/officeart/2016/7/layout/VerticalSolidActionList"/>
    <dgm:cxn modelId="{0434921A-25EF-4B67-9592-A71B66B8149A}" type="presParOf" srcId="{A1142CA7-0B02-4792-84EC-0416F10B2750}" destId="{96F768D8-D8A9-4B57-92FB-41E006760271}" srcOrd="9" destOrd="0" presId="urn:microsoft.com/office/officeart/2016/7/layout/VerticalSolidActionList"/>
    <dgm:cxn modelId="{F14F9F28-5B27-451C-B701-608183DB017B}" type="presParOf" srcId="{A1142CA7-0B02-4792-84EC-0416F10B2750}" destId="{E4645B2C-2448-42D8-8EED-BCC7C0C9E753}" srcOrd="10" destOrd="0" presId="urn:microsoft.com/office/officeart/2016/7/layout/VerticalSolidActionList"/>
    <dgm:cxn modelId="{79195D3A-E924-4B61-BB7A-528E24E2EA95}" type="presParOf" srcId="{E4645B2C-2448-42D8-8EED-BCC7C0C9E753}" destId="{888058E6-F887-4942-AFDC-5E85B4042718}" srcOrd="0" destOrd="0" presId="urn:microsoft.com/office/officeart/2016/7/layout/VerticalSolidActionList"/>
    <dgm:cxn modelId="{EB682C33-A4C5-4EA9-B670-C3CFEF738600}" type="presParOf" srcId="{E4645B2C-2448-42D8-8EED-BCC7C0C9E753}" destId="{B6238B21-4739-4157-A79A-3DADD2BB1F8F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C8A52D-DBFC-4550-BF9B-DB27031FB00E}">
      <dsp:nvSpPr>
        <dsp:cNvPr id="0" name=""/>
        <dsp:cNvSpPr/>
      </dsp:nvSpPr>
      <dsp:spPr>
        <a:xfrm>
          <a:off x="2103120" y="531"/>
          <a:ext cx="8412480" cy="69051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B2A76B-B1E9-48B7-98B3-CF92D1259E7B}">
      <dsp:nvSpPr>
        <dsp:cNvPr id="0" name=""/>
        <dsp:cNvSpPr/>
      </dsp:nvSpPr>
      <dsp:spPr>
        <a:xfrm>
          <a:off x="0" y="531"/>
          <a:ext cx="2103120" cy="69051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La seguridad se integra en todas las fases:</a:t>
          </a:r>
          <a:endParaRPr lang="en-US" sz="1400" kern="1200"/>
        </a:p>
      </dsp:txBody>
      <dsp:txXfrm>
        <a:off x="0" y="531"/>
        <a:ext cx="2103120" cy="690519"/>
      </dsp:txXfrm>
    </dsp:sp>
    <dsp:sp modelId="{3A1309F1-9698-4CF0-A028-45AE66E4993A}">
      <dsp:nvSpPr>
        <dsp:cNvPr id="0" name=""/>
        <dsp:cNvSpPr/>
      </dsp:nvSpPr>
      <dsp:spPr>
        <a:xfrm>
          <a:off x="2103120" y="732482"/>
          <a:ext cx="8412480" cy="690519"/>
        </a:xfrm>
        <a:prstGeom prst="rect">
          <a:avLst/>
        </a:prstGeom>
        <a:solidFill>
          <a:schemeClr val="accent5">
            <a:tint val="40000"/>
            <a:alpha val="90000"/>
            <a:hueOff val="-1347952"/>
            <a:satOff val="-4566"/>
            <a:lumOff val="-586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347952"/>
              <a:satOff val="-4566"/>
              <a:lumOff val="-58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/>
            <a:t>Definir requisitos de seguridad</a:t>
          </a:r>
          <a:endParaRPr lang="en-US" sz="1100" kern="1200"/>
        </a:p>
      </dsp:txBody>
      <dsp:txXfrm>
        <a:off x="2103120" y="732482"/>
        <a:ext cx="8412480" cy="690519"/>
      </dsp:txXfrm>
    </dsp:sp>
    <dsp:sp modelId="{54CA272C-4108-45B6-96C8-A471F46F4BF8}">
      <dsp:nvSpPr>
        <dsp:cNvPr id="0" name=""/>
        <dsp:cNvSpPr/>
      </dsp:nvSpPr>
      <dsp:spPr>
        <a:xfrm>
          <a:off x="0" y="732482"/>
          <a:ext cx="2103120" cy="690519"/>
        </a:xfrm>
        <a:prstGeom prst="rect">
          <a:avLst/>
        </a:prstGeom>
        <a:gradFill rotWithShape="0">
          <a:gsLst>
            <a:gs pos="0">
              <a:schemeClr val="accent5">
                <a:hueOff val="-1351709"/>
                <a:satOff val="-3484"/>
                <a:lumOff val="-235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1351709"/>
                <a:satOff val="-3484"/>
                <a:lumOff val="-235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1351709"/>
              <a:satOff val="-3484"/>
              <a:lumOff val="-235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Planificación</a:t>
          </a:r>
          <a:endParaRPr lang="en-US" sz="1400" kern="1200"/>
        </a:p>
      </dsp:txBody>
      <dsp:txXfrm>
        <a:off x="0" y="732482"/>
        <a:ext cx="2103120" cy="690519"/>
      </dsp:txXfrm>
    </dsp:sp>
    <dsp:sp modelId="{6757A08A-7F69-4565-A44F-99828D3C0C77}">
      <dsp:nvSpPr>
        <dsp:cNvPr id="0" name=""/>
        <dsp:cNvSpPr/>
      </dsp:nvSpPr>
      <dsp:spPr>
        <a:xfrm>
          <a:off x="2103120" y="1464433"/>
          <a:ext cx="8412480" cy="690519"/>
        </a:xfrm>
        <a:prstGeom prst="rect">
          <a:avLst/>
        </a:prstGeom>
        <a:solidFill>
          <a:schemeClr val="accent5">
            <a:tint val="40000"/>
            <a:alpha val="90000"/>
            <a:hueOff val="-2695905"/>
            <a:satOff val="-9133"/>
            <a:lumOff val="-1171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2695905"/>
              <a:satOff val="-9133"/>
              <a:lumOff val="-117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/>
            <a:t>Análisis estático de código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/>
            <a:t>Buenas prácticas de programación segura</a:t>
          </a:r>
          <a:endParaRPr lang="en-US" sz="1100" kern="1200"/>
        </a:p>
      </dsp:txBody>
      <dsp:txXfrm>
        <a:off x="2103120" y="1464433"/>
        <a:ext cx="8412480" cy="690519"/>
      </dsp:txXfrm>
    </dsp:sp>
    <dsp:sp modelId="{874C6174-5C3A-414F-AA44-7C38FE5397D6}">
      <dsp:nvSpPr>
        <dsp:cNvPr id="0" name=""/>
        <dsp:cNvSpPr/>
      </dsp:nvSpPr>
      <dsp:spPr>
        <a:xfrm>
          <a:off x="0" y="1464433"/>
          <a:ext cx="2103120" cy="690519"/>
        </a:xfrm>
        <a:prstGeom prst="rect">
          <a:avLst/>
        </a:prstGeom>
        <a:gradFill rotWithShape="0">
          <a:gsLst>
            <a:gs pos="0">
              <a:schemeClr val="accent5">
                <a:hueOff val="-2703417"/>
                <a:satOff val="-6968"/>
                <a:lumOff val="-470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2703417"/>
                <a:satOff val="-6968"/>
                <a:lumOff val="-470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2703417"/>
              <a:satOff val="-6968"/>
              <a:lumOff val="-470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Desarrollo</a:t>
          </a:r>
          <a:endParaRPr lang="en-US" sz="1400" kern="1200"/>
        </a:p>
      </dsp:txBody>
      <dsp:txXfrm>
        <a:off x="0" y="1464433"/>
        <a:ext cx="2103120" cy="690519"/>
      </dsp:txXfrm>
    </dsp:sp>
    <dsp:sp modelId="{10CE6FAC-2BA6-4D52-B92F-04D3D58A8E57}">
      <dsp:nvSpPr>
        <dsp:cNvPr id="0" name=""/>
        <dsp:cNvSpPr/>
      </dsp:nvSpPr>
      <dsp:spPr>
        <a:xfrm>
          <a:off x="2103120" y="2196384"/>
          <a:ext cx="8412480" cy="690519"/>
        </a:xfrm>
        <a:prstGeom prst="rect">
          <a:avLst/>
        </a:prstGeom>
        <a:solidFill>
          <a:schemeClr val="accent5">
            <a:tint val="40000"/>
            <a:alpha val="90000"/>
            <a:hueOff val="-4043857"/>
            <a:satOff val="-13699"/>
            <a:lumOff val="-175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4043857"/>
              <a:satOff val="-13699"/>
              <a:lumOff val="-175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/>
            <a:t>Escaneo automático de vulnerabilidades</a:t>
          </a:r>
          <a:endParaRPr lang="en-US" sz="1100" kern="1200"/>
        </a:p>
      </dsp:txBody>
      <dsp:txXfrm>
        <a:off x="2103120" y="2196384"/>
        <a:ext cx="8412480" cy="690519"/>
      </dsp:txXfrm>
    </dsp:sp>
    <dsp:sp modelId="{8B59377D-7EE7-4CEB-8E6C-496F599A3840}">
      <dsp:nvSpPr>
        <dsp:cNvPr id="0" name=""/>
        <dsp:cNvSpPr/>
      </dsp:nvSpPr>
      <dsp:spPr>
        <a:xfrm>
          <a:off x="0" y="2196384"/>
          <a:ext cx="2103120" cy="690519"/>
        </a:xfrm>
        <a:prstGeom prst="rect">
          <a:avLst/>
        </a:prstGeom>
        <a:gradFill rotWithShape="0">
          <a:gsLst>
            <a:gs pos="0">
              <a:schemeClr val="accent5">
                <a:hueOff val="-4055126"/>
                <a:satOff val="-10451"/>
                <a:lumOff val="-705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055126"/>
                <a:satOff val="-10451"/>
                <a:lumOff val="-705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4055126"/>
              <a:satOff val="-10451"/>
              <a:lumOff val="-705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Integración Continua (CI)</a:t>
          </a:r>
          <a:endParaRPr lang="en-US" sz="1400" kern="1200"/>
        </a:p>
      </dsp:txBody>
      <dsp:txXfrm>
        <a:off x="0" y="2196384"/>
        <a:ext cx="2103120" cy="690519"/>
      </dsp:txXfrm>
    </dsp:sp>
    <dsp:sp modelId="{B16F1853-AE4E-42F0-A973-D9E737CE1DFA}">
      <dsp:nvSpPr>
        <dsp:cNvPr id="0" name=""/>
        <dsp:cNvSpPr/>
      </dsp:nvSpPr>
      <dsp:spPr>
        <a:xfrm>
          <a:off x="2103120" y="2928335"/>
          <a:ext cx="8412480" cy="690519"/>
        </a:xfrm>
        <a:prstGeom prst="rect">
          <a:avLst/>
        </a:prstGeom>
        <a:solidFill>
          <a:schemeClr val="accent5">
            <a:tint val="40000"/>
            <a:alpha val="90000"/>
            <a:hueOff val="-5391810"/>
            <a:satOff val="-18266"/>
            <a:lumOff val="-2342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5391810"/>
              <a:satOff val="-18266"/>
              <a:lumOff val="-234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/>
            <a:t>Validación de configuraciones seguras</a:t>
          </a:r>
          <a:endParaRPr lang="en-US" sz="1100" kern="1200"/>
        </a:p>
      </dsp:txBody>
      <dsp:txXfrm>
        <a:off x="2103120" y="2928335"/>
        <a:ext cx="8412480" cy="690519"/>
      </dsp:txXfrm>
    </dsp:sp>
    <dsp:sp modelId="{764A0C23-CEA2-4F14-97FD-9882891E8AA0}">
      <dsp:nvSpPr>
        <dsp:cNvPr id="0" name=""/>
        <dsp:cNvSpPr/>
      </dsp:nvSpPr>
      <dsp:spPr>
        <a:xfrm>
          <a:off x="0" y="2928335"/>
          <a:ext cx="2103120" cy="690519"/>
        </a:xfrm>
        <a:prstGeom prst="rect">
          <a:avLst/>
        </a:prstGeom>
        <a:gradFill rotWithShape="0">
          <a:gsLst>
            <a:gs pos="0">
              <a:schemeClr val="accent5">
                <a:hueOff val="-5406834"/>
                <a:satOff val="-13935"/>
                <a:lumOff val="-941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5406834"/>
                <a:satOff val="-13935"/>
                <a:lumOff val="-941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5406834"/>
              <a:satOff val="-13935"/>
              <a:lumOff val="-941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Despliegue</a:t>
          </a:r>
          <a:endParaRPr lang="en-US" sz="1400" kern="1200"/>
        </a:p>
      </dsp:txBody>
      <dsp:txXfrm>
        <a:off x="0" y="2928335"/>
        <a:ext cx="2103120" cy="690519"/>
      </dsp:txXfrm>
    </dsp:sp>
    <dsp:sp modelId="{B6238B21-4739-4157-A79A-3DADD2BB1F8F}">
      <dsp:nvSpPr>
        <dsp:cNvPr id="0" name=""/>
        <dsp:cNvSpPr/>
      </dsp:nvSpPr>
      <dsp:spPr>
        <a:xfrm>
          <a:off x="2103120" y="3660286"/>
          <a:ext cx="8412480" cy="690519"/>
        </a:xfrm>
        <a:prstGeom prst="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/>
            <a:t>Detección de ataques o comportamientos anómalos</a:t>
          </a:r>
          <a:endParaRPr lang="en-US" sz="1100" kern="1200"/>
        </a:p>
      </dsp:txBody>
      <dsp:txXfrm>
        <a:off x="2103120" y="3660286"/>
        <a:ext cx="8412480" cy="690519"/>
      </dsp:txXfrm>
    </dsp:sp>
    <dsp:sp modelId="{888058E6-F887-4942-AFDC-5E85B4042718}">
      <dsp:nvSpPr>
        <dsp:cNvPr id="0" name=""/>
        <dsp:cNvSpPr/>
      </dsp:nvSpPr>
      <dsp:spPr>
        <a:xfrm>
          <a:off x="0" y="3660286"/>
          <a:ext cx="2103120" cy="690519"/>
        </a:xfrm>
        <a:prstGeom prst="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Monitoreo</a:t>
          </a:r>
          <a:endParaRPr lang="en-US" sz="1400" kern="1200"/>
        </a:p>
      </dsp:txBody>
      <dsp:txXfrm>
        <a:off x="0" y="3660286"/>
        <a:ext cx="2103120" cy="6905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afea4f6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g364afea4f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Enunciado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Hc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dudas</a:t>
            </a:r>
            <a:endParaRPr/>
          </a:p>
        </p:txBody>
      </p:sp>
      <p:sp>
        <p:nvSpPr>
          <p:cNvPr id="106" name="Google Shape;10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se define como una metodología que ha venido a revolucionar el marco de desarrollo de aplicaciones, gracias a la aplicación de diferentes prácticas y herramientas de automatización que permiten producir </a:t>
            </a:r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más rápido. Además de lo mencionado, esta metodología permite la unificación de Desarrollo y Operaciones, lo que facilita el trabajo y la distribución la infraestructura aplicativa.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bitbucket</a:t>
            </a:r>
            <a:endParaRPr/>
          </a:p>
        </p:txBody>
      </p:sp>
      <p:sp>
        <p:nvSpPr>
          <p:cNvPr id="260" name="Google Shape;26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8" name="Google Shape;26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" name="Google Shape;27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3" name="Google Shape;2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8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9375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1423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64afea4f6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64afea4f63_0_0"/>
          <p:cNvSpPr/>
          <p:nvPr/>
        </p:nvSpPr>
        <p:spPr>
          <a:xfrm>
            <a:off x="2325912" y="3974253"/>
            <a:ext cx="4910000" cy="48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2600"/>
            </a:pPr>
            <a:r>
              <a:rPr lang="es-GT" sz="1733" dirty="0">
                <a:latin typeface="Calibri"/>
                <a:ea typeface="Calibri"/>
                <a:cs typeface="Calibri"/>
                <a:sym typeface="Calibri"/>
              </a:rPr>
              <a:t>Kevin Raúl Pozuelos Estrada</a:t>
            </a:r>
          </a:p>
        </p:txBody>
      </p:sp>
      <p:sp>
        <p:nvSpPr>
          <p:cNvPr id="90" name="Google Shape;90;g364afea4f63_0_0"/>
          <p:cNvSpPr/>
          <p:nvPr/>
        </p:nvSpPr>
        <p:spPr>
          <a:xfrm>
            <a:off x="1323637" y="3116227"/>
            <a:ext cx="7811264" cy="48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100"/>
            </a:pPr>
            <a:r>
              <a:rPr lang="es-GT" sz="2067" dirty="0">
                <a:latin typeface="Calibri"/>
                <a:ea typeface="Calibri"/>
                <a:cs typeface="Calibri"/>
                <a:sym typeface="Calibri"/>
              </a:rPr>
              <a:t>Software Avanzado </a:t>
            </a:r>
            <a:r>
              <a:rPr lang="es-GT" sz="2067" dirty="0" err="1">
                <a:latin typeface="Calibri"/>
                <a:ea typeface="Calibri"/>
                <a:cs typeface="Calibri"/>
                <a:sym typeface="Calibri"/>
              </a:rPr>
              <a:t>Seccion</a:t>
            </a:r>
            <a:r>
              <a:rPr lang="es-GT" sz="2067" dirty="0">
                <a:latin typeface="Calibri"/>
                <a:ea typeface="Calibri"/>
                <a:cs typeface="Calibri"/>
                <a:sym typeface="Calibri"/>
              </a:rPr>
              <a:t> B</a:t>
            </a:r>
          </a:p>
        </p:txBody>
      </p:sp>
      <p:sp>
        <p:nvSpPr>
          <p:cNvPr id="2" name="Google Shape;90;g364afea4f63_0_0">
            <a:extLst>
              <a:ext uri="{FF2B5EF4-FFF2-40B4-BE49-F238E27FC236}">
                <a16:creationId xmlns:a16="http://schemas.microsoft.com/office/drawing/2014/main" id="{AA80F5D4-5F81-3DA5-7699-90AF77AA0920}"/>
              </a:ext>
            </a:extLst>
          </p:cNvPr>
          <p:cNvSpPr/>
          <p:nvPr/>
        </p:nvSpPr>
        <p:spPr>
          <a:xfrm>
            <a:off x="9134901" y="1296527"/>
            <a:ext cx="2875129" cy="52317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100"/>
            </a:pPr>
            <a:r>
              <a:rPr lang="es-GT" sz="2067" dirty="0">
                <a:latin typeface="Calibri"/>
                <a:ea typeface="Calibri"/>
                <a:cs typeface="Calibri"/>
                <a:sym typeface="Calibri"/>
              </a:rPr>
              <a:t>5/03/2026</a:t>
            </a:r>
          </a:p>
        </p:txBody>
      </p:sp>
      <p:sp>
        <p:nvSpPr>
          <p:cNvPr id="3" name="Google Shape;90;g364afea4f63_0_0">
            <a:extLst>
              <a:ext uri="{FF2B5EF4-FFF2-40B4-BE49-F238E27FC236}">
                <a16:creationId xmlns:a16="http://schemas.microsoft.com/office/drawing/2014/main" id="{5D6A39ED-BAEA-CDC0-8EF8-624CF982507D}"/>
              </a:ext>
            </a:extLst>
          </p:cNvPr>
          <p:cNvSpPr/>
          <p:nvPr/>
        </p:nvSpPr>
        <p:spPr>
          <a:xfrm>
            <a:off x="9134901" y="1819701"/>
            <a:ext cx="2875129" cy="52317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100"/>
            </a:pPr>
            <a:r>
              <a:rPr lang="es-GT" sz="2067" dirty="0">
                <a:latin typeface="Calibri"/>
                <a:ea typeface="Calibri"/>
                <a:cs typeface="Calibri"/>
                <a:sym typeface="Calibri"/>
              </a:rPr>
              <a:t>17:20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434496" y="2583898"/>
            <a:ext cx="3075701" cy="563590"/>
            <a:chOff x="0" y="-76200"/>
            <a:chExt cx="1964221" cy="359923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GT" sz="1866" dirty="0"/>
                <a:t>Dudas Iniciales</a:t>
              </a:r>
              <a:endParaRPr lang="es-GT" sz="933" dirty="0"/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585766" y="2737906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grpSp>
        <p:nvGrpSpPr>
          <p:cNvPr id="111" name="Google Shape;111;p2"/>
          <p:cNvGrpSpPr/>
          <p:nvPr/>
        </p:nvGrpSpPr>
        <p:grpSpPr>
          <a:xfrm>
            <a:off x="1244656" y="1586934"/>
            <a:ext cx="2743460" cy="1037656"/>
            <a:chOff x="0" y="-76200"/>
            <a:chExt cx="1083836" cy="409938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GT" sz="1866" dirty="0"/>
                <a:t>RECORDATORIOS</a:t>
              </a:r>
              <a:endParaRPr lang="es-GT" sz="933" dirty="0"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434499" y="1864102"/>
            <a:ext cx="502595" cy="581952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sp>
        <p:nvSpPr>
          <p:cNvPr id="115" name="Google Shape;115;p2"/>
          <p:cNvSpPr txBox="1"/>
          <p:nvPr/>
        </p:nvSpPr>
        <p:spPr>
          <a:xfrm>
            <a:off x="434500" y="327267"/>
            <a:ext cx="3996139" cy="1474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buSzPts val="15000"/>
            </a:pPr>
            <a:r>
              <a:rPr lang="es-GT" sz="8334" dirty="0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lang="es-GT" sz="800" dirty="0"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7826537" y="2155078"/>
            <a:ext cx="3569097" cy="844775"/>
          </a:xfrm>
          <a:custGeom>
            <a:avLst/>
            <a:gdLst/>
            <a:ahLst/>
            <a:cxnLst/>
            <a:rect l="l" t="t" r="r" b="b"/>
            <a:pathLst>
              <a:path w="1410014" h="333738" extrusionOk="0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grpSp>
        <p:nvGrpSpPr>
          <p:cNvPr id="123" name="Google Shape;123;p2"/>
          <p:cNvGrpSpPr/>
          <p:nvPr/>
        </p:nvGrpSpPr>
        <p:grpSpPr>
          <a:xfrm>
            <a:off x="127937" y="3182223"/>
            <a:ext cx="3464777" cy="563590"/>
            <a:chOff x="0" y="-72964"/>
            <a:chExt cx="2212695" cy="359923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362774" y="-72964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GT" sz="1866" dirty="0"/>
                <a:t>Anuncios Generales</a:t>
              </a:r>
              <a:endParaRPr lang="es-GT" sz="933" dirty="0"/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-1142504" y="3822180"/>
            <a:ext cx="8241168" cy="622808"/>
            <a:chOff x="-406607" y="-114018"/>
            <a:chExt cx="2370828" cy="397741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-406607" y="-114018"/>
              <a:ext cx="2056962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n-US" sz="2000" dirty="0" err="1"/>
                <a:t>Introducción</a:t>
              </a:r>
              <a:r>
                <a:rPr lang="en-US" sz="2000" dirty="0"/>
                <a:t> a DevOps</a:t>
              </a:r>
              <a:endParaRPr lang="es-GT" sz="933" dirty="0"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307785" y="4490682"/>
            <a:ext cx="3430388" cy="563590"/>
            <a:chOff x="0" y="-16001"/>
            <a:chExt cx="2190733" cy="359923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340812" y="-16001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n-US" sz="2000" dirty="0" err="1">
                  <a:solidFill>
                    <a:schemeClr val="tx1"/>
                  </a:solidFill>
                </a:rPr>
                <a:t>Herramientas</a:t>
              </a:r>
              <a:r>
                <a:rPr lang="en-US" sz="2000" dirty="0">
                  <a:solidFill>
                    <a:schemeClr val="tx1"/>
                  </a:solidFill>
                </a:rPr>
                <a:t> IaaS</a:t>
              </a:r>
              <a:endParaRPr lang="es-GT" sz="933" dirty="0">
                <a:solidFill>
                  <a:schemeClr val="tx1"/>
                </a:solidFill>
              </a:endParaRPr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585766" y="3326466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sp>
        <p:nvSpPr>
          <p:cNvPr id="136" name="Google Shape;136;p2"/>
          <p:cNvSpPr/>
          <p:nvPr/>
        </p:nvSpPr>
        <p:spPr>
          <a:xfrm>
            <a:off x="585766" y="3980848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sp>
        <p:nvSpPr>
          <p:cNvPr id="137" name="Google Shape;137;p2"/>
          <p:cNvSpPr/>
          <p:nvPr/>
        </p:nvSpPr>
        <p:spPr>
          <a:xfrm>
            <a:off x="585766" y="4647369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grpSp>
        <p:nvGrpSpPr>
          <p:cNvPr id="10" name="Google Shape;132;p2">
            <a:extLst>
              <a:ext uri="{FF2B5EF4-FFF2-40B4-BE49-F238E27FC236}">
                <a16:creationId xmlns:a16="http://schemas.microsoft.com/office/drawing/2014/main" id="{DB5BB7A4-AE5E-86F8-4B7F-CEE5EE26A0E6}"/>
              </a:ext>
            </a:extLst>
          </p:cNvPr>
          <p:cNvGrpSpPr/>
          <p:nvPr/>
        </p:nvGrpSpPr>
        <p:grpSpPr>
          <a:xfrm>
            <a:off x="486762" y="5346771"/>
            <a:ext cx="6249316" cy="756985"/>
            <a:chOff x="-2026751" y="-199707"/>
            <a:chExt cx="3990972" cy="483430"/>
          </a:xfrm>
        </p:grpSpPr>
        <p:sp>
          <p:nvSpPr>
            <p:cNvPr id="11" name="Google Shape;133;p2">
              <a:extLst>
                <a:ext uri="{FF2B5EF4-FFF2-40B4-BE49-F238E27FC236}">
                  <a16:creationId xmlns:a16="http://schemas.microsoft.com/office/drawing/2014/main" id="{F01663B2-C686-2FF3-A923-B7E76CB920D4}"/>
                </a:ext>
              </a:extLst>
            </p:cNvPr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2" name="Google Shape;134;p2">
              <a:extLst>
                <a:ext uri="{FF2B5EF4-FFF2-40B4-BE49-F238E27FC236}">
                  <a16:creationId xmlns:a16="http://schemas.microsoft.com/office/drawing/2014/main" id="{4673B32B-14F2-36D6-8FDF-88189ED3BF90}"/>
                </a:ext>
              </a:extLst>
            </p:cNvPr>
            <p:cNvSpPr txBox="1"/>
            <p:nvPr/>
          </p:nvSpPr>
          <p:spPr>
            <a:xfrm>
              <a:off x="-2026751" y="-199707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GT" sz="1866" dirty="0"/>
                <a:t>Dudas Finales</a:t>
              </a:r>
              <a:endParaRPr lang="es-GT" sz="933" dirty="0"/>
            </a:p>
          </p:txBody>
        </p:sp>
      </p:grpSp>
      <p:sp>
        <p:nvSpPr>
          <p:cNvPr id="13" name="Google Shape;138;p2">
            <a:extLst>
              <a:ext uri="{FF2B5EF4-FFF2-40B4-BE49-F238E27FC236}">
                <a16:creationId xmlns:a16="http://schemas.microsoft.com/office/drawing/2014/main" id="{DB9B4FB8-5289-6F72-4D0C-D213312F8747}"/>
              </a:ext>
            </a:extLst>
          </p:cNvPr>
          <p:cNvSpPr/>
          <p:nvPr/>
        </p:nvSpPr>
        <p:spPr>
          <a:xfrm>
            <a:off x="555893" y="5539041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0" y="-1"/>
            <a:ext cx="12191695" cy="6852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" y="80300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6549203" y="2681111"/>
            <a:ext cx="4806000" cy="12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 sz="8800">
                <a:solidFill>
                  <a:schemeClr val="dk2"/>
                </a:solidFill>
              </a:rPr>
              <a:t>Dudas</a:t>
            </a:r>
            <a:endParaRPr sz="88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 sz="8800">
                <a:solidFill>
                  <a:schemeClr val="dk2"/>
                </a:solidFill>
              </a:rPr>
              <a:t>Fase 2</a:t>
            </a:r>
            <a:endParaRPr/>
          </a:p>
        </p:txBody>
      </p:sp>
      <p:pic>
        <p:nvPicPr>
          <p:cNvPr id="111" name="Google Shape;111;p4" descr="Maestr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 extrusionOk="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112" name="Google Shape;112;p4"/>
          <p:cNvGrpSpPr/>
          <p:nvPr/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13" name="Google Shape;113;p4"/>
            <p:cNvSpPr/>
            <p:nvPr/>
          </p:nvSpPr>
          <p:spPr>
            <a:xfrm flipH="1">
              <a:off x="305" y="34854"/>
              <a:ext cx="6028697" cy="6817170"/>
            </a:xfrm>
            <a:custGeom>
              <a:avLst/>
              <a:gdLst/>
              <a:ahLst/>
              <a:cxnLst/>
              <a:rect l="l" t="t" r="r" b="b"/>
              <a:pathLst>
                <a:path w="6028697" h="6817170" extrusionOk="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019"/>
                  </a:srgbClr>
                </a:gs>
                <a:gs pos="2000">
                  <a:srgbClr val="FFFFFF">
                    <a:alpha val="9019"/>
                  </a:srgbClr>
                </a:gs>
                <a:gs pos="16000">
                  <a:srgbClr val="70AD47">
                    <a:alpha val="9019"/>
                  </a:srgbClr>
                </a:gs>
                <a:gs pos="85000">
                  <a:srgbClr val="4472C4">
                    <a:alpha val="9019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 flipH="1">
              <a:off x="305" y="1"/>
              <a:ext cx="6165116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019"/>
                  </a:srgbClr>
                </a:gs>
                <a:gs pos="2000">
                  <a:srgbClr val="FFFFFF">
                    <a:alpha val="9019"/>
                  </a:srgbClr>
                </a:gs>
                <a:gs pos="16000">
                  <a:srgbClr val="70AD47">
                    <a:alpha val="9019"/>
                  </a:srgbClr>
                </a:gs>
                <a:gs pos="85000">
                  <a:srgbClr val="4472C4">
                    <a:alpha val="9019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 flipH="1">
              <a:off x="305" y="-5977"/>
              <a:ext cx="6238675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019"/>
                  </a:srgbClr>
                </a:gs>
                <a:gs pos="2000">
                  <a:srgbClr val="FFFFFF">
                    <a:alpha val="9019"/>
                  </a:srgbClr>
                </a:gs>
                <a:gs pos="16000">
                  <a:srgbClr val="70AD47">
                    <a:alpha val="9019"/>
                  </a:srgbClr>
                </a:gs>
                <a:gs pos="85000">
                  <a:srgbClr val="4472C4">
                    <a:alpha val="9019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 dirty="0" err="1"/>
              <a:t>Introducción</a:t>
            </a:r>
            <a:r>
              <a:rPr lang="en-US" sz="5400" dirty="0"/>
              <a:t> a DevOps</a:t>
            </a:r>
            <a:endParaRPr dirty="0"/>
          </a:p>
        </p:txBody>
      </p:sp>
      <p:sp>
        <p:nvSpPr>
          <p:cNvPr id="123" name="Google Shape;123;p5"/>
          <p:cNvSpPr/>
          <p:nvPr/>
        </p:nvSpPr>
        <p:spPr>
          <a:xfrm>
            <a:off x="758952" y="2395728"/>
            <a:ext cx="4243589" cy="18288"/>
          </a:xfrm>
          <a:custGeom>
            <a:avLst/>
            <a:gdLst/>
            <a:ahLst/>
            <a:cxnLst/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>
            <a:spLocks noGrp="1"/>
          </p:cNvSpPr>
          <p:nvPr>
            <p:ph type="body" idx="1"/>
          </p:nvPr>
        </p:nvSpPr>
        <p:spPr>
          <a:xfrm>
            <a:off x="640080" y="2706624"/>
            <a:ext cx="6894576" cy="3483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DevOps es una metodología que busca integrar y agilizar la colaboración entre los equipos de desarrollo y operaciones de TI.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Crucial para acelerar la entrega de software, mejorar la calidad y la colaboración interdepartamental.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Ha revolucionado la manera de desarrollar software.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</p:txBody>
      </p:sp>
      <p:pic>
        <p:nvPicPr>
          <p:cNvPr id="125" name="Google Shape;125;p5" descr="How DevOps is Killing QA - DevOps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5701" y="329183"/>
            <a:ext cx="3610493" cy="3429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0" y="4083434"/>
            <a:ext cx="3995928" cy="2167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 b="1"/>
              <a:t>Desarrollo Tradicional vs. DevOps</a:t>
            </a:r>
            <a:endParaRPr sz="5400"/>
          </a:p>
        </p:txBody>
      </p:sp>
      <p:sp>
        <p:nvSpPr>
          <p:cNvPr id="133" name="Google Shape;133;p6"/>
          <p:cNvSpPr/>
          <p:nvPr/>
        </p:nvSpPr>
        <p:spPr>
          <a:xfrm>
            <a:off x="572493" y="1681544"/>
            <a:ext cx="10972800" cy="18288"/>
          </a:xfrm>
          <a:custGeom>
            <a:avLst/>
            <a:gdLst/>
            <a:ahLst/>
            <a:cxnLst/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4117"/>
            </a:schemeClr>
          </a:solidFill>
          <a:ln w="44450" cap="rnd" cmpd="sng">
            <a:solidFill>
              <a:schemeClr val="accent2">
                <a:alpha val="74117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6" descr="Ciclo De Vida Del Software"/>
          <p:cNvPicPr preferRelativeResize="0"/>
          <p:nvPr/>
        </p:nvPicPr>
        <p:blipFill rotWithShape="1">
          <a:blip r:embed="rId3">
            <a:alphaModFix/>
          </a:blip>
          <a:srcRect l="4484" r="5559" b="-2"/>
          <a:stretch/>
        </p:blipFill>
        <p:spPr>
          <a:xfrm>
            <a:off x="7467008" y="2082639"/>
            <a:ext cx="3941064" cy="40965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6"/>
          <p:cNvGrpSpPr/>
          <p:nvPr/>
        </p:nvGrpSpPr>
        <p:grpSpPr>
          <a:xfrm>
            <a:off x="657075" y="3004903"/>
            <a:ext cx="6544387" cy="2251997"/>
            <a:chOff x="84582" y="933587"/>
            <a:chExt cx="6544387" cy="2251997"/>
          </a:xfrm>
        </p:grpSpPr>
        <p:sp>
          <p:nvSpPr>
            <p:cNvPr id="136" name="Google Shape;136;p6"/>
            <p:cNvSpPr/>
            <p:nvPr/>
          </p:nvSpPr>
          <p:spPr>
            <a:xfrm>
              <a:off x="621808" y="933587"/>
              <a:ext cx="879096" cy="87909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84582" y="2150584"/>
              <a:ext cx="1953548" cy="10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6"/>
            <p:cNvSpPr txBox="1"/>
            <p:nvPr/>
          </p:nvSpPr>
          <p:spPr>
            <a:xfrm>
              <a:off x="84582" y="2150584"/>
              <a:ext cx="1953548" cy="10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 el enfoque tradicional, el desarrollo y las operaciones funcionan de forma aislada, lo que puede provocar problemas de comunicación y retrasos en los lanzamientos.</a:t>
              </a:r>
              <a:endPara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2917227" y="933587"/>
              <a:ext cx="879096" cy="87909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2380001" y="2150584"/>
              <a:ext cx="1953548" cy="10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6"/>
            <p:cNvSpPr txBox="1"/>
            <p:nvPr/>
          </p:nvSpPr>
          <p:spPr>
            <a:xfrm>
              <a:off x="2380001" y="2150584"/>
              <a:ext cx="1953548" cy="10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DevOps promueve la colaboración, la automatización y la entrega continua, a diferencia del enfoque secuencial y rígido del desarrollo tradicional.</a:t>
              </a:r>
              <a:endPara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5212647" y="933587"/>
              <a:ext cx="879096" cy="87909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4675421" y="2150584"/>
              <a:ext cx="1953548" cy="10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6"/>
            <p:cNvSpPr txBox="1"/>
            <p:nvPr/>
          </p:nvSpPr>
          <p:spPr>
            <a:xfrm>
              <a:off x="4675421" y="2150584"/>
              <a:ext cx="1953548" cy="10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implementación de DevOps resulta en un desarrollo más rápido, despliegues más seguros y una mayor capacidad de respuesta a los cambios del mercado.</a:t>
              </a:r>
              <a:endPara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Fases del ciclo DevOps</a:t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43278" y="4409267"/>
            <a:ext cx="3255095" cy="18288"/>
          </a:xfrm>
          <a:custGeom>
            <a:avLst/>
            <a:gdLst/>
            <a:ahLst/>
            <a:cxnLst/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54296" y="1458319"/>
            <a:ext cx="7214616" cy="3913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 txBox="1"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chemeClr val="dk2"/>
                </a:solidFill>
              </a:rPr>
              <a:t>Beneficios de la adopción de un entorno DevOps </a:t>
            </a:r>
            <a:endParaRPr sz="4000">
              <a:solidFill>
                <a:schemeClr val="dk2"/>
              </a:solidFill>
            </a:endParaRPr>
          </a:p>
        </p:txBody>
      </p:sp>
      <p:grpSp>
        <p:nvGrpSpPr>
          <p:cNvPr id="160" name="Google Shape;160;p8"/>
          <p:cNvGrpSpPr/>
          <p:nvPr/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161" name="Google Shape;161;p8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/>
              <a:ahLst/>
              <a:cxnLst/>
              <a:rect l="l" t="t" r="r" b="b"/>
              <a:pathLst>
                <a:path w="2514948" h="2170178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019"/>
                  </a:srgbClr>
                </a:gs>
                <a:gs pos="2000">
                  <a:srgbClr val="FFFFFF">
                    <a:alpha val="9019"/>
                  </a:srgbClr>
                </a:gs>
                <a:gs pos="16000">
                  <a:srgbClr val="70AD47">
                    <a:alpha val="9019"/>
                  </a:srgbClr>
                </a:gs>
                <a:gs pos="85000">
                  <a:srgbClr val="4472C4">
                    <a:alpha val="9019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/>
              <a:ahLst/>
              <a:cxnLst/>
              <a:rect l="l" t="t" r="r" b="b"/>
              <a:pathLst>
                <a:path w="2493062" h="1947896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019"/>
                  </a:srgbClr>
                </a:gs>
                <a:gs pos="2000">
                  <a:srgbClr val="FFFFFF">
                    <a:alpha val="9019"/>
                  </a:srgbClr>
                </a:gs>
                <a:gs pos="16000">
                  <a:srgbClr val="70AD47">
                    <a:alpha val="9019"/>
                  </a:srgbClr>
                </a:gs>
                <a:gs pos="85000">
                  <a:srgbClr val="4472C4">
                    <a:alpha val="9019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/>
              <a:ahLst/>
              <a:cxnLst/>
              <a:rect l="l" t="t" r="r" b="b"/>
              <a:pathLst>
                <a:path w="2501089" h="1972702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019"/>
                  </a:srgbClr>
                </a:gs>
                <a:gs pos="2000">
                  <a:srgbClr val="FFFFFF">
                    <a:alpha val="9019"/>
                  </a:srgbClr>
                </a:gs>
                <a:gs pos="16000">
                  <a:srgbClr val="70AD47">
                    <a:alpha val="9019"/>
                  </a:srgbClr>
                </a:gs>
                <a:gs pos="85000">
                  <a:srgbClr val="4472C4">
                    <a:alpha val="9019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/>
              <a:ahLst/>
              <a:cxnLst/>
              <a:rect l="l" t="t" r="r" b="b"/>
              <a:pathLst>
                <a:path w="2491105" h="194366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019"/>
                  </a:srgbClr>
                </a:gs>
                <a:gs pos="2000">
                  <a:srgbClr val="FFFFFF">
                    <a:alpha val="9019"/>
                  </a:srgbClr>
                </a:gs>
                <a:gs pos="16000">
                  <a:srgbClr val="70AD47">
                    <a:alpha val="9019"/>
                  </a:srgbClr>
                </a:gs>
                <a:gs pos="85000">
                  <a:srgbClr val="4472C4">
                    <a:alpha val="9019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8"/>
          <p:cNvGrpSpPr/>
          <p:nvPr/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166" name="Google Shape;166;p8"/>
            <p:cNvSpPr/>
            <p:nvPr/>
          </p:nvSpPr>
          <p:spPr>
            <a:xfrm>
              <a:off x="305" y="1"/>
              <a:ext cx="3815424" cy="2653659"/>
            </a:xfrm>
            <a:custGeom>
              <a:avLst/>
              <a:gdLst/>
              <a:ahLst/>
              <a:cxnLst/>
              <a:rect l="l" t="t" r="r" b="b"/>
              <a:pathLst>
                <a:path w="3815424" h="2653659" extrusionOk="0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019"/>
                  </a:srgbClr>
                </a:gs>
                <a:gs pos="2000">
                  <a:srgbClr val="FFFFFF">
                    <a:alpha val="9019"/>
                  </a:srgbClr>
                </a:gs>
                <a:gs pos="16000">
                  <a:srgbClr val="70AD47">
                    <a:alpha val="9019"/>
                  </a:srgbClr>
                </a:gs>
                <a:gs pos="85000">
                  <a:srgbClr val="4472C4">
                    <a:alpha val="9019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305" y="-1"/>
              <a:ext cx="3815424" cy="2653660"/>
            </a:xfrm>
            <a:custGeom>
              <a:avLst/>
              <a:gdLst/>
              <a:ahLst/>
              <a:cxnLst/>
              <a:rect l="l" t="t" r="r" b="b"/>
              <a:pathLst>
                <a:path w="3815424" h="2653660" extrusionOk="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019"/>
                  </a:srgbClr>
                </a:gs>
                <a:gs pos="2000">
                  <a:srgbClr val="FFFFFF">
                    <a:alpha val="9019"/>
                  </a:srgbClr>
                </a:gs>
                <a:gs pos="16000">
                  <a:srgbClr val="70AD47">
                    <a:alpha val="9019"/>
                  </a:srgbClr>
                </a:gs>
                <a:gs pos="85000">
                  <a:srgbClr val="4472C4">
                    <a:alpha val="9019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-305" y="1"/>
              <a:ext cx="3815986" cy="2675935"/>
            </a:xfrm>
            <a:custGeom>
              <a:avLst/>
              <a:gdLst/>
              <a:ahLst/>
              <a:cxnLst/>
              <a:rect l="l" t="t" r="r" b="b"/>
              <a:pathLst>
                <a:path w="3815986" h="2675935" extrusionOk="0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019"/>
                  </a:srgbClr>
                </a:gs>
                <a:gs pos="2000">
                  <a:srgbClr val="FFFFFF">
                    <a:alpha val="9019"/>
                  </a:srgbClr>
                </a:gs>
                <a:gs pos="16000">
                  <a:srgbClr val="70AD47">
                    <a:alpha val="9019"/>
                  </a:srgbClr>
                </a:gs>
                <a:gs pos="85000">
                  <a:srgbClr val="4472C4">
                    <a:alpha val="9019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305" y="-1"/>
              <a:ext cx="3832270" cy="2876136"/>
            </a:xfrm>
            <a:custGeom>
              <a:avLst/>
              <a:gdLst/>
              <a:ahLst/>
              <a:cxnLst/>
              <a:rect l="l" t="t" r="r" b="b"/>
              <a:pathLst>
                <a:path w="3832270" h="2876136" extrusionOk="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019"/>
                  </a:srgbClr>
                </a:gs>
                <a:gs pos="2000">
                  <a:srgbClr val="FFFFFF">
                    <a:alpha val="9019"/>
                  </a:srgbClr>
                </a:gs>
                <a:gs pos="16000">
                  <a:srgbClr val="70AD47">
                    <a:alpha val="9019"/>
                  </a:srgbClr>
                </a:gs>
                <a:gs pos="85000">
                  <a:srgbClr val="4472C4">
                    <a:alpha val="9019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8"/>
          <p:cNvGrpSpPr/>
          <p:nvPr/>
        </p:nvGrpSpPr>
        <p:grpSpPr>
          <a:xfrm>
            <a:off x="1039284" y="2797938"/>
            <a:ext cx="10113430" cy="3057549"/>
            <a:chOff x="2964" y="254305"/>
            <a:chExt cx="10113430" cy="3057549"/>
          </a:xfrm>
        </p:grpSpPr>
        <p:sp>
          <p:nvSpPr>
            <p:cNvPr id="171" name="Google Shape;171;p8"/>
            <p:cNvSpPr/>
            <p:nvPr/>
          </p:nvSpPr>
          <p:spPr>
            <a:xfrm>
              <a:off x="2964" y="254305"/>
              <a:ext cx="2351960" cy="1411176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8"/>
            <p:cNvSpPr txBox="1"/>
            <p:nvPr/>
          </p:nvSpPr>
          <p:spPr>
            <a:xfrm>
              <a:off x="2964" y="254305"/>
              <a:ext cx="2351960" cy="1411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Mayor velocidad de producción. </a:t>
              </a:r>
              <a:endPara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2590121" y="254305"/>
              <a:ext cx="2351960" cy="1411176"/>
            </a:xfrm>
            <a:prstGeom prst="rect">
              <a:avLst/>
            </a:prstGeom>
            <a:solidFill>
              <a:schemeClr val="accent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8"/>
            <p:cNvSpPr txBox="1"/>
            <p:nvPr/>
          </p:nvSpPr>
          <p:spPr>
            <a:xfrm>
              <a:off x="2590121" y="254305"/>
              <a:ext cx="2351960" cy="1411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Entrega rápida. </a:t>
              </a:r>
              <a:endPara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5177278" y="254305"/>
              <a:ext cx="2351960" cy="1411176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8"/>
            <p:cNvSpPr txBox="1"/>
            <p:nvPr/>
          </p:nvSpPr>
          <p:spPr>
            <a:xfrm>
              <a:off x="5177278" y="254305"/>
              <a:ext cx="2351960" cy="1411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Seguridad. </a:t>
              </a:r>
              <a:endPara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7764434" y="254305"/>
              <a:ext cx="2351960" cy="1411176"/>
            </a:xfrm>
            <a:prstGeom prst="rect">
              <a:avLst/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8"/>
            <p:cNvSpPr txBox="1"/>
            <p:nvPr/>
          </p:nvSpPr>
          <p:spPr>
            <a:xfrm>
              <a:off x="7764434" y="254305"/>
              <a:ext cx="2351960" cy="1411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Escalabilidad. </a:t>
              </a:r>
              <a:endPara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1296543" y="1900678"/>
              <a:ext cx="2351960" cy="1411176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8"/>
            <p:cNvSpPr txBox="1"/>
            <p:nvPr/>
          </p:nvSpPr>
          <p:spPr>
            <a:xfrm>
              <a:off x="1296543" y="1900678"/>
              <a:ext cx="2351960" cy="1411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Satisfacción del cliente. </a:t>
              </a:r>
              <a:endPara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3883699" y="1900678"/>
              <a:ext cx="2351960" cy="1411176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8"/>
            <p:cNvSpPr txBox="1"/>
            <p:nvPr/>
          </p:nvSpPr>
          <p:spPr>
            <a:xfrm>
              <a:off x="3883699" y="1900678"/>
              <a:ext cx="2351960" cy="1411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Mayor calidad de </a:t>
              </a:r>
              <a:r>
                <a:rPr lang="en-US" sz="2800" b="0" i="1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software</a:t>
              </a:r>
              <a:r>
                <a:rPr lang="en-U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endPara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6470856" y="1900678"/>
              <a:ext cx="2351960" cy="1411176"/>
            </a:xfrm>
            <a:prstGeom prst="rect">
              <a:avLst/>
            </a:prstGeom>
            <a:solidFill>
              <a:schemeClr val="accent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8"/>
            <p:cNvSpPr txBox="1"/>
            <p:nvPr/>
          </p:nvSpPr>
          <p:spPr>
            <a:xfrm>
              <a:off x="6470856" y="1900678"/>
              <a:ext cx="2351960" cy="1411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Estabilidad del </a:t>
              </a:r>
              <a:r>
                <a:rPr lang="en-US" sz="2800" b="0" i="1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software</a:t>
              </a:r>
              <a:r>
                <a:rPr lang="en-U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endPara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Conceptos de CICD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92" name="Google Shape;192;p9"/>
          <p:cNvSpPr/>
          <p:nvPr/>
        </p:nvSpPr>
        <p:spPr>
          <a:xfrm rot="-1790889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 txBox="1">
            <a:spLocks noGrp="1"/>
          </p:cNvSpPr>
          <p:nvPr>
            <p:ph type="body" idx="1"/>
          </p:nvPr>
        </p:nvSpPr>
        <p:spPr>
          <a:xfrm>
            <a:off x="5370153" y="1526033"/>
            <a:ext cx="5536397" cy="393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CI (Integración Continua) y CD (Entrega Continua) son dos conceptos que se han unificado en un solo término (CI/CD), y que tienen en común automatizar procesos repetitivos para evitar gastos operacionales, y entre otros temas, con el objetivo de agilizar los procesos de desarrollo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2769476" y="220196"/>
            <a:ext cx="9422524" cy="6637806"/>
          </a:xfrm>
          <a:custGeom>
            <a:avLst/>
            <a:gdLst/>
            <a:ahLst/>
            <a:cxnLst/>
            <a:rect l="l" t="t" r="r" b="b"/>
            <a:pathLst>
              <a:path w="8191500" h="5770597" extrusionOk="0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 rot="-3079828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 txBox="1"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CI</a:t>
            </a:r>
            <a:endParaRPr/>
          </a:p>
        </p:txBody>
      </p:sp>
      <p:sp>
        <p:nvSpPr>
          <p:cNvPr id="205" name="Google Shape;205;p10"/>
          <p:cNvSpPr txBox="1"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Integración Continua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/>
          <p:nvPr/>
        </p:nvSpPr>
        <p:spPr>
          <a:xfrm>
            <a:off x="0" y="-1"/>
            <a:ext cx="12191695" cy="6852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 txBox="1"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dk2"/>
                </a:solidFill>
              </a:rPr>
              <a:t>CD</a:t>
            </a:r>
            <a:endParaRPr/>
          </a:p>
        </p:txBody>
      </p:sp>
      <p:sp>
        <p:nvSpPr>
          <p:cNvPr id="213" name="Google Shape;213;p11"/>
          <p:cNvSpPr txBox="1"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 sz="2000" b="1">
                <a:solidFill>
                  <a:schemeClr val="dk2"/>
                </a:solidFill>
              </a:rPr>
              <a:t>Entrega Continua</a:t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214" name="Google Shape;214;p11" descr="En ejecució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 extrusionOk="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15" name="Google Shape;215;p11"/>
          <p:cNvGrpSpPr/>
          <p:nvPr/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16" name="Google Shape;216;p11"/>
            <p:cNvSpPr/>
            <p:nvPr/>
          </p:nvSpPr>
          <p:spPr>
            <a:xfrm flipH="1">
              <a:off x="305" y="34854"/>
              <a:ext cx="6028697" cy="6817170"/>
            </a:xfrm>
            <a:custGeom>
              <a:avLst/>
              <a:gdLst/>
              <a:ahLst/>
              <a:cxnLst/>
              <a:rect l="l" t="t" r="r" b="b"/>
              <a:pathLst>
                <a:path w="6028697" h="6817170" extrusionOk="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019"/>
                  </a:srgbClr>
                </a:gs>
                <a:gs pos="2000">
                  <a:srgbClr val="FFFFFF">
                    <a:alpha val="9019"/>
                  </a:srgbClr>
                </a:gs>
                <a:gs pos="16000">
                  <a:srgbClr val="70AD47">
                    <a:alpha val="9019"/>
                  </a:srgbClr>
                </a:gs>
                <a:gs pos="85000">
                  <a:srgbClr val="4472C4">
                    <a:alpha val="9019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1"/>
            <p:cNvSpPr/>
            <p:nvPr/>
          </p:nvSpPr>
          <p:spPr>
            <a:xfrm flipH="1">
              <a:off x="305" y="1"/>
              <a:ext cx="6165116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019"/>
                  </a:srgbClr>
                </a:gs>
                <a:gs pos="2000">
                  <a:srgbClr val="FFFFFF">
                    <a:alpha val="9019"/>
                  </a:srgbClr>
                </a:gs>
                <a:gs pos="16000">
                  <a:srgbClr val="70AD47">
                    <a:alpha val="9019"/>
                  </a:srgbClr>
                </a:gs>
                <a:gs pos="85000">
                  <a:srgbClr val="4472C4">
                    <a:alpha val="9019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1"/>
            <p:cNvSpPr/>
            <p:nvPr/>
          </p:nvSpPr>
          <p:spPr>
            <a:xfrm flipH="1">
              <a:off x="305" y="-5977"/>
              <a:ext cx="6238675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019"/>
                  </a:srgbClr>
                </a:gs>
                <a:gs pos="2000">
                  <a:srgbClr val="FFFFFF">
                    <a:alpha val="9019"/>
                  </a:srgbClr>
                </a:gs>
                <a:gs pos="16000">
                  <a:srgbClr val="70AD47">
                    <a:alpha val="9019"/>
                  </a:srgbClr>
                </a:gs>
                <a:gs pos="85000">
                  <a:srgbClr val="4472C4">
                    <a:alpha val="9019"/>
                  </a:srgbClr>
                </a:gs>
                <a:gs pos="100000">
                  <a:srgbClr val="FFFFFF">
                    <a:alpha val="9019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041532-2273-7BD0-5249-3F241F222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s-GT" sz="4000" dirty="0">
                <a:solidFill>
                  <a:srgbClr val="FFFFFF"/>
                </a:solidFill>
              </a:rPr>
              <a:t>Diferencias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500BC6-6F84-03B3-8F63-259054727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anchor="ctr">
            <a:normAutofit/>
          </a:bodyPr>
          <a:lstStyle/>
          <a:p>
            <a:pPr algn="l"/>
            <a:r>
              <a:rPr lang="es-GT" sz="2000" dirty="0">
                <a:solidFill>
                  <a:srgbClr val="FFFFFF"/>
                </a:solidFill>
              </a:rPr>
              <a:t>CI/CD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3B44A51-8D75-23F0-7996-667BF0280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165728"/>
              </p:ext>
            </p:extLst>
          </p:nvPr>
        </p:nvGraphicFramePr>
        <p:xfrm>
          <a:off x="432225" y="2180038"/>
          <a:ext cx="11327550" cy="4024671"/>
        </p:xfrm>
        <a:graphic>
          <a:graphicData uri="http://schemas.openxmlformats.org/drawingml/2006/table">
            <a:tbl>
              <a:tblPr/>
              <a:tblGrid>
                <a:gridCol w="3771313">
                  <a:extLst>
                    <a:ext uri="{9D8B030D-6E8A-4147-A177-3AD203B41FA5}">
                      <a16:colId xmlns:a16="http://schemas.microsoft.com/office/drawing/2014/main" val="3303131654"/>
                    </a:ext>
                  </a:extLst>
                </a:gridCol>
                <a:gridCol w="3735015">
                  <a:extLst>
                    <a:ext uri="{9D8B030D-6E8A-4147-A177-3AD203B41FA5}">
                      <a16:colId xmlns:a16="http://schemas.microsoft.com/office/drawing/2014/main" val="1352061100"/>
                    </a:ext>
                  </a:extLst>
                </a:gridCol>
                <a:gridCol w="3821222">
                  <a:extLst>
                    <a:ext uri="{9D8B030D-6E8A-4147-A177-3AD203B41FA5}">
                      <a16:colId xmlns:a16="http://schemas.microsoft.com/office/drawing/2014/main" val="2843707856"/>
                    </a:ext>
                  </a:extLst>
                </a:gridCol>
              </a:tblGrid>
              <a:tr h="574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Característica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Continuous Integration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Continuous Delivery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819034"/>
                  </a:ext>
                </a:extLst>
              </a:tr>
              <a:tr h="574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En qué se enfoca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Integrar código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Preparar despliegue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780799"/>
                  </a:ext>
                </a:extLst>
              </a:tr>
              <a:tr h="574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Ejecuta builds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✅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✅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822308"/>
                  </a:ext>
                </a:extLst>
              </a:tr>
              <a:tr h="574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Ejecuta tests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✅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✅ más completos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258976"/>
                  </a:ext>
                </a:extLst>
              </a:tr>
              <a:tr h="574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Genera artefactos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⚠️ No siempre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✅ Sí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419306"/>
                  </a:ext>
                </a:extLst>
              </a:tr>
              <a:tr h="574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Listo para producción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❌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✅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860574"/>
                  </a:ext>
                </a:extLst>
              </a:tr>
              <a:tr h="574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Despliegue automático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❌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000"/>
                        <a:t>❌ (puede ser manual)</a:t>
                      </a:r>
                    </a:p>
                  </a:txBody>
                  <a:tcPr marL="130671" marR="130671" marT="65336" marB="6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004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040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 txBox="1"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6000"/>
              <a:t>Cultura DevOps y sus implicaciones</a:t>
            </a:r>
            <a:endParaRPr sz="6000"/>
          </a:p>
        </p:txBody>
      </p:sp>
      <p:sp>
        <p:nvSpPr>
          <p:cNvPr id="225" name="Google Shape;225;p12"/>
          <p:cNvSpPr/>
          <p:nvPr/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 rot="10800000" flipH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 txBox="1">
            <a:spLocks noGrp="1"/>
          </p:cNvSpPr>
          <p:nvPr>
            <p:ph type="body" idx="1"/>
          </p:nvPr>
        </p:nvSpPr>
        <p:spPr>
          <a:xfrm>
            <a:off x="841248" y="3337269"/>
            <a:ext cx="10509504" cy="2905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Al adoptar esta cultura, se debe considerar: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Ciclos de Despliegue cortos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Rendir cuentas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Visibilidad, colaboración y alineación.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Mentalidad de crecer.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 txBox="1"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Ruta de aprendizaje DevOps</a:t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643278" y="4409267"/>
            <a:ext cx="3255095" cy="18288"/>
          </a:xfrm>
          <a:custGeom>
            <a:avLst/>
            <a:gdLst/>
            <a:ahLst/>
            <a:cxnLst/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13" descr="Imag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889812" y="74731"/>
            <a:ext cx="4715435" cy="664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 txBox="1">
            <a:spLocks noGrp="1"/>
          </p:cNvSpPr>
          <p:nvPr>
            <p:ph type="title"/>
          </p:nvPr>
        </p:nvSpPr>
        <p:spPr>
          <a:xfrm>
            <a:off x="731520" y="1170432"/>
            <a:ext cx="10533888" cy="273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Calibri"/>
              <a:buNone/>
            </a:pPr>
            <a:r>
              <a:rPr lang="en-US" sz="8000" b="1" dirty="0" err="1">
                <a:solidFill>
                  <a:schemeClr val="dk2"/>
                </a:solidFill>
              </a:rPr>
              <a:t>Herramientas</a:t>
            </a:r>
            <a:r>
              <a:rPr lang="en-US" sz="8000" b="1" dirty="0">
                <a:solidFill>
                  <a:schemeClr val="dk2"/>
                </a:solidFill>
              </a:rPr>
              <a:t> DevOps </a:t>
            </a:r>
            <a:endParaRPr sz="8000" dirty="0">
              <a:solidFill>
                <a:schemeClr val="dk2"/>
              </a:solidFill>
            </a:endParaRPr>
          </a:p>
        </p:txBody>
      </p:sp>
      <p:cxnSp>
        <p:nvCxnSpPr>
          <p:cNvPr id="243" name="Google Shape;243;p14"/>
          <p:cNvCxnSpPr/>
          <p:nvPr/>
        </p:nvCxnSpPr>
        <p:spPr>
          <a:xfrm flipH="1">
            <a:off x="732568" y="246028"/>
            <a:ext cx="255495" cy="546559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p14"/>
          <p:cNvSpPr txBox="1">
            <a:spLocks noGrp="1"/>
          </p:cNvSpPr>
          <p:nvPr>
            <p:ph type="body" idx="1"/>
          </p:nvPr>
        </p:nvSpPr>
        <p:spPr>
          <a:xfrm>
            <a:off x="731520" y="4069080"/>
            <a:ext cx="10515600" cy="204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chemeClr val="dk2"/>
              </a:solidFill>
            </a:endParaRPr>
          </a:p>
        </p:txBody>
      </p:sp>
      <p:cxnSp>
        <p:nvCxnSpPr>
          <p:cNvPr id="245" name="Google Shape;245;p14"/>
          <p:cNvCxnSpPr/>
          <p:nvPr/>
        </p:nvCxnSpPr>
        <p:spPr>
          <a:xfrm rot="10800000">
            <a:off x="840441" y="6522756"/>
            <a:ext cx="10717187" cy="0"/>
          </a:xfrm>
          <a:prstGeom prst="straightConnector1">
            <a:avLst/>
          </a:prstGeom>
          <a:noFill/>
          <a:ln w="12700" cap="sq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46" name="Google Shape;246;p14"/>
          <p:cNvGrpSpPr/>
          <p:nvPr/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247" name="Google Shape;247;p14"/>
            <p:cNvCxnSpPr/>
            <p:nvPr/>
          </p:nvCxnSpPr>
          <p:spPr>
            <a:xfrm>
              <a:off x="4258564" y="933450"/>
              <a:ext cx="0" cy="341938"/>
            </a:xfrm>
            <a:prstGeom prst="straightConnector1">
              <a:avLst/>
            </a:prstGeom>
            <a:noFill/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8" name="Google Shape;248;p14"/>
            <p:cNvCxnSpPr/>
            <p:nvPr/>
          </p:nvCxnSpPr>
          <p:spPr>
            <a:xfrm>
              <a:off x="4089400" y="1104419"/>
              <a:ext cx="338328" cy="0"/>
            </a:xfrm>
            <a:prstGeom prst="straightConnector1">
              <a:avLst/>
            </a:prstGeom>
            <a:noFill/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666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ap="flat" cmpd="thinThick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planificación </a:t>
            </a:r>
            <a:endParaRPr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15" descr="Trello vs. Jira: Which is right for you? | Zapier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1630256"/>
            <a:ext cx="7188199" cy="3594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D6C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ap="flat" cmpd="thinThick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de versiones </a:t>
            </a:r>
            <a:endParaRPr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16" descr="Git Storage: Comparing GitHub, GitLab, and Bitbucket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1028244"/>
            <a:ext cx="7188199" cy="4798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5475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ap="flat" cmpd="thinThick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automatización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17" descr="Docker Logo - símbolo, significado logotipo, historia, 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1405624"/>
            <a:ext cx="7188199" cy="4043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948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ap="flat" cmpd="thinThick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Pipelines (CI/CD)</a:t>
            </a:r>
            <a:endParaRPr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18" descr="Modern CI/CD with Jenkins 2 and GitLab CI [Comparison] - inovex GmbH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2061547"/>
            <a:ext cx="7188199" cy="2731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9560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ap="flat" cmpd="thinThick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Monitorización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19" descr="Prometheus Grafana Dashboard | Examples + How To | OpenLogic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993195" y="821184"/>
            <a:ext cx="3565369" cy="2379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9" descr="Buoyant's Linkerd 2.13 service mesh release debuts free, automated health  checks and more - SiliconANGL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6378" y="3874364"/>
            <a:ext cx="4324904" cy="2162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"/>
          <p:cNvSpPr/>
          <p:nvPr/>
        </p:nvSpPr>
        <p:spPr>
          <a:xfrm>
            <a:off x="-1191491" y="-71120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ap="flat" cmpd="thinThick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pruebas </a:t>
            </a:r>
            <a:endParaRPr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20" descr="Jasmine vs. Mocha | Marco Franssen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709376" y="1486346"/>
            <a:ext cx="3590968" cy="1942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0" descr="Selenium WebDriver Tutorial - Get Started With Selenium | Edurek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8959" y="3630968"/>
            <a:ext cx="4165050" cy="1586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AD03875-44FF-00AD-19C4-53C17BD5F4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0344" y="4690126"/>
            <a:ext cx="2077982" cy="155765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6108175-5956-2179-A3D9-671B6737F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s-GT">
                <a:solidFill>
                  <a:srgbClr val="FFFFFF"/>
                </a:solidFill>
              </a:rPr>
              <a:t>¿Qué es DevSecOps?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0E94142D-4185-8D45-DAEF-97B52B845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s-ES" sz="2200" b="1" err="1"/>
              <a:t>DevSecOps</a:t>
            </a:r>
            <a:r>
              <a:rPr lang="es-ES" sz="2200"/>
              <a:t> es una práctica dentro de la ingeniería de software que consiste en </a:t>
            </a:r>
            <a:r>
              <a:rPr lang="es-ES" sz="2200" b="1"/>
              <a:t>integrar la seguridad desde el inicio y durante todo el ciclo de vida del desarrollo</a:t>
            </a:r>
            <a:r>
              <a:rPr lang="es-ES" sz="2200"/>
              <a:t>, y no solo al final.</a:t>
            </a:r>
          </a:p>
          <a:p>
            <a:endParaRPr lang="es-ES" sz="2200"/>
          </a:p>
          <a:p>
            <a:r>
              <a:rPr lang="es-GT" sz="2200"/>
              <a:t>El término viene de:</a:t>
            </a:r>
          </a:p>
          <a:p>
            <a:endParaRPr lang="es-GT" sz="2200"/>
          </a:p>
          <a:p>
            <a:r>
              <a:rPr lang="es-ES" sz="2200"/>
              <a:t>Dev + </a:t>
            </a:r>
            <a:r>
              <a:rPr lang="es-ES" sz="2200" err="1"/>
              <a:t>Sec</a:t>
            </a:r>
            <a:r>
              <a:rPr lang="es-ES" sz="2200"/>
              <a:t> + </a:t>
            </a:r>
            <a:r>
              <a:rPr lang="es-ES" sz="2200" err="1"/>
              <a:t>Ops</a:t>
            </a:r>
            <a:r>
              <a:rPr lang="es-ES" sz="2200"/>
              <a:t> = Desarrollo + Seguridad + Operaciones</a:t>
            </a:r>
            <a:endParaRPr lang="es-GT" sz="2200"/>
          </a:p>
        </p:txBody>
      </p:sp>
    </p:spTree>
    <p:extLst>
      <p:ext uri="{BB962C8B-B14F-4D97-AF65-F5344CB8AC3E}">
        <p14:creationId xmlns:p14="http://schemas.microsoft.com/office/powerpoint/2010/main" val="3746626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1A2411-F702-0278-AF4C-74CCB1F77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GT">
                <a:solidFill>
                  <a:srgbClr val="FFFFFF"/>
                </a:solidFill>
              </a:rPr>
              <a:t>DevSecOps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5929D7-EF62-2E31-A7DE-76EDE7D87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s-ES" b="1" dirty="0" err="1"/>
              <a:t>DevSecOps</a:t>
            </a:r>
            <a:r>
              <a:rPr lang="es-ES" b="1" dirty="0"/>
              <a:t> es una cultura y conjunto de prácticas que busca automatizar e integrar la seguridad en cada fase del desarrollo y despliegue del software.</a:t>
            </a:r>
            <a:endParaRPr lang="es-ES" dirty="0"/>
          </a:p>
          <a:p>
            <a:r>
              <a:rPr lang="es-ES" dirty="0"/>
              <a:t>Su objetivo es </a:t>
            </a:r>
            <a:r>
              <a:rPr lang="es-ES" b="1" dirty="0"/>
              <a:t>detectar vulnerabilidades temprano, reducir riesgos y entregar software seguro de manera continua.</a:t>
            </a:r>
            <a:endParaRPr lang="es-ES" dirty="0"/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5504700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76F586-50C6-3FF8-D4F7-A649BD149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GT" dirty="0">
                <a:solidFill>
                  <a:srgbClr val="FFFFFF"/>
                </a:solidFill>
              </a:rPr>
              <a:t>¿Por qué surge </a:t>
            </a:r>
            <a:r>
              <a:rPr lang="es-GT" dirty="0" err="1">
                <a:solidFill>
                  <a:srgbClr val="FFFFFF"/>
                </a:solidFill>
              </a:rPr>
              <a:t>DevSecOps</a:t>
            </a:r>
            <a:r>
              <a:rPr lang="es-GT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735AC4-7EA3-BFAB-6A75-4AF99DF4C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s-ES" sz="2600"/>
              <a:t>Antes:</a:t>
            </a:r>
          </a:p>
          <a:p>
            <a:r>
              <a:rPr lang="es-ES" sz="2600"/>
              <a:t>Los desarrolladores creaban el sistema</a:t>
            </a:r>
          </a:p>
          <a:p>
            <a:r>
              <a:rPr lang="es-ES" sz="2600"/>
              <a:t>Luego el equipo de seguridad revisaba</a:t>
            </a:r>
          </a:p>
          <a:p>
            <a:r>
              <a:rPr lang="es-ES" sz="2600"/>
              <a:t>Si había fallos → se retrasaba el proyecto</a:t>
            </a:r>
          </a:p>
          <a:p>
            <a:r>
              <a:rPr lang="es-ES" sz="2600"/>
              <a:t>Esto generaba:</a:t>
            </a:r>
          </a:p>
          <a:p>
            <a:r>
              <a:rPr lang="es-ES" sz="2600"/>
              <a:t>❌ retrasos</a:t>
            </a:r>
            <a:br>
              <a:rPr lang="es-ES" sz="2600"/>
            </a:br>
            <a:r>
              <a:rPr lang="es-ES" sz="2600"/>
              <a:t>❌ costos altos</a:t>
            </a:r>
            <a:br>
              <a:rPr lang="es-ES" sz="2600"/>
            </a:br>
            <a:r>
              <a:rPr lang="es-ES" sz="2600"/>
              <a:t>❌ vulnerabilidades en producción</a:t>
            </a:r>
          </a:p>
          <a:p>
            <a:r>
              <a:rPr lang="es-ES" sz="2600"/>
              <a:t>Con </a:t>
            </a:r>
            <a:r>
              <a:rPr lang="es-ES" sz="2600" err="1"/>
              <a:t>DevSecOps</a:t>
            </a:r>
            <a:r>
              <a:rPr lang="es-ES" sz="2600"/>
              <a:t>:</a:t>
            </a:r>
          </a:p>
          <a:p>
            <a:r>
              <a:rPr lang="es-ES" sz="2600"/>
              <a:t>✅ La seguridad se integra desde el inicio</a:t>
            </a:r>
            <a:br>
              <a:rPr lang="es-ES" sz="2600"/>
            </a:br>
            <a:r>
              <a:rPr lang="es-ES" sz="2600"/>
              <a:t>✅ Se automatizan pruebas de seguridad</a:t>
            </a:r>
            <a:br>
              <a:rPr lang="es-ES" sz="2600"/>
            </a:br>
            <a:r>
              <a:rPr lang="es-ES" sz="2600"/>
              <a:t>✅ Se detectan fallos más rápido</a:t>
            </a:r>
          </a:p>
          <a:p>
            <a:endParaRPr lang="es-GT" sz="2600"/>
          </a:p>
        </p:txBody>
      </p:sp>
    </p:spTree>
    <p:extLst>
      <p:ext uri="{BB962C8B-B14F-4D97-AF65-F5344CB8AC3E}">
        <p14:creationId xmlns:p14="http://schemas.microsoft.com/office/powerpoint/2010/main" val="2562060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3CBA5B6-2606-2596-87FF-1F0D9E3882F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743" b="125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172D21-1C32-2C56-029C-70B24F101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GT"/>
              <a:t>Ciclo de DevSecOps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10FF97B0-47C1-EA6B-6847-DA2CFD78E0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153387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78108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2DCFCF-7142-48C7-7309-C564016B2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GT"/>
              <a:t>Herramientas comunes en DevSecOps</a:t>
            </a:r>
            <a:endParaRPr lang="es-GT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0FD40BA6-7FD7-3C3F-BD05-AC30124EE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s-GT" b="1"/>
              <a:t>SonarQube</a:t>
            </a:r>
            <a:r>
              <a:rPr lang="es-GT"/>
              <a:t> → análisis de código</a:t>
            </a:r>
          </a:p>
          <a:p>
            <a:r>
              <a:rPr lang="es-GT" b="1"/>
              <a:t>OWASP ZAP</a:t>
            </a:r>
            <a:r>
              <a:rPr lang="es-GT"/>
              <a:t> → pruebas de seguridad web</a:t>
            </a:r>
          </a:p>
          <a:p>
            <a:r>
              <a:rPr lang="es-GT" b="1" err="1"/>
              <a:t>Snyk</a:t>
            </a:r>
            <a:r>
              <a:rPr lang="es-GT"/>
              <a:t> → vulnerabilidades en dependencias</a:t>
            </a:r>
          </a:p>
          <a:p>
            <a:r>
              <a:rPr lang="es-GT" b="1" err="1"/>
              <a:t>Trivy</a:t>
            </a:r>
            <a:r>
              <a:rPr lang="es-GT"/>
              <a:t> → escaneo de contenedores</a:t>
            </a:r>
          </a:p>
          <a:p>
            <a:r>
              <a:rPr lang="es-GT" b="1" err="1"/>
              <a:t>Qodana</a:t>
            </a:r>
            <a:r>
              <a:rPr lang="es-GT"/>
              <a:t> → análisis estático moderno</a:t>
            </a:r>
          </a:p>
          <a:p>
            <a:pPr marL="114300" indent="0">
              <a:buNone/>
            </a:pPr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577722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 txBox="1"/>
          <p:nvPr/>
        </p:nvSpPr>
        <p:spPr>
          <a:xfrm>
            <a:off x="3047997" y="3450703"/>
            <a:ext cx="5772600" cy="1952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04000"/>
              </a:lnSpc>
              <a:buSzPts val="6099"/>
            </a:pPr>
            <a:r>
              <a:rPr lang="es-GT" sz="4066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lang="es-GT" sz="933" dirty="0">
              <a:latin typeface="Impact"/>
              <a:ea typeface="Impact"/>
              <a:cs typeface="Impact"/>
              <a:sym typeface="Impact"/>
            </a:endParaRPr>
          </a:p>
          <a:p>
            <a:pPr algn="just">
              <a:lnSpc>
                <a:spcPct val="104000"/>
              </a:lnSpc>
              <a:buSzPts val="6099"/>
            </a:pPr>
            <a:endParaRPr lang="es-GT" sz="4066" dirty="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176909" y="397733"/>
            <a:ext cx="1838179" cy="251398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sp>
        <p:nvSpPr>
          <p:cNvPr id="224" name="Google Shape;224;p9"/>
          <p:cNvSpPr txBox="1"/>
          <p:nvPr/>
        </p:nvSpPr>
        <p:spPr>
          <a:xfrm>
            <a:off x="1607399" y="5266490"/>
            <a:ext cx="8977203" cy="60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8000"/>
              </a:lnSpc>
              <a:buSzPts val="2000"/>
            </a:pPr>
            <a:r>
              <a:rPr lang="es-GT" sz="1333" dirty="0">
                <a:solidFill>
                  <a:srgbClr val="131416"/>
                </a:solidFill>
              </a:rPr>
              <a:t>RECUERDA QUE TENEMOS NUESTRO FORO SEMANAL DONDE PUEDES CONSULTAR CUALQUIER DUDA QUE TE SURJA EN LA SEMANA</a:t>
            </a:r>
            <a:endParaRPr lang="es-GT" sz="933" dirty="0"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694</Words>
  <Application>Microsoft Office PowerPoint</Application>
  <PresentationFormat>Panorámica</PresentationFormat>
  <Paragraphs>121</Paragraphs>
  <Slides>26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Calibri</vt:lpstr>
      <vt:lpstr>Impact</vt:lpstr>
      <vt:lpstr>Pacifico</vt:lpstr>
      <vt:lpstr>Office Theme</vt:lpstr>
      <vt:lpstr>Presentación de PowerPoint</vt:lpstr>
      <vt:lpstr>Presentación de PowerPoint</vt:lpstr>
      <vt:lpstr>Dudas Fase 2</vt:lpstr>
      <vt:lpstr>Introducción a DevOps</vt:lpstr>
      <vt:lpstr>Desarrollo Tradicional vs. DevOps</vt:lpstr>
      <vt:lpstr>Fases del ciclo DevOps</vt:lpstr>
      <vt:lpstr>Beneficios de la adopción de un entorno DevOps </vt:lpstr>
      <vt:lpstr>Conceptos de CICD</vt:lpstr>
      <vt:lpstr>CI</vt:lpstr>
      <vt:lpstr>CD</vt:lpstr>
      <vt:lpstr>Diferencias</vt:lpstr>
      <vt:lpstr>Cultura DevOps y sus implicaciones</vt:lpstr>
      <vt:lpstr>Ruta de aprendizaje DevOps</vt:lpstr>
      <vt:lpstr>Herramientas DevOps </vt:lpstr>
      <vt:lpstr>De planificación </vt:lpstr>
      <vt:lpstr>Control de versiones </vt:lpstr>
      <vt:lpstr>De automatización </vt:lpstr>
      <vt:lpstr>Pipelines (CI/CD)</vt:lpstr>
      <vt:lpstr>Monitorización </vt:lpstr>
      <vt:lpstr>De pruebas </vt:lpstr>
      <vt:lpstr>¿Qué es DevSecOps?</vt:lpstr>
      <vt:lpstr>DevSecOps</vt:lpstr>
      <vt:lpstr>¿Por qué surge DevSecOps?</vt:lpstr>
      <vt:lpstr>Ciclo de DevSecOps</vt:lpstr>
      <vt:lpstr>Herramientas comunes en DevSecOps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Kevin Pozuelos</dc:creator>
  <cp:lastModifiedBy>Kevin Pozuelos</cp:lastModifiedBy>
  <cp:revision>5</cp:revision>
  <dcterms:created xsi:type="dcterms:W3CDTF">2021-01-24T02:47:27Z</dcterms:created>
  <dcterms:modified xsi:type="dcterms:W3CDTF">2026-03-12T05:31:45Z</dcterms:modified>
</cp:coreProperties>
</file>