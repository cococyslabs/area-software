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10287000" cx="18288000"/>
  <p:notesSz cx="6858000" cy="9144000"/>
  <p:embeddedFontLst>
    <p:embeddedFont>
      <p:font typeface="Pacifico"/>
      <p:regular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hyFn6m3kNqWyCE40Nyr+PjAczC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040507-55BE-44B4-A5BE-7CAD200A112A}">
  <a:tblStyle styleId="{69040507-55BE-44B4-A5BE-7CAD200A11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Pacifico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4f262177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64f262177b_0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64f262177b_0_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4afea4f63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64afea4f63_0_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4" name="Google Shape;174;g364afea4f63_0_1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5e2d797db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85e2d797db_0_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3" name="Google Shape;183;g385e2d797db_0_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docker run -p 8080:8080 nginx - - name webContainer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docker run -p nginx - - name webContainer</a:t>
            </a:r>
            <a:endParaRPr sz="1800"/>
          </a:p>
        </p:txBody>
      </p:sp>
      <p:sp>
        <p:nvSpPr>
          <p:cNvPr id="217" name="Google Shape;21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2" name="Google Shape;352;p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64afea4f63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/>
          <p:nvPr>
            <p:ph type="title"/>
          </p:nvPr>
        </p:nvSpPr>
        <p:spPr>
          <a:xfrm>
            <a:off x="1257300" y="547687"/>
            <a:ext cx="15773400" cy="1988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85e2d797db_0_67"/>
          <p:cNvSpPr txBox="1"/>
          <p:nvPr>
            <p:ph idx="1" type="body"/>
          </p:nvPr>
        </p:nvSpPr>
        <p:spPr>
          <a:xfrm>
            <a:off x="1257300" y="2738438"/>
            <a:ext cx="15773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g385e2d797db_0_67"/>
          <p:cNvSpPr txBox="1"/>
          <p:nvPr>
            <p:ph idx="10" type="dt"/>
          </p:nvPr>
        </p:nvSpPr>
        <p:spPr>
          <a:xfrm>
            <a:off x="1257300" y="9534525"/>
            <a:ext cx="4114800" cy="5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85e2d797db_0_67"/>
          <p:cNvSpPr txBox="1"/>
          <p:nvPr>
            <p:ph idx="11" type="ftr"/>
          </p:nvPr>
        </p:nvSpPr>
        <p:spPr>
          <a:xfrm>
            <a:off x="6057900" y="9534525"/>
            <a:ext cx="6172200" cy="5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85e2d797db_0_67"/>
          <p:cNvSpPr txBox="1"/>
          <p:nvPr>
            <p:ph idx="12" type="sldNum"/>
          </p:nvPr>
        </p:nvSpPr>
        <p:spPr>
          <a:xfrm>
            <a:off x="12915900" y="9534525"/>
            <a:ext cx="4114800" cy="5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2" name="Google Shape;42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64afea4f63_0_0"/>
          <p:cNvSpPr/>
          <p:nvPr/>
        </p:nvSpPr>
        <p:spPr>
          <a:xfrm>
            <a:off x="3488868" y="5961380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Kevin Raúl Pozuelos Estrada</a:t>
            </a:r>
            <a:endParaRPr/>
          </a:p>
        </p:txBody>
      </p:sp>
      <p:sp>
        <p:nvSpPr>
          <p:cNvPr id="71" name="Google Shape;71;g364afea4f63_0_0"/>
          <p:cNvSpPr/>
          <p:nvPr/>
        </p:nvSpPr>
        <p:spPr>
          <a:xfrm>
            <a:off x="1985455" y="4674341"/>
            <a:ext cx="11716896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Software Avanzado Seccion B</a:t>
            </a:r>
            <a:endParaRPr/>
          </a:p>
        </p:txBody>
      </p:sp>
      <p:sp>
        <p:nvSpPr>
          <p:cNvPr id="72" name="Google Shape;72;g364afea4f63_0_0"/>
          <p:cNvSpPr/>
          <p:nvPr/>
        </p:nvSpPr>
        <p:spPr>
          <a:xfrm>
            <a:off x="13702351" y="1944790"/>
            <a:ext cx="4312693" cy="784761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19/02/2026</a:t>
            </a:r>
            <a:endParaRPr/>
          </a:p>
        </p:txBody>
      </p:sp>
      <p:sp>
        <p:nvSpPr>
          <p:cNvPr id="73" name="Google Shape;73;g364afea4f63_0_0"/>
          <p:cNvSpPr/>
          <p:nvPr/>
        </p:nvSpPr>
        <p:spPr>
          <a:xfrm>
            <a:off x="13702351" y="2729551"/>
            <a:ext cx="4312693" cy="784761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17:20</a:t>
            </a:r>
            <a:endParaRPr/>
          </a:p>
        </p:txBody>
      </p:sp>
      <p:pic>
        <p:nvPicPr>
          <p:cNvPr id="74" name="Google Shape;74;g364afea4f6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7663" y="3062288"/>
            <a:ext cx="2352675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/>
        </p:nvSpPr>
        <p:spPr>
          <a:xfrm>
            <a:off x="890249" y="7555025"/>
            <a:ext cx="85266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Software Avanzado</a:t>
            </a:r>
            <a:endParaRPr/>
          </a:p>
        </p:txBody>
      </p:sp>
      <p:sp>
        <p:nvSpPr>
          <p:cNvPr id="80" name="Google Shape;80;p1"/>
          <p:cNvSpPr txBox="1"/>
          <p:nvPr/>
        </p:nvSpPr>
        <p:spPr>
          <a:xfrm>
            <a:off x="2591255" y="2167474"/>
            <a:ext cx="123750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2"/>
          <p:cNvGrpSpPr/>
          <p:nvPr/>
        </p:nvGrpSpPr>
        <p:grpSpPr>
          <a:xfrm>
            <a:off x="651744" y="3875846"/>
            <a:ext cx="4613551" cy="845385"/>
            <a:chOff x="0" y="-76200"/>
            <a:chExt cx="1964221" cy="359923"/>
          </a:xfrm>
        </p:grpSpPr>
        <p:sp>
          <p:nvSpPr>
            <p:cNvPr id="88" name="Google Shape;8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Iniciales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2"/>
          <p:cNvSpPr/>
          <p:nvPr/>
        </p:nvSpPr>
        <p:spPr>
          <a:xfrm>
            <a:off x="878649" y="410685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1866984" y="2380401"/>
            <a:ext cx="4115190" cy="1556484"/>
            <a:chOff x="0" y="-76200"/>
            <a:chExt cx="1083836" cy="409938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2"/>
          <p:cNvSpPr/>
          <p:nvPr/>
        </p:nvSpPr>
        <p:spPr>
          <a:xfrm>
            <a:off x="651749" y="2796153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651749" y="490900"/>
            <a:ext cx="5994209" cy="221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25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2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1739805" y="3232617"/>
            <a:ext cx="5353646" cy="1267162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191905" y="4773334"/>
            <a:ext cx="5197165" cy="845385"/>
            <a:chOff x="0" y="-72964"/>
            <a:chExt cx="2212695" cy="359923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362774" y="-7296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Anuncios Generales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-248210" y="5764335"/>
            <a:ext cx="5053666" cy="845385"/>
            <a:chOff x="-187379" y="-68950"/>
            <a:chExt cx="2151600" cy="359923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-187379" y="-68950"/>
              <a:ext cx="2056962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Docker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218709" y="6769979"/>
            <a:ext cx="4927644" cy="845385"/>
            <a:chOff x="0" y="-23597"/>
            <a:chExt cx="2097946" cy="35992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48025" y="-23597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Docker Compose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191905" y="7760979"/>
            <a:ext cx="4613551" cy="845385"/>
            <a:chOff x="0" y="-64861"/>
            <a:chExt cx="1964221" cy="359923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104397" y="-64861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Vibe Coding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878649" y="498969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78649" y="597127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78649" y="69710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78649" y="797195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651745" y="8489227"/>
            <a:ext cx="9452371" cy="1214813"/>
            <a:chOff x="-2060129" y="0"/>
            <a:chExt cx="4024350" cy="517207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-2060129" y="15728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Finales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2"/>
          <p:cNvSpPr/>
          <p:nvPr/>
        </p:nvSpPr>
        <p:spPr>
          <a:xfrm>
            <a:off x="878649" y="900124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 amt="35000"/>
          </a:blip>
          <a:srcRect b="11967" l="0" r="-2" t="3635"/>
          <a:stretch/>
        </p:blipFill>
        <p:spPr>
          <a:xfrm>
            <a:off x="30" y="2"/>
            <a:ext cx="1828797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>
            <p:ph type="title"/>
          </p:nvPr>
        </p:nvSpPr>
        <p:spPr>
          <a:xfrm>
            <a:off x="1547445" y="1598850"/>
            <a:ext cx="6078150" cy="70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25" spcFirstLastPara="1" rIns="137125" wrap="square" tIns="6855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rPr lang="en-US"/>
              <a:t>Docker: La magia de los contenedores</a:t>
            </a:r>
            <a:endParaRPr/>
          </a:p>
        </p:txBody>
      </p:sp>
      <p:pic>
        <p:nvPicPr>
          <p:cNvPr descr="Logotipo&#10;&#10;Descripción generada automáticamente"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599" y="4108205"/>
            <a:ext cx="7315200" cy="73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9144002" y="1"/>
            <a:ext cx="9143970" cy="10286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9781100" y="4319220"/>
            <a:ext cx="8339847" cy="28355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25" lIns="137125" spcFirstLastPara="1" rIns="137125" wrap="square" tIns="13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de código abierto que permite a los desarrolladores crear, implementar, y gestionar </a:t>
            </a:r>
            <a:r>
              <a:rPr b="1" i="0" lang="en-US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contenedores.</a:t>
            </a:r>
            <a:endParaRPr b="1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8749861" y="0"/>
            <a:ext cx="9538139" cy="10287000"/>
          </a:xfrm>
          <a:prstGeom prst="rect">
            <a:avLst/>
          </a:prstGeom>
          <a:solidFill>
            <a:srgbClr val="757070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0247586" y="2060356"/>
            <a:ext cx="7330965" cy="616628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son los contenedores?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119353" y="3362756"/>
            <a:ext cx="6921060" cy="401642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Unidades ejecutables de software donde se empaqueta el código de aplicación, junto con sus bibliotecas y dependencias, de forma común para que se pueda ejecutar en cualquier lugar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-1" y="0"/>
            <a:ext cx="6981443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>
            <p:ph type="title"/>
          </p:nvPr>
        </p:nvSpPr>
        <p:spPr>
          <a:xfrm>
            <a:off x="1143001" y="839517"/>
            <a:ext cx="5351873" cy="7428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25" spcFirstLastPara="1" rIns="137125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</a:rPr>
              <a:t>Arquitectura de Docker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40" name="Google Shape;140;p7"/>
          <p:cNvCxnSpPr/>
          <p:nvPr/>
        </p:nvCxnSpPr>
        <p:spPr>
          <a:xfrm>
            <a:off x="0" y="9299595"/>
            <a:ext cx="644652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Qué es Docker y cómo funciona, introducción a Docker |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5467" y="2095829"/>
            <a:ext cx="11481272" cy="6370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-1" y="0"/>
            <a:ext cx="6981443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>
            <p:ph type="title"/>
          </p:nvPr>
        </p:nvSpPr>
        <p:spPr>
          <a:xfrm>
            <a:off x="1143001" y="839517"/>
            <a:ext cx="5351873" cy="7428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25" spcFirstLastPara="1" rIns="137125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</a:rPr>
              <a:t>Docker Image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49" name="Google Shape;149;p8"/>
          <p:cNvCxnSpPr/>
          <p:nvPr/>
        </p:nvCxnSpPr>
        <p:spPr>
          <a:xfrm>
            <a:off x="0" y="9299595"/>
            <a:ext cx="644652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0" name="Google Shape;150;p8"/>
          <p:cNvGrpSpPr/>
          <p:nvPr/>
        </p:nvGrpSpPr>
        <p:grpSpPr>
          <a:xfrm>
            <a:off x="8828690" y="828032"/>
            <a:ext cx="9317421" cy="4727595"/>
            <a:chOff x="1647825" y="9615"/>
            <a:chExt cx="6211614" cy="6046607"/>
          </a:xfrm>
        </p:grpSpPr>
        <p:sp>
          <p:nvSpPr>
            <p:cNvPr id="151" name="Google Shape;151;p8"/>
            <p:cNvSpPr txBox="1"/>
            <p:nvPr/>
          </p:nvSpPr>
          <p:spPr>
            <a:xfrm>
              <a:off x="1647825" y="656786"/>
              <a:ext cx="5750006" cy="4897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25" lIns="274225" spcFirstLastPara="1" rIns="274225" wrap="square" tIns="2742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Es una plantilla de solo lectura que define su contenedor. La imagen contiene el código que se ejecutará, incluida cualquier definición para cualquier biblioteca o dependencia que el código necesite.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5242786" y="9615"/>
              <a:ext cx="2155045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843790" y="2169117"/>
              <a:ext cx="3398996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4935703" y="2169117"/>
              <a:ext cx="2769211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 txBox="1"/>
            <p:nvPr/>
          </p:nvSpPr>
          <p:spPr>
            <a:xfrm>
              <a:off x="4061025" y="2169125"/>
              <a:ext cx="3798414" cy="1727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25" lIns="274225" spcFirstLastPara="1" rIns="274225" wrap="square" tIns="274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735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1843790" y="4328620"/>
              <a:ext cx="3398996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5242786" y="4328620"/>
              <a:ext cx="2155045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What Is a Docker Image? | Packagecloud Blo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2405" y="5555261"/>
            <a:ext cx="8192595" cy="4608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4f262177b_0_2"/>
          <p:cNvSpPr txBox="1"/>
          <p:nvPr>
            <p:ph type="title"/>
          </p:nvPr>
        </p:nvSpPr>
        <p:spPr>
          <a:xfrm>
            <a:off x="12063531" y="1513100"/>
            <a:ext cx="5598366" cy="6156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25" spcFirstLastPara="1" rIns="137125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89"/>
              <a:buNone/>
            </a:pPr>
            <a:r>
              <a:rPr lang="en-US"/>
              <a:t>¿Es un contenedor lo mismo que una imagen?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Respuesta: No</a:t>
            </a:r>
            <a:endParaRPr/>
          </a:p>
        </p:txBody>
      </p:sp>
      <p:sp>
        <p:nvSpPr>
          <p:cNvPr id="165" name="Google Shape;165;g364f262177b_0_2"/>
          <p:cNvSpPr/>
          <p:nvPr/>
        </p:nvSpPr>
        <p:spPr>
          <a:xfrm>
            <a:off x="1" y="0"/>
            <a:ext cx="11304785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64f262177b_0_2"/>
          <p:cNvSpPr/>
          <p:nvPr/>
        </p:nvSpPr>
        <p:spPr>
          <a:xfrm>
            <a:off x="939428" y="975021"/>
            <a:ext cx="5050826" cy="48990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64f262177b_0_2"/>
          <p:cNvSpPr/>
          <p:nvPr/>
        </p:nvSpPr>
        <p:spPr>
          <a:xfrm>
            <a:off x="6229419" y="975021"/>
            <a:ext cx="4148637" cy="3205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64f262177b_0_2"/>
          <p:cNvSpPr/>
          <p:nvPr/>
        </p:nvSpPr>
        <p:spPr>
          <a:xfrm>
            <a:off x="939428" y="6132323"/>
            <a:ext cx="5050826" cy="31872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64f262177b_0_2"/>
          <p:cNvSpPr/>
          <p:nvPr/>
        </p:nvSpPr>
        <p:spPr>
          <a:xfrm>
            <a:off x="6229419" y="4420577"/>
            <a:ext cx="4148637" cy="48990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g364f262177b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4815" y="3010689"/>
            <a:ext cx="7150464" cy="4265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4afea4f63_0_148"/>
          <p:cNvSpPr/>
          <p:nvPr/>
        </p:nvSpPr>
        <p:spPr>
          <a:xfrm>
            <a:off x="1" y="0"/>
            <a:ext cx="9538139" cy="10287000"/>
          </a:xfrm>
          <a:prstGeom prst="rect">
            <a:avLst/>
          </a:prstGeom>
          <a:solidFill>
            <a:srgbClr val="757070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64afea4f63_0_148"/>
          <p:cNvSpPr/>
          <p:nvPr/>
        </p:nvSpPr>
        <p:spPr>
          <a:xfrm>
            <a:off x="961694" y="986822"/>
            <a:ext cx="7614746" cy="831335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Dockerfile: la forma de definir un contenedor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ách viết Dockerfile - Khánh website" id="178" name="Google Shape;178;g364afea4f63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2617" y="6722834"/>
            <a:ext cx="1792904" cy="227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64afea4f63_0_148"/>
          <p:cNvSpPr txBox="1"/>
          <p:nvPr/>
        </p:nvSpPr>
        <p:spPr>
          <a:xfrm>
            <a:off x="10499832" y="1272723"/>
            <a:ext cx="6564156" cy="844840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Archivo de texto que contiene las instrucciones necesarias para crear una nueva imagen del contenedor.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Estas instrucciones incluyen la identificación de una imagen existente que se usará como base, los comandos que se ejecutarán durante el proceso de creación de la imagen y un comando que se ejecutará cuando se implementen instancias nuevas de la imagen del contenedor.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5e2d797db_0_12"/>
          <p:cNvSpPr/>
          <p:nvPr/>
        </p:nvSpPr>
        <p:spPr>
          <a:xfrm>
            <a:off x="8749861" y="0"/>
            <a:ext cx="9538139" cy="10287000"/>
          </a:xfrm>
          <a:prstGeom prst="rect">
            <a:avLst/>
          </a:prstGeom>
          <a:solidFill>
            <a:srgbClr val="757070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85e2d797db_0_12"/>
          <p:cNvSpPr/>
          <p:nvPr/>
        </p:nvSpPr>
        <p:spPr>
          <a:xfrm>
            <a:off x="10247586" y="2060356"/>
            <a:ext cx="7330965" cy="616628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Dockerfile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85e2d797db_0_12"/>
          <p:cNvSpPr txBox="1"/>
          <p:nvPr/>
        </p:nvSpPr>
        <p:spPr>
          <a:xfrm>
            <a:off x="1119353" y="3362756"/>
            <a:ext cx="6921060" cy="401642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Unidades ejecutables de software donde se empaqueta el código de aplicación, junto con sus bibliotecas y dependencias, de forma común para que se pueda ejecutar en cualquier lugar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85e2d797db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655" y="3101857"/>
            <a:ext cx="8448590" cy="4277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2036099" y="1503956"/>
            <a:ext cx="5598366" cy="6156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25" spcFirstLastPara="1" rIns="137125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dk1"/>
                </a:solidFill>
              </a:rPr>
              <a:t>Flujo de un contenedor de docker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1" y="0"/>
            <a:ext cx="11304785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939428" y="975021"/>
            <a:ext cx="5050826" cy="48990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6229419" y="975021"/>
            <a:ext cx="4148637" cy="3205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939428" y="6132323"/>
            <a:ext cx="5050826" cy="31872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6229419" y="4420577"/>
            <a:ext cx="4148637" cy="48990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s 10 Instrucciones Imprescindibles para Crear un Dockerfile | by Juan  Pujol | Medium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9165" y="3353990"/>
            <a:ext cx="11333949" cy="3780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-1" y="0"/>
            <a:ext cx="6981443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 txBox="1"/>
          <p:nvPr>
            <p:ph type="title"/>
          </p:nvPr>
        </p:nvSpPr>
        <p:spPr>
          <a:xfrm>
            <a:off x="1143001" y="839517"/>
            <a:ext cx="5351873" cy="7428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25" spcFirstLastPara="1" rIns="137125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</a:rPr>
              <a:t>Como desplegar un contenedor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08" name="Google Shape;208;p23"/>
          <p:cNvCxnSpPr/>
          <p:nvPr/>
        </p:nvCxnSpPr>
        <p:spPr>
          <a:xfrm>
            <a:off x="0" y="9299595"/>
            <a:ext cx="644652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09" name="Google Shape;209;p23"/>
          <p:cNvGrpSpPr/>
          <p:nvPr/>
        </p:nvGrpSpPr>
        <p:grpSpPr>
          <a:xfrm>
            <a:off x="9122637" y="2516457"/>
            <a:ext cx="8791686" cy="3039168"/>
            <a:chOff x="1843790" y="2169117"/>
            <a:chExt cx="5861124" cy="3887105"/>
          </a:xfrm>
        </p:grpSpPr>
        <p:sp>
          <p:nvSpPr>
            <p:cNvPr id="210" name="Google Shape;210;p23"/>
            <p:cNvSpPr/>
            <p:nvPr/>
          </p:nvSpPr>
          <p:spPr>
            <a:xfrm>
              <a:off x="1843790" y="2169117"/>
              <a:ext cx="3398996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4935703" y="2169117"/>
              <a:ext cx="2769211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1843790" y="4328620"/>
              <a:ext cx="3398996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5242786" y="4328620"/>
              <a:ext cx="2155045" cy="172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14" name="Google Shape;214;p23"/>
          <p:cNvGraphicFramePr/>
          <p:nvPr/>
        </p:nvGraphicFramePr>
        <p:xfrm>
          <a:off x="7173311" y="1689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{69040507-55BE-44B4-A5BE-7CAD200A112A}</a:tableStyleId>
              </a:tblPr>
              <a:tblGrid>
                <a:gridCol w="5483475"/>
                <a:gridCol w="5413050"/>
              </a:tblGrid>
              <a:tr h="74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Comando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0" marB="142875" marR="285750" marL="2857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Explicación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0" marB="142875" marR="285750" marL="285750" anchor="ctr"/>
                </a:tc>
              </a:tr>
              <a:tr h="106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docker build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Construye una imagen a partir de un Dockerfile en el directorio actual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</a:tr>
              <a:tr h="106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docker build https://github.com/docker</a:t>
                      </a:r>
                      <a:b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/rootfs.git#contenedor:docker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Construye una imagen desde un repositorio GIT remoto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</a:tr>
              <a:tr h="106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docker build -t imagename/tag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Construye y etiqueta una imagen para facilitar su seguimiento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</a:tr>
              <a:tr h="106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docker build https://yourserver/file.tar.gz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 una imagen a partir de un archivo tar remoto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</a:tr>
              <a:tr h="138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docker build -t imagen:1.0-&lt;&lt;EOFFROM busyboxRUN echo «hola mundo «EOF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Construye una imagen mediante un archivo Dockerfile que se pasa a través de STDIN</a:t>
                      </a:r>
                      <a:endParaRPr sz="2100" u="none" cap="none" strike="noStrike"/>
                    </a:p>
                  </a:txBody>
                  <a:tcPr marT="285750" marB="142875" marR="285750" marL="285750" anchor="ctr"/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53" y="-1"/>
            <a:ext cx="15797894" cy="10580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12063531" y="1513100"/>
            <a:ext cx="5598366" cy="6156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25" spcFirstLastPara="1" rIns="137125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dk1"/>
                </a:solidFill>
              </a:rPr>
              <a:t>Ciclo de vida de un contenedor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1" y="0"/>
            <a:ext cx="11304785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939428" y="975021"/>
            <a:ext cx="5050826" cy="48990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6229419" y="975021"/>
            <a:ext cx="4148637" cy="3205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939428" y="6132323"/>
            <a:ext cx="5050826" cy="31872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6229419" y="4420577"/>
            <a:ext cx="4148637" cy="48990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319" y="967391"/>
            <a:ext cx="10001250" cy="805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/>
          <p:nvPr/>
        </p:nvSpPr>
        <p:spPr>
          <a:xfrm>
            <a:off x="15" y="0"/>
            <a:ext cx="6981427" cy="1028700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 txBox="1"/>
          <p:nvPr>
            <p:ph type="title"/>
          </p:nvPr>
        </p:nvSpPr>
        <p:spPr>
          <a:xfrm>
            <a:off x="1735276" y="956644"/>
            <a:ext cx="4365077" cy="836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7200">
                <a:solidFill>
                  <a:schemeClr val="lt1"/>
                </a:solidFill>
              </a:rPr>
              <a:t>¿Qué es Docker Compose?</a:t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6993177" y="0"/>
            <a:ext cx="11294808" cy="102870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de la pantalla de un celular&#10;&#10;El contenido generado por IA puede ser incorrecto."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9964" y="1899418"/>
            <a:ext cx="8389227" cy="250511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/>
          <p:nvPr/>
        </p:nvSpPr>
        <p:spPr>
          <a:xfrm>
            <a:off x="8159964" y="6009181"/>
            <a:ext cx="685800" cy="685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 txBox="1"/>
          <p:nvPr>
            <p:ph idx="1" type="body"/>
          </p:nvPr>
        </p:nvSpPr>
        <p:spPr>
          <a:xfrm>
            <a:off x="8159947" y="6319063"/>
            <a:ext cx="8408085" cy="3002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685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1" lang="en-US" sz="2700"/>
              <a:t>Docker Compose</a:t>
            </a:r>
            <a:r>
              <a:rPr lang="en-US" sz="2700"/>
              <a:t> es una herramienta que permite </a:t>
            </a:r>
            <a:r>
              <a:rPr b="1" lang="en-US" sz="2700"/>
              <a:t>definir y ejecutar aplicaciones multicontenedor</a:t>
            </a:r>
            <a:r>
              <a:rPr lang="en-US" sz="2700"/>
              <a:t> usando un solo archivo YAML (docker-compose.yml).</a:t>
            </a:r>
            <a:endParaRPr/>
          </a:p>
          <a:p>
            <a:pPr indent="-400050" lvl="0" marL="685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7"/>
          <p:cNvSpPr/>
          <p:nvPr/>
        </p:nvSpPr>
        <p:spPr>
          <a:xfrm flipH="1" rot="5400000">
            <a:off x="-2126309" y="2126307"/>
            <a:ext cx="10313727" cy="6061116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/>
          <p:cNvSpPr/>
          <p:nvPr/>
        </p:nvSpPr>
        <p:spPr>
          <a:xfrm rot="-5400000">
            <a:off x="-237743" y="3990710"/>
            <a:ext cx="6533391" cy="6057905"/>
          </a:xfrm>
          <a:prstGeom prst="rect">
            <a:avLst/>
          </a:prstGeom>
          <a:gradFill>
            <a:gsLst>
              <a:gs pos="0">
                <a:srgbClr val="4F81BD">
                  <a:alpha val="50196"/>
                </a:srgbClr>
              </a:gs>
              <a:gs pos="100000">
                <a:srgbClr val="24406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/>
          <p:nvPr/>
        </p:nvSpPr>
        <p:spPr>
          <a:xfrm flipH="1" rot="-5400000">
            <a:off x="-1771323" y="2457128"/>
            <a:ext cx="10286358" cy="5372102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F81BD">
                  <a:alpha val="0"/>
                </a:srgbClr>
              </a:gs>
              <a:gs pos="100000">
                <a:srgbClr val="4F81BD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/>
          <p:nvPr/>
        </p:nvSpPr>
        <p:spPr>
          <a:xfrm rot="6097846">
            <a:off x="-1121033" y="1801968"/>
            <a:ext cx="7212453" cy="6132999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93B3D7">
                  <a:alpha val="0"/>
                </a:srgbClr>
              </a:gs>
              <a:gs pos="39000">
                <a:srgbClr val="93B3D7">
                  <a:alpha val="0"/>
                </a:srgbClr>
              </a:gs>
              <a:gs pos="100000">
                <a:srgbClr val="366092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 txBox="1"/>
          <p:nvPr>
            <p:ph type="title"/>
          </p:nvPr>
        </p:nvSpPr>
        <p:spPr>
          <a:xfrm>
            <a:off x="990061" y="4150659"/>
            <a:ext cx="4321242" cy="4607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ideal para</a:t>
            </a:r>
            <a:endParaRPr/>
          </a:p>
        </p:txBody>
      </p:sp>
      <p:grpSp>
        <p:nvGrpSpPr>
          <p:cNvPr id="252" name="Google Shape;252;p27"/>
          <p:cNvGrpSpPr/>
          <p:nvPr/>
        </p:nvGrpSpPr>
        <p:grpSpPr>
          <a:xfrm>
            <a:off x="8267264" y="1125660"/>
            <a:ext cx="8180880" cy="8180880"/>
            <a:chOff x="909685" y="0"/>
            <a:chExt cx="8180880" cy="8180880"/>
          </a:xfrm>
        </p:grpSpPr>
        <p:sp>
          <p:nvSpPr>
            <p:cNvPr id="253" name="Google Shape;253;p27"/>
            <p:cNvSpPr/>
            <p:nvPr/>
          </p:nvSpPr>
          <p:spPr>
            <a:xfrm>
              <a:off x="909685" y="0"/>
              <a:ext cx="8180880" cy="8180880"/>
            </a:xfrm>
            <a:prstGeom prst="diamond">
              <a:avLst/>
            </a:prstGeom>
            <a:solidFill>
              <a:srgbClr val="CDE1E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1686868" y="777183"/>
              <a:ext cx="3190543" cy="319054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 txBox="1"/>
            <p:nvPr/>
          </p:nvSpPr>
          <p:spPr>
            <a:xfrm>
              <a:off x="1842617" y="932932"/>
              <a:ext cx="2879045" cy="2879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Aplicaciones con </a:t>
              </a:r>
              <a:r>
                <a:rPr b="1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backend + frontend + base de datos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5122838" y="777183"/>
              <a:ext cx="3190543" cy="319054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1EB66"/>
                </a:gs>
                <a:gs pos="100000">
                  <a:srgbClr val="86FFA2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7"/>
            <p:cNvSpPr txBox="1"/>
            <p:nvPr/>
          </p:nvSpPr>
          <p:spPr>
            <a:xfrm>
              <a:off x="5278587" y="932932"/>
              <a:ext cx="2879045" cy="2879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Microservicios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1686868" y="4213153"/>
              <a:ext cx="3190543" cy="319054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1FF2C"/>
                </a:gs>
                <a:gs pos="100000">
                  <a:srgbClr val="DCFF7E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7"/>
            <p:cNvSpPr txBox="1"/>
            <p:nvPr/>
          </p:nvSpPr>
          <p:spPr>
            <a:xfrm>
              <a:off x="1842617" y="4368902"/>
              <a:ext cx="2879045" cy="2879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Entornos de desarrollo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5122838" y="4213153"/>
              <a:ext cx="3190543" cy="319054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9129"/>
                </a:gs>
                <a:gs pos="100000">
                  <a:srgbClr val="FFB673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 txBox="1"/>
            <p:nvPr/>
          </p:nvSpPr>
          <p:spPr>
            <a:xfrm>
              <a:off x="5278587" y="4368902"/>
              <a:ext cx="2879045" cy="2879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Pruebas locales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8"/>
          <p:cNvPicPr preferRelativeResize="0"/>
          <p:nvPr/>
        </p:nvPicPr>
        <p:blipFill rotWithShape="1">
          <a:blip r:embed="rId3">
            <a:alphaModFix/>
          </a:blip>
          <a:srcRect b="15730" l="0" r="0" t="0"/>
          <a:stretch/>
        </p:blipFill>
        <p:spPr>
          <a:xfrm>
            <a:off x="30" y="35624"/>
            <a:ext cx="18287970" cy="1028698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¿Por qué usar Docker Compose?</a:t>
            </a: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131268" y="2740205"/>
            <a:ext cx="14025463" cy="6523471"/>
            <a:chOff x="873968" y="1767"/>
            <a:chExt cx="14025463" cy="6523471"/>
          </a:xfrm>
        </p:grpSpPr>
        <p:sp>
          <p:nvSpPr>
            <p:cNvPr id="269" name="Google Shape;269;p28"/>
            <p:cNvSpPr/>
            <p:nvPr/>
          </p:nvSpPr>
          <p:spPr>
            <a:xfrm>
              <a:off x="873968" y="1767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8"/>
            <p:cNvSpPr txBox="1"/>
            <p:nvPr/>
          </p:nvSpPr>
          <p:spPr>
            <a:xfrm>
              <a:off x="873968" y="1767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Problema sin Compose: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4461877" y="1767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8"/>
            <p:cNvSpPr txBox="1"/>
            <p:nvPr/>
          </p:nvSpPr>
          <p:spPr>
            <a:xfrm>
              <a:off x="4461877" y="1767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 tienes: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8"/>
            <p:cNvSpPr/>
            <p:nvPr/>
          </p:nvSpPr>
          <p:spPr>
            <a:xfrm>
              <a:off x="8049786" y="1767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8"/>
            <p:cNvSpPr txBox="1"/>
            <p:nvPr/>
          </p:nvSpPr>
          <p:spPr>
            <a:xfrm>
              <a:off x="8049786" y="1767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API en Node.js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11637696" y="1767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8"/>
            <p:cNvSpPr txBox="1"/>
            <p:nvPr/>
          </p:nvSpPr>
          <p:spPr>
            <a:xfrm>
              <a:off x="11637696" y="1767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Base de datos PostgreSQL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873968" y="2284982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8"/>
            <p:cNvSpPr txBox="1"/>
            <p:nvPr/>
          </p:nvSpPr>
          <p:spPr>
            <a:xfrm>
              <a:off x="873968" y="2284982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Redis para caché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4461877" y="2284982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8"/>
            <p:cNvSpPr txBox="1"/>
            <p:nvPr/>
          </p:nvSpPr>
          <p:spPr>
            <a:xfrm>
              <a:off x="4461877" y="2284982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Tendrías que ejecutar 3 comandos largos y configurarlos manualmente.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8049786" y="2284982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 txBox="1"/>
            <p:nvPr/>
          </p:nvSpPr>
          <p:spPr>
            <a:xfrm>
              <a:off x="8049786" y="2284982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Solución con Compose: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11637696" y="2284982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 txBox="1"/>
            <p:nvPr/>
          </p:nvSpPr>
          <p:spPr>
            <a:xfrm>
              <a:off x="11637696" y="2284982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Defines todo en un archivo y levantas todo con un solo comando.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6255832" y="4568197"/>
              <a:ext cx="3261735" cy="1957041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 txBox="1"/>
            <p:nvPr/>
          </p:nvSpPr>
          <p:spPr>
            <a:xfrm>
              <a:off x="6255832" y="4568197"/>
              <a:ext cx="3261735" cy="1957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✔ Automatiza configuración</a:t>
              </a:r>
              <a:b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✔ Evita errores manuales</a:t>
              </a:r>
              <a:b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✔ Facilita trabajo en equipo</a:t>
              </a:r>
              <a:b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✔ Permite entornos reproducibles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9"/>
          <p:cNvSpPr/>
          <p:nvPr/>
        </p:nvSpPr>
        <p:spPr>
          <a:xfrm flipH="1" rot="5400000">
            <a:off x="-2126309" y="2126307"/>
            <a:ext cx="10313727" cy="6061116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9"/>
          <p:cNvSpPr/>
          <p:nvPr/>
        </p:nvSpPr>
        <p:spPr>
          <a:xfrm rot="-5400000">
            <a:off x="-237743" y="3990710"/>
            <a:ext cx="6533391" cy="6057905"/>
          </a:xfrm>
          <a:prstGeom prst="rect">
            <a:avLst/>
          </a:prstGeom>
          <a:gradFill>
            <a:gsLst>
              <a:gs pos="0">
                <a:srgbClr val="4F81BD">
                  <a:alpha val="50196"/>
                </a:srgbClr>
              </a:gs>
              <a:gs pos="100000">
                <a:srgbClr val="24406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9"/>
          <p:cNvSpPr/>
          <p:nvPr/>
        </p:nvSpPr>
        <p:spPr>
          <a:xfrm flipH="1" rot="-5400000">
            <a:off x="-1771323" y="2457128"/>
            <a:ext cx="10286358" cy="5372102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F81BD">
                  <a:alpha val="0"/>
                </a:srgbClr>
              </a:gs>
              <a:gs pos="100000">
                <a:srgbClr val="4F81BD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9"/>
          <p:cNvSpPr/>
          <p:nvPr/>
        </p:nvSpPr>
        <p:spPr>
          <a:xfrm rot="6097846">
            <a:off x="-1121033" y="1801968"/>
            <a:ext cx="7212453" cy="6132999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93B3D7">
                  <a:alpha val="0"/>
                </a:srgbClr>
              </a:gs>
              <a:gs pos="39000">
                <a:srgbClr val="93B3D7">
                  <a:alpha val="0"/>
                </a:srgbClr>
              </a:gs>
              <a:gs pos="100000">
                <a:srgbClr val="366092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9"/>
          <p:cNvSpPr txBox="1"/>
          <p:nvPr>
            <p:ph type="title"/>
          </p:nvPr>
        </p:nvSpPr>
        <p:spPr>
          <a:xfrm>
            <a:off x="990061" y="4150659"/>
            <a:ext cx="4321242" cy="4607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</a:t>
            </a:r>
            <a:endParaRPr/>
          </a:p>
        </p:txBody>
      </p:sp>
      <p:graphicFrame>
        <p:nvGraphicFramePr>
          <p:cNvPr id="297" name="Google Shape;297;p29"/>
          <p:cNvGraphicFramePr/>
          <p:nvPr/>
        </p:nvGraphicFramePr>
        <p:xfrm>
          <a:off x="6753642" y="1968649"/>
          <a:ext cx="3000000" cy="3000000"/>
        </p:xfrm>
        <a:graphic>
          <a:graphicData uri="http://schemas.openxmlformats.org/drawingml/2006/table">
            <a:tbl>
              <a:tblPr>
                <a:solidFill>
                  <a:schemeClr val="lt1"/>
                </a:solidFill>
                <a:tableStyleId>{69040507-55BE-44B4-A5BE-7CAD200A112A}</a:tableStyleId>
              </a:tblPr>
              <a:tblGrid>
                <a:gridCol w="3414725"/>
                <a:gridCol w="7423900"/>
              </a:tblGrid>
              <a:tr h="9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</a:rPr>
                        <a:t>Elemento</a:t>
                      </a:r>
                      <a:endParaRPr/>
                    </a:p>
                  </a:txBody>
                  <a:tcPr marT="191650" marB="191650" marR="466650" marL="2491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</a:rPr>
                        <a:t>Significado</a:t>
                      </a:r>
                      <a:endParaRPr/>
                    </a:p>
                  </a:txBody>
                  <a:tcPr marT="191650" marB="191650" marR="466650" marL="2491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services</a:t>
                      </a:r>
                      <a:endParaRPr sz="2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1650" marB="191650" marR="466650" marL="2491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</a:rPr>
                        <a:t>Contenedores que forman la aplicación</a:t>
                      </a:r>
                      <a:endParaRPr/>
                    </a:p>
                  </a:txBody>
                  <a:tcPr marT="191650" marB="191650" marR="466650" marL="2491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image</a:t>
                      </a:r>
                      <a:endParaRPr sz="2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1650" marB="191650" marR="466650" marL="2491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</a:rPr>
                        <a:t>Imagen de Docker a usar</a:t>
                      </a:r>
                      <a:endParaRPr/>
                    </a:p>
                  </a:txBody>
                  <a:tcPr marT="191650" marB="191650" marR="466650" marL="2491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ports</a:t>
                      </a:r>
                      <a:endParaRPr sz="2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1650" marB="191650" marR="466650" marL="2491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</a:rPr>
                        <a:t>Puertos expuestos</a:t>
                      </a:r>
                      <a:endParaRPr/>
                    </a:p>
                  </a:txBody>
                  <a:tcPr marT="191650" marB="191650" marR="466650" marL="2491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volumes</a:t>
                      </a:r>
                      <a:endParaRPr sz="2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1650" marB="191650" marR="466650" marL="2491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</a:rPr>
                        <a:t>Persistencia de datos</a:t>
                      </a:r>
                      <a:endParaRPr/>
                    </a:p>
                  </a:txBody>
                  <a:tcPr marT="191650" marB="191650" marR="466650" marL="2491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depends_on</a:t>
                      </a:r>
                      <a:endParaRPr sz="2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1650" marB="191650" marR="466650" marL="2491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</a:rPr>
                        <a:t>Orden de inicio</a:t>
                      </a:r>
                      <a:endParaRPr/>
                    </a:p>
                  </a:txBody>
                  <a:tcPr marT="191650" marB="191650" marR="466650" marL="2491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environment</a:t>
                      </a:r>
                      <a:endParaRPr sz="2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1650" marB="191650" marR="466650" marL="2491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</a:rPr>
                        <a:t>Variables de entorno</a:t>
                      </a:r>
                      <a:endParaRPr/>
                    </a:p>
                  </a:txBody>
                  <a:tcPr marT="191650" marB="191650" marR="466650" marL="2491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0"/>
          <p:cNvPicPr preferRelativeResize="0"/>
          <p:nvPr/>
        </p:nvPicPr>
        <p:blipFill rotWithShape="1">
          <a:blip r:embed="rId3">
            <a:alphaModFix/>
          </a:blip>
          <a:srcRect b="15730" l="0" r="0" t="0"/>
          <a:stretch/>
        </p:blipFill>
        <p:spPr>
          <a:xfrm>
            <a:off x="30" y="15"/>
            <a:ext cx="18287970" cy="1028698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Arquitectura típica con Compose</a:t>
            </a:r>
            <a:endParaRPr/>
          </a:p>
        </p:txBody>
      </p:sp>
      <p:grpSp>
        <p:nvGrpSpPr>
          <p:cNvPr id="304" name="Google Shape;304;p30"/>
          <p:cNvGrpSpPr/>
          <p:nvPr/>
        </p:nvGrpSpPr>
        <p:grpSpPr>
          <a:xfrm>
            <a:off x="1257300" y="2797969"/>
            <a:ext cx="15773399" cy="6407943"/>
            <a:chOff x="0" y="59531"/>
            <a:chExt cx="15773399" cy="6407943"/>
          </a:xfrm>
        </p:grpSpPr>
        <p:sp>
          <p:nvSpPr>
            <p:cNvPr id="305" name="Google Shape;305;p30"/>
            <p:cNvSpPr/>
            <p:nvPr/>
          </p:nvSpPr>
          <p:spPr>
            <a:xfrm>
              <a:off x="0" y="59531"/>
              <a:ext cx="4929187" cy="2957512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0"/>
            <p:cNvSpPr txBox="1"/>
            <p:nvPr/>
          </p:nvSpPr>
          <p:spPr>
            <a:xfrm>
              <a:off x="0" y="59531"/>
              <a:ext cx="4929187" cy="2957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0" i="0" lang="en-US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Docker Compose automáticamente:</a:t>
              </a:r>
              <a:endPara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5422106" y="59531"/>
              <a:ext cx="4929187" cy="2957512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0"/>
            <p:cNvSpPr txBox="1"/>
            <p:nvPr/>
          </p:nvSpPr>
          <p:spPr>
            <a:xfrm>
              <a:off x="5422106" y="59531"/>
              <a:ext cx="4929187" cy="2957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0" i="0" lang="en-US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 una </a:t>
              </a:r>
              <a:r>
                <a:rPr b="1" i="0" lang="en-US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red interna</a:t>
              </a:r>
              <a:endPara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0844212" y="59531"/>
              <a:ext cx="4929187" cy="2957512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0"/>
            <p:cNvSpPr txBox="1"/>
            <p:nvPr/>
          </p:nvSpPr>
          <p:spPr>
            <a:xfrm>
              <a:off x="10844212" y="59531"/>
              <a:ext cx="4929187" cy="2957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0" i="0" lang="en-US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Permite comunicación por nombre de servicio</a:t>
              </a:r>
              <a:endPara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2711053" y="3509962"/>
              <a:ext cx="4929187" cy="2957512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0"/>
            <p:cNvSpPr txBox="1"/>
            <p:nvPr/>
          </p:nvSpPr>
          <p:spPr>
            <a:xfrm>
              <a:off x="2711053" y="3509962"/>
              <a:ext cx="4929187" cy="2957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0" i="0" lang="en-US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Maneja dependencias</a:t>
              </a:r>
              <a:endPara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8133159" y="3509962"/>
              <a:ext cx="4929187" cy="2957512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0"/>
            <p:cNvSpPr txBox="1"/>
            <p:nvPr/>
          </p:nvSpPr>
          <p:spPr>
            <a:xfrm>
              <a:off x="8133159" y="3509962"/>
              <a:ext cx="4929187" cy="2957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0" i="0" lang="en-US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Gestiona volúmenes</a:t>
              </a:r>
              <a:endPara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/>
          <p:nvPr/>
        </p:nvSpPr>
        <p:spPr>
          <a:xfrm flipH="1" rot="10800000">
            <a:off x="3" y="0"/>
            <a:ext cx="18287997" cy="2363932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0" y="0"/>
            <a:ext cx="12193284" cy="2363191"/>
          </a:xfrm>
          <a:prstGeom prst="rect">
            <a:avLst/>
          </a:prstGeom>
          <a:gradFill>
            <a:gsLst>
              <a:gs pos="0">
                <a:srgbClr val="4F81BD">
                  <a:alpha val="41176"/>
                </a:srgbClr>
              </a:gs>
              <a:gs pos="74000">
                <a:srgbClr val="93B3D7">
                  <a:alpha val="0"/>
                </a:srgbClr>
              </a:gs>
              <a:gs pos="100000">
                <a:srgbClr val="93B3D7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 flipH="1">
            <a:off x="-4" y="-1"/>
            <a:ext cx="18288002" cy="2361466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4F81BD">
                  <a:alpha val="14901"/>
                </a:srgbClr>
              </a:gs>
              <a:gs pos="100000">
                <a:srgbClr val="4F81BD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 txBox="1"/>
          <p:nvPr>
            <p:ph type="title"/>
          </p:nvPr>
        </p:nvSpPr>
        <p:spPr>
          <a:xfrm>
            <a:off x="1049570" y="372057"/>
            <a:ext cx="10595582" cy="17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Comandos más importantes</a:t>
            </a:r>
            <a:endParaRPr/>
          </a:p>
        </p:txBody>
      </p:sp>
      <p:graphicFrame>
        <p:nvGraphicFramePr>
          <p:cNvPr id="324" name="Google Shape;324;p31"/>
          <p:cNvGraphicFramePr/>
          <p:nvPr/>
        </p:nvGraphicFramePr>
        <p:xfrm>
          <a:off x="648337" y="30534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{69040507-55BE-44B4-A5BE-7CAD200A112A}</a:tableStyleId>
              </a:tblPr>
              <a:tblGrid>
                <a:gridCol w="7950400"/>
                <a:gridCol w="9040925"/>
              </a:tblGrid>
              <a:tr h="92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</a:rPr>
                        <a:t>Comando</a:t>
                      </a:r>
                      <a:endParaRPr/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</a:rPr>
                        <a:t>Función</a:t>
                      </a:r>
                      <a:endParaRPr/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92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compose up</a:t>
                      </a:r>
                      <a:endParaRPr sz="27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</a:rPr>
                        <a:t>Levanta servicios</a:t>
                      </a:r>
                      <a:endParaRPr/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92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compose up -d</a:t>
                      </a:r>
                      <a:endParaRPr sz="27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</a:rPr>
                        <a:t>Levanta en segundo plano</a:t>
                      </a:r>
                      <a:endParaRPr/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92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compose down</a:t>
                      </a:r>
                      <a:endParaRPr sz="27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</a:rPr>
                        <a:t>Detiene y elimina contenedores</a:t>
                      </a:r>
                      <a:endParaRPr/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92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compose build</a:t>
                      </a:r>
                      <a:endParaRPr sz="27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</a:rPr>
                        <a:t>Construye imágenes</a:t>
                      </a:r>
                      <a:endParaRPr/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92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compose ps</a:t>
                      </a:r>
                      <a:endParaRPr sz="27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</a:rPr>
                        <a:t>Lista contenedores</a:t>
                      </a:r>
                      <a:endParaRPr/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92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compose logs</a:t>
                      </a:r>
                      <a:endParaRPr sz="2700" u="none" cap="none" strike="noStrike">
                        <a:solidFill>
                          <a:srgbClr val="3F3F3F"/>
                        </a:solidFill>
                      </a:endParaRPr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3F3F3F"/>
                          </a:solidFill>
                        </a:rPr>
                        <a:t>Ver logs</a:t>
                      </a:r>
                      <a:endParaRPr/>
                    </a:p>
                  </a:txBody>
                  <a:tcPr marT="225300" marB="225300" marR="225300" marL="433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2"/>
          <p:cNvSpPr/>
          <p:nvPr/>
        </p:nvSpPr>
        <p:spPr>
          <a:xfrm flipH="1" rot="5400000">
            <a:off x="-2115126" y="2115123"/>
            <a:ext cx="10287000" cy="6056754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2"/>
          <p:cNvSpPr/>
          <p:nvPr/>
        </p:nvSpPr>
        <p:spPr>
          <a:xfrm flipH="1" rot="5400000">
            <a:off x="-2115128" y="2130329"/>
            <a:ext cx="10286999" cy="605675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2"/>
          <p:cNvSpPr/>
          <p:nvPr/>
        </p:nvSpPr>
        <p:spPr>
          <a:xfrm flipH="1" rot="5400000">
            <a:off x="1151885" y="5382128"/>
            <a:ext cx="3752969" cy="6056762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2"/>
          <p:cNvSpPr/>
          <p:nvPr/>
        </p:nvSpPr>
        <p:spPr>
          <a:xfrm rot="-964587">
            <a:off x="-752605" y="1454577"/>
            <a:ext cx="5850535" cy="6268437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2"/>
          <p:cNvSpPr/>
          <p:nvPr/>
        </p:nvSpPr>
        <p:spPr>
          <a:xfrm flipH="1" rot="5400000">
            <a:off x="-2115140" y="2099915"/>
            <a:ext cx="10287005" cy="60567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2"/>
          <p:cNvSpPr txBox="1"/>
          <p:nvPr>
            <p:ph type="title"/>
          </p:nvPr>
        </p:nvSpPr>
        <p:spPr>
          <a:xfrm>
            <a:off x="700083" y="880282"/>
            <a:ext cx="4802049" cy="50812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6000">
                <a:solidFill>
                  <a:srgbClr val="FFFFFF"/>
                </a:solidFill>
              </a:rPr>
              <a:t>Ventajas</a:t>
            </a:r>
            <a:endParaRPr/>
          </a:p>
        </p:txBody>
      </p:sp>
      <p:sp>
        <p:nvSpPr>
          <p:cNvPr id="337" name="Google Shape;337;p32"/>
          <p:cNvSpPr txBox="1"/>
          <p:nvPr>
            <p:ph idx="1" type="body"/>
          </p:nvPr>
        </p:nvSpPr>
        <p:spPr>
          <a:xfrm>
            <a:off x="7215388" y="974220"/>
            <a:ext cx="9833021" cy="8319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685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3000"/>
              <a:t>✔ Fácil de usar</a:t>
            </a:r>
            <a:br>
              <a:rPr lang="en-US" sz="3000"/>
            </a:br>
            <a:r>
              <a:rPr lang="en-US" sz="3000"/>
              <a:t>✔ Ideal para desarrollo</a:t>
            </a:r>
            <a:br>
              <a:rPr lang="en-US" sz="3000"/>
            </a:br>
            <a:r>
              <a:rPr lang="en-US" sz="3000"/>
              <a:t>✔ Configuración declarativa</a:t>
            </a:r>
            <a:br>
              <a:rPr lang="en-US" sz="3000"/>
            </a:br>
            <a:r>
              <a:rPr lang="en-US" sz="3000"/>
              <a:t>✔ Portabilidad</a:t>
            </a:r>
            <a:br>
              <a:rPr lang="en-US" sz="3000"/>
            </a:br>
            <a:r>
              <a:rPr lang="en-US" sz="3000"/>
              <a:t>✔ Control de versiones del entorno</a:t>
            </a:r>
            <a:endParaRPr/>
          </a:p>
          <a:p>
            <a:pPr indent="-400050" lvl="0" marL="685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 spd="slow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3"/>
          <p:cNvSpPr/>
          <p:nvPr/>
        </p:nvSpPr>
        <p:spPr>
          <a:xfrm flipH="1" rot="5400000">
            <a:off x="-2126309" y="2126307"/>
            <a:ext cx="10313727" cy="6061116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3"/>
          <p:cNvSpPr/>
          <p:nvPr/>
        </p:nvSpPr>
        <p:spPr>
          <a:xfrm rot="-5400000">
            <a:off x="-237743" y="3990710"/>
            <a:ext cx="6533391" cy="6057905"/>
          </a:xfrm>
          <a:prstGeom prst="rect">
            <a:avLst/>
          </a:prstGeom>
          <a:gradFill>
            <a:gsLst>
              <a:gs pos="0">
                <a:srgbClr val="4F81BD">
                  <a:alpha val="50196"/>
                </a:srgbClr>
              </a:gs>
              <a:gs pos="100000">
                <a:srgbClr val="24406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3"/>
          <p:cNvSpPr/>
          <p:nvPr/>
        </p:nvSpPr>
        <p:spPr>
          <a:xfrm flipH="1" rot="-5400000">
            <a:off x="-1771323" y="2457128"/>
            <a:ext cx="10286358" cy="5372102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F81BD">
                  <a:alpha val="0"/>
                </a:srgbClr>
              </a:gs>
              <a:gs pos="100000">
                <a:srgbClr val="4F81BD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3"/>
          <p:cNvSpPr/>
          <p:nvPr/>
        </p:nvSpPr>
        <p:spPr>
          <a:xfrm rot="6097846">
            <a:off x="-1121033" y="1801968"/>
            <a:ext cx="7212453" cy="6132999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93B3D7">
                  <a:alpha val="0"/>
                </a:srgbClr>
              </a:gs>
              <a:gs pos="39000">
                <a:srgbClr val="93B3D7">
                  <a:alpha val="0"/>
                </a:srgbClr>
              </a:gs>
              <a:gs pos="100000">
                <a:srgbClr val="366092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3"/>
          <p:cNvSpPr txBox="1"/>
          <p:nvPr>
            <p:ph type="title"/>
          </p:nvPr>
        </p:nvSpPr>
        <p:spPr>
          <a:xfrm>
            <a:off x="990061" y="4150659"/>
            <a:ext cx="4321242" cy="4607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Diferencia entre Docker y Docker Compose</a:t>
            </a:r>
            <a:endParaRPr/>
          </a:p>
        </p:txBody>
      </p:sp>
      <p:graphicFrame>
        <p:nvGraphicFramePr>
          <p:cNvPr id="348" name="Google Shape;348;p33"/>
          <p:cNvGraphicFramePr/>
          <p:nvPr/>
        </p:nvGraphicFramePr>
        <p:xfrm>
          <a:off x="6753642" y="2881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{69040507-55BE-44B4-A5BE-7CAD200A112A}</a:tableStyleId>
              </a:tblPr>
              <a:tblGrid>
                <a:gridCol w="4608625"/>
                <a:gridCol w="6230000"/>
              </a:tblGrid>
              <a:tr h="113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300"/>
                        <a:buFont typeface="Arial"/>
                        <a:buNone/>
                      </a:pPr>
                      <a:r>
                        <a:rPr lang="en-US" sz="3300" u="none" cap="none" strike="noStrike">
                          <a:solidFill>
                            <a:schemeClr val="dk1"/>
                          </a:solidFill>
                        </a:rPr>
                        <a:t>Docker</a:t>
                      </a:r>
                      <a:endParaRPr/>
                    </a:p>
                  </a:txBody>
                  <a:tcPr marT="60050" marB="450425" marR="150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300"/>
                        <a:buFont typeface="Arial"/>
                        <a:buNone/>
                      </a:pPr>
                      <a:r>
                        <a:rPr lang="en-US" sz="3300" u="none" cap="none" strike="noStrike">
                          <a:solidFill>
                            <a:schemeClr val="dk1"/>
                          </a:solidFill>
                        </a:rPr>
                        <a:t>Docker Compose</a:t>
                      </a:r>
                      <a:endParaRPr/>
                    </a:p>
                  </a:txBody>
                  <a:tcPr marT="60050" marB="450425" marR="150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300"/>
                        <a:buFont typeface="Arial"/>
                        <a:buNone/>
                      </a:pPr>
                      <a:r>
                        <a:rPr lang="en-US" sz="3300" u="none" cap="none" strike="noStrike">
                          <a:solidFill>
                            <a:schemeClr val="dk1"/>
                          </a:solidFill>
                        </a:rPr>
                        <a:t>Maneja un contenedor</a:t>
                      </a:r>
                      <a:endParaRPr/>
                    </a:p>
                  </a:txBody>
                  <a:tcPr marT="60050" marB="450425" marR="150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300"/>
                        <a:buFont typeface="Arial"/>
                        <a:buNone/>
                      </a:pPr>
                      <a:r>
                        <a:rPr lang="en-US" sz="3300" u="none" cap="none" strike="noStrike">
                          <a:solidFill>
                            <a:schemeClr val="dk1"/>
                          </a:solidFill>
                        </a:rPr>
                        <a:t>Maneja múltiples contenedores</a:t>
                      </a:r>
                      <a:endParaRPr/>
                    </a:p>
                  </a:txBody>
                  <a:tcPr marT="60050" marB="450425" marR="150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300"/>
                        <a:buFont typeface="Arial"/>
                        <a:buNone/>
                      </a:pPr>
                      <a:r>
                        <a:rPr lang="en-US" sz="33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run</a:t>
                      </a:r>
                      <a:endParaRPr sz="3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0050" marB="450425" marR="150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300"/>
                        <a:buFont typeface="Arial"/>
                        <a:buNone/>
                      </a:pPr>
                      <a:r>
                        <a:rPr lang="en-US" sz="33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compose up</a:t>
                      </a:r>
                      <a:endParaRPr sz="3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0050" marB="450425" marR="150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300"/>
                        <a:buFont typeface="Arial"/>
                        <a:buNone/>
                      </a:pPr>
                      <a:r>
                        <a:rPr lang="en-US" sz="3300" u="none" cap="none" strike="noStrike">
                          <a:solidFill>
                            <a:schemeClr val="dk1"/>
                          </a:solidFill>
                        </a:rPr>
                        <a:t>Configuración manual</a:t>
                      </a:r>
                      <a:endParaRPr/>
                    </a:p>
                  </a:txBody>
                  <a:tcPr marT="60050" marB="450425" marR="150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300"/>
                        <a:buFont typeface="Arial"/>
                        <a:buNone/>
                      </a:pPr>
                      <a:r>
                        <a:rPr lang="en-US" sz="3300" u="none" cap="none" strike="noStrike">
                          <a:solidFill>
                            <a:schemeClr val="dk1"/>
                          </a:solidFill>
                        </a:rPr>
                        <a:t>Configuración centralizada</a:t>
                      </a:r>
                      <a:endParaRPr/>
                    </a:p>
                  </a:txBody>
                  <a:tcPr marT="60050" marB="450425" marR="1501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/>
          <p:nvPr/>
        </p:nvSpPr>
        <p:spPr>
          <a:xfrm>
            <a:off x="8749860" y="0"/>
            <a:ext cx="9538200" cy="10287000"/>
          </a:xfrm>
          <a:prstGeom prst="rect">
            <a:avLst/>
          </a:prstGeom>
          <a:solidFill>
            <a:srgbClr val="757070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10247586" y="2060355"/>
            <a:ext cx="7330950" cy="616635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el vibe coding?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 txBox="1"/>
          <p:nvPr/>
        </p:nvSpPr>
        <p:spPr>
          <a:xfrm>
            <a:off x="1119353" y="3362756"/>
            <a:ext cx="6921000" cy="671716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término "vibe coding" se h</a:t>
            </a:r>
            <a:r>
              <a:rPr b="0" i="0" lang="en-US" sz="2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popularizado para describir una nueva y emergente práctica de desarrollo de software que se apoya fundamentalmente en la inteligencia artificial (IA) para generar código funcional a partir de instrucciones en lenguaje natural. En esencia, es un enfoque en el que el desarrollador, más que escribir líneas de código de manera meticulosa, guía a un modelo de lenguaje grande (LLM) a través de una conversación para construir una aplicación o resolver un problema de programación.</a:t>
            </a:r>
            <a:endParaRPr b="0" i="0" sz="2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/>
          <p:nvPr/>
        </p:nvSpPr>
        <p:spPr>
          <a:xfrm>
            <a:off x="-2" y="0"/>
            <a:ext cx="69813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 txBox="1"/>
          <p:nvPr>
            <p:ph type="title"/>
          </p:nvPr>
        </p:nvSpPr>
        <p:spPr>
          <a:xfrm>
            <a:off x="1143000" y="839517"/>
            <a:ext cx="5351850" cy="7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25" spcFirstLastPara="1" rIns="137125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</a:rPr>
              <a:t>Entendiendo la IA para darle un mejor uso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64" name="Google Shape;364;p35"/>
          <p:cNvCxnSpPr/>
          <p:nvPr/>
        </p:nvCxnSpPr>
        <p:spPr>
          <a:xfrm>
            <a:off x="0" y="9299595"/>
            <a:ext cx="64467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65" name="Google Shape;365;p35"/>
          <p:cNvGrpSpPr/>
          <p:nvPr/>
        </p:nvGrpSpPr>
        <p:grpSpPr>
          <a:xfrm>
            <a:off x="8828690" y="828032"/>
            <a:ext cx="9317250" cy="4727315"/>
            <a:chOff x="1647825" y="9615"/>
            <a:chExt cx="6211500" cy="6046705"/>
          </a:xfrm>
        </p:grpSpPr>
        <p:sp>
          <p:nvSpPr>
            <p:cNvPr id="366" name="Google Shape;366;p35"/>
            <p:cNvSpPr txBox="1"/>
            <p:nvPr/>
          </p:nvSpPr>
          <p:spPr>
            <a:xfrm>
              <a:off x="1647825" y="656786"/>
              <a:ext cx="5750100" cy="48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25" lIns="274225" spcFirstLastPara="1" rIns="274225" wrap="square" tIns="2742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Para poder usar de mejor manera las herramientas, debemos de comprender como funcionan. Preguntas como: que es la IA, que es un LLM y como funcionan? nos llevaran a una mejor comprension de estas herramientas. </a:t>
              </a:r>
              <a:endParaRPr b="0" i="0" sz="3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5242786" y="9615"/>
              <a:ext cx="2154900" cy="17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5"/>
            <p:cNvSpPr/>
            <p:nvPr/>
          </p:nvSpPr>
          <p:spPr>
            <a:xfrm>
              <a:off x="1843790" y="2169117"/>
              <a:ext cx="3399000" cy="17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5"/>
            <p:cNvSpPr/>
            <p:nvPr/>
          </p:nvSpPr>
          <p:spPr>
            <a:xfrm>
              <a:off x="4935703" y="2169117"/>
              <a:ext cx="2769300" cy="17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5"/>
            <p:cNvSpPr txBox="1"/>
            <p:nvPr/>
          </p:nvSpPr>
          <p:spPr>
            <a:xfrm>
              <a:off x="4061025" y="2169125"/>
              <a:ext cx="3798300" cy="17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25" lIns="274225" spcFirstLastPara="1" rIns="274225" wrap="square" tIns="274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735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35"/>
            <p:cNvSpPr/>
            <p:nvPr/>
          </p:nvSpPr>
          <p:spPr>
            <a:xfrm>
              <a:off x="1843790" y="4328620"/>
              <a:ext cx="3399000" cy="17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5"/>
            <p:cNvSpPr/>
            <p:nvPr/>
          </p:nvSpPr>
          <p:spPr>
            <a:xfrm>
              <a:off x="5242786" y="4328620"/>
              <a:ext cx="2154900" cy="17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25" lIns="137125" spcFirstLastPara="1" rIns="137125" wrap="square" tIns="13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"/>
          <p:cNvSpPr txBox="1"/>
          <p:nvPr/>
        </p:nvSpPr>
        <p:spPr>
          <a:xfrm>
            <a:off x="5539160" y="4652327"/>
            <a:ext cx="7209681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Espacio para 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3" title="Gemini_Generated_Image_sfb0qdsfb0qdsfb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Kevin Pozuelos</dc:creator>
</cp:coreProperties>
</file>