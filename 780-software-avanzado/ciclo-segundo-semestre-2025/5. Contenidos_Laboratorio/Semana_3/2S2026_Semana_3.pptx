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9" r:id="rId7"/>
    <p:sldId id="270" r:id="rId8"/>
    <p:sldId id="271" r:id="rId9"/>
    <p:sldId id="272" r:id="rId10"/>
    <p:sldId id="273" r:id="rId11"/>
    <p:sldId id="274" r:id="rId12"/>
    <p:sldId id="275" r:id="rId13"/>
    <p:sldId id="277" r:id="rId14"/>
    <p:sldId id="278" r:id="rId15"/>
    <p:sldId id="279" r:id="rId16"/>
    <p:sldId id="262" r:id="rId17"/>
    <p:sldId id="280" r:id="rId18"/>
    <p:sldId id="281" r:id="rId19"/>
    <p:sldId id="282" r:id="rId20"/>
    <p:sldId id="283" r:id="rId21"/>
    <p:sldId id="284" r:id="rId22"/>
    <p:sldId id="285" r:id="rId23"/>
    <p:sldId id="276" r:id="rId24"/>
    <p:sldId id="286" r:id="rId25"/>
    <p:sldId id="287" r:id="rId26"/>
    <p:sldId id="288" r:id="rId27"/>
    <p:sldId id="289" r:id="rId28"/>
    <p:sldId id="290" r:id="rId29"/>
    <p:sldId id="291" r:id="rId30"/>
    <p:sldId id="292" r:id="rId31"/>
    <p:sldId id="267" r:id="rId32"/>
    <p:sldId id="268" r:id="rId33"/>
  </p:sldIdLst>
  <p:sldSz cx="18288000" cy="10287000"/>
  <p:notesSz cx="6858000" cy="9144000"/>
  <p:embeddedFontLst>
    <p:embeddedFont>
      <p:font typeface="Impact" panose="020B0806030902050204" pitchFamily="34" charset="0"/>
      <p:regular r:id="rId35"/>
    </p:embeddedFont>
    <p:embeddedFont>
      <p:font typeface="Open Sans" panose="020B0606030504020204" pitchFamily="34" charset="0"/>
      <p:regular r:id="rId36"/>
      <p:bold r:id="rId37"/>
      <p:italic r:id="rId38"/>
      <p:boldItalic r:id="rId39"/>
    </p:embeddedFont>
    <p:embeddedFont>
      <p:font typeface="Pacifico" panose="00000500000000000000" pitchFamily="2" charset="0"/>
      <p:regular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1" roundtripDataSignature="AMtx7mjzHJqWqhzwEBDXzytYeL345583I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9EDEDC3-3F6D-4B2A-895B-24B3350B9E84}">
  <a:tblStyle styleId="{09EDEDC3-3F6D-4B2A-895B-24B3350B9E84}"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90" y="2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20" Type="http://schemas.openxmlformats.org/officeDocument/2006/relationships/slide" Target="slides/slide19.xml"/><Relationship Id="rId41" Type="http://customschemas.google.com/relationships/presentationmetadata" Target="metadata"/></Relationships>
</file>

<file path=ppt/diagrams/_rels/data1.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2760A2B-7C2D-48B4-B24A-9B2057D2B301}"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535F67A-8E48-4520-8F6B-18D40D65D359}">
      <dgm:prSet/>
      <dgm:spPr/>
      <dgm:t>
        <a:bodyPr/>
        <a:lstStyle/>
        <a:p>
          <a:r>
            <a:rPr lang="es-ES"/>
            <a:t>Crecimiento del cómputo en la nube</a:t>
          </a:r>
          <a:endParaRPr lang="en-US"/>
        </a:p>
      </dgm:t>
    </dgm:pt>
    <dgm:pt modelId="{2D0FAAE6-AFE7-4179-ABB5-3C236332B49F}" type="parTrans" cxnId="{F182C982-0551-4AAA-8598-2EB94185A58D}">
      <dgm:prSet/>
      <dgm:spPr/>
      <dgm:t>
        <a:bodyPr/>
        <a:lstStyle/>
        <a:p>
          <a:endParaRPr lang="en-US"/>
        </a:p>
      </dgm:t>
    </dgm:pt>
    <dgm:pt modelId="{5205E26A-D836-401B-8E43-2A8EDA3B518E}" type="sibTrans" cxnId="{F182C982-0551-4AAA-8598-2EB94185A58D}">
      <dgm:prSet/>
      <dgm:spPr/>
      <dgm:t>
        <a:bodyPr/>
        <a:lstStyle/>
        <a:p>
          <a:endParaRPr lang="en-US"/>
        </a:p>
      </dgm:t>
    </dgm:pt>
    <dgm:pt modelId="{6B868EC6-C939-4D21-81C0-47F0FFEA9CBB}">
      <dgm:prSet/>
      <dgm:spPr/>
      <dgm:t>
        <a:bodyPr/>
        <a:lstStyle/>
        <a:p>
          <a:r>
            <a:rPr lang="es-ES"/>
            <a:t>DevOps y CI/CD</a:t>
          </a:r>
          <a:endParaRPr lang="en-US"/>
        </a:p>
      </dgm:t>
    </dgm:pt>
    <dgm:pt modelId="{62D1F9F6-6574-48EF-A037-78D8AEC4EA08}" type="parTrans" cxnId="{DBC7F9F5-AFBD-4C72-B39D-482C6637C47A}">
      <dgm:prSet/>
      <dgm:spPr/>
      <dgm:t>
        <a:bodyPr/>
        <a:lstStyle/>
        <a:p>
          <a:endParaRPr lang="en-US"/>
        </a:p>
      </dgm:t>
    </dgm:pt>
    <dgm:pt modelId="{E498B36D-69C2-4748-B0B1-347FEDFAB0AF}" type="sibTrans" cxnId="{DBC7F9F5-AFBD-4C72-B39D-482C6637C47A}">
      <dgm:prSet/>
      <dgm:spPr/>
      <dgm:t>
        <a:bodyPr/>
        <a:lstStyle/>
        <a:p>
          <a:endParaRPr lang="en-US"/>
        </a:p>
      </dgm:t>
    </dgm:pt>
    <dgm:pt modelId="{02D1B236-6036-4DFD-A41A-9F9354110A87}">
      <dgm:prSet/>
      <dgm:spPr/>
      <dgm:t>
        <a:bodyPr/>
        <a:lstStyle/>
        <a:p>
          <a:r>
            <a:rPr lang="es-ES"/>
            <a:t>Contenedores y Kubernetes – Herramientas como Docker y Kubernetes</a:t>
          </a:r>
          <a:endParaRPr lang="en-US"/>
        </a:p>
      </dgm:t>
    </dgm:pt>
    <dgm:pt modelId="{DBA0554C-9E26-4C45-BC40-DAF047F9D260}" type="parTrans" cxnId="{9A7EF535-7790-48D0-9E36-66143B1B28C7}">
      <dgm:prSet/>
      <dgm:spPr/>
      <dgm:t>
        <a:bodyPr/>
        <a:lstStyle/>
        <a:p>
          <a:endParaRPr lang="en-US"/>
        </a:p>
      </dgm:t>
    </dgm:pt>
    <dgm:pt modelId="{14A137A8-2873-43AE-9D59-2DC86968EC69}" type="sibTrans" cxnId="{9A7EF535-7790-48D0-9E36-66143B1B28C7}">
      <dgm:prSet/>
      <dgm:spPr/>
      <dgm:t>
        <a:bodyPr/>
        <a:lstStyle/>
        <a:p>
          <a:endParaRPr lang="en-US"/>
        </a:p>
      </dgm:t>
    </dgm:pt>
    <dgm:pt modelId="{DFF57BCD-FCA5-4B56-B3C9-F31C4600F390}">
      <dgm:prSet/>
      <dgm:spPr/>
      <dgm:t>
        <a:bodyPr/>
        <a:lstStyle/>
        <a:p>
          <a:r>
            <a:rPr lang="es-ES"/>
            <a:t>Necesidad de escalabilidad</a:t>
          </a:r>
          <a:endParaRPr lang="en-US"/>
        </a:p>
      </dgm:t>
    </dgm:pt>
    <dgm:pt modelId="{AD6132D0-4A5B-4D32-B1A2-E7E6CB676170}" type="parTrans" cxnId="{C2CF2E78-EFA0-40DD-AB58-BF08410990D6}">
      <dgm:prSet/>
      <dgm:spPr/>
      <dgm:t>
        <a:bodyPr/>
        <a:lstStyle/>
        <a:p>
          <a:endParaRPr lang="en-US"/>
        </a:p>
      </dgm:t>
    </dgm:pt>
    <dgm:pt modelId="{BB0ABE4A-2EE2-4E33-B126-C4D184F35A77}" type="sibTrans" cxnId="{C2CF2E78-EFA0-40DD-AB58-BF08410990D6}">
      <dgm:prSet/>
      <dgm:spPr/>
      <dgm:t>
        <a:bodyPr/>
        <a:lstStyle/>
        <a:p>
          <a:endParaRPr lang="en-US"/>
        </a:p>
      </dgm:t>
    </dgm:pt>
    <dgm:pt modelId="{F26E716E-A6FD-4377-89A5-19D576734DBC}" type="pres">
      <dgm:prSet presAssocID="{32760A2B-7C2D-48B4-B24A-9B2057D2B301}" presName="root" presStyleCnt="0">
        <dgm:presLayoutVars>
          <dgm:dir/>
          <dgm:resizeHandles val="exact"/>
        </dgm:presLayoutVars>
      </dgm:prSet>
      <dgm:spPr/>
    </dgm:pt>
    <dgm:pt modelId="{0D61D84F-72EB-48D9-AF2C-1613FE2E49F6}" type="pres">
      <dgm:prSet presAssocID="{1535F67A-8E48-4520-8F6B-18D40D65D359}" presName="compNode" presStyleCnt="0"/>
      <dgm:spPr/>
    </dgm:pt>
    <dgm:pt modelId="{EF432C74-9071-4411-95C2-B2D9948B78AE}" type="pres">
      <dgm:prSet presAssocID="{1535F67A-8E48-4520-8F6B-18D40D65D359}" presName="bgRect" presStyleLbl="bgShp" presStyleIdx="0" presStyleCnt="4"/>
      <dgm:spPr/>
    </dgm:pt>
    <dgm:pt modelId="{88E93EF0-87BF-46E6-A20F-214BDAEEE804}" type="pres">
      <dgm:prSet presAssocID="{1535F67A-8E48-4520-8F6B-18D40D65D359}"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Nube"/>
        </a:ext>
      </dgm:extLst>
    </dgm:pt>
    <dgm:pt modelId="{7FCDA6F9-4443-4936-9248-D5D832F49778}" type="pres">
      <dgm:prSet presAssocID="{1535F67A-8E48-4520-8F6B-18D40D65D359}" presName="spaceRect" presStyleCnt="0"/>
      <dgm:spPr/>
    </dgm:pt>
    <dgm:pt modelId="{88BA1889-BC1A-4475-83BB-98676C07459C}" type="pres">
      <dgm:prSet presAssocID="{1535F67A-8E48-4520-8F6B-18D40D65D359}" presName="parTx" presStyleLbl="revTx" presStyleIdx="0" presStyleCnt="4">
        <dgm:presLayoutVars>
          <dgm:chMax val="0"/>
          <dgm:chPref val="0"/>
        </dgm:presLayoutVars>
      </dgm:prSet>
      <dgm:spPr/>
    </dgm:pt>
    <dgm:pt modelId="{659C000F-466A-4EB5-B4CE-7DCFE7538CBB}" type="pres">
      <dgm:prSet presAssocID="{5205E26A-D836-401B-8E43-2A8EDA3B518E}" presName="sibTrans" presStyleCnt="0"/>
      <dgm:spPr/>
    </dgm:pt>
    <dgm:pt modelId="{EBFB7507-6108-4285-9293-946484F69AA1}" type="pres">
      <dgm:prSet presAssocID="{6B868EC6-C939-4D21-81C0-47F0FFEA9CBB}" presName="compNode" presStyleCnt="0"/>
      <dgm:spPr/>
    </dgm:pt>
    <dgm:pt modelId="{4E3FD9C2-FC95-4483-BDED-2468DAB1350C}" type="pres">
      <dgm:prSet presAssocID="{6B868EC6-C939-4D21-81C0-47F0FFEA9CBB}" presName="bgRect" presStyleLbl="bgShp" presStyleIdx="1" presStyleCnt="4"/>
      <dgm:spPr/>
    </dgm:pt>
    <dgm:pt modelId="{7EA35A78-F13A-463A-B27F-E262CE130E2D}" type="pres">
      <dgm:prSet presAssocID="{6B868EC6-C939-4D21-81C0-47F0FFEA9CBB}"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ngranajes"/>
        </a:ext>
      </dgm:extLst>
    </dgm:pt>
    <dgm:pt modelId="{288133FC-6D27-400F-A234-9CE28AFFB130}" type="pres">
      <dgm:prSet presAssocID="{6B868EC6-C939-4D21-81C0-47F0FFEA9CBB}" presName="spaceRect" presStyleCnt="0"/>
      <dgm:spPr/>
    </dgm:pt>
    <dgm:pt modelId="{DCFD9835-1F24-428F-8A6D-D4998B7183B8}" type="pres">
      <dgm:prSet presAssocID="{6B868EC6-C939-4D21-81C0-47F0FFEA9CBB}" presName="parTx" presStyleLbl="revTx" presStyleIdx="1" presStyleCnt="4">
        <dgm:presLayoutVars>
          <dgm:chMax val="0"/>
          <dgm:chPref val="0"/>
        </dgm:presLayoutVars>
      </dgm:prSet>
      <dgm:spPr/>
    </dgm:pt>
    <dgm:pt modelId="{1328558D-71F1-463B-BDB3-17A9C1A40D49}" type="pres">
      <dgm:prSet presAssocID="{E498B36D-69C2-4748-B0B1-347FEDFAB0AF}" presName="sibTrans" presStyleCnt="0"/>
      <dgm:spPr/>
    </dgm:pt>
    <dgm:pt modelId="{A5DEA9E2-D64F-455E-A894-1EA49EFF4F74}" type="pres">
      <dgm:prSet presAssocID="{02D1B236-6036-4DFD-A41A-9F9354110A87}" presName="compNode" presStyleCnt="0"/>
      <dgm:spPr/>
    </dgm:pt>
    <dgm:pt modelId="{040B9863-63CD-4D88-9018-202F5B728AEE}" type="pres">
      <dgm:prSet presAssocID="{02D1B236-6036-4DFD-A41A-9F9354110A87}" presName="bgRect" presStyleLbl="bgShp" presStyleIdx="2" presStyleCnt="4"/>
      <dgm:spPr/>
    </dgm:pt>
    <dgm:pt modelId="{A8E79F00-9EC4-42AD-8C5A-B1BA5224A211}" type="pres">
      <dgm:prSet presAssocID="{02D1B236-6036-4DFD-A41A-9F9354110A87}"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aja"/>
        </a:ext>
      </dgm:extLst>
    </dgm:pt>
    <dgm:pt modelId="{81731901-B525-4A59-8E43-431AE0FA9D27}" type="pres">
      <dgm:prSet presAssocID="{02D1B236-6036-4DFD-A41A-9F9354110A87}" presName="spaceRect" presStyleCnt="0"/>
      <dgm:spPr/>
    </dgm:pt>
    <dgm:pt modelId="{EDA150F7-D61E-41A4-A8AC-F29AC248B2CC}" type="pres">
      <dgm:prSet presAssocID="{02D1B236-6036-4DFD-A41A-9F9354110A87}" presName="parTx" presStyleLbl="revTx" presStyleIdx="2" presStyleCnt="4">
        <dgm:presLayoutVars>
          <dgm:chMax val="0"/>
          <dgm:chPref val="0"/>
        </dgm:presLayoutVars>
      </dgm:prSet>
      <dgm:spPr/>
    </dgm:pt>
    <dgm:pt modelId="{FFC63ED5-1171-4AA8-955A-120C0E884C7E}" type="pres">
      <dgm:prSet presAssocID="{14A137A8-2873-43AE-9D59-2DC86968EC69}" presName="sibTrans" presStyleCnt="0"/>
      <dgm:spPr/>
    </dgm:pt>
    <dgm:pt modelId="{4A041C21-EB57-438D-8BD7-29408FD362C5}" type="pres">
      <dgm:prSet presAssocID="{DFF57BCD-FCA5-4B56-B3C9-F31C4600F390}" presName="compNode" presStyleCnt="0"/>
      <dgm:spPr/>
    </dgm:pt>
    <dgm:pt modelId="{7AAB9644-0571-4D25-B928-39BCB7F9F177}" type="pres">
      <dgm:prSet presAssocID="{DFF57BCD-FCA5-4B56-B3C9-F31C4600F390}" presName="bgRect" presStyleLbl="bgShp" presStyleIdx="3" presStyleCnt="4"/>
      <dgm:spPr/>
    </dgm:pt>
    <dgm:pt modelId="{F2A99C36-065F-474E-9D47-2283F0E26921}" type="pres">
      <dgm:prSet presAssocID="{DFF57BCD-FCA5-4B56-B3C9-F31C4600F390}"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pward trend"/>
        </a:ext>
      </dgm:extLst>
    </dgm:pt>
    <dgm:pt modelId="{596A44DC-5D4D-4AB2-A68A-EC496954DE08}" type="pres">
      <dgm:prSet presAssocID="{DFF57BCD-FCA5-4B56-B3C9-F31C4600F390}" presName="spaceRect" presStyleCnt="0"/>
      <dgm:spPr/>
    </dgm:pt>
    <dgm:pt modelId="{7C2FF3F6-5FAE-4874-8F89-B4330AF65AF6}" type="pres">
      <dgm:prSet presAssocID="{DFF57BCD-FCA5-4B56-B3C9-F31C4600F390}" presName="parTx" presStyleLbl="revTx" presStyleIdx="3" presStyleCnt="4">
        <dgm:presLayoutVars>
          <dgm:chMax val="0"/>
          <dgm:chPref val="0"/>
        </dgm:presLayoutVars>
      </dgm:prSet>
      <dgm:spPr/>
    </dgm:pt>
  </dgm:ptLst>
  <dgm:cxnLst>
    <dgm:cxn modelId="{93E9A723-19D5-4C87-A6C3-4DBDD3DF5B82}" type="presOf" srcId="{02D1B236-6036-4DFD-A41A-9F9354110A87}" destId="{EDA150F7-D61E-41A4-A8AC-F29AC248B2CC}" srcOrd="0" destOrd="0" presId="urn:microsoft.com/office/officeart/2018/2/layout/IconVerticalSolidList"/>
    <dgm:cxn modelId="{6CB29626-F25A-439B-9932-805414782C92}" type="presOf" srcId="{1535F67A-8E48-4520-8F6B-18D40D65D359}" destId="{88BA1889-BC1A-4475-83BB-98676C07459C}" srcOrd="0" destOrd="0" presId="urn:microsoft.com/office/officeart/2018/2/layout/IconVerticalSolidList"/>
    <dgm:cxn modelId="{9A7EF535-7790-48D0-9E36-66143B1B28C7}" srcId="{32760A2B-7C2D-48B4-B24A-9B2057D2B301}" destId="{02D1B236-6036-4DFD-A41A-9F9354110A87}" srcOrd="2" destOrd="0" parTransId="{DBA0554C-9E26-4C45-BC40-DAF047F9D260}" sibTransId="{14A137A8-2873-43AE-9D59-2DC86968EC69}"/>
    <dgm:cxn modelId="{8FFA1175-680E-40CE-95A1-9E7F54EDCAAB}" type="presOf" srcId="{32760A2B-7C2D-48B4-B24A-9B2057D2B301}" destId="{F26E716E-A6FD-4377-89A5-19D576734DBC}" srcOrd="0" destOrd="0" presId="urn:microsoft.com/office/officeart/2018/2/layout/IconVerticalSolidList"/>
    <dgm:cxn modelId="{C2CF2E78-EFA0-40DD-AB58-BF08410990D6}" srcId="{32760A2B-7C2D-48B4-B24A-9B2057D2B301}" destId="{DFF57BCD-FCA5-4B56-B3C9-F31C4600F390}" srcOrd="3" destOrd="0" parTransId="{AD6132D0-4A5B-4D32-B1A2-E7E6CB676170}" sibTransId="{BB0ABE4A-2EE2-4E33-B126-C4D184F35A77}"/>
    <dgm:cxn modelId="{F182C982-0551-4AAA-8598-2EB94185A58D}" srcId="{32760A2B-7C2D-48B4-B24A-9B2057D2B301}" destId="{1535F67A-8E48-4520-8F6B-18D40D65D359}" srcOrd="0" destOrd="0" parTransId="{2D0FAAE6-AFE7-4179-ABB5-3C236332B49F}" sibTransId="{5205E26A-D836-401B-8E43-2A8EDA3B518E}"/>
    <dgm:cxn modelId="{D99E188C-AD10-4D22-B0C6-0530D110818B}" type="presOf" srcId="{DFF57BCD-FCA5-4B56-B3C9-F31C4600F390}" destId="{7C2FF3F6-5FAE-4874-8F89-B4330AF65AF6}" srcOrd="0" destOrd="0" presId="urn:microsoft.com/office/officeart/2018/2/layout/IconVerticalSolidList"/>
    <dgm:cxn modelId="{1B39CBD9-C1A3-43B6-80C0-3D2FD78D9A27}" type="presOf" srcId="{6B868EC6-C939-4D21-81C0-47F0FFEA9CBB}" destId="{DCFD9835-1F24-428F-8A6D-D4998B7183B8}" srcOrd="0" destOrd="0" presId="urn:microsoft.com/office/officeart/2018/2/layout/IconVerticalSolidList"/>
    <dgm:cxn modelId="{DBC7F9F5-AFBD-4C72-B39D-482C6637C47A}" srcId="{32760A2B-7C2D-48B4-B24A-9B2057D2B301}" destId="{6B868EC6-C939-4D21-81C0-47F0FFEA9CBB}" srcOrd="1" destOrd="0" parTransId="{62D1F9F6-6574-48EF-A037-78D8AEC4EA08}" sibTransId="{E498B36D-69C2-4748-B0B1-347FEDFAB0AF}"/>
    <dgm:cxn modelId="{ABD42B9A-CB6B-4377-B3D4-85C3D9FB358B}" type="presParOf" srcId="{F26E716E-A6FD-4377-89A5-19D576734DBC}" destId="{0D61D84F-72EB-48D9-AF2C-1613FE2E49F6}" srcOrd="0" destOrd="0" presId="urn:microsoft.com/office/officeart/2018/2/layout/IconVerticalSolidList"/>
    <dgm:cxn modelId="{B988A506-A39E-496E-8691-B7AB3B1CF783}" type="presParOf" srcId="{0D61D84F-72EB-48D9-AF2C-1613FE2E49F6}" destId="{EF432C74-9071-4411-95C2-B2D9948B78AE}" srcOrd="0" destOrd="0" presId="urn:microsoft.com/office/officeart/2018/2/layout/IconVerticalSolidList"/>
    <dgm:cxn modelId="{05EF1340-F153-4B28-8CDB-B0DCD0B4169F}" type="presParOf" srcId="{0D61D84F-72EB-48D9-AF2C-1613FE2E49F6}" destId="{88E93EF0-87BF-46E6-A20F-214BDAEEE804}" srcOrd="1" destOrd="0" presId="urn:microsoft.com/office/officeart/2018/2/layout/IconVerticalSolidList"/>
    <dgm:cxn modelId="{A3CA5A49-5025-4F78-AA4F-FA44A73524B9}" type="presParOf" srcId="{0D61D84F-72EB-48D9-AF2C-1613FE2E49F6}" destId="{7FCDA6F9-4443-4936-9248-D5D832F49778}" srcOrd="2" destOrd="0" presId="urn:microsoft.com/office/officeart/2018/2/layout/IconVerticalSolidList"/>
    <dgm:cxn modelId="{466196CC-1962-42EA-B0E2-54110C80D4ED}" type="presParOf" srcId="{0D61D84F-72EB-48D9-AF2C-1613FE2E49F6}" destId="{88BA1889-BC1A-4475-83BB-98676C07459C}" srcOrd="3" destOrd="0" presId="urn:microsoft.com/office/officeart/2018/2/layout/IconVerticalSolidList"/>
    <dgm:cxn modelId="{52197ED0-F26A-45A6-AFF7-BAE726EABBF5}" type="presParOf" srcId="{F26E716E-A6FD-4377-89A5-19D576734DBC}" destId="{659C000F-466A-4EB5-B4CE-7DCFE7538CBB}" srcOrd="1" destOrd="0" presId="urn:microsoft.com/office/officeart/2018/2/layout/IconVerticalSolidList"/>
    <dgm:cxn modelId="{585D49FD-CCA9-4442-BC4B-4528FCC4C810}" type="presParOf" srcId="{F26E716E-A6FD-4377-89A5-19D576734DBC}" destId="{EBFB7507-6108-4285-9293-946484F69AA1}" srcOrd="2" destOrd="0" presId="urn:microsoft.com/office/officeart/2018/2/layout/IconVerticalSolidList"/>
    <dgm:cxn modelId="{0FC03656-EFB7-43AC-AFEF-CA4412492FD5}" type="presParOf" srcId="{EBFB7507-6108-4285-9293-946484F69AA1}" destId="{4E3FD9C2-FC95-4483-BDED-2468DAB1350C}" srcOrd="0" destOrd="0" presId="urn:microsoft.com/office/officeart/2018/2/layout/IconVerticalSolidList"/>
    <dgm:cxn modelId="{1F60DFD2-2164-4319-B9A2-E25E9B6FDB37}" type="presParOf" srcId="{EBFB7507-6108-4285-9293-946484F69AA1}" destId="{7EA35A78-F13A-463A-B27F-E262CE130E2D}" srcOrd="1" destOrd="0" presId="urn:microsoft.com/office/officeart/2018/2/layout/IconVerticalSolidList"/>
    <dgm:cxn modelId="{8D46060B-8216-4C7A-B8F5-1C553135566D}" type="presParOf" srcId="{EBFB7507-6108-4285-9293-946484F69AA1}" destId="{288133FC-6D27-400F-A234-9CE28AFFB130}" srcOrd="2" destOrd="0" presId="urn:microsoft.com/office/officeart/2018/2/layout/IconVerticalSolidList"/>
    <dgm:cxn modelId="{8871AD1D-2AF6-4F42-86E6-CF7160F45E33}" type="presParOf" srcId="{EBFB7507-6108-4285-9293-946484F69AA1}" destId="{DCFD9835-1F24-428F-8A6D-D4998B7183B8}" srcOrd="3" destOrd="0" presId="urn:microsoft.com/office/officeart/2018/2/layout/IconVerticalSolidList"/>
    <dgm:cxn modelId="{34F07E17-26AE-4B00-9429-30523FAF5549}" type="presParOf" srcId="{F26E716E-A6FD-4377-89A5-19D576734DBC}" destId="{1328558D-71F1-463B-BDB3-17A9C1A40D49}" srcOrd="3" destOrd="0" presId="urn:microsoft.com/office/officeart/2018/2/layout/IconVerticalSolidList"/>
    <dgm:cxn modelId="{121A6D1A-3D80-4FBF-B80C-EA6747A94D3B}" type="presParOf" srcId="{F26E716E-A6FD-4377-89A5-19D576734DBC}" destId="{A5DEA9E2-D64F-455E-A894-1EA49EFF4F74}" srcOrd="4" destOrd="0" presId="urn:microsoft.com/office/officeart/2018/2/layout/IconVerticalSolidList"/>
    <dgm:cxn modelId="{386C4709-260E-4152-A87B-98050F9E9F28}" type="presParOf" srcId="{A5DEA9E2-D64F-455E-A894-1EA49EFF4F74}" destId="{040B9863-63CD-4D88-9018-202F5B728AEE}" srcOrd="0" destOrd="0" presId="urn:microsoft.com/office/officeart/2018/2/layout/IconVerticalSolidList"/>
    <dgm:cxn modelId="{E345CFCF-45D6-489B-B18D-2E65CF8E0433}" type="presParOf" srcId="{A5DEA9E2-D64F-455E-A894-1EA49EFF4F74}" destId="{A8E79F00-9EC4-42AD-8C5A-B1BA5224A211}" srcOrd="1" destOrd="0" presId="urn:microsoft.com/office/officeart/2018/2/layout/IconVerticalSolidList"/>
    <dgm:cxn modelId="{3E46D5C1-FC8E-4620-9384-A540F27F0EA7}" type="presParOf" srcId="{A5DEA9E2-D64F-455E-A894-1EA49EFF4F74}" destId="{81731901-B525-4A59-8E43-431AE0FA9D27}" srcOrd="2" destOrd="0" presId="urn:microsoft.com/office/officeart/2018/2/layout/IconVerticalSolidList"/>
    <dgm:cxn modelId="{DDBF47DE-87FE-44A7-A607-A3151B9317E1}" type="presParOf" srcId="{A5DEA9E2-D64F-455E-A894-1EA49EFF4F74}" destId="{EDA150F7-D61E-41A4-A8AC-F29AC248B2CC}" srcOrd="3" destOrd="0" presId="urn:microsoft.com/office/officeart/2018/2/layout/IconVerticalSolidList"/>
    <dgm:cxn modelId="{0AFF0DEE-CA33-4DDE-A1DA-5744DC81C582}" type="presParOf" srcId="{F26E716E-A6FD-4377-89A5-19D576734DBC}" destId="{FFC63ED5-1171-4AA8-955A-120C0E884C7E}" srcOrd="5" destOrd="0" presId="urn:microsoft.com/office/officeart/2018/2/layout/IconVerticalSolidList"/>
    <dgm:cxn modelId="{0883C335-8778-4E20-9732-2C59EAD9B2A2}" type="presParOf" srcId="{F26E716E-A6FD-4377-89A5-19D576734DBC}" destId="{4A041C21-EB57-438D-8BD7-29408FD362C5}" srcOrd="6" destOrd="0" presId="urn:microsoft.com/office/officeart/2018/2/layout/IconVerticalSolidList"/>
    <dgm:cxn modelId="{85A30193-8671-4B8D-879F-AEEE1BA4AC82}" type="presParOf" srcId="{4A041C21-EB57-438D-8BD7-29408FD362C5}" destId="{7AAB9644-0571-4D25-B928-39BCB7F9F177}" srcOrd="0" destOrd="0" presId="urn:microsoft.com/office/officeart/2018/2/layout/IconVerticalSolidList"/>
    <dgm:cxn modelId="{C8E1C28D-8E2A-44F9-A8EA-0C24E7DCD261}" type="presParOf" srcId="{4A041C21-EB57-438D-8BD7-29408FD362C5}" destId="{F2A99C36-065F-474E-9D47-2283F0E26921}" srcOrd="1" destOrd="0" presId="urn:microsoft.com/office/officeart/2018/2/layout/IconVerticalSolidList"/>
    <dgm:cxn modelId="{74E9C75E-0539-44ED-8AFB-877C17E1A777}" type="presParOf" srcId="{4A041C21-EB57-438D-8BD7-29408FD362C5}" destId="{596A44DC-5D4D-4AB2-A68A-EC496954DE08}" srcOrd="2" destOrd="0" presId="urn:microsoft.com/office/officeart/2018/2/layout/IconVerticalSolidList"/>
    <dgm:cxn modelId="{0D6BAB7E-DAF6-4EF1-8020-834A9357B31A}" type="presParOf" srcId="{4A041C21-EB57-438D-8BD7-29408FD362C5}" destId="{7C2FF3F6-5FAE-4874-8F89-B4330AF65AF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432C74-9071-4411-95C2-B2D9948B78AE}">
      <dsp:nvSpPr>
        <dsp:cNvPr id="0" name=""/>
        <dsp:cNvSpPr/>
      </dsp:nvSpPr>
      <dsp:spPr>
        <a:xfrm>
          <a:off x="0" y="3479"/>
          <a:ext cx="9367898" cy="176359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8E93EF0-87BF-46E6-A20F-214BDAEEE804}">
      <dsp:nvSpPr>
        <dsp:cNvPr id="0" name=""/>
        <dsp:cNvSpPr/>
      </dsp:nvSpPr>
      <dsp:spPr>
        <a:xfrm>
          <a:off x="533486" y="400287"/>
          <a:ext cx="969975" cy="96997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8BA1889-BC1A-4475-83BB-98676C07459C}">
      <dsp:nvSpPr>
        <dsp:cNvPr id="0" name=""/>
        <dsp:cNvSpPr/>
      </dsp:nvSpPr>
      <dsp:spPr>
        <a:xfrm>
          <a:off x="2036948" y="3479"/>
          <a:ext cx="7330949" cy="17635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647" tIns="186647" rIns="186647" bIns="186647" numCol="1" spcCol="1270" anchor="ctr" anchorCtr="0">
          <a:noAutofit/>
        </a:bodyPr>
        <a:lstStyle/>
        <a:p>
          <a:pPr marL="0" lvl="0" indent="0" algn="l" defTabSz="977900">
            <a:lnSpc>
              <a:spcPct val="90000"/>
            </a:lnSpc>
            <a:spcBef>
              <a:spcPct val="0"/>
            </a:spcBef>
            <a:spcAft>
              <a:spcPct val="35000"/>
            </a:spcAft>
            <a:buNone/>
          </a:pPr>
          <a:r>
            <a:rPr lang="es-ES" sz="2200" kern="1200"/>
            <a:t>Crecimiento del cómputo en la nube</a:t>
          </a:r>
          <a:endParaRPr lang="en-US" sz="2200" kern="1200"/>
        </a:p>
      </dsp:txBody>
      <dsp:txXfrm>
        <a:off x="2036948" y="3479"/>
        <a:ext cx="7330949" cy="1763591"/>
      </dsp:txXfrm>
    </dsp:sp>
    <dsp:sp modelId="{4E3FD9C2-FC95-4483-BDED-2468DAB1350C}">
      <dsp:nvSpPr>
        <dsp:cNvPr id="0" name=""/>
        <dsp:cNvSpPr/>
      </dsp:nvSpPr>
      <dsp:spPr>
        <a:xfrm>
          <a:off x="0" y="2207969"/>
          <a:ext cx="9367898" cy="176359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A35A78-F13A-463A-B27F-E262CE130E2D}">
      <dsp:nvSpPr>
        <dsp:cNvPr id="0" name=""/>
        <dsp:cNvSpPr/>
      </dsp:nvSpPr>
      <dsp:spPr>
        <a:xfrm>
          <a:off x="533486" y="2604777"/>
          <a:ext cx="969975" cy="96997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CFD9835-1F24-428F-8A6D-D4998B7183B8}">
      <dsp:nvSpPr>
        <dsp:cNvPr id="0" name=""/>
        <dsp:cNvSpPr/>
      </dsp:nvSpPr>
      <dsp:spPr>
        <a:xfrm>
          <a:off x="2036948" y="2207969"/>
          <a:ext cx="7330949" cy="17635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647" tIns="186647" rIns="186647" bIns="186647" numCol="1" spcCol="1270" anchor="ctr" anchorCtr="0">
          <a:noAutofit/>
        </a:bodyPr>
        <a:lstStyle/>
        <a:p>
          <a:pPr marL="0" lvl="0" indent="0" algn="l" defTabSz="977900">
            <a:lnSpc>
              <a:spcPct val="90000"/>
            </a:lnSpc>
            <a:spcBef>
              <a:spcPct val="0"/>
            </a:spcBef>
            <a:spcAft>
              <a:spcPct val="35000"/>
            </a:spcAft>
            <a:buNone/>
          </a:pPr>
          <a:r>
            <a:rPr lang="es-ES" sz="2200" kern="1200"/>
            <a:t>DevOps y CI/CD</a:t>
          </a:r>
          <a:endParaRPr lang="en-US" sz="2200" kern="1200"/>
        </a:p>
      </dsp:txBody>
      <dsp:txXfrm>
        <a:off x="2036948" y="2207969"/>
        <a:ext cx="7330949" cy="1763591"/>
      </dsp:txXfrm>
    </dsp:sp>
    <dsp:sp modelId="{040B9863-63CD-4D88-9018-202F5B728AEE}">
      <dsp:nvSpPr>
        <dsp:cNvPr id="0" name=""/>
        <dsp:cNvSpPr/>
      </dsp:nvSpPr>
      <dsp:spPr>
        <a:xfrm>
          <a:off x="0" y="4412458"/>
          <a:ext cx="9367898" cy="176359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8E79F00-9EC4-42AD-8C5A-B1BA5224A211}">
      <dsp:nvSpPr>
        <dsp:cNvPr id="0" name=""/>
        <dsp:cNvSpPr/>
      </dsp:nvSpPr>
      <dsp:spPr>
        <a:xfrm>
          <a:off x="533486" y="4809267"/>
          <a:ext cx="969975" cy="96997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DA150F7-D61E-41A4-A8AC-F29AC248B2CC}">
      <dsp:nvSpPr>
        <dsp:cNvPr id="0" name=""/>
        <dsp:cNvSpPr/>
      </dsp:nvSpPr>
      <dsp:spPr>
        <a:xfrm>
          <a:off x="2036948" y="4412458"/>
          <a:ext cx="7330949" cy="17635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647" tIns="186647" rIns="186647" bIns="186647" numCol="1" spcCol="1270" anchor="ctr" anchorCtr="0">
          <a:noAutofit/>
        </a:bodyPr>
        <a:lstStyle/>
        <a:p>
          <a:pPr marL="0" lvl="0" indent="0" algn="l" defTabSz="977900">
            <a:lnSpc>
              <a:spcPct val="90000"/>
            </a:lnSpc>
            <a:spcBef>
              <a:spcPct val="0"/>
            </a:spcBef>
            <a:spcAft>
              <a:spcPct val="35000"/>
            </a:spcAft>
            <a:buNone/>
          </a:pPr>
          <a:r>
            <a:rPr lang="es-ES" sz="2200" kern="1200"/>
            <a:t>Contenedores y Kubernetes – Herramientas como Docker y Kubernetes</a:t>
          </a:r>
          <a:endParaRPr lang="en-US" sz="2200" kern="1200"/>
        </a:p>
      </dsp:txBody>
      <dsp:txXfrm>
        <a:off x="2036948" y="4412458"/>
        <a:ext cx="7330949" cy="1763591"/>
      </dsp:txXfrm>
    </dsp:sp>
    <dsp:sp modelId="{7AAB9644-0571-4D25-B928-39BCB7F9F177}">
      <dsp:nvSpPr>
        <dsp:cNvPr id="0" name=""/>
        <dsp:cNvSpPr/>
      </dsp:nvSpPr>
      <dsp:spPr>
        <a:xfrm>
          <a:off x="0" y="6616948"/>
          <a:ext cx="9367898" cy="176359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2A99C36-065F-474E-9D47-2283F0E26921}">
      <dsp:nvSpPr>
        <dsp:cNvPr id="0" name=""/>
        <dsp:cNvSpPr/>
      </dsp:nvSpPr>
      <dsp:spPr>
        <a:xfrm>
          <a:off x="533486" y="7013756"/>
          <a:ext cx="969975" cy="96997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C2FF3F6-5FAE-4874-8F89-B4330AF65AF6}">
      <dsp:nvSpPr>
        <dsp:cNvPr id="0" name=""/>
        <dsp:cNvSpPr/>
      </dsp:nvSpPr>
      <dsp:spPr>
        <a:xfrm>
          <a:off x="2036948" y="6616948"/>
          <a:ext cx="7330949" cy="17635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647" tIns="186647" rIns="186647" bIns="186647" numCol="1" spcCol="1270" anchor="ctr" anchorCtr="0">
          <a:noAutofit/>
        </a:bodyPr>
        <a:lstStyle/>
        <a:p>
          <a:pPr marL="0" lvl="0" indent="0" algn="l" defTabSz="977900">
            <a:lnSpc>
              <a:spcPct val="90000"/>
            </a:lnSpc>
            <a:spcBef>
              <a:spcPct val="0"/>
            </a:spcBef>
            <a:spcAft>
              <a:spcPct val="35000"/>
            </a:spcAft>
            <a:buNone/>
          </a:pPr>
          <a:r>
            <a:rPr lang="es-ES" sz="2200" kern="1200"/>
            <a:t>Necesidad de escalabilidad</a:t>
          </a:r>
          <a:endParaRPr lang="en-US" sz="2200" kern="1200"/>
        </a:p>
      </dsp:txBody>
      <dsp:txXfrm>
        <a:off x="2036948" y="6616948"/>
        <a:ext cx="7330949" cy="1763591"/>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GT"/>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64afea4f63_0_0: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6" name="Google Shape;86;g364afea4f63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GT"/>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GT"/>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GT"/>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3" name="Google Shape;14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GT"/>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GT"/>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38393cb8ca_0_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 name="Google Shape;208;g338393cb8ca_0_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209" name="Google Shape;209;g338393cb8ca_0_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a:solidFill>
                  <a:schemeClr val="dk1"/>
                </a:solidFill>
                <a:latin typeface="Calibri"/>
                <a:ea typeface="Calibri"/>
                <a:cs typeface="Calibri"/>
                <a:sym typeface="Calibri"/>
              </a:rPr>
              <a:t>13</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338393cb8ca_0_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g338393cb8ca_0_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5" name="Google Shape;225;g338393cb8ca_0_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15</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8" name="Google Shape;16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GT"/>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338393cb8ca_0_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6" name="Google Shape;236;g338393cb8ca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237" name="Google Shape;237;g338393cb8ca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a:solidFill>
                  <a:schemeClr val="dk1"/>
                </a:solidFill>
                <a:latin typeface="Calibri"/>
                <a:ea typeface="Calibri"/>
                <a:cs typeface="Calibri"/>
                <a:sym typeface="Calibri"/>
              </a:rPr>
              <a:t>17</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38393cb8ca_0_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1" name="Google Shape;251;g338393cb8ca_0_8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2" name="Google Shape;252;g338393cb8ca_0_8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19</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9" name="Google Shape;269;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0" name="Google Shape;270;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20</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338393cb8ca_0_1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g338393cb8ca_0_1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0" name="Google Shape;280;g338393cb8ca_0_1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21</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38393cb8ca_0_1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g338393cb8ca_0_1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0" name="Google Shape;290;g338393cb8ca_0_1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22</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38393cb8ca_0_1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g338393cb8ca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0" name="Google Shape;300;g338393cb8ca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23</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338393cb8ca_0_1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9" name="Google Shape;309;g338393cb8ca_0_1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0" name="Google Shape;310;g338393cb8ca_0_17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24</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338393cb8ca_0_1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8" name="Google Shape;318;g338393cb8ca_0_18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9" name="Google Shape;319;g338393cb8ca_0_18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25</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64afea4f63_0_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GT"/>
          </a:p>
        </p:txBody>
      </p:sp>
      <p:sp>
        <p:nvSpPr>
          <p:cNvPr id="214" name="Google Shape;214;g364afea4f63_0_1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0" name="Google Shape;22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GT"/>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1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8"/>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8"/>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57" name="Google Shape;57;p18"/>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58" name="Google Shape;58;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9"/>
          <p:cNvSpPr>
            <a:spLocks noGrp="1"/>
          </p:cNvSpPr>
          <p:nvPr>
            <p:ph type="pic" idx="2"/>
          </p:nvPr>
        </p:nvSpPr>
        <p:spPr>
          <a:xfrm>
            <a:off x="1792288" y="612775"/>
            <a:ext cx="5486400" cy="4114800"/>
          </a:xfrm>
          <a:prstGeom prst="rect">
            <a:avLst/>
          </a:prstGeom>
          <a:noFill/>
          <a:ln>
            <a:noFill/>
          </a:ln>
        </p:spPr>
        <p:txBody>
          <a:bodyPr/>
          <a:lstStyle/>
          <a:p>
            <a:endParaRPr lang="es-GT"/>
          </a:p>
        </p:txBody>
      </p:sp>
      <p:sp>
        <p:nvSpPr>
          <p:cNvPr id="64" name="Google Shape;64;p1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5" name="Google Shape;65;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0"/>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1" name="Google Shape;71;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1"/>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1"/>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7" name="Google Shape;77;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0"/>
        <p:cNvGrpSpPr/>
        <p:nvPr/>
      </p:nvGrpSpPr>
      <p:grpSpPr>
        <a:xfrm>
          <a:off x="0" y="0"/>
          <a:ext cx="0" cy="0"/>
          <a:chOff x="0" y="0"/>
          <a:chExt cx="0" cy="0"/>
        </a:xfrm>
      </p:grpSpPr>
      <p:sp>
        <p:nvSpPr>
          <p:cNvPr id="81" name="Google Shape;81;g385e2d797db_0_67"/>
          <p:cNvSpPr txBox="1">
            <a:spLocks noGrp="1"/>
          </p:cNvSpPr>
          <p:nvPr>
            <p:ph type="title"/>
          </p:nvPr>
        </p:nvSpPr>
        <p:spPr>
          <a:xfrm>
            <a:off x="623400" y="890050"/>
            <a:ext cx="17041200" cy="1145400"/>
          </a:xfrm>
          <a:prstGeom prst="rect">
            <a:avLst/>
          </a:prstGeom>
          <a:noFill/>
          <a:ln>
            <a:noFill/>
          </a:ln>
        </p:spPr>
        <p:txBody>
          <a:bodyPr spcFirstLastPara="1" wrap="square" lIns="182850" tIns="182850" rIns="182850" bIns="182850" anchor="t" anchorCtr="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a:endParaRPr/>
          </a:p>
        </p:txBody>
      </p:sp>
      <p:sp>
        <p:nvSpPr>
          <p:cNvPr id="82" name="Google Shape;82;g385e2d797db_0_67"/>
          <p:cNvSpPr txBox="1">
            <a:spLocks noGrp="1"/>
          </p:cNvSpPr>
          <p:nvPr>
            <p:ph type="body" idx="1"/>
          </p:nvPr>
        </p:nvSpPr>
        <p:spPr>
          <a:xfrm>
            <a:off x="623400" y="2304950"/>
            <a:ext cx="17041200" cy="6832800"/>
          </a:xfrm>
          <a:prstGeom prst="rect">
            <a:avLst/>
          </a:prstGeom>
          <a:noFill/>
          <a:ln>
            <a:noFill/>
          </a:ln>
        </p:spPr>
        <p:txBody>
          <a:bodyPr spcFirstLastPara="1" wrap="square" lIns="182850" tIns="182850" rIns="182850" bIns="182850" anchor="t" anchorCtr="0">
            <a:normAutofit/>
          </a:bodyPr>
          <a:lstStyle>
            <a:lvl1pPr marL="457200" lvl="0" indent="-457200" algn="l">
              <a:lnSpc>
                <a:spcPct val="115000"/>
              </a:lnSpc>
              <a:spcBef>
                <a:spcPts val="0"/>
              </a:spcBef>
              <a:spcAft>
                <a:spcPts val="0"/>
              </a:spcAft>
              <a:buSzPts val="3600"/>
              <a:buChar char="●"/>
              <a:defRPr/>
            </a:lvl1pPr>
            <a:lvl2pPr marL="914400" lvl="1" indent="-406400" algn="l">
              <a:lnSpc>
                <a:spcPct val="115000"/>
              </a:lnSpc>
              <a:spcBef>
                <a:spcPts val="0"/>
              </a:spcBef>
              <a:spcAft>
                <a:spcPts val="0"/>
              </a:spcAft>
              <a:buSzPts val="2800"/>
              <a:buChar char="○"/>
              <a:defRPr/>
            </a:lvl2pPr>
            <a:lvl3pPr marL="1371600" lvl="2" indent="-406400" algn="l">
              <a:lnSpc>
                <a:spcPct val="115000"/>
              </a:lnSpc>
              <a:spcBef>
                <a:spcPts val="0"/>
              </a:spcBef>
              <a:spcAft>
                <a:spcPts val="0"/>
              </a:spcAft>
              <a:buSzPts val="2800"/>
              <a:buChar char="■"/>
              <a:defRPr/>
            </a:lvl3pPr>
            <a:lvl4pPr marL="1828800" lvl="3" indent="-406400" algn="l">
              <a:lnSpc>
                <a:spcPct val="115000"/>
              </a:lnSpc>
              <a:spcBef>
                <a:spcPts val="0"/>
              </a:spcBef>
              <a:spcAft>
                <a:spcPts val="0"/>
              </a:spcAft>
              <a:buSzPts val="2800"/>
              <a:buChar char="●"/>
              <a:defRPr/>
            </a:lvl4pPr>
            <a:lvl5pPr marL="2286000" lvl="4" indent="-406400" algn="l">
              <a:lnSpc>
                <a:spcPct val="115000"/>
              </a:lnSpc>
              <a:spcBef>
                <a:spcPts val="0"/>
              </a:spcBef>
              <a:spcAft>
                <a:spcPts val="0"/>
              </a:spcAft>
              <a:buSzPts val="2800"/>
              <a:buChar char="○"/>
              <a:defRPr/>
            </a:lvl5pPr>
            <a:lvl6pPr marL="2743200" lvl="5" indent="-406400" algn="l">
              <a:lnSpc>
                <a:spcPct val="115000"/>
              </a:lnSpc>
              <a:spcBef>
                <a:spcPts val="0"/>
              </a:spcBef>
              <a:spcAft>
                <a:spcPts val="0"/>
              </a:spcAft>
              <a:buSzPts val="2800"/>
              <a:buChar char="■"/>
              <a:defRPr/>
            </a:lvl6pPr>
            <a:lvl7pPr marL="3200400" lvl="6" indent="-406400" algn="l">
              <a:lnSpc>
                <a:spcPct val="115000"/>
              </a:lnSpc>
              <a:spcBef>
                <a:spcPts val="0"/>
              </a:spcBef>
              <a:spcAft>
                <a:spcPts val="0"/>
              </a:spcAft>
              <a:buSzPts val="2800"/>
              <a:buChar char="●"/>
              <a:defRPr/>
            </a:lvl7pPr>
            <a:lvl8pPr marL="3657600" lvl="7" indent="-406400" algn="l">
              <a:lnSpc>
                <a:spcPct val="115000"/>
              </a:lnSpc>
              <a:spcBef>
                <a:spcPts val="0"/>
              </a:spcBef>
              <a:spcAft>
                <a:spcPts val="0"/>
              </a:spcAft>
              <a:buSzPts val="2800"/>
              <a:buChar char="○"/>
              <a:defRPr/>
            </a:lvl8pPr>
            <a:lvl9pPr marL="4114800" lvl="8" indent="-406400" algn="l">
              <a:lnSpc>
                <a:spcPct val="115000"/>
              </a:lnSpc>
              <a:spcBef>
                <a:spcPts val="0"/>
              </a:spcBef>
              <a:spcAft>
                <a:spcPts val="0"/>
              </a:spcAft>
              <a:buSzPts val="2800"/>
              <a:buChar char="■"/>
              <a:defRPr/>
            </a:lvl9pPr>
          </a:lstStyle>
          <a:p>
            <a:endParaRPr/>
          </a:p>
        </p:txBody>
      </p:sp>
      <p:sp>
        <p:nvSpPr>
          <p:cNvPr id="83" name="Google Shape;83;g385e2d797db_0_67"/>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5" r:id="rId6"/>
    <p:sldLayoutId id="2147483656" r:id="rId7"/>
    <p:sldLayoutId id="2147483657" r:id="rId8"/>
    <p:sldLayoutId id="2147483658" r:id="rId9"/>
    <p:sldLayoutId id="2147483659" r:id="rId10"/>
    <p:sldLayoutId id="214748366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g364afea4f63_0_0"/>
          <p:cNvPicPr preferRelativeResize="0"/>
          <p:nvPr/>
        </p:nvPicPr>
        <p:blipFill rotWithShape="1">
          <a:blip r:embed="rId3">
            <a:alphaModFix/>
          </a:blip>
          <a:srcRect/>
          <a:stretch/>
        </p:blipFill>
        <p:spPr>
          <a:xfrm>
            <a:off x="0" y="0"/>
            <a:ext cx="18288000" cy="10287003"/>
          </a:xfrm>
          <a:prstGeom prst="rect">
            <a:avLst/>
          </a:prstGeom>
          <a:noFill/>
          <a:ln>
            <a:noFill/>
          </a:ln>
        </p:spPr>
      </p:pic>
      <p:sp>
        <p:nvSpPr>
          <p:cNvPr id="89" name="Google Shape;89;g364afea4f63_0_0"/>
          <p:cNvSpPr/>
          <p:nvPr/>
        </p:nvSpPr>
        <p:spPr>
          <a:xfrm>
            <a:off x="3598050" y="5988675"/>
            <a:ext cx="7365000" cy="724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s-GT" sz="2600" b="0" i="0" u="none" strike="noStrike" cap="none" noProof="0" dirty="0">
                <a:solidFill>
                  <a:srgbClr val="000000"/>
                </a:solidFill>
                <a:latin typeface="Calibri"/>
                <a:ea typeface="Calibri"/>
                <a:cs typeface="Calibri"/>
                <a:sym typeface="Calibri"/>
              </a:rPr>
              <a:t>Kevin Raúl Pozuelos Estrada</a:t>
            </a:r>
          </a:p>
        </p:txBody>
      </p:sp>
      <p:sp>
        <p:nvSpPr>
          <p:cNvPr id="90" name="Google Shape;90;g364afea4f63_0_0"/>
          <p:cNvSpPr/>
          <p:nvPr/>
        </p:nvSpPr>
        <p:spPr>
          <a:xfrm>
            <a:off x="3090925" y="4781250"/>
            <a:ext cx="10142100" cy="724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100"/>
              <a:buFont typeface="Arial"/>
              <a:buNone/>
            </a:pPr>
            <a:r>
              <a:rPr lang="es-GT" sz="3100" b="0" i="0" u="none" strike="noStrike" cap="none" noProof="0" dirty="0">
                <a:solidFill>
                  <a:srgbClr val="000000"/>
                </a:solidFill>
                <a:latin typeface="Calibri"/>
                <a:ea typeface="Calibri"/>
                <a:cs typeface="Calibri"/>
                <a:sym typeface="Calibri"/>
              </a:rPr>
              <a:t>Software Avanzado </a:t>
            </a:r>
            <a:r>
              <a:rPr lang="es-GT" sz="3100" b="0" i="0" u="none" strike="noStrike" cap="none" noProof="0" dirty="0" err="1">
                <a:solidFill>
                  <a:srgbClr val="000000"/>
                </a:solidFill>
                <a:latin typeface="Calibri"/>
                <a:ea typeface="Calibri"/>
                <a:cs typeface="Calibri"/>
                <a:sym typeface="Calibri"/>
              </a:rPr>
              <a:t>Seccion</a:t>
            </a:r>
            <a:r>
              <a:rPr lang="es-GT" sz="3100" b="0" i="0" u="none" strike="noStrike" cap="none" noProof="0" dirty="0">
                <a:solidFill>
                  <a:srgbClr val="000000"/>
                </a:solidFill>
                <a:latin typeface="Calibri"/>
                <a:ea typeface="Calibri"/>
                <a:cs typeface="Calibri"/>
                <a:sym typeface="Calibri"/>
              </a:rPr>
              <a:t> B</a:t>
            </a:r>
          </a:p>
        </p:txBody>
      </p:sp>
      <p:sp>
        <p:nvSpPr>
          <p:cNvPr id="2" name="Google Shape;90;g364afea4f63_0_0">
            <a:extLst>
              <a:ext uri="{FF2B5EF4-FFF2-40B4-BE49-F238E27FC236}">
                <a16:creationId xmlns:a16="http://schemas.microsoft.com/office/drawing/2014/main" id="{AA80F5D4-5F81-3DA5-7699-90AF77AA0920}"/>
              </a:ext>
            </a:extLst>
          </p:cNvPr>
          <p:cNvSpPr/>
          <p:nvPr/>
        </p:nvSpPr>
        <p:spPr>
          <a:xfrm>
            <a:off x="13702351" y="1944790"/>
            <a:ext cx="4312693" cy="784761"/>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100"/>
              <a:buFont typeface="Arial"/>
              <a:buNone/>
            </a:pPr>
            <a:r>
              <a:rPr lang="es-GT" sz="3100" b="0" i="0" u="none" strike="noStrike" cap="none" noProof="0" dirty="0">
                <a:solidFill>
                  <a:srgbClr val="000000"/>
                </a:solidFill>
                <a:latin typeface="Calibri"/>
                <a:ea typeface="Calibri"/>
                <a:cs typeface="Calibri"/>
                <a:sym typeface="Calibri"/>
              </a:rPr>
              <a:t>12/02/2026</a:t>
            </a:r>
          </a:p>
        </p:txBody>
      </p:sp>
      <p:sp>
        <p:nvSpPr>
          <p:cNvPr id="3" name="Google Shape;90;g364afea4f63_0_0">
            <a:extLst>
              <a:ext uri="{FF2B5EF4-FFF2-40B4-BE49-F238E27FC236}">
                <a16:creationId xmlns:a16="http://schemas.microsoft.com/office/drawing/2014/main" id="{5D6A39ED-BAEA-CDC0-8EF8-624CF982507D}"/>
              </a:ext>
            </a:extLst>
          </p:cNvPr>
          <p:cNvSpPr/>
          <p:nvPr/>
        </p:nvSpPr>
        <p:spPr>
          <a:xfrm>
            <a:off x="13702351" y="2729551"/>
            <a:ext cx="4312693" cy="784761"/>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100"/>
              <a:buFont typeface="Arial"/>
              <a:buNone/>
            </a:pPr>
            <a:r>
              <a:rPr lang="es-GT" sz="3100" b="0" i="0" u="none" strike="noStrike" cap="none" noProof="0" dirty="0">
                <a:solidFill>
                  <a:srgbClr val="000000"/>
                </a:solidFill>
                <a:latin typeface="Calibri"/>
                <a:ea typeface="Calibri"/>
                <a:cs typeface="Calibri"/>
                <a:sym typeface="Calibri"/>
              </a:rPr>
              <a:t>17:20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6" name="Google Shape;96;p1"/>
          <p:cNvSpPr txBox="1"/>
          <p:nvPr/>
        </p:nvSpPr>
        <p:spPr>
          <a:xfrm>
            <a:off x="890249" y="7555025"/>
            <a:ext cx="8526600" cy="1077218"/>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5000"/>
              <a:buFont typeface="Arial"/>
              <a:buNone/>
            </a:pPr>
            <a:r>
              <a:rPr lang="es-GT" sz="5000" b="1" i="0" u="none" strike="noStrike" cap="none" noProof="0" dirty="0">
                <a:solidFill>
                  <a:srgbClr val="131416"/>
                </a:solidFill>
                <a:latin typeface="Open Sans"/>
                <a:ea typeface="Open Sans"/>
                <a:cs typeface="Open Sans"/>
                <a:sym typeface="Open Sans"/>
              </a:rPr>
              <a:t>Software Avanzado</a:t>
            </a:r>
          </a:p>
        </p:txBody>
      </p:sp>
      <p:sp>
        <p:nvSpPr>
          <p:cNvPr id="97" name="Google Shape;97;p1"/>
          <p:cNvSpPr txBox="1"/>
          <p:nvPr/>
        </p:nvSpPr>
        <p:spPr>
          <a:xfrm>
            <a:off x="2591255" y="2167474"/>
            <a:ext cx="12375000" cy="3964162"/>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9200"/>
              <a:buFont typeface="Arial"/>
              <a:buNone/>
            </a:pPr>
            <a:r>
              <a:rPr lang="es-GT" sz="9200" b="1" i="0" u="none" strike="noStrike" cap="none" noProof="0" dirty="0">
                <a:solidFill>
                  <a:srgbClr val="131416"/>
                </a:solidFill>
                <a:latin typeface="Open Sans"/>
                <a:ea typeface="Open Sans"/>
                <a:cs typeface="Open Sans"/>
                <a:sym typeface="Open Sans"/>
              </a:rPr>
              <a:t>Arquitectura de Software</a:t>
            </a:r>
            <a:endParaRPr lang="es-GT" sz="1400" b="0" i="0" u="none" strike="noStrike" cap="none" noProof="0" dirty="0">
              <a:solidFill>
                <a:srgbClr val="000000"/>
              </a:solidFill>
              <a:latin typeface="Arial"/>
              <a:ea typeface="Arial"/>
              <a:cs typeface="Arial"/>
              <a:sym typeface="Arial"/>
            </a:endParaRPr>
          </a:p>
        </p:txBody>
      </p:sp>
      <p:sp>
        <p:nvSpPr>
          <p:cNvPr id="98" name="Google Shape;98;p1"/>
          <p:cNvSpPr txBox="1"/>
          <p:nvPr/>
        </p:nvSpPr>
        <p:spPr>
          <a:xfrm>
            <a:off x="1063303" y="8745251"/>
            <a:ext cx="6981379" cy="422275"/>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es-GT" sz="2499" b="1" i="0" u="none" strike="noStrike" cap="none" noProof="0" dirty="0">
                <a:solidFill>
                  <a:srgbClr val="131416"/>
                </a:solidFill>
                <a:latin typeface="Open Sans"/>
                <a:ea typeface="Open Sans"/>
                <a:cs typeface="Open Sans"/>
                <a:sym typeface="Open Sans"/>
              </a:rPr>
              <a:t>Escuela de </a:t>
            </a:r>
            <a:r>
              <a:rPr lang="es-GT" sz="2499" b="1" i="0" u="none" strike="noStrike" cap="none" noProof="0" dirty="0" err="1">
                <a:solidFill>
                  <a:srgbClr val="131416"/>
                </a:solidFill>
                <a:latin typeface="Open Sans"/>
                <a:ea typeface="Open Sans"/>
                <a:cs typeface="Open Sans"/>
                <a:sym typeface="Open Sans"/>
              </a:rPr>
              <a:t>Ingenieria</a:t>
            </a:r>
            <a:r>
              <a:rPr lang="es-GT" sz="2499" b="1" i="0" u="none" strike="noStrike" cap="none" noProof="0" dirty="0">
                <a:solidFill>
                  <a:srgbClr val="131416"/>
                </a:solidFill>
                <a:latin typeface="Open Sans"/>
                <a:ea typeface="Open Sans"/>
                <a:cs typeface="Open Sans"/>
                <a:sym typeface="Open Sans"/>
              </a:rPr>
              <a:t> de Ciencias Y Sistemas</a:t>
            </a:r>
          </a:p>
        </p:txBody>
      </p:sp>
      <p:sp>
        <p:nvSpPr>
          <p:cNvPr id="99" name="Google Shape;99;p1"/>
          <p:cNvSpPr txBox="1"/>
          <p:nvPr/>
        </p:nvSpPr>
        <p:spPr>
          <a:xfrm>
            <a:off x="1028700" y="9210675"/>
            <a:ext cx="6667500" cy="422275"/>
          </a:xfrm>
          <a:prstGeom prst="rect">
            <a:avLst/>
          </a:prstGeom>
          <a:noFill/>
          <a:ln>
            <a:noFill/>
          </a:ln>
        </p:spPr>
        <p:txBody>
          <a:bodyPr spcFirstLastPara="1" wrap="square" lIns="0" tIns="0" rIns="0" bIns="0" anchor="t" anchorCtr="0">
            <a:spAutoFit/>
          </a:bodyPr>
          <a:lstStyle/>
          <a:p>
            <a:pPr marL="0" marR="0" lvl="0" indent="0" algn="l" rtl="0">
              <a:lnSpc>
                <a:spcPct val="140016"/>
              </a:lnSpc>
              <a:spcBef>
                <a:spcPts val="0"/>
              </a:spcBef>
              <a:spcAft>
                <a:spcPts val="0"/>
              </a:spcAft>
              <a:buClr>
                <a:srgbClr val="000000"/>
              </a:buClr>
              <a:buSzPts val="2499"/>
              <a:buFont typeface="Arial"/>
              <a:buNone/>
            </a:pPr>
            <a:r>
              <a:rPr lang="es-GT" sz="2499" b="1" i="0" u="none" strike="noStrike" cap="none" noProof="0" dirty="0">
                <a:solidFill>
                  <a:srgbClr val="131416"/>
                </a:solidFill>
                <a:latin typeface="Open Sans"/>
                <a:ea typeface="Open Sans"/>
                <a:cs typeface="Open Sans"/>
                <a:sym typeface="Open Sans"/>
              </a:rPr>
              <a:t>Facultad de </a:t>
            </a:r>
            <a:r>
              <a:rPr lang="es-GT" sz="2499" b="1" i="0" u="none" strike="noStrike" cap="none" noProof="0" dirty="0" err="1">
                <a:solidFill>
                  <a:srgbClr val="131416"/>
                </a:solidFill>
                <a:latin typeface="Open Sans"/>
                <a:ea typeface="Open Sans"/>
                <a:cs typeface="Open Sans"/>
                <a:sym typeface="Open Sans"/>
              </a:rPr>
              <a:t>Ingenieria</a:t>
            </a:r>
            <a:endParaRPr lang="es-GT" sz="2499" b="1" i="0" u="none" strike="noStrike" cap="none" noProof="0" dirty="0">
              <a:solidFill>
                <a:srgbClr val="131416"/>
              </a:solidFill>
              <a:latin typeface="Open Sans"/>
              <a:ea typeface="Open Sans"/>
              <a:cs typeface="Open Sans"/>
              <a:sym typeface="Open Sans"/>
            </a:endParaRPr>
          </a:p>
        </p:txBody>
      </p:sp>
      <p:sp>
        <p:nvSpPr>
          <p:cNvPr id="100" name="Google Shape;100;p1"/>
          <p:cNvSpPr txBox="1"/>
          <p:nvPr/>
        </p:nvSpPr>
        <p:spPr>
          <a:xfrm>
            <a:off x="228600" y="9588254"/>
            <a:ext cx="8115300" cy="419346"/>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es-GT" sz="2499" b="1" i="0" u="none" strike="noStrike" cap="none" noProof="0" dirty="0">
                <a:solidFill>
                  <a:srgbClr val="131416"/>
                </a:solidFill>
                <a:latin typeface="Open Sans"/>
                <a:ea typeface="Open Sans"/>
                <a:cs typeface="Open Sans"/>
                <a:sym typeface="Open Sans"/>
              </a:rPr>
              <a:t>Universidad de San Carlos de Guatemala</a:t>
            </a:r>
            <a:endParaRPr lang="es-GT" sz="1400" b="0" i="0" u="none" strike="noStrike" cap="none" noProof="0" dirty="0">
              <a:solidFill>
                <a:srgbClr val="000000"/>
              </a:solidFill>
              <a:latin typeface="Arial"/>
              <a:ea typeface="Arial"/>
              <a:cs typeface="Arial"/>
              <a:sym typeface="Arial"/>
            </a:endParaRPr>
          </a:p>
        </p:txBody>
      </p:sp>
      <p:pic>
        <p:nvPicPr>
          <p:cNvPr id="102" name="Google Shape;102;p1"/>
          <p:cNvPicPr preferRelativeResize="0"/>
          <p:nvPr/>
        </p:nvPicPr>
        <p:blipFill>
          <a:blip r:embed="rId3">
            <a:alphaModFix/>
          </a:blip>
          <a:stretch>
            <a:fillRect/>
          </a:stretch>
        </p:blipFill>
        <p:spPr>
          <a:xfrm>
            <a:off x="8044675" y="0"/>
            <a:ext cx="10243325" cy="106701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grpSp>
        <p:nvGrpSpPr>
          <p:cNvPr id="107" name="Google Shape;107;p2"/>
          <p:cNvGrpSpPr/>
          <p:nvPr/>
        </p:nvGrpSpPr>
        <p:grpSpPr>
          <a:xfrm>
            <a:off x="651744" y="3875846"/>
            <a:ext cx="4613551" cy="845385"/>
            <a:chOff x="0" y="-76200"/>
            <a:chExt cx="1964221" cy="359923"/>
          </a:xfrm>
        </p:grpSpPr>
        <p:sp>
          <p:nvSpPr>
            <p:cNvPr id="108" name="Google Shape;108;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09" name="Google Shape;109;p2"/>
            <p:cNvSpPr txBox="1"/>
            <p:nvPr/>
          </p:nvSpPr>
          <p:spPr>
            <a:xfrm>
              <a:off x="0" y="-76200"/>
              <a:ext cx="1849921"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b="0" i="0" u="none" strike="noStrike" cap="none" noProof="0" dirty="0">
                  <a:solidFill>
                    <a:srgbClr val="000000"/>
                  </a:solidFill>
                  <a:latin typeface="Arial"/>
                  <a:ea typeface="Arial"/>
                  <a:cs typeface="Arial"/>
                  <a:sym typeface="Arial"/>
                </a:rPr>
                <a:t>Dudas Iniciales</a:t>
              </a:r>
              <a:endParaRPr lang="es-GT" sz="1400" b="0" i="0" u="none" strike="noStrike" cap="none" noProof="0" dirty="0">
                <a:solidFill>
                  <a:srgbClr val="000000"/>
                </a:solidFill>
                <a:latin typeface="Arial"/>
                <a:ea typeface="Arial"/>
                <a:cs typeface="Arial"/>
                <a:sym typeface="Arial"/>
              </a:endParaRPr>
            </a:p>
          </p:txBody>
        </p:sp>
      </p:grpSp>
      <p:sp>
        <p:nvSpPr>
          <p:cNvPr id="110" name="Google Shape;110;p2"/>
          <p:cNvSpPr/>
          <p:nvPr/>
        </p:nvSpPr>
        <p:spPr>
          <a:xfrm>
            <a:off x="878649" y="4106859"/>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grpSp>
        <p:nvGrpSpPr>
          <p:cNvPr id="111" name="Google Shape;111;p2"/>
          <p:cNvGrpSpPr/>
          <p:nvPr/>
        </p:nvGrpSpPr>
        <p:grpSpPr>
          <a:xfrm>
            <a:off x="1866984" y="2380401"/>
            <a:ext cx="4115190" cy="1556484"/>
            <a:chOff x="0" y="-76200"/>
            <a:chExt cx="1083836" cy="409938"/>
          </a:xfrm>
        </p:grpSpPr>
        <p:sp>
          <p:nvSpPr>
            <p:cNvPr id="112" name="Google Shape;112;p2"/>
            <p:cNvSpPr/>
            <p:nvPr/>
          </p:nvSpPr>
          <p:spPr>
            <a:xfrm>
              <a:off x="0" y="0"/>
              <a:ext cx="1083836" cy="333738"/>
            </a:xfrm>
            <a:custGeom>
              <a:avLst/>
              <a:gdLst/>
              <a:ahLst/>
              <a:cxnLst/>
              <a:rect l="l" t="t" r="r" b="b"/>
              <a:pathLst>
                <a:path w="1083836" h="333738" extrusionOk="0">
                  <a:moveTo>
                    <a:pt x="880636" y="0"/>
                  </a:moveTo>
                  <a:lnTo>
                    <a:pt x="0" y="0"/>
                  </a:lnTo>
                  <a:lnTo>
                    <a:pt x="0" y="333738"/>
                  </a:lnTo>
                  <a:lnTo>
                    <a:pt x="880636" y="333738"/>
                  </a:lnTo>
                  <a:lnTo>
                    <a:pt x="1083836" y="166869"/>
                  </a:lnTo>
                  <a:lnTo>
                    <a:pt x="880636" y="0"/>
                  </a:lnTo>
                  <a:close/>
                </a:path>
              </a:pathLst>
            </a:custGeom>
            <a:solidFill>
              <a:srgbClr val="FFFFFF"/>
            </a:solidFill>
            <a:ln>
              <a:noFill/>
            </a:ln>
          </p:spPr>
          <p:txBody>
            <a:bodyPr/>
            <a:lstStyle/>
            <a:p>
              <a:endParaRPr lang="es-GT" noProof="0" dirty="0"/>
            </a:p>
          </p:txBody>
        </p:sp>
        <p:sp>
          <p:nvSpPr>
            <p:cNvPr id="113" name="Google Shape;113;p2"/>
            <p:cNvSpPr txBox="1"/>
            <p:nvPr/>
          </p:nvSpPr>
          <p:spPr>
            <a:xfrm>
              <a:off x="0" y="-76200"/>
              <a:ext cx="969536" cy="409938"/>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b="0" i="0" u="none" strike="noStrike" cap="none" noProof="0" dirty="0">
                  <a:solidFill>
                    <a:srgbClr val="000000"/>
                  </a:solidFill>
                  <a:latin typeface="Arial"/>
                  <a:ea typeface="Arial"/>
                  <a:cs typeface="Arial"/>
                  <a:sym typeface="Arial"/>
                </a:rPr>
                <a:t>RECORDATORIOS</a:t>
              </a:r>
              <a:endParaRPr lang="es-GT" sz="1400" b="0" i="0" u="none" strike="noStrike" cap="none" noProof="0" dirty="0">
                <a:solidFill>
                  <a:srgbClr val="000000"/>
                </a:solidFill>
                <a:latin typeface="Arial"/>
                <a:ea typeface="Arial"/>
                <a:cs typeface="Arial"/>
                <a:sym typeface="Arial"/>
              </a:endParaRPr>
            </a:p>
          </p:txBody>
        </p:sp>
      </p:grpSp>
      <p:sp>
        <p:nvSpPr>
          <p:cNvPr id="114" name="Google Shape;114;p2"/>
          <p:cNvSpPr/>
          <p:nvPr/>
        </p:nvSpPr>
        <p:spPr>
          <a:xfrm>
            <a:off x="651749" y="2796153"/>
            <a:ext cx="753892" cy="872928"/>
          </a:xfrm>
          <a:custGeom>
            <a:avLst/>
            <a:gdLst/>
            <a:ahLst/>
            <a:cxnLst/>
            <a:rect l="l" t="t" r="r" b="b"/>
            <a:pathLst>
              <a:path w="753892" h="872928" extrusionOk="0">
                <a:moveTo>
                  <a:pt x="0" y="0"/>
                </a:moveTo>
                <a:lnTo>
                  <a:pt x="753892" y="0"/>
                </a:lnTo>
                <a:lnTo>
                  <a:pt x="753892" y="872927"/>
                </a:lnTo>
                <a:lnTo>
                  <a:pt x="0" y="872927"/>
                </a:lnTo>
                <a:lnTo>
                  <a:pt x="0" y="0"/>
                </a:lnTo>
                <a:close/>
              </a:path>
            </a:pathLst>
          </a:custGeom>
          <a:blipFill rotWithShape="1">
            <a:blip r:embed="rId4">
              <a:alphaModFix/>
            </a:blip>
            <a:stretch>
              <a:fillRect/>
            </a:stretch>
          </a:blipFill>
          <a:ln>
            <a:noFill/>
          </a:ln>
        </p:spPr>
        <p:txBody>
          <a:bodyPr/>
          <a:lstStyle/>
          <a:p>
            <a:endParaRPr lang="es-GT" noProof="0" dirty="0"/>
          </a:p>
        </p:txBody>
      </p:sp>
      <p:sp>
        <p:nvSpPr>
          <p:cNvPr id="115" name="Google Shape;115;p2"/>
          <p:cNvSpPr txBox="1"/>
          <p:nvPr/>
        </p:nvSpPr>
        <p:spPr>
          <a:xfrm>
            <a:off x="651749" y="490900"/>
            <a:ext cx="5994209" cy="2212144"/>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15000"/>
              <a:buFont typeface="Arial"/>
              <a:buNone/>
            </a:pPr>
            <a:r>
              <a:rPr lang="es-GT" sz="12500" b="0" i="0" u="none" strike="noStrike" cap="none" noProof="0" dirty="0">
                <a:solidFill>
                  <a:srgbClr val="131416"/>
                </a:solidFill>
                <a:latin typeface="Pacifico"/>
                <a:ea typeface="Pacifico"/>
                <a:cs typeface="Pacifico"/>
                <a:sym typeface="Pacifico"/>
              </a:rPr>
              <a:t>Agenda</a:t>
            </a:r>
            <a:endParaRPr lang="es-GT" sz="1200" b="0" i="0" u="none" strike="noStrike" cap="none" noProof="0" dirty="0">
              <a:solidFill>
                <a:srgbClr val="000000"/>
              </a:solidFill>
              <a:latin typeface="Pacifico"/>
              <a:ea typeface="Pacifico"/>
              <a:cs typeface="Pacifico"/>
              <a:sym typeface="Pacifico"/>
            </a:endParaRPr>
          </a:p>
        </p:txBody>
      </p:sp>
      <p:sp>
        <p:nvSpPr>
          <p:cNvPr id="118" name="Google Shape;118;p2"/>
          <p:cNvSpPr/>
          <p:nvPr/>
        </p:nvSpPr>
        <p:spPr>
          <a:xfrm>
            <a:off x="11739805" y="3232617"/>
            <a:ext cx="5353646" cy="1267162"/>
          </a:xfrm>
          <a:custGeom>
            <a:avLst/>
            <a:gdLst/>
            <a:ahLst/>
            <a:cxnLst/>
            <a:rect l="l" t="t" r="r" b="b"/>
            <a:pathLst>
              <a:path w="1410014" h="333738" extrusionOk="0">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lstStyle/>
          <a:p>
            <a:endParaRPr lang="es-GT" noProof="0" dirty="0"/>
          </a:p>
        </p:txBody>
      </p:sp>
      <p:grpSp>
        <p:nvGrpSpPr>
          <p:cNvPr id="123" name="Google Shape;123;p2"/>
          <p:cNvGrpSpPr/>
          <p:nvPr/>
        </p:nvGrpSpPr>
        <p:grpSpPr>
          <a:xfrm>
            <a:off x="191905" y="4773334"/>
            <a:ext cx="5197165" cy="845385"/>
            <a:chOff x="0" y="-72964"/>
            <a:chExt cx="2212695" cy="359923"/>
          </a:xfrm>
        </p:grpSpPr>
        <p:sp>
          <p:nvSpPr>
            <p:cNvPr id="124" name="Google Shape;124;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25" name="Google Shape;125;p2"/>
            <p:cNvSpPr txBox="1"/>
            <p:nvPr/>
          </p:nvSpPr>
          <p:spPr>
            <a:xfrm>
              <a:off x="362774" y="-72964"/>
              <a:ext cx="1849921"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b="0" i="0" u="none" strike="noStrike" cap="none" noProof="0" dirty="0">
                  <a:solidFill>
                    <a:srgbClr val="000000"/>
                  </a:solidFill>
                  <a:latin typeface="Arial"/>
                  <a:ea typeface="Arial"/>
                  <a:cs typeface="Arial"/>
                  <a:sym typeface="Arial"/>
                </a:rPr>
                <a:t>Anuncios Generales</a:t>
              </a:r>
              <a:endParaRPr lang="es-GT" sz="1400" b="0" i="0" u="none" strike="noStrike" cap="none" noProof="0" dirty="0">
                <a:solidFill>
                  <a:srgbClr val="000000"/>
                </a:solidFill>
                <a:latin typeface="Arial"/>
                <a:ea typeface="Arial"/>
                <a:cs typeface="Arial"/>
                <a:sym typeface="Arial"/>
              </a:endParaRPr>
            </a:p>
          </p:txBody>
        </p:sp>
      </p:grpSp>
      <p:grpSp>
        <p:nvGrpSpPr>
          <p:cNvPr id="126" name="Google Shape;126;p2"/>
          <p:cNvGrpSpPr/>
          <p:nvPr/>
        </p:nvGrpSpPr>
        <p:grpSpPr>
          <a:xfrm>
            <a:off x="191905" y="5748997"/>
            <a:ext cx="6060409" cy="845385"/>
            <a:chOff x="0" y="-75480"/>
            <a:chExt cx="2580221" cy="359923"/>
          </a:xfrm>
        </p:grpSpPr>
        <p:sp>
          <p:nvSpPr>
            <p:cNvPr id="127" name="Google Shape;127;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28" name="Google Shape;128;p2"/>
            <p:cNvSpPr txBox="1"/>
            <p:nvPr/>
          </p:nvSpPr>
          <p:spPr>
            <a:xfrm>
              <a:off x="523259" y="-75480"/>
              <a:ext cx="2056962"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dirty="0"/>
                <a:t>¿</a:t>
              </a:r>
              <a:r>
                <a:rPr lang="es-GT" sz="2799" b="0" i="0" u="none" strike="noStrike" cap="none" noProof="0" dirty="0">
                  <a:solidFill>
                    <a:srgbClr val="000000"/>
                  </a:solidFill>
                  <a:latin typeface="Arial"/>
                  <a:ea typeface="Arial"/>
                  <a:cs typeface="Arial"/>
                  <a:sym typeface="Arial"/>
                </a:rPr>
                <a:t>Qué son lo microservicios?</a:t>
              </a:r>
              <a:endParaRPr lang="es-GT" sz="1400" b="0" i="0" u="none" strike="noStrike" cap="none" noProof="0" dirty="0">
                <a:solidFill>
                  <a:srgbClr val="000000"/>
                </a:solidFill>
                <a:latin typeface="Arial"/>
                <a:ea typeface="Arial"/>
                <a:cs typeface="Arial"/>
                <a:sym typeface="Arial"/>
              </a:endParaRPr>
            </a:p>
          </p:txBody>
        </p:sp>
      </p:grpSp>
      <p:grpSp>
        <p:nvGrpSpPr>
          <p:cNvPr id="129" name="Google Shape;129;p2"/>
          <p:cNvGrpSpPr/>
          <p:nvPr/>
        </p:nvGrpSpPr>
        <p:grpSpPr>
          <a:xfrm>
            <a:off x="218709" y="6700196"/>
            <a:ext cx="4954448" cy="845385"/>
            <a:chOff x="0" y="-53307"/>
            <a:chExt cx="2109358" cy="359923"/>
          </a:xfrm>
        </p:grpSpPr>
        <p:sp>
          <p:nvSpPr>
            <p:cNvPr id="130" name="Google Shape;130;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31" name="Google Shape;131;p2"/>
            <p:cNvSpPr txBox="1"/>
            <p:nvPr/>
          </p:nvSpPr>
          <p:spPr>
            <a:xfrm>
              <a:off x="259437" y="-53307"/>
              <a:ext cx="1849921"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b="0" i="0" u="none" strike="noStrike" cap="none" noProof="0" dirty="0">
                  <a:solidFill>
                    <a:srgbClr val="000000"/>
                  </a:solidFill>
                  <a:latin typeface="Arial"/>
                  <a:ea typeface="Arial"/>
                  <a:cs typeface="Arial"/>
                  <a:sym typeface="Arial"/>
                </a:rPr>
                <a:t>Como diseñarlos</a:t>
              </a:r>
              <a:endParaRPr lang="es-GT" sz="1400" b="0" i="0" u="none" strike="noStrike" cap="none" noProof="0" dirty="0">
                <a:solidFill>
                  <a:srgbClr val="000000"/>
                </a:solidFill>
                <a:latin typeface="Arial"/>
                <a:ea typeface="Arial"/>
                <a:cs typeface="Arial"/>
                <a:sym typeface="Arial"/>
              </a:endParaRPr>
            </a:p>
          </p:txBody>
        </p:sp>
      </p:grpSp>
      <p:grpSp>
        <p:nvGrpSpPr>
          <p:cNvPr id="132" name="Google Shape;132;p2"/>
          <p:cNvGrpSpPr/>
          <p:nvPr/>
        </p:nvGrpSpPr>
        <p:grpSpPr>
          <a:xfrm>
            <a:off x="191905" y="7734346"/>
            <a:ext cx="4954448" cy="845385"/>
            <a:chOff x="0" y="-76200"/>
            <a:chExt cx="2109358" cy="359923"/>
          </a:xfrm>
        </p:grpSpPr>
        <p:sp>
          <p:nvSpPr>
            <p:cNvPr id="133" name="Google Shape;133;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34" name="Google Shape;134;p2"/>
            <p:cNvSpPr txBox="1"/>
            <p:nvPr/>
          </p:nvSpPr>
          <p:spPr>
            <a:xfrm>
              <a:off x="259437" y="-76200"/>
              <a:ext cx="1849921"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b="0" i="0" u="none" strike="noStrike" cap="none" noProof="0" dirty="0">
                  <a:solidFill>
                    <a:srgbClr val="000000"/>
                  </a:solidFill>
                  <a:latin typeface="Arial"/>
                  <a:ea typeface="Arial"/>
                  <a:cs typeface="Arial"/>
                  <a:sym typeface="Arial"/>
                </a:rPr>
                <a:t>Buenas practicas</a:t>
              </a:r>
              <a:endParaRPr lang="es-GT" sz="1400" b="0" i="0" u="none" strike="noStrike" cap="none" noProof="0" dirty="0">
                <a:solidFill>
                  <a:srgbClr val="000000"/>
                </a:solidFill>
                <a:latin typeface="Arial"/>
                <a:ea typeface="Arial"/>
                <a:cs typeface="Arial"/>
                <a:sym typeface="Arial"/>
              </a:endParaRPr>
            </a:p>
          </p:txBody>
        </p:sp>
      </p:grpSp>
      <p:sp>
        <p:nvSpPr>
          <p:cNvPr id="135" name="Google Shape;135;p2"/>
          <p:cNvSpPr/>
          <p:nvPr/>
        </p:nvSpPr>
        <p:spPr>
          <a:xfrm>
            <a:off x="878649" y="4989698"/>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36" name="Google Shape;136;p2"/>
          <p:cNvSpPr/>
          <p:nvPr/>
        </p:nvSpPr>
        <p:spPr>
          <a:xfrm>
            <a:off x="878649" y="5971271"/>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37" name="Google Shape;137;p2"/>
          <p:cNvSpPr/>
          <p:nvPr/>
        </p:nvSpPr>
        <p:spPr>
          <a:xfrm>
            <a:off x="878649" y="6971053"/>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38" name="Google Shape;138;p2"/>
          <p:cNvSpPr/>
          <p:nvPr/>
        </p:nvSpPr>
        <p:spPr>
          <a:xfrm>
            <a:off x="878649" y="7971958"/>
            <a:ext cx="453358" cy="550094"/>
          </a:xfrm>
          <a:custGeom>
            <a:avLst/>
            <a:gdLst/>
            <a:ahLst/>
            <a:cxnLst/>
            <a:rect l="l" t="t" r="r" b="b"/>
            <a:pathLst>
              <a:path w="453358" h="550094" extrusionOk="0">
                <a:moveTo>
                  <a:pt x="0" y="0"/>
                </a:moveTo>
                <a:lnTo>
                  <a:pt x="453359" y="0"/>
                </a:lnTo>
                <a:lnTo>
                  <a:pt x="453359" y="550095"/>
                </a:lnTo>
                <a:lnTo>
                  <a:pt x="0" y="550095"/>
                </a:lnTo>
                <a:lnTo>
                  <a:pt x="0" y="0"/>
                </a:lnTo>
                <a:close/>
              </a:path>
            </a:pathLst>
          </a:custGeom>
          <a:blipFill rotWithShape="1">
            <a:blip r:embed="rId3">
              <a:alphaModFix/>
            </a:blip>
            <a:stretch>
              <a:fillRect/>
            </a:stretch>
          </a:blipFill>
          <a:ln>
            <a:noFill/>
          </a:ln>
        </p:spPr>
        <p:txBody>
          <a:bodyPr/>
          <a:lstStyle/>
          <a:p>
            <a:endParaRPr lang="es-GT" noProof="0" dirty="0"/>
          </a:p>
        </p:txBody>
      </p:sp>
      <p:grpSp>
        <p:nvGrpSpPr>
          <p:cNvPr id="10" name="Google Shape;132;p2">
            <a:extLst>
              <a:ext uri="{FF2B5EF4-FFF2-40B4-BE49-F238E27FC236}">
                <a16:creationId xmlns:a16="http://schemas.microsoft.com/office/drawing/2014/main" id="{DB5BB7A4-AE5E-86F8-4B7F-CEE5EE26A0E6}"/>
              </a:ext>
            </a:extLst>
          </p:cNvPr>
          <p:cNvGrpSpPr/>
          <p:nvPr/>
        </p:nvGrpSpPr>
        <p:grpSpPr>
          <a:xfrm>
            <a:off x="878648" y="8489227"/>
            <a:ext cx="9225468" cy="1222371"/>
            <a:chOff x="-1963525" y="0"/>
            <a:chExt cx="3927746" cy="520425"/>
          </a:xfrm>
        </p:grpSpPr>
        <p:sp>
          <p:nvSpPr>
            <p:cNvPr id="11" name="Google Shape;133;p2">
              <a:extLst>
                <a:ext uri="{FF2B5EF4-FFF2-40B4-BE49-F238E27FC236}">
                  <a16:creationId xmlns:a16="http://schemas.microsoft.com/office/drawing/2014/main" id="{F01663B2-C686-2FF3-A923-B7E76CB920D4}"/>
                </a:ext>
              </a:extLst>
            </p:cNvPr>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2" name="Google Shape;134;p2">
              <a:extLst>
                <a:ext uri="{FF2B5EF4-FFF2-40B4-BE49-F238E27FC236}">
                  <a16:creationId xmlns:a16="http://schemas.microsoft.com/office/drawing/2014/main" id="{4673B32B-14F2-36D6-8FDF-88189ED3BF90}"/>
                </a:ext>
              </a:extLst>
            </p:cNvPr>
            <p:cNvSpPr txBox="1"/>
            <p:nvPr/>
          </p:nvSpPr>
          <p:spPr>
            <a:xfrm>
              <a:off x="-1963525" y="160502"/>
              <a:ext cx="1849921"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b="0" i="0" u="none" strike="noStrike" cap="none" noProof="0" dirty="0">
                  <a:solidFill>
                    <a:srgbClr val="000000"/>
                  </a:solidFill>
                  <a:latin typeface="Arial"/>
                  <a:ea typeface="Arial"/>
                  <a:cs typeface="Arial"/>
                  <a:sym typeface="Arial"/>
                </a:rPr>
                <a:t>Dudas Finales</a:t>
              </a:r>
              <a:endParaRPr lang="es-GT" sz="1400" b="0" i="0" u="none" strike="noStrike" cap="none" noProof="0" dirty="0">
                <a:solidFill>
                  <a:srgbClr val="000000"/>
                </a:solidFill>
                <a:latin typeface="Arial"/>
                <a:ea typeface="Arial"/>
                <a:cs typeface="Arial"/>
                <a:sym typeface="Arial"/>
              </a:endParaRPr>
            </a:p>
          </p:txBody>
        </p:sp>
      </p:grpSp>
      <p:sp>
        <p:nvSpPr>
          <p:cNvPr id="13" name="Google Shape;138;p2">
            <a:extLst>
              <a:ext uri="{FF2B5EF4-FFF2-40B4-BE49-F238E27FC236}">
                <a16:creationId xmlns:a16="http://schemas.microsoft.com/office/drawing/2014/main" id="{DB9B4FB8-5289-6F72-4D0C-D213312F8747}"/>
              </a:ext>
            </a:extLst>
          </p:cNvPr>
          <p:cNvSpPr/>
          <p:nvPr/>
        </p:nvSpPr>
        <p:spPr>
          <a:xfrm>
            <a:off x="878649" y="9001245"/>
            <a:ext cx="453358" cy="550094"/>
          </a:xfrm>
          <a:custGeom>
            <a:avLst/>
            <a:gdLst/>
            <a:ahLst/>
            <a:cxnLst/>
            <a:rect l="l" t="t" r="r" b="b"/>
            <a:pathLst>
              <a:path w="453358" h="550094" extrusionOk="0">
                <a:moveTo>
                  <a:pt x="0" y="0"/>
                </a:moveTo>
                <a:lnTo>
                  <a:pt x="453359" y="0"/>
                </a:lnTo>
                <a:lnTo>
                  <a:pt x="453359" y="550095"/>
                </a:lnTo>
                <a:lnTo>
                  <a:pt x="0" y="550095"/>
                </a:lnTo>
                <a:lnTo>
                  <a:pt x="0" y="0"/>
                </a:lnTo>
                <a:close/>
              </a:path>
            </a:pathLst>
          </a:custGeom>
          <a:blipFill rotWithShape="1">
            <a:blip r:embed="rId3">
              <a:alphaModFix/>
            </a:blip>
            <a:stretch>
              <a:fillRect/>
            </a:stretch>
          </a:blipFill>
          <a:ln>
            <a:noFill/>
          </a:ln>
        </p:spPr>
        <p:txBody>
          <a:bodyPr/>
          <a:lstStyle/>
          <a:p>
            <a:endParaRPr lang="es-GT" noProof="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6" name="Google Shape;146;p3"/>
          <p:cNvSpPr txBox="1"/>
          <p:nvPr/>
        </p:nvSpPr>
        <p:spPr>
          <a:xfrm>
            <a:off x="5539160" y="4652327"/>
            <a:ext cx="7209681" cy="1163395"/>
          </a:xfrm>
          <a:prstGeom prst="rect">
            <a:avLst/>
          </a:prstGeom>
          <a:noFill/>
          <a:ln>
            <a:noFill/>
          </a:ln>
        </p:spPr>
        <p:txBody>
          <a:bodyPr spcFirstLastPara="1" wrap="square" lIns="0" tIns="0" rIns="0" bIns="0" anchor="t" anchorCtr="0">
            <a:spAutoFit/>
          </a:bodyPr>
          <a:lstStyle/>
          <a:p>
            <a:pPr lvl="0" algn="ctr">
              <a:lnSpc>
                <a:spcPct val="140007"/>
              </a:lnSpc>
              <a:buSzPts val="5199"/>
            </a:pPr>
            <a:r>
              <a:rPr lang="es-ES" sz="5400" dirty="0"/>
              <a:t>Espacio para dudas</a:t>
            </a:r>
            <a:endParaRPr lang="es-GT" sz="1400" b="0" i="0" u="none" strike="noStrike" cap="none" noProof="0" dirty="0">
              <a:solidFill>
                <a:srgbClr val="000000"/>
              </a:solidFill>
              <a:latin typeface="Arial"/>
              <a:ea typeface="Arial"/>
              <a:cs typeface="Arial"/>
              <a:sym typeface="Arial"/>
            </a:endParaRPr>
          </a:p>
        </p:txBody>
      </p:sp>
      <p:pic>
        <p:nvPicPr>
          <p:cNvPr id="149" name="Google Shape;149;p3" title="Gemini_Generated_Image_sfb0qdsfb0qdsfb0.png"/>
          <p:cNvPicPr preferRelativeResize="0"/>
          <p:nvPr/>
        </p:nvPicPr>
        <p:blipFill>
          <a:blip r:embed="rId3">
            <a:alphaModFix/>
          </a:blip>
          <a:stretch>
            <a:fillRect/>
          </a:stretch>
        </p:blipFill>
        <p:spPr>
          <a:xfrm>
            <a:off x="0" y="3113989"/>
            <a:ext cx="5234360" cy="717301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4"/>
          <p:cNvSpPr txBox="1"/>
          <p:nvPr/>
        </p:nvSpPr>
        <p:spPr>
          <a:xfrm>
            <a:off x="1374889" y="3027816"/>
            <a:ext cx="12625499" cy="1064907"/>
          </a:xfrm>
          <a:prstGeom prst="rect">
            <a:avLst/>
          </a:prstGeom>
          <a:noFill/>
          <a:ln>
            <a:noFill/>
          </a:ln>
        </p:spPr>
        <p:txBody>
          <a:bodyPr spcFirstLastPara="1" wrap="square" lIns="0" tIns="0" rIns="0" bIns="0" anchor="t" anchorCtr="0">
            <a:spAutoFit/>
          </a:bodyPr>
          <a:lstStyle/>
          <a:p>
            <a:pPr lvl="0">
              <a:lnSpc>
                <a:spcPct val="173070"/>
              </a:lnSpc>
              <a:buSzPts val="3925"/>
            </a:pPr>
            <a:r>
              <a:rPr lang="es-ES" sz="4000" dirty="0"/>
              <a:t>¿Qué son los microservicios?</a:t>
            </a:r>
            <a:r>
              <a:rPr lang="es-GT" sz="3925" b="0" i="0" u="none" strike="noStrike" cap="none" noProof="0" dirty="0">
                <a:solidFill>
                  <a:srgbClr val="131416"/>
                </a:solidFill>
                <a:latin typeface="Arial"/>
                <a:ea typeface="Arial"/>
                <a:cs typeface="Arial"/>
                <a:sym typeface="Arial"/>
              </a:rPr>
              <a:t>)</a:t>
            </a:r>
            <a:endParaRPr lang="es-GT" sz="1400" b="0" i="0" u="none" strike="noStrike" cap="none" noProof="0" dirty="0">
              <a:solidFill>
                <a:srgbClr val="000000"/>
              </a:solidFill>
              <a:latin typeface="Arial"/>
              <a:ea typeface="Arial"/>
              <a:cs typeface="Arial"/>
              <a:sym typeface="Arial"/>
            </a:endParaRPr>
          </a:p>
        </p:txBody>
      </p:sp>
      <p:sp>
        <p:nvSpPr>
          <p:cNvPr id="155" name="Google Shape;155;p4"/>
          <p:cNvSpPr txBox="1"/>
          <p:nvPr/>
        </p:nvSpPr>
        <p:spPr>
          <a:xfrm>
            <a:off x="1374889" y="654364"/>
            <a:ext cx="13991100" cy="938700"/>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a:solidFill>
                  <a:srgbClr val="131416"/>
                </a:solidFill>
                <a:latin typeface="Impact"/>
                <a:ea typeface="Impact"/>
                <a:cs typeface="Impact"/>
                <a:sym typeface="Impact"/>
              </a:rPr>
              <a:t>CONTENIDO</a:t>
            </a:r>
            <a:endParaRPr lang="es-GT" sz="1400" b="0" i="0" u="none" strike="noStrike" cap="none" noProof="0" dirty="0">
              <a:solidFill>
                <a:srgbClr val="000000"/>
              </a:solidFill>
              <a:latin typeface="Impact"/>
              <a:ea typeface="Impact"/>
              <a:cs typeface="Impact"/>
              <a:sym typeface="Impac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8287998"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783669" cy="3428998"/>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7F84ECC-F408-DDA1-E400-4C6CE163F774}"/>
              </a:ext>
            </a:extLst>
          </p:cNvPr>
          <p:cNvSpPr>
            <a:spLocks noGrp="1"/>
          </p:cNvSpPr>
          <p:nvPr>
            <p:ph type="title"/>
          </p:nvPr>
        </p:nvSpPr>
        <p:spPr>
          <a:xfrm>
            <a:off x="1142704" y="525294"/>
            <a:ext cx="6970356" cy="2436780"/>
          </a:xfrm>
        </p:spPr>
        <p:txBody>
          <a:bodyPr vert="horz" lIns="91440" tIns="45720" rIns="91440" bIns="45720" rtlCol="0" anchor="ctr">
            <a:normAutofit/>
          </a:bodyPr>
          <a:lstStyle/>
          <a:p>
            <a:pPr>
              <a:lnSpc>
                <a:spcPct val="90000"/>
              </a:lnSpc>
              <a:spcBef>
                <a:spcPct val="0"/>
              </a:spcBef>
            </a:pPr>
            <a:r>
              <a:rPr lang="en-US" sz="6000" kern="1200" dirty="0">
                <a:solidFill>
                  <a:schemeClr val="tx1"/>
                </a:solidFill>
                <a:latin typeface="+mj-lt"/>
                <a:ea typeface="+mj-ea"/>
                <a:cs typeface="+mj-cs"/>
              </a:rPr>
              <a:t>¿</a:t>
            </a:r>
            <a:r>
              <a:rPr lang="en-US" sz="6000" kern="1200" dirty="0" err="1">
                <a:solidFill>
                  <a:schemeClr val="tx1"/>
                </a:solidFill>
                <a:latin typeface="+mj-lt"/>
                <a:ea typeface="+mj-ea"/>
                <a:cs typeface="+mj-cs"/>
              </a:rPr>
              <a:t>Qué</a:t>
            </a:r>
            <a:r>
              <a:rPr lang="en-US" sz="6000" kern="1200" dirty="0">
                <a:solidFill>
                  <a:schemeClr val="tx1"/>
                </a:solidFill>
                <a:latin typeface="+mj-lt"/>
                <a:ea typeface="+mj-ea"/>
                <a:cs typeface="+mj-cs"/>
              </a:rPr>
              <a:t> son </a:t>
            </a:r>
            <a:r>
              <a:rPr lang="en-US" sz="6000" kern="1200" dirty="0" err="1">
                <a:solidFill>
                  <a:schemeClr val="tx1"/>
                </a:solidFill>
                <a:latin typeface="+mj-lt"/>
                <a:ea typeface="+mj-ea"/>
                <a:cs typeface="+mj-cs"/>
              </a:rPr>
              <a:t>los</a:t>
            </a:r>
            <a:r>
              <a:rPr lang="en-US" sz="6000" kern="1200" dirty="0">
                <a:solidFill>
                  <a:schemeClr val="tx1"/>
                </a:solidFill>
                <a:latin typeface="+mj-lt"/>
                <a:ea typeface="+mj-ea"/>
                <a:cs typeface="+mj-cs"/>
              </a:rPr>
              <a:t> </a:t>
            </a:r>
            <a:r>
              <a:rPr lang="en-US" sz="6000" kern="1200" dirty="0" err="1">
                <a:solidFill>
                  <a:schemeClr val="tx1"/>
                </a:solidFill>
                <a:latin typeface="+mj-lt"/>
                <a:ea typeface="+mj-ea"/>
                <a:cs typeface="+mj-cs"/>
              </a:rPr>
              <a:t>microservicios</a:t>
            </a:r>
            <a:r>
              <a:rPr lang="en-US" sz="6000" kern="1200" dirty="0">
                <a:solidFill>
                  <a:schemeClr val="tx1"/>
                </a:solidFill>
                <a:latin typeface="+mj-lt"/>
                <a:ea typeface="+mj-ea"/>
                <a:cs typeface="+mj-cs"/>
              </a:rPr>
              <a:t>?</a:t>
            </a:r>
          </a:p>
        </p:txBody>
      </p:sp>
      <p:sp>
        <p:nvSpPr>
          <p:cNvPr id="3" name="Marcador de texto 2">
            <a:extLst>
              <a:ext uri="{FF2B5EF4-FFF2-40B4-BE49-F238E27FC236}">
                <a16:creationId xmlns:a16="http://schemas.microsoft.com/office/drawing/2014/main" id="{DCA75F9A-C849-91BC-6448-FB14BE6C4118}"/>
              </a:ext>
            </a:extLst>
          </p:cNvPr>
          <p:cNvSpPr>
            <a:spLocks noGrp="1"/>
          </p:cNvSpPr>
          <p:nvPr>
            <p:ph type="body" idx="1"/>
          </p:nvPr>
        </p:nvSpPr>
        <p:spPr>
          <a:xfrm>
            <a:off x="1142703" y="4114800"/>
            <a:ext cx="6970357" cy="5419723"/>
          </a:xfr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3000" kern="1200">
                <a:solidFill>
                  <a:schemeClr val="tx1"/>
                </a:solidFill>
                <a:latin typeface="+mn-lt"/>
                <a:ea typeface="+mn-ea"/>
                <a:cs typeface="+mn-cs"/>
              </a:rPr>
              <a:t>Tipo de arquitectura de software donde una aplicación se divide en múltiples servicios pequeños e independientes. Cada uno de estos servicios se encarga de una función específica y puede desarrollarse, desplegarse y escalarse de manera autónoma.</a:t>
            </a:r>
            <a:endParaRPr lang="en-US" sz="3000" b="1" kern="1200">
              <a:solidFill>
                <a:schemeClr val="tx1"/>
              </a:solidFill>
              <a:latin typeface="+mn-lt"/>
              <a:ea typeface="+mn-ea"/>
              <a:cs typeface="+mn-cs"/>
            </a:endParaRPr>
          </a:p>
          <a:p>
            <a:pPr indent="-228600">
              <a:lnSpc>
                <a:spcPct val="90000"/>
              </a:lnSpc>
              <a:spcAft>
                <a:spcPts val="600"/>
              </a:spcAft>
              <a:buFont typeface="Arial" panose="020B0604020202020204" pitchFamily="34" charset="0"/>
              <a:buChar char="•"/>
            </a:pPr>
            <a:endParaRPr lang="en-US" sz="3000" kern="1200">
              <a:solidFill>
                <a:schemeClr val="tx1"/>
              </a:solidFill>
              <a:latin typeface="+mn-lt"/>
              <a:ea typeface="+mn-ea"/>
              <a:cs typeface="+mn-cs"/>
            </a:endParaRPr>
          </a:p>
        </p:txBody>
      </p:sp>
      <p:pic>
        <p:nvPicPr>
          <p:cNvPr id="5" name="Picture 4" descr="Fondo de tecnología de bloques y redes azules">
            <a:extLst>
              <a:ext uri="{FF2B5EF4-FFF2-40B4-BE49-F238E27FC236}">
                <a16:creationId xmlns:a16="http://schemas.microsoft.com/office/drawing/2014/main" id="{F9F7FC8A-94CB-160D-2C33-B97F94F502CE}"/>
              </a:ext>
            </a:extLst>
          </p:cNvPr>
          <p:cNvPicPr>
            <a:picLocks noChangeAspect="1"/>
          </p:cNvPicPr>
          <p:nvPr/>
        </p:nvPicPr>
        <p:blipFill>
          <a:blip r:embed="rId2"/>
          <a:srcRect l="9517" r="40427" b="-446"/>
          <a:stretch>
            <a:fillRect/>
          </a:stretch>
        </p:blipFill>
        <p:spPr>
          <a:xfrm>
            <a:off x="9144000" y="1"/>
            <a:ext cx="9154237" cy="10287000"/>
          </a:xfrm>
          <a:prstGeom prst="rect">
            <a:avLst/>
          </a:prstGeom>
        </p:spPr>
      </p:pic>
    </p:spTree>
    <p:extLst>
      <p:ext uri="{BB962C8B-B14F-4D97-AF65-F5344CB8AC3E}">
        <p14:creationId xmlns:p14="http://schemas.microsoft.com/office/powerpoint/2010/main" val="21116809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8287998"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783669" cy="3428998"/>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1179AC8-690D-2CAA-92CB-4343EC7CF9DF}"/>
              </a:ext>
            </a:extLst>
          </p:cNvPr>
          <p:cNvSpPr>
            <a:spLocks noGrp="1"/>
          </p:cNvSpPr>
          <p:nvPr>
            <p:ph type="title"/>
          </p:nvPr>
        </p:nvSpPr>
        <p:spPr>
          <a:xfrm>
            <a:off x="1142704" y="525294"/>
            <a:ext cx="6970356" cy="2436780"/>
          </a:xfrm>
        </p:spPr>
        <p:txBody>
          <a:bodyPr vert="horz" lIns="91440" tIns="45720" rIns="91440" bIns="45720" rtlCol="0" anchor="ctr">
            <a:normAutofit/>
          </a:bodyPr>
          <a:lstStyle/>
          <a:p>
            <a:pPr>
              <a:lnSpc>
                <a:spcPct val="90000"/>
              </a:lnSpc>
              <a:spcBef>
                <a:spcPct val="0"/>
              </a:spcBef>
            </a:pPr>
            <a:r>
              <a:rPr lang="en-US" sz="5600" kern="1200">
                <a:solidFill>
                  <a:schemeClr val="tx1"/>
                </a:solidFill>
                <a:latin typeface="+mj-lt"/>
                <a:ea typeface="+mj-ea"/>
                <a:cs typeface="+mj-cs"/>
              </a:rPr>
              <a:t>Breve historia de los microservicios</a:t>
            </a:r>
            <a:br>
              <a:rPr lang="en-US" sz="5600" kern="1200">
                <a:solidFill>
                  <a:schemeClr val="tx1"/>
                </a:solidFill>
                <a:latin typeface="+mj-lt"/>
                <a:ea typeface="+mj-ea"/>
                <a:cs typeface="+mj-cs"/>
                <a:sym typeface="Arial"/>
              </a:rPr>
            </a:br>
            <a:endParaRPr lang="en-US" sz="5600" kern="1200">
              <a:solidFill>
                <a:schemeClr val="tx1"/>
              </a:solidFill>
              <a:latin typeface="+mj-lt"/>
              <a:ea typeface="+mj-ea"/>
              <a:cs typeface="+mj-cs"/>
            </a:endParaRPr>
          </a:p>
        </p:txBody>
      </p:sp>
      <p:sp>
        <p:nvSpPr>
          <p:cNvPr id="3" name="Marcador de texto 2">
            <a:extLst>
              <a:ext uri="{FF2B5EF4-FFF2-40B4-BE49-F238E27FC236}">
                <a16:creationId xmlns:a16="http://schemas.microsoft.com/office/drawing/2014/main" id="{00678657-8FFD-AB99-6D40-066E47E06DAF}"/>
              </a:ext>
            </a:extLst>
          </p:cNvPr>
          <p:cNvSpPr>
            <a:spLocks noGrp="1"/>
          </p:cNvSpPr>
          <p:nvPr>
            <p:ph type="body" idx="1"/>
          </p:nvPr>
        </p:nvSpPr>
        <p:spPr>
          <a:xfrm>
            <a:off x="1142703" y="4114800"/>
            <a:ext cx="6970357" cy="5419723"/>
          </a:xfr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3000" kern="1200" dirty="0">
                <a:solidFill>
                  <a:schemeClr val="tx1"/>
                </a:solidFill>
                <a:latin typeface="+mn-lt"/>
                <a:ea typeface="+mn-ea"/>
                <a:cs typeface="+mn-cs"/>
              </a:rPr>
              <a:t>El </a:t>
            </a:r>
            <a:r>
              <a:rPr lang="en-US" sz="3000" kern="1200" dirty="0" err="1">
                <a:solidFill>
                  <a:schemeClr val="tx1"/>
                </a:solidFill>
                <a:latin typeface="+mn-lt"/>
                <a:ea typeface="+mn-ea"/>
                <a:cs typeface="+mn-cs"/>
              </a:rPr>
              <a:t>término</a:t>
            </a:r>
            <a:r>
              <a:rPr lang="en-US" sz="3000" kern="1200" dirty="0">
                <a:solidFill>
                  <a:schemeClr val="tx1"/>
                </a:solidFill>
                <a:latin typeface="+mn-lt"/>
                <a:ea typeface="+mn-ea"/>
                <a:cs typeface="+mn-cs"/>
              </a:rPr>
              <a:t> </a:t>
            </a:r>
            <a:r>
              <a:rPr lang="en-US" sz="3000" kern="1200" dirty="0" err="1">
                <a:solidFill>
                  <a:schemeClr val="tx1"/>
                </a:solidFill>
                <a:latin typeface="+mn-lt"/>
                <a:ea typeface="+mn-ea"/>
                <a:cs typeface="+mn-cs"/>
              </a:rPr>
              <a:t>fue</a:t>
            </a:r>
            <a:r>
              <a:rPr lang="en-US" sz="3000" kern="1200" dirty="0">
                <a:solidFill>
                  <a:schemeClr val="tx1"/>
                </a:solidFill>
                <a:latin typeface="+mn-lt"/>
                <a:ea typeface="+mn-ea"/>
                <a:cs typeface="+mn-cs"/>
              </a:rPr>
              <a:t> </a:t>
            </a:r>
            <a:r>
              <a:rPr lang="en-US" sz="3000" kern="1200" dirty="0" err="1">
                <a:solidFill>
                  <a:schemeClr val="tx1"/>
                </a:solidFill>
                <a:latin typeface="+mn-lt"/>
                <a:ea typeface="+mn-ea"/>
                <a:cs typeface="+mn-cs"/>
              </a:rPr>
              <a:t>creado</a:t>
            </a:r>
            <a:r>
              <a:rPr lang="en-US" sz="3000" kern="1200" dirty="0">
                <a:solidFill>
                  <a:schemeClr val="tx1"/>
                </a:solidFill>
                <a:latin typeface="+mn-lt"/>
                <a:ea typeface="+mn-ea"/>
                <a:cs typeface="+mn-cs"/>
              </a:rPr>
              <a:t> </a:t>
            </a:r>
            <a:r>
              <a:rPr lang="en-US" sz="3000" kern="1200" dirty="0" err="1">
                <a:solidFill>
                  <a:schemeClr val="tx1"/>
                </a:solidFill>
                <a:latin typeface="+mn-lt"/>
                <a:ea typeface="+mn-ea"/>
                <a:cs typeface="+mn-cs"/>
              </a:rPr>
              <a:t>por</a:t>
            </a:r>
            <a:r>
              <a:rPr lang="en-US" sz="3000" kern="1200" dirty="0">
                <a:solidFill>
                  <a:schemeClr val="tx1"/>
                </a:solidFill>
                <a:latin typeface="+mn-lt"/>
                <a:ea typeface="+mn-ea"/>
                <a:cs typeface="+mn-cs"/>
              </a:rPr>
              <a:t> un </a:t>
            </a:r>
            <a:r>
              <a:rPr lang="en-US" sz="3000" kern="1200" dirty="0" err="1">
                <a:solidFill>
                  <a:schemeClr val="tx1"/>
                </a:solidFill>
                <a:latin typeface="+mn-lt"/>
                <a:ea typeface="+mn-ea"/>
                <a:cs typeface="+mn-cs"/>
              </a:rPr>
              <a:t>grupo</a:t>
            </a:r>
            <a:r>
              <a:rPr lang="en-US" sz="3000" kern="1200" dirty="0">
                <a:solidFill>
                  <a:schemeClr val="tx1"/>
                </a:solidFill>
                <a:latin typeface="+mn-lt"/>
                <a:ea typeface="+mn-ea"/>
                <a:cs typeface="+mn-cs"/>
              </a:rPr>
              <a:t> de </a:t>
            </a:r>
            <a:r>
              <a:rPr lang="en-US" sz="3000" kern="1200" dirty="0" err="1">
                <a:solidFill>
                  <a:schemeClr val="tx1"/>
                </a:solidFill>
                <a:latin typeface="+mn-lt"/>
                <a:ea typeface="+mn-ea"/>
                <a:cs typeface="+mn-cs"/>
              </a:rPr>
              <a:t>arquitectos</a:t>
            </a:r>
            <a:r>
              <a:rPr lang="en-US" sz="3000" kern="1200" dirty="0">
                <a:solidFill>
                  <a:schemeClr val="tx1"/>
                </a:solidFill>
                <a:latin typeface="+mn-lt"/>
                <a:ea typeface="+mn-ea"/>
                <a:cs typeface="+mn-cs"/>
              </a:rPr>
              <a:t> de software </a:t>
            </a:r>
            <a:r>
              <a:rPr lang="en-US" sz="3000" kern="1200" dirty="0" err="1">
                <a:solidFill>
                  <a:schemeClr val="tx1"/>
                </a:solidFill>
                <a:latin typeface="+mn-lt"/>
                <a:ea typeface="+mn-ea"/>
                <a:cs typeface="+mn-cs"/>
              </a:rPr>
              <a:t>en</a:t>
            </a:r>
            <a:r>
              <a:rPr lang="en-US" sz="3000" kern="1200" dirty="0">
                <a:solidFill>
                  <a:schemeClr val="tx1"/>
                </a:solidFill>
                <a:latin typeface="+mn-lt"/>
                <a:ea typeface="+mn-ea"/>
                <a:cs typeface="+mn-cs"/>
              </a:rPr>
              <a:t> 2012, </a:t>
            </a:r>
            <a:r>
              <a:rPr lang="en-US" sz="3000" kern="1200" dirty="0" err="1">
                <a:solidFill>
                  <a:schemeClr val="tx1"/>
                </a:solidFill>
                <a:latin typeface="+mn-lt"/>
                <a:ea typeface="+mn-ea"/>
                <a:cs typeface="+mn-cs"/>
              </a:rPr>
              <a:t>pero</a:t>
            </a:r>
            <a:r>
              <a:rPr lang="en-US" sz="3000" kern="1200" dirty="0">
                <a:solidFill>
                  <a:schemeClr val="tx1"/>
                </a:solidFill>
                <a:latin typeface="+mn-lt"/>
                <a:ea typeface="+mn-ea"/>
                <a:cs typeface="+mn-cs"/>
              </a:rPr>
              <a:t> </a:t>
            </a:r>
            <a:r>
              <a:rPr lang="en-US" sz="3000" kern="1200" dirty="0" err="1">
                <a:solidFill>
                  <a:schemeClr val="tx1"/>
                </a:solidFill>
                <a:latin typeface="+mn-lt"/>
                <a:ea typeface="+mn-ea"/>
                <a:cs typeface="+mn-cs"/>
              </a:rPr>
              <a:t>recién</a:t>
            </a:r>
            <a:r>
              <a:rPr lang="en-US" sz="3000" kern="1200" dirty="0">
                <a:solidFill>
                  <a:schemeClr val="tx1"/>
                </a:solidFill>
                <a:latin typeface="+mn-lt"/>
                <a:ea typeface="+mn-ea"/>
                <a:cs typeface="+mn-cs"/>
              </a:rPr>
              <a:t> </a:t>
            </a:r>
            <a:r>
              <a:rPr lang="en-US" sz="3000" kern="1200" dirty="0" err="1">
                <a:solidFill>
                  <a:schemeClr val="tx1"/>
                </a:solidFill>
                <a:latin typeface="+mn-lt"/>
                <a:ea typeface="+mn-ea"/>
                <a:cs typeface="+mn-cs"/>
              </a:rPr>
              <a:t>en</a:t>
            </a:r>
            <a:r>
              <a:rPr lang="en-US" sz="3000" kern="1200" dirty="0">
                <a:solidFill>
                  <a:schemeClr val="tx1"/>
                </a:solidFill>
                <a:latin typeface="+mn-lt"/>
                <a:ea typeface="+mn-ea"/>
                <a:cs typeface="+mn-cs"/>
              </a:rPr>
              <a:t> 2014 </a:t>
            </a:r>
            <a:r>
              <a:rPr lang="en-US" sz="3000" kern="1200" dirty="0" err="1">
                <a:solidFill>
                  <a:schemeClr val="tx1"/>
                </a:solidFill>
                <a:latin typeface="+mn-lt"/>
                <a:ea typeface="+mn-ea"/>
                <a:cs typeface="+mn-cs"/>
              </a:rPr>
              <a:t>empezó</a:t>
            </a:r>
            <a:r>
              <a:rPr lang="en-US" sz="3000" kern="1200" dirty="0">
                <a:solidFill>
                  <a:schemeClr val="tx1"/>
                </a:solidFill>
                <a:latin typeface="+mn-lt"/>
                <a:ea typeface="+mn-ea"/>
                <a:cs typeface="+mn-cs"/>
              </a:rPr>
              <a:t> </a:t>
            </a:r>
            <a:r>
              <a:rPr lang="en-US" sz="3000" kern="1200" dirty="0" err="1">
                <a:solidFill>
                  <a:schemeClr val="tx1"/>
                </a:solidFill>
                <a:latin typeface="+mn-lt"/>
                <a:ea typeface="+mn-ea"/>
                <a:cs typeface="+mn-cs"/>
              </a:rPr>
              <a:t>hacerse</a:t>
            </a:r>
            <a:r>
              <a:rPr lang="en-US" sz="3000" kern="1200" dirty="0">
                <a:solidFill>
                  <a:schemeClr val="tx1"/>
                </a:solidFill>
                <a:latin typeface="+mn-lt"/>
                <a:ea typeface="+mn-ea"/>
                <a:cs typeface="+mn-cs"/>
              </a:rPr>
              <a:t> </a:t>
            </a:r>
            <a:r>
              <a:rPr lang="en-US" sz="3000" kern="1200" dirty="0" err="1">
                <a:solidFill>
                  <a:schemeClr val="tx1"/>
                </a:solidFill>
                <a:latin typeface="+mn-lt"/>
                <a:ea typeface="+mn-ea"/>
                <a:cs typeface="+mn-cs"/>
              </a:rPr>
              <a:t>conocido</a:t>
            </a:r>
            <a:r>
              <a:rPr lang="en-US" sz="3000" kern="1200" dirty="0">
                <a:solidFill>
                  <a:schemeClr val="tx1"/>
                </a:solidFill>
                <a:latin typeface="+mn-lt"/>
                <a:ea typeface="+mn-ea"/>
                <a:cs typeface="+mn-cs"/>
              </a:rPr>
              <a:t>, </a:t>
            </a:r>
            <a:r>
              <a:rPr lang="en-US" sz="3000" kern="1200" dirty="0" err="1">
                <a:solidFill>
                  <a:schemeClr val="tx1"/>
                </a:solidFill>
                <a:latin typeface="+mn-lt"/>
                <a:ea typeface="+mn-ea"/>
                <a:cs typeface="+mn-cs"/>
              </a:rPr>
              <a:t>cuando</a:t>
            </a:r>
            <a:r>
              <a:rPr lang="en-US" sz="3000" kern="1200" dirty="0">
                <a:solidFill>
                  <a:schemeClr val="tx1"/>
                </a:solidFill>
                <a:latin typeface="+mn-lt"/>
                <a:ea typeface="+mn-ea"/>
                <a:cs typeface="+mn-cs"/>
              </a:rPr>
              <a:t> Martín Fowler, </a:t>
            </a:r>
            <a:r>
              <a:rPr lang="en-US" sz="3000" kern="1200" dirty="0" err="1">
                <a:solidFill>
                  <a:schemeClr val="tx1"/>
                </a:solidFill>
                <a:latin typeface="+mn-lt"/>
                <a:ea typeface="+mn-ea"/>
                <a:cs typeface="+mn-cs"/>
              </a:rPr>
              <a:t>desarrollador</a:t>
            </a:r>
            <a:r>
              <a:rPr lang="en-US" sz="3000" kern="1200" dirty="0">
                <a:solidFill>
                  <a:schemeClr val="tx1"/>
                </a:solidFill>
                <a:latin typeface="+mn-lt"/>
                <a:ea typeface="+mn-ea"/>
                <a:cs typeface="+mn-cs"/>
              </a:rPr>
              <a:t> de software y </a:t>
            </a:r>
            <a:r>
              <a:rPr lang="en-US" sz="3000" kern="1200" dirty="0" err="1">
                <a:solidFill>
                  <a:schemeClr val="tx1"/>
                </a:solidFill>
                <a:latin typeface="+mn-lt"/>
                <a:ea typeface="+mn-ea"/>
                <a:cs typeface="+mn-cs"/>
              </a:rPr>
              <a:t>autor</a:t>
            </a:r>
            <a:r>
              <a:rPr lang="en-US" sz="3000" kern="1200" dirty="0">
                <a:solidFill>
                  <a:schemeClr val="tx1"/>
                </a:solidFill>
                <a:latin typeface="+mn-lt"/>
                <a:ea typeface="+mn-ea"/>
                <a:cs typeface="+mn-cs"/>
              </a:rPr>
              <a:t> </a:t>
            </a:r>
            <a:r>
              <a:rPr lang="en-US" sz="3000" kern="1200" dirty="0" err="1">
                <a:solidFill>
                  <a:schemeClr val="tx1"/>
                </a:solidFill>
                <a:latin typeface="+mn-lt"/>
                <a:ea typeface="+mn-ea"/>
                <a:cs typeface="+mn-cs"/>
              </a:rPr>
              <a:t>conocido</a:t>
            </a:r>
            <a:r>
              <a:rPr lang="en-US" sz="3000" kern="1200" dirty="0">
                <a:solidFill>
                  <a:schemeClr val="tx1"/>
                </a:solidFill>
                <a:latin typeface="+mn-lt"/>
                <a:ea typeface="+mn-ea"/>
                <a:cs typeface="+mn-cs"/>
              </a:rPr>
              <a:t> de la comunidad, </a:t>
            </a:r>
            <a:r>
              <a:rPr lang="en-US" sz="3000" kern="1200" dirty="0" err="1">
                <a:solidFill>
                  <a:schemeClr val="tx1"/>
                </a:solidFill>
                <a:latin typeface="+mn-lt"/>
                <a:ea typeface="+mn-ea"/>
                <a:cs typeface="+mn-cs"/>
              </a:rPr>
              <a:t>comenzó</a:t>
            </a:r>
            <a:r>
              <a:rPr lang="en-US" sz="3000" kern="1200" dirty="0">
                <a:solidFill>
                  <a:schemeClr val="tx1"/>
                </a:solidFill>
                <a:latin typeface="+mn-lt"/>
                <a:ea typeface="+mn-ea"/>
                <a:cs typeface="+mn-cs"/>
              </a:rPr>
              <a:t> a usar </a:t>
            </a:r>
            <a:r>
              <a:rPr lang="en-US" sz="3000" kern="1200" dirty="0" err="1">
                <a:solidFill>
                  <a:schemeClr val="tx1"/>
                </a:solidFill>
                <a:latin typeface="+mn-lt"/>
                <a:ea typeface="+mn-ea"/>
                <a:cs typeface="+mn-cs"/>
              </a:rPr>
              <a:t>el</a:t>
            </a:r>
            <a:r>
              <a:rPr lang="en-US" sz="3000" kern="1200" dirty="0">
                <a:solidFill>
                  <a:schemeClr val="tx1"/>
                </a:solidFill>
                <a:latin typeface="+mn-lt"/>
                <a:ea typeface="+mn-ea"/>
                <a:cs typeface="+mn-cs"/>
              </a:rPr>
              <a:t> </a:t>
            </a:r>
            <a:r>
              <a:rPr lang="en-US" sz="3000" kern="1200" dirty="0" err="1">
                <a:solidFill>
                  <a:schemeClr val="tx1"/>
                </a:solidFill>
                <a:latin typeface="+mn-lt"/>
                <a:ea typeface="+mn-ea"/>
                <a:cs typeface="+mn-cs"/>
              </a:rPr>
              <a:t>término</a:t>
            </a:r>
            <a:r>
              <a:rPr lang="en-US" sz="3000" kern="1200" dirty="0">
                <a:solidFill>
                  <a:schemeClr val="tx1"/>
                </a:solidFill>
                <a:latin typeface="+mn-lt"/>
                <a:ea typeface="+mn-ea"/>
                <a:cs typeface="+mn-cs"/>
              </a:rPr>
              <a:t> </a:t>
            </a:r>
            <a:r>
              <a:rPr lang="en-US" sz="3000" kern="1200" dirty="0" err="1">
                <a:solidFill>
                  <a:schemeClr val="tx1"/>
                </a:solidFill>
                <a:latin typeface="+mn-lt"/>
                <a:ea typeface="+mn-ea"/>
                <a:cs typeface="+mn-cs"/>
              </a:rPr>
              <a:t>en</a:t>
            </a:r>
            <a:r>
              <a:rPr lang="en-US" sz="3000" kern="1200" dirty="0">
                <a:solidFill>
                  <a:schemeClr val="tx1"/>
                </a:solidFill>
                <a:latin typeface="+mn-lt"/>
                <a:ea typeface="+mn-ea"/>
                <a:cs typeface="+mn-cs"/>
              </a:rPr>
              <a:t> </a:t>
            </a:r>
            <a:r>
              <a:rPr lang="en-US" sz="3000" kern="1200" dirty="0" err="1">
                <a:solidFill>
                  <a:schemeClr val="tx1"/>
                </a:solidFill>
                <a:latin typeface="+mn-lt"/>
                <a:ea typeface="+mn-ea"/>
                <a:cs typeface="+mn-cs"/>
              </a:rPr>
              <a:t>algunas</a:t>
            </a:r>
            <a:r>
              <a:rPr lang="en-US" sz="3000" kern="1200" dirty="0">
                <a:solidFill>
                  <a:schemeClr val="tx1"/>
                </a:solidFill>
                <a:latin typeface="+mn-lt"/>
                <a:ea typeface="+mn-ea"/>
                <a:cs typeface="+mn-cs"/>
              </a:rPr>
              <a:t> de sus </a:t>
            </a:r>
            <a:r>
              <a:rPr lang="en-US" sz="3000" kern="1200" dirty="0" err="1">
                <a:solidFill>
                  <a:schemeClr val="tx1"/>
                </a:solidFill>
                <a:latin typeface="+mn-lt"/>
                <a:ea typeface="+mn-ea"/>
                <a:cs typeface="+mn-cs"/>
              </a:rPr>
              <a:t>publicaciones</a:t>
            </a:r>
            <a:r>
              <a:rPr lang="en-US" sz="3000" kern="1200" dirty="0">
                <a:solidFill>
                  <a:schemeClr val="tx1"/>
                </a:solidFill>
                <a:latin typeface="+mn-lt"/>
                <a:ea typeface="+mn-ea"/>
                <a:cs typeface="+mn-cs"/>
              </a:rPr>
              <a:t> de </a:t>
            </a:r>
            <a:r>
              <a:rPr lang="en-US" sz="3000" kern="1200" dirty="0" err="1">
                <a:solidFill>
                  <a:schemeClr val="tx1"/>
                </a:solidFill>
                <a:latin typeface="+mn-lt"/>
                <a:ea typeface="+mn-ea"/>
                <a:cs typeface="+mn-cs"/>
              </a:rPr>
              <a:t>su</a:t>
            </a:r>
            <a:r>
              <a:rPr lang="en-US" sz="3000" kern="1200" dirty="0">
                <a:solidFill>
                  <a:schemeClr val="tx1"/>
                </a:solidFill>
                <a:latin typeface="+mn-lt"/>
                <a:ea typeface="+mn-ea"/>
                <a:cs typeface="+mn-cs"/>
              </a:rPr>
              <a:t> </a:t>
            </a:r>
            <a:r>
              <a:rPr lang="en-US" sz="3000" kern="1200" dirty="0" err="1">
                <a:solidFill>
                  <a:schemeClr val="tx1"/>
                </a:solidFill>
                <a:latin typeface="+mn-lt"/>
                <a:ea typeface="+mn-ea"/>
                <a:cs typeface="+mn-cs"/>
              </a:rPr>
              <a:t>página</a:t>
            </a:r>
            <a:r>
              <a:rPr lang="en-US" sz="3000" kern="1200" dirty="0">
                <a:solidFill>
                  <a:schemeClr val="tx1"/>
                </a:solidFill>
                <a:latin typeface="+mn-lt"/>
                <a:ea typeface="+mn-ea"/>
                <a:cs typeface="+mn-cs"/>
              </a:rPr>
              <a:t> web</a:t>
            </a:r>
            <a:endParaRPr lang="en-US" sz="3000" kern="1200" dirty="0">
              <a:solidFill>
                <a:schemeClr val="tx1"/>
              </a:solidFill>
              <a:latin typeface="+mn-lt"/>
              <a:ea typeface="+mn-ea"/>
              <a:cs typeface="+mn-cs"/>
              <a:sym typeface="Arial"/>
            </a:endParaRPr>
          </a:p>
          <a:p>
            <a:pPr indent="-228600">
              <a:lnSpc>
                <a:spcPct val="90000"/>
              </a:lnSpc>
              <a:spcAft>
                <a:spcPts val="600"/>
              </a:spcAft>
              <a:buFont typeface="Arial" panose="020B0604020202020204" pitchFamily="34" charset="0"/>
              <a:buChar char="•"/>
            </a:pPr>
            <a:endParaRPr lang="en-US" sz="3000" kern="1200" dirty="0">
              <a:solidFill>
                <a:schemeClr val="tx1"/>
              </a:solidFill>
              <a:latin typeface="+mn-lt"/>
              <a:ea typeface="+mn-ea"/>
              <a:cs typeface="+mn-cs"/>
            </a:endParaRPr>
          </a:p>
        </p:txBody>
      </p:sp>
      <p:pic>
        <p:nvPicPr>
          <p:cNvPr id="5" name="Picture 4" descr="Artículos de oficina en una mesa">
            <a:extLst>
              <a:ext uri="{FF2B5EF4-FFF2-40B4-BE49-F238E27FC236}">
                <a16:creationId xmlns:a16="http://schemas.microsoft.com/office/drawing/2014/main" id="{A222CB50-EA4E-758C-3D6C-C4CAFE3E524B}"/>
              </a:ext>
            </a:extLst>
          </p:cNvPr>
          <p:cNvPicPr>
            <a:picLocks noChangeAspect="1"/>
          </p:cNvPicPr>
          <p:nvPr/>
        </p:nvPicPr>
        <p:blipFill>
          <a:blip r:embed="rId2"/>
          <a:srcRect l="21037" r="11777"/>
          <a:stretch>
            <a:fillRect/>
          </a:stretch>
        </p:blipFill>
        <p:spPr>
          <a:xfrm>
            <a:off x="9144000" y="1"/>
            <a:ext cx="9154237" cy="10287000"/>
          </a:xfrm>
          <a:prstGeom prst="rect">
            <a:avLst/>
          </a:prstGeom>
        </p:spPr>
      </p:pic>
    </p:spTree>
    <p:extLst>
      <p:ext uri="{BB962C8B-B14F-4D97-AF65-F5344CB8AC3E}">
        <p14:creationId xmlns:p14="http://schemas.microsoft.com/office/powerpoint/2010/main" val="22023423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Una red formada por puntos blancos">
            <a:extLst>
              <a:ext uri="{FF2B5EF4-FFF2-40B4-BE49-F238E27FC236}">
                <a16:creationId xmlns:a16="http://schemas.microsoft.com/office/drawing/2014/main" id="{150A228F-BAFF-D77F-63C0-A0814A090684}"/>
              </a:ext>
            </a:extLst>
          </p:cNvPr>
          <p:cNvPicPr>
            <a:picLocks noChangeAspect="1"/>
          </p:cNvPicPr>
          <p:nvPr/>
        </p:nvPicPr>
        <p:blipFill>
          <a:blip r:embed="rId2"/>
          <a:srcRect l="39256" r="-1" b="-1"/>
          <a:stretch>
            <a:fillRect/>
          </a:stretch>
        </p:blipFill>
        <p:spPr>
          <a:xfrm>
            <a:off x="-1" y="-3"/>
            <a:ext cx="8115296" cy="10287003"/>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15295" y="-1"/>
            <a:ext cx="10172703" cy="3428999"/>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ED43956-DA87-61D9-9BF8-C429BDEBB811}"/>
              </a:ext>
            </a:extLst>
          </p:cNvPr>
          <p:cNvSpPr>
            <a:spLocks noGrp="1"/>
          </p:cNvSpPr>
          <p:nvPr>
            <p:ph type="title"/>
          </p:nvPr>
        </p:nvSpPr>
        <p:spPr>
          <a:xfrm>
            <a:off x="9172975" y="608527"/>
            <a:ext cx="8197452" cy="2338952"/>
          </a:xfrm>
        </p:spPr>
        <p:txBody>
          <a:bodyPr vert="horz" lIns="91440" tIns="45720" rIns="91440" bIns="45720" rtlCol="0" anchor="ctr">
            <a:normAutofit/>
          </a:bodyPr>
          <a:lstStyle/>
          <a:p>
            <a:pPr>
              <a:lnSpc>
                <a:spcPct val="90000"/>
              </a:lnSpc>
              <a:spcBef>
                <a:spcPct val="0"/>
              </a:spcBef>
            </a:pPr>
            <a:r>
              <a:rPr lang="en-US" sz="5100" kern="1200">
                <a:solidFill>
                  <a:schemeClr val="tx1"/>
                </a:solidFill>
                <a:latin typeface="+mj-lt"/>
                <a:ea typeface="+mj-ea"/>
                <a:cs typeface="+mj-cs"/>
              </a:rPr>
              <a:t>Orígenes y primeros acercamientos</a:t>
            </a:r>
            <a:br>
              <a:rPr lang="en-US" sz="5100" kern="1200">
                <a:solidFill>
                  <a:schemeClr val="tx1"/>
                </a:solidFill>
                <a:latin typeface="+mj-lt"/>
                <a:ea typeface="+mj-ea"/>
                <a:cs typeface="+mj-cs"/>
                <a:sym typeface="Arial"/>
              </a:rPr>
            </a:br>
            <a:endParaRPr lang="en-US" sz="5100" kern="1200">
              <a:solidFill>
                <a:schemeClr val="tx1"/>
              </a:solidFill>
              <a:latin typeface="+mj-lt"/>
              <a:ea typeface="+mj-ea"/>
              <a:cs typeface="+mj-cs"/>
            </a:endParaRPr>
          </a:p>
        </p:txBody>
      </p:sp>
      <p:sp>
        <p:nvSpPr>
          <p:cNvPr id="3" name="Marcador de texto 2">
            <a:extLst>
              <a:ext uri="{FF2B5EF4-FFF2-40B4-BE49-F238E27FC236}">
                <a16:creationId xmlns:a16="http://schemas.microsoft.com/office/drawing/2014/main" id="{1EF2049A-1A85-8DFF-5B00-BDDE959FF6D7}"/>
              </a:ext>
            </a:extLst>
          </p:cNvPr>
          <p:cNvSpPr>
            <a:spLocks noGrp="1"/>
          </p:cNvSpPr>
          <p:nvPr>
            <p:ph type="body" idx="1"/>
          </p:nvPr>
        </p:nvSpPr>
        <p:spPr>
          <a:xfrm>
            <a:off x="9172975" y="4114800"/>
            <a:ext cx="7871010" cy="5245317"/>
          </a:xfrm>
        </p:spPr>
        <p:txBody>
          <a:bodyPr vert="horz" lIns="91440" tIns="45720" rIns="91440" bIns="45720" rtlCol="0" anchor="ctr">
            <a:normAutofit/>
          </a:bodyPr>
          <a:lstStyle/>
          <a:p>
            <a:pPr lvl="0" indent="-228600">
              <a:lnSpc>
                <a:spcPct val="90000"/>
              </a:lnSpc>
              <a:spcAft>
                <a:spcPts val="600"/>
              </a:spcAft>
              <a:buSzPts val="1900"/>
              <a:buFont typeface="Arial" panose="020B0604020202020204" pitchFamily="34" charset="0"/>
              <a:buChar char="•"/>
            </a:pPr>
            <a:r>
              <a:rPr lang="en-US" sz="2100" b="1" kern="1200">
                <a:solidFill>
                  <a:schemeClr val="tx1"/>
                </a:solidFill>
                <a:latin typeface="+mn-lt"/>
                <a:ea typeface="+mn-ea"/>
                <a:cs typeface="+mn-cs"/>
              </a:rPr>
              <a:t>Arquitectura Monolítica (Años 90 - 2000s)</a:t>
            </a:r>
          </a:p>
          <a:p>
            <a:pPr marL="0" lvl="0" indent="-228600">
              <a:lnSpc>
                <a:spcPct val="90000"/>
              </a:lnSpc>
              <a:spcAft>
                <a:spcPts val="600"/>
              </a:spcAft>
              <a:buClr>
                <a:srgbClr val="000000"/>
              </a:buClr>
              <a:buSzPts val="4400"/>
              <a:buFont typeface="Arial" panose="020B0604020202020204" pitchFamily="34" charset="0"/>
              <a:buChar char="•"/>
            </a:pPr>
            <a:endParaRPr lang="en-US" sz="2100" kern="1200">
              <a:solidFill>
                <a:schemeClr val="tx1"/>
              </a:solidFill>
              <a:latin typeface="+mn-lt"/>
              <a:ea typeface="+mn-ea"/>
              <a:cs typeface="+mn-cs"/>
            </a:endParaRPr>
          </a:p>
          <a:p>
            <a:pPr lvl="0" indent="-228600">
              <a:lnSpc>
                <a:spcPct val="90000"/>
              </a:lnSpc>
              <a:spcAft>
                <a:spcPts val="600"/>
              </a:spcAft>
              <a:buClr>
                <a:srgbClr val="000000"/>
              </a:buClr>
              <a:buSzPts val="4400"/>
              <a:buFont typeface="Arial" panose="020B0604020202020204" pitchFamily="34" charset="0"/>
              <a:buChar char="•"/>
            </a:pPr>
            <a:r>
              <a:rPr lang="en-US" sz="2100" kern="1200">
                <a:solidFill>
                  <a:schemeClr val="tx1"/>
                </a:solidFill>
                <a:latin typeface="+mn-lt"/>
                <a:ea typeface="+mn-ea"/>
                <a:cs typeface="+mn-cs"/>
              </a:rPr>
              <a:t>Antes, la mayoría de las aplicaciones eran monolíticas, es decir, un solo bloque de código donde todos los componentes estaban integrados.</a:t>
            </a:r>
          </a:p>
          <a:p>
            <a:pPr lvl="0" indent="-228600">
              <a:lnSpc>
                <a:spcPct val="90000"/>
              </a:lnSpc>
              <a:spcAft>
                <a:spcPts val="600"/>
              </a:spcAft>
              <a:buClr>
                <a:srgbClr val="000000"/>
              </a:buClr>
              <a:buSzPts val="4400"/>
              <a:buFont typeface="Arial" panose="020B0604020202020204" pitchFamily="34" charset="0"/>
              <a:buChar char="•"/>
            </a:pPr>
            <a:r>
              <a:rPr lang="en-US" sz="2100" kern="1200">
                <a:solidFill>
                  <a:schemeClr val="tx1"/>
                </a:solidFill>
                <a:latin typeface="+mn-lt"/>
                <a:ea typeface="+mn-ea"/>
                <a:cs typeface="+mn-cs"/>
              </a:rPr>
              <a:t>Problema: Dificultad para escalar y actualizar sin afectar toda la aplicación.</a:t>
            </a:r>
          </a:p>
          <a:p>
            <a:pPr marL="0" lvl="0" indent="-228600">
              <a:lnSpc>
                <a:spcPct val="90000"/>
              </a:lnSpc>
              <a:spcAft>
                <a:spcPts val="600"/>
              </a:spcAft>
              <a:buClr>
                <a:srgbClr val="000000"/>
              </a:buClr>
              <a:buSzPts val="4400"/>
              <a:buFont typeface="Arial" panose="020B0604020202020204" pitchFamily="34" charset="0"/>
              <a:buChar char="•"/>
            </a:pPr>
            <a:endParaRPr lang="en-US" sz="2100" kern="1200">
              <a:solidFill>
                <a:schemeClr val="tx1"/>
              </a:solidFill>
              <a:latin typeface="+mn-lt"/>
              <a:ea typeface="+mn-ea"/>
              <a:cs typeface="+mn-cs"/>
            </a:endParaRPr>
          </a:p>
          <a:p>
            <a:pPr lvl="0" indent="-228600">
              <a:lnSpc>
                <a:spcPct val="90000"/>
              </a:lnSpc>
              <a:spcAft>
                <a:spcPts val="600"/>
              </a:spcAft>
              <a:buSzPts val="1900"/>
              <a:buFont typeface="Arial" panose="020B0604020202020204" pitchFamily="34" charset="0"/>
              <a:buChar char="•"/>
            </a:pPr>
            <a:r>
              <a:rPr lang="en-US" sz="2100" b="1" kern="1200">
                <a:solidFill>
                  <a:schemeClr val="tx1"/>
                </a:solidFill>
                <a:latin typeface="+mn-lt"/>
                <a:ea typeface="+mn-ea"/>
                <a:cs typeface="+mn-cs"/>
              </a:rPr>
              <a:t>Arquitectura Orientada a Servicios (SOA) (2000s - 2010s)</a:t>
            </a:r>
          </a:p>
          <a:p>
            <a:pPr marL="0" lvl="0" indent="-228600">
              <a:lnSpc>
                <a:spcPct val="90000"/>
              </a:lnSpc>
              <a:spcAft>
                <a:spcPts val="600"/>
              </a:spcAft>
              <a:buClr>
                <a:srgbClr val="000000"/>
              </a:buClr>
              <a:buSzPts val="4400"/>
              <a:buFont typeface="Arial" panose="020B0604020202020204" pitchFamily="34" charset="0"/>
              <a:buChar char="•"/>
            </a:pPr>
            <a:endParaRPr lang="en-US" sz="2100" kern="1200">
              <a:solidFill>
                <a:schemeClr val="tx1"/>
              </a:solidFill>
              <a:latin typeface="+mn-lt"/>
              <a:ea typeface="+mn-ea"/>
              <a:cs typeface="+mn-cs"/>
            </a:endParaRPr>
          </a:p>
          <a:p>
            <a:pPr lvl="0" indent="-228600">
              <a:lnSpc>
                <a:spcPct val="90000"/>
              </a:lnSpc>
              <a:spcAft>
                <a:spcPts val="600"/>
              </a:spcAft>
              <a:buClr>
                <a:srgbClr val="000000"/>
              </a:buClr>
              <a:buSzPts val="4400"/>
              <a:buFont typeface="Arial" panose="020B0604020202020204" pitchFamily="34" charset="0"/>
              <a:buChar char="•"/>
            </a:pPr>
            <a:r>
              <a:rPr lang="en-US" sz="2100" kern="1200">
                <a:solidFill>
                  <a:schemeClr val="tx1"/>
                </a:solidFill>
                <a:latin typeface="+mn-lt"/>
                <a:ea typeface="+mn-ea"/>
                <a:cs typeface="+mn-cs"/>
              </a:rPr>
              <a:t>SOA promovió la idea de dividir las aplicaciones en servicios reutilizables que se comunican mediante protocolos como SOAP.</a:t>
            </a:r>
          </a:p>
          <a:p>
            <a:pPr lvl="0" indent="-228600">
              <a:lnSpc>
                <a:spcPct val="90000"/>
              </a:lnSpc>
              <a:spcAft>
                <a:spcPts val="600"/>
              </a:spcAft>
              <a:buClr>
                <a:srgbClr val="000000"/>
              </a:buClr>
              <a:buSzPts val="4400"/>
              <a:buFont typeface="Arial" panose="020B0604020202020204" pitchFamily="34" charset="0"/>
              <a:buChar char="•"/>
            </a:pPr>
            <a:r>
              <a:rPr lang="en-US" sz="2100" kern="1200">
                <a:solidFill>
                  <a:schemeClr val="tx1"/>
                </a:solidFill>
                <a:latin typeface="+mn-lt"/>
                <a:ea typeface="+mn-ea"/>
                <a:cs typeface="+mn-cs"/>
              </a:rPr>
              <a:t>Problema: SOA era pesado y complejo, con grandes necesidades de infraestructura y gobernanza.</a:t>
            </a:r>
          </a:p>
          <a:p>
            <a:pPr indent="-228600">
              <a:lnSpc>
                <a:spcPct val="90000"/>
              </a:lnSpc>
              <a:spcAft>
                <a:spcPts val="600"/>
              </a:spcAft>
              <a:buFont typeface="Arial" panose="020B0604020202020204" pitchFamily="34" charset="0"/>
              <a:buChar char="•"/>
            </a:pPr>
            <a:endParaRPr lang="en-US" sz="2100" kern="1200">
              <a:solidFill>
                <a:schemeClr val="tx1"/>
              </a:solidFill>
              <a:latin typeface="+mn-lt"/>
              <a:ea typeface="+mn-ea"/>
              <a:cs typeface="+mn-cs"/>
            </a:endParaRPr>
          </a:p>
        </p:txBody>
      </p:sp>
    </p:spTree>
    <p:extLst>
      <p:ext uri="{BB962C8B-B14F-4D97-AF65-F5344CB8AC3E}">
        <p14:creationId xmlns:p14="http://schemas.microsoft.com/office/powerpoint/2010/main" val="4427418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2469"/>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ítulo 1">
            <a:extLst>
              <a:ext uri="{FF2B5EF4-FFF2-40B4-BE49-F238E27FC236}">
                <a16:creationId xmlns:a16="http://schemas.microsoft.com/office/drawing/2014/main" id="{8178ECFD-7C37-7DE9-5D40-6C921C868689}"/>
              </a:ext>
            </a:extLst>
          </p:cNvPr>
          <p:cNvSpPr>
            <a:spLocks noGrp="1"/>
          </p:cNvSpPr>
          <p:nvPr>
            <p:ph type="title"/>
          </p:nvPr>
        </p:nvSpPr>
        <p:spPr>
          <a:xfrm>
            <a:off x="719091" y="1606200"/>
            <a:ext cx="5909532" cy="8374689"/>
          </a:xfrm>
        </p:spPr>
        <p:txBody>
          <a:bodyPr vert="horz" lIns="91440" tIns="45720" rIns="91440" bIns="45720" rtlCol="0" anchor="ctr">
            <a:normAutofit/>
          </a:bodyPr>
          <a:lstStyle/>
          <a:p>
            <a:pPr algn="r">
              <a:lnSpc>
                <a:spcPct val="90000"/>
              </a:lnSpc>
              <a:spcBef>
                <a:spcPct val="0"/>
              </a:spcBef>
            </a:pPr>
            <a:r>
              <a:rPr lang="en-US" sz="6600" kern="1200">
                <a:solidFill>
                  <a:schemeClr val="tx1"/>
                </a:solidFill>
                <a:latin typeface="+mj-lt"/>
                <a:ea typeface="+mj-ea"/>
                <a:cs typeface="+mj-cs"/>
              </a:rPr>
              <a:t>Factores que impulsaron los microservicios</a:t>
            </a:r>
            <a:br>
              <a:rPr lang="en-US" sz="6600" kern="1200">
                <a:solidFill>
                  <a:schemeClr val="tx1"/>
                </a:solidFill>
                <a:latin typeface="+mj-lt"/>
                <a:ea typeface="+mj-ea"/>
                <a:cs typeface="+mj-cs"/>
                <a:sym typeface="Arial"/>
              </a:rPr>
            </a:br>
            <a:endParaRPr lang="en-US" sz="6600" kern="1200">
              <a:solidFill>
                <a:schemeClr val="tx1"/>
              </a:solidFill>
              <a:latin typeface="+mj-lt"/>
              <a:ea typeface="+mj-ea"/>
              <a:cs typeface="+mj-cs"/>
            </a:endParaRPr>
          </a:p>
        </p:txBody>
      </p:sp>
      <p:cxnSp>
        <p:nvCxnSpPr>
          <p:cNvPr id="11" name="Straight Connector 10">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92079" y="1698171"/>
            <a:ext cx="0" cy="8576359"/>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Marcador de texto 2">
            <a:extLst>
              <a:ext uri="{FF2B5EF4-FFF2-40B4-BE49-F238E27FC236}">
                <a16:creationId xmlns:a16="http://schemas.microsoft.com/office/drawing/2014/main" id="{9F6B3F70-4C3B-0BCF-47D7-976A0204D627}"/>
              </a:ext>
            </a:extLst>
          </p:cNvPr>
          <p:cNvGraphicFramePr/>
          <p:nvPr>
            <p:extLst>
              <p:ext uri="{D42A27DB-BD31-4B8C-83A1-F6EECF244321}">
                <p14:modId xmlns:p14="http://schemas.microsoft.com/office/powerpoint/2010/main" val="3846431714"/>
              </p:ext>
            </p:extLst>
          </p:nvPr>
        </p:nvGraphicFramePr>
        <p:xfrm>
          <a:off x="7662802" y="1606200"/>
          <a:ext cx="9367898" cy="83840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289179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8">
            <a:extLst>
              <a:ext uri="{FF2B5EF4-FFF2-40B4-BE49-F238E27FC236}">
                <a16:creationId xmlns:a16="http://schemas.microsoft.com/office/drawing/2014/main" id="{22F15A2D-2324-487D-A02A-BF46C5C58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ight Triangle 10">
            <a:extLst>
              <a:ext uri="{FF2B5EF4-FFF2-40B4-BE49-F238E27FC236}">
                <a16:creationId xmlns:a16="http://schemas.microsoft.com/office/drawing/2014/main" id="{2AEAFA59-923A-4F54-8B49-44C970BCC3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2865080" y="5003800"/>
            <a:ext cx="4937760" cy="48006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C37E9D4B-7BFA-4D10-B666-547BAC4994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661" y="934912"/>
            <a:ext cx="16357579" cy="8411823"/>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oogle Shape;192;g338393cb8ca_0_9">
            <a:extLst>
              <a:ext uri="{FF2B5EF4-FFF2-40B4-BE49-F238E27FC236}">
                <a16:creationId xmlns:a16="http://schemas.microsoft.com/office/drawing/2014/main" id="{8237850D-4A14-E056-7100-7269F262AF4E}"/>
              </a:ext>
            </a:extLst>
          </p:cNvPr>
          <p:cNvPicPr preferRelativeResize="0"/>
          <p:nvPr/>
        </p:nvPicPr>
        <p:blipFill>
          <a:blip r:embed="rId2"/>
          <a:stretch>
            <a:fillRect/>
          </a:stretch>
        </p:blipFill>
        <p:spPr>
          <a:xfrm>
            <a:off x="1918274" y="1377819"/>
            <a:ext cx="10670003" cy="7469001"/>
          </a:xfrm>
          <a:prstGeom prst="rect">
            <a:avLst/>
          </a:prstGeom>
          <a:noFill/>
        </p:spPr>
      </p:pic>
    </p:spTree>
    <p:extLst>
      <p:ext uri="{BB962C8B-B14F-4D97-AF65-F5344CB8AC3E}">
        <p14:creationId xmlns:p14="http://schemas.microsoft.com/office/powerpoint/2010/main" val="88064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2F15A2D-2324-487D-A02A-BF46C5C58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Triangle 8">
            <a:extLst>
              <a:ext uri="{FF2B5EF4-FFF2-40B4-BE49-F238E27FC236}">
                <a16:creationId xmlns:a16="http://schemas.microsoft.com/office/drawing/2014/main" id="{2AEAFA59-923A-4F54-8B49-44C970BCC3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2865080" y="5003800"/>
            <a:ext cx="4937760" cy="48006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C37E9D4B-7BFA-4D10-B666-547BAC4994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661" y="934912"/>
            <a:ext cx="16357579" cy="8411823"/>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oogle Shape;198;g338393cb8ca_0_15">
            <a:extLst>
              <a:ext uri="{FF2B5EF4-FFF2-40B4-BE49-F238E27FC236}">
                <a16:creationId xmlns:a16="http://schemas.microsoft.com/office/drawing/2014/main" id="{46CC4265-E554-9441-AE3D-724793B0BB3F}"/>
              </a:ext>
            </a:extLst>
          </p:cNvPr>
          <p:cNvPicPr preferRelativeResize="0"/>
          <p:nvPr/>
        </p:nvPicPr>
        <p:blipFill>
          <a:blip r:embed="rId2"/>
          <a:stretch>
            <a:fillRect/>
          </a:stretch>
        </p:blipFill>
        <p:spPr>
          <a:xfrm>
            <a:off x="2555791" y="1377819"/>
            <a:ext cx="9394969" cy="7469001"/>
          </a:xfrm>
          <a:prstGeom prst="rect">
            <a:avLst/>
          </a:prstGeom>
          <a:noFill/>
        </p:spPr>
      </p:pic>
    </p:spTree>
    <p:extLst>
      <p:ext uri="{BB962C8B-B14F-4D97-AF65-F5344CB8AC3E}">
        <p14:creationId xmlns:p14="http://schemas.microsoft.com/office/powerpoint/2010/main" val="28844506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2F15A2D-2324-487D-A02A-BF46C5C58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Triangle 10">
            <a:extLst>
              <a:ext uri="{FF2B5EF4-FFF2-40B4-BE49-F238E27FC236}">
                <a16:creationId xmlns:a16="http://schemas.microsoft.com/office/drawing/2014/main" id="{2AEAFA59-923A-4F54-8B49-44C970BCC3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2865080" y="5003800"/>
            <a:ext cx="4937760" cy="48006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C37E9D4B-7BFA-4D10-B666-547BAC4994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661" y="934912"/>
            <a:ext cx="16357579" cy="8411823"/>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oogle Shape;205;g338393cb8ca_0_35">
            <a:extLst>
              <a:ext uri="{FF2B5EF4-FFF2-40B4-BE49-F238E27FC236}">
                <a16:creationId xmlns:a16="http://schemas.microsoft.com/office/drawing/2014/main" id="{0BF6D6A4-42DC-AA76-628A-894D87299C61}"/>
              </a:ext>
            </a:extLst>
          </p:cNvPr>
          <p:cNvPicPr preferRelativeResize="0"/>
          <p:nvPr/>
        </p:nvPicPr>
        <p:blipFill>
          <a:blip r:embed="rId2"/>
          <a:stretch>
            <a:fillRect/>
          </a:stretch>
        </p:blipFill>
        <p:spPr>
          <a:xfrm>
            <a:off x="1720682" y="1377819"/>
            <a:ext cx="11065187" cy="7469001"/>
          </a:xfrm>
          <a:prstGeom prst="rect">
            <a:avLst/>
          </a:prstGeom>
          <a:noFill/>
        </p:spPr>
      </p:pic>
    </p:spTree>
    <p:extLst>
      <p:ext uri="{BB962C8B-B14F-4D97-AF65-F5344CB8AC3E}">
        <p14:creationId xmlns:p14="http://schemas.microsoft.com/office/powerpoint/2010/main" val="14289669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g338393cb8ca_0_42"/>
          <p:cNvSpPr/>
          <p:nvPr/>
        </p:nvSpPr>
        <p:spPr>
          <a:xfrm>
            <a:off x="44" y="0"/>
            <a:ext cx="9538200" cy="10287000"/>
          </a:xfrm>
          <a:prstGeom prst="rect">
            <a:avLst/>
          </a:prstGeom>
          <a:solidFill>
            <a:srgbClr val="757070"/>
          </a:solidFill>
          <a:ln w="25400" cap="flat" cmpd="sng">
            <a:solidFill>
              <a:srgbClr val="1C3052"/>
            </a:solidFill>
            <a:prstDash val="solid"/>
            <a:round/>
            <a:headEnd type="none" w="sm" len="sm"/>
            <a:tailEnd type="none" w="sm" len="sm"/>
          </a:ln>
        </p:spPr>
        <p:txBody>
          <a:bodyPr spcFirstLastPara="1" wrap="square" lIns="137138" tIns="68550" rIns="137138" bIns="68550" anchor="ctr" anchorCtr="0">
            <a:noAutofit/>
          </a:bodyPr>
          <a:lstStyle/>
          <a:p>
            <a:pPr algn="ctr">
              <a:buSzPts val="1400"/>
            </a:pPr>
            <a:endParaRPr sz="2100">
              <a:solidFill>
                <a:schemeClr val="lt1"/>
              </a:solidFill>
            </a:endParaRPr>
          </a:p>
        </p:txBody>
      </p:sp>
      <p:sp>
        <p:nvSpPr>
          <p:cNvPr id="212" name="Google Shape;212;g338393cb8ca_0_42"/>
          <p:cNvSpPr/>
          <p:nvPr/>
        </p:nvSpPr>
        <p:spPr>
          <a:xfrm>
            <a:off x="961694" y="986822"/>
            <a:ext cx="7614900" cy="8313300"/>
          </a:xfrm>
          <a:prstGeom prst="rect">
            <a:avLst/>
          </a:prstGeom>
          <a:solidFill>
            <a:schemeClr val="lt1"/>
          </a:solidFill>
          <a:ln w="25400" cap="flat" cmpd="sng">
            <a:solidFill>
              <a:srgbClr val="1C3052"/>
            </a:solidFill>
            <a:prstDash val="solid"/>
            <a:round/>
            <a:headEnd type="none" w="sm" len="sm"/>
            <a:tailEnd type="none" w="sm" len="sm"/>
          </a:ln>
        </p:spPr>
        <p:txBody>
          <a:bodyPr spcFirstLastPara="1" wrap="square" lIns="137138" tIns="68550" rIns="137138" bIns="68550" anchor="ctr" anchorCtr="0">
            <a:noAutofit/>
          </a:bodyPr>
          <a:lstStyle/>
          <a:p>
            <a:pPr algn="just">
              <a:buSzPts val="4400"/>
            </a:pPr>
            <a:r>
              <a:rPr lang="es-ES" sz="3375" dirty="0">
                <a:solidFill>
                  <a:schemeClr val="dk1"/>
                </a:solidFill>
              </a:rPr>
              <a:t>Ventajas</a:t>
            </a:r>
            <a:endParaRPr sz="3375" dirty="0">
              <a:solidFill>
                <a:schemeClr val="dk1"/>
              </a:solidFill>
            </a:endParaRPr>
          </a:p>
          <a:p>
            <a:pPr algn="just">
              <a:buSzPts val="4400"/>
            </a:pPr>
            <a:endParaRPr sz="3375" dirty="0">
              <a:solidFill>
                <a:schemeClr val="dk1"/>
              </a:solidFill>
            </a:endParaRPr>
          </a:p>
          <a:p>
            <a:pPr marL="685800" indent="-557213" algn="just">
              <a:buClr>
                <a:schemeClr val="dk1"/>
              </a:buClr>
              <a:buSzPts val="2250"/>
              <a:buChar char="●"/>
            </a:pPr>
            <a:r>
              <a:rPr lang="es-ES" sz="3375" dirty="0">
                <a:solidFill>
                  <a:schemeClr val="dk1"/>
                </a:solidFill>
              </a:rPr>
              <a:t>Escalabilidad Independiente</a:t>
            </a:r>
            <a:endParaRPr sz="3375" dirty="0">
              <a:solidFill>
                <a:schemeClr val="dk1"/>
              </a:solidFill>
            </a:endParaRPr>
          </a:p>
          <a:p>
            <a:pPr marL="685800" indent="-557213" algn="just">
              <a:buClr>
                <a:schemeClr val="dk1"/>
              </a:buClr>
              <a:buSzPts val="2250"/>
              <a:buChar char="●"/>
            </a:pPr>
            <a:r>
              <a:rPr lang="es-ES" sz="3375" dirty="0">
                <a:solidFill>
                  <a:schemeClr val="dk1"/>
                </a:solidFill>
              </a:rPr>
              <a:t>Desarrollo y Despliegue Ágil</a:t>
            </a:r>
            <a:endParaRPr sz="3375" dirty="0">
              <a:solidFill>
                <a:schemeClr val="dk1"/>
              </a:solidFill>
            </a:endParaRPr>
          </a:p>
          <a:p>
            <a:pPr marL="685800" indent="-557213" algn="just">
              <a:buClr>
                <a:schemeClr val="dk1"/>
              </a:buClr>
              <a:buSzPts val="2250"/>
              <a:buChar char="●"/>
            </a:pPr>
            <a:r>
              <a:rPr lang="es-ES" sz="3375" dirty="0">
                <a:solidFill>
                  <a:schemeClr val="dk1"/>
                </a:solidFill>
              </a:rPr>
              <a:t>Flexibilidad Tecnológica</a:t>
            </a:r>
            <a:endParaRPr sz="3375" dirty="0">
              <a:solidFill>
                <a:schemeClr val="dk1"/>
              </a:solidFill>
            </a:endParaRPr>
          </a:p>
          <a:p>
            <a:pPr marL="685800" indent="-557213" algn="just">
              <a:buClr>
                <a:schemeClr val="dk1"/>
              </a:buClr>
              <a:buSzPts val="2250"/>
              <a:buChar char="●"/>
            </a:pPr>
            <a:r>
              <a:rPr lang="es-ES" sz="3375" dirty="0">
                <a:solidFill>
                  <a:schemeClr val="dk1"/>
                </a:solidFill>
              </a:rPr>
              <a:t>Mayor Resiliencia y Tolerancia a Fallos</a:t>
            </a:r>
            <a:endParaRPr sz="3375" dirty="0">
              <a:solidFill>
                <a:schemeClr val="dk1"/>
              </a:solidFill>
            </a:endParaRPr>
          </a:p>
          <a:p>
            <a:pPr marL="685800" indent="-557213" algn="just">
              <a:buClr>
                <a:schemeClr val="dk1"/>
              </a:buClr>
              <a:buSzPts val="2250"/>
              <a:buChar char="●"/>
            </a:pPr>
            <a:r>
              <a:rPr lang="es-ES" sz="3375" dirty="0">
                <a:solidFill>
                  <a:schemeClr val="dk1"/>
                </a:solidFill>
              </a:rPr>
              <a:t>Facilidad para Integraciones</a:t>
            </a:r>
            <a:endParaRPr sz="3375" dirty="0">
              <a:solidFill>
                <a:schemeClr val="dk1"/>
              </a:solidFill>
            </a:endParaRPr>
          </a:p>
        </p:txBody>
      </p:sp>
      <p:sp>
        <p:nvSpPr>
          <p:cNvPr id="213" name="Google Shape;213;g338393cb8ca_0_42"/>
          <p:cNvSpPr txBox="1"/>
          <p:nvPr/>
        </p:nvSpPr>
        <p:spPr>
          <a:xfrm>
            <a:off x="10134181" y="2499372"/>
            <a:ext cx="7335450" cy="4812795"/>
          </a:xfrm>
          <a:prstGeom prst="rect">
            <a:avLst/>
          </a:prstGeom>
          <a:noFill/>
          <a:ln>
            <a:noFill/>
          </a:ln>
        </p:spPr>
        <p:txBody>
          <a:bodyPr spcFirstLastPara="1" wrap="square" lIns="137138" tIns="68550" rIns="137138" bIns="68550" anchor="t" anchorCtr="0">
            <a:spAutoFit/>
          </a:bodyPr>
          <a:lstStyle/>
          <a:p>
            <a:pPr algn="just">
              <a:buSzPts val="2400"/>
            </a:pPr>
            <a:r>
              <a:rPr lang="es-ES" sz="3375" dirty="0">
                <a:solidFill>
                  <a:schemeClr val="tx1"/>
                </a:solidFill>
              </a:rPr>
              <a:t>Desventajas</a:t>
            </a:r>
            <a:endParaRPr sz="3375" dirty="0">
              <a:solidFill>
                <a:schemeClr val="tx1"/>
              </a:solidFill>
            </a:endParaRPr>
          </a:p>
          <a:p>
            <a:pPr algn="just">
              <a:buSzPts val="2400"/>
            </a:pPr>
            <a:endParaRPr sz="3375" dirty="0">
              <a:solidFill>
                <a:schemeClr val="tx1"/>
              </a:solidFill>
            </a:endParaRPr>
          </a:p>
          <a:p>
            <a:pPr marL="685800" indent="-557213" algn="just">
              <a:buClr>
                <a:srgbClr val="E6E6E6"/>
              </a:buClr>
              <a:buSzPts val="2250"/>
              <a:buChar char="●"/>
            </a:pPr>
            <a:r>
              <a:rPr lang="es-ES" sz="3375" dirty="0">
                <a:solidFill>
                  <a:schemeClr val="tx1"/>
                </a:solidFill>
              </a:rPr>
              <a:t>Mayor Complejidad en la Gestión</a:t>
            </a:r>
            <a:endParaRPr sz="3375" dirty="0">
              <a:solidFill>
                <a:schemeClr val="tx1"/>
              </a:solidFill>
            </a:endParaRPr>
          </a:p>
          <a:p>
            <a:pPr marL="685800" indent="-557213" algn="just">
              <a:buClr>
                <a:srgbClr val="E6E6E6"/>
              </a:buClr>
              <a:buSzPts val="2250"/>
              <a:buChar char="●"/>
            </a:pPr>
            <a:r>
              <a:rPr lang="es-ES" sz="3375" dirty="0">
                <a:solidFill>
                  <a:schemeClr val="tx1"/>
                </a:solidFill>
              </a:rPr>
              <a:t>Mayor Carga Operativa</a:t>
            </a:r>
            <a:endParaRPr sz="3375" dirty="0">
              <a:solidFill>
                <a:schemeClr val="tx1"/>
              </a:solidFill>
            </a:endParaRPr>
          </a:p>
          <a:p>
            <a:pPr marL="685800" indent="-557213" algn="just">
              <a:buClr>
                <a:srgbClr val="E6E6E6"/>
              </a:buClr>
              <a:buSzPts val="2250"/>
              <a:buChar char="●"/>
            </a:pPr>
            <a:r>
              <a:rPr lang="es-ES" sz="3375" dirty="0">
                <a:solidFill>
                  <a:schemeClr val="tx1"/>
                </a:solidFill>
              </a:rPr>
              <a:t>Dificultad en la Comunicación</a:t>
            </a:r>
            <a:endParaRPr sz="3375" dirty="0">
              <a:solidFill>
                <a:schemeClr val="tx1"/>
              </a:solidFill>
            </a:endParaRPr>
          </a:p>
          <a:p>
            <a:pPr marL="685800" indent="-557213" algn="just">
              <a:buClr>
                <a:srgbClr val="E6E6E6"/>
              </a:buClr>
              <a:buSzPts val="2250"/>
              <a:buChar char="●"/>
            </a:pPr>
            <a:r>
              <a:rPr lang="es-ES" sz="3375" dirty="0">
                <a:solidFill>
                  <a:schemeClr val="tx1"/>
                </a:solidFill>
              </a:rPr>
              <a:t>Problemas de Consistencia de Datos</a:t>
            </a:r>
            <a:endParaRPr sz="3375" dirty="0">
              <a:solidFill>
                <a:schemeClr val="tx1"/>
              </a:solidFill>
            </a:endParaRPr>
          </a:p>
          <a:p>
            <a:pPr marL="685800" indent="-557213" algn="just">
              <a:buClr>
                <a:srgbClr val="E6E6E6"/>
              </a:buClr>
              <a:buSzPts val="2250"/>
              <a:buChar char="●"/>
            </a:pPr>
            <a:r>
              <a:rPr lang="es-ES" sz="3375" dirty="0">
                <a:solidFill>
                  <a:schemeClr val="tx1"/>
                </a:solidFill>
              </a:rPr>
              <a:t>Tiempo de Desarrollo Inicial Mayor</a:t>
            </a:r>
            <a:endParaRPr sz="3375" dirty="0">
              <a:solidFill>
                <a:schemeClr val="tx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Triangle 10">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2865080" y="5003800"/>
            <a:ext cx="4937760" cy="48006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661" y="934912"/>
            <a:ext cx="16357579" cy="8411823"/>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3317AD7-CDC6-6529-2703-5C8FD5504E1B}"/>
              </a:ext>
            </a:extLst>
          </p:cNvPr>
          <p:cNvSpPr>
            <a:spLocks noGrp="1"/>
          </p:cNvSpPr>
          <p:nvPr>
            <p:ph type="title"/>
          </p:nvPr>
        </p:nvSpPr>
        <p:spPr>
          <a:xfrm>
            <a:off x="1685034" y="1782955"/>
            <a:ext cx="14976922" cy="2395842"/>
          </a:xfrm>
        </p:spPr>
        <p:txBody>
          <a:bodyPr vert="horz" lIns="91440" tIns="45720" rIns="91440" bIns="45720" rtlCol="0" anchor="ctr">
            <a:normAutofit/>
          </a:bodyPr>
          <a:lstStyle/>
          <a:p>
            <a:pPr>
              <a:lnSpc>
                <a:spcPct val="90000"/>
              </a:lnSpc>
              <a:spcBef>
                <a:spcPct val="0"/>
              </a:spcBef>
            </a:pPr>
            <a:r>
              <a:rPr lang="en-US" sz="9000" kern="1200">
                <a:solidFill>
                  <a:schemeClr val="tx1"/>
                </a:solidFill>
                <a:latin typeface="+mj-lt"/>
                <a:ea typeface="+mj-ea"/>
                <a:cs typeface="+mj-cs"/>
              </a:rPr>
              <a:t>Así se ve un microservicio</a:t>
            </a:r>
          </a:p>
        </p:txBody>
      </p:sp>
      <p:pic>
        <p:nvPicPr>
          <p:cNvPr id="4" name="Google Shape;221;p4">
            <a:extLst>
              <a:ext uri="{FF2B5EF4-FFF2-40B4-BE49-F238E27FC236}">
                <a16:creationId xmlns:a16="http://schemas.microsoft.com/office/drawing/2014/main" id="{C2727427-395D-406D-BC02-A251DD55C7F5}"/>
              </a:ext>
            </a:extLst>
          </p:cNvPr>
          <p:cNvPicPr preferRelativeResize="0"/>
          <p:nvPr/>
        </p:nvPicPr>
        <p:blipFill>
          <a:blip r:embed="rId2"/>
          <a:stretch>
            <a:fillRect/>
          </a:stretch>
        </p:blipFill>
        <p:spPr>
          <a:xfrm>
            <a:off x="1685035" y="5082739"/>
            <a:ext cx="5300978" cy="2981799"/>
          </a:xfrm>
          <a:prstGeom prst="rect">
            <a:avLst/>
          </a:prstGeom>
          <a:noFill/>
        </p:spPr>
      </p:pic>
      <p:sp>
        <p:nvSpPr>
          <p:cNvPr id="3" name="Marcador de texto 2">
            <a:extLst>
              <a:ext uri="{FF2B5EF4-FFF2-40B4-BE49-F238E27FC236}">
                <a16:creationId xmlns:a16="http://schemas.microsoft.com/office/drawing/2014/main" id="{18A1C8B9-FBDB-1D44-80F9-578899F9C285}"/>
              </a:ext>
            </a:extLst>
          </p:cNvPr>
          <p:cNvSpPr>
            <a:spLocks noGrp="1"/>
          </p:cNvSpPr>
          <p:nvPr>
            <p:ph type="body" idx="1"/>
          </p:nvPr>
        </p:nvSpPr>
        <p:spPr>
          <a:xfrm>
            <a:off x="7882890" y="4497417"/>
            <a:ext cx="6357385" cy="4092297"/>
          </a:xfrm>
        </p:spPr>
        <p:txBody>
          <a:bodyPr vert="horz" lIns="91440" tIns="45720" rIns="91440" bIns="45720" rtlCol="0" anchor="t">
            <a:normAutofit/>
          </a:bodyPr>
          <a:lstStyle/>
          <a:p>
            <a:pPr indent="-228600">
              <a:lnSpc>
                <a:spcPct val="90000"/>
              </a:lnSpc>
              <a:buFont typeface="Arial" panose="020B0604020202020204" pitchFamily="34" charset="0"/>
              <a:buChar char="•"/>
            </a:pPr>
            <a:endParaRPr lang="en-US" sz="3000" kern="1200">
              <a:solidFill>
                <a:schemeClr val="tx1"/>
              </a:solidFill>
              <a:latin typeface="+mn-lt"/>
              <a:ea typeface="+mn-ea"/>
              <a:cs typeface="+mn-cs"/>
            </a:endParaRPr>
          </a:p>
        </p:txBody>
      </p:sp>
    </p:spTree>
    <p:extLst>
      <p:ext uri="{BB962C8B-B14F-4D97-AF65-F5344CB8AC3E}">
        <p14:creationId xmlns:p14="http://schemas.microsoft.com/office/powerpoint/2010/main" val="21142603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8" name="Google Shape;228;g338393cb8ca_0_53"/>
          <p:cNvSpPr/>
          <p:nvPr/>
        </p:nvSpPr>
        <p:spPr>
          <a:xfrm>
            <a:off x="0" y="0"/>
            <a:ext cx="11304900" cy="10287000"/>
          </a:xfrm>
          <a:prstGeom prst="rect">
            <a:avLst/>
          </a:prstGeom>
          <a:solidFill>
            <a:srgbClr val="FFFFFF"/>
          </a:solidFill>
          <a:ln>
            <a:noFill/>
          </a:ln>
        </p:spPr>
        <p:txBody>
          <a:bodyPr spcFirstLastPara="1" wrap="square" lIns="137138" tIns="68550" rIns="137138" bIns="68550" anchor="ctr" anchorCtr="0">
            <a:noAutofit/>
          </a:bodyPr>
          <a:lstStyle/>
          <a:p>
            <a:pPr algn="ctr">
              <a:buClr>
                <a:schemeClr val="lt1"/>
              </a:buClr>
              <a:buSzPts val="1800"/>
            </a:pPr>
            <a:endParaRPr sz="2700">
              <a:solidFill>
                <a:srgbClr val="FFFFFF"/>
              </a:solidFill>
              <a:latin typeface="Calibri"/>
              <a:ea typeface="Calibri"/>
              <a:cs typeface="Calibri"/>
              <a:sym typeface="Calibri"/>
            </a:endParaRPr>
          </a:p>
        </p:txBody>
      </p:sp>
      <p:sp>
        <p:nvSpPr>
          <p:cNvPr id="229" name="Google Shape;229;g338393cb8ca_0_53"/>
          <p:cNvSpPr/>
          <p:nvPr/>
        </p:nvSpPr>
        <p:spPr>
          <a:xfrm>
            <a:off x="939428" y="975021"/>
            <a:ext cx="5050800" cy="4899150"/>
          </a:xfrm>
          <a:prstGeom prst="rect">
            <a:avLst/>
          </a:prstGeom>
          <a:solidFill>
            <a:srgbClr val="FFFFFF"/>
          </a:solidFill>
          <a:ln>
            <a:noFill/>
          </a:ln>
        </p:spPr>
        <p:txBody>
          <a:bodyPr spcFirstLastPara="1" wrap="square" lIns="137138" tIns="68550" rIns="137138" bIns="68550" anchor="ctr" anchorCtr="0">
            <a:noAutofit/>
          </a:bodyPr>
          <a:lstStyle/>
          <a:p>
            <a:pPr algn="ctr">
              <a:buClr>
                <a:schemeClr val="lt1"/>
              </a:buClr>
              <a:buSzPts val="1800"/>
            </a:pPr>
            <a:endParaRPr sz="2700">
              <a:solidFill>
                <a:srgbClr val="FFFFFF"/>
              </a:solidFill>
              <a:latin typeface="Calibri"/>
              <a:ea typeface="Calibri"/>
              <a:cs typeface="Calibri"/>
              <a:sym typeface="Calibri"/>
            </a:endParaRPr>
          </a:p>
        </p:txBody>
      </p:sp>
      <p:sp>
        <p:nvSpPr>
          <p:cNvPr id="230" name="Google Shape;230;g338393cb8ca_0_53"/>
          <p:cNvSpPr/>
          <p:nvPr/>
        </p:nvSpPr>
        <p:spPr>
          <a:xfrm>
            <a:off x="6229419" y="975021"/>
            <a:ext cx="4148550" cy="3204900"/>
          </a:xfrm>
          <a:prstGeom prst="rect">
            <a:avLst/>
          </a:prstGeom>
          <a:solidFill>
            <a:srgbClr val="FFFFFF"/>
          </a:solidFill>
          <a:ln>
            <a:noFill/>
          </a:ln>
        </p:spPr>
        <p:txBody>
          <a:bodyPr spcFirstLastPara="1" wrap="square" lIns="137138" tIns="68550" rIns="137138" bIns="68550" anchor="ctr" anchorCtr="0">
            <a:noAutofit/>
          </a:bodyPr>
          <a:lstStyle/>
          <a:p>
            <a:pPr algn="ctr">
              <a:buClr>
                <a:schemeClr val="lt1"/>
              </a:buClr>
              <a:buSzPts val="1800"/>
            </a:pPr>
            <a:endParaRPr sz="2700">
              <a:solidFill>
                <a:srgbClr val="FFFFFF"/>
              </a:solidFill>
              <a:latin typeface="Calibri"/>
              <a:ea typeface="Calibri"/>
              <a:cs typeface="Calibri"/>
              <a:sym typeface="Calibri"/>
            </a:endParaRPr>
          </a:p>
        </p:txBody>
      </p:sp>
      <p:sp>
        <p:nvSpPr>
          <p:cNvPr id="231" name="Google Shape;231;g338393cb8ca_0_53"/>
          <p:cNvSpPr/>
          <p:nvPr/>
        </p:nvSpPr>
        <p:spPr>
          <a:xfrm>
            <a:off x="939428" y="6132323"/>
            <a:ext cx="5050800" cy="3187350"/>
          </a:xfrm>
          <a:prstGeom prst="rect">
            <a:avLst/>
          </a:prstGeom>
          <a:solidFill>
            <a:srgbClr val="FFFFFF"/>
          </a:solidFill>
          <a:ln>
            <a:noFill/>
          </a:ln>
        </p:spPr>
        <p:txBody>
          <a:bodyPr spcFirstLastPara="1" wrap="square" lIns="137138" tIns="68550" rIns="137138" bIns="68550" anchor="ctr" anchorCtr="0">
            <a:noAutofit/>
          </a:bodyPr>
          <a:lstStyle/>
          <a:p>
            <a:pPr algn="ctr">
              <a:buClr>
                <a:schemeClr val="lt1"/>
              </a:buClr>
              <a:buSzPts val="1800"/>
            </a:pPr>
            <a:endParaRPr sz="2700">
              <a:solidFill>
                <a:srgbClr val="FFFFFF"/>
              </a:solidFill>
              <a:latin typeface="Calibri"/>
              <a:ea typeface="Calibri"/>
              <a:cs typeface="Calibri"/>
              <a:sym typeface="Calibri"/>
            </a:endParaRPr>
          </a:p>
        </p:txBody>
      </p:sp>
      <p:sp>
        <p:nvSpPr>
          <p:cNvPr id="232" name="Google Shape;232;g338393cb8ca_0_53"/>
          <p:cNvSpPr/>
          <p:nvPr/>
        </p:nvSpPr>
        <p:spPr>
          <a:xfrm>
            <a:off x="6229419" y="4420577"/>
            <a:ext cx="4148550" cy="4899150"/>
          </a:xfrm>
          <a:prstGeom prst="rect">
            <a:avLst/>
          </a:prstGeom>
          <a:solidFill>
            <a:srgbClr val="FFFFFF"/>
          </a:solidFill>
          <a:ln>
            <a:noFill/>
          </a:ln>
        </p:spPr>
        <p:txBody>
          <a:bodyPr spcFirstLastPara="1" wrap="square" lIns="137138" tIns="68550" rIns="137138" bIns="68550" anchor="ctr" anchorCtr="0">
            <a:noAutofit/>
          </a:bodyPr>
          <a:lstStyle/>
          <a:p>
            <a:pPr algn="ctr">
              <a:buClr>
                <a:schemeClr val="lt1"/>
              </a:buClr>
              <a:buSzPts val="1800"/>
            </a:pPr>
            <a:endParaRPr sz="2700">
              <a:solidFill>
                <a:srgbClr val="FFFFFF"/>
              </a:solidFill>
              <a:latin typeface="Calibri"/>
              <a:ea typeface="Calibri"/>
              <a:cs typeface="Calibri"/>
              <a:sym typeface="Calibri"/>
            </a:endParaRPr>
          </a:p>
        </p:txBody>
      </p:sp>
      <p:pic>
        <p:nvPicPr>
          <p:cNvPr id="2" name="Google Shape;233;g338393cb8ca_0_53">
            <a:extLst>
              <a:ext uri="{FF2B5EF4-FFF2-40B4-BE49-F238E27FC236}">
                <a16:creationId xmlns:a16="http://schemas.microsoft.com/office/drawing/2014/main" id="{47FF0815-3D38-004B-A9AA-CBF5B93B8E04}"/>
              </a:ext>
            </a:extLst>
          </p:cNvPr>
          <p:cNvPicPr preferRelativeResize="0"/>
          <p:nvPr/>
        </p:nvPicPr>
        <p:blipFill>
          <a:blip r:embed="rId3">
            <a:alphaModFix/>
          </a:blip>
          <a:stretch>
            <a:fillRect/>
          </a:stretch>
        </p:blipFill>
        <p:spPr>
          <a:xfrm>
            <a:off x="0" y="136761"/>
            <a:ext cx="18288000" cy="1015023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7"/>
          <p:cNvSpPr txBox="1"/>
          <p:nvPr/>
        </p:nvSpPr>
        <p:spPr>
          <a:xfrm>
            <a:off x="2507390" y="1000125"/>
            <a:ext cx="13503300" cy="1062000"/>
          </a:xfrm>
          <a:prstGeom prst="rect">
            <a:avLst/>
          </a:prstGeom>
          <a:noFill/>
          <a:ln>
            <a:noFill/>
          </a:ln>
        </p:spPr>
        <p:txBody>
          <a:bodyPr spcFirstLastPara="1" wrap="square" lIns="0" tIns="0" rIns="0" bIns="0" anchor="t" anchorCtr="0">
            <a:spAutoFit/>
          </a:bodyPr>
          <a:lstStyle/>
          <a:p>
            <a:pPr marL="0" marR="0" lvl="0" indent="0" algn="ctr" rtl="0">
              <a:lnSpc>
                <a:spcPct val="113000"/>
              </a:lnSpc>
              <a:spcBef>
                <a:spcPts val="0"/>
              </a:spcBef>
              <a:spcAft>
                <a:spcPts val="0"/>
              </a:spcAft>
              <a:buClr>
                <a:srgbClr val="000000"/>
              </a:buClr>
              <a:buSzPts val="6900"/>
              <a:buFont typeface="Arial"/>
              <a:buNone/>
            </a:pPr>
            <a:r>
              <a:rPr lang="es-GT" sz="6900" b="0" i="0" u="none" strike="noStrike" cap="none" noProof="0" dirty="0">
                <a:solidFill>
                  <a:srgbClr val="131416"/>
                </a:solidFill>
                <a:latin typeface="Impact"/>
                <a:ea typeface="Impact"/>
                <a:cs typeface="Impact"/>
                <a:sym typeface="Impact"/>
              </a:rPr>
              <a:t>NOMBRE DEL VALOR</a:t>
            </a:r>
            <a:endParaRPr lang="es-GT" sz="1400" b="0" i="0" u="none" strike="noStrike" cap="none" noProof="0" dirty="0">
              <a:solidFill>
                <a:srgbClr val="000000"/>
              </a:solidFill>
              <a:latin typeface="Impact"/>
              <a:ea typeface="Impact"/>
              <a:cs typeface="Impact"/>
              <a:sym typeface="Impact"/>
            </a:endParaRPr>
          </a:p>
        </p:txBody>
      </p:sp>
      <p:sp>
        <p:nvSpPr>
          <p:cNvPr id="171" name="Google Shape;171;p7"/>
          <p:cNvSpPr txBox="1"/>
          <p:nvPr/>
        </p:nvSpPr>
        <p:spPr>
          <a:xfrm>
            <a:off x="1116331" y="2896179"/>
            <a:ext cx="6911400" cy="3201600"/>
          </a:xfrm>
          <a:prstGeom prst="rect">
            <a:avLst/>
          </a:prstGeom>
          <a:noFill/>
          <a:ln>
            <a:noFill/>
          </a:ln>
        </p:spPr>
        <p:txBody>
          <a:bodyPr spcFirstLastPara="1" wrap="square" lIns="0" tIns="0" rIns="0" bIns="0" anchor="t" anchorCtr="0">
            <a:spAutoFit/>
          </a:bodyPr>
          <a:lstStyle/>
          <a:p>
            <a:pPr marL="0" marR="0" lvl="0" indent="0" algn="ctr" rtl="0">
              <a:lnSpc>
                <a:spcPct val="140019"/>
              </a:lnSpc>
              <a:spcBef>
                <a:spcPts val="0"/>
              </a:spcBef>
              <a:spcAft>
                <a:spcPts val="0"/>
              </a:spcAft>
              <a:buClr>
                <a:srgbClr val="000000"/>
              </a:buClr>
              <a:buSzPts val="3151"/>
              <a:buFont typeface="Arial"/>
              <a:buNone/>
            </a:pPr>
            <a:r>
              <a:rPr lang="es-GT" sz="3151" b="0" i="0" u="none" strike="noStrike" cap="none" noProof="0" dirty="0">
                <a:solidFill>
                  <a:srgbClr val="131416"/>
                </a:solidFill>
                <a:latin typeface="Arial"/>
                <a:ea typeface="Arial"/>
                <a:cs typeface="Arial"/>
                <a:sym typeface="Arial"/>
              </a:rPr>
              <a:t>Recuerda que en una educación por competencias enseñamos valores indica ejemplos prácticos  desde lo aprendido como van los valores aplicados</a:t>
            </a:r>
            <a:endParaRPr lang="es-GT" sz="1400" b="0" i="0" u="none" strike="noStrike" cap="none" noProof="0" dirty="0">
              <a:solidFill>
                <a:srgbClr val="000000"/>
              </a:solidFill>
              <a:latin typeface="Arial"/>
              <a:ea typeface="Arial"/>
              <a:cs typeface="Arial"/>
              <a:sym typeface="Arial"/>
            </a:endParaRPr>
          </a:p>
        </p:txBody>
      </p:sp>
      <p:sp>
        <p:nvSpPr>
          <p:cNvPr id="172" name="Google Shape;172;p7"/>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73" name="Google Shape;173;p7"/>
          <p:cNvSpPr txBox="1"/>
          <p:nvPr/>
        </p:nvSpPr>
        <p:spPr>
          <a:xfrm>
            <a:off x="14252781" y="6573512"/>
            <a:ext cx="3238236" cy="2463422"/>
          </a:xfrm>
          <a:prstGeom prst="rect">
            <a:avLst/>
          </a:prstGeom>
          <a:noFill/>
          <a:ln>
            <a:noFill/>
          </a:ln>
        </p:spPr>
        <p:txBody>
          <a:bodyPr spcFirstLastPara="1" wrap="square" lIns="0" tIns="0" rIns="0" bIns="0" anchor="t" anchorCtr="0">
            <a:spAutoFit/>
          </a:bodyPr>
          <a:lstStyle/>
          <a:p>
            <a:pPr marL="0" marR="0" lvl="0" indent="0" algn="l" rtl="0">
              <a:lnSpc>
                <a:spcPct val="140019"/>
              </a:lnSpc>
              <a:spcBef>
                <a:spcPts val="0"/>
              </a:spcBef>
              <a:spcAft>
                <a:spcPts val="0"/>
              </a:spcAft>
              <a:buClr>
                <a:srgbClr val="000000"/>
              </a:buClr>
              <a:buSzPts val="2014"/>
              <a:buFont typeface="Arial"/>
              <a:buNone/>
            </a:pPr>
            <a:r>
              <a:rPr lang="es-GT" sz="2014" b="0" i="0" u="none" strike="noStrike" cap="none" noProof="0" dirty="0">
                <a:solidFill>
                  <a:srgbClr val="131416"/>
                </a:solidFill>
                <a:latin typeface="Open Sans"/>
                <a:ea typeface="Open Sans"/>
                <a:cs typeface="Open Sans"/>
                <a:sym typeface="Open Sans"/>
              </a:rPr>
              <a:t>Nuestra casa de estudios cuenta con valores como Excelencia, Compromiso </a:t>
            </a:r>
            <a:endParaRPr lang="es-GT" sz="1400" b="0" i="0" u="none" strike="noStrike" cap="none" noProof="0" dirty="0">
              <a:solidFill>
                <a:srgbClr val="000000"/>
              </a:solidFill>
              <a:latin typeface="Arial"/>
              <a:ea typeface="Arial"/>
              <a:cs typeface="Arial"/>
              <a:sym typeface="Arial"/>
            </a:endParaRPr>
          </a:p>
          <a:p>
            <a:pPr marL="0" marR="0" lvl="0" indent="0" algn="l" rtl="0">
              <a:lnSpc>
                <a:spcPct val="140019"/>
              </a:lnSpc>
              <a:spcBef>
                <a:spcPts val="0"/>
              </a:spcBef>
              <a:spcAft>
                <a:spcPts val="0"/>
              </a:spcAft>
              <a:buClr>
                <a:srgbClr val="000000"/>
              </a:buClr>
              <a:buSzPts val="2014"/>
              <a:buFont typeface="Arial"/>
              <a:buNone/>
            </a:pPr>
            <a:r>
              <a:rPr lang="es-GT" sz="2014" b="0" i="0" u="none" strike="noStrike" cap="none" noProof="0" dirty="0">
                <a:solidFill>
                  <a:srgbClr val="131416"/>
                </a:solidFill>
                <a:latin typeface="Open Sans"/>
                <a:ea typeface="Open Sans"/>
                <a:cs typeface="Open Sans"/>
                <a:sym typeface="Open Sans"/>
              </a:rPr>
              <a:t>Responsabilidad, Ética </a:t>
            </a:r>
            <a:endParaRPr lang="es-GT" sz="1400" b="0" i="0" u="none" strike="noStrike" cap="none" noProof="0" dirty="0">
              <a:solidFill>
                <a:srgbClr val="000000"/>
              </a:solidFill>
              <a:latin typeface="Arial"/>
              <a:ea typeface="Arial"/>
              <a:cs typeface="Arial"/>
              <a:sym typeface="Arial"/>
            </a:endParaRPr>
          </a:p>
          <a:p>
            <a:pPr marL="0" marR="0" lvl="0" indent="0" algn="l" rtl="0">
              <a:lnSpc>
                <a:spcPct val="140019"/>
              </a:lnSpc>
              <a:spcBef>
                <a:spcPts val="0"/>
              </a:spcBef>
              <a:spcAft>
                <a:spcPts val="0"/>
              </a:spcAft>
              <a:buClr>
                <a:srgbClr val="000000"/>
              </a:buClr>
              <a:buSzPts val="2014"/>
              <a:buFont typeface="Arial"/>
              <a:buNone/>
            </a:pPr>
            <a:r>
              <a:rPr lang="es-GT" sz="2014" b="0" i="0" u="none" strike="noStrike" cap="none" noProof="0" dirty="0">
                <a:solidFill>
                  <a:srgbClr val="131416"/>
                </a:solidFill>
                <a:latin typeface="Open Sans"/>
                <a:ea typeface="Open Sans"/>
                <a:cs typeface="Open Sans"/>
                <a:sym typeface="Open Sans"/>
              </a:rPr>
              <a:t>Integridad, trata de relacionarlos a los temas que estas impartiendo </a:t>
            </a:r>
            <a:endParaRPr lang="es-GT" sz="1400" b="0" i="0" u="none" strike="noStrike" cap="none" noProof="0" dirty="0">
              <a:solidFill>
                <a:srgbClr val="000000"/>
              </a:solidFill>
              <a:latin typeface="Arial"/>
              <a:ea typeface="Arial"/>
              <a:cs typeface="Arial"/>
              <a:sym typeface="Arial"/>
            </a:endParaRPr>
          </a:p>
        </p:txBody>
      </p:sp>
      <p:sp>
        <p:nvSpPr>
          <p:cNvPr id="174" name="Google Shape;174;p7"/>
          <p:cNvSpPr txBox="1"/>
          <p:nvPr/>
        </p:nvSpPr>
        <p:spPr>
          <a:xfrm>
            <a:off x="10447200" y="2896175"/>
            <a:ext cx="6699300" cy="2339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s-GT" sz="2800" b="0" i="0" u="none" strike="noStrike" cap="none" noProof="0" dirty="0">
                <a:solidFill>
                  <a:srgbClr val="000000"/>
                </a:solidFill>
                <a:latin typeface="Arial"/>
                <a:ea typeface="Arial"/>
                <a:cs typeface="Arial"/>
                <a:sym typeface="Arial"/>
              </a:rPr>
              <a:t>Más práctica, menos teoría</a:t>
            </a:r>
          </a:p>
          <a:p>
            <a:pPr marL="0" marR="0" lvl="0" indent="0" algn="l" rtl="0">
              <a:lnSpc>
                <a:spcPct val="100000"/>
              </a:lnSpc>
              <a:spcBef>
                <a:spcPts val="0"/>
              </a:spcBef>
              <a:spcAft>
                <a:spcPts val="0"/>
              </a:spcAft>
              <a:buClr>
                <a:srgbClr val="000000"/>
              </a:buClr>
              <a:buSzPts val="2800"/>
              <a:buFont typeface="Arial"/>
              <a:buNone/>
            </a:pPr>
            <a:r>
              <a:rPr lang="es-GT" sz="2800" b="0" i="0" u="none" strike="noStrike" cap="none" noProof="0" dirty="0">
                <a:solidFill>
                  <a:srgbClr val="000000"/>
                </a:solidFill>
                <a:latin typeface="Arial"/>
                <a:ea typeface="Arial"/>
                <a:cs typeface="Arial"/>
                <a:sym typeface="Arial"/>
              </a:rPr>
              <a:t>Hablar de valores puede ser aburrido si solo se queda en definiciones. Mejor usa casos reales, dinámicas, debates, videos, juegos de rol o </a:t>
            </a:r>
            <a:r>
              <a:rPr lang="es-GT" sz="2800" b="0" i="0" u="none" strike="noStrike" cap="none" noProof="0" dirty="0" err="1">
                <a:solidFill>
                  <a:srgbClr val="000000"/>
                </a:solidFill>
                <a:latin typeface="Arial"/>
                <a:ea typeface="Arial"/>
                <a:cs typeface="Arial"/>
                <a:sym typeface="Arial"/>
              </a:rPr>
              <a:t>storytelling</a:t>
            </a:r>
            <a:r>
              <a:rPr lang="es-GT" sz="2800" b="0" i="0" u="none" strike="noStrike" cap="none" noProof="0" dirty="0">
                <a:solidFill>
                  <a:srgbClr val="000000"/>
                </a:solidFill>
                <a:latin typeface="Arial"/>
                <a:ea typeface="Arial"/>
                <a:cs typeface="Arial"/>
                <a:sym typeface="Arial"/>
              </a:rPr>
              <a:t>.</a:t>
            </a:r>
          </a:p>
        </p:txBody>
      </p:sp>
      <p:sp>
        <p:nvSpPr>
          <p:cNvPr id="175" name="Google Shape;175;p7"/>
          <p:cNvSpPr txBox="1"/>
          <p:nvPr/>
        </p:nvSpPr>
        <p:spPr>
          <a:xfrm>
            <a:off x="4268931" y="8205204"/>
            <a:ext cx="6911400" cy="1164000"/>
          </a:xfrm>
          <a:prstGeom prst="rect">
            <a:avLst/>
          </a:prstGeom>
          <a:noFill/>
          <a:ln>
            <a:noFill/>
          </a:ln>
        </p:spPr>
        <p:txBody>
          <a:bodyPr spcFirstLastPara="1" wrap="square" lIns="0" tIns="0" rIns="0" bIns="0" anchor="t" anchorCtr="0">
            <a:spAutoFit/>
          </a:bodyPr>
          <a:lstStyle/>
          <a:p>
            <a:pPr marL="0" marR="0" lvl="0" indent="0" algn="ctr" rtl="0">
              <a:lnSpc>
                <a:spcPct val="140019"/>
              </a:lnSpc>
              <a:spcBef>
                <a:spcPts val="0"/>
              </a:spcBef>
              <a:spcAft>
                <a:spcPts val="0"/>
              </a:spcAft>
              <a:buClr>
                <a:srgbClr val="000000"/>
              </a:buClr>
              <a:buSzPts val="3151"/>
              <a:buFont typeface="Arial"/>
              <a:buNone/>
            </a:pPr>
            <a:r>
              <a:rPr lang="es-GT" sz="3151" noProof="0" dirty="0">
                <a:solidFill>
                  <a:srgbClr val="131416"/>
                </a:solidFill>
              </a:rPr>
              <a:t>Solamente coloca un valor y como se aplica este valor. </a:t>
            </a:r>
            <a:endParaRPr lang="es-GT" sz="3151" b="0" i="0" u="none" strike="noStrike" cap="none" noProof="0" dirty="0">
              <a:solidFill>
                <a:srgbClr val="131416"/>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g338393cb8ca_0_64"/>
          <p:cNvSpPr/>
          <p:nvPr/>
        </p:nvSpPr>
        <p:spPr>
          <a:xfrm>
            <a:off x="0" y="0"/>
            <a:ext cx="9538200" cy="10287000"/>
          </a:xfrm>
          <a:prstGeom prst="rect">
            <a:avLst/>
          </a:prstGeom>
          <a:solidFill>
            <a:srgbClr val="757070"/>
          </a:solidFill>
          <a:ln w="25400" cap="flat" cmpd="sng">
            <a:solidFill>
              <a:srgbClr val="1C3052"/>
            </a:solidFill>
            <a:prstDash val="solid"/>
            <a:round/>
            <a:headEnd type="none" w="sm" len="sm"/>
            <a:tailEnd type="none" w="sm" len="sm"/>
          </a:ln>
        </p:spPr>
        <p:txBody>
          <a:bodyPr spcFirstLastPara="1" wrap="square" lIns="137138" tIns="68550" rIns="137138" bIns="68550" anchor="ctr" anchorCtr="0">
            <a:noAutofit/>
          </a:bodyPr>
          <a:lstStyle/>
          <a:p>
            <a:pPr algn="ctr">
              <a:buSzPts val="1400"/>
            </a:pPr>
            <a:endParaRPr sz="2100">
              <a:solidFill>
                <a:schemeClr val="lt1"/>
              </a:solidFill>
            </a:endParaRPr>
          </a:p>
        </p:txBody>
      </p:sp>
      <p:sp>
        <p:nvSpPr>
          <p:cNvPr id="240" name="Google Shape;240;g338393cb8ca_0_64"/>
          <p:cNvSpPr/>
          <p:nvPr/>
        </p:nvSpPr>
        <p:spPr>
          <a:xfrm>
            <a:off x="961694" y="986822"/>
            <a:ext cx="7614900" cy="8313300"/>
          </a:xfrm>
          <a:prstGeom prst="rect">
            <a:avLst/>
          </a:prstGeom>
          <a:solidFill>
            <a:schemeClr val="lt1"/>
          </a:solidFill>
          <a:ln w="25400" cap="flat" cmpd="sng">
            <a:solidFill>
              <a:srgbClr val="1C3052"/>
            </a:solidFill>
            <a:prstDash val="solid"/>
            <a:round/>
            <a:headEnd type="none" w="sm" len="sm"/>
            <a:tailEnd type="none" w="sm" len="sm"/>
          </a:ln>
        </p:spPr>
        <p:txBody>
          <a:bodyPr spcFirstLastPara="1" wrap="square" lIns="137138" tIns="68550" rIns="137138" bIns="68550" anchor="ctr" anchorCtr="0">
            <a:noAutofit/>
          </a:bodyPr>
          <a:lstStyle/>
          <a:p>
            <a:pPr algn="just">
              <a:buSzPts val="4400"/>
            </a:pPr>
            <a:r>
              <a:rPr lang="es-ES" sz="3375" b="1" i="1">
                <a:solidFill>
                  <a:schemeClr val="dk1"/>
                </a:solidFill>
              </a:rPr>
              <a:t>Cumplir una única función</a:t>
            </a:r>
            <a:endParaRPr sz="3375" b="1" i="1">
              <a:solidFill>
                <a:schemeClr val="dk1"/>
              </a:solidFill>
            </a:endParaRPr>
          </a:p>
          <a:p>
            <a:pPr algn="just">
              <a:buSzPts val="4400"/>
            </a:pPr>
            <a:endParaRPr sz="3375">
              <a:solidFill>
                <a:schemeClr val="dk1"/>
              </a:solidFill>
            </a:endParaRPr>
          </a:p>
          <a:p>
            <a:pPr algn="just">
              <a:buSzPts val="4400"/>
            </a:pPr>
            <a:r>
              <a:rPr lang="es-ES" sz="3375">
                <a:solidFill>
                  <a:schemeClr val="dk1"/>
                </a:solidFill>
              </a:rPr>
              <a:t>Cada microservicio debe enfocarse en una única función o capacidad de negocio.</a:t>
            </a:r>
            <a:endParaRPr sz="3375">
              <a:solidFill>
                <a:schemeClr val="dk1"/>
              </a:solidFill>
            </a:endParaRPr>
          </a:p>
          <a:p>
            <a:pPr algn="just">
              <a:buSzPts val="4400"/>
            </a:pPr>
            <a:endParaRPr sz="3375">
              <a:solidFill>
                <a:schemeClr val="dk1"/>
              </a:solidFill>
            </a:endParaRPr>
          </a:p>
          <a:p>
            <a:pPr algn="just">
              <a:buSzPts val="4400"/>
            </a:pPr>
            <a:r>
              <a:rPr lang="es-ES" sz="3375">
                <a:solidFill>
                  <a:schemeClr val="dk1"/>
                </a:solidFill>
              </a:rPr>
              <a:t>No deben existir servicios que hagan muchas cosas a la vez (evitar servicios gigantes o "macroservicios").</a:t>
            </a:r>
            <a:endParaRPr sz="3375">
              <a:solidFill>
                <a:schemeClr val="dk1"/>
              </a:solidFill>
            </a:endParaRPr>
          </a:p>
          <a:p>
            <a:pPr algn="just">
              <a:buSzPts val="4400"/>
            </a:pPr>
            <a:endParaRPr sz="3375">
              <a:solidFill>
                <a:schemeClr val="dk1"/>
              </a:solidFill>
            </a:endParaRPr>
          </a:p>
          <a:p>
            <a:pPr algn="just">
              <a:buSzPts val="4400"/>
            </a:pPr>
            <a:r>
              <a:rPr lang="es-ES" sz="3375">
                <a:solidFill>
                  <a:schemeClr val="dk1"/>
                </a:solidFill>
              </a:rPr>
              <a:t>Ejemplo: Un servicio de autenticación solo debería encargarse del login y la seguridad, sin manejar pedidos o pagos.</a:t>
            </a:r>
            <a:endParaRPr sz="3375">
              <a:solidFill>
                <a:schemeClr val="dk1"/>
              </a:solidFill>
            </a:endParaRPr>
          </a:p>
          <a:p>
            <a:pPr marL="685800" algn="just"/>
            <a:endParaRPr sz="3375">
              <a:solidFill>
                <a:schemeClr val="dk1"/>
              </a:solidFill>
            </a:endParaRPr>
          </a:p>
        </p:txBody>
      </p:sp>
      <p:sp>
        <p:nvSpPr>
          <p:cNvPr id="241" name="Google Shape;241;g338393cb8ca_0_64"/>
          <p:cNvSpPr txBox="1"/>
          <p:nvPr/>
        </p:nvSpPr>
        <p:spPr>
          <a:xfrm>
            <a:off x="10299452" y="821813"/>
            <a:ext cx="7335450" cy="4281881"/>
          </a:xfrm>
          <a:prstGeom prst="rect">
            <a:avLst/>
          </a:prstGeom>
          <a:noFill/>
          <a:ln>
            <a:noFill/>
          </a:ln>
        </p:spPr>
        <p:txBody>
          <a:bodyPr spcFirstLastPara="1" wrap="square" lIns="137138" tIns="68550" rIns="137138" bIns="68550" anchor="t" anchorCtr="0">
            <a:spAutoFit/>
          </a:bodyPr>
          <a:lstStyle/>
          <a:p>
            <a:pPr algn="just">
              <a:buSzPts val="2400"/>
            </a:pPr>
            <a:r>
              <a:rPr lang="es-ES" sz="3075" b="1" dirty="0">
                <a:solidFill>
                  <a:schemeClr val="tx1"/>
                </a:solidFill>
              </a:rPr>
              <a:t>Ser Autónomo</a:t>
            </a:r>
            <a:endParaRPr sz="3075" b="1" dirty="0">
              <a:solidFill>
                <a:schemeClr val="tx1"/>
              </a:solidFill>
            </a:endParaRPr>
          </a:p>
          <a:p>
            <a:pPr algn="just">
              <a:buSzPts val="2400"/>
            </a:pPr>
            <a:endParaRPr sz="3375" dirty="0">
              <a:solidFill>
                <a:schemeClr val="tx1"/>
              </a:solidFill>
            </a:endParaRPr>
          </a:p>
          <a:p>
            <a:pPr marL="685800" indent="-528638" algn="just">
              <a:buClr>
                <a:srgbClr val="E6E6E6"/>
              </a:buClr>
              <a:buSzPts val="1950"/>
              <a:buChar char="●"/>
            </a:pPr>
            <a:r>
              <a:rPr lang="es-ES" sz="2925" dirty="0">
                <a:solidFill>
                  <a:schemeClr val="tx1"/>
                </a:solidFill>
              </a:rPr>
              <a:t>Cada microservicio debe ser independiente y autónomo, sin depender directamente de otros servicios para funcionar.</a:t>
            </a:r>
            <a:endParaRPr sz="2925" dirty="0">
              <a:solidFill>
                <a:schemeClr val="tx1"/>
              </a:solidFill>
            </a:endParaRPr>
          </a:p>
          <a:p>
            <a:pPr marL="685800" indent="-528638" algn="just">
              <a:buClr>
                <a:srgbClr val="E6E6E6"/>
              </a:buClr>
              <a:buSzPts val="1950"/>
              <a:buChar char="●"/>
            </a:pPr>
            <a:r>
              <a:rPr lang="es-ES" sz="2925" dirty="0">
                <a:solidFill>
                  <a:schemeClr val="tx1"/>
                </a:solidFill>
              </a:rPr>
              <a:t>Debe poder desarrollarse, desplegarse y escalarse sin afectar el resto del sistema.</a:t>
            </a:r>
            <a:endParaRPr sz="2925" dirty="0">
              <a:solidFill>
                <a:schemeClr val="tx1"/>
              </a:solidFill>
            </a:endParaRPr>
          </a:p>
        </p:txBody>
      </p:sp>
      <p:sp>
        <p:nvSpPr>
          <p:cNvPr id="242" name="Google Shape;242;g338393cb8ca_0_64"/>
          <p:cNvSpPr txBox="1"/>
          <p:nvPr/>
        </p:nvSpPr>
        <p:spPr>
          <a:xfrm>
            <a:off x="10528089" y="5475863"/>
            <a:ext cx="7335450" cy="2931511"/>
          </a:xfrm>
          <a:prstGeom prst="rect">
            <a:avLst/>
          </a:prstGeom>
          <a:noFill/>
          <a:ln>
            <a:noFill/>
          </a:ln>
        </p:spPr>
        <p:txBody>
          <a:bodyPr spcFirstLastPara="1" wrap="square" lIns="137138" tIns="68550" rIns="137138" bIns="68550" anchor="t" anchorCtr="0">
            <a:spAutoFit/>
          </a:bodyPr>
          <a:lstStyle/>
          <a:p>
            <a:pPr algn="just">
              <a:buSzPts val="2400"/>
            </a:pPr>
            <a:r>
              <a:rPr lang="es-ES" sz="3075" b="1" dirty="0">
                <a:solidFill>
                  <a:schemeClr val="tx1"/>
                </a:solidFill>
              </a:rPr>
              <a:t>Estar aislados</a:t>
            </a:r>
            <a:endParaRPr sz="3075" b="1" dirty="0">
              <a:solidFill>
                <a:schemeClr val="tx1"/>
              </a:solidFill>
            </a:endParaRPr>
          </a:p>
          <a:p>
            <a:pPr algn="just">
              <a:buSzPts val="2400"/>
            </a:pPr>
            <a:endParaRPr sz="3375" dirty="0">
              <a:solidFill>
                <a:schemeClr val="tx1"/>
              </a:solidFill>
            </a:endParaRPr>
          </a:p>
          <a:p>
            <a:pPr marL="685800" indent="-528638" algn="just">
              <a:buClr>
                <a:srgbClr val="E6E6E6"/>
              </a:buClr>
              <a:buSzPts val="1950"/>
              <a:buChar char="●"/>
            </a:pPr>
            <a:r>
              <a:rPr lang="es-ES" sz="2925" dirty="0">
                <a:solidFill>
                  <a:schemeClr val="tx1"/>
                </a:solidFill>
              </a:rPr>
              <a:t>Deben correr en entornos separados, con sus propios recursos y, muy recomendable, cada uno con su propia base de datos.</a:t>
            </a:r>
            <a:endParaRPr sz="2925" dirty="0">
              <a:solidFill>
                <a:schemeClr val="tx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2865080" y="5003800"/>
            <a:ext cx="4937760" cy="48006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661" y="934912"/>
            <a:ext cx="16357579" cy="8411823"/>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3344E28-DC76-84FA-3489-9E6B57804539}"/>
              </a:ext>
            </a:extLst>
          </p:cNvPr>
          <p:cNvSpPr>
            <a:spLocks noGrp="1"/>
          </p:cNvSpPr>
          <p:nvPr>
            <p:ph type="ctrTitle"/>
          </p:nvPr>
        </p:nvSpPr>
        <p:spPr>
          <a:xfrm>
            <a:off x="1927861" y="1513489"/>
            <a:ext cx="13847115" cy="5313068"/>
          </a:xfrm>
        </p:spPr>
        <p:txBody>
          <a:bodyPr anchor="b">
            <a:normAutofit/>
          </a:bodyPr>
          <a:lstStyle/>
          <a:p>
            <a:pPr algn="l">
              <a:lnSpc>
                <a:spcPct val="90000"/>
              </a:lnSpc>
            </a:pPr>
            <a:r>
              <a:rPr lang="es-ES" sz="10800"/>
              <a:t>Herramientas y estrategias para diseño de microservicios</a:t>
            </a:r>
            <a:endParaRPr lang="es-GT" sz="10800"/>
          </a:p>
        </p:txBody>
      </p:sp>
      <p:sp>
        <p:nvSpPr>
          <p:cNvPr id="3" name="Subtítulo 2">
            <a:extLst>
              <a:ext uri="{FF2B5EF4-FFF2-40B4-BE49-F238E27FC236}">
                <a16:creationId xmlns:a16="http://schemas.microsoft.com/office/drawing/2014/main" id="{94E4E01E-6B61-23A0-99EF-E961D4EB7AC0}"/>
              </a:ext>
            </a:extLst>
          </p:cNvPr>
          <p:cNvSpPr>
            <a:spLocks noGrp="1"/>
          </p:cNvSpPr>
          <p:nvPr>
            <p:ph type="subTitle" idx="1"/>
          </p:nvPr>
        </p:nvSpPr>
        <p:spPr>
          <a:xfrm>
            <a:off x="1927861" y="6874221"/>
            <a:ext cx="10698503" cy="1968985"/>
          </a:xfrm>
        </p:spPr>
        <p:txBody>
          <a:bodyPr anchor="t">
            <a:normAutofit/>
          </a:bodyPr>
          <a:lstStyle/>
          <a:p>
            <a:pPr algn="l"/>
            <a:endParaRPr lang="es-GT"/>
          </a:p>
        </p:txBody>
      </p:sp>
    </p:spTree>
    <p:extLst>
      <p:ext uri="{BB962C8B-B14F-4D97-AF65-F5344CB8AC3E}">
        <p14:creationId xmlns:p14="http://schemas.microsoft.com/office/powerpoint/2010/main" val="2250143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g338393cb8ca_0_81"/>
          <p:cNvSpPr/>
          <p:nvPr/>
        </p:nvSpPr>
        <p:spPr>
          <a:xfrm>
            <a:off x="-2" y="0"/>
            <a:ext cx="6981300" cy="10287000"/>
          </a:xfrm>
          <a:prstGeom prst="rect">
            <a:avLst/>
          </a:prstGeom>
          <a:solidFill>
            <a:schemeClr val="dk1"/>
          </a:solidFill>
          <a:ln>
            <a:noFill/>
          </a:ln>
        </p:spPr>
        <p:txBody>
          <a:bodyPr spcFirstLastPara="1" wrap="square" lIns="137138" tIns="68550" rIns="137138" bIns="68550" anchor="ctr" anchorCtr="0">
            <a:noAutofit/>
          </a:bodyPr>
          <a:lstStyle/>
          <a:p>
            <a:pPr algn="ctr">
              <a:buClr>
                <a:schemeClr val="lt1"/>
              </a:buClr>
              <a:buSzPts val="1800"/>
            </a:pPr>
            <a:endParaRPr sz="2700">
              <a:solidFill>
                <a:srgbClr val="FFFFFF"/>
              </a:solidFill>
              <a:latin typeface="Calibri"/>
              <a:ea typeface="Calibri"/>
              <a:cs typeface="Calibri"/>
              <a:sym typeface="Calibri"/>
            </a:endParaRPr>
          </a:p>
        </p:txBody>
      </p:sp>
      <p:sp>
        <p:nvSpPr>
          <p:cNvPr id="255" name="Google Shape;255;g338393cb8ca_0_81"/>
          <p:cNvSpPr txBox="1">
            <a:spLocks noGrp="1"/>
          </p:cNvSpPr>
          <p:nvPr>
            <p:ph type="title"/>
          </p:nvPr>
        </p:nvSpPr>
        <p:spPr>
          <a:xfrm>
            <a:off x="1143000" y="839517"/>
            <a:ext cx="5351850" cy="7428600"/>
          </a:xfrm>
          <a:prstGeom prst="rect">
            <a:avLst/>
          </a:prstGeom>
          <a:noFill/>
          <a:ln>
            <a:noFill/>
          </a:ln>
        </p:spPr>
        <p:txBody>
          <a:bodyPr spcFirstLastPara="1" wrap="square" lIns="137138" tIns="68550" rIns="137138" bIns="68550" anchor="ctr" anchorCtr="0">
            <a:normAutofit/>
          </a:bodyPr>
          <a:lstStyle/>
          <a:p>
            <a:pPr algn="l">
              <a:lnSpc>
                <a:spcPct val="90000"/>
              </a:lnSpc>
              <a:buClr>
                <a:schemeClr val="lt1"/>
              </a:buClr>
              <a:buSzPts val="4400"/>
            </a:pPr>
            <a:r>
              <a:rPr lang="es-ES">
                <a:solidFill>
                  <a:schemeClr val="lt1"/>
                </a:solidFill>
              </a:rPr>
              <a:t>Arquitectura Hexagonal</a:t>
            </a:r>
            <a:endParaRPr>
              <a:solidFill>
                <a:schemeClr val="lt1"/>
              </a:solidFill>
            </a:endParaRPr>
          </a:p>
        </p:txBody>
      </p:sp>
      <p:cxnSp>
        <p:nvCxnSpPr>
          <p:cNvPr id="256" name="Google Shape;256;g338393cb8ca_0_81"/>
          <p:cNvCxnSpPr/>
          <p:nvPr/>
        </p:nvCxnSpPr>
        <p:spPr>
          <a:xfrm>
            <a:off x="0" y="9299595"/>
            <a:ext cx="6446700" cy="0"/>
          </a:xfrm>
          <a:prstGeom prst="straightConnector1">
            <a:avLst/>
          </a:prstGeom>
          <a:noFill/>
          <a:ln w="25400" cap="flat" cmpd="sng">
            <a:solidFill>
              <a:schemeClr val="lt1"/>
            </a:solidFill>
            <a:prstDash val="solid"/>
            <a:miter lim="800000"/>
            <a:headEnd type="none" w="sm" len="sm"/>
            <a:tailEnd type="none" w="sm" len="sm"/>
          </a:ln>
        </p:spPr>
      </p:cxnSp>
      <p:grpSp>
        <p:nvGrpSpPr>
          <p:cNvPr id="257" name="Google Shape;257;g338393cb8ca_0_81"/>
          <p:cNvGrpSpPr/>
          <p:nvPr/>
        </p:nvGrpSpPr>
        <p:grpSpPr>
          <a:xfrm>
            <a:off x="8828690" y="828032"/>
            <a:ext cx="9317250" cy="4727315"/>
            <a:chOff x="1647825" y="9615"/>
            <a:chExt cx="6211500" cy="6046705"/>
          </a:xfrm>
        </p:grpSpPr>
        <p:sp>
          <p:nvSpPr>
            <p:cNvPr id="258" name="Google Shape;258;g338393cb8ca_0_81"/>
            <p:cNvSpPr txBox="1"/>
            <p:nvPr/>
          </p:nvSpPr>
          <p:spPr>
            <a:xfrm>
              <a:off x="1647825" y="656786"/>
              <a:ext cx="5750100" cy="4897800"/>
            </a:xfrm>
            <a:prstGeom prst="rect">
              <a:avLst/>
            </a:prstGeom>
            <a:noFill/>
            <a:ln>
              <a:noFill/>
            </a:ln>
          </p:spPr>
          <p:txBody>
            <a:bodyPr spcFirstLastPara="1" wrap="square" lIns="274238" tIns="274238" rIns="274238" bIns="274238" anchor="ctr" anchorCtr="0">
              <a:noAutofit/>
            </a:bodyPr>
            <a:lstStyle/>
            <a:p>
              <a:pPr algn="just">
                <a:buClr>
                  <a:schemeClr val="dk1"/>
                </a:buClr>
                <a:buSzPts val="2500"/>
              </a:pPr>
              <a:r>
                <a:rPr lang="es-ES" sz="3600">
                  <a:solidFill>
                    <a:srgbClr val="333333"/>
                  </a:solidFill>
                </a:rPr>
                <a:t>arquitectura basada en puertos y adaptadores para comunicar a los microservicios. Los puertos son interfaces que definen cómo se conectarán los microservicios y los adaptadores son implementaciones concretas de estos puertos.</a:t>
              </a:r>
              <a:endParaRPr sz="2700">
                <a:solidFill>
                  <a:schemeClr val="dk1"/>
                </a:solidFill>
                <a:latin typeface="Calibri"/>
                <a:ea typeface="Calibri"/>
                <a:cs typeface="Calibri"/>
                <a:sym typeface="Calibri"/>
              </a:endParaRPr>
            </a:p>
          </p:txBody>
        </p:sp>
        <p:sp>
          <p:nvSpPr>
            <p:cNvPr id="259" name="Google Shape;259;g338393cb8ca_0_81"/>
            <p:cNvSpPr/>
            <p:nvPr/>
          </p:nvSpPr>
          <p:spPr>
            <a:xfrm>
              <a:off x="5242786" y="9615"/>
              <a:ext cx="2154900" cy="1727700"/>
            </a:xfrm>
            <a:prstGeom prst="rect">
              <a:avLst/>
            </a:prstGeom>
            <a:noFill/>
            <a:ln>
              <a:noFill/>
            </a:ln>
          </p:spPr>
          <p:txBody>
            <a:bodyPr spcFirstLastPara="1" wrap="square" lIns="137138" tIns="137138" rIns="137138" bIns="137138" anchor="ctr" anchorCtr="0">
              <a:noAutofit/>
            </a:bodyPr>
            <a:lstStyle/>
            <a:p>
              <a:pPr>
                <a:buSzPts val="1400"/>
              </a:pPr>
              <a:endParaRPr sz="2100"/>
            </a:p>
          </p:txBody>
        </p:sp>
        <p:sp>
          <p:nvSpPr>
            <p:cNvPr id="260" name="Google Shape;260;g338393cb8ca_0_81"/>
            <p:cNvSpPr/>
            <p:nvPr/>
          </p:nvSpPr>
          <p:spPr>
            <a:xfrm>
              <a:off x="1843790" y="2169117"/>
              <a:ext cx="3399000" cy="1727700"/>
            </a:xfrm>
            <a:prstGeom prst="rect">
              <a:avLst/>
            </a:prstGeom>
            <a:noFill/>
            <a:ln>
              <a:noFill/>
            </a:ln>
          </p:spPr>
          <p:txBody>
            <a:bodyPr spcFirstLastPara="1" wrap="square" lIns="137138" tIns="137138" rIns="137138" bIns="137138" anchor="ctr" anchorCtr="0">
              <a:noAutofit/>
            </a:bodyPr>
            <a:lstStyle/>
            <a:p>
              <a:pPr>
                <a:buSzPts val="1400"/>
              </a:pPr>
              <a:endParaRPr sz="2100"/>
            </a:p>
          </p:txBody>
        </p:sp>
        <p:sp>
          <p:nvSpPr>
            <p:cNvPr id="261" name="Google Shape;261;g338393cb8ca_0_81"/>
            <p:cNvSpPr/>
            <p:nvPr/>
          </p:nvSpPr>
          <p:spPr>
            <a:xfrm>
              <a:off x="4935703" y="2169117"/>
              <a:ext cx="2769300" cy="1727700"/>
            </a:xfrm>
            <a:prstGeom prst="rect">
              <a:avLst/>
            </a:prstGeom>
            <a:noFill/>
            <a:ln>
              <a:noFill/>
            </a:ln>
          </p:spPr>
          <p:txBody>
            <a:bodyPr spcFirstLastPara="1" wrap="square" lIns="137138" tIns="137138" rIns="137138" bIns="137138" anchor="ctr" anchorCtr="0">
              <a:noAutofit/>
            </a:bodyPr>
            <a:lstStyle/>
            <a:p>
              <a:pPr>
                <a:buSzPts val="1400"/>
              </a:pPr>
              <a:endParaRPr sz="2100"/>
            </a:p>
          </p:txBody>
        </p:sp>
        <p:sp>
          <p:nvSpPr>
            <p:cNvPr id="262" name="Google Shape;262;g338393cb8ca_0_81"/>
            <p:cNvSpPr txBox="1"/>
            <p:nvPr/>
          </p:nvSpPr>
          <p:spPr>
            <a:xfrm>
              <a:off x="4061025" y="2169125"/>
              <a:ext cx="3798300" cy="1727700"/>
            </a:xfrm>
            <a:prstGeom prst="rect">
              <a:avLst/>
            </a:prstGeom>
            <a:noFill/>
            <a:ln>
              <a:noFill/>
            </a:ln>
          </p:spPr>
          <p:txBody>
            <a:bodyPr spcFirstLastPara="1" wrap="square" lIns="274238" tIns="274238" rIns="274238" bIns="274238" anchor="ctr" anchorCtr="0">
              <a:noAutofit/>
            </a:bodyPr>
            <a:lstStyle/>
            <a:p>
              <a:pPr>
                <a:spcBef>
                  <a:spcPts val="735"/>
                </a:spcBef>
                <a:buClr>
                  <a:schemeClr val="dk1"/>
                </a:buClr>
                <a:buSzPts val="1400"/>
              </a:pPr>
              <a:endParaRPr sz="2100">
                <a:solidFill>
                  <a:schemeClr val="dk1"/>
                </a:solidFill>
                <a:latin typeface="Calibri"/>
                <a:ea typeface="Calibri"/>
                <a:cs typeface="Calibri"/>
                <a:sym typeface="Calibri"/>
              </a:endParaRPr>
            </a:p>
          </p:txBody>
        </p:sp>
        <p:sp>
          <p:nvSpPr>
            <p:cNvPr id="263" name="Google Shape;263;g338393cb8ca_0_81"/>
            <p:cNvSpPr/>
            <p:nvPr/>
          </p:nvSpPr>
          <p:spPr>
            <a:xfrm>
              <a:off x="1843790" y="4328620"/>
              <a:ext cx="3399000" cy="1727700"/>
            </a:xfrm>
            <a:prstGeom prst="rect">
              <a:avLst/>
            </a:prstGeom>
            <a:noFill/>
            <a:ln>
              <a:noFill/>
            </a:ln>
          </p:spPr>
          <p:txBody>
            <a:bodyPr spcFirstLastPara="1" wrap="square" lIns="137138" tIns="137138" rIns="137138" bIns="137138" anchor="ctr" anchorCtr="0">
              <a:noAutofit/>
            </a:bodyPr>
            <a:lstStyle/>
            <a:p>
              <a:pPr>
                <a:buSzPts val="1400"/>
              </a:pPr>
              <a:endParaRPr sz="2100"/>
            </a:p>
          </p:txBody>
        </p:sp>
        <p:sp>
          <p:nvSpPr>
            <p:cNvPr id="264" name="Google Shape;264;g338393cb8ca_0_81"/>
            <p:cNvSpPr/>
            <p:nvPr/>
          </p:nvSpPr>
          <p:spPr>
            <a:xfrm>
              <a:off x="5242786" y="4328620"/>
              <a:ext cx="2154900" cy="1727700"/>
            </a:xfrm>
            <a:prstGeom prst="rect">
              <a:avLst/>
            </a:prstGeom>
            <a:noFill/>
            <a:ln>
              <a:noFill/>
            </a:ln>
          </p:spPr>
          <p:txBody>
            <a:bodyPr spcFirstLastPara="1" wrap="square" lIns="137138" tIns="137138" rIns="137138" bIns="137138" anchor="ctr" anchorCtr="0">
              <a:noAutofit/>
            </a:bodyPr>
            <a:lstStyle/>
            <a:p>
              <a:pPr>
                <a:buSzPts val="1400"/>
              </a:pPr>
              <a:endParaRPr sz="2100"/>
            </a:p>
          </p:txBody>
        </p:sp>
      </p:grpSp>
      <p:pic>
        <p:nvPicPr>
          <p:cNvPr id="265" name="Google Shape;265;g338393cb8ca_0_81"/>
          <p:cNvPicPr preferRelativeResize="0"/>
          <p:nvPr/>
        </p:nvPicPr>
        <p:blipFill>
          <a:blip r:embed="rId3">
            <a:alphaModFix/>
          </a:blip>
          <a:stretch>
            <a:fillRect/>
          </a:stretch>
        </p:blipFill>
        <p:spPr>
          <a:xfrm>
            <a:off x="7039745" y="5315014"/>
            <a:ext cx="5856938" cy="3984575"/>
          </a:xfrm>
          <a:prstGeom prst="rect">
            <a:avLst/>
          </a:prstGeom>
          <a:noFill/>
          <a:ln>
            <a:noFill/>
          </a:ln>
        </p:spPr>
      </p:pic>
      <p:pic>
        <p:nvPicPr>
          <p:cNvPr id="266" name="Google Shape;266;g338393cb8ca_0_81"/>
          <p:cNvPicPr preferRelativeResize="0"/>
          <p:nvPr/>
        </p:nvPicPr>
        <p:blipFill>
          <a:blip r:embed="rId4">
            <a:alphaModFix/>
          </a:blip>
          <a:stretch>
            <a:fillRect/>
          </a:stretch>
        </p:blipFill>
        <p:spPr>
          <a:xfrm>
            <a:off x="12896663" y="5670114"/>
            <a:ext cx="5428011" cy="36294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5"/>
          <p:cNvSpPr/>
          <p:nvPr/>
        </p:nvSpPr>
        <p:spPr>
          <a:xfrm>
            <a:off x="-1" y="0"/>
            <a:ext cx="6981443" cy="10287000"/>
          </a:xfrm>
          <a:prstGeom prst="rect">
            <a:avLst/>
          </a:prstGeom>
          <a:solidFill>
            <a:schemeClr val="dk1"/>
          </a:solidFill>
          <a:ln>
            <a:noFill/>
          </a:ln>
        </p:spPr>
        <p:txBody>
          <a:bodyPr spcFirstLastPara="1" wrap="square" lIns="137138" tIns="68550" rIns="137138" bIns="68550" anchor="ctr" anchorCtr="0">
            <a:noAutofit/>
          </a:bodyPr>
          <a:lstStyle/>
          <a:p>
            <a:pPr algn="ctr">
              <a:buClr>
                <a:schemeClr val="lt1"/>
              </a:buClr>
              <a:buSzPts val="1800"/>
            </a:pPr>
            <a:endParaRPr sz="2700">
              <a:solidFill>
                <a:srgbClr val="FFFFFF"/>
              </a:solidFill>
              <a:latin typeface="Calibri"/>
              <a:ea typeface="Calibri"/>
              <a:cs typeface="Calibri"/>
              <a:sym typeface="Calibri"/>
            </a:endParaRPr>
          </a:p>
        </p:txBody>
      </p:sp>
      <p:sp>
        <p:nvSpPr>
          <p:cNvPr id="273" name="Google Shape;273;p5"/>
          <p:cNvSpPr txBox="1">
            <a:spLocks noGrp="1"/>
          </p:cNvSpPr>
          <p:nvPr>
            <p:ph type="title"/>
          </p:nvPr>
        </p:nvSpPr>
        <p:spPr>
          <a:xfrm>
            <a:off x="1143001" y="839517"/>
            <a:ext cx="5351873" cy="7428738"/>
          </a:xfrm>
          <a:prstGeom prst="rect">
            <a:avLst/>
          </a:prstGeom>
          <a:noFill/>
          <a:ln>
            <a:noFill/>
          </a:ln>
        </p:spPr>
        <p:txBody>
          <a:bodyPr spcFirstLastPara="1" wrap="square" lIns="137138" tIns="68550" rIns="137138" bIns="68550" anchor="ctr" anchorCtr="0">
            <a:normAutofit/>
          </a:bodyPr>
          <a:lstStyle/>
          <a:p>
            <a:pPr algn="l">
              <a:lnSpc>
                <a:spcPct val="90000"/>
              </a:lnSpc>
              <a:buClr>
                <a:schemeClr val="lt1"/>
              </a:buClr>
              <a:buSzPts val="4400"/>
            </a:pPr>
            <a:r>
              <a:rPr lang="es-ES">
                <a:solidFill>
                  <a:schemeClr val="lt1"/>
                </a:solidFill>
              </a:rPr>
              <a:t>Utilización de protocolos de comunicacion</a:t>
            </a:r>
            <a:endParaRPr>
              <a:solidFill>
                <a:schemeClr val="lt1"/>
              </a:solidFill>
            </a:endParaRPr>
          </a:p>
          <a:p>
            <a:pPr algn="l">
              <a:lnSpc>
                <a:spcPct val="90000"/>
              </a:lnSpc>
              <a:buClr>
                <a:schemeClr val="lt1"/>
              </a:buClr>
              <a:buSzPts val="4400"/>
            </a:pPr>
            <a:r>
              <a:rPr lang="es-ES">
                <a:solidFill>
                  <a:schemeClr val="lt1"/>
                </a:solidFill>
              </a:rPr>
              <a:t>(HTTP, gRPC, eventos)</a:t>
            </a:r>
            <a:endParaRPr>
              <a:solidFill>
                <a:schemeClr val="lt1"/>
              </a:solidFill>
            </a:endParaRPr>
          </a:p>
        </p:txBody>
      </p:sp>
      <p:cxnSp>
        <p:nvCxnSpPr>
          <p:cNvPr id="274" name="Google Shape;274;p5"/>
          <p:cNvCxnSpPr/>
          <p:nvPr/>
        </p:nvCxnSpPr>
        <p:spPr>
          <a:xfrm>
            <a:off x="0" y="9299595"/>
            <a:ext cx="6446520" cy="0"/>
          </a:xfrm>
          <a:prstGeom prst="straightConnector1">
            <a:avLst/>
          </a:prstGeom>
          <a:noFill/>
          <a:ln w="25400" cap="flat" cmpd="sng">
            <a:solidFill>
              <a:schemeClr val="lt1"/>
            </a:solidFill>
            <a:prstDash val="solid"/>
            <a:miter lim="800000"/>
            <a:headEnd type="none" w="sm" len="sm"/>
            <a:tailEnd type="none" w="sm" len="sm"/>
          </a:ln>
        </p:spPr>
      </p:cxnSp>
      <p:sp>
        <p:nvSpPr>
          <p:cNvPr id="275" name="Google Shape;275;p5"/>
          <p:cNvSpPr txBox="1"/>
          <p:nvPr/>
        </p:nvSpPr>
        <p:spPr>
          <a:xfrm>
            <a:off x="8405990" y="1059864"/>
            <a:ext cx="8625150" cy="3829050"/>
          </a:xfrm>
          <a:prstGeom prst="rect">
            <a:avLst/>
          </a:prstGeom>
          <a:noFill/>
          <a:ln>
            <a:noFill/>
          </a:ln>
        </p:spPr>
        <p:txBody>
          <a:bodyPr spcFirstLastPara="1" wrap="square" lIns="274238" tIns="274238" rIns="274238" bIns="274238" anchor="ctr" anchorCtr="0">
            <a:noAutofit/>
          </a:bodyPr>
          <a:lstStyle/>
          <a:p>
            <a:pPr algn="just">
              <a:buClr>
                <a:schemeClr val="dk1"/>
              </a:buClr>
              <a:buSzPts val="2500"/>
            </a:pPr>
            <a:r>
              <a:rPr lang="es-ES" sz="3150">
                <a:solidFill>
                  <a:srgbClr val="333333"/>
                </a:solidFill>
              </a:rPr>
              <a:t>HTTP (Hypertext Transfer Protocol)</a:t>
            </a:r>
            <a:endParaRPr sz="3150">
              <a:solidFill>
                <a:srgbClr val="333333"/>
              </a:solidFill>
            </a:endParaRPr>
          </a:p>
          <a:p>
            <a:pPr algn="just">
              <a:buClr>
                <a:schemeClr val="dk1"/>
              </a:buClr>
              <a:buSzPts val="2500"/>
            </a:pPr>
            <a:r>
              <a:rPr lang="es-ES" sz="2700">
                <a:solidFill>
                  <a:srgbClr val="333333"/>
                </a:solidFill>
              </a:rPr>
              <a:t>Protocolo que constituye los cimientos de la red mundial, y se utiliza para cargar páginas web mediante enlaces de hipertexto. HTTP es un protocolo de capa de aplicación diseñado para transferir información entre los dispositivos conectados de la red, y se ejecuta sobre otras capas del conjunto de protocolos de la red. Un flujo típico sobre HTTP implica una máquina cliente que realiza una solicitud a un servidor, que a continuación envía un mensaje de respuesta. </a:t>
            </a:r>
            <a:endParaRPr sz="2700">
              <a:solidFill>
                <a:srgbClr val="333333"/>
              </a:solidFill>
            </a:endParaRPr>
          </a:p>
        </p:txBody>
      </p:sp>
      <p:pic>
        <p:nvPicPr>
          <p:cNvPr id="276" name="Google Shape;276;p5"/>
          <p:cNvPicPr preferRelativeResize="0"/>
          <p:nvPr/>
        </p:nvPicPr>
        <p:blipFill>
          <a:blip r:embed="rId3">
            <a:alphaModFix/>
          </a:blip>
          <a:stretch>
            <a:fillRect/>
          </a:stretch>
        </p:blipFill>
        <p:spPr>
          <a:xfrm>
            <a:off x="9387168" y="5461126"/>
            <a:ext cx="6896589" cy="456536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g338393cb8ca_0_155"/>
          <p:cNvSpPr/>
          <p:nvPr/>
        </p:nvSpPr>
        <p:spPr>
          <a:xfrm>
            <a:off x="-2" y="0"/>
            <a:ext cx="6981300" cy="10287000"/>
          </a:xfrm>
          <a:prstGeom prst="rect">
            <a:avLst/>
          </a:prstGeom>
          <a:solidFill>
            <a:schemeClr val="dk1"/>
          </a:solidFill>
          <a:ln>
            <a:noFill/>
          </a:ln>
        </p:spPr>
        <p:txBody>
          <a:bodyPr spcFirstLastPara="1" wrap="square" lIns="137138" tIns="68550" rIns="137138" bIns="68550" anchor="ctr" anchorCtr="0">
            <a:noAutofit/>
          </a:bodyPr>
          <a:lstStyle/>
          <a:p>
            <a:pPr algn="ctr">
              <a:buClr>
                <a:schemeClr val="lt1"/>
              </a:buClr>
              <a:buSzPts val="1800"/>
            </a:pPr>
            <a:endParaRPr sz="2700">
              <a:solidFill>
                <a:srgbClr val="FFFFFF"/>
              </a:solidFill>
              <a:latin typeface="Calibri"/>
              <a:ea typeface="Calibri"/>
              <a:cs typeface="Calibri"/>
              <a:sym typeface="Calibri"/>
            </a:endParaRPr>
          </a:p>
        </p:txBody>
      </p:sp>
      <p:sp>
        <p:nvSpPr>
          <p:cNvPr id="283" name="Google Shape;283;g338393cb8ca_0_155"/>
          <p:cNvSpPr txBox="1">
            <a:spLocks noGrp="1"/>
          </p:cNvSpPr>
          <p:nvPr>
            <p:ph type="title"/>
          </p:nvPr>
        </p:nvSpPr>
        <p:spPr>
          <a:xfrm>
            <a:off x="1143000" y="839517"/>
            <a:ext cx="5351850" cy="7428600"/>
          </a:xfrm>
          <a:prstGeom prst="rect">
            <a:avLst/>
          </a:prstGeom>
          <a:noFill/>
          <a:ln>
            <a:noFill/>
          </a:ln>
        </p:spPr>
        <p:txBody>
          <a:bodyPr spcFirstLastPara="1" wrap="square" lIns="137138" tIns="68550" rIns="137138" bIns="68550" anchor="ctr" anchorCtr="0">
            <a:normAutofit/>
          </a:bodyPr>
          <a:lstStyle/>
          <a:p>
            <a:pPr algn="l">
              <a:lnSpc>
                <a:spcPct val="90000"/>
              </a:lnSpc>
              <a:buClr>
                <a:schemeClr val="lt1"/>
              </a:buClr>
              <a:buSzPts val="4400"/>
            </a:pPr>
            <a:r>
              <a:rPr lang="es-ES">
                <a:solidFill>
                  <a:schemeClr val="lt1"/>
                </a:solidFill>
              </a:rPr>
              <a:t>GraphQL como parte de HTTP y reemplazo de REST</a:t>
            </a:r>
            <a:endParaRPr>
              <a:solidFill>
                <a:schemeClr val="lt1"/>
              </a:solidFill>
            </a:endParaRPr>
          </a:p>
        </p:txBody>
      </p:sp>
      <p:cxnSp>
        <p:nvCxnSpPr>
          <p:cNvPr id="284" name="Google Shape;284;g338393cb8ca_0_155"/>
          <p:cNvCxnSpPr/>
          <p:nvPr/>
        </p:nvCxnSpPr>
        <p:spPr>
          <a:xfrm>
            <a:off x="0" y="9299595"/>
            <a:ext cx="6446700" cy="0"/>
          </a:xfrm>
          <a:prstGeom prst="straightConnector1">
            <a:avLst/>
          </a:prstGeom>
          <a:noFill/>
          <a:ln w="25400" cap="flat" cmpd="sng">
            <a:solidFill>
              <a:schemeClr val="lt1"/>
            </a:solidFill>
            <a:prstDash val="solid"/>
            <a:miter lim="800000"/>
            <a:headEnd type="none" w="sm" len="sm"/>
            <a:tailEnd type="none" w="sm" len="sm"/>
          </a:ln>
        </p:spPr>
      </p:cxnSp>
      <p:sp>
        <p:nvSpPr>
          <p:cNvPr id="285" name="Google Shape;285;g338393cb8ca_0_155"/>
          <p:cNvSpPr txBox="1"/>
          <p:nvPr/>
        </p:nvSpPr>
        <p:spPr>
          <a:xfrm>
            <a:off x="8405990" y="1059864"/>
            <a:ext cx="8625150" cy="3829050"/>
          </a:xfrm>
          <a:prstGeom prst="rect">
            <a:avLst/>
          </a:prstGeom>
          <a:noFill/>
          <a:ln>
            <a:noFill/>
          </a:ln>
        </p:spPr>
        <p:txBody>
          <a:bodyPr spcFirstLastPara="1" wrap="square" lIns="274238" tIns="274238" rIns="274238" bIns="274238" anchor="ctr" anchorCtr="0">
            <a:noAutofit/>
          </a:bodyPr>
          <a:lstStyle/>
          <a:p>
            <a:pPr algn="just">
              <a:buClr>
                <a:schemeClr val="dk1"/>
              </a:buClr>
              <a:buSzPts val="2500"/>
            </a:pPr>
            <a:r>
              <a:rPr lang="es-ES" sz="3150">
                <a:solidFill>
                  <a:srgbClr val="333333"/>
                </a:solidFill>
              </a:rPr>
              <a:t>GraphQL</a:t>
            </a:r>
            <a:endParaRPr sz="3150">
              <a:solidFill>
                <a:srgbClr val="333333"/>
              </a:solidFill>
            </a:endParaRPr>
          </a:p>
          <a:p>
            <a:pPr algn="just">
              <a:buClr>
                <a:schemeClr val="dk1"/>
              </a:buClr>
              <a:buSzPts val="2500"/>
            </a:pPr>
            <a:r>
              <a:rPr lang="es-ES" sz="3150">
                <a:solidFill>
                  <a:srgbClr val="333333"/>
                </a:solidFill>
              </a:rPr>
              <a:t>Es un lenguaje de consulta y un tiempo de ejecución del servidor para las interfaces de programación de aplicaciones (API); su función es brindar a los clientes exactamente los datos que solicitan y nada más.</a:t>
            </a:r>
            <a:endParaRPr sz="3150">
              <a:solidFill>
                <a:srgbClr val="333333"/>
              </a:solidFill>
            </a:endParaRPr>
          </a:p>
          <a:p>
            <a:pPr algn="just">
              <a:buClr>
                <a:schemeClr val="dk1"/>
              </a:buClr>
              <a:buSzPts val="2500"/>
            </a:pPr>
            <a:r>
              <a:rPr lang="es-ES" sz="3150">
                <a:solidFill>
                  <a:srgbClr val="333333"/>
                </a:solidFill>
              </a:rPr>
              <a:t>Como alternativa a REST, GraphQL permite que los desarrolladores creen consultas para extraer datos de varias fuentes en una sola llamada a la API.</a:t>
            </a:r>
            <a:endParaRPr sz="3150">
              <a:solidFill>
                <a:srgbClr val="333333"/>
              </a:solidFill>
            </a:endParaRPr>
          </a:p>
        </p:txBody>
      </p:sp>
      <p:pic>
        <p:nvPicPr>
          <p:cNvPr id="286" name="Google Shape;286;g338393cb8ca_0_155"/>
          <p:cNvPicPr preferRelativeResize="0"/>
          <p:nvPr/>
        </p:nvPicPr>
        <p:blipFill>
          <a:blip r:embed="rId3">
            <a:alphaModFix/>
          </a:blip>
          <a:stretch>
            <a:fillRect/>
          </a:stretch>
        </p:blipFill>
        <p:spPr>
          <a:xfrm>
            <a:off x="7177004" y="5601790"/>
            <a:ext cx="10849361" cy="442585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g338393cb8ca_0_120"/>
          <p:cNvSpPr/>
          <p:nvPr/>
        </p:nvSpPr>
        <p:spPr>
          <a:xfrm>
            <a:off x="-2" y="0"/>
            <a:ext cx="6981300" cy="10287000"/>
          </a:xfrm>
          <a:prstGeom prst="rect">
            <a:avLst/>
          </a:prstGeom>
          <a:solidFill>
            <a:schemeClr val="dk1"/>
          </a:solidFill>
          <a:ln>
            <a:noFill/>
          </a:ln>
        </p:spPr>
        <p:txBody>
          <a:bodyPr spcFirstLastPara="1" wrap="square" lIns="137138" tIns="68550" rIns="137138" bIns="68550" anchor="ctr" anchorCtr="0">
            <a:noAutofit/>
          </a:bodyPr>
          <a:lstStyle/>
          <a:p>
            <a:pPr algn="ctr">
              <a:buClr>
                <a:schemeClr val="lt1"/>
              </a:buClr>
              <a:buSzPts val="1800"/>
            </a:pPr>
            <a:endParaRPr sz="2700">
              <a:solidFill>
                <a:srgbClr val="FFFFFF"/>
              </a:solidFill>
              <a:latin typeface="Calibri"/>
              <a:ea typeface="Calibri"/>
              <a:cs typeface="Calibri"/>
              <a:sym typeface="Calibri"/>
            </a:endParaRPr>
          </a:p>
        </p:txBody>
      </p:sp>
      <p:sp>
        <p:nvSpPr>
          <p:cNvPr id="293" name="Google Shape;293;g338393cb8ca_0_120"/>
          <p:cNvSpPr txBox="1">
            <a:spLocks noGrp="1"/>
          </p:cNvSpPr>
          <p:nvPr>
            <p:ph type="title"/>
          </p:nvPr>
        </p:nvSpPr>
        <p:spPr>
          <a:xfrm>
            <a:off x="1143000" y="839517"/>
            <a:ext cx="5351850" cy="7428600"/>
          </a:xfrm>
          <a:prstGeom prst="rect">
            <a:avLst/>
          </a:prstGeom>
          <a:noFill/>
          <a:ln>
            <a:noFill/>
          </a:ln>
        </p:spPr>
        <p:txBody>
          <a:bodyPr spcFirstLastPara="1" wrap="square" lIns="137138" tIns="68550" rIns="137138" bIns="68550" anchor="ctr" anchorCtr="0">
            <a:normAutofit/>
          </a:bodyPr>
          <a:lstStyle/>
          <a:p>
            <a:pPr algn="l">
              <a:lnSpc>
                <a:spcPct val="90000"/>
              </a:lnSpc>
              <a:buClr>
                <a:schemeClr val="lt1"/>
              </a:buClr>
              <a:buSzPts val="4400"/>
            </a:pPr>
            <a:r>
              <a:rPr lang="es-ES">
                <a:solidFill>
                  <a:schemeClr val="lt1"/>
                </a:solidFill>
              </a:rPr>
              <a:t>Utilizacion de protocolos de comunicacion</a:t>
            </a:r>
            <a:endParaRPr>
              <a:solidFill>
                <a:schemeClr val="lt1"/>
              </a:solidFill>
            </a:endParaRPr>
          </a:p>
          <a:p>
            <a:pPr algn="l">
              <a:lnSpc>
                <a:spcPct val="90000"/>
              </a:lnSpc>
              <a:buClr>
                <a:schemeClr val="lt1"/>
              </a:buClr>
              <a:buSzPts val="4400"/>
            </a:pPr>
            <a:r>
              <a:rPr lang="es-ES">
                <a:solidFill>
                  <a:schemeClr val="lt1"/>
                </a:solidFill>
              </a:rPr>
              <a:t>(HTTP, gRPC, eventos)</a:t>
            </a:r>
            <a:endParaRPr>
              <a:solidFill>
                <a:schemeClr val="lt1"/>
              </a:solidFill>
            </a:endParaRPr>
          </a:p>
        </p:txBody>
      </p:sp>
      <p:cxnSp>
        <p:nvCxnSpPr>
          <p:cNvPr id="294" name="Google Shape;294;g338393cb8ca_0_120"/>
          <p:cNvCxnSpPr/>
          <p:nvPr/>
        </p:nvCxnSpPr>
        <p:spPr>
          <a:xfrm>
            <a:off x="0" y="9299595"/>
            <a:ext cx="6446700" cy="0"/>
          </a:xfrm>
          <a:prstGeom prst="straightConnector1">
            <a:avLst/>
          </a:prstGeom>
          <a:noFill/>
          <a:ln w="25400" cap="flat" cmpd="sng">
            <a:solidFill>
              <a:schemeClr val="lt1"/>
            </a:solidFill>
            <a:prstDash val="solid"/>
            <a:miter lim="800000"/>
            <a:headEnd type="none" w="sm" len="sm"/>
            <a:tailEnd type="none" w="sm" len="sm"/>
          </a:ln>
        </p:spPr>
      </p:cxnSp>
      <p:sp>
        <p:nvSpPr>
          <p:cNvPr id="295" name="Google Shape;295;g338393cb8ca_0_120"/>
          <p:cNvSpPr txBox="1"/>
          <p:nvPr/>
        </p:nvSpPr>
        <p:spPr>
          <a:xfrm>
            <a:off x="8405990" y="1059864"/>
            <a:ext cx="8625150" cy="3829050"/>
          </a:xfrm>
          <a:prstGeom prst="rect">
            <a:avLst/>
          </a:prstGeom>
          <a:noFill/>
          <a:ln>
            <a:noFill/>
          </a:ln>
        </p:spPr>
        <p:txBody>
          <a:bodyPr spcFirstLastPara="1" wrap="square" lIns="274238" tIns="274238" rIns="274238" bIns="274238" anchor="ctr" anchorCtr="0">
            <a:noAutofit/>
          </a:bodyPr>
          <a:lstStyle/>
          <a:p>
            <a:pPr algn="just">
              <a:buClr>
                <a:schemeClr val="dk1"/>
              </a:buClr>
              <a:buSzPts val="2500"/>
            </a:pPr>
            <a:r>
              <a:rPr lang="es-ES" sz="3150">
                <a:solidFill>
                  <a:srgbClr val="333333"/>
                </a:solidFill>
              </a:rPr>
              <a:t>gRPC (Google Remote Procedure Call)</a:t>
            </a:r>
            <a:endParaRPr sz="3150">
              <a:solidFill>
                <a:srgbClr val="333333"/>
              </a:solidFill>
            </a:endParaRPr>
          </a:p>
          <a:p>
            <a:pPr algn="just">
              <a:buClr>
                <a:schemeClr val="dk1"/>
              </a:buClr>
              <a:buSzPts val="2500"/>
            </a:pPr>
            <a:r>
              <a:rPr lang="es-ES" sz="3150">
                <a:solidFill>
                  <a:srgbClr val="333333"/>
                </a:solidFill>
              </a:rPr>
              <a:t>Se emplea en comunicaciones cliente-servidor distribuidas por su eficiencia gracias a la ingeniería de procesos basada en RPC. Este mecanismo permite la comunicación de una forma tan sencilla como si se tratara de una comunicación local entre procesos de una misma máquina.</a:t>
            </a:r>
            <a:endParaRPr sz="3150">
              <a:solidFill>
                <a:srgbClr val="333333"/>
              </a:solidFill>
            </a:endParaRPr>
          </a:p>
        </p:txBody>
      </p:sp>
      <p:pic>
        <p:nvPicPr>
          <p:cNvPr id="296" name="Google Shape;296;g338393cb8ca_0_120"/>
          <p:cNvPicPr preferRelativeResize="0"/>
          <p:nvPr/>
        </p:nvPicPr>
        <p:blipFill>
          <a:blip r:embed="rId3">
            <a:alphaModFix/>
          </a:blip>
          <a:stretch>
            <a:fillRect/>
          </a:stretch>
        </p:blipFill>
        <p:spPr>
          <a:xfrm>
            <a:off x="9816909" y="5017352"/>
            <a:ext cx="5803323" cy="494088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g338393cb8ca_0_165"/>
          <p:cNvSpPr/>
          <p:nvPr/>
        </p:nvSpPr>
        <p:spPr>
          <a:xfrm>
            <a:off x="-2" y="0"/>
            <a:ext cx="6981300" cy="10287000"/>
          </a:xfrm>
          <a:prstGeom prst="rect">
            <a:avLst/>
          </a:prstGeom>
          <a:solidFill>
            <a:schemeClr val="dk1"/>
          </a:solidFill>
          <a:ln>
            <a:noFill/>
          </a:ln>
        </p:spPr>
        <p:txBody>
          <a:bodyPr spcFirstLastPara="1" wrap="square" lIns="137138" tIns="68550" rIns="137138" bIns="68550" anchor="ctr" anchorCtr="0">
            <a:noAutofit/>
          </a:bodyPr>
          <a:lstStyle/>
          <a:p>
            <a:pPr algn="ctr">
              <a:buClr>
                <a:schemeClr val="lt1"/>
              </a:buClr>
              <a:buSzPts val="1800"/>
            </a:pPr>
            <a:endParaRPr sz="2700">
              <a:solidFill>
                <a:srgbClr val="FFFFFF"/>
              </a:solidFill>
              <a:latin typeface="Calibri"/>
              <a:ea typeface="Calibri"/>
              <a:cs typeface="Calibri"/>
              <a:sym typeface="Calibri"/>
            </a:endParaRPr>
          </a:p>
        </p:txBody>
      </p:sp>
      <p:sp>
        <p:nvSpPr>
          <p:cNvPr id="303" name="Google Shape;303;g338393cb8ca_0_165"/>
          <p:cNvSpPr txBox="1">
            <a:spLocks noGrp="1"/>
          </p:cNvSpPr>
          <p:nvPr>
            <p:ph type="title"/>
          </p:nvPr>
        </p:nvSpPr>
        <p:spPr>
          <a:xfrm>
            <a:off x="1143000" y="839517"/>
            <a:ext cx="5351850" cy="7428600"/>
          </a:xfrm>
          <a:prstGeom prst="rect">
            <a:avLst/>
          </a:prstGeom>
          <a:noFill/>
          <a:ln>
            <a:noFill/>
          </a:ln>
        </p:spPr>
        <p:txBody>
          <a:bodyPr spcFirstLastPara="1" wrap="square" lIns="137138" tIns="68550" rIns="137138" bIns="68550" anchor="ctr" anchorCtr="0">
            <a:normAutofit/>
          </a:bodyPr>
          <a:lstStyle/>
          <a:p>
            <a:pPr algn="l">
              <a:lnSpc>
                <a:spcPct val="90000"/>
              </a:lnSpc>
              <a:buClr>
                <a:schemeClr val="lt1"/>
              </a:buClr>
              <a:buSzPts val="4400"/>
            </a:pPr>
            <a:r>
              <a:rPr lang="es-ES">
                <a:solidFill>
                  <a:schemeClr val="lt1"/>
                </a:solidFill>
              </a:rPr>
              <a:t>Utilizacion de protocolos de comunicacion</a:t>
            </a:r>
            <a:endParaRPr>
              <a:solidFill>
                <a:schemeClr val="lt1"/>
              </a:solidFill>
            </a:endParaRPr>
          </a:p>
          <a:p>
            <a:pPr algn="l">
              <a:lnSpc>
                <a:spcPct val="90000"/>
              </a:lnSpc>
              <a:buClr>
                <a:schemeClr val="lt1"/>
              </a:buClr>
              <a:buSzPts val="4400"/>
            </a:pPr>
            <a:r>
              <a:rPr lang="es-ES">
                <a:solidFill>
                  <a:schemeClr val="lt1"/>
                </a:solidFill>
              </a:rPr>
              <a:t>(HTTP, gRPC, eventos)</a:t>
            </a:r>
            <a:endParaRPr>
              <a:solidFill>
                <a:schemeClr val="lt1"/>
              </a:solidFill>
            </a:endParaRPr>
          </a:p>
        </p:txBody>
      </p:sp>
      <p:cxnSp>
        <p:nvCxnSpPr>
          <p:cNvPr id="304" name="Google Shape;304;g338393cb8ca_0_165"/>
          <p:cNvCxnSpPr/>
          <p:nvPr/>
        </p:nvCxnSpPr>
        <p:spPr>
          <a:xfrm>
            <a:off x="0" y="9299595"/>
            <a:ext cx="6446700" cy="0"/>
          </a:xfrm>
          <a:prstGeom prst="straightConnector1">
            <a:avLst/>
          </a:prstGeom>
          <a:noFill/>
          <a:ln w="25400" cap="flat" cmpd="sng">
            <a:solidFill>
              <a:schemeClr val="lt1"/>
            </a:solidFill>
            <a:prstDash val="solid"/>
            <a:miter lim="800000"/>
            <a:headEnd type="none" w="sm" len="sm"/>
            <a:tailEnd type="none" w="sm" len="sm"/>
          </a:ln>
        </p:spPr>
      </p:cxnSp>
      <p:sp>
        <p:nvSpPr>
          <p:cNvPr id="305" name="Google Shape;305;g338393cb8ca_0_165"/>
          <p:cNvSpPr txBox="1"/>
          <p:nvPr/>
        </p:nvSpPr>
        <p:spPr>
          <a:xfrm>
            <a:off x="8406000" y="1059863"/>
            <a:ext cx="8928450" cy="3957300"/>
          </a:xfrm>
          <a:prstGeom prst="rect">
            <a:avLst/>
          </a:prstGeom>
          <a:noFill/>
          <a:ln>
            <a:noFill/>
          </a:ln>
        </p:spPr>
        <p:txBody>
          <a:bodyPr spcFirstLastPara="1" wrap="square" lIns="274238" tIns="274238" rIns="274238" bIns="274238" anchor="ctr" anchorCtr="0">
            <a:noAutofit/>
          </a:bodyPr>
          <a:lstStyle/>
          <a:p>
            <a:pPr algn="just">
              <a:buClr>
                <a:schemeClr val="dk1"/>
              </a:buClr>
              <a:buSzPts val="2500"/>
            </a:pPr>
            <a:r>
              <a:rPr lang="es-ES" sz="2700">
                <a:solidFill>
                  <a:srgbClr val="333333"/>
                </a:solidFill>
              </a:rPr>
              <a:t>Eventos (Modelo de comunicación asincrona)</a:t>
            </a:r>
            <a:endParaRPr sz="2700">
              <a:solidFill>
                <a:srgbClr val="333333"/>
              </a:solidFill>
            </a:endParaRPr>
          </a:p>
          <a:p>
            <a:pPr algn="just">
              <a:buClr>
                <a:schemeClr val="dk1"/>
              </a:buClr>
              <a:buSzPts val="2500"/>
            </a:pPr>
            <a:r>
              <a:rPr lang="es-ES" sz="2700">
                <a:solidFill>
                  <a:srgbClr val="333333"/>
                </a:solidFill>
              </a:rPr>
              <a:t>En lugar de peticiones y respuestas, los microservicios trabajarán con el concepto de eventos. Un evento es un mensaje o registro que representa un acontecimiento en el dominio de nuestra aplicación.</a:t>
            </a:r>
            <a:endParaRPr sz="2700">
              <a:solidFill>
                <a:srgbClr val="333333"/>
              </a:solidFill>
            </a:endParaRPr>
          </a:p>
          <a:p>
            <a:pPr algn="just">
              <a:buClr>
                <a:schemeClr val="dk1"/>
              </a:buClr>
              <a:buSzPts val="2500"/>
            </a:pPr>
            <a:endParaRPr sz="2700">
              <a:solidFill>
                <a:srgbClr val="333333"/>
              </a:solidFill>
            </a:endParaRPr>
          </a:p>
          <a:p>
            <a:pPr algn="just">
              <a:buClr>
                <a:schemeClr val="dk1"/>
              </a:buClr>
              <a:buSzPts val="2500"/>
            </a:pPr>
            <a:r>
              <a:rPr lang="es-ES" sz="2700">
                <a:solidFill>
                  <a:srgbClr val="333333"/>
                </a:solidFill>
              </a:rPr>
              <a:t>Al trabajar con eventos tendremos dos roles implicados, productores y suscriptores.</a:t>
            </a:r>
            <a:endParaRPr sz="2700">
              <a:solidFill>
                <a:srgbClr val="333333"/>
              </a:solidFill>
            </a:endParaRPr>
          </a:p>
          <a:p>
            <a:pPr algn="just">
              <a:buClr>
                <a:schemeClr val="dk1"/>
              </a:buClr>
              <a:buSzPts val="2500"/>
            </a:pPr>
            <a:endParaRPr sz="2700">
              <a:solidFill>
                <a:srgbClr val="333333"/>
              </a:solidFill>
            </a:endParaRPr>
          </a:p>
          <a:p>
            <a:pPr algn="just">
              <a:buClr>
                <a:schemeClr val="dk1"/>
              </a:buClr>
              <a:buSzPts val="2500"/>
            </a:pPr>
            <a:r>
              <a:rPr lang="es-ES" sz="2700">
                <a:solidFill>
                  <a:srgbClr val="333333"/>
                </a:solidFill>
              </a:rPr>
              <a:t>Productores: generan eventos en el sistema.</a:t>
            </a:r>
            <a:endParaRPr sz="2700">
              <a:solidFill>
                <a:srgbClr val="333333"/>
              </a:solidFill>
            </a:endParaRPr>
          </a:p>
          <a:p>
            <a:pPr algn="just">
              <a:buClr>
                <a:schemeClr val="dk1"/>
              </a:buClr>
              <a:buSzPts val="2500"/>
            </a:pPr>
            <a:r>
              <a:rPr lang="es-ES" sz="2700">
                <a:solidFill>
                  <a:srgbClr val="333333"/>
                </a:solidFill>
              </a:rPr>
              <a:t>Suscriptores: consumen eventos y reaccionan a ellos.</a:t>
            </a:r>
            <a:endParaRPr sz="2700">
              <a:solidFill>
                <a:srgbClr val="333333"/>
              </a:solidFill>
            </a:endParaRPr>
          </a:p>
          <a:p>
            <a:pPr algn="just">
              <a:buClr>
                <a:schemeClr val="dk1"/>
              </a:buClr>
              <a:buSzPts val="2500"/>
            </a:pPr>
            <a:r>
              <a:rPr lang="es-ES" sz="2700">
                <a:solidFill>
                  <a:srgbClr val="333333"/>
                </a:solidFill>
              </a:rPr>
              <a:t>Un microservicio puede ser productor de eventos, suscriptor o ambos roles simultáneamente.</a:t>
            </a:r>
            <a:endParaRPr sz="2700">
              <a:solidFill>
                <a:srgbClr val="333333"/>
              </a:solidFill>
            </a:endParaRPr>
          </a:p>
        </p:txBody>
      </p:sp>
      <p:pic>
        <p:nvPicPr>
          <p:cNvPr id="306" name="Google Shape;306;g338393cb8ca_0_165"/>
          <p:cNvPicPr preferRelativeResize="0"/>
          <p:nvPr/>
        </p:nvPicPr>
        <p:blipFill>
          <a:blip r:embed="rId3">
            <a:alphaModFix/>
          </a:blip>
          <a:stretch>
            <a:fillRect/>
          </a:stretch>
        </p:blipFill>
        <p:spPr>
          <a:xfrm>
            <a:off x="9815063" y="5646563"/>
            <a:ext cx="5951925" cy="42563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g338393cb8ca_0_176"/>
          <p:cNvSpPr txBox="1">
            <a:spLocks noGrp="1"/>
          </p:cNvSpPr>
          <p:nvPr>
            <p:ph type="title"/>
          </p:nvPr>
        </p:nvSpPr>
        <p:spPr>
          <a:xfrm>
            <a:off x="12063531" y="1513100"/>
            <a:ext cx="5598450" cy="6156900"/>
          </a:xfrm>
          <a:prstGeom prst="rect">
            <a:avLst/>
          </a:prstGeom>
          <a:noFill/>
          <a:ln>
            <a:noFill/>
          </a:ln>
        </p:spPr>
        <p:txBody>
          <a:bodyPr spcFirstLastPara="1" wrap="square" lIns="137138" tIns="68550" rIns="137138" bIns="68550" anchor="ctr" anchorCtr="0">
            <a:normAutofit/>
          </a:bodyPr>
          <a:lstStyle/>
          <a:p>
            <a:pPr algn="l">
              <a:lnSpc>
                <a:spcPct val="90000"/>
              </a:lnSpc>
              <a:buClr>
                <a:schemeClr val="lt1"/>
              </a:buClr>
              <a:buSzPts val="4889"/>
            </a:pPr>
            <a:r>
              <a:rPr lang="es-ES"/>
              <a:t>Patrones de diseño: SAGA y Circuit Breaker</a:t>
            </a:r>
            <a:br>
              <a:rPr lang="es-ES"/>
            </a:br>
            <a:br>
              <a:rPr lang="es-ES"/>
            </a:br>
            <a:br>
              <a:rPr lang="es-ES"/>
            </a:br>
            <a:endParaRPr/>
          </a:p>
        </p:txBody>
      </p:sp>
      <p:sp>
        <p:nvSpPr>
          <p:cNvPr id="313" name="Google Shape;313;g338393cb8ca_0_176"/>
          <p:cNvSpPr/>
          <p:nvPr/>
        </p:nvSpPr>
        <p:spPr>
          <a:xfrm>
            <a:off x="0" y="0"/>
            <a:ext cx="11304900" cy="10287000"/>
          </a:xfrm>
          <a:prstGeom prst="rect">
            <a:avLst/>
          </a:prstGeom>
          <a:solidFill>
            <a:srgbClr val="FFFFFF"/>
          </a:solidFill>
          <a:ln>
            <a:noFill/>
          </a:ln>
        </p:spPr>
        <p:txBody>
          <a:bodyPr spcFirstLastPara="1" wrap="square" lIns="137138" tIns="68550" rIns="137138" bIns="68550" anchor="ctr" anchorCtr="0">
            <a:noAutofit/>
          </a:bodyPr>
          <a:lstStyle/>
          <a:p>
            <a:pPr algn="ctr">
              <a:buClr>
                <a:schemeClr val="lt1"/>
              </a:buClr>
              <a:buSzPts val="1800"/>
            </a:pPr>
            <a:endParaRPr sz="2700">
              <a:solidFill>
                <a:srgbClr val="FFFFFF"/>
              </a:solidFill>
              <a:latin typeface="Calibri"/>
              <a:ea typeface="Calibri"/>
              <a:cs typeface="Calibri"/>
              <a:sym typeface="Calibri"/>
            </a:endParaRPr>
          </a:p>
        </p:txBody>
      </p:sp>
      <p:sp>
        <p:nvSpPr>
          <p:cNvPr id="314" name="Google Shape;314;g338393cb8ca_0_176"/>
          <p:cNvSpPr/>
          <p:nvPr/>
        </p:nvSpPr>
        <p:spPr>
          <a:xfrm>
            <a:off x="939414" y="975036"/>
            <a:ext cx="8863200" cy="8126100"/>
          </a:xfrm>
          <a:prstGeom prst="rect">
            <a:avLst/>
          </a:prstGeom>
          <a:solidFill>
            <a:srgbClr val="FFFFFF"/>
          </a:solidFill>
          <a:ln>
            <a:noFill/>
          </a:ln>
        </p:spPr>
        <p:txBody>
          <a:bodyPr spcFirstLastPara="1" wrap="square" lIns="137138" tIns="68550" rIns="137138" bIns="68550" anchor="ctr" anchorCtr="0">
            <a:noAutofit/>
          </a:bodyPr>
          <a:lstStyle/>
          <a:p>
            <a:r>
              <a:rPr lang="es-ES" sz="3150" b="1"/>
              <a:t>¿Qué es el Patrón Saga?</a:t>
            </a:r>
            <a:endParaRPr sz="3150" b="1"/>
          </a:p>
          <a:p>
            <a:r>
              <a:rPr lang="es-ES" sz="3150"/>
              <a:t>El patrón Saga es una estrategia de diseño que se utiliza para mantener la consistencia de las transacciones en sistemas distribuidos. En lugar de depender de una única transacción global que involucra múltiples servicios, el patrón Saga divide la transacción en una serie de pasos más pequeños y autónomos. Cada uno de estos pasos es responsabilidad de un servicio específico y se ejecuta dentro de su propia transacción. Si un paso falla, se desencadena un proceso de compensación para revertir los cambios realizados en los pasos anteriores.</a:t>
            </a:r>
            <a:endParaRPr sz="3150"/>
          </a:p>
        </p:txBody>
      </p:sp>
      <p:pic>
        <p:nvPicPr>
          <p:cNvPr id="315" name="Google Shape;315;g338393cb8ca_0_176"/>
          <p:cNvPicPr preferRelativeResize="0"/>
          <p:nvPr/>
        </p:nvPicPr>
        <p:blipFill>
          <a:blip r:embed="rId3">
            <a:alphaModFix/>
          </a:blip>
          <a:stretch>
            <a:fillRect/>
          </a:stretch>
        </p:blipFill>
        <p:spPr>
          <a:xfrm>
            <a:off x="9585601" y="6105376"/>
            <a:ext cx="8516888" cy="330678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g338393cb8ca_0_188"/>
          <p:cNvSpPr txBox="1">
            <a:spLocks noGrp="1"/>
          </p:cNvSpPr>
          <p:nvPr>
            <p:ph type="title"/>
          </p:nvPr>
        </p:nvSpPr>
        <p:spPr>
          <a:xfrm>
            <a:off x="12063531" y="1513100"/>
            <a:ext cx="5598450" cy="6156900"/>
          </a:xfrm>
          <a:prstGeom prst="rect">
            <a:avLst/>
          </a:prstGeom>
          <a:noFill/>
          <a:ln>
            <a:noFill/>
          </a:ln>
        </p:spPr>
        <p:txBody>
          <a:bodyPr spcFirstLastPara="1" wrap="square" lIns="137138" tIns="68550" rIns="137138" bIns="68550" anchor="ctr" anchorCtr="0">
            <a:normAutofit/>
          </a:bodyPr>
          <a:lstStyle/>
          <a:p>
            <a:pPr algn="l">
              <a:lnSpc>
                <a:spcPct val="90000"/>
              </a:lnSpc>
              <a:buClr>
                <a:schemeClr val="lt1"/>
              </a:buClr>
              <a:buSzPts val="4889"/>
            </a:pPr>
            <a:r>
              <a:rPr lang="es-ES"/>
              <a:t>Patrones de diseño: SAGA y Circuit Breaker</a:t>
            </a:r>
            <a:br>
              <a:rPr lang="es-ES"/>
            </a:br>
            <a:br>
              <a:rPr lang="es-ES"/>
            </a:br>
            <a:br>
              <a:rPr lang="es-ES"/>
            </a:br>
            <a:endParaRPr/>
          </a:p>
        </p:txBody>
      </p:sp>
      <p:sp>
        <p:nvSpPr>
          <p:cNvPr id="322" name="Google Shape;322;g338393cb8ca_0_188"/>
          <p:cNvSpPr/>
          <p:nvPr/>
        </p:nvSpPr>
        <p:spPr>
          <a:xfrm>
            <a:off x="0" y="0"/>
            <a:ext cx="11304900" cy="10287000"/>
          </a:xfrm>
          <a:prstGeom prst="rect">
            <a:avLst/>
          </a:prstGeom>
          <a:solidFill>
            <a:srgbClr val="FFFFFF"/>
          </a:solidFill>
          <a:ln>
            <a:noFill/>
          </a:ln>
        </p:spPr>
        <p:txBody>
          <a:bodyPr spcFirstLastPara="1" wrap="square" lIns="137138" tIns="68550" rIns="137138" bIns="68550" anchor="ctr" anchorCtr="0">
            <a:noAutofit/>
          </a:bodyPr>
          <a:lstStyle/>
          <a:p>
            <a:pPr algn="ctr">
              <a:buClr>
                <a:schemeClr val="lt1"/>
              </a:buClr>
              <a:buSzPts val="1800"/>
            </a:pPr>
            <a:endParaRPr sz="2700">
              <a:solidFill>
                <a:srgbClr val="FFFFFF"/>
              </a:solidFill>
              <a:latin typeface="Calibri"/>
              <a:ea typeface="Calibri"/>
              <a:cs typeface="Calibri"/>
              <a:sym typeface="Calibri"/>
            </a:endParaRPr>
          </a:p>
        </p:txBody>
      </p:sp>
      <p:sp>
        <p:nvSpPr>
          <p:cNvPr id="323" name="Google Shape;323;g338393cb8ca_0_188"/>
          <p:cNvSpPr/>
          <p:nvPr/>
        </p:nvSpPr>
        <p:spPr>
          <a:xfrm>
            <a:off x="939414" y="975036"/>
            <a:ext cx="8863200" cy="8126100"/>
          </a:xfrm>
          <a:prstGeom prst="rect">
            <a:avLst/>
          </a:prstGeom>
          <a:solidFill>
            <a:srgbClr val="FFFFFF"/>
          </a:solidFill>
          <a:ln>
            <a:noFill/>
          </a:ln>
        </p:spPr>
        <p:txBody>
          <a:bodyPr spcFirstLastPara="1" wrap="square" lIns="137138" tIns="68550" rIns="137138" bIns="68550" anchor="ctr" anchorCtr="0">
            <a:noAutofit/>
          </a:bodyPr>
          <a:lstStyle/>
          <a:p>
            <a:r>
              <a:rPr lang="es-ES" sz="3000" b="1"/>
              <a:t>¿Qué es el Circuit Breaker?</a:t>
            </a:r>
            <a:endParaRPr sz="3000" b="1"/>
          </a:p>
          <a:p>
            <a:r>
              <a:rPr lang="es-ES" sz="3000"/>
              <a:t>Se define como una opción utilizada para detectar fallos y encapsula la lógica de prevenir que un fallo se repita constantemente durante el mantenimiento, un fallo temporal de sistema externo o dificultades inesperadas del sistema.</a:t>
            </a:r>
            <a:endParaRPr sz="3000"/>
          </a:p>
          <a:p>
            <a:r>
              <a:rPr lang="es-ES" sz="3000"/>
              <a:t>Esto quiere decir que impide que un sistema lleve a cabo o continúe haciendo solicitudes a otro cuando existen altas posibilidades de que falle el proceso.</a:t>
            </a:r>
            <a:endParaRPr sz="3000"/>
          </a:p>
          <a:p>
            <a:endParaRPr sz="3000"/>
          </a:p>
          <a:p>
            <a:r>
              <a:rPr lang="es-ES" sz="3000"/>
              <a:t>Además, permite el cierre de la comunicación con un servicio específico cuando se identifica que este se encuentra fallando, lo que implica que debe actuar como un proxy para las operaciones que pueden llegar a presentar errores.</a:t>
            </a:r>
            <a:endParaRPr sz="3000"/>
          </a:p>
        </p:txBody>
      </p:sp>
      <p:pic>
        <p:nvPicPr>
          <p:cNvPr id="324" name="Google Shape;324;g338393cb8ca_0_188"/>
          <p:cNvPicPr preferRelativeResize="0"/>
          <p:nvPr/>
        </p:nvPicPr>
        <p:blipFill>
          <a:blip r:embed="rId3">
            <a:alphaModFix/>
          </a:blip>
          <a:stretch>
            <a:fillRect/>
          </a:stretch>
        </p:blipFill>
        <p:spPr>
          <a:xfrm>
            <a:off x="9986288" y="5448133"/>
            <a:ext cx="7972425" cy="4300538"/>
          </a:xfrm>
          <a:prstGeom prst="rect">
            <a:avLst/>
          </a:prstGeom>
          <a:solidFill>
            <a:srgbClr val="FFFFFF"/>
          </a:solid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Triangle 10">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2865080" y="5003800"/>
            <a:ext cx="4937760" cy="48006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661" y="934912"/>
            <a:ext cx="16357579" cy="8411823"/>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FA61563-3619-8B19-1086-28715429D5C3}"/>
              </a:ext>
            </a:extLst>
          </p:cNvPr>
          <p:cNvSpPr>
            <a:spLocks noGrp="1"/>
          </p:cNvSpPr>
          <p:nvPr>
            <p:ph type="title"/>
          </p:nvPr>
        </p:nvSpPr>
        <p:spPr>
          <a:xfrm>
            <a:off x="1685034" y="1782955"/>
            <a:ext cx="14976922" cy="2395842"/>
          </a:xfrm>
        </p:spPr>
        <p:txBody>
          <a:bodyPr vert="horz" lIns="91440" tIns="45720" rIns="91440" bIns="45720" rtlCol="0" anchor="ctr">
            <a:normAutofit/>
          </a:bodyPr>
          <a:lstStyle/>
          <a:p>
            <a:pPr>
              <a:lnSpc>
                <a:spcPct val="90000"/>
              </a:lnSpc>
              <a:spcBef>
                <a:spcPct val="0"/>
              </a:spcBef>
            </a:pPr>
            <a:r>
              <a:rPr lang="en-US" sz="8300" kern="1200">
                <a:solidFill>
                  <a:schemeClr val="tx1"/>
                </a:solidFill>
                <a:latin typeface="+mj-lt"/>
                <a:ea typeface="+mj-ea"/>
                <a:cs typeface="+mj-cs"/>
              </a:rPr>
              <a:t>Antipatrones en los microservicios</a:t>
            </a:r>
          </a:p>
        </p:txBody>
      </p:sp>
      <p:pic>
        <p:nvPicPr>
          <p:cNvPr id="4" name="Google Shape;334;g338393cb8ca_0_101">
            <a:extLst>
              <a:ext uri="{FF2B5EF4-FFF2-40B4-BE49-F238E27FC236}">
                <a16:creationId xmlns:a16="http://schemas.microsoft.com/office/drawing/2014/main" id="{A303E1C9-B468-F1AE-CBCF-623F5220C606}"/>
              </a:ext>
            </a:extLst>
          </p:cNvPr>
          <p:cNvPicPr preferRelativeResize="0"/>
          <p:nvPr/>
        </p:nvPicPr>
        <p:blipFill>
          <a:blip r:embed="rId2"/>
          <a:srcRect t="8609" r="-1" b="9080"/>
          <a:stretch>
            <a:fillRect/>
          </a:stretch>
        </p:blipFill>
        <p:spPr>
          <a:xfrm>
            <a:off x="1685035" y="4527490"/>
            <a:ext cx="5300978" cy="4092297"/>
          </a:xfrm>
          <a:prstGeom prst="rect">
            <a:avLst/>
          </a:prstGeom>
          <a:noFill/>
        </p:spPr>
      </p:pic>
      <p:sp>
        <p:nvSpPr>
          <p:cNvPr id="3" name="Marcador de texto 2">
            <a:extLst>
              <a:ext uri="{FF2B5EF4-FFF2-40B4-BE49-F238E27FC236}">
                <a16:creationId xmlns:a16="http://schemas.microsoft.com/office/drawing/2014/main" id="{585113B4-79E0-E380-5D12-11D108CF284C}"/>
              </a:ext>
            </a:extLst>
          </p:cNvPr>
          <p:cNvSpPr>
            <a:spLocks noGrp="1"/>
          </p:cNvSpPr>
          <p:nvPr>
            <p:ph type="body" idx="1"/>
          </p:nvPr>
        </p:nvSpPr>
        <p:spPr>
          <a:xfrm>
            <a:off x="7882890" y="4497417"/>
            <a:ext cx="6642354" cy="4092297"/>
          </a:xfrm>
        </p:spPr>
        <p:txBody>
          <a:bodyPr vert="horz" lIns="91440" tIns="45720" rIns="91440" bIns="45720" rtlCol="0" anchor="t">
            <a:normAutofit/>
          </a:bodyPr>
          <a:lstStyle/>
          <a:p>
            <a:pPr marL="0" lvl="0" indent="-228600">
              <a:lnSpc>
                <a:spcPct val="90000"/>
              </a:lnSpc>
              <a:spcAft>
                <a:spcPts val="600"/>
              </a:spcAft>
              <a:buSzPts val="2500"/>
              <a:buFont typeface="Arial" panose="020B0604020202020204" pitchFamily="34" charset="0"/>
              <a:buChar char="•"/>
            </a:pPr>
            <a:r>
              <a:rPr lang="en-US" sz="3000" kern="1200">
                <a:solidFill>
                  <a:schemeClr val="tx1"/>
                </a:solidFill>
                <a:latin typeface="+mn-lt"/>
                <a:ea typeface="+mn-ea"/>
                <a:cs typeface="+mn-cs"/>
              </a:rPr>
              <a:t>Monolito Distribuido</a:t>
            </a:r>
          </a:p>
          <a:p>
            <a:pPr marL="0" lvl="0" indent="-228600">
              <a:lnSpc>
                <a:spcPct val="90000"/>
              </a:lnSpc>
              <a:spcAft>
                <a:spcPts val="600"/>
              </a:spcAft>
              <a:buSzPts val="2500"/>
              <a:buFont typeface="Arial" panose="020B0604020202020204" pitchFamily="34" charset="0"/>
              <a:buChar char="•"/>
            </a:pPr>
            <a:endParaRPr lang="en-US" sz="3000" kern="1200">
              <a:solidFill>
                <a:schemeClr val="tx1"/>
              </a:solidFill>
              <a:latin typeface="+mn-lt"/>
              <a:ea typeface="+mn-ea"/>
              <a:cs typeface="+mn-cs"/>
            </a:endParaRPr>
          </a:p>
          <a:p>
            <a:pPr marL="0" lvl="0" indent="-228600">
              <a:lnSpc>
                <a:spcPct val="90000"/>
              </a:lnSpc>
              <a:spcAft>
                <a:spcPts val="600"/>
              </a:spcAft>
              <a:buSzPts val="2500"/>
              <a:buFont typeface="Arial" panose="020B0604020202020204" pitchFamily="34" charset="0"/>
              <a:buChar char="•"/>
            </a:pPr>
            <a:r>
              <a:rPr lang="en-US" sz="3000" kern="1200">
                <a:solidFill>
                  <a:schemeClr val="tx1"/>
                </a:solidFill>
                <a:latin typeface="+mn-lt"/>
                <a:ea typeface="+mn-ea"/>
                <a:cs typeface="+mn-cs"/>
              </a:rPr>
              <a:t>Evitar separar solo el código; separar la persistencia, aplicar una base de datos por servicio y usar la comunicación de forma adecuada</a:t>
            </a:r>
          </a:p>
          <a:p>
            <a:pPr indent="-228600">
              <a:lnSpc>
                <a:spcPct val="90000"/>
              </a:lnSpc>
              <a:spcAft>
                <a:spcPts val="600"/>
              </a:spcAft>
              <a:buFont typeface="Arial" panose="020B0604020202020204" pitchFamily="34" charset="0"/>
              <a:buChar char="•"/>
            </a:pPr>
            <a:endParaRPr lang="en-US" sz="3000" kern="1200">
              <a:solidFill>
                <a:schemeClr val="tx1"/>
              </a:solidFill>
              <a:latin typeface="+mn-lt"/>
              <a:ea typeface="+mn-ea"/>
              <a:cs typeface="+mn-cs"/>
            </a:endParaRPr>
          </a:p>
        </p:txBody>
      </p:sp>
    </p:spTree>
    <p:extLst>
      <p:ext uri="{BB962C8B-B14F-4D97-AF65-F5344CB8AC3E}">
        <p14:creationId xmlns:p14="http://schemas.microsoft.com/office/powerpoint/2010/main" val="3848374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Triangle 10">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2865080" y="5003800"/>
            <a:ext cx="4937760" cy="48006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661" y="934912"/>
            <a:ext cx="16357579" cy="8411823"/>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0E5EC7E-4AB1-1E5A-27B3-4810AB0EB6B0}"/>
              </a:ext>
            </a:extLst>
          </p:cNvPr>
          <p:cNvSpPr>
            <a:spLocks noGrp="1"/>
          </p:cNvSpPr>
          <p:nvPr>
            <p:ph type="title"/>
          </p:nvPr>
        </p:nvSpPr>
        <p:spPr>
          <a:xfrm>
            <a:off x="1685034" y="1782955"/>
            <a:ext cx="14976922" cy="2395842"/>
          </a:xfrm>
        </p:spPr>
        <p:txBody>
          <a:bodyPr vert="horz" lIns="91440" tIns="45720" rIns="91440" bIns="45720" rtlCol="0" anchor="ctr">
            <a:normAutofit/>
          </a:bodyPr>
          <a:lstStyle/>
          <a:p>
            <a:pPr>
              <a:lnSpc>
                <a:spcPct val="90000"/>
              </a:lnSpc>
              <a:spcBef>
                <a:spcPct val="0"/>
              </a:spcBef>
            </a:pPr>
            <a:r>
              <a:rPr lang="en-US" sz="8300" kern="1200">
                <a:solidFill>
                  <a:schemeClr val="tx1"/>
                </a:solidFill>
                <a:latin typeface="+mj-lt"/>
                <a:ea typeface="+mj-ea"/>
                <a:cs typeface="+mj-cs"/>
              </a:rPr>
              <a:t>Antipatrones en los microservicios</a:t>
            </a:r>
          </a:p>
        </p:txBody>
      </p:sp>
      <p:pic>
        <p:nvPicPr>
          <p:cNvPr id="4" name="Google Shape;344;g338393cb8ca_0_199">
            <a:extLst>
              <a:ext uri="{FF2B5EF4-FFF2-40B4-BE49-F238E27FC236}">
                <a16:creationId xmlns:a16="http://schemas.microsoft.com/office/drawing/2014/main" id="{DC1CF2DB-AE7A-24A6-11B7-A750EA18D206}"/>
              </a:ext>
            </a:extLst>
          </p:cNvPr>
          <p:cNvPicPr preferRelativeResize="0"/>
          <p:nvPr/>
        </p:nvPicPr>
        <p:blipFill>
          <a:blip r:embed="rId2"/>
          <a:srcRect l="339" r="5818" b="-1"/>
          <a:stretch>
            <a:fillRect/>
          </a:stretch>
        </p:blipFill>
        <p:spPr>
          <a:xfrm>
            <a:off x="1685035" y="4527490"/>
            <a:ext cx="5300978" cy="4092297"/>
          </a:xfrm>
          <a:prstGeom prst="rect">
            <a:avLst/>
          </a:prstGeom>
          <a:noFill/>
        </p:spPr>
      </p:pic>
      <p:sp>
        <p:nvSpPr>
          <p:cNvPr id="3" name="Marcador de texto 2">
            <a:extLst>
              <a:ext uri="{FF2B5EF4-FFF2-40B4-BE49-F238E27FC236}">
                <a16:creationId xmlns:a16="http://schemas.microsoft.com/office/drawing/2014/main" id="{7FAF6EC8-1F27-001D-4D37-79551201ADD1}"/>
              </a:ext>
            </a:extLst>
          </p:cNvPr>
          <p:cNvSpPr>
            <a:spLocks noGrp="1"/>
          </p:cNvSpPr>
          <p:nvPr>
            <p:ph type="body" idx="1"/>
          </p:nvPr>
        </p:nvSpPr>
        <p:spPr>
          <a:xfrm>
            <a:off x="7882890" y="4497417"/>
            <a:ext cx="6642354" cy="4092297"/>
          </a:xfrm>
        </p:spPr>
        <p:txBody>
          <a:bodyPr vert="horz" lIns="91440" tIns="45720" rIns="91440" bIns="45720" rtlCol="0" anchor="t">
            <a:normAutofit/>
          </a:bodyPr>
          <a:lstStyle/>
          <a:p>
            <a:pPr marL="0" lvl="0" indent="-228600">
              <a:lnSpc>
                <a:spcPct val="90000"/>
              </a:lnSpc>
              <a:spcAft>
                <a:spcPts val="600"/>
              </a:spcAft>
              <a:buSzPts val="2500"/>
              <a:buFont typeface="Arial" panose="020B0604020202020204" pitchFamily="34" charset="0"/>
              <a:buChar char="•"/>
            </a:pPr>
            <a:r>
              <a:rPr lang="en-US" sz="3000" kern="1200">
                <a:solidFill>
                  <a:schemeClr val="tx1"/>
                </a:solidFill>
                <a:latin typeface="+mn-lt"/>
                <a:ea typeface="+mn-ea"/>
                <a:cs typeface="+mn-cs"/>
              </a:rPr>
              <a:t>Enfoque “el microservicio”</a:t>
            </a:r>
          </a:p>
          <a:p>
            <a:pPr marL="0" lvl="0" indent="-228600">
              <a:lnSpc>
                <a:spcPct val="90000"/>
              </a:lnSpc>
              <a:spcAft>
                <a:spcPts val="600"/>
              </a:spcAft>
              <a:buSzPts val="2500"/>
              <a:buFont typeface="Arial" panose="020B0604020202020204" pitchFamily="34" charset="0"/>
              <a:buChar char="•"/>
            </a:pPr>
            <a:endParaRPr lang="en-US" sz="3000" kern="1200">
              <a:solidFill>
                <a:schemeClr val="tx1"/>
              </a:solidFill>
              <a:latin typeface="+mn-lt"/>
              <a:ea typeface="+mn-ea"/>
              <a:cs typeface="+mn-cs"/>
            </a:endParaRPr>
          </a:p>
          <a:p>
            <a:pPr marL="0" lvl="0" indent="-228600">
              <a:lnSpc>
                <a:spcPct val="90000"/>
              </a:lnSpc>
              <a:spcAft>
                <a:spcPts val="600"/>
              </a:spcAft>
              <a:buSzPts val="2500"/>
              <a:buFont typeface="Arial" panose="020B0604020202020204" pitchFamily="34" charset="0"/>
              <a:buChar char="•"/>
            </a:pPr>
            <a:r>
              <a:rPr lang="en-US" sz="3000" kern="1200">
                <a:solidFill>
                  <a:schemeClr val="tx1"/>
                </a:solidFill>
                <a:latin typeface="+mn-lt"/>
                <a:ea typeface="+mn-ea"/>
                <a:cs typeface="+mn-cs"/>
              </a:rPr>
              <a:t>No implementar un servicio “dios” que contenga toda la logica de negocio importante. Un servicio excesivamente grande es más difícil de manter y escalar</a:t>
            </a:r>
          </a:p>
          <a:p>
            <a:pPr indent="-228600">
              <a:lnSpc>
                <a:spcPct val="90000"/>
              </a:lnSpc>
              <a:spcAft>
                <a:spcPts val="600"/>
              </a:spcAft>
              <a:buFont typeface="Arial" panose="020B0604020202020204" pitchFamily="34" charset="0"/>
              <a:buChar char="•"/>
            </a:pPr>
            <a:endParaRPr lang="en-US" sz="3000" kern="1200">
              <a:solidFill>
                <a:schemeClr val="tx1"/>
              </a:solidFill>
              <a:latin typeface="+mn-lt"/>
              <a:ea typeface="+mn-ea"/>
              <a:cs typeface="+mn-cs"/>
            </a:endParaRPr>
          </a:p>
        </p:txBody>
      </p:sp>
    </p:spTree>
    <p:extLst>
      <p:ext uri="{BB962C8B-B14F-4D97-AF65-F5344CB8AC3E}">
        <p14:creationId xmlns:p14="http://schemas.microsoft.com/office/powerpoint/2010/main" val="11996610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Triangle 10">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2865080" y="5003800"/>
            <a:ext cx="4937760" cy="48006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661" y="934912"/>
            <a:ext cx="16357579" cy="8411823"/>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6C81AE6-797A-929D-969D-F3BAD738A49E}"/>
              </a:ext>
            </a:extLst>
          </p:cNvPr>
          <p:cNvSpPr>
            <a:spLocks noGrp="1"/>
          </p:cNvSpPr>
          <p:nvPr>
            <p:ph type="title"/>
          </p:nvPr>
        </p:nvSpPr>
        <p:spPr>
          <a:xfrm>
            <a:off x="1685034" y="1782955"/>
            <a:ext cx="14976922" cy="2395842"/>
          </a:xfrm>
        </p:spPr>
        <p:txBody>
          <a:bodyPr vert="horz" lIns="91440" tIns="45720" rIns="91440" bIns="45720" rtlCol="0" anchor="ctr">
            <a:normAutofit/>
          </a:bodyPr>
          <a:lstStyle/>
          <a:p>
            <a:pPr>
              <a:lnSpc>
                <a:spcPct val="90000"/>
              </a:lnSpc>
              <a:spcBef>
                <a:spcPct val="0"/>
              </a:spcBef>
            </a:pPr>
            <a:r>
              <a:rPr lang="en-US" sz="8300" kern="1200">
                <a:solidFill>
                  <a:schemeClr val="tx1"/>
                </a:solidFill>
                <a:latin typeface="+mj-lt"/>
                <a:ea typeface="+mj-ea"/>
                <a:cs typeface="+mj-cs"/>
              </a:rPr>
              <a:t>Antipatrones en los microservicios</a:t>
            </a:r>
          </a:p>
        </p:txBody>
      </p:sp>
      <p:pic>
        <p:nvPicPr>
          <p:cNvPr id="4" name="Google Shape;354;g338393cb8ca_0_209">
            <a:extLst>
              <a:ext uri="{FF2B5EF4-FFF2-40B4-BE49-F238E27FC236}">
                <a16:creationId xmlns:a16="http://schemas.microsoft.com/office/drawing/2014/main" id="{A5ADFD42-7486-0076-69FF-6F829BB30C9A}"/>
              </a:ext>
            </a:extLst>
          </p:cNvPr>
          <p:cNvPicPr preferRelativeResize="0"/>
          <p:nvPr/>
        </p:nvPicPr>
        <p:blipFill>
          <a:blip r:embed="rId2"/>
          <a:srcRect l="2477" r="4255" b="-3"/>
          <a:stretch>
            <a:fillRect/>
          </a:stretch>
        </p:blipFill>
        <p:spPr>
          <a:xfrm>
            <a:off x="1685035" y="4527490"/>
            <a:ext cx="5300978" cy="4092297"/>
          </a:xfrm>
          <a:prstGeom prst="rect">
            <a:avLst/>
          </a:prstGeom>
          <a:noFill/>
        </p:spPr>
      </p:pic>
      <p:sp>
        <p:nvSpPr>
          <p:cNvPr id="3" name="Marcador de texto 2">
            <a:extLst>
              <a:ext uri="{FF2B5EF4-FFF2-40B4-BE49-F238E27FC236}">
                <a16:creationId xmlns:a16="http://schemas.microsoft.com/office/drawing/2014/main" id="{419ECC37-D4CA-5EA6-3549-C7F44E4A695B}"/>
              </a:ext>
            </a:extLst>
          </p:cNvPr>
          <p:cNvSpPr>
            <a:spLocks noGrp="1"/>
          </p:cNvSpPr>
          <p:nvPr>
            <p:ph type="body" idx="1"/>
          </p:nvPr>
        </p:nvSpPr>
        <p:spPr>
          <a:xfrm>
            <a:off x="7882890" y="4497417"/>
            <a:ext cx="6642354" cy="4092297"/>
          </a:xfrm>
        </p:spPr>
        <p:txBody>
          <a:bodyPr vert="horz" lIns="91440" tIns="45720" rIns="91440" bIns="45720" rtlCol="0" anchor="t">
            <a:normAutofit/>
          </a:bodyPr>
          <a:lstStyle/>
          <a:p>
            <a:pPr marL="0" lvl="0" indent="-228600">
              <a:lnSpc>
                <a:spcPct val="90000"/>
              </a:lnSpc>
              <a:spcAft>
                <a:spcPts val="600"/>
              </a:spcAft>
              <a:buSzPts val="2500"/>
              <a:buFont typeface="Arial" panose="020B0604020202020204" pitchFamily="34" charset="0"/>
              <a:buChar char="•"/>
            </a:pPr>
            <a:r>
              <a:rPr lang="en-US" sz="3000" kern="1200">
                <a:solidFill>
                  <a:schemeClr val="tx1"/>
                </a:solidFill>
                <a:latin typeface="+mn-lt"/>
                <a:ea typeface="+mn-ea"/>
                <a:cs typeface="+mn-cs"/>
              </a:rPr>
              <a:t>Infraestructura compartida</a:t>
            </a:r>
          </a:p>
          <a:p>
            <a:pPr marL="0" lvl="0" indent="-228600">
              <a:lnSpc>
                <a:spcPct val="90000"/>
              </a:lnSpc>
              <a:spcAft>
                <a:spcPts val="600"/>
              </a:spcAft>
              <a:buSzPts val="2500"/>
              <a:buFont typeface="Arial" panose="020B0604020202020204" pitchFamily="34" charset="0"/>
              <a:buChar char="•"/>
            </a:pPr>
            <a:endParaRPr lang="en-US" sz="3000" kern="1200">
              <a:solidFill>
                <a:schemeClr val="tx1"/>
              </a:solidFill>
              <a:latin typeface="+mn-lt"/>
              <a:ea typeface="+mn-ea"/>
              <a:cs typeface="+mn-cs"/>
            </a:endParaRPr>
          </a:p>
          <a:p>
            <a:pPr marL="0" lvl="0" indent="-228600">
              <a:lnSpc>
                <a:spcPct val="90000"/>
              </a:lnSpc>
              <a:spcAft>
                <a:spcPts val="600"/>
              </a:spcAft>
              <a:buSzPts val="2500"/>
              <a:buFont typeface="Arial" panose="020B0604020202020204" pitchFamily="34" charset="0"/>
              <a:buChar char="•"/>
            </a:pPr>
            <a:r>
              <a:rPr lang="en-US" sz="3000" kern="1200">
                <a:solidFill>
                  <a:schemeClr val="tx1"/>
                </a:solidFill>
                <a:latin typeface="+mn-lt"/>
                <a:ea typeface="+mn-ea"/>
                <a:cs typeface="+mn-cs"/>
              </a:rPr>
              <a:t>Evitar que dos servicios usen la misma base de datos, caché o desplegados en el mismo nodo. Compartir recursos es riesgoso, ya que será más propenso a la falta de disponibilidad y más dificultad al escalar.</a:t>
            </a:r>
          </a:p>
          <a:p>
            <a:pPr indent="-228600">
              <a:lnSpc>
                <a:spcPct val="90000"/>
              </a:lnSpc>
              <a:spcAft>
                <a:spcPts val="600"/>
              </a:spcAft>
              <a:buFont typeface="Arial" panose="020B0604020202020204" pitchFamily="34" charset="0"/>
              <a:buChar char="•"/>
            </a:pPr>
            <a:endParaRPr lang="en-US" sz="3000" kern="1200">
              <a:solidFill>
                <a:schemeClr val="tx1"/>
              </a:solidFill>
              <a:latin typeface="+mn-lt"/>
              <a:ea typeface="+mn-ea"/>
              <a:cs typeface="+mn-cs"/>
            </a:endParaRPr>
          </a:p>
        </p:txBody>
      </p:sp>
    </p:spTree>
    <p:extLst>
      <p:ext uri="{BB962C8B-B14F-4D97-AF65-F5344CB8AC3E}">
        <p14:creationId xmlns:p14="http://schemas.microsoft.com/office/powerpoint/2010/main" val="9639857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Arc 10">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12947022" y="735740"/>
            <a:ext cx="4481849" cy="448184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F2BFF77C-964D-7799-19C0-6186C1894BF8}"/>
              </a:ext>
            </a:extLst>
          </p:cNvPr>
          <p:cNvSpPr>
            <a:spLocks noGrp="1"/>
          </p:cNvSpPr>
          <p:nvPr>
            <p:ph type="title"/>
          </p:nvPr>
        </p:nvSpPr>
        <p:spPr>
          <a:xfrm>
            <a:off x="8842443" y="719239"/>
            <a:ext cx="8188257" cy="1988345"/>
          </a:xfrm>
        </p:spPr>
        <p:txBody>
          <a:bodyPr vert="horz" lIns="91440" tIns="45720" rIns="91440" bIns="45720" rtlCol="0" anchor="ctr">
            <a:normAutofit/>
          </a:bodyPr>
          <a:lstStyle/>
          <a:p>
            <a:pPr>
              <a:lnSpc>
                <a:spcPct val="90000"/>
              </a:lnSpc>
              <a:spcBef>
                <a:spcPct val="0"/>
              </a:spcBef>
            </a:pPr>
            <a:r>
              <a:rPr lang="en-US" kern="1200">
                <a:solidFill>
                  <a:schemeClr val="tx1"/>
                </a:solidFill>
                <a:latin typeface="+mj-lt"/>
                <a:ea typeface="+mj-ea"/>
                <a:cs typeface="+mj-cs"/>
              </a:rPr>
              <a:t>Antipatrones en los microservicios</a:t>
            </a:r>
          </a:p>
        </p:txBody>
      </p:sp>
      <p:sp>
        <p:nvSpPr>
          <p:cNvPr id="13" name="Freeform: Shape 12">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8229600"/>
            <a:ext cx="4009294" cy="20574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Google Shape;364;g338393cb8ca_0_226">
            <a:extLst>
              <a:ext uri="{FF2B5EF4-FFF2-40B4-BE49-F238E27FC236}">
                <a16:creationId xmlns:a16="http://schemas.microsoft.com/office/drawing/2014/main" id="{9DB48975-5648-2F4F-505E-E22B69DF42E8}"/>
              </a:ext>
            </a:extLst>
          </p:cNvPr>
          <p:cNvPicPr preferRelativeResize="0"/>
          <p:nvPr/>
        </p:nvPicPr>
        <p:blipFill>
          <a:blip r:embed="rId2"/>
          <a:stretch>
            <a:fillRect/>
          </a:stretch>
        </p:blipFill>
        <p:spPr>
          <a:xfrm>
            <a:off x="1054773" y="1871083"/>
            <a:ext cx="7166071" cy="6290217"/>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p:spPr>
      </p:pic>
      <p:sp>
        <p:nvSpPr>
          <p:cNvPr id="3" name="Marcador de texto 2">
            <a:extLst>
              <a:ext uri="{FF2B5EF4-FFF2-40B4-BE49-F238E27FC236}">
                <a16:creationId xmlns:a16="http://schemas.microsoft.com/office/drawing/2014/main" id="{C583BA19-4914-93BB-D69C-6EF9E4087BFD}"/>
              </a:ext>
            </a:extLst>
          </p:cNvPr>
          <p:cNvSpPr>
            <a:spLocks noGrp="1"/>
          </p:cNvSpPr>
          <p:nvPr>
            <p:ph type="body" idx="1"/>
          </p:nvPr>
        </p:nvSpPr>
        <p:spPr>
          <a:xfrm>
            <a:off x="8842443" y="2976664"/>
            <a:ext cx="8188257" cy="6288780"/>
          </a:xfrm>
        </p:spPr>
        <p:txBody>
          <a:bodyPr vert="horz" lIns="91440" tIns="45720" rIns="91440" bIns="45720" rtlCol="0">
            <a:normAutofit/>
          </a:bodyPr>
          <a:lstStyle/>
          <a:p>
            <a:pPr marL="0" lvl="0" indent="-228600">
              <a:lnSpc>
                <a:spcPct val="90000"/>
              </a:lnSpc>
              <a:spcAft>
                <a:spcPts val="600"/>
              </a:spcAft>
              <a:buSzPts val="2500"/>
              <a:buFont typeface="Arial" panose="020B0604020202020204" pitchFamily="34" charset="0"/>
              <a:buChar char="•"/>
            </a:pPr>
            <a:r>
              <a:rPr lang="en-US" kern="1200">
                <a:solidFill>
                  <a:schemeClr val="tx1"/>
                </a:solidFill>
                <a:latin typeface="+mn-lt"/>
                <a:ea typeface="+mn-ea"/>
                <a:cs typeface="+mn-cs"/>
              </a:rPr>
              <a:t>Excesivo uso de tecnologías</a:t>
            </a:r>
          </a:p>
          <a:p>
            <a:pPr marL="0" lvl="0" indent="-228600">
              <a:lnSpc>
                <a:spcPct val="90000"/>
              </a:lnSpc>
              <a:spcAft>
                <a:spcPts val="600"/>
              </a:spcAft>
              <a:buSzPts val="2500"/>
              <a:buFont typeface="Arial" panose="020B0604020202020204" pitchFamily="34" charset="0"/>
              <a:buChar char="•"/>
            </a:pPr>
            <a:endParaRPr lang="en-US" kern="1200">
              <a:solidFill>
                <a:schemeClr val="tx1"/>
              </a:solidFill>
              <a:latin typeface="+mn-lt"/>
              <a:ea typeface="+mn-ea"/>
              <a:cs typeface="+mn-cs"/>
            </a:endParaRPr>
          </a:p>
          <a:p>
            <a:pPr marL="0" lvl="0" indent="-228600">
              <a:lnSpc>
                <a:spcPct val="90000"/>
              </a:lnSpc>
              <a:spcAft>
                <a:spcPts val="600"/>
              </a:spcAft>
              <a:buSzPts val="2500"/>
              <a:buFont typeface="Arial" panose="020B0604020202020204" pitchFamily="34" charset="0"/>
              <a:buChar char="•"/>
            </a:pPr>
            <a:r>
              <a:rPr lang="en-US" kern="1200">
                <a:solidFill>
                  <a:schemeClr val="tx1"/>
                </a:solidFill>
                <a:latin typeface="+mn-lt"/>
                <a:ea typeface="+mn-ea"/>
                <a:cs typeface="+mn-cs"/>
              </a:rPr>
              <a:t>Aunque sea una de las ventajas, no porque se pueda significa que debamos implementar una gran diversidad de tecnologías, ya que agregaría una capa de dificultad al mantenimiento además de la difícil tarea de conseguir un equipo sólido y capaz de resolver problemas que se presenten.</a:t>
            </a:r>
          </a:p>
          <a:p>
            <a:pPr indent="-228600">
              <a:lnSpc>
                <a:spcPct val="90000"/>
              </a:lnSpc>
              <a:spcAft>
                <a:spcPts val="600"/>
              </a:spcAft>
              <a:buFont typeface="Arial" panose="020B0604020202020204" pitchFamily="34" charset="0"/>
              <a:buChar char="•"/>
            </a:pPr>
            <a:endParaRPr lang="en-US" kern="1200">
              <a:solidFill>
                <a:schemeClr val="tx1"/>
              </a:solidFill>
              <a:latin typeface="+mn-lt"/>
              <a:ea typeface="+mn-ea"/>
              <a:cs typeface="+mn-cs"/>
            </a:endParaRPr>
          </a:p>
        </p:txBody>
      </p:sp>
    </p:spTree>
    <p:extLst>
      <p:ext uri="{BB962C8B-B14F-4D97-AF65-F5344CB8AC3E}">
        <p14:creationId xmlns:p14="http://schemas.microsoft.com/office/powerpoint/2010/main" val="18706572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8F4F00-A730-2E6F-CE42-62D3DFD6DD5B}"/>
              </a:ext>
            </a:extLst>
          </p:cNvPr>
          <p:cNvSpPr>
            <a:spLocks noGrp="1"/>
          </p:cNvSpPr>
          <p:nvPr>
            <p:ph type="title"/>
          </p:nvPr>
        </p:nvSpPr>
        <p:spPr>
          <a:xfrm>
            <a:off x="1315039" y="1112086"/>
            <a:ext cx="5183732" cy="2424305"/>
          </a:xfrm>
        </p:spPr>
        <p:txBody>
          <a:bodyPr vert="horz" lIns="91440" tIns="45720" rIns="91440" bIns="45720" rtlCol="0" anchor="b">
            <a:normAutofit/>
          </a:bodyPr>
          <a:lstStyle/>
          <a:p>
            <a:pPr>
              <a:lnSpc>
                <a:spcPct val="90000"/>
              </a:lnSpc>
              <a:spcBef>
                <a:spcPct val="0"/>
              </a:spcBef>
            </a:pPr>
            <a:r>
              <a:rPr lang="en-US" sz="4800" kern="1200">
                <a:solidFill>
                  <a:schemeClr val="tx1"/>
                </a:solidFill>
                <a:latin typeface="+mj-lt"/>
                <a:ea typeface="+mj-ea"/>
                <a:cs typeface="+mj-cs"/>
              </a:rPr>
              <a:t>Antipatrones en los microservicios</a:t>
            </a:r>
          </a:p>
        </p:txBody>
      </p:sp>
      <p:sp>
        <p:nvSpPr>
          <p:cNvPr id="3" name="Marcador de texto 2">
            <a:extLst>
              <a:ext uri="{FF2B5EF4-FFF2-40B4-BE49-F238E27FC236}">
                <a16:creationId xmlns:a16="http://schemas.microsoft.com/office/drawing/2014/main" id="{5E826E47-E78E-C91F-4835-5E52A7DA2750}"/>
              </a:ext>
            </a:extLst>
          </p:cNvPr>
          <p:cNvSpPr>
            <a:spLocks noGrp="1"/>
          </p:cNvSpPr>
          <p:nvPr>
            <p:ph type="body" idx="1"/>
          </p:nvPr>
        </p:nvSpPr>
        <p:spPr>
          <a:xfrm>
            <a:off x="1315039" y="3800214"/>
            <a:ext cx="5183732" cy="5171748"/>
          </a:xfrm>
        </p:spPr>
        <p:txBody>
          <a:bodyPr vert="horz" lIns="91440" tIns="45720" rIns="91440" bIns="45720" rtlCol="0" anchor="t">
            <a:normAutofit/>
          </a:bodyPr>
          <a:lstStyle/>
          <a:p>
            <a:pPr marL="0" lvl="0" indent="-228600">
              <a:lnSpc>
                <a:spcPct val="90000"/>
              </a:lnSpc>
              <a:spcAft>
                <a:spcPts val="600"/>
              </a:spcAft>
              <a:buSzPts val="2500"/>
              <a:buFont typeface="Arial" panose="020B0604020202020204" pitchFamily="34" charset="0"/>
              <a:buChar char="•"/>
            </a:pPr>
            <a:r>
              <a:rPr lang="en-US" sz="2800" kern="1200">
                <a:solidFill>
                  <a:schemeClr val="tx1"/>
                </a:solidFill>
                <a:latin typeface="+mn-lt"/>
                <a:ea typeface="+mn-ea"/>
                <a:cs typeface="+mn-cs"/>
              </a:rPr>
              <a:t>Comunicación Excesiva</a:t>
            </a:r>
          </a:p>
          <a:p>
            <a:pPr marL="0" lvl="0" indent="-228600">
              <a:lnSpc>
                <a:spcPct val="90000"/>
              </a:lnSpc>
              <a:spcAft>
                <a:spcPts val="600"/>
              </a:spcAft>
              <a:buSzPts val="2500"/>
              <a:buFont typeface="Arial" panose="020B0604020202020204" pitchFamily="34" charset="0"/>
              <a:buChar char="•"/>
            </a:pPr>
            <a:endParaRPr lang="en-US" sz="2800" kern="1200">
              <a:solidFill>
                <a:schemeClr val="tx1"/>
              </a:solidFill>
              <a:latin typeface="+mn-lt"/>
              <a:ea typeface="+mn-ea"/>
              <a:cs typeface="+mn-cs"/>
            </a:endParaRPr>
          </a:p>
          <a:p>
            <a:pPr marL="0" lvl="0" indent="-228600">
              <a:lnSpc>
                <a:spcPct val="90000"/>
              </a:lnSpc>
              <a:spcAft>
                <a:spcPts val="600"/>
              </a:spcAft>
              <a:buSzPts val="2500"/>
              <a:buFont typeface="Arial" panose="020B0604020202020204" pitchFamily="34" charset="0"/>
              <a:buChar char="•"/>
            </a:pPr>
            <a:r>
              <a:rPr lang="en-US" sz="2800" kern="1200">
                <a:solidFill>
                  <a:schemeClr val="tx1"/>
                </a:solidFill>
                <a:latin typeface="+mn-lt"/>
                <a:ea typeface="+mn-ea"/>
                <a:cs typeface="+mn-cs"/>
              </a:rPr>
              <a:t>Reducir tanto como sea posible las llamadas síncronas entre servicios. Evitar dependencias cíclicas. Si es posible, usar la estrategia de mensajes/eventos.</a:t>
            </a:r>
          </a:p>
          <a:p>
            <a:pPr marL="0" lvl="0" indent="-228600">
              <a:lnSpc>
                <a:spcPct val="90000"/>
              </a:lnSpc>
              <a:spcAft>
                <a:spcPts val="600"/>
              </a:spcAft>
              <a:buSzPts val="2500"/>
              <a:buFont typeface="Arial" panose="020B0604020202020204" pitchFamily="34" charset="0"/>
              <a:buChar char="•"/>
            </a:pPr>
            <a:endParaRPr lang="en-US" sz="2800" kern="1200">
              <a:solidFill>
                <a:schemeClr val="tx1"/>
              </a:solidFill>
              <a:latin typeface="+mn-lt"/>
              <a:ea typeface="+mn-ea"/>
              <a:cs typeface="+mn-cs"/>
            </a:endParaRPr>
          </a:p>
          <a:p>
            <a:pPr marL="0" lvl="0" indent="-228600">
              <a:lnSpc>
                <a:spcPct val="90000"/>
              </a:lnSpc>
              <a:spcAft>
                <a:spcPts val="600"/>
              </a:spcAft>
              <a:buSzPts val="2500"/>
              <a:buFont typeface="Arial" panose="020B0604020202020204" pitchFamily="34" charset="0"/>
              <a:buChar char="•"/>
            </a:pPr>
            <a:r>
              <a:rPr lang="en-US" sz="2800" kern="1200">
                <a:solidFill>
                  <a:schemeClr val="tx1"/>
                </a:solidFill>
                <a:latin typeface="+mn-lt"/>
                <a:ea typeface="+mn-ea"/>
                <a:cs typeface="+mn-cs"/>
              </a:rPr>
              <a:t>Dicho de otra forma, evitar al maximo el chatting.</a:t>
            </a:r>
          </a:p>
          <a:p>
            <a:pPr indent="-228600">
              <a:lnSpc>
                <a:spcPct val="90000"/>
              </a:lnSpc>
              <a:spcAft>
                <a:spcPts val="600"/>
              </a:spcAft>
              <a:buFont typeface="Arial" panose="020B0604020202020204" pitchFamily="34" charset="0"/>
              <a:buChar char="•"/>
            </a:pPr>
            <a:endParaRPr lang="en-US" sz="2800" kern="1200">
              <a:solidFill>
                <a:schemeClr val="tx1"/>
              </a:solidFill>
              <a:latin typeface="+mn-lt"/>
              <a:ea typeface="+mn-ea"/>
              <a:cs typeface="+mn-cs"/>
            </a:endParaRPr>
          </a:p>
        </p:txBody>
      </p:sp>
      <p:pic>
        <p:nvPicPr>
          <p:cNvPr id="4" name="Google Shape;374;g338393cb8ca_0_244">
            <a:extLst>
              <a:ext uri="{FF2B5EF4-FFF2-40B4-BE49-F238E27FC236}">
                <a16:creationId xmlns:a16="http://schemas.microsoft.com/office/drawing/2014/main" id="{3B44A468-537E-A260-1073-340305B25B96}"/>
              </a:ext>
            </a:extLst>
          </p:cNvPr>
          <p:cNvPicPr preferRelativeResize="0"/>
          <p:nvPr/>
        </p:nvPicPr>
        <p:blipFill>
          <a:blip r:embed="rId2"/>
          <a:stretch>
            <a:fillRect/>
          </a:stretch>
        </p:blipFill>
        <p:spPr>
          <a:xfrm>
            <a:off x="7481508" y="1223372"/>
            <a:ext cx="9584019" cy="7854220"/>
          </a:xfrm>
          <a:prstGeom prst="rect">
            <a:avLst/>
          </a:prstGeom>
          <a:noFill/>
        </p:spPr>
      </p:pic>
      <p:grpSp>
        <p:nvGrpSpPr>
          <p:cNvPr id="9" name="Group 8">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102957" y="0"/>
            <a:ext cx="185043" cy="10287000"/>
            <a:chOff x="12068638" y="0"/>
            <a:chExt cx="123362" cy="6858000"/>
          </a:xfrm>
        </p:grpSpPr>
        <p:sp>
          <p:nvSpPr>
            <p:cNvPr id="10" name="Rectangle 9">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8001533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g364afea4f63_0_141"/>
          <p:cNvSpPr txBox="1"/>
          <p:nvPr/>
        </p:nvSpPr>
        <p:spPr>
          <a:xfrm>
            <a:off x="5791489" y="6796953"/>
            <a:ext cx="6705000" cy="769500"/>
          </a:xfrm>
          <a:prstGeom prst="rect">
            <a:avLst/>
          </a:prstGeom>
          <a:noFill/>
          <a:ln>
            <a:noFill/>
          </a:ln>
        </p:spPr>
        <p:txBody>
          <a:bodyPr spcFirstLastPara="1" wrap="square" lIns="0" tIns="0" rIns="0" bIns="0" anchor="t" anchorCtr="0">
            <a:spAutoFit/>
          </a:bodyPr>
          <a:lstStyle/>
          <a:p>
            <a:pPr marL="0" marR="0" lvl="0" indent="0" algn="ctr" rtl="0">
              <a:lnSpc>
                <a:spcPct val="148000"/>
              </a:lnSpc>
              <a:spcBef>
                <a:spcPts val="0"/>
              </a:spcBef>
              <a:spcAft>
                <a:spcPts val="0"/>
              </a:spcAft>
              <a:buClr>
                <a:srgbClr val="000000"/>
              </a:buClr>
              <a:buSzPts val="5000"/>
              <a:buFont typeface="Arial"/>
              <a:buNone/>
            </a:pPr>
            <a:r>
              <a:rPr lang="es-GT" sz="5000" b="0" i="0" u="none" strike="noStrike" cap="none" noProof="0" dirty="0">
                <a:solidFill>
                  <a:srgbClr val="131416"/>
                </a:solidFill>
                <a:latin typeface="Arial"/>
                <a:ea typeface="Arial"/>
                <a:cs typeface="Arial"/>
                <a:sym typeface="Arial"/>
              </a:rPr>
              <a:t>DUDAS ¿?</a:t>
            </a:r>
            <a:endParaRPr lang="es-GT" sz="1400" b="0" i="0" u="none" strike="noStrike" cap="none" noProof="0" dirty="0">
              <a:solidFill>
                <a:srgbClr val="000000"/>
              </a:solidFill>
              <a:latin typeface="Arial"/>
              <a:ea typeface="Arial"/>
              <a:cs typeface="Arial"/>
              <a:sym typeface="Arial"/>
            </a:endParaRPr>
          </a:p>
        </p:txBody>
      </p:sp>
      <p:pic>
        <p:nvPicPr>
          <p:cNvPr id="217" name="Google Shape;217;g364afea4f63_0_141" title="Gemini_Generated_Image_1od44x1od44x1od4.png"/>
          <p:cNvPicPr preferRelativeResize="0"/>
          <p:nvPr/>
        </p:nvPicPr>
        <p:blipFill rotWithShape="1">
          <a:blip r:embed="rId3">
            <a:alphaModFix/>
          </a:blip>
          <a:srcRect/>
          <a:stretch/>
        </p:blipFill>
        <p:spPr>
          <a:xfrm>
            <a:off x="4576287" y="699975"/>
            <a:ext cx="9135424" cy="5691801"/>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9"/>
          <p:cNvSpPr txBox="1"/>
          <p:nvPr/>
        </p:nvSpPr>
        <p:spPr>
          <a:xfrm>
            <a:off x="4571995" y="5176054"/>
            <a:ext cx="8658900" cy="1915200"/>
          </a:xfrm>
          <a:prstGeom prst="rect">
            <a:avLst/>
          </a:prstGeom>
          <a:noFill/>
          <a:ln>
            <a:noFill/>
          </a:ln>
        </p:spPr>
        <p:txBody>
          <a:bodyPr spcFirstLastPara="1" wrap="square" lIns="0" tIns="0" rIns="0" bIns="0" anchor="t" anchorCtr="0">
            <a:spAutoFit/>
          </a:bodyPr>
          <a:lstStyle/>
          <a:p>
            <a:pPr marL="0" marR="0" lvl="0" indent="0" algn="just" rtl="0">
              <a:lnSpc>
                <a:spcPct val="104000"/>
              </a:lnSpc>
              <a:spcBef>
                <a:spcPts val="0"/>
              </a:spcBef>
              <a:spcAft>
                <a:spcPts val="0"/>
              </a:spcAft>
              <a:buClr>
                <a:srgbClr val="000000"/>
              </a:buClr>
              <a:buSzPts val="6099"/>
              <a:buFont typeface="Arial"/>
              <a:buNone/>
            </a:pPr>
            <a:r>
              <a:rPr lang="es-GT" sz="6099" b="0" i="0" u="none" strike="noStrike" cap="none" noProof="0" dirty="0">
                <a:solidFill>
                  <a:srgbClr val="131416"/>
                </a:solidFill>
                <a:latin typeface="Impact"/>
                <a:ea typeface="Impact"/>
                <a:cs typeface="Impact"/>
                <a:sym typeface="Impact"/>
              </a:rPr>
              <a:t>¡GRACIAS POR SU  ATENCIÓN!</a:t>
            </a:r>
            <a:endParaRPr lang="es-GT" sz="1400" b="0" i="0" u="none" strike="noStrike" cap="none" noProof="0" dirty="0">
              <a:solidFill>
                <a:srgbClr val="000000"/>
              </a:solidFill>
              <a:latin typeface="Impact"/>
              <a:ea typeface="Impact"/>
              <a:cs typeface="Impact"/>
              <a:sym typeface="Impact"/>
            </a:endParaRPr>
          </a:p>
          <a:p>
            <a:pPr marL="0" marR="0" lvl="0" indent="0" algn="just" rtl="0">
              <a:lnSpc>
                <a:spcPct val="104000"/>
              </a:lnSpc>
              <a:spcBef>
                <a:spcPts val="0"/>
              </a:spcBef>
              <a:spcAft>
                <a:spcPts val="0"/>
              </a:spcAft>
              <a:buClr>
                <a:srgbClr val="000000"/>
              </a:buClr>
              <a:buSzPts val="6099"/>
              <a:buFont typeface="Arial"/>
              <a:buNone/>
            </a:pPr>
            <a:endParaRPr lang="es-GT" sz="6099" b="0" i="0" u="none" strike="noStrike" cap="none" noProof="0" dirty="0">
              <a:solidFill>
                <a:srgbClr val="131416"/>
              </a:solidFill>
              <a:latin typeface="Impact"/>
              <a:ea typeface="Impact"/>
              <a:cs typeface="Impact"/>
              <a:sym typeface="Impact"/>
            </a:endParaRPr>
          </a:p>
        </p:txBody>
      </p:sp>
      <p:sp>
        <p:nvSpPr>
          <p:cNvPr id="223" name="Google Shape;223;p9"/>
          <p:cNvSpPr/>
          <p:nvPr/>
        </p:nvSpPr>
        <p:spPr>
          <a:xfrm>
            <a:off x="7765363" y="596600"/>
            <a:ext cx="2757268" cy="3770970"/>
          </a:xfrm>
          <a:custGeom>
            <a:avLst/>
            <a:gdLst/>
            <a:ahLst/>
            <a:cxnLst/>
            <a:rect l="l" t="t" r="r" b="b"/>
            <a:pathLst>
              <a:path w="2757268" h="3770970" extrusionOk="0">
                <a:moveTo>
                  <a:pt x="0" y="0"/>
                </a:moveTo>
                <a:lnTo>
                  <a:pt x="2757268" y="0"/>
                </a:lnTo>
                <a:lnTo>
                  <a:pt x="2757268" y="3770970"/>
                </a:lnTo>
                <a:lnTo>
                  <a:pt x="0" y="3770970"/>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224" name="Google Shape;224;p9"/>
          <p:cNvSpPr txBox="1"/>
          <p:nvPr/>
        </p:nvSpPr>
        <p:spPr>
          <a:xfrm>
            <a:off x="2411098" y="7899735"/>
            <a:ext cx="13465804" cy="719455"/>
          </a:xfrm>
          <a:prstGeom prst="rect">
            <a:avLst/>
          </a:prstGeom>
          <a:noFill/>
          <a:ln>
            <a:noFill/>
          </a:ln>
        </p:spPr>
        <p:txBody>
          <a:bodyPr spcFirstLastPara="1" wrap="square" lIns="0" tIns="0" rIns="0" bIns="0" anchor="t" anchorCtr="0">
            <a:spAutoFit/>
          </a:bodyPr>
          <a:lstStyle/>
          <a:p>
            <a:pPr marL="0" marR="0" lvl="0" indent="0" algn="ctr" rtl="0">
              <a:lnSpc>
                <a:spcPct val="148000"/>
              </a:lnSpc>
              <a:spcBef>
                <a:spcPts val="0"/>
              </a:spcBef>
              <a:spcAft>
                <a:spcPts val="0"/>
              </a:spcAft>
              <a:buClr>
                <a:srgbClr val="000000"/>
              </a:buClr>
              <a:buSzPts val="2000"/>
              <a:buFont typeface="Arial"/>
              <a:buNone/>
            </a:pPr>
            <a:r>
              <a:rPr lang="es-GT" sz="2000" b="0" i="0" u="none" strike="noStrike" cap="none" noProof="0" dirty="0">
                <a:solidFill>
                  <a:srgbClr val="131416"/>
                </a:solidFill>
                <a:latin typeface="Arial"/>
                <a:ea typeface="Arial"/>
                <a:cs typeface="Arial"/>
                <a:sym typeface="Arial"/>
              </a:rPr>
              <a:t>RECUERDA QUE TENEMOS NUESTRO FORO SEMANAL DONDE PUEDES CONSULTAR CUALQUIER DUDA QUE TE SURJA EN LA SEMANA</a:t>
            </a:r>
            <a:endParaRPr lang="es-GT" sz="1400" b="0" i="0" u="none" strike="noStrike" cap="none" noProof="0" dirty="0">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1401</Words>
  <Application>Microsoft Office PowerPoint</Application>
  <PresentationFormat>Personalizado</PresentationFormat>
  <Paragraphs>145</Paragraphs>
  <Slides>32</Slides>
  <Notes>18</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32</vt:i4>
      </vt:variant>
    </vt:vector>
  </HeadingPairs>
  <TitlesOfParts>
    <vt:vector size="38" baseType="lpstr">
      <vt:lpstr>Calibri</vt:lpstr>
      <vt:lpstr>Pacifico</vt:lpstr>
      <vt:lpstr>Impact</vt:lpstr>
      <vt:lpstr>Arial</vt:lpstr>
      <vt:lpstr>Open Sans</vt:lpstr>
      <vt:lpstr>Office Theme</vt:lpstr>
      <vt:lpstr>Presentación de PowerPoint</vt:lpstr>
      <vt:lpstr>Presentación de PowerPoint</vt:lpstr>
      <vt:lpstr>Presentación de PowerPoint</vt:lpstr>
      <vt:lpstr>Presentación de PowerPoint</vt:lpstr>
      <vt:lpstr>Presentación de PowerPoint</vt:lpstr>
      <vt:lpstr>¿Qué son los microservicios?</vt:lpstr>
      <vt:lpstr>Breve historia de los microservicios </vt:lpstr>
      <vt:lpstr>Orígenes y primeros acercamientos </vt:lpstr>
      <vt:lpstr>Factores que impulsaron los microservicios </vt:lpstr>
      <vt:lpstr>Presentación de PowerPoint</vt:lpstr>
      <vt:lpstr>Presentación de PowerPoint</vt:lpstr>
      <vt:lpstr>Presentación de PowerPoint</vt:lpstr>
      <vt:lpstr>Presentación de PowerPoint</vt:lpstr>
      <vt:lpstr>Así se ve un microservicio</vt:lpstr>
      <vt:lpstr>Presentación de PowerPoint</vt:lpstr>
      <vt:lpstr>Presentación de PowerPoint</vt:lpstr>
      <vt:lpstr>Presentación de PowerPoint</vt:lpstr>
      <vt:lpstr>Herramientas y estrategias para diseño de microservicios</vt:lpstr>
      <vt:lpstr>Arquitectura Hexagonal</vt:lpstr>
      <vt:lpstr>Utilización de protocolos de comunicacion (HTTP, gRPC, eventos)</vt:lpstr>
      <vt:lpstr>GraphQL como parte de HTTP y reemplazo de REST</vt:lpstr>
      <vt:lpstr>Utilizacion de protocolos de comunicacion (HTTP, gRPC, eventos)</vt:lpstr>
      <vt:lpstr>Utilizacion de protocolos de comunicacion (HTTP, gRPC, eventos)</vt:lpstr>
      <vt:lpstr>Patrones de diseño: SAGA y Circuit Breaker   </vt:lpstr>
      <vt:lpstr>Patrones de diseño: SAGA y Circuit Breaker   </vt:lpstr>
      <vt:lpstr>Antipatrones en los microservicios</vt:lpstr>
      <vt:lpstr>Antipatrones en los microservicios</vt:lpstr>
      <vt:lpstr>Antipatrones en los microservicios</vt:lpstr>
      <vt:lpstr>Antipatrones en los microservicios</vt:lpstr>
      <vt:lpstr>Antipatrones en los microservicios</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Kevin Pozuelos</dc:creator>
  <cp:lastModifiedBy>Kevin Pozuelos</cp:lastModifiedBy>
  <cp:revision>2</cp:revision>
  <dcterms:created xsi:type="dcterms:W3CDTF">2006-08-16T00:00:00Z</dcterms:created>
  <dcterms:modified xsi:type="dcterms:W3CDTF">2026-02-12T02:10:47Z</dcterms:modified>
</cp:coreProperties>
</file>