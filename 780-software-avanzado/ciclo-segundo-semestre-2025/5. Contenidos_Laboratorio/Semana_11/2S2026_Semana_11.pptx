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1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0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iQ8Y0uMRXjqRCZ5snkrE5OxZ7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FF8CEB-B0E9-4877-8986-A95859FF1C04}">
  <a:tblStyle styleId="{DCFF8CEB-B0E9-4877-8986-A95859FF1C0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91EB330-50F6-4ACE-A556-FCC03B3E2DE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51" Type="http://customschemas.google.com/relationships/presentationmetadata" Target="metadata"/><Relationship Id="rId3" Type="http://schemas.openxmlformats.org/officeDocument/2006/relationships/slide" Target="slides/slide2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4afea4f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64afea4f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64afea4f6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64afea4f63_0_0"/>
          <p:cNvSpPr/>
          <p:nvPr/>
        </p:nvSpPr>
        <p:spPr>
          <a:xfrm>
            <a:off x="2325912" y="3974253"/>
            <a:ext cx="4910000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2600"/>
            </a:pPr>
            <a:r>
              <a:rPr lang="es-GT" sz="1733" dirty="0">
                <a:latin typeface="Calibri"/>
                <a:ea typeface="Calibri"/>
                <a:cs typeface="Calibri"/>
                <a:sym typeface="Calibri"/>
              </a:rPr>
              <a:t>Kevin Raúl Pozuelos Estrada</a:t>
            </a:r>
          </a:p>
        </p:txBody>
      </p:sp>
      <p:sp>
        <p:nvSpPr>
          <p:cNvPr id="90" name="Google Shape;90;g364afea4f63_0_0"/>
          <p:cNvSpPr/>
          <p:nvPr/>
        </p:nvSpPr>
        <p:spPr>
          <a:xfrm>
            <a:off x="1323637" y="3116227"/>
            <a:ext cx="7811264" cy="483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Software Avanzado </a:t>
            </a:r>
            <a:r>
              <a:rPr lang="es-GT" sz="2067" dirty="0" err="1">
                <a:latin typeface="Calibri"/>
                <a:ea typeface="Calibri"/>
                <a:cs typeface="Calibri"/>
                <a:sym typeface="Calibri"/>
              </a:rPr>
              <a:t>Seccion</a:t>
            </a: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 B</a:t>
            </a:r>
          </a:p>
        </p:txBody>
      </p:sp>
      <p:sp>
        <p:nvSpPr>
          <p:cNvPr id="2" name="Google Shape;90;g364afea4f63_0_0">
            <a:extLst>
              <a:ext uri="{FF2B5EF4-FFF2-40B4-BE49-F238E27FC236}">
                <a16:creationId xmlns:a16="http://schemas.microsoft.com/office/drawing/2014/main" id="{AA80F5D4-5F81-3DA5-7699-90AF77AA0920}"/>
              </a:ext>
            </a:extLst>
          </p:cNvPr>
          <p:cNvSpPr/>
          <p:nvPr/>
        </p:nvSpPr>
        <p:spPr>
          <a:xfrm>
            <a:off x="9134901" y="1296527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9/04/2026</a:t>
            </a:r>
          </a:p>
        </p:txBody>
      </p:sp>
      <p:sp>
        <p:nvSpPr>
          <p:cNvPr id="3" name="Google Shape;90;g364afea4f63_0_0">
            <a:extLst>
              <a:ext uri="{FF2B5EF4-FFF2-40B4-BE49-F238E27FC236}">
                <a16:creationId xmlns:a16="http://schemas.microsoft.com/office/drawing/2014/main" id="{5D6A39ED-BAEA-CDC0-8EF8-624CF982507D}"/>
              </a:ext>
            </a:extLst>
          </p:cNvPr>
          <p:cNvSpPr/>
          <p:nvPr/>
        </p:nvSpPr>
        <p:spPr>
          <a:xfrm>
            <a:off x="9134901" y="1819701"/>
            <a:ext cx="2875129" cy="5231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100"/>
            </a:pPr>
            <a:r>
              <a:rPr lang="es-GT" sz="2067" dirty="0">
                <a:latin typeface="Calibri"/>
                <a:ea typeface="Calibri"/>
                <a:cs typeface="Calibri"/>
                <a:sym typeface="Calibri"/>
              </a:rPr>
              <a:t>17:20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2"/>
          <p:cNvGrpSpPr/>
          <p:nvPr/>
        </p:nvGrpSpPr>
        <p:grpSpPr>
          <a:xfrm>
            <a:off x="434496" y="2583898"/>
            <a:ext cx="3075701" cy="563590"/>
            <a:chOff x="0" y="-76200"/>
            <a:chExt cx="1964221" cy="35992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Iniciales</a:t>
              </a:r>
              <a:endParaRPr lang="es-GT" sz="933" dirty="0"/>
            </a:p>
          </p:txBody>
        </p:sp>
      </p:grpSp>
      <p:sp>
        <p:nvSpPr>
          <p:cNvPr id="110" name="Google Shape;110;p2"/>
          <p:cNvSpPr/>
          <p:nvPr/>
        </p:nvSpPr>
        <p:spPr>
          <a:xfrm>
            <a:off x="585766" y="273790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244656" y="1586934"/>
            <a:ext cx="2743460" cy="1037656"/>
            <a:chOff x="0" y="-76200"/>
            <a:chExt cx="1083836" cy="409938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RECORDATORIOS</a:t>
              </a:r>
              <a:endParaRPr lang="es-GT" sz="933" dirty="0"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434499" y="1864102"/>
            <a:ext cx="502595" cy="581952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15" name="Google Shape;115;p2"/>
          <p:cNvSpPr txBox="1"/>
          <p:nvPr/>
        </p:nvSpPr>
        <p:spPr>
          <a:xfrm>
            <a:off x="434500" y="327267"/>
            <a:ext cx="3996139" cy="147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  <a:buSzPts val="15000"/>
            </a:pPr>
            <a:r>
              <a:rPr lang="es-GT" sz="8334" dirty="0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lang="es-GT" sz="800" dirty="0"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7826537" y="2155078"/>
            <a:ext cx="3569097" cy="844775"/>
          </a:xfrm>
          <a:custGeom>
            <a:avLst/>
            <a:gdLst/>
            <a:ahLst/>
            <a:cxnLst/>
            <a:rect l="l" t="t" r="r" b="b"/>
            <a:pathLst>
              <a:path w="1410014" h="333738" extrusionOk="0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23" name="Google Shape;123;p2"/>
          <p:cNvGrpSpPr/>
          <p:nvPr/>
        </p:nvGrpSpPr>
        <p:grpSpPr>
          <a:xfrm>
            <a:off x="127937" y="3182223"/>
            <a:ext cx="3464777" cy="563590"/>
            <a:chOff x="0" y="-72964"/>
            <a:chExt cx="2212695" cy="359923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362774" y="-7296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Anuncios Generales</a:t>
              </a:r>
              <a:endParaRPr lang="es-GT" sz="933" dirty="0"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332837" y="3820929"/>
            <a:ext cx="4401088" cy="610838"/>
            <a:chOff x="0" y="0"/>
            <a:chExt cx="1971992" cy="390097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31" name="Google Shape;131;p2"/>
            <p:cNvSpPr txBox="1"/>
            <p:nvPr/>
          </p:nvSpPr>
          <p:spPr>
            <a:xfrm>
              <a:off x="122071" y="30174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n-US" sz="2000" dirty="0" err="1">
                  <a:solidFill>
                    <a:schemeClr val="tx1"/>
                  </a:solidFill>
                </a:rPr>
                <a:t>Perfil</a:t>
              </a:r>
              <a:r>
                <a:rPr lang="en-US" sz="2000" dirty="0">
                  <a:solidFill>
                    <a:schemeClr val="tx1"/>
                  </a:solidFill>
                </a:rPr>
                <a:t> de un </a:t>
              </a:r>
              <a:r>
                <a:rPr lang="en-US" sz="2000" dirty="0" err="1">
                  <a:solidFill>
                    <a:schemeClr val="tx1"/>
                  </a:solidFill>
                </a:rPr>
                <a:t>Ingeniero</a:t>
              </a:r>
              <a:r>
                <a:rPr lang="en-US" sz="2000" dirty="0">
                  <a:solidFill>
                    <a:schemeClr val="tx1"/>
                  </a:solidFill>
                </a:rPr>
                <a:t> RSE</a:t>
              </a:r>
              <a:endParaRPr lang="es-GT" sz="933" dirty="0">
                <a:solidFill>
                  <a:schemeClr val="tx1"/>
                </a:solidFill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585766" y="332646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137" name="Google Shape;137;p2"/>
          <p:cNvSpPr/>
          <p:nvPr/>
        </p:nvSpPr>
        <p:spPr>
          <a:xfrm>
            <a:off x="585766" y="3955056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grpSp>
        <p:nvGrpSpPr>
          <p:cNvPr id="10" name="Google Shape;132;p2">
            <a:extLst>
              <a:ext uri="{FF2B5EF4-FFF2-40B4-BE49-F238E27FC236}">
                <a16:creationId xmlns:a16="http://schemas.microsoft.com/office/drawing/2014/main" id="{DB5BB7A4-AE5E-86F8-4B7F-CEE5EE26A0E6}"/>
              </a:ext>
            </a:extLst>
          </p:cNvPr>
          <p:cNvGrpSpPr/>
          <p:nvPr/>
        </p:nvGrpSpPr>
        <p:grpSpPr>
          <a:xfrm>
            <a:off x="523984" y="4748297"/>
            <a:ext cx="6212094" cy="1355459"/>
            <a:chOff x="-2002980" y="-581908"/>
            <a:chExt cx="3967201" cy="865631"/>
          </a:xfrm>
        </p:grpSpPr>
        <p:sp>
          <p:nvSpPr>
            <p:cNvPr id="11" name="Google Shape;133;p2">
              <a:extLst>
                <a:ext uri="{FF2B5EF4-FFF2-40B4-BE49-F238E27FC236}">
                  <a16:creationId xmlns:a16="http://schemas.microsoft.com/office/drawing/2014/main" id="{F01663B2-C686-2FF3-A923-B7E76CB920D4}"/>
                </a:ext>
              </a:extLst>
            </p:cNvPr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 sz="933" dirty="0"/>
            </a:p>
          </p:txBody>
        </p:sp>
        <p:sp>
          <p:nvSpPr>
            <p:cNvPr id="12" name="Google Shape;134;p2">
              <a:extLst>
                <a:ext uri="{FF2B5EF4-FFF2-40B4-BE49-F238E27FC236}">
                  <a16:creationId xmlns:a16="http://schemas.microsoft.com/office/drawing/2014/main" id="{4673B32B-14F2-36D6-8FDF-88189ED3BF90}"/>
                </a:ext>
              </a:extLst>
            </p:cNvPr>
            <p:cNvSpPr txBox="1"/>
            <p:nvPr/>
          </p:nvSpPr>
          <p:spPr>
            <a:xfrm>
              <a:off x="-2002980" y="-581908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8017"/>
                </a:lnSpc>
                <a:buSzPts val="2799"/>
              </a:pPr>
              <a:r>
                <a:rPr lang="es-GT" sz="1866" dirty="0"/>
                <a:t>Dudas Finales</a:t>
              </a:r>
              <a:endParaRPr lang="es-GT" sz="933" dirty="0"/>
            </a:p>
          </p:txBody>
        </p:sp>
      </p:grpSp>
      <p:sp>
        <p:nvSpPr>
          <p:cNvPr id="13" name="Google Shape;138;p2">
            <a:extLst>
              <a:ext uri="{FF2B5EF4-FFF2-40B4-BE49-F238E27FC236}">
                <a16:creationId xmlns:a16="http://schemas.microsoft.com/office/drawing/2014/main" id="{DB9B4FB8-5289-6F72-4D0C-D213312F8747}"/>
              </a:ext>
            </a:extLst>
          </p:cNvPr>
          <p:cNvSpPr/>
          <p:nvPr/>
        </p:nvSpPr>
        <p:spPr>
          <a:xfrm>
            <a:off x="555893" y="4846728"/>
            <a:ext cx="302239" cy="366729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ECF2E3-FE04-560E-32A0-3930642F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¿Qué es SRE?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AC53D-C9EB-D2EF-F343-6845D4756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/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Disciplina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que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combina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desarrollo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de software y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operaciones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indent="0" algn="ctr"/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Busca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mejorar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la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confiabilidad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escalabilidad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automatización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sistemas</a:t>
            </a:r>
            <a:r>
              <a: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0" indent="0" algn="ctr"/>
            <a:endParaRPr lang="en-US" sz="1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6784083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FAC3D0-F194-4FF5-2067-08D2AB8E2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65" y="1495956"/>
            <a:ext cx="6418471" cy="26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Objetivos Principales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8CCB3B-0C84-B5AA-DCBD-0D111DE34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6765" y="4414123"/>
            <a:ext cx="6418471" cy="101791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/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Garantizar alta disponibilidad</a:t>
            </a:r>
          </a:p>
          <a:p>
            <a:pPr marL="0" indent="0" algn="ctr"/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Reducir incidentes</a:t>
            </a:r>
          </a:p>
          <a:p>
            <a:pPr marL="0" indent="0" algn="ctr"/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Automatizar tareas operativas</a:t>
            </a:r>
          </a:p>
          <a:p>
            <a:pPr marL="0" indent="0" algn="ctr"/>
            <a:r>
              <a:rPr lang="en-US" sz="7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Mejorar rendimiento y escalabilidad</a:t>
            </a:r>
          </a:p>
          <a:p>
            <a:pPr marL="0" indent="0" algn="ctr"/>
            <a:endParaRPr lang="en-US" sz="7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360190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F3CA2E-A850-4283-0B59-1FC5C0BE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510803"/>
            <a:ext cx="4069306" cy="53397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Habilidades Técnicas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87F661-9A52-1CFF-C3BA-01127FB47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7417" y="3632200"/>
            <a:ext cx="3336001" cy="23548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sz="19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Linux y redes</a:t>
            </a:r>
          </a:p>
          <a:p>
            <a:pPr marL="0" indent="0"/>
            <a:r>
              <a:rPr lang="en-US" sz="19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9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Programación</a:t>
            </a:r>
            <a:r>
              <a:rPr lang="en-US" sz="19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y scripting</a:t>
            </a:r>
          </a:p>
          <a:p>
            <a:pPr marL="0" indent="0"/>
            <a:r>
              <a:rPr lang="en-US" sz="19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Cloud Computing</a:t>
            </a:r>
          </a:p>
          <a:p>
            <a:pPr marL="0" indent="0"/>
            <a:r>
              <a:rPr lang="en-US" sz="19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9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Contenedores</a:t>
            </a:r>
            <a:r>
              <a:rPr lang="en-US" sz="19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y Kubernetes</a:t>
            </a:r>
          </a:p>
          <a:p>
            <a:pPr marL="0" indent="0"/>
            <a:r>
              <a:rPr lang="en-US" sz="19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CI/CD</a:t>
            </a:r>
          </a:p>
          <a:p>
            <a:pPr marL="0" indent="0"/>
            <a:endParaRPr lang="en-US" sz="19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419005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F1CDAB-A597-3F05-7107-EDF07E74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510803"/>
            <a:ext cx="4069306" cy="53397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Monitoreo</a:t>
            </a: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Observabilidad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B27791-3294-9427-861A-2237D59DC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4350" y="1561622"/>
            <a:ext cx="3336001" cy="23548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Métricas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Logs</a:t>
            </a:r>
          </a:p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Trazas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distribuidas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Herramientas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Prometheus, Grafana, ELK y OpenTelemetry</a:t>
            </a:r>
          </a:p>
          <a:p>
            <a:pPr marL="0" indent="0"/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573159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CD49E40-96E9-039B-2B47-0222F8CF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Gestion de </a:t>
            </a:r>
            <a:r>
              <a:rPr lang="en-US" sz="3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Incidentes</a:t>
            </a:r>
            <a:r>
              <a:rPr lang="en-US" sz="3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automatización</a:t>
            </a:r>
            <a:endParaRPr lang="en-US" sz="3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A82714-1BE7-4993-EA5E-867F39DC0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4687" y="841664"/>
            <a:ext cx="486760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Infraestructura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código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(Terraform)</a:t>
            </a: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Automatización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de• Respuesta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rápida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ante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fallos</a:t>
            </a:r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Análisis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postmortem</a:t>
            </a: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Prevención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recurrencias</a:t>
            </a:r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Gestión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 SLI, SLO y SLA</a:t>
            </a: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despliegues</a:t>
            </a:r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Gestión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configuraciones</a:t>
            </a:r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Reducción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errores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manuales</a:t>
            </a:r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pPr marL="0" indent="0"/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53951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92BE7E-2C58-7A90-D562-64561EA4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510803"/>
            <a:ext cx="4069306" cy="53397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Soft Skills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88AFF7-CCB8-3D65-7A95-6F78A9F45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7417" y="3632200"/>
            <a:ext cx="3336001" cy="235486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Comunicación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efectiva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Trabajo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equipo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Pensamiento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analítico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Resolución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problemas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20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Adaptabilidad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  <a:p>
            <a:pPr marL="0" indent="0"/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588481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78B9133-28BF-F558-B969-20BB44466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Herramientas Comunes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5F562D-6664-7B16-14FB-27279EC2E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4687" y="841664"/>
            <a:ext cx="486760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Docker</a:t>
            </a: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Kubernetes</a:t>
            </a: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Jenkins/GitHub Actions</a:t>
            </a: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Terraform</a:t>
            </a:r>
          </a:p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Grafana y Prometheus</a:t>
            </a:r>
          </a:p>
          <a:p>
            <a:pPr marL="0" indent="0"/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24624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5172CB-5CCE-37D4-5A3F-6A7D7925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C45807-511F-A93F-71B5-959351D20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4687" y="841664"/>
            <a:ext cx="486760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El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ingeniero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SRE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garantiza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sistemas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confiables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escalables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eficientes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mediante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automatización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monitoreo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mejora</a:t>
            </a: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continua.</a:t>
            </a:r>
          </a:p>
          <a:p>
            <a:pPr marL="0" indent="0"/>
            <a:endParaRPr lang="en-US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9805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/>
          <p:nvPr/>
        </p:nvSpPr>
        <p:spPr>
          <a:xfrm>
            <a:off x="3047997" y="3450703"/>
            <a:ext cx="5772600" cy="195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04000"/>
              </a:lnSpc>
              <a:buSzPts val="6099"/>
            </a:pPr>
            <a:r>
              <a:rPr lang="es-GT" sz="4066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lang="es-GT" sz="933" dirty="0">
              <a:latin typeface="Impact"/>
              <a:ea typeface="Impact"/>
              <a:cs typeface="Impact"/>
              <a:sym typeface="Impact"/>
            </a:endParaRPr>
          </a:p>
          <a:p>
            <a:pPr algn="just">
              <a:lnSpc>
                <a:spcPct val="104000"/>
              </a:lnSpc>
              <a:buSzPts val="6099"/>
            </a:pPr>
            <a:endParaRPr lang="es-GT" sz="4066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176909" y="397733"/>
            <a:ext cx="1838179" cy="251398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 sz="933" dirty="0"/>
          </a:p>
        </p:txBody>
      </p:sp>
      <p:sp>
        <p:nvSpPr>
          <p:cNvPr id="224" name="Google Shape;224;p9"/>
          <p:cNvSpPr txBox="1"/>
          <p:nvPr/>
        </p:nvSpPr>
        <p:spPr>
          <a:xfrm>
            <a:off x="1607399" y="5266490"/>
            <a:ext cx="8977203" cy="60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8000"/>
              </a:lnSpc>
              <a:buSzPts val="2000"/>
            </a:pPr>
            <a:r>
              <a:rPr lang="es-GT" sz="1333" dirty="0">
                <a:solidFill>
                  <a:srgbClr val="131416"/>
                </a:solidFill>
              </a:rPr>
              <a:t>RECUERDA QUE TENEMOS NUESTRO FORO SEMANAL DONDE PUEDES CONSULTAR CUALQUIER DUDA QUE TE SURJA EN LA SEMANA</a:t>
            </a:r>
            <a:endParaRPr lang="es-GT" sz="933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227</Words>
  <Application>Microsoft Office PowerPoint</Application>
  <PresentationFormat>Panorámica</PresentationFormat>
  <Paragraphs>54</Paragraphs>
  <Slides>11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Impact</vt:lpstr>
      <vt:lpstr>Pacifico</vt:lpstr>
      <vt:lpstr>Office Theme</vt:lpstr>
      <vt:lpstr>Presentación de PowerPoint</vt:lpstr>
      <vt:lpstr>Presentación de PowerPoint</vt:lpstr>
      <vt:lpstr>¿Qué es SRE?</vt:lpstr>
      <vt:lpstr>Objetivos Principales</vt:lpstr>
      <vt:lpstr>Habilidades Técnicas</vt:lpstr>
      <vt:lpstr>Monitoreo y Observabilidad</vt:lpstr>
      <vt:lpstr>Gestion de Incidentes automatización</vt:lpstr>
      <vt:lpstr>Soft Skills</vt:lpstr>
      <vt:lpstr>Herramientas Comunes</vt:lpstr>
      <vt:lpstr>Conclusión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Pozuelos</dc:creator>
  <cp:lastModifiedBy>Kevin Pozuelos</cp:lastModifiedBy>
  <cp:revision>9</cp:revision>
  <dcterms:created xsi:type="dcterms:W3CDTF">2021-01-24T02:47:27Z</dcterms:created>
  <dcterms:modified xsi:type="dcterms:W3CDTF">2026-05-09T05:31:00Z</dcterms:modified>
</cp:coreProperties>
</file>