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Pacifico"/>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TebB0UMa7FPCDE/ff6erA2xPo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acific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ef875a66c8_0_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 name="Google Shape;79;g1ef875a66c8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s-ES" sz="1200">
                <a:solidFill>
                  <a:schemeClr val="dk1"/>
                </a:solidFill>
                <a:latin typeface="Calibri"/>
                <a:ea typeface="Calibri"/>
                <a:cs typeface="Calibri"/>
                <a:sym typeface="Calibri"/>
              </a:rPr>
              <a:t>software </a:t>
            </a:r>
            <a:r>
              <a:rPr lang="es-E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24" name="Google Shape;124;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f1d637526d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1f1d637526d_2_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s-ES" sz="1200">
                <a:solidFill>
                  <a:schemeClr val="dk1"/>
                </a:solidFill>
                <a:latin typeface="Calibri"/>
                <a:ea typeface="Calibri"/>
                <a:cs typeface="Calibri"/>
                <a:sym typeface="Calibri"/>
              </a:rPr>
              <a:t>software </a:t>
            </a:r>
            <a:r>
              <a:rPr lang="es-E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33" name="Google Shape;133;g1f1d637526d_2_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f1d637526d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1f1d637526d_2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s-ES" sz="1200">
                <a:solidFill>
                  <a:schemeClr val="dk1"/>
                </a:solidFill>
                <a:latin typeface="Calibri"/>
                <a:ea typeface="Calibri"/>
                <a:cs typeface="Calibri"/>
                <a:sym typeface="Calibri"/>
              </a:rPr>
              <a:t>software </a:t>
            </a:r>
            <a:r>
              <a:rPr lang="es-E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49" name="Google Shape;149;g1f1d637526d_2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f1d637526d_2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1f1d637526d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f1d637526d_2_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1f1d637526d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f1d637526d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1f1d637526d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f1d637526d_2_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1f1d637526d_2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f1d637526d_2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1f1d637526d_2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f1d637526d_2_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1f1d637526d_2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f1d637526d_2_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1f1d637526d_2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f1d637526d_2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1f1d637526d_2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f1d637526d_2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1f1d637526d_2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a:t>Enunciado</a:t>
            </a:r>
            <a:endParaRPr/>
          </a:p>
          <a:p>
            <a:pPr indent="0" lvl="0" marL="0" rtl="0" algn="l">
              <a:lnSpc>
                <a:spcPct val="100000"/>
              </a:lnSpc>
              <a:spcBef>
                <a:spcPts val="0"/>
              </a:spcBef>
              <a:spcAft>
                <a:spcPts val="0"/>
              </a:spcAft>
              <a:buSzPts val="1400"/>
              <a:buNone/>
            </a:pPr>
            <a:r>
              <a:rPr lang="es-ES"/>
              <a:t>Hc</a:t>
            </a:r>
            <a:endParaRPr/>
          </a:p>
          <a:p>
            <a:pPr indent="0" lvl="0" marL="0" rtl="0" algn="l">
              <a:lnSpc>
                <a:spcPct val="100000"/>
              </a:lnSpc>
              <a:spcBef>
                <a:spcPts val="0"/>
              </a:spcBef>
              <a:spcAft>
                <a:spcPts val="0"/>
              </a:spcAft>
              <a:buSzPts val="1400"/>
              <a:buNone/>
            </a:pPr>
            <a:r>
              <a:rPr lang="es-ES"/>
              <a:t>dudas</a:t>
            </a:r>
            <a:endParaRPr/>
          </a:p>
        </p:txBody>
      </p:sp>
      <p:sp>
        <p:nvSpPr>
          <p:cNvPr id="313" name="Google Shape;31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 name="Shape 19"/>
        <p:cNvGrpSpPr/>
        <p:nvPr/>
      </p:nvGrpSpPr>
      <p:grpSpPr>
        <a:xfrm>
          <a:off x="0" y="0"/>
          <a:ext cx="0" cy="0"/>
          <a:chOff x="0" y="0"/>
          <a:chExt cx="0" cy="0"/>
        </a:xfrm>
      </p:grpSpPr>
      <p:sp>
        <p:nvSpPr>
          <p:cNvPr id="20" name="Google Shape;2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5" name="Shape 25"/>
        <p:cNvGrpSpPr/>
        <p:nvPr/>
      </p:nvGrpSpPr>
      <p:grpSpPr>
        <a:xfrm>
          <a:off x="0" y="0"/>
          <a:ext cx="0" cy="0"/>
          <a:chOff x="0" y="0"/>
          <a:chExt cx="0" cy="0"/>
        </a:xfrm>
      </p:grpSpPr>
      <p:sp>
        <p:nvSpPr>
          <p:cNvPr id="26" name="Google Shape;2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2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2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2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2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4" name="Google Shape;54;p25"/>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 name="Google Shape;55;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p:nvPr>
            <p:ph idx="2" type="pic"/>
          </p:nvPr>
        </p:nvSpPr>
        <p:spPr>
          <a:xfrm>
            <a:off x="5183188" y="987425"/>
            <a:ext cx="6172200" cy="4873500"/>
          </a:xfrm>
          <a:prstGeom prst="rect">
            <a:avLst/>
          </a:prstGeom>
          <a:noFill/>
          <a:ln>
            <a:noFill/>
          </a:ln>
        </p:spPr>
      </p:sp>
      <p:sp>
        <p:nvSpPr>
          <p:cNvPr id="61" name="Google Shape;61;p26"/>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5" name="Shape 65"/>
        <p:cNvGrpSpPr/>
        <p:nvPr/>
      </p:nvGrpSpPr>
      <p:grpSpPr>
        <a:xfrm>
          <a:off x="0" y="0"/>
          <a:ext cx="0" cy="0"/>
          <a:chOff x="0" y="0"/>
          <a:chExt cx="0" cy="0"/>
        </a:xfrm>
      </p:grpSpPr>
      <p:sp>
        <p:nvSpPr>
          <p:cNvPr id="66" name="Google Shape;66;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1" name="Shape 71"/>
        <p:cNvGrpSpPr/>
        <p:nvPr/>
      </p:nvGrpSpPr>
      <p:grpSpPr>
        <a:xfrm>
          <a:off x="0" y="0"/>
          <a:ext cx="0" cy="0"/>
          <a:chOff x="0" y="0"/>
          <a:chExt cx="0" cy="0"/>
        </a:xfrm>
      </p:grpSpPr>
      <p:sp>
        <p:nvSpPr>
          <p:cNvPr id="72" name="Google Shape;72;p28"/>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1ef875a66c8_0_65"/>
          <p:cNvPicPr preferRelativeResize="0"/>
          <p:nvPr/>
        </p:nvPicPr>
        <p:blipFill rotWithShape="1">
          <a:blip r:embed="rId3">
            <a:alphaModFix/>
          </a:blip>
          <a:srcRect b="0" l="0" r="0" t="0"/>
          <a:stretch/>
        </p:blipFill>
        <p:spPr>
          <a:xfrm>
            <a:off x="0" y="0"/>
            <a:ext cx="12192000" cy="6858002"/>
          </a:xfrm>
          <a:prstGeom prst="rect">
            <a:avLst/>
          </a:prstGeom>
          <a:noFill/>
          <a:ln>
            <a:noFill/>
          </a:ln>
        </p:spPr>
      </p:pic>
      <p:sp>
        <p:nvSpPr>
          <p:cNvPr id="82" name="Google Shape;82;g1ef875a66c8_0_65"/>
          <p:cNvSpPr/>
          <p:nvPr/>
        </p:nvSpPr>
        <p:spPr>
          <a:xfrm>
            <a:off x="2325912" y="3974253"/>
            <a:ext cx="4910000" cy="4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None/>
            </a:pPr>
            <a:r>
              <a:rPr b="0" i="0" lang="es-ES" sz="1733" u="none" cap="none" strike="noStrike">
                <a:solidFill>
                  <a:srgbClr val="000000"/>
                </a:solidFill>
                <a:latin typeface="Calibri"/>
                <a:ea typeface="Calibri"/>
                <a:cs typeface="Calibri"/>
                <a:sym typeface="Calibri"/>
              </a:rPr>
              <a:t>Kevin Raúl Pozuelos Estrada</a:t>
            </a:r>
            <a:endParaRPr/>
          </a:p>
        </p:txBody>
      </p:sp>
      <p:sp>
        <p:nvSpPr>
          <p:cNvPr id="83" name="Google Shape;83;g1ef875a66c8_0_65"/>
          <p:cNvSpPr/>
          <p:nvPr/>
        </p:nvSpPr>
        <p:spPr>
          <a:xfrm>
            <a:off x="1323637" y="3116227"/>
            <a:ext cx="7811264" cy="4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None/>
            </a:pPr>
            <a:r>
              <a:rPr b="0" i="0" lang="es-ES" sz="2067" u="none" cap="none" strike="noStrike">
                <a:solidFill>
                  <a:srgbClr val="000000"/>
                </a:solidFill>
                <a:latin typeface="Calibri"/>
                <a:ea typeface="Calibri"/>
                <a:cs typeface="Calibri"/>
                <a:sym typeface="Calibri"/>
              </a:rPr>
              <a:t>Software Avanzado Sección B</a:t>
            </a:r>
            <a:endParaRPr/>
          </a:p>
        </p:txBody>
      </p:sp>
      <p:sp>
        <p:nvSpPr>
          <p:cNvPr id="84" name="Google Shape;84;g1ef875a66c8_0_65"/>
          <p:cNvSpPr/>
          <p:nvPr/>
        </p:nvSpPr>
        <p:spPr>
          <a:xfrm>
            <a:off x="9134901" y="1296527"/>
            <a:ext cx="2875129" cy="523174"/>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None/>
            </a:pPr>
            <a:r>
              <a:rPr b="0" i="0" lang="es-ES" sz="2067" u="none" cap="none" strike="noStrike">
                <a:solidFill>
                  <a:srgbClr val="000000"/>
                </a:solidFill>
                <a:latin typeface="Calibri"/>
                <a:ea typeface="Calibri"/>
                <a:cs typeface="Calibri"/>
                <a:sym typeface="Calibri"/>
              </a:rPr>
              <a:t>19/03/2026</a:t>
            </a:r>
            <a:endParaRPr/>
          </a:p>
        </p:txBody>
      </p:sp>
      <p:sp>
        <p:nvSpPr>
          <p:cNvPr id="85" name="Google Shape;85;g1ef875a66c8_0_65"/>
          <p:cNvSpPr/>
          <p:nvPr/>
        </p:nvSpPr>
        <p:spPr>
          <a:xfrm>
            <a:off x="9134901" y="1819701"/>
            <a:ext cx="2875129" cy="523174"/>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None/>
            </a:pPr>
            <a:r>
              <a:rPr b="0" i="0" lang="es-ES" sz="2067" u="none" cap="none" strike="noStrike">
                <a:solidFill>
                  <a:srgbClr val="000000"/>
                </a:solidFill>
                <a:latin typeface="Calibri"/>
                <a:ea typeface="Calibri"/>
                <a:cs typeface="Calibri"/>
                <a:sym typeface="Calibri"/>
              </a:rPr>
              <a:t>17:20</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grpSp>
        <p:nvGrpSpPr>
          <p:cNvPr id="90" name="Google Shape;90;p7"/>
          <p:cNvGrpSpPr/>
          <p:nvPr/>
        </p:nvGrpSpPr>
        <p:grpSpPr>
          <a:xfrm>
            <a:off x="434496" y="2583898"/>
            <a:ext cx="3075701" cy="563590"/>
            <a:chOff x="0" y="-76200"/>
            <a:chExt cx="1964221" cy="359923"/>
          </a:xfrm>
        </p:grpSpPr>
        <p:sp>
          <p:nvSpPr>
            <p:cNvPr id="91" name="Google Shape;91;p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92" name="Google Shape;92;p7"/>
            <p:cNvSpPr txBox="1"/>
            <p:nvPr/>
          </p:nvSpPr>
          <p:spPr>
            <a:xfrm>
              <a:off x="0" y="-76200"/>
              <a:ext cx="1849921" cy="359923"/>
            </a:xfrm>
            <a:prstGeom prst="rect">
              <a:avLst/>
            </a:prstGeom>
            <a:noFill/>
            <a:ln>
              <a:noFill/>
            </a:ln>
          </p:spPr>
          <p:txBody>
            <a:bodyPr anchorCtr="0" anchor="ctr" bIns="33850" lIns="33850" spcFirstLastPara="1" rIns="33850" wrap="square" tIns="33850">
              <a:noAutofit/>
            </a:bodyPr>
            <a:lstStyle/>
            <a:p>
              <a:pPr indent="0" lvl="0" marL="0" marR="0" rtl="0" algn="ctr">
                <a:lnSpc>
                  <a:spcPct val="148017"/>
                </a:lnSpc>
                <a:spcBef>
                  <a:spcPts val="0"/>
                </a:spcBef>
                <a:spcAft>
                  <a:spcPts val="0"/>
                </a:spcAft>
                <a:buNone/>
              </a:pPr>
              <a:r>
                <a:rPr b="0" i="0" lang="es-ES" sz="1866" u="none" cap="none" strike="noStrike">
                  <a:solidFill>
                    <a:srgbClr val="000000"/>
                  </a:solidFill>
                  <a:latin typeface="Arial"/>
                  <a:ea typeface="Arial"/>
                  <a:cs typeface="Arial"/>
                  <a:sym typeface="Arial"/>
                </a:rPr>
                <a:t>Dudas Iniciales</a:t>
              </a:r>
              <a:endParaRPr b="0" i="0" sz="933" u="none" cap="none" strike="noStrike">
                <a:solidFill>
                  <a:srgbClr val="000000"/>
                </a:solidFill>
                <a:latin typeface="Arial"/>
                <a:ea typeface="Arial"/>
                <a:cs typeface="Arial"/>
                <a:sym typeface="Arial"/>
              </a:endParaRPr>
            </a:p>
          </p:txBody>
        </p:sp>
      </p:grpSp>
      <p:sp>
        <p:nvSpPr>
          <p:cNvPr id="93" name="Google Shape;93;p7"/>
          <p:cNvSpPr/>
          <p:nvPr/>
        </p:nvSpPr>
        <p:spPr>
          <a:xfrm>
            <a:off x="585766" y="2737906"/>
            <a:ext cx="302239" cy="366729"/>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grpSp>
        <p:nvGrpSpPr>
          <p:cNvPr id="94" name="Google Shape;94;p7"/>
          <p:cNvGrpSpPr/>
          <p:nvPr/>
        </p:nvGrpSpPr>
        <p:grpSpPr>
          <a:xfrm>
            <a:off x="1244656" y="1586934"/>
            <a:ext cx="2743460" cy="1037656"/>
            <a:chOff x="0" y="-76200"/>
            <a:chExt cx="1083836" cy="409938"/>
          </a:xfrm>
        </p:grpSpPr>
        <p:sp>
          <p:nvSpPr>
            <p:cNvPr id="95" name="Google Shape;95;p7"/>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96" name="Google Shape;96;p7"/>
            <p:cNvSpPr txBox="1"/>
            <p:nvPr/>
          </p:nvSpPr>
          <p:spPr>
            <a:xfrm>
              <a:off x="0" y="-76200"/>
              <a:ext cx="969536" cy="409938"/>
            </a:xfrm>
            <a:prstGeom prst="rect">
              <a:avLst/>
            </a:prstGeom>
            <a:noFill/>
            <a:ln>
              <a:noFill/>
            </a:ln>
          </p:spPr>
          <p:txBody>
            <a:bodyPr anchorCtr="0" anchor="ctr" bIns="33850" lIns="33850" spcFirstLastPara="1" rIns="33850" wrap="square" tIns="33850">
              <a:noAutofit/>
            </a:bodyPr>
            <a:lstStyle/>
            <a:p>
              <a:pPr indent="0" lvl="0" marL="0" marR="0" rtl="0" algn="ctr">
                <a:lnSpc>
                  <a:spcPct val="148017"/>
                </a:lnSpc>
                <a:spcBef>
                  <a:spcPts val="0"/>
                </a:spcBef>
                <a:spcAft>
                  <a:spcPts val="0"/>
                </a:spcAft>
                <a:buNone/>
              </a:pPr>
              <a:r>
                <a:rPr b="0" i="0" lang="es-ES" sz="1866" u="none" cap="none" strike="noStrike">
                  <a:solidFill>
                    <a:srgbClr val="000000"/>
                  </a:solidFill>
                  <a:latin typeface="Arial"/>
                  <a:ea typeface="Arial"/>
                  <a:cs typeface="Arial"/>
                  <a:sym typeface="Arial"/>
                </a:rPr>
                <a:t>RECORDATORIOS</a:t>
              </a:r>
              <a:endParaRPr b="0" i="0" sz="933" u="none" cap="none" strike="noStrike">
                <a:solidFill>
                  <a:srgbClr val="000000"/>
                </a:solidFill>
                <a:latin typeface="Arial"/>
                <a:ea typeface="Arial"/>
                <a:cs typeface="Arial"/>
                <a:sym typeface="Arial"/>
              </a:endParaRPr>
            </a:p>
          </p:txBody>
        </p:sp>
      </p:grpSp>
      <p:sp>
        <p:nvSpPr>
          <p:cNvPr id="97" name="Google Shape;97;p7"/>
          <p:cNvSpPr/>
          <p:nvPr/>
        </p:nvSpPr>
        <p:spPr>
          <a:xfrm>
            <a:off x="434499" y="1864102"/>
            <a:ext cx="502595" cy="581952"/>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98" name="Google Shape;98;p7"/>
          <p:cNvSpPr txBox="1"/>
          <p:nvPr/>
        </p:nvSpPr>
        <p:spPr>
          <a:xfrm>
            <a:off x="434500" y="327267"/>
            <a:ext cx="3996139" cy="1474891"/>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ES" sz="8334" u="none" cap="none" strike="noStrike">
                <a:solidFill>
                  <a:srgbClr val="131416"/>
                </a:solidFill>
                <a:latin typeface="Pacifico"/>
                <a:ea typeface="Pacifico"/>
                <a:cs typeface="Pacifico"/>
                <a:sym typeface="Pacifico"/>
              </a:rPr>
              <a:t>Agenda</a:t>
            </a:r>
            <a:endParaRPr b="0" i="0" sz="800" u="none" cap="none" strike="noStrike">
              <a:solidFill>
                <a:srgbClr val="000000"/>
              </a:solidFill>
              <a:latin typeface="Pacifico"/>
              <a:ea typeface="Pacifico"/>
              <a:cs typeface="Pacifico"/>
              <a:sym typeface="Pacifico"/>
            </a:endParaRPr>
          </a:p>
        </p:txBody>
      </p:sp>
      <p:sp>
        <p:nvSpPr>
          <p:cNvPr id="99" name="Google Shape;99;p7"/>
          <p:cNvSpPr/>
          <p:nvPr/>
        </p:nvSpPr>
        <p:spPr>
          <a:xfrm>
            <a:off x="7826537" y="2155078"/>
            <a:ext cx="3569097" cy="844775"/>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grpSp>
        <p:nvGrpSpPr>
          <p:cNvPr id="100" name="Google Shape;100;p7"/>
          <p:cNvGrpSpPr/>
          <p:nvPr/>
        </p:nvGrpSpPr>
        <p:grpSpPr>
          <a:xfrm>
            <a:off x="127937" y="3182223"/>
            <a:ext cx="3464777" cy="563590"/>
            <a:chOff x="0" y="-72964"/>
            <a:chExt cx="2212695" cy="359923"/>
          </a:xfrm>
        </p:grpSpPr>
        <p:sp>
          <p:nvSpPr>
            <p:cNvPr id="101" name="Google Shape;101;p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02" name="Google Shape;102;p7"/>
            <p:cNvSpPr txBox="1"/>
            <p:nvPr/>
          </p:nvSpPr>
          <p:spPr>
            <a:xfrm>
              <a:off x="362774" y="-72964"/>
              <a:ext cx="1849921" cy="359923"/>
            </a:xfrm>
            <a:prstGeom prst="rect">
              <a:avLst/>
            </a:prstGeom>
            <a:noFill/>
            <a:ln>
              <a:noFill/>
            </a:ln>
          </p:spPr>
          <p:txBody>
            <a:bodyPr anchorCtr="0" anchor="ctr" bIns="33850" lIns="33850" spcFirstLastPara="1" rIns="33850" wrap="square" tIns="33850">
              <a:noAutofit/>
            </a:bodyPr>
            <a:lstStyle/>
            <a:p>
              <a:pPr indent="0" lvl="0" marL="0" marR="0" rtl="0" algn="ctr">
                <a:lnSpc>
                  <a:spcPct val="148017"/>
                </a:lnSpc>
                <a:spcBef>
                  <a:spcPts val="0"/>
                </a:spcBef>
                <a:spcAft>
                  <a:spcPts val="0"/>
                </a:spcAft>
                <a:buNone/>
              </a:pPr>
              <a:r>
                <a:rPr b="0" i="0" lang="es-ES" sz="1866" u="none" cap="none" strike="noStrike">
                  <a:solidFill>
                    <a:srgbClr val="000000"/>
                  </a:solidFill>
                  <a:latin typeface="Arial"/>
                  <a:ea typeface="Arial"/>
                  <a:cs typeface="Arial"/>
                  <a:sym typeface="Arial"/>
                </a:rPr>
                <a:t>Anuncios Generales</a:t>
              </a:r>
              <a:endParaRPr b="0" i="0" sz="933" u="none" cap="none" strike="noStrike">
                <a:solidFill>
                  <a:srgbClr val="000000"/>
                </a:solidFill>
                <a:latin typeface="Arial"/>
                <a:ea typeface="Arial"/>
                <a:cs typeface="Arial"/>
                <a:sym typeface="Arial"/>
              </a:endParaRPr>
            </a:p>
          </p:txBody>
        </p:sp>
      </p:grpSp>
      <p:grpSp>
        <p:nvGrpSpPr>
          <p:cNvPr id="103" name="Google Shape;103;p7"/>
          <p:cNvGrpSpPr/>
          <p:nvPr/>
        </p:nvGrpSpPr>
        <p:grpSpPr>
          <a:xfrm>
            <a:off x="-1619984" y="3947069"/>
            <a:ext cx="8303796" cy="616310"/>
            <a:chOff x="-424624" y="-109868"/>
            <a:chExt cx="2388845" cy="393591"/>
          </a:xfrm>
        </p:grpSpPr>
        <p:sp>
          <p:nvSpPr>
            <p:cNvPr id="104" name="Google Shape;104;p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05" name="Google Shape;105;p7"/>
            <p:cNvSpPr txBox="1"/>
            <p:nvPr/>
          </p:nvSpPr>
          <p:spPr>
            <a:xfrm>
              <a:off x="-424624" y="-109868"/>
              <a:ext cx="2056962" cy="359923"/>
            </a:xfrm>
            <a:prstGeom prst="rect">
              <a:avLst/>
            </a:prstGeom>
            <a:noFill/>
            <a:ln>
              <a:noFill/>
            </a:ln>
          </p:spPr>
          <p:txBody>
            <a:bodyPr anchorCtr="0" anchor="ctr" bIns="33850" lIns="33850" spcFirstLastPara="1" rIns="33850" wrap="square" tIns="33850">
              <a:noAutofit/>
            </a:bodyPr>
            <a:lstStyle/>
            <a:p>
              <a:pPr indent="0" lvl="0" marL="0" marR="0" rtl="0" algn="ctr">
                <a:lnSpc>
                  <a:spcPct val="148017"/>
                </a:lnSpc>
                <a:spcBef>
                  <a:spcPts val="0"/>
                </a:spcBef>
                <a:spcAft>
                  <a:spcPts val="0"/>
                </a:spcAft>
                <a:buNone/>
              </a:pPr>
              <a:r>
                <a:rPr b="0" i="0" lang="es-ES" sz="2000" u="none" cap="none" strike="noStrike">
                  <a:solidFill>
                    <a:srgbClr val="000000"/>
                  </a:solidFill>
                  <a:latin typeface="Arial"/>
                  <a:ea typeface="Arial"/>
                  <a:cs typeface="Arial"/>
                  <a:sym typeface="Arial"/>
                </a:rPr>
                <a:t>Fase de Testing</a:t>
              </a:r>
              <a:endParaRPr/>
            </a:p>
            <a:p>
              <a:pPr indent="0" lvl="0" marL="0" marR="0" rtl="0" algn="ctr">
                <a:lnSpc>
                  <a:spcPct val="148017"/>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grpSp>
      <p:sp>
        <p:nvSpPr>
          <p:cNvPr id="106" name="Google Shape;106;p7"/>
          <p:cNvSpPr/>
          <p:nvPr/>
        </p:nvSpPr>
        <p:spPr>
          <a:xfrm>
            <a:off x="307785" y="4515737"/>
            <a:ext cx="3075701" cy="444271"/>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07" name="Google Shape;107;p7"/>
          <p:cNvSpPr/>
          <p:nvPr/>
        </p:nvSpPr>
        <p:spPr>
          <a:xfrm>
            <a:off x="585766" y="3326466"/>
            <a:ext cx="302239" cy="366729"/>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08" name="Google Shape;108;p7"/>
          <p:cNvSpPr/>
          <p:nvPr/>
        </p:nvSpPr>
        <p:spPr>
          <a:xfrm>
            <a:off x="585766" y="3980848"/>
            <a:ext cx="302239" cy="366729"/>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grpSp>
        <p:nvGrpSpPr>
          <p:cNvPr id="109" name="Google Shape;109;p7"/>
          <p:cNvGrpSpPr/>
          <p:nvPr/>
        </p:nvGrpSpPr>
        <p:grpSpPr>
          <a:xfrm>
            <a:off x="434496" y="4652264"/>
            <a:ext cx="6249316" cy="756985"/>
            <a:chOff x="-2026751" y="-199707"/>
            <a:chExt cx="3990972" cy="483430"/>
          </a:xfrm>
        </p:grpSpPr>
        <p:sp>
          <p:nvSpPr>
            <p:cNvPr id="110" name="Google Shape;110;p7"/>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11" name="Google Shape;111;p7"/>
            <p:cNvSpPr txBox="1"/>
            <p:nvPr/>
          </p:nvSpPr>
          <p:spPr>
            <a:xfrm>
              <a:off x="-2026751" y="-199707"/>
              <a:ext cx="1849921" cy="359923"/>
            </a:xfrm>
            <a:prstGeom prst="rect">
              <a:avLst/>
            </a:prstGeom>
            <a:noFill/>
            <a:ln>
              <a:noFill/>
            </a:ln>
          </p:spPr>
          <p:txBody>
            <a:bodyPr anchorCtr="0" anchor="ctr" bIns="33850" lIns="33850" spcFirstLastPara="1" rIns="33850" wrap="square" tIns="33850">
              <a:noAutofit/>
            </a:bodyPr>
            <a:lstStyle/>
            <a:p>
              <a:pPr indent="0" lvl="0" marL="0" marR="0" rtl="0" algn="ctr">
                <a:lnSpc>
                  <a:spcPct val="148017"/>
                </a:lnSpc>
                <a:spcBef>
                  <a:spcPts val="0"/>
                </a:spcBef>
                <a:spcAft>
                  <a:spcPts val="0"/>
                </a:spcAft>
                <a:buNone/>
              </a:pPr>
              <a:r>
                <a:rPr b="0" i="0" lang="es-ES" sz="1866" u="none" cap="none" strike="noStrike">
                  <a:solidFill>
                    <a:srgbClr val="000000"/>
                  </a:solidFill>
                  <a:latin typeface="Arial"/>
                  <a:ea typeface="Arial"/>
                  <a:cs typeface="Arial"/>
                  <a:sym typeface="Arial"/>
                </a:rPr>
                <a:t>Dudas Finales</a:t>
              </a:r>
              <a:endParaRPr b="0" i="0" sz="933" u="none" cap="none" strike="noStrike">
                <a:solidFill>
                  <a:srgbClr val="000000"/>
                </a:solidFill>
                <a:latin typeface="Arial"/>
                <a:ea typeface="Arial"/>
                <a:cs typeface="Arial"/>
                <a:sym typeface="Arial"/>
              </a:endParaRPr>
            </a:p>
          </p:txBody>
        </p:sp>
      </p:grpSp>
      <p:sp>
        <p:nvSpPr>
          <p:cNvPr id="112" name="Google Shape;112;p7"/>
          <p:cNvSpPr/>
          <p:nvPr/>
        </p:nvSpPr>
        <p:spPr>
          <a:xfrm>
            <a:off x="544871" y="4819225"/>
            <a:ext cx="302239" cy="366729"/>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8"/>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s-ES" sz="5400"/>
              <a:t>Testing en DevOps</a:t>
            </a:r>
            <a:endParaRPr sz="5400"/>
          </a:p>
        </p:txBody>
      </p:sp>
      <p:sp>
        <p:nvSpPr>
          <p:cNvPr id="119" name="Google Shape;119;p8"/>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0" name="Google Shape;120;p8"/>
          <p:cNvPicPr preferRelativeResize="0"/>
          <p:nvPr/>
        </p:nvPicPr>
        <p:blipFill rotWithShape="1">
          <a:blip r:embed="rId3">
            <a:alphaModFix/>
          </a:blip>
          <a:srcRect b="0" l="0" r="0" t="0"/>
          <a:stretch/>
        </p:blipFill>
        <p:spPr>
          <a:xfrm>
            <a:off x="2756250" y="2106375"/>
            <a:ext cx="7832151" cy="3916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p4"/>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ES" sz="5400"/>
              <a:t>Continuous Testing</a:t>
            </a:r>
            <a:endParaRPr/>
          </a:p>
        </p:txBody>
      </p:sp>
      <p:sp>
        <p:nvSpPr>
          <p:cNvPr id="128" name="Google Shape;128;p4"/>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 name="Google Shape;129;p4"/>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10000"/>
          </a:bodyPr>
          <a:lstStyle/>
          <a:p>
            <a:pPr indent="-207645" lvl="0" marL="228600" rtl="0" algn="l">
              <a:lnSpc>
                <a:spcPct val="90000"/>
              </a:lnSpc>
              <a:spcBef>
                <a:spcPts val="0"/>
              </a:spcBef>
              <a:spcAft>
                <a:spcPts val="0"/>
              </a:spcAft>
              <a:buClr>
                <a:schemeClr val="dk1"/>
              </a:buClr>
              <a:buSzPct val="78571"/>
              <a:buChar char="•"/>
            </a:pPr>
            <a:r>
              <a:rPr lang="es-ES"/>
              <a:t>metodología en el desarrollo de software en la cual las pruebas automatizadas se ejecutan de manera constante a lo largo del ciclo de vida del desarrollo de software. Esto asegura que los cambios de código sean evaluados constantemente en términos de corrección y calidad. En lugar de realizar pruebas solo al final del ciclo de desarrollo, como en los enfoques tradicionales, las pruebas continuas integran la prueba en cada fase del desarrollo.</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1f1d637526d_2_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g1f1d637526d_2_1"/>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7" name="Google Shape;137;g1f1d637526d_2_1"/>
          <p:cNvPicPr preferRelativeResize="0"/>
          <p:nvPr/>
        </p:nvPicPr>
        <p:blipFill rotWithShape="1">
          <a:blip r:embed="rId3">
            <a:alphaModFix/>
          </a:blip>
          <a:srcRect b="0" l="0" r="0" t="0"/>
          <a:stretch/>
        </p:blipFill>
        <p:spPr>
          <a:xfrm>
            <a:off x="651075" y="528325"/>
            <a:ext cx="10836075" cy="5910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5"/>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s-E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s-ES" sz="5600"/>
              <a:t>Principales</a:t>
            </a:r>
            <a:endParaRPr sz="5600"/>
          </a:p>
        </p:txBody>
      </p:sp>
      <p:sp>
        <p:nvSpPr>
          <p:cNvPr id="144" name="Google Shape;144;p5"/>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 name="Google Shape;145;p5"/>
          <p:cNvSpPr txBox="1"/>
          <p:nvPr/>
        </p:nvSpPr>
        <p:spPr>
          <a:xfrm>
            <a:off x="6967200" y="1474250"/>
            <a:ext cx="4433700" cy="4063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Pruebas automatizadas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CI/CD</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Rapido feedback</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Cobertura de prueba integral</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Shift-left Testing</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Monitoreo y feedback continuo</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f1d637526d_2_1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g1f1d637526d_2_10"/>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ES" sz="5400"/>
              <a:t>Quality Assurance (QA)</a:t>
            </a:r>
            <a:endParaRPr/>
          </a:p>
        </p:txBody>
      </p:sp>
      <p:sp>
        <p:nvSpPr>
          <p:cNvPr id="153" name="Google Shape;153;g1f1d637526d_2_10"/>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g1f1d637526d_2_10"/>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10000"/>
          </a:bodyPr>
          <a:lstStyle/>
          <a:p>
            <a:pPr indent="-207645" lvl="0" marL="228600" rtl="0" algn="l">
              <a:lnSpc>
                <a:spcPct val="90000"/>
              </a:lnSpc>
              <a:spcBef>
                <a:spcPts val="0"/>
              </a:spcBef>
              <a:spcAft>
                <a:spcPts val="0"/>
              </a:spcAft>
              <a:buClr>
                <a:schemeClr val="dk1"/>
              </a:buClr>
              <a:buSzPct val="78571"/>
              <a:buChar char="•"/>
            </a:pPr>
            <a:r>
              <a:rPr lang="es-ES"/>
              <a:t>Se refiere al conjunto de actividades planificadas y sistemáticas destinadas a garantizar que un producto o servicio de software cumpla con los estándares de calidad esperados. El objetivo principal del QA es identificar y prevenir defectos en el software antes de que el producto final sea entregado a los usuarios finales. El QA es una parte integral del ciclo de vida del desarrollo de software y abarca varias actividades y responsabilidades</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p:nvPr/>
        </p:nvSpPr>
        <p:spPr>
          <a:xfrm>
            <a:off x="0" y="1"/>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0" name="Google Shape;160;p6"/>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161" name="Google Shape;161;p6"/>
          <p:cNvSpPr txBox="1"/>
          <p:nvPr>
            <p:ph type="title"/>
          </p:nvPr>
        </p:nvSpPr>
        <p:spPr>
          <a:xfrm>
            <a:off x="804672" y="457200"/>
            <a:ext cx="10579608"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Calibri"/>
              <a:buNone/>
            </a:pPr>
            <a:r>
              <a:rPr b="1" lang="es-ES" sz="4000">
                <a:solidFill>
                  <a:schemeClr val="dk2"/>
                </a:solidFill>
              </a:rPr>
              <a:t>Características</a:t>
            </a:r>
            <a:r>
              <a:rPr b="1" lang="es-ES" sz="4000">
                <a:solidFill>
                  <a:schemeClr val="dk2"/>
                </a:solidFill>
              </a:rPr>
              <a:t> de QA </a:t>
            </a:r>
            <a:endParaRPr sz="4000">
              <a:solidFill>
                <a:schemeClr val="dk2"/>
              </a:solidFill>
            </a:endParaRPr>
          </a:p>
        </p:txBody>
      </p:sp>
      <p:grpSp>
        <p:nvGrpSpPr>
          <p:cNvPr id="162" name="Google Shape;162;p6"/>
          <p:cNvGrpSpPr/>
          <p:nvPr/>
        </p:nvGrpSpPr>
        <p:grpSpPr>
          <a:xfrm rot="5400000">
            <a:off x="9262397" y="134260"/>
            <a:ext cx="3142400" cy="2716805"/>
            <a:chOff x="-305" y="-4155"/>
            <a:chExt cx="2514948" cy="2174333"/>
          </a:xfrm>
        </p:grpSpPr>
        <p:sp>
          <p:nvSpPr>
            <p:cNvPr id="163" name="Google Shape;163;p6"/>
            <p:cNvSpPr/>
            <p:nvPr/>
          </p:nvSpPr>
          <p:spPr>
            <a:xfrm>
              <a:off x="-305" y="0"/>
              <a:ext cx="2514948" cy="2170178"/>
            </a:xfrm>
            <a:custGeom>
              <a:rect b="b" l="l" r="r" t="t"/>
              <a:pathLst>
                <a:path extrusionOk="0" h="2170178" w="251494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6"/>
            <p:cNvSpPr/>
            <p:nvPr/>
          </p:nvSpPr>
          <p:spPr>
            <a:xfrm>
              <a:off x="-305" y="-4155"/>
              <a:ext cx="2493062" cy="1947896"/>
            </a:xfrm>
            <a:custGeom>
              <a:rect b="b" l="l" r="r" t="t"/>
              <a:pathLst>
                <a:path extrusionOk="0" h="1947896" w="2493062">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6"/>
            <p:cNvSpPr/>
            <p:nvPr/>
          </p:nvSpPr>
          <p:spPr>
            <a:xfrm>
              <a:off x="-305" y="0"/>
              <a:ext cx="2501089" cy="1972702"/>
            </a:xfrm>
            <a:custGeom>
              <a:rect b="b" l="l" r="r" t="t"/>
              <a:pathLst>
                <a:path extrusionOk="0" h="1972702" w="2501089">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166" name="Google Shape;166;p6"/>
            <p:cNvSpPr/>
            <p:nvPr/>
          </p:nvSpPr>
          <p:spPr>
            <a:xfrm>
              <a:off x="305" y="1"/>
              <a:ext cx="2491105" cy="1943661"/>
            </a:xfrm>
            <a:custGeom>
              <a:rect b="b" l="l" r="r" t="t"/>
              <a:pathLst>
                <a:path extrusionOk="0" h="1943661" w="2491105">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67" name="Google Shape;167;p6"/>
          <p:cNvGrpSpPr/>
          <p:nvPr/>
        </p:nvGrpSpPr>
        <p:grpSpPr>
          <a:xfrm flipH="1" rot="10800000">
            <a:off x="0" y="5047906"/>
            <a:ext cx="2412221" cy="1810094"/>
            <a:chOff x="-305" y="-1"/>
            <a:chExt cx="3832880" cy="2876136"/>
          </a:xfrm>
        </p:grpSpPr>
        <p:sp>
          <p:nvSpPr>
            <p:cNvPr id="168" name="Google Shape;168;p6"/>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6"/>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6"/>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 name="Google Shape;171;p6"/>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72" name="Google Shape;172;p6"/>
          <p:cNvGrpSpPr/>
          <p:nvPr/>
        </p:nvGrpSpPr>
        <p:grpSpPr>
          <a:xfrm>
            <a:off x="1039284" y="2797938"/>
            <a:ext cx="10113430" cy="3057549"/>
            <a:chOff x="2964" y="254305"/>
            <a:chExt cx="10113430" cy="3057549"/>
          </a:xfrm>
        </p:grpSpPr>
        <p:sp>
          <p:nvSpPr>
            <p:cNvPr id="173" name="Google Shape;173;p6"/>
            <p:cNvSpPr/>
            <p:nvPr/>
          </p:nvSpPr>
          <p:spPr>
            <a:xfrm>
              <a:off x="2964" y="254305"/>
              <a:ext cx="2351960" cy="1411176"/>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txBox="1"/>
            <p:nvPr/>
          </p:nvSpPr>
          <p:spPr>
            <a:xfrm>
              <a:off x="2964"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Planificación de la calidad</a:t>
              </a:r>
              <a:endParaRPr b="0" i="0" sz="2800" u="none" cap="none" strike="noStrike">
                <a:solidFill>
                  <a:schemeClr val="lt1"/>
                </a:solidFill>
                <a:latin typeface="Calibri"/>
                <a:ea typeface="Calibri"/>
                <a:cs typeface="Calibri"/>
                <a:sym typeface="Calibri"/>
              </a:endParaRPr>
            </a:p>
          </p:txBody>
        </p:sp>
        <p:sp>
          <p:nvSpPr>
            <p:cNvPr id="175" name="Google Shape;175;p6"/>
            <p:cNvSpPr/>
            <p:nvPr/>
          </p:nvSpPr>
          <p:spPr>
            <a:xfrm>
              <a:off x="2590121" y="254305"/>
              <a:ext cx="2351960" cy="1411176"/>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6"/>
            <p:cNvSpPr txBox="1"/>
            <p:nvPr/>
          </p:nvSpPr>
          <p:spPr>
            <a:xfrm>
              <a:off x="2590121"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Revision de requisitos</a:t>
              </a:r>
              <a:endParaRPr b="0" i="0" sz="2800" u="none" cap="none" strike="noStrike">
                <a:solidFill>
                  <a:schemeClr val="lt1"/>
                </a:solidFill>
                <a:latin typeface="Calibri"/>
                <a:ea typeface="Calibri"/>
                <a:cs typeface="Calibri"/>
                <a:sym typeface="Calibri"/>
              </a:endParaRPr>
            </a:p>
          </p:txBody>
        </p:sp>
        <p:sp>
          <p:nvSpPr>
            <p:cNvPr id="177" name="Google Shape;177;p6"/>
            <p:cNvSpPr/>
            <p:nvPr/>
          </p:nvSpPr>
          <p:spPr>
            <a:xfrm>
              <a:off x="5177278" y="254305"/>
              <a:ext cx="2351960" cy="1411176"/>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txBox="1"/>
            <p:nvPr/>
          </p:nvSpPr>
          <p:spPr>
            <a:xfrm>
              <a:off x="5114542" y="254317"/>
              <a:ext cx="2474700" cy="14112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Diseño y arquitectura</a:t>
              </a:r>
              <a:endParaRPr b="0" i="0" sz="2800" u="none" cap="none" strike="noStrike">
                <a:solidFill>
                  <a:schemeClr val="lt1"/>
                </a:solidFill>
                <a:latin typeface="Calibri"/>
                <a:ea typeface="Calibri"/>
                <a:cs typeface="Calibri"/>
                <a:sym typeface="Calibri"/>
              </a:endParaRPr>
            </a:p>
          </p:txBody>
        </p:sp>
        <p:sp>
          <p:nvSpPr>
            <p:cNvPr id="179" name="Google Shape;179;p6"/>
            <p:cNvSpPr/>
            <p:nvPr/>
          </p:nvSpPr>
          <p:spPr>
            <a:xfrm>
              <a:off x="7764434" y="254305"/>
              <a:ext cx="2351960" cy="1411176"/>
            </a:xfrm>
            <a:prstGeom prst="rect">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6"/>
            <p:cNvSpPr txBox="1"/>
            <p:nvPr/>
          </p:nvSpPr>
          <p:spPr>
            <a:xfrm>
              <a:off x="7764434" y="254305"/>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Pruebas de software. </a:t>
              </a:r>
              <a:endParaRPr b="0" i="0" sz="2800" u="none" cap="none" strike="noStrike">
                <a:solidFill>
                  <a:schemeClr val="lt1"/>
                </a:solidFill>
                <a:latin typeface="Calibri"/>
                <a:ea typeface="Calibri"/>
                <a:cs typeface="Calibri"/>
                <a:sym typeface="Calibri"/>
              </a:endParaRPr>
            </a:p>
          </p:txBody>
        </p:sp>
        <p:sp>
          <p:nvSpPr>
            <p:cNvPr id="181" name="Google Shape;181;p6"/>
            <p:cNvSpPr/>
            <p:nvPr/>
          </p:nvSpPr>
          <p:spPr>
            <a:xfrm>
              <a:off x="1296543" y="1900678"/>
              <a:ext cx="2351960" cy="1411176"/>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6"/>
            <p:cNvSpPr txBox="1"/>
            <p:nvPr/>
          </p:nvSpPr>
          <p:spPr>
            <a:xfrm>
              <a:off x="1296543"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Pruebas de software</a:t>
              </a:r>
              <a:endParaRPr b="0" i="0" sz="2800" u="none" cap="none" strike="noStrike">
                <a:solidFill>
                  <a:schemeClr val="lt1"/>
                </a:solidFill>
                <a:latin typeface="Calibri"/>
                <a:ea typeface="Calibri"/>
                <a:cs typeface="Calibri"/>
                <a:sym typeface="Calibri"/>
              </a:endParaRPr>
            </a:p>
          </p:txBody>
        </p:sp>
        <p:sp>
          <p:nvSpPr>
            <p:cNvPr id="183" name="Google Shape;183;p6"/>
            <p:cNvSpPr/>
            <p:nvPr/>
          </p:nvSpPr>
          <p:spPr>
            <a:xfrm>
              <a:off x="3883699" y="1900678"/>
              <a:ext cx="2351960" cy="1411176"/>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txBox="1"/>
            <p:nvPr/>
          </p:nvSpPr>
          <p:spPr>
            <a:xfrm>
              <a:off x="3883699"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Seguimiento y reporte de problemas</a:t>
              </a:r>
              <a:endParaRPr b="0" i="0" sz="2800" u="none" cap="none" strike="noStrike">
                <a:solidFill>
                  <a:schemeClr val="lt1"/>
                </a:solidFill>
                <a:latin typeface="Calibri"/>
                <a:ea typeface="Calibri"/>
                <a:cs typeface="Calibri"/>
                <a:sym typeface="Calibri"/>
              </a:endParaRPr>
            </a:p>
          </p:txBody>
        </p:sp>
        <p:sp>
          <p:nvSpPr>
            <p:cNvPr id="185" name="Google Shape;185;p6"/>
            <p:cNvSpPr/>
            <p:nvPr/>
          </p:nvSpPr>
          <p:spPr>
            <a:xfrm>
              <a:off x="6470856" y="1900678"/>
              <a:ext cx="2351960" cy="1411176"/>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6470856" y="1900678"/>
              <a:ext cx="2351960" cy="141117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lt1"/>
                </a:buClr>
                <a:buSzPts val="2800"/>
                <a:buFont typeface="Calibri"/>
                <a:buNone/>
              </a:pPr>
              <a:r>
                <a:rPr b="0" i="0" lang="es-ES" sz="2800" u="none" cap="none" strike="noStrike">
                  <a:solidFill>
                    <a:schemeClr val="lt1"/>
                  </a:solidFill>
                  <a:latin typeface="Calibri"/>
                  <a:ea typeface="Calibri"/>
                  <a:cs typeface="Calibri"/>
                  <a:sym typeface="Calibri"/>
                </a:rPr>
                <a:t>Auditorias de calidad</a:t>
              </a:r>
              <a:endParaRPr b="0" i="0" sz="2800" u="none" cap="none" strike="noStrike">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p9"/>
          <p:cNvSpPr/>
          <p:nvPr/>
        </p:nvSpPr>
        <p:spPr>
          <a:xfrm>
            <a:off x="489189"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p9"/>
          <p:cNvSpPr txBox="1"/>
          <p:nvPr>
            <p:ph type="title"/>
          </p:nvPr>
        </p:nvSpPr>
        <p:spPr>
          <a:xfrm>
            <a:off x="1171074"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s-ES">
                <a:solidFill>
                  <a:srgbClr val="FFFFFF"/>
                </a:solidFill>
              </a:rPr>
              <a:t>Entonces QA y Continuous Testing son lo mismo…</a:t>
            </a:r>
            <a:endParaRPr>
              <a:solidFill>
                <a:srgbClr val="FFFFFF"/>
              </a:solidFill>
            </a:endParaRPr>
          </a:p>
        </p:txBody>
      </p:sp>
      <p:sp>
        <p:nvSpPr>
          <p:cNvPr id="194" name="Google Shape;194;p9"/>
          <p:cNvSpPr/>
          <p:nvPr/>
        </p:nvSpPr>
        <p:spPr>
          <a:xfrm rot="-1790889">
            <a:off x="8683720" y="941148"/>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5" name="Google Shape;195;p9"/>
          <p:cNvSpPr/>
          <p:nvPr/>
        </p:nvSpPr>
        <p:spPr>
          <a:xfrm>
            <a:off x="910048" y="4780992"/>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txBox="1"/>
          <p:nvPr>
            <p:ph idx="1" type="body"/>
          </p:nvPr>
        </p:nvSpPr>
        <p:spPr>
          <a:xfrm>
            <a:off x="5370153" y="1526033"/>
            <a:ext cx="5536397" cy="393528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ES"/>
              <a:t>NO. No confundir la maizena con la magnesia.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1f1d637526d_2_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5040"/>
              <a:buFont typeface="Calibri"/>
              <a:buNone/>
            </a:pPr>
            <a:r>
              <a:rPr b="0" i="0" lang="es-ES" sz="1940" u="none" cap="none" strike="noStrike">
                <a:solidFill>
                  <a:schemeClr val="dk1"/>
                </a:solidFill>
                <a:latin typeface="Calibri"/>
                <a:ea typeface="Calibri"/>
                <a:cs typeface="Calibri"/>
                <a:sym typeface="Calibri"/>
              </a:rPr>
              <a:t>z</a:t>
            </a:r>
            <a:endParaRPr b="0" i="0" sz="1400" u="none" cap="none" strike="noStrike">
              <a:solidFill>
                <a:srgbClr val="000000"/>
              </a:solidFill>
              <a:latin typeface="Arial"/>
              <a:ea typeface="Arial"/>
              <a:cs typeface="Arial"/>
              <a:sym typeface="Arial"/>
            </a:endParaRPr>
          </a:p>
        </p:txBody>
      </p:sp>
      <p:sp>
        <p:nvSpPr>
          <p:cNvPr id="202" name="Google Shape;202;g1f1d637526d_2_22"/>
          <p:cNvSpPr txBox="1"/>
          <p:nvPr>
            <p:ph type="title"/>
          </p:nvPr>
        </p:nvSpPr>
        <p:spPr>
          <a:xfrm>
            <a:off x="6010248" y="1301127"/>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s-ES" sz="1940"/>
              <a:t>Continuous Testing, por otro lado, es una práctica específica dentro del proceso de desarrollo de software que se centra en la ejecución automatizada de pruebas a lo largo del ciclo de vida del desarrollo, con el objetivo de proporcionar una retroalimentación rápida sobre la calidad del software en desarrollo. Continuous Testing es una parte clave de las metodologías de desarrollo ágil y DevOps, donde las pruebas automatizadas se integran en los pipelines de CI/CD para ejecutarse de manera continua con cada cambio de código. El objetivo es identificar problemas de calidad de manera temprana y asegurar que el software sea siempre funcional y libre de defectos.</a:t>
            </a:r>
            <a:endParaRPr sz="860"/>
          </a:p>
        </p:txBody>
      </p:sp>
      <p:sp>
        <p:nvSpPr>
          <p:cNvPr id="203" name="Google Shape;203;g1f1d637526d_2_22"/>
          <p:cNvSpPr txBox="1"/>
          <p:nvPr>
            <p:ph type="title"/>
          </p:nvPr>
        </p:nvSpPr>
        <p:spPr>
          <a:xfrm>
            <a:off x="747873" y="540727"/>
            <a:ext cx="4569600" cy="4821600"/>
          </a:xfrm>
          <a:prstGeom prst="rect">
            <a:avLst/>
          </a:prstGeom>
          <a:noFill/>
          <a:ln>
            <a:noFill/>
          </a:ln>
        </p:spPr>
        <p:txBody>
          <a:bodyPr anchorCtr="0" anchor="b" bIns="45700" lIns="91425" spcFirstLastPara="1" rIns="91425" wrap="square" tIns="45700">
            <a:noAutofit/>
          </a:bodyPr>
          <a:lstStyle/>
          <a:p>
            <a:pPr indent="0" lvl="0" marL="0" rtl="0" algn="just">
              <a:lnSpc>
                <a:spcPct val="90000"/>
              </a:lnSpc>
              <a:spcBef>
                <a:spcPts val="0"/>
              </a:spcBef>
              <a:spcAft>
                <a:spcPts val="0"/>
              </a:spcAft>
              <a:buClr>
                <a:schemeClr val="dk1"/>
              </a:buClr>
              <a:buSzPts val="5040"/>
              <a:buFont typeface="Calibri"/>
              <a:buNone/>
            </a:pPr>
            <a:r>
              <a:rPr lang="es-ES" sz="1940"/>
              <a:t>QA se refiere al conjunto de actividades y procesos planificados y sistemáticos que se implementan para garantizar que un producto o servicio cumpla con los estándares de calidad establecidos. Estas actividades pueden incluir la planificación de la calidad, la revisión de requisitos, el diseño y arquitectura, las pruebas de software, la automatización de pruebas, la gestión de la configuración, entre otras. El QA se enfoca en asegurar la calidad del producto final mediante la prevención y detección temprana de defectos a lo largo del ciclo de vida del desarrollo de software.</a:t>
            </a:r>
            <a:endParaRPr sz="86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1f1d637526d_2_37"/>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g1f1d637526d_2_37"/>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g1f1d637526d_2_37"/>
          <p:cNvSpPr/>
          <p:nvPr/>
        </p:nvSpPr>
        <p:spPr>
          <a:xfrm>
            <a:off x="2769476" y="220196"/>
            <a:ext cx="9422524" cy="6637806"/>
          </a:xfrm>
          <a:custGeom>
            <a:rect b="b" l="l" r="r" t="t"/>
            <a:pathLst>
              <a:path extrusionOk="0" h="5770597" w="8191500">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 name="Google Shape;211;g1f1d637526d_2_37"/>
          <p:cNvSpPr/>
          <p:nvPr/>
        </p:nvSpPr>
        <p:spPr>
          <a:xfrm>
            <a:off x="2209800" y="2099696"/>
            <a:ext cx="1942241" cy="1889551"/>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g1f1d637526d_2_37"/>
          <p:cNvSpPr/>
          <p:nvPr/>
        </p:nvSpPr>
        <p:spPr>
          <a:xfrm rot="-3079828">
            <a:off x="1613162" y="1492572"/>
            <a:ext cx="2987899" cy="2987899"/>
          </a:xfrm>
          <a:prstGeom prst="arc">
            <a:avLst>
              <a:gd fmla="val 14455503" name="adj1"/>
              <a:gd fmla="val 227775"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3" name="Google Shape;213;g1f1d637526d_2_37"/>
          <p:cNvSpPr txBox="1"/>
          <p:nvPr>
            <p:ph type="ctrTitle"/>
          </p:nvPr>
        </p:nvSpPr>
        <p:spPr>
          <a:xfrm>
            <a:off x="4202400" y="-402266"/>
            <a:ext cx="7644600" cy="27510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s-ES"/>
              <a:t>Tipos de Testing</a:t>
            </a:r>
            <a:endParaRPr/>
          </a:p>
        </p:txBody>
      </p:sp>
      <p:sp>
        <p:nvSpPr>
          <p:cNvPr id="214" name="Google Shape;214;g1f1d637526d_2_37"/>
          <p:cNvSpPr txBox="1"/>
          <p:nvPr>
            <p:ph idx="1" type="subTitle"/>
          </p:nvPr>
        </p:nvSpPr>
        <p:spPr>
          <a:xfrm>
            <a:off x="4038600" y="3123240"/>
            <a:ext cx="7644600" cy="2988600"/>
          </a:xfrm>
          <a:prstGeom prst="rect">
            <a:avLst/>
          </a:prstGeom>
          <a:noFill/>
          <a:ln>
            <a:noFill/>
          </a:ln>
        </p:spPr>
        <p:txBody>
          <a:bodyPr anchorCtr="0" anchor="t" bIns="45700" lIns="91425" spcFirstLastPara="1" rIns="91425" wrap="square" tIns="45700">
            <a:normAutofit lnSpcReduction="10000"/>
          </a:bodyPr>
          <a:lstStyle/>
          <a:p>
            <a:pPr indent="0" lvl="0" marL="0" rtl="0" algn="r">
              <a:lnSpc>
                <a:spcPct val="90000"/>
              </a:lnSpc>
              <a:spcBef>
                <a:spcPts val="0"/>
              </a:spcBef>
              <a:spcAft>
                <a:spcPts val="0"/>
              </a:spcAft>
              <a:buClr>
                <a:schemeClr val="dk1"/>
              </a:buClr>
              <a:buSzPts val="1100"/>
              <a:buFont typeface="Arial"/>
              <a:buNone/>
            </a:pPr>
            <a:r>
              <a:rPr b="1" lang="es-ES" sz="2500"/>
              <a:t>Pruebas unitarias</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integracion</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regresion</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aceptacion de usuario (UAT)</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interfaz de usuario (UI)</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rendimiento</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Seguridad</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Integracion Continua</a:t>
            </a:r>
            <a:endParaRPr b="1" sz="2500"/>
          </a:p>
          <a:p>
            <a:pPr indent="0" lvl="0" marL="0" rtl="0" algn="r">
              <a:lnSpc>
                <a:spcPct val="90000"/>
              </a:lnSpc>
              <a:spcBef>
                <a:spcPts val="0"/>
              </a:spcBef>
              <a:spcAft>
                <a:spcPts val="0"/>
              </a:spcAft>
              <a:buClr>
                <a:schemeClr val="dk1"/>
              </a:buClr>
              <a:buSzPts val="1100"/>
              <a:buFont typeface="Arial"/>
              <a:buNone/>
            </a:pPr>
            <a:r>
              <a:rPr b="1" lang="es-ES" sz="2500"/>
              <a:t>Pruebas de Despliegue Continuo</a:t>
            </a:r>
            <a:endParaRPr b="1" sz="2500"/>
          </a:p>
          <a:p>
            <a:pPr indent="0" lvl="0" marL="0" rtl="0" algn="r">
              <a:lnSpc>
                <a:spcPct val="90000"/>
              </a:lnSpc>
              <a:spcBef>
                <a:spcPts val="0"/>
              </a:spcBef>
              <a:spcAft>
                <a:spcPts val="0"/>
              </a:spcAft>
              <a:buClr>
                <a:schemeClr val="dk1"/>
              </a:buClr>
              <a:buSzPts val="2400"/>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10"/>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p10"/>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s-ES" sz="8000">
                <a:solidFill>
                  <a:schemeClr val="dk2"/>
                </a:solidFill>
              </a:rPr>
              <a:t>Herramientas </a:t>
            </a:r>
            <a:br>
              <a:rPr b="1" lang="es-ES" sz="8000">
                <a:solidFill>
                  <a:schemeClr val="dk2"/>
                </a:solidFill>
              </a:rPr>
            </a:br>
            <a:r>
              <a:rPr b="1" lang="es-ES" sz="8000">
                <a:solidFill>
                  <a:schemeClr val="dk2"/>
                </a:solidFill>
              </a:rPr>
              <a:t>de testing</a:t>
            </a:r>
            <a:endParaRPr sz="8000">
              <a:solidFill>
                <a:schemeClr val="dk2"/>
              </a:solidFill>
            </a:endParaRPr>
          </a:p>
        </p:txBody>
      </p:sp>
      <p:cxnSp>
        <p:nvCxnSpPr>
          <p:cNvPr id="222" name="Google Shape;222;p10"/>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223" name="Google Shape;223;p10"/>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24" name="Google Shape;224;p10"/>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225" name="Google Shape;225;p10"/>
          <p:cNvGrpSpPr/>
          <p:nvPr/>
        </p:nvGrpSpPr>
        <p:grpSpPr>
          <a:xfrm>
            <a:off x="12829917" y="6400806"/>
            <a:ext cx="338400" cy="240221"/>
            <a:chOff x="4089400" y="933450"/>
            <a:chExt cx="338400" cy="342000"/>
          </a:xfrm>
        </p:grpSpPr>
        <p:cxnSp>
          <p:nvCxnSpPr>
            <p:cNvPr id="226" name="Google Shape;226;p10"/>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227" name="Google Shape;227;p10"/>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1f1d637526d_2_46"/>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g1f1d637526d_2_46"/>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4" name="Google Shape;234;g1f1d637526d_2_46"/>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t/>
            </a:r>
            <a:endParaRPr sz="2200">
              <a:solidFill>
                <a:srgbClr val="FFFFFF"/>
              </a:solidFill>
              <a:latin typeface="Calibri"/>
              <a:ea typeface="Calibri"/>
              <a:cs typeface="Calibri"/>
              <a:sym typeface="Calibri"/>
            </a:endParaRPr>
          </a:p>
        </p:txBody>
      </p:sp>
      <p:pic>
        <p:nvPicPr>
          <p:cNvPr id="235" name="Google Shape;235;g1f1d637526d_2_46"/>
          <p:cNvPicPr preferRelativeResize="0"/>
          <p:nvPr/>
        </p:nvPicPr>
        <p:blipFill rotWithShape="1">
          <a:blip r:embed="rId3">
            <a:alphaModFix/>
          </a:blip>
          <a:srcRect b="0" l="0" r="0" t="0"/>
          <a:stretch/>
        </p:blipFill>
        <p:spPr>
          <a:xfrm>
            <a:off x="4259100" y="675625"/>
            <a:ext cx="7194349" cy="53902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1f1d637526d_2_5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g1f1d637526d_2_54"/>
          <p:cNvSpPr txBox="1"/>
          <p:nvPr>
            <p:ph type="title"/>
          </p:nvPr>
        </p:nvSpPr>
        <p:spPr>
          <a:xfrm>
            <a:off x="638882" y="639193"/>
            <a:ext cx="3571810" cy="357351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s-ES" sz="5600"/>
              <a:t>Pruebas unitarias</a:t>
            </a:r>
            <a:endParaRPr/>
          </a:p>
        </p:txBody>
      </p:sp>
      <p:sp>
        <p:nvSpPr>
          <p:cNvPr id="242" name="Google Shape;242;g1f1d637526d_2_54"/>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g1f1d637526d_2_54"/>
          <p:cNvSpPr txBox="1"/>
          <p:nvPr/>
        </p:nvSpPr>
        <p:spPr>
          <a:xfrm>
            <a:off x="5929800" y="1397250"/>
            <a:ext cx="5558400" cy="3909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Calibri"/>
                <a:ea typeface="Calibri"/>
                <a:cs typeface="Calibri"/>
                <a:sym typeface="Calibri"/>
              </a:rPr>
              <a:t>Tipo de prueba en el desarrollo de software que se centra en verificar el funcionamiento individual de unidades aisladas de código, como funciones, métodos o clases. El objetivo principal de las pruebas unitarias es asegurar que cada unidad de código funcione correctamente según su especificación y que produzca el resultado esperado para un conjunto específico de entradas.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f1d637526d_2_6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9" name="Google Shape;249;g1f1d637526d_2_62"/>
          <p:cNvSpPr txBox="1"/>
          <p:nvPr>
            <p:ph type="title"/>
          </p:nvPr>
        </p:nvSpPr>
        <p:spPr>
          <a:xfrm>
            <a:off x="638875" y="639200"/>
            <a:ext cx="46131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s-ES" sz="5600"/>
              <a:t>Caracteristicas</a:t>
            </a:r>
            <a:endParaRPr/>
          </a:p>
        </p:txBody>
      </p:sp>
      <p:sp>
        <p:nvSpPr>
          <p:cNvPr id="250" name="Google Shape;250;g1f1d637526d_2_62"/>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g1f1d637526d_2_62"/>
          <p:cNvSpPr txBox="1"/>
          <p:nvPr/>
        </p:nvSpPr>
        <p:spPr>
          <a:xfrm>
            <a:off x="5810450" y="2243650"/>
            <a:ext cx="5558400" cy="3201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 Aislamiento de la unidad de código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Automatizacion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Especificidad y Granularidad</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Retroalimentación inmediata</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f1d637526d_2_71"/>
          <p:cNvSpPr/>
          <p:nvPr/>
        </p:nvSpPr>
        <p:spPr>
          <a:xfrm>
            <a:off x="0" y="0"/>
            <a:ext cx="12192000" cy="68580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7" name="Google Shape;257;g1f1d637526d_2_71"/>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8" name="Google Shape;258;g1f1d637526d_2_71"/>
          <p:cNvSpPr txBox="1"/>
          <p:nvPr>
            <p:ph type="title"/>
          </p:nvPr>
        </p:nvSpPr>
        <p:spPr>
          <a:xfrm>
            <a:off x="731520" y="1170432"/>
            <a:ext cx="10533888" cy="273405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s-ES" sz="8000">
                <a:solidFill>
                  <a:schemeClr val="dk2"/>
                </a:solidFill>
              </a:rPr>
              <a:t>Herramientas </a:t>
            </a:r>
            <a:br>
              <a:rPr b="1" lang="es-ES" sz="8000">
                <a:solidFill>
                  <a:schemeClr val="dk2"/>
                </a:solidFill>
              </a:rPr>
            </a:br>
            <a:r>
              <a:rPr b="1" lang="es-ES" sz="8000">
                <a:solidFill>
                  <a:schemeClr val="dk2"/>
                </a:solidFill>
              </a:rPr>
              <a:t>Pruebas unitarias</a:t>
            </a:r>
            <a:endParaRPr sz="8000">
              <a:solidFill>
                <a:schemeClr val="dk2"/>
              </a:solidFill>
            </a:endParaRPr>
          </a:p>
        </p:txBody>
      </p:sp>
      <p:cxnSp>
        <p:nvCxnSpPr>
          <p:cNvPr id="259" name="Google Shape;259;g1f1d637526d_2_71"/>
          <p:cNvCxnSpPr/>
          <p:nvPr/>
        </p:nvCxnSpPr>
        <p:spPr>
          <a:xfrm flipH="1">
            <a:off x="732568" y="246028"/>
            <a:ext cx="255495" cy="546559"/>
          </a:xfrm>
          <a:prstGeom prst="straightConnector1">
            <a:avLst/>
          </a:prstGeom>
          <a:noFill/>
          <a:ln cap="flat" cmpd="sng" w="12700">
            <a:solidFill>
              <a:schemeClr val="dk2"/>
            </a:solidFill>
            <a:prstDash val="solid"/>
            <a:miter lim="800000"/>
            <a:headEnd len="sm" w="sm" type="none"/>
            <a:tailEnd len="sm" w="sm" type="none"/>
          </a:ln>
        </p:spPr>
      </p:cxnSp>
      <p:sp>
        <p:nvSpPr>
          <p:cNvPr id="260" name="Google Shape;260;g1f1d637526d_2_71"/>
          <p:cNvSpPr txBox="1"/>
          <p:nvPr>
            <p:ph idx="1" type="body"/>
          </p:nvPr>
        </p:nvSpPr>
        <p:spPr>
          <a:xfrm>
            <a:off x="731520" y="4069080"/>
            <a:ext cx="10515600" cy="204260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61" name="Google Shape;261;g1f1d637526d_2_71"/>
          <p:cNvCxnSpPr/>
          <p:nvPr/>
        </p:nvCxnSpPr>
        <p:spPr>
          <a:xfrm rot="10800000">
            <a:off x="840441" y="6522756"/>
            <a:ext cx="10717187" cy="0"/>
          </a:xfrm>
          <a:prstGeom prst="straightConnector1">
            <a:avLst/>
          </a:prstGeom>
          <a:noFill/>
          <a:ln cap="sq" cmpd="sng" w="12700">
            <a:solidFill>
              <a:schemeClr val="dk2"/>
            </a:solidFill>
            <a:prstDash val="solid"/>
            <a:miter lim="800000"/>
            <a:headEnd len="sm" w="sm" type="none"/>
            <a:tailEnd len="sm" w="sm" type="none"/>
          </a:ln>
        </p:spPr>
      </p:cxnSp>
      <p:grpSp>
        <p:nvGrpSpPr>
          <p:cNvPr id="262" name="Google Shape;262;g1f1d637526d_2_71"/>
          <p:cNvGrpSpPr/>
          <p:nvPr/>
        </p:nvGrpSpPr>
        <p:grpSpPr>
          <a:xfrm>
            <a:off x="12829917" y="6400800"/>
            <a:ext cx="338328" cy="240175"/>
            <a:chOff x="4089400" y="933450"/>
            <a:chExt cx="338328" cy="341938"/>
          </a:xfrm>
        </p:grpSpPr>
        <p:cxnSp>
          <p:nvCxnSpPr>
            <p:cNvPr id="263" name="Google Shape;263;g1f1d637526d_2_71"/>
            <p:cNvCxnSpPr/>
            <p:nvPr/>
          </p:nvCxnSpPr>
          <p:spPr>
            <a:xfrm>
              <a:off x="4258564" y="933450"/>
              <a:ext cx="0" cy="341938"/>
            </a:xfrm>
            <a:prstGeom prst="straightConnector1">
              <a:avLst/>
            </a:prstGeom>
            <a:noFill/>
            <a:ln cap="flat" cmpd="sng" w="12700">
              <a:solidFill>
                <a:schemeClr val="dk2"/>
              </a:solidFill>
              <a:prstDash val="solid"/>
              <a:miter lim="800000"/>
              <a:headEnd len="sm" w="sm" type="none"/>
              <a:tailEnd len="sm" w="sm" type="none"/>
            </a:ln>
          </p:spPr>
        </p:cxnSp>
        <p:cxnSp>
          <p:nvCxnSpPr>
            <p:cNvPr id="264" name="Google Shape;264;g1f1d637526d_2_71"/>
            <p:cNvCxnSpPr/>
            <p:nvPr/>
          </p:nvCxnSpPr>
          <p:spPr>
            <a:xfrm>
              <a:off x="4089400" y="1104419"/>
              <a:ext cx="338328"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1f1d637526d_2_79"/>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g1f1d637526d_2_79"/>
          <p:cNvSpPr/>
          <p:nvPr/>
        </p:nvSpPr>
        <p:spPr>
          <a:xfrm>
            <a:off x="0" y="0"/>
            <a:ext cx="2013557"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1f1d637526d_2_79"/>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s-ES" sz="2200">
                <a:solidFill>
                  <a:srgbClr val="FFFFFF"/>
                </a:solidFill>
              </a:rPr>
              <a:t>Terraform</a:t>
            </a:r>
            <a:endParaRPr sz="2200">
              <a:solidFill>
                <a:srgbClr val="FFFFFF"/>
              </a:solidFill>
              <a:latin typeface="Calibri"/>
              <a:ea typeface="Calibri"/>
              <a:cs typeface="Calibri"/>
              <a:sym typeface="Calibri"/>
            </a:endParaRPr>
          </a:p>
        </p:txBody>
      </p:sp>
      <p:pic>
        <p:nvPicPr>
          <p:cNvPr id="272" name="Google Shape;272;g1f1d637526d_2_79"/>
          <p:cNvPicPr preferRelativeResize="0"/>
          <p:nvPr/>
        </p:nvPicPr>
        <p:blipFill rotWithShape="1">
          <a:blip r:embed="rId3">
            <a:alphaModFix/>
          </a:blip>
          <a:srcRect b="0" l="0" r="0" t="0"/>
          <a:stretch/>
        </p:blipFill>
        <p:spPr>
          <a:xfrm>
            <a:off x="3646025" y="770449"/>
            <a:ext cx="8181850" cy="46022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f1d637526d_2_8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g1f1d637526d_2_89"/>
          <p:cNvSpPr txBox="1"/>
          <p:nvPr>
            <p:ph type="title"/>
          </p:nvPr>
        </p:nvSpPr>
        <p:spPr>
          <a:xfrm>
            <a:off x="643282" y="682593"/>
            <a:ext cx="35718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s-ES" sz="5600"/>
              <a:t>Pruebas de integración</a:t>
            </a:r>
            <a:endParaRPr sz="5600"/>
          </a:p>
          <a:p>
            <a:pPr indent="0" lvl="0" marL="0" rtl="0" algn="l">
              <a:lnSpc>
                <a:spcPct val="90000"/>
              </a:lnSpc>
              <a:spcBef>
                <a:spcPts val="0"/>
              </a:spcBef>
              <a:spcAft>
                <a:spcPts val="0"/>
              </a:spcAft>
              <a:buClr>
                <a:schemeClr val="dk1"/>
              </a:buClr>
              <a:buSzPts val="5600"/>
              <a:buFont typeface="Calibri"/>
              <a:buNone/>
            </a:pPr>
            <a:r>
              <a:rPr lang="es-ES" sz="5600"/>
              <a:t> </a:t>
            </a:r>
            <a:endParaRPr/>
          </a:p>
        </p:txBody>
      </p:sp>
      <p:sp>
        <p:nvSpPr>
          <p:cNvPr id="279" name="Google Shape;279;g1f1d637526d_2_89"/>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g1f1d637526d_2_89"/>
          <p:cNvSpPr txBox="1"/>
          <p:nvPr/>
        </p:nvSpPr>
        <p:spPr>
          <a:xfrm>
            <a:off x="5929800" y="1397250"/>
            <a:ext cx="5558400" cy="5787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0" i="0" lang="es-ES" sz="2000" u="none" cap="none" strike="noStrike">
                <a:solidFill>
                  <a:schemeClr val="dk1"/>
                </a:solidFill>
                <a:latin typeface="Calibri"/>
                <a:ea typeface="Calibri"/>
                <a:cs typeface="Calibri"/>
                <a:sym typeface="Calibri"/>
              </a:rPr>
              <a:t>Son un tipo de prueba en el desarrollo de software que se centra en verificar la interacción y la integración entre diferentes componentes, módulos o subsistemas de un sistema de software. El objetivo principal de las pruebas de integración es asegurar que los diferentes elementos del sistema funcionen correctamente juntos como un sistema completo, verificando la comunicación, la interoperabilidad y la compatibilidad entre ellos.</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s-ES" sz="2000" u="none" cap="none" strike="noStrike">
                <a:solidFill>
                  <a:schemeClr val="dk1"/>
                </a:solidFill>
                <a:latin typeface="Calibri"/>
                <a:ea typeface="Calibri"/>
                <a:cs typeface="Calibri"/>
                <a:sym typeface="Calibri"/>
              </a:rPr>
              <a:t>Las pruebas de integración se realizan después de que las pruebas unitarias hayan validado el correcto funcionamiento de las unidades individuales de código</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1f1d637526d_2_9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g1f1d637526d_2_99"/>
          <p:cNvSpPr txBox="1"/>
          <p:nvPr>
            <p:ph type="title"/>
          </p:nvPr>
        </p:nvSpPr>
        <p:spPr>
          <a:xfrm>
            <a:off x="638875" y="639200"/>
            <a:ext cx="4613100" cy="3573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s-ES" sz="5600"/>
              <a:t>Caracteristicas</a:t>
            </a:r>
            <a:endParaRPr/>
          </a:p>
        </p:txBody>
      </p:sp>
      <p:sp>
        <p:nvSpPr>
          <p:cNvPr id="287" name="Google Shape;287;g1f1d637526d_2_99"/>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8" name="Google Shape;288;g1f1d637526d_2_99"/>
          <p:cNvSpPr txBox="1"/>
          <p:nvPr/>
        </p:nvSpPr>
        <p:spPr>
          <a:xfrm>
            <a:off x="5810450" y="2243650"/>
            <a:ext cx="5558400" cy="4063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Enfoque en la interaccion entre componentes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Pruebas de interfaces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Identificación de problemas de integración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Simulación de entornos reales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s-ES" sz="2800" u="none" cap="none" strike="noStrike">
                <a:solidFill>
                  <a:schemeClr val="dk1"/>
                </a:solidFill>
                <a:latin typeface="Calibri"/>
                <a:ea typeface="Calibri"/>
                <a:cs typeface="Calibri"/>
                <a:sym typeface="Calibri"/>
              </a:rPr>
              <a:t>Automatizacion</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13"/>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p13"/>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s-ES" sz="8000">
                <a:solidFill>
                  <a:schemeClr val="dk2"/>
                </a:solidFill>
              </a:rPr>
              <a:t>Herramientas </a:t>
            </a:r>
            <a:br>
              <a:rPr b="1" lang="es-ES" sz="8000">
                <a:solidFill>
                  <a:schemeClr val="dk2"/>
                </a:solidFill>
              </a:rPr>
            </a:br>
            <a:r>
              <a:rPr b="1" lang="es-ES" sz="8000">
                <a:solidFill>
                  <a:schemeClr val="dk2"/>
                </a:solidFill>
              </a:rPr>
              <a:t>Pruebas de integracion</a:t>
            </a:r>
            <a:endParaRPr sz="8000">
              <a:solidFill>
                <a:schemeClr val="dk2"/>
              </a:solidFill>
            </a:endParaRPr>
          </a:p>
        </p:txBody>
      </p:sp>
      <p:cxnSp>
        <p:nvCxnSpPr>
          <p:cNvPr id="296" name="Google Shape;296;p13"/>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297" name="Google Shape;297;p13"/>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98" name="Google Shape;298;p13"/>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299" name="Google Shape;299;p13"/>
          <p:cNvGrpSpPr/>
          <p:nvPr/>
        </p:nvGrpSpPr>
        <p:grpSpPr>
          <a:xfrm>
            <a:off x="12829917" y="6400806"/>
            <a:ext cx="338400" cy="240221"/>
            <a:chOff x="4089400" y="933450"/>
            <a:chExt cx="338400" cy="342000"/>
          </a:xfrm>
        </p:grpSpPr>
        <p:cxnSp>
          <p:nvCxnSpPr>
            <p:cNvPr id="300" name="Google Shape;300;p13"/>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301" name="Google Shape;301;p13"/>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4"/>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p14"/>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p14"/>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lang="es-ES" sz="2200">
                <a:solidFill>
                  <a:srgbClr val="FFFFFF"/>
                </a:solidFill>
              </a:rPr>
              <a:t>Herramientas</a:t>
            </a:r>
            <a:endParaRPr sz="2200">
              <a:solidFill>
                <a:srgbClr val="FFFFFF"/>
              </a:solidFill>
              <a:latin typeface="Calibri"/>
              <a:ea typeface="Calibri"/>
              <a:cs typeface="Calibri"/>
              <a:sym typeface="Calibri"/>
            </a:endParaRPr>
          </a:p>
        </p:txBody>
      </p:sp>
      <p:pic>
        <p:nvPicPr>
          <p:cNvPr id="309" name="Google Shape;309;p14"/>
          <p:cNvPicPr preferRelativeResize="0"/>
          <p:nvPr/>
        </p:nvPicPr>
        <p:blipFill rotWithShape="1">
          <a:blip r:embed="rId3">
            <a:alphaModFix/>
          </a:blip>
          <a:srcRect b="0" l="0" r="0" t="0"/>
          <a:stretch/>
        </p:blipFill>
        <p:spPr>
          <a:xfrm>
            <a:off x="4086700" y="912413"/>
            <a:ext cx="7143750" cy="4143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2"/>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2"/>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s-ES" sz="8800">
                <a:solidFill>
                  <a:schemeClr val="dk2"/>
                </a:solidFill>
              </a:rPr>
              <a:t>Dudas</a:t>
            </a:r>
            <a:endParaRPr sz="8800">
              <a:solidFill>
                <a:schemeClr val="dk2"/>
              </a:solidFill>
            </a:endParaRPr>
          </a:p>
          <a:p>
            <a:pPr indent="0" lvl="0" marL="0" rtl="0" algn="l">
              <a:lnSpc>
                <a:spcPct val="90000"/>
              </a:lnSpc>
              <a:spcBef>
                <a:spcPts val="0"/>
              </a:spcBef>
              <a:spcAft>
                <a:spcPts val="0"/>
              </a:spcAft>
              <a:buClr>
                <a:schemeClr val="dk2"/>
              </a:buClr>
              <a:buSzPct val="100000"/>
              <a:buFont typeface="Calibri"/>
              <a:buNone/>
            </a:pPr>
            <a:r>
              <a:rPr lang="es-ES" sz="8800">
                <a:solidFill>
                  <a:schemeClr val="dk2"/>
                </a:solidFill>
              </a:rPr>
              <a:t>Fase 2</a:t>
            </a:r>
            <a:endParaRPr/>
          </a:p>
        </p:txBody>
      </p:sp>
      <p:pic>
        <p:nvPicPr>
          <p:cNvPr descr="Maestro" id="318" name="Google Shape;318;p2"/>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319" name="Google Shape;319;p2"/>
          <p:cNvGrpSpPr/>
          <p:nvPr/>
        </p:nvGrpSpPr>
        <p:grpSpPr>
          <a:xfrm>
            <a:off x="-4253" y="-5977"/>
            <a:ext cx="6238675" cy="6863979"/>
            <a:chOff x="305" y="-5977"/>
            <a:chExt cx="6238675" cy="6863979"/>
          </a:xfrm>
        </p:grpSpPr>
        <p:sp>
          <p:nvSpPr>
            <p:cNvPr id="320" name="Google Shape;320;p2"/>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9019"/>
                  </a:srgbClr>
                </a:gs>
                <a:gs pos="2000">
                  <a:srgbClr val="FFFFFF">
                    <a:alpha val="9019"/>
                  </a:srgbClr>
                </a:gs>
                <a:gs pos="16000">
                  <a:srgbClr val="70AD47">
                    <a:alpha val="9019"/>
                  </a:srgbClr>
                </a:gs>
                <a:gs pos="85000">
                  <a:srgbClr val="4472C4">
                    <a:alpha val="9019"/>
                  </a:srgbClr>
                </a:gs>
                <a:gs pos="100000">
                  <a:srgbClr val="FFFFFF">
                    <a:alpha val="9019"/>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1" name="Google Shape;321;p2"/>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019"/>
                  </a:srgbClr>
                </a:gs>
                <a:gs pos="2000">
                  <a:srgbClr val="FFFFFF">
                    <a:alpha val="9019"/>
                  </a:srgbClr>
                </a:gs>
                <a:gs pos="16000">
                  <a:srgbClr val="70AD47">
                    <a:alpha val="9019"/>
                  </a:srgbClr>
                </a:gs>
                <a:gs pos="85000">
                  <a:srgbClr val="4472C4">
                    <a:alpha val="9019"/>
                  </a:srgbClr>
                </a:gs>
                <a:gs pos="100000">
                  <a:srgbClr val="FFFFFF">
                    <a:alpha val="9019"/>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p2"/>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019"/>
                  </a:srgbClr>
                </a:gs>
                <a:gs pos="2000">
                  <a:srgbClr val="FFFFFF">
                    <a:alpha val="9019"/>
                  </a:srgbClr>
                </a:gs>
                <a:gs pos="16000">
                  <a:srgbClr val="70AD47">
                    <a:alpha val="9019"/>
                  </a:srgbClr>
                </a:gs>
                <a:gs pos="85000">
                  <a:srgbClr val="4472C4">
                    <a:alpha val="9019"/>
                  </a:srgbClr>
                </a:gs>
                <a:gs pos="100000">
                  <a:srgbClr val="FFFFFF">
                    <a:alpha val="9019"/>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1"/>
          <p:cNvSpPr txBox="1"/>
          <p:nvPr/>
        </p:nvSpPr>
        <p:spPr>
          <a:xfrm>
            <a:off x="3047997" y="3450703"/>
            <a:ext cx="5772600" cy="1952073"/>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s-ES" sz="4066" u="none" cap="none" strike="noStrike">
                <a:solidFill>
                  <a:srgbClr val="131416"/>
                </a:solidFill>
                <a:latin typeface="Impact"/>
                <a:ea typeface="Impact"/>
                <a:cs typeface="Impact"/>
                <a:sym typeface="Impact"/>
              </a:rPr>
              <a:t>¡GRACIAS POR SU  ATENCIÓN!</a:t>
            </a:r>
            <a:endParaRPr b="0" i="0" sz="933"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None/>
            </a:pPr>
            <a:r>
              <a:t/>
            </a:r>
            <a:endParaRPr b="0" i="0" sz="4066" u="none" cap="none" strike="noStrike">
              <a:solidFill>
                <a:srgbClr val="131416"/>
              </a:solidFill>
              <a:latin typeface="Impact"/>
              <a:ea typeface="Impact"/>
              <a:cs typeface="Impact"/>
              <a:sym typeface="Impact"/>
            </a:endParaRPr>
          </a:p>
        </p:txBody>
      </p:sp>
      <p:sp>
        <p:nvSpPr>
          <p:cNvPr id="328" name="Google Shape;328;p11"/>
          <p:cNvSpPr/>
          <p:nvPr/>
        </p:nvSpPr>
        <p:spPr>
          <a:xfrm>
            <a:off x="5176909" y="397733"/>
            <a:ext cx="1838179" cy="251398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329" name="Google Shape;329;p11"/>
          <p:cNvSpPr txBox="1"/>
          <p:nvPr/>
        </p:nvSpPr>
        <p:spPr>
          <a:xfrm>
            <a:off x="1607399" y="5266490"/>
            <a:ext cx="8977203" cy="607218"/>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s-ES" sz="1333"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933"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2021-01-24T02:47:27Z</dcterms:created>
  <dc:creator>Kevin Pozuelos</dc:creator>
</cp:coreProperties>
</file>