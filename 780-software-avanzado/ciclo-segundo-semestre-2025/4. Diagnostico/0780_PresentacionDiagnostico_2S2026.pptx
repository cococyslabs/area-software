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XTQebQXXSq63CONUlOLF3ODi7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OpenSa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penSansSemiBold-bold.fntdata"/><Relationship Id="rId18" Type="http://schemas.openxmlformats.org/officeDocument/2006/relationships/font" Target="fonts/OpenSansSemiBold-regular.fntdata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10cd68e14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e10cd68e14_0_1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wayground.com/join?gc=1297428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wayground.com/join?gc=00915665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40671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6"/>
          <p:cNvGrpSpPr/>
          <p:nvPr/>
        </p:nvGrpSpPr>
        <p:grpSpPr>
          <a:xfrm>
            <a:off x="952500" y="1714500"/>
            <a:ext cx="16383000" cy="1143000"/>
            <a:chOff x="952500" y="1714500"/>
            <a:chExt cx="16383000" cy="1143000"/>
          </a:xfrm>
        </p:grpSpPr>
        <p:sp>
          <p:nvSpPr>
            <p:cNvPr id="121" name="Google Shape;121;p6"/>
            <p:cNvSpPr/>
            <p:nvPr/>
          </p:nvSpPr>
          <p:spPr>
            <a:xfrm>
              <a:off x="952500" y="17145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 txBox="1"/>
            <p:nvPr/>
          </p:nvSpPr>
          <p:spPr>
            <a:xfrm>
              <a:off x="952500" y="17145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1. Presentación del tutor</a:t>
              </a:r>
              <a:endParaRPr b="1" sz="5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952500" y="3238500"/>
            <a:ext cx="5238900" cy="5715000"/>
            <a:chOff x="952500" y="3238500"/>
            <a:chExt cx="5238900" cy="5715000"/>
          </a:xfrm>
        </p:grpSpPr>
        <p:sp>
          <p:nvSpPr>
            <p:cNvPr id="124" name="Google Shape;124;p6"/>
            <p:cNvSpPr/>
            <p:nvPr/>
          </p:nvSpPr>
          <p:spPr>
            <a:xfrm>
              <a:off x="952500" y="3238500"/>
              <a:ext cx="5238900" cy="5715000"/>
            </a:xfrm>
            <a:prstGeom prst="roundRect">
              <a:avLst>
                <a:gd fmla="val 3636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1333500" y="370713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account_circle</a:t>
              </a:r>
              <a:endParaRPr sz="465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1333500" y="4572000"/>
              <a:ext cx="4476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Nombre del tutor</a:t>
              </a:r>
              <a:endParaRPr b="1" sz="4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Tutor de Laboratorio</a:t>
              </a:r>
              <a:endParaRPr b="0" sz="18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7" name="Google Shape;127;p6"/>
          <p:cNvGrpSpPr/>
          <p:nvPr/>
        </p:nvGrpSpPr>
        <p:grpSpPr>
          <a:xfrm>
            <a:off x="6477000" y="3238500"/>
            <a:ext cx="10858500" cy="5715000"/>
            <a:chOff x="6477000" y="3238500"/>
            <a:chExt cx="10858500" cy="5715000"/>
          </a:xfrm>
        </p:grpSpPr>
        <p:sp>
          <p:nvSpPr>
            <p:cNvPr id="128" name="Google Shape;128;p6"/>
            <p:cNvSpPr/>
            <p:nvPr/>
          </p:nvSpPr>
          <p:spPr>
            <a:xfrm>
              <a:off x="6477000" y="3238500"/>
              <a:ext cx="10858500" cy="5715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 txBox="1"/>
            <p:nvPr/>
          </p:nvSpPr>
          <p:spPr>
            <a:xfrm>
              <a:off x="6953250" y="3619500"/>
              <a:ext cx="990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Contacto para temas de laboratorio</a:t>
              </a:r>
              <a:endParaRPr b="1" sz="2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30" name="Google Shape;130;p6"/>
            <p:cNvGrpSpPr/>
            <p:nvPr/>
          </p:nvGrpSpPr>
          <p:grpSpPr>
            <a:xfrm>
              <a:off x="6953250" y="4667250"/>
              <a:ext cx="9906000" cy="1524000"/>
              <a:chOff x="6953250" y="4667250"/>
              <a:chExt cx="9906000" cy="1524000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6953250" y="4667250"/>
                <a:ext cx="9906000" cy="1524000"/>
              </a:xfrm>
              <a:prstGeom prst="roundRect">
                <a:avLst>
                  <a:gd fmla="val 625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6"/>
              <p:cNvSpPr txBox="1"/>
              <p:nvPr/>
            </p:nvSpPr>
            <p:spPr>
              <a:xfrm>
                <a:off x="7239000" y="4910328"/>
                <a:ext cx="76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email</a:t>
                </a:r>
                <a:endParaRPr sz="3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3" name="Google Shape;133;p6"/>
              <p:cNvSpPr txBox="1"/>
              <p:nvPr/>
            </p:nvSpPr>
            <p:spPr>
              <a:xfrm>
                <a:off x="8191500" y="4857750"/>
                <a:ext cx="838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Correo Electrónico</a:t>
                </a:r>
                <a:endParaRPr b="1" sz="2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xxxxxxxxxxxxx@ingenieria.usac.edu.gt</a:t>
                </a:r>
                <a:endParaRPr b="0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34" name="Google Shape;134;p6"/>
            <p:cNvGrpSpPr/>
            <p:nvPr/>
          </p:nvGrpSpPr>
          <p:grpSpPr>
            <a:xfrm>
              <a:off x="6953250" y="6477000"/>
              <a:ext cx="9906000" cy="1524000"/>
              <a:chOff x="6953250" y="6477000"/>
              <a:chExt cx="9906000" cy="1524000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6953250" y="6477000"/>
                <a:ext cx="9906000" cy="1524000"/>
              </a:xfrm>
              <a:prstGeom prst="roundRect">
                <a:avLst>
                  <a:gd fmla="val 625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 txBox="1"/>
              <p:nvPr/>
            </p:nvSpPr>
            <p:spPr>
              <a:xfrm>
                <a:off x="7239000" y="6720078"/>
                <a:ext cx="76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label</a:t>
                </a:r>
                <a:endParaRPr sz="3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7" name="Google Shape;137;p6"/>
              <p:cNvSpPr txBox="1"/>
              <p:nvPr/>
            </p:nvSpPr>
            <p:spPr>
              <a:xfrm>
                <a:off x="8191500" y="6667500"/>
                <a:ext cx="838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Asunto Requerido</a:t>
                </a:r>
                <a:endParaRPr b="1" sz="2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[LAB_SA]</a:t>
                </a:r>
                <a:endParaRPr b="0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38" name="Google Shape;138;p6"/>
          <p:cNvSpPr txBox="1"/>
          <p:nvPr/>
        </p:nvSpPr>
        <p:spPr>
          <a:xfrm>
            <a:off x="952500" y="93345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7"/>
          <p:cNvGrpSpPr/>
          <p:nvPr/>
        </p:nvGrpSpPr>
        <p:grpSpPr>
          <a:xfrm>
            <a:off x="952500" y="762000"/>
            <a:ext cx="16383000" cy="1143000"/>
            <a:chOff x="952500" y="762000"/>
            <a:chExt cx="16383000" cy="1143000"/>
          </a:xfrm>
        </p:grpSpPr>
        <p:sp>
          <p:nvSpPr>
            <p:cNvPr id="144" name="Google Shape;144;p7"/>
            <p:cNvSpPr/>
            <p:nvPr/>
          </p:nvSpPr>
          <p:spPr>
            <a:xfrm>
              <a:off x="952500" y="7620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7"/>
            <p:cNvSpPr txBox="1"/>
            <p:nvPr/>
          </p:nvSpPr>
          <p:spPr>
            <a:xfrm>
              <a:off x="952500" y="7620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2. Evaluación de Conocimientos Previos</a:t>
              </a:r>
              <a:endParaRPr b="1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6" name="Google Shape;146;p7"/>
          <p:cNvGrpSpPr/>
          <p:nvPr/>
        </p:nvGrpSpPr>
        <p:grpSpPr>
          <a:xfrm>
            <a:off x="3905250" y="2476500"/>
            <a:ext cx="10477500" cy="5715000"/>
            <a:chOff x="3905250" y="2476500"/>
            <a:chExt cx="10477500" cy="5715000"/>
          </a:xfrm>
        </p:grpSpPr>
        <p:sp>
          <p:nvSpPr>
            <p:cNvPr id="147" name="Google Shape;147;p7"/>
            <p:cNvSpPr/>
            <p:nvPr/>
          </p:nvSpPr>
          <p:spPr>
            <a:xfrm>
              <a:off x="3905250" y="2476500"/>
              <a:ext cx="10477500" cy="5715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 txBox="1"/>
            <p:nvPr/>
          </p:nvSpPr>
          <p:spPr>
            <a:xfrm>
              <a:off x="4381500" y="2952750"/>
              <a:ext cx="952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Accede a la evaluación mediante el siguiente enlace:</a:t>
              </a:r>
              <a:endParaRPr b="1" sz="2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9" name="Google Shape;149;p7"/>
            <p:cNvSpPr txBox="1"/>
            <p:nvPr/>
          </p:nvSpPr>
          <p:spPr>
            <a:xfrm>
              <a:off x="3905250" y="4105656"/>
              <a:ext cx="1047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7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5334000" y="5334000"/>
              <a:ext cx="7620000" cy="11430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 txBox="1"/>
            <p:nvPr/>
          </p:nvSpPr>
          <p:spPr>
            <a:xfrm>
              <a:off x="5334000" y="533400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563EB"/>
                  </a:solidFill>
                  <a:uFill>
                    <a:noFill/>
                  </a:uFill>
                  <a:latin typeface="Open Sans SemiBold"/>
                  <a:ea typeface="Open Sans SemiBold"/>
                  <a:cs typeface="Open Sans SemiBold"/>
                  <a:sym typeface="Open Sans SemiBold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wayground.com/join?gc=12974289</a:t>
              </a:r>
              <a:endParaRPr b="0" sz="2400">
                <a:solidFill>
                  <a:srgbClr val="2563E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52" name="Google Shape;152;p7"/>
            <p:cNvSpPr txBox="1"/>
            <p:nvPr/>
          </p:nvSpPr>
          <p:spPr>
            <a:xfrm>
              <a:off x="4381500" y="6667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Ingresa el código proporcionado si es solicitado para iniciar la actividad.</a:t>
              </a:r>
              <a:endParaRPr b="0" sz="18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3" name="Google Shape;153;p7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d75b4d7ed6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g3d75b4d7ed6_0_12"/>
          <p:cNvGrpSpPr/>
          <p:nvPr/>
        </p:nvGrpSpPr>
        <p:grpSpPr>
          <a:xfrm>
            <a:off x="952500" y="762000"/>
            <a:ext cx="16383000" cy="1143000"/>
            <a:chOff x="952500" y="762000"/>
            <a:chExt cx="16383000" cy="1143000"/>
          </a:xfrm>
        </p:grpSpPr>
        <p:sp>
          <p:nvSpPr>
            <p:cNvPr id="160" name="Google Shape;160;g3d75b4d7ed6_0_12"/>
            <p:cNvSpPr/>
            <p:nvPr/>
          </p:nvSpPr>
          <p:spPr>
            <a:xfrm>
              <a:off x="952500" y="7620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3d75b4d7ed6_0_12"/>
            <p:cNvSpPr txBox="1"/>
            <p:nvPr/>
          </p:nvSpPr>
          <p:spPr>
            <a:xfrm>
              <a:off x="952500" y="7620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3. Presentación de los Estudiantes</a:t>
              </a:r>
              <a:endParaRPr b="1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2" name="Google Shape;162;g3d75b4d7ed6_0_12"/>
          <p:cNvGrpSpPr/>
          <p:nvPr/>
        </p:nvGrpSpPr>
        <p:grpSpPr>
          <a:xfrm>
            <a:off x="952500" y="2286000"/>
            <a:ext cx="16383000" cy="5715000"/>
            <a:chOff x="952500" y="2286000"/>
            <a:chExt cx="16383000" cy="5715000"/>
          </a:xfrm>
        </p:grpSpPr>
        <p:sp>
          <p:nvSpPr>
            <p:cNvPr id="163" name="Google Shape;163;g3d75b4d7ed6_0_12"/>
            <p:cNvSpPr/>
            <p:nvPr/>
          </p:nvSpPr>
          <p:spPr>
            <a:xfrm>
              <a:off x="952500" y="2286000"/>
              <a:ext cx="16383000" cy="5715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g3d75b4d7ed6_0_12"/>
            <p:cNvSpPr txBox="1"/>
            <p:nvPr/>
          </p:nvSpPr>
          <p:spPr>
            <a:xfrm>
              <a:off x="1428750" y="2667000"/>
              <a:ext cx="1543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Dinámica de Presentación</a:t>
              </a:r>
              <a:endParaRPr b="1" sz="3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5" name="Google Shape;165;g3d75b4d7ed6_0_12"/>
            <p:cNvSpPr/>
            <p:nvPr/>
          </p:nvSpPr>
          <p:spPr>
            <a:xfrm>
              <a:off x="8667750" y="3619500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g3d75b4d7ed6_0_12"/>
            <p:cNvSpPr txBox="1"/>
            <p:nvPr/>
          </p:nvSpPr>
          <p:spPr>
            <a:xfrm>
              <a:off x="8667750" y="370713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6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g3d75b4d7ed6_0_12"/>
            <p:cNvSpPr txBox="1"/>
            <p:nvPr/>
          </p:nvSpPr>
          <p:spPr>
            <a:xfrm>
              <a:off x="1905000" y="4762500"/>
              <a:ext cx="1447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Se seleccionarán 5 estudiantes para presentarse brevemente: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563EB"/>
                  </a:solidFill>
                  <a:highlight>
                    <a:srgbClr val="EFF6FF"/>
                  </a:highlight>
                  <a:latin typeface="Open Sans SemiBold"/>
                  <a:ea typeface="Open Sans SemiBold"/>
                  <a:cs typeface="Open Sans SemiBold"/>
                  <a:sym typeface="Open Sans SemiBold"/>
                </a:rPr>
                <a:t>1. Nombre completo</a:t>
              </a:r>
              <a:endParaRPr b="0" sz="2400">
                <a:solidFill>
                  <a:srgbClr val="2563EB"/>
                </a:solidFill>
                <a:highlight>
                  <a:srgbClr val="EFF6FF"/>
                </a:highlight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563EB"/>
                  </a:solidFill>
                  <a:highlight>
                    <a:srgbClr val="EFF6FF"/>
                  </a:highlight>
                  <a:latin typeface="Open Sans SemiBold"/>
                  <a:ea typeface="Open Sans SemiBold"/>
                  <a:cs typeface="Open Sans SemiBold"/>
                  <a:sym typeface="Open Sans SemiBold"/>
                </a:rPr>
                <a:t>2. Expectativas del curso</a:t>
              </a:r>
              <a:endParaRPr b="0" sz="2400">
                <a:solidFill>
                  <a:srgbClr val="2563EB"/>
                </a:solidFill>
                <a:highlight>
                  <a:srgbClr val="EFF6FF"/>
                </a:highlight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2400">
                  <a:solidFill>
                    <a:srgbClr val="2563EB"/>
                  </a:solidFill>
                  <a:highlight>
                    <a:srgbClr val="EFF6FF"/>
                  </a:highlight>
                  <a:latin typeface="Open Sans SemiBold"/>
                  <a:ea typeface="Open Sans SemiBold"/>
                  <a:cs typeface="Open Sans SemiBold"/>
                  <a:sym typeface="Open Sans SemiBold"/>
                </a:rPr>
                <a:t>3. Situación laboral actual</a:t>
              </a:r>
              <a:endParaRPr b="0" sz="2400">
                <a:solidFill>
                  <a:srgbClr val="2563EB"/>
                </a:solidFill>
                <a:highlight>
                  <a:srgbClr val="EFF6FF"/>
                </a:highlight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sp>
        <p:nvSpPr>
          <p:cNvPr id="168" name="Google Shape;168;g3d75b4d7ed6_0_12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d75b4d7ed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g3d75b4d7ed6_0_21"/>
          <p:cNvGrpSpPr/>
          <p:nvPr/>
        </p:nvGrpSpPr>
        <p:grpSpPr>
          <a:xfrm>
            <a:off x="952500" y="762000"/>
            <a:ext cx="16383000" cy="1143000"/>
            <a:chOff x="952500" y="762000"/>
            <a:chExt cx="16383000" cy="1143000"/>
          </a:xfrm>
        </p:grpSpPr>
        <p:sp>
          <p:nvSpPr>
            <p:cNvPr id="175" name="Google Shape;175;g3d75b4d7ed6_0_21"/>
            <p:cNvSpPr/>
            <p:nvPr/>
          </p:nvSpPr>
          <p:spPr>
            <a:xfrm>
              <a:off x="952500" y="7620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g3d75b4d7ed6_0_21"/>
            <p:cNvSpPr txBox="1"/>
            <p:nvPr/>
          </p:nvSpPr>
          <p:spPr>
            <a:xfrm>
              <a:off x="952500" y="7620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4. Senso de Horarios de Calificación</a:t>
              </a:r>
              <a:endParaRPr b="1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7" name="Google Shape;177;g3d75b4d7ed6_0_21"/>
          <p:cNvGrpSpPr/>
          <p:nvPr/>
        </p:nvGrpSpPr>
        <p:grpSpPr>
          <a:xfrm>
            <a:off x="952500" y="2286000"/>
            <a:ext cx="16383000" cy="6191400"/>
            <a:chOff x="952500" y="2286000"/>
            <a:chExt cx="16383000" cy="6191400"/>
          </a:xfrm>
        </p:grpSpPr>
        <p:sp>
          <p:nvSpPr>
            <p:cNvPr id="178" name="Google Shape;178;g3d75b4d7ed6_0_21"/>
            <p:cNvSpPr/>
            <p:nvPr/>
          </p:nvSpPr>
          <p:spPr>
            <a:xfrm>
              <a:off x="952500" y="2286000"/>
              <a:ext cx="16383000" cy="6191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3d75b4d7ed6_0_21"/>
            <p:cNvSpPr txBox="1"/>
            <p:nvPr/>
          </p:nvSpPr>
          <p:spPr>
            <a:xfrm>
              <a:off x="1428750" y="2667000"/>
              <a:ext cx="1543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Horarios Tentativos de Calificación</a:t>
              </a:r>
              <a:endParaRPr b="1" sz="3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0" name="Google Shape;180;g3d75b4d7ed6_0_21"/>
            <p:cNvSpPr txBox="1"/>
            <p:nvPr/>
          </p:nvSpPr>
          <p:spPr>
            <a:xfrm>
              <a:off x="8667750" y="370713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6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181" name="Google Shape;181;g3d75b4d7ed6_0_21"/>
            <p:cNvGrpSpPr/>
            <p:nvPr/>
          </p:nvGrpSpPr>
          <p:grpSpPr>
            <a:xfrm>
              <a:off x="1905000" y="4953000"/>
              <a:ext cx="14478000" cy="2857650"/>
              <a:chOff x="1905000" y="4953000"/>
              <a:chExt cx="14478000" cy="2857650"/>
            </a:xfrm>
          </p:grpSpPr>
          <p:sp>
            <p:nvSpPr>
              <p:cNvPr id="182" name="Google Shape;182;g3d75b4d7ed6_0_21"/>
              <p:cNvSpPr/>
              <p:nvPr/>
            </p:nvSpPr>
            <p:spPr>
              <a:xfrm>
                <a:off x="1905000" y="4953000"/>
                <a:ext cx="14478000" cy="1143000"/>
              </a:xfrm>
              <a:prstGeom prst="roundRect">
                <a:avLst>
                  <a:gd fmla="val 125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g3d75b4d7ed6_0_21"/>
              <p:cNvSpPr txBox="1"/>
              <p:nvPr/>
            </p:nvSpPr>
            <p:spPr>
              <a:xfrm>
                <a:off x="1905000" y="4953000"/>
                <a:ext cx="1447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800">
                    <a:solidFill>
                      <a:srgbClr val="2563E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Jueves: 7:00 - 19:00</a:t>
                </a:r>
                <a:endParaRPr b="1" sz="2800">
                  <a:solidFill>
                    <a:srgbClr val="2563E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4" name="Google Shape;184;g3d75b4d7ed6_0_21"/>
              <p:cNvSpPr/>
              <p:nvPr/>
            </p:nvSpPr>
            <p:spPr>
              <a:xfrm>
                <a:off x="1905000" y="6381750"/>
                <a:ext cx="144780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1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d75b4d7ed6_0_21"/>
              <p:cNvSpPr txBox="1"/>
              <p:nvPr/>
            </p:nvSpPr>
            <p:spPr>
              <a:xfrm>
                <a:off x="1905000" y="6381750"/>
                <a:ext cx="14478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E11D48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Sábados</a:t>
                </a:r>
                <a:endParaRPr b="0" sz="2000">
                  <a:solidFill>
                    <a:srgbClr val="E11D48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ctr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Únicamente con excusa laboral o por enfermedad</a:t>
                </a:r>
                <a:endParaRPr b="0" sz="16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86" name="Google Shape;186;g3d75b4d7ed6_0_21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d75b4d7ed6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g3d75b4d7ed6_0_30"/>
          <p:cNvGrpSpPr/>
          <p:nvPr/>
        </p:nvGrpSpPr>
        <p:grpSpPr>
          <a:xfrm>
            <a:off x="952500" y="762000"/>
            <a:ext cx="16383000" cy="1143000"/>
            <a:chOff x="952500" y="762000"/>
            <a:chExt cx="16383000" cy="1143000"/>
          </a:xfrm>
        </p:grpSpPr>
        <p:sp>
          <p:nvSpPr>
            <p:cNvPr id="193" name="Google Shape;193;g3d75b4d7ed6_0_30"/>
            <p:cNvSpPr/>
            <p:nvPr/>
          </p:nvSpPr>
          <p:spPr>
            <a:xfrm>
              <a:off x="952500" y="7620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g3d75b4d7ed6_0_30"/>
            <p:cNvSpPr txBox="1"/>
            <p:nvPr/>
          </p:nvSpPr>
          <p:spPr>
            <a:xfrm>
              <a:off x="952500" y="7620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5. Programa del Curso</a:t>
              </a:r>
              <a:endParaRPr b="1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5" name="Google Shape;195;g3d75b4d7ed6_0_30"/>
          <p:cNvGrpSpPr/>
          <p:nvPr/>
        </p:nvGrpSpPr>
        <p:grpSpPr>
          <a:xfrm>
            <a:off x="952500" y="2286000"/>
            <a:ext cx="16383000" cy="6191400"/>
            <a:chOff x="952500" y="2286000"/>
            <a:chExt cx="16383000" cy="6191400"/>
          </a:xfrm>
        </p:grpSpPr>
        <p:sp>
          <p:nvSpPr>
            <p:cNvPr id="196" name="Google Shape;196;g3d75b4d7ed6_0_30"/>
            <p:cNvSpPr/>
            <p:nvPr/>
          </p:nvSpPr>
          <p:spPr>
            <a:xfrm>
              <a:off x="952500" y="2286000"/>
              <a:ext cx="16383000" cy="6191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g3d75b4d7ed6_0_30"/>
            <p:cNvSpPr txBox="1"/>
            <p:nvPr/>
          </p:nvSpPr>
          <p:spPr>
            <a:xfrm>
              <a:off x="1428750" y="2667000"/>
              <a:ext cx="1543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Distribución de Ponderación</a:t>
              </a:r>
              <a:endParaRPr b="1" sz="32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8" name="Google Shape;198;g3d75b4d7ed6_0_30"/>
            <p:cNvSpPr txBox="1"/>
            <p:nvPr/>
          </p:nvSpPr>
          <p:spPr>
            <a:xfrm>
              <a:off x="8667750" y="370713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6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99" name="Google Shape;199;g3d75b4d7ed6_0_30"/>
          <p:cNvGrpSpPr/>
          <p:nvPr/>
        </p:nvGrpSpPr>
        <p:grpSpPr>
          <a:xfrm>
            <a:off x="1905000" y="4762500"/>
            <a:ext cx="14478000" cy="762000"/>
            <a:chOff x="1905000" y="4762500"/>
            <a:chExt cx="14478000" cy="762000"/>
          </a:xfrm>
        </p:grpSpPr>
        <p:sp>
          <p:nvSpPr>
            <p:cNvPr id="200" name="Google Shape;200;g3d75b4d7ed6_0_30"/>
            <p:cNvSpPr/>
            <p:nvPr/>
          </p:nvSpPr>
          <p:spPr>
            <a:xfrm>
              <a:off x="1905000" y="4762500"/>
              <a:ext cx="14478000" cy="7620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3d75b4d7ed6_0_30"/>
            <p:cNvSpPr txBox="1"/>
            <p:nvPr/>
          </p:nvSpPr>
          <p:spPr>
            <a:xfrm>
              <a:off x="2095500" y="4762500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Actividades en clase</a:t>
              </a:r>
              <a:endParaRPr b="0" sz="2200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02" name="Google Shape;202;g3d75b4d7ed6_0_30"/>
            <p:cNvSpPr txBox="1"/>
            <p:nvPr/>
          </p:nvSpPr>
          <p:spPr>
            <a:xfrm>
              <a:off x="11620500" y="4762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563EB"/>
                  </a:solidFill>
                  <a:latin typeface="Open Sans"/>
                  <a:ea typeface="Open Sans"/>
                  <a:cs typeface="Open Sans"/>
                  <a:sym typeface="Open Sans"/>
                </a:rPr>
                <a:t>5 pts</a:t>
              </a:r>
              <a:endParaRPr b="1" sz="240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3" name="Google Shape;203;g3d75b4d7ed6_0_30"/>
          <p:cNvGrpSpPr/>
          <p:nvPr/>
        </p:nvGrpSpPr>
        <p:grpSpPr>
          <a:xfrm>
            <a:off x="1905000" y="5667375"/>
            <a:ext cx="14478000" cy="762000"/>
            <a:chOff x="1905000" y="5667375"/>
            <a:chExt cx="14478000" cy="762000"/>
          </a:xfrm>
        </p:grpSpPr>
        <p:sp>
          <p:nvSpPr>
            <p:cNvPr id="204" name="Google Shape;204;g3d75b4d7ed6_0_30"/>
            <p:cNvSpPr/>
            <p:nvPr/>
          </p:nvSpPr>
          <p:spPr>
            <a:xfrm>
              <a:off x="1905000" y="5667375"/>
              <a:ext cx="14478000" cy="762000"/>
            </a:xfrm>
            <a:prstGeom prst="roundRect">
              <a:avLst>
                <a:gd fmla="val 12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g3d75b4d7ed6_0_30"/>
            <p:cNvSpPr txBox="1"/>
            <p:nvPr/>
          </p:nvSpPr>
          <p:spPr>
            <a:xfrm>
              <a:off x="2095500" y="5667375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Proyectos (3 fases)</a:t>
              </a:r>
              <a:endParaRPr b="0" sz="2200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06" name="Google Shape;206;g3d75b4d7ed6_0_30"/>
            <p:cNvSpPr txBox="1"/>
            <p:nvPr/>
          </p:nvSpPr>
          <p:spPr>
            <a:xfrm>
              <a:off x="11620500" y="5667375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60 pts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7" name="Google Shape;207;g3d75b4d7ed6_0_30"/>
          <p:cNvGrpSpPr/>
          <p:nvPr/>
        </p:nvGrpSpPr>
        <p:grpSpPr>
          <a:xfrm>
            <a:off x="1905000" y="6572250"/>
            <a:ext cx="14478000" cy="762000"/>
            <a:chOff x="1905000" y="6572250"/>
            <a:chExt cx="14478000" cy="762000"/>
          </a:xfrm>
        </p:grpSpPr>
        <p:sp>
          <p:nvSpPr>
            <p:cNvPr id="208" name="Google Shape;208;g3d75b4d7ed6_0_30"/>
            <p:cNvSpPr/>
            <p:nvPr/>
          </p:nvSpPr>
          <p:spPr>
            <a:xfrm>
              <a:off x="1905000" y="6572250"/>
              <a:ext cx="14478000" cy="7620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3d75b4d7ed6_0_30"/>
            <p:cNvSpPr txBox="1"/>
            <p:nvPr/>
          </p:nvSpPr>
          <p:spPr>
            <a:xfrm>
              <a:off x="2095500" y="6572250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Prácticas (10 prácticas)</a:t>
              </a:r>
              <a:endParaRPr b="0" sz="2200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10" name="Google Shape;210;g3d75b4d7ed6_0_30"/>
            <p:cNvSpPr txBox="1"/>
            <p:nvPr/>
          </p:nvSpPr>
          <p:spPr>
            <a:xfrm>
              <a:off x="11620500" y="657225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2563EB"/>
                  </a:solidFill>
                  <a:latin typeface="Open Sans"/>
                  <a:ea typeface="Open Sans"/>
                  <a:cs typeface="Open Sans"/>
                  <a:sym typeface="Open Sans"/>
                </a:rPr>
                <a:t>30 pts</a:t>
              </a:r>
              <a:endParaRPr b="1" sz="240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1" name="Google Shape;211;g3d75b4d7ed6_0_30"/>
          <p:cNvGrpSpPr/>
          <p:nvPr/>
        </p:nvGrpSpPr>
        <p:grpSpPr>
          <a:xfrm>
            <a:off x="1905000" y="7477125"/>
            <a:ext cx="14478000" cy="762000"/>
            <a:chOff x="1905000" y="7477125"/>
            <a:chExt cx="14478000" cy="762000"/>
          </a:xfrm>
        </p:grpSpPr>
        <p:sp>
          <p:nvSpPr>
            <p:cNvPr id="212" name="Google Shape;212;g3d75b4d7ed6_0_30"/>
            <p:cNvSpPr/>
            <p:nvPr/>
          </p:nvSpPr>
          <p:spPr>
            <a:xfrm>
              <a:off x="1905000" y="7477125"/>
              <a:ext cx="14478000" cy="762000"/>
            </a:xfrm>
            <a:prstGeom prst="roundRect">
              <a:avLst>
                <a:gd fmla="val 12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g3d75b4d7ed6_0_30"/>
            <p:cNvSpPr txBox="1"/>
            <p:nvPr/>
          </p:nvSpPr>
          <p:spPr>
            <a:xfrm>
              <a:off x="2095500" y="7477125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Examen final</a:t>
              </a:r>
              <a:endParaRPr b="0" sz="2200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14" name="Google Shape;214;g3d75b4d7ed6_0_30"/>
            <p:cNvSpPr txBox="1"/>
            <p:nvPr/>
          </p:nvSpPr>
          <p:spPr>
            <a:xfrm>
              <a:off x="11620500" y="7477125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5 pts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5" name="Google Shape;215;g3d75b4d7ed6_0_30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g3e10cd68e14_0_1301"/>
          <p:cNvGrpSpPr/>
          <p:nvPr/>
        </p:nvGrpSpPr>
        <p:grpSpPr>
          <a:xfrm>
            <a:off x="952500" y="762000"/>
            <a:ext cx="16383000" cy="1143000"/>
            <a:chOff x="952500" y="762000"/>
            <a:chExt cx="16383000" cy="1143000"/>
          </a:xfrm>
        </p:grpSpPr>
        <p:sp>
          <p:nvSpPr>
            <p:cNvPr id="221" name="Google Shape;221;g3e10cd68e14_0_1301"/>
            <p:cNvSpPr/>
            <p:nvPr/>
          </p:nvSpPr>
          <p:spPr>
            <a:xfrm>
              <a:off x="952500" y="762000"/>
              <a:ext cx="16383000" cy="11430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g3e10cd68e14_0_1301"/>
            <p:cNvSpPr txBox="1"/>
            <p:nvPr/>
          </p:nvSpPr>
          <p:spPr>
            <a:xfrm>
              <a:off x="952500" y="762000"/>
              <a:ext cx="1638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r>
                <a:rPr b="1" lang="en-US" sz="48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. Evaluación de Conocimientos Actuales</a:t>
              </a:r>
              <a:endParaRPr b="1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3" name="Google Shape;223;g3e10cd68e14_0_1301"/>
          <p:cNvGrpSpPr/>
          <p:nvPr/>
        </p:nvGrpSpPr>
        <p:grpSpPr>
          <a:xfrm>
            <a:off x="3905250" y="2667000"/>
            <a:ext cx="10477500" cy="5715000"/>
            <a:chOff x="3905250" y="2667000"/>
            <a:chExt cx="10477500" cy="5715000"/>
          </a:xfrm>
        </p:grpSpPr>
        <p:sp>
          <p:nvSpPr>
            <p:cNvPr id="224" name="Google Shape;224;g3e10cd68e14_0_1301"/>
            <p:cNvSpPr/>
            <p:nvPr/>
          </p:nvSpPr>
          <p:spPr>
            <a:xfrm>
              <a:off x="3905250" y="2667000"/>
              <a:ext cx="10477500" cy="571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e10cd68e14_0_1301"/>
            <p:cNvSpPr txBox="1"/>
            <p:nvPr/>
          </p:nvSpPr>
          <p:spPr>
            <a:xfrm>
              <a:off x="4381500" y="3048000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Accede a la evaluación mediante el siguiente enlace:</a:t>
              </a:r>
              <a:endParaRPr b="1" sz="2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6" name="Google Shape;226;g3e10cd68e14_0_1301"/>
            <p:cNvSpPr txBox="1"/>
            <p:nvPr/>
          </p:nvSpPr>
          <p:spPr>
            <a:xfrm>
              <a:off x="3905250" y="4105656"/>
              <a:ext cx="1047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12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612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227" name="Google Shape;227;g3e10cd68e14_0_1301"/>
            <p:cNvGrpSpPr/>
            <p:nvPr/>
          </p:nvGrpSpPr>
          <p:grpSpPr>
            <a:xfrm>
              <a:off x="5334000" y="5143500"/>
              <a:ext cx="7620000" cy="952500"/>
              <a:chOff x="5334000" y="5143500"/>
              <a:chExt cx="7620000" cy="952500"/>
            </a:xfrm>
          </p:grpSpPr>
          <p:sp>
            <p:nvSpPr>
              <p:cNvPr id="228" name="Google Shape;228;g3e10cd68e14_0_1301"/>
              <p:cNvSpPr/>
              <p:nvPr/>
            </p:nvSpPr>
            <p:spPr>
              <a:xfrm>
                <a:off x="5334000" y="5143500"/>
                <a:ext cx="76200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e10cd68e14_0_1301"/>
              <p:cNvSpPr txBox="1"/>
              <p:nvPr/>
            </p:nvSpPr>
            <p:spPr>
              <a:xfrm>
                <a:off x="5429250" y="5143500"/>
                <a:ext cx="742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u="sng">
                    <a:solidFill>
                      <a:srgbClr val="2563EB"/>
                    </a:solidFill>
                    <a:latin typeface="Open Sans"/>
                    <a:ea typeface="Open Sans"/>
                    <a:cs typeface="Open Sans"/>
                    <a:sym typeface="Open Sans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https://wayground.com/join?gc=00915665</a:t>
                </a:r>
                <a:endParaRPr sz="1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30" name="Google Shape;230;g3e10cd68e14_0_1301"/>
            <p:cNvSpPr txBox="1"/>
            <p:nvPr/>
          </p:nvSpPr>
          <p:spPr>
            <a:xfrm>
              <a:off x="4857750" y="6477000"/>
              <a:ext cx="857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Ingresa el código proporcionado si es solicitado para iniciar la actividad.</a:t>
              </a:r>
              <a:endParaRPr b="0" sz="18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1" name="Google Shape;231;g3e10cd68e14_0_1301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d75b4d7ed6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d75b4d7ed6_1_10"/>
          <p:cNvSpPr txBox="1"/>
          <p:nvPr/>
        </p:nvSpPr>
        <p:spPr>
          <a:xfrm>
            <a:off x="952500" y="762000"/>
            <a:ext cx="16383000" cy="738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</a:t>
            </a:r>
            <a:endParaRPr b="1" sz="480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8" name="Google Shape;238;g3d75b4d7ed6_1_10"/>
          <p:cNvGrpSpPr/>
          <p:nvPr/>
        </p:nvGrpSpPr>
        <p:grpSpPr>
          <a:xfrm>
            <a:off x="3905250" y="2667000"/>
            <a:ext cx="10477500" cy="5715000"/>
            <a:chOff x="3905250" y="2667000"/>
            <a:chExt cx="10477500" cy="5715000"/>
          </a:xfrm>
        </p:grpSpPr>
        <p:sp>
          <p:nvSpPr>
            <p:cNvPr id="239" name="Google Shape;239;g3d75b4d7ed6_1_10"/>
            <p:cNvSpPr/>
            <p:nvPr/>
          </p:nvSpPr>
          <p:spPr>
            <a:xfrm>
              <a:off x="3905250" y="2667000"/>
              <a:ext cx="10477500" cy="571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g3d75b4d7ed6_1_10"/>
            <p:cNvSpPr txBox="1"/>
            <p:nvPr/>
          </p:nvSpPr>
          <p:spPr>
            <a:xfrm>
              <a:off x="3905250" y="3135630"/>
              <a:ext cx="1047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account_circle</a:t>
              </a:r>
              <a:endParaRPr sz="6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g3d75b4d7ed6_1_10"/>
            <p:cNvSpPr txBox="1"/>
            <p:nvPr/>
          </p:nvSpPr>
          <p:spPr>
            <a:xfrm>
              <a:off x="4381500" y="4000500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Datos tutor</a:t>
              </a:r>
              <a:endParaRPr b="1" sz="2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2" name="Google Shape;242;g3d75b4d7ed6_1_10"/>
            <p:cNvGrpSpPr/>
            <p:nvPr/>
          </p:nvGrpSpPr>
          <p:grpSpPr>
            <a:xfrm>
              <a:off x="5334000" y="4762500"/>
              <a:ext cx="7620000" cy="1143000"/>
              <a:chOff x="5334000" y="4762500"/>
              <a:chExt cx="7620000" cy="1143000"/>
            </a:xfrm>
          </p:grpSpPr>
          <p:sp>
            <p:nvSpPr>
              <p:cNvPr id="243" name="Google Shape;243;g3d75b4d7ed6_1_10"/>
              <p:cNvSpPr/>
              <p:nvPr/>
            </p:nvSpPr>
            <p:spPr>
              <a:xfrm>
                <a:off x="5334000" y="4762500"/>
                <a:ext cx="7620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g3d75b4d7ed6_1_10"/>
              <p:cNvSpPr txBox="1"/>
              <p:nvPr/>
            </p:nvSpPr>
            <p:spPr>
              <a:xfrm>
                <a:off x="5429250" y="4762500"/>
                <a:ext cx="7429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Nombre del tutor</a:t>
                </a:r>
                <a:endParaRPr b="0" sz="22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2563E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xxxxxxxxxxxxx@ingenieria.usac.edu.gt</a:t>
                </a:r>
                <a:endParaRPr sz="1800">
                  <a:solidFill>
                    <a:srgbClr val="2563E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45" name="Google Shape;245;g3d75b4d7ed6_1_10"/>
            <p:cNvGrpSpPr/>
            <p:nvPr/>
          </p:nvGrpSpPr>
          <p:grpSpPr>
            <a:xfrm>
              <a:off x="5334000" y="6191250"/>
              <a:ext cx="7620000" cy="1333500"/>
              <a:chOff x="5334000" y="6191250"/>
              <a:chExt cx="7620000" cy="1333500"/>
            </a:xfrm>
          </p:grpSpPr>
          <p:sp>
            <p:nvSpPr>
              <p:cNvPr id="246" name="Google Shape;246;g3d75b4d7ed6_1_10"/>
              <p:cNvSpPr/>
              <p:nvPr/>
            </p:nvSpPr>
            <p:spPr>
              <a:xfrm>
                <a:off x="5334000" y="6191250"/>
                <a:ext cx="76200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EF2F2"/>
              </a:solidFill>
              <a:ln cap="flat" cmpd="sng" w="9525">
                <a:solidFill>
                  <a:srgbClr val="FEE2E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d75b4d7ed6_1_10"/>
              <p:cNvSpPr txBox="1"/>
              <p:nvPr/>
            </p:nvSpPr>
            <p:spPr>
              <a:xfrm>
                <a:off x="5524500" y="6191250"/>
                <a:ext cx="7239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91B1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Es necesario entregar la tarea para tener derecho a la calificación de la practica 1</a:t>
                </a:r>
                <a:endParaRPr b="0" sz="1800">
                  <a:solidFill>
                    <a:srgbClr val="991B1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48" name="Google Shape;248;g3d75b4d7ed6_1_10"/>
          <p:cNvSpPr txBox="1"/>
          <p:nvPr/>
        </p:nvSpPr>
        <p:spPr>
          <a:xfrm>
            <a:off x="952500" y="9334500"/>
            <a:ext cx="1638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 | Facultad de Ingeniería | USAC</a:t>
            </a:r>
            <a:endParaRPr b="0" sz="14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