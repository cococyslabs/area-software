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10287000" cx="18288000"/>
  <p:notesSz cx="6858000" cy="9144000"/>
  <p:embeddedFontLst>
    <p:embeddedFont>
      <p:font typeface="Pacifico"/>
      <p:regular r:id="rId24"/>
    </p:embeddedFont>
    <p:embeddedFont>
      <p:font typeface="Open Sans"/>
      <p:bold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7" roundtripDataSignature="AMtx7mg85QvS1zTj7foryh5ddf1psoNh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acifico-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boldItalic.fntdata"/><Relationship Id="rId25" Type="http://schemas.openxmlformats.org/officeDocument/2006/relationships/font" Target="fonts/OpenSans-bold.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04" name="Google Shape;104;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05" name="Google Shape;105;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08" name="Google Shape;108;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65" name="Google Shape;165;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66" name="Google Shape;166;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69" name="Google Shape;169;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79" name="Google Shape;179;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80" name="Google Shape;180;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83" name="Google Shape;183;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94" name="Google Shape;194;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95" name="Google Shape;195;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98" name="Google Shape;198;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11" name="Google Shape;211;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12" name="Google Shape;212;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15" name="Google Shape;215;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25" name="Google Shape;225;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26" name="Google Shape;226;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29" name="Google Shape;229;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41" name="Google Shape;241;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42" name="Google Shape;242;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45" name="Google Shape;245;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55" name="Google Shape;255;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56" name="Google Shape;256;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59" name="Google Shape;259;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72" name="Google Shape;272;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73" name="Google Shape;273;p1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76" name="Google Shape;276;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89" name="Google Shape;289;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90" name="Google Shape;290;p1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93" name="Google Shape;293;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03" name="Google Shape;303;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04" name="Google Shape;304;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07" name="Google Shape;307;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18" name="Google Shape;318;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19" name="Google Shape;319;p1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22" name="Google Shape;322;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32" name="Google Shape;332;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33" name="Google Shape;333;p1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36" name="Google Shape;336;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46" name="Google Shape;346;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47" name="Google Shape;347;p1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50" name="Google Shape;350;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61" name="Google Shape;361;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62" name="Google Shape;362;p1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65" name="Google Shape;365;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75" name="Google Shape;375;p1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76" name="Google Shape;376;p1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1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79" name="Google Shape;379;p1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89" name="Google Shape;389;p1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90" name="Google Shape;390;p1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1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93" name="Google Shape;393;p1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8"/>
          <p:cNvSpPr/>
          <p:nvPr>
            <p:ph idx="2" type="pic"/>
          </p:nvPr>
        </p:nvSpPr>
        <p:spPr>
          <a:xfrm>
            <a:off x="1792288" y="612775"/>
            <a:ext cx="5486400" cy="4114800"/>
          </a:xfrm>
          <a:prstGeom prst="rect">
            <a:avLst/>
          </a:prstGeom>
          <a:noFill/>
          <a:ln>
            <a:noFill/>
          </a:ln>
        </p:spPr>
      </p:sp>
      <p:sp>
        <p:nvSpPr>
          <p:cNvPr id="68" name="Google Shape;68;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p:nvPr/>
        </p:nvSpPr>
        <p:spPr>
          <a:xfrm>
            <a:off x="12541309" y="0"/>
            <a:ext cx="5746718" cy="1711738"/>
          </a:xfrm>
          <a:custGeom>
            <a:rect b="b" l="l" r="r" t="t"/>
            <a:pathLst>
              <a:path extrusionOk="0" h="2282317" w="7662291">
                <a:moveTo>
                  <a:pt x="0" y="0"/>
                </a:moveTo>
                <a:lnTo>
                  <a:pt x="7662291" y="0"/>
                </a:lnTo>
                <a:lnTo>
                  <a:pt x="7662291" y="2282317"/>
                </a:lnTo>
                <a:lnTo>
                  <a:pt x="0" y="2282317"/>
                </a:lnTo>
                <a:lnTo>
                  <a:pt x="0" y="0"/>
                </a:lnTo>
                <a:close/>
              </a:path>
            </a:pathLst>
          </a:custGeom>
          <a:blipFill rotWithShape="1">
            <a:blip r:embed="rId3">
              <a:alphaModFix/>
            </a:blip>
            <a:stretch>
              <a:fillRect b="-1" l="0" r="0" t="0"/>
            </a:stretch>
          </a:blipFill>
          <a:ln>
            <a:noFill/>
          </a:ln>
        </p:spPr>
      </p:sp>
      <p:grpSp>
        <p:nvGrpSpPr>
          <p:cNvPr id="93" name="Google Shape;93;p1"/>
          <p:cNvGrpSpPr/>
          <p:nvPr/>
        </p:nvGrpSpPr>
        <p:grpSpPr>
          <a:xfrm>
            <a:off x="1063296" y="6319475"/>
            <a:ext cx="13093200" cy="2018550"/>
            <a:chOff x="0" y="-228600"/>
            <a:chExt cx="17457600" cy="2691400"/>
          </a:xfrm>
        </p:grpSpPr>
        <p:sp>
          <p:nvSpPr>
            <p:cNvPr id="94" name="Google Shape;94;p1"/>
            <p:cNvSpPr/>
            <p:nvPr/>
          </p:nvSpPr>
          <p:spPr>
            <a:xfrm>
              <a:off x="0" y="0"/>
              <a:ext cx="17457600" cy="2462800"/>
            </a:xfrm>
            <a:custGeom>
              <a:rect b="b" l="l" r="r" t="t"/>
              <a:pathLst>
                <a:path extrusionOk="0" h="2462800" w="17457600">
                  <a:moveTo>
                    <a:pt x="0" y="0"/>
                  </a:moveTo>
                  <a:lnTo>
                    <a:pt x="17457600" y="0"/>
                  </a:lnTo>
                  <a:lnTo>
                    <a:pt x="17457600" y="2462800"/>
                  </a:lnTo>
                  <a:lnTo>
                    <a:pt x="0" y="2462800"/>
                  </a:lnTo>
                  <a:close/>
                </a:path>
              </a:pathLst>
            </a:custGeom>
            <a:solidFill>
              <a:srgbClr val="000000">
                <a:alpha val="0"/>
              </a:srgbClr>
            </a:solidFill>
            <a:ln>
              <a:noFill/>
            </a:ln>
          </p:spPr>
        </p:sp>
        <p:sp>
          <p:nvSpPr>
            <p:cNvPr id="95" name="Google Shape;95;p1"/>
            <p:cNvSpPr txBox="1"/>
            <p:nvPr/>
          </p:nvSpPr>
          <p:spPr>
            <a:xfrm>
              <a:off x="0" y="-228600"/>
              <a:ext cx="17457600" cy="2691400"/>
            </a:xfrm>
            <a:prstGeom prst="rect">
              <a:avLst/>
            </a:prstGeom>
            <a:noFill/>
            <a:ln>
              <a:noFill/>
            </a:ln>
          </p:spPr>
          <p:txBody>
            <a:bodyPr anchorCtr="0" anchor="t" bIns="0" lIns="0" spcFirstLastPara="1" rIns="0" wrap="square" tIns="0">
              <a:noAutofit/>
            </a:bodyPr>
            <a:lstStyle/>
            <a:p>
              <a:pPr indent="0" lvl="0" marL="0" marR="0" rtl="0" algn="ctr">
                <a:lnSpc>
                  <a:spcPct val="168013"/>
                </a:lnSpc>
                <a:spcBef>
                  <a:spcPts val="0"/>
                </a:spcBef>
                <a:spcAft>
                  <a:spcPts val="0"/>
                </a:spcAft>
                <a:buNone/>
              </a:pPr>
              <a:r>
                <a:rPr b="1" i="0" lang="en-US" sz="4999" u="none" cap="none" strike="noStrike">
                  <a:solidFill>
                    <a:srgbClr val="131416"/>
                  </a:solidFill>
                  <a:latin typeface="Open Sans"/>
                  <a:ea typeface="Open Sans"/>
                  <a:cs typeface="Open Sans"/>
                  <a:sym typeface="Open Sans"/>
                </a:rPr>
                <a:t>Introducción a la Programación y Computación 1</a:t>
              </a:r>
              <a:endParaRPr/>
            </a:p>
          </p:txBody>
        </p:sp>
      </p:grpSp>
      <p:grpSp>
        <p:nvGrpSpPr>
          <p:cNvPr id="96" name="Google Shape;96;p1"/>
          <p:cNvGrpSpPr/>
          <p:nvPr/>
        </p:nvGrpSpPr>
        <p:grpSpPr>
          <a:xfrm>
            <a:off x="440832" y="3681643"/>
            <a:ext cx="17406336" cy="2723689"/>
            <a:chOff x="0" y="-266700"/>
            <a:chExt cx="23208448" cy="3631585"/>
          </a:xfrm>
        </p:grpSpPr>
        <p:sp>
          <p:nvSpPr>
            <p:cNvPr id="97" name="Google Shape;97;p1"/>
            <p:cNvSpPr/>
            <p:nvPr/>
          </p:nvSpPr>
          <p:spPr>
            <a:xfrm>
              <a:off x="0" y="0"/>
              <a:ext cx="23208448" cy="3364885"/>
            </a:xfrm>
            <a:custGeom>
              <a:rect b="b" l="l" r="r" t="t"/>
              <a:pathLst>
                <a:path extrusionOk="0" h="3364885" w="23208448">
                  <a:moveTo>
                    <a:pt x="0" y="0"/>
                  </a:moveTo>
                  <a:lnTo>
                    <a:pt x="23208448" y="0"/>
                  </a:lnTo>
                  <a:lnTo>
                    <a:pt x="23208448" y="3364885"/>
                  </a:lnTo>
                  <a:lnTo>
                    <a:pt x="0" y="3364885"/>
                  </a:lnTo>
                  <a:close/>
                </a:path>
              </a:pathLst>
            </a:custGeom>
            <a:solidFill>
              <a:srgbClr val="000000">
                <a:alpha val="0"/>
              </a:srgbClr>
            </a:solidFill>
            <a:ln>
              <a:noFill/>
            </a:ln>
          </p:spPr>
        </p:sp>
        <p:sp>
          <p:nvSpPr>
            <p:cNvPr id="98" name="Google Shape;98;p1"/>
            <p:cNvSpPr txBox="1"/>
            <p:nvPr/>
          </p:nvSpPr>
          <p:spPr>
            <a:xfrm>
              <a:off x="0" y="-266700"/>
              <a:ext cx="23208448" cy="3631585"/>
            </a:xfrm>
            <a:prstGeom prst="rect">
              <a:avLst/>
            </a:prstGeom>
            <a:noFill/>
            <a:ln>
              <a:noFill/>
            </a:ln>
          </p:spPr>
          <p:txBody>
            <a:bodyPr anchorCtr="0" anchor="t" bIns="0" lIns="0" spcFirstLastPara="1" rIns="0" wrap="square" tIns="0">
              <a:noAutofit/>
            </a:bodyPr>
            <a:lstStyle/>
            <a:p>
              <a:pPr indent="0" lvl="0" marL="0" marR="0" rtl="0" algn="ctr">
                <a:lnSpc>
                  <a:spcPct val="168000"/>
                </a:lnSpc>
                <a:spcBef>
                  <a:spcPts val="0"/>
                </a:spcBef>
                <a:spcAft>
                  <a:spcPts val="0"/>
                </a:spcAft>
                <a:buNone/>
              </a:pPr>
              <a:r>
                <a:rPr b="1" i="0" lang="en-US" sz="6000" u="none" cap="none" strike="noStrike">
                  <a:solidFill>
                    <a:srgbClr val="131416"/>
                  </a:solidFill>
                  <a:latin typeface="Open Sans"/>
                  <a:ea typeface="Open Sans"/>
                  <a:cs typeface="Open Sans"/>
                  <a:sym typeface="Open Sans"/>
                </a:rPr>
                <a:t>Introducción a los Fundamentos de Programación y Pseudocódigo</a:t>
              </a:r>
              <a:endParaRPr/>
            </a:p>
          </p:txBody>
        </p:sp>
      </p:grpSp>
      <p:grpSp>
        <p:nvGrpSpPr>
          <p:cNvPr id="99" name="Google Shape;99;p1"/>
          <p:cNvGrpSpPr/>
          <p:nvPr/>
        </p:nvGrpSpPr>
        <p:grpSpPr>
          <a:xfrm>
            <a:off x="1081353" y="8455051"/>
            <a:ext cx="6981300" cy="1547625"/>
            <a:chOff x="0" y="-114300"/>
            <a:chExt cx="9308400" cy="2063500"/>
          </a:xfrm>
        </p:grpSpPr>
        <p:sp>
          <p:nvSpPr>
            <p:cNvPr id="100" name="Google Shape;100;p1"/>
            <p:cNvSpPr/>
            <p:nvPr/>
          </p:nvSpPr>
          <p:spPr>
            <a:xfrm>
              <a:off x="0" y="0"/>
              <a:ext cx="9308400" cy="1949200"/>
            </a:xfrm>
            <a:custGeom>
              <a:rect b="b" l="l" r="r" t="t"/>
              <a:pathLst>
                <a:path extrusionOk="0" h="1949200" w="9308400">
                  <a:moveTo>
                    <a:pt x="0" y="0"/>
                  </a:moveTo>
                  <a:lnTo>
                    <a:pt x="9308400" y="0"/>
                  </a:lnTo>
                  <a:lnTo>
                    <a:pt x="9308400" y="1949200"/>
                  </a:lnTo>
                  <a:lnTo>
                    <a:pt x="0" y="1949200"/>
                  </a:lnTo>
                  <a:close/>
                </a:path>
              </a:pathLst>
            </a:custGeom>
            <a:solidFill>
              <a:srgbClr val="000000">
                <a:alpha val="0"/>
              </a:srgbClr>
            </a:solidFill>
            <a:ln>
              <a:noFill/>
            </a:ln>
          </p:spPr>
        </p:sp>
        <p:sp>
          <p:nvSpPr>
            <p:cNvPr id="101" name="Google Shape;101;p1"/>
            <p:cNvSpPr txBox="1"/>
            <p:nvPr/>
          </p:nvSpPr>
          <p:spPr>
            <a:xfrm>
              <a:off x="0" y="-114300"/>
              <a:ext cx="9308400" cy="2063500"/>
            </a:xfrm>
            <a:prstGeom prst="rect">
              <a:avLst/>
            </a:prstGeom>
            <a:noFill/>
            <a:ln>
              <a:noFill/>
            </a:ln>
          </p:spPr>
          <p:txBody>
            <a:bodyPr anchorCtr="0" anchor="t" bIns="0" lIns="0" spcFirstLastPara="1" rIns="0" wrap="square" tIns="0">
              <a:noAutofit/>
            </a:bodyPr>
            <a:lstStyle/>
            <a:p>
              <a:pPr indent="0" lvl="0" marL="0" marR="0" rtl="0" algn="l">
                <a:lnSpc>
                  <a:spcPct val="167987"/>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a:p>
              <a:pPr indent="0" lvl="0" marL="0" marR="0" rtl="0" algn="l">
                <a:lnSpc>
                  <a:spcPct val="167987"/>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Ingeniería</a:t>
              </a:r>
              <a:endParaRPr/>
            </a:p>
            <a:p>
              <a:pPr indent="0" lvl="0" marL="0" marR="0" rtl="0" algn="l">
                <a:lnSpc>
                  <a:spcPct val="167987"/>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Ciencias Y Sistemas</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
          <p:cNvSpPr/>
          <p:nvPr/>
        </p:nvSpPr>
        <p:spPr>
          <a:xfrm>
            <a:off x="176619" y="4699462"/>
            <a:ext cx="4613529" cy="666369"/>
          </a:xfrm>
          <a:custGeom>
            <a:rect b="b" l="l" r="r" t="t"/>
            <a:pathLst>
              <a:path extrusionOk="0" h="888492" w="6151372">
                <a:moveTo>
                  <a:pt x="5514975" y="0"/>
                </a:moveTo>
                <a:lnTo>
                  <a:pt x="0" y="0"/>
                </a:lnTo>
                <a:lnTo>
                  <a:pt x="0" y="888492"/>
                </a:lnTo>
                <a:lnTo>
                  <a:pt x="5514975" y="888492"/>
                </a:lnTo>
                <a:lnTo>
                  <a:pt x="6151372" y="444246"/>
                </a:lnTo>
                <a:lnTo>
                  <a:pt x="5514975" y="0"/>
                </a:lnTo>
                <a:close/>
              </a:path>
            </a:pathLst>
          </a:custGeom>
          <a:solidFill>
            <a:srgbClr val="FFFFFF"/>
          </a:solidFill>
          <a:ln>
            <a:noFill/>
          </a:ln>
        </p:spPr>
      </p:sp>
      <p:sp>
        <p:nvSpPr>
          <p:cNvPr id="111" name="Google Shape;111;p2"/>
          <p:cNvSpPr/>
          <p:nvPr/>
        </p:nvSpPr>
        <p:spPr>
          <a:xfrm>
            <a:off x="878654" y="4740441"/>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sp>
        <p:nvSpPr>
          <p:cNvPr id="112" name="Google Shape;112;p2"/>
          <p:cNvSpPr/>
          <p:nvPr/>
        </p:nvSpPr>
        <p:spPr>
          <a:xfrm>
            <a:off x="1866989" y="3303305"/>
            <a:ext cx="4115181" cy="1267206"/>
          </a:xfrm>
          <a:custGeom>
            <a:rect b="b" l="l" r="r" t="t"/>
            <a:pathLst>
              <a:path extrusionOk="0" h="1689608" w="5486908">
                <a:moveTo>
                  <a:pt x="4458208" y="0"/>
                </a:moveTo>
                <a:lnTo>
                  <a:pt x="0" y="0"/>
                </a:lnTo>
                <a:lnTo>
                  <a:pt x="0" y="1689608"/>
                </a:lnTo>
                <a:lnTo>
                  <a:pt x="4458208" y="1689608"/>
                </a:lnTo>
                <a:lnTo>
                  <a:pt x="5486908" y="844804"/>
                </a:lnTo>
                <a:lnTo>
                  <a:pt x="4458208" y="0"/>
                </a:lnTo>
                <a:close/>
              </a:path>
            </a:pathLst>
          </a:custGeom>
          <a:solidFill>
            <a:srgbClr val="FFFFFF"/>
          </a:solidFill>
          <a:ln>
            <a:noFill/>
          </a:ln>
        </p:spPr>
      </p:sp>
      <p:grpSp>
        <p:nvGrpSpPr>
          <p:cNvPr id="113" name="Google Shape;113;p2"/>
          <p:cNvGrpSpPr/>
          <p:nvPr/>
        </p:nvGrpSpPr>
        <p:grpSpPr>
          <a:xfrm>
            <a:off x="1866989" y="2856821"/>
            <a:ext cx="3681207" cy="1713646"/>
            <a:chOff x="0" y="-209550"/>
            <a:chExt cx="4908276" cy="2284862"/>
          </a:xfrm>
        </p:grpSpPr>
        <p:sp>
          <p:nvSpPr>
            <p:cNvPr id="114" name="Google Shape;114;p2"/>
            <p:cNvSpPr/>
            <p:nvPr/>
          </p:nvSpPr>
          <p:spPr>
            <a:xfrm>
              <a:off x="0" y="0"/>
              <a:ext cx="4908276" cy="2075312"/>
            </a:xfrm>
            <a:custGeom>
              <a:rect b="b" l="l" r="r" t="t"/>
              <a:pathLst>
                <a:path extrusionOk="0" h="2075312" w="4908276">
                  <a:moveTo>
                    <a:pt x="0" y="0"/>
                  </a:moveTo>
                  <a:lnTo>
                    <a:pt x="4908276" y="0"/>
                  </a:lnTo>
                  <a:lnTo>
                    <a:pt x="4908276" y="2075312"/>
                  </a:lnTo>
                  <a:lnTo>
                    <a:pt x="0" y="2075312"/>
                  </a:lnTo>
                  <a:close/>
                </a:path>
              </a:pathLst>
            </a:custGeom>
            <a:solidFill>
              <a:srgbClr val="000000">
                <a:alpha val="0"/>
              </a:srgbClr>
            </a:solidFill>
            <a:ln>
              <a:noFill/>
            </a:ln>
          </p:spPr>
        </p:sp>
        <p:sp>
          <p:nvSpPr>
            <p:cNvPr id="115" name="Google Shape;115;p2"/>
            <p:cNvSpPr txBox="1"/>
            <p:nvPr/>
          </p:nvSpPr>
          <p:spPr>
            <a:xfrm>
              <a:off x="0" y="-209550"/>
              <a:ext cx="4908276" cy="2284862"/>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RECORDATORIOS</a:t>
              </a:r>
              <a:endParaRPr/>
            </a:p>
          </p:txBody>
        </p:sp>
      </p:grpSp>
      <p:sp>
        <p:nvSpPr>
          <p:cNvPr id="116" name="Google Shape;116;p2"/>
          <p:cNvSpPr/>
          <p:nvPr/>
        </p:nvSpPr>
        <p:spPr>
          <a:xfrm>
            <a:off x="651754" y="3429735"/>
            <a:ext cx="753904" cy="872966"/>
          </a:xfrm>
          <a:custGeom>
            <a:rect b="b" l="l" r="r" t="t"/>
            <a:pathLst>
              <a:path extrusionOk="0" h="1163955" w="1005205">
                <a:moveTo>
                  <a:pt x="0" y="0"/>
                </a:moveTo>
                <a:lnTo>
                  <a:pt x="1005205" y="0"/>
                </a:lnTo>
                <a:lnTo>
                  <a:pt x="1005205" y="1163955"/>
                </a:lnTo>
                <a:lnTo>
                  <a:pt x="0" y="1163955"/>
                </a:lnTo>
                <a:lnTo>
                  <a:pt x="0" y="0"/>
                </a:lnTo>
                <a:close/>
              </a:path>
            </a:pathLst>
          </a:custGeom>
          <a:blipFill rotWithShape="1">
            <a:blip r:embed="rId4">
              <a:alphaModFix/>
            </a:blip>
            <a:stretch>
              <a:fillRect b="-29" l="0" r="0" t="-35"/>
            </a:stretch>
          </a:blipFill>
          <a:ln>
            <a:noFill/>
          </a:ln>
        </p:spPr>
      </p:sp>
      <p:grpSp>
        <p:nvGrpSpPr>
          <p:cNvPr id="117" name="Google Shape;117;p2"/>
          <p:cNvGrpSpPr/>
          <p:nvPr/>
        </p:nvGrpSpPr>
        <p:grpSpPr>
          <a:xfrm>
            <a:off x="508623" y="-802698"/>
            <a:ext cx="7710301" cy="4260056"/>
            <a:chOff x="0" y="-257175"/>
            <a:chExt cx="10280401" cy="5680075"/>
          </a:xfrm>
        </p:grpSpPr>
        <p:sp>
          <p:nvSpPr>
            <p:cNvPr id="118" name="Google Shape;118;p2"/>
            <p:cNvSpPr/>
            <p:nvPr/>
          </p:nvSpPr>
          <p:spPr>
            <a:xfrm>
              <a:off x="0" y="0"/>
              <a:ext cx="10280401" cy="5422900"/>
            </a:xfrm>
            <a:custGeom>
              <a:rect b="b" l="l" r="r" t="t"/>
              <a:pathLst>
                <a:path extrusionOk="0" h="5422900" w="10280401">
                  <a:moveTo>
                    <a:pt x="0" y="0"/>
                  </a:moveTo>
                  <a:lnTo>
                    <a:pt x="10280401" y="0"/>
                  </a:lnTo>
                  <a:lnTo>
                    <a:pt x="10280401" y="5422900"/>
                  </a:lnTo>
                  <a:lnTo>
                    <a:pt x="0" y="5422900"/>
                  </a:lnTo>
                  <a:close/>
                </a:path>
              </a:pathLst>
            </a:custGeom>
            <a:solidFill>
              <a:srgbClr val="000000">
                <a:alpha val="0"/>
              </a:srgbClr>
            </a:solidFill>
            <a:ln>
              <a:noFill/>
            </a:ln>
          </p:spPr>
        </p:sp>
        <p:sp>
          <p:nvSpPr>
            <p:cNvPr id="119" name="Google Shape;119;p2"/>
            <p:cNvSpPr txBox="1"/>
            <p:nvPr/>
          </p:nvSpPr>
          <p:spPr>
            <a:xfrm>
              <a:off x="0" y="-257175"/>
              <a:ext cx="10280401" cy="5680075"/>
            </a:xfrm>
            <a:prstGeom prst="rect">
              <a:avLst/>
            </a:prstGeom>
            <a:noFill/>
            <a:ln>
              <a:noFill/>
            </a:ln>
          </p:spPr>
          <p:txBody>
            <a:bodyPr anchorCtr="0" anchor="t" bIns="0" lIns="0" spcFirstLastPara="1" rIns="0" wrap="square" tIns="0">
              <a:noAutofit/>
            </a:bodyPr>
            <a:lstStyle/>
            <a:p>
              <a:pPr indent="0" lvl="0" marL="0" marR="0" rtl="0" algn="l">
                <a:lnSpc>
                  <a:spcPct val="137993"/>
                </a:lnSpc>
                <a:spcBef>
                  <a:spcPts val="0"/>
                </a:spcBef>
                <a:spcAft>
                  <a:spcPts val="0"/>
                </a:spcAft>
                <a:buNone/>
              </a:pPr>
              <a:r>
                <a:rPr b="0" i="0" lang="en-US" sz="15000" u="none" cap="none" strike="noStrike">
                  <a:solidFill>
                    <a:srgbClr val="131416"/>
                  </a:solidFill>
                  <a:latin typeface="Pacifico"/>
                  <a:ea typeface="Pacifico"/>
                  <a:cs typeface="Pacifico"/>
                  <a:sym typeface="Pacifico"/>
                </a:rPr>
                <a:t>Agenda</a:t>
              </a:r>
              <a:endParaRPr/>
            </a:p>
          </p:txBody>
        </p:sp>
      </p:grpSp>
      <p:sp>
        <p:nvSpPr>
          <p:cNvPr id="120" name="Google Shape;120;p2"/>
          <p:cNvSpPr/>
          <p:nvPr/>
        </p:nvSpPr>
        <p:spPr>
          <a:xfrm>
            <a:off x="176619" y="5623279"/>
            <a:ext cx="4613529" cy="666369"/>
          </a:xfrm>
          <a:custGeom>
            <a:rect b="b" l="l" r="r" t="t"/>
            <a:pathLst>
              <a:path extrusionOk="0" h="888492" w="6151372">
                <a:moveTo>
                  <a:pt x="5514975" y="0"/>
                </a:moveTo>
                <a:lnTo>
                  <a:pt x="0" y="0"/>
                </a:lnTo>
                <a:lnTo>
                  <a:pt x="0" y="888492"/>
                </a:lnTo>
                <a:lnTo>
                  <a:pt x="5514975" y="888492"/>
                </a:lnTo>
                <a:lnTo>
                  <a:pt x="6151372" y="444246"/>
                </a:lnTo>
                <a:lnTo>
                  <a:pt x="5514975" y="0"/>
                </a:lnTo>
                <a:close/>
              </a:path>
            </a:pathLst>
          </a:custGeom>
          <a:solidFill>
            <a:srgbClr val="FFFFFF"/>
          </a:solidFill>
          <a:ln>
            <a:noFill/>
          </a:ln>
        </p:spPr>
      </p:sp>
      <p:grpSp>
        <p:nvGrpSpPr>
          <p:cNvPr id="121" name="Google Shape;121;p2"/>
          <p:cNvGrpSpPr/>
          <p:nvPr/>
        </p:nvGrpSpPr>
        <p:grpSpPr>
          <a:xfrm>
            <a:off x="508623" y="5393176"/>
            <a:ext cx="10079147" cy="1002729"/>
            <a:chOff x="0" y="-209550"/>
            <a:chExt cx="13438862" cy="1336971"/>
          </a:xfrm>
        </p:grpSpPr>
        <p:sp>
          <p:nvSpPr>
            <p:cNvPr id="122" name="Google Shape;122;p2"/>
            <p:cNvSpPr/>
            <p:nvPr/>
          </p:nvSpPr>
          <p:spPr>
            <a:xfrm>
              <a:off x="0" y="0"/>
              <a:ext cx="13438862" cy="1127421"/>
            </a:xfrm>
            <a:custGeom>
              <a:rect b="b" l="l" r="r" t="t"/>
              <a:pathLst>
                <a:path extrusionOk="0" h="1127421" w="13438862">
                  <a:moveTo>
                    <a:pt x="0" y="0"/>
                  </a:moveTo>
                  <a:lnTo>
                    <a:pt x="13438862" y="0"/>
                  </a:lnTo>
                  <a:lnTo>
                    <a:pt x="13438862" y="1127421"/>
                  </a:lnTo>
                  <a:lnTo>
                    <a:pt x="0" y="1127421"/>
                  </a:lnTo>
                  <a:close/>
                </a:path>
              </a:pathLst>
            </a:custGeom>
            <a:solidFill>
              <a:srgbClr val="000000">
                <a:alpha val="0"/>
              </a:srgbClr>
            </a:solidFill>
            <a:ln>
              <a:noFill/>
            </a:ln>
          </p:spPr>
        </p:sp>
        <p:sp>
          <p:nvSpPr>
            <p:cNvPr id="123" name="Google Shape;123;p2"/>
            <p:cNvSpPr txBox="1"/>
            <p:nvPr/>
          </p:nvSpPr>
          <p:spPr>
            <a:xfrm>
              <a:off x="0" y="-209550"/>
              <a:ext cx="13438862" cy="1336971"/>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Fundamentos de Programación</a:t>
              </a:r>
              <a:endParaRPr/>
            </a:p>
          </p:txBody>
        </p:sp>
      </p:grpSp>
      <p:sp>
        <p:nvSpPr>
          <p:cNvPr id="124" name="Google Shape;124;p2"/>
          <p:cNvSpPr/>
          <p:nvPr/>
        </p:nvSpPr>
        <p:spPr>
          <a:xfrm>
            <a:off x="176625" y="6604851"/>
            <a:ext cx="6728652" cy="666368"/>
          </a:xfrm>
          <a:custGeom>
            <a:rect b="b" l="l" r="r" t="t"/>
            <a:pathLst>
              <a:path extrusionOk="0" h="888492" w="8971535">
                <a:moveTo>
                  <a:pt x="8043418" y="0"/>
                </a:moveTo>
                <a:lnTo>
                  <a:pt x="0" y="0"/>
                </a:lnTo>
                <a:lnTo>
                  <a:pt x="0" y="888492"/>
                </a:lnTo>
                <a:lnTo>
                  <a:pt x="8043418" y="888492"/>
                </a:lnTo>
                <a:lnTo>
                  <a:pt x="8971535" y="444246"/>
                </a:lnTo>
                <a:lnTo>
                  <a:pt x="8043418" y="0"/>
                </a:lnTo>
                <a:close/>
              </a:path>
            </a:pathLst>
          </a:custGeom>
          <a:solidFill>
            <a:srgbClr val="FFFFFF"/>
          </a:solidFill>
          <a:ln>
            <a:noFill/>
          </a:ln>
        </p:spPr>
      </p:sp>
      <p:sp>
        <p:nvSpPr>
          <p:cNvPr id="125" name="Google Shape;125;p2"/>
          <p:cNvSpPr/>
          <p:nvPr/>
        </p:nvSpPr>
        <p:spPr>
          <a:xfrm>
            <a:off x="176624" y="7528432"/>
            <a:ext cx="9198103" cy="666369"/>
          </a:xfrm>
          <a:custGeom>
            <a:rect b="b" l="l" r="r" t="t"/>
            <a:pathLst>
              <a:path extrusionOk="0" h="888492" w="12264137">
                <a:moveTo>
                  <a:pt x="10995406" y="0"/>
                </a:moveTo>
                <a:lnTo>
                  <a:pt x="0" y="0"/>
                </a:lnTo>
                <a:lnTo>
                  <a:pt x="0" y="888492"/>
                </a:lnTo>
                <a:lnTo>
                  <a:pt x="10995406" y="888492"/>
                </a:lnTo>
                <a:lnTo>
                  <a:pt x="12264137" y="444246"/>
                </a:lnTo>
                <a:lnTo>
                  <a:pt x="10995406" y="0"/>
                </a:lnTo>
                <a:close/>
              </a:path>
            </a:pathLst>
          </a:custGeom>
          <a:solidFill>
            <a:srgbClr val="FFFFFF"/>
          </a:solidFill>
          <a:ln>
            <a:noFill/>
          </a:ln>
        </p:spPr>
      </p:sp>
      <p:sp>
        <p:nvSpPr>
          <p:cNvPr id="126" name="Google Shape;126;p2"/>
          <p:cNvSpPr/>
          <p:nvPr/>
        </p:nvSpPr>
        <p:spPr>
          <a:xfrm>
            <a:off x="176619" y="8591893"/>
            <a:ext cx="4613529" cy="666369"/>
          </a:xfrm>
          <a:custGeom>
            <a:rect b="b" l="l" r="r" t="t"/>
            <a:pathLst>
              <a:path extrusionOk="0" h="888492" w="6151372">
                <a:moveTo>
                  <a:pt x="5514975" y="0"/>
                </a:moveTo>
                <a:lnTo>
                  <a:pt x="0" y="0"/>
                </a:lnTo>
                <a:lnTo>
                  <a:pt x="0" y="888492"/>
                </a:lnTo>
                <a:lnTo>
                  <a:pt x="5514975" y="888492"/>
                </a:lnTo>
                <a:lnTo>
                  <a:pt x="6151372" y="444246"/>
                </a:lnTo>
                <a:lnTo>
                  <a:pt x="5514975" y="0"/>
                </a:lnTo>
                <a:close/>
              </a:path>
            </a:pathLst>
          </a:custGeom>
          <a:solidFill>
            <a:srgbClr val="FFFFFF"/>
          </a:solidFill>
          <a:ln>
            <a:noFill/>
          </a:ln>
        </p:spPr>
      </p:sp>
      <p:sp>
        <p:nvSpPr>
          <p:cNvPr id="127" name="Google Shape;127;p2"/>
          <p:cNvSpPr/>
          <p:nvPr/>
        </p:nvSpPr>
        <p:spPr>
          <a:xfrm>
            <a:off x="878654" y="5623280"/>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sp>
        <p:nvSpPr>
          <p:cNvPr id="128" name="Google Shape;128;p2"/>
          <p:cNvSpPr/>
          <p:nvPr/>
        </p:nvSpPr>
        <p:spPr>
          <a:xfrm>
            <a:off x="878654" y="6604853"/>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sp>
        <p:nvSpPr>
          <p:cNvPr id="129" name="Google Shape;129;p2"/>
          <p:cNvSpPr/>
          <p:nvPr/>
        </p:nvSpPr>
        <p:spPr>
          <a:xfrm>
            <a:off x="878654" y="7604635"/>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sp>
        <p:nvSpPr>
          <p:cNvPr id="130" name="Google Shape;130;p2"/>
          <p:cNvSpPr/>
          <p:nvPr/>
        </p:nvSpPr>
        <p:spPr>
          <a:xfrm>
            <a:off x="878654" y="8605540"/>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sp>
        <p:nvSpPr>
          <p:cNvPr id="131" name="Google Shape;131;p2"/>
          <p:cNvSpPr/>
          <p:nvPr/>
        </p:nvSpPr>
        <p:spPr>
          <a:xfrm>
            <a:off x="10177169" y="4699461"/>
            <a:ext cx="4613625" cy="666369"/>
          </a:xfrm>
          <a:custGeom>
            <a:rect b="b" l="l" r="r" t="t"/>
            <a:pathLst>
              <a:path extrusionOk="0" h="888492" w="6151499">
                <a:moveTo>
                  <a:pt x="5515102" y="0"/>
                </a:moveTo>
                <a:lnTo>
                  <a:pt x="0" y="0"/>
                </a:lnTo>
                <a:lnTo>
                  <a:pt x="0" y="888492"/>
                </a:lnTo>
                <a:lnTo>
                  <a:pt x="5515102" y="888492"/>
                </a:lnTo>
                <a:lnTo>
                  <a:pt x="6151499" y="444246"/>
                </a:lnTo>
                <a:lnTo>
                  <a:pt x="5515102" y="0"/>
                </a:lnTo>
                <a:close/>
              </a:path>
            </a:pathLst>
          </a:custGeom>
          <a:solidFill>
            <a:srgbClr val="FFFFFF"/>
          </a:solidFill>
          <a:ln>
            <a:noFill/>
          </a:ln>
        </p:spPr>
      </p:sp>
      <p:grpSp>
        <p:nvGrpSpPr>
          <p:cNvPr id="132" name="Google Shape;132;p2"/>
          <p:cNvGrpSpPr/>
          <p:nvPr/>
        </p:nvGrpSpPr>
        <p:grpSpPr>
          <a:xfrm>
            <a:off x="10879200" y="4383013"/>
            <a:ext cx="6983688" cy="1002731"/>
            <a:chOff x="0" y="-209550"/>
            <a:chExt cx="9311584" cy="1336974"/>
          </a:xfrm>
        </p:grpSpPr>
        <p:sp>
          <p:nvSpPr>
            <p:cNvPr id="133" name="Google Shape;133;p2"/>
            <p:cNvSpPr/>
            <p:nvPr/>
          </p:nvSpPr>
          <p:spPr>
            <a:xfrm>
              <a:off x="0" y="0"/>
              <a:ext cx="9311584" cy="1127424"/>
            </a:xfrm>
            <a:custGeom>
              <a:rect b="b" l="l" r="r" t="t"/>
              <a:pathLst>
                <a:path extrusionOk="0" h="1127424" w="9311584">
                  <a:moveTo>
                    <a:pt x="0" y="0"/>
                  </a:moveTo>
                  <a:lnTo>
                    <a:pt x="9311584" y="0"/>
                  </a:lnTo>
                  <a:lnTo>
                    <a:pt x="9311584" y="1127424"/>
                  </a:lnTo>
                  <a:lnTo>
                    <a:pt x="0" y="1127424"/>
                  </a:lnTo>
                  <a:close/>
                </a:path>
              </a:pathLst>
            </a:custGeom>
            <a:solidFill>
              <a:srgbClr val="000000">
                <a:alpha val="0"/>
              </a:srgbClr>
            </a:solidFill>
            <a:ln>
              <a:noFill/>
            </a:ln>
          </p:spPr>
        </p:sp>
        <p:sp>
          <p:nvSpPr>
            <p:cNvPr id="134" name="Google Shape;134;p2"/>
            <p:cNvSpPr txBox="1"/>
            <p:nvPr/>
          </p:nvSpPr>
          <p:spPr>
            <a:xfrm>
              <a:off x="0" y="-209550"/>
              <a:ext cx="9311583" cy="1336974"/>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Reglas para Escribir Pseudocódigo</a:t>
              </a:r>
              <a:endParaRPr/>
            </a:p>
          </p:txBody>
        </p:sp>
      </p:grpSp>
      <p:sp>
        <p:nvSpPr>
          <p:cNvPr id="135" name="Google Shape;135;p2"/>
          <p:cNvSpPr/>
          <p:nvPr/>
        </p:nvSpPr>
        <p:spPr>
          <a:xfrm>
            <a:off x="10721904" y="4740441"/>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sp>
        <p:nvSpPr>
          <p:cNvPr id="136" name="Google Shape;136;p2"/>
          <p:cNvSpPr/>
          <p:nvPr/>
        </p:nvSpPr>
        <p:spPr>
          <a:xfrm>
            <a:off x="10019869" y="5632375"/>
            <a:ext cx="4613624" cy="666369"/>
          </a:xfrm>
          <a:custGeom>
            <a:rect b="b" l="l" r="r" t="t"/>
            <a:pathLst>
              <a:path extrusionOk="0" h="888492" w="6151499">
                <a:moveTo>
                  <a:pt x="5515102" y="0"/>
                </a:moveTo>
                <a:lnTo>
                  <a:pt x="0" y="0"/>
                </a:lnTo>
                <a:lnTo>
                  <a:pt x="0" y="888492"/>
                </a:lnTo>
                <a:lnTo>
                  <a:pt x="5515102" y="888492"/>
                </a:lnTo>
                <a:lnTo>
                  <a:pt x="6151499" y="444246"/>
                </a:lnTo>
                <a:lnTo>
                  <a:pt x="5515102" y="0"/>
                </a:lnTo>
                <a:close/>
              </a:path>
            </a:pathLst>
          </a:custGeom>
          <a:solidFill>
            <a:srgbClr val="FFFFFF"/>
          </a:solidFill>
          <a:ln>
            <a:noFill/>
          </a:ln>
        </p:spPr>
      </p:sp>
      <p:grpSp>
        <p:nvGrpSpPr>
          <p:cNvPr id="137" name="Google Shape;137;p2"/>
          <p:cNvGrpSpPr/>
          <p:nvPr/>
        </p:nvGrpSpPr>
        <p:grpSpPr>
          <a:xfrm>
            <a:off x="10948583" y="5362782"/>
            <a:ext cx="6936477" cy="1002731"/>
            <a:chOff x="0" y="-209550"/>
            <a:chExt cx="9248635" cy="1336974"/>
          </a:xfrm>
        </p:grpSpPr>
        <p:sp>
          <p:nvSpPr>
            <p:cNvPr id="138" name="Google Shape;138;p2"/>
            <p:cNvSpPr/>
            <p:nvPr/>
          </p:nvSpPr>
          <p:spPr>
            <a:xfrm>
              <a:off x="0" y="0"/>
              <a:ext cx="9248635" cy="1127424"/>
            </a:xfrm>
            <a:custGeom>
              <a:rect b="b" l="l" r="r" t="t"/>
              <a:pathLst>
                <a:path extrusionOk="0" h="1127424" w="9248635">
                  <a:moveTo>
                    <a:pt x="0" y="0"/>
                  </a:moveTo>
                  <a:lnTo>
                    <a:pt x="9248635" y="0"/>
                  </a:lnTo>
                  <a:lnTo>
                    <a:pt x="9248635" y="1127424"/>
                  </a:lnTo>
                  <a:lnTo>
                    <a:pt x="0" y="1127424"/>
                  </a:lnTo>
                  <a:close/>
                </a:path>
              </a:pathLst>
            </a:custGeom>
            <a:solidFill>
              <a:srgbClr val="000000">
                <a:alpha val="0"/>
              </a:srgbClr>
            </a:solidFill>
            <a:ln>
              <a:noFill/>
            </a:ln>
          </p:spPr>
        </p:sp>
        <p:sp>
          <p:nvSpPr>
            <p:cNvPr id="139" name="Google Shape;139;p2"/>
            <p:cNvSpPr txBox="1"/>
            <p:nvPr/>
          </p:nvSpPr>
          <p:spPr>
            <a:xfrm>
              <a:off x="0" y="-209550"/>
              <a:ext cx="9248634" cy="1336974"/>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Ejemplos Prácticos de Pseudocódigo</a:t>
              </a:r>
              <a:endParaRPr/>
            </a:p>
          </p:txBody>
        </p:sp>
      </p:grpSp>
      <p:sp>
        <p:nvSpPr>
          <p:cNvPr id="140" name="Google Shape;140;p2"/>
          <p:cNvSpPr/>
          <p:nvPr/>
        </p:nvSpPr>
        <p:spPr>
          <a:xfrm>
            <a:off x="10721904" y="5673341"/>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sp>
        <p:nvSpPr>
          <p:cNvPr id="141" name="Google Shape;141;p2"/>
          <p:cNvSpPr/>
          <p:nvPr/>
        </p:nvSpPr>
        <p:spPr>
          <a:xfrm>
            <a:off x="10019869" y="6670312"/>
            <a:ext cx="4613625" cy="666369"/>
          </a:xfrm>
          <a:custGeom>
            <a:rect b="b" l="l" r="r" t="t"/>
            <a:pathLst>
              <a:path extrusionOk="0" h="888492" w="6151499">
                <a:moveTo>
                  <a:pt x="5515102" y="0"/>
                </a:moveTo>
                <a:lnTo>
                  <a:pt x="0" y="0"/>
                </a:lnTo>
                <a:lnTo>
                  <a:pt x="0" y="888492"/>
                </a:lnTo>
                <a:lnTo>
                  <a:pt x="5515102" y="888492"/>
                </a:lnTo>
                <a:lnTo>
                  <a:pt x="6151499" y="444246"/>
                </a:lnTo>
                <a:lnTo>
                  <a:pt x="5515102" y="0"/>
                </a:lnTo>
                <a:close/>
              </a:path>
            </a:pathLst>
          </a:custGeom>
          <a:solidFill>
            <a:srgbClr val="FFFFFF"/>
          </a:solidFill>
          <a:ln>
            <a:noFill/>
          </a:ln>
        </p:spPr>
      </p:sp>
      <p:grpSp>
        <p:nvGrpSpPr>
          <p:cNvPr id="142" name="Google Shape;142;p2"/>
          <p:cNvGrpSpPr/>
          <p:nvPr/>
        </p:nvGrpSpPr>
        <p:grpSpPr>
          <a:xfrm>
            <a:off x="10192900" y="6423570"/>
            <a:ext cx="6917451" cy="1002730"/>
            <a:chOff x="0" y="-209550"/>
            <a:chExt cx="9223269" cy="1336974"/>
          </a:xfrm>
        </p:grpSpPr>
        <p:sp>
          <p:nvSpPr>
            <p:cNvPr id="143" name="Google Shape;143;p2"/>
            <p:cNvSpPr/>
            <p:nvPr/>
          </p:nvSpPr>
          <p:spPr>
            <a:xfrm>
              <a:off x="0" y="0"/>
              <a:ext cx="9223269" cy="1127424"/>
            </a:xfrm>
            <a:custGeom>
              <a:rect b="b" l="l" r="r" t="t"/>
              <a:pathLst>
                <a:path extrusionOk="0" h="1127424" w="9223269">
                  <a:moveTo>
                    <a:pt x="0" y="0"/>
                  </a:moveTo>
                  <a:lnTo>
                    <a:pt x="9223269" y="0"/>
                  </a:lnTo>
                  <a:lnTo>
                    <a:pt x="9223269" y="1127424"/>
                  </a:lnTo>
                  <a:lnTo>
                    <a:pt x="0" y="1127424"/>
                  </a:lnTo>
                  <a:close/>
                </a:path>
              </a:pathLst>
            </a:custGeom>
            <a:solidFill>
              <a:srgbClr val="000000">
                <a:alpha val="0"/>
              </a:srgbClr>
            </a:solidFill>
            <a:ln>
              <a:noFill/>
            </a:ln>
          </p:spPr>
        </p:sp>
        <p:sp>
          <p:nvSpPr>
            <p:cNvPr id="144" name="Google Shape;144;p2"/>
            <p:cNvSpPr txBox="1"/>
            <p:nvPr/>
          </p:nvSpPr>
          <p:spPr>
            <a:xfrm>
              <a:off x="0" y="-209550"/>
              <a:ext cx="9223269" cy="1336974"/>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Ventajas del Pseudocódigo</a:t>
              </a:r>
              <a:endParaRPr/>
            </a:p>
          </p:txBody>
        </p:sp>
      </p:grpSp>
      <p:sp>
        <p:nvSpPr>
          <p:cNvPr id="145" name="Google Shape;145;p2"/>
          <p:cNvSpPr/>
          <p:nvPr/>
        </p:nvSpPr>
        <p:spPr>
          <a:xfrm>
            <a:off x="10721904" y="6711291"/>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sp>
        <p:nvSpPr>
          <p:cNvPr id="146" name="Google Shape;146;p2"/>
          <p:cNvSpPr/>
          <p:nvPr/>
        </p:nvSpPr>
        <p:spPr>
          <a:xfrm>
            <a:off x="10019869" y="7803486"/>
            <a:ext cx="4613625" cy="666369"/>
          </a:xfrm>
          <a:custGeom>
            <a:rect b="b" l="l" r="r" t="t"/>
            <a:pathLst>
              <a:path extrusionOk="0" h="888492" w="6151499">
                <a:moveTo>
                  <a:pt x="5515102" y="0"/>
                </a:moveTo>
                <a:lnTo>
                  <a:pt x="0" y="0"/>
                </a:lnTo>
                <a:lnTo>
                  <a:pt x="0" y="888492"/>
                </a:lnTo>
                <a:lnTo>
                  <a:pt x="5515102" y="888492"/>
                </a:lnTo>
                <a:lnTo>
                  <a:pt x="6151499" y="444246"/>
                </a:lnTo>
                <a:lnTo>
                  <a:pt x="5515102" y="0"/>
                </a:lnTo>
                <a:close/>
              </a:path>
            </a:pathLst>
          </a:custGeom>
          <a:solidFill>
            <a:srgbClr val="FFFFFF"/>
          </a:solidFill>
          <a:ln>
            <a:noFill/>
          </a:ln>
        </p:spPr>
      </p:sp>
      <p:grpSp>
        <p:nvGrpSpPr>
          <p:cNvPr id="147" name="Google Shape;147;p2"/>
          <p:cNvGrpSpPr/>
          <p:nvPr/>
        </p:nvGrpSpPr>
        <p:grpSpPr>
          <a:xfrm>
            <a:off x="11061279" y="7573938"/>
            <a:ext cx="6049073" cy="1002730"/>
            <a:chOff x="0" y="-209550"/>
            <a:chExt cx="8065431" cy="1336974"/>
          </a:xfrm>
        </p:grpSpPr>
        <p:sp>
          <p:nvSpPr>
            <p:cNvPr id="148" name="Google Shape;148;p2"/>
            <p:cNvSpPr/>
            <p:nvPr/>
          </p:nvSpPr>
          <p:spPr>
            <a:xfrm>
              <a:off x="0" y="0"/>
              <a:ext cx="8065431" cy="1127424"/>
            </a:xfrm>
            <a:custGeom>
              <a:rect b="b" l="l" r="r" t="t"/>
              <a:pathLst>
                <a:path extrusionOk="0" h="1127424" w="8065431">
                  <a:moveTo>
                    <a:pt x="0" y="0"/>
                  </a:moveTo>
                  <a:lnTo>
                    <a:pt x="8065431" y="0"/>
                  </a:lnTo>
                  <a:lnTo>
                    <a:pt x="8065431" y="1127424"/>
                  </a:lnTo>
                  <a:lnTo>
                    <a:pt x="0" y="1127424"/>
                  </a:lnTo>
                  <a:close/>
                </a:path>
              </a:pathLst>
            </a:custGeom>
            <a:solidFill>
              <a:srgbClr val="000000">
                <a:alpha val="0"/>
              </a:srgbClr>
            </a:solidFill>
            <a:ln>
              <a:noFill/>
            </a:ln>
          </p:spPr>
        </p:sp>
        <p:sp>
          <p:nvSpPr>
            <p:cNvPr id="149" name="Google Shape;149;p2"/>
            <p:cNvSpPr txBox="1"/>
            <p:nvPr/>
          </p:nvSpPr>
          <p:spPr>
            <a:xfrm>
              <a:off x="0" y="-209550"/>
              <a:ext cx="8065431" cy="1336974"/>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Conclusión y Recomendaciones</a:t>
              </a:r>
              <a:endParaRPr/>
            </a:p>
          </p:txBody>
        </p:sp>
      </p:grpSp>
      <p:sp>
        <p:nvSpPr>
          <p:cNvPr id="150" name="Google Shape;150;p2"/>
          <p:cNvSpPr/>
          <p:nvPr/>
        </p:nvSpPr>
        <p:spPr>
          <a:xfrm>
            <a:off x="10721904" y="7844466"/>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grpSp>
        <p:nvGrpSpPr>
          <p:cNvPr id="151" name="Google Shape;151;p2"/>
          <p:cNvGrpSpPr/>
          <p:nvPr/>
        </p:nvGrpSpPr>
        <p:grpSpPr>
          <a:xfrm>
            <a:off x="318228" y="4452720"/>
            <a:ext cx="10079147" cy="1002729"/>
            <a:chOff x="0" y="-209550"/>
            <a:chExt cx="13438862" cy="1336971"/>
          </a:xfrm>
        </p:grpSpPr>
        <p:sp>
          <p:nvSpPr>
            <p:cNvPr id="152" name="Google Shape;152;p2"/>
            <p:cNvSpPr/>
            <p:nvPr/>
          </p:nvSpPr>
          <p:spPr>
            <a:xfrm>
              <a:off x="0" y="0"/>
              <a:ext cx="13438862" cy="1127421"/>
            </a:xfrm>
            <a:custGeom>
              <a:rect b="b" l="l" r="r" t="t"/>
              <a:pathLst>
                <a:path extrusionOk="0" h="1127421" w="13438862">
                  <a:moveTo>
                    <a:pt x="0" y="0"/>
                  </a:moveTo>
                  <a:lnTo>
                    <a:pt x="13438862" y="0"/>
                  </a:lnTo>
                  <a:lnTo>
                    <a:pt x="13438862" y="1127421"/>
                  </a:lnTo>
                  <a:lnTo>
                    <a:pt x="0" y="1127421"/>
                  </a:lnTo>
                  <a:close/>
                </a:path>
              </a:pathLst>
            </a:custGeom>
            <a:solidFill>
              <a:srgbClr val="000000">
                <a:alpha val="0"/>
              </a:srgbClr>
            </a:solidFill>
            <a:ln>
              <a:noFill/>
            </a:ln>
          </p:spPr>
        </p:sp>
        <p:sp>
          <p:nvSpPr>
            <p:cNvPr id="153" name="Google Shape;153;p2"/>
            <p:cNvSpPr txBox="1"/>
            <p:nvPr/>
          </p:nvSpPr>
          <p:spPr>
            <a:xfrm>
              <a:off x="0" y="-209550"/>
              <a:ext cx="13438862" cy="1336971"/>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¿Qué es la Programación?</a:t>
              </a:r>
              <a:endParaRPr/>
            </a:p>
          </p:txBody>
        </p:sp>
      </p:grpSp>
      <p:grpSp>
        <p:nvGrpSpPr>
          <p:cNvPr id="154" name="Google Shape;154;p2"/>
          <p:cNvGrpSpPr/>
          <p:nvPr/>
        </p:nvGrpSpPr>
        <p:grpSpPr>
          <a:xfrm>
            <a:off x="508623" y="6333992"/>
            <a:ext cx="10079147" cy="1002729"/>
            <a:chOff x="0" y="-209550"/>
            <a:chExt cx="13438862" cy="1336971"/>
          </a:xfrm>
        </p:grpSpPr>
        <p:sp>
          <p:nvSpPr>
            <p:cNvPr id="155" name="Google Shape;155;p2"/>
            <p:cNvSpPr/>
            <p:nvPr/>
          </p:nvSpPr>
          <p:spPr>
            <a:xfrm>
              <a:off x="0" y="0"/>
              <a:ext cx="13438862" cy="1127421"/>
            </a:xfrm>
            <a:custGeom>
              <a:rect b="b" l="l" r="r" t="t"/>
              <a:pathLst>
                <a:path extrusionOk="0" h="1127421" w="13438862">
                  <a:moveTo>
                    <a:pt x="0" y="0"/>
                  </a:moveTo>
                  <a:lnTo>
                    <a:pt x="13438862" y="0"/>
                  </a:lnTo>
                  <a:lnTo>
                    <a:pt x="13438862" y="1127421"/>
                  </a:lnTo>
                  <a:lnTo>
                    <a:pt x="0" y="1127421"/>
                  </a:lnTo>
                  <a:close/>
                </a:path>
              </a:pathLst>
            </a:custGeom>
            <a:solidFill>
              <a:srgbClr val="000000">
                <a:alpha val="0"/>
              </a:srgbClr>
            </a:solidFill>
            <a:ln>
              <a:noFill/>
            </a:ln>
          </p:spPr>
        </p:sp>
        <p:sp>
          <p:nvSpPr>
            <p:cNvPr id="156" name="Google Shape;156;p2"/>
            <p:cNvSpPr txBox="1"/>
            <p:nvPr/>
          </p:nvSpPr>
          <p:spPr>
            <a:xfrm>
              <a:off x="0" y="-209550"/>
              <a:ext cx="13438862" cy="1336971"/>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Elementos de un Lenguaje de Programación</a:t>
              </a:r>
              <a:endParaRPr/>
            </a:p>
          </p:txBody>
        </p:sp>
      </p:grpSp>
      <p:grpSp>
        <p:nvGrpSpPr>
          <p:cNvPr id="157" name="Google Shape;157;p2"/>
          <p:cNvGrpSpPr/>
          <p:nvPr/>
        </p:nvGrpSpPr>
        <p:grpSpPr>
          <a:xfrm>
            <a:off x="508623" y="7312908"/>
            <a:ext cx="10079147" cy="1002729"/>
            <a:chOff x="0" y="-209550"/>
            <a:chExt cx="13438862" cy="1336971"/>
          </a:xfrm>
        </p:grpSpPr>
        <p:sp>
          <p:nvSpPr>
            <p:cNvPr id="158" name="Google Shape;158;p2"/>
            <p:cNvSpPr/>
            <p:nvPr/>
          </p:nvSpPr>
          <p:spPr>
            <a:xfrm>
              <a:off x="0" y="0"/>
              <a:ext cx="13438862" cy="1127421"/>
            </a:xfrm>
            <a:custGeom>
              <a:rect b="b" l="l" r="r" t="t"/>
              <a:pathLst>
                <a:path extrusionOk="0" h="1127421" w="13438862">
                  <a:moveTo>
                    <a:pt x="0" y="0"/>
                  </a:moveTo>
                  <a:lnTo>
                    <a:pt x="13438862" y="0"/>
                  </a:lnTo>
                  <a:lnTo>
                    <a:pt x="13438862" y="1127421"/>
                  </a:lnTo>
                  <a:lnTo>
                    <a:pt x="0" y="1127421"/>
                  </a:lnTo>
                  <a:close/>
                </a:path>
              </a:pathLst>
            </a:custGeom>
            <a:solidFill>
              <a:srgbClr val="000000">
                <a:alpha val="0"/>
              </a:srgbClr>
            </a:solidFill>
            <a:ln>
              <a:noFill/>
            </a:ln>
          </p:spPr>
        </p:sp>
        <p:sp>
          <p:nvSpPr>
            <p:cNvPr id="159" name="Google Shape;159;p2"/>
            <p:cNvSpPr txBox="1"/>
            <p:nvPr/>
          </p:nvSpPr>
          <p:spPr>
            <a:xfrm>
              <a:off x="0" y="-209550"/>
              <a:ext cx="13438862" cy="1336971"/>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Estructuras Básicas</a:t>
              </a:r>
              <a:endParaRPr/>
            </a:p>
          </p:txBody>
        </p:sp>
      </p:grpSp>
      <p:grpSp>
        <p:nvGrpSpPr>
          <p:cNvPr id="160" name="Google Shape;160;p2"/>
          <p:cNvGrpSpPr/>
          <p:nvPr/>
        </p:nvGrpSpPr>
        <p:grpSpPr>
          <a:xfrm>
            <a:off x="318228" y="8351667"/>
            <a:ext cx="10079147" cy="1002729"/>
            <a:chOff x="0" y="-209550"/>
            <a:chExt cx="13438862" cy="1336971"/>
          </a:xfrm>
        </p:grpSpPr>
        <p:sp>
          <p:nvSpPr>
            <p:cNvPr id="161" name="Google Shape;161;p2"/>
            <p:cNvSpPr/>
            <p:nvPr/>
          </p:nvSpPr>
          <p:spPr>
            <a:xfrm>
              <a:off x="0" y="0"/>
              <a:ext cx="13438862" cy="1127421"/>
            </a:xfrm>
            <a:custGeom>
              <a:rect b="b" l="l" r="r" t="t"/>
              <a:pathLst>
                <a:path extrusionOk="0" h="1127421" w="13438862">
                  <a:moveTo>
                    <a:pt x="0" y="0"/>
                  </a:moveTo>
                  <a:lnTo>
                    <a:pt x="13438862" y="0"/>
                  </a:lnTo>
                  <a:lnTo>
                    <a:pt x="13438862" y="1127421"/>
                  </a:lnTo>
                  <a:lnTo>
                    <a:pt x="0" y="1127421"/>
                  </a:lnTo>
                  <a:close/>
                </a:path>
              </a:pathLst>
            </a:custGeom>
            <a:solidFill>
              <a:srgbClr val="000000">
                <a:alpha val="0"/>
              </a:srgbClr>
            </a:solidFill>
            <a:ln>
              <a:noFill/>
            </a:ln>
          </p:spPr>
        </p:sp>
        <p:sp>
          <p:nvSpPr>
            <p:cNvPr id="162" name="Google Shape;162;p2"/>
            <p:cNvSpPr txBox="1"/>
            <p:nvPr/>
          </p:nvSpPr>
          <p:spPr>
            <a:xfrm>
              <a:off x="0" y="-209550"/>
              <a:ext cx="13438862" cy="1336971"/>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¿Qué es el Pseudocódigo?</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grpSp>
        <p:nvGrpSpPr>
          <p:cNvPr id="171" name="Google Shape;171;p3"/>
          <p:cNvGrpSpPr/>
          <p:nvPr/>
        </p:nvGrpSpPr>
        <p:grpSpPr>
          <a:xfrm>
            <a:off x="1374889" y="497201"/>
            <a:ext cx="13991101" cy="1256147"/>
            <a:chOff x="0" y="-209550"/>
            <a:chExt cx="18654801" cy="1674862"/>
          </a:xfrm>
        </p:grpSpPr>
        <p:sp>
          <p:nvSpPr>
            <p:cNvPr id="172" name="Google Shape;172;p3"/>
            <p:cNvSpPr/>
            <p:nvPr/>
          </p:nvSpPr>
          <p:spPr>
            <a:xfrm>
              <a:off x="0" y="0"/>
              <a:ext cx="18654801" cy="1465312"/>
            </a:xfrm>
            <a:custGeom>
              <a:rect b="b" l="l" r="r" t="t"/>
              <a:pathLst>
                <a:path extrusionOk="0" h="1465312" w="18654801">
                  <a:moveTo>
                    <a:pt x="0" y="0"/>
                  </a:moveTo>
                  <a:lnTo>
                    <a:pt x="18654801" y="0"/>
                  </a:lnTo>
                  <a:lnTo>
                    <a:pt x="18654801" y="1465312"/>
                  </a:lnTo>
                  <a:lnTo>
                    <a:pt x="0" y="1465312"/>
                  </a:lnTo>
                  <a:close/>
                </a:path>
              </a:pathLst>
            </a:custGeom>
            <a:solidFill>
              <a:srgbClr val="000000">
                <a:alpha val="0"/>
              </a:srgbClr>
            </a:solidFill>
            <a:ln>
              <a:noFill/>
            </a:ln>
          </p:spPr>
        </p:sp>
        <p:sp>
          <p:nvSpPr>
            <p:cNvPr id="173" name="Google Shape;173;p3"/>
            <p:cNvSpPr txBox="1"/>
            <p:nvPr/>
          </p:nvSpPr>
          <p:spPr>
            <a:xfrm>
              <a:off x="0" y="-209550"/>
              <a:ext cx="18654800"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¿Qué es la Programación?</a:t>
              </a:r>
              <a:endParaRPr/>
            </a:p>
          </p:txBody>
        </p:sp>
      </p:grpSp>
      <p:grpSp>
        <p:nvGrpSpPr>
          <p:cNvPr id="174" name="Google Shape;174;p3"/>
          <p:cNvGrpSpPr/>
          <p:nvPr/>
        </p:nvGrpSpPr>
        <p:grpSpPr>
          <a:xfrm>
            <a:off x="2202102" y="3187413"/>
            <a:ext cx="14491800" cy="4557482"/>
            <a:chOff x="0" y="-133350"/>
            <a:chExt cx="19322400" cy="6076642"/>
          </a:xfrm>
        </p:grpSpPr>
        <p:sp>
          <p:nvSpPr>
            <p:cNvPr id="175" name="Google Shape;175;p3"/>
            <p:cNvSpPr/>
            <p:nvPr/>
          </p:nvSpPr>
          <p:spPr>
            <a:xfrm>
              <a:off x="0" y="0"/>
              <a:ext cx="19322400" cy="5943292"/>
            </a:xfrm>
            <a:custGeom>
              <a:rect b="b" l="l" r="r" t="t"/>
              <a:pathLst>
                <a:path extrusionOk="0" h="5943292" w="19322400">
                  <a:moveTo>
                    <a:pt x="0" y="0"/>
                  </a:moveTo>
                  <a:lnTo>
                    <a:pt x="19322400" y="0"/>
                  </a:lnTo>
                  <a:lnTo>
                    <a:pt x="19322400" y="5943292"/>
                  </a:lnTo>
                  <a:lnTo>
                    <a:pt x="0" y="5943292"/>
                  </a:lnTo>
                  <a:close/>
                </a:path>
              </a:pathLst>
            </a:custGeom>
            <a:solidFill>
              <a:srgbClr val="000000">
                <a:alpha val="0"/>
              </a:srgbClr>
            </a:solidFill>
            <a:ln>
              <a:noFill/>
            </a:ln>
          </p:spPr>
        </p:sp>
        <p:sp>
          <p:nvSpPr>
            <p:cNvPr id="176" name="Google Shape;176;p3"/>
            <p:cNvSpPr txBox="1"/>
            <p:nvPr/>
          </p:nvSpPr>
          <p:spPr>
            <a:xfrm>
              <a:off x="0" y="-133350"/>
              <a:ext cx="19322400" cy="6076642"/>
            </a:xfrm>
            <a:prstGeom prst="rect">
              <a:avLst/>
            </a:prstGeom>
            <a:noFill/>
            <a:ln>
              <a:noFill/>
            </a:ln>
          </p:spPr>
          <p:txBody>
            <a:bodyPr anchorCtr="0" anchor="t" bIns="0" lIns="0" spcFirstLastPara="1" rIns="0" wrap="square" tIns="0">
              <a:noAutofit/>
            </a:bodyPr>
            <a:lstStyle/>
            <a:p>
              <a:pPr indent="-200025" lvl="1" marL="400050" marR="0" rtl="0" algn="l">
                <a:lnSpc>
                  <a:spcPct val="168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Es el proceso mediante el cual se diseña y se crea un conjunto de instrucciones (código) que una computadora puede ejecutar.</a:t>
              </a:r>
              <a:endParaRPr/>
            </a:p>
            <a:p>
              <a:pPr indent="-200025" lvl="1" marL="400050" marR="0" rtl="0" algn="l">
                <a:lnSpc>
                  <a:spcPct val="168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Permite automatizar tareas, resolver problemas y construir aplicaciones que interactúan con el usuario.</a:t>
              </a:r>
              <a:endParaRPr/>
            </a:p>
            <a:p>
              <a:pPr indent="-200025" lvl="1" marL="400050" marR="0" rtl="0" algn="l">
                <a:lnSpc>
                  <a:spcPct val="168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Es una habilidad esencial en el mundo actual, transversal a diversas industrias y sectores.</a:t>
              </a:r>
              <a:endParaRPr/>
            </a:p>
            <a:p>
              <a:pPr indent="0" lvl="0" marL="0" marR="0" rtl="0" algn="l">
                <a:lnSpc>
                  <a:spcPct val="168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grpSp>
        <p:nvGrpSpPr>
          <p:cNvPr id="185" name="Google Shape;185;p4"/>
          <p:cNvGrpSpPr/>
          <p:nvPr/>
        </p:nvGrpSpPr>
        <p:grpSpPr>
          <a:xfrm>
            <a:off x="1374900" y="1959194"/>
            <a:ext cx="13174801" cy="5870606"/>
            <a:chOff x="0" y="-219075"/>
            <a:chExt cx="17566401" cy="7827475"/>
          </a:xfrm>
        </p:grpSpPr>
        <p:sp>
          <p:nvSpPr>
            <p:cNvPr id="186" name="Google Shape;186;p4"/>
            <p:cNvSpPr/>
            <p:nvPr/>
          </p:nvSpPr>
          <p:spPr>
            <a:xfrm>
              <a:off x="0" y="0"/>
              <a:ext cx="17566401" cy="7608400"/>
            </a:xfrm>
            <a:custGeom>
              <a:rect b="b" l="l" r="r" t="t"/>
              <a:pathLst>
                <a:path extrusionOk="0" h="7608400" w="17566401">
                  <a:moveTo>
                    <a:pt x="0" y="0"/>
                  </a:moveTo>
                  <a:lnTo>
                    <a:pt x="17566401" y="0"/>
                  </a:lnTo>
                  <a:lnTo>
                    <a:pt x="17566401" y="7608400"/>
                  </a:lnTo>
                  <a:lnTo>
                    <a:pt x="0" y="7608400"/>
                  </a:lnTo>
                  <a:close/>
                </a:path>
              </a:pathLst>
            </a:custGeom>
            <a:solidFill>
              <a:srgbClr val="000000">
                <a:alpha val="0"/>
              </a:srgbClr>
            </a:solidFill>
            <a:ln>
              <a:noFill/>
            </a:ln>
          </p:spPr>
        </p:sp>
        <p:sp>
          <p:nvSpPr>
            <p:cNvPr id="187" name="Google Shape;187;p4"/>
            <p:cNvSpPr txBox="1"/>
            <p:nvPr/>
          </p:nvSpPr>
          <p:spPr>
            <a:xfrm>
              <a:off x="0" y="-219075"/>
              <a:ext cx="17566400" cy="7827475"/>
            </a:xfrm>
            <a:prstGeom prst="rect">
              <a:avLst/>
            </a:prstGeom>
            <a:noFill/>
            <a:ln>
              <a:noFill/>
            </a:ln>
          </p:spPr>
          <p:txBody>
            <a:bodyPr anchorCtr="0" anchor="t" bIns="0" lIns="0" spcFirstLastPara="1" rIns="0" wrap="square" tIns="0">
              <a:noAutofit/>
            </a:bodyPr>
            <a:lstStyle/>
            <a:p>
              <a:pPr indent="0" lvl="0" marL="0" marR="0" rtl="0" algn="just">
                <a:lnSpc>
                  <a:spcPct val="207555"/>
                </a:lnSpc>
                <a:spcBef>
                  <a:spcPts val="0"/>
                </a:spcBef>
                <a:spcAft>
                  <a:spcPts val="0"/>
                </a:spcAft>
                <a:buNone/>
              </a:pPr>
              <a:r>
                <a:rPr b="0" i="0" lang="en-US" sz="2025" u="none" cap="none" strike="noStrike">
                  <a:solidFill>
                    <a:srgbClr val="131416"/>
                  </a:solidFill>
                  <a:latin typeface="Arial"/>
                  <a:ea typeface="Arial"/>
                  <a:cs typeface="Arial"/>
                  <a:sym typeface="Arial"/>
                </a:rPr>
                <a:t>Los fundamentos de la programación constituyen los conceptos esenciales que todo programador debe conocer:</a:t>
              </a:r>
              <a:endParaRPr/>
            </a:p>
            <a:p>
              <a:pPr indent="-218599" lvl="1" marL="437197" marR="0" rtl="0" algn="just">
                <a:lnSpc>
                  <a:spcPct val="207555"/>
                </a:lnSpc>
                <a:spcBef>
                  <a:spcPts val="0"/>
                </a:spcBef>
                <a:spcAft>
                  <a:spcPts val="0"/>
                </a:spcAft>
                <a:buClr>
                  <a:srgbClr val="131416"/>
                </a:buClr>
                <a:buSzPts val="2025"/>
                <a:buFont typeface="Arial"/>
                <a:buChar char="•"/>
              </a:pPr>
              <a:r>
                <a:rPr b="0" i="0" lang="en-US" sz="2025" u="none" cap="none" strike="noStrike">
                  <a:solidFill>
                    <a:srgbClr val="131416"/>
                  </a:solidFill>
                  <a:latin typeface="Arial"/>
                  <a:ea typeface="Arial"/>
                  <a:cs typeface="Arial"/>
                  <a:sym typeface="Arial"/>
                </a:rPr>
                <a:t>Algoritmos: Secuencia de pasos finitos para resolver un problema.</a:t>
              </a:r>
              <a:endParaRPr/>
            </a:p>
            <a:p>
              <a:pPr indent="-218599" lvl="1" marL="437197" marR="0" rtl="0" algn="just">
                <a:lnSpc>
                  <a:spcPct val="207555"/>
                </a:lnSpc>
                <a:spcBef>
                  <a:spcPts val="0"/>
                </a:spcBef>
                <a:spcAft>
                  <a:spcPts val="0"/>
                </a:spcAft>
                <a:buClr>
                  <a:srgbClr val="131416"/>
                </a:buClr>
                <a:buSzPts val="2025"/>
                <a:buFont typeface="Arial"/>
                <a:buChar char="•"/>
              </a:pPr>
              <a:r>
                <a:rPr b="0" i="0" lang="en-US" sz="2025" u="none" cap="none" strike="noStrike">
                  <a:solidFill>
                    <a:srgbClr val="131416"/>
                  </a:solidFill>
                  <a:latin typeface="Arial"/>
                  <a:ea typeface="Arial"/>
                  <a:cs typeface="Arial"/>
                  <a:sym typeface="Arial"/>
                </a:rPr>
                <a:t>Variables y Tipos de Datos: Elementos para almacenar y manipular datos.</a:t>
              </a:r>
              <a:endParaRPr/>
            </a:p>
            <a:p>
              <a:pPr indent="-218599" lvl="1" marL="437197" marR="0" rtl="0" algn="just">
                <a:lnSpc>
                  <a:spcPct val="207555"/>
                </a:lnSpc>
                <a:spcBef>
                  <a:spcPts val="0"/>
                </a:spcBef>
                <a:spcAft>
                  <a:spcPts val="0"/>
                </a:spcAft>
                <a:buClr>
                  <a:srgbClr val="131416"/>
                </a:buClr>
                <a:buSzPts val="2025"/>
                <a:buFont typeface="Arial"/>
                <a:buChar char="•"/>
              </a:pPr>
              <a:r>
                <a:rPr b="0" i="0" lang="en-US" sz="2025" u="none" cap="none" strike="noStrike">
                  <a:solidFill>
                    <a:srgbClr val="131416"/>
                  </a:solidFill>
                  <a:latin typeface="Arial"/>
                  <a:ea typeface="Arial"/>
                  <a:cs typeface="Arial"/>
                  <a:sym typeface="Arial"/>
                </a:rPr>
                <a:t>Estructuras de Control: Decisiones (if, else) y repeticiones (for, while).</a:t>
              </a:r>
              <a:endParaRPr/>
            </a:p>
            <a:p>
              <a:pPr indent="-218599" lvl="1" marL="437197" marR="0" rtl="0" algn="just">
                <a:lnSpc>
                  <a:spcPct val="207555"/>
                </a:lnSpc>
                <a:spcBef>
                  <a:spcPts val="0"/>
                </a:spcBef>
                <a:spcAft>
                  <a:spcPts val="0"/>
                </a:spcAft>
                <a:buClr>
                  <a:srgbClr val="131416"/>
                </a:buClr>
                <a:buSzPts val="2025"/>
                <a:buFont typeface="Arial"/>
                <a:buChar char="•"/>
              </a:pPr>
              <a:r>
                <a:rPr b="0" i="0" lang="en-US" sz="2025" u="none" cap="none" strike="noStrike">
                  <a:solidFill>
                    <a:srgbClr val="131416"/>
                  </a:solidFill>
                  <a:latin typeface="Arial"/>
                  <a:ea typeface="Arial"/>
                  <a:cs typeface="Arial"/>
                  <a:sym typeface="Arial"/>
                </a:rPr>
                <a:t>Entrada y Salida: Comunicación con el usuario.</a:t>
              </a:r>
              <a:endParaRPr/>
            </a:p>
            <a:p>
              <a:pPr indent="-218599" lvl="1" marL="437197" marR="0" rtl="0" algn="just">
                <a:lnSpc>
                  <a:spcPct val="207654"/>
                </a:lnSpc>
                <a:spcBef>
                  <a:spcPts val="0"/>
                </a:spcBef>
                <a:spcAft>
                  <a:spcPts val="0"/>
                </a:spcAft>
                <a:buClr>
                  <a:srgbClr val="131416"/>
                </a:buClr>
                <a:buSzPts val="2025"/>
                <a:buFont typeface="Arial"/>
                <a:buChar char="•"/>
              </a:pPr>
              <a:r>
                <a:rPr b="0" i="0" lang="en-US" sz="2025" u="none" cap="none" strike="noStrike">
                  <a:solidFill>
                    <a:srgbClr val="131416"/>
                  </a:solidFill>
                  <a:latin typeface="Arial"/>
                  <a:ea typeface="Arial"/>
                  <a:cs typeface="Arial"/>
                  <a:sym typeface="Arial"/>
                </a:rPr>
                <a:t>Funciones o Procedimientos: Bloques de código reutilizables.</a:t>
              </a:r>
              <a:endParaRPr/>
            </a:p>
            <a:p>
              <a:pPr indent="0" lvl="0" marL="0" marR="0" rtl="0" algn="just">
                <a:lnSpc>
                  <a:spcPct val="207555"/>
                </a:lnSpc>
                <a:spcBef>
                  <a:spcPts val="0"/>
                </a:spcBef>
                <a:spcAft>
                  <a:spcPts val="0"/>
                </a:spcAft>
                <a:buNone/>
              </a:pPr>
              <a:r>
                <a:t/>
              </a:r>
              <a:endParaRPr b="0" i="0" sz="2025" u="none" cap="none" strike="noStrike">
                <a:solidFill>
                  <a:srgbClr val="131416"/>
                </a:solidFill>
                <a:latin typeface="Arial"/>
                <a:ea typeface="Arial"/>
                <a:cs typeface="Arial"/>
                <a:sym typeface="Arial"/>
              </a:endParaRPr>
            </a:p>
          </p:txBody>
        </p:sp>
      </p:grpSp>
      <p:grpSp>
        <p:nvGrpSpPr>
          <p:cNvPr id="188" name="Google Shape;188;p4"/>
          <p:cNvGrpSpPr/>
          <p:nvPr/>
        </p:nvGrpSpPr>
        <p:grpSpPr>
          <a:xfrm>
            <a:off x="1374889" y="497201"/>
            <a:ext cx="13991101" cy="1256147"/>
            <a:chOff x="0" y="-209550"/>
            <a:chExt cx="18654801" cy="1674862"/>
          </a:xfrm>
        </p:grpSpPr>
        <p:sp>
          <p:nvSpPr>
            <p:cNvPr id="189" name="Google Shape;189;p4"/>
            <p:cNvSpPr/>
            <p:nvPr/>
          </p:nvSpPr>
          <p:spPr>
            <a:xfrm>
              <a:off x="0" y="0"/>
              <a:ext cx="18654801" cy="1465312"/>
            </a:xfrm>
            <a:custGeom>
              <a:rect b="b" l="l" r="r" t="t"/>
              <a:pathLst>
                <a:path extrusionOk="0" h="1465312" w="18654801">
                  <a:moveTo>
                    <a:pt x="0" y="0"/>
                  </a:moveTo>
                  <a:lnTo>
                    <a:pt x="18654801" y="0"/>
                  </a:lnTo>
                  <a:lnTo>
                    <a:pt x="18654801" y="1465312"/>
                  </a:lnTo>
                  <a:lnTo>
                    <a:pt x="0" y="1465312"/>
                  </a:lnTo>
                  <a:close/>
                </a:path>
              </a:pathLst>
            </a:custGeom>
            <a:solidFill>
              <a:srgbClr val="000000">
                <a:alpha val="0"/>
              </a:srgbClr>
            </a:solidFill>
            <a:ln>
              <a:noFill/>
            </a:ln>
          </p:spPr>
        </p:sp>
        <p:sp>
          <p:nvSpPr>
            <p:cNvPr id="190" name="Google Shape;190;p4"/>
            <p:cNvSpPr txBox="1"/>
            <p:nvPr/>
          </p:nvSpPr>
          <p:spPr>
            <a:xfrm>
              <a:off x="0" y="-209550"/>
              <a:ext cx="18654800"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Fundamentos de Programación</a:t>
              </a:r>
              <a:endParaRPr/>
            </a:p>
          </p:txBody>
        </p:sp>
      </p:grpSp>
      <p:sp>
        <p:nvSpPr>
          <p:cNvPr id="191" name="Google Shape;191;p4"/>
          <p:cNvSpPr/>
          <p:nvPr/>
        </p:nvSpPr>
        <p:spPr>
          <a:xfrm>
            <a:off x="14623350" y="6841789"/>
            <a:ext cx="2946000" cy="2946000"/>
          </a:xfrm>
          <a:custGeom>
            <a:rect b="b" l="l" r="r" t="t"/>
            <a:pathLst>
              <a:path extrusionOk="0" h="2946000" w="2946000">
                <a:moveTo>
                  <a:pt x="0" y="0"/>
                </a:moveTo>
                <a:lnTo>
                  <a:pt x="2946000" y="0"/>
                </a:lnTo>
                <a:lnTo>
                  <a:pt x="2946000" y="2946000"/>
                </a:lnTo>
                <a:lnTo>
                  <a:pt x="0" y="294600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grpSp>
        <p:nvGrpSpPr>
          <p:cNvPr id="200" name="Google Shape;200;p5"/>
          <p:cNvGrpSpPr/>
          <p:nvPr/>
        </p:nvGrpSpPr>
        <p:grpSpPr>
          <a:xfrm>
            <a:off x="1392603" y="1902538"/>
            <a:ext cx="15502800" cy="7698938"/>
            <a:chOff x="0" y="-95250"/>
            <a:chExt cx="20670400" cy="10265250"/>
          </a:xfrm>
        </p:grpSpPr>
        <p:sp>
          <p:nvSpPr>
            <p:cNvPr id="201" name="Google Shape;201;p5"/>
            <p:cNvSpPr/>
            <p:nvPr/>
          </p:nvSpPr>
          <p:spPr>
            <a:xfrm>
              <a:off x="0" y="0"/>
              <a:ext cx="20670400" cy="10170000"/>
            </a:xfrm>
            <a:custGeom>
              <a:rect b="b" l="l" r="r" t="t"/>
              <a:pathLst>
                <a:path extrusionOk="0" h="10170000" w="20670400">
                  <a:moveTo>
                    <a:pt x="0" y="0"/>
                  </a:moveTo>
                  <a:lnTo>
                    <a:pt x="20670400" y="0"/>
                  </a:lnTo>
                  <a:lnTo>
                    <a:pt x="20670400" y="10170000"/>
                  </a:lnTo>
                  <a:lnTo>
                    <a:pt x="0" y="10170000"/>
                  </a:lnTo>
                  <a:close/>
                </a:path>
              </a:pathLst>
            </a:custGeom>
            <a:solidFill>
              <a:srgbClr val="000000">
                <a:alpha val="0"/>
              </a:srgbClr>
            </a:solidFill>
            <a:ln>
              <a:noFill/>
            </a:ln>
          </p:spPr>
        </p:sp>
        <p:sp>
          <p:nvSpPr>
            <p:cNvPr id="202" name="Google Shape;202;p5"/>
            <p:cNvSpPr txBox="1"/>
            <p:nvPr/>
          </p:nvSpPr>
          <p:spPr>
            <a:xfrm>
              <a:off x="0" y="-95250"/>
              <a:ext cx="20670400" cy="10265250"/>
            </a:xfrm>
            <a:prstGeom prst="rect">
              <a:avLst/>
            </a:prstGeom>
            <a:noFill/>
            <a:ln>
              <a:noFill/>
            </a:ln>
          </p:spPr>
          <p:txBody>
            <a:bodyPr anchorCtr="0" anchor="t" bIns="0" lIns="0" spcFirstLastPara="1" rIns="0" wrap="square" tIns="0">
              <a:noAutofit/>
            </a:bodyPr>
            <a:lstStyle/>
            <a:p>
              <a:pPr indent="-269874" lvl="1" marL="539749" marR="0" rtl="0" algn="l">
                <a:lnSpc>
                  <a:spcPct val="138015"/>
                </a:lnSpc>
                <a:spcBef>
                  <a:spcPts val="0"/>
                </a:spcBef>
                <a:spcAft>
                  <a:spcPts val="0"/>
                </a:spcAft>
                <a:buClr>
                  <a:srgbClr val="131416"/>
                </a:buClr>
                <a:buSzPts val="2499"/>
                <a:buFont typeface="Arial"/>
                <a:buChar char="•"/>
              </a:pPr>
              <a:r>
                <a:rPr b="0" i="0" lang="en-US" sz="2499" u="none" cap="none" strike="noStrike">
                  <a:solidFill>
                    <a:srgbClr val="131416"/>
                  </a:solidFill>
                  <a:latin typeface="Arial"/>
                  <a:ea typeface="Arial"/>
                  <a:cs typeface="Arial"/>
                  <a:sym typeface="Arial"/>
                </a:rPr>
                <a:t>Sintaxis: Reglas que definen cómo se debe escribir el código.</a:t>
              </a:r>
              <a:endParaRPr/>
            </a:p>
            <a:p>
              <a:pPr indent="-269874" lvl="1" marL="539749" marR="0" rtl="0" algn="l">
                <a:lnSpc>
                  <a:spcPct val="138015"/>
                </a:lnSpc>
                <a:spcBef>
                  <a:spcPts val="0"/>
                </a:spcBef>
                <a:spcAft>
                  <a:spcPts val="0"/>
                </a:spcAft>
                <a:buClr>
                  <a:srgbClr val="131416"/>
                </a:buClr>
                <a:buSzPts val="2499"/>
                <a:buFont typeface="Arial"/>
                <a:buChar char="•"/>
              </a:pPr>
              <a:r>
                <a:rPr b="0" i="0" lang="en-US" sz="2499" u="none" cap="none" strike="noStrike">
                  <a:solidFill>
                    <a:srgbClr val="131416"/>
                  </a:solidFill>
                  <a:latin typeface="Arial"/>
                  <a:ea typeface="Arial"/>
                  <a:cs typeface="Arial"/>
                  <a:sym typeface="Arial"/>
                </a:rPr>
                <a:t>Semántica: Significado del código que se escribe.</a:t>
              </a:r>
              <a:endParaRPr/>
            </a:p>
            <a:p>
              <a:pPr indent="-269874" lvl="1" marL="539749" marR="0" rtl="0" algn="l">
                <a:lnSpc>
                  <a:spcPct val="138015"/>
                </a:lnSpc>
                <a:spcBef>
                  <a:spcPts val="0"/>
                </a:spcBef>
                <a:spcAft>
                  <a:spcPts val="0"/>
                </a:spcAft>
                <a:buClr>
                  <a:srgbClr val="131416"/>
                </a:buClr>
                <a:buSzPts val="2499"/>
                <a:buFont typeface="Arial"/>
                <a:buChar char="•"/>
              </a:pPr>
              <a:r>
                <a:rPr b="0" i="0" lang="en-US" sz="2499" u="none" cap="none" strike="noStrike">
                  <a:solidFill>
                    <a:srgbClr val="131416"/>
                  </a:solidFill>
                  <a:latin typeface="Arial"/>
                  <a:ea typeface="Arial"/>
                  <a:cs typeface="Arial"/>
                  <a:sym typeface="Arial"/>
                </a:rPr>
                <a:t>Compilación o Interpretación: Proceso mediante el cual el código fuente se traduce y ejecuta.</a:t>
              </a:r>
              <a:endParaRPr/>
            </a:p>
            <a:p>
              <a:pPr indent="0" lvl="0" marL="0" marR="0" rtl="0" algn="l">
                <a:lnSpc>
                  <a:spcPct val="138015"/>
                </a:lnSpc>
                <a:spcBef>
                  <a:spcPts val="0"/>
                </a:spcBef>
                <a:spcAft>
                  <a:spcPts val="0"/>
                </a:spcAft>
                <a:buNone/>
              </a:pPr>
              <a:r>
                <a:t/>
              </a:r>
              <a:endParaRPr b="0" i="0" sz="2499" u="none" cap="none" strike="noStrike">
                <a:solidFill>
                  <a:srgbClr val="131416"/>
                </a:solidFill>
                <a:latin typeface="Arial"/>
                <a:ea typeface="Arial"/>
                <a:cs typeface="Arial"/>
                <a:sym typeface="Arial"/>
              </a:endParaRPr>
            </a:p>
            <a:p>
              <a:pPr indent="0" lvl="0" marL="0" marR="0" rtl="0" algn="l">
                <a:lnSpc>
                  <a:spcPct val="138015"/>
                </a:lnSpc>
                <a:spcBef>
                  <a:spcPts val="0"/>
                </a:spcBef>
                <a:spcAft>
                  <a:spcPts val="0"/>
                </a:spcAft>
                <a:buNone/>
              </a:pPr>
              <a:r>
                <a:t/>
              </a:r>
              <a:endParaRPr b="0" i="0" sz="2499" u="none" cap="none" strike="noStrike">
                <a:solidFill>
                  <a:srgbClr val="131416"/>
                </a:solidFill>
                <a:latin typeface="Arial"/>
                <a:ea typeface="Arial"/>
                <a:cs typeface="Arial"/>
                <a:sym typeface="Arial"/>
              </a:endParaRPr>
            </a:p>
            <a:p>
              <a:pPr indent="0" lvl="0" marL="0" marR="0" rtl="0" algn="l">
                <a:lnSpc>
                  <a:spcPct val="138015"/>
                </a:lnSpc>
                <a:spcBef>
                  <a:spcPts val="0"/>
                </a:spcBef>
                <a:spcAft>
                  <a:spcPts val="0"/>
                </a:spcAft>
                <a:buNone/>
              </a:pPr>
              <a:r>
                <a:t/>
              </a:r>
              <a:endParaRPr b="0" i="0" sz="2499" u="none" cap="none" strike="noStrike">
                <a:solidFill>
                  <a:srgbClr val="131416"/>
                </a:solidFill>
                <a:latin typeface="Arial"/>
                <a:ea typeface="Arial"/>
                <a:cs typeface="Arial"/>
                <a:sym typeface="Arial"/>
              </a:endParaRPr>
            </a:p>
            <a:p>
              <a:pPr indent="0" lvl="0" marL="0" marR="0" rtl="0" algn="ctr">
                <a:lnSpc>
                  <a:spcPct val="138015"/>
                </a:lnSpc>
                <a:spcBef>
                  <a:spcPts val="0"/>
                </a:spcBef>
                <a:spcAft>
                  <a:spcPts val="0"/>
                </a:spcAft>
                <a:buNone/>
              </a:pPr>
              <a:r>
                <a:rPr b="0" i="0" lang="en-US" sz="2499" u="none" cap="none" strike="noStrike">
                  <a:solidFill>
                    <a:srgbClr val="131416"/>
                  </a:solidFill>
                  <a:latin typeface="Arial"/>
                  <a:ea typeface="Arial"/>
                  <a:cs typeface="Arial"/>
                  <a:sym typeface="Arial"/>
                </a:rPr>
                <a:t>Ejemplos de lenguajes: Java, Python, C++, JavaScript.</a:t>
              </a:r>
              <a:endParaRPr/>
            </a:p>
            <a:p>
              <a:pPr indent="0" lvl="0" marL="0" marR="0" rtl="0" algn="l">
                <a:lnSpc>
                  <a:spcPct val="138015"/>
                </a:lnSpc>
                <a:spcBef>
                  <a:spcPts val="0"/>
                </a:spcBef>
                <a:spcAft>
                  <a:spcPts val="0"/>
                </a:spcAft>
                <a:buNone/>
              </a:pPr>
              <a:r>
                <a:t/>
              </a:r>
              <a:endParaRPr b="0" i="0" sz="2499" u="none" cap="none" strike="noStrike">
                <a:solidFill>
                  <a:srgbClr val="131416"/>
                </a:solidFill>
                <a:latin typeface="Arial"/>
                <a:ea typeface="Arial"/>
                <a:cs typeface="Arial"/>
                <a:sym typeface="Arial"/>
              </a:endParaRPr>
            </a:p>
          </p:txBody>
        </p:sp>
      </p:grpSp>
      <p:grpSp>
        <p:nvGrpSpPr>
          <p:cNvPr id="203" name="Google Shape;203;p5"/>
          <p:cNvGrpSpPr/>
          <p:nvPr/>
        </p:nvGrpSpPr>
        <p:grpSpPr>
          <a:xfrm>
            <a:off x="1374901" y="497213"/>
            <a:ext cx="15288901" cy="1256147"/>
            <a:chOff x="0" y="-209550"/>
            <a:chExt cx="20385201" cy="1674862"/>
          </a:xfrm>
        </p:grpSpPr>
        <p:sp>
          <p:nvSpPr>
            <p:cNvPr id="204" name="Google Shape;204;p5"/>
            <p:cNvSpPr/>
            <p:nvPr/>
          </p:nvSpPr>
          <p:spPr>
            <a:xfrm>
              <a:off x="0" y="0"/>
              <a:ext cx="20385201" cy="1465312"/>
            </a:xfrm>
            <a:custGeom>
              <a:rect b="b" l="l" r="r" t="t"/>
              <a:pathLst>
                <a:path extrusionOk="0" h="1465312" w="20385201">
                  <a:moveTo>
                    <a:pt x="0" y="0"/>
                  </a:moveTo>
                  <a:lnTo>
                    <a:pt x="20385201" y="0"/>
                  </a:lnTo>
                  <a:lnTo>
                    <a:pt x="20385201" y="1465312"/>
                  </a:lnTo>
                  <a:lnTo>
                    <a:pt x="0" y="1465312"/>
                  </a:lnTo>
                  <a:close/>
                </a:path>
              </a:pathLst>
            </a:custGeom>
            <a:solidFill>
              <a:srgbClr val="000000">
                <a:alpha val="0"/>
              </a:srgbClr>
            </a:solidFill>
            <a:ln>
              <a:noFill/>
            </a:ln>
          </p:spPr>
        </p:sp>
        <p:sp>
          <p:nvSpPr>
            <p:cNvPr id="205" name="Google Shape;205;p5"/>
            <p:cNvSpPr txBox="1"/>
            <p:nvPr/>
          </p:nvSpPr>
          <p:spPr>
            <a:xfrm>
              <a:off x="0" y="-209550"/>
              <a:ext cx="20385200"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Elementos de un Lenguaje de Programación</a:t>
              </a:r>
              <a:endParaRPr/>
            </a:p>
          </p:txBody>
        </p:sp>
      </p:grpSp>
      <p:sp>
        <p:nvSpPr>
          <p:cNvPr id="206" name="Google Shape;206;p5"/>
          <p:cNvSpPr/>
          <p:nvPr/>
        </p:nvSpPr>
        <p:spPr>
          <a:xfrm>
            <a:off x="6961951" y="5143500"/>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sp>
        <p:nvSpPr>
          <p:cNvPr id="207" name="Google Shape;207;p5"/>
          <p:cNvSpPr/>
          <p:nvPr/>
        </p:nvSpPr>
        <p:spPr>
          <a:xfrm>
            <a:off x="11076751" y="5435596"/>
            <a:ext cx="3822704" cy="3822704"/>
          </a:xfrm>
          <a:custGeom>
            <a:rect b="b" l="l" r="r" t="t"/>
            <a:pathLst>
              <a:path extrusionOk="0" h="3822704" w="3822704">
                <a:moveTo>
                  <a:pt x="0" y="0"/>
                </a:moveTo>
                <a:lnTo>
                  <a:pt x="3822704" y="0"/>
                </a:lnTo>
                <a:lnTo>
                  <a:pt x="3822704" y="3822704"/>
                </a:lnTo>
                <a:lnTo>
                  <a:pt x="0" y="3822704"/>
                </a:lnTo>
                <a:lnTo>
                  <a:pt x="0" y="0"/>
                </a:lnTo>
                <a:close/>
              </a:path>
            </a:pathLst>
          </a:custGeom>
          <a:blipFill rotWithShape="1">
            <a:blip r:embed="rId4">
              <a:alphaModFix/>
            </a:blip>
            <a:stretch>
              <a:fillRect b="0" l="0" r="0" t="0"/>
            </a:stretch>
          </a:blipFill>
          <a:ln>
            <a:noFill/>
          </a:ln>
        </p:spPr>
      </p:sp>
      <p:sp>
        <p:nvSpPr>
          <p:cNvPr id="208" name="Google Shape;208;p5"/>
          <p:cNvSpPr/>
          <p:nvPr/>
        </p:nvSpPr>
        <p:spPr>
          <a:xfrm>
            <a:off x="3413245" y="5435596"/>
            <a:ext cx="3548706" cy="3998542"/>
          </a:xfrm>
          <a:custGeom>
            <a:rect b="b" l="l" r="r" t="t"/>
            <a:pathLst>
              <a:path extrusionOk="0" h="3998542" w="3548706">
                <a:moveTo>
                  <a:pt x="0" y="0"/>
                </a:moveTo>
                <a:lnTo>
                  <a:pt x="3548706" y="0"/>
                </a:lnTo>
                <a:lnTo>
                  <a:pt x="3548706" y="3998542"/>
                </a:lnTo>
                <a:lnTo>
                  <a:pt x="0" y="3998542"/>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grpSp>
        <p:nvGrpSpPr>
          <p:cNvPr id="217" name="Google Shape;217;p6"/>
          <p:cNvGrpSpPr/>
          <p:nvPr/>
        </p:nvGrpSpPr>
        <p:grpSpPr>
          <a:xfrm>
            <a:off x="1392603" y="1902538"/>
            <a:ext cx="15502800" cy="7113338"/>
            <a:chOff x="0" y="-95250"/>
            <a:chExt cx="20670400" cy="9484450"/>
          </a:xfrm>
        </p:grpSpPr>
        <p:sp>
          <p:nvSpPr>
            <p:cNvPr id="218" name="Google Shape;218;p6"/>
            <p:cNvSpPr/>
            <p:nvPr/>
          </p:nvSpPr>
          <p:spPr>
            <a:xfrm>
              <a:off x="0" y="0"/>
              <a:ext cx="20670400" cy="9389200"/>
            </a:xfrm>
            <a:custGeom>
              <a:rect b="b" l="l" r="r" t="t"/>
              <a:pathLst>
                <a:path extrusionOk="0" h="9389200" w="20670400">
                  <a:moveTo>
                    <a:pt x="0" y="0"/>
                  </a:moveTo>
                  <a:lnTo>
                    <a:pt x="20670400" y="0"/>
                  </a:lnTo>
                  <a:lnTo>
                    <a:pt x="20670400" y="9389200"/>
                  </a:lnTo>
                  <a:lnTo>
                    <a:pt x="0" y="9389200"/>
                  </a:lnTo>
                  <a:close/>
                </a:path>
              </a:pathLst>
            </a:custGeom>
            <a:solidFill>
              <a:srgbClr val="000000">
                <a:alpha val="0"/>
              </a:srgbClr>
            </a:solidFill>
            <a:ln>
              <a:noFill/>
            </a:ln>
          </p:spPr>
        </p:sp>
        <p:sp>
          <p:nvSpPr>
            <p:cNvPr id="219" name="Google Shape;219;p6"/>
            <p:cNvSpPr txBox="1"/>
            <p:nvPr/>
          </p:nvSpPr>
          <p:spPr>
            <a:xfrm>
              <a:off x="0" y="-95250"/>
              <a:ext cx="20670400" cy="9484450"/>
            </a:xfrm>
            <a:prstGeom prst="rect">
              <a:avLst/>
            </a:prstGeom>
            <a:noFill/>
            <a:ln>
              <a:noFill/>
            </a:ln>
          </p:spPr>
          <p:txBody>
            <a:bodyPr anchorCtr="0" anchor="t" bIns="0" lIns="0" spcFirstLastPara="1" rIns="0" wrap="square" tIns="0">
              <a:noAutofit/>
            </a:bodyPr>
            <a:lstStyle/>
            <a:p>
              <a:pPr indent="-283367" lvl="1" marL="566736" marR="0" rtl="0" algn="l">
                <a:lnSpc>
                  <a:spcPct val="138033"/>
                </a:lnSpc>
                <a:spcBef>
                  <a:spcPts val="0"/>
                </a:spcBef>
                <a:spcAft>
                  <a:spcPts val="0"/>
                </a:spcAft>
                <a:buClr>
                  <a:srgbClr val="131416"/>
                </a:buClr>
                <a:buSzPts val="2624"/>
                <a:buFont typeface="Arial"/>
                <a:buChar char="•"/>
              </a:pPr>
              <a:r>
                <a:rPr b="0" i="0" lang="en-US" sz="2624" u="none" cap="none" strike="noStrike">
                  <a:solidFill>
                    <a:srgbClr val="131416"/>
                  </a:solidFill>
                  <a:latin typeface="Arial"/>
                  <a:ea typeface="Arial"/>
                  <a:cs typeface="Arial"/>
                  <a:sym typeface="Arial"/>
                </a:rPr>
                <a:t>Secuencia: Ejecución ordenada línea por línea.</a:t>
              </a:r>
              <a:endParaRPr/>
            </a:p>
            <a:p>
              <a:pPr indent="-283367" lvl="1" marL="566736" marR="0" rtl="0" algn="l">
                <a:lnSpc>
                  <a:spcPct val="138033"/>
                </a:lnSpc>
                <a:spcBef>
                  <a:spcPts val="0"/>
                </a:spcBef>
                <a:spcAft>
                  <a:spcPts val="0"/>
                </a:spcAft>
                <a:buClr>
                  <a:srgbClr val="131416"/>
                </a:buClr>
                <a:buSzPts val="2624"/>
                <a:buFont typeface="Arial"/>
                <a:buChar char="•"/>
              </a:pPr>
              <a:r>
                <a:rPr b="0" i="0" lang="en-US" sz="2624" u="none" cap="none" strike="noStrike">
                  <a:solidFill>
                    <a:srgbClr val="131416"/>
                  </a:solidFill>
                  <a:latin typeface="Arial"/>
                  <a:ea typeface="Arial"/>
                  <a:cs typeface="Arial"/>
                  <a:sym typeface="Arial"/>
                </a:rPr>
                <a:t>Selección: Uso de condiciones (if, else) para ejecutar decisiones.</a:t>
              </a:r>
              <a:endParaRPr/>
            </a:p>
            <a:p>
              <a:pPr indent="-283367" lvl="1" marL="566736" marR="0" rtl="0" algn="l">
                <a:lnSpc>
                  <a:spcPct val="138033"/>
                </a:lnSpc>
                <a:spcBef>
                  <a:spcPts val="0"/>
                </a:spcBef>
                <a:spcAft>
                  <a:spcPts val="0"/>
                </a:spcAft>
                <a:buClr>
                  <a:srgbClr val="131416"/>
                </a:buClr>
                <a:buSzPts val="2624"/>
                <a:buFont typeface="Arial"/>
                <a:buChar char="•"/>
              </a:pPr>
              <a:r>
                <a:rPr b="0" i="0" lang="en-US" sz="2624" u="none" cap="none" strike="noStrike">
                  <a:solidFill>
                    <a:srgbClr val="131416"/>
                  </a:solidFill>
                  <a:latin typeface="Arial"/>
                  <a:ea typeface="Arial"/>
                  <a:cs typeface="Arial"/>
                  <a:sym typeface="Arial"/>
                </a:rPr>
                <a:t>Iteración: Repetición de bloques (for, while).</a:t>
              </a:r>
              <a:endParaRPr/>
            </a:p>
            <a:p>
              <a:pPr indent="0" lvl="0" marL="0" marR="0" rtl="0" algn="ctr">
                <a:lnSpc>
                  <a:spcPct val="138033"/>
                </a:lnSpc>
                <a:spcBef>
                  <a:spcPts val="0"/>
                </a:spcBef>
                <a:spcAft>
                  <a:spcPts val="0"/>
                </a:spcAft>
                <a:buNone/>
              </a:pPr>
              <a:r>
                <a:t/>
              </a:r>
              <a:endParaRPr b="0" i="0" sz="2624" u="none" cap="none" strike="noStrike">
                <a:solidFill>
                  <a:srgbClr val="131416"/>
                </a:solidFill>
                <a:latin typeface="Arial"/>
                <a:ea typeface="Arial"/>
                <a:cs typeface="Arial"/>
                <a:sym typeface="Arial"/>
              </a:endParaRPr>
            </a:p>
            <a:p>
              <a:pPr indent="0" lvl="0" marL="0" marR="0" rtl="0" algn="ctr">
                <a:lnSpc>
                  <a:spcPct val="138033"/>
                </a:lnSpc>
                <a:spcBef>
                  <a:spcPts val="0"/>
                </a:spcBef>
                <a:spcAft>
                  <a:spcPts val="0"/>
                </a:spcAft>
                <a:buNone/>
              </a:pPr>
              <a:r>
                <a:rPr b="0" i="0" lang="en-US" sz="2624" u="none" cap="none" strike="noStrike">
                  <a:solidFill>
                    <a:srgbClr val="131416"/>
                  </a:solidFill>
                  <a:latin typeface="Arial"/>
                  <a:ea typeface="Arial"/>
                  <a:cs typeface="Arial"/>
                  <a:sym typeface="Arial"/>
                </a:rPr>
                <a:t>Inicio</a:t>
              </a:r>
              <a:endParaRPr/>
            </a:p>
            <a:p>
              <a:pPr indent="0" lvl="0" marL="0" marR="0" rtl="0" algn="ctr">
                <a:lnSpc>
                  <a:spcPct val="138033"/>
                </a:lnSpc>
                <a:spcBef>
                  <a:spcPts val="0"/>
                </a:spcBef>
                <a:spcAft>
                  <a:spcPts val="0"/>
                </a:spcAft>
                <a:buNone/>
              </a:pPr>
              <a:r>
                <a:rPr b="0" i="0" lang="en-US" sz="2624" u="none" cap="none" strike="noStrike">
                  <a:solidFill>
                    <a:srgbClr val="131416"/>
                  </a:solidFill>
                  <a:latin typeface="Arial"/>
                  <a:ea typeface="Arial"/>
                  <a:cs typeface="Arial"/>
                  <a:sym typeface="Arial"/>
                </a:rPr>
                <a:t>  Leer edad</a:t>
              </a:r>
              <a:endParaRPr/>
            </a:p>
            <a:p>
              <a:pPr indent="0" lvl="0" marL="0" marR="0" rtl="0" algn="ctr">
                <a:lnSpc>
                  <a:spcPct val="138033"/>
                </a:lnSpc>
                <a:spcBef>
                  <a:spcPts val="0"/>
                </a:spcBef>
                <a:spcAft>
                  <a:spcPts val="0"/>
                </a:spcAft>
                <a:buNone/>
              </a:pPr>
              <a:r>
                <a:rPr b="0" i="0" lang="en-US" sz="2624" u="none" cap="none" strike="noStrike">
                  <a:solidFill>
                    <a:srgbClr val="131416"/>
                  </a:solidFill>
                  <a:latin typeface="Arial"/>
                  <a:ea typeface="Arial"/>
                  <a:cs typeface="Arial"/>
                  <a:sym typeface="Arial"/>
                </a:rPr>
                <a:t>  Si edad &gt;= 18 Entonces</a:t>
              </a:r>
              <a:endParaRPr/>
            </a:p>
            <a:p>
              <a:pPr indent="0" lvl="0" marL="0" marR="0" rtl="0" algn="ctr">
                <a:lnSpc>
                  <a:spcPct val="138033"/>
                </a:lnSpc>
                <a:spcBef>
                  <a:spcPts val="0"/>
                </a:spcBef>
                <a:spcAft>
                  <a:spcPts val="0"/>
                </a:spcAft>
                <a:buNone/>
              </a:pPr>
              <a:r>
                <a:rPr b="0" i="0" lang="en-US" sz="2624" u="none" cap="none" strike="noStrike">
                  <a:solidFill>
                    <a:srgbClr val="131416"/>
                  </a:solidFill>
                  <a:latin typeface="Arial"/>
                  <a:ea typeface="Arial"/>
                  <a:cs typeface="Arial"/>
                  <a:sym typeface="Arial"/>
                </a:rPr>
                <a:t>    Escribir “Eres mayor de edad”</a:t>
              </a:r>
              <a:endParaRPr/>
            </a:p>
            <a:p>
              <a:pPr indent="0" lvl="0" marL="0" marR="0" rtl="0" algn="ctr">
                <a:lnSpc>
                  <a:spcPct val="138033"/>
                </a:lnSpc>
                <a:spcBef>
                  <a:spcPts val="0"/>
                </a:spcBef>
                <a:spcAft>
                  <a:spcPts val="0"/>
                </a:spcAft>
                <a:buNone/>
              </a:pPr>
              <a:r>
                <a:rPr b="0" i="0" lang="en-US" sz="2624" u="none" cap="none" strike="noStrike">
                  <a:solidFill>
                    <a:srgbClr val="131416"/>
                  </a:solidFill>
                  <a:latin typeface="Arial"/>
                  <a:ea typeface="Arial"/>
                  <a:cs typeface="Arial"/>
                  <a:sym typeface="Arial"/>
                </a:rPr>
                <a:t>  FinSi</a:t>
              </a:r>
              <a:endParaRPr/>
            </a:p>
            <a:p>
              <a:pPr indent="0" lvl="0" marL="0" marR="0" rtl="0" algn="ctr">
                <a:lnSpc>
                  <a:spcPct val="138033"/>
                </a:lnSpc>
                <a:spcBef>
                  <a:spcPts val="0"/>
                </a:spcBef>
                <a:spcAft>
                  <a:spcPts val="0"/>
                </a:spcAft>
                <a:buNone/>
              </a:pPr>
              <a:r>
                <a:rPr b="0" i="0" lang="en-US" sz="2624" u="none" cap="none" strike="noStrike">
                  <a:solidFill>
                    <a:srgbClr val="131416"/>
                  </a:solidFill>
                  <a:latin typeface="Arial"/>
                  <a:ea typeface="Arial"/>
                  <a:cs typeface="Arial"/>
                  <a:sym typeface="Arial"/>
                </a:rPr>
                <a:t>Fin</a:t>
              </a:r>
              <a:endParaRPr/>
            </a:p>
            <a:p>
              <a:pPr indent="0" lvl="0" marL="0" marR="0" rtl="0" algn="ctr">
                <a:lnSpc>
                  <a:spcPct val="116996"/>
                </a:lnSpc>
                <a:spcBef>
                  <a:spcPts val="0"/>
                </a:spcBef>
                <a:spcAft>
                  <a:spcPts val="0"/>
                </a:spcAft>
                <a:buNone/>
              </a:pPr>
              <a:r>
                <a:t/>
              </a:r>
              <a:endParaRPr b="0" i="0" sz="2624" u="none" cap="none" strike="noStrike">
                <a:solidFill>
                  <a:srgbClr val="131416"/>
                </a:solidFill>
                <a:latin typeface="Arial"/>
                <a:ea typeface="Arial"/>
                <a:cs typeface="Arial"/>
                <a:sym typeface="Arial"/>
              </a:endParaRPr>
            </a:p>
          </p:txBody>
        </p:sp>
      </p:grpSp>
      <p:grpSp>
        <p:nvGrpSpPr>
          <p:cNvPr id="220" name="Google Shape;220;p6"/>
          <p:cNvGrpSpPr/>
          <p:nvPr/>
        </p:nvGrpSpPr>
        <p:grpSpPr>
          <a:xfrm>
            <a:off x="1374901" y="497213"/>
            <a:ext cx="15288901" cy="1256147"/>
            <a:chOff x="0" y="-209550"/>
            <a:chExt cx="20385201" cy="1674862"/>
          </a:xfrm>
        </p:grpSpPr>
        <p:sp>
          <p:nvSpPr>
            <p:cNvPr id="221" name="Google Shape;221;p6"/>
            <p:cNvSpPr/>
            <p:nvPr/>
          </p:nvSpPr>
          <p:spPr>
            <a:xfrm>
              <a:off x="0" y="0"/>
              <a:ext cx="20385201" cy="1465312"/>
            </a:xfrm>
            <a:custGeom>
              <a:rect b="b" l="l" r="r" t="t"/>
              <a:pathLst>
                <a:path extrusionOk="0" h="1465312" w="20385201">
                  <a:moveTo>
                    <a:pt x="0" y="0"/>
                  </a:moveTo>
                  <a:lnTo>
                    <a:pt x="20385201" y="0"/>
                  </a:lnTo>
                  <a:lnTo>
                    <a:pt x="20385201" y="1465312"/>
                  </a:lnTo>
                  <a:lnTo>
                    <a:pt x="0" y="1465312"/>
                  </a:lnTo>
                  <a:close/>
                </a:path>
              </a:pathLst>
            </a:custGeom>
            <a:solidFill>
              <a:srgbClr val="000000">
                <a:alpha val="0"/>
              </a:srgbClr>
            </a:solidFill>
            <a:ln>
              <a:noFill/>
            </a:ln>
          </p:spPr>
        </p:sp>
        <p:sp>
          <p:nvSpPr>
            <p:cNvPr id="222" name="Google Shape;222;p6"/>
            <p:cNvSpPr txBox="1"/>
            <p:nvPr/>
          </p:nvSpPr>
          <p:spPr>
            <a:xfrm>
              <a:off x="0" y="-209550"/>
              <a:ext cx="20385200"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Estructuras Básicas</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grpSp>
        <p:nvGrpSpPr>
          <p:cNvPr id="231" name="Google Shape;231;p7"/>
          <p:cNvGrpSpPr/>
          <p:nvPr/>
        </p:nvGrpSpPr>
        <p:grpSpPr>
          <a:xfrm>
            <a:off x="1374826" y="764613"/>
            <a:ext cx="15288901" cy="1256147"/>
            <a:chOff x="0" y="-209550"/>
            <a:chExt cx="20385201" cy="1674862"/>
          </a:xfrm>
        </p:grpSpPr>
        <p:sp>
          <p:nvSpPr>
            <p:cNvPr id="232" name="Google Shape;232;p7"/>
            <p:cNvSpPr/>
            <p:nvPr/>
          </p:nvSpPr>
          <p:spPr>
            <a:xfrm>
              <a:off x="0" y="0"/>
              <a:ext cx="20385201" cy="1465312"/>
            </a:xfrm>
            <a:custGeom>
              <a:rect b="b" l="l" r="r" t="t"/>
              <a:pathLst>
                <a:path extrusionOk="0" h="1465312" w="20385201">
                  <a:moveTo>
                    <a:pt x="0" y="0"/>
                  </a:moveTo>
                  <a:lnTo>
                    <a:pt x="20385201" y="0"/>
                  </a:lnTo>
                  <a:lnTo>
                    <a:pt x="20385201" y="1465312"/>
                  </a:lnTo>
                  <a:lnTo>
                    <a:pt x="0" y="1465312"/>
                  </a:lnTo>
                  <a:close/>
                </a:path>
              </a:pathLst>
            </a:custGeom>
            <a:solidFill>
              <a:srgbClr val="000000">
                <a:alpha val="0"/>
              </a:srgbClr>
            </a:solidFill>
            <a:ln>
              <a:noFill/>
            </a:ln>
          </p:spPr>
        </p:sp>
        <p:sp>
          <p:nvSpPr>
            <p:cNvPr id="233" name="Google Shape;233;p7"/>
            <p:cNvSpPr txBox="1"/>
            <p:nvPr/>
          </p:nvSpPr>
          <p:spPr>
            <a:xfrm>
              <a:off x="0" y="-209550"/>
              <a:ext cx="20385200"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¿Qué es el Pseudocódigo?</a:t>
              </a:r>
              <a:endParaRPr/>
            </a:p>
          </p:txBody>
        </p:sp>
      </p:grpSp>
      <p:grpSp>
        <p:nvGrpSpPr>
          <p:cNvPr id="234" name="Google Shape;234;p7"/>
          <p:cNvGrpSpPr/>
          <p:nvPr/>
        </p:nvGrpSpPr>
        <p:grpSpPr>
          <a:xfrm>
            <a:off x="5243100" y="5291550"/>
            <a:ext cx="7801800" cy="3966750"/>
            <a:chOff x="0" y="-76200"/>
            <a:chExt cx="10402400" cy="5289000"/>
          </a:xfrm>
        </p:grpSpPr>
        <p:sp>
          <p:nvSpPr>
            <p:cNvPr id="235" name="Google Shape;235;p7"/>
            <p:cNvSpPr/>
            <p:nvPr/>
          </p:nvSpPr>
          <p:spPr>
            <a:xfrm>
              <a:off x="0" y="0"/>
              <a:ext cx="10402400" cy="5212800"/>
            </a:xfrm>
            <a:custGeom>
              <a:rect b="b" l="l" r="r" t="t"/>
              <a:pathLst>
                <a:path extrusionOk="0" h="5212800" w="10402400">
                  <a:moveTo>
                    <a:pt x="0" y="0"/>
                  </a:moveTo>
                  <a:lnTo>
                    <a:pt x="10402400" y="0"/>
                  </a:lnTo>
                  <a:lnTo>
                    <a:pt x="10402400" y="5212800"/>
                  </a:lnTo>
                  <a:lnTo>
                    <a:pt x="0" y="5212800"/>
                  </a:lnTo>
                  <a:close/>
                </a:path>
              </a:pathLst>
            </a:custGeom>
            <a:solidFill>
              <a:srgbClr val="000000">
                <a:alpha val="0"/>
              </a:srgbClr>
            </a:solidFill>
            <a:ln>
              <a:noFill/>
            </a:ln>
          </p:spPr>
        </p:sp>
        <p:sp>
          <p:nvSpPr>
            <p:cNvPr id="236" name="Google Shape;236;p7"/>
            <p:cNvSpPr txBox="1"/>
            <p:nvPr/>
          </p:nvSpPr>
          <p:spPr>
            <a:xfrm>
              <a:off x="0" y="-76200"/>
              <a:ext cx="10402400" cy="5289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3500" u="none" cap="none" strike="noStrike">
                  <a:solidFill>
                    <a:srgbClr val="000000"/>
                  </a:solidFill>
                  <a:latin typeface="Calibri"/>
                  <a:ea typeface="Calibri"/>
                  <a:cs typeface="Calibri"/>
                  <a:sym typeface="Calibri"/>
                </a:rPr>
                <a:t>Simple</a:t>
              </a:r>
              <a:endParaRPr/>
            </a:p>
            <a:p>
              <a:pPr indent="-269874" lvl="1" marL="539749" marR="0" rtl="0" algn="l">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Calibri"/>
                  <a:ea typeface="Calibri"/>
                  <a:cs typeface="Calibri"/>
                  <a:sym typeface="Calibri"/>
                </a:rPr>
                <a:t>Representación informal y estructurada de un algoritmo.</a:t>
              </a:r>
              <a:endParaRPr/>
            </a:p>
            <a:p>
              <a:pPr indent="-269874" lvl="1" marL="539749" marR="0" rtl="0" algn="l">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Calibri"/>
                  <a:ea typeface="Calibri"/>
                  <a:cs typeface="Calibri"/>
                  <a:sym typeface="Calibri"/>
                </a:rPr>
                <a:t>Se utiliza para planificar la lógica de un programa sin enfocarse en la sintaxis de un lenguaje específico.</a:t>
              </a:r>
              <a:endParaRPr/>
            </a:p>
            <a:p>
              <a:pPr indent="-269874" lvl="1" marL="539749" marR="0" rtl="0" algn="l">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Calibri"/>
                  <a:ea typeface="Calibri"/>
                  <a:cs typeface="Calibri"/>
                  <a:sym typeface="Calibri"/>
                </a:rPr>
                <a:t>Es útil para diseñar y comunicar ideas antes de codificar.</a:t>
              </a:r>
              <a:endParaRPr/>
            </a:p>
            <a:p>
              <a:pPr indent="0" lvl="0" marL="0" marR="0" rtl="0" algn="l">
                <a:lnSpc>
                  <a:spcPct val="138015"/>
                </a:lnSpc>
                <a:spcBef>
                  <a:spcPts val="0"/>
                </a:spcBef>
                <a:spcAft>
                  <a:spcPts val="0"/>
                </a:spcAft>
                <a:buNone/>
              </a:pPr>
              <a:r>
                <a:t/>
              </a:r>
              <a:endParaRPr b="0" i="0" sz="2499" u="none" cap="none" strike="noStrike">
                <a:solidFill>
                  <a:srgbClr val="000000"/>
                </a:solidFill>
                <a:latin typeface="Calibri"/>
                <a:ea typeface="Calibri"/>
                <a:cs typeface="Calibri"/>
                <a:sym typeface="Calibri"/>
              </a:endParaRPr>
            </a:p>
          </p:txBody>
        </p:sp>
      </p:grpSp>
      <p:sp>
        <p:nvSpPr>
          <p:cNvPr id="237" name="Google Shape;237;p7"/>
          <p:cNvSpPr/>
          <p:nvPr/>
        </p:nvSpPr>
        <p:spPr>
          <a:xfrm>
            <a:off x="4958443" y="2594117"/>
            <a:ext cx="2362200" cy="2181225"/>
          </a:xfrm>
          <a:custGeom>
            <a:rect b="b" l="l" r="r" t="t"/>
            <a:pathLst>
              <a:path extrusionOk="0" h="2181225" w="2362200">
                <a:moveTo>
                  <a:pt x="0" y="0"/>
                </a:moveTo>
                <a:lnTo>
                  <a:pt x="2362200" y="0"/>
                </a:lnTo>
                <a:lnTo>
                  <a:pt x="2362200" y="2181225"/>
                </a:lnTo>
                <a:lnTo>
                  <a:pt x="0" y="2181225"/>
                </a:lnTo>
                <a:lnTo>
                  <a:pt x="0" y="0"/>
                </a:lnTo>
                <a:close/>
              </a:path>
            </a:pathLst>
          </a:custGeom>
          <a:blipFill rotWithShape="1">
            <a:blip r:embed="rId3">
              <a:alphaModFix/>
            </a:blip>
            <a:stretch>
              <a:fillRect b="0" l="0" r="0" t="0"/>
            </a:stretch>
          </a:blipFill>
          <a:ln>
            <a:noFill/>
          </a:ln>
        </p:spPr>
      </p:sp>
      <p:sp>
        <p:nvSpPr>
          <p:cNvPr id="238" name="Google Shape;238;p7"/>
          <p:cNvSpPr/>
          <p:nvPr/>
        </p:nvSpPr>
        <p:spPr>
          <a:xfrm>
            <a:off x="11454582" y="2962275"/>
            <a:ext cx="2362200" cy="2181225"/>
          </a:xfrm>
          <a:custGeom>
            <a:rect b="b" l="l" r="r" t="t"/>
            <a:pathLst>
              <a:path extrusionOk="0" h="2181225" w="2362200">
                <a:moveTo>
                  <a:pt x="0" y="0"/>
                </a:moveTo>
                <a:lnTo>
                  <a:pt x="2362200" y="0"/>
                </a:lnTo>
                <a:lnTo>
                  <a:pt x="2362200" y="2181225"/>
                </a:lnTo>
                <a:lnTo>
                  <a:pt x="0" y="2181225"/>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grpSp>
        <p:nvGrpSpPr>
          <p:cNvPr id="247" name="Google Shape;247;p8"/>
          <p:cNvGrpSpPr/>
          <p:nvPr/>
        </p:nvGrpSpPr>
        <p:grpSpPr>
          <a:xfrm>
            <a:off x="1374826" y="764613"/>
            <a:ext cx="15288901" cy="1256147"/>
            <a:chOff x="0" y="-209550"/>
            <a:chExt cx="20385201" cy="1674862"/>
          </a:xfrm>
        </p:grpSpPr>
        <p:sp>
          <p:nvSpPr>
            <p:cNvPr id="248" name="Google Shape;248;p8"/>
            <p:cNvSpPr/>
            <p:nvPr/>
          </p:nvSpPr>
          <p:spPr>
            <a:xfrm>
              <a:off x="0" y="0"/>
              <a:ext cx="20385201" cy="1465312"/>
            </a:xfrm>
            <a:custGeom>
              <a:rect b="b" l="l" r="r" t="t"/>
              <a:pathLst>
                <a:path extrusionOk="0" h="1465312" w="20385201">
                  <a:moveTo>
                    <a:pt x="0" y="0"/>
                  </a:moveTo>
                  <a:lnTo>
                    <a:pt x="20385201" y="0"/>
                  </a:lnTo>
                  <a:lnTo>
                    <a:pt x="20385201" y="1465312"/>
                  </a:lnTo>
                  <a:lnTo>
                    <a:pt x="0" y="1465312"/>
                  </a:lnTo>
                  <a:close/>
                </a:path>
              </a:pathLst>
            </a:custGeom>
            <a:solidFill>
              <a:srgbClr val="000000">
                <a:alpha val="0"/>
              </a:srgbClr>
            </a:solidFill>
            <a:ln>
              <a:noFill/>
            </a:ln>
          </p:spPr>
        </p:sp>
        <p:sp>
          <p:nvSpPr>
            <p:cNvPr id="249" name="Google Shape;249;p8"/>
            <p:cNvSpPr txBox="1"/>
            <p:nvPr/>
          </p:nvSpPr>
          <p:spPr>
            <a:xfrm>
              <a:off x="0" y="-209550"/>
              <a:ext cx="20385200"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Reglas para Escribir Pseudocódigo</a:t>
              </a:r>
              <a:endParaRPr/>
            </a:p>
          </p:txBody>
        </p:sp>
      </p:grpSp>
      <p:grpSp>
        <p:nvGrpSpPr>
          <p:cNvPr id="250" name="Google Shape;250;p8"/>
          <p:cNvGrpSpPr/>
          <p:nvPr/>
        </p:nvGrpSpPr>
        <p:grpSpPr>
          <a:xfrm>
            <a:off x="1374903" y="2398856"/>
            <a:ext cx="15864600" cy="4742220"/>
            <a:chOff x="0" y="-314325"/>
            <a:chExt cx="21152800" cy="6322959"/>
          </a:xfrm>
        </p:grpSpPr>
        <p:sp>
          <p:nvSpPr>
            <p:cNvPr id="251" name="Google Shape;251;p8"/>
            <p:cNvSpPr/>
            <p:nvPr/>
          </p:nvSpPr>
          <p:spPr>
            <a:xfrm>
              <a:off x="0" y="0"/>
              <a:ext cx="21152800" cy="6008634"/>
            </a:xfrm>
            <a:custGeom>
              <a:rect b="b" l="l" r="r" t="t"/>
              <a:pathLst>
                <a:path extrusionOk="0" h="6008634" w="21152800">
                  <a:moveTo>
                    <a:pt x="0" y="0"/>
                  </a:moveTo>
                  <a:lnTo>
                    <a:pt x="21152800" y="0"/>
                  </a:lnTo>
                  <a:lnTo>
                    <a:pt x="21152800" y="6008634"/>
                  </a:lnTo>
                  <a:lnTo>
                    <a:pt x="0" y="6008634"/>
                  </a:lnTo>
                  <a:close/>
                </a:path>
              </a:pathLst>
            </a:custGeom>
            <a:solidFill>
              <a:srgbClr val="000000">
                <a:alpha val="0"/>
              </a:srgbClr>
            </a:solidFill>
            <a:ln>
              <a:noFill/>
            </a:ln>
          </p:spPr>
        </p:sp>
        <p:sp>
          <p:nvSpPr>
            <p:cNvPr id="252" name="Google Shape;252;p8"/>
            <p:cNvSpPr txBox="1"/>
            <p:nvPr/>
          </p:nvSpPr>
          <p:spPr>
            <a:xfrm>
              <a:off x="0" y="-314325"/>
              <a:ext cx="21152800" cy="6322959"/>
            </a:xfrm>
            <a:prstGeom prst="rect">
              <a:avLst/>
            </a:prstGeom>
            <a:noFill/>
            <a:ln>
              <a:noFill/>
            </a:ln>
          </p:spPr>
          <p:txBody>
            <a:bodyPr anchorCtr="0" anchor="t" bIns="0" lIns="0" spcFirstLastPara="1" rIns="0" wrap="square" tIns="0">
              <a:noAutofit/>
            </a:bodyPr>
            <a:lstStyle/>
            <a:p>
              <a:pPr indent="-326548" lvl="1" marL="653097" marR="0" rtl="0" algn="l">
                <a:lnSpc>
                  <a:spcPct val="2077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Utilizar palabras clave comunes: Inicio, Fin, Leer, Escribir, Si, Entonces, Mientras, Repetir, Hasta que.</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Claridad y sencillez en cada paso.</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No emplear estructuras de código específicas de lenguajes de programación.</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Usar indentación para representar la jerarquía y el flujo.</a:t>
              </a:r>
              <a:endParaRPr/>
            </a:p>
            <a:p>
              <a:pPr indent="0" lvl="0" marL="0" marR="0" rtl="0" algn="l">
                <a:lnSpc>
                  <a:spcPct val="207738"/>
                </a:lnSpc>
                <a:spcBef>
                  <a:spcPts val="0"/>
                </a:spcBef>
                <a:spcAft>
                  <a:spcPts val="0"/>
                </a:spcAft>
                <a:buNone/>
              </a:pPr>
              <a:r>
                <a:t/>
              </a:r>
              <a:endParaRPr b="0" i="0" sz="3024" u="none" cap="none" strike="noStrike">
                <a:solidFill>
                  <a:srgbClr val="131416"/>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grpSp>
        <p:nvGrpSpPr>
          <p:cNvPr id="261" name="Google Shape;261;p9"/>
          <p:cNvGrpSpPr/>
          <p:nvPr/>
        </p:nvGrpSpPr>
        <p:grpSpPr>
          <a:xfrm>
            <a:off x="1374903" y="2398856"/>
            <a:ext cx="5980371" cy="5656782"/>
            <a:chOff x="0" y="-314325"/>
            <a:chExt cx="7973829" cy="7542375"/>
          </a:xfrm>
        </p:grpSpPr>
        <p:sp>
          <p:nvSpPr>
            <p:cNvPr id="262" name="Google Shape;262;p9"/>
            <p:cNvSpPr/>
            <p:nvPr/>
          </p:nvSpPr>
          <p:spPr>
            <a:xfrm>
              <a:off x="0" y="0"/>
              <a:ext cx="7973829" cy="7228050"/>
            </a:xfrm>
            <a:custGeom>
              <a:rect b="b" l="l" r="r" t="t"/>
              <a:pathLst>
                <a:path extrusionOk="0" h="7228050" w="7973829">
                  <a:moveTo>
                    <a:pt x="0" y="0"/>
                  </a:moveTo>
                  <a:lnTo>
                    <a:pt x="7973829" y="0"/>
                  </a:lnTo>
                  <a:lnTo>
                    <a:pt x="7973829" y="7228050"/>
                  </a:lnTo>
                  <a:lnTo>
                    <a:pt x="0" y="7228050"/>
                  </a:lnTo>
                  <a:close/>
                </a:path>
              </a:pathLst>
            </a:custGeom>
            <a:solidFill>
              <a:srgbClr val="000000">
                <a:alpha val="0"/>
              </a:srgbClr>
            </a:solidFill>
            <a:ln>
              <a:noFill/>
            </a:ln>
          </p:spPr>
        </p:sp>
        <p:sp>
          <p:nvSpPr>
            <p:cNvPr id="263" name="Google Shape;263;p9"/>
            <p:cNvSpPr txBox="1"/>
            <p:nvPr/>
          </p:nvSpPr>
          <p:spPr>
            <a:xfrm>
              <a:off x="0" y="-314325"/>
              <a:ext cx="7973829" cy="7542374"/>
            </a:xfrm>
            <a:prstGeom prst="rect">
              <a:avLst/>
            </a:prstGeom>
            <a:noFill/>
            <a:ln>
              <a:noFill/>
            </a:ln>
          </p:spPr>
          <p:txBody>
            <a:bodyPr anchorCtr="0" anchor="t" bIns="0" lIns="0" spcFirstLastPara="1" rIns="0" wrap="square" tIns="0">
              <a:noAutofit/>
            </a:bodyPr>
            <a:lstStyle/>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Inicio</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Declarar variables</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Entrada de datos</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Procesamiento de datos</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Salida de resultados</a:t>
              </a:r>
              <a:endParaRPr/>
            </a:p>
            <a:p>
              <a:pPr indent="-326548" lvl="1" marL="653097" marR="0" rtl="0" algn="l">
                <a:lnSpc>
                  <a:spcPct val="2077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Fin</a:t>
              </a:r>
              <a:endParaRPr/>
            </a:p>
          </p:txBody>
        </p:sp>
      </p:grpSp>
      <p:grpSp>
        <p:nvGrpSpPr>
          <p:cNvPr id="264" name="Google Shape;264;p9"/>
          <p:cNvGrpSpPr/>
          <p:nvPr/>
        </p:nvGrpSpPr>
        <p:grpSpPr>
          <a:xfrm>
            <a:off x="1374901" y="497213"/>
            <a:ext cx="15288901" cy="1256147"/>
            <a:chOff x="0" y="-209550"/>
            <a:chExt cx="20385201" cy="1674862"/>
          </a:xfrm>
        </p:grpSpPr>
        <p:sp>
          <p:nvSpPr>
            <p:cNvPr id="265" name="Google Shape;265;p9"/>
            <p:cNvSpPr/>
            <p:nvPr/>
          </p:nvSpPr>
          <p:spPr>
            <a:xfrm>
              <a:off x="0" y="0"/>
              <a:ext cx="20385201" cy="1465312"/>
            </a:xfrm>
            <a:custGeom>
              <a:rect b="b" l="l" r="r" t="t"/>
              <a:pathLst>
                <a:path extrusionOk="0" h="1465312" w="20385201">
                  <a:moveTo>
                    <a:pt x="0" y="0"/>
                  </a:moveTo>
                  <a:lnTo>
                    <a:pt x="20385201" y="0"/>
                  </a:lnTo>
                  <a:lnTo>
                    <a:pt x="20385201" y="1465312"/>
                  </a:lnTo>
                  <a:lnTo>
                    <a:pt x="0" y="1465312"/>
                  </a:lnTo>
                  <a:close/>
                </a:path>
              </a:pathLst>
            </a:custGeom>
            <a:solidFill>
              <a:srgbClr val="000000">
                <a:alpha val="0"/>
              </a:srgbClr>
            </a:solidFill>
            <a:ln>
              <a:noFill/>
            </a:ln>
          </p:spPr>
        </p:sp>
        <p:sp>
          <p:nvSpPr>
            <p:cNvPr id="266" name="Google Shape;266;p9"/>
            <p:cNvSpPr txBox="1"/>
            <p:nvPr/>
          </p:nvSpPr>
          <p:spPr>
            <a:xfrm>
              <a:off x="0" y="-209550"/>
              <a:ext cx="20385200"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Estructura General de un Pseudocódigo</a:t>
              </a:r>
              <a:endParaRPr/>
            </a:p>
          </p:txBody>
        </p:sp>
      </p:grpSp>
      <p:grpSp>
        <p:nvGrpSpPr>
          <p:cNvPr id="267" name="Google Shape;267;p9"/>
          <p:cNvGrpSpPr/>
          <p:nvPr/>
        </p:nvGrpSpPr>
        <p:grpSpPr>
          <a:xfrm>
            <a:off x="10683430" y="2197238"/>
            <a:ext cx="5980371" cy="6244610"/>
            <a:chOff x="0" y="-314325"/>
            <a:chExt cx="7973829" cy="8326146"/>
          </a:xfrm>
        </p:grpSpPr>
        <p:sp>
          <p:nvSpPr>
            <p:cNvPr id="268" name="Google Shape;268;p9"/>
            <p:cNvSpPr/>
            <p:nvPr/>
          </p:nvSpPr>
          <p:spPr>
            <a:xfrm>
              <a:off x="0" y="0"/>
              <a:ext cx="7973829" cy="8011821"/>
            </a:xfrm>
            <a:custGeom>
              <a:rect b="b" l="l" r="r" t="t"/>
              <a:pathLst>
                <a:path extrusionOk="0" h="8011821" w="7973829">
                  <a:moveTo>
                    <a:pt x="0" y="0"/>
                  </a:moveTo>
                  <a:lnTo>
                    <a:pt x="7973829" y="0"/>
                  </a:lnTo>
                  <a:lnTo>
                    <a:pt x="7973829" y="8011821"/>
                  </a:lnTo>
                  <a:lnTo>
                    <a:pt x="0" y="8011821"/>
                  </a:lnTo>
                  <a:close/>
                </a:path>
              </a:pathLst>
            </a:custGeom>
            <a:solidFill>
              <a:srgbClr val="000000">
                <a:alpha val="0"/>
              </a:srgbClr>
            </a:solidFill>
            <a:ln>
              <a:noFill/>
            </a:ln>
          </p:spPr>
        </p:sp>
        <p:sp>
          <p:nvSpPr>
            <p:cNvPr id="269" name="Google Shape;269;p9"/>
            <p:cNvSpPr txBox="1"/>
            <p:nvPr/>
          </p:nvSpPr>
          <p:spPr>
            <a:xfrm>
              <a:off x="0" y="-314325"/>
              <a:ext cx="7973829" cy="8326146"/>
            </a:xfrm>
            <a:prstGeom prst="rect">
              <a:avLst/>
            </a:prstGeom>
            <a:noFill/>
            <a:ln>
              <a:noFill/>
            </a:ln>
          </p:spPr>
          <p:txBody>
            <a:bodyPr anchorCtr="0" anchor="t" bIns="0" lIns="0" spcFirstLastPara="1" rIns="0" wrap="square" tIns="0">
              <a:noAutofit/>
            </a:bodyPr>
            <a:lstStyle/>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Inicio</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Leer base</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Leer altura</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área ← base * altura</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Escribir "El área es: ", área</a:t>
              </a:r>
              <a:endParaRPr/>
            </a:p>
            <a:p>
              <a:pPr indent="-326548" lvl="1" marL="653097" marR="0" rtl="0" algn="l">
                <a:lnSpc>
                  <a:spcPct val="2077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Fin</a:t>
              </a:r>
              <a:endParaRPr/>
            </a:p>
            <a:p>
              <a:pPr indent="0" lvl="0" marL="0" marR="0" rtl="0" algn="l">
                <a:lnSpc>
                  <a:spcPct val="207638"/>
                </a:lnSpc>
                <a:spcBef>
                  <a:spcPts val="0"/>
                </a:spcBef>
                <a:spcAft>
                  <a:spcPts val="0"/>
                </a:spcAft>
                <a:buNone/>
              </a:pPr>
              <a:r>
                <a:t/>
              </a:r>
              <a:endParaRPr b="0" i="0" sz="3024" u="none" cap="none" strike="noStrike">
                <a:solidFill>
                  <a:srgbClr val="131416"/>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grpSp>
        <p:nvGrpSpPr>
          <p:cNvPr id="278" name="Google Shape;278;p10"/>
          <p:cNvGrpSpPr/>
          <p:nvPr/>
        </p:nvGrpSpPr>
        <p:grpSpPr>
          <a:xfrm>
            <a:off x="1374901" y="497213"/>
            <a:ext cx="15288901" cy="1256147"/>
            <a:chOff x="0" y="-209550"/>
            <a:chExt cx="20385201" cy="1674862"/>
          </a:xfrm>
        </p:grpSpPr>
        <p:sp>
          <p:nvSpPr>
            <p:cNvPr id="279" name="Google Shape;279;p10"/>
            <p:cNvSpPr/>
            <p:nvPr/>
          </p:nvSpPr>
          <p:spPr>
            <a:xfrm>
              <a:off x="0" y="0"/>
              <a:ext cx="20385201" cy="1465312"/>
            </a:xfrm>
            <a:custGeom>
              <a:rect b="b" l="l" r="r" t="t"/>
              <a:pathLst>
                <a:path extrusionOk="0" h="1465312" w="20385201">
                  <a:moveTo>
                    <a:pt x="0" y="0"/>
                  </a:moveTo>
                  <a:lnTo>
                    <a:pt x="20385201" y="0"/>
                  </a:lnTo>
                  <a:lnTo>
                    <a:pt x="20385201" y="1465312"/>
                  </a:lnTo>
                  <a:lnTo>
                    <a:pt x="0" y="1465312"/>
                  </a:lnTo>
                  <a:close/>
                </a:path>
              </a:pathLst>
            </a:custGeom>
            <a:solidFill>
              <a:srgbClr val="000000">
                <a:alpha val="0"/>
              </a:srgbClr>
            </a:solidFill>
            <a:ln>
              <a:noFill/>
            </a:ln>
          </p:spPr>
        </p:sp>
        <p:sp>
          <p:nvSpPr>
            <p:cNvPr id="280" name="Google Shape;280;p10"/>
            <p:cNvSpPr txBox="1"/>
            <p:nvPr/>
          </p:nvSpPr>
          <p:spPr>
            <a:xfrm>
              <a:off x="0" y="-209550"/>
              <a:ext cx="20385200"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Ejemplos</a:t>
              </a:r>
              <a:endParaRPr/>
            </a:p>
          </p:txBody>
        </p:sp>
      </p:grpSp>
      <p:grpSp>
        <p:nvGrpSpPr>
          <p:cNvPr id="281" name="Google Shape;281;p10"/>
          <p:cNvGrpSpPr/>
          <p:nvPr/>
        </p:nvGrpSpPr>
        <p:grpSpPr>
          <a:xfrm>
            <a:off x="1866001" y="1903323"/>
            <a:ext cx="8397000" cy="7114267"/>
            <a:chOff x="0" y="-314325"/>
            <a:chExt cx="11196000" cy="9485690"/>
          </a:xfrm>
        </p:grpSpPr>
        <p:sp>
          <p:nvSpPr>
            <p:cNvPr id="282" name="Google Shape;282;p10"/>
            <p:cNvSpPr/>
            <p:nvPr/>
          </p:nvSpPr>
          <p:spPr>
            <a:xfrm>
              <a:off x="0" y="0"/>
              <a:ext cx="11196000" cy="9171365"/>
            </a:xfrm>
            <a:custGeom>
              <a:rect b="b" l="l" r="r" t="t"/>
              <a:pathLst>
                <a:path extrusionOk="0" h="9171365" w="11196000">
                  <a:moveTo>
                    <a:pt x="0" y="0"/>
                  </a:moveTo>
                  <a:lnTo>
                    <a:pt x="11196000" y="0"/>
                  </a:lnTo>
                  <a:lnTo>
                    <a:pt x="11196000" y="9171365"/>
                  </a:lnTo>
                  <a:lnTo>
                    <a:pt x="0" y="9171365"/>
                  </a:lnTo>
                  <a:close/>
                </a:path>
              </a:pathLst>
            </a:custGeom>
            <a:solidFill>
              <a:srgbClr val="000000">
                <a:alpha val="0"/>
              </a:srgbClr>
            </a:solidFill>
            <a:ln>
              <a:noFill/>
            </a:ln>
          </p:spPr>
        </p:sp>
        <p:sp>
          <p:nvSpPr>
            <p:cNvPr id="283" name="Google Shape;283;p10"/>
            <p:cNvSpPr txBox="1"/>
            <p:nvPr/>
          </p:nvSpPr>
          <p:spPr>
            <a:xfrm>
              <a:off x="0" y="-314325"/>
              <a:ext cx="11196000" cy="9485690"/>
            </a:xfrm>
            <a:prstGeom prst="rect">
              <a:avLst/>
            </a:prstGeom>
            <a:noFill/>
            <a:ln>
              <a:noFill/>
            </a:ln>
          </p:spPr>
          <p:txBody>
            <a:bodyPr anchorCtr="0" anchor="t" bIns="0" lIns="0" spcFirstLastPara="1" rIns="0" wrap="square" tIns="0">
              <a:noAutofit/>
            </a:bodyPr>
            <a:lstStyle/>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Inicio</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Leer número</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Si número MOD 2 = 0 Entonces</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Escribir "El número es par"</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Sino</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Escribir "El número es impar"</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FinSi</a:t>
              </a:r>
              <a:endParaRPr/>
            </a:p>
            <a:p>
              <a:pPr indent="-326548" lvl="1" marL="653097" marR="0" rtl="0" algn="l">
                <a:lnSpc>
                  <a:spcPct val="2077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Fin</a:t>
              </a:r>
              <a:endParaRPr/>
            </a:p>
            <a:p>
              <a:pPr indent="0" lvl="0" marL="0" marR="0" rtl="0" algn="l">
                <a:lnSpc>
                  <a:spcPct val="207638"/>
                </a:lnSpc>
                <a:spcBef>
                  <a:spcPts val="0"/>
                </a:spcBef>
                <a:spcAft>
                  <a:spcPts val="0"/>
                </a:spcAft>
                <a:buNone/>
              </a:pPr>
              <a:r>
                <a:t/>
              </a:r>
              <a:endParaRPr b="0" i="0" sz="3024" u="none" cap="none" strike="noStrike">
                <a:solidFill>
                  <a:srgbClr val="131416"/>
                </a:solidFill>
                <a:latin typeface="Arial"/>
                <a:ea typeface="Arial"/>
                <a:cs typeface="Arial"/>
                <a:sym typeface="Arial"/>
              </a:endParaRPr>
            </a:p>
          </p:txBody>
        </p:sp>
      </p:grpSp>
      <p:grpSp>
        <p:nvGrpSpPr>
          <p:cNvPr id="284" name="Google Shape;284;p10"/>
          <p:cNvGrpSpPr/>
          <p:nvPr/>
        </p:nvGrpSpPr>
        <p:grpSpPr>
          <a:xfrm>
            <a:off x="9144000" y="1903323"/>
            <a:ext cx="8397000" cy="7114267"/>
            <a:chOff x="0" y="-314325"/>
            <a:chExt cx="11196000" cy="9485690"/>
          </a:xfrm>
        </p:grpSpPr>
        <p:sp>
          <p:nvSpPr>
            <p:cNvPr id="285" name="Google Shape;285;p10"/>
            <p:cNvSpPr/>
            <p:nvPr/>
          </p:nvSpPr>
          <p:spPr>
            <a:xfrm>
              <a:off x="0" y="0"/>
              <a:ext cx="11196000" cy="9171365"/>
            </a:xfrm>
            <a:custGeom>
              <a:rect b="b" l="l" r="r" t="t"/>
              <a:pathLst>
                <a:path extrusionOk="0" h="9171365" w="11196000">
                  <a:moveTo>
                    <a:pt x="0" y="0"/>
                  </a:moveTo>
                  <a:lnTo>
                    <a:pt x="11196000" y="0"/>
                  </a:lnTo>
                  <a:lnTo>
                    <a:pt x="11196000" y="9171365"/>
                  </a:lnTo>
                  <a:lnTo>
                    <a:pt x="0" y="9171365"/>
                  </a:lnTo>
                  <a:close/>
                </a:path>
              </a:pathLst>
            </a:custGeom>
            <a:solidFill>
              <a:srgbClr val="000000">
                <a:alpha val="0"/>
              </a:srgbClr>
            </a:solidFill>
            <a:ln>
              <a:noFill/>
            </a:ln>
          </p:spPr>
        </p:sp>
        <p:sp>
          <p:nvSpPr>
            <p:cNvPr id="286" name="Google Shape;286;p10"/>
            <p:cNvSpPr txBox="1"/>
            <p:nvPr/>
          </p:nvSpPr>
          <p:spPr>
            <a:xfrm>
              <a:off x="0" y="-314325"/>
              <a:ext cx="11196000" cy="9485690"/>
            </a:xfrm>
            <a:prstGeom prst="rect">
              <a:avLst/>
            </a:prstGeom>
            <a:noFill/>
            <a:ln>
              <a:noFill/>
            </a:ln>
          </p:spPr>
          <p:txBody>
            <a:bodyPr anchorCtr="0" anchor="t" bIns="0" lIns="0" spcFirstLastPara="1" rIns="0" wrap="square" tIns="0">
              <a:noAutofit/>
            </a:bodyPr>
            <a:lstStyle/>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Inicio</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Leer N</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suma ← 0</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Para i ← 1 Hasta N Hacer</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suma ← suma + i</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FinPara</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Escribir "La suma es: ", suma</a:t>
              </a:r>
              <a:endParaRPr/>
            </a:p>
            <a:p>
              <a:pPr indent="-326548" lvl="1" marL="653097" marR="0" rtl="0" algn="l">
                <a:lnSpc>
                  <a:spcPct val="2077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Fin</a:t>
              </a:r>
              <a:endParaRPr/>
            </a:p>
            <a:p>
              <a:pPr indent="0" lvl="0" marL="0" marR="0" rtl="0" algn="l">
                <a:lnSpc>
                  <a:spcPct val="207638"/>
                </a:lnSpc>
                <a:spcBef>
                  <a:spcPts val="0"/>
                </a:spcBef>
                <a:spcAft>
                  <a:spcPts val="0"/>
                </a:spcAft>
                <a:buNone/>
              </a:pPr>
              <a:r>
                <a:t/>
              </a:r>
              <a:endParaRPr b="0" i="0" sz="3024" u="none" cap="none" strike="noStrike">
                <a:solidFill>
                  <a:srgbClr val="131416"/>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grpSp>
        <p:nvGrpSpPr>
          <p:cNvPr id="295" name="Google Shape;295;p11"/>
          <p:cNvGrpSpPr/>
          <p:nvPr/>
        </p:nvGrpSpPr>
        <p:grpSpPr>
          <a:xfrm>
            <a:off x="1374901" y="497213"/>
            <a:ext cx="15288901" cy="1256147"/>
            <a:chOff x="0" y="-209550"/>
            <a:chExt cx="20385201" cy="1674862"/>
          </a:xfrm>
        </p:grpSpPr>
        <p:sp>
          <p:nvSpPr>
            <p:cNvPr id="296" name="Google Shape;296;p11"/>
            <p:cNvSpPr/>
            <p:nvPr/>
          </p:nvSpPr>
          <p:spPr>
            <a:xfrm>
              <a:off x="0" y="0"/>
              <a:ext cx="20385201" cy="1465312"/>
            </a:xfrm>
            <a:custGeom>
              <a:rect b="b" l="l" r="r" t="t"/>
              <a:pathLst>
                <a:path extrusionOk="0" h="1465312" w="20385201">
                  <a:moveTo>
                    <a:pt x="0" y="0"/>
                  </a:moveTo>
                  <a:lnTo>
                    <a:pt x="20385201" y="0"/>
                  </a:lnTo>
                  <a:lnTo>
                    <a:pt x="20385201" y="1465312"/>
                  </a:lnTo>
                  <a:lnTo>
                    <a:pt x="0" y="1465312"/>
                  </a:lnTo>
                  <a:close/>
                </a:path>
              </a:pathLst>
            </a:custGeom>
            <a:solidFill>
              <a:srgbClr val="000000">
                <a:alpha val="0"/>
              </a:srgbClr>
            </a:solidFill>
            <a:ln>
              <a:noFill/>
            </a:ln>
          </p:spPr>
        </p:sp>
        <p:sp>
          <p:nvSpPr>
            <p:cNvPr id="297" name="Google Shape;297;p11"/>
            <p:cNvSpPr txBox="1"/>
            <p:nvPr/>
          </p:nvSpPr>
          <p:spPr>
            <a:xfrm>
              <a:off x="0" y="-209550"/>
              <a:ext cx="20385200"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Ventajas del Uso de Pseudocódigo</a:t>
              </a:r>
              <a:endParaRPr/>
            </a:p>
          </p:txBody>
        </p:sp>
      </p:grpSp>
      <p:grpSp>
        <p:nvGrpSpPr>
          <p:cNvPr id="298" name="Google Shape;298;p11"/>
          <p:cNvGrpSpPr/>
          <p:nvPr/>
        </p:nvGrpSpPr>
        <p:grpSpPr>
          <a:xfrm>
            <a:off x="1723950" y="2214356"/>
            <a:ext cx="14840100" cy="3476975"/>
            <a:chOff x="0" y="-238125"/>
            <a:chExt cx="19786800" cy="4635966"/>
          </a:xfrm>
        </p:grpSpPr>
        <p:sp>
          <p:nvSpPr>
            <p:cNvPr id="299" name="Google Shape;299;p11"/>
            <p:cNvSpPr/>
            <p:nvPr/>
          </p:nvSpPr>
          <p:spPr>
            <a:xfrm>
              <a:off x="0" y="0"/>
              <a:ext cx="19786800" cy="4397841"/>
            </a:xfrm>
            <a:custGeom>
              <a:rect b="b" l="l" r="r" t="t"/>
              <a:pathLst>
                <a:path extrusionOk="0" h="4397841" w="19786800">
                  <a:moveTo>
                    <a:pt x="0" y="0"/>
                  </a:moveTo>
                  <a:lnTo>
                    <a:pt x="19786800" y="0"/>
                  </a:lnTo>
                  <a:lnTo>
                    <a:pt x="19786800" y="4397841"/>
                  </a:lnTo>
                  <a:lnTo>
                    <a:pt x="0" y="4397841"/>
                  </a:lnTo>
                  <a:close/>
                </a:path>
              </a:pathLst>
            </a:custGeom>
            <a:solidFill>
              <a:srgbClr val="000000">
                <a:alpha val="0"/>
              </a:srgbClr>
            </a:solidFill>
            <a:ln>
              <a:noFill/>
            </a:ln>
          </p:spPr>
        </p:sp>
        <p:sp>
          <p:nvSpPr>
            <p:cNvPr id="300" name="Google Shape;300;p11"/>
            <p:cNvSpPr txBox="1"/>
            <p:nvPr/>
          </p:nvSpPr>
          <p:spPr>
            <a:xfrm>
              <a:off x="0" y="-238125"/>
              <a:ext cx="19786800" cy="4635966"/>
            </a:xfrm>
            <a:prstGeom prst="rect">
              <a:avLst/>
            </a:prstGeom>
            <a:noFill/>
            <a:ln>
              <a:noFill/>
            </a:ln>
          </p:spPr>
          <p:txBody>
            <a:bodyPr anchorCtr="0" anchor="t" bIns="0" lIns="0" spcFirstLastPara="1" rIns="0" wrap="square" tIns="0">
              <a:noAutofit/>
            </a:bodyPr>
            <a:lstStyle/>
            <a:p>
              <a:pPr indent="-326548" lvl="1" marL="653097" marR="0" rtl="0" algn="just">
                <a:lnSpc>
                  <a:spcPct val="180026"/>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Facilita el diseño y planificación de algoritmos.</a:t>
              </a:r>
              <a:endParaRPr/>
            </a:p>
            <a:p>
              <a:pPr indent="-326548" lvl="1" marL="653097" marR="0" rtl="0" algn="just">
                <a:lnSpc>
                  <a:spcPct val="180026"/>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Permite concentrarse en la lógica sin preocuparse por la sintaxis del lenguaje.</a:t>
              </a:r>
              <a:endParaRPr/>
            </a:p>
            <a:p>
              <a:pPr indent="-326548" lvl="1" marL="653097" marR="0" rtl="0" algn="just">
                <a:lnSpc>
                  <a:spcPct val="180026"/>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Facilita la comunicación entre personas sin conocimientos técnicos profundos.</a:t>
              </a:r>
              <a:endParaRPr/>
            </a:p>
            <a:p>
              <a:pPr indent="-326549" lvl="1" marL="653097" marR="0" rtl="0" algn="just">
                <a:lnSpc>
                  <a:spcPct val="180059"/>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Útil como paso previo antes de la programación real.</a:t>
              </a:r>
              <a:endParaRPr/>
            </a:p>
            <a:p>
              <a:pPr indent="0" lvl="0" marL="0" marR="0" rtl="0" algn="just">
                <a:lnSpc>
                  <a:spcPct val="180026"/>
                </a:lnSpc>
                <a:spcBef>
                  <a:spcPts val="0"/>
                </a:spcBef>
                <a:spcAft>
                  <a:spcPts val="0"/>
                </a:spcAft>
                <a:buNone/>
              </a:pPr>
              <a:r>
                <a:t/>
              </a:r>
              <a:endParaRPr b="0" i="0" sz="3024" u="none" cap="none" strike="noStrike">
                <a:solidFill>
                  <a:srgbClr val="131416"/>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grpSp>
        <p:nvGrpSpPr>
          <p:cNvPr id="309" name="Google Shape;309;p12"/>
          <p:cNvGrpSpPr/>
          <p:nvPr/>
        </p:nvGrpSpPr>
        <p:grpSpPr>
          <a:xfrm>
            <a:off x="1455525" y="2858006"/>
            <a:ext cx="5292300" cy="5533294"/>
            <a:chOff x="0" y="-238125"/>
            <a:chExt cx="7056400" cy="7377725"/>
          </a:xfrm>
        </p:grpSpPr>
        <p:sp>
          <p:nvSpPr>
            <p:cNvPr id="310" name="Google Shape;310;p12"/>
            <p:cNvSpPr/>
            <p:nvPr/>
          </p:nvSpPr>
          <p:spPr>
            <a:xfrm>
              <a:off x="0" y="0"/>
              <a:ext cx="7056400" cy="7139600"/>
            </a:xfrm>
            <a:custGeom>
              <a:rect b="b" l="l" r="r" t="t"/>
              <a:pathLst>
                <a:path extrusionOk="0" h="7139600" w="7056400">
                  <a:moveTo>
                    <a:pt x="0" y="0"/>
                  </a:moveTo>
                  <a:lnTo>
                    <a:pt x="7056400" y="0"/>
                  </a:lnTo>
                  <a:lnTo>
                    <a:pt x="7056400" y="7139600"/>
                  </a:lnTo>
                  <a:lnTo>
                    <a:pt x="0" y="7139600"/>
                  </a:lnTo>
                  <a:close/>
                </a:path>
              </a:pathLst>
            </a:custGeom>
            <a:solidFill>
              <a:srgbClr val="000000">
                <a:alpha val="0"/>
              </a:srgbClr>
            </a:solidFill>
            <a:ln>
              <a:noFill/>
            </a:ln>
          </p:spPr>
        </p:sp>
        <p:sp>
          <p:nvSpPr>
            <p:cNvPr id="311" name="Google Shape;311;p12"/>
            <p:cNvSpPr txBox="1"/>
            <p:nvPr/>
          </p:nvSpPr>
          <p:spPr>
            <a:xfrm>
              <a:off x="0" y="-238125"/>
              <a:ext cx="7056400" cy="7377725"/>
            </a:xfrm>
            <a:prstGeom prst="rect">
              <a:avLst/>
            </a:prstGeom>
            <a:noFill/>
            <a:ln>
              <a:noFill/>
            </a:ln>
          </p:spPr>
          <p:txBody>
            <a:bodyPr anchorCtr="0" anchor="t" bIns="0" lIns="0" spcFirstLastPara="1" rIns="0" wrap="square" tIns="0">
              <a:noAutofit/>
            </a:bodyPr>
            <a:lstStyle/>
            <a:p>
              <a:pPr indent="0" lvl="0" marL="0" marR="0" rtl="0" algn="just">
                <a:lnSpc>
                  <a:spcPct val="180026"/>
                </a:lnSpc>
                <a:spcBef>
                  <a:spcPts val="0"/>
                </a:spcBef>
                <a:spcAft>
                  <a:spcPts val="0"/>
                </a:spcAft>
                <a:buNone/>
              </a:pPr>
              <a:r>
                <a:rPr b="0" i="0" lang="en-US" sz="3024" u="none" cap="none" strike="noStrike">
                  <a:solidFill>
                    <a:srgbClr val="131416"/>
                  </a:solidFill>
                  <a:latin typeface="Arial"/>
                  <a:ea typeface="Arial"/>
                  <a:cs typeface="Arial"/>
                  <a:sym typeface="Arial"/>
                </a:rPr>
                <a:t>Inicio</a:t>
              </a:r>
              <a:endParaRPr/>
            </a:p>
            <a:p>
              <a:pPr indent="0" lvl="0" marL="0" marR="0" rtl="0" algn="just">
                <a:lnSpc>
                  <a:spcPct val="180026"/>
                </a:lnSpc>
                <a:spcBef>
                  <a:spcPts val="0"/>
                </a:spcBef>
                <a:spcAft>
                  <a:spcPts val="0"/>
                </a:spcAft>
                <a:buNone/>
              </a:pPr>
              <a:r>
                <a:rPr b="0" i="0" lang="en-US" sz="3024" u="none" cap="none" strike="noStrike">
                  <a:solidFill>
                    <a:srgbClr val="131416"/>
                  </a:solidFill>
                  <a:latin typeface="Arial"/>
                  <a:ea typeface="Arial"/>
                  <a:cs typeface="Arial"/>
                  <a:sym typeface="Arial"/>
                </a:rPr>
                <a:t>  Leer número1, número2</a:t>
              </a:r>
              <a:endParaRPr/>
            </a:p>
            <a:p>
              <a:pPr indent="0" lvl="0" marL="0" marR="0" rtl="0" algn="just">
                <a:lnSpc>
                  <a:spcPct val="180026"/>
                </a:lnSpc>
                <a:spcBef>
                  <a:spcPts val="0"/>
                </a:spcBef>
                <a:spcAft>
                  <a:spcPts val="0"/>
                </a:spcAft>
                <a:buNone/>
              </a:pPr>
              <a:r>
                <a:rPr b="0" i="0" lang="en-US" sz="3024" u="none" cap="none" strike="noStrike">
                  <a:solidFill>
                    <a:srgbClr val="131416"/>
                  </a:solidFill>
                  <a:latin typeface="Arial"/>
                  <a:ea typeface="Arial"/>
                  <a:cs typeface="Arial"/>
                  <a:sym typeface="Arial"/>
                </a:rPr>
                <a:t>  suma ← número1 + número2</a:t>
              </a:r>
              <a:endParaRPr/>
            </a:p>
            <a:p>
              <a:pPr indent="0" lvl="0" marL="0" marR="0" rtl="0" algn="just">
                <a:lnSpc>
                  <a:spcPct val="180026"/>
                </a:lnSpc>
                <a:spcBef>
                  <a:spcPts val="0"/>
                </a:spcBef>
                <a:spcAft>
                  <a:spcPts val="0"/>
                </a:spcAft>
                <a:buNone/>
              </a:pPr>
              <a:r>
                <a:rPr b="0" i="0" lang="en-US" sz="3024" u="none" cap="none" strike="noStrike">
                  <a:solidFill>
                    <a:srgbClr val="131416"/>
                  </a:solidFill>
                  <a:latin typeface="Arial"/>
                  <a:ea typeface="Arial"/>
                  <a:cs typeface="Arial"/>
                  <a:sym typeface="Arial"/>
                </a:rPr>
                <a:t>  Escribir suma</a:t>
              </a:r>
              <a:endParaRPr/>
            </a:p>
            <a:p>
              <a:pPr indent="0" lvl="0" marL="0" marR="0" rtl="0" algn="just">
                <a:lnSpc>
                  <a:spcPct val="180059"/>
                </a:lnSpc>
                <a:spcBef>
                  <a:spcPts val="0"/>
                </a:spcBef>
                <a:spcAft>
                  <a:spcPts val="0"/>
                </a:spcAft>
                <a:buNone/>
              </a:pPr>
              <a:r>
                <a:rPr b="0" i="0" lang="en-US" sz="3024" u="none" cap="none" strike="noStrike">
                  <a:solidFill>
                    <a:srgbClr val="131416"/>
                  </a:solidFill>
                  <a:latin typeface="Arial"/>
                  <a:ea typeface="Arial"/>
                  <a:cs typeface="Arial"/>
                  <a:sym typeface="Arial"/>
                </a:rPr>
                <a:t>Fin</a:t>
              </a:r>
              <a:endParaRPr/>
            </a:p>
          </p:txBody>
        </p:sp>
      </p:grpSp>
      <p:grpSp>
        <p:nvGrpSpPr>
          <p:cNvPr id="312" name="Google Shape;312;p12"/>
          <p:cNvGrpSpPr/>
          <p:nvPr/>
        </p:nvGrpSpPr>
        <p:grpSpPr>
          <a:xfrm>
            <a:off x="1374901" y="497213"/>
            <a:ext cx="15288901" cy="1256147"/>
            <a:chOff x="0" y="-209550"/>
            <a:chExt cx="20385201" cy="1674862"/>
          </a:xfrm>
        </p:grpSpPr>
        <p:sp>
          <p:nvSpPr>
            <p:cNvPr id="313" name="Google Shape;313;p12"/>
            <p:cNvSpPr/>
            <p:nvPr/>
          </p:nvSpPr>
          <p:spPr>
            <a:xfrm>
              <a:off x="0" y="0"/>
              <a:ext cx="20385201" cy="1465312"/>
            </a:xfrm>
            <a:custGeom>
              <a:rect b="b" l="l" r="r" t="t"/>
              <a:pathLst>
                <a:path extrusionOk="0" h="1465312" w="20385201">
                  <a:moveTo>
                    <a:pt x="0" y="0"/>
                  </a:moveTo>
                  <a:lnTo>
                    <a:pt x="20385201" y="0"/>
                  </a:lnTo>
                  <a:lnTo>
                    <a:pt x="20385201" y="1465312"/>
                  </a:lnTo>
                  <a:lnTo>
                    <a:pt x="0" y="1465312"/>
                  </a:lnTo>
                  <a:close/>
                </a:path>
              </a:pathLst>
            </a:custGeom>
            <a:solidFill>
              <a:srgbClr val="000000">
                <a:alpha val="0"/>
              </a:srgbClr>
            </a:solidFill>
            <a:ln>
              <a:noFill/>
            </a:ln>
          </p:spPr>
        </p:sp>
        <p:sp>
          <p:nvSpPr>
            <p:cNvPr id="314" name="Google Shape;314;p12"/>
            <p:cNvSpPr txBox="1"/>
            <p:nvPr/>
          </p:nvSpPr>
          <p:spPr>
            <a:xfrm>
              <a:off x="0" y="-209550"/>
              <a:ext cx="20385200"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Comparación: Pseudocódigo vs Código Real</a:t>
              </a:r>
              <a:endParaRPr/>
            </a:p>
          </p:txBody>
        </p:sp>
      </p:grpSp>
      <p:sp>
        <p:nvSpPr>
          <p:cNvPr id="315" name="Google Shape;315;p12"/>
          <p:cNvSpPr/>
          <p:nvPr/>
        </p:nvSpPr>
        <p:spPr>
          <a:xfrm>
            <a:off x="9019351" y="2627347"/>
            <a:ext cx="7348059" cy="5032307"/>
          </a:xfrm>
          <a:custGeom>
            <a:rect b="b" l="l" r="r" t="t"/>
            <a:pathLst>
              <a:path extrusionOk="0" h="5032307" w="7348059">
                <a:moveTo>
                  <a:pt x="0" y="0"/>
                </a:moveTo>
                <a:lnTo>
                  <a:pt x="7348059" y="0"/>
                </a:lnTo>
                <a:lnTo>
                  <a:pt x="7348059" y="5032306"/>
                </a:lnTo>
                <a:lnTo>
                  <a:pt x="0" y="5032306"/>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grpSp>
        <p:nvGrpSpPr>
          <p:cNvPr id="324" name="Google Shape;324;p13"/>
          <p:cNvGrpSpPr/>
          <p:nvPr/>
        </p:nvGrpSpPr>
        <p:grpSpPr>
          <a:xfrm>
            <a:off x="1723950" y="2972816"/>
            <a:ext cx="14840100" cy="4162775"/>
            <a:chOff x="0" y="-238125"/>
            <a:chExt cx="19786800" cy="5550366"/>
          </a:xfrm>
        </p:grpSpPr>
        <p:sp>
          <p:nvSpPr>
            <p:cNvPr id="325" name="Google Shape;325;p13"/>
            <p:cNvSpPr/>
            <p:nvPr/>
          </p:nvSpPr>
          <p:spPr>
            <a:xfrm>
              <a:off x="0" y="0"/>
              <a:ext cx="19786800" cy="5312241"/>
            </a:xfrm>
            <a:custGeom>
              <a:rect b="b" l="l" r="r" t="t"/>
              <a:pathLst>
                <a:path extrusionOk="0" h="5312241" w="19786800">
                  <a:moveTo>
                    <a:pt x="0" y="0"/>
                  </a:moveTo>
                  <a:lnTo>
                    <a:pt x="19786800" y="0"/>
                  </a:lnTo>
                  <a:lnTo>
                    <a:pt x="19786800" y="5312241"/>
                  </a:lnTo>
                  <a:lnTo>
                    <a:pt x="0" y="5312241"/>
                  </a:lnTo>
                  <a:close/>
                </a:path>
              </a:pathLst>
            </a:custGeom>
            <a:solidFill>
              <a:srgbClr val="000000">
                <a:alpha val="0"/>
              </a:srgbClr>
            </a:solidFill>
            <a:ln>
              <a:noFill/>
            </a:ln>
          </p:spPr>
        </p:sp>
        <p:sp>
          <p:nvSpPr>
            <p:cNvPr id="326" name="Google Shape;326;p13"/>
            <p:cNvSpPr txBox="1"/>
            <p:nvPr/>
          </p:nvSpPr>
          <p:spPr>
            <a:xfrm>
              <a:off x="0" y="-238125"/>
              <a:ext cx="19786800" cy="5550366"/>
            </a:xfrm>
            <a:prstGeom prst="rect">
              <a:avLst/>
            </a:prstGeom>
            <a:noFill/>
            <a:ln>
              <a:noFill/>
            </a:ln>
          </p:spPr>
          <p:txBody>
            <a:bodyPr anchorCtr="0" anchor="t" bIns="0" lIns="0" spcFirstLastPara="1" rIns="0" wrap="square" tIns="0">
              <a:noAutofit/>
            </a:bodyPr>
            <a:lstStyle/>
            <a:p>
              <a:pPr indent="0" lvl="0" marL="0" marR="0" rtl="0" algn="just">
                <a:lnSpc>
                  <a:spcPct val="180059"/>
                </a:lnSpc>
                <a:spcBef>
                  <a:spcPts val="0"/>
                </a:spcBef>
                <a:spcAft>
                  <a:spcPts val="0"/>
                </a:spcAft>
                <a:buNone/>
              </a:pPr>
              <a:r>
                <a:rPr b="0" i="0" lang="en-US" sz="3024" u="none" cap="none" strike="noStrike">
                  <a:solidFill>
                    <a:srgbClr val="131416"/>
                  </a:solidFill>
                  <a:latin typeface="Arial"/>
                  <a:ea typeface="Arial"/>
                  <a:cs typeface="Arial"/>
                  <a:sym typeface="Arial"/>
                </a:rPr>
                <a:t>El pseudocódigo actúa como una herramienta intermedia entre el pensamiento lógico y la implementación en un lenguaje de programación. Cuando un estudiante escribe un pseudocódigo, no está limitado por reglas estrictas de sintaxis, lo cual permite que se enfoque en el proceso de resolución de problemas. Esto es especialmente valioso en etapas tempranas del aprendizaje, cuando el principal objetivo no es aprender un lenguaje específico, sino aprender a pensar como programador.</a:t>
              </a:r>
              <a:endParaRPr/>
            </a:p>
          </p:txBody>
        </p:sp>
      </p:grpSp>
      <p:grpSp>
        <p:nvGrpSpPr>
          <p:cNvPr id="327" name="Google Shape;327;p13"/>
          <p:cNvGrpSpPr/>
          <p:nvPr/>
        </p:nvGrpSpPr>
        <p:grpSpPr>
          <a:xfrm>
            <a:off x="1148847" y="497213"/>
            <a:ext cx="16464558" cy="1256147"/>
            <a:chOff x="0" y="-209550"/>
            <a:chExt cx="21952744" cy="1674862"/>
          </a:xfrm>
        </p:grpSpPr>
        <p:sp>
          <p:nvSpPr>
            <p:cNvPr id="328" name="Google Shape;328;p13"/>
            <p:cNvSpPr/>
            <p:nvPr/>
          </p:nvSpPr>
          <p:spPr>
            <a:xfrm>
              <a:off x="0" y="0"/>
              <a:ext cx="21952744" cy="1465312"/>
            </a:xfrm>
            <a:custGeom>
              <a:rect b="b" l="l" r="r" t="t"/>
              <a:pathLst>
                <a:path extrusionOk="0" h="1465312" w="21952744">
                  <a:moveTo>
                    <a:pt x="0" y="0"/>
                  </a:moveTo>
                  <a:lnTo>
                    <a:pt x="21952744" y="0"/>
                  </a:lnTo>
                  <a:lnTo>
                    <a:pt x="21952744" y="1465312"/>
                  </a:lnTo>
                  <a:lnTo>
                    <a:pt x="0" y="1465312"/>
                  </a:lnTo>
                  <a:close/>
                </a:path>
              </a:pathLst>
            </a:custGeom>
            <a:solidFill>
              <a:srgbClr val="000000">
                <a:alpha val="0"/>
              </a:srgbClr>
            </a:solidFill>
            <a:ln>
              <a:noFill/>
            </a:ln>
          </p:spPr>
        </p:sp>
        <p:sp>
          <p:nvSpPr>
            <p:cNvPr id="329" name="Google Shape;329;p13"/>
            <p:cNvSpPr txBox="1"/>
            <p:nvPr/>
          </p:nvSpPr>
          <p:spPr>
            <a:xfrm>
              <a:off x="0" y="-209550"/>
              <a:ext cx="21952743"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El Pseudocódigo como Puente entre la Lógica y el Código</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grpSp>
        <p:nvGrpSpPr>
          <p:cNvPr id="338" name="Google Shape;338;p14"/>
          <p:cNvGrpSpPr/>
          <p:nvPr/>
        </p:nvGrpSpPr>
        <p:grpSpPr>
          <a:xfrm>
            <a:off x="1723950" y="3248869"/>
            <a:ext cx="14840100" cy="3710681"/>
            <a:chOff x="0" y="-104775"/>
            <a:chExt cx="19786800" cy="4947575"/>
          </a:xfrm>
        </p:grpSpPr>
        <p:sp>
          <p:nvSpPr>
            <p:cNvPr id="339" name="Google Shape;339;p14"/>
            <p:cNvSpPr/>
            <p:nvPr/>
          </p:nvSpPr>
          <p:spPr>
            <a:xfrm>
              <a:off x="0" y="0"/>
              <a:ext cx="19786800" cy="4842800"/>
            </a:xfrm>
            <a:custGeom>
              <a:rect b="b" l="l" r="r" t="t"/>
              <a:pathLst>
                <a:path extrusionOk="0" h="4842800" w="19786800">
                  <a:moveTo>
                    <a:pt x="0" y="0"/>
                  </a:moveTo>
                  <a:lnTo>
                    <a:pt x="19786800" y="0"/>
                  </a:lnTo>
                  <a:lnTo>
                    <a:pt x="19786800" y="4842800"/>
                  </a:lnTo>
                  <a:lnTo>
                    <a:pt x="0" y="4842800"/>
                  </a:lnTo>
                  <a:close/>
                </a:path>
              </a:pathLst>
            </a:custGeom>
            <a:solidFill>
              <a:srgbClr val="000000">
                <a:alpha val="0"/>
              </a:srgbClr>
            </a:solidFill>
            <a:ln>
              <a:noFill/>
            </a:ln>
          </p:spPr>
        </p:sp>
        <p:sp>
          <p:nvSpPr>
            <p:cNvPr id="340" name="Google Shape;340;p14"/>
            <p:cNvSpPr txBox="1"/>
            <p:nvPr/>
          </p:nvSpPr>
          <p:spPr>
            <a:xfrm>
              <a:off x="0" y="-104775"/>
              <a:ext cx="19786800" cy="4947575"/>
            </a:xfrm>
            <a:prstGeom prst="rect">
              <a:avLst/>
            </a:prstGeom>
            <a:noFill/>
            <a:ln>
              <a:noFill/>
            </a:ln>
          </p:spPr>
          <p:txBody>
            <a:bodyPr anchorCtr="0" anchor="t" bIns="0" lIns="0" spcFirstLastPara="1" rIns="0" wrap="square" tIns="0">
              <a:noAutofit/>
            </a:bodyPr>
            <a:lstStyle/>
            <a:p>
              <a:pPr indent="-221449" lvl="1" marL="442898" marR="0" rtl="0" algn="just">
                <a:lnSpc>
                  <a:spcPct val="137982"/>
                </a:lnSpc>
                <a:spcBef>
                  <a:spcPts val="0"/>
                </a:spcBef>
                <a:spcAft>
                  <a:spcPts val="0"/>
                </a:spcAft>
                <a:buNone/>
              </a:pPr>
              <a:r>
                <a:rPr b="0" i="0" lang="en-US" sz="2925" u="none" cap="none" strike="noStrike">
                  <a:solidFill>
                    <a:srgbClr val="131416"/>
                  </a:solidFill>
                  <a:latin typeface="Arial"/>
                  <a:ea typeface="Arial"/>
                  <a:cs typeface="Arial"/>
                  <a:sym typeface="Arial"/>
                </a:rPr>
                <a:t>En ambientes educativos, el pseudocódigo ha demostrado ser una excelente herramienta para introducir a los estudiantes a los algoritmos sin sobrecargarlos con detalles técnicos. Muchas veces, los errores en los programas no son por mala sintaxis, sino por errores lógicos o de diseño. El pseudocódigo ayuda a aislar ese problema, permitiendo que los estudiantes se concentren en la lógica antes de pasar a la codificación. Por esta razón, los docentes suelen enseñar primero lógica de programación con pseudocódigo antes de introducir lenguajes como Java o Python.</a:t>
              </a:r>
              <a:endParaRPr/>
            </a:p>
          </p:txBody>
        </p:sp>
      </p:grpSp>
      <p:grpSp>
        <p:nvGrpSpPr>
          <p:cNvPr id="341" name="Google Shape;341;p14"/>
          <p:cNvGrpSpPr/>
          <p:nvPr/>
        </p:nvGrpSpPr>
        <p:grpSpPr>
          <a:xfrm>
            <a:off x="1374901" y="497213"/>
            <a:ext cx="15288901" cy="2303897"/>
            <a:chOff x="0" y="-209550"/>
            <a:chExt cx="20385201" cy="3071862"/>
          </a:xfrm>
        </p:grpSpPr>
        <p:sp>
          <p:nvSpPr>
            <p:cNvPr id="342" name="Google Shape;342;p14"/>
            <p:cNvSpPr/>
            <p:nvPr/>
          </p:nvSpPr>
          <p:spPr>
            <a:xfrm>
              <a:off x="0" y="0"/>
              <a:ext cx="20385201" cy="2862312"/>
            </a:xfrm>
            <a:custGeom>
              <a:rect b="b" l="l" r="r" t="t"/>
              <a:pathLst>
                <a:path extrusionOk="0" h="2862312" w="20385201">
                  <a:moveTo>
                    <a:pt x="0" y="0"/>
                  </a:moveTo>
                  <a:lnTo>
                    <a:pt x="20385201" y="0"/>
                  </a:lnTo>
                  <a:lnTo>
                    <a:pt x="20385201" y="2862312"/>
                  </a:lnTo>
                  <a:lnTo>
                    <a:pt x="0" y="2862312"/>
                  </a:lnTo>
                  <a:close/>
                </a:path>
              </a:pathLst>
            </a:custGeom>
            <a:solidFill>
              <a:srgbClr val="000000">
                <a:alpha val="0"/>
              </a:srgbClr>
            </a:solidFill>
            <a:ln>
              <a:noFill/>
            </a:ln>
          </p:spPr>
        </p:sp>
        <p:sp>
          <p:nvSpPr>
            <p:cNvPr id="343" name="Google Shape;343;p14"/>
            <p:cNvSpPr txBox="1"/>
            <p:nvPr/>
          </p:nvSpPr>
          <p:spPr>
            <a:xfrm>
              <a:off x="0" y="-209550"/>
              <a:ext cx="20385200" cy="3071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Pseudocódigo en el Aula: Una Herramienta Didáctica Fundamental</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grpSp>
        <p:nvGrpSpPr>
          <p:cNvPr id="352" name="Google Shape;352;p15"/>
          <p:cNvGrpSpPr/>
          <p:nvPr/>
        </p:nvGrpSpPr>
        <p:grpSpPr>
          <a:xfrm>
            <a:off x="1499550" y="1589053"/>
            <a:ext cx="15288901" cy="4380515"/>
            <a:chOff x="0" y="-219075"/>
            <a:chExt cx="20385201" cy="5840687"/>
          </a:xfrm>
        </p:grpSpPr>
        <p:sp>
          <p:nvSpPr>
            <p:cNvPr id="353" name="Google Shape;353;p15"/>
            <p:cNvSpPr/>
            <p:nvPr/>
          </p:nvSpPr>
          <p:spPr>
            <a:xfrm>
              <a:off x="0" y="0"/>
              <a:ext cx="20385201" cy="5621612"/>
            </a:xfrm>
            <a:custGeom>
              <a:rect b="b" l="l" r="r" t="t"/>
              <a:pathLst>
                <a:path extrusionOk="0" h="5621612" w="20385201">
                  <a:moveTo>
                    <a:pt x="0" y="0"/>
                  </a:moveTo>
                  <a:lnTo>
                    <a:pt x="20385201" y="0"/>
                  </a:lnTo>
                  <a:lnTo>
                    <a:pt x="20385201" y="5621612"/>
                  </a:lnTo>
                  <a:lnTo>
                    <a:pt x="0" y="5621612"/>
                  </a:lnTo>
                  <a:close/>
                </a:path>
              </a:pathLst>
            </a:custGeom>
            <a:solidFill>
              <a:srgbClr val="000000">
                <a:alpha val="0"/>
              </a:srgbClr>
            </a:solidFill>
            <a:ln>
              <a:noFill/>
            </a:ln>
          </p:spPr>
        </p:sp>
        <p:sp>
          <p:nvSpPr>
            <p:cNvPr id="354" name="Google Shape;354;p15"/>
            <p:cNvSpPr txBox="1"/>
            <p:nvPr/>
          </p:nvSpPr>
          <p:spPr>
            <a:xfrm>
              <a:off x="0" y="-219075"/>
              <a:ext cx="20385200" cy="5840687"/>
            </a:xfrm>
            <a:prstGeom prst="rect">
              <a:avLst/>
            </a:prstGeom>
            <a:noFill/>
            <a:ln>
              <a:noFill/>
            </a:ln>
          </p:spPr>
          <p:txBody>
            <a:bodyPr anchorCtr="0" anchor="t" bIns="0" lIns="0" spcFirstLastPara="1" rIns="0" wrap="square" tIns="0">
              <a:noAutofit/>
            </a:bodyPr>
            <a:lstStyle/>
            <a:p>
              <a:pPr indent="0" lvl="0" marL="0" marR="0" rtl="0" algn="just">
                <a:lnSpc>
                  <a:spcPct val="180000"/>
                </a:lnSpc>
                <a:spcBef>
                  <a:spcPts val="0"/>
                </a:spcBef>
                <a:spcAft>
                  <a:spcPts val="0"/>
                </a:spcAft>
                <a:buNone/>
              </a:pPr>
              <a:r>
                <a:rPr b="0" i="0" lang="en-US" sz="2725" u="none" cap="none" strike="noStrike">
                  <a:solidFill>
                    <a:srgbClr val="131416"/>
                  </a:solidFill>
                  <a:latin typeface="Arial"/>
                  <a:ea typeface="Arial"/>
                  <a:cs typeface="Arial"/>
                  <a:sym typeface="Arial"/>
                </a:rPr>
                <a:t>El pseudocódigo y el diagrama de flujo son dos herramientas que cumplen propósitos similares: representar la lógica de un algoritmo. Sin embargo, mientras que el diagrama de flujo se basa en elementos visuales (formas, flechas, símbolos), el pseudocódigo se basa en estructura textual secuencial, más cercana al código real. Muchos estudiantes prefieren el pseudocódigo porque pueden transcribirlo fácilmente a un lenguaje de programación. Otros encuentran en los diagramas una ayuda visual para comprender flujos complejos. Ambas herramientas se complementan entre sí.</a:t>
              </a:r>
              <a:endParaRPr/>
            </a:p>
          </p:txBody>
        </p:sp>
      </p:grpSp>
      <p:grpSp>
        <p:nvGrpSpPr>
          <p:cNvPr id="355" name="Google Shape;355;p15"/>
          <p:cNvGrpSpPr/>
          <p:nvPr/>
        </p:nvGrpSpPr>
        <p:grpSpPr>
          <a:xfrm>
            <a:off x="1374901" y="497213"/>
            <a:ext cx="15288901" cy="1256147"/>
            <a:chOff x="0" y="-209550"/>
            <a:chExt cx="20385201" cy="1674862"/>
          </a:xfrm>
        </p:grpSpPr>
        <p:sp>
          <p:nvSpPr>
            <p:cNvPr id="356" name="Google Shape;356;p15"/>
            <p:cNvSpPr/>
            <p:nvPr/>
          </p:nvSpPr>
          <p:spPr>
            <a:xfrm>
              <a:off x="0" y="0"/>
              <a:ext cx="20385201" cy="1465312"/>
            </a:xfrm>
            <a:custGeom>
              <a:rect b="b" l="l" r="r" t="t"/>
              <a:pathLst>
                <a:path extrusionOk="0" h="1465312" w="20385201">
                  <a:moveTo>
                    <a:pt x="0" y="0"/>
                  </a:moveTo>
                  <a:lnTo>
                    <a:pt x="20385201" y="0"/>
                  </a:lnTo>
                  <a:lnTo>
                    <a:pt x="20385201" y="1465312"/>
                  </a:lnTo>
                  <a:lnTo>
                    <a:pt x="0" y="1465312"/>
                  </a:lnTo>
                  <a:close/>
                </a:path>
              </a:pathLst>
            </a:custGeom>
            <a:solidFill>
              <a:srgbClr val="000000">
                <a:alpha val="0"/>
              </a:srgbClr>
            </a:solidFill>
            <a:ln>
              <a:noFill/>
            </a:ln>
          </p:spPr>
        </p:sp>
        <p:sp>
          <p:nvSpPr>
            <p:cNvPr id="357" name="Google Shape;357;p15"/>
            <p:cNvSpPr txBox="1"/>
            <p:nvPr/>
          </p:nvSpPr>
          <p:spPr>
            <a:xfrm>
              <a:off x="0" y="-209550"/>
              <a:ext cx="20385200"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Relación entre Pseudocódigo y Diagrama de Flujo</a:t>
              </a:r>
              <a:endParaRPr/>
            </a:p>
          </p:txBody>
        </p:sp>
      </p:grpSp>
      <p:sp>
        <p:nvSpPr>
          <p:cNvPr id="358" name="Google Shape;358;p15"/>
          <p:cNvSpPr/>
          <p:nvPr/>
        </p:nvSpPr>
        <p:spPr>
          <a:xfrm>
            <a:off x="7384801" y="5876879"/>
            <a:ext cx="3518399" cy="3650513"/>
          </a:xfrm>
          <a:custGeom>
            <a:rect b="b" l="l" r="r" t="t"/>
            <a:pathLst>
              <a:path extrusionOk="0" h="3650513" w="3518399">
                <a:moveTo>
                  <a:pt x="0" y="0"/>
                </a:moveTo>
                <a:lnTo>
                  <a:pt x="3518398" y="0"/>
                </a:lnTo>
                <a:lnTo>
                  <a:pt x="3518398" y="3650512"/>
                </a:lnTo>
                <a:lnTo>
                  <a:pt x="0" y="365051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grpSp>
        <p:nvGrpSpPr>
          <p:cNvPr id="367" name="Google Shape;367;p16"/>
          <p:cNvGrpSpPr/>
          <p:nvPr/>
        </p:nvGrpSpPr>
        <p:grpSpPr>
          <a:xfrm>
            <a:off x="1823701" y="4024588"/>
            <a:ext cx="14840100" cy="3785976"/>
            <a:chOff x="0" y="-200025"/>
            <a:chExt cx="19786800" cy="5047968"/>
          </a:xfrm>
        </p:grpSpPr>
        <p:sp>
          <p:nvSpPr>
            <p:cNvPr id="368" name="Google Shape;368;p16"/>
            <p:cNvSpPr/>
            <p:nvPr/>
          </p:nvSpPr>
          <p:spPr>
            <a:xfrm>
              <a:off x="0" y="0"/>
              <a:ext cx="19786800" cy="4847943"/>
            </a:xfrm>
            <a:custGeom>
              <a:rect b="b" l="l" r="r" t="t"/>
              <a:pathLst>
                <a:path extrusionOk="0" h="4847943" w="19786800">
                  <a:moveTo>
                    <a:pt x="0" y="0"/>
                  </a:moveTo>
                  <a:lnTo>
                    <a:pt x="19786800" y="0"/>
                  </a:lnTo>
                  <a:lnTo>
                    <a:pt x="19786800" y="4847943"/>
                  </a:lnTo>
                  <a:lnTo>
                    <a:pt x="0" y="4847943"/>
                  </a:lnTo>
                  <a:close/>
                </a:path>
              </a:pathLst>
            </a:custGeom>
            <a:solidFill>
              <a:srgbClr val="000000">
                <a:alpha val="0"/>
              </a:srgbClr>
            </a:solidFill>
            <a:ln>
              <a:noFill/>
            </a:ln>
          </p:spPr>
        </p:sp>
        <p:sp>
          <p:nvSpPr>
            <p:cNvPr id="369" name="Google Shape;369;p16"/>
            <p:cNvSpPr txBox="1"/>
            <p:nvPr/>
          </p:nvSpPr>
          <p:spPr>
            <a:xfrm>
              <a:off x="0" y="-200025"/>
              <a:ext cx="19786800" cy="5047968"/>
            </a:xfrm>
            <a:prstGeom prst="rect">
              <a:avLst/>
            </a:prstGeom>
            <a:noFill/>
            <a:ln>
              <a:noFill/>
            </a:ln>
          </p:spPr>
          <p:txBody>
            <a:bodyPr anchorCtr="0" anchor="t" bIns="0" lIns="0" spcFirstLastPara="1" rIns="0" wrap="square" tIns="0">
              <a:noAutofit/>
            </a:bodyPr>
            <a:lstStyle/>
            <a:p>
              <a:pPr indent="0" lvl="0" marL="0" marR="0" rtl="0" algn="just">
                <a:lnSpc>
                  <a:spcPct val="180000"/>
                </a:lnSpc>
                <a:spcBef>
                  <a:spcPts val="0"/>
                </a:spcBef>
                <a:spcAft>
                  <a:spcPts val="0"/>
                </a:spcAft>
                <a:buNone/>
              </a:pPr>
              <a:r>
                <a:rPr b="0" i="0" lang="en-US" sz="2525" u="none" cap="none" strike="noStrike">
                  <a:solidFill>
                    <a:srgbClr val="131416"/>
                  </a:solidFill>
                  <a:latin typeface="Arial"/>
                  <a:ea typeface="Arial"/>
                  <a:cs typeface="Arial"/>
                  <a:sym typeface="Arial"/>
                </a:rPr>
                <a:t>Al igual que en la programación real, escribir pseudocódigo de manera ordenada, clara y consistente es esencial para su efectividad. Se recomienda usar nombres de variables significativos, emplear comentarios que aclaren decisiones importantes, y estructurar el código con indentación adecuada. Estas prácticas, aunque parezcan simples, fomentan desde el inicio una mentalidad disciplinada y profesional, que será de gran utilidad cuando el estudiante avance hacia lenguajes más formales.</a:t>
              </a:r>
              <a:endParaRPr/>
            </a:p>
          </p:txBody>
        </p:sp>
      </p:grpSp>
      <p:grpSp>
        <p:nvGrpSpPr>
          <p:cNvPr id="370" name="Google Shape;370;p16"/>
          <p:cNvGrpSpPr/>
          <p:nvPr/>
        </p:nvGrpSpPr>
        <p:grpSpPr>
          <a:xfrm>
            <a:off x="1599301" y="1868813"/>
            <a:ext cx="15288901" cy="1256147"/>
            <a:chOff x="0" y="-209550"/>
            <a:chExt cx="20385201" cy="1674862"/>
          </a:xfrm>
        </p:grpSpPr>
        <p:sp>
          <p:nvSpPr>
            <p:cNvPr id="371" name="Google Shape;371;p16"/>
            <p:cNvSpPr/>
            <p:nvPr/>
          </p:nvSpPr>
          <p:spPr>
            <a:xfrm>
              <a:off x="0" y="0"/>
              <a:ext cx="20385201" cy="1465312"/>
            </a:xfrm>
            <a:custGeom>
              <a:rect b="b" l="l" r="r" t="t"/>
              <a:pathLst>
                <a:path extrusionOk="0" h="1465312" w="20385201">
                  <a:moveTo>
                    <a:pt x="0" y="0"/>
                  </a:moveTo>
                  <a:lnTo>
                    <a:pt x="20385201" y="0"/>
                  </a:lnTo>
                  <a:lnTo>
                    <a:pt x="20385201" y="1465312"/>
                  </a:lnTo>
                  <a:lnTo>
                    <a:pt x="0" y="1465312"/>
                  </a:lnTo>
                  <a:close/>
                </a:path>
              </a:pathLst>
            </a:custGeom>
            <a:solidFill>
              <a:srgbClr val="000000">
                <a:alpha val="0"/>
              </a:srgbClr>
            </a:solidFill>
            <a:ln>
              <a:noFill/>
            </a:ln>
          </p:spPr>
        </p:sp>
        <p:sp>
          <p:nvSpPr>
            <p:cNvPr id="372" name="Google Shape;372;p16"/>
            <p:cNvSpPr txBox="1"/>
            <p:nvPr/>
          </p:nvSpPr>
          <p:spPr>
            <a:xfrm>
              <a:off x="0" y="-209550"/>
              <a:ext cx="203852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Buenas Prácticas al Escribir Pseudocódigo</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grpSp>
        <p:nvGrpSpPr>
          <p:cNvPr id="381" name="Google Shape;381;p17"/>
          <p:cNvGrpSpPr/>
          <p:nvPr/>
        </p:nvGrpSpPr>
        <p:grpSpPr>
          <a:xfrm>
            <a:off x="1374901" y="497213"/>
            <a:ext cx="15288901" cy="2303897"/>
            <a:chOff x="0" y="-209550"/>
            <a:chExt cx="20385201" cy="3071862"/>
          </a:xfrm>
        </p:grpSpPr>
        <p:sp>
          <p:nvSpPr>
            <p:cNvPr id="382" name="Google Shape;382;p17"/>
            <p:cNvSpPr/>
            <p:nvPr/>
          </p:nvSpPr>
          <p:spPr>
            <a:xfrm>
              <a:off x="0" y="0"/>
              <a:ext cx="20385201" cy="2862312"/>
            </a:xfrm>
            <a:custGeom>
              <a:rect b="b" l="l" r="r" t="t"/>
              <a:pathLst>
                <a:path extrusionOk="0" h="2862312" w="20385201">
                  <a:moveTo>
                    <a:pt x="0" y="0"/>
                  </a:moveTo>
                  <a:lnTo>
                    <a:pt x="20385201" y="0"/>
                  </a:lnTo>
                  <a:lnTo>
                    <a:pt x="20385201" y="2862312"/>
                  </a:lnTo>
                  <a:lnTo>
                    <a:pt x="0" y="2862312"/>
                  </a:lnTo>
                  <a:close/>
                </a:path>
              </a:pathLst>
            </a:custGeom>
            <a:solidFill>
              <a:srgbClr val="000000">
                <a:alpha val="0"/>
              </a:srgbClr>
            </a:solidFill>
            <a:ln>
              <a:noFill/>
            </a:ln>
          </p:spPr>
        </p:sp>
        <p:sp>
          <p:nvSpPr>
            <p:cNvPr id="383" name="Google Shape;383;p17"/>
            <p:cNvSpPr txBox="1"/>
            <p:nvPr/>
          </p:nvSpPr>
          <p:spPr>
            <a:xfrm>
              <a:off x="0" y="-209550"/>
              <a:ext cx="20385200" cy="3071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Recomendaciones Finales para Iniciarse en Programación</a:t>
              </a:r>
              <a:endParaRPr/>
            </a:p>
          </p:txBody>
        </p:sp>
      </p:grpSp>
      <p:grpSp>
        <p:nvGrpSpPr>
          <p:cNvPr id="384" name="Google Shape;384;p17"/>
          <p:cNvGrpSpPr/>
          <p:nvPr/>
        </p:nvGrpSpPr>
        <p:grpSpPr>
          <a:xfrm>
            <a:off x="1823701" y="4024588"/>
            <a:ext cx="14840100" cy="3785976"/>
            <a:chOff x="0" y="-200025"/>
            <a:chExt cx="19786800" cy="5047968"/>
          </a:xfrm>
        </p:grpSpPr>
        <p:sp>
          <p:nvSpPr>
            <p:cNvPr id="385" name="Google Shape;385;p17"/>
            <p:cNvSpPr/>
            <p:nvPr/>
          </p:nvSpPr>
          <p:spPr>
            <a:xfrm>
              <a:off x="0" y="0"/>
              <a:ext cx="19786800" cy="4847943"/>
            </a:xfrm>
            <a:custGeom>
              <a:rect b="b" l="l" r="r" t="t"/>
              <a:pathLst>
                <a:path extrusionOk="0" h="4847943" w="19786800">
                  <a:moveTo>
                    <a:pt x="0" y="0"/>
                  </a:moveTo>
                  <a:lnTo>
                    <a:pt x="19786800" y="0"/>
                  </a:lnTo>
                  <a:lnTo>
                    <a:pt x="19786800" y="4847943"/>
                  </a:lnTo>
                  <a:lnTo>
                    <a:pt x="0" y="4847943"/>
                  </a:lnTo>
                  <a:close/>
                </a:path>
              </a:pathLst>
            </a:custGeom>
            <a:solidFill>
              <a:srgbClr val="000000">
                <a:alpha val="0"/>
              </a:srgbClr>
            </a:solidFill>
            <a:ln>
              <a:noFill/>
            </a:ln>
          </p:spPr>
        </p:sp>
        <p:sp>
          <p:nvSpPr>
            <p:cNvPr id="386" name="Google Shape;386;p17"/>
            <p:cNvSpPr txBox="1"/>
            <p:nvPr/>
          </p:nvSpPr>
          <p:spPr>
            <a:xfrm>
              <a:off x="0" y="-200025"/>
              <a:ext cx="19786800" cy="5047968"/>
            </a:xfrm>
            <a:prstGeom prst="rect">
              <a:avLst/>
            </a:prstGeom>
            <a:noFill/>
            <a:ln>
              <a:noFill/>
            </a:ln>
          </p:spPr>
          <p:txBody>
            <a:bodyPr anchorCtr="0" anchor="t" bIns="0" lIns="0" spcFirstLastPara="1" rIns="0" wrap="square" tIns="0">
              <a:noAutofit/>
            </a:bodyPr>
            <a:lstStyle/>
            <a:p>
              <a:pPr indent="0" lvl="0" marL="0" marR="0" rtl="0" algn="just">
                <a:lnSpc>
                  <a:spcPct val="180000"/>
                </a:lnSpc>
                <a:spcBef>
                  <a:spcPts val="0"/>
                </a:spcBef>
                <a:spcAft>
                  <a:spcPts val="0"/>
                </a:spcAft>
                <a:buNone/>
              </a:pPr>
              <a:r>
                <a:rPr b="0" i="0" lang="en-US" sz="2525" u="none" cap="none" strike="noStrike">
                  <a:solidFill>
                    <a:srgbClr val="131416"/>
                  </a:solidFill>
                  <a:latin typeface="Arial"/>
                  <a:ea typeface="Arial"/>
                  <a:cs typeface="Arial"/>
                  <a:sym typeface="Arial"/>
                </a:rPr>
                <a:t>Antes de aprender un lenguaje de programación, es recomendable dominar primero los principios fundamentales de lógica computacional. Comprender qué es un algoritmo, cómo se estructura una decisión, cómo se representa una repetición, y cómo se recibe y entrega información, es el verdadero núcleo de la programación. El pseudocódigo es el primer paso hacia ese entendimiento. Una vez interiorizados estos principios, el aprendizaje de cualquier lenguaje será mucho más natural.</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grpSp>
        <p:nvGrpSpPr>
          <p:cNvPr id="395" name="Google Shape;395;p18"/>
          <p:cNvGrpSpPr/>
          <p:nvPr/>
        </p:nvGrpSpPr>
        <p:grpSpPr>
          <a:xfrm>
            <a:off x="4437795" y="3274804"/>
            <a:ext cx="8658900" cy="2029500"/>
            <a:chOff x="0" y="-152400"/>
            <a:chExt cx="11545200" cy="2706000"/>
          </a:xfrm>
        </p:grpSpPr>
        <p:sp>
          <p:nvSpPr>
            <p:cNvPr id="396" name="Google Shape;396;p18"/>
            <p:cNvSpPr/>
            <p:nvPr/>
          </p:nvSpPr>
          <p:spPr>
            <a:xfrm>
              <a:off x="0" y="0"/>
              <a:ext cx="11545200" cy="2553600"/>
            </a:xfrm>
            <a:custGeom>
              <a:rect b="b" l="l" r="r" t="t"/>
              <a:pathLst>
                <a:path extrusionOk="0" h="2553600" w="11545200">
                  <a:moveTo>
                    <a:pt x="0" y="0"/>
                  </a:moveTo>
                  <a:lnTo>
                    <a:pt x="11545200" y="0"/>
                  </a:lnTo>
                  <a:lnTo>
                    <a:pt x="11545200" y="2553600"/>
                  </a:lnTo>
                  <a:lnTo>
                    <a:pt x="0" y="2553600"/>
                  </a:lnTo>
                  <a:close/>
                </a:path>
              </a:pathLst>
            </a:custGeom>
            <a:solidFill>
              <a:srgbClr val="000000">
                <a:alpha val="0"/>
              </a:srgbClr>
            </a:solidFill>
            <a:ln>
              <a:noFill/>
            </a:ln>
          </p:spPr>
        </p:sp>
        <p:sp>
          <p:nvSpPr>
            <p:cNvPr id="397" name="Google Shape;397;p18"/>
            <p:cNvSpPr txBox="1"/>
            <p:nvPr/>
          </p:nvSpPr>
          <p:spPr>
            <a:xfrm>
              <a:off x="0" y="-152400"/>
              <a:ext cx="11545200" cy="2706000"/>
            </a:xfrm>
            <a:prstGeom prst="rect">
              <a:avLst/>
            </a:prstGeom>
            <a:noFill/>
            <a:ln>
              <a:noFill/>
            </a:ln>
          </p:spPr>
          <p:txBody>
            <a:bodyPr anchorCtr="0" anchor="t" bIns="0" lIns="0" spcFirstLastPara="1" rIns="0" wrap="square" tIns="0">
              <a:noAutofit/>
            </a:bodyPr>
            <a:lstStyle/>
            <a:p>
              <a:pPr indent="0" lvl="0" marL="0" marR="0" rtl="0" algn="just">
                <a:lnSpc>
                  <a:spcPct val="124811"/>
                </a:lnSpc>
                <a:spcBef>
                  <a:spcPts val="0"/>
                </a:spcBef>
                <a:spcAft>
                  <a:spcPts val="0"/>
                </a:spcAft>
                <a:buNone/>
              </a:pPr>
              <a:r>
                <a:rPr b="0" i="0" lang="en-US" sz="6098" u="none" cap="none" strike="noStrike">
                  <a:solidFill>
                    <a:srgbClr val="131416"/>
                  </a:solidFill>
                  <a:latin typeface="Impact"/>
                  <a:ea typeface="Impact"/>
                  <a:cs typeface="Impact"/>
                  <a:sym typeface="Impact"/>
                </a:rPr>
                <a:t>¡GRACIAS POR SU  ATENCIÓN!</a:t>
              </a:r>
              <a:endParaRPr/>
            </a:p>
            <a:p>
              <a:pPr indent="0" lvl="0" marL="0" marR="0" rtl="0" algn="just">
                <a:lnSpc>
                  <a:spcPct val="28648"/>
                </a:lnSpc>
                <a:spcBef>
                  <a:spcPts val="0"/>
                </a:spcBef>
                <a:spcAft>
                  <a:spcPts val="0"/>
                </a:spcAft>
                <a:buNone/>
              </a:pPr>
              <a:r>
                <a:t/>
              </a:r>
              <a:endParaRPr b="0" i="0" sz="6098" u="none" cap="none" strike="noStrike">
                <a:solidFill>
                  <a:srgbClr val="131416"/>
                </a:solidFill>
                <a:latin typeface="Impact"/>
                <a:ea typeface="Impact"/>
                <a:cs typeface="Impact"/>
                <a:sym typeface="Impact"/>
              </a:endParaRPr>
            </a:p>
          </p:txBody>
        </p:sp>
      </p:grpSp>
      <p:grpSp>
        <p:nvGrpSpPr>
          <p:cNvPr id="398" name="Google Shape;398;p18"/>
          <p:cNvGrpSpPr/>
          <p:nvPr/>
        </p:nvGrpSpPr>
        <p:grpSpPr>
          <a:xfrm>
            <a:off x="5414714" y="5679497"/>
            <a:ext cx="6704991" cy="1177131"/>
            <a:chOff x="0" y="-371475"/>
            <a:chExt cx="8939988" cy="1569508"/>
          </a:xfrm>
        </p:grpSpPr>
        <p:sp>
          <p:nvSpPr>
            <p:cNvPr id="399" name="Google Shape;399;p18"/>
            <p:cNvSpPr/>
            <p:nvPr/>
          </p:nvSpPr>
          <p:spPr>
            <a:xfrm>
              <a:off x="0" y="0"/>
              <a:ext cx="8939988" cy="1198033"/>
            </a:xfrm>
            <a:custGeom>
              <a:rect b="b" l="l" r="r" t="t"/>
              <a:pathLst>
                <a:path extrusionOk="0" h="1198033" w="8939988">
                  <a:moveTo>
                    <a:pt x="0" y="0"/>
                  </a:moveTo>
                  <a:lnTo>
                    <a:pt x="8939988" y="0"/>
                  </a:lnTo>
                  <a:lnTo>
                    <a:pt x="8939988" y="1198033"/>
                  </a:lnTo>
                  <a:lnTo>
                    <a:pt x="0" y="1198033"/>
                  </a:lnTo>
                  <a:close/>
                </a:path>
              </a:pathLst>
            </a:custGeom>
            <a:solidFill>
              <a:srgbClr val="000000">
                <a:alpha val="0"/>
              </a:srgbClr>
            </a:solidFill>
            <a:ln>
              <a:noFill/>
            </a:ln>
          </p:spPr>
        </p:sp>
        <p:sp>
          <p:nvSpPr>
            <p:cNvPr id="400" name="Google Shape;400;p18"/>
            <p:cNvSpPr txBox="1"/>
            <p:nvPr/>
          </p:nvSpPr>
          <p:spPr>
            <a:xfrm>
              <a:off x="0" y="-371475"/>
              <a:ext cx="8939988" cy="1569508"/>
            </a:xfrm>
            <a:prstGeom prst="rect">
              <a:avLst/>
            </a:prstGeom>
            <a:noFill/>
            <a:ln>
              <a:noFill/>
            </a:ln>
          </p:spPr>
          <p:txBody>
            <a:bodyPr anchorCtr="0" anchor="t" bIns="0" lIns="0" spcFirstLastPara="1" rIns="0" wrap="square" tIns="0">
              <a:noAutofit/>
            </a:bodyPr>
            <a:lstStyle/>
            <a:p>
              <a:pPr indent="0" lvl="0" marL="0" marR="0" rtl="0" algn="ctr">
                <a:lnSpc>
                  <a:spcPct val="177615"/>
                </a:lnSpc>
                <a:spcBef>
                  <a:spcPts val="0"/>
                </a:spcBef>
                <a:spcAft>
                  <a:spcPts val="0"/>
                </a:spcAft>
                <a:buNone/>
              </a:pPr>
              <a:r>
                <a:rPr b="0" i="0" lang="en-US" sz="4999" u="none" cap="none" strike="noStrike">
                  <a:solidFill>
                    <a:srgbClr val="131416"/>
                  </a:solidFill>
                  <a:latin typeface="Arial"/>
                  <a:ea typeface="Arial"/>
                  <a:cs typeface="Arial"/>
                  <a:sym typeface="Arial"/>
                </a:rPr>
                <a:t>DUDAS</a:t>
              </a:r>
              <a:endParaRPr/>
            </a:p>
          </p:txBody>
        </p:sp>
      </p:grpSp>
      <p:sp>
        <p:nvSpPr>
          <p:cNvPr id="401" name="Google Shape;401;p18"/>
          <p:cNvSpPr/>
          <p:nvPr/>
        </p:nvSpPr>
        <p:spPr>
          <a:xfrm>
            <a:off x="13963751" y="1028700"/>
            <a:ext cx="2757297" cy="3770948"/>
          </a:xfrm>
          <a:custGeom>
            <a:rect b="b" l="l" r="r" t="t"/>
            <a:pathLst>
              <a:path extrusionOk="0" h="5027930" w="3676396">
                <a:moveTo>
                  <a:pt x="0" y="0"/>
                </a:moveTo>
                <a:lnTo>
                  <a:pt x="3676396" y="0"/>
                </a:lnTo>
                <a:lnTo>
                  <a:pt x="3676396" y="5027930"/>
                </a:lnTo>
                <a:lnTo>
                  <a:pt x="0" y="5027930"/>
                </a:lnTo>
                <a:lnTo>
                  <a:pt x="0" y="0"/>
                </a:lnTo>
                <a:close/>
              </a:path>
            </a:pathLst>
          </a:custGeom>
          <a:blipFill rotWithShape="1">
            <a:blip r:embed="rId3">
              <a:alphaModFix/>
            </a:blip>
            <a:stretch>
              <a:fillRect b="0" l="-6" r="-5" t="0"/>
            </a:stretch>
          </a:blipFill>
          <a:ln>
            <a:noFill/>
          </a:ln>
        </p:spPr>
      </p:sp>
      <p:grpSp>
        <p:nvGrpSpPr>
          <p:cNvPr id="402" name="Google Shape;402;p18"/>
          <p:cNvGrpSpPr/>
          <p:nvPr/>
        </p:nvGrpSpPr>
        <p:grpSpPr>
          <a:xfrm>
            <a:off x="2411098" y="7785435"/>
            <a:ext cx="13465804" cy="833755"/>
            <a:chOff x="0" y="-152400"/>
            <a:chExt cx="17954405" cy="1111673"/>
          </a:xfrm>
        </p:grpSpPr>
        <p:sp>
          <p:nvSpPr>
            <p:cNvPr id="403" name="Google Shape;403;p18"/>
            <p:cNvSpPr/>
            <p:nvPr/>
          </p:nvSpPr>
          <p:spPr>
            <a:xfrm>
              <a:off x="0" y="0"/>
              <a:ext cx="17954405" cy="959273"/>
            </a:xfrm>
            <a:custGeom>
              <a:rect b="b" l="l" r="r" t="t"/>
              <a:pathLst>
                <a:path extrusionOk="0" h="959273" w="17954405">
                  <a:moveTo>
                    <a:pt x="0" y="0"/>
                  </a:moveTo>
                  <a:lnTo>
                    <a:pt x="17954405" y="0"/>
                  </a:lnTo>
                  <a:lnTo>
                    <a:pt x="17954405" y="959273"/>
                  </a:lnTo>
                  <a:lnTo>
                    <a:pt x="0" y="959273"/>
                  </a:lnTo>
                  <a:close/>
                </a:path>
              </a:pathLst>
            </a:custGeom>
            <a:solidFill>
              <a:srgbClr val="000000">
                <a:alpha val="0"/>
              </a:srgbClr>
            </a:solidFill>
            <a:ln>
              <a:noFill/>
            </a:ln>
          </p:spPr>
        </p:sp>
        <p:sp>
          <p:nvSpPr>
            <p:cNvPr id="404" name="Google Shape;404;p18"/>
            <p:cNvSpPr txBox="1"/>
            <p:nvPr/>
          </p:nvSpPr>
          <p:spPr>
            <a:xfrm>
              <a:off x="0" y="-152400"/>
              <a:ext cx="17954405" cy="1111673"/>
            </a:xfrm>
            <a:prstGeom prst="rect">
              <a:avLst/>
            </a:prstGeom>
            <a:noFill/>
            <a:ln>
              <a:noFill/>
            </a:ln>
          </p:spPr>
          <p:txBody>
            <a:bodyPr anchorCtr="0" anchor="t" bIns="0" lIns="0" spcFirstLastPara="1" rIns="0" wrap="square" tIns="0">
              <a:noAutofit/>
            </a:bodyPr>
            <a:lstStyle/>
            <a:p>
              <a:pPr indent="0" lvl="0" marL="0" marR="0" rtl="0" algn="ctr">
                <a:lnSpc>
                  <a:spcPct val="1776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