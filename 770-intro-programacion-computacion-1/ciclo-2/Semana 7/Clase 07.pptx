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300" r:id="rId2"/>
    <p:sldId id="256" r:id="rId3"/>
    <p:sldId id="264" r:id="rId4"/>
    <p:sldId id="316" r:id="rId5"/>
    <p:sldId id="315" r:id="rId6"/>
    <p:sldId id="275" r:id="rId7"/>
    <p:sldId id="276" r:id="rId8"/>
    <p:sldId id="305" r:id="rId9"/>
    <p:sldId id="262" r:id="rId10"/>
    <p:sldId id="302" r:id="rId11"/>
    <p:sldId id="303" r:id="rId12"/>
    <p:sldId id="304" r:id="rId13"/>
    <p:sldId id="306" r:id="rId14"/>
    <p:sldId id="307" r:id="rId15"/>
    <p:sldId id="308" r:id="rId16"/>
    <p:sldId id="309" r:id="rId17"/>
    <p:sldId id="310" r:id="rId18"/>
    <p:sldId id="311" r:id="rId19"/>
    <p:sldId id="312" r:id="rId20"/>
    <p:sldId id="313" r:id="rId21"/>
    <p:sldId id="314" r:id="rId22"/>
    <p:sldId id="266" r:id="rId23"/>
    <p:sldId id="261" r:id="rId24"/>
    <p:sldId id="267" r:id="rId25"/>
    <p:sldId id="271" r:id="rId26"/>
    <p:sldId id="268" r:id="rId27"/>
    <p:sldId id="269" r:id="rId28"/>
    <p:sldId id="270" r:id="rId29"/>
    <p:sldId id="272" r:id="rId30"/>
    <p:sldId id="273" r:id="rId31"/>
    <p:sldId id="282" r:id="rId32"/>
    <p:sldId id="283" r:id="rId33"/>
    <p:sldId id="274" r:id="rId34"/>
    <p:sldId id="299" r:id="rId3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95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DB9D25-78DC-452B-8CE5-34EC35F11683}"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90BA5190-C28E-48B5-A57E-CC7E698435B6}">
      <dgm:prSet/>
      <dgm:spPr/>
      <dgm:t>
        <a:bodyPr/>
        <a:lstStyle/>
        <a:p>
          <a:r>
            <a:rPr lang="es-MX"/>
            <a:t>Abstracción</a:t>
          </a:r>
          <a:endParaRPr lang="en-US"/>
        </a:p>
      </dgm:t>
    </dgm:pt>
    <dgm:pt modelId="{5B545F52-DF88-4D3D-9F30-7580559AD5EA}" type="parTrans" cxnId="{75F2EB0A-9A7E-421C-BEDE-40D7F3DB4F10}">
      <dgm:prSet/>
      <dgm:spPr/>
      <dgm:t>
        <a:bodyPr/>
        <a:lstStyle/>
        <a:p>
          <a:endParaRPr lang="en-US"/>
        </a:p>
      </dgm:t>
    </dgm:pt>
    <dgm:pt modelId="{15AE2AD3-C86C-4784-9A44-AFABB9C67436}" type="sibTrans" cxnId="{75F2EB0A-9A7E-421C-BEDE-40D7F3DB4F10}">
      <dgm:prSet/>
      <dgm:spPr/>
      <dgm:t>
        <a:bodyPr/>
        <a:lstStyle/>
        <a:p>
          <a:endParaRPr lang="en-US"/>
        </a:p>
      </dgm:t>
    </dgm:pt>
    <dgm:pt modelId="{121CD9EA-50E6-4F7D-AD8F-E10E81DEB35B}">
      <dgm:prSet/>
      <dgm:spPr/>
      <dgm:t>
        <a:bodyPr/>
        <a:lstStyle/>
        <a:p>
          <a:r>
            <a:rPr lang="es-MX"/>
            <a:t>Encapsulamiento</a:t>
          </a:r>
          <a:endParaRPr lang="en-US"/>
        </a:p>
      </dgm:t>
    </dgm:pt>
    <dgm:pt modelId="{556E53D9-6072-4D7F-919B-30CEAA9D047B}" type="parTrans" cxnId="{CF183E7B-C7BD-410F-BB2F-B42AF7AC927C}">
      <dgm:prSet/>
      <dgm:spPr/>
      <dgm:t>
        <a:bodyPr/>
        <a:lstStyle/>
        <a:p>
          <a:endParaRPr lang="en-US"/>
        </a:p>
      </dgm:t>
    </dgm:pt>
    <dgm:pt modelId="{149AEE6A-5F11-451E-A5AA-A5472081D56F}" type="sibTrans" cxnId="{CF183E7B-C7BD-410F-BB2F-B42AF7AC927C}">
      <dgm:prSet/>
      <dgm:spPr/>
      <dgm:t>
        <a:bodyPr/>
        <a:lstStyle/>
        <a:p>
          <a:endParaRPr lang="en-US"/>
        </a:p>
      </dgm:t>
    </dgm:pt>
    <dgm:pt modelId="{4628A92F-E764-492A-82D4-E15BFBF98F05}">
      <dgm:prSet/>
      <dgm:spPr/>
      <dgm:t>
        <a:bodyPr/>
        <a:lstStyle/>
        <a:p>
          <a:r>
            <a:rPr lang="es-MX"/>
            <a:t>Polimorfismo</a:t>
          </a:r>
          <a:endParaRPr lang="en-US"/>
        </a:p>
      </dgm:t>
    </dgm:pt>
    <dgm:pt modelId="{B091921D-7CB4-4CE5-957B-E7AF25C55FE5}" type="parTrans" cxnId="{E7613DA7-489B-49AE-A44A-F33561CDF642}">
      <dgm:prSet/>
      <dgm:spPr/>
      <dgm:t>
        <a:bodyPr/>
        <a:lstStyle/>
        <a:p>
          <a:endParaRPr lang="en-US"/>
        </a:p>
      </dgm:t>
    </dgm:pt>
    <dgm:pt modelId="{6AE4909E-3DAC-40AA-B72D-37B8080BD5A3}" type="sibTrans" cxnId="{E7613DA7-489B-49AE-A44A-F33561CDF642}">
      <dgm:prSet/>
      <dgm:spPr/>
      <dgm:t>
        <a:bodyPr/>
        <a:lstStyle/>
        <a:p>
          <a:endParaRPr lang="en-US"/>
        </a:p>
      </dgm:t>
    </dgm:pt>
    <dgm:pt modelId="{01A40E4B-933F-4672-94C9-73D8FD83D35E}">
      <dgm:prSet/>
      <dgm:spPr/>
      <dgm:t>
        <a:bodyPr/>
        <a:lstStyle/>
        <a:p>
          <a:r>
            <a:rPr lang="es-MX"/>
            <a:t>Herencia</a:t>
          </a:r>
          <a:endParaRPr lang="en-US"/>
        </a:p>
      </dgm:t>
    </dgm:pt>
    <dgm:pt modelId="{C3A099E9-3237-438E-8926-89A32044FF5A}" type="parTrans" cxnId="{8EEA533A-8B23-44A7-B85E-174EC7C1F4C3}">
      <dgm:prSet/>
      <dgm:spPr/>
      <dgm:t>
        <a:bodyPr/>
        <a:lstStyle/>
        <a:p>
          <a:endParaRPr lang="en-US"/>
        </a:p>
      </dgm:t>
    </dgm:pt>
    <dgm:pt modelId="{61E16AF6-C7CD-49DF-9F67-4FC79A6100D5}" type="sibTrans" cxnId="{8EEA533A-8B23-44A7-B85E-174EC7C1F4C3}">
      <dgm:prSet/>
      <dgm:spPr/>
      <dgm:t>
        <a:bodyPr/>
        <a:lstStyle/>
        <a:p>
          <a:endParaRPr lang="en-US"/>
        </a:p>
      </dgm:t>
    </dgm:pt>
    <dgm:pt modelId="{022F3B99-2D84-4270-A9EE-8687E04B1E37}" type="pres">
      <dgm:prSet presAssocID="{57DB9D25-78DC-452B-8CE5-34EC35F11683}" presName="vert0" presStyleCnt="0">
        <dgm:presLayoutVars>
          <dgm:dir/>
          <dgm:animOne val="branch"/>
          <dgm:animLvl val="lvl"/>
        </dgm:presLayoutVars>
      </dgm:prSet>
      <dgm:spPr/>
    </dgm:pt>
    <dgm:pt modelId="{090D320C-3F91-4CED-8D28-299DC718C49D}" type="pres">
      <dgm:prSet presAssocID="{90BA5190-C28E-48B5-A57E-CC7E698435B6}" presName="thickLine" presStyleLbl="alignNode1" presStyleIdx="0" presStyleCnt="4"/>
      <dgm:spPr/>
    </dgm:pt>
    <dgm:pt modelId="{646D329A-A4C1-47EF-AFD6-FC4D304BA18E}" type="pres">
      <dgm:prSet presAssocID="{90BA5190-C28E-48B5-A57E-CC7E698435B6}" presName="horz1" presStyleCnt="0"/>
      <dgm:spPr/>
    </dgm:pt>
    <dgm:pt modelId="{84E1F573-73CD-474F-8771-EE3CD0FD494C}" type="pres">
      <dgm:prSet presAssocID="{90BA5190-C28E-48B5-A57E-CC7E698435B6}" presName="tx1" presStyleLbl="revTx" presStyleIdx="0" presStyleCnt="4"/>
      <dgm:spPr/>
    </dgm:pt>
    <dgm:pt modelId="{5F5C58AB-5179-4B73-83AE-749BF65F6417}" type="pres">
      <dgm:prSet presAssocID="{90BA5190-C28E-48B5-A57E-CC7E698435B6}" presName="vert1" presStyleCnt="0"/>
      <dgm:spPr/>
    </dgm:pt>
    <dgm:pt modelId="{6DE8CB7B-B324-440B-8A7A-840A0FEFF7E3}" type="pres">
      <dgm:prSet presAssocID="{121CD9EA-50E6-4F7D-AD8F-E10E81DEB35B}" presName="thickLine" presStyleLbl="alignNode1" presStyleIdx="1" presStyleCnt="4"/>
      <dgm:spPr/>
    </dgm:pt>
    <dgm:pt modelId="{BAD26D46-031E-463F-8AB6-5D24B1C870A9}" type="pres">
      <dgm:prSet presAssocID="{121CD9EA-50E6-4F7D-AD8F-E10E81DEB35B}" presName="horz1" presStyleCnt="0"/>
      <dgm:spPr/>
    </dgm:pt>
    <dgm:pt modelId="{6BCF96E7-2A31-4483-BE1E-7678C5CE30CE}" type="pres">
      <dgm:prSet presAssocID="{121CD9EA-50E6-4F7D-AD8F-E10E81DEB35B}" presName="tx1" presStyleLbl="revTx" presStyleIdx="1" presStyleCnt="4"/>
      <dgm:spPr/>
    </dgm:pt>
    <dgm:pt modelId="{0C736BAA-C3A5-40FF-8FEE-2654EBCDFFB3}" type="pres">
      <dgm:prSet presAssocID="{121CD9EA-50E6-4F7D-AD8F-E10E81DEB35B}" presName="vert1" presStyleCnt="0"/>
      <dgm:spPr/>
    </dgm:pt>
    <dgm:pt modelId="{C6D7E5D3-EFDF-4BF5-9560-A81697DC036E}" type="pres">
      <dgm:prSet presAssocID="{4628A92F-E764-492A-82D4-E15BFBF98F05}" presName="thickLine" presStyleLbl="alignNode1" presStyleIdx="2" presStyleCnt="4"/>
      <dgm:spPr/>
    </dgm:pt>
    <dgm:pt modelId="{9D681029-2042-4E69-AE18-11BC5CD1CC63}" type="pres">
      <dgm:prSet presAssocID="{4628A92F-E764-492A-82D4-E15BFBF98F05}" presName="horz1" presStyleCnt="0"/>
      <dgm:spPr/>
    </dgm:pt>
    <dgm:pt modelId="{ECAF4C4E-96FE-4CF8-A22F-01FD087E6850}" type="pres">
      <dgm:prSet presAssocID="{4628A92F-E764-492A-82D4-E15BFBF98F05}" presName="tx1" presStyleLbl="revTx" presStyleIdx="2" presStyleCnt="4"/>
      <dgm:spPr/>
    </dgm:pt>
    <dgm:pt modelId="{BE93801A-309E-4849-A084-12DB266D871E}" type="pres">
      <dgm:prSet presAssocID="{4628A92F-E764-492A-82D4-E15BFBF98F05}" presName="vert1" presStyleCnt="0"/>
      <dgm:spPr/>
    </dgm:pt>
    <dgm:pt modelId="{977B6F8A-F30F-4A92-8A17-FEE4F7F28BEF}" type="pres">
      <dgm:prSet presAssocID="{01A40E4B-933F-4672-94C9-73D8FD83D35E}" presName="thickLine" presStyleLbl="alignNode1" presStyleIdx="3" presStyleCnt="4"/>
      <dgm:spPr/>
    </dgm:pt>
    <dgm:pt modelId="{F4682DC8-6E18-4BEC-AAF9-CB4D553B95A0}" type="pres">
      <dgm:prSet presAssocID="{01A40E4B-933F-4672-94C9-73D8FD83D35E}" presName="horz1" presStyleCnt="0"/>
      <dgm:spPr/>
    </dgm:pt>
    <dgm:pt modelId="{2F02651D-D5C3-4FD9-97D9-50B45F090EA1}" type="pres">
      <dgm:prSet presAssocID="{01A40E4B-933F-4672-94C9-73D8FD83D35E}" presName="tx1" presStyleLbl="revTx" presStyleIdx="3" presStyleCnt="4"/>
      <dgm:spPr/>
    </dgm:pt>
    <dgm:pt modelId="{149332C0-ECA9-4244-ADAC-EC1C7DEB1786}" type="pres">
      <dgm:prSet presAssocID="{01A40E4B-933F-4672-94C9-73D8FD83D35E}" presName="vert1" presStyleCnt="0"/>
      <dgm:spPr/>
    </dgm:pt>
  </dgm:ptLst>
  <dgm:cxnLst>
    <dgm:cxn modelId="{75F2EB0A-9A7E-421C-BEDE-40D7F3DB4F10}" srcId="{57DB9D25-78DC-452B-8CE5-34EC35F11683}" destId="{90BA5190-C28E-48B5-A57E-CC7E698435B6}" srcOrd="0" destOrd="0" parTransId="{5B545F52-DF88-4D3D-9F30-7580559AD5EA}" sibTransId="{15AE2AD3-C86C-4784-9A44-AFABB9C67436}"/>
    <dgm:cxn modelId="{8EC9390B-1C93-4BF3-8A25-9BDBA4FD321F}" type="presOf" srcId="{121CD9EA-50E6-4F7D-AD8F-E10E81DEB35B}" destId="{6BCF96E7-2A31-4483-BE1E-7678C5CE30CE}" srcOrd="0" destOrd="0" presId="urn:microsoft.com/office/officeart/2008/layout/LinedList"/>
    <dgm:cxn modelId="{A918DD17-A0D2-4273-A2AD-E4DFA204D4A3}" type="presOf" srcId="{90BA5190-C28E-48B5-A57E-CC7E698435B6}" destId="{84E1F573-73CD-474F-8771-EE3CD0FD494C}" srcOrd="0" destOrd="0" presId="urn:microsoft.com/office/officeart/2008/layout/LinedList"/>
    <dgm:cxn modelId="{ED85EA28-80E2-4C1B-B5D6-A8B0FFEB65CE}" type="presOf" srcId="{4628A92F-E764-492A-82D4-E15BFBF98F05}" destId="{ECAF4C4E-96FE-4CF8-A22F-01FD087E6850}" srcOrd="0" destOrd="0" presId="urn:microsoft.com/office/officeart/2008/layout/LinedList"/>
    <dgm:cxn modelId="{8EEA533A-8B23-44A7-B85E-174EC7C1F4C3}" srcId="{57DB9D25-78DC-452B-8CE5-34EC35F11683}" destId="{01A40E4B-933F-4672-94C9-73D8FD83D35E}" srcOrd="3" destOrd="0" parTransId="{C3A099E9-3237-438E-8926-89A32044FF5A}" sibTransId="{61E16AF6-C7CD-49DF-9F67-4FC79A6100D5}"/>
    <dgm:cxn modelId="{CF183E7B-C7BD-410F-BB2F-B42AF7AC927C}" srcId="{57DB9D25-78DC-452B-8CE5-34EC35F11683}" destId="{121CD9EA-50E6-4F7D-AD8F-E10E81DEB35B}" srcOrd="1" destOrd="0" parTransId="{556E53D9-6072-4D7F-919B-30CEAA9D047B}" sibTransId="{149AEE6A-5F11-451E-A5AA-A5472081D56F}"/>
    <dgm:cxn modelId="{E7613DA7-489B-49AE-A44A-F33561CDF642}" srcId="{57DB9D25-78DC-452B-8CE5-34EC35F11683}" destId="{4628A92F-E764-492A-82D4-E15BFBF98F05}" srcOrd="2" destOrd="0" parTransId="{B091921D-7CB4-4CE5-957B-E7AF25C55FE5}" sibTransId="{6AE4909E-3DAC-40AA-B72D-37B8080BD5A3}"/>
    <dgm:cxn modelId="{BEAEF6D7-434B-4249-894D-4F2660564FA3}" type="presOf" srcId="{57DB9D25-78DC-452B-8CE5-34EC35F11683}" destId="{022F3B99-2D84-4270-A9EE-8687E04B1E37}" srcOrd="0" destOrd="0" presId="urn:microsoft.com/office/officeart/2008/layout/LinedList"/>
    <dgm:cxn modelId="{F87F9DD8-54C5-4F60-BE02-05832C766BF4}" type="presOf" srcId="{01A40E4B-933F-4672-94C9-73D8FD83D35E}" destId="{2F02651D-D5C3-4FD9-97D9-50B45F090EA1}" srcOrd="0" destOrd="0" presId="urn:microsoft.com/office/officeart/2008/layout/LinedList"/>
    <dgm:cxn modelId="{2CA45AC5-26E7-4DEA-8257-E4CC9EC9EB3E}" type="presParOf" srcId="{022F3B99-2D84-4270-A9EE-8687E04B1E37}" destId="{090D320C-3F91-4CED-8D28-299DC718C49D}" srcOrd="0" destOrd="0" presId="urn:microsoft.com/office/officeart/2008/layout/LinedList"/>
    <dgm:cxn modelId="{A4AEDADA-455C-4C6D-BDAE-E0D036EB2CC4}" type="presParOf" srcId="{022F3B99-2D84-4270-A9EE-8687E04B1E37}" destId="{646D329A-A4C1-47EF-AFD6-FC4D304BA18E}" srcOrd="1" destOrd="0" presId="urn:microsoft.com/office/officeart/2008/layout/LinedList"/>
    <dgm:cxn modelId="{A3F9E7F0-DD89-4CD0-BFDA-89863CF89607}" type="presParOf" srcId="{646D329A-A4C1-47EF-AFD6-FC4D304BA18E}" destId="{84E1F573-73CD-474F-8771-EE3CD0FD494C}" srcOrd="0" destOrd="0" presId="urn:microsoft.com/office/officeart/2008/layout/LinedList"/>
    <dgm:cxn modelId="{EE3963F3-A8F9-45A0-85FA-D31DBB63946D}" type="presParOf" srcId="{646D329A-A4C1-47EF-AFD6-FC4D304BA18E}" destId="{5F5C58AB-5179-4B73-83AE-749BF65F6417}" srcOrd="1" destOrd="0" presId="urn:microsoft.com/office/officeart/2008/layout/LinedList"/>
    <dgm:cxn modelId="{1F46C698-87CC-4816-9D5A-1AA62C24F6F1}" type="presParOf" srcId="{022F3B99-2D84-4270-A9EE-8687E04B1E37}" destId="{6DE8CB7B-B324-440B-8A7A-840A0FEFF7E3}" srcOrd="2" destOrd="0" presId="urn:microsoft.com/office/officeart/2008/layout/LinedList"/>
    <dgm:cxn modelId="{2653636A-7E2C-40CD-9080-8AF8BD0A2896}" type="presParOf" srcId="{022F3B99-2D84-4270-A9EE-8687E04B1E37}" destId="{BAD26D46-031E-463F-8AB6-5D24B1C870A9}" srcOrd="3" destOrd="0" presId="urn:microsoft.com/office/officeart/2008/layout/LinedList"/>
    <dgm:cxn modelId="{682E08E2-BAE0-4775-AB95-8DE7565B9CC0}" type="presParOf" srcId="{BAD26D46-031E-463F-8AB6-5D24B1C870A9}" destId="{6BCF96E7-2A31-4483-BE1E-7678C5CE30CE}" srcOrd="0" destOrd="0" presId="urn:microsoft.com/office/officeart/2008/layout/LinedList"/>
    <dgm:cxn modelId="{8F0D9F45-BF74-4205-8342-C3FC3621A72F}" type="presParOf" srcId="{BAD26D46-031E-463F-8AB6-5D24B1C870A9}" destId="{0C736BAA-C3A5-40FF-8FEE-2654EBCDFFB3}" srcOrd="1" destOrd="0" presId="urn:microsoft.com/office/officeart/2008/layout/LinedList"/>
    <dgm:cxn modelId="{7E830EFD-683C-4AD4-83EF-789F05B57437}" type="presParOf" srcId="{022F3B99-2D84-4270-A9EE-8687E04B1E37}" destId="{C6D7E5D3-EFDF-4BF5-9560-A81697DC036E}" srcOrd="4" destOrd="0" presId="urn:microsoft.com/office/officeart/2008/layout/LinedList"/>
    <dgm:cxn modelId="{A7391677-3916-4387-B7EF-0E1004277B89}" type="presParOf" srcId="{022F3B99-2D84-4270-A9EE-8687E04B1E37}" destId="{9D681029-2042-4E69-AE18-11BC5CD1CC63}" srcOrd="5" destOrd="0" presId="urn:microsoft.com/office/officeart/2008/layout/LinedList"/>
    <dgm:cxn modelId="{8178F58E-62DF-48D9-BA53-F602B239D1A9}" type="presParOf" srcId="{9D681029-2042-4E69-AE18-11BC5CD1CC63}" destId="{ECAF4C4E-96FE-4CF8-A22F-01FD087E6850}" srcOrd="0" destOrd="0" presId="urn:microsoft.com/office/officeart/2008/layout/LinedList"/>
    <dgm:cxn modelId="{5545D2FB-527E-42C5-94D2-9863F4CF4893}" type="presParOf" srcId="{9D681029-2042-4E69-AE18-11BC5CD1CC63}" destId="{BE93801A-309E-4849-A084-12DB266D871E}" srcOrd="1" destOrd="0" presId="urn:microsoft.com/office/officeart/2008/layout/LinedList"/>
    <dgm:cxn modelId="{8F5FE41B-1EFF-48E2-95AC-2C8162B57DBB}" type="presParOf" srcId="{022F3B99-2D84-4270-A9EE-8687E04B1E37}" destId="{977B6F8A-F30F-4A92-8A17-FEE4F7F28BEF}" srcOrd="6" destOrd="0" presId="urn:microsoft.com/office/officeart/2008/layout/LinedList"/>
    <dgm:cxn modelId="{6B93A464-1677-4662-8C5F-6A205D236782}" type="presParOf" srcId="{022F3B99-2D84-4270-A9EE-8687E04B1E37}" destId="{F4682DC8-6E18-4BEC-AAF9-CB4D553B95A0}" srcOrd="7" destOrd="0" presId="urn:microsoft.com/office/officeart/2008/layout/LinedList"/>
    <dgm:cxn modelId="{D74F89DC-9544-46F3-A77D-AFC92DCACC02}" type="presParOf" srcId="{F4682DC8-6E18-4BEC-AAF9-CB4D553B95A0}" destId="{2F02651D-D5C3-4FD9-97D9-50B45F090EA1}" srcOrd="0" destOrd="0" presId="urn:microsoft.com/office/officeart/2008/layout/LinedList"/>
    <dgm:cxn modelId="{1D097A39-872A-4558-9108-791B50F40B02}" type="presParOf" srcId="{F4682DC8-6E18-4BEC-AAF9-CB4D553B95A0}" destId="{149332C0-ECA9-4244-ADAC-EC1C7DEB178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329177-35F5-4691-956F-14EEBD1E979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F22DED-E13C-4315-8AD0-8EE63B3A13B0}">
      <dgm:prSet/>
      <dgm:spPr/>
      <dgm:t>
        <a:bodyPr/>
        <a:lstStyle/>
        <a:p>
          <a:pPr algn="just"/>
          <a:r>
            <a:rPr lang="es-MX"/>
            <a:t>Privado: No se puede accesar fuera de una clase.</a:t>
          </a:r>
          <a:endParaRPr lang="en-US"/>
        </a:p>
      </dgm:t>
    </dgm:pt>
    <dgm:pt modelId="{67457CC5-2EEF-49D2-8104-011673C73904}" type="parTrans" cxnId="{481105C4-3B68-4A8D-9957-9849BA7DA739}">
      <dgm:prSet/>
      <dgm:spPr/>
      <dgm:t>
        <a:bodyPr/>
        <a:lstStyle/>
        <a:p>
          <a:endParaRPr lang="en-US"/>
        </a:p>
      </dgm:t>
    </dgm:pt>
    <dgm:pt modelId="{B2AEE4AC-09BF-4610-B675-8220C60331DE}" type="sibTrans" cxnId="{481105C4-3B68-4A8D-9957-9849BA7DA739}">
      <dgm:prSet/>
      <dgm:spPr/>
      <dgm:t>
        <a:bodyPr/>
        <a:lstStyle/>
        <a:p>
          <a:endParaRPr lang="en-US"/>
        </a:p>
      </dgm:t>
    </dgm:pt>
    <dgm:pt modelId="{48FBEEC7-A664-4BDA-981D-5510888D3DE5}">
      <dgm:prSet/>
      <dgm:spPr/>
      <dgm:t>
        <a:bodyPr/>
        <a:lstStyle/>
        <a:p>
          <a:pPr algn="just"/>
          <a:r>
            <a:rPr lang="es-MX"/>
            <a:t>Publico: Se puede acceder desde cualquier clase desde cualquier paquete.</a:t>
          </a:r>
          <a:endParaRPr lang="en-US"/>
        </a:p>
      </dgm:t>
    </dgm:pt>
    <dgm:pt modelId="{BF4ADBB2-2441-49A7-B86D-815DA4F94F34}" type="parTrans" cxnId="{11BDF0AA-2AD1-4E02-81AB-028D1AA34D48}">
      <dgm:prSet/>
      <dgm:spPr/>
      <dgm:t>
        <a:bodyPr/>
        <a:lstStyle/>
        <a:p>
          <a:endParaRPr lang="en-US"/>
        </a:p>
      </dgm:t>
    </dgm:pt>
    <dgm:pt modelId="{C1B1D819-31BC-4EF5-8C02-DE64CD5923AC}" type="sibTrans" cxnId="{11BDF0AA-2AD1-4E02-81AB-028D1AA34D48}">
      <dgm:prSet/>
      <dgm:spPr/>
      <dgm:t>
        <a:bodyPr/>
        <a:lstStyle/>
        <a:p>
          <a:endParaRPr lang="en-US"/>
        </a:p>
      </dgm:t>
    </dgm:pt>
    <dgm:pt modelId="{8714BCB5-4FA4-4C6A-9DAF-855097764E10}">
      <dgm:prSet/>
      <dgm:spPr/>
      <dgm:t>
        <a:bodyPr/>
        <a:lstStyle/>
        <a:p>
          <a:pPr algn="just"/>
          <a:r>
            <a:rPr lang="es-MX" dirty="0"/>
            <a:t>Protegido: Se puede acceder desde cualquier clase del mismo paquete.</a:t>
          </a:r>
          <a:endParaRPr lang="en-US" dirty="0"/>
        </a:p>
      </dgm:t>
    </dgm:pt>
    <dgm:pt modelId="{C750BA1B-CB44-49BE-8A10-D8114C98E187}" type="parTrans" cxnId="{1CCB6FB3-EF59-4F4B-BF64-AA8511E403BF}">
      <dgm:prSet/>
      <dgm:spPr/>
      <dgm:t>
        <a:bodyPr/>
        <a:lstStyle/>
        <a:p>
          <a:endParaRPr lang="en-US"/>
        </a:p>
      </dgm:t>
    </dgm:pt>
    <dgm:pt modelId="{6F5EB0B2-AD1A-4A44-B8D4-F7D1805B084D}" type="sibTrans" cxnId="{1CCB6FB3-EF59-4F4B-BF64-AA8511E403BF}">
      <dgm:prSet/>
      <dgm:spPr/>
      <dgm:t>
        <a:bodyPr/>
        <a:lstStyle/>
        <a:p>
          <a:endParaRPr lang="en-US"/>
        </a:p>
      </dgm:t>
    </dgm:pt>
    <dgm:pt modelId="{B59B34C2-CC4B-433A-B804-5FCA04A4DE95}" type="pres">
      <dgm:prSet presAssocID="{AF329177-35F5-4691-956F-14EEBD1E9798}" presName="root" presStyleCnt="0">
        <dgm:presLayoutVars>
          <dgm:dir/>
          <dgm:resizeHandles val="exact"/>
        </dgm:presLayoutVars>
      </dgm:prSet>
      <dgm:spPr/>
    </dgm:pt>
    <dgm:pt modelId="{17F6B9C2-3B6A-49A2-BCAB-0A2C904E7D27}" type="pres">
      <dgm:prSet presAssocID="{A9F22DED-E13C-4315-8AD0-8EE63B3A13B0}" presName="compNode" presStyleCnt="0"/>
      <dgm:spPr/>
    </dgm:pt>
    <dgm:pt modelId="{65F30BBF-D4A7-45A5-BDB3-94318998237F}" type="pres">
      <dgm:prSet presAssocID="{A9F22DED-E13C-4315-8AD0-8EE63B3A13B0}" presName="bgRect" presStyleLbl="bgShp" presStyleIdx="0" presStyleCnt="3"/>
      <dgm:spPr/>
    </dgm:pt>
    <dgm:pt modelId="{D3C51452-68B6-40B9-9AD7-BC41449F1034}" type="pres">
      <dgm:prSet presAssocID="{A9F22DED-E13C-4315-8AD0-8EE63B3A13B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vidente"/>
        </a:ext>
      </dgm:extLst>
    </dgm:pt>
    <dgm:pt modelId="{2D7A1FFF-0112-48CA-81E7-90E173DAEB41}" type="pres">
      <dgm:prSet presAssocID="{A9F22DED-E13C-4315-8AD0-8EE63B3A13B0}" presName="spaceRect" presStyleCnt="0"/>
      <dgm:spPr/>
    </dgm:pt>
    <dgm:pt modelId="{90D0A9C5-4C95-4963-8D9E-B17B4643CE14}" type="pres">
      <dgm:prSet presAssocID="{A9F22DED-E13C-4315-8AD0-8EE63B3A13B0}" presName="parTx" presStyleLbl="revTx" presStyleIdx="0" presStyleCnt="3">
        <dgm:presLayoutVars>
          <dgm:chMax val="0"/>
          <dgm:chPref val="0"/>
        </dgm:presLayoutVars>
      </dgm:prSet>
      <dgm:spPr/>
    </dgm:pt>
    <dgm:pt modelId="{FD495EB6-FEFB-44A6-B24A-A19E0D288BE9}" type="pres">
      <dgm:prSet presAssocID="{B2AEE4AC-09BF-4610-B675-8220C60331DE}" presName="sibTrans" presStyleCnt="0"/>
      <dgm:spPr/>
    </dgm:pt>
    <dgm:pt modelId="{DAD09695-1B43-40B2-95E5-D89654A1AD8E}" type="pres">
      <dgm:prSet presAssocID="{48FBEEC7-A664-4BDA-981D-5510888D3DE5}" presName="compNode" presStyleCnt="0"/>
      <dgm:spPr/>
    </dgm:pt>
    <dgm:pt modelId="{1AE9955D-A498-4293-B238-A36DFFC587B7}" type="pres">
      <dgm:prSet presAssocID="{48FBEEC7-A664-4BDA-981D-5510888D3DE5}" presName="bgRect" presStyleLbl="bgShp" presStyleIdx="1" presStyleCnt="3"/>
      <dgm:spPr/>
    </dgm:pt>
    <dgm:pt modelId="{12BFB89D-CDD1-4D11-9B4D-ECCCC213ABA2}" type="pres">
      <dgm:prSet presAssocID="{48FBEEC7-A664-4BDA-981D-5510888D3DE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ja"/>
        </a:ext>
      </dgm:extLst>
    </dgm:pt>
    <dgm:pt modelId="{0947D9DD-6BCB-400C-8E10-3759BC9CB070}" type="pres">
      <dgm:prSet presAssocID="{48FBEEC7-A664-4BDA-981D-5510888D3DE5}" presName="spaceRect" presStyleCnt="0"/>
      <dgm:spPr/>
    </dgm:pt>
    <dgm:pt modelId="{0F24FF70-9B97-4FBE-80D7-3B8C8329128F}" type="pres">
      <dgm:prSet presAssocID="{48FBEEC7-A664-4BDA-981D-5510888D3DE5}" presName="parTx" presStyleLbl="revTx" presStyleIdx="1" presStyleCnt="3">
        <dgm:presLayoutVars>
          <dgm:chMax val="0"/>
          <dgm:chPref val="0"/>
        </dgm:presLayoutVars>
      </dgm:prSet>
      <dgm:spPr/>
    </dgm:pt>
    <dgm:pt modelId="{5972448D-3125-47DD-BA0E-82F1AE6E6244}" type="pres">
      <dgm:prSet presAssocID="{C1B1D819-31BC-4EF5-8C02-DE64CD5923AC}" presName="sibTrans" presStyleCnt="0"/>
      <dgm:spPr/>
    </dgm:pt>
    <dgm:pt modelId="{393531A6-D95A-435D-BC15-BD9F47E47004}" type="pres">
      <dgm:prSet presAssocID="{8714BCB5-4FA4-4C6A-9DAF-855097764E10}" presName="compNode" presStyleCnt="0"/>
      <dgm:spPr/>
    </dgm:pt>
    <dgm:pt modelId="{F8FA7645-F42D-4B11-A812-6FE7C14E5EE6}" type="pres">
      <dgm:prSet presAssocID="{8714BCB5-4FA4-4C6A-9DAF-855097764E10}" presName="bgRect" presStyleLbl="bgShp" presStyleIdx="2" presStyleCnt="3"/>
      <dgm:spPr/>
    </dgm:pt>
    <dgm:pt modelId="{FACA7F80-83C4-49BE-AAB6-EFBC5A34376B}" type="pres">
      <dgm:prSet presAssocID="{8714BCB5-4FA4-4C6A-9DAF-855097764E1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x trolley"/>
        </a:ext>
      </dgm:extLst>
    </dgm:pt>
    <dgm:pt modelId="{C43BD3C0-93EE-465F-8C74-6D282B89A312}" type="pres">
      <dgm:prSet presAssocID="{8714BCB5-4FA4-4C6A-9DAF-855097764E10}" presName="spaceRect" presStyleCnt="0"/>
      <dgm:spPr/>
    </dgm:pt>
    <dgm:pt modelId="{4880DE31-DAB6-4BF3-AFAC-2BAA9B5D3033}" type="pres">
      <dgm:prSet presAssocID="{8714BCB5-4FA4-4C6A-9DAF-855097764E10}" presName="parTx" presStyleLbl="revTx" presStyleIdx="2" presStyleCnt="3">
        <dgm:presLayoutVars>
          <dgm:chMax val="0"/>
          <dgm:chPref val="0"/>
        </dgm:presLayoutVars>
      </dgm:prSet>
      <dgm:spPr/>
    </dgm:pt>
  </dgm:ptLst>
  <dgm:cxnLst>
    <dgm:cxn modelId="{71978008-2E41-4511-A202-4D047A3A7CA4}" type="presOf" srcId="{8714BCB5-4FA4-4C6A-9DAF-855097764E10}" destId="{4880DE31-DAB6-4BF3-AFAC-2BAA9B5D3033}" srcOrd="0" destOrd="0" presId="urn:microsoft.com/office/officeart/2018/2/layout/IconVerticalSolidList"/>
    <dgm:cxn modelId="{81CD072C-4A29-4507-9B71-1D4A264C6348}" type="presOf" srcId="{AF329177-35F5-4691-956F-14EEBD1E9798}" destId="{B59B34C2-CC4B-433A-B804-5FCA04A4DE95}" srcOrd="0" destOrd="0" presId="urn:microsoft.com/office/officeart/2018/2/layout/IconVerticalSolidList"/>
    <dgm:cxn modelId="{0DF19D7A-2CDA-4B6B-99B5-34DC92185EFD}" type="presOf" srcId="{A9F22DED-E13C-4315-8AD0-8EE63B3A13B0}" destId="{90D0A9C5-4C95-4963-8D9E-B17B4643CE14}" srcOrd="0" destOrd="0" presId="urn:microsoft.com/office/officeart/2018/2/layout/IconVerticalSolidList"/>
    <dgm:cxn modelId="{11BDF0AA-2AD1-4E02-81AB-028D1AA34D48}" srcId="{AF329177-35F5-4691-956F-14EEBD1E9798}" destId="{48FBEEC7-A664-4BDA-981D-5510888D3DE5}" srcOrd="1" destOrd="0" parTransId="{BF4ADBB2-2441-49A7-B86D-815DA4F94F34}" sibTransId="{C1B1D819-31BC-4EF5-8C02-DE64CD5923AC}"/>
    <dgm:cxn modelId="{1CCB6FB3-EF59-4F4B-BF64-AA8511E403BF}" srcId="{AF329177-35F5-4691-956F-14EEBD1E9798}" destId="{8714BCB5-4FA4-4C6A-9DAF-855097764E10}" srcOrd="2" destOrd="0" parTransId="{C750BA1B-CB44-49BE-8A10-D8114C98E187}" sibTransId="{6F5EB0B2-AD1A-4A44-B8D4-F7D1805B084D}"/>
    <dgm:cxn modelId="{5B5763B9-C2C0-4C61-8A88-FB2958E6C0CA}" type="presOf" srcId="{48FBEEC7-A664-4BDA-981D-5510888D3DE5}" destId="{0F24FF70-9B97-4FBE-80D7-3B8C8329128F}" srcOrd="0" destOrd="0" presId="urn:microsoft.com/office/officeart/2018/2/layout/IconVerticalSolidList"/>
    <dgm:cxn modelId="{481105C4-3B68-4A8D-9957-9849BA7DA739}" srcId="{AF329177-35F5-4691-956F-14EEBD1E9798}" destId="{A9F22DED-E13C-4315-8AD0-8EE63B3A13B0}" srcOrd="0" destOrd="0" parTransId="{67457CC5-2EEF-49D2-8104-011673C73904}" sibTransId="{B2AEE4AC-09BF-4610-B675-8220C60331DE}"/>
    <dgm:cxn modelId="{64684D5C-8408-4666-A8CE-5E394A456563}" type="presParOf" srcId="{B59B34C2-CC4B-433A-B804-5FCA04A4DE95}" destId="{17F6B9C2-3B6A-49A2-BCAB-0A2C904E7D27}" srcOrd="0" destOrd="0" presId="urn:microsoft.com/office/officeart/2018/2/layout/IconVerticalSolidList"/>
    <dgm:cxn modelId="{1165A0B5-2AE8-4FAD-AE1D-9A3358C2FC0B}" type="presParOf" srcId="{17F6B9C2-3B6A-49A2-BCAB-0A2C904E7D27}" destId="{65F30BBF-D4A7-45A5-BDB3-94318998237F}" srcOrd="0" destOrd="0" presId="urn:microsoft.com/office/officeart/2018/2/layout/IconVerticalSolidList"/>
    <dgm:cxn modelId="{7371E01D-619D-44BB-A191-3DFCE1EADC25}" type="presParOf" srcId="{17F6B9C2-3B6A-49A2-BCAB-0A2C904E7D27}" destId="{D3C51452-68B6-40B9-9AD7-BC41449F1034}" srcOrd="1" destOrd="0" presId="urn:microsoft.com/office/officeart/2018/2/layout/IconVerticalSolidList"/>
    <dgm:cxn modelId="{DF53E2BF-8F88-4C74-9F31-650FE988AEA4}" type="presParOf" srcId="{17F6B9C2-3B6A-49A2-BCAB-0A2C904E7D27}" destId="{2D7A1FFF-0112-48CA-81E7-90E173DAEB41}" srcOrd="2" destOrd="0" presId="urn:microsoft.com/office/officeart/2018/2/layout/IconVerticalSolidList"/>
    <dgm:cxn modelId="{78EC1122-2BD7-453E-9628-C1FC514B0939}" type="presParOf" srcId="{17F6B9C2-3B6A-49A2-BCAB-0A2C904E7D27}" destId="{90D0A9C5-4C95-4963-8D9E-B17B4643CE14}" srcOrd="3" destOrd="0" presId="urn:microsoft.com/office/officeart/2018/2/layout/IconVerticalSolidList"/>
    <dgm:cxn modelId="{77ADFE2E-B452-4FF4-B513-280220ED8BDB}" type="presParOf" srcId="{B59B34C2-CC4B-433A-B804-5FCA04A4DE95}" destId="{FD495EB6-FEFB-44A6-B24A-A19E0D288BE9}" srcOrd="1" destOrd="0" presId="urn:microsoft.com/office/officeart/2018/2/layout/IconVerticalSolidList"/>
    <dgm:cxn modelId="{0EBA0312-414D-4E0A-9027-5E930B6F1CBE}" type="presParOf" srcId="{B59B34C2-CC4B-433A-B804-5FCA04A4DE95}" destId="{DAD09695-1B43-40B2-95E5-D89654A1AD8E}" srcOrd="2" destOrd="0" presId="urn:microsoft.com/office/officeart/2018/2/layout/IconVerticalSolidList"/>
    <dgm:cxn modelId="{6DCDA870-06D0-41AA-B26F-54A4A3E5FD3A}" type="presParOf" srcId="{DAD09695-1B43-40B2-95E5-D89654A1AD8E}" destId="{1AE9955D-A498-4293-B238-A36DFFC587B7}" srcOrd="0" destOrd="0" presId="urn:microsoft.com/office/officeart/2018/2/layout/IconVerticalSolidList"/>
    <dgm:cxn modelId="{39163BC4-9C2A-4459-8FE9-9BB3E7C1317A}" type="presParOf" srcId="{DAD09695-1B43-40B2-95E5-D89654A1AD8E}" destId="{12BFB89D-CDD1-4D11-9B4D-ECCCC213ABA2}" srcOrd="1" destOrd="0" presId="urn:microsoft.com/office/officeart/2018/2/layout/IconVerticalSolidList"/>
    <dgm:cxn modelId="{4402331F-55FE-48E3-9A1B-4F457117F6E4}" type="presParOf" srcId="{DAD09695-1B43-40B2-95E5-D89654A1AD8E}" destId="{0947D9DD-6BCB-400C-8E10-3759BC9CB070}" srcOrd="2" destOrd="0" presId="urn:microsoft.com/office/officeart/2018/2/layout/IconVerticalSolidList"/>
    <dgm:cxn modelId="{F436FEA2-5797-4530-8CFB-55F5012B74C2}" type="presParOf" srcId="{DAD09695-1B43-40B2-95E5-D89654A1AD8E}" destId="{0F24FF70-9B97-4FBE-80D7-3B8C8329128F}" srcOrd="3" destOrd="0" presId="urn:microsoft.com/office/officeart/2018/2/layout/IconVerticalSolidList"/>
    <dgm:cxn modelId="{67449205-B6A1-4621-AF3A-0EAA421CEC95}" type="presParOf" srcId="{B59B34C2-CC4B-433A-B804-5FCA04A4DE95}" destId="{5972448D-3125-47DD-BA0E-82F1AE6E6244}" srcOrd="3" destOrd="0" presId="urn:microsoft.com/office/officeart/2018/2/layout/IconVerticalSolidList"/>
    <dgm:cxn modelId="{8385CA2C-130B-46E2-883A-5F99DAE54D80}" type="presParOf" srcId="{B59B34C2-CC4B-433A-B804-5FCA04A4DE95}" destId="{393531A6-D95A-435D-BC15-BD9F47E47004}" srcOrd="4" destOrd="0" presId="urn:microsoft.com/office/officeart/2018/2/layout/IconVerticalSolidList"/>
    <dgm:cxn modelId="{34B699F5-54C2-434B-A3A1-306F39D9985B}" type="presParOf" srcId="{393531A6-D95A-435D-BC15-BD9F47E47004}" destId="{F8FA7645-F42D-4B11-A812-6FE7C14E5EE6}" srcOrd="0" destOrd="0" presId="urn:microsoft.com/office/officeart/2018/2/layout/IconVerticalSolidList"/>
    <dgm:cxn modelId="{64E003C4-0BB6-4C5B-97E0-C81615C92440}" type="presParOf" srcId="{393531A6-D95A-435D-BC15-BD9F47E47004}" destId="{FACA7F80-83C4-49BE-AAB6-EFBC5A34376B}" srcOrd="1" destOrd="0" presId="urn:microsoft.com/office/officeart/2018/2/layout/IconVerticalSolidList"/>
    <dgm:cxn modelId="{768F8159-6625-4D8B-9487-00CEB7D3DFEC}" type="presParOf" srcId="{393531A6-D95A-435D-BC15-BD9F47E47004}" destId="{C43BD3C0-93EE-465F-8C74-6D282B89A312}" srcOrd="2" destOrd="0" presId="urn:microsoft.com/office/officeart/2018/2/layout/IconVerticalSolidList"/>
    <dgm:cxn modelId="{D9726BC1-4C01-4A84-B558-6DB3BB7ACA15}" type="presParOf" srcId="{393531A6-D95A-435D-BC15-BD9F47E47004}" destId="{4880DE31-DAB6-4BF3-AFAC-2BAA9B5D30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D320C-3F91-4CED-8D28-299DC718C49D}">
      <dsp:nvSpPr>
        <dsp:cNvPr id="0" name=""/>
        <dsp:cNvSpPr/>
      </dsp:nvSpPr>
      <dsp:spPr>
        <a:xfrm>
          <a:off x="0" y="0"/>
          <a:ext cx="610913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1F573-73CD-474F-8771-EE3CD0FD494C}">
      <dsp:nvSpPr>
        <dsp:cNvPr id="0" name=""/>
        <dsp:cNvSpPr/>
      </dsp:nvSpPr>
      <dsp:spPr>
        <a:xfrm>
          <a:off x="0" y="0"/>
          <a:ext cx="6109130" cy="102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lang="es-MX" sz="4700" kern="1200"/>
            <a:t>Abstracción</a:t>
          </a:r>
          <a:endParaRPr lang="en-US" sz="4700" kern="1200"/>
        </a:p>
      </dsp:txBody>
      <dsp:txXfrm>
        <a:off x="0" y="0"/>
        <a:ext cx="6109130" cy="1020153"/>
      </dsp:txXfrm>
    </dsp:sp>
    <dsp:sp modelId="{6DE8CB7B-B324-440B-8A7A-840A0FEFF7E3}">
      <dsp:nvSpPr>
        <dsp:cNvPr id="0" name=""/>
        <dsp:cNvSpPr/>
      </dsp:nvSpPr>
      <dsp:spPr>
        <a:xfrm>
          <a:off x="0" y="1020153"/>
          <a:ext cx="610913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CF96E7-2A31-4483-BE1E-7678C5CE30CE}">
      <dsp:nvSpPr>
        <dsp:cNvPr id="0" name=""/>
        <dsp:cNvSpPr/>
      </dsp:nvSpPr>
      <dsp:spPr>
        <a:xfrm>
          <a:off x="0" y="1020153"/>
          <a:ext cx="6109130" cy="102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lang="es-MX" sz="4700" kern="1200"/>
            <a:t>Encapsulamiento</a:t>
          </a:r>
          <a:endParaRPr lang="en-US" sz="4700" kern="1200"/>
        </a:p>
      </dsp:txBody>
      <dsp:txXfrm>
        <a:off x="0" y="1020153"/>
        <a:ext cx="6109130" cy="1020153"/>
      </dsp:txXfrm>
    </dsp:sp>
    <dsp:sp modelId="{C6D7E5D3-EFDF-4BF5-9560-A81697DC036E}">
      <dsp:nvSpPr>
        <dsp:cNvPr id="0" name=""/>
        <dsp:cNvSpPr/>
      </dsp:nvSpPr>
      <dsp:spPr>
        <a:xfrm>
          <a:off x="0" y="2040306"/>
          <a:ext cx="610913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AF4C4E-96FE-4CF8-A22F-01FD087E6850}">
      <dsp:nvSpPr>
        <dsp:cNvPr id="0" name=""/>
        <dsp:cNvSpPr/>
      </dsp:nvSpPr>
      <dsp:spPr>
        <a:xfrm>
          <a:off x="0" y="2040306"/>
          <a:ext cx="6109130" cy="102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lang="es-MX" sz="4700" kern="1200"/>
            <a:t>Polimorfismo</a:t>
          </a:r>
          <a:endParaRPr lang="en-US" sz="4700" kern="1200"/>
        </a:p>
      </dsp:txBody>
      <dsp:txXfrm>
        <a:off x="0" y="2040306"/>
        <a:ext cx="6109130" cy="1020153"/>
      </dsp:txXfrm>
    </dsp:sp>
    <dsp:sp modelId="{977B6F8A-F30F-4A92-8A17-FEE4F7F28BEF}">
      <dsp:nvSpPr>
        <dsp:cNvPr id="0" name=""/>
        <dsp:cNvSpPr/>
      </dsp:nvSpPr>
      <dsp:spPr>
        <a:xfrm>
          <a:off x="0" y="3060459"/>
          <a:ext cx="610913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02651D-D5C3-4FD9-97D9-50B45F090EA1}">
      <dsp:nvSpPr>
        <dsp:cNvPr id="0" name=""/>
        <dsp:cNvSpPr/>
      </dsp:nvSpPr>
      <dsp:spPr>
        <a:xfrm>
          <a:off x="0" y="3060459"/>
          <a:ext cx="6109130" cy="102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lang="es-MX" sz="4700" kern="1200"/>
            <a:t>Herencia</a:t>
          </a:r>
          <a:endParaRPr lang="en-US" sz="4700" kern="1200"/>
        </a:p>
      </dsp:txBody>
      <dsp:txXfrm>
        <a:off x="0" y="3060459"/>
        <a:ext cx="6109130" cy="1020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30BBF-D4A7-45A5-BDB3-94318998237F}">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C51452-68B6-40B9-9AD7-BC41449F1034}">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D0A9C5-4C95-4963-8D9E-B17B4643CE14}">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just" defTabSz="1066800">
            <a:lnSpc>
              <a:spcPct val="90000"/>
            </a:lnSpc>
            <a:spcBef>
              <a:spcPct val="0"/>
            </a:spcBef>
            <a:spcAft>
              <a:spcPct val="35000"/>
            </a:spcAft>
            <a:buNone/>
          </a:pPr>
          <a:r>
            <a:rPr lang="es-MX" sz="2400" kern="1200"/>
            <a:t>Privado: No se puede accesar fuera de una clase.</a:t>
          </a:r>
          <a:endParaRPr lang="en-US" sz="2400" kern="1200"/>
        </a:p>
      </dsp:txBody>
      <dsp:txXfrm>
        <a:off x="1814259" y="671"/>
        <a:ext cx="4357688" cy="1570787"/>
      </dsp:txXfrm>
    </dsp:sp>
    <dsp:sp modelId="{1AE9955D-A498-4293-B238-A36DFFC587B7}">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BFB89D-CDD1-4D11-9B4D-ECCCC213ABA2}">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24FF70-9B97-4FBE-80D7-3B8C8329128F}">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just" defTabSz="1066800">
            <a:lnSpc>
              <a:spcPct val="90000"/>
            </a:lnSpc>
            <a:spcBef>
              <a:spcPct val="0"/>
            </a:spcBef>
            <a:spcAft>
              <a:spcPct val="35000"/>
            </a:spcAft>
            <a:buNone/>
          </a:pPr>
          <a:r>
            <a:rPr lang="es-MX" sz="2400" kern="1200"/>
            <a:t>Publico: Se puede acceder desde cualquier clase desde cualquier paquete.</a:t>
          </a:r>
          <a:endParaRPr lang="en-US" sz="2400" kern="1200"/>
        </a:p>
      </dsp:txBody>
      <dsp:txXfrm>
        <a:off x="1814259" y="1964156"/>
        <a:ext cx="4357688" cy="1570787"/>
      </dsp:txXfrm>
    </dsp:sp>
    <dsp:sp modelId="{F8FA7645-F42D-4B11-A812-6FE7C14E5EE6}">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CA7F80-83C4-49BE-AAB6-EFBC5A34376B}">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80DE31-DAB6-4BF3-AFAC-2BAA9B5D3033}">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just" defTabSz="1066800">
            <a:lnSpc>
              <a:spcPct val="90000"/>
            </a:lnSpc>
            <a:spcBef>
              <a:spcPct val="0"/>
            </a:spcBef>
            <a:spcAft>
              <a:spcPct val="35000"/>
            </a:spcAft>
            <a:buNone/>
          </a:pPr>
          <a:r>
            <a:rPr lang="es-MX" sz="2400" kern="1200" dirty="0"/>
            <a:t>Protegido: Se puede acceder desde cualquier clase del mismo paquete.</a:t>
          </a:r>
          <a:endParaRPr lang="en-US" sz="2400" kern="1200" dirty="0"/>
        </a:p>
      </dsp:txBody>
      <dsp:txXfrm>
        <a:off x="1814259" y="3927640"/>
        <a:ext cx="4357688" cy="157078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C43946B-3F5A-C916-B62B-8D5938EA8285}"/>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2389365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AE15260-1C0B-A965-3114-D7C40D18BDF4}"/>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5" name="Footer Placeholder 4">
            <a:extLst>
              <a:ext uri="{FF2B5EF4-FFF2-40B4-BE49-F238E27FC236}">
                <a16:creationId xmlns:a16="http://schemas.microsoft.com/office/drawing/2014/main" id="{19AAF4D1-0334-3F24-69B4-06C7BD742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BA76D-3B8B-429D-9B32-54D6A6297C0A}"/>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1063513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F3052-6EE8-979F-04FB-1B8DF81F29B9}"/>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1770581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23BD680-4E7A-5155-3CAE-6BD44EE8BA83}"/>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1957346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38F7E4-7D9E-4736-3269-4F0C46996125}"/>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788395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6E055BD-4154-B9D1-0B5B-B1E3A06B6B31}"/>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2634130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2C0AD-76F4-FCE4-2717-0A9AA4351B6D}"/>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3229527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BFED3-7CB3-1B8B-9504-13A121CAD015}"/>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1195317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0DB38-7CB9-2140-BC21-6D2E7DD0B6B5}"/>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2028718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0940D3-6996-1C08-F1AF-87C354657912}"/>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2206018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E314B3C-96CD-071C-C2AD-2C7E04F819C0}"/>
              </a:ext>
            </a:extLst>
          </p:cNvPr>
          <p:cNvSpPr>
            <a:spLocks noGrp="1"/>
          </p:cNvSpPr>
          <p:nvPr>
            <p:ph type="dt" sz="half" idx="10"/>
          </p:nvPr>
        </p:nvSpPr>
        <p:spPr/>
        <p:txBody>
          <a:bodyPr/>
          <a:lstStyle/>
          <a:p>
            <a:fld id="{1E351CED-465B-40B5-ADCE-957C918F227B}" type="datetimeFigureOut">
              <a:rPr lang="en-US" smtClean="0"/>
              <a:t>5/25/2025</a:t>
            </a:fld>
            <a:endParaRPr lang="en-US"/>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‹Nº›</a:t>
            </a:fld>
            <a:endParaRPr lang="en-US"/>
          </a:p>
        </p:txBody>
      </p:sp>
    </p:spTree>
    <p:extLst>
      <p:ext uri="{BB962C8B-B14F-4D97-AF65-F5344CB8AC3E}">
        <p14:creationId xmlns:p14="http://schemas.microsoft.com/office/powerpoint/2010/main" val="3918755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804F519-BA47-2B81-CC1C-7E1F119EC69E}"/>
              </a:ext>
            </a:extLst>
          </p:cNvPr>
          <p:cNvSpPr>
            <a:spLocks noGrp="1"/>
          </p:cNvSpPr>
          <p:nvPr>
            <p:ph type="dt" sz="half" idx="2"/>
          </p:nvPr>
        </p:nvSpPr>
        <p:spPr>
          <a:xfrm rot="5400000">
            <a:off x="10477379" y="4629744"/>
            <a:ext cx="2653508" cy="365125"/>
          </a:xfrm>
          <a:prstGeom prst="rect">
            <a:avLst/>
          </a:prstGeom>
        </p:spPr>
        <p:txBody>
          <a:bodyPr vert="horz" lIns="91440" tIns="45720" rIns="91440" bIns="45720" rtlCol="0" anchor="ctr"/>
          <a:lstStyle>
            <a:lvl1pPr algn="r">
              <a:defRPr sz="900">
                <a:solidFill>
                  <a:schemeClr val="tx1"/>
                </a:solidFill>
              </a:defRPr>
            </a:lvl1pPr>
          </a:lstStyle>
          <a:p>
            <a:fld id="{1E351CED-465B-40B5-ADCE-957C918F227B}" type="datetimeFigureOut">
              <a:rPr lang="en-US" smtClean="0"/>
              <a:t>5/25/2025</a:t>
            </a:fld>
            <a:endParaRPr lang="en-US"/>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‹Nº›</a:t>
            </a:fld>
            <a:endParaRPr lang="en-US"/>
          </a:p>
        </p:txBody>
      </p:sp>
    </p:spTree>
    <p:extLst>
      <p:ext uri="{BB962C8B-B14F-4D97-AF65-F5344CB8AC3E}">
        <p14:creationId xmlns:p14="http://schemas.microsoft.com/office/powerpoint/2010/main" val="314991590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60873" y="0"/>
            <a:ext cx="3831127" cy="1141187"/>
          </a:xfrm>
          <a:custGeom>
            <a:avLst/>
            <a:gdLst/>
            <a:ahLst/>
            <a:cxnLst/>
            <a:rect l="l" t="t" r="r" b="b"/>
            <a:pathLst>
              <a:path w="5746691" h="1711780">
                <a:moveTo>
                  <a:pt x="0" y="0"/>
                </a:moveTo>
                <a:lnTo>
                  <a:pt x="5746691" y="0"/>
                </a:lnTo>
                <a:lnTo>
                  <a:pt x="5746691" y="1711780"/>
                </a:lnTo>
                <a:lnTo>
                  <a:pt x="0" y="1711780"/>
                </a:lnTo>
                <a:lnTo>
                  <a:pt x="0" y="0"/>
                </a:lnTo>
                <a:close/>
              </a:path>
            </a:pathLst>
          </a:custGeom>
          <a:blipFill>
            <a:blip r:embed="rId2"/>
            <a:stretch>
              <a:fillRect/>
            </a:stretch>
          </a:blipFill>
        </p:spPr>
        <p:txBody>
          <a:bodyPr/>
          <a:lstStyle/>
          <a:p>
            <a:endParaRPr lang="es-GT" sz="1200"/>
          </a:p>
        </p:txBody>
      </p:sp>
      <p:sp>
        <p:nvSpPr>
          <p:cNvPr id="3" name="TextBox 3"/>
          <p:cNvSpPr txBox="1"/>
          <p:nvPr/>
        </p:nvSpPr>
        <p:spPr>
          <a:xfrm>
            <a:off x="708869" y="5246417"/>
            <a:ext cx="10628944" cy="537840"/>
          </a:xfrm>
          <a:prstGeom prst="rect">
            <a:avLst/>
          </a:prstGeom>
        </p:spPr>
        <p:txBody>
          <a:bodyPr lIns="0" tIns="0" rIns="0" bIns="0" rtlCol="0" anchor="t">
            <a:spAutoFit/>
          </a:bodyPr>
          <a:lstStyle/>
          <a:p>
            <a:pPr>
              <a:lnSpc>
                <a:spcPts val="4575"/>
              </a:lnSpc>
            </a:pPr>
            <a:r>
              <a:rPr lang="en-US" sz="3267" b="1">
                <a:solidFill>
                  <a:srgbClr val="131416"/>
                </a:solidFill>
                <a:latin typeface="Open Sans Bold"/>
                <a:ea typeface="Open Sans Bold"/>
                <a:cs typeface="Open Sans Bold"/>
                <a:sym typeface="Open Sans Bold"/>
              </a:rPr>
              <a:t>Introducción a la Programación y Computación 1</a:t>
            </a:r>
          </a:p>
        </p:txBody>
      </p:sp>
      <p:sp>
        <p:nvSpPr>
          <p:cNvPr id="4" name="TextBox 4"/>
          <p:cNvSpPr txBox="1"/>
          <p:nvPr/>
        </p:nvSpPr>
        <p:spPr>
          <a:xfrm>
            <a:off x="220145" y="1763819"/>
            <a:ext cx="11751711" cy="1006238"/>
          </a:xfrm>
          <a:prstGeom prst="rect">
            <a:avLst/>
          </a:prstGeom>
        </p:spPr>
        <p:txBody>
          <a:bodyPr lIns="0" tIns="0" rIns="0" bIns="0" rtlCol="0" anchor="t">
            <a:spAutoFit/>
          </a:bodyPr>
          <a:lstStyle/>
          <a:p>
            <a:pPr algn="ctr">
              <a:lnSpc>
                <a:spcPts val="8587"/>
              </a:lnSpc>
            </a:pPr>
            <a:r>
              <a:rPr lang="es-ES" sz="6134" b="1" dirty="0">
                <a:solidFill>
                  <a:srgbClr val="131416"/>
                </a:solidFill>
                <a:latin typeface="Open Sans Bold"/>
                <a:ea typeface="Open Sans Bold"/>
                <a:cs typeface="Open Sans Bold"/>
                <a:sym typeface="Open Sans Bold"/>
              </a:rPr>
              <a:t>Conceptos y Pilares de POO</a:t>
            </a:r>
            <a:endParaRPr lang="en-US" sz="6134" b="1" dirty="0">
              <a:solidFill>
                <a:srgbClr val="131416"/>
              </a:solidFill>
              <a:latin typeface="Open Sans Bold"/>
              <a:ea typeface="Open Sans Bold"/>
              <a:cs typeface="Open Sans Bold"/>
              <a:sym typeface="Open Sans Bold"/>
            </a:endParaRPr>
          </a:p>
        </p:txBody>
      </p:sp>
      <p:sp>
        <p:nvSpPr>
          <p:cNvPr id="5" name="TextBox 5"/>
          <p:cNvSpPr txBox="1"/>
          <p:nvPr/>
        </p:nvSpPr>
        <p:spPr>
          <a:xfrm>
            <a:off x="708869" y="5830168"/>
            <a:ext cx="7652004" cy="276358"/>
          </a:xfrm>
          <a:prstGeom prst="rect">
            <a:avLst/>
          </a:prstGeom>
        </p:spPr>
        <p:txBody>
          <a:bodyPr wrap="square" lIns="0" tIns="0" rIns="0" bIns="0" rtlCol="0" anchor="t">
            <a:spAutoFit/>
          </a:bodyPr>
          <a:lstStyle/>
          <a:p>
            <a:pPr>
              <a:lnSpc>
                <a:spcPts val="2333"/>
              </a:lnSpc>
            </a:pPr>
            <a:r>
              <a:rPr lang="en-US" sz="1666" b="1" dirty="0">
                <a:solidFill>
                  <a:srgbClr val="131416"/>
                </a:solidFill>
                <a:latin typeface="Open Sans Bold"/>
                <a:ea typeface="Open Sans Bold"/>
                <a:cs typeface="Open Sans Bold"/>
                <a:sym typeface="Open Sans Bold"/>
              </a:rPr>
              <a:t>Escuela de Ingenieria de </a:t>
            </a:r>
            <a:r>
              <a:rPr lang="en-US" sz="1666" b="1" dirty="0" err="1">
                <a:solidFill>
                  <a:srgbClr val="131416"/>
                </a:solidFill>
                <a:latin typeface="Open Sans Bold"/>
                <a:ea typeface="Open Sans Bold"/>
                <a:cs typeface="Open Sans Bold"/>
                <a:sym typeface="Open Sans Bold"/>
              </a:rPr>
              <a:t>Ciencias</a:t>
            </a:r>
            <a:r>
              <a:rPr lang="en-US" sz="1666" b="1" dirty="0">
                <a:solidFill>
                  <a:srgbClr val="131416"/>
                </a:solidFill>
                <a:latin typeface="Open Sans Bold"/>
                <a:ea typeface="Open Sans Bold"/>
                <a:cs typeface="Open Sans Bold"/>
                <a:sym typeface="Open Sans Bold"/>
              </a:rPr>
              <a:t> Y Sistemas</a:t>
            </a:r>
          </a:p>
        </p:txBody>
      </p:sp>
      <p:sp>
        <p:nvSpPr>
          <p:cNvPr id="6" name="TextBox 6"/>
          <p:cNvSpPr txBox="1"/>
          <p:nvPr/>
        </p:nvSpPr>
        <p:spPr>
          <a:xfrm>
            <a:off x="685800" y="6140450"/>
            <a:ext cx="7496666" cy="276358"/>
          </a:xfrm>
          <a:prstGeom prst="rect">
            <a:avLst/>
          </a:prstGeom>
        </p:spPr>
        <p:txBody>
          <a:bodyPr wrap="square" lIns="0" tIns="0" rIns="0" bIns="0" rtlCol="0" anchor="t">
            <a:spAutoFit/>
          </a:bodyPr>
          <a:lstStyle/>
          <a:p>
            <a:pPr>
              <a:lnSpc>
                <a:spcPts val="2333"/>
              </a:lnSpc>
            </a:pPr>
            <a:r>
              <a:rPr lang="en-US" sz="1666" b="1" dirty="0" err="1">
                <a:solidFill>
                  <a:srgbClr val="131416"/>
                </a:solidFill>
                <a:latin typeface="Open Sans Bold"/>
                <a:ea typeface="Open Sans Bold"/>
                <a:cs typeface="Open Sans Bold"/>
                <a:sym typeface="Open Sans Bold"/>
              </a:rPr>
              <a:t>Facultad</a:t>
            </a:r>
            <a:r>
              <a:rPr lang="en-US" sz="1666" b="1" dirty="0">
                <a:solidFill>
                  <a:srgbClr val="131416"/>
                </a:solidFill>
                <a:latin typeface="Open Sans Bold"/>
                <a:ea typeface="Open Sans Bold"/>
                <a:cs typeface="Open Sans Bold"/>
                <a:sym typeface="Open Sans Bold"/>
              </a:rPr>
              <a:t> de Ingenieria</a:t>
            </a:r>
          </a:p>
        </p:txBody>
      </p:sp>
      <p:sp>
        <p:nvSpPr>
          <p:cNvPr id="7" name="TextBox 7"/>
          <p:cNvSpPr txBox="1"/>
          <p:nvPr/>
        </p:nvSpPr>
        <p:spPr>
          <a:xfrm>
            <a:off x="685800" y="6390217"/>
            <a:ext cx="8081128" cy="276358"/>
          </a:xfrm>
          <a:prstGeom prst="rect">
            <a:avLst/>
          </a:prstGeom>
        </p:spPr>
        <p:txBody>
          <a:bodyPr wrap="square" lIns="0" tIns="0" rIns="0" bIns="0" rtlCol="0" anchor="t">
            <a:spAutoFit/>
          </a:bodyPr>
          <a:lstStyle/>
          <a:p>
            <a:pPr>
              <a:lnSpc>
                <a:spcPts val="2333"/>
              </a:lnSpc>
            </a:pPr>
            <a:r>
              <a:rPr lang="en-US" sz="1666" b="1" dirty="0">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D2D73E-B42D-0B39-8136-4A25DAFD9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5B1ABB9-37B6-22EE-17AD-B6503A0FF0B4}"/>
              </a:ext>
            </a:extLst>
          </p:cNvPr>
          <p:cNvSpPr>
            <a:spLocks noGrp="1"/>
          </p:cNvSpPr>
          <p:nvPr>
            <p:ph type="ctrTitle"/>
          </p:nvPr>
        </p:nvSpPr>
        <p:spPr>
          <a:xfrm>
            <a:off x="6095999" y="907577"/>
            <a:ext cx="5067299" cy="1709436"/>
          </a:xfrm>
        </p:spPr>
        <p:txBody>
          <a:bodyPr vert="horz" lIns="91440" tIns="45720" rIns="91440" bIns="45720" rtlCol="0" anchor="ctr">
            <a:normAutofit/>
          </a:bodyPr>
          <a:lstStyle/>
          <a:p>
            <a:pPr>
              <a:lnSpc>
                <a:spcPct val="90000"/>
              </a:lnSpc>
            </a:pPr>
            <a:r>
              <a:rPr lang="en-US" sz="4800"/>
              <a:t>Agenda</a:t>
            </a:r>
          </a:p>
        </p:txBody>
      </p:sp>
      <p:sp>
        <p:nvSpPr>
          <p:cNvPr id="3" name="Subtítulo 2">
            <a:extLst>
              <a:ext uri="{FF2B5EF4-FFF2-40B4-BE49-F238E27FC236}">
                <a16:creationId xmlns:a16="http://schemas.microsoft.com/office/drawing/2014/main" id="{DF608101-9231-2CB1-6879-B14814C10664}"/>
              </a:ext>
            </a:extLst>
          </p:cNvPr>
          <p:cNvSpPr>
            <a:spLocks noGrp="1"/>
          </p:cNvSpPr>
          <p:nvPr>
            <p:ph type="subTitle" idx="1"/>
          </p:nvPr>
        </p:nvSpPr>
        <p:spPr>
          <a:xfrm>
            <a:off x="6096000" y="2736850"/>
            <a:ext cx="5067300" cy="2978150"/>
          </a:xfrm>
        </p:spPr>
        <p:txBody>
          <a:bodyPr vert="horz" lIns="91440" tIns="45720" rIns="91440" bIns="45720" rtlCol="0" anchor="b">
            <a:normAutofit/>
          </a:bodyPr>
          <a:lstStyle/>
          <a:p>
            <a:pPr indent="-228600">
              <a:lnSpc>
                <a:spcPct val="110000"/>
              </a:lnSpc>
            </a:pPr>
            <a:r>
              <a:rPr lang="en-US" sz="1300" dirty="0" err="1"/>
              <a:t>Concepto</a:t>
            </a:r>
            <a:r>
              <a:rPr lang="en-US" sz="1300" dirty="0"/>
              <a:t> de </a:t>
            </a:r>
            <a:r>
              <a:rPr lang="en-US" sz="1300" dirty="0" err="1"/>
              <a:t>abstracción</a:t>
            </a:r>
            <a:r>
              <a:rPr lang="en-US" sz="1300" dirty="0"/>
              <a:t> y </a:t>
            </a:r>
            <a:r>
              <a:rPr lang="en-US" sz="1300" dirty="0" err="1"/>
              <a:t>clasificación</a:t>
            </a:r>
            <a:endParaRPr lang="en-US" sz="1300" dirty="0"/>
          </a:p>
          <a:p>
            <a:pPr indent="-228600">
              <a:lnSpc>
                <a:spcPct val="110000"/>
              </a:lnSpc>
            </a:pPr>
            <a:r>
              <a:rPr lang="en-US" sz="1300" dirty="0" err="1"/>
              <a:t>Clases</a:t>
            </a:r>
            <a:r>
              <a:rPr lang="en-US" sz="1300" dirty="0"/>
              <a:t> y </a:t>
            </a:r>
            <a:r>
              <a:rPr lang="en-US" sz="1300" dirty="0" err="1"/>
              <a:t>objetos</a:t>
            </a:r>
            <a:endParaRPr lang="en-US" sz="1300" dirty="0"/>
          </a:p>
          <a:p>
            <a:pPr indent="-228600">
              <a:lnSpc>
                <a:spcPct val="110000"/>
              </a:lnSpc>
            </a:pPr>
            <a:r>
              <a:rPr lang="en-US" sz="1300" dirty="0" err="1"/>
              <a:t>Mensajes</a:t>
            </a:r>
            <a:r>
              <a:rPr lang="en-US" sz="1300" dirty="0"/>
              <a:t> y </a:t>
            </a:r>
            <a:r>
              <a:rPr lang="en-US" sz="1300" dirty="0" err="1"/>
              <a:t>métodos</a:t>
            </a:r>
            <a:endParaRPr lang="en-US" sz="1300" dirty="0"/>
          </a:p>
          <a:p>
            <a:pPr indent="-228600">
              <a:lnSpc>
                <a:spcPct val="110000"/>
              </a:lnSpc>
            </a:pPr>
            <a:r>
              <a:rPr lang="en-US" sz="1300" dirty="0"/>
              <a:t>Pilares de POO: </a:t>
            </a:r>
            <a:r>
              <a:rPr lang="en-US" sz="1300" dirty="0" err="1"/>
              <a:t>Abstracción</a:t>
            </a:r>
            <a:r>
              <a:rPr lang="en-US" sz="1300" dirty="0"/>
              <a:t>, </a:t>
            </a:r>
            <a:r>
              <a:rPr lang="en-US" sz="1300" dirty="0" err="1"/>
              <a:t>Encapsulamiento</a:t>
            </a:r>
            <a:r>
              <a:rPr lang="en-US" sz="1300" dirty="0"/>
              <a:t>, </a:t>
            </a:r>
            <a:r>
              <a:rPr lang="en-US" sz="1300" dirty="0" err="1"/>
              <a:t>Polimorfismo</a:t>
            </a:r>
            <a:r>
              <a:rPr lang="en-US" sz="1300" dirty="0"/>
              <a:t>, </a:t>
            </a:r>
            <a:r>
              <a:rPr lang="en-US" sz="1300" dirty="0" err="1"/>
              <a:t>Herencia</a:t>
            </a:r>
            <a:endParaRPr lang="en-US" sz="1300" dirty="0"/>
          </a:p>
          <a:p>
            <a:pPr indent="-228600">
              <a:lnSpc>
                <a:spcPct val="110000"/>
              </a:lnSpc>
            </a:pPr>
            <a:r>
              <a:rPr lang="en-US" sz="1300" dirty="0"/>
              <a:t>Los </a:t>
            </a:r>
            <a:r>
              <a:rPr lang="en-US" sz="1300" dirty="0" err="1"/>
              <a:t>miembros</a:t>
            </a:r>
            <a:r>
              <a:rPr lang="en-US" sz="1300" dirty="0"/>
              <a:t> de </a:t>
            </a:r>
            <a:r>
              <a:rPr lang="en-US" sz="1300" dirty="0" err="1"/>
              <a:t>una</a:t>
            </a:r>
            <a:r>
              <a:rPr lang="en-US" sz="1300" dirty="0"/>
              <a:t> </a:t>
            </a:r>
            <a:r>
              <a:rPr lang="en-US" sz="1300" dirty="0" err="1"/>
              <a:t>clase</a:t>
            </a:r>
            <a:endParaRPr lang="en-US" sz="1300" dirty="0"/>
          </a:p>
          <a:p>
            <a:pPr indent="-228600">
              <a:lnSpc>
                <a:spcPct val="110000"/>
              </a:lnSpc>
            </a:pPr>
            <a:r>
              <a:rPr lang="en-US" sz="1300" dirty="0" err="1"/>
              <a:t>Atributos</a:t>
            </a:r>
            <a:r>
              <a:rPr lang="en-US" sz="1300" dirty="0"/>
              <a:t> y </a:t>
            </a:r>
            <a:r>
              <a:rPr lang="en-US" sz="1300" dirty="0" err="1"/>
              <a:t>métodos</a:t>
            </a:r>
            <a:r>
              <a:rPr lang="en-US" sz="1300" dirty="0"/>
              <a:t> (</a:t>
            </a:r>
            <a:r>
              <a:rPr lang="en-US" sz="1300" dirty="0" err="1"/>
              <a:t>operaciones</a:t>
            </a:r>
            <a:r>
              <a:rPr lang="en-US" sz="1300" dirty="0"/>
              <a:t>)</a:t>
            </a:r>
          </a:p>
          <a:p>
            <a:pPr indent="-228600">
              <a:lnSpc>
                <a:spcPct val="110000"/>
              </a:lnSpc>
            </a:pPr>
            <a:r>
              <a:rPr lang="en-US" sz="1300" dirty="0" err="1"/>
              <a:t>Constructores</a:t>
            </a:r>
            <a:r>
              <a:rPr lang="en-US" sz="1300" dirty="0"/>
              <a:t> y </a:t>
            </a:r>
            <a:r>
              <a:rPr lang="en-US" sz="1300" dirty="0" err="1"/>
              <a:t>Destructores</a:t>
            </a:r>
            <a:endParaRPr lang="en-US" sz="1300" dirty="0"/>
          </a:p>
          <a:p>
            <a:pPr indent="-228600">
              <a:lnSpc>
                <a:spcPct val="110000"/>
              </a:lnSpc>
            </a:pPr>
            <a:r>
              <a:rPr lang="en-US" sz="1300" dirty="0" err="1"/>
              <a:t>Modificadores</a:t>
            </a:r>
            <a:r>
              <a:rPr lang="en-US" sz="1300" dirty="0"/>
              <a:t> de </a:t>
            </a:r>
            <a:r>
              <a:rPr lang="en-US" sz="1300" dirty="0" err="1"/>
              <a:t>visibilidad</a:t>
            </a:r>
            <a:r>
              <a:rPr lang="en-US" sz="1300" dirty="0"/>
              <a:t>: Privado, Público, </a:t>
            </a:r>
            <a:r>
              <a:rPr lang="en-US" sz="1300" dirty="0" err="1"/>
              <a:t>Protegido</a:t>
            </a:r>
            <a:endParaRPr lang="en-US" sz="1300" b="1" dirty="0"/>
          </a:p>
        </p:txBody>
      </p:sp>
      <p:pic>
        <p:nvPicPr>
          <p:cNvPr id="4" name="Picture 3">
            <a:extLst>
              <a:ext uri="{FF2B5EF4-FFF2-40B4-BE49-F238E27FC236}">
                <a16:creationId xmlns:a16="http://schemas.microsoft.com/office/drawing/2014/main" id="{DD32CF62-DC2A-B997-C388-8DB4E6909D1A}"/>
              </a:ext>
            </a:extLst>
          </p:cNvPr>
          <p:cNvPicPr>
            <a:picLocks noChangeAspect="1"/>
          </p:cNvPicPr>
          <p:nvPr/>
        </p:nvPicPr>
        <p:blipFill>
          <a:blip r:embed="rId2"/>
          <a:srcRect t="3278" r="-3" b="-3"/>
          <a:stretch>
            <a:fillRect/>
          </a:stretch>
        </p:blipFill>
        <p:spPr>
          <a:xfrm>
            <a:off x="-2380" y="-17766"/>
            <a:ext cx="6394567" cy="3479045"/>
          </a:xfrm>
          <a:custGeom>
            <a:avLst/>
            <a:gdLst/>
            <a:ahLst/>
            <a:cxnLst/>
            <a:rect l="l" t="t" r="r" b="b"/>
            <a:pathLst>
              <a:path w="6394567" h="3479045">
                <a:moveTo>
                  <a:pt x="0" y="0"/>
                </a:moveTo>
                <a:lnTo>
                  <a:pt x="6394567" y="0"/>
                </a:lnTo>
                <a:lnTo>
                  <a:pt x="2477593" y="3073542"/>
                </a:lnTo>
                <a:lnTo>
                  <a:pt x="2435111" y="3105189"/>
                </a:lnTo>
                <a:cubicBezTo>
                  <a:pt x="2103481" y="3339382"/>
                  <a:pt x="1723470" y="3461518"/>
                  <a:pt x="1342352" y="3477290"/>
                </a:cubicBezTo>
                <a:cubicBezTo>
                  <a:pt x="1302651" y="3478932"/>
                  <a:pt x="1262940" y="3479421"/>
                  <a:pt x="1223270" y="3478762"/>
                </a:cubicBezTo>
                <a:cubicBezTo>
                  <a:pt x="786893" y="3471515"/>
                  <a:pt x="355525" y="3325396"/>
                  <a:pt x="277" y="3048974"/>
                </a:cubicBezTo>
                <a:lnTo>
                  <a:pt x="0" y="3048730"/>
                </a:lnTo>
                <a:close/>
              </a:path>
            </a:pathLst>
          </a:custGeom>
        </p:spPr>
      </p:pic>
    </p:spTree>
    <p:extLst>
      <p:ext uri="{BB962C8B-B14F-4D97-AF65-F5344CB8AC3E}">
        <p14:creationId xmlns:p14="http://schemas.microsoft.com/office/powerpoint/2010/main" val="124771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EDD76A3-04AE-D2EC-6AA3-96DBF3AE7034}"/>
              </a:ext>
            </a:extLst>
          </p:cNvPr>
          <p:cNvSpPr>
            <a:spLocks noGrp="1"/>
          </p:cNvSpPr>
          <p:nvPr>
            <p:ph type="title"/>
          </p:nvPr>
        </p:nvSpPr>
        <p:spPr>
          <a:xfrm>
            <a:off x="1066800" y="1142999"/>
            <a:ext cx="4173416" cy="1257299"/>
          </a:xfrm>
        </p:spPr>
        <p:txBody>
          <a:bodyPr anchor="ctr">
            <a:normAutofit/>
          </a:bodyPr>
          <a:lstStyle/>
          <a:p>
            <a:pPr algn="l">
              <a:spcAft>
                <a:spcPts val="600"/>
              </a:spcAft>
            </a:pPr>
            <a:r>
              <a:rPr lang="es-GT" b="1" i="0" dirty="0">
                <a:solidFill>
                  <a:srgbClr val="05192D"/>
                </a:solidFill>
                <a:effectLst/>
                <a:latin typeface="Studio-Feixen-Sans"/>
              </a:rPr>
              <a:t>Abstracción</a:t>
            </a:r>
          </a:p>
        </p:txBody>
      </p:sp>
      <p:sp>
        <p:nvSpPr>
          <p:cNvPr id="3" name="Marcador de contenido 2">
            <a:extLst>
              <a:ext uri="{FF2B5EF4-FFF2-40B4-BE49-F238E27FC236}">
                <a16:creationId xmlns:a16="http://schemas.microsoft.com/office/drawing/2014/main" id="{28849A51-95AF-FB4C-6572-F5DEC1FD9006}"/>
              </a:ext>
            </a:extLst>
          </p:cNvPr>
          <p:cNvSpPr>
            <a:spLocks noGrp="1"/>
          </p:cNvSpPr>
          <p:nvPr>
            <p:ph idx="1"/>
          </p:nvPr>
        </p:nvSpPr>
        <p:spPr>
          <a:xfrm>
            <a:off x="1066797" y="2736850"/>
            <a:ext cx="4173415" cy="2978152"/>
          </a:xfrm>
        </p:spPr>
        <p:txBody>
          <a:bodyPr>
            <a:normAutofit fontScale="92500" lnSpcReduction="20000"/>
          </a:bodyPr>
          <a:lstStyle/>
          <a:p>
            <a:pPr marL="0" indent="0">
              <a:buNone/>
            </a:pPr>
            <a:r>
              <a:rPr lang="es-ES" dirty="0"/>
              <a:t>La abstracción en Java es un concepto fundamental de la Programación Orientada a Objetos (POO) que se centra en ocultar los complejos detalles de implementación y mostrar sólo las características esenciales de un objeto. Ayuda a reducir la complejidad y el esfuerzo de programación al proporcionar una separación clara entre las propiedades abstractas y los detalles de implementación.</a:t>
            </a:r>
            <a:endParaRPr lang="es-MX" dirty="0"/>
          </a:p>
        </p:txBody>
      </p:sp>
      <p:sp>
        <p:nvSpPr>
          <p:cNvPr id="4" name="Marcador de contenido 2">
            <a:extLst>
              <a:ext uri="{FF2B5EF4-FFF2-40B4-BE49-F238E27FC236}">
                <a16:creationId xmlns:a16="http://schemas.microsoft.com/office/drawing/2014/main" id="{57230FD9-C5E0-5044-F725-836477D6E209}"/>
              </a:ext>
            </a:extLst>
          </p:cNvPr>
          <p:cNvSpPr txBox="1">
            <a:spLocks/>
          </p:cNvSpPr>
          <p:nvPr/>
        </p:nvSpPr>
        <p:spPr>
          <a:xfrm>
            <a:off x="6647161" y="2736850"/>
            <a:ext cx="4173415" cy="297815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Aft>
                <a:spcPts val="900"/>
              </a:spcAft>
              <a:buFont typeface="Arial" panose="020B0604020202020204" pitchFamily="34" charset="0"/>
              <a:buChar char="•"/>
            </a:pPr>
            <a:r>
              <a:rPr lang="es-ES" b="1" i="0" dirty="0">
                <a:effectLst/>
                <a:latin typeface="Studio-Feixen-Sans"/>
              </a:rPr>
              <a:t>Simplificación</a:t>
            </a:r>
            <a:r>
              <a:rPr lang="es-ES" b="0" i="0" dirty="0">
                <a:effectLst/>
                <a:latin typeface="Studio-Feixen-Sans"/>
              </a:rPr>
              <a:t>: La abstracción permite a los desarrolladores trabajar con sistemas complejos simplificando las interacciones con ellos.</a:t>
            </a:r>
          </a:p>
          <a:p>
            <a:pPr algn="l">
              <a:spcAft>
                <a:spcPts val="900"/>
              </a:spcAft>
              <a:buFont typeface="Arial" panose="020B0604020202020204" pitchFamily="34" charset="0"/>
              <a:buChar char="•"/>
            </a:pPr>
            <a:r>
              <a:rPr lang="es-ES" b="1" i="0" dirty="0">
                <a:effectLst/>
                <a:latin typeface="Studio-Feixen-Sans"/>
              </a:rPr>
              <a:t>Reutilización del código</a:t>
            </a:r>
            <a:r>
              <a:rPr lang="es-ES" b="0" i="0" dirty="0">
                <a:effectLst/>
                <a:latin typeface="Studio-Feixen-Sans"/>
              </a:rPr>
              <a:t>: Al definir interfaces comunes, la abstracción fomenta la reutilización del código en diferentes implementaciones.</a:t>
            </a:r>
          </a:p>
          <a:p>
            <a:pPr algn="l">
              <a:spcAft>
                <a:spcPts val="900"/>
              </a:spcAft>
              <a:buFont typeface="Arial" panose="020B0604020202020204" pitchFamily="34" charset="0"/>
              <a:buChar char="•"/>
            </a:pPr>
            <a:r>
              <a:rPr lang="es-ES" b="1" i="0" dirty="0">
                <a:effectLst/>
                <a:latin typeface="Studio-Feixen-Sans"/>
              </a:rPr>
              <a:t>Seguridad mejorada</a:t>
            </a:r>
            <a:r>
              <a:rPr lang="es-ES" b="0" i="0" dirty="0">
                <a:effectLst/>
                <a:latin typeface="Studio-Feixen-Sans"/>
              </a:rPr>
              <a:t>: Oculta los detalles internos de implementación, protegiendo así el código de accesos y modificaciones no autorizados.</a:t>
            </a:r>
          </a:p>
        </p:txBody>
      </p:sp>
    </p:spTree>
    <p:extLst>
      <p:ext uri="{BB962C8B-B14F-4D97-AF65-F5344CB8AC3E}">
        <p14:creationId xmlns:p14="http://schemas.microsoft.com/office/powerpoint/2010/main" val="2535130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1925FB-D133-F32F-F144-27CDA0DDA0F2}"/>
            </a:ext>
          </a:extLst>
        </p:cNvPr>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A18ECFE-A758-2AC3-CB4E-52850757C149}"/>
              </a:ext>
            </a:extLst>
          </p:cNvPr>
          <p:cNvSpPr>
            <a:spLocks noGrp="1"/>
          </p:cNvSpPr>
          <p:nvPr>
            <p:ph type="title"/>
          </p:nvPr>
        </p:nvSpPr>
        <p:spPr>
          <a:xfrm>
            <a:off x="1066800" y="1142999"/>
            <a:ext cx="4173416" cy="1257299"/>
          </a:xfrm>
        </p:spPr>
        <p:txBody>
          <a:bodyPr anchor="ctr">
            <a:normAutofit/>
          </a:bodyPr>
          <a:lstStyle/>
          <a:p>
            <a:pPr>
              <a:spcAft>
                <a:spcPts val="600"/>
              </a:spcAft>
            </a:pPr>
            <a:r>
              <a:rPr lang="es-GT" b="1" i="0">
                <a:effectLst/>
                <a:latin typeface="Studio-Feixen-Sans"/>
              </a:rPr>
              <a:t>Clasificación</a:t>
            </a:r>
          </a:p>
        </p:txBody>
      </p:sp>
      <p:sp>
        <p:nvSpPr>
          <p:cNvPr id="3" name="Marcador de contenido 2">
            <a:extLst>
              <a:ext uri="{FF2B5EF4-FFF2-40B4-BE49-F238E27FC236}">
                <a16:creationId xmlns:a16="http://schemas.microsoft.com/office/drawing/2014/main" id="{38DEC23B-3AE1-0772-31C6-875977B1A7C7}"/>
              </a:ext>
            </a:extLst>
          </p:cNvPr>
          <p:cNvSpPr>
            <a:spLocks noGrp="1"/>
          </p:cNvSpPr>
          <p:nvPr>
            <p:ph idx="1"/>
          </p:nvPr>
        </p:nvSpPr>
        <p:spPr>
          <a:xfrm>
            <a:off x="1066797" y="2736850"/>
            <a:ext cx="4173415" cy="2978152"/>
          </a:xfrm>
        </p:spPr>
        <p:txBody>
          <a:bodyPr>
            <a:normAutofit/>
          </a:bodyPr>
          <a:lstStyle/>
          <a:p>
            <a:pPr marL="0" indent="0">
              <a:buNone/>
            </a:pPr>
            <a:r>
              <a:rPr lang="es-ES" dirty="0"/>
              <a:t>La clasificación es el proceso de organizar objetos en clases basadas en sus características comunes. Es decir, se crean clases para agrupar comportamientos y atributos similares.</a:t>
            </a:r>
            <a:endParaRPr lang="es-MX" dirty="0"/>
          </a:p>
        </p:txBody>
      </p:sp>
      <p:pic>
        <p:nvPicPr>
          <p:cNvPr id="8194" name="Picture 2" descr="Conceptos de objetos y clases en Java. Definición de instancia. Ejemplos  básicos y prácticos. (CU00619B)">
            <a:extLst>
              <a:ext uri="{FF2B5EF4-FFF2-40B4-BE49-F238E27FC236}">
                <a16:creationId xmlns:a16="http://schemas.microsoft.com/office/drawing/2014/main" id="{8746A2ED-EF75-53C6-AE32-E85DE724C25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2186835"/>
            <a:ext cx="4953000" cy="2450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515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974606-6E22-3E2E-623C-2ED7693AA836}"/>
            </a:ext>
          </a:extLst>
        </p:cNvPr>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789E0582-8E4E-3F4C-A82A-F13B5167C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ACFD381-49CC-CD1F-7F1E-C3C5A67B95C0}"/>
              </a:ext>
            </a:extLst>
          </p:cNvPr>
          <p:cNvSpPr>
            <a:spLocks noGrp="1"/>
          </p:cNvSpPr>
          <p:nvPr>
            <p:ph type="title"/>
          </p:nvPr>
        </p:nvSpPr>
        <p:spPr>
          <a:xfrm>
            <a:off x="1066800" y="1142999"/>
            <a:ext cx="4173416" cy="1257299"/>
          </a:xfrm>
        </p:spPr>
        <p:txBody>
          <a:bodyPr anchor="ctr">
            <a:normAutofit/>
          </a:bodyPr>
          <a:lstStyle/>
          <a:p>
            <a:r>
              <a:rPr lang="es-MX"/>
              <a:t>Clase</a:t>
            </a:r>
          </a:p>
        </p:txBody>
      </p:sp>
      <p:sp>
        <p:nvSpPr>
          <p:cNvPr id="3" name="Marcador de contenido 2">
            <a:extLst>
              <a:ext uri="{FF2B5EF4-FFF2-40B4-BE49-F238E27FC236}">
                <a16:creationId xmlns:a16="http://schemas.microsoft.com/office/drawing/2014/main" id="{EE41CAA0-1A3C-8236-D62F-4CCA81F92DA6}"/>
              </a:ext>
            </a:extLst>
          </p:cNvPr>
          <p:cNvSpPr>
            <a:spLocks noGrp="1"/>
          </p:cNvSpPr>
          <p:nvPr>
            <p:ph idx="1"/>
          </p:nvPr>
        </p:nvSpPr>
        <p:spPr>
          <a:xfrm>
            <a:off x="1066797" y="2736850"/>
            <a:ext cx="4173415" cy="2978152"/>
          </a:xfrm>
        </p:spPr>
        <p:txBody>
          <a:bodyPr>
            <a:normAutofit/>
          </a:bodyPr>
          <a:lstStyle/>
          <a:p>
            <a:pPr marL="0" indent="0">
              <a:buNone/>
            </a:pPr>
            <a:r>
              <a:rPr lang="es-MX" dirty="0"/>
              <a:t>Una clase es un elemento de la programación orientada a objetos que actúa como una plantilla y va a definir las características y comportamientos de una entidad.</a:t>
            </a:r>
          </a:p>
        </p:txBody>
      </p:sp>
      <p:pic>
        <p:nvPicPr>
          <p:cNvPr id="4098" name="Picture 2" descr="Clases y Objetos | Aprendiendo Arduino">
            <a:extLst>
              <a:ext uri="{FF2B5EF4-FFF2-40B4-BE49-F238E27FC236}">
                <a16:creationId xmlns:a16="http://schemas.microsoft.com/office/drawing/2014/main" id="{B2B341DB-410E-144F-D309-80AC0C2C2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093" b="2"/>
          <a:stretch/>
        </p:blipFill>
        <p:spPr bwMode="auto">
          <a:xfrm>
            <a:off x="6096000" y="1345479"/>
            <a:ext cx="4953000" cy="4132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000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1A06B62-8BB1-9677-4094-5FB84178B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C6E0F6-BF86-719B-BC64-ED9C64E3C663}"/>
              </a:ext>
            </a:extLst>
          </p:cNvPr>
          <p:cNvSpPr>
            <a:spLocks noGrp="1"/>
          </p:cNvSpPr>
          <p:nvPr>
            <p:ph type="title"/>
          </p:nvPr>
        </p:nvSpPr>
        <p:spPr>
          <a:xfrm>
            <a:off x="7239000" y="1143000"/>
            <a:ext cx="3924299" cy="1612290"/>
          </a:xfrm>
        </p:spPr>
        <p:txBody>
          <a:bodyPr anchor="ctr">
            <a:normAutofit/>
          </a:bodyPr>
          <a:lstStyle/>
          <a:p>
            <a:r>
              <a:rPr lang="es-MX" dirty="0"/>
              <a:t>Clase Abstracta</a:t>
            </a:r>
          </a:p>
        </p:txBody>
      </p:sp>
      <p:pic>
        <p:nvPicPr>
          <p:cNvPr id="6146" name="Picture 2" descr="Clases abstractas e interfaces - ppt descargar">
            <a:extLst>
              <a:ext uri="{FF2B5EF4-FFF2-40B4-BE49-F238E27FC236}">
                <a16:creationId xmlns:a16="http://schemas.microsoft.com/office/drawing/2014/main" id="{336029AD-10CC-FF7B-4E69-C59ABC5E16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228" t="25403" r="10562" b="10176"/>
          <a:stretch/>
        </p:blipFill>
        <p:spPr bwMode="auto">
          <a:xfrm>
            <a:off x="1028701" y="1759103"/>
            <a:ext cx="5406218" cy="3339793"/>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7F2B3B37-6F98-7A57-52D1-51899C0118D4}"/>
              </a:ext>
            </a:extLst>
          </p:cNvPr>
          <p:cNvSpPr>
            <a:spLocks noGrp="1"/>
          </p:cNvSpPr>
          <p:nvPr>
            <p:ph idx="1"/>
          </p:nvPr>
        </p:nvSpPr>
        <p:spPr>
          <a:xfrm>
            <a:off x="7239000" y="2736850"/>
            <a:ext cx="3924299" cy="2978150"/>
          </a:xfrm>
        </p:spPr>
        <p:txBody>
          <a:bodyPr>
            <a:normAutofit/>
          </a:bodyPr>
          <a:lstStyle/>
          <a:p>
            <a:pPr marL="0" indent="0">
              <a:buNone/>
            </a:pPr>
            <a:r>
              <a:rPr lang="es-MX" dirty="0"/>
              <a:t>Las clases abstractas son aquellas que dejan sin implementar algunos miembros o todos ellos para que las clases derivadas puedan proporcionar las implementaciones</a:t>
            </a:r>
            <a:endParaRPr lang="es-MX"/>
          </a:p>
        </p:txBody>
      </p:sp>
    </p:spTree>
    <p:extLst>
      <p:ext uri="{BB962C8B-B14F-4D97-AF65-F5344CB8AC3E}">
        <p14:creationId xmlns:p14="http://schemas.microsoft.com/office/powerpoint/2010/main" val="4215367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714C5ED-5AD8-8281-8F26-ACD69C538D29}"/>
              </a:ext>
            </a:extLst>
          </p:cNvPr>
          <p:cNvSpPr>
            <a:spLocks noGrp="1"/>
          </p:cNvSpPr>
          <p:nvPr>
            <p:ph type="title"/>
          </p:nvPr>
        </p:nvSpPr>
        <p:spPr>
          <a:xfrm>
            <a:off x="1066800" y="1142999"/>
            <a:ext cx="4173416" cy="1257299"/>
          </a:xfrm>
        </p:spPr>
        <p:txBody>
          <a:bodyPr anchor="ctr">
            <a:normAutofit/>
          </a:bodyPr>
          <a:lstStyle/>
          <a:p>
            <a:r>
              <a:rPr lang="es-MX" dirty="0"/>
              <a:t>Interfaz</a:t>
            </a:r>
          </a:p>
        </p:txBody>
      </p:sp>
      <p:sp>
        <p:nvSpPr>
          <p:cNvPr id="3" name="Marcador de contenido 2">
            <a:extLst>
              <a:ext uri="{FF2B5EF4-FFF2-40B4-BE49-F238E27FC236}">
                <a16:creationId xmlns:a16="http://schemas.microsoft.com/office/drawing/2014/main" id="{5D3875E4-3D5C-659F-896D-04B7A27315C7}"/>
              </a:ext>
            </a:extLst>
          </p:cNvPr>
          <p:cNvSpPr>
            <a:spLocks noGrp="1"/>
          </p:cNvSpPr>
          <p:nvPr>
            <p:ph idx="1"/>
          </p:nvPr>
        </p:nvSpPr>
        <p:spPr>
          <a:xfrm>
            <a:off x="1066797" y="2736850"/>
            <a:ext cx="4173415" cy="2978152"/>
          </a:xfrm>
        </p:spPr>
        <p:txBody>
          <a:bodyPr>
            <a:normAutofit/>
          </a:bodyPr>
          <a:lstStyle/>
          <a:p>
            <a:pPr marL="0" indent="0">
              <a:buNone/>
            </a:pPr>
            <a:r>
              <a:rPr lang="es-MX" dirty="0"/>
              <a:t>Una interfaz es un medio común para que los objetos no relacionados se comuniquen entre sí. Estas son definiciones de métodos y valores sobre los cuales los objetos están de acuerdo para cooperar.</a:t>
            </a:r>
            <a:endParaRPr lang="es-MX"/>
          </a:p>
        </p:txBody>
      </p:sp>
      <p:pic>
        <p:nvPicPr>
          <p:cNvPr id="7170" name="Picture 2" descr="Para qué sirven las interfaces Java. Implementar una interfaz del API.  Ventajas y ejemplos básicos. (CU00697B)">
            <a:extLst>
              <a:ext uri="{FF2B5EF4-FFF2-40B4-BE49-F238E27FC236}">
                <a16:creationId xmlns:a16="http://schemas.microsoft.com/office/drawing/2014/main" id="{BEA7DF63-D40A-86AA-BC1B-B61329014C2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2123780"/>
            <a:ext cx="4953000" cy="2576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510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F6BA3-6FA0-B961-7BFE-ACD9FA5A4E80}"/>
              </a:ext>
            </a:extLst>
          </p:cNvPr>
          <p:cNvSpPr>
            <a:spLocks noGrp="1"/>
          </p:cNvSpPr>
          <p:nvPr>
            <p:ph type="title"/>
          </p:nvPr>
        </p:nvSpPr>
        <p:spPr>
          <a:xfrm>
            <a:off x="1066800" y="1335509"/>
            <a:ext cx="4766932" cy="3151535"/>
          </a:xfrm>
        </p:spPr>
        <p:txBody>
          <a:bodyPr anchor="t">
            <a:normAutofit/>
          </a:bodyPr>
          <a:lstStyle/>
          <a:p>
            <a:r>
              <a:rPr lang="es-GT" sz="4800" dirty="0"/>
              <a:t>¿Qué contiene una clase?</a:t>
            </a:r>
          </a:p>
        </p:txBody>
      </p:sp>
      <p:sp>
        <p:nvSpPr>
          <p:cNvPr id="3" name="Marcador de contenido 2">
            <a:extLst>
              <a:ext uri="{FF2B5EF4-FFF2-40B4-BE49-F238E27FC236}">
                <a16:creationId xmlns:a16="http://schemas.microsoft.com/office/drawing/2014/main" id="{80402073-B52A-9553-EBD3-6AAD293B1574}"/>
              </a:ext>
            </a:extLst>
          </p:cNvPr>
          <p:cNvSpPr>
            <a:spLocks noGrp="1"/>
          </p:cNvSpPr>
          <p:nvPr>
            <p:ph idx="1"/>
          </p:nvPr>
        </p:nvSpPr>
        <p:spPr>
          <a:xfrm>
            <a:off x="6487297" y="0"/>
            <a:ext cx="5429699" cy="3479661"/>
          </a:xfrm>
        </p:spPr>
        <p:txBody>
          <a:bodyPr anchor="b">
            <a:normAutofit/>
          </a:bodyPr>
          <a:lstStyle/>
          <a:p>
            <a:r>
              <a:rPr lang="es-ES" b="0" i="0" dirty="0">
                <a:effectLst/>
                <a:latin typeface="open sans" panose="020B0606030504020204" pitchFamily="34" charset="0"/>
              </a:rPr>
              <a:t>Los miembros de una clase son un conjunto de elementos que definen a los objetos (atributos </a:t>
            </a:r>
            <a:r>
              <a:rPr lang="es-ES" b="0" i="0" dirty="0" err="1">
                <a:effectLst/>
                <a:latin typeface="open sans" panose="020B0606030504020204" pitchFamily="34" charset="0"/>
              </a:rPr>
              <a:t>ó</a:t>
            </a:r>
            <a:r>
              <a:rPr lang="es-ES" b="0" i="0" dirty="0">
                <a:effectLst/>
                <a:latin typeface="open sans" panose="020B0606030504020204" pitchFamily="34" charset="0"/>
              </a:rPr>
              <a:t> propiedades), así como los comportamientos o funciones (métodos) que maneja el objeto.</a:t>
            </a:r>
            <a:br>
              <a:rPr lang="es-ES" dirty="0"/>
            </a:br>
            <a:r>
              <a:rPr lang="es-ES" b="0" i="0" dirty="0">
                <a:effectLst/>
                <a:latin typeface="open sans" panose="020B0606030504020204" pitchFamily="34" charset="0"/>
              </a:rPr>
              <a:t>Entonces tenemos que una clase es la estructura de un objeto, es decir, la definición de todos los elementos de que está hecho un objeto.</a:t>
            </a:r>
            <a:endParaRPr lang="es-GT" dirty="0"/>
          </a:p>
        </p:txBody>
      </p:sp>
      <p:sp>
        <p:nvSpPr>
          <p:cNvPr id="9" name="Marcador de contenido 2">
            <a:extLst>
              <a:ext uri="{FF2B5EF4-FFF2-40B4-BE49-F238E27FC236}">
                <a16:creationId xmlns:a16="http://schemas.microsoft.com/office/drawing/2014/main" id="{0EB93AEB-F9C1-FEE4-A72F-115690CC4BCA}"/>
              </a:ext>
            </a:extLst>
          </p:cNvPr>
          <p:cNvSpPr txBox="1">
            <a:spLocks/>
          </p:cNvSpPr>
          <p:nvPr/>
        </p:nvSpPr>
        <p:spPr>
          <a:xfrm>
            <a:off x="6487298" y="4318120"/>
            <a:ext cx="5704702" cy="20835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b="0" i="0" dirty="0">
                <a:effectLst/>
                <a:latin typeface="open sans" panose="020B0606030504020204" pitchFamily="34" charset="0"/>
              </a:rPr>
              <a:t>Los atributos se declaran de la siguiente forma:</a:t>
            </a:r>
            <a:endParaRPr lang="es-GT" dirty="0"/>
          </a:p>
        </p:txBody>
      </p:sp>
      <p:pic>
        <p:nvPicPr>
          <p:cNvPr id="11" name="Picture 4" descr="Sintaxis 2 Programación Orientada a Objetos">
            <a:extLst>
              <a:ext uri="{FF2B5EF4-FFF2-40B4-BE49-F238E27FC236}">
                <a16:creationId xmlns:a16="http://schemas.microsoft.com/office/drawing/2014/main" id="{47C8B688-F3D7-71EA-0DB3-C0F32601D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1303" y="5168279"/>
            <a:ext cx="3810000" cy="1257300"/>
          </a:xfrm>
          <a:prstGeom prst="rect">
            <a:avLst/>
          </a:prstGeom>
          <a:noFill/>
          <a:extLst>
            <a:ext uri="{909E8E84-426E-40DD-AFC4-6F175D3DCCD1}">
              <a14:hiddenFill xmlns:a14="http://schemas.microsoft.com/office/drawing/2010/main">
                <a:solidFill>
                  <a:srgbClr val="FFFFFF"/>
                </a:solidFill>
              </a14:hiddenFill>
            </a:ext>
          </a:extLst>
        </p:spPr>
      </p:pic>
      <p:sp>
        <p:nvSpPr>
          <p:cNvPr id="12" name="Marcador de contenido 2">
            <a:extLst>
              <a:ext uri="{FF2B5EF4-FFF2-40B4-BE49-F238E27FC236}">
                <a16:creationId xmlns:a16="http://schemas.microsoft.com/office/drawing/2014/main" id="{D212F55A-7C35-42E0-C33C-ECE6F9AAA88E}"/>
              </a:ext>
            </a:extLst>
          </p:cNvPr>
          <p:cNvSpPr txBox="1">
            <a:spLocks/>
          </p:cNvSpPr>
          <p:nvPr/>
        </p:nvSpPr>
        <p:spPr>
          <a:xfrm>
            <a:off x="275003" y="3773380"/>
            <a:ext cx="5558729" cy="20835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b="0" i="0" dirty="0">
                <a:effectLst/>
                <a:latin typeface="open sans" panose="020B0606030504020204" pitchFamily="34" charset="0"/>
              </a:rPr>
              <a:t>Los métodos de una clase se declaran de la siguiente forma:</a:t>
            </a:r>
            <a:endParaRPr lang="es-GT" dirty="0"/>
          </a:p>
        </p:txBody>
      </p:sp>
      <p:pic>
        <p:nvPicPr>
          <p:cNvPr id="13" name="Picture 6" descr="Sintaxis 3 Programación Orientada a Objetos">
            <a:extLst>
              <a:ext uri="{FF2B5EF4-FFF2-40B4-BE49-F238E27FC236}">
                <a16:creationId xmlns:a16="http://schemas.microsoft.com/office/drawing/2014/main" id="{A0875034-065C-E34B-8FD7-79EC942FB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487044"/>
            <a:ext cx="38100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911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3F8628-20AA-1499-8763-89E71F4DD92B}"/>
              </a:ext>
            </a:extLst>
          </p:cNvPr>
          <p:cNvSpPr>
            <a:spLocks noGrp="1"/>
          </p:cNvSpPr>
          <p:nvPr>
            <p:ph type="title"/>
          </p:nvPr>
        </p:nvSpPr>
        <p:spPr>
          <a:xfrm>
            <a:off x="1066800" y="1142999"/>
            <a:ext cx="4173416" cy="1257299"/>
          </a:xfrm>
        </p:spPr>
        <p:txBody>
          <a:bodyPr anchor="ctr">
            <a:normAutofit/>
          </a:bodyPr>
          <a:lstStyle/>
          <a:p>
            <a:r>
              <a:rPr lang="es-MX"/>
              <a:t>Objeto</a:t>
            </a:r>
          </a:p>
        </p:txBody>
      </p:sp>
      <p:sp>
        <p:nvSpPr>
          <p:cNvPr id="3" name="Marcador de contenido 2">
            <a:extLst>
              <a:ext uri="{FF2B5EF4-FFF2-40B4-BE49-F238E27FC236}">
                <a16:creationId xmlns:a16="http://schemas.microsoft.com/office/drawing/2014/main" id="{CE843A34-76D9-C772-C2CC-939527F1B8B4}"/>
              </a:ext>
            </a:extLst>
          </p:cNvPr>
          <p:cNvSpPr>
            <a:spLocks noGrp="1"/>
          </p:cNvSpPr>
          <p:nvPr>
            <p:ph idx="1"/>
          </p:nvPr>
        </p:nvSpPr>
        <p:spPr>
          <a:xfrm>
            <a:off x="1066797" y="2736850"/>
            <a:ext cx="4173415" cy="2978152"/>
          </a:xfrm>
        </p:spPr>
        <p:txBody>
          <a:bodyPr>
            <a:normAutofit/>
          </a:bodyPr>
          <a:lstStyle/>
          <a:p>
            <a:pPr marL="0" indent="0">
              <a:buNone/>
            </a:pPr>
            <a:r>
              <a:rPr lang="es-MX" dirty="0"/>
              <a:t>Representa alguna entidad de la vida real, es decir, alguno de los objetos únicos que pertenecen al problema con el que nos estamos enfrentando, y con el que podemos interactuar.</a:t>
            </a:r>
            <a:endParaRPr lang="es-MX"/>
          </a:p>
        </p:txBody>
      </p:sp>
      <p:pic>
        <p:nvPicPr>
          <p:cNvPr id="1028" name="Picture 4">
            <a:extLst>
              <a:ext uri="{FF2B5EF4-FFF2-40B4-BE49-F238E27FC236}">
                <a16:creationId xmlns:a16="http://schemas.microsoft.com/office/drawing/2014/main" id="{86E1A31C-730A-8259-5950-3A60F14666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43"/>
          <a:stretch>
            <a:fillRect/>
          </a:stretch>
        </p:blipFill>
        <p:spPr bwMode="auto">
          <a:xfrm>
            <a:off x="6096000" y="2014114"/>
            <a:ext cx="4953000" cy="279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3534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4">
            <a:extLst>
              <a:ext uri="{FF2B5EF4-FFF2-40B4-BE49-F238E27FC236}">
                <a16:creationId xmlns:a16="http://schemas.microsoft.com/office/drawing/2014/main" id="{41A06B62-8BB1-9677-4094-5FB84178B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D8A12A-473A-16F8-DC8B-019B28D2B9FE}"/>
              </a:ext>
            </a:extLst>
          </p:cNvPr>
          <p:cNvSpPr>
            <a:spLocks noGrp="1"/>
          </p:cNvSpPr>
          <p:nvPr>
            <p:ph type="title"/>
          </p:nvPr>
        </p:nvSpPr>
        <p:spPr>
          <a:xfrm>
            <a:off x="7239000" y="1143000"/>
            <a:ext cx="3924299" cy="1612290"/>
          </a:xfrm>
        </p:spPr>
        <p:txBody>
          <a:bodyPr anchor="ctr">
            <a:normAutofit/>
          </a:bodyPr>
          <a:lstStyle/>
          <a:p>
            <a:r>
              <a:rPr lang="es-MX" dirty="0"/>
              <a:t>Objeto</a:t>
            </a:r>
          </a:p>
        </p:txBody>
      </p:sp>
      <p:pic>
        <p:nvPicPr>
          <p:cNvPr id="2050" name="Picture 2" descr="apuntes:objetos [Programación]">
            <a:extLst>
              <a:ext uri="{FF2B5EF4-FFF2-40B4-BE49-F238E27FC236}">
                <a16:creationId xmlns:a16="http://schemas.microsoft.com/office/drawing/2014/main" id="{C0F04FAF-9F7E-0BD3-B471-312688FC582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28701" y="1536823"/>
            <a:ext cx="5406218" cy="378435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E7C8922A-DD02-0C5C-BF8E-54AC5D4AB2D6}"/>
              </a:ext>
            </a:extLst>
          </p:cNvPr>
          <p:cNvSpPr>
            <a:spLocks noGrp="1"/>
          </p:cNvSpPr>
          <p:nvPr>
            <p:ph idx="1"/>
          </p:nvPr>
        </p:nvSpPr>
        <p:spPr>
          <a:xfrm>
            <a:off x="7239000" y="2736850"/>
            <a:ext cx="3924299" cy="2978150"/>
          </a:xfrm>
        </p:spPr>
        <p:txBody>
          <a:bodyPr>
            <a:normAutofit/>
          </a:bodyPr>
          <a:lstStyle/>
          <a:p>
            <a:pPr>
              <a:lnSpc>
                <a:spcPct val="110000"/>
              </a:lnSpc>
              <a:buFont typeface="Wingdings" panose="05000000000000000000" pitchFamily="2" charset="2"/>
              <a:buChar char="Ø"/>
            </a:pPr>
            <a:r>
              <a:rPr lang="es-MX" sz="1400"/>
              <a:t>Atributos: Son las características individuales que diferencian un objeto de otro y determinan su apariencia, estado u otras cualidades.</a:t>
            </a:r>
          </a:p>
          <a:p>
            <a:pPr>
              <a:lnSpc>
                <a:spcPct val="110000"/>
              </a:lnSpc>
              <a:buFont typeface="Wingdings" panose="05000000000000000000" pitchFamily="2" charset="2"/>
              <a:buChar char="Ø"/>
            </a:pPr>
            <a:r>
              <a:rPr lang="es-MX" sz="1400"/>
              <a:t>Métodos: Son funciones o procedimientos que se definen dentro de una clase y se utiliza para representar el comportamiento de un objeto</a:t>
            </a:r>
          </a:p>
          <a:p>
            <a:pPr>
              <a:lnSpc>
                <a:spcPct val="110000"/>
              </a:lnSpc>
              <a:buFont typeface="Wingdings" panose="05000000000000000000" pitchFamily="2" charset="2"/>
              <a:buChar char="Ø"/>
            </a:pPr>
            <a:r>
              <a:rPr lang="es-MX" sz="1400"/>
              <a:t>Constructor: Es una subrutina cuya misión es inicializar un objeto de una clase.</a:t>
            </a:r>
          </a:p>
          <a:p>
            <a:pPr>
              <a:lnSpc>
                <a:spcPct val="110000"/>
              </a:lnSpc>
              <a:buFont typeface="Wingdings" panose="05000000000000000000" pitchFamily="2" charset="2"/>
              <a:buChar char="Ø"/>
            </a:pPr>
            <a:endParaRPr lang="es-MX" sz="1400"/>
          </a:p>
        </p:txBody>
      </p:sp>
    </p:spTree>
    <p:extLst>
      <p:ext uri="{BB962C8B-B14F-4D97-AF65-F5344CB8AC3E}">
        <p14:creationId xmlns:p14="http://schemas.microsoft.com/office/powerpoint/2010/main" val="654779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79023E-CE1E-8FF1-BC7C-1AF773436CEE}"/>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9C121E-2DDB-E6A2-2427-699FF088BF18}"/>
              </a:ext>
            </a:extLst>
          </p:cNvPr>
          <p:cNvSpPr>
            <a:spLocks noGrp="1"/>
          </p:cNvSpPr>
          <p:nvPr>
            <p:ph type="title"/>
          </p:nvPr>
        </p:nvSpPr>
        <p:spPr>
          <a:xfrm>
            <a:off x="1066800" y="1142999"/>
            <a:ext cx="4173416" cy="1257299"/>
          </a:xfrm>
        </p:spPr>
        <p:txBody>
          <a:bodyPr anchor="ctr">
            <a:normAutofit/>
          </a:bodyPr>
          <a:lstStyle/>
          <a:p>
            <a:r>
              <a:rPr lang="es-MX" dirty="0"/>
              <a:t>Mensajes</a:t>
            </a:r>
          </a:p>
        </p:txBody>
      </p:sp>
      <p:sp>
        <p:nvSpPr>
          <p:cNvPr id="3" name="Marcador de contenido 2">
            <a:extLst>
              <a:ext uri="{FF2B5EF4-FFF2-40B4-BE49-F238E27FC236}">
                <a16:creationId xmlns:a16="http://schemas.microsoft.com/office/drawing/2014/main" id="{2E255582-D609-68BB-4010-77C7C95AF43E}"/>
              </a:ext>
            </a:extLst>
          </p:cNvPr>
          <p:cNvSpPr>
            <a:spLocks noGrp="1"/>
          </p:cNvSpPr>
          <p:nvPr>
            <p:ph idx="1"/>
          </p:nvPr>
        </p:nvSpPr>
        <p:spPr>
          <a:xfrm>
            <a:off x="1066797" y="2736850"/>
            <a:ext cx="4173415" cy="2978152"/>
          </a:xfrm>
        </p:spPr>
        <p:txBody>
          <a:bodyPr>
            <a:normAutofit/>
          </a:bodyPr>
          <a:lstStyle/>
          <a:p>
            <a:pPr marL="0" indent="0">
              <a:buNone/>
            </a:pPr>
            <a:r>
              <a:rPr lang="es-ES" dirty="0"/>
              <a:t>Los objetos interactúan enviándose mensajes unos a otros. Tras la recepción de un mensaje el objeto actuará. La acción puede ser el envío de otros mensajes, el cambio de su estado, o la ejecución de cualquier otra tarea que se requiera que haga el objeto.</a:t>
            </a:r>
            <a:endParaRPr lang="es-MX" dirty="0"/>
          </a:p>
        </p:txBody>
      </p:sp>
      <p:pic>
        <p:nvPicPr>
          <p:cNvPr id="3074" name="Picture 2" descr="Métodos y mensajes entre objetos">
            <a:extLst>
              <a:ext uri="{FF2B5EF4-FFF2-40B4-BE49-F238E27FC236}">
                <a16:creationId xmlns:a16="http://schemas.microsoft.com/office/drawing/2014/main" id="{17CAC906-CBDE-0172-6FD6-34CD4B98BD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263577"/>
            <a:ext cx="4953000" cy="429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043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CC727F-458A-E0F5-7F27-FBE85940D3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5A5C2C-D661-41CA-13C2-FD61466F0ED7}"/>
              </a:ext>
            </a:extLst>
          </p:cNvPr>
          <p:cNvSpPr>
            <a:spLocks noGrp="1"/>
          </p:cNvSpPr>
          <p:nvPr>
            <p:ph type="title"/>
          </p:nvPr>
        </p:nvSpPr>
        <p:spPr>
          <a:xfrm>
            <a:off x="7239000" y="1143000"/>
            <a:ext cx="3924299" cy="1612290"/>
          </a:xfrm>
        </p:spPr>
        <p:txBody>
          <a:bodyPr anchor="ctr">
            <a:normAutofit/>
          </a:bodyPr>
          <a:lstStyle/>
          <a:p>
            <a:r>
              <a:rPr lang="es-MX" dirty="0"/>
              <a:t>Métodos</a:t>
            </a:r>
          </a:p>
        </p:txBody>
      </p:sp>
      <p:sp>
        <p:nvSpPr>
          <p:cNvPr id="3" name="Marcador de contenido 2">
            <a:extLst>
              <a:ext uri="{FF2B5EF4-FFF2-40B4-BE49-F238E27FC236}">
                <a16:creationId xmlns:a16="http://schemas.microsoft.com/office/drawing/2014/main" id="{7DF5729E-EA03-400F-1A49-98313C87CABA}"/>
              </a:ext>
            </a:extLst>
          </p:cNvPr>
          <p:cNvSpPr>
            <a:spLocks noGrp="1"/>
          </p:cNvSpPr>
          <p:nvPr>
            <p:ph idx="1"/>
          </p:nvPr>
        </p:nvSpPr>
        <p:spPr>
          <a:xfrm>
            <a:off x="7239000" y="2736850"/>
            <a:ext cx="3924299" cy="2978150"/>
          </a:xfrm>
        </p:spPr>
        <p:txBody>
          <a:bodyPr>
            <a:normAutofit/>
          </a:bodyPr>
          <a:lstStyle/>
          <a:p>
            <a:pPr marL="0" indent="0">
              <a:buNone/>
            </a:pPr>
            <a:r>
              <a:rPr lang="es-ES" dirty="0"/>
              <a:t>Un método se implementa en una clase, y determina cómo tiene que actuar el objeto cuando recibe un mensaje.</a:t>
            </a:r>
            <a:endParaRPr lang="es-MX" dirty="0"/>
          </a:p>
        </p:txBody>
      </p:sp>
      <p:pic>
        <p:nvPicPr>
          <p:cNvPr id="4098" name="Picture 2" descr="PPT - INTRODUCCIÓN AL LENGUAJE JAVA PowerPoint Presentation, free download  - ID:1207342">
            <a:extLst>
              <a:ext uri="{FF2B5EF4-FFF2-40B4-BE49-F238E27FC236}">
                <a16:creationId xmlns:a16="http://schemas.microsoft.com/office/drawing/2014/main" id="{5B07F93B-8088-B7FD-A3E0-E2D09FA7BA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91" b="3956"/>
          <a:stretch/>
        </p:blipFill>
        <p:spPr bwMode="auto">
          <a:xfrm>
            <a:off x="1028701" y="1762125"/>
            <a:ext cx="5406218"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50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014548-D02B-5793-22BB-9644760C169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331870-2607-13BB-C4EC-4514832BEF63}"/>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Métodos sin retorno</a:t>
            </a:r>
            <a:endParaRPr lang="es-MX" dirty="0"/>
          </a:p>
        </p:txBody>
      </p:sp>
      <p:sp>
        <p:nvSpPr>
          <p:cNvPr id="3" name="Marcador de contenido 2">
            <a:extLst>
              <a:ext uri="{FF2B5EF4-FFF2-40B4-BE49-F238E27FC236}">
                <a16:creationId xmlns:a16="http://schemas.microsoft.com/office/drawing/2014/main" id="{E952CAC6-611C-1006-6BB7-2AF89AB2F283}"/>
              </a:ext>
            </a:extLst>
          </p:cNvPr>
          <p:cNvSpPr>
            <a:spLocks noGrp="1"/>
          </p:cNvSpPr>
          <p:nvPr>
            <p:ph idx="1"/>
          </p:nvPr>
        </p:nvSpPr>
        <p:spPr>
          <a:xfrm>
            <a:off x="5595192" y="3921617"/>
            <a:ext cx="5506514" cy="1834325"/>
          </a:xfrm>
        </p:spPr>
        <p:txBody>
          <a:bodyPr anchor="t">
            <a:normAutofit/>
          </a:bodyPr>
          <a:lstStyle/>
          <a:p>
            <a:pPr marL="0" indent="0">
              <a:buNone/>
            </a:pPr>
            <a:r>
              <a:rPr lang="es-ES" b="0" i="0">
                <a:effectLst/>
                <a:latin typeface="Inter"/>
              </a:rPr>
              <a:t>Estos métodos son aquellos que no devuelven ningún valor. Se utilizan principalmente para ejecutar un conjunto de instrucciones o modificar el estado de un objeto.</a:t>
            </a:r>
            <a:endParaRPr lang="es-MX" dirty="0"/>
          </a:p>
        </p:txBody>
      </p:sp>
      <p:pic>
        <p:nvPicPr>
          <p:cNvPr id="5" name="Imagen 4">
            <a:extLst>
              <a:ext uri="{FF2B5EF4-FFF2-40B4-BE49-F238E27FC236}">
                <a16:creationId xmlns:a16="http://schemas.microsoft.com/office/drawing/2014/main" id="{2685DA02-46F2-BAAF-5041-29D0FE7B3522}"/>
              </a:ext>
            </a:extLst>
          </p:cNvPr>
          <p:cNvPicPr>
            <a:picLocks noChangeAspect="1"/>
          </p:cNvPicPr>
          <p:nvPr/>
        </p:nvPicPr>
        <p:blipFill>
          <a:blip r:embed="rId2"/>
          <a:stretch>
            <a:fillRect/>
          </a:stretch>
        </p:blipFill>
        <p:spPr>
          <a:xfrm>
            <a:off x="5656785" y="2133721"/>
            <a:ext cx="5506514" cy="1575392"/>
          </a:xfrm>
          <a:prstGeom prst="rect">
            <a:avLst/>
          </a:prstGeom>
        </p:spPr>
      </p:pic>
    </p:spTree>
    <p:extLst>
      <p:ext uri="{BB962C8B-B14F-4D97-AF65-F5344CB8AC3E}">
        <p14:creationId xmlns:p14="http://schemas.microsoft.com/office/powerpoint/2010/main" val="3754930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9EC1E9-5C71-065A-5A46-CF8C88A86AB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0BF448F-A1AB-B01C-C3EF-CE11A8C66EE2}"/>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Métodos con retorno</a:t>
            </a:r>
            <a:endParaRPr lang="es-MX" dirty="0"/>
          </a:p>
        </p:txBody>
      </p:sp>
      <p:pic>
        <p:nvPicPr>
          <p:cNvPr id="6" name="Imagen 5">
            <a:extLst>
              <a:ext uri="{FF2B5EF4-FFF2-40B4-BE49-F238E27FC236}">
                <a16:creationId xmlns:a16="http://schemas.microsoft.com/office/drawing/2014/main" id="{684D5BF6-DEC2-97DE-E475-B68C016425D5}"/>
              </a:ext>
            </a:extLst>
          </p:cNvPr>
          <p:cNvPicPr>
            <a:picLocks noChangeAspect="1"/>
          </p:cNvPicPr>
          <p:nvPr/>
        </p:nvPicPr>
        <p:blipFill>
          <a:blip r:embed="rId2"/>
          <a:stretch>
            <a:fillRect/>
          </a:stretch>
        </p:blipFill>
        <p:spPr>
          <a:xfrm>
            <a:off x="5656785" y="1841409"/>
            <a:ext cx="5506514" cy="1867705"/>
          </a:xfrm>
          <a:prstGeom prst="rect">
            <a:avLst/>
          </a:prstGeom>
        </p:spPr>
      </p:pic>
      <p:sp>
        <p:nvSpPr>
          <p:cNvPr id="3" name="Marcador de contenido 2">
            <a:extLst>
              <a:ext uri="{FF2B5EF4-FFF2-40B4-BE49-F238E27FC236}">
                <a16:creationId xmlns:a16="http://schemas.microsoft.com/office/drawing/2014/main" id="{BCA4693D-C181-DEE0-3961-34848F68669D}"/>
              </a:ext>
            </a:extLst>
          </p:cNvPr>
          <p:cNvSpPr>
            <a:spLocks noGrp="1"/>
          </p:cNvSpPr>
          <p:nvPr>
            <p:ph idx="1"/>
          </p:nvPr>
        </p:nvSpPr>
        <p:spPr>
          <a:xfrm>
            <a:off x="5595192" y="3921617"/>
            <a:ext cx="5506514" cy="1834325"/>
          </a:xfrm>
        </p:spPr>
        <p:txBody>
          <a:bodyPr anchor="t">
            <a:normAutofit/>
          </a:bodyPr>
          <a:lstStyle/>
          <a:p>
            <a:pPr marL="0" indent="0">
              <a:buNone/>
            </a:pPr>
            <a:r>
              <a:rPr lang="es-ES" b="0" i="0" dirty="0">
                <a:effectLst/>
                <a:latin typeface="Inter"/>
              </a:rPr>
              <a:t>Estos métodos devuelven un valor después de su ejecución. Este valor puede ser de cualquier tipo de dato válido en Java, como enteros, cadenas de texto, booleanos, entre otros. Por ejemplo, el resultado de una operación aritmética:</a:t>
            </a:r>
          </a:p>
        </p:txBody>
      </p:sp>
    </p:spTree>
    <p:extLst>
      <p:ext uri="{BB962C8B-B14F-4D97-AF65-F5344CB8AC3E}">
        <p14:creationId xmlns:p14="http://schemas.microsoft.com/office/powerpoint/2010/main" val="4108666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BBDFA3-EF28-6029-EADE-7A2C2D6BC0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BA0FB5-0FC9-AE60-642F-C0199B0BE4A6}"/>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Métodos estáticos</a:t>
            </a:r>
            <a:endParaRPr lang="es-MX" dirty="0"/>
          </a:p>
        </p:txBody>
      </p:sp>
      <p:sp>
        <p:nvSpPr>
          <p:cNvPr id="3" name="Marcador de contenido 2">
            <a:extLst>
              <a:ext uri="{FF2B5EF4-FFF2-40B4-BE49-F238E27FC236}">
                <a16:creationId xmlns:a16="http://schemas.microsoft.com/office/drawing/2014/main" id="{4C149763-4BE9-BE2F-E02F-5A16AC7D5261}"/>
              </a:ext>
            </a:extLst>
          </p:cNvPr>
          <p:cNvSpPr>
            <a:spLocks noGrp="1"/>
          </p:cNvSpPr>
          <p:nvPr>
            <p:ph idx="1"/>
          </p:nvPr>
        </p:nvSpPr>
        <p:spPr>
          <a:xfrm>
            <a:off x="5595192" y="3921617"/>
            <a:ext cx="5506514" cy="1834325"/>
          </a:xfrm>
        </p:spPr>
        <p:txBody>
          <a:bodyPr anchor="t">
            <a:normAutofit/>
          </a:bodyPr>
          <a:lstStyle/>
          <a:p>
            <a:pPr marL="0" indent="0">
              <a:buNone/>
            </a:pPr>
            <a:r>
              <a:rPr lang="es-ES" b="0" i="0" dirty="0">
                <a:effectLst/>
                <a:latin typeface="Inter"/>
              </a:rPr>
              <a:t>Los métodos estáticos están asociados a la clase en lugar de una instancia de la clase. Estos métodos se pueden invocar directamente sin la necesidad de crear un objeto.</a:t>
            </a:r>
          </a:p>
        </p:txBody>
      </p:sp>
      <p:pic>
        <p:nvPicPr>
          <p:cNvPr id="5" name="Imagen 4">
            <a:extLst>
              <a:ext uri="{FF2B5EF4-FFF2-40B4-BE49-F238E27FC236}">
                <a16:creationId xmlns:a16="http://schemas.microsoft.com/office/drawing/2014/main" id="{299E9C95-88C5-8CB1-9991-191A479A7622}"/>
              </a:ext>
            </a:extLst>
          </p:cNvPr>
          <p:cNvPicPr>
            <a:picLocks noChangeAspect="1"/>
          </p:cNvPicPr>
          <p:nvPr/>
        </p:nvPicPr>
        <p:blipFill>
          <a:blip r:embed="rId2"/>
          <a:stretch>
            <a:fillRect/>
          </a:stretch>
        </p:blipFill>
        <p:spPr>
          <a:xfrm>
            <a:off x="5656785" y="2838275"/>
            <a:ext cx="5506514" cy="870838"/>
          </a:xfrm>
          <a:prstGeom prst="rect">
            <a:avLst/>
          </a:prstGeom>
        </p:spPr>
      </p:pic>
    </p:spTree>
    <p:extLst>
      <p:ext uri="{BB962C8B-B14F-4D97-AF65-F5344CB8AC3E}">
        <p14:creationId xmlns:p14="http://schemas.microsoft.com/office/powerpoint/2010/main" val="2493840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905370-8B62-A796-4323-668D58CA7A3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AA8023-FC10-4FA3-5C68-660E6E78F5C5}"/>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Declaración de métodos</a:t>
            </a:r>
          </a:p>
        </p:txBody>
      </p:sp>
      <p:pic>
        <p:nvPicPr>
          <p:cNvPr id="9" name="Imagen 8">
            <a:extLst>
              <a:ext uri="{FF2B5EF4-FFF2-40B4-BE49-F238E27FC236}">
                <a16:creationId xmlns:a16="http://schemas.microsoft.com/office/drawing/2014/main" id="{64BE57D4-2D5E-170F-756B-851057F2AE92}"/>
              </a:ext>
            </a:extLst>
          </p:cNvPr>
          <p:cNvPicPr>
            <a:picLocks noChangeAspect="1"/>
          </p:cNvPicPr>
          <p:nvPr/>
        </p:nvPicPr>
        <p:blipFill>
          <a:blip r:embed="rId2"/>
          <a:stretch>
            <a:fillRect/>
          </a:stretch>
        </p:blipFill>
        <p:spPr>
          <a:xfrm>
            <a:off x="5656785" y="2717941"/>
            <a:ext cx="5506514" cy="991172"/>
          </a:xfrm>
          <a:prstGeom prst="rect">
            <a:avLst/>
          </a:prstGeom>
        </p:spPr>
      </p:pic>
      <p:sp>
        <p:nvSpPr>
          <p:cNvPr id="3" name="Marcador de contenido 2">
            <a:extLst>
              <a:ext uri="{FF2B5EF4-FFF2-40B4-BE49-F238E27FC236}">
                <a16:creationId xmlns:a16="http://schemas.microsoft.com/office/drawing/2014/main" id="{E545206B-654B-8F7C-CE82-5AE5B75D7D10}"/>
              </a:ext>
            </a:extLst>
          </p:cNvPr>
          <p:cNvSpPr>
            <a:spLocks noGrp="1"/>
          </p:cNvSpPr>
          <p:nvPr>
            <p:ph idx="1"/>
          </p:nvPr>
        </p:nvSpPr>
        <p:spPr>
          <a:xfrm>
            <a:off x="5595192" y="3921617"/>
            <a:ext cx="5506514" cy="1834325"/>
          </a:xfrm>
        </p:spPr>
        <p:txBody>
          <a:bodyPr anchor="t">
            <a:normAutofit/>
          </a:bodyPr>
          <a:lstStyle/>
          <a:p>
            <a:pPr marL="0" indent="0">
              <a:lnSpc>
                <a:spcPct val="110000"/>
              </a:lnSpc>
              <a:buNone/>
            </a:pPr>
            <a:r>
              <a:rPr lang="es-ES" sz="1100" b="0" i="0">
                <a:effectLst/>
                <a:latin typeface="Inter"/>
              </a:rPr>
              <a:t>Para declarar un método, debemos especificar el tipo de dato que devolverá (si es que devuelve algún valor), seguido del nombre del método y los parámetros que recibe (si los tiene). El cuerpo del método contiene el código a ejecutar y, finalmente, se utiliza la palabra clave </a:t>
            </a:r>
            <a:r>
              <a:rPr lang="es-ES" sz="1100" b="0" i="0" err="1">
                <a:effectLst/>
                <a:latin typeface="Inter"/>
              </a:rPr>
              <a:t>return</a:t>
            </a:r>
            <a:r>
              <a:rPr lang="es-ES" sz="1100" b="0" i="0">
                <a:effectLst/>
                <a:latin typeface="Inter"/>
              </a:rPr>
              <a:t> para devolver un resultado, en aquellos métodos con valores de retorno.</a:t>
            </a:r>
          </a:p>
          <a:p>
            <a:pPr marL="0" indent="0">
              <a:lnSpc>
                <a:spcPct val="110000"/>
              </a:lnSpc>
              <a:buNone/>
            </a:pPr>
            <a:r>
              <a:rPr lang="es-ES" sz="1100" b="0" i="0">
                <a:effectLst/>
                <a:latin typeface="Inter"/>
              </a:rPr>
              <a:t>En el caso de métodos que no devuelven nada y que no admiten parámetros, debemos poner la clase reservada </a:t>
            </a:r>
            <a:r>
              <a:rPr lang="es-ES" sz="1100" b="0" i="0" err="1">
                <a:effectLst/>
                <a:latin typeface="Inter"/>
              </a:rPr>
              <a:t>void</a:t>
            </a:r>
            <a:r>
              <a:rPr lang="es-ES" sz="1100" b="0" i="0">
                <a:effectLst/>
                <a:latin typeface="Inter"/>
              </a:rPr>
              <a:t> al comienzo de la declaración del método, la estructura es la siguiente:</a:t>
            </a:r>
          </a:p>
        </p:txBody>
      </p:sp>
    </p:spTree>
    <p:extLst>
      <p:ext uri="{BB962C8B-B14F-4D97-AF65-F5344CB8AC3E}">
        <p14:creationId xmlns:p14="http://schemas.microsoft.com/office/powerpoint/2010/main" val="143374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9C1B4B9-C91C-3ACB-C077-AB5697516486}"/>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Llamada de métodos</a:t>
            </a:r>
            <a:endParaRPr lang="es-GT" dirty="0"/>
          </a:p>
        </p:txBody>
      </p:sp>
      <p:pic>
        <p:nvPicPr>
          <p:cNvPr id="5" name="Imagen 4">
            <a:extLst>
              <a:ext uri="{FF2B5EF4-FFF2-40B4-BE49-F238E27FC236}">
                <a16:creationId xmlns:a16="http://schemas.microsoft.com/office/drawing/2014/main" id="{F37D0EFD-751B-B8EC-DB6F-13DC57586758}"/>
              </a:ext>
            </a:extLst>
          </p:cNvPr>
          <p:cNvPicPr>
            <a:picLocks noChangeAspect="1"/>
          </p:cNvPicPr>
          <p:nvPr/>
        </p:nvPicPr>
        <p:blipFill>
          <a:blip r:embed="rId2"/>
          <a:stretch>
            <a:fillRect/>
          </a:stretch>
        </p:blipFill>
        <p:spPr>
          <a:xfrm>
            <a:off x="5656785" y="2719073"/>
            <a:ext cx="5506514" cy="990041"/>
          </a:xfrm>
          <a:prstGeom prst="rect">
            <a:avLst/>
          </a:prstGeom>
        </p:spPr>
      </p:pic>
      <p:sp>
        <p:nvSpPr>
          <p:cNvPr id="3" name="Subtítulo 2">
            <a:extLst>
              <a:ext uri="{FF2B5EF4-FFF2-40B4-BE49-F238E27FC236}">
                <a16:creationId xmlns:a16="http://schemas.microsoft.com/office/drawing/2014/main" id="{CAFE0F91-E6F6-5DAB-8818-DA3940414963}"/>
              </a:ext>
            </a:extLst>
          </p:cNvPr>
          <p:cNvSpPr>
            <a:spLocks noGrp="1"/>
          </p:cNvSpPr>
          <p:nvPr>
            <p:ph idx="1"/>
          </p:nvPr>
        </p:nvSpPr>
        <p:spPr>
          <a:xfrm>
            <a:off x="5595192" y="3921617"/>
            <a:ext cx="5506514" cy="1834325"/>
          </a:xfrm>
        </p:spPr>
        <p:txBody>
          <a:bodyPr anchor="t">
            <a:normAutofit/>
          </a:bodyPr>
          <a:lstStyle/>
          <a:p>
            <a:r>
              <a:rPr lang="es-ES" b="0" i="0">
                <a:effectLst/>
                <a:latin typeface="Inter"/>
              </a:rPr>
              <a:t>Una vez que hemos declarado un método, podemos llamarlo desde otro lugar de nuestro código. La llamada de un método se realiza utilizando su nombre seguido de paréntesis, y se pueden pasar los argumentos correspondientes si es necesario.</a:t>
            </a:r>
            <a:endParaRPr lang="es-GT" dirty="0"/>
          </a:p>
        </p:txBody>
      </p:sp>
    </p:spTree>
    <p:extLst>
      <p:ext uri="{BB962C8B-B14F-4D97-AF65-F5344CB8AC3E}">
        <p14:creationId xmlns:p14="http://schemas.microsoft.com/office/powerpoint/2010/main" val="3501725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DC8E22-9C67-11DA-A3B5-82D17C82350A}"/>
            </a:ext>
          </a:extLst>
        </p:cNvPr>
        <p:cNvGrpSpPr/>
        <p:nvPr/>
      </p:nvGrpSpPr>
      <p:grpSpPr>
        <a:xfrm>
          <a:off x="0" y="0"/>
          <a:ext cx="0" cy="0"/>
          <a:chOff x="0" y="0"/>
          <a:chExt cx="0" cy="0"/>
        </a:xfrm>
      </p:grpSpPr>
      <p:sp useBgFill="1">
        <p:nvSpPr>
          <p:cNvPr id="15" name="Rectangle 12">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158D6AA-63C1-E21B-2488-5168DF661237}"/>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Retorno de métodos</a:t>
            </a:r>
          </a:p>
        </p:txBody>
      </p:sp>
      <p:pic>
        <p:nvPicPr>
          <p:cNvPr id="8" name="Imagen 7">
            <a:extLst>
              <a:ext uri="{FF2B5EF4-FFF2-40B4-BE49-F238E27FC236}">
                <a16:creationId xmlns:a16="http://schemas.microsoft.com/office/drawing/2014/main" id="{019C0FED-D6C6-11C6-CE73-5FFD9BBF3FBE}"/>
              </a:ext>
            </a:extLst>
          </p:cNvPr>
          <p:cNvPicPr>
            <a:picLocks noChangeAspect="1"/>
          </p:cNvPicPr>
          <p:nvPr/>
        </p:nvPicPr>
        <p:blipFill>
          <a:blip r:embed="rId2"/>
          <a:stretch>
            <a:fillRect/>
          </a:stretch>
        </p:blipFill>
        <p:spPr>
          <a:xfrm>
            <a:off x="5656785" y="2050719"/>
            <a:ext cx="5506514" cy="1658394"/>
          </a:xfrm>
          <a:prstGeom prst="rect">
            <a:avLst/>
          </a:prstGeom>
        </p:spPr>
      </p:pic>
      <p:sp>
        <p:nvSpPr>
          <p:cNvPr id="3" name="Subtítulo 2">
            <a:extLst>
              <a:ext uri="{FF2B5EF4-FFF2-40B4-BE49-F238E27FC236}">
                <a16:creationId xmlns:a16="http://schemas.microsoft.com/office/drawing/2014/main" id="{FB3EE544-7DFA-F9E3-1156-EBB0E745F3A5}"/>
              </a:ext>
            </a:extLst>
          </p:cNvPr>
          <p:cNvSpPr>
            <a:spLocks noGrp="1"/>
          </p:cNvSpPr>
          <p:nvPr>
            <p:ph idx="1"/>
          </p:nvPr>
        </p:nvSpPr>
        <p:spPr>
          <a:xfrm>
            <a:off x="5595192" y="3921617"/>
            <a:ext cx="5506514" cy="1834325"/>
          </a:xfrm>
        </p:spPr>
        <p:txBody>
          <a:bodyPr anchor="t">
            <a:normAutofit/>
          </a:bodyPr>
          <a:lstStyle/>
          <a:p>
            <a:r>
              <a:rPr lang="es-ES" b="0" i="0">
                <a:effectLst/>
                <a:latin typeface="Inter"/>
              </a:rPr>
              <a:t>En Java, los métodos con retorno utilizan la palabra clave </a:t>
            </a:r>
            <a:r>
              <a:rPr lang="es-ES" b="0" i="0" err="1">
                <a:effectLst/>
                <a:latin typeface="Inter"/>
              </a:rPr>
              <a:t>return</a:t>
            </a:r>
            <a:r>
              <a:rPr lang="es-ES" b="0" i="0">
                <a:effectLst/>
                <a:latin typeface="Inter"/>
              </a:rPr>
              <a:t> para devolver un valor al lugar donde se llaman. El tipo de dato devuelto debe ser coherente con la declaración del método.</a:t>
            </a:r>
            <a:endParaRPr lang="es-GT" dirty="0"/>
          </a:p>
        </p:txBody>
      </p:sp>
    </p:spTree>
    <p:extLst>
      <p:ext uri="{BB962C8B-B14F-4D97-AF65-F5344CB8AC3E}">
        <p14:creationId xmlns:p14="http://schemas.microsoft.com/office/powerpoint/2010/main" val="3473067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4E90B58-67F2-AD08-FC78-16BD486488A5}"/>
              </a:ext>
            </a:extLst>
          </p:cNvPr>
          <p:cNvSpPr>
            <a:spLocks noGrp="1"/>
          </p:cNvSpPr>
          <p:nvPr>
            <p:ph type="title"/>
          </p:nvPr>
        </p:nvSpPr>
        <p:spPr>
          <a:xfrm>
            <a:off x="1066801" y="1142999"/>
            <a:ext cx="3402256" cy="2714223"/>
          </a:xfrm>
        </p:spPr>
        <p:txBody>
          <a:bodyPr anchor="t">
            <a:normAutofit/>
          </a:bodyPr>
          <a:lstStyle/>
          <a:p>
            <a:r>
              <a:rPr lang="es-GT">
                <a:latin typeface="Inter"/>
              </a:rPr>
              <a:t>P</a:t>
            </a:r>
            <a:r>
              <a:rPr lang="es-GT" b="1" i="0">
                <a:effectLst/>
                <a:latin typeface="Inter"/>
              </a:rPr>
              <a:t>arámetros en Java</a:t>
            </a:r>
            <a:endParaRPr lang="es-GT"/>
          </a:p>
        </p:txBody>
      </p:sp>
      <p:pic>
        <p:nvPicPr>
          <p:cNvPr id="5" name="Imagen 4">
            <a:extLst>
              <a:ext uri="{FF2B5EF4-FFF2-40B4-BE49-F238E27FC236}">
                <a16:creationId xmlns:a16="http://schemas.microsoft.com/office/drawing/2014/main" id="{9FE24AB2-ED5A-4327-7CCD-447047E50043}"/>
              </a:ext>
            </a:extLst>
          </p:cNvPr>
          <p:cNvPicPr>
            <a:picLocks noChangeAspect="1"/>
          </p:cNvPicPr>
          <p:nvPr/>
        </p:nvPicPr>
        <p:blipFill>
          <a:blip r:embed="rId2"/>
          <a:stretch>
            <a:fillRect/>
          </a:stretch>
        </p:blipFill>
        <p:spPr>
          <a:xfrm>
            <a:off x="5656785" y="2623323"/>
            <a:ext cx="5506514" cy="1085791"/>
          </a:xfrm>
          <a:prstGeom prst="rect">
            <a:avLst/>
          </a:prstGeom>
        </p:spPr>
      </p:pic>
      <p:sp>
        <p:nvSpPr>
          <p:cNvPr id="3" name="Marcador de contenido 2">
            <a:extLst>
              <a:ext uri="{FF2B5EF4-FFF2-40B4-BE49-F238E27FC236}">
                <a16:creationId xmlns:a16="http://schemas.microsoft.com/office/drawing/2014/main" id="{BD15AD21-BE8B-D329-3F15-1A6BCADEB831}"/>
              </a:ext>
            </a:extLst>
          </p:cNvPr>
          <p:cNvSpPr>
            <a:spLocks noGrp="1"/>
          </p:cNvSpPr>
          <p:nvPr>
            <p:ph idx="1"/>
          </p:nvPr>
        </p:nvSpPr>
        <p:spPr>
          <a:xfrm>
            <a:off x="5595192" y="3921617"/>
            <a:ext cx="5506514" cy="1834325"/>
          </a:xfrm>
        </p:spPr>
        <p:txBody>
          <a:bodyPr anchor="t">
            <a:normAutofit/>
          </a:bodyPr>
          <a:lstStyle/>
          <a:p>
            <a:pPr>
              <a:lnSpc>
                <a:spcPct val="110000"/>
              </a:lnSpc>
            </a:pPr>
            <a:r>
              <a:rPr lang="es-ES" sz="1400"/>
              <a:t>En Java, los parámetros son elementos clave que nos permiten recibir información en un método. Son variables que actúan como recipientes para los datos que debemos proporcionar al llamar a un método. Estos parámetros se definen en la declaración del método y especifican el tipo de dato y nombre que se espera recibir.</a:t>
            </a:r>
            <a:endParaRPr lang="es-GT" sz="1400"/>
          </a:p>
        </p:txBody>
      </p:sp>
    </p:spTree>
    <p:extLst>
      <p:ext uri="{BB962C8B-B14F-4D97-AF65-F5344CB8AC3E}">
        <p14:creationId xmlns:p14="http://schemas.microsoft.com/office/powerpoint/2010/main" val="2702737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04E393-760F-0EAD-0BCC-CAE8FC0AD33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5175EA-D656-8114-4CB9-1F032C92F522}"/>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Parámetros de valor</a:t>
            </a:r>
          </a:p>
        </p:txBody>
      </p:sp>
      <p:pic>
        <p:nvPicPr>
          <p:cNvPr id="6" name="Imagen 5">
            <a:extLst>
              <a:ext uri="{FF2B5EF4-FFF2-40B4-BE49-F238E27FC236}">
                <a16:creationId xmlns:a16="http://schemas.microsoft.com/office/drawing/2014/main" id="{BF22ABB6-0484-2F4C-C18E-BD91BAC5029A}"/>
              </a:ext>
            </a:extLst>
          </p:cNvPr>
          <p:cNvPicPr>
            <a:picLocks noChangeAspect="1"/>
          </p:cNvPicPr>
          <p:nvPr/>
        </p:nvPicPr>
        <p:blipFill>
          <a:blip r:embed="rId2"/>
          <a:stretch>
            <a:fillRect/>
          </a:stretch>
        </p:blipFill>
        <p:spPr>
          <a:xfrm>
            <a:off x="5656785" y="1197697"/>
            <a:ext cx="5506514" cy="2511416"/>
          </a:xfrm>
          <a:prstGeom prst="rect">
            <a:avLst/>
          </a:prstGeom>
        </p:spPr>
      </p:pic>
      <p:sp>
        <p:nvSpPr>
          <p:cNvPr id="3" name="Marcador de contenido 2">
            <a:extLst>
              <a:ext uri="{FF2B5EF4-FFF2-40B4-BE49-F238E27FC236}">
                <a16:creationId xmlns:a16="http://schemas.microsoft.com/office/drawing/2014/main" id="{19DF71B0-7D5D-9046-C8E8-C2F1F3F6C78F}"/>
              </a:ext>
            </a:extLst>
          </p:cNvPr>
          <p:cNvSpPr>
            <a:spLocks noGrp="1"/>
          </p:cNvSpPr>
          <p:nvPr>
            <p:ph idx="1"/>
          </p:nvPr>
        </p:nvSpPr>
        <p:spPr>
          <a:xfrm>
            <a:off x="5595192" y="3921617"/>
            <a:ext cx="5506514" cy="1834325"/>
          </a:xfrm>
        </p:spPr>
        <p:txBody>
          <a:bodyPr anchor="t">
            <a:normAutofit/>
          </a:bodyPr>
          <a:lstStyle/>
          <a:p>
            <a:pPr>
              <a:lnSpc>
                <a:spcPct val="110000"/>
              </a:lnSpc>
            </a:pPr>
            <a:r>
              <a:rPr lang="es-ES" sz="1700" b="0" i="0">
                <a:effectLst/>
                <a:latin typeface="Inter"/>
              </a:rPr>
              <a:t>En Java, los parámetros de valor se utilizan para transmitir información a un método. Cuando se pasa un parámetro de valor a un método, se crea una copia del valor pasado a ese método. Esto significa que cualquier cambio realizado en el parámetro dentro del método no afectará a la variable original fuera del mismo.</a:t>
            </a:r>
            <a:endParaRPr lang="es-GT" sz="1700"/>
          </a:p>
        </p:txBody>
      </p:sp>
    </p:spTree>
    <p:extLst>
      <p:ext uri="{BB962C8B-B14F-4D97-AF65-F5344CB8AC3E}">
        <p14:creationId xmlns:p14="http://schemas.microsoft.com/office/powerpoint/2010/main" val="1915405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0B2F77-4D43-317F-F755-A263AF3263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6F9435-E138-5C7C-61E7-12CCB3055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F3F52C1-409A-CD5E-F667-8895846BAF3E}"/>
              </a:ext>
            </a:extLst>
          </p:cNvPr>
          <p:cNvSpPr>
            <a:spLocks noGrp="1"/>
          </p:cNvSpPr>
          <p:nvPr>
            <p:ph type="title"/>
          </p:nvPr>
        </p:nvSpPr>
        <p:spPr>
          <a:xfrm>
            <a:off x="1066801" y="1142999"/>
            <a:ext cx="3402256" cy="2714223"/>
          </a:xfrm>
        </p:spPr>
        <p:txBody>
          <a:bodyPr anchor="t">
            <a:normAutofit/>
          </a:bodyPr>
          <a:lstStyle/>
          <a:p>
            <a:r>
              <a:rPr lang="es-GT" b="1" i="0">
                <a:effectLst/>
                <a:latin typeface="Inter"/>
              </a:rPr>
              <a:t>Parámetros de referencia</a:t>
            </a:r>
          </a:p>
        </p:txBody>
      </p:sp>
      <p:pic>
        <p:nvPicPr>
          <p:cNvPr id="5" name="Imagen 4">
            <a:extLst>
              <a:ext uri="{FF2B5EF4-FFF2-40B4-BE49-F238E27FC236}">
                <a16:creationId xmlns:a16="http://schemas.microsoft.com/office/drawing/2014/main" id="{7AB24E4F-78A9-6CB6-4681-8F280388D9E0}"/>
              </a:ext>
            </a:extLst>
          </p:cNvPr>
          <p:cNvPicPr>
            <a:picLocks noChangeAspect="1"/>
          </p:cNvPicPr>
          <p:nvPr/>
        </p:nvPicPr>
        <p:blipFill>
          <a:blip r:embed="rId2"/>
          <a:stretch>
            <a:fillRect/>
          </a:stretch>
        </p:blipFill>
        <p:spPr>
          <a:xfrm>
            <a:off x="5656785" y="1396379"/>
            <a:ext cx="5506514" cy="2312735"/>
          </a:xfrm>
          <a:prstGeom prst="rect">
            <a:avLst/>
          </a:prstGeom>
        </p:spPr>
      </p:pic>
      <p:sp>
        <p:nvSpPr>
          <p:cNvPr id="3" name="Marcador de contenido 2">
            <a:extLst>
              <a:ext uri="{FF2B5EF4-FFF2-40B4-BE49-F238E27FC236}">
                <a16:creationId xmlns:a16="http://schemas.microsoft.com/office/drawing/2014/main" id="{6575DFC3-2633-E0DA-1745-01715CCBC277}"/>
              </a:ext>
            </a:extLst>
          </p:cNvPr>
          <p:cNvSpPr>
            <a:spLocks noGrp="1"/>
          </p:cNvSpPr>
          <p:nvPr>
            <p:ph idx="1"/>
          </p:nvPr>
        </p:nvSpPr>
        <p:spPr>
          <a:xfrm>
            <a:off x="5595192" y="3921617"/>
            <a:ext cx="5506514" cy="1834325"/>
          </a:xfrm>
        </p:spPr>
        <p:txBody>
          <a:bodyPr anchor="t">
            <a:normAutofit/>
          </a:bodyPr>
          <a:lstStyle/>
          <a:p>
            <a:pPr>
              <a:lnSpc>
                <a:spcPct val="110000"/>
              </a:lnSpc>
            </a:pPr>
            <a:r>
              <a:rPr lang="es-ES" sz="1700" b="0" i="0">
                <a:effectLst/>
                <a:latin typeface="Inter"/>
              </a:rPr>
              <a:t>En Java, los parámetros de referencia se utilizan para transmitir información a un método de referencia. Cuando se pasa un parámetro de referencia a un método, se pasa la dirección de memoria del objeto o la referencia al objeto en sí mismo. Esto permite que el método pueda acceder y modificar el estado del objeto original.</a:t>
            </a:r>
            <a:endParaRPr lang="es-GT" sz="1700"/>
          </a:p>
        </p:txBody>
      </p:sp>
    </p:spTree>
    <p:extLst>
      <p:ext uri="{BB962C8B-B14F-4D97-AF65-F5344CB8AC3E}">
        <p14:creationId xmlns:p14="http://schemas.microsoft.com/office/powerpoint/2010/main" val="1913691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1">
            <a:extLst>
              <a:ext uri="{FF2B5EF4-FFF2-40B4-BE49-F238E27FC236}">
                <a16:creationId xmlns:a16="http://schemas.microsoft.com/office/drawing/2014/main" id="{8C248155-68EB-D74C-5577-DA97D48E35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58916" y="-105868"/>
            <a:ext cx="12309832" cy="7069736"/>
          </a:xfrm>
          <a:custGeom>
            <a:avLst/>
            <a:gdLst>
              <a:gd name="connsiteX0" fmla="*/ 119689 w 12309832"/>
              <a:gd name="connsiteY0" fmla="*/ 7069736 h 7069736"/>
              <a:gd name="connsiteX1" fmla="*/ 12309832 w 12309832"/>
              <a:gd name="connsiteY1" fmla="*/ 6856956 h 7069736"/>
              <a:gd name="connsiteX2" fmla="*/ 12190143 w 12309832"/>
              <a:gd name="connsiteY2" fmla="*/ 0 h 7069736"/>
              <a:gd name="connsiteX3" fmla="*/ 0 w 12309832"/>
              <a:gd name="connsiteY3" fmla="*/ 212780 h 7069736"/>
            </a:gdLst>
            <a:ahLst/>
            <a:cxnLst>
              <a:cxn ang="0">
                <a:pos x="connsiteX0" y="connsiteY0"/>
              </a:cxn>
              <a:cxn ang="0">
                <a:pos x="connsiteX1" y="connsiteY1"/>
              </a:cxn>
              <a:cxn ang="0">
                <a:pos x="connsiteX2" y="connsiteY2"/>
              </a:cxn>
              <a:cxn ang="0">
                <a:pos x="connsiteX3" y="connsiteY3"/>
              </a:cxn>
            </a:cxnLst>
            <a:rect l="l" t="t" r="r" b="b"/>
            <a:pathLst>
              <a:path w="12309832" h="7069736">
                <a:moveTo>
                  <a:pt x="119689" y="7069736"/>
                </a:moveTo>
                <a:lnTo>
                  <a:pt x="12309832" y="6856956"/>
                </a:lnTo>
                <a:lnTo>
                  <a:pt x="12190143" y="0"/>
                </a:lnTo>
                <a:lnTo>
                  <a:pt x="0" y="212780"/>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D30E628A-07F0-331A-DE0B-CCD7FB90A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71" y="734156"/>
            <a:ext cx="10617872" cy="538161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B49935A-C4B0-3D0E-28EE-A458E4648A1B}"/>
              </a:ext>
            </a:extLst>
          </p:cNvPr>
          <p:cNvSpPr>
            <a:spLocks noGrp="1"/>
          </p:cNvSpPr>
          <p:nvPr>
            <p:ph type="title"/>
          </p:nvPr>
        </p:nvSpPr>
        <p:spPr>
          <a:xfrm>
            <a:off x="1327918" y="2061769"/>
            <a:ext cx="3019575" cy="2737375"/>
          </a:xfrm>
        </p:spPr>
        <p:txBody>
          <a:bodyPr anchor="ctr">
            <a:normAutofit/>
          </a:bodyPr>
          <a:lstStyle/>
          <a:p>
            <a:r>
              <a:rPr lang="es-MX" sz="2800" dirty="0"/>
              <a:t>Pilares de la Programación Orientada a Objetos</a:t>
            </a:r>
          </a:p>
        </p:txBody>
      </p:sp>
      <p:graphicFrame>
        <p:nvGraphicFramePr>
          <p:cNvPr id="5" name="Marcador de contenido 2">
            <a:extLst>
              <a:ext uri="{FF2B5EF4-FFF2-40B4-BE49-F238E27FC236}">
                <a16:creationId xmlns:a16="http://schemas.microsoft.com/office/drawing/2014/main" id="{612871F9-97E6-522D-0FA6-38D05AD0D9DA}"/>
              </a:ext>
            </a:extLst>
          </p:cNvPr>
          <p:cNvGraphicFramePr>
            <a:graphicFrameLocks noGrp="1"/>
          </p:cNvGraphicFramePr>
          <p:nvPr>
            <p:ph idx="1"/>
            <p:extLst>
              <p:ext uri="{D42A27DB-BD31-4B8C-83A1-F6EECF244321}">
                <p14:modId xmlns:p14="http://schemas.microsoft.com/office/powerpoint/2010/main" val="1670767615"/>
              </p:ext>
            </p:extLst>
          </p:nvPr>
        </p:nvGraphicFramePr>
        <p:xfrm>
          <a:off x="4677295" y="1389163"/>
          <a:ext cx="6109130" cy="408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302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F8E54F-885D-4E03-A1D5-DC7A033ECB64}"/>
              </a:ext>
            </a:extLst>
          </p:cNvPr>
          <p:cNvSpPr>
            <a:spLocks noGrp="1"/>
          </p:cNvSpPr>
          <p:nvPr>
            <p:ph type="title"/>
          </p:nvPr>
        </p:nvSpPr>
        <p:spPr>
          <a:xfrm>
            <a:off x="1066800" y="1142999"/>
            <a:ext cx="4173416" cy="1257299"/>
          </a:xfrm>
        </p:spPr>
        <p:txBody>
          <a:bodyPr anchor="ctr">
            <a:normAutofit/>
          </a:bodyPr>
          <a:lstStyle/>
          <a:p>
            <a:r>
              <a:rPr lang="es-MX" dirty="0"/>
              <a:t>Abstracción</a:t>
            </a:r>
          </a:p>
        </p:txBody>
      </p:sp>
      <p:sp>
        <p:nvSpPr>
          <p:cNvPr id="3" name="Marcador de contenido 2">
            <a:extLst>
              <a:ext uri="{FF2B5EF4-FFF2-40B4-BE49-F238E27FC236}">
                <a16:creationId xmlns:a16="http://schemas.microsoft.com/office/drawing/2014/main" id="{38086684-7C8E-24B4-C061-CA4683A9DA4D}"/>
              </a:ext>
            </a:extLst>
          </p:cNvPr>
          <p:cNvSpPr>
            <a:spLocks noGrp="1"/>
          </p:cNvSpPr>
          <p:nvPr>
            <p:ph idx="1"/>
          </p:nvPr>
        </p:nvSpPr>
        <p:spPr>
          <a:xfrm>
            <a:off x="1066798" y="2736850"/>
            <a:ext cx="4013202" cy="2978152"/>
          </a:xfrm>
        </p:spPr>
        <p:txBody>
          <a:bodyPr>
            <a:normAutofit/>
          </a:bodyPr>
          <a:lstStyle/>
          <a:p>
            <a:pPr marL="0" indent="0">
              <a:lnSpc>
                <a:spcPct val="110000"/>
              </a:lnSpc>
              <a:buNone/>
            </a:pPr>
            <a:r>
              <a:rPr lang="es-MX" sz="1400"/>
              <a:t>Por definición, la abstracción es usar cosas simples para representar cosas complejas. En Java, esto se traduce como la creación de objetos, variables y clases para representar código y datos enmascarados. Evita repeticiones y trabajo, así como facilita el entendimiento y la integración.</a:t>
            </a:r>
          </a:p>
          <a:p>
            <a:pPr marL="0" indent="0">
              <a:lnSpc>
                <a:spcPct val="110000"/>
              </a:lnSpc>
              <a:buNone/>
            </a:pPr>
            <a:endParaRPr lang="es-MX" sz="1400"/>
          </a:p>
          <a:p>
            <a:pPr marL="0" indent="0">
              <a:lnSpc>
                <a:spcPct val="110000"/>
              </a:lnSpc>
              <a:buNone/>
            </a:pPr>
            <a:r>
              <a:rPr lang="es-MX" sz="1400"/>
              <a:t>En resumen, la abstracción es el proceso de definir los atributos de y métodos de una clase.</a:t>
            </a:r>
          </a:p>
        </p:txBody>
      </p:sp>
      <p:pic>
        <p:nvPicPr>
          <p:cNvPr id="5" name="Picture 4" descr="Script de ordenador en una pantalla">
            <a:extLst>
              <a:ext uri="{FF2B5EF4-FFF2-40B4-BE49-F238E27FC236}">
                <a16:creationId xmlns:a16="http://schemas.microsoft.com/office/drawing/2014/main" id="{D24B543C-11B9-FC7A-A483-E041DBFB93E5}"/>
              </a:ext>
            </a:extLst>
          </p:cNvPr>
          <p:cNvPicPr>
            <a:picLocks noChangeAspect="1"/>
          </p:cNvPicPr>
          <p:nvPr/>
        </p:nvPicPr>
        <p:blipFill>
          <a:blip r:embed="rId2"/>
          <a:srcRect r="32078" b="-2"/>
          <a:stretch>
            <a:fillRect/>
          </a:stretch>
        </p:blipFill>
        <p:spPr>
          <a:xfrm>
            <a:off x="6120859" y="882650"/>
            <a:ext cx="5184373" cy="5095021"/>
          </a:xfrm>
          <a:prstGeom prst="rect">
            <a:avLst/>
          </a:prstGeom>
        </p:spPr>
      </p:pic>
    </p:spTree>
    <p:extLst>
      <p:ext uri="{BB962C8B-B14F-4D97-AF65-F5344CB8AC3E}">
        <p14:creationId xmlns:p14="http://schemas.microsoft.com/office/powerpoint/2010/main" val="1663887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52AB4B-413E-7C4C-104E-C72718FC2A02}"/>
              </a:ext>
            </a:extLst>
          </p:cNvPr>
          <p:cNvSpPr>
            <a:spLocks noGrp="1"/>
          </p:cNvSpPr>
          <p:nvPr>
            <p:ph type="title"/>
          </p:nvPr>
        </p:nvSpPr>
        <p:spPr>
          <a:xfrm>
            <a:off x="1066800" y="1142999"/>
            <a:ext cx="4173416" cy="1257299"/>
          </a:xfrm>
        </p:spPr>
        <p:txBody>
          <a:bodyPr anchor="ctr">
            <a:normAutofit/>
          </a:bodyPr>
          <a:lstStyle/>
          <a:p>
            <a:r>
              <a:rPr lang="es-MX" dirty="0"/>
              <a:t>Encapsulamiento</a:t>
            </a:r>
          </a:p>
        </p:txBody>
      </p:sp>
      <p:sp>
        <p:nvSpPr>
          <p:cNvPr id="3" name="Marcador de contenido 2">
            <a:extLst>
              <a:ext uri="{FF2B5EF4-FFF2-40B4-BE49-F238E27FC236}">
                <a16:creationId xmlns:a16="http://schemas.microsoft.com/office/drawing/2014/main" id="{EAF842C0-6CCC-2A2B-71F1-2ADA49C5A11B}"/>
              </a:ext>
            </a:extLst>
          </p:cNvPr>
          <p:cNvSpPr>
            <a:spLocks noGrp="1"/>
          </p:cNvSpPr>
          <p:nvPr>
            <p:ph idx="1"/>
          </p:nvPr>
        </p:nvSpPr>
        <p:spPr>
          <a:xfrm>
            <a:off x="1066798" y="2736850"/>
            <a:ext cx="4013202" cy="2978152"/>
          </a:xfrm>
        </p:spPr>
        <p:txBody>
          <a:bodyPr>
            <a:normAutofit/>
          </a:bodyPr>
          <a:lstStyle/>
          <a:p>
            <a:pPr marL="0" indent="0">
              <a:lnSpc>
                <a:spcPct val="110000"/>
              </a:lnSpc>
              <a:buNone/>
            </a:pPr>
            <a:r>
              <a:rPr lang="es-MX" sz="1000"/>
              <a:t>Es la práctica de mantener los campos de una clase ocultos, proveyendo acceso a estos por medio de métodos y funciones públicas. Esto crea barreras protectoras entre los datos y códigos, para la misma clase. Así, los objetos son reutilizables en componentes de código o variables que no permitan acceder a la data de un sistema completo.</a:t>
            </a:r>
          </a:p>
          <a:p>
            <a:pPr marL="0" indent="0">
              <a:lnSpc>
                <a:spcPct val="110000"/>
              </a:lnSpc>
              <a:buNone/>
            </a:pPr>
            <a:endParaRPr lang="es-MX" sz="1000"/>
          </a:p>
          <a:p>
            <a:pPr marL="0" indent="0">
              <a:lnSpc>
                <a:spcPct val="110000"/>
              </a:lnSpc>
              <a:buNone/>
            </a:pPr>
            <a:r>
              <a:rPr lang="es-MX" sz="1000"/>
              <a:t>GET (Obtener)</a:t>
            </a:r>
          </a:p>
          <a:p>
            <a:pPr>
              <a:lnSpc>
                <a:spcPct val="110000"/>
              </a:lnSpc>
            </a:pPr>
            <a:r>
              <a:rPr lang="es-MX" sz="1000"/>
              <a:t>Es una función la cuál hace que se pueda acceder al atributo de un objeto.</a:t>
            </a:r>
          </a:p>
          <a:p>
            <a:pPr marL="0" indent="0">
              <a:lnSpc>
                <a:spcPct val="110000"/>
              </a:lnSpc>
              <a:buNone/>
            </a:pPr>
            <a:r>
              <a:rPr lang="es-MX" sz="1000"/>
              <a:t>SET (Modificar)</a:t>
            </a:r>
          </a:p>
          <a:p>
            <a:pPr>
              <a:lnSpc>
                <a:spcPct val="110000"/>
              </a:lnSpc>
            </a:pPr>
            <a:r>
              <a:rPr lang="es-MX" sz="1000"/>
              <a:t>Es un método que permite cambiar el valor del atributo de un objeto.</a:t>
            </a:r>
          </a:p>
        </p:txBody>
      </p:sp>
      <p:pic>
        <p:nvPicPr>
          <p:cNvPr id="5" name="Picture 4" descr="Desinfectante para manos en aerosol">
            <a:extLst>
              <a:ext uri="{FF2B5EF4-FFF2-40B4-BE49-F238E27FC236}">
                <a16:creationId xmlns:a16="http://schemas.microsoft.com/office/drawing/2014/main" id="{F332EC3B-679F-EFA5-4D2F-2ECD34E8B2D5}"/>
              </a:ext>
            </a:extLst>
          </p:cNvPr>
          <p:cNvPicPr>
            <a:picLocks noChangeAspect="1"/>
          </p:cNvPicPr>
          <p:nvPr/>
        </p:nvPicPr>
        <p:blipFill>
          <a:blip r:embed="rId2"/>
          <a:srcRect l="3108" r="28969" b="-2"/>
          <a:stretch>
            <a:fillRect/>
          </a:stretch>
        </p:blipFill>
        <p:spPr>
          <a:xfrm>
            <a:off x="6120859" y="882650"/>
            <a:ext cx="5184373" cy="5095021"/>
          </a:xfrm>
          <a:prstGeom prst="rect">
            <a:avLst/>
          </a:prstGeom>
        </p:spPr>
      </p:pic>
    </p:spTree>
    <p:extLst>
      <p:ext uri="{BB962C8B-B14F-4D97-AF65-F5344CB8AC3E}">
        <p14:creationId xmlns:p14="http://schemas.microsoft.com/office/powerpoint/2010/main" val="663870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83ED20-88F8-385D-5795-22E0C4D864CB}"/>
              </a:ext>
            </a:extLst>
          </p:cNvPr>
          <p:cNvSpPr>
            <a:spLocks noGrp="1"/>
          </p:cNvSpPr>
          <p:nvPr>
            <p:ph type="title"/>
          </p:nvPr>
        </p:nvSpPr>
        <p:spPr>
          <a:xfrm>
            <a:off x="1066801" y="784747"/>
            <a:ext cx="3846394" cy="1555842"/>
          </a:xfrm>
        </p:spPr>
        <p:txBody>
          <a:bodyPr vert="horz" lIns="91440" tIns="45720" rIns="91440" bIns="45720" rtlCol="0" anchor="b">
            <a:normAutofit/>
          </a:bodyPr>
          <a:lstStyle/>
          <a:p>
            <a:pPr algn="r">
              <a:lnSpc>
                <a:spcPct val="100000"/>
              </a:lnSpc>
            </a:pPr>
            <a:r>
              <a:rPr lang="en-US" sz="3300"/>
              <a:t>Ejemplo Encapsulamiento</a:t>
            </a:r>
          </a:p>
        </p:txBody>
      </p:sp>
      <p:pic>
        <p:nvPicPr>
          <p:cNvPr id="7" name="Imagen 6" descr="Texto&#10;&#10;Descripción generada automáticamente">
            <a:extLst>
              <a:ext uri="{FF2B5EF4-FFF2-40B4-BE49-F238E27FC236}">
                <a16:creationId xmlns:a16="http://schemas.microsoft.com/office/drawing/2014/main" id="{373F5D17-2831-FA7F-AF34-51BE3E2A8F46}"/>
              </a:ext>
            </a:extLst>
          </p:cNvPr>
          <p:cNvPicPr>
            <a:picLocks noChangeAspect="1"/>
          </p:cNvPicPr>
          <p:nvPr/>
        </p:nvPicPr>
        <p:blipFill>
          <a:blip r:embed="rId2"/>
          <a:srcRect r="10511"/>
          <a:stretch/>
        </p:blipFill>
        <p:spPr>
          <a:xfrm>
            <a:off x="5540990" y="1050879"/>
            <a:ext cx="3973808" cy="4800601"/>
          </a:xfrm>
          <a:prstGeom prst="rect">
            <a:avLst/>
          </a:prstGeom>
        </p:spPr>
      </p:pic>
    </p:spTree>
    <p:extLst>
      <p:ext uri="{BB962C8B-B14F-4D97-AF65-F5344CB8AC3E}">
        <p14:creationId xmlns:p14="http://schemas.microsoft.com/office/powerpoint/2010/main" val="796068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1A1A1-F0D0-D4E9-0C26-016C779E6BE2}"/>
              </a:ext>
            </a:extLst>
          </p:cNvPr>
          <p:cNvSpPr>
            <a:spLocks noGrp="1"/>
          </p:cNvSpPr>
          <p:nvPr>
            <p:ph type="title"/>
          </p:nvPr>
        </p:nvSpPr>
        <p:spPr>
          <a:xfrm>
            <a:off x="1987680" y="1143000"/>
            <a:ext cx="7946597" cy="1257300"/>
          </a:xfrm>
        </p:spPr>
        <p:txBody>
          <a:bodyPr anchor="ctr">
            <a:normAutofit/>
          </a:bodyPr>
          <a:lstStyle/>
          <a:p>
            <a:r>
              <a:rPr lang="es-MX" dirty="0"/>
              <a:t>Polimorfismo</a:t>
            </a:r>
          </a:p>
        </p:txBody>
      </p:sp>
      <p:sp>
        <p:nvSpPr>
          <p:cNvPr id="3" name="Marcador de contenido 2">
            <a:extLst>
              <a:ext uri="{FF2B5EF4-FFF2-40B4-BE49-F238E27FC236}">
                <a16:creationId xmlns:a16="http://schemas.microsoft.com/office/drawing/2014/main" id="{FDDA045B-3D4F-F900-78B1-4E8C4AF62641}"/>
              </a:ext>
            </a:extLst>
          </p:cNvPr>
          <p:cNvSpPr>
            <a:spLocks noGrp="1"/>
          </p:cNvSpPr>
          <p:nvPr>
            <p:ph idx="1"/>
          </p:nvPr>
        </p:nvSpPr>
        <p:spPr>
          <a:xfrm>
            <a:off x="1987680" y="2411519"/>
            <a:ext cx="5380530" cy="3394641"/>
          </a:xfrm>
        </p:spPr>
        <p:txBody>
          <a:bodyPr>
            <a:normAutofit/>
          </a:bodyPr>
          <a:lstStyle/>
          <a:p>
            <a:pPr marL="0" indent="0">
              <a:lnSpc>
                <a:spcPct val="110000"/>
              </a:lnSpc>
              <a:buNone/>
            </a:pPr>
            <a:r>
              <a:rPr lang="es-MX" sz="1100"/>
              <a:t>El polimorfismo es un principio de POO, el cuál permite que una misma interfaz o método pueda comportarse de diferentes maneras según el objeto que lo implemente. </a:t>
            </a:r>
          </a:p>
          <a:p>
            <a:pPr marL="0" indent="0">
              <a:lnSpc>
                <a:spcPct val="110000"/>
              </a:lnSpc>
              <a:buNone/>
            </a:pPr>
            <a:r>
              <a:rPr lang="es-MX" sz="1100"/>
              <a:t>Existen dos tipos principales:</a:t>
            </a:r>
          </a:p>
          <a:p>
            <a:pPr>
              <a:lnSpc>
                <a:spcPct val="110000"/>
              </a:lnSpc>
            </a:pPr>
            <a:r>
              <a:rPr lang="es-MX" sz="1100"/>
              <a:t>Polimorfismo en tiempo de compilación (estático): Se logra mediante sobrecarga de métodos o operadores.</a:t>
            </a:r>
          </a:p>
          <a:p>
            <a:pPr lvl="1">
              <a:lnSpc>
                <a:spcPct val="110000"/>
              </a:lnSpc>
            </a:pPr>
            <a:r>
              <a:rPr lang="es-MX" sz="1100"/>
              <a:t>Ejemplo: Un método con el mismo nombre pero diferente cantidad o tipo de parámetros.</a:t>
            </a:r>
          </a:p>
          <a:p>
            <a:pPr>
              <a:lnSpc>
                <a:spcPct val="110000"/>
              </a:lnSpc>
            </a:pPr>
            <a:r>
              <a:rPr lang="es-MX" sz="1100"/>
              <a:t>Polimorfismo en tiempo de ejecución (dinámico): Se logra mediante herencia y sobreescritura de métodos, donde una clase hija redefine el comportamiento de un método de su clase base.</a:t>
            </a:r>
          </a:p>
          <a:p>
            <a:pPr marL="0" indent="0">
              <a:lnSpc>
                <a:spcPct val="110000"/>
              </a:lnSpc>
              <a:buNone/>
            </a:pPr>
            <a:r>
              <a:rPr lang="es-MX" sz="1100"/>
              <a:t>El polimorfismo permite escribir código más flexible y reutilizable, dando la opción de tratar objetos de diferentes tipos de manera uniforme.</a:t>
            </a:r>
          </a:p>
        </p:txBody>
      </p:sp>
    </p:spTree>
    <p:extLst>
      <p:ext uri="{BB962C8B-B14F-4D97-AF65-F5344CB8AC3E}">
        <p14:creationId xmlns:p14="http://schemas.microsoft.com/office/powerpoint/2010/main" val="1633432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A58292-EB98-3869-543F-77675008C264}"/>
              </a:ext>
            </a:extLst>
          </p:cNvPr>
          <p:cNvSpPr>
            <a:spLocks noGrp="1"/>
          </p:cNvSpPr>
          <p:nvPr>
            <p:ph type="title"/>
          </p:nvPr>
        </p:nvSpPr>
        <p:spPr>
          <a:xfrm>
            <a:off x="1066801" y="784747"/>
            <a:ext cx="3846394" cy="1555842"/>
          </a:xfrm>
        </p:spPr>
        <p:txBody>
          <a:bodyPr vert="horz" lIns="91440" tIns="45720" rIns="91440" bIns="45720" rtlCol="0" anchor="b">
            <a:normAutofit/>
          </a:bodyPr>
          <a:lstStyle/>
          <a:p>
            <a:pPr algn="r"/>
            <a:r>
              <a:rPr lang="en-US" sz="2500"/>
              <a:t>Ejemplo Polimorfismo en tiempo de Compilación</a:t>
            </a:r>
          </a:p>
        </p:txBody>
      </p:sp>
      <p:pic>
        <p:nvPicPr>
          <p:cNvPr id="5" name="Imagen 4">
            <a:extLst>
              <a:ext uri="{FF2B5EF4-FFF2-40B4-BE49-F238E27FC236}">
                <a16:creationId xmlns:a16="http://schemas.microsoft.com/office/drawing/2014/main" id="{469D54F9-A07A-CF3E-A713-E95EBB032249}"/>
              </a:ext>
            </a:extLst>
          </p:cNvPr>
          <p:cNvPicPr>
            <a:picLocks noChangeAspect="1"/>
          </p:cNvPicPr>
          <p:nvPr/>
        </p:nvPicPr>
        <p:blipFill>
          <a:blip r:embed="rId2"/>
          <a:stretch>
            <a:fillRect/>
          </a:stretch>
        </p:blipFill>
        <p:spPr>
          <a:xfrm>
            <a:off x="5540990" y="1050879"/>
            <a:ext cx="5725445" cy="3564089"/>
          </a:xfrm>
          <a:prstGeom prst="rect">
            <a:avLst/>
          </a:prstGeom>
        </p:spPr>
      </p:pic>
    </p:spTree>
    <p:extLst>
      <p:ext uri="{BB962C8B-B14F-4D97-AF65-F5344CB8AC3E}">
        <p14:creationId xmlns:p14="http://schemas.microsoft.com/office/powerpoint/2010/main" val="881642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2EE701-F6BF-30D7-60F1-5CC6FA923EA2}"/>
              </a:ext>
            </a:extLst>
          </p:cNvPr>
          <p:cNvSpPr>
            <a:spLocks noGrp="1"/>
          </p:cNvSpPr>
          <p:nvPr>
            <p:ph type="title"/>
          </p:nvPr>
        </p:nvSpPr>
        <p:spPr>
          <a:xfrm>
            <a:off x="1066801" y="784747"/>
            <a:ext cx="3846394" cy="1555842"/>
          </a:xfrm>
        </p:spPr>
        <p:txBody>
          <a:bodyPr vert="horz" lIns="91440" tIns="45720" rIns="91440" bIns="45720" rtlCol="0" anchor="b">
            <a:normAutofit/>
          </a:bodyPr>
          <a:lstStyle/>
          <a:p>
            <a:pPr algn="r"/>
            <a:r>
              <a:rPr lang="en-US" sz="2800"/>
              <a:t>Ejemplo Polimorfismo en Tiempo de Ejecución</a:t>
            </a:r>
          </a:p>
        </p:txBody>
      </p:sp>
      <p:pic>
        <p:nvPicPr>
          <p:cNvPr id="5" name="Imagen 4">
            <a:extLst>
              <a:ext uri="{FF2B5EF4-FFF2-40B4-BE49-F238E27FC236}">
                <a16:creationId xmlns:a16="http://schemas.microsoft.com/office/drawing/2014/main" id="{61DE3F4E-AE7B-8C9F-0DDF-06A254A1049B}"/>
              </a:ext>
            </a:extLst>
          </p:cNvPr>
          <p:cNvPicPr>
            <a:picLocks noChangeAspect="1"/>
          </p:cNvPicPr>
          <p:nvPr/>
        </p:nvPicPr>
        <p:blipFill>
          <a:blip r:embed="rId2"/>
          <a:stretch>
            <a:fillRect/>
          </a:stretch>
        </p:blipFill>
        <p:spPr>
          <a:xfrm>
            <a:off x="5540990" y="1050879"/>
            <a:ext cx="4032504" cy="4800601"/>
          </a:xfrm>
          <a:prstGeom prst="rect">
            <a:avLst/>
          </a:prstGeom>
        </p:spPr>
      </p:pic>
    </p:spTree>
    <p:extLst>
      <p:ext uri="{BB962C8B-B14F-4D97-AF65-F5344CB8AC3E}">
        <p14:creationId xmlns:p14="http://schemas.microsoft.com/office/powerpoint/2010/main" val="2955008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4DE50-DC32-A9CB-4C1B-7B13C5C8F253}"/>
              </a:ext>
            </a:extLst>
          </p:cNvPr>
          <p:cNvSpPr>
            <a:spLocks noGrp="1"/>
          </p:cNvSpPr>
          <p:nvPr>
            <p:ph type="title"/>
          </p:nvPr>
        </p:nvSpPr>
        <p:spPr>
          <a:xfrm>
            <a:off x="1987680" y="1143000"/>
            <a:ext cx="7946597" cy="1257300"/>
          </a:xfrm>
        </p:spPr>
        <p:txBody>
          <a:bodyPr anchor="ctr">
            <a:normAutofit/>
          </a:bodyPr>
          <a:lstStyle/>
          <a:p>
            <a:r>
              <a:rPr lang="es-MX"/>
              <a:t>Herencia</a:t>
            </a:r>
            <a:endParaRPr lang="es-MX" dirty="0"/>
          </a:p>
        </p:txBody>
      </p:sp>
      <p:sp>
        <p:nvSpPr>
          <p:cNvPr id="3" name="Marcador de contenido 2">
            <a:extLst>
              <a:ext uri="{FF2B5EF4-FFF2-40B4-BE49-F238E27FC236}">
                <a16:creationId xmlns:a16="http://schemas.microsoft.com/office/drawing/2014/main" id="{92A8E773-5C26-E0EC-0B4C-11D4F6122933}"/>
              </a:ext>
            </a:extLst>
          </p:cNvPr>
          <p:cNvSpPr>
            <a:spLocks noGrp="1"/>
          </p:cNvSpPr>
          <p:nvPr>
            <p:ph idx="1"/>
          </p:nvPr>
        </p:nvSpPr>
        <p:spPr>
          <a:xfrm>
            <a:off x="1987680" y="2411519"/>
            <a:ext cx="5380530" cy="3394641"/>
          </a:xfrm>
        </p:spPr>
        <p:txBody>
          <a:bodyPr>
            <a:normAutofit/>
          </a:bodyPr>
          <a:lstStyle/>
          <a:p>
            <a:pPr marL="0" indent="0">
              <a:lnSpc>
                <a:spcPct val="110000"/>
              </a:lnSpc>
              <a:buNone/>
            </a:pPr>
            <a:r>
              <a:rPr lang="es-MX" sz="1500"/>
              <a:t>Permite a una clase (llamada clase hija o subclase) heredar propiedades y métodos de otra clase (llamada clase padre o superclase). </a:t>
            </a:r>
          </a:p>
          <a:p>
            <a:pPr marL="0" indent="0">
              <a:lnSpc>
                <a:spcPct val="110000"/>
              </a:lnSpc>
              <a:buNone/>
            </a:pPr>
            <a:r>
              <a:rPr lang="es-MX" sz="1500"/>
              <a:t>Características principales: </a:t>
            </a:r>
          </a:p>
          <a:p>
            <a:pPr>
              <a:lnSpc>
                <a:spcPct val="110000"/>
              </a:lnSpc>
            </a:pPr>
            <a:r>
              <a:rPr lang="es-MX" sz="1500"/>
              <a:t>Reutilización de código: La subclase reutiliza atributos y métodos de la superclase.</a:t>
            </a:r>
          </a:p>
          <a:p>
            <a:pPr>
              <a:lnSpc>
                <a:spcPct val="110000"/>
              </a:lnSpc>
            </a:pPr>
            <a:r>
              <a:rPr lang="es-MX" sz="1500"/>
              <a:t>Extensibilidad: La subclase puede añadir nuevos atributos y métodos o sobrescribir los existentes de la superclase. </a:t>
            </a:r>
          </a:p>
          <a:p>
            <a:pPr>
              <a:lnSpc>
                <a:spcPct val="110000"/>
              </a:lnSpc>
            </a:pPr>
            <a:r>
              <a:rPr lang="es-MX" sz="1500"/>
              <a:t>Relación jerárquica: Representa una relación del tipo "es un" (Gato "es un" Animal).</a:t>
            </a:r>
          </a:p>
        </p:txBody>
      </p:sp>
    </p:spTree>
    <p:extLst>
      <p:ext uri="{BB962C8B-B14F-4D97-AF65-F5344CB8AC3E}">
        <p14:creationId xmlns:p14="http://schemas.microsoft.com/office/powerpoint/2010/main" val="2270196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666A84-7E7F-68D0-617C-74B267C979C6}"/>
              </a:ext>
            </a:extLst>
          </p:cNvPr>
          <p:cNvSpPr>
            <a:spLocks noGrp="1"/>
          </p:cNvSpPr>
          <p:nvPr>
            <p:ph type="title"/>
          </p:nvPr>
        </p:nvSpPr>
        <p:spPr>
          <a:xfrm>
            <a:off x="1066801" y="784747"/>
            <a:ext cx="3846394" cy="1555842"/>
          </a:xfrm>
        </p:spPr>
        <p:txBody>
          <a:bodyPr vert="horz" lIns="91440" tIns="45720" rIns="91440" bIns="45720" rtlCol="0" anchor="b">
            <a:normAutofit/>
          </a:bodyPr>
          <a:lstStyle/>
          <a:p>
            <a:pPr algn="r">
              <a:lnSpc>
                <a:spcPct val="100000"/>
              </a:lnSpc>
            </a:pPr>
            <a:r>
              <a:rPr lang="en-US" sz="3600" noProof="0"/>
              <a:t>Ejemplo Herencia</a:t>
            </a:r>
          </a:p>
        </p:txBody>
      </p:sp>
      <p:pic>
        <p:nvPicPr>
          <p:cNvPr id="5" name="Imagen 4" descr="Texto&#10;&#10;Descripción generada automáticamente">
            <a:extLst>
              <a:ext uri="{FF2B5EF4-FFF2-40B4-BE49-F238E27FC236}">
                <a16:creationId xmlns:a16="http://schemas.microsoft.com/office/drawing/2014/main" id="{9C7654E9-0189-3D65-F195-35EFC587DF9F}"/>
              </a:ext>
            </a:extLst>
          </p:cNvPr>
          <p:cNvPicPr>
            <a:picLocks noChangeAspect="1"/>
          </p:cNvPicPr>
          <p:nvPr/>
        </p:nvPicPr>
        <p:blipFill>
          <a:blip r:embed="rId2"/>
          <a:srcRect r="11468"/>
          <a:stretch/>
        </p:blipFill>
        <p:spPr>
          <a:xfrm>
            <a:off x="5540990" y="1050879"/>
            <a:ext cx="3973812" cy="4800601"/>
          </a:xfrm>
          <a:prstGeom prst="rect">
            <a:avLst/>
          </a:prstGeom>
        </p:spPr>
      </p:pic>
    </p:spTree>
    <p:extLst>
      <p:ext uri="{BB962C8B-B14F-4D97-AF65-F5344CB8AC3E}">
        <p14:creationId xmlns:p14="http://schemas.microsoft.com/office/powerpoint/2010/main" val="3628571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l lado oscuro de java: diciembre 2013">
            <a:extLst>
              <a:ext uri="{FF2B5EF4-FFF2-40B4-BE49-F238E27FC236}">
                <a16:creationId xmlns:a16="http://schemas.microsoft.com/office/drawing/2014/main" id="{26A8C5DA-95EE-A972-6E42-F4D578051A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32"/>
          <a:stretch/>
        </p:blipFill>
        <p:spPr bwMode="auto">
          <a:xfrm>
            <a:off x="6147816" y="10"/>
            <a:ext cx="60441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E377C4C-9BC8-7D6A-2613-A90D16E0FA67}"/>
              </a:ext>
            </a:extLst>
          </p:cNvPr>
          <p:cNvSpPr>
            <a:spLocks noGrp="1"/>
          </p:cNvSpPr>
          <p:nvPr>
            <p:ph type="title"/>
          </p:nvPr>
        </p:nvSpPr>
        <p:spPr>
          <a:xfrm>
            <a:off x="704087" y="909637"/>
            <a:ext cx="4800600" cy="1307592"/>
          </a:xfrm>
        </p:spPr>
        <p:txBody>
          <a:bodyPr>
            <a:normAutofit/>
          </a:bodyPr>
          <a:lstStyle/>
          <a:p>
            <a:r>
              <a:rPr lang="es-MX" dirty="0"/>
              <a:t>Constructores</a:t>
            </a:r>
          </a:p>
        </p:txBody>
      </p:sp>
      <p:sp>
        <p:nvSpPr>
          <p:cNvPr id="3" name="Marcador de contenido 2">
            <a:extLst>
              <a:ext uri="{FF2B5EF4-FFF2-40B4-BE49-F238E27FC236}">
                <a16:creationId xmlns:a16="http://schemas.microsoft.com/office/drawing/2014/main" id="{56A7DB67-014C-B1D4-F83B-A726F9890212}"/>
              </a:ext>
            </a:extLst>
          </p:cNvPr>
          <p:cNvSpPr>
            <a:spLocks noGrp="1"/>
          </p:cNvSpPr>
          <p:nvPr>
            <p:ph idx="1"/>
          </p:nvPr>
        </p:nvSpPr>
        <p:spPr>
          <a:xfrm>
            <a:off x="704089" y="2221992"/>
            <a:ext cx="4800600" cy="3739896"/>
          </a:xfrm>
        </p:spPr>
        <p:txBody>
          <a:bodyPr>
            <a:normAutofit/>
          </a:bodyPr>
          <a:lstStyle/>
          <a:p>
            <a:pPr marL="0" indent="0" algn="just">
              <a:buNone/>
            </a:pPr>
            <a:r>
              <a:rPr lang="es-MX" dirty="0"/>
              <a:t>Un constructor en Java es un método especial que se utiliza para inicializar objetos. Un constructor es llamado cuando un objeto de una clase es instanciado. Se utiliza para asignar valores iniciales a atributos. Los métodos y funciones de un objeto son almacenados en el mismo entorno que la clase, pero son definidos en tiempo de compilación.</a:t>
            </a:r>
          </a:p>
        </p:txBody>
      </p:sp>
    </p:spTree>
    <p:extLst>
      <p:ext uri="{BB962C8B-B14F-4D97-AF65-F5344CB8AC3E}">
        <p14:creationId xmlns:p14="http://schemas.microsoft.com/office/powerpoint/2010/main" val="2873702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8E3FCF-BAF0-DD76-EBEB-E32E78745AB7}"/>
              </a:ext>
            </a:extLst>
          </p:cNvPr>
          <p:cNvSpPr>
            <a:spLocks noGrp="1"/>
          </p:cNvSpPr>
          <p:nvPr>
            <p:ph type="title"/>
          </p:nvPr>
        </p:nvSpPr>
        <p:spPr/>
        <p:txBody>
          <a:bodyPr/>
          <a:lstStyle/>
          <a:p>
            <a:r>
              <a:rPr lang="es-MX" dirty="0"/>
              <a:t>Destructores</a:t>
            </a:r>
          </a:p>
        </p:txBody>
      </p:sp>
      <p:sp>
        <p:nvSpPr>
          <p:cNvPr id="3" name="Marcador de contenido 2">
            <a:extLst>
              <a:ext uri="{FF2B5EF4-FFF2-40B4-BE49-F238E27FC236}">
                <a16:creationId xmlns:a16="http://schemas.microsoft.com/office/drawing/2014/main" id="{1223564B-BE04-5D67-BB6A-B42821A6B77B}"/>
              </a:ext>
            </a:extLst>
          </p:cNvPr>
          <p:cNvSpPr>
            <a:spLocks noGrp="1"/>
          </p:cNvSpPr>
          <p:nvPr>
            <p:ph idx="1"/>
          </p:nvPr>
        </p:nvSpPr>
        <p:spPr/>
        <p:txBody>
          <a:bodyPr/>
          <a:lstStyle/>
          <a:p>
            <a:pPr marL="0" indent="0">
              <a:buNone/>
            </a:pPr>
            <a:r>
              <a:rPr lang="es-MX" dirty="0"/>
              <a:t>En lenguajes como C++, un destructor es un método especial que se llama automáticamente cuando un objeto deja de existir (por ejemplo, cuando sale del ámbito o se elimina explícitamente). Su propósito principal es liberar recursos asociados al objeto, como memoria dinámica, archivos abiertos, conexiones de red, etc.</a:t>
            </a:r>
          </a:p>
          <a:p>
            <a:pPr marL="0" indent="0">
              <a:buNone/>
            </a:pPr>
            <a:r>
              <a:rPr lang="es-MX" dirty="0"/>
              <a:t>En Java, la gestión de memoria está automatizada gracias al </a:t>
            </a:r>
            <a:r>
              <a:rPr lang="es-MX" dirty="0" err="1"/>
              <a:t>Garbage</a:t>
            </a:r>
            <a:r>
              <a:rPr lang="es-MX" dirty="0"/>
              <a:t> </a:t>
            </a:r>
            <a:r>
              <a:rPr lang="es-MX" dirty="0" err="1"/>
              <a:t>Collector</a:t>
            </a:r>
            <a:r>
              <a:rPr lang="es-MX" dirty="0"/>
              <a:t> (GC) , que se encarga de liberar la memoria ocupada por objetos que ya no son accesibles. Por esta razón, Java no tiene destructores en el sentido tradicional.</a:t>
            </a:r>
          </a:p>
        </p:txBody>
      </p:sp>
    </p:spTree>
    <p:extLst>
      <p:ext uri="{BB962C8B-B14F-4D97-AF65-F5344CB8AC3E}">
        <p14:creationId xmlns:p14="http://schemas.microsoft.com/office/powerpoint/2010/main" val="1068373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AD489F-3F00-1214-1A32-D87556ADAC34}"/>
              </a:ext>
            </a:extLst>
          </p:cNvPr>
          <p:cNvSpPr>
            <a:spLocks noGrp="1"/>
          </p:cNvSpPr>
          <p:nvPr>
            <p:ph type="title"/>
          </p:nvPr>
        </p:nvSpPr>
        <p:spPr>
          <a:xfrm>
            <a:off x="704088" y="914400"/>
            <a:ext cx="3914776" cy="3977269"/>
          </a:xfrm>
        </p:spPr>
        <p:txBody>
          <a:bodyPr>
            <a:normAutofit/>
          </a:bodyPr>
          <a:lstStyle/>
          <a:p>
            <a:r>
              <a:rPr lang="es-MX" dirty="0"/>
              <a:t>Modificadores de Visibilidad</a:t>
            </a:r>
          </a:p>
        </p:txBody>
      </p:sp>
      <p:graphicFrame>
        <p:nvGraphicFramePr>
          <p:cNvPr id="5" name="Marcador de contenido 2">
            <a:extLst>
              <a:ext uri="{FF2B5EF4-FFF2-40B4-BE49-F238E27FC236}">
                <a16:creationId xmlns:a16="http://schemas.microsoft.com/office/drawing/2014/main" id="{56CED465-5CAD-CCDE-B0D1-5046046C928C}"/>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9276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8530" y="2259403"/>
            <a:ext cx="5772552" cy="1615827"/>
          </a:xfrm>
          <a:prstGeom prst="rect">
            <a:avLst/>
          </a:prstGeom>
        </p:spPr>
        <p:txBody>
          <a:bodyPr lIns="0" tIns="0" rIns="0" bIns="0" rtlCol="0" anchor="t">
            <a:spAutoFit/>
          </a:bodyPr>
          <a:lstStyle/>
          <a:p>
            <a:pPr algn="just">
              <a:lnSpc>
                <a:spcPts val="4229"/>
              </a:lnSpc>
            </a:pPr>
            <a:r>
              <a:rPr lang="en-US" sz="4066">
                <a:solidFill>
                  <a:srgbClr val="131416"/>
                </a:solidFill>
                <a:latin typeface="Horizon"/>
                <a:ea typeface="Horizon"/>
                <a:cs typeface="Horizon"/>
                <a:sym typeface="Horizon"/>
              </a:rPr>
              <a:t>¡GRACIAS POR SU  ATENCIÓN!</a:t>
            </a:r>
          </a:p>
          <a:p>
            <a:pPr algn="just">
              <a:lnSpc>
                <a:spcPts val="4229"/>
              </a:lnSpc>
            </a:pPr>
            <a:endParaRPr lang="en-US" sz="4066">
              <a:solidFill>
                <a:srgbClr val="131416"/>
              </a:solidFill>
              <a:latin typeface="Horizon"/>
              <a:ea typeface="Horizon"/>
              <a:cs typeface="Horizon"/>
              <a:sym typeface="Horizon"/>
            </a:endParaRPr>
          </a:p>
        </p:txBody>
      </p:sp>
      <p:sp>
        <p:nvSpPr>
          <p:cNvPr id="3" name="TextBox 3"/>
          <p:cNvSpPr txBox="1"/>
          <p:nvPr/>
        </p:nvSpPr>
        <p:spPr>
          <a:xfrm>
            <a:off x="3609810" y="3972069"/>
            <a:ext cx="4469994" cy="568682"/>
          </a:xfrm>
          <a:prstGeom prst="rect">
            <a:avLst/>
          </a:prstGeom>
        </p:spPr>
        <p:txBody>
          <a:bodyPr lIns="0" tIns="0" rIns="0" bIns="0" rtlCol="0" anchor="t">
            <a:spAutoFit/>
          </a:bodyPr>
          <a:lstStyle/>
          <a:p>
            <a:pPr algn="ctr">
              <a:lnSpc>
                <a:spcPts val="4934"/>
              </a:lnSpc>
            </a:pPr>
            <a:r>
              <a:rPr lang="en-US" sz="3334" spc="773">
                <a:solidFill>
                  <a:srgbClr val="131416"/>
                </a:solidFill>
                <a:latin typeface="Garet"/>
                <a:ea typeface="Garet"/>
                <a:cs typeface="Garet"/>
                <a:sym typeface="Garet"/>
              </a:rPr>
              <a:t>DUDAS</a:t>
            </a:r>
          </a:p>
        </p:txBody>
      </p:sp>
      <p:sp>
        <p:nvSpPr>
          <p:cNvPr id="4" name="Freeform 4"/>
          <p:cNvSpPr/>
          <p:nvPr/>
        </p:nvSpPr>
        <p:spPr>
          <a:xfrm>
            <a:off x="9309167" y="685800"/>
            <a:ext cx="1838179" cy="2513980"/>
          </a:xfrm>
          <a:custGeom>
            <a:avLst/>
            <a:gdLst/>
            <a:ahLst/>
            <a:cxnLst/>
            <a:rect l="l" t="t" r="r" b="b"/>
            <a:pathLst>
              <a:path w="2757268" h="3770970">
                <a:moveTo>
                  <a:pt x="0" y="0"/>
                </a:moveTo>
                <a:lnTo>
                  <a:pt x="2757268" y="0"/>
                </a:lnTo>
                <a:lnTo>
                  <a:pt x="2757268" y="3770970"/>
                </a:lnTo>
                <a:lnTo>
                  <a:pt x="0" y="3770970"/>
                </a:lnTo>
                <a:lnTo>
                  <a:pt x="0" y="0"/>
                </a:lnTo>
                <a:close/>
              </a:path>
            </a:pathLst>
          </a:custGeom>
          <a:blipFill>
            <a:blip r:embed="rId2"/>
            <a:stretch>
              <a:fillRect/>
            </a:stretch>
          </a:blipFill>
        </p:spPr>
        <p:txBody>
          <a:bodyPr/>
          <a:lstStyle/>
          <a:p>
            <a:endParaRPr lang="es-GT" sz="1200"/>
          </a:p>
        </p:txBody>
      </p:sp>
      <p:sp>
        <p:nvSpPr>
          <p:cNvPr id="5" name="TextBox 5"/>
          <p:cNvSpPr txBox="1"/>
          <p:nvPr/>
        </p:nvSpPr>
        <p:spPr>
          <a:xfrm>
            <a:off x="1607399" y="5266490"/>
            <a:ext cx="8977203" cy="487762"/>
          </a:xfrm>
          <a:prstGeom prst="rect">
            <a:avLst/>
          </a:prstGeom>
        </p:spPr>
        <p:txBody>
          <a:bodyPr lIns="0" tIns="0" rIns="0" bIns="0" rtlCol="0" anchor="t">
            <a:spAutoFit/>
          </a:bodyPr>
          <a:lstStyle/>
          <a:p>
            <a:pPr algn="ctr">
              <a:lnSpc>
                <a:spcPts val="1973"/>
              </a:lnSpc>
            </a:pPr>
            <a:r>
              <a:rPr lang="en-US" sz="1333" spc="309">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SwellVTI">
  <a:themeElements>
    <a:clrScheme name="AnalogousFromDarkSeedLeftStep">
      <a:dk1>
        <a:srgbClr val="000000"/>
      </a:dk1>
      <a:lt1>
        <a:srgbClr val="FFFFFF"/>
      </a:lt1>
      <a:dk2>
        <a:srgbClr val="311C22"/>
      </a:dk2>
      <a:lt2>
        <a:srgbClr val="F0F3F3"/>
      </a:lt2>
      <a:accent1>
        <a:srgbClr val="E74429"/>
      </a:accent1>
      <a:accent2>
        <a:srgbClr val="D5174B"/>
      </a:accent2>
      <a:accent3>
        <a:srgbClr val="E729AC"/>
      </a:accent3>
      <a:accent4>
        <a:srgbClr val="C117D5"/>
      </a:accent4>
      <a:accent5>
        <a:srgbClr val="8329E7"/>
      </a:accent5>
      <a:accent6>
        <a:srgbClr val="3E34DA"/>
      </a:accent6>
      <a:hlink>
        <a:srgbClr val="913F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docProps/app.xml><?xml version="1.0" encoding="utf-8"?>
<Properties xmlns="http://schemas.openxmlformats.org/officeDocument/2006/extended-properties" xmlns:vt="http://schemas.openxmlformats.org/officeDocument/2006/docPropsVTypes">
  <Template/>
  <TotalTime>132</TotalTime>
  <Words>1695</Words>
  <Application>Microsoft Office PowerPoint</Application>
  <PresentationFormat>Panorámica</PresentationFormat>
  <Paragraphs>105</Paragraphs>
  <Slides>34</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34</vt:i4>
      </vt:variant>
    </vt:vector>
  </HeadingPairs>
  <TitlesOfParts>
    <vt:vector size="44" baseType="lpstr">
      <vt:lpstr>Arial</vt:lpstr>
      <vt:lpstr>Garet</vt:lpstr>
      <vt:lpstr>Horizon</vt:lpstr>
      <vt:lpstr>Inter</vt:lpstr>
      <vt:lpstr>Neue Haas Grotesk Text Pro</vt:lpstr>
      <vt:lpstr>Open Sans</vt:lpstr>
      <vt:lpstr>Open Sans Bold</vt:lpstr>
      <vt:lpstr>Studio-Feixen-Sans</vt:lpstr>
      <vt:lpstr>Wingdings</vt:lpstr>
      <vt:lpstr>SwellVTI</vt:lpstr>
      <vt:lpstr>Presentación de PowerPoint</vt:lpstr>
      <vt:lpstr>Agenda</vt:lpstr>
      <vt:lpstr>Abstracción</vt:lpstr>
      <vt:lpstr>Clasificación</vt:lpstr>
      <vt:lpstr>Clase</vt:lpstr>
      <vt:lpstr>Clase Abstracta</vt:lpstr>
      <vt:lpstr>Interfaz</vt:lpstr>
      <vt:lpstr>¿Qué contiene una clase?</vt:lpstr>
      <vt:lpstr>Objeto</vt:lpstr>
      <vt:lpstr>Objeto</vt:lpstr>
      <vt:lpstr>Mensajes</vt:lpstr>
      <vt:lpstr>Métodos</vt:lpstr>
      <vt:lpstr>Métodos sin retorno</vt:lpstr>
      <vt:lpstr>Métodos con retorno</vt:lpstr>
      <vt:lpstr>Métodos estáticos</vt:lpstr>
      <vt:lpstr>Declaración de métodos</vt:lpstr>
      <vt:lpstr>Llamada de métodos</vt:lpstr>
      <vt:lpstr>Retorno de métodos</vt:lpstr>
      <vt:lpstr>Parámetros en Java</vt:lpstr>
      <vt:lpstr>Parámetros de valor</vt:lpstr>
      <vt:lpstr>Parámetros de referencia</vt:lpstr>
      <vt:lpstr>Pilares de la Programación Orientada a Objetos</vt:lpstr>
      <vt:lpstr>Abstracción</vt:lpstr>
      <vt:lpstr>Encapsulamiento</vt:lpstr>
      <vt:lpstr>Ejemplo Encapsulamiento</vt:lpstr>
      <vt:lpstr>Polimorfismo</vt:lpstr>
      <vt:lpstr>Ejemplo Polimorfismo en tiempo de Compilación</vt:lpstr>
      <vt:lpstr>Ejemplo Polimorfismo en Tiempo de Ejecución</vt:lpstr>
      <vt:lpstr>Herencia</vt:lpstr>
      <vt:lpstr>Ejemplo Herencia</vt:lpstr>
      <vt:lpstr>Constructores</vt:lpstr>
      <vt:lpstr>Destructores</vt:lpstr>
      <vt:lpstr>Modificadores de Visibilidad</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Paco Silva</dc:creator>
  <cp:lastModifiedBy>Max Druan</cp:lastModifiedBy>
  <cp:revision>9</cp:revision>
  <dcterms:created xsi:type="dcterms:W3CDTF">2025-02-10T00:23:32Z</dcterms:created>
  <dcterms:modified xsi:type="dcterms:W3CDTF">2025-05-26T00:58:34Z</dcterms:modified>
</cp:coreProperties>
</file>