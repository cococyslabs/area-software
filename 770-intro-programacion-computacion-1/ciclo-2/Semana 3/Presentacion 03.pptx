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9"/>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x="18288000" cy="10287000"/>
  <p:notesSz cx="6858000" cy="9144000"/>
  <p:embeddedFontLst>
    <p:embeddedFont>
      <p:font typeface="Open Sans Bold" charset="1" panose="00000000000000000000"/>
      <p:regular r:id="rId32"/>
    </p:embeddedFont>
    <p:embeddedFont>
      <p:font typeface="Arial" charset="1" panose="020B0502020202020204"/>
      <p:regular r:id="rId34"/>
    </p:embeddedFont>
    <p:embeddedFont>
      <p:font typeface="Pacifico" charset="1" panose="00000500000000000000"/>
      <p:regular r:id="rId35"/>
    </p:embeddedFont>
    <p:embeddedFont>
      <p:font typeface="Impact" charset="1" panose="020B0806030902050204"/>
      <p:regular r:id="rId37"/>
    </p:embeddedFont>
    <p:embeddedFont>
      <p:font typeface="Open Sans" charset="1" panose="00000000000000000000"/>
      <p:regular r:id="rId38"/>
    </p:embeddedFont>
    <p:embeddedFont>
      <p:font typeface="Calibri (MS)" charset="1" panose="020F0502020204030204"/>
      <p:regular r:id="rId4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notesMasters/notesMaster1.xml" Type="http://schemas.openxmlformats.org/officeDocument/2006/relationships/notesMaster"/><Relationship Id="rId3" Target="viewProps.xml" Type="http://schemas.openxmlformats.org/officeDocument/2006/relationships/viewProps"/><Relationship Id="rId30" Target="theme/theme2.xml" Type="http://schemas.openxmlformats.org/officeDocument/2006/relationships/theme"/><Relationship Id="rId31" Target="notesSlides/notesSlide1.xml" Type="http://schemas.openxmlformats.org/officeDocument/2006/relationships/notesSlide"/><Relationship Id="rId32" Target="fonts/font32.fntdata" Type="http://schemas.openxmlformats.org/officeDocument/2006/relationships/font"/><Relationship Id="rId33" Target="notesSlides/notesSlide2.xml" Type="http://schemas.openxmlformats.org/officeDocument/2006/relationships/notesSlide"/><Relationship Id="rId34" Target="fonts/font34.fntdata" Type="http://schemas.openxmlformats.org/officeDocument/2006/relationships/font"/><Relationship Id="rId35" Target="fonts/font35.fntdata" Type="http://schemas.openxmlformats.org/officeDocument/2006/relationships/font"/><Relationship Id="rId36" Target="notesSlides/notesSlide3.xml" Type="http://schemas.openxmlformats.org/officeDocument/2006/relationships/notesSlide"/><Relationship Id="rId37" Target="fonts/font37.fntdata" Type="http://schemas.openxmlformats.org/officeDocument/2006/relationships/font"/><Relationship Id="rId38" Target="fonts/font38.fntdata" Type="http://schemas.openxmlformats.org/officeDocument/2006/relationships/font"/><Relationship Id="rId39" Target="notesSlides/notesSlide4.xml" Type="http://schemas.openxmlformats.org/officeDocument/2006/relationships/notesSlide"/><Relationship Id="rId4" Target="theme/theme1.xml" Type="http://schemas.openxmlformats.org/officeDocument/2006/relationships/theme"/><Relationship Id="rId40" Target="notesSlides/notesSlide5.xml" Type="http://schemas.openxmlformats.org/officeDocument/2006/relationships/notesSlide"/><Relationship Id="rId41" Target="notesSlides/notesSlide6.xml" Type="http://schemas.openxmlformats.org/officeDocument/2006/relationships/notesSlide"/><Relationship Id="rId42" Target="notesSlides/notesSlide7.xml" Type="http://schemas.openxmlformats.org/officeDocument/2006/relationships/notesSlide"/><Relationship Id="rId43" Target="notesSlides/notesSlide8.xml" Type="http://schemas.openxmlformats.org/officeDocument/2006/relationships/notesSlide"/><Relationship Id="rId44" Target="notesSlides/notesSlide9.xml" Type="http://schemas.openxmlformats.org/officeDocument/2006/relationships/notesSlide"/><Relationship Id="rId45" Target="notesSlides/notesSlide10.xml" Type="http://schemas.openxmlformats.org/officeDocument/2006/relationships/notesSlide"/><Relationship Id="rId46" Target="fonts/font46.fntdata" Type="http://schemas.openxmlformats.org/officeDocument/2006/relationships/font"/><Relationship Id="rId47" Target="notesSlides/notesSlide11.xml" Type="http://schemas.openxmlformats.org/officeDocument/2006/relationships/notesSlide"/><Relationship Id="rId48" Target="notesSlides/notesSlide12.xml" Type="http://schemas.openxmlformats.org/officeDocument/2006/relationships/notesSlide"/><Relationship Id="rId49" Target="notesSlides/notesSlide13.xml" Type="http://schemas.openxmlformats.org/officeDocument/2006/relationships/notesSlide"/><Relationship Id="rId5" Target="tableStyles.xml" Type="http://schemas.openxmlformats.org/officeDocument/2006/relationships/tableStyles"/><Relationship Id="rId50" Target="notesSlides/notesSlide14.xml" Type="http://schemas.openxmlformats.org/officeDocument/2006/relationships/notesSlide"/><Relationship Id="rId51" Target="notesSlides/notesSlide15.xml" Type="http://schemas.openxmlformats.org/officeDocument/2006/relationships/notesSlide"/><Relationship Id="rId52" Target="notesSlides/notesSlide16.xml" Type="http://schemas.openxmlformats.org/officeDocument/2006/relationships/notesSlide"/><Relationship Id="rId53" Target="notesSlides/notesSlide17.xml" Type="http://schemas.openxmlformats.org/officeDocument/2006/relationships/notesSlide"/><Relationship Id="rId54" Target="notesSlides/notesSlide18.xml" Type="http://schemas.openxmlformats.org/officeDocument/2006/relationships/notesSlide"/><Relationship Id="rId55" Target="notesSlides/notesSlide19.xml" Type="http://schemas.openxmlformats.org/officeDocument/2006/relationships/notesSlide"/><Relationship Id="rId56" Target="notesSlides/notesSlide20.xml" Type="http://schemas.openxmlformats.org/officeDocument/2006/relationships/notesSlide"/><Relationship Id="rId57" Target="notesSlides/notesSlide21.xml" Type="http://schemas.openxmlformats.org/officeDocument/2006/relationships/notesSlide"/><Relationship Id="rId58" Target="notesSlides/notesSlide22.xml" Type="http://schemas.openxmlformats.org/officeDocument/2006/relationships/notesSlide"/><Relationship Id="rId59" Target="notesSlides/notesSlide23.xml" Type="http://schemas.openxmlformats.org/officeDocument/2006/relationships/notesSlide"/><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2.png" Type="http://schemas.openxmlformats.org/officeDocument/2006/relationships/image"/><Relationship Id="rId4"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https://git-scm.com" TargetMode="External" Type="http://schemas.openxmlformats.org/officeDocument/2006/relationships/hyperlink"/></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7.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8.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9.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10.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 Id="rId3" Target="../media/image1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541309" y="0"/>
            <a:ext cx="5746691" cy="1711780"/>
            <a:chOff x="0" y="0"/>
            <a:chExt cx="7662255" cy="2282373"/>
          </a:xfrm>
        </p:grpSpPr>
        <p:sp>
          <p:nvSpPr>
            <p:cNvPr name="Freeform 3" id="3"/>
            <p:cNvSpPr/>
            <p:nvPr/>
          </p:nvSpPr>
          <p:spPr>
            <a:xfrm flipH="false" flipV="false" rot="0">
              <a:off x="0" y="0"/>
              <a:ext cx="7662291" cy="2282317"/>
            </a:xfrm>
            <a:custGeom>
              <a:avLst/>
              <a:gdLst/>
              <a:ahLst/>
              <a:cxnLst/>
              <a:rect r="r" b="b" t="t" l="l"/>
              <a:pathLst>
                <a:path h="2282317" w="7662291">
                  <a:moveTo>
                    <a:pt x="0" y="0"/>
                  </a:moveTo>
                  <a:lnTo>
                    <a:pt x="7662291" y="0"/>
                  </a:lnTo>
                  <a:lnTo>
                    <a:pt x="7662291" y="2282317"/>
                  </a:lnTo>
                  <a:lnTo>
                    <a:pt x="0" y="2282317"/>
                  </a:lnTo>
                  <a:lnTo>
                    <a:pt x="0" y="0"/>
                  </a:lnTo>
                  <a:close/>
                </a:path>
              </a:pathLst>
            </a:custGeom>
            <a:blipFill>
              <a:blip r:embed="rId3"/>
              <a:stretch>
                <a:fillRect l="0" t="0" r="0" b="-2"/>
              </a:stretch>
            </a:blipFill>
          </p:spPr>
        </p:sp>
      </p:grpSp>
      <p:grpSp>
        <p:nvGrpSpPr>
          <p:cNvPr name="Group 4" id="4"/>
          <p:cNvGrpSpPr/>
          <p:nvPr/>
        </p:nvGrpSpPr>
        <p:grpSpPr>
          <a:xfrm rot="0">
            <a:off x="1063296" y="6490925"/>
            <a:ext cx="13093200" cy="1847100"/>
            <a:chOff x="0" y="0"/>
            <a:chExt cx="17457600" cy="2462800"/>
          </a:xfrm>
        </p:grpSpPr>
        <p:sp>
          <p:nvSpPr>
            <p:cNvPr name="Freeform 5" id="5"/>
            <p:cNvSpPr/>
            <p:nvPr/>
          </p:nvSpPr>
          <p:spPr>
            <a:xfrm flipH="false" flipV="false" rot="0">
              <a:off x="0" y="0"/>
              <a:ext cx="17457600" cy="2462800"/>
            </a:xfrm>
            <a:custGeom>
              <a:avLst/>
              <a:gdLst/>
              <a:ahLst/>
              <a:cxnLst/>
              <a:rect r="r" b="b" t="t" l="l"/>
              <a:pathLst>
                <a:path h="2462800" w="17457600">
                  <a:moveTo>
                    <a:pt x="0" y="0"/>
                  </a:moveTo>
                  <a:lnTo>
                    <a:pt x="17457600" y="0"/>
                  </a:lnTo>
                  <a:lnTo>
                    <a:pt x="17457600" y="2462800"/>
                  </a:lnTo>
                  <a:lnTo>
                    <a:pt x="0" y="2462800"/>
                  </a:lnTo>
                  <a:close/>
                </a:path>
              </a:pathLst>
            </a:custGeom>
            <a:solidFill>
              <a:srgbClr val="000000">
                <a:alpha val="0"/>
              </a:srgbClr>
            </a:solidFill>
          </p:spPr>
        </p:sp>
        <p:sp>
          <p:nvSpPr>
            <p:cNvPr name="TextBox 6" id="6"/>
            <p:cNvSpPr txBox="true"/>
            <p:nvPr/>
          </p:nvSpPr>
          <p:spPr>
            <a:xfrm>
              <a:off x="0" y="-228600"/>
              <a:ext cx="17457600" cy="2691400"/>
            </a:xfrm>
            <a:prstGeom prst="rect">
              <a:avLst/>
            </a:prstGeom>
          </p:spPr>
          <p:txBody>
            <a:bodyPr anchor="t" rtlCol="false" tIns="0" lIns="0" bIns="0" rIns="0"/>
            <a:lstStyle/>
            <a:p>
              <a:pPr algn="ctr">
                <a:lnSpc>
                  <a:spcPts val="8399"/>
                </a:lnSpc>
              </a:pPr>
              <a:r>
                <a:rPr lang="en-US" b="true" sz="4999">
                  <a:solidFill>
                    <a:srgbClr val="131416"/>
                  </a:solidFill>
                  <a:latin typeface="Open Sans Bold"/>
                  <a:ea typeface="Open Sans Bold"/>
                  <a:cs typeface="Open Sans Bold"/>
                  <a:sym typeface="Open Sans Bold"/>
                </a:rPr>
                <a:t>Introducción a la Programación y Computación 1</a:t>
              </a:r>
            </a:p>
          </p:txBody>
        </p:sp>
      </p:grpSp>
      <p:grpSp>
        <p:nvGrpSpPr>
          <p:cNvPr name="Group 7" id="7"/>
          <p:cNvGrpSpPr/>
          <p:nvPr/>
        </p:nvGrpSpPr>
        <p:grpSpPr>
          <a:xfrm rot="0">
            <a:off x="2687399" y="3915650"/>
            <a:ext cx="13860000" cy="2598896"/>
            <a:chOff x="0" y="0"/>
            <a:chExt cx="18480000" cy="3465194"/>
          </a:xfrm>
        </p:grpSpPr>
        <p:sp>
          <p:nvSpPr>
            <p:cNvPr name="Freeform 8" id="8"/>
            <p:cNvSpPr/>
            <p:nvPr/>
          </p:nvSpPr>
          <p:spPr>
            <a:xfrm flipH="false" flipV="false" rot="0">
              <a:off x="0" y="0"/>
              <a:ext cx="18480001" cy="3465194"/>
            </a:xfrm>
            <a:custGeom>
              <a:avLst/>
              <a:gdLst/>
              <a:ahLst/>
              <a:cxnLst/>
              <a:rect r="r" b="b" t="t" l="l"/>
              <a:pathLst>
                <a:path h="3465194" w="18480001">
                  <a:moveTo>
                    <a:pt x="0" y="0"/>
                  </a:moveTo>
                  <a:lnTo>
                    <a:pt x="18480001" y="0"/>
                  </a:lnTo>
                  <a:lnTo>
                    <a:pt x="18480001" y="3465194"/>
                  </a:lnTo>
                  <a:lnTo>
                    <a:pt x="0" y="3465194"/>
                  </a:lnTo>
                  <a:close/>
                </a:path>
              </a:pathLst>
            </a:custGeom>
            <a:solidFill>
              <a:srgbClr val="000000">
                <a:alpha val="0"/>
              </a:srgbClr>
            </a:solidFill>
          </p:spPr>
        </p:sp>
        <p:sp>
          <p:nvSpPr>
            <p:cNvPr name="TextBox 9" id="9"/>
            <p:cNvSpPr txBox="true"/>
            <p:nvPr/>
          </p:nvSpPr>
          <p:spPr>
            <a:xfrm>
              <a:off x="0" y="-285750"/>
              <a:ext cx="18480000" cy="3750944"/>
            </a:xfrm>
            <a:prstGeom prst="rect">
              <a:avLst/>
            </a:prstGeom>
          </p:spPr>
          <p:txBody>
            <a:bodyPr anchor="t" rtlCol="false" tIns="0" lIns="0" bIns="0" rIns="0"/>
            <a:lstStyle/>
            <a:p>
              <a:pPr algn="ctr">
                <a:lnSpc>
                  <a:spcPts val="10415"/>
                </a:lnSpc>
              </a:pPr>
              <a:r>
                <a:rPr lang="en-US" b="true" sz="6199">
                  <a:solidFill>
                    <a:srgbClr val="131416"/>
                  </a:solidFill>
                  <a:latin typeface="Open Sans Bold"/>
                  <a:ea typeface="Open Sans Bold"/>
                  <a:cs typeface="Open Sans Bold"/>
                  <a:sym typeface="Open Sans Bold"/>
                </a:rPr>
                <a:t>Introducción al Manejo de Control de Versiones</a:t>
              </a:r>
            </a:p>
          </p:txBody>
        </p:sp>
      </p:grpSp>
      <p:grpSp>
        <p:nvGrpSpPr>
          <p:cNvPr name="Group 10" id="10"/>
          <p:cNvGrpSpPr/>
          <p:nvPr/>
        </p:nvGrpSpPr>
        <p:grpSpPr>
          <a:xfrm rot="0">
            <a:off x="1081353" y="8540776"/>
            <a:ext cx="6981300" cy="1461900"/>
            <a:chOff x="0" y="0"/>
            <a:chExt cx="9308400" cy="1949200"/>
          </a:xfrm>
        </p:grpSpPr>
        <p:sp>
          <p:nvSpPr>
            <p:cNvPr name="Freeform 11" id="11"/>
            <p:cNvSpPr/>
            <p:nvPr/>
          </p:nvSpPr>
          <p:spPr>
            <a:xfrm flipH="false" flipV="false" rot="0">
              <a:off x="0" y="0"/>
              <a:ext cx="9308400" cy="1949200"/>
            </a:xfrm>
            <a:custGeom>
              <a:avLst/>
              <a:gdLst/>
              <a:ahLst/>
              <a:cxnLst/>
              <a:rect r="r" b="b" t="t" l="l"/>
              <a:pathLst>
                <a:path h="1949200" w="9308400">
                  <a:moveTo>
                    <a:pt x="0" y="0"/>
                  </a:moveTo>
                  <a:lnTo>
                    <a:pt x="9308400" y="0"/>
                  </a:lnTo>
                  <a:lnTo>
                    <a:pt x="9308400" y="1949200"/>
                  </a:lnTo>
                  <a:lnTo>
                    <a:pt x="0" y="1949200"/>
                  </a:lnTo>
                  <a:close/>
                </a:path>
              </a:pathLst>
            </a:custGeom>
            <a:solidFill>
              <a:srgbClr val="000000">
                <a:alpha val="0"/>
              </a:srgbClr>
            </a:solidFill>
          </p:spPr>
        </p:sp>
        <p:sp>
          <p:nvSpPr>
            <p:cNvPr name="TextBox 12" id="12"/>
            <p:cNvSpPr txBox="true"/>
            <p:nvPr/>
          </p:nvSpPr>
          <p:spPr>
            <a:xfrm>
              <a:off x="0" y="-114300"/>
              <a:ext cx="9308400" cy="2063500"/>
            </a:xfrm>
            <a:prstGeom prst="rect">
              <a:avLst/>
            </a:prstGeom>
          </p:spPr>
          <p:txBody>
            <a:bodyPr anchor="t" rtlCol="false" tIns="0" lIns="0" bIns="0" rIns="0"/>
            <a:lstStyle/>
            <a:p>
              <a:pPr algn="l">
                <a:lnSpc>
                  <a:spcPts val="4198"/>
                </a:lnSpc>
              </a:pPr>
              <a:r>
                <a:rPr lang="en-US" b="true" sz="2499">
                  <a:solidFill>
                    <a:srgbClr val="131416"/>
                  </a:solidFill>
                  <a:latin typeface="Open Sans Bold"/>
                  <a:ea typeface="Open Sans Bold"/>
                  <a:cs typeface="Open Sans Bold"/>
                  <a:sym typeface="Open Sans Bold"/>
                </a:rPr>
                <a:t>Universidad de San Carlos de Guatemala</a:t>
              </a:r>
            </a:p>
            <a:p>
              <a:pPr algn="l">
                <a:lnSpc>
                  <a:spcPts val="4198"/>
                </a:lnSpc>
              </a:pPr>
              <a:r>
                <a:rPr lang="en-US" b="true" sz="2499">
                  <a:solidFill>
                    <a:srgbClr val="131416"/>
                  </a:solidFill>
                  <a:latin typeface="Open Sans Bold"/>
                  <a:ea typeface="Open Sans Bold"/>
                  <a:cs typeface="Open Sans Bold"/>
                  <a:sym typeface="Open Sans Bold"/>
                </a:rPr>
                <a:t>Facultad de Ingeniería</a:t>
              </a:r>
            </a:p>
            <a:p>
              <a:pPr algn="l">
                <a:lnSpc>
                  <a:spcPts val="4198"/>
                </a:lnSpc>
              </a:pPr>
              <a:r>
                <a:rPr lang="en-US" b="true" sz="2499">
                  <a:solidFill>
                    <a:srgbClr val="131416"/>
                  </a:solidFill>
                  <a:latin typeface="Open Sans Bold"/>
                  <a:ea typeface="Open Sans Bold"/>
                  <a:cs typeface="Open Sans Bold"/>
                  <a:sym typeface="Open Sans Bold"/>
                </a:rPr>
                <a:t>Escuela de Ciencias Y Sistemas</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6619" y="4699462"/>
            <a:ext cx="4613551" cy="666407"/>
            <a:chOff x="0" y="0"/>
            <a:chExt cx="6151401" cy="888543"/>
          </a:xfrm>
        </p:grpSpPr>
        <p:sp>
          <p:nvSpPr>
            <p:cNvPr name="Freeform 3" id="3"/>
            <p:cNvSpPr/>
            <p:nvPr/>
          </p:nvSpPr>
          <p:spPr>
            <a:xfrm flipH="false" flipV="false" rot="0">
              <a:off x="0" y="0"/>
              <a:ext cx="6151372" cy="888492"/>
            </a:xfrm>
            <a:custGeom>
              <a:avLst/>
              <a:gdLst/>
              <a:ahLst/>
              <a:cxnLst/>
              <a:rect r="r" b="b" t="t" l="l"/>
              <a:pathLst>
                <a:path h="888492" w="6151372">
                  <a:moveTo>
                    <a:pt x="5514975" y="0"/>
                  </a:moveTo>
                  <a:lnTo>
                    <a:pt x="0" y="0"/>
                  </a:lnTo>
                  <a:lnTo>
                    <a:pt x="0" y="888492"/>
                  </a:lnTo>
                  <a:lnTo>
                    <a:pt x="5514975" y="888492"/>
                  </a:lnTo>
                  <a:lnTo>
                    <a:pt x="6151372" y="444246"/>
                  </a:lnTo>
                  <a:lnTo>
                    <a:pt x="5514975" y="0"/>
                  </a:lnTo>
                  <a:close/>
                </a:path>
              </a:pathLst>
            </a:custGeom>
            <a:solidFill>
              <a:srgbClr val="FFFFFF"/>
            </a:solidFill>
          </p:spPr>
        </p:sp>
      </p:grpSp>
      <p:grpSp>
        <p:nvGrpSpPr>
          <p:cNvPr name="Group 4" id="4"/>
          <p:cNvGrpSpPr/>
          <p:nvPr/>
        </p:nvGrpSpPr>
        <p:grpSpPr>
          <a:xfrm rot="0">
            <a:off x="349650" y="4540200"/>
            <a:ext cx="9827590" cy="845566"/>
            <a:chOff x="0" y="0"/>
            <a:chExt cx="13103453" cy="1127421"/>
          </a:xfrm>
        </p:grpSpPr>
        <p:sp>
          <p:nvSpPr>
            <p:cNvPr name="Freeform 5" id="5"/>
            <p:cNvSpPr/>
            <p:nvPr/>
          </p:nvSpPr>
          <p:spPr>
            <a:xfrm flipH="false" flipV="false" rot="0">
              <a:off x="0" y="0"/>
              <a:ext cx="13103453" cy="1127421"/>
            </a:xfrm>
            <a:custGeom>
              <a:avLst/>
              <a:gdLst/>
              <a:ahLst/>
              <a:cxnLst/>
              <a:rect r="r" b="b" t="t" l="l"/>
              <a:pathLst>
                <a:path h="1127421" w="13103453">
                  <a:moveTo>
                    <a:pt x="0" y="0"/>
                  </a:moveTo>
                  <a:lnTo>
                    <a:pt x="13103453" y="0"/>
                  </a:lnTo>
                  <a:lnTo>
                    <a:pt x="13103453" y="1127421"/>
                  </a:lnTo>
                  <a:lnTo>
                    <a:pt x="0" y="1127421"/>
                  </a:lnTo>
                  <a:close/>
                </a:path>
              </a:pathLst>
            </a:custGeom>
            <a:solidFill>
              <a:srgbClr val="000000">
                <a:alpha val="0"/>
              </a:srgbClr>
            </a:solidFill>
          </p:spPr>
        </p:sp>
        <p:sp>
          <p:nvSpPr>
            <p:cNvPr name="TextBox 6" id="6"/>
            <p:cNvSpPr txBox="true"/>
            <p:nvPr/>
          </p:nvSpPr>
          <p:spPr>
            <a:xfrm>
              <a:off x="0" y="-209550"/>
              <a:ext cx="13103453" cy="1336971"/>
            </a:xfrm>
            <a:prstGeom prst="rect">
              <a:avLst/>
            </a:prstGeom>
          </p:spPr>
          <p:txBody>
            <a:bodyPr anchor="ctr" rtlCol="false" tIns="0" lIns="0" bIns="0" rIns="0"/>
            <a:lstStyle/>
            <a:p>
              <a:pPr algn="ctr">
                <a:lnSpc>
                  <a:spcPts val="4971"/>
                </a:lnSpc>
              </a:pPr>
              <a:r>
                <a:rPr lang="en-US" sz="2799">
                  <a:solidFill>
                    <a:srgbClr val="000000"/>
                  </a:solidFill>
                  <a:latin typeface="Arial"/>
                  <a:ea typeface="Arial"/>
                  <a:cs typeface="Arial"/>
                  <a:sym typeface="Arial"/>
                </a:rPr>
                <a:t>¿Q</a:t>
              </a:r>
              <a:r>
                <a:rPr lang="en-US" sz="2799">
                  <a:solidFill>
                    <a:srgbClr val="000000"/>
                  </a:solidFill>
                  <a:latin typeface="Arial"/>
                  <a:ea typeface="Arial"/>
                  <a:cs typeface="Arial"/>
                  <a:sym typeface="Arial"/>
                </a:rPr>
                <a:t>ué es el control de versiones?</a:t>
              </a:r>
            </a:p>
          </p:txBody>
        </p:sp>
      </p:grpSp>
      <p:grpSp>
        <p:nvGrpSpPr>
          <p:cNvPr name="Group 7" id="7"/>
          <p:cNvGrpSpPr/>
          <p:nvPr/>
        </p:nvGrpSpPr>
        <p:grpSpPr>
          <a:xfrm rot="0">
            <a:off x="878654" y="4740441"/>
            <a:ext cx="453358" cy="550094"/>
            <a:chOff x="0" y="0"/>
            <a:chExt cx="604477" cy="733459"/>
          </a:xfrm>
        </p:grpSpPr>
        <p:sp>
          <p:nvSpPr>
            <p:cNvPr name="Freeform 8" id="8"/>
            <p:cNvSpPr/>
            <p:nvPr/>
          </p:nvSpPr>
          <p:spPr>
            <a:xfrm flipH="false" flipV="false" rot="0">
              <a:off x="0" y="0"/>
              <a:ext cx="604520" cy="733425"/>
            </a:xfrm>
            <a:custGeom>
              <a:avLst/>
              <a:gdLst/>
              <a:ahLst/>
              <a:cxnLst/>
              <a:rect r="r" b="b" t="t" l="l"/>
              <a:pathLst>
                <a:path h="733425" w="604520">
                  <a:moveTo>
                    <a:pt x="0" y="0"/>
                  </a:moveTo>
                  <a:lnTo>
                    <a:pt x="604520" y="0"/>
                  </a:lnTo>
                  <a:lnTo>
                    <a:pt x="604520" y="733425"/>
                  </a:lnTo>
                  <a:lnTo>
                    <a:pt x="0" y="733425"/>
                  </a:lnTo>
                  <a:lnTo>
                    <a:pt x="0" y="0"/>
                  </a:lnTo>
                  <a:close/>
                </a:path>
              </a:pathLst>
            </a:custGeom>
            <a:blipFill>
              <a:blip r:embed="rId3"/>
              <a:stretch>
                <a:fillRect l="0" t="0" r="7" b="-4"/>
              </a:stretch>
            </a:blipFill>
          </p:spPr>
        </p:sp>
      </p:grpSp>
      <p:grpSp>
        <p:nvGrpSpPr>
          <p:cNvPr name="Group 9" id="9"/>
          <p:cNvGrpSpPr/>
          <p:nvPr/>
        </p:nvGrpSpPr>
        <p:grpSpPr>
          <a:xfrm rot="0">
            <a:off x="1866989" y="3303305"/>
            <a:ext cx="4115190" cy="1267162"/>
            <a:chOff x="0" y="0"/>
            <a:chExt cx="5486920" cy="1689549"/>
          </a:xfrm>
        </p:grpSpPr>
        <p:sp>
          <p:nvSpPr>
            <p:cNvPr name="Freeform 10" id="10"/>
            <p:cNvSpPr/>
            <p:nvPr/>
          </p:nvSpPr>
          <p:spPr>
            <a:xfrm flipH="false" flipV="false" rot="0">
              <a:off x="0" y="0"/>
              <a:ext cx="5486908" cy="1689608"/>
            </a:xfrm>
            <a:custGeom>
              <a:avLst/>
              <a:gdLst/>
              <a:ahLst/>
              <a:cxnLst/>
              <a:rect r="r" b="b" t="t" l="l"/>
              <a:pathLst>
                <a:path h="1689608" w="5486908">
                  <a:moveTo>
                    <a:pt x="4458208" y="0"/>
                  </a:moveTo>
                  <a:lnTo>
                    <a:pt x="0" y="0"/>
                  </a:lnTo>
                  <a:lnTo>
                    <a:pt x="0" y="1689608"/>
                  </a:lnTo>
                  <a:lnTo>
                    <a:pt x="4458208" y="1689608"/>
                  </a:lnTo>
                  <a:lnTo>
                    <a:pt x="5486908" y="844804"/>
                  </a:lnTo>
                  <a:lnTo>
                    <a:pt x="4458208" y="0"/>
                  </a:lnTo>
                  <a:close/>
                </a:path>
              </a:pathLst>
            </a:custGeom>
            <a:solidFill>
              <a:srgbClr val="FFFFFF"/>
            </a:solidFill>
          </p:spPr>
        </p:sp>
      </p:grpSp>
      <p:grpSp>
        <p:nvGrpSpPr>
          <p:cNvPr name="Group 11" id="11"/>
          <p:cNvGrpSpPr/>
          <p:nvPr/>
        </p:nvGrpSpPr>
        <p:grpSpPr>
          <a:xfrm rot="0">
            <a:off x="1866989" y="3013983"/>
            <a:ext cx="3681207" cy="1556484"/>
            <a:chOff x="0" y="0"/>
            <a:chExt cx="4908276" cy="2075312"/>
          </a:xfrm>
        </p:grpSpPr>
        <p:sp>
          <p:nvSpPr>
            <p:cNvPr name="Freeform 12" id="12"/>
            <p:cNvSpPr/>
            <p:nvPr/>
          </p:nvSpPr>
          <p:spPr>
            <a:xfrm flipH="false" flipV="false" rot="0">
              <a:off x="0" y="0"/>
              <a:ext cx="4908276" cy="2075312"/>
            </a:xfrm>
            <a:custGeom>
              <a:avLst/>
              <a:gdLst/>
              <a:ahLst/>
              <a:cxnLst/>
              <a:rect r="r" b="b" t="t" l="l"/>
              <a:pathLst>
                <a:path h="2075312" w="4908276">
                  <a:moveTo>
                    <a:pt x="0" y="0"/>
                  </a:moveTo>
                  <a:lnTo>
                    <a:pt x="4908276" y="0"/>
                  </a:lnTo>
                  <a:lnTo>
                    <a:pt x="4908276" y="2075312"/>
                  </a:lnTo>
                  <a:lnTo>
                    <a:pt x="0" y="2075312"/>
                  </a:lnTo>
                  <a:close/>
                </a:path>
              </a:pathLst>
            </a:custGeom>
            <a:solidFill>
              <a:srgbClr val="000000">
                <a:alpha val="0"/>
              </a:srgbClr>
            </a:solidFill>
          </p:spPr>
        </p:sp>
        <p:sp>
          <p:nvSpPr>
            <p:cNvPr name="TextBox 13" id="13"/>
            <p:cNvSpPr txBox="true"/>
            <p:nvPr/>
          </p:nvSpPr>
          <p:spPr>
            <a:xfrm>
              <a:off x="0" y="-209550"/>
              <a:ext cx="4908276" cy="2284862"/>
            </a:xfrm>
            <a:prstGeom prst="rect">
              <a:avLst/>
            </a:prstGeom>
          </p:spPr>
          <p:txBody>
            <a:bodyPr anchor="ctr" rtlCol="false" tIns="0" lIns="0" bIns="0" rIns="0"/>
            <a:lstStyle/>
            <a:p>
              <a:pPr algn="ctr">
                <a:lnSpc>
                  <a:spcPts val="4971"/>
                </a:lnSpc>
              </a:pPr>
              <a:r>
                <a:rPr lang="en-US" sz="2799">
                  <a:solidFill>
                    <a:srgbClr val="000000"/>
                  </a:solidFill>
                  <a:latin typeface="Arial"/>
                  <a:ea typeface="Arial"/>
                  <a:cs typeface="Arial"/>
                  <a:sym typeface="Arial"/>
                </a:rPr>
                <a:t>RECORDATORIOS</a:t>
              </a:r>
            </a:p>
          </p:txBody>
        </p:sp>
      </p:grpSp>
      <p:grpSp>
        <p:nvGrpSpPr>
          <p:cNvPr name="Group 14" id="14"/>
          <p:cNvGrpSpPr/>
          <p:nvPr/>
        </p:nvGrpSpPr>
        <p:grpSpPr>
          <a:xfrm rot="0">
            <a:off x="651754" y="3429735"/>
            <a:ext cx="753892" cy="872928"/>
            <a:chOff x="0" y="0"/>
            <a:chExt cx="1005189" cy="1163904"/>
          </a:xfrm>
        </p:grpSpPr>
        <p:sp>
          <p:nvSpPr>
            <p:cNvPr name="Freeform 15" id="15"/>
            <p:cNvSpPr/>
            <p:nvPr/>
          </p:nvSpPr>
          <p:spPr>
            <a:xfrm flipH="false" flipV="false" rot="0">
              <a:off x="0" y="0"/>
              <a:ext cx="1005205" cy="1163955"/>
            </a:xfrm>
            <a:custGeom>
              <a:avLst/>
              <a:gdLst/>
              <a:ahLst/>
              <a:cxnLst/>
              <a:rect r="r" b="b" t="t" l="l"/>
              <a:pathLst>
                <a:path h="1163955" w="1005205">
                  <a:moveTo>
                    <a:pt x="0" y="0"/>
                  </a:moveTo>
                  <a:lnTo>
                    <a:pt x="1005205" y="0"/>
                  </a:lnTo>
                  <a:lnTo>
                    <a:pt x="1005205" y="1163955"/>
                  </a:lnTo>
                  <a:lnTo>
                    <a:pt x="0" y="1163955"/>
                  </a:lnTo>
                  <a:lnTo>
                    <a:pt x="0" y="0"/>
                  </a:lnTo>
                  <a:close/>
                </a:path>
              </a:pathLst>
            </a:custGeom>
            <a:blipFill>
              <a:blip r:embed="rId4"/>
              <a:stretch>
                <a:fillRect l="0" t="-36" r="1" b="-31"/>
              </a:stretch>
            </a:blipFill>
          </p:spPr>
        </p:sp>
      </p:grpSp>
      <p:grpSp>
        <p:nvGrpSpPr>
          <p:cNvPr name="Group 16" id="16"/>
          <p:cNvGrpSpPr/>
          <p:nvPr/>
        </p:nvGrpSpPr>
        <p:grpSpPr>
          <a:xfrm rot="0">
            <a:off x="651754" y="-584250"/>
            <a:ext cx="7710301" cy="4067175"/>
            <a:chOff x="0" y="0"/>
            <a:chExt cx="10280401" cy="5422900"/>
          </a:xfrm>
        </p:grpSpPr>
        <p:sp>
          <p:nvSpPr>
            <p:cNvPr name="Freeform 17" id="17"/>
            <p:cNvSpPr/>
            <p:nvPr/>
          </p:nvSpPr>
          <p:spPr>
            <a:xfrm flipH="false" flipV="false" rot="0">
              <a:off x="0" y="0"/>
              <a:ext cx="10280401" cy="5422900"/>
            </a:xfrm>
            <a:custGeom>
              <a:avLst/>
              <a:gdLst/>
              <a:ahLst/>
              <a:cxnLst/>
              <a:rect r="r" b="b" t="t" l="l"/>
              <a:pathLst>
                <a:path h="5422900" w="10280401">
                  <a:moveTo>
                    <a:pt x="0" y="0"/>
                  </a:moveTo>
                  <a:lnTo>
                    <a:pt x="10280401" y="0"/>
                  </a:lnTo>
                  <a:lnTo>
                    <a:pt x="10280401" y="5422900"/>
                  </a:lnTo>
                  <a:lnTo>
                    <a:pt x="0" y="5422900"/>
                  </a:lnTo>
                  <a:close/>
                </a:path>
              </a:pathLst>
            </a:custGeom>
            <a:solidFill>
              <a:srgbClr val="000000">
                <a:alpha val="0"/>
              </a:srgbClr>
            </a:solidFill>
          </p:spPr>
        </p:sp>
        <p:sp>
          <p:nvSpPr>
            <p:cNvPr name="TextBox 18" id="18"/>
            <p:cNvSpPr txBox="true"/>
            <p:nvPr/>
          </p:nvSpPr>
          <p:spPr>
            <a:xfrm>
              <a:off x="0" y="-257175"/>
              <a:ext cx="10280401" cy="5680075"/>
            </a:xfrm>
            <a:prstGeom prst="rect">
              <a:avLst/>
            </a:prstGeom>
          </p:spPr>
          <p:txBody>
            <a:bodyPr anchor="t" rtlCol="false" tIns="0" lIns="0" bIns="0" rIns="0"/>
            <a:lstStyle/>
            <a:p>
              <a:pPr algn="l">
                <a:lnSpc>
                  <a:spcPts val="20699"/>
                </a:lnSpc>
              </a:pPr>
              <a:r>
                <a:rPr lang="en-US" sz="15000">
                  <a:solidFill>
                    <a:srgbClr val="131416"/>
                  </a:solidFill>
                  <a:latin typeface="Pacifico"/>
                  <a:ea typeface="Pacifico"/>
                  <a:cs typeface="Pacifico"/>
                  <a:sym typeface="Pacifico"/>
                </a:rPr>
                <a:t>Agenda</a:t>
              </a:r>
            </a:p>
          </p:txBody>
        </p:sp>
      </p:grpSp>
      <p:grpSp>
        <p:nvGrpSpPr>
          <p:cNvPr name="Group 19" id="19"/>
          <p:cNvGrpSpPr/>
          <p:nvPr/>
        </p:nvGrpSpPr>
        <p:grpSpPr>
          <a:xfrm rot="0">
            <a:off x="176619" y="5623280"/>
            <a:ext cx="4613552" cy="666407"/>
            <a:chOff x="0" y="0"/>
            <a:chExt cx="6151402" cy="888543"/>
          </a:xfrm>
        </p:grpSpPr>
        <p:sp>
          <p:nvSpPr>
            <p:cNvPr name="Freeform 20" id="20"/>
            <p:cNvSpPr/>
            <p:nvPr/>
          </p:nvSpPr>
          <p:spPr>
            <a:xfrm flipH="false" flipV="false" rot="0">
              <a:off x="0" y="0"/>
              <a:ext cx="6151372" cy="888492"/>
            </a:xfrm>
            <a:custGeom>
              <a:avLst/>
              <a:gdLst/>
              <a:ahLst/>
              <a:cxnLst/>
              <a:rect r="r" b="b" t="t" l="l"/>
              <a:pathLst>
                <a:path h="888492" w="6151372">
                  <a:moveTo>
                    <a:pt x="5514975" y="0"/>
                  </a:moveTo>
                  <a:lnTo>
                    <a:pt x="0" y="0"/>
                  </a:lnTo>
                  <a:lnTo>
                    <a:pt x="0" y="888492"/>
                  </a:lnTo>
                  <a:lnTo>
                    <a:pt x="5514975" y="888492"/>
                  </a:lnTo>
                  <a:lnTo>
                    <a:pt x="6151372" y="444246"/>
                  </a:lnTo>
                  <a:lnTo>
                    <a:pt x="5514975" y="0"/>
                  </a:lnTo>
                  <a:close/>
                </a:path>
              </a:pathLst>
            </a:custGeom>
            <a:solidFill>
              <a:srgbClr val="FFFFFF"/>
            </a:solidFill>
          </p:spPr>
        </p:sp>
      </p:grpSp>
      <p:grpSp>
        <p:nvGrpSpPr>
          <p:cNvPr name="Group 21" id="21"/>
          <p:cNvGrpSpPr/>
          <p:nvPr/>
        </p:nvGrpSpPr>
        <p:grpSpPr>
          <a:xfrm rot="0">
            <a:off x="1727217" y="5327808"/>
            <a:ext cx="7072455" cy="845566"/>
            <a:chOff x="0" y="0"/>
            <a:chExt cx="9429940" cy="1127421"/>
          </a:xfrm>
        </p:grpSpPr>
        <p:sp>
          <p:nvSpPr>
            <p:cNvPr name="Freeform 22" id="22"/>
            <p:cNvSpPr/>
            <p:nvPr/>
          </p:nvSpPr>
          <p:spPr>
            <a:xfrm flipH="false" flipV="false" rot="0">
              <a:off x="0" y="0"/>
              <a:ext cx="9429941" cy="1127421"/>
            </a:xfrm>
            <a:custGeom>
              <a:avLst/>
              <a:gdLst/>
              <a:ahLst/>
              <a:cxnLst/>
              <a:rect r="r" b="b" t="t" l="l"/>
              <a:pathLst>
                <a:path h="1127421" w="9429941">
                  <a:moveTo>
                    <a:pt x="0" y="0"/>
                  </a:moveTo>
                  <a:lnTo>
                    <a:pt x="9429941" y="0"/>
                  </a:lnTo>
                  <a:lnTo>
                    <a:pt x="9429941" y="1127421"/>
                  </a:lnTo>
                  <a:lnTo>
                    <a:pt x="0" y="1127421"/>
                  </a:lnTo>
                  <a:close/>
                </a:path>
              </a:pathLst>
            </a:custGeom>
            <a:solidFill>
              <a:srgbClr val="000000">
                <a:alpha val="0"/>
              </a:srgbClr>
            </a:solidFill>
          </p:spPr>
        </p:sp>
        <p:sp>
          <p:nvSpPr>
            <p:cNvPr name="TextBox 23" id="23"/>
            <p:cNvSpPr txBox="true"/>
            <p:nvPr/>
          </p:nvSpPr>
          <p:spPr>
            <a:xfrm>
              <a:off x="0" y="-209550"/>
              <a:ext cx="9429940" cy="1336971"/>
            </a:xfrm>
            <a:prstGeom prst="rect">
              <a:avLst/>
            </a:prstGeom>
          </p:spPr>
          <p:txBody>
            <a:bodyPr anchor="ctr" rtlCol="false" tIns="0" lIns="0" bIns="0" rIns="0"/>
            <a:lstStyle/>
            <a:p>
              <a:pPr algn="ctr">
                <a:lnSpc>
                  <a:spcPts val="4971"/>
                </a:lnSpc>
              </a:pPr>
              <a:r>
                <a:rPr lang="en-US" sz="2799">
                  <a:solidFill>
                    <a:srgbClr val="000000"/>
                  </a:solidFill>
                  <a:latin typeface="Arial"/>
                  <a:ea typeface="Arial"/>
                  <a:cs typeface="Arial"/>
                  <a:sym typeface="Arial"/>
                </a:rPr>
                <a:t>¿P</a:t>
              </a:r>
              <a:r>
                <a:rPr lang="en-US" sz="2799">
                  <a:solidFill>
                    <a:srgbClr val="000000"/>
                  </a:solidFill>
                  <a:latin typeface="Arial"/>
                  <a:ea typeface="Arial"/>
                  <a:cs typeface="Arial"/>
                  <a:sym typeface="Arial"/>
                </a:rPr>
                <a:t>or qué es importante el versionamiento?</a:t>
              </a:r>
            </a:p>
          </p:txBody>
        </p:sp>
      </p:grpSp>
      <p:grpSp>
        <p:nvGrpSpPr>
          <p:cNvPr name="Group 24" id="24"/>
          <p:cNvGrpSpPr/>
          <p:nvPr/>
        </p:nvGrpSpPr>
        <p:grpSpPr>
          <a:xfrm rot="0">
            <a:off x="176625" y="6604851"/>
            <a:ext cx="5805648" cy="666409"/>
            <a:chOff x="0" y="0"/>
            <a:chExt cx="7740864" cy="888545"/>
          </a:xfrm>
        </p:grpSpPr>
        <p:sp>
          <p:nvSpPr>
            <p:cNvPr name="Freeform 25" id="25"/>
            <p:cNvSpPr/>
            <p:nvPr/>
          </p:nvSpPr>
          <p:spPr>
            <a:xfrm flipH="false" flipV="false" rot="0">
              <a:off x="0" y="0"/>
              <a:ext cx="7740777" cy="888492"/>
            </a:xfrm>
            <a:custGeom>
              <a:avLst/>
              <a:gdLst/>
              <a:ahLst/>
              <a:cxnLst/>
              <a:rect r="r" b="b" t="t" l="l"/>
              <a:pathLst>
                <a:path h="888492" w="7740777">
                  <a:moveTo>
                    <a:pt x="6940042" y="0"/>
                  </a:moveTo>
                  <a:lnTo>
                    <a:pt x="0" y="0"/>
                  </a:lnTo>
                  <a:lnTo>
                    <a:pt x="0" y="888492"/>
                  </a:lnTo>
                  <a:lnTo>
                    <a:pt x="6940042" y="888492"/>
                  </a:lnTo>
                  <a:lnTo>
                    <a:pt x="7740777" y="444246"/>
                  </a:lnTo>
                  <a:lnTo>
                    <a:pt x="6940042" y="0"/>
                  </a:lnTo>
                  <a:close/>
                </a:path>
              </a:pathLst>
            </a:custGeom>
            <a:solidFill>
              <a:srgbClr val="FFFFFF"/>
            </a:solidFill>
          </p:spPr>
        </p:sp>
      </p:grpSp>
      <p:grpSp>
        <p:nvGrpSpPr>
          <p:cNvPr name="Group 26" id="26"/>
          <p:cNvGrpSpPr/>
          <p:nvPr/>
        </p:nvGrpSpPr>
        <p:grpSpPr>
          <a:xfrm rot="0">
            <a:off x="2360800" y="6223435"/>
            <a:ext cx="5805290" cy="845568"/>
            <a:chOff x="0" y="0"/>
            <a:chExt cx="7740387" cy="1127424"/>
          </a:xfrm>
        </p:grpSpPr>
        <p:sp>
          <p:nvSpPr>
            <p:cNvPr name="Freeform 27" id="27"/>
            <p:cNvSpPr/>
            <p:nvPr/>
          </p:nvSpPr>
          <p:spPr>
            <a:xfrm flipH="false" flipV="false" rot="0">
              <a:off x="0" y="0"/>
              <a:ext cx="7740387" cy="1127424"/>
            </a:xfrm>
            <a:custGeom>
              <a:avLst/>
              <a:gdLst/>
              <a:ahLst/>
              <a:cxnLst/>
              <a:rect r="r" b="b" t="t" l="l"/>
              <a:pathLst>
                <a:path h="1127424" w="7740387">
                  <a:moveTo>
                    <a:pt x="0" y="0"/>
                  </a:moveTo>
                  <a:lnTo>
                    <a:pt x="7740387" y="0"/>
                  </a:lnTo>
                  <a:lnTo>
                    <a:pt x="7740387" y="1127424"/>
                  </a:lnTo>
                  <a:lnTo>
                    <a:pt x="0" y="1127424"/>
                  </a:lnTo>
                  <a:close/>
                </a:path>
              </a:pathLst>
            </a:custGeom>
            <a:solidFill>
              <a:srgbClr val="000000">
                <a:alpha val="0"/>
              </a:srgbClr>
            </a:solidFill>
          </p:spPr>
        </p:sp>
        <p:sp>
          <p:nvSpPr>
            <p:cNvPr name="TextBox 28" id="28"/>
            <p:cNvSpPr txBox="true"/>
            <p:nvPr/>
          </p:nvSpPr>
          <p:spPr>
            <a:xfrm>
              <a:off x="0" y="-209550"/>
              <a:ext cx="7740387" cy="1336974"/>
            </a:xfrm>
            <a:prstGeom prst="rect">
              <a:avLst/>
            </a:prstGeom>
          </p:spPr>
          <p:txBody>
            <a:bodyPr anchor="ctr" rtlCol="false" tIns="0" lIns="0" bIns="0" rIns="0"/>
            <a:lstStyle/>
            <a:p>
              <a:pPr algn="ctr">
                <a:lnSpc>
                  <a:spcPts val="4971"/>
                </a:lnSpc>
              </a:pPr>
              <a:r>
                <a:rPr lang="en-US" sz="2799">
                  <a:solidFill>
                    <a:srgbClr val="000000"/>
                  </a:solidFill>
                  <a:latin typeface="Arial"/>
                  <a:ea typeface="Arial"/>
                  <a:cs typeface="Arial"/>
                  <a:sym typeface="Arial"/>
                </a:rPr>
                <a:t>Tipos de control de versiones</a:t>
              </a:r>
            </a:p>
          </p:txBody>
        </p:sp>
      </p:grpSp>
      <p:grpSp>
        <p:nvGrpSpPr>
          <p:cNvPr name="Group 29" id="29"/>
          <p:cNvGrpSpPr/>
          <p:nvPr/>
        </p:nvGrpSpPr>
        <p:grpSpPr>
          <a:xfrm rot="0">
            <a:off x="148712" y="7528433"/>
            <a:ext cx="8213390" cy="666409"/>
            <a:chOff x="0" y="0"/>
            <a:chExt cx="10951186" cy="888545"/>
          </a:xfrm>
        </p:grpSpPr>
        <p:sp>
          <p:nvSpPr>
            <p:cNvPr name="Freeform 30" id="30"/>
            <p:cNvSpPr/>
            <p:nvPr/>
          </p:nvSpPr>
          <p:spPr>
            <a:xfrm flipH="false" flipV="false" rot="0">
              <a:off x="0" y="0"/>
              <a:ext cx="10951210" cy="888492"/>
            </a:xfrm>
            <a:custGeom>
              <a:avLst/>
              <a:gdLst/>
              <a:ahLst/>
              <a:cxnLst/>
              <a:rect r="r" b="b" t="t" l="l"/>
              <a:pathLst>
                <a:path h="888492" w="10951210">
                  <a:moveTo>
                    <a:pt x="9818243" y="0"/>
                  </a:moveTo>
                  <a:lnTo>
                    <a:pt x="0" y="0"/>
                  </a:lnTo>
                  <a:lnTo>
                    <a:pt x="0" y="888492"/>
                  </a:lnTo>
                  <a:lnTo>
                    <a:pt x="9818243" y="888492"/>
                  </a:lnTo>
                  <a:lnTo>
                    <a:pt x="10951210" y="444246"/>
                  </a:lnTo>
                  <a:lnTo>
                    <a:pt x="9818243" y="0"/>
                  </a:lnTo>
                  <a:close/>
                </a:path>
              </a:pathLst>
            </a:custGeom>
            <a:solidFill>
              <a:srgbClr val="FFFFFF"/>
            </a:solidFill>
          </p:spPr>
        </p:sp>
      </p:grpSp>
      <p:grpSp>
        <p:nvGrpSpPr>
          <p:cNvPr name="Group 31" id="31"/>
          <p:cNvGrpSpPr/>
          <p:nvPr/>
        </p:nvGrpSpPr>
        <p:grpSpPr>
          <a:xfrm rot="0">
            <a:off x="1332012" y="7349274"/>
            <a:ext cx="8058586" cy="845568"/>
            <a:chOff x="0" y="0"/>
            <a:chExt cx="10744782" cy="1127424"/>
          </a:xfrm>
        </p:grpSpPr>
        <p:sp>
          <p:nvSpPr>
            <p:cNvPr name="Freeform 32" id="32"/>
            <p:cNvSpPr/>
            <p:nvPr/>
          </p:nvSpPr>
          <p:spPr>
            <a:xfrm flipH="false" flipV="false" rot="0">
              <a:off x="0" y="0"/>
              <a:ext cx="10744782" cy="1127424"/>
            </a:xfrm>
            <a:custGeom>
              <a:avLst/>
              <a:gdLst/>
              <a:ahLst/>
              <a:cxnLst/>
              <a:rect r="r" b="b" t="t" l="l"/>
              <a:pathLst>
                <a:path h="1127424" w="10744782">
                  <a:moveTo>
                    <a:pt x="0" y="0"/>
                  </a:moveTo>
                  <a:lnTo>
                    <a:pt x="10744782" y="0"/>
                  </a:lnTo>
                  <a:lnTo>
                    <a:pt x="10744782" y="1127424"/>
                  </a:lnTo>
                  <a:lnTo>
                    <a:pt x="0" y="1127424"/>
                  </a:lnTo>
                  <a:close/>
                </a:path>
              </a:pathLst>
            </a:custGeom>
            <a:solidFill>
              <a:srgbClr val="000000">
                <a:alpha val="0"/>
              </a:srgbClr>
            </a:solidFill>
          </p:spPr>
        </p:sp>
        <p:sp>
          <p:nvSpPr>
            <p:cNvPr name="TextBox 33" id="33"/>
            <p:cNvSpPr txBox="true"/>
            <p:nvPr/>
          </p:nvSpPr>
          <p:spPr>
            <a:xfrm>
              <a:off x="0" y="-209550"/>
              <a:ext cx="10744782" cy="1336974"/>
            </a:xfrm>
            <a:prstGeom prst="rect">
              <a:avLst/>
            </a:prstGeom>
          </p:spPr>
          <p:txBody>
            <a:bodyPr anchor="ctr" rtlCol="false" tIns="0" lIns="0" bIns="0" rIns="0"/>
            <a:lstStyle/>
            <a:p>
              <a:pPr algn="ctr">
                <a:lnSpc>
                  <a:spcPts val="4971"/>
                </a:lnSpc>
              </a:pPr>
              <a:r>
                <a:rPr lang="en-US" sz="2799">
                  <a:solidFill>
                    <a:srgbClr val="000000"/>
                  </a:solidFill>
                  <a:latin typeface="Arial"/>
                  <a:ea typeface="Arial"/>
                  <a:cs typeface="Arial"/>
                  <a:sym typeface="Arial"/>
                </a:rPr>
                <a:t>V</a:t>
              </a:r>
              <a:r>
                <a:rPr lang="en-US" sz="2799">
                  <a:solidFill>
                    <a:srgbClr val="000000"/>
                  </a:solidFill>
                  <a:latin typeface="Arial"/>
                  <a:ea typeface="Arial"/>
                  <a:cs typeface="Arial"/>
                  <a:sym typeface="Arial"/>
                </a:rPr>
                <a:t>entajas del control de versiones</a:t>
              </a:r>
            </a:p>
          </p:txBody>
        </p:sp>
      </p:grpSp>
      <p:grpSp>
        <p:nvGrpSpPr>
          <p:cNvPr name="Group 34" id="34"/>
          <p:cNvGrpSpPr/>
          <p:nvPr/>
        </p:nvGrpSpPr>
        <p:grpSpPr>
          <a:xfrm rot="0">
            <a:off x="453114" y="8591895"/>
            <a:ext cx="12167367" cy="666380"/>
            <a:chOff x="0" y="0"/>
            <a:chExt cx="16223156" cy="888507"/>
          </a:xfrm>
        </p:grpSpPr>
        <p:sp>
          <p:nvSpPr>
            <p:cNvPr name="Freeform 35" id="35"/>
            <p:cNvSpPr/>
            <p:nvPr/>
          </p:nvSpPr>
          <p:spPr>
            <a:xfrm flipH="false" flipV="false" rot="0">
              <a:off x="0" y="0"/>
              <a:ext cx="16223107" cy="888492"/>
            </a:xfrm>
            <a:custGeom>
              <a:avLst/>
              <a:gdLst/>
              <a:ahLst/>
              <a:cxnLst/>
              <a:rect r="r" b="b" t="t" l="l"/>
              <a:pathLst>
                <a:path h="888492" w="16223107">
                  <a:moveTo>
                    <a:pt x="14544802" y="0"/>
                  </a:moveTo>
                  <a:lnTo>
                    <a:pt x="0" y="0"/>
                  </a:lnTo>
                  <a:lnTo>
                    <a:pt x="0" y="888492"/>
                  </a:lnTo>
                  <a:lnTo>
                    <a:pt x="14544802" y="888492"/>
                  </a:lnTo>
                  <a:lnTo>
                    <a:pt x="16223107" y="444246"/>
                  </a:lnTo>
                  <a:lnTo>
                    <a:pt x="14544802" y="0"/>
                  </a:lnTo>
                  <a:close/>
                </a:path>
              </a:pathLst>
            </a:custGeom>
            <a:solidFill>
              <a:srgbClr val="FFFFFF"/>
            </a:solidFill>
          </p:spPr>
        </p:sp>
      </p:grpSp>
      <p:grpSp>
        <p:nvGrpSpPr>
          <p:cNvPr name="Group 36" id="36"/>
          <p:cNvGrpSpPr/>
          <p:nvPr/>
        </p:nvGrpSpPr>
        <p:grpSpPr>
          <a:xfrm rot="0">
            <a:off x="-12700" y="8412924"/>
            <a:ext cx="11458586" cy="845532"/>
            <a:chOff x="0" y="0"/>
            <a:chExt cx="15278115" cy="1127376"/>
          </a:xfrm>
        </p:grpSpPr>
        <p:sp>
          <p:nvSpPr>
            <p:cNvPr name="Freeform 37" id="37"/>
            <p:cNvSpPr/>
            <p:nvPr/>
          </p:nvSpPr>
          <p:spPr>
            <a:xfrm flipH="false" flipV="false" rot="0">
              <a:off x="0" y="0"/>
              <a:ext cx="15278116" cy="1127376"/>
            </a:xfrm>
            <a:custGeom>
              <a:avLst/>
              <a:gdLst/>
              <a:ahLst/>
              <a:cxnLst/>
              <a:rect r="r" b="b" t="t" l="l"/>
              <a:pathLst>
                <a:path h="1127376" w="15278116">
                  <a:moveTo>
                    <a:pt x="0" y="0"/>
                  </a:moveTo>
                  <a:lnTo>
                    <a:pt x="15278116" y="0"/>
                  </a:lnTo>
                  <a:lnTo>
                    <a:pt x="15278116" y="1127376"/>
                  </a:lnTo>
                  <a:lnTo>
                    <a:pt x="0" y="1127376"/>
                  </a:lnTo>
                  <a:close/>
                </a:path>
              </a:pathLst>
            </a:custGeom>
            <a:solidFill>
              <a:srgbClr val="000000">
                <a:alpha val="0"/>
              </a:srgbClr>
            </a:solidFill>
          </p:spPr>
        </p:sp>
        <p:sp>
          <p:nvSpPr>
            <p:cNvPr name="TextBox 38" id="38"/>
            <p:cNvSpPr txBox="true"/>
            <p:nvPr/>
          </p:nvSpPr>
          <p:spPr>
            <a:xfrm>
              <a:off x="0" y="-209550"/>
              <a:ext cx="15278115" cy="1336926"/>
            </a:xfrm>
            <a:prstGeom prst="rect">
              <a:avLst/>
            </a:prstGeom>
          </p:spPr>
          <p:txBody>
            <a:bodyPr anchor="ctr" rtlCol="false" tIns="0" lIns="0" bIns="0" rIns="0"/>
            <a:lstStyle/>
            <a:p>
              <a:pPr algn="ctr">
                <a:lnSpc>
                  <a:spcPts val="4971"/>
                </a:lnSpc>
              </a:pPr>
              <a:r>
                <a:rPr lang="en-US" sz="2799">
                  <a:solidFill>
                    <a:srgbClr val="000000"/>
                  </a:solidFill>
                  <a:latin typeface="Arial"/>
                  <a:ea typeface="Arial"/>
                  <a:cs typeface="Arial"/>
                  <a:sym typeface="Arial"/>
                </a:rPr>
                <a:t>H</a:t>
              </a:r>
              <a:r>
                <a:rPr lang="en-US" sz="2799">
                  <a:solidFill>
                    <a:srgbClr val="000000"/>
                  </a:solidFill>
                  <a:latin typeface="Arial"/>
                  <a:ea typeface="Arial"/>
                  <a:cs typeface="Arial"/>
                  <a:sym typeface="Arial"/>
                </a:rPr>
                <a:t>erramientas populares de control de versiones</a:t>
              </a:r>
            </a:p>
          </p:txBody>
        </p:sp>
      </p:grpSp>
      <p:grpSp>
        <p:nvGrpSpPr>
          <p:cNvPr name="Group 39" id="39"/>
          <p:cNvGrpSpPr/>
          <p:nvPr/>
        </p:nvGrpSpPr>
        <p:grpSpPr>
          <a:xfrm rot="0">
            <a:off x="878654" y="5623280"/>
            <a:ext cx="453358" cy="550094"/>
            <a:chOff x="0" y="0"/>
            <a:chExt cx="604477" cy="733459"/>
          </a:xfrm>
        </p:grpSpPr>
        <p:sp>
          <p:nvSpPr>
            <p:cNvPr name="Freeform 40" id="40"/>
            <p:cNvSpPr/>
            <p:nvPr/>
          </p:nvSpPr>
          <p:spPr>
            <a:xfrm flipH="false" flipV="false" rot="0">
              <a:off x="0" y="0"/>
              <a:ext cx="604520" cy="733425"/>
            </a:xfrm>
            <a:custGeom>
              <a:avLst/>
              <a:gdLst/>
              <a:ahLst/>
              <a:cxnLst/>
              <a:rect r="r" b="b" t="t" l="l"/>
              <a:pathLst>
                <a:path h="733425" w="604520">
                  <a:moveTo>
                    <a:pt x="0" y="0"/>
                  </a:moveTo>
                  <a:lnTo>
                    <a:pt x="604520" y="0"/>
                  </a:lnTo>
                  <a:lnTo>
                    <a:pt x="604520" y="733425"/>
                  </a:lnTo>
                  <a:lnTo>
                    <a:pt x="0" y="733425"/>
                  </a:lnTo>
                  <a:lnTo>
                    <a:pt x="0" y="0"/>
                  </a:lnTo>
                  <a:close/>
                </a:path>
              </a:pathLst>
            </a:custGeom>
            <a:blipFill>
              <a:blip r:embed="rId3"/>
              <a:stretch>
                <a:fillRect l="0" t="0" r="7" b="-4"/>
              </a:stretch>
            </a:blipFill>
          </p:spPr>
        </p:sp>
      </p:grpSp>
      <p:grpSp>
        <p:nvGrpSpPr>
          <p:cNvPr name="Group 41" id="41"/>
          <p:cNvGrpSpPr/>
          <p:nvPr/>
        </p:nvGrpSpPr>
        <p:grpSpPr>
          <a:xfrm rot="0">
            <a:off x="878654" y="6604853"/>
            <a:ext cx="453358" cy="550094"/>
            <a:chOff x="0" y="0"/>
            <a:chExt cx="604477" cy="733459"/>
          </a:xfrm>
        </p:grpSpPr>
        <p:sp>
          <p:nvSpPr>
            <p:cNvPr name="Freeform 42" id="42"/>
            <p:cNvSpPr/>
            <p:nvPr/>
          </p:nvSpPr>
          <p:spPr>
            <a:xfrm flipH="false" flipV="false" rot="0">
              <a:off x="0" y="0"/>
              <a:ext cx="604520" cy="733425"/>
            </a:xfrm>
            <a:custGeom>
              <a:avLst/>
              <a:gdLst/>
              <a:ahLst/>
              <a:cxnLst/>
              <a:rect r="r" b="b" t="t" l="l"/>
              <a:pathLst>
                <a:path h="733425" w="604520">
                  <a:moveTo>
                    <a:pt x="0" y="0"/>
                  </a:moveTo>
                  <a:lnTo>
                    <a:pt x="604520" y="0"/>
                  </a:lnTo>
                  <a:lnTo>
                    <a:pt x="604520" y="733425"/>
                  </a:lnTo>
                  <a:lnTo>
                    <a:pt x="0" y="733425"/>
                  </a:lnTo>
                  <a:lnTo>
                    <a:pt x="0" y="0"/>
                  </a:lnTo>
                  <a:close/>
                </a:path>
              </a:pathLst>
            </a:custGeom>
            <a:blipFill>
              <a:blip r:embed="rId3"/>
              <a:stretch>
                <a:fillRect l="0" t="0" r="7" b="-4"/>
              </a:stretch>
            </a:blipFill>
          </p:spPr>
        </p:sp>
      </p:grpSp>
      <p:grpSp>
        <p:nvGrpSpPr>
          <p:cNvPr name="Group 43" id="43"/>
          <p:cNvGrpSpPr/>
          <p:nvPr/>
        </p:nvGrpSpPr>
        <p:grpSpPr>
          <a:xfrm rot="0">
            <a:off x="878654" y="7604635"/>
            <a:ext cx="453358" cy="550094"/>
            <a:chOff x="0" y="0"/>
            <a:chExt cx="604477" cy="733459"/>
          </a:xfrm>
        </p:grpSpPr>
        <p:sp>
          <p:nvSpPr>
            <p:cNvPr name="Freeform 44" id="44"/>
            <p:cNvSpPr/>
            <p:nvPr/>
          </p:nvSpPr>
          <p:spPr>
            <a:xfrm flipH="false" flipV="false" rot="0">
              <a:off x="0" y="0"/>
              <a:ext cx="604520" cy="733425"/>
            </a:xfrm>
            <a:custGeom>
              <a:avLst/>
              <a:gdLst/>
              <a:ahLst/>
              <a:cxnLst/>
              <a:rect r="r" b="b" t="t" l="l"/>
              <a:pathLst>
                <a:path h="733425" w="604520">
                  <a:moveTo>
                    <a:pt x="0" y="0"/>
                  </a:moveTo>
                  <a:lnTo>
                    <a:pt x="604520" y="0"/>
                  </a:lnTo>
                  <a:lnTo>
                    <a:pt x="604520" y="733425"/>
                  </a:lnTo>
                  <a:lnTo>
                    <a:pt x="0" y="733425"/>
                  </a:lnTo>
                  <a:lnTo>
                    <a:pt x="0" y="0"/>
                  </a:lnTo>
                  <a:close/>
                </a:path>
              </a:pathLst>
            </a:custGeom>
            <a:blipFill>
              <a:blip r:embed="rId3"/>
              <a:stretch>
                <a:fillRect l="0" t="0" r="7" b="-4"/>
              </a:stretch>
            </a:blipFill>
          </p:spPr>
        </p:sp>
      </p:grpSp>
      <p:grpSp>
        <p:nvGrpSpPr>
          <p:cNvPr name="Group 45" id="45"/>
          <p:cNvGrpSpPr/>
          <p:nvPr/>
        </p:nvGrpSpPr>
        <p:grpSpPr>
          <a:xfrm rot="0">
            <a:off x="878654" y="8605540"/>
            <a:ext cx="453358" cy="550094"/>
            <a:chOff x="0" y="0"/>
            <a:chExt cx="604477" cy="733459"/>
          </a:xfrm>
        </p:grpSpPr>
        <p:sp>
          <p:nvSpPr>
            <p:cNvPr name="Freeform 46" id="46"/>
            <p:cNvSpPr/>
            <p:nvPr/>
          </p:nvSpPr>
          <p:spPr>
            <a:xfrm flipH="false" flipV="false" rot="0">
              <a:off x="0" y="0"/>
              <a:ext cx="604520" cy="733425"/>
            </a:xfrm>
            <a:custGeom>
              <a:avLst/>
              <a:gdLst/>
              <a:ahLst/>
              <a:cxnLst/>
              <a:rect r="r" b="b" t="t" l="l"/>
              <a:pathLst>
                <a:path h="733425" w="604520">
                  <a:moveTo>
                    <a:pt x="0" y="0"/>
                  </a:moveTo>
                  <a:lnTo>
                    <a:pt x="604520" y="0"/>
                  </a:lnTo>
                  <a:lnTo>
                    <a:pt x="604520" y="733425"/>
                  </a:lnTo>
                  <a:lnTo>
                    <a:pt x="0" y="733425"/>
                  </a:lnTo>
                  <a:lnTo>
                    <a:pt x="0" y="0"/>
                  </a:lnTo>
                  <a:close/>
                </a:path>
              </a:pathLst>
            </a:custGeom>
            <a:blipFill>
              <a:blip r:embed="rId3"/>
              <a:stretch>
                <a:fillRect l="0" t="0" r="7" b="-4"/>
              </a:stretch>
            </a:blipFill>
          </p:spPr>
        </p:sp>
      </p:grpSp>
      <p:grpSp>
        <p:nvGrpSpPr>
          <p:cNvPr name="Group 47" id="47"/>
          <p:cNvGrpSpPr/>
          <p:nvPr/>
        </p:nvGrpSpPr>
        <p:grpSpPr>
          <a:xfrm rot="0">
            <a:off x="10177169" y="4699461"/>
            <a:ext cx="4613563" cy="666409"/>
            <a:chOff x="0" y="0"/>
            <a:chExt cx="6151417" cy="888545"/>
          </a:xfrm>
        </p:grpSpPr>
        <p:sp>
          <p:nvSpPr>
            <p:cNvPr name="Freeform 48" id="48"/>
            <p:cNvSpPr/>
            <p:nvPr/>
          </p:nvSpPr>
          <p:spPr>
            <a:xfrm flipH="false" flipV="false" rot="0">
              <a:off x="0" y="0"/>
              <a:ext cx="6151499" cy="888492"/>
            </a:xfrm>
            <a:custGeom>
              <a:avLst/>
              <a:gdLst/>
              <a:ahLst/>
              <a:cxnLst/>
              <a:rect r="r" b="b" t="t" l="l"/>
              <a:pathLst>
                <a:path h="888492" w="6151499">
                  <a:moveTo>
                    <a:pt x="5515102" y="0"/>
                  </a:moveTo>
                  <a:lnTo>
                    <a:pt x="0" y="0"/>
                  </a:lnTo>
                  <a:lnTo>
                    <a:pt x="0" y="888492"/>
                  </a:lnTo>
                  <a:lnTo>
                    <a:pt x="5515102" y="888492"/>
                  </a:lnTo>
                  <a:lnTo>
                    <a:pt x="6151499" y="444246"/>
                  </a:lnTo>
                  <a:lnTo>
                    <a:pt x="5515102" y="0"/>
                  </a:lnTo>
                  <a:close/>
                </a:path>
              </a:pathLst>
            </a:custGeom>
            <a:solidFill>
              <a:srgbClr val="FFFFFF"/>
            </a:solidFill>
          </p:spPr>
        </p:sp>
      </p:grpSp>
      <p:grpSp>
        <p:nvGrpSpPr>
          <p:cNvPr name="Group 49" id="49"/>
          <p:cNvGrpSpPr/>
          <p:nvPr/>
        </p:nvGrpSpPr>
        <p:grpSpPr>
          <a:xfrm rot="0">
            <a:off x="10879200" y="4540175"/>
            <a:ext cx="4613278" cy="845568"/>
            <a:chOff x="0" y="0"/>
            <a:chExt cx="6151038" cy="1127424"/>
          </a:xfrm>
        </p:grpSpPr>
        <p:sp>
          <p:nvSpPr>
            <p:cNvPr name="Freeform 50" id="50"/>
            <p:cNvSpPr/>
            <p:nvPr/>
          </p:nvSpPr>
          <p:spPr>
            <a:xfrm flipH="false" flipV="false" rot="0">
              <a:off x="0" y="0"/>
              <a:ext cx="6151038" cy="1127424"/>
            </a:xfrm>
            <a:custGeom>
              <a:avLst/>
              <a:gdLst/>
              <a:ahLst/>
              <a:cxnLst/>
              <a:rect r="r" b="b" t="t" l="l"/>
              <a:pathLst>
                <a:path h="1127424" w="6151038">
                  <a:moveTo>
                    <a:pt x="0" y="0"/>
                  </a:moveTo>
                  <a:lnTo>
                    <a:pt x="6151038" y="0"/>
                  </a:lnTo>
                  <a:lnTo>
                    <a:pt x="6151038" y="1127424"/>
                  </a:lnTo>
                  <a:lnTo>
                    <a:pt x="0" y="1127424"/>
                  </a:lnTo>
                  <a:close/>
                </a:path>
              </a:pathLst>
            </a:custGeom>
            <a:solidFill>
              <a:srgbClr val="000000">
                <a:alpha val="0"/>
              </a:srgbClr>
            </a:solidFill>
          </p:spPr>
        </p:sp>
        <p:sp>
          <p:nvSpPr>
            <p:cNvPr name="TextBox 51" id="51"/>
            <p:cNvSpPr txBox="true"/>
            <p:nvPr/>
          </p:nvSpPr>
          <p:spPr>
            <a:xfrm>
              <a:off x="0" y="-209550"/>
              <a:ext cx="6151038" cy="1336974"/>
            </a:xfrm>
            <a:prstGeom prst="rect">
              <a:avLst/>
            </a:prstGeom>
          </p:spPr>
          <p:txBody>
            <a:bodyPr anchor="ctr" rtlCol="false" tIns="0" lIns="0" bIns="0" rIns="0"/>
            <a:lstStyle/>
            <a:p>
              <a:pPr algn="ctr">
                <a:lnSpc>
                  <a:spcPts val="4971"/>
                </a:lnSpc>
              </a:pPr>
              <a:r>
                <a:rPr lang="en-US" sz="2799">
                  <a:solidFill>
                    <a:srgbClr val="000000"/>
                  </a:solidFill>
                  <a:latin typeface="Arial"/>
                  <a:ea typeface="Arial"/>
                  <a:cs typeface="Arial"/>
                  <a:sym typeface="Arial"/>
                </a:rPr>
                <a:t>Int</a:t>
              </a:r>
              <a:r>
                <a:rPr lang="en-US" sz="2799">
                  <a:solidFill>
                    <a:srgbClr val="000000"/>
                  </a:solidFill>
                  <a:latin typeface="Arial"/>
                  <a:ea typeface="Arial"/>
                  <a:cs typeface="Arial"/>
                  <a:sym typeface="Arial"/>
                </a:rPr>
                <a:t>roducción a Git</a:t>
              </a:r>
            </a:p>
          </p:txBody>
        </p:sp>
      </p:grpSp>
      <p:grpSp>
        <p:nvGrpSpPr>
          <p:cNvPr name="Group 52" id="52"/>
          <p:cNvGrpSpPr/>
          <p:nvPr/>
        </p:nvGrpSpPr>
        <p:grpSpPr>
          <a:xfrm rot="0">
            <a:off x="10721904" y="4740441"/>
            <a:ext cx="453358" cy="550094"/>
            <a:chOff x="0" y="0"/>
            <a:chExt cx="604477" cy="733459"/>
          </a:xfrm>
        </p:grpSpPr>
        <p:sp>
          <p:nvSpPr>
            <p:cNvPr name="Freeform 53" id="53"/>
            <p:cNvSpPr/>
            <p:nvPr/>
          </p:nvSpPr>
          <p:spPr>
            <a:xfrm flipH="false" flipV="false" rot="0">
              <a:off x="0" y="0"/>
              <a:ext cx="604520" cy="733425"/>
            </a:xfrm>
            <a:custGeom>
              <a:avLst/>
              <a:gdLst/>
              <a:ahLst/>
              <a:cxnLst/>
              <a:rect r="r" b="b" t="t" l="l"/>
              <a:pathLst>
                <a:path h="733425" w="604520">
                  <a:moveTo>
                    <a:pt x="0" y="0"/>
                  </a:moveTo>
                  <a:lnTo>
                    <a:pt x="604520" y="0"/>
                  </a:lnTo>
                  <a:lnTo>
                    <a:pt x="604520" y="733425"/>
                  </a:lnTo>
                  <a:lnTo>
                    <a:pt x="0" y="733425"/>
                  </a:lnTo>
                  <a:lnTo>
                    <a:pt x="0" y="0"/>
                  </a:lnTo>
                  <a:close/>
                </a:path>
              </a:pathLst>
            </a:custGeom>
            <a:blipFill>
              <a:blip r:embed="rId3"/>
              <a:stretch>
                <a:fillRect l="0" t="0" r="7" b="-4"/>
              </a:stretch>
            </a:blipFill>
          </p:spPr>
        </p:sp>
      </p:grpSp>
      <p:grpSp>
        <p:nvGrpSpPr>
          <p:cNvPr name="Group 54" id="54"/>
          <p:cNvGrpSpPr/>
          <p:nvPr/>
        </p:nvGrpSpPr>
        <p:grpSpPr>
          <a:xfrm rot="0">
            <a:off x="10019869" y="5632375"/>
            <a:ext cx="4613562" cy="666409"/>
            <a:chOff x="0" y="0"/>
            <a:chExt cx="6151416" cy="888545"/>
          </a:xfrm>
        </p:grpSpPr>
        <p:sp>
          <p:nvSpPr>
            <p:cNvPr name="Freeform 55" id="55"/>
            <p:cNvSpPr/>
            <p:nvPr/>
          </p:nvSpPr>
          <p:spPr>
            <a:xfrm flipH="false" flipV="false" rot="0">
              <a:off x="0" y="0"/>
              <a:ext cx="6151499" cy="888492"/>
            </a:xfrm>
            <a:custGeom>
              <a:avLst/>
              <a:gdLst/>
              <a:ahLst/>
              <a:cxnLst/>
              <a:rect r="r" b="b" t="t" l="l"/>
              <a:pathLst>
                <a:path h="888492" w="6151499">
                  <a:moveTo>
                    <a:pt x="5515102" y="0"/>
                  </a:moveTo>
                  <a:lnTo>
                    <a:pt x="0" y="0"/>
                  </a:lnTo>
                  <a:lnTo>
                    <a:pt x="0" y="888492"/>
                  </a:lnTo>
                  <a:lnTo>
                    <a:pt x="5515102" y="888492"/>
                  </a:lnTo>
                  <a:lnTo>
                    <a:pt x="6151499" y="444246"/>
                  </a:lnTo>
                  <a:lnTo>
                    <a:pt x="5515102" y="0"/>
                  </a:lnTo>
                  <a:close/>
                </a:path>
              </a:pathLst>
            </a:custGeom>
            <a:solidFill>
              <a:srgbClr val="FFFFFF"/>
            </a:solidFill>
          </p:spPr>
        </p:sp>
      </p:grpSp>
      <p:grpSp>
        <p:nvGrpSpPr>
          <p:cNvPr name="Group 56" id="56"/>
          <p:cNvGrpSpPr/>
          <p:nvPr/>
        </p:nvGrpSpPr>
        <p:grpSpPr>
          <a:xfrm rot="0">
            <a:off x="10638213" y="5385766"/>
            <a:ext cx="5095252" cy="845568"/>
            <a:chOff x="0" y="0"/>
            <a:chExt cx="6793669" cy="1127424"/>
          </a:xfrm>
        </p:grpSpPr>
        <p:sp>
          <p:nvSpPr>
            <p:cNvPr name="Freeform 57" id="57"/>
            <p:cNvSpPr/>
            <p:nvPr/>
          </p:nvSpPr>
          <p:spPr>
            <a:xfrm flipH="false" flipV="false" rot="0">
              <a:off x="0" y="0"/>
              <a:ext cx="6793669" cy="1127424"/>
            </a:xfrm>
            <a:custGeom>
              <a:avLst/>
              <a:gdLst/>
              <a:ahLst/>
              <a:cxnLst/>
              <a:rect r="r" b="b" t="t" l="l"/>
              <a:pathLst>
                <a:path h="1127424" w="6793669">
                  <a:moveTo>
                    <a:pt x="0" y="0"/>
                  </a:moveTo>
                  <a:lnTo>
                    <a:pt x="6793669" y="0"/>
                  </a:lnTo>
                  <a:lnTo>
                    <a:pt x="6793669" y="1127424"/>
                  </a:lnTo>
                  <a:lnTo>
                    <a:pt x="0" y="1127424"/>
                  </a:lnTo>
                  <a:close/>
                </a:path>
              </a:pathLst>
            </a:custGeom>
            <a:solidFill>
              <a:srgbClr val="000000">
                <a:alpha val="0"/>
              </a:srgbClr>
            </a:solidFill>
          </p:spPr>
        </p:sp>
        <p:sp>
          <p:nvSpPr>
            <p:cNvPr name="TextBox 58" id="58"/>
            <p:cNvSpPr txBox="true"/>
            <p:nvPr/>
          </p:nvSpPr>
          <p:spPr>
            <a:xfrm>
              <a:off x="0" y="-209550"/>
              <a:ext cx="6793669" cy="1336974"/>
            </a:xfrm>
            <a:prstGeom prst="rect">
              <a:avLst/>
            </a:prstGeom>
          </p:spPr>
          <p:txBody>
            <a:bodyPr anchor="ctr" rtlCol="false" tIns="0" lIns="0" bIns="0" rIns="0"/>
            <a:lstStyle/>
            <a:p>
              <a:pPr algn="ctr">
                <a:lnSpc>
                  <a:spcPts val="4971"/>
                </a:lnSpc>
              </a:pPr>
              <a:r>
                <a:rPr lang="en-US" sz="2799">
                  <a:solidFill>
                    <a:srgbClr val="000000"/>
                  </a:solidFill>
                  <a:latin typeface="Arial"/>
                  <a:ea typeface="Arial"/>
                  <a:cs typeface="Arial"/>
                  <a:sym typeface="Arial"/>
                </a:rPr>
                <a:t>In</a:t>
              </a:r>
              <a:r>
                <a:rPr lang="en-US" sz="2799">
                  <a:solidFill>
                    <a:srgbClr val="000000"/>
                  </a:solidFill>
                  <a:latin typeface="Arial"/>
                  <a:ea typeface="Arial"/>
                  <a:cs typeface="Arial"/>
                  <a:sym typeface="Arial"/>
                </a:rPr>
                <a:t>stalación de Git</a:t>
              </a:r>
            </a:p>
          </p:txBody>
        </p:sp>
      </p:grpSp>
      <p:grpSp>
        <p:nvGrpSpPr>
          <p:cNvPr name="Group 59" id="59"/>
          <p:cNvGrpSpPr/>
          <p:nvPr/>
        </p:nvGrpSpPr>
        <p:grpSpPr>
          <a:xfrm rot="0">
            <a:off x="10721904" y="5673341"/>
            <a:ext cx="453358" cy="550094"/>
            <a:chOff x="0" y="0"/>
            <a:chExt cx="604477" cy="733459"/>
          </a:xfrm>
        </p:grpSpPr>
        <p:sp>
          <p:nvSpPr>
            <p:cNvPr name="Freeform 60" id="60"/>
            <p:cNvSpPr/>
            <p:nvPr/>
          </p:nvSpPr>
          <p:spPr>
            <a:xfrm flipH="false" flipV="false" rot="0">
              <a:off x="0" y="0"/>
              <a:ext cx="604520" cy="733425"/>
            </a:xfrm>
            <a:custGeom>
              <a:avLst/>
              <a:gdLst/>
              <a:ahLst/>
              <a:cxnLst/>
              <a:rect r="r" b="b" t="t" l="l"/>
              <a:pathLst>
                <a:path h="733425" w="604520">
                  <a:moveTo>
                    <a:pt x="0" y="0"/>
                  </a:moveTo>
                  <a:lnTo>
                    <a:pt x="604520" y="0"/>
                  </a:lnTo>
                  <a:lnTo>
                    <a:pt x="604520" y="733425"/>
                  </a:lnTo>
                  <a:lnTo>
                    <a:pt x="0" y="733425"/>
                  </a:lnTo>
                  <a:lnTo>
                    <a:pt x="0" y="0"/>
                  </a:lnTo>
                  <a:close/>
                </a:path>
              </a:pathLst>
            </a:custGeom>
            <a:blipFill>
              <a:blip r:embed="rId3"/>
              <a:stretch>
                <a:fillRect l="0" t="0" r="7" b="-4"/>
              </a:stretch>
            </a:blipFill>
          </p:spPr>
        </p:sp>
      </p:grpSp>
      <p:grpSp>
        <p:nvGrpSpPr>
          <p:cNvPr name="Group 61" id="61"/>
          <p:cNvGrpSpPr/>
          <p:nvPr/>
        </p:nvGrpSpPr>
        <p:grpSpPr>
          <a:xfrm rot="0">
            <a:off x="10638213" y="6425692"/>
            <a:ext cx="5095252" cy="845568"/>
            <a:chOff x="0" y="0"/>
            <a:chExt cx="6793669" cy="1127424"/>
          </a:xfrm>
        </p:grpSpPr>
        <p:sp>
          <p:nvSpPr>
            <p:cNvPr name="Freeform 62" id="62"/>
            <p:cNvSpPr/>
            <p:nvPr/>
          </p:nvSpPr>
          <p:spPr>
            <a:xfrm flipH="false" flipV="false" rot="0">
              <a:off x="0" y="0"/>
              <a:ext cx="6793669" cy="1127424"/>
            </a:xfrm>
            <a:custGeom>
              <a:avLst/>
              <a:gdLst/>
              <a:ahLst/>
              <a:cxnLst/>
              <a:rect r="r" b="b" t="t" l="l"/>
              <a:pathLst>
                <a:path h="1127424" w="6793669">
                  <a:moveTo>
                    <a:pt x="0" y="0"/>
                  </a:moveTo>
                  <a:lnTo>
                    <a:pt x="6793669" y="0"/>
                  </a:lnTo>
                  <a:lnTo>
                    <a:pt x="6793669" y="1127424"/>
                  </a:lnTo>
                  <a:lnTo>
                    <a:pt x="0" y="1127424"/>
                  </a:lnTo>
                  <a:close/>
                </a:path>
              </a:pathLst>
            </a:custGeom>
            <a:solidFill>
              <a:srgbClr val="000000">
                <a:alpha val="0"/>
              </a:srgbClr>
            </a:solidFill>
          </p:spPr>
        </p:sp>
        <p:sp>
          <p:nvSpPr>
            <p:cNvPr name="TextBox 63" id="63"/>
            <p:cNvSpPr txBox="true"/>
            <p:nvPr/>
          </p:nvSpPr>
          <p:spPr>
            <a:xfrm>
              <a:off x="0" y="-209550"/>
              <a:ext cx="6793669" cy="1336974"/>
            </a:xfrm>
            <a:prstGeom prst="rect">
              <a:avLst/>
            </a:prstGeom>
          </p:spPr>
          <p:txBody>
            <a:bodyPr anchor="ctr" rtlCol="false" tIns="0" lIns="0" bIns="0" rIns="0"/>
            <a:lstStyle/>
            <a:p>
              <a:pPr algn="ctr">
                <a:lnSpc>
                  <a:spcPts val="4971"/>
                </a:lnSpc>
              </a:pPr>
              <a:r>
                <a:rPr lang="en-US" sz="2799">
                  <a:solidFill>
                    <a:srgbClr val="000000"/>
                  </a:solidFill>
                  <a:latin typeface="Arial"/>
                  <a:ea typeface="Arial"/>
                  <a:cs typeface="Arial"/>
                  <a:sym typeface="Arial"/>
                </a:rPr>
                <a:t>Cre</a:t>
              </a:r>
              <a:r>
                <a:rPr lang="en-US" sz="2799">
                  <a:solidFill>
                    <a:srgbClr val="000000"/>
                  </a:solidFill>
                  <a:latin typeface="Arial"/>
                  <a:ea typeface="Arial"/>
                  <a:cs typeface="Arial"/>
                  <a:sym typeface="Arial"/>
                </a:rPr>
                <a:t>ar un repositorio</a:t>
              </a:r>
            </a:p>
          </p:txBody>
        </p:sp>
      </p:grpSp>
      <p:grpSp>
        <p:nvGrpSpPr>
          <p:cNvPr name="Group 64" id="64"/>
          <p:cNvGrpSpPr/>
          <p:nvPr/>
        </p:nvGrpSpPr>
        <p:grpSpPr>
          <a:xfrm rot="0">
            <a:off x="10721904" y="6713267"/>
            <a:ext cx="453358" cy="550094"/>
            <a:chOff x="0" y="0"/>
            <a:chExt cx="604477" cy="733459"/>
          </a:xfrm>
        </p:grpSpPr>
        <p:sp>
          <p:nvSpPr>
            <p:cNvPr name="Freeform 65" id="65"/>
            <p:cNvSpPr/>
            <p:nvPr/>
          </p:nvSpPr>
          <p:spPr>
            <a:xfrm flipH="false" flipV="false" rot="0">
              <a:off x="0" y="0"/>
              <a:ext cx="604520" cy="733425"/>
            </a:xfrm>
            <a:custGeom>
              <a:avLst/>
              <a:gdLst/>
              <a:ahLst/>
              <a:cxnLst/>
              <a:rect r="r" b="b" t="t" l="l"/>
              <a:pathLst>
                <a:path h="733425" w="604520">
                  <a:moveTo>
                    <a:pt x="0" y="0"/>
                  </a:moveTo>
                  <a:lnTo>
                    <a:pt x="604520" y="0"/>
                  </a:lnTo>
                  <a:lnTo>
                    <a:pt x="604520" y="733425"/>
                  </a:lnTo>
                  <a:lnTo>
                    <a:pt x="0" y="733425"/>
                  </a:lnTo>
                  <a:lnTo>
                    <a:pt x="0" y="0"/>
                  </a:lnTo>
                  <a:close/>
                </a:path>
              </a:pathLst>
            </a:custGeom>
            <a:blipFill>
              <a:blip r:embed="rId3"/>
              <a:stretch>
                <a:fillRect l="0" t="0" r="7" b="-4"/>
              </a:stretch>
            </a:blipFill>
          </p:spPr>
        </p:sp>
      </p:grpSp>
      <p:grpSp>
        <p:nvGrpSpPr>
          <p:cNvPr name="Group 66" id="66"/>
          <p:cNvGrpSpPr/>
          <p:nvPr/>
        </p:nvGrpSpPr>
        <p:grpSpPr>
          <a:xfrm rot="0">
            <a:off x="10638213" y="7290310"/>
            <a:ext cx="5095252" cy="845568"/>
            <a:chOff x="0" y="0"/>
            <a:chExt cx="6793669" cy="1127424"/>
          </a:xfrm>
        </p:grpSpPr>
        <p:sp>
          <p:nvSpPr>
            <p:cNvPr name="Freeform 67" id="67"/>
            <p:cNvSpPr/>
            <p:nvPr/>
          </p:nvSpPr>
          <p:spPr>
            <a:xfrm flipH="false" flipV="false" rot="0">
              <a:off x="0" y="0"/>
              <a:ext cx="6793669" cy="1127424"/>
            </a:xfrm>
            <a:custGeom>
              <a:avLst/>
              <a:gdLst/>
              <a:ahLst/>
              <a:cxnLst/>
              <a:rect r="r" b="b" t="t" l="l"/>
              <a:pathLst>
                <a:path h="1127424" w="6793669">
                  <a:moveTo>
                    <a:pt x="0" y="0"/>
                  </a:moveTo>
                  <a:lnTo>
                    <a:pt x="6793669" y="0"/>
                  </a:lnTo>
                  <a:lnTo>
                    <a:pt x="6793669" y="1127424"/>
                  </a:lnTo>
                  <a:lnTo>
                    <a:pt x="0" y="1127424"/>
                  </a:lnTo>
                  <a:close/>
                </a:path>
              </a:pathLst>
            </a:custGeom>
            <a:solidFill>
              <a:srgbClr val="000000">
                <a:alpha val="0"/>
              </a:srgbClr>
            </a:solidFill>
          </p:spPr>
        </p:sp>
        <p:sp>
          <p:nvSpPr>
            <p:cNvPr name="TextBox 68" id="68"/>
            <p:cNvSpPr txBox="true"/>
            <p:nvPr/>
          </p:nvSpPr>
          <p:spPr>
            <a:xfrm>
              <a:off x="0" y="-209550"/>
              <a:ext cx="6793669" cy="1336974"/>
            </a:xfrm>
            <a:prstGeom prst="rect">
              <a:avLst/>
            </a:prstGeom>
          </p:spPr>
          <p:txBody>
            <a:bodyPr anchor="ctr" rtlCol="false" tIns="0" lIns="0" bIns="0" rIns="0"/>
            <a:lstStyle/>
            <a:p>
              <a:pPr algn="ctr">
                <a:lnSpc>
                  <a:spcPts val="4971"/>
                </a:lnSpc>
              </a:pPr>
              <a:r>
                <a:rPr lang="en-US" sz="2799">
                  <a:solidFill>
                    <a:srgbClr val="000000"/>
                  </a:solidFill>
                  <a:latin typeface="Arial"/>
                  <a:ea typeface="Arial"/>
                  <a:cs typeface="Arial"/>
                  <a:sym typeface="Arial"/>
                </a:rPr>
                <a:t>Re</a:t>
              </a:r>
              <a:r>
                <a:rPr lang="en-US" sz="2799">
                  <a:solidFill>
                    <a:srgbClr val="000000"/>
                  </a:solidFill>
                  <a:latin typeface="Arial"/>
                  <a:ea typeface="Arial"/>
                  <a:cs typeface="Arial"/>
                  <a:sym typeface="Arial"/>
                </a:rPr>
                <a:t>alizar un commit</a:t>
              </a:r>
            </a:p>
          </p:txBody>
        </p:sp>
      </p:grpSp>
      <p:grpSp>
        <p:nvGrpSpPr>
          <p:cNvPr name="Group 69" id="69"/>
          <p:cNvGrpSpPr/>
          <p:nvPr/>
        </p:nvGrpSpPr>
        <p:grpSpPr>
          <a:xfrm rot="0">
            <a:off x="10721904" y="7577885"/>
            <a:ext cx="453358" cy="550094"/>
            <a:chOff x="0" y="0"/>
            <a:chExt cx="604477" cy="733459"/>
          </a:xfrm>
        </p:grpSpPr>
        <p:sp>
          <p:nvSpPr>
            <p:cNvPr name="Freeform 70" id="70"/>
            <p:cNvSpPr/>
            <p:nvPr/>
          </p:nvSpPr>
          <p:spPr>
            <a:xfrm flipH="false" flipV="false" rot="0">
              <a:off x="0" y="0"/>
              <a:ext cx="604520" cy="733425"/>
            </a:xfrm>
            <a:custGeom>
              <a:avLst/>
              <a:gdLst/>
              <a:ahLst/>
              <a:cxnLst/>
              <a:rect r="r" b="b" t="t" l="l"/>
              <a:pathLst>
                <a:path h="733425" w="604520">
                  <a:moveTo>
                    <a:pt x="0" y="0"/>
                  </a:moveTo>
                  <a:lnTo>
                    <a:pt x="604520" y="0"/>
                  </a:lnTo>
                  <a:lnTo>
                    <a:pt x="604520" y="733425"/>
                  </a:lnTo>
                  <a:lnTo>
                    <a:pt x="0" y="733425"/>
                  </a:lnTo>
                  <a:lnTo>
                    <a:pt x="0" y="0"/>
                  </a:lnTo>
                  <a:close/>
                </a:path>
              </a:pathLst>
            </a:custGeom>
            <a:blipFill>
              <a:blip r:embed="rId3"/>
              <a:stretch>
                <a:fillRect l="0" t="0" r="7" b="-4"/>
              </a:stretch>
            </a:blipFill>
          </p:spPr>
        </p:sp>
      </p:grpSp>
      <p:grpSp>
        <p:nvGrpSpPr>
          <p:cNvPr name="Group 71" id="71"/>
          <p:cNvGrpSpPr/>
          <p:nvPr/>
        </p:nvGrpSpPr>
        <p:grpSpPr>
          <a:xfrm rot="0">
            <a:off x="11445886" y="8590343"/>
            <a:ext cx="6739153" cy="845568"/>
            <a:chOff x="0" y="0"/>
            <a:chExt cx="8985538" cy="1127424"/>
          </a:xfrm>
        </p:grpSpPr>
        <p:sp>
          <p:nvSpPr>
            <p:cNvPr name="Freeform 72" id="72"/>
            <p:cNvSpPr/>
            <p:nvPr/>
          </p:nvSpPr>
          <p:spPr>
            <a:xfrm flipH="false" flipV="false" rot="0">
              <a:off x="0" y="0"/>
              <a:ext cx="8985538" cy="1127424"/>
            </a:xfrm>
            <a:custGeom>
              <a:avLst/>
              <a:gdLst/>
              <a:ahLst/>
              <a:cxnLst/>
              <a:rect r="r" b="b" t="t" l="l"/>
              <a:pathLst>
                <a:path h="1127424" w="8985538">
                  <a:moveTo>
                    <a:pt x="0" y="0"/>
                  </a:moveTo>
                  <a:lnTo>
                    <a:pt x="8985538" y="0"/>
                  </a:lnTo>
                  <a:lnTo>
                    <a:pt x="8985538" y="1127424"/>
                  </a:lnTo>
                  <a:lnTo>
                    <a:pt x="0" y="1127424"/>
                  </a:lnTo>
                  <a:close/>
                </a:path>
              </a:pathLst>
            </a:custGeom>
            <a:solidFill>
              <a:srgbClr val="000000">
                <a:alpha val="0"/>
              </a:srgbClr>
            </a:solidFill>
          </p:spPr>
        </p:sp>
        <p:sp>
          <p:nvSpPr>
            <p:cNvPr name="TextBox 73" id="73"/>
            <p:cNvSpPr txBox="true"/>
            <p:nvPr/>
          </p:nvSpPr>
          <p:spPr>
            <a:xfrm>
              <a:off x="0" y="-209550"/>
              <a:ext cx="8985538" cy="1336974"/>
            </a:xfrm>
            <a:prstGeom prst="rect">
              <a:avLst/>
            </a:prstGeom>
          </p:spPr>
          <p:txBody>
            <a:bodyPr anchor="ctr" rtlCol="false" tIns="0" lIns="0" bIns="0" rIns="0"/>
            <a:lstStyle/>
            <a:p>
              <a:pPr algn="ctr">
                <a:lnSpc>
                  <a:spcPts val="4971"/>
                </a:lnSpc>
              </a:pPr>
              <a:r>
                <a:rPr lang="en-US" sz="2799">
                  <a:solidFill>
                    <a:srgbClr val="000000"/>
                  </a:solidFill>
                  <a:latin typeface="Arial"/>
                  <a:ea typeface="Arial"/>
                  <a:cs typeface="Arial"/>
                  <a:sym typeface="Arial"/>
                </a:rPr>
                <a:t>Buena</a:t>
              </a:r>
              <a:r>
                <a:rPr lang="en-US" sz="2799">
                  <a:solidFill>
                    <a:srgbClr val="000000"/>
                  </a:solidFill>
                  <a:latin typeface="Arial"/>
                  <a:ea typeface="Arial"/>
                  <a:cs typeface="Arial"/>
                  <a:sym typeface="Arial"/>
                </a:rPr>
                <a:t>s prácticas en control de versiones</a:t>
              </a:r>
            </a:p>
          </p:txBody>
        </p:sp>
      </p:grpSp>
      <p:grpSp>
        <p:nvGrpSpPr>
          <p:cNvPr name="Group 74" id="74"/>
          <p:cNvGrpSpPr/>
          <p:nvPr/>
        </p:nvGrpSpPr>
        <p:grpSpPr>
          <a:xfrm rot="0">
            <a:off x="10721904" y="8728253"/>
            <a:ext cx="453358" cy="550094"/>
            <a:chOff x="0" y="0"/>
            <a:chExt cx="604477" cy="733459"/>
          </a:xfrm>
        </p:grpSpPr>
        <p:sp>
          <p:nvSpPr>
            <p:cNvPr name="Freeform 75" id="75"/>
            <p:cNvSpPr/>
            <p:nvPr/>
          </p:nvSpPr>
          <p:spPr>
            <a:xfrm flipH="false" flipV="false" rot="0">
              <a:off x="0" y="0"/>
              <a:ext cx="604520" cy="733425"/>
            </a:xfrm>
            <a:custGeom>
              <a:avLst/>
              <a:gdLst/>
              <a:ahLst/>
              <a:cxnLst/>
              <a:rect r="r" b="b" t="t" l="l"/>
              <a:pathLst>
                <a:path h="733425" w="604520">
                  <a:moveTo>
                    <a:pt x="0" y="0"/>
                  </a:moveTo>
                  <a:lnTo>
                    <a:pt x="604520" y="0"/>
                  </a:lnTo>
                  <a:lnTo>
                    <a:pt x="604520" y="733425"/>
                  </a:lnTo>
                  <a:lnTo>
                    <a:pt x="0" y="733425"/>
                  </a:lnTo>
                  <a:lnTo>
                    <a:pt x="0" y="0"/>
                  </a:lnTo>
                  <a:close/>
                </a:path>
              </a:pathLst>
            </a:custGeom>
            <a:blipFill>
              <a:blip r:embed="rId3"/>
              <a:stretch>
                <a:fillRect l="0" t="0" r="7" b="-4"/>
              </a:stretch>
            </a:blipFill>
          </p:spPr>
        </p:sp>
      </p:gr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406936" y="750504"/>
            <a:ext cx="13991100" cy="1098984"/>
            <a:chOff x="0" y="0"/>
            <a:chExt cx="18654800" cy="1465312"/>
          </a:xfrm>
        </p:grpSpPr>
        <p:sp>
          <p:nvSpPr>
            <p:cNvPr name="Freeform 3" id="3"/>
            <p:cNvSpPr/>
            <p:nvPr/>
          </p:nvSpPr>
          <p:spPr>
            <a:xfrm flipH="false" flipV="false" rot="0">
              <a:off x="0" y="0"/>
              <a:ext cx="18654801" cy="1465312"/>
            </a:xfrm>
            <a:custGeom>
              <a:avLst/>
              <a:gdLst/>
              <a:ahLst/>
              <a:cxnLst/>
              <a:rect r="r" b="b" t="t" l="l"/>
              <a:pathLst>
                <a:path h="1465312" w="18654801">
                  <a:moveTo>
                    <a:pt x="0" y="0"/>
                  </a:moveTo>
                  <a:lnTo>
                    <a:pt x="18654801" y="0"/>
                  </a:lnTo>
                  <a:lnTo>
                    <a:pt x="18654801" y="1465312"/>
                  </a:lnTo>
                  <a:lnTo>
                    <a:pt x="0" y="1465312"/>
                  </a:lnTo>
                  <a:close/>
                </a:path>
              </a:pathLst>
            </a:custGeom>
            <a:solidFill>
              <a:srgbClr val="000000">
                <a:alpha val="0"/>
              </a:srgbClr>
            </a:solidFill>
          </p:spPr>
        </p:sp>
        <p:sp>
          <p:nvSpPr>
            <p:cNvPr name="TextBox 4" id="4"/>
            <p:cNvSpPr txBox="true"/>
            <p:nvPr/>
          </p:nvSpPr>
          <p:spPr>
            <a:xfrm>
              <a:off x="0" y="-209550"/>
              <a:ext cx="18654800" cy="1674862"/>
            </a:xfrm>
            <a:prstGeom prst="rect">
              <a:avLst/>
            </a:prstGeom>
          </p:spPr>
          <p:txBody>
            <a:bodyPr anchor="t" rtlCol="false" tIns="0" lIns="0" bIns="0" rIns="0"/>
            <a:lstStyle/>
            <a:p>
              <a:pPr algn="just">
                <a:lnSpc>
                  <a:spcPts val="8267"/>
                </a:lnSpc>
              </a:pPr>
              <a:r>
                <a:rPr lang="en-US" sz="6098">
                  <a:solidFill>
                    <a:srgbClr val="131416"/>
                  </a:solidFill>
                  <a:latin typeface="Impact"/>
                  <a:ea typeface="Impact"/>
                  <a:cs typeface="Impact"/>
                  <a:sym typeface="Impact"/>
                </a:rPr>
                <a:t>¿</a:t>
              </a:r>
              <a:r>
                <a:rPr lang="en-US" sz="6098">
                  <a:solidFill>
                    <a:srgbClr val="131416"/>
                  </a:solidFill>
                  <a:latin typeface="Impact"/>
                  <a:ea typeface="Impact"/>
                  <a:cs typeface="Impact"/>
                  <a:sym typeface="Impact"/>
                </a:rPr>
                <a:t>Qué es el control de versiones?</a:t>
              </a:r>
            </a:p>
          </p:txBody>
        </p:sp>
      </p:grpSp>
      <p:grpSp>
        <p:nvGrpSpPr>
          <p:cNvPr name="Group 5" id="5"/>
          <p:cNvGrpSpPr/>
          <p:nvPr/>
        </p:nvGrpSpPr>
        <p:grpSpPr>
          <a:xfrm rot="0">
            <a:off x="2202102" y="3287425"/>
            <a:ext cx="14491800" cy="4341000"/>
            <a:chOff x="0" y="0"/>
            <a:chExt cx="19322400" cy="5788000"/>
          </a:xfrm>
        </p:grpSpPr>
        <p:sp>
          <p:nvSpPr>
            <p:cNvPr name="Freeform 6" id="6"/>
            <p:cNvSpPr/>
            <p:nvPr/>
          </p:nvSpPr>
          <p:spPr>
            <a:xfrm flipH="false" flipV="false" rot="0">
              <a:off x="0" y="0"/>
              <a:ext cx="19322400" cy="5788000"/>
            </a:xfrm>
            <a:custGeom>
              <a:avLst/>
              <a:gdLst/>
              <a:ahLst/>
              <a:cxnLst/>
              <a:rect r="r" b="b" t="t" l="l"/>
              <a:pathLst>
                <a:path h="5788000" w="19322400">
                  <a:moveTo>
                    <a:pt x="0" y="0"/>
                  </a:moveTo>
                  <a:lnTo>
                    <a:pt x="19322400" y="0"/>
                  </a:lnTo>
                  <a:lnTo>
                    <a:pt x="19322400" y="5788000"/>
                  </a:lnTo>
                  <a:lnTo>
                    <a:pt x="0" y="5788000"/>
                  </a:lnTo>
                  <a:close/>
                </a:path>
              </a:pathLst>
            </a:custGeom>
            <a:solidFill>
              <a:srgbClr val="000000">
                <a:alpha val="0"/>
              </a:srgbClr>
            </a:solidFill>
          </p:spPr>
        </p:sp>
        <p:sp>
          <p:nvSpPr>
            <p:cNvPr name="TextBox 7" id="7"/>
            <p:cNvSpPr txBox="true"/>
            <p:nvPr/>
          </p:nvSpPr>
          <p:spPr>
            <a:xfrm>
              <a:off x="0" y="-133350"/>
              <a:ext cx="19322400" cy="5921350"/>
            </a:xfrm>
            <a:prstGeom prst="rect">
              <a:avLst/>
            </a:prstGeom>
          </p:spPr>
          <p:txBody>
            <a:bodyPr anchor="t" rtlCol="false" tIns="0" lIns="0" bIns="0" rIns="0"/>
            <a:lstStyle/>
            <a:p>
              <a:pPr algn="l" marL="400050" indent="-200025" lvl="1">
                <a:lnSpc>
                  <a:spcPts val="5040"/>
                </a:lnSpc>
                <a:buFont typeface="Arial"/>
                <a:buChar char="•"/>
              </a:pPr>
              <a:r>
                <a:rPr lang="en-US" sz="3000">
                  <a:solidFill>
                    <a:srgbClr val="131416"/>
                  </a:solidFill>
                  <a:latin typeface="Open Sans"/>
                  <a:ea typeface="Open Sans"/>
                  <a:cs typeface="Open Sans"/>
                  <a:sym typeface="Open Sans"/>
                </a:rPr>
                <a:t>E</a:t>
              </a:r>
              <a:r>
                <a:rPr lang="en-US" sz="3000">
                  <a:solidFill>
                    <a:srgbClr val="131416"/>
                  </a:solidFill>
                  <a:latin typeface="Open Sans"/>
                  <a:ea typeface="Open Sans"/>
                  <a:cs typeface="Open Sans"/>
                  <a:sym typeface="Open Sans"/>
                </a:rPr>
                <a:t>l control de versiones es un sistema que registra los cambios realizados a un archivo o conjunto de archivos a lo largo del tiempo. Esto permite recuperar versiones anteriores, comparar cambios, y trabajar de forma ordenada y segura. Es una herramienta indispensable para cualquier desarrollador, ya que previene la pérdida de trabajo y facilita la colaboración.</a:t>
              </a:r>
            </a:p>
          </p:txBody>
        </p:sp>
      </p:gr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374900" y="2123500"/>
            <a:ext cx="14889300" cy="6087948"/>
            <a:chOff x="0" y="0"/>
            <a:chExt cx="19852400" cy="8117265"/>
          </a:xfrm>
        </p:grpSpPr>
        <p:sp>
          <p:nvSpPr>
            <p:cNvPr name="Freeform 3" id="3"/>
            <p:cNvSpPr/>
            <p:nvPr/>
          </p:nvSpPr>
          <p:spPr>
            <a:xfrm flipH="false" flipV="false" rot="0">
              <a:off x="0" y="0"/>
              <a:ext cx="19852401" cy="8117264"/>
            </a:xfrm>
            <a:custGeom>
              <a:avLst/>
              <a:gdLst/>
              <a:ahLst/>
              <a:cxnLst/>
              <a:rect r="r" b="b" t="t" l="l"/>
              <a:pathLst>
                <a:path h="8117264" w="19852401">
                  <a:moveTo>
                    <a:pt x="0" y="0"/>
                  </a:moveTo>
                  <a:lnTo>
                    <a:pt x="19852401" y="0"/>
                  </a:lnTo>
                  <a:lnTo>
                    <a:pt x="19852401" y="8117264"/>
                  </a:lnTo>
                  <a:lnTo>
                    <a:pt x="0" y="8117264"/>
                  </a:lnTo>
                  <a:close/>
                </a:path>
              </a:pathLst>
            </a:custGeom>
            <a:solidFill>
              <a:srgbClr val="000000">
                <a:alpha val="0"/>
              </a:srgbClr>
            </a:solidFill>
          </p:spPr>
        </p:sp>
        <p:sp>
          <p:nvSpPr>
            <p:cNvPr name="TextBox 4" id="4"/>
            <p:cNvSpPr txBox="true"/>
            <p:nvPr/>
          </p:nvSpPr>
          <p:spPr>
            <a:xfrm>
              <a:off x="0" y="-314325"/>
              <a:ext cx="19852400" cy="8431590"/>
            </a:xfrm>
            <a:prstGeom prst="rect">
              <a:avLst/>
            </a:prstGeom>
          </p:spPr>
          <p:txBody>
            <a:bodyPr anchor="t" rtlCol="false" tIns="0" lIns="0" bIns="0" rIns="0"/>
            <a:lstStyle/>
            <a:p>
              <a:pPr algn="just" marL="653097" indent="-326548" lvl="1">
                <a:lnSpc>
                  <a:spcPts val="6279"/>
                </a:lnSpc>
                <a:buFont typeface="Arial"/>
                <a:buChar char="•"/>
              </a:pPr>
              <a:r>
                <a:rPr lang="en-US" sz="3024">
                  <a:solidFill>
                    <a:srgbClr val="131416"/>
                  </a:solidFill>
                  <a:latin typeface="Arial"/>
                  <a:ea typeface="Arial"/>
                  <a:cs typeface="Arial"/>
                  <a:sym typeface="Arial"/>
                </a:rPr>
                <a:t>Permite m</a:t>
              </a:r>
              <a:r>
                <a:rPr lang="en-US" sz="3024">
                  <a:solidFill>
                    <a:srgbClr val="131416"/>
                  </a:solidFill>
                  <a:latin typeface="Arial"/>
                  <a:ea typeface="Arial"/>
                  <a:cs typeface="Arial"/>
                  <a:sym typeface="Arial"/>
                </a:rPr>
                <a:t>antener un historial de modificaciones.</a:t>
              </a:r>
            </a:p>
            <a:p>
              <a:pPr algn="just" marL="653097" indent="-326548" lvl="1">
                <a:lnSpc>
                  <a:spcPts val="6279"/>
                </a:lnSpc>
                <a:buFont typeface="Arial"/>
                <a:buChar char="•"/>
              </a:pPr>
              <a:r>
                <a:rPr lang="en-US" sz="3024">
                  <a:solidFill>
                    <a:srgbClr val="131416"/>
                  </a:solidFill>
                  <a:latin typeface="Arial"/>
                  <a:ea typeface="Arial"/>
                  <a:cs typeface="Arial"/>
                  <a:sym typeface="Arial"/>
                </a:rPr>
                <a:t>Facilita el trabajo en equipo en proyectos grandes.</a:t>
              </a:r>
            </a:p>
            <a:p>
              <a:pPr algn="just" marL="653097" indent="-326548" lvl="1">
                <a:lnSpc>
                  <a:spcPts val="6279"/>
                </a:lnSpc>
                <a:buFont typeface="Arial"/>
                <a:buChar char="•"/>
              </a:pPr>
              <a:r>
                <a:rPr lang="en-US" sz="3024">
                  <a:solidFill>
                    <a:srgbClr val="131416"/>
                  </a:solidFill>
                  <a:latin typeface="Arial"/>
                  <a:ea typeface="Arial"/>
                  <a:cs typeface="Arial"/>
                  <a:sym typeface="Arial"/>
                </a:rPr>
                <a:t>Ayuda a detectar y corregir errores rápidamente.</a:t>
              </a:r>
            </a:p>
            <a:p>
              <a:pPr algn="just" marL="653097" indent="-326548" lvl="1">
                <a:lnSpc>
                  <a:spcPts val="6279"/>
                </a:lnSpc>
                <a:buFont typeface="Arial"/>
                <a:buChar char="•"/>
              </a:pPr>
              <a:r>
                <a:rPr lang="en-US" sz="3024">
                  <a:solidFill>
                    <a:srgbClr val="131416"/>
                  </a:solidFill>
                  <a:latin typeface="Arial"/>
                  <a:ea typeface="Arial"/>
                  <a:cs typeface="Arial"/>
                  <a:sym typeface="Arial"/>
                </a:rPr>
                <a:t>Permite revertir el código a un estado funcional anterior.</a:t>
              </a:r>
            </a:p>
            <a:p>
              <a:pPr algn="just">
                <a:lnSpc>
                  <a:spcPts val="6282"/>
                </a:lnSpc>
              </a:pPr>
              <a:r>
                <a:rPr lang="en-US" sz="3024">
                  <a:solidFill>
                    <a:srgbClr val="131416"/>
                  </a:solidFill>
                  <a:latin typeface="Arial"/>
                  <a:ea typeface="Arial"/>
                  <a:cs typeface="Arial"/>
                  <a:sym typeface="Arial"/>
                </a:rPr>
                <a:t>Ejemplo cotidiano: guardar copias de seguridad de un documento con nombres como "proyecto_final_v1", "proyecto_final_definitivo", etc. El control de versiones automatiza y mejora este proceso.</a:t>
              </a:r>
            </a:p>
            <a:p>
              <a:pPr algn="just">
                <a:lnSpc>
                  <a:spcPts val="6279"/>
                </a:lnSpc>
              </a:pPr>
            </a:p>
          </p:txBody>
        </p:sp>
      </p:grpSp>
      <p:grpSp>
        <p:nvGrpSpPr>
          <p:cNvPr name="Group 5" id="5"/>
          <p:cNvGrpSpPr/>
          <p:nvPr/>
        </p:nvGrpSpPr>
        <p:grpSpPr>
          <a:xfrm rot="0">
            <a:off x="1374889" y="654364"/>
            <a:ext cx="13991100" cy="1098984"/>
            <a:chOff x="0" y="0"/>
            <a:chExt cx="18654800" cy="1465312"/>
          </a:xfrm>
        </p:grpSpPr>
        <p:sp>
          <p:nvSpPr>
            <p:cNvPr name="Freeform 6" id="6"/>
            <p:cNvSpPr/>
            <p:nvPr/>
          </p:nvSpPr>
          <p:spPr>
            <a:xfrm flipH="false" flipV="false" rot="0">
              <a:off x="0" y="0"/>
              <a:ext cx="18654801" cy="1465312"/>
            </a:xfrm>
            <a:custGeom>
              <a:avLst/>
              <a:gdLst/>
              <a:ahLst/>
              <a:cxnLst/>
              <a:rect r="r" b="b" t="t" l="l"/>
              <a:pathLst>
                <a:path h="1465312" w="18654801">
                  <a:moveTo>
                    <a:pt x="0" y="0"/>
                  </a:moveTo>
                  <a:lnTo>
                    <a:pt x="18654801" y="0"/>
                  </a:lnTo>
                  <a:lnTo>
                    <a:pt x="18654801" y="1465312"/>
                  </a:lnTo>
                  <a:lnTo>
                    <a:pt x="0" y="1465312"/>
                  </a:lnTo>
                  <a:close/>
                </a:path>
              </a:pathLst>
            </a:custGeom>
            <a:solidFill>
              <a:srgbClr val="000000">
                <a:alpha val="0"/>
              </a:srgbClr>
            </a:solidFill>
          </p:spPr>
        </p:sp>
        <p:sp>
          <p:nvSpPr>
            <p:cNvPr name="TextBox 7" id="7"/>
            <p:cNvSpPr txBox="true"/>
            <p:nvPr/>
          </p:nvSpPr>
          <p:spPr>
            <a:xfrm>
              <a:off x="0" y="-209550"/>
              <a:ext cx="18654800" cy="1674862"/>
            </a:xfrm>
            <a:prstGeom prst="rect">
              <a:avLst/>
            </a:prstGeom>
          </p:spPr>
          <p:txBody>
            <a:bodyPr anchor="t" rtlCol="false" tIns="0" lIns="0" bIns="0" rIns="0"/>
            <a:lstStyle/>
            <a:p>
              <a:pPr algn="just">
                <a:lnSpc>
                  <a:spcPts val="8267"/>
                </a:lnSpc>
              </a:pPr>
              <a:r>
                <a:rPr lang="en-US" sz="6098">
                  <a:solidFill>
                    <a:srgbClr val="131416"/>
                  </a:solidFill>
                  <a:latin typeface="Impact"/>
                  <a:ea typeface="Impact"/>
                  <a:cs typeface="Impact"/>
                  <a:sym typeface="Impact"/>
                </a:rPr>
                <a:t>¿Por qué e</a:t>
              </a:r>
              <a:r>
                <a:rPr lang="en-US" sz="6098">
                  <a:solidFill>
                    <a:srgbClr val="131416"/>
                  </a:solidFill>
                  <a:latin typeface="Impact"/>
                  <a:ea typeface="Impact"/>
                  <a:cs typeface="Impact"/>
                  <a:sym typeface="Impact"/>
                </a:rPr>
                <a:t>s importante el versionamiento?</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92603" y="1973975"/>
            <a:ext cx="15502800" cy="3173984"/>
            <a:chOff x="0" y="0"/>
            <a:chExt cx="20670400" cy="4231979"/>
          </a:xfrm>
        </p:grpSpPr>
        <p:sp>
          <p:nvSpPr>
            <p:cNvPr name="Freeform 3" id="3"/>
            <p:cNvSpPr/>
            <p:nvPr/>
          </p:nvSpPr>
          <p:spPr>
            <a:xfrm flipH="false" flipV="false" rot="0">
              <a:off x="0" y="0"/>
              <a:ext cx="20670400" cy="4231979"/>
            </a:xfrm>
            <a:custGeom>
              <a:avLst/>
              <a:gdLst/>
              <a:ahLst/>
              <a:cxnLst/>
              <a:rect r="r" b="b" t="t" l="l"/>
              <a:pathLst>
                <a:path h="4231979" w="20670400">
                  <a:moveTo>
                    <a:pt x="0" y="0"/>
                  </a:moveTo>
                  <a:lnTo>
                    <a:pt x="20670400" y="0"/>
                  </a:lnTo>
                  <a:lnTo>
                    <a:pt x="20670400" y="4231979"/>
                  </a:lnTo>
                  <a:lnTo>
                    <a:pt x="0" y="4231979"/>
                  </a:lnTo>
                  <a:close/>
                </a:path>
              </a:pathLst>
            </a:custGeom>
            <a:solidFill>
              <a:srgbClr val="000000">
                <a:alpha val="0"/>
              </a:srgbClr>
            </a:solidFill>
          </p:spPr>
        </p:sp>
        <p:sp>
          <p:nvSpPr>
            <p:cNvPr name="TextBox 4" id="4"/>
            <p:cNvSpPr txBox="true"/>
            <p:nvPr/>
          </p:nvSpPr>
          <p:spPr>
            <a:xfrm>
              <a:off x="0" y="-114300"/>
              <a:ext cx="20670400" cy="4346279"/>
            </a:xfrm>
            <a:prstGeom prst="rect">
              <a:avLst/>
            </a:prstGeom>
          </p:spPr>
          <p:txBody>
            <a:bodyPr anchor="t" rtlCol="false" tIns="0" lIns="0" bIns="0" rIns="0"/>
            <a:lstStyle/>
            <a:p>
              <a:pPr algn="just" marL="653097" indent="-326548" lvl="1">
                <a:lnSpc>
                  <a:spcPts val="4174"/>
                </a:lnSpc>
                <a:buAutoNum type="arabicPeriod" startAt="1"/>
              </a:pPr>
              <a:r>
                <a:rPr lang="en-US" sz="3024">
                  <a:solidFill>
                    <a:srgbClr val="131416"/>
                  </a:solidFill>
                  <a:latin typeface="Arial"/>
                  <a:ea typeface="Arial"/>
                  <a:cs typeface="Arial"/>
                  <a:sym typeface="Arial"/>
                </a:rPr>
                <a:t>C</a:t>
              </a:r>
              <a:r>
                <a:rPr lang="en-US" sz="3024">
                  <a:solidFill>
                    <a:srgbClr val="131416"/>
                  </a:solidFill>
                  <a:latin typeface="Arial"/>
                  <a:ea typeface="Arial"/>
                  <a:cs typeface="Arial"/>
                  <a:sym typeface="Arial"/>
                </a:rPr>
                <a:t>entralizado (CVCS): Un único servidor contiene todas las versiones. Ej: Subversion (SVN).</a:t>
              </a:r>
            </a:p>
            <a:p>
              <a:pPr algn="just" marL="653097" indent="-326548" lvl="1">
                <a:lnSpc>
                  <a:spcPts val="4174"/>
                </a:lnSpc>
                <a:buAutoNum type="arabicPeriod" startAt="1"/>
              </a:pPr>
              <a:r>
                <a:rPr lang="en-US" sz="3024">
                  <a:solidFill>
                    <a:srgbClr val="131416"/>
                  </a:solidFill>
                  <a:latin typeface="Arial"/>
                  <a:ea typeface="Arial"/>
                  <a:cs typeface="Arial"/>
                  <a:sym typeface="Arial"/>
                </a:rPr>
                <a:t>Distribuido (DVCS): Cada desarrollador tiene una copia completa del repositorio. Ej: Git.</a:t>
              </a:r>
            </a:p>
            <a:p>
              <a:pPr algn="just">
                <a:lnSpc>
                  <a:spcPts val="4174"/>
                </a:lnSpc>
              </a:pPr>
              <a:r>
                <a:rPr lang="en-US" sz="3024">
                  <a:solidFill>
                    <a:srgbClr val="131416"/>
                  </a:solidFill>
                  <a:latin typeface="Arial"/>
                  <a:ea typeface="Arial"/>
                  <a:cs typeface="Arial"/>
                  <a:sym typeface="Arial"/>
                </a:rPr>
                <a:t>Git ha ganado popularidad por su flexibilidad y capacidad de trabajo offline.</a:t>
              </a:r>
            </a:p>
            <a:p>
              <a:pPr algn="just">
                <a:lnSpc>
                  <a:spcPts val="4174"/>
                </a:lnSpc>
              </a:pPr>
            </a:p>
          </p:txBody>
        </p:sp>
      </p:grpSp>
      <p:grpSp>
        <p:nvGrpSpPr>
          <p:cNvPr name="Group 5" id="5"/>
          <p:cNvGrpSpPr/>
          <p:nvPr/>
        </p:nvGrpSpPr>
        <p:grpSpPr>
          <a:xfrm rot="0">
            <a:off x="1374901" y="654375"/>
            <a:ext cx="15288900" cy="1098984"/>
            <a:chOff x="0" y="0"/>
            <a:chExt cx="20385200" cy="1465312"/>
          </a:xfrm>
        </p:grpSpPr>
        <p:sp>
          <p:nvSpPr>
            <p:cNvPr name="Freeform 6" id="6"/>
            <p:cNvSpPr/>
            <p:nvPr/>
          </p:nvSpPr>
          <p:spPr>
            <a:xfrm flipH="false" flipV="false" rot="0">
              <a:off x="0" y="0"/>
              <a:ext cx="20385201" cy="1465312"/>
            </a:xfrm>
            <a:custGeom>
              <a:avLst/>
              <a:gdLst/>
              <a:ahLst/>
              <a:cxnLst/>
              <a:rect r="r" b="b" t="t" l="l"/>
              <a:pathLst>
                <a:path h="1465312" w="20385201">
                  <a:moveTo>
                    <a:pt x="0" y="0"/>
                  </a:moveTo>
                  <a:lnTo>
                    <a:pt x="20385201" y="0"/>
                  </a:lnTo>
                  <a:lnTo>
                    <a:pt x="20385201" y="1465312"/>
                  </a:lnTo>
                  <a:lnTo>
                    <a:pt x="0" y="1465312"/>
                  </a:lnTo>
                  <a:close/>
                </a:path>
              </a:pathLst>
            </a:custGeom>
            <a:solidFill>
              <a:srgbClr val="000000">
                <a:alpha val="0"/>
              </a:srgbClr>
            </a:solidFill>
          </p:spPr>
        </p:sp>
        <p:sp>
          <p:nvSpPr>
            <p:cNvPr name="TextBox 7" id="7"/>
            <p:cNvSpPr txBox="true"/>
            <p:nvPr/>
          </p:nvSpPr>
          <p:spPr>
            <a:xfrm>
              <a:off x="0" y="-209550"/>
              <a:ext cx="20385200" cy="1674862"/>
            </a:xfrm>
            <a:prstGeom prst="rect">
              <a:avLst/>
            </a:prstGeom>
          </p:spPr>
          <p:txBody>
            <a:bodyPr anchor="t" rtlCol="false" tIns="0" lIns="0" bIns="0" rIns="0"/>
            <a:lstStyle/>
            <a:p>
              <a:pPr algn="just">
                <a:lnSpc>
                  <a:spcPts val="8267"/>
                </a:lnSpc>
              </a:pPr>
              <a:r>
                <a:rPr lang="en-US" sz="6098">
                  <a:solidFill>
                    <a:srgbClr val="131416"/>
                  </a:solidFill>
                  <a:latin typeface="Impact"/>
                  <a:ea typeface="Impact"/>
                  <a:cs typeface="Impact"/>
                  <a:sym typeface="Impact"/>
                </a:rPr>
                <a:t>Tipos de control de versiones</a:t>
              </a:r>
            </a:p>
          </p:txBody>
        </p:sp>
      </p:grpSp>
      <p:sp>
        <p:nvSpPr>
          <p:cNvPr name="Freeform 8" id="8"/>
          <p:cNvSpPr/>
          <p:nvPr/>
        </p:nvSpPr>
        <p:spPr>
          <a:xfrm flipH="false" flipV="false" rot="0">
            <a:off x="4368182" y="5147959"/>
            <a:ext cx="9551641" cy="3991320"/>
          </a:xfrm>
          <a:custGeom>
            <a:avLst/>
            <a:gdLst/>
            <a:ahLst/>
            <a:cxnLst/>
            <a:rect r="r" b="b" t="t" l="l"/>
            <a:pathLst>
              <a:path h="3991320" w="9551641">
                <a:moveTo>
                  <a:pt x="0" y="0"/>
                </a:moveTo>
                <a:lnTo>
                  <a:pt x="9551642" y="0"/>
                </a:lnTo>
                <a:lnTo>
                  <a:pt x="9551642" y="3991320"/>
                </a:lnTo>
                <a:lnTo>
                  <a:pt x="0" y="3991320"/>
                </a:lnTo>
                <a:lnTo>
                  <a:pt x="0" y="0"/>
                </a:lnTo>
                <a:close/>
              </a:path>
            </a:pathLst>
          </a:custGeom>
          <a:blipFill>
            <a:blip r:embed="rId3"/>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392600" y="3818446"/>
            <a:ext cx="15502800" cy="2650109"/>
            <a:chOff x="0" y="0"/>
            <a:chExt cx="20670400" cy="3533479"/>
          </a:xfrm>
        </p:grpSpPr>
        <p:sp>
          <p:nvSpPr>
            <p:cNvPr name="Freeform 3" id="3"/>
            <p:cNvSpPr/>
            <p:nvPr/>
          </p:nvSpPr>
          <p:spPr>
            <a:xfrm flipH="false" flipV="false" rot="0">
              <a:off x="0" y="0"/>
              <a:ext cx="20670400" cy="3533479"/>
            </a:xfrm>
            <a:custGeom>
              <a:avLst/>
              <a:gdLst/>
              <a:ahLst/>
              <a:cxnLst/>
              <a:rect r="r" b="b" t="t" l="l"/>
              <a:pathLst>
                <a:path h="3533479" w="20670400">
                  <a:moveTo>
                    <a:pt x="0" y="0"/>
                  </a:moveTo>
                  <a:lnTo>
                    <a:pt x="20670400" y="0"/>
                  </a:lnTo>
                  <a:lnTo>
                    <a:pt x="20670400" y="3533479"/>
                  </a:lnTo>
                  <a:lnTo>
                    <a:pt x="0" y="3533479"/>
                  </a:lnTo>
                  <a:close/>
                </a:path>
              </a:pathLst>
            </a:custGeom>
            <a:solidFill>
              <a:srgbClr val="000000">
                <a:alpha val="0"/>
              </a:srgbClr>
            </a:solidFill>
          </p:spPr>
        </p:sp>
        <p:sp>
          <p:nvSpPr>
            <p:cNvPr name="TextBox 4" id="4"/>
            <p:cNvSpPr txBox="true"/>
            <p:nvPr/>
          </p:nvSpPr>
          <p:spPr>
            <a:xfrm>
              <a:off x="0" y="-114300"/>
              <a:ext cx="20670400" cy="3647779"/>
            </a:xfrm>
            <a:prstGeom prst="rect">
              <a:avLst/>
            </a:prstGeom>
          </p:spPr>
          <p:txBody>
            <a:bodyPr anchor="t" rtlCol="false" tIns="0" lIns="0" bIns="0" rIns="0"/>
            <a:lstStyle/>
            <a:p>
              <a:pPr algn="just" marL="653097" indent="-326548" lvl="1">
                <a:lnSpc>
                  <a:spcPts val="4174"/>
                </a:lnSpc>
                <a:buFont typeface="Arial"/>
                <a:buChar char="•"/>
              </a:pPr>
              <a:r>
                <a:rPr lang="en-US" sz="3024">
                  <a:solidFill>
                    <a:srgbClr val="131416"/>
                  </a:solidFill>
                  <a:latin typeface="Arial"/>
                  <a:ea typeface="Arial"/>
                  <a:cs typeface="Arial"/>
                  <a:sym typeface="Arial"/>
                </a:rPr>
                <a:t>Historial detall</a:t>
              </a:r>
              <a:r>
                <a:rPr lang="en-US" sz="3024">
                  <a:solidFill>
                    <a:srgbClr val="131416"/>
                  </a:solidFill>
                  <a:latin typeface="Arial"/>
                  <a:ea typeface="Arial"/>
                  <a:cs typeface="Arial"/>
                  <a:sym typeface="Arial"/>
                </a:rPr>
                <a:t>ado de todos los cambios.</a:t>
              </a:r>
            </a:p>
            <a:p>
              <a:pPr algn="just" marL="653097" indent="-326548" lvl="1">
                <a:lnSpc>
                  <a:spcPts val="4174"/>
                </a:lnSpc>
                <a:buFont typeface="Arial"/>
                <a:buChar char="•"/>
              </a:pPr>
              <a:r>
                <a:rPr lang="en-US" sz="3024">
                  <a:solidFill>
                    <a:srgbClr val="131416"/>
                  </a:solidFill>
                  <a:latin typeface="Arial"/>
                  <a:ea typeface="Arial"/>
                  <a:cs typeface="Arial"/>
                  <a:sym typeface="Arial"/>
                </a:rPr>
                <a:t>Posibilidad de experimentar en ramas sin afectar el proyecto principal.</a:t>
              </a:r>
            </a:p>
            <a:p>
              <a:pPr algn="just" marL="653097" indent="-326548" lvl="1">
                <a:lnSpc>
                  <a:spcPts val="4174"/>
                </a:lnSpc>
                <a:buFont typeface="Arial"/>
                <a:buChar char="•"/>
              </a:pPr>
              <a:r>
                <a:rPr lang="en-US" sz="3024">
                  <a:solidFill>
                    <a:srgbClr val="131416"/>
                  </a:solidFill>
                  <a:latin typeface="Arial"/>
                  <a:ea typeface="Arial"/>
                  <a:cs typeface="Arial"/>
                  <a:sym typeface="Arial"/>
                </a:rPr>
                <a:t>Comparación entre versiones.</a:t>
              </a:r>
            </a:p>
            <a:p>
              <a:pPr algn="just" marL="653097" indent="-326549" lvl="1">
                <a:lnSpc>
                  <a:spcPts val="4174"/>
                </a:lnSpc>
                <a:buFont typeface="Arial"/>
                <a:buChar char="•"/>
              </a:pPr>
              <a:r>
                <a:rPr lang="en-US" sz="3024">
                  <a:solidFill>
                    <a:srgbClr val="131416"/>
                  </a:solidFill>
                  <a:latin typeface="Arial"/>
                  <a:ea typeface="Arial"/>
                  <a:cs typeface="Arial"/>
                  <a:sym typeface="Arial"/>
                </a:rPr>
                <a:t>Trabajo colaborativo sin sobrescribir el trabajo de otros.</a:t>
              </a:r>
            </a:p>
            <a:p>
              <a:pPr algn="just">
                <a:lnSpc>
                  <a:spcPts val="4174"/>
                </a:lnSpc>
              </a:pPr>
            </a:p>
          </p:txBody>
        </p:sp>
      </p:grpSp>
      <p:grpSp>
        <p:nvGrpSpPr>
          <p:cNvPr name="Group 5" id="5"/>
          <p:cNvGrpSpPr/>
          <p:nvPr/>
        </p:nvGrpSpPr>
        <p:grpSpPr>
          <a:xfrm rot="0">
            <a:off x="1499550" y="2007425"/>
            <a:ext cx="15288900" cy="1098984"/>
            <a:chOff x="0" y="0"/>
            <a:chExt cx="20385200" cy="1465312"/>
          </a:xfrm>
        </p:grpSpPr>
        <p:sp>
          <p:nvSpPr>
            <p:cNvPr name="Freeform 6" id="6"/>
            <p:cNvSpPr/>
            <p:nvPr/>
          </p:nvSpPr>
          <p:spPr>
            <a:xfrm flipH="false" flipV="false" rot="0">
              <a:off x="0" y="0"/>
              <a:ext cx="20385201" cy="1465312"/>
            </a:xfrm>
            <a:custGeom>
              <a:avLst/>
              <a:gdLst/>
              <a:ahLst/>
              <a:cxnLst/>
              <a:rect r="r" b="b" t="t" l="l"/>
              <a:pathLst>
                <a:path h="1465312" w="20385201">
                  <a:moveTo>
                    <a:pt x="0" y="0"/>
                  </a:moveTo>
                  <a:lnTo>
                    <a:pt x="20385201" y="0"/>
                  </a:lnTo>
                  <a:lnTo>
                    <a:pt x="20385201" y="1465312"/>
                  </a:lnTo>
                  <a:lnTo>
                    <a:pt x="0" y="1465312"/>
                  </a:lnTo>
                  <a:close/>
                </a:path>
              </a:pathLst>
            </a:custGeom>
            <a:solidFill>
              <a:srgbClr val="000000">
                <a:alpha val="0"/>
              </a:srgbClr>
            </a:solidFill>
          </p:spPr>
        </p:sp>
        <p:sp>
          <p:nvSpPr>
            <p:cNvPr name="TextBox 7" id="7"/>
            <p:cNvSpPr txBox="true"/>
            <p:nvPr/>
          </p:nvSpPr>
          <p:spPr>
            <a:xfrm>
              <a:off x="0" y="-209550"/>
              <a:ext cx="20385200" cy="1674862"/>
            </a:xfrm>
            <a:prstGeom prst="rect">
              <a:avLst/>
            </a:prstGeom>
          </p:spPr>
          <p:txBody>
            <a:bodyPr anchor="t" rtlCol="false" tIns="0" lIns="0" bIns="0" rIns="0"/>
            <a:lstStyle/>
            <a:p>
              <a:pPr algn="ctr">
                <a:lnSpc>
                  <a:spcPts val="8267"/>
                </a:lnSpc>
              </a:pPr>
              <a:r>
                <a:rPr lang="en-US" sz="6098">
                  <a:solidFill>
                    <a:srgbClr val="131416"/>
                  </a:solidFill>
                  <a:latin typeface="Impact"/>
                  <a:ea typeface="Impact"/>
                  <a:cs typeface="Impact"/>
                  <a:sym typeface="Impact"/>
                </a:rPr>
                <a:t>Ventajas del control de versiones</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74902" y="3839700"/>
            <a:ext cx="7940137" cy="4221734"/>
            <a:chOff x="0" y="0"/>
            <a:chExt cx="10586849" cy="5628979"/>
          </a:xfrm>
        </p:grpSpPr>
        <p:sp>
          <p:nvSpPr>
            <p:cNvPr name="Freeform 3" id="3"/>
            <p:cNvSpPr/>
            <p:nvPr/>
          </p:nvSpPr>
          <p:spPr>
            <a:xfrm flipH="false" flipV="false" rot="0">
              <a:off x="0" y="0"/>
              <a:ext cx="10586849" cy="5628979"/>
            </a:xfrm>
            <a:custGeom>
              <a:avLst/>
              <a:gdLst/>
              <a:ahLst/>
              <a:cxnLst/>
              <a:rect r="r" b="b" t="t" l="l"/>
              <a:pathLst>
                <a:path h="5628979" w="10586849">
                  <a:moveTo>
                    <a:pt x="0" y="0"/>
                  </a:moveTo>
                  <a:lnTo>
                    <a:pt x="10586849" y="0"/>
                  </a:lnTo>
                  <a:lnTo>
                    <a:pt x="10586849" y="5628979"/>
                  </a:lnTo>
                  <a:lnTo>
                    <a:pt x="0" y="5628979"/>
                  </a:lnTo>
                  <a:close/>
                </a:path>
              </a:pathLst>
            </a:custGeom>
            <a:solidFill>
              <a:srgbClr val="000000">
                <a:alpha val="0"/>
              </a:srgbClr>
            </a:solidFill>
          </p:spPr>
        </p:sp>
        <p:sp>
          <p:nvSpPr>
            <p:cNvPr name="TextBox 4" id="4"/>
            <p:cNvSpPr txBox="true"/>
            <p:nvPr/>
          </p:nvSpPr>
          <p:spPr>
            <a:xfrm>
              <a:off x="0" y="-114300"/>
              <a:ext cx="10586849" cy="5743279"/>
            </a:xfrm>
            <a:prstGeom prst="rect">
              <a:avLst/>
            </a:prstGeom>
          </p:spPr>
          <p:txBody>
            <a:bodyPr anchor="t" rtlCol="false" tIns="0" lIns="0" bIns="0" rIns="0"/>
            <a:lstStyle/>
            <a:p>
              <a:pPr algn="just" marL="653097" indent="-326548" lvl="1">
                <a:lnSpc>
                  <a:spcPts val="4174"/>
                </a:lnSpc>
                <a:buFont typeface="Arial"/>
                <a:buChar char="•"/>
              </a:pPr>
              <a:r>
                <a:rPr lang="en-US" sz="3024">
                  <a:solidFill>
                    <a:srgbClr val="131416"/>
                  </a:solidFill>
                  <a:latin typeface="Arial"/>
                  <a:ea typeface="Arial"/>
                  <a:cs typeface="Arial"/>
                  <a:sym typeface="Arial"/>
                </a:rPr>
                <a:t>Git: </a:t>
              </a:r>
              <a:r>
                <a:rPr lang="en-US" sz="3024">
                  <a:solidFill>
                    <a:srgbClr val="131416"/>
                  </a:solidFill>
                  <a:latin typeface="Arial"/>
                  <a:ea typeface="Arial"/>
                  <a:cs typeface="Arial"/>
                  <a:sym typeface="Arial"/>
                </a:rPr>
                <a:t>El más usado actualmente.</a:t>
              </a:r>
            </a:p>
            <a:p>
              <a:pPr algn="just" marL="653097" indent="-326548" lvl="1">
                <a:lnSpc>
                  <a:spcPts val="4174"/>
                </a:lnSpc>
                <a:buFont typeface="Arial"/>
                <a:buChar char="•"/>
              </a:pPr>
              <a:r>
                <a:rPr lang="en-US" sz="3024">
                  <a:solidFill>
                    <a:srgbClr val="131416"/>
                  </a:solidFill>
                  <a:latin typeface="Arial"/>
                  <a:ea typeface="Arial"/>
                  <a:cs typeface="Arial"/>
                  <a:sym typeface="Arial"/>
                </a:rPr>
                <a:t>Mercurial: Similar a Git, pero con una curva de aprendizaje más suave.</a:t>
              </a:r>
            </a:p>
            <a:p>
              <a:pPr algn="just" marL="653097" indent="-326548" lvl="1">
                <a:lnSpc>
                  <a:spcPts val="4174"/>
                </a:lnSpc>
                <a:buFont typeface="Arial"/>
                <a:buChar char="•"/>
              </a:pPr>
              <a:r>
                <a:rPr lang="en-US" sz="3024">
                  <a:solidFill>
                    <a:srgbClr val="131416"/>
                  </a:solidFill>
                  <a:latin typeface="Arial"/>
                  <a:ea typeface="Arial"/>
                  <a:cs typeface="Arial"/>
                  <a:sym typeface="Arial"/>
                </a:rPr>
                <a:t>Subversion (SVN): Antiguo estándar, aún usado en algunos entornos corporativos.</a:t>
              </a:r>
            </a:p>
            <a:p>
              <a:pPr algn="just" marL="653097" indent="-326549" lvl="1">
                <a:lnSpc>
                  <a:spcPts val="4174"/>
                </a:lnSpc>
                <a:buFont typeface="Arial"/>
                <a:buChar char="•"/>
              </a:pPr>
              <a:r>
                <a:rPr lang="en-US" sz="3024">
                  <a:solidFill>
                    <a:srgbClr val="131416"/>
                  </a:solidFill>
                  <a:latin typeface="Arial"/>
                  <a:ea typeface="Arial"/>
                  <a:cs typeface="Arial"/>
                  <a:sym typeface="Arial"/>
                </a:rPr>
                <a:t>GitHub / GitLab / Bitbucket: Servicios para alojar repositorios Git y colaborar en línea.</a:t>
              </a:r>
            </a:p>
            <a:p>
              <a:pPr algn="just">
                <a:lnSpc>
                  <a:spcPts val="4174"/>
                </a:lnSpc>
              </a:pPr>
            </a:p>
          </p:txBody>
        </p:sp>
      </p:grpSp>
      <p:grpSp>
        <p:nvGrpSpPr>
          <p:cNvPr name="Group 5" id="5"/>
          <p:cNvGrpSpPr/>
          <p:nvPr/>
        </p:nvGrpSpPr>
        <p:grpSpPr>
          <a:xfrm rot="0">
            <a:off x="1374901" y="654375"/>
            <a:ext cx="15288900" cy="1098984"/>
            <a:chOff x="0" y="0"/>
            <a:chExt cx="20385200" cy="1465312"/>
          </a:xfrm>
        </p:grpSpPr>
        <p:sp>
          <p:nvSpPr>
            <p:cNvPr name="Freeform 6" id="6"/>
            <p:cNvSpPr/>
            <p:nvPr/>
          </p:nvSpPr>
          <p:spPr>
            <a:xfrm flipH="false" flipV="false" rot="0">
              <a:off x="0" y="0"/>
              <a:ext cx="20385201" cy="1465312"/>
            </a:xfrm>
            <a:custGeom>
              <a:avLst/>
              <a:gdLst/>
              <a:ahLst/>
              <a:cxnLst/>
              <a:rect r="r" b="b" t="t" l="l"/>
              <a:pathLst>
                <a:path h="1465312" w="20385201">
                  <a:moveTo>
                    <a:pt x="0" y="0"/>
                  </a:moveTo>
                  <a:lnTo>
                    <a:pt x="20385201" y="0"/>
                  </a:lnTo>
                  <a:lnTo>
                    <a:pt x="20385201" y="1465312"/>
                  </a:lnTo>
                  <a:lnTo>
                    <a:pt x="0" y="1465312"/>
                  </a:lnTo>
                  <a:close/>
                </a:path>
              </a:pathLst>
            </a:custGeom>
            <a:solidFill>
              <a:srgbClr val="000000">
                <a:alpha val="0"/>
              </a:srgbClr>
            </a:solidFill>
          </p:spPr>
        </p:sp>
        <p:sp>
          <p:nvSpPr>
            <p:cNvPr name="TextBox 7" id="7"/>
            <p:cNvSpPr txBox="true"/>
            <p:nvPr/>
          </p:nvSpPr>
          <p:spPr>
            <a:xfrm>
              <a:off x="0" y="-209550"/>
              <a:ext cx="20385200" cy="1674862"/>
            </a:xfrm>
            <a:prstGeom prst="rect">
              <a:avLst/>
            </a:prstGeom>
          </p:spPr>
          <p:txBody>
            <a:bodyPr anchor="t" rtlCol="false" tIns="0" lIns="0" bIns="0" rIns="0"/>
            <a:lstStyle/>
            <a:p>
              <a:pPr algn="just">
                <a:lnSpc>
                  <a:spcPts val="8267"/>
                </a:lnSpc>
              </a:pPr>
              <a:r>
                <a:rPr lang="en-US" sz="6098">
                  <a:solidFill>
                    <a:srgbClr val="131416"/>
                  </a:solidFill>
                  <a:latin typeface="Impact"/>
                  <a:ea typeface="Impact"/>
                  <a:cs typeface="Impact"/>
                  <a:sym typeface="Impact"/>
                </a:rPr>
                <a:t>Herramientas populares de control de</a:t>
              </a:r>
              <a:r>
                <a:rPr lang="en-US" sz="6098">
                  <a:solidFill>
                    <a:srgbClr val="131416"/>
                  </a:solidFill>
                  <a:latin typeface="Impact"/>
                  <a:ea typeface="Impact"/>
                  <a:cs typeface="Impact"/>
                  <a:sym typeface="Impact"/>
                </a:rPr>
                <a:t> versiones</a:t>
              </a:r>
            </a:p>
          </p:txBody>
        </p:sp>
      </p:grpSp>
      <p:sp>
        <p:nvSpPr>
          <p:cNvPr name="Freeform 8" id="8"/>
          <p:cNvSpPr/>
          <p:nvPr/>
        </p:nvSpPr>
        <p:spPr>
          <a:xfrm flipH="false" flipV="false" rot="0">
            <a:off x="9636780" y="3514275"/>
            <a:ext cx="8092969" cy="4872583"/>
          </a:xfrm>
          <a:custGeom>
            <a:avLst/>
            <a:gdLst/>
            <a:ahLst/>
            <a:cxnLst/>
            <a:rect r="r" b="b" t="t" l="l"/>
            <a:pathLst>
              <a:path h="4872583" w="8092969">
                <a:moveTo>
                  <a:pt x="0" y="0"/>
                </a:moveTo>
                <a:lnTo>
                  <a:pt x="8092969" y="0"/>
                </a:lnTo>
                <a:lnTo>
                  <a:pt x="8092969" y="4872584"/>
                </a:lnTo>
                <a:lnTo>
                  <a:pt x="0" y="4872584"/>
                </a:lnTo>
                <a:lnTo>
                  <a:pt x="0" y="0"/>
                </a:lnTo>
                <a:close/>
              </a:path>
            </a:pathLst>
          </a:custGeom>
          <a:blipFill>
            <a:blip r:embed="rId3"/>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21550" y="2203850"/>
            <a:ext cx="6300900" cy="6303300"/>
            <a:chOff x="0" y="0"/>
            <a:chExt cx="8401200" cy="8404400"/>
          </a:xfrm>
        </p:grpSpPr>
        <p:sp>
          <p:nvSpPr>
            <p:cNvPr name="Freeform 3" id="3"/>
            <p:cNvSpPr/>
            <p:nvPr/>
          </p:nvSpPr>
          <p:spPr>
            <a:xfrm flipH="false" flipV="false" rot="0">
              <a:off x="0" y="0"/>
              <a:ext cx="8401200" cy="8404400"/>
            </a:xfrm>
            <a:custGeom>
              <a:avLst/>
              <a:gdLst/>
              <a:ahLst/>
              <a:cxnLst/>
              <a:rect r="r" b="b" t="t" l="l"/>
              <a:pathLst>
                <a:path h="8404400" w="8401200">
                  <a:moveTo>
                    <a:pt x="0" y="0"/>
                  </a:moveTo>
                  <a:lnTo>
                    <a:pt x="8401200" y="0"/>
                  </a:lnTo>
                  <a:lnTo>
                    <a:pt x="8401200" y="8404400"/>
                  </a:lnTo>
                  <a:lnTo>
                    <a:pt x="0" y="8404400"/>
                  </a:lnTo>
                  <a:close/>
                </a:path>
              </a:pathLst>
            </a:custGeom>
            <a:solidFill>
              <a:srgbClr val="000000">
                <a:alpha val="0"/>
              </a:srgbClr>
            </a:solidFill>
          </p:spPr>
        </p:sp>
        <p:sp>
          <p:nvSpPr>
            <p:cNvPr name="TextBox 4" id="4"/>
            <p:cNvSpPr txBox="true"/>
            <p:nvPr/>
          </p:nvSpPr>
          <p:spPr>
            <a:xfrm>
              <a:off x="0" y="-114300"/>
              <a:ext cx="8401200" cy="8518700"/>
            </a:xfrm>
            <a:prstGeom prst="rect">
              <a:avLst/>
            </a:prstGeom>
          </p:spPr>
          <p:txBody>
            <a:bodyPr anchor="t" rtlCol="false" tIns="0" lIns="0" bIns="0" rIns="0"/>
            <a:lstStyle/>
            <a:p>
              <a:pPr algn="just">
                <a:lnSpc>
                  <a:spcPts val="4140"/>
                </a:lnSpc>
              </a:pPr>
              <a:r>
                <a:rPr lang="en-US" sz="3000">
                  <a:solidFill>
                    <a:srgbClr val="131416"/>
                  </a:solidFill>
                  <a:latin typeface="Arial"/>
                  <a:ea typeface="Arial"/>
                  <a:cs typeface="Arial"/>
                  <a:sym typeface="Arial"/>
                </a:rPr>
                <a:t>G</a:t>
              </a:r>
              <a:r>
                <a:rPr lang="en-US" sz="3000">
                  <a:solidFill>
                    <a:srgbClr val="131416"/>
                  </a:solidFill>
                  <a:latin typeface="Arial"/>
                  <a:ea typeface="Arial"/>
                  <a:cs typeface="Arial"/>
                  <a:sym typeface="Arial"/>
                </a:rPr>
                <a:t>it es un sistema de control de versiones distribuido, creado por Linus Torvalds en 2005. Es rápido, eficiente y diseñado para coordinar el trabajo entre desarrolladores.</a:t>
              </a:r>
            </a:p>
            <a:p>
              <a:pPr algn="just">
                <a:lnSpc>
                  <a:spcPts val="4140"/>
                </a:lnSpc>
              </a:pPr>
              <a:r>
                <a:rPr lang="en-US" sz="3000">
                  <a:solidFill>
                    <a:srgbClr val="131416"/>
                  </a:solidFill>
                  <a:latin typeface="Arial"/>
                  <a:ea typeface="Arial"/>
                  <a:cs typeface="Arial"/>
                  <a:sym typeface="Arial"/>
                </a:rPr>
                <a:t>Git no se limita a programadores: escritores, diseñadores y científicos también lo usan para gestionar cambios en sus proyectos.</a:t>
              </a:r>
            </a:p>
            <a:p>
              <a:pPr algn="just">
                <a:lnSpc>
                  <a:spcPts val="4140"/>
                </a:lnSpc>
              </a:pPr>
            </a:p>
          </p:txBody>
        </p:sp>
      </p:grpSp>
      <p:grpSp>
        <p:nvGrpSpPr>
          <p:cNvPr name="Group 5" id="5"/>
          <p:cNvGrpSpPr/>
          <p:nvPr/>
        </p:nvGrpSpPr>
        <p:grpSpPr>
          <a:xfrm rot="0">
            <a:off x="1680428" y="632552"/>
            <a:ext cx="15288900" cy="1098984"/>
            <a:chOff x="0" y="0"/>
            <a:chExt cx="20385200" cy="1465312"/>
          </a:xfrm>
        </p:grpSpPr>
        <p:sp>
          <p:nvSpPr>
            <p:cNvPr name="Freeform 6" id="6"/>
            <p:cNvSpPr/>
            <p:nvPr/>
          </p:nvSpPr>
          <p:spPr>
            <a:xfrm flipH="false" flipV="false" rot="0">
              <a:off x="0" y="0"/>
              <a:ext cx="20385201" cy="1465312"/>
            </a:xfrm>
            <a:custGeom>
              <a:avLst/>
              <a:gdLst/>
              <a:ahLst/>
              <a:cxnLst/>
              <a:rect r="r" b="b" t="t" l="l"/>
              <a:pathLst>
                <a:path h="1465312" w="20385201">
                  <a:moveTo>
                    <a:pt x="0" y="0"/>
                  </a:moveTo>
                  <a:lnTo>
                    <a:pt x="20385201" y="0"/>
                  </a:lnTo>
                  <a:lnTo>
                    <a:pt x="20385201" y="1465312"/>
                  </a:lnTo>
                  <a:lnTo>
                    <a:pt x="0" y="1465312"/>
                  </a:lnTo>
                  <a:close/>
                </a:path>
              </a:pathLst>
            </a:custGeom>
            <a:solidFill>
              <a:srgbClr val="000000">
                <a:alpha val="0"/>
              </a:srgbClr>
            </a:solidFill>
          </p:spPr>
        </p:sp>
        <p:sp>
          <p:nvSpPr>
            <p:cNvPr name="TextBox 7" id="7"/>
            <p:cNvSpPr txBox="true"/>
            <p:nvPr/>
          </p:nvSpPr>
          <p:spPr>
            <a:xfrm>
              <a:off x="0" y="-209550"/>
              <a:ext cx="20385200" cy="1674862"/>
            </a:xfrm>
            <a:prstGeom prst="rect">
              <a:avLst/>
            </a:prstGeom>
          </p:spPr>
          <p:txBody>
            <a:bodyPr anchor="t" rtlCol="false" tIns="0" lIns="0" bIns="0" rIns="0"/>
            <a:lstStyle/>
            <a:p>
              <a:pPr algn="just">
                <a:lnSpc>
                  <a:spcPts val="8267"/>
                </a:lnSpc>
              </a:pPr>
              <a:r>
                <a:rPr lang="en-US" sz="6098">
                  <a:solidFill>
                    <a:srgbClr val="131416"/>
                  </a:solidFill>
                  <a:latin typeface="Impact"/>
                  <a:ea typeface="Impact"/>
                  <a:cs typeface="Impact"/>
                  <a:sym typeface="Impact"/>
                </a:rPr>
                <a:t>Introducción a Git</a:t>
              </a:r>
            </a:p>
          </p:txBody>
        </p:sp>
      </p:grpSp>
      <p:sp>
        <p:nvSpPr>
          <p:cNvPr name="Freeform 8" id="8"/>
          <p:cNvSpPr/>
          <p:nvPr/>
        </p:nvSpPr>
        <p:spPr>
          <a:xfrm flipH="false" flipV="false" rot="0">
            <a:off x="8425456" y="3428833"/>
            <a:ext cx="9577211" cy="4520504"/>
          </a:xfrm>
          <a:custGeom>
            <a:avLst/>
            <a:gdLst/>
            <a:ahLst/>
            <a:cxnLst/>
            <a:rect r="r" b="b" t="t" l="l"/>
            <a:pathLst>
              <a:path h="4520504" w="9577211">
                <a:moveTo>
                  <a:pt x="0" y="0"/>
                </a:moveTo>
                <a:lnTo>
                  <a:pt x="9577212" y="0"/>
                </a:lnTo>
                <a:lnTo>
                  <a:pt x="9577212" y="4520504"/>
                </a:lnTo>
                <a:lnTo>
                  <a:pt x="0" y="4520504"/>
                </a:lnTo>
                <a:lnTo>
                  <a:pt x="0" y="0"/>
                </a:lnTo>
                <a:close/>
              </a:path>
            </a:pathLst>
          </a:custGeom>
          <a:blipFill>
            <a:blip r:embed="rId3"/>
            <a:stretch>
              <a:fillRect l="-18001"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21551" y="2203850"/>
            <a:ext cx="15975600" cy="3347212"/>
            <a:chOff x="0" y="0"/>
            <a:chExt cx="21300800" cy="4462949"/>
          </a:xfrm>
        </p:grpSpPr>
        <p:sp>
          <p:nvSpPr>
            <p:cNvPr name="Freeform 3" id="3"/>
            <p:cNvSpPr/>
            <p:nvPr/>
          </p:nvSpPr>
          <p:spPr>
            <a:xfrm flipH="false" flipV="false" rot="0">
              <a:off x="0" y="0"/>
              <a:ext cx="21300801" cy="4462949"/>
            </a:xfrm>
            <a:custGeom>
              <a:avLst/>
              <a:gdLst/>
              <a:ahLst/>
              <a:cxnLst/>
              <a:rect r="r" b="b" t="t" l="l"/>
              <a:pathLst>
                <a:path h="4462949" w="21300801">
                  <a:moveTo>
                    <a:pt x="0" y="0"/>
                  </a:moveTo>
                  <a:lnTo>
                    <a:pt x="21300801" y="0"/>
                  </a:lnTo>
                  <a:lnTo>
                    <a:pt x="21300801" y="4462949"/>
                  </a:lnTo>
                  <a:lnTo>
                    <a:pt x="0" y="4462949"/>
                  </a:lnTo>
                  <a:close/>
                </a:path>
              </a:pathLst>
            </a:custGeom>
            <a:solidFill>
              <a:srgbClr val="000000">
                <a:alpha val="0"/>
              </a:srgbClr>
            </a:solidFill>
          </p:spPr>
        </p:sp>
        <p:sp>
          <p:nvSpPr>
            <p:cNvPr name="TextBox 4" id="4"/>
            <p:cNvSpPr txBox="true"/>
            <p:nvPr/>
          </p:nvSpPr>
          <p:spPr>
            <a:xfrm>
              <a:off x="0" y="-123825"/>
              <a:ext cx="21300800" cy="4586774"/>
            </a:xfrm>
            <a:prstGeom prst="rect">
              <a:avLst/>
            </a:prstGeom>
          </p:spPr>
          <p:txBody>
            <a:bodyPr anchor="t" rtlCol="false" tIns="0" lIns="0" bIns="0" rIns="0"/>
            <a:lstStyle/>
            <a:p>
              <a:pPr algn="just" marL="690881" indent="-345440" lvl="1">
                <a:lnSpc>
                  <a:spcPts val="4416"/>
                </a:lnSpc>
                <a:buFont typeface="Arial"/>
                <a:buChar char="•"/>
              </a:pPr>
              <a:r>
                <a:rPr lang="en-US" sz="3200">
                  <a:solidFill>
                    <a:srgbClr val="131416"/>
                  </a:solidFill>
                  <a:latin typeface="Arial"/>
                  <a:ea typeface="Arial"/>
                  <a:cs typeface="Arial"/>
                  <a:sym typeface="Arial"/>
                </a:rPr>
                <a:t>W</a:t>
              </a:r>
              <a:r>
                <a:rPr lang="en-US" sz="3200">
                  <a:solidFill>
                    <a:srgbClr val="131416"/>
                  </a:solidFill>
                  <a:latin typeface="Arial"/>
                  <a:ea typeface="Arial"/>
                  <a:cs typeface="Arial"/>
                  <a:sym typeface="Arial"/>
                </a:rPr>
                <a:t>indows: Descargar desde </a:t>
              </a:r>
              <a:r>
                <a:rPr lang="en-US" sz="3200" u="sng">
                  <a:solidFill>
                    <a:srgbClr val="131416"/>
                  </a:solidFill>
                  <a:latin typeface="Arial"/>
                  <a:ea typeface="Arial"/>
                  <a:cs typeface="Arial"/>
                  <a:sym typeface="Arial"/>
                  <a:hlinkClick r:id="rId3" tooltip="https://git-scm.com"/>
                </a:rPr>
                <a:t>git-scm.com</a:t>
              </a:r>
              <a:r>
                <a:rPr lang="en-US" sz="3200">
                  <a:solidFill>
                    <a:srgbClr val="131416"/>
                  </a:solidFill>
                  <a:latin typeface="Arial"/>
                  <a:ea typeface="Arial"/>
                  <a:cs typeface="Arial"/>
                  <a:sym typeface="Arial"/>
                </a:rPr>
                <a:t>.</a:t>
              </a:r>
            </a:p>
            <a:p>
              <a:pPr algn="just" marL="690881" indent="-345440" lvl="1">
                <a:lnSpc>
                  <a:spcPts val="4416"/>
                </a:lnSpc>
                <a:buFont typeface="Arial"/>
                <a:buChar char="•"/>
              </a:pPr>
              <a:r>
                <a:rPr lang="en-US" sz="3200">
                  <a:solidFill>
                    <a:srgbClr val="131416"/>
                  </a:solidFill>
                  <a:latin typeface="Arial"/>
                  <a:ea typeface="Arial"/>
                  <a:cs typeface="Arial"/>
                  <a:sym typeface="Arial"/>
                </a:rPr>
                <a:t>Linux: sudo apt install git</a:t>
              </a:r>
            </a:p>
            <a:p>
              <a:pPr algn="just" marL="690881" indent="-345440" lvl="1">
                <a:lnSpc>
                  <a:spcPts val="4416"/>
                </a:lnSpc>
                <a:buFont typeface="Arial"/>
                <a:buChar char="•"/>
              </a:pPr>
              <a:r>
                <a:rPr lang="en-US" sz="3200">
                  <a:solidFill>
                    <a:srgbClr val="131416"/>
                  </a:solidFill>
                  <a:latin typeface="Arial"/>
                  <a:ea typeface="Arial"/>
                  <a:cs typeface="Arial"/>
                  <a:sym typeface="Arial"/>
                </a:rPr>
                <a:t>Mac: brew install git</a:t>
              </a:r>
            </a:p>
            <a:p>
              <a:pPr algn="just" marL="690881" indent="-345440" lvl="1">
                <a:lnSpc>
                  <a:spcPts val="4416"/>
                </a:lnSpc>
                <a:buFont typeface="Arial"/>
                <a:buChar char="•"/>
              </a:pPr>
              <a:r>
                <a:rPr lang="en-US" sz="3200">
                  <a:solidFill>
                    <a:srgbClr val="131416"/>
                  </a:solidFill>
                  <a:latin typeface="Arial"/>
                  <a:ea typeface="Arial"/>
                  <a:cs typeface="Arial"/>
                  <a:sym typeface="Arial"/>
                </a:rPr>
                <a:t>Verificar instalación: git --version</a:t>
              </a:r>
            </a:p>
            <a:p>
              <a:pPr algn="just">
                <a:lnSpc>
                  <a:spcPts val="4416"/>
                </a:lnSpc>
              </a:pPr>
              <a:r>
                <a:rPr lang="en-US" sz="3200">
                  <a:solidFill>
                    <a:srgbClr val="131416"/>
                  </a:solidFill>
                  <a:latin typeface="Arial"/>
                  <a:ea typeface="Arial"/>
                  <a:cs typeface="Arial"/>
                  <a:sym typeface="Arial"/>
                </a:rPr>
                <a:t> </a:t>
              </a:r>
            </a:p>
            <a:p>
              <a:pPr algn="just">
                <a:lnSpc>
                  <a:spcPts val="4416"/>
                </a:lnSpc>
              </a:pPr>
            </a:p>
          </p:txBody>
        </p:sp>
      </p:grpSp>
      <p:grpSp>
        <p:nvGrpSpPr>
          <p:cNvPr name="Group 5" id="5"/>
          <p:cNvGrpSpPr/>
          <p:nvPr/>
        </p:nvGrpSpPr>
        <p:grpSpPr>
          <a:xfrm rot="0">
            <a:off x="1374901" y="654375"/>
            <a:ext cx="15288900" cy="1098984"/>
            <a:chOff x="0" y="0"/>
            <a:chExt cx="20385200" cy="1465312"/>
          </a:xfrm>
        </p:grpSpPr>
        <p:sp>
          <p:nvSpPr>
            <p:cNvPr name="Freeform 6" id="6"/>
            <p:cNvSpPr/>
            <p:nvPr/>
          </p:nvSpPr>
          <p:spPr>
            <a:xfrm flipH="false" flipV="false" rot="0">
              <a:off x="0" y="0"/>
              <a:ext cx="20385201" cy="1465312"/>
            </a:xfrm>
            <a:custGeom>
              <a:avLst/>
              <a:gdLst/>
              <a:ahLst/>
              <a:cxnLst/>
              <a:rect r="r" b="b" t="t" l="l"/>
              <a:pathLst>
                <a:path h="1465312" w="20385201">
                  <a:moveTo>
                    <a:pt x="0" y="0"/>
                  </a:moveTo>
                  <a:lnTo>
                    <a:pt x="20385201" y="0"/>
                  </a:lnTo>
                  <a:lnTo>
                    <a:pt x="20385201" y="1465312"/>
                  </a:lnTo>
                  <a:lnTo>
                    <a:pt x="0" y="1465312"/>
                  </a:lnTo>
                  <a:close/>
                </a:path>
              </a:pathLst>
            </a:custGeom>
            <a:solidFill>
              <a:srgbClr val="000000">
                <a:alpha val="0"/>
              </a:srgbClr>
            </a:solidFill>
          </p:spPr>
        </p:sp>
        <p:sp>
          <p:nvSpPr>
            <p:cNvPr name="TextBox 7" id="7"/>
            <p:cNvSpPr txBox="true"/>
            <p:nvPr/>
          </p:nvSpPr>
          <p:spPr>
            <a:xfrm>
              <a:off x="0" y="-209550"/>
              <a:ext cx="20385200" cy="1674862"/>
            </a:xfrm>
            <a:prstGeom prst="rect">
              <a:avLst/>
            </a:prstGeom>
          </p:spPr>
          <p:txBody>
            <a:bodyPr anchor="t" rtlCol="false" tIns="0" lIns="0" bIns="0" rIns="0"/>
            <a:lstStyle/>
            <a:p>
              <a:pPr algn="just">
                <a:lnSpc>
                  <a:spcPts val="8267"/>
                </a:lnSpc>
              </a:pPr>
              <a:r>
                <a:rPr lang="en-US" sz="6098">
                  <a:solidFill>
                    <a:srgbClr val="131416"/>
                  </a:solidFill>
                  <a:latin typeface="Impact"/>
                  <a:ea typeface="Impact"/>
                  <a:cs typeface="Impact"/>
                  <a:sym typeface="Impact"/>
                </a:rPr>
                <a:t>Insta</a:t>
              </a:r>
              <a:r>
                <a:rPr lang="en-US" sz="6098">
                  <a:solidFill>
                    <a:srgbClr val="131416"/>
                  </a:solidFill>
                  <a:latin typeface="Impact"/>
                  <a:ea typeface="Impact"/>
                  <a:cs typeface="Impact"/>
                  <a:sym typeface="Impact"/>
                </a:rPr>
                <a:t>lación de Git</a:t>
              </a:r>
            </a:p>
          </p:txBody>
        </p:sp>
      </p:gr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374826" y="921775"/>
            <a:ext cx="15288900" cy="1098984"/>
            <a:chOff x="0" y="0"/>
            <a:chExt cx="20385200" cy="1465312"/>
          </a:xfrm>
        </p:grpSpPr>
        <p:sp>
          <p:nvSpPr>
            <p:cNvPr name="Freeform 3" id="3"/>
            <p:cNvSpPr/>
            <p:nvPr/>
          </p:nvSpPr>
          <p:spPr>
            <a:xfrm flipH="false" flipV="false" rot="0">
              <a:off x="0" y="0"/>
              <a:ext cx="20385201" cy="1465312"/>
            </a:xfrm>
            <a:custGeom>
              <a:avLst/>
              <a:gdLst/>
              <a:ahLst/>
              <a:cxnLst/>
              <a:rect r="r" b="b" t="t" l="l"/>
              <a:pathLst>
                <a:path h="1465312" w="20385201">
                  <a:moveTo>
                    <a:pt x="0" y="0"/>
                  </a:moveTo>
                  <a:lnTo>
                    <a:pt x="20385201" y="0"/>
                  </a:lnTo>
                  <a:lnTo>
                    <a:pt x="20385201" y="1465312"/>
                  </a:lnTo>
                  <a:lnTo>
                    <a:pt x="0" y="1465312"/>
                  </a:lnTo>
                  <a:close/>
                </a:path>
              </a:pathLst>
            </a:custGeom>
            <a:solidFill>
              <a:srgbClr val="000000">
                <a:alpha val="0"/>
              </a:srgbClr>
            </a:solidFill>
          </p:spPr>
        </p:sp>
        <p:sp>
          <p:nvSpPr>
            <p:cNvPr name="TextBox 4" id="4"/>
            <p:cNvSpPr txBox="true"/>
            <p:nvPr/>
          </p:nvSpPr>
          <p:spPr>
            <a:xfrm>
              <a:off x="0" y="-209550"/>
              <a:ext cx="20385200" cy="1674862"/>
            </a:xfrm>
            <a:prstGeom prst="rect">
              <a:avLst/>
            </a:prstGeom>
          </p:spPr>
          <p:txBody>
            <a:bodyPr anchor="t" rtlCol="false" tIns="0" lIns="0" bIns="0" rIns="0"/>
            <a:lstStyle/>
            <a:p>
              <a:pPr algn="just">
                <a:lnSpc>
                  <a:spcPts val="8267"/>
                </a:lnSpc>
              </a:pPr>
              <a:r>
                <a:rPr lang="en-US" sz="6098">
                  <a:solidFill>
                    <a:srgbClr val="131416"/>
                  </a:solidFill>
                  <a:latin typeface="Impact"/>
                  <a:ea typeface="Impact"/>
                  <a:cs typeface="Impact"/>
                  <a:sym typeface="Impact"/>
                </a:rPr>
                <a:t>¿Qué </a:t>
              </a:r>
              <a:r>
                <a:rPr lang="en-US" sz="6098">
                  <a:solidFill>
                    <a:srgbClr val="131416"/>
                  </a:solidFill>
                  <a:latin typeface="Impact"/>
                  <a:ea typeface="Impact"/>
                  <a:cs typeface="Impact"/>
                  <a:sym typeface="Impact"/>
                </a:rPr>
                <a:t>es un repositorio?</a:t>
              </a:r>
            </a:p>
          </p:txBody>
        </p:sp>
      </p:grpSp>
      <p:grpSp>
        <p:nvGrpSpPr>
          <p:cNvPr name="Group 5" id="5"/>
          <p:cNvGrpSpPr/>
          <p:nvPr/>
        </p:nvGrpSpPr>
        <p:grpSpPr>
          <a:xfrm rot="0">
            <a:off x="1543500" y="2464625"/>
            <a:ext cx="15201000" cy="3399306"/>
            <a:chOff x="0" y="0"/>
            <a:chExt cx="20268000" cy="4532408"/>
          </a:xfrm>
        </p:grpSpPr>
        <p:sp>
          <p:nvSpPr>
            <p:cNvPr name="Freeform 6" id="6"/>
            <p:cNvSpPr/>
            <p:nvPr/>
          </p:nvSpPr>
          <p:spPr>
            <a:xfrm flipH="false" flipV="false" rot="0">
              <a:off x="0" y="0"/>
              <a:ext cx="20268000" cy="4532408"/>
            </a:xfrm>
            <a:custGeom>
              <a:avLst/>
              <a:gdLst/>
              <a:ahLst/>
              <a:cxnLst/>
              <a:rect r="r" b="b" t="t" l="l"/>
              <a:pathLst>
                <a:path h="4532408" w="20268000">
                  <a:moveTo>
                    <a:pt x="0" y="0"/>
                  </a:moveTo>
                  <a:lnTo>
                    <a:pt x="20268000" y="0"/>
                  </a:lnTo>
                  <a:lnTo>
                    <a:pt x="20268000" y="4532408"/>
                  </a:lnTo>
                  <a:lnTo>
                    <a:pt x="0" y="4532408"/>
                  </a:lnTo>
                  <a:close/>
                </a:path>
              </a:pathLst>
            </a:custGeom>
            <a:solidFill>
              <a:srgbClr val="000000">
                <a:alpha val="0"/>
              </a:srgbClr>
            </a:solidFill>
          </p:spPr>
        </p:sp>
        <p:sp>
          <p:nvSpPr>
            <p:cNvPr name="TextBox 7" id="7"/>
            <p:cNvSpPr txBox="true"/>
            <p:nvPr/>
          </p:nvSpPr>
          <p:spPr>
            <a:xfrm>
              <a:off x="0" y="-114300"/>
              <a:ext cx="20268000" cy="4646708"/>
            </a:xfrm>
            <a:prstGeom prst="rect">
              <a:avLst/>
            </a:prstGeom>
          </p:spPr>
          <p:txBody>
            <a:bodyPr anchor="t" rtlCol="false" tIns="0" lIns="0" bIns="0" rIns="0"/>
            <a:lstStyle/>
            <a:p>
              <a:pPr algn="l">
                <a:lnSpc>
                  <a:spcPts val="4416"/>
                </a:lnSpc>
              </a:pPr>
              <a:r>
                <a:rPr lang="en-US" sz="3200">
                  <a:solidFill>
                    <a:srgbClr val="000000"/>
                  </a:solidFill>
                  <a:latin typeface="Calibri (MS)"/>
                  <a:ea typeface="Calibri (MS)"/>
                  <a:cs typeface="Calibri (MS)"/>
                  <a:sym typeface="Calibri (MS)"/>
                </a:rPr>
                <a:t>Un</a:t>
              </a:r>
              <a:r>
                <a:rPr lang="en-US" sz="3200">
                  <a:solidFill>
                    <a:srgbClr val="000000"/>
                  </a:solidFill>
                  <a:latin typeface="Calibri (MS)"/>
                  <a:ea typeface="Calibri (MS)"/>
                  <a:cs typeface="Calibri (MS)"/>
                  <a:sym typeface="Calibri (MS)"/>
                </a:rPr>
                <a:t> repositorio es un espacio donde se almacena toda la información del proyecto y su historial de cambios. Existen dos tipos:</a:t>
              </a:r>
            </a:p>
            <a:p>
              <a:pPr algn="l" marL="690881" indent="-345440" lvl="1">
                <a:lnSpc>
                  <a:spcPts val="4416"/>
                </a:lnSpc>
                <a:buFont typeface="Arial"/>
                <a:buChar char="•"/>
              </a:pPr>
              <a:r>
                <a:rPr lang="en-US" sz="3200">
                  <a:solidFill>
                    <a:srgbClr val="000000"/>
                  </a:solidFill>
                  <a:latin typeface="Calibri (MS)"/>
                  <a:ea typeface="Calibri (MS)"/>
                  <a:cs typeface="Calibri (MS)"/>
                  <a:sym typeface="Calibri (MS)"/>
                </a:rPr>
                <a:t>Repositorio local: Se encuentra en el equipo del desarrollador.</a:t>
              </a:r>
            </a:p>
            <a:p>
              <a:pPr algn="l" marL="690881" indent="-345440" lvl="1">
                <a:lnSpc>
                  <a:spcPts val="4416"/>
                </a:lnSpc>
                <a:buFont typeface="Arial"/>
                <a:buChar char="•"/>
              </a:pPr>
              <a:r>
                <a:rPr lang="en-US" sz="3200">
                  <a:solidFill>
                    <a:srgbClr val="000000"/>
                  </a:solidFill>
                  <a:latin typeface="Calibri (MS)"/>
                  <a:ea typeface="Calibri (MS)"/>
                  <a:cs typeface="Calibri (MS)"/>
                  <a:sym typeface="Calibri (MS)"/>
                </a:rPr>
                <a:t>Repositorio remoto: Está alojado en servicios en línea como GitHub, GitLab o Bitbucket.</a:t>
              </a:r>
            </a:p>
            <a:p>
              <a:pPr algn="l">
                <a:lnSpc>
                  <a:spcPts val="4416"/>
                </a:lnSpc>
              </a:pPr>
              <a:r>
                <a:rPr lang="en-US" sz="3200">
                  <a:solidFill>
                    <a:srgbClr val="000000"/>
                  </a:solidFill>
                  <a:latin typeface="Calibri (MS)"/>
                  <a:ea typeface="Calibri (MS)"/>
                  <a:cs typeface="Calibri (MS)"/>
                  <a:sym typeface="Calibri (MS)"/>
                </a:rPr>
                <a:t>La conexión entre ambos permite trabajar de forma flexible y colaborativa.</a:t>
              </a:r>
            </a:p>
            <a:p>
              <a:pPr algn="l">
                <a:lnSpc>
                  <a:spcPts val="4416"/>
                </a:lnSpc>
              </a:pPr>
            </a:p>
          </p:txBody>
        </p:sp>
      </p:gr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374826" y="921775"/>
            <a:ext cx="15288900" cy="1098984"/>
            <a:chOff x="0" y="0"/>
            <a:chExt cx="20385200" cy="1465312"/>
          </a:xfrm>
        </p:grpSpPr>
        <p:sp>
          <p:nvSpPr>
            <p:cNvPr name="Freeform 3" id="3"/>
            <p:cNvSpPr/>
            <p:nvPr/>
          </p:nvSpPr>
          <p:spPr>
            <a:xfrm flipH="false" flipV="false" rot="0">
              <a:off x="0" y="0"/>
              <a:ext cx="20385201" cy="1465312"/>
            </a:xfrm>
            <a:custGeom>
              <a:avLst/>
              <a:gdLst/>
              <a:ahLst/>
              <a:cxnLst/>
              <a:rect r="r" b="b" t="t" l="l"/>
              <a:pathLst>
                <a:path h="1465312" w="20385201">
                  <a:moveTo>
                    <a:pt x="0" y="0"/>
                  </a:moveTo>
                  <a:lnTo>
                    <a:pt x="20385201" y="0"/>
                  </a:lnTo>
                  <a:lnTo>
                    <a:pt x="20385201" y="1465312"/>
                  </a:lnTo>
                  <a:lnTo>
                    <a:pt x="0" y="1465312"/>
                  </a:lnTo>
                  <a:close/>
                </a:path>
              </a:pathLst>
            </a:custGeom>
            <a:solidFill>
              <a:srgbClr val="000000">
                <a:alpha val="0"/>
              </a:srgbClr>
            </a:solidFill>
          </p:spPr>
        </p:sp>
        <p:sp>
          <p:nvSpPr>
            <p:cNvPr name="TextBox 4" id="4"/>
            <p:cNvSpPr txBox="true"/>
            <p:nvPr/>
          </p:nvSpPr>
          <p:spPr>
            <a:xfrm>
              <a:off x="0" y="-209550"/>
              <a:ext cx="20385200" cy="1674862"/>
            </a:xfrm>
            <a:prstGeom prst="rect">
              <a:avLst/>
            </a:prstGeom>
          </p:spPr>
          <p:txBody>
            <a:bodyPr anchor="t" rtlCol="false" tIns="0" lIns="0" bIns="0" rIns="0"/>
            <a:lstStyle/>
            <a:p>
              <a:pPr algn="just">
                <a:lnSpc>
                  <a:spcPts val="8267"/>
                </a:lnSpc>
              </a:pPr>
              <a:r>
                <a:rPr lang="en-US" sz="6098">
                  <a:solidFill>
                    <a:srgbClr val="131416"/>
                  </a:solidFill>
                  <a:latin typeface="Impact"/>
                  <a:ea typeface="Impact"/>
                  <a:cs typeface="Impact"/>
                  <a:sym typeface="Impact"/>
                </a:rPr>
                <a:t>C</a:t>
              </a:r>
              <a:r>
                <a:rPr lang="en-US" sz="6098">
                  <a:solidFill>
                    <a:srgbClr val="131416"/>
                  </a:solidFill>
                  <a:latin typeface="Impact"/>
                  <a:ea typeface="Impact"/>
                  <a:cs typeface="Impact"/>
                  <a:sym typeface="Impact"/>
                </a:rPr>
                <a:t>iclo de trabajo básico en Git</a:t>
              </a:r>
            </a:p>
          </p:txBody>
        </p:sp>
      </p:grpSp>
      <p:grpSp>
        <p:nvGrpSpPr>
          <p:cNvPr name="Group 5" id="5"/>
          <p:cNvGrpSpPr/>
          <p:nvPr/>
        </p:nvGrpSpPr>
        <p:grpSpPr>
          <a:xfrm rot="0">
            <a:off x="1543500" y="3167622"/>
            <a:ext cx="15201000" cy="3951756"/>
            <a:chOff x="0" y="0"/>
            <a:chExt cx="20268000" cy="5269008"/>
          </a:xfrm>
        </p:grpSpPr>
        <p:sp>
          <p:nvSpPr>
            <p:cNvPr name="Freeform 6" id="6"/>
            <p:cNvSpPr/>
            <p:nvPr/>
          </p:nvSpPr>
          <p:spPr>
            <a:xfrm flipH="false" flipV="false" rot="0">
              <a:off x="0" y="0"/>
              <a:ext cx="20268000" cy="5269007"/>
            </a:xfrm>
            <a:custGeom>
              <a:avLst/>
              <a:gdLst/>
              <a:ahLst/>
              <a:cxnLst/>
              <a:rect r="r" b="b" t="t" l="l"/>
              <a:pathLst>
                <a:path h="5269007" w="20268000">
                  <a:moveTo>
                    <a:pt x="0" y="0"/>
                  </a:moveTo>
                  <a:lnTo>
                    <a:pt x="20268000" y="0"/>
                  </a:lnTo>
                  <a:lnTo>
                    <a:pt x="20268000" y="5269007"/>
                  </a:lnTo>
                  <a:lnTo>
                    <a:pt x="0" y="5269007"/>
                  </a:lnTo>
                  <a:close/>
                </a:path>
              </a:pathLst>
            </a:custGeom>
            <a:solidFill>
              <a:srgbClr val="000000">
                <a:alpha val="0"/>
              </a:srgbClr>
            </a:solidFill>
          </p:spPr>
        </p:sp>
        <p:sp>
          <p:nvSpPr>
            <p:cNvPr name="TextBox 7" id="7"/>
            <p:cNvSpPr txBox="true"/>
            <p:nvPr/>
          </p:nvSpPr>
          <p:spPr>
            <a:xfrm>
              <a:off x="0" y="-114300"/>
              <a:ext cx="20268000" cy="5383308"/>
            </a:xfrm>
            <a:prstGeom prst="rect">
              <a:avLst/>
            </a:prstGeom>
          </p:spPr>
          <p:txBody>
            <a:bodyPr anchor="t" rtlCol="false" tIns="0" lIns="0" bIns="0" rIns="0"/>
            <a:lstStyle/>
            <a:p>
              <a:pPr algn="l">
                <a:lnSpc>
                  <a:spcPts val="4416"/>
                </a:lnSpc>
              </a:pPr>
              <a:r>
                <a:rPr lang="en-US" sz="3200">
                  <a:solidFill>
                    <a:srgbClr val="000000"/>
                  </a:solidFill>
                  <a:latin typeface="Calibri (MS)"/>
                  <a:ea typeface="Calibri (MS)"/>
                  <a:cs typeface="Calibri (MS)"/>
                  <a:sym typeface="Calibri (MS)"/>
                </a:rPr>
                <a:t>Git</a:t>
              </a:r>
              <a:r>
                <a:rPr lang="en-US" sz="3200">
                  <a:solidFill>
                    <a:srgbClr val="000000"/>
                  </a:solidFill>
                  <a:latin typeface="Calibri (MS)"/>
                  <a:ea typeface="Calibri (MS)"/>
                  <a:cs typeface="Calibri (MS)"/>
                  <a:sym typeface="Calibri (MS)"/>
                </a:rPr>
                <a:t> organiza el trabajo en varias etapas:</a:t>
              </a:r>
            </a:p>
            <a:p>
              <a:pPr algn="l" marL="690881" indent="-345440" lvl="1">
                <a:lnSpc>
                  <a:spcPts val="4416"/>
                </a:lnSpc>
                <a:buFont typeface="Arial"/>
                <a:buChar char="•"/>
              </a:pPr>
              <a:r>
                <a:rPr lang="en-US" sz="3200">
                  <a:solidFill>
                    <a:srgbClr val="000000"/>
                  </a:solidFill>
                  <a:latin typeface="Calibri (MS)"/>
                  <a:ea typeface="Calibri (MS)"/>
                  <a:cs typeface="Calibri (MS)"/>
                  <a:sym typeface="Calibri (MS)"/>
                </a:rPr>
                <a:t>Se crean o modifican archivos dentro del proyecto.</a:t>
              </a:r>
            </a:p>
            <a:p>
              <a:pPr algn="l" marL="690881" indent="-345440" lvl="1">
                <a:lnSpc>
                  <a:spcPts val="4416"/>
                </a:lnSpc>
                <a:buFont typeface="Arial"/>
                <a:buChar char="•"/>
              </a:pPr>
              <a:r>
                <a:rPr lang="en-US" sz="3200">
                  <a:solidFill>
                    <a:srgbClr val="000000"/>
                  </a:solidFill>
                  <a:latin typeface="Calibri (MS)"/>
                  <a:ea typeface="Calibri (MS)"/>
                  <a:cs typeface="Calibri (MS)"/>
                  <a:sym typeface="Calibri (MS)"/>
                </a:rPr>
                <a:t>Se seleccionan los archivos que se desean guardar mediante una acción llamada “preparación”.</a:t>
              </a:r>
            </a:p>
            <a:p>
              <a:pPr algn="l" marL="690881" indent="-345440" lvl="1">
                <a:lnSpc>
                  <a:spcPts val="4416"/>
                </a:lnSpc>
                <a:buFont typeface="Arial"/>
                <a:buChar char="•"/>
              </a:pPr>
              <a:r>
                <a:rPr lang="en-US" sz="3200">
                  <a:solidFill>
                    <a:srgbClr val="000000"/>
                  </a:solidFill>
                  <a:latin typeface="Calibri (MS)"/>
                  <a:ea typeface="Calibri (MS)"/>
                  <a:cs typeface="Calibri (MS)"/>
                  <a:sym typeface="Calibri (MS)"/>
                </a:rPr>
                <a:t>Finalmente, se registra el cambio en el historial con un mensaje descriptivo.</a:t>
              </a:r>
            </a:p>
            <a:p>
              <a:pPr algn="l">
                <a:lnSpc>
                  <a:spcPts val="4416"/>
                </a:lnSpc>
              </a:pPr>
              <a:r>
                <a:rPr lang="en-US" sz="3200">
                  <a:solidFill>
                    <a:srgbClr val="000000"/>
                  </a:solidFill>
                  <a:latin typeface="Calibri (MS)"/>
                  <a:ea typeface="Calibri (MS)"/>
                  <a:cs typeface="Calibri (MS)"/>
                  <a:sym typeface="Calibri (MS)"/>
                </a:rPr>
                <a:t>Este ciclo ayuda a mantener un control detallado sobre cada avance realizado.</a:t>
              </a:r>
            </a:p>
            <a:p>
              <a:pPr algn="l">
                <a:lnSpc>
                  <a:spcPts val="4416"/>
                </a:lnSpc>
              </a:pPr>
            </a:p>
          </p:txBody>
        </p:sp>
      </p:grpSp>
    </p:spTree>
  </p:cSld>
  <p:clrMapOvr>
    <a:masterClrMapping/>
  </p:clrMapOvr>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374826" y="921775"/>
            <a:ext cx="15288900" cy="1098984"/>
            <a:chOff x="0" y="0"/>
            <a:chExt cx="20385200" cy="1465312"/>
          </a:xfrm>
        </p:grpSpPr>
        <p:sp>
          <p:nvSpPr>
            <p:cNvPr name="Freeform 3" id="3"/>
            <p:cNvSpPr/>
            <p:nvPr/>
          </p:nvSpPr>
          <p:spPr>
            <a:xfrm flipH="false" flipV="false" rot="0">
              <a:off x="0" y="0"/>
              <a:ext cx="20385201" cy="1465312"/>
            </a:xfrm>
            <a:custGeom>
              <a:avLst/>
              <a:gdLst/>
              <a:ahLst/>
              <a:cxnLst/>
              <a:rect r="r" b="b" t="t" l="l"/>
              <a:pathLst>
                <a:path h="1465312" w="20385201">
                  <a:moveTo>
                    <a:pt x="0" y="0"/>
                  </a:moveTo>
                  <a:lnTo>
                    <a:pt x="20385201" y="0"/>
                  </a:lnTo>
                  <a:lnTo>
                    <a:pt x="20385201" y="1465312"/>
                  </a:lnTo>
                  <a:lnTo>
                    <a:pt x="0" y="1465312"/>
                  </a:lnTo>
                  <a:close/>
                </a:path>
              </a:pathLst>
            </a:custGeom>
            <a:solidFill>
              <a:srgbClr val="000000">
                <a:alpha val="0"/>
              </a:srgbClr>
            </a:solidFill>
          </p:spPr>
        </p:sp>
        <p:sp>
          <p:nvSpPr>
            <p:cNvPr name="TextBox 4" id="4"/>
            <p:cNvSpPr txBox="true"/>
            <p:nvPr/>
          </p:nvSpPr>
          <p:spPr>
            <a:xfrm>
              <a:off x="0" y="-209550"/>
              <a:ext cx="20385200" cy="1674862"/>
            </a:xfrm>
            <a:prstGeom prst="rect">
              <a:avLst/>
            </a:prstGeom>
          </p:spPr>
          <p:txBody>
            <a:bodyPr anchor="t" rtlCol="false" tIns="0" lIns="0" bIns="0" rIns="0"/>
            <a:lstStyle/>
            <a:p>
              <a:pPr algn="ctr">
                <a:lnSpc>
                  <a:spcPts val="8267"/>
                </a:lnSpc>
              </a:pPr>
              <a:r>
                <a:rPr lang="en-US" sz="6098">
                  <a:solidFill>
                    <a:srgbClr val="131416"/>
                  </a:solidFill>
                  <a:latin typeface="Impact"/>
                  <a:ea typeface="Impact"/>
                  <a:cs typeface="Impact"/>
                  <a:sym typeface="Impact"/>
                </a:rPr>
                <a:t>Estad</a:t>
              </a:r>
              <a:r>
                <a:rPr lang="en-US" sz="6098">
                  <a:solidFill>
                    <a:srgbClr val="131416"/>
                  </a:solidFill>
                  <a:latin typeface="Impact"/>
                  <a:ea typeface="Impact"/>
                  <a:cs typeface="Impact"/>
                  <a:sym typeface="Impact"/>
                </a:rPr>
                <a:t>os de los archivos</a:t>
              </a:r>
            </a:p>
          </p:txBody>
        </p:sp>
      </p:grpSp>
      <p:grpSp>
        <p:nvGrpSpPr>
          <p:cNvPr name="Group 5" id="5"/>
          <p:cNvGrpSpPr/>
          <p:nvPr/>
        </p:nvGrpSpPr>
        <p:grpSpPr>
          <a:xfrm rot="0">
            <a:off x="1543500" y="2464625"/>
            <a:ext cx="15201000" cy="3951756"/>
            <a:chOff x="0" y="0"/>
            <a:chExt cx="20268000" cy="5269008"/>
          </a:xfrm>
        </p:grpSpPr>
        <p:sp>
          <p:nvSpPr>
            <p:cNvPr name="Freeform 6" id="6"/>
            <p:cNvSpPr/>
            <p:nvPr/>
          </p:nvSpPr>
          <p:spPr>
            <a:xfrm flipH="false" flipV="false" rot="0">
              <a:off x="0" y="0"/>
              <a:ext cx="20268000" cy="5269008"/>
            </a:xfrm>
            <a:custGeom>
              <a:avLst/>
              <a:gdLst/>
              <a:ahLst/>
              <a:cxnLst/>
              <a:rect r="r" b="b" t="t" l="l"/>
              <a:pathLst>
                <a:path h="5269008" w="20268000">
                  <a:moveTo>
                    <a:pt x="0" y="0"/>
                  </a:moveTo>
                  <a:lnTo>
                    <a:pt x="20268000" y="0"/>
                  </a:lnTo>
                  <a:lnTo>
                    <a:pt x="20268000" y="5269008"/>
                  </a:lnTo>
                  <a:lnTo>
                    <a:pt x="0" y="5269008"/>
                  </a:lnTo>
                  <a:close/>
                </a:path>
              </a:pathLst>
            </a:custGeom>
            <a:solidFill>
              <a:srgbClr val="000000">
                <a:alpha val="0"/>
              </a:srgbClr>
            </a:solidFill>
          </p:spPr>
        </p:sp>
        <p:sp>
          <p:nvSpPr>
            <p:cNvPr name="TextBox 7" id="7"/>
            <p:cNvSpPr txBox="true"/>
            <p:nvPr/>
          </p:nvSpPr>
          <p:spPr>
            <a:xfrm>
              <a:off x="0" y="-114300"/>
              <a:ext cx="20268000" cy="5383308"/>
            </a:xfrm>
            <a:prstGeom prst="rect">
              <a:avLst/>
            </a:prstGeom>
          </p:spPr>
          <p:txBody>
            <a:bodyPr anchor="t" rtlCol="false" tIns="0" lIns="0" bIns="0" rIns="0"/>
            <a:lstStyle/>
            <a:p>
              <a:pPr algn="l">
                <a:lnSpc>
                  <a:spcPts val="4416"/>
                </a:lnSpc>
              </a:pPr>
              <a:r>
                <a:rPr lang="en-US" sz="3200">
                  <a:solidFill>
                    <a:srgbClr val="000000"/>
                  </a:solidFill>
                  <a:latin typeface="Calibri (MS)"/>
                  <a:ea typeface="Calibri (MS)"/>
                  <a:cs typeface="Calibri (MS)"/>
                  <a:sym typeface="Calibri (MS)"/>
                </a:rPr>
                <a:t>En Git, los archivos pueden tener diferentes estados:</a:t>
              </a:r>
            </a:p>
            <a:p>
              <a:pPr algn="l" marL="690881" indent="-345440" lvl="1">
                <a:lnSpc>
                  <a:spcPts val="4416"/>
                </a:lnSpc>
                <a:buFont typeface="Arial"/>
                <a:buChar char="•"/>
              </a:pPr>
              <a:r>
                <a:rPr lang="en-US" sz="3200">
                  <a:solidFill>
                    <a:srgbClr val="000000"/>
                  </a:solidFill>
                  <a:latin typeface="Calibri (MS)"/>
                  <a:ea typeface="Calibri (MS)"/>
                  <a:cs typeface="Calibri (MS)"/>
                  <a:sym typeface="Calibri (MS)"/>
                </a:rPr>
                <a:t>No rastreados: Archivos nuevos que aún no están siendo seguidos por el sistema.</a:t>
              </a:r>
            </a:p>
            <a:p>
              <a:pPr algn="l" marL="690881" indent="-345440" lvl="1">
                <a:lnSpc>
                  <a:spcPts val="4416"/>
                </a:lnSpc>
                <a:buFont typeface="Arial"/>
                <a:buChar char="•"/>
              </a:pPr>
              <a:r>
                <a:rPr lang="en-US" sz="3200">
                  <a:solidFill>
                    <a:srgbClr val="000000"/>
                  </a:solidFill>
                  <a:latin typeface="Calibri (MS)"/>
                  <a:ea typeface="Calibri (MS)"/>
                  <a:cs typeface="Calibri (MS)"/>
                  <a:sym typeface="Calibri (MS)"/>
                </a:rPr>
                <a:t>Preparados (staged): Listos para ser registrados en el historial.</a:t>
              </a:r>
            </a:p>
            <a:p>
              <a:pPr algn="l" marL="690881" indent="-345440" lvl="1">
                <a:lnSpc>
                  <a:spcPts val="4416"/>
                </a:lnSpc>
                <a:buFont typeface="Arial"/>
                <a:buChar char="•"/>
              </a:pPr>
              <a:r>
                <a:rPr lang="en-US" sz="3200">
                  <a:solidFill>
                    <a:srgbClr val="000000"/>
                  </a:solidFill>
                  <a:latin typeface="Calibri (MS)"/>
                  <a:ea typeface="Calibri (MS)"/>
                  <a:cs typeface="Calibri (MS)"/>
                  <a:sym typeface="Calibri (MS)"/>
                </a:rPr>
                <a:t>Confirmados (committed): Guardados de forma permanente en el historial del proyecto.</a:t>
              </a:r>
            </a:p>
            <a:p>
              <a:pPr algn="l">
                <a:lnSpc>
                  <a:spcPts val="4416"/>
                </a:lnSpc>
              </a:pPr>
              <a:r>
                <a:rPr lang="en-US" sz="3200">
                  <a:solidFill>
                    <a:srgbClr val="000000"/>
                  </a:solidFill>
                  <a:latin typeface="Calibri (MS)"/>
                  <a:ea typeface="Calibri (MS)"/>
                  <a:cs typeface="Calibri (MS)"/>
                  <a:sym typeface="Calibri (MS)"/>
                </a:rPr>
                <a:t>Comprender estos estados es esencial para manipular correctamente los cambios.</a:t>
              </a:r>
            </a:p>
            <a:p>
              <a:pPr algn="l">
                <a:lnSpc>
                  <a:spcPts val="4416"/>
                </a:lnSpc>
              </a:pPr>
            </a:p>
          </p:txBody>
        </p:sp>
      </p:gr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374826" y="921775"/>
            <a:ext cx="15288900" cy="1098984"/>
            <a:chOff x="0" y="0"/>
            <a:chExt cx="20385200" cy="1465312"/>
          </a:xfrm>
        </p:grpSpPr>
        <p:sp>
          <p:nvSpPr>
            <p:cNvPr name="Freeform 3" id="3"/>
            <p:cNvSpPr/>
            <p:nvPr/>
          </p:nvSpPr>
          <p:spPr>
            <a:xfrm flipH="false" flipV="false" rot="0">
              <a:off x="0" y="0"/>
              <a:ext cx="20385201" cy="1465312"/>
            </a:xfrm>
            <a:custGeom>
              <a:avLst/>
              <a:gdLst/>
              <a:ahLst/>
              <a:cxnLst/>
              <a:rect r="r" b="b" t="t" l="l"/>
              <a:pathLst>
                <a:path h="1465312" w="20385201">
                  <a:moveTo>
                    <a:pt x="0" y="0"/>
                  </a:moveTo>
                  <a:lnTo>
                    <a:pt x="20385201" y="0"/>
                  </a:lnTo>
                  <a:lnTo>
                    <a:pt x="20385201" y="1465312"/>
                  </a:lnTo>
                  <a:lnTo>
                    <a:pt x="0" y="1465312"/>
                  </a:lnTo>
                  <a:close/>
                </a:path>
              </a:pathLst>
            </a:custGeom>
            <a:solidFill>
              <a:srgbClr val="000000">
                <a:alpha val="0"/>
              </a:srgbClr>
            </a:solidFill>
          </p:spPr>
        </p:sp>
        <p:sp>
          <p:nvSpPr>
            <p:cNvPr name="TextBox 4" id="4"/>
            <p:cNvSpPr txBox="true"/>
            <p:nvPr/>
          </p:nvSpPr>
          <p:spPr>
            <a:xfrm>
              <a:off x="0" y="-209550"/>
              <a:ext cx="20385200" cy="1674862"/>
            </a:xfrm>
            <a:prstGeom prst="rect">
              <a:avLst/>
            </a:prstGeom>
          </p:spPr>
          <p:txBody>
            <a:bodyPr anchor="t" rtlCol="false" tIns="0" lIns="0" bIns="0" rIns="0"/>
            <a:lstStyle/>
            <a:p>
              <a:pPr algn="just">
                <a:lnSpc>
                  <a:spcPts val="8267"/>
                </a:lnSpc>
              </a:pPr>
              <a:r>
                <a:rPr lang="en-US" sz="6098">
                  <a:solidFill>
                    <a:srgbClr val="131416"/>
                  </a:solidFill>
                  <a:latin typeface="Impact"/>
                  <a:ea typeface="Impact"/>
                  <a:cs typeface="Impact"/>
                  <a:sym typeface="Impact"/>
                </a:rPr>
                <a:t>El archivo .gitignore</a:t>
              </a:r>
            </a:p>
          </p:txBody>
        </p:sp>
      </p:grpSp>
      <p:grpSp>
        <p:nvGrpSpPr>
          <p:cNvPr name="Group 5" id="5"/>
          <p:cNvGrpSpPr/>
          <p:nvPr/>
        </p:nvGrpSpPr>
        <p:grpSpPr>
          <a:xfrm rot="0">
            <a:off x="1543500" y="2464625"/>
            <a:ext cx="15201000" cy="2846856"/>
            <a:chOff x="0" y="0"/>
            <a:chExt cx="20268000" cy="3795808"/>
          </a:xfrm>
        </p:grpSpPr>
        <p:sp>
          <p:nvSpPr>
            <p:cNvPr name="Freeform 6" id="6"/>
            <p:cNvSpPr/>
            <p:nvPr/>
          </p:nvSpPr>
          <p:spPr>
            <a:xfrm flipH="false" flipV="false" rot="0">
              <a:off x="0" y="0"/>
              <a:ext cx="20268000" cy="3795808"/>
            </a:xfrm>
            <a:custGeom>
              <a:avLst/>
              <a:gdLst/>
              <a:ahLst/>
              <a:cxnLst/>
              <a:rect r="r" b="b" t="t" l="l"/>
              <a:pathLst>
                <a:path h="3795808" w="20268000">
                  <a:moveTo>
                    <a:pt x="0" y="0"/>
                  </a:moveTo>
                  <a:lnTo>
                    <a:pt x="20268000" y="0"/>
                  </a:lnTo>
                  <a:lnTo>
                    <a:pt x="20268000" y="3795808"/>
                  </a:lnTo>
                  <a:lnTo>
                    <a:pt x="0" y="3795808"/>
                  </a:lnTo>
                  <a:close/>
                </a:path>
              </a:pathLst>
            </a:custGeom>
            <a:solidFill>
              <a:srgbClr val="000000">
                <a:alpha val="0"/>
              </a:srgbClr>
            </a:solidFill>
          </p:spPr>
        </p:sp>
        <p:sp>
          <p:nvSpPr>
            <p:cNvPr name="TextBox 7" id="7"/>
            <p:cNvSpPr txBox="true"/>
            <p:nvPr/>
          </p:nvSpPr>
          <p:spPr>
            <a:xfrm>
              <a:off x="0" y="-114300"/>
              <a:ext cx="20268000" cy="3910108"/>
            </a:xfrm>
            <a:prstGeom prst="rect">
              <a:avLst/>
            </a:prstGeom>
          </p:spPr>
          <p:txBody>
            <a:bodyPr anchor="t" rtlCol="false" tIns="0" lIns="0" bIns="0" rIns="0"/>
            <a:lstStyle/>
            <a:p>
              <a:pPr algn="l">
                <a:lnSpc>
                  <a:spcPts val="4416"/>
                </a:lnSpc>
              </a:pPr>
              <a:r>
                <a:rPr lang="en-US" sz="3200">
                  <a:solidFill>
                    <a:srgbClr val="000000"/>
                  </a:solidFill>
                  <a:latin typeface="Calibri (MS)"/>
                  <a:ea typeface="Calibri (MS)"/>
                  <a:cs typeface="Calibri (MS)"/>
                  <a:sym typeface="Calibri (MS)"/>
                </a:rPr>
                <a:t>En un proyecto pueden generarse archivos que no necesitan ser almacenados ni compartidos, como archivos temporales o carpetas de dependencias. El archivo .gitignore permite especificar qué elementos deben ser ignorados por el control de versiones.</a:t>
              </a:r>
            </a:p>
            <a:p>
              <a:pPr algn="l">
                <a:lnSpc>
                  <a:spcPts val="4416"/>
                </a:lnSpc>
              </a:pPr>
              <a:r>
                <a:rPr lang="en-US" sz="3200">
                  <a:solidFill>
                    <a:srgbClr val="000000"/>
                  </a:solidFill>
                  <a:latin typeface="Calibri (MS)"/>
                  <a:ea typeface="Calibri (MS)"/>
                  <a:cs typeface="Calibri (MS)"/>
                  <a:sym typeface="Calibri (MS)"/>
                </a:rPr>
                <a:t>Esto evita subir información innecesaria o sensible al repositorio.</a:t>
              </a:r>
            </a:p>
            <a:p>
              <a:pPr algn="l">
                <a:lnSpc>
                  <a:spcPts val="4416"/>
                </a:lnSpc>
              </a:pP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43500" y="2464625"/>
            <a:ext cx="15201000" cy="4973032"/>
            <a:chOff x="0" y="0"/>
            <a:chExt cx="20268000" cy="6630710"/>
          </a:xfrm>
        </p:grpSpPr>
        <p:sp>
          <p:nvSpPr>
            <p:cNvPr name="Freeform 3" id="3"/>
            <p:cNvSpPr/>
            <p:nvPr/>
          </p:nvSpPr>
          <p:spPr>
            <a:xfrm flipH="false" flipV="false" rot="0">
              <a:off x="0" y="0"/>
              <a:ext cx="20268000" cy="6630710"/>
            </a:xfrm>
            <a:custGeom>
              <a:avLst/>
              <a:gdLst/>
              <a:ahLst/>
              <a:cxnLst/>
              <a:rect r="r" b="b" t="t" l="l"/>
              <a:pathLst>
                <a:path h="6630710" w="20268000">
                  <a:moveTo>
                    <a:pt x="0" y="0"/>
                  </a:moveTo>
                  <a:lnTo>
                    <a:pt x="20268000" y="0"/>
                  </a:lnTo>
                  <a:lnTo>
                    <a:pt x="20268000" y="6630710"/>
                  </a:lnTo>
                  <a:lnTo>
                    <a:pt x="0" y="6630710"/>
                  </a:lnTo>
                  <a:close/>
                </a:path>
              </a:pathLst>
            </a:custGeom>
            <a:solidFill>
              <a:srgbClr val="000000">
                <a:alpha val="0"/>
              </a:srgbClr>
            </a:solidFill>
          </p:spPr>
        </p:sp>
        <p:sp>
          <p:nvSpPr>
            <p:cNvPr name="TextBox 4" id="4"/>
            <p:cNvSpPr txBox="true"/>
            <p:nvPr/>
          </p:nvSpPr>
          <p:spPr>
            <a:xfrm>
              <a:off x="0" y="-161925"/>
              <a:ext cx="20268000" cy="6792635"/>
            </a:xfrm>
            <a:prstGeom prst="rect">
              <a:avLst/>
            </a:prstGeom>
          </p:spPr>
          <p:txBody>
            <a:bodyPr anchor="t" rtlCol="false" tIns="0" lIns="0" bIns="0" rIns="0"/>
            <a:lstStyle/>
            <a:p>
              <a:pPr algn="l" marL="456692" indent="-228346" lvl="1">
                <a:lnSpc>
                  <a:spcPts val="5519"/>
                </a:lnSpc>
                <a:buFont typeface="Arial"/>
                <a:buChar char="•"/>
              </a:pPr>
              <a:r>
                <a:rPr lang="en-US" sz="3999">
                  <a:solidFill>
                    <a:srgbClr val="000000"/>
                  </a:solidFill>
                  <a:latin typeface="Calibri (MS)"/>
                  <a:ea typeface="Calibri (MS)"/>
                  <a:cs typeface="Calibri (MS)"/>
                  <a:sym typeface="Calibri (MS)"/>
                </a:rPr>
                <a:t>C</a:t>
              </a:r>
              <a:r>
                <a:rPr lang="en-US" sz="3999">
                  <a:solidFill>
                    <a:srgbClr val="000000"/>
                  </a:solidFill>
                  <a:latin typeface="Calibri (MS)"/>
                  <a:ea typeface="Calibri (MS)"/>
                  <a:cs typeface="Calibri (MS)"/>
                  <a:sym typeface="Calibri (MS)"/>
                </a:rPr>
                <a:t>ada vez que se registra un cambio, Git guarda información como:</a:t>
              </a:r>
            </a:p>
            <a:p>
              <a:pPr algn="l" marL="456692" indent="-228346" lvl="1">
                <a:lnSpc>
                  <a:spcPts val="5519"/>
                </a:lnSpc>
                <a:buFont typeface="Arial"/>
                <a:buChar char="•"/>
              </a:pPr>
              <a:r>
                <a:rPr lang="en-US" sz="3999">
                  <a:solidFill>
                    <a:srgbClr val="000000"/>
                  </a:solidFill>
                  <a:latin typeface="Calibri (MS)"/>
                  <a:ea typeface="Calibri (MS)"/>
                  <a:cs typeface="Calibri (MS)"/>
                  <a:sym typeface="Calibri (MS)"/>
                </a:rPr>
                <a:t>El autor del cambio.</a:t>
              </a:r>
            </a:p>
            <a:p>
              <a:pPr algn="l" marL="456692" indent="-228346" lvl="1">
                <a:lnSpc>
                  <a:spcPts val="5519"/>
                </a:lnSpc>
                <a:buFont typeface="Arial"/>
                <a:buChar char="•"/>
              </a:pPr>
              <a:r>
                <a:rPr lang="en-US" sz="3999">
                  <a:solidFill>
                    <a:srgbClr val="000000"/>
                  </a:solidFill>
                  <a:latin typeface="Calibri (MS)"/>
                  <a:ea typeface="Calibri (MS)"/>
                  <a:cs typeface="Calibri (MS)"/>
                  <a:sym typeface="Calibri (MS)"/>
                </a:rPr>
                <a:t>La fecha y hora.</a:t>
              </a:r>
            </a:p>
            <a:p>
              <a:pPr algn="l" marL="457200" indent="-228600" lvl="1">
                <a:lnSpc>
                  <a:spcPts val="5520"/>
                </a:lnSpc>
                <a:buFont typeface="Arial"/>
                <a:buChar char="•"/>
              </a:pPr>
              <a:r>
                <a:rPr lang="en-US" sz="4000">
                  <a:solidFill>
                    <a:srgbClr val="000000"/>
                  </a:solidFill>
                  <a:latin typeface="Calibri (MS)"/>
                  <a:ea typeface="Calibri (MS)"/>
                  <a:cs typeface="Calibri (MS)"/>
                  <a:sym typeface="Calibri (MS)"/>
                </a:rPr>
                <a:t>Un mensaje que explica el motivo del cambio.</a:t>
              </a:r>
            </a:p>
            <a:p>
              <a:pPr algn="l" marL="457200" indent="-228600" lvl="1">
                <a:lnSpc>
                  <a:spcPts val="5520"/>
                </a:lnSpc>
                <a:buFont typeface="Arial"/>
                <a:buChar char="•"/>
              </a:pPr>
              <a:r>
                <a:rPr lang="en-US" sz="4000">
                  <a:solidFill>
                    <a:srgbClr val="000000"/>
                  </a:solidFill>
                  <a:latin typeface="Calibri (MS)"/>
                  <a:ea typeface="Calibri (MS)"/>
                  <a:cs typeface="Calibri (MS)"/>
                  <a:sym typeface="Calibri (MS)"/>
                </a:rPr>
                <a:t>Este historial es muy valioso, ya que permite revisar qué se hizo, cuándo y por qué. Es como un diario de desarrollo.</a:t>
              </a:r>
            </a:p>
            <a:p>
              <a:pPr algn="l">
                <a:lnSpc>
                  <a:spcPts val="5519"/>
                </a:lnSpc>
              </a:pPr>
            </a:p>
          </p:txBody>
        </p:sp>
      </p:grpSp>
      <p:grpSp>
        <p:nvGrpSpPr>
          <p:cNvPr name="Group 5" id="5"/>
          <p:cNvGrpSpPr/>
          <p:nvPr/>
        </p:nvGrpSpPr>
        <p:grpSpPr>
          <a:xfrm rot="0">
            <a:off x="1374826" y="921775"/>
            <a:ext cx="15288900" cy="1098984"/>
            <a:chOff x="0" y="0"/>
            <a:chExt cx="20385200" cy="1465312"/>
          </a:xfrm>
        </p:grpSpPr>
        <p:sp>
          <p:nvSpPr>
            <p:cNvPr name="Freeform 6" id="6"/>
            <p:cNvSpPr/>
            <p:nvPr/>
          </p:nvSpPr>
          <p:spPr>
            <a:xfrm flipH="false" flipV="false" rot="0">
              <a:off x="0" y="0"/>
              <a:ext cx="20385201" cy="1465312"/>
            </a:xfrm>
            <a:custGeom>
              <a:avLst/>
              <a:gdLst/>
              <a:ahLst/>
              <a:cxnLst/>
              <a:rect r="r" b="b" t="t" l="l"/>
              <a:pathLst>
                <a:path h="1465312" w="20385201">
                  <a:moveTo>
                    <a:pt x="0" y="0"/>
                  </a:moveTo>
                  <a:lnTo>
                    <a:pt x="20385201" y="0"/>
                  </a:lnTo>
                  <a:lnTo>
                    <a:pt x="20385201" y="1465312"/>
                  </a:lnTo>
                  <a:lnTo>
                    <a:pt x="0" y="1465312"/>
                  </a:lnTo>
                  <a:close/>
                </a:path>
              </a:pathLst>
            </a:custGeom>
            <a:solidFill>
              <a:srgbClr val="000000">
                <a:alpha val="0"/>
              </a:srgbClr>
            </a:solidFill>
          </p:spPr>
        </p:sp>
        <p:sp>
          <p:nvSpPr>
            <p:cNvPr name="TextBox 7" id="7"/>
            <p:cNvSpPr txBox="true"/>
            <p:nvPr/>
          </p:nvSpPr>
          <p:spPr>
            <a:xfrm>
              <a:off x="0" y="-209550"/>
              <a:ext cx="20385200" cy="1674862"/>
            </a:xfrm>
            <a:prstGeom prst="rect">
              <a:avLst/>
            </a:prstGeom>
          </p:spPr>
          <p:txBody>
            <a:bodyPr anchor="t" rtlCol="false" tIns="0" lIns="0" bIns="0" rIns="0"/>
            <a:lstStyle/>
            <a:p>
              <a:pPr algn="just">
                <a:lnSpc>
                  <a:spcPts val="8267"/>
                </a:lnSpc>
              </a:pPr>
              <a:r>
                <a:rPr lang="en-US" sz="6098">
                  <a:solidFill>
                    <a:srgbClr val="131416"/>
                  </a:solidFill>
                  <a:latin typeface="Impact"/>
                  <a:ea typeface="Impact"/>
                  <a:cs typeface="Impact"/>
                  <a:sym typeface="Impact"/>
                </a:rPr>
                <a:t>¿Qué es el his</a:t>
              </a:r>
              <a:r>
                <a:rPr lang="en-US" sz="6098">
                  <a:solidFill>
                    <a:srgbClr val="131416"/>
                  </a:solidFill>
                  <a:latin typeface="Impact"/>
                  <a:ea typeface="Impact"/>
                  <a:cs typeface="Impact"/>
                  <a:sym typeface="Impact"/>
                </a:rPr>
                <a:t>torial de cambios?</a:t>
              </a:r>
            </a:p>
          </p:txBody>
        </p:sp>
      </p:grpSp>
      <p:sp>
        <p:nvSpPr>
          <p:cNvPr name="Freeform 8" id="8"/>
          <p:cNvSpPr/>
          <p:nvPr/>
        </p:nvSpPr>
        <p:spPr>
          <a:xfrm flipH="false" flipV="false" rot="0">
            <a:off x="7503323" y="6859318"/>
            <a:ext cx="3031907" cy="3038021"/>
          </a:xfrm>
          <a:custGeom>
            <a:avLst/>
            <a:gdLst/>
            <a:ahLst/>
            <a:cxnLst/>
            <a:rect r="r" b="b" t="t" l="l"/>
            <a:pathLst>
              <a:path h="3038021" w="3031907">
                <a:moveTo>
                  <a:pt x="0" y="0"/>
                </a:moveTo>
                <a:lnTo>
                  <a:pt x="3031906" y="0"/>
                </a:lnTo>
                <a:lnTo>
                  <a:pt x="3031906" y="3038021"/>
                </a:lnTo>
                <a:lnTo>
                  <a:pt x="0" y="3038021"/>
                </a:lnTo>
                <a:lnTo>
                  <a:pt x="0" y="0"/>
                </a:lnTo>
                <a:close/>
              </a:path>
            </a:pathLst>
          </a:custGeom>
          <a:blipFill>
            <a:blip r:embed="rId3"/>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74826" y="921775"/>
            <a:ext cx="15288900" cy="1098984"/>
            <a:chOff x="0" y="0"/>
            <a:chExt cx="20385200" cy="1465312"/>
          </a:xfrm>
        </p:grpSpPr>
        <p:sp>
          <p:nvSpPr>
            <p:cNvPr name="Freeform 3" id="3"/>
            <p:cNvSpPr/>
            <p:nvPr/>
          </p:nvSpPr>
          <p:spPr>
            <a:xfrm flipH="false" flipV="false" rot="0">
              <a:off x="0" y="0"/>
              <a:ext cx="20385201" cy="1465312"/>
            </a:xfrm>
            <a:custGeom>
              <a:avLst/>
              <a:gdLst/>
              <a:ahLst/>
              <a:cxnLst/>
              <a:rect r="r" b="b" t="t" l="l"/>
              <a:pathLst>
                <a:path h="1465312" w="20385201">
                  <a:moveTo>
                    <a:pt x="0" y="0"/>
                  </a:moveTo>
                  <a:lnTo>
                    <a:pt x="20385201" y="0"/>
                  </a:lnTo>
                  <a:lnTo>
                    <a:pt x="20385201" y="1465312"/>
                  </a:lnTo>
                  <a:lnTo>
                    <a:pt x="0" y="1465312"/>
                  </a:lnTo>
                  <a:close/>
                </a:path>
              </a:pathLst>
            </a:custGeom>
            <a:solidFill>
              <a:srgbClr val="000000">
                <a:alpha val="0"/>
              </a:srgbClr>
            </a:solidFill>
          </p:spPr>
        </p:sp>
        <p:sp>
          <p:nvSpPr>
            <p:cNvPr name="TextBox 4" id="4"/>
            <p:cNvSpPr txBox="true"/>
            <p:nvPr/>
          </p:nvSpPr>
          <p:spPr>
            <a:xfrm>
              <a:off x="0" y="-209550"/>
              <a:ext cx="20385200" cy="1674862"/>
            </a:xfrm>
            <a:prstGeom prst="rect">
              <a:avLst/>
            </a:prstGeom>
          </p:spPr>
          <p:txBody>
            <a:bodyPr anchor="t" rtlCol="false" tIns="0" lIns="0" bIns="0" rIns="0"/>
            <a:lstStyle/>
            <a:p>
              <a:pPr algn="just">
                <a:lnSpc>
                  <a:spcPts val="8267"/>
                </a:lnSpc>
              </a:pPr>
              <a:r>
                <a:rPr lang="en-US" sz="6098">
                  <a:solidFill>
                    <a:srgbClr val="131416"/>
                  </a:solidFill>
                  <a:latin typeface="Impact"/>
                  <a:ea typeface="Impact"/>
                  <a:cs typeface="Impact"/>
                  <a:sym typeface="Impact"/>
                </a:rPr>
                <a:t>Rev</a:t>
              </a:r>
              <a:r>
                <a:rPr lang="en-US" sz="6098">
                  <a:solidFill>
                    <a:srgbClr val="131416"/>
                  </a:solidFill>
                  <a:latin typeface="Impact"/>
                  <a:ea typeface="Impact"/>
                  <a:cs typeface="Impact"/>
                  <a:sym typeface="Impact"/>
                </a:rPr>
                <a:t>ertir cambios</a:t>
              </a:r>
            </a:p>
          </p:txBody>
        </p:sp>
      </p:grpSp>
      <p:sp>
        <p:nvSpPr>
          <p:cNvPr name="Freeform 5" id="5"/>
          <p:cNvSpPr/>
          <p:nvPr/>
        </p:nvSpPr>
        <p:spPr>
          <a:xfrm flipH="false" flipV="false" rot="0">
            <a:off x="10319250" y="2484775"/>
            <a:ext cx="6457950" cy="6457950"/>
          </a:xfrm>
          <a:custGeom>
            <a:avLst/>
            <a:gdLst/>
            <a:ahLst/>
            <a:cxnLst/>
            <a:rect r="r" b="b" t="t" l="l"/>
            <a:pathLst>
              <a:path h="6457950" w="6457950">
                <a:moveTo>
                  <a:pt x="0" y="0"/>
                </a:moveTo>
                <a:lnTo>
                  <a:pt x="6457950" y="0"/>
                </a:lnTo>
                <a:lnTo>
                  <a:pt x="6457950" y="6457950"/>
                </a:lnTo>
                <a:lnTo>
                  <a:pt x="0" y="6457950"/>
                </a:lnTo>
                <a:lnTo>
                  <a:pt x="0" y="0"/>
                </a:lnTo>
                <a:close/>
              </a:path>
            </a:pathLst>
          </a:custGeom>
          <a:blipFill>
            <a:blip r:embed="rId3"/>
            <a:stretch>
              <a:fillRect l="0" t="0" r="0" b="0"/>
            </a:stretch>
          </a:blipFill>
        </p:spPr>
      </p:sp>
      <p:grpSp>
        <p:nvGrpSpPr>
          <p:cNvPr name="Group 6" id="6"/>
          <p:cNvGrpSpPr/>
          <p:nvPr/>
        </p:nvGrpSpPr>
        <p:grpSpPr>
          <a:xfrm rot="0">
            <a:off x="1604400" y="3476200"/>
            <a:ext cx="7911900" cy="4325100"/>
            <a:chOff x="0" y="0"/>
            <a:chExt cx="10549200" cy="5766800"/>
          </a:xfrm>
        </p:grpSpPr>
        <p:sp>
          <p:nvSpPr>
            <p:cNvPr name="Freeform 7" id="7"/>
            <p:cNvSpPr/>
            <p:nvPr/>
          </p:nvSpPr>
          <p:spPr>
            <a:xfrm flipH="false" flipV="false" rot="0">
              <a:off x="0" y="0"/>
              <a:ext cx="10549200" cy="5766800"/>
            </a:xfrm>
            <a:custGeom>
              <a:avLst/>
              <a:gdLst/>
              <a:ahLst/>
              <a:cxnLst/>
              <a:rect r="r" b="b" t="t" l="l"/>
              <a:pathLst>
                <a:path h="5766800" w="10549200">
                  <a:moveTo>
                    <a:pt x="0" y="0"/>
                  </a:moveTo>
                  <a:lnTo>
                    <a:pt x="10549200" y="0"/>
                  </a:lnTo>
                  <a:lnTo>
                    <a:pt x="10549200" y="5766800"/>
                  </a:lnTo>
                  <a:lnTo>
                    <a:pt x="0" y="5766800"/>
                  </a:lnTo>
                  <a:close/>
                </a:path>
              </a:pathLst>
            </a:custGeom>
            <a:solidFill>
              <a:srgbClr val="000000">
                <a:alpha val="0"/>
              </a:srgbClr>
            </a:solidFill>
          </p:spPr>
        </p:sp>
        <p:sp>
          <p:nvSpPr>
            <p:cNvPr name="TextBox 8" id="8"/>
            <p:cNvSpPr txBox="true"/>
            <p:nvPr/>
          </p:nvSpPr>
          <p:spPr>
            <a:xfrm>
              <a:off x="0" y="-57150"/>
              <a:ext cx="10549200" cy="5823950"/>
            </a:xfrm>
            <a:prstGeom prst="rect">
              <a:avLst/>
            </a:prstGeom>
          </p:spPr>
          <p:txBody>
            <a:bodyPr anchor="t" rtlCol="false" tIns="0" lIns="0" bIns="0" rIns="0"/>
            <a:lstStyle/>
            <a:p>
              <a:pPr algn="just">
                <a:lnSpc>
                  <a:spcPts val="3840"/>
                </a:lnSpc>
              </a:pPr>
              <a:r>
                <a:rPr lang="en-US" sz="3200">
                  <a:solidFill>
                    <a:srgbClr val="000000"/>
                  </a:solidFill>
                  <a:latin typeface="Calibri (MS)"/>
                  <a:ea typeface="Calibri (MS)"/>
                  <a:cs typeface="Calibri (MS)"/>
                  <a:sym typeface="Calibri (MS)"/>
                </a:rPr>
                <a:t>En cualq</a:t>
              </a:r>
              <a:r>
                <a:rPr lang="en-US" sz="3200">
                  <a:solidFill>
                    <a:srgbClr val="000000"/>
                  </a:solidFill>
                  <a:latin typeface="Calibri (MS)"/>
                  <a:ea typeface="Calibri (MS)"/>
                  <a:cs typeface="Calibri (MS)"/>
                  <a:sym typeface="Calibri (MS)"/>
                </a:rPr>
                <a:t>uier mome</a:t>
              </a:r>
              <a:r>
                <a:rPr lang="en-US" sz="3200">
                  <a:solidFill>
                    <a:srgbClr val="000000"/>
                  </a:solidFill>
                  <a:latin typeface="Calibri (MS)"/>
                  <a:ea typeface="Calibri (MS)"/>
                  <a:cs typeface="Calibri (MS)"/>
                  <a:sym typeface="Calibri (MS)"/>
                </a:rPr>
                <a:t>nto, es posible volver atrás si algo sale mal. Git permite deshacer cambios recientes o incluso recuperar versiones anteriores del proyecto. Esto da mucha seguridad al programar, ya que se puede experimentar sin miedo a perder el progreso.</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74826" y="921775"/>
            <a:ext cx="15288900" cy="1098984"/>
            <a:chOff x="0" y="0"/>
            <a:chExt cx="20385200" cy="1465312"/>
          </a:xfrm>
        </p:grpSpPr>
        <p:sp>
          <p:nvSpPr>
            <p:cNvPr name="Freeform 3" id="3"/>
            <p:cNvSpPr/>
            <p:nvPr/>
          </p:nvSpPr>
          <p:spPr>
            <a:xfrm flipH="false" flipV="false" rot="0">
              <a:off x="0" y="0"/>
              <a:ext cx="20385201" cy="1465312"/>
            </a:xfrm>
            <a:custGeom>
              <a:avLst/>
              <a:gdLst/>
              <a:ahLst/>
              <a:cxnLst/>
              <a:rect r="r" b="b" t="t" l="l"/>
              <a:pathLst>
                <a:path h="1465312" w="20385201">
                  <a:moveTo>
                    <a:pt x="0" y="0"/>
                  </a:moveTo>
                  <a:lnTo>
                    <a:pt x="20385201" y="0"/>
                  </a:lnTo>
                  <a:lnTo>
                    <a:pt x="20385201" y="1465312"/>
                  </a:lnTo>
                  <a:lnTo>
                    <a:pt x="0" y="1465312"/>
                  </a:lnTo>
                  <a:close/>
                </a:path>
              </a:pathLst>
            </a:custGeom>
            <a:solidFill>
              <a:srgbClr val="000000">
                <a:alpha val="0"/>
              </a:srgbClr>
            </a:solidFill>
          </p:spPr>
        </p:sp>
        <p:sp>
          <p:nvSpPr>
            <p:cNvPr name="TextBox 4" id="4"/>
            <p:cNvSpPr txBox="true"/>
            <p:nvPr/>
          </p:nvSpPr>
          <p:spPr>
            <a:xfrm>
              <a:off x="0" y="-209550"/>
              <a:ext cx="20385200" cy="1674862"/>
            </a:xfrm>
            <a:prstGeom prst="rect">
              <a:avLst/>
            </a:prstGeom>
          </p:spPr>
          <p:txBody>
            <a:bodyPr anchor="t" rtlCol="false" tIns="0" lIns="0" bIns="0" rIns="0"/>
            <a:lstStyle/>
            <a:p>
              <a:pPr algn="just">
                <a:lnSpc>
                  <a:spcPts val="8267"/>
                </a:lnSpc>
              </a:pPr>
              <a:r>
                <a:rPr lang="en-US" sz="6098">
                  <a:solidFill>
                    <a:srgbClr val="131416"/>
                  </a:solidFill>
                  <a:latin typeface="Impact"/>
                  <a:ea typeface="Impact"/>
                  <a:cs typeface="Impact"/>
                  <a:sym typeface="Impact"/>
                </a:rPr>
                <a:t>Us</a:t>
              </a:r>
              <a:r>
                <a:rPr lang="en-US" sz="6098">
                  <a:solidFill>
                    <a:srgbClr val="131416"/>
                  </a:solidFill>
                  <a:latin typeface="Impact"/>
                  <a:ea typeface="Impact"/>
                  <a:cs typeface="Impact"/>
                  <a:sym typeface="Impact"/>
                </a:rPr>
                <a:t>o de ramas (branches)</a:t>
              </a:r>
            </a:p>
          </p:txBody>
        </p:sp>
      </p:grpSp>
      <p:grpSp>
        <p:nvGrpSpPr>
          <p:cNvPr name="Group 5" id="5"/>
          <p:cNvGrpSpPr/>
          <p:nvPr/>
        </p:nvGrpSpPr>
        <p:grpSpPr>
          <a:xfrm rot="0">
            <a:off x="1604400" y="3476200"/>
            <a:ext cx="15059400" cy="2878200"/>
            <a:chOff x="0" y="0"/>
            <a:chExt cx="20079200" cy="3837600"/>
          </a:xfrm>
        </p:grpSpPr>
        <p:sp>
          <p:nvSpPr>
            <p:cNvPr name="Freeform 6" id="6"/>
            <p:cNvSpPr/>
            <p:nvPr/>
          </p:nvSpPr>
          <p:spPr>
            <a:xfrm flipH="false" flipV="false" rot="0">
              <a:off x="0" y="0"/>
              <a:ext cx="20079201" cy="3837600"/>
            </a:xfrm>
            <a:custGeom>
              <a:avLst/>
              <a:gdLst/>
              <a:ahLst/>
              <a:cxnLst/>
              <a:rect r="r" b="b" t="t" l="l"/>
              <a:pathLst>
                <a:path h="3837600" w="20079201">
                  <a:moveTo>
                    <a:pt x="0" y="0"/>
                  </a:moveTo>
                  <a:lnTo>
                    <a:pt x="20079201" y="0"/>
                  </a:lnTo>
                  <a:lnTo>
                    <a:pt x="20079201" y="3837600"/>
                  </a:lnTo>
                  <a:lnTo>
                    <a:pt x="0" y="3837600"/>
                  </a:lnTo>
                  <a:close/>
                </a:path>
              </a:pathLst>
            </a:custGeom>
            <a:solidFill>
              <a:srgbClr val="000000">
                <a:alpha val="0"/>
              </a:srgbClr>
            </a:solidFill>
          </p:spPr>
        </p:sp>
        <p:sp>
          <p:nvSpPr>
            <p:cNvPr name="TextBox 7" id="7"/>
            <p:cNvSpPr txBox="true"/>
            <p:nvPr/>
          </p:nvSpPr>
          <p:spPr>
            <a:xfrm>
              <a:off x="0" y="-76200"/>
              <a:ext cx="20079200" cy="3913800"/>
            </a:xfrm>
            <a:prstGeom prst="rect">
              <a:avLst/>
            </a:prstGeom>
          </p:spPr>
          <p:txBody>
            <a:bodyPr anchor="t" rtlCol="false" tIns="0" lIns="0" bIns="0" rIns="0"/>
            <a:lstStyle/>
            <a:p>
              <a:pPr algn="just">
                <a:lnSpc>
                  <a:spcPts val="4200"/>
                </a:lnSpc>
              </a:pPr>
              <a:r>
                <a:rPr lang="en-US" sz="3500">
                  <a:solidFill>
                    <a:srgbClr val="000000"/>
                  </a:solidFill>
                  <a:latin typeface="Calibri (MS)"/>
                  <a:ea typeface="Calibri (MS)"/>
                  <a:cs typeface="Calibri (MS)"/>
                  <a:sym typeface="Calibri (MS)"/>
                </a:rPr>
                <a:t>Una</a:t>
              </a:r>
              <a:r>
                <a:rPr lang="en-US" sz="3500">
                  <a:solidFill>
                    <a:srgbClr val="000000"/>
                  </a:solidFill>
                  <a:latin typeface="Calibri (MS)"/>
                  <a:ea typeface="Calibri (MS)"/>
                  <a:cs typeface="Calibri (MS)"/>
                  <a:sym typeface="Calibri (MS)"/>
                </a:rPr>
                <a:t> rama es como una línea paralela de trabajo donde se puede desarrollar una nueva funcionalidad sin afectar el resto del proyecto. Esto permite trabajar en diferentes ideas o soluciones de forma independiente. Luego, cuando se haya terminado, se puede unir con la rama principal.</a:t>
              </a:r>
            </a:p>
          </p:txBody>
        </p:sp>
      </p:grpSp>
      <p:sp>
        <p:nvSpPr>
          <p:cNvPr name="Freeform 8" id="8"/>
          <p:cNvSpPr/>
          <p:nvPr/>
        </p:nvSpPr>
        <p:spPr>
          <a:xfrm flipH="false" flipV="false" rot="0">
            <a:off x="5683649" y="6088469"/>
            <a:ext cx="6920702" cy="3546860"/>
          </a:xfrm>
          <a:custGeom>
            <a:avLst/>
            <a:gdLst/>
            <a:ahLst/>
            <a:cxnLst/>
            <a:rect r="r" b="b" t="t" l="l"/>
            <a:pathLst>
              <a:path h="3546860" w="6920702">
                <a:moveTo>
                  <a:pt x="0" y="0"/>
                </a:moveTo>
                <a:lnTo>
                  <a:pt x="6920702" y="0"/>
                </a:lnTo>
                <a:lnTo>
                  <a:pt x="6920702" y="3546860"/>
                </a:lnTo>
                <a:lnTo>
                  <a:pt x="0" y="3546860"/>
                </a:lnTo>
                <a:lnTo>
                  <a:pt x="0" y="0"/>
                </a:lnTo>
                <a:close/>
              </a:path>
            </a:pathLst>
          </a:custGeom>
          <a:blipFill>
            <a:blip r:embed="rId3"/>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374826" y="921775"/>
            <a:ext cx="15288900" cy="1098984"/>
            <a:chOff x="0" y="0"/>
            <a:chExt cx="20385200" cy="1465312"/>
          </a:xfrm>
        </p:grpSpPr>
        <p:sp>
          <p:nvSpPr>
            <p:cNvPr name="Freeform 3" id="3"/>
            <p:cNvSpPr/>
            <p:nvPr/>
          </p:nvSpPr>
          <p:spPr>
            <a:xfrm flipH="false" flipV="false" rot="0">
              <a:off x="0" y="0"/>
              <a:ext cx="20385201" cy="1465312"/>
            </a:xfrm>
            <a:custGeom>
              <a:avLst/>
              <a:gdLst/>
              <a:ahLst/>
              <a:cxnLst/>
              <a:rect r="r" b="b" t="t" l="l"/>
              <a:pathLst>
                <a:path h="1465312" w="20385201">
                  <a:moveTo>
                    <a:pt x="0" y="0"/>
                  </a:moveTo>
                  <a:lnTo>
                    <a:pt x="20385201" y="0"/>
                  </a:lnTo>
                  <a:lnTo>
                    <a:pt x="20385201" y="1465312"/>
                  </a:lnTo>
                  <a:lnTo>
                    <a:pt x="0" y="1465312"/>
                  </a:lnTo>
                  <a:close/>
                </a:path>
              </a:pathLst>
            </a:custGeom>
            <a:solidFill>
              <a:srgbClr val="000000">
                <a:alpha val="0"/>
              </a:srgbClr>
            </a:solidFill>
          </p:spPr>
        </p:sp>
        <p:sp>
          <p:nvSpPr>
            <p:cNvPr name="TextBox 4" id="4"/>
            <p:cNvSpPr txBox="true"/>
            <p:nvPr/>
          </p:nvSpPr>
          <p:spPr>
            <a:xfrm>
              <a:off x="0" y="-209550"/>
              <a:ext cx="20385200" cy="1674862"/>
            </a:xfrm>
            <a:prstGeom prst="rect">
              <a:avLst/>
            </a:prstGeom>
          </p:spPr>
          <p:txBody>
            <a:bodyPr anchor="t" rtlCol="false" tIns="0" lIns="0" bIns="0" rIns="0"/>
            <a:lstStyle/>
            <a:p>
              <a:pPr algn="just">
                <a:lnSpc>
                  <a:spcPts val="8267"/>
                </a:lnSpc>
              </a:pPr>
              <a:r>
                <a:rPr lang="en-US" sz="6098">
                  <a:solidFill>
                    <a:srgbClr val="131416"/>
                  </a:solidFill>
                  <a:latin typeface="Impact"/>
                  <a:ea typeface="Impact"/>
                  <a:cs typeface="Impact"/>
                  <a:sym typeface="Impact"/>
                </a:rPr>
                <a:t>Fu</a:t>
              </a:r>
              <a:r>
                <a:rPr lang="en-US" sz="6098">
                  <a:solidFill>
                    <a:srgbClr val="131416"/>
                  </a:solidFill>
                  <a:latin typeface="Impact"/>
                  <a:ea typeface="Impact"/>
                  <a:cs typeface="Impact"/>
                  <a:sym typeface="Impact"/>
                </a:rPr>
                <a:t>sión de ramas</a:t>
              </a:r>
            </a:p>
          </p:txBody>
        </p:sp>
      </p:grpSp>
      <p:grpSp>
        <p:nvGrpSpPr>
          <p:cNvPr name="Group 5" id="5"/>
          <p:cNvGrpSpPr/>
          <p:nvPr/>
        </p:nvGrpSpPr>
        <p:grpSpPr>
          <a:xfrm rot="0">
            <a:off x="1614300" y="2752650"/>
            <a:ext cx="15059400" cy="5571900"/>
            <a:chOff x="0" y="0"/>
            <a:chExt cx="20079200" cy="7429200"/>
          </a:xfrm>
        </p:grpSpPr>
        <p:sp>
          <p:nvSpPr>
            <p:cNvPr name="Freeform 6" id="6"/>
            <p:cNvSpPr/>
            <p:nvPr/>
          </p:nvSpPr>
          <p:spPr>
            <a:xfrm flipH="false" flipV="false" rot="0">
              <a:off x="0" y="0"/>
              <a:ext cx="20079201" cy="7429200"/>
            </a:xfrm>
            <a:custGeom>
              <a:avLst/>
              <a:gdLst/>
              <a:ahLst/>
              <a:cxnLst/>
              <a:rect r="r" b="b" t="t" l="l"/>
              <a:pathLst>
                <a:path h="7429200" w="20079201">
                  <a:moveTo>
                    <a:pt x="0" y="0"/>
                  </a:moveTo>
                  <a:lnTo>
                    <a:pt x="20079201" y="0"/>
                  </a:lnTo>
                  <a:lnTo>
                    <a:pt x="20079201" y="7429200"/>
                  </a:lnTo>
                  <a:lnTo>
                    <a:pt x="0" y="7429200"/>
                  </a:lnTo>
                  <a:close/>
                </a:path>
              </a:pathLst>
            </a:custGeom>
            <a:solidFill>
              <a:srgbClr val="000000">
                <a:alpha val="0"/>
              </a:srgbClr>
            </a:solidFill>
          </p:spPr>
        </p:sp>
        <p:sp>
          <p:nvSpPr>
            <p:cNvPr name="TextBox 7" id="7"/>
            <p:cNvSpPr txBox="true"/>
            <p:nvPr/>
          </p:nvSpPr>
          <p:spPr>
            <a:xfrm>
              <a:off x="0" y="-76200"/>
              <a:ext cx="20079200" cy="7505400"/>
            </a:xfrm>
            <a:prstGeom prst="rect">
              <a:avLst/>
            </a:prstGeom>
          </p:spPr>
          <p:txBody>
            <a:bodyPr anchor="t" rtlCol="false" tIns="0" lIns="0" bIns="0" rIns="0"/>
            <a:lstStyle/>
            <a:p>
              <a:pPr algn="just" marL="428625" indent="-214312" lvl="1">
                <a:lnSpc>
                  <a:spcPts val="4200"/>
                </a:lnSpc>
                <a:buFont typeface="Arial"/>
                <a:buChar char="•"/>
              </a:pPr>
              <a:r>
                <a:rPr lang="en-US" sz="3500">
                  <a:solidFill>
                    <a:srgbClr val="000000"/>
                  </a:solidFill>
                  <a:latin typeface="Calibri (MS)"/>
                  <a:ea typeface="Calibri (MS)"/>
                  <a:cs typeface="Calibri (MS)"/>
                  <a:sym typeface="Calibri (MS)"/>
                </a:rPr>
                <a:t>A</a:t>
              </a:r>
              <a:r>
                <a:rPr lang="en-US" sz="3500">
                  <a:solidFill>
                    <a:srgbClr val="000000"/>
                  </a:solidFill>
                  <a:latin typeface="Calibri (MS)"/>
                  <a:ea typeface="Calibri (MS)"/>
                  <a:cs typeface="Calibri (MS)"/>
                  <a:sym typeface="Calibri (MS)"/>
                </a:rPr>
                <a:t>l completar una tarea en una rama, s</a:t>
              </a:r>
              <a:r>
                <a:rPr lang="en-US" sz="3500" u="none">
                  <a:solidFill>
                    <a:srgbClr val="000000"/>
                  </a:solidFill>
                  <a:latin typeface="Calibri (MS)"/>
                  <a:ea typeface="Calibri (MS)"/>
                  <a:cs typeface="Calibri (MS)"/>
                  <a:sym typeface="Calibri (MS)"/>
                </a:rPr>
                <a:t>e</a:t>
              </a:r>
              <a:r>
                <a:rPr lang="en-US" sz="3500">
                  <a:solidFill>
                    <a:srgbClr val="000000"/>
                  </a:solidFill>
                  <a:latin typeface="Calibri (MS)"/>
                  <a:ea typeface="Calibri (MS)"/>
                  <a:cs typeface="Calibri (MS)"/>
                  <a:sym typeface="Calibri (MS)"/>
                </a:rPr>
                <a:t> puede integrar de nuevo con la rama principal del proyecto. Esta acción se conoce como "fusión". Git intentará combinar los cambios automáticamente, pero si hay conflictos, el desarrollador debe decidir qué cambios conservar. Este proceso es esencial en proyectos colaborativos.</a:t>
              </a:r>
            </a:p>
          </p:txBody>
        </p:sp>
      </p:grpSp>
    </p:spTree>
  </p:cSld>
  <p:clrMapOvr>
    <a:masterClrMapping/>
  </p:clrMapOvr>
</p:sld>
</file>

<file path=ppt/slides/slide1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374903" y="2634600"/>
            <a:ext cx="15864600" cy="2925325"/>
            <a:chOff x="0" y="0"/>
            <a:chExt cx="21152800" cy="3900434"/>
          </a:xfrm>
        </p:grpSpPr>
        <p:sp>
          <p:nvSpPr>
            <p:cNvPr name="Freeform 3" id="3"/>
            <p:cNvSpPr/>
            <p:nvPr/>
          </p:nvSpPr>
          <p:spPr>
            <a:xfrm flipH="false" flipV="false" rot="0">
              <a:off x="0" y="0"/>
              <a:ext cx="21152800" cy="3900434"/>
            </a:xfrm>
            <a:custGeom>
              <a:avLst/>
              <a:gdLst/>
              <a:ahLst/>
              <a:cxnLst/>
              <a:rect r="r" b="b" t="t" l="l"/>
              <a:pathLst>
                <a:path h="3900434" w="21152800">
                  <a:moveTo>
                    <a:pt x="0" y="0"/>
                  </a:moveTo>
                  <a:lnTo>
                    <a:pt x="21152800" y="0"/>
                  </a:lnTo>
                  <a:lnTo>
                    <a:pt x="21152800" y="3900434"/>
                  </a:lnTo>
                  <a:lnTo>
                    <a:pt x="0" y="3900434"/>
                  </a:lnTo>
                  <a:close/>
                </a:path>
              </a:pathLst>
            </a:custGeom>
            <a:solidFill>
              <a:srgbClr val="000000">
                <a:alpha val="0"/>
              </a:srgbClr>
            </a:solidFill>
          </p:spPr>
        </p:sp>
        <p:sp>
          <p:nvSpPr>
            <p:cNvPr name="TextBox 4" id="4"/>
            <p:cNvSpPr txBox="true"/>
            <p:nvPr/>
          </p:nvSpPr>
          <p:spPr>
            <a:xfrm>
              <a:off x="0" y="-314325"/>
              <a:ext cx="21152800" cy="4214759"/>
            </a:xfrm>
            <a:prstGeom prst="rect">
              <a:avLst/>
            </a:prstGeom>
          </p:spPr>
          <p:txBody>
            <a:bodyPr anchor="t" rtlCol="false" tIns="0" lIns="0" bIns="0" rIns="0"/>
            <a:lstStyle/>
            <a:p>
              <a:pPr algn="l" marL="401479" indent="-200740" lvl="1">
                <a:lnSpc>
                  <a:spcPts val="6282"/>
                </a:lnSpc>
                <a:buFont typeface="Arial"/>
                <a:buChar char="•"/>
              </a:pPr>
              <a:r>
                <a:rPr lang="en-US" sz="3024">
                  <a:solidFill>
                    <a:srgbClr val="131416"/>
                  </a:solidFill>
                  <a:latin typeface="Arial"/>
                  <a:ea typeface="Arial"/>
                  <a:cs typeface="Arial"/>
                  <a:sym typeface="Arial"/>
                </a:rPr>
                <a:t>Un</a:t>
              </a:r>
              <a:r>
                <a:rPr lang="en-US" sz="3024">
                  <a:solidFill>
                    <a:srgbClr val="131416"/>
                  </a:solidFill>
                  <a:latin typeface="Arial"/>
                  <a:ea typeface="Arial"/>
                  <a:cs typeface="Arial"/>
                  <a:sym typeface="Arial"/>
                </a:rPr>
                <a:t> conflicto ocurre cuando dos personas modifican la misma parte del código y Git no sabe qué versión conservar. Cuando esto sucede, se alerta al equipo para que revise el archivo y decida cómo combinar los cambios. Aunque puede parecer complicado al inicio, es parte natural del trabajo en equipo.</a:t>
              </a:r>
            </a:p>
          </p:txBody>
        </p:sp>
      </p:grpSp>
      <p:grpSp>
        <p:nvGrpSpPr>
          <p:cNvPr name="Group 5" id="5"/>
          <p:cNvGrpSpPr/>
          <p:nvPr/>
        </p:nvGrpSpPr>
        <p:grpSpPr>
          <a:xfrm rot="0">
            <a:off x="1374901" y="654375"/>
            <a:ext cx="15288900" cy="1098984"/>
            <a:chOff x="0" y="0"/>
            <a:chExt cx="20385200" cy="1465312"/>
          </a:xfrm>
        </p:grpSpPr>
        <p:sp>
          <p:nvSpPr>
            <p:cNvPr name="Freeform 6" id="6"/>
            <p:cNvSpPr/>
            <p:nvPr/>
          </p:nvSpPr>
          <p:spPr>
            <a:xfrm flipH="false" flipV="false" rot="0">
              <a:off x="0" y="0"/>
              <a:ext cx="20385201" cy="1465312"/>
            </a:xfrm>
            <a:custGeom>
              <a:avLst/>
              <a:gdLst/>
              <a:ahLst/>
              <a:cxnLst/>
              <a:rect r="r" b="b" t="t" l="l"/>
              <a:pathLst>
                <a:path h="1465312" w="20385201">
                  <a:moveTo>
                    <a:pt x="0" y="0"/>
                  </a:moveTo>
                  <a:lnTo>
                    <a:pt x="20385201" y="0"/>
                  </a:lnTo>
                  <a:lnTo>
                    <a:pt x="20385201" y="1465312"/>
                  </a:lnTo>
                  <a:lnTo>
                    <a:pt x="0" y="1465312"/>
                  </a:lnTo>
                  <a:close/>
                </a:path>
              </a:pathLst>
            </a:custGeom>
            <a:solidFill>
              <a:srgbClr val="000000">
                <a:alpha val="0"/>
              </a:srgbClr>
            </a:solidFill>
          </p:spPr>
        </p:sp>
        <p:sp>
          <p:nvSpPr>
            <p:cNvPr name="TextBox 7" id="7"/>
            <p:cNvSpPr txBox="true"/>
            <p:nvPr/>
          </p:nvSpPr>
          <p:spPr>
            <a:xfrm>
              <a:off x="0" y="-209550"/>
              <a:ext cx="20385200" cy="1674862"/>
            </a:xfrm>
            <a:prstGeom prst="rect">
              <a:avLst/>
            </a:prstGeom>
          </p:spPr>
          <p:txBody>
            <a:bodyPr anchor="t" rtlCol="false" tIns="0" lIns="0" bIns="0" rIns="0"/>
            <a:lstStyle/>
            <a:p>
              <a:pPr algn="just">
                <a:lnSpc>
                  <a:spcPts val="8267"/>
                </a:lnSpc>
              </a:pPr>
              <a:r>
                <a:rPr lang="en-US" sz="6098">
                  <a:solidFill>
                    <a:srgbClr val="131416"/>
                  </a:solidFill>
                  <a:latin typeface="Impact"/>
                  <a:ea typeface="Impact"/>
                  <a:cs typeface="Impact"/>
                  <a:sym typeface="Impact"/>
                </a:rPr>
                <a:t>¿Q</a:t>
              </a:r>
              <a:r>
                <a:rPr lang="en-US" sz="6098">
                  <a:solidFill>
                    <a:srgbClr val="131416"/>
                  </a:solidFill>
                  <a:latin typeface="Impact"/>
                  <a:ea typeface="Impact"/>
                  <a:cs typeface="Impact"/>
                  <a:sym typeface="Impact"/>
                </a:rPr>
                <a:t>ué es un conflicto?</a:t>
              </a:r>
            </a:p>
          </p:txBody>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74901" y="654375"/>
            <a:ext cx="15288900" cy="1098984"/>
            <a:chOff x="0" y="0"/>
            <a:chExt cx="20385200" cy="1465312"/>
          </a:xfrm>
        </p:grpSpPr>
        <p:sp>
          <p:nvSpPr>
            <p:cNvPr name="Freeform 3" id="3"/>
            <p:cNvSpPr/>
            <p:nvPr/>
          </p:nvSpPr>
          <p:spPr>
            <a:xfrm flipH="false" flipV="false" rot="0">
              <a:off x="0" y="0"/>
              <a:ext cx="20385201" cy="1465312"/>
            </a:xfrm>
            <a:custGeom>
              <a:avLst/>
              <a:gdLst/>
              <a:ahLst/>
              <a:cxnLst/>
              <a:rect r="r" b="b" t="t" l="l"/>
              <a:pathLst>
                <a:path h="1465312" w="20385201">
                  <a:moveTo>
                    <a:pt x="0" y="0"/>
                  </a:moveTo>
                  <a:lnTo>
                    <a:pt x="20385201" y="0"/>
                  </a:lnTo>
                  <a:lnTo>
                    <a:pt x="20385201" y="1465312"/>
                  </a:lnTo>
                  <a:lnTo>
                    <a:pt x="0" y="1465312"/>
                  </a:lnTo>
                  <a:close/>
                </a:path>
              </a:pathLst>
            </a:custGeom>
            <a:solidFill>
              <a:srgbClr val="000000">
                <a:alpha val="0"/>
              </a:srgbClr>
            </a:solidFill>
          </p:spPr>
        </p:sp>
        <p:sp>
          <p:nvSpPr>
            <p:cNvPr name="TextBox 4" id="4"/>
            <p:cNvSpPr txBox="true"/>
            <p:nvPr/>
          </p:nvSpPr>
          <p:spPr>
            <a:xfrm>
              <a:off x="0" y="-209550"/>
              <a:ext cx="20385200" cy="1674862"/>
            </a:xfrm>
            <a:prstGeom prst="rect">
              <a:avLst/>
            </a:prstGeom>
          </p:spPr>
          <p:txBody>
            <a:bodyPr anchor="t" rtlCol="false" tIns="0" lIns="0" bIns="0" rIns="0"/>
            <a:lstStyle/>
            <a:p>
              <a:pPr algn="ctr">
                <a:lnSpc>
                  <a:spcPts val="8267"/>
                </a:lnSpc>
              </a:pPr>
              <a:r>
                <a:rPr lang="en-US" sz="6098">
                  <a:solidFill>
                    <a:srgbClr val="131416"/>
                  </a:solidFill>
                  <a:latin typeface="Impact"/>
                  <a:ea typeface="Impact"/>
                  <a:cs typeface="Impact"/>
                  <a:sym typeface="Impact"/>
                </a:rPr>
                <a:t>I</a:t>
              </a:r>
              <a:r>
                <a:rPr lang="en-US" sz="6098">
                  <a:solidFill>
                    <a:srgbClr val="131416"/>
                  </a:solidFill>
                  <a:latin typeface="Impact"/>
                  <a:ea typeface="Impact"/>
                  <a:cs typeface="Impact"/>
                  <a:sym typeface="Impact"/>
                </a:rPr>
                <a:t>ntroducción a GitHub</a:t>
              </a:r>
            </a:p>
          </p:txBody>
        </p:sp>
      </p:grpSp>
      <p:grpSp>
        <p:nvGrpSpPr>
          <p:cNvPr name="Group 5" id="5"/>
          <p:cNvGrpSpPr/>
          <p:nvPr/>
        </p:nvGrpSpPr>
        <p:grpSpPr>
          <a:xfrm rot="0">
            <a:off x="1374903" y="2634600"/>
            <a:ext cx="15864600" cy="4506798"/>
            <a:chOff x="0" y="0"/>
            <a:chExt cx="21152800" cy="6009065"/>
          </a:xfrm>
        </p:grpSpPr>
        <p:sp>
          <p:nvSpPr>
            <p:cNvPr name="Freeform 6" id="6"/>
            <p:cNvSpPr/>
            <p:nvPr/>
          </p:nvSpPr>
          <p:spPr>
            <a:xfrm flipH="false" flipV="false" rot="0">
              <a:off x="0" y="0"/>
              <a:ext cx="21152800" cy="6009064"/>
            </a:xfrm>
            <a:custGeom>
              <a:avLst/>
              <a:gdLst/>
              <a:ahLst/>
              <a:cxnLst/>
              <a:rect r="r" b="b" t="t" l="l"/>
              <a:pathLst>
                <a:path h="6009064" w="21152800">
                  <a:moveTo>
                    <a:pt x="0" y="0"/>
                  </a:moveTo>
                  <a:lnTo>
                    <a:pt x="21152800" y="0"/>
                  </a:lnTo>
                  <a:lnTo>
                    <a:pt x="21152800" y="6009064"/>
                  </a:lnTo>
                  <a:lnTo>
                    <a:pt x="0" y="6009064"/>
                  </a:lnTo>
                  <a:close/>
                </a:path>
              </a:pathLst>
            </a:custGeom>
            <a:solidFill>
              <a:srgbClr val="000000">
                <a:alpha val="0"/>
              </a:srgbClr>
            </a:solidFill>
          </p:spPr>
        </p:sp>
        <p:sp>
          <p:nvSpPr>
            <p:cNvPr name="TextBox 7" id="7"/>
            <p:cNvSpPr txBox="true"/>
            <p:nvPr/>
          </p:nvSpPr>
          <p:spPr>
            <a:xfrm>
              <a:off x="0" y="-314325"/>
              <a:ext cx="21152800" cy="6323390"/>
            </a:xfrm>
            <a:prstGeom prst="rect">
              <a:avLst/>
            </a:prstGeom>
          </p:spPr>
          <p:txBody>
            <a:bodyPr anchor="t" rtlCol="false" tIns="0" lIns="0" bIns="0" rIns="0"/>
            <a:lstStyle/>
            <a:p>
              <a:pPr algn="l" marL="401463" indent="-200731" lvl="1">
                <a:lnSpc>
                  <a:spcPts val="6279"/>
                </a:lnSpc>
                <a:buFont typeface="Arial"/>
                <a:buChar char="•"/>
              </a:pPr>
              <a:r>
                <a:rPr lang="en-US" sz="3024">
                  <a:solidFill>
                    <a:srgbClr val="131416"/>
                  </a:solidFill>
                  <a:latin typeface="Arial"/>
                  <a:ea typeface="Arial"/>
                  <a:cs typeface="Arial"/>
                  <a:sym typeface="Arial"/>
                </a:rPr>
                <a:t>GitHub es una</a:t>
              </a:r>
              <a:r>
                <a:rPr lang="en-US" sz="3024">
                  <a:solidFill>
                    <a:srgbClr val="131416"/>
                  </a:solidFill>
                  <a:latin typeface="Arial"/>
                  <a:ea typeface="Arial"/>
                  <a:cs typeface="Arial"/>
                  <a:sym typeface="Arial"/>
                </a:rPr>
                <a:t> plataforma en línea que aloja proyectos gestionados con Git. Además de almacenar el código, GitHub ofrece herramientas para la colaboración como:</a:t>
              </a:r>
            </a:p>
            <a:p>
              <a:pPr algn="l" marL="401463" indent="-200731" lvl="1">
                <a:lnSpc>
                  <a:spcPts val="6279"/>
                </a:lnSpc>
                <a:buFont typeface="Arial"/>
                <a:buChar char="•"/>
              </a:pPr>
              <a:r>
                <a:rPr lang="en-US" sz="3024">
                  <a:solidFill>
                    <a:srgbClr val="131416"/>
                  </a:solidFill>
                  <a:latin typeface="Arial"/>
                  <a:ea typeface="Arial"/>
                  <a:cs typeface="Arial"/>
                  <a:sym typeface="Arial"/>
                </a:rPr>
                <a:t>Seguimiento de tareas (issues)</a:t>
              </a:r>
            </a:p>
            <a:p>
              <a:pPr algn="l" marL="401463" indent="-200731" lvl="1">
                <a:lnSpc>
                  <a:spcPts val="6279"/>
                </a:lnSpc>
                <a:buFont typeface="Arial"/>
                <a:buChar char="•"/>
              </a:pPr>
              <a:r>
                <a:rPr lang="en-US" sz="3024">
                  <a:solidFill>
                    <a:srgbClr val="131416"/>
                  </a:solidFill>
                  <a:latin typeface="Arial"/>
                  <a:ea typeface="Arial"/>
                  <a:cs typeface="Arial"/>
                  <a:sym typeface="Arial"/>
                </a:rPr>
                <a:t>Revisión de cambios (pull requests)</a:t>
              </a:r>
            </a:p>
            <a:p>
              <a:pPr algn="l" marL="401463" indent="-200731" lvl="1">
                <a:lnSpc>
                  <a:spcPts val="6279"/>
                </a:lnSpc>
                <a:buFont typeface="Arial"/>
                <a:buChar char="•"/>
              </a:pPr>
              <a:r>
                <a:rPr lang="en-US" sz="3024">
                  <a:solidFill>
                    <a:srgbClr val="131416"/>
                  </a:solidFill>
                  <a:latin typeface="Arial"/>
                  <a:ea typeface="Arial"/>
                  <a:cs typeface="Arial"/>
                  <a:sym typeface="Arial"/>
                </a:rPr>
                <a:t>Automatización de procesos (actions)</a:t>
              </a:r>
            </a:p>
            <a:p>
              <a:pPr algn="l" marL="401463" indent="-200731" lvl="1">
                <a:lnSpc>
                  <a:spcPts val="6279"/>
                </a:lnSpc>
                <a:buFont typeface="Arial"/>
                <a:buChar char="•"/>
              </a:pPr>
              <a:r>
                <a:rPr lang="en-US" sz="3024">
                  <a:solidFill>
                    <a:srgbClr val="131416"/>
                  </a:solidFill>
                  <a:latin typeface="Arial"/>
                  <a:ea typeface="Arial"/>
                  <a:cs typeface="Arial"/>
                  <a:sym typeface="Arial"/>
                </a:rPr>
                <a:t>Es una herramienta esencial en el entorno profesional de desarrollo de software.</a:t>
              </a:r>
            </a:p>
          </p:txBody>
        </p:sp>
      </p:grpSp>
      <p:sp>
        <p:nvSpPr>
          <p:cNvPr name="Freeform 8" id="8"/>
          <p:cNvSpPr/>
          <p:nvPr/>
        </p:nvSpPr>
        <p:spPr>
          <a:xfrm flipH="false" flipV="false" rot="0">
            <a:off x="7691630" y="7647037"/>
            <a:ext cx="2904739" cy="1935283"/>
          </a:xfrm>
          <a:custGeom>
            <a:avLst/>
            <a:gdLst/>
            <a:ahLst/>
            <a:cxnLst/>
            <a:rect r="r" b="b" t="t" l="l"/>
            <a:pathLst>
              <a:path h="1935283" w="2904739">
                <a:moveTo>
                  <a:pt x="0" y="0"/>
                </a:moveTo>
                <a:lnTo>
                  <a:pt x="2904740" y="0"/>
                </a:lnTo>
                <a:lnTo>
                  <a:pt x="2904740" y="1935283"/>
                </a:lnTo>
                <a:lnTo>
                  <a:pt x="0" y="1935283"/>
                </a:lnTo>
                <a:lnTo>
                  <a:pt x="0" y="0"/>
                </a:lnTo>
                <a:close/>
              </a:path>
            </a:pathLst>
          </a:custGeom>
          <a:blipFill>
            <a:blip r:embed="rId3"/>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374901" y="654375"/>
            <a:ext cx="15288900" cy="1098984"/>
            <a:chOff x="0" y="0"/>
            <a:chExt cx="20385200" cy="1465312"/>
          </a:xfrm>
        </p:grpSpPr>
        <p:sp>
          <p:nvSpPr>
            <p:cNvPr name="Freeform 3" id="3"/>
            <p:cNvSpPr/>
            <p:nvPr/>
          </p:nvSpPr>
          <p:spPr>
            <a:xfrm flipH="false" flipV="false" rot="0">
              <a:off x="0" y="0"/>
              <a:ext cx="20385201" cy="1465312"/>
            </a:xfrm>
            <a:custGeom>
              <a:avLst/>
              <a:gdLst/>
              <a:ahLst/>
              <a:cxnLst/>
              <a:rect r="r" b="b" t="t" l="l"/>
              <a:pathLst>
                <a:path h="1465312" w="20385201">
                  <a:moveTo>
                    <a:pt x="0" y="0"/>
                  </a:moveTo>
                  <a:lnTo>
                    <a:pt x="20385201" y="0"/>
                  </a:lnTo>
                  <a:lnTo>
                    <a:pt x="20385201" y="1465312"/>
                  </a:lnTo>
                  <a:lnTo>
                    <a:pt x="0" y="1465312"/>
                  </a:lnTo>
                  <a:close/>
                </a:path>
              </a:pathLst>
            </a:custGeom>
            <a:solidFill>
              <a:srgbClr val="000000">
                <a:alpha val="0"/>
              </a:srgbClr>
            </a:solidFill>
          </p:spPr>
        </p:sp>
        <p:sp>
          <p:nvSpPr>
            <p:cNvPr name="TextBox 4" id="4"/>
            <p:cNvSpPr txBox="true"/>
            <p:nvPr/>
          </p:nvSpPr>
          <p:spPr>
            <a:xfrm>
              <a:off x="0" y="-209550"/>
              <a:ext cx="20385200" cy="1674862"/>
            </a:xfrm>
            <a:prstGeom prst="rect">
              <a:avLst/>
            </a:prstGeom>
          </p:spPr>
          <p:txBody>
            <a:bodyPr anchor="t" rtlCol="false" tIns="0" lIns="0" bIns="0" rIns="0"/>
            <a:lstStyle/>
            <a:p>
              <a:pPr algn="ctr">
                <a:lnSpc>
                  <a:spcPts val="8267"/>
                </a:lnSpc>
              </a:pPr>
              <a:r>
                <a:rPr lang="en-US" sz="6098">
                  <a:solidFill>
                    <a:srgbClr val="131416"/>
                  </a:solidFill>
                  <a:latin typeface="Impact"/>
                  <a:ea typeface="Impact"/>
                  <a:cs typeface="Impact"/>
                  <a:sym typeface="Impact"/>
                </a:rPr>
                <a:t>C</a:t>
              </a:r>
              <a:r>
                <a:rPr lang="en-US" sz="6098">
                  <a:solidFill>
                    <a:srgbClr val="131416"/>
                  </a:solidFill>
                  <a:latin typeface="Impact"/>
                  <a:ea typeface="Impact"/>
                  <a:cs typeface="Impact"/>
                  <a:sym typeface="Impact"/>
                </a:rPr>
                <a:t>lonar un proyecto existente</a:t>
              </a:r>
            </a:p>
          </p:txBody>
        </p:sp>
      </p:grpSp>
      <p:grpSp>
        <p:nvGrpSpPr>
          <p:cNvPr name="Group 5" id="5"/>
          <p:cNvGrpSpPr/>
          <p:nvPr/>
        </p:nvGrpSpPr>
        <p:grpSpPr>
          <a:xfrm rot="0">
            <a:off x="1374903" y="2634600"/>
            <a:ext cx="15864600" cy="4506637"/>
            <a:chOff x="0" y="0"/>
            <a:chExt cx="21152800" cy="6008849"/>
          </a:xfrm>
        </p:grpSpPr>
        <p:sp>
          <p:nvSpPr>
            <p:cNvPr name="Freeform 6" id="6"/>
            <p:cNvSpPr/>
            <p:nvPr/>
          </p:nvSpPr>
          <p:spPr>
            <a:xfrm flipH="false" flipV="false" rot="0">
              <a:off x="0" y="0"/>
              <a:ext cx="21152800" cy="6008849"/>
            </a:xfrm>
            <a:custGeom>
              <a:avLst/>
              <a:gdLst/>
              <a:ahLst/>
              <a:cxnLst/>
              <a:rect r="r" b="b" t="t" l="l"/>
              <a:pathLst>
                <a:path h="6008849" w="21152800">
                  <a:moveTo>
                    <a:pt x="0" y="0"/>
                  </a:moveTo>
                  <a:lnTo>
                    <a:pt x="21152800" y="0"/>
                  </a:lnTo>
                  <a:lnTo>
                    <a:pt x="21152800" y="6008849"/>
                  </a:lnTo>
                  <a:lnTo>
                    <a:pt x="0" y="6008849"/>
                  </a:lnTo>
                  <a:close/>
                </a:path>
              </a:pathLst>
            </a:custGeom>
            <a:solidFill>
              <a:srgbClr val="000000">
                <a:alpha val="0"/>
              </a:srgbClr>
            </a:solidFill>
          </p:spPr>
        </p:sp>
        <p:sp>
          <p:nvSpPr>
            <p:cNvPr name="TextBox 7" id="7"/>
            <p:cNvSpPr txBox="true"/>
            <p:nvPr/>
          </p:nvSpPr>
          <p:spPr>
            <a:xfrm>
              <a:off x="0" y="-314325"/>
              <a:ext cx="21152800" cy="6323174"/>
            </a:xfrm>
            <a:prstGeom prst="rect">
              <a:avLst/>
            </a:prstGeom>
          </p:spPr>
          <p:txBody>
            <a:bodyPr anchor="t" rtlCol="false" tIns="0" lIns="0" bIns="0" rIns="0"/>
            <a:lstStyle/>
            <a:p>
              <a:pPr algn="l" marL="401479" indent="-200740" lvl="1">
                <a:lnSpc>
                  <a:spcPts val="6282"/>
                </a:lnSpc>
                <a:buFont typeface="Arial"/>
                <a:buChar char="•"/>
              </a:pPr>
              <a:r>
                <a:rPr lang="en-US" sz="3024">
                  <a:solidFill>
                    <a:srgbClr val="131416"/>
                  </a:solidFill>
                  <a:latin typeface="Arial"/>
                  <a:ea typeface="Arial"/>
                  <a:cs typeface="Arial"/>
                  <a:sym typeface="Arial"/>
                </a:rPr>
                <a:t>Si ya existe un</a:t>
              </a:r>
              <a:r>
                <a:rPr lang="en-US" sz="3024">
                  <a:solidFill>
                    <a:srgbClr val="131416"/>
                  </a:solidFill>
                  <a:latin typeface="Arial"/>
                  <a:ea typeface="Arial"/>
                  <a:cs typeface="Arial"/>
                  <a:sym typeface="Arial"/>
                </a:rPr>
                <a:t> repositorio remoto, cualquier persona con acceso puede descargar una copia en su computadora para trabajar en él. A esto se le llama “clonar un repositorio”. Esta acción crea una versión exacta del proyecto, incluyendo todo su historial.</a:t>
              </a:r>
            </a:p>
            <a:p>
              <a:pPr algn="l" marL="401463" indent="-200731" lvl="1">
                <a:lnSpc>
                  <a:spcPts val="6279"/>
                </a:lnSpc>
                <a:buFont typeface="Arial"/>
                <a:buChar char="•"/>
              </a:pPr>
              <a:r>
                <a:rPr lang="en-US" sz="3024">
                  <a:solidFill>
                    <a:srgbClr val="131416"/>
                  </a:solidFill>
                  <a:latin typeface="Arial"/>
                  <a:ea typeface="Arial"/>
                  <a:cs typeface="Arial"/>
                  <a:sym typeface="Arial"/>
                </a:rPr>
                <a:t>Una vez se han hecho avances en el proyecto, es posible compartirlos con los demás integrantes subiendo las modificaciones al repositorio remoto. Este proceso permite que todos trabajen de forma sincronizada, evitando duplicaciones o sobrescrituras.</a:t>
              </a:r>
            </a:p>
          </p:txBody>
        </p:sp>
      </p:grpSp>
    </p:spTree>
  </p:cSld>
  <p:clrMapOvr>
    <a:masterClrMapping/>
  </p:clrMapOvr>
</p:sld>
</file>

<file path=ppt/slides/slide2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374901" y="654375"/>
            <a:ext cx="15288900" cy="1098984"/>
            <a:chOff x="0" y="0"/>
            <a:chExt cx="20385200" cy="1465312"/>
          </a:xfrm>
        </p:grpSpPr>
        <p:sp>
          <p:nvSpPr>
            <p:cNvPr name="Freeform 3" id="3"/>
            <p:cNvSpPr/>
            <p:nvPr/>
          </p:nvSpPr>
          <p:spPr>
            <a:xfrm flipH="false" flipV="false" rot="0">
              <a:off x="0" y="0"/>
              <a:ext cx="20385201" cy="1465312"/>
            </a:xfrm>
            <a:custGeom>
              <a:avLst/>
              <a:gdLst/>
              <a:ahLst/>
              <a:cxnLst/>
              <a:rect r="r" b="b" t="t" l="l"/>
              <a:pathLst>
                <a:path h="1465312" w="20385201">
                  <a:moveTo>
                    <a:pt x="0" y="0"/>
                  </a:moveTo>
                  <a:lnTo>
                    <a:pt x="20385201" y="0"/>
                  </a:lnTo>
                  <a:lnTo>
                    <a:pt x="20385201" y="1465312"/>
                  </a:lnTo>
                  <a:lnTo>
                    <a:pt x="0" y="1465312"/>
                  </a:lnTo>
                  <a:close/>
                </a:path>
              </a:pathLst>
            </a:custGeom>
            <a:solidFill>
              <a:srgbClr val="000000">
                <a:alpha val="0"/>
              </a:srgbClr>
            </a:solidFill>
          </p:spPr>
        </p:sp>
        <p:sp>
          <p:nvSpPr>
            <p:cNvPr name="TextBox 4" id="4"/>
            <p:cNvSpPr txBox="true"/>
            <p:nvPr/>
          </p:nvSpPr>
          <p:spPr>
            <a:xfrm>
              <a:off x="0" y="-209550"/>
              <a:ext cx="20385200" cy="1674862"/>
            </a:xfrm>
            <a:prstGeom prst="rect">
              <a:avLst/>
            </a:prstGeom>
          </p:spPr>
          <p:txBody>
            <a:bodyPr anchor="t" rtlCol="false" tIns="0" lIns="0" bIns="0" rIns="0"/>
            <a:lstStyle/>
            <a:p>
              <a:pPr algn="ctr">
                <a:lnSpc>
                  <a:spcPts val="8267"/>
                </a:lnSpc>
              </a:pPr>
              <a:r>
                <a:rPr lang="en-US" sz="6098">
                  <a:solidFill>
                    <a:srgbClr val="131416"/>
                  </a:solidFill>
                  <a:latin typeface="Impact"/>
                  <a:ea typeface="Impact"/>
                  <a:cs typeface="Impact"/>
                  <a:sym typeface="Impact"/>
                </a:rPr>
                <a:t>Co</a:t>
              </a:r>
              <a:r>
                <a:rPr lang="en-US" sz="6098">
                  <a:solidFill>
                    <a:srgbClr val="131416"/>
                  </a:solidFill>
                  <a:latin typeface="Impact"/>
                  <a:ea typeface="Impact"/>
                  <a:cs typeface="Impact"/>
                  <a:sym typeface="Impact"/>
                </a:rPr>
                <a:t>laboración con Fork y Pull Request</a:t>
              </a:r>
            </a:p>
          </p:txBody>
        </p:sp>
      </p:grpSp>
      <p:grpSp>
        <p:nvGrpSpPr>
          <p:cNvPr name="Group 5" id="5"/>
          <p:cNvGrpSpPr/>
          <p:nvPr/>
        </p:nvGrpSpPr>
        <p:grpSpPr>
          <a:xfrm rot="0">
            <a:off x="1374903" y="2634600"/>
            <a:ext cx="15864600" cy="4563948"/>
            <a:chOff x="0" y="0"/>
            <a:chExt cx="21152800" cy="6085265"/>
          </a:xfrm>
        </p:grpSpPr>
        <p:sp>
          <p:nvSpPr>
            <p:cNvPr name="Freeform 6" id="6"/>
            <p:cNvSpPr/>
            <p:nvPr/>
          </p:nvSpPr>
          <p:spPr>
            <a:xfrm flipH="false" flipV="false" rot="0">
              <a:off x="0" y="0"/>
              <a:ext cx="21152800" cy="6085264"/>
            </a:xfrm>
            <a:custGeom>
              <a:avLst/>
              <a:gdLst/>
              <a:ahLst/>
              <a:cxnLst/>
              <a:rect r="r" b="b" t="t" l="l"/>
              <a:pathLst>
                <a:path h="6085264" w="21152800">
                  <a:moveTo>
                    <a:pt x="0" y="0"/>
                  </a:moveTo>
                  <a:lnTo>
                    <a:pt x="21152800" y="0"/>
                  </a:lnTo>
                  <a:lnTo>
                    <a:pt x="21152800" y="6085264"/>
                  </a:lnTo>
                  <a:lnTo>
                    <a:pt x="0" y="6085264"/>
                  </a:lnTo>
                  <a:close/>
                </a:path>
              </a:pathLst>
            </a:custGeom>
            <a:solidFill>
              <a:srgbClr val="000000">
                <a:alpha val="0"/>
              </a:srgbClr>
            </a:solidFill>
          </p:spPr>
        </p:sp>
        <p:sp>
          <p:nvSpPr>
            <p:cNvPr name="TextBox 7" id="7"/>
            <p:cNvSpPr txBox="true"/>
            <p:nvPr/>
          </p:nvSpPr>
          <p:spPr>
            <a:xfrm>
              <a:off x="0" y="-314325"/>
              <a:ext cx="21152800" cy="6399590"/>
            </a:xfrm>
            <a:prstGeom prst="rect">
              <a:avLst/>
            </a:prstGeom>
          </p:spPr>
          <p:txBody>
            <a:bodyPr anchor="t" rtlCol="false" tIns="0" lIns="0" bIns="0" rIns="0"/>
            <a:lstStyle/>
            <a:p>
              <a:pPr algn="l" marL="401463" indent="-200731" lvl="1">
                <a:lnSpc>
                  <a:spcPts val="6279"/>
                </a:lnSpc>
                <a:buFont typeface="Arial"/>
                <a:buChar char="•"/>
              </a:pPr>
              <a:r>
                <a:rPr lang="en-US" sz="3024">
                  <a:solidFill>
                    <a:srgbClr val="131416"/>
                  </a:solidFill>
                  <a:latin typeface="Arial"/>
                  <a:ea typeface="Arial"/>
                  <a:cs typeface="Arial"/>
                  <a:sym typeface="Arial"/>
                </a:rPr>
                <a:t>En proyectos </a:t>
              </a:r>
              <a:r>
                <a:rPr lang="en-US" sz="3024">
                  <a:solidFill>
                    <a:srgbClr val="131416"/>
                  </a:solidFill>
                  <a:latin typeface="Arial"/>
                  <a:ea typeface="Arial"/>
                  <a:cs typeface="Arial"/>
                  <a:sym typeface="Arial"/>
                </a:rPr>
                <a:t>públicos o de código abierto, muchas veces no se tiene acceso directo para editar. En estos casos, se puede hacer una copia del proyecto (fork), realizar cambios en la copia, y luego enviar una solicitud al autor original (pull request) para que evalúe y acepte las mejoras.</a:t>
              </a:r>
            </a:p>
            <a:p>
              <a:pPr algn="l" marL="401463" indent="-200731" lvl="1">
                <a:lnSpc>
                  <a:spcPts val="6279"/>
                </a:lnSpc>
                <a:buFont typeface="Arial"/>
                <a:buChar char="•"/>
              </a:pPr>
              <a:r>
                <a:rPr lang="en-US" sz="3024">
                  <a:solidFill>
                    <a:srgbClr val="131416"/>
                  </a:solidFill>
                  <a:latin typeface="Arial"/>
                  <a:ea typeface="Arial"/>
                  <a:cs typeface="Arial"/>
                  <a:sym typeface="Arial"/>
                </a:rPr>
                <a:t>Este modelo de colaboración es ampliamente usado en comunidades como GitHub.</a:t>
              </a:r>
            </a:p>
            <a:p>
              <a:pPr algn="l" marL="401463" indent="-200731" lvl="1">
                <a:lnSpc>
                  <a:spcPts val="6279"/>
                </a:lnSpc>
                <a:buFont typeface="Arial"/>
                <a:buChar char="•"/>
              </a:pPr>
            </a:p>
          </p:txBody>
        </p:sp>
      </p:grpSp>
    </p:spTree>
  </p:cSld>
  <p:clrMapOvr>
    <a:masterClrMapping/>
  </p:clrMapOvr>
</p:sld>
</file>

<file path=ppt/slides/slide2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4487895" y="4394267"/>
            <a:ext cx="9312211" cy="1498466"/>
            <a:chOff x="0" y="0"/>
            <a:chExt cx="6214546" cy="1000008"/>
          </a:xfrm>
        </p:grpSpPr>
        <p:sp>
          <p:nvSpPr>
            <p:cNvPr name="Freeform 3" id="3"/>
            <p:cNvSpPr/>
            <p:nvPr/>
          </p:nvSpPr>
          <p:spPr>
            <a:xfrm flipH="false" flipV="false" rot="0">
              <a:off x="0" y="0"/>
              <a:ext cx="6214547" cy="1000008"/>
            </a:xfrm>
            <a:custGeom>
              <a:avLst/>
              <a:gdLst/>
              <a:ahLst/>
              <a:cxnLst/>
              <a:rect r="r" b="b" t="t" l="l"/>
              <a:pathLst>
                <a:path h="1000008" w="6214547">
                  <a:moveTo>
                    <a:pt x="0" y="0"/>
                  </a:moveTo>
                  <a:lnTo>
                    <a:pt x="6214547" y="0"/>
                  </a:lnTo>
                  <a:lnTo>
                    <a:pt x="6214547" y="1000008"/>
                  </a:lnTo>
                  <a:lnTo>
                    <a:pt x="0" y="1000008"/>
                  </a:lnTo>
                  <a:close/>
                </a:path>
              </a:pathLst>
            </a:custGeom>
            <a:solidFill>
              <a:srgbClr val="000000">
                <a:alpha val="0"/>
              </a:srgbClr>
            </a:solidFill>
          </p:spPr>
        </p:sp>
        <p:sp>
          <p:nvSpPr>
            <p:cNvPr name="TextBox 4" id="4"/>
            <p:cNvSpPr txBox="true"/>
            <p:nvPr/>
          </p:nvSpPr>
          <p:spPr>
            <a:xfrm>
              <a:off x="0" y="-285750"/>
              <a:ext cx="6214546" cy="1285758"/>
            </a:xfrm>
            <a:prstGeom prst="rect">
              <a:avLst/>
            </a:prstGeom>
          </p:spPr>
          <p:txBody>
            <a:bodyPr anchor="t" rtlCol="false" tIns="0" lIns="0" bIns="0" rIns="0"/>
            <a:lstStyle/>
            <a:p>
              <a:pPr algn="ctr">
                <a:lnSpc>
                  <a:spcPts val="11250"/>
                </a:lnSpc>
              </a:pPr>
              <a:r>
                <a:rPr lang="en-US" sz="8297">
                  <a:solidFill>
                    <a:srgbClr val="131416"/>
                  </a:solidFill>
                  <a:latin typeface="Impact"/>
                  <a:ea typeface="Impact"/>
                  <a:cs typeface="Impact"/>
                  <a:sym typeface="Impact"/>
                </a:rPr>
                <a:t>Conclusiones</a:t>
              </a:r>
            </a:p>
          </p:txBody>
        </p:sp>
      </p:gr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437795" y="3389104"/>
            <a:ext cx="8658900" cy="1915200"/>
            <a:chOff x="0" y="0"/>
            <a:chExt cx="11545200" cy="2553600"/>
          </a:xfrm>
        </p:grpSpPr>
        <p:sp>
          <p:nvSpPr>
            <p:cNvPr name="Freeform 3" id="3"/>
            <p:cNvSpPr/>
            <p:nvPr/>
          </p:nvSpPr>
          <p:spPr>
            <a:xfrm flipH="false" flipV="false" rot="0">
              <a:off x="0" y="0"/>
              <a:ext cx="11545200" cy="2553600"/>
            </a:xfrm>
            <a:custGeom>
              <a:avLst/>
              <a:gdLst/>
              <a:ahLst/>
              <a:cxnLst/>
              <a:rect r="r" b="b" t="t" l="l"/>
              <a:pathLst>
                <a:path h="2553600" w="11545200">
                  <a:moveTo>
                    <a:pt x="0" y="0"/>
                  </a:moveTo>
                  <a:lnTo>
                    <a:pt x="11545200" y="0"/>
                  </a:lnTo>
                  <a:lnTo>
                    <a:pt x="11545200" y="2553600"/>
                  </a:lnTo>
                  <a:lnTo>
                    <a:pt x="0" y="2553600"/>
                  </a:lnTo>
                  <a:close/>
                </a:path>
              </a:pathLst>
            </a:custGeom>
            <a:solidFill>
              <a:srgbClr val="000000">
                <a:alpha val="0"/>
              </a:srgbClr>
            </a:solidFill>
          </p:spPr>
        </p:sp>
        <p:sp>
          <p:nvSpPr>
            <p:cNvPr name="TextBox 4" id="4"/>
            <p:cNvSpPr txBox="true"/>
            <p:nvPr/>
          </p:nvSpPr>
          <p:spPr>
            <a:xfrm>
              <a:off x="0" y="-152400"/>
              <a:ext cx="11545200" cy="2706000"/>
            </a:xfrm>
            <a:prstGeom prst="rect">
              <a:avLst/>
            </a:prstGeom>
          </p:spPr>
          <p:txBody>
            <a:bodyPr anchor="t" rtlCol="false" tIns="0" lIns="0" bIns="0" rIns="0"/>
            <a:lstStyle/>
            <a:p>
              <a:pPr algn="just">
                <a:lnSpc>
                  <a:spcPts val="7611"/>
                </a:lnSpc>
              </a:pPr>
              <a:r>
                <a:rPr lang="en-US" sz="6098">
                  <a:solidFill>
                    <a:srgbClr val="131416"/>
                  </a:solidFill>
                  <a:latin typeface="Impact"/>
                  <a:ea typeface="Impact"/>
                  <a:cs typeface="Impact"/>
                  <a:sym typeface="Impact"/>
                </a:rPr>
                <a:t>¡GRACIAS POR SU  ATENCIÓN!</a:t>
              </a:r>
            </a:p>
            <a:p>
              <a:pPr algn="just">
                <a:lnSpc>
                  <a:spcPts val="1747"/>
                </a:lnSpc>
              </a:pPr>
            </a:p>
          </p:txBody>
        </p:sp>
      </p:grpSp>
      <p:grpSp>
        <p:nvGrpSpPr>
          <p:cNvPr name="Group 5" id="5"/>
          <p:cNvGrpSpPr/>
          <p:nvPr/>
        </p:nvGrpSpPr>
        <p:grpSpPr>
          <a:xfrm rot="0">
            <a:off x="5414714" y="5958103"/>
            <a:ext cx="6704991" cy="898525"/>
            <a:chOff x="0" y="0"/>
            <a:chExt cx="8939988" cy="1198033"/>
          </a:xfrm>
        </p:grpSpPr>
        <p:sp>
          <p:nvSpPr>
            <p:cNvPr name="Freeform 6" id="6"/>
            <p:cNvSpPr/>
            <p:nvPr/>
          </p:nvSpPr>
          <p:spPr>
            <a:xfrm flipH="false" flipV="false" rot="0">
              <a:off x="0" y="0"/>
              <a:ext cx="8939988" cy="1198033"/>
            </a:xfrm>
            <a:custGeom>
              <a:avLst/>
              <a:gdLst/>
              <a:ahLst/>
              <a:cxnLst/>
              <a:rect r="r" b="b" t="t" l="l"/>
              <a:pathLst>
                <a:path h="1198033" w="8939988">
                  <a:moveTo>
                    <a:pt x="0" y="0"/>
                  </a:moveTo>
                  <a:lnTo>
                    <a:pt x="8939988" y="0"/>
                  </a:lnTo>
                  <a:lnTo>
                    <a:pt x="8939988" y="1198033"/>
                  </a:lnTo>
                  <a:lnTo>
                    <a:pt x="0" y="1198033"/>
                  </a:lnTo>
                  <a:close/>
                </a:path>
              </a:pathLst>
            </a:custGeom>
            <a:solidFill>
              <a:srgbClr val="000000">
                <a:alpha val="0"/>
              </a:srgbClr>
            </a:solidFill>
          </p:spPr>
        </p:sp>
        <p:sp>
          <p:nvSpPr>
            <p:cNvPr name="TextBox 7" id="7"/>
            <p:cNvSpPr txBox="true"/>
            <p:nvPr/>
          </p:nvSpPr>
          <p:spPr>
            <a:xfrm>
              <a:off x="0" y="-371475"/>
              <a:ext cx="8939988" cy="1569508"/>
            </a:xfrm>
            <a:prstGeom prst="rect">
              <a:avLst/>
            </a:prstGeom>
          </p:spPr>
          <p:txBody>
            <a:bodyPr anchor="t" rtlCol="false" tIns="0" lIns="0" bIns="0" rIns="0"/>
            <a:lstStyle/>
            <a:p>
              <a:pPr algn="ctr">
                <a:lnSpc>
                  <a:spcPts val="8879"/>
                </a:lnSpc>
              </a:pPr>
              <a:r>
                <a:rPr lang="en-US" sz="4999">
                  <a:solidFill>
                    <a:srgbClr val="131416"/>
                  </a:solidFill>
                  <a:latin typeface="Arial"/>
                  <a:ea typeface="Arial"/>
                  <a:cs typeface="Arial"/>
                  <a:sym typeface="Arial"/>
                </a:rPr>
                <a:t>DUDAS</a:t>
              </a:r>
            </a:p>
          </p:txBody>
        </p:sp>
      </p:grpSp>
      <p:grpSp>
        <p:nvGrpSpPr>
          <p:cNvPr name="Group 8" id="8"/>
          <p:cNvGrpSpPr/>
          <p:nvPr/>
        </p:nvGrpSpPr>
        <p:grpSpPr>
          <a:xfrm rot="0">
            <a:off x="13963751" y="1028700"/>
            <a:ext cx="2757268" cy="3770970"/>
            <a:chOff x="0" y="0"/>
            <a:chExt cx="3676357" cy="5027960"/>
          </a:xfrm>
        </p:grpSpPr>
        <p:sp>
          <p:nvSpPr>
            <p:cNvPr name="Freeform 9" id="9"/>
            <p:cNvSpPr/>
            <p:nvPr/>
          </p:nvSpPr>
          <p:spPr>
            <a:xfrm flipH="false" flipV="false" rot="0">
              <a:off x="0" y="0"/>
              <a:ext cx="3676396" cy="5027930"/>
            </a:xfrm>
            <a:custGeom>
              <a:avLst/>
              <a:gdLst/>
              <a:ahLst/>
              <a:cxnLst/>
              <a:rect r="r" b="b" t="t" l="l"/>
              <a:pathLst>
                <a:path h="5027930" w="3676396">
                  <a:moveTo>
                    <a:pt x="0" y="0"/>
                  </a:moveTo>
                  <a:lnTo>
                    <a:pt x="3676396" y="0"/>
                  </a:lnTo>
                  <a:lnTo>
                    <a:pt x="3676396" y="5027930"/>
                  </a:lnTo>
                  <a:lnTo>
                    <a:pt x="0" y="5027930"/>
                  </a:lnTo>
                  <a:lnTo>
                    <a:pt x="0" y="0"/>
                  </a:lnTo>
                  <a:close/>
                </a:path>
              </a:pathLst>
            </a:custGeom>
            <a:blipFill>
              <a:blip r:embed="rId3"/>
              <a:stretch>
                <a:fillRect l="-7" t="0" r="-6" b="0"/>
              </a:stretch>
            </a:blipFill>
          </p:spPr>
        </p:sp>
      </p:grpSp>
      <p:grpSp>
        <p:nvGrpSpPr>
          <p:cNvPr name="Group 10" id="10"/>
          <p:cNvGrpSpPr/>
          <p:nvPr/>
        </p:nvGrpSpPr>
        <p:grpSpPr>
          <a:xfrm rot="0">
            <a:off x="2411098" y="7899735"/>
            <a:ext cx="13465804" cy="719455"/>
            <a:chOff x="0" y="0"/>
            <a:chExt cx="17954405" cy="959273"/>
          </a:xfrm>
        </p:grpSpPr>
        <p:sp>
          <p:nvSpPr>
            <p:cNvPr name="Freeform 11" id="11"/>
            <p:cNvSpPr/>
            <p:nvPr/>
          </p:nvSpPr>
          <p:spPr>
            <a:xfrm flipH="false" flipV="false" rot="0">
              <a:off x="0" y="0"/>
              <a:ext cx="17954405" cy="959273"/>
            </a:xfrm>
            <a:custGeom>
              <a:avLst/>
              <a:gdLst/>
              <a:ahLst/>
              <a:cxnLst/>
              <a:rect r="r" b="b" t="t" l="l"/>
              <a:pathLst>
                <a:path h="959273" w="17954405">
                  <a:moveTo>
                    <a:pt x="0" y="0"/>
                  </a:moveTo>
                  <a:lnTo>
                    <a:pt x="17954405" y="0"/>
                  </a:lnTo>
                  <a:lnTo>
                    <a:pt x="17954405" y="959273"/>
                  </a:lnTo>
                  <a:lnTo>
                    <a:pt x="0" y="959273"/>
                  </a:lnTo>
                  <a:close/>
                </a:path>
              </a:pathLst>
            </a:custGeom>
            <a:solidFill>
              <a:srgbClr val="000000">
                <a:alpha val="0"/>
              </a:srgbClr>
            </a:solidFill>
          </p:spPr>
        </p:sp>
        <p:sp>
          <p:nvSpPr>
            <p:cNvPr name="TextBox 12" id="12"/>
            <p:cNvSpPr txBox="true"/>
            <p:nvPr/>
          </p:nvSpPr>
          <p:spPr>
            <a:xfrm>
              <a:off x="0" y="-152400"/>
              <a:ext cx="17954405" cy="1111673"/>
            </a:xfrm>
            <a:prstGeom prst="rect">
              <a:avLst/>
            </a:prstGeom>
          </p:spPr>
          <p:txBody>
            <a:bodyPr anchor="t" rtlCol="false" tIns="0" lIns="0" bIns="0" rIns="0"/>
            <a:lstStyle/>
            <a:p>
              <a:pPr algn="ctr">
                <a:lnSpc>
                  <a:spcPts val="3552"/>
                </a:lnSpc>
              </a:pPr>
              <a:r>
                <a:rPr lang="en-US" sz="2000">
                  <a:solidFill>
                    <a:srgbClr val="131416"/>
                  </a:solidFill>
                  <a:latin typeface="Arial"/>
                  <a:ea typeface="Arial"/>
                  <a:cs typeface="Arial"/>
                  <a:sym typeface="Arial"/>
                </a:rPr>
                <a:t>RECUERDA QUE TENEMOS NUESTRO FORO SEMANAL DONDE PUEDES CONSULTAR CUALQUIER DUDA QUE TE SURJA EN LA SEMANA</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DAGofp31Hkk</dc:identifier>
  <dcterms:modified xsi:type="dcterms:W3CDTF">2011-08-01T06:04:30Z</dcterms:modified>
  <cp:revision>1</cp:revision>
  <dc:title>Presentacion 03</dc:title>
</cp:coreProperties>
</file>