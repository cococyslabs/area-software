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287000" cx="18288000"/>
  <p:notesSz cx="6858000" cy="9144000"/>
  <p:embeddedFontLst>
    <p:embeddedFont>
      <p:font typeface="Pacifico"/>
      <p:regular r:id="rId22"/>
    </p:embeddedFont>
    <p:embeddedFont>
      <p:font typeface="Open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Bd1eGIx666nZtNkhooiqBgz72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acifico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bold.fntdata"/><Relationship Id="rId23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boldItalic.fntdata"/><Relationship Id="rId25" Type="http://schemas.openxmlformats.org/officeDocument/2006/relationships/font" Target="fonts/OpenSans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5" name="Google Shape;105;p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0" name="Google Shape;160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2" name="Google Shape;162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056312c4a_0_1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b056312c4a_0_1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4" name="Google Shape;174;g3b056312c4a_0_1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b056312c4a_0_1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b056312c4a_0_1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3b056312c4a_0_1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056312c4a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g3b056312c4a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9" name="Google Shape;189;g3b056312c4a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056312c4a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b056312c4a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b056312c4a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5" name="Google Shape;215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b056e2c252_0_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g3b056e2c252_0_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7" name="Google Shape;227;g3b056e2c252_0_2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b056e2c252_0_2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g3b056e2c252_0_2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b056e2c252_0_2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056e2c252_0_3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b056e2c252_0_3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9" name="Google Shape;239;g3b056e2c252_0_3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b056e2c252_0_3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b056e2c252_0_3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g3b056e2c252_0_3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056e2c252_0_5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b056e2c252_0_5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1" name="Google Shape;251;g3b056e2c252_0_5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3b056e2c252_0_5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g3b056e2c252_0_5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g3b056e2c252_0_5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b056e2c252_0_6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b056e2c252_0_6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3" name="Google Shape;263;g3b056e2c252_0_6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b056e2c252_0_6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g3b056e2c252_0_6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b056e2c252_0_6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b056e2c252_0_8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g3b056e2c252_0_8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5" name="Google Shape;275;g3b056e2c252_0_82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g3b056e2c252_0_8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b056e2c252_0_8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b056e2c252_0_8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056e2c252_0_9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b056e2c252_0_9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7" name="Google Shape;287;g3b056e2c252_0_9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b056e2c252_0_9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b056e2c252_0_9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g3b056e2c252_0_9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9" name="Google Shape;299;p2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2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b056e2c252_0_10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b056e2c252_0_10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0" name="Google Shape;310;g3b056e2c252_0_10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3b056e2c252_0_10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g3b056e2c252_0_10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g3b056e2c252_0_10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3" name="Google Shape;323;p2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5" name="Google Shape;325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12541309" y="0"/>
            <a:ext cx="5746718" cy="1711738"/>
          </a:xfrm>
          <a:custGeom>
            <a:rect b="b" l="l" r="r" t="t"/>
            <a:pathLst>
              <a:path extrusionOk="0" h="2282317" w="7662291">
                <a:moveTo>
                  <a:pt x="0" y="0"/>
                </a:moveTo>
                <a:lnTo>
                  <a:pt x="7662291" y="0"/>
                </a:lnTo>
                <a:lnTo>
                  <a:pt x="7662291" y="2282317"/>
                </a:lnTo>
                <a:lnTo>
                  <a:pt x="0" y="22823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1081353" y="284324"/>
            <a:ext cx="11459956" cy="2018550"/>
            <a:chOff x="0" y="-228600"/>
            <a:chExt cx="17457600" cy="2691400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7457600" cy="2462800"/>
            </a:xfrm>
            <a:custGeom>
              <a:rect b="b" l="l" r="r" t="t"/>
              <a:pathLst>
                <a:path extrusionOk="0" h="2462800" w="17457600">
                  <a:moveTo>
                    <a:pt x="0" y="0"/>
                  </a:moveTo>
                  <a:lnTo>
                    <a:pt x="17457600" y="0"/>
                  </a:lnTo>
                  <a:lnTo>
                    <a:pt x="17457600" y="2462800"/>
                  </a:lnTo>
                  <a:lnTo>
                    <a:pt x="0" y="246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228600"/>
              <a:ext cx="17457600" cy="269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1" i="0" lang="en-US" sz="49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Introducción a la Programación y Computación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2687399" y="3701337"/>
            <a:ext cx="13860001" cy="2813209"/>
            <a:chOff x="0" y="-285750"/>
            <a:chExt cx="18480001" cy="3750944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8480001" cy="3465194"/>
            </a:xfrm>
            <a:custGeom>
              <a:rect b="b" l="l" r="r" t="t"/>
              <a:pathLst>
                <a:path extrusionOk="0" h="3465194" w="18480001">
                  <a:moveTo>
                    <a:pt x="0" y="0"/>
                  </a:moveTo>
                  <a:lnTo>
                    <a:pt x="18480001" y="0"/>
                  </a:lnTo>
                  <a:lnTo>
                    <a:pt x="18480001" y="3465194"/>
                  </a:lnTo>
                  <a:lnTo>
                    <a:pt x="0" y="34651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285750"/>
              <a:ext cx="18480000" cy="3750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6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199"/>
                <a:buFont typeface="Arial"/>
                <a:buNone/>
              </a:pPr>
              <a:r>
                <a:rPr b="1" lang="en-US" sz="6199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Fundamentos del Lenguaje y Entorno de Desarrollo</a:t>
              </a:r>
              <a:endParaRPr b="1" i="0" sz="6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1081353" y="8455051"/>
            <a:ext cx="6981300" cy="1547625"/>
            <a:chOff x="0" y="-114300"/>
            <a:chExt cx="9308400" cy="2063500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9308400" cy="1949200"/>
            </a:xfrm>
            <a:custGeom>
              <a:rect b="b" l="l" r="r" t="t"/>
              <a:pathLst>
                <a:path extrusionOk="0" h="1949200" w="9308400">
                  <a:moveTo>
                    <a:pt x="0" y="0"/>
                  </a:moveTo>
                  <a:lnTo>
                    <a:pt x="9308400" y="0"/>
                  </a:lnTo>
                  <a:lnTo>
                    <a:pt x="9308400" y="1949200"/>
                  </a:lnTo>
                  <a:lnTo>
                    <a:pt x="0" y="1949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-114300"/>
              <a:ext cx="9308400" cy="20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Universidad de San Carlos de Guatemala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Facultad de Ingeniería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6798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1" i="0" lang="en-US" sz="2499" u="none" cap="none" strike="noStrike">
                  <a:solidFill>
                    <a:srgbClr val="131416"/>
                  </a:solidFill>
                  <a:latin typeface="Open Sans"/>
                  <a:ea typeface="Open Sans"/>
                  <a:cs typeface="Open Sans"/>
                  <a:sym typeface="Open Sans"/>
                </a:rPr>
                <a:t>Escuela de Ciencias Y Sistemas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176619" y="4699462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349650" y="4383037"/>
            <a:ext cx="9827590" cy="1002729"/>
            <a:chOff x="0" y="-209550"/>
            <a:chExt cx="13103453" cy="1336971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3103453" cy="1127421"/>
            </a:xfrm>
            <a:custGeom>
              <a:rect b="b" l="l" r="r" t="t"/>
              <a:pathLst>
                <a:path extrusionOk="0" h="1127421" w="13103453">
                  <a:moveTo>
                    <a:pt x="0" y="0"/>
                  </a:moveTo>
                  <a:lnTo>
                    <a:pt x="13103453" y="0"/>
                  </a:lnTo>
                  <a:lnTo>
                    <a:pt x="13103453" y="1127421"/>
                  </a:lnTo>
                  <a:lnTo>
                    <a:pt x="0" y="112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0" y="-209550"/>
              <a:ext cx="13103453" cy="13369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Introducción a Java: ¿Qué es?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87865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866989" y="3303305"/>
            <a:ext cx="4115181" cy="1267206"/>
          </a:xfrm>
          <a:custGeom>
            <a:rect b="b" l="l" r="r" t="t"/>
            <a:pathLst>
              <a:path extrusionOk="0" h="1689608" w="5486908">
                <a:moveTo>
                  <a:pt x="4458208" y="0"/>
                </a:moveTo>
                <a:lnTo>
                  <a:pt x="0" y="0"/>
                </a:lnTo>
                <a:lnTo>
                  <a:pt x="0" y="1689608"/>
                </a:lnTo>
                <a:lnTo>
                  <a:pt x="4458208" y="1689608"/>
                </a:lnTo>
                <a:lnTo>
                  <a:pt x="5486908" y="844804"/>
                </a:lnTo>
                <a:lnTo>
                  <a:pt x="445820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866989" y="2856821"/>
            <a:ext cx="3681207" cy="1713646"/>
            <a:chOff x="0" y="-209550"/>
            <a:chExt cx="4908276" cy="2284862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4908276" cy="2075312"/>
            </a:xfrm>
            <a:custGeom>
              <a:rect b="b" l="l" r="r" t="t"/>
              <a:pathLst>
                <a:path extrusionOk="0" h="2075312" w="4908276">
                  <a:moveTo>
                    <a:pt x="0" y="0"/>
                  </a:moveTo>
                  <a:lnTo>
                    <a:pt x="4908276" y="0"/>
                  </a:lnTo>
                  <a:lnTo>
                    <a:pt x="4908276" y="2075312"/>
                  </a:lnTo>
                  <a:lnTo>
                    <a:pt x="0" y="207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209550"/>
              <a:ext cx="4908276" cy="228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651754" y="3429735"/>
            <a:ext cx="753904" cy="872966"/>
          </a:xfrm>
          <a:custGeom>
            <a:rect b="b" l="l" r="r" t="t"/>
            <a:pathLst>
              <a:path extrusionOk="0" h="1163955" w="1005205">
                <a:moveTo>
                  <a:pt x="0" y="0"/>
                </a:moveTo>
                <a:lnTo>
                  <a:pt x="1005205" y="0"/>
                </a:lnTo>
                <a:lnTo>
                  <a:pt x="1005205" y="1163955"/>
                </a:lnTo>
                <a:lnTo>
                  <a:pt x="0" y="11639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27" l="0" r="0" t="-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2"/>
          <p:cNvGrpSpPr/>
          <p:nvPr/>
        </p:nvGrpSpPr>
        <p:grpSpPr>
          <a:xfrm>
            <a:off x="380356" y="99554"/>
            <a:ext cx="7894893" cy="5241017"/>
            <a:chOff x="-246123" y="-257175"/>
            <a:chExt cx="10526524" cy="6988023"/>
          </a:xfrm>
        </p:grpSpPr>
        <p:sp>
          <p:nvSpPr>
            <p:cNvPr id="121" name="Google Shape;121;p2"/>
            <p:cNvSpPr/>
            <p:nvPr/>
          </p:nvSpPr>
          <p:spPr>
            <a:xfrm>
              <a:off x="-246123" y="1307948"/>
              <a:ext cx="10280401" cy="5422900"/>
            </a:xfrm>
            <a:custGeom>
              <a:rect b="b" l="l" r="r" t="t"/>
              <a:pathLst>
                <a:path extrusionOk="0" h="5422900" w="10280401">
                  <a:moveTo>
                    <a:pt x="0" y="0"/>
                  </a:moveTo>
                  <a:lnTo>
                    <a:pt x="10280401" y="0"/>
                  </a:lnTo>
                  <a:lnTo>
                    <a:pt x="10280401" y="5422900"/>
                  </a:lnTo>
                  <a:lnTo>
                    <a:pt x="0" y="5422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-257175"/>
              <a:ext cx="10280401" cy="5680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799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acifico"/>
                  <a:ea typeface="Pacifico"/>
                  <a:cs typeface="Pacifico"/>
                  <a:sym typeface="Pacifico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/>
          <p:nvPr/>
        </p:nvSpPr>
        <p:spPr>
          <a:xfrm>
            <a:off x="176619" y="5623280"/>
            <a:ext cx="4613529" cy="666369"/>
          </a:xfrm>
          <a:custGeom>
            <a:rect b="b" l="l" r="r" t="t"/>
            <a:pathLst>
              <a:path extrusionOk="0" h="888492" w="6151372">
                <a:moveTo>
                  <a:pt x="5514975" y="0"/>
                </a:moveTo>
                <a:lnTo>
                  <a:pt x="0" y="0"/>
                </a:lnTo>
                <a:lnTo>
                  <a:pt x="0" y="888492"/>
                </a:lnTo>
                <a:lnTo>
                  <a:pt x="5514975" y="888492"/>
                </a:lnTo>
                <a:lnTo>
                  <a:pt x="6151372" y="444246"/>
                </a:lnTo>
                <a:lnTo>
                  <a:pt x="55149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" name="Google Shape;124;p2"/>
          <p:cNvGrpSpPr/>
          <p:nvPr/>
        </p:nvGrpSpPr>
        <p:grpSpPr>
          <a:xfrm>
            <a:off x="1727217" y="5170650"/>
            <a:ext cx="8096183" cy="1002826"/>
            <a:chOff x="0" y="-209543"/>
            <a:chExt cx="10794911" cy="1337100"/>
          </a:xfrm>
        </p:grpSpPr>
        <p:sp>
          <p:nvSpPr>
            <p:cNvPr id="125" name="Google Shape;125;p2"/>
            <p:cNvSpPr/>
            <p:nvPr/>
          </p:nvSpPr>
          <p:spPr>
            <a:xfrm>
              <a:off x="0" y="0"/>
              <a:ext cx="9429941" cy="1127421"/>
            </a:xfrm>
            <a:custGeom>
              <a:rect b="b" l="l" r="r" t="t"/>
              <a:pathLst>
                <a:path extrusionOk="0" h="1127421" w="9429941">
                  <a:moveTo>
                    <a:pt x="0" y="0"/>
                  </a:moveTo>
                  <a:lnTo>
                    <a:pt x="9429941" y="0"/>
                  </a:lnTo>
                  <a:lnTo>
                    <a:pt x="9429941" y="1127421"/>
                  </a:lnTo>
                  <a:lnTo>
                    <a:pt x="0" y="11274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11" y="-209543"/>
              <a:ext cx="107949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La Máquina Virtual y el Entorno (JDK, JRE, JVM).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2"/>
          <p:cNvSpPr/>
          <p:nvPr/>
        </p:nvSpPr>
        <p:spPr>
          <a:xfrm>
            <a:off x="176625" y="6604851"/>
            <a:ext cx="5805583" cy="666369"/>
          </a:xfrm>
          <a:custGeom>
            <a:rect b="b" l="l" r="r" t="t"/>
            <a:pathLst>
              <a:path extrusionOk="0" h="888492" w="7740777">
                <a:moveTo>
                  <a:pt x="6940042" y="0"/>
                </a:moveTo>
                <a:lnTo>
                  <a:pt x="0" y="0"/>
                </a:lnTo>
                <a:lnTo>
                  <a:pt x="0" y="888492"/>
                </a:lnTo>
                <a:lnTo>
                  <a:pt x="6940042" y="888492"/>
                </a:lnTo>
                <a:lnTo>
                  <a:pt x="7740777" y="444246"/>
                </a:lnTo>
                <a:lnTo>
                  <a:pt x="694004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" name="Google Shape;128;p2"/>
          <p:cNvGrpSpPr/>
          <p:nvPr/>
        </p:nvGrpSpPr>
        <p:grpSpPr>
          <a:xfrm>
            <a:off x="2360800" y="6066275"/>
            <a:ext cx="6575850" cy="1002826"/>
            <a:chOff x="0" y="-209547"/>
            <a:chExt cx="8767800" cy="1337100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7740387" cy="1127424"/>
            </a:xfrm>
            <a:custGeom>
              <a:rect b="b" l="l" r="r" t="t"/>
              <a:pathLst>
                <a:path extrusionOk="0" h="1127424" w="7740387">
                  <a:moveTo>
                    <a:pt x="0" y="0"/>
                  </a:moveTo>
                  <a:lnTo>
                    <a:pt x="7740387" y="0"/>
                  </a:lnTo>
                  <a:lnTo>
                    <a:pt x="7740387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0" y="-209547"/>
              <a:ext cx="87678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799"/>
                <a:t>Características principales del lenguaje.</a:t>
              </a:r>
              <a:endParaRPr sz="2799"/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148712" y="7528433"/>
            <a:ext cx="8213408" cy="666369"/>
          </a:xfrm>
          <a:custGeom>
            <a:rect b="b" l="l" r="r" t="t"/>
            <a:pathLst>
              <a:path extrusionOk="0" h="888492" w="10951210">
                <a:moveTo>
                  <a:pt x="9818243" y="0"/>
                </a:moveTo>
                <a:lnTo>
                  <a:pt x="0" y="0"/>
                </a:lnTo>
                <a:lnTo>
                  <a:pt x="0" y="888492"/>
                </a:lnTo>
                <a:lnTo>
                  <a:pt x="9818243" y="888492"/>
                </a:lnTo>
                <a:lnTo>
                  <a:pt x="10951210" y="444246"/>
                </a:lnTo>
                <a:lnTo>
                  <a:pt x="981824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1332012" y="7192111"/>
            <a:ext cx="8058586" cy="1002731"/>
            <a:chOff x="0" y="-209550"/>
            <a:chExt cx="10744782" cy="1336974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10744782" cy="1127424"/>
            </a:xfrm>
            <a:custGeom>
              <a:rect b="b" l="l" r="r" t="t"/>
              <a:pathLst>
                <a:path extrusionOk="0" h="1127424" w="10744782">
                  <a:moveTo>
                    <a:pt x="0" y="0"/>
                  </a:moveTo>
                  <a:lnTo>
                    <a:pt x="10744782" y="0"/>
                  </a:lnTo>
                  <a:lnTo>
                    <a:pt x="10744782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209550"/>
              <a:ext cx="10744782" cy="13369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Sintaxis básica: Comentarios y Variables.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453114" y="8591895"/>
            <a:ext cx="12167330" cy="666369"/>
          </a:xfrm>
          <a:custGeom>
            <a:rect b="b" l="l" r="r" t="t"/>
            <a:pathLst>
              <a:path extrusionOk="0" h="888492" w="16223107">
                <a:moveTo>
                  <a:pt x="14544802" y="0"/>
                </a:moveTo>
                <a:lnTo>
                  <a:pt x="0" y="0"/>
                </a:lnTo>
                <a:lnTo>
                  <a:pt x="0" y="888492"/>
                </a:lnTo>
                <a:lnTo>
                  <a:pt x="14544802" y="888492"/>
                </a:lnTo>
                <a:lnTo>
                  <a:pt x="16223107" y="444246"/>
                </a:lnTo>
                <a:lnTo>
                  <a:pt x="145448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6" name="Google Shape;136;p2"/>
          <p:cNvGrpSpPr/>
          <p:nvPr/>
        </p:nvGrpSpPr>
        <p:grpSpPr>
          <a:xfrm>
            <a:off x="-12700" y="8255762"/>
            <a:ext cx="11458587" cy="1002694"/>
            <a:chOff x="0" y="-209550"/>
            <a:chExt cx="15278116" cy="1336926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15278116" cy="1127376"/>
            </a:xfrm>
            <a:custGeom>
              <a:rect b="b" l="l" r="r" t="t"/>
              <a:pathLst>
                <a:path extrusionOk="0" h="1127376" w="15278116">
                  <a:moveTo>
                    <a:pt x="0" y="0"/>
                  </a:moveTo>
                  <a:lnTo>
                    <a:pt x="15278116" y="0"/>
                  </a:lnTo>
                  <a:lnTo>
                    <a:pt x="15278116" y="1127376"/>
                  </a:lnTo>
                  <a:lnTo>
                    <a:pt x="0" y="1127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0" y="-209550"/>
              <a:ext cx="15278115" cy="13369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799"/>
                <a:t>Tipos de datos (Primitivos y No primitivos).</a:t>
              </a:r>
              <a:endParaRPr sz="2799"/>
            </a:p>
          </p:txBody>
        </p:sp>
      </p:grpSp>
      <p:sp>
        <p:nvSpPr>
          <p:cNvPr id="139" name="Google Shape;139;p2"/>
          <p:cNvSpPr/>
          <p:nvPr/>
        </p:nvSpPr>
        <p:spPr>
          <a:xfrm>
            <a:off x="878654" y="562328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878654" y="6604853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878654" y="7604635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878654" y="8605540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/>
          <p:nvPr/>
        </p:nvSpPr>
        <p:spPr>
          <a:xfrm>
            <a:off x="10177169" y="4699461"/>
            <a:ext cx="4613625" cy="666369"/>
          </a:xfrm>
          <a:custGeom>
            <a:rect b="b" l="l" r="r" t="t"/>
            <a:pathLst>
              <a:path extrusionOk="0" h="888492" w="6151499">
                <a:moveTo>
                  <a:pt x="5515102" y="0"/>
                </a:moveTo>
                <a:lnTo>
                  <a:pt x="0" y="0"/>
                </a:lnTo>
                <a:lnTo>
                  <a:pt x="0" y="888492"/>
                </a:lnTo>
                <a:lnTo>
                  <a:pt x="5515102" y="888492"/>
                </a:lnTo>
                <a:lnTo>
                  <a:pt x="6151499" y="444246"/>
                </a:lnTo>
                <a:lnTo>
                  <a:pt x="55151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" name="Google Shape;144;p2"/>
          <p:cNvGrpSpPr/>
          <p:nvPr/>
        </p:nvGrpSpPr>
        <p:grpSpPr>
          <a:xfrm>
            <a:off x="10879200" y="4429425"/>
            <a:ext cx="6229699" cy="1002826"/>
            <a:chOff x="0" y="-147667"/>
            <a:chExt cx="8306267" cy="1337100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6151038" cy="1127424"/>
            </a:xfrm>
            <a:custGeom>
              <a:rect b="b" l="l" r="r" t="t"/>
              <a:pathLst>
                <a:path extrusionOk="0" h="1127424" w="6151038">
                  <a:moveTo>
                    <a:pt x="0" y="0"/>
                  </a:moveTo>
                  <a:lnTo>
                    <a:pt x="6151038" y="0"/>
                  </a:lnTo>
                  <a:lnTo>
                    <a:pt x="6151038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2"/>
            <p:cNvSpPr txBox="1"/>
            <p:nvPr/>
          </p:nvSpPr>
          <p:spPr>
            <a:xfrm>
              <a:off x="755567" y="-147667"/>
              <a:ext cx="75507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Conversión de tipos (Casteo).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"/>
          <p:cNvSpPr/>
          <p:nvPr/>
        </p:nvSpPr>
        <p:spPr>
          <a:xfrm>
            <a:off x="10721904" y="47404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10019869" y="5632375"/>
            <a:ext cx="4613624" cy="666369"/>
          </a:xfrm>
          <a:custGeom>
            <a:rect b="b" l="l" r="r" t="t"/>
            <a:pathLst>
              <a:path extrusionOk="0" h="888492" w="6151499">
                <a:moveTo>
                  <a:pt x="5515102" y="0"/>
                </a:moveTo>
                <a:lnTo>
                  <a:pt x="0" y="0"/>
                </a:lnTo>
                <a:lnTo>
                  <a:pt x="0" y="888492"/>
                </a:lnTo>
                <a:lnTo>
                  <a:pt x="5515102" y="888492"/>
                </a:lnTo>
                <a:lnTo>
                  <a:pt x="6151499" y="444246"/>
                </a:lnTo>
                <a:lnTo>
                  <a:pt x="551510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2"/>
          <p:cNvGrpSpPr/>
          <p:nvPr/>
        </p:nvGrpSpPr>
        <p:grpSpPr>
          <a:xfrm>
            <a:off x="10638213" y="5385767"/>
            <a:ext cx="7818987" cy="1295109"/>
            <a:chOff x="0" y="0"/>
            <a:chExt cx="10425316" cy="1726811"/>
          </a:xfrm>
        </p:grpSpPr>
        <p:sp>
          <p:nvSpPr>
            <p:cNvPr id="150" name="Google Shape;150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2"/>
            <p:cNvSpPr txBox="1"/>
            <p:nvPr/>
          </p:nvSpPr>
          <p:spPr>
            <a:xfrm>
              <a:off x="716116" y="11"/>
              <a:ext cx="9709200" cy="17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5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lang="en-US" sz="2799"/>
                <a:t>Operadores (Aritméticos, Relacionales y Lógicos).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2" name="Google Shape;152;p2"/>
          <p:cNvSpPr/>
          <p:nvPr/>
        </p:nvSpPr>
        <p:spPr>
          <a:xfrm>
            <a:off x="10721904" y="5673341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2"/>
          <p:cNvGrpSpPr/>
          <p:nvPr/>
        </p:nvGrpSpPr>
        <p:grpSpPr>
          <a:xfrm>
            <a:off x="10807663" y="7604617"/>
            <a:ext cx="5620163" cy="1014038"/>
            <a:chOff x="0" y="0"/>
            <a:chExt cx="7493550" cy="1352050"/>
          </a:xfrm>
        </p:grpSpPr>
        <p:sp>
          <p:nvSpPr>
            <p:cNvPr id="154" name="Google Shape;154;p2"/>
            <p:cNvSpPr/>
            <p:nvPr/>
          </p:nvSpPr>
          <p:spPr>
            <a:xfrm>
              <a:off x="0" y="0"/>
              <a:ext cx="6793669" cy="1127424"/>
            </a:xfrm>
            <a:custGeom>
              <a:rect b="b" l="l" r="r" t="t"/>
              <a:pathLst>
                <a:path extrusionOk="0" h="1127424" w="6793669">
                  <a:moveTo>
                    <a:pt x="0" y="0"/>
                  </a:moveTo>
                  <a:lnTo>
                    <a:pt x="6793669" y="0"/>
                  </a:lnTo>
                  <a:lnTo>
                    <a:pt x="6793669" y="1127424"/>
                  </a:lnTo>
                  <a:lnTo>
                    <a:pt x="0" y="112742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699750" y="14950"/>
              <a:ext cx="6793800" cy="133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298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en-US" sz="2799"/>
                <a:t>Entrada y Salida de datos.</a:t>
              </a:r>
              <a:endParaRPr sz="2799"/>
            </a:p>
          </p:txBody>
        </p:sp>
      </p:grpSp>
      <p:sp>
        <p:nvSpPr>
          <p:cNvPr id="156" name="Google Shape;156;p2"/>
          <p:cNvSpPr/>
          <p:nvPr/>
        </p:nvSpPr>
        <p:spPr>
          <a:xfrm>
            <a:off x="10891354" y="7892192"/>
            <a:ext cx="453390" cy="550069"/>
          </a:xfrm>
          <a:custGeom>
            <a:rect b="b" l="l" r="r" t="t"/>
            <a:pathLst>
              <a:path extrusionOk="0" h="733425" w="604520">
                <a:moveTo>
                  <a:pt x="0" y="0"/>
                </a:moveTo>
                <a:lnTo>
                  <a:pt x="604520" y="0"/>
                </a:lnTo>
                <a:lnTo>
                  <a:pt x="604520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" l="0" r="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3"/>
          <p:cNvGrpSpPr/>
          <p:nvPr/>
        </p:nvGrpSpPr>
        <p:grpSpPr>
          <a:xfrm>
            <a:off x="1406936" y="593342"/>
            <a:ext cx="13991101" cy="1256147"/>
            <a:chOff x="0" y="-209550"/>
            <a:chExt cx="18654801" cy="1674862"/>
          </a:xfrm>
        </p:grpSpPr>
        <p:sp>
          <p:nvSpPr>
            <p:cNvPr id="166" name="Google Shape;166;p3"/>
            <p:cNvSpPr/>
            <p:nvPr/>
          </p:nvSpPr>
          <p:spPr>
            <a:xfrm>
              <a:off x="0" y="0"/>
              <a:ext cx="18654801" cy="1465312"/>
            </a:xfrm>
            <a:custGeom>
              <a:rect b="b" l="l" r="r" t="t"/>
              <a:pathLst>
                <a:path extrusionOk="0" h="1465312" w="18654801">
                  <a:moveTo>
                    <a:pt x="0" y="0"/>
                  </a:moveTo>
                  <a:lnTo>
                    <a:pt x="18654801" y="0"/>
                  </a:lnTo>
                  <a:lnTo>
                    <a:pt x="186548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-209550"/>
              <a:ext cx="18654800" cy="167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b="0" i="0" lang="en-US" sz="6098" u="none" cap="none" strike="noStrike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Competencias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p3"/>
          <p:cNvGrpSpPr/>
          <p:nvPr/>
        </p:nvGrpSpPr>
        <p:grpSpPr>
          <a:xfrm>
            <a:off x="2202100" y="3187428"/>
            <a:ext cx="14916375" cy="5442300"/>
            <a:chOff x="-3" y="-133330"/>
            <a:chExt cx="19888500" cy="7256400"/>
          </a:xfrm>
        </p:grpSpPr>
        <p:sp>
          <p:nvSpPr>
            <p:cNvPr id="169" name="Google Shape;169;p3"/>
            <p:cNvSpPr/>
            <p:nvPr/>
          </p:nvSpPr>
          <p:spPr>
            <a:xfrm>
              <a:off x="0" y="0"/>
              <a:ext cx="19322400" cy="5788000"/>
            </a:xfrm>
            <a:custGeom>
              <a:rect b="b" l="l" r="r" t="t"/>
              <a:pathLst>
                <a:path extrusionOk="0" h="5788000" w="19322400">
                  <a:moveTo>
                    <a:pt x="0" y="0"/>
                  </a:moveTo>
                  <a:lnTo>
                    <a:pt x="19322400" y="0"/>
                  </a:lnTo>
                  <a:lnTo>
                    <a:pt x="19322400" y="5788000"/>
                  </a:lnTo>
                  <a:lnTo>
                    <a:pt x="0" y="5788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-3" y="-133330"/>
              <a:ext cx="19888500" cy="725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Al finalizar esta unidad, el estudiante será capaz de:</a:t>
              </a:r>
              <a:endParaRPr b="1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Char char="●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Distinguir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los componentes del entorno de desarrollo de Java (JDK, JRE y JVM) y su función en la ejecución del código.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Char char="●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Aplicar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la sintaxis básica para declarar variables y utilizar los tipos de datos adecuados según la necesidad.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Char char="●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Implementar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operaciones lógicas y aritméticas para la resolución de expresiones computacionales.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100"/>
                <a:buChar char="●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Desarrollar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programas simples que interactúen con el usuario mediante la entrada y salida de datos por consola.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68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t/>
              </a:r>
              <a:endParaRPr b="0" i="0" sz="3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g3b056312c4a_0_19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180" name="Google Shape;180;g3b056312c4a_0_19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g3b056312c4a_0_19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¿Qué es Java?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g3b056312c4a_0_19"/>
          <p:cNvGrpSpPr/>
          <p:nvPr/>
        </p:nvGrpSpPr>
        <p:grpSpPr>
          <a:xfrm>
            <a:off x="1374903" y="2398856"/>
            <a:ext cx="15864600" cy="4799700"/>
            <a:chOff x="0" y="-314325"/>
            <a:chExt cx="21152800" cy="6399600"/>
          </a:xfrm>
        </p:grpSpPr>
        <p:sp>
          <p:nvSpPr>
            <p:cNvPr id="183" name="Google Shape;183;g3b056312c4a_0_19"/>
            <p:cNvSpPr/>
            <p:nvPr/>
          </p:nvSpPr>
          <p:spPr>
            <a:xfrm>
              <a:off x="0" y="0"/>
              <a:ext cx="21152800" cy="6085264"/>
            </a:xfrm>
            <a:custGeom>
              <a:rect b="b" l="l" r="r" t="t"/>
              <a:pathLst>
                <a:path extrusionOk="0" h="6085264" w="21152800">
                  <a:moveTo>
                    <a:pt x="0" y="0"/>
                  </a:moveTo>
                  <a:lnTo>
                    <a:pt x="21152800" y="0"/>
                  </a:lnTo>
                  <a:lnTo>
                    <a:pt x="21152800" y="6085264"/>
                  </a:lnTo>
                  <a:lnTo>
                    <a:pt x="0" y="60852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g3b056312c4a_0_19"/>
            <p:cNvSpPr txBox="1"/>
            <p:nvPr/>
          </p:nvSpPr>
          <p:spPr>
            <a:xfrm>
              <a:off x="0" y="-314325"/>
              <a:ext cx="21152700" cy="639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425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416"/>
                </a:buClr>
                <a:buSzPts val="3100"/>
                <a:buChar char="•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Definición: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Es un lenguaje de programación de alto nivel, orientado a objetos y diseñado para tener la menor cantidad de dependencias de implementación posibles.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416"/>
                </a:buClr>
                <a:buSzPts val="3100"/>
                <a:buChar char="•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Filosofía: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"Write Once, Run Anywhere" (Escribe una vez, ejecuta en cualquier lugar). Esto significa que el código compilado en una máquina puede correr en cualquier otra que soporte Java.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425450" lvl="1" marL="9144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31416"/>
                </a:buClr>
                <a:buSzPts val="3100"/>
                <a:buChar char="•"/>
              </a:pPr>
              <a:r>
                <a:rPr b="1"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Historia:</a:t>
              </a:r>
              <a:r>
                <a:rPr lang="en-US" sz="3100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rPr>
                <a:t> Creado por Sun Microsystems (ahora Oracle) en 1995.</a:t>
              </a:r>
              <a:endParaRPr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24"/>
                <a:buFont typeface="Arial"/>
                <a:buNone/>
              </a:pPr>
              <a:r>
                <a:t/>
              </a:r>
              <a:endParaRPr i="0" sz="3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1" marL="401463" marR="0" rtl="0" algn="l">
                <a:lnSpc>
                  <a:spcPct val="207638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24"/>
                <a:buFont typeface="Arial"/>
                <a:buNone/>
              </a:pPr>
              <a:r>
                <a:t/>
              </a:r>
              <a:endParaRPr b="0" i="0" sz="3024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5" name="Google Shape;185;g3b056312c4a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9650" y="6435806"/>
            <a:ext cx="4948700" cy="2783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g3b056312c4a_0_0"/>
          <p:cNvGrpSpPr/>
          <p:nvPr/>
        </p:nvGrpSpPr>
        <p:grpSpPr>
          <a:xfrm>
            <a:off x="1406936" y="593342"/>
            <a:ext cx="13991175" cy="1256175"/>
            <a:chOff x="0" y="-209550"/>
            <a:chExt cx="18654900" cy="1674900"/>
          </a:xfrm>
        </p:grpSpPr>
        <p:sp>
          <p:nvSpPr>
            <p:cNvPr id="195" name="Google Shape;195;g3b056312c4a_0_0"/>
            <p:cNvSpPr/>
            <p:nvPr/>
          </p:nvSpPr>
          <p:spPr>
            <a:xfrm>
              <a:off x="0" y="0"/>
              <a:ext cx="18654801" cy="1465312"/>
            </a:xfrm>
            <a:custGeom>
              <a:rect b="b" l="l" r="r" t="t"/>
              <a:pathLst>
                <a:path extrusionOk="0" h="1465312" w="18654801">
                  <a:moveTo>
                    <a:pt x="0" y="0"/>
                  </a:moveTo>
                  <a:lnTo>
                    <a:pt x="18654801" y="0"/>
                  </a:lnTo>
                  <a:lnTo>
                    <a:pt x="186548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g3b056312c4a_0_0"/>
            <p:cNvSpPr txBox="1"/>
            <p:nvPr/>
          </p:nvSpPr>
          <p:spPr>
            <a:xfrm>
              <a:off x="0" y="-209550"/>
              <a:ext cx="186549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Versiones y Ambientes (La Arquitectura)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g3b056312c4a_0_0"/>
          <p:cNvSpPr txBox="1"/>
          <p:nvPr/>
        </p:nvSpPr>
        <p:spPr>
          <a:xfrm>
            <a:off x="964950" y="1849525"/>
            <a:ext cx="10069500" cy="6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00"/>
              <a:buChar char="•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JVM (Java Virtual Machine):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Es el motor que ejecuta el código. Traduce el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bytecode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 Java al lenguaje máquina específico de tu computadora.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00"/>
              <a:buChar char="•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JRE (Java Runtime Environment):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Incluye la JVM y las bibliotecas necesarias para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correr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programas, pero no para programarlos.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00"/>
              <a:buChar char="•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JDK (Java Development Kit):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Es el kit completo. Incluye el JRE más las herramientas para desarrolladores (compilador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javac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depurador, etc.).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00"/>
              <a:buChar char="•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Nota clave: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Para programar necesitas instalar el </a:t>
            </a: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JDK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g3b056312c4a_0_0"/>
          <p:cNvSpPr txBox="1"/>
          <p:nvPr/>
        </p:nvSpPr>
        <p:spPr>
          <a:xfrm>
            <a:off x="12779925" y="1918550"/>
            <a:ext cx="2914800" cy="6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Ejemplo de JVM: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g3b056312c4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7700" y="3020125"/>
            <a:ext cx="6600525" cy="50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"/>
          <p:cNvSpPr/>
          <p:nvPr/>
        </p:nvSpPr>
        <p:spPr>
          <a:xfrm>
            <a:off x="1374900" y="2123500"/>
            <a:ext cx="14889301" cy="6087948"/>
          </a:xfrm>
          <a:custGeom>
            <a:rect b="b" l="l" r="r" t="t"/>
            <a:pathLst>
              <a:path extrusionOk="0" h="8117264" w="19852401">
                <a:moveTo>
                  <a:pt x="0" y="0"/>
                </a:moveTo>
                <a:lnTo>
                  <a:pt x="19852401" y="0"/>
                </a:lnTo>
                <a:lnTo>
                  <a:pt x="19852401" y="8117264"/>
                </a:lnTo>
                <a:lnTo>
                  <a:pt x="0" y="8117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Orientado a Objetos: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Todo en Java se modela como objetos con atributos y comportamientos.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Simple: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Elimina complejidades de lenguajes anteriores (como la gestión manual de memoria de C++).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Seguro: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Tiene fuertes mecanismos de tipado y control de acceso a memoria.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Robusto: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Manejo estricto de errores y recolección de basura automática (Garbage Collection).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Multihilo: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Permite ejecutar varias tareas simultáneamente.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9" name="Google Shape;209;p4"/>
          <p:cNvGrpSpPr/>
          <p:nvPr/>
        </p:nvGrpSpPr>
        <p:grpSpPr>
          <a:xfrm>
            <a:off x="1374889" y="497201"/>
            <a:ext cx="13991101" cy="1256147"/>
            <a:chOff x="0" y="-209550"/>
            <a:chExt cx="18654801" cy="1674862"/>
          </a:xfrm>
        </p:grpSpPr>
        <p:sp>
          <p:nvSpPr>
            <p:cNvPr id="210" name="Google Shape;210;p4"/>
            <p:cNvSpPr/>
            <p:nvPr/>
          </p:nvSpPr>
          <p:spPr>
            <a:xfrm>
              <a:off x="0" y="0"/>
              <a:ext cx="18654801" cy="1465312"/>
            </a:xfrm>
            <a:custGeom>
              <a:rect b="b" l="l" r="r" t="t"/>
              <a:pathLst>
                <a:path extrusionOk="0" h="1465312" w="18654801">
                  <a:moveTo>
                    <a:pt x="0" y="0"/>
                  </a:moveTo>
                  <a:lnTo>
                    <a:pt x="18654801" y="0"/>
                  </a:lnTo>
                  <a:lnTo>
                    <a:pt x="186548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4"/>
            <p:cNvSpPr txBox="1"/>
            <p:nvPr/>
          </p:nvSpPr>
          <p:spPr>
            <a:xfrm>
              <a:off x="0" y="-209550"/>
              <a:ext cx="18654800" cy="167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Características de Java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/>
          <p:nvPr/>
        </p:nvSpPr>
        <p:spPr>
          <a:xfrm>
            <a:off x="1392603" y="1973975"/>
            <a:ext cx="15502800" cy="3173984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Los comentarios son ignorados por el compilador y sirven para documentar el código.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Comentario de una línea: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Se usa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//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○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Ejemplo: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// Esto es una variable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Comentario multilínea: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Se usa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/* ... */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  <a:b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Java</a:t>
            </a:r>
            <a:b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/* Este es un comentario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que ocupa varias líneas */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5"/>
          <p:cNvGrpSpPr/>
          <p:nvPr/>
        </p:nvGrpSpPr>
        <p:grpSpPr>
          <a:xfrm>
            <a:off x="1374901" y="497213"/>
            <a:ext cx="15288901" cy="1256147"/>
            <a:chOff x="0" y="-209550"/>
            <a:chExt cx="20385201" cy="1674862"/>
          </a:xfrm>
        </p:grpSpPr>
        <p:sp>
          <p:nvSpPr>
            <p:cNvPr id="222" name="Google Shape;222;p5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5"/>
            <p:cNvSpPr txBox="1"/>
            <p:nvPr/>
          </p:nvSpPr>
          <p:spPr>
            <a:xfrm>
              <a:off x="0" y="-209550"/>
              <a:ext cx="20385200" cy="167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Comentarios en el Código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b056e2c252_0_25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Definición: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Una variable es un espacio en memoria reservado para almacenar un valor que puede cambiar durante la ejecución.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Sintaxis: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tipo nombre = valor;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Ejemplos: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int edad = 25;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double precio = 10.50;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String nombre = "Juan";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3" name="Google Shape;233;g3b056e2c252_0_25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34" name="Google Shape;234;g3b056e2c252_0_25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g3b056e2c252_0_25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Variables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b056e2c252_0_38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Tipos Primitivos (Almacenan valores simples):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Enteros: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byte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short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long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Decimales: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float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double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Carácter: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char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(un solo símbolo, ej: 'A').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Lógico: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boolean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(true o false).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Tipos No Primitivos (Referencia):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AutoNum type="alphaLcPeriod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Almacenan direcciones de memoria de objetos.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AutoNum type="alphaLcPeriod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El más común es </a:t>
            </a: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String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(cadena de texto).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AutoNum type="alphaLcPeriod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También incluye Arrays y Clases creadas por el usuario.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5" name="Google Shape;245;g3b056e2c252_0_38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46" name="Google Shape;246;g3b056e2c252_0_38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g3b056e2c252_0_38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Tipos de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056e2c252_0_55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Casteo Implícito (Automático):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Ocurre al pasar de un tipo pequeño a uno más grande (no hay pérdida de datos).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int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-&gt;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double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Casteo Explícito (Manual):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Se requiere cuando pasamos de un tipo grande a uno pequeño (puede haber pérdida de precisión).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Ejemplo: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double x = 9.78; int y = (int) x;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(El valor será 9).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g3b056e2c252_0_55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58" name="Google Shape;258;g3b056e2c252_0_55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b056e2c252_0_55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Casteos (Conversión de Tipos)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b056e2c252_0_69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Aritméticos: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Suma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+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Resta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-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Multiplicación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*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División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Módulo/Residuo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%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Relacionales: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Mayor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&gt;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Menor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&lt;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Igual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==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), Diferente (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!=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). Devuelven un booleano.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Lógicos: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&amp;&amp;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(AND): Verdadero si ambos son verdaderos.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||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(OR): Verdadero si al menos uno es verdadero.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!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(NOT): Invierte el valor.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9" name="Google Shape;269;g3b056e2c252_0_69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70" name="Google Shape;270;g3b056e2c252_0_69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g3b056e2c252_0_69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Operadores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b056e2c252_0_82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Output (Salida):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Para mostrar información en consola.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System.out.println("Hola Mundo");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(Imprime con salto de línea).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System.out.print("Hola");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(Imprime sin salto de línea).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Un consejo para ahorrar tiempo, es poder usar la abreviación “sout” para que se autocomplete toda la sentencia.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Input (Entrada):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Para recibir datos del usuario se usa la clase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Scanner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Scanner scanner = new Scanner(System.in);</a:t>
            </a:r>
            <a:endParaRPr sz="3100">
              <a:solidFill>
                <a:srgbClr val="188038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int numero = scanner.nextInt();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1" name="Google Shape;281;g3b056e2c252_0_82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82" name="Google Shape;282;g3b056e2c252_0_82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g3b056e2c252_0_82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Input y Output (Entrada y Salida)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b056e2c252_0_95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Precisión: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Escribir código respetando estrictamente la sintaxis (puntos y comas, llaves) para evitar errores de compilación.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Claridad: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Usar nombres de variables descriptivos (ej: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salarioTotal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en lugar de </a:t>
            </a:r>
            <a:r>
              <a:rPr lang="en-US" sz="3100">
                <a:solidFill>
                  <a:srgbClr val="188038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) para que el código sea legible por otros.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Curiosidad: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Experimentar con diferentes tipos de datos y operadores para comprender sus límites y comportamientos.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" name="Google Shape;293;g3b056e2c252_0_95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294" name="Google Shape;294;g3b056e2c252_0_95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g3b056e2c252_0_95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Valores y Actitudes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2"/>
          <p:cNvGrpSpPr/>
          <p:nvPr/>
        </p:nvGrpSpPr>
        <p:grpSpPr>
          <a:xfrm>
            <a:off x="4487895" y="3966084"/>
            <a:ext cx="9312212" cy="1926649"/>
            <a:chOff x="0" y="-285750"/>
            <a:chExt cx="6214547" cy="1285758"/>
          </a:xfrm>
        </p:grpSpPr>
        <p:sp>
          <p:nvSpPr>
            <p:cNvPr id="305" name="Google Shape;305;p22"/>
            <p:cNvSpPr/>
            <p:nvPr/>
          </p:nvSpPr>
          <p:spPr>
            <a:xfrm>
              <a:off x="0" y="0"/>
              <a:ext cx="6214547" cy="1000008"/>
            </a:xfrm>
            <a:custGeom>
              <a:rect b="b" l="l" r="r" t="t"/>
              <a:pathLst>
                <a:path extrusionOk="0" h="1000008" w="6214547">
                  <a:moveTo>
                    <a:pt x="0" y="0"/>
                  </a:moveTo>
                  <a:lnTo>
                    <a:pt x="6214547" y="0"/>
                  </a:lnTo>
                  <a:lnTo>
                    <a:pt x="6214547" y="1000008"/>
                  </a:lnTo>
                  <a:lnTo>
                    <a:pt x="0" y="10000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22"/>
            <p:cNvSpPr txBox="1"/>
            <p:nvPr/>
          </p:nvSpPr>
          <p:spPr>
            <a:xfrm>
              <a:off x="0" y="-285750"/>
              <a:ext cx="6214546" cy="1285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559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297"/>
                <a:buFont typeface="Arial"/>
                <a:buNone/>
              </a:pPr>
              <a:r>
                <a:rPr b="0" i="0" lang="en-US" sz="8297" u="none" cap="none" strike="noStrike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Conclusiones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b056e2c252_0_108"/>
          <p:cNvSpPr/>
          <p:nvPr/>
        </p:nvSpPr>
        <p:spPr>
          <a:xfrm>
            <a:off x="1392600" y="1973975"/>
            <a:ext cx="15502800" cy="5575632"/>
          </a:xfrm>
          <a:custGeom>
            <a:rect b="b" l="l" r="r" t="t"/>
            <a:pathLst>
              <a:path extrusionOk="0" h="4231979" w="20670400">
                <a:moveTo>
                  <a:pt x="0" y="0"/>
                </a:moveTo>
                <a:lnTo>
                  <a:pt x="20670400" y="0"/>
                </a:lnTo>
                <a:lnTo>
                  <a:pt x="20670400" y="4231979"/>
                </a:lnTo>
                <a:lnTo>
                  <a:pt x="0" y="423197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Oracle.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(2024).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The Java™ Tutorials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Oracle Documentation.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Deitel, P., &amp; Deitel, H.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(2017).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Java: Cómo programar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Pearson Educación.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54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Open Sans"/>
              <a:buChar char="●"/>
            </a:pPr>
            <a:r>
              <a:rPr b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Eck, D. J.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(2022). </a:t>
            </a:r>
            <a:r>
              <a:rPr i="1"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Introduction to Programming Using Java</a:t>
            </a:r>
            <a:r>
              <a:rPr lang="en-US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 Hobart and William Smith Colleges.</a:t>
            </a:r>
            <a:endParaRPr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" name="Google Shape;316;g3b056e2c252_0_108"/>
          <p:cNvGrpSpPr/>
          <p:nvPr/>
        </p:nvGrpSpPr>
        <p:grpSpPr>
          <a:xfrm>
            <a:off x="1374901" y="497213"/>
            <a:ext cx="15288975" cy="1256175"/>
            <a:chOff x="0" y="-209550"/>
            <a:chExt cx="20385300" cy="1674900"/>
          </a:xfrm>
        </p:grpSpPr>
        <p:sp>
          <p:nvSpPr>
            <p:cNvPr id="317" name="Google Shape;317;g3b056e2c252_0_108"/>
            <p:cNvSpPr/>
            <p:nvPr/>
          </p:nvSpPr>
          <p:spPr>
            <a:xfrm>
              <a:off x="0" y="0"/>
              <a:ext cx="20385201" cy="1465312"/>
            </a:xfrm>
            <a:custGeom>
              <a:rect b="b" l="l" r="r" t="t"/>
              <a:pathLst>
                <a:path extrusionOk="0" h="1465312" w="20385201">
                  <a:moveTo>
                    <a:pt x="0" y="0"/>
                  </a:moveTo>
                  <a:lnTo>
                    <a:pt x="20385201" y="0"/>
                  </a:lnTo>
                  <a:lnTo>
                    <a:pt x="20385201" y="1465312"/>
                  </a:lnTo>
                  <a:lnTo>
                    <a:pt x="0" y="14653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g3b056e2c252_0_108"/>
            <p:cNvSpPr txBox="1"/>
            <p:nvPr/>
          </p:nvSpPr>
          <p:spPr>
            <a:xfrm>
              <a:off x="0" y="-209550"/>
              <a:ext cx="20385300" cy="16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3556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lang="en-US" sz="6098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Referencias Bibliográficas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19" name="Google Shape;319;g3b056e2c252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0738" y="5447994"/>
            <a:ext cx="8686515" cy="434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8" name="Google Shape;328;p23"/>
          <p:cNvGrpSpPr/>
          <p:nvPr/>
        </p:nvGrpSpPr>
        <p:grpSpPr>
          <a:xfrm>
            <a:off x="4437795" y="3274804"/>
            <a:ext cx="8658900" cy="2029500"/>
            <a:chOff x="0" y="-152400"/>
            <a:chExt cx="11545200" cy="2706000"/>
          </a:xfrm>
        </p:grpSpPr>
        <p:sp>
          <p:nvSpPr>
            <p:cNvPr id="329" name="Google Shape;329;p23"/>
            <p:cNvSpPr/>
            <p:nvPr/>
          </p:nvSpPr>
          <p:spPr>
            <a:xfrm>
              <a:off x="0" y="0"/>
              <a:ext cx="11545200" cy="2553600"/>
            </a:xfrm>
            <a:custGeom>
              <a:rect b="b" l="l" r="r" t="t"/>
              <a:pathLst>
                <a:path extrusionOk="0" h="2553600" w="11545200">
                  <a:moveTo>
                    <a:pt x="0" y="0"/>
                  </a:moveTo>
                  <a:lnTo>
                    <a:pt x="11545200" y="0"/>
                  </a:lnTo>
                  <a:lnTo>
                    <a:pt x="11545200" y="2553600"/>
                  </a:lnTo>
                  <a:lnTo>
                    <a:pt x="0" y="25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0" y="-152400"/>
              <a:ext cx="11545200" cy="270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just">
                <a:lnSpc>
                  <a:spcPct val="1248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rPr b="0" i="0" lang="en-US" sz="6098" u="none" cap="none" strike="noStrike">
                  <a:solidFill>
                    <a:srgbClr val="131416"/>
                  </a:solidFill>
                  <a:latin typeface="Impact"/>
                  <a:ea typeface="Impact"/>
                  <a:cs typeface="Impact"/>
                  <a:sym typeface="Impact"/>
                </a:rPr>
                <a:t>¡GRACIAS POR SU  ATENCIÓN!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2864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98"/>
                <a:buFont typeface="Arial"/>
                <a:buNone/>
              </a:pPr>
              <a:r>
                <a:t/>
              </a:r>
              <a:endParaRPr b="0" i="0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endParaRPr>
            </a:p>
          </p:txBody>
        </p:sp>
      </p:grpSp>
      <p:grpSp>
        <p:nvGrpSpPr>
          <p:cNvPr id="331" name="Google Shape;331;p23"/>
          <p:cNvGrpSpPr/>
          <p:nvPr/>
        </p:nvGrpSpPr>
        <p:grpSpPr>
          <a:xfrm>
            <a:off x="5414714" y="5679497"/>
            <a:ext cx="6704991" cy="1177131"/>
            <a:chOff x="0" y="-371475"/>
            <a:chExt cx="8939988" cy="1569508"/>
          </a:xfrm>
        </p:grpSpPr>
        <p:sp>
          <p:nvSpPr>
            <p:cNvPr id="332" name="Google Shape;332;p23"/>
            <p:cNvSpPr/>
            <p:nvPr/>
          </p:nvSpPr>
          <p:spPr>
            <a:xfrm>
              <a:off x="0" y="0"/>
              <a:ext cx="8939988" cy="1198033"/>
            </a:xfrm>
            <a:custGeom>
              <a:rect b="b" l="l" r="r" t="t"/>
              <a:pathLst>
                <a:path extrusionOk="0" h="1198033" w="8939988">
                  <a:moveTo>
                    <a:pt x="0" y="0"/>
                  </a:moveTo>
                  <a:lnTo>
                    <a:pt x="8939988" y="0"/>
                  </a:lnTo>
                  <a:lnTo>
                    <a:pt x="8939988" y="1198033"/>
                  </a:lnTo>
                  <a:lnTo>
                    <a:pt x="0" y="11980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3"/>
            <p:cNvSpPr txBox="1"/>
            <p:nvPr/>
          </p:nvSpPr>
          <p:spPr>
            <a:xfrm>
              <a:off x="0" y="-371475"/>
              <a:ext cx="8939988" cy="156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1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999"/>
                <a:buFont typeface="Arial"/>
                <a:buNone/>
              </a:pPr>
              <a:r>
                <a:rPr b="0" i="0" lang="en-US" sz="4999" u="none" cap="none" strike="noStrike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DUDAS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4" name="Google Shape;334;p23"/>
          <p:cNvSpPr/>
          <p:nvPr/>
        </p:nvSpPr>
        <p:spPr>
          <a:xfrm>
            <a:off x="13963751" y="1028700"/>
            <a:ext cx="2757297" cy="3770948"/>
          </a:xfrm>
          <a:custGeom>
            <a:rect b="b" l="l" r="r" t="t"/>
            <a:pathLst>
              <a:path extrusionOk="0" h="5027930" w="3676396">
                <a:moveTo>
                  <a:pt x="0" y="0"/>
                </a:moveTo>
                <a:lnTo>
                  <a:pt x="3676396" y="0"/>
                </a:lnTo>
                <a:lnTo>
                  <a:pt x="3676396" y="5027930"/>
                </a:lnTo>
                <a:lnTo>
                  <a:pt x="0" y="50279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" r="-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5" name="Google Shape;335;p23"/>
          <p:cNvGrpSpPr/>
          <p:nvPr/>
        </p:nvGrpSpPr>
        <p:grpSpPr>
          <a:xfrm>
            <a:off x="2411098" y="7785435"/>
            <a:ext cx="13465804" cy="833755"/>
            <a:chOff x="0" y="-152400"/>
            <a:chExt cx="17954405" cy="1111673"/>
          </a:xfrm>
        </p:grpSpPr>
        <p:sp>
          <p:nvSpPr>
            <p:cNvPr id="336" name="Google Shape;336;p23"/>
            <p:cNvSpPr/>
            <p:nvPr/>
          </p:nvSpPr>
          <p:spPr>
            <a:xfrm>
              <a:off x="0" y="0"/>
              <a:ext cx="17954405" cy="959273"/>
            </a:xfrm>
            <a:custGeom>
              <a:rect b="b" l="l" r="r" t="t"/>
              <a:pathLst>
                <a:path extrusionOk="0" h="959273" w="17954405">
                  <a:moveTo>
                    <a:pt x="0" y="0"/>
                  </a:moveTo>
                  <a:lnTo>
                    <a:pt x="17954405" y="0"/>
                  </a:lnTo>
                  <a:lnTo>
                    <a:pt x="17954405" y="959273"/>
                  </a:lnTo>
                  <a:lnTo>
                    <a:pt x="0" y="959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3"/>
            <p:cNvSpPr txBox="1"/>
            <p:nvPr/>
          </p:nvSpPr>
          <p:spPr>
            <a:xfrm>
              <a:off x="0" y="-152400"/>
              <a:ext cx="17954405" cy="11116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776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131416"/>
                  </a:solidFill>
                  <a:latin typeface="Arial"/>
                  <a:ea typeface="Arial"/>
                  <a:cs typeface="Arial"/>
                  <a:sym typeface="Arial"/>
                </a:rPr>
                <a:t>RECUERDA QUE TENEMOS NUESTRO FORO SEMANAL DONDE PUEDES CONSULTAR CUALQUIER DUDA QUE TE SURJA EN LA SEMANA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