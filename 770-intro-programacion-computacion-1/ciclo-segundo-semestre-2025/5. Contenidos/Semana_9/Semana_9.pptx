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10287000" cx="18288000"/>
  <p:notesSz cx="6858000" cy="9144000"/>
  <p:embeddedFontLst>
    <p:embeddedFont>
      <p:font typeface="Lobster"/>
      <p:regular r:id="rId37"/>
    </p:embeddedFont>
    <p:embeddedFont>
      <p:font typeface="Pacifico"/>
      <p:regular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h/WXzvbBBX1qrDhlTjTbvOHi9C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obster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38" Type="http://schemas.openxmlformats.org/officeDocument/2006/relationships/font" Target="fonts/Pacific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02b40d1c8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02b40d1c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2b40d1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b02b40d1c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02b40d1c8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02b40d1c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2b40d1c8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02b40d1c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02b40d1c8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02b40d1c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02b40d1c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b02b40d1c8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02b40d1c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b02b40d1c8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02b40d1c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b02b40d1c8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02b40d1c8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02b40d1c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02b40d1c8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02b40d1c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02b40d1c8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02b40d1c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02b40d1c8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02b40d1c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02b40d1c8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02b40d1c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02b40d1c8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02b40d1c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02b40d1c8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b02b40d1c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02b40d1c8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02b40d1c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02b40d1c8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02b40d1c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02b40d1c8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02b40d1c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02b40d1c8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02b40d1c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02b40d1c8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02b40d1c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4f262177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64f26217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4afea4f6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g385e2d797db_0_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g385e2d797db_0_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codeja.dev/blog/hilos-thread-en-java/" TargetMode="External"/><Relationship Id="rId4" Type="http://schemas.openxmlformats.org/officeDocument/2006/relationships/hyperlink" Target="https://www-oracle-com.translate.goog/java/technologies/" TargetMode="External"/><Relationship Id="rId5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INTRODUCCIÓN A LA PROGRAMACIÓN Y COMPUTACIÓN 1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1022850" y="6477425"/>
            <a:ext cx="16242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770- Introducción a la Programación y Computación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956505" y="2876349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POO Avanzado</a:t>
            </a:r>
            <a:b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Hilos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           Clases Abstractas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9" name="Google Shape;109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Interfaces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76619" y="6425875"/>
            <a:ext cx="7538931" cy="845566"/>
            <a:chOff x="0" y="-76200"/>
            <a:chExt cx="3209703" cy="360000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3" y="-76200"/>
              <a:ext cx="3209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        Miembros estáticos y de Instancia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             Hilos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8412925"/>
            <a:ext cx="7116856" cy="845566"/>
            <a:chOff x="0" y="-76196"/>
            <a:chExt cx="3030004" cy="360000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4" y="-76196"/>
              <a:ext cx="303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             Ciclo de vida de un hilo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5234350" y="3114000"/>
            <a:ext cx="12045600" cy="6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95300" lvl="0" marL="4572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200"/>
              <a:buFont typeface="Open Sans"/>
              <a:buChar char="●"/>
            </a:pPr>
            <a:r>
              <a:rPr b="1" lang="en-US" sz="4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Analizar Estructuras de datos complejas y algoritmos de ordenamiento</a:t>
            </a:r>
            <a:endParaRPr b="1" sz="42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95300" lvl="0" marL="4572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200"/>
              <a:buFont typeface="Open Sans"/>
              <a:buChar char="●"/>
            </a:pPr>
            <a:r>
              <a:rPr b="1" lang="en-US" sz="4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Evaluar Arquitecturas de software y calidad de código Empleando métricas de software, patrones de diseño y técnicas de testing Para garantizar mantenibilidad, escalabilidad y robustez del sistema </a:t>
            </a:r>
            <a:endParaRPr b="1" sz="42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3" name="Google Shape;143;p3" title="Gemini_Generated_Image_sfb0qdsfb0qdsfb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83075" y="2671314"/>
            <a:ext cx="5234360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/>
        </p:nvSpPr>
        <p:spPr>
          <a:xfrm>
            <a:off x="721414" y="2022116"/>
            <a:ext cx="12625500" cy="6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Una clase Abstracta es una clase que sirve como esqueleto para demás clases hijas. Tiene como características: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No es instanciable directamente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Se implementan por clases no abstractas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Pueden tener atributos y constructores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Es obligatorio implementar sus métodos abstractos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Clase Abstracta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0" name="Google Shape;15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0325" y="2951200"/>
            <a:ext cx="6435150" cy="473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02b40d1c8_0_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mpact"/>
                <a:ea typeface="Impact"/>
                <a:cs typeface="Impact"/>
                <a:sym typeface="Impact"/>
              </a:rPr>
              <a:t>EJEMPLO CLASE ABSTRACTA: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6" name="Google Shape;156;g3b02b40d1c8_0_14"/>
          <p:cNvPicPr preferRelativeResize="0"/>
          <p:nvPr/>
        </p:nvPicPr>
        <p:blipFill rotWithShape="1">
          <a:blip r:embed="rId3">
            <a:alphaModFix/>
          </a:blip>
          <a:srcRect b="12358" l="6538" r="6277" t="11728"/>
          <a:stretch/>
        </p:blipFill>
        <p:spPr>
          <a:xfrm>
            <a:off x="6776375" y="2951200"/>
            <a:ext cx="10762127" cy="49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b02b40d1c8_0_14"/>
          <p:cNvPicPr preferRelativeResize="0"/>
          <p:nvPr/>
        </p:nvPicPr>
        <p:blipFill rotWithShape="1">
          <a:blip r:embed="rId4">
            <a:alphaModFix/>
          </a:blip>
          <a:srcRect b="18404" l="13541" r="12901" t="17513"/>
          <a:stretch/>
        </p:blipFill>
        <p:spPr>
          <a:xfrm>
            <a:off x="779950" y="4243950"/>
            <a:ext cx="4806226" cy="28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b02b40d1c8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3499">
            <a:off x="3907250" y="1963450"/>
            <a:ext cx="2732550" cy="273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02b40d1c8_0_4"/>
          <p:cNvSpPr txBox="1"/>
          <p:nvPr/>
        </p:nvSpPr>
        <p:spPr>
          <a:xfrm>
            <a:off x="721414" y="2022116"/>
            <a:ext cx="12625500" cy="5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Una interface es un contrato, haciendo que sus clases “subordinadas” implementen obligatoriamente sus métodos. Características: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Define qu</a:t>
            </a:r>
            <a:r>
              <a:rPr lang="en-US" sz="3925">
                <a:solidFill>
                  <a:srgbClr val="131416"/>
                </a:solidFill>
              </a:rPr>
              <a:t>é debe hacer, no cómo se debe hacer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Se encuentran varios m</a:t>
            </a:r>
            <a:r>
              <a:rPr lang="en-US" sz="3925">
                <a:solidFill>
                  <a:srgbClr val="131416"/>
                </a:solidFill>
              </a:rPr>
              <a:t>étodos abstractos.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Una clase puede implementar varias interfaces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164" name="Google Shape;164;g3b02b40d1c8_0_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Interfaces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5" name="Google Shape;165;g3b02b40d1c8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9375" y="3810112"/>
            <a:ext cx="6200000" cy="5401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02b40d1c8_0_2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mpact"/>
                <a:ea typeface="Impact"/>
                <a:cs typeface="Impact"/>
                <a:sym typeface="Impact"/>
              </a:rPr>
              <a:t>EJEMPLO INTERFACES: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1" name="Google Shape;171;g3b02b40d1c8_0_25"/>
          <p:cNvPicPr preferRelativeResize="0"/>
          <p:nvPr/>
        </p:nvPicPr>
        <p:blipFill rotWithShape="1">
          <a:blip r:embed="rId3">
            <a:alphaModFix/>
          </a:blip>
          <a:srcRect b="21027" l="10096" r="9839" t="21108"/>
          <a:stretch/>
        </p:blipFill>
        <p:spPr>
          <a:xfrm>
            <a:off x="1144112" y="2360950"/>
            <a:ext cx="6855776" cy="238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b02b40d1c8_0_25"/>
          <p:cNvPicPr preferRelativeResize="0"/>
          <p:nvPr/>
        </p:nvPicPr>
        <p:blipFill rotWithShape="1">
          <a:blip r:embed="rId4">
            <a:alphaModFix/>
          </a:blip>
          <a:srcRect b="20520" l="11425" r="10904" t="18280"/>
          <a:stretch/>
        </p:blipFill>
        <p:spPr>
          <a:xfrm>
            <a:off x="10676125" y="2223375"/>
            <a:ext cx="5754849" cy="26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b02b40d1c8_0_25"/>
          <p:cNvPicPr preferRelativeResize="0"/>
          <p:nvPr/>
        </p:nvPicPr>
        <p:blipFill rotWithShape="1">
          <a:blip r:embed="rId5">
            <a:alphaModFix/>
          </a:blip>
          <a:srcRect b="12005" l="9031" r="8718" t="11623"/>
          <a:stretch/>
        </p:blipFill>
        <p:spPr>
          <a:xfrm>
            <a:off x="6045250" y="5586175"/>
            <a:ext cx="6197500" cy="40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b02b40d1c8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8936723">
            <a:off x="3353302" y="4788250"/>
            <a:ext cx="2732549" cy="273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b02b40d1c8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736717">
            <a:off x="12465201" y="4956899"/>
            <a:ext cx="2732549" cy="273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02b40d1c8_0_3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CLASE ABSTRACTA VS INTERFACE: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1" name="Google Shape;181;g3b02b40d1c8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25" y="2124807"/>
            <a:ext cx="16701949" cy="725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02b40d1c8_0_43"/>
          <p:cNvSpPr txBox="1"/>
          <p:nvPr>
            <p:ph type="title"/>
          </p:nvPr>
        </p:nvSpPr>
        <p:spPr>
          <a:xfrm>
            <a:off x="457200" y="274650"/>
            <a:ext cx="17060100" cy="1260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MIEMBROS EST</a:t>
            </a:r>
            <a:r>
              <a:rPr lang="en-US">
                <a:latin typeface="Impact"/>
                <a:ea typeface="Impact"/>
                <a:cs typeface="Impact"/>
                <a:sym typeface="Impact"/>
              </a:rPr>
              <a:t>ÁTICOS VS MIEMBROS DE INSTANCIA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7" name="Google Shape;187;g3b02b40d1c8_0_43"/>
          <p:cNvSpPr txBox="1"/>
          <p:nvPr>
            <p:ph idx="1" type="body"/>
          </p:nvPr>
        </p:nvSpPr>
        <p:spPr>
          <a:xfrm>
            <a:off x="457200" y="1724859"/>
            <a:ext cx="6922500" cy="1096500"/>
          </a:xfrm>
          <a:prstGeom prst="rect">
            <a:avLst/>
          </a:prstGeom>
        </p:spPr>
        <p:txBody>
          <a:bodyPr anchorCtr="0" anchor="b" bIns="156650" lIns="156650" spcFirstLastPara="1" rIns="156650" wrap="square" tIns="156650">
            <a:normAutofit/>
          </a:bodyPr>
          <a:lstStyle/>
          <a:p>
            <a:pPr indent="0" lvl="0" marL="0" rtl="0" algn="l">
              <a:spcBef>
                <a:spcPts val="822"/>
              </a:spcBef>
              <a:spcAft>
                <a:spcPts val="0"/>
              </a:spcAft>
              <a:buNone/>
            </a:pPr>
            <a:r>
              <a:rPr lang="en-US" sz="4112"/>
              <a:t>Miembros De Instancia</a:t>
            </a:r>
            <a:endParaRPr sz="4112"/>
          </a:p>
        </p:txBody>
      </p:sp>
      <p:sp>
        <p:nvSpPr>
          <p:cNvPr id="188" name="Google Shape;188;g3b02b40d1c8_0_43"/>
          <p:cNvSpPr txBox="1"/>
          <p:nvPr>
            <p:ph idx="2" type="body"/>
          </p:nvPr>
        </p:nvSpPr>
        <p:spPr>
          <a:xfrm>
            <a:off x="457200" y="2821055"/>
            <a:ext cx="6922500" cy="6770400"/>
          </a:xfrm>
          <a:prstGeom prst="rect">
            <a:avLst/>
          </a:prstGeom>
        </p:spPr>
        <p:txBody>
          <a:bodyPr anchorCtr="0" anchor="t" bIns="156650" lIns="156650" spcFirstLastPara="1" rIns="156650" wrap="square" tIns="156650">
            <a:norm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Cada objeto tiene 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su propia copia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Se crean cuando se crea el objeto (</a:t>
            </a:r>
            <a:r>
              <a:rPr lang="en-US" sz="3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).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Acceden a otros miembros de instancia 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 a miembros estáticos.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Representan el 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estado individual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 de un objeto.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112"/>
          </a:p>
        </p:txBody>
      </p:sp>
      <p:sp>
        <p:nvSpPr>
          <p:cNvPr id="189" name="Google Shape;189;g3b02b40d1c8_0_43"/>
          <p:cNvSpPr txBox="1"/>
          <p:nvPr>
            <p:ph idx="3" type="body"/>
          </p:nvPr>
        </p:nvSpPr>
        <p:spPr>
          <a:xfrm>
            <a:off x="10594800" y="1724859"/>
            <a:ext cx="6922500" cy="1095900"/>
          </a:xfrm>
          <a:prstGeom prst="rect">
            <a:avLst/>
          </a:prstGeom>
        </p:spPr>
        <p:txBody>
          <a:bodyPr anchorCtr="0" anchor="b" bIns="156575" lIns="156575" spcFirstLastPara="1" rIns="156575" wrap="square" tIns="156575">
            <a:normAutofit/>
          </a:bodyPr>
          <a:lstStyle/>
          <a:p>
            <a:pPr indent="0" lvl="0" marL="0" rtl="0" algn="l">
              <a:spcBef>
                <a:spcPts val="822"/>
              </a:spcBef>
              <a:spcAft>
                <a:spcPts val="0"/>
              </a:spcAft>
              <a:buNone/>
            </a:pPr>
            <a:r>
              <a:rPr lang="en-US" sz="4110"/>
              <a:t>Miembros Estáticos:</a:t>
            </a:r>
            <a:endParaRPr sz="4110"/>
          </a:p>
        </p:txBody>
      </p:sp>
      <p:sp>
        <p:nvSpPr>
          <p:cNvPr id="190" name="Google Shape;190;g3b02b40d1c8_0_43"/>
          <p:cNvSpPr txBox="1"/>
          <p:nvPr>
            <p:ph idx="4" type="body"/>
          </p:nvPr>
        </p:nvSpPr>
        <p:spPr>
          <a:xfrm>
            <a:off x="10594800" y="2820566"/>
            <a:ext cx="6922500" cy="6767400"/>
          </a:xfrm>
          <a:prstGeom prst="rect">
            <a:avLst/>
          </a:prstGeom>
        </p:spPr>
        <p:txBody>
          <a:bodyPr anchorCtr="0" anchor="t" bIns="156575" lIns="156575" spcFirstLastPara="1" rIns="156575" wrap="square" tIns="156575">
            <a:noAutofit/>
          </a:bodyPr>
          <a:lstStyle/>
          <a:p>
            <a:pPr indent="-431800" lvl="0" marL="457200" rtl="0" algn="l">
              <a:spcBef>
                <a:spcPts val="822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Existe 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una sola copia compartida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Se crean cuando la clase se carga en memoria.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Se acceden usando el 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nombre de la clase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No pueden acceder directamente a miembros de instancia.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Representan información o comportamiento </a:t>
            </a: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común a todos los objetos</a:t>
            </a:r>
            <a:r>
              <a:rPr lang="en-US" sz="3200">
                <a:latin typeface="Arial"/>
                <a:ea typeface="Arial"/>
                <a:cs typeface="Arial"/>
                <a:sym typeface="Arial"/>
              </a:rPr>
              <a:t>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22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91" name="Google Shape;191;g3b02b40d1c8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2100" y="4051300"/>
            <a:ext cx="2910299" cy="2184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02b40d1c8_0_54"/>
          <p:cNvSpPr txBox="1"/>
          <p:nvPr/>
        </p:nvSpPr>
        <p:spPr>
          <a:xfrm>
            <a:off x="721414" y="2022116"/>
            <a:ext cx="12625500" cy="16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La variable población será igual para todas las clases instanciadas.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197" name="Google Shape;197;g3b02b40d1c8_0_5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MIEMBROS ESTÁTICOS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8" name="Google Shape;198;g3b02b40d1c8_0_54"/>
          <p:cNvPicPr preferRelativeResize="0"/>
          <p:nvPr/>
        </p:nvPicPr>
        <p:blipFill rotWithShape="1">
          <a:blip r:embed="rId3">
            <a:alphaModFix/>
          </a:blip>
          <a:srcRect b="13077" l="8006" r="8332" t="13656"/>
          <a:stretch/>
        </p:blipFill>
        <p:spPr>
          <a:xfrm>
            <a:off x="3995188" y="3671825"/>
            <a:ext cx="10731438" cy="60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b02b40d1c8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10901" y="6345289"/>
            <a:ext cx="216217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02b40d1c8_0_65"/>
          <p:cNvSpPr txBox="1"/>
          <p:nvPr/>
        </p:nvSpPr>
        <p:spPr>
          <a:xfrm>
            <a:off x="721414" y="202211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En este caso, p1.nombre y p2.nombre serán diferentes.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205" name="Google Shape;205;g3b02b40d1c8_0_6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MIEMBROS DE INSTANCIA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6" name="Google Shape;206;g3b02b40d1c8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950" y="3212901"/>
            <a:ext cx="8780474" cy="6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b02b40d1c8_0_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076416"/>
            <a:ext cx="4743150" cy="47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02b40d1c8_0_7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CON AMBOS MIEMBROS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13" name="Google Shape;213;g3b02b40d1c8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900" y="1593075"/>
            <a:ext cx="7779894" cy="81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b02b40d1c8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4800" y="2321350"/>
            <a:ext cx="3358852" cy="168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b02b40d1c8_0_74"/>
          <p:cNvSpPr txBox="1"/>
          <p:nvPr/>
        </p:nvSpPr>
        <p:spPr>
          <a:xfrm>
            <a:off x="12900900" y="2594163"/>
            <a:ext cx="5122500" cy="11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poblacion es compartida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es individual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3b02b40d1c8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4800" y="7314000"/>
            <a:ext cx="3358852" cy="168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b02b40d1c8_0_74"/>
          <p:cNvSpPr txBox="1"/>
          <p:nvPr/>
        </p:nvSpPr>
        <p:spPr>
          <a:xfrm>
            <a:off x="12900900" y="7314011"/>
            <a:ext cx="51225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Salida: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02b40d1c8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REFERENCIA “THIS”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g3b02b40d1c8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Java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la palabra clave </a:t>
            </a:r>
            <a:r>
              <a:rPr b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es una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referencia al objeto actual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es decir, a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la instancia desde la cual se está ejecutando el método o constructor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En palabras simples: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apunta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al mismo objeto que está usando el método en ese momento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g3b02b40d1c8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075" y="5181550"/>
            <a:ext cx="6555850" cy="49169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b02b40d1c8_0_86"/>
          <p:cNvSpPr txBox="1"/>
          <p:nvPr/>
        </p:nvSpPr>
        <p:spPr>
          <a:xfrm>
            <a:off x="7167175" y="6598000"/>
            <a:ext cx="10752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b02b40d1c8_0_86"/>
          <p:cNvSpPr txBox="1"/>
          <p:nvPr/>
        </p:nvSpPr>
        <p:spPr>
          <a:xfrm>
            <a:off x="10165350" y="6598000"/>
            <a:ext cx="21453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objeto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02b40d1c8_0_9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DIFERENCIA ATRIBUTOS DE PAR</a:t>
            </a:r>
            <a:r>
              <a:rPr lang="en-US">
                <a:latin typeface="Impact"/>
                <a:ea typeface="Impact"/>
                <a:cs typeface="Impact"/>
                <a:sym typeface="Impact"/>
              </a:rPr>
              <a:t>ÁMETROS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2" name="Google Shape;232;g3b02b40d1c8_0_9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nombre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→ parámetro del constructor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this.nombre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→ atributo del objeto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Sin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Java asumiría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que ambos son el parámetro.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g3b02b40d1c8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6750" y="2598600"/>
            <a:ext cx="7727425" cy="574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02b40d1c8_0_10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ACCEDE A LOS MIEMBROS DE INSTANCIA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9" name="Google Shape;239;g3b02b40d1c8_0_10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permite acceder explícitamente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a los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atributos y métodos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del mismo objeto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 muchos casos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es implícito.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g3b02b40d1c8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4075" y="3025775"/>
            <a:ext cx="9550525" cy="42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02b40d1c8_0_1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ACCEDE A LOS MIEMBROS DE INSTANCIA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6" name="Google Shape;246;g3b02b40d1c8_0_11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Permite llamar a otros constructores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 la misma clase.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Debe ser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la primera línea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del constructor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g3b02b40d1c8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3243" y="2304950"/>
            <a:ext cx="9286632" cy="63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02b40d1c8_0_12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SERIALIZACI</a:t>
            </a:r>
            <a:r>
              <a:rPr lang="en-US">
                <a:latin typeface="Impact"/>
                <a:ea typeface="Impact"/>
                <a:cs typeface="Impact"/>
                <a:sym typeface="Impact"/>
              </a:rPr>
              <a:t>ÓN DE OBJETOS EN ARCHIVOS: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3" name="Google Shape;253;g3b02b40d1c8_0_12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 serialización es el proceso de convertir 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objeto en una secuencia de bytes para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almacenarlo o transmitirlo.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La deserialización 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el proceso inverso.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g3b02b40d1c8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0" y="4055525"/>
            <a:ext cx="11378100" cy="5082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02b40d1c8_0_128"/>
          <p:cNvSpPr txBox="1"/>
          <p:nvPr>
            <p:ph type="title"/>
          </p:nvPr>
        </p:nvSpPr>
        <p:spPr>
          <a:xfrm>
            <a:off x="2405700" y="352245"/>
            <a:ext cx="13476600" cy="1871700"/>
          </a:xfrm>
          <a:prstGeom prst="rect">
            <a:avLst/>
          </a:prstGeom>
        </p:spPr>
        <p:txBody>
          <a:bodyPr anchorCtr="0" anchor="ctr" bIns="149725" lIns="149725" spcFirstLastPara="1" rIns="149725" wrap="square" tIns="1497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5">
                <a:latin typeface="Impact"/>
                <a:ea typeface="Impact"/>
                <a:cs typeface="Impact"/>
                <a:sym typeface="Impact"/>
              </a:rPr>
              <a:t>FUNCIONAMIENTO</a:t>
            </a:r>
            <a:endParaRPr sz="7205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0" name="Google Shape;260;g3b02b40d1c8_0_128"/>
          <p:cNvSpPr txBox="1"/>
          <p:nvPr>
            <p:ph idx="1" type="body"/>
          </p:nvPr>
        </p:nvSpPr>
        <p:spPr>
          <a:xfrm>
            <a:off x="2405700" y="2522956"/>
            <a:ext cx="6613500" cy="7411800"/>
          </a:xfrm>
          <a:prstGeom prst="rect">
            <a:avLst/>
          </a:prstGeom>
        </p:spPr>
        <p:txBody>
          <a:bodyPr anchorCtr="0" anchor="t" bIns="149725" lIns="149725" spcFirstLastPara="1" rIns="149725" wrap="square" tIns="149725">
            <a:normAutofit/>
          </a:bodyPr>
          <a:lstStyle/>
          <a:p>
            <a:pPr indent="0" lvl="0" marL="0" rtl="0" algn="l">
              <a:spcBef>
                <a:spcPts val="917"/>
              </a:spcBef>
              <a:spcAft>
                <a:spcPts val="0"/>
              </a:spcAft>
              <a:buNone/>
            </a:pPr>
            <a:r>
              <a:rPr b="1" lang="en-US" sz="4585"/>
              <a:t>Serialización:</a:t>
            </a:r>
            <a:endParaRPr b="1" sz="4585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Marcar la clase con implements</a:t>
            </a:r>
            <a:endParaRPr sz="4000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Serializable.</a:t>
            </a:r>
            <a:endParaRPr sz="4000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Usar ObjectOutputStream para</a:t>
            </a:r>
            <a:endParaRPr sz="4000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escribir el objeto en un archivo o</a:t>
            </a:r>
            <a:endParaRPr sz="4000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flujo.</a:t>
            </a:r>
            <a:endParaRPr sz="4000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None/>
            </a:pPr>
            <a:r>
              <a:t/>
            </a:r>
            <a:endParaRPr sz="4585"/>
          </a:p>
        </p:txBody>
      </p:sp>
      <p:sp>
        <p:nvSpPr>
          <p:cNvPr id="261" name="Google Shape;261;g3b02b40d1c8_0_128"/>
          <p:cNvSpPr txBox="1"/>
          <p:nvPr>
            <p:ph idx="2" type="body"/>
          </p:nvPr>
        </p:nvSpPr>
        <p:spPr>
          <a:xfrm>
            <a:off x="9268796" y="2522956"/>
            <a:ext cx="6613500" cy="7411800"/>
          </a:xfrm>
          <a:prstGeom prst="rect">
            <a:avLst/>
          </a:prstGeom>
        </p:spPr>
        <p:txBody>
          <a:bodyPr anchorCtr="0" anchor="t" bIns="149725" lIns="149725" spcFirstLastPara="1" rIns="149725" wrap="square" tIns="149725">
            <a:normAutofit/>
          </a:bodyPr>
          <a:lstStyle/>
          <a:p>
            <a:pPr indent="0" lvl="0" marL="0" rtl="0" algn="l">
              <a:spcBef>
                <a:spcPts val="917"/>
              </a:spcBef>
              <a:spcAft>
                <a:spcPts val="0"/>
              </a:spcAft>
              <a:buNone/>
            </a:pPr>
            <a:r>
              <a:rPr b="1" lang="en-US" sz="4585"/>
              <a:t>Deserialización</a:t>
            </a:r>
            <a:r>
              <a:rPr lang="en-US" sz="4585"/>
              <a:t>:</a:t>
            </a:r>
            <a:endParaRPr sz="4585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Usar ObjectInputStream para leer el</a:t>
            </a:r>
            <a:endParaRPr sz="4000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objeto desde un archivo o flujo.</a:t>
            </a:r>
            <a:endParaRPr sz="4000"/>
          </a:p>
          <a:p>
            <a:pPr indent="0" lvl="0" marL="0" rtl="0" algn="l">
              <a:spcBef>
                <a:spcPts val="917"/>
              </a:spcBef>
              <a:spcAft>
                <a:spcPts val="0"/>
              </a:spcAft>
              <a:buNone/>
            </a:pPr>
            <a:r>
              <a:t/>
            </a:r>
            <a:endParaRPr sz="4585"/>
          </a:p>
        </p:txBody>
      </p:sp>
      <p:pic>
        <p:nvPicPr>
          <p:cNvPr id="262" name="Google Shape;262;g3b02b40d1c8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9524" y="5601574"/>
            <a:ext cx="4653075" cy="4233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02b40d1c8_0_13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EJEMPLO: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68" name="Google Shape;268;g3b02b40d1c8_0_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4274" y="445025"/>
            <a:ext cx="8298403" cy="939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02b40d1c8_0_14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HILOS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4" name="Google Shape;274;g3b02b40d1c8_0_14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Son subprocesos.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Permite la ejecuci</a:t>
            </a:r>
            <a:r>
              <a:rPr lang="en-US"/>
              <a:t>ón simultánea de dos o más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partes de un programa para la máxima utilización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la CPU.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programa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es como una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cocina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hilo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es un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cocinero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trabajando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 paralelo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g3b02b40d1c8_0_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1075" y="1201737"/>
            <a:ext cx="7883525" cy="78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02b40d1c8_0_15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CICLO DE VIDA DE UN HILO: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1" name="Google Shape;281;g3b02b40d1c8_0_15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New= Creado pero no iniciado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Runnable = Listo/en ejecuci</a:t>
            </a:r>
            <a:r>
              <a:rPr lang="en-US"/>
              <a:t>ón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Blocked= Bloqueado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Waiting = Espera indefinidamente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Timed_waiting = Espera con límite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tiempo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/>
              <a:t>Terminated = Finalizado / muerto</a:t>
            </a:r>
            <a:endParaRPr/>
          </a:p>
        </p:txBody>
      </p:sp>
      <p:pic>
        <p:nvPicPr>
          <p:cNvPr id="282" name="Google Shape;282;g3b02b40d1c8_0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100" y="2035438"/>
            <a:ext cx="10730875" cy="642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02b40d1c8_0_157"/>
          <p:cNvSpPr txBox="1"/>
          <p:nvPr>
            <p:ph type="title"/>
          </p:nvPr>
        </p:nvSpPr>
        <p:spPr>
          <a:xfrm>
            <a:off x="2237025" y="232383"/>
            <a:ext cx="13813800" cy="1918500"/>
          </a:xfrm>
          <a:prstGeom prst="rect">
            <a:avLst/>
          </a:prstGeom>
        </p:spPr>
        <p:txBody>
          <a:bodyPr anchorCtr="0" anchor="ctr" bIns="153475" lIns="153475" spcFirstLastPara="1" rIns="153475" wrap="square" tIns="1534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85">
                <a:latin typeface="Impact"/>
                <a:ea typeface="Impact"/>
                <a:cs typeface="Impact"/>
                <a:sym typeface="Impact"/>
              </a:rPr>
              <a:t>CREACIÓN DE UN HILO:</a:t>
            </a:r>
            <a:endParaRPr sz="7385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8" name="Google Shape;288;g3b02b40d1c8_0_157"/>
          <p:cNvSpPr txBox="1"/>
          <p:nvPr>
            <p:ph idx="1" type="body"/>
          </p:nvPr>
        </p:nvSpPr>
        <p:spPr>
          <a:xfrm>
            <a:off x="2237025" y="2457421"/>
            <a:ext cx="6779100" cy="7597200"/>
          </a:xfrm>
          <a:prstGeom prst="rect">
            <a:avLst/>
          </a:prstGeom>
        </p:spPr>
        <p:txBody>
          <a:bodyPr anchorCtr="0" anchor="t" bIns="153475" lIns="153475" spcFirstLastPara="1" rIns="153475" wrap="square" tIns="153475">
            <a:normAutofit/>
          </a:bodyPr>
          <a:lstStyle/>
          <a:p>
            <a:pPr indent="0" lvl="0" marL="0" rtl="0" algn="l">
              <a:spcBef>
                <a:spcPts val="940"/>
              </a:spcBef>
              <a:spcAft>
                <a:spcPts val="0"/>
              </a:spcAft>
              <a:buNone/>
            </a:pPr>
            <a:r>
              <a:rPr lang="en-US" sz="3000"/>
              <a:t>Extendiendo de clase Thread:</a:t>
            </a:r>
            <a:endParaRPr sz="3000"/>
          </a:p>
        </p:txBody>
      </p:sp>
      <p:sp>
        <p:nvSpPr>
          <p:cNvPr id="289" name="Google Shape;289;g3b02b40d1c8_0_157"/>
          <p:cNvSpPr txBox="1"/>
          <p:nvPr>
            <p:ph idx="2" type="body"/>
          </p:nvPr>
        </p:nvSpPr>
        <p:spPr>
          <a:xfrm>
            <a:off x="9271881" y="2457421"/>
            <a:ext cx="6779100" cy="7597200"/>
          </a:xfrm>
          <a:prstGeom prst="rect">
            <a:avLst/>
          </a:prstGeom>
        </p:spPr>
        <p:txBody>
          <a:bodyPr anchorCtr="0" anchor="t" bIns="153475" lIns="153475" spcFirstLastPara="1" rIns="153475" wrap="square" tIns="153475">
            <a:normAutofit/>
          </a:bodyPr>
          <a:lstStyle/>
          <a:p>
            <a:pPr indent="0" lvl="0" marL="0" rtl="0" algn="l">
              <a:spcBef>
                <a:spcPts val="940"/>
              </a:spcBef>
              <a:spcAft>
                <a:spcPts val="0"/>
              </a:spcAft>
              <a:buNone/>
            </a:pPr>
            <a:r>
              <a:rPr lang="en-US" sz="3000"/>
              <a:t>Implementando interfaz Runnable:</a:t>
            </a:r>
            <a:endParaRPr sz="3000"/>
          </a:p>
        </p:txBody>
      </p:sp>
      <p:pic>
        <p:nvPicPr>
          <p:cNvPr id="290" name="Google Shape;290;g3b02b40d1c8_0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825" y="3514600"/>
            <a:ext cx="7448350" cy="525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b02b40d1c8_0_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3070" y="3514600"/>
            <a:ext cx="9135905" cy="52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02b40d1c8_0_16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MULTIHILOS (MULTITHREAD):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7" name="Google Shape;297;g3b02b40d1c8_0_165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la capacidad de un programa de ejecutar varias tareas al mismo tiempo.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usado para:</a:t>
            </a:r>
            <a:endParaRPr/>
          </a:p>
          <a:p>
            <a:pPr indent="-431800" lvl="0" marL="457200" rtl="0" algn="l">
              <a:spcBef>
                <a:spcPts val="1200"/>
              </a:spcBef>
              <a:spcAft>
                <a:spcPts val="0"/>
              </a:spcAft>
              <a:buSzPts val="32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Aprovechar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múltiples núcleos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del CPU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Mantener interfaces gráficas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responsivas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Realizar tareas en paralelo (descargas, cálculos)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Mejorar el rendimiento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g3b02b40d1c8_0_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3750" y="3100300"/>
            <a:ext cx="7440850" cy="557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02b40d1c8_0_17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Impact"/>
                <a:ea typeface="Impact"/>
                <a:cs typeface="Impact"/>
                <a:sym typeface="Impact"/>
              </a:rPr>
              <a:t>EJEMPLO: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04" name="Google Shape;304;g3b02b40d1c8_0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350" y="890050"/>
            <a:ext cx="8929301" cy="88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b02b40d1c8_0_173"/>
          <p:cNvSpPr txBox="1"/>
          <p:nvPr/>
        </p:nvSpPr>
        <p:spPr>
          <a:xfrm>
            <a:off x="13912750" y="7420125"/>
            <a:ext cx="41316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&lt;- Hilo A independiente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&lt;- Hilo B independiente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1" name="Google Shape;311;p6"/>
          <p:cNvSpPr txBox="1"/>
          <p:nvPr/>
        </p:nvSpPr>
        <p:spPr>
          <a:xfrm>
            <a:off x="2507412" y="3165183"/>
            <a:ext cx="6911400" cy="59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POO Avanzado: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Clase Abstracta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Interfaces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Clases Abstractas VS Interfaces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Miembros Estáticos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iembros de Instancia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Referencia “this”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Serialización de Objetos</a:t>
            </a:r>
            <a:endParaRPr sz="3151">
              <a:solidFill>
                <a:srgbClr val="131416"/>
              </a:solidFill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9595087" y="3165183"/>
            <a:ext cx="69114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Hilos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Ciclo de Vida de un Hilo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Creación de un Hilo</a:t>
            </a:r>
            <a:endParaRPr sz="3151">
              <a:solidFill>
                <a:srgbClr val="131416"/>
              </a:solidFill>
            </a:endParaRPr>
          </a:p>
          <a:p>
            <a:pPr indent="-428688" lvl="1" marL="13716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○"/>
            </a:pPr>
            <a:r>
              <a:rPr lang="en-US" sz="3151">
                <a:solidFill>
                  <a:srgbClr val="131416"/>
                </a:solidFill>
              </a:rPr>
              <a:t>Multihilos (multithreading)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8" name="Google Shape;318;p7"/>
          <p:cNvSpPr txBox="1"/>
          <p:nvPr/>
        </p:nvSpPr>
        <p:spPr>
          <a:xfrm>
            <a:off x="1116331" y="2896179"/>
            <a:ext cx="6911400" cy="3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dk1"/>
                </a:solidFill>
              </a:rPr>
              <a:t>Se refiere a la </a:t>
            </a:r>
            <a:r>
              <a:rPr b="1" lang="en-US" sz="3500">
                <a:solidFill>
                  <a:schemeClr val="dk1"/>
                </a:solidFill>
              </a:rPr>
              <a:t>capacidad real y consciente de una persona para responder ante una situación</a:t>
            </a:r>
            <a:r>
              <a:rPr lang="en-US" sz="3500">
                <a:solidFill>
                  <a:schemeClr val="dk1"/>
                </a:solidFill>
              </a:rPr>
              <a:t>, no solo en el sentido legal, sino </a:t>
            </a:r>
            <a:r>
              <a:rPr b="1" lang="en-US" sz="3500">
                <a:solidFill>
                  <a:schemeClr val="dk1"/>
                </a:solidFill>
              </a:rPr>
              <a:t>moral, emocional y relacional</a:t>
            </a:r>
            <a:r>
              <a:rPr lang="en-US" sz="3500">
                <a:solidFill>
                  <a:schemeClr val="dk1"/>
                </a:solidFill>
              </a:rPr>
              <a:t>.</a:t>
            </a:r>
            <a:endParaRPr sz="3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13468270" y="5249696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7"/>
          <p:cNvSpPr txBox="1"/>
          <p:nvPr/>
        </p:nvSpPr>
        <p:spPr>
          <a:xfrm>
            <a:off x="14252781" y="6341637"/>
            <a:ext cx="3238200" cy="28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1" lang="en-US" sz="28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Ejemplos:</a:t>
            </a:r>
            <a:endParaRPr b="1" sz="28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8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Entregar una tarea a tiempo.</a:t>
            </a:r>
            <a:endParaRPr sz="28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8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Cumplir una promesa</a:t>
            </a:r>
            <a:endParaRPr sz="28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7"/>
          <p:cNvSpPr txBox="1"/>
          <p:nvPr/>
        </p:nvSpPr>
        <p:spPr>
          <a:xfrm>
            <a:off x="9203475" y="2959325"/>
            <a:ext cx="7407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“Eres responsable para siempre de lo que has domesticado.”</a:t>
            </a:r>
            <a:endParaRPr sz="2800"/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 sz="2800"/>
              <a:t>Antoine de Saint-Exupéry(El Principito)</a:t>
            </a:r>
            <a:endParaRPr sz="2800"/>
          </a:p>
        </p:txBody>
      </p:sp>
      <p:sp>
        <p:nvSpPr>
          <p:cNvPr id="322" name="Google Shape;322;p7"/>
          <p:cNvSpPr txBox="1"/>
          <p:nvPr/>
        </p:nvSpPr>
        <p:spPr>
          <a:xfrm>
            <a:off x="4985656" y="6812429"/>
            <a:ext cx="6911400" cy="28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Compromiso</a:t>
            </a:r>
            <a:r>
              <a:rPr lang="en-US" sz="2800">
                <a:solidFill>
                  <a:schemeClr val="dk1"/>
                </a:solidFill>
              </a:rPr>
              <a:t> significa cumplir con lo que se asume, aun cuando no sea obligatorio o resulte difícil.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Implica constancia, seriedad y respeto hacia uno mismo y hacia los demás.</a:t>
            </a:r>
            <a:endParaRPr sz="28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4859150" y="4519200"/>
            <a:ext cx="11604300" cy="3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-"/>
            </a:pPr>
            <a:r>
              <a:rPr lang="en-US" sz="3151" u="sng">
                <a:solidFill>
                  <a:schemeClr val="hlink"/>
                </a:solidFill>
                <a:hlinkClick r:id="rId3"/>
              </a:rPr>
              <a:t>https://www.codeja.dev/blog/hilos-thread-en-java/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-"/>
            </a:pPr>
            <a:r>
              <a:rPr lang="en-US" sz="3151" u="sng">
                <a:solidFill>
                  <a:schemeClr val="hlink"/>
                </a:solidFill>
                <a:hlinkClick r:id="rId4"/>
              </a:rPr>
              <a:t>https://www-oracle-com.translate.goog/java/technologies/</a:t>
            </a:r>
            <a:endParaRPr sz="3151">
              <a:solidFill>
                <a:srgbClr val="131416"/>
              </a:solidFill>
            </a:endParaRPr>
          </a:p>
          <a:p>
            <a:pPr indent="-4191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-"/>
            </a:pPr>
            <a:r>
              <a:rPr lang="en-US" sz="3000">
                <a:solidFill>
                  <a:srgbClr val="222222"/>
                </a:solidFill>
                <a:highlight>
                  <a:srgbClr val="FFFFFF"/>
                </a:highlight>
              </a:rPr>
              <a:t>MUÐO, D., JAVIER, F., GUTIERREZ LOPEZ, F. R. A. N. C. I. S. C. O., &amp; PIMENTEL SANCHEZ, E. R. N. E. S. T. O. (2007). </a:t>
            </a:r>
            <a:r>
              <a:rPr i="1" lang="en-US" sz="3000">
                <a:solidFill>
                  <a:srgbClr val="222222"/>
                </a:solidFill>
                <a:highlight>
                  <a:srgbClr val="FFFFFF"/>
                </a:highlight>
              </a:rPr>
              <a:t>Programación orientada a objetos con Java</a:t>
            </a:r>
            <a:r>
              <a:rPr lang="en-US" sz="3000">
                <a:solidFill>
                  <a:srgbClr val="222222"/>
                </a:solidFill>
                <a:highlight>
                  <a:srgbClr val="FFFFFF"/>
                </a:highlight>
              </a:rPr>
              <a:t>. Ediciones Paraninfo, SA.</a:t>
            </a:r>
            <a:endParaRPr sz="3000">
              <a:solidFill>
                <a:srgbClr val="131416"/>
              </a:solidFill>
            </a:endParaRPr>
          </a:p>
        </p:txBody>
      </p:sp>
      <p:pic>
        <p:nvPicPr>
          <p:cNvPr id="329" name="Google Shape;329;p8" title="Gemini_Generated_Image_k3gbyrk3gbyrk3gb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4f262177b_0_2"/>
          <p:cNvSpPr txBox="1"/>
          <p:nvPr/>
        </p:nvSpPr>
        <p:spPr>
          <a:xfrm>
            <a:off x="2148439" y="4077814"/>
            <a:ext cx="139911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POO Avanzado / Hilos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35" name="Google Shape;335;g364f262177b_0_2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64f262177b_0_2"/>
          <p:cNvPicPr preferRelativeResize="0"/>
          <p:nvPr/>
        </p:nvPicPr>
        <p:blipFill rotWithShape="1">
          <a:blip r:embed="rId4">
            <a:alphaModFix/>
          </a:blip>
          <a:srcRect b="7355" l="0" r="0" t="0"/>
          <a:stretch/>
        </p:blipFill>
        <p:spPr>
          <a:xfrm>
            <a:off x="12964150" y="2614725"/>
            <a:ext cx="4798550" cy="573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