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Impact" panose="020B0806030902050204" pitchFamily="34" charset="0"/>
      <p:regular r:id="rId29"/>
    </p:embeddedFont>
    <p:embeddedFont>
      <p:font typeface="Open Sans" panose="020B0606030504020204" pitchFamily="34" charset="0"/>
      <p:regular r:id="rId30"/>
      <p:bold r:id="rId31"/>
      <p:boldItalic r:id="rId32"/>
    </p:embeddedFont>
    <p:embeddedFont>
      <p:font typeface="Pacifico" pitchFamily="2" charset="77"/>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fDAikaUJEbXJkzQpxjHlQktNBH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000"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86" name="Google Shape;86;p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87" name="Google Shape;87;p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90" name="Google Shape;90;p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4" name="Google Shape;104;p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05" name="Google Shape;105;p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8" name="Google Shape;108;p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67" name="Google Shape;167;p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68" name="Google Shape;168;p3: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1" name="Google Shape;171;p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b056312c4a_0_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1" name="Google Shape;181;g3b056312c4a_0_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82" name="Google Shape;182;g3b056312c4a_0_19:notes"/>
          <p:cNvSpPr>
            <a:spLocks noGrp="1" noRot="1" noChangeAspect="1"/>
          </p:cNvSpPr>
          <p:nvPr>
            <p:ph type="sldImg" idx="3"/>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g3b056312c4a_0_19: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g3b056312c4a_0_19: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5" name="Google Shape;185;g3b056312c4a_0_19: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b056312c4a_0_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95" name="Google Shape;195;g3b056312c4a_0_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96" name="Google Shape;196;g3b056312c4a_0_0:notes"/>
          <p:cNvSpPr>
            <a:spLocks noGrp="1" noRot="1" noChangeAspect="1"/>
          </p:cNvSpPr>
          <p:nvPr>
            <p:ph type="sldImg" idx="3"/>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g3b056312c4a_0_0: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g3b056312c4a_0_0: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99" name="Google Shape;199;g3b056312c4a_0_0: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9" name="Google Shape;209;p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10" name="Google Shape;210;p4: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3" name="Google Shape;213;p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3" name="Google Shape;223;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24" name="Google Shape;224;p5: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7" name="Google Shape;227;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8" name="Google Shape;238;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39" name="Google Shape;239;p6: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42" name="Google Shape;242;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2" name="Google Shape;252;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53" name="Google Shape;253;p7: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6" name="Google Shape;256;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7" name="Google Shape;267;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68" name="Google Shape;268;p8: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1" name="Google Shape;271;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2" name="Google Shape;282;p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83" name="Google Shape;283;p9: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6" name="Google Shape;286;p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6" name="Google Shape;296;p1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97" name="Google Shape;297;p10: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1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1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0" name="Google Shape;300;p1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0" name="Google Shape;310;p1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11" name="Google Shape;311;p11: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1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4" name="Google Shape;314;p1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4" name="Google Shape;324;p1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25" name="Google Shape;325;p12: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1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1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8" name="Google Shape;328;p1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8" name="Google Shape;338;p1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39" name="Google Shape;339;p13: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1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1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2" name="Google Shape;342;p1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2" name="Google Shape;352;p1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53" name="Google Shape;353;p1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1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1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6" name="Google Shape;356;p1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67" name="Google Shape;367;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68" name="Google Shape;368;p15: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71" name="Google Shape;371;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2" name="Google Shape;382;p1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83" name="Google Shape;383;p16: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1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1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6" name="Google Shape;386;p1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97" name="Google Shape;397;p1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98" name="Google Shape;398;p17: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1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01" name="Google Shape;401;p1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11" name="Google Shape;411;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12" name="Google Shape;412;p18: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1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1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15" name="Google Shape;415;p1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25" name="Google Shape;425;p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26" name="Google Shape;426;p1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1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1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29" name="Google Shape;429;p1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0" name="Google Shape;440;p2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41" name="Google Shape;441;p20: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2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2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4" name="Google Shape;444;p2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2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4" name="Google Shape;454;p2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55" name="Google Shape;455;p2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2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2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8" name="Google Shape;458;p2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2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8" name="Google Shape;468;p2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69" name="Google Shape;469;p22:notes"/>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2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2" name="Google Shape;472;p2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b056312c4a_0_3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9" name="Google Shape;479;g3b056312c4a_0_3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80" name="Google Shape;480;g3b056312c4a_0_3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g3b056312c4a_0_39: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g3b056312c4a_0_39: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3" name="Google Shape;483;g3b056312c4a_0_39: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93" name="Google Shape;493;p2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94" name="Google Shape;494;p2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p2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2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97" name="Google Shape;497;p2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2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3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3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3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3"/>
          <p:cNvSpPr>
            <a:spLocks noGrp="1"/>
          </p:cNvSpPr>
          <p:nvPr>
            <p:ph type="pic" idx="2"/>
          </p:nvPr>
        </p:nvSpPr>
        <p:spPr>
          <a:xfrm>
            <a:off x="1792288" y="612775"/>
            <a:ext cx="5486400" cy="4114800"/>
          </a:xfrm>
          <a:prstGeom prst="rect">
            <a:avLst/>
          </a:prstGeom>
          <a:noFill/>
          <a:ln>
            <a:noFill/>
          </a:ln>
        </p:spPr>
      </p:sp>
      <p:sp>
        <p:nvSpPr>
          <p:cNvPr id="68" name="Google Shape;68;p3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scm.com"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www.google.com/search?q=https://git-scm.com/book/es/v2"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p:nvPr/>
        </p:nvSpPr>
        <p:spPr>
          <a:xfrm>
            <a:off x="12541309" y="0"/>
            <a:ext cx="5746718" cy="1711738"/>
          </a:xfrm>
          <a:custGeom>
            <a:avLst/>
            <a:gdLst/>
            <a:ahLst/>
            <a:cxnLst/>
            <a:rect l="l" t="t" r="r" b="b"/>
            <a:pathLst>
              <a:path w="7662291" h="2282317" extrusionOk="0">
                <a:moveTo>
                  <a:pt x="0" y="0"/>
                </a:moveTo>
                <a:lnTo>
                  <a:pt x="7662291" y="0"/>
                </a:lnTo>
                <a:lnTo>
                  <a:pt x="7662291" y="2282317"/>
                </a:lnTo>
                <a:lnTo>
                  <a:pt x="0" y="2282317"/>
                </a:lnTo>
                <a:lnTo>
                  <a:pt x="0" y="0"/>
                </a:lnTo>
                <a:close/>
              </a:path>
            </a:pathLst>
          </a:custGeom>
          <a:blipFill rotWithShape="1">
            <a:blip r:embed="rId3">
              <a:alphaModFix/>
            </a:blip>
            <a:stretch>
              <a:fillRect b="-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3" name="Google Shape;93;p1"/>
          <p:cNvGrpSpPr/>
          <p:nvPr/>
        </p:nvGrpSpPr>
        <p:grpSpPr>
          <a:xfrm>
            <a:off x="1081353" y="284324"/>
            <a:ext cx="11459956" cy="2018550"/>
            <a:chOff x="0" y="-228600"/>
            <a:chExt cx="17457600" cy="2691400"/>
          </a:xfrm>
        </p:grpSpPr>
        <p:sp>
          <p:nvSpPr>
            <p:cNvPr id="94" name="Google Shape;94;p1"/>
            <p:cNvSpPr/>
            <p:nvPr/>
          </p:nvSpPr>
          <p:spPr>
            <a:xfrm>
              <a:off x="0" y="0"/>
              <a:ext cx="17457600" cy="2462800"/>
            </a:xfrm>
            <a:custGeom>
              <a:avLst/>
              <a:gdLst/>
              <a:ahLst/>
              <a:cxnLst/>
              <a:rect l="l" t="t" r="r" b="b"/>
              <a:pathLst>
                <a:path w="17457600" h="2462800" extrusionOk="0">
                  <a:moveTo>
                    <a:pt x="0" y="0"/>
                  </a:moveTo>
                  <a:lnTo>
                    <a:pt x="17457600" y="0"/>
                  </a:lnTo>
                  <a:lnTo>
                    <a:pt x="17457600" y="2462800"/>
                  </a:lnTo>
                  <a:lnTo>
                    <a:pt x="0" y="24628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1"/>
            <p:cNvSpPr txBox="1"/>
            <p:nvPr/>
          </p:nvSpPr>
          <p:spPr>
            <a:xfrm>
              <a:off x="0" y="-228600"/>
              <a:ext cx="17457600" cy="2691400"/>
            </a:xfrm>
            <a:prstGeom prst="rect">
              <a:avLst/>
            </a:prstGeom>
            <a:noFill/>
            <a:ln>
              <a:noFill/>
            </a:ln>
          </p:spPr>
          <p:txBody>
            <a:bodyPr spcFirstLastPara="1" wrap="square" lIns="0" tIns="0" rIns="0" bIns="0" anchor="t" anchorCtr="0">
              <a:noAutofit/>
            </a:bodyPr>
            <a:lstStyle/>
            <a:p>
              <a:pPr marL="0" marR="0" lvl="0" indent="0" algn="ctr" rtl="0">
                <a:lnSpc>
                  <a:spcPct val="168013"/>
                </a:lnSpc>
                <a:spcBef>
                  <a:spcPts val="0"/>
                </a:spcBef>
                <a:spcAft>
                  <a:spcPts val="0"/>
                </a:spcAft>
                <a:buNone/>
              </a:pPr>
              <a:r>
                <a:rPr lang="en-US" sz="4999" b="1" dirty="0" err="1">
                  <a:solidFill>
                    <a:srgbClr val="131416"/>
                  </a:solidFill>
                  <a:latin typeface="Open Sans"/>
                  <a:ea typeface="Open Sans"/>
                  <a:cs typeface="Open Sans"/>
                  <a:sym typeface="Open Sans"/>
                </a:rPr>
                <a:t>Introducción</a:t>
              </a:r>
              <a:r>
                <a:rPr lang="en-US" sz="4999" b="1" dirty="0">
                  <a:solidFill>
                    <a:srgbClr val="131416"/>
                  </a:solidFill>
                  <a:latin typeface="Open Sans"/>
                  <a:ea typeface="Open Sans"/>
                  <a:cs typeface="Open Sans"/>
                  <a:sym typeface="Open Sans"/>
                </a:rPr>
                <a:t> a la </a:t>
              </a:r>
              <a:r>
                <a:rPr lang="en-US" sz="4999" b="1" dirty="0" err="1">
                  <a:solidFill>
                    <a:srgbClr val="131416"/>
                  </a:solidFill>
                  <a:latin typeface="Open Sans"/>
                  <a:ea typeface="Open Sans"/>
                  <a:cs typeface="Open Sans"/>
                  <a:sym typeface="Open Sans"/>
                </a:rPr>
                <a:t>Programación</a:t>
              </a:r>
              <a:r>
                <a:rPr lang="en-US" sz="4999" b="1" dirty="0">
                  <a:solidFill>
                    <a:srgbClr val="131416"/>
                  </a:solidFill>
                  <a:latin typeface="Open Sans"/>
                  <a:ea typeface="Open Sans"/>
                  <a:cs typeface="Open Sans"/>
                  <a:sym typeface="Open Sans"/>
                </a:rPr>
                <a:t> y </a:t>
              </a:r>
              <a:r>
                <a:rPr lang="en-US" sz="4999" b="1" dirty="0" err="1">
                  <a:solidFill>
                    <a:srgbClr val="131416"/>
                  </a:solidFill>
                  <a:latin typeface="Open Sans"/>
                  <a:ea typeface="Open Sans"/>
                  <a:cs typeface="Open Sans"/>
                  <a:sym typeface="Open Sans"/>
                </a:rPr>
                <a:t>Computación</a:t>
              </a:r>
              <a:r>
                <a:rPr lang="en-US" sz="4999" b="1" dirty="0">
                  <a:solidFill>
                    <a:srgbClr val="131416"/>
                  </a:solidFill>
                  <a:latin typeface="Open Sans"/>
                  <a:ea typeface="Open Sans"/>
                  <a:cs typeface="Open Sans"/>
                  <a:sym typeface="Open Sans"/>
                </a:rPr>
                <a:t> 1</a:t>
              </a:r>
              <a:endParaRPr dirty="0"/>
            </a:p>
          </p:txBody>
        </p:sp>
      </p:grpSp>
      <p:grpSp>
        <p:nvGrpSpPr>
          <p:cNvPr id="96" name="Google Shape;96;p1"/>
          <p:cNvGrpSpPr/>
          <p:nvPr/>
        </p:nvGrpSpPr>
        <p:grpSpPr>
          <a:xfrm>
            <a:off x="2687399" y="3701337"/>
            <a:ext cx="13860001" cy="2813209"/>
            <a:chOff x="0" y="-285750"/>
            <a:chExt cx="18480001" cy="3750944"/>
          </a:xfrm>
        </p:grpSpPr>
        <p:sp>
          <p:nvSpPr>
            <p:cNvPr id="97" name="Google Shape;97;p1"/>
            <p:cNvSpPr/>
            <p:nvPr/>
          </p:nvSpPr>
          <p:spPr>
            <a:xfrm>
              <a:off x="0" y="0"/>
              <a:ext cx="18480001" cy="3465194"/>
            </a:xfrm>
            <a:custGeom>
              <a:avLst/>
              <a:gdLst/>
              <a:ahLst/>
              <a:cxnLst/>
              <a:rect l="l" t="t" r="r" b="b"/>
              <a:pathLst>
                <a:path w="18480001" h="3465194" extrusionOk="0">
                  <a:moveTo>
                    <a:pt x="0" y="0"/>
                  </a:moveTo>
                  <a:lnTo>
                    <a:pt x="18480001" y="0"/>
                  </a:lnTo>
                  <a:lnTo>
                    <a:pt x="18480001" y="3465194"/>
                  </a:lnTo>
                  <a:lnTo>
                    <a:pt x="0" y="346519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 name="Google Shape;98;p1"/>
            <p:cNvSpPr txBox="1"/>
            <p:nvPr/>
          </p:nvSpPr>
          <p:spPr>
            <a:xfrm>
              <a:off x="0" y="-285750"/>
              <a:ext cx="18480000" cy="3750944"/>
            </a:xfrm>
            <a:prstGeom prst="rect">
              <a:avLst/>
            </a:prstGeom>
            <a:noFill/>
            <a:ln>
              <a:noFill/>
            </a:ln>
          </p:spPr>
          <p:txBody>
            <a:bodyPr spcFirstLastPara="1" wrap="square" lIns="0" tIns="0" rIns="0" bIns="0" anchor="t" anchorCtr="0">
              <a:noAutofit/>
            </a:bodyPr>
            <a:lstStyle/>
            <a:p>
              <a:pPr marL="0" marR="0" lvl="0" indent="0" algn="ctr" rtl="0">
                <a:lnSpc>
                  <a:spcPct val="168010"/>
                </a:lnSpc>
                <a:spcBef>
                  <a:spcPts val="0"/>
                </a:spcBef>
                <a:spcAft>
                  <a:spcPts val="0"/>
                </a:spcAft>
                <a:buNone/>
              </a:pPr>
              <a:r>
                <a:rPr lang="en-US" sz="6199" b="1" dirty="0" err="1">
                  <a:solidFill>
                    <a:srgbClr val="131416"/>
                  </a:solidFill>
                  <a:latin typeface="Open Sans"/>
                  <a:ea typeface="Open Sans"/>
                  <a:cs typeface="Open Sans"/>
                  <a:sym typeface="Open Sans"/>
                </a:rPr>
                <a:t>Introducción</a:t>
              </a:r>
              <a:r>
                <a:rPr lang="en-US" sz="6199" b="1" dirty="0">
                  <a:solidFill>
                    <a:srgbClr val="131416"/>
                  </a:solidFill>
                  <a:latin typeface="Open Sans"/>
                  <a:ea typeface="Open Sans"/>
                  <a:cs typeface="Open Sans"/>
                  <a:sym typeface="Open Sans"/>
                </a:rPr>
                <a:t> al </a:t>
              </a:r>
              <a:r>
                <a:rPr lang="en-US" sz="6199" b="1" dirty="0" err="1">
                  <a:solidFill>
                    <a:srgbClr val="131416"/>
                  </a:solidFill>
                  <a:latin typeface="Open Sans"/>
                  <a:ea typeface="Open Sans"/>
                  <a:cs typeface="Open Sans"/>
                  <a:sym typeface="Open Sans"/>
                </a:rPr>
                <a:t>Manejo</a:t>
              </a:r>
              <a:r>
                <a:rPr lang="en-US" sz="6199" b="1" dirty="0">
                  <a:solidFill>
                    <a:srgbClr val="131416"/>
                  </a:solidFill>
                  <a:latin typeface="Open Sans"/>
                  <a:ea typeface="Open Sans"/>
                  <a:cs typeface="Open Sans"/>
                  <a:sym typeface="Open Sans"/>
                </a:rPr>
                <a:t> de Control de </a:t>
              </a:r>
              <a:r>
                <a:rPr lang="en-US" sz="6199" b="1" dirty="0" err="1">
                  <a:solidFill>
                    <a:srgbClr val="131416"/>
                  </a:solidFill>
                  <a:latin typeface="Open Sans"/>
                  <a:ea typeface="Open Sans"/>
                  <a:cs typeface="Open Sans"/>
                  <a:sym typeface="Open Sans"/>
                </a:rPr>
                <a:t>Versiones</a:t>
              </a:r>
              <a:endParaRPr sz="6199" b="1" dirty="0">
                <a:solidFill>
                  <a:srgbClr val="131416"/>
                </a:solidFill>
                <a:latin typeface="Open Sans"/>
                <a:ea typeface="Open Sans"/>
                <a:cs typeface="Open Sans"/>
                <a:sym typeface="Open Sans"/>
              </a:endParaRPr>
            </a:p>
          </p:txBody>
        </p:sp>
      </p:grpSp>
      <p:grpSp>
        <p:nvGrpSpPr>
          <p:cNvPr id="99" name="Google Shape;99;p1"/>
          <p:cNvGrpSpPr/>
          <p:nvPr/>
        </p:nvGrpSpPr>
        <p:grpSpPr>
          <a:xfrm>
            <a:off x="1081353" y="8455051"/>
            <a:ext cx="6981300" cy="1547625"/>
            <a:chOff x="0" y="-114300"/>
            <a:chExt cx="9308400" cy="2063500"/>
          </a:xfrm>
        </p:grpSpPr>
        <p:sp>
          <p:nvSpPr>
            <p:cNvPr id="100" name="Google Shape;100;p1"/>
            <p:cNvSpPr/>
            <p:nvPr/>
          </p:nvSpPr>
          <p:spPr>
            <a:xfrm>
              <a:off x="0" y="0"/>
              <a:ext cx="9308400" cy="1949200"/>
            </a:xfrm>
            <a:custGeom>
              <a:avLst/>
              <a:gdLst/>
              <a:ahLst/>
              <a:cxnLst/>
              <a:rect l="l" t="t" r="r" b="b"/>
              <a:pathLst>
                <a:path w="9308400" h="1949200" extrusionOk="0">
                  <a:moveTo>
                    <a:pt x="0" y="0"/>
                  </a:moveTo>
                  <a:lnTo>
                    <a:pt x="9308400" y="0"/>
                  </a:lnTo>
                  <a:lnTo>
                    <a:pt x="9308400" y="1949200"/>
                  </a:lnTo>
                  <a:lnTo>
                    <a:pt x="0" y="19492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p1"/>
            <p:cNvSpPr txBox="1"/>
            <p:nvPr/>
          </p:nvSpPr>
          <p:spPr>
            <a:xfrm>
              <a:off x="0" y="-114300"/>
              <a:ext cx="9308400" cy="206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499" b="1" dirty="0">
                  <a:solidFill>
                    <a:srgbClr val="131416"/>
                  </a:solidFill>
                  <a:latin typeface="Open Sans"/>
                  <a:ea typeface="Open Sans"/>
                  <a:cs typeface="Open Sans"/>
                  <a:sym typeface="Open Sans"/>
                </a:rPr>
                <a:t>Universidad de San Carlos de Guatemala</a:t>
              </a:r>
              <a:endParaRPr dirty="0"/>
            </a:p>
            <a:p>
              <a:pPr marL="0" marR="0" lvl="0" indent="0" algn="l" rtl="0">
                <a:spcBef>
                  <a:spcPts val="0"/>
                </a:spcBef>
                <a:spcAft>
                  <a:spcPts val="0"/>
                </a:spcAft>
                <a:buNone/>
              </a:pPr>
              <a:r>
                <a:rPr lang="en-US" sz="2499" b="1" dirty="0" err="1">
                  <a:solidFill>
                    <a:srgbClr val="131416"/>
                  </a:solidFill>
                  <a:latin typeface="Open Sans"/>
                  <a:ea typeface="Open Sans"/>
                  <a:cs typeface="Open Sans"/>
                  <a:sym typeface="Open Sans"/>
                </a:rPr>
                <a:t>Facultad</a:t>
              </a:r>
              <a:r>
                <a:rPr lang="en-US" sz="2499" b="1" dirty="0">
                  <a:solidFill>
                    <a:srgbClr val="131416"/>
                  </a:solidFill>
                  <a:latin typeface="Open Sans"/>
                  <a:ea typeface="Open Sans"/>
                  <a:cs typeface="Open Sans"/>
                  <a:sym typeface="Open Sans"/>
                </a:rPr>
                <a:t> de Ingeniería</a:t>
              </a:r>
              <a:endParaRPr dirty="0"/>
            </a:p>
            <a:p>
              <a:pPr marL="0" marR="0" lvl="0" indent="0" algn="l" rtl="0">
                <a:spcBef>
                  <a:spcPts val="0"/>
                </a:spcBef>
                <a:spcAft>
                  <a:spcPts val="0"/>
                </a:spcAft>
                <a:buNone/>
              </a:pPr>
              <a:r>
                <a:rPr lang="en-US" sz="2499" b="1" dirty="0">
                  <a:solidFill>
                    <a:srgbClr val="131416"/>
                  </a:solidFill>
                  <a:latin typeface="Open Sans"/>
                  <a:ea typeface="Open Sans"/>
                  <a:cs typeface="Open Sans"/>
                  <a:sym typeface="Open Sans"/>
                </a:rPr>
                <a:t>Escuela de </a:t>
              </a:r>
              <a:r>
                <a:rPr lang="en-US" sz="2499" b="1" dirty="0" err="1">
                  <a:solidFill>
                    <a:srgbClr val="131416"/>
                  </a:solidFill>
                  <a:latin typeface="Open Sans"/>
                  <a:ea typeface="Open Sans"/>
                  <a:cs typeface="Open Sans"/>
                  <a:sym typeface="Open Sans"/>
                </a:rPr>
                <a:t>Ciencias</a:t>
              </a:r>
              <a:r>
                <a:rPr lang="en-US" sz="2499" b="1" dirty="0">
                  <a:solidFill>
                    <a:srgbClr val="131416"/>
                  </a:solidFill>
                  <a:latin typeface="Open Sans"/>
                  <a:ea typeface="Open Sans"/>
                  <a:cs typeface="Open Sans"/>
                  <a:sym typeface="Open Sans"/>
                </a:rPr>
                <a:t> Y Sistemas</a:t>
              </a:r>
              <a:endParaRPr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grpSp>
        <p:nvGrpSpPr>
          <p:cNvPr id="120" name="Google Shape;120;p2"/>
          <p:cNvGrpSpPr/>
          <p:nvPr/>
        </p:nvGrpSpPr>
        <p:grpSpPr>
          <a:xfrm>
            <a:off x="380356" y="99554"/>
            <a:ext cx="7894893" cy="5241017"/>
            <a:chOff x="-246123" y="-257175"/>
            <a:chExt cx="10526524" cy="6988023"/>
          </a:xfrm>
        </p:grpSpPr>
        <p:sp>
          <p:nvSpPr>
            <p:cNvPr id="121" name="Google Shape;121;p2"/>
            <p:cNvSpPr/>
            <p:nvPr/>
          </p:nvSpPr>
          <p:spPr>
            <a:xfrm>
              <a:off x="-246123" y="1307948"/>
              <a:ext cx="10280401" cy="5422900"/>
            </a:xfrm>
            <a:custGeom>
              <a:avLst/>
              <a:gdLst/>
              <a:ahLst/>
              <a:cxnLst/>
              <a:rect l="l" t="t" r="r" b="b"/>
              <a:pathLst>
                <a:path w="10280401" h="5422900" extrusionOk="0">
                  <a:moveTo>
                    <a:pt x="0" y="0"/>
                  </a:moveTo>
                  <a:lnTo>
                    <a:pt x="10280401" y="0"/>
                  </a:lnTo>
                  <a:lnTo>
                    <a:pt x="10280401" y="5422900"/>
                  </a:lnTo>
                  <a:lnTo>
                    <a:pt x="0" y="54229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 name="Google Shape;122;p2"/>
            <p:cNvSpPr txBox="1"/>
            <p:nvPr/>
          </p:nvSpPr>
          <p:spPr>
            <a:xfrm>
              <a:off x="0" y="-257175"/>
              <a:ext cx="10280401" cy="5680075"/>
            </a:xfrm>
            <a:prstGeom prst="rect">
              <a:avLst/>
            </a:prstGeom>
            <a:noFill/>
            <a:ln>
              <a:noFill/>
            </a:ln>
          </p:spPr>
          <p:txBody>
            <a:bodyPr spcFirstLastPara="1" wrap="square" lIns="0" tIns="0" rIns="0" bIns="0" anchor="t" anchorCtr="0">
              <a:noAutofit/>
            </a:bodyPr>
            <a:lstStyle/>
            <a:p>
              <a:pPr marL="0" marR="0" lvl="0" indent="0" algn="l" rtl="0">
                <a:lnSpc>
                  <a:spcPct val="137993"/>
                </a:lnSpc>
                <a:spcBef>
                  <a:spcPts val="0"/>
                </a:spcBef>
                <a:spcAft>
                  <a:spcPts val="0"/>
                </a:spcAft>
                <a:buNone/>
              </a:pPr>
              <a:r>
                <a:rPr lang="en-US" sz="15000">
                  <a:solidFill>
                    <a:srgbClr val="131416"/>
                  </a:solidFill>
                  <a:latin typeface="Pacifico"/>
                  <a:ea typeface="Pacifico"/>
                  <a:cs typeface="Pacifico"/>
                  <a:sym typeface="Pacifico"/>
                </a:rPr>
                <a:t>Agenda</a:t>
              </a:r>
              <a:endParaRPr/>
            </a:p>
          </p:txBody>
        </p:sp>
      </p:grpSp>
      <p:sp>
        <p:nvSpPr>
          <p:cNvPr id="110" name="Google Shape;110;p2"/>
          <p:cNvSpPr/>
          <p:nvPr/>
        </p:nvSpPr>
        <p:spPr>
          <a:xfrm>
            <a:off x="176619" y="4699462"/>
            <a:ext cx="4613529" cy="666369"/>
          </a:xfrm>
          <a:custGeom>
            <a:avLst/>
            <a:gdLst/>
            <a:ahLst/>
            <a:cxnLst/>
            <a:rect l="l" t="t" r="r" b="b"/>
            <a:pathLst>
              <a:path w="6151372" h="888492" extrusionOk="0">
                <a:moveTo>
                  <a:pt x="5514975" y="0"/>
                </a:moveTo>
                <a:lnTo>
                  <a:pt x="0" y="0"/>
                </a:lnTo>
                <a:lnTo>
                  <a:pt x="0" y="888492"/>
                </a:lnTo>
                <a:lnTo>
                  <a:pt x="5514975" y="888492"/>
                </a:lnTo>
                <a:lnTo>
                  <a:pt x="6151372" y="444246"/>
                </a:lnTo>
                <a:lnTo>
                  <a:pt x="5514975"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11" name="Google Shape;111;p2"/>
          <p:cNvGrpSpPr/>
          <p:nvPr/>
        </p:nvGrpSpPr>
        <p:grpSpPr>
          <a:xfrm>
            <a:off x="349650" y="4383037"/>
            <a:ext cx="9827590" cy="1002729"/>
            <a:chOff x="0" y="-209550"/>
            <a:chExt cx="13103453" cy="1336971"/>
          </a:xfrm>
        </p:grpSpPr>
        <p:sp>
          <p:nvSpPr>
            <p:cNvPr id="112" name="Google Shape;112;p2"/>
            <p:cNvSpPr/>
            <p:nvPr/>
          </p:nvSpPr>
          <p:spPr>
            <a:xfrm>
              <a:off x="0" y="0"/>
              <a:ext cx="13103453" cy="1127421"/>
            </a:xfrm>
            <a:custGeom>
              <a:avLst/>
              <a:gdLst/>
              <a:ahLst/>
              <a:cxnLst/>
              <a:rect l="l" t="t" r="r" b="b"/>
              <a:pathLst>
                <a:path w="13103453" h="1127421" extrusionOk="0">
                  <a:moveTo>
                    <a:pt x="0" y="0"/>
                  </a:moveTo>
                  <a:lnTo>
                    <a:pt x="13103453" y="0"/>
                  </a:lnTo>
                  <a:lnTo>
                    <a:pt x="13103453" y="1127421"/>
                  </a:lnTo>
                  <a:lnTo>
                    <a:pt x="0" y="1127421"/>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
            <p:cNvSpPr txBox="1"/>
            <p:nvPr/>
          </p:nvSpPr>
          <p:spPr>
            <a:xfrm>
              <a:off x="0" y="-209550"/>
              <a:ext cx="13103453" cy="1336971"/>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dirty="0">
                  <a:solidFill>
                    <a:srgbClr val="000000"/>
                  </a:solidFill>
                  <a:latin typeface="Arial"/>
                  <a:ea typeface="Arial"/>
                  <a:cs typeface="Arial"/>
                  <a:sym typeface="Arial"/>
                </a:rPr>
                <a:t>¿</a:t>
              </a:r>
              <a:r>
                <a:rPr lang="en-US" sz="2799" dirty="0" err="1">
                  <a:solidFill>
                    <a:srgbClr val="000000"/>
                  </a:solidFill>
                  <a:latin typeface="Arial"/>
                  <a:ea typeface="Arial"/>
                  <a:cs typeface="Arial"/>
                  <a:sym typeface="Arial"/>
                </a:rPr>
                <a:t>Qué</a:t>
              </a:r>
              <a:r>
                <a:rPr lang="en-US" sz="2799" dirty="0">
                  <a:solidFill>
                    <a:srgbClr val="000000"/>
                  </a:solidFill>
                  <a:latin typeface="Arial"/>
                  <a:ea typeface="Arial"/>
                  <a:cs typeface="Arial"/>
                  <a:sym typeface="Arial"/>
                </a:rPr>
                <a:t> es </a:t>
              </a:r>
              <a:r>
                <a:rPr lang="en-US" sz="2799" dirty="0" err="1">
                  <a:solidFill>
                    <a:srgbClr val="000000"/>
                  </a:solidFill>
                  <a:latin typeface="Arial"/>
                  <a:ea typeface="Arial"/>
                  <a:cs typeface="Arial"/>
                  <a:sym typeface="Arial"/>
                </a:rPr>
                <a:t>el</a:t>
              </a:r>
              <a:r>
                <a:rPr lang="en-US" sz="2799" dirty="0">
                  <a:solidFill>
                    <a:srgbClr val="000000"/>
                  </a:solidFill>
                  <a:latin typeface="Arial"/>
                  <a:ea typeface="Arial"/>
                  <a:cs typeface="Arial"/>
                  <a:sym typeface="Arial"/>
                </a:rPr>
                <a:t> control de </a:t>
              </a:r>
              <a:r>
                <a:rPr lang="en-US" sz="2799" dirty="0" err="1">
                  <a:solidFill>
                    <a:srgbClr val="000000"/>
                  </a:solidFill>
                  <a:latin typeface="Arial"/>
                  <a:ea typeface="Arial"/>
                  <a:cs typeface="Arial"/>
                  <a:sym typeface="Arial"/>
                </a:rPr>
                <a:t>versiones</a:t>
              </a:r>
              <a:r>
                <a:rPr lang="en-US" sz="2799" dirty="0">
                  <a:solidFill>
                    <a:srgbClr val="000000"/>
                  </a:solidFill>
                  <a:latin typeface="Arial"/>
                  <a:ea typeface="Arial"/>
                  <a:cs typeface="Arial"/>
                  <a:sym typeface="Arial"/>
                </a:rPr>
                <a:t>?</a:t>
              </a:r>
              <a:endParaRPr dirty="0"/>
            </a:p>
          </p:txBody>
        </p:sp>
      </p:grpSp>
      <p:sp>
        <p:nvSpPr>
          <p:cNvPr id="114" name="Google Shape;114;p2"/>
          <p:cNvSpPr/>
          <p:nvPr/>
        </p:nvSpPr>
        <p:spPr>
          <a:xfrm>
            <a:off x="878654" y="4740441"/>
            <a:ext cx="453390" cy="550069"/>
          </a:xfrm>
          <a:custGeom>
            <a:avLst/>
            <a:gdLst/>
            <a:ahLst/>
            <a:cxnLst/>
            <a:rect l="l" t="t" r="r" b="b"/>
            <a:pathLst>
              <a:path w="604520" h="733425" extrusionOk="0">
                <a:moveTo>
                  <a:pt x="0" y="0"/>
                </a:moveTo>
                <a:lnTo>
                  <a:pt x="604520" y="0"/>
                </a:lnTo>
                <a:lnTo>
                  <a:pt x="604520" y="733425"/>
                </a:lnTo>
                <a:lnTo>
                  <a:pt x="0" y="733425"/>
                </a:lnTo>
                <a:lnTo>
                  <a:pt x="0" y="0"/>
                </a:lnTo>
                <a:close/>
              </a:path>
            </a:pathLst>
          </a:custGeom>
          <a:blipFill rotWithShape="1">
            <a:blip r:embed="rId3">
              <a:alphaModFix/>
            </a:blip>
            <a:stretch>
              <a:fillRect r="5" b="-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 name="Google Shape;115;p2"/>
          <p:cNvSpPr/>
          <p:nvPr/>
        </p:nvSpPr>
        <p:spPr>
          <a:xfrm>
            <a:off x="1866989" y="3303305"/>
            <a:ext cx="4115181" cy="1267206"/>
          </a:xfrm>
          <a:custGeom>
            <a:avLst/>
            <a:gdLst/>
            <a:ahLst/>
            <a:cxnLst/>
            <a:rect l="l" t="t" r="r" b="b"/>
            <a:pathLst>
              <a:path w="5486908" h="1689608" extrusionOk="0">
                <a:moveTo>
                  <a:pt x="4458208" y="0"/>
                </a:moveTo>
                <a:lnTo>
                  <a:pt x="0" y="0"/>
                </a:lnTo>
                <a:lnTo>
                  <a:pt x="0" y="1689608"/>
                </a:lnTo>
                <a:lnTo>
                  <a:pt x="4458208" y="1689608"/>
                </a:lnTo>
                <a:lnTo>
                  <a:pt x="5486908" y="844804"/>
                </a:lnTo>
                <a:lnTo>
                  <a:pt x="4458208"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16" name="Google Shape;116;p2"/>
          <p:cNvGrpSpPr/>
          <p:nvPr/>
        </p:nvGrpSpPr>
        <p:grpSpPr>
          <a:xfrm>
            <a:off x="1866989" y="2856821"/>
            <a:ext cx="3681207" cy="1713646"/>
            <a:chOff x="0" y="-209550"/>
            <a:chExt cx="4908276" cy="2284862"/>
          </a:xfrm>
        </p:grpSpPr>
        <p:sp>
          <p:nvSpPr>
            <p:cNvPr id="117" name="Google Shape;117;p2"/>
            <p:cNvSpPr/>
            <p:nvPr/>
          </p:nvSpPr>
          <p:spPr>
            <a:xfrm>
              <a:off x="0" y="0"/>
              <a:ext cx="4908276" cy="2075312"/>
            </a:xfrm>
            <a:custGeom>
              <a:avLst/>
              <a:gdLst/>
              <a:ahLst/>
              <a:cxnLst/>
              <a:rect l="l" t="t" r="r" b="b"/>
              <a:pathLst>
                <a:path w="4908276" h="2075312" extrusionOk="0">
                  <a:moveTo>
                    <a:pt x="0" y="0"/>
                  </a:moveTo>
                  <a:lnTo>
                    <a:pt x="4908276" y="0"/>
                  </a:lnTo>
                  <a:lnTo>
                    <a:pt x="4908276" y="2075312"/>
                  </a:lnTo>
                  <a:lnTo>
                    <a:pt x="0" y="207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 name="Google Shape;118;p2"/>
            <p:cNvSpPr txBox="1"/>
            <p:nvPr/>
          </p:nvSpPr>
          <p:spPr>
            <a:xfrm>
              <a:off x="0" y="-209550"/>
              <a:ext cx="4908276" cy="2284862"/>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dirty="0">
                  <a:solidFill>
                    <a:srgbClr val="000000"/>
                  </a:solidFill>
                  <a:latin typeface="Arial"/>
                  <a:ea typeface="Arial"/>
                  <a:cs typeface="Arial"/>
                  <a:sym typeface="Arial"/>
                </a:rPr>
                <a:t>RECORDATORIOS</a:t>
              </a:r>
              <a:endParaRPr dirty="0"/>
            </a:p>
          </p:txBody>
        </p:sp>
      </p:grpSp>
      <p:sp>
        <p:nvSpPr>
          <p:cNvPr id="119" name="Google Shape;119;p2"/>
          <p:cNvSpPr/>
          <p:nvPr/>
        </p:nvSpPr>
        <p:spPr>
          <a:xfrm>
            <a:off x="651754" y="3429735"/>
            <a:ext cx="753904" cy="872966"/>
          </a:xfrm>
          <a:custGeom>
            <a:avLst/>
            <a:gdLst/>
            <a:ahLst/>
            <a:cxnLst/>
            <a:rect l="l" t="t" r="r" b="b"/>
            <a:pathLst>
              <a:path w="1005205" h="1163955" extrusionOk="0">
                <a:moveTo>
                  <a:pt x="0" y="0"/>
                </a:moveTo>
                <a:lnTo>
                  <a:pt x="1005205" y="0"/>
                </a:lnTo>
                <a:lnTo>
                  <a:pt x="1005205" y="1163955"/>
                </a:lnTo>
                <a:lnTo>
                  <a:pt x="0" y="1163955"/>
                </a:lnTo>
                <a:lnTo>
                  <a:pt x="0" y="0"/>
                </a:lnTo>
                <a:close/>
              </a:path>
            </a:pathLst>
          </a:custGeom>
          <a:blipFill rotWithShape="1">
            <a:blip r:embed="rId4">
              <a:alphaModFix/>
            </a:blip>
            <a:stretch>
              <a:fillRect t="-35" b="-2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2"/>
          <p:cNvSpPr/>
          <p:nvPr/>
        </p:nvSpPr>
        <p:spPr>
          <a:xfrm>
            <a:off x="176619" y="5623280"/>
            <a:ext cx="4613529" cy="666369"/>
          </a:xfrm>
          <a:custGeom>
            <a:avLst/>
            <a:gdLst/>
            <a:ahLst/>
            <a:cxnLst/>
            <a:rect l="l" t="t" r="r" b="b"/>
            <a:pathLst>
              <a:path w="6151372" h="888492" extrusionOk="0">
                <a:moveTo>
                  <a:pt x="5514975" y="0"/>
                </a:moveTo>
                <a:lnTo>
                  <a:pt x="0" y="0"/>
                </a:lnTo>
                <a:lnTo>
                  <a:pt x="0" y="888492"/>
                </a:lnTo>
                <a:lnTo>
                  <a:pt x="5514975" y="888492"/>
                </a:lnTo>
                <a:lnTo>
                  <a:pt x="6151372" y="444246"/>
                </a:lnTo>
                <a:lnTo>
                  <a:pt x="5514975"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24" name="Google Shape;124;p2"/>
          <p:cNvGrpSpPr/>
          <p:nvPr/>
        </p:nvGrpSpPr>
        <p:grpSpPr>
          <a:xfrm>
            <a:off x="1727217" y="5170645"/>
            <a:ext cx="7072456" cy="1002729"/>
            <a:chOff x="0" y="-209550"/>
            <a:chExt cx="9429941" cy="1336971"/>
          </a:xfrm>
        </p:grpSpPr>
        <p:sp>
          <p:nvSpPr>
            <p:cNvPr id="125" name="Google Shape;125;p2"/>
            <p:cNvSpPr/>
            <p:nvPr/>
          </p:nvSpPr>
          <p:spPr>
            <a:xfrm>
              <a:off x="0" y="0"/>
              <a:ext cx="9429941" cy="1127421"/>
            </a:xfrm>
            <a:custGeom>
              <a:avLst/>
              <a:gdLst/>
              <a:ahLst/>
              <a:cxnLst/>
              <a:rect l="l" t="t" r="r" b="b"/>
              <a:pathLst>
                <a:path w="9429941" h="1127421" extrusionOk="0">
                  <a:moveTo>
                    <a:pt x="0" y="0"/>
                  </a:moveTo>
                  <a:lnTo>
                    <a:pt x="9429941" y="0"/>
                  </a:lnTo>
                  <a:lnTo>
                    <a:pt x="9429941" y="1127421"/>
                  </a:lnTo>
                  <a:lnTo>
                    <a:pt x="0" y="1127421"/>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2"/>
            <p:cNvSpPr txBox="1"/>
            <p:nvPr/>
          </p:nvSpPr>
          <p:spPr>
            <a:xfrm>
              <a:off x="0" y="-209550"/>
              <a:ext cx="9429940" cy="1336971"/>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dirty="0">
                  <a:solidFill>
                    <a:srgbClr val="000000"/>
                  </a:solidFill>
                  <a:latin typeface="Arial"/>
                  <a:ea typeface="Arial"/>
                  <a:cs typeface="Arial"/>
                  <a:sym typeface="Arial"/>
                </a:rPr>
                <a:t>¿Por </a:t>
              </a:r>
              <a:r>
                <a:rPr lang="en-US" sz="2799" dirty="0" err="1">
                  <a:solidFill>
                    <a:srgbClr val="000000"/>
                  </a:solidFill>
                  <a:latin typeface="Arial"/>
                  <a:ea typeface="Arial"/>
                  <a:cs typeface="Arial"/>
                  <a:sym typeface="Arial"/>
                </a:rPr>
                <a:t>qué</a:t>
              </a:r>
              <a:r>
                <a:rPr lang="en-US" sz="2799" dirty="0">
                  <a:solidFill>
                    <a:srgbClr val="000000"/>
                  </a:solidFill>
                  <a:latin typeface="Arial"/>
                  <a:ea typeface="Arial"/>
                  <a:cs typeface="Arial"/>
                  <a:sym typeface="Arial"/>
                </a:rPr>
                <a:t> es </a:t>
              </a:r>
              <a:r>
                <a:rPr lang="en-US" sz="2799" dirty="0" err="1">
                  <a:solidFill>
                    <a:srgbClr val="000000"/>
                  </a:solidFill>
                  <a:latin typeface="Arial"/>
                  <a:ea typeface="Arial"/>
                  <a:cs typeface="Arial"/>
                  <a:sym typeface="Arial"/>
                </a:rPr>
                <a:t>importante</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el</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versionamiento</a:t>
              </a:r>
              <a:r>
                <a:rPr lang="en-US" sz="2799" dirty="0">
                  <a:solidFill>
                    <a:srgbClr val="000000"/>
                  </a:solidFill>
                  <a:latin typeface="Arial"/>
                  <a:ea typeface="Arial"/>
                  <a:cs typeface="Arial"/>
                  <a:sym typeface="Arial"/>
                </a:rPr>
                <a:t>?</a:t>
              </a:r>
              <a:endParaRPr dirty="0"/>
            </a:p>
          </p:txBody>
        </p:sp>
      </p:grpSp>
      <p:sp>
        <p:nvSpPr>
          <p:cNvPr id="127" name="Google Shape;127;p2"/>
          <p:cNvSpPr/>
          <p:nvPr/>
        </p:nvSpPr>
        <p:spPr>
          <a:xfrm>
            <a:off x="176625" y="6604851"/>
            <a:ext cx="5805583" cy="666369"/>
          </a:xfrm>
          <a:custGeom>
            <a:avLst/>
            <a:gdLst/>
            <a:ahLst/>
            <a:cxnLst/>
            <a:rect l="l" t="t" r="r" b="b"/>
            <a:pathLst>
              <a:path w="7740777" h="888492" extrusionOk="0">
                <a:moveTo>
                  <a:pt x="6940042" y="0"/>
                </a:moveTo>
                <a:lnTo>
                  <a:pt x="0" y="0"/>
                </a:lnTo>
                <a:lnTo>
                  <a:pt x="0" y="888492"/>
                </a:lnTo>
                <a:lnTo>
                  <a:pt x="6940042" y="888492"/>
                </a:lnTo>
                <a:lnTo>
                  <a:pt x="7740777" y="444246"/>
                </a:lnTo>
                <a:lnTo>
                  <a:pt x="6940042"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28" name="Google Shape;128;p2"/>
          <p:cNvGrpSpPr/>
          <p:nvPr/>
        </p:nvGrpSpPr>
        <p:grpSpPr>
          <a:xfrm>
            <a:off x="2360800" y="6066273"/>
            <a:ext cx="5805290" cy="1002731"/>
            <a:chOff x="0" y="-209550"/>
            <a:chExt cx="7740387" cy="1336974"/>
          </a:xfrm>
        </p:grpSpPr>
        <p:sp>
          <p:nvSpPr>
            <p:cNvPr id="129" name="Google Shape;129;p2"/>
            <p:cNvSpPr/>
            <p:nvPr/>
          </p:nvSpPr>
          <p:spPr>
            <a:xfrm>
              <a:off x="0" y="0"/>
              <a:ext cx="7740387" cy="1127424"/>
            </a:xfrm>
            <a:custGeom>
              <a:avLst/>
              <a:gdLst/>
              <a:ahLst/>
              <a:cxnLst/>
              <a:rect l="l" t="t" r="r" b="b"/>
              <a:pathLst>
                <a:path w="7740387" h="1127424" extrusionOk="0">
                  <a:moveTo>
                    <a:pt x="0" y="0"/>
                  </a:moveTo>
                  <a:lnTo>
                    <a:pt x="7740387" y="0"/>
                  </a:lnTo>
                  <a:lnTo>
                    <a:pt x="7740387" y="1127424"/>
                  </a:lnTo>
                  <a:lnTo>
                    <a:pt x="0" y="112742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 name="Google Shape;130;p2"/>
            <p:cNvSpPr txBox="1"/>
            <p:nvPr/>
          </p:nvSpPr>
          <p:spPr>
            <a:xfrm>
              <a:off x="0" y="-209550"/>
              <a:ext cx="7740387" cy="1336974"/>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a:solidFill>
                    <a:srgbClr val="000000"/>
                  </a:solidFill>
                  <a:latin typeface="Arial"/>
                  <a:ea typeface="Arial"/>
                  <a:cs typeface="Arial"/>
                  <a:sym typeface="Arial"/>
                </a:rPr>
                <a:t>Tipos de control de versiones</a:t>
              </a:r>
              <a:endParaRPr/>
            </a:p>
          </p:txBody>
        </p:sp>
      </p:grpSp>
      <p:grpSp>
        <p:nvGrpSpPr>
          <p:cNvPr id="132" name="Google Shape;132;p2"/>
          <p:cNvGrpSpPr/>
          <p:nvPr/>
        </p:nvGrpSpPr>
        <p:grpSpPr>
          <a:xfrm>
            <a:off x="1332044" y="6519822"/>
            <a:ext cx="8058586" cy="1002731"/>
            <a:chOff x="0" y="-209550"/>
            <a:chExt cx="10744782" cy="1336974"/>
          </a:xfrm>
        </p:grpSpPr>
        <p:sp>
          <p:nvSpPr>
            <p:cNvPr id="133" name="Google Shape;133;p2"/>
            <p:cNvSpPr/>
            <p:nvPr/>
          </p:nvSpPr>
          <p:spPr>
            <a:xfrm>
              <a:off x="0" y="0"/>
              <a:ext cx="10744782" cy="1127424"/>
            </a:xfrm>
            <a:custGeom>
              <a:avLst/>
              <a:gdLst/>
              <a:ahLst/>
              <a:cxnLst/>
              <a:rect l="l" t="t" r="r" b="b"/>
              <a:pathLst>
                <a:path w="10744782" h="1127424" extrusionOk="0">
                  <a:moveTo>
                    <a:pt x="0" y="0"/>
                  </a:moveTo>
                  <a:lnTo>
                    <a:pt x="10744782" y="0"/>
                  </a:lnTo>
                  <a:lnTo>
                    <a:pt x="10744782" y="1127424"/>
                  </a:lnTo>
                  <a:lnTo>
                    <a:pt x="0" y="112742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2"/>
            <p:cNvSpPr txBox="1"/>
            <p:nvPr/>
          </p:nvSpPr>
          <p:spPr>
            <a:xfrm>
              <a:off x="0" y="-209550"/>
              <a:ext cx="10744782" cy="1336974"/>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a:solidFill>
                    <a:srgbClr val="000000"/>
                  </a:solidFill>
                  <a:latin typeface="Arial"/>
                  <a:ea typeface="Arial"/>
                  <a:cs typeface="Arial"/>
                  <a:sym typeface="Arial"/>
                </a:rPr>
                <a:t>Ventajas del control de versiones</a:t>
              </a:r>
              <a:endParaRPr/>
            </a:p>
          </p:txBody>
        </p:sp>
      </p:grpSp>
      <p:sp>
        <p:nvSpPr>
          <p:cNvPr id="135" name="Google Shape;135;p2"/>
          <p:cNvSpPr/>
          <p:nvPr/>
        </p:nvSpPr>
        <p:spPr>
          <a:xfrm>
            <a:off x="453114" y="8591895"/>
            <a:ext cx="12167330" cy="666369"/>
          </a:xfrm>
          <a:custGeom>
            <a:avLst/>
            <a:gdLst/>
            <a:ahLst/>
            <a:cxnLst/>
            <a:rect l="l" t="t" r="r" b="b"/>
            <a:pathLst>
              <a:path w="16223107" h="888492" extrusionOk="0">
                <a:moveTo>
                  <a:pt x="14544802" y="0"/>
                </a:moveTo>
                <a:lnTo>
                  <a:pt x="0" y="0"/>
                </a:lnTo>
                <a:lnTo>
                  <a:pt x="0" y="888492"/>
                </a:lnTo>
                <a:lnTo>
                  <a:pt x="14544802" y="888492"/>
                </a:lnTo>
                <a:lnTo>
                  <a:pt x="16223107" y="444246"/>
                </a:lnTo>
                <a:lnTo>
                  <a:pt x="14544802"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36" name="Google Shape;136;p2"/>
          <p:cNvGrpSpPr/>
          <p:nvPr/>
        </p:nvGrpSpPr>
        <p:grpSpPr>
          <a:xfrm>
            <a:off x="-181097" y="7340725"/>
            <a:ext cx="11626984" cy="1917731"/>
            <a:chOff x="-224529" y="-1429600"/>
            <a:chExt cx="15502645" cy="2556976"/>
          </a:xfrm>
        </p:grpSpPr>
        <p:sp>
          <p:nvSpPr>
            <p:cNvPr id="137" name="Google Shape;137;p2"/>
            <p:cNvSpPr/>
            <p:nvPr/>
          </p:nvSpPr>
          <p:spPr>
            <a:xfrm>
              <a:off x="0" y="0"/>
              <a:ext cx="15278116" cy="1127376"/>
            </a:xfrm>
            <a:custGeom>
              <a:avLst/>
              <a:gdLst/>
              <a:ahLst/>
              <a:cxnLst/>
              <a:rect l="l" t="t" r="r" b="b"/>
              <a:pathLst>
                <a:path w="15278116" h="1127376" extrusionOk="0">
                  <a:moveTo>
                    <a:pt x="0" y="0"/>
                  </a:moveTo>
                  <a:lnTo>
                    <a:pt x="15278116" y="0"/>
                  </a:lnTo>
                  <a:lnTo>
                    <a:pt x="15278116" y="1127376"/>
                  </a:lnTo>
                  <a:lnTo>
                    <a:pt x="0" y="1127376"/>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2"/>
            <p:cNvSpPr txBox="1"/>
            <p:nvPr/>
          </p:nvSpPr>
          <p:spPr>
            <a:xfrm>
              <a:off x="-224529" y="-1429600"/>
              <a:ext cx="15278115" cy="1336926"/>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dirty="0" err="1">
                  <a:solidFill>
                    <a:srgbClr val="000000"/>
                  </a:solidFill>
                  <a:latin typeface="Arial"/>
                  <a:ea typeface="Arial"/>
                  <a:cs typeface="Arial"/>
                  <a:sym typeface="Arial"/>
                </a:rPr>
                <a:t>Herramientas</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populares</a:t>
              </a:r>
              <a:r>
                <a:rPr lang="en-US" sz="2799" dirty="0">
                  <a:solidFill>
                    <a:srgbClr val="000000"/>
                  </a:solidFill>
                  <a:latin typeface="Arial"/>
                  <a:ea typeface="Arial"/>
                  <a:cs typeface="Arial"/>
                  <a:sym typeface="Arial"/>
                </a:rPr>
                <a:t> de control de </a:t>
              </a:r>
              <a:r>
                <a:rPr lang="en-US" sz="2799" dirty="0" err="1">
                  <a:solidFill>
                    <a:srgbClr val="000000"/>
                  </a:solidFill>
                  <a:latin typeface="Arial"/>
                  <a:ea typeface="Arial"/>
                  <a:cs typeface="Arial"/>
                  <a:sym typeface="Arial"/>
                </a:rPr>
                <a:t>versiones</a:t>
              </a:r>
              <a:endParaRPr dirty="0"/>
            </a:p>
          </p:txBody>
        </p:sp>
      </p:grpSp>
      <p:sp>
        <p:nvSpPr>
          <p:cNvPr id="139" name="Google Shape;139;p2"/>
          <p:cNvSpPr/>
          <p:nvPr/>
        </p:nvSpPr>
        <p:spPr>
          <a:xfrm>
            <a:off x="878654" y="5623280"/>
            <a:ext cx="453390" cy="550069"/>
          </a:xfrm>
          <a:custGeom>
            <a:avLst/>
            <a:gdLst/>
            <a:ahLst/>
            <a:cxnLst/>
            <a:rect l="l" t="t" r="r" b="b"/>
            <a:pathLst>
              <a:path w="604520" h="733425" extrusionOk="0">
                <a:moveTo>
                  <a:pt x="0" y="0"/>
                </a:moveTo>
                <a:lnTo>
                  <a:pt x="604520" y="0"/>
                </a:lnTo>
                <a:lnTo>
                  <a:pt x="604520" y="733425"/>
                </a:lnTo>
                <a:lnTo>
                  <a:pt x="0" y="733425"/>
                </a:lnTo>
                <a:lnTo>
                  <a:pt x="0" y="0"/>
                </a:lnTo>
                <a:close/>
              </a:path>
            </a:pathLst>
          </a:custGeom>
          <a:blipFill rotWithShape="1">
            <a:blip r:embed="rId3">
              <a:alphaModFix/>
            </a:blip>
            <a:stretch>
              <a:fillRect r="5" b="-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0" name="Google Shape;140;p2"/>
          <p:cNvSpPr/>
          <p:nvPr/>
        </p:nvSpPr>
        <p:spPr>
          <a:xfrm>
            <a:off x="878654" y="6604853"/>
            <a:ext cx="453390" cy="550069"/>
          </a:xfrm>
          <a:custGeom>
            <a:avLst/>
            <a:gdLst/>
            <a:ahLst/>
            <a:cxnLst/>
            <a:rect l="l" t="t" r="r" b="b"/>
            <a:pathLst>
              <a:path w="604520" h="733425" extrusionOk="0">
                <a:moveTo>
                  <a:pt x="0" y="0"/>
                </a:moveTo>
                <a:lnTo>
                  <a:pt x="604520" y="0"/>
                </a:lnTo>
                <a:lnTo>
                  <a:pt x="604520" y="733425"/>
                </a:lnTo>
                <a:lnTo>
                  <a:pt x="0" y="733425"/>
                </a:lnTo>
                <a:lnTo>
                  <a:pt x="0" y="0"/>
                </a:lnTo>
                <a:close/>
              </a:path>
            </a:pathLst>
          </a:custGeom>
          <a:blipFill rotWithShape="1">
            <a:blip r:embed="rId3">
              <a:alphaModFix/>
            </a:blip>
            <a:stretch>
              <a:fillRect r="5" b="-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2"/>
          <p:cNvSpPr/>
          <p:nvPr/>
        </p:nvSpPr>
        <p:spPr>
          <a:xfrm>
            <a:off x="878654" y="7604635"/>
            <a:ext cx="453390" cy="550069"/>
          </a:xfrm>
          <a:custGeom>
            <a:avLst/>
            <a:gdLst/>
            <a:ahLst/>
            <a:cxnLst/>
            <a:rect l="l" t="t" r="r" b="b"/>
            <a:pathLst>
              <a:path w="604520" h="733425" extrusionOk="0">
                <a:moveTo>
                  <a:pt x="0" y="0"/>
                </a:moveTo>
                <a:lnTo>
                  <a:pt x="604520" y="0"/>
                </a:lnTo>
                <a:lnTo>
                  <a:pt x="604520" y="733425"/>
                </a:lnTo>
                <a:lnTo>
                  <a:pt x="0" y="733425"/>
                </a:lnTo>
                <a:lnTo>
                  <a:pt x="0" y="0"/>
                </a:lnTo>
                <a:close/>
              </a:path>
            </a:pathLst>
          </a:custGeom>
          <a:blipFill rotWithShape="1">
            <a:blip r:embed="rId3">
              <a:alphaModFix/>
            </a:blip>
            <a:stretch>
              <a:fillRect r="5" b="-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2" name="Google Shape;142;p2"/>
          <p:cNvSpPr/>
          <p:nvPr/>
        </p:nvSpPr>
        <p:spPr>
          <a:xfrm>
            <a:off x="878654" y="8605540"/>
            <a:ext cx="453390" cy="550069"/>
          </a:xfrm>
          <a:custGeom>
            <a:avLst/>
            <a:gdLst/>
            <a:ahLst/>
            <a:cxnLst/>
            <a:rect l="l" t="t" r="r" b="b"/>
            <a:pathLst>
              <a:path w="604520" h="733425" extrusionOk="0">
                <a:moveTo>
                  <a:pt x="0" y="0"/>
                </a:moveTo>
                <a:lnTo>
                  <a:pt x="604520" y="0"/>
                </a:lnTo>
                <a:lnTo>
                  <a:pt x="604520" y="733425"/>
                </a:lnTo>
                <a:lnTo>
                  <a:pt x="0" y="733425"/>
                </a:lnTo>
                <a:lnTo>
                  <a:pt x="0" y="0"/>
                </a:lnTo>
                <a:close/>
              </a:path>
            </a:pathLst>
          </a:custGeom>
          <a:blipFill rotWithShape="1">
            <a:blip r:embed="rId3">
              <a:alphaModFix/>
            </a:blip>
            <a:stretch>
              <a:fillRect r="5" b="-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2"/>
          <p:cNvSpPr/>
          <p:nvPr/>
        </p:nvSpPr>
        <p:spPr>
          <a:xfrm>
            <a:off x="10177169" y="4699461"/>
            <a:ext cx="4613625" cy="666369"/>
          </a:xfrm>
          <a:custGeom>
            <a:avLst/>
            <a:gdLst/>
            <a:ahLst/>
            <a:cxnLst/>
            <a:rect l="l" t="t" r="r" b="b"/>
            <a:pathLst>
              <a:path w="6151499" h="888492" extrusionOk="0">
                <a:moveTo>
                  <a:pt x="5515102" y="0"/>
                </a:moveTo>
                <a:lnTo>
                  <a:pt x="0" y="0"/>
                </a:lnTo>
                <a:lnTo>
                  <a:pt x="0" y="888492"/>
                </a:lnTo>
                <a:lnTo>
                  <a:pt x="5515102" y="888492"/>
                </a:lnTo>
                <a:lnTo>
                  <a:pt x="6151499" y="444246"/>
                </a:lnTo>
                <a:lnTo>
                  <a:pt x="5515102"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44" name="Google Shape;144;p2"/>
          <p:cNvGrpSpPr/>
          <p:nvPr/>
        </p:nvGrpSpPr>
        <p:grpSpPr>
          <a:xfrm>
            <a:off x="2113459" y="4540176"/>
            <a:ext cx="13379019" cy="4864016"/>
            <a:chOff x="-11687656" y="0"/>
            <a:chExt cx="17838694" cy="6485352"/>
          </a:xfrm>
        </p:grpSpPr>
        <p:sp>
          <p:nvSpPr>
            <p:cNvPr id="145" name="Google Shape;145;p2"/>
            <p:cNvSpPr/>
            <p:nvPr/>
          </p:nvSpPr>
          <p:spPr>
            <a:xfrm>
              <a:off x="0" y="0"/>
              <a:ext cx="6151038" cy="1127424"/>
            </a:xfrm>
            <a:custGeom>
              <a:avLst/>
              <a:gdLst/>
              <a:ahLst/>
              <a:cxnLst/>
              <a:rect l="l" t="t" r="r" b="b"/>
              <a:pathLst>
                <a:path w="6151038" h="1127424" extrusionOk="0">
                  <a:moveTo>
                    <a:pt x="0" y="0"/>
                  </a:moveTo>
                  <a:lnTo>
                    <a:pt x="6151038" y="0"/>
                  </a:lnTo>
                  <a:lnTo>
                    <a:pt x="6151038" y="1127424"/>
                  </a:lnTo>
                  <a:lnTo>
                    <a:pt x="0" y="112742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2"/>
            <p:cNvSpPr txBox="1"/>
            <p:nvPr/>
          </p:nvSpPr>
          <p:spPr>
            <a:xfrm>
              <a:off x="-11687656" y="5148378"/>
              <a:ext cx="6151038" cy="1336974"/>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dirty="0" err="1">
                  <a:solidFill>
                    <a:srgbClr val="000000"/>
                  </a:solidFill>
                  <a:latin typeface="Arial"/>
                  <a:ea typeface="Arial"/>
                  <a:cs typeface="Arial"/>
                  <a:sym typeface="Arial"/>
                </a:rPr>
                <a:t>Introducción</a:t>
              </a:r>
              <a:r>
                <a:rPr lang="en-US" sz="2799" dirty="0">
                  <a:solidFill>
                    <a:srgbClr val="000000"/>
                  </a:solidFill>
                  <a:latin typeface="Arial"/>
                  <a:ea typeface="Arial"/>
                  <a:cs typeface="Arial"/>
                  <a:sym typeface="Arial"/>
                </a:rPr>
                <a:t> a Git</a:t>
              </a:r>
              <a:endParaRPr dirty="0"/>
            </a:p>
          </p:txBody>
        </p:sp>
      </p:grpSp>
      <p:sp>
        <p:nvSpPr>
          <p:cNvPr id="147" name="Google Shape;147;p2"/>
          <p:cNvSpPr/>
          <p:nvPr/>
        </p:nvSpPr>
        <p:spPr>
          <a:xfrm>
            <a:off x="10721904" y="4740441"/>
            <a:ext cx="453390" cy="550069"/>
          </a:xfrm>
          <a:custGeom>
            <a:avLst/>
            <a:gdLst/>
            <a:ahLst/>
            <a:cxnLst/>
            <a:rect l="l" t="t" r="r" b="b"/>
            <a:pathLst>
              <a:path w="604520" h="733425" extrusionOk="0">
                <a:moveTo>
                  <a:pt x="0" y="0"/>
                </a:moveTo>
                <a:lnTo>
                  <a:pt x="604520" y="0"/>
                </a:lnTo>
                <a:lnTo>
                  <a:pt x="604520" y="733425"/>
                </a:lnTo>
                <a:lnTo>
                  <a:pt x="0" y="733425"/>
                </a:lnTo>
                <a:lnTo>
                  <a:pt x="0" y="0"/>
                </a:lnTo>
                <a:close/>
              </a:path>
            </a:pathLst>
          </a:custGeom>
          <a:blipFill rotWithShape="1">
            <a:blip r:embed="rId3">
              <a:alphaModFix/>
            </a:blip>
            <a:stretch>
              <a:fillRect r="5" b="-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8" name="Google Shape;148;p2"/>
          <p:cNvSpPr/>
          <p:nvPr/>
        </p:nvSpPr>
        <p:spPr>
          <a:xfrm>
            <a:off x="10019869" y="5632375"/>
            <a:ext cx="4613624" cy="666369"/>
          </a:xfrm>
          <a:custGeom>
            <a:avLst/>
            <a:gdLst/>
            <a:ahLst/>
            <a:cxnLst/>
            <a:rect l="l" t="t" r="r" b="b"/>
            <a:pathLst>
              <a:path w="6151499" h="888492" extrusionOk="0">
                <a:moveTo>
                  <a:pt x="5515102" y="0"/>
                </a:moveTo>
                <a:lnTo>
                  <a:pt x="0" y="0"/>
                </a:lnTo>
                <a:lnTo>
                  <a:pt x="0" y="888492"/>
                </a:lnTo>
                <a:lnTo>
                  <a:pt x="5515102" y="888492"/>
                </a:lnTo>
                <a:lnTo>
                  <a:pt x="6151499" y="444246"/>
                </a:lnTo>
                <a:lnTo>
                  <a:pt x="5515102"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49" name="Google Shape;149;p2"/>
          <p:cNvGrpSpPr/>
          <p:nvPr/>
        </p:nvGrpSpPr>
        <p:grpSpPr>
          <a:xfrm>
            <a:off x="10638213" y="4484323"/>
            <a:ext cx="5252623" cy="1747012"/>
            <a:chOff x="0" y="-1201924"/>
            <a:chExt cx="7003497" cy="2329348"/>
          </a:xfrm>
        </p:grpSpPr>
        <p:sp>
          <p:nvSpPr>
            <p:cNvPr id="150" name="Google Shape;150;p2"/>
            <p:cNvSpPr/>
            <p:nvPr/>
          </p:nvSpPr>
          <p:spPr>
            <a:xfrm>
              <a:off x="0" y="0"/>
              <a:ext cx="6793669" cy="1127424"/>
            </a:xfrm>
            <a:custGeom>
              <a:avLst/>
              <a:gdLst/>
              <a:ahLst/>
              <a:cxnLst/>
              <a:rect l="l" t="t" r="r" b="b"/>
              <a:pathLst>
                <a:path w="6793669" h="1127424" extrusionOk="0">
                  <a:moveTo>
                    <a:pt x="0" y="0"/>
                  </a:moveTo>
                  <a:lnTo>
                    <a:pt x="6793669" y="0"/>
                  </a:lnTo>
                  <a:lnTo>
                    <a:pt x="6793669" y="1127424"/>
                  </a:lnTo>
                  <a:lnTo>
                    <a:pt x="0" y="112742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1" name="Google Shape;151;p2"/>
            <p:cNvSpPr txBox="1"/>
            <p:nvPr/>
          </p:nvSpPr>
          <p:spPr>
            <a:xfrm>
              <a:off x="209828" y="-1201924"/>
              <a:ext cx="6793669" cy="1336974"/>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dirty="0" err="1">
                  <a:solidFill>
                    <a:srgbClr val="000000"/>
                  </a:solidFill>
                  <a:latin typeface="Arial"/>
                  <a:ea typeface="Arial"/>
                  <a:cs typeface="Arial"/>
                  <a:sym typeface="Arial"/>
                </a:rPr>
                <a:t>Instalación</a:t>
              </a:r>
              <a:r>
                <a:rPr lang="en-US" sz="2799" dirty="0">
                  <a:solidFill>
                    <a:srgbClr val="000000"/>
                  </a:solidFill>
                  <a:latin typeface="Arial"/>
                  <a:ea typeface="Arial"/>
                  <a:cs typeface="Arial"/>
                  <a:sym typeface="Arial"/>
                </a:rPr>
                <a:t> de Git</a:t>
              </a:r>
              <a:endParaRPr dirty="0"/>
            </a:p>
          </p:txBody>
        </p:sp>
      </p:grpSp>
      <p:sp>
        <p:nvSpPr>
          <p:cNvPr id="152" name="Google Shape;152;p2"/>
          <p:cNvSpPr/>
          <p:nvPr/>
        </p:nvSpPr>
        <p:spPr>
          <a:xfrm>
            <a:off x="10721904" y="5673341"/>
            <a:ext cx="453390" cy="550069"/>
          </a:xfrm>
          <a:custGeom>
            <a:avLst/>
            <a:gdLst/>
            <a:ahLst/>
            <a:cxnLst/>
            <a:rect l="l" t="t" r="r" b="b"/>
            <a:pathLst>
              <a:path w="604520" h="733425" extrusionOk="0">
                <a:moveTo>
                  <a:pt x="0" y="0"/>
                </a:moveTo>
                <a:lnTo>
                  <a:pt x="604520" y="0"/>
                </a:lnTo>
                <a:lnTo>
                  <a:pt x="604520" y="733425"/>
                </a:lnTo>
                <a:lnTo>
                  <a:pt x="0" y="733425"/>
                </a:lnTo>
                <a:lnTo>
                  <a:pt x="0" y="0"/>
                </a:lnTo>
                <a:close/>
              </a:path>
            </a:pathLst>
          </a:custGeom>
          <a:blipFill rotWithShape="1">
            <a:blip r:embed="rId3">
              <a:alphaModFix/>
            </a:blip>
            <a:stretch>
              <a:fillRect r="5" b="-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53" name="Google Shape;153;p2"/>
          <p:cNvGrpSpPr/>
          <p:nvPr/>
        </p:nvGrpSpPr>
        <p:grpSpPr>
          <a:xfrm>
            <a:off x="10638213" y="5388029"/>
            <a:ext cx="5336239" cy="1883231"/>
            <a:chOff x="0" y="-1383549"/>
            <a:chExt cx="7114985" cy="2510973"/>
          </a:xfrm>
        </p:grpSpPr>
        <p:sp>
          <p:nvSpPr>
            <p:cNvPr id="154" name="Google Shape;154;p2"/>
            <p:cNvSpPr/>
            <p:nvPr/>
          </p:nvSpPr>
          <p:spPr>
            <a:xfrm>
              <a:off x="0" y="0"/>
              <a:ext cx="6793669" cy="1127424"/>
            </a:xfrm>
            <a:custGeom>
              <a:avLst/>
              <a:gdLst/>
              <a:ahLst/>
              <a:cxnLst/>
              <a:rect l="l" t="t" r="r" b="b"/>
              <a:pathLst>
                <a:path w="6793669" h="1127424" extrusionOk="0">
                  <a:moveTo>
                    <a:pt x="0" y="0"/>
                  </a:moveTo>
                  <a:lnTo>
                    <a:pt x="6793669" y="0"/>
                  </a:lnTo>
                  <a:lnTo>
                    <a:pt x="6793669" y="1127424"/>
                  </a:lnTo>
                  <a:lnTo>
                    <a:pt x="0" y="112742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2"/>
            <p:cNvSpPr txBox="1"/>
            <p:nvPr/>
          </p:nvSpPr>
          <p:spPr>
            <a:xfrm>
              <a:off x="321316" y="-1383549"/>
              <a:ext cx="6793669" cy="1336974"/>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dirty="0">
                  <a:solidFill>
                    <a:srgbClr val="000000"/>
                  </a:solidFill>
                  <a:latin typeface="Arial"/>
                  <a:ea typeface="Arial"/>
                  <a:cs typeface="Arial"/>
                  <a:sym typeface="Arial"/>
                </a:rPr>
                <a:t>Crear un </a:t>
              </a:r>
              <a:r>
                <a:rPr lang="en-US" sz="2799" dirty="0" err="1">
                  <a:solidFill>
                    <a:srgbClr val="000000"/>
                  </a:solidFill>
                  <a:latin typeface="Arial"/>
                  <a:ea typeface="Arial"/>
                  <a:cs typeface="Arial"/>
                  <a:sym typeface="Arial"/>
                </a:rPr>
                <a:t>repositorio</a:t>
              </a:r>
              <a:endParaRPr dirty="0"/>
            </a:p>
          </p:txBody>
        </p:sp>
      </p:grpSp>
      <p:sp>
        <p:nvSpPr>
          <p:cNvPr id="156" name="Google Shape;156;p2"/>
          <p:cNvSpPr/>
          <p:nvPr/>
        </p:nvSpPr>
        <p:spPr>
          <a:xfrm>
            <a:off x="10721904" y="6713267"/>
            <a:ext cx="453390" cy="550069"/>
          </a:xfrm>
          <a:custGeom>
            <a:avLst/>
            <a:gdLst/>
            <a:ahLst/>
            <a:cxnLst/>
            <a:rect l="l" t="t" r="r" b="b"/>
            <a:pathLst>
              <a:path w="604520" h="733425" extrusionOk="0">
                <a:moveTo>
                  <a:pt x="0" y="0"/>
                </a:moveTo>
                <a:lnTo>
                  <a:pt x="604520" y="0"/>
                </a:lnTo>
                <a:lnTo>
                  <a:pt x="604520" y="733425"/>
                </a:lnTo>
                <a:lnTo>
                  <a:pt x="0" y="733425"/>
                </a:lnTo>
                <a:lnTo>
                  <a:pt x="0" y="0"/>
                </a:lnTo>
                <a:close/>
              </a:path>
            </a:pathLst>
          </a:custGeom>
          <a:blipFill rotWithShape="1">
            <a:blip r:embed="rId3">
              <a:alphaModFix/>
            </a:blip>
            <a:stretch>
              <a:fillRect r="5" b="-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57" name="Google Shape;157;p2"/>
          <p:cNvGrpSpPr/>
          <p:nvPr/>
        </p:nvGrpSpPr>
        <p:grpSpPr>
          <a:xfrm>
            <a:off x="10638213" y="6349159"/>
            <a:ext cx="5178943" cy="1786719"/>
            <a:chOff x="0" y="-1254869"/>
            <a:chExt cx="6905257" cy="2382293"/>
          </a:xfrm>
        </p:grpSpPr>
        <p:sp>
          <p:nvSpPr>
            <p:cNvPr id="158" name="Google Shape;158;p2"/>
            <p:cNvSpPr/>
            <p:nvPr/>
          </p:nvSpPr>
          <p:spPr>
            <a:xfrm>
              <a:off x="0" y="0"/>
              <a:ext cx="6793669" cy="1127424"/>
            </a:xfrm>
            <a:custGeom>
              <a:avLst/>
              <a:gdLst/>
              <a:ahLst/>
              <a:cxnLst/>
              <a:rect l="l" t="t" r="r" b="b"/>
              <a:pathLst>
                <a:path w="6793669" h="1127424" extrusionOk="0">
                  <a:moveTo>
                    <a:pt x="0" y="0"/>
                  </a:moveTo>
                  <a:lnTo>
                    <a:pt x="6793669" y="0"/>
                  </a:lnTo>
                  <a:lnTo>
                    <a:pt x="6793669" y="1127424"/>
                  </a:lnTo>
                  <a:lnTo>
                    <a:pt x="0" y="112742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9" name="Google Shape;159;p2"/>
            <p:cNvSpPr txBox="1"/>
            <p:nvPr/>
          </p:nvSpPr>
          <p:spPr>
            <a:xfrm>
              <a:off x="111588" y="-1254869"/>
              <a:ext cx="6793669" cy="1336974"/>
            </a:xfrm>
            <a:prstGeom prst="rect">
              <a:avLst/>
            </a:prstGeom>
            <a:noFill/>
            <a:ln>
              <a:noFill/>
            </a:ln>
          </p:spPr>
          <p:txBody>
            <a:bodyPr spcFirstLastPara="1" wrap="square" lIns="0" tIns="0" rIns="0" bIns="0" anchor="ctr" anchorCtr="0">
              <a:noAutofit/>
            </a:bodyPr>
            <a:lstStyle/>
            <a:p>
              <a:pPr marL="0" marR="0" lvl="0" indent="0" algn="ctr" rtl="0">
                <a:lnSpc>
                  <a:spcPct val="177599"/>
                </a:lnSpc>
                <a:spcBef>
                  <a:spcPts val="0"/>
                </a:spcBef>
                <a:spcAft>
                  <a:spcPts val="0"/>
                </a:spcAft>
                <a:buNone/>
              </a:pPr>
              <a:r>
                <a:rPr lang="en-US" sz="2799" dirty="0" err="1">
                  <a:solidFill>
                    <a:srgbClr val="000000"/>
                  </a:solidFill>
                  <a:latin typeface="Arial"/>
                  <a:ea typeface="Arial"/>
                  <a:cs typeface="Arial"/>
                  <a:sym typeface="Arial"/>
                </a:rPr>
                <a:t>Realizar</a:t>
              </a:r>
              <a:r>
                <a:rPr lang="en-US" sz="2799" dirty="0">
                  <a:solidFill>
                    <a:srgbClr val="000000"/>
                  </a:solidFill>
                  <a:latin typeface="Arial"/>
                  <a:ea typeface="Arial"/>
                  <a:cs typeface="Arial"/>
                  <a:sym typeface="Arial"/>
                </a:rPr>
                <a:t> un commit</a:t>
              </a:r>
              <a:endParaRPr dirty="0"/>
            </a:p>
          </p:txBody>
        </p:sp>
      </p:grpSp>
      <p:sp>
        <p:nvSpPr>
          <p:cNvPr id="160" name="Google Shape;160;p2"/>
          <p:cNvSpPr/>
          <p:nvPr/>
        </p:nvSpPr>
        <p:spPr>
          <a:xfrm>
            <a:off x="10721904" y="7577885"/>
            <a:ext cx="453390" cy="550069"/>
          </a:xfrm>
          <a:custGeom>
            <a:avLst/>
            <a:gdLst/>
            <a:ahLst/>
            <a:cxnLst/>
            <a:rect l="l" t="t" r="r" b="b"/>
            <a:pathLst>
              <a:path w="604520" h="733425" extrusionOk="0">
                <a:moveTo>
                  <a:pt x="0" y="0"/>
                </a:moveTo>
                <a:lnTo>
                  <a:pt x="604520" y="0"/>
                </a:lnTo>
                <a:lnTo>
                  <a:pt x="604520" y="733425"/>
                </a:lnTo>
                <a:lnTo>
                  <a:pt x="0" y="733425"/>
                </a:lnTo>
                <a:lnTo>
                  <a:pt x="0" y="0"/>
                </a:lnTo>
                <a:close/>
              </a:path>
            </a:pathLst>
          </a:custGeom>
          <a:blipFill rotWithShape="1">
            <a:blip r:embed="rId3">
              <a:alphaModFix/>
            </a:blip>
            <a:stretch>
              <a:fillRect r="5" b="-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61" name="Google Shape;161;p2"/>
          <p:cNvGrpSpPr/>
          <p:nvPr/>
        </p:nvGrpSpPr>
        <p:grpSpPr>
          <a:xfrm>
            <a:off x="10435885" y="7478836"/>
            <a:ext cx="7749154" cy="1957075"/>
            <a:chOff x="-1346668" y="-1482011"/>
            <a:chExt cx="10332206" cy="2609435"/>
          </a:xfrm>
        </p:grpSpPr>
        <p:sp>
          <p:nvSpPr>
            <p:cNvPr id="162" name="Google Shape;162;p2"/>
            <p:cNvSpPr/>
            <p:nvPr/>
          </p:nvSpPr>
          <p:spPr>
            <a:xfrm>
              <a:off x="0" y="0"/>
              <a:ext cx="8985538" cy="1127424"/>
            </a:xfrm>
            <a:custGeom>
              <a:avLst/>
              <a:gdLst/>
              <a:ahLst/>
              <a:cxnLst/>
              <a:rect l="l" t="t" r="r" b="b"/>
              <a:pathLst>
                <a:path w="8985538" h="1127424" extrusionOk="0">
                  <a:moveTo>
                    <a:pt x="0" y="0"/>
                  </a:moveTo>
                  <a:lnTo>
                    <a:pt x="8985538" y="0"/>
                  </a:lnTo>
                  <a:lnTo>
                    <a:pt x="8985538" y="1127424"/>
                  </a:lnTo>
                  <a:lnTo>
                    <a:pt x="0" y="112742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2"/>
            <p:cNvSpPr txBox="1"/>
            <p:nvPr/>
          </p:nvSpPr>
          <p:spPr>
            <a:xfrm>
              <a:off x="-1346668" y="-1482011"/>
              <a:ext cx="8985538" cy="133697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799" dirty="0" err="1">
                  <a:solidFill>
                    <a:srgbClr val="000000"/>
                  </a:solidFill>
                  <a:latin typeface="Arial"/>
                  <a:ea typeface="Arial"/>
                  <a:cs typeface="Arial"/>
                  <a:sym typeface="Arial"/>
                </a:rPr>
                <a:t>Buenas</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prácticas</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en</a:t>
              </a:r>
              <a:r>
                <a:rPr lang="en-US" sz="2799" dirty="0">
                  <a:solidFill>
                    <a:srgbClr val="000000"/>
                  </a:solidFill>
                  <a:latin typeface="Arial"/>
                  <a:ea typeface="Arial"/>
                  <a:cs typeface="Arial"/>
                  <a:sym typeface="Arial"/>
                </a:rPr>
                <a:t> control </a:t>
              </a:r>
            </a:p>
            <a:p>
              <a:pPr marL="0" marR="0" lvl="0" indent="0" algn="ctr" rtl="0">
                <a:spcBef>
                  <a:spcPts val="0"/>
                </a:spcBef>
                <a:spcAft>
                  <a:spcPts val="0"/>
                </a:spcAft>
                <a:buNone/>
              </a:pPr>
              <a:r>
                <a:rPr lang="en-US" sz="2799" dirty="0">
                  <a:solidFill>
                    <a:srgbClr val="000000"/>
                  </a:solidFill>
                  <a:latin typeface="Arial"/>
                  <a:ea typeface="Arial"/>
                  <a:cs typeface="Arial"/>
                  <a:sym typeface="Arial"/>
                </a:rPr>
                <a:t>de </a:t>
              </a:r>
              <a:r>
                <a:rPr lang="en-US" sz="2799" dirty="0" err="1">
                  <a:solidFill>
                    <a:srgbClr val="000000"/>
                  </a:solidFill>
                  <a:latin typeface="Arial"/>
                  <a:ea typeface="Arial"/>
                  <a:cs typeface="Arial"/>
                  <a:sym typeface="Arial"/>
                </a:rPr>
                <a:t>versiones</a:t>
              </a:r>
              <a:endParaRPr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grpSp>
        <p:nvGrpSpPr>
          <p:cNvPr id="173" name="Google Shape;173;p3"/>
          <p:cNvGrpSpPr/>
          <p:nvPr/>
        </p:nvGrpSpPr>
        <p:grpSpPr>
          <a:xfrm>
            <a:off x="1406936" y="593342"/>
            <a:ext cx="13991101" cy="1256147"/>
            <a:chOff x="0" y="-209550"/>
            <a:chExt cx="18654801" cy="1674862"/>
          </a:xfrm>
        </p:grpSpPr>
        <p:sp>
          <p:nvSpPr>
            <p:cNvPr id="174" name="Google Shape;174;p3"/>
            <p:cNvSpPr/>
            <p:nvPr/>
          </p:nvSpPr>
          <p:spPr>
            <a:xfrm>
              <a:off x="0" y="0"/>
              <a:ext cx="18654801" cy="1465312"/>
            </a:xfrm>
            <a:custGeom>
              <a:avLst/>
              <a:gdLst/>
              <a:ahLst/>
              <a:cxnLst/>
              <a:rect l="l" t="t" r="r" b="b"/>
              <a:pathLst>
                <a:path w="18654801" h="1465312" extrusionOk="0">
                  <a:moveTo>
                    <a:pt x="0" y="0"/>
                  </a:moveTo>
                  <a:lnTo>
                    <a:pt x="18654801" y="0"/>
                  </a:lnTo>
                  <a:lnTo>
                    <a:pt x="186548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5" name="Google Shape;175;p3"/>
            <p:cNvSpPr txBox="1"/>
            <p:nvPr/>
          </p:nvSpPr>
          <p:spPr>
            <a:xfrm>
              <a:off x="0" y="-209550"/>
              <a:ext cx="186548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Competencias</a:t>
              </a:r>
              <a:endParaRPr/>
            </a:p>
          </p:txBody>
        </p:sp>
      </p:grpSp>
      <p:grpSp>
        <p:nvGrpSpPr>
          <p:cNvPr id="176" name="Google Shape;176;p3"/>
          <p:cNvGrpSpPr/>
          <p:nvPr/>
        </p:nvGrpSpPr>
        <p:grpSpPr>
          <a:xfrm>
            <a:off x="2202100" y="3187428"/>
            <a:ext cx="14916375" cy="5442300"/>
            <a:chOff x="-3" y="-133330"/>
            <a:chExt cx="19888500" cy="7256400"/>
          </a:xfrm>
        </p:grpSpPr>
        <p:sp>
          <p:nvSpPr>
            <p:cNvPr id="177" name="Google Shape;177;p3"/>
            <p:cNvSpPr/>
            <p:nvPr/>
          </p:nvSpPr>
          <p:spPr>
            <a:xfrm>
              <a:off x="0" y="0"/>
              <a:ext cx="19322400" cy="5788000"/>
            </a:xfrm>
            <a:custGeom>
              <a:avLst/>
              <a:gdLst/>
              <a:ahLst/>
              <a:cxnLst/>
              <a:rect l="l" t="t" r="r" b="b"/>
              <a:pathLst>
                <a:path w="19322400" h="5788000" extrusionOk="0">
                  <a:moveTo>
                    <a:pt x="0" y="0"/>
                  </a:moveTo>
                  <a:lnTo>
                    <a:pt x="19322400" y="0"/>
                  </a:lnTo>
                  <a:lnTo>
                    <a:pt x="19322400" y="5788000"/>
                  </a:lnTo>
                  <a:lnTo>
                    <a:pt x="0" y="57880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8" name="Google Shape;178;p3"/>
            <p:cNvSpPr txBox="1"/>
            <p:nvPr/>
          </p:nvSpPr>
          <p:spPr>
            <a:xfrm>
              <a:off x="-3" y="-133330"/>
              <a:ext cx="19888500" cy="72564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None/>
              </a:pPr>
              <a:r>
                <a:rPr lang="en-US" sz="2900">
                  <a:solidFill>
                    <a:schemeClr val="dk1"/>
                  </a:solidFill>
                  <a:latin typeface="Open Sans"/>
                  <a:ea typeface="Open Sans"/>
                  <a:cs typeface="Open Sans"/>
                  <a:sym typeface="Open Sans"/>
                </a:rPr>
                <a:t>Al finalizar esta unidad, el estudiante será capaz de:</a:t>
              </a:r>
              <a:endParaRPr sz="2900">
                <a:solidFill>
                  <a:schemeClr val="dk1"/>
                </a:solidFill>
                <a:latin typeface="Open Sans"/>
                <a:ea typeface="Open Sans"/>
                <a:cs typeface="Open Sans"/>
                <a:sym typeface="Open Sans"/>
              </a:endParaRPr>
            </a:p>
            <a:p>
              <a:pPr marL="457200" lvl="0" indent="-412750" algn="l" rtl="0">
                <a:lnSpc>
                  <a:spcPct val="115000"/>
                </a:lnSpc>
                <a:spcBef>
                  <a:spcPts val="1200"/>
                </a:spcBef>
                <a:spcAft>
                  <a:spcPts val="0"/>
                </a:spcAft>
                <a:buClr>
                  <a:schemeClr val="dk1"/>
                </a:buClr>
                <a:buSzPts val="2900"/>
                <a:buChar char="●"/>
              </a:pPr>
              <a:r>
                <a:rPr lang="en-US" sz="2900" b="1">
                  <a:solidFill>
                    <a:schemeClr val="dk1"/>
                  </a:solidFill>
                  <a:latin typeface="Open Sans"/>
                  <a:ea typeface="Open Sans"/>
                  <a:cs typeface="Open Sans"/>
                  <a:sym typeface="Open Sans"/>
                </a:rPr>
                <a:t>Comprender</a:t>
              </a:r>
              <a:r>
                <a:rPr lang="en-US" sz="2900">
                  <a:solidFill>
                    <a:schemeClr val="dk1"/>
                  </a:solidFill>
                  <a:latin typeface="Open Sans"/>
                  <a:ea typeface="Open Sans"/>
                  <a:cs typeface="Open Sans"/>
                  <a:sym typeface="Open Sans"/>
                </a:rPr>
                <a:t> la importancia del control de versiones para la integridad y trazabilidad de los proyectos de software.</a:t>
              </a:r>
              <a:endParaRPr sz="2900">
                <a:solidFill>
                  <a:schemeClr val="dk1"/>
                </a:solidFill>
                <a:latin typeface="Open Sans"/>
                <a:ea typeface="Open Sans"/>
                <a:cs typeface="Open Sans"/>
                <a:sym typeface="Open Sans"/>
              </a:endParaRPr>
            </a:p>
            <a:p>
              <a:pPr marL="457200" lvl="0" indent="-412750" algn="l" rtl="0">
                <a:lnSpc>
                  <a:spcPct val="115000"/>
                </a:lnSpc>
                <a:spcBef>
                  <a:spcPts val="0"/>
                </a:spcBef>
                <a:spcAft>
                  <a:spcPts val="0"/>
                </a:spcAft>
                <a:buClr>
                  <a:schemeClr val="dk1"/>
                </a:buClr>
                <a:buSzPts val="2900"/>
                <a:buChar char="●"/>
              </a:pPr>
              <a:r>
                <a:rPr lang="en-US" sz="2900" b="1">
                  <a:solidFill>
                    <a:schemeClr val="dk1"/>
                  </a:solidFill>
                  <a:latin typeface="Open Sans"/>
                  <a:ea typeface="Open Sans"/>
                  <a:cs typeface="Open Sans"/>
                  <a:sym typeface="Open Sans"/>
                </a:rPr>
                <a:t>Aplicar</a:t>
              </a:r>
              <a:r>
                <a:rPr lang="en-US" sz="2900">
                  <a:solidFill>
                    <a:schemeClr val="dk1"/>
                  </a:solidFill>
                  <a:latin typeface="Open Sans"/>
                  <a:ea typeface="Open Sans"/>
                  <a:cs typeface="Open Sans"/>
                  <a:sym typeface="Open Sans"/>
                </a:rPr>
                <a:t> el flujo de trabajo básico en Git: inicializar repositorios, preparar archivos y confirmar cambios (commits).</a:t>
              </a:r>
              <a:endParaRPr sz="2900">
                <a:solidFill>
                  <a:schemeClr val="dk1"/>
                </a:solidFill>
                <a:latin typeface="Open Sans"/>
                <a:ea typeface="Open Sans"/>
                <a:cs typeface="Open Sans"/>
                <a:sym typeface="Open Sans"/>
              </a:endParaRPr>
            </a:p>
            <a:p>
              <a:pPr marL="457200" lvl="0" indent="-412750" algn="l" rtl="0">
                <a:lnSpc>
                  <a:spcPct val="115000"/>
                </a:lnSpc>
                <a:spcBef>
                  <a:spcPts val="0"/>
                </a:spcBef>
                <a:spcAft>
                  <a:spcPts val="0"/>
                </a:spcAft>
                <a:buClr>
                  <a:schemeClr val="dk1"/>
                </a:buClr>
                <a:buSzPts val="2900"/>
                <a:buChar char="●"/>
              </a:pPr>
              <a:r>
                <a:rPr lang="en-US" sz="2900" b="1">
                  <a:solidFill>
                    <a:schemeClr val="dk1"/>
                  </a:solidFill>
                  <a:latin typeface="Open Sans"/>
                  <a:ea typeface="Open Sans"/>
                  <a:cs typeface="Open Sans"/>
                  <a:sym typeface="Open Sans"/>
                </a:rPr>
                <a:t>Gestionar</a:t>
              </a:r>
              <a:r>
                <a:rPr lang="en-US" sz="2900">
                  <a:solidFill>
                    <a:schemeClr val="dk1"/>
                  </a:solidFill>
                  <a:latin typeface="Open Sans"/>
                  <a:ea typeface="Open Sans"/>
                  <a:cs typeface="Open Sans"/>
                  <a:sym typeface="Open Sans"/>
                </a:rPr>
                <a:t> ramas (branches) para desarrollar nuevas funcionalidades de manera aislada y segura.</a:t>
              </a:r>
              <a:endParaRPr sz="2900">
                <a:solidFill>
                  <a:schemeClr val="dk1"/>
                </a:solidFill>
                <a:latin typeface="Open Sans"/>
                <a:ea typeface="Open Sans"/>
                <a:cs typeface="Open Sans"/>
                <a:sym typeface="Open Sans"/>
              </a:endParaRPr>
            </a:p>
            <a:p>
              <a:pPr marL="457200" lvl="0" indent="-412750" algn="l" rtl="0">
                <a:lnSpc>
                  <a:spcPct val="115000"/>
                </a:lnSpc>
                <a:spcBef>
                  <a:spcPts val="0"/>
                </a:spcBef>
                <a:spcAft>
                  <a:spcPts val="0"/>
                </a:spcAft>
                <a:buClr>
                  <a:schemeClr val="dk1"/>
                </a:buClr>
                <a:buSzPts val="2900"/>
                <a:buChar char="●"/>
              </a:pPr>
              <a:r>
                <a:rPr lang="en-US" sz="2900" b="1">
                  <a:solidFill>
                    <a:schemeClr val="dk1"/>
                  </a:solidFill>
                  <a:latin typeface="Open Sans"/>
                  <a:ea typeface="Open Sans"/>
                  <a:cs typeface="Open Sans"/>
                  <a:sym typeface="Open Sans"/>
                </a:rPr>
                <a:t>Resolver</a:t>
              </a:r>
              <a:r>
                <a:rPr lang="en-US" sz="2900">
                  <a:solidFill>
                    <a:schemeClr val="dk1"/>
                  </a:solidFill>
                  <a:latin typeface="Open Sans"/>
                  <a:ea typeface="Open Sans"/>
                  <a:cs typeface="Open Sans"/>
                  <a:sym typeface="Open Sans"/>
                </a:rPr>
                <a:t> conflictos de fusión básicos durante la integración de código.</a:t>
              </a:r>
              <a:endParaRPr sz="2900">
                <a:solidFill>
                  <a:schemeClr val="dk1"/>
                </a:solidFill>
                <a:latin typeface="Open Sans"/>
                <a:ea typeface="Open Sans"/>
                <a:cs typeface="Open Sans"/>
                <a:sym typeface="Open Sans"/>
              </a:endParaRPr>
            </a:p>
            <a:p>
              <a:pPr marL="457200" lvl="0" indent="-412750" algn="l" rtl="0">
                <a:lnSpc>
                  <a:spcPct val="115000"/>
                </a:lnSpc>
                <a:spcBef>
                  <a:spcPts val="0"/>
                </a:spcBef>
                <a:spcAft>
                  <a:spcPts val="0"/>
                </a:spcAft>
                <a:buClr>
                  <a:schemeClr val="dk1"/>
                </a:buClr>
                <a:buSzPts val="2900"/>
                <a:buChar char="●"/>
              </a:pPr>
              <a:r>
                <a:rPr lang="en-US" sz="2900" b="1">
                  <a:solidFill>
                    <a:schemeClr val="dk1"/>
                  </a:solidFill>
                  <a:latin typeface="Open Sans"/>
                  <a:ea typeface="Open Sans"/>
                  <a:cs typeface="Open Sans"/>
                  <a:sym typeface="Open Sans"/>
                </a:rPr>
                <a:t>Utilizar</a:t>
              </a:r>
              <a:r>
                <a:rPr lang="en-US" sz="2900">
                  <a:solidFill>
                    <a:schemeClr val="dk1"/>
                  </a:solidFill>
                  <a:latin typeface="Open Sans"/>
                  <a:ea typeface="Open Sans"/>
                  <a:cs typeface="Open Sans"/>
                  <a:sym typeface="Open Sans"/>
                </a:rPr>
                <a:t> plataformas remotas como GitHub para el alojamiento y colaboración en la nube.</a:t>
              </a:r>
              <a:endParaRPr sz="2900">
                <a:solidFill>
                  <a:schemeClr val="dk1"/>
                </a:solidFill>
                <a:latin typeface="Open Sans"/>
                <a:ea typeface="Open Sans"/>
                <a:cs typeface="Open Sans"/>
                <a:sym typeface="Open Sans"/>
              </a:endParaRPr>
            </a:p>
            <a:p>
              <a:pPr marL="0" marR="0" lvl="0" indent="0" algn="l" rtl="0">
                <a:lnSpc>
                  <a:spcPct val="168000"/>
                </a:lnSpc>
                <a:spcBef>
                  <a:spcPts val="1200"/>
                </a:spcBef>
                <a:spcAft>
                  <a:spcPts val="0"/>
                </a:spcAft>
                <a:buNone/>
              </a:pPr>
              <a:endParaRPr sz="3000">
                <a:solidFill>
                  <a:srgbClr val="131416"/>
                </a:solidFill>
                <a:latin typeface="Open Sans"/>
                <a:ea typeface="Open Sans"/>
                <a:cs typeface="Open Sans"/>
                <a:sym typeface="Open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87" name="Google Shape;187;g3b056312c4a_0_19"/>
          <p:cNvGrpSpPr/>
          <p:nvPr/>
        </p:nvGrpSpPr>
        <p:grpSpPr>
          <a:xfrm>
            <a:off x="1374901" y="497213"/>
            <a:ext cx="15288975" cy="1256175"/>
            <a:chOff x="0" y="-209550"/>
            <a:chExt cx="20385300" cy="1674900"/>
          </a:xfrm>
        </p:grpSpPr>
        <p:sp>
          <p:nvSpPr>
            <p:cNvPr id="188" name="Google Shape;188;g3b056312c4a_0_19"/>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g3b056312c4a_0_19"/>
            <p:cNvSpPr txBox="1"/>
            <p:nvPr/>
          </p:nvSpPr>
          <p:spPr>
            <a:xfrm>
              <a:off x="0" y="-209550"/>
              <a:ext cx="20385300" cy="1674900"/>
            </a:xfrm>
            <a:prstGeom prst="rect">
              <a:avLst/>
            </a:prstGeom>
            <a:noFill/>
            <a:ln>
              <a:noFill/>
            </a:ln>
          </p:spPr>
          <p:txBody>
            <a:bodyPr spcFirstLastPara="1" wrap="square" lIns="0" tIns="0" rIns="0" bIns="0" anchor="t" anchorCtr="0">
              <a:noAutofit/>
            </a:bodyPr>
            <a:lstStyle/>
            <a:p>
              <a:pPr marL="0" marR="0" lvl="0" indent="0" algn="ctr" rtl="0">
                <a:lnSpc>
                  <a:spcPct val="135569"/>
                </a:lnSpc>
                <a:spcBef>
                  <a:spcPts val="0"/>
                </a:spcBef>
                <a:spcAft>
                  <a:spcPts val="0"/>
                </a:spcAft>
                <a:buNone/>
              </a:pPr>
              <a:r>
                <a:rPr lang="en-US" sz="6098">
                  <a:solidFill>
                    <a:srgbClr val="131416"/>
                  </a:solidFill>
                  <a:latin typeface="Impact"/>
                  <a:ea typeface="Impact"/>
                  <a:cs typeface="Impact"/>
                  <a:sym typeface="Impact"/>
                </a:rPr>
                <a:t> Valores y Actitudes</a:t>
              </a:r>
              <a:endParaRPr/>
            </a:p>
          </p:txBody>
        </p:sp>
      </p:grpSp>
      <p:grpSp>
        <p:nvGrpSpPr>
          <p:cNvPr id="190" name="Google Shape;190;g3b056312c4a_0_19"/>
          <p:cNvGrpSpPr/>
          <p:nvPr/>
        </p:nvGrpSpPr>
        <p:grpSpPr>
          <a:xfrm>
            <a:off x="1374903" y="2398856"/>
            <a:ext cx="15864600" cy="4799700"/>
            <a:chOff x="0" y="-314325"/>
            <a:chExt cx="21152800" cy="6399600"/>
          </a:xfrm>
        </p:grpSpPr>
        <p:sp>
          <p:nvSpPr>
            <p:cNvPr id="191" name="Google Shape;191;g3b056312c4a_0_19"/>
            <p:cNvSpPr/>
            <p:nvPr/>
          </p:nvSpPr>
          <p:spPr>
            <a:xfrm>
              <a:off x="0" y="0"/>
              <a:ext cx="21152800" cy="6085264"/>
            </a:xfrm>
            <a:custGeom>
              <a:avLst/>
              <a:gdLst/>
              <a:ahLst/>
              <a:cxnLst/>
              <a:rect l="l" t="t" r="r" b="b"/>
              <a:pathLst>
                <a:path w="21152800" h="6085264" extrusionOk="0">
                  <a:moveTo>
                    <a:pt x="0" y="0"/>
                  </a:moveTo>
                  <a:lnTo>
                    <a:pt x="21152800" y="0"/>
                  </a:lnTo>
                  <a:lnTo>
                    <a:pt x="21152800" y="6085264"/>
                  </a:lnTo>
                  <a:lnTo>
                    <a:pt x="0" y="608526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g3b056312c4a_0_19"/>
            <p:cNvSpPr txBox="1"/>
            <p:nvPr/>
          </p:nvSpPr>
          <p:spPr>
            <a:xfrm>
              <a:off x="0" y="-314325"/>
              <a:ext cx="21152700" cy="6399600"/>
            </a:xfrm>
            <a:prstGeom prst="rect">
              <a:avLst/>
            </a:prstGeom>
            <a:noFill/>
            <a:ln>
              <a:noFill/>
            </a:ln>
          </p:spPr>
          <p:txBody>
            <a:bodyPr spcFirstLastPara="1" wrap="square" lIns="0" tIns="0" rIns="0" bIns="0" anchor="t" anchorCtr="0">
              <a:noAutofit/>
            </a:bodyPr>
            <a:lstStyle/>
            <a:p>
              <a:pPr marL="914400" lvl="1" indent="-515874" algn="l" rtl="0">
                <a:lnSpc>
                  <a:spcPct val="100000"/>
                </a:lnSpc>
                <a:spcBef>
                  <a:spcPts val="0"/>
                </a:spcBef>
                <a:spcAft>
                  <a:spcPts val="0"/>
                </a:spcAft>
                <a:buClr>
                  <a:srgbClr val="131416"/>
                </a:buClr>
                <a:buSzPts val="4524"/>
                <a:buChar char="•"/>
              </a:pPr>
              <a:r>
                <a:rPr lang="en-US" sz="2600" b="1">
                  <a:solidFill>
                    <a:schemeClr val="dk1"/>
                  </a:solidFill>
                  <a:latin typeface="Open Sans"/>
                  <a:ea typeface="Open Sans"/>
                  <a:cs typeface="Open Sans"/>
                  <a:sym typeface="Open Sans"/>
                </a:rPr>
                <a:t>Orden y Disciplina:</a:t>
              </a:r>
              <a:r>
                <a:rPr lang="en-US" sz="2600">
                  <a:solidFill>
                    <a:schemeClr val="dk1"/>
                  </a:solidFill>
                  <a:latin typeface="Open Sans"/>
                  <a:ea typeface="Open Sans"/>
                  <a:cs typeface="Open Sans"/>
                  <a:sym typeface="Open Sans"/>
                </a:rPr>
                <a:t> Mantener un historial de cambios limpio, frecuente y con mensajes descriptivos para facilitar el seguimiento.</a:t>
              </a:r>
              <a:endParaRPr sz="2600">
                <a:solidFill>
                  <a:schemeClr val="dk1"/>
                </a:solidFill>
                <a:latin typeface="Open Sans"/>
                <a:ea typeface="Open Sans"/>
                <a:cs typeface="Open Sans"/>
                <a:sym typeface="Open Sans"/>
              </a:endParaRPr>
            </a:p>
            <a:p>
              <a:pPr marL="914400" lvl="1" indent="-515874" algn="l" rtl="0">
                <a:lnSpc>
                  <a:spcPct val="100000"/>
                </a:lnSpc>
                <a:spcBef>
                  <a:spcPts val="0"/>
                </a:spcBef>
                <a:spcAft>
                  <a:spcPts val="0"/>
                </a:spcAft>
                <a:buClr>
                  <a:srgbClr val="131416"/>
                </a:buClr>
                <a:buSzPts val="4524"/>
                <a:buChar char="•"/>
              </a:pPr>
              <a:r>
                <a:rPr lang="en-US" sz="2600" b="1">
                  <a:solidFill>
                    <a:schemeClr val="dk1"/>
                  </a:solidFill>
                  <a:latin typeface="Open Sans"/>
                  <a:ea typeface="Open Sans"/>
                  <a:cs typeface="Open Sans"/>
                  <a:sym typeface="Open Sans"/>
                </a:rPr>
                <a:t>Colaboración Respetuosa:</a:t>
              </a:r>
              <a:r>
                <a:rPr lang="en-US" sz="2600">
                  <a:solidFill>
                    <a:schemeClr val="dk1"/>
                  </a:solidFill>
                  <a:latin typeface="Open Sans"/>
                  <a:ea typeface="Open Sans"/>
                  <a:cs typeface="Open Sans"/>
                  <a:sym typeface="Open Sans"/>
                </a:rPr>
                <a:t> Trabajar en equipo evitando sobrescribir el trabajo ajeno mediante el uso correcto de ramas y comunicación.</a:t>
              </a:r>
              <a:endParaRPr sz="2600">
                <a:solidFill>
                  <a:schemeClr val="dk1"/>
                </a:solidFill>
                <a:latin typeface="Open Sans"/>
                <a:ea typeface="Open Sans"/>
                <a:cs typeface="Open Sans"/>
                <a:sym typeface="Open Sans"/>
              </a:endParaRPr>
            </a:p>
            <a:p>
              <a:pPr marL="914400" lvl="1" indent="-515874" algn="l" rtl="0">
                <a:lnSpc>
                  <a:spcPct val="100000"/>
                </a:lnSpc>
                <a:spcBef>
                  <a:spcPts val="0"/>
                </a:spcBef>
                <a:spcAft>
                  <a:spcPts val="0"/>
                </a:spcAft>
                <a:buClr>
                  <a:srgbClr val="131416"/>
                </a:buClr>
                <a:buSzPts val="4524"/>
                <a:buChar char="•"/>
              </a:pPr>
              <a:r>
                <a:rPr lang="en-US" sz="2600" b="1">
                  <a:solidFill>
                    <a:schemeClr val="dk1"/>
                  </a:solidFill>
                  <a:latin typeface="Open Sans"/>
                  <a:ea typeface="Open Sans"/>
                  <a:cs typeface="Open Sans"/>
                  <a:sym typeface="Open Sans"/>
                </a:rPr>
                <a:t>Responsabilidad:</a:t>
              </a:r>
              <a:r>
                <a:rPr lang="en-US" sz="2600">
                  <a:solidFill>
                    <a:schemeClr val="dk1"/>
                  </a:solidFill>
                  <a:latin typeface="Open Sans"/>
                  <a:ea typeface="Open Sans"/>
                  <a:cs typeface="Open Sans"/>
                  <a:sym typeface="Open Sans"/>
                </a:rPr>
                <a:t> Asegurar que el código funciona correctamente antes de fusionarlo a la rama principal o compartirlo en el repositorio remoto.</a:t>
              </a:r>
              <a:endParaRPr sz="2600">
                <a:solidFill>
                  <a:schemeClr val="dk1"/>
                </a:solidFill>
                <a:latin typeface="Open Sans"/>
                <a:ea typeface="Open Sans"/>
                <a:cs typeface="Open Sans"/>
                <a:sym typeface="Open Sans"/>
              </a:endParaRPr>
            </a:p>
            <a:p>
              <a:pPr marL="0" marR="0" lvl="0" indent="0" algn="l" rtl="0">
                <a:lnSpc>
                  <a:spcPct val="207638"/>
                </a:lnSpc>
                <a:spcBef>
                  <a:spcPts val="0"/>
                </a:spcBef>
                <a:spcAft>
                  <a:spcPts val="0"/>
                </a:spcAft>
                <a:buNone/>
              </a:pPr>
              <a:endParaRPr sz="3024">
                <a:solidFill>
                  <a:srgbClr val="131416"/>
                </a:solidFill>
              </a:endParaRPr>
            </a:p>
            <a:p>
              <a:pPr marL="401463" marR="0" lvl="1" indent="0" algn="l" rtl="0">
                <a:lnSpc>
                  <a:spcPct val="207638"/>
                </a:lnSpc>
                <a:spcBef>
                  <a:spcPts val="0"/>
                </a:spcBef>
                <a:spcAft>
                  <a:spcPts val="0"/>
                </a:spcAft>
                <a:buClr>
                  <a:schemeClr val="dk1"/>
                </a:buClr>
                <a:buSzPts val="3024"/>
                <a:buFont typeface="Arial"/>
                <a:buNone/>
              </a:pPr>
              <a:endParaRPr sz="3024" b="0" i="0" u="none" strike="noStrike" cap="none">
                <a:solidFill>
                  <a:srgbClr val="131416"/>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grpSp>
        <p:nvGrpSpPr>
          <p:cNvPr id="201" name="Google Shape;201;g3b056312c4a_0_0"/>
          <p:cNvGrpSpPr/>
          <p:nvPr/>
        </p:nvGrpSpPr>
        <p:grpSpPr>
          <a:xfrm>
            <a:off x="1406936" y="593342"/>
            <a:ext cx="13991175" cy="1256175"/>
            <a:chOff x="0" y="-209550"/>
            <a:chExt cx="18654900" cy="1674900"/>
          </a:xfrm>
        </p:grpSpPr>
        <p:sp>
          <p:nvSpPr>
            <p:cNvPr id="202" name="Google Shape;202;g3b056312c4a_0_0"/>
            <p:cNvSpPr/>
            <p:nvPr/>
          </p:nvSpPr>
          <p:spPr>
            <a:xfrm>
              <a:off x="0" y="0"/>
              <a:ext cx="18654801" cy="1465312"/>
            </a:xfrm>
            <a:custGeom>
              <a:avLst/>
              <a:gdLst/>
              <a:ahLst/>
              <a:cxnLst/>
              <a:rect l="l" t="t" r="r" b="b"/>
              <a:pathLst>
                <a:path w="18654801" h="1465312" extrusionOk="0">
                  <a:moveTo>
                    <a:pt x="0" y="0"/>
                  </a:moveTo>
                  <a:lnTo>
                    <a:pt x="18654801" y="0"/>
                  </a:lnTo>
                  <a:lnTo>
                    <a:pt x="186548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g3b056312c4a_0_0"/>
            <p:cNvSpPr txBox="1"/>
            <p:nvPr/>
          </p:nvSpPr>
          <p:spPr>
            <a:xfrm>
              <a:off x="0" y="-209550"/>
              <a:ext cx="18654900" cy="1674900"/>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¿Qué es el control de versiones?</a:t>
              </a:r>
              <a:endParaRPr/>
            </a:p>
          </p:txBody>
        </p:sp>
      </p:grpSp>
      <p:grpSp>
        <p:nvGrpSpPr>
          <p:cNvPr id="204" name="Google Shape;204;g3b056312c4a_0_0"/>
          <p:cNvGrpSpPr/>
          <p:nvPr/>
        </p:nvGrpSpPr>
        <p:grpSpPr>
          <a:xfrm>
            <a:off x="2202102" y="3187413"/>
            <a:ext cx="14491800" cy="4441050"/>
            <a:chOff x="0" y="-133350"/>
            <a:chExt cx="19322400" cy="5921400"/>
          </a:xfrm>
        </p:grpSpPr>
        <p:sp>
          <p:nvSpPr>
            <p:cNvPr id="205" name="Google Shape;205;g3b056312c4a_0_0"/>
            <p:cNvSpPr/>
            <p:nvPr/>
          </p:nvSpPr>
          <p:spPr>
            <a:xfrm>
              <a:off x="0" y="0"/>
              <a:ext cx="19322400" cy="5788000"/>
            </a:xfrm>
            <a:custGeom>
              <a:avLst/>
              <a:gdLst/>
              <a:ahLst/>
              <a:cxnLst/>
              <a:rect l="l" t="t" r="r" b="b"/>
              <a:pathLst>
                <a:path w="19322400" h="5788000" extrusionOk="0">
                  <a:moveTo>
                    <a:pt x="0" y="0"/>
                  </a:moveTo>
                  <a:lnTo>
                    <a:pt x="19322400" y="0"/>
                  </a:lnTo>
                  <a:lnTo>
                    <a:pt x="19322400" y="5788000"/>
                  </a:lnTo>
                  <a:lnTo>
                    <a:pt x="0" y="57880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g3b056312c4a_0_0"/>
            <p:cNvSpPr txBox="1"/>
            <p:nvPr/>
          </p:nvSpPr>
          <p:spPr>
            <a:xfrm>
              <a:off x="0" y="-133350"/>
              <a:ext cx="19322400" cy="5921400"/>
            </a:xfrm>
            <a:prstGeom prst="rect">
              <a:avLst/>
            </a:prstGeom>
            <a:noFill/>
            <a:ln>
              <a:noFill/>
            </a:ln>
          </p:spPr>
          <p:txBody>
            <a:bodyPr spcFirstLastPara="1" wrap="square" lIns="0" tIns="0" rIns="0" bIns="0" anchor="t" anchorCtr="0">
              <a:noAutofit/>
            </a:bodyPr>
            <a:lstStyle/>
            <a:p>
              <a:pPr marL="400050" marR="0" lvl="1" indent="-200025" algn="l" rtl="0">
                <a:lnSpc>
                  <a:spcPct val="168000"/>
                </a:lnSpc>
                <a:spcBef>
                  <a:spcPts val="0"/>
                </a:spcBef>
                <a:spcAft>
                  <a:spcPts val="0"/>
                </a:spcAft>
                <a:buClr>
                  <a:srgbClr val="131416"/>
                </a:buClr>
                <a:buSzPts val="3000"/>
                <a:buFont typeface="Arial"/>
                <a:buChar char="•"/>
              </a:pPr>
              <a:r>
                <a:rPr lang="en-US" sz="3000" b="0" i="0" u="none" strike="noStrike" cap="none">
                  <a:solidFill>
                    <a:srgbClr val="131416"/>
                  </a:solidFill>
                  <a:latin typeface="Open Sans"/>
                  <a:ea typeface="Open Sans"/>
                  <a:cs typeface="Open Sans"/>
                  <a:sym typeface="Open Sans"/>
                </a:rPr>
                <a:t>El control de versiones es un sistema que registra los cambios realizados a un archivo o conjunto de archivos a lo largo del tiempo. Esto permite recuperar versiones anteriores, comparar cambios, y trabajar de forma ordenada y segura. Es una herramienta indispensable para cualquier desarrollador, ya que previene la pérdida de trabajo y facilita la colaboración.</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grpSp>
        <p:nvGrpSpPr>
          <p:cNvPr id="215" name="Google Shape;215;p4"/>
          <p:cNvGrpSpPr/>
          <p:nvPr/>
        </p:nvGrpSpPr>
        <p:grpSpPr>
          <a:xfrm>
            <a:off x="1374900" y="1887756"/>
            <a:ext cx="14889301" cy="6323692"/>
            <a:chOff x="0" y="-314325"/>
            <a:chExt cx="19852401" cy="8431590"/>
          </a:xfrm>
        </p:grpSpPr>
        <p:sp>
          <p:nvSpPr>
            <p:cNvPr id="216" name="Google Shape;216;p4"/>
            <p:cNvSpPr/>
            <p:nvPr/>
          </p:nvSpPr>
          <p:spPr>
            <a:xfrm>
              <a:off x="0" y="0"/>
              <a:ext cx="19852401" cy="8117264"/>
            </a:xfrm>
            <a:custGeom>
              <a:avLst/>
              <a:gdLst/>
              <a:ahLst/>
              <a:cxnLst/>
              <a:rect l="l" t="t" r="r" b="b"/>
              <a:pathLst>
                <a:path w="19852401" h="8117264" extrusionOk="0">
                  <a:moveTo>
                    <a:pt x="0" y="0"/>
                  </a:moveTo>
                  <a:lnTo>
                    <a:pt x="19852401" y="0"/>
                  </a:lnTo>
                  <a:lnTo>
                    <a:pt x="19852401" y="8117264"/>
                  </a:lnTo>
                  <a:lnTo>
                    <a:pt x="0" y="811726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4"/>
            <p:cNvSpPr txBox="1"/>
            <p:nvPr/>
          </p:nvSpPr>
          <p:spPr>
            <a:xfrm>
              <a:off x="0" y="-314325"/>
              <a:ext cx="19852400" cy="8431590"/>
            </a:xfrm>
            <a:prstGeom prst="rect">
              <a:avLst/>
            </a:prstGeom>
            <a:noFill/>
            <a:ln>
              <a:noFill/>
            </a:ln>
          </p:spPr>
          <p:txBody>
            <a:bodyPr spcFirstLastPara="1" wrap="square" lIns="0" tIns="0" rIns="0" bIns="0" anchor="t" anchorCtr="0">
              <a:noAutofit/>
            </a:bodyPr>
            <a:lstStyle/>
            <a:p>
              <a:pPr marL="653097" marR="0" lvl="1" indent="-326548" algn="just" rtl="0">
                <a:lnSpc>
                  <a:spcPct val="207638"/>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Permite mantener un historial de modificaciones.</a:t>
              </a:r>
              <a:endParaRPr/>
            </a:p>
            <a:p>
              <a:pPr marL="653097" marR="0" lvl="1" indent="-326548" algn="just" rtl="0">
                <a:lnSpc>
                  <a:spcPct val="207638"/>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Facilita el trabajo en equipo en proyectos grandes.</a:t>
              </a:r>
              <a:endParaRPr/>
            </a:p>
            <a:p>
              <a:pPr marL="653097" marR="0" lvl="1" indent="-326548" algn="just" rtl="0">
                <a:lnSpc>
                  <a:spcPct val="207638"/>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Ayuda a detectar y corregir errores rápidamente.</a:t>
              </a:r>
              <a:endParaRPr/>
            </a:p>
            <a:p>
              <a:pPr marL="653097" marR="0" lvl="1" indent="-326548" algn="just" rtl="0">
                <a:lnSpc>
                  <a:spcPct val="207638"/>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Permite revertir el código a un estado funcional anterior.</a:t>
              </a:r>
              <a:endParaRPr/>
            </a:p>
            <a:p>
              <a:pPr marL="0" marR="0" lvl="0" indent="0" algn="just" rtl="0">
                <a:lnSpc>
                  <a:spcPct val="207738"/>
                </a:lnSpc>
                <a:spcBef>
                  <a:spcPts val="0"/>
                </a:spcBef>
                <a:spcAft>
                  <a:spcPts val="0"/>
                </a:spcAft>
                <a:buNone/>
              </a:pPr>
              <a:r>
                <a:rPr lang="en-US" sz="3024">
                  <a:solidFill>
                    <a:srgbClr val="131416"/>
                  </a:solidFill>
                  <a:latin typeface="Arial"/>
                  <a:ea typeface="Arial"/>
                  <a:cs typeface="Arial"/>
                  <a:sym typeface="Arial"/>
                </a:rPr>
                <a:t>Ejemplo cotidiano: guardar copias de seguridad de un documento con nombres como "proyecto_final_v1", "proyecto_final_definitivo", etc. El control de versiones automatiza y mejora este proceso.</a:t>
              </a:r>
              <a:endParaRPr/>
            </a:p>
            <a:p>
              <a:pPr marL="0" marR="0" lvl="0" indent="0" algn="just" rtl="0">
                <a:lnSpc>
                  <a:spcPct val="207638"/>
                </a:lnSpc>
                <a:spcBef>
                  <a:spcPts val="0"/>
                </a:spcBef>
                <a:spcAft>
                  <a:spcPts val="0"/>
                </a:spcAft>
                <a:buNone/>
              </a:pPr>
              <a:endParaRPr sz="3024">
                <a:solidFill>
                  <a:srgbClr val="131416"/>
                </a:solidFill>
                <a:latin typeface="Arial"/>
                <a:ea typeface="Arial"/>
                <a:cs typeface="Arial"/>
                <a:sym typeface="Arial"/>
              </a:endParaRPr>
            </a:p>
          </p:txBody>
        </p:sp>
      </p:grpSp>
      <p:grpSp>
        <p:nvGrpSpPr>
          <p:cNvPr id="218" name="Google Shape;218;p4"/>
          <p:cNvGrpSpPr/>
          <p:nvPr/>
        </p:nvGrpSpPr>
        <p:grpSpPr>
          <a:xfrm>
            <a:off x="1374889" y="497201"/>
            <a:ext cx="13991101" cy="1256147"/>
            <a:chOff x="0" y="-209550"/>
            <a:chExt cx="18654801" cy="1674862"/>
          </a:xfrm>
        </p:grpSpPr>
        <p:sp>
          <p:nvSpPr>
            <p:cNvPr id="219" name="Google Shape;219;p4"/>
            <p:cNvSpPr/>
            <p:nvPr/>
          </p:nvSpPr>
          <p:spPr>
            <a:xfrm>
              <a:off x="0" y="0"/>
              <a:ext cx="18654801" cy="1465312"/>
            </a:xfrm>
            <a:custGeom>
              <a:avLst/>
              <a:gdLst/>
              <a:ahLst/>
              <a:cxnLst/>
              <a:rect l="l" t="t" r="r" b="b"/>
              <a:pathLst>
                <a:path w="18654801" h="1465312" extrusionOk="0">
                  <a:moveTo>
                    <a:pt x="0" y="0"/>
                  </a:moveTo>
                  <a:lnTo>
                    <a:pt x="18654801" y="0"/>
                  </a:lnTo>
                  <a:lnTo>
                    <a:pt x="186548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4"/>
            <p:cNvSpPr txBox="1"/>
            <p:nvPr/>
          </p:nvSpPr>
          <p:spPr>
            <a:xfrm>
              <a:off x="0" y="-209550"/>
              <a:ext cx="186548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¿Por qué es importante el versionamiento?</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grpSp>
        <p:nvGrpSpPr>
          <p:cNvPr id="229" name="Google Shape;229;p5"/>
          <p:cNvGrpSpPr/>
          <p:nvPr/>
        </p:nvGrpSpPr>
        <p:grpSpPr>
          <a:xfrm>
            <a:off x="1392603" y="1888250"/>
            <a:ext cx="15502800" cy="3259709"/>
            <a:chOff x="0" y="-114300"/>
            <a:chExt cx="20670400" cy="4346279"/>
          </a:xfrm>
        </p:grpSpPr>
        <p:sp>
          <p:nvSpPr>
            <p:cNvPr id="230" name="Google Shape;230;p5"/>
            <p:cNvSpPr/>
            <p:nvPr/>
          </p:nvSpPr>
          <p:spPr>
            <a:xfrm>
              <a:off x="0" y="0"/>
              <a:ext cx="20670400" cy="4231979"/>
            </a:xfrm>
            <a:custGeom>
              <a:avLst/>
              <a:gdLst/>
              <a:ahLst/>
              <a:cxnLst/>
              <a:rect l="l" t="t" r="r" b="b"/>
              <a:pathLst>
                <a:path w="20670400" h="4231979" extrusionOk="0">
                  <a:moveTo>
                    <a:pt x="0" y="0"/>
                  </a:moveTo>
                  <a:lnTo>
                    <a:pt x="20670400" y="0"/>
                  </a:lnTo>
                  <a:lnTo>
                    <a:pt x="20670400" y="4231979"/>
                  </a:lnTo>
                  <a:lnTo>
                    <a:pt x="0" y="4231979"/>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1" name="Google Shape;231;p5"/>
            <p:cNvSpPr txBox="1"/>
            <p:nvPr/>
          </p:nvSpPr>
          <p:spPr>
            <a:xfrm>
              <a:off x="0" y="-114300"/>
              <a:ext cx="20670400" cy="4346279"/>
            </a:xfrm>
            <a:prstGeom prst="rect">
              <a:avLst/>
            </a:prstGeom>
            <a:noFill/>
            <a:ln>
              <a:noFill/>
            </a:ln>
          </p:spPr>
          <p:txBody>
            <a:bodyPr spcFirstLastPara="1" wrap="square" lIns="0" tIns="0" rIns="0" bIns="0" anchor="t" anchorCtr="0">
              <a:noAutofit/>
            </a:bodyPr>
            <a:lstStyle/>
            <a:p>
              <a:pPr marL="653097" marR="0" lvl="1" indent="-326548" algn="just" rtl="0">
                <a:lnSpc>
                  <a:spcPct val="138029"/>
                </a:lnSpc>
                <a:spcBef>
                  <a:spcPts val="0"/>
                </a:spcBef>
                <a:spcAft>
                  <a:spcPts val="0"/>
                </a:spcAft>
                <a:buClr>
                  <a:srgbClr val="131416"/>
                </a:buClr>
                <a:buSzPts val="3024"/>
                <a:buFont typeface="Arial"/>
                <a:buAutoNum type="arabicPeriod"/>
              </a:pPr>
              <a:r>
                <a:rPr lang="en-US" sz="3024" b="0" i="0" u="none" strike="noStrike" cap="none">
                  <a:solidFill>
                    <a:srgbClr val="131416"/>
                  </a:solidFill>
                  <a:latin typeface="Arial"/>
                  <a:ea typeface="Arial"/>
                  <a:cs typeface="Arial"/>
                  <a:sym typeface="Arial"/>
                </a:rPr>
                <a:t>Centralizado (CVCS): Un único servidor contiene todas las versiones. Ej: Subversion (SVN).</a:t>
              </a:r>
              <a:endParaRPr/>
            </a:p>
            <a:p>
              <a:pPr marL="653097" marR="0" lvl="1" indent="-326548" algn="just" rtl="0">
                <a:lnSpc>
                  <a:spcPct val="138029"/>
                </a:lnSpc>
                <a:spcBef>
                  <a:spcPts val="0"/>
                </a:spcBef>
                <a:spcAft>
                  <a:spcPts val="0"/>
                </a:spcAft>
                <a:buClr>
                  <a:srgbClr val="131416"/>
                </a:buClr>
                <a:buSzPts val="3024"/>
                <a:buFont typeface="Arial"/>
                <a:buAutoNum type="arabicPeriod"/>
              </a:pPr>
              <a:r>
                <a:rPr lang="en-US" sz="3024" b="0" i="0" u="none" strike="noStrike" cap="none">
                  <a:solidFill>
                    <a:srgbClr val="131416"/>
                  </a:solidFill>
                  <a:latin typeface="Arial"/>
                  <a:ea typeface="Arial"/>
                  <a:cs typeface="Arial"/>
                  <a:sym typeface="Arial"/>
                </a:rPr>
                <a:t>Distribuido (DVCS): Cada desarrollador tiene una copia completa del repositorio. Ej: Git.</a:t>
              </a:r>
              <a:endParaRPr/>
            </a:p>
            <a:p>
              <a:pPr marL="0" marR="0" lvl="0" indent="0" algn="just" rtl="0">
                <a:lnSpc>
                  <a:spcPct val="138029"/>
                </a:lnSpc>
                <a:spcBef>
                  <a:spcPts val="0"/>
                </a:spcBef>
                <a:spcAft>
                  <a:spcPts val="0"/>
                </a:spcAft>
                <a:buNone/>
              </a:pPr>
              <a:r>
                <a:rPr lang="en-US" sz="3024">
                  <a:solidFill>
                    <a:srgbClr val="131416"/>
                  </a:solidFill>
                  <a:latin typeface="Arial"/>
                  <a:ea typeface="Arial"/>
                  <a:cs typeface="Arial"/>
                  <a:sym typeface="Arial"/>
                </a:rPr>
                <a:t>Git ha ganado popularidad por su flexibilidad y capacidad de trabajo offline.</a:t>
              </a:r>
              <a:endParaRPr/>
            </a:p>
            <a:p>
              <a:pPr marL="0" marR="0" lvl="0" indent="0" algn="just" rtl="0">
                <a:lnSpc>
                  <a:spcPct val="138029"/>
                </a:lnSpc>
                <a:spcBef>
                  <a:spcPts val="0"/>
                </a:spcBef>
                <a:spcAft>
                  <a:spcPts val="0"/>
                </a:spcAft>
                <a:buNone/>
              </a:pPr>
              <a:endParaRPr sz="3024">
                <a:solidFill>
                  <a:srgbClr val="131416"/>
                </a:solidFill>
                <a:latin typeface="Arial"/>
                <a:ea typeface="Arial"/>
                <a:cs typeface="Arial"/>
                <a:sym typeface="Arial"/>
              </a:endParaRPr>
            </a:p>
          </p:txBody>
        </p:sp>
      </p:grpSp>
      <p:grpSp>
        <p:nvGrpSpPr>
          <p:cNvPr id="232" name="Google Shape;232;p5"/>
          <p:cNvGrpSpPr/>
          <p:nvPr/>
        </p:nvGrpSpPr>
        <p:grpSpPr>
          <a:xfrm>
            <a:off x="1374901" y="497213"/>
            <a:ext cx="15288901" cy="1256147"/>
            <a:chOff x="0" y="-209550"/>
            <a:chExt cx="20385201" cy="1674862"/>
          </a:xfrm>
        </p:grpSpPr>
        <p:sp>
          <p:nvSpPr>
            <p:cNvPr id="233" name="Google Shape;233;p5"/>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5"/>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Tipos de control de versiones</a:t>
              </a:r>
              <a:endParaRPr/>
            </a:p>
          </p:txBody>
        </p:sp>
      </p:grpSp>
      <p:sp>
        <p:nvSpPr>
          <p:cNvPr id="235" name="Google Shape;235;p5"/>
          <p:cNvSpPr/>
          <p:nvPr/>
        </p:nvSpPr>
        <p:spPr>
          <a:xfrm>
            <a:off x="4368182" y="5147959"/>
            <a:ext cx="9551641" cy="3991320"/>
          </a:xfrm>
          <a:custGeom>
            <a:avLst/>
            <a:gdLst/>
            <a:ahLst/>
            <a:cxnLst/>
            <a:rect l="l" t="t" r="r" b="b"/>
            <a:pathLst>
              <a:path w="9551641" h="3991320" extrusionOk="0">
                <a:moveTo>
                  <a:pt x="0" y="0"/>
                </a:moveTo>
                <a:lnTo>
                  <a:pt x="9551642" y="0"/>
                </a:lnTo>
                <a:lnTo>
                  <a:pt x="9551642" y="3991320"/>
                </a:lnTo>
                <a:lnTo>
                  <a:pt x="0" y="399132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grpSp>
        <p:nvGrpSpPr>
          <p:cNvPr id="244" name="Google Shape;244;p6"/>
          <p:cNvGrpSpPr/>
          <p:nvPr/>
        </p:nvGrpSpPr>
        <p:grpSpPr>
          <a:xfrm>
            <a:off x="1392600" y="3732721"/>
            <a:ext cx="15502800" cy="2735834"/>
            <a:chOff x="0" y="-114300"/>
            <a:chExt cx="20670400" cy="3647779"/>
          </a:xfrm>
        </p:grpSpPr>
        <p:sp>
          <p:nvSpPr>
            <p:cNvPr id="245" name="Google Shape;245;p6"/>
            <p:cNvSpPr/>
            <p:nvPr/>
          </p:nvSpPr>
          <p:spPr>
            <a:xfrm>
              <a:off x="0" y="0"/>
              <a:ext cx="20670400" cy="3533479"/>
            </a:xfrm>
            <a:custGeom>
              <a:avLst/>
              <a:gdLst/>
              <a:ahLst/>
              <a:cxnLst/>
              <a:rect l="l" t="t" r="r" b="b"/>
              <a:pathLst>
                <a:path w="20670400" h="3533479" extrusionOk="0">
                  <a:moveTo>
                    <a:pt x="0" y="0"/>
                  </a:moveTo>
                  <a:lnTo>
                    <a:pt x="20670400" y="0"/>
                  </a:lnTo>
                  <a:lnTo>
                    <a:pt x="20670400" y="3533479"/>
                  </a:lnTo>
                  <a:lnTo>
                    <a:pt x="0" y="3533479"/>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6"/>
            <p:cNvSpPr txBox="1"/>
            <p:nvPr/>
          </p:nvSpPr>
          <p:spPr>
            <a:xfrm>
              <a:off x="0" y="-114300"/>
              <a:ext cx="20670400" cy="3647779"/>
            </a:xfrm>
            <a:prstGeom prst="rect">
              <a:avLst/>
            </a:prstGeom>
            <a:noFill/>
            <a:ln>
              <a:noFill/>
            </a:ln>
          </p:spPr>
          <p:txBody>
            <a:bodyPr spcFirstLastPara="1" wrap="square" lIns="0" tIns="0" rIns="0" bIns="0" anchor="t" anchorCtr="0">
              <a:noAutofit/>
            </a:bodyPr>
            <a:lstStyle/>
            <a:p>
              <a:pPr marL="653097" marR="0" lvl="1" indent="-326548" algn="just" rtl="0">
                <a:lnSpc>
                  <a:spcPct val="138029"/>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Historial detallado de todos los cambios.</a:t>
              </a:r>
              <a:endParaRPr/>
            </a:p>
            <a:p>
              <a:pPr marL="653097" marR="0" lvl="1" indent="-326548" algn="just" rtl="0">
                <a:lnSpc>
                  <a:spcPct val="138029"/>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Posibilidad de experimentar en ramas sin afectar el proyecto principal.</a:t>
              </a:r>
              <a:endParaRPr/>
            </a:p>
            <a:p>
              <a:pPr marL="653097" marR="0" lvl="1" indent="-326548" algn="just" rtl="0">
                <a:lnSpc>
                  <a:spcPct val="138029"/>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Comparación entre versiones.</a:t>
              </a:r>
              <a:endParaRPr/>
            </a:p>
            <a:p>
              <a:pPr marL="653097" marR="0" lvl="1" indent="-326549" algn="just" rtl="0">
                <a:lnSpc>
                  <a:spcPct val="138029"/>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Trabajo colaborativo sin sobrescribir el trabajo de otros.</a:t>
              </a:r>
              <a:endParaRPr/>
            </a:p>
            <a:p>
              <a:pPr marL="0" marR="0" lvl="0" indent="0" algn="just" rtl="0">
                <a:lnSpc>
                  <a:spcPct val="138029"/>
                </a:lnSpc>
                <a:spcBef>
                  <a:spcPts val="0"/>
                </a:spcBef>
                <a:spcAft>
                  <a:spcPts val="0"/>
                </a:spcAft>
                <a:buNone/>
              </a:pPr>
              <a:endParaRPr sz="3024">
                <a:solidFill>
                  <a:srgbClr val="131416"/>
                </a:solidFill>
                <a:latin typeface="Arial"/>
                <a:ea typeface="Arial"/>
                <a:cs typeface="Arial"/>
                <a:sym typeface="Arial"/>
              </a:endParaRPr>
            </a:p>
          </p:txBody>
        </p:sp>
      </p:grpSp>
      <p:grpSp>
        <p:nvGrpSpPr>
          <p:cNvPr id="247" name="Google Shape;247;p6"/>
          <p:cNvGrpSpPr/>
          <p:nvPr/>
        </p:nvGrpSpPr>
        <p:grpSpPr>
          <a:xfrm>
            <a:off x="1499550" y="1850263"/>
            <a:ext cx="15288901" cy="1256147"/>
            <a:chOff x="0" y="-209550"/>
            <a:chExt cx="20385201" cy="1674862"/>
          </a:xfrm>
        </p:grpSpPr>
        <p:sp>
          <p:nvSpPr>
            <p:cNvPr id="248" name="Google Shape;248;p6"/>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6"/>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ctr" rtl="0">
                <a:lnSpc>
                  <a:spcPct val="135569"/>
                </a:lnSpc>
                <a:spcBef>
                  <a:spcPts val="0"/>
                </a:spcBef>
                <a:spcAft>
                  <a:spcPts val="0"/>
                </a:spcAft>
                <a:buNone/>
              </a:pPr>
              <a:r>
                <a:rPr lang="en-US" sz="6098">
                  <a:solidFill>
                    <a:srgbClr val="131416"/>
                  </a:solidFill>
                  <a:latin typeface="Impact"/>
                  <a:ea typeface="Impact"/>
                  <a:cs typeface="Impact"/>
                  <a:sym typeface="Impact"/>
                </a:rPr>
                <a:t>Ventajas del control de versiones</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grpSp>
        <p:nvGrpSpPr>
          <p:cNvPr id="258" name="Google Shape;258;p7"/>
          <p:cNvGrpSpPr/>
          <p:nvPr/>
        </p:nvGrpSpPr>
        <p:grpSpPr>
          <a:xfrm>
            <a:off x="1374902" y="3753975"/>
            <a:ext cx="7940137" cy="4307459"/>
            <a:chOff x="0" y="-114300"/>
            <a:chExt cx="10586849" cy="5743279"/>
          </a:xfrm>
        </p:grpSpPr>
        <p:sp>
          <p:nvSpPr>
            <p:cNvPr id="259" name="Google Shape;259;p7"/>
            <p:cNvSpPr/>
            <p:nvPr/>
          </p:nvSpPr>
          <p:spPr>
            <a:xfrm>
              <a:off x="0" y="0"/>
              <a:ext cx="10586849" cy="5628979"/>
            </a:xfrm>
            <a:custGeom>
              <a:avLst/>
              <a:gdLst/>
              <a:ahLst/>
              <a:cxnLst/>
              <a:rect l="l" t="t" r="r" b="b"/>
              <a:pathLst>
                <a:path w="10586849" h="5628979" extrusionOk="0">
                  <a:moveTo>
                    <a:pt x="0" y="0"/>
                  </a:moveTo>
                  <a:lnTo>
                    <a:pt x="10586849" y="0"/>
                  </a:lnTo>
                  <a:lnTo>
                    <a:pt x="10586849" y="5628979"/>
                  </a:lnTo>
                  <a:lnTo>
                    <a:pt x="0" y="5628979"/>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7"/>
            <p:cNvSpPr txBox="1"/>
            <p:nvPr/>
          </p:nvSpPr>
          <p:spPr>
            <a:xfrm>
              <a:off x="0" y="-114300"/>
              <a:ext cx="10586849" cy="5743279"/>
            </a:xfrm>
            <a:prstGeom prst="rect">
              <a:avLst/>
            </a:prstGeom>
            <a:noFill/>
            <a:ln>
              <a:noFill/>
            </a:ln>
          </p:spPr>
          <p:txBody>
            <a:bodyPr spcFirstLastPara="1" wrap="square" lIns="0" tIns="0" rIns="0" bIns="0" anchor="t" anchorCtr="0">
              <a:noAutofit/>
            </a:bodyPr>
            <a:lstStyle/>
            <a:p>
              <a:pPr marL="653097" marR="0" lvl="1" indent="-326548" algn="just" rtl="0">
                <a:lnSpc>
                  <a:spcPct val="138029"/>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Git: El más usado actualmente.</a:t>
              </a:r>
              <a:endParaRPr/>
            </a:p>
            <a:p>
              <a:pPr marL="653097" marR="0" lvl="1" indent="-326548" algn="just" rtl="0">
                <a:lnSpc>
                  <a:spcPct val="138029"/>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Mercurial: Similar a Git, pero con una curva de aprendizaje más suave.</a:t>
              </a:r>
              <a:endParaRPr/>
            </a:p>
            <a:p>
              <a:pPr marL="653097" marR="0" lvl="1" indent="-326548" algn="just" rtl="0">
                <a:lnSpc>
                  <a:spcPct val="138029"/>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Subversion (SVN): Antiguo estándar, aún usado en algunos entornos corporativos.</a:t>
              </a:r>
              <a:endParaRPr/>
            </a:p>
            <a:p>
              <a:pPr marL="653097" marR="0" lvl="1" indent="-326549" algn="just" rtl="0">
                <a:lnSpc>
                  <a:spcPct val="138029"/>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GitHub / GitLab / Bitbucket: Servicios para alojar repositorios Git y colaborar en línea.</a:t>
              </a:r>
              <a:endParaRPr/>
            </a:p>
            <a:p>
              <a:pPr marL="0" marR="0" lvl="0" indent="0" algn="just" rtl="0">
                <a:lnSpc>
                  <a:spcPct val="138029"/>
                </a:lnSpc>
                <a:spcBef>
                  <a:spcPts val="0"/>
                </a:spcBef>
                <a:spcAft>
                  <a:spcPts val="0"/>
                </a:spcAft>
                <a:buNone/>
              </a:pPr>
              <a:endParaRPr sz="3024">
                <a:solidFill>
                  <a:srgbClr val="131416"/>
                </a:solidFill>
                <a:latin typeface="Arial"/>
                <a:ea typeface="Arial"/>
                <a:cs typeface="Arial"/>
                <a:sym typeface="Arial"/>
              </a:endParaRPr>
            </a:p>
          </p:txBody>
        </p:sp>
      </p:grpSp>
      <p:grpSp>
        <p:nvGrpSpPr>
          <p:cNvPr id="261" name="Google Shape;261;p7"/>
          <p:cNvGrpSpPr/>
          <p:nvPr/>
        </p:nvGrpSpPr>
        <p:grpSpPr>
          <a:xfrm>
            <a:off x="1374901" y="497213"/>
            <a:ext cx="15288901" cy="1256147"/>
            <a:chOff x="0" y="-209550"/>
            <a:chExt cx="20385201" cy="1674862"/>
          </a:xfrm>
        </p:grpSpPr>
        <p:sp>
          <p:nvSpPr>
            <p:cNvPr id="262" name="Google Shape;262;p7"/>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3" name="Google Shape;263;p7"/>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Herramientas populares de control de versiones</a:t>
              </a:r>
              <a:endParaRPr/>
            </a:p>
          </p:txBody>
        </p:sp>
      </p:grpSp>
      <p:sp>
        <p:nvSpPr>
          <p:cNvPr id="264" name="Google Shape;264;p7"/>
          <p:cNvSpPr/>
          <p:nvPr/>
        </p:nvSpPr>
        <p:spPr>
          <a:xfrm>
            <a:off x="9636780" y="3514275"/>
            <a:ext cx="8092969" cy="4872583"/>
          </a:xfrm>
          <a:custGeom>
            <a:avLst/>
            <a:gdLst/>
            <a:ahLst/>
            <a:cxnLst/>
            <a:rect l="l" t="t" r="r" b="b"/>
            <a:pathLst>
              <a:path w="8092969" h="4872583" extrusionOk="0">
                <a:moveTo>
                  <a:pt x="0" y="0"/>
                </a:moveTo>
                <a:lnTo>
                  <a:pt x="8092969" y="0"/>
                </a:lnTo>
                <a:lnTo>
                  <a:pt x="8092969" y="4872584"/>
                </a:lnTo>
                <a:lnTo>
                  <a:pt x="0" y="4872584"/>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grpSp>
        <p:nvGrpSpPr>
          <p:cNvPr id="273" name="Google Shape;273;p8"/>
          <p:cNvGrpSpPr/>
          <p:nvPr/>
        </p:nvGrpSpPr>
        <p:grpSpPr>
          <a:xfrm>
            <a:off x="1421550" y="2118125"/>
            <a:ext cx="6300900" cy="6389025"/>
            <a:chOff x="0" y="-114300"/>
            <a:chExt cx="8401200" cy="8518700"/>
          </a:xfrm>
        </p:grpSpPr>
        <p:sp>
          <p:nvSpPr>
            <p:cNvPr id="274" name="Google Shape;274;p8"/>
            <p:cNvSpPr/>
            <p:nvPr/>
          </p:nvSpPr>
          <p:spPr>
            <a:xfrm>
              <a:off x="0" y="0"/>
              <a:ext cx="8401200" cy="8404400"/>
            </a:xfrm>
            <a:custGeom>
              <a:avLst/>
              <a:gdLst/>
              <a:ahLst/>
              <a:cxnLst/>
              <a:rect l="l" t="t" r="r" b="b"/>
              <a:pathLst>
                <a:path w="8401200" h="8404400" extrusionOk="0">
                  <a:moveTo>
                    <a:pt x="0" y="0"/>
                  </a:moveTo>
                  <a:lnTo>
                    <a:pt x="8401200" y="0"/>
                  </a:lnTo>
                  <a:lnTo>
                    <a:pt x="8401200" y="8404400"/>
                  </a:lnTo>
                  <a:lnTo>
                    <a:pt x="0" y="84044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5" name="Google Shape;275;p8"/>
            <p:cNvSpPr txBox="1"/>
            <p:nvPr/>
          </p:nvSpPr>
          <p:spPr>
            <a:xfrm>
              <a:off x="0" y="-114300"/>
              <a:ext cx="8401200" cy="8518700"/>
            </a:xfrm>
            <a:prstGeom prst="rect">
              <a:avLst/>
            </a:prstGeom>
            <a:noFill/>
            <a:ln>
              <a:noFill/>
            </a:ln>
          </p:spPr>
          <p:txBody>
            <a:bodyPr spcFirstLastPara="1" wrap="square" lIns="0" tIns="0" rIns="0" bIns="0" anchor="t" anchorCtr="0">
              <a:noAutofit/>
            </a:bodyPr>
            <a:lstStyle/>
            <a:p>
              <a:pPr marL="0" marR="0" lvl="0" indent="0" algn="just" rtl="0">
                <a:lnSpc>
                  <a:spcPct val="138000"/>
                </a:lnSpc>
                <a:spcBef>
                  <a:spcPts val="0"/>
                </a:spcBef>
                <a:spcAft>
                  <a:spcPts val="0"/>
                </a:spcAft>
                <a:buNone/>
              </a:pPr>
              <a:r>
                <a:rPr lang="en-US" sz="3000">
                  <a:solidFill>
                    <a:srgbClr val="131416"/>
                  </a:solidFill>
                  <a:latin typeface="Arial"/>
                  <a:ea typeface="Arial"/>
                  <a:cs typeface="Arial"/>
                  <a:sym typeface="Arial"/>
                </a:rPr>
                <a:t>Git es un sistema de control de versiones distribuido, creado por Linus Torvalds en 2005. Es rápido, eficiente y diseñado para coordinar el trabajo entre desarrolladores.</a:t>
              </a:r>
              <a:endParaRPr/>
            </a:p>
            <a:p>
              <a:pPr marL="0" marR="0" lvl="0" indent="0" algn="just" rtl="0">
                <a:lnSpc>
                  <a:spcPct val="138000"/>
                </a:lnSpc>
                <a:spcBef>
                  <a:spcPts val="0"/>
                </a:spcBef>
                <a:spcAft>
                  <a:spcPts val="0"/>
                </a:spcAft>
                <a:buNone/>
              </a:pPr>
              <a:r>
                <a:rPr lang="en-US" sz="3000">
                  <a:solidFill>
                    <a:srgbClr val="131416"/>
                  </a:solidFill>
                  <a:latin typeface="Arial"/>
                  <a:ea typeface="Arial"/>
                  <a:cs typeface="Arial"/>
                  <a:sym typeface="Arial"/>
                </a:rPr>
                <a:t>Git no se limita a programadores: escritores, diseñadores y científicos también lo usan para gestionar cambios en sus proyectos.</a:t>
              </a:r>
              <a:endParaRPr/>
            </a:p>
            <a:p>
              <a:pPr marL="0" marR="0" lvl="0" indent="0" algn="just" rtl="0">
                <a:lnSpc>
                  <a:spcPct val="138000"/>
                </a:lnSpc>
                <a:spcBef>
                  <a:spcPts val="0"/>
                </a:spcBef>
                <a:spcAft>
                  <a:spcPts val="0"/>
                </a:spcAft>
                <a:buNone/>
              </a:pPr>
              <a:endParaRPr sz="3000">
                <a:solidFill>
                  <a:srgbClr val="131416"/>
                </a:solidFill>
                <a:latin typeface="Arial"/>
                <a:ea typeface="Arial"/>
                <a:cs typeface="Arial"/>
                <a:sym typeface="Arial"/>
              </a:endParaRPr>
            </a:p>
          </p:txBody>
        </p:sp>
      </p:grpSp>
      <p:grpSp>
        <p:nvGrpSpPr>
          <p:cNvPr id="276" name="Google Shape;276;p8"/>
          <p:cNvGrpSpPr/>
          <p:nvPr/>
        </p:nvGrpSpPr>
        <p:grpSpPr>
          <a:xfrm>
            <a:off x="1680428" y="475390"/>
            <a:ext cx="15288901" cy="1256147"/>
            <a:chOff x="0" y="-209550"/>
            <a:chExt cx="20385201" cy="1674862"/>
          </a:xfrm>
        </p:grpSpPr>
        <p:sp>
          <p:nvSpPr>
            <p:cNvPr id="277" name="Google Shape;277;p8"/>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8"/>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Introducción a Git</a:t>
              </a:r>
              <a:endParaRPr/>
            </a:p>
          </p:txBody>
        </p:sp>
      </p:grpSp>
      <p:sp>
        <p:nvSpPr>
          <p:cNvPr id="279" name="Google Shape;279;p8"/>
          <p:cNvSpPr/>
          <p:nvPr/>
        </p:nvSpPr>
        <p:spPr>
          <a:xfrm>
            <a:off x="8425456" y="3428833"/>
            <a:ext cx="9577211" cy="4520504"/>
          </a:xfrm>
          <a:custGeom>
            <a:avLst/>
            <a:gdLst/>
            <a:ahLst/>
            <a:cxnLst/>
            <a:rect l="l" t="t" r="r" b="b"/>
            <a:pathLst>
              <a:path w="9577211" h="4520504" extrusionOk="0">
                <a:moveTo>
                  <a:pt x="0" y="0"/>
                </a:moveTo>
                <a:lnTo>
                  <a:pt x="9577212" y="0"/>
                </a:lnTo>
                <a:lnTo>
                  <a:pt x="9577212" y="4520504"/>
                </a:lnTo>
                <a:lnTo>
                  <a:pt x="0" y="4520504"/>
                </a:lnTo>
                <a:lnTo>
                  <a:pt x="0" y="0"/>
                </a:lnTo>
                <a:close/>
              </a:path>
            </a:pathLst>
          </a:custGeom>
          <a:blipFill rotWithShape="1">
            <a:blip r:embed="rId3">
              <a:alphaModFix/>
            </a:blip>
            <a:stretch>
              <a:fillRect l="-1799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grpSp>
        <p:nvGrpSpPr>
          <p:cNvPr id="288" name="Google Shape;288;p9"/>
          <p:cNvGrpSpPr/>
          <p:nvPr/>
        </p:nvGrpSpPr>
        <p:grpSpPr>
          <a:xfrm>
            <a:off x="1421551" y="2110981"/>
            <a:ext cx="15975601" cy="3440081"/>
            <a:chOff x="0" y="-123825"/>
            <a:chExt cx="21300801" cy="4586774"/>
          </a:xfrm>
        </p:grpSpPr>
        <p:sp>
          <p:nvSpPr>
            <p:cNvPr id="289" name="Google Shape;289;p9"/>
            <p:cNvSpPr/>
            <p:nvPr/>
          </p:nvSpPr>
          <p:spPr>
            <a:xfrm>
              <a:off x="0" y="0"/>
              <a:ext cx="21300801" cy="4462949"/>
            </a:xfrm>
            <a:custGeom>
              <a:avLst/>
              <a:gdLst/>
              <a:ahLst/>
              <a:cxnLst/>
              <a:rect l="l" t="t" r="r" b="b"/>
              <a:pathLst>
                <a:path w="21300801" h="4462949" extrusionOk="0">
                  <a:moveTo>
                    <a:pt x="0" y="0"/>
                  </a:moveTo>
                  <a:lnTo>
                    <a:pt x="21300801" y="0"/>
                  </a:lnTo>
                  <a:lnTo>
                    <a:pt x="21300801" y="4462949"/>
                  </a:lnTo>
                  <a:lnTo>
                    <a:pt x="0" y="4462949"/>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0" name="Google Shape;290;p9"/>
            <p:cNvSpPr txBox="1"/>
            <p:nvPr/>
          </p:nvSpPr>
          <p:spPr>
            <a:xfrm>
              <a:off x="0" y="-123825"/>
              <a:ext cx="21300800" cy="4586774"/>
            </a:xfrm>
            <a:prstGeom prst="rect">
              <a:avLst/>
            </a:prstGeom>
            <a:noFill/>
            <a:ln>
              <a:noFill/>
            </a:ln>
          </p:spPr>
          <p:txBody>
            <a:bodyPr spcFirstLastPara="1" wrap="square" lIns="0" tIns="0" rIns="0" bIns="0" anchor="t" anchorCtr="0">
              <a:noAutofit/>
            </a:bodyPr>
            <a:lstStyle/>
            <a:p>
              <a:pPr marL="690881" marR="0" lvl="1" indent="-345439" algn="just" rtl="0">
                <a:lnSpc>
                  <a:spcPct val="138000"/>
                </a:lnSpc>
                <a:spcBef>
                  <a:spcPts val="0"/>
                </a:spcBef>
                <a:spcAft>
                  <a:spcPts val="0"/>
                </a:spcAft>
                <a:buClr>
                  <a:srgbClr val="131416"/>
                </a:buClr>
                <a:buSzPts val="3200"/>
                <a:buFont typeface="Arial"/>
                <a:buChar char="•"/>
              </a:pPr>
              <a:r>
                <a:rPr lang="en-US" sz="3200" b="0" i="0" u="none" strike="noStrike" cap="none">
                  <a:solidFill>
                    <a:srgbClr val="131416"/>
                  </a:solidFill>
                  <a:latin typeface="Arial"/>
                  <a:ea typeface="Arial"/>
                  <a:cs typeface="Arial"/>
                  <a:sym typeface="Arial"/>
                </a:rPr>
                <a:t>Windows: Descargar desde </a:t>
              </a:r>
              <a:r>
                <a:rPr lang="en-US" sz="3200" b="0" i="0" u="sng" strike="noStrike" cap="none">
                  <a:solidFill>
                    <a:srgbClr val="131416"/>
                  </a:solidFill>
                  <a:latin typeface="Arial"/>
                  <a:ea typeface="Arial"/>
                  <a:cs typeface="Arial"/>
                  <a:sym typeface="Arial"/>
                  <a:hlinkClick r:id="rId3">
                    <a:extLst>
                      <a:ext uri="{A12FA001-AC4F-418D-AE19-62706E023703}">
                        <ahyp:hlinkClr xmlns:ahyp="http://schemas.microsoft.com/office/drawing/2018/hyperlinkcolor" val="tx"/>
                      </a:ext>
                    </a:extLst>
                  </a:hlinkClick>
                </a:rPr>
                <a:t>git-scm.com</a:t>
              </a:r>
              <a:r>
                <a:rPr lang="en-US" sz="3200" b="0" i="0" u="none" strike="noStrike" cap="none">
                  <a:solidFill>
                    <a:srgbClr val="131416"/>
                  </a:solidFill>
                  <a:latin typeface="Arial"/>
                  <a:ea typeface="Arial"/>
                  <a:cs typeface="Arial"/>
                  <a:sym typeface="Arial"/>
                </a:rPr>
                <a:t>.</a:t>
              </a:r>
              <a:endParaRPr/>
            </a:p>
            <a:p>
              <a:pPr marL="690881" marR="0" lvl="1" indent="-345439" algn="just" rtl="0">
                <a:lnSpc>
                  <a:spcPct val="138000"/>
                </a:lnSpc>
                <a:spcBef>
                  <a:spcPts val="0"/>
                </a:spcBef>
                <a:spcAft>
                  <a:spcPts val="0"/>
                </a:spcAft>
                <a:buClr>
                  <a:srgbClr val="131416"/>
                </a:buClr>
                <a:buSzPts val="3200"/>
                <a:buFont typeface="Arial"/>
                <a:buChar char="•"/>
              </a:pPr>
              <a:r>
                <a:rPr lang="en-US" sz="3200" b="0" i="0" u="none" strike="noStrike" cap="none">
                  <a:solidFill>
                    <a:srgbClr val="131416"/>
                  </a:solidFill>
                  <a:latin typeface="Arial"/>
                  <a:ea typeface="Arial"/>
                  <a:cs typeface="Arial"/>
                  <a:sym typeface="Arial"/>
                </a:rPr>
                <a:t>Linux: sudo apt install git</a:t>
              </a:r>
              <a:endParaRPr/>
            </a:p>
            <a:p>
              <a:pPr marL="690881" marR="0" lvl="1" indent="-345439" algn="just" rtl="0">
                <a:lnSpc>
                  <a:spcPct val="138000"/>
                </a:lnSpc>
                <a:spcBef>
                  <a:spcPts val="0"/>
                </a:spcBef>
                <a:spcAft>
                  <a:spcPts val="0"/>
                </a:spcAft>
                <a:buClr>
                  <a:srgbClr val="131416"/>
                </a:buClr>
                <a:buSzPts val="3200"/>
                <a:buFont typeface="Arial"/>
                <a:buChar char="•"/>
              </a:pPr>
              <a:r>
                <a:rPr lang="en-US" sz="3200" b="0" i="0" u="none" strike="noStrike" cap="none">
                  <a:solidFill>
                    <a:srgbClr val="131416"/>
                  </a:solidFill>
                  <a:latin typeface="Arial"/>
                  <a:ea typeface="Arial"/>
                  <a:cs typeface="Arial"/>
                  <a:sym typeface="Arial"/>
                </a:rPr>
                <a:t>Mac: brew install git</a:t>
              </a:r>
              <a:endParaRPr/>
            </a:p>
            <a:p>
              <a:pPr marL="690881" marR="0" lvl="1" indent="-345439" algn="just" rtl="0">
                <a:lnSpc>
                  <a:spcPct val="138000"/>
                </a:lnSpc>
                <a:spcBef>
                  <a:spcPts val="0"/>
                </a:spcBef>
                <a:spcAft>
                  <a:spcPts val="0"/>
                </a:spcAft>
                <a:buClr>
                  <a:srgbClr val="131416"/>
                </a:buClr>
                <a:buSzPts val="3200"/>
                <a:buFont typeface="Arial"/>
                <a:buChar char="•"/>
              </a:pPr>
              <a:r>
                <a:rPr lang="en-US" sz="3200" b="0" i="0" u="none" strike="noStrike" cap="none">
                  <a:solidFill>
                    <a:srgbClr val="131416"/>
                  </a:solidFill>
                  <a:latin typeface="Arial"/>
                  <a:ea typeface="Arial"/>
                  <a:cs typeface="Arial"/>
                  <a:sym typeface="Arial"/>
                </a:rPr>
                <a:t>Verificar instalación: git --version</a:t>
              </a:r>
              <a:endParaRPr/>
            </a:p>
            <a:p>
              <a:pPr marL="0" marR="0" lvl="0" indent="0" algn="just" rtl="0">
                <a:lnSpc>
                  <a:spcPct val="138000"/>
                </a:lnSpc>
                <a:spcBef>
                  <a:spcPts val="0"/>
                </a:spcBef>
                <a:spcAft>
                  <a:spcPts val="0"/>
                </a:spcAft>
                <a:buNone/>
              </a:pPr>
              <a:r>
                <a:rPr lang="en-US" sz="3200">
                  <a:solidFill>
                    <a:srgbClr val="131416"/>
                  </a:solidFill>
                  <a:latin typeface="Arial"/>
                  <a:ea typeface="Arial"/>
                  <a:cs typeface="Arial"/>
                  <a:sym typeface="Arial"/>
                </a:rPr>
                <a:t> </a:t>
              </a:r>
              <a:endParaRPr/>
            </a:p>
            <a:p>
              <a:pPr marL="0" marR="0" lvl="0" indent="0" algn="just" rtl="0">
                <a:lnSpc>
                  <a:spcPct val="138000"/>
                </a:lnSpc>
                <a:spcBef>
                  <a:spcPts val="0"/>
                </a:spcBef>
                <a:spcAft>
                  <a:spcPts val="0"/>
                </a:spcAft>
                <a:buNone/>
              </a:pPr>
              <a:endParaRPr sz="3200">
                <a:solidFill>
                  <a:srgbClr val="131416"/>
                </a:solidFill>
                <a:latin typeface="Arial"/>
                <a:ea typeface="Arial"/>
                <a:cs typeface="Arial"/>
                <a:sym typeface="Arial"/>
              </a:endParaRPr>
            </a:p>
          </p:txBody>
        </p:sp>
      </p:grpSp>
      <p:grpSp>
        <p:nvGrpSpPr>
          <p:cNvPr id="291" name="Google Shape;291;p9"/>
          <p:cNvGrpSpPr/>
          <p:nvPr/>
        </p:nvGrpSpPr>
        <p:grpSpPr>
          <a:xfrm>
            <a:off x="1374901" y="497213"/>
            <a:ext cx="15288901" cy="1256147"/>
            <a:chOff x="0" y="-209550"/>
            <a:chExt cx="20385201" cy="1674862"/>
          </a:xfrm>
        </p:grpSpPr>
        <p:sp>
          <p:nvSpPr>
            <p:cNvPr id="292" name="Google Shape;292;p9"/>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9"/>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Instalación de Git</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grpSp>
        <p:nvGrpSpPr>
          <p:cNvPr id="302" name="Google Shape;302;p10"/>
          <p:cNvGrpSpPr/>
          <p:nvPr/>
        </p:nvGrpSpPr>
        <p:grpSpPr>
          <a:xfrm>
            <a:off x="1374826" y="764613"/>
            <a:ext cx="15288901" cy="1256147"/>
            <a:chOff x="0" y="-209550"/>
            <a:chExt cx="20385201" cy="1674862"/>
          </a:xfrm>
        </p:grpSpPr>
        <p:sp>
          <p:nvSpPr>
            <p:cNvPr id="303" name="Google Shape;303;p10"/>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4" name="Google Shape;304;p10"/>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¿Qué es un repositorio?</a:t>
              </a:r>
              <a:endParaRPr/>
            </a:p>
          </p:txBody>
        </p:sp>
      </p:grpSp>
      <p:grpSp>
        <p:nvGrpSpPr>
          <p:cNvPr id="305" name="Google Shape;305;p10"/>
          <p:cNvGrpSpPr/>
          <p:nvPr/>
        </p:nvGrpSpPr>
        <p:grpSpPr>
          <a:xfrm>
            <a:off x="1543500" y="2378900"/>
            <a:ext cx="15201000" cy="3485031"/>
            <a:chOff x="0" y="-114300"/>
            <a:chExt cx="20268000" cy="4646708"/>
          </a:xfrm>
        </p:grpSpPr>
        <p:sp>
          <p:nvSpPr>
            <p:cNvPr id="306" name="Google Shape;306;p10"/>
            <p:cNvSpPr/>
            <p:nvPr/>
          </p:nvSpPr>
          <p:spPr>
            <a:xfrm>
              <a:off x="0" y="0"/>
              <a:ext cx="20268000" cy="4532408"/>
            </a:xfrm>
            <a:custGeom>
              <a:avLst/>
              <a:gdLst/>
              <a:ahLst/>
              <a:cxnLst/>
              <a:rect l="l" t="t" r="r" b="b"/>
              <a:pathLst>
                <a:path w="20268000" h="4532408" extrusionOk="0">
                  <a:moveTo>
                    <a:pt x="0" y="0"/>
                  </a:moveTo>
                  <a:lnTo>
                    <a:pt x="20268000" y="0"/>
                  </a:lnTo>
                  <a:lnTo>
                    <a:pt x="20268000" y="4532408"/>
                  </a:lnTo>
                  <a:lnTo>
                    <a:pt x="0" y="4532408"/>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7" name="Google Shape;307;p10"/>
            <p:cNvSpPr txBox="1"/>
            <p:nvPr/>
          </p:nvSpPr>
          <p:spPr>
            <a:xfrm>
              <a:off x="0" y="-114300"/>
              <a:ext cx="20268000" cy="4646708"/>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None/>
              </a:pPr>
              <a:r>
                <a:rPr lang="en-US" sz="3200">
                  <a:solidFill>
                    <a:srgbClr val="000000"/>
                  </a:solidFill>
                  <a:latin typeface="Calibri"/>
                  <a:ea typeface="Calibri"/>
                  <a:cs typeface="Calibri"/>
                  <a:sym typeface="Calibri"/>
                </a:rPr>
                <a:t>Un repositorio es un espacio donde se almacena toda la información del proyecto y su historial de cambios. Existen dos tipos:</a:t>
              </a:r>
              <a:endParaRPr/>
            </a:p>
            <a:p>
              <a:pPr marL="690881" marR="0" lvl="1" indent="-345439" algn="l" rtl="0">
                <a:lnSpc>
                  <a:spcPct val="138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Repositorio local: Se encuentra en el equipo del desarrollador.</a:t>
              </a:r>
              <a:endParaRPr/>
            </a:p>
            <a:p>
              <a:pPr marL="690881" marR="0" lvl="1" indent="-345439" algn="l" rtl="0">
                <a:lnSpc>
                  <a:spcPct val="138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Repositorio remoto: Está alojado en servicios en línea como GitHub, GitLab o Bitbucket.</a:t>
              </a:r>
              <a:endParaRPr/>
            </a:p>
            <a:p>
              <a:pPr marL="0" marR="0" lvl="0" indent="0" algn="l" rtl="0">
                <a:lnSpc>
                  <a:spcPct val="138000"/>
                </a:lnSpc>
                <a:spcBef>
                  <a:spcPts val="0"/>
                </a:spcBef>
                <a:spcAft>
                  <a:spcPts val="0"/>
                </a:spcAft>
                <a:buNone/>
              </a:pPr>
              <a:r>
                <a:rPr lang="en-US" sz="3200">
                  <a:solidFill>
                    <a:srgbClr val="000000"/>
                  </a:solidFill>
                  <a:latin typeface="Calibri"/>
                  <a:ea typeface="Calibri"/>
                  <a:cs typeface="Calibri"/>
                  <a:sym typeface="Calibri"/>
                </a:rPr>
                <a:t>La conexión entre ambos permite trabajar de forma flexible y colaborativa.</a:t>
              </a:r>
              <a:endParaRPr/>
            </a:p>
            <a:p>
              <a:pPr marL="0" marR="0" lvl="0" indent="0" algn="l" rtl="0">
                <a:lnSpc>
                  <a:spcPct val="138000"/>
                </a:lnSpc>
                <a:spcBef>
                  <a:spcPts val="0"/>
                </a:spcBef>
                <a:spcAft>
                  <a:spcPts val="0"/>
                </a:spcAft>
                <a:buNone/>
              </a:pPr>
              <a:endParaRPr sz="3200">
                <a:solidFill>
                  <a:srgbClr val="000000"/>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grpSp>
        <p:nvGrpSpPr>
          <p:cNvPr id="316" name="Google Shape;316;p11"/>
          <p:cNvGrpSpPr/>
          <p:nvPr/>
        </p:nvGrpSpPr>
        <p:grpSpPr>
          <a:xfrm>
            <a:off x="1374826" y="764613"/>
            <a:ext cx="15288901" cy="1256147"/>
            <a:chOff x="0" y="-209550"/>
            <a:chExt cx="20385201" cy="1674862"/>
          </a:xfrm>
        </p:grpSpPr>
        <p:sp>
          <p:nvSpPr>
            <p:cNvPr id="317" name="Google Shape;317;p11"/>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11"/>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Ciclo de trabajo básico en Git</a:t>
              </a:r>
              <a:endParaRPr/>
            </a:p>
          </p:txBody>
        </p:sp>
      </p:grpSp>
      <p:grpSp>
        <p:nvGrpSpPr>
          <p:cNvPr id="319" name="Google Shape;319;p11"/>
          <p:cNvGrpSpPr/>
          <p:nvPr/>
        </p:nvGrpSpPr>
        <p:grpSpPr>
          <a:xfrm>
            <a:off x="1543500" y="3081897"/>
            <a:ext cx="15201000" cy="4037481"/>
            <a:chOff x="0" y="-114300"/>
            <a:chExt cx="20268000" cy="5383308"/>
          </a:xfrm>
        </p:grpSpPr>
        <p:sp>
          <p:nvSpPr>
            <p:cNvPr id="320" name="Google Shape;320;p11"/>
            <p:cNvSpPr/>
            <p:nvPr/>
          </p:nvSpPr>
          <p:spPr>
            <a:xfrm>
              <a:off x="0" y="0"/>
              <a:ext cx="20268000" cy="5269007"/>
            </a:xfrm>
            <a:custGeom>
              <a:avLst/>
              <a:gdLst/>
              <a:ahLst/>
              <a:cxnLst/>
              <a:rect l="l" t="t" r="r" b="b"/>
              <a:pathLst>
                <a:path w="20268000" h="5269007" extrusionOk="0">
                  <a:moveTo>
                    <a:pt x="0" y="0"/>
                  </a:moveTo>
                  <a:lnTo>
                    <a:pt x="20268000" y="0"/>
                  </a:lnTo>
                  <a:lnTo>
                    <a:pt x="20268000" y="5269007"/>
                  </a:lnTo>
                  <a:lnTo>
                    <a:pt x="0" y="5269007"/>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1" name="Google Shape;321;p11"/>
            <p:cNvSpPr txBox="1"/>
            <p:nvPr/>
          </p:nvSpPr>
          <p:spPr>
            <a:xfrm>
              <a:off x="0" y="-114300"/>
              <a:ext cx="20268000" cy="5383308"/>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None/>
              </a:pPr>
              <a:r>
                <a:rPr lang="en-US" sz="3200">
                  <a:solidFill>
                    <a:srgbClr val="000000"/>
                  </a:solidFill>
                  <a:latin typeface="Calibri"/>
                  <a:ea typeface="Calibri"/>
                  <a:cs typeface="Calibri"/>
                  <a:sym typeface="Calibri"/>
                </a:rPr>
                <a:t>Git organiza el trabajo en varias etapas:</a:t>
              </a:r>
              <a:endParaRPr/>
            </a:p>
            <a:p>
              <a:pPr marL="690881" marR="0" lvl="1" indent="-345439" algn="l" rtl="0">
                <a:lnSpc>
                  <a:spcPct val="138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Se crean o modifican archivos dentro del proyecto.</a:t>
              </a:r>
              <a:endParaRPr/>
            </a:p>
            <a:p>
              <a:pPr marL="690881" marR="0" lvl="1" indent="-345439" algn="l" rtl="0">
                <a:lnSpc>
                  <a:spcPct val="138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Se seleccionan los archivos que se desean guardar mediante una acción llamada “preparación”.</a:t>
              </a:r>
              <a:endParaRPr/>
            </a:p>
            <a:p>
              <a:pPr marL="690881" marR="0" lvl="1" indent="-345439" algn="l" rtl="0">
                <a:lnSpc>
                  <a:spcPct val="138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Finalmente, se registra el cambio en el historial con un mensaje descriptivo.</a:t>
              </a:r>
              <a:endParaRPr/>
            </a:p>
            <a:p>
              <a:pPr marL="0" marR="0" lvl="0" indent="0" algn="l" rtl="0">
                <a:lnSpc>
                  <a:spcPct val="138000"/>
                </a:lnSpc>
                <a:spcBef>
                  <a:spcPts val="0"/>
                </a:spcBef>
                <a:spcAft>
                  <a:spcPts val="0"/>
                </a:spcAft>
                <a:buNone/>
              </a:pPr>
              <a:r>
                <a:rPr lang="en-US" sz="3200">
                  <a:solidFill>
                    <a:srgbClr val="000000"/>
                  </a:solidFill>
                  <a:latin typeface="Calibri"/>
                  <a:ea typeface="Calibri"/>
                  <a:cs typeface="Calibri"/>
                  <a:sym typeface="Calibri"/>
                </a:rPr>
                <a:t>Este ciclo ayuda a mantener un control detallado sobre cada avance realizado.</a:t>
              </a:r>
              <a:endParaRPr/>
            </a:p>
            <a:p>
              <a:pPr marL="0" marR="0" lvl="0" indent="0" algn="l" rtl="0">
                <a:lnSpc>
                  <a:spcPct val="138000"/>
                </a:lnSpc>
                <a:spcBef>
                  <a:spcPts val="0"/>
                </a:spcBef>
                <a:spcAft>
                  <a:spcPts val="0"/>
                </a:spcAft>
                <a:buNone/>
              </a:pPr>
              <a:endParaRPr sz="3200">
                <a:solidFill>
                  <a:srgbClr val="000000"/>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grpSp>
        <p:nvGrpSpPr>
          <p:cNvPr id="330" name="Google Shape;330;p12"/>
          <p:cNvGrpSpPr/>
          <p:nvPr/>
        </p:nvGrpSpPr>
        <p:grpSpPr>
          <a:xfrm>
            <a:off x="1374826" y="764613"/>
            <a:ext cx="15288901" cy="1256147"/>
            <a:chOff x="0" y="-209550"/>
            <a:chExt cx="20385201" cy="1674862"/>
          </a:xfrm>
        </p:grpSpPr>
        <p:sp>
          <p:nvSpPr>
            <p:cNvPr id="331" name="Google Shape;331;p12"/>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12"/>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ctr" rtl="0">
                <a:lnSpc>
                  <a:spcPct val="135569"/>
                </a:lnSpc>
                <a:spcBef>
                  <a:spcPts val="0"/>
                </a:spcBef>
                <a:spcAft>
                  <a:spcPts val="0"/>
                </a:spcAft>
                <a:buNone/>
              </a:pPr>
              <a:r>
                <a:rPr lang="en-US" sz="6098">
                  <a:solidFill>
                    <a:srgbClr val="131416"/>
                  </a:solidFill>
                  <a:latin typeface="Impact"/>
                  <a:ea typeface="Impact"/>
                  <a:cs typeface="Impact"/>
                  <a:sym typeface="Impact"/>
                </a:rPr>
                <a:t>Estados de los archivos</a:t>
              </a:r>
              <a:endParaRPr/>
            </a:p>
          </p:txBody>
        </p:sp>
      </p:grpSp>
      <p:grpSp>
        <p:nvGrpSpPr>
          <p:cNvPr id="333" name="Google Shape;333;p12"/>
          <p:cNvGrpSpPr/>
          <p:nvPr/>
        </p:nvGrpSpPr>
        <p:grpSpPr>
          <a:xfrm>
            <a:off x="1543500" y="2378900"/>
            <a:ext cx="15201000" cy="4037481"/>
            <a:chOff x="0" y="-114300"/>
            <a:chExt cx="20268000" cy="5383308"/>
          </a:xfrm>
        </p:grpSpPr>
        <p:sp>
          <p:nvSpPr>
            <p:cNvPr id="334" name="Google Shape;334;p12"/>
            <p:cNvSpPr/>
            <p:nvPr/>
          </p:nvSpPr>
          <p:spPr>
            <a:xfrm>
              <a:off x="0" y="0"/>
              <a:ext cx="20268000" cy="5269008"/>
            </a:xfrm>
            <a:custGeom>
              <a:avLst/>
              <a:gdLst/>
              <a:ahLst/>
              <a:cxnLst/>
              <a:rect l="l" t="t" r="r" b="b"/>
              <a:pathLst>
                <a:path w="20268000" h="5269008" extrusionOk="0">
                  <a:moveTo>
                    <a:pt x="0" y="0"/>
                  </a:moveTo>
                  <a:lnTo>
                    <a:pt x="20268000" y="0"/>
                  </a:lnTo>
                  <a:lnTo>
                    <a:pt x="20268000" y="5269008"/>
                  </a:lnTo>
                  <a:lnTo>
                    <a:pt x="0" y="5269008"/>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12"/>
            <p:cNvSpPr txBox="1"/>
            <p:nvPr/>
          </p:nvSpPr>
          <p:spPr>
            <a:xfrm>
              <a:off x="0" y="-114300"/>
              <a:ext cx="20268000" cy="5383308"/>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None/>
              </a:pPr>
              <a:r>
                <a:rPr lang="en-US" sz="3200">
                  <a:solidFill>
                    <a:srgbClr val="000000"/>
                  </a:solidFill>
                  <a:latin typeface="Calibri"/>
                  <a:ea typeface="Calibri"/>
                  <a:cs typeface="Calibri"/>
                  <a:sym typeface="Calibri"/>
                </a:rPr>
                <a:t>En Git, los archivos pueden tener diferentes estados:</a:t>
              </a:r>
              <a:endParaRPr/>
            </a:p>
            <a:p>
              <a:pPr marL="690881" marR="0" lvl="1" indent="-345439" algn="l" rtl="0">
                <a:lnSpc>
                  <a:spcPct val="138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No rastreados: Archivos nuevos que aún no están siendo seguidos por el sistema.</a:t>
              </a:r>
              <a:endParaRPr/>
            </a:p>
            <a:p>
              <a:pPr marL="690881" marR="0" lvl="1" indent="-345439" algn="l" rtl="0">
                <a:lnSpc>
                  <a:spcPct val="138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Preparados (staged): Listos para ser registrados en el historial.</a:t>
              </a:r>
              <a:endParaRPr/>
            </a:p>
            <a:p>
              <a:pPr marL="690881" marR="0" lvl="1" indent="-345439" algn="l" rtl="0">
                <a:lnSpc>
                  <a:spcPct val="138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Confirmados (committed): Guardados de forma permanente en el historial del proyecto.</a:t>
              </a:r>
              <a:endParaRPr/>
            </a:p>
            <a:p>
              <a:pPr marL="0" marR="0" lvl="0" indent="0" algn="l" rtl="0">
                <a:lnSpc>
                  <a:spcPct val="138000"/>
                </a:lnSpc>
                <a:spcBef>
                  <a:spcPts val="0"/>
                </a:spcBef>
                <a:spcAft>
                  <a:spcPts val="0"/>
                </a:spcAft>
                <a:buNone/>
              </a:pPr>
              <a:r>
                <a:rPr lang="en-US" sz="3200">
                  <a:solidFill>
                    <a:srgbClr val="000000"/>
                  </a:solidFill>
                  <a:latin typeface="Calibri"/>
                  <a:ea typeface="Calibri"/>
                  <a:cs typeface="Calibri"/>
                  <a:sym typeface="Calibri"/>
                </a:rPr>
                <a:t>Comprender estos estados es esencial para manipular correctamente los cambios.</a:t>
              </a:r>
              <a:endParaRPr/>
            </a:p>
            <a:p>
              <a:pPr marL="0" marR="0" lvl="0" indent="0" algn="l" rtl="0">
                <a:lnSpc>
                  <a:spcPct val="138000"/>
                </a:lnSpc>
                <a:spcBef>
                  <a:spcPts val="0"/>
                </a:spcBef>
                <a:spcAft>
                  <a:spcPts val="0"/>
                </a:spcAft>
                <a:buNone/>
              </a:pPr>
              <a:endParaRPr sz="3200">
                <a:solidFill>
                  <a:srgbClr val="000000"/>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grpSp>
        <p:nvGrpSpPr>
          <p:cNvPr id="344" name="Google Shape;344;p13"/>
          <p:cNvGrpSpPr/>
          <p:nvPr/>
        </p:nvGrpSpPr>
        <p:grpSpPr>
          <a:xfrm>
            <a:off x="1374826" y="764613"/>
            <a:ext cx="15288901" cy="1256147"/>
            <a:chOff x="0" y="-209550"/>
            <a:chExt cx="20385201" cy="1674862"/>
          </a:xfrm>
        </p:grpSpPr>
        <p:sp>
          <p:nvSpPr>
            <p:cNvPr id="345" name="Google Shape;345;p13"/>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6" name="Google Shape;346;p13"/>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El archivo .gitignore</a:t>
              </a:r>
              <a:endParaRPr/>
            </a:p>
          </p:txBody>
        </p:sp>
      </p:grpSp>
      <p:grpSp>
        <p:nvGrpSpPr>
          <p:cNvPr id="347" name="Google Shape;347;p13"/>
          <p:cNvGrpSpPr/>
          <p:nvPr/>
        </p:nvGrpSpPr>
        <p:grpSpPr>
          <a:xfrm>
            <a:off x="1543500" y="2378900"/>
            <a:ext cx="15201000" cy="2932581"/>
            <a:chOff x="0" y="-114300"/>
            <a:chExt cx="20268000" cy="3910108"/>
          </a:xfrm>
        </p:grpSpPr>
        <p:sp>
          <p:nvSpPr>
            <p:cNvPr id="348" name="Google Shape;348;p13"/>
            <p:cNvSpPr/>
            <p:nvPr/>
          </p:nvSpPr>
          <p:spPr>
            <a:xfrm>
              <a:off x="0" y="0"/>
              <a:ext cx="20268000" cy="3795808"/>
            </a:xfrm>
            <a:custGeom>
              <a:avLst/>
              <a:gdLst/>
              <a:ahLst/>
              <a:cxnLst/>
              <a:rect l="l" t="t" r="r" b="b"/>
              <a:pathLst>
                <a:path w="20268000" h="3795808" extrusionOk="0">
                  <a:moveTo>
                    <a:pt x="0" y="0"/>
                  </a:moveTo>
                  <a:lnTo>
                    <a:pt x="20268000" y="0"/>
                  </a:lnTo>
                  <a:lnTo>
                    <a:pt x="20268000" y="3795808"/>
                  </a:lnTo>
                  <a:lnTo>
                    <a:pt x="0" y="3795808"/>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9" name="Google Shape;349;p13"/>
            <p:cNvSpPr txBox="1"/>
            <p:nvPr/>
          </p:nvSpPr>
          <p:spPr>
            <a:xfrm>
              <a:off x="0" y="-114300"/>
              <a:ext cx="20268000" cy="3910108"/>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None/>
              </a:pPr>
              <a:r>
                <a:rPr lang="en-US" sz="3200">
                  <a:solidFill>
                    <a:srgbClr val="000000"/>
                  </a:solidFill>
                  <a:latin typeface="Calibri"/>
                  <a:ea typeface="Calibri"/>
                  <a:cs typeface="Calibri"/>
                  <a:sym typeface="Calibri"/>
                </a:rPr>
                <a:t>En un proyecto pueden generarse archivos que no necesitan ser almacenados ni compartidos, como archivos temporales o carpetas de dependencias. El archivo .gitignore permite especificar qué elementos deben ser ignorados por el control de versiones.</a:t>
              </a:r>
              <a:endParaRPr/>
            </a:p>
            <a:p>
              <a:pPr marL="0" marR="0" lvl="0" indent="0" algn="l" rtl="0">
                <a:lnSpc>
                  <a:spcPct val="138000"/>
                </a:lnSpc>
                <a:spcBef>
                  <a:spcPts val="0"/>
                </a:spcBef>
                <a:spcAft>
                  <a:spcPts val="0"/>
                </a:spcAft>
                <a:buNone/>
              </a:pPr>
              <a:r>
                <a:rPr lang="en-US" sz="3200">
                  <a:solidFill>
                    <a:srgbClr val="000000"/>
                  </a:solidFill>
                  <a:latin typeface="Calibri"/>
                  <a:ea typeface="Calibri"/>
                  <a:cs typeface="Calibri"/>
                  <a:sym typeface="Calibri"/>
                </a:rPr>
                <a:t>Esto evita subir información innecesaria o sensible al repositorio.</a:t>
              </a:r>
              <a:endParaRPr/>
            </a:p>
            <a:p>
              <a:pPr marL="0" marR="0" lvl="0" indent="0" algn="l" rtl="0">
                <a:lnSpc>
                  <a:spcPct val="138000"/>
                </a:lnSpc>
                <a:spcBef>
                  <a:spcPts val="0"/>
                </a:spcBef>
                <a:spcAft>
                  <a:spcPts val="0"/>
                </a:spcAft>
                <a:buNone/>
              </a:pPr>
              <a:endParaRPr sz="3200">
                <a:solidFill>
                  <a:srgbClr val="000000"/>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grpSp>
        <p:nvGrpSpPr>
          <p:cNvPr id="358" name="Google Shape;358;p14"/>
          <p:cNvGrpSpPr/>
          <p:nvPr/>
        </p:nvGrpSpPr>
        <p:grpSpPr>
          <a:xfrm>
            <a:off x="1543500" y="2343181"/>
            <a:ext cx="15201000" cy="5094476"/>
            <a:chOff x="0" y="-161925"/>
            <a:chExt cx="20268000" cy="6792635"/>
          </a:xfrm>
        </p:grpSpPr>
        <p:sp>
          <p:nvSpPr>
            <p:cNvPr id="359" name="Google Shape;359;p14"/>
            <p:cNvSpPr/>
            <p:nvPr/>
          </p:nvSpPr>
          <p:spPr>
            <a:xfrm>
              <a:off x="0" y="0"/>
              <a:ext cx="20268000" cy="6630710"/>
            </a:xfrm>
            <a:custGeom>
              <a:avLst/>
              <a:gdLst/>
              <a:ahLst/>
              <a:cxnLst/>
              <a:rect l="l" t="t" r="r" b="b"/>
              <a:pathLst>
                <a:path w="20268000" h="6630710" extrusionOk="0">
                  <a:moveTo>
                    <a:pt x="0" y="0"/>
                  </a:moveTo>
                  <a:lnTo>
                    <a:pt x="20268000" y="0"/>
                  </a:lnTo>
                  <a:lnTo>
                    <a:pt x="20268000" y="6630710"/>
                  </a:lnTo>
                  <a:lnTo>
                    <a:pt x="0" y="663071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0" name="Google Shape;360;p14"/>
            <p:cNvSpPr txBox="1"/>
            <p:nvPr/>
          </p:nvSpPr>
          <p:spPr>
            <a:xfrm>
              <a:off x="0" y="-161925"/>
              <a:ext cx="20268000" cy="6792635"/>
            </a:xfrm>
            <a:prstGeom prst="rect">
              <a:avLst/>
            </a:prstGeom>
            <a:noFill/>
            <a:ln>
              <a:noFill/>
            </a:ln>
          </p:spPr>
          <p:txBody>
            <a:bodyPr spcFirstLastPara="1" wrap="square" lIns="0" tIns="0" rIns="0" bIns="0" anchor="t" anchorCtr="0">
              <a:noAutofit/>
            </a:bodyPr>
            <a:lstStyle/>
            <a:p>
              <a:pPr marL="456692" marR="0" lvl="1" indent="-253936" algn="l" rtl="0">
                <a:lnSpc>
                  <a:spcPct val="138009"/>
                </a:lnSpc>
                <a:spcBef>
                  <a:spcPts val="0"/>
                </a:spcBef>
                <a:spcAft>
                  <a:spcPts val="0"/>
                </a:spcAft>
                <a:buClr>
                  <a:srgbClr val="000000"/>
                </a:buClr>
                <a:buSzPts val="3999"/>
                <a:buFont typeface="Arial"/>
                <a:buChar char="•"/>
              </a:pPr>
              <a:r>
                <a:rPr lang="en-US" sz="3999" b="0" i="0" u="none" strike="noStrike" cap="none" dirty="0">
                  <a:solidFill>
                    <a:srgbClr val="000000"/>
                  </a:solidFill>
                  <a:latin typeface="Calibri"/>
                  <a:ea typeface="Calibri"/>
                  <a:cs typeface="Calibri"/>
                  <a:sym typeface="Calibri"/>
                </a:rPr>
                <a:t>Cada </a:t>
              </a:r>
              <a:r>
                <a:rPr lang="en-US" sz="3999" b="0" i="0" u="none" strike="noStrike" cap="none" dirty="0" err="1">
                  <a:solidFill>
                    <a:srgbClr val="000000"/>
                  </a:solidFill>
                  <a:latin typeface="Calibri"/>
                  <a:ea typeface="Calibri"/>
                  <a:cs typeface="Calibri"/>
                  <a:sym typeface="Calibri"/>
                </a:rPr>
                <a:t>vez</a:t>
              </a:r>
              <a:r>
                <a:rPr lang="en-US" sz="3999" b="0" i="0" u="none" strike="noStrike" cap="none" dirty="0">
                  <a:solidFill>
                    <a:srgbClr val="000000"/>
                  </a:solidFill>
                  <a:latin typeface="Calibri"/>
                  <a:ea typeface="Calibri"/>
                  <a:cs typeface="Calibri"/>
                  <a:sym typeface="Calibri"/>
                </a:rPr>
                <a:t> </a:t>
              </a:r>
              <a:r>
                <a:rPr lang="en-US" sz="3999" b="0" i="0" u="none" strike="noStrike" cap="none" dirty="0" err="1">
                  <a:solidFill>
                    <a:srgbClr val="000000"/>
                  </a:solidFill>
                  <a:latin typeface="Calibri"/>
                  <a:ea typeface="Calibri"/>
                  <a:cs typeface="Calibri"/>
                  <a:sym typeface="Calibri"/>
                </a:rPr>
                <a:t>que</a:t>
              </a:r>
              <a:r>
                <a:rPr lang="en-US" sz="3999" b="0" i="0" u="none" strike="noStrike" cap="none" dirty="0">
                  <a:solidFill>
                    <a:srgbClr val="000000"/>
                  </a:solidFill>
                  <a:latin typeface="Calibri"/>
                  <a:ea typeface="Calibri"/>
                  <a:cs typeface="Calibri"/>
                  <a:sym typeface="Calibri"/>
                </a:rPr>
                <a:t> se </a:t>
              </a:r>
              <a:r>
                <a:rPr lang="en-US" sz="3999" b="0" i="0" u="none" strike="noStrike" cap="none" dirty="0" err="1">
                  <a:solidFill>
                    <a:srgbClr val="000000"/>
                  </a:solidFill>
                  <a:latin typeface="Calibri"/>
                  <a:ea typeface="Calibri"/>
                  <a:cs typeface="Calibri"/>
                  <a:sym typeface="Calibri"/>
                </a:rPr>
                <a:t>registra</a:t>
              </a:r>
              <a:r>
                <a:rPr lang="en-US" sz="3999" b="0" i="0" u="none" strike="noStrike" cap="none" dirty="0">
                  <a:solidFill>
                    <a:srgbClr val="000000"/>
                  </a:solidFill>
                  <a:latin typeface="Calibri"/>
                  <a:ea typeface="Calibri"/>
                  <a:cs typeface="Calibri"/>
                  <a:sym typeface="Calibri"/>
                </a:rPr>
                <a:t> un </a:t>
              </a:r>
              <a:r>
                <a:rPr lang="en-US" sz="3999" b="0" i="0" u="none" strike="noStrike" cap="none" dirty="0" err="1">
                  <a:solidFill>
                    <a:srgbClr val="000000"/>
                  </a:solidFill>
                  <a:latin typeface="Calibri"/>
                  <a:ea typeface="Calibri"/>
                  <a:cs typeface="Calibri"/>
                  <a:sym typeface="Calibri"/>
                </a:rPr>
                <a:t>cambio</a:t>
              </a:r>
              <a:r>
                <a:rPr lang="en-US" sz="3999" b="0" i="0" u="none" strike="noStrike" cap="none" dirty="0">
                  <a:solidFill>
                    <a:srgbClr val="000000"/>
                  </a:solidFill>
                  <a:latin typeface="Calibri"/>
                  <a:ea typeface="Calibri"/>
                  <a:cs typeface="Calibri"/>
                  <a:sym typeface="Calibri"/>
                </a:rPr>
                <a:t>, Git </a:t>
              </a:r>
              <a:r>
                <a:rPr lang="en-US" sz="3999" b="0" i="0" u="none" strike="noStrike" cap="none" dirty="0" err="1">
                  <a:solidFill>
                    <a:srgbClr val="000000"/>
                  </a:solidFill>
                  <a:latin typeface="Calibri"/>
                  <a:ea typeface="Calibri"/>
                  <a:cs typeface="Calibri"/>
                  <a:sym typeface="Calibri"/>
                </a:rPr>
                <a:t>guarda</a:t>
              </a:r>
              <a:r>
                <a:rPr lang="en-US" sz="3999" b="0" i="0" u="none" strike="noStrike" cap="none" dirty="0">
                  <a:solidFill>
                    <a:srgbClr val="000000"/>
                  </a:solidFill>
                  <a:latin typeface="Calibri"/>
                  <a:ea typeface="Calibri"/>
                  <a:cs typeface="Calibri"/>
                  <a:sym typeface="Calibri"/>
                </a:rPr>
                <a:t> </a:t>
              </a:r>
              <a:r>
                <a:rPr lang="en-US" sz="3999" b="0" i="0" u="none" strike="noStrike" cap="none" dirty="0" err="1">
                  <a:solidFill>
                    <a:srgbClr val="000000"/>
                  </a:solidFill>
                  <a:latin typeface="Calibri"/>
                  <a:ea typeface="Calibri"/>
                  <a:cs typeface="Calibri"/>
                  <a:sym typeface="Calibri"/>
                </a:rPr>
                <a:t>información</a:t>
              </a:r>
              <a:r>
                <a:rPr lang="en-US" sz="3999" b="0" i="0" u="none" strike="noStrike" cap="none" dirty="0">
                  <a:solidFill>
                    <a:srgbClr val="000000"/>
                  </a:solidFill>
                  <a:latin typeface="Calibri"/>
                  <a:ea typeface="Calibri"/>
                  <a:cs typeface="Calibri"/>
                  <a:sym typeface="Calibri"/>
                </a:rPr>
                <a:t> </a:t>
              </a:r>
              <a:r>
                <a:rPr lang="en-US" sz="3999" b="0" i="0" u="none" strike="noStrike" cap="none" dirty="0" err="1">
                  <a:solidFill>
                    <a:srgbClr val="000000"/>
                  </a:solidFill>
                  <a:latin typeface="Calibri"/>
                  <a:ea typeface="Calibri"/>
                  <a:cs typeface="Calibri"/>
                  <a:sym typeface="Calibri"/>
                </a:rPr>
                <a:t>como</a:t>
              </a:r>
              <a:r>
                <a:rPr lang="en-US" sz="3999" b="0" i="0" u="none" strike="noStrike" cap="none" dirty="0">
                  <a:solidFill>
                    <a:srgbClr val="000000"/>
                  </a:solidFill>
                  <a:latin typeface="Calibri"/>
                  <a:ea typeface="Calibri"/>
                  <a:cs typeface="Calibri"/>
                  <a:sym typeface="Calibri"/>
                </a:rPr>
                <a:t>:</a:t>
              </a:r>
              <a:endParaRPr dirty="0"/>
            </a:p>
            <a:p>
              <a:pPr marL="456692" marR="0" lvl="1" indent="-253936" algn="l" rtl="0">
                <a:lnSpc>
                  <a:spcPct val="138009"/>
                </a:lnSpc>
                <a:spcBef>
                  <a:spcPts val="0"/>
                </a:spcBef>
                <a:spcAft>
                  <a:spcPts val="0"/>
                </a:spcAft>
                <a:buClr>
                  <a:srgbClr val="000000"/>
                </a:buClr>
                <a:buSzPts val="3999"/>
                <a:buFont typeface="Arial"/>
                <a:buChar char="•"/>
              </a:pPr>
              <a:r>
                <a:rPr lang="en-US" sz="3999" b="0" i="0" u="none" strike="noStrike" cap="none" dirty="0">
                  <a:solidFill>
                    <a:srgbClr val="000000"/>
                  </a:solidFill>
                  <a:latin typeface="Calibri"/>
                  <a:ea typeface="Calibri"/>
                  <a:cs typeface="Calibri"/>
                  <a:sym typeface="Calibri"/>
                </a:rPr>
                <a:t>El </a:t>
              </a:r>
              <a:r>
                <a:rPr lang="en-US" sz="3999" b="0" i="0" u="none" strike="noStrike" cap="none" dirty="0" err="1">
                  <a:solidFill>
                    <a:srgbClr val="000000"/>
                  </a:solidFill>
                  <a:latin typeface="Calibri"/>
                  <a:ea typeface="Calibri"/>
                  <a:cs typeface="Calibri"/>
                  <a:sym typeface="Calibri"/>
                </a:rPr>
                <a:t>autor</a:t>
              </a:r>
              <a:r>
                <a:rPr lang="en-US" sz="3999" b="0" i="0" u="none" strike="noStrike" cap="none" dirty="0">
                  <a:solidFill>
                    <a:srgbClr val="000000"/>
                  </a:solidFill>
                  <a:latin typeface="Calibri"/>
                  <a:ea typeface="Calibri"/>
                  <a:cs typeface="Calibri"/>
                  <a:sym typeface="Calibri"/>
                </a:rPr>
                <a:t> del </a:t>
              </a:r>
              <a:r>
                <a:rPr lang="en-US" sz="3999" b="0" i="0" u="none" strike="noStrike" cap="none" dirty="0" err="1">
                  <a:solidFill>
                    <a:srgbClr val="000000"/>
                  </a:solidFill>
                  <a:latin typeface="Calibri"/>
                  <a:ea typeface="Calibri"/>
                  <a:cs typeface="Calibri"/>
                  <a:sym typeface="Calibri"/>
                </a:rPr>
                <a:t>cambio</a:t>
              </a:r>
              <a:r>
                <a:rPr lang="en-US" sz="3999" b="0" i="0" u="none" strike="noStrike" cap="none" dirty="0">
                  <a:solidFill>
                    <a:srgbClr val="000000"/>
                  </a:solidFill>
                  <a:latin typeface="Calibri"/>
                  <a:ea typeface="Calibri"/>
                  <a:cs typeface="Calibri"/>
                  <a:sym typeface="Calibri"/>
                </a:rPr>
                <a:t>.</a:t>
              </a:r>
              <a:endParaRPr dirty="0"/>
            </a:p>
            <a:p>
              <a:pPr marL="456692" marR="0" lvl="1" indent="-253936" algn="l" rtl="0">
                <a:lnSpc>
                  <a:spcPct val="138009"/>
                </a:lnSpc>
                <a:spcBef>
                  <a:spcPts val="0"/>
                </a:spcBef>
                <a:spcAft>
                  <a:spcPts val="0"/>
                </a:spcAft>
                <a:buClr>
                  <a:srgbClr val="000000"/>
                </a:buClr>
                <a:buSzPts val="3999"/>
                <a:buFont typeface="Arial"/>
                <a:buChar char="•"/>
              </a:pPr>
              <a:r>
                <a:rPr lang="en-US" sz="3999" b="0" i="0" u="none" strike="noStrike" cap="none" dirty="0">
                  <a:solidFill>
                    <a:srgbClr val="000000"/>
                  </a:solidFill>
                  <a:latin typeface="Calibri"/>
                  <a:ea typeface="Calibri"/>
                  <a:cs typeface="Calibri"/>
                  <a:sym typeface="Calibri"/>
                </a:rPr>
                <a:t>La </a:t>
              </a:r>
              <a:r>
                <a:rPr lang="en-US" sz="3999" b="0" i="0" u="none" strike="noStrike" cap="none" dirty="0" err="1">
                  <a:solidFill>
                    <a:srgbClr val="000000"/>
                  </a:solidFill>
                  <a:latin typeface="Calibri"/>
                  <a:ea typeface="Calibri"/>
                  <a:cs typeface="Calibri"/>
                  <a:sym typeface="Calibri"/>
                </a:rPr>
                <a:t>fecha</a:t>
              </a:r>
              <a:r>
                <a:rPr lang="en-US" sz="3999" b="0" i="0" u="none" strike="noStrike" cap="none" dirty="0">
                  <a:solidFill>
                    <a:srgbClr val="000000"/>
                  </a:solidFill>
                  <a:latin typeface="Calibri"/>
                  <a:ea typeface="Calibri"/>
                  <a:cs typeface="Calibri"/>
                  <a:sym typeface="Calibri"/>
                </a:rPr>
                <a:t> y hora.</a:t>
              </a:r>
              <a:endParaRPr dirty="0"/>
            </a:p>
            <a:p>
              <a:pPr marL="457200" marR="0" lvl="1" indent="-254000" algn="l" rtl="0">
                <a:lnSpc>
                  <a:spcPct val="138000"/>
                </a:lnSpc>
                <a:spcBef>
                  <a:spcPts val="0"/>
                </a:spcBef>
                <a:spcAft>
                  <a:spcPts val="0"/>
                </a:spcAft>
                <a:buClr>
                  <a:srgbClr val="000000"/>
                </a:buClr>
                <a:buSzPts val="4000"/>
                <a:buFont typeface="Arial"/>
                <a:buChar char="•"/>
              </a:pPr>
              <a:r>
                <a:rPr lang="en-US" sz="4000" b="0" i="0" u="none" strike="noStrike" cap="none" dirty="0">
                  <a:solidFill>
                    <a:srgbClr val="000000"/>
                  </a:solidFill>
                  <a:latin typeface="Calibri"/>
                  <a:ea typeface="Calibri"/>
                  <a:cs typeface="Calibri"/>
                  <a:sym typeface="Calibri"/>
                </a:rPr>
                <a:t>Un </a:t>
              </a:r>
              <a:r>
                <a:rPr lang="en-US" sz="4000" b="0" i="0" u="none" strike="noStrike" cap="none" dirty="0" err="1">
                  <a:solidFill>
                    <a:srgbClr val="000000"/>
                  </a:solidFill>
                  <a:latin typeface="Calibri"/>
                  <a:ea typeface="Calibri"/>
                  <a:cs typeface="Calibri"/>
                  <a:sym typeface="Calibri"/>
                </a:rPr>
                <a:t>mensaje</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que</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explica</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el</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motivo</a:t>
              </a:r>
              <a:r>
                <a:rPr lang="en-US" sz="4000" b="0" i="0" u="none" strike="noStrike" cap="none" dirty="0">
                  <a:solidFill>
                    <a:srgbClr val="000000"/>
                  </a:solidFill>
                  <a:latin typeface="Calibri"/>
                  <a:ea typeface="Calibri"/>
                  <a:cs typeface="Calibri"/>
                  <a:sym typeface="Calibri"/>
                </a:rPr>
                <a:t> del </a:t>
              </a:r>
              <a:r>
                <a:rPr lang="en-US" sz="4000" b="0" i="0" u="none" strike="noStrike" cap="none" dirty="0" err="1">
                  <a:solidFill>
                    <a:srgbClr val="000000"/>
                  </a:solidFill>
                  <a:latin typeface="Calibri"/>
                  <a:ea typeface="Calibri"/>
                  <a:cs typeface="Calibri"/>
                  <a:sym typeface="Calibri"/>
                </a:rPr>
                <a:t>cambio</a:t>
              </a:r>
              <a:r>
                <a:rPr lang="en-US" sz="4000" b="0" i="0" u="none" strike="noStrike" cap="none" dirty="0">
                  <a:solidFill>
                    <a:srgbClr val="000000"/>
                  </a:solidFill>
                  <a:latin typeface="Calibri"/>
                  <a:ea typeface="Calibri"/>
                  <a:cs typeface="Calibri"/>
                  <a:sym typeface="Calibri"/>
                </a:rPr>
                <a:t>.</a:t>
              </a:r>
              <a:endParaRPr dirty="0"/>
            </a:p>
            <a:p>
              <a:pPr marL="457200" marR="0" lvl="1" indent="-254000" algn="l" rtl="0">
                <a:lnSpc>
                  <a:spcPct val="138000"/>
                </a:lnSpc>
                <a:spcBef>
                  <a:spcPts val="0"/>
                </a:spcBef>
                <a:spcAft>
                  <a:spcPts val="0"/>
                </a:spcAft>
                <a:buClr>
                  <a:srgbClr val="000000"/>
                </a:buClr>
                <a:buSzPts val="4000"/>
                <a:buFont typeface="Arial"/>
                <a:buChar char="•"/>
              </a:pPr>
              <a:r>
                <a:rPr lang="en-US" sz="4000" b="0" i="0" u="none" strike="noStrike" cap="none" dirty="0">
                  <a:solidFill>
                    <a:srgbClr val="000000"/>
                  </a:solidFill>
                  <a:latin typeface="Calibri"/>
                  <a:ea typeface="Calibri"/>
                  <a:cs typeface="Calibri"/>
                  <a:sym typeface="Calibri"/>
                </a:rPr>
                <a:t>Este </a:t>
              </a:r>
              <a:r>
                <a:rPr lang="en-US" sz="4000" b="0" i="0" u="none" strike="noStrike" cap="none" dirty="0" err="1">
                  <a:solidFill>
                    <a:srgbClr val="000000"/>
                  </a:solidFill>
                  <a:latin typeface="Calibri"/>
                  <a:ea typeface="Calibri"/>
                  <a:cs typeface="Calibri"/>
                  <a:sym typeface="Calibri"/>
                </a:rPr>
                <a:t>historial</a:t>
              </a:r>
              <a:r>
                <a:rPr lang="en-US" sz="4000" b="0" i="0" u="none" strike="noStrike" cap="none" dirty="0">
                  <a:solidFill>
                    <a:srgbClr val="000000"/>
                  </a:solidFill>
                  <a:latin typeface="Calibri"/>
                  <a:ea typeface="Calibri"/>
                  <a:cs typeface="Calibri"/>
                  <a:sym typeface="Calibri"/>
                </a:rPr>
                <a:t> es </a:t>
              </a:r>
              <a:r>
                <a:rPr lang="en-US" sz="4000" b="0" i="0" u="none" strike="noStrike" cap="none" dirty="0" err="1">
                  <a:solidFill>
                    <a:srgbClr val="000000"/>
                  </a:solidFill>
                  <a:latin typeface="Calibri"/>
                  <a:ea typeface="Calibri"/>
                  <a:cs typeface="Calibri"/>
                  <a:sym typeface="Calibri"/>
                </a:rPr>
                <a:t>muy</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valioso</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ya</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que</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permite</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revisar</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qué</a:t>
              </a:r>
              <a:r>
                <a:rPr lang="en-US" sz="4000" b="0" i="0" u="none" strike="noStrike" cap="none" dirty="0">
                  <a:solidFill>
                    <a:srgbClr val="000000"/>
                  </a:solidFill>
                  <a:latin typeface="Calibri"/>
                  <a:ea typeface="Calibri"/>
                  <a:cs typeface="Calibri"/>
                  <a:sym typeface="Calibri"/>
                </a:rPr>
                <a:t> se </a:t>
              </a:r>
              <a:r>
                <a:rPr lang="en-US" sz="4000" b="0" i="0" u="none" strike="noStrike" cap="none" dirty="0" err="1">
                  <a:solidFill>
                    <a:srgbClr val="000000"/>
                  </a:solidFill>
                  <a:latin typeface="Calibri"/>
                  <a:ea typeface="Calibri"/>
                  <a:cs typeface="Calibri"/>
                  <a:sym typeface="Calibri"/>
                </a:rPr>
                <a:t>hizo</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cuándo</a:t>
              </a:r>
              <a:r>
                <a:rPr lang="en-US" sz="4000" b="0" i="0" u="none" strike="noStrike" cap="none" dirty="0">
                  <a:solidFill>
                    <a:srgbClr val="000000"/>
                  </a:solidFill>
                  <a:latin typeface="Calibri"/>
                  <a:ea typeface="Calibri"/>
                  <a:cs typeface="Calibri"/>
                  <a:sym typeface="Calibri"/>
                </a:rPr>
                <a:t> y </a:t>
              </a:r>
              <a:r>
                <a:rPr lang="en-US" sz="4000" b="0" i="0" u="none" strike="noStrike" cap="none" dirty="0" err="1">
                  <a:solidFill>
                    <a:srgbClr val="000000"/>
                  </a:solidFill>
                  <a:latin typeface="Calibri"/>
                  <a:ea typeface="Calibri"/>
                  <a:cs typeface="Calibri"/>
                  <a:sym typeface="Calibri"/>
                </a:rPr>
                <a:t>por</a:t>
              </a:r>
              <a:r>
                <a:rPr lang="en-US" sz="4000" b="0" i="0" u="none" strike="noStrike" cap="none" dirty="0">
                  <a:solidFill>
                    <a:srgbClr val="000000"/>
                  </a:solidFill>
                  <a:latin typeface="Calibri"/>
                  <a:ea typeface="Calibri"/>
                  <a:cs typeface="Calibri"/>
                  <a:sym typeface="Calibri"/>
                </a:rPr>
                <a:t> </a:t>
              </a:r>
              <a:r>
                <a:rPr lang="en-US" sz="4000" b="0" i="0" u="none" strike="noStrike" cap="none" dirty="0" err="1">
                  <a:solidFill>
                    <a:srgbClr val="000000"/>
                  </a:solidFill>
                  <a:latin typeface="Calibri"/>
                  <a:ea typeface="Calibri"/>
                  <a:cs typeface="Calibri"/>
                  <a:sym typeface="Calibri"/>
                </a:rPr>
                <a:t>qué</a:t>
              </a:r>
              <a:r>
                <a:rPr lang="en-US" sz="4000" b="0" i="0" u="none" strike="noStrike" cap="none" dirty="0">
                  <a:solidFill>
                    <a:srgbClr val="000000"/>
                  </a:solidFill>
                  <a:latin typeface="Calibri"/>
                  <a:ea typeface="Calibri"/>
                  <a:cs typeface="Calibri"/>
                  <a:sym typeface="Calibri"/>
                </a:rPr>
                <a:t>. Es </a:t>
              </a:r>
              <a:r>
                <a:rPr lang="en-US" sz="4000" b="0" i="0" u="none" strike="noStrike" cap="none" dirty="0" err="1">
                  <a:solidFill>
                    <a:srgbClr val="000000"/>
                  </a:solidFill>
                  <a:latin typeface="Calibri"/>
                  <a:ea typeface="Calibri"/>
                  <a:cs typeface="Calibri"/>
                  <a:sym typeface="Calibri"/>
                </a:rPr>
                <a:t>como</a:t>
              </a:r>
              <a:r>
                <a:rPr lang="en-US" sz="4000" b="0" i="0" u="none" strike="noStrike" cap="none" dirty="0">
                  <a:solidFill>
                    <a:srgbClr val="000000"/>
                  </a:solidFill>
                  <a:latin typeface="Calibri"/>
                  <a:ea typeface="Calibri"/>
                  <a:cs typeface="Calibri"/>
                  <a:sym typeface="Calibri"/>
                </a:rPr>
                <a:t> un </a:t>
              </a:r>
              <a:r>
                <a:rPr lang="en-US" sz="4000" b="0" i="0" u="none" strike="noStrike" cap="none" dirty="0" err="1">
                  <a:solidFill>
                    <a:srgbClr val="000000"/>
                  </a:solidFill>
                  <a:latin typeface="Calibri"/>
                  <a:ea typeface="Calibri"/>
                  <a:cs typeface="Calibri"/>
                  <a:sym typeface="Calibri"/>
                </a:rPr>
                <a:t>diario</a:t>
              </a:r>
              <a:r>
                <a:rPr lang="en-US" sz="4000" b="0" i="0" u="none" strike="noStrike" cap="none" dirty="0">
                  <a:solidFill>
                    <a:srgbClr val="000000"/>
                  </a:solidFill>
                  <a:latin typeface="Calibri"/>
                  <a:ea typeface="Calibri"/>
                  <a:cs typeface="Calibri"/>
                  <a:sym typeface="Calibri"/>
                </a:rPr>
                <a:t> de </a:t>
              </a:r>
              <a:r>
                <a:rPr lang="en-US" sz="4000" b="0" i="0" u="none" strike="noStrike" cap="none" dirty="0" err="1">
                  <a:solidFill>
                    <a:srgbClr val="000000"/>
                  </a:solidFill>
                  <a:latin typeface="Calibri"/>
                  <a:ea typeface="Calibri"/>
                  <a:cs typeface="Calibri"/>
                  <a:sym typeface="Calibri"/>
                </a:rPr>
                <a:t>desarrollo</a:t>
              </a:r>
              <a:r>
                <a:rPr lang="en-US" sz="4000" b="0" i="0" u="none" strike="noStrike" cap="none" dirty="0">
                  <a:solidFill>
                    <a:srgbClr val="000000"/>
                  </a:solidFill>
                  <a:latin typeface="Calibri"/>
                  <a:ea typeface="Calibri"/>
                  <a:cs typeface="Calibri"/>
                  <a:sym typeface="Calibri"/>
                </a:rPr>
                <a:t>.</a:t>
              </a:r>
              <a:endParaRPr dirty="0"/>
            </a:p>
            <a:p>
              <a:pPr marL="0" marR="0" lvl="0" indent="0" algn="l" rtl="0">
                <a:lnSpc>
                  <a:spcPct val="137975"/>
                </a:lnSpc>
                <a:spcBef>
                  <a:spcPts val="0"/>
                </a:spcBef>
                <a:spcAft>
                  <a:spcPts val="0"/>
                </a:spcAft>
                <a:buNone/>
              </a:pPr>
              <a:endParaRPr sz="4000" dirty="0">
                <a:solidFill>
                  <a:srgbClr val="000000"/>
                </a:solidFill>
                <a:latin typeface="Calibri"/>
                <a:ea typeface="Calibri"/>
                <a:cs typeface="Calibri"/>
                <a:sym typeface="Calibri"/>
              </a:endParaRPr>
            </a:p>
          </p:txBody>
        </p:sp>
      </p:grpSp>
      <p:grpSp>
        <p:nvGrpSpPr>
          <p:cNvPr id="361" name="Google Shape;361;p14"/>
          <p:cNvGrpSpPr/>
          <p:nvPr/>
        </p:nvGrpSpPr>
        <p:grpSpPr>
          <a:xfrm>
            <a:off x="1374826" y="764613"/>
            <a:ext cx="15288901" cy="1256147"/>
            <a:chOff x="0" y="-209550"/>
            <a:chExt cx="20385201" cy="1674862"/>
          </a:xfrm>
        </p:grpSpPr>
        <p:sp>
          <p:nvSpPr>
            <p:cNvPr id="362" name="Google Shape;362;p14"/>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3" name="Google Shape;363;p14"/>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¿Qué es el historial de cambios?</a:t>
              </a:r>
              <a:endParaRPr/>
            </a:p>
          </p:txBody>
        </p:sp>
      </p:grpSp>
      <p:sp>
        <p:nvSpPr>
          <p:cNvPr id="364" name="Google Shape;364;p14"/>
          <p:cNvSpPr/>
          <p:nvPr/>
        </p:nvSpPr>
        <p:spPr>
          <a:xfrm>
            <a:off x="7503323" y="7559101"/>
            <a:ext cx="2326477" cy="2338238"/>
          </a:xfrm>
          <a:custGeom>
            <a:avLst/>
            <a:gdLst/>
            <a:ahLst/>
            <a:cxnLst/>
            <a:rect l="l" t="t" r="r" b="b"/>
            <a:pathLst>
              <a:path w="3031907" h="3038021" extrusionOk="0">
                <a:moveTo>
                  <a:pt x="0" y="0"/>
                </a:moveTo>
                <a:lnTo>
                  <a:pt x="3031906" y="0"/>
                </a:lnTo>
                <a:lnTo>
                  <a:pt x="3031906" y="3038021"/>
                </a:lnTo>
                <a:lnTo>
                  <a:pt x="0" y="303802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grpSp>
        <p:nvGrpSpPr>
          <p:cNvPr id="373" name="Google Shape;373;p15"/>
          <p:cNvGrpSpPr/>
          <p:nvPr/>
        </p:nvGrpSpPr>
        <p:grpSpPr>
          <a:xfrm>
            <a:off x="1374826" y="764613"/>
            <a:ext cx="15288901" cy="1256147"/>
            <a:chOff x="0" y="-209550"/>
            <a:chExt cx="20385201" cy="1674862"/>
          </a:xfrm>
        </p:grpSpPr>
        <p:sp>
          <p:nvSpPr>
            <p:cNvPr id="374" name="Google Shape;374;p15"/>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15"/>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Revertir cambios</a:t>
              </a:r>
              <a:endParaRPr/>
            </a:p>
          </p:txBody>
        </p:sp>
      </p:grpSp>
      <p:sp>
        <p:nvSpPr>
          <p:cNvPr id="376" name="Google Shape;376;p15"/>
          <p:cNvSpPr/>
          <p:nvPr/>
        </p:nvSpPr>
        <p:spPr>
          <a:xfrm>
            <a:off x="10319250" y="2484775"/>
            <a:ext cx="6457950" cy="6457950"/>
          </a:xfrm>
          <a:custGeom>
            <a:avLst/>
            <a:gdLst/>
            <a:ahLst/>
            <a:cxnLst/>
            <a:rect l="l" t="t" r="r" b="b"/>
            <a:pathLst>
              <a:path w="6457950" h="6457950" extrusionOk="0">
                <a:moveTo>
                  <a:pt x="0" y="0"/>
                </a:moveTo>
                <a:lnTo>
                  <a:pt x="6457950" y="0"/>
                </a:lnTo>
                <a:lnTo>
                  <a:pt x="6457950" y="6457950"/>
                </a:lnTo>
                <a:lnTo>
                  <a:pt x="0" y="645795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77" name="Google Shape;377;p15"/>
          <p:cNvGrpSpPr/>
          <p:nvPr/>
        </p:nvGrpSpPr>
        <p:grpSpPr>
          <a:xfrm>
            <a:off x="1604400" y="3433338"/>
            <a:ext cx="7911900" cy="4367963"/>
            <a:chOff x="0" y="-57150"/>
            <a:chExt cx="10549200" cy="5823950"/>
          </a:xfrm>
        </p:grpSpPr>
        <p:sp>
          <p:nvSpPr>
            <p:cNvPr id="378" name="Google Shape;378;p15"/>
            <p:cNvSpPr/>
            <p:nvPr/>
          </p:nvSpPr>
          <p:spPr>
            <a:xfrm>
              <a:off x="0" y="0"/>
              <a:ext cx="10549200" cy="5766800"/>
            </a:xfrm>
            <a:custGeom>
              <a:avLst/>
              <a:gdLst/>
              <a:ahLst/>
              <a:cxnLst/>
              <a:rect l="l" t="t" r="r" b="b"/>
              <a:pathLst>
                <a:path w="10549200" h="5766800" extrusionOk="0">
                  <a:moveTo>
                    <a:pt x="0" y="0"/>
                  </a:moveTo>
                  <a:lnTo>
                    <a:pt x="10549200" y="0"/>
                  </a:lnTo>
                  <a:lnTo>
                    <a:pt x="10549200" y="5766800"/>
                  </a:lnTo>
                  <a:lnTo>
                    <a:pt x="0" y="57668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15"/>
            <p:cNvSpPr txBox="1"/>
            <p:nvPr/>
          </p:nvSpPr>
          <p:spPr>
            <a:xfrm>
              <a:off x="0" y="-57150"/>
              <a:ext cx="10549200" cy="5823950"/>
            </a:xfrm>
            <a:prstGeom prst="rect">
              <a:avLst/>
            </a:prstGeom>
            <a:noFill/>
            <a:ln>
              <a:noFill/>
            </a:ln>
          </p:spPr>
          <p:txBody>
            <a:bodyPr spcFirstLastPara="1" wrap="square" lIns="0" tIns="0" rIns="0" bIns="0" anchor="t" anchorCtr="0">
              <a:noAutofit/>
            </a:bodyPr>
            <a:lstStyle/>
            <a:p>
              <a:pPr marL="0" marR="0" lvl="0" indent="0" algn="just" rtl="0">
                <a:lnSpc>
                  <a:spcPct val="120000"/>
                </a:lnSpc>
                <a:spcBef>
                  <a:spcPts val="0"/>
                </a:spcBef>
                <a:spcAft>
                  <a:spcPts val="0"/>
                </a:spcAft>
                <a:buNone/>
              </a:pPr>
              <a:r>
                <a:rPr lang="en-US" sz="3200">
                  <a:solidFill>
                    <a:srgbClr val="000000"/>
                  </a:solidFill>
                  <a:latin typeface="Calibri"/>
                  <a:ea typeface="Calibri"/>
                  <a:cs typeface="Calibri"/>
                  <a:sym typeface="Calibri"/>
                </a:rPr>
                <a:t>En cualquier momento, es posible volver atrás si algo sale mal. Git permite deshacer cambios recientes o incluso recuperar versiones anteriores del proyecto. Esto da mucha seguridad al programar, ya que se puede experimentar sin miedo a perder el progreso.</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grpSp>
        <p:nvGrpSpPr>
          <p:cNvPr id="388" name="Google Shape;388;p16"/>
          <p:cNvGrpSpPr/>
          <p:nvPr/>
        </p:nvGrpSpPr>
        <p:grpSpPr>
          <a:xfrm>
            <a:off x="1374826" y="764613"/>
            <a:ext cx="15288901" cy="1256147"/>
            <a:chOff x="0" y="-209550"/>
            <a:chExt cx="20385201" cy="1674862"/>
          </a:xfrm>
        </p:grpSpPr>
        <p:sp>
          <p:nvSpPr>
            <p:cNvPr id="389" name="Google Shape;389;p16"/>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0" name="Google Shape;390;p16"/>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Uso de ramas (branches)</a:t>
              </a:r>
              <a:endParaRPr/>
            </a:p>
          </p:txBody>
        </p:sp>
      </p:grpSp>
      <p:grpSp>
        <p:nvGrpSpPr>
          <p:cNvPr id="391" name="Google Shape;391;p16"/>
          <p:cNvGrpSpPr/>
          <p:nvPr/>
        </p:nvGrpSpPr>
        <p:grpSpPr>
          <a:xfrm>
            <a:off x="1604400" y="3419050"/>
            <a:ext cx="15059401" cy="2935350"/>
            <a:chOff x="0" y="-76200"/>
            <a:chExt cx="20079201" cy="3913800"/>
          </a:xfrm>
        </p:grpSpPr>
        <p:sp>
          <p:nvSpPr>
            <p:cNvPr id="392" name="Google Shape;392;p16"/>
            <p:cNvSpPr/>
            <p:nvPr/>
          </p:nvSpPr>
          <p:spPr>
            <a:xfrm>
              <a:off x="0" y="0"/>
              <a:ext cx="20079201" cy="3837600"/>
            </a:xfrm>
            <a:custGeom>
              <a:avLst/>
              <a:gdLst/>
              <a:ahLst/>
              <a:cxnLst/>
              <a:rect l="l" t="t" r="r" b="b"/>
              <a:pathLst>
                <a:path w="20079201" h="3837600" extrusionOk="0">
                  <a:moveTo>
                    <a:pt x="0" y="0"/>
                  </a:moveTo>
                  <a:lnTo>
                    <a:pt x="20079201" y="0"/>
                  </a:lnTo>
                  <a:lnTo>
                    <a:pt x="20079201" y="3837600"/>
                  </a:lnTo>
                  <a:lnTo>
                    <a:pt x="0" y="38376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3" name="Google Shape;393;p16"/>
            <p:cNvSpPr txBox="1"/>
            <p:nvPr/>
          </p:nvSpPr>
          <p:spPr>
            <a:xfrm>
              <a:off x="0" y="-76200"/>
              <a:ext cx="20079200" cy="3913800"/>
            </a:xfrm>
            <a:prstGeom prst="rect">
              <a:avLst/>
            </a:prstGeom>
            <a:noFill/>
            <a:ln>
              <a:noFill/>
            </a:ln>
          </p:spPr>
          <p:txBody>
            <a:bodyPr spcFirstLastPara="1" wrap="square" lIns="0" tIns="0" rIns="0" bIns="0" anchor="t" anchorCtr="0">
              <a:noAutofit/>
            </a:bodyPr>
            <a:lstStyle/>
            <a:p>
              <a:pPr marL="0" marR="0" lvl="0" indent="0" algn="just" rtl="0">
                <a:lnSpc>
                  <a:spcPct val="120000"/>
                </a:lnSpc>
                <a:spcBef>
                  <a:spcPts val="0"/>
                </a:spcBef>
                <a:spcAft>
                  <a:spcPts val="0"/>
                </a:spcAft>
                <a:buNone/>
              </a:pPr>
              <a:r>
                <a:rPr lang="en-US" sz="3500">
                  <a:solidFill>
                    <a:srgbClr val="000000"/>
                  </a:solidFill>
                  <a:latin typeface="Calibri"/>
                  <a:ea typeface="Calibri"/>
                  <a:cs typeface="Calibri"/>
                  <a:sym typeface="Calibri"/>
                </a:rPr>
                <a:t>Una rama es como una línea paralela de trabajo donde se puede desarrollar una nueva funcionalidad sin afectar el resto del proyecto. Esto permite trabajar en diferentes ideas o soluciones de forma independiente. Luego, cuando se haya terminado, se puede unir con la rama principal.</a:t>
              </a:r>
              <a:endParaRPr/>
            </a:p>
          </p:txBody>
        </p:sp>
      </p:grpSp>
      <p:sp>
        <p:nvSpPr>
          <p:cNvPr id="394" name="Google Shape;394;p16"/>
          <p:cNvSpPr/>
          <p:nvPr/>
        </p:nvSpPr>
        <p:spPr>
          <a:xfrm>
            <a:off x="5683649" y="6088469"/>
            <a:ext cx="6920702" cy="3546860"/>
          </a:xfrm>
          <a:custGeom>
            <a:avLst/>
            <a:gdLst/>
            <a:ahLst/>
            <a:cxnLst/>
            <a:rect l="l" t="t" r="r" b="b"/>
            <a:pathLst>
              <a:path w="6920702" h="3546860" extrusionOk="0">
                <a:moveTo>
                  <a:pt x="0" y="0"/>
                </a:moveTo>
                <a:lnTo>
                  <a:pt x="6920702" y="0"/>
                </a:lnTo>
                <a:lnTo>
                  <a:pt x="6920702" y="3546860"/>
                </a:lnTo>
                <a:lnTo>
                  <a:pt x="0" y="354686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grpSp>
        <p:nvGrpSpPr>
          <p:cNvPr id="403" name="Google Shape;403;p17"/>
          <p:cNvGrpSpPr/>
          <p:nvPr/>
        </p:nvGrpSpPr>
        <p:grpSpPr>
          <a:xfrm>
            <a:off x="1374826" y="764613"/>
            <a:ext cx="15288901" cy="1256147"/>
            <a:chOff x="0" y="-209550"/>
            <a:chExt cx="20385201" cy="1674862"/>
          </a:xfrm>
        </p:grpSpPr>
        <p:sp>
          <p:nvSpPr>
            <p:cNvPr id="404" name="Google Shape;404;p17"/>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5" name="Google Shape;405;p17"/>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Fusión de ramas</a:t>
              </a:r>
              <a:endParaRPr/>
            </a:p>
          </p:txBody>
        </p:sp>
      </p:grpSp>
      <p:grpSp>
        <p:nvGrpSpPr>
          <p:cNvPr id="406" name="Google Shape;406;p17"/>
          <p:cNvGrpSpPr/>
          <p:nvPr/>
        </p:nvGrpSpPr>
        <p:grpSpPr>
          <a:xfrm>
            <a:off x="1614300" y="2695500"/>
            <a:ext cx="15059401" cy="5629050"/>
            <a:chOff x="0" y="-76200"/>
            <a:chExt cx="20079201" cy="7505400"/>
          </a:xfrm>
        </p:grpSpPr>
        <p:sp>
          <p:nvSpPr>
            <p:cNvPr id="407" name="Google Shape;407;p17"/>
            <p:cNvSpPr/>
            <p:nvPr/>
          </p:nvSpPr>
          <p:spPr>
            <a:xfrm>
              <a:off x="0" y="0"/>
              <a:ext cx="20079201" cy="7429200"/>
            </a:xfrm>
            <a:custGeom>
              <a:avLst/>
              <a:gdLst/>
              <a:ahLst/>
              <a:cxnLst/>
              <a:rect l="l" t="t" r="r" b="b"/>
              <a:pathLst>
                <a:path w="20079201" h="7429200" extrusionOk="0">
                  <a:moveTo>
                    <a:pt x="0" y="0"/>
                  </a:moveTo>
                  <a:lnTo>
                    <a:pt x="20079201" y="0"/>
                  </a:lnTo>
                  <a:lnTo>
                    <a:pt x="20079201" y="7429200"/>
                  </a:lnTo>
                  <a:lnTo>
                    <a:pt x="0" y="74292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17"/>
            <p:cNvSpPr txBox="1"/>
            <p:nvPr/>
          </p:nvSpPr>
          <p:spPr>
            <a:xfrm>
              <a:off x="0" y="-76200"/>
              <a:ext cx="20079200" cy="7505400"/>
            </a:xfrm>
            <a:prstGeom prst="rect">
              <a:avLst/>
            </a:prstGeom>
            <a:noFill/>
            <a:ln>
              <a:noFill/>
            </a:ln>
          </p:spPr>
          <p:txBody>
            <a:bodyPr spcFirstLastPara="1" wrap="square" lIns="0" tIns="0" rIns="0" bIns="0" anchor="t" anchorCtr="0">
              <a:noAutofit/>
            </a:bodyPr>
            <a:lstStyle/>
            <a:p>
              <a:pPr marL="428625" marR="0" lvl="1" indent="-222250" algn="just" rtl="0">
                <a:lnSpc>
                  <a:spcPct val="120000"/>
                </a:lnSpc>
                <a:spcBef>
                  <a:spcPts val="0"/>
                </a:spcBef>
                <a:spcAft>
                  <a:spcPts val="0"/>
                </a:spcAft>
                <a:buClr>
                  <a:srgbClr val="000000"/>
                </a:buClr>
                <a:buSzPts val="3500"/>
                <a:buFont typeface="Arial"/>
                <a:buChar char="•"/>
              </a:pPr>
              <a:r>
                <a:rPr lang="en-US" sz="3500" b="0" i="0" u="none" strike="noStrike" cap="none">
                  <a:solidFill>
                    <a:srgbClr val="000000"/>
                  </a:solidFill>
                  <a:latin typeface="Calibri"/>
                  <a:ea typeface="Calibri"/>
                  <a:cs typeface="Calibri"/>
                  <a:sym typeface="Calibri"/>
                </a:rPr>
                <a:t>Al completar una tarea en una rama, se puede integrar de nuevo con la rama principal del proyecto. Esta acción se conoce como "fusión". Git intentará combinar los cambios automáticamente, pero si hay conflictos, el desarrollador debe decidir qué cambios conservar. Este proceso es esencial en proyectos colaborativos.</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grpSp>
        <p:nvGrpSpPr>
          <p:cNvPr id="417" name="Google Shape;417;p18"/>
          <p:cNvGrpSpPr/>
          <p:nvPr/>
        </p:nvGrpSpPr>
        <p:grpSpPr>
          <a:xfrm>
            <a:off x="1374903" y="2398856"/>
            <a:ext cx="15864600" cy="3161069"/>
            <a:chOff x="0" y="-314325"/>
            <a:chExt cx="21152800" cy="4214759"/>
          </a:xfrm>
        </p:grpSpPr>
        <p:sp>
          <p:nvSpPr>
            <p:cNvPr id="418" name="Google Shape;418;p18"/>
            <p:cNvSpPr/>
            <p:nvPr/>
          </p:nvSpPr>
          <p:spPr>
            <a:xfrm>
              <a:off x="0" y="0"/>
              <a:ext cx="21152800" cy="3900434"/>
            </a:xfrm>
            <a:custGeom>
              <a:avLst/>
              <a:gdLst/>
              <a:ahLst/>
              <a:cxnLst/>
              <a:rect l="l" t="t" r="r" b="b"/>
              <a:pathLst>
                <a:path w="21152800" h="3900434" extrusionOk="0">
                  <a:moveTo>
                    <a:pt x="0" y="0"/>
                  </a:moveTo>
                  <a:lnTo>
                    <a:pt x="21152800" y="0"/>
                  </a:lnTo>
                  <a:lnTo>
                    <a:pt x="21152800" y="3900434"/>
                  </a:lnTo>
                  <a:lnTo>
                    <a:pt x="0" y="390043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9" name="Google Shape;419;p18"/>
            <p:cNvSpPr txBox="1"/>
            <p:nvPr/>
          </p:nvSpPr>
          <p:spPr>
            <a:xfrm>
              <a:off x="0" y="-314325"/>
              <a:ext cx="21152800" cy="4214759"/>
            </a:xfrm>
            <a:prstGeom prst="rect">
              <a:avLst/>
            </a:prstGeom>
            <a:noFill/>
            <a:ln>
              <a:noFill/>
            </a:ln>
          </p:spPr>
          <p:txBody>
            <a:bodyPr spcFirstLastPara="1" wrap="square" lIns="0" tIns="0" rIns="0" bIns="0" anchor="t" anchorCtr="0">
              <a:noAutofit/>
            </a:bodyPr>
            <a:lstStyle/>
            <a:p>
              <a:pPr marL="401479" marR="0" lvl="1" indent="-192024" algn="l" rtl="0">
                <a:lnSpc>
                  <a:spcPct val="207738"/>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Un conflicto ocurre cuando dos personas modifican la misma parte del código y Git no sabe qué versión conservar. Cuando esto sucede, se alerta al equipo para que revise el archivo y decida cómo combinar los cambios. Aunque puede parecer complicado al inicio, es parte natural del trabajo en equipo.</a:t>
              </a:r>
              <a:endParaRPr/>
            </a:p>
          </p:txBody>
        </p:sp>
      </p:grpSp>
      <p:grpSp>
        <p:nvGrpSpPr>
          <p:cNvPr id="420" name="Google Shape;420;p18"/>
          <p:cNvGrpSpPr/>
          <p:nvPr/>
        </p:nvGrpSpPr>
        <p:grpSpPr>
          <a:xfrm>
            <a:off x="1374901" y="497213"/>
            <a:ext cx="15288901" cy="1256147"/>
            <a:chOff x="0" y="-209550"/>
            <a:chExt cx="20385201" cy="1674862"/>
          </a:xfrm>
        </p:grpSpPr>
        <p:sp>
          <p:nvSpPr>
            <p:cNvPr id="421" name="Google Shape;421;p18"/>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2" name="Google Shape;422;p18"/>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just" rtl="0">
                <a:lnSpc>
                  <a:spcPct val="135569"/>
                </a:lnSpc>
                <a:spcBef>
                  <a:spcPts val="0"/>
                </a:spcBef>
                <a:spcAft>
                  <a:spcPts val="0"/>
                </a:spcAft>
                <a:buNone/>
              </a:pPr>
              <a:r>
                <a:rPr lang="en-US" sz="6098">
                  <a:solidFill>
                    <a:srgbClr val="131416"/>
                  </a:solidFill>
                  <a:latin typeface="Impact"/>
                  <a:ea typeface="Impact"/>
                  <a:cs typeface="Impact"/>
                  <a:sym typeface="Impact"/>
                </a:rPr>
                <a:t>¿Qué es un conflicto?</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grpSp>
        <p:nvGrpSpPr>
          <p:cNvPr id="431" name="Google Shape;431;p19"/>
          <p:cNvGrpSpPr/>
          <p:nvPr/>
        </p:nvGrpSpPr>
        <p:grpSpPr>
          <a:xfrm>
            <a:off x="1374901" y="497213"/>
            <a:ext cx="15288901" cy="1256147"/>
            <a:chOff x="0" y="-209550"/>
            <a:chExt cx="20385201" cy="1674862"/>
          </a:xfrm>
        </p:grpSpPr>
        <p:sp>
          <p:nvSpPr>
            <p:cNvPr id="432" name="Google Shape;432;p19"/>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3" name="Google Shape;433;p19"/>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ctr" rtl="0">
                <a:lnSpc>
                  <a:spcPct val="135569"/>
                </a:lnSpc>
                <a:spcBef>
                  <a:spcPts val="0"/>
                </a:spcBef>
                <a:spcAft>
                  <a:spcPts val="0"/>
                </a:spcAft>
                <a:buNone/>
              </a:pPr>
              <a:r>
                <a:rPr lang="en-US" sz="6098">
                  <a:solidFill>
                    <a:srgbClr val="131416"/>
                  </a:solidFill>
                  <a:latin typeface="Impact"/>
                  <a:ea typeface="Impact"/>
                  <a:cs typeface="Impact"/>
                  <a:sym typeface="Impact"/>
                </a:rPr>
                <a:t>Introducción a GitHub</a:t>
              </a:r>
              <a:endParaRPr/>
            </a:p>
          </p:txBody>
        </p:sp>
      </p:grpSp>
      <p:grpSp>
        <p:nvGrpSpPr>
          <p:cNvPr id="434" name="Google Shape;434;p19"/>
          <p:cNvGrpSpPr/>
          <p:nvPr/>
        </p:nvGrpSpPr>
        <p:grpSpPr>
          <a:xfrm>
            <a:off x="822452" y="1797034"/>
            <a:ext cx="12150598" cy="7233768"/>
            <a:chOff x="-2" y="-746125"/>
            <a:chExt cx="21152802" cy="9645025"/>
          </a:xfrm>
        </p:grpSpPr>
        <p:sp>
          <p:nvSpPr>
            <p:cNvPr id="435" name="Google Shape;435;p19"/>
            <p:cNvSpPr/>
            <p:nvPr/>
          </p:nvSpPr>
          <p:spPr>
            <a:xfrm>
              <a:off x="0" y="0"/>
              <a:ext cx="21152800" cy="6009064"/>
            </a:xfrm>
            <a:custGeom>
              <a:avLst/>
              <a:gdLst/>
              <a:ahLst/>
              <a:cxnLst/>
              <a:rect l="l" t="t" r="r" b="b"/>
              <a:pathLst>
                <a:path w="21152800" h="6009064" extrusionOk="0">
                  <a:moveTo>
                    <a:pt x="0" y="0"/>
                  </a:moveTo>
                  <a:lnTo>
                    <a:pt x="21152800" y="0"/>
                  </a:lnTo>
                  <a:lnTo>
                    <a:pt x="21152800" y="6009064"/>
                  </a:lnTo>
                  <a:lnTo>
                    <a:pt x="0" y="600906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19"/>
            <p:cNvSpPr txBox="1"/>
            <p:nvPr/>
          </p:nvSpPr>
          <p:spPr>
            <a:xfrm>
              <a:off x="-2" y="-746125"/>
              <a:ext cx="21152800" cy="9645025"/>
            </a:xfrm>
            <a:prstGeom prst="rect">
              <a:avLst/>
            </a:prstGeom>
            <a:noFill/>
            <a:ln>
              <a:noFill/>
            </a:ln>
          </p:spPr>
          <p:txBody>
            <a:bodyPr spcFirstLastPara="1" wrap="square" lIns="0" tIns="0" rIns="0" bIns="0" anchor="t" anchorCtr="0">
              <a:noAutofit/>
            </a:bodyPr>
            <a:lstStyle/>
            <a:p>
              <a:pPr marL="401463" marR="0" lvl="1" indent="-192023" algn="l" rtl="0">
                <a:lnSpc>
                  <a:spcPct val="207638"/>
                </a:lnSpc>
                <a:spcBef>
                  <a:spcPts val="0"/>
                </a:spcBef>
                <a:spcAft>
                  <a:spcPts val="0"/>
                </a:spcAft>
                <a:buClr>
                  <a:srgbClr val="131416"/>
                </a:buClr>
                <a:buSzPts val="3024"/>
                <a:buFont typeface="Arial"/>
                <a:buChar char="•"/>
              </a:pPr>
              <a:r>
                <a:rPr lang="en-US" sz="3024" b="0" i="0" u="none" strike="noStrike" cap="none" dirty="0">
                  <a:solidFill>
                    <a:srgbClr val="131416"/>
                  </a:solidFill>
                  <a:latin typeface="Arial"/>
                  <a:ea typeface="Arial"/>
                  <a:cs typeface="Arial"/>
                  <a:sym typeface="Arial"/>
                </a:rPr>
                <a:t>GitHub es </a:t>
              </a:r>
              <a:r>
                <a:rPr lang="en-US" sz="3024" b="0" i="0" u="none" strike="noStrike" cap="none" dirty="0" err="1">
                  <a:solidFill>
                    <a:srgbClr val="131416"/>
                  </a:solidFill>
                  <a:latin typeface="Arial"/>
                  <a:ea typeface="Arial"/>
                  <a:cs typeface="Arial"/>
                  <a:sym typeface="Arial"/>
                </a:rPr>
                <a:t>una</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plataforma</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en</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línea</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que</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aloja</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proyectos</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gestionados</a:t>
              </a:r>
              <a:r>
                <a:rPr lang="en-US" sz="3024" b="0" i="0" u="none" strike="noStrike" cap="none" dirty="0">
                  <a:solidFill>
                    <a:srgbClr val="131416"/>
                  </a:solidFill>
                  <a:latin typeface="Arial"/>
                  <a:ea typeface="Arial"/>
                  <a:cs typeface="Arial"/>
                  <a:sym typeface="Arial"/>
                </a:rPr>
                <a:t> con Git. </a:t>
              </a:r>
              <a:r>
                <a:rPr lang="en-US" sz="3024" b="0" i="0" u="none" strike="noStrike" cap="none" dirty="0" err="1">
                  <a:solidFill>
                    <a:srgbClr val="131416"/>
                  </a:solidFill>
                  <a:latin typeface="Arial"/>
                  <a:ea typeface="Arial"/>
                  <a:cs typeface="Arial"/>
                  <a:sym typeface="Arial"/>
                </a:rPr>
                <a:t>Además</a:t>
              </a:r>
              <a:r>
                <a:rPr lang="en-US" sz="3024" b="0" i="0" u="none" strike="noStrike" cap="none" dirty="0">
                  <a:solidFill>
                    <a:srgbClr val="131416"/>
                  </a:solidFill>
                  <a:latin typeface="Arial"/>
                  <a:ea typeface="Arial"/>
                  <a:cs typeface="Arial"/>
                  <a:sym typeface="Arial"/>
                </a:rPr>
                <a:t> de </a:t>
              </a:r>
              <a:r>
                <a:rPr lang="en-US" sz="3024" b="0" i="0" u="none" strike="noStrike" cap="none" dirty="0" err="1">
                  <a:solidFill>
                    <a:srgbClr val="131416"/>
                  </a:solidFill>
                  <a:latin typeface="Arial"/>
                  <a:ea typeface="Arial"/>
                  <a:cs typeface="Arial"/>
                  <a:sym typeface="Arial"/>
                </a:rPr>
                <a:t>almacenar</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el</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código</a:t>
              </a:r>
              <a:r>
                <a:rPr lang="en-US" sz="3024" b="0" i="0" u="none" strike="noStrike" cap="none" dirty="0">
                  <a:solidFill>
                    <a:srgbClr val="131416"/>
                  </a:solidFill>
                  <a:latin typeface="Arial"/>
                  <a:ea typeface="Arial"/>
                  <a:cs typeface="Arial"/>
                  <a:sym typeface="Arial"/>
                </a:rPr>
                <a:t>, GitHub </a:t>
              </a:r>
              <a:r>
                <a:rPr lang="en-US" sz="3024" b="0" i="0" u="none" strike="noStrike" cap="none" dirty="0" err="1">
                  <a:solidFill>
                    <a:srgbClr val="131416"/>
                  </a:solidFill>
                  <a:latin typeface="Arial"/>
                  <a:ea typeface="Arial"/>
                  <a:cs typeface="Arial"/>
                  <a:sym typeface="Arial"/>
                </a:rPr>
                <a:t>ofrece</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herramientas</a:t>
              </a:r>
              <a:r>
                <a:rPr lang="en-US" sz="3024" b="0" i="0" u="none" strike="noStrike" cap="none" dirty="0">
                  <a:solidFill>
                    <a:srgbClr val="131416"/>
                  </a:solidFill>
                  <a:latin typeface="Arial"/>
                  <a:ea typeface="Arial"/>
                  <a:cs typeface="Arial"/>
                  <a:sym typeface="Arial"/>
                </a:rPr>
                <a:t> para la </a:t>
              </a:r>
              <a:r>
                <a:rPr lang="en-US" sz="3024" b="0" i="0" u="none" strike="noStrike" cap="none" dirty="0" err="1">
                  <a:solidFill>
                    <a:srgbClr val="131416"/>
                  </a:solidFill>
                  <a:latin typeface="Arial"/>
                  <a:ea typeface="Arial"/>
                  <a:cs typeface="Arial"/>
                  <a:sym typeface="Arial"/>
                </a:rPr>
                <a:t>colaboración</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como</a:t>
              </a:r>
              <a:r>
                <a:rPr lang="en-US" sz="3024" b="0" i="0" u="none" strike="noStrike" cap="none" dirty="0">
                  <a:solidFill>
                    <a:srgbClr val="131416"/>
                  </a:solidFill>
                  <a:latin typeface="Arial"/>
                  <a:ea typeface="Arial"/>
                  <a:cs typeface="Arial"/>
                  <a:sym typeface="Arial"/>
                </a:rPr>
                <a:t>:</a:t>
              </a:r>
              <a:endParaRPr dirty="0"/>
            </a:p>
            <a:p>
              <a:pPr marL="401463" marR="0" lvl="1" indent="-192023" algn="l" rtl="0">
                <a:lnSpc>
                  <a:spcPct val="207638"/>
                </a:lnSpc>
                <a:spcBef>
                  <a:spcPts val="0"/>
                </a:spcBef>
                <a:spcAft>
                  <a:spcPts val="0"/>
                </a:spcAft>
                <a:buClr>
                  <a:srgbClr val="131416"/>
                </a:buClr>
                <a:buSzPts val="3024"/>
                <a:buFont typeface="Arial"/>
                <a:buChar char="•"/>
              </a:pPr>
              <a:r>
                <a:rPr lang="en-US" sz="3024" b="0" i="0" u="none" strike="noStrike" cap="none" dirty="0" err="1">
                  <a:solidFill>
                    <a:srgbClr val="131416"/>
                  </a:solidFill>
                  <a:latin typeface="Arial"/>
                  <a:ea typeface="Arial"/>
                  <a:cs typeface="Arial"/>
                  <a:sym typeface="Arial"/>
                </a:rPr>
                <a:t>Seguimiento</a:t>
              </a:r>
              <a:r>
                <a:rPr lang="en-US" sz="3024" b="0" i="0" u="none" strike="noStrike" cap="none" dirty="0">
                  <a:solidFill>
                    <a:srgbClr val="131416"/>
                  </a:solidFill>
                  <a:latin typeface="Arial"/>
                  <a:ea typeface="Arial"/>
                  <a:cs typeface="Arial"/>
                  <a:sym typeface="Arial"/>
                </a:rPr>
                <a:t> de </a:t>
              </a:r>
              <a:r>
                <a:rPr lang="en-US" sz="3024" b="0" i="0" u="none" strike="noStrike" cap="none" dirty="0" err="1">
                  <a:solidFill>
                    <a:srgbClr val="131416"/>
                  </a:solidFill>
                  <a:latin typeface="Arial"/>
                  <a:ea typeface="Arial"/>
                  <a:cs typeface="Arial"/>
                  <a:sym typeface="Arial"/>
                </a:rPr>
                <a:t>tareas</a:t>
              </a:r>
              <a:r>
                <a:rPr lang="en-US" sz="3024" b="0" i="0" u="none" strike="noStrike" cap="none" dirty="0">
                  <a:solidFill>
                    <a:srgbClr val="131416"/>
                  </a:solidFill>
                  <a:latin typeface="Arial"/>
                  <a:ea typeface="Arial"/>
                  <a:cs typeface="Arial"/>
                  <a:sym typeface="Arial"/>
                </a:rPr>
                <a:t> (issues)</a:t>
              </a:r>
              <a:endParaRPr dirty="0"/>
            </a:p>
            <a:p>
              <a:pPr marL="401463" marR="0" lvl="1" indent="-192023" algn="l" rtl="0">
                <a:lnSpc>
                  <a:spcPct val="207638"/>
                </a:lnSpc>
                <a:spcBef>
                  <a:spcPts val="0"/>
                </a:spcBef>
                <a:spcAft>
                  <a:spcPts val="0"/>
                </a:spcAft>
                <a:buClr>
                  <a:srgbClr val="131416"/>
                </a:buClr>
                <a:buSzPts val="3024"/>
                <a:buFont typeface="Arial"/>
                <a:buChar char="•"/>
              </a:pPr>
              <a:r>
                <a:rPr lang="en-US" sz="3024" b="0" i="0" u="none" strike="noStrike" cap="none" dirty="0" err="1">
                  <a:solidFill>
                    <a:srgbClr val="131416"/>
                  </a:solidFill>
                  <a:latin typeface="Arial"/>
                  <a:ea typeface="Arial"/>
                  <a:cs typeface="Arial"/>
                  <a:sym typeface="Arial"/>
                </a:rPr>
                <a:t>Revisión</a:t>
              </a:r>
              <a:r>
                <a:rPr lang="en-US" sz="3024" b="0" i="0" u="none" strike="noStrike" cap="none" dirty="0">
                  <a:solidFill>
                    <a:srgbClr val="131416"/>
                  </a:solidFill>
                  <a:latin typeface="Arial"/>
                  <a:ea typeface="Arial"/>
                  <a:cs typeface="Arial"/>
                  <a:sym typeface="Arial"/>
                </a:rPr>
                <a:t> de </a:t>
              </a:r>
              <a:r>
                <a:rPr lang="en-US" sz="3024" b="0" i="0" u="none" strike="noStrike" cap="none" dirty="0" err="1">
                  <a:solidFill>
                    <a:srgbClr val="131416"/>
                  </a:solidFill>
                  <a:latin typeface="Arial"/>
                  <a:ea typeface="Arial"/>
                  <a:cs typeface="Arial"/>
                  <a:sym typeface="Arial"/>
                </a:rPr>
                <a:t>cambios</a:t>
              </a:r>
              <a:r>
                <a:rPr lang="en-US" sz="3024" b="0" i="0" u="none" strike="noStrike" cap="none" dirty="0">
                  <a:solidFill>
                    <a:srgbClr val="131416"/>
                  </a:solidFill>
                  <a:latin typeface="Arial"/>
                  <a:ea typeface="Arial"/>
                  <a:cs typeface="Arial"/>
                  <a:sym typeface="Arial"/>
                </a:rPr>
                <a:t> (pull requests)</a:t>
              </a:r>
              <a:endParaRPr dirty="0"/>
            </a:p>
            <a:p>
              <a:pPr marL="401463" marR="0" lvl="1" indent="-192023" algn="l" rtl="0">
                <a:lnSpc>
                  <a:spcPct val="207638"/>
                </a:lnSpc>
                <a:spcBef>
                  <a:spcPts val="0"/>
                </a:spcBef>
                <a:spcAft>
                  <a:spcPts val="0"/>
                </a:spcAft>
                <a:buClr>
                  <a:srgbClr val="131416"/>
                </a:buClr>
                <a:buSzPts val="3024"/>
                <a:buFont typeface="Arial"/>
                <a:buChar char="•"/>
              </a:pPr>
              <a:r>
                <a:rPr lang="en-US" sz="3024" b="0" i="0" u="none" strike="noStrike" cap="none" dirty="0" err="1">
                  <a:solidFill>
                    <a:srgbClr val="131416"/>
                  </a:solidFill>
                  <a:latin typeface="Arial"/>
                  <a:ea typeface="Arial"/>
                  <a:cs typeface="Arial"/>
                  <a:sym typeface="Arial"/>
                </a:rPr>
                <a:t>Automatización</a:t>
              </a:r>
              <a:r>
                <a:rPr lang="en-US" sz="3024" b="0" i="0" u="none" strike="noStrike" cap="none" dirty="0">
                  <a:solidFill>
                    <a:srgbClr val="131416"/>
                  </a:solidFill>
                  <a:latin typeface="Arial"/>
                  <a:ea typeface="Arial"/>
                  <a:cs typeface="Arial"/>
                  <a:sym typeface="Arial"/>
                </a:rPr>
                <a:t> de </a:t>
              </a:r>
              <a:r>
                <a:rPr lang="en-US" sz="3024" b="0" i="0" u="none" strike="noStrike" cap="none" dirty="0" err="1">
                  <a:solidFill>
                    <a:srgbClr val="131416"/>
                  </a:solidFill>
                  <a:latin typeface="Arial"/>
                  <a:ea typeface="Arial"/>
                  <a:cs typeface="Arial"/>
                  <a:sym typeface="Arial"/>
                </a:rPr>
                <a:t>procesos</a:t>
              </a:r>
              <a:r>
                <a:rPr lang="en-US" sz="3024" b="0" i="0" u="none" strike="noStrike" cap="none" dirty="0">
                  <a:solidFill>
                    <a:srgbClr val="131416"/>
                  </a:solidFill>
                  <a:latin typeface="Arial"/>
                  <a:ea typeface="Arial"/>
                  <a:cs typeface="Arial"/>
                  <a:sym typeface="Arial"/>
                </a:rPr>
                <a:t> (actions)</a:t>
              </a:r>
              <a:endParaRPr dirty="0"/>
            </a:p>
            <a:p>
              <a:pPr marL="401463" marR="0" lvl="1" indent="-192023" algn="l" rtl="0">
                <a:lnSpc>
                  <a:spcPct val="207638"/>
                </a:lnSpc>
                <a:spcBef>
                  <a:spcPts val="0"/>
                </a:spcBef>
                <a:spcAft>
                  <a:spcPts val="0"/>
                </a:spcAft>
                <a:buClr>
                  <a:srgbClr val="131416"/>
                </a:buClr>
                <a:buSzPts val="3024"/>
                <a:buFont typeface="Arial"/>
                <a:buChar char="•"/>
              </a:pPr>
              <a:r>
                <a:rPr lang="en-US" sz="3024" b="0" i="0" u="none" strike="noStrike" cap="none" dirty="0">
                  <a:solidFill>
                    <a:srgbClr val="131416"/>
                  </a:solidFill>
                  <a:latin typeface="Arial"/>
                  <a:ea typeface="Arial"/>
                  <a:cs typeface="Arial"/>
                  <a:sym typeface="Arial"/>
                </a:rPr>
                <a:t>Es </a:t>
              </a:r>
              <a:r>
                <a:rPr lang="en-US" sz="3024" b="0" i="0" u="none" strike="noStrike" cap="none" dirty="0" err="1">
                  <a:solidFill>
                    <a:srgbClr val="131416"/>
                  </a:solidFill>
                  <a:latin typeface="Arial"/>
                  <a:ea typeface="Arial"/>
                  <a:cs typeface="Arial"/>
                  <a:sym typeface="Arial"/>
                </a:rPr>
                <a:t>una</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herramienta</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esencial</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en</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el</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entorno</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profesional</a:t>
              </a:r>
              <a:r>
                <a:rPr lang="en-US" sz="3024" b="0" i="0" u="none" strike="noStrike" cap="none" dirty="0">
                  <a:solidFill>
                    <a:srgbClr val="131416"/>
                  </a:solidFill>
                  <a:latin typeface="Arial"/>
                  <a:ea typeface="Arial"/>
                  <a:cs typeface="Arial"/>
                  <a:sym typeface="Arial"/>
                </a:rPr>
                <a:t> de </a:t>
              </a:r>
              <a:r>
                <a:rPr lang="en-US" sz="3024" b="0" i="0" u="none" strike="noStrike" cap="none" dirty="0" err="1">
                  <a:solidFill>
                    <a:srgbClr val="131416"/>
                  </a:solidFill>
                  <a:latin typeface="Arial"/>
                  <a:ea typeface="Arial"/>
                  <a:cs typeface="Arial"/>
                  <a:sym typeface="Arial"/>
                </a:rPr>
                <a:t>desarrollo</a:t>
              </a:r>
              <a:r>
                <a:rPr lang="en-US" sz="3024" b="0" i="0" u="none" strike="noStrike" cap="none" dirty="0">
                  <a:solidFill>
                    <a:srgbClr val="131416"/>
                  </a:solidFill>
                  <a:latin typeface="Arial"/>
                  <a:ea typeface="Arial"/>
                  <a:cs typeface="Arial"/>
                  <a:sym typeface="Arial"/>
                </a:rPr>
                <a:t> de software.</a:t>
              </a:r>
              <a:endParaRPr dirty="0"/>
            </a:p>
          </p:txBody>
        </p:sp>
      </p:grpSp>
      <p:sp>
        <p:nvSpPr>
          <p:cNvPr id="437" name="Google Shape;437;p19"/>
          <p:cNvSpPr/>
          <p:nvPr/>
        </p:nvSpPr>
        <p:spPr>
          <a:xfrm>
            <a:off x="13312660" y="4077759"/>
            <a:ext cx="4166988" cy="2743010"/>
          </a:xfrm>
          <a:custGeom>
            <a:avLst/>
            <a:gdLst/>
            <a:ahLst/>
            <a:cxnLst/>
            <a:rect l="l" t="t" r="r" b="b"/>
            <a:pathLst>
              <a:path w="2904739" h="1935283" extrusionOk="0">
                <a:moveTo>
                  <a:pt x="0" y="0"/>
                </a:moveTo>
                <a:lnTo>
                  <a:pt x="2904740" y="0"/>
                </a:lnTo>
                <a:lnTo>
                  <a:pt x="2904740" y="1935283"/>
                </a:lnTo>
                <a:lnTo>
                  <a:pt x="0" y="193528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grpSp>
        <p:nvGrpSpPr>
          <p:cNvPr id="446" name="Google Shape;446;p20"/>
          <p:cNvGrpSpPr/>
          <p:nvPr/>
        </p:nvGrpSpPr>
        <p:grpSpPr>
          <a:xfrm>
            <a:off x="1374901" y="497213"/>
            <a:ext cx="15288901" cy="1256147"/>
            <a:chOff x="0" y="-209550"/>
            <a:chExt cx="20385201" cy="1674862"/>
          </a:xfrm>
        </p:grpSpPr>
        <p:sp>
          <p:nvSpPr>
            <p:cNvPr id="447" name="Google Shape;447;p20"/>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20"/>
            <p:cNvSpPr txBox="1"/>
            <p:nvPr/>
          </p:nvSpPr>
          <p:spPr>
            <a:xfrm>
              <a:off x="0" y="-209550"/>
              <a:ext cx="20385200" cy="1674862"/>
            </a:xfrm>
            <a:prstGeom prst="rect">
              <a:avLst/>
            </a:prstGeom>
            <a:noFill/>
            <a:ln>
              <a:noFill/>
            </a:ln>
          </p:spPr>
          <p:txBody>
            <a:bodyPr spcFirstLastPara="1" wrap="square" lIns="0" tIns="0" rIns="0" bIns="0" anchor="t" anchorCtr="0">
              <a:noAutofit/>
            </a:bodyPr>
            <a:lstStyle/>
            <a:p>
              <a:pPr marL="0" marR="0" lvl="0" indent="0" algn="ctr" rtl="0">
                <a:lnSpc>
                  <a:spcPct val="135569"/>
                </a:lnSpc>
                <a:spcBef>
                  <a:spcPts val="0"/>
                </a:spcBef>
                <a:spcAft>
                  <a:spcPts val="0"/>
                </a:spcAft>
                <a:buNone/>
              </a:pPr>
              <a:r>
                <a:rPr lang="en-US" sz="6098">
                  <a:solidFill>
                    <a:srgbClr val="131416"/>
                  </a:solidFill>
                  <a:latin typeface="Impact"/>
                  <a:ea typeface="Impact"/>
                  <a:cs typeface="Impact"/>
                  <a:sym typeface="Impact"/>
                </a:rPr>
                <a:t>Clonar un proyecto existente</a:t>
              </a:r>
              <a:endParaRPr/>
            </a:p>
          </p:txBody>
        </p:sp>
      </p:grpSp>
      <p:grpSp>
        <p:nvGrpSpPr>
          <p:cNvPr id="449" name="Google Shape;449;p20"/>
          <p:cNvGrpSpPr/>
          <p:nvPr/>
        </p:nvGrpSpPr>
        <p:grpSpPr>
          <a:xfrm>
            <a:off x="1374903" y="2398856"/>
            <a:ext cx="15864600" cy="4742381"/>
            <a:chOff x="0" y="-314325"/>
            <a:chExt cx="21152800" cy="6323174"/>
          </a:xfrm>
        </p:grpSpPr>
        <p:sp>
          <p:nvSpPr>
            <p:cNvPr id="450" name="Google Shape;450;p20"/>
            <p:cNvSpPr/>
            <p:nvPr/>
          </p:nvSpPr>
          <p:spPr>
            <a:xfrm>
              <a:off x="0" y="0"/>
              <a:ext cx="21152800" cy="6008849"/>
            </a:xfrm>
            <a:custGeom>
              <a:avLst/>
              <a:gdLst/>
              <a:ahLst/>
              <a:cxnLst/>
              <a:rect l="l" t="t" r="r" b="b"/>
              <a:pathLst>
                <a:path w="21152800" h="6008849" extrusionOk="0">
                  <a:moveTo>
                    <a:pt x="0" y="0"/>
                  </a:moveTo>
                  <a:lnTo>
                    <a:pt x="21152800" y="0"/>
                  </a:lnTo>
                  <a:lnTo>
                    <a:pt x="21152800" y="6008849"/>
                  </a:lnTo>
                  <a:lnTo>
                    <a:pt x="0" y="6008849"/>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1" name="Google Shape;451;p20"/>
            <p:cNvSpPr txBox="1"/>
            <p:nvPr/>
          </p:nvSpPr>
          <p:spPr>
            <a:xfrm>
              <a:off x="0" y="-314325"/>
              <a:ext cx="21152800" cy="6323174"/>
            </a:xfrm>
            <a:prstGeom prst="rect">
              <a:avLst/>
            </a:prstGeom>
            <a:noFill/>
            <a:ln>
              <a:noFill/>
            </a:ln>
          </p:spPr>
          <p:txBody>
            <a:bodyPr spcFirstLastPara="1" wrap="square" lIns="0" tIns="0" rIns="0" bIns="0" anchor="t" anchorCtr="0">
              <a:noAutofit/>
            </a:bodyPr>
            <a:lstStyle/>
            <a:p>
              <a:pPr marL="401479" marR="0" lvl="1" indent="-192024" algn="l" rtl="0">
                <a:lnSpc>
                  <a:spcPct val="207738"/>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Si ya existe un repositorio remoto, cualquier persona con acceso puede descargar una copia en su computadora para trabajar en él. A esto se le llama “clonar un repositorio”. Esta acción crea una versión exacta del proyecto, incluyendo todo su historial.</a:t>
              </a:r>
              <a:endParaRPr/>
            </a:p>
            <a:p>
              <a:pPr marL="401463" marR="0" lvl="1" indent="-192023" algn="l" rtl="0">
                <a:lnSpc>
                  <a:spcPct val="207638"/>
                </a:lnSpc>
                <a:spcBef>
                  <a:spcPts val="0"/>
                </a:spcBef>
                <a:spcAft>
                  <a:spcPts val="0"/>
                </a:spcAft>
                <a:buClr>
                  <a:srgbClr val="131416"/>
                </a:buClr>
                <a:buSzPts val="3024"/>
                <a:buFont typeface="Arial"/>
                <a:buChar char="•"/>
              </a:pPr>
              <a:r>
                <a:rPr lang="en-US" sz="3024" b="0" i="0" u="none" strike="noStrike" cap="none">
                  <a:solidFill>
                    <a:srgbClr val="131416"/>
                  </a:solidFill>
                  <a:latin typeface="Arial"/>
                  <a:ea typeface="Arial"/>
                  <a:cs typeface="Arial"/>
                  <a:sym typeface="Arial"/>
                </a:rPr>
                <a:t>Una vez se han hecho avances en el proyecto, es posible compartirlos con los demás integrantes subiendo las modificaciones al repositorio remoto. Este proceso permite que todos trabajen de forma sincronizada, evitando duplicaciones o sobrescrituras.</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grpSp>
        <p:nvGrpSpPr>
          <p:cNvPr id="460" name="Google Shape;460;p21"/>
          <p:cNvGrpSpPr/>
          <p:nvPr/>
        </p:nvGrpSpPr>
        <p:grpSpPr>
          <a:xfrm>
            <a:off x="1374901" y="654376"/>
            <a:ext cx="15288901" cy="1805639"/>
            <a:chOff x="0" y="0"/>
            <a:chExt cx="20385201" cy="2407518"/>
          </a:xfrm>
        </p:grpSpPr>
        <p:sp>
          <p:nvSpPr>
            <p:cNvPr id="461" name="Google Shape;461;p21"/>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2" name="Google Shape;462;p21"/>
            <p:cNvSpPr txBox="1"/>
            <p:nvPr/>
          </p:nvSpPr>
          <p:spPr>
            <a:xfrm>
              <a:off x="0" y="732656"/>
              <a:ext cx="20385200" cy="1674862"/>
            </a:xfrm>
            <a:prstGeom prst="rect">
              <a:avLst/>
            </a:prstGeom>
            <a:noFill/>
            <a:ln>
              <a:noFill/>
            </a:ln>
          </p:spPr>
          <p:txBody>
            <a:bodyPr spcFirstLastPara="1" wrap="square" lIns="0" tIns="0" rIns="0" bIns="0" anchor="t" anchorCtr="0">
              <a:noAutofit/>
            </a:bodyPr>
            <a:lstStyle/>
            <a:p>
              <a:pPr marL="0" marR="0" lvl="0" indent="0" algn="ctr" rtl="0">
                <a:lnSpc>
                  <a:spcPct val="135569"/>
                </a:lnSpc>
                <a:spcBef>
                  <a:spcPts val="0"/>
                </a:spcBef>
                <a:spcAft>
                  <a:spcPts val="0"/>
                </a:spcAft>
                <a:buNone/>
              </a:pPr>
              <a:r>
                <a:rPr lang="en-US" sz="6098" dirty="0" err="1">
                  <a:solidFill>
                    <a:srgbClr val="131416"/>
                  </a:solidFill>
                  <a:latin typeface="Impact"/>
                  <a:ea typeface="Impact"/>
                  <a:cs typeface="Impact"/>
                  <a:sym typeface="Impact"/>
                </a:rPr>
                <a:t>Colaboración</a:t>
              </a:r>
              <a:r>
                <a:rPr lang="en-US" sz="6098" dirty="0">
                  <a:solidFill>
                    <a:srgbClr val="131416"/>
                  </a:solidFill>
                  <a:latin typeface="Impact"/>
                  <a:ea typeface="Impact"/>
                  <a:cs typeface="Impact"/>
                  <a:sym typeface="Impact"/>
                </a:rPr>
                <a:t> con Fork y Pull Request</a:t>
              </a:r>
              <a:endParaRPr dirty="0"/>
            </a:p>
          </p:txBody>
        </p:sp>
      </p:grpSp>
      <p:grpSp>
        <p:nvGrpSpPr>
          <p:cNvPr id="463" name="Google Shape;463;p21"/>
          <p:cNvGrpSpPr/>
          <p:nvPr/>
        </p:nvGrpSpPr>
        <p:grpSpPr>
          <a:xfrm>
            <a:off x="1374901" y="2743654"/>
            <a:ext cx="14455647" cy="4799692"/>
            <a:chOff x="0" y="-314325"/>
            <a:chExt cx="21152800" cy="6399590"/>
          </a:xfrm>
        </p:grpSpPr>
        <p:sp>
          <p:nvSpPr>
            <p:cNvPr id="464" name="Google Shape;464;p21"/>
            <p:cNvSpPr/>
            <p:nvPr/>
          </p:nvSpPr>
          <p:spPr>
            <a:xfrm>
              <a:off x="0" y="0"/>
              <a:ext cx="21152800" cy="6085264"/>
            </a:xfrm>
            <a:custGeom>
              <a:avLst/>
              <a:gdLst/>
              <a:ahLst/>
              <a:cxnLst/>
              <a:rect l="l" t="t" r="r" b="b"/>
              <a:pathLst>
                <a:path w="21152800" h="6085264" extrusionOk="0">
                  <a:moveTo>
                    <a:pt x="0" y="0"/>
                  </a:moveTo>
                  <a:lnTo>
                    <a:pt x="21152800" y="0"/>
                  </a:lnTo>
                  <a:lnTo>
                    <a:pt x="21152800" y="6085264"/>
                  </a:lnTo>
                  <a:lnTo>
                    <a:pt x="0" y="608526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5" name="Google Shape;465;p21"/>
            <p:cNvSpPr txBox="1"/>
            <p:nvPr/>
          </p:nvSpPr>
          <p:spPr>
            <a:xfrm>
              <a:off x="0" y="-314325"/>
              <a:ext cx="21152800" cy="6399590"/>
            </a:xfrm>
            <a:prstGeom prst="rect">
              <a:avLst/>
            </a:prstGeom>
            <a:noFill/>
            <a:ln>
              <a:noFill/>
            </a:ln>
          </p:spPr>
          <p:txBody>
            <a:bodyPr spcFirstLastPara="1" wrap="square" lIns="0" tIns="0" rIns="0" bIns="0" anchor="t" anchorCtr="0">
              <a:noAutofit/>
            </a:bodyPr>
            <a:lstStyle/>
            <a:p>
              <a:pPr marL="401463" marR="0" lvl="1" indent="-192023" algn="l" rtl="0">
                <a:lnSpc>
                  <a:spcPct val="207638"/>
                </a:lnSpc>
                <a:spcBef>
                  <a:spcPts val="0"/>
                </a:spcBef>
                <a:spcAft>
                  <a:spcPts val="0"/>
                </a:spcAft>
                <a:buClr>
                  <a:srgbClr val="131416"/>
                </a:buClr>
                <a:buSzPts val="3024"/>
                <a:buFont typeface="Arial"/>
                <a:buChar char="•"/>
              </a:pPr>
              <a:r>
                <a:rPr lang="en-US" sz="3024" b="0" i="0" u="none" strike="noStrike" cap="none" dirty="0">
                  <a:solidFill>
                    <a:srgbClr val="131416"/>
                  </a:solidFill>
                  <a:latin typeface="Arial"/>
                  <a:ea typeface="Arial"/>
                  <a:cs typeface="Arial"/>
                  <a:sym typeface="Arial"/>
                </a:rPr>
                <a:t>En </a:t>
              </a:r>
              <a:r>
                <a:rPr lang="en-US" sz="3024" b="0" i="0" u="none" strike="noStrike" cap="none" dirty="0" err="1">
                  <a:solidFill>
                    <a:srgbClr val="131416"/>
                  </a:solidFill>
                  <a:latin typeface="Arial"/>
                  <a:ea typeface="Arial"/>
                  <a:cs typeface="Arial"/>
                  <a:sym typeface="Arial"/>
                </a:rPr>
                <a:t>proyectos</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públicos</a:t>
              </a:r>
              <a:r>
                <a:rPr lang="en-US" sz="3024" b="0" i="0" u="none" strike="noStrike" cap="none" dirty="0">
                  <a:solidFill>
                    <a:srgbClr val="131416"/>
                  </a:solidFill>
                  <a:latin typeface="Arial"/>
                  <a:ea typeface="Arial"/>
                  <a:cs typeface="Arial"/>
                  <a:sym typeface="Arial"/>
                </a:rPr>
                <a:t> o de </a:t>
              </a:r>
              <a:r>
                <a:rPr lang="en-US" sz="3024" b="0" i="0" u="none" strike="noStrike" cap="none" dirty="0" err="1">
                  <a:solidFill>
                    <a:srgbClr val="131416"/>
                  </a:solidFill>
                  <a:latin typeface="Arial"/>
                  <a:ea typeface="Arial"/>
                  <a:cs typeface="Arial"/>
                  <a:sym typeface="Arial"/>
                </a:rPr>
                <a:t>código</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abierto</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muchas</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veces</a:t>
              </a:r>
              <a:r>
                <a:rPr lang="en-US" sz="3024" b="0" i="0" u="none" strike="noStrike" cap="none" dirty="0">
                  <a:solidFill>
                    <a:srgbClr val="131416"/>
                  </a:solidFill>
                  <a:latin typeface="Arial"/>
                  <a:ea typeface="Arial"/>
                  <a:cs typeface="Arial"/>
                  <a:sym typeface="Arial"/>
                </a:rPr>
                <a:t> no se </a:t>
              </a:r>
              <a:r>
                <a:rPr lang="en-US" sz="3024" b="0" i="0" u="none" strike="noStrike" cap="none" dirty="0" err="1">
                  <a:solidFill>
                    <a:srgbClr val="131416"/>
                  </a:solidFill>
                  <a:latin typeface="Arial"/>
                  <a:ea typeface="Arial"/>
                  <a:cs typeface="Arial"/>
                  <a:sym typeface="Arial"/>
                </a:rPr>
                <a:t>tiene</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acceso</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directo</a:t>
              </a:r>
              <a:r>
                <a:rPr lang="en-US" sz="3024" b="0" i="0" u="none" strike="noStrike" cap="none" dirty="0">
                  <a:solidFill>
                    <a:srgbClr val="131416"/>
                  </a:solidFill>
                  <a:latin typeface="Arial"/>
                  <a:ea typeface="Arial"/>
                  <a:cs typeface="Arial"/>
                  <a:sym typeface="Arial"/>
                </a:rPr>
                <a:t> para </a:t>
              </a:r>
              <a:r>
                <a:rPr lang="en-US" sz="3024" b="0" i="0" u="none" strike="noStrike" cap="none" dirty="0" err="1">
                  <a:solidFill>
                    <a:srgbClr val="131416"/>
                  </a:solidFill>
                  <a:latin typeface="Arial"/>
                  <a:ea typeface="Arial"/>
                  <a:cs typeface="Arial"/>
                  <a:sym typeface="Arial"/>
                </a:rPr>
                <a:t>editar</a:t>
              </a:r>
              <a:r>
                <a:rPr lang="en-US" sz="3024" b="0" i="0" u="none" strike="noStrike" cap="none" dirty="0">
                  <a:solidFill>
                    <a:srgbClr val="131416"/>
                  </a:solidFill>
                  <a:latin typeface="Arial"/>
                  <a:ea typeface="Arial"/>
                  <a:cs typeface="Arial"/>
                  <a:sym typeface="Arial"/>
                </a:rPr>
                <a:t>. En </a:t>
              </a:r>
              <a:r>
                <a:rPr lang="en-US" sz="3024" b="0" i="0" u="none" strike="noStrike" cap="none" dirty="0" err="1">
                  <a:solidFill>
                    <a:srgbClr val="131416"/>
                  </a:solidFill>
                  <a:latin typeface="Arial"/>
                  <a:ea typeface="Arial"/>
                  <a:cs typeface="Arial"/>
                  <a:sym typeface="Arial"/>
                </a:rPr>
                <a:t>estos</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casos</a:t>
              </a:r>
              <a:r>
                <a:rPr lang="en-US" sz="3024" b="0" i="0" u="none" strike="noStrike" cap="none" dirty="0">
                  <a:solidFill>
                    <a:srgbClr val="131416"/>
                  </a:solidFill>
                  <a:latin typeface="Arial"/>
                  <a:ea typeface="Arial"/>
                  <a:cs typeface="Arial"/>
                  <a:sym typeface="Arial"/>
                </a:rPr>
                <a:t>, se </a:t>
              </a:r>
              <a:r>
                <a:rPr lang="en-US" sz="3024" b="0" i="0" u="none" strike="noStrike" cap="none" dirty="0" err="1">
                  <a:solidFill>
                    <a:srgbClr val="131416"/>
                  </a:solidFill>
                  <a:latin typeface="Arial"/>
                  <a:ea typeface="Arial"/>
                  <a:cs typeface="Arial"/>
                  <a:sym typeface="Arial"/>
                </a:rPr>
                <a:t>puede</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hacer</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una</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copia</a:t>
              </a:r>
              <a:r>
                <a:rPr lang="en-US" sz="3024" b="0" i="0" u="none" strike="noStrike" cap="none" dirty="0">
                  <a:solidFill>
                    <a:srgbClr val="131416"/>
                  </a:solidFill>
                  <a:latin typeface="Arial"/>
                  <a:ea typeface="Arial"/>
                  <a:cs typeface="Arial"/>
                  <a:sym typeface="Arial"/>
                </a:rPr>
                <a:t> del </a:t>
              </a:r>
              <a:r>
                <a:rPr lang="en-US" sz="3024" b="0" i="0" u="none" strike="noStrike" cap="none" dirty="0" err="1">
                  <a:solidFill>
                    <a:srgbClr val="131416"/>
                  </a:solidFill>
                  <a:latin typeface="Arial"/>
                  <a:ea typeface="Arial"/>
                  <a:cs typeface="Arial"/>
                  <a:sym typeface="Arial"/>
                </a:rPr>
                <a:t>proyecto</a:t>
              </a:r>
              <a:r>
                <a:rPr lang="en-US" sz="3024" b="0" i="0" u="none" strike="noStrike" cap="none" dirty="0">
                  <a:solidFill>
                    <a:srgbClr val="131416"/>
                  </a:solidFill>
                  <a:latin typeface="Arial"/>
                  <a:ea typeface="Arial"/>
                  <a:cs typeface="Arial"/>
                  <a:sym typeface="Arial"/>
                </a:rPr>
                <a:t> (fork), </a:t>
              </a:r>
              <a:r>
                <a:rPr lang="en-US" sz="3024" b="0" i="0" u="none" strike="noStrike" cap="none" dirty="0" err="1">
                  <a:solidFill>
                    <a:srgbClr val="131416"/>
                  </a:solidFill>
                  <a:latin typeface="Arial"/>
                  <a:ea typeface="Arial"/>
                  <a:cs typeface="Arial"/>
                  <a:sym typeface="Arial"/>
                </a:rPr>
                <a:t>realizar</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cambios</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en</a:t>
              </a:r>
              <a:r>
                <a:rPr lang="en-US" sz="3024" b="0" i="0" u="none" strike="noStrike" cap="none" dirty="0">
                  <a:solidFill>
                    <a:srgbClr val="131416"/>
                  </a:solidFill>
                  <a:latin typeface="Arial"/>
                  <a:ea typeface="Arial"/>
                  <a:cs typeface="Arial"/>
                  <a:sym typeface="Arial"/>
                </a:rPr>
                <a:t> la </a:t>
              </a:r>
              <a:r>
                <a:rPr lang="en-US" sz="3024" b="0" i="0" u="none" strike="noStrike" cap="none" dirty="0" err="1">
                  <a:solidFill>
                    <a:srgbClr val="131416"/>
                  </a:solidFill>
                  <a:latin typeface="Arial"/>
                  <a:ea typeface="Arial"/>
                  <a:cs typeface="Arial"/>
                  <a:sym typeface="Arial"/>
                </a:rPr>
                <a:t>copia</a:t>
              </a:r>
              <a:r>
                <a:rPr lang="en-US" sz="3024" b="0" i="0" u="none" strike="noStrike" cap="none" dirty="0">
                  <a:solidFill>
                    <a:srgbClr val="131416"/>
                  </a:solidFill>
                  <a:latin typeface="Arial"/>
                  <a:ea typeface="Arial"/>
                  <a:cs typeface="Arial"/>
                  <a:sym typeface="Arial"/>
                </a:rPr>
                <a:t>, y luego </a:t>
              </a:r>
              <a:r>
                <a:rPr lang="en-US" sz="3024" b="0" i="0" u="none" strike="noStrike" cap="none" dirty="0" err="1">
                  <a:solidFill>
                    <a:srgbClr val="131416"/>
                  </a:solidFill>
                  <a:latin typeface="Arial"/>
                  <a:ea typeface="Arial"/>
                  <a:cs typeface="Arial"/>
                  <a:sym typeface="Arial"/>
                </a:rPr>
                <a:t>enviar</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una</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solicitud</a:t>
              </a:r>
              <a:r>
                <a:rPr lang="en-US" sz="3024" b="0" i="0" u="none" strike="noStrike" cap="none" dirty="0">
                  <a:solidFill>
                    <a:srgbClr val="131416"/>
                  </a:solidFill>
                  <a:latin typeface="Arial"/>
                  <a:ea typeface="Arial"/>
                  <a:cs typeface="Arial"/>
                  <a:sym typeface="Arial"/>
                </a:rPr>
                <a:t> al </a:t>
              </a:r>
              <a:r>
                <a:rPr lang="en-US" sz="3024" b="0" i="0" u="none" strike="noStrike" cap="none" dirty="0" err="1">
                  <a:solidFill>
                    <a:srgbClr val="131416"/>
                  </a:solidFill>
                  <a:latin typeface="Arial"/>
                  <a:ea typeface="Arial"/>
                  <a:cs typeface="Arial"/>
                  <a:sym typeface="Arial"/>
                </a:rPr>
                <a:t>autor</a:t>
              </a:r>
              <a:r>
                <a:rPr lang="en-US" sz="3024" b="0" i="0" u="none" strike="noStrike" cap="none" dirty="0">
                  <a:solidFill>
                    <a:srgbClr val="131416"/>
                  </a:solidFill>
                  <a:latin typeface="Arial"/>
                  <a:ea typeface="Arial"/>
                  <a:cs typeface="Arial"/>
                  <a:sym typeface="Arial"/>
                </a:rPr>
                <a:t> original (pull request) para </a:t>
              </a:r>
              <a:r>
                <a:rPr lang="en-US" sz="3024" b="0" i="0" u="none" strike="noStrike" cap="none" dirty="0" err="1">
                  <a:solidFill>
                    <a:srgbClr val="131416"/>
                  </a:solidFill>
                  <a:latin typeface="Arial"/>
                  <a:ea typeface="Arial"/>
                  <a:cs typeface="Arial"/>
                  <a:sym typeface="Arial"/>
                </a:rPr>
                <a:t>que</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evalúe</a:t>
              </a:r>
              <a:r>
                <a:rPr lang="en-US" sz="3024" b="0" i="0" u="none" strike="noStrike" cap="none" dirty="0">
                  <a:solidFill>
                    <a:srgbClr val="131416"/>
                  </a:solidFill>
                  <a:latin typeface="Arial"/>
                  <a:ea typeface="Arial"/>
                  <a:cs typeface="Arial"/>
                  <a:sym typeface="Arial"/>
                </a:rPr>
                <a:t> y </a:t>
              </a:r>
              <a:r>
                <a:rPr lang="en-US" sz="3024" b="0" i="0" u="none" strike="noStrike" cap="none" dirty="0" err="1">
                  <a:solidFill>
                    <a:srgbClr val="131416"/>
                  </a:solidFill>
                  <a:latin typeface="Arial"/>
                  <a:ea typeface="Arial"/>
                  <a:cs typeface="Arial"/>
                  <a:sym typeface="Arial"/>
                </a:rPr>
                <a:t>acepte</a:t>
              </a:r>
              <a:r>
                <a:rPr lang="en-US" sz="3024" b="0" i="0" u="none" strike="noStrike" cap="none" dirty="0">
                  <a:solidFill>
                    <a:srgbClr val="131416"/>
                  </a:solidFill>
                  <a:latin typeface="Arial"/>
                  <a:ea typeface="Arial"/>
                  <a:cs typeface="Arial"/>
                  <a:sym typeface="Arial"/>
                </a:rPr>
                <a:t> las </a:t>
              </a:r>
              <a:r>
                <a:rPr lang="en-US" sz="3024" b="0" i="0" u="none" strike="noStrike" cap="none" dirty="0" err="1">
                  <a:solidFill>
                    <a:srgbClr val="131416"/>
                  </a:solidFill>
                  <a:latin typeface="Arial"/>
                  <a:ea typeface="Arial"/>
                  <a:cs typeface="Arial"/>
                  <a:sym typeface="Arial"/>
                </a:rPr>
                <a:t>mejoras</a:t>
              </a:r>
              <a:r>
                <a:rPr lang="en-US" sz="3024" b="0" i="0" u="none" strike="noStrike" cap="none" dirty="0">
                  <a:solidFill>
                    <a:srgbClr val="131416"/>
                  </a:solidFill>
                  <a:latin typeface="Arial"/>
                  <a:ea typeface="Arial"/>
                  <a:cs typeface="Arial"/>
                  <a:sym typeface="Arial"/>
                </a:rPr>
                <a:t>.</a:t>
              </a:r>
              <a:endParaRPr dirty="0"/>
            </a:p>
            <a:p>
              <a:pPr marL="401463" marR="0" lvl="1" indent="-192023" algn="l" rtl="0">
                <a:lnSpc>
                  <a:spcPct val="207638"/>
                </a:lnSpc>
                <a:spcBef>
                  <a:spcPts val="0"/>
                </a:spcBef>
                <a:spcAft>
                  <a:spcPts val="0"/>
                </a:spcAft>
                <a:buClr>
                  <a:srgbClr val="131416"/>
                </a:buClr>
                <a:buSzPts val="3024"/>
                <a:buFont typeface="Arial"/>
                <a:buChar char="•"/>
              </a:pPr>
              <a:r>
                <a:rPr lang="en-US" sz="3024" b="0" i="0" u="none" strike="noStrike" cap="none" dirty="0">
                  <a:solidFill>
                    <a:srgbClr val="131416"/>
                  </a:solidFill>
                  <a:latin typeface="Arial"/>
                  <a:ea typeface="Arial"/>
                  <a:cs typeface="Arial"/>
                  <a:sym typeface="Arial"/>
                </a:rPr>
                <a:t>Este </a:t>
              </a:r>
              <a:r>
                <a:rPr lang="en-US" sz="3024" b="0" i="0" u="none" strike="noStrike" cap="none" dirty="0" err="1">
                  <a:solidFill>
                    <a:srgbClr val="131416"/>
                  </a:solidFill>
                  <a:latin typeface="Arial"/>
                  <a:ea typeface="Arial"/>
                  <a:cs typeface="Arial"/>
                  <a:sym typeface="Arial"/>
                </a:rPr>
                <a:t>modelo</a:t>
              </a:r>
              <a:r>
                <a:rPr lang="en-US" sz="3024" b="0" i="0" u="none" strike="noStrike" cap="none" dirty="0">
                  <a:solidFill>
                    <a:srgbClr val="131416"/>
                  </a:solidFill>
                  <a:latin typeface="Arial"/>
                  <a:ea typeface="Arial"/>
                  <a:cs typeface="Arial"/>
                  <a:sym typeface="Arial"/>
                </a:rPr>
                <a:t> de </a:t>
              </a:r>
              <a:r>
                <a:rPr lang="en-US" sz="3024" b="0" i="0" u="none" strike="noStrike" cap="none" dirty="0" err="1">
                  <a:solidFill>
                    <a:srgbClr val="131416"/>
                  </a:solidFill>
                  <a:latin typeface="Arial"/>
                  <a:ea typeface="Arial"/>
                  <a:cs typeface="Arial"/>
                  <a:sym typeface="Arial"/>
                </a:rPr>
                <a:t>colaboración</a:t>
              </a:r>
              <a:r>
                <a:rPr lang="en-US" sz="3024" b="0" i="0" u="none" strike="noStrike" cap="none" dirty="0">
                  <a:solidFill>
                    <a:srgbClr val="131416"/>
                  </a:solidFill>
                  <a:latin typeface="Arial"/>
                  <a:ea typeface="Arial"/>
                  <a:cs typeface="Arial"/>
                  <a:sym typeface="Arial"/>
                </a:rPr>
                <a:t> es </a:t>
              </a:r>
              <a:r>
                <a:rPr lang="en-US" sz="3024" b="0" i="0" u="none" strike="noStrike" cap="none" dirty="0" err="1">
                  <a:solidFill>
                    <a:srgbClr val="131416"/>
                  </a:solidFill>
                  <a:latin typeface="Arial"/>
                  <a:ea typeface="Arial"/>
                  <a:cs typeface="Arial"/>
                  <a:sym typeface="Arial"/>
                </a:rPr>
                <a:t>ampliamente</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usado</a:t>
              </a:r>
              <a:r>
                <a:rPr lang="en-US" sz="3024" b="0" i="0" u="none" strike="noStrike" cap="none" dirty="0">
                  <a:solidFill>
                    <a:srgbClr val="131416"/>
                  </a:solidFill>
                  <a:latin typeface="Arial"/>
                  <a:ea typeface="Arial"/>
                  <a:cs typeface="Arial"/>
                  <a:sym typeface="Arial"/>
                </a:rPr>
                <a:t> </a:t>
              </a:r>
              <a:r>
                <a:rPr lang="en-US" sz="3024" b="0" i="0" u="none" strike="noStrike" cap="none" dirty="0" err="1">
                  <a:solidFill>
                    <a:srgbClr val="131416"/>
                  </a:solidFill>
                  <a:latin typeface="Arial"/>
                  <a:ea typeface="Arial"/>
                  <a:cs typeface="Arial"/>
                  <a:sym typeface="Arial"/>
                </a:rPr>
                <a:t>en</a:t>
              </a:r>
              <a:r>
                <a:rPr lang="en-US" sz="3024" b="0" i="0" u="none" strike="noStrike" cap="none" dirty="0">
                  <a:solidFill>
                    <a:srgbClr val="131416"/>
                  </a:solidFill>
                  <a:latin typeface="Arial"/>
                  <a:ea typeface="Arial"/>
                  <a:cs typeface="Arial"/>
                  <a:sym typeface="Arial"/>
                </a:rPr>
                <a:t> comunidades </a:t>
              </a:r>
              <a:r>
                <a:rPr lang="en-US" sz="3024" b="0" i="0" u="none" strike="noStrike" cap="none" dirty="0" err="1">
                  <a:solidFill>
                    <a:srgbClr val="131416"/>
                  </a:solidFill>
                  <a:latin typeface="Arial"/>
                  <a:ea typeface="Arial"/>
                  <a:cs typeface="Arial"/>
                  <a:sym typeface="Arial"/>
                </a:rPr>
                <a:t>como</a:t>
              </a:r>
              <a:r>
                <a:rPr lang="en-US" sz="3024" b="0" i="0" u="none" strike="noStrike" cap="none" dirty="0">
                  <a:solidFill>
                    <a:srgbClr val="131416"/>
                  </a:solidFill>
                  <a:latin typeface="Arial"/>
                  <a:ea typeface="Arial"/>
                  <a:cs typeface="Arial"/>
                  <a:sym typeface="Arial"/>
                </a:rPr>
                <a:t> GitHub.</a:t>
              </a:r>
              <a:endParaRPr dirty="0"/>
            </a:p>
            <a:p>
              <a:pPr marL="401463" marR="0" lvl="1" indent="0" algn="l" rtl="0">
                <a:lnSpc>
                  <a:spcPct val="207638"/>
                </a:lnSpc>
                <a:spcBef>
                  <a:spcPts val="0"/>
                </a:spcBef>
                <a:spcAft>
                  <a:spcPts val="0"/>
                </a:spcAft>
                <a:buClr>
                  <a:schemeClr val="dk1"/>
                </a:buClr>
                <a:buSzPts val="3024"/>
                <a:buFont typeface="Arial"/>
                <a:buNone/>
              </a:pPr>
              <a:endParaRPr sz="3024" b="0" i="0" u="none" strike="noStrike" cap="none" dirty="0">
                <a:solidFill>
                  <a:srgbClr val="131416"/>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grpSp>
        <p:nvGrpSpPr>
          <p:cNvPr id="474" name="Google Shape;474;p22"/>
          <p:cNvGrpSpPr/>
          <p:nvPr/>
        </p:nvGrpSpPr>
        <p:grpSpPr>
          <a:xfrm>
            <a:off x="4487895" y="3966084"/>
            <a:ext cx="9312212" cy="1926649"/>
            <a:chOff x="0" y="-285750"/>
            <a:chExt cx="6214547" cy="1285758"/>
          </a:xfrm>
        </p:grpSpPr>
        <p:sp>
          <p:nvSpPr>
            <p:cNvPr id="475" name="Google Shape;475;p22"/>
            <p:cNvSpPr/>
            <p:nvPr/>
          </p:nvSpPr>
          <p:spPr>
            <a:xfrm>
              <a:off x="0" y="0"/>
              <a:ext cx="6214547" cy="1000008"/>
            </a:xfrm>
            <a:custGeom>
              <a:avLst/>
              <a:gdLst/>
              <a:ahLst/>
              <a:cxnLst/>
              <a:rect l="l" t="t" r="r" b="b"/>
              <a:pathLst>
                <a:path w="6214547" h="1000008" extrusionOk="0">
                  <a:moveTo>
                    <a:pt x="0" y="0"/>
                  </a:moveTo>
                  <a:lnTo>
                    <a:pt x="6214547" y="0"/>
                  </a:lnTo>
                  <a:lnTo>
                    <a:pt x="6214547" y="1000008"/>
                  </a:lnTo>
                  <a:lnTo>
                    <a:pt x="0" y="1000008"/>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6" name="Google Shape;476;p22"/>
            <p:cNvSpPr txBox="1"/>
            <p:nvPr/>
          </p:nvSpPr>
          <p:spPr>
            <a:xfrm>
              <a:off x="0" y="-285750"/>
              <a:ext cx="6214546" cy="1285758"/>
            </a:xfrm>
            <a:prstGeom prst="rect">
              <a:avLst/>
            </a:prstGeom>
            <a:noFill/>
            <a:ln>
              <a:noFill/>
            </a:ln>
          </p:spPr>
          <p:txBody>
            <a:bodyPr spcFirstLastPara="1" wrap="square" lIns="0" tIns="0" rIns="0" bIns="0" anchor="t" anchorCtr="0">
              <a:noAutofit/>
            </a:bodyPr>
            <a:lstStyle/>
            <a:p>
              <a:pPr marL="0" marR="0" lvl="0" indent="0" algn="ctr" rtl="0">
                <a:lnSpc>
                  <a:spcPct val="135591"/>
                </a:lnSpc>
                <a:spcBef>
                  <a:spcPts val="0"/>
                </a:spcBef>
                <a:spcAft>
                  <a:spcPts val="0"/>
                </a:spcAft>
                <a:buNone/>
              </a:pPr>
              <a:r>
                <a:rPr lang="en-US" sz="8297">
                  <a:solidFill>
                    <a:srgbClr val="131416"/>
                  </a:solidFill>
                  <a:latin typeface="Impact"/>
                  <a:ea typeface="Impact"/>
                  <a:cs typeface="Impact"/>
                  <a:sym typeface="Impact"/>
                </a:rPr>
                <a:t>Conclusiones</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grpSp>
        <p:nvGrpSpPr>
          <p:cNvPr id="485" name="Google Shape;485;g3b056312c4a_0_39"/>
          <p:cNvGrpSpPr/>
          <p:nvPr/>
        </p:nvGrpSpPr>
        <p:grpSpPr>
          <a:xfrm>
            <a:off x="1374827" y="654376"/>
            <a:ext cx="15288975" cy="2548153"/>
            <a:chOff x="-99" y="0"/>
            <a:chExt cx="20385300" cy="3397537"/>
          </a:xfrm>
        </p:grpSpPr>
        <p:sp>
          <p:nvSpPr>
            <p:cNvPr id="486" name="Google Shape;486;g3b056312c4a_0_39"/>
            <p:cNvSpPr/>
            <p:nvPr/>
          </p:nvSpPr>
          <p:spPr>
            <a:xfrm>
              <a:off x="0" y="0"/>
              <a:ext cx="20385201" cy="1465312"/>
            </a:xfrm>
            <a:custGeom>
              <a:avLst/>
              <a:gdLst/>
              <a:ahLst/>
              <a:cxnLst/>
              <a:rect l="l" t="t" r="r" b="b"/>
              <a:pathLst>
                <a:path w="20385201" h="1465312" extrusionOk="0">
                  <a:moveTo>
                    <a:pt x="0" y="0"/>
                  </a:moveTo>
                  <a:lnTo>
                    <a:pt x="20385201" y="0"/>
                  </a:lnTo>
                  <a:lnTo>
                    <a:pt x="20385201" y="1465312"/>
                  </a:lnTo>
                  <a:lnTo>
                    <a:pt x="0" y="1465312"/>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7" name="Google Shape;487;g3b056312c4a_0_39"/>
            <p:cNvSpPr txBox="1"/>
            <p:nvPr/>
          </p:nvSpPr>
          <p:spPr>
            <a:xfrm>
              <a:off x="-99" y="1722637"/>
              <a:ext cx="20385300" cy="1674900"/>
            </a:xfrm>
            <a:prstGeom prst="rect">
              <a:avLst/>
            </a:prstGeom>
            <a:noFill/>
            <a:ln>
              <a:noFill/>
            </a:ln>
          </p:spPr>
          <p:txBody>
            <a:bodyPr spcFirstLastPara="1" wrap="square" lIns="0" tIns="0" rIns="0" bIns="0" anchor="t" anchorCtr="0">
              <a:noAutofit/>
            </a:bodyPr>
            <a:lstStyle/>
            <a:p>
              <a:pPr marL="0" marR="0" lvl="0" indent="0" algn="ctr" rtl="0">
                <a:lnSpc>
                  <a:spcPct val="135569"/>
                </a:lnSpc>
                <a:spcBef>
                  <a:spcPts val="0"/>
                </a:spcBef>
                <a:spcAft>
                  <a:spcPts val="0"/>
                </a:spcAft>
                <a:buNone/>
              </a:pPr>
              <a:r>
                <a:rPr lang="en-US" sz="6098" dirty="0" err="1">
                  <a:solidFill>
                    <a:srgbClr val="131416"/>
                  </a:solidFill>
                  <a:latin typeface="Impact"/>
                  <a:ea typeface="Impact"/>
                  <a:cs typeface="Impact"/>
                  <a:sym typeface="Impact"/>
                </a:rPr>
                <a:t>Referencias</a:t>
              </a:r>
              <a:r>
                <a:rPr lang="en-US" sz="6098" dirty="0">
                  <a:solidFill>
                    <a:srgbClr val="131416"/>
                  </a:solidFill>
                  <a:latin typeface="Impact"/>
                  <a:ea typeface="Impact"/>
                  <a:cs typeface="Impact"/>
                  <a:sym typeface="Impact"/>
                </a:rPr>
                <a:t> </a:t>
              </a:r>
              <a:endParaRPr dirty="0"/>
            </a:p>
          </p:txBody>
        </p:sp>
      </p:grpSp>
      <p:grpSp>
        <p:nvGrpSpPr>
          <p:cNvPr id="488" name="Google Shape;488;g3b056312c4a_0_39"/>
          <p:cNvGrpSpPr/>
          <p:nvPr/>
        </p:nvGrpSpPr>
        <p:grpSpPr>
          <a:xfrm>
            <a:off x="1374901" y="2634600"/>
            <a:ext cx="15864602" cy="5935556"/>
            <a:chOff x="-3" y="0"/>
            <a:chExt cx="21152803" cy="7914075"/>
          </a:xfrm>
        </p:grpSpPr>
        <p:sp>
          <p:nvSpPr>
            <p:cNvPr id="489" name="Google Shape;489;g3b056312c4a_0_39"/>
            <p:cNvSpPr/>
            <p:nvPr/>
          </p:nvSpPr>
          <p:spPr>
            <a:xfrm>
              <a:off x="0" y="0"/>
              <a:ext cx="21152800" cy="6085264"/>
            </a:xfrm>
            <a:custGeom>
              <a:avLst/>
              <a:gdLst/>
              <a:ahLst/>
              <a:cxnLst/>
              <a:rect l="l" t="t" r="r" b="b"/>
              <a:pathLst>
                <a:path w="21152800" h="6085264" extrusionOk="0">
                  <a:moveTo>
                    <a:pt x="0" y="0"/>
                  </a:moveTo>
                  <a:lnTo>
                    <a:pt x="21152800" y="0"/>
                  </a:lnTo>
                  <a:lnTo>
                    <a:pt x="21152800" y="6085264"/>
                  </a:lnTo>
                  <a:lnTo>
                    <a:pt x="0" y="608526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0" name="Google Shape;490;g3b056312c4a_0_39"/>
            <p:cNvSpPr txBox="1"/>
            <p:nvPr/>
          </p:nvSpPr>
          <p:spPr>
            <a:xfrm>
              <a:off x="-3" y="1514475"/>
              <a:ext cx="21152700" cy="6399600"/>
            </a:xfrm>
            <a:prstGeom prst="rect">
              <a:avLst/>
            </a:prstGeom>
            <a:noFill/>
            <a:ln>
              <a:noFill/>
            </a:ln>
          </p:spPr>
          <p:txBody>
            <a:bodyPr spcFirstLastPara="1" wrap="square" lIns="0" tIns="0" rIns="0" bIns="0" anchor="t" anchorCtr="0">
              <a:noAutofit/>
            </a:bodyPr>
            <a:lstStyle/>
            <a:p>
              <a:pPr marL="457200" lvl="0" indent="-387350" algn="l" rtl="0">
                <a:lnSpc>
                  <a:spcPct val="207638"/>
                </a:lnSpc>
                <a:spcBef>
                  <a:spcPts val="0"/>
                </a:spcBef>
                <a:spcAft>
                  <a:spcPts val="0"/>
                </a:spcAft>
                <a:buClr>
                  <a:schemeClr val="dk1"/>
                </a:buClr>
                <a:buSzPts val="2500"/>
                <a:buChar char="●"/>
              </a:pPr>
              <a:r>
                <a:rPr lang="en-US" sz="2500" b="1" dirty="0">
                  <a:solidFill>
                    <a:schemeClr val="dk1"/>
                  </a:solidFill>
                </a:rPr>
                <a:t>Sitio </a:t>
              </a:r>
              <a:r>
                <a:rPr lang="en-US" sz="2500" b="1" dirty="0" err="1">
                  <a:solidFill>
                    <a:schemeClr val="dk1"/>
                  </a:solidFill>
                </a:rPr>
                <a:t>Oficial</a:t>
              </a:r>
              <a:r>
                <a:rPr lang="en-US" sz="2500" b="1" dirty="0">
                  <a:solidFill>
                    <a:schemeClr val="dk1"/>
                  </a:solidFill>
                </a:rPr>
                <a:t> de Git:</a:t>
              </a:r>
              <a:r>
                <a:rPr lang="en-US" sz="2500" dirty="0">
                  <a:solidFill>
                    <a:schemeClr val="dk1"/>
                  </a:solidFill>
                </a:rPr>
                <a:t> </a:t>
              </a:r>
              <a:r>
                <a:rPr lang="en-US" sz="2500" dirty="0" err="1">
                  <a:solidFill>
                    <a:schemeClr val="dk1"/>
                  </a:solidFill>
                </a:rPr>
                <a:t>Documentación</a:t>
              </a:r>
              <a:r>
                <a:rPr lang="en-US" sz="2500" dirty="0">
                  <a:solidFill>
                    <a:schemeClr val="dk1"/>
                  </a:solidFill>
                </a:rPr>
                <a:t> y </a:t>
              </a:r>
              <a:r>
                <a:rPr lang="en-US" sz="2500" dirty="0" err="1">
                  <a:solidFill>
                    <a:schemeClr val="dk1"/>
                  </a:solidFill>
                </a:rPr>
                <a:t>descargas</a:t>
              </a:r>
              <a:r>
                <a:rPr lang="en-US" sz="2500" dirty="0">
                  <a:solidFill>
                    <a:schemeClr val="dk1"/>
                  </a:solidFill>
                </a:rPr>
                <a:t>. Disponible </a:t>
              </a:r>
              <a:r>
                <a:rPr lang="en-US" sz="2500" dirty="0" err="1">
                  <a:solidFill>
                    <a:schemeClr val="dk1"/>
                  </a:solidFill>
                </a:rPr>
                <a:t>en</a:t>
              </a:r>
              <a:r>
                <a:rPr lang="en-US" sz="2500" dirty="0">
                  <a:solidFill>
                    <a:schemeClr val="dk1"/>
                  </a:solidFill>
                </a:rPr>
                <a:t>: </a:t>
              </a:r>
              <a:r>
                <a:rPr lang="en-US" sz="2500" i="1" dirty="0">
                  <a:solidFill>
                    <a:schemeClr val="dk1"/>
                  </a:solidFill>
                </a:rPr>
                <a:t>git-</a:t>
              </a:r>
              <a:r>
                <a:rPr lang="en-US" sz="2500" i="1" dirty="0" err="1">
                  <a:solidFill>
                    <a:schemeClr val="dk1"/>
                  </a:solidFill>
                </a:rPr>
                <a:t>scm.com</a:t>
              </a:r>
              <a:r>
                <a:rPr lang="en-US" sz="2500" dirty="0">
                  <a:solidFill>
                    <a:schemeClr val="dk1"/>
                  </a:solidFill>
                </a:rPr>
                <a:t>.</a:t>
              </a:r>
              <a:endParaRPr sz="2500" dirty="0">
                <a:solidFill>
                  <a:schemeClr val="dk1"/>
                </a:solidFill>
              </a:endParaRPr>
            </a:p>
            <a:p>
              <a:pPr marL="457200" lvl="0" indent="-387350" algn="l" rtl="0">
                <a:lnSpc>
                  <a:spcPct val="207638"/>
                </a:lnSpc>
                <a:spcBef>
                  <a:spcPts val="0"/>
                </a:spcBef>
                <a:spcAft>
                  <a:spcPts val="0"/>
                </a:spcAft>
                <a:buSzPts val="2500"/>
                <a:buChar char="●"/>
              </a:pPr>
              <a:r>
                <a:rPr lang="en-US" sz="2500" b="1" dirty="0">
                  <a:solidFill>
                    <a:schemeClr val="dk1"/>
                  </a:solidFill>
                </a:rPr>
                <a:t>Chacon, S., &amp; Straub, B.</a:t>
              </a:r>
              <a:r>
                <a:rPr lang="en-US" sz="2500" dirty="0">
                  <a:solidFill>
                    <a:schemeClr val="dk1"/>
                  </a:solidFill>
                </a:rPr>
                <a:t> </a:t>
              </a:r>
              <a:r>
                <a:rPr lang="en-US" sz="2500" i="1" dirty="0">
                  <a:solidFill>
                    <a:schemeClr val="dk1"/>
                  </a:solidFill>
                </a:rPr>
                <a:t>Pro Git</a:t>
              </a:r>
              <a:r>
                <a:rPr lang="en-US" sz="2500" dirty="0">
                  <a:solidFill>
                    <a:schemeClr val="dk1"/>
                  </a:solidFill>
                </a:rPr>
                <a:t>. Libro </a:t>
              </a:r>
              <a:r>
                <a:rPr lang="en-US" sz="2500" dirty="0" err="1">
                  <a:solidFill>
                    <a:schemeClr val="dk1"/>
                  </a:solidFill>
                </a:rPr>
                <a:t>oficial</a:t>
              </a:r>
              <a:r>
                <a:rPr lang="en-US" sz="2500" dirty="0">
                  <a:solidFill>
                    <a:schemeClr val="dk1"/>
                  </a:solidFill>
                </a:rPr>
                <a:t> y </a:t>
              </a:r>
              <a:r>
                <a:rPr lang="en-US" sz="2500" dirty="0" err="1">
                  <a:solidFill>
                    <a:schemeClr val="dk1"/>
                  </a:solidFill>
                </a:rPr>
                <a:t>guía</a:t>
              </a:r>
              <a:r>
                <a:rPr lang="en-US" sz="2500" dirty="0">
                  <a:solidFill>
                    <a:schemeClr val="dk1"/>
                  </a:solidFill>
                </a:rPr>
                <a:t> completa. Disponible </a:t>
              </a:r>
              <a:r>
                <a:rPr lang="en-US" sz="2500" dirty="0" err="1">
                  <a:solidFill>
                    <a:schemeClr val="dk1"/>
                  </a:solidFill>
                </a:rPr>
                <a:t>gratuitamente</a:t>
              </a:r>
              <a:r>
                <a:rPr lang="en-US" sz="2500" dirty="0">
                  <a:solidFill>
                    <a:schemeClr val="dk1"/>
                  </a:solidFill>
                </a:rPr>
                <a:t> </a:t>
              </a:r>
              <a:r>
                <a:rPr lang="en-US" sz="2500" dirty="0" err="1">
                  <a:solidFill>
                    <a:schemeClr val="dk1"/>
                  </a:solidFill>
                </a:rPr>
                <a:t>en</a:t>
              </a:r>
              <a:r>
                <a:rPr lang="en-US" sz="2500" dirty="0">
                  <a:solidFill>
                    <a:schemeClr val="dk1"/>
                  </a:solidFill>
                </a:rPr>
                <a:t>:</a:t>
              </a:r>
              <a:r>
                <a:rPr lang="en-US" sz="2500" dirty="0">
                  <a:solidFill>
                    <a:schemeClr val="dk1"/>
                  </a:solidFill>
                  <a:uFill>
                    <a:noFill/>
                  </a:uFill>
                  <a:hlinkClick r:id="rId3">
                    <a:extLst>
                      <a:ext uri="{A12FA001-AC4F-418D-AE19-62706E023703}">
                        <ahyp:hlinkClr xmlns:ahyp="http://schemas.microsoft.com/office/drawing/2018/hyperlinkcolor" val="tx"/>
                      </a:ext>
                    </a:extLst>
                  </a:hlinkClick>
                </a:rPr>
                <a:t> </a:t>
              </a:r>
              <a:r>
                <a:rPr lang="en-US" sz="2500" i="1" u="sng" dirty="0">
                  <a:solidFill>
                    <a:schemeClr val="hlink"/>
                  </a:solidFill>
                  <a:hlinkClick r:id="rId3"/>
                </a:rPr>
                <a:t>git-scm.com/book/es/v2</a:t>
              </a:r>
              <a:r>
                <a:rPr lang="en-US" sz="2500" dirty="0">
                  <a:solidFill>
                    <a:schemeClr val="dk1"/>
                  </a:solidFill>
                </a:rPr>
                <a:t>.</a:t>
              </a:r>
              <a:endParaRPr sz="2500" dirty="0">
                <a:solidFill>
                  <a:schemeClr val="dk1"/>
                </a:solidFill>
              </a:endParaRPr>
            </a:p>
            <a:p>
              <a:pPr marL="457200" lvl="0" indent="-387350" algn="l" rtl="0">
                <a:lnSpc>
                  <a:spcPct val="207638"/>
                </a:lnSpc>
                <a:spcBef>
                  <a:spcPts val="0"/>
                </a:spcBef>
                <a:spcAft>
                  <a:spcPts val="0"/>
                </a:spcAft>
                <a:buClr>
                  <a:schemeClr val="dk1"/>
                </a:buClr>
                <a:buSzPts val="2500"/>
                <a:buChar char="●"/>
              </a:pPr>
              <a:r>
                <a:rPr lang="en-US" sz="2500" b="1" dirty="0">
                  <a:solidFill>
                    <a:schemeClr val="dk1"/>
                  </a:solidFill>
                </a:rPr>
                <a:t>GitHub Docs:</a:t>
              </a:r>
              <a:r>
                <a:rPr lang="en-US" sz="2500" dirty="0">
                  <a:solidFill>
                    <a:schemeClr val="dk1"/>
                  </a:solidFill>
                </a:rPr>
                <a:t> </a:t>
              </a:r>
              <a:r>
                <a:rPr lang="en-US" sz="2500" dirty="0" err="1">
                  <a:solidFill>
                    <a:schemeClr val="dk1"/>
                  </a:solidFill>
                </a:rPr>
                <a:t>Guías</a:t>
              </a:r>
              <a:r>
                <a:rPr lang="en-US" sz="2500" dirty="0">
                  <a:solidFill>
                    <a:schemeClr val="dk1"/>
                  </a:solidFill>
                </a:rPr>
                <a:t> de </a:t>
              </a:r>
              <a:r>
                <a:rPr lang="en-US" sz="2500" dirty="0" err="1">
                  <a:solidFill>
                    <a:schemeClr val="dk1"/>
                  </a:solidFill>
                </a:rPr>
                <a:t>colaboración</a:t>
              </a:r>
              <a:r>
                <a:rPr lang="en-US" sz="2500" dirty="0">
                  <a:solidFill>
                    <a:schemeClr val="dk1"/>
                  </a:solidFill>
                </a:rPr>
                <a:t> y </a:t>
              </a:r>
              <a:r>
                <a:rPr lang="en-US" sz="2500" dirty="0" err="1">
                  <a:solidFill>
                    <a:schemeClr val="dk1"/>
                  </a:solidFill>
                </a:rPr>
                <a:t>gestión</a:t>
              </a:r>
              <a:r>
                <a:rPr lang="en-US" sz="2500" dirty="0">
                  <a:solidFill>
                    <a:schemeClr val="dk1"/>
                  </a:solidFill>
                </a:rPr>
                <a:t> de </a:t>
              </a:r>
              <a:r>
                <a:rPr lang="en-US" sz="2500" dirty="0" err="1">
                  <a:solidFill>
                    <a:schemeClr val="dk1"/>
                  </a:solidFill>
                </a:rPr>
                <a:t>repositorios</a:t>
              </a:r>
              <a:r>
                <a:rPr lang="en-US" sz="2500" dirty="0">
                  <a:solidFill>
                    <a:schemeClr val="dk1"/>
                  </a:solidFill>
                </a:rPr>
                <a:t> </a:t>
              </a:r>
              <a:r>
                <a:rPr lang="en-US" sz="2500" dirty="0" err="1">
                  <a:solidFill>
                    <a:schemeClr val="dk1"/>
                  </a:solidFill>
                </a:rPr>
                <a:t>remotos</a:t>
              </a:r>
              <a:r>
                <a:rPr lang="en-US" sz="2500" dirty="0">
                  <a:solidFill>
                    <a:schemeClr val="dk1"/>
                  </a:solidFill>
                </a:rPr>
                <a:t>. Disponible </a:t>
              </a:r>
              <a:r>
                <a:rPr lang="en-US" sz="2500" dirty="0" err="1">
                  <a:solidFill>
                    <a:schemeClr val="dk1"/>
                  </a:solidFill>
                </a:rPr>
                <a:t>en</a:t>
              </a:r>
              <a:r>
                <a:rPr lang="en-US" sz="2500" dirty="0">
                  <a:solidFill>
                    <a:schemeClr val="dk1"/>
                  </a:solidFill>
                </a:rPr>
                <a:t>: </a:t>
              </a:r>
              <a:r>
                <a:rPr lang="en-US" sz="2500" i="1" dirty="0" err="1">
                  <a:solidFill>
                    <a:schemeClr val="dk1"/>
                  </a:solidFill>
                </a:rPr>
                <a:t>docs.github.com</a:t>
              </a:r>
              <a:r>
                <a:rPr lang="en-US" sz="2500" dirty="0">
                  <a:solidFill>
                    <a:schemeClr val="dk1"/>
                  </a:solidFill>
                </a:rPr>
                <a:t>.</a:t>
              </a:r>
              <a:endParaRPr sz="2500" dirty="0">
                <a:solidFill>
                  <a:schemeClr val="dk1"/>
                </a:solidFill>
              </a:endParaRPr>
            </a:p>
            <a:p>
              <a:pPr marL="457200" lvl="0" indent="-387350" algn="l" rtl="0">
                <a:lnSpc>
                  <a:spcPct val="207638"/>
                </a:lnSpc>
                <a:spcBef>
                  <a:spcPts val="0"/>
                </a:spcBef>
                <a:spcAft>
                  <a:spcPts val="0"/>
                </a:spcAft>
                <a:buClr>
                  <a:schemeClr val="dk1"/>
                </a:buClr>
                <a:buSzPts val="2500"/>
                <a:buChar char="●"/>
              </a:pPr>
              <a:r>
                <a:rPr lang="en-US" sz="2500" b="1" dirty="0">
                  <a:solidFill>
                    <a:schemeClr val="dk1"/>
                  </a:solidFill>
                </a:rPr>
                <a:t>Atlassian Git Tutorial:</a:t>
              </a:r>
              <a:r>
                <a:rPr lang="en-US" sz="2500" dirty="0">
                  <a:solidFill>
                    <a:schemeClr val="dk1"/>
                  </a:solidFill>
                </a:rPr>
                <a:t> </a:t>
              </a:r>
              <a:r>
                <a:rPr lang="en-US" sz="2500" dirty="0" err="1">
                  <a:solidFill>
                    <a:schemeClr val="dk1"/>
                  </a:solidFill>
                </a:rPr>
                <a:t>Conceptos</a:t>
              </a:r>
              <a:r>
                <a:rPr lang="en-US" sz="2500" dirty="0">
                  <a:solidFill>
                    <a:schemeClr val="dk1"/>
                  </a:solidFill>
                </a:rPr>
                <a:t> de </a:t>
              </a:r>
              <a:r>
                <a:rPr lang="en-US" sz="2500" dirty="0" err="1">
                  <a:solidFill>
                    <a:schemeClr val="dk1"/>
                  </a:solidFill>
                </a:rPr>
                <a:t>versionamiento</a:t>
              </a:r>
              <a:r>
                <a:rPr lang="en-US" sz="2500" dirty="0">
                  <a:solidFill>
                    <a:schemeClr val="dk1"/>
                  </a:solidFill>
                </a:rPr>
                <a:t> </a:t>
              </a:r>
              <a:r>
                <a:rPr lang="en-US" sz="2500" dirty="0" err="1">
                  <a:solidFill>
                    <a:schemeClr val="dk1"/>
                  </a:solidFill>
                </a:rPr>
                <a:t>distribuido</a:t>
              </a:r>
              <a:r>
                <a:rPr lang="en-US" sz="2500" dirty="0">
                  <a:solidFill>
                    <a:schemeClr val="dk1"/>
                  </a:solidFill>
                </a:rPr>
                <a:t> y </a:t>
              </a:r>
              <a:r>
                <a:rPr lang="en-US" sz="2500" dirty="0" err="1">
                  <a:solidFill>
                    <a:schemeClr val="dk1"/>
                  </a:solidFill>
                </a:rPr>
                <a:t>centralizado</a:t>
              </a:r>
              <a:r>
                <a:rPr lang="en-US" sz="2500" dirty="0">
                  <a:solidFill>
                    <a:schemeClr val="dk1"/>
                  </a:solidFill>
                </a:rPr>
                <a:t>.</a:t>
              </a:r>
              <a:endParaRPr sz="4424" dirty="0">
                <a:solidFill>
                  <a:srgbClr val="131416"/>
                </a:solidFill>
              </a:endParaRPr>
            </a:p>
            <a:p>
              <a:pPr marL="401463" marR="0" lvl="1" indent="0" algn="l" rtl="0">
                <a:lnSpc>
                  <a:spcPct val="207638"/>
                </a:lnSpc>
                <a:spcBef>
                  <a:spcPts val="0"/>
                </a:spcBef>
                <a:spcAft>
                  <a:spcPts val="0"/>
                </a:spcAft>
                <a:buClr>
                  <a:schemeClr val="dk1"/>
                </a:buClr>
                <a:buSzPts val="3024"/>
                <a:buFont typeface="Arial"/>
                <a:buNone/>
              </a:pPr>
              <a:endParaRPr sz="3024" b="0" i="0" u="none" strike="noStrike" cap="none" dirty="0">
                <a:solidFill>
                  <a:srgbClr val="131416"/>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grpSp>
        <p:nvGrpSpPr>
          <p:cNvPr id="499" name="Google Shape;499;p23"/>
          <p:cNvGrpSpPr/>
          <p:nvPr/>
        </p:nvGrpSpPr>
        <p:grpSpPr>
          <a:xfrm>
            <a:off x="3424410" y="4200344"/>
            <a:ext cx="10685597" cy="2029500"/>
            <a:chOff x="-2702263" y="-152400"/>
            <a:chExt cx="14247463" cy="2706000"/>
          </a:xfrm>
        </p:grpSpPr>
        <p:sp>
          <p:nvSpPr>
            <p:cNvPr id="500" name="Google Shape;500;p23"/>
            <p:cNvSpPr/>
            <p:nvPr/>
          </p:nvSpPr>
          <p:spPr>
            <a:xfrm>
              <a:off x="0" y="0"/>
              <a:ext cx="11545200" cy="2553600"/>
            </a:xfrm>
            <a:custGeom>
              <a:avLst/>
              <a:gdLst/>
              <a:ahLst/>
              <a:cxnLst/>
              <a:rect l="l" t="t" r="r" b="b"/>
              <a:pathLst>
                <a:path w="11545200" h="2553600" extrusionOk="0">
                  <a:moveTo>
                    <a:pt x="0" y="0"/>
                  </a:moveTo>
                  <a:lnTo>
                    <a:pt x="11545200" y="0"/>
                  </a:lnTo>
                  <a:lnTo>
                    <a:pt x="11545200" y="2553600"/>
                  </a:lnTo>
                  <a:lnTo>
                    <a:pt x="0" y="25536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1" name="Google Shape;501;p23"/>
            <p:cNvSpPr txBox="1"/>
            <p:nvPr/>
          </p:nvSpPr>
          <p:spPr>
            <a:xfrm>
              <a:off x="-2702263" y="-152400"/>
              <a:ext cx="14247463" cy="2706000"/>
            </a:xfrm>
            <a:prstGeom prst="rect">
              <a:avLst/>
            </a:prstGeom>
            <a:noFill/>
            <a:ln>
              <a:noFill/>
            </a:ln>
          </p:spPr>
          <p:txBody>
            <a:bodyPr spcFirstLastPara="1" wrap="square" lIns="0" tIns="0" rIns="0" bIns="0" anchor="t" anchorCtr="0">
              <a:noAutofit/>
            </a:bodyPr>
            <a:lstStyle/>
            <a:p>
              <a:pPr marL="0" marR="0" lvl="0" indent="0" algn="ctr" rtl="0">
                <a:lnSpc>
                  <a:spcPct val="124811"/>
                </a:lnSpc>
                <a:spcBef>
                  <a:spcPts val="0"/>
                </a:spcBef>
                <a:spcAft>
                  <a:spcPts val="0"/>
                </a:spcAft>
                <a:buNone/>
              </a:pPr>
              <a:r>
                <a:rPr lang="en-US" sz="6098" dirty="0">
                  <a:solidFill>
                    <a:srgbClr val="131416"/>
                  </a:solidFill>
                  <a:latin typeface="Impact"/>
                  <a:ea typeface="Impact"/>
                  <a:cs typeface="Impact"/>
                  <a:sym typeface="Impact"/>
                </a:rPr>
                <a:t>¡GRACIAS POR SU  ATENCIÓN!</a:t>
              </a:r>
              <a:endParaRPr dirty="0"/>
            </a:p>
            <a:p>
              <a:pPr marL="0" marR="0" lvl="0" indent="0" algn="just" rtl="0">
                <a:lnSpc>
                  <a:spcPct val="28648"/>
                </a:lnSpc>
                <a:spcBef>
                  <a:spcPts val="0"/>
                </a:spcBef>
                <a:spcAft>
                  <a:spcPts val="0"/>
                </a:spcAft>
                <a:buNone/>
              </a:pPr>
              <a:endParaRPr sz="6098" dirty="0">
                <a:solidFill>
                  <a:srgbClr val="131416"/>
                </a:solidFill>
                <a:latin typeface="Impact"/>
                <a:ea typeface="Impact"/>
                <a:cs typeface="Impact"/>
                <a:sym typeface="Impact"/>
              </a:endParaRPr>
            </a:p>
          </p:txBody>
        </p:sp>
      </p:grpSp>
      <p:grpSp>
        <p:nvGrpSpPr>
          <p:cNvPr id="502" name="Google Shape;502;p23"/>
          <p:cNvGrpSpPr/>
          <p:nvPr/>
        </p:nvGrpSpPr>
        <p:grpSpPr>
          <a:xfrm>
            <a:off x="5414714" y="4905134"/>
            <a:ext cx="6704991" cy="1951494"/>
            <a:chOff x="0" y="-1403959"/>
            <a:chExt cx="8939988" cy="2601992"/>
          </a:xfrm>
        </p:grpSpPr>
        <p:sp>
          <p:nvSpPr>
            <p:cNvPr id="503" name="Google Shape;503;p23"/>
            <p:cNvSpPr/>
            <p:nvPr/>
          </p:nvSpPr>
          <p:spPr>
            <a:xfrm>
              <a:off x="0" y="0"/>
              <a:ext cx="8939988" cy="1198033"/>
            </a:xfrm>
            <a:custGeom>
              <a:avLst/>
              <a:gdLst/>
              <a:ahLst/>
              <a:cxnLst/>
              <a:rect l="l" t="t" r="r" b="b"/>
              <a:pathLst>
                <a:path w="8939988" h="1198033" extrusionOk="0">
                  <a:moveTo>
                    <a:pt x="0" y="0"/>
                  </a:moveTo>
                  <a:lnTo>
                    <a:pt x="8939988" y="0"/>
                  </a:lnTo>
                  <a:lnTo>
                    <a:pt x="8939988" y="1198033"/>
                  </a:lnTo>
                  <a:lnTo>
                    <a:pt x="0" y="1198033"/>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4" name="Google Shape;504;p23"/>
            <p:cNvSpPr txBox="1"/>
            <p:nvPr/>
          </p:nvSpPr>
          <p:spPr>
            <a:xfrm>
              <a:off x="0" y="-1403959"/>
              <a:ext cx="8939988" cy="1569508"/>
            </a:xfrm>
            <a:prstGeom prst="rect">
              <a:avLst/>
            </a:prstGeom>
            <a:noFill/>
            <a:ln>
              <a:noFill/>
            </a:ln>
          </p:spPr>
          <p:txBody>
            <a:bodyPr spcFirstLastPara="1" wrap="square" lIns="0" tIns="0" rIns="0" bIns="0" anchor="t" anchorCtr="0">
              <a:noAutofit/>
            </a:bodyPr>
            <a:lstStyle/>
            <a:p>
              <a:pPr marL="0" marR="0" lvl="0" indent="0" algn="ctr" rtl="0">
                <a:lnSpc>
                  <a:spcPct val="177615"/>
                </a:lnSpc>
                <a:spcBef>
                  <a:spcPts val="0"/>
                </a:spcBef>
                <a:spcAft>
                  <a:spcPts val="0"/>
                </a:spcAft>
                <a:buNone/>
              </a:pPr>
              <a:r>
                <a:rPr lang="en-US" sz="4999" dirty="0">
                  <a:solidFill>
                    <a:srgbClr val="131416"/>
                  </a:solidFill>
                  <a:latin typeface="Arial"/>
                  <a:ea typeface="Arial"/>
                  <a:cs typeface="Arial"/>
                  <a:sym typeface="Arial"/>
                </a:rPr>
                <a:t>DUDAS</a:t>
              </a:r>
              <a:endParaRPr dirty="0"/>
            </a:p>
          </p:txBody>
        </p:sp>
      </p:grpSp>
      <p:sp>
        <p:nvSpPr>
          <p:cNvPr id="505" name="Google Shape;505;p23"/>
          <p:cNvSpPr/>
          <p:nvPr/>
        </p:nvSpPr>
        <p:spPr>
          <a:xfrm>
            <a:off x="13963751" y="1028700"/>
            <a:ext cx="2757297" cy="3770948"/>
          </a:xfrm>
          <a:custGeom>
            <a:avLst/>
            <a:gdLst/>
            <a:ahLst/>
            <a:cxnLst/>
            <a:rect l="l" t="t" r="r" b="b"/>
            <a:pathLst>
              <a:path w="3676396" h="5027930" extrusionOk="0">
                <a:moveTo>
                  <a:pt x="0" y="0"/>
                </a:moveTo>
                <a:lnTo>
                  <a:pt x="3676396" y="0"/>
                </a:lnTo>
                <a:lnTo>
                  <a:pt x="3676396" y="5027930"/>
                </a:lnTo>
                <a:lnTo>
                  <a:pt x="0" y="5027930"/>
                </a:lnTo>
                <a:lnTo>
                  <a:pt x="0" y="0"/>
                </a:lnTo>
                <a:close/>
              </a:path>
            </a:pathLst>
          </a:custGeom>
          <a:blipFill rotWithShape="1">
            <a:blip r:embed="rId3">
              <a:alphaModFix/>
            </a:blip>
            <a:stretch>
              <a:fillRect l="-6" r="-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06" name="Google Shape;506;p23"/>
          <p:cNvGrpSpPr/>
          <p:nvPr/>
        </p:nvGrpSpPr>
        <p:grpSpPr>
          <a:xfrm>
            <a:off x="2411098" y="7785435"/>
            <a:ext cx="13465804" cy="833755"/>
            <a:chOff x="0" y="-152400"/>
            <a:chExt cx="17954405" cy="1111673"/>
          </a:xfrm>
        </p:grpSpPr>
        <p:sp>
          <p:nvSpPr>
            <p:cNvPr id="507" name="Google Shape;507;p23"/>
            <p:cNvSpPr/>
            <p:nvPr/>
          </p:nvSpPr>
          <p:spPr>
            <a:xfrm>
              <a:off x="0" y="0"/>
              <a:ext cx="17954405" cy="959273"/>
            </a:xfrm>
            <a:custGeom>
              <a:avLst/>
              <a:gdLst/>
              <a:ahLst/>
              <a:cxnLst/>
              <a:rect l="l" t="t" r="r" b="b"/>
              <a:pathLst>
                <a:path w="17954405" h="959273" extrusionOk="0">
                  <a:moveTo>
                    <a:pt x="0" y="0"/>
                  </a:moveTo>
                  <a:lnTo>
                    <a:pt x="17954405" y="0"/>
                  </a:lnTo>
                  <a:lnTo>
                    <a:pt x="17954405" y="959273"/>
                  </a:lnTo>
                  <a:lnTo>
                    <a:pt x="0" y="959273"/>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8" name="Google Shape;508;p23"/>
            <p:cNvSpPr txBox="1"/>
            <p:nvPr/>
          </p:nvSpPr>
          <p:spPr>
            <a:xfrm>
              <a:off x="0" y="-152400"/>
              <a:ext cx="17954405" cy="1111673"/>
            </a:xfrm>
            <a:prstGeom prst="rect">
              <a:avLst/>
            </a:prstGeom>
            <a:noFill/>
            <a:ln>
              <a:noFill/>
            </a:ln>
          </p:spPr>
          <p:txBody>
            <a:bodyPr spcFirstLastPara="1" wrap="square" lIns="0" tIns="0" rIns="0" bIns="0" anchor="t" anchorCtr="0">
              <a:noAutofit/>
            </a:bodyPr>
            <a:lstStyle/>
            <a:p>
              <a:pPr marL="0" marR="0" lvl="0" indent="0" algn="ctr" rtl="0">
                <a:lnSpc>
                  <a:spcPct val="177600"/>
                </a:lnSpc>
                <a:spcBef>
                  <a:spcPts val="0"/>
                </a:spcBef>
                <a:spcAft>
                  <a:spcPts val="0"/>
                </a:spcAft>
                <a:buNone/>
              </a:pPr>
              <a:r>
                <a:rPr lang="en-US" sz="2000">
                  <a:solidFill>
                    <a:srgbClr val="131416"/>
                  </a:solidFill>
                  <a:latin typeface="Arial"/>
                  <a:ea typeface="Arial"/>
                  <a:cs typeface="Arial"/>
                  <a:sym typeface="Arial"/>
                </a:rPr>
                <a:t>RECUERDA QUE TENEMOS NUESTRO FORO SEMANAL DONDE PUEDES CONSULTAR CUALQUIER DUDA QUE TE SURJA EN LA SEMANA</a:t>
              </a:r>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1546</Words>
  <Application>Microsoft Macintosh PowerPoint</Application>
  <PresentationFormat>Personalizado</PresentationFormat>
  <Paragraphs>167</Paragraphs>
  <Slides>26</Slides>
  <Notes>26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26</vt:i4>
      </vt:variant>
    </vt:vector>
  </HeadingPairs>
  <TitlesOfParts>
    <vt:vector size="32" baseType="lpstr">
      <vt:lpstr>Pacifico</vt:lpstr>
      <vt:lpstr>Impact</vt:lpstr>
      <vt:lpstr>Arial</vt:lpstr>
      <vt:lpstr>Open Sans</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Eduardo Isaí Ajsivinac Xico</cp:lastModifiedBy>
  <cp:revision>2</cp:revision>
  <dcterms:created xsi:type="dcterms:W3CDTF">2006-08-16T00:00:00Z</dcterms:created>
  <dcterms:modified xsi:type="dcterms:W3CDTF">2026-05-16T01:00:48Z</dcterms:modified>
</cp:coreProperties>
</file>