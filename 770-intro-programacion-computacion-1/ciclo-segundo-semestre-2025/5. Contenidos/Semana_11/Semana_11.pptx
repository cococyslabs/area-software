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36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</p:sldIdLst>
  <p:sldSz cx="18288000" cy="10287000"/>
  <p:notesSz cx="6858000" cy="9144000"/>
  <p:embeddedFontLst>
    <p:embeddedFont>
      <p:font typeface="Impact" panose="020B0806030902050204" pitchFamily="34" charset="0"/>
      <p:regular r:id="rId25"/>
    </p:embeddedFont>
    <p:embeddedFont>
      <p:font typeface="Lobster" panose="00000500000000000000" pitchFamily="2" charset="0"/>
      <p:regular r:id="rId26"/>
    </p:embeddedFont>
    <p:embeddedFont>
      <p:font typeface="Open Sans" panose="020B0606030504020204" pitchFamily="34" charset="0"/>
      <p:regular r:id="rId27"/>
      <p:bold r:id="rId28"/>
      <p:italic r:id="rId29"/>
      <p:boldItalic r:id="rId30"/>
    </p:embeddedFont>
    <p:embeddedFont>
      <p:font typeface="Pacifico" panose="00000500000000000000" pitchFamily="2" charset="0"/>
      <p:regular r:id="rId31"/>
    </p:embeddedFont>
    <p:embeddedFont>
      <p:font typeface="Roboto Mono" panose="00000009000000000000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gnycjW4WUVhn1wr5UTI2BnP42z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502709-B3AA-4FDE-A259-310D332CCCB7}">
  <a:tblStyle styleId="{CF502709-B3AA-4FDE-A259-310D332CCC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055918e9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g3b055918e9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055918e9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b055918e9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055918e9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055918e9e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055918e9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g3b055918e9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055918e9e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b055918e9e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055918e9e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3b055918e9e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07f39e93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g3b07f39e93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7f39e93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4" name="Google Shape;214;g3b07f39e93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07f39e93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" name="Google Shape;222;g3b07f39e93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07f39e93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g3b07f39e93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07f39e93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3b07f39e93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07f39e93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4" name="Google Shape;244;g3b07f39e93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2" name="Google Shape;2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64afea4f63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64afea4f63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hyperlink" Target="https://www.codeja.dev/blog/hilos-thread-en-java/" TargetMode="External"/><Relationship Id="rId4" Type="http://schemas.openxmlformats.org/officeDocument/2006/relationships/hyperlink" Target="https://www.tutorialesprogramacionya.com/javaya/detalleconcepto.php?codigo=180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6904" y="2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54098282"/>
              </p:ext>
            </p:extLst>
          </p:nvPr>
        </p:nvGraphicFramePr>
        <p:xfrm>
          <a:off x="9144001" y="1915191"/>
          <a:ext cx="8607176" cy="1889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0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900" b="1" dirty="0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2900" b="1" dirty="0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800" dirty="0"/>
                        <a:t>Día, xx/xx/xxxx</a:t>
                      </a:r>
                      <a:endParaRPr sz="3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9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3800" dirty="0"/>
                        <a:t>10:30 am</a:t>
                      </a:r>
                      <a:endParaRPr sz="3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2880350" y="4516603"/>
            <a:ext cx="11173200" cy="1908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defTabSz="1828755">
              <a:buClr>
                <a:srgbClr val="000000"/>
              </a:buClr>
              <a:defRPr/>
            </a:pPr>
            <a:r>
              <a:rPr lang="es" sz="5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Introducción a la Programación y Computación 1 [Sección]</a:t>
            </a:r>
            <a:endParaRPr sz="5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80350" y="6148237"/>
            <a:ext cx="11173200" cy="98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defTabSz="1828755">
              <a:buClr>
                <a:srgbClr val="000000"/>
              </a:buClr>
              <a:defRPr/>
            </a:pPr>
            <a:r>
              <a:rPr lang="es" sz="4001" dirty="0"/>
              <a:t>A</a:t>
            </a:r>
            <a:r>
              <a:rPr lang="es" sz="400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uxiliar</a:t>
            </a:r>
            <a:endParaRPr sz="400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/>
          <p:nvPr/>
        </p:nvSpPr>
        <p:spPr>
          <a:xfrm>
            <a:off x="166350" y="7555025"/>
            <a:ext cx="17955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770 - Introducción a la Programación y Computación 1</a:t>
            </a:r>
            <a:endParaRPr sz="50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591255" y="2167474"/>
            <a:ext cx="12375000" cy="3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UML </a:t>
            </a:r>
            <a:endParaRPr sz="92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CLOUD COMPUTING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4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       UML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9" name="Google Shape;109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3" name="Google Shape;11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n-US" sz="15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15" name="Google Shape;115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76619" y="5444300"/>
            <a:ext cx="8416910" cy="845566"/>
            <a:chOff x="0" y="-76201"/>
            <a:chExt cx="3583503" cy="36000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3" y="-76201"/>
              <a:ext cx="35835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¿QUÉ ES Y PARA QUÉ SIRVE UML?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76619" y="6425875"/>
            <a:ext cx="8740339" cy="845566"/>
            <a:chOff x="0" y="-76200"/>
            <a:chExt cx="3721203" cy="3600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3" y="-76200"/>
              <a:ext cx="3721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        DIAGRAMA DE CLASES Y NOTACIONES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4" name="Google Shape;134;p2"/>
          <p:cNvSpPr/>
          <p:nvPr/>
        </p:nvSpPr>
        <p:spPr>
          <a:xfrm>
            <a:off x="878654" y="6604853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5" name="Google Shape;135;p2"/>
          <p:cNvSpPr/>
          <p:nvPr/>
        </p:nvSpPr>
        <p:spPr>
          <a:xfrm>
            <a:off x="878654" y="7604635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36" name="Google Shape;136;p2"/>
          <p:cNvSpPr/>
          <p:nvPr/>
        </p:nvSpPr>
        <p:spPr>
          <a:xfrm>
            <a:off x="878654" y="860554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6450450" y="3014425"/>
            <a:ext cx="11193300" cy="52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lang="en-US" sz="28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Arquitecturas de software y calidad de código Empleando métricas de software, patrones de diseño y técnicas de testing Para garantizar mantenibilidad, escalabilidad y robustez del sistema </a:t>
            </a:r>
            <a:endParaRPr sz="28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endParaRPr sz="28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lang="en-US" sz="28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Implementar Sistemas de software con persistencia de datos Utilizando bases de datos relacionales, archivos estructurados y APIs Conforme a especificaciones de integridad, consistencia y seguridad </a:t>
            </a:r>
            <a:endParaRPr sz="28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3" name="Google Shape;143;p3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113989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 txBox="1"/>
          <p:nvPr/>
        </p:nvSpPr>
        <p:spPr>
          <a:xfrm>
            <a:off x="1374889" y="3428991"/>
            <a:ext cx="12625500" cy="4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El Lenguaje Unificado de Modelado (UML) </a:t>
            </a:r>
            <a:r>
              <a:rPr lang="en-US" sz="3900">
                <a:solidFill>
                  <a:srgbClr val="282C33"/>
                </a:solidFill>
                <a:highlight>
                  <a:srgbClr val="FFFFFF"/>
                </a:highlight>
              </a:rPr>
              <a:t>fue creado para forjar un lenguaje de modelado visual común y semántica y sintácticamente rico para la arquitectura, el diseño y la implementación de sistemas de software complejos, tanto en estructura como en comportamiento.</a:t>
            </a:r>
            <a:endParaRPr sz="3900">
              <a:solidFill>
                <a:srgbClr val="131416"/>
              </a:solidFill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¿QUÉ ES UML?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3650" y="0"/>
            <a:ext cx="5099451" cy="371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55918e9e_0_7"/>
          <p:cNvSpPr txBox="1"/>
          <p:nvPr/>
        </p:nvSpPr>
        <p:spPr>
          <a:xfrm>
            <a:off x="1374889" y="2396091"/>
            <a:ext cx="12625500" cy="6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rgbClr val="131416"/>
                </a:solidFill>
              </a:rPr>
              <a:t>Visualización y comunicación: </a:t>
            </a:r>
            <a:r>
              <a:rPr lang="en-US" sz="3000">
                <a:solidFill>
                  <a:srgbClr val="131416"/>
                </a:solidFill>
              </a:rPr>
              <a:t>Crea un "mapa" visual del sistema, facilitando la comprensión de su arquitectura y flujo. </a:t>
            </a:r>
            <a:endParaRPr sz="3000">
              <a:solidFill>
                <a:srgbClr val="131416"/>
              </a:solidFill>
            </a:endParaRPr>
          </a:p>
          <a:p>
            <a:pPr marL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rgbClr val="131416"/>
                </a:solidFill>
              </a:rPr>
              <a:t>Especificación:</a:t>
            </a:r>
            <a:r>
              <a:rPr lang="en-US" sz="3000">
                <a:solidFill>
                  <a:srgbClr val="131416"/>
                </a:solidFill>
              </a:rPr>
              <a:t> Define claramente cómo funcionará el sistema antes de construirlo. </a:t>
            </a:r>
            <a:endParaRPr sz="3000">
              <a:solidFill>
                <a:srgbClr val="131416"/>
              </a:solidFill>
            </a:endParaRPr>
          </a:p>
          <a:p>
            <a:pPr marL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rgbClr val="131416"/>
                </a:solidFill>
              </a:rPr>
              <a:t>Construcción y documentación:</a:t>
            </a:r>
            <a:r>
              <a:rPr lang="en-US" sz="3000">
                <a:solidFill>
                  <a:srgbClr val="131416"/>
                </a:solidFill>
              </a:rPr>
              <a:t> Sirve como un plano para desarrolladores y como documentación del sistema. </a:t>
            </a:r>
            <a:endParaRPr sz="3000">
              <a:solidFill>
                <a:srgbClr val="131416"/>
              </a:solidFill>
            </a:endParaRPr>
          </a:p>
          <a:p>
            <a:pPr marL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solidFill>
                  <a:srgbClr val="131416"/>
                </a:solidFill>
              </a:rPr>
              <a:t>Análisis: </a:t>
            </a:r>
            <a:r>
              <a:rPr lang="en-US" sz="3000">
                <a:solidFill>
                  <a:srgbClr val="131416"/>
                </a:solidFill>
              </a:rPr>
              <a:t>Ayuda a identificar problemas y mejoras en la estructura o comportamiento. </a:t>
            </a:r>
            <a:endParaRPr sz="3000">
              <a:solidFill>
                <a:srgbClr val="131416"/>
              </a:solidFill>
            </a:endParaRPr>
          </a:p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3000">
              <a:solidFill>
                <a:srgbClr val="131416"/>
              </a:solidFill>
            </a:endParaRPr>
          </a:p>
        </p:txBody>
      </p:sp>
      <p:sp>
        <p:nvSpPr>
          <p:cNvPr id="156" name="Google Shape;156;g3b055918e9e_0_7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¿PARA QUÉ SIRVE UML?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57" name="Google Shape;157;g3b055918e9e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43050" y="4506951"/>
            <a:ext cx="4391500" cy="344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055918e9e_0_16"/>
          <p:cNvSpPr txBox="1"/>
          <p:nvPr/>
        </p:nvSpPr>
        <p:spPr>
          <a:xfrm>
            <a:off x="1374889" y="2396091"/>
            <a:ext cx="12625500" cy="560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una representación visual en UML que muestra la estructura estática de un sistema orientado a objetos, definiendo sus clases, atributos (datos), métodos (comportamientos) y las relaciones entre ellas (herencia, composición, asociación). Funciona como un plano del sistema, detallando cómo las clases se organizan y colaboran, facilitando el diseño, la documentación y la comunicación del software a desarrolladores y partes interesadas. </a:t>
            </a:r>
            <a:endParaRPr sz="3200">
              <a:solidFill>
                <a:srgbClr val="131416"/>
              </a:solidFill>
            </a:endParaRPr>
          </a:p>
        </p:txBody>
      </p:sp>
      <p:sp>
        <p:nvSpPr>
          <p:cNvPr id="163" name="Google Shape;163;g3b055918e9e_0_1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DIAGRAMA DE CLASES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64" name="Google Shape;164;g3b055918e9e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4429" y="5771754"/>
            <a:ext cx="4603575" cy="38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b055918e9e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6283" y="382795"/>
            <a:ext cx="2816525" cy="449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55918e9e_0_26"/>
          <p:cNvSpPr txBox="1">
            <a:spLocks noGrp="1"/>
          </p:cNvSpPr>
          <p:nvPr>
            <p:ph type="title"/>
          </p:nvPr>
        </p:nvSpPr>
        <p:spPr>
          <a:xfrm>
            <a:off x="0" y="669402"/>
            <a:ext cx="18288000" cy="1683000"/>
          </a:xfrm>
          <a:prstGeom prst="rect">
            <a:avLst/>
          </a:prstGeom>
        </p:spPr>
        <p:txBody>
          <a:bodyPr spcFirstLastPara="1" wrap="square" lIns="134625" tIns="134625" rIns="134625" bIns="1346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78">
                <a:latin typeface="Impact"/>
                <a:ea typeface="Impact"/>
                <a:cs typeface="Impact"/>
                <a:sym typeface="Impact"/>
              </a:rPr>
              <a:t>NOTACIONES DE DIAGRAMA DE CLASES</a:t>
            </a:r>
            <a:endParaRPr sz="6478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1" name="Google Shape;171;g3b055918e9e_0_26"/>
          <p:cNvSpPr txBox="1">
            <a:spLocks noGrp="1"/>
          </p:cNvSpPr>
          <p:nvPr>
            <p:ph type="body" idx="1"/>
          </p:nvPr>
        </p:nvSpPr>
        <p:spPr>
          <a:xfrm>
            <a:off x="147550" y="2621150"/>
            <a:ext cx="5798700" cy="7391700"/>
          </a:xfrm>
          <a:prstGeom prst="rect">
            <a:avLst/>
          </a:prstGeom>
        </p:spPr>
        <p:txBody>
          <a:bodyPr spcFirstLastPara="1" wrap="square" lIns="134625" tIns="134625" rIns="134625" bIns="134625" anchor="t" anchorCtr="0">
            <a:noAutofit/>
          </a:bodyPr>
          <a:lstStyle/>
          <a:p>
            <a:pPr marL="0" lvl="0" indent="0" algn="l" rtl="0">
              <a:spcBef>
                <a:spcPts val="825"/>
              </a:spcBef>
              <a:spcAft>
                <a:spcPts val="0"/>
              </a:spcAft>
              <a:buNone/>
            </a:pPr>
            <a:r>
              <a:rPr lang="en-US" sz="3600" b="1"/>
              <a:t>Clases</a:t>
            </a:r>
            <a:endParaRPr sz="3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se representa con un rectángulo dividido en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tres secciones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Nombre de la clase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Va en la parte superior.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Atributos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Representan las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características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de la clase.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Métodos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Representan el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comportamiento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de la clase.</a:t>
            </a:r>
            <a:endParaRPr/>
          </a:p>
        </p:txBody>
      </p:sp>
      <p:sp>
        <p:nvSpPr>
          <p:cNvPr id="172" name="Google Shape;172;g3b055918e9e_0_26"/>
          <p:cNvSpPr txBox="1">
            <a:spLocks noGrp="1"/>
          </p:cNvSpPr>
          <p:nvPr>
            <p:ph type="body" idx="2"/>
          </p:nvPr>
        </p:nvSpPr>
        <p:spPr>
          <a:xfrm>
            <a:off x="6170806" y="2621140"/>
            <a:ext cx="5946300" cy="6664200"/>
          </a:xfrm>
          <a:prstGeom prst="rect">
            <a:avLst/>
          </a:prstGeom>
        </p:spPr>
        <p:txBody>
          <a:bodyPr spcFirstLastPara="1" wrap="square" lIns="134625" tIns="134625" rIns="134625" bIns="134625" anchor="t" anchorCtr="0">
            <a:normAutofit fontScale="92500"/>
          </a:bodyPr>
          <a:lstStyle/>
          <a:p>
            <a:pPr marL="0" lvl="0" indent="0" algn="l" rtl="0">
              <a:spcBef>
                <a:spcPts val="825"/>
              </a:spcBef>
              <a:spcAft>
                <a:spcPts val="0"/>
              </a:spcAft>
              <a:buNone/>
            </a:pPr>
            <a:r>
              <a:rPr lang="en-US" sz="3600" b="1"/>
              <a:t>Visibilidad</a:t>
            </a:r>
            <a:endParaRPr sz="3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 visibilidad indica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quién puede acceder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a los atributos o métodos.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Char char="+"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Pública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Accesible desde cualquier clase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-"/>
            </a:pP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Privada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accesible dentro de la misma clase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Protegida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Accesible por la clase y sus subclases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Roboto Mono"/>
                <a:ea typeface="Roboto Mono"/>
                <a:cs typeface="Roboto Mono"/>
                <a:sym typeface="Roboto Mono"/>
              </a:rPr>
              <a:t>~</a:t>
            </a:r>
            <a:r>
              <a:rPr lang="en-US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Paquete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Accesible dentro del mismo paquete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825"/>
              </a:spcBef>
              <a:spcAft>
                <a:spcPts val="0"/>
              </a:spcAft>
              <a:buNone/>
            </a:pPr>
            <a:endParaRPr sz="3200" b="1"/>
          </a:p>
        </p:txBody>
      </p:sp>
      <p:sp>
        <p:nvSpPr>
          <p:cNvPr id="173" name="Google Shape;173;g3b055918e9e_0_26"/>
          <p:cNvSpPr txBox="1">
            <a:spLocks noGrp="1"/>
          </p:cNvSpPr>
          <p:nvPr>
            <p:ph type="body" idx="2"/>
          </p:nvPr>
        </p:nvSpPr>
        <p:spPr>
          <a:xfrm>
            <a:off x="12341613" y="2621140"/>
            <a:ext cx="5946300" cy="6664200"/>
          </a:xfrm>
          <a:prstGeom prst="rect">
            <a:avLst/>
          </a:prstGeom>
        </p:spPr>
        <p:txBody>
          <a:bodyPr spcFirstLastPara="1" wrap="square" lIns="134625" tIns="134625" rIns="134625" bIns="134625" anchor="t" anchorCtr="0">
            <a:normAutofit/>
          </a:bodyPr>
          <a:lstStyle/>
          <a:p>
            <a:pPr marL="0" lvl="0" indent="0" algn="l" rtl="0">
              <a:spcBef>
                <a:spcPts val="825"/>
              </a:spcBef>
              <a:spcAft>
                <a:spcPts val="0"/>
              </a:spcAft>
              <a:buNone/>
            </a:pPr>
            <a:r>
              <a:rPr lang="en-US" sz="3600" b="1"/>
              <a:t>Relaciones</a:t>
            </a:r>
            <a:endParaRPr sz="3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Las relaciones muestran </a:t>
            </a:r>
            <a:r>
              <a:rPr lang="en-US" b="1">
                <a:latin typeface="Arial"/>
                <a:ea typeface="Arial"/>
                <a:cs typeface="Arial"/>
                <a:sym typeface="Arial"/>
              </a:rPr>
              <a:t>cómo interactúan o se conectan las clases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Asociación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Agregación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Composición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Herencia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Dependencia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-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Puede tener multiplicidad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55918e9e_0_4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CLASE: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79" name="Google Shape;179;g3b055918e9e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600" y="2564724"/>
            <a:ext cx="5328375" cy="39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b055918e9e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1074" y="2777325"/>
            <a:ext cx="2856973" cy="9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055918e9e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01075" y="3931025"/>
            <a:ext cx="2856973" cy="9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b055918e9e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5985" y="5084725"/>
            <a:ext cx="2672064" cy="9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b055918e9e_0_40"/>
          <p:cNvSpPr txBox="1"/>
          <p:nvPr/>
        </p:nvSpPr>
        <p:spPr>
          <a:xfrm>
            <a:off x="12158050" y="2703425"/>
            <a:ext cx="5480700" cy="3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g3b055918e9e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99525" y="6546025"/>
            <a:ext cx="5617375" cy="351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3b055918e9e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713626">
            <a:off x="2695565" y="6575656"/>
            <a:ext cx="1862144" cy="933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b055918e9e_0_40"/>
          <p:cNvSpPr txBox="1"/>
          <p:nvPr/>
        </p:nvSpPr>
        <p:spPr>
          <a:xfrm>
            <a:off x="2297500" y="7832100"/>
            <a:ext cx="21504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55918e9e_0_57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VISIBILIDAD: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92" name="Google Shape;192;g3b055918e9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13" y="1593075"/>
            <a:ext cx="9527975" cy="826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b055918e9e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815333">
            <a:off x="4277524" y="3993316"/>
            <a:ext cx="2572126" cy="90359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b055918e9e_0_57"/>
          <p:cNvSpPr txBox="1"/>
          <p:nvPr/>
        </p:nvSpPr>
        <p:spPr>
          <a:xfrm>
            <a:off x="1227325" y="3586450"/>
            <a:ext cx="34314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 Pública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g3b055918e9e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68549" y="7223391"/>
            <a:ext cx="2572126" cy="90359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055918e9e_0_57"/>
          <p:cNvSpPr txBox="1"/>
          <p:nvPr/>
        </p:nvSpPr>
        <p:spPr>
          <a:xfrm>
            <a:off x="13908000" y="3323588"/>
            <a:ext cx="34314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 Protegida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b055918e9e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30940">
            <a:off x="11259799" y="4008140"/>
            <a:ext cx="2572128" cy="90359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b055918e9e_0_57"/>
          <p:cNvSpPr txBox="1"/>
          <p:nvPr/>
        </p:nvSpPr>
        <p:spPr>
          <a:xfrm>
            <a:off x="12936375" y="7358238"/>
            <a:ext cx="34314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Línea Privada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055918e9e_0_8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RELACIONES: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04" name="Google Shape;204;g3b055918e9e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38" y="3339099"/>
            <a:ext cx="17578525" cy="36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b07f39e93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5650" y="1840150"/>
            <a:ext cx="7672223" cy="518847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b07f39e93c_0_0"/>
          <p:cNvSpPr txBox="1"/>
          <p:nvPr/>
        </p:nvSpPr>
        <p:spPr>
          <a:xfrm>
            <a:off x="868975" y="2396100"/>
            <a:ext cx="9692100" cy="4906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highlight>
                  <a:schemeClr val="lt1"/>
                </a:highlight>
              </a:rPr>
              <a:t>El Cloud Computing (Computación en la Nube) es la entrega bajo demanda de recursos informáticos (servidores, almacenamiento, bases de datos, redes, software) a través de Internet, permitiendo a empresas y usuarios alquilar estos servicios en lugar de comprarlos y mantenerlos, pagando solo por lo que usan, lo que ofrece flexibilidad, escalabilidad, reducción de costos y mayor velocidad para la innovación</a:t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11" name="Google Shape;211;g3b07f39e93c_0_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CLOUD COMPUTING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07f39e93c_0_15"/>
          <p:cNvSpPr txBox="1"/>
          <p:nvPr/>
        </p:nvSpPr>
        <p:spPr>
          <a:xfrm>
            <a:off x="868975" y="2396100"/>
            <a:ext cx="9692100" cy="43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17" name="Google Shape;217;g3b07f39e93c_0_1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VENTAJAS Y DESVENTAJAS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aphicFrame>
        <p:nvGraphicFramePr>
          <p:cNvPr id="218" name="Google Shape;218;g3b07f39e93c_0_15"/>
          <p:cNvGraphicFramePr/>
          <p:nvPr/>
        </p:nvGraphicFramePr>
        <p:xfrm>
          <a:off x="952500" y="2049700"/>
          <a:ext cx="16383000" cy="3070139"/>
        </p:xfrm>
        <a:graphic>
          <a:graphicData uri="http://schemas.openxmlformats.org/drawingml/2006/table">
            <a:tbl>
              <a:tblPr>
                <a:noFill/>
                <a:tableStyleId>{CF502709-B3AA-4FDE-A259-310D332CCCB7}</a:tableStyleId>
              </a:tblPr>
              <a:tblGrid>
                <a:gridCol w="819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Ventajas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Desventajas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Bajo costo inicial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Dependencia de Internet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Escalable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Riesgos de seguridad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Accesible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Costos impredecibles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Alta disponibilidad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Dependencia del proveedor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19" name="Google Shape;219;g3b07f39e93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7226" y="5276225"/>
            <a:ext cx="5713550" cy="479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07f39e93c_0_43"/>
          <p:cNvSpPr txBox="1"/>
          <p:nvPr/>
        </p:nvSpPr>
        <p:spPr>
          <a:xfrm>
            <a:off x="868975" y="2396100"/>
            <a:ext cx="9692100" cy="43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25" name="Google Shape;225;g3b07f39e93c_0_43"/>
          <p:cNvSpPr txBox="1"/>
          <p:nvPr/>
        </p:nvSpPr>
        <p:spPr>
          <a:xfrm>
            <a:off x="1395989" y="4435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NUBE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aphicFrame>
        <p:nvGraphicFramePr>
          <p:cNvPr id="226" name="Google Shape;226;g3b07f39e93c_0_43"/>
          <p:cNvGraphicFramePr/>
          <p:nvPr/>
        </p:nvGraphicFramePr>
        <p:xfrm>
          <a:off x="952500" y="1382275"/>
          <a:ext cx="16383000" cy="8686740"/>
        </p:xfrm>
        <a:graphic>
          <a:graphicData uri="http://schemas.openxmlformats.org/drawingml/2006/table">
            <a:tbl>
              <a:tblPr>
                <a:noFill/>
                <a:tableStyleId>{CF502709-B3AA-4FDE-A259-310D332CCCB7}</a:tableStyleId>
              </a:tblPr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NUBE PÚBLICA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NUBE PRIVADA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NUBE HÍBRIDA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NUBE COMUNITARIA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Descripción: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Infraestructura compartida entre varios usuarios.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Ejemplos: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Amazon Web Services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Microsoft Azure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Ventajas: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Alta escalabilidad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No requiere mantenimiento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Menor control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Datos en servidores de terceros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Descripción: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Infraestructura exclusiva de una sola organización.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Mayor seguridad y control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Ideal para datos sensibles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Más costosa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Menos escalable que la pública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Descripción: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Combina nube pública y privada.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Permite mover datos y aplicaciones entre ambas.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Flexibilidad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Balance entre costo y seguridad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Gestión más compleja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Descripción: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Compartida por varias organizaciones con objetivos similares como universidades o entidades gubernamentales).</a:t>
                      </a:r>
                      <a:br>
                        <a:rPr lang="en-US" sz="2800">
                          <a:solidFill>
                            <a:schemeClr val="dk1"/>
                          </a:solidFill>
                        </a:rPr>
                      </a:b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Costos compartidos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Normativas comunes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Desventajas: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Menos flexible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Requiere coordinación entre entidades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07f39e93c_0_54"/>
          <p:cNvSpPr txBox="1"/>
          <p:nvPr/>
        </p:nvSpPr>
        <p:spPr>
          <a:xfrm>
            <a:off x="868975" y="2396100"/>
            <a:ext cx="9692100" cy="43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32" name="Google Shape;232;g3b07f39e93c_0_54"/>
          <p:cNvSpPr txBox="1"/>
          <p:nvPr/>
        </p:nvSpPr>
        <p:spPr>
          <a:xfrm>
            <a:off x="1395989" y="4435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MODELOS EN LA NUBE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aphicFrame>
        <p:nvGraphicFramePr>
          <p:cNvPr id="233" name="Google Shape;233;g3b07f39e93c_0_54"/>
          <p:cNvGraphicFramePr/>
          <p:nvPr/>
        </p:nvGraphicFramePr>
        <p:xfrm>
          <a:off x="966175" y="1382275"/>
          <a:ext cx="16355650" cy="8961060"/>
        </p:xfrm>
        <a:graphic>
          <a:graphicData uri="http://schemas.openxmlformats.org/drawingml/2006/table">
            <a:tbl>
              <a:tblPr>
                <a:noFill/>
                <a:tableStyleId>{CF502709-B3AA-4FDE-A259-310D332CCCB7}</a:tableStyleId>
              </a:tblPr>
              <a:tblGrid>
                <a:gridCol w="500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SAAS (Software As A Service)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PAAS (Product As A Service)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IAAS (Infraestructure As A Service)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Qué es: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proveedor ofrece </a:t>
                      </a: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software completo</a:t>
                      </a: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 listo para usar.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usuario solo lo utiliza vía Internet.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Ejemplos: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Gmail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Google Drive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Microsoft 365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Ideal para: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Usuarios finales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Uso inmediato sin configuraciones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Qué es: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proveedor ofrece </a:t>
                      </a: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infraestructura + plataforma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usuario solo se enfoca en desarrollar y ejecutar aplicaciones.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Ejemplos: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Google App Engine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Heroku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Azure App Service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Ideal para: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Desarrolladores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Desarrollo rápido de aplicaciones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Qué es: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proveedor ofrece la </a:t>
                      </a: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infraestructura básica</a:t>
                      </a: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: servidores, redes, almacenamiento.</a:t>
                      </a:r>
                      <a:br>
                        <a:rPr lang="en-US" sz="2800">
                          <a:solidFill>
                            <a:schemeClr val="dk1"/>
                          </a:solidFill>
                        </a:rPr>
                      </a:b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El usuario administra el sistema operativo, aplicaciones y datos.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Ejemplos: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Amazon EC2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Microsoft Azure Virtual Machines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Google Compute Engine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 b="1">
                          <a:solidFill>
                            <a:schemeClr val="dk1"/>
                          </a:solidFill>
                        </a:rPr>
                        <a:t>Ideal para: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Administradores de sistemas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4064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Char char="●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Control total del entorno</a:t>
                      </a:r>
                      <a:endParaRPr sz="28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3b07f39e93c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96175" y="0"/>
            <a:ext cx="1991825" cy="19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b07f39e93c_0_63"/>
          <p:cNvSpPr txBox="1"/>
          <p:nvPr/>
        </p:nvSpPr>
        <p:spPr>
          <a:xfrm>
            <a:off x="868975" y="2396100"/>
            <a:ext cx="9692100" cy="43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40" name="Google Shape;240;g3b07f39e93c_0_63"/>
          <p:cNvSpPr txBox="1"/>
          <p:nvPr/>
        </p:nvSpPr>
        <p:spPr>
          <a:xfrm>
            <a:off x="1395989" y="4435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SERVICIOS EN LA NUBE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aphicFrame>
        <p:nvGraphicFramePr>
          <p:cNvPr id="241" name="Google Shape;241;g3b07f39e93c_0_63"/>
          <p:cNvGraphicFramePr/>
          <p:nvPr/>
        </p:nvGraphicFramePr>
        <p:xfrm>
          <a:off x="966175" y="1382275"/>
          <a:ext cx="16355650" cy="8495459"/>
        </p:xfrm>
        <a:graphic>
          <a:graphicData uri="http://schemas.openxmlformats.org/drawingml/2006/table">
            <a:tbl>
              <a:tblPr>
                <a:noFill/>
                <a:tableStyleId>{CF502709-B3AA-4FDE-A259-310D332CCCB7}</a:tableStyleId>
              </a:tblPr>
              <a:tblGrid>
                <a:gridCol w="500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Tipo de servicio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Descripción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Ejemplos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Cómputo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Permite ejecutar aplicaciones y procesos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Máquinas virtuales, contenedores, serverless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Almacenamiento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Guarda datos de forma segura y escalable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Amazon S3, Google Cloud Storage, Azure Blob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Bases de datos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Bases de datos listas para usar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MySQL, PostgreSQL, MongoDB, DynamoDB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Redes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Conectividad y control del tráfico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Redes virtuales, VPN, balanceadores de carga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Seguridad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Protección de datos y accesos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IAM, cifrado, firewall, protección DDoS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Desarrollo / DevOps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Automatiza desarrollo y despliegue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CI/CD, monitoreo, control de versiones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Analítica e IA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Análisis de datos e inteligencia artificial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Big Data, Machine Learning, IA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 b="1"/>
                        <a:t>Aplicaciones (SaaS)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800"/>
                        <a:t>Software listo para el usuario final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Gmail, Google Drive, Microsoft 365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07f39e93c_0_71"/>
          <p:cNvSpPr txBox="1"/>
          <p:nvPr/>
        </p:nvSpPr>
        <p:spPr>
          <a:xfrm>
            <a:off x="868975" y="2396100"/>
            <a:ext cx="9692100" cy="431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47" name="Google Shape;247;g3b07f39e93c_0_7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PROVEEDORES DE NUBE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aphicFrame>
        <p:nvGraphicFramePr>
          <p:cNvPr id="248" name="Google Shape;248;g3b07f39e93c_0_71"/>
          <p:cNvGraphicFramePr/>
          <p:nvPr/>
        </p:nvGraphicFramePr>
        <p:xfrm>
          <a:off x="952500" y="2049700"/>
          <a:ext cx="16229175" cy="3314009"/>
        </p:xfrm>
        <a:graphic>
          <a:graphicData uri="http://schemas.openxmlformats.org/drawingml/2006/table">
            <a:tbl>
              <a:tblPr>
                <a:noFill/>
                <a:tableStyleId>{CF502709-B3AA-4FDE-A259-310D332CCCB7}</a:tableStyleId>
              </a:tblPr>
              <a:tblGrid>
                <a:gridCol w="540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Proveedor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Servicios destacados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Uso común</a:t>
                      </a:r>
                      <a:endParaRPr sz="28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Amazon Web Services (AWS)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EC2, S3, RDS, Lambda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Empresas de todos los tamaños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Microsoft Azure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Azure VM, Azure SQL, Active Directory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Empresas que usan Windows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Google Cloud Platform (GCP)</a:t>
                      </a:r>
                      <a:endParaRPr sz="2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Compute Engine, BigQuery, Cloud Storage</a:t>
                      </a:r>
                      <a:endParaRPr sz="28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Big Data y Machine Learning</a:t>
                      </a:r>
                      <a:endParaRPr sz="2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9" name="Google Shape;249;g3b07f39e93c_0_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2" y="5797975"/>
            <a:ext cx="5361426" cy="35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b07f39e93c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0699" y="5523938"/>
            <a:ext cx="4126824" cy="412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b07f39e93c_0_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125" y="5457009"/>
            <a:ext cx="7574526" cy="4260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3628493" y="2680350"/>
            <a:ext cx="11031000" cy="39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3180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lang="en-US" sz="3200">
                <a:solidFill>
                  <a:srgbClr val="131416"/>
                </a:solidFill>
              </a:rPr>
              <a:t>Conocimientos de un diagrama de clases</a:t>
            </a:r>
            <a:endParaRPr sz="3200">
              <a:solidFill>
                <a:srgbClr val="131416"/>
              </a:solidFill>
            </a:endParaRPr>
          </a:p>
          <a:p>
            <a:pPr marL="457200" marR="0" lvl="0" indent="-43180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lang="en-US" sz="3200">
                <a:solidFill>
                  <a:srgbClr val="131416"/>
                </a:solidFill>
              </a:rPr>
              <a:t>Aplicación de conceptos de UML para realización de diagramas de clases</a:t>
            </a:r>
            <a:endParaRPr sz="3200">
              <a:solidFill>
                <a:srgbClr val="131416"/>
              </a:solidFill>
            </a:endParaRPr>
          </a:p>
          <a:p>
            <a:pPr marL="457200" marR="0" lvl="0" indent="-43180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lang="en-US" sz="3200">
                <a:solidFill>
                  <a:srgbClr val="131416"/>
                </a:solidFill>
              </a:rPr>
              <a:t>Conocimientos de servicios en la nube</a:t>
            </a:r>
            <a:endParaRPr sz="3200">
              <a:solidFill>
                <a:srgbClr val="131416"/>
              </a:solidFill>
            </a:endParaRPr>
          </a:p>
          <a:p>
            <a:pPr marL="457200" marR="0" lvl="0" indent="-43180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lang="en-US" sz="3200">
                <a:solidFill>
                  <a:srgbClr val="131416"/>
                </a:solidFill>
              </a:rPr>
              <a:t>Conocimiento de principales proveedores, servicios, modelos y tipos de nube</a:t>
            </a:r>
            <a:endParaRPr sz="3200">
              <a:solidFill>
                <a:srgbClr val="131416"/>
              </a:solidFill>
            </a:endParaRPr>
          </a:p>
        </p:txBody>
      </p:sp>
      <p:pic>
        <p:nvPicPr>
          <p:cNvPr id="258" name="Google Shape;25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73550"/>
            <a:ext cx="3361050" cy="33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9500" y="6773550"/>
            <a:ext cx="3361050" cy="33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DISCIPLINA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1116331" y="2896179"/>
            <a:ext cx="6911400" cy="2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es la capacidad de </a:t>
            </a:r>
            <a:r>
              <a:rPr lang="en-US" sz="2800" b="1">
                <a:solidFill>
                  <a:schemeClr val="dk1"/>
                </a:solidFill>
              </a:rPr>
              <a:t>mantener constancia y autocontrol</a:t>
            </a:r>
            <a:r>
              <a:rPr lang="en-US" sz="2800">
                <a:solidFill>
                  <a:schemeClr val="dk1"/>
                </a:solidFill>
              </a:rPr>
              <a:t> para cumplir metas, normas o compromisos, incluso cuando no hay ganas o resulta difícil.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13447220" y="5230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67" name="Google Shape;267;p7"/>
          <p:cNvSpPr txBox="1"/>
          <p:nvPr/>
        </p:nvSpPr>
        <p:spPr>
          <a:xfrm>
            <a:off x="14141344" y="6069937"/>
            <a:ext cx="3238200" cy="28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i="1">
                <a:solidFill>
                  <a:schemeClr val="dk1"/>
                </a:solidFill>
              </a:rPr>
              <a:t>“</a:t>
            </a:r>
            <a:r>
              <a:rPr lang="en-US" sz="2400" i="1">
                <a:solidFill>
                  <a:schemeClr val="dk1"/>
                </a:solidFill>
              </a:rPr>
              <a:t>Somos lo que hacemos repetidamente. La excelencia, entonces, no es un acto, sino un hábito.”</a:t>
            </a:r>
            <a:endParaRPr sz="2400" i="1">
              <a:solidFill>
                <a:schemeClr val="dk1"/>
              </a:solidFill>
            </a:endParaRPr>
          </a:p>
          <a:p>
            <a:pPr marL="457200" marR="0" lvl="0" indent="-356489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Char char="-"/>
            </a:pPr>
            <a:r>
              <a:rPr lang="en-US" sz="20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Aristóteles</a:t>
            </a:r>
            <a:endParaRPr sz="20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7"/>
          <p:cNvSpPr txBox="1"/>
          <p:nvPr/>
        </p:nvSpPr>
        <p:spPr>
          <a:xfrm>
            <a:off x="10447200" y="2896175"/>
            <a:ext cx="6699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/>
              <a:t>Ejemplos:</a:t>
            </a:r>
            <a:endParaRPr sz="2800" b="1"/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 sz="2800"/>
              <a:t>Estudiar todos los días.</a:t>
            </a:r>
            <a:endParaRPr sz="2800"/>
          </a:p>
          <a:p>
            <a:pPr marL="457200" marR="3810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Levantarse temprano para entrenar.</a:t>
            </a:r>
            <a:endParaRPr sz="2800"/>
          </a:p>
        </p:txBody>
      </p:sp>
      <p:sp>
        <p:nvSpPr>
          <p:cNvPr id="269" name="Google Shape;269;p7"/>
          <p:cNvSpPr txBox="1"/>
          <p:nvPr/>
        </p:nvSpPr>
        <p:spPr>
          <a:xfrm>
            <a:off x="4400081" y="7214454"/>
            <a:ext cx="6911400" cy="2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</a:rPr>
              <a:t>Constancia</a:t>
            </a:r>
            <a:endParaRPr sz="2800" b="1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Es la capacidad de perseverar en una acción a lo largo del tiempo sin rendirse ante las dificultades.</a:t>
            </a:r>
            <a:endParaRPr sz="28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"/>
          <p:cNvSpPr txBox="1"/>
          <p:nvPr/>
        </p:nvSpPr>
        <p:spPr>
          <a:xfrm>
            <a:off x="2392340" y="106335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275" name="Google Shape;275;p8" title="Gemini_Generated_Image_k3gbyrk3gbyrk3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7000174" cy="436144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4580250" y="3429000"/>
            <a:ext cx="9127500" cy="57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https://www.tutorialesprogramacionya.com/javaya/detalleconcepto.php?codigo=180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https://www.codeja.dev/blog/hilos-thread-en-java/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MUÐO, DURAN, et al. </a:t>
            </a:r>
            <a:r>
              <a:rPr lang="en-US" sz="2800" i="1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Programación orientada a objetos con Java</a:t>
            </a:r>
            <a:r>
              <a:rPr lang="en-US" sz="2800">
                <a:solidFill>
                  <a:srgbClr val="222222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. Ediciones Paraninfo, SA, 2007.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70575" y="6051800"/>
            <a:ext cx="3785475" cy="378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4afea4f63_0_14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g364afea4f63_0_14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/>
          <p:nvPr/>
        </p:nvSpPr>
        <p:spPr>
          <a:xfrm>
            <a:off x="4571995" y="517605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765363" y="5966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97" name="Google Shape;29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1229</Words>
  <Application>Microsoft Office PowerPoint</Application>
  <PresentationFormat>Personalizado</PresentationFormat>
  <Paragraphs>223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0" baseType="lpstr">
      <vt:lpstr>Arial</vt:lpstr>
      <vt:lpstr>Lobster</vt:lpstr>
      <vt:lpstr>Roboto Mono</vt:lpstr>
      <vt:lpstr>Pacifico</vt:lpstr>
      <vt:lpstr>Impact</vt:lpstr>
      <vt:lpstr>Open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NOTACIONES DE DIAGRAMA DE CLASES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pablo oliva</cp:lastModifiedBy>
  <cp:revision>4</cp:revision>
  <dcterms:created xsi:type="dcterms:W3CDTF">2006-08-16T00:00:00Z</dcterms:created>
  <dcterms:modified xsi:type="dcterms:W3CDTF">2026-05-16T07:18:36Z</dcterms:modified>
</cp:coreProperties>
</file>