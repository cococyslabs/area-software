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Pacifico"/>
      <p:regular r:id="rId46"/>
    </p:embeddedFont>
    <p:embeddedFont>
      <p:font typeface="Open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1" roundtripDataSignature="AMtx7mjT03GivFf8UmpDQMZUvCOGSr95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170558-3CD5-44D4-9608-BA68BA657679}">
  <a:tblStyle styleId="{A9170558-3CD5-44D4-9608-BA68BA65767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C169746-E9D3-4AD0-86B2-747766C18CBC}"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Pacifico-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penSans-bold.fntdata"/><Relationship Id="rId47" Type="http://schemas.openxmlformats.org/officeDocument/2006/relationships/font" Target="fonts/OpenSans-regular.fntdata"/><Relationship Id="rId49"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c60227a6a_2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5c60227a6a_2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c6a80a5d2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5c6a80a5d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5c6a80a5d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5c6a80a5d2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5c6a80a5d2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5c6a80a5d2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c6a80a5d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5c6a80a5d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c60227a6a_2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5c60227a6a_2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5c6a80a5d2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5c6a80a5d2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5c6a80a5d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g35c6a80a5d2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5c6a80a5d2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35c6a80a5d2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5c6a80a5d2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g35c6a80a5d2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5c60227a6a_2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5c60227a6a_2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5c6a80a5d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35c6a80a5d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5c6a80a5d2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5c6a80a5d2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c60227a6a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5c60227a6a_2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5c60227a6a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5c60227a6a_2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5c60227a6a_2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5c60227a6a_2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c6a80a5d2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5c6a80a5d2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c60227a6a_2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g35c60227a6a_2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c60227a6a_2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g35c60227a6a_2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c60227a6a_2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g35c60227a6a_2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c60227a6a_2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35c60227a6a_2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5c60227a6a_2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5c60227a6a_2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5c660dae7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5c660dae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5c60227a6a_2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35c60227a6a_2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c60227a6a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5c60227a6a_2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c60227a6a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5c60227a6a_2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5c660dae79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5c660dae7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5c660dae7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5c660dae7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5c660dae79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5c660dae79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c660dae79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35c660dae7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5c660dae79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g35c660dae79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5c660dae79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35c660dae7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5c6a80a5d2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5c6a80a5d2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296" y="6490925"/>
            <a:ext cx="130932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Introducción a la Programación y Computación 1</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87399" y="3915650"/>
            <a:ext cx="13860000" cy="2290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6200" u="none" cap="none" strike="noStrike">
                <a:solidFill>
                  <a:srgbClr val="131416"/>
                </a:solidFill>
                <a:latin typeface="Open Sans"/>
                <a:ea typeface="Open Sans"/>
                <a:cs typeface="Open Sans"/>
                <a:sym typeface="Open Sans"/>
              </a:rPr>
              <a:t>Introducción a Java y Manejo de memoria</a:t>
            </a:r>
            <a:endParaRPr b="0" i="0" sz="500" u="none" cap="none" strike="noStrike">
              <a:solidFill>
                <a:srgbClr val="000000"/>
              </a:solidFill>
              <a:latin typeface="Arial"/>
              <a:ea typeface="Arial"/>
              <a:cs typeface="Arial"/>
              <a:sym typeface="Arial"/>
            </a:endParaRPr>
          </a:p>
        </p:txBody>
      </p:sp>
      <p:sp>
        <p:nvSpPr>
          <p:cNvPr id="87" name="Google Shape;87;p1"/>
          <p:cNvSpPr txBox="1"/>
          <p:nvPr/>
        </p:nvSpPr>
        <p:spPr>
          <a:xfrm>
            <a:off x="1081353" y="8540776"/>
            <a:ext cx="6981300" cy="14619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chemeClr val="dk1"/>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a:p>
            <a:pPr indent="0" lvl="0" marL="0" marR="0" rtl="0" algn="l">
              <a:lnSpc>
                <a:spcPct val="140016"/>
              </a:lnSpc>
              <a:spcBef>
                <a:spcPts val="0"/>
              </a:spcBef>
              <a:spcAft>
                <a:spcPts val="0"/>
              </a:spcAft>
              <a:buClr>
                <a:schemeClr val="dk1"/>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Ciencias Y Sistemas</a:t>
            </a:r>
            <a:endParaRPr b="1" i="0" sz="2499" u="none" cap="none" strike="noStrike">
              <a:solidFill>
                <a:srgbClr val="131416"/>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2"/>
          <p:cNvGrpSpPr/>
          <p:nvPr/>
        </p:nvGrpSpPr>
        <p:grpSpPr>
          <a:xfrm>
            <a:off x="176619" y="4540200"/>
            <a:ext cx="10000621" cy="845566"/>
            <a:chOff x="0" y="-67806"/>
            <a:chExt cx="4257768" cy="360000"/>
          </a:xfrm>
        </p:grpSpPr>
        <p:sp>
          <p:nvSpPr>
            <p:cNvPr id="93" name="Google Shape;93;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4" name="Google Shape;94;p2"/>
            <p:cNvSpPr txBox="1"/>
            <p:nvPr/>
          </p:nvSpPr>
          <p:spPr>
            <a:xfrm>
              <a:off x="73668" y="-67806"/>
              <a:ext cx="4184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Estructuras de control (if, else if, else y switch)</a:t>
              </a:r>
              <a:endParaRPr b="0" i="0" sz="1400" u="none" cap="none" strike="noStrike">
                <a:solidFill>
                  <a:srgbClr val="000000"/>
                </a:solidFill>
                <a:latin typeface="Arial"/>
                <a:ea typeface="Arial"/>
                <a:cs typeface="Arial"/>
                <a:sym typeface="Arial"/>
              </a:endParaRPr>
            </a:p>
          </p:txBody>
        </p:sp>
      </p:grpSp>
      <p:sp>
        <p:nvSpPr>
          <p:cNvPr id="95" name="Google Shape;95;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6" name="Google Shape;96;p2"/>
          <p:cNvGrpSpPr/>
          <p:nvPr/>
        </p:nvGrpSpPr>
        <p:grpSpPr>
          <a:xfrm>
            <a:off x="1866989" y="3013983"/>
            <a:ext cx="4115190" cy="1556484"/>
            <a:chOff x="0" y="-76200"/>
            <a:chExt cx="1083836" cy="409938"/>
          </a:xfrm>
        </p:grpSpPr>
        <p:sp>
          <p:nvSpPr>
            <p:cNvPr id="97" name="Google Shape;97;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98" name="Google Shape;98;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99" name="Google Shape;99;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00" name="Google Shape;100;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grpSp>
        <p:nvGrpSpPr>
          <p:cNvPr id="101" name="Google Shape;101;p2"/>
          <p:cNvGrpSpPr/>
          <p:nvPr/>
        </p:nvGrpSpPr>
        <p:grpSpPr>
          <a:xfrm>
            <a:off x="176619" y="5473100"/>
            <a:ext cx="7214036" cy="845566"/>
            <a:chOff x="0" y="-63939"/>
            <a:chExt cx="3071378" cy="360000"/>
          </a:xfrm>
        </p:grpSpPr>
        <p:sp>
          <p:nvSpPr>
            <p:cNvPr id="102" name="Google Shape;10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3" name="Google Shape;103;p2"/>
            <p:cNvSpPr txBox="1"/>
            <p:nvPr/>
          </p:nvSpPr>
          <p:spPr>
            <a:xfrm>
              <a:off x="60278" y="-63939"/>
              <a:ext cx="3011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Ciclos (for, while, do-while)</a:t>
              </a:r>
              <a:endParaRPr b="0" i="0" sz="1400" u="none" cap="none" strike="noStrike">
                <a:solidFill>
                  <a:srgbClr val="000000"/>
                </a:solidFill>
                <a:latin typeface="Arial"/>
                <a:ea typeface="Arial"/>
                <a:cs typeface="Arial"/>
                <a:sym typeface="Arial"/>
              </a:endParaRPr>
            </a:p>
          </p:txBody>
        </p:sp>
      </p:grpSp>
      <p:grpSp>
        <p:nvGrpSpPr>
          <p:cNvPr id="104" name="Google Shape;104;p2"/>
          <p:cNvGrpSpPr/>
          <p:nvPr/>
        </p:nvGrpSpPr>
        <p:grpSpPr>
          <a:xfrm>
            <a:off x="176625" y="6425875"/>
            <a:ext cx="5805648" cy="845568"/>
            <a:chOff x="0" y="-76199"/>
            <a:chExt cx="1964221" cy="360000"/>
          </a:xfrm>
        </p:grpSpPr>
        <p:sp>
          <p:nvSpPr>
            <p:cNvPr id="105" name="Google Shape;10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6" name="Google Shape;106;p2"/>
            <p:cNvSpPr txBox="1"/>
            <p:nvPr/>
          </p:nvSpPr>
          <p:spPr>
            <a:xfrm>
              <a:off x="0" y="-76199"/>
              <a:ext cx="1964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Try-catch-finally</a:t>
              </a:r>
              <a:endParaRPr b="0" i="0" sz="1400" u="none" cap="none" strike="noStrike">
                <a:solidFill>
                  <a:srgbClr val="000000"/>
                </a:solidFill>
                <a:latin typeface="Arial"/>
                <a:ea typeface="Arial"/>
                <a:cs typeface="Arial"/>
                <a:sym typeface="Arial"/>
              </a:endParaRPr>
            </a:p>
          </p:txBody>
        </p:sp>
      </p:grpSp>
      <p:grpSp>
        <p:nvGrpSpPr>
          <p:cNvPr id="107" name="Google Shape;107;p2"/>
          <p:cNvGrpSpPr/>
          <p:nvPr/>
        </p:nvGrpSpPr>
        <p:grpSpPr>
          <a:xfrm>
            <a:off x="-84101" y="7419301"/>
            <a:ext cx="8446203" cy="845568"/>
            <a:chOff x="-55677" y="-46463"/>
            <a:chExt cx="2019898" cy="360000"/>
          </a:xfrm>
        </p:grpSpPr>
        <p:sp>
          <p:nvSpPr>
            <p:cNvPr id="108" name="Google Shape;10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9" name="Google Shape;109;p2"/>
            <p:cNvSpPr txBox="1"/>
            <p:nvPr/>
          </p:nvSpPr>
          <p:spPr>
            <a:xfrm>
              <a:off x="-55677" y="-46463"/>
              <a:ext cx="19272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Procedimientos y funciones</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1" y="8412924"/>
            <a:ext cx="12633181" cy="845532"/>
            <a:chOff x="-75198" y="-76200"/>
            <a:chExt cx="2039419" cy="360000"/>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2" name="Google Shape;112;p2"/>
            <p:cNvSpPr txBox="1"/>
            <p:nvPr/>
          </p:nvSpPr>
          <p:spPr>
            <a:xfrm>
              <a:off x="-75198"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Debugging (Breakpoint, strat, pause, continue, stop)</a:t>
              </a:r>
              <a:endParaRPr b="0" i="0" sz="1400" u="none" cap="none" strike="noStrike">
                <a:solidFill>
                  <a:srgbClr val="000000"/>
                </a:solidFill>
                <a:latin typeface="Arial"/>
                <a:ea typeface="Arial"/>
                <a:cs typeface="Arial"/>
                <a:sym typeface="Arial"/>
              </a:endParaRPr>
            </a:p>
          </p:txBody>
        </p:sp>
      </p:grpSp>
      <p:sp>
        <p:nvSpPr>
          <p:cNvPr id="113" name="Google Shape;113;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4" name="Google Shape;114;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5" name="Google Shape;115;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6" name="Google Shape;116;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grpSp>
        <p:nvGrpSpPr>
          <p:cNvPr id="117" name="Google Shape;117;p2"/>
          <p:cNvGrpSpPr/>
          <p:nvPr/>
        </p:nvGrpSpPr>
        <p:grpSpPr>
          <a:xfrm>
            <a:off x="10177169" y="4540175"/>
            <a:ext cx="5315309" cy="845568"/>
            <a:chOff x="0" y="-67816"/>
            <a:chExt cx="2262989" cy="360000"/>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298889" y="-67816"/>
              <a:ext cx="19641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Arreglos y matrices</a:t>
              </a:r>
              <a:endParaRPr b="0" i="0" sz="1400" u="none" cap="none" strike="noStrike">
                <a:solidFill>
                  <a:srgbClr val="000000"/>
                </a:solidFill>
                <a:latin typeface="Arial"/>
                <a:ea typeface="Arial"/>
                <a:cs typeface="Arial"/>
                <a:sym typeface="Arial"/>
              </a:endParaRPr>
            </a:p>
          </p:txBody>
        </p:sp>
      </p:grpSp>
      <p:sp>
        <p:nvSpPr>
          <p:cNvPr id="120" name="Google Shape;120;p2"/>
          <p:cNvSpPr/>
          <p:nvPr/>
        </p:nvSpPr>
        <p:spPr>
          <a:xfrm>
            <a:off x="1072190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21" name="Google Shape;121;p2"/>
          <p:cNvGrpSpPr/>
          <p:nvPr/>
        </p:nvGrpSpPr>
        <p:grpSpPr>
          <a:xfrm>
            <a:off x="10019869" y="5478000"/>
            <a:ext cx="5472758" cy="845568"/>
            <a:chOff x="0" y="-65725"/>
            <a:chExt cx="2330023" cy="360000"/>
          </a:xfrm>
        </p:grpSpPr>
        <p:sp>
          <p:nvSpPr>
            <p:cNvPr id="122" name="Google Shape;12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3" name="Google Shape;123;p2"/>
            <p:cNvSpPr txBox="1"/>
            <p:nvPr/>
          </p:nvSpPr>
          <p:spPr>
            <a:xfrm>
              <a:off x="160723" y="-65725"/>
              <a:ext cx="21693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Listas dinámicas</a:t>
              </a:r>
              <a:endParaRPr b="0" i="0" sz="1400" u="none" cap="none" strike="noStrike">
                <a:solidFill>
                  <a:srgbClr val="000000"/>
                </a:solidFill>
                <a:latin typeface="Arial"/>
                <a:ea typeface="Arial"/>
                <a:cs typeface="Arial"/>
                <a:sym typeface="Arial"/>
              </a:endParaRPr>
            </a:p>
          </p:txBody>
        </p:sp>
      </p:grpSp>
      <p:sp>
        <p:nvSpPr>
          <p:cNvPr id="124" name="Google Shape;124;p2"/>
          <p:cNvSpPr/>
          <p:nvPr/>
        </p:nvSpPr>
        <p:spPr>
          <a:xfrm>
            <a:off x="10721904" y="56733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30" name="Google Shape;130;p3"/>
          <p:cNvSpPr txBox="1"/>
          <p:nvPr/>
        </p:nvSpPr>
        <p:spPr>
          <a:xfrm>
            <a:off x="2202102" y="3287425"/>
            <a:ext cx="14491800" cy="4341000"/>
          </a:xfrm>
          <a:prstGeom prst="rect">
            <a:avLst/>
          </a:prstGeom>
          <a:noFill/>
          <a:ln>
            <a:noFill/>
          </a:ln>
        </p:spPr>
        <p:txBody>
          <a:bodyPr anchorCtr="0" anchor="t" bIns="0" lIns="0" spcFirstLastPara="1" rIns="0" wrap="square" tIns="0">
            <a:spAutoFit/>
          </a:bodyPr>
          <a:lstStyle/>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Aplicar estructuras de control condicional (if, else if, else, switch)</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Utilizar correctamente las estructuras de repetición (for, while, do–while)</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Implementar el manejo de excepciones en Java</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Diseñar y utilizar procedimientos y funciones para modularizar el código.</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Declarar y manipular arreglos y matrices</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Utilizar listas dinámicas en Java</a:t>
            </a:r>
            <a:endParaRPr b="0" i="0" sz="3000" u="none" cap="none" strike="noStrike">
              <a:solidFill>
                <a:srgbClr val="131416"/>
              </a:solidFill>
              <a:latin typeface="Open Sans"/>
              <a:ea typeface="Open Sans"/>
              <a:cs typeface="Open Sans"/>
              <a:sym typeface="Open Sans"/>
            </a:endParaRPr>
          </a:p>
          <a:p>
            <a:pPr indent="-419100" lvl="0" marL="457200" marR="0" rtl="0" algn="l">
              <a:lnSpc>
                <a:spcPct val="140007"/>
              </a:lnSpc>
              <a:spcBef>
                <a:spcPts val="0"/>
              </a:spcBef>
              <a:spcAft>
                <a:spcPts val="0"/>
              </a:spcAft>
              <a:buClr>
                <a:srgbClr val="131416"/>
              </a:buClr>
              <a:buSzPts val="3000"/>
              <a:buFont typeface="Open Sans"/>
              <a:buChar char="●"/>
            </a:pPr>
            <a:r>
              <a:rPr b="0" i="0" lang="en-US" sz="3000" u="none" cap="none" strike="noStrike">
                <a:solidFill>
                  <a:srgbClr val="131416"/>
                </a:solidFill>
                <a:latin typeface="Open Sans"/>
                <a:ea typeface="Open Sans"/>
                <a:cs typeface="Open Sans"/>
                <a:sym typeface="Open Sans"/>
              </a:rPr>
              <a:t>Emplear técnicas básicas de depuración</a:t>
            </a:r>
            <a:endParaRPr b="0" i="0" sz="3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nvSpPr>
        <p:spPr>
          <a:xfrm>
            <a:off x="1374900" y="2123500"/>
            <a:ext cx="14889300" cy="1271400"/>
          </a:xfrm>
          <a:prstGeom prst="rect">
            <a:avLst/>
          </a:prstGeom>
          <a:noFill/>
          <a:ln>
            <a:noFill/>
          </a:ln>
        </p:spPr>
        <p:txBody>
          <a:bodyPr anchorCtr="0" anchor="t" bIns="0" lIns="0" spcFirstLastPara="1" rIns="0" wrap="square" tIns="0">
            <a:spAutoFit/>
          </a:bodyPr>
          <a:lstStyle/>
          <a:p>
            <a:pPr indent="0" lvl="0" marL="0" marR="0" rtl="0" algn="just">
              <a:lnSpc>
                <a:spcPct val="173070"/>
              </a:lnSpc>
              <a:spcBef>
                <a:spcPts val="0"/>
              </a:spcBef>
              <a:spcAft>
                <a:spcPts val="0"/>
              </a:spcAft>
              <a:buClr>
                <a:schemeClr val="dk1"/>
              </a:buClr>
              <a:buSzPts val="1100"/>
              <a:buFont typeface="Arial"/>
              <a:buNone/>
            </a:pPr>
            <a:r>
              <a:rPr b="0" i="0" lang="en-US" sz="3025" u="none" cap="none" strike="noStrike">
                <a:solidFill>
                  <a:srgbClr val="131416"/>
                </a:solidFill>
                <a:latin typeface="Arial"/>
                <a:ea typeface="Arial"/>
                <a:cs typeface="Arial"/>
                <a:sym typeface="Arial"/>
              </a:rPr>
              <a:t>Las estructuras de control se emplean para modificar el flujo secuencial de un programa.</a:t>
            </a:r>
            <a:endParaRPr b="0" i="0" sz="3025" u="none" cap="none" strike="noStrike">
              <a:solidFill>
                <a:srgbClr val="131416"/>
              </a:solidFill>
              <a:latin typeface="Arial"/>
              <a:ea typeface="Arial"/>
              <a:cs typeface="Arial"/>
              <a:sym typeface="Arial"/>
            </a:endParaRPr>
          </a:p>
        </p:txBody>
      </p:sp>
      <p:sp>
        <p:nvSpPr>
          <p:cNvPr id="136" name="Google Shape;136;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Estructuras de control</a:t>
            </a:r>
            <a:endParaRPr b="0" i="0" sz="1400" u="none" cap="none" strike="noStrike">
              <a:solidFill>
                <a:srgbClr val="000000"/>
              </a:solidFill>
              <a:latin typeface="Impact"/>
              <a:ea typeface="Impact"/>
              <a:cs typeface="Impact"/>
              <a:sym typeface="Impact"/>
            </a:endParaRPr>
          </a:p>
        </p:txBody>
      </p:sp>
      <p:pic>
        <p:nvPicPr>
          <p:cNvPr id="137" name="Google Shape;137;p4"/>
          <p:cNvPicPr preferRelativeResize="0"/>
          <p:nvPr/>
        </p:nvPicPr>
        <p:blipFill rotWithShape="1">
          <a:blip r:embed="rId3">
            <a:alphaModFix/>
          </a:blip>
          <a:srcRect b="0" l="0" r="0" t="0"/>
          <a:stretch/>
        </p:blipFill>
        <p:spPr>
          <a:xfrm>
            <a:off x="4819650" y="4073900"/>
            <a:ext cx="8648700" cy="4114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5c60227a6a_2_100"/>
          <p:cNvSpPr txBox="1"/>
          <p:nvPr/>
        </p:nvSpPr>
        <p:spPr>
          <a:xfrm>
            <a:off x="1392603" y="1973975"/>
            <a:ext cx="15502800" cy="15366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3025"/>
              <a:buFont typeface="Arial"/>
              <a:buNone/>
            </a:pPr>
            <a:r>
              <a:rPr b="0" i="0" lang="en-US" sz="3025" u="none" cap="none" strike="noStrike">
                <a:solidFill>
                  <a:srgbClr val="131416"/>
                </a:solidFill>
                <a:latin typeface="Arial"/>
                <a:ea typeface="Arial"/>
                <a:cs typeface="Arial"/>
                <a:sym typeface="Arial"/>
              </a:rPr>
              <a:t>La estructura if es la más básica y evalúa una única condición. Si la condición es verdadera (true), se ejecuta el bloque de código dentro del if. Si la condición es falsa (false), el código dentro del if se omite.</a:t>
            </a:r>
            <a:endParaRPr b="0" i="0" sz="3025" u="none" cap="none" strike="noStrike">
              <a:solidFill>
                <a:srgbClr val="131416"/>
              </a:solidFill>
              <a:latin typeface="Arial"/>
              <a:ea typeface="Arial"/>
              <a:cs typeface="Arial"/>
              <a:sym typeface="Arial"/>
            </a:endParaRPr>
          </a:p>
        </p:txBody>
      </p:sp>
      <p:sp>
        <p:nvSpPr>
          <p:cNvPr id="143" name="Google Shape;143;g35c60227a6a_2_10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IF</a:t>
            </a:r>
            <a:endParaRPr b="0" i="0" sz="1400" u="none" cap="none" strike="noStrike">
              <a:solidFill>
                <a:srgbClr val="000000"/>
              </a:solidFill>
              <a:latin typeface="Impact"/>
              <a:ea typeface="Impact"/>
              <a:cs typeface="Impact"/>
              <a:sym typeface="Impact"/>
            </a:endParaRPr>
          </a:p>
        </p:txBody>
      </p:sp>
      <p:pic>
        <p:nvPicPr>
          <p:cNvPr id="144" name="Google Shape;144;g35c60227a6a_2_100"/>
          <p:cNvPicPr preferRelativeResize="0"/>
          <p:nvPr/>
        </p:nvPicPr>
        <p:blipFill rotWithShape="1">
          <a:blip r:embed="rId3">
            <a:alphaModFix/>
          </a:blip>
          <a:srcRect b="0" l="0" r="0" t="0"/>
          <a:stretch/>
        </p:blipFill>
        <p:spPr>
          <a:xfrm>
            <a:off x="2728900" y="4307900"/>
            <a:ext cx="12830175" cy="48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5c6a80a5d2_0_8"/>
          <p:cNvSpPr txBox="1"/>
          <p:nvPr/>
        </p:nvSpPr>
        <p:spPr>
          <a:xfrm>
            <a:off x="1392603" y="1973975"/>
            <a:ext cx="15502800" cy="10011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3025"/>
              <a:buFont typeface="Arial"/>
              <a:buNone/>
            </a:pPr>
            <a:r>
              <a:rPr b="0" i="0" lang="en-US" sz="3025" u="none" cap="none" strike="noStrike">
                <a:solidFill>
                  <a:srgbClr val="131416"/>
                </a:solidFill>
                <a:latin typeface="Arial"/>
                <a:ea typeface="Arial"/>
                <a:cs typeface="Arial"/>
                <a:sym typeface="Arial"/>
              </a:rPr>
              <a:t>Cuando se requiere evaluar una condición y ejecutar un bloque de código si es verdadera, pero otro bloque si es falsa, se utiliza if-else.</a:t>
            </a:r>
            <a:endParaRPr b="0" i="0" sz="3025" u="none" cap="none" strike="noStrike">
              <a:solidFill>
                <a:srgbClr val="131416"/>
              </a:solidFill>
              <a:latin typeface="Arial"/>
              <a:ea typeface="Arial"/>
              <a:cs typeface="Arial"/>
              <a:sym typeface="Arial"/>
            </a:endParaRPr>
          </a:p>
        </p:txBody>
      </p:sp>
      <p:sp>
        <p:nvSpPr>
          <p:cNvPr id="150" name="Google Shape;150;g35c6a80a5d2_0_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IF-ELSE</a:t>
            </a:r>
            <a:endParaRPr b="0" i="0" sz="1400" u="none" cap="none" strike="noStrike">
              <a:solidFill>
                <a:srgbClr val="000000"/>
              </a:solidFill>
              <a:latin typeface="Impact"/>
              <a:ea typeface="Impact"/>
              <a:cs typeface="Impact"/>
              <a:sym typeface="Impact"/>
            </a:endParaRPr>
          </a:p>
        </p:txBody>
      </p:sp>
      <p:pic>
        <p:nvPicPr>
          <p:cNvPr id="151" name="Google Shape;151;g35c6a80a5d2_0_8"/>
          <p:cNvPicPr preferRelativeResize="0"/>
          <p:nvPr/>
        </p:nvPicPr>
        <p:blipFill rotWithShape="1">
          <a:blip r:embed="rId3">
            <a:alphaModFix/>
          </a:blip>
          <a:srcRect b="0" l="0" r="0" t="0"/>
          <a:stretch/>
        </p:blipFill>
        <p:spPr>
          <a:xfrm>
            <a:off x="4786801" y="3429000"/>
            <a:ext cx="8714400" cy="56832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5c6a80a5d2_0_15"/>
          <p:cNvSpPr txBox="1"/>
          <p:nvPr/>
        </p:nvSpPr>
        <p:spPr>
          <a:xfrm>
            <a:off x="1374902" y="3839700"/>
            <a:ext cx="5386800" cy="260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0"/>
              </a:spcBef>
              <a:spcAft>
                <a:spcPts val="0"/>
              </a:spcAft>
              <a:buClr>
                <a:srgbClr val="000000"/>
              </a:buClr>
              <a:buSzPts val="3025"/>
              <a:buFont typeface="Arial"/>
              <a:buNone/>
            </a:pPr>
            <a:r>
              <a:rPr b="0" i="0" lang="en-US" sz="3025" u="none" cap="none" strike="noStrike">
                <a:solidFill>
                  <a:srgbClr val="131416"/>
                </a:solidFill>
                <a:latin typeface="Arial"/>
                <a:ea typeface="Arial"/>
                <a:cs typeface="Arial"/>
                <a:sym typeface="Arial"/>
              </a:rPr>
              <a:t>Esta estructura permite evaluar varias condiciones en cadena y ejecutar diferentes bloques de código dependiendo de cuál condición se cumpla primero.</a:t>
            </a:r>
            <a:endParaRPr b="0" i="0" sz="3025" u="none" cap="none" strike="noStrike">
              <a:solidFill>
                <a:srgbClr val="131416"/>
              </a:solidFill>
              <a:latin typeface="Arial"/>
              <a:ea typeface="Arial"/>
              <a:cs typeface="Arial"/>
              <a:sym typeface="Arial"/>
            </a:endParaRPr>
          </a:p>
        </p:txBody>
      </p:sp>
      <p:sp>
        <p:nvSpPr>
          <p:cNvPr id="157" name="Google Shape;157;g35c6a80a5d2_0_15"/>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ELSE IF</a:t>
            </a:r>
            <a:endParaRPr b="0" i="0" sz="1400" u="none" cap="none" strike="noStrike">
              <a:solidFill>
                <a:srgbClr val="000000"/>
              </a:solidFill>
              <a:latin typeface="Impact"/>
              <a:ea typeface="Impact"/>
              <a:cs typeface="Impact"/>
              <a:sym typeface="Impact"/>
            </a:endParaRPr>
          </a:p>
        </p:txBody>
      </p:sp>
      <p:pic>
        <p:nvPicPr>
          <p:cNvPr id="158" name="Google Shape;158;g35c6a80a5d2_0_15"/>
          <p:cNvPicPr preferRelativeResize="0"/>
          <p:nvPr/>
        </p:nvPicPr>
        <p:blipFill rotWithShape="1">
          <a:blip r:embed="rId3">
            <a:alphaModFix/>
          </a:blip>
          <a:srcRect b="0" l="0" r="0" t="0"/>
          <a:stretch/>
        </p:blipFill>
        <p:spPr>
          <a:xfrm>
            <a:off x="8662025" y="890765"/>
            <a:ext cx="8438199" cy="8505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5c6a80a5d2_0_30"/>
          <p:cNvSpPr txBox="1"/>
          <p:nvPr/>
        </p:nvSpPr>
        <p:spPr>
          <a:xfrm>
            <a:off x="1421550" y="2203850"/>
            <a:ext cx="6300900" cy="63033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3000"/>
              <a:buFont typeface="Arial"/>
              <a:buNone/>
            </a:pPr>
            <a:r>
              <a:rPr b="0" i="0" lang="en-US" sz="3000" u="none" cap="none" strike="noStrike">
                <a:solidFill>
                  <a:srgbClr val="131416"/>
                </a:solidFill>
                <a:latin typeface="Arial"/>
                <a:ea typeface="Arial"/>
                <a:cs typeface="Arial"/>
                <a:sym typeface="Arial"/>
              </a:rPr>
              <a:t>El switch es una alternativa al if-else if cuando se trata de evaluar una sola variable contra múltiples valores específicos.</a:t>
            </a:r>
            <a:endParaRPr b="0" i="0" sz="3000" u="none" cap="none" strike="noStrike">
              <a:solidFill>
                <a:srgbClr val="131416"/>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3000"/>
              <a:buFont typeface="Arial"/>
              <a:buNone/>
            </a:pPr>
            <a:r>
              <a:t/>
            </a:r>
            <a:endParaRPr b="0" i="0" sz="3000" u="none" cap="none" strike="noStrike">
              <a:solidFill>
                <a:srgbClr val="131416"/>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3000"/>
              <a:buFont typeface="Arial"/>
              <a:buNone/>
            </a:pPr>
            <a:r>
              <a:rPr b="0" i="0" lang="en-US" sz="3000" u="none" cap="none" strike="noStrike">
                <a:solidFill>
                  <a:srgbClr val="131416"/>
                </a:solidFill>
                <a:latin typeface="Arial"/>
                <a:ea typeface="Arial"/>
                <a:cs typeface="Arial"/>
                <a:sym typeface="Arial"/>
              </a:rPr>
              <a:t>Cada case dentro de un switch debe terminar con break para evitar la ejecución en cascada de los casos siguientes. Si se omite break, el programa ejecutará todos los bloques siguientes hasta encontrar un break o llegar al final.</a:t>
            </a:r>
            <a:endParaRPr b="0" i="0" sz="3000" u="none" cap="none" strike="noStrike">
              <a:solidFill>
                <a:srgbClr val="131416"/>
              </a:solidFill>
              <a:latin typeface="Arial"/>
              <a:ea typeface="Arial"/>
              <a:cs typeface="Arial"/>
              <a:sym typeface="Arial"/>
            </a:endParaRPr>
          </a:p>
        </p:txBody>
      </p:sp>
      <p:sp>
        <p:nvSpPr>
          <p:cNvPr id="164" name="Google Shape;164;g35c6a80a5d2_0_3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SWITCH</a:t>
            </a:r>
            <a:endParaRPr b="0" i="0" sz="1400" u="none" cap="none" strike="noStrike">
              <a:solidFill>
                <a:srgbClr val="000000"/>
              </a:solidFill>
              <a:latin typeface="Impact"/>
              <a:ea typeface="Impact"/>
              <a:cs typeface="Impact"/>
              <a:sym typeface="Impact"/>
            </a:endParaRPr>
          </a:p>
        </p:txBody>
      </p:sp>
      <p:pic>
        <p:nvPicPr>
          <p:cNvPr id="165" name="Google Shape;165;g35c6a80a5d2_0_30"/>
          <p:cNvPicPr preferRelativeResize="0"/>
          <p:nvPr/>
        </p:nvPicPr>
        <p:blipFill rotWithShape="1">
          <a:blip r:embed="rId3">
            <a:alphaModFix/>
          </a:blip>
          <a:srcRect b="0" l="0" r="0" t="0"/>
          <a:stretch/>
        </p:blipFill>
        <p:spPr>
          <a:xfrm>
            <a:off x="8722975" y="610300"/>
            <a:ext cx="8249001" cy="9066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5c6a80a5d2_0_36"/>
          <p:cNvSpPr txBox="1"/>
          <p:nvPr/>
        </p:nvSpPr>
        <p:spPr>
          <a:xfrm>
            <a:off x="1421551" y="2203850"/>
            <a:ext cx="15975600" cy="10590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3200"/>
              <a:buFont typeface="Arial"/>
              <a:buNone/>
            </a:pPr>
            <a:r>
              <a:rPr b="0" i="0" lang="en-US" sz="3200" u="none" cap="none" strike="noStrike">
                <a:solidFill>
                  <a:srgbClr val="131416"/>
                </a:solidFill>
                <a:latin typeface="Arial"/>
                <a:ea typeface="Arial"/>
                <a:cs typeface="Arial"/>
                <a:sym typeface="Arial"/>
              </a:rPr>
              <a:t>Los ciclos permiten repetir un bloque de código mientras se cumpla una condición o hasta que un conjunto de datos haya sido procesado.</a:t>
            </a:r>
            <a:endParaRPr b="0" i="0" sz="3200" u="none" cap="none" strike="noStrike">
              <a:solidFill>
                <a:srgbClr val="131416"/>
              </a:solidFill>
              <a:latin typeface="Arial"/>
              <a:ea typeface="Arial"/>
              <a:cs typeface="Arial"/>
              <a:sym typeface="Arial"/>
            </a:endParaRPr>
          </a:p>
        </p:txBody>
      </p:sp>
      <p:sp>
        <p:nvSpPr>
          <p:cNvPr id="171" name="Google Shape;171;g35c6a80a5d2_0_36"/>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Ciclos</a:t>
            </a:r>
            <a:endParaRPr b="0" i="0" sz="1400" u="none" cap="none" strike="noStrike">
              <a:solidFill>
                <a:srgbClr val="000000"/>
              </a:solidFill>
              <a:latin typeface="Impact"/>
              <a:ea typeface="Impact"/>
              <a:cs typeface="Impact"/>
              <a:sym typeface="Impact"/>
            </a:endParaRPr>
          </a:p>
        </p:txBody>
      </p:sp>
      <p:pic>
        <p:nvPicPr>
          <p:cNvPr id="172" name="Google Shape;172;g35c6a80a5d2_0_36"/>
          <p:cNvPicPr preferRelativeResize="0"/>
          <p:nvPr/>
        </p:nvPicPr>
        <p:blipFill rotWithShape="1">
          <a:blip r:embed="rId3">
            <a:alphaModFix/>
          </a:blip>
          <a:srcRect b="0" l="0" r="0" t="0"/>
          <a:stretch/>
        </p:blipFill>
        <p:spPr>
          <a:xfrm>
            <a:off x="4225925" y="3719175"/>
            <a:ext cx="9836154" cy="5723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5c60227a6a_2_29"/>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While</a:t>
            </a:r>
            <a:endParaRPr b="0" i="0" sz="1400" u="none" cap="none" strike="noStrike">
              <a:solidFill>
                <a:srgbClr val="000000"/>
              </a:solidFill>
              <a:latin typeface="Impact"/>
              <a:ea typeface="Impact"/>
              <a:cs typeface="Impact"/>
              <a:sym typeface="Impact"/>
            </a:endParaRPr>
          </a:p>
        </p:txBody>
      </p:sp>
      <p:sp>
        <p:nvSpPr>
          <p:cNvPr id="178" name="Google Shape;178;g35c60227a6a_2_29"/>
          <p:cNvSpPr txBox="1"/>
          <p:nvPr/>
        </p:nvSpPr>
        <p:spPr>
          <a:xfrm>
            <a:off x="1543500" y="2464625"/>
            <a:ext cx="15201000" cy="181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El ciclo while ejecuta un bloque de código mientras una condición dada sea verdadera (true). La condición se evalúa antes de cada iteración, por lo que si la condición es falsa desde el principio, el bloque no se ejecutará ni una sola vez.</a:t>
            </a:r>
            <a:endParaRPr b="0" i="0" sz="3200" u="none" cap="none" strike="noStrike">
              <a:solidFill>
                <a:schemeClr val="dk1"/>
              </a:solidFill>
              <a:latin typeface="Calibri"/>
              <a:ea typeface="Calibri"/>
              <a:cs typeface="Calibri"/>
              <a:sym typeface="Calibri"/>
            </a:endParaRPr>
          </a:p>
        </p:txBody>
      </p:sp>
      <p:pic>
        <p:nvPicPr>
          <p:cNvPr id="179" name="Google Shape;179;g35c60227a6a_2_29"/>
          <p:cNvPicPr preferRelativeResize="0"/>
          <p:nvPr/>
        </p:nvPicPr>
        <p:blipFill rotWithShape="1">
          <a:blip r:embed="rId3">
            <a:alphaModFix/>
          </a:blip>
          <a:srcRect b="0" l="0" r="0" t="0"/>
          <a:stretch/>
        </p:blipFill>
        <p:spPr>
          <a:xfrm>
            <a:off x="4824413" y="4687300"/>
            <a:ext cx="8639175" cy="4105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5c6a80a5d2_0_44"/>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Do-While</a:t>
            </a:r>
            <a:endParaRPr b="0" i="0" sz="1400" u="none" cap="none" strike="noStrike">
              <a:solidFill>
                <a:srgbClr val="000000"/>
              </a:solidFill>
              <a:latin typeface="Impact"/>
              <a:ea typeface="Impact"/>
              <a:cs typeface="Impact"/>
              <a:sym typeface="Impact"/>
            </a:endParaRPr>
          </a:p>
        </p:txBody>
      </p:sp>
      <p:sp>
        <p:nvSpPr>
          <p:cNvPr id="185" name="Google Shape;185;g35c6a80a5d2_0_44"/>
          <p:cNvSpPr txBox="1"/>
          <p:nvPr/>
        </p:nvSpPr>
        <p:spPr>
          <a:xfrm>
            <a:off x="1543500" y="2464625"/>
            <a:ext cx="15201000" cy="124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El ciclo do-while es similar al ciclo while, pero con una diferencia clave: el bloque de código se ejecuta al menos una vez, ya que la condición se evalúa después de la primera iteración.</a:t>
            </a:r>
            <a:endParaRPr b="0" i="0" sz="3200" u="none" cap="none" strike="noStrike">
              <a:solidFill>
                <a:schemeClr val="dk1"/>
              </a:solidFill>
              <a:latin typeface="Calibri"/>
              <a:ea typeface="Calibri"/>
              <a:cs typeface="Calibri"/>
              <a:sym typeface="Calibri"/>
            </a:endParaRPr>
          </a:p>
        </p:txBody>
      </p:sp>
      <p:pic>
        <p:nvPicPr>
          <p:cNvPr id="186" name="Google Shape;186;g35c6a80a5d2_0_44"/>
          <p:cNvPicPr preferRelativeResize="0"/>
          <p:nvPr/>
        </p:nvPicPr>
        <p:blipFill rotWithShape="1">
          <a:blip r:embed="rId3">
            <a:alphaModFix/>
          </a:blip>
          <a:srcRect b="0" l="0" r="0" t="0"/>
          <a:stretch/>
        </p:blipFill>
        <p:spPr>
          <a:xfrm>
            <a:off x="4819650" y="4816925"/>
            <a:ext cx="8648700" cy="3190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5c6a80a5d2_0_52"/>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For</a:t>
            </a:r>
            <a:endParaRPr b="0" i="0" sz="1400" u="none" cap="none" strike="noStrike">
              <a:solidFill>
                <a:srgbClr val="000000"/>
              </a:solidFill>
              <a:latin typeface="Impact"/>
              <a:ea typeface="Impact"/>
              <a:cs typeface="Impact"/>
              <a:sym typeface="Impact"/>
            </a:endParaRPr>
          </a:p>
        </p:txBody>
      </p:sp>
      <p:sp>
        <p:nvSpPr>
          <p:cNvPr id="192" name="Google Shape;192;g35c6a80a5d2_0_52"/>
          <p:cNvSpPr txBox="1"/>
          <p:nvPr/>
        </p:nvSpPr>
        <p:spPr>
          <a:xfrm>
            <a:off x="1543500" y="2464625"/>
            <a:ext cx="15201000" cy="181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El ciclo for es una estructura más compacta que combina la inicialización, la condición y el incremento/decremento en una sola línea. Es ideal para cuando conoces de antemano cuántas iteraciones se realizarán.</a:t>
            </a:r>
            <a:endParaRPr b="0" i="0" sz="3200" u="none" cap="none" strike="noStrike">
              <a:solidFill>
                <a:schemeClr val="dk1"/>
              </a:solidFill>
              <a:latin typeface="Calibri"/>
              <a:ea typeface="Calibri"/>
              <a:cs typeface="Calibri"/>
              <a:sym typeface="Calibri"/>
            </a:endParaRPr>
          </a:p>
        </p:txBody>
      </p:sp>
      <p:pic>
        <p:nvPicPr>
          <p:cNvPr id="193" name="Google Shape;193;g35c6a80a5d2_0_52"/>
          <p:cNvPicPr preferRelativeResize="0"/>
          <p:nvPr/>
        </p:nvPicPr>
        <p:blipFill rotWithShape="1">
          <a:blip r:embed="rId3">
            <a:alphaModFix/>
          </a:blip>
          <a:srcRect b="0" l="0" r="0" t="0"/>
          <a:stretch/>
        </p:blipFill>
        <p:spPr>
          <a:xfrm>
            <a:off x="4819650" y="5182225"/>
            <a:ext cx="8648700" cy="3009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5c6a80a5d2_0_59"/>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For-Each</a:t>
            </a:r>
            <a:endParaRPr b="0" i="0" sz="1400" u="none" cap="none" strike="noStrike">
              <a:solidFill>
                <a:srgbClr val="000000"/>
              </a:solidFill>
              <a:latin typeface="Impact"/>
              <a:ea typeface="Impact"/>
              <a:cs typeface="Impact"/>
              <a:sym typeface="Impact"/>
            </a:endParaRPr>
          </a:p>
        </p:txBody>
      </p:sp>
      <p:sp>
        <p:nvSpPr>
          <p:cNvPr id="199" name="Google Shape;199;g35c6a80a5d2_0_59"/>
          <p:cNvSpPr txBox="1"/>
          <p:nvPr/>
        </p:nvSpPr>
        <p:spPr>
          <a:xfrm>
            <a:off x="1543500" y="2464625"/>
            <a:ext cx="15201000" cy="1243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El ciclo for-each es una versión simplificada del ciclo for que se utiliza para recorrer colecciones (como listas o arrays) sin necesidad de manejar índices explícitamente.</a:t>
            </a:r>
            <a:endParaRPr b="0" i="0" sz="3200" u="none" cap="none" strike="noStrike">
              <a:solidFill>
                <a:schemeClr val="dk1"/>
              </a:solidFill>
              <a:latin typeface="Calibri"/>
              <a:ea typeface="Calibri"/>
              <a:cs typeface="Calibri"/>
              <a:sym typeface="Calibri"/>
            </a:endParaRPr>
          </a:p>
        </p:txBody>
      </p:sp>
      <p:pic>
        <p:nvPicPr>
          <p:cNvPr id="200" name="Google Shape;200;g35c6a80a5d2_0_59"/>
          <p:cNvPicPr preferRelativeResize="0"/>
          <p:nvPr/>
        </p:nvPicPr>
        <p:blipFill rotWithShape="1">
          <a:blip r:embed="rId3">
            <a:alphaModFix/>
          </a:blip>
          <a:srcRect b="0" l="0" r="0" t="0"/>
          <a:stretch/>
        </p:blipFill>
        <p:spPr>
          <a:xfrm>
            <a:off x="4848225" y="4175425"/>
            <a:ext cx="8591550" cy="4743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5c6a80a5d2_0_66"/>
          <p:cNvSpPr txBox="1"/>
          <p:nvPr/>
        </p:nvSpPr>
        <p:spPr>
          <a:xfrm>
            <a:off x="1543500" y="2464625"/>
            <a:ext cx="15201000" cy="22164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15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break</a:t>
            </a:r>
            <a:r>
              <a:rPr b="0" i="0" lang="en-US" sz="4000" u="none" cap="none" strike="noStrike">
                <a:solidFill>
                  <a:schemeClr val="dk1"/>
                </a:solidFill>
                <a:latin typeface="Calibri"/>
                <a:ea typeface="Calibri"/>
                <a:cs typeface="Calibri"/>
                <a:sym typeface="Calibri"/>
              </a:rPr>
              <a:t>: Termina el ciclo de forma inmediata.</a:t>
            </a:r>
            <a:endParaRPr b="0" i="0" sz="4000" u="none" cap="none" strike="noStrike">
              <a:solidFill>
                <a:schemeClr val="dk1"/>
              </a:solidFill>
              <a:latin typeface="Calibri"/>
              <a:ea typeface="Calibri"/>
              <a:cs typeface="Calibri"/>
              <a:sym typeface="Calibri"/>
            </a:endParaRPr>
          </a:p>
          <a:p>
            <a:pPr indent="-457200" lvl="0" marL="457200" marR="0" rtl="0" algn="l">
              <a:lnSpc>
                <a:spcPct val="115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continue</a:t>
            </a:r>
            <a:r>
              <a:rPr b="0" i="0" lang="en-US" sz="4000" u="none" cap="none" strike="noStrike">
                <a:solidFill>
                  <a:schemeClr val="dk1"/>
                </a:solidFill>
                <a:latin typeface="Calibri"/>
                <a:ea typeface="Calibri"/>
                <a:cs typeface="Calibri"/>
                <a:sym typeface="Calibri"/>
              </a:rPr>
              <a:t>: Salta a la siguiente iteración del ciclo.</a:t>
            </a:r>
            <a:endParaRPr b="0" i="0" sz="4000" u="none" cap="none" strike="noStrike">
              <a:solidFill>
                <a:schemeClr val="dk1"/>
              </a:solidFill>
              <a:latin typeface="Calibri"/>
              <a:ea typeface="Calibri"/>
              <a:cs typeface="Calibri"/>
              <a:sym typeface="Calibri"/>
            </a:endParaRPr>
          </a:p>
          <a:p>
            <a:pPr indent="-457200" lvl="0" marL="457200" marR="0" rtl="0" algn="l">
              <a:lnSpc>
                <a:spcPct val="115000"/>
              </a:lnSpc>
              <a:spcBef>
                <a:spcPts val="0"/>
              </a:spcBef>
              <a:spcAft>
                <a:spcPts val="0"/>
              </a:spcAft>
              <a:buClr>
                <a:schemeClr val="dk1"/>
              </a:buClr>
              <a:buSzPts val="4000"/>
              <a:buFont typeface="Calibri"/>
              <a:buChar char="●"/>
            </a:pPr>
            <a:r>
              <a:rPr b="1" i="0" lang="en-US" sz="4000" u="none" cap="none" strike="noStrike">
                <a:solidFill>
                  <a:schemeClr val="dk1"/>
                </a:solidFill>
                <a:latin typeface="Calibri"/>
                <a:ea typeface="Calibri"/>
                <a:cs typeface="Calibri"/>
                <a:sym typeface="Calibri"/>
              </a:rPr>
              <a:t>return</a:t>
            </a:r>
            <a:r>
              <a:rPr b="0" i="0" lang="en-US" sz="4000" u="none" cap="none" strike="noStrike">
                <a:solidFill>
                  <a:schemeClr val="dk1"/>
                </a:solidFill>
                <a:latin typeface="Calibri"/>
                <a:ea typeface="Calibri"/>
                <a:cs typeface="Calibri"/>
                <a:sym typeface="Calibri"/>
              </a:rPr>
              <a:t>: Termina el ciclo y el método donde se encuentra.</a:t>
            </a:r>
            <a:endParaRPr b="0" i="0" sz="4000" u="none" cap="none" strike="noStrike">
              <a:solidFill>
                <a:schemeClr val="dk1"/>
              </a:solidFill>
              <a:latin typeface="Calibri"/>
              <a:ea typeface="Calibri"/>
              <a:cs typeface="Calibri"/>
              <a:sym typeface="Calibri"/>
            </a:endParaRPr>
          </a:p>
        </p:txBody>
      </p:sp>
      <p:sp>
        <p:nvSpPr>
          <p:cNvPr id="206" name="Google Shape;206;g35c6a80a5d2_0_66"/>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Control de ciclos</a:t>
            </a:r>
            <a:endParaRPr b="0" i="0" sz="1400" u="none" cap="none" strike="noStrike">
              <a:solidFill>
                <a:srgbClr val="000000"/>
              </a:solidFill>
              <a:latin typeface="Impact"/>
              <a:ea typeface="Impact"/>
              <a:cs typeface="Impact"/>
              <a:sym typeface="Impact"/>
            </a:endParaRPr>
          </a:p>
        </p:txBody>
      </p:sp>
      <p:pic>
        <p:nvPicPr>
          <p:cNvPr id="207" name="Google Shape;207;g35c6a80a5d2_0_66"/>
          <p:cNvPicPr preferRelativeResize="0"/>
          <p:nvPr/>
        </p:nvPicPr>
        <p:blipFill rotWithShape="1">
          <a:blip r:embed="rId3">
            <a:alphaModFix/>
          </a:blip>
          <a:srcRect b="0" l="0" r="0" t="0"/>
          <a:stretch/>
        </p:blipFill>
        <p:spPr>
          <a:xfrm>
            <a:off x="6925012" y="5069800"/>
            <a:ext cx="4437975" cy="4446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5c60227a6a_2_124"/>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Excepciones</a:t>
            </a:r>
            <a:endParaRPr b="0" i="0" sz="1400" u="none" cap="none" strike="noStrike">
              <a:solidFill>
                <a:srgbClr val="000000"/>
              </a:solidFill>
              <a:latin typeface="Impact"/>
              <a:ea typeface="Impact"/>
              <a:cs typeface="Impact"/>
              <a:sym typeface="Impact"/>
            </a:endParaRPr>
          </a:p>
        </p:txBody>
      </p:sp>
      <p:pic>
        <p:nvPicPr>
          <p:cNvPr id="213" name="Google Shape;213;g35c60227a6a_2_124"/>
          <p:cNvPicPr preferRelativeResize="0"/>
          <p:nvPr/>
        </p:nvPicPr>
        <p:blipFill rotWithShape="1">
          <a:blip r:embed="rId3">
            <a:alphaModFix/>
          </a:blip>
          <a:srcRect b="0" l="0" r="0" t="0"/>
          <a:stretch/>
        </p:blipFill>
        <p:spPr>
          <a:xfrm>
            <a:off x="10319250" y="2484775"/>
            <a:ext cx="6457950" cy="6457950"/>
          </a:xfrm>
          <a:prstGeom prst="rect">
            <a:avLst/>
          </a:prstGeom>
          <a:noFill/>
          <a:ln>
            <a:noFill/>
          </a:ln>
        </p:spPr>
      </p:pic>
      <p:sp>
        <p:nvSpPr>
          <p:cNvPr id="214" name="Google Shape;214;g35c60227a6a_2_124"/>
          <p:cNvSpPr txBox="1"/>
          <p:nvPr/>
        </p:nvSpPr>
        <p:spPr>
          <a:xfrm>
            <a:off x="1604400" y="3476200"/>
            <a:ext cx="7911900" cy="4325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4500"/>
              <a:buFont typeface="Arial"/>
              <a:buNone/>
            </a:pPr>
            <a:r>
              <a:rPr b="1" i="0" lang="en-US" sz="4500" u="none" cap="none" strike="noStrike">
                <a:solidFill>
                  <a:schemeClr val="dk1"/>
                </a:solidFill>
                <a:latin typeface="Calibri"/>
                <a:ea typeface="Calibri"/>
                <a:cs typeface="Calibri"/>
                <a:sym typeface="Calibri"/>
              </a:rPr>
              <a:t>¿Que es?</a:t>
            </a:r>
            <a:endParaRPr b="1" i="0" sz="45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Ante una incoherencia lógica que ocurre durante la ejecución de un programa informático que no puede resolverse, se genera una excepción que finaliza la ejecución de una sentencia de control, una subrutina o el mismo programa.</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5c6a80a5d2_0_77"/>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¿Cómo surgen las excepciones?</a:t>
            </a:r>
            <a:endParaRPr b="0" i="0" sz="1400" u="none" cap="none" strike="noStrike">
              <a:solidFill>
                <a:srgbClr val="000000"/>
              </a:solidFill>
              <a:latin typeface="Impact"/>
              <a:ea typeface="Impact"/>
              <a:cs typeface="Impact"/>
              <a:sym typeface="Impact"/>
            </a:endParaRPr>
          </a:p>
        </p:txBody>
      </p:sp>
      <p:sp>
        <p:nvSpPr>
          <p:cNvPr id="220" name="Google Shape;220;g35c6a80a5d2_0_77"/>
          <p:cNvSpPr txBox="1"/>
          <p:nvPr/>
        </p:nvSpPr>
        <p:spPr>
          <a:xfrm>
            <a:off x="1604400" y="3476200"/>
            <a:ext cx="15059400" cy="287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500"/>
              <a:buFont typeface="Arial"/>
              <a:buNone/>
            </a:pPr>
            <a:r>
              <a:rPr b="0" i="0" lang="en-US" sz="3500" u="none" cap="none" strike="noStrike">
                <a:solidFill>
                  <a:schemeClr val="dk1"/>
                </a:solidFill>
                <a:latin typeface="Calibri"/>
                <a:ea typeface="Calibri"/>
                <a:cs typeface="Calibri"/>
                <a:sym typeface="Calibri"/>
              </a:rPr>
              <a:t>El manejo de errores y excepciones es un concepto que surge de la necesidad de poder indicar cuando ocurre un error en la ejecución de un programa. </a:t>
            </a:r>
            <a:endParaRPr b="0" i="0" sz="35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500"/>
              <a:buFont typeface="Arial"/>
              <a:buNone/>
            </a:pPr>
            <a:r>
              <a:t/>
            </a:r>
            <a:endParaRPr b="0" i="0" sz="35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500"/>
              <a:buFont typeface="Arial"/>
              <a:buNone/>
            </a:pPr>
            <a:r>
              <a:rPr b="0" i="0" lang="en-US" sz="3500" u="none" cap="none" strike="noStrike">
                <a:solidFill>
                  <a:schemeClr val="dk1"/>
                </a:solidFill>
                <a:latin typeface="Calibri"/>
                <a:ea typeface="Calibri"/>
                <a:cs typeface="Calibri"/>
                <a:sym typeface="Calibri"/>
              </a:rPr>
              <a:t>Estos errores son en su totalidad, debidos a la semántica del programa. Esta técnica permite crear aplicaciones tolerantes a fallas. </a:t>
            </a:r>
            <a:endParaRPr b="0" i="0" sz="35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5c6a80a5d2_0_83"/>
          <p:cNvSpPr txBox="1"/>
          <p:nvPr/>
        </p:nvSpPr>
        <p:spPr>
          <a:xfrm>
            <a:off x="1374826" y="9217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Tipos de excepciones</a:t>
            </a:r>
            <a:endParaRPr b="0" i="0" sz="1400" u="none" cap="none" strike="noStrike">
              <a:solidFill>
                <a:srgbClr val="000000"/>
              </a:solidFill>
              <a:latin typeface="Impact"/>
              <a:ea typeface="Impact"/>
              <a:cs typeface="Impact"/>
              <a:sym typeface="Impact"/>
            </a:endParaRPr>
          </a:p>
        </p:txBody>
      </p:sp>
      <p:sp>
        <p:nvSpPr>
          <p:cNvPr id="226" name="Google Shape;226;g35c6a80a5d2_0_83"/>
          <p:cNvSpPr txBox="1"/>
          <p:nvPr/>
        </p:nvSpPr>
        <p:spPr>
          <a:xfrm>
            <a:off x="1614300" y="2752650"/>
            <a:ext cx="15059400" cy="5571900"/>
          </a:xfrm>
          <a:prstGeom prst="rect">
            <a:avLst/>
          </a:prstGeom>
          <a:noFill/>
          <a:ln>
            <a:noFill/>
          </a:ln>
        </p:spPr>
        <p:txBody>
          <a:bodyPr anchorCtr="0" anchor="t" bIns="91425" lIns="91425" spcFirstLastPara="1" rIns="91425" wrap="square" tIns="91425">
            <a:spAutoFit/>
          </a:bodyPr>
          <a:lstStyle/>
          <a:p>
            <a:pPr indent="-450850" lvl="0" marL="457200" marR="0" rtl="0" algn="just">
              <a:lnSpc>
                <a:spcPct val="100000"/>
              </a:lnSpc>
              <a:spcBef>
                <a:spcPts val="0"/>
              </a:spcBef>
              <a:spcAft>
                <a:spcPts val="0"/>
              </a:spcAft>
              <a:buClr>
                <a:schemeClr val="dk1"/>
              </a:buClr>
              <a:buSzPts val="3500"/>
              <a:buFont typeface="Calibri"/>
              <a:buChar char="●"/>
            </a:pPr>
            <a:r>
              <a:rPr b="1" i="0" lang="en-US" sz="3500" u="none" cap="none" strike="noStrike">
                <a:solidFill>
                  <a:schemeClr val="dk1"/>
                </a:solidFill>
                <a:latin typeface="Calibri"/>
                <a:ea typeface="Calibri"/>
                <a:cs typeface="Calibri"/>
                <a:sym typeface="Calibri"/>
              </a:rPr>
              <a:t>Checked Exceptions (Excepciones Verificadas)</a:t>
            </a:r>
            <a:r>
              <a:rPr b="0" i="0" lang="en-US" sz="3500" u="none" cap="none" strike="noStrike">
                <a:solidFill>
                  <a:schemeClr val="dk1"/>
                </a:solidFill>
                <a:latin typeface="Calibri"/>
                <a:ea typeface="Calibri"/>
                <a:cs typeface="Calibri"/>
                <a:sym typeface="Calibri"/>
              </a:rPr>
              <a:t>: Son excepciones que el compilador obliga a manejar de alguna manera. Por ejemplo, </a:t>
            </a:r>
            <a:r>
              <a:rPr b="0" i="1" lang="en-US" sz="3500" u="sng" cap="none" strike="noStrike">
                <a:solidFill>
                  <a:schemeClr val="dk1"/>
                </a:solidFill>
                <a:latin typeface="Calibri"/>
                <a:ea typeface="Calibri"/>
                <a:cs typeface="Calibri"/>
                <a:sym typeface="Calibri"/>
              </a:rPr>
              <a:t>IOException</a:t>
            </a:r>
            <a:r>
              <a:rPr b="0" i="0" lang="en-US" sz="3500" u="none" cap="none" strike="noStrike">
                <a:solidFill>
                  <a:schemeClr val="dk1"/>
                </a:solidFill>
                <a:latin typeface="Calibri"/>
                <a:ea typeface="Calibri"/>
                <a:cs typeface="Calibri"/>
                <a:sym typeface="Calibri"/>
              </a:rPr>
              <a:t>, </a:t>
            </a:r>
            <a:r>
              <a:rPr b="0" i="1" lang="en-US" sz="3500" u="sng" cap="none" strike="noStrike">
                <a:solidFill>
                  <a:schemeClr val="dk1"/>
                </a:solidFill>
                <a:latin typeface="Calibri"/>
                <a:ea typeface="Calibri"/>
                <a:cs typeface="Calibri"/>
                <a:sym typeface="Calibri"/>
              </a:rPr>
              <a:t>SQLException</a:t>
            </a:r>
            <a:r>
              <a:rPr b="0" i="0" lang="en-US" sz="3500" u="none" cap="none" strike="noStrike">
                <a:solidFill>
                  <a:schemeClr val="dk1"/>
                </a:solidFill>
                <a:latin typeface="Calibri"/>
                <a:ea typeface="Calibri"/>
                <a:cs typeface="Calibri"/>
                <a:sym typeface="Calibri"/>
              </a:rPr>
              <a:t>. Si un método puede generar una checked exception, Java requiere que el método la declare en su firma con throws o que la maneje internamente.</a:t>
            </a:r>
            <a:endParaRPr b="0" i="0" sz="35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500"/>
              <a:buFont typeface="Arial"/>
              <a:buNone/>
            </a:pPr>
            <a:r>
              <a:t/>
            </a:r>
            <a:endParaRPr b="0" i="0" sz="3500" u="none" cap="none" strike="noStrike">
              <a:solidFill>
                <a:schemeClr val="dk1"/>
              </a:solidFill>
              <a:latin typeface="Calibri"/>
              <a:ea typeface="Calibri"/>
              <a:cs typeface="Calibri"/>
              <a:sym typeface="Calibri"/>
            </a:endParaRPr>
          </a:p>
          <a:p>
            <a:pPr indent="-450850" lvl="0" marL="457200" marR="0" rtl="0" algn="just">
              <a:lnSpc>
                <a:spcPct val="100000"/>
              </a:lnSpc>
              <a:spcBef>
                <a:spcPts val="0"/>
              </a:spcBef>
              <a:spcAft>
                <a:spcPts val="0"/>
              </a:spcAft>
              <a:buClr>
                <a:schemeClr val="dk1"/>
              </a:buClr>
              <a:buSzPts val="3500"/>
              <a:buFont typeface="Calibri"/>
              <a:buChar char="●"/>
            </a:pPr>
            <a:r>
              <a:rPr b="1" i="0" lang="en-US" sz="3500" u="none" cap="none" strike="noStrike">
                <a:solidFill>
                  <a:schemeClr val="dk1"/>
                </a:solidFill>
                <a:latin typeface="Calibri"/>
                <a:ea typeface="Calibri"/>
                <a:cs typeface="Calibri"/>
                <a:sym typeface="Calibri"/>
              </a:rPr>
              <a:t>Unchecked Exceptions (Excepciones No Verificadas)</a:t>
            </a:r>
            <a:r>
              <a:rPr b="0" i="0" lang="en-US" sz="3500" u="none" cap="none" strike="noStrike">
                <a:solidFill>
                  <a:schemeClr val="dk1"/>
                </a:solidFill>
                <a:latin typeface="Calibri"/>
                <a:ea typeface="Calibri"/>
                <a:cs typeface="Calibri"/>
                <a:sym typeface="Calibri"/>
              </a:rPr>
              <a:t>: Estas excepciones son subclases de RuntimeException (como NullPointerException, ArrayIndexOutOfBoundsException) y no es obligatorio declararlas o manejarlas. Sin embargo, sigue siendo buena práctica manejarlas adecuadamente.</a:t>
            </a:r>
            <a:endParaRPr b="0" i="0" sz="3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5c60227a6a_2_34"/>
          <p:cNvSpPr txBox="1"/>
          <p:nvPr/>
        </p:nvSpPr>
        <p:spPr>
          <a:xfrm>
            <a:off x="1374903" y="2634600"/>
            <a:ext cx="15864600" cy="2883300"/>
          </a:xfrm>
          <a:prstGeom prst="rect">
            <a:avLst/>
          </a:prstGeom>
          <a:noFill/>
          <a:ln>
            <a:noFill/>
          </a:ln>
        </p:spPr>
        <p:txBody>
          <a:bodyPr anchorCtr="0" anchor="t" bIns="0" lIns="0" spcFirstLastPara="1" rIns="0" wrap="square" tIns="0">
            <a:spAutoFit/>
          </a:bodyPr>
          <a:lstStyle/>
          <a:p>
            <a:pPr indent="-420687" lvl="0" marL="457200" marR="0" rtl="0" algn="l">
              <a:lnSpc>
                <a:spcPct val="173070"/>
              </a:lnSpc>
              <a:spcBef>
                <a:spcPts val="0"/>
              </a:spcBef>
              <a:spcAft>
                <a:spcPts val="0"/>
              </a:spcAft>
              <a:buClr>
                <a:srgbClr val="131416"/>
              </a:buClr>
              <a:buSzPts val="3025"/>
              <a:buFont typeface="Arial"/>
              <a:buChar char="●"/>
            </a:pPr>
            <a:r>
              <a:rPr b="1" i="0" lang="en-US" sz="3025" u="none" cap="none" strike="noStrike">
                <a:solidFill>
                  <a:srgbClr val="131416"/>
                </a:solidFill>
                <a:latin typeface="Arial"/>
                <a:ea typeface="Arial"/>
                <a:cs typeface="Arial"/>
                <a:sym typeface="Arial"/>
              </a:rPr>
              <a:t>try</a:t>
            </a:r>
            <a:r>
              <a:rPr b="0" i="0" lang="en-US" sz="3025" u="none" cap="none" strike="noStrike">
                <a:solidFill>
                  <a:srgbClr val="131416"/>
                </a:solidFill>
                <a:latin typeface="Arial"/>
                <a:ea typeface="Arial"/>
                <a:cs typeface="Arial"/>
                <a:sym typeface="Arial"/>
              </a:rPr>
              <a:t>: Contiene el bloque de código que puede generar una excepción.</a:t>
            </a:r>
            <a:endParaRPr b="0" i="0" sz="3025" u="none" cap="none" strike="noStrike">
              <a:solidFill>
                <a:srgbClr val="131416"/>
              </a:solidFill>
              <a:latin typeface="Arial"/>
              <a:ea typeface="Arial"/>
              <a:cs typeface="Arial"/>
              <a:sym typeface="Arial"/>
            </a:endParaRPr>
          </a:p>
          <a:p>
            <a:pPr indent="-420687" lvl="0" marL="457200" marR="0" rtl="0" algn="l">
              <a:lnSpc>
                <a:spcPct val="173070"/>
              </a:lnSpc>
              <a:spcBef>
                <a:spcPts val="0"/>
              </a:spcBef>
              <a:spcAft>
                <a:spcPts val="0"/>
              </a:spcAft>
              <a:buClr>
                <a:srgbClr val="131416"/>
              </a:buClr>
              <a:buSzPts val="3025"/>
              <a:buFont typeface="Arial"/>
              <a:buChar char="●"/>
            </a:pPr>
            <a:r>
              <a:rPr b="1" i="0" lang="en-US" sz="3025" u="none" cap="none" strike="noStrike">
                <a:solidFill>
                  <a:srgbClr val="131416"/>
                </a:solidFill>
                <a:latin typeface="Arial"/>
                <a:ea typeface="Arial"/>
                <a:cs typeface="Arial"/>
                <a:sym typeface="Arial"/>
              </a:rPr>
              <a:t>catch</a:t>
            </a:r>
            <a:r>
              <a:rPr b="0" i="0" lang="en-US" sz="3025" u="none" cap="none" strike="noStrike">
                <a:solidFill>
                  <a:srgbClr val="131416"/>
                </a:solidFill>
                <a:latin typeface="Arial"/>
                <a:ea typeface="Arial"/>
                <a:cs typeface="Arial"/>
                <a:sym typeface="Arial"/>
              </a:rPr>
              <a:t>: Bloque que maneja la excepción si ocurre.</a:t>
            </a:r>
            <a:endParaRPr b="0" i="0" sz="3025" u="none" cap="none" strike="noStrike">
              <a:solidFill>
                <a:srgbClr val="131416"/>
              </a:solidFill>
              <a:latin typeface="Arial"/>
              <a:ea typeface="Arial"/>
              <a:cs typeface="Arial"/>
              <a:sym typeface="Arial"/>
            </a:endParaRPr>
          </a:p>
          <a:p>
            <a:pPr indent="-420687" lvl="0" marL="457200" marR="0" rtl="0" algn="l">
              <a:lnSpc>
                <a:spcPct val="173070"/>
              </a:lnSpc>
              <a:spcBef>
                <a:spcPts val="0"/>
              </a:spcBef>
              <a:spcAft>
                <a:spcPts val="0"/>
              </a:spcAft>
              <a:buClr>
                <a:srgbClr val="131416"/>
              </a:buClr>
              <a:buSzPts val="3025"/>
              <a:buFont typeface="Arial"/>
              <a:buChar char="●"/>
            </a:pPr>
            <a:r>
              <a:rPr b="1" i="0" lang="en-US" sz="3025" u="none" cap="none" strike="noStrike">
                <a:solidFill>
                  <a:srgbClr val="131416"/>
                </a:solidFill>
                <a:latin typeface="Arial"/>
                <a:ea typeface="Arial"/>
                <a:cs typeface="Arial"/>
                <a:sym typeface="Arial"/>
              </a:rPr>
              <a:t>finally (opcional)</a:t>
            </a:r>
            <a:r>
              <a:rPr b="0" i="0" lang="en-US" sz="3025" u="none" cap="none" strike="noStrike">
                <a:solidFill>
                  <a:srgbClr val="131416"/>
                </a:solidFill>
                <a:latin typeface="Arial"/>
                <a:ea typeface="Arial"/>
                <a:cs typeface="Arial"/>
                <a:sym typeface="Arial"/>
              </a:rPr>
              <a:t>: Bloque que se ejecuta siempre, haya o no excepción, ideal para liberar recursos.</a:t>
            </a:r>
            <a:endParaRPr b="0" i="0" sz="3025" u="none" cap="none" strike="noStrike">
              <a:solidFill>
                <a:srgbClr val="131416"/>
              </a:solidFill>
              <a:latin typeface="Arial"/>
              <a:ea typeface="Arial"/>
              <a:cs typeface="Arial"/>
              <a:sym typeface="Arial"/>
            </a:endParaRPr>
          </a:p>
        </p:txBody>
      </p:sp>
      <p:sp>
        <p:nvSpPr>
          <p:cNvPr id="232" name="Google Shape;232;g35c60227a6a_2_3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Estructura basica try-catch</a:t>
            </a:r>
            <a:endParaRPr b="0" i="0" sz="1400" u="none" cap="none" strike="noStrike">
              <a:solidFill>
                <a:srgbClr val="000000"/>
              </a:solidFill>
              <a:latin typeface="Impact"/>
              <a:ea typeface="Impact"/>
              <a:cs typeface="Impact"/>
              <a:sym typeface="Impact"/>
            </a:endParaRPr>
          </a:p>
        </p:txBody>
      </p:sp>
      <p:pic>
        <p:nvPicPr>
          <p:cNvPr id="233" name="Google Shape;233;g35c60227a6a_2_34"/>
          <p:cNvPicPr preferRelativeResize="0"/>
          <p:nvPr/>
        </p:nvPicPr>
        <p:blipFill rotWithShape="1">
          <a:blip r:embed="rId3">
            <a:alphaModFix/>
          </a:blip>
          <a:srcRect b="0" l="0" r="0" t="0"/>
          <a:stretch/>
        </p:blipFill>
        <p:spPr>
          <a:xfrm>
            <a:off x="1821688" y="6559425"/>
            <a:ext cx="6696075" cy="1666875"/>
          </a:xfrm>
          <a:prstGeom prst="rect">
            <a:avLst/>
          </a:prstGeom>
          <a:noFill/>
          <a:ln cap="flat" cmpd="sng" w="38100">
            <a:solidFill>
              <a:schemeClr val="dk2"/>
            </a:solidFill>
            <a:prstDash val="solid"/>
            <a:round/>
            <a:headEnd len="sm" w="sm" type="none"/>
            <a:tailEnd len="sm" w="sm" type="none"/>
          </a:ln>
        </p:spPr>
      </p:pic>
      <p:pic>
        <p:nvPicPr>
          <p:cNvPr id="234" name="Google Shape;234;g35c60227a6a_2_34"/>
          <p:cNvPicPr preferRelativeResize="0"/>
          <p:nvPr/>
        </p:nvPicPr>
        <p:blipFill rotWithShape="1">
          <a:blip r:embed="rId4">
            <a:alphaModFix/>
          </a:blip>
          <a:srcRect b="0" l="0" r="0" t="0"/>
          <a:stretch/>
        </p:blipFill>
        <p:spPr>
          <a:xfrm>
            <a:off x="9577188" y="6202238"/>
            <a:ext cx="7086600" cy="2381250"/>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5c60227a6a_2_3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Definición de cada elemento try-catch-finally</a:t>
            </a:r>
            <a:endParaRPr b="0" i="0" sz="1400" u="none" cap="none" strike="noStrike">
              <a:solidFill>
                <a:srgbClr val="000000"/>
              </a:solidFill>
              <a:latin typeface="Impact"/>
              <a:ea typeface="Impact"/>
              <a:cs typeface="Impact"/>
              <a:sym typeface="Impact"/>
            </a:endParaRPr>
          </a:p>
        </p:txBody>
      </p:sp>
      <p:graphicFrame>
        <p:nvGraphicFramePr>
          <p:cNvPr id="240" name="Google Shape;240;g35c60227a6a_2_39"/>
          <p:cNvGraphicFramePr/>
          <p:nvPr/>
        </p:nvGraphicFramePr>
        <p:xfrm>
          <a:off x="952500" y="2764875"/>
          <a:ext cx="3000000" cy="3000000"/>
        </p:xfrm>
        <a:graphic>
          <a:graphicData uri="http://schemas.openxmlformats.org/drawingml/2006/table">
            <a:tbl>
              <a:tblPr>
                <a:noFill/>
                <a:tableStyleId>{A9170558-3CD5-44D4-9608-BA68BA657679}</a:tableStyleId>
              </a:tblPr>
              <a:tblGrid>
                <a:gridCol w="5461000"/>
                <a:gridCol w="5461000"/>
                <a:gridCol w="5461000"/>
              </a:tblGrid>
              <a:tr h="381000">
                <a:tc>
                  <a:txBody>
                    <a:bodyPr/>
                    <a:lstStyle/>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TRY</a:t>
                      </a:r>
                      <a:endParaRPr b="1" sz="2600" u="none" cap="none" strike="noStrike"/>
                    </a:p>
                  </a:txBody>
                  <a:tcPr marT="91425" marB="91425" marR="91425" marL="91425">
                    <a:solidFill>
                      <a:srgbClr val="FFE599"/>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CATCH</a:t>
                      </a:r>
                      <a:endParaRPr b="1" sz="2600" u="none" cap="none" strike="noStrike"/>
                    </a:p>
                  </a:txBody>
                  <a:tcPr marT="91425" marB="91425" marR="91425" marL="91425">
                    <a:solidFill>
                      <a:srgbClr val="FFE599"/>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b="1" lang="en-US" sz="2600" u="none" cap="none" strike="noStrike"/>
                        <a:t>FINALLY</a:t>
                      </a:r>
                      <a:endParaRPr b="1" sz="2600" u="none" cap="none" strike="noStrike"/>
                    </a:p>
                  </a:txBody>
                  <a:tcPr marT="91425" marB="91425" marR="91425" marL="91425">
                    <a:solidFill>
                      <a:srgbClr val="FFE599"/>
                    </a:solidFill>
                  </a:tcPr>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La sentencia de control “try” se utiliza en Java para indicar que podría ocurrir una excepción en la ejecución de sus subsistencias. Cuando efectivamente, ocurre un problema irrecuperable en la ejecución de las instrucciones dentro de el segmento “try”, Java desplaza la ejecución hacia la función “catch” correspondiente a la excepción que ocurrió. Java logra esto a través de un método conocido como “limpieza de pila”.</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Toda sentencia “try” en Java debe incluir al menos una sentencia “catch”. Este tipo de sentencia recibe como parámetro una única excepción, la cual funciona como variable local en el ámbito de sus sentencias. Esta excepción puede ser específica o generalizada (Exception), y adquirir cualquier identificador.</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Esta clausula es opcional, y se ejecuta al finalizar la sentencia “try” o “catch”, es decir: Si las sentencias “try” no generan excepción, el flujo de la aplicación continúa hacia las sentencias “finally”; y si se transfiere el flujo a una sentencia “catch”, el flujo de la aplicación continúa hacia las sentencias “finally”.</a:t>
                      </a:r>
                      <a:endParaRPr sz="2600" u="none" cap="none" strike="noStrike"/>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5c60227a6a_2_151"/>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básico try-catch</a:t>
            </a:r>
            <a:endParaRPr b="0" i="0" sz="1400" u="none" cap="none" strike="noStrike">
              <a:solidFill>
                <a:srgbClr val="000000"/>
              </a:solidFill>
              <a:latin typeface="Impact"/>
              <a:ea typeface="Impact"/>
              <a:cs typeface="Impact"/>
              <a:sym typeface="Impact"/>
            </a:endParaRPr>
          </a:p>
        </p:txBody>
      </p:sp>
      <p:pic>
        <p:nvPicPr>
          <p:cNvPr id="246" name="Google Shape;246;g35c60227a6a_2_151"/>
          <p:cNvPicPr preferRelativeResize="0"/>
          <p:nvPr/>
        </p:nvPicPr>
        <p:blipFill rotWithShape="1">
          <a:blip r:embed="rId3">
            <a:alphaModFix/>
          </a:blip>
          <a:srcRect b="0" l="0" r="0" t="0"/>
          <a:stretch/>
        </p:blipFill>
        <p:spPr>
          <a:xfrm>
            <a:off x="1385888" y="2563400"/>
            <a:ext cx="15516225" cy="6610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5c6a80a5d2_0_92"/>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múltiples excepciones</a:t>
            </a:r>
            <a:endParaRPr b="0" i="0" sz="1400" u="none" cap="none" strike="noStrike">
              <a:solidFill>
                <a:srgbClr val="000000"/>
              </a:solidFill>
              <a:latin typeface="Impact"/>
              <a:ea typeface="Impact"/>
              <a:cs typeface="Impact"/>
              <a:sym typeface="Impact"/>
            </a:endParaRPr>
          </a:p>
        </p:txBody>
      </p:sp>
      <p:pic>
        <p:nvPicPr>
          <p:cNvPr id="252" name="Google Shape;252;g35c6a80a5d2_0_92"/>
          <p:cNvPicPr preferRelativeResize="0"/>
          <p:nvPr/>
        </p:nvPicPr>
        <p:blipFill rotWithShape="1">
          <a:blip r:embed="rId3">
            <a:alphaModFix/>
          </a:blip>
          <a:srcRect b="0" l="0" r="0" t="0"/>
          <a:stretch/>
        </p:blipFill>
        <p:spPr>
          <a:xfrm>
            <a:off x="2832863" y="2138725"/>
            <a:ext cx="12372975" cy="6543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5c60227a6a_2_44"/>
          <p:cNvSpPr txBox="1"/>
          <p:nvPr/>
        </p:nvSpPr>
        <p:spPr>
          <a:xfrm>
            <a:off x="1455525" y="3036600"/>
            <a:ext cx="5292300" cy="25608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dk1"/>
              </a:buClr>
              <a:buSzPts val="1100"/>
              <a:buFont typeface="Arial"/>
              <a:buNone/>
            </a:pPr>
            <a:r>
              <a:rPr b="0" i="0" lang="en-US" sz="3025" u="none" cap="none" strike="noStrike">
                <a:solidFill>
                  <a:srgbClr val="131416"/>
                </a:solidFill>
                <a:latin typeface="Arial"/>
                <a:ea typeface="Arial"/>
                <a:cs typeface="Arial"/>
                <a:sym typeface="Arial"/>
              </a:rPr>
              <a:t>Los procedimientos son básicamente un conjunto de instrucciones que se ejecutan sin retornar ningún valor.</a:t>
            </a:r>
            <a:endParaRPr b="0" i="0" sz="3025" u="none" cap="none" strike="noStrike">
              <a:solidFill>
                <a:srgbClr val="131416"/>
              </a:solidFill>
              <a:latin typeface="Arial"/>
              <a:ea typeface="Arial"/>
              <a:cs typeface="Arial"/>
              <a:sym typeface="Arial"/>
            </a:endParaRPr>
          </a:p>
        </p:txBody>
      </p:sp>
      <p:sp>
        <p:nvSpPr>
          <p:cNvPr id="258" name="Google Shape;258;g35c60227a6a_2_4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Procedimientos</a:t>
            </a:r>
            <a:endParaRPr b="0" i="0" sz="1400" u="none" cap="none" strike="noStrike">
              <a:solidFill>
                <a:srgbClr val="000000"/>
              </a:solidFill>
              <a:latin typeface="Impact"/>
              <a:ea typeface="Impact"/>
              <a:cs typeface="Impact"/>
              <a:sym typeface="Impact"/>
            </a:endParaRPr>
          </a:p>
        </p:txBody>
      </p:sp>
      <p:pic>
        <p:nvPicPr>
          <p:cNvPr id="259" name="Google Shape;259;g35c60227a6a_2_44"/>
          <p:cNvPicPr preferRelativeResize="0"/>
          <p:nvPr/>
        </p:nvPicPr>
        <p:blipFill rotWithShape="1">
          <a:blip r:embed="rId3">
            <a:alphaModFix/>
          </a:blip>
          <a:srcRect b="0" l="0" r="0" t="0"/>
          <a:stretch/>
        </p:blipFill>
        <p:spPr>
          <a:xfrm>
            <a:off x="7879950" y="5597400"/>
            <a:ext cx="8862500" cy="2658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5c60227a6a_2_160"/>
          <p:cNvSpPr txBox="1"/>
          <p:nvPr/>
        </p:nvSpPr>
        <p:spPr>
          <a:xfrm>
            <a:off x="1723950" y="2392950"/>
            <a:ext cx="14840100" cy="18624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dk1"/>
              </a:buClr>
              <a:buSzPts val="1100"/>
              <a:buFont typeface="Arial"/>
              <a:buNone/>
            </a:pPr>
            <a:r>
              <a:rPr b="0" i="0" lang="en-US" sz="3025" u="none" cap="none" strike="noStrike">
                <a:solidFill>
                  <a:srgbClr val="131416"/>
                </a:solidFill>
                <a:latin typeface="Arial"/>
                <a:ea typeface="Arial"/>
                <a:cs typeface="Arial"/>
                <a:sym typeface="Arial"/>
              </a:rPr>
              <a:t>Las funciones son un conjunto de líneas de código (instrucciones), encapsulados en un bloque, usualmente reciben parámetros, cuyos valores utilizan para efectuar operaciones y adicionalmente retornan un valor.</a:t>
            </a:r>
            <a:endParaRPr b="0" i="0" sz="3025" u="none" cap="none" strike="noStrike">
              <a:solidFill>
                <a:srgbClr val="131416"/>
              </a:solidFill>
              <a:latin typeface="Arial"/>
              <a:ea typeface="Arial"/>
              <a:cs typeface="Arial"/>
              <a:sym typeface="Arial"/>
            </a:endParaRPr>
          </a:p>
        </p:txBody>
      </p:sp>
      <p:sp>
        <p:nvSpPr>
          <p:cNvPr id="265" name="Google Shape;265;g35c60227a6a_2_16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Funciones</a:t>
            </a:r>
            <a:endParaRPr b="0" i="0" sz="1400" u="none" cap="none" strike="noStrike">
              <a:solidFill>
                <a:srgbClr val="000000"/>
              </a:solidFill>
              <a:latin typeface="Impact"/>
              <a:ea typeface="Impact"/>
              <a:cs typeface="Impact"/>
              <a:sym typeface="Impact"/>
            </a:endParaRPr>
          </a:p>
        </p:txBody>
      </p:sp>
      <p:pic>
        <p:nvPicPr>
          <p:cNvPr id="266" name="Google Shape;266;g35c60227a6a_2_160"/>
          <p:cNvPicPr preferRelativeResize="0"/>
          <p:nvPr/>
        </p:nvPicPr>
        <p:blipFill rotWithShape="1">
          <a:blip r:embed="rId3">
            <a:alphaModFix/>
          </a:blip>
          <a:srcRect b="0" l="0" r="0" t="0"/>
          <a:stretch/>
        </p:blipFill>
        <p:spPr>
          <a:xfrm>
            <a:off x="5409638" y="5744750"/>
            <a:ext cx="7468725" cy="2481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5c60227a6a_2_169"/>
          <p:cNvSpPr txBox="1"/>
          <p:nvPr/>
        </p:nvSpPr>
        <p:spPr>
          <a:xfrm>
            <a:off x="1599300" y="1820975"/>
            <a:ext cx="14840100" cy="9681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0"/>
              </a:spcBef>
              <a:spcAft>
                <a:spcPts val="0"/>
              </a:spcAft>
              <a:buClr>
                <a:srgbClr val="000000"/>
              </a:buClr>
              <a:buSzPts val="2925"/>
              <a:buFont typeface="Arial"/>
              <a:buNone/>
            </a:pPr>
            <a:r>
              <a:rPr b="0" i="0" lang="en-US" sz="2925" u="none" cap="none" strike="noStrike">
                <a:solidFill>
                  <a:srgbClr val="131416"/>
                </a:solidFill>
                <a:latin typeface="Arial"/>
                <a:ea typeface="Arial"/>
                <a:cs typeface="Arial"/>
                <a:sym typeface="Arial"/>
              </a:rPr>
              <a:t>Los parámetros son variables que se utilizan para pasar información a funciones o métodos cuando son llamados.</a:t>
            </a:r>
            <a:endParaRPr b="0" i="0" sz="2925" u="none" cap="none" strike="noStrike">
              <a:solidFill>
                <a:srgbClr val="131416"/>
              </a:solidFill>
              <a:latin typeface="Arial"/>
              <a:ea typeface="Arial"/>
              <a:cs typeface="Arial"/>
              <a:sym typeface="Arial"/>
            </a:endParaRPr>
          </a:p>
        </p:txBody>
      </p:sp>
      <p:sp>
        <p:nvSpPr>
          <p:cNvPr id="272" name="Google Shape;272;g35c60227a6a_2_16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Parametros</a:t>
            </a:r>
            <a:endParaRPr b="0" i="0" sz="1400" u="none" cap="none" strike="noStrike">
              <a:solidFill>
                <a:srgbClr val="000000"/>
              </a:solidFill>
              <a:latin typeface="Impact"/>
              <a:ea typeface="Impact"/>
              <a:cs typeface="Impact"/>
              <a:sym typeface="Impact"/>
            </a:endParaRPr>
          </a:p>
        </p:txBody>
      </p:sp>
      <p:pic>
        <p:nvPicPr>
          <p:cNvPr id="273" name="Google Shape;273;g35c60227a6a_2_169"/>
          <p:cNvPicPr preferRelativeResize="0"/>
          <p:nvPr/>
        </p:nvPicPr>
        <p:blipFill rotWithShape="1">
          <a:blip r:embed="rId3">
            <a:alphaModFix/>
          </a:blip>
          <a:srcRect b="0" l="0" r="0" t="0"/>
          <a:stretch/>
        </p:blipFill>
        <p:spPr>
          <a:xfrm>
            <a:off x="4323500" y="3649275"/>
            <a:ext cx="9641000" cy="4561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5c60227a6a_2_49"/>
          <p:cNvSpPr txBox="1"/>
          <p:nvPr/>
        </p:nvSpPr>
        <p:spPr>
          <a:xfrm>
            <a:off x="1374901" y="654375"/>
            <a:ext cx="15288900" cy="1123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7298" u="none" cap="none" strike="noStrike">
                <a:solidFill>
                  <a:srgbClr val="131416"/>
                </a:solidFill>
                <a:latin typeface="Impact"/>
                <a:ea typeface="Impact"/>
                <a:cs typeface="Impact"/>
                <a:sym typeface="Impact"/>
              </a:rPr>
              <a:t>Debugging</a:t>
            </a:r>
            <a:endParaRPr b="0" i="0" sz="2600" u="none" cap="none" strike="noStrike">
              <a:solidFill>
                <a:srgbClr val="000000"/>
              </a:solidFill>
              <a:latin typeface="Impact"/>
              <a:ea typeface="Impact"/>
              <a:cs typeface="Impact"/>
              <a:sym typeface="Impact"/>
            </a:endParaRPr>
          </a:p>
        </p:txBody>
      </p:sp>
      <p:pic>
        <p:nvPicPr>
          <p:cNvPr id="279" name="Google Shape;279;g35c60227a6a_2_49"/>
          <p:cNvPicPr preferRelativeResize="0"/>
          <p:nvPr/>
        </p:nvPicPr>
        <p:blipFill rotWithShape="1">
          <a:blip r:embed="rId3">
            <a:alphaModFix/>
          </a:blip>
          <a:srcRect b="0" l="0" r="0" t="0"/>
          <a:stretch/>
        </p:blipFill>
        <p:spPr>
          <a:xfrm>
            <a:off x="2882375" y="2611075"/>
            <a:ext cx="12523251" cy="7059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5c60227a6a_2_178"/>
          <p:cNvSpPr txBox="1"/>
          <p:nvPr/>
        </p:nvSpPr>
        <p:spPr>
          <a:xfrm>
            <a:off x="1723950" y="2011050"/>
            <a:ext cx="14840100" cy="18624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rgbClr val="000000"/>
              </a:buClr>
              <a:buSzPts val="3025"/>
              <a:buFont typeface="Arial"/>
              <a:buNone/>
            </a:pPr>
            <a:r>
              <a:rPr b="0" i="0" lang="en-US" sz="3025" u="none" cap="none" strike="noStrike">
                <a:solidFill>
                  <a:srgbClr val="131416"/>
                </a:solidFill>
                <a:latin typeface="Arial"/>
                <a:ea typeface="Arial"/>
                <a:cs typeface="Arial"/>
                <a:sym typeface="Arial"/>
              </a:rPr>
              <a:t>Los fallos y anomalías de funcionamiento en un sistema o programa informático que provocan resultados indeseados son comúnmente denominados como 'bugs' , un término en inglés cuya traducción al español sería </a:t>
            </a:r>
            <a:r>
              <a:rPr b="0" i="0" lang="en-US" sz="3025" u="sng" cap="none" strike="noStrike">
                <a:solidFill>
                  <a:srgbClr val="131416"/>
                </a:solidFill>
                <a:latin typeface="Arial"/>
                <a:ea typeface="Arial"/>
                <a:cs typeface="Arial"/>
                <a:sym typeface="Arial"/>
              </a:rPr>
              <a:t>'bicho'</a:t>
            </a:r>
            <a:r>
              <a:rPr b="0" i="0" lang="en-US" sz="3025" u="none" cap="none" strike="noStrike">
                <a:solidFill>
                  <a:srgbClr val="131416"/>
                </a:solidFill>
                <a:latin typeface="Arial"/>
                <a:ea typeface="Arial"/>
                <a:cs typeface="Arial"/>
                <a:sym typeface="Arial"/>
              </a:rPr>
              <a:t>.</a:t>
            </a:r>
            <a:endParaRPr b="0" i="0" sz="3025" u="none" cap="none" strike="noStrike">
              <a:solidFill>
                <a:srgbClr val="131416"/>
              </a:solidFill>
              <a:latin typeface="Arial"/>
              <a:ea typeface="Arial"/>
              <a:cs typeface="Arial"/>
              <a:sym typeface="Arial"/>
            </a:endParaRPr>
          </a:p>
        </p:txBody>
      </p:sp>
      <p:sp>
        <p:nvSpPr>
          <p:cNvPr id="285" name="Google Shape;285;g35c60227a6a_2_17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Bug</a:t>
            </a:r>
            <a:endParaRPr b="0" i="0" sz="1400" u="none" cap="none" strike="noStrike">
              <a:solidFill>
                <a:srgbClr val="000000"/>
              </a:solidFill>
              <a:latin typeface="Impact"/>
              <a:ea typeface="Impact"/>
              <a:cs typeface="Impact"/>
              <a:sym typeface="Impact"/>
            </a:endParaRPr>
          </a:p>
        </p:txBody>
      </p:sp>
      <p:pic>
        <p:nvPicPr>
          <p:cNvPr id="286" name="Google Shape;286;g35c60227a6a_2_178"/>
          <p:cNvPicPr preferRelativeResize="0"/>
          <p:nvPr/>
        </p:nvPicPr>
        <p:blipFill rotWithShape="1">
          <a:blip r:embed="rId3">
            <a:alphaModFix/>
          </a:blip>
          <a:srcRect b="0" l="0" r="0" t="0"/>
          <a:stretch/>
        </p:blipFill>
        <p:spPr>
          <a:xfrm>
            <a:off x="2676763" y="4607825"/>
            <a:ext cx="4881025" cy="4881025"/>
          </a:xfrm>
          <a:prstGeom prst="rect">
            <a:avLst/>
          </a:prstGeom>
          <a:noFill/>
          <a:ln>
            <a:noFill/>
          </a:ln>
        </p:spPr>
      </p:pic>
      <p:pic>
        <p:nvPicPr>
          <p:cNvPr id="287" name="Google Shape;287;g35c60227a6a_2_178"/>
          <p:cNvPicPr preferRelativeResize="0"/>
          <p:nvPr/>
        </p:nvPicPr>
        <p:blipFill rotWithShape="1">
          <a:blip r:embed="rId4">
            <a:alphaModFix/>
          </a:blip>
          <a:srcRect b="0" l="0" r="0" t="0"/>
          <a:stretch/>
        </p:blipFill>
        <p:spPr>
          <a:xfrm>
            <a:off x="9692100" y="5471925"/>
            <a:ext cx="5691225" cy="3794175"/>
          </a:xfrm>
          <a:prstGeom prst="rect">
            <a:avLst/>
          </a:prstGeom>
          <a:noFill/>
          <a:ln>
            <a:noFill/>
          </a:ln>
        </p:spPr>
      </p:pic>
      <p:cxnSp>
        <p:nvCxnSpPr>
          <p:cNvPr id="288" name="Google Shape;288;g35c60227a6a_2_178"/>
          <p:cNvCxnSpPr>
            <a:endCxn id="287" idx="0"/>
          </p:cNvCxnSpPr>
          <p:nvPr/>
        </p:nvCxnSpPr>
        <p:spPr>
          <a:xfrm>
            <a:off x="11199413" y="3932625"/>
            <a:ext cx="1338300" cy="1539300"/>
          </a:xfrm>
          <a:prstGeom prst="straightConnector1">
            <a:avLst/>
          </a:prstGeom>
          <a:noFill/>
          <a:ln cap="flat" cmpd="sng" w="76200">
            <a:solidFill>
              <a:schemeClr val="dk2"/>
            </a:solidFill>
            <a:prstDash val="solid"/>
            <a:round/>
            <a:headEnd len="sm" w="sm" type="none"/>
            <a:tailEnd len="med" w="med" type="triangl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5c660dae79_0_0"/>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Debugging</a:t>
            </a:r>
            <a:endParaRPr b="0" i="0" sz="1400" u="none" cap="none" strike="noStrike">
              <a:solidFill>
                <a:srgbClr val="000000"/>
              </a:solidFill>
              <a:latin typeface="Impact"/>
              <a:ea typeface="Impact"/>
              <a:cs typeface="Impact"/>
              <a:sym typeface="Impact"/>
            </a:endParaRPr>
          </a:p>
        </p:txBody>
      </p:sp>
      <p:sp>
        <p:nvSpPr>
          <p:cNvPr id="294" name="Google Shape;294;g35c660dae79_0_0"/>
          <p:cNvSpPr txBox="1"/>
          <p:nvPr/>
        </p:nvSpPr>
        <p:spPr>
          <a:xfrm>
            <a:off x="1590750" y="2080075"/>
            <a:ext cx="15106500" cy="51102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dk1"/>
              </a:buClr>
              <a:buSzPts val="3200"/>
              <a:buFont typeface="Calibri"/>
              <a:buChar char="●"/>
            </a:pPr>
            <a:r>
              <a:rPr b="0" i="0" lang="en-US" sz="3200" u="none" cap="none" strike="noStrike">
                <a:solidFill>
                  <a:schemeClr val="dk1"/>
                </a:solidFill>
                <a:latin typeface="Calibri"/>
                <a:ea typeface="Calibri"/>
                <a:cs typeface="Calibri"/>
                <a:sym typeface="Calibri"/>
              </a:rPr>
              <a:t>Su objetivo es encontrar errores que pueden impedir que los códigos funcionen de forma adecuada. Con este, es posible determinar lo que está ocurriendo dentro del código fuente y obtener sugerencias de acciones para mejoras.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431800" lvl="0" marL="457200" marR="0" rtl="0" algn="l">
              <a:lnSpc>
                <a:spcPct val="100000"/>
              </a:lnSpc>
              <a:spcBef>
                <a:spcPts val="0"/>
              </a:spcBef>
              <a:spcAft>
                <a:spcPts val="0"/>
              </a:spcAft>
              <a:buClr>
                <a:schemeClr val="dk1"/>
              </a:buClr>
              <a:buSzPts val="3200"/>
              <a:buFont typeface="Calibri"/>
              <a:buChar char="●"/>
            </a:pPr>
            <a:r>
              <a:rPr b="0" i="0" lang="en-US" sz="3200" u="none" cap="none" strike="noStrike">
                <a:solidFill>
                  <a:schemeClr val="dk1"/>
                </a:solidFill>
                <a:latin typeface="Calibri"/>
                <a:ea typeface="Calibri"/>
                <a:cs typeface="Calibri"/>
                <a:sym typeface="Calibri"/>
              </a:rPr>
              <a:t>Cada instrumento de desarrollo tiene su propia herramienta para realizar debug al código. A través de ellas, se puede determinar los puntos de parada, conocidos como breakpoints, para verificar el estado actual de la aplicación.</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a:p>
            <a:pPr indent="-431800" lvl="0" marL="457200" marR="0" rtl="0" algn="l">
              <a:lnSpc>
                <a:spcPct val="100000"/>
              </a:lnSpc>
              <a:spcBef>
                <a:spcPts val="0"/>
              </a:spcBef>
              <a:spcAft>
                <a:spcPts val="0"/>
              </a:spcAft>
              <a:buClr>
                <a:schemeClr val="dk1"/>
              </a:buClr>
              <a:buSzPts val="3200"/>
              <a:buFont typeface="Calibri"/>
              <a:buChar char="●"/>
            </a:pPr>
            <a:r>
              <a:rPr b="0" i="0" lang="en-US" sz="3200" u="none" cap="none" strike="noStrike">
                <a:solidFill>
                  <a:schemeClr val="dk1"/>
                </a:solidFill>
                <a:latin typeface="Calibri"/>
                <a:ea typeface="Calibri"/>
                <a:cs typeface="Calibri"/>
                <a:sym typeface="Calibri"/>
              </a:rPr>
              <a:t>También puedes acompañar el contenido de una determinada variable. Todo esto sirve para facilitar el agotador trabajo de encontrar un bug en un sistema.</a:t>
            </a:r>
            <a:endParaRPr b="0" i="0" sz="3200" u="none" cap="none" strike="noStrike">
              <a:solidFill>
                <a:schemeClr val="dk1"/>
              </a:solidFill>
              <a:latin typeface="Calibri"/>
              <a:ea typeface="Calibri"/>
              <a:cs typeface="Calibri"/>
              <a:sym typeface="Calibri"/>
            </a:endParaRPr>
          </a:p>
        </p:txBody>
      </p:sp>
      <p:pic>
        <p:nvPicPr>
          <p:cNvPr id="295" name="Google Shape;295;g35c660dae79_0_0"/>
          <p:cNvPicPr preferRelativeResize="0"/>
          <p:nvPr/>
        </p:nvPicPr>
        <p:blipFill rotWithShape="1">
          <a:blip r:embed="rId3">
            <a:alphaModFix/>
          </a:blip>
          <a:srcRect b="0" l="0" r="0" t="0"/>
          <a:stretch/>
        </p:blipFill>
        <p:spPr>
          <a:xfrm>
            <a:off x="13538075" y="7190275"/>
            <a:ext cx="4190275" cy="27919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5c60227a6a_2_192"/>
          <p:cNvSpPr txBox="1"/>
          <p:nvPr/>
        </p:nvSpPr>
        <p:spPr>
          <a:xfrm>
            <a:off x="1499550" y="2482050"/>
            <a:ext cx="15288900" cy="626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325"/>
              <a:buFont typeface="Arial"/>
              <a:buNone/>
            </a:pPr>
            <a:r>
              <a:rPr b="1" i="0" lang="en-US" sz="2325" u="none" cap="none" strike="noStrike">
                <a:solidFill>
                  <a:srgbClr val="131416"/>
                </a:solidFill>
                <a:latin typeface="Arial"/>
                <a:ea typeface="Arial"/>
                <a:cs typeface="Arial"/>
                <a:sym typeface="Arial"/>
              </a:rPr>
              <a:t>Puntos de interrupción (Breakpoints)</a:t>
            </a:r>
            <a:r>
              <a:rPr b="0" i="0" lang="en-US" sz="2325" u="none" cap="none" strike="noStrike">
                <a:solidFill>
                  <a:srgbClr val="131416"/>
                </a:solidFill>
                <a:latin typeface="Arial"/>
                <a:ea typeface="Arial"/>
                <a:cs typeface="Arial"/>
                <a:sym typeface="Arial"/>
              </a:rPr>
              <a:t>: Son marcadores que detienen la ejecución del programa en una línea específica. Se colocan haciendo clic en la línea de código a la izquierda del número de línea en NetBeans.</a:t>
            </a:r>
            <a:endParaRPr b="0" i="0" sz="2325" u="none" cap="none" strike="noStrike">
              <a:solidFill>
                <a:srgbClr val="131416"/>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25"/>
              <a:buFont typeface="Arial"/>
              <a:buNone/>
            </a:pPr>
            <a:r>
              <a:t/>
            </a:r>
            <a:endParaRPr b="0" i="0" sz="2325" u="none" cap="none" strike="noStrike">
              <a:solidFill>
                <a:srgbClr val="131416"/>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25"/>
              <a:buFont typeface="Arial"/>
              <a:buNone/>
            </a:pPr>
            <a:r>
              <a:rPr b="1" i="0" lang="en-US" sz="2325" u="none" cap="none" strike="noStrike">
                <a:solidFill>
                  <a:srgbClr val="131416"/>
                </a:solidFill>
                <a:latin typeface="Arial"/>
                <a:ea typeface="Arial"/>
                <a:cs typeface="Arial"/>
                <a:sym typeface="Arial"/>
              </a:rPr>
              <a:t>Step Over, Step Into y Step Out</a:t>
            </a:r>
            <a:r>
              <a:rPr b="0" i="0" lang="en-US" sz="2325" u="none" cap="none" strike="noStrike">
                <a:solidFill>
                  <a:srgbClr val="131416"/>
                </a:solidFill>
                <a:latin typeface="Arial"/>
                <a:ea typeface="Arial"/>
                <a:cs typeface="Arial"/>
                <a:sym typeface="Arial"/>
              </a:rPr>
              <a:t>:</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Step Over</a:t>
            </a:r>
            <a:r>
              <a:rPr b="0" i="0" lang="en-US" sz="2325" u="none" cap="none" strike="noStrike">
                <a:solidFill>
                  <a:srgbClr val="131416"/>
                </a:solidFill>
                <a:latin typeface="Arial"/>
                <a:ea typeface="Arial"/>
                <a:cs typeface="Arial"/>
                <a:sym typeface="Arial"/>
              </a:rPr>
              <a:t>: Ejecuta la línea actual y pasa a la siguiente línea.</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Step Into</a:t>
            </a:r>
            <a:r>
              <a:rPr b="0" i="0" lang="en-US" sz="2325" u="none" cap="none" strike="noStrike">
                <a:solidFill>
                  <a:srgbClr val="131416"/>
                </a:solidFill>
                <a:latin typeface="Arial"/>
                <a:ea typeface="Arial"/>
                <a:cs typeface="Arial"/>
                <a:sym typeface="Arial"/>
              </a:rPr>
              <a:t>: Entra dentro de un método o función si hay uno en la línea actual.</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Step Out</a:t>
            </a:r>
            <a:r>
              <a:rPr b="0" i="0" lang="en-US" sz="2325" u="none" cap="none" strike="noStrike">
                <a:solidFill>
                  <a:srgbClr val="131416"/>
                </a:solidFill>
                <a:latin typeface="Arial"/>
                <a:ea typeface="Arial"/>
                <a:cs typeface="Arial"/>
                <a:sym typeface="Arial"/>
              </a:rPr>
              <a:t>: Sale de un método al nivel superior.</a:t>
            </a:r>
            <a:endParaRPr b="0" i="0" sz="2325" u="none" cap="none" strike="noStrike">
              <a:solidFill>
                <a:srgbClr val="131416"/>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25"/>
              <a:buFont typeface="Arial"/>
              <a:buNone/>
            </a:pPr>
            <a:r>
              <a:t/>
            </a:r>
            <a:endParaRPr b="0" i="0" sz="2325" u="none" cap="none" strike="noStrike">
              <a:solidFill>
                <a:srgbClr val="131416"/>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25"/>
              <a:buFont typeface="Arial"/>
              <a:buNone/>
            </a:pPr>
            <a:r>
              <a:rPr b="1" i="0" lang="en-US" sz="2325" u="none" cap="none" strike="noStrike">
                <a:solidFill>
                  <a:srgbClr val="131416"/>
                </a:solidFill>
                <a:latin typeface="Arial"/>
                <a:ea typeface="Arial"/>
                <a:cs typeface="Arial"/>
                <a:sym typeface="Arial"/>
              </a:rPr>
              <a:t>Ventanas de depuración</a:t>
            </a:r>
            <a:r>
              <a:rPr b="0" i="0" lang="en-US" sz="2325" u="none" cap="none" strike="noStrike">
                <a:solidFill>
                  <a:srgbClr val="131416"/>
                </a:solidFill>
                <a:latin typeface="Arial"/>
                <a:ea typeface="Arial"/>
                <a:cs typeface="Arial"/>
                <a:sym typeface="Arial"/>
              </a:rPr>
              <a:t>:</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Variables</a:t>
            </a:r>
            <a:r>
              <a:rPr b="0" i="0" lang="en-US" sz="2325" u="none" cap="none" strike="noStrike">
                <a:solidFill>
                  <a:srgbClr val="131416"/>
                </a:solidFill>
                <a:latin typeface="Arial"/>
                <a:ea typeface="Arial"/>
                <a:cs typeface="Arial"/>
                <a:sym typeface="Arial"/>
              </a:rPr>
              <a:t>: Muestra el valor de las variables en el momento de la ejecución.</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Call Stack</a:t>
            </a:r>
            <a:r>
              <a:rPr b="0" i="0" lang="en-US" sz="2325" u="none" cap="none" strike="noStrike">
                <a:solidFill>
                  <a:srgbClr val="131416"/>
                </a:solidFill>
                <a:latin typeface="Arial"/>
                <a:ea typeface="Arial"/>
                <a:cs typeface="Arial"/>
                <a:sym typeface="Arial"/>
              </a:rPr>
              <a:t>: Muestra la pila de llamadas y en qué método está en ese momento.</a:t>
            </a:r>
            <a:endParaRPr b="0" i="0" sz="2325" u="none" cap="none" strike="noStrike">
              <a:solidFill>
                <a:srgbClr val="131416"/>
              </a:solidFill>
              <a:latin typeface="Arial"/>
              <a:ea typeface="Arial"/>
              <a:cs typeface="Arial"/>
              <a:sym typeface="Arial"/>
            </a:endParaRPr>
          </a:p>
          <a:p>
            <a:pPr indent="-376237" lvl="0" marL="457200" marR="0" rtl="0" algn="l">
              <a:lnSpc>
                <a:spcPct val="150000"/>
              </a:lnSpc>
              <a:spcBef>
                <a:spcPts val="0"/>
              </a:spcBef>
              <a:spcAft>
                <a:spcPts val="0"/>
              </a:spcAft>
              <a:buClr>
                <a:srgbClr val="131416"/>
              </a:buClr>
              <a:buSzPts val="2325"/>
              <a:buFont typeface="Arial"/>
              <a:buChar char="●"/>
            </a:pPr>
            <a:r>
              <a:rPr b="0" i="0" lang="en-US" sz="2325" u="sng" cap="none" strike="noStrike">
                <a:solidFill>
                  <a:srgbClr val="131416"/>
                </a:solidFill>
                <a:latin typeface="Arial"/>
                <a:ea typeface="Arial"/>
                <a:cs typeface="Arial"/>
                <a:sym typeface="Arial"/>
              </a:rPr>
              <a:t>Watch</a:t>
            </a:r>
            <a:r>
              <a:rPr b="0" i="0" lang="en-US" sz="2325" u="none" cap="none" strike="noStrike">
                <a:solidFill>
                  <a:srgbClr val="131416"/>
                </a:solidFill>
                <a:latin typeface="Arial"/>
                <a:ea typeface="Arial"/>
                <a:cs typeface="Arial"/>
                <a:sym typeface="Arial"/>
              </a:rPr>
              <a:t>: Puedes agregar expresiones para ver cómo cambian sus valores durante la ejecución.</a:t>
            </a:r>
            <a:endParaRPr b="0" i="0" sz="2325" u="none" cap="none" strike="noStrike">
              <a:solidFill>
                <a:srgbClr val="131416"/>
              </a:solidFill>
              <a:latin typeface="Arial"/>
              <a:ea typeface="Arial"/>
              <a:cs typeface="Arial"/>
              <a:sym typeface="Arial"/>
            </a:endParaRPr>
          </a:p>
        </p:txBody>
      </p:sp>
      <p:sp>
        <p:nvSpPr>
          <p:cNvPr id="301" name="Google Shape;301;g35c60227a6a_2_192"/>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Conceptos claves del debugging</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5c60227a6a_2_54"/>
          <p:cNvSpPr txBox="1"/>
          <p:nvPr/>
        </p:nvSpPr>
        <p:spPr>
          <a:xfrm>
            <a:off x="1499552" y="2497800"/>
            <a:ext cx="15288900" cy="1862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chemeClr val="dk1"/>
              </a:buClr>
              <a:buSzPts val="1100"/>
              <a:buFont typeface="Arial"/>
              <a:buNone/>
            </a:pPr>
            <a:r>
              <a:rPr b="0" i="0" lang="en-US" sz="3025" u="none" cap="none" strike="noStrike">
                <a:solidFill>
                  <a:srgbClr val="131416"/>
                </a:solidFill>
                <a:latin typeface="Arial"/>
                <a:ea typeface="Arial"/>
                <a:cs typeface="Arial"/>
                <a:sym typeface="Arial"/>
              </a:rPr>
              <a:t>Un array (arreglo) en Java es una estructura de datos que nos permite almacenar un conjunto de datos de un mismo tipo. El tamaño de los arrays se declara en un primer momento y no puede cambiar luego durante la ejecución del programa.</a:t>
            </a:r>
            <a:endParaRPr b="0" i="0" sz="3025" u="none" cap="none" strike="noStrike">
              <a:solidFill>
                <a:srgbClr val="131416"/>
              </a:solidFill>
              <a:latin typeface="Arial"/>
              <a:ea typeface="Arial"/>
              <a:cs typeface="Arial"/>
              <a:sym typeface="Arial"/>
            </a:endParaRPr>
          </a:p>
        </p:txBody>
      </p:sp>
      <p:sp>
        <p:nvSpPr>
          <p:cNvPr id="307" name="Google Shape;307;g35c60227a6a_2_54"/>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Arreglos</a:t>
            </a:r>
            <a:endParaRPr b="0" i="0" sz="1400" u="none" cap="none" strike="noStrike">
              <a:solidFill>
                <a:srgbClr val="000000"/>
              </a:solidFill>
              <a:latin typeface="Impact"/>
              <a:ea typeface="Impact"/>
              <a:cs typeface="Impact"/>
              <a:sym typeface="Impact"/>
            </a:endParaRPr>
          </a:p>
        </p:txBody>
      </p:sp>
      <p:pic>
        <p:nvPicPr>
          <p:cNvPr id="308" name="Google Shape;308;g35c60227a6a_2_54"/>
          <p:cNvPicPr preferRelativeResize="0"/>
          <p:nvPr/>
        </p:nvPicPr>
        <p:blipFill rotWithShape="1">
          <a:blip r:embed="rId3">
            <a:alphaModFix/>
          </a:blip>
          <a:srcRect b="0" l="0" r="0" t="0"/>
          <a:stretch/>
        </p:blipFill>
        <p:spPr>
          <a:xfrm>
            <a:off x="5495925" y="4654100"/>
            <a:ext cx="7296150" cy="4810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5c60227a6a_2_59"/>
          <p:cNvSpPr txBox="1"/>
          <p:nvPr/>
        </p:nvSpPr>
        <p:spPr>
          <a:xfrm>
            <a:off x="1349250" y="6384525"/>
            <a:ext cx="15589500" cy="24198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chemeClr val="dk1"/>
              </a:buClr>
              <a:buSzPts val="1100"/>
              <a:buFont typeface="Arial"/>
              <a:buNone/>
            </a:pPr>
            <a:r>
              <a:rPr b="1" i="0" lang="en-US" sz="3125" u="none" cap="none" strike="noStrike">
                <a:solidFill>
                  <a:srgbClr val="6AA84F"/>
                </a:solidFill>
                <a:latin typeface="Arial"/>
                <a:ea typeface="Arial"/>
                <a:cs typeface="Arial"/>
                <a:sym typeface="Arial"/>
              </a:rPr>
              <a:t>Ejemplos</a:t>
            </a:r>
            <a:endParaRPr b="1" i="0" sz="3125" u="none" cap="none" strike="noStrike">
              <a:solidFill>
                <a:srgbClr val="6AA84F"/>
              </a:solidFill>
              <a:latin typeface="Arial"/>
              <a:ea typeface="Arial"/>
              <a:cs typeface="Arial"/>
              <a:sym typeface="Arial"/>
            </a:endParaRPr>
          </a:p>
          <a:p>
            <a:pPr indent="-427037" lvl="0" marL="457200" marR="0" rtl="0" algn="l">
              <a:lnSpc>
                <a:spcPct val="115000"/>
              </a:lnSpc>
              <a:spcBef>
                <a:spcPts val="0"/>
              </a:spcBef>
              <a:spcAft>
                <a:spcPts val="0"/>
              </a:spcAft>
              <a:buClr>
                <a:schemeClr val="dk1"/>
              </a:buClr>
              <a:buSzPts val="3125"/>
              <a:buFont typeface="Arial"/>
              <a:buChar char="●"/>
            </a:pPr>
            <a:r>
              <a:rPr b="0" i="0" lang="en-US" sz="3125" u="none" cap="none" strike="noStrike">
                <a:solidFill>
                  <a:schemeClr val="dk1"/>
                </a:solidFill>
                <a:latin typeface="Arial"/>
                <a:ea typeface="Arial"/>
                <a:cs typeface="Arial"/>
                <a:sym typeface="Arial"/>
              </a:rPr>
              <a:t>int[] numeros = new int[5];</a:t>
            </a:r>
            <a:endParaRPr b="0" i="0" sz="3125" u="none" cap="none" strike="noStrike">
              <a:solidFill>
                <a:schemeClr val="dk1"/>
              </a:solidFill>
              <a:latin typeface="Arial"/>
              <a:ea typeface="Arial"/>
              <a:cs typeface="Arial"/>
              <a:sym typeface="Arial"/>
            </a:endParaRPr>
          </a:p>
          <a:p>
            <a:pPr indent="-427037" lvl="0" marL="457200" marR="0" rtl="0" algn="l">
              <a:lnSpc>
                <a:spcPct val="115000"/>
              </a:lnSpc>
              <a:spcBef>
                <a:spcPts val="0"/>
              </a:spcBef>
              <a:spcAft>
                <a:spcPts val="0"/>
              </a:spcAft>
              <a:buClr>
                <a:schemeClr val="dk1"/>
              </a:buClr>
              <a:buSzPts val="3125"/>
              <a:buFont typeface="Arial"/>
              <a:buChar char="●"/>
            </a:pPr>
            <a:r>
              <a:rPr b="0" i="0" lang="en-US" sz="3125" u="none" cap="none" strike="noStrike">
                <a:solidFill>
                  <a:schemeClr val="dk1"/>
                </a:solidFill>
                <a:latin typeface="Arial"/>
                <a:ea typeface="Arial"/>
                <a:cs typeface="Arial"/>
                <a:sym typeface="Arial"/>
              </a:rPr>
              <a:t>int[][] matriz = new int[3][3];</a:t>
            </a:r>
            <a:endParaRPr b="0" i="0" sz="3125" u="none" cap="none" strike="noStrike">
              <a:solidFill>
                <a:schemeClr val="dk1"/>
              </a:solidFill>
              <a:latin typeface="Arial"/>
              <a:ea typeface="Arial"/>
              <a:cs typeface="Arial"/>
              <a:sym typeface="Arial"/>
            </a:endParaRPr>
          </a:p>
          <a:p>
            <a:pPr indent="-427037" lvl="0" marL="457200" marR="0" rtl="0" algn="l">
              <a:lnSpc>
                <a:spcPct val="115000"/>
              </a:lnSpc>
              <a:spcBef>
                <a:spcPts val="0"/>
              </a:spcBef>
              <a:spcAft>
                <a:spcPts val="0"/>
              </a:spcAft>
              <a:buClr>
                <a:schemeClr val="dk1"/>
              </a:buClr>
              <a:buSzPts val="3125"/>
              <a:buFont typeface="Arial"/>
              <a:buChar char="●"/>
            </a:pPr>
            <a:r>
              <a:rPr b="0" i="0" lang="en-US" sz="3125" u="none" cap="none" strike="noStrike">
                <a:solidFill>
                  <a:schemeClr val="dk1"/>
                </a:solidFill>
                <a:latin typeface="Arial"/>
                <a:ea typeface="Arial"/>
                <a:cs typeface="Arial"/>
                <a:sym typeface="Arial"/>
              </a:rPr>
              <a:t>string[] nombres = new string[12];</a:t>
            </a:r>
            <a:endParaRPr b="0" i="0" sz="3125" u="none" cap="none" strike="noStrike">
              <a:solidFill>
                <a:schemeClr val="dk1"/>
              </a:solidFill>
              <a:latin typeface="Arial"/>
              <a:ea typeface="Arial"/>
              <a:cs typeface="Arial"/>
              <a:sym typeface="Arial"/>
            </a:endParaRPr>
          </a:p>
        </p:txBody>
      </p:sp>
      <p:sp>
        <p:nvSpPr>
          <p:cNvPr id="314" name="Google Shape;314;g35c60227a6a_2_5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Sintaxis de un arreglo</a:t>
            </a:r>
            <a:endParaRPr b="0" i="0" sz="1400" u="none" cap="none" strike="noStrike">
              <a:solidFill>
                <a:srgbClr val="000000"/>
              </a:solidFill>
              <a:latin typeface="Impact"/>
              <a:ea typeface="Impact"/>
              <a:cs typeface="Impact"/>
              <a:sym typeface="Impact"/>
            </a:endParaRPr>
          </a:p>
        </p:txBody>
      </p:sp>
      <p:pic>
        <p:nvPicPr>
          <p:cNvPr id="315" name="Google Shape;315;g35c60227a6a_2_59"/>
          <p:cNvPicPr preferRelativeResize="0"/>
          <p:nvPr/>
        </p:nvPicPr>
        <p:blipFill rotWithShape="1">
          <a:blip r:embed="rId3">
            <a:alphaModFix/>
          </a:blip>
          <a:srcRect b="0" l="0" r="0" t="0"/>
          <a:stretch/>
        </p:blipFill>
        <p:spPr>
          <a:xfrm>
            <a:off x="5426413" y="2464125"/>
            <a:ext cx="7435174" cy="3841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5c660dae79_0_16"/>
          <p:cNvSpPr txBox="1"/>
          <p:nvPr/>
        </p:nvSpPr>
        <p:spPr>
          <a:xfrm>
            <a:off x="1349250" y="2609450"/>
            <a:ext cx="15589500" cy="4643400"/>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125"/>
              <a:buFont typeface="Arial"/>
              <a:buNone/>
            </a:pPr>
            <a:r>
              <a:rPr b="1" i="0" lang="en-US" sz="3125" u="none" cap="none" strike="noStrike">
                <a:solidFill>
                  <a:schemeClr val="dk1"/>
                </a:solidFill>
                <a:latin typeface="Arial"/>
                <a:ea typeface="Arial"/>
                <a:cs typeface="Arial"/>
                <a:sym typeface="Arial"/>
              </a:rPr>
              <a:t>Indices</a:t>
            </a:r>
            <a:endParaRPr b="1" i="0" sz="3125" u="none" cap="none" strike="noStrike">
              <a:solidFill>
                <a:schemeClr val="dk1"/>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3125"/>
              <a:buFont typeface="Arial"/>
              <a:buNone/>
            </a:pPr>
            <a:r>
              <a:rPr b="0" i="0" lang="en-US" sz="3125" u="none" cap="none" strike="noStrike">
                <a:solidFill>
                  <a:schemeClr val="dk1"/>
                </a:solidFill>
                <a:latin typeface="Arial"/>
                <a:ea typeface="Arial"/>
                <a:cs typeface="Arial"/>
                <a:sym typeface="Arial"/>
              </a:rPr>
              <a:t>El índice comienza desde n = 0 y termina con el tamaño n – 1.</a:t>
            </a:r>
            <a:endParaRPr b="0" i="0" sz="3125" u="none" cap="none" strike="noStrike">
              <a:solidFill>
                <a:schemeClr val="dk1"/>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3125"/>
              <a:buFont typeface="Arial"/>
              <a:buNone/>
            </a:pPr>
            <a:r>
              <a:rPr b="1" i="0" lang="en-US" sz="3125" u="none" cap="none" strike="noStrike">
                <a:solidFill>
                  <a:schemeClr val="dk1"/>
                </a:solidFill>
                <a:latin typeface="Arial"/>
                <a:ea typeface="Arial"/>
                <a:cs typeface="Arial"/>
                <a:sym typeface="Arial"/>
              </a:rPr>
              <a:t>Verlo (Imprimirlo)</a:t>
            </a:r>
            <a:endParaRPr b="1" i="0" sz="3125" u="none" cap="none" strike="noStrike">
              <a:solidFill>
                <a:schemeClr val="dk1"/>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3125"/>
              <a:buFont typeface="Arial"/>
              <a:buNone/>
            </a:pPr>
            <a:r>
              <a:rPr b="0" i="0" lang="en-US" sz="3125" u="none" cap="none" strike="noStrike">
                <a:solidFill>
                  <a:schemeClr val="dk1"/>
                </a:solidFill>
                <a:latin typeface="Arial"/>
                <a:ea typeface="Arial"/>
                <a:cs typeface="Arial"/>
                <a:sym typeface="Arial"/>
              </a:rPr>
              <a:t>Utilizar ciclo for para recorrer el arreglo e imprimirlo.</a:t>
            </a:r>
            <a:endParaRPr b="0" i="0" sz="3125" u="none" cap="none" strike="noStrike">
              <a:solidFill>
                <a:schemeClr val="dk1"/>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3125"/>
              <a:buFont typeface="Arial"/>
              <a:buNone/>
            </a:pPr>
            <a:r>
              <a:rPr b="1" i="0" lang="en-US" sz="3125" u="none" cap="none" strike="noStrike">
                <a:solidFill>
                  <a:schemeClr val="dk1"/>
                </a:solidFill>
                <a:latin typeface="Arial"/>
                <a:ea typeface="Arial"/>
                <a:cs typeface="Arial"/>
                <a:sym typeface="Arial"/>
              </a:rPr>
              <a:t>Acceso</a:t>
            </a:r>
            <a:endParaRPr b="1" i="0" sz="3125" u="none" cap="none" strike="noStrike">
              <a:solidFill>
                <a:schemeClr val="dk1"/>
              </a:solidFill>
              <a:latin typeface="Arial"/>
              <a:ea typeface="Arial"/>
              <a:cs typeface="Arial"/>
              <a:sym typeface="Arial"/>
            </a:endParaRPr>
          </a:p>
          <a:p>
            <a:pPr indent="0" lvl="0" marL="0" marR="0" rtl="0" algn="l">
              <a:lnSpc>
                <a:spcPct val="173070"/>
              </a:lnSpc>
              <a:spcBef>
                <a:spcPts val="0"/>
              </a:spcBef>
              <a:spcAft>
                <a:spcPts val="0"/>
              </a:spcAft>
              <a:buClr>
                <a:srgbClr val="000000"/>
              </a:buClr>
              <a:buSzPts val="3125"/>
              <a:buFont typeface="Arial"/>
              <a:buNone/>
            </a:pPr>
            <a:r>
              <a:rPr b="0" i="0" lang="en-US" sz="3125" u="none" cap="none" strike="noStrike">
                <a:solidFill>
                  <a:schemeClr val="dk1"/>
                </a:solidFill>
                <a:latin typeface="Arial"/>
                <a:ea typeface="Arial"/>
                <a:cs typeface="Arial"/>
                <a:sym typeface="Arial"/>
              </a:rPr>
              <a:t>Nombre_arreglo[n]</a:t>
            </a:r>
            <a:endParaRPr b="0" i="0" sz="3125" u="none" cap="none" strike="noStrike">
              <a:solidFill>
                <a:schemeClr val="dk1"/>
              </a:solidFill>
              <a:latin typeface="Arial"/>
              <a:ea typeface="Arial"/>
              <a:cs typeface="Arial"/>
              <a:sym typeface="Arial"/>
            </a:endParaRPr>
          </a:p>
        </p:txBody>
      </p:sp>
      <p:sp>
        <p:nvSpPr>
          <p:cNvPr id="321" name="Google Shape;321;g35c660dae79_0_16"/>
          <p:cNvSpPr txBox="1"/>
          <p:nvPr/>
        </p:nvSpPr>
        <p:spPr>
          <a:xfrm>
            <a:off x="1374901" y="84782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Conceptos clave</a:t>
            </a:r>
            <a:endParaRPr b="0" i="0" sz="1400" u="none" cap="none" strike="noStrike">
              <a:solidFill>
                <a:srgbClr val="000000"/>
              </a:solidFill>
              <a:latin typeface="Impact"/>
              <a:ea typeface="Impact"/>
              <a:cs typeface="Impact"/>
              <a:sym typeface="Impac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5c660dae79_0_22"/>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Estructura</a:t>
            </a:r>
            <a:endParaRPr b="0" i="0" sz="1400" u="none" cap="none" strike="noStrike">
              <a:solidFill>
                <a:srgbClr val="000000"/>
              </a:solidFill>
              <a:latin typeface="Impact"/>
              <a:ea typeface="Impact"/>
              <a:cs typeface="Impact"/>
              <a:sym typeface="Impact"/>
            </a:endParaRPr>
          </a:p>
        </p:txBody>
      </p:sp>
      <p:pic>
        <p:nvPicPr>
          <p:cNvPr id="327" name="Google Shape;327;g35c660dae79_0_22"/>
          <p:cNvPicPr preferRelativeResize="0"/>
          <p:nvPr/>
        </p:nvPicPr>
        <p:blipFill rotWithShape="1">
          <a:blip r:embed="rId3">
            <a:alphaModFix/>
          </a:blip>
          <a:srcRect b="0" l="0" r="0" t="0"/>
          <a:stretch/>
        </p:blipFill>
        <p:spPr>
          <a:xfrm>
            <a:off x="4238625" y="2280275"/>
            <a:ext cx="9810750" cy="5867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5c660dae79_0_29"/>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Características</a:t>
            </a:r>
            <a:endParaRPr b="0" i="0" sz="1400" u="none" cap="none" strike="noStrike">
              <a:solidFill>
                <a:srgbClr val="000000"/>
              </a:solidFill>
              <a:latin typeface="Impact"/>
              <a:ea typeface="Impact"/>
              <a:cs typeface="Impact"/>
              <a:sym typeface="Impact"/>
            </a:endParaRPr>
          </a:p>
        </p:txBody>
      </p:sp>
      <p:pic>
        <p:nvPicPr>
          <p:cNvPr id="333" name="Google Shape;333;g35c660dae79_0_29"/>
          <p:cNvPicPr preferRelativeResize="0"/>
          <p:nvPr/>
        </p:nvPicPr>
        <p:blipFill rotWithShape="1">
          <a:blip r:embed="rId3">
            <a:alphaModFix/>
          </a:blip>
          <a:srcRect b="0" l="0" r="0" t="0"/>
          <a:stretch/>
        </p:blipFill>
        <p:spPr>
          <a:xfrm>
            <a:off x="614363" y="2594875"/>
            <a:ext cx="17059275" cy="5676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5c660dae79_0_38"/>
          <p:cNvSpPr txBox="1"/>
          <p:nvPr/>
        </p:nvSpPr>
        <p:spPr>
          <a:xfrm>
            <a:off x="1374901" y="654375"/>
            <a:ext cx="15288900" cy="1354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8798" u="none" cap="none" strike="noStrike">
                <a:solidFill>
                  <a:srgbClr val="131416"/>
                </a:solidFill>
                <a:latin typeface="Impact"/>
                <a:ea typeface="Impact"/>
                <a:cs typeface="Impact"/>
                <a:sym typeface="Impact"/>
              </a:rPr>
              <a:t>Listas</a:t>
            </a:r>
            <a:endParaRPr b="0" i="0" sz="4100" u="none" cap="none" strike="noStrike">
              <a:solidFill>
                <a:srgbClr val="000000"/>
              </a:solidFill>
              <a:latin typeface="Impact"/>
              <a:ea typeface="Impact"/>
              <a:cs typeface="Impact"/>
              <a:sym typeface="Impact"/>
            </a:endParaRPr>
          </a:p>
        </p:txBody>
      </p:sp>
      <p:pic>
        <p:nvPicPr>
          <p:cNvPr id="339" name="Google Shape;339;g35c660dae79_0_38"/>
          <p:cNvPicPr preferRelativeResize="0"/>
          <p:nvPr/>
        </p:nvPicPr>
        <p:blipFill rotWithShape="1">
          <a:blip r:embed="rId3">
            <a:alphaModFix/>
          </a:blip>
          <a:srcRect b="0" l="0" r="0" t="0"/>
          <a:stretch/>
        </p:blipFill>
        <p:spPr>
          <a:xfrm>
            <a:off x="5672138" y="2138725"/>
            <a:ext cx="6943725" cy="7229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5c660dae79_0_48"/>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Listas</a:t>
            </a:r>
            <a:endParaRPr b="0" i="0" sz="1400" u="none" cap="none" strike="noStrike">
              <a:solidFill>
                <a:srgbClr val="000000"/>
              </a:solidFill>
              <a:latin typeface="Impact"/>
              <a:ea typeface="Impact"/>
              <a:cs typeface="Impact"/>
              <a:sym typeface="Impact"/>
            </a:endParaRPr>
          </a:p>
        </p:txBody>
      </p:sp>
      <p:sp>
        <p:nvSpPr>
          <p:cNvPr id="345" name="Google Shape;345;g35c660dae79_0_48"/>
          <p:cNvSpPr txBox="1"/>
          <p:nvPr/>
        </p:nvSpPr>
        <p:spPr>
          <a:xfrm>
            <a:off x="1374900" y="2667875"/>
            <a:ext cx="7213200" cy="4363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000"/>
              </a:spcBef>
              <a:spcAft>
                <a:spcPts val="0"/>
              </a:spcAft>
              <a:buClr>
                <a:srgbClr val="000000"/>
              </a:buClr>
              <a:buSzPts val="3000"/>
              <a:buFont typeface="Arial"/>
              <a:buNone/>
            </a:pPr>
            <a:r>
              <a:rPr b="0" i="0" lang="en-US" sz="3000" u="none" cap="none" strike="noStrike">
                <a:solidFill>
                  <a:srgbClr val="404040"/>
                </a:solidFill>
                <a:latin typeface="Trebuchet MS"/>
                <a:ea typeface="Trebuchet MS"/>
                <a:cs typeface="Trebuchet MS"/>
                <a:sym typeface="Trebuchet MS"/>
              </a:rPr>
              <a:t>La lista tiene un enlace al primer contenedor y cada contenedor tiene un enlace al siguiente contenedor en la lista. Para agregar un elemento a la lista, el elemento se coloca en un nuevo contenedor y ese contenedor está vinculado a uno de los otros contenedores en la lista.</a:t>
            </a:r>
            <a:endParaRPr b="0" i="0" sz="3000" u="none" cap="none" strike="noStrike">
              <a:solidFill>
                <a:srgbClr val="404040"/>
              </a:solidFill>
              <a:latin typeface="Trebuchet MS"/>
              <a:ea typeface="Trebuchet MS"/>
              <a:cs typeface="Trebuchet MS"/>
              <a:sym typeface="Trebuchet MS"/>
            </a:endParaRPr>
          </a:p>
        </p:txBody>
      </p:sp>
      <p:pic>
        <p:nvPicPr>
          <p:cNvPr id="346" name="Google Shape;346;g35c660dae79_0_48"/>
          <p:cNvPicPr preferRelativeResize="0"/>
          <p:nvPr/>
        </p:nvPicPr>
        <p:blipFill rotWithShape="1">
          <a:blip r:embed="rId3">
            <a:alphaModFix/>
          </a:blip>
          <a:srcRect b="0" l="0" r="0" t="0"/>
          <a:stretch/>
        </p:blipFill>
        <p:spPr>
          <a:xfrm>
            <a:off x="10248775" y="1948775"/>
            <a:ext cx="6848700" cy="638945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5c660dae79_0_56"/>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Listas Dinámicas - Características</a:t>
            </a:r>
            <a:endParaRPr b="0" i="0" sz="1400" u="none" cap="none" strike="noStrike">
              <a:solidFill>
                <a:srgbClr val="000000"/>
              </a:solidFill>
              <a:latin typeface="Impact"/>
              <a:ea typeface="Impact"/>
              <a:cs typeface="Impact"/>
              <a:sym typeface="Impact"/>
            </a:endParaRPr>
          </a:p>
        </p:txBody>
      </p:sp>
      <p:pic>
        <p:nvPicPr>
          <p:cNvPr id="352" name="Google Shape;352;g35c660dae79_0_56"/>
          <p:cNvPicPr preferRelativeResize="0"/>
          <p:nvPr/>
        </p:nvPicPr>
        <p:blipFill rotWithShape="1">
          <a:blip r:embed="rId3">
            <a:alphaModFix/>
          </a:blip>
          <a:srcRect b="0" l="0" r="0" t="0"/>
          <a:stretch/>
        </p:blipFill>
        <p:spPr>
          <a:xfrm>
            <a:off x="1023938" y="2972375"/>
            <a:ext cx="16240125" cy="58578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5c6a80a5d2_0_131"/>
          <p:cNvSpPr txBox="1"/>
          <p:nvPr/>
        </p:nvSpPr>
        <p:spPr>
          <a:xfrm>
            <a:off x="1374901" y="654375"/>
            <a:ext cx="152889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Arreglos Vs Listas</a:t>
            </a:r>
            <a:endParaRPr b="0" i="0" sz="1400" u="none" cap="none" strike="noStrike">
              <a:solidFill>
                <a:srgbClr val="000000"/>
              </a:solidFill>
              <a:latin typeface="Impact"/>
              <a:ea typeface="Impact"/>
              <a:cs typeface="Impact"/>
              <a:sym typeface="Impact"/>
            </a:endParaRPr>
          </a:p>
        </p:txBody>
      </p:sp>
      <p:graphicFrame>
        <p:nvGraphicFramePr>
          <p:cNvPr id="358" name="Google Shape;358;g35c6a80a5d2_0_131"/>
          <p:cNvGraphicFramePr/>
          <p:nvPr/>
        </p:nvGraphicFramePr>
        <p:xfrm>
          <a:off x="2150725" y="2810650"/>
          <a:ext cx="3000000" cy="3000000"/>
        </p:xfrm>
        <a:graphic>
          <a:graphicData uri="http://schemas.openxmlformats.org/drawingml/2006/table">
            <a:tbl>
              <a:tblPr>
                <a:noFill/>
                <a:tableStyleId>{EC169746-E9D3-4AD0-86B2-747766C18CBC}</a:tableStyleId>
              </a:tblPr>
              <a:tblGrid>
                <a:gridCol w="4074275"/>
                <a:gridCol w="4973775"/>
                <a:gridCol w="4938500"/>
              </a:tblGrid>
              <a:tr h="768750">
                <a:tc>
                  <a:txBody>
                    <a:bodyPr/>
                    <a:lstStyle/>
                    <a:p>
                      <a:pPr indent="0" lvl="0" marL="0" marR="0" rtl="0" algn="just">
                        <a:lnSpc>
                          <a:spcPct val="115000"/>
                        </a:lnSpc>
                        <a:spcBef>
                          <a:spcPts val="0"/>
                        </a:spcBef>
                        <a:spcAft>
                          <a:spcPts val="0"/>
                        </a:spcAft>
                        <a:buClr>
                          <a:srgbClr val="000000"/>
                        </a:buClr>
                        <a:buSzPts val="2700"/>
                        <a:buFont typeface="Arial"/>
                        <a:buNone/>
                      </a:pPr>
                      <a:r>
                        <a:rPr b="1" lang="en-US" sz="2700" u="none" cap="none" strike="noStrike">
                          <a:solidFill>
                            <a:srgbClr val="404040"/>
                          </a:solidFill>
                        </a:rPr>
                        <a:t>Característica</a:t>
                      </a:r>
                      <a:endParaRPr b="1" sz="27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700"/>
                        <a:buFont typeface="Arial"/>
                        <a:buNone/>
                      </a:pPr>
                      <a:r>
                        <a:rPr b="1" lang="en-US" sz="2700" u="none" cap="none" strike="noStrike">
                          <a:solidFill>
                            <a:srgbClr val="404040"/>
                          </a:solidFill>
                        </a:rPr>
                        <a:t>Arreglos</a:t>
                      </a:r>
                      <a:endParaRPr b="1" sz="27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700"/>
                        <a:buFont typeface="Arial"/>
                        <a:buNone/>
                      </a:pPr>
                      <a:r>
                        <a:rPr b="1" lang="en-US" sz="2700" u="none" cap="none" strike="noStrike">
                          <a:solidFill>
                            <a:srgbClr val="404040"/>
                          </a:solidFill>
                        </a:rPr>
                        <a:t>Listas Dinámicas</a:t>
                      </a:r>
                      <a:endParaRPr b="1" sz="2700" u="none" cap="none" strike="noStrike">
                        <a:solidFill>
                          <a:srgbClr val="404040"/>
                        </a:solidFill>
                      </a:endParaRPr>
                    </a:p>
                  </a:txBody>
                  <a:tcPr marT="91425" marB="91425" marR="91425" marL="91425"/>
                </a:tc>
              </a:tr>
              <a:tr h="1079825">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Tamaño</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Fijo (No se puede modificar luego de ser creado)</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Variable (Puede crecer o reducirse)</a:t>
                      </a:r>
                      <a:endParaRPr sz="2100" u="none" cap="none" strike="noStrike">
                        <a:solidFill>
                          <a:srgbClr val="404040"/>
                        </a:solidFill>
                      </a:endParaRPr>
                    </a:p>
                  </a:txBody>
                  <a:tcPr marT="91425" marB="91425" marR="91425" marL="91425"/>
                </a:tc>
              </a:tr>
              <a:tr h="646550">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Acceso</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Por medio de índices</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Por medio de índices</a:t>
                      </a:r>
                      <a:endParaRPr sz="2100" u="none" cap="none" strike="noStrike">
                        <a:solidFill>
                          <a:srgbClr val="404040"/>
                        </a:solidFill>
                      </a:endParaRPr>
                    </a:p>
                  </a:txBody>
                  <a:tcPr marT="91425" marB="91425" marR="91425" marL="91425"/>
                </a:tc>
              </a:tr>
              <a:tr h="1079825">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Inserción/Eliminación</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Costoso (Requiere un nuevo arreglo)</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Eficiente (por métodos “add”, “remove”)</a:t>
                      </a:r>
                      <a:endParaRPr sz="2100" u="none" cap="none" strike="noStrike">
                        <a:solidFill>
                          <a:srgbClr val="404040"/>
                        </a:solidFill>
                      </a:endParaRPr>
                    </a:p>
                  </a:txBody>
                  <a:tcPr marT="91425" marB="91425" marR="91425" marL="91425"/>
                </a:tc>
              </a:tr>
              <a:tr h="1079825">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Memoria</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Menor sobrecarga de memoria</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Mayor sobrecarga debido a la gestión interna</a:t>
                      </a:r>
                      <a:endParaRPr sz="2100" u="none" cap="none" strike="noStrike">
                        <a:solidFill>
                          <a:srgbClr val="404040"/>
                        </a:solidFill>
                      </a:endParaRPr>
                    </a:p>
                  </a:txBody>
                  <a:tcPr marT="91425" marB="91425" marR="91425" marL="91425"/>
                </a:tc>
              </a:tr>
              <a:tr h="1079825">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Uso común</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Datos de tamaño conocido</a:t>
                      </a:r>
                      <a:endParaRPr sz="2100" u="none" cap="none" strike="noStrike">
                        <a:solidFill>
                          <a:srgbClr val="404040"/>
                        </a:solidFill>
                      </a:endParaRPr>
                    </a:p>
                  </a:txBody>
                  <a:tcPr marT="91425" marB="91425" marR="91425" marL="91425"/>
                </a:tc>
                <a:tc>
                  <a:txBody>
                    <a:bodyPr/>
                    <a:lstStyle/>
                    <a:p>
                      <a:pPr indent="0" lvl="0" marL="0" marR="0" rtl="0" algn="just">
                        <a:lnSpc>
                          <a:spcPct val="115000"/>
                        </a:lnSpc>
                        <a:spcBef>
                          <a:spcPts val="0"/>
                        </a:spcBef>
                        <a:spcAft>
                          <a:spcPts val="0"/>
                        </a:spcAft>
                        <a:buClr>
                          <a:srgbClr val="000000"/>
                        </a:buClr>
                        <a:buSzPts val="2100"/>
                        <a:buFont typeface="Arial"/>
                        <a:buNone/>
                      </a:pPr>
                      <a:r>
                        <a:rPr lang="en-US" sz="2100" u="none" cap="none" strike="noStrike">
                          <a:solidFill>
                            <a:srgbClr val="404040"/>
                          </a:solidFill>
                        </a:rPr>
                        <a:t>Datos de tamaño desconocidos</a:t>
                      </a:r>
                      <a:endParaRPr sz="2100" u="none" cap="none" strike="noStrike">
                        <a:solidFill>
                          <a:srgbClr val="404040"/>
                        </a:solidFill>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
          <p:cNvSpPr txBox="1"/>
          <p:nvPr/>
        </p:nvSpPr>
        <p:spPr>
          <a:xfrm>
            <a:off x="2392340" y="3604200"/>
            <a:ext cx="13503300" cy="30786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20000" u="none" cap="none" strike="noStrike">
                <a:solidFill>
                  <a:srgbClr val="131416"/>
                </a:solidFill>
                <a:latin typeface="Impact"/>
                <a:ea typeface="Impact"/>
                <a:cs typeface="Impact"/>
                <a:sym typeface="Impact"/>
              </a:rPr>
              <a:t>Honestidad</a:t>
            </a:r>
            <a:endParaRPr b="0" i="0" sz="20000" u="none" cap="none" strike="noStrike">
              <a:solidFill>
                <a:srgbClr val="000000"/>
              </a:solidFill>
              <a:latin typeface="Impact"/>
              <a:ea typeface="Impact"/>
              <a:cs typeface="Impact"/>
              <a:sym typeface="Impac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69" name="Google Shape;369;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70" name="Google Shape;370;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71" name="Google Shape;371;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