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10287000" cx="18288000"/>
  <p:notesSz cx="6858000" cy="9144000"/>
  <p:embeddedFontLst>
    <p:embeddedFont>
      <p:font typeface="Play"/>
      <p:regular r:id="rId63"/>
      <p:bold r:id="rId64"/>
    </p:embeddedFont>
    <p:embeddedFont>
      <p:font typeface="Roboto"/>
      <p:regular r:id="rId65"/>
      <p:bold r:id="rId66"/>
      <p:italic r:id="rId67"/>
      <p:boldItalic r:id="rId68"/>
    </p:embeddedFont>
    <p:embeddedFont>
      <p:font typeface="Arimo"/>
      <p:regular r:id="rId69"/>
      <p:bold r:id="rId70"/>
      <p:italic r:id="rId71"/>
      <p:boldItalic r:id="rId72"/>
    </p:embeddedFont>
    <p:embeddedFont>
      <p:font typeface="Open Sans"/>
      <p:bold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5" roundtripDataSignature="AMtx7mgY5ahMEqE1ESHyNGOdahXTz41W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FA18F4-7660-4822-AD7A-FD80CF552511}">
  <a:tblStyle styleId="{0FFA18F4-7660-4822-AD7A-FD80CF55251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OpenSans-bold.fntdata"/><Relationship Id="rId72" Type="http://schemas.openxmlformats.org/officeDocument/2006/relationships/font" Target="fonts/Arimo-boldItalic.fntdata"/><Relationship Id="rId31" Type="http://schemas.openxmlformats.org/officeDocument/2006/relationships/slide" Target="slides/slide25.xml"/><Relationship Id="rId75" Type="http://customschemas.google.com/relationships/presentationmetadata" Target="metadata"/><Relationship Id="rId30" Type="http://schemas.openxmlformats.org/officeDocument/2006/relationships/slide" Target="slides/slide24.xml"/><Relationship Id="rId74" Type="http://schemas.openxmlformats.org/officeDocument/2006/relationships/font" Target="fonts/OpenSans-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Arimo-italic.fntdata"/><Relationship Id="rId70" Type="http://schemas.openxmlformats.org/officeDocument/2006/relationships/font" Target="fonts/Arimo-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Play-bold.fntdata"/><Relationship Id="rId63" Type="http://schemas.openxmlformats.org/officeDocument/2006/relationships/font" Target="fonts/Play-regular.fntdata"/><Relationship Id="rId22" Type="http://schemas.openxmlformats.org/officeDocument/2006/relationships/slide" Target="slides/slide16.xml"/><Relationship Id="rId66" Type="http://schemas.openxmlformats.org/officeDocument/2006/relationships/font" Target="fonts/Roboto-bold.fntdata"/><Relationship Id="rId21" Type="http://schemas.openxmlformats.org/officeDocument/2006/relationships/slide" Target="slides/slide15.xml"/><Relationship Id="rId65" Type="http://schemas.openxmlformats.org/officeDocument/2006/relationships/font" Target="fonts/Roboto-regular.fntdata"/><Relationship Id="rId24" Type="http://schemas.openxmlformats.org/officeDocument/2006/relationships/slide" Target="slides/slide18.xml"/><Relationship Id="rId68" Type="http://schemas.openxmlformats.org/officeDocument/2006/relationships/font" Target="fonts/Roboto-boldItalic.fntdata"/><Relationship Id="rId23" Type="http://schemas.openxmlformats.org/officeDocument/2006/relationships/slide" Target="slides/slide17.xml"/><Relationship Id="rId67" Type="http://schemas.openxmlformats.org/officeDocument/2006/relationships/font" Target="fonts/Roboto-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Arimo-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6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6"/>
          <p:cNvSpPr/>
          <p:nvPr>
            <p:ph idx="2" type="pic"/>
          </p:nvPr>
        </p:nvSpPr>
        <p:spPr>
          <a:xfrm>
            <a:off x="1792288" y="612775"/>
            <a:ext cx="5486400" cy="4114800"/>
          </a:xfrm>
          <a:prstGeom prst="rect">
            <a:avLst/>
          </a:prstGeom>
          <a:noFill/>
          <a:ln>
            <a:noFill/>
          </a:ln>
        </p:spPr>
      </p:sp>
      <p:sp>
        <p:nvSpPr>
          <p:cNvPr id="64" name="Google Shape;64;p6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7.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57.png"/><Relationship Id="rId5" Type="http://schemas.openxmlformats.org/officeDocument/2006/relationships/image" Target="../media/image34.png"/><Relationship Id="rId6"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1.png"/><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www.instagram.com/p/C-6JbX3Ojfm/?img_index=1" TargetMode="External"/><Relationship Id="rId4" Type="http://schemas.openxmlformats.org/officeDocument/2006/relationships/hyperlink" Target="https://www.instagram.com/p/C-6JbX3Ojfm/?img_index=1" TargetMode="External"/><Relationship Id="rId5"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3.png"/><Relationship Id="rId4" Type="http://schemas.openxmlformats.org/officeDocument/2006/relationships/image" Target="../media/image58.png"/><Relationship Id="rId5" Type="http://schemas.openxmlformats.org/officeDocument/2006/relationships/image" Target="../media/image49.png"/><Relationship Id="rId6"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6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6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11897" y="-27701"/>
            <a:ext cx="18399897" cy="10314701"/>
          </a:xfrm>
          <a:custGeom>
            <a:rect b="b" l="l" r="r" t="t"/>
            <a:pathLst>
              <a:path extrusionOk="0" h="10314701" w="18399897">
                <a:moveTo>
                  <a:pt x="0" y="0"/>
                </a:moveTo>
                <a:lnTo>
                  <a:pt x="18399897" y="0"/>
                </a:lnTo>
                <a:lnTo>
                  <a:pt x="18399897" y="10314701"/>
                </a:lnTo>
                <a:lnTo>
                  <a:pt x="0" y="10314701"/>
                </a:lnTo>
                <a:lnTo>
                  <a:pt x="0" y="0"/>
                </a:lnTo>
                <a:close/>
              </a:path>
            </a:pathLst>
          </a:custGeom>
          <a:blipFill rotWithShape="1">
            <a:blip r:embed="rId3">
              <a:alphaModFix/>
            </a:blip>
            <a:stretch>
              <a:fillRect b="-39190" l="0" r="0" t="-39190"/>
            </a:stretch>
          </a:blipFill>
          <a:ln>
            <a:noFill/>
          </a:ln>
        </p:spPr>
      </p:sp>
      <p:sp>
        <p:nvSpPr>
          <p:cNvPr id="85" name="Google Shape;85;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0" y="7506283"/>
            <a:ext cx="16905607"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FEFDFD"/>
                </a:solidFill>
                <a:latin typeface="Open Sans"/>
                <a:ea typeface="Open Sans"/>
                <a:cs typeface="Open Sans"/>
                <a:sym typeface="Open Sans"/>
              </a:rPr>
              <a:t>Introducción a la Programación y Computación 1</a:t>
            </a:r>
            <a:endParaRPr/>
          </a:p>
        </p:txBody>
      </p:sp>
      <p:sp>
        <p:nvSpPr>
          <p:cNvPr id="87" name="Google Shape;87;p1"/>
          <p:cNvSpPr txBox="1"/>
          <p:nvPr/>
        </p:nvSpPr>
        <p:spPr>
          <a:xfrm>
            <a:off x="833533" y="8417508"/>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FEFDFD"/>
                </a:solidFill>
                <a:latin typeface="Open Sans"/>
                <a:ea typeface="Open Sans"/>
                <a:cs typeface="Open Sans"/>
                <a:sym typeface="Open Sans"/>
              </a:rPr>
              <a:t>Escuela de Ingenieria de Ciencias Y Sistemas</a:t>
            </a:r>
            <a:endParaRPr/>
          </a:p>
        </p:txBody>
      </p:sp>
      <p:sp>
        <p:nvSpPr>
          <p:cNvPr id="88" name="Google Shape;88;p1"/>
          <p:cNvSpPr txBox="1"/>
          <p:nvPr/>
        </p:nvSpPr>
        <p:spPr>
          <a:xfrm>
            <a:off x="798931" y="8882932"/>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FEFDFD"/>
                </a:solidFill>
                <a:latin typeface="Open Sans"/>
                <a:ea typeface="Open Sans"/>
                <a:cs typeface="Open Sans"/>
                <a:sym typeface="Open Sans"/>
              </a:rPr>
              <a:t>Facultad de Ingenieria</a:t>
            </a:r>
            <a:endParaRPr/>
          </a:p>
        </p:txBody>
      </p:sp>
      <p:sp>
        <p:nvSpPr>
          <p:cNvPr id="89" name="Google Shape;89;p1"/>
          <p:cNvSpPr txBox="1"/>
          <p:nvPr/>
        </p:nvSpPr>
        <p:spPr>
          <a:xfrm>
            <a:off x="798931" y="9324257"/>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FEFDFD"/>
                </a:solidFill>
                <a:latin typeface="Open Sans"/>
                <a:ea typeface="Open Sans"/>
                <a:cs typeface="Open Sans"/>
                <a:sym typeface="Open Sans"/>
              </a:rPr>
              <a:t>Universidad de San Carlos de Guatemala</a:t>
            </a:r>
            <a:endParaRPr/>
          </a:p>
        </p:txBody>
      </p:sp>
      <p:sp>
        <p:nvSpPr>
          <p:cNvPr id="90" name="Google Shape;90;p1"/>
          <p:cNvSpPr txBox="1"/>
          <p:nvPr/>
        </p:nvSpPr>
        <p:spPr>
          <a:xfrm>
            <a:off x="1685449" y="3915649"/>
            <a:ext cx="14378821"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FFFFFF"/>
                </a:solidFill>
                <a:latin typeface="Open Sans"/>
                <a:ea typeface="Open Sans"/>
                <a:cs typeface="Open Sans"/>
                <a:sym typeface="Open Sans"/>
              </a:rPr>
              <a:t>Unidad 7: POO Avanzado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p:nvPr/>
        </p:nvSpPr>
        <p:spPr>
          <a:xfrm rot="10800000">
            <a:off x="-15589" y="-467"/>
            <a:ext cx="8861870" cy="4497641"/>
          </a:xfrm>
          <a:custGeom>
            <a:rect b="b" l="l" r="r" t="t"/>
            <a:pathLst>
              <a:path extrusionOk="0" h="5996855" w="11815826">
                <a:moveTo>
                  <a:pt x="10342626" y="1200"/>
                </a:moveTo>
                <a:cubicBezTo>
                  <a:pt x="10778998" y="7438"/>
                  <a:pt x="11212830" y="73541"/>
                  <a:pt x="11626469" y="197648"/>
                </a:cubicBezTo>
                <a:lnTo>
                  <a:pt x="11815826" y="261890"/>
                </a:lnTo>
                <a:lnTo>
                  <a:pt x="11815826" y="5996855"/>
                </a:lnTo>
                <a:lnTo>
                  <a:pt x="0" y="5996855"/>
                </a:lnTo>
                <a:lnTo>
                  <a:pt x="7833995" y="699657"/>
                </a:lnTo>
                <a:lnTo>
                  <a:pt x="7918958" y="645155"/>
                </a:lnTo>
                <a:cubicBezTo>
                  <a:pt x="8582152" y="241424"/>
                  <a:pt x="9342247" y="30968"/>
                  <a:pt x="10104374" y="3826"/>
                </a:cubicBezTo>
                <a:cubicBezTo>
                  <a:pt x="10183749" y="981"/>
                  <a:pt x="10263251" y="0"/>
                  <a:pt x="10342499" y="1309"/>
                </a:cubicBezTo>
                <a:close/>
              </a:path>
            </a:pathLst>
          </a:custGeom>
          <a:gradFill>
            <a:gsLst>
              <a:gs pos="0">
                <a:srgbClr val="F0F3F3"/>
              </a:gs>
              <a:gs pos="40000">
                <a:srgbClr val="F0F3F3"/>
              </a:gs>
              <a:gs pos="100000">
                <a:srgbClr val="F18F7F"/>
              </a:gs>
            </a:gsLst>
            <a:lin ang="126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651754" y="6382891"/>
            <a:ext cx="1253075" cy="1253075"/>
          </a:xfrm>
          <a:custGeom>
            <a:rect b="b" l="l" r="r" t="t"/>
            <a:pathLst>
              <a:path extrusionOk="0" h="2196084" w="2196084">
                <a:moveTo>
                  <a:pt x="0" y="1098042"/>
                </a:moveTo>
                <a:cubicBezTo>
                  <a:pt x="0" y="491617"/>
                  <a:pt x="491617" y="0"/>
                  <a:pt x="1098042" y="0"/>
                </a:cubicBezTo>
                <a:cubicBezTo>
                  <a:pt x="1704467" y="0"/>
                  <a:pt x="2196084" y="491617"/>
                  <a:pt x="2196084" y="1098042"/>
                </a:cubicBezTo>
                <a:cubicBezTo>
                  <a:pt x="2196084" y="1704467"/>
                  <a:pt x="1704467" y="2196084"/>
                  <a:pt x="1098042" y="2196084"/>
                </a:cubicBezTo>
                <a:cubicBezTo>
                  <a:pt x="491617" y="2196084"/>
                  <a:pt x="0" y="1704467"/>
                  <a:pt x="0" y="1098042"/>
                </a:cubicBezTo>
                <a:close/>
              </a:path>
            </a:pathLst>
          </a:custGeom>
          <a:solidFill>
            <a:srgbClr val="E72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1002754" y="6733891"/>
            <a:ext cx="584659" cy="584659"/>
          </a:xfrm>
          <a:custGeom>
            <a:rect b="b" l="l" r="r" t="t"/>
            <a:pathLst>
              <a:path extrusionOk="0" h="584659" w="584659">
                <a:moveTo>
                  <a:pt x="0" y="0"/>
                </a:moveTo>
                <a:lnTo>
                  <a:pt x="584659" y="0"/>
                </a:lnTo>
                <a:lnTo>
                  <a:pt x="584659" y="584659"/>
                </a:lnTo>
                <a:lnTo>
                  <a:pt x="0" y="584659"/>
                </a:lnTo>
                <a:lnTo>
                  <a:pt x="0" y="0"/>
                </a:lnTo>
                <a:close/>
              </a:path>
            </a:pathLst>
          </a:custGeom>
          <a:blipFill rotWithShape="1">
            <a:blip r:embed="rId3">
              <a:alphaModFix/>
            </a:blip>
            <a:stretch>
              <a:fillRect b="0" l="0" r="0" t="0"/>
            </a:stretch>
          </a:blipFill>
          <a:ln>
            <a:noFill/>
          </a:ln>
        </p:spPr>
      </p:sp>
      <p:grpSp>
        <p:nvGrpSpPr>
          <p:cNvPr id="98" name="Google Shape;98;p2"/>
          <p:cNvGrpSpPr/>
          <p:nvPr/>
        </p:nvGrpSpPr>
        <p:grpSpPr>
          <a:xfrm>
            <a:off x="2227947" y="6716637"/>
            <a:ext cx="2709525" cy="1165352"/>
            <a:chOff x="0" y="-76200"/>
            <a:chExt cx="3612700" cy="1553803"/>
          </a:xfrm>
        </p:grpSpPr>
        <p:sp>
          <p:nvSpPr>
            <p:cNvPr id="99" name="Google Shape;99;p2"/>
            <p:cNvSpPr/>
            <p:nvPr/>
          </p:nvSpPr>
          <p:spPr>
            <a:xfrm>
              <a:off x="0" y="0"/>
              <a:ext cx="3612700" cy="1477603"/>
            </a:xfrm>
            <a:custGeom>
              <a:rect b="b" l="l" r="r" t="t"/>
              <a:pathLst>
                <a:path extrusionOk="0" h="1477603" w="3612700">
                  <a:moveTo>
                    <a:pt x="0" y="0"/>
                  </a:moveTo>
                  <a:lnTo>
                    <a:pt x="3612700" y="0"/>
                  </a:lnTo>
                  <a:lnTo>
                    <a:pt x="3612700" y="1477603"/>
                  </a:lnTo>
                  <a:lnTo>
                    <a:pt x="0" y="1477603"/>
                  </a:lnTo>
                  <a:close/>
                </a:path>
              </a:pathLst>
            </a:custGeom>
            <a:solidFill>
              <a:srgbClr val="FFFFFF">
                <a:alpha val="0"/>
              </a:srgbClr>
            </a:solidFill>
            <a:ln>
              <a:noFill/>
            </a:ln>
          </p:spPr>
        </p:sp>
        <p:sp>
          <p:nvSpPr>
            <p:cNvPr id="100" name="Google Shape;100;p2"/>
            <p:cNvSpPr txBox="1"/>
            <p:nvPr/>
          </p:nvSpPr>
          <p:spPr>
            <a:xfrm>
              <a:off x="0" y="-76200"/>
              <a:ext cx="3612700" cy="1553803"/>
            </a:xfrm>
            <a:prstGeom prst="rect">
              <a:avLst/>
            </a:prstGeom>
            <a:noFill/>
            <a:ln>
              <a:noFill/>
            </a:ln>
          </p:spPr>
          <p:txBody>
            <a:bodyPr anchorCtr="0" anchor="t" bIns="0" lIns="0" spcFirstLastPara="1" rIns="0" wrap="square" tIns="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Clases abstractas</a:t>
              </a:r>
              <a:endParaRPr/>
            </a:p>
          </p:txBody>
        </p:sp>
      </p:grpSp>
      <p:grpSp>
        <p:nvGrpSpPr>
          <p:cNvPr id="101" name="Google Shape;101;p2"/>
          <p:cNvGrpSpPr/>
          <p:nvPr/>
        </p:nvGrpSpPr>
        <p:grpSpPr>
          <a:xfrm>
            <a:off x="651754" y="8005273"/>
            <a:ext cx="1253075" cy="1253075"/>
            <a:chOff x="0" y="0"/>
            <a:chExt cx="1670767" cy="1670767"/>
          </a:xfrm>
        </p:grpSpPr>
        <p:sp>
          <p:nvSpPr>
            <p:cNvPr id="102" name="Google Shape;102;p2"/>
            <p:cNvSpPr/>
            <p:nvPr/>
          </p:nvSpPr>
          <p:spPr>
            <a:xfrm>
              <a:off x="0" y="0"/>
              <a:ext cx="1670767" cy="1670767"/>
            </a:xfrm>
            <a:custGeom>
              <a:rect b="b" l="l" r="r" t="t"/>
              <a:pathLst>
                <a:path extrusionOk="0" h="2196084" w="2196084">
                  <a:moveTo>
                    <a:pt x="0" y="1098042"/>
                  </a:moveTo>
                  <a:cubicBezTo>
                    <a:pt x="0" y="491617"/>
                    <a:pt x="491617" y="0"/>
                    <a:pt x="1098042" y="0"/>
                  </a:cubicBezTo>
                  <a:cubicBezTo>
                    <a:pt x="1704467" y="0"/>
                    <a:pt x="2196084" y="491617"/>
                    <a:pt x="2196084" y="1098042"/>
                  </a:cubicBezTo>
                  <a:cubicBezTo>
                    <a:pt x="2196084" y="1704467"/>
                    <a:pt x="1704467" y="2196084"/>
                    <a:pt x="1098042" y="2196084"/>
                  </a:cubicBezTo>
                  <a:cubicBezTo>
                    <a:pt x="491617" y="2196084"/>
                    <a:pt x="0" y="1704467"/>
                    <a:pt x="0" y="1098042"/>
                  </a:cubicBezTo>
                  <a:close/>
                </a:path>
              </a:pathLst>
            </a:custGeom>
            <a:solidFill>
              <a:srgbClr val="C117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356051" y="356051"/>
              <a:ext cx="958600" cy="958600"/>
            </a:xfrm>
            <a:custGeom>
              <a:rect b="b" l="l" r="r" t="t"/>
              <a:pathLst>
                <a:path extrusionOk="0" h="958600" w="958600">
                  <a:moveTo>
                    <a:pt x="0" y="0"/>
                  </a:moveTo>
                  <a:lnTo>
                    <a:pt x="958600" y="0"/>
                  </a:lnTo>
                  <a:lnTo>
                    <a:pt x="958600" y="958600"/>
                  </a:lnTo>
                  <a:lnTo>
                    <a:pt x="0" y="958600"/>
                  </a:lnTo>
                  <a:lnTo>
                    <a:pt x="0" y="0"/>
                  </a:lnTo>
                  <a:close/>
                </a:path>
              </a:pathLst>
            </a:custGeom>
            <a:blipFill rotWithShape="1">
              <a:blip r:embed="rId4">
                <a:alphaModFix/>
              </a:blip>
              <a:stretch>
                <a:fillRect b="0" l="0" r="0" t="0"/>
              </a:stretch>
            </a:blipFill>
            <a:ln>
              <a:noFill/>
            </a:ln>
          </p:spPr>
        </p:sp>
      </p:grpSp>
      <p:grpSp>
        <p:nvGrpSpPr>
          <p:cNvPr id="104" name="Google Shape;104;p2"/>
          <p:cNvGrpSpPr/>
          <p:nvPr/>
        </p:nvGrpSpPr>
        <p:grpSpPr>
          <a:xfrm>
            <a:off x="2227947" y="8283993"/>
            <a:ext cx="2709525" cy="641477"/>
            <a:chOff x="0" y="-76200"/>
            <a:chExt cx="3612700" cy="855303"/>
          </a:xfrm>
        </p:grpSpPr>
        <p:sp>
          <p:nvSpPr>
            <p:cNvPr id="105" name="Google Shape;105;p2"/>
            <p:cNvSpPr/>
            <p:nvPr/>
          </p:nvSpPr>
          <p:spPr>
            <a:xfrm>
              <a:off x="0" y="0"/>
              <a:ext cx="3612700" cy="779103"/>
            </a:xfrm>
            <a:custGeom>
              <a:rect b="b" l="l" r="r" t="t"/>
              <a:pathLst>
                <a:path extrusionOk="0" h="779103" w="3612700">
                  <a:moveTo>
                    <a:pt x="0" y="0"/>
                  </a:moveTo>
                  <a:lnTo>
                    <a:pt x="3612700" y="0"/>
                  </a:lnTo>
                  <a:lnTo>
                    <a:pt x="3612700" y="779103"/>
                  </a:lnTo>
                  <a:lnTo>
                    <a:pt x="0" y="779103"/>
                  </a:lnTo>
                  <a:close/>
                </a:path>
              </a:pathLst>
            </a:custGeom>
            <a:solidFill>
              <a:srgbClr val="FFFFFF">
                <a:alpha val="0"/>
              </a:srgbClr>
            </a:solidFill>
            <a:ln>
              <a:noFill/>
            </a:ln>
          </p:spPr>
        </p:sp>
        <p:sp>
          <p:nvSpPr>
            <p:cNvPr id="106" name="Google Shape;106;p2"/>
            <p:cNvSpPr txBox="1"/>
            <p:nvPr/>
          </p:nvSpPr>
          <p:spPr>
            <a:xfrm>
              <a:off x="0" y="-76200"/>
              <a:ext cx="3612700" cy="855303"/>
            </a:xfrm>
            <a:prstGeom prst="rect">
              <a:avLst/>
            </a:prstGeom>
            <a:noFill/>
            <a:ln>
              <a:noFill/>
            </a:ln>
          </p:spPr>
          <p:txBody>
            <a:bodyPr anchorCtr="0" anchor="t" bIns="0" lIns="0" spcFirstLastPara="1" rIns="0" wrap="square" tIns="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Interfaces</a:t>
              </a:r>
              <a:endParaRPr/>
            </a:p>
          </p:txBody>
        </p:sp>
      </p:grpSp>
      <p:grpSp>
        <p:nvGrpSpPr>
          <p:cNvPr id="107" name="Google Shape;107;p2"/>
          <p:cNvGrpSpPr/>
          <p:nvPr/>
        </p:nvGrpSpPr>
        <p:grpSpPr>
          <a:xfrm>
            <a:off x="5982179" y="2608808"/>
            <a:ext cx="1159415" cy="1159415"/>
            <a:chOff x="0" y="0"/>
            <a:chExt cx="1545886" cy="1545886"/>
          </a:xfrm>
        </p:grpSpPr>
        <p:sp>
          <p:nvSpPr>
            <p:cNvPr id="108" name="Google Shape;108;p2"/>
            <p:cNvSpPr/>
            <p:nvPr/>
          </p:nvSpPr>
          <p:spPr>
            <a:xfrm>
              <a:off x="0" y="0"/>
              <a:ext cx="1545886" cy="1545886"/>
            </a:xfrm>
            <a:custGeom>
              <a:rect b="b" l="l" r="r" t="t"/>
              <a:pathLst>
                <a:path extrusionOk="0" h="2196084" w="2196084">
                  <a:moveTo>
                    <a:pt x="0" y="1098042"/>
                  </a:moveTo>
                  <a:cubicBezTo>
                    <a:pt x="0" y="491617"/>
                    <a:pt x="491617" y="0"/>
                    <a:pt x="1098042" y="0"/>
                  </a:cubicBezTo>
                  <a:cubicBezTo>
                    <a:pt x="1704467" y="0"/>
                    <a:pt x="2196084" y="491617"/>
                    <a:pt x="2196084" y="1098042"/>
                  </a:cubicBezTo>
                  <a:cubicBezTo>
                    <a:pt x="2196084" y="1704467"/>
                    <a:pt x="1704467" y="2196084"/>
                    <a:pt x="1098042" y="2196084"/>
                  </a:cubicBezTo>
                  <a:cubicBezTo>
                    <a:pt x="491617" y="2196084"/>
                    <a:pt x="0" y="1704467"/>
                    <a:pt x="0" y="1098042"/>
                  </a:cubicBezTo>
                  <a:close/>
                </a:path>
              </a:pathLst>
            </a:custGeom>
            <a:solidFill>
              <a:srgbClr val="832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329439" y="329439"/>
              <a:ext cx="886950" cy="886950"/>
            </a:xfrm>
            <a:custGeom>
              <a:rect b="b" l="l" r="r" t="t"/>
              <a:pathLst>
                <a:path extrusionOk="0" h="886950" w="886950">
                  <a:moveTo>
                    <a:pt x="0" y="0"/>
                  </a:moveTo>
                  <a:lnTo>
                    <a:pt x="886950" y="0"/>
                  </a:lnTo>
                  <a:lnTo>
                    <a:pt x="886950" y="886950"/>
                  </a:lnTo>
                  <a:lnTo>
                    <a:pt x="0" y="886950"/>
                  </a:lnTo>
                  <a:lnTo>
                    <a:pt x="0" y="0"/>
                  </a:lnTo>
                  <a:close/>
                </a:path>
              </a:pathLst>
            </a:custGeom>
            <a:blipFill rotWithShape="1">
              <a:blip r:embed="rId5">
                <a:alphaModFix/>
              </a:blip>
              <a:stretch>
                <a:fillRect b="0" l="0" r="0" t="0"/>
              </a:stretch>
            </a:blipFill>
            <a:ln>
              <a:noFill/>
            </a:ln>
          </p:spPr>
        </p:sp>
      </p:grpSp>
      <p:grpSp>
        <p:nvGrpSpPr>
          <p:cNvPr id="110" name="Google Shape;110;p2"/>
          <p:cNvGrpSpPr/>
          <p:nvPr/>
        </p:nvGrpSpPr>
        <p:grpSpPr>
          <a:xfrm>
            <a:off x="7465400" y="2315304"/>
            <a:ext cx="2709525" cy="1689227"/>
            <a:chOff x="0" y="-76200"/>
            <a:chExt cx="3612700" cy="2252303"/>
          </a:xfrm>
        </p:grpSpPr>
        <p:sp>
          <p:nvSpPr>
            <p:cNvPr id="111" name="Google Shape;111;p2"/>
            <p:cNvSpPr/>
            <p:nvPr/>
          </p:nvSpPr>
          <p:spPr>
            <a:xfrm>
              <a:off x="0" y="0"/>
              <a:ext cx="3612700" cy="2176103"/>
            </a:xfrm>
            <a:custGeom>
              <a:rect b="b" l="l" r="r" t="t"/>
              <a:pathLst>
                <a:path extrusionOk="0" h="2176103" w="3612700">
                  <a:moveTo>
                    <a:pt x="0" y="0"/>
                  </a:moveTo>
                  <a:lnTo>
                    <a:pt x="3612700" y="0"/>
                  </a:lnTo>
                  <a:lnTo>
                    <a:pt x="3612700" y="2176103"/>
                  </a:lnTo>
                  <a:lnTo>
                    <a:pt x="0" y="2176103"/>
                  </a:lnTo>
                  <a:close/>
                </a:path>
              </a:pathLst>
            </a:custGeom>
            <a:solidFill>
              <a:srgbClr val="FFFFFF">
                <a:alpha val="0"/>
              </a:srgbClr>
            </a:solidFill>
            <a:ln>
              <a:noFill/>
            </a:ln>
          </p:spPr>
        </p:sp>
        <p:sp>
          <p:nvSpPr>
            <p:cNvPr id="112" name="Google Shape;112;p2"/>
            <p:cNvSpPr txBox="1"/>
            <p:nvPr/>
          </p:nvSpPr>
          <p:spPr>
            <a:xfrm>
              <a:off x="0" y="-76200"/>
              <a:ext cx="3612700" cy="2252303"/>
            </a:xfrm>
            <a:prstGeom prst="rect">
              <a:avLst/>
            </a:prstGeom>
            <a:noFill/>
            <a:ln>
              <a:noFill/>
            </a:ln>
          </p:spPr>
          <p:txBody>
            <a:bodyPr anchorCtr="0" anchor="t" bIns="0" lIns="0" spcFirstLastPara="1" rIns="0" wrap="square" tIns="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Miembros estáticos y de instancia</a:t>
              </a:r>
              <a:endParaRPr/>
            </a:p>
          </p:txBody>
        </p:sp>
      </p:grpSp>
      <p:grpSp>
        <p:nvGrpSpPr>
          <p:cNvPr id="113" name="Google Shape;113;p2"/>
          <p:cNvGrpSpPr/>
          <p:nvPr/>
        </p:nvGrpSpPr>
        <p:grpSpPr>
          <a:xfrm>
            <a:off x="1866989" y="4454931"/>
            <a:ext cx="4115190" cy="1556484"/>
            <a:chOff x="0" y="-76200"/>
            <a:chExt cx="1083836" cy="409938"/>
          </a:xfrm>
        </p:grpSpPr>
        <p:sp>
          <p:nvSpPr>
            <p:cNvPr id="114" name="Google Shape;114;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15" name="Google Shape;115;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16" name="Google Shape;116;p2"/>
          <p:cNvSpPr/>
          <p:nvPr/>
        </p:nvSpPr>
        <p:spPr>
          <a:xfrm>
            <a:off x="651754" y="4870683"/>
            <a:ext cx="753892" cy="872928"/>
          </a:xfrm>
          <a:custGeom>
            <a:rect b="b" l="l" r="r" t="t"/>
            <a:pathLst>
              <a:path extrusionOk="0" h="872928" w="753892">
                <a:moveTo>
                  <a:pt x="0" y="0"/>
                </a:moveTo>
                <a:lnTo>
                  <a:pt x="753892" y="0"/>
                </a:lnTo>
                <a:lnTo>
                  <a:pt x="753892" y="872928"/>
                </a:lnTo>
                <a:lnTo>
                  <a:pt x="0" y="872928"/>
                </a:lnTo>
                <a:lnTo>
                  <a:pt x="0" y="0"/>
                </a:lnTo>
                <a:close/>
              </a:path>
            </a:pathLst>
          </a:custGeom>
          <a:blipFill rotWithShape="1">
            <a:blip r:embed="rId6">
              <a:alphaModFix/>
            </a:blip>
            <a:stretch>
              <a:fillRect b="0" l="0" r="0" t="0"/>
            </a:stretch>
          </a:blipFill>
          <a:ln>
            <a:noFill/>
          </a:ln>
        </p:spPr>
      </p:sp>
      <p:sp>
        <p:nvSpPr>
          <p:cNvPr id="117" name="Google Shape;117;p2"/>
          <p:cNvSpPr/>
          <p:nvPr/>
        </p:nvSpPr>
        <p:spPr>
          <a:xfrm>
            <a:off x="5982179" y="4496603"/>
            <a:ext cx="1159415" cy="1159415"/>
          </a:xfrm>
          <a:custGeom>
            <a:rect b="b" l="l" r="r" t="t"/>
            <a:pathLst>
              <a:path extrusionOk="0" h="2196084" w="2196084">
                <a:moveTo>
                  <a:pt x="0" y="1098042"/>
                </a:moveTo>
                <a:cubicBezTo>
                  <a:pt x="0" y="491617"/>
                  <a:pt x="491617" y="0"/>
                  <a:pt x="1098042" y="0"/>
                </a:cubicBezTo>
                <a:cubicBezTo>
                  <a:pt x="1704467" y="0"/>
                  <a:pt x="2196084" y="491617"/>
                  <a:pt x="2196084" y="1098042"/>
                </a:cubicBezTo>
                <a:cubicBezTo>
                  <a:pt x="2196084" y="1704467"/>
                  <a:pt x="1704467" y="2196084"/>
                  <a:pt x="1098042" y="2196084"/>
                </a:cubicBezTo>
                <a:cubicBezTo>
                  <a:pt x="491617" y="2196084"/>
                  <a:pt x="0" y="1704467"/>
                  <a:pt x="0" y="1098042"/>
                </a:cubicBezTo>
                <a:close/>
              </a:path>
            </a:pathLst>
          </a:custGeom>
          <a:solidFill>
            <a:srgbClr val="527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
          <p:cNvGrpSpPr/>
          <p:nvPr/>
        </p:nvGrpSpPr>
        <p:grpSpPr>
          <a:xfrm>
            <a:off x="6390812" y="4767127"/>
            <a:ext cx="342106" cy="693932"/>
            <a:chOff x="0" y="-47625"/>
            <a:chExt cx="277017" cy="561905"/>
          </a:xfrm>
        </p:grpSpPr>
        <p:sp>
          <p:nvSpPr>
            <p:cNvPr id="119" name="Google Shape;119;p2"/>
            <p:cNvSpPr/>
            <p:nvPr/>
          </p:nvSpPr>
          <p:spPr>
            <a:xfrm>
              <a:off x="0" y="0"/>
              <a:ext cx="277017" cy="514280"/>
            </a:xfrm>
            <a:custGeom>
              <a:rect b="b" l="l" r="r" t="t"/>
              <a:pathLst>
                <a:path extrusionOk="0" h="514280" w="277017">
                  <a:moveTo>
                    <a:pt x="277017" y="0"/>
                  </a:moveTo>
                  <a:lnTo>
                    <a:pt x="277017" y="514280"/>
                  </a:lnTo>
                  <a:lnTo>
                    <a:pt x="138509" y="387280"/>
                  </a:lnTo>
                  <a:lnTo>
                    <a:pt x="0" y="514280"/>
                  </a:lnTo>
                  <a:lnTo>
                    <a:pt x="0" y="0"/>
                  </a:lnTo>
                  <a:lnTo>
                    <a:pt x="277017" y="0"/>
                  </a:lnTo>
                  <a:close/>
                </a:path>
              </a:pathLst>
            </a:custGeom>
            <a:solidFill>
              <a:srgbClr val="FFFFFF"/>
            </a:solidFill>
            <a:ln>
              <a:noFill/>
            </a:ln>
          </p:spPr>
        </p:sp>
        <p:sp>
          <p:nvSpPr>
            <p:cNvPr id="120" name="Google Shape;120;p2"/>
            <p:cNvSpPr txBox="1"/>
            <p:nvPr/>
          </p:nvSpPr>
          <p:spPr>
            <a:xfrm>
              <a:off x="0" y="-47625"/>
              <a:ext cx="277017" cy="43490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1" name="Google Shape;121;p2"/>
          <p:cNvGrpSpPr/>
          <p:nvPr/>
        </p:nvGrpSpPr>
        <p:grpSpPr>
          <a:xfrm>
            <a:off x="7491518" y="4532249"/>
            <a:ext cx="2709525" cy="1165352"/>
            <a:chOff x="0" y="-76200"/>
            <a:chExt cx="3612700" cy="1553803"/>
          </a:xfrm>
        </p:grpSpPr>
        <p:sp>
          <p:nvSpPr>
            <p:cNvPr id="122" name="Google Shape;122;p2"/>
            <p:cNvSpPr/>
            <p:nvPr/>
          </p:nvSpPr>
          <p:spPr>
            <a:xfrm>
              <a:off x="0" y="0"/>
              <a:ext cx="3612700" cy="1477603"/>
            </a:xfrm>
            <a:custGeom>
              <a:rect b="b" l="l" r="r" t="t"/>
              <a:pathLst>
                <a:path extrusionOk="0" h="1477603" w="3612700">
                  <a:moveTo>
                    <a:pt x="0" y="0"/>
                  </a:moveTo>
                  <a:lnTo>
                    <a:pt x="3612700" y="0"/>
                  </a:lnTo>
                  <a:lnTo>
                    <a:pt x="3612700" y="1477603"/>
                  </a:lnTo>
                  <a:lnTo>
                    <a:pt x="0" y="1477603"/>
                  </a:lnTo>
                  <a:close/>
                </a:path>
              </a:pathLst>
            </a:custGeom>
            <a:solidFill>
              <a:srgbClr val="FFFFFF">
                <a:alpha val="0"/>
              </a:srgbClr>
            </a:solidFill>
            <a:ln>
              <a:noFill/>
            </a:ln>
          </p:spPr>
        </p:sp>
        <p:sp>
          <p:nvSpPr>
            <p:cNvPr id="123" name="Google Shape;123;p2"/>
            <p:cNvSpPr txBox="1"/>
            <p:nvPr/>
          </p:nvSpPr>
          <p:spPr>
            <a:xfrm>
              <a:off x="0" y="-76200"/>
              <a:ext cx="3612700" cy="1553803"/>
            </a:xfrm>
            <a:prstGeom prst="rect">
              <a:avLst/>
            </a:prstGeom>
            <a:noFill/>
            <a:ln>
              <a:noFill/>
            </a:ln>
          </p:spPr>
          <p:txBody>
            <a:bodyPr anchorCtr="0" anchor="t" bIns="0" lIns="0" spcFirstLastPara="1" rIns="0" wrap="square" tIns="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Referencia “This”</a:t>
              </a:r>
              <a:endParaRPr/>
            </a:p>
          </p:txBody>
        </p:sp>
      </p:grpSp>
      <p:sp>
        <p:nvSpPr>
          <p:cNvPr id="124" name="Google Shape;124;p2"/>
          <p:cNvSpPr/>
          <p:nvPr/>
        </p:nvSpPr>
        <p:spPr>
          <a:xfrm>
            <a:off x="5982179" y="6214602"/>
            <a:ext cx="1159415" cy="1159415"/>
          </a:xfrm>
          <a:custGeom>
            <a:rect b="b" l="l" r="r" t="t"/>
            <a:pathLst>
              <a:path extrusionOk="0" h="2196084" w="2196084">
                <a:moveTo>
                  <a:pt x="0" y="1098042"/>
                </a:moveTo>
                <a:cubicBezTo>
                  <a:pt x="0" y="491617"/>
                  <a:pt x="491617" y="0"/>
                  <a:pt x="1098042" y="0"/>
                </a:cubicBezTo>
                <a:cubicBezTo>
                  <a:pt x="1704467" y="0"/>
                  <a:pt x="2196084" y="491617"/>
                  <a:pt x="2196084" y="1098042"/>
                </a:cubicBezTo>
                <a:cubicBezTo>
                  <a:pt x="2196084" y="1704467"/>
                  <a:pt x="1704467" y="2196084"/>
                  <a:pt x="1098042" y="2196084"/>
                </a:cubicBezTo>
                <a:cubicBezTo>
                  <a:pt x="491617" y="2196084"/>
                  <a:pt x="0" y="1704467"/>
                  <a:pt x="0" y="1098042"/>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6180393" y="6430834"/>
            <a:ext cx="762943" cy="762943"/>
          </a:xfrm>
          <a:custGeom>
            <a:rect b="b" l="l" r="r" t="t"/>
            <a:pathLst>
              <a:path extrusionOk="0" h="762943" w="762943">
                <a:moveTo>
                  <a:pt x="0" y="0"/>
                </a:moveTo>
                <a:lnTo>
                  <a:pt x="762943" y="0"/>
                </a:lnTo>
                <a:lnTo>
                  <a:pt x="762943" y="762944"/>
                </a:lnTo>
                <a:lnTo>
                  <a:pt x="0" y="762944"/>
                </a:lnTo>
                <a:lnTo>
                  <a:pt x="0" y="0"/>
                </a:lnTo>
                <a:close/>
              </a:path>
            </a:pathLst>
          </a:custGeom>
          <a:blipFill rotWithShape="1">
            <a:blip r:embed="rId7">
              <a:alphaModFix/>
            </a:blip>
            <a:stretch>
              <a:fillRect b="0" l="0" r="0" t="0"/>
            </a:stretch>
          </a:blipFill>
          <a:ln>
            <a:noFill/>
          </a:ln>
        </p:spPr>
      </p:sp>
      <p:grpSp>
        <p:nvGrpSpPr>
          <p:cNvPr id="126" name="Google Shape;126;p2"/>
          <p:cNvGrpSpPr/>
          <p:nvPr/>
        </p:nvGrpSpPr>
        <p:grpSpPr>
          <a:xfrm>
            <a:off x="7465400" y="6454691"/>
            <a:ext cx="2709525" cy="658079"/>
            <a:chOff x="0" y="-76200"/>
            <a:chExt cx="3612700" cy="877439"/>
          </a:xfrm>
        </p:grpSpPr>
        <p:sp>
          <p:nvSpPr>
            <p:cNvPr id="127" name="Google Shape;127;p2"/>
            <p:cNvSpPr/>
            <p:nvPr/>
          </p:nvSpPr>
          <p:spPr>
            <a:xfrm>
              <a:off x="0" y="0"/>
              <a:ext cx="3612700" cy="801239"/>
            </a:xfrm>
            <a:custGeom>
              <a:rect b="b" l="l" r="r" t="t"/>
              <a:pathLst>
                <a:path extrusionOk="0" h="801239" w="3612700">
                  <a:moveTo>
                    <a:pt x="0" y="0"/>
                  </a:moveTo>
                  <a:lnTo>
                    <a:pt x="3612700" y="0"/>
                  </a:lnTo>
                  <a:lnTo>
                    <a:pt x="3612700" y="801239"/>
                  </a:lnTo>
                  <a:lnTo>
                    <a:pt x="0" y="801239"/>
                  </a:lnTo>
                  <a:close/>
                </a:path>
              </a:pathLst>
            </a:custGeom>
            <a:solidFill>
              <a:srgbClr val="FFFFFF">
                <a:alpha val="0"/>
              </a:srgbClr>
            </a:solidFill>
            <a:ln>
              <a:noFill/>
            </a:ln>
          </p:spPr>
        </p:sp>
        <p:sp>
          <p:nvSpPr>
            <p:cNvPr id="128" name="Google Shape;128;p2"/>
            <p:cNvSpPr txBox="1"/>
            <p:nvPr/>
          </p:nvSpPr>
          <p:spPr>
            <a:xfrm>
              <a:off x="0" y="-76200"/>
              <a:ext cx="3612700" cy="877439"/>
            </a:xfrm>
            <a:prstGeom prst="rect">
              <a:avLst/>
            </a:prstGeom>
            <a:noFill/>
            <a:ln>
              <a:noFill/>
            </a:ln>
          </p:spPr>
          <p:txBody>
            <a:bodyPr anchorCtr="0" anchor="t" bIns="0" lIns="0" spcFirstLastPara="1" rIns="0" wrap="square" tIns="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Serialización</a:t>
              </a:r>
              <a:endParaRPr/>
            </a:p>
          </p:txBody>
        </p:sp>
      </p:grpSp>
      <p:sp>
        <p:nvSpPr>
          <p:cNvPr id="129" name="Google Shape;129;p2"/>
          <p:cNvSpPr/>
          <p:nvPr/>
        </p:nvSpPr>
        <p:spPr>
          <a:xfrm>
            <a:off x="5982179" y="8005273"/>
            <a:ext cx="1159415" cy="1159415"/>
          </a:xfrm>
          <a:custGeom>
            <a:rect b="b" l="l" r="r" t="t"/>
            <a:pathLst>
              <a:path extrusionOk="0" h="2196084" w="2196084">
                <a:moveTo>
                  <a:pt x="0" y="1098042"/>
                </a:moveTo>
                <a:cubicBezTo>
                  <a:pt x="0" y="491617"/>
                  <a:pt x="491617" y="0"/>
                  <a:pt x="1098042" y="0"/>
                </a:cubicBezTo>
                <a:cubicBezTo>
                  <a:pt x="1704467" y="0"/>
                  <a:pt x="2196084" y="491617"/>
                  <a:pt x="2196084" y="1098042"/>
                </a:cubicBezTo>
                <a:cubicBezTo>
                  <a:pt x="2196084" y="1704467"/>
                  <a:pt x="1704467" y="2196084"/>
                  <a:pt x="1098042" y="2196084"/>
                </a:cubicBezTo>
                <a:cubicBezTo>
                  <a:pt x="491617" y="2196084"/>
                  <a:pt x="0" y="1704467"/>
                  <a:pt x="0" y="1098042"/>
                </a:cubicBezTo>
                <a:close/>
              </a:path>
            </a:pathLst>
          </a:custGeom>
          <a:solidFill>
            <a:srgbClr val="FFBD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 name="Google Shape;130;p2"/>
          <p:cNvGrpSpPr/>
          <p:nvPr/>
        </p:nvGrpSpPr>
        <p:grpSpPr>
          <a:xfrm>
            <a:off x="7465400" y="8227343"/>
            <a:ext cx="2709525" cy="658079"/>
            <a:chOff x="0" y="-76200"/>
            <a:chExt cx="3612700" cy="877439"/>
          </a:xfrm>
        </p:grpSpPr>
        <p:sp>
          <p:nvSpPr>
            <p:cNvPr id="131" name="Google Shape;131;p2"/>
            <p:cNvSpPr/>
            <p:nvPr/>
          </p:nvSpPr>
          <p:spPr>
            <a:xfrm>
              <a:off x="0" y="0"/>
              <a:ext cx="3612700" cy="801239"/>
            </a:xfrm>
            <a:custGeom>
              <a:rect b="b" l="l" r="r" t="t"/>
              <a:pathLst>
                <a:path extrusionOk="0" h="801239" w="3612700">
                  <a:moveTo>
                    <a:pt x="0" y="0"/>
                  </a:moveTo>
                  <a:lnTo>
                    <a:pt x="3612700" y="0"/>
                  </a:lnTo>
                  <a:lnTo>
                    <a:pt x="3612700" y="801239"/>
                  </a:lnTo>
                  <a:lnTo>
                    <a:pt x="0" y="801239"/>
                  </a:lnTo>
                  <a:close/>
                </a:path>
              </a:pathLst>
            </a:custGeom>
            <a:solidFill>
              <a:srgbClr val="FFFFFF">
                <a:alpha val="0"/>
              </a:srgbClr>
            </a:solidFill>
            <a:ln>
              <a:noFill/>
            </a:ln>
          </p:spPr>
        </p:sp>
        <p:sp>
          <p:nvSpPr>
            <p:cNvPr id="132" name="Google Shape;132;p2"/>
            <p:cNvSpPr txBox="1"/>
            <p:nvPr/>
          </p:nvSpPr>
          <p:spPr>
            <a:xfrm>
              <a:off x="0" y="-76200"/>
              <a:ext cx="3612700" cy="877439"/>
            </a:xfrm>
            <a:prstGeom prst="rect">
              <a:avLst/>
            </a:prstGeom>
            <a:noFill/>
            <a:ln>
              <a:noFill/>
            </a:ln>
          </p:spPr>
          <p:txBody>
            <a:bodyPr anchorCtr="0" anchor="t" bIns="0" lIns="0" spcFirstLastPara="1" rIns="0" wrap="square" tIns="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Hilos</a:t>
              </a:r>
              <a:endParaRPr/>
            </a:p>
          </p:txBody>
        </p:sp>
      </p:grpSp>
      <p:grpSp>
        <p:nvGrpSpPr>
          <p:cNvPr id="133" name="Google Shape;133;p2"/>
          <p:cNvGrpSpPr/>
          <p:nvPr/>
        </p:nvGrpSpPr>
        <p:grpSpPr>
          <a:xfrm>
            <a:off x="651754" y="-320617"/>
            <a:ext cx="6140251" cy="2658549"/>
            <a:chOff x="0" y="-95250"/>
            <a:chExt cx="8187000" cy="3544733"/>
          </a:xfrm>
        </p:grpSpPr>
        <p:sp>
          <p:nvSpPr>
            <p:cNvPr id="134" name="Google Shape;134;p2"/>
            <p:cNvSpPr txBox="1"/>
            <p:nvPr/>
          </p:nvSpPr>
          <p:spPr>
            <a:xfrm>
              <a:off x="0" y="986783"/>
              <a:ext cx="8187000" cy="2462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0" u="none" cap="none" strike="noStrike">
                  <a:solidFill>
                    <a:srgbClr val="131416"/>
                  </a:solidFill>
                  <a:latin typeface="Play"/>
                  <a:ea typeface="Play"/>
                  <a:cs typeface="Play"/>
                  <a:sym typeface="Play"/>
                </a:rPr>
                <a:t>Agenda</a:t>
              </a:r>
              <a:endParaRPr sz="12000"/>
            </a:p>
          </p:txBody>
        </p:sp>
        <p:sp>
          <p:nvSpPr>
            <p:cNvPr id="135" name="Google Shape;135;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2"/>
          <p:cNvSpPr txBox="1"/>
          <p:nvPr/>
        </p:nvSpPr>
        <p:spPr>
          <a:xfrm>
            <a:off x="11823281" y="251713"/>
            <a:ext cx="6464700" cy="277200"/>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2"/>
          <p:cNvSpPr txBox="1"/>
          <p:nvPr/>
        </p:nvSpPr>
        <p:spPr>
          <a:xfrm>
            <a:off x="6234383" y="8296605"/>
            <a:ext cx="654963" cy="500507"/>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1" i="0" lang="en-US" sz="2799" u="none" cap="none" strike="noStrike">
                <a:solidFill>
                  <a:srgbClr val="FFFFFF"/>
                </a:solidFill>
                <a:latin typeface="Arial"/>
                <a:ea typeface="Arial"/>
                <a:cs typeface="Arial"/>
                <a:sym typeface="Arial"/>
              </a:rPr>
              <a:t>&lt;/&gt;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grpSp>
        <p:nvGrpSpPr>
          <p:cNvPr id="142" name="Google Shape;142;p3"/>
          <p:cNvGrpSpPr/>
          <p:nvPr/>
        </p:nvGrpSpPr>
        <p:grpSpPr>
          <a:xfrm>
            <a:off x="1028700" y="222754"/>
            <a:ext cx="8855244" cy="4568318"/>
            <a:chOff x="0" y="0"/>
            <a:chExt cx="11806992" cy="6091091"/>
          </a:xfrm>
        </p:grpSpPr>
        <p:sp>
          <p:nvSpPr>
            <p:cNvPr id="143" name="Google Shape;143;p3"/>
            <p:cNvSpPr/>
            <p:nvPr/>
          </p:nvSpPr>
          <p:spPr>
            <a:xfrm>
              <a:off x="0" y="0"/>
              <a:ext cx="11806992" cy="6091091"/>
            </a:xfrm>
            <a:custGeom>
              <a:rect b="b" l="l" r="r" t="t"/>
              <a:pathLst>
                <a:path extrusionOk="0" h="6091091" w="11806992">
                  <a:moveTo>
                    <a:pt x="0" y="0"/>
                  </a:moveTo>
                  <a:lnTo>
                    <a:pt x="11806992" y="0"/>
                  </a:lnTo>
                  <a:lnTo>
                    <a:pt x="11806992" y="6091091"/>
                  </a:lnTo>
                  <a:lnTo>
                    <a:pt x="0" y="6091091"/>
                  </a:lnTo>
                  <a:close/>
                </a:path>
              </a:pathLst>
            </a:custGeom>
            <a:solidFill>
              <a:srgbClr val="000000">
                <a:alpha val="0"/>
              </a:srgbClr>
            </a:solidFill>
            <a:ln>
              <a:noFill/>
            </a:ln>
          </p:spPr>
        </p:sp>
        <p:sp>
          <p:nvSpPr>
            <p:cNvPr id="144" name="Google Shape;144;p3"/>
            <p:cNvSpPr txBox="1"/>
            <p:nvPr/>
          </p:nvSpPr>
          <p:spPr>
            <a:xfrm>
              <a:off x="0" y="28575"/>
              <a:ext cx="11806991" cy="606251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Clases Abstractas</a:t>
              </a:r>
              <a:endParaRPr/>
            </a:p>
          </p:txBody>
        </p:sp>
      </p:grpSp>
      <p:grpSp>
        <p:nvGrpSpPr>
          <p:cNvPr id="145" name="Google Shape;145;p3"/>
          <p:cNvGrpSpPr/>
          <p:nvPr/>
        </p:nvGrpSpPr>
        <p:grpSpPr>
          <a:xfrm>
            <a:off x="1028700" y="4755353"/>
            <a:ext cx="6260122" cy="4502947"/>
            <a:chOff x="0" y="-47625"/>
            <a:chExt cx="8346830" cy="6003929"/>
          </a:xfrm>
        </p:grpSpPr>
        <p:sp>
          <p:nvSpPr>
            <p:cNvPr id="146" name="Google Shape;146;p3"/>
            <p:cNvSpPr/>
            <p:nvPr/>
          </p:nvSpPr>
          <p:spPr>
            <a:xfrm>
              <a:off x="0" y="0"/>
              <a:ext cx="8346830" cy="5956304"/>
            </a:xfrm>
            <a:custGeom>
              <a:rect b="b" l="l" r="r" t="t"/>
              <a:pathLst>
                <a:path extrusionOk="0" h="5956304" w="8346830">
                  <a:moveTo>
                    <a:pt x="0" y="0"/>
                  </a:moveTo>
                  <a:lnTo>
                    <a:pt x="8346830" y="0"/>
                  </a:lnTo>
                  <a:lnTo>
                    <a:pt x="8346830" y="5956304"/>
                  </a:lnTo>
                  <a:lnTo>
                    <a:pt x="0" y="5956304"/>
                  </a:lnTo>
                  <a:close/>
                </a:path>
              </a:pathLst>
            </a:custGeom>
            <a:solidFill>
              <a:srgbClr val="000000">
                <a:alpha val="0"/>
              </a:srgbClr>
            </a:solidFill>
            <a:ln>
              <a:noFill/>
            </a:ln>
          </p:spPr>
        </p:sp>
        <p:sp>
          <p:nvSpPr>
            <p:cNvPr id="147" name="Google Shape;147;p3"/>
            <p:cNvSpPr txBox="1"/>
            <p:nvPr/>
          </p:nvSpPr>
          <p:spPr>
            <a:xfrm>
              <a:off x="0" y="-47625"/>
              <a:ext cx="8346830" cy="6003929"/>
            </a:xfrm>
            <a:prstGeom prst="rect">
              <a:avLst/>
            </a:prstGeom>
            <a:noFill/>
            <a:ln>
              <a:noFill/>
            </a:ln>
          </p:spPr>
          <p:txBody>
            <a:bodyPr anchorCtr="0" anchor="t" bIns="0" lIns="0" spcFirstLastPara="1" rIns="0" wrap="square" tIns="0">
              <a:noAutofit/>
            </a:bodyPr>
            <a:lstStyle/>
            <a:p>
              <a:pPr indent="0" lvl="0" marL="0" marR="0" rtl="0" algn="just">
                <a:lnSpc>
                  <a:spcPct val="132000"/>
                </a:lnSpc>
                <a:spcBef>
                  <a:spcPts val="0"/>
                </a:spcBef>
                <a:spcAft>
                  <a:spcPts val="0"/>
                </a:spcAft>
                <a:buNone/>
              </a:pPr>
              <a:r>
                <a:rPr b="0" i="0" lang="en-US" sz="2700" u="none" cap="none" strike="noStrike">
                  <a:solidFill>
                    <a:srgbClr val="000000"/>
                  </a:solidFill>
                  <a:latin typeface="Arimo"/>
                  <a:ea typeface="Arimo"/>
                  <a:cs typeface="Arimo"/>
                  <a:sym typeface="Arimo"/>
                </a:rPr>
                <a:t>Una clase abstracta es una clase que no puede ser instanciada directamente y que puede contener métodos abstractos (sin implementación) y métodos concretos (con implementación). Propósito: Proporcionar una estructura base para otras clases que la extiendan.</a:t>
              </a:r>
              <a:endParaRPr/>
            </a:p>
          </p:txBody>
        </p:sp>
      </p:grpSp>
      <p:sp>
        <p:nvSpPr>
          <p:cNvPr descr="Java herencia" id="148" name="Google Shape;148;p3"/>
          <p:cNvSpPr/>
          <p:nvPr/>
        </p:nvSpPr>
        <p:spPr>
          <a:xfrm>
            <a:off x="9144000" y="1610254"/>
            <a:ext cx="7429500" cy="7015311"/>
          </a:xfrm>
          <a:custGeom>
            <a:rect b="b" l="l" r="r" t="t"/>
            <a:pathLst>
              <a:path extrusionOk="0" h="7015311" w="7429500">
                <a:moveTo>
                  <a:pt x="0" y="0"/>
                </a:moveTo>
                <a:lnTo>
                  <a:pt x="7429500" y="0"/>
                </a:lnTo>
                <a:lnTo>
                  <a:pt x="7429500" y="7015311"/>
                </a:lnTo>
                <a:lnTo>
                  <a:pt x="0" y="701531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grpSp>
        <p:nvGrpSpPr>
          <p:cNvPr id="153" name="Google Shape;153;p4"/>
          <p:cNvGrpSpPr/>
          <p:nvPr/>
        </p:nvGrpSpPr>
        <p:grpSpPr>
          <a:xfrm>
            <a:off x="1028700" y="1028700"/>
            <a:ext cx="7644825" cy="2720525"/>
            <a:chOff x="0" y="0"/>
            <a:chExt cx="10193100" cy="3627367"/>
          </a:xfrm>
        </p:grpSpPr>
        <p:sp>
          <p:nvSpPr>
            <p:cNvPr id="154" name="Google Shape;154;p4"/>
            <p:cNvSpPr/>
            <p:nvPr/>
          </p:nvSpPr>
          <p:spPr>
            <a:xfrm>
              <a:off x="0" y="0"/>
              <a:ext cx="8346832" cy="3627291"/>
            </a:xfrm>
            <a:custGeom>
              <a:rect b="b" l="l" r="r" t="t"/>
              <a:pathLst>
                <a:path extrusionOk="0" h="3627291" w="8346832">
                  <a:moveTo>
                    <a:pt x="0" y="0"/>
                  </a:moveTo>
                  <a:lnTo>
                    <a:pt x="8346832" y="0"/>
                  </a:lnTo>
                  <a:lnTo>
                    <a:pt x="8346832" y="3627291"/>
                  </a:lnTo>
                  <a:lnTo>
                    <a:pt x="0" y="3627291"/>
                  </a:lnTo>
                  <a:close/>
                </a:path>
              </a:pathLst>
            </a:custGeom>
            <a:solidFill>
              <a:srgbClr val="000000">
                <a:alpha val="0"/>
              </a:srgbClr>
            </a:solidFill>
            <a:ln>
              <a:noFill/>
            </a:ln>
          </p:spPr>
        </p:sp>
        <p:sp>
          <p:nvSpPr>
            <p:cNvPr id="155" name="Google Shape;155;p4"/>
            <p:cNvSpPr txBox="1"/>
            <p:nvPr/>
          </p:nvSpPr>
          <p:spPr>
            <a:xfrm>
              <a:off x="0" y="28567"/>
              <a:ext cx="10193100" cy="3598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Propósito</a:t>
              </a:r>
              <a:endParaRPr/>
            </a:p>
          </p:txBody>
        </p:sp>
      </p:grpSp>
      <p:grpSp>
        <p:nvGrpSpPr>
          <p:cNvPr id="156" name="Google Shape;156;p4"/>
          <p:cNvGrpSpPr/>
          <p:nvPr/>
        </p:nvGrpSpPr>
        <p:grpSpPr>
          <a:xfrm>
            <a:off x="1600196" y="4048125"/>
            <a:ext cx="6260122" cy="4524378"/>
            <a:chOff x="0" y="-76200"/>
            <a:chExt cx="8346830" cy="6032504"/>
          </a:xfrm>
        </p:grpSpPr>
        <p:sp>
          <p:nvSpPr>
            <p:cNvPr id="157" name="Google Shape;157;p4"/>
            <p:cNvSpPr/>
            <p:nvPr/>
          </p:nvSpPr>
          <p:spPr>
            <a:xfrm>
              <a:off x="0" y="0"/>
              <a:ext cx="8346830" cy="5956304"/>
            </a:xfrm>
            <a:custGeom>
              <a:rect b="b" l="l" r="r" t="t"/>
              <a:pathLst>
                <a:path extrusionOk="0" h="5956304" w="8346830">
                  <a:moveTo>
                    <a:pt x="0" y="0"/>
                  </a:moveTo>
                  <a:lnTo>
                    <a:pt x="8346830" y="0"/>
                  </a:lnTo>
                  <a:lnTo>
                    <a:pt x="8346830" y="5956304"/>
                  </a:lnTo>
                  <a:lnTo>
                    <a:pt x="0" y="5956304"/>
                  </a:lnTo>
                  <a:close/>
                </a:path>
              </a:pathLst>
            </a:custGeom>
            <a:solidFill>
              <a:srgbClr val="000000">
                <a:alpha val="0"/>
              </a:srgbClr>
            </a:solidFill>
            <a:ln>
              <a:noFill/>
            </a:ln>
          </p:spPr>
        </p:sp>
        <p:sp>
          <p:nvSpPr>
            <p:cNvPr id="158" name="Google Shape;158;p4"/>
            <p:cNvSpPr txBox="1"/>
            <p:nvPr/>
          </p:nvSpPr>
          <p:spPr>
            <a:xfrm>
              <a:off x="0" y="-76200"/>
              <a:ext cx="8346830" cy="6032504"/>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Proporcionar una estructura base para otras clases que la extiendan.</a:t>
              </a:r>
              <a:endParaRPr/>
            </a:p>
          </p:txBody>
        </p:sp>
      </p:grpSp>
      <p:sp>
        <p:nvSpPr>
          <p:cNvPr descr="Biblioteca" id="159" name="Google Shape;159;p4"/>
          <p:cNvSpPr/>
          <p:nvPr/>
        </p:nvSpPr>
        <p:spPr>
          <a:xfrm>
            <a:off x="9144000" y="1403160"/>
            <a:ext cx="7429500" cy="7429500"/>
          </a:xfrm>
          <a:custGeom>
            <a:rect b="b" l="l" r="r" t="t"/>
            <a:pathLst>
              <a:path extrusionOk="0" h="7429500" w="7429500">
                <a:moveTo>
                  <a:pt x="0" y="0"/>
                </a:moveTo>
                <a:lnTo>
                  <a:pt x="7429500" y="0"/>
                </a:lnTo>
                <a:lnTo>
                  <a:pt x="7429500" y="7429500"/>
                </a:lnTo>
                <a:lnTo>
                  <a:pt x="0" y="74295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p:nvPr/>
        </p:nvSpPr>
        <p:spPr>
          <a:xfrm rot="10800000">
            <a:off x="-15590" y="-465"/>
            <a:ext cx="13205475" cy="5219129"/>
          </a:xfrm>
          <a:custGeom>
            <a:rect b="b" l="l" r="r" t="t"/>
            <a:pathLst>
              <a:path extrusionOk="0" h="6958838" w="17607299">
                <a:moveTo>
                  <a:pt x="15412041" y="1270"/>
                </a:moveTo>
                <a:cubicBezTo>
                  <a:pt x="16062299" y="8509"/>
                  <a:pt x="16708772" y="85217"/>
                  <a:pt x="17325156" y="229235"/>
                </a:cubicBezTo>
                <a:lnTo>
                  <a:pt x="17607299" y="303784"/>
                </a:lnTo>
                <a:lnTo>
                  <a:pt x="17607299" y="6958838"/>
                </a:lnTo>
                <a:lnTo>
                  <a:pt x="0" y="6958838"/>
                </a:lnTo>
                <a:lnTo>
                  <a:pt x="11673809" y="811784"/>
                </a:lnTo>
                <a:lnTo>
                  <a:pt x="11800416" y="748538"/>
                </a:lnTo>
                <a:cubicBezTo>
                  <a:pt x="12788674" y="280035"/>
                  <a:pt x="13921327" y="35814"/>
                  <a:pt x="15057010" y="4318"/>
                </a:cubicBezTo>
                <a:cubicBezTo>
                  <a:pt x="15175289" y="1016"/>
                  <a:pt x="15293760" y="0"/>
                  <a:pt x="15411852" y="1397"/>
                </a:cubicBezTo>
                <a:close/>
              </a:path>
            </a:pathLst>
          </a:custGeom>
          <a:gradFill>
            <a:gsLst>
              <a:gs pos="0">
                <a:srgbClr val="F0F3F3"/>
              </a:gs>
              <a:gs pos="40000">
                <a:srgbClr val="F0F3F3"/>
              </a:gs>
              <a:gs pos="100000">
                <a:srgbClr val="F18F7F"/>
              </a:gs>
            </a:gsLst>
            <a:lin ang="126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 name="Google Shape;165;p5"/>
          <p:cNvGrpSpPr/>
          <p:nvPr/>
        </p:nvGrpSpPr>
        <p:grpSpPr>
          <a:xfrm>
            <a:off x="443748" y="324648"/>
            <a:ext cx="11647574" cy="2720527"/>
            <a:chOff x="-15" y="0"/>
            <a:chExt cx="15530100" cy="3627369"/>
          </a:xfrm>
        </p:grpSpPr>
        <p:sp>
          <p:nvSpPr>
            <p:cNvPr id="166" name="Google Shape;166;p5"/>
            <p:cNvSpPr/>
            <p:nvPr/>
          </p:nvSpPr>
          <p:spPr>
            <a:xfrm>
              <a:off x="0" y="0"/>
              <a:ext cx="12684192" cy="3627291"/>
            </a:xfrm>
            <a:custGeom>
              <a:rect b="b" l="l" r="r" t="t"/>
              <a:pathLst>
                <a:path extrusionOk="0" h="3627291" w="12684192">
                  <a:moveTo>
                    <a:pt x="0" y="0"/>
                  </a:moveTo>
                  <a:lnTo>
                    <a:pt x="12684192" y="0"/>
                  </a:lnTo>
                  <a:lnTo>
                    <a:pt x="12684192" y="3627291"/>
                  </a:lnTo>
                  <a:lnTo>
                    <a:pt x="0" y="3627291"/>
                  </a:lnTo>
                  <a:close/>
                </a:path>
              </a:pathLst>
            </a:custGeom>
            <a:solidFill>
              <a:srgbClr val="000000">
                <a:alpha val="0"/>
              </a:srgbClr>
            </a:solidFill>
            <a:ln>
              <a:noFill/>
            </a:ln>
          </p:spPr>
        </p:sp>
        <p:sp>
          <p:nvSpPr>
            <p:cNvPr id="167" name="Google Shape;167;p5"/>
            <p:cNvSpPr txBox="1"/>
            <p:nvPr/>
          </p:nvSpPr>
          <p:spPr>
            <a:xfrm>
              <a:off x="-15" y="28569"/>
              <a:ext cx="15530100" cy="359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Características</a:t>
              </a:r>
              <a:endParaRPr sz="10000"/>
            </a:p>
          </p:txBody>
        </p:sp>
      </p:grpSp>
      <p:sp>
        <p:nvSpPr>
          <p:cNvPr id="168" name="Google Shape;168;p5"/>
          <p:cNvSpPr/>
          <p:nvPr/>
        </p:nvSpPr>
        <p:spPr>
          <a:xfrm>
            <a:off x="5062153" y="4191284"/>
            <a:ext cx="2213133" cy="2213134"/>
          </a:xfrm>
          <a:custGeom>
            <a:rect b="b" l="l" r="r" t="t"/>
            <a:pathLst>
              <a:path extrusionOk="0" h="2950845" w="2950845">
                <a:moveTo>
                  <a:pt x="877189" y="0"/>
                </a:moveTo>
                <a:lnTo>
                  <a:pt x="2950845" y="0"/>
                </a:lnTo>
                <a:lnTo>
                  <a:pt x="2950845" y="2073656"/>
                </a:lnTo>
                <a:cubicBezTo>
                  <a:pt x="2950845" y="2558161"/>
                  <a:pt x="2558161" y="2950845"/>
                  <a:pt x="2073656" y="2950845"/>
                </a:cubicBezTo>
                <a:lnTo>
                  <a:pt x="0" y="2950845"/>
                </a:lnTo>
                <a:lnTo>
                  <a:pt x="0" y="877189"/>
                </a:lnTo>
                <a:cubicBezTo>
                  <a:pt x="0" y="392684"/>
                  <a:pt x="392684" y="0"/>
                  <a:pt x="877189" y="0"/>
                </a:cubicBezTo>
                <a:close/>
              </a:path>
            </a:pathLst>
          </a:custGeom>
          <a:solidFill>
            <a:srgbClr val="D517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5533810" y="4662940"/>
            <a:ext cx="1269843" cy="1269843"/>
          </a:xfrm>
          <a:custGeom>
            <a:rect b="b" l="l" r="r" t="t"/>
            <a:pathLst>
              <a:path extrusionOk="0" h="1269843" w="1269843">
                <a:moveTo>
                  <a:pt x="0" y="0"/>
                </a:moveTo>
                <a:lnTo>
                  <a:pt x="1269843" y="0"/>
                </a:lnTo>
                <a:lnTo>
                  <a:pt x="1269843" y="1269844"/>
                </a:lnTo>
                <a:lnTo>
                  <a:pt x="0" y="1269844"/>
                </a:lnTo>
                <a:lnTo>
                  <a:pt x="0" y="0"/>
                </a:lnTo>
                <a:close/>
              </a:path>
            </a:pathLst>
          </a:custGeom>
          <a:blipFill rotWithShape="1">
            <a:blip r:embed="rId3">
              <a:alphaModFix/>
            </a:blip>
            <a:stretch>
              <a:fillRect b="0" l="0" r="0" t="0"/>
            </a:stretch>
          </a:blipFill>
          <a:ln>
            <a:noFill/>
          </a:ln>
        </p:spPr>
      </p:sp>
      <p:grpSp>
        <p:nvGrpSpPr>
          <p:cNvPr id="170" name="Google Shape;170;p5"/>
          <p:cNvGrpSpPr/>
          <p:nvPr/>
        </p:nvGrpSpPr>
        <p:grpSpPr>
          <a:xfrm>
            <a:off x="4349907" y="7089022"/>
            <a:ext cx="3637650" cy="1190775"/>
            <a:chOff x="0" y="0"/>
            <a:chExt cx="4850200" cy="1587700"/>
          </a:xfrm>
        </p:grpSpPr>
        <p:sp>
          <p:nvSpPr>
            <p:cNvPr id="171" name="Google Shape;171;p5"/>
            <p:cNvSpPr/>
            <p:nvPr/>
          </p:nvSpPr>
          <p:spPr>
            <a:xfrm>
              <a:off x="0" y="0"/>
              <a:ext cx="4850200" cy="1587700"/>
            </a:xfrm>
            <a:custGeom>
              <a:rect b="b" l="l" r="r" t="t"/>
              <a:pathLst>
                <a:path extrusionOk="0" h="1587700" w="4850200">
                  <a:moveTo>
                    <a:pt x="0" y="0"/>
                  </a:moveTo>
                  <a:lnTo>
                    <a:pt x="4850200" y="0"/>
                  </a:lnTo>
                  <a:lnTo>
                    <a:pt x="4850200" y="1587700"/>
                  </a:lnTo>
                  <a:lnTo>
                    <a:pt x="0" y="1587700"/>
                  </a:lnTo>
                  <a:close/>
                </a:path>
              </a:pathLst>
            </a:custGeom>
            <a:solidFill>
              <a:srgbClr val="000000">
                <a:alpha val="0"/>
              </a:srgbClr>
            </a:solidFill>
            <a:ln>
              <a:noFill/>
            </a:ln>
          </p:spPr>
        </p:sp>
        <p:sp>
          <p:nvSpPr>
            <p:cNvPr id="172" name="Google Shape;172;p5"/>
            <p:cNvSpPr txBox="1"/>
            <p:nvPr/>
          </p:nvSpPr>
          <p:spPr>
            <a:xfrm>
              <a:off x="0" y="0"/>
              <a:ext cx="4850200" cy="158770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0" i="0" lang="en-US" sz="1650" u="none" cap="none" strike="noStrike">
                  <a:solidFill>
                    <a:srgbClr val="000000"/>
                  </a:solidFill>
                  <a:latin typeface="Arimo"/>
                  <a:ea typeface="Arimo"/>
                  <a:cs typeface="Arimo"/>
                  <a:sym typeface="Arimo"/>
                </a:rPr>
                <a:t>Puede tener variables y métodos concretos.</a:t>
              </a:r>
              <a:endParaRPr/>
            </a:p>
          </p:txBody>
        </p:sp>
      </p:grpSp>
      <p:sp>
        <p:nvSpPr>
          <p:cNvPr id="173" name="Google Shape;173;p5"/>
          <p:cNvSpPr/>
          <p:nvPr/>
        </p:nvSpPr>
        <p:spPr>
          <a:xfrm>
            <a:off x="9325202" y="4191284"/>
            <a:ext cx="2213134" cy="2213134"/>
          </a:xfrm>
          <a:custGeom>
            <a:rect b="b" l="l" r="r" t="t"/>
            <a:pathLst>
              <a:path extrusionOk="0" h="2950845" w="2950845">
                <a:moveTo>
                  <a:pt x="877189" y="0"/>
                </a:moveTo>
                <a:lnTo>
                  <a:pt x="2950845" y="0"/>
                </a:lnTo>
                <a:lnTo>
                  <a:pt x="2950845" y="2073656"/>
                </a:lnTo>
                <a:cubicBezTo>
                  <a:pt x="2950845" y="2558161"/>
                  <a:pt x="2558161" y="2950845"/>
                  <a:pt x="2073656" y="2950845"/>
                </a:cubicBezTo>
                <a:lnTo>
                  <a:pt x="0" y="2950845"/>
                </a:lnTo>
                <a:lnTo>
                  <a:pt x="0" y="877189"/>
                </a:lnTo>
                <a:cubicBezTo>
                  <a:pt x="0" y="392684"/>
                  <a:pt x="392684" y="0"/>
                  <a:pt x="877189" y="0"/>
                </a:cubicBezTo>
                <a:close/>
              </a:path>
            </a:pathLst>
          </a:custGeom>
          <a:solidFill>
            <a:srgbClr val="E72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9796857" y="4662940"/>
            <a:ext cx="1269843" cy="1269843"/>
          </a:xfrm>
          <a:custGeom>
            <a:rect b="b" l="l" r="r" t="t"/>
            <a:pathLst>
              <a:path extrusionOk="0" h="1269843" w="1269843">
                <a:moveTo>
                  <a:pt x="0" y="0"/>
                </a:moveTo>
                <a:lnTo>
                  <a:pt x="1269843" y="0"/>
                </a:lnTo>
                <a:lnTo>
                  <a:pt x="1269843" y="1269844"/>
                </a:lnTo>
                <a:lnTo>
                  <a:pt x="0" y="1269844"/>
                </a:lnTo>
                <a:lnTo>
                  <a:pt x="0" y="0"/>
                </a:lnTo>
                <a:close/>
              </a:path>
            </a:pathLst>
          </a:custGeom>
          <a:blipFill rotWithShape="1">
            <a:blip r:embed="rId4">
              <a:alphaModFix/>
            </a:blip>
            <a:stretch>
              <a:fillRect b="0" l="0" r="0" t="0"/>
            </a:stretch>
          </a:blipFill>
          <a:ln>
            <a:noFill/>
          </a:ln>
        </p:spPr>
      </p:sp>
      <p:grpSp>
        <p:nvGrpSpPr>
          <p:cNvPr id="175" name="Google Shape;175;p5"/>
          <p:cNvGrpSpPr/>
          <p:nvPr/>
        </p:nvGrpSpPr>
        <p:grpSpPr>
          <a:xfrm>
            <a:off x="8612954" y="7089022"/>
            <a:ext cx="3637650" cy="1190775"/>
            <a:chOff x="0" y="0"/>
            <a:chExt cx="4850200" cy="1587700"/>
          </a:xfrm>
        </p:grpSpPr>
        <p:sp>
          <p:nvSpPr>
            <p:cNvPr id="176" name="Google Shape;176;p5"/>
            <p:cNvSpPr/>
            <p:nvPr/>
          </p:nvSpPr>
          <p:spPr>
            <a:xfrm>
              <a:off x="0" y="0"/>
              <a:ext cx="4850200" cy="1587700"/>
            </a:xfrm>
            <a:custGeom>
              <a:rect b="b" l="l" r="r" t="t"/>
              <a:pathLst>
                <a:path extrusionOk="0" h="1587700" w="4850200">
                  <a:moveTo>
                    <a:pt x="0" y="0"/>
                  </a:moveTo>
                  <a:lnTo>
                    <a:pt x="4850200" y="0"/>
                  </a:lnTo>
                  <a:lnTo>
                    <a:pt x="4850200" y="1587700"/>
                  </a:lnTo>
                  <a:lnTo>
                    <a:pt x="0" y="1587700"/>
                  </a:lnTo>
                  <a:close/>
                </a:path>
              </a:pathLst>
            </a:custGeom>
            <a:solidFill>
              <a:srgbClr val="000000">
                <a:alpha val="0"/>
              </a:srgbClr>
            </a:solidFill>
            <a:ln>
              <a:noFill/>
            </a:ln>
          </p:spPr>
        </p:sp>
        <p:sp>
          <p:nvSpPr>
            <p:cNvPr id="177" name="Google Shape;177;p5"/>
            <p:cNvSpPr txBox="1"/>
            <p:nvPr/>
          </p:nvSpPr>
          <p:spPr>
            <a:xfrm>
              <a:off x="0" y="0"/>
              <a:ext cx="4850200" cy="158770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0" i="0" lang="en-US" sz="1650" u="none" cap="none" strike="noStrike">
                  <a:solidFill>
                    <a:srgbClr val="000000"/>
                  </a:solidFill>
                  <a:latin typeface="Arimo"/>
                  <a:ea typeface="Arimo"/>
                  <a:cs typeface="Arimo"/>
                  <a:sym typeface="Arimo"/>
                </a:rPr>
                <a:t>Puede tener métodos abstractos que obliguen a las subclases a implementarlos.</a:t>
              </a:r>
              <a:endParaRPr/>
            </a:p>
          </p:txBody>
        </p:sp>
      </p:grpSp>
      <p:sp>
        <p:nvSpPr>
          <p:cNvPr id="178" name="Google Shape;178;p5"/>
          <p:cNvSpPr/>
          <p:nvPr/>
        </p:nvSpPr>
        <p:spPr>
          <a:xfrm>
            <a:off x="13588248" y="4191284"/>
            <a:ext cx="2213133" cy="2213134"/>
          </a:xfrm>
          <a:custGeom>
            <a:rect b="b" l="l" r="r" t="t"/>
            <a:pathLst>
              <a:path extrusionOk="0" h="2950845" w="2950845">
                <a:moveTo>
                  <a:pt x="877189" y="0"/>
                </a:moveTo>
                <a:lnTo>
                  <a:pt x="2950845" y="0"/>
                </a:lnTo>
                <a:lnTo>
                  <a:pt x="2950845" y="2073656"/>
                </a:lnTo>
                <a:cubicBezTo>
                  <a:pt x="2950845" y="2558161"/>
                  <a:pt x="2558161" y="2950845"/>
                  <a:pt x="2073656" y="2950845"/>
                </a:cubicBezTo>
                <a:lnTo>
                  <a:pt x="0" y="2950845"/>
                </a:lnTo>
                <a:lnTo>
                  <a:pt x="0" y="877189"/>
                </a:lnTo>
                <a:cubicBezTo>
                  <a:pt x="0" y="392684"/>
                  <a:pt x="392684" y="0"/>
                  <a:pt x="877189" y="0"/>
                </a:cubicBezTo>
                <a:close/>
              </a:path>
            </a:pathLst>
          </a:custGeom>
          <a:solidFill>
            <a:srgbClr val="C117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14059905" y="4662940"/>
            <a:ext cx="1269843" cy="1269843"/>
          </a:xfrm>
          <a:custGeom>
            <a:rect b="b" l="l" r="r" t="t"/>
            <a:pathLst>
              <a:path extrusionOk="0" h="1269843" w="1269843">
                <a:moveTo>
                  <a:pt x="0" y="0"/>
                </a:moveTo>
                <a:lnTo>
                  <a:pt x="1269843" y="0"/>
                </a:lnTo>
                <a:lnTo>
                  <a:pt x="1269843" y="1269844"/>
                </a:lnTo>
                <a:lnTo>
                  <a:pt x="0" y="1269844"/>
                </a:lnTo>
                <a:lnTo>
                  <a:pt x="0" y="0"/>
                </a:lnTo>
                <a:close/>
              </a:path>
            </a:pathLst>
          </a:custGeom>
          <a:blipFill rotWithShape="1">
            <a:blip r:embed="rId5">
              <a:alphaModFix/>
            </a:blip>
            <a:stretch>
              <a:fillRect b="0" l="0" r="0" t="0"/>
            </a:stretch>
          </a:blipFill>
          <a:ln>
            <a:noFill/>
          </a:ln>
        </p:spPr>
      </p:sp>
      <p:grpSp>
        <p:nvGrpSpPr>
          <p:cNvPr id="180" name="Google Shape;180;p5"/>
          <p:cNvGrpSpPr/>
          <p:nvPr/>
        </p:nvGrpSpPr>
        <p:grpSpPr>
          <a:xfrm>
            <a:off x="12876002" y="7089022"/>
            <a:ext cx="3637650" cy="1190775"/>
            <a:chOff x="0" y="0"/>
            <a:chExt cx="4850200" cy="1587700"/>
          </a:xfrm>
        </p:grpSpPr>
        <p:sp>
          <p:nvSpPr>
            <p:cNvPr id="181" name="Google Shape;181;p5"/>
            <p:cNvSpPr/>
            <p:nvPr/>
          </p:nvSpPr>
          <p:spPr>
            <a:xfrm>
              <a:off x="0" y="0"/>
              <a:ext cx="4850200" cy="1587700"/>
            </a:xfrm>
            <a:custGeom>
              <a:rect b="b" l="l" r="r" t="t"/>
              <a:pathLst>
                <a:path extrusionOk="0" h="1587700" w="4850200">
                  <a:moveTo>
                    <a:pt x="0" y="0"/>
                  </a:moveTo>
                  <a:lnTo>
                    <a:pt x="4850200" y="0"/>
                  </a:lnTo>
                  <a:lnTo>
                    <a:pt x="4850200" y="1587700"/>
                  </a:lnTo>
                  <a:lnTo>
                    <a:pt x="0" y="1587700"/>
                  </a:lnTo>
                  <a:close/>
                </a:path>
              </a:pathLst>
            </a:custGeom>
            <a:solidFill>
              <a:srgbClr val="000000">
                <a:alpha val="0"/>
              </a:srgbClr>
            </a:solidFill>
            <a:ln>
              <a:noFill/>
            </a:ln>
          </p:spPr>
        </p:sp>
        <p:sp>
          <p:nvSpPr>
            <p:cNvPr id="182" name="Google Shape;182;p5"/>
            <p:cNvSpPr txBox="1"/>
            <p:nvPr/>
          </p:nvSpPr>
          <p:spPr>
            <a:xfrm>
              <a:off x="0" y="0"/>
              <a:ext cx="4850200" cy="158770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0" i="0" lang="en-US" sz="1650" u="none" cap="none" strike="noStrike">
                  <a:solidFill>
                    <a:srgbClr val="000000"/>
                  </a:solidFill>
                  <a:latin typeface="Arimo"/>
                  <a:ea typeface="Arimo"/>
                  <a:cs typeface="Arimo"/>
                  <a:sym typeface="Arimo"/>
                </a:rPr>
                <a:t>Se utiliza cuando hay comportamientos comunes entre varias clases pero también comportamientos específicos.</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p:nvPr/>
        </p:nvSpPr>
        <p:spPr>
          <a:xfrm>
            <a:off x="8694602" y="5067860"/>
            <a:ext cx="9591865" cy="5219129"/>
          </a:xfrm>
          <a:custGeom>
            <a:rect b="b" l="l" r="r" t="t"/>
            <a:pathLst>
              <a:path extrusionOk="0" h="6958838" w="12789154">
                <a:moveTo>
                  <a:pt x="10342626" y="1270"/>
                </a:moveTo>
                <a:cubicBezTo>
                  <a:pt x="11215370" y="15748"/>
                  <a:pt x="12078081" y="307975"/>
                  <a:pt x="12788647" y="860806"/>
                </a:cubicBezTo>
                <a:lnTo>
                  <a:pt x="12789154" y="861314"/>
                </a:lnTo>
                <a:lnTo>
                  <a:pt x="12789154" y="6958838"/>
                </a:lnTo>
                <a:lnTo>
                  <a:pt x="0" y="6958838"/>
                </a:lnTo>
                <a:lnTo>
                  <a:pt x="7833995" y="811784"/>
                </a:lnTo>
                <a:lnTo>
                  <a:pt x="7918958" y="748538"/>
                </a:lnTo>
                <a:cubicBezTo>
                  <a:pt x="8582152" y="280035"/>
                  <a:pt x="9342247" y="35814"/>
                  <a:pt x="10104374" y="4318"/>
                </a:cubicBezTo>
                <a:cubicBezTo>
                  <a:pt x="10183749" y="1016"/>
                  <a:pt x="10263251" y="0"/>
                  <a:pt x="10342499" y="1397"/>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6"/>
          <p:cNvGrpSpPr/>
          <p:nvPr/>
        </p:nvGrpSpPr>
        <p:grpSpPr>
          <a:xfrm>
            <a:off x="11393178" y="1937656"/>
            <a:ext cx="6649246" cy="7687795"/>
            <a:chOff x="0" y="0"/>
            <a:chExt cx="8865662" cy="10250392"/>
          </a:xfrm>
        </p:grpSpPr>
        <p:sp>
          <p:nvSpPr>
            <p:cNvPr id="189" name="Google Shape;189;p6"/>
            <p:cNvSpPr/>
            <p:nvPr/>
          </p:nvSpPr>
          <p:spPr>
            <a:xfrm>
              <a:off x="0" y="0"/>
              <a:ext cx="7059494" cy="4968202"/>
            </a:xfrm>
            <a:custGeom>
              <a:rect b="b" l="l" r="r" t="t"/>
              <a:pathLst>
                <a:path extrusionOk="0" h="4968202" w="7059494">
                  <a:moveTo>
                    <a:pt x="0" y="0"/>
                  </a:moveTo>
                  <a:lnTo>
                    <a:pt x="7059494" y="0"/>
                  </a:lnTo>
                  <a:lnTo>
                    <a:pt x="7059494" y="4968202"/>
                  </a:lnTo>
                  <a:lnTo>
                    <a:pt x="0" y="4968202"/>
                  </a:lnTo>
                  <a:close/>
                </a:path>
              </a:pathLst>
            </a:custGeom>
            <a:solidFill>
              <a:srgbClr val="000000">
                <a:alpha val="0"/>
              </a:srgbClr>
            </a:solidFill>
            <a:ln>
              <a:noFill/>
            </a:ln>
          </p:spPr>
        </p:sp>
        <p:sp>
          <p:nvSpPr>
            <p:cNvPr id="190" name="Google Shape;190;p6"/>
            <p:cNvSpPr txBox="1"/>
            <p:nvPr/>
          </p:nvSpPr>
          <p:spPr>
            <a:xfrm>
              <a:off x="408062" y="5310892"/>
              <a:ext cx="8457600" cy="493950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Ejemplo</a:t>
              </a:r>
              <a:endParaRPr/>
            </a:p>
          </p:txBody>
        </p:sp>
      </p:grpSp>
      <p:sp>
        <p:nvSpPr>
          <p:cNvPr id="191" name="Google Shape;191;p6"/>
          <p:cNvSpPr/>
          <p:nvPr/>
        </p:nvSpPr>
        <p:spPr>
          <a:xfrm>
            <a:off x="2829922" y="878360"/>
            <a:ext cx="8098150" cy="8283348"/>
          </a:xfrm>
          <a:custGeom>
            <a:rect b="b" l="l" r="r" t="t"/>
            <a:pathLst>
              <a:path extrusionOk="0" h="8283348" w="8098150">
                <a:moveTo>
                  <a:pt x="0" y="0"/>
                </a:moveTo>
                <a:lnTo>
                  <a:pt x="8098151" y="0"/>
                </a:lnTo>
                <a:lnTo>
                  <a:pt x="8098151" y="8283348"/>
                </a:lnTo>
                <a:lnTo>
                  <a:pt x="0" y="828334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grpSp>
        <p:nvGrpSpPr>
          <p:cNvPr id="196" name="Google Shape;196;p7"/>
          <p:cNvGrpSpPr/>
          <p:nvPr/>
        </p:nvGrpSpPr>
        <p:grpSpPr>
          <a:xfrm>
            <a:off x="9574750" y="1714500"/>
            <a:ext cx="8552699" cy="2720525"/>
            <a:chOff x="-1711667" y="0"/>
            <a:chExt cx="11403600" cy="3627367"/>
          </a:xfrm>
        </p:grpSpPr>
        <p:sp>
          <p:nvSpPr>
            <p:cNvPr id="197" name="Google Shape;197;p7"/>
            <p:cNvSpPr/>
            <p:nvPr/>
          </p:nvSpPr>
          <p:spPr>
            <a:xfrm>
              <a:off x="0" y="0"/>
              <a:ext cx="7848598" cy="3627291"/>
            </a:xfrm>
            <a:custGeom>
              <a:rect b="b" l="l" r="r" t="t"/>
              <a:pathLst>
                <a:path extrusionOk="0" h="3627291" w="7848598">
                  <a:moveTo>
                    <a:pt x="0" y="0"/>
                  </a:moveTo>
                  <a:lnTo>
                    <a:pt x="7848598" y="0"/>
                  </a:lnTo>
                  <a:lnTo>
                    <a:pt x="7848598" y="3627291"/>
                  </a:lnTo>
                  <a:lnTo>
                    <a:pt x="0" y="3627291"/>
                  </a:lnTo>
                  <a:close/>
                </a:path>
              </a:pathLst>
            </a:custGeom>
            <a:solidFill>
              <a:srgbClr val="000000">
                <a:alpha val="0"/>
              </a:srgbClr>
            </a:solidFill>
            <a:ln>
              <a:noFill/>
            </a:ln>
          </p:spPr>
        </p:sp>
        <p:sp>
          <p:nvSpPr>
            <p:cNvPr id="198" name="Google Shape;198;p7"/>
            <p:cNvSpPr txBox="1"/>
            <p:nvPr/>
          </p:nvSpPr>
          <p:spPr>
            <a:xfrm>
              <a:off x="-1711667" y="28567"/>
              <a:ext cx="11403600" cy="3598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Interfaces</a:t>
              </a:r>
              <a:endParaRPr/>
            </a:p>
          </p:txBody>
        </p:sp>
      </p:grpSp>
      <p:sp>
        <p:nvSpPr>
          <p:cNvPr descr="Interface in Java - Logicmojo" id="199" name="Google Shape;199;p7"/>
          <p:cNvSpPr/>
          <p:nvPr/>
        </p:nvSpPr>
        <p:spPr>
          <a:xfrm>
            <a:off x="1543052" y="2690427"/>
            <a:ext cx="8109327" cy="4906143"/>
          </a:xfrm>
          <a:custGeom>
            <a:rect b="b" l="l" r="r" t="t"/>
            <a:pathLst>
              <a:path extrusionOk="0" h="4906143" w="8109327">
                <a:moveTo>
                  <a:pt x="0" y="0"/>
                </a:moveTo>
                <a:lnTo>
                  <a:pt x="8109326" y="0"/>
                </a:lnTo>
                <a:lnTo>
                  <a:pt x="8109326" y="4906143"/>
                </a:lnTo>
                <a:lnTo>
                  <a:pt x="0" y="4906143"/>
                </a:lnTo>
                <a:lnTo>
                  <a:pt x="0" y="0"/>
                </a:lnTo>
                <a:close/>
              </a:path>
            </a:pathLst>
          </a:custGeom>
          <a:blipFill rotWithShape="1">
            <a:blip r:embed="rId3">
              <a:alphaModFix/>
            </a:blip>
            <a:stretch>
              <a:fillRect b="-44" l="0" r="0" t="-43"/>
            </a:stretch>
          </a:blipFill>
          <a:ln>
            <a:noFill/>
          </a:ln>
        </p:spPr>
      </p:sp>
      <p:grpSp>
        <p:nvGrpSpPr>
          <p:cNvPr id="200" name="Google Shape;200;p7"/>
          <p:cNvGrpSpPr/>
          <p:nvPr/>
        </p:nvGrpSpPr>
        <p:grpSpPr>
          <a:xfrm>
            <a:off x="10858500" y="4048125"/>
            <a:ext cx="5886448" cy="4524375"/>
            <a:chOff x="0" y="-76200"/>
            <a:chExt cx="7848598" cy="6032500"/>
          </a:xfrm>
        </p:grpSpPr>
        <p:sp>
          <p:nvSpPr>
            <p:cNvPr id="201" name="Google Shape;201;p7"/>
            <p:cNvSpPr/>
            <p:nvPr/>
          </p:nvSpPr>
          <p:spPr>
            <a:xfrm>
              <a:off x="0" y="0"/>
              <a:ext cx="7848598" cy="5956300"/>
            </a:xfrm>
            <a:custGeom>
              <a:rect b="b" l="l" r="r" t="t"/>
              <a:pathLst>
                <a:path extrusionOk="0" h="5956300" w="7848598">
                  <a:moveTo>
                    <a:pt x="0" y="0"/>
                  </a:moveTo>
                  <a:lnTo>
                    <a:pt x="7848598" y="0"/>
                  </a:lnTo>
                  <a:lnTo>
                    <a:pt x="7848598" y="5956300"/>
                  </a:lnTo>
                  <a:lnTo>
                    <a:pt x="0" y="5956300"/>
                  </a:lnTo>
                  <a:close/>
                </a:path>
              </a:pathLst>
            </a:custGeom>
            <a:solidFill>
              <a:srgbClr val="000000">
                <a:alpha val="0"/>
              </a:srgbClr>
            </a:solidFill>
            <a:ln>
              <a:noFill/>
            </a:ln>
          </p:spPr>
        </p:sp>
        <p:sp>
          <p:nvSpPr>
            <p:cNvPr id="202" name="Google Shape;202;p7"/>
            <p:cNvSpPr txBox="1"/>
            <p:nvPr/>
          </p:nvSpPr>
          <p:spPr>
            <a:xfrm>
              <a:off x="0" y="-76200"/>
              <a:ext cx="7848598" cy="6032500"/>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Una interfaz es una colección de métodos abstractos y constantes (final y static) que define un contrato para las clases que la implementan.</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pSp>
        <p:nvGrpSpPr>
          <p:cNvPr id="207" name="Google Shape;207;p8"/>
          <p:cNvGrpSpPr/>
          <p:nvPr/>
        </p:nvGrpSpPr>
        <p:grpSpPr>
          <a:xfrm>
            <a:off x="9462175" y="1714500"/>
            <a:ext cx="7282799" cy="2720525"/>
            <a:chOff x="-1861766" y="0"/>
            <a:chExt cx="9710400" cy="3627367"/>
          </a:xfrm>
        </p:grpSpPr>
        <p:sp>
          <p:nvSpPr>
            <p:cNvPr id="208" name="Google Shape;208;p8"/>
            <p:cNvSpPr/>
            <p:nvPr/>
          </p:nvSpPr>
          <p:spPr>
            <a:xfrm>
              <a:off x="0" y="0"/>
              <a:ext cx="7848598" cy="3627291"/>
            </a:xfrm>
            <a:custGeom>
              <a:rect b="b" l="l" r="r" t="t"/>
              <a:pathLst>
                <a:path extrusionOk="0" h="3627291" w="7848598">
                  <a:moveTo>
                    <a:pt x="0" y="0"/>
                  </a:moveTo>
                  <a:lnTo>
                    <a:pt x="7848598" y="0"/>
                  </a:lnTo>
                  <a:lnTo>
                    <a:pt x="7848598" y="3627291"/>
                  </a:lnTo>
                  <a:lnTo>
                    <a:pt x="0" y="3627291"/>
                  </a:lnTo>
                  <a:close/>
                </a:path>
              </a:pathLst>
            </a:custGeom>
            <a:solidFill>
              <a:srgbClr val="000000">
                <a:alpha val="0"/>
              </a:srgbClr>
            </a:solidFill>
            <a:ln>
              <a:noFill/>
            </a:ln>
          </p:spPr>
        </p:sp>
        <p:sp>
          <p:nvSpPr>
            <p:cNvPr id="209" name="Google Shape;209;p8"/>
            <p:cNvSpPr txBox="1"/>
            <p:nvPr/>
          </p:nvSpPr>
          <p:spPr>
            <a:xfrm>
              <a:off x="-1861766" y="28567"/>
              <a:ext cx="9710400" cy="3598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Propósito</a:t>
              </a:r>
              <a:endParaRPr/>
            </a:p>
          </p:txBody>
        </p:sp>
      </p:grpSp>
      <p:sp>
        <p:nvSpPr>
          <p:cNvPr descr="Circles with Arrows" id="210" name="Google Shape;210;p8"/>
          <p:cNvSpPr/>
          <p:nvPr/>
        </p:nvSpPr>
        <p:spPr>
          <a:xfrm>
            <a:off x="1956321" y="1502106"/>
            <a:ext cx="7282787" cy="7282786"/>
          </a:xfrm>
          <a:custGeom>
            <a:rect b="b" l="l" r="r" t="t"/>
            <a:pathLst>
              <a:path extrusionOk="0" h="7282786" w="7282787">
                <a:moveTo>
                  <a:pt x="0" y="0"/>
                </a:moveTo>
                <a:lnTo>
                  <a:pt x="7282787" y="0"/>
                </a:lnTo>
                <a:lnTo>
                  <a:pt x="7282787" y="7282786"/>
                </a:lnTo>
                <a:lnTo>
                  <a:pt x="0" y="7282786"/>
                </a:lnTo>
                <a:lnTo>
                  <a:pt x="0" y="0"/>
                </a:lnTo>
                <a:close/>
              </a:path>
            </a:pathLst>
          </a:custGeom>
          <a:blipFill rotWithShape="1">
            <a:blip r:embed="rId3">
              <a:alphaModFix/>
            </a:blip>
            <a:stretch>
              <a:fillRect b="0" l="0" r="0" t="0"/>
            </a:stretch>
          </a:blipFill>
          <a:ln>
            <a:noFill/>
          </a:ln>
        </p:spPr>
      </p:sp>
      <p:grpSp>
        <p:nvGrpSpPr>
          <p:cNvPr id="211" name="Google Shape;211;p8"/>
          <p:cNvGrpSpPr/>
          <p:nvPr/>
        </p:nvGrpSpPr>
        <p:grpSpPr>
          <a:xfrm>
            <a:off x="10858500" y="4508253"/>
            <a:ext cx="5886448" cy="4524375"/>
            <a:chOff x="0" y="-76200"/>
            <a:chExt cx="7848598" cy="6032500"/>
          </a:xfrm>
        </p:grpSpPr>
        <p:sp>
          <p:nvSpPr>
            <p:cNvPr id="212" name="Google Shape;212;p8"/>
            <p:cNvSpPr/>
            <p:nvPr/>
          </p:nvSpPr>
          <p:spPr>
            <a:xfrm>
              <a:off x="0" y="0"/>
              <a:ext cx="7848598" cy="5956300"/>
            </a:xfrm>
            <a:custGeom>
              <a:rect b="b" l="l" r="r" t="t"/>
              <a:pathLst>
                <a:path extrusionOk="0" h="5956300" w="7848598">
                  <a:moveTo>
                    <a:pt x="0" y="0"/>
                  </a:moveTo>
                  <a:lnTo>
                    <a:pt x="7848598" y="0"/>
                  </a:lnTo>
                  <a:lnTo>
                    <a:pt x="7848598" y="5956300"/>
                  </a:lnTo>
                  <a:lnTo>
                    <a:pt x="0" y="5956300"/>
                  </a:lnTo>
                  <a:close/>
                </a:path>
              </a:pathLst>
            </a:custGeom>
            <a:solidFill>
              <a:srgbClr val="000000">
                <a:alpha val="0"/>
              </a:srgbClr>
            </a:solidFill>
            <a:ln>
              <a:noFill/>
            </a:ln>
          </p:spPr>
        </p:sp>
        <p:sp>
          <p:nvSpPr>
            <p:cNvPr id="213" name="Google Shape;213;p8"/>
            <p:cNvSpPr txBox="1"/>
            <p:nvPr/>
          </p:nvSpPr>
          <p:spPr>
            <a:xfrm>
              <a:off x="0" y="-76200"/>
              <a:ext cx="7848598" cy="6032500"/>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Proporcionar una forma de lograr la abstracción total y permitir la implementación múltiple.</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9"/>
          <p:cNvSpPr/>
          <p:nvPr/>
        </p:nvSpPr>
        <p:spPr>
          <a:xfrm>
            <a:off x="8694602" y="5067860"/>
            <a:ext cx="9591865" cy="5219129"/>
          </a:xfrm>
          <a:custGeom>
            <a:rect b="b" l="l" r="r" t="t"/>
            <a:pathLst>
              <a:path extrusionOk="0" h="6958838" w="12789154">
                <a:moveTo>
                  <a:pt x="10342626" y="1270"/>
                </a:moveTo>
                <a:cubicBezTo>
                  <a:pt x="11215370" y="15748"/>
                  <a:pt x="12078081" y="307975"/>
                  <a:pt x="12788647" y="860806"/>
                </a:cubicBezTo>
                <a:lnTo>
                  <a:pt x="12789154" y="861314"/>
                </a:lnTo>
                <a:lnTo>
                  <a:pt x="12789154" y="6958838"/>
                </a:lnTo>
                <a:lnTo>
                  <a:pt x="0" y="6958838"/>
                </a:lnTo>
                <a:lnTo>
                  <a:pt x="7833995" y="811784"/>
                </a:lnTo>
                <a:lnTo>
                  <a:pt x="7918958" y="748538"/>
                </a:lnTo>
                <a:cubicBezTo>
                  <a:pt x="8582152" y="280035"/>
                  <a:pt x="9342247" y="35814"/>
                  <a:pt x="10104374" y="4318"/>
                </a:cubicBezTo>
                <a:cubicBezTo>
                  <a:pt x="10183749" y="1016"/>
                  <a:pt x="10263251" y="0"/>
                  <a:pt x="10342499" y="1397"/>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9" name="Google Shape;219;p9"/>
          <p:cNvGrpSpPr/>
          <p:nvPr/>
        </p:nvGrpSpPr>
        <p:grpSpPr>
          <a:xfrm>
            <a:off x="11393174" y="1937656"/>
            <a:ext cx="6309224" cy="3726152"/>
            <a:chOff x="-5" y="0"/>
            <a:chExt cx="8412300" cy="4968202"/>
          </a:xfrm>
        </p:grpSpPr>
        <p:sp>
          <p:nvSpPr>
            <p:cNvPr id="220" name="Google Shape;220;p9"/>
            <p:cNvSpPr/>
            <p:nvPr/>
          </p:nvSpPr>
          <p:spPr>
            <a:xfrm>
              <a:off x="0" y="0"/>
              <a:ext cx="7059494" cy="4968202"/>
            </a:xfrm>
            <a:custGeom>
              <a:rect b="b" l="l" r="r" t="t"/>
              <a:pathLst>
                <a:path extrusionOk="0" h="4968202" w="7059494">
                  <a:moveTo>
                    <a:pt x="0" y="0"/>
                  </a:moveTo>
                  <a:lnTo>
                    <a:pt x="7059494" y="0"/>
                  </a:lnTo>
                  <a:lnTo>
                    <a:pt x="7059494" y="4968202"/>
                  </a:lnTo>
                  <a:lnTo>
                    <a:pt x="0" y="4968202"/>
                  </a:lnTo>
                  <a:close/>
                </a:path>
              </a:pathLst>
            </a:custGeom>
            <a:solidFill>
              <a:srgbClr val="000000">
                <a:alpha val="0"/>
              </a:srgbClr>
            </a:solidFill>
            <a:ln>
              <a:noFill/>
            </a:ln>
          </p:spPr>
        </p:sp>
        <p:sp>
          <p:nvSpPr>
            <p:cNvPr id="221" name="Google Shape;221;p9"/>
            <p:cNvSpPr txBox="1"/>
            <p:nvPr/>
          </p:nvSpPr>
          <p:spPr>
            <a:xfrm>
              <a:off x="-5" y="28559"/>
              <a:ext cx="8412300" cy="493950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Ejemplo</a:t>
              </a:r>
              <a:endParaRPr/>
            </a:p>
          </p:txBody>
        </p:sp>
      </p:grpSp>
      <p:sp>
        <p:nvSpPr>
          <p:cNvPr id="222" name="Google Shape;222;p9"/>
          <p:cNvSpPr/>
          <p:nvPr/>
        </p:nvSpPr>
        <p:spPr>
          <a:xfrm>
            <a:off x="1600203" y="2189017"/>
            <a:ext cx="9587001" cy="5494988"/>
          </a:xfrm>
          <a:custGeom>
            <a:rect b="b" l="l" r="r" t="t"/>
            <a:pathLst>
              <a:path extrusionOk="0" h="5494988" w="9587001">
                <a:moveTo>
                  <a:pt x="0" y="0"/>
                </a:moveTo>
                <a:lnTo>
                  <a:pt x="9587001" y="0"/>
                </a:lnTo>
                <a:lnTo>
                  <a:pt x="9587001" y="5494988"/>
                </a:lnTo>
                <a:lnTo>
                  <a:pt x="0" y="549498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0"/>
          <p:cNvSpPr/>
          <p:nvPr/>
        </p:nvSpPr>
        <p:spPr>
          <a:xfrm>
            <a:off x="8694602" y="5067860"/>
            <a:ext cx="9591865" cy="5219129"/>
          </a:xfrm>
          <a:custGeom>
            <a:rect b="b" l="l" r="r" t="t"/>
            <a:pathLst>
              <a:path extrusionOk="0" h="6958838" w="12789154">
                <a:moveTo>
                  <a:pt x="10342626" y="1270"/>
                </a:moveTo>
                <a:cubicBezTo>
                  <a:pt x="11215370" y="15748"/>
                  <a:pt x="12078081" y="307975"/>
                  <a:pt x="12788647" y="860806"/>
                </a:cubicBezTo>
                <a:lnTo>
                  <a:pt x="12789154" y="861314"/>
                </a:lnTo>
                <a:lnTo>
                  <a:pt x="12789154" y="6958838"/>
                </a:lnTo>
                <a:lnTo>
                  <a:pt x="0" y="6958838"/>
                </a:lnTo>
                <a:lnTo>
                  <a:pt x="7833995" y="811784"/>
                </a:lnTo>
                <a:lnTo>
                  <a:pt x="7918958" y="748538"/>
                </a:lnTo>
                <a:cubicBezTo>
                  <a:pt x="8582152" y="280035"/>
                  <a:pt x="9342247" y="35814"/>
                  <a:pt x="10104374" y="4318"/>
                </a:cubicBezTo>
                <a:cubicBezTo>
                  <a:pt x="10183749" y="1016"/>
                  <a:pt x="10263251" y="0"/>
                  <a:pt x="10342499" y="1397"/>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txBox="1"/>
          <p:nvPr/>
        </p:nvSpPr>
        <p:spPr>
          <a:xfrm>
            <a:off x="8023152" y="8836250"/>
            <a:ext cx="10161000" cy="997200"/>
          </a:xfrm>
          <a:prstGeom prst="rect">
            <a:avLst/>
          </a:prstGeom>
          <a:noFill/>
          <a:ln>
            <a:noFill/>
          </a:ln>
        </p:spPr>
        <p:txBody>
          <a:bodyPr anchorCtr="0" anchor="t" bIns="0" lIns="0" spcFirstLastPara="1" rIns="0" wrap="square" tIns="0">
            <a:normAutofit fontScale="47500"/>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Clase Abstracta Vs. Interface</a:t>
            </a:r>
            <a:endParaRPr/>
          </a:p>
        </p:txBody>
      </p:sp>
      <p:graphicFrame>
        <p:nvGraphicFramePr>
          <p:cNvPr id="229" name="Google Shape;229;p10"/>
          <p:cNvGraphicFramePr/>
          <p:nvPr/>
        </p:nvGraphicFramePr>
        <p:xfrm>
          <a:off x="1867945" y="1085268"/>
          <a:ext cx="3000000" cy="3000000"/>
        </p:xfrm>
        <a:graphic>
          <a:graphicData uri="http://schemas.openxmlformats.org/drawingml/2006/table">
            <a:tbl>
              <a:tblPr>
                <a:noFill/>
                <a:tableStyleId>{0FFA18F4-7660-4822-AD7A-FD80CF552511}</a:tableStyleId>
              </a:tblPr>
              <a:tblGrid>
                <a:gridCol w="3395725"/>
                <a:gridCol w="5555300"/>
                <a:gridCol w="5469800"/>
              </a:tblGrid>
              <a:tr h="765775">
                <a:tc>
                  <a:txBody>
                    <a:bodyPr/>
                    <a:lstStyle/>
                    <a:p>
                      <a:pPr indent="0" lvl="0" marL="0" marR="0" rtl="0" algn="l">
                        <a:lnSpc>
                          <a:spcPct val="120000"/>
                        </a:lnSpc>
                        <a:spcBef>
                          <a:spcPts val="0"/>
                        </a:spcBef>
                        <a:spcAft>
                          <a:spcPts val="0"/>
                        </a:spcAft>
                        <a:buNone/>
                      </a:pPr>
                      <a:r>
                        <a:rPr b="1" lang="en-US" sz="3450" u="none" cap="none" strike="noStrike">
                          <a:solidFill>
                            <a:srgbClr val="FFFFFF"/>
                          </a:solidFill>
                          <a:latin typeface="Arimo"/>
                          <a:ea typeface="Arimo"/>
                          <a:cs typeface="Arimo"/>
                          <a:sym typeface="Arimo"/>
                        </a:rPr>
                        <a:t>Característica</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0000"/>
                    </a:solidFill>
                  </a:tcPr>
                </a:tc>
                <a:tc>
                  <a:txBody>
                    <a:bodyPr/>
                    <a:lstStyle/>
                    <a:p>
                      <a:pPr indent="0" lvl="0" marL="0" marR="0" rtl="0" algn="l">
                        <a:lnSpc>
                          <a:spcPct val="120000"/>
                        </a:lnSpc>
                        <a:spcBef>
                          <a:spcPts val="0"/>
                        </a:spcBef>
                        <a:spcAft>
                          <a:spcPts val="0"/>
                        </a:spcAft>
                        <a:buNone/>
                      </a:pPr>
                      <a:r>
                        <a:rPr b="1" lang="en-US" sz="3450" u="none" cap="none" strike="noStrike">
                          <a:solidFill>
                            <a:srgbClr val="FFFFFF"/>
                          </a:solidFill>
                          <a:latin typeface="Arimo"/>
                          <a:ea typeface="Arimo"/>
                          <a:cs typeface="Arimo"/>
                          <a:sym typeface="Arimo"/>
                        </a:rPr>
                        <a:t>Clase Abstracta</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0000"/>
                    </a:solidFill>
                  </a:tcPr>
                </a:tc>
                <a:tc>
                  <a:txBody>
                    <a:bodyPr/>
                    <a:lstStyle/>
                    <a:p>
                      <a:pPr indent="0" lvl="0" marL="0" marR="0" rtl="0" algn="l">
                        <a:lnSpc>
                          <a:spcPct val="120000"/>
                        </a:lnSpc>
                        <a:spcBef>
                          <a:spcPts val="0"/>
                        </a:spcBef>
                        <a:spcAft>
                          <a:spcPts val="0"/>
                        </a:spcAft>
                        <a:buNone/>
                      </a:pPr>
                      <a:r>
                        <a:rPr b="1" lang="en-US" sz="3450" u="none" cap="none" strike="noStrike">
                          <a:solidFill>
                            <a:srgbClr val="FFFFFF"/>
                          </a:solidFill>
                          <a:latin typeface="Arimo"/>
                          <a:ea typeface="Arimo"/>
                          <a:cs typeface="Arimo"/>
                          <a:sym typeface="Arimo"/>
                        </a:rPr>
                        <a:t>Interface</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0000"/>
                    </a:solidFill>
                  </a:tcPr>
                </a:tc>
              </a:tr>
              <a:tr h="765775">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Instanciar</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7E7"/>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No se puede instanciar</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7E7"/>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No se puede instanciar</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7E7"/>
                    </a:solidFill>
                  </a:tcPr>
                </a:tc>
              </a:tr>
              <a:tr h="765775">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Métodos</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Tiene métodos concretos</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Solo métodos abstractos</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65775">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Variables</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7E7"/>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Tiene variables normales</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7E7"/>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Solo constantes (final)</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7E7"/>
                    </a:solidFill>
                  </a:tcPr>
                </a:tc>
              </a:tr>
              <a:tr h="1287875">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Herencia</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Hereda de una sola clase</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Implementa múltiples interfaces</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287875">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Uso</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7E7"/>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Comportamiento común parcial</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7E7"/>
                    </a:solidFill>
                  </a:tcPr>
                </a:tc>
                <a:tc>
                  <a:txBody>
                    <a:bodyPr/>
                    <a:lstStyle/>
                    <a:p>
                      <a:pPr indent="0" lvl="0" marL="0" marR="0" rtl="0" algn="l">
                        <a:lnSpc>
                          <a:spcPct val="120000"/>
                        </a:lnSpc>
                        <a:spcBef>
                          <a:spcPts val="0"/>
                        </a:spcBef>
                        <a:spcAft>
                          <a:spcPts val="0"/>
                        </a:spcAft>
                        <a:buNone/>
                      </a:pPr>
                      <a:r>
                        <a:rPr lang="en-US" sz="3450" u="none" cap="none" strike="noStrike">
                          <a:solidFill>
                            <a:srgbClr val="000000"/>
                          </a:solidFill>
                          <a:latin typeface="Arimo"/>
                          <a:ea typeface="Arimo"/>
                          <a:cs typeface="Arimo"/>
                          <a:sym typeface="Arimo"/>
                        </a:rPr>
                        <a:t>Contrato completo</a:t>
                      </a:r>
                      <a:endParaRPr sz="1100" u="none" cap="none" strike="noStrike"/>
                    </a:p>
                  </a:txBody>
                  <a:tcPr marT="118125" marB="118125" marR="118125" marL="1181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7E7"/>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1"/>
          <p:cNvSpPr/>
          <p:nvPr/>
        </p:nvSpPr>
        <p:spPr>
          <a:xfrm>
            <a:off x="-5015029" y="-895393"/>
            <a:ext cx="13843445" cy="11182368"/>
          </a:xfrm>
          <a:custGeom>
            <a:rect b="b" l="l" r="r" t="t"/>
            <a:pathLst>
              <a:path extrusionOk="0" h="14909824" w="18457926">
                <a:moveTo>
                  <a:pt x="14926985" y="1850"/>
                </a:moveTo>
                <a:cubicBezTo>
                  <a:pt x="16186573" y="32872"/>
                  <a:pt x="17431680" y="659027"/>
                  <a:pt x="18457202" y="1843577"/>
                </a:cubicBezTo>
                <a:lnTo>
                  <a:pt x="18457926" y="1844666"/>
                </a:lnTo>
                <a:lnTo>
                  <a:pt x="18457926" y="14909824"/>
                </a:lnTo>
                <a:lnTo>
                  <a:pt x="0" y="14909824"/>
                </a:lnTo>
                <a:lnTo>
                  <a:pt x="11306405" y="1738538"/>
                </a:lnTo>
                <a:lnTo>
                  <a:pt x="11429028" y="1603021"/>
                </a:lnTo>
                <a:cubicBezTo>
                  <a:pt x="12386183" y="599160"/>
                  <a:pt x="13483189" y="75868"/>
                  <a:pt x="14583128" y="8381"/>
                </a:cubicBezTo>
                <a:cubicBezTo>
                  <a:pt x="14697686" y="1306"/>
                  <a:pt x="14812428" y="0"/>
                  <a:pt x="14926802" y="2123"/>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5" name="Google Shape;235;p11"/>
          <p:cNvGrpSpPr/>
          <p:nvPr/>
        </p:nvGrpSpPr>
        <p:grpSpPr>
          <a:xfrm>
            <a:off x="0" y="3009103"/>
            <a:ext cx="8828400" cy="6416169"/>
            <a:chOff x="0" y="0"/>
            <a:chExt cx="11771200" cy="8554892"/>
          </a:xfrm>
        </p:grpSpPr>
        <p:sp>
          <p:nvSpPr>
            <p:cNvPr id="236" name="Google Shape;236;p11"/>
            <p:cNvSpPr/>
            <p:nvPr/>
          </p:nvSpPr>
          <p:spPr>
            <a:xfrm>
              <a:off x="0" y="0"/>
              <a:ext cx="11771200" cy="8554892"/>
            </a:xfrm>
            <a:custGeom>
              <a:rect b="b" l="l" r="r" t="t"/>
              <a:pathLst>
                <a:path extrusionOk="0" h="8554892" w="11771200">
                  <a:moveTo>
                    <a:pt x="0" y="0"/>
                  </a:moveTo>
                  <a:lnTo>
                    <a:pt x="11771200" y="0"/>
                  </a:lnTo>
                  <a:lnTo>
                    <a:pt x="11771200" y="8554892"/>
                  </a:lnTo>
                  <a:lnTo>
                    <a:pt x="0" y="8554892"/>
                  </a:lnTo>
                  <a:close/>
                </a:path>
              </a:pathLst>
            </a:custGeom>
            <a:solidFill>
              <a:srgbClr val="000000">
                <a:alpha val="0"/>
              </a:srgbClr>
            </a:solidFill>
            <a:ln>
              <a:noFill/>
            </a:ln>
          </p:spPr>
        </p:sp>
        <p:sp>
          <p:nvSpPr>
            <p:cNvPr id="237" name="Google Shape;237;p11"/>
            <p:cNvSpPr txBox="1"/>
            <p:nvPr/>
          </p:nvSpPr>
          <p:spPr>
            <a:xfrm>
              <a:off x="0" y="28575"/>
              <a:ext cx="11771200" cy="8526316"/>
            </a:xfrm>
            <a:prstGeom prst="rect">
              <a:avLst/>
            </a:prstGeom>
            <a:noFill/>
            <a:ln>
              <a:noFill/>
            </a:ln>
          </p:spPr>
          <p:txBody>
            <a:bodyPr anchorCtr="0" anchor="b" bIns="0" lIns="0" spcFirstLastPara="1" rIns="0" wrap="square" tIns="0">
              <a:noAutofit/>
            </a:bodyPr>
            <a:lstStyle/>
            <a:p>
              <a:pPr indent="0" lvl="0" marL="0" marR="0" rtl="0" algn="ctr">
                <a:lnSpc>
                  <a:spcPct val="115000"/>
                </a:lnSpc>
                <a:spcBef>
                  <a:spcPts val="0"/>
                </a:spcBef>
                <a:spcAft>
                  <a:spcPts val="0"/>
                </a:spcAft>
                <a:buNone/>
              </a:pPr>
              <a:r>
                <a:rPr b="0" i="0" lang="en-US" sz="11000" u="none" cap="none" strike="noStrike">
                  <a:solidFill>
                    <a:srgbClr val="131416"/>
                  </a:solidFill>
                  <a:latin typeface="Play"/>
                  <a:ea typeface="Play"/>
                  <a:cs typeface="Play"/>
                  <a:sym typeface="Play"/>
                </a:rPr>
                <a:t>Miembros Estáticos y de Instancia</a:t>
              </a:r>
              <a:endParaRPr sz="11000"/>
            </a:p>
          </p:txBody>
        </p:sp>
      </p:grpSp>
      <p:sp>
        <p:nvSpPr>
          <p:cNvPr descr="static method vs instance method delegacion" id="238" name="Google Shape;238;p11"/>
          <p:cNvSpPr/>
          <p:nvPr/>
        </p:nvSpPr>
        <p:spPr>
          <a:xfrm>
            <a:off x="9101067" y="1416568"/>
            <a:ext cx="8778920" cy="6803662"/>
          </a:xfrm>
          <a:custGeom>
            <a:rect b="b" l="l" r="r" t="t"/>
            <a:pathLst>
              <a:path extrusionOk="0" h="6803662" w="8778920">
                <a:moveTo>
                  <a:pt x="0" y="0"/>
                </a:moveTo>
                <a:lnTo>
                  <a:pt x="8778919" y="0"/>
                </a:lnTo>
                <a:lnTo>
                  <a:pt x="8778919" y="6803663"/>
                </a:lnTo>
                <a:lnTo>
                  <a:pt x="0" y="6803663"/>
                </a:lnTo>
                <a:lnTo>
                  <a:pt x="0" y="0"/>
                </a:lnTo>
                <a:close/>
              </a:path>
            </a:pathLst>
          </a:custGeom>
          <a:blipFill rotWithShape="1">
            <a:blip r:embed="rId3">
              <a:alphaModFix/>
            </a:blip>
            <a:stretch>
              <a:fillRect b="0" l="-51" r="-5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2"/>
          <p:cNvSpPr/>
          <p:nvPr/>
        </p:nvSpPr>
        <p:spPr>
          <a:xfrm>
            <a:off x="-931267" y="-519842"/>
            <a:ext cx="20178620" cy="10801926"/>
          </a:xfrm>
          <a:custGeom>
            <a:rect b="b" l="l" r="r" t="t"/>
            <a:pathLst>
              <a:path extrusionOk="0" h="13716731" w="25623645">
                <a:moveTo>
                  <a:pt x="20721932" y="1763"/>
                </a:moveTo>
                <a:cubicBezTo>
                  <a:pt x="22470517" y="30303"/>
                  <a:pt x="24198999" y="606350"/>
                  <a:pt x="25622648" y="1696107"/>
                </a:cubicBezTo>
                <a:lnTo>
                  <a:pt x="25623645" y="1697108"/>
                </a:lnTo>
                <a:lnTo>
                  <a:pt x="25623645" y="13716731"/>
                </a:lnTo>
                <a:lnTo>
                  <a:pt x="0" y="13716731"/>
                </a:lnTo>
                <a:lnTo>
                  <a:pt x="15695774" y="1599473"/>
                </a:lnTo>
                <a:lnTo>
                  <a:pt x="15866001" y="1474801"/>
                </a:lnTo>
                <a:cubicBezTo>
                  <a:pt x="17194741" y="551273"/>
                  <a:pt x="18717626" y="69858"/>
                  <a:pt x="20244583" y="7772"/>
                </a:cubicBezTo>
                <a:cubicBezTo>
                  <a:pt x="20403615" y="1263"/>
                  <a:pt x="20562901" y="0"/>
                  <a:pt x="20721678" y="2014"/>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 name="Google Shape;244;p12"/>
          <p:cNvGrpSpPr/>
          <p:nvPr/>
        </p:nvGrpSpPr>
        <p:grpSpPr>
          <a:xfrm>
            <a:off x="10877835" y="331292"/>
            <a:ext cx="6619788" cy="5101032"/>
            <a:chOff x="0" y="0"/>
            <a:chExt cx="8826384" cy="6801375"/>
          </a:xfrm>
        </p:grpSpPr>
        <p:sp>
          <p:nvSpPr>
            <p:cNvPr id="245" name="Google Shape;245;p12"/>
            <p:cNvSpPr/>
            <p:nvPr/>
          </p:nvSpPr>
          <p:spPr>
            <a:xfrm>
              <a:off x="0" y="0"/>
              <a:ext cx="8826384" cy="5772981"/>
            </a:xfrm>
            <a:custGeom>
              <a:rect b="b" l="l" r="r" t="t"/>
              <a:pathLst>
                <a:path extrusionOk="0" h="5772981" w="8826384">
                  <a:moveTo>
                    <a:pt x="0" y="0"/>
                  </a:moveTo>
                  <a:lnTo>
                    <a:pt x="8826384" y="0"/>
                  </a:lnTo>
                  <a:lnTo>
                    <a:pt x="8826384" y="5772981"/>
                  </a:lnTo>
                  <a:lnTo>
                    <a:pt x="0" y="5772981"/>
                  </a:lnTo>
                  <a:close/>
                </a:path>
              </a:pathLst>
            </a:custGeom>
            <a:solidFill>
              <a:srgbClr val="000000">
                <a:alpha val="0"/>
              </a:srgbClr>
            </a:solidFill>
            <a:ln>
              <a:noFill/>
            </a:ln>
          </p:spPr>
        </p:sp>
        <p:sp>
          <p:nvSpPr>
            <p:cNvPr id="246" name="Google Shape;246;p12"/>
            <p:cNvSpPr txBox="1"/>
            <p:nvPr/>
          </p:nvSpPr>
          <p:spPr>
            <a:xfrm>
              <a:off x="0" y="28575"/>
              <a:ext cx="8826300" cy="6772800"/>
            </a:xfrm>
            <a:prstGeom prst="rect">
              <a:avLst/>
            </a:prstGeom>
            <a:noFill/>
            <a:ln>
              <a:noFill/>
            </a:ln>
          </p:spPr>
          <p:txBody>
            <a:bodyPr anchorCtr="0" anchor="b" bIns="0" lIns="0" spcFirstLastPara="1" rIns="0" wrap="square" tIns="0">
              <a:sp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Miembros de Instancia</a:t>
              </a:r>
              <a:endParaRPr sz="10000"/>
            </a:p>
          </p:txBody>
        </p:sp>
      </p:grpSp>
      <p:grpSp>
        <p:nvGrpSpPr>
          <p:cNvPr id="247" name="Google Shape;247;p12"/>
          <p:cNvGrpSpPr/>
          <p:nvPr/>
        </p:nvGrpSpPr>
        <p:grpSpPr>
          <a:xfrm>
            <a:off x="12405459" y="6549344"/>
            <a:ext cx="5294620" cy="2192449"/>
            <a:chOff x="0" y="-85725"/>
            <a:chExt cx="7059494" cy="2923265"/>
          </a:xfrm>
        </p:grpSpPr>
        <p:sp>
          <p:nvSpPr>
            <p:cNvPr id="248" name="Google Shape;248;p12"/>
            <p:cNvSpPr/>
            <p:nvPr/>
          </p:nvSpPr>
          <p:spPr>
            <a:xfrm>
              <a:off x="0" y="0"/>
              <a:ext cx="7059494" cy="2837540"/>
            </a:xfrm>
            <a:custGeom>
              <a:rect b="b" l="l" r="r" t="t"/>
              <a:pathLst>
                <a:path extrusionOk="0" h="2837540" w="7059494">
                  <a:moveTo>
                    <a:pt x="0" y="0"/>
                  </a:moveTo>
                  <a:lnTo>
                    <a:pt x="7059494" y="0"/>
                  </a:lnTo>
                  <a:lnTo>
                    <a:pt x="7059494" y="2837540"/>
                  </a:lnTo>
                  <a:lnTo>
                    <a:pt x="0" y="2837540"/>
                  </a:lnTo>
                  <a:close/>
                </a:path>
              </a:pathLst>
            </a:custGeom>
            <a:solidFill>
              <a:srgbClr val="000000">
                <a:alpha val="0"/>
              </a:srgbClr>
            </a:solidFill>
            <a:ln>
              <a:noFill/>
            </a:ln>
          </p:spPr>
        </p:sp>
        <p:sp>
          <p:nvSpPr>
            <p:cNvPr id="249" name="Google Shape;249;p12"/>
            <p:cNvSpPr txBox="1"/>
            <p:nvPr/>
          </p:nvSpPr>
          <p:spPr>
            <a:xfrm>
              <a:off x="0" y="-85725"/>
              <a:ext cx="7059494" cy="2923265"/>
            </a:xfrm>
            <a:prstGeom prst="rect">
              <a:avLst/>
            </a:prstGeom>
            <a:noFill/>
            <a:ln>
              <a:noFill/>
            </a:ln>
          </p:spPr>
          <p:txBody>
            <a:bodyPr anchorCtr="0" anchor="t" bIns="0" lIns="0" spcFirstLastPara="1" rIns="0" wrap="square" tIns="0">
              <a:noAutofit/>
            </a:bodyPr>
            <a:lstStyle/>
            <a:p>
              <a:pPr indent="0" lvl="0" marL="0" marR="0" rtl="0" algn="just">
                <a:lnSpc>
                  <a:spcPct val="144000"/>
                </a:lnSpc>
                <a:spcBef>
                  <a:spcPts val="0"/>
                </a:spcBef>
                <a:spcAft>
                  <a:spcPts val="0"/>
                </a:spcAft>
                <a:buNone/>
              </a:pPr>
              <a:r>
                <a:rPr b="0" i="0" lang="en-US" sz="3000" u="none" cap="none" strike="noStrike">
                  <a:solidFill>
                    <a:srgbClr val="000000"/>
                  </a:solidFill>
                  <a:latin typeface="Arimo"/>
                  <a:ea typeface="Arimo"/>
                  <a:cs typeface="Arimo"/>
                  <a:sym typeface="Arimo"/>
                </a:rPr>
                <a:t>Son variables y métodos asociados a una instancia específica de una clase.</a:t>
              </a:r>
              <a:endParaRPr/>
            </a:p>
          </p:txBody>
        </p:sp>
      </p:grpSp>
      <p:pic>
        <p:nvPicPr>
          <p:cNvPr descr="Java para programadores. metodos y variables de clase y de objeto" id="250" name="Google Shape;250;p12"/>
          <p:cNvPicPr preferRelativeResize="0"/>
          <p:nvPr/>
        </p:nvPicPr>
        <p:blipFill rotWithShape="1">
          <a:blip r:embed="rId3">
            <a:alphaModFix/>
          </a:blip>
          <a:srcRect b="0" l="0" r="0" t="0"/>
          <a:stretch/>
        </p:blipFill>
        <p:spPr>
          <a:xfrm>
            <a:off x="1028700" y="2496160"/>
            <a:ext cx="8778920" cy="587741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3"/>
          <p:cNvSpPr/>
          <p:nvPr/>
        </p:nvSpPr>
        <p:spPr>
          <a:xfrm rot="-60000">
            <a:off x="-88374" y="-158802"/>
            <a:ext cx="18464785" cy="10604659"/>
          </a:xfrm>
          <a:custGeom>
            <a:rect b="b" l="l" r="r" t="t"/>
            <a:pathLst>
              <a:path extrusionOk="0" h="14139545" w="24619713">
                <a:moveTo>
                  <a:pt x="239395" y="0"/>
                </a:moveTo>
                <a:lnTo>
                  <a:pt x="24619713" y="425577"/>
                </a:lnTo>
                <a:lnTo>
                  <a:pt x="24380318" y="14139545"/>
                </a:lnTo>
                <a:lnTo>
                  <a:pt x="0" y="13713968"/>
                </a:lnTo>
                <a:close/>
              </a:path>
            </a:pathLst>
          </a:custGeom>
          <a:gradFill>
            <a:gsLst>
              <a:gs pos="0">
                <a:srgbClr val="F0F3F3"/>
              </a:gs>
              <a:gs pos="32000">
                <a:srgbClr val="F0F3F3"/>
              </a:gs>
              <a:gs pos="100000">
                <a:srgbClr val="F18F7F"/>
              </a:gs>
            </a:gsLst>
            <a:lin ang="14460000" scaled="0"/>
          </a:gradFill>
          <a:ln>
            <a:noFill/>
          </a:ln>
        </p:spPr>
      </p:sp>
      <p:grpSp>
        <p:nvGrpSpPr>
          <p:cNvPr id="256" name="Google Shape;256;p13"/>
          <p:cNvGrpSpPr/>
          <p:nvPr/>
        </p:nvGrpSpPr>
        <p:grpSpPr>
          <a:xfrm>
            <a:off x="448823" y="439737"/>
            <a:ext cx="11217376" cy="2758338"/>
            <a:chOff x="-14" y="0"/>
            <a:chExt cx="14956500" cy="3677784"/>
          </a:xfrm>
        </p:grpSpPr>
        <p:sp>
          <p:nvSpPr>
            <p:cNvPr id="257" name="Google Shape;257;p13"/>
            <p:cNvSpPr/>
            <p:nvPr/>
          </p:nvSpPr>
          <p:spPr>
            <a:xfrm>
              <a:off x="0" y="0"/>
              <a:ext cx="12591366" cy="3677655"/>
            </a:xfrm>
            <a:custGeom>
              <a:rect b="b" l="l" r="r" t="t"/>
              <a:pathLst>
                <a:path extrusionOk="0" h="3677655" w="12591366">
                  <a:moveTo>
                    <a:pt x="0" y="0"/>
                  </a:moveTo>
                  <a:lnTo>
                    <a:pt x="12591366" y="0"/>
                  </a:lnTo>
                  <a:lnTo>
                    <a:pt x="12591366" y="3677655"/>
                  </a:lnTo>
                  <a:lnTo>
                    <a:pt x="0" y="3677655"/>
                  </a:lnTo>
                  <a:close/>
                </a:path>
              </a:pathLst>
            </a:custGeom>
            <a:solidFill>
              <a:srgbClr val="000000">
                <a:alpha val="0"/>
              </a:srgbClr>
            </a:solidFill>
            <a:ln>
              <a:noFill/>
            </a:ln>
          </p:spPr>
        </p:sp>
        <p:sp>
          <p:nvSpPr>
            <p:cNvPr id="258" name="Google Shape;258;p13"/>
            <p:cNvSpPr txBox="1"/>
            <p:nvPr/>
          </p:nvSpPr>
          <p:spPr>
            <a:xfrm>
              <a:off x="-14" y="28584"/>
              <a:ext cx="14956500" cy="36492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Características</a:t>
              </a:r>
              <a:endParaRPr/>
            </a:p>
          </p:txBody>
        </p:sp>
      </p:grpSp>
      <p:sp>
        <p:nvSpPr>
          <p:cNvPr id="259" name="Google Shape;259;p13"/>
          <p:cNvSpPr/>
          <p:nvPr/>
        </p:nvSpPr>
        <p:spPr>
          <a:xfrm>
            <a:off x="7944669" y="4422862"/>
            <a:ext cx="2521934" cy="2521934"/>
          </a:xfrm>
          <a:custGeom>
            <a:rect b="b" l="l" r="r" t="t"/>
            <a:pathLst>
              <a:path extrusionOk="0" h="3362579" w="3362579">
                <a:moveTo>
                  <a:pt x="999617" y="0"/>
                </a:moveTo>
                <a:lnTo>
                  <a:pt x="3362579" y="0"/>
                </a:lnTo>
                <a:lnTo>
                  <a:pt x="3362579" y="2362962"/>
                </a:lnTo>
                <a:cubicBezTo>
                  <a:pt x="3362579" y="2915031"/>
                  <a:pt x="2915031" y="3362579"/>
                  <a:pt x="2362962" y="3362579"/>
                </a:cubicBezTo>
                <a:lnTo>
                  <a:pt x="0" y="3362579"/>
                </a:lnTo>
                <a:lnTo>
                  <a:pt x="0" y="999617"/>
                </a:lnTo>
                <a:cubicBezTo>
                  <a:pt x="0" y="447548"/>
                  <a:pt x="447548" y="0"/>
                  <a:pt x="999617" y="0"/>
                </a:cubicBezTo>
                <a:close/>
              </a:path>
            </a:pathLst>
          </a:custGeom>
          <a:solidFill>
            <a:srgbClr val="D517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8482139" y="4960331"/>
            <a:ext cx="1447031" cy="1447031"/>
          </a:xfrm>
          <a:custGeom>
            <a:rect b="b" l="l" r="r" t="t"/>
            <a:pathLst>
              <a:path extrusionOk="0" h="1447031" w="1447031">
                <a:moveTo>
                  <a:pt x="0" y="0"/>
                </a:moveTo>
                <a:lnTo>
                  <a:pt x="1447030" y="0"/>
                </a:lnTo>
                <a:lnTo>
                  <a:pt x="1447030" y="1447031"/>
                </a:lnTo>
                <a:lnTo>
                  <a:pt x="0" y="1447031"/>
                </a:lnTo>
                <a:lnTo>
                  <a:pt x="0" y="0"/>
                </a:lnTo>
                <a:close/>
              </a:path>
            </a:pathLst>
          </a:custGeom>
          <a:blipFill rotWithShape="1">
            <a:blip r:embed="rId3">
              <a:alphaModFix/>
            </a:blip>
            <a:stretch>
              <a:fillRect b="0" l="0" r="0" t="0"/>
            </a:stretch>
          </a:blipFill>
          <a:ln>
            <a:noFill/>
          </a:ln>
        </p:spPr>
      </p:sp>
      <p:grpSp>
        <p:nvGrpSpPr>
          <p:cNvPr id="261" name="Google Shape;261;p13"/>
          <p:cNvGrpSpPr/>
          <p:nvPr/>
        </p:nvGrpSpPr>
        <p:grpSpPr>
          <a:xfrm>
            <a:off x="7133705" y="7725599"/>
            <a:ext cx="4143900" cy="1089525"/>
            <a:chOff x="0" y="0"/>
            <a:chExt cx="5525200" cy="1452700"/>
          </a:xfrm>
        </p:grpSpPr>
        <p:sp>
          <p:nvSpPr>
            <p:cNvPr id="262" name="Google Shape;262;p13"/>
            <p:cNvSpPr/>
            <p:nvPr/>
          </p:nvSpPr>
          <p:spPr>
            <a:xfrm>
              <a:off x="0" y="0"/>
              <a:ext cx="5525200" cy="1452700"/>
            </a:xfrm>
            <a:custGeom>
              <a:rect b="b" l="l" r="r" t="t"/>
              <a:pathLst>
                <a:path extrusionOk="0" h="1452700" w="5525200">
                  <a:moveTo>
                    <a:pt x="0" y="0"/>
                  </a:moveTo>
                  <a:lnTo>
                    <a:pt x="5525200" y="0"/>
                  </a:lnTo>
                  <a:lnTo>
                    <a:pt x="5525200" y="1452700"/>
                  </a:lnTo>
                  <a:lnTo>
                    <a:pt x="0" y="1452700"/>
                  </a:lnTo>
                  <a:close/>
                </a:path>
              </a:pathLst>
            </a:custGeom>
            <a:solidFill>
              <a:srgbClr val="000000">
                <a:alpha val="0"/>
              </a:srgbClr>
            </a:solidFill>
            <a:ln>
              <a:noFill/>
            </a:ln>
          </p:spPr>
        </p:sp>
        <p:sp>
          <p:nvSpPr>
            <p:cNvPr id="263" name="Google Shape;263;p13"/>
            <p:cNvSpPr txBox="1"/>
            <p:nvPr/>
          </p:nvSpPr>
          <p:spPr>
            <a:xfrm>
              <a:off x="0" y="19050"/>
              <a:ext cx="5525200" cy="143365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0" i="0" lang="en-US" sz="2400" u="none" cap="none" strike="noStrike">
                  <a:solidFill>
                    <a:srgbClr val="000000"/>
                  </a:solidFill>
                  <a:latin typeface="Arimo"/>
                  <a:ea typeface="Arimo"/>
                  <a:cs typeface="Arimo"/>
                  <a:sym typeface="Arimo"/>
                </a:rPr>
                <a:t>Cada objeto tiene su propia copia de los miembros de instancia.</a:t>
              </a:r>
              <a:endParaRPr/>
            </a:p>
          </p:txBody>
        </p:sp>
      </p:grpSp>
      <p:sp>
        <p:nvSpPr>
          <p:cNvPr id="264" name="Google Shape;264;p13"/>
          <p:cNvSpPr/>
          <p:nvPr/>
        </p:nvSpPr>
        <p:spPr>
          <a:xfrm>
            <a:off x="12802560" y="4422862"/>
            <a:ext cx="2521934" cy="2521934"/>
          </a:xfrm>
          <a:custGeom>
            <a:rect b="b" l="l" r="r" t="t"/>
            <a:pathLst>
              <a:path extrusionOk="0" h="3362579" w="3362579">
                <a:moveTo>
                  <a:pt x="999617" y="0"/>
                </a:moveTo>
                <a:lnTo>
                  <a:pt x="3362579" y="0"/>
                </a:lnTo>
                <a:lnTo>
                  <a:pt x="3362579" y="2362962"/>
                </a:lnTo>
                <a:cubicBezTo>
                  <a:pt x="3362579" y="2915031"/>
                  <a:pt x="2915031" y="3362579"/>
                  <a:pt x="2362962" y="3362579"/>
                </a:cubicBezTo>
                <a:lnTo>
                  <a:pt x="0" y="3362579"/>
                </a:lnTo>
                <a:lnTo>
                  <a:pt x="0" y="999617"/>
                </a:lnTo>
                <a:cubicBezTo>
                  <a:pt x="0" y="447548"/>
                  <a:pt x="447548" y="0"/>
                  <a:pt x="999617" y="0"/>
                </a:cubicBezTo>
                <a:close/>
              </a:path>
            </a:pathLst>
          </a:custGeom>
          <a:solidFill>
            <a:srgbClr val="E72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13340030" y="4960331"/>
            <a:ext cx="1447030" cy="1447031"/>
          </a:xfrm>
          <a:custGeom>
            <a:rect b="b" l="l" r="r" t="t"/>
            <a:pathLst>
              <a:path extrusionOk="0" h="1447031" w="1447030">
                <a:moveTo>
                  <a:pt x="0" y="0"/>
                </a:moveTo>
                <a:lnTo>
                  <a:pt x="1447030" y="0"/>
                </a:lnTo>
                <a:lnTo>
                  <a:pt x="1447030" y="1447031"/>
                </a:lnTo>
                <a:lnTo>
                  <a:pt x="0" y="1447031"/>
                </a:lnTo>
                <a:lnTo>
                  <a:pt x="0" y="0"/>
                </a:lnTo>
                <a:close/>
              </a:path>
            </a:pathLst>
          </a:custGeom>
          <a:blipFill rotWithShape="1">
            <a:blip r:embed="rId4">
              <a:alphaModFix/>
            </a:blip>
            <a:stretch>
              <a:fillRect b="0" l="0" r="0" t="0"/>
            </a:stretch>
          </a:blipFill>
          <a:ln>
            <a:noFill/>
          </a:ln>
        </p:spPr>
      </p:sp>
      <p:grpSp>
        <p:nvGrpSpPr>
          <p:cNvPr id="266" name="Google Shape;266;p13"/>
          <p:cNvGrpSpPr/>
          <p:nvPr/>
        </p:nvGrpSpPr>
        <p:grpSpPr>
          <a:xfrm>
            <a:off x="11991594" y="7725599"/>
            <a:ext cx="4143900" cy="1089525"/>
            <a:chOff x="0" y="0"/>
            <a:chExt cx="5525200" cy="1452700"/>
          </a:xfrm>
        </p:grpSpPr>
        <p:sp>
          <p:nvSpPr>
            <p:cNvPr id="267" name="Google Shape;267;p13"/>
            <p:cNvSpPr/>
            <p:nvPr/>
          </p:nvSpPr>
          <p:spPr>
            <a:xfrm>
              <a:off x="0" y="0"/>
              <a:ext cx="5525200" cy="1452700"/>
            </a:xfrm>
            <a:custGeom>
              <a:rect b="b" l="l" r="r" t="t"/>
              <a:pathLst>
                <a:path extrusionOk="0" h="1452700" w="5525200">
                  <a:moveTo>
                    <a:pt x="0" y="0"/>
                  </a:moveTo>
                  <a:lnTo>
                    <a:pt x="5525200" y="0"/>
                  </a:lnTo>
                  <a:lnTo>
                    <a:pt x="5525200" y="1452700"/>
                  </a:lnTo>
                  <a:lnTo>
                    <a:pt x="0" y="1452700"/>
                  </a:lnTo>
                  <a:close/>
                </a:path>
              </a:pathLst>
            </a:custGeom>
            <a:solidFill>
              <a:srgbClr val="000000">
                <a:alpha val="0"/>
              </a:srgbClr>
            </a:solidFill>
            <a:ln>
              <a:noFill/>
            </a:ln>
          </p:spPr>
        </p:sp>
        <p:sp>
          <p:nvSpPr>
            <p:cNvPr id="268" name="Google Shape;268;p13"/>
            <p:cNvSpPr txBox="1"/>
            <p:nvPr/>
          </p:nvSpPr>
          <p:spPr>
            <a:xfrm>
              <a:off x="0" y="19050"/>
              <a:ext cx="5525200" cy="143365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0" i="0" lang="en-US" sz="2400" u="none" cap="none" strike="noStrike">
                  <a:solidFill>
                    <a:srgbClr val="000000"/>
                  </a:solidFill>
                  <a:latin typeface="Arimo"/>
                  <a:ea typeface="Arimo"/>
                  <a:cs typeface="Arimo"/>
                  <a:sym typeface="Arimo"/>
                </a:rPr>
                <a:t>Se acceden mediante una referencia a un objeto.</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4"/>
          <p:cNvSpPr/>
          <p:nvPr/>
        </p:nvSpPr>
        <p:spPr>
          <a:xfrm>
            <a:off x="8694602" y="5067860"/>
            <a:ext cx="9591865" cy="5219129"/>
          </a:xfrm>
          <a:custGeom>
            <a:rect b="b" l="l" r="r" t="t"/>
            <a:pathLst>
              <a:path extrusionOk="0" h="6958838" w="12789154">
                <a:moveTo>
                  <a:pt x="10342626" y="1270"/>
                </a:moveTo>
                <a:cubicBezTo>
                  <a:pt x="11215370" y="15748"/>
                  <a:pt x="12078081" y="307975"/>
                  <a:pt x="12788647" y="860806"/>
                </a:cubicBezTo>
                <a:lnTo>
                  <a:pt x="12789154" y="861314"/>
                </a:lnTo>
                <a:lnTo>
                  <a:pt x="12789154" y="6958838"/>
                </a:lnTo>
                <a:lnTo>
                  <a:pt x="0" y="6958838"/>
                </a:lnTo>
                <a:lnTo>
                  <a:pt x="7833995" y="811784"/>
                </a:lnTo>
                <a:lnTo>
                  <a:pt x="7918958" y="748538"/>
                </a:lnTo>
                <a:cubicBezTo>
                  <a:pt x="8582152" y="280035"/>
                  <a:pt x="9342247" y="35814"/>
                  <a:pt x="10104374" y="4318"/>
                </a:cubicBezTo>
                <a:cubicBezTo>
                  <a:pt x="10183749" y="1016"/>
                  <a:pt x="10263251" y="0"/>
                  <a:pt x="10342499" y="1397"/>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p:nvPr/>
        </p:nvSpPr>
        <p:spPr>
          <a:xfrm>
            <a:off x="0" y="0"/>
            <a:ext cx="6437185" cy="2743772"/>
          </a:xfrm>
          <a:custGeom>
            <a:rect b="b" l="l" r="r" t="t"/>
            <a:pathLst>
              <a:path extrusionOk="0" h="3658362" w="8582914">
                <a:moveTo>
                  <a:pt x="0" y="0"/>
                </a:moveTo>
                <a:lnTo>
                  <a:pt x="8582914" y="0"/>
                </a:lnTo>
                <a:lnTo>
                  <a:pt x="4955159" y="2846578"/>
                </a:lnTo>
                <a:lnTo>
                  <a:pt x="4870196" y="2909824"/>
                </a:lnTo>
                <a:cubicBezTo>
                  <a:pt x="4206875" y="3378200"/>
                  <a:pt x="3446907" y="3622421"/>
                  <a:pt x="2684653" y="3654044"/>
                </a:cubicBezTo>
                <a:cubicBezTo>
                  <a:pt x="2605278" y="3657346"/>
                  <a:pt x="2525776" y="3658362"/>
                  <a:pt x="2446528" y="3656965"/>
                </a:cubicBezTo>
                <a:cubicBezTo>
                  <a:pt x="1573784" y="3642487"/>
                  <a:pt x="711073" y="3350260"/>
                  <a:pt x="508" y="2797429"/>
                </a:cubicBezTo>
                <a:lnTo>
                  <a:pt x="0" y="2796921"/>
                </a:lnTo>
                <a:close/>
              </a:path>
            </a:pathLst>
          </a:custGeom>
          <a:gradFill>
            <a:gsLst>
              <a:gs pos="0">
                <a:srgbClr val="F0F3F3"/>
              </a:gs>
              <a:gs pos="28000">
                <a:srgbClr val="F0F3F3"/>
              </a:gs>
              <a:gs pos="100000">
                <a:srgbClr val="F18F7F"/>
              </a:gs>
            </a:gsLst>
            <a:lin ang="18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rot="-60000">
            <a:off x="6930293" y="4217703"/>
            <a:ext cx="11403521" cy="6167533"/>
          </a:xfrm>
          <a:custGeom>
            <a:rect b="b" l="l" r="r" t="t"/>
            <a:pathLst>
              <a:path extrusionOk="0" h="8223377" w="15204694">
                <a:moveTo>
                  <a:pt x="12672568" y="4445"/>
                </a:moveTo>
                <a:cubicBezTo>
                  <a:pt x="13523849" y="33401"/>
                  <a:pt x="14365351" y="247142"/>
                  <a:pt x="15132558" y="636524"/>
                </a:cubicBezTo>
                <a:lnTo>
                  <a:pt x="15204694" y="675767"/>
                </a:lnTo>
                <a:lnTo>
                  <a:pt x="15072995" y="8223377"/>
                </a:lnTo>
                <a:lnTo>
                  <a:pt x="0" y="7960360"/>
                </a:lnTo>
                <a:lnTo>
                  <a:pt x="9062212" y="1101598"/>
                </a:lnTo>
                <a:lnTo>
                  <a:pt x="9185402" y="1013079"/>
                </a:lnTo>
                <a:cubicBezTo>
                  <a:pt x="10146284" y="359410"/>
                  <a:pt x="11240008" y="28829"/>
                  <a:pt x="12331700" y="2667"/>
                </a:cubicBezTo>
                <a:cubicBezTo>
                  <a:pt x="12445365" y="0"/>
                  <a:pt x="12559157" y="508"/>
                  <a:pt x="12672568" y="4445"/>
                </a:cubicBezTo>
                <a:close/>
              </a:path>
            </a:pathLst>
          </a:custGeom>
          <a:gradFill>
            <a:gsLst>
              <a:gs pos="0">
                <a:srgbClr val="F0F3F3"/>
              </a:gs>
              <a:gs pos="32000">
                <a:srgbClr val="F0F3F3"/>
              </a:gs>
              <a:gs pos="100000">
                <a:srgbClr val="F18F7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 name="Google Shape;276;p14"/>
          <p:cNvGrpSpPr/>
          <p:nvPr/>
        </p:nvGrpSpPr>
        <p:grpSpPr>
          <a:xfrm>
            <a:off x="297121" y="252792"/>
            <a:ext cx="7065554" cy="5466689"/>
            <a:chOff x="-2274528" y="-4756797"/>
            <a:chExt cx="12332928" cy="9542107"/>
          </a:xfrm>
        </p:grpSpPr>
        <p:sp>
          <p:nvSpPr>
            <p:cNvPr id="277" name="Google Shape;277;p14"/>
            <p:cNvSpPr/>
            <p:nvPr/>
          </p:nvSpPr>
          <p:spPr>
            <a:xfrm>
              <a:off x="0" y="0"/>
              <a:ext cx="10058400" cy="4785310"/>
            </a:xfrm>
            <a:custGeom>
              <a:rect b="b" l="l" r="r" t="t"/>
              <a:pathLst>
                <a:path extrusionOk="0" h="4785310" w="10058400">
                  <a:moveTo>
                    <a:pt x="0" y="0"/>
                  </a:moveTo>
                  <a:lnTo>
                    <a:pt x="10058400" y="0"/>
                  </a:lnTo>
                  <a:lnTo>
                    <a:pt x="10058400" y="4785310"/>
                  </a:lnTo>
                  <a:lnTo>
                    <a:pt x="0" y="4785310"/>
                  </a:lnTo>
                  <a:close/>
                </a:path>
              </a:pathLst>
            </a:custGeom>
            <a:solidFill>
              <a:srgbClr val="000000">
                <a:alpha val="0"/>
              </a:srgbClr>
            </a:solidFill>
            <a:ln>
              <a:noFill/>
            </a:ln>
          </p:spPr>
        </p:sp>
        <p:sp>
          <p:nvSpPr>
            <p:cNvPr id="278" name="Google Shape;278;p14"/>
            <p:cNvSpPr txBox="1"/>
            <p:nvPr/>
          </p:nvSpPr>
          <p:spPr>
            <a:xfrm>
              <a:off x="-2274528" y="-4756797"/>
              <a:ext cx="11485800" cy="4756800"/>
            </a:xfrm>
            <a:prstGeom prst="rect">
              <a:avLst/>
            </a:prstGeom>
            <a:noFill/>
            <a:ln>
              <a:noFill/>
            </a:ln>
          </p:spPr>
          <p:txBody>
            <a:bodyPr anchorCtr="0" anchor="b" bIns="0" lIns="0" spcFirstLastPara="1" rIns="0" wrap="square" tIns="0">
              <a:noAutofit/>
            </a:bodyPr>
            <a:lstStyle/>
            <a:p>
              <a:pPr indent="0" lvl="0" marL="0" marR="0" rtl="0" algn="ctr">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Ejemplo</a:t>
              </a:r>
              <a:endParaRPr/>
            </a:p>
          </p:txBody>
        </p:sp>
      </p:grpSp>
      <p:sp>
        <p:nvSpPr>
          <p:cNvPr id="279" name="Google Shape;279;p14"/>
          <p:cNvSpPr/>
          <p:nvPr/>
        </p:nvSpPr>
        <p:spPr>
          <a:xfrm>
            <a:off x="7362675" y="2565878"/>
            <a:ext cx="9896625" cy="3565695"/>
          </a:xfrm>
          <a:custGeom>
            <a:rect b="b" l="l" r="r" t="t"/>
            <a:pathLst>
              <a:path extrusionOk="0" h="3565695" w="9896625">
                <a:moveTo>
                  <a:pt x="0" y="0"/>
                </a:moveTo>
                <a:lnTo>
                  <a:pt x="9896625" y="0"/>
                </a:lnTo>
                <a:lnTo>
                  <a:pt x="9896625" y="3565695"/>
                </a:lnTo>
                <a:lnTo>
                  <a:pt x="0" y="356569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grpSp>
        <p:nvGrpSpPr>
          <p:cNvPr id="284" name="Google Shape;284;p15"/>
          <p:cNvGrpSpPr/>
          <p:nvPr/>
        </p:nvGrpSpPr>
        <p:grpSpPr>
          <a:xfrm>
            <a:off x="1596873" y="761083"/>
            <a:ext cx="13330326" cy="2720468"/>
            <a:chOff x="0" y="0"/>
            <a:chExt cx="17773768" cy="3627291"/>
          </a:xfrm>
        </p:grpSpPr>
        <p:sp>
          <p:nvSpPr>
            <p:cNvPr id="285" name="Google Shape;285;p15"/>
            <p:cNvSpPr/>
            <p:nvPr/>
          </p:nvSpPr>
          <p:spPr>
            <a:xfrm>
              <a:off x="0" y="0"/>
              <a:ext cx="17773768" cy="3627291"/>
            </a:xfrm>
            <a:custGeom>
              <a:rect b="b" l="l" r="r" t="t"/>
              <a:pathLst>
                <a:path extrusionOk="0" h="3627291" w="17773768">
                  <a:moveTo>
                    <a:pt x="0" y="0"/>
                  </a:moveTo>
                  <a:lnTo>
                    <a:pt x="17773768" y="0"/>
                  </a:lnTo>
                  <a:lnTo>
                    <a:pt x="17773768" y="3627291"/>
                  </a:lnTo>
                  <a:lnTo>
                    <a:pt x="0" y="3627291"/>
                  </a:lnTo>
                  <a:close/>
                </a:path>
              </a:pathLst>
            </a:custGeom>
            <a:solidFill>
              <a:srgbClr val="000000">
                <a:alpha val="0"/>
              </a:srgbClr>
            </a:solidFill>
            <a:ln>
              <a:noFill/>
            </a:ln>
          </p:spPr>
        </p:sp>
        <p:sp>
          <p:nvSpPr>
            <p:cNvPr id="286" name="Google Shape;286;p15"/>
            <p:cNvSpPr txBox="1"/>
            <p:nvPr/>
          </p:nvSpPr>
          <p:spPr>
            <a:xfrm>
              <a:off x="0" y="28575"/>
              <a:ext cx="17773768" cy="3598716"/>
            </a:xfrm>
            <a:prstGeom prst="rect">
              <a:avLst/>
            </a:prstGeom>
            <a:noFill/>
            <a:ln>
              <a:noFill/>
            </a:ln>
          </p:spPr>
          <p:txBody>
            <a:bodyPr anchorCtr="0" anchor="b" bIns="0" lIns="0" spcFirstLastPara="1" rIns="0" wrap="square" tIns="0">
              <a:noAutofit/>
            </a:bodyPr>
            <a:lstStyle/>
            <a:p>
              <a:pPr indent="0" lvl="0" marL="0" marR="0" rtl="0" algn="ctr">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Características</a:t>
              </a:r>
              <a:endParaRPr/>
            </a:p>
          </p:txBody>
        </p:sp>
      </p:grpSp>
      <p:grpSp>
        <p:nvGrpSpPr>
          <p:cNvPr id="287" name="Google Shape;287;p15"/>
          <p:cNvGrpSpPr/>
          <p:nvPr/>
        </p:nvGrpSpPr>
        <p:grpSpPr>
          <a:xfrm>
            <a:off x="1596873" y="3844126"/>
            <a:ext cx="5728716" cy="3644646"/>
            <a:chOff x="0" y="0"/>
            <a:chExt cx="7638288" cy="4859528"/>
          </a:xfrm>
        </p:grpSpPr>
        <p:sp>
          <p:nvSpPr>
            <p:cNvPr id="288" name="Google Shape;288;p15"/>
            <p:cNvSpPr/>
            <p:nvPr/>
          </p:nvSpPr>
          <p:spPr>
            <a:xfrm>
              <a:off x="12700" y="12700"/>
              <a:ext cx="7612888" cy="4834128"/>
            </a:xfrm>
            <a:custGeom>
              <a:rect b="b" l="l" r="r" t="t"/>
              <a:pathLst>
                <a:path extrusionOk="0" h="4834128" w="7612888">
                  <a:moveTo>
                    <a:pt x="0" y="483362"/>
                  </a:moveTo>
                  <a:cubicBezTo>
                    <a:pt x="0" y="216408"/>
                    <a:pt x="216789" y="0"/>
                    <a:pt x="484378" y="0"/>
                  </a:cubicBezTo>
                  <a:lnTo>
                    <a:pt x="7128510" y="0"/>
                  </a:lnTo>
                  <a:cubicBezTo>
                    <a:pt x="7395972" y="0"/>
                    <a:pt x="7612888" y="216408"/>
                    <a:pt x="7612888" y="483362"/>
                  </a:cubicBezTo>
                  <a:lnTo>
                    <a:pt x="7612888" y="4350766"/>
                  </a:lnTo>
                  <a:cubicBezTo>
                    <a:pt x="7612888" y="4617720"/>
                    <a:pt x="7396099" y="4834128"/>
                    <a:pt x="7128510" y="4834128"/>
                  </a:cubicBezTo>
                  <a:lnTo>
                    <a:pt x="484378" y="4834128"/>
                  </a:lnTo>
                  <a:cubicBezTo>
                    <a:pt x="216789" y="4834128"/>
                    <a:pt x="0" y="4617720"/>
                    <a:pt x="0" y="4350766"/>
                  </a:cubicBezTo>
                  <a:close/>
                </a:path>
              </a:pathLst>
            </a:custGeom>
            <a:solidFill>
              <a:srgbClr val="E744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0" y="0"/>
              <a:ext cx="7638288" cy="4859528"/>
            </a:xfrm>
            <a:custGeom>
              <a:rect b="b" l="l" r="r" t="t"/>
              <a:pathLst>
                <a:path extrusionOk="0" h="4859528" w="7638288">
                  <a:moveTo>
                    <a:pt x="0" y="496062"/>
                  </a:moveTo>
                  <a:cubicBezTo>
                    <a:pt x="0" y="222123"/>
                    <a:pt x="222504" y="0"/>
                    <a:pt x="497078" y="0"/>
                  </a:cubicBezTo>
                  <a:lnTo>
                    <a:pt x="7141210" y="0"/>
                  </a:lnTo>
                  <a:lnTo>
                    <a:pt x="7141210" y="12700"/>
                  </a:lnTo>
                  <a:lnTo>
                    <a:pt x="7141210" y="0"/>
                  </a:lnTo>
                  <a:cubicBezTo>
                    <a:pt x="7415657" y="0"/>
                    <a:pt x="7638288" y="222123"/>
                    <a:pt x="7638288" y="496062"/>
                  </a:cubicBezTo>
                  <a:lnTo>
                    <a:pt x="7625588" y="496062"/>
                  </a:lnTo>
                  <a:lnTo>
                    <a:pt x="7638288" y="496062"/>
                  </a:lnTo>
                  <a:lnTo>
                    <a:pt x="7638288" y="4363466"/>
                  </a:lnTo>
                  <a:lnTo>
                    <a:pt x="7625588" y="4363466"/>
                  </a:lnTo>
                  <a:lnTo>
                    <a:pt x="7638288" y="4363466"/>
                  </a:lnTo>
                  <a:cubicBezTo>
                    <a:pt x="7638288" y="4637532"/>
                    <a:pt x="7415784" y="4859528"/>
                    <a:pt x="7141210" y="4859528"/>
                  </a:cubicBezTo>
                  <a:lnTo>
                    <a:pt x="7141210" y="4846828"/>
                  </a:lnTo>
                  <a:lnTo>
                    <a:pt x="7141210" y="4859528"/>
                  </a:lnTo>
                  <a:lnTo>
                    <a:pt x="497078" y="4859528"/>
                  </a:lnTo>
                  <a:lnTo>
                    <a:pt x="497078" y="4846828"/>
                  </a:lnTo>
                  <a:lnTo>
                    <a:pt x="497078" y="4859528"/>
                  </a:lnTo>
                  <a:cubicBezTo>
                    <a:pt x="222504" y="4859528"/>
                    <a:pt x="0" y="4637405"/>
                    <a:pt x="0" y="4363466"/>
                  </a:cubicBezTo>
                  <a:lnTo>
                    <a:pt x="0" y="496062"/>
                  </a:lnTo>
                  <a:lnTo>
                    <a:pt x="12700" y="496062"/>
                  </a:lnTo>
                  <a:lnTo>
                    <a:pt x="0" y="496062"/>
                  </a:lnTo>
                  <a:moveTo>
                    <a:pt x="25400" y="496062"/>
                  </a:moveTo>
                  <a:lnTo>
                    <a:pt x="25400" y="4363466"/>
                  </a:lnTo>
                  <a:lnTo>
                    <a:pt x="12700" y="4363466"/>
                  </a:lnTo>
                  <a:lnTo>
                    <a:pt x="25400" y="4363466"/>
                  </a:lnTo>
                  <a:cubicBezTo>
                    <a:pt x="25400" y="4623435"/>
                    <a:pt x="236601" y="4834128"/>
                    <a:pt x="497078" y="4834128"/>
                  </a:cubicBezTo>
                  <a:lnTo>
                    <a:pt x="7141210" y="4834128"/>
                  </a:lnTo>
                  <a:cubicBezTo>
                    <a:pt x="7401687" y="4834128"/>
                    <a:pt x="7612888" y="4623308"/>
                    <a:pt x="7612888" y="4363466"/>
                  </a:cubicBezTo>
                  <a:lnTo>
                    <a:pt x="7612888" y="496062"/>
                  </a:lnTo>
                  <a:cubicBezTo>
                    <a:pt x="7612888" y="236220"/>
                    <a:pt x="7401687" y="25400"/>
                    <a:pt x="7141210" y="25400"/>
                  </a:cubicBezTo>
                  <a:lnTo>
                    <a:pt x="497078" y="25400"/>
                  </a:lnTo>
                  <a:lnTo>
                    <a:pt x="497078" y="12700"/>
                  </a:lnTo>
                  <a:lnTo>
                    <a:pt x="497078" y="25400"/>
                  </a:lnTo>
                  <a:cubicBezTo>
                    <a:pt x="236601" y="25400"/>
                    <a:pt x="25400" y="236220"/>
                    <a:pt x="25400" y="49606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 name="Google Shape;290;p15"/>
          <p:cNvGrpSpPr/>
          <p:nvPr/>
        </p:nvGrpSpPr>
        <p:grpSpPr>
          <a:xfrm>
            <a:off x="2231277" y="4446812"/>
            <a:ext cx="5728716" cy="3644646"/>
            <a:chOff x="0" y="0"/>
            <a:chExt cx="7638288" cy="4859528"/>
          </a:xfrm>
        </p:grpSpPr>
        <p:sp>
          <p:nvSpPr>
            <p:cNvPr id="291" name="Google Shape;291;p15"/>
            <p:cNvSpPr/>
            <p:nvPr/>
          </p:nvSpPr>
          <p:spPr>
            <a:xfrm>
              <a:off x="12700" y="12700"/>
              <a:ext cx="7612888" cy="4834128"/>
            </a:xfrm>
            <a:custGeom>
              <a:rect b="b" l="l" r="r" t="t"/>
              <a:pathLst>
                <a:path extrusionOk="0" h="4834128" w="7612888">
                  <a:moveTo>
                    <a:pt x="0" y="483362"/>
                  </a:moveTo>
                  <a:cubicBezTo>
                    <a:pt x="0" y="216408"/>
                    <a:pt x="216789" y="0"/>
                    <a:pt x="484378" y="0"/>
                  </a:cubicBezTo>
                  <a:lnTo>
                    <a:pt x="7128510" y="0"/>
                  </a:lnTo>
                  <a:cubicBezTo>
                    <a:pt x="7395972" y="0"/>
                    <a:pt x="7612888" y="216408"/>
                    <a:pt x="7612888" y="483362"/>
                  </a:cubicBezTo>
                  <a:lnTo>
                    <a:pt x="7612888" y="4350766"/>
                  </a:lnTo>
                  <a:cubicBezTo>
                    <a:pt x="7612888" y="4617720"/>
                    <a:pt x="7396099" y="4834128"/>
                    <a:pt x="7128510" y="4834128"/>
                  </a:cubicBezTo>
                  <a:lnTo>
                    <a:pt x="484378" y="4834128"/>
                  </a:lnTo>
                  <a:cubicBezTo>
                    <a:pt x="216789" y="4834128"/>
                    <a:pt x="0" y="4617720"/>
                    <a:pt x="0" y="4350766"/>
                  </a:cubicBezTo>
                  <a:close/>
                </a:path>
              </a:pathLst>
            </a:custGeom>
            <a:solidFill>
              <a:srgbClr val="FFFFFF">
                <a:alpha val="8039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0" y="0"/>
              <a:ext cx="7638288" cy="4859528"/>
            </a:xfrm>
            <a:custGeom>
              <a:rect b="b" l="l" r="r" t="t"/>
              <a:pathLst>
                <a:path extrusionOk="0" h="4859528" w="7638288">
                  <a:moveTo>
                    <a:pt x="0" y="496062"/>
                  </a:moveTo>
                  <a:cubicBezTo>
                    <a:pt x="0" y="222123"/>
                    <a:pt x="222504" y="0"/>
                    <a:pt x="497078" y="0"/>
                  </a:cubicBezTo>
                  <a:lnTo>
                    <a:pt x="7141210" y="0"/>
                  </a:lnTo>
                  <a:lnTo>
                    <a:pt x="7141210" y="12700"/>
                  </a:lnTo>
                  <a:lnTo>
                    <a:pt x="7141210" y="0"/>
                  </a:lnTo>
                  <a:cubicBezTo>
                    <a:pt x="7415657" y="0"/>
                    <a:pt x="7638288" y="222123"/>
                    <a:pt x="7638288" y="496062"/>
                  </a:cubicBezTo>
                  <a:lnTo>
                    <a:pt x="7625588" y="496062"/>
                  </a:lnTo>
                  <a:lnTo>
                    <a:pt x="7638288" y="496062"/>
                  </a:lnTo>
                  <a:lnTo>
                    <a:pt x="7638288" y="4363466"/>
                  </a:lnTo>
                  <a:lnTo>
                    <a:pt x="7625588" y="4363466"/>
                  </a:lnTo>
                  <a:lnTo>
                    <a:pt x="7638288" y="4363466"/>
                  </a:lnTo>
                  <a:cubicBezTo>
                    <a:pt x="7638288" y="4637532"/>
                    <a:pt x="7415784" y="4859528"/>
                    <a:pt x="7141210" y="4859528"/>
                  </a:cubicBezTo>
                  <a:lnTo>
                    <a:pt x="7141210" y="4846828"/>
                  </a:lnTo>
                  <a:lnTo>
                    <a:pt x="7141210" y="4859528"/>
                  </a:lnTo>
                  <a:lnTo>
                    <a:pt x="497078" y="4859528"/>
                  </a:lnTo>
                  <a:lnTo>
                    <a:pt x="497078" y="4846828"/>
                  </a:lnTo>
                  <a:lnTo>
                    <a:pt x="497078" y="4859528"/>
                  </a:lnTo>
                  <a:cubicBezTo>
                    <a:pt x="222504" y="4859528"/>
                    <a:pt x="0" y="4637405"/>
                    <a:pt x="0" y="4363466"/>
                  </a:cubicBezTo>
                  <a:lnTo>
                    <a:pt x="0" y="496062"/>
                  </a:lnTo>
                  <a:lnTo>
                    <a:pt x="12700" y="496062"/>
                  </a:lnTo>
                  <a:lnTo>
                    <a:pt x="0" y="496062"/>
                  </a:lnTo>
                  <a:moveTo>
                    <a:pt x="25400" y="496062"/>
                  </a:moveTo>
                  <a:lnTo>
                    <a:pt x="25400" y="4363466"/>
                  </a:lnTo>
                  <a:lnTo>
                    <a:pt x="12700" y="4363466"/>
                  </a:lnTo>
                  <a:lnTo>
                    <a:pt x="25400" y="4363466"/>
                  </a:lnTo>
                  <a:cubicBezTo>
                    <a:pt x="25400" y="4623435"/>
                    <a:pt x="236601" y="4834128"/>
                    <a:pt x="497078" y="4834128"/>
                  </a:cubicBezTo>
                  <a:lnTo>
                    <a:pt x="7141210" y="4834128"/>
                  </a:lnTo>
                  <a:cubicBezTo>
                    <a:pt x="7401687" y="4834128"/>
                    <a:pt x="7612888" y="4623308"/>
                    <a:pt x="7612888" y="4363466"/>
                  </a:cubicBezTo>
                  <a:lnTo>
                    <a:pt x="7612888" y="496062"/>
                  </a:lnTo>
                  <a:cubicBezTo>
                    <a:pt x="7612888" y="236220"/>
                    <a:pt x="7401687" y="25400"/>
                    <a:pt x="7141210" y="25400"/>
                  </a:cubicBezTo>
                  <a:lnTo>
                    <a:pt x="497078" y="25400"/>
                  </a:lnTo>
                  <a:lnTo>
                    <a:pt x="497078" y="12700"/>
                  </a:lnTo>
                  <a:lnTo>
                    <a:pt x="497078" y="25400"/>
                  </a:lnTo>
                  <a:cubicBezTo>
                    <a:pt x="236601" y="25400"/>
                    <a:pt x="25400" y="236220"/>
                    <a:pt x="25400" y="496062"/>
                  </a:cubicBezTo>
                  <a:close/>
                </a:path>
              </a:pathLst>
            </a:custGeom>
            <a:solidFill>
              <a:srgbClr val="E744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15"/>
          <p:cNvGrpSpPr/>
          <p:nvPr/>
        </p:nvGrpSpPr>
        <p:grpSpPr>
          <a:xfrm>
            <a:off x="2337468" y="4553002"/>
            <a:ext cx="5516310" cy="3432291"/>
            <a:chOff x="0" y="0"/>
            <a:chExt cx="7355080" cy="4576388"/>
          </a:xfrm>
        </p:grpSpPr>
        <p:sp>
          <p:nvSpPr>
            <p:cNvPr id="294" name="Google Shape;294;p15"/>
            <p:cNvSpPr/>
            <p:nvPr/>
          </p:nvSpPr>
          <p:spPr>
            <a:xfrm>
              <a:off x="0" y="0"/>
              <a:ext cx="7355080" cy="4576388"/>
            </a:xfrm>
            <a:custGeom>
              <a:rect b="b" l="l" r="r" t="t"/>
              <a:pathLst>
                <a:path extrusionOk="0" h="4576388" w="7355080">
                  <a:moveTo>
                    <a:pt x="0" y="0"/>
                  </a:moveTo>
                  <a:lnTo>
                    <a:pt x="7355080" y="0"/>
                  </a:lnTo>
                  <a:lnTo>
                    <a:pt x="7355080" y="4576388"/>
                  </a:lnTo>
                  <a:lnTo>
                    <a:pt x="0" y="4576388"/>
                  </a:lnTo>
                  <a:close/>
                </a:path>
              </a:pathLst>
            </a:custGeom>
            <a:solidFill>
              <a:srgbClr val="000000">
                <a:alpha val="0"/>
              </a:srgbClr>
            </a:solidFill>
            <a:ln>
              <a:noFill/>
            </a:ln>
          </p:spPr>
        </p:sp>
        <p:sp>
          <p:nvSpPr>
            <p:cNvPr id="295" name="Google Shape;295;p15"/>
            <p:cNvSpPr txBox="1"/>
            <p:nvPr/>
          </p:nvSpPr>
          <p:spPr>
            <a:xfrm>
              <a:off x="0" y="28575"/>
              <a:ext cx="7355080" cy="4547813"/>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4500" u="none" cap="none" strike="noStrike">
                  <a:solidFill>
                    <a:srgbClr val="000000"/>
                  </a:solidFill>
                  <a:latin typeface="Arimo"/>
                  <a:ea typeface="Arimo"/>
                  <a:cs typeface="Arimo"/>
                  <a:sym typeface="Arimo"/>
                </a:rPr>
                <a:t>Compartidos entre todas las instancias de la clase.</a:t>
              </a:r>
              <a:endParaRPr/>
            </a:p>
          </p:txBody>
        </p:sp>
      </p:grpSp>
      <p:grpSp>
        <p:nvGrpSpPr>
          <p:cNvPr id="296" name="Google Shape;296;p15"/>
          <p:cNvGrpSpPr/>
          <p:nvPr/>
        </p:nvGrpSpPr>
        <p:grpSpPr>
          <a:xfrm>
            <a:off x="8575326" y="3844126"/>
            <a:ext cx="5728716" cy="3644646"/>
            <a:chOff x="0" y="0"/>
            <a:chExt cx="7638288" cy="4859528"/>
          </a:xfrm>
        </p:grpSpPr>
        <p:sp>
          <p:nvSpPr>
            <p:cNvPr id="297" name="Google Shape;297;p15"/>
            <p:cNvSpPr/>
            <p:nvPr/>
          </p:nvSpPr>
          <p:spPr>
            <a:xfrm>
              <a:off x="12700" y="12700"/>
              <a:ext cx="7612888" cy="4834128"/>
            </a:xfrm>
            <a:custGeom>
              <a:rect b="b" l="l" r="r" t="t"/>
              <a:pathLst>
                <a:path extrusionOk="0" h="4834128" w="7612888">
                  <a:moveTo>
                    <a:pt x="0" y="483362"/>
                  </a:moveTo>
                  <a:cubicBezTo>
                    <a:pt x="0" y="216408"/>
                    <a:pt x="216789" y="0"/>
                    <a:pt x="484378" y="0"/>
                  </a:cubicBezTo>
                  <a:lnTo>
                    <a:pt x="7128510" y="0"/>
                  </a:lnTo>
                  <a:cubicBezTo>
                    <a:pt x="7395972" y="0"/>
                    <a:pt x="7612888" y="216408"/>
                    <a:pt x="7612888" y="483362"/>
                  </a:cubicBezTo>
                  <a:lnTo>
                    <a:pt x="7612888" y="4350766"/>
                  </a:lnTo>
                  <a:cubicBezTo>
                    <a:pt x="7612888" y="4617720"/>
                    <a:pt x="7396099" y="4834128"/>
                    <a:pt x="7128510" y="4834128"/>
                  </a:cubicBezTo>
                  <a:lnTo>
                    <a:pt x="484378" y="4834128"/>
                  </a:lnTo>
                  <a:cubicBezTo>
                    <a:pt x="216789" y="4834128"/>
                    <a:pt x="0" y="4617720"/>
                    <a:pt x="0" y="4350766"/>
                  </a:cubicBezTo>
                  <a:close/>
                </a:path>
              </a:pathLst>
            </a:custGeom>
            <a:solidFill>
              <a:srgbClr val="E744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0" y="0"/>
              <a:ext cx="7638288" cy="4859528"/>
            </a:xfrm>
            <a:custGeom>
              <a:rect b="b" l="l" r="r" t="t"/>
              <a:pathLst>
                <a:path extrusionOk="0" h="4859528" w="7638288">
                  <a:moveTo>
                    <a:pt x="0" y="496062"/>
                  </a:moveTo>
                  <a:cubicBezTo>
                    <a:pt x="0" y="222123"/>
                    <a:pt x="222504" y="0"/>
                    <a:pt x="497078" y="0"/>
                  </a:cubicBezTo>
                  <a:lnTo>
                    <a:pt x="7141210" y="0"/>
                  </a:lnTo>
                  <a:lnTo>
                    <a:pt x="7141210" y="12700"/>
                  </a:lnTo>
                  <a:lnTo>
                    <a:pt x="7141210" y="0"/>
                  </a:lnTo>
                  <a:cubicBezTo>
                    <a:pt x="7415657" y="0"/>
                    <a:pt x="7638288" y="222123"/>
                    <a:pt x="7638288" y="496062"/>
                  </a:cubicBezTo>
                  <a:lnTo>
                    <a:pt x="7625588" y="496062"/>
                  </a:lnTo>
                  <a:lnTo>
                    <a:pt x="7638288" y="496062"/>
                  </a:lnTo>
                  <a:lnTo>
                    <a:pt x="7638288" y="4363466"/>
                  </a:lnTo>
                  <a:lnTo>
                    <a:pt x="7625588" y="4363466"/>
                  </a:lnTo>
                  <a:lnTo>
                    <a:pt x="7638288" y="4363466"/>
                  </a:lnTo>
                  <a:cubicBezTo>
                    <a:pt x="7638288" y="4637532"/>
                    <a:pt x="7415784" y="4859528"/>
                    <a:pt x="7141210" y="4859528"/>
                  </a:cubicBezTo>
                  <a:lnTo>
                    <a:pt x="7141210" y="4846828"/>
                  </a:lnTo>
                  <a:lnTo>
                    <a:pt x="7141210" y="4859528"/>
                  </a:lnTo>
                  <a:lnTo>
                    <a:pt x="497078" y="4859528"/>
                  </a:lnTo>
                  <a:lnTo>
                    <a:pt x="497078" y="4846828"/>
                  </a:lnTo>
                  <a:lnTo>
                    <a:pt x="497078" y="4859528"/>
                  </a:lnTo>
                  <a:cubicBezTo>
                    <a:pt x="222504" y="4859528"/>
                    <a:pt x="0" y="4637405"/>
                    <a:pt x="0" y="4363466"/>
                  </a:cubicBezTo>
                  <a:lnTo>
                    <a:pt x="0" y="496062"/>
                  </a:lnTo>
                  <a:lnTo>
                    <a:pt x="12700" y="496062"/>
                  </a:lnTo>
                  <a:lnTo>
                    <a:pt x="0" y="496062"/>
                  </a:lnTo>
                  <a:moveTo>
                    <a:pt x="25400" y="496062"/>
                  </a:moveTo>
                  <a:lnTo>
                    <a:pt x="25400" y="4363466"/>
                  </a:lnTo>
                  <a:lnTo>
                    <a:pt x="12700" y="4363466"/>
                  </a:lnTo>
                  <a:lnTo>
                    <a:pt x="25400" y="4363466"/>
                  </a:lnTo>
                  <a:cubicBezTo>
                    <a:pt x="25400" y="4623435"/>
                    <a:pt x="236601" y="4834128"/>
                    <a:pt x="497078" y="4834128"/>
                  </a:cubicBezTo>
                  <a:lnTo>
                    <a:pt x="7141210" y="4834128"/>
                  </a:lnTo>
                  <a:cubicBezTo>
                    <a:pt x="7401687" y="4834128"/>
                    <a:pt x="7612888" y="4623308"/>
                    <a:pt x="7612888" y="4363466"/>
                  </a:cubicBezTo>
                  <a:lnTo>
                    <a:pt x="7612888" y="496062"/>
                  </a:lnTo>
                  <a:cubicBezTo>
                    <a:pt x="7612888" y="236220"/>
                    <a:pt x="7401687" y="25400"/>
                    <a:pt x="7141210" y="25400"/>
                  </a:cubicBezTo>
                  <a:lnTo>
                    <a:pt x="497078" y="25400"/>
                  </a:lnTo>
                  <a:lnTo>
                    <a:pt x="497078" y="12700"/>
                  </a:lnTo>
                  <a:lnTo>
                    <a:pt x="497078" y="25400"/>
                  </a:lnTo>
                  <a:cubicBezTo>
                    <a:pt x="236601" y="25400"/>
                    <a:pt x="25400" y="236220"/>
                    <a:pt x="25400" y="49606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15"/>
          <p:cNvGrpSpPr/>
          <p:nvPr/>
        </p:nvGrpSpPr>
        <p:grpSpPr>
          <a:xfrm>
            <a:off x="9209730" y="4446812"/>
            <a:ext cx="5728716" cy="3644646"/>
            <a:chOff x="0" y="0"/>
            <a:chExt cx="7638288" cy="4859528"/>
          </a:xfrm>
        </p:grpSpPr>
        <p:sp>
          <p:nvSpPr>
            <p:cNvPr id="300" name="Google Shape;300;p15"/>
            <p:cNvSpPr/>
            <p:nvPr/>
          </p:nvSpPr>
          <p:spPr>
            <a:xfrm>
              <a:off x="12700" y="12700"/>
              <a:ext cx="7612888" cy="4834128"/>
            </a:xfrm>
            <a:custGeom>
              <a:rect b="b" l="l" r="r" t="t"/>
              <a:pathLst>
                <a:path extrusionOk="0" h="4834128" w="7612888">
                  <a:moveTo>
                    <a:pt x="0" y="483362"/>
                  </a:moveTo>
                  <a:cubicBezTo>
                    <a:pt x="0" y="216408"/>
                    <a:pt x="216789" y="0"/>
                    <a:pt x="484378" y="0"/>
                  </a:cubicBezTo>
                  <a:lnTo>
                    <a:pt x="7128510" y="0"/>
                  </a:lnTo>
                  <a:cubicBezTo>
                    <a:pt x="7395972" y="0"/>
                    <a:pt x="7612888" y="216408"/>
                    <a:pt x="7612888" y="483362"/>
                  </a:cubicBezTo>
                  <a:lnTo>
                    <a:pt x="7612888" y="4350766"/>
                  </a:lnTo>
                  <a:cubicBezTo>
                    <a:pt x="7612888" y="4617720"/>
                    <a:pt x="7396099" y="4834128"/>
                    <a:pt x="7128510" y="4834128"/>
                  </a:cubicBezTo>
                  <a:lnTo>
                    <a:pt x="484378" y="4834128"/>
                  </a:lnTo>
                  <a:cubicBezTo>
                    <a:pt x="216789" y="4834128"/>
                    <a:pt x="0" y="4617720"/>
                    <a:pt x="0" y="4350766"/>
                  </a:cubicBezTo>
                  <a:close/>
                </a:path>
              </a:pathLst>
            </a:custGeom>
            <a:solidFill>
              <a:srgbClr val="FFFFFF">
                <a:alpha val="8039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0" y="0"/>
              <a:ext cx="7638288" cy="4859528"/>
            </a:xfrm>
            <a:custGeom>
              <a:rect b="b" l="l" r="r" t="t"/>
              <a:pathLst>
                <a:path extrusionOk="0" h="4859528" w="7638288">
                  <a:moveTo>
                    <a:pt x="0" y="496062"/>
                  </a:moveTo>
                  <a:cubicBezTo>
                    <a:pt x="0" y="222123"/>
                    <a:pt x="222504" y="0"/>
                    <a:pt x="497078" y="0"/>
                  </a:cubicBezTo>
                  <a:lnTo>
                    <a:pt x="7141210" y="0"/>
                  </a:lnTo>
                  <a:lnTo>
                    <a:pt x="7141210" y="12700"/>
                  </a:lnTo>
                  <a:lnTo>
                    <a:pt x="7141210" y="0"/>
                  </a:lnTo>
                  <a:cubicBezTo>
                    <a:pt x="7415657" y="0"/>
                    <a:pt x="7638288" y="222123"/>
                    <a:pt x="7638288" y="496062"/>
                  </a:cubicBezTo>
                  <a:lnTo>
                    <a:pt x="7625588" y="496062"/>
                  </a:lnTo>
                  <a:lnTo>
                    <a:pt x="7638288" y="496062"/>
                  </a:lnTo>
                  <a:lnTo>
                    <a:pt x="7638288" y="4363466"/>
                  </a:lnTo>
                  <a:lnTo>
                    <a:pt x="7625588" y="4363466"/>
                  </a:lnTo>
                  <a:lnTo>
                    <a:pt x="7638288" y="4363466"/>
                  </a:lnTo>
                  <a:cubicBezTo>
                    <a:pt x="7638288" y="4637532"/>
                    <a:pt x="7415784" y="4859528"/>
                    <a:pt x="7141210" y="4859528"/>
                  </a:cubicBezTo>
                  <a:lnTo>
                    <a:pt x="7141210" y="4846828"/>
                  </a:lnTo>
                  <a:lnTo>
                    <a:pt x="7141210" y="4859528"/>
                  </a:lnTo>
                  <a:lnTo>
                    <a:pt x="497078" y="4859528"/>
                  </a:lnTo>
                  <a:lnTo>
                    <a:pt x="497078" y="4846828"/>
                  </a:lnTo>
                  <a:lnTo>
                    <a:pt x="497078" y="4859528"/>
                  </a:lnTo>
                  <a:cubicBezTo>
                    <a:pt x="222504" y="4859528"/>
                    <a:pt x="0" y="4637405"/>
                    <a:pt x="0" y="4363466"/>
                  </a:cubicBezTo>
                  <a:lnTo>
                    <a:pt x="0" y="496062"/>
                  </a:lnTo>
                  <a:lnTo>
                    <a:pt x="12700" y="496062"/>
                  </a:lnTo>
                  <a:lnTo>
                    <a:pt x="0" y="496062"/>
                  </a:lnTo>
                  <a:moveTo>
                    <a:pt x="25400" y="496062"/>
                  </a:moveTo>
                  <a:lnTo>
                    <a:pt x="25400" y="4363466"/>
                  </a:lnTo>
                  <a:lnTo>
                    <a:pt x="12700" y="4363466"/>
                  </a:lnTo>
                  <a:lnTo>
                    <a:pt x="25400" y="4363466"/>
                  </a:lnTo>
                  <a:cubicBezTo>
                    <a:pt x="25400" y="4623435"/>
                    <a:pt x="236601" y="4834128"/>
                    <a:pt x="497078" y="4834128"/>
                  </a:cubicBezTo>
                  <a:lnTo>
                    <a:pt x="7141210" y="4834128"/>
                  </a:lnTo>
                  <a:cubicBezTo>
                    <a:pt x="7401687" y="4834128"/>
                    <a:pt x="7612888" y="4623308"/>
                    <a:pt x="7612888" y="4363466"/>
                  </a:cubicBezTo>
                  <a:lnTo>
                    <a:pt x="7612888" y="496062"/>
                  </a:lnTo>
                  <a:cubicBezTo>
                    <a:pt x="7612888" y="236220"/>
                    <a:pt x="7401687" y="25400"/>
                    <a:pt x="7141210" y="25400"/>
                  </a:cubicBezTo>
                  <a:lnTo>
                    <a:pt x="497078" y="25400"/>
                  </a:lnTo>
                  <a:lnTo>
                    <a:pt x="497078" y="12700"/>
                  </a:lnTo>
                  <a:lnTo>
                    <a:pt x="497078" y="25400"/>
                  </a:lnTo>
                  <a:cubicBezTo>
                    <a:pt x="236601" y="25400"/>
                    <a:pt x="25400" y="236220"/>
                    <a:pt x="25400" y="496062"/>
                  </a:cubicBezTo>
                  <a:close/>
                </a:path>
              </a:pathLst>
            </a:custGeom>
            <a:solidFill>
              <a:srgbClr val="E744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 name="Google Shape;302;p15"/>
          <p:cNvGrpSpPr/>
          <p:nvPr/>
        </p:nvGrpSpPr>
        <p:grpSpPr>
          <a:xfrm>
            <a:off x="9315921" y="4553002"/>
            <a:ext cx="5516310" cy="3432291"/>
            <a:chOff x="0" y="0"/>
            <a:chExt cx="7355080" cy="4576388"/>
          </a:xfrm>
        </p:grpSpPr>
        <p:sp>
          <p:nvSpPr>
            <p:cNvPr id="303" name="Google Shape;303;p15"/>
            <p:cNvSpPr/>
            <p:nvPr/>
          </p:nvSpPr>
          <p:spPr>
            <a:xfrm>
              <a:off x="0" y="0"/>
              <a:ext cx="7355080" cy="4576388"/>
            </a:xfrm>
            <a:custGeom>
              <a:rect b="b" l="l" r="r" t="t"/>
              <a:pathLst>
                <a:path extrusionOk="0" h="4576388" w="7355080">
                  <a:moveTo>
                    <a:pt x="0" y="0"/>
                  </a:moveTo>
                  <a:lnTo>
                    <a:pt x="7355080" y="0"/>
                  </a:lnTo>
                  <a:lnTo>
                    <a:pt x="7355080" y="4576388"/>
                  </a:lnTo>
                  <a:lnTo>
                    <a:pt x="0" y="4576388"/>
                  </a:lnTo>
                  <a:close/>
                </a:path>
              </a:pathLst>
            </a:custGeom>
            <a:solidFill>
              <a:srgbClr val="000000">
                <a:alpha val="0"/>
              </a:srgbClr>
            </a:solidFill>
            <a:ln>
              <a:noFill/>
            </a:ln>
          </p:spPr>
        </p:sp>
        <p:sp>
          <p:nvSpPr>
            <p:cNvPr id="304" name="Google Shape;304;p15"/>
            <p:cNvSpPr txBox="1"/>
            <p:nvPr/>
          </p:nvSpPr>
          <p:spPr>
            <a:xfrm>
              <a:off x="0" y="28575"/>
              <a:ext cx="7355080" cy="4547813"/>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4500" u="none" cap="none" strike="noStrike">
                  <a:solidFill>
                    <a:srgbClr val="000000"/>
                  </a:solidFill>
                  <a:latin typeface="Arimo"/>
                  <a:ea typeface="Arimo"/>
                  <a:cs typeface="Arimo"/>
                  <a:sym typeface="Arimo"/>
                </a:rPr>
                <a:t>Se acceden directamente mediante el nombre de la clase.</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6"/>
          <p:cNvSpPr/>
          <p:nvPr/>
        </p:nvSpPr>
        <p:spPr>
          <a:xfrm>
            <a:off x="8694602" y="5067860"/>
            <a:ext cx="9591865" cy="5219129"/>
          </a:xfrm>
          <a:custGeom>
            <a:rect b="b" l="l" r="r" t="t"/>
            <a:pathLst>
              <a:path extrusionOk="0" h="6958838" w="12789154">
                <a:moveTo>
                  <a:pt x="10342626" y="1270"/>
                </a:moveTo>
                <a:cubicBezTo>
                  <a:pt x="11215370" y="15748"/>
                  <a:pt x="12078081" y="307975"/>
                  <a:pt x="12788647" y="860806"/>
                </a:cubicBezTo>
                <a:lnTo>
                  <a:pt x="12789154" y="861314"/>
                </a:lnTo>
                <a:lnTo>
                  <a:pt x="12789154" y="6958838"/>
                </a:lnTo>
                <a:lnTo>
                  <a:pt x="0" y="6958838"/>
                </a:lnTo>
                <a:lnTo>
                  <a:pt x="7833995" y="811784"/>
                </a:lnTo>
                <a:lnTo>
                  <a:pt x="7918958" y="748538"/>
                </a:lnTo>
                <a:cubicBezTo>
                  <a:pt x="8582152" y="280035"/>
                  <a:pt x="9342247" y="35814"/>
                  <a:pt x="10104374" y="4318"/>
                </a:cubicBezTo>
                <a:cubicBezTo>
                  <a:pt x="10183749" y="1016"/>
                  <a:pt x="10263251" y="0"/>
                  <a:pt x="10342499" y="1397"/>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 name="Google Shape;310;p16"/>
          <p:cNvGrpSpPr/>
          <p:nvPr/>
        </p:nvGrpSpPr>
        <p:grpSpPr>
          <a:xfrm>
            <a:off x="11304796" y="7051189"/>
            <a:ext cx="7281730" cy="3235881"/>
            <a:chOff x="-974867" y="0"/>
            <a:chExt cx="9708974" cy="4314508"/>
          </a:xfrm>
        </p:grpSpPr>
        <p:sp>
          <p:nvSpPr>
            <p:cNvPr id="311" name="Google Shape;311;p16"/>
            <p:cNvSpPr/>
            <p:nvPr/>
          </p:nvSpPr>
          <p:spPr>
            <a:xfrm>
              <a:off x="0" y="0"/>
              <a:ext cx="8734107" cy="3627291"/>
            </a:xfrm>
            <a:custGeom>
              <a:rect b="b" l="l" r="r" t="t"/>
              <a:pathLst>
                <a:path extrusionOk="0" h="3627291" w="8734107">
                  <a:moveTo>
                    <a:pt x="0" y="0"/>
                  </a:moveTo>
                  <a:lnTo>
                    <a:pt x="8734107" y="0"/>
                  </a:lnTo>
                  <a:lnTo>
                    <a:pt x="8734107" y="3627291"/>
                  </a:lnTo>
                  <a:lnTo>
                    <a:pt x="0" y="3627291"/>
                  </a:lnTo>
                  <a:close/>
                </a:path>
              </a:pathLst>
            </a:custGeom>
            <a:solidFill>
              <a:srgbClr val="000000">
                <a:alpha val="0"/>
              </a:srgbClr>
            </a:solidFill>
            <a:ln>
              <a:noFill/>
            </a:ln>
          </p:spPr>
        </p:sp>
        <p:sp>
          <p:nvSpPr>
            <p:cNvPr id="312" name="Google Shape;312;p16"/>
            <p:cNvSpPr txBox="1"/>
            <p:nvPr/>
          </p:nvSpPr>
          <p:spPr>
            <a:xfrm>
              <a:off x="-974867" y="715708"/>
              <a:ext cx="8734200" cy="35988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Ejemplo</a:t>
              </a:r>
              <a:endParaRPr/>
            </a:p>
          </p:txBody>
        </p:sp>
      </p:grpSp>
      <p:sp>
        <p:nvSpPr>
          <p:cNvPr id="313" name="Google Shape;313;p16"/>
          <p:cNvSpPr/>
          <p:nvPr/>
        </p:nvSpPr>
        <p:spPr>
          <a:xfrm>
            <a:off x="1214209" y="1028700"/>
            <a:ext cx="13268798" cy="5727918"/>
          </a:xfrm>
          <a:custGeom>
            <a:rect b="b" l="l" r="r" t="t"/>
            <a:pathLst>
              <a:path extrusionOk="0" h="5727918" w="13268798">
                <a:moveTo>
                  <a:pt x="0" y="0"/>
                </a:moveTo>
                <a:lnTo>
                  <a:pt x="13268797" y="0"/>
                </a:lnTo>
                <a:lnTo>
                  <a:pt x="13268797" y="5727918"/>
                </a:lnTo>
                <a:lnTo>
                  <a:pt x="0" y="572791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grpSp>
        <p:nvGrpSpPr>
          <p:cNvPr id="318" name="Google Shape;318;p17"/>
          <p:cNvGrpSpPr/>
          <p:nvPr/>
        </p:nvGrpSpPr>
        <p:grpSpPr>
          <a:xfrm>
            <a:off x="764209" y="349697"/>
            <a:ext cx="17100730" cy="2322896"/>
            <a:chOff x="0" y="0"/>
            <a:chExt cx="22800973" cy="3097195"/>
          </a:xfrm>
        </p:grpSpPr>
        <p:sp>
          <p:nvSpPr>
            <p:cNvPr id="319" name="Google Shape;319;p17"/>
            <p:cNvSpPr/>
            <p:nvPr/>
          </p:nvSpPr>
          <p:spPr>
            <a:xfrm>
              <a:off x="0" y="0"/>
              <a:ext cx="22800973" cy="3097195"/>
            </a:xfrm>
            <a:custGeom>
              <a:rect b="b" l="l" r="r" t="t"/>
              <a:pathLst>
                <a:path extrusionOk="0" h="3097195" w="22800973">
                  <a:moveTo>
                    <a:pt x="0" y="0"/>
                  </a:moveTo>
                  <a:lnTo>
                    <a:pt x="22800973" y="0"/>
                  </a:lnTo>
                  <a:lnTo>
                    <a:pt x="22800973" y="3097195"/>
                  </a:lnTo>
                  <a:lnTo>
                    <a:pt x="0" y="3097195"/>
                  </a:lnTo>
                  <a:close/>
                </a:path>
              </a:pathLst>
            </a:custGeom>
            <a:solidFill>
              <a:srgbClr val="000000">
                <a:alpha val="0"/>
              </a:srgbClr>
            </a:solidFill>
            <a:ln>
              <a:noFill/>
            </a:ln>
          </p:spPr>
        </p:sp>
        <p:sp>
          <p:nvSpPr>
            <p:cNvPr id="320" name="Google Shape;320;p17"/>
            <p:cNvSpPr txBox="1"/>
            <p:nvPr/>
          </p:nvSpPr>
          <p:spPr>
            <a:xfrm>
              <a:off x="0" y="19050"/>
              <a:ext cx="22800972" cy="3078145"/>
            </a:xfrm>
            <a:prstGeom prst="rect">
              <a:avLst/>
            </a:prstGeom>
            <a:noFill/>
            <a:ln>
              <a:noFill/>
            </a:ln>
          </p:spPr>
          <p:txBody>
            <a:bodyPr anchorCtr="0" anchor="ctr" bIns="0" lIns="0" spcFirstLastPara="1" rIns="0" wrap="square" tIns="0">
              <a:noAutofit/>
            </a:bodyPr>
            <a:lstStyle/>
            <a:p>
              <a:pPr indent="0" lvl="0" marL="0" marR="0" rtl="0" algn="ctr">
                <a:lnSpc>
                  <a:spcPct val="114998"/>
                </a:lnSpc>
                <a:spcBef>
                  <a:spcPts val="0"/>
                </a:spcBef>
                <a:spcAft>
                  <a:spcPts val="0"/>
                </a:spcAft>
                <a:buNone/>
              </a:pPr>
              <a:r>
                <a:rPr b="0" i="0" lang="en-US" sz="10001" u="none" cap="none" strike="noStrike">
                  <a:solidFill>
                    <a:srgbClr val="131416"/>
                  </a:solidFill>
                  <a:latin typeface="Play"/>
                  <a:ea typeface="Play"/>
                  <a:cs typeface="Play"/>
                  <a:sym typeface="Play"/>
                </a:rPr>
                <a:t>Implementación de Clases Abstractas</a:t>
              </a:r>
              <a:endParaRPr/>
            </a:p>
          </p:txBody>
        </p:sp>
      </p:grpSp>
      <p:grpSp>
        <p:nvGrpSpPr>
          <p:cNvPr id="321" name="Google Shape;321;p17"/>
          <p:cNvGrpSpPr/>
          <p:nvPr/>
        </p:nvGrpSpPr>
        <p:grpSpPr>
          <a:xfrm>
            <a:off x="1581790" y="4733922"/>
            <a:ext cx="6260122" cy="1966069"/>
            <a:chOff x="0" y="-76200"/>
            <a:chExt cx="8346830" cy="2621425"/>
          </a:xfrm>
        </p:grpSpPr>
        <p:sp>
          <p:nvSpPr>
            <p:cNvPr id="322" name="Google Shape;322;p17"/>
            <p:cNvSpPr/>
            <p:nvPr/>
          </p:nvSpPr>
          <p:spPr>
            <a:xfrm>
              <a:off x="0" y="0"/>
              <a:ext cx="8346830" cy="2545225"/>
            </a:xfrm>
            <a:custGeom>
              <a:rect b="b" l="l" r="r" t="t"/>
              <a:pathLst>
                <a:path extrusionOk="0" h="2545225" w="8346830">
                  <a:moveTo>
                    <a:pt x="0" y="0"/>
                  </a:moveTo>
                  <a:lnTo>
                    <a:pt x="8346830" y="0"/>
                  </a:lnTo>
                  <a:lnTo>
                    <a:pt x="8346830" y="2545225"/>
                  </a:lnTo>
                  <a:lnTo>
                    <a:pt x="0" y="2545225"/>
                  </a:lnTo>
                  <a:close/>
                </a:path>
              </a:pathLst>
            </a:custGeom>
            <a:solidFill>
              <a:srgbClr val="000000">
                <a:alpha val="0"/>
              </a:srgbClr>
            </a:solidFill>
            <a:ln>
              <a:noFill/>
            </a:ln>
          </p:spPr>
        </p:sp>
        <p:sp>
          <p:nvSpPr>
            <p:cNvPr id="323" name="Google Shape;323;p17"/>
            <p:cNvSpPr txBox="1"/>
            <p:nvPr/>
          </p:nvSpPr>
          <p:spPr>
            <a:xfrm>
              <a:off x="0" y="-76200"/>
              <a:ext cx="8346830" cy="2621425"/>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Las subclases deben implementar todos los métodos abstractos de la clase abstracta.</a:t>
              </a:r>
              <a:endParaRPr/>
            </a:p>
          </p:txBody>
        </p:sp>
      </p:grpSp>
      <p:sp>
        <p:nvSpPr>
          <p:cNvPr descr="Texto  El contenido generado por IA puede ser incorrecto." id="324" name="Google Shape;324;p17"/>
          <p:cNvSpPr/>
          <p:nvPr/>
        </p:nvSpPr>
        <p:spPr>
          <a:xfrm>
            <a:off x="9829800" y="3349378"/>
            <a:ext cx="7429500" cy="6333998"/>
          </a:xfrm>
          <a:custGeom>
            <a:rect b="b" l="l" r="r" t="t"/>
            <a:pathLst>
              <a:path extrusionOk="0" h="6333998" w="7429500">
                <a:moveTo>
                  <a:pt x="0" y="0"/>
                </a:moveTo>
                <a:lnTo>
                  <a:pt x="7429500" y="0"/>
                </a:lnTo>
                <a:lnTo>
                  <a:pt x="7429500" y="6333997"/>
                </a:lnTo>
                <a:lnTo>
                  <a:pt x="0" y="633399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8"/>
          <p:cNvSpPr/>
          <p:nvPr/>
        </p:nvSpPr>
        <p:spPr>
          <a:xfrm>
            <a:off x="5989663" y="5325530"/>
            <a:ext cx="12407846" cy="5219129"/>
          </a:xfrm>
          <a:custGeom>
            <a:rect b="b" l="l" r="r" t="t"/>
            <a:pathLst>
              <a:path extrusionOk="0" h="6958838" w="16543795">
                <a:moveTo>
                  <a:pt x="13379021" y="1270"/>
                </a:moveTo>
                <a:cubicBezTo>
                  <a:pt x="14507986" y="15748"/>
                  <a:pt x="15623970" y="307975"/>
                  <a:pt x="16543144" y="860806"/>
                </a:cubicBezTo>
                <a:lnTo>
                  <a:pt x="16543795" y="861314"/>
                </a:lnTo>
                <a:lnTo>
                  <a:pt x="16543795" y="6958838"/>
                </a:lnTo>
                <a:lnTo>
                  <a:pt x="0" y="6958838"/>
                </a:lnTo>
                <a:lnTo>
                  <a:pt x="10133903" y="811784"/>
                </a:lnTo>
                <a:lnTo>
                  <a:pt x="10243810" y="748538"/>
                </a:lnTo>
                <a:cubicBezTo>
                  <a:pt x="11101705" y="280035"/>
                  <a:pt x="12084948" y="35814"/>
                  <a:pt x="13070822" y="4318"/>
                </a:cubicBezTo>
                <a:cubicBezTo>
                  <a:pt x="13173500" y="1016"/>
                  <a:pt x="13276342" y="0"/>
                  <a:pt x="13378855" y="1397"/>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0" name="Google Shape;330;p18"/>
          <p:cNvGrpSpPr/>
          <p:nvPr/>
        </p:nvGrpSpPr>
        <p:grpSpPr>
          <a:xfrm>
            <a:off x="10254875" y="6560849"/>
            <a:ext cx="8033175" cy="3726152"/>
            <a:chOff x="-1074625" y="0"/>
            <a:chExt cx="10710900" cy="4968202"/>
          </a:xfrm>
        </p:grpSpPr>
        <p:sp>
          <p:nvSpPr>
            <p:cNvPr id="331" name="Google Shape;331;p18"/>
            <p:cNvSpPr/>
            <p:nvPr/>
          </p:nvSpPr>
          <p:spPr>
            <a:xfrm>
              <a:off x="0" y="0"/>
              <a:ext cx="9636208" cy="4968202"/>
            </a:xfrm>
            <a:custGeom>
              <a:rect b="b" l="l" r="r" t="t"/>
              <a:pathLst>
                <a:path extrusionOk="0" h="4968202" w="9636208">
                  <a:moveTo>
                    <a:pt x="0" y="0"/>
                  </a:moveTo>
                  <a:lnTo>
                    <a:pt x="9636208" y="0"/>
                  </a:lnTo>
                  <a:lnTo>
                    <a:pt x="9636208" y="4968202"/>
                  </a:lnTo>
                  <a:lnTo>
                    <a:pt x="0" y="4968202"/>
                  </a:lnTo>
                  <a:close/>
                </a:path>
              </a:pathLst>
            </a:custGeom>
            <a:solidFill>
              <a:srgbClr val="000000">
                <a:alpha val="0"/>
              </a:srgbClr>
            </a:solidFill>
            <a:ln>
              <a:noFill/>
            </a:ln>
          </p:spPr>
        </p:sp>
        <p:sp>
          <p:nvSpPr>
            <p:cNvPr id="332" name="Google Shape;332;p18"/>
            <p:cNvSpPr txBox="1"/>
            <p:nvPr/>
          </p:nvSpPr>
          <p:spPr>
            <a:xfrm>
              <a:off x="-1074625" y="19035"/>
              <a:ext cx="10710900" cy="4949100"/>
            </a:xfrm>
            <a:prstGeom prst="rect">
              <a:avLst/>
            </a:prstGeom>
            <a:noFill/>
            <a:ln>
              <a:noFill/>
            </a:ln>
          </p:spPr>
          <p:txBody>
            <a:bodyPr anchorCtr="0" anchor="b" bIns="0" lIns="0" spcFirstLastPara="1" rIns="0" wrap="square" tIns="0">
              <a:noAutofit/>
            </a:bodyPr>
            <a:lstStyle/>
            <a:p>
              <a:pPr indent="0" lvl="0" marL="0" marR="0" rtl="0" algn="ctr">
                <a:lnSpc>
                  <a:spcPct val="114998"/>
                </a:lnSpc>
                <a:spcBef>
                  <a:spcPts val="0"/>
                </a:spcBef>
                <a:spcAft>
                  <a:spcPts val="0"/>
                </a:spcAft>
                <a:buNone/>
              </a:pPr>
              <a:r>
                <a:rPr b="0" i="0" lang="en-US" sz="8000" u="none" cap="none" strike="noStrike">
                  <a:solidFill>
                    <a:srgbClr val="131416"/>
                  </a:solidFill>
                  <a:latin typeface="Play"/>
                  <a:ea typeface="Play"/>
                  <a:cs typeface="Play"/>
                  <a:sym typeface="Play"/>
                </a:rPr>
                <a:t>Implementación de Interfaces</a:t>
              </a:r>
              <a:endParaRPr sz="8000"/>
            </a:p>
          </p:txBody>
        </p:sp>
      </p:grpSp>
      <p:grpSp>
        <p:nvGrpSpPr>
          <p:cNvPr id="333" name="Google Shape;333;p18"/>
          <p:cNvGrpSpPr/>
          <p:nvPr/>
        </p:nvGrpSpPr>
        <p:grpSpPr>
          <a:xfrm>
            <a:off x="12027112" y="2306621"/>
            <a:ext cx="5294620" cy="2156730"/>
            <a:chOff x="0" y="-38100"/>
            <a:chExt cx="7059494" cy="2875640"/>
          </a:xfrm>
        </p:grpSpPr>
        <p:sp>
          <p:nvSpPr>
            <p:cNvPr id="334" name="Google Shape;334;p18"/>
            <p:cNvSpPr/>
            <p:nvPr/>
          </p:nvSpPr>
          <p:spPr>
            <a:xfrm>
              <a:off x="0" y="0"/>
              <a:ext cx="7059494" cy="2837540"/>
            </a:xfrm>
            <a:custGeom>
              <a:rect b="b" l="l" r="r" t="t"/>
              <a:pathLst>
                <a:path extrusionOk="0" h="2837540" w="7059494">
                  <a:moveTo>
                    <a:pt x="0" y="0"/>
                  </a:moveTo>
                  <a:lnTo>
                    <a:pt x="7059494" y="0"/>
                  </a:lnTo>
                  <a:lnTo>
                    <a:pt x="7059494" y="2837540"/>
                  </a:lnTo>
                  <a:lnTo>
                    <a:pt x="0" y="2837540"/>
                  </a:lnTo>
                  <a:close/>
                </a:path>
              </a:pathLst>
            </a:custGeom>
            <a:solidFill>
              <a:srgbClr val="000000">
                <a:alpha val="0"/>
              </a:srgbClr>
            </a:solidFill>
            <a:ln>
              <a:noFill/>
            </a:ln>
          </p:spPr>
        </p:sp>
        <p:sp>
          <p:nvSpPr>
            <p:cNvPr id="335" name="Google Shape;335;p18"/>
            <p:cNvSpPr txBox="1"/>
            <p:nvPr/>
          </p:nvSpPr>
          <p:spPr>
            <a:xfrm>
              <a:off x="0" y="-38100"/>
              <a:ext cx="7059494" cy="2875640"/>
            </a:xfrm>
            <a:prstGeom prst="rect">
              <a:avLst/>
            </a:prstGeom>
            <a:noFill/>
            <a:ln>
              <a:noFill/>
            </a:ln>
          </p:spPr>
          <p:txBody>
            <a:bodyPr anchorCtr="0" anchor="t" bIns="0" lIns="0" spcFirstLastPara="1" rIns="0" wrap="square" tIns="0">
              <a:noAutofit/>
            </a:bodyPr>
            <a:lstStyle/>
            <a:p>
              <a:pPr indent="0" lvl="0" marL="0" marR="0" rtl="0" algn="just">
                <a:lnSpc>
                  <a:spcPct val="132000"/>
                </a:lnSpc>
                <a:spcBef>
                  <a:spcPts val="0"/>
                </a:spcBef>
                <a:spcAft>
                  <a:spcPts val="0"/>
                </a:spcAft>
                <a:buNone/>
              </a:pPr>
              <a:r>
                <a:rPr b="0" i="0" lang="en-US" sz="2550" u="none" cap="none" strike="noStrike">
                  <a:solidFill>
                    <a:srgbClr val="000000"/>
                  </a:solidFill>
                  <a:latin typeface="Arimo"/>
                  <a:ea typeface="Arimo"/>
                  <a:cs typeface="Arimo"/>
                  <a:sym typeface="Arimo"/>
                </a:rPr>
                <a:t>Las clases que implementan una interfaz deben proporcionar implementaciones para todos sus métodos.</a:t>
              </a:r>
              <a:endParaRPr/>
            </a:p>
          </p:txBody>
        </p:sp>
      </p:grpSp>
      <p:sp>
        <p:nvSpPr>
          <p:cNvPr descr="Texto  El contenido generado por IA puede ser incorrecto." id="336" name="Google Shape;336;p18"/>
          <p:cNvSpPr/>
          <p:nvPr/>
        </p:nvSpPr>
        <p:spPr>
          <a:xfrm>
            <a:off x="1600203" y="3167590"/>
            <a:ext cx="8778920" cy="4001011"/>
          </a:xfrm>
          <a:custGeom>
            <a:rect b="b" l="l" r="r" t="t"/>
            <a:pathLst>
              <a:path extrusionOk="0" h="4001011" w="8778920">
                <a:moveTo>
                  <a:pt x="0" y="0"/>
                </a:moveTo>
                <a:lnTo>
                  <a:pt x="8778919" y="0"/>
                </a:lnTo>
                <a:lnTo>
                  <a:pt x="8778919" y="4001012"/>
                </a:lnTo>
                <a:lnTo>
                  <a:pt x="0" y="400101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9"/>
          <p:cNvSpPr/>
          <p:nvPr/>
        </p:nvSpPr>
        <p:spPr>
          <a:xfrm>
            <a:off x="0" y="0"/>
            <a:ext cx="5704609" cy="10287000"/>
          </a:xfrm>
          <a:custGeom>
            <a:rect b="b" l="l" r="r" t="t"/>
            <a:pathLst>
              <a:path extrusionOk="0" h="10287000" w="5704609">
                <a:moveTo>
                  <a:pt x="0" y="0"/>
                </a:moveTo>
                <a:lnTo>
                  <a:pt x="5704609" y="0"/>
                </a:lnTo>
                <a:lnTo>
                  <a:pt x="5704609" y="10287000"/>
                </a:lnTo>
                <a:lnTo>
                  <a:pt x="0" y="10287000"/>
                </a:lnTo>
                <a:lnTo>
                  <a:pt x="0" y="0"/>
                </a:lnTo>
                <a:close/>
              </a:path>
            </a:pathLst>
          </a:custGeom>
          <a:blipFill rotWithShape="1">
            <a:blip r:embed="rId3">
              <a:alphaModFix/>
            </a:blip>
            <a:stretch>
              <a:fillRect b="0" l="0" r="0" t="0"/>
            </a:stretch>
          </a:blipFill>
          <a:ln>
            <a:noFill/>
          </a:ln>
        </p:spPr>
      </p:sp>
      <p:sp>
        <p:nvSpPr>
          <p:cNvPr id="342" name="Google Shape;342;p19"/>
          <p:cNvSpPr/>
          <p:nvPr/>
        </p:nvSpPr>
        <p:spPr>
          <a:xfrm flipH="1" rot="-5400000">
            <a:off x="8001000" y="0"/>
            <a:ext cx="10287000" cy="10287000"/>
          </a:xfrm>
          <a:custGeom>
            <a:rect b="b" l="l" r="r" t="t"/>
            <a:pathLst>
              <a:path extrusionOk="0" h="10287000" w="10287000">
                <a:moveTo>
                  <a:pt x="10287000" y="0"/>
                </a:moveTo>
                <a:lnTo>
                  <a:pt x="0" y="0"/>
                </a:lnTo>
                <a:lnTo>
                  <a:pt x="0" y="10287000"/>
                </a:lnTo>
                <a:lnTo>
                  <a:pt x="10287000" y="10287000"/>
                </a:lnTo>
                <a:lnTo>
                  <a:pt x="10287000" y="0"/>
                </a:lnTo>
                <a:close/>
              </a:path>
            </a:pathLst>
          </a:custGeom>
          <a:blipFill rotWithShape="1">
            <a:blip r:embed="rId4">
              <a:alphaModFix/>
            </a:blip>
            <a:stretch>
              <a:fillRect b="0" l="0" r="0" t="0"/>
            </a:stretch>
          </a:blipFill>
          <a:ln>
            <a:noFill/>
          </a:ln>
        </p:spPr>
      </p:sp>
      <p:grpSp>
        <p:nvGrpSpPr>
          <p:cNvPr id="343" name="Google Shape;343;p19"/>
          <p:cNvGrpSpPr/>
          <p:nvPr/>
        </p:nvGrpSpPr>
        <p:grpSpPr>
          <a:xfrm>
            <a:off x="1876698" y="1028700"/>
            <a:ext cx="15553579" cy="7203500"/>
            <a:chOff x="0" y="0"/>
            <a:chExt cx="20738104" cy="9604667"/>
          </a:xfrm>
        </p:grpSpPr>
        <p:sp>
          <p:nvSpPr>
            <p:cNvPr id="344" name="Google Shape;344;p19"/>
            <p:cNvSpPr/>
            <p:nvPr/>
          </p:nvSpPr>
          <p:spPr>
            <a:xfrm>
              <a:off x="0" y="0"/>
              <a:ext cx="14347915" cy="9604589"/>
            </a:xfrm>
            <a:custGeom>
              <a:rect b="b" l="l" r="r" t="t"/>
              <a:pathLst>
                <a:path extrusionOk="0" h="9604589" w="14347915">
                  <a:moveTo>
                    <a:pt x="0" y="0"/>
                  </a:moveTo>
                  <a:lnTo>
                    <a:pt x="14347915" y="0"/>
                  </a:lnTo>
                  <a:lnTo>
                    <a:pt x="14347915" y="9604589"/>
                  </a:lnTo>
                  <a:lnTo>
                    <a:pt x="0" y="9604589"/>
                  </a:lnTo>
                  <a:close/>
                </a:path>
              </a:pathLst>
            </a:custGeom>
            <a:solidFill>
              <a:srgbClr val="000000">
                <a:alpha val="0"/>
              </a:srgbClr>
            </a:solidFill>
            <a:ln>
              <a:noFill/>
            </a:ln>
          </p:spPr>
        </p:sp>
        <p:sp>
          <p:nvSpPr>
            <p:cNvPr id="345" name="Google Shape;345;p19"/>
            <p:cNvSpPr txBox="1"/>
            <p:nvPr/>
          </p:nvSpPr>
          <p:spPr>
            <a:xfrm>
              <a:off x="4" y="57167"/>
              <a:ext cx="20738100" cy="9547500"/>
            </a:xfrm>
            <a:prstGeom prst="rect">
              <a:avLst/>
            </a:prstGeom>
            <a:noFill/>
            <a:ln>
              <a:noFill/>
            </a:ln>
          </p:spPr>
          <p:txBody>
            <a:bodyPr anchorCtr="0" anchor="b" bIns="0" lIns="0" spcFirstLastPara="1" rIns="0" wrap="square" tIns="0">
              <a:noAutofit/>
            </a:bodyPr>
            <a:lstStyle/>
            <a:p>
              <a:pPr indent="0" lvl="0" marL="0" marR="0" rtl="0" algn="ctr">
                <a:lnSpc>
                  <a:spcPct val="115000"/>
                </a:lnSpc>
                <a:spcBef>
                  <a:spcPts val="0"/>
                </a:spcBef>
                <a:spcAft>
                  <a:spcPts val="0"/>
                </a:spcAft>
                <a:buNone/>
              </a:pPr>
              <a:r>
                <a:rPr b="0" i="0" lang="en-US" sz="20000" u="none" cap="none" strike="noStrike">
                  <a:solidFill>
                    <a:srgbClr val="131416"/>
                  </a:solidFill>
                  <a:latin typeface="Play"/>
                  <a:ea typeface="Play"/>
                  <a:cs typeface="Play"/>
                  <a:sym typeface="Play"/>
                </a:rPr>
                <a:t>Referencia</a:t>
              </a:r>
              <a:endParaRPr/>
            </a:p>
            <a:p>
              <a:pPr indent="0" lvl="0" marL="0" marR="0" rtl="0" algn="ctr">
                <a:lnSpc>
                  <a:spcPct val="115000"/>
                </a:lnSpc>
                <a:spcBef>
                  <a:spcPts val="0"/>
                </a:spcBef>
                <a:spcAft>
                  <a:spcPts val="0"/>
                </a:spcAft>
                <a:buNone/>
              </a:pPr>
              <a:r>
                <a:rPr b="0" i="0" lang="en-US" sz="20000" u="none" cap="none" strike="noStrike">
                  <a:solidFill>
                    <a:srgbClr val="131416"/>
                  </a:solidFill>
                  <a:latin typeface="Play"/>
                  <a:ea typeface="Play"/>
                  <a:cs typeface="Play"/>
                  <a:sym typeface="Play"/>
                </a:rPr>
                <a:t>“This”</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0"/>
          <p:cNvSpPr/>
          <p:nvPr/>
        </p:nvSpPr>
        <p:spPr>
          <a:xfrm>
            <a:off x="0" y="0"/>
            <a:ext cx="9526811" cy="4060686"/>
          </a:xfrm>
          <a:custGeom>
            <a:rect b="b" l="l" r="r" t="t"/>
            <a:pathLst>
              <a:path extrusionOk="0" h="3658362" w="8582914">
                <a:moveTo>
                  <a:pt x="0" y="0"/>
                </a:moveTo>
                <a:lnTo>
                  <a:pt x="8582914" y="0"/>
                </a:lnTo>
                <a:lnTo>
                  <a:pt x="4955159" y="2846578"/>
                </a:lnTo>
                <a:lnTo>
                  <a:pt x="4870196" y="2909824"/>
                </a:lnTo>
                <a:cubicBezTo>
                  <a:pt x="4206875" y="3378200"/>
                  <a:pt x="3446907" y="3622421"/>
                  <a:pt x="2684653" y="3654044"/>
                </a:cubicBezTo>
                <a:cubicBezTo>
                  <a:pt x="2605278" y="3657346"/>
                  <a:pt x="2525776" y="3658362"/>
                  <a:pt x="2446528" y="3656965"/>
                </a:cubicBezTo>
                <a:cubicBezTo>
                  <a:pt x="1573784" y="3642487"/>
                  <a:pt x="711073" y="3350260"/>
                  <a:pt x="508" y="2797429"/>
                </a:cubicBezTo>
                <a:lnTo>
                  <a:pt x="0" y="2796921"/>
                </a:lnTo>
                <a:close/>
              </a:path>
            </a:pathLst>
          </a:custGeom>
          <a:gradFill>
            <a:gsLst>
              <a:gs pos="0">
                <a:srgbClr val="CDFFD8"/>
              </a:gs>
              <a:gs pos="100000">
                <a:srgbClr val="94B9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0"/>
          <p:cNvSpPr/>
          <p:nvPr/>
        </p:nvSpPr>
        <p:spPr>
          <a:xfrm>
            <a:off x="4998613" y="4059836"/>
            <a:ext cx="7333709" cy="5843206"/>
          </a:xfrm>
          <a:custGeom>
            <a:rect b="b" l="l" r="r" t="t"/>
            <a:pathLst>
              <a:path extrusionOk="0" h="5843206" w="7333709">
                <a:moveTo>
                  <a:pt x="0" y="0"/>
                </a:moveTo>
                <a:lnTo>
                  <a:pt x="7333709" y="0"/>
                </a:lnTo>
                <a:lnTo>
                  <a:pt x="7333709" y="5843206"/>
                </a:lnTo>
                <a:lnTo>
                  <a:pt x="0" y="5843206"/>
                </a:lnTo>
                <a:lnTo>
                  <a:pt x="0" y="0"/>
                </a:lnTo>
                <a:close/>
              </a:path>
            </a:pathLst>
          </a:custGeom>
          <a:blipFill rotWithShape="1">
            <a:blip r:embed="rId3">
              <a:alphaModFix/>
            </a:blip>
            <a:stretch>
              <a:fillRect b="0" l="0" r="0" t="0"/>
            </a:stretch>
          </a:blipFill>
          <a:ln>
            <a:noFill/>
          </a:ln>
        </p:spPr>
      </p:sp>
      <p:sp>
        <p:nvSpPr>
          <p:cNvPr id="352" name="Google Shape;352;p20"/>
          <p:cNvSpPr txBox="1"/>
          <p:nvPr/>
        </p:nvSpPr>
        <p:spPr>
          <a:xfrm>
            <a:off x="8818030" y="1156580"/>
            <a:ext cx="8441270" cy="1546225"/>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500" u="none" cap="none" strike="noStrike">
                <a:solidFill>
                  <a:srgbClr val="000000"/>
                </a:solidFill>
                <a:latin typeface="Arimo"/>
                <a:ea typeface="Arimo"/>
                <a:cs typeface="Arimo"/>
                <a:sym typeface="Arimo"/>
              </a:rPr>
              <a:t>En Java, la palabra clave this es una referencia al objeto actual cuyo método se está llamando.</a:t>
            </a:r>
            <a:endParaRPr/>
          </a:p>
        </p:txBody>
      </p:sp>
      <p:sp>
        <p:nvSpPr>
          <p:cNvPr id="353" name="Google Shape;353;p20"/>
          <p:cNvSpPr txBox="1"/>
          <p:nvPr/>
        </p:nvSpPr>
        <p:spPr>
          <a:xfrm>
            <a:off x="2026173" y="802875"/>
            <a:ext cx="3552900" cy="15393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10000" u="none" cap="none" strike="noStrike">
                <a:solidFill>
                  <a:srgbClr val="000000"/>
                </a:solidFill>
                <a:latin typeface="Play"/>
                <a:ea typeface="Play"/>
                <a:cs typeface="Play"/>
                <a:sym typeface="Play"/>
              </a:rPr>
              <a:t>This</a:t>
            </a:r>
            <a:endParaRPr sz="10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grpSp>
        <p:nvGrpSpPr>
          <p:cNvPr id="358" name="Google Shape;358;p21"/>
          <p:cNvGrpSpPr/>
          <p:nvPr/>
        </p:nvGrpSpPr>
        <p:grpSpPr>
          <a:xfrm>
            <a:off x="0" y="-255092"/>
            <a:ext cx="18397200" cy="10542092"/>
            <a:chOff x="0" y="-38100"/>
            <a:chExt cx="4845353" cy="2776518"/>
          </a:xfrm>
        </p:grpSpPr>
        <p:sp>
          <p:nvSpPr>
            <p:cNvPr id="359" name="Google Shape;359;p21"/>
            <p:cNvSpPr/>
            <p:nvPr/>
          </p:nvSpPr>
          <p:spPr>
            <a:xfrm>
              <a:off x="0" y="0"/>
              <a:ext cx="4845353" cy="2738418"/>
            </a:xfrm>
            <a:custGeom>
              <a:rect b="b" l="l" r="r" t="t"/>
              <a:pathLst>
                <a:path extrusionOk="0" h="2738418" w="4845353">
                  <a:moveTo>
                    <a:pt x="7154" y="0"/>
                  </a:moveTo>
                  <a:lnTo>
                    <a:pt x="4838199" y="0"/>
                  </a:lnTo>
                  <a:cubicBezTo>
                    <a:pt x="4840096" y="0"/>
                    <a:pt x="4841916" y="754"/>
                    <a:pt x="4843258" y="2095"/>
                  </a:cubicBezTo>
                  <a:cubicBezTo>
                    <a:pt x="4844599" y="3437"/>
                    <a:pt x="4845353" y="5257"/>
                    <a:pt x="4845353" y="7154"/>
                  </a:cubicBezTo>
                  <a:lnTo>
                    <a:pt x="4845353" y="2731264"/>
                  </a:lnTo>
                  <a:cubicBezTo>
                    <a:pt x="4845353" y="2733161"/>
                    <a:pt x="4844599" y="2734981"/>
                    <a:pt x="4843258" y="2736323"/>
                  </a:cubicBezTo>
                  <a:cubicBezTo>
                    <a:pt x="4841916" y="2737664"/>
                    <a:pt x="4840096" y="2738418"/>
                    <a:pt x="4838199" y="2738418"/>
                  </a:cubicBezTo>
                  <a:lnTo>
                    <a:pt x="7154" y="2738418"/>
                  </a:lnTo>
                  <a:cubicBezTo>
                    <a:pt x="5257" y="2738418"/>
                    <a:pt x="3437" y="2737664"/>
                    <a:pt x="2095" y="2736323"/>
                  </a:cubicBezTo>
                  <a:cubicBezTo>
                    <a:pt x="754" y="2734981"/>
                    <a:pt x="0" y="2733161"/>
                    <a:pt x="0" y="2731264"/>
                  </a:cubicBezTo>
                  <a:lnTo>
                    <a:pt x="0" y="7154"/>
                  </a:lnTo>
                  <a:cubicBezTo>
                    <a:pt x="0" y="5257"/>
                    <a:pt x="754" y="3437"/>
                    <a:pt x="2095" y="2095"/>
                  </a:cubicBezTo>
                  <a:cubicBezTo>
                    <a:pt x="3437" y="754"/>
                    <a:pt x="5257" y="0"/>
                    <a:pt x="7154" y="0"/>
                  </a:cubicBezTo>
                  <a:close/>
                </a:path>
              </a:pathLst>
            </a:custGeom>
            <a:gradFill>
              <a:gsLst>
                <a:gs pos="0">
                  <a:srgbClr val="CDFFD8"/>
                </a:gs>
                <a:gs pos="100000">
                  <a:srgbClr val="94B9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1"/>
            <p:cNvSpPr txBox="1"/>
            <p:nvPr/>
          </p:nvSpPr>
          <p:spPr>
            <a:xfrm>
              <a:off x="0" y="-38100"/>
              <a:ext cx="4845353" cy="2776518"/>
            </a:xfrm>
            <a:prstGeom prst="rect">
              <a:avLst/>
            </a:prstGeom>
            <a:noFill/>
            <a:ln>
              <a:noFill/>
            </a:ln>
          </p:spPr>
          <p:txBody>
            <a:bodyPr anchorCtr="0" anchor="ctr" bIns="50800" lIns="50800" spcFirstLastPara="1" rIns="50800" wrap="square" tIns="50800">
              <a:noAutofit/>
            </a:bodyPr>
            <a:lstStyle/>
            <a:p>
              <a:pPr indent="0" lvl="0" marL="0" marR="0" rtl="0" algn="ctr">
                <a:lnSpc>
                  <a:spcPct val="187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p21"/>
          <p:cNvGrpSpPr/>
          <p:nvPr/>
        </p:nvGrpSpPr>
        <p:grpSpPr>
          <a:xfrm>
            <a:off x="9139238" y="1042347"/>
            <a:ext cx="7439025" cy="1354921"/>
            <a:chOff x="0" y="0"/>
            <a:chExt cx="9918700" cy="1806562"/>
          </a:xfrm>
        </p:grpSpPr>
        <p:sp>
          <p:nvSpPr>
            <p:cNvPr id="362" name="Google Shape;362;p21"/>
            <p:cNvSpPr/>
            <p:nvPr/>
          </p:nvSpPr>
          <p:spPr>
            <a:xfrm>
              <a:off x="0" y="0"/>
              <a:ext cx="9918700" cy="1806562"/>
            </a:xfrm>
            <a:custGeom>
              <a:rect b="b" l="l" r="r" t="t"/>
              <a:pathLst>
                <a:path extrusionOk="0" h="1806562" w="9918700">
                  <a:moveTo>
                    <a:pt x="0" y="0"/>
                  </a:moveTo>
                  <a:lnTo>
                    <a:pt x="9918700" y="0"/>
                  </a:lnTo>
                  <a:lnTo>
                    <a:pt x="9918700" y="1806562"/>
                  </a:lnTo>
                  <a:lnTo>
                    <a:pt x="0" y="1806562"/>
                  </a:lnTo>
                  <a:close/>
                </a:path>
              </a:pathLst>
            </a:custGeom>
            <a:solidFill>
              <a:srgbClr val="000000">
                <a:alpha val="0"/>
              </a:srgbClr>
            </a:solidFill>
            <a:ln>
              <a:noFill/>
            </a:ln>
          </p:spPr>
        </p:sp>
        <p:sp>
          <p:nvSpPr>
            <p:cNvPr id="363" name="Google Shape;363;p21"/>
            <p:cNvSpPr txBox="1"/>
            <p:nvPr/>
          </p:nvSpPr>
          <p:spPr>
            <a:xfrm>
              <a:off x="0" y="28575"/>
              <a:ext cx="9918700" cy="1777987"/>
            </a:xfrm>
            <a:prstGeom prst="rect">
              <a:avLst/>
            </a:prstGeom>
            <a:noFill/>
            <a:ln>
              <a:noFill/>
            </a:ln>
          </p:spPr>
          <p:txBody>
            <a:bodyPr anchorCtr="0" anchor="t" bIns="0" lIns="0" spcFirstLastPara="1" rIns="0" wrap="square" tIns="0">
              <a:noAutofit/>
            </a:bodyPr>
            <a:lstStyle/>
            <a:p>
              <a:pPr indent="0" lvl="0" marL="0" marR="0" rtl="0" algn="just">
                <a:lnSpc>
                  <a:spcPct val="108002"/>
                </a:lnSpc>
                <a:spcBef>
                  <a:spcPts val="0"/>
                </a:spcBef>
                <a:spcAft>
                  <a:spcPts val="0"/>
                </a:spcAft>
                <a:buNone/>
              </a:pPr>
              <a:r>
                <a:rPr b="0" i="0" lang="en-US" sz="3999" u="none" cap="none" strike="noStrike">
                  <a:solidFill>
                    <a:srgbClr val="000000"/>
                  </a:solidFill>
                  <a:latin typeface="Arimo"/>
                  <a:ea typeface="Arimo"/>
                  <a:cs typeface="Arimo"/>
                  <a:sym typeface="Arimo"/>
                </a:rPr>
                <a:t>Desambiguación de Sombreado de Campos</a:t>
              </a:r>
              <a:endParaRPr/>
            </a:p>
          </p:txBody>
        </p:sp>
      </p:grpSp>
      <p:grpSp>
        <p:nvGrpSpPr>
          <p:cNvPr id="364" name="Google Shape;364;p21"/>
          <p:cNvGrpSpPr/>
          <p:nvPr/>
        </p:nvGrpSpPr>
        <p:grpSpPr>
          <a:xfrm>
            <a:off x="9153525" y="2578243"/>
            <a:ext cx="7429500" cy="19050"/>
            <a:chOff x="12700" y="0"/>
            <a:chExt cx="9906000" cy="25400"/>
          </a:xfrm>
        </p:grpSpPr>
        <p:sp>
          <p:nvSpPr>
            <p:cNvPr id="365" name="Google Shape;365;p21"/>
            <p:cNvSpPr/>
            <p:nvPr/>
          </p:nvSpPr>
          <p:spPr>
            <a:xfrm>
              <a:off x="12700" y="12700"/>
              <a:ext cx="9906000" cy="0"/>
            </a:xfrm>
            <a:custGeom>
              <a:rect b="b" l="l" r="r" t="t"/>
              <a:pathLst>
                <a:path extrusionOk="0" h="120000" w="9906000">
                  <a:moveTo>
                    <a:pt x="0" y="0"/>
                  </a:moveTo>
                  <a:lnTo>
                    <a:pt x="9906000" y="0"/>
                  </a:lnTo>
                </a:path>
              </a:pathLst>
            </a:custGeom>
            <a:solidFill>
              <a:srgbClr val="E729B1"/>
            </a:solidFill>
            <a:ln>
              <a:noFill/>
            </a:ln>
          </p:spPr>
        </p:sp>
        <p:sp>
          <p:nvSpPr>
            <p:cNvPr id="366" name="Google Shape;366;p21"/>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E729B1"/>
            </a:solidFill>
            <a:ln>
              <a:noFill/>
            </a:ln>
          </p:spPr>
        </p:sp>
      </p:grpSp>
      <p:grpSp>
        <p:nvGrpSpPr>
          <p:cNvPr id="367" name="Google Shape;367;p21"/>
          <p:cNvGrpSpPr/>
          <p:nvPr/>
        </p:nvGrpSpPr>
        <p:grpSpPr>
          <a:xfrm>
            <a:off x="9153525" y="2775887"/>
            <a:ext cx="7439025" cy="1401961"/>
            <a:chOff x="0" y="0"/>
            <a:chExt cx="9918700" cy="1869282"/>
          </a:xfrm>
        </p:grpSpPr>
        <p:sp>
          <p:nvSpPr>
            <p:cNvPr id="368" name="Google Shape;368;p21"/>
            <p:cNvSpPr/>
            <p:nvPr/>
          </p:nvSpPr>
          <p:spPr>
            <a:xfrm>
              <a:off x="0" y="0"/>
              <a:ext cx="9918700" cy="1869282"/>
            </a:xfrm>
            <a:custGeom>
              <a:rect b="b" l="l" r="r" t="t"/>
              <a:pathLst>
                <a:path extrusionOk="0" h="1869282" w="9918700">
                  <a:moveTo>
                    <a:pt x="0" y="0"/>
                  </a:moveTo>
                  <a:lnTo>
                    <a:pt x="9918700" y="0"/>
                  </a:lnTo>
                  <a:lnTo>
                    <a:pt x="9918700" y="1869282"/>
                  </a:lnTo>
                  <a:lnTo>
                    <a:pt x="0" y="1869282"/>
                  </a:lnTo>
                  <a:close/>
                </a:path>
              </a:pathLst>
            </a:custGeom>
            <a:solidFill>
              <a:srgbClr val="000000">
                <a:alpha val="0"/>
              </a:srgbClr>
            </a:solidFill>
            <a:ln>
              <a:noFill/>
            </a:ln>
          </p:spPr>
        </p:sp>
        <p:sp>
          <p:nvSpPr>
            <p:cNvPr id="369" name="Google Shape;369;p21"/>
            <p:cNvSpPr txBox="1"/>
            <p:nvPr/>
          </p:nvSpPr>
          <p:spPr>
            <a:xfrm>
              <a:off x="0" y="28575"/>
              <a:ext cx="9918700" cy="1840707"/>
            </a:xfrm>
            <a:prstGeom prst="rect">
              <a:avLst/>
            </a:prstGeom>
            <a:noFill/>
            <a:ln>
              <a:noFill/>
            </a:ln>
          </p:spPr>
          <p:txBody>
            <a:bodyPr anchorCtr="0" anchor="t" bIns="0" lIns="0" spcFirstLastPara="1" rIns="0" wrap="square" tIns="0">
              <a:noAutofit/>
            </a:bodyPr>
            <a:lstStyle/>
            <a:p>
              <a:pPr indent="0" lvl="0" marL="0" marR="0" rtl="0" algn="just">
                <a:lnSpc>
                  <a:spcPct val="108002"/>
                </a:lnSpc>
                <a:spcBef>
                  <a:spcPts val="0"/>
                </a:spcBef>
                <a:spcAft>
                  <a:spcPts val="0"/>
                </a:spcAft>
                <a:buNone/>
              </a:pPr>
              <a:r>
                <a:rPr b="0" i="0" lang="en-US" sz="3999" u="none" cap="none" strike="noStrike">
                  <a:solidFill>
                    <a:srgbClr val="000000"/>
                  </a:solidFill>
                  <a:latin typeface="Arimo"/>
                  <a:ea typeface="Arimo"/>
                  <a:cs typeface="Arimo"/>
                  <a:sym typeface="Arimo"/>
                </a:rPr>
                <a:t>Referencia a Constructores de la Misma Clase</a:t>
              </a:r>
              <a:endParaRPr/>
            </a:p>
          </p:txBody>
        </p:sp>
      </p:grpSp>
      <p:grpSp>
        <p:nvGrpSpPr>
          <p:cNvPr id="370" name="Google Shape;370;p21"/>
          <p:cNvGrpSpPr/>
          <p:nvPr/>
        </p:nvGrpSpPr>
        <p:grpSpPr>
          <a:xfrm>
            <a:off x="9153525" y="4356442"/>
            <a:ext cx="7429500" cy="19050"/>
            <a:chOff x="12700" y="0"/>
            <a:chExt cx="9906000" cy="25400"/>
          </a:xfrm>
        </p:grpSpPr>
        <p:sp>
          <p:nvSpPr>
            <p:cNvPr id="371" name="Google Shape;371;p21"/>
            <p:cNvSpPr/>
            <p:nvPr/>
          </p:nvSpPr>
          <p:spPr>
            <a:xfrm>
              <a:off x="12700" y="12700"/>
              <a:ext cx="9906000" cy="0"/>
            </a:xfrm>
            <a:custGeom>
              <a:rect b="b" l="l" r="r" t="t"/>
              <a:pathLst>
                <a:path extrusionOk="0" h="120000" w="9906000">
                  <a:moveTo>
                    <a:pt x="0" y="0"/>
                  </a:moveTo>
                  <a:lnTo>
                    <a:pt x="9906000" y="0"/>
                  </a:lnTo>
                </a:path>
              </a:pathLst>
            </a:custGeom>
            <a:solidFill>
              <a:srgbClr val="17BE15"/>
            </a:solidFill>
            <a:ln>
              <a:noFill/>
            </a:ln>
          </p:spPr>
        </p:sp>
        <p:sp>
          <p:nvSpPr>
            <p:cNvPr id="372" name="Google Shape;372;p21"/>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17BE15"/>
            </a:solidFill>
            <a:ln>
              <a:noFill/>
            </a:ln>
          </p:spPr>
        </p:sp>
      </p:grpSp>
      <p:grpSp>
        <p:nvGrpSpPr>
          <p:cNvPr id="373" name="Google Shape;373;p21"/>
          <p:cNvGrpSpPr/>
          <p:nvPr/>
        </p:nvGrpSpPr>
        <p:grpSpPr>
          <a:xfrm>
            <a:off x="9198600" y="4846395"/>
            <a:ext cx="7439025" cy="811996"/>
            <a:chOff x="0" y="0"/>
            <a:chExt cx="9918700" cy="1082662"/>
          </a:xfrm>
        </p:grpSpPr>
        <p:sp>
          <p:nvSpPr>
            <p:cNvPr id="374" name="Google Shape;374;p21"/>
            <p:cNvSpPr/>
            <p:nvPr/>
          </p:nvSpPr>
          <p:spPr>
            <a:xfrm>
              <a:off x="0" y="0"/>
              <a:ext cx="9918700" cy="1082662"/>
            </a:xfrm>
            <a:custGeom>
              <a:rect b="b" l="l" r="r" t="t"/>
              <a:pathLst>
                <a:path extrusionOk="0" h="1082662" w="9918700">
                  <a:moveTo>
                    <a:pt x="0" y="0"/>
                  </a:moveTo>
                  <a:lnTo>
                    <a:pt x="9918700" y="0"/>
                  </a:lnTo>
                  <a:lnTo>
                    <a:pt x="9918700" y="1082662"/>
                  </a:lnTo>
                  <a:lnTo>
                    <a:pt x="0" y="1082662"/>
                  </a:lnTo>
                  <a:close/>
                </a:path>
              </a:pathLst>
            </a:custGeom>
            <a:solidFill>
              <a:srgbClr val="000000">
                <a:alpha val="0"/>
              </a:srgbClr>
            </a:solidFill>
            <a:ln>
              <a:noFill/>
            </a:ln>
          </p:spPr>
        </p:sp>
        <p:sp>
          <p:nvSpPr>
            <p:cNvPr id="375" name="Google Shape;375;p21"/>
            <p:cNvSpPr txBox="1"/>
            <p:nvPr/>
          </p:nvSpPr>
          <p:spPr>
            <a:xfrm>
              <a:off x="0" y="28575"/>
              <a:ext cx="9918700" cy="1054087"/>
            </a:xfrm>
            <a:prstGeom prst="rect">
              <a:avLst/>
            </a:prstGeom>
            <a:noFill/>
            <a:ln>
              <a:noFill/>
            </a:ln>
          </p:spPr>
          <p:txBody>
            <a:bodyPr anchorCtr="0" anchor="t" bIns="0" lIns="0" spcFirstLastPara="1" rIns="0" wrap="square" tIns="0">
              <a:noAutofit/>
            </a:bodyPr>
            <a:lstStyle/>
            <a:p>
              <a:pPr indent="0" lvl="0" marL="0" marR="0" rtl="0" algn="just">
                <a:lnSpc>
                  <a:spcPct val="108002"/>
                </a:lnSpc>
                <a:spcBef>
                  <a:spcPts val="0"/>
                </a:spcBef>
                <a:spcAft>
                  <a:spcPts val="0"/>
                </a:spcAft>
                <a:buNone/>
              </a:pPr>
              <a:r>
                <a:rPr b="0" i="0" lang="en-US" sz="3999" u="none" cap="none" strike="noStrike">
                  <a:solidFill>
                    <a:srgbClr val="000000"/>
                  </a:solidFill>
                  <a:latin typeface="Arimo"/>
                  <a:ea typeface="Arimo"/>
                  <a:cs typeface="Arimo"/>
                  <a:sym typeface="Arimo"/>
                </a:rPr>
                <a:t>Pasar this como Parámetro</a:t>
              </a:r>
              <a:endParaRPr/>
            </a:p>
          </p:txBody>
        </p:sp>
      </p:grpSp>
      <p:grpSp>
        <p:nvGrpSpPr>
          <p:cNvPr id="376" name="Google Shape;376;p21"/>
          <p:cNvGrpSpPr/>
          <p:nvPr/>
        </p:nvGrpSpPr>
        <p:grpSpPr>
          <a:xfrm>
            <a:off x="9153525" y="6134641"/>
            <a:ext cx="7429500" cy="19050"/>
            <a:chOff x="12700" y="0"/>
            <a:chExt cx="9906000" cy="25400"/>
          </a:xfrm>
        </p:grpSpPr>
        <p:sp>
          <p:nvSpPr>
            <p:cNvPr id="377" name="Google Shape;377;p21"/>
            <p:cNvSpPr/>
            <p:nvPr/>
          </p:nvSpPr>
          <p:spPr>
            <a:xfrm>
              <a:off x="12700" y="12700"/>
              <a:ext cx="9906000" cy="0"/>
            </a:xfrm>
            <a:custGeom>
              <a:rect b="b" l="l" r="r" t="t"/>
              <a:pathLst>
                <a:path extrusionOk="0" h="120000" w="9906000">
                  <a:moveTo>
                    <a:pt x="0" y="0"/>
                  </a:moveTo>
                  <a:lnTo>
                    <a:pt x="9906000" y="0"/>
                  </a:lnTo>
                </a:path>
              </a:pathLst>
            </a:custGeom>
            <a:solidFill>
              <a:srgbClr val="2E3192"/>
            </a:solidFill>
            <a:ln>
              <a:noFill/>
            </a:ln>
          </p:spPr>
        </p:sp>
        <p:sp>
          <p:nvSpPr>
            <p:cNvPr id="378" name="Google Shape;378;p21"/>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2E3192"/>
            </a:solidFill>
            <a:ln>
              <a:noFill/>
            </a:ln>
          </p:spPr>
        </p:sp>
      </p:grpSp>
      <p:grpSp>
        <p:nvGrpSpPr>
          <p:cNvPr id="379" name="Google Shape;379;p21"/>
          <p:cNvGrpSpPr/>
          <p:nvPr/>
        </p:nvGrpSpPr>
        <p:grpSpPr>
          <a:xfrm>
            <a:off x="9153525" y="6528122"/>
            <a:ext cx="7439025" cy="813238"/>
            <a:chOff x="0" y="0"/>
            <a:chExt cx="9918700" cy="1084317"/>
          </a:xfrm>
        </p:grpSpPr>
        <p:sp>
          <p:nvSpPr>
            <p:cNvPr id="380" name="Google Shape;380;p21"/>
            <p:cNvSpPr/>
            <p:nvPr/>
          </p:nvSpPr>
          <p:spPr>
            <a:xfrm>
              <a:off x="0" y="0"/>
              <a:ext cx="9918700" cy="1084317"/>
            </a:xfrm>
            <a:custGeom>
              <a:rect b="b" l="l" r="r" t="t"/>
              <a:pathLst>
                <a:path extrusionOk="0" h="1084317" w="9918700">
                  <a:moveTo>
                    <a:pt x="0" y="0"/>
                  </a:moveTo>
                  <a:lnTo>
                    <a:pt x="9918700" y="0"/>
                  </a:lnTo>
                  <a:lnTo>
                    <a:pt x="9918700" y="1084317"/>
                  </a:lnTo>
                  <a:lnTo>
                    <a:pt x="0" y="1084317"/>
                  </a:lnTo>
                  <a:close/>
                </a:path>
              </a:pathLst>
            </a:custGeom>
            <a:solidFill>
              <a:srgbClr val="000000">
                <a:alpha val="0"/>
              </a:srgbClr>
            </a:solidFill>
            <a:ln>
              <a:noFill/>
            </a:ln>
          </p:spPr>
        </p:sp>
        <p:sp>
          <p:nvSpPr>
            <p:cNvPr id="381" name="Google Shape;381;p21"/>
            <p:cNvSpPr txBox="1"/>
            <p:nvPr/>
          </p:nvSpPr>
          <p:spPr>
            <a:xfrm>
              <a:off x="0" y="28575"/>
              <a:ext cx="9918700" cy="1055742"/>
            </a:xfrm>
            <a:prstGeom prst="rect">
              <a:avLst/>
            </a:prstGeom>
            <a:noFill/>
            <a:ln>
              <a:noFill/>
            </a:ln>
          </p:spPr>
          <p:txBody>
            <a:bodyPr anchorCtr="0" anchor="t" bIns="0" lIns="0" spcFirstLastPara="1" rIns="0" wrap="square" tIns="0">
              <a:noAutofit/>
            </a:bodyPr>
            <a:lstStyle/>
            <a:p>
              <a:pPr indent="0" lvl="0" marL="0" marR="0" rtl="0" algn="just">
                <a:lnSpc>
                  <a:spcPct val="108002"/>
                </a:lnSpc>
                <a:spcBef>
                  <a:spcPts val="0"/>
                </a:spcBef>
                <a:spcAft>
                  <a:spcPts val="0"/>
                </a:spcAft>
                <a:buNone/>
              </a:pPr>
              <a:r>
                <a:rPr b="0" i="0" lang="en-US" sz="3999" u="none" cap="none" strike="noStrike">
                  <a:solidFill>
                    <a:srgbClr val="000000"/>
                  </a:solidFill>
                  <a:latin typeface="Arimo"/>
                  <a:ea typeface="Arimo"/>
                  <a:cs typeface="Arimo"/>
                  <a:sym typeface="Arimo"/>
                </a:rPr>
                <a:t>Devolver this</a:t>
              </a:r>
              <a:endParaRPr/>
            </a:p>
          </p:txBody>
        </p:sp>
      </p:grpSp>
      <p:grpSp>
        <p:nvGrpSpPr>
          <p:cNvPr id="382" name="Google Shape;382;p21"/>
          <p:cNvGrpSpPr/>
          <p:nvPr/>
        </p:nvGrpSpPr>
        <p:grpSpPr>
          <a:xfrm>
            <a:off x="9153525" y="800045"/>
            <a:ext cx="7429500" cy="19050"/>
            <a:chOff x="12700" y="0"/>
            <a:chExt cx="9906000" cy="25400"/>
          </a:xfrm>
        </p:grpSpPr>
        <p:sp>
          <p:nvSpPr>
            <p:cNvPr id="383" name="Google Shape;383;p21"/>
            <p:cNvSpPr/>
            <p:nvPr/>
          </p:nvSpPr>
          <p:spPr>
            <a:xfrm>
              <a:off x="12700" y="12700"/>
              <a:ext cx="9906000" cy="0"/>
            </a:xfrm>
            <a:custGeom>
              <a:rect b="b" l="l" r="r" t="t"/>
              <a:pathLst>
                <a:path extrusionOk="0" h="120000" w="9906000">
                  <a:moveTo>
                    <a:pt x="0" y="0"/>
                  </a:moveTo>
                  <a:lnTo>
                    <a:pt x="9906000" y="0"/>
                  </a:lnTo>
                </a:path>
              </a:pathLst>
            </a:custGeom>
            <a:solidFill>
              <a:srgbClr val="7F29E7"/>
            </a:solidFill>
            <a:ln>
              <a:noFill/>
            </a:ln>
          </p:spPr>
        </p:sp>
        <p:sp>
          <p:nvSpPr>
            <p:cNvPr id="384" name="Google Shape;384;p21"/>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7F29E7"/>
            </a:solidFill>
            <a:ln>
              <a:noFill/>
            </a:ln>
          </p:spPr>
        </p:sp>
      </p:grpSp>
      <p:sp>
        <p:nvSpPr>
          <p:cNvPr id="385" name="Google Shape;385;p21"/>
          <p:cNvSpPr txBox="1"/>
          <p:nvPr/>
        </p:nvSpPr>
        <p:spPr>
          <a:xfrm>
            <a:off x="1553997" y="3039059"/>
            <a:ext cx="6287873" cy="559562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12700" u="none" cap="none" strike="noStrike">
                <a:solidFill>
                  <a:srgbClr val="000000"/>
                </a:solidFill>
                <a:latin typeface="Play"/>
                <a:ea typeface="Play"/>
                <a:cs typeface="Play"/>
                <a:sym typeface="Play"/>
              </a:rPr>
              <a:t>Como y Cuando Usarlo</a:t>
            </a:r>
            <a:endParaRPr/>
          </a:p>
        </p:txBody>
      </p:sp>
      <p:grpSp>
        <p:nvGrpSpPr>
          <p:cNvPr id="386" name="Google Shape;386;p21"/>
          <p:cNvGrpSpPr/>
          <p:nvPr/>
        </p:nvGrpSpPr>
        <p:grpSpPr>
          <a:xfrm>
            <a:off x="9198600" y="7915816"/>
            <a:ext cx="7439025" cy="1437734"/>
            <a:chOff x="0" y="0"/>
            <a:chExt cx="9918700" cy="1916979"/>
          </a:xfrm>
        </p:grpSpPr>
        <p:sp>
          <p:nvSpPr>
            <p:cNvPr id="387" name="Google Shape;387;p21"/>
            <p:cNvSpPr/>
            <p:nvPr/>
          </p:nvSpPr>
          <p:spPr>
            <a:xfrm>
              <a:off x="0" y="0"/>
              <a:ext cx="9918700" cy="1916979"/>
            </a:xfrm>
            <a:custGeom>
              <a:rect b="b" l="l" r="r" t="t"/>
              <a:pathLst>
                <a:path extrusionOk="0" h="1916979" w="9918700">
                  <a:moveTo>
                    <a:pt x="0" y="0"/>
                  </a:moveTo>
                  <a:lnTo>
                    <a:pt x="9918700" y="0"/>
                  </a:lnTo>
                  <a:lnTo>
                    <a:pt x="9918700" y="1916979"/>
                  </a:lnTo>
                  <a:lnTo>
                    <a:pt x="0" y="1916979"/>
                  </a:lnTo>
                  <a:close/>
                </a:path>
              </a:pathLst>
            </a:custGeom>
            <a:solidFill>
              <a:srgbClr val="000000">
                <a:alpha val="0"/>
              </a:srgbClr>
            </a:solidFill>
            <a:ln>
              <a:noFill/>
            </a:ln>
          </p:spPr>
        </p:sp>
        <p:sp>
          <p:nvSpPr>
            <p:cNvPr id="388" name="Google Shape;388;p21"/>
            <p:cNvSpPr txBox="1"/>
            <p:nvPr/>
          </p:nvSpPr>
          <p:spPr>
            <a:xfrm>
              <a:off x="0" y="28575"/>
              <a:ext cx="9918700" cy="1888404"/>
            </a:xfrm>
            <a:prstGeom prst="rect">
              <a:avLst/>
            </a:prstGeom>
            <a:noFill/>
            <a:ln>
              <a:noFill/>
            </a:ln>
          </p:spPr>
          <p:txBody>
            <a:bodyPr anchorCtr="0" anchor="t" bIns="0" lIns="0" spcFirstLastPara="1" rIns="0" wrap="square" tIns="0">
              <a:noAutofit/>
            </a:bodyPr>
            <a:lstStyle/>
            <a:p>
              <a:pPr indent="0" lvl="0" marL="0" marR="0" rtl="0" algn="just">
                <a:lnSpc>
                  <a:spcPct val="108002"/>
                </a:lnSpc>
                <a:spcBef>
                  <a:spcPts val="0"/>
                </a:spcBef>
                <a:spcAft>
                  <a:spcPts val="0"/>
                </a:spcAft>
                <a:buNone/>
              </a:pPr>
              <a:r>
                <a:rPr b="0" i="0" lang="en-US" sz="3999" u="none" cap="none" strike="noStrike">
                  <a:solidFill>
                    <a:srgbClr val="000000"/>
                  </a:solidFill>
                  <a:latin typeface="Arimo"/>
                  <a:ea typeface="Arimo"/>
                  <a:cs typeface="Arimo"/>
                  <a:sym typeface="Arimo"/>
                </a:rPr>
                <a:t>La Palabra Clave this Dentro de la Clase Interna</a:t>
              </a:r>
              <a:endParaRPr/>
            </a:p>
          </p:txBody>
        </p:sp>
      </p:grpSp>
      <p:grpSp>
        <p:nvGrpSpPr>
          <p:cNvPr id="389" name="Google Shape;389;p21"/>
          <p:cNvGrpSpPr/>
          <p:nvPr/>
        </p:nvGrpSpPr>
        <p:grpSpPr>
          <a:xfrm>
            <a:off x="9148762" y="7715791"/>
            <a:ext cx="7429500" cy="19050"/>
            <a:chOff x="12700" y="0"/>
            <a:chExt cx="9906000" cy="25400"/>
          </a:xfrm>
        </p:grpSpPr>
        <p:sp>
          <p:nvSpPr>
            <p:cNvPr id="390" name="Google Shape;390;p21"/>
            <p:cNvSpPr/>
            <p:nvPr/>
          </p:nvSpPr>
          <p:spPr>
            <a:xfrm>
              <a:off x="12700" y="12700"/>
              <a:ext cx="9906000" cy="0"/>
            </a:xfrm>
            <a:custGeom>
              <a:rect b="b" l="l" r="r" t="t"/>
              <a:pathLst>
                <a:path extrusionOk="0" h="120000" w="9906000">
                  <a:moveTo>
                    <a:pt x="0" y="0"/>
                  </a:moveTo>
                  <a:lnTo>
                    <a:pt x="9906000" y="0"/>
                  </a:lnTo>
                </a:path>
              </a:pathLst>
            </a:custGeom>
            <a:solidFill>
              <a:srgbClr val="FEFDFD"/>
            </a:solidFill>
            <a:ln>
              <a:noFill/>
            </a:ln>
          </p:spPr>
        </p:sp>
        <p:sp>
          <p:nvSpPr>
            <p:cNvPr id="391" name="Google Shape;391;p21"/>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FEFDFD"/>
            </a:solidFill>
            <a:ln>
              <a:noFill/>
            </a:ln>
          </p:spPr>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2"/>
          <p:cNvSpPr/>
          <p:nvPr/>
        </p:nvSpPr>
        <p:spPr>
          <a:xfrm>
            <a:off x="0" y="-270"/>
            <a:ext cx="18287974" cy="4060686"/>
          </a:xfrm>
          <a:custGeom>
            <a:rect b="b" l="l" r="r" t="t"/>
            <a:pathLst>
              <a:path extrusionOk="0" h="3658362" w="16476039">
                <a:moveTo>
                  <a:pt x="0" y="0"/>
                </a:moveTo>
                <a:lnTo>
                  <a:pt x="16476039" y="0"/>
                </a:lnTo>
                <a:lnTo>
                  <a:pt x="9512084" y="2846578"/>
                </a:lnTo>
                <a:lnTo>
                  <a:pt x="9348986" y="2909824"/>
                </a:lnTo>
                <a:cubicBezTo>
                  <a:pt x="8075654" y="3378200"/>
                  <a:pt x="6616794" y="3622421"/>
                  <a:pt x="5153547" y="3654044"/>
                </a:cubicBezTo>
                <a:cubicBezTo>
                  <a:pt x="5001176" y="3657346"/>
                  <a:pt x="4848562" y="3658362"/>
                  <a:pt x="4696435" y="3656965"/>
                </a:cubicBezTo>
                <a:cubicBezTo>
                  <a:pt x="3021087" y="3642487"/>
                  <a:pt x="1364999" y="3350260"/>
                  <a:pt x="975" y="2797429"/>
                </a:cubicBezTo>
                <a:lnTo>
                  <a:pt x="0" y="2796921"/>
                </a:lnTo>
                <a:close/>
              </a:path>
            </a:pathLst>
          </a:custGeom>
          <a:gradFill>
            <a:gsLst>
              <a:gs pos="0">
                <a:srgbClr val="CDFFD8"/>
              </a:gs>
              <a:gs pos="100000">
                <a:srgbClr val="94B9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 name="Google Shape;397;p22"/>
          <p:cNvGrpSpPr/>
          <p:nvPr/>
        </p:nvGrpSpPr>
        <p:grpSpPr>
          <a:xfrm>
            <a:off x="0" y="-88984"/>
            <a:ext cx="15209747" cy="3601718"/>
            <a:chOff x="0" y="0"/>
            <a:chExt cx="20279663" cy="4802291"/>
          </a:xfrm>
        </p:grpSpPr>
        <p:sp>
          <p:nvSpPr>
            <p:cNvPr id="398" name="Google Shape;398;p22"/>
            <p:cNvSpPr/>
            <p:nvPr/>
          </p:nvSpPr>
          <p:spPr>
            <a:xfrm>
              <a:off x="0" y="0"/>
              <a:ext cx="20279663" cy="4802291"/>
            </a:xfrm>
            <a:custGeom>
              <a:rect b="b" l="l" r="r" t="t"/>
              <a:pathLst>
                <a:path extrusionOk="0" h="4802291" w="20279663">
                  <a:moveTo>
                    <a:pt x="0" y="0"/>
                  </a:moveTo>
                  <a:lnTo>
                    <a:pt x="20279663" y="0"/>
                  </a:lnTo>
                  <a:lnTo>
                    <a:pt x="20279663" y="4802291"/>
                  </a:lnTo>
                  <a:lnTo>
                    <a:pt x="0" y="4802291"/>
                  </a:lnTo>
                  <a:close/>
                </a:path>
              </a:pathLst>
            </a:custGeom>
            <a:gradFill>
              <a:gsLst>
                <a:gs pos="0">
                  <a:srgbClr val="CDFFD8">
                    <a:alpha val="0"/>
                  </a:srgbClr>
                </a:gs>
                <a:gs pos="100000">
                  <a:srgbClr val="94B9FF">
                    <a:alpha val="0"/>
                  </a:srgbClr>
                </a:gs>
              </a:gsLst>
              <a:lin ang="0" scaled="0"/>
            </a:gradFill>
            <a:ln>
              <a:noFill/>
            </a:ln>
          </p:spPr>
        </p:sp>
        <p:sp>
          <p:nvSpPr>
            <p:cNvPr id="399" name="Google Shape;399;p22"/>
            <p:cNvSpPr txBox="1"/>
            <p:nvPr/>
          </p:nvSpPr>
          <p:spPr>
            <a:xfrm>
              <a:off x="0" y="28575"/>
              <a:ext cx="20279663" cy="4773716"/>
            </a:xfrm>
            <a:prstGeom prst="rect">
              <a:avLst/>
            </a:prstGeom>
            <a:noFill/>
            <a:ln>
              <a:noFill/>
            </a:ln>
          </p:spPr>
          <p:txBody>
            <a:bodyPr anchorCtr="0" anchor="t" bIns="0" lIns="0" spcFirstLastPara="1" rIns="0" wrap="square" tIns="0">
              <a:noAutofit/>
            </a:bodyPr>
            <a:lstStyle/>
            <a:p>
              <a:pPr indent="0" lvl="0" marL="0" marR="0" rtl="0" algn="ctr">
                <a:lnSpc>
                  <a:spcPct val="115001"/>
                </a:lnSpc>
                <a:spcBef>
                  <a:spcPts val="0"/>
                </a:spcBef>
                <a:spcAft>
                  <a:spcPts val="0"/>
                </a:spcAft>
                <a:buNone/>
              </a:pPr>
              <a:r>
                <a:rPr b="0" i="0" lang="en-US" sz="8000" u="none" cap="none" strike="noStrike">
                  <a:solidFill>
                    <a:srgbClr val="000000"/>
                  </a:solidFill>
                  <a:latin typeface="Play"/>
                  <a:ea typeface="Play"/>
                  <a:cs typeface="Play"/>
                  <a:sym typeface="Play"/>
                </a:rPr>
                <a:t>Desambiguación de Sombreado de Campos</a:t>
              </a:r>
              <a:endParaRPr sz="8000"/>
            </a:p>
          </p:txBody>
        </p:sp>
      </p:grpSp>
      <p:sp>
        <p:nvSpPr>
          <p:cNvPr id="400" name="Google Shape;400;p22"/>
          <p:cNvSpPr/>
          <p:nvPr/>
        </p:nvSpPr>
        <p:spPr>
          <a:xfrm>
            <a:off x="8895046" y="4379351"/>
            <a:ext cx="8680721" cy="3493990"/>
          </a:xfrm>
          <a:custGeom>
            <a:rect b="b" l="l" r="r" t="t"/>
            <a:pathLst>
              <a:path extrusionOk="0" h="3493990" w="8680721">
                <a:moveTo>
                  <a:pt x="0" y="0"/>
                </a:moveTo>
                <a:lnTo>
                  <a:pt x="8680721" y="0"/>
                </a:lnTo>
                <a:lnTo>
                  <a:pt x="8680721" y="3493990"/>
                </a:lnTo>
                <a:lnTo>
                  <a:pt x="0" y="3493990"/>
                </a:lnTo>
                <a:lnTo>
                  <a:pt x="0" y="0"/>
                </a:lnTo>
                <a:close/>
              </a:path>
            </a:pathLst>
          </a:custGeom>
          <a:blipFill rotWithShape="1">
            <a:blip r:embed="rId3">
              <a:alphaModFix/>
            </a:blip>
            <a:stretch>
              <a:fillRect b="0" l="0" r="0" t="0"/>
            </a:stretch>
          </a:blipFill>
          <a:ln>
            <a:noFill/>
          </a:ln>
        </p:spPr>
      </p:sp>
      <p:sp>
        <p:nvSpPr>
          <p:cNvPr id="401" name="Google Shape;401;p22"/>
          <p:cNvSpPr txBox="1"/>
          <p:nvPr/>
        </p:nvSpPr>
        <p:spPr>
          <a:xfrm>
            <a:off x="628132" y="4802371"/>
            <a:ext cx="7732915" cy="264795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None/>
            </a:pPr>
            <a:r>
              <a:rPr b="0" i="0" lang="en-US" sz="3000" u="none" cap="none" strike="noStrike">
                <a:solidFill>
                  <a:srgbClr val="000000"/>
                </a:solidFill>
                <a:latin typeface="Arimo"/>
                <a:ea typeface="Arimo"/>
                <a:cs typeface="Arimo"/>
                <a:sym typeface="Arimo"/>
              </a:rPr>
              <a:t>La palabra clave this es útil para desambiguar y diferenciar las variables de instancia de los parámetros locales. La razón más común es cuando tenemos parámetros de constructor con el mismo nombre que los campos de instancia: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3"/>
          <p:cNvSpPr/>
          <p:nvPr/>
        </p:nvSpPr>
        <p:spPr>
          <a:xfrm>
            <a:off x="-41274" y="6264175"/>
            <a:ext cx="18370545" cy="4022829"/>
          </a:xfrm>
          <a:custGeom>
            <a:rect b="b" l="l" r="r" t="t"/>
            <a:pathLst>
              <a:path extrusionOk="0" h="5363772" w="26057510">
                <a:moveTo>
                  <a:pt x="21072801" y="1154"/>
                </a:moveTo>
                <a:cubicBezTo>
                  <a:pt x="22850991" y="12313"/>
                  <a:pt x="24608740" y="237550"/>
                  <a:pt x="26056496" y="663650"/>
                </a:cubicBezTo>
                <a:lnTo>
                  <a:pt x="26057510" y="664041"/>
                </a:lnTo>
                <a:lnTo>
                  <a:pt x="26057510" y="5363772"/>
                </a:lnTo>
                <a:lnTo>
                  <a:pt x="0" y="5363772"/>
                </a:lnTo>
                <a:lnTo>
                  <a:pt x="15961537" y="625866"/>
                </a:lnTo>
                <a:lnTo>
                  <a:pt x="16134646" y="577118"/>
                </a:lnTo>
                <a:cubicBezTo>
                  <a:pt x="17485886" y="216015"/>
                  <a:pt x="19034558" y="27779"/>
                  <a:pt x="20587368" y="3503"/>
                </a:cubicBezTo>
                <a:cubicBezTo>
                  <a:pt x="20749093" y="958"/>
                  <a:pt x="20911076" y="0"/>
                  <a:pt x="21072542" y="1251"/>
                </a:cubicBezTo>
                <a:close/>
              </a:path>
            </a:pathLst>
          </a:custGeom>
          <a:gradFill>
            <a:gsLst>
              <a:gs pos="0">
                <a:srgbClr val="CDFFD8"/>
              </a:gs>
              <a:gs pos="100000">
                <a:srgbClr val="94B9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3"/>
          <p:cNvSpPr/>
          <p:nvPr/>
        </p:nvSpPr>
        <p:spPr>
          <a:xfrm>
            <a:off x="5715000" y="3093985"/>
            <a:ext cx="6735113" cy="2049515"/>
          </a:xfrm>
          <a:custGeom>
            <a:rect b="b" l="l" r="r" t="t"/>
            <a:pathLst>
              <a:path extrusionOk="0" h="2049515" w="6735113">
                <a:moveTo>
                  <a:pt x="0" y="0"/>
                </a:moveTo>
                <a:lnTo>
                  <a:pt x="6735113" y="0"/>
                </a:lnTo>
                <a:lnTo>
                  <a:pt x="6735113" y="2049515"/>
                </a:lnTo>
                <a:lnTo>
                  <a:pt x="0" y="2049515"/>
                </a:lnTo>
                <a:lnTo>
                  <a:pt x="0" y="0"/>
                </a:lnTo>
                <a:close/>
              </a:path>
            </a:pathLst>
          </a:custGeom>
          <a:blipFill rotWithShape="1">
            <a:blip r:embed="rId3">
              <a:alphaModFix/>
            </a:blip>
            <a:stretch>
              <a:fillRect b="0" l="0" r="-36000" t="0"/>
            </a:stretch>
          </a:blipFill>
          <a:ln>
            <a:noFill/>
          </a:ln>
        </p:spPr>
      </p:sp>
      <p:sp>
        <p:nvSpPr>
          <p:cNvPr id="408" name="Google Shape;408;p23"/>
          <p:cNvSpPr txBox="1"/>
          <p:nvPr/>
        </p:nvSpPr>
        <p:spPr>
          <a:xfrm>
            <a:off x="775965" y="633495"/>
            <a:ext cx="16077300" cy="57720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None/>
            </a:pPr>
            <a:r>
              <a:rPr b="0" i="0" lang="en-US" sz="3000" u="none" cap="none" strike="noStrike">
                <a:solidFill>
                  <a:srgbClr val="000000"/>
                </a:solidFill>
                <a:latin typeface="Arimo"/>
                <a:ea typeface="Arimo"/>
                <a:cs typeface="Arimo"/>
                <a:sym typeface="Arimo"/>
              </a:rPr>
              <a:t>Desde un constructor, podemos usar this() para llamar a un constructor diferente de la misma clase. Aquí, usamos this() para la concatenación de constructores y reducir el uso de código.</a:t>
            </a:r>
            <a:endParaRPr/>
          </a:p>
          <a:p>
            <a:pPr indent="0" lvl="0" marL="0" marR="0" rtl="0" algn="just">
              <a:lnSpc>
                <a:spcPct val="115000"/>
              </a:lnSpc>
              <a:spcBef>
                <a:spcPts val="0"/>
              </a:spcBef>
              <a:spcAft>
                <a:spcPts val="0"/>
              </a:spcAft>
              <a:buNone/>
            </a:pPr>
            <a:r>
              <a:t/>
            </a:r>
            <a:endParaRPr b="0" i="0" sz="3000" u="none" cap="none" strike="noStrike">
              <a:solidFill>
                <a:srgbClr val="000000"/>
              </a:solidFill>
              <a:latin typeface="Arimo"/>
              <a:ea typeface="Arimo"/>
              <a:cs typeface="Arimo"/>
              <a:sym typeface="Arimo"/>
            </a:endParaRPr>
          </a:p>
          <a:p>
            <a:pPr indent="0" lvl="0" marL="0" marR="0" rtl="0" algn="just">
              <a:lnSpc>
                <a:spcPct val="115000"/>
              </a:lnSpc>
              <a:spcBef>
                <a:spcPts val="0"/>
              </a:spcBef>
              <a:spcAft>
                <a:spcPts val="0"/>
              </a:spcAft>
              <a:buNone/>
            </a:pPr>
            <a:r>
              <a:rPr b="0" i="0" lang="en-US" sz="3000" u="none" cap="none" strike="noStrike">
                <a:solidFill>
                  <a:srgbClr val="000000"/>
                </a:solidFill>
                <a:latin typeface="Arimo"/>
                <a:ea typeface="Arimo"/>
                <a:cs typeface="Arimo"/>
                <a:sym typeface="Arimo"/>
              </a:rPr>
              <a:t>El caso de uso más común es llamar a un constructor por defecto desde un constructor parametrizado</a:t>
            </a:r>
            <a:endParaRPr/>
          </a:p>
          <a:p>
            <a:pPr indent="0" lvl="0" marL="0" marR="0" rtl="0" algn="just">
              <a:lnSpc>
                <a:spcPct val="115000"/>
              </a:lnSpc>
              <a:spcBef>
                <a:spcPts val="0"/>
              </a:spcBef>
              <a:spcAft>
                <a:spcPts val="0"/>
              </a:spcAft>
              <a:buNone/>
            </a:pPr>
            <a:r>
              <a:t/>
            </a:r>
            <a:endParaRPr sz="3000">
              <a:latin typeface="Arimo"/>
              <a:ea typeface="Arimo"/>
              <a:cs typeface="Arimo"/>
              <a:sym typeface="Arimo"/>
            </a:endParaRPr>
          </a:p>
          <a:p>
            <a:pPr indent="0" lvl="0" marL="0" marR="0" rtl="0" algn="just">
              <a:lnSpc>
                <a:spcPct val="115000"/>
              </a:lnSpc>
              <a:spcBef>
                <a:spcPts val="0"/>
              </a:spcBef>
              <a:spcAft>
                <a:spcPts val="0"/>
              </a:spcAft>
              <a:buNone/>
            </a:pPr>
            <a:r>
              <a:rPr lang="en-US" sz="3000">
                <a:latin typeface="Arimo"/>
                <a:ea typeface="Arimo"/>
                <a:cs typeface="Arimo"/>
                <a:sym typeface="Arimo"/>
              </a:rPr>
              <a:t>		</a:t>
            </a:r>
            <a:endParaRPr sz="3000">
              <a:latin typeface="Arimo"/>
              <a:ea typeface="Arimo"/>
              <a:cs typeface="Arimo"/>
              <a:sym typeface="Arimo"/>
            </a:endParaRPr>
          </a:p>
          <a:p>
            <a:pPr indent="0" lvl="0" marL="0" marR="0" rtl="0" algn="just">
              <a:lnSpc>
                <a:spcPct val="115000"/>
              </a:lnSpc>
              <a:spcBef>
                <a:spcPts val="0"/>
              </a:spcBef>
              <a:spcAft>
                <a:spcPts val="0"/>
              </a:spcAft>
              <a:buNone/>
            </a:pPr>
            <a:r>
              <a:t/>
            </a:r>
            <a:endParaRPr sz="3000">
              <a:latin typeface="Arimo"/>
              <a:ea typeface="Arimo"/>
              <a:cs typeface="Arimo"/>
              <a:sym typeface="Arimo"/>
            </a:endParaRPr>
          </a:p>
          <a:p>
            <a:pPr indent="0" lvl="0" marL="0" marR="0" rtl="0" algn="just">
              <a:lnSpc>
                <a:spcPct val="115000"/>
              </a:lnSpc>
              <a:spcBef>
                <a:spcPts val="0"/>
              </a:spcBef>
              <a:spcAft>
                <a:spcPts val="0"/>
              </a:spcAft>
              <a:buNone/>
            </a:pPr>
            <a:r>
              <a:t/>
            </a:r>
            <a:endParaRPr sz="3000">
              <a:latin typeface="Arimo"/>
              <a:ea typeface="Arimo"/>
              <a:cs typeface="Arimo"/>
              <a:sym typeface="Arimo"/>
            </a:endParaRPr>
          </a:p>
          <a:p>
            <a:pPr indent="0" lvl="0" marL="0" marR="0" rtl="0" algn="just">
              <a:lnSpc>
                <a:spcPct val="115000"/>
              </a:lnSpc>
              <a:spcBef>
                <a:spcPts val="0"/>
              </a:spcBef>
              <a:spcAft>
                <a:spcPts val="0"/>
              </a:spcAft>
              <a:buNone/>
            </a:pPr>
            <a:r>
              <a:rPr b="0" i="0" lang="en-US" sz="3000" u="none" cap="none" strike="noStrike">
                <a:solidFill>
                  <a:srgbClr val="000000"/>
                </a:solidFill>
                <a:latin typeface="Arimo"/>
                <a:ea typeface="Arimo"/>
                <a:cs typeface="Arimo"/>
                <a:sym typeface="Arimo"/>
              </a:rPr>
              <a:t>O podemos llamar al constructor parametrizado desde el constructor sin argumentos y pasar algunos argumentos</a:t>
            </a:r>
            <a:endParaRPr/>
          </a:p>
        </p:txBody>
      </p:sp>
      <p:sp>
        <p:nvSpPr>
          <p:cNvPr id="409" name="Google Shape;409;p23"/>
          <p:cNvSpPr/>
          <p:nvPr/>
        </p:nvSpPr>
        <p:spPr>
          <a:xfrm>
            <a:off x="843990" y="6936788"/>
            <a:ext cx="5101159" cy="1741196"/>
          </a:xfrm>
          <a:custGeom>
            <a:rect b="b" l="l" r="r" t="t"/>
            <a:pathLst>
              <a:path extrusionOk="0" h="1741196" w="5101159">
                <a:moveTo>
                  <a:pt x="0" y="0"/>
                </a:moveTo>
                <a:lnTo>
                  <a:pt x="5101159" y="0"/>
                </a:lnTo>
                <a:lnTo>
                  <a:pt x="5101159" y="1741196"/>
                </a:lnTo>
                <a:lnTo>
                  <a:pt x="0" y="1741196"/>
                </a:lnTo>
                <a:lnTo>
                  <a:pt x="0" y="0"/>
                </a:lnTo>
                <a:close/>
              </a:path>
            </a:pathLst>
          </a:custGeom>
          <a:blipFill rotWithShape="1">
            <a:blip r:embed="rId4">
              <a:alphaModFix/>
            </a:blip>
            <a:stretch>
              <a:fillRect b="0" l="0" r="0" t="0"/>
            </a:stretch>
          </a:blipFill>
          <a:ln>
            <a:noFill/>
          </a:ln>
        </p:spPr>
      </p:sp>
      <p:sp>
        <p:nvSpPr>
          <p:cNvPr id="410" name="Google Shape;410;p23"/>
          <p:cNvSpPr txBox="1"/>
          <p:nvPr/>
        </p:nvSpPr>
        <p:spPr>
          <a:xfrm>
            <a:off x="6716573" y="7970700"/>
            <a:ext cx="11280600" cy="2316300"/>
          </a:xfrm>
          <a:prstGeom prst="rect">
            <a:avLst/>
          </a:prstGeom>
          <a:noFill/>
          <a:ln>
            <a:noFill/>
          </a:ln>
        </p:spPr>
        <p:txBody>
          <a:bodyPr anchorCtr="0" anchor="t" bIns="0" lIns="0" spcFirstLastPara="1" rIns="0" wrap="square" tIns="0">
            <a:spAutoFit/>
          </a:bodyPr>
          <a:lstStyle/>
          <a:p>
            <a:pPr indent="0" lvl="0" marL="0" marR="0" rtl="0" algn="ctr">
              <a:lnSpc>
                <a:spcPct val="114988"/>
              </a:lnSpc>
              <a:spcBef>
                <a:spcPts val="0"/>
              </a:spcBef>
              <a:spcAft>
                <a:spcPts val="0"/>
              </a:spcAft>
              <a:buNone/>
            </a:pPr>
            <a:r>
              <a:rPr b="0" i="0" lang="en-US" sz="7000" u="none" cap="none" strike="noStrike">
                <a:solidFill>
                  <a:srgbClr val="000000"/>
                </a:solidFill>
                <a:latin typeface="Play"/>
                <a:ea typeface="Play"/>
                <a:cs typeface="Play"/>
                <a:sym typeface="Play"/>
              </a:rPr>
              <a:t>Referencia a Constructores de la Misma Clase</a:t>
            </a:r>
            <a:endParaRPr sz="7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4"/>
          <p:cNvSpPr/>
          <p:nvPr/>
        </p:nvSpPr>
        <p:spPr>
          <a:xfrm>
            <a:off x="0" y="-270"/>
            <a:ext cx="18287974" cy="4060686"/>
          </a:xfrm>
          <a:custGeom>
            <a:rect b="b" l="l" r="r" t="t"/>
            <a:pathLst>
              <a:path extrusionOk="0" h="3658362" w="16476039">
                <a:moveTo>
                  <a:pt x="0" y="0"/>
                </a:moveTo>
                <a:lnTo>
                  <a:pt x="16476039" y="0"/>
                </a:lnTo>
                <a:lnTo>
                  <a:pt x="9512084" y="2846578"/>
                </a:lnTo>
                <a:lnTo>
                  <a:pt x="9348986" y="2909824"/>
                </a:lnTo>
                <a:cubicBezTo>
                  <a:pt x="8075654" y="3378200"/>
                  <a:pt x="6616794" y="3622421"/>
                  <a:pt x="5153547" y="3654044"/>
                </a:cubicBezTo>
                <a:cubicBezTo>
                  <a:pt x="5001176" y="3657346"/>
                  <a:pt x="4848562" y="3658362"/>
                  <a:pt x="4696435" y="3656965"/>
                </a:cubicBezTo>
                <a:cubicBezTo>
                  <a:pt x="3021087" y="3642487"/>
                  <a:pt x="1364999" y="3350260"/>
                  <a:pt x="975" y="2797429"/>
                </a:cubicBezTo>
                <a:lnTo>
                  <a:pt x="0" y="2796921"/>
                </a:lnTo>
                <a:close/>
              </a:path>
            </a:pathLst>
          </a:custGeom>
          <a:gradFill>
            <a:gsLst>
              <a:gs pos="0">
                <a:srgbClr val="CDFFD8"/>
              </a:gs>
              <a:gs pos="100000">
                <a:srgbClr val="94B9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 name="Google Shape;416;p24"/>
          <p:cNvGrpSpPr/>
          <p:nvPr/>
        </p:nvGrpSpPr>
        <p:grpSpPr>
          <a:xfrm>
            <a:off x="0" y="467772"/>
            <a:ext cx="12254249" cy="2144393"/>
            <a:chOff x="0" y="0"/>
            <a:chExt cx="16338998" cy="2859191"/>
          </a:xfrm>
        </p:grpSpPr>
        <p:sp>
          <p:nvSpPr>
            <p:cNvPr id="417" name="Google Shape;417;p24"/>
            <p:cNvSpPr/>
            <p:nvPr/>
          </p:nvSpPr>
          <p:spPr>
            <a:xfrm>
              <a:off x="0" y="0"/>
              <a:ext cx="16338998" cy="2859191"/>
            </a:xfrm>
            <a:custGeom>
              <a:rect b="b" l="l" r="r" t="t"/>
              <a:pathLst>
                <a:path extrusionOk="0" h="2859191" w="16338998">
                  <a:moveTo>
                    <a:pt x="0" y="0"/>
                  </a:moveTo>
                  <a:lnTo>
                    <a:pt x="16338998" y="0"/>
                  </a:lnTo>
                  <a:lnTo>
                    <a:pt x="16338998" y="2859191"/>
                  </a:lnTo>
                  <a:lnTo>
                    <a:pt x="0" y="2859191"/>
                  </a:lnTo>
                  <a:close/>
                </a:path>
              </a:pathLst>
            </a:custGeom>
            <a:solidFill>
              <a:srgbClr val="000000">
                <a:alpha val="0"/>
              </a:srgbClr>
            </a:solidFill>
            <a:ln>
              <a:noFill/>
            </a:ln>
          </p:spPr>
        </p:sp>
        <p:sp>
          <p:nvSpPr>
            <p:cNvPr id="418" name="Google Shape;418;p24"/>
            <p:cNvSpPr txBox="1"/>
            <p:nvPr/>
          </p:nvSpPr>
          <p:spPr>
            <a:xfrm>
              <a:off x="0" y="28575"/>
              <a:ext cx="16338998" cy="2830616"/>
            </a:xfrm>
            <a:prstGeom prst="rect">
              <a:avLst/>
            </a:prstGeom>
            <a:noFill/>
            <a:ln>
              <a:noFill/>
            </a:ln>
          </p:spPr>
          <p:txBody>
            <a:bodyPr anchorCtr="0" anchor="t" bIns="0" lIns="0" spcFirstLastPara="1" rIns="0" wrap="square" tIns="0">
              <a:noAutofit/>
            </a:bodyPr>
            <a:lstStyle/>
            <a:p>
              <a:pPr indent="0" lvl="0" marL="0" marR="0" rtl="0" algn="ctr">
                <a:lnSpc>
                  <a:spcPct val="115001"/>
                </a:lnSpc>
                <a:spcBef>
                  <a:spcPts val="0"/>
                </a:spcBef>
                <a:spcAft>
                  <a:spcPts val="0"/>
                </a:spcAft>
                <a:buNone/>
              </a:pPr>
              <a:r>
                <a:rPr b="0" i="0" lang="en-US" sz="9999" u="none" cap="none" strike="noStrike">
                  <a:solidFill>
                    <a:srgbClr val="000000"/>
                  </a:solidFill>
                  <a:latin typeface="Play"/>
                  <a:ea typeface="Play"/>
                  <a:cs typeface="Play"/>
                  <a:sym typeface="Play"/>
                </a:rPr>
                <a:t>Pasar this como Parámetro</a:t>
              </a:r>
              <a:endParaRPr/>
            </a:p>
          </p:txBody>
        </p:sp>
      </p:grpSp>
      <p:sp>
        <p:nvSpPr>
          <p:cNvPr id="419" name="Google Shape;419;p24"/>
          <p:cNvSpPr/>
          <p:nvPr/>
        </p:nvSpPr>
        <p:spPr>
          <a:xfrm>
            <a:off x="1904195" y="4759461"/>
            <a:ext cx="13941029" cy="4025472"/>
          </a:xfrm>
          <a:custGeom>
            <a:rect b="b" l="l" r="r" t="t"/>
            <a:pathLst>
              <a:path extrusionOk="0" h="4025472" w="13941029">
                <a:moveTo>
                  <a:pt x="0" y="0"/>
                </a:moveTo>
                <a:lnTo>
                  <a:pt x="13941029" y="0"/>
                </a:lnTo>
                <a:lnTo>
                  <a:pt x="13941029" y="4025472"/>
                </a:lnTo>
                <a:lnTo>
                  <a:pt x="0" y="402547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5"/>
          <p:cNvSpPr/>
          <p:nvPr/>
        </p:nvSpPr>
        <p:spPr>
          <a:xfrm>
            <a:off x="-1145623" y="6521834"/>
            <a:ext cx="19543133" cy="4022828"/>
          </a:xfrm>
          <a:custGeom>
            <a:rect b="b" l="l" r="r" t="t"/>
            <a:pathLst>
              <a:path extrusionOk="0" h="5363772" w="26057510">
                <a:moveTo>
                  <a:pt x="21072801" y="1154"/>
                </a:moveTo>
                <a:cubicBezTo>
                  <a:pt x="22850991" y="12313"/>
                  <a:pt x="24608740" y="237550"/>
                  <a:pt x="26056496" y="663650"/>
                </a:cubicBezTo>
                <a:lnTo>
                  <a:pt x="26057510" y="664041"/>
                </a:lnTo>
                <a:lnTo>
                  <a:pt x="26057510" y="5363772"/>
                </a:lnTo>
                <a:lnTo>
                  <a:pt x="0" y="5363772"/>
                </a:lnTo>
                <a:lnTo>
                  <a:pt x="15961537" y="625866"/>
                </a:lnTo>
                <a:lnTo>
                  <a:pt x="16134646" y="577118"/>
                </a:lnTo>
                <a:cubicBezTo>
                  <a:pt x="17485886" y="216015"/>
                  <a:pt x="19034558" y="27779"/>
                  <a:pt x="20587368" y="3503"/>
                </a:cubicBezTo>
                <a:cubicBezTo>
                  <a:pt x="20749093" y="958"/>
                  <a:pt x="20911076" y="0"/>
                  <a:pt x="21072542" y="1251"/>
                </a:cubicBezTo>
                <a:close/>
              </a:path>
            </a:pathLst>
          </a:custGeom>
          <a:gradFill>
            <a:gsLst>
              <a:gs pos="0">
                <a:srgbClr val="CDFFD8"/>
              </a:gs>
              <a:gs pos="100000">
                <a:srgbClr val="94B9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5" name="Google Shape;425;p25"/>
          <p:cNvGrpSpPr/>
          <p:nvPr/>
        </p:nvGrpSpPr>
        <p:grpSpPr>
          <a:xfrm>
            <a:off x="9547498" y="7567970"/>
            <a:ext cx="7439025" cy="2719030"/>
            <a:chOff x="0" y="0"/>
            <a:chExt cx="9918700" cy="3625373"/>
          </a:xfrm>
        </p:grpSpPr>
        <p:sp>
          <p:nvSpPr>
            <p:cNvPr id="426" name="Google Shape;426;p25"/>
            <p:cNvSpPr/>
            <p:nvPr/>
          </p:nvSpPr>
          <p:spPr>
            <a:xfrm>
              <a:off x="0" y="0"/>
              <a:ext cx="9918700" cy="3625373"/>
            </a:xfrm>
            <a:custGeom>
              <a:rect b="b" l="l" r="r" t="t"/>
              <a:pathLst>
                <a:path extrusionOk="0" h="3625373" w="9918700">
                  <a:moveTo>
                    <a:pt x="0" y="0"/>
                  </a:moveTo>
                  <a:lnTo>
                    <a:pt x="9918700" y="0"/>
                  </a:lnTo>
                  <a:lnTo>
                    <a:pt x="9918700" y="3625373"/>
                  </a:lnTo>
                  <a:lnTo>
                    <a:pt x="0" y="3625373"/>
                  </a:lnTo>
                  <a:close/>
                </a:path>
              </a:pathLst>
            </a:custGeom>
            <a:solidFill>
              <a:srgbClr val="000000">
                <a:alpha val="0"/>
              </a:srgbClr>
            </a:solidFill>
            <a:ln>
              <a:noFill/>
            </a:ln>
          </p:spPr>
        </p:sp>
        <p:sp>
          <p:nvSpPr>
            <p:cNvPr id="427" name="Google Shape;427;p25"/>
            <p:cNvSpPr txBox="1"/>
            <p:nvPr/>
          </p:nvSpPr>
          <p:spPr>
            <a:xfrm>
              <a:off x="0" y="114300"/>
              <a:ext cx="9918700" cy="3511073"/>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12699" u="none" cap="none" strike="noStrike">
                  <a:solidFill>
                    <a:srgbClr val="000000"/>
                  </a:solidFill>
                  <a:latin typeface="Play"/>
                  <a:ea typeface="Play"/>
                  <a:cs typeface="Play"/>
                  <a:sym typeface="Play"/>
                </a:rPr>
                <a:t>Devolver this</a:t>
              </a:r>
              <a:endParaRPr/>
            </a:p>
          </p:txBody>
        </p:sp>
      </p:grpSp>
      <p:sp>
        <p:nvSpPr>
          <p:cNvPr id="428" name="Google Shape;428;p25"/>
          <p:cNvSpPr/>
          <p:nvPr/>
        </p:nvSpPr>
        <p:spPr>
          <a:xfrm>
            <a:off x="651371" y="492060"/>
            <a:ext cx="5657375" cy="3918640"/>
          </a:xfrm>
          <a:custGeom>
            <a:rect b="b" l="l" r="r" t="t"/>
            <a:pathLst>
              <a:path extrusionOk="0" h="3918640" w="5657375">
                <a:moveTo>
                  <a:pt x="0" y="0"/>
                </a:moveTo>
                <a:lnTo>
                  <a:pt x="5657375" y="0"/>
                </a:lnTo>
                <a:lnTo>
                  <a:pt x="5657375" y="3918640"/>
                </a:lnTo>
                <a:lnTo>
                  <a:pt x="0" y="3918640"/>
                </a:lnTo>
                <a:lnTo>
                  <a:pt x="0" y="0"/>
                </a:lnTo>
                <a:close/>
              </a:path>
            </a:pathLst>
          </a:custGeom>
          <a:blipFill rotWithShape="1">
            <a:blip r:embed="rId3">
              <a:alphaModFix/>
            </a:blip>
            <a:stretch>
              <a:fillRect b="0" l="0" r="0" t="0"/>
            </a:stretch>
          </a:blipFill>
          <a:ln>
            <a:noFill/>
          </a:ln>
        </p:spPr>
      </p:sp>
      <p:sp>
        <p:nvSpPr>
          <p:cNvPr id="429" name="Google Shape;429;p25"/>
          <p:cNvSpPr/>
          <p:nvPr/>
        </p:nvSpPr>
        <p:spPr>
          <a:xfrm>
            <a:off x="8066594" y="365689"/>
            <a:ext cx="6370244" cy="6156716"/>
          </a:xfrm>
          <a:custGeom>
            <a:rect b="b" l="l" r="r" t="t"/>
            <a:pathLst>
              <a:path extrusionOk="0" h="6156716" w="6370244">
                <a:moveTo>
                  <a:pt x="0" y="0"/>
                </a:moveTo>
                <a:lnTo>
                  <a:pt x="6370243" y="0"/>
                </a:lnTo>
                <a:lnTo>
                  <a:pt x="6370243" y="6156716"/>
                </a:lnTo>
                <a:lnTo>
                  <a:pt x="0" y="6156716"/>
                </a:lnTo>
                <a:lnTo>
                  <a:pt x="0" y="0"/>
                </a:lnTo>
                <a:close/>
              </a:path>
            </a:pathLst>
          </a:custGeom>
          <a:blipFill rotWithShape="1">
            <a:blip r:embed="rId4">
              <a:alphaModFix/>
            </a:blip>
            <a:stretch>
              <a:fillRect b="0" l="0" r="0" t="0"/>
            </a:stretch>
          </a:blipFill>
          <a:ln>
            <a:noFill/>
          </a:ln>
        </p:spPr>
      </p:sp>
      <p:sp>
        <p:nvSpPr>
          <p:cNvPr id="430" name="Google Shape;430;p25"/>
          <p:cNvSpPr/>
          <p:nvPr/>
        </p:nvSpPr>
        <p:spPr>
          <a:xfrm>
            <a:off x="12731951" y="375214"/>
            <a:ext cx="2314276" cy="6162535"/>
          </a:xfrm>
          <a:custGeom>
            <a:rect b="b" l="l" r="r" t="t"/>
            <a:pathLst>
              <a:path extrusionOk="0" h="6162535" w="2314276">
                <a:moveTo>
                  <a:pt x="0" y="0"/>
                </a:moveTo>
                <a:lnTo>
                  <a:pt x="2314276" y="0"/>
                </a:lnTo>
                <a:lnTo>
                  <a:pt x="2314276" y="6162535"/>
                </a:lnTo>
                <a:lnTo>
                  <a:pt x="0" y="6162535"/>
                </a:lnTo>
                <a:lnTo>
                  <a:pt x="0" y="0"/>
                </a:lnTo>
                <a:close/>
              </a:path>
            </a:pathLst>
          </a:custGeom>
          <a:blipFill rotWithShape="1">
            <a:blip r:embed="rId5">
              <a:alphaModFix/>
            </a:blip>
            <a:stretch>
              <a:fillRect b="0" l="0" r="0" t="0"/>
            </a:stretch>
          </a:blipFill>
          <a:ln>
            <a:noFill/>
          </a:ln>
        </p:spPr>
      </p:sp>
      <p:sp>
        <p:nvSpPr>
          <p:cNvPr id="431" name="Google Shape;431;p25"/>
          <p:cNvSpPr/>
          <p:nvPr/>
        </p:nvSpPr>
        <p:spPr>
          <a:xfrm>
            <a:off x="11833640" y="5143500"/>
            <a:ext cx="6425174" cy="1872027"/>
          </a:xfrm>
          <a:custGeom>
            <a:rect b="b" l="l" r="r" t="t"/>
            <a:pathLst>
              <a:path extrusionOk="0" h="1872027" w="6425174">
                <a:moveTo>
                  <a:pt x="0" y="0"/>
                </a:moveTo>
                <a:lnTo>
                  <a:pt x="6425173" y="0"/>
                </a:lnTo>
                <a:lnTo>
                  <a:pt x="6425173" y="1872027"/>
                </a:lnTo>
                <a:lnTo>
                  <a:pt x="0" y="1872027"/>
                </a:lnTo>
                <a:lnTo>
                  <a:pt x="0" y="0"/>
                </a:lnTo>
                <a:close/>
              </a:path>
            </a:pathLst>
          </a:custGeom>
          <a:blipFill rotWithShape="1">
            <a:blip r:embed="rId6">
              <a:alphaModFix/>
            </a:blip>
            <a:stretch>
              <a:fillRect b="-10504" l="-3118" r="-2738" t="-5030"/>
            </a:stretch>
          </a:blipFill>
          <a:ln>
            <a:noFill/>
          </a:ln>
        </p:spPr>
      </p:sp>
      <p:sp>
        <p:nvSpPr>
          <p:cNvPr id="432" name="Google Shape;432;p25"/>
          <p:cNvSpPr txBox="1"/>
          <p:nvPr/>
        </p:nvSpPr>
        <p:spPr>
          <a:xfrm>
            <a:off x="393973" y="5357180"/>
            <a:ext cx="6950337" cy="2339975"/>
          </a:xfrm>
          <a:prstGeom prst="rect">
            <a:avLst/>
          </a:prstGeom>
          <a:noFill/>
          <a:ln>
            <a:noFill/>
          </a:ln>
        </p:spPr>
        <p:txBody>
          <a:bodyPr anchorCtr="0" anchor="t" bIns="0" lIns="0" spcFirstLastPara="1" rIns="0" wrap="square" tIns="0">
            <a:spAutoFit/>
          </a:bodyPr>
          <a:lstStyle/>
          <a:p>
            <a:pPr indent="0" lvl="0" marL="0" marR="0" rtl="0" algn="just">
              <a:lnSpc>
                <a:spcPct val="115003"/>
              </a:lnSpc>
              <a:spcBef>
                <a:spcPts val="0"/>
              </a:spcBef>
              <a:spcAft>
                <a:spcPts val="0"/>
              </a:spcAft>
              <a:buNone/>
            </a:pPr>
            <a:r>
              <a:rPr b="0" i="0" lang="en-US" sz="3999" u="none" cap="none" strike="noStrike">
                <a:solidFill>
                  <a:srgbClr val="000000"/>
                </a:solidFill>
                <a:latin typeface="Arimo"/>
                <a:ea typeface="Arimo"/>
                <a:cs typeface="Arimo"/>
                <a:sym typeface="Arimo"/>
              </a:rPr>
              <a:t>También podemos usar la palabra clave this para devolver la instancia de la clase actual desde el método.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6"/>
          <p:cNvSpPr/>
          <p:nvPr/>
        </p:nvSpPr>
        <p:spPr>
          <a:xfrm>
            <a:off x="0" y="-270"/>
            <a:ext cx="18287974" cy="4060686"/>
          </a:xfrm>
          <a:custGeom>
            <a:rect b="b" l="l" r="r" t="t"/>
            <a:pathLst>
              <a:path extrusionOk="0" h="3658362" w="16476039">
                <a:moveTo>
                  <a:pt x="0" y="0"/>
                </a:moveTo>
                <a:lnTo>
                  <a:pt x="16476039" y="0"/>
                </a:lnTo>
                <a:lnTo>
                  <a:pt x="9512084" y="2846578"/>
                </a:lnTo>
                <a:lnTo>
                  <a:pt x="9348986" y="2909824"/>
                </a:lnTo>
                <a:cubicBezTo>
                  <a:pt x="8075654" y="3378200"/>
                  <a:pt x="6616794" y="3622421"/>
                  <a:pt x="5153547" y="3654044"/>
                </a:cubicBezTo>
                <a:cubicBezTo>
                  <a:pt x="5001176" y="3657346"/>
                  <a:pt x="4848562" y="3658362"/>
                  <a:pt x="4696435" y="3656965"/>
                </a:cubicBezTo>
                <a:cubicBezTo>
                  <a:pt x="3021087" y="3642487"/>
                  <a:pt x="1364999" y="3350260"/>
                  <a:pt x="975" y="2797429"/>
                </a:cubicBezTo>
                <a:lnTo>
                  <a:pt x="0" y="2796921"/>
                </a:lnTo>
                <a:close/>
              </a:path>
            </a:pathLst>
          </a:custGeom>
          <a:gradFill>
            <a:gsLst>
              <a:gs pos="0">
                <a:srgbClr val="CDFFD8"/>
              </a:gs>
              <a:gs pos="100000">
                <a:srgbClr val="94B9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6"/>
          <p:cNvSpPr/>
          <p:nvPr/>
        </p:nvSpPr>
        <p:spPr>
          <a:xfrm>
            <a:off x="3960360" y="4059566"/>
            <a:ext cx="11023902" cy="5781767"/>
          </a:xfrm>
          <a:custGeom>
            <a:rect b="b" l="l" r="r" t="t"/>
            <a:pathLst>
              <a:path extrusionOk="0" h="5781767" w="11023902">
                <a:moveTo>
                  <a:pt x="0" y="0"/>
                </a:moveTo>
                <a:lnTo>
                  <a:pt x="11023902" y="0"/>
                </a:lnTo>
                <a:lnTo>
                  <a:pt x="11023902" y="5781767"/>
                </a:lnTo>
                <a:lnTo>
                  <a:pt x="0" y="5781767"/>
                </a:lnTo>
                <a:lnTo>
                  <a:pt x="0" y="0"/>
                </a:lnTo>
                <a:close/>
              </a:path>
            </a:pathLst>
          </a:custGeom>
          <a:blipFill rotWithShape="1">
            <a:blip r:embed="rId3">
              <a:alphaModFix/>
            </a:blip>
            <a:stretch>
              <a:fillRect b="0" l="0" r="0" t="0"/>
            </a:stretch>
          </a:blipFill>
          <a:ln>
            <a:noFill/>
          </a:ln>
        </p:spPr>
      </p:sp>
      <p:sp>
        <p:nvSpPr>
          <p:cNvPr id="439" name="Google Shape;439;p26"/>
          <p:cNvSpPr txBox="1"/>
          <p:nvPr/>
        </p:nvSpPr>
        <p:spPr>
          <a:xfrm>
            <a:off x="-153212" y="325473"/>
            <a:ext cx="14545200" cy="2647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8000" u="none" cap="none" strike="noStrike">
                <a:solidFill>
                  <a:srgbClr val="000000"/>
                </a:solidFill>
                <a:latin typeface="Play"/>
                <a:ea typeface="Play"/>
                <a:cs typeface="Play"/>
                <a:sym typeface="Play"/>
              </a:rPr>
              <a:t>La Palabra Clave this Dentro de la Clase Interna</a:t>
            </a:r>
            <a:endParaRPr sz="8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grpSp>
        <p:nvGrpSpPr>
          <p:cNvPr id="444" name="Google Shape;444;p27"/>
          <p:cNvGrpSpPr/>
          <p:nvPr/>
        </p:nvGrpSpPr>
        <p:grpSpPr>
          <a:xfrm>
            <a:off x="838128" y="462952"/>
            <a:ext cx="8305872" cy="4568318"/>
            <a:chOff x="0" y="0"/>
            <a:chExt cx="11074496" cy="6091091"/>
          </a:xfrm>
        </p:grpSpPr>
        <p:sp>
          <p:nvSpPr>
            <p:cNvPr id="445" name="Google Shape;445;p27"/>
            <p:cNvSpPr/>
            <p:nvPr/>
          </p:nvSpPr>
          <p:spPr>
            <a:xfrm>
              <a:off x="0" y="0"/>
              <a:ext cx="11074495" cy="6091091"/>
            </a:xfrm>
            <a:custGeom>
              <a:rect b="b" l="l" r="r" t="t"/>
              <a:pathLst>
                <a:path extrusionOk="0" h="6091091" w="11074495">
                  <a:moveTo>
                    <a:pt x="0" y="0"/>
                  </a:moveTo>
                  <a:lnTo>
                    <a:pt x="11074495" y="0"/>
                  </a:lnTo>
                  <a:lnTo>
                    <a:pt x="11074495" y="6091091"/>
                  </a:lnTo>
                  <a:lnTo>
                    <a:pt x="0" y="6091091"/>
                  </a:lnTo>
                  <a:close/>
                </a:path>
              </a:pathLst>
            </a:custGeom>
            <a:solidFill>
              <a:srgbClr val="000000">
                <a:alpha val="0"/>
              </a:srgbClr>
            </a:solidFill>
            <a:ln>
              <a:noFill/>
            </a:ln>
          </p:spPr>
        </p:sp>
        <p:sp>
          <p:nvSpPr>
            <p:cNvPr id="446" name="Google Shape;446;p27"/>
            <p:cNvSpPr txBox="1"/>
            <p:nvPr/>
          </p:nvSpPr>
          <p:spPr>
            <a:xfrm>
              <a:off x="0" y="28575"/>
              <a:ext cx="11074496" cy="6062516"/>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Serialización de Objetos</a:t>
              </a:r>
              <a:endParaRPr sz="10000"/>
            </a:p>
          </p:txBody>
        </p:sp>
      </p:grpSp>
      <p:sp>
        <p:nvSpPr>
          <p:cNvPr descr="Serialización - Wikipedia, la enciclopedia libre" id="447" name="Google Shape;447;p27"/>
          <p:cNvSpPr/>
          <p:nvPr/>
        </p:nvSpPr>
        <p:spPr>
          <a:xfrm>
            <a:off x="4991064" y="5677280"/>
            <a:ext cx="8259771" cy="3696247"/>
          </a:xfrm>
          <a:custGeom>
            <a:rect b="b" l="l" r="r" t="t"/>
            <a:pathLst>
              <a:path extrusionOk="0" h="3696247" w="8259771">
                <a:moveTo>
                  <a:pt x="0" y="0"/>
                </a:moveTo>
                <a:lnTo>
                  <a:pt x="8259771" y="0"/>
                </a:lnTo>
                <a:lnTo>
                  <a:pt x="8259771" y="3696247"/>
                </a:lnTo>
                <a:lnTo>
                  <a:pt x="0" y="3696247"/>
                </a:lnTo>
                <a:lnTo>
                  <a:pt x="0" y="0"/>
                </a:lnTo>
                <a:close/>
              </a:path>
            </a:pathLst>
          </a:custGeom>
          <a:blipFill rotWithShape="1">
            <a:blip r:embed="rId3">
              <a:alphaModFix/>
            </a:blip>
            <a:stretch>
              <a:fillRect b="0" l="-92" r="-91" t="0"/>
            </a:stretch>
          </a:blipFill>
          <a:ln>
            <a:noFill/>
          </a:ln>
        </p:spPr>
      </p:sp>
      <p:grpSp>
        <p:nvGrpSpPr>
          <p:cNvPr id="448" name="Google Shape;448;p27"/>
          <p:cNvGrpSpPr/>
          <p:nvPr/>
        </p:nvGrpSpPr>
        <p:grpSpPr>
          <a:xfrm>
            <a:off x="9405069" y="1829560"/>
            <a:ext cx="8259771" cy="1777952"/>
            <a:chOff x="0" y="-76200"/>
            <a:chExt cx="11013028" cy="2370602"/>
          </a:xfrm>
        </p:grpSpPr>
        <p:sp>
          <p:nvSpPr>
            <p:cNvPr id="449" name="Google Shape;449;p27"/>
            <p:cNvSpPr/>
            <p:nvPr/>
          </p:nvSpPr>
          <p:spPr>
            <a:xfrm>
              <a:off x="0" y="0"/>
              <a:ext cx="11013028" cy="2294402"/>
            </a:xfrm>
            <a:custGeom>
              <a:rect b="b" l="l" r="r" t="t"/>
              <a:pathLst>
                <a:path extrusionOk="0" h="2294402" w="11013028">
                  <a:moveTo>
                    <a:pt x="0" y="0"/>
                  </a:moveTo>
                  <a:lnTo>
                    <a:pt x="11013028" y="0"/>
                  </a:lnTo>
                  <a:lnTo>
                    <a:pt x="11013028" y="2294402"/>
                  </a:lnTo>
                  <a:lnTo>
                    <a:pt x="0" y="2294402"/>
                  </a:lnTo>
                  <a:close/>
                </a:path>
              </a:pathLst>
            </a:custGeom>
            <a:solidFill>
              <a:srgbClr val="000000">
                <a:alpha val="0"/>
              </a:srgbClr>
            </a:solidFill>
            <a:ln>
              <a:noFill/>
            </a:ln>
          </p:spPr>
        </p:sp>
        <p:sp>
          <p:nvSpPr>
            <p:cNvPr id="450" name="Google Shape;450;p27"/>
            <p:cNvSpPr txBox="1"/>
            <p:nvPr/>
          </p:nvSpPr>
          <p:spPr>
            <a:xfrm>
              <a:off x="0" y="-76200"/>
              <a:ext cx="11013028" cy="2370602"/>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La serialización es el proceso de convertir un objeto en una secuencia de bytes para almacenarlo o transmitirlo. La deserialización es el proceso inverso.</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8"/>
          <p:cNvSpPr/>
          <p:nvPr/>
        </p:nvSpPr>
        <p:spPr>
          <a:xfrm rot="10800000">
            <a:off x="-15590" y="-465"/>
            <a:ext cx="12773530" cy="5219129"/>
          </a:xfrm>
          <a:custGeom>
            <a:rect b="b" l="l" r="r" t="t"/>
            <a:pathLst>
              <a:path extrusionOk="0" h="6958838" w="17031373">
                <a:moveTo>
                  <a:pt x="14907918" y="1270"/>
                </a:moveTo>
                <a:cubicBezTo>
                  <a:pt x="15536907" y="8509"/>
                  <a:pt x="16162235" y="85217"/>
                  <a:pt x="16758458" y="229235"/>
                </a:cubicBezTo>
                <a:lnTo>
                  <a:pt x="17031373" y="303784"/>
                </a:lnTo>
                <a:lnTo>
                  <a:pt x="17031373" y="6958838"/>
                </a:lnTo>
                <a:lnTo>
                  <a:pt x="0" y="6958838"/>
                </a:lnTo>
                <a:lnTo>
                  <a:pt x="11291963" y="811784"/>
                </a:lnTo>
                <a:lnTo>
                  <a:pt x="11414430" y="748538"/>
                </a:lnTo>
                <a:cubicBezTo>
                  <a:pt x="12370361" y="280035"/>
                  <a:pt x="13465966" y="35814"/>
                  <a:pt x="14564500" y="4318"/>
                </a:cubicBezTo>
                <a:cubicBezTo>
                  <a:pt x="14678912" y="1016"/>
                  <a:pt x="14793506" y="0"/>
                  <a:pt x="14907735" y="1397"/>
                </a:cubicBezTo>
                <a:close/>
              </a:path>
            </a:pathLst>
          </a:custGeom>
          <a:gradFill>
            <a:gsLst>
              <a:gs pos="0">
                <a:srgbClr val="F0F3F3"/>
              </a:gs>
              <a:gs pos="40000">
                <a:srgbClr val="F0F3F3"/>
              </a:gs>
              <a:gs pos="100000">
                <a:srgbClr val="F18F7F"/>
              </a:gs>
            </a:gsLst>
            <a:lin ang="126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6" name="Google Shape;456;p28"/>
          <p:cNvGrpSpPr/>
          <p:nvPr/>
        </p:nvGrpSpPr>
        <p:grpSpPr>
          <a:xfrm>
            <a:off x="4570" y="315712"/>
            <a:ext cx="8841710" cy="2720468"/>
            <a:chOff x="0" y="0"/>
            <a:chExt cx="11788946" cy="3627291"/>
          </a:xfrm>
        </p:grpSpPr>
        <p:sp>
          <p:nvSpPr>
            <p:cNvPr id="457" name="Google Shape;457;p28"/>
            <p:cNvSpPr/>
            <p:nvPr/>
          </p:nvSpPr>
          <p:spPr>
            <a:xfrm>
              <a:off x="0" y="0"/>
              <a:ext cx="11788946" cy="3627291"/>
            </a:xfrm>
            <a:custGeom>
              <a:rect b="b" l="l" r="r" t="t"/>
              <a:pathLst>
                <a:path extrusionOk="0" h="3627291" w="11788946">
                  <a:moveTo>
                    <a:pt x="0" y="0"/>
                  </a:moveTo>
                  <a:lnTo>
                    <a:pt x="11788946" y="0"/>
                  </a:lnTo>
                  <a:lnTo>
                    <a:pt x="11788946" y="3627291"/>
                  </a:lnTo>
                  <a:lnTo>
                    <a:pt x="0" y="3627291"/>
                  </a:lnTo>
                  <a:close/>
                </a:path>
              </a:pathLst>
            </a:custGeom>
            <a:solidFill>
              <a:srgbClr val="000000">
                <a:alpha val="0"/>
              </a:srgbClr>
            </a:solidFill>
            <a:ln>
              <a:noFill/>
            </a:ln>
          </p:spPr>
        </p:sp>
        <p:sp>
          <p:nvSpPr>
            <p:cNvPr id="458" name="Google Shape;458;p28"/>
            <p:cNvSpPr txBox="1"/>
            <p:nvPr/>
          </p:nvSpPr>
          <p:spPr>
            <a:xfrm>
              <a:off x="0" y="28575"/>
              <a:ext cx="11788946" cy="3598716"/>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b="0" i="0" lang="en-US" sz="9000" u="none" cap="none" strike="noStrike">
                  <a:solidFill>
                    <a:srgbClr val="131416"/>
                  </a:solidFill>
                  <a:latin typeface="Play"/>
                  <a:ea typeface="Play"/>
                  <a:cs typeface="Play"/>
                  <a:sym typeface="Play"/>
                </a:rPr>
                <a:t>Funcionamiento</a:t>
              </a:r>
              <a:endParaRPr sz="9000"/>
            </a:p>
          </p:txBody>
        </p:sp>
      </p:grpSp>
      <p:sp>
        <p:nvSpPr>
          <p:cNvPr id="459" name="Google Shape;459;p28"/>
          <p:cNvSpPr/>
          <p:nvPr/>
        </p:nvSpPr>
        <p:spPr>
          <a:xfrm>
            <a:off x="6131908" y="3893820"/>
            <a:ext cx="1973710" cy="1821458"/>
          </a:xfrm>
          <a:custGeom>
            <a:rect b="b" l="l" r="r" t="t"/>
            <a:pathLst>
              <a:path extrusionOk="0" h="1821458" w="1973710">
                <a:moveTo>
                  <a:pt x="0" y="0"/>
                </a:moveTo>
                <a:lnTo>
                  <a:pt x="1973711" y="0"/>
                </a:lnTo>
                <a:lnTo>
                  <a:pt x="1973711" y="1821458"/>
                </a:lnTo>
                <a:lnTo>
                  <a:pt x="0" y="1821458"/>
                </a:lnTo>
                <a:lnTo>
                  <a:pt x="0" y="0"/>
                </a:lnTo>
                <a:close/>
              </a:path>
            </a:pathLst>
          </a:custGeom>
          <a:blipFill rotWithShape="1">
            <a:blip r:embed="rId3">
              <a:alphaModFix/>
            </a:blip>
            <a:stretch>
              <a:fillRect b="-4177" l="0" r="0" t="-4178"/>
            </a:stretch>
          </a:blipFill>
          <a:ln>
            <a:noFill/>
          </a:ln>
        </p:spPr>
      </p:sp>
      <p:grpSp>
        <p:nvGrpSpPr>
          <p:cNvPr id="460" name="Google Shape;460;p28"/>
          <p:cNvGrpSpPr/>
          <p:nvPr/>
        </p:nvGrpSpPr>
        <p:grpSpPr>
          <a:xfrm>
            <a:off x="4294414" y="5896179"/>
            <a:ext cx="5648700" cy="790149"/>
            <a:chOff x="0" y="0"/>
            <a:chExt cx="7531600" cy="1053532"/>
          </a:xfrm>
        </p:grpSpPr>
        <p:sp>
          <p:nvSpPr>
            <p:cNvPr id="461" name="Google Shape;461;p28"/>
            <p:cNvSpPr/>
            <p:nvPr/>
          </p:nvSpPr>
          <p:spPr>
            <a:xfrm>
              <a:off x="0" y="0"/>
              <a:ext cx="7531600" cy="1053532"/>
            </a:xfrm>
            <a:custGeom>
              <a:rect b="b" l="l" r="r" t="t"/>
              <a:pathLst>
                <a:path extrusionOk="0" h="1053532" w="7531600">
                  <a:moveTo>
                    <a:pt x="0" y="0"/>
                  </a:moveTo>
                  <a:lnTo>
                    <a:pt x="7531600" y="0"/>
                  </a:lnTo>
                  <a:lnTo>
                    <a:pt x="7531600" y="1053532"/>
                  </a:lnTo>
                  <a:lnTo>
                    <a:pt x="0" y="1053532"/>
                  </a:lnTo>
                  <a:close/>
                </a:path>
              </a:pathLst>
            </a:custGeom>
            <a:solidFill>
              <a:srgbClr val="000000">
                <a:alpha val="0"/>
              </a:srgbClr>
            </a:solidFill>
            <a:ln>
              <a:noFill/>
            </a:ln>
          </p:spPr>
        </p:sp>
        <p:sp>
          <p:nvSpPr>
            <p:cNvPr id="462" name="Google Shape;462;p28"/>
            <p:cNvSpPr txBox="1"/>
            <p:nvPr/>
          </p:nvSpPr>
          <p:spPr>
            <a:xfrm>
              <a:off x="0" y="28575"/>
              <a:ext cx="7531600" cy="1024957"/>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US" sz="5400" u="none" cap="none" strike="noStrike">
                  <a:solidFill>
                    <a:srgbClr val="000000"/>
                  </a:solidFill>
                  <a:latin typeface="Arimo"/>
                  <a:ea typeface="Arimo"/>
                  <a:cs typeface="Arimo"/>
                  <a:sym typeface="Arimo"/>
                </a:rPr>
                <a:t>Serialización</a:t>
              </a:r>
              <a:endParaRPr/>
            </a:p>
          </p:txBody>
        </p:sp>
      </p:grpSp>
      <p:grpSp>
        <p:nvGrpSpPr>
          <p:cNvPr id="463" name="Google Shape;463;p28"/>
          <p:cNvGrpSpPr/>
          <p:nvPr/>
        </p:nvGrpSpPr>
        <p:grpSpPr>
          <a:xfrm>
            <a:off x="4294414" y="6763160"/>
            <a:ext cx="5648700" cy="1814101"/>
            <a:chOff x="0" y="0"/>
            <a:chExt cx="7531600" cy="2418802"/>
          </a:xfrm>
        </p:grpSpPr>
        <p:sp>
          <p:nvSpPr>
            <p:cNvPr id="464" name="Google Shape;464;p28"/>
            <p:cNvSpPr/>
            <p:nvPr/>
          </p:nvSpPr>
          <p:spPr>
            <a:xfrm>
              <a:off x="0" y="0"/>
              <a:ext cx="7531600" cy="2418802"/>
            </a:xfrm>
            <a:custGeom>
              <a:rect b="b" l="l" r="r" t="t"/>
              <a:pathLst>
                <a:path extrusionOk="0" h="2418802" w="7531600">
                  <a:moveTo>
                    <a:pt x="0" y="0"/>
                  </a:moveTo>
                  <a:lnTo>
                    <a:pt x="7531600" y="0"/>
                  </a:lnTo>
                  <a:lnTo>
                    <a:pt x="7531600" y="2418802"/>
                  </a:lnTo>
                  <a:lnTo>
                    <a:pt x="0" y="2418802"/>
                  </a:lnTo>
                  <a:close/>
                </a:path>
              </a:pathLst>
            </a:custGeom>
            <a:solidFill>
              <a:srgbClr val="000000">
                <a:alpha val="0"/>
              </a:srgbClr>
            </a:solidFill>
            <a:ln>
              <a:noFill/>
            </a:ln>
          </p:spPr>
        </p:sp>
        <p:sp>
          <p:nvSpPr>
            <p:cNvPr id="465" name="Google Shape;465;p28"/>
            <p:cNvSpPr txBox="1"/>
            <p:nvPr/>
          </p:nvSpPr>
          <p:spPr>
            <a:xfrm>
              <a:off x="0" y="19050"/>
              <a:ext cx="7531600" cy="2399752"/>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0" i="0" lang="en-US" sz="2550" u="none" cap="none" strike="noStrike">
                  <a:solidFill>
                    <a:srgbClr val="000000"/>
                  </a:solidFill>
                  <a:latin typeface="Arimo"/>
                  <a:ea typeface="Arimo"/>
                  <a:cs typeface="Arimo"/>
                  <a:sym typeface="Arimo"/>
                </a:rPr>
                <a:t>Marcar la clase con implements Serializable.</a:t>
              </a:r>
              <a:endParaRPr/>
            </a:p>
            <a:p>
              <a:pPr indent="0" lvl="0" marL="0" marR="0" rtl="0" algn="ctr">
                <a:lnSpc>
                  <a:spcPct val="108000"/>
                </a:lnSpc>
                <a:spcBef>
                  <a:spcPts val="0"/>
                </a:spcBef>
                <a:spcAft>
                  <a:spcPts val="0"/>
                </a:spcAft>
                <a:buNone/>
              </a:pPr>
              <a:r>
                <a:rPr b="0" i="0" lang="en-US" sz="2550" u="none" cap="none" strike="noStrike">
                  <a:solidFill>
                    <a:srgbClr val="000000"/>
                  </a:solidFill>
                  <a:latin typeface="Arimo"/>
                  <a:ea typeface="Arimo"/>
                  <a:cs typeface="Arimo"/>
                  <a:sym typeface="Arimo"/>
                </a:rPr>
                <a:t>Usar ObjectOutputStream para escribir el objeto en un archivo o flujo.</a:t>
              </a:r>
              <a:endParaRPr/>
            </a:p>
          </p:txBody>
        </p:sp>
      </p:grpSp>
      <p:sp>
        <p:nvSpPr>
          <p:cNvPr id="466" name="Google Shape;466;p28"/>
          <p:cNvSpPr/>
          <p:nvPr/>
        </p:nvSpPr>
        <p:spPr>
          <a:xfrm>
            <a:off x="12757940" y="3893820"/>
            <a:ext cx="1973711" cy="1821458"/>
          </a:xfrm>
          <a:custGeom>
            <a:rect b="b" l="l" r="r" t="t"/>
            <a:pathLst>
              <a:path extrusionOk="0" h="1821458" w="1973711">
                <a:moveTo>
                  <a:pt x="0" y="0"/>
                </a:moveTo>
                <a:lnTo>
                  <a:pt x="1973710" y="0"/>
                </a:lnTo>
                <a:lnTo>
                  <a:pt x="1973710" y="1821458"/>
                </a:lnTo>
                <a:lnTo>
                  <a:pt x="0" y="1821458"/>
                </a:lnTo>
                <a:lnTo>
                  <a:pt x="0" y="0"/>
                </a:lnTo>
                <a:close/>
              </a:path>
            </a:pathLst>
          </a:custGeom>
          <a:blipFill rotWithShape="1">
            <a:blip r:embed="rId4">
              <a:alphaModFix/>
            </a:blip>
            <a:stretch>
              <a:fillRect b="-4177" l="0" r="0" t="-4178"/>
            </a:stretch>
          </a:blipFill>
          <a:ln>
            <a:noFill/>
          </a:ln>
        </p:spPr>
      </p:sp>
      <p:grpSp>
        <p:nvGrpSpPr>
          <p:cNvPr id="467" name="Google Shape;467;p28"/>
          <p:cNvGrpSpPr/>
          <p:nvPr/>
        </p:nvGrpSpPr>
        <p:grpSpPr>
          <a:xfrm>
            <a:off x="10920444" y="5896179"/>
            <a:ext cx="5648700" cy="790149"/>
            <a:chOff x="0" y="0"/>
            <a:chExt cx="7531600" cy="1053532"/>
          </a:xfrm>
        </p:grpSpPr>
        <p:sp>
          <p:nvSpPr>
            <p:cNvPr id="468" name="Google Shape;468;p28"/>
            <p:cNvSpPr/>
            <p:nvPr/>
          </p:nvSpPr>
          <p:spPr>
            <a:xfrm>
              <a:off x="0" y="0"/>
              <a:ext cx="7531600" cy="1053532"/>
            </a:xfrm>
            <a:custGeom>
              <a:rect b="b" l="l" r="r" t="t"/>
              <a:pathLst>
                <a:path extrusionOk="0" h="1053532" w="7531600">
                  <a:moveTo>
                    <a:pt x="0" y="0"/>
                  </a:moveTo>
                  <a:lnTo>
                    <a:pt x="7531600" y="0"/>
                  </a:lnTo>
                  <a:lnTo>
                    <a:pt x="7531600" y="1053532"/>
                  </a:lnTo>
                  <a:lnTo>
                    <a:pt x="0" y="1053532"/>
                  </a:lnTo>
                  <a:close/>
                </a:path>
              </a:pathLst>
            </a:custGeom>
            <a:solidFill>
              <a:srgbClr val="000000">
                <a:alpha val="0"/>
              </a:srgbClr>
            </a:solidFill>
            <a:ln>
              <a:noFill/>
            </a:ln>
          </p:spPr>
        </p:sp>
        <p:sp>
          <p:nvSpPr>
            <p:cNvPr id="469" name="Google Shape;469;p28"/>
            <p:cNvSpPr txBox="1"/>
            <p:nvPr/>
          </p:nvSpPr>
          <p:spPr>
            <a:xfrm>
              <a:off x="0" y="28575"/>
              <a:ext cx="7531600" cy="1024957"/>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1" i="0" lang="en-US" sz="5400" u="none" cap="none" strike="noStrike">
                  <a:solidFill>
                    <a:srgbClr val="000000"/>
                  </a:solidFill>
                  <a:latin typeface="Arimo"/>
                  <a:ea typeface="Arimo"/>
                  <a:cs typeface="Arimo"/>
                  <a:sym typeface="Arimo"/>
                </a:rPr>
                <a:t>Deserialización</a:t>
              </a:r>
              <a:endParaRPr/>
            </a:p>
          </p:txBody>
        </p:sp>
      </p:grpSp>
      <p:grpSp>
        <p:nvGrpSpPr>
          <p:cNvPr id="470" name="Google Shape;470;p28"/>
          <p:cNvGrpSpPr/>
          <p:nvPr/>
        </p:nvGrpSpPr>
        <p:grpSpPr>
          <a:xfrm>
            <a:off x="10920444" y="6763160"/>
            <a:ext cx="5648700" cy="1814101"/>
            <a:chOff x="0" y="0"/>
            <a:chExt cx="7531600" cy="2418802"/>
          </a:xfrm>
        </p:grpSpPr>
        <p:sp>
          <p:nvSpPr>
            <p:cNvPr id="471" name="Google Shape;471;p28"/>
            <p:cNvSpPr/>
            <p:nvPr/>
          </p:nvSpPr>
          <p:spPr>
            <a:xfrm>
              <a:off x="0" y="0"/>
              <a:ext cx="7531600" cy="2418802"/>
            </a:xfrm>
            <a:custGeom>
              <a:rect b="b" l="l" r="r" t="t"/>
              <a:pathLst>
                <a:path extrusionOk="0" h="2418802" w="7531600">
                  <a:moveTo>
                    <a:pt x="0" y="0"/>
                  </a:moveTo>
                  <a:lnTo>
                    <a:pt x="7531600" y="0"/>
                  </a:lnTo>
                  <a:lnTo>
                    <a:pt x="7531600" y="2418802"/>
                  </a:lnTo>
                  <a:lnTo>
                    <a:pt x="0" y="2418802"/>
                  </a:lnTo>
                  <a:close/>
                </a:path>
              </a:pathLst>
            </a:custGeom>
            <a:solidFill>
              <a:srgbClr val="000000">
                <a:alpha val="0"/>
              </a:srgbClr>
            </a:solidFill>
            <a:ln>
              <a:noFill/>
            </a:ln>
          </p:spPr>
        </p:sp>
        <p:sp>
          <p:nvSpPr>
            <p:cNvPr id="472" name="Google Shape;472;p28"/>
            <p:cNvSpPr txBox="1"/>
            <p:nvPr/>
          </p:nvSpPr>
          <p:spPr>
            <a:xfrm>
              <a:off x="0" y="19050"/>
              <a:ext cx="7531600" cy="2399752"/>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None/>
              </a:pPr>
              <a:r>
                <a:rPr b="0" i="0" lang="en-US" sz="2550" u="none" cap="none" strike="noStrike">
                  <a:solidFill>
                    <a:srgbClr val="000000"/>
                  </a:solidFill>
                  <a:latin typeface="Arimo"/>
                  <a:ea typeface="Arimo"/>
                  <a:cs typeface="Arimo"/>
                  <a:sym typeface="Arimo"/>
                </a:rPr>
                <a:t>Usar ObjectInputStream para leer el objeto desde un archivo o flujo.</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9"/>
          <p:cNvSpPr/>
          <p:nvPr/>
        </p:nvSpPr>
        <p:spPr>
          <a:xfrm>
            <a:off x="8694602" y="5067860"/>
            <a:ext cx="9591865" cy="5219129"/>
          </a:xfrm>
          <a:custGeom>
            <a:rect b="b" l="l" r="r" t="t"/>
            <a:pathLst>
              <a:path extrusionOk="0" h="6958838" w="12789154">
                <a:moveTo>
                  <a:pt x="10342626" y="1270"/>
                </a:moveTo>
                <a:cubicBezTo>
                  <a:pt x="11215370" y="15748"/>
                  <a:pt x="12078081" y="307975"/>
                  <a:pt x="12788647" y="860806"/>
                </a:cubicBezTo>
                <a:lnTo>
                  <a:pt x="12789154" y="861314"/>
                </a:lnTo>
                <a:lnTo>
                  <a:pt x="12789154" y="6958838"/>
                </a:lnTo>
                <a:lnTo>
                  <a:pt x="0" y="6958838"/>
                </a:lnTo>
                <a:lnTo>
                  <a:pt x="7833995" y="811784"/>
                </a:lnTo>
                <a:lnTo>
                  <a:pt x="7918958" y="748538"/>
                </a:lnTo>
                <a:cubicBezTo>
                  <a:pt x="8582152" y="280035"/>
                  <a:pt x="9342247" y="35814"/>
                  <a:pt x="10104374" y="4318"/>
                </a:cubicBezTo>
                <a:cubicBezTo>
                  <a:pt x="10183749" y="1016"/>
                  <a:pt x="10263251" y="0"/>
                  <a:pt x="10342499" y="1397"/>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 name="Google Shape;478;p29"/>
          <p:cNvGrpSpPr/>
          <p:nvPr/>
        </p:nvGrpSpPr>
        <p:grpSpPr>
          <a:xfrm>
            <a:off x="1434096" y="4714460"/>
            <a:ext cx="4901878" cy="2720468"/>
            <a:chOff x="0" y="0"/>
            <a:chExt cx="6535838" cy="3627291"/>
          </a:xfrm>
        </p:grpSpPr>
        <p:sp>
          <p:nvSpPr>
            <p:cNvPr id="479" name="Google Shape;479;p29"/>
            <p:cNvSpPr/>
            <p:nvPr/>
          </p:nvSpPr>
          <p:spPr>
            <a:xfrm>
              <a:off x="0" y="0"/>
              <a:ext cx="6535838" cy="3627291"/>
            </a:xfrm>
            <a:custGeom>
              <a:rect b="b" l="l" r="r" t="t"/>
              <a:pathLst>
                <a:path extrusionOk="0" h="3627291" w="6535838">
                  <a:moveTo>
                    <a:pt x="0" y="0"/>
                  </a:moveTo>
                  <a:lnTo>
                    <a:pt x="6535838" y="0"/>
                  </a:lnTo>
                  <a:lnTo>
                    <a:pt x="6535838" y="3627291"/>
                  </a:lnTo>
                  <a:lnTo>
                    <a:pt x="0" y="3627291"/>
                  </a:lnTo>
                  <a:close/>
                </a:path>
              </a:pathLst>
            </a:custGeom>
            <a:solidFill>
              <a:srgbClr val="000000">
                <a:alpha val="0"/>
              </a:srgbClr>
            </a:solidFill>
            <a:ln>
              <a:noFill/>
            </a:ln>
          </p:spPr>
        </p:sp>
        <p:sp>
          <p:nvSpPr>
            <p:cNvPr id="480" name="Google Shape;480;p29"/>
            <p:cNvSpPr txBox="1"/>
            <p:nvPr/>
          </p:nvSpPr>
          <p:spPr>
            <a:xfrm>
              <a:off x="0" y="28575"/>
              <a:ext cx="6535838" cy="3598716"/>
            </a:xfrm>
            <a:prstGeom prst="rect">
              <a:avLst/>
            </a:prstGeom>
            <a:noFill/>
            <a:ln>
              <a:noFill/>
            </a:ln>
          </p:spPr>
          <p:txBody>
            <a:bodyPr anchorCtr="0" anchor="b"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Ejemplo</a:t>
              </a:r>
              <a:endParaRPr sz="10000"/>
            </a:p>
          </p:txBody>
        </p:sp>
      </p:grpSp>
      <p:sp>
        <p:nvSpPr>
          <p:cNvPr id="481" name="Google Shape;481;p29"/>
          <p:cNvSpPr/>
          <p:nvPr/>
        </p:nvSpPr>
        <p:spPr>
          <a:xfrm>
            <a:off x="7442956" y="1484194"/>
            <a:ext cx="9158030" cy="7349319"/>
          </a:xfrm>
          <a:custGeom>
            <a:rect b="b" l="l" r="r" t="t"/>
            <a:pathLst>
              <a:path extrusionOk="0" h="7349319" w="9158030">
                <a:moveTo>
                  <a:pt x="0" y="0"/>
                </a:moveTo>
                <a:lnTo>
                  <a:pt x="9158030" y="0"/>
                </a:lnTo>
                <a:lnTo>
                  <a:pt x="9158030" y="7349320"/>
                </a:lnTo>
                <a:lnTo>
                  <a:pt x="0" y="7349320"/>
                </a:lnTo>
                <a:lnTo>
                  <a:pt x="0" y="0"/>
                </a:lnTo>
                <a:close/>
              </a:path>
            </a:pathLst>
          </a:custGeom>
          <a:blipFill rotWithShape="1">
            <a:blip r:embed="rId3">
              <a:alphaModFix/>
            </a:blip>
            <a:stretch>
              <a:fillRect b="0" l="-30" r="-29" t="0"/>
            </a:stretch>
          </a:blipFill>
          <a:ln>
            <a:noFill/>
          </a:ln>
        </p:spPr>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grpSp>
        <p:nvGrpSpPr>
          <p:cNvPr id="486" name="Google Shape;486;p30"/>
          <p:cNvGrpSpPr/>
          <p:nvPr/>
        </p:nvGrpSpPr>
        <p:grpSpPr>
          <a:xfrm>
            <a:off x="1460583" y="4543424"/>
            <a:ext cx="6260124" cy="2720468"/>
            <a:chOff x="0" y="0"/>
            <a:chExt cx="8346832" cy="3627291"/>
          </a:xfrm>
        </p:grpSpPr>
        <p:sp>
          <p:nvSpPr>
            <p:cNvPr id="487" name="Google Shape;487;p30"/>
            <p:cNvSpPr/>
            <p:nvPr/>
          </p:nvSpPr>
          <p:spPr>
            <a:xfrm>
              <a:off x="0" y="0"/>
              <a:ext cx="8346832" cy="3627291"/>
            </a:xfrm>
            <a:custGeom>
              <a:rect b="b" l="l" r="r" t="t"/>
              <a:pathLst>
                <a:path extrusionOk="0" h="3627291" w="8346832">
                  <a:moveTo>
                    <a:pt x="0" y="0"/>
                  </a:moveTo>
                  <a:lnTo>
                    <a:pt x="8346832" y="0"/>
                  </a:lnTo>
                  <a:lnTo>
                    <a:pt x="8346832" y="3627291"/>
                  </a:lnTo>
                  <a:lnTo>
                    <a:pt x="0" y="3627291"/>
                  </a:lnTo>
                  <a:close/>
                </a:path>
              </a:pathLst>
            </a:custGeom>
            <a:solidFill>
              <a:srgbClr val="000000">
                <a:alpha val="0"/>
              </a:srgbClr>
            </a:solidFill>
            <a:ln>
              <a:noFill/>
            </a:ln>
          </p:spPr>
        </p:sp>
        <p:sp>
          <p:nvSpPr>
            <p:cNvPr id="488" name="Google Shape;488;p30"/>
            <p:cNvSpPr txBox="1"/>
            <p:nvPr/>
          </p:nvSpPr>
          <p:spPr>
            <a:xfrm>
              <a:off x="0" y="28575"/>
              <a:ext cx="8346832" cy="3598716"/>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Hilos</a:t>
              </a:r>
              <a:endParaRPr/>
            </a:p>
          </p:txBody>
        </p:sp>
      </p:grpSp>
      <p:sp>
        <p:nvSpPr>
          <p:cNvPr descr="Gato parado en dos patas  Descripción generada automáticamente" id="489" name="Google Shape;489;p30"/>
          <p:cNvSpPr/>
          <p:nvPr/>
        </p:nvSpPr>
        <p:spPr>
          <a:xfrm>
            <a:off x="9181288" y="1323975"/>
            <a:ext cx="7776560" cy="7642531"/>
          </a:xfrm>
          <a:custGeom>
            <a:rect b="b" l="l" r="r" t="t"/>
            <a:pathLst>
              <a:path extrusionOk="0" h="7642531" w="7776560">
                <a:moveTo>
                  <a:pt x="0" y="0"/>
                </a:moveTo>
                <a:lnTo>
                  <a:pt x="7776560" y="0"/>
                </a:lnTo>
                <a:lnTo>
                  <a:pt x="7776560" y="7642531"/>
                </a:lnTo>
                <a:lnTo>
                  <a:pt x="0" y="7642531"/>
                </a:lnTo>
                <a:lnTo>
                  <a:pt x="0" y="0"/>
                </a:lnTo>
                <a:close/>
              </a:path>
            </a:pathLst>
          </a:custGeom>
          <a:blipFill rotWithShape="1">
            <a:blip r:embed="rId3">
              <a:alphaModFix/>
            </a:blip>
            <a:stretch>
              <a:fillRect b="-62" l="-5985" r="-6010" t="0"/>
            </a:stretch>
          </a:blipFill>
          <a:ln>
            <a:noFill/>
          </a:ln>
        </p:spPr>
      </p:sp>
      <p:sp>
        <p:nvSpPr>
          <p:cNvPr id="490" name="Google Shape;490;p30"/>
          <p:cNvSpPr/>
          <p:nvPr/>
        </p:nvSpPr>
        <p:spPr>
          <a:xfrm rot="10800000">
            <a:off x="-15590" y="-465"/>
            <a:ext cx="12773530" cy="5219129"/>
          </a:xfrm>
          <a:custGeom>
            <a:rect b="b" l="l" r="r" t="t"/>
            <a:pathLst>
              <a:path extrusionOk="0" h="6958838" w="17031373">
                <a:moveTo>
                  <a:pt x="14907918" y="1270"/>
                </a:moveTo>
                <a:cubicBezTo>
                  <a:pt x="15536907" y="8509"/>
                  <a:pt x="16162235" y="85217"/>
                  <a:pt x="16758458" y="229235"/>
                </a:cubicBezTo>
                <a:lnTo>
                  <a:pt x="17031373" y="303784"/>
                </a:lnTo>
                <a:lnTo>
                  <a:pt x="17031373" y="6958838"/>
                </a:lnTo>
                <a:lnTo>
                  <a:pt x="0" y="6958838"/>
                </a:lnTo>
                <a:lnTo>
                  <a:pt x="11291963" y="811784"/>
                </a:lnTo>
                <a:lnTo>
                  <a:pt x="11414430" y="748538"/>
                </a:lnTo>
                <a:cubicBezTo>
                  <a:pt x="12370361" y="280035"/>
                  <a:pt x="13465966" y="35814"/>
                  <a:pt x="14564500" y="4318"/>
                </a:cubicBezTo>
                <a:cubicBezTo>
                  <a:pt x="14678912" y="1016"/>
                  <a:pt x="14793506" y="0"/>
                  <a:pt x="14907735" y="1397"/>
                </a:cubicBezTo>
                <a:close/>
              </a:path>
            </a:pathLst>
          </a:custGeom>
          <a:gradFill>
            <a:gsLst>
              <a:gs pos="0">
                <a:srgbClr val="F0F3F3"/>
              </a:gs>
              <a:gs pos="40000">
                <a:srgbClr val="F0F3F3"/>
              </a:gs>
              <a:gs pos="100000">
                <a:srgbClr val="F18F7F"/>
              </a:gs>
            </a:gsLst>
            <a:lin ang="126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grpSp>
        <p:nvGrpSpPr>
          <p:cNvPr id="495" name="Google Shape;495;p31"/>
          <p:cNvGrpSpPr/>
          <p:nvPr/>
        </p:nvGrpSpPr>
        <p:grpSpPr>
          <a:xfrm>
            <a:off x="1028700" y="1511247"/>
            <a:ext cx="6831618" cy="5707823"/>
            <a:chOff x="0" y="-47625"/>
            <a:chExt cx="9108824" cy="7610431"/>
          </a:xfrm>
        </p:grpSpPr>
        <p:sp>
          <p:nvSpPr>
            <p:cNvPr id="496" name="Google Shape;496;p31"/>
            <p:cNvSpPr/>
            <p:nvPr/>
          </p:nvSpPr>
          <p:spPr>
            <a:xfrm>
              <a:off x="0" y="0"/>
              <a:ext cx="9108824" cy="7562806"/>
            </a:xfrm>
            <a:custGeom>
              <a:rect b="b" l="l" r="r" t="t"/>
              <a:pathLst>
                <a:path extrusionOk="0" h="7562806" w="9108824">
                  <a:moveTo>
                    <a:pt x="0" y="0"/>
                  </a:moveTo>
                  <a:lnTo>
                    <a:pt x="9108824" y="0"/>
                  </a:lnTo>
                  <a:lnTo>
                    <a:pt x="9108824" y="7562806"/>
                  </a:lnTo>
                  <a:lnTo>
                    <a:pt x="0" y="7562806"/>
                  </a:lnTo>
                  <a:close/>
                </a:path>
              </a:pathLst>
            </a:custGeom>
            <a:solidFill>
              <a:srgbClr val="000000">
                <a:alpha val="0"/>
              </a:srgbClr>
            </a:solidFill>
            <a:ln>
              <a:noFill/>
            </a:ln>
          </p:spPr>
        </p:sp>
        <p:sp>
          <p:nvSpPr>
            <p:cNvPr id="497" name="Google Shape;497;p31"/>
            <p:cNvSpPr txBox="1"/>
            <p:nvPr/>
          </p:nvSpPr>
          <p:spPr>
            <a:xfrm>
              <a:off x="0" y="-47625"/>
              <a:ext cx="9108824" cy="7610431"/>
            </a:xfrm>
            <a:prstGeom prst="rect">
              <a:avLst/>
            </a:prstGeom>
            <a:noFill/>
            <a:ln>
              <a:noFill/>
            </a:ln>
          </p:spPr>
          <p:txBody>
            <a:bodyPr anchorCtr="0" anchor="t" bIns="0" lIns="0" spcFirstLastPara="1" rIns="0" wrap="square" tIns="0">
              <a:noAutofit/>
            </a:bodyPr>
            <a:lstStyle/>
            <a:p>
              <a:pPr indent="0" lvl="0" marL="0" marR="0" rtl="0" algn="just">
                <a:lnSpc>
                  <a:spcPct val="132011"/>
                </a:lnSpc>
                <a:spcBef>
                  <a:spcPts val="0"/>
                </a:spcBef>
                <a:spcAft>
                  <a:spcPts val="0"/>
                </a:spcAft>
                <a:buNone/>
              </a:pPr>
              <a:r>
                <a:rPr b="0" i="0" lang="en-US" sz="2749" u="none" cap="none" strike="noStrike">
                  <a:solidFill>
                    <a:srgbClr val="000000"/>
                  </a:solidFill>
                  <a:latin typeface="Roboto"/>
                  <a:ea typeface="Roboto"/>
                  <a:cs typeface="Roboto"/>
                  <a:sym typeface="Roboto"/>
                </a:rPr>
                <a:t>La concurrencia se refiere a la capacidad de un sistema para manejar múltiples tareas al mismo tiempo de manera intercalada. Aunque las tareas no necesariamente se ejecutan simultáneamente, el sistema las organiza de tal forma que avancen de manera aparente simultánea. La concurrencia es útil para gestionar múltiples operaciones en un mismo núcleo de procesamiento.</a:t>
              </a:r>
              <a:endParaRPr/>
            </a:p>
          </p:txBody>
        </p:sp>
      </p:grpSp>
      <p:sp>
        <p:nvSpPr>
          <p:cNvPr id="498" name="Google Shape;498;p31"/>
          <p:cNvSpPr/>
          <p:nvPr/>
        </p:nvSpPr>
        <p:spPr>
          <a:xfrm>
            <a:off x="8978354" y="1888249"/>
            <a:ext cx="7429500" cy="1931668"/>
          </a:xfrm>
          <a:custGeom>
            <a:rect b="b" l="l" r="r" t="t"/>
            <a:pathLst>
              <a:path extrusionOk="0" h="1931668" w="7429500">
                <a:moveTo>
                  <a:pt x="0" y="0"/>
                </a:moveTo>
                <a:lnTo>
                  <a:pt x="7429500" y="0"/>
                </a:lnTo>
                <a:lnTo>
                  <a:pt x="7429500" y="1931668"/>
                </a:lnTo>
                <a:lnTo>
                  <a:pt x="0" y="1931668"/>
                </a:lnTo>
                <a:lnTo>
                  <a:pt x="0" y="0"/>
                </a:lnTo>
                <a:close/>
              </a:path>
            </a:pathLst>
          </a:custGeom>
          <a:blipFill rotWithShape="1">
            <a:blip r:embed="rId3">
              <a:alphaModFix/>
            </a:blip>
            <a:stretch>
              <a:fillRect b="0" l="-162" r="-161" t="0"/>
            </a:stretch>
          </a:blipFill>
          <a:ln>
            <a:noFill/>
          </a:ln>
        </p:spPr>
      </p:sp>
      <p:sp>
        <p:nvSpPr>
          <p:cNvPr id="499" name="Google Shape;499;p31"/>
          <p:cNvSpPr/>
          <p:nvPr/>
        </p:nvSpPr>
        <p:spPr>
          <a:xfrm>
            <a:off x="7056547" y="5067860"/>
            <a:ext cx="11229921" cy="5219129"/>
          </a:xfrm>
          <a:custGeom>
            <a:rect b="b" l="l" r="r" t="t"/>
            <a:pathLst>
              <a:path extrusionOk="0" h="6958838" w="14973227">
                <a:moveTo>
                  <a:pt x="12108894" y="1270"/>
                </a:moveTo>
                <a:cubicBezTo>
                  <a:pt x="13130682" y="15748"/>
                  <a:pt x="14140723" y="307975"/>
                  <a:pt x="14972635" y="860806"/>
                </a:cubicBezTo>
                <a:lnTo>
                  <a:pt x="14973227" y="861314"/>
                </a:lnTo>
                <a:lnTo>
                  <a:pt x="14973227" y="6958838"/>
                </a:lnTo>
                <a:lnTo>
                  <a:pt x="0" y="6958838"/>
                </a:lnTo>
                <a:lnTo>
                  <a:pt x="9171850" y="811784"/>
                </a:lnTo>
                <a:lnTo>
                  <a:pt x="9271322" y="748538"/>
                </a:lnTo>
                <a:cubicBezTo>
                  <a:pt x="10047774" y="280035"/>
                  <a:pt x="10937675" y="35814"/>
                  <a:pt x="11829955" y="4318"/>
                </a:cubicBezTo>
                <a:cubicBezTo>
                  <a:pt x="11922885" y="1016"/>
                  <a:pt x="12015964" y="0"/>
                  <a:pt x="12108745" y="1397"/>
                </a:cubicBezTo>
                <a:close/>
              </a:path>
            </a:pathLst>
          </a:custGeom>
          <a:gradFill>
            <a:gsLst>
              <a:gs pos="0">
                <a:srgbClr val="F0F3F3"/>
              </a:gs>
              <a:gs pos="39000">
                <a:srgbClr val="F0F3F3"/>
              </a:gs>
              <a:gs pos="100000">
                <a:srgbClr val="F18F7F"/>
              </a:gs>
            </a:gsLst>
            <a:lin ang="1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0" name="Google Shape;500;p31"/>
          <p:cNvGrpSpPr/>
          <p:nvPr/>
        </p:nvGrpSpPr>
        <p:grpSpPr>
          <a:xfrm>
            <a:off x="10371417" y="7677715"/>
            <a:ext cx="7916584" cy="2720468"/>
            <a:chOff x="0" y="0"/>
            <a:chExt cx="10555445" cy="3627291"/>
          </a:xfrm>
        </p:grpSpPr>
        <p:sp>
          <p:nvSpPr>
            <p:cNvPr id="501" name="Google Shape;501;p31"/>
            <p:cNvSpPr/>
            <p:nvPr/>
          </p:nvSpPr>
          <p:spPr>
            <a:xfrm>
              <a:off x="0" y="0"/>
              <a:ext cx="10555445" cy="3627291"/>
            </a:xfrm>
            <a:custGeom>
              <a:rect b="b" l="l" r="r" t="t"/>
              <a:pathLst>
                <a:path extrusionOk="0" h="3627291" w="10555445">
                  <a:moveTo>
                    <a:pt x="0" y="0"/>
                  </a:moveTo>
                  <a:lnTo>
                    <a:pt x="10555445" y="0"/>
                  </a:lnTo>
                  <a:lnTo>
                    <a:pt x="10555445" y="3627291"/>
                  </a:lnTo>
                  <a:lnTo>
                    <a:pt x="0" y="3627291"/>
                  </a:lnTo>
                  <a:close/>
                </a:path>
              </a:pathLst>
            </a:custGeom>
            <a:solidFill>
              <a:srgbClr val="000000">
                <a:alpha val="0"/>
              </a:srgbClr>
            </a:solidFill>
            <a:ln>
              <a:noFill/>
            </a:ln>
          </p:spPr>
        </p:sp>
        <p:sp>
          <p:nvSpPr>
            <p:cNvPr id="502" name="Google Shape;502;p31"/>
            <p:cNvSpPr txBox="1"/>
            <p:nvPr/>
          </p:nvSpPr>
          <p:spPr>
            <a:xfrm>
              <a:off x="0" y="28575"/>
              <a:ext cx="10555444" cy="3598716"/>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Concurrencia</a:t>
              </a:r>
              <a:endParaRPr sz="100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grpSp>
        <p:nvGrpSpPr>
          <p:cNvPr id="507" name="Google Shape;507;p32"/>
          <p:cNvGrpSpPr/>
          <p:nvPr/>
        </p:nvGrpSpPr>
        <p:grpSpPr>
          <a:xfrm>
            <a:off x="1600200" y="6091518"/>
            <a:ext cx="7652981" cy="2884394"/>
            <a:chOff x="0" y="0"/>
            <a:chExt cx="10203974" cy="3845858"/>
          </a:xfrm>
        </p:grpSpPr>
        <p:sp>
          <p:nvSpPr>
            <p:cNvPr id="508" name="Google Shape;508;p32"/>
            <p:cNvSpPr/>
            <p:nvPr/>
          </p:nvSpPr>
          <p:spPr>
            <a:xfrm>
              <a:off x="0" y="0"/>
              <a:ext cx="10203974" cy="3845858"/>
            </a:xfrm>
            <a:custGeom>
              <a:rect b="b" l="l" r="r" t="t"/>
              <a:pathLst>
                <a:path extrusionOk="0" h="3845858" w="10203974">
                  <a:moveTo>
                    <a:pt x="0" y="0"/>
                  </a:moveTo>
                  <a:lnTo>
                    <a:pt x="10203974" y="0"/>
                  </a:lnTo>
                  <a:lnTo>
                    <a:pt x="10203974" y="3845858"/>
                  </a:lnTo>
                  <a:lnTo>
                    <a:pt x="0" y="3845858"/>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509" name="Google Shape;509;p32"/>
            <p:cNvSpPr txBox="1"/>
            <p:nvPr/>
          </p:nvSpPr>
          <p:spPr>
            <a:xfrm>
              <a:off x="0" y="28575"/>
              <a:ext cx="10203974" cy="3817283"/>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Paralelismo</a:t>
              </a:r>
              <a:endParaRPr sz="10000"/>
            </a:p>
          </p:txBody>
        </p:sp>
      </p:grpSp>
      <p:sp>
        <p:nvSpPr>
          <p:cNvPr descr="Concurrency vs Parallelism | Baeldung on Computer Science" id="510" name="Google Shape;510;p32"/>
          <p:cNvSpPr/>
          <p:nvPr/>
        </p:nvSpPr>
        <p:spPr>
          <a:xfrm>
            <a:off x="1600200" y="2161946"/>
            <a:ext cx="7549984" cy="3406340"/>
          </a:xfrm>
          <a:custGeom>
            <a:rect b="b" l="l" r="r" t="t"/>
            <a:pathLst>
              <a:path extrusionOk="0" h="3406340" w="7549984">
                <a:moveTo>
                  <a:pt x="0" y="0"/>
                </a:moveTo>
                <a:lnTo>
                  <a:pt x="7549984" y="0"/>
                </a:lnTo>
                <a:lnTo>
                  <a:pt x="7549984" y="3406339"/>
                </a:lnTo>
                <a:lnTo>
                  <a:pt x="0" y="3406339"/>
                </a:lnTo>
                <a:lnTo>
                  <a:pt x="0" y="0"/>
                </a:lnTo>
                <a:close/>
              </a:path>
            </a:pathLst>
          </a:custGeom>
          <a:blipFill rotWithShape="1">
            <a:blip r:embed="rId3">
              <a:alphaModFix/>
            </a:blip>
            <a:stretch>
              <a:fillRect b="0" l="0" r="0" t="0"/>
            </a:stretch>
          </a:blipFill>
          <a:ln>
            <a:noFill/>
          </a:ln>
        </p:spPr>
      </p:sp>
      <p:grpSp>
        <p:nvGrpSpPr>
          <p:cNvPr id="511" name="Google Shape;511;p32"/>
          <p:cNvGrpSpPr/>
          <p:nvPr/>
        </p:nvGrpSpPr>
        <p:grpSpPr>
          <a:xfrm>
            <a:off x="10858500" y="1659404"/>
            <a:ext cx="5715000" cy="6913095"/>
            <a:chOff x="0" y="-76200"/>
            <a:chExt cx="7620000" cy="9217460"/>
          </a:xfrm>
        </p:grpSpPr>
        <p:sp>
          <p:nvSpPr>
            <p:cNvPr id="512" name="Google Shape;512;p32"/>
            <p:cNvSpPr/>
            <p:nvPr/>
          </p:nvSpPr>
          <p:spPr>
            <a:xfrm>
              <a:off x="0" y="0"/>
              <a:ext cx="7620000" cy="9141260"/>
            </a:xfrm>
            <a:custGeom>
              <a:rect b="b" l="l" r="r" t="t"/>
              <a:pathLst>
                <a:path extrusionOk="0" h="9141260" w="7620000">
                  <a:moveTo>
                    <a:pt x="0" y="0"/>
                  </a:moveTo>
                  <a:lnTo>
                    <a:pt x="7620000" y="0"/>
                  </a:lnTo>
                  <a:lnTo>
                    <a:pt x="7620000" y="9141260"/>
                  </a:lnTo>
                  <a:lnTo>
                    <a:pt x="0" y="9141260"/>
                  </a:lnTo>
                  <a:close/>
                </a:path>
              </a:pathLst>
            </a:custGeom>
            <a:solidFill>
              <a:srgbClr val="000000">
                <a:alpha val="0"/>
              </a:srgbClr>
            </a:solidFill>
            <a:ln>
              <a:noFill/>
            </a:ln>
          </p:spPr>
        </p:sp>
        <p:sp>
          <p:nvSpPr>
            <p:cNvPr id="513" name="Google Shape;513;p32"/>
            <p:cNvSpPr txBox="1"/>
            <p:nvPr/>
          </p:nvSpPr>
          <p:spPr>
            <a:xfrm>
              <a:off x="0" y="-76200"/>
              <a:ext cx="7620000" cy="9217460"/>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El paralelismo implica la ejecución simultánea de múltiples tareas, utilizando varios núcleos o procesadores. En este caso, las tareas realmente se ejecutan al mismo tiempo en hardware diferente. El paralelismo es ideal para acelerar el procesamiento de grandes volúmenes de datos.</a:t>
              </a:r>
              <a:endParaRPr/>
            </a:p>
          </p:txBody>
        </p:sp>
      </p:grpSp>
      <p:sp>
        <p:nvSpPr>
          <p:cNvPr id="514" name="Google Shape;514;p32"/>
          <p:cNvSpPr/>
          <p:nvPr/>
        </p:nvSpPr>
        <p:spPr>
          <a:xfrm rot="-60000">
            <a:off x="8632342" y="5226399"/>
            <a:ext cx="9610725" cy="5219414"/>
          </a:xfrm>
          <a:custGeom>
            <a:rect b="b" l="l" r="r" t="t"/>
            <a:pathLst>
              <a:path extrusionOk="0" h="6959219" w="12814300">
                <a:moveTo>
                  <a:pt x="12707620" y="6959219"/>
                </a:moveTo>
                <a:lnTo>
                  <a:pt x="0" y="6737477"/>
                </a:lnTo>
                <a:lnTo>
                  <a:pt x="7788275" y="803275"/>
                </a:lnTo>
                <a:lnTo>
                  <a:pt x="7878064" y="738759"/>
                </a:lnTo>
                <a:cubicBezTo>
                  <a:pt x="8578723" y="262128"/>
                  <a:pt x="9376283" y="21082"/>
                  <a:pt x="10172319" y="2032"/>
                </a:cubicBezTo>
                <a:cubicBezTo>
                  <a:pt x="10255250" y="0"/>
                  <a:pt x="10338181" y="508"/>
                  <a:pt x="10420858" y="3302"/>
                </a:cubicBezTo>
                <a:cubicBezTo>
                  <a:pt x="11227943" y="30861"/>
                  <a:pt x="12022709" y="285877"/>
                  <a:pt x="12702286" y="754253"/>
                </a:cubicBezTo>
                <a:lnTo>
                  <a:pt x="12814300" y="839851"/>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grpSp>
        <p:nvGrpSpPr>
          <p:cNvPr id="519" name="Google Shape;519;p33"/>
          <p:cNvGrpSpPr/>
          <p:nvPr/>
        </p:nvGrpSpPr>
        <p:grpSpPr>
          <a:xfrm>
            <a:off x="624730" y="1604068"/>
            <a:ext cx="6260124" cy="2720468"/>
            <a:chOff x="0" y="0"/>
            <a:chExt cx="8346832" cy="3627291"/>
          </a:xfrm>
        </p:grpSpPr>
        <p:sp>
          <p:nvSpPr>
            <p:cNvPr id="520" name="Google Shape;520;p33"/>
            <p:cNvSpPr/>
            <p:nvPr/>
          </p:nvSpPr>
          <p:spPr>
            <a:xfrm>
              <a:off x="0" y="0"/>
              <a:ext cx="8346832" cy="3627291"/>
            </a:xfrm>
            <a:custGeom>
              <a:rect b="b" l="l" r="r" t="t"/>
              <a:pathLst>
                <a:path extrusionOk="0" h="3627291" w="8346832">
                  <a:moveTo>
                    <a:pt x="0" y="0"/>
                  </a:moveTo>
                  <a:lnTo>
                    <a:pt x="8346832" y="0"/>
                  </a:lnTo>
                  <a:lnTo>
                    <a:pt x="8346832"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521" name="Google Shape;521;p33"/>
            <p:cNvSpPr txBox="1"/>
            <p:nvPr/>
          </p:nvSpPr>
          <p:spPr>
            <a:xfrm>
              <a:off x="0" y="28575"/>
              <a:ext cx="8346832" cy="3598716"/>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Ejemplo</a:t>
              </a:r>
              <a:endParaRPr/>
            </a:p>
          </p:txBody>
        </p:sp>
      </p:grpSp>
      <p:grpSp>
        <p:nvGrpSpPr>
          <p:cNvPr id="522" name="Google Shape;522;p33"/>
          <p:cNvGrpSpPr/>
          <p:nvPr/>
        </p:nvGrpSpPr>
        <p:grpSpPr>
          <a:xfrm>
            <a:off x="1600197" y="4048125"/>
            <a:ext cx="6019803" cy="4524378"/>
            <a:chOff x="0" y="-76200"/>
            <a:chExt cx="8026404" cy="6032504"/>
          </a:xfrm>
        </p:grpSpPr>
        <p:sp>
          <p:nvSpPr>
            <p:cNvPr id="523" name="Google Shape;523;p33"/>
            <p:cNvSpPr/>
            <p:nvPr/>
          </p:nvSpPr>
          <p:spPr>
            <a:xfrm>
              <a:off x="0" y="0"/>
              <a:ext cx="8026404" cy="5956304"/>
            </a:xfrm>
            <a:custGeom>
              <a:rect b="b" l="l" r="r" t="t"/>
              <a:pathLst>
                <a:path extrusionOk="0" h="5956304" w="8026404">
                  <a:moveTo>
                    <a:pt x="0" y="0"/>
                  </a:moveTo>
                  <a:lnTo>
                    <a:pt x="8026404" y="0"/>
                  </a:lnTo>
                  <a:lnTo>
                    <a:pt x="8026404" y="5956304"/>
                  </a:lnTo>
                  <a:lnTo>
                    <a:pt x="0" y="5956304"/>
                  </a:lnTo>
                  <a:close/>
                </a:path>
              </a:pathLst>
            </a:custGeom>
            <a:solidFill>
              <a:srgbClr val="000000">
                <a:alpha val="0"/>
              </a:srgbClr>
            </a:solidFill>
            <a:ln>
              <a:noFill/>
            </a:ln>
          </p:spPr>
        </p:sp>
        <p:sp>
          <p:nvSpPr>
            <p:cNvPr id="524" name="Google Shape;524;p33"/>
            <p:cNvSpPr txBox="1"/>
            <p:nvPr/>
          </p:nvSpPr>
          <p:spPr>
            <a:xfrm>
              <a:off x="0" y="-76200"/>
              <a:ext cx="8026404" cy="6032504"/>
            </a:xfrm>
            <a:prstGeom prst="rect">
              <a:avLst/>
            </a:prstGeom>
            <a:noFill/>
            <a:ln>
              <a:noFill/>
            </a:ln>
          </p:spPr>
          <p:txBody>
            <a:bodyPr anchorCtr="0" anchor="t" bIns="0" lIns="0" spcFirstLastPara="1" rIns="0" wrap="square" tIns="0">
              <a:noAutofit/>
            </a:bodyPr>
            <a:lstStyle/>
            <a:p>
              <a:pPr indent="0" lvl="0" marL="0" marR="0" rtl="0" algn="l">
                <a:lnSpc>
                  <a:spcPct val="143962"/>
                </a:lnSpc>
                <a:spcBef>
                  <a:spcPts val="0"/>
                </a:spcBef>
                <a:spcAft>
                  <a:spcPts val="0"/>
                </a:spcAft>
                <a:buNone/>
              </a:pPr>
              <a:r>
                <a:rPr b="0" i="0" lang="en-US" sz="2700" u="sng" cap="none" strike="noStrike">
                  <a:solidFill>
                    <a:srgbClr val="000000"/>
                  </a:solidFill>
                  <a:latin typeface="Arimo"/>
                  <a:ea typeface="Arimo"/>
                  <a:cs typeface="Arimo"/>
                  <a:sym typeface="Arimo"/>
                  <a:hlinkClick r:id="rId3">
                    <a:extLst>
                      <a:ext uri="{A12FA001-AC4F-418D-AE19-62706E023703}">
                        <ahyp:hlinkClr val="tx"/>
                      </a:ext>
                    </a:extLst>
                  </a:hlinkClick>
                </a:rPr>
                <a:t>https://www.instagram.com/p/C-6JbX3Ojfm/?img_index=1</a:t>
              </a:r>
              <a:endParaRPr/>
            </a:p>
            <a:p>
              <a:pPr indent="0" lvl="0" marL="0" marR="0" rtl="0" algn="l">
                <a:lnSpc>
                  <a:spcPct val="143962"/>
                </a:lnSpc>
                <a:spcBef>
                  <a:spcPts val="0"/>
                </a:spcBef>
                <a:spcAft>
                  <a:spcPts val="0"/>
                </a:spcAft>
                <a:buNone/>
              </a:pPr>
              <a:r>
                <a:t/>
              </a:r>
              <a:endParaRPr b="0" i="0" sz="2700" u="sng" cap="none" strike="noStrike">
                <a:solidFill>
                  <a:srgbClr val="000000"/>
                </a:solidFill>
                <a:latin typeface="Arimo"/>
                <a:ea typeface="Arimo"/>
                <a:cs typeface="Arimo"/>
                <a:sym typeface="Arimo"/>
                <a:hlinkClick r:id="rId4">
                  <a:extLst>
                    <a:ext uri="{A12FA001-AC4F-418D-AE19-62706E023703}">
                      <ahyp:hlinkClr val="tx"/>
                    </a:ext>
                  </a:extLst>
                </a:hlinkClick>
              </a:endParaRPr>
            </a:p>
          </p:txBody>
        </p:sp>
      </p:grpSp>
      <p:sp>
        <p:nvSpPr>
          <p:cNvPr id="525" name="Google Shape;525;p33"/>
          <p:cNvSpPr/>
          <p:nvPr/>
        </p:nvSpPr>
        <p:spPr>
          <a:xfrm>
            <a:off x="9181288" y="1323975"/>
            <a:ext cx="7776560" cy="7642531"/>
          </a:xfrm>
          <a:custGeom>
            <a:rect b="b" l="l" r="r" t="t"/>
            <a:pathLst>
              <a:path extrusionOk="0" h="7642531" w="7776560">
                <a:moveTo>
                  <a:pt x="0" y="0"/>
                </a:moveTo>
                <a:lnTo>
                  <a:pt x="7776560" y="0"/>
                </a:lnTo>
                <a:lnTo>
                  <a:pt x="7776560" y="7642531"/>
                </a:lnTo>
                <a:lnTo>
                  <a:pt x="0" y="7642531"/>
                </a:lnTo>
                <a:lnTo>
                  <a:pt x="0" y="0"/>
                </a:lnTo>
                <a:close/>
              </a:path>
            </a:pathLst>
          </a:custGeom>
          <a:blipFill rotWithShape="1">
            <a:blip r:embed="rId5">
              <a:alphaModFix/>
            </a:blip>
            <a:stretch>
              <a:fillRect b="-15793" l="0" r="-149" t="-13827"/>
            </a:stretch>
          </a:blipFill>
          <a:ln>
            <a:noFill/>
          </a:ln>
        </p:spPr>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4"/>
          <p:cNvSpPr/>
          <p:nvPr/>
        </p:nvSpPr>
        <p:spPr>
          <a:xfrm rot="-60000">
            <a:off x="-35284" y="-82865"/>
            <a:ext cx="9610821" cy="5219510"/>
          </a:xfrm>
          <a:custGeom>
            <a:rect b="b" l="l" r="r" t="t"/>
            <a:pathLst>
              <a:path extrusionOk="0" h="6959346" w="12814427">
                <a:moveTo>
                  <a:pt x="106807" y="0"/>
                </a:moveTo>
                <a:lnTo>
                  <a:pt x="12814427" y="221869"/>
                </a:lnTo>
                <a:lnTo>
                  <a:pt x="5026279" y="6155944"/>
                </a:lnTo>
                <a:lnTo>
                  <a:pt x="4936490" y="6220460"/>
                </a:lnTo>
                <a:cubicBezTo>
                  <a:pt x="4235831" y="6697218"/>
                  <a:pt x="3438271" y="6938264"/>
                  <a:pt x="2642235" y="6957314"/>
                </a:cubicBezTo>
                <a:cubicBezTo>
                  <a:pt x="2559304" y="6959346"/>
                  <a:pt x="2476373" y="6958838"/>
                  <a:pt x="2393696" y="6956044"/>
                </a:cubicBezTo>
                <a:cubicBezTo>
                  <a:pt x="1586611" y="6928485"/>
                  <a:pt x="791845" y="6673469"/>
                  <a:pt x="112268" y="6205093"/>
                </a:cubicBezTo>
                <a:lnTo>
                  <a:pt x="0" y="6119495"/>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1" name="Google Shape;531;p34"/>
          <p:cNvGrpSpPr/>
          <p:nvPr/>
        </p:nvGrpSpPr>
        <p:grpSpPr>
          <a:xfrm>
            <a:off x="0" y="1028700"/>
            <a:ext cx="6260124" cy="2720468"/>
            <a:chOff x="0" y="0"/>
            <a:chExt cx="8346832" cy="3627291"/>
          </a:xfrm>
        </p:grpSpPr>
        <p:sp>
          <p:nvSpPr>
            <p:cNvPr id="532" name="Google Shape;532;p34"/>
            <p:cNvSpPr/>
            <p:nvPr/>
          </p:nvSpPr>
          <p:spPr>
            <a:xfrm>
              <a:off x="0" y="0"/>
              <a:ext cx="8346832" cy="3627291"/>
            </a:xfrm>
            <a:custGeom>
              <a:rect b="b" l="l" r="r" t="t"/>
              <a:pathLst>
                <a:path extrusionOk="0" h="3627291" w="8346832">
                  <a:moveTo>
                    <a:pt x="0" y="0"/>
                  </a:moveTo>
                  <a:lnTo>
                    <a:pt x="8346832" y="0"/>
                  </a:lnTo>
                  <a:lnTo>
                    <a:pt x="8346832"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533" name="Google Shape;533;p34"/>
            <p:cNvSpPr txBox="1"/>
            <p:nvPr/>
          </p:nvSpPr>
          <p:spPr>
            <a:xfrm>
              <a:off x="0" y="28575"/>
              <a:ext cx="8346832" cy="3598716"/>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Proceso</a:t>
              </a:r>
              <a:endParaRPr/>
            </a:p>
          </p:txBody>
        </p:sp>
      </p:grpSp>
      <p:grpSp>
        <p:nvGrpSpPr>
          <p:cNvPr id="534" name="Google Shape;534;p34"/>
          <p:cNvGrpSpPr/>
          <p:nvPr/>
        </p:nvGrpSpPr>
        <p:grpSpPr>
          <a:xfrm>
            <a:off x="1028700" y="5299672"/>
            <a:ext cx="7364429" cy="3532988"/>
            <a:chOff x="0" y="-76200"/>
            <a:chExt cx="9819238" cy="4710651"/>
          </a:xfrm>
        </p:grpSpPr>
        <p:sp>
          <p:nvSpPr>
            <p:cNvPr id="535" name="Google Shape;535;p34"/>
            <p:cNvSpPr/>
            <p:nvPr/>
          </p:nvSpPr>
          <p:spPr>
            <a:xfrm>
              <a:off x="0" y="0"/>
              <a:ext cx="9819238" cy="4634450"/>
            </a:xfrm>
            <a:custGeom>
              <a:rect b="b" l="l" r="r" t="t"/>
              <a:pathLst>
                <a:path extrusionOk="0" h="4634450" w="9819238">
                  <a:moveTo>
                    <a:pt x="0" y="0"/>
                  </a:moveTo>
                  <a:lnTo>
                    <a:pt x="9819238" y="0"/>
                  </a:lnTo>
                  <a:lnTo>
                    <a:pt x="9819238" y="4634450"/>
                  </a:lnTo>
                  <a:lnTo>
                    <a:pt x="0" y="4634450"/>
                  </a:lnTo>
                  <a:close/>
                </a:path>
              </a:pathLst>
            </a:custGeom>
            <a:solidFill>
              <a:srgbClr val="000000">
                <a:alpha val="0"/>
              </a:srgbClr>
            </a:solidFill>
            <a:ln>
              <a:noFill/>
            </a:ln>
          </p:spPr>
        </p:sp>
        <p:sp>
          <p:nvSpPr>
            <p:cNvPr id="536" name="Google Shape;536;p34"/>
            <p:cNvSpPr txBox="1"/>
            <p:nvPr/>
          </p:nvSpPr>
          <p:spPr>
            <a:xfrm>
              <a:off x="0" y="-76200"/>
              <a:ext cx="9819238" cy="4710651"/>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Es una instancia en ejecución de un programa de computadora. Puede incluir el código ejecutable, datos, variables de entorno, asignaciones de memoria, recursos del sistema operativo y otros atributos que describen el estado de ejecución del programa.</a:t>
              </a:r>
              <a:endParaRPr/>
            </a:p>
          </p:txBody>
        </p:sp>
      </p:grpSp>
      <p:sp>
        <p:nvSpPr>
          <p:cNvPr descr="Proceso - Iconos gratis de ui" id="537" name="Google Shape;537;p34"/>
          <p:cNvSpPr/>
          <p:nvPr/>
        </p:nvSpPr>
        <p:spPr>
          <a:xfrm>
            <a:off x="9144000" y="1403160"/>
            <a:ext cx="7429500" cy="7429500"/>
          </a:xfrm>
          <a:custGeom>
            <a:rect b="b" l="l" r="r" t="t"/>
            <a:pathLst>
              <a:path extrusionOk="0" h="7429500" w="7429500">
                <a:moveTo>
                  <a:pt x="0" y="0"/>
                </a:moveTo>
                <a:lnTo>
                  <a:pt x="7429500" y="0"/>
                </a:lnTo>
                <a:lnTo>
                  <a:pt x="7429500" y="7429500"/>
                </a:lnTo>
                <a:lnTo>
                  <a:pt x="0" y="74295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5"/>
          <p:cNvSpPr/>
          <p:nvPr/>
        </p:nvSpPr>
        <p:spPr>
          <a:xfrm rot="-60000">
            <a:off x="8632342" y="5226399"/>
            <a:ext cx="9610725" cy="5219414"/>
          </a:xfrm>
          <a:custGeom>
            <a:rect b="b" l="l" r="r" t="t"/>
            <a:pathLst>
              <a:path extrusionOk="0" h="6959219" w="12814300">
                <a:moveTo>
                  <a:pt x="12707620" y="6959219"/>
                </a:moveTo>
                <a:lnTo>
                  <a:pt x="0" y="6737477"/>
                </a:lnTo>
                <a:lnTo>
                  <a:pt x="7788275" y="803275"/>
                </a:lnTo>
                <a:lnTo>
                  <a:pt x="7878064" y="738759"/>
                </a:lnTo>
                <a:cubicBezTo>
                  <a:pt x="8578723" y="262128"/>
                  <a:pt x="9376283" y="21082"/>
                  <a:pt x="10172319" y="2032"/>
                </a:cubicBezTo>
                <a:cubicBezTo>
                  <a:pt x="10255250" y="0"/>
                  <a:pt x="10338181" y="508"/>
                  <a:pt x="10420858" y="3302"/>
                </a:cubicBezTo>
                <a:cubicBezTo>
                  <a:pt x="11227943" y="30861"/>
                  <a:pt x="12022709" y="285877"/>
                  <a:pt x="12702286" y="754253"/>
                </a:cubicBezTo>
                <a:lnTo>
                  <a:pt x="12814300" y="839851"/>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 name="Google Shape;543;p35"/>
          <p:cNvGrpSpPr/>
          <p:nvPr/>
        </p:nvGrpSpPr>
        <p:grpSpPr>
          <a:xfrm>
            <a:off x="1600200" y="6091518"/>
            <a:ext cx="7652981" cy="2884394"/>
            <a:chOff x="0" y="0"/>
            <a:chExt cx="10203974" cy="3845858"/>
          </a:xfrm>
        </p:grpSpPr>
        <p:sp>
          <p:nvSpPr>
            <p:cNvPr id="544" name="Google Shape;544;p35"/>
            <p:cNvSpPr/>
            <p:nvPr/>
          </p:nvSpPr>
          <p:spPr>
            <a:xfrm>
              <a:off x="0" y="0"/>
              <a:ext cx="10203974" cy="3845858"/>
            </a:xfrm>
            <a:custGeom>
              <a:rect b="b" l="l" r="r" t="t"/>
              <a:pathLst>
                <a:path extrusionOk="0" h="3845858" w="10203974">
                  <a:moveTo>
                    <a:pt x="0" y="0"/>
                  </a:moveTo>
                  <a:lnTo>
                    <a:pt x="10203974" y="0"/>
                  </a:lnTo>
                  <a:lnTo>
                    <a:pt x="10203974" y="3845858"/>
                  </a:lnTo>
                  <a:lnTo>
                    <a:pt x="0" y="3845858"/>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545" name="Google Shape;545;p35"/>
            <p:cNvSpPr txBox="1"/>
            <p:nvPr/>
          </p:nvSpPr>
          <p:spPr>
            <a:xfrm>
              <a:off x="0" y="28575"/>
              <a:ext cx="10203974" cy="3817283"/>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Sub-Proceso</a:t>
              </a:r>
              <a:endParaRPr sz="10000"/>
            </a:p>
          </p:txBody>
        </p:sp>
      </p:grpSp>
      <p:sp>
        <p:nvSpPr>
          <p:cNvPr descr="Ilustración visual detallada del subproceso de diagrama de flujo" id="546" name="Google Shape;546;p35"/>
          <p:cNvSpPr/>
          <p:nvPr/>
        </p:nvSpPr>
        <p:spPr>
          <a:xfrm>
            <a:off x="1600200" y="3661915"/>
            <a:ext cx="7549984" cy="1906370"/>
          </a:xfrm>
          <a:custGeom>
            <a:rect b="b" l="l" r="r" t="t"/>
            <a:pathLst>
              <a:path extrusionOk="0" h="1906370" w="7549984">
                <a:moveTo>
                  <a:pt x="0" y="0"/>
                </a:moveTo>
                <a:lnTo>
                  <a:pt x="7549984" y="0"/>
                </a:lnTo>
                <a:lnTo>
                  <a:pt x="7549984" y="1906370"/>
                </a:lnTo>
                <a:lnTo>
                  <a:pt x="0" y="1906370"/>
                </a:lnTo>
                <a:lnTo>
                  <a:pt x="0" y="0"/>
                </a:lnTo>
                <a:close/>
              </a:path>
            </a:pathLst>
          </a:custGeom>
          <a:blipFill rotWithShape="1">
            <a:blip r:embed="rId3">
              <a:alphaModFix/>
            </a:blip>
            <a:stretch>
              <a:fillRect b="-168" l="0" r="0" t="-169"/>
            </a:stretch>
          </a:blipFill>
          <a:ln>
            <a:noFill/>
          </a:ln>
        </p:spPr>
      </p:sp>
      <p:grpSp>
        <p:nvGrpSpPr>
          <p:cNvPr id="547" name="Google Shape;547;p35"/>
          <p:cNvGrpSpPr/>
          <p:nvPr/>
        </p:nvGrpSpPr>
        <p:grpSpPr>
          <a:xfrm>
            <a:off x="10858500" y="1659404"/>
            <a:ext cx="5715000" cy="6913095"/>
            <a:chOff x="0" y="-76200"/>
            <a:chExt cx="7620000" cy="9217460"/>
          </a:xfrm>
        </p:grpSpPr>
        <p:sp>
          <p:nvSpPr>
            <p:cNvPr id="548" name="Google Shape;548;p35"/>
            <p:cNvSpPr/>
            <p:nvPr/>
          </p:nvSpPr>
          <p:spPr>
            <a:xfrm>
              <a:off x="0" y="0"/>
              <a:ext cx="7620000" cy="9141260"/>
            </a:xfrm>
            <a:custGeom>
              <a:rect b="b" l="l" r="r" t="t"/>
              <a:pathLst>
                <a:path extrusionOk="0" h="9141260" w="7620000">
                  <a:moveTo>
                    <a:pt x="0" y="0"/>
                  </a:moveTo>
                  <a:lnTo>
                    <a:pt x="7620000" y="0"/>
                  </a:lnTo>
                  <a:lnTo>
                    <a:pt x="7620000" y="9141260"/>
                  </a:lnTo>
                  <a:lnTo>
                    <a:pt x="0" y="9141260"/>
                  </a:lnTo>
                  <a:close/>
                </a:path>
              </a:pathLst>
            </a:custGeom>
            <a:solidFill>
              <a:srgbClr val="000000">
                <a:alpha val="0"/>
              </a:srgbClr>
            </a:solidFill>
            <a:ln>
              <a:noFill/>
            </a:ln>
          </p:spPr>
        </p:sp>
        <p:sp>
          <p:nvSpPr>
            <p:cNvPr id="549" name="Google Shape;549;p35"/>
            <p:cNvSpPr txBox="1"/>
            <p:nvPr/>
          </p:nvSpPr>
          <p:spPr>
            <a:xfrm>
              <a:off x="0" y="-76200"/>
              <a:ext cx="7620000" cy="9217460"/>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Es una secuencia de instrucciones que puede ser ejecutada por un procesador de manera independiente de otros subprocesos. Los subprocesos comparten recursos con otros subprocesos del mismo proceso, lo que permite la ejecución de múltiples tareas de manera concurrente.</a:t>
              </a: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6"/>
          <p:cNvSpPr/>
          <p:nvPr/>
        </p:nvSpPr>
        <p:spPr>
          <a:xfrm rot="-60000">
            <a:off x="-36085" y="-98596"/>
            <a:ext cx="11414242" cy="5143506"/>
          </a:xfrm>
          <a:custGeom>
            <a:rect b="b" l="l" r="r" t="t"/>
            <a:pathLst>
              <a:path extrusionOk="0" h="6858009" w="15218989">
                <a:moveTo>
                  <a:pt x="126849" y="0"/>
                </a:moveTo>
                <a:lnTo>
                  <a:pt x="15218989" y="218638"/>
                </a:lnTo>
                <a:lnTo>
                  <a:pt x="5969434" y="6066295"/>
                </a:lnTo>
                <a:lnTo>
                  <a:pt x="5862797" y="6129871"/>
                </a:lnTo>
                <a:cubicBezTo>
                  <a:pt x="5030663" y="6599686"/>
                  <a:pt x="4083445" y="6837222"/>
                  <a:pt x="3138037" y="6855995"/>
                </a:cubicBezTo>
                <a:cubicBezTo>
                  <a:pt x="3039544" y="6858009"/>
                  <a:pt x="2941051" y="6857501"/>
                  <a:pt x="2842861" y="6854744"/>
                </a:cubicBezTo>
                <a:cubicBezTo>
                  <a:pt x="1884330" y="6827585"/>
                  <a:pt x="940431" y="6576283"/>
                  <a:pt x="133334" y="6114728"/>
                </a:cubicBezTo>
                <a:lnTo>
                  <a:pt x="0" y="6030377"/>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5" name="Google Shape;555;p36"/>
          <p:cNvGrpSpPr/>
          <p:nvPr/>
        </p:nvGrpSpPr>
        <p:grpSpPr>
          <a:xfrm>
            <a:off x="-350741" y="0"/>
            <a:ext cx="8689597" cy="4568318"/>
            <a:chOff x="0" y="0"/>
            <a:chExt cx="11586130" cy="6091091"/>
          </a:xfrm>
        </p:grpSpPr>
        <p:sp>
          <p:nvSpPr>
            <p:cNvPr id="556" name="Google Shape;556;p36"/>
            <p:cNvSpPr/>
            <p:nvPr/>
          </p:nvSpPr>
          <p:spPr>
            <a:xfrm>
              <a:off x="0" y="0"/>
              <a:ext cx="11586130" cy="6091091"/>
            </a:xfrm>
            <a:custGeom>
              <a:rect b="b" l="l" r="r" t="t"/>
              <a:pathLst>
                <a:path extrusionOk="0" h="6091091" w="11586130">
                  <a:moveTo>
                    <a:pt x="0" y="0"/>
                  </a:moveTo>
                  <a:lnTo>
                    <a:pt x="11586130" y="0"/>
                  </a:lnTo>
                  <a:lnTo>
                    <a:pt x="11586130" y="6091091"/>
                  </a:lnTo>
                  <a:lnTo>
                    <a:pt x="0" y="60910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557" name="Google Shape;557;p36"/>
            <p:cNvSpPr txBox="1"/>
            <p:nvPr/>
          </p:nvSpPr>
          <p:spPr>
            <a:xfrm>
              <a:off x="0" y="28575"/>
              <a:ext cx="11586130" cy="6062516"/>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Definición de Hilos</a:t>
              </a:r>
              <a:endParaRPr sz="10000"/>
            </a:p>
          </p:txBody>
        </p:sp>
      </p:grpSp>
      <p:grpSp>
        <p:nvGrpSpPr>
          <p:cNvPr id="558" name="Google Shape;558;p36"/>
          <p:cNvGrpSpPr/>
          <p:nvPr/>
        </p:nvGrpSpPr>
        <p:grpSpPr>
          <a:xfrm>
            <a:off x="9144000" y="1028700"/>
            <a:ext cx="8398503" cy="8823349"/>
            <a:chOff x="0" y="0"/>
            <a:chExt cx="11198004" cy="11764466"/>
          </a:xfrm>
        </p:grpSpPr>
        <p:sp>
          <p:nvSpPr>
            <p:cNvPr id="559" name="Google Shape;559;p36"/>
            <p:cNvSpPr/>
            <p:nvPr/>
          </p:nvSpPr>
          <p:spPr>
            <a:xfrm>
              <a:off x="0" y="0"/>
              <a:ext cx="11198004" cy="11764466"/>
            </a:xfrm>
            <a:custGeom>
              <a:rect b="b" l="l" r="r" t="t"/>
              <a:pathLst>
                <a:path extrusionOk="0" h="11764466" w="11198004">
                  <a:moveTo>
                    <a:pt x="0" y="0"/>
                  </a:moveTo>
                  <a:lnTo>
                    <a:pt x="11198004" y="0"/>
                  </a:lnTo>
                  <a:lnTo>
                    <a:pt x="11198004" y="11764466"/>
                  </a:lnTo>
                  <a:lnTo>
                    <a:pt x="0" y="11764466"/>
                  </a:lnTo>
                  <a:close/>
                </a:path>
              </a:pathLst>
            </a:custGeom>
            <a:solidFill>
              <a:srgbClr val="000000">
                <a:alpha val="0"/>
              </a:srgbClr>
            </a:solidFill>
            <a:ln>
              <a:noFill/>
            </a:ln>
          </p:spPr>
        </p:sp>
        <p:sp>
          <p:nvSpPr>
            <p:cNvPr id="560" name="Google Shape;560;p36"/>
            <p:cNvSpPr txBox="1"/>
            <p:nvPr/>
          </p:nvSpPr>
          <p:spPr>
            <a:xfrm>
              <a:off x="0" y="28575"/>
              <a:ext cx="11198004" cy="11735891"/>
            </a:xfrm>
            <a:prstGeom prst="rect">
              <a:avLst/>
            </a:prstGeom>
            <a:noFill/>
            <a:ln>
              <a:noFill/>
            </a:ln>
          </p:spPr>
          <p:txBody>
            <a:bodyPr anchorCtr="0" anchor="t" bIns="0" lIns="0" spcFirstLastPara="1" rIns="0" wrap="square" tIns="0">
              <a:noAutofit/>
            </a:bodyPr>
            <a:lstStyle/>
            <a:p>
              <a:pPr indent="0" lvl="0" marL="0" marR="0" rtl="0" algn="just">
                <a:lnSpc>
                  <a:spcPct val="105636"/>
                </a:lnSpc>
                <a:spcBef>
                  <a:spcPts val="0"/>
                </a:spcBef>
                <a:spcAft>
                  <a:spcPts val="0"/>
                </a:spcAft>
                <a:buNone/>
              </a:pPr>
              <a:r>
                <a:rPr b="0" i="0" lang="en-US" sz="3566" u="none" cap="none" strike="noStrike">
                  <a:solidFill>
                    <a:srgbClr val="000000"/>
                  </a:solidFill>
                  <a:latin typeface="Arimo"/>
                  <a:ea typeface="Arimo"/>
                  <a:cs typeface="Arimo"/>
                  <a:sym typeface="Arimo"/>
                </a:rPr>
                <a:t>En sistemas operativos, un hilo (del inglés thread), proceso ligero o subproceso, es una secuencia de tareas encadenadas muy pequeña que puede ser ejecutada por un sistema operativo. La destrucción de los hilos antiguos por los nuevos es una característica que no permite a una aplicación realizar varias tareas a la vez (concurrentemente). Los distintos hilos de ejecución comparten una serie de recursos tales como el espacio de memoria, los archivos abiertos, la situación de autenticación, etc. Esta técnica permite simplificar el diseño de una aplicación que debe llevar a cabo distintas funciones simultáneamente.</a:t>
              </a:r>
              <a:endParaRPr/>
            </a:p>
            <a:p>
              <a:pPr indent="0" lvl="0" marL="0" marR="0" rtl="0" algn="just">
                <a:lnSpc>
                  <a:spcPct val="105606"/>
                </a:lnSpc>
                <a:spcBef>
                  <a:spcPts val="0"/>
                </a:spcBef>
                <a:spcAft>
                  <a:spcPts val="0"/>
                </a:spcAft>
                <a:buNone/>
              </a:pPr>
              <a:r>
                <a:t/>
              </a:r>
              <a:endParaRPr b="0" i="0" sz="3566" u="none" cap="none" strike="noStrike">
                <a:solidFill>
                  <a:srgbClr val="000000"/>
                </a:solidFill>
                <a:latin typeface="Arimo"/>
                <a:ea typeface="Arimo"/>
                <a:cs typeface="Arimo"/>
                <a:sym typeface="Arimo"/>
              </a:endParaRPr>
            </a:p>
          </p:txBody>
        </p:sp>
      </p:grpSp>
      <p:sp>
        <p:nvSpPr>
          <p:cNvPr descr="Multitarea e Hilos en Java con ejemplos (Thread &amp; Runnable) - Jarroba" id="561" name="Google Shape;561;p36"/>
          <p:cNvSpPr/>
          <p:nvPr/>
        </p:nvSpPr>
        <p:spPr>
          <a:xfrm>
            <a:off x="0" y="4849966"/>
            <a:ext cx="8792721" cy="5437034"/>
          </a:xfrm>
          <a:custGeom>
            <a:rect b="b" l="l" r="r" t="t"/>
            <a:pathLst>
              <a:path extrusionOk="0" h="5437034" w="8792721">
                <a:moveTo>
                  <a:pt x="0" y="0"/>
                </a:moveTo>
                <a:lnTo>
                  <a:pt x="8792721" y="0"/>
                </a:lnTo>
                <a:lnTo>
                  <a:pt x="8792721" y="5437034"/>
                </a:lnTo>
                <a:lnTo>
                  <a:pt x="0" y="5437034"/>
                </a:lnTo>
                <a:lnTo>
                  <a:pt x="0" y="0"/>
                </a:lnTo>
                <a:close/>
              </a:path>
            </a:pathLst>
          </a:custGeom>
          <a:blipFill rotWithShape="1">
            <a:blip r:embed="rId3">
              <a:alphaModFix/>
            </a:blip>
            <a:stretch>
              <a:fillRect b="-7534" l="0" r="-9038" t="-7528"/>
            </a:stretch>
          </a:blipFill>
          <a:ln>
            <a:noFill/>
          </a:ln>
        </p:spPr>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7"/>
          <p:cNvSpPr/>
          <p:nvPr/>
        </p:nvSpPr>
        <p:spPr>
          <a:xfrm rot="-60000">
            <a:off x="-35284" y="-82865"/>
            <a:ext cx="9610821" cy="5219510"/>
          </a:xfrm>
          <a:custGeom>
            <a:rect b="b" l="l" r="r" t="t"/>
            <a:pathLst>
              <a:path extrusionOk="0" h="6959346" w="12814427">
                <a:moveTo>
                  <a:pt x="106807" y="0"/>
                </a:moveTo>
                <a:lnTo>
                  <a:pt x="12814427" y="221869"/>
                </a:lnTo>
                <a:lnTo>
                  <a:pt x="5026279" y="6155944"/>
                </a:lnTo>
                <a:lnTo>
                  <a:pt x="4936490" y="6220460"/>
                </a:lnTo>
                <a:cubicBezTo>
                  <a:pt x="4235831" y="6697218"/>
                  <a:pt x="3438271" y="6938264"/>
                  <a:pt x="2642235" y="6957314"/>
                </a:cubicBezTo>
                <a:cubicBezTo>
                  <a:pt x="2559304" y="6959346"/>
                  <a:pt x="2476373" y="6958838"/>
                  <a:pt x="2393696" y="6956044"/>
                </a:cubicBezTo>
                <a:cubicBezTo>
                  <a:pt x="1586611" y="6928485"/>
                  <a:pt x="791845" y="6673469"/>
                  <a:pt x="112268" y="6205093"/>
                </a:cubicBezTo>
                <a:lnTo>
                  <a:pt x="0" y="6119495"/>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7" name="Google Shape;567;p37"/>
          <p:cNvGrpSpPr/>
          <p:nvPr/>
        </p:nvGrpSpPr>
        <p:grpSpPr>
          <a:xfrm>
            <a:off x="127792" y="628597"/>
            <a:ext cx="6260124" cy="2720468"/>
            <a:chOff x="0" y="0"/>
            <a:chExt cx="8346832" cy="3627291"/>
          </a:xfrm>
        </p:grpSpPr>
        <p:sp>
          <p:nvSpPr>
            <p:cNvPr id="568" name="Google Shape;568;p37"/>
            <p:cNvSpPr/>
            <p:nvPr/>
          </p:nvSpPr>
          <p:spPr>
            <a:xfrm>
              <a:off x="0" y="0"/>
              <a:ext cx="8346832" cy="3627291"/>
            </a:xfrm>
            <a:custGeom>
              <a:rect b="b" l="l" r="r" t="t"/>
              <a:pathLst>
                <a:path extrusionOk="0" h="3627291" w="8346832">
                  <a:moveTo>
                    <a:pt x="0" y="0"/>
                  </a:moveTo>
                  <a:lnTo>
                    <a:pt x="8346832" y="0"/>
                  </a:lnTo>
                  <a:lnTo>
                    <a:pt x="8346832"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569" name="Google Shape;569;p37"/>
            <p:cNvSpPr txBox="1"/>
            <p:nvPr/>
          </p:nvSpPr>
          <p:spPr>
            <a:xfrm>
              <a:off x="0" y="28575"/>
              <a:ext cx="8346832" cy="3598716"/>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Hilos</a:t>
              </a:r>
              <a:endParaRPr/>
            </a:p>
          </p:txBody>
        </p:sp>
      </p:grpSp>
      <p:grpSp>
        <p:nvGrpSpPr>
          <p:cNvPr id="570" name="Google Shape;570;p37"/>
          <p:cNvGrpSpPr/>
          <p:nvPr/>
        </p:nvGrpSpPr>
        <p:grpSpPr>
          <a:xfrm>
            <a:off x="8148638" y="2628689"/>
            <a:ext cx="9223344" cy="6369954"/>
            <a:chOff x="0" y="-47625"/>
            <a:chExt cx="12297792" cy="8493271"/>
          </a:xfrm>
        </p:grpSpPr>
        <p:sp>
          <p:nvSpPr>
            <p:cNvPr id="571" name="Google Shape;571;p37"/>
            <p:cNvSpPr/>
            <p:nvPr/>
          </p:nvSpPr>
          <p:spPr>
            <a:xfrm>
              <a:off x="0" y="0"/>
              <a:ext cx="12297792" cy="8445646"/>
            </a:xfrm>
            <a:custGeom>
              <a:rect b="b" l="l" r="r" t="t"/>
              <a:pathLst>
                <a:path extrusionOk="0" h="8445646" w="12297792">
                  <a:moveTo>
                    <a:pt x="0" y="0"/>
                  </a:moveTo>
                  <a:lnTo>
                    <a:pt x="12297792" y="0"/>
                  </a:lnTo>
                  <a:lnTo>
                    <a:pt x="12297792" y="8445646"/>
                  </a:lnTo>
                  <a:lnTo>
                    <a:pt x="0" y="8445646"/>
                  </a:lnTo>
                  <a:close/>
                </a:path>
              </a:pathLst>
            </a:custGeom>
            <a:solidFill>
              <a:srgbClr val="000000">
                <a:alpha val="0"/>
              </a:srgbClr>
            </a:solidFill>
            <a:ln>
              <a:noFill/>
            </a:ln>
          </p:spPr>
        </p:sp>
        <p:sp>
          <p:nvSpPr>
            <p:cNvPr id="572" name="Google Shape;572;p37"/>
            <p:cNvSpPr txBox="1"/>
            <p:nvPr/>
          </p:nvSpPr>
          <p:spPr>
            <a:xfrm>
              <a:off x="0" y="-47625"/>
              <a:ext cx="12297792" cy="8493271"/>
            </a:xfrm>
            <a:prstGeom prst="rect">
              <a:avLst/>
            </a:prstGeom>
            <a:noFill/>
            <a:ln>
              <a:noFill/>
            </a:ln>
          </p:spPr>
          <p:txBody>
            <a:bodyPr anchorCtr="0" anchor="t" bIns="0" lIns="0" spcFirstLastPara="1" rIns="0" wrap="square" tIns="0">
              <a:noAutofit/>
            </a:bodyPr>
            <a:lstStyle/>
            <a:p>
              <a:pPr indent="-266935" lvl="1" marL="533872" marR="0" rtl="0" algn="just">
                <a:lnSpc>
                  <a:spcPct val="132010"/>
                </a:lnSpc>
                <a:spcBef>
                  <a:spcPts val="0"/>
                </a:spcBef>
                <a:spcAft>
                  <a:spcPts val="0"/>
                </a:spcAft>
                <a:buClr>
                  <a:srgbClr val="000000"/>
                </a:buClr>
                <a:buSzPts val="2949"/>
                <a:buFont typeface="Arial"/>
                <a:buChar char="•"/>
              </a:pPr>
              <a:r>
                <a:rPr b="0" i="0" lang="en-US" sz="2949" u="none" cap="none" strike="noStrike">
                  <a:solidFill>
                    <a:srgbClr val="000000"/>
                  </a:solidFill>
                  <a:latin typeface="Arimo"/>
                  <a:ea typeface="Arimo"/>
                  <a:cs typeface="Arimo"/>
                  <a:sym typeface="Arimo"/>
                </a:rPr>
                <a:t>Un hilo es simplemente una tarea que puede ser ejecutada al mismo tiempo que otra tarea.</a:t>
              </a:r>
              <a:endParaRPr/>
            </a:p>
            <a:p>
              <a:pPr indent="0" lvl="0" marL="0" marR="0" rtl="0" algn="just">
                <a:lnSpc>
                  <a:spcPct val="132010"/>
                </a:lnSpc>
                <a:spcBef>
                  <a:spcPts val="0"/>
                </a:spcBef>
                <a:spcAft>
                  <a:spcPts val="0"/>
                </a:spcAft>
                <a:buNone/>
              </a:pPr>
              <a:r>
                <a:t/>
              </a:r>
              <a:endParaRPr b="0" i="0" sz="2949" u="none" cap="none" strike="noStrike">
                <a:solidFill>
                  <a:srgbClr val="000000"/>
                </a:solidFill>
                <a:latin typeface="Arimo"/>
                <a:ea typeface="Arimo"/>
                <a:cs typeface="Arimo"/>
                <a:sym typeface="Arimo"/>
              </a:endParaRPr>
            </a:p>
            <a:p>
              <a:pPr indent="-266935" lvl="1" marL="533872" marR="0" rtl="0" algn="just">
                <a:lnSpc>
                  <a:spcPct val="132010"/>
                </a:lnSpc>
                <a:spcBef>
                  <a:spcPts val="0"/>
                </a:spcBef>
                <a:spcAft>
                  <a:spcPts val="0"/>
                </a:spcAft>
                <a:buClr>
                  <a:srgbClr val="000000"/>
                </a:buClr>
                <a:buSzPts val="2949"/>
                <a:buFont typeface="Arial"/>
                <a:buChar char="•"/>
              </a:pPr>
              <a:r>
                <a:rPr b="0" i="0" lang="en-US" sz="2949" u="none" cap="none" strike="noStrike">
                  <a:solidFill>
                    <a:srgbClr val="000000"/>
                  </a:solidFill>
                  <a:latin typeface="Arimo"/>
                  <a:ea typeface="Arimo"/>
                  <a:cs typeface="Arimo"/>
                  <a:sym typeface="Arimo"/>
                </a:rPr>
                <a:t>Algunos lenguajes de programación tienen características de diseño expresamente creadas para permitir a los programadores lidiar con hilos de ejecución (como Java o Delphi). Otros (la mayoría) desconocen la existencia de hilos de ejecución y estos deben ser creados mediante llamadas de biblioteca especiales que dependen del sistema operativo en el que estos lenguajes están siendo utilizados (como es el caso del C y del C++).</a:t>
              </a:r>
              <a:endParaRPr/>
            </a:p>
          </p:txBody>
        </p:sp>
      </p:grpSp>
      <p:sp>
        <p:nvSpPr>
          <p:cNvPr descr="Utilización y Programación de Hilos | Nane25" id="573" name="Google Shape;573;p37"/>
          <p:cNvSpPr/>
          <p:nvPr/>
        </p:nvSpPr>
        <p:spPr>
          <a:xfrm>
            <a:off x="719138" y="5647778"/>
            <a:ext cx="7429500" cy="3946454"/>
          </a:xfrm>
          <a:custGeom>
            <a:rect b="b" l="l" r="r" t="t"/>
            <a:pathLst>
              <a:path extrusionOk="0" h="3946454" w="7429500">
                <a:moveTo>
                  <a:pt x="0" y="0"/>
                </a:moveTo>
                <a:lnTo>
                  <a:pt x="7429500" y="0"/>
                </a:lnTo>
                <a:lnTo>
                  <a:pt x="7429500" y="3946453"/>
                </a:lnTo>
                <a:lnTo>
                  <a:pt x="0" y="394645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38"/>
          <p:cNvSpPr/>
          <p:nvPr/>
        </p:nvSpPr>
        <p:spPr>
          <a:xfrm rot="-60000">
            <a:off x="44814" y="-158856"/>
            <a:ext cx="9610821" cy="5219510"/>
          </a:xfrm>
          <a:custGeom>
            <a:rect b="b" l="l" r="r" t="t"/>
            <a:pathLst>
              <a:path extrusionOk="0" h="6959346" w="12814427">
                <a:moveTo>
                  <a:pt x="106807" y="0"/>
                </a:moveTo>
                <a:lnTo>
                  <a:pt x="12814427" y="221869"/>
                </a:lnTo>
                <a:lnTo>
                  <a:pt x="5026279" y="6155944"/>
                </a:lnTo>
                <a:lnTo>
                  <a:pt x="4936490" y="6220460"/>
                </a:lnTo>
                <a:cubicBezTo>
                  <a:pt x="4235831" y="6697218"/>
                  <a:pt x="3438271" y="6938264"/>
                  <a:pt x="2642235" y="6957314"/>
                </a:cubicBezTo>
                <a:cubicBezTo>
                  <a:pt x="2559304" y="6959346"/>
                  <a:pt x="2476373" y="6958838"/>
                  <a:pt x="2393696" y="6956044"/>
                </a:cubicBezTo>
                <a:cubicBezTo>
                  <a:pt x="1586611" y="6928485"/>
                  <a:pt x="791845" y="6673469"/>
                  <a:pt x="112268" y="6205093"/>
                </a:cubicBezTo>
                <a:lnTo>
                  <a:pt x="0" y="6119495"/>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9" name="Google Shape;579;p38"/>
          <p:cNvGrpSpPr/>
          <p:nvPr/>
        </p:nvGrpSpPr>
        <p:grpSpPr>
          <a:xfrm>
            <a:off x="-4" y="3"/>
            <a:ext cx="6003398" cy="4568318"/>
            <a:chOff x="-269267" y="-494567"/>
            <a:chExt cx="8004531" cy="6091091"/>
          </a:xfrm>
        </p:grpSpPr>
        <p:sp>
          <p:nvSpPr>
            <p:cNvPr id="580" name="Google Shape;580;p38"/>
            <p:cNvSpPr/>
            <p:nvPr/>
          </p:nvSpPr>
          <p:spPr>
            <a:xfrm>
              <a:off x="-113333" y="-494567"/>
              <a:ext cx="7848598" cy="6091091"/>
            </a:xfrm>
            <a:custGeom>
              <a:rect b="b" l="l" r="r" t="t"/>
              <a:pathLst>
                <a:path extrusionOk="0" h="6091091" w="7848598">
                  <a:moveTo>
                    <a:pt x="0" y="0"/>
                  </a:moveTo>
                  <a:lnTo>
                    <a:pt x="7848598" y="0"/>
                  </a:lnTo>
                  <a:lnTo>
                    <a:pt x="7848598" y="6091091"/>
                  </a:lnTo>
                  <a:lnTo>
                    <a:pt x="0" y="60910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581" name="Google Shape;581;p38"/>
            <p:cNvSpPr txBox="1"/>
            <p:nvPr/>
          </p:nvSpPr>
          <p:spPr>
            <a:xfrm>
              <a:off x="-269267" y="-480275"/>
              <a:ext cx="7848600" cy="6062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Ciclo de Vida</a:t>
              </a:r>
              <a:endParaRPr sz="10000"/>
            </a:p>
          </p:txBody>
        </p:sp>
      </p:grpSp>
      <p:sp>
        <p:nvSpPr>
          <p:cNvPr descr="Todo Java: Controlando los Threads (Ciclo de vida)" id="582" name="Google Shape;582;p38"/>
          <p:cNvSpPr/>
          <p:nvPr/>
        </p:nvSpPr>
        <p:spPr>
          <a:xfrm>
            <a:off x="7759310" y="2077214"/>
            <a:ext cx="9625841" cy="4788855"/>
          </a:xfrm>
          <a:custGeom>
            <a:rect b="b" l="l" r="r" t="t"/>
            <a:pathLst>
              <a:path extrusionOk="0" h="4788855" w="9625841">
                <a:moveTo>
                  <a:pt x="0" y="0"/>
                </a:moveTo>
                <a:lnTo>
                  <a:pt x="9625841" y="0"/>
                </a:lnTo>
                <a:lnTo>
                  <a:pt x="9625841" y="4788855"/>
                </a:lnTo>
                <a:lnTo>
                  <a:pt x="0" y="4788855"/>
                </a:lnTo>
                <a:lnTo>
                  <a:pt x="0" y="0"/>
                </a:lnTo>
                <a:close/>
              </a:path>
            </a:pathLst>
          </a:custGeom>
          <a:blipFill rotWithShape="1">
            <a:blip r:embed="rId3">
              <a:alphaModFix/>
            </a:blip>
            <a:stretch>
              <a:fillRect b="0" l="-123" r="-123" t="0"/>
            </a:stretch>
          </a:blipFill>
          <a:ln>
            <a:noFill/>
          </a:ln>
        </p:spPr>
      </p:sp>
      <p:grpSp>
        <p:nvGrpSpPr>
          <p:cNvPr id="583" name="Google Shape;583;p38"/>
          <p:cNvGrpSpPr/>
          <p:nvPr/>
        </p:nvGrpSpPr>
        <p:grpSpPr>
          <a:xfrm>
            <a:off x="1028700" y="5466261"/>
            <a:ext cx="5886448" cy="4524375"/>
            <a:chOff x="0" y="-76200"/>
            <a:chExt cx="7848598" cy="6032500"/>
          </a:xfrm>
        </p:grpSpPr>
        <p:sp>
          <p:nvSpPr>
            <p:cNvPr id="584" name="Google Shape;584;p38"/>
            <p:cNvSpPr/>
            <p:nvPr/>
          </p:nvSpPr>
          <p:spPr>
            <a:xfrm>
              <a:off x="0" y="0"/>
              <a:ext cx="7848598" cy="5956300"/>
            </a:xfrm>
            <a:custGeom>
              <a:rect b="b" l="l" r="r" t="t"/>
              <a:pathLst>
                <a:path extrusionOk="0" h="5956300" w="7848598">
                  <a:moveTo>
                    <a:pt x="0" y="0"/>
                  </a:moveTo>
                  <a:lnTo>
                    <a:pt x="7848598" y="0"/>
                  </a:lnTo>
                  <a:lnTo>
                    <a:pt x="7848598" y="5956300"/>
                  </a:lnTo>
                  <a:lnTo>
                    <a:pt x="0" y="5956300"/>
                  </a:lnTo>
                  <a:close/>
                </a:path>
              </a:pathLst>
            </a:custGeom>
            <a:solidFill>
              <a:srgbClr val="000000">
                <a:alpha val="0"/>
              </a:srgbClr>
            </a:solidFill>
            <a:ln>
              <a:noFill/>
            </a:ln>
          </p:spPr>
        </p:sp>
        <p:sp>
          <p:nvSpPr>
            <p:cNvPr id="585" name="Google Shape;585;p38"/>
            <p:cNvSpPr txBox="1"/>
            <p:nvPr/>
          </p:nvSpPr>
          <p:spPr>
            <a:xfrm>
              <a:off x="0" y="-76200"/>
              <a:ext cx="7848598" cy="6032500"/>
            </a:xfrm>
            <a:prstGeom prst="rect">
              <a:avLst/>
            </a:prstGeom>
            <a:noFill/>
            <a:ln>
              <a:noFill/>
            </a:ln>
          </p:spPr>
          <p:txBody>
            <a:bodyPr anchorCtr="0" anchor="t" bIns="0" lIns="0" spcFirstLastPara="1" rIns="0" wrap="square" tIns="0">
              <a:noAutofit/>
            </a:bodyPr>
            <a:lstStyle/>
            <a:p>
              <a:pPr indent="-244316" lvl="1" marL="488632" marR="0" rtl="0" algn="just">
                <a:lnSpc>
                  <a:spcPct val="143962"/>
                </a:lnSpc>
                <a:spcBef>
                  <a:spcPts val="0"/>
                </a:spcBef>
                <a:spcAft>
                  <a:spcPts val="0"/>
                </a:spcAft>
                <a:buClr>
                  <a:srgbClr val="000000"/>
                </a:buClr>
                <a:buSzPts val="2700"/>
                <a:buFont typeface="Arial"/>
                <a:buChar char="•"/>
              </a:pPr>
              <a:r>
                <a:rPr b="0" i="0" lang="en-US" sz="2700" u="none" cap="none" strike="noStrike">
                  <a:solidFill>
                    <a:srgbClr val="000000"/>
                  </a:solidFill>
                  <a:latin typeface="Arimo"/>
                  <a:ea typeface="Arimo"/>
                  <a:cs typeface="Arimo"/>
                  <a:sym typeface="Arimo"/>
                </a:rPr>
                <a:t>Siempre se inicializa el hilo.</a:t>
              </a:r>
              <a:endParaRPr/>
            </a:p>
            <a:p>
              <a:pPr indent="-244316" lvl="1" marL="488632" marR="0" rtl="0" algn="just">
                <a:lnSpc>
                  <a:spcPct val="143962"/>
                </a:lnSpc>
                <a:spcBef>
                  <a:spcPts val="0"/>
                </a:spcBef>
                <a:spcAft>
                  <a:spcPts val="0"/>
                </a:spcAft>
                <a:buClr>
                  <a:srgbClr val="000000"/>
                </a:buClr>
                <a:buSzPts val="2700"/>
                <a:buFont typeface="Arial"/>
                <a:buChar char="•"/>
              </a:pPr>
              <a:r>
                <a:rPr b="0" i="0" lang="en-US" sz="2700" u="none" cap="none" strike="noStrike">
                  <a:solidFill>
                    <a:srgbClr val="000000"/>
                  </a:solidFill>
                  <a:latin typeface="Arimo"/>
                  <a:ea typeface="Arimo"/>
                  <a:cs typeface="Arimo"/>
                  <a:sym typeface="Arimo"/>
                </a:rPr>
                <a:t>El hilo inicia cuando se le indica.</a:t>
              </a:r>
              <a:endParaRPr/>
            </a:p>
            <a:p>
              <a:pPr indent="-244316" lvl="1" marL="488632" marR="0" rtl="0" algn="just">
                <a:lnSpc>
                  <a:spcPct val="143962"/>
                </a:lnSpc>
                <a:spcBef>
                  <a:spcPts val="0"/>
                </a:spcBef>
                <a:spcAft>
                  <a:spcPts val="0"/>
                </a:spcAft>
                <a:buClr>
                  <a:srgbClr val="000000"/>
                </a:buClr>
                <a:buSzPts val="2700"/>
                <a:buFont typeface="Arial"/>
                <a:buChar char="•"/>
              </a:pPr>
              <a:r>
                <a:rPr b="0" i="0" lang="en-US" sz="2700" u="none" cap="none" strike="noStrike">
                  <a:solidFill>
                    <a:srgbClr val="000000"/>
                  </a:solidFill>
                  <a:latin typeface="Arimo"/>
                  <a:ea typeface="Arimo"/>
                  <a:cs typeface="Arimo"/>
                  <a:sym typeface="Arimo"/>
                </a:rPr>
                <a:t>El hilo se le considera muerto cuando terminó su ejecución o la detuvimos manualmente.</a:t>
              </a:r>
              <a:endParaRPr/>
            </a:p>
            <a:p>
              <a:pPr indent="-244316" lvl="1" marL="488632" marR="0" rtl="0" algn="just">
                <a:lnSpc>
                  <a:spcPct val="143962"/>
                </a:lnSpc>
                <a:spcBef>
                  <a:spcPts val="0"/>
                </a:spcBef>
                <a:spcAft>
                  <a:spcPts val="0"/>
                </a:spcAft>
                <a:buClr>
                  <a:srgbClr val="000000"/>
                </a:buClr>
                <a:buSzPts val="2700"/>
                <a:buFont typeface="Arial"/>
                <a:buChar char="•"/>
              </a:pPr>
              <a:r>
                <a:rPr b="0" i="0" lang="en-US" sz="2700" u="none" cap="none" strike="noStrike">
                  <a:solidFill>
                    <a:srgbClr val="000000"/>
                  </a:solidFill>
                  <a:latin typeface="Arimo"/>
                  <a:ea typeface="Arimo"/>
                  <a:cs typeface="Arimo"/>
                  <a:sym typeface="Arimo"/>
                </a:rPr>
                <a:t>El estado de parado, son pausas consecutivas en el hilo.</a:t>
              </a: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39"/>
          <p:cNvSpPr/>
          <p:nvPr/>
        </p:nvSpPr>
        <p:spPr>
          <a:xfrm rot="10800000">
            <a:off x="-16780" y="13"/>
            <a:ext cx="11696256" cy="5823026"/>
          </a:xfrm>
          <a:custGeom>
            <a:rect b="b" l="l" r="r" t="t"/>
            <a:pathLst>
              <a:path extrusionOk="0" h="7764035" w="15595008">
                <a:moveTo>
                  <a:pt x="13650633" y="1329"/>
                </a:moveTo>
                <a:cubicBezTo>
                  <a:pt x="14226575" y="9405"/>
                  <a:pt x="14799166" y="94990"/>
                  <a:pt x="15345104" y="255674"/>
                </a:cubicBezTo>
                <a:lnTo>
                  <a:pt x="15595008" y="338850"/>
                </a:lnTo>
                <a:lnTo>
                  <a:pt x="15595008" y="7764035"/>
                </a:lnTo>
                <a:lnTo>
                  <a:pt x="0" y="7764035"/>
                </a:lnTo>
                <a:lnTo>
                  <a:pt x="10339636" y="905637"/>
                </a:lnTo>
                <a:lnTo>
                  <a:pt x="10451774" y="835072"/>
                </a:lnTo>
                <a:cubicBezTo>
                  <a:pt x="11327086" y="312353"/>
                  <a:pt x="12330291" y="39870"/>
                  <a:pt x="13336178" y="4730"/>
                </a:cubicBezTo>
                <a:cubicBezTo>
                  <a:pt x="13440941" y="1045"/>
                  <a:pt x="13545871" y="0"/>
                  <a:pt x="13650466" y="1470"/>
                </a:cubicBezTo>
                <a:close/>
              </a:path>
            </a:pathLst>
          </a:custGeom>
          <a:gradFill>
            <a:gsLst>
              <a:gs pos="0">
                <a:srgbClr val="E3E8E2"/>
              </a:gs>
              <a:gs pos="40000">
                <a:srgbClr val="E3E8E2"/>
              </a:gs>
              <a:gs pos="100000">
                <a:srgbClr val="DE6BEF"/>
              </a:gs>
            </a:gsLst>
            <a:lin ang="126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1" name="Google Shape;591;p39"/>
          <p:cNvGrpSpPr/>
          <p:nvPr/>
        </p:nvGrpSpPr>
        <p:grpSpPr>
          <a:xfrm>
            <a:off x="0" y="-131059"/>
            <a:ext cx="7543798" cy="4568318"/>
            <a:chOff x="0" y="0"/>
            <a:chExt cx="10058398" cy="6091091"/>
          </a:xfrm>
        </p:grpSpPr>
        <p:sp>
          <p:nvSpPr>
            <p:cNvPr id="592" name="Google Shape;592;p39"/>
            <p:cNvSpPr/>
            <p:nvPr/>
          </p:nvSpPr>
          <p:spPr>
            <a:xfrm>
              <a:off x="0" y="0"/>
              <a:ext cx="10058398" cy="6091091"/>
            </a:xfrm>
            <a:custGeom>
              <a:rect b="b" l="l" r="r" t="t"/>
              <a:pathLst>
                <a:path extrusionOk="0" h="6091091" w="10058398">
                  <a:moveTo>
                    <a:pt x="0" y="0"/>
                  </a:moveTo>
                  <a:lnTo>
                    <a:pt x="10058398" y="0"/>
                  </a:lnTo>
                  <a:lnTo>
                    <a:pt x="10058398" y="6091091"/>
                  </a:lnTo>
                  <a:lnTo>
                    <a:pt x="0" y="60910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593" name="Google Shape;593;p39"/>
            <p:cNvSpPr txBox="1"/>
            <p:nvPr/>
          </p:nvSpPr>
          <p:spPr>
            <a:xfrm>
              <a:off x="0" y="28575"/>
              <a:ext cx="10058398" cy="6062516"/>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Puntos Clave de Hilos</a:t>
              </a:r>
              <a:endParaRPr sz="10000"/>
            </a:p>
          </p:txBody>
        </p:sp>
      </p:grpSp>
      <p:grpSp>
        <p:nvGrpSpPr>
          <p:cNvPr id="594" name="Google Shape;594;p39"/>
          <p:cNvGrpSpPr/>
          <p:nvPr/>
        </p:nvGrpSpPr>
        <p:grpSpPr>
          <a:xfrm>
            <a:off x="10440157" y="1173963"/>
            <a:ext cx="6672531" cy="2254303"/>
            <a:chOff x="0" y="-9525"/>
            <a:chExt cx="8896707" cy="3005737"/>
          </a:xfrm>
        </p:grpSpPr>
        <p:sp>
          <p:nvSpPr>
            <p:cNvPr id="595" name="Google Shape;595;p39"/>
            <p:cNvSpPr/>
            <p:nvPr/>
          </p:nvSpPr>
          <p:spPr>
            <a:xfrm>
              <a:off x="0" y="0"/>
              <a:ext cx="8896707" cy="2996212"/>
            </a:xfrm>
            <a:custGeom>
              <a:rect b="b" l="l" r="r" t="t"/>
              <a:pathLst>
                <a:path extrusionOk="0" h="2996212" w="8896707">
                  <a:moveTo>
                    <a:pt x="0" y="0"/>
                  </a:moveTo>
                  <a:lnTo>
                    <a:pt x="8896707" y="0"/>
                  </a:lnTo>
                  <a:lnTo>
                    <a:pt x="8896707" y="2996212"/>
                  </a:lnTo>
                  <a:lnTo>
                    <a:pt x="0" y="2996212"/>
                  </a:lnTo>
                  <a:close/>
                </a:path>
              </a:pathLst>
            </a:custGeom>
            <a:solidFill>
              <a:srgbClr val="000000">
                <a:alpha val="0"/>
              </a:srgbClr>
            </a:solidFill>
            <a:ln>
              <a:noFill/>
            </a:ln>
          </p:spPr>
        </p:sp>
        <p:sp>
          <p:nvSpPr>
            <p:cNvPr id="596" name="Google Shape;596;p39"/>
            <p:cNvSpPr txBox="1"/>
            <p:nvPr/>
          </p:nvSpPr>
          <p:spPr>
            <a:xfrm>
              <a:off x="0" y="-9525"/>
              <a:ext cx="8896706" cy="3005737"/>
            </a:xfrm>
            <a:prstGeom prst="rect">
              <a:avLst/>
            </a:prstGeom>
            <a:noFill/>
            <a:ln>
              <a:noFill/>
            </a:ln>
          </p:spPr>
          <p:txBody>
            <a:bodyPr anchorCtr="0" anchor="ctr" bIns="0" lIns="0" spcFirstLastPara="1" rIns="0" wrap="square" tIns="0">
              <a:noAutofit/>
            </a:bodyPr>
            <a:lstStyle/>
            <a:p>
              <a:pPr indent="0" lvl="0" marL="0" marR="0" rtl="0" algn="just">
                <a:lnSpc>
                  <a:spcPct val="120008"/>
                </a:lnSpc>
                <a:spcBef>
                  <a:spcPts val="0"/>
                </a:spcBef>
                <a:spcAft>
                  <a:spcPts val="0"/>
                </a:spcAft>
                <a:buNone/>
              </a:pPr>
              <a:r>
                <a:rPr b="1" i="0" lang="en-US" sz="2499" u="none" cap="none" strike="noStrike">
                  <a:solidFill>
                    <a:srgbClr val="000000"/>
                  </a:solidFill>
                  <a:latin typeface="Arimo"/>
                  <a:ea typeface="Arimo"/>
                  <a:cs typeface="Arimo"/>
                  <a:sym typeface="Arimo"/>
                </a:rPr>
                <a:t>Hilo Principal (Main Thread)</a:t>
              </a:r>
              <a:r>
                <a:rPr b="0" i="0" lang="en-US" sz="2499" u="none" cap="none" strike="noStrike">
                  <a:solidFill>
                    <a:srgbClr val="000000"/>
                  </a:solidFill>
                  <a:latin typeface="Arimo"/>
                  <a:ea typeface="Arimo"/>
                  <a:cs typeface="Arimo"/>
                  <a:sym typeface="Arimo"/>
                </a:rPr>
                <a:t>: Cuando ejecutas una aplicación de Java, se crea automáticamente un hilo principal que inicia la ejecución del programa. El método main de la clase principal se ejecuta en este hilo.</a:t>
              </a:r>
              <a:endParaRPr/>
            </a:p>
          </p:txBody>
        </p:sp>
      </p:grpSp>
      <p:grpSp>
        <p:nvGrpSpPr>
          <p:cNvPr id="597" name="Google Shape;597;p39"/>
          <p:cNvGrpSpPr/>
          <p:nvPr/>
        </p:nvGrpSpPr>
        <p:grpSpPr>
          <a:xfrm>
            <a:off x="10440157" y="3771159"/>
            <a:ext cx="6672531" cy="2737538"/>
            <a:chOff x="0" y="-9525"/>
            <a:chExt cx="8896707" cy="3650051"/>
          </a:xfrm>
        </p:grpSpPr>
        <p:sp>
          <p:nvSpPr>
            <p:cNvPr id="598" name="Google Shape;598;p39"/>
            <p:cNvSpPr/>
            <p:nvPr/>
          </p:nvSpPr>
          <p:spPr>
            <a:xfrm>
              <a:off x="0" y="0"/>
              <a:ext cx="8896707" cy="3640526"/>
            </a:xfrm>
            <a:custGeom>
              <a:rect b="b" l="l" r="r" t="t"/>
              <a:pathLst>
                <a:path extrusionOk="0" h="3640526" w="8896707">
                  <a:moveTo>
                    <a:pt x="0" y="0"/>
                  </a:moveTo>
                  <a:lnTo>
                    <a:pt x="8896707" y="0"/>
                  </a:lnTo>
                  <a:lnTo>
                    <a:pt x="8896707" y="3640526"/>
                  </a:lnTo>
                  <a:lnTo>
                    <a:pt x="0" y="3640526"/>
                  </a:lnTo>
                  <a:close/>
                </a:path>
              </a:pathLst>
            </a:custGeom>
            <a:solidFill>
              <a:srgbClr val="000000">
                <a:alpha val="0"/>
              </a:srgbClr>
            </a:solidFill>
            <a:ln>
              <a:noFill/>
            </a:ln>
          </p:spPr>
        </p:sp>
        <p:sp>
          <p:nvSpPr>
            <p:cNvPr id="599" name="Google Shape;599;p39"/>
            <p:cNvSpPr txBox="1"/>
            <p:nvPr/>
          </p:nvSpPr>
          <p:spPr>
            <a:xfrm>
              <a:off x="0" y="-9525"/>
              <a:ext cx="8896706" cy="3650051"/>
            </a:xfrm>
            <a:prstGeom prst="rect">
              <a:avLst/>
            </a:prstGeom>
            <a:noFill/>
            <a:ln>
              <a:noFill/>
            </a:ln>
          </p:spPr>
          <p:txBody>
            <a:bodyPr anchorCtr="0" anchor="ctr" bIns="0" lIns="0" spcFirstLastPara="1" rIns="0" wrap="square" tIns="0">
              <a:noAutofit/>
            </a:bodyPr>
            <a:lstStyle/>
            <a:p>
              <a:pPr indent="0" lvl="0" marL="0" marR="0" rtl="0" algn="just">
                <a:lnSpc>
                  <a:spcPct val="120008"/>
                </a:lnSpc>
                <a:spcBef>
                  <a:spcPts val="0"/>
                </a:spcBef>
                <a:spcAft>
                  <a:spcPts val="0"/>
                </a:spcAft>
                <a:buNone/>
              </a:pPr>
              <a:r>
                <a:rPr b="1" i="0" lang="en-US" sz="2499" u="none" cap="none" strike="noStrike">
                  <a:solidFill>
                    <a:srgbClr val="000000"/>
                  </a:solidFill>
                  <a:latin typeface="Arimo"/>
                  <a:ea typeface="Arimo"/>
                  <a:cs typeface="Arimo"/>
                  <a:sym typeface="Arimo"/>
                </a:rPr>
                <a:t>Creación de Hilos</a:t>
              </a:r>
              <a:r>
                <a:rPr b="0" i="0" lang="en-US" sz="2499" u="none" cap="none" strike="noStrike">
                  <a:solidFill>
                    <a:srgbClr val="000000"/>
                  </a:solidFill>
                  <a:latin typeface="Arimo"/>
                  <a:ea typeface="Arimo"/>
                  <a:cs typeface="Arimo"/>
                  <a:sym typeface="Arimo"/>
                </a:rPr>
                <a:t>: Puedes crear hilos adicionales en Java de varias maneras, pero una de las más comunes es extender la clase Thread o implementar la interfaz Runnable. Los hilos creados de esta manera pueden realizar tareas en segundo plano y ejecutar código en paralelo.</a:t>
              </a:r>
              <a:endParaRPr/>
            </a:p>
          </p:txBody>
        </p:sp>
      </p:grpSp>
      <p:grpSp>
        <p:nvGrpSpPr>
          <p:cNvPr id="600" name="Google Shape;600;p39"/>
          <p:cNvGrpSpPr/>
          <p:nvPr/>
        </p:nvGrpSpPr>
        <p:grpSpPr>
          <a:xfrm>
            <a:off x="459005" y="6784967"/>
            <a:ext cx="8389264" cy="3109013"/>
            <a:chOff x="0" y="-9525"/>
            <a:chExt cx="11185685" cy="4145351"/>
          </a:xfrm>
        </p:grpSpPr>
        <p:sp>
          <p:nvSpPr>
            <p:cNvPr id="601" name="Google Shape;601;p39"/>
            <p:cNvSpPr/>
            <p:nvPr/>
          </p:nvSpPr>
          <p:spPr>
            <a:xfrm>
              <a:off x="0" y="0"/>
              <a:ext cx="11185685" cy="4135826"/>
            </a:xfrm>
            <a:custGeom>
              <a:rect b="b" l="l" r="r" t="t"/>
              <a:pathLst>
                <a:path extrusionOk="0" h="4135826" w="11185685">
                  <a:moveTo>
                    <a:pt x="0" y="0"/>
                  </a:moveTo>
                  <a:lnTo>
                    <a:pt x="11185685" y="0"/>
                  </a:lnTo>
                  <a:lnTo>
                    <a:pt x="11185685" y="4135826"/>
                  </a:lnTo>
                  <a:lnTo>
                    <a:pt x="0" y="4135826"/>
                  </a:lnTo>
                  <a:close/>
                </a:path>
              </a:pathLst>
            </a:custGeom>
            <a:solidFill>
              <a:srgbClr val="000000">
                <a:alpha val="0"/>
              </a:srgbClr>
            </a:solidFill>
            <a:ln>
              <a:noFill/>
            </a:ln>
          </p:spPr>
        </p:sp>
        <p:sp>
          <p:nvSpPr>
            <p:cNvPr id="602" name="Google Shape;602;p39"/>
            <p:cNvSpPr txBox="1"/>
            <p:nvPr/>
          </p:nvSpPr>
          <p:spPr>
            <a:xfrm>
              <a:off x="0" y="-9525"/>
              <a:ext cx="11185685" cy="4145351"/>
            </a:xfrm>
            <a:prstGeom prst="rect">
              <a:avLst/>
            </a:prstGeom>
            <a:noFill/>
            <a:ln>
              <a:noFill/>
            </a:ln>
          </p:spPr>
          <p:txBody>
            <a:bodyPr anchorCtr="0" anchor="ctr" bIns="0" lIns="0" spcFirstLastPara="1" rIns="0" wrap="square" tIns="0">
              <a:noAutofit/>
            </a:bodyPr>
            <a:lstStyle/>
            <a:p>
              <a:pPr indent="0" lvl="0" marL="0" marR="0" rtl="0" algn="just">
                <a:lnSpc>
                  <a:spcPct val="120008"/>
                </a:lnSpc>
                <a:spcBef>
                  <a:spcPts val="0"/>
                </a:spcBef>
                <a:spcAft>
                  <a:spcPts val="0"/>
                </a:spcAft>
                <a:buNone/>
              </a:pPr>
              <a:r>
                <a:rPr b="1" i="0" lang="en-US" sz="2499" u="none" cap="none" strike="noStrike">
                  <a:solidFill>
                    <a:srgbClr val="000000"/>
                  </a:solidFill>
                  <a:latin typeface="Arimo"/>
                  <a:ea typeface="Arimo"/>
                  <a:cs typeface="Arimo"/>
                  <a:sym typeface="Arimo"/>
                </a:rPr>
                <a:t>Paralelismo y Concurrencia</a:t>
              </a:r>
              <a:r>
                <a:rPr b="0" i="0" lang="en-US" sz="2499" u="none" cap="none" strike="noStrike">
                  <a:solidFill>
                    <a:srgbClr val="000000"/>
                  </a:solidFill>
                  <a:latin typeface="Arimo"/>
                  <a:ea typeface="Arimo"/>
                  <a:cs typeface="Arimo"/>
                  <a:sym typeface="Arimo"/>
                </a:rPr>
                <a:t>: Los hilos pueden usarse para lograr el paralelismo (donde las tareas se ejecutan verdaderamente simultáneamente en múltiples núcleos de CPU) o para la concurrencia (donde las tareas se alternan en la CPU para simular la simultaneidad). Java proporciona una API de concurrencia rica que facilita la administración de hilos y la sincronización de acceso a recursos compartidos.</a:t>
              </a:r>
              <a:endParaRPr/>
            </a:p>
          </p:txBody>
        </p:sp>
      </p:grpSp>
      <p:sp>
        <p:nvSpPr>
          <p:cNvPr id="603" name="Google Shape;603;p39"/>
          <p:cNvSpPr/>
          <p:nvPr/>
        </p:nvSpPr>
        <p:spPr>
          <a:xfrm>
            <a:off x="9791244" y="7935750"/>
            <a:ext cx="1297827" cy="1297827"/>
          </a:xfrm>
          <a:custGeom>
            <a:rect b="b" l="l" r="r" t="t"/>
            <a:pathLst>
              <a:path extrusionOk="0" h="1297827" w="1297827">
                <a:moveTo>
                  <a:pt x="0" y="0"/>
                </a:moveTo>
                <a:lnTo>
                  <a:pt x="1297827" y="0"/>
                </a:lnTo>
                <a:lnTo>
                  <a:pt x="1297827" y="1297827"/>
                </a:lnTo>
                <a:lnTo>
                  <a:pt x="0" y="1297827"/>
                </a:lnTo>
                <a:lnTo>
                  <a:pt x="0" y="0"/>
                </a:lnTo>
                <a:close/>
              </a:path>
            </a:pathLst>
          </a:custGeom>
          <a:blipFill rotWithShape="1">
            <a:blip r:embed="rId3">
              <a:alphaModFix/>
            </a:blip>
            <a:stretch>
              <a:fillRect b="0" l="0" r="0" t="0"/>
            </a:stretch>
          </a:blipFill>
          <a:ln>
            <a:noFill/>
          </a:ln>
        </p:spPr>
      </p:sp>
      <p:grpSp>
        <p:nvGrpSpPr>
          <p:cNvPr id="604" name="Google Shape;604;p39"/>
          <p:cNvGrpSpPr/>
          <p:nvPr/>
        </p:nvGrpSpPr>
        <p:grpSpPr>
          <a:xfrm>
            <a:off x="10440157" y="6784967"/>
            <a:ext cx="6819143" cy="2737538"/>
            <a:chOff x="0" y="-9525"/>
            <a:chExt cx="9092190" cy="3650051"/>
          </a:xfrm>
        </p:grpSpPr>
        <p:sp>
          <p:nvSpPr>
            <p:cNvPr id="605" name="Google Shape;605;p39"/>
            <p:cNvSpPr/>
            <p:nvPr/>
          </p:nvSpPr>
          <p:spPr>
            <a:xfrm>
              <a:off x="0" y="0"/>
              <a:ext cx="9092190" cy="3640526"/>
            </a:xfrm>
            <a:custGeom>
              <a:rect b="b" l="l" r="r" t="t"/>
              <a:pathLst>
                <a:path extrusionOk="0" h="3640526" w="9092190">
                  <a:moveTo>
                    <a:pt x="0" y="0"/>
                  </a:moveTo>
                  <a:lnTo>
                    <a:pt x="9092190" y="0"/>
                  </a:lnTo>
                  <a:lnTo>
                    <a:pt x="9092190" y="3640526"/>
                  </a:lnTo>
                  <a:lnTo>
                    <a:pt x="0" y="3640526"/>
                  </a:lnTo>
                  <a:close/>
                </a:path>
              </a:pathLst>
            </a:custGeom>
            <a:solidFill>
              <a:srgbClr val="000000">
                <a:alpha val="0"/>
              </a:srgbClr>
            </a:solidFill>
            <a:ln>
              <a:noFill/>
            </a:ln>
          </p:spPr>
        </p:sp>
        <p:sp>
          <p:nvSpPr>
            <p:cNvPr id="606" name="Google Shape;606;p39"/>
            <p:cNvSpPr txBox="1"/>
            <p:nvPr/>
          </p:nvSpPr>
          <p:spPr>
            <a:xfrm>
              <a:off x="0" y="-9525"/>
              <a:ext cx="9092190" cy="3650051"/>
            </a:xfrm>
            <a:prstGeom prst="rect">
              <a:avLst/>
            </a:prstGeom>
            <a:noFill/>
            <a:ln>
              <a:noFill/>
            </a:ln>
          </p:spPr>
          <p:txBody>
            <a:bodyPr anchorCtr="0" anchor="ctr" bIns="0" lIns="0" spcFirstLastPara="1" rIns="0" wrap="square" tIns="0">
              <a:noAutofit/>
            </a:bodyPr>
            <a:lstStyle/>
            <a:p>
              <a:pPr indent="0" lvl="0" marL="0" marR="0" rtl="0" algn="just">
                <a:lnSpc>
                  <a:spcPct val="120008"/>
                </a:lnSpc>
                <a:spcBef>
                  <a:spcPts val="0"/>
                </a:spcBef>
                <a:spcAft>
                  <a:spcPts val="0"/>
                </a:spcAft>
                <a:buNone/>
              </a:pPr>
              <a:r>
                <a:rPr b="1" i="0" lang="en-US" sz="2499" u="none" cap="none" strike="noStrike">
                  <a:solidFill>
                    <a:srgbClr val="000000"/>
                  </a:solidFill>
                  <a:latin typeface="Arimo"/>
                  <a:ea typeface="Arimo"/>
                  <a:cs typeface="Arimo"/>
                  <a:sym typeface="Arimo"/>
                </a:rPr>
                <a:t>Sincronización</a:t>
              </a:r>
              <a:r>
                <a:rPr b="0" i="0" lang="en-US" sz="2499" u="none" cap="none" strike="noStrike">
                  <a:solidFill>
                    <a:srgbClr val="000000"/>
                  </a:solidFill>
                  <a:latin typeface="Arimo"/>
                  <a:ea typeface="Arimo"/>
                  <a:cs typeface="Arimo"/>
                  <a:sym typeface="Arimo"/>
                </a:rPr>
                <a:t>: La programación multihilo puede llevar a problemas de sincronización, como condiciones de carrera o bloqueos. Java ofrece mecanismos de sincronización, como synchronized y objetos bloqueo (Lock), para garantizar el acceso seguro a recursos compartidos entre hilos.</a:t>
              </a:r>
              <a:endParaRPr/>
            </a:p>
          </p:txBody>
        </p:sp>
      </p:grpSp>
      <p:sp>
        <p:nvSpPr>
          <p:cNvPr id="607" name="Google Shape;607;p39"/>
          <p:cNvSpPr/>
          <p:nvPr/>
        </p:nvSpPr>
        <p:spPr>
          <a:xfrm>
            <a:off x="3306538" y="5504344"/>
            <a:ext cx="930717" cy="930717"/>
          </a:xfrm>
          <a:custGeom>
            <a:rect b="b" l="l" r="r" t="t"/>
            <a:pathLst>
              <a:path extrusionOk="0" h="930717" w="930717">
                <a:moveTo>
                  <a:pt x="0" y="0"/>
                </a:moveTo>
                <a:lnTo>
                  <a:pt x="930717" y="0"/>
                </a:lnTo>
                <a:lnTo>
                  <a:pt x="930717" y="930717"/>
                </a:lnTo>
                <a:lnTo>
                  <a:pt x="0" y="930717"/>
                </a:lnTo>
                <a:lnTo>
                  <a:pt x="0" y="0"/>
                </a:lnTo>
                <a:close/>
              </a:path>
            </a:pathLst>
          </a:custGeom>
          <a:blipFill rotWithShape="1">
            <a:blip r:embed="rId4">
              <a:alphaModFix/>
            </a:blip>
            <a:stretch>
              <a:fillRect b="0" l="0" r="0" t="0"/>
            </a:stretch>
          </a:blipFill>
          <a:ln>
            <a:noFill/>
          </a:ln>
        </p:spPr>
      </p:sp>
      <p:sp>
        <p:nvSpPr>
          <p:cNvPr id="608" name="Google Shape;608;p39"/>
          <p:cNvSpPr/>
          <p:nvPr/>
        </p:nvSpPr>
        <p:spPr>
          <a:xfrm>
            <a:off x="9324651" y="1371501"/>
            <a:ext cx="933186" cy="933186"/>
          </a:xfrm>
          <a:custGeom>
            <a:rect b="b" l="l" r="r" t="t"/>
            <a:pathLst>
              <a:path extrusionOk="0" h="933186" w="933186">
                <a:moveTo>
                  <a:pt x="0" y="0"/>
                </a:moveTo>
                <a:lnTo>
                  <a:pt x="933186" y="0"/>
                </a:lnTo>
                <a:lnTo>
                  <a:pt x="933186" y="933186"/>
                </a:lnTo>
                <a:lnTo>
                  <a:pt x="0" y="933186"/>
                </a:lnTo>
                <a:lnTo>
                  <a:pt x="0" y="0"/>
                </a:lnTo>
                <a:close/>
              </a:path>
            </a:pathLst>
          </a:custGeom>
          <a:blipFill rotWithShape="1">
            <a:blip r:embed="rId5">
              <a:alphaModFix/>
            </a:blip>
            <a:stretch>
              <a:fillRect b="0" l="0" r="0" t="0"/>
            </a:stretch>
          </a:blipFill>
          <a:ln>
            <a:noFill/>
          </a:ln>
        </p:spPr>
      </p:sp>
      <p:sp>
        <p:nvSpPr>
          <p:cNvPr id="609" name="Google Shape;609;p39"/>
          <p:cNvSpPr/>
          <p:nvPr/>
        </p:nvSpPr>
        <p:spPr>
          <a:xfrm>
            <a:off x="9324651" y="3970666"/>
            <a:ext cx="933186" cy="933186"/>
          </a:xfrm>
          <a:custGeom>
            <a:rect b="b" l="l" r="r" t="t"/>
            <a:pathLst>
              <a:path extrusionOk="0" h="933186" w="933186">
                <a:moveTo>
                  <a:pt x="0" y="0"/>
                </a:moveTo>
                <a:lnTo>
                  <a:pt x="933186" y="0"/>
                </a:lnTo>
                <a:lnTo>
                  <a:pt x="933186" y="933186"/>
                </a:lnTo>
                <a:lnTo>
                  <a:pt x="0" y="933186"/>
                </a:lnTo>
                <a:lnTo>
                  <a:pt x="0" y="0"/>
                </a:lnTo>
                <a:close/>
              </a:path>
            </a:pathLst>
          </a:custGeom>
          <a:blipFill rotWithShape="1">
            <a:blip r:embed="rId6">
              <a:alphaModFix/>
            </a:blip>
            <a:stretch>
              <a:fillRect b="0" l="0" r="0" t="0"/>
            </a:stretch>
          </a:blipFill>
          <a:ln>
            <a:noFill/>
          </a:ln>
        </p:spPr>
      </p:sp>
      <p:sp>
        <p:nvSpPr>
          <p:cNvPr id="610" name="Google Shape;610;p39"/>
          <p:cNvSpPr/>
          <p:nvPr/>
        </p:nvSpPr>
        <p:spPr>
          <a:xfrm>
            <a:off x="9324651" y="7002564"/>
            <a:ext cx="933186" cy="933186"/>
          </a:xfrm>
          <a:custGeom>
            <a:rect b="b" l="l" r="r" t="t"/>
            <a:pathLst>
              <a:path extrusionOk="0" h="933186" w="933186">
                <a:moveTo>
                  <a:pt x="0" y="0"/>
                </a:moveTo>
                <a:lnTo>
                  <a:pt x="933186" y="0"/>
                </a:lnTo>
                <a:lnTo>
                  <a:pt x="933186" y="933186"/>
                </a:lnTo>
                <a:lnTo>
                  <a:pt x="0" y="933186"/>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0"/>
          <p:cNvSpPr/>
          <p:nvPr/>
        </p:nvSpPr>
        <p:spPr>
          <a:xfrm rot="10800000">
            <a:off x="-15589" y="-469"/>
            <a:ext cx="19371183" cy="3194572"/>
          </a:xfrm>
          <a:custGeom>
            <a:rect b="b" l="l" r="r" t="t"/>
            <a:pathLst>
              <a:path extrusionOk="0" h="4259429" w="25828244">
                <a:moveTo>
                  <a:pt x="22608031" y="1073"/>
                </a:moveTo>
                <a:cubicBezTo>
                  <a:pt x="23561900" y="5504"/>
                  <a:pt x="24510217" y="52452"/>
                  <a:pt x="25414394" y="140598"/>
                </a:cubicBezTo>
                <a:lnTo>
                  <a:pt x="25828244" y="186226"/>
                </a:lnTo>
                <a:lnTo>
                  <a:pt x="25828244" y="4259429"/>
                </a:lnTo>
                <a:lnTo>
                  <a:pt x="0" y="4259429"/>
                </a:lnTo>
                <a:lnTo>
                  <a:pt x="17124394" y="497145"/>
                </a:lnTo>
                <a:lnTo>
                  <a:pt x="17310114" y="458436"/>
                </a:lnTo>
                <a:cubicBezTo>
                  <a:pt x="18759796" y="171690"/>
                  <a:pt x="20421293" y="22215"/>
                  <a:pt x="22087233" y="2938"/>
                </a:cubicBezTo>
                <a:cubicBezTo>
                  <a:pt x="22260740" y="917"/>
                  <a:pt x="22434524" y="0"/>
                  <a:pt x="22607753" y="1151"/>
                </a:cubicBezTo>
                <a:close/>
              </a:path>
            </a:pathLst>
          </a:custGeom>
          <a:gradFill>
            <a:gsLst>
              <a:gs pos="0">
                <a:srgbClr val="E3E8E2"/>
              </a:gs>
              <a:gs pos="40000">
                <a:srgbClr val="E3E8E2"/>
              </a:gs>
              <a:gs pos="100000">
                <a:srgbClr val="DE6BEF"/>
              </a:gs>
            </a:gsLst>
            <a:lin ang="126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6" name="Google Shape;616;p40"/>
          <p:cNvGrpSpPr/>
          <p:nvPr/>
        </p:nvGrpSpPr>
        <p:grpSpPr>
          <a:xfrm>
            <a:off x="-461170" y="-12149"/>
            <a:ext cx="11390465" cy="2720468"/>
            <a:chOff x="0" y="0"/>
            <a:chExt cx="15187286" cy="3627291"/>
          </a:xfrm>
        </p:grpSpPr>
        <p:sp>
          <p:nvSpPr>
            <p:cNvPr id="617" name="Google Shape;617;p40"/>
            <p:cNvSpPr/>
            <p:nvPr/>
          </p:nvSpPr>
          <p:spPr>
            <a:xfrm>
              <a:off x="0" y="0"/>
              <a:ext cx="15187285" cy="3627291"/>
            </a:xfrm>
            <a:custGeom>
              <a:rect b="b" l="l" r="r" t="t"/>
              <a:pathLst>
                <a:path extrusionOk="0" h="3627291" w="15187285">
                  <a:moveTo>
                    <a:pt x="0" y="0"/>
                  </a:moveTo>
                  <a:lnTo>
                    <a:pt x="15187285" y="0"/>
                  </a:lnTo>
                  <a:lnTo>
                    <a:pt x="15187285"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618" name="Google Shape;618;p40"/>
            <p:cNvSpPr txBox="1"/>
            <p:nvPr/>
          </p:nvSpPr>
          <p:spPr>
            <a:xfrm>
              <a:off x="0" y="28575"/>
              <a:ext cx="15187286" cy="3598716"/>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Estados de Hilos</a:t>
              </a:r>
              <a:endParaRPr sz="10000"/>
            </a:p>
          </p:txBody>
        </p:sp>
      </p:grpSp>
      <p:sp>
        <p:nvSpPr>
          <p:cNvPr id="619" name="Google Shape;619;p40"/>
          <p:cNvSpPr/>
          <p:nvPr/>
        </p:nvSpPr>
        <p:spPr>
          <a:xfrm>
            <a:off x="3025603" y="4216101"/>
            <a:ext cx="1619440" cy="1619441"/>
          </a:xfrm>
          <a:custGeom>
            <a:rect b="b" l="l" r="r" t="t"/>
            <a:pathLst>
              <a:path extrusionOk="0" h="2159254" w="2159254">
                <a:moveTo>
                  <a:pt x="0" y="1079627"/>
                </a:moveTo>
                <a:cubicBezTo>
                  <a:pt x="0" y="483362"/>
                  <a:pt x="483362" y="0"/>
                  <a:pt x="1079627" y="0"/>
                </a:cubicBezTo>
                <a:cubicBezTo>
                  <a:pt x="1675892" y="0"/>
                  <a:pt x="2159254" y="483362"/>
                  <a:pt x="2159254" y="1079627"/>
                </a:cubicBezTo>
                <a:cubicBezTo>
                  <a:pt x="2159254" y="1675892"/>
                  <a:pt x="1675892" y="2159254"/>
                  <a:pt x="1079627" y="2159254"/>
                </a:cubicBezTo>
                <a:cubicBezTo>
                  <a:pt x="483362" y="2159254"/>
                  <a:pt x="0" y="1675765"/>
                  <a:pt x="0" y="1079627"/>
                </a:cubicBezTo>
                <a:close/>
              </a:path>
            </a:pathLst>
          </a:custGeom>
          <a:solidFill>
            <a:srgbClr val="7F2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0"/>
          <p:cNvSpPr/>
          <p:nvPr/>
        </p:nvSpPr>
        <p:spPr>
          <a:xfrm>
            <a:off x="3365671" y="4556169"/>
            <a:ext cx="939234" cy="939234"/>
          </a:xfrm>
          <a:custGeom>
            <a:rect b="b" l="l" r="r" t="t"/>
            <a:pathLst>
              <a:path extrusionOk="0" h="939234" w="939234">
                <a:moveTo>
                  <a:pt x="0" y="0"/>
                </a:moveTo>
                <a:lnTo>
                  <a:pt x="939234" y="0"/>
                </a:lnTo>
                <a:lnTo>
                  <a:pt x="939234" y="939234"/>
                </a:lnTo>
                <a:lnTo>
                  <a:pt x="0" y="939234"/>
                </a:lnTo>
                <a:lnTo>
                  <a:pt x="0" y="0"/>
                </a:lnTo>
                <a:close/>
              </a:path>
            </a:pathLst>
          </a:custGeom>
          <a:blipFill rotWithShape="1">
            <a:blip r:embed="rId3">
              <a:alphaModFix/>
            </a:blip>
            <a:stretch>
              <a:fillRect b="0" l="0" r="0" t="0"/>
            </a:stretch>
          </a:blipFill>
          <a:ln>
            <a:noFill/>
          </a:ln>
        </p:spPr>
      </p:sp>
      <p:grpSp>
        <p:nvGrpSpPr>
          <p:cNvPr id="621" name="Google Shape;621;p40"/>
          <p:cNvGrpSpPr/>
          <p:nvPr/>
        </p:nvGrpSpPr>
        <p:grpSpPr>
          <a:xfrm>
            <a:off x="4987219" y="4197050"/>
            <a:ext cx="3826612" cy="1643183"/>
            <a:chOff x="0" y="-19050"/>
            <a:chExt cx="5102150" cy="2190910"/>
          </a:xfrm>
        </p:grpSpPr>
        <p:sp>
          <p:nvSpPr>
            <p:cNvPr id="622" name="Google Shape;622;p40"/>
            <p:cNvSpPr/>
            <p:nvPr/>
          </p:nvSpPr>
          <p:spPr>
            <a:xfrm>
              <a:off x="0" y="0"/>
              <a:ext cx="5102150" cy="2171860"/>
            </a:xfrm>
            <a:custGeom>
              <a:rect b="b" l="l" r="r" t="t"/>
              <a:pathLst>
                <a:path extrusionOk="0" h="2171860" w="5102150">
                  <a:moveTo>
                    <a:pt x="0" y="0"/>
                  </a:moveTo>
                  <a:lnTo>
                    <a:pt x="5102150" y="0"/>
                  </a:lnTo>
                  <a:lnTo>
                    <a:pt x="5102150" y="2171860"/>
                  </a:lnTo>
                  <a:lnTo>
                    <a:pt x="0" y="2171860"/>
                  </a:lnTo>
                  <a:close/>
                </a:path>
              </a:pathLst>
            </a:custGeom>
            <a:solidFill>
              <a:srgbClr val="000000">
                <a:alpha val="0"/>
              </a:srgbClr>
            </a:solidFill>
            <a:ln>
              <a:noFill/>
            </a:ln>
          </p:spPr>
        </p:sp>
        <p:sp>
          <p:nvSpPr>
            <p:cNvPr id="623" name="Google Shape;623;p40"/>
            <p:cNvSpPr txBox="1"/>
            <p:nvPr/>
          </p:nvSpPr>
          <p:spPr>
            <a:xfrm>
              <a:off x="0" y="-19050"/>
              <a:ext cx="5102150" cy="2190910"/>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50" u="none" cap="none" strike="noStrike">
                  <a:solidFill>
                    <a:srgbClr val="000000"/>
                  </a:solidFill>
                  <a:latin typeface="Arimo"/>
                  <a:ea typeface="Arimo"/>
                  <a:cs typeface="Arimo"/>
                  <a:sym typeface="Arimo"/>
                </a:rPr>
                <a:t>Creación: Cuando se crea un proceso se crea un hilo para ese proceso.</a:t>
              </a:r>
              <a:endParaRPr/>
            </a:p>
          </p:txBody>
        </p:sp>
      </p:grpSp>
      <p:sp>
        <p:nvSpPr>
          <p:cNvPr id="624" name="Google Shape;624;p40"/>
          <p:cNvSpPr/>
          <p:nvPr/>
        </p:nvSpPr>
        <p:spPr>
          <a:xfrm>
            <a:off x="9474169" y="4216101"/>
            <a:ext cx="1619440" cy="1619441"/>
          </a:xfrm>
          <a:custGeom>
            <a:rect b="b" l="l" r="r" t="t"/>
            <a:pathLst>
              <a:path extrusionOk="0" h="2159254" w="2159254">
                <a:moveTo>
                  <a:pt x="0" y="1079627"/>
                </a:moveTo>
                <a:cubicBezTo>
                  <a:pt x="0" y="483362"/>
                  <a:pt x="483362" y="0"/>
                  <a:pt x="1079627" y="0"/>
                </a:cubicBezTo>
                <a:cubicBezTo>
                  <a:pt x="1675892" y="0"/>
                  <a:pt x="2159254" y="483362"/>
                  <a:pt x="2159254" y="1079627"/>
                </a:cubicBezTo>
                <a:cubicBezTo>
                  <a:pt x="2159254" y="1675892"/>
                  <a:pt x="1675892" y="2159254"/>
                  <a:pt x="1079627" y="2159254"/>
                </a:cubicBezTo>
                <a:cubicBezTo>
                  <a:pt x="483362" y="2159254"/>
                  <a:pt x="0" y="1675765"/>
                  <a:pt x="0" y="1079627"/>
                </a:cubicBezTo>
                <a:close/>
              </a:path>
            </a:pathLst>
          </a:custGeom>
          <a:solidFill>
            <a:srgbClr val="E729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0"/>
          <p:cNvSpPr/>
          <p:nvPr/>
        </p:nvSpPr>
        <p:spPr>
          <a:xfrm>
            <a:off x="9814237" y="4556169"/>
            <a:ext cx="939234" cy="939234"/>
          </a:xfrm>
          <a:custGeom>
            <a:rect b="b" l="l" r="r" t="t"/>
            <a:pathLst>
              <a:path extrusionOk="0" h="939234" w="939234">
                <a:moveTo>
                  <a:pt x="0" y="0"/>
                </a:moveTo>
                <a:lnTo>
                  <a:pt x="939234" y="0"/>
                </a:lnTo>
                <a:lnTo>
                  <a:pt x="939234" y="939234"/>
                </a:lnTo>
                <a:lnTo>
                  <a:pt x="0" y="939234"/>
                </a:lnTo>
                <a:lnTo>
                  <a:pt x="0" y="0"/>
                </a:lnTo>
                <a:close/>
              </a:path>
            </a:pathLst>
          </a:custGeom>
          <a:blipFill rotWithShape="1">
            <a:blip r:embed="rId4">
              <a:alphaModFix/>
            </a:blip>
            <a:stretch>
              <a:fillRect b="0" l="0" r="0" t="0"/>
            </a:stretch>
          </a:blipFill>
          <a:ln>
            <a:noFill/>
          </a:ln>
        </p:spPr>
      </p:sp>
      <p:grpSp>
        <p:nvGrpSpPr>
          <p:cNvPr id="626" name="Google Shape;626;p40"/>
          <p:cNvGrpSpPr/>
          <p:nvPr/>
        </p:nvGrpSpPr>
        <p:grpSpPr>
          <a:xfrm>
            <a:off x="11435785" y="4197050"/>
            <a:ext cx="3826612" cy="1643183"/>
            <a:chOff x="0" y="-19050"/>
            <a:chExt cx="5102150" cy="2190910"/>
          </a:xfrm>
        </p:grpSpPr>
        <p:sp>
          <p:nvSpPr>
            <p:cNvPr id="627" name="Google Shape;627;p40"/>
            <p:cNvSpPr/>
            <p:nvPr/>
          </p:nvSpPr>
          <p:spPr>
            <a:xfrm>
              <a:off x="0" y="0"/>
              <a:ext cx="5102150" cy="2171860"/>
            </a:xfrm>
            <a:custGeom>
              <a:rect b="b" l="l" r="r" t="t"/>
              <a:pathLst>
                <a:path extrusionOk="0" h="2171860" w="5102150">
                  <a:moveTo>
                    <a:pt x="0" y="0"/>
                  </a:moveTo>
                  <a:lnTo>
                    <a:pt x="5102150" y="0"/>
                  </a:lnTo>
                  <a:lnTo>
                    <a:pt x="5102150" y="2171860"/>
                  </a:lnTo>
                  <a:lnTo>
                    <a:pt x="0" y="2171860"/>
                  </a:lnTo>
                  <a:close/>
                </a:path>
              </a:pathLst>
            </a:custGeom>
            <a:solidFill>
              <a:srgbClr val="000000">
                <a:alpha val="0"/>
              </a:srgbClr>
            </a:solidFill>
            <a:ln>
              <a:noFill/>
            </a:ln>
          </p:spPr>
        </p:sp>
        <p:sp>
          <p:nvSpPr>
            <p:cNvPr id="628" name="Google Shape;628;p40"/>
            <p:cNvSpPr txBox="1"/>
            <p:nvPr/>
          </p:nvSpPr>
          <p:spPr>
            <a:xfrm>
              <a:off x="0" y="-19050"/>
              <a:ext cx="5102150" cy="2190910"/>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50" u="none" cap="none" strike="noStrike">
                  <a:solidFill>
                    <a:srgbClr val="000000"/>
                  </a:solidFill>
                  <a:latin typeface="Arimo"/>
                  <a:ea typeface="Arimo"/>
                  <a:cs typeface="Arimo"/>
                  <a:sym typeface="Arimo"/>
                </a:rPr>
                <a:t>Bloqueo: Cuando un hilo necesita esperar por un suceso, se bloquea (salvando sus registros de usuario, contador de programa y punteros de pila).</a:t>
              </a:r>
              <a:endParaRPr/>
            </a:p>
          </p:txBody>
        </p:sp>
      </p:grpSp>
      <p:sp>
        <p:nvSpPr>
          <p:cNvPr id="629" name="Google Shape;629;p40"/>
          <p:cNvSpPr/>
          <p:nvPr/>
        </p:nvSpPr>
        <p:spPr>
          <a:xfrm>
            <a:off x="3025603" y="6630848"/>
            <a:ext cx="1619440" cy="1619440"/>
          </a:xfrm>
          <a:custGeom>
            <a:rect b="b" l="l" r="r" t="t"/>
            <a:pathLst>
              <a:path extrusionOk="0" h="2159254" w="2159254">
                <a:moveTo>
                  <a:pt x="0" y="1079627"/>
                </a:moveTo>
                <a:cubicBezTo>
                  <a:pt x="0" y="483362"/>
                  <a:pt x="483362" y="0"/>
                  <a:pt x="1079627" y="0"/>
                </a:cubicBezTo>
                <a:cubicBezTo>
                  <a:pt x="1675892" y="0"/>
                  <a:pt x="2159254" y="483362"/>
                  <a:pt x="2159254" y="1079627"/>
                </a:cubicBezTo>
                <a:cubicBezTo>
                  <a:pt x="2159254" y="1675892"/>
                  <a:pt x="1675892" y="2159254"/>
                  <a:pt x="1079627" y="2159254"/>
                </a:cubicBezTo>
                <a:cubicBezTo>
                  <a:pt x="483362" y="2159254"/>
                  <a:pt x="0" y="1675765"/>
                  <a:pt x="0" y="1079627"/>
                </a:cubicBezTo>
                <a:close/>
              </a:path>
            </a:pathLst>
          </a:custGeom>
          <a:solidFill>
            <a:srgbClr val="17BE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0"/>
          <p:cNvSpPr/>
          <p:nvPr/>
        </p:nvSpPr>
        <p:spPr>
          <a:xfrm>
            <a:off x="3365671" y="6970916"/>
            <a:ext cx="939234" cy="939234"/>
          </a:xfrm>
          <a:custGeom>
            <a:rect b="b" l="l" r="r" t="t"/>
            <a:pathLst>
              <a:path extrusionOk="0" h="939234" w="939234">
                <a:moveTo>
                  <a:pt x="0" y="0"/>
                </a:moveTo>
                <a:lnTo>
                  <a:pt x="939234" y="0"/>
                </a:lnTo>
                <a:lnTo>
                  <a:pt x="939234" y="939234"/>
                </a:lnTo>
                <a:lnTo>
                  <a:pt x="0" y="939234"/>
                </a:lnTo>
                <a:lnTo>
                  <a:pt x="0" y="0"/>
                </a:lnTo>
                <a:close/>
              </a:path>
            </a:pathLst>
          </a:custGeom>
          <a:blipFill rotWithShape="1">
            <a:blip r:embed="rId5">
              <a:alphaModFix/>
            </a:blip>
            <a:stretch>
              <a:fillRect b="0" l="0" r="0" t="0"/>
            </a:stretch>
          </a:blipFill>
          <a:ln>
            <a:noFill/>
          </a:ln>
        </p:spPr>
      </p:sp>
      <p:grpSp>
        <p:nvGrpSpPr>
          <p:cNvPr id="631" name="Google Shape;631;p40"/>
          <p:cNvGrpSpPr/>
          <p:nvPr/>
        </p:nvGrpSpPr>
        <p:grpSpPr>
          <a:xfrm>
            <a:off x="4987219" y="6611798"/>
            <a:ext cx="3826612" cy="1643182"/>
            <a:chOff x="0" y="-19050"/>
            <a:chExt cx="5102150" cy="2190910"/>
          </a:xfrm>
        </p:grpSpPr>
        <p:sp>
          <p:nvSpPr>
            <p:cNvPr id="632" name="Google Shape;632;p40"/>
            <p:cNvSpPr/>
            <p:nvPr/>
          </p:nvSpPr>
          <p:spPr>
            <a:xfrm>
              <a:off x="0" y="0"/>
              <a:ext cx="5102150" cy="2171860"/>
            </a:xfrm>
            <a:custGeom>
              <a:rect b="b" l="l" r="r" t="t"/>
              <a:pathLst>
                <a:path extrusionOk="0" h="2171860" w="5102150">
                  <a:moveTo>
                    <a:pt x="0" y="0"/>
                  </a:moveTo>
                  <a:lnTo>
                    <a:pt x="5102150" y="0"/>
                  </a:lnTo>
                  <a:lnTo>
                    <a:pt x="5102150" y="2171860"/>
                  </a:lnTo>
                  <a:lnTo>
                    <a:pt x="0" y="2171860"/>
                  </a:lnTo>
                  <a:close/>
                </a:path>
              </a:pathLst>
            </a:custGeom>
            <a:solidFill>
              <a:srgbClr val="000000">
                <a:alpha val="0"/>
              </a:srgbClr>
            </a:solidFill>
            <a:ln>
              <a:noFill/>
            </a:ln>
          </p:spPr>
        </p:sp>
        <p:sp>
          <p:nvSpPr>
            <p:cNvPr id="633" name="Google Shape;633;p40"/>
            <p:cNvSpPr txBox="1"/>
            <p:nvPr/>
          </p:nvSpPr>
          <p:spPr>
            <a:xfrm>
              <a:off x="0" y="-19050"/>
              <a:ext cx="5102150" cy="2190910"/>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50" u="none" cap="none" strike="noStrike">
                  <a:solidFill>
                    <a:srgbClr val="000000"/>
                  </a:solidFill>
                  <a:latin typeface="Arimo"/>
                  <a:ea typeface="Arimo"/>
                  <a:cs typeface="Arimo"/>
                  <a:sym typeface="Arimo"/>
                </a:rPr>
                <a:t>Desbloqueo: Cuando el suceso por el que el hilo se bloqueó se produce, el mismo pasa a la final de los Listos.</a:t>
              </a:r>
              <a:endParaRPr/>
            </a:p>
          </p:txBody>
        </p:sp>
      </p:grpSp>
      <p:sp>
        <p:nvSpPr>
          <p:cNvPr id="634" name="Google Shape;634;p40"/>
          <p:cNvSpPr/>
          <p:nvPr/>
        </p:nvSpPr>
        <p:spPr>
          <a:xfrm>
            <a:off x="9474169" y="6630848"/>
            <a:ext cx="1619440" cy="1619440"/>
          </a:xfrm>
          <a:custGeom>
            <a:rect b="b" l="l" r="r" t="t"/>
            <a:pathLst>
              <a:path extrusionOk="0" h="2159254" w="2159254">
                <a:moveTo>
                  <a:pt x="0" y="1079627"/>
                </a:moveTo>
                <a:cubicBezTo>
                  <a:pt x="0" y="483362"/>
                  <a:pt x="483362" y="0"/>
                  <a:pt x="1079627" y="0"/>
                </a:cubicBezTo>
                <a:cubicBezTo>
                  <a:pt x="1675892" y="0"/>
                  <a:pt x="2159254" y="483362"/>
                  <a:pt x="2159254" y="1079627"/>
                </a:cubicBezTo>
                <a:cubicBezTo>
                  <a:pt x="2159254" y="1675892"/>
                  <a:pt x="1675892" y="2159254"/>
                  <a:pt x="1079627" y="2159254"/>
                </a:cubicBezTo>
                <a:cubicBezTo>
                  <a:pt x="483362" y="2159254"/>
                  <a:pt x="0" y="1675765"/>
                  <a:pt x="0" y="1079627"/>
                </a:cubicBezTo>
                <a:close/>
              </a:path>
            </a:pathLst>
          </a:custGeom>
          <a:solidFill>
            <a:srgbClr val="21BB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0"/>
          <p:cNvSpPr/>
          <p:nvPr/>
        </p:nvSpPr>
        <p:spPr>
          <a:xfrm>
            <a:off x="9814237" y="6970916"/>
            <a:ext cx="939234" cy="939234"/>
          </a:xfrm>
          <a:custGeom>
            <a:rect b="b" l="l" r="r" t="t"/>
            <a:pathLst>
              <a:path extrusionOk="0" h="939234" w="939234">
                <a:moveTo>
                  <a:pt x="0" y="0"/>
                </a:moveTo>
                <a:lnTo>
                  <a:pt x="939234" y="0"/>
                </a:lnTo>
                <a:lnTo>
                  <a:pt x="939234" y="939234"/>
                </a:lnTo>
                <a:lnTo>
                  <a:pt x="0" y="939234"/>
                </a:lnTo>
                <a:lnTo>
                  <a:pt x="0" y="0"/>
                </a:lnTo>
                <a:close/>
              </a:path>
            </a:pathLst>
          </a:custGeom>
          <a:blipFill rotWithShape="1">
            <a:blip r:embed="rId6">
              <a:alphaModFix/>
            </a:blip>
            <a:stretch>
              <a:fillRect b="0" l="0" r="0" t="0"/>
            </a:stretch>
          </a:blipFill>
          <a:ln>
            <a:noFill/>
          </a:ln>
        </p:spPr>
      </p:sp>
      <p:grpSp>
        <p:nvGrpSpPr>
          <p:cNvPr id="636" name="Google Shape;636;p40"/>
          <p:cNvGrpSpPr/>
          <p:nvPr/>
        </p:nvGrpSpPr>
        <p:grpSpPr>
          <a:xfrm>
            <a:off x="11435785" y="6611798"/>
            <a:ext cx="3826612" cy="1643182"/>
            <a:chOff x="0" y="-19050"/>
            <a:chExt cx="5102150" cy="2190910"/>
          </a:xfrm>
        </p:grpSpPr>
        <p:sp>
          <p:nvSpPr>
            <p:cNvPr id="637" name="Google Shape;637;p40"/>
            <p:cNvSpPr/>
            <p:nvPr/>
          </p:nvSpPr>
          <p:spPr>
            <a:xfrm>
              <a:off x="0" y="0"/>
              <a:ext cx="5102150" cy="2171860"/>
            </a:xfrm>
            <a:custGeom>
              <a:rect b="b" l="l" r="r" t="t"/>
              <a:pathLst>
                <a:path extrusionOk="0" h="2171860" w="5102150">
                  <a:moveTo>
                    <a:pt x="0" y="0"/>
                  </a:moveTo>
                  <a:lnTo>
                    <a:pt x="5102150" y="0"/>
                  </a:lnTo>
                  <a:lnTo>
                    <a:pt x="5102150" y="2171860"/>
                  </a:lnTo>
                  <a:lnTo>
                    <a:pt x="0" y="2171860"/>
                  </a:lnTo>
                  <a:close/>
                </a:path>
              </a:pathLst>
            </a:custGeom>
            <a:solidFill>
              <a:srgbClr val="000000">
                <a:alpha val="0"/>
              </a:srgbClr>
            </a:solidFill>
            <a:ln>
              <a:noFill/>
            </a:ln>
          </p:spPr>
        </p:sp>
        <p:sp>
          <p:nvSpPr>
            <p:cNvPr id="638" name="Google Shape;638;p40"/>
            <p:cNvSpPr txBox="1"/>
            <p:nvPr/>
          </p:nvSpPr>
          <p:spPr>
            <a:xfrm>
              <a:off x="0" y="-19050"/>
              <a:ext cx="5102150" cy="2190910"/>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50" u="none" cap="none" strike="noStrike">
                  <a:solidFill>
                    <a:srgbClr val="000000"/>
                  </a:solidFill>
                  <a:latin typeface="Arimo"/>
                  <a:ea typeface="Arimo"/>
                  <a:cs typeface="Arimo"/>
                  <a:sym typeface="Arimo"/>
                </a:rPr>
                <a:t>Terminación: Cuando un hilo finaliza se liberan tanto su contexto como sus columnas.</a:t>
              </a: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41"/>
          <p:cNvSpPr/>
          <p:nvPr/>
        </p:nvSpPr>
        <p:spPr>
          <a:xfrm rot="-60000">
            <a:off x="-35489" y="-106338"/>
            <a:ext cx="12300762" cy="5219510"/>
          </a:xfrm>
          <a:custGeom>
            <a:rect b="b" l="l" r="r" t="t"/>
            <a:pathLst>
              <a:path extrusionOk="0" h="6959346" w="16401016">
                <a:moveTo>
                  <a:pt x="136701" y="0"/>
                </a:moveTo>
                <a:lnTo>
                  <a:pt x="16401016" y="221869"/>
                </a:lnTo>
                <a:lnTo>
                  <a:pt x="6433068" y="6155944"/>
                </a:lnTo>
                <a:lnTo>
                  <a:pt x="6318148" y="6220460"/>
                </a:lnTo>
                <a:cubicBezTo>
                  <a:pt x="5421384" y="6697218"/>
                  <a:pt x="4400597" y="6938264"/>
                  <a:pt x="3381761" y="6957314"/>
                </a:cubicBezTo>
                <a:cubicBezTo>
                  <a:pt x="3275619" y="6959346"/>
                  <a:pt x="3169477" y="6958838"/>
                  <a:pt x="3063660" y="6956044"/>
                </a:cubicBezTo>
                <a:cubicBezTo>
                  <a:pt x="2030682" y="6928485"/>
                  <a:pt x="1013472" y="6673469"/>
                  <a:pt x="143690" y="6205093"/>
                </a:cubicBezTo>
                <a:lnTo>
                  <a:pt x="0" y="6119495"/>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4" name="Google Shape;644;p41"/>
          <p:cNvGrpSpPr/>
          <p:nvPr/>
        </p:nvGrpSpPr>
        <p:grpSpPr>
          <a:xfrm>
            <a:off x="0" y="0"/>
            <a:ext cx="6260124" cy="4568318"/>
            <a:chOff x="0" y="0"/>
            <a:chExt cx="8346832" cy="6091091"/>
          </a:xfrm>
        </p:grpSpPr>
        <p:sp>
          <p:nvSpPr>
            <p:cNvPr id="645" name="Google Shape;645;p41"/>
            <p:cNvSpPr/>
            <p:nvPr/>
          </p:nvSpPr>
          <p:spPr>
            <a:xfrm>
              <a:off x="0" y="0"/>
              <a:ext cx="8346832" cy="6091091"/>
            </a:xfrm>
            <a:custGeom>
              <a:rect b="b" l="l" r="r" t="t"/>
              <a:pathLst>
                <a:path extrusionOk="0" h="6091091" w="8346832">
                  <a:moveTo>
                    <a:pt x="0" y="0"/>
                  </a:moveTo>
                  <a:lnTo>
                    <a:pt x="8346832" y="0"/>
                  </a:lnTo>
                  <a:lnTo>
                    <a:pt x="8346832" y="6091091"/>
                  </a:lnTo>
                  <a:lnTo>
                    <a:pt x="0" y="60910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646" name="Google Shape;646;p41"/>
            <p:cNvSpPr txBox="1"/>
            <p:nvPr/>
          </p:nvSpPr>
          <p:spPr>
            <a:xfrm>
              <a:off x="0" y="28575"/>
              <a:ext cx="8346832" cy="6062516"/>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2100" u="none" cap="none" strike="noStrike">
                  <a:solidFill>
                    <a:srgbClr val="131416"/>
                  </a:solidFill>
                  <a:latin typeface="Play"/>
                  <a:ea typeface="Play"/>
                  <a:cs typeface="Play"/>
                  <a:sym typeface="Play"/>
                </a:rPr>
                <a:t>Creación de hilos</a:t>
              </a:r>
              <a:endParaRPr sz="800"/>
            </a:p>
          </p:txBody>
        </p:sp>
      </p:grpSp>
      <p:grpSp>
        <p:nvGrpSpPr>
          <p:cNvPr id="647" name="Google Shape;647;p41"/>
          <p:cNvGrpSpPr/>
          <p:nvPr/>
        </p:nvGrpSpPr>
        <p:grpSpPr>
          <a:xfrm>
            <a:off x="1028700" y="6385573"/>
            <a:ext cx="6260122" cy="1086879"/>
            <a:chOff x="0" y="-76200"/>
            <a:chExt cx="8346830" cy="1449172"/>
          </a:xfrm>
        </p:grpSpPr>
        <p:sp>
          <p:nvSpPr>
            <p:cNvPr id="648" name="Google Shape;648;p41"/>
            <p:cNvSpPr/>
            <p:nvPr/>
          </p:nvSpPr>
          <p:spPr>
            <a:xfrm>
              <a:off x="0" y="0"/>
              <a:ext cx="8346830" cy="1372972"/>
            </a:xfrm>
            <a:custGeom>
              <a:rect b="b" l="l" r="r" t="t"/>
              <a:pathLst>
                <a:path extrusionOk="0" h="1372972" w="8346830">
                  <a:moveTo>
                    <a:pt x="0" y="0"/>
                  </a:moveTo>
                  <a:lnTo>
                    <a:pt x="8346830" y="0"/>
                  </a:lnTo>
                  <a:lnTo>
                    <a:pt x="8346830" y="1372972"/>
                  </a:lnTo>
                  <a:lnTo>
                    <a:pt x="0" y="1372972"/>
                  </a:lnTo>
                  <a:close/>
                </a:path>
              </a:pathLst>
            </a:custGeom>
            <a:solidFill>
              <a:srgbClr val="000000">
                <a:alpha val="0"/>
              </a:srgbClr>
            </a:solidFill>
            <a:ln>
              <a:noFill/>
            </a:ln>
          </p:spPr>
        </p:sp>
        <p:sp>
          <p:nvSpPr>
            <p:cNvPr id="649" name="Google Shape;649;p41"/>
            <p:cNvSpPr txBox="1"/>
            <p:nvPr/>
          </p:nvSpPr>
          <p:spPr>
            <a:xfrm>
              <a:off x="0" y="-76200"/>
              <a:ext cx="8346830" cy="1449172"/>
            </a:xfrm>
            <a:prstGeom prst="rect">
              <a:avLst/>
            </a:prstGeom>
            <a:noFill/>
            <a:ln>
              <a:noFill/>
            </a:ln>
          </p:spPr>
          <p:txBody>
            <a:bodyPr anchorCtr="0" anchor="t" bIns="0" lIns="0" spcFirstLastPara="1" rIns="0" wrap="square" tIns="0">
              <a:noAutofit/>
            </a:bodyPr>
            <a:lstStyle/>
            <a:p>
              <a:pPr indent="0" lvl="0" marL="0" marR="0" rtl="0" algn="l">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¿Cómo usar hilos en JAVA?</a:t>
              </a:r>
              <a:endParaRPr/>
            </a:p>
            <a:p>
              <a:pPr indent="0" lvl="0" marL="0" marR="0" rtl="0" algn="l">
                <a:lnSpc>
                  <a:spcPct val="143962"/>
                </a:lnSpc>
                <a:spcBef>
                  <a:spcPts val="0"/>
                </a:spcBef>
                <a:spcAft>
                  <a:spcPts val="0"/>
                </a:spcAft>
                <a:buNone/>
              </a:pPr>
              <a:r>
                <a:t/>
              </a:r>
              <a:endParaRPr b="0" i="0" sz="2700" u="none" cap="none" strike="noStrike">
                <a:solidFill>
                  <a:srgbClr val="000000"/>
                </a:solidFill>
                <a:latin typeface="Arimo"/>
                <a:ea typeface="Arimo"/>
                <a:cs typeface="Arimo"/>
                <a:sym typeface="Arimo"/>
              </a:endParaRPr>
            </a:p>
          </p:txBody>
        </p:sp>
      </p:grpSp>
      <p:sp>
        <p:nvSpPr>
          <p:cNvPr descr="Gato con la boca abierta  Descripción generada automáticamente" id="650" name="Google Shape;650;p41"/>
          <p:cNvSpPr/>
          <p:nvPr/>
        </p:nvSpPr>
        <p:spPr>
          <a:xfrm>
            <a:off x="9144000" y="1382523"/>
            <a:ext cx="7429500" cy="7470774"/>
          </a:xfrm>
          <a:custGeom>
            <a:rect b="b" l="l" r="r" t="t"/>
            <a:pathLst>
              <a:path extrusionOk="0" h="7470774" w="7429500">
                <a:moveTo>
                  <a:pt x="0" y="0"/>
                </a:moveTo>
                <a:lnTo>
                  <a:pt x="7429500" y="0"/>
                </a:lnTo>
                <a:lnTo>
                  <a:pt x="7429500" y="7470774"/>
                </a:lnTo>
                <a:lnTo>
                  <a:pt x="0" y="747077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2"/>
          <p:cNvSpPr/>
          <p:nvPr/>
        </p:nvSpPr>
        <p:spPr>
          <a:xfrm rot="-60000">
            <a:off x="-47030" y="-158415"/>
            <a:ext cx="18279756" cy="3949109"/>
          </a:xfrm>
          <a:custGeom>
            <a:rect b="b" l="l" r="r" t="t"/>
            <a:pathLst>
              <a:path extrusionOk="0" h="5265478" w="24373008">
                <a:moveTo>
                  <a:pt x="203147" y="0"/>
                </a:moveTo>
                <a:lnTo>
                  <a:pt x="24373008" y="167861"/>
                </a:lnTo>
                <a:lnTo>
                  <a:pt x="9559970" y="4657441"/>
                </a:lnTo>
                <a:lnTo>
                  <a:pt x="9389191" y="4706252"/>
                </a:lnTo>
                <a:cubicBezTo>
                  <a:pt x="8056540" y="5066956"/>
                  <a:pt x="6539582" y="5249326"/>
                  <a:pt x="5025524" y="5263739"/>
                </a:cubicBezTo>
                <a:cubicBezTo>
                  <a:pt x="4867789" y="5265478"/>
                  <a:pt x="4710055" y="5264970"/>
                  <a:pt x="4552803" y="5262778"/>
                </a:cubicBezTo>
                <a:cubicBezTo>
                  <a:pt x="3017730" y="5241927"/>
                  <a:pt x="1506087" y="5048988"/>
                  <a:pt x="213533" y="4694626"/>
                </a:cubicBezTo>
                <a:lnTo>
                  <a:pt x="0" y="4629865"/>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6" name="Google Shape;656;p42"/>
          <p:cNvGrpSpPr/>
          <p:nvPr/>
        </p:nvGrpSpPr>
        <p:grpSpPr>
          <a:xfrm>
            <a:off x="164602" y="466596"/>
            <a:ext cx="8305733" cy="2812499"/>
            <a:chOff x="0" y="-122708"/>
            <a:chExt cx="11074311" cy="3749999"/>
          </a:xfrm>
        </p:grpSpPr>
        <p:sp>
          <p:nvSpPr>
            <p:cNvPr id="657" name="Google Shape;657;p42"/>
            <p:cNvSpPr/>
            <p:nvPr/>
          </p:nvSpPr>
          <p:spPr>
            <a:xfrm>
              <a:off x="0" y="0"/>
              <a:ext cx="11074311" cy="3627291"/>
            </a:xfrm>
            <a:custGeom>
              <a:rect b="b" l="l" r="r" t="t"/>
              <a:pathLst>
                <a:path extrusionOk="0" h="3627291" w="11074311">
                  <a:moveTo>
                    <a:pt x="0" y="0"/>
                  </a:moveTo>
                  <a:lnTo>
                    <a:pt x="11074311" y="0"/>
                  </a:lnTo>
                  <a:lnTo>
                    <a:pt x="11074311"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658" name="Google Shape;658;p42"/>
            <p:cNvSpPr txBox="1"/>
            <p:nvPr/>
          </p:nvSpPr>
          <p:spPr>
            <a:xfrm>
              <a:off x="50" y="-122708"/>
              <a:ext cx="11074200" cy="3598800"/>
            </a:xfrm>
            <a:prstGeom prst="rect">
              <a:avLst/>
            </a:prstGeom>
            <a:noFill/>
            <a:ln>
              <a:noFill/>
            </a:ln>
          </p:spPr>
          <p:txBody>
            <a:bodyPr anchorCtr="0" anchor="b" bIns="0" lIns="0" spcFirstLastPara="1" rIns="0" wrap="square" tIns="0">
              <a:noAutofit/>
            </a:bodyPr>
            <a:lstStyle/>
            <a:p>
              <a:pPr indent="0" lvl="0" marL="0" marR="0" rtl="0" algn="ctr">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Hilos en Java</a:t>
              </a:r>
              <a:endParaRPr sz="10000"/>
            </a:p>
          </p:txBody>
        </p:sp>
      </p:grpSp>
      <p:grpSp>
        <p:nvGrpSpPr>
          <p:cNvPr id="659" name="Google Shape;659;p42"/>
          <p:cNvGrpSpPr/>
          <p:nvPr/>
        </p:nvGrpSpPr>
        <p:grpSpPr>
          <a:xfrm>
            <a:off x="2957487" y="5361006"/>
            <a:ext cx="13325754" cy="2868124"/>
            <a:chOff x="0" y="-76200"/>
            <a:chExt cx="17767672" cy="3824166"/>
          </a:xfrm>
        </p:grpSpPr>
        <p:sp>
          <p:nvSpPr>
            <p:cNvPr id="660" name="Google Shape;660;p42"/>
            <p:cNvSpPr/>
            <p:nvPr/>
          </p:nvSpPr>
          <p:spPr>
            <a:xfrm>
              <a:off x="0" y="0"/>
              <a:ext cx="17767672" cy="3747966"/>
            </a:xfrm>
            <a:custGeom>
              <a:rect b="b" l="l" r="r" t="t"/>
              <a:pathLst>
                <a:path extrusionOk="0" h="3747966" w="17767672">
                  <a:moveTo>
                    <a:pt x="0" y="0"/>
                  </a:moveTo>
                  <a:lnTo>
                    <a:pt x="17767672" y="0"/>
                  </a:lnTo>
                  <a:lnTo>
                    <a:pt x="17767672" y="3747966"/>
                  </a:lnTo>
                  <a:lnTo>
                    <a:pt x="0" y="3747966"/>
                  </a:lnTo>
                  <a:close/>
                </a:path>
              </a:pathLst>
            </a:custGeom>
            <a:solidFill>
              <a:srgbClr val="000000">
                <a:alpha val="0"/>
              </a:srgbClr>
            </a:solidFill>
            <a:ln>
              <a:noFill/>
            </a:ln>
          </p:spPr>
        </p:sp>
        <p:sp>
          <p:nvSpPr>
            <p:cNvPr id="661" name="Google Shape;661;p42"/>
            <p:cNvSpPr txBox="1"/>
            <p:nvPr/>
          </p:nvSpPr>
          <p:spPr>
            <a:xfrm>
              <a:off x="0" y="-76200"/>
              <a:ext cx="17767672" cy="3824166"/>
            </a:xfrm>
            <a:prstGeom prst="rect">
              <a:avLst/>
            </a:prstGeom>
            <a:noFill/>
            <a:ln>
              <a:noFill/>
            </a:ln>
          </p:spPr>
          <p:txBody>
            <a:bodyPr anchorCtr="0" anchor="t" bIns="0" lIns="0" spcFirstLastPara="1" rIns="0" wrap="square" tIns="0">
              <a:noAutofit/>
            </a:bodyPr>
            <a:lstStyle/>
            <a:p>
              <a:pPr indent="-244316" lvl="1" marL="488632" marR="0" rtl="0" algn="l">
                <a:lnSpc>
                  <a:spcPct val="143962"/>
                </a:lnSpc>
                <a:spcBef>
                  <a:spcPts val="0"/>
                </a:spcBef>
                <a:spcAft>
                  <a:spcPts val="0"/>
                </a:spcAft>
                <a:buClr>
                  <a:srgbClr val="171717"/>
                </a:buClr>
                <a:buSzPts val="2700"/>
                <a:buFont typeface="Arial"/>
                <a:buChar char="•"/>
              </a:pPr>
              <a:r>
                <a:rPr b="0" i="0" lang="en-US" sz="2700" u="none" cap="none" strike="noStrike">
                  <a:solidFill>
                    <a:srgbClr val="171717"/>
                  </a:solidFill>
                  <a:latin typeface="Arimo"/>
                  <a:ea typeface="Arimo"/>
                  <a:cs typeface="Arimo"/>
                  <a:sym typeface="Arimo"/>
                </a:rPr>
                <a:t>En Java, un "thread" (o hilo) es una unidad básica de ejecución que forma parte de un proceso más grande. Cada programa de Java se ejecuta en al menos un hilo, que generalmente se denomina "hilo principal" o "main thread". Los hilos permiten que una aplicación realice múltiples tareas de manera simultánea o en paralelo, lo que mejora la eficiencia y la capacidad de respuesta de la aplicación</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grpSp>
        <p:nvGrpSpPr>
          <p:cNvPr id="666" name="Google Shape;666;p43"/>
          <p:cNvGrpSpPr/>
          <p:nvPr/>
        </p:nvGrpSpPr>
        <p:grpSpPr>
          <a:xfrm>
            <a:off x="0" y="0"/>
            <a:ext cx="5886448" cy="6416168"/>
            <a:chOff x="0" y="0"/>
            <a:chExt cx="7848598" cy="8554891"/>
          </a:xfrm>
        </p:grpSpPr>
        <p:sp>
          <p:nvSpPr>
            <p:cNvPr id="667" name="Google Shape;667;p43"/>
            <p:cNvSpPr/>
            <p:nvPr/>
          </p:nvSpPr>
          <p:spPr>
            <a:xfrm>
              <a:off x="0" y="0"/>
              <a:ext cx="7848598" cy="8554891"/>
            </a:xfrm>
            <a:custGeom>
              <a:rect b="b" l="l" r="r" t="t"/>
              <a:pathLst>
                <a:path extrusionOk="0" h="8554891" w="7848598">
                  <a:moveTo>
                    <a:pt x="0" y="0"/>
                  </a:moveTo>
                  <a:lnTo>
                    <a:pt x="7848598" y="0"/>
                  </a:lnTo>
                  <a:lnTo>
                    <a:pt x="7848598" y="8554891"/>
                  </a:lnTo>
                  <a:lnTo>
                    <a:pt x="0" y="85548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668" name="Google Shape;668;p43"/>
            <p:cNvSpPr txBox="1"/>
            <p:nvPr/>
          </p:nvSpPr>
          <p:spPr>
            <a:xfrm>
              <a:off x="0" y="28575"/>
              <a:ext cx="7848598" cy="8526316"/>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Opción 1: Clase Thread</a:t>
              </a:r>
              <a:endParaRPr/>
            </a:p>
          </p:txBody>
        </p:sp>
      </p:grpSp>
      <p:grpSp>
        <p:nvGrpSpPr>
          <p:cNvPr id="669" name="Google Shape;669;p43"/>
          <p:cNvGrpSpPr/>
          <p:nvPr/>
        </p:nvGrpSpPr>
        <p:grpSpPr>
          <a:xfrm>
            <a:off x="533238" y="6551219"/>
            <a:ext cx="5886448" cy="4524375"/>
            <a:chOff x="0" y="-76200"/>
            <a:chExt cx="7848598" cy="6032500"/>
          </a:xfrm>
        </p:grpSpPr>
        <p:sp>
          <p:nvSpPr>
            <p:cNvPr id="670" name="Google Shape;670;p43"/>
            <p:cNvSpPr/>
            <p:nvPr/>
          </p:nvSpPr>
          <p:spPr>
            <a:xfrm>
              <a:off x="0" y="0"/>
              <a:ext cx="7848598" cy="5956300"/>
            </a:xfrm>
            <a:custGeom>
              <a:rect b="b" l="l" r="r" t="t"/>
              <a:pathLst>
                <a:path extrusionOk="0" h="5956300" w="7848598">
                  <a:moveTo>
                    <a:pt x="0" y="0"/>
                  </a:moveTo>
                  <a:lnTo>
                    <a:pt x="7848598" y="0"/>
                  </a:lnTo>
                  <a:lnTo>
                    <a:pt x="7848598" y="5956300"/>
                  </a:lnTo>
                  <a:lnTo>
                    <a:pt x="0" y="5956300"/>
                  </a:lnTo>
                  <a:close/>
                </a:path>
              </a:pathLst>
            </a:custGeom>
            <a:solidFill>
              <a:srgbClr val="000000">
                <a:alpha val="0"/>
              </a:srgbClr>
            </a:solidFill>
            <a:ln>
              <a:noFill/>
            </a:ln>
          </p:spPr>
        </p:sp>
        <p:sp>
          <p:nvSpPr>
            <p:cNvPr id="671" name="Google Shape;671;p43"/>
            <p:cNvSpPr txBox="1"/>
            <p:nvPr/>
          </p:nvSpPr>
          <p:spPr>
            <a:xfrm>
              <a:off x="0" y="-76200"/>
              <a:ext cx="7848598" cy="6032500"/>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Thread es una clase en Java que implementa la interfaz “Runnable”. Esta clase permite ejecutar como un hilo, tanto un proceso definido en su método “run” cuando se hereda, y al llamar a su método “start”.</a:t>
              </a:r>
              <a:endParaRPr/>
            </a:p>
          </p:txBody>
        </p:sp>
      </p:grpSp>
      <p:sp>
        <p:nvSpPr>
          <p:cNvPr descr="Un montón de hilo colorido convertido en una bombilla de hilo amarillo" id="672" name="Google Shape;672;p43"/>
          <p:cNvSpPr/>
          <p:nvPr/>
        </p:nvSpPr>
        <p:spPr>
          <a:xfrm>
            <a:off x="7259343" y="0"/>
            <a:ext cx="11555036" cy="10536674"/>
          </a:xfrm>
          <a:custGeom>
            <a:rect b="b" l="l" r="r" t="t"/>
            <a:pathLst>
              <a:path extrusionOk="0" h="398398" w="436903">
                <a:moveTo>
                  <a:pt x="131154" y="17264"/>
                </a:moveTo>
                <a:lnTo>
                  <a:pt x="157795" y="6640"/>
                </a:lnTo>
                <a:cubicBezTo>
                  <a:pt x="157795" y="6640"/>
                  <a:pt x="170091" y="11952"/>
                  <a:pt x="184436" y="11952"/>
                </a:cubicBezTo>
                <a:cubicBezTo>
                  <a:pt x="196732" y="11952"/>
                  <a:pt x="245914" y="0"/>
                  <a:pt x="245914" y="0"/>
                </a:cubicBezTo>
                <a:cubicBezTo>
                  <a:pt x="245914" y="0"/>
                  <a:pt x="276654" y="18592"/>
                  <a:pt x="286900" y="17264"/>
                </a:cubicBezTo>
                <a:cubicBezTo>
                  <a:pt x="295097" y="15936"/>
                  <a:pt x="329935" y="13280"/>
                  <a:pt x="338132" y="13280"/>
                </a:cubicBezTo>
                <a:cubicBezTo>
                  <a:pt x="346330" y="13280"/>
                  <a:pt x="356576" y="9296"/>
                  <a:pt x="360675" y="9296"/>
                </a:cubicBezTo>
                <a:cubicBezTo>
                  <a:pt x="364773" y="9296"/>
                  <a:pt x="409858" y="34528"/>
                  <a:pt x="409858" y="37184"/>
                </a:cubicBezTo>
                <a:cubicBezTo>
                  <a:pt x="409858" y="39840"/>
                  <a:pt x="409858" y="38512"/>
                  <a:pt x="409858" y="43824"/>
                </a:cubicBezTo>
                <a:cubicBezTo>
                  <a:pt x="409858" y="50464"/>
                  <a:pt x="405759" y="57104"/>
                  <a:pt x="409858" y="58432"/>
                </a:cubicBezTo>
                <a:cubicBezTo>
                  <a:pt x="413956" y="59760"/>
                  <a:pt x="413956" y="81008"/>
                  <a:pt x="418055" y="86319"/>
                </a:cubicBezTo>
                <a:cubicBezTo>
                  <a:pt x="424203" y="92959"/>
                  <a:pt x="407808" y="249663"/>
                  <a:pt x="409858" y="252319"/>
                </a:cubicBezTo>
                <a:cubicBezTo>
                  <a:pt x="411907" y="254975"/>
                  <a:pt x="420104" y="268254"/>
                  <a:pt x="420104" y="268254"/>
                </a:cubicBezTo>
                <a:lnTo>
                  <a:pt x="413956" y="270910"/>
                </a:lnTo>
                <a:cubicBezTo>
                  <a:pt x="413956" y="270910"/>
                  <a:pt x="413956" y="276222"/>
                  <a:pt x="416005" y="289502"/>
                </a:cubicBezTo>
                <a:cubicBezTo>
                  <a:pt x="418055" y="302782"/>
                  <a:pt x="424203" y="351918"/>
                  <a:pt x="430553" y="361214"/>
                </a:cubicBezTo>
                <a:cubicBezTo>
                  <a:pt x="436903" y="370510"/>
                  <a:pt x="430553" y="389102"/>
                  <a:pt x="430553" y="389102"/>
                </a:cubicBezTo>
                <a:lnTo>
                  <a:pt x="413956" y="398398"/>
                </a:lnTo>
                <a:cubicBezTo>
                  <a:pt x="413956" y="398398"/>
                  <a:pt x="375020" y="387774"/>
                  <a:pt x="370921" y="389102"/>
                </a:cubicBezTo>
                <a:cubicBezTo>
                  <a:pt x="366822" y="389102"/>
                  <a:pt x="334034" y="393086"/>
                  <a:pt x="321738" y="394414"/>
                </a:cubicBezTo>
                <a:cubicBezTo>
                  <a:pt x="309442" y="394414"/>
                  <a:pt x="282802" y="390430"/>
                  <a:pt x="282802" y="390430"/>
                </a:cubicBezTo>
                <a:cubicBezTo>
                  <a:pt x="282802" y="390430"/>
                  <a:pt x="270506" y="393086"/>
                  <a:pt x="196732" y="391758"/>
                </a:cubicBezTo>
                <a:cubicBezTo>
                  <a:pt x="122957" y="390430"/>
                  <a:pt x="102464" y="387774"/>
                  <a:pt x="84021" y="389102"/>
                </a:cubicBezTo>
                <a:lnTo>
                  <a:pt x="53281" y="389102"/>
                </a:lnTo>
                <a:lnTo>
                  <a:pt x="26641" y="381134"/>
                </a:lnTo>
                <a:lnTo>
                  <a:pt x="26641" y="367854"/>
                </a:lnTo>
                <a:cubicBezTo>
                  <a:pt x="26641" y="367854"/>
                  <a:pt x="24591" y="350590"/>
                  <a:pt x="32788" y="350590"/>
                </a:cubicBezTo>
                <a:cubicBezTo>
                  <a:pt x="40986" y="350590"/>
                  <a:pt x="57380" y="337310"/>
                  <a:pt x="57380" y="334654"/>
                </a:cubicBezTo>
                <a:cubicBezTo>
                  <a:pt x="57380" y="331998"/>
                  <a:pt x="81971" y="301454"/>
                  <a:pt x="81971" y="301454"/>
                </a:cubicBezTo>
                <a:lnTo>
                  <a:pt x="71725" y="300126"/>
                </a:lnTo>
                <a:lnTo>
                  <a:pt x="102464" y="281534"/>
                </a:lnTo>
                <a:lnTo>
                  <a:pt x="79922" y="261614"/>
                </a:lnTo>
                <a:cubicBezTo>
                  <a:pt x="79922" y="261614"/>
                  <a:pt x="65577" y="217791"/>
                  <a:pt x="32789" y="207167"/>
                </a:cubicBezTo>
                <a:cubicBezTo>
                  <a:pt x="0" y="196543"/>
                  <a:pt x="40986" y="164671"/>
                  <a:pt x="43035" y="159359"/>
                </a:cubicBezTo>
                <a:cubicBezTo>
                  <a:pt x="45084" y="155375"/>
                  <a:pt x="63528" y="140767"/>
                  <a:pt x="63528" y="140767"/>
                </a:cubicBezTo>
                <a:lnTo>
                  <a:pt x="67626" y="111551"/>
                </a:lnTo>
                <a:cubicBezTo>
                  <a:pt x="67626" y="111551"/>
                  <a:pt x="118859" y="71712"/>
                  <a:pt x="104514" y="49136"/>
                </a:cubicBezTo>
                <a:cubicBezTo>
                  <a:pt x="90169" y="26560"/>
                  <a:pt x="81971" y="15936"/>
                  <a:pt x="81971" y="15936"/>
                </a:cubicBezTo>
                <a:lnTo>
                  <a:pt x="131154" y="17264"/>
                </a:lnTo>
                <a:close/>
              </a:path>
            </a:pathLst>
          </a:custGeom>
          <a:blipFill rotWithShape="1">
            <a:blip r:embed="rId3">
              <a:alphaModFix/>
            </a:blip>
            <a:stretch>
              <a:fillRect b="0" l="-31130" r="-25808" t="-850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44"/>
          <p:cNvSpPr/>
          <p:nvPr/>
        </p:nvSpPr>
        <p:spPr>
          <a:xfrm rot="-60000">
            <a:off x="-86273" y="-162535"/>
            <a:ext cx="18890415" cy="10849106"/>
          </a:xfrm>
          <a:custGeom>
            <a:rect b="b" l="l" r="r" t="t"/>
            <a:pathLst>
              <a:path extrusionOk="0" h="14139545" w="24619713">
                <a:moveTo>
                  <a:pt x="239395" y="0"/>
                </a:moveTo>
                <a:lnTo>
                  <a:pt x="24619713" y="425577"/>
                </a:lnTo>
                <a:lnTo>
                  <a:pt x="24380318" y="14139545"/>
                </a:lnTo>
                <a:lnTo>
                  <a:pt x="0" y="13713968"/>
                </a:lnTo>
                <a:close/>
              </a:path>
            </a:pathLst>
          </a:custGeom>
          <a:gradFill>
            <a:gsLst>
              <a:gs pos="0">
                <a:srgbClr val="E3E8E2"/>
              </a:gs>
              <a:gs pos="32000">
                <a:srgbClr val="E3E8E2"/>
              </a:gs>
              <a:gs pos="100000">
                <a:srgbClr val="DE6BEF"/>
              </a:gs>
            </a:gsLst>
            <a:lin ang="14460000" scaled="0"/>
          </a:gradFill>
          <a:ln>
            <a:noFill/>
          </a:ln>
        </p:spPr>
      </p:sp>
      <p:grpSp>
        <p:nvGrpSpPr>
          <p:cNvPr id="678" name="Google Shape;678;p44"/>
          <p:cNvGrpSpPr/>
          <p:nvPr/>
        </p:nvGrpSpPr>
        <p:grpSpPr>
          <a:xfrm>
            <a:off x="331292" y="2003806"/>
            <a:ext cx="6314657" cy="6516368"/>
            <a:chOff x="0" y="0"/>
            <a:chExt cx="8419543" cy="8688491"/>
          </a:xfrm>
        </p:grpSpPr>
        <p:sp>
          <p:nvSpPr>
            <p:cNvPr id="679" name="Google Shape;679;p44"/>
            <p:cNvSpPr/>
            <p:nvPr/>
          </p:nvSpPr>
          <p:spPr>
            <a:xfrm>
              <a:off x="0" y="0"/>
              <a:ext cx="8419543" cy="8688491"/>
            </a:xfrm>
            <a:custGeom>
              <a:rect b="b" l="l" r="r" t="t"/>
              <a:pathLst>
                <a:path extrusionOk="0" h="8688491" w="8419543">
                  <a:moveTo>
                    <a:pt x="0" y="0"/>
                  </a:moveTo>
                  <a:lnTo>
                    <a:pt x="8419543" y="0"/>
                  </a:lnTo>
                  <a:lnTo>
                    <a:pt x="8419543" y="8688491"/>
                  </a:lnTo>
                  <a:lnTo>
                    <a:pt x="0" y="86884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680" name="Google Shape;680;p44"/>
            <p:cNvSpPr txBox="1"/>
            <p:nvPr/>
          </p:nvSpPr>
          <p:spPr>
            <a:xfrm>
              <a:off x="0" y="28575"/>
              <a:ext cx="8419543" cy="8659916"/>
            </a:xfrm>
            <a:prstGeom prst="rect">
              <a:avLst/>
            </a:prstGeom>
            <a:noFill/>
            <a:ln>
              <a:noFill/>
            </a:ln>
          </p:spPr>
          <p:txBody>
            <a:bodyPr anchorCtr="0" anchor="ctr" bIns="0" lIns="0" spcFirstLastPara="1" rIns="0" wrap="square" tIns="0">
              <a:noAutofit/>
            </a:bodyPr>
            <a:lstStyle/>
            <a:p>
              <a:pPr indent="0" lvl="0" marL="0" marR="0" rtl="0" algn="ctr">
                <a:lnSpc>
                  <a:spcPct val="115001"/>
                </a:lnSpc>
                <a:spcBef>
                  <a:spcPts val="0"/>
                </a:spcBef>
                <a:spcAft>
                  <a:spcPts val="0"/>
                </a:spcAft>
                <a:buNone/>
              </a:pPr>
              <a:r>
                <a:rPr b="0" i="0" lang="en-US" sz="9999" u="none" cap="none" strike="noStrike">
                  <a:solidFill>
                    <a:srgbClr val="131416"/>
                  </a:solidFill>
                  <a:latin typeface="Play"/>
                  <a:ea typeface="Play"/>
                  <a:cs typeface="Play"/>
                  <a:sym typeface="Play"/>
                </a:rPr>
                <a:t>Pasos para la creación de un hilo con Thread</a:t>
              </a:r>
              <a:endParaRPr/>
            </a:p>
          </p:txBody>
        </p:sp>
      </p:grpSp>
      <p:grpSp>
        <p:nvGrpSpPr>
          <p:cNvPr id="681" name="Google Shape;681;p44"/>
          <p:cNvGrpSpPr/>
          <p:nvPr/>
        </p:nvGrpSpPr>
        <p:grpSpPr>
          <a:xfrm>
            <a:off x="7015942" y="2074966"/>
            <a:ext cx="9163717" cy="19050"/>
            <a:chOff x="12700" y="0"/>
            <a:chExt cx="12218289" cy="25400"/>
          </a:xfrm>
        </p:grpSpPr>
        <p:sp>
          <p:nvSpPr>
            <p:cNvPr id="682" name="Google Shape;682;p44"/>
            <p:cNvSpPr/>
            <p:nvPr/>
          </p:nvSpPr>
          <p:spPr>
            <a:xfrm>
              <a:off x="12700" y="12700"/>
              <a:ext cx="12218289" cy="0"/>
            </a:xfrm>
            <a:custGeom>
              <a:rect b="b" l="l" r="r" t="t"/>
              <a:pathLst>
                <a:path extrusionOk="0" h="120000" w="12218289">
                  <a:moveTo>
                    <a:pt x="0" y="0"/>
                  </a:moveTo>
                  <a:lnTo>
                    <a:pt x="12218289" y="0"/>
                  </a:lnTo>
                </a:path>
              </a:pathLst>
            </a:custGeom>
            <a:solidFill>
              <a:srgbClr val="7F29E7"/>
            </a:solidFill>
            <a:ln>
              <a:noFill/>
            </a:ln>
          </p:spPr>
        </p:sp>
        <p:sp>
          <p:nvSpPr>
            <p:cNvPr id="683" name="Google Shape;683;p44"/>
            <p:cNvSpPr/>
            <p:nvPr/>
          </p:nvSpPr>
          <p:spPr>
            <a:xfrm>
              <a:off x="12700" y="0"/>
              <a:ext cx="12218289" cy="25400"/>
            </a:xfrm>
            <a:custGeom>
              <a:rect b="b" l="l" r="r" t="t"/>
              <a:pathLst>
                <a:path extrusionOk="0" h="25400" w="12218289">
                  <a:moveTo>
                    <a:pt x="0" y="0"/>
                  </a:moveTo>
                  <a:lnTo>
                    <a:pt x="12218289" y="0"/>
                  </a:lnTo>
                  <a:lnTo>
                    <a:pt x="12218289" y="25400"/>
                  </a:lnTo>
                  <a:lnTo>
                    <a:pt x="0" y="25400"/>
                  </a:lnTo>
                  <a:close/>
                </a:path>
              </a:pathLst>
            </a:custGeom>
            <a:solidFill>
              <a:srgbClr val="7F29E7"/>
            </a:solidFill>
            <a:ln>
              <a:noFill/>
            </a:ln>
          </p:spPr>
        </p:sp>
      </p:grpSp>
      <p:grpSp>
        <p:nvGrpSpPr>
          <p:cNvPr id="684" name="Google Shape;684;p44"/>
          <p:cNvGrpSpPr/>
          <p:nvPr/>
        </p:nvGrpSpPr>
        <p:grpSpPr>
          <a:xfrm>
            <a:off x="7011180" y="2079729"/>
            <a:ext cx="9173220" cy="1233409"/>
            <a:chOff x="0" y="0"/>
            <a:chExt cx="12230960" cy="1644546"/>
          </a:xfrm>
        </p:grpSpPr>
        <p:sp>
          <p:nvSpPr>
            <p:cNvPr id="685" name="Google Shape;685;p44"/>
            <p:cNvSpPr/>
            <p:nvPr/>
          </p:nvSpPr>
          <p:spPr>
            <a:xfrm>
              <a:off x="0" y="0"/>
              <a:ext cx="12230960" cy="1644546"/>
            </a:xfrm>
            <a:custGeom>
              <a:rect b="b" l="l" r="r" t="t"/>
              <a:pathLst>
                <a:path extrusionOk="0" h="1644546" w="12230960">
                  <a:moveTo>
                    <a:pt x="0" y="0"/>
                  </a:moveTo>
                  <a:lnTo>
                    <a:pt x="12230960" y="0"/>
                  </a:lnTo>
                  <a:lnTo>
                    <a:pt x="12230960" y="1644546"/>
                  </a:lnTo>
                  <a:lnTo>
                    <a:pt x="0" y="1644546"/>
                  </a:lnTo>
                  <a:close/>
                </a:path>
              </a:pathLst>
            </a:custGeom>
            <a:solidFill>
              <a:srgbClr val="000000">
                <a:alpha val="0"/>
              </a:srgbClr>
            </a:solidFill>
            <a:ln>
              <a:noFill/>
            </a:ln>
          </p:spPr>
        </p:sp>
        <p:sp>
          <p:nvSpPr>
            <p:cNvPr id="686" name="Google Shape;686;p44"/>
            <p:cNvSpPr txBox="1"/>
            <p:nvPr/>
          </p:nvSpPr>
          <p:spPr>
            <a:xfrm>
              <a:off x="0" y="28575"/>
              <a:ext cx="12230960" cy="1615971"/>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US" sz="4950" u="none" cap="none" strike="noStrike">
                  <a:solidFill>
                    <a:srgbClr val="000000"/>
                  </a:solidFill>
                  <a:latin typeface="Arimo"/>
                  <a:ea typeface="Arimo"/>
                  <a:cs typeface="Arimo"/>
                  <a:sym typeface="Arimo"/>
                </a:rPr>
                <a:t>Crear una clase</a:t>
              </a:r>
              <a:endParaRPr/>
            </a:p>
          </p:txBody>
        </p:sp>
      </p:grpSp>
      <p:grpSp>
        <p:nvGrpSpPr>
          <p:cNvPr id="687" name="Google Shape;687;p44"/>
          <p:cNvGrpSpPr/>
          <p:nvPr/>
        </p:nvGrpSpPr>
        <p:grpSpPr>
          <a:xfrm>
            <a:off x="7015942" y="3298851"/>
            <a:ext cx="9163717" cy="19050"/>
            <a:chOff x="12700" y="0"/>
            <a:chExt cx="12218289" cy="25400"/>
          </a:xfrm>
        </p:grpSpPr>
        <p:sp>
          <p:nvSpPr>
            <p:cNvPr id="688" name="Google Shape;688;p44"/>
            <p:cNvSpPr/>
            <p:nvPr/>
          </p:nvSpPr>
          <p:spPr>
            <a:xfrm>
              <a:off x="12700" y="12700"/>
              <a:ext cx="12218289" cy="0"/>
            </a:xfrm>
            <a:custGeom>
              <a:rect b="b" l="l" r="r" t="t"/>
              <a:pathLst>
                <a:path extrusionOk="0" h="120000" w="12218289">
                  <a:moveTo>
                    <a:pt x="0" y="0"/>
                  </a:moveTo>
                  <a:lnTo>
                    <a:pt x="12218289" y="0"/>
                  </a:lnTo>
                </a:path>
              </a:pathLst>
            </a:custGeom>
            <a:solidFill>
              <a:srgbClr val="E729B1"/>
            </a:solidFill>
            <a:ln>
              <a:noFill/>
            </a:ln>
          </p:spPr>
        </p:sp>
        <p:sp>
          <p:nvSpPr>
            <p:cNvPr id="689" name="Google Shape;689;p44"/>
            <p:cNvSpPr/>
            <p:nvPr/>
          </p:nvSpPr>
          <p:spPr>
            <a:xfrm>
              <a:off x="12700" y="0"/>
              <a:ext cx="12218289" cy="25400"/>
            </a:xfrm>
            <a:custGeom>
              <a:rect b="b" l="l" r="r" t="t"/>
              <a:pathLst>
                <a:path extrusionOk="0" h="25400" w="12218289">
                  <a:moveTo>
                    <a:pt x="0" y="0"/>
                  </a:moveTo>
                  <a:lnTo>
                    <a:pt x="12218289" y="0"/>
                  </a:lnTo>
                  <a:lnTo>
                    <a:pt x="12218289" y="25400"/>
                  </a:lnTo>
                  <a:lnTo>
                    <a:pt x="0" y="25400"/>
                  </a:lnTo>
                  <a:close/>
                </a:path>
              </a:pathLst>
            </a:custGeom>
            <a:solidFill>
              <a:srgbClr val="E729B1"/>
            </a:solidFill>
            <a:ln>
              <a:noFill/>
            </a:ln>
          </p:spPr>
        </p:sp>
      </p:grpSp>
      <p:grpSp>
        <p:nvGrpSpPr>
          <p:cNvPr id="690" name="Google Shape;690;p44"/>
          <p:cNvGrpSpPr/>
          <p:nvPr/>
        </p:nvGrpSpPr>
        <p:grpSpPr>
          <a:xfrm>
            <a:off x="7011180" y="3303614"/>
            <a:ext cx="9173220" cy="1233410"/>
            <a:chOff x="0" y="0"/>
            <a:chExt cx="12230960" cy="1644546"/>
          </a:xfrm>
        </p:grpSpPr>
        <p:sp>
          <p:nvSpPr>
            <p:cNvPr id="691" name="Google Shape;691;p44"/>
            <p:cNvSpPr/>
            <p:nvPr/>
          </p:nvSpPr>
          <p:spPr>
            <a:xfrm>
              <a:off x="0" y="0"/>
              <a:ext cx="12230960" cy="1644546"/>
            </a:xfrm>
            <a:custGeom>
              <a:rect b="b" l="l" r="r" t="t"/>
              <a:pathLst>
                <a:path extrusionOk="0" h="1644546" w="12230960">
                  <a:moveTo>
                    <a:pt x="0" y="0"/>
                  </a:moveTo>
                  <a:lnTo>
                    <a:pt x="12230960" y="0"/>
                  </a:lnTo>
                  <a:lnTo>
                    <a:pt x="12230960" y="1644546"/>
                  </a:lnTo>
                  <a:lnTo>
                    <a:pt x="0" y="1644546"/>
                  </a:lnTo>
                  <a:close/>
                </a:path>
              </a:pathLst>
            </a:custGeom>
            <a:solidFill>
              <a:srgbClr val="000000">
                <a:alpha val="0"/>
              </a:srgbClr>
            </a:solidFill>
            <a:ln>
              <a:noFill/>
            </a:ln>
          </p:spPr>
        </p:sp>
        <p:sp>
          <p:nvSpPr>
            <p:cNvPr id="692" name="Google Shape;692;p44"/>
            <p:cNvSpPr txBox="1"/>
            <p:nvPr/>
          </p:nvSpPr>
          <p:spPr>
            <a:xfrm>
              <a:off x="0" y="28575"/>
              <a:ext cx="12230960" cy="1615971"/>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US" sz="4950" u="none" cap="none" strike="noStrike">
                  <a:solidFill>
                    <a:srgbClr val="000000"/>
                  </a:solidFill>
                  <a:latin typeface="Arimo"/>
                  <a:ea typeface="Arimo"/>
                  <a:cs typeface="Arimo"/>
                  <a:sym typeface="Arimo"/>
                </a:rPr>
                <a:t>Heredar la clase “Thread”.</a:t>
              </a:r>
              <a:endParaRPr/>
            </a:p>
          </p:txBody>
        </p:sp>
      </p:grpSp>
      <p:grpSp>
        <p:nvGrpSpPr>
          <p:cNvPr id="693" name="Google Shape;693;p44"/>
          <p:cNvGrpSpPr/>
          <p:nvPr/>
        </p:nvGrpSpPr>
        <p:grpSpPr>
          <a:xfrm>
            <a:off x="7015942" y="4522736"/>
            <a:ext cx="9163717" cy="19050"/>
            <a:chOff x="12700" y="0"/>
            <a:chExt cx="12218289" cy="25400"/>
          </a:xfrm>
        </p:grpSpPr>
        <p:sp>
          <p:nvSpPr>
            <p:cNvPr id="694" name="Google Shape;694;p44"/>
            <p:cNvSpPr/>
            <p:nvPr/>
          </p:nvSpPr>
          <p:spPr>
            <a:xfrm>
              <a:off x="12700" y="12700"/>
              <a:ext cx="12218289" cy="0"/>
            </a:xfrm>
            <a:custGeom>
              <a:rect b="b" l="l" r="r" t="t"/>
              <a:pathLst>
                <a:path extrusionOk="0" h="120000" w="12218289">
                  <a:moveTo>
                    <a:pt x="0" y="0"/>
                  </a:moveTo>
                  <a:lnTo>
                    <a:pt x="12218289" y="0"/>
                  </a:lnTo>
                </a:path>
              </a:pathLst>
            </a:custGeom>
            <a:solidFill>
              <a:srgbClr val="17BE15"/>
            </a:solidFill>
            <a:ln>
              <a:noFill/>
            </a:ln>
          </p:spPr>
        </p:sp>
        <p:sp>
          <p:nvSpPr>
            <p:cNvPr id="695" name="Google Shape;695;p44"/>
            <p:cNvSpPr/>
            <p:nvPr/>
          </p:nvSpPr>
          <p:spPr>
            <a:xfrm>
              <a:off x="12700" y="0"/>
              <a:ext cx="12218289" cy="25400"/>
            </a:xfrm>
            <a:custGeom>
              <a:rect b="b" l="l" r="r" t="t"/>
              <a:pathLst>
                <a:path extrusionOk="0" h="25400" w="12218289">
                  <a:moveTo>
                    <a:pt x="0" y="0"/>
                  </a:moveTo>
                  <a:lnTo>
                    <a:pt x="12218289" y="0"/>
                  </a:lnTo>
                  <a:lnTo>
                    <a:pt x="12218289" y="25400"/>
                  </a:lnTo>
                  <a:lnTo>
                    <a:pt x="0" y="25400"/>
                  </a:lnTo>
                  <a:close/>
                </a:path>
              </a:pathLst>
            </a:custGeom>
            <a:solidFill>
              <a:srgbClr val="17BE15"/>
            </a:solidFill>
            <a:ln>
              <a:noFill/>
            </a:ln>
          </p:spPr>
        </p:sp>
      </p:grpSp>
      <p:grpSp>
        <p:nvGrpSpPr>
          <p:cNvPr id="696" name="Google Shape;696;p44"/>
          <p:cNvGrpSpPr/>
          <p:nvPr/>
        </p:nvGrpSpPr>
        <p:grpSpPr>
          <a:xfrm>
            <a:off x="7011180" y="4527498"/>
            <a:ext cx="9173220" cy="1233410"/>
            <a:chOff x="0" y="0"/>
            <a:chExt cx="12230960" cy="1644546"/>
          </a:xfrm>
        </p:grpSpPr>
        <p:sp>
          <p:nvSpPr>
            <p:cNvPr id="697" name="Google Shape;697;p44"/>
            <p:cNvSpPr/>
            <p:nvPr/>
          </p:nvSpPr>
          <p:spPr>
            <a:xfrm>
              <a:off x="0" y="0"/>
              <a:ext cx="12230960" cy="1644546"/>
            </a:xfrm>
            <a:custGeom>
              <a:rect b="b" l="l" r="r" t="t"/>
              <a:pathLst>
                <a:path extrusionOk="0" h="1644546" w="12230960">
                  <a:moveTo>
                    <a:pt x="0" y="0"/>
                  </a:moveTo>
                  <a:lnTo>
                    <a:pt x="12230960" y="0"/>
                  </a:lnTo>
                  <a:lnTo>
                    <a:pt x="12230960" y="1644546"/>
                  </a:lnTo>
                  <a:lnTo>
                    <a:pt x="0" y="1644546"/>
                  </a:lnTo>
                  <a:close/>
                </a:path>
              </a:pathLst>
            </a:custGeom>
            <a:solidFill>
              <a:srgbClr val="000000">
                <a:alpha val="0"/>
              </a:srgbClr>
            </a:solidFill>
            <a:ln>
              <a:noFill/>
            </a:ln>
          </p:spPr>
        </p:sp>
        <p:sp>
          <p:nvSpPr>
            <p:cNvPr id="698" name="Google Shape;698;p44"/>
            <p:cNvSpPr txBox="1"/>
            <p:nvPr/>
          </p:nvSpPr>
          <p:spPr>
            <a:xfrm>
              <a:off x="0" y="28575"/>
              <a:ext cx="12230960" cy="1615971"/>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US" sz="4950" u="none" cap="none" strike="noStrike">
                  <a:solidFill>
                    <a:srgbClr val="000000"/>
                  </a:solidFill>
                  <a:latin typeface="Arimo"/>
                  <a:ea typeface="Arimo"/>
                  <a:cs typeface="Arimo"/>
                  <a:sym typeface="Arimo"/>
                </a:rPr>
                <a:t>Sobreescribir el método “run”</a:t>
              </a:r>
              <a:endParaRPr/>
            </a:p>
          </p:txBody>
        </p:sp>
      </p:grpSp>
      <p:grpSp>
        <p:nvGrpSpPr>
          <p:cNvPr id="699" name="Google Shape;699;p44"/>
          <p:cNvGrpSpPr/>
          <p:nvPr/>
        </p:nvGrpSpPr>
        <p:grpSpPr>
          <a:xfrm>
            <a:off x="7015942" y="5746622"/>
            <a:ext cx="9163717" cy="19050"/>
            <a:chOff x="12700" y="0"/>
            <a:chExt cx="12218289" cy="25400"/>
          </a:xfrm>
        </p:grpSpPr>
        <p:sp>
          <p:nvSpPr>
            <p:cNvPr id="700" name="Google Shape;700;p44"/>
            <p:cNvSpPr/>
            <p:nvPr/>
          </p:nvSpPr>
          <p:spPr>
            <a:xfrm>
              <a:off x="12700" y="12700"/>
              <a:ext cx="12218289" cy="0"/>
            </a:xfrm>
            <a:custGeom>
              <a:rect b="b" l="l" r="r" t="t"/>
              <a:pathLst>
                <a:path extrusionOk="0" h="120000" w="12218289">
                  <a:moveTo>
                    <a:pt x="0" y="0"/>
                  </a:moveTo>
                  <a:lnTo>
                    <a:pt x="12218289" y="0"/>
                  </a:lnTo>
                </a:path>
              </a:pathLst>
            </a:custGeom>
            <a:solidFill>
              <a:srgbClr val="21BB5F"/>
            </a:solidFill>
            <a:ln>
              <a:noFill/>
            </a:ln>
          </p:spPr>
        </p:sp>
        <p:sp>
          <p:nvSpPr>
            <p:cNvPr id="701" name="Google Shape;701;p44"/>
            <p:cNvSpPr/>
            <p:nvPr/>
          </p:nvSpPr>
          <p:spPr>
            <a:xfrm>
              <a:off x="12700" y="0"/>
              <a:ext cx="12218289" cy="25400"/>
            </a:xfrm>
            <a:custGeom>
              <a:rect b="b" l="l" r="r" t="t"/>
              <a:pathLst>
                <a:path extrusionOk="0" h="25400" w="12218289">
                  <a:moveTo>
                    <a:pt x="0" y="0"/>
                  </a:moveTo>
                  <a:lnTo>
                    <a:pt x="12218289" y="0"/>
                  </a:lnTo>
                  <a:lnTo>
                    <a:pt x="12218289" y="25400"/>
                  </a:lnTo>
                  <a:lnTo>
                    <a:pt x="0" y="25400"/>
                  </a:lnTo>
                  <a:close/>
                </a:path>
              </a:pathLst>
            </a:custGeom>
            <a:solidFill>
              <a:srgbClr val="21BB5F"/>
            </a:solidFill>
            <a:ln>
              <a:noFill/>
            </a:ln>
          </p:spPr>
        </p:sp>
      </p:grpSp>
      <p:grpSp>
        <p:nvGrpSpPr>
          <p:cNvPr id="702" name="Google Shape;702;p44"/>
          <p:cNvGrpSpPr/>
          <p:nvPr/>
        </p:nvGrpSpPr>
        <p:grpSpPr>
          <a:xfrm>
            <a:off x="7011180" y="5751384"/>
            <a:ext cx="9173220" cy="1233410"/>
            <a:chOff x="0" y="0"/>
            <a:chExt cx="12230960" cy="1644546"/>
          </a:xfrm>
        </p:grpSpPr>
        <p:sp>
          <p:nvSpPr>
            <p:cNvPr id="703" name="Google Shape;703;p44"/>
            <p:cNvSpPr/>
            <p:nvPr/>
          </p:nvSpPr>
          <p:spPr>
            <a:xfrm>
              <a:off x="0" y="0"/>
              <a:ext cx="12230960" cy="1644546"/>
            </a:xfrm>
            <a:custGeom>
              <a:rect b="b" l="l" r="r" t="t"/>
              <a:pathLst>
                <a:path extrusionOk="0" h="1644546" w="12230960">
                  <a:moveTo>
                    <a:pt x="0" y="0"/>
                  </a:moveTo>
                  <a:lnTo>
                    <a:pt x="12230960" y="0"/>
                  </a:lnTo>
                  <a:lnTo>
                    <a:pt x="12230960" y="1644546"/>
                  </a:lnTo>
                  <a:lnTo>
                    <a:pt x="0" y="1644546"/>
                  </a:lnTo>
                  <a:close/>
                </a:path>
              </a:pathLst>
            </a:custGeom>
            <a:solidFill>
              <a:srgbClr val="000000">
                <a:alpha val="0"/>
              </a:srgbClr>
            </a:solidFill>
            <a:ln>
              <a:noFill/>
            </a:ln>
          </p:spPr>
        </p:sp>
        <p:sp>
          <p:nvSpPr>
            <p:cNvPr id="704" name="Google Shape;704;p44"/>
            <p:cNvSpPr txBox="1"/>
            <p:nvPr/>
          </p:nvSpPr>
          <p:spPr>
            <a:xfrm>
              <a:off x="0" y="28575"/>
              <a:ext cx="12230960" cy="1615971"/>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US" sz="4950" u="none" cap="none" strike="noStrike">
                  <a:solidFill>
                    <a:srgbClr val="000000"/>
                  </a:solidFill>
                  <a:latin typeface="Arimo"/>
                  <a:ea typeface="Arimo"/>
                  <a:cs typeface="Arimo"/>
                  <a:sym typeface="Arimo"/>
                </a:rPr>
                <a:t>Instanciar la clase</a:t>
              </a:r>
              <a:endParaRPr/>
            </a:p>
          </p:txBody>
        </p:sp>
      </p:grpSp>
      <p:grpSp>
        <p:nvGrpSpPr>
          <p:cNvPr id="705" name="Google Shape;705;p44"/>
          <p:cNvGrpSpPr/>
          <p:nvPr/>
        </p:nvGrpSpPr>
        <p:grpSpPr>
          <a:xfrm>
            <a:off x="7015942" y="6970506"/>
            <a:ext cx="9163717" cy="19050"/>
            <a:chOff x="12700" y="0"/>
            <a:chExt cx="12218289" cy="25400"/>
          </a:xfrm>
        </p:grpSpPr>
        <p:sp>
          <p:nvSpPr>
            <p:cNvPr id="706" name="Google Shape;706;p44"/>
            <p:cNvSpPr/>
            <p:nvPr/>
          </p:nvSpPr>
          <p:spPr>
            <a:xfrm>
              <a:off x="12700" y="12700"/>
              <a:ext cx="12218289" cy="0"/>
            </a:xfrm>
            <a:custGeom>
              <a:rect b="b" l="l" r="r" t="t"/>
              <a:pathLst>
                <a:path extrusionOk="0" h="120000" w="12218289">
                  <a:moveTo>
                    <a:pt x="0" y="0"/>
                  </a:moveTo>
                  <a:lnTo>
                    <a:pt x="12218289" y="0"/>
                  </a:lnTo>
                </a:path>
              </a:pathLst>
            </a:custGeom>
            <a:solidFill>
              <a:srgbClr val="14B89B"/>
            </a:solidFill>
            <a:ln>
              <a:noFill/>
            </a:ln>
          </p:spPr>
        </p:sp>
        <p:sp>
          <p:nvSpPr>
            <p:cNvPr id="707" name="Google Shape;707;p44"/>
            <p:cNvSpPr/>
            <p:nvPr/>
          </p:nvSpPr>
          <p:spPr>
            <a:xfrm>
              <a:off x="12700" y="0"/>
              <a:ext cx="12218289" cy="25400"/>
            </a:xfrm>
            <a:custGeom>
              <a:rect b="b" l="l" r="r" t="t"/>
              <a:pathLst>
                <a:path extrusionOk="0" h="25400" w="12218289">
                  <a:moveTo>
                    <a:pt x="0" y="0"/>
                  </a:moveTo>
                  <a:lnTo>
                    <a:pt x="12218289" y="0"/>
                  </a:lnTo>
                  <a:lnTo>
                    <a:pt x="12218289" y="25400"/>
                  </a:lnTo>
                  <a:lnTo>
                    <a:pt x="0" y="25400"/>
                  </a:lnTo>
                  <a:close/>
                </a:path>
              </a:pathLst>
            </a:custGeom>
            <a:solidFill>
              <a:srgbClr val="14B89B"/>
            </a:solidFill>
            <a:ln>
              <a:noFill/>
            </a:ln>
          </p:spPr>
        </p:sp>
      </p:grpSp>
      <p:grpSp>
        <p:nvGrpSpPr>
          <p:cNvPr id="708" name="Google Shape;708;p44"/>
          <p:cNvGrpSpPr/>
          <p:nvPr/>
        </p:nvGrpSpPr>
        <p:grpSpPr>
          <a:xfrm>
            <a:off x="7011180" y="6975268"/>
            <a:ext cx="9173220" cy="1233410"/>
            <a:chOff x="0" y="0"/>
            <a:chExt cx="12230960" cy="1644546"/>
          </a:xfrm>
        </p:grpSpPr>
        <p:sp>
          <p:nvSpPr>
            <p:cNvPr id="709" name="Google Shape;709;p44"/>
            <p:cNvSpPr/>
            <p:nvPr/>
          </p:nvSpPr>
          <p:spPr>
            <a:xfrm>
              <a:off x="0" y="0"/>
              <a:ext cx="12230960" cy="1644546"/>
            </a:xfrm>
            <a:custGeom>
              <a:rect b="b" l="l" r="r" t="t"/>
              <a:pathLst>
                <a:path extrusionOk="0" h="1644546" w="12230960">
                  <a:moveTo>
                    <a:pt x="0" y="0"/>
                  </a:moveTo>
                  <a:lnTo>
                    <a:pt x="12230960" y="0"/>
                  </a:lnTo>
                  <a:lnTo>
                    <a:pt x="12230960" y="1644546"/>
                  </a:lnTo>
                  <a:lnTo>
                    <a:pt x="0" y="1644546"/>
                  </a:lnTo>
                  <a:close/>
                </a:path>
              </a:pathLst>
            </a:custGeom>
            <a:solidFill>
              <a:srgbClr val="000000">
                <a:alpha val="0"/>
              </a:srgbClr>
            </a:solidFill>
            <a:ln>
              <a:noFill/>
            </a:ln>
          </p:spPr>
        </p:sp>
        <p:sp>
          <p:nvSpPr>
            <p:cNvPr id="710" name="Google Shape;710;p44"/>
            <p:cNvSpPr txBox="1"/>
            <p:nvPr/>
          </p:nvSpPr>
          <p:spPr>
            <a:xfrm>
              <a:off x="0" y="28575"/>
              <a:ext cx="12230960" cy="1615971"/>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US" sz="4950" u="none" cap="none" strike="noStrike">
                  <a:solidFill>
                    <a:srgbClr val="000000"/>
                  </a:solidFill>
                  <a:latin typeface="Arimo"/>
                  <a:ea typeface="Arimo"/>
                  <a:cs typeface="Arimo"/>
                  <a:sym typeface="Arimo"/>
                </a:rPr>
                <a:t>Llamar al método “start”</a:t>
              </a: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grpSp>
        <p:nvGrpSpPr>
          <p:cNvPr id="715" name="Google Shape;715;p45"/>
          <p:cNvGrpSpPr/>
          <p:nvPr/>
        </p:nvGrpSpPr>
        <p:grpSpPr>
          <a:xfrm>
            <a:off x="1028700" y="1028700"/>
            <a:ext cx="11045453" cy="4568318"/>
            <a:chOff x="0" y="0"/>
            <a:chExt cx="14727269" cy="6091091"/>
          </a:xfrm>
        </p:grpSpPr>
        <p:sp>
          <p:nvSpPr>
            <p:cNvPr id="716" name="Google Shape;716;p45"/>
            <p:cNvSpPr/>
            <p:nvPr/>
          </p:nvSpPr>
          <p:spPr>
            <a:xfrm>
              <a:off x="0" y="0"/>
              <a:ext cx="14727269" cy="6091091"/>
            </a:xfrm>
            <a:custGeom>
              <a:rect b="b" l="l" r="r" t="t"/>
              <a:pathLst>
                <a:path extrusionOk="0" h="6091091" w="14727269">
                  <a:moveTo>
                    <a:pt x="0" y="0"/>
                  </a:moveTo>
                  <a:lnTo>
                    <a:pt x="14727269" y="0"/>
                  </a:lnTo>
                  <a:lnTo>
                    <a:pt x="14727269" y="6091091"/>
                  </a:lnTo>
                  <a:lnTo>
                    <a:pt x="0" y="60910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717" name="Google Shape;717;p45"/>
            <p:cNvSpPr txBox="1"/>
            <p:nvPr/>
          </p:nvSpPr>
          <p:spPr>
            <a:xfrm>
              <a:off x="0" y="28575"/>
              <a:ext cx="14727267" cy="606251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Opción 2: </a:t>
              </a:r>
              <a:endParaRPr/>
            </a:p>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Interfaz Runnable</a:t>
              </a:r>
              <a:endParaRPr/>
            </a:p>
          </p:txBody>
        </p:sp>
      </p:grpSp>
      <p:grpSp>
        <p:nvGrpSpPr>
          <p:cNvPr id="718" name="Google Shape;718;p45"/>
          <p:cNvGrpSpPr/>
          <p:nvPr/>
        </p:nvGrpSpPr>
        <p:grpSpPr>
          <a:xfrm>
            <a:off x="1250499" y="5862030"/>
            <a:ext cx="6260174" cy="2913725"/>
            <a:chOff x="0" y="0"/>
            <a:chExt cx="8346900" cy="3884967"/>
          </a:xfrm>
        </p:grpSpPr>
        <p:sp>
          <p:nvSpPr>
            <p:cNvPr id="719" name="Google Shape;719;p45"/>
            <p:cNvSpPr/>
            <p:nvPr/>
          </p:nvSpPr>
          <p:spPr>
            <a:xfrm>
              <a:off x="0" y="0"/>
              <a:ext cx="8346830" cy="2978152"/>
            </a:xfrm>
            <a:custGeom>
              <a:rect b="b" l="l" r="r" t="t"/>
              <a:pathLst>
                <a:path extrusionOk="0" h="2978152" w="8346830">
                  <a:moveTo>
                    <a:pt x="0" y="0"/>
                  </a:moveTo>
                  <a:lnTo>
                    <a:pt x="8346830" y="0"/>
                  </a:lnTo>
                  <a:lnTo>
                    <a:pt x="8346830" y="2978152"/>
                  </a:lnTo>
                  <a:lnTo>
                    <a:pt x="0" y="2978152"/>
                  </a:lnTo>
                  <a:close/>
                </a:path>
              </a:pathLst>
            </a:custGeom>
            <a:solidFill>
              <a:srgbClr val="000000">
                <a:alpha val="0"/>
              </a:srgbClr>
            </a:solidFill>
            <a:ln>
              <a:noFill/>
            </a:ln>
          </p:spPr>
        </p:sp>
        <p:sp>
          <p:nvSpPr>
            <p:cNvPr id="720" name="Google Shape;720;p45"/>
            <p:cNvSpPr txBox="1"/>
            <p:nvPr/>
          </p:nvSpPr>
          <p:spPr>
            <a:xfrm>
              <a:off x="0" y="830667"/>
              <a:ext cx="8346900" cy="3054300"/>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Esta interfaz contiene el método “run”, el cual es ejecutado como hilo dentro por el método “start” de un objeto de la clase “Thread”.</a:t>
              </a:r>
              <a:endParaRPr/>
            </a:p>
          </p:txBody>
        </p:sp>
      </p:grpSp>
      <p:sp>
        <p:nvSpPr>
          <p:cNvPr descr="Rupia" id="721" name="Google Shape;721;p45"/>
          <p:cNvSpPr/>
          <p:nvPr/>
        </p:nvSpPr>
        <p:spPr>
          <a:xfrm>
            <a:off x="10471993" y="1882268"/>
            <a:ext cx="7429500" cy="7429500"/>
          </a:xfrm>
          <a:custGeom>
            <a:rect b="b" l="l" r="r" t="t"/>
            <a:pathLst>
              <a:path extrusionOk="0" h="7429500" w="7429500">
                <a:moveTo>
                  <a:pt x="0" y="0"/>
                </a:moveTo>
                <a:lnTo>
                  <a:pt x="7429500" y="0"/>
                </a:lnTo>
                <a:lnTo>
                  <a:pt x="7429500" y="7429500"/>
                </a:lnTo>
                <a:lnTo>
                  <a:pt x="0" y="74295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46"/>
          <p:cNvSpPr/>
          <p:nvPr/>
        </p:nvSpPr>
        <p:spPr>
          <a:xfrm rot="-60000">
            <a:off x="-86273" y="-162535"/>
            <a:ext cx="18890415" cy="10849106"/>
          </a:xfrm>
          <a:custGeom>
            <a:rect b="b" l="l" r="r" t="t"/>
            <a:pathLst>
              <a:path extrusionOk="0" h="14139545" w="24619713">
                <a:moveTo>
                  <a:pt x="239395" y="0"/>
                </a:moveTo>
                <a:lnTo>
                  <a:pt x="24619713" y="425577"/>
                </a:lnTo>
                <a:lnTo>
                  <a:pt x="24380318" y="14139545"/>
                </a:lnTo>
                <a:lnTo>
                  <a:pt x="0" y="13713968"/>
                </a:lnTo>
                <a:close/>
              </a:path>
            </a:pathLst>
          </a:custGeom>
          <a:gradFill>
            <a:gsLst>
              <a:gs pos="0">
                <a:srgbClr val="E3E8E2"/>
              </a:gs>
              <a:gs pos="32000">
                <a:srgbClr val="E3E8E2"/>
              </a:gs>
              <a:gs pos="100000">
                <a:srgbClr val="DE6BEF"/>
              </a:gs>
            </a:gsLst>
            <a:lin ang="14460000" scaled="0"/>
          </a:gradFill>
          <a:ln>
            <a:noFill/>
          </a:ln>
        </p:spPr>
      </p:sp>
      <p:grpSp>
        <p:nvGrpSpPr>
          <p:cNvPr id="727" name="Google Shape;727;p46"/>
          <p:cNvGrpSpPr/>
          <p:nvPr/>
        </p:nvGrpSpPr>
        <p:grpSpPr>
          <a:xfrm>
            <a:off x="1028700" y="1715297"/>
            <a:ext cx="6458838" cy="6516368"/>
            <a:chOff x="0" y="0"/>
            <a:chExt cx="8611784" cy="8688491"/>
          </a:xfrm>
        </p:grpSpPr>
        <p:sp>
          <p:nvSpPr>
            <p:cNvPr id="728" name="Google Shape;728;p46"/>
            <p:cNvSpPr/>
            <p:nvPr/>
          </p:nvSpPr>
          <p:spPr>
            <a:xfrm>
              <a:off x="0" y="0"/>
              <a:ext cx="8611784" cy="8688491"/>
            </a:xfrm>
            <a:custGeom>
              <a:rect b="b" l="l" r="r" t="t"/>
              <a:pathLst>
                <a:path extrusionOk="0" h="8688491" w="8611784">
                  <a:moveTo>
                    <a:pt x="0" y="0"/>
                  </a:moveTo>
                  <a:lnTo>
                    <a:pt x="8611784" y="0"/>
                  </a:lnTo>
                  <a:lnTo>
                    <a:pt x="8611784" y="8688491"/>
                  </a:lnTo>
                  <a:lnTo>
                    <a:pt x="0" y="86884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729" name="Google Shape;729;p46"/>
            <p:cNvSpPr txBox="1"/>
            <p:nvPr/>
          </p:nvSpPr>
          <p:spPr>
            <a:xfrm>
              <a:off x="0" y="28575"/>
              <a:ext cx="8611784" cy="8659916"/>
            </a:xfrm>
            <a:prstGeom prst="rect">
              <a:avLst/>
            </a:prstGeom>
            <a:noFill/>
            <a:ln>
              <a:noFill/>
            </a:ln>
          </p:spPr>
          <p:txBody>
            <a:bodyPr anchorCtr="0" anchor="ctr" bIns="0" lIns="0" spcFirstLastPara="1" rIns="0" wrap="square" tIns="0">
              <a:noAutofit/>
            </a:bodyPr>
            <a:lstStyle/>
            <a:p>
              <a:pPr indent="0" lvl="0" marL="0" marR="0" rtl="0" algn="l">
                <a:lnSpc>
                  <a:spcPct val="115001"/>
                </a:lnSpc>
                <a:spcBef>
                  <a:spcPts val="0"/>
                </a:spcBef>
                <a:spcAft>
                  <a:spcPts val="0"/>
                </a:spcAft>
                <a:buNone/>
              </a:pPr>
              <a:r>
                <a:rPr b="0" i="0" lang="en-US" sz="9999" u="none" cap="none" strike="noStrike">
                  <a:solidFill>
                    <a:srgbClr val="131416"/>
                  </a:solidFill>
                  <a:latin typeface="Play"/>
                  <a:ea typeface="Play"/>
                  <a:cs typeface="Play"/>
                  <a:sym typeface="Play"/>
                </a:rPr>
                <a:t>Pasos para la creación de un hilo con Runnable</a:t>
              </a:r>
              <a:endParaRPr/>
            </a:p>
          </p:txBody>
        </p:sp>
      </p:grpSp>
      <p:grpSp>
        <p:nvGrpSpPr>
          <p:cNvPr id="730" name="Google Shape;730;p46"/>
          <p:cNvGrpSpPr/>
          <p:nvPr/>
        </p:nvGrpSpPr>
        <p:grpSpPr>
          <a:xfrm>
            <a:off x="9144000" y="1708448"/>
            <a:ext cx="7429500" cy="19050"/>
            <a:chOff x="12700" y="0"/>
            <a:chExt cx="9906000" cy="25400"/>
          </a:xfrm>
        </p:grpSpPr>
        <p:sp>
          <p:nvSpPr>
            <p:cNvPr id="731" name="Google Shape;731;p46"/>
            <p:cNvSpPr/>
            <p:nvPr/>
          </p:nvSpPr>
          <p:spPr>
            <a:xfrm>
              <a:off x="12700" y="12700"/>
              <a:ext cx="9906000" cy="0"/>
            </a:xfrm>
            <a:custGeom>
              <a:rect b="b" l="l" r="r" t="t"/>
              <a:pathLst>
                <a:path extrusionOk="0" h="120000" w="9906000">
                  <a:moveTo>
                    <a:pt x="0" y="0"/>
                  </a:moveTo>
                  <a:lnTo>
                    <a:pt x="9906000" y="0"/>
                  </a:lnTo>
                </a:path>
              </a:pathLst>
            </a:custGeom>
            <a:solidFill>
              <a:srgbClr val="7F29E7"/>
            </a:solidFill>
            <a:ln>
              <a:noFill/>
            </a:ln>
          </p:spPr>
        </p:sp>
        <p:sp>
          <p:nvSpPr>
            <p:cNvPr id="732" name="Google Shape;732;p46"/>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7F29E7"/>
            </a:solidFill>
            <a:ln>
              <a:noFill/>
            </a:ln>
          </p:spPr>
        </p:sp>
      </p:grpSp>
      <p:grpSp>
        <p:nvGrpSpPr>
          <p:cNvPr id="733" name="Google Shape;733;p46"/>
          <p:cNvGrpSpPr/>
          <p:nvPr/>
        </p:nvGrpSpPr>
        <p:grpSpPr>
          <a:xfrm>
            <a:off x="9139238" y="1713210"/>
            <a:ext cx="7439025" cy="1193832"/>
            <a:chOff x="0" y="0"/>
            <a:chExt cx="9918700" cy="1591776"/>
          </a:xfrm>
        </p:grpSpPr>
        <p:sp>
          <p:nvSpPr>
            <p:cNvPr id="734" name="Google Shape;734;p46"/>
            <p:cNvSpPr/>
            <p:nvPr/>
          </p:nvSpPr>
          <p:spPr>
            <a:xfrm>
              <a:off x="0" y="0"/>
              <a:ext cx="9918700" cy="1591776"/>
            </a:xfrm>
            <a:custGeom>
              <a:rect b="b" l="l" r="r" t="t"/>
              <a:pathLst>
                <a:path extrusionOk="0" h="1591776" w="9918700">
                  <a:moveTo>
                    <a:pt x="0" y="0"/>
                  </a:moveTo>
                  <a:lnTo>
                    <a:pt x="9918700" y="0"/>
                  </a:lnTo>
                  <a:lnTo>
                    <a:pt x="9918700" y="1591776"/>
                  </a:lnTo>
                  <a:lnTo>
                    <a:pt x="0" y="1591776"/>
                  </a:lnTo>
                  <a:close/>
                </a:path>
              </a:pathLst>
            </a:custGeom>
            <a:solidFill>
              <a:srgbClr val="000000">
                <a:alpha val="0"/>
              </a:srgbClr>
            </a:solidFill>
            <a:ln>
              <a:noFill/>
            </a:ln>
          </p:spPr>
        </p:sp>
        <p:sp>
          <p:nvSpPr>
            <p:cNvPr id="735" name="Google Shape;735;p46"/>
            <p:cNvSpPr txBox="1"/>
            <p:nvPr/>
          </p:nvSpPr>
          <p:spPr>
            <a:xfrm>
              <a:off x="0" y="9525"/>
              <a:ext cx="9918700" cy="1582251"/>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2250" u="none" cap="none" strike="noStrike">
                  <a:solidFill>
                    <a:srgbClr val="000000"/>
                  </a:solidFill>
                  <a:latin typeface="Arimo"/>
                  <a:ea typeface="Arimo"/>
                  <a:cs typeface="Arimo"/>
                  <a:sym typeface="Arimo"/>
                </a:rPr>
                <a:t>Crear una clase</a:t>
              </a:r>
              <a:endParaRPr/>
            </a:p>
          </p:txBody>
        </p:sp>
      </p:grpSp>
      <p:grpSp>
        <p:nvGrpSpPr>
          <p:cNvPr id="736" name="Google Shape;736;p46"/>
          <p:cNvGrpSpPr/>
          <p:nvPr/>
        </p:nvGrpSpPr>
        <p:grpSpPr>
          <a:xfrm>
            <a:off x="9144000" y="2892756"/>
            <a:ext cx="7429500" cy="19050"/>
            <a:chOff x="12700" y="0"/>
            <a:chExt cx="9906000" cy="25400"/>
          </a:xfrm>
        </p:grpSpPr>
        <p:sp>
          <p:nvSpPr>
            <p:cNvPr id="737" name="Google Shape;737;p46"/>
            <p:cNvSpPr/>
            <p:nvPr/>
          </p:nvSpPr>
          <p:spPr>
            <a:xfrm>
              <a:off x="12700" y="12700"/>
              <a:ext cx="9906000" cy="0"/>
            </a:xfrm>
            <a:custGeom>
              <a:rect b="b" l="l" r="r" t="t"/>
              <a:pathLst>
                <a:path extrusionOk="0" h="120000" w="9906000">
                  <a:moveTo>
                    <a:pt x="0" y="0"/>
                  </a:moveTo>
                  <a:lnTo>
                    <a:pt x="9906000" y="0"/>
                  </a:lnTo>
                </a:path>
              </a:pathLst>
            </a:custGeom>
            <a:solidFill>
              <a:srgbClr val="E729B1"/>
            </a:solidFill>
            <a:ln>
              <a:noFill/>
            </a:ln>
          </p:spPr>
        </p:sp>
        <p:sp>
          <p:nvSpPr>
            <p:cNvPr id="738" name="Google Shape;738;p46"/>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E729B1"/>
            </a:solidFill>
            <a:ln>
              <a:noFill/>
            </a:ln>
          </p:spPr>
        </p:sp>
      </p:grpSp>
      <p:grpSp>
        <p:nvGrpSpPr>
          <p:cNvPr id="739" name="Google Shape;739;p46"/>
          <p:cNvGrpSpPr/>
          <p:nvPr/>
        </p:nvGrpSpPr>
        <p:grpSpPr>
          <a:xfrm>
            <a:off x="9139238" y="2897518"/>
            <a:ext cx="7439025" cy="1193832"/>
            <a:chOff x="0" y="0"/>
            <a:chExt cx="9918700" cy="1591776"/>
          </a:xfrm>
        </p:grpSpPr>
        <p:sp>
          <p:nvSpPr>
            <p:cNvPr id="740" name="Google Shape;740;p46"/>
            <p:cNvSpPr/>
            <p:nvPr/>
          </p:nvSpPr>
          <p:spPr>
            <a:xfrm>
              <a:off x="0" y="0"/>
              <a:ext cx="9918700" cy="1591776"/>
            </a:xfrm>
            <a:custGeom>
              <a:rect b="b" l="l" r="r" t="t"/>
              <a:pathLst>
                <a:path extrusionOk="0" h="1591776" w="9918700">
                  <a:moveTo>
                    <a:pt x="0" y="0"/>
                  </a:moveTo>
                  <a:lnTo>
                    <a:pt x="9918700" y="0"/>
                  </a:lnTo>
                  <a:lnTo>
                    <a:pt x="9918700" y="1591776"/>
                  </a:lnTo>
                  <a:lnTo>
                    <a:pt x="0" y="1591776"/>
                  </a:lnTo>
                  <a:close/>
                </a:path>
              </a:pathLst>
            </a:custGeom>
            <a:solidFill>
              <a:srgbClr val="000000">
                <a:alpha val="0"/>
              </a:srgbClr>
            </a:solidFill>
            <a:ln>
              <a:noFill/>
            </a:ln>
          </p:spPr>
        </p:sp>
        <p:sp>
          <p:nvSpPr>
            <p:cNvPr id="741" name="Google Shape;741;p46"/>
            <p:cNvSpPr txBox="1"/>
            <p:nvPr/>
          </p:nvSpPr>
          <p:spPr>
            <a:xfrm>
              <a:off x="0" y="9525"/>
              <a:ext cx="9918700" cy="1582251"/>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2250" u="none" cap="none" strike="noStrike">
                  <a:solidFill>
                    <a:srgbClr val="000000"/>
                  </a:solidFill>
                  <a:latin typeface="Arimo"/>
                  <a:ea typeface="Arimo"/>
                  <a:cs typeface="Arimo"/>
                  <a:sym typeface="Arimo"/>
                </a:rPr>
                <a:t>Implementar la interfaz “Runnable”</a:t>
              </a:r>
              <a:endParaRPr/>
            </a:p>
          </p:txBody>
        </p:sp>
      </p:grpSp>
      <p:grpSp>
        <p:nvGrpSpPr>
          <p:cNvPr id="742" name="Google Shape;742;p46"/>
          <p:cNvGrpSpPr/>
          <p:nvPr/>
        </p:nvGrpSpPr>
        <p:grpSpPr>
          <a:xfrm>
            <a:off x="9144000" y="4077063"/>
            <a:ext cx="7429500" cy="19050"/>
            <a:chOff x="12700" y="0"/>
            <a:chExt cx="9906000" cy="25400"/>
          </a:xfrm>
        </p:grpSpPr>
        <p:sp>
          <p:nvSpPr>
            <p:cNvPr id="743" name="Google Shape;743;p46"/>
            <p:cNvSpPr/>
            <p:nvPr/>
          </p:nvSpPr>
          <p:spPr>
            <a:xfrm>
              <a:off x="12700" y="12700"/>
              <a:ext cx="9906000" cy="0"/>
            </a:xfrm>
            <a:custGeom>
              <a:rect b="b" l="l" r="r" t="t"/>
              <a:pathLst>
                <a:path extrusionOk="0" h="120000" w="9906000">
                  <a:moveTo>
                    <a:pt x="0" y="0"/>
                  </a:moveTo>
                  <a:lnTo>
                    <a:pt x="9906000" y="0"/>
                  </a:lnTo>
                </a:path>
              </a:pathLst>
            </a:custGeom>
            <a:solidFill>
              <a:srgbClr val="17BE15"/>
            </a:solidFill>
            <a:ln>
              <a:noFill/>
            </a:ln>
          </p:spPr>
        </p:sp>
        <p:sp>
          <p:nvSpPr>
            <p:cNvPr id="744" name="Google Shape;744;p46"/>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17BE15"/>
            </a:solidFill>
            <a:ln>
              <a:noFill/>
            </a:ln>
          </p:spPr>
        </p:sp>
      </p:grpSp>
      <p:grpSp>
        <p:nvGrpSpPr>
          <p:cNvPr id="745" name="Google Shape;745;p46"/>
          <p:cNvGrpSpPr/>
          <p:nvPr/>
        </p:nvGrpSpPr>
        <p:grpSpPr>
          <a:xfrm>
            <a:off x="9139238" y="4081825"/>
            <a:ext cx="7439025" cy="1193832"/>
            <a:chOff x="0" y="0"/>
            <a:chExt cx="9918700" cy="1591776"/>
          </a:xfrm>
        </p:grpSpPr>
        <p:sp>
          <p:nvSpPr>
            <p:cNvPr id="746" name="Google Shape;746;p46"/>
            <p:cNvSpPr/>
            <p:nvPr/>
          </p:nvSpPr>
          <p:spPr>
            <a:xfrm>
              <a:off x="0" y="0"/>
              <a:ext cx="9918700" cy="1591776"/>
            </a:xfrm>
            <a:custGeom>
              <a:rect b="b" l="l" r="r" t="t"/>
              <a:pathLst>
                <a:path extrusionOk="0" h="1591776" w="9918700">
                  <a:moveTo>
                    <a:pt x="0" y="0"/>
                  </a:moveTo>
                  <a:lnTo>
                    <a:pt x="9918700" y="0"/>
                  </a:lnTo>
                  <a:lnTo>
                    <a:pt x="9918700" y="1591776"/>
                  </a:lnTo>
                  <a:lnTo>
                    <a:pt x="0" y="1591776"/>
                  </a:lnTo>
                  <a:close/>
                </a:path>
              </a:pathLst>
            </a:custGeom>
            <a:solidFill>
              <a:srgbClr val="000000">
                <a:alpha val="0"/>
              </a:srgbClr>
            </a:solidFill>
            <a:ln>
              <a:noFill/>
            </a:ln>
          </p:spPr>
        </p:sp>
        <p:sp>
          <p:nvSpPr>
            <p:cNvPr id="747" name="Google Shape;747;p46"/>
            <p:cNvSpPr txBox="1"/>
            <p:nvPr/>
          </p:nvSpPr>
          <p:spPr>
            <a:xfrm>
              <a:off x="0" y="9525"/>
              <a:ext cx="9918700" cy="1582251"/>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2250" u="none" cap="none" strike="noStrike">
                  <a:solidFill>
                    <a:srgbClr val="000000"/>
                  </a:solidFill>
                  <a:latin typeface="Arimo"/>
                  <a:ea typeface="Arimo"/>
                  <a:cs typeface="Arimo"/>
                  <a:sym typeface="Arimo"/>
                </a:rPr>
                <a:t>Sobreescribir el método “run”</a:t>
              </a:r>
              <a:endParaRPr/>
            </a:p>
          </p:txBody>
        </p:sp>
      </p:grpSp>
      <p:grpSp>
        <p:nvGrpSpPr>
          <p:cNvPr id="748" name="Google Shape;748;p46"/>
          <p:cNvGrpSpPr/>
          <p:nvPr/>
        </p:nvGrpSpPr>
        <p:grpSpPr>
          <a:xfrm>
            <a:off x="9144000" y="5261372"/>
            <a:ext cx="7429500" cy="19050"/>
            <a:chOff x="12700" y="0"/>
            <a:chExt cx="9906000" cy="25400"/>
          </a:xfrm>
        </p:grpSpPr>
        <p:sp>
          <p:nvSpPr>
            <p:cNvPr id="749" name="Google Shape;749;p46"/>
            <p:cNvSpPr/>
            <p:nvPr/>
          </p:nvSpPr>
          <p:spPr>
            <a:xfrm>
              <a:off x="12700" y="12700"/>
              <a:ext cx="9906000" cy="0"/>
            </a:xfrm>
            <a:custGeom>
              <a:rect b="b" l="l" r="r" t="t"/>
              <a:pathLst>
                <a:path extrusionOk="0" h="120000" w="9906000">
                  <a:moveTo>
                    <a:pt x="0" y="0"/>
                  </a:moveTo>
                  <a:lnTo>
                    <a:pt x="9906000" y="0"/>
                  </a:lnTo>
                </a:path>
              </a:pathLst>
            </a:custGeom>
            <a:solidFill>
              <a:srgbClr val="21BB5F"/>
            </a:solidFill>
            <a:ln>
              <a:noFill/>
            </a:ln>
          </p:spPr>
        </p:sp>
        <p:sp>
          <p:nvSpPr>
            <p:cNvPr id="750" name="Google Shape;750;p46"/>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21BB5F"/>
            </a:solidFill>
            <a:ln>
              <a:noFill/>
            </a:ln>
          </p:spPr>
        </p:sp>
      </p:grpSp>
      <p:grpSp>
        <p:nvGrpSpPr>
          <p:cNvPr id="751" name="Google Shape;751;p46"/>
          <p:cNvGrpSpPr/>
          <p:nvPr/>
        </p:nvGrpSpPr>
        <p:grpSpPr>
          <a:xfrm>
            <a:off x="9139238" y="5266134"/>
            <a:ext cx="7439025" cy="1193832"/>
            <a:chOff x="0" y="0"/>
            <a:chExt cx="9918700" cy="1591776"/>
          </a:xfrm>
        </p:grpSpPr>
        <p:sp>
          <p:nvSpPr>
            <p:cNvPr id="752" name="Google Shape;752;p46"/>
            <p:cNvSpPr/>
            <p:nvPr/>
          </p:nvSpPr>
          <p:spPr>
            <a:xfrm>
              <a:off x="0" y="0"/>
              <a:ext cx="9918700" cy="1591776"/>
            </a:xfrm>
            <a:custGeom>
              <a:rect b="b" l="l" r="r" t="t"/>
              <a:pathLst>
                <a:path extrusionOk="0" h="1591776" w="9918700">
                  <a:moveTo>
                    <a:pt x="0" y="0"/>
                  </a:moveTo>
                  <a:lnTo>
                    <a:pt x="9918700" y="0"/>
                  </a:lnTo>
                  <a:lnTo>
                    <a:pt x="9918700" y="1591776"/>
                  </a:lnTo>
                  <a:lnTo>
                    <a:pt x="0" y="1591776"/>
                  </a:lnTo>
                  <a:close/>
                </a:path>
              </a:pathLst>
            </a:custGeom>
            <a:solidFill>
              <a:srgbClr val="000000">
                <a:alpha val="0"/>
              </a:srgbClr>
            </a:solidFill>
            <a:ln>
              <a:noFill/>
            </a:ln>
          </p:spPr>
        </p:sp>
        <p:sp>
          <p:nvSpPr>
            <p:cNvPr id="753" name="Google Shape;753;p46"/>
            <p:cNvSpPr txBox="1"/>
            <p:nvPr/>
          </p:nvSpPr>
          <p:spPr>
            <a:xfrm>
              <a:off x="0" y="9525"/>
              <a:ext cx="9918700" cy="1582251"/>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2250" u="none" cap="none" strike="noStrike">
                  <a:solidFill>
                    <a:srgbClr val="000000"/>
                  </a:solidFill>
                  <a:latin typeface="Arimo"/>
                  <a:ea typeface="Arimo"/>
                  <a:cs typeface="Arimo"/>
                  <a:sym typeface="Arimo"/>
                </a:rPr>
                <a:t>Instanciar la clase</a:t>
              </a:r>
              <a:endParaRPr/>
            </a:p>
          </p:txBody>
        </p:sp>
      </p:grpSp>
      <p:grpSp>
        <p:nvGrpSpPr>
          <p:cNvPr id="754" name="Google Shape;754;p46"/>
          <p:cNvGrpSpPr/>
          <p:nvPr/>
        </p:nvGrpSpPr>
        <p:grpSpPr>
          <a:xfrm>
            <a:off x="9144000" y="6445680"/>
            <a:ext cx="7429500" cy="19050"/>
            <a:chOff x="12700" y="0"/>
            <a:chExt cx="9906000" cy="25400"/>
          </a:xfrm>
        </p:grpSpPr>
        <p:sp>
          <p:nvSpPr>
            <p:cNvPr id="755" name="Google Shape;755;p46"/>
            <p:cNvSpPr/>
            <p:nvPr/>
          </p:nvSpPr>
          <p:spPr>
            <a:xfrm>
              <a:off x="12700" y="12700"/>
              <a:ext cx="9906000" cy="0"/>
            </a:xfrm>
            <a:custGeom>
              <a:rect b="b" l="l" r="r" t="t"/>
              <a:pathLst>
                <a:path extrusionOk="0" h="120000" w="9906000">
                  <a:moveTo>
                    <a:pt x="0" y="0"/>
                  </a:moveTo>
                  <a:lnTo>
                    <a:pt x="9906000" y="0"/>
                  </a:lnTo>
                </a:path>
              </a:pathLst>
            </a:custGeom>
            <a:solidFill>
              <a:srgbClr val="14B89B"/>
            </a:solidFill>
            <a:ln>
              <a:noFill/>
            </a:ln>
          </p:spPr>
        </p:sp>
        <p:sp>
          <p:nvSpPr>
            <p:cNvPr id="756" name="Google Shape;756;p46"/>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14B89B"/>
            </a:solidFill>
            <a:ln>
              <a:noFill/>
            </a:ln>
          </p:spPr>
        </p:sp>
      </p:grpSp>
      <p:grpSp>
        <p:nvGrpSpPr>
          <p:cNvPr id="757" name="Google Shape;757;p46"/>
          <p:cNvGrpSpPr/>
          <p:nvPr/>
        </p:nvGrpSpPr>
        <p:grpSpPr>
          <a:xfrm>
            <a:off x="9139238" y="6450442"/>
            <a:ext cx="7439025" cy="1193832"/>
            <a:chOff x="0" y="0"/>
            <a:chExt cx="9918700" cy="1591776"/>
          </a:xfrm>
        </p:grpSpPr>
        <p:sp>
          <p:nvSpPr>
            <p:cNvPr id="758" name="Google Shape;758;p46"/>
            <p:cNvSpPr/>
            <p:nvPr/>
          </p:nvSpPr>
          <p:spPr>
            <a:xfrm>
              <a:off x="0" y="0"/>
              <a:ext cx="9918700" cy="1591776"/>
            </a:xfrm>
            <a:custGeom>
              <a:rect b="b" l="l" r="r" t="t"/>
              <a:pathLst>
                <a:path extrusionOk="0" h="1591776" w="9918700">
                  <a:moveTo>
                    <a:pt x="0" y="0"/>
                  </a:moveTo>
                  <a:lnTo>
                    <a:pt x="9918700" y="0"/>
                  </a:lnTo>
                  <a:lnTo>
                    <a:pt x="9918700" y="1591776"/>
                  </a:lnTo>
                  <a:lnTo>
                    <a:pt x="0" y="1591776"/>
                  </a:lnTo>
                  <a:close/>
                </a:path>
              </a:pathLst>
            </a:custGeom>
            <a:solidFill>
              <a:srgbClr val="000000">
                <a:alpha val="0"/>
              </a:srgbClr>
            </a:solidFill>
            <a:ln>
              <a:noFill/>
            </a:ln>
          </p:spPr>
        </p:sp>
        <p:sp>
          <p:nvSpPr>
            <p:cNvPr id="759" name="Google Shape;759;p46"/>
            <p:cNvSpPr txBox="1"/>
            <p:nvPr/>
          </p:nvSpPr>
          <p:spPr>
            <a:xfrm>
              <a:off x="0" y="9525"/>
              <a:ext cx="9918700" cy="1582251"/>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2250" u="none" cap="none" strike="noStrike">
                  <a:solidFill>
                    <a:srgbClr val="000000"/>
                  </a:solidFill>
                  <a:latin typeface="Arimo"/>
                  <a:ea typeface="Arimo"/>
                  <a:cs typeface="Arimo"/>
                  <a:sym typeface="Arimo"/>
                </a:rPr>
                <a:t>Crear un nuevo objeto “Thread”, y pasar como parámetro al constructor, la instancia de la clase que implementa “Runnable”</a:t>
              </a:r>
              <a:endParaRPr/>
            </a:p>
          </p:txBody>
        </p:sp>
      </p:grpSp>
      <p:grpSp>
        <p:nvGrpSpPr>
          <p:cNvPr id="760" name="Google Shape;760;p46"/>
          <p:cNvGrpSpPr/>
          <p:nvPr/>
        </p:nvGrpSpPr>
        <p:grpSpPr>
          <a:xfrm>
            <a:off x="9144000" y="7629987"/>
            <a:ext cx="7429500" cy="19050"/>
            <a:chOff x="12700" y="0"/>
            <a:chExt cx="9906000" cy="25400"/>
          </a:xfrm>
        </p:grpSpPr>
        <p:sp>
          <p:nvSpPr>
            <p:cNvPr id="761" name="Google Shape;761;p46"/>
            <p:cNvSpPr/>
            <p:nvPr/>
          </p:nvSpPr>
          <p:spPr>
            <a:xfrm>
              <a:off x="12700" y="12700"/>
              <a:ext cx="9906000" cy="0"/>
            </a:xfrm>
            <a:custGeom>
              <a:rect b="b" l="l" r="r" t="t"/>
              <a:pathLst>
                <a:path extrusionOk="0" h="120000" w="9906000">
                  <a:moveTo>
                    <a:pt x="0" y="0"/>
                  </a:moveTo>
                  <a:lnTo>
                    <a:pt x="9906000" y="0"/>
                  </a:lnTo>
                </a:path>
              </a:pathLst>
            </a:custGeom>
            <a:solidFill>
              <a:srgbClr val="7F29E7"/>
            </a:solidFill>
            <a:ln>
              <a:noFill/>
            </a:ln>
          </p:spPr>
        </p:sp>
        <p:sp>
          <p:nvSpPr>
            <p:cNvPr id="762" name="Google Shape;762;p46"/>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7F29E7"/>
            </a:solidFill>
            <a:ln>
              <a:noFill/>
            </a:ln>
          </p:spPr>
        </p:sp>
      </p:grpSp>
      <p:grpSp>
        <p:nvGrpSpPr>
          <p:cNvPr id="763" name="Google Shape;763;p46"/>
          <p:cNvGrpSpPr/>
          <p:nvPr/>
        </p:nvGrpSpPr>
        <p:grpSpPr>
          <a:xfrm>
            <a:off x="9139238" y="7634750"/>
            <a:ext cx="7439025" cy="1193832"/>
            <a:chOff x="0" y="0"/>
            <a:chExt cx="9918700" cy="1591776"/>
          </a:xfrm>
        </p:grpSpPr>
        <p:sp>
          <p:nvSpPr>
            <p:cNvPr id="764" name="Google Shape;764;p46"/>
            <p:cNvSpPr/>
            <p:nvPr/>
          </p:nvSpPr>
          <p:spPr>
            <a:xfrm>
              <a:off x="0" y="0"/>
              <a:ext cx="9918700" cy="1591776"/>
            </a:xfrm>
            <a:custGeom>
              <a:rect b="b" l="l" r="r" t="t"/>
              <a:pathLst>
                <a:path extrusionOk="0" h="1591776" w="9918700">
                  <a:moveTo>
                    <a:pt x="0" y="0"/>
                  </a:moveTo>
                  <a:lnTo>
                    <a:pt x="9918700" y="0"/>
                  </a:lnTo>
                  <a:lnTo>
                    <a:pt x="9918700" y="1591776"/>
                  </a:lnTo>
                  <a:lnTo>
                    <a:pt x="0" y="1591776"/>
                  </a:lnTo>
                  <a:close/>
                </a:path>
              </a:pathLst>
            </a:custGeom>
            <a:solidFill>
              <a:srgbClr val="000000">
                <a:alpha val="0"/>
              </a:srgbClr>
            </a:solidFill>
            <a:ln>
              <a:noFill/>
            </a:ln>
          </p:spPr>
        </p:sp>
        <p:sp>
          <p:nvSpPr>
            <p:cNvPr id="765" name="Google Shape;765;p46"/>
            <p:cNvSpPr txBox="1"/>
            <p:nvPr/>
          </p:nvSpPr>
          <p:spPr>
            <a:xfrm>
              <a:off x="0" y="9525"/>
              <a:ext cx="9918700" cy="1582251"/>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2250" u="none" cap="none" strike="noStrike">
                  <a:solidFill>
                    <a:srgbClr val="000000"/>
                  </a:solidFill>
                  <a:latin typeface="Arimo"/>
                  <a:ea typeface="Arimo"/>
                  <a:cs typeface="Arimo"/>
                  <a:sym typeface="Arimo"/>
                </a:rPr>
                <a:t>Llamar al método “start” de la instancia de “Thread”</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descr="Multithreading in Java with Examples | by Serxan Hamzayev | JavaToDev |  Medium" id="770" name="Google Shape;770;p47"/>
          <p:cNvSpPr/>
          <p:nvPr/>
        </p:nvSpPr>
        <p:spPr>
          <a:xfrm>
            <a:off x="733227" y="733928"/>
            <a:ext cx="8109327" cy="6757772"/>
          </a:xfrm>
          <a:custGeom>
            <a:rect b="b" l="l" r="r" t="t"/>
            <a:pathLst>
              <a:path extrusionOk="0" h="6757772" w="8109327">
                <a:moveTo>
                  <a:pt x="0" y="0"/>
                </a:moveTo>
                <a:lnTo>
                  <a:pt x="8109327" y="0"/>
                </a:lnTo>
                <a:lnTo>
                  <a:pt x="8109327" y="6757771"/>
                </a:lnTo>
                <a:lnTo>
                  <a:pt x="0" y="6757771"/>
                </a:lnTo>
                <a:lnTo>
                  <a:pt x="0" y="0"/>
                </a:lnTo>
                <a:close/>
              </a:path>
            </a:pathLst>
          </a:custGeom>
          <a:blipFill rotWithShape="1">
            <a:blip r:embed="rId3">
              <a:alphaModFix/>
            </a:blip>
            <a:stretch>
              <a:fillRect b="0" l="0" r="0" t="0"/>
            </a:stretch>
          </a:blipFill>
          <a:ln>
            <a:noFill/>
          </a:ln>
        </p:spPr>
      </p:sp>
      <p:grpSp>
        <p:nvGrpSpPr>
          <p:cNvPr id="771" name="Google Shape;771;p47"/>
          <p:cNvGrpSpPr/>
          <p:nvPr/>
        </p:nvGrpSpPr>
        <p:grpSpPr>
          <a:xfrm>
            <a:off x="9707056" y="1000125"/>
            <a:ext cx="7552244" cy="5445020"/>
            <a:chOff x="0" y="-38100"/>
            <a:chExt cx="10069659" cy="7260027"/>
          </a:xfrm>
        </p:grpSpPr>
        <p:sp>
          <p:nvSpPr>
            <p:cNvPr id="772" name="Google Shape;772;p47"/>
            <p:cNvSpPr/>
            <p:nvPr/>
          </p:nvSpPr>
          <p:spPr>
            <a:xfrm>
              <a:off x="0" y="0"/>
              <a:ext cx="10069659" cy="7221927"/>
            </a:xfrm>
            <a:custGeom>
              <a:rect b="b" l="l" r="r" t="t"/>
              <a:pathLst>
                <a:path extrusionOk="0" h="7221927" w="10069659">
                  <a:moveTo>
                    <a:pt x="0" y="0"/>
                  </a:moveTo>
                  <a:lnTo>
                    <a:pt x="10069659" y="0"/>
                  </a:lnTo>
                  <a:lnTo>
                    <a:pt x="10069659" y="7221927"/>
                  </a:lnTo>
                  <a:lnTo>
                    <a:pt x="0" y="7221927"/>
                  </a:lnTo>
                  <a:close/>
                </a:path>
              </a:pathLst>
            </a:custGeom>
            <a:solidFill>
              <a:srgbClr val="000000">
                <a:alpha val="0"/>
              </a:srgbClr>
            </a:solidFill>
            <a:ln>
              <a:noFill/>
            </a:ln>
          </p:spPr>
        </p:sp>
        <p:sp>
          <p:nvSpPr>
            <p:cNvPr id="773" name="Google Shape;773;p47"/>
            <p:cNvSpPr txBox="1"/>
            <p:nvPr/>
          </p:nvSpPr>
          <p:spPr>
            <a:xfrm>
              <a:off x="0" y="-38100"/>
              <a:ext cx="10069659" cy="7260026"/>
            </a:xfrm>
            <a:prstGeom prst="rect">
              <a:avLst/>
            </a:prstGeom>
            <a:noFill/>
            <a:ln>
              <a:noFill/>
            </a:ln>
          </p:spPr>
          <p:txBody>
            <a:bodyPr anchorCtr="0" anchor="t" bIns="0" lIns="0" spcFirstLastPara="1" rIns="0" wrap="square" tIns="0">
              <a:noAutofit/>
            </a:bodyPr>
            <a:lstStyle/>
            <a:p>
              <a:pPr indent="-226219" lvl="1" marL="452437" marR="0" rtl="0" algn="just">
                <a:lnSpc>
                  <a:spcPct val="132012"/>
                </a:lnSpc>
                <a:spcBef>
                  <a:spcPts val="0"/>
                </a:spcBef>
                <a:spcAft>
                  <a:spcPts val="0"/>
                </a:spcAft>
                <a:buClr>
                  <a:srgbClr val="000000"/>
                </a:buClr>
                <a:buSzPts val="2499"/>
                <a:buFont typeface="Arial"/>
                <a:buChar char="•"/>
              </a:pPr>
              <a:r>
                <a:rPr b="1" i="0" lang="en-US" sz="2499" u="none" cap="none" strike="noStrike">
                  <a:solidFill>
                    <a:srgbClr val="000000"/>
                  </a:solidFill>
                  <a:latin typeface="Arimo"/>
                  <a:ea typeface="Arimo"/>
                  <a:cs typeface="Arimo"/>
                  <a:sym typeface="Arimo"/>
                </a:rPr>
                <a:t>start(): </a:t>
              </a:r>
              <a:r>
                <a:rPr b="0" i="0" lang="en-US" sz="2499" u="none" cap="none" strike="noStrike">
                  <a:solidFill>
                    <a:srgbClr val="000000"/>
                  </a:solidFill>
                  <a:latin typeface="Arimo"/>
                  <a:ea typeface="Arimo"/>
                  <a:cs typeface="Arimo"/>
                  <a:sym typeface="Arimo"/>
                </a:rPr>
                <a:t>Indica iniciar una tarea. Se invoca con el método run().</a:t>
              </a:r>
              <a:endParaRPr/>
            </a:p>
            <a:p>
              <a:pPr indent="-226219" lvl="1" marL="452437" marR="0" rtl="0" algn="just">
                <a:lnSpc>
                  <a:spcPct val="132012"/>
                </a:lnSpc>
                <a:spcBef>
                  <a:spcPts val="0"/>
                </a:spcBef>
                <a:spcAft>
                  <a:spcPts val="0"/>
                </a:spcAft>
                <a:buClr>
                  <a:srgbClr val="000000"/>
                </a:buClr>
                <a:buSzPts val="2499"/>
                <a:buFont typeface="Arial"/>
                <a:buChar char="•"/>
              </a:pPr>
              <a:r>
                <a:rPr b="1" i="0" lang="en-US" sz="2499" u="none" cap="none" strike="noStrike">
                  <a:solidFill>
                    <a:srgbClr val="000000"/>
                  </a:solidFill>
                  <a:latin typeface="Arimo"/>
                  <a:ea typeface="Arimo"/>
                  <a:cs typeface="Arimo"/>
                  <a:sym typeface="Arimo"/>
                </a:rPr>
                <a:t>run(): </a:t>
              </a:r>
              <a:r>
                <a:rPr b="0" i="0" lang="en-US" sz="2499" u="none" cap="none" strike="noStrike">
                  <a:solidFill>
                    <a:srgbClr val="000000"/>
                  </a:solidFill>
                  <a:latin typeface="Arimo"/>
                  <a:ea typeface="Arimo"/>
                  <a:cs typeface="Arimo"/>
                  <a:sym typeface="Arimo"/>
                </a:rPr>
                <a:t>Cuerpo de una tarea o hilo de ejecución. Es un llamado por el método start().</a:t>
              </a:r>
              <a:endParaRPr/>
            </a:p>
            <a:p>
              <a:pPr indent="-226219" lvl="1" marL="452437" marR="0" rtl="0" algn="just">
                <a:lnSpc>
                  <a:spcPct val="132012"/>
                </a:lnSpc>
                <a:spcBef>
                  <a:spcPts val="0"/>
                </a:spcBef>
                <a:spcAft>
                  <a:spcPts val="0"/>
                </a:spcAft>
                <a:buClr>
                  <a:srgbClr val="000000"/>
                </a:buClr>
                <a:buSzPts val="2499"/>
                <a:buFont typeface="Arial"/>
                <a:buChar char="•"/>
              </a:pPr>
              <a:r>
                <a:rPr b="1" i="0" lang="en-US" sz="2499" u="none" cap="none" strike="noStrike">
                  <a:solidFill>
                    <a:srgbClr val="000000"/>
                  </a:solidFill>
                  <a:latin typeface="Arimo"/>
                  <a:ea typeface="Arimo"/>
                  <a:cs typeface="Arimo"/>
                  <a:sym typeface="Arimo"/>
                </a:rPr>
                <a:t>sleep(long): </a:t>
              </a:r>
              <a:r>
                <a:rPr b="0" i="0" lang="en-US" sz="2499" u="none" cap="none" strike="noStrike">
                  <a:solidFill>
                    <a:srgbClr val="000000"/>
                  </a:solidFill>
                  <a:latin typeface="Arimo"/>
                  <a:ea typeface="Arimo"/>
                  <a:cs typeface="Arimo"/>
                  <a:sym typeface="Arimo"/>
                </a:rPr>
                <a:t>Provoca que la tarea en curso entre en pausa durante un número de milisegundos indicado por “long”.</a:t>
              </a:r>
              <a:endParaRPr/>
            </a:p>
            <a:p>
              <a:pPr indent="-226219" lvl="1" marL="452437" marR="0" rtl="0" algn="just">
                <a:lnSpc>
                  <a:spcPct val="132012"/>
                </a:lnSpc>
                <a:spcBef>
                  <a:spcPts val="0"/>
                </a:spcBef>
                <a:spcAft>
                  <a:spcPts val="0"/>
                </a:spcAft>
                <a:buClr>
                  <a:srgbClr val="000000"/>
                </a:buClr>
                <a:buSzPts val="2499"/>
                <a:buFont typeface="Arial"/>
                <a:buChar char="•"/>
              </a:pPr>
              <a:r>
                <a:rPr b="1" i="0" lang="en-US" sz="2499" u="none" cap="none" strike="noStrike">
                  <a:solidFill>
                    <a:srgbClr val="000000"/>
                  </a:solidFill>
                  <a:latin typeface="Arimo"/>
                  <a:ea typeface="Arimo"/>
                  <a:cs typeface="Arimo"/>
                  <a:sym typeface="Arimo"/>
                </a:rPr>
                <a:t>stop(): </a:t>
              </a:r>
              <a:r>
                <a:rPr b="0" i="0" lang="en-US" sz="2499" u="none" cap="none" strike="noStrike">
                  <a:solidFill>
                    <a:srgbClr val="000000"/>
                  </a:solidFill>
                  <a:latin typeface="Arimo"/>
                  <a:ea typeface="Arimo"/>
                  <a:cs typeface="Arimo"/>
                  <a:sym typeface="Arimo"/>
                </a:rPr>
                <a:t>Detiene la ejecución de una tarea y la destruye.</a:t>
              </a:r>
              <a:endParaRPr/>
            </a:p>
            <a:p>
              <a:pPr indent="-226219" lvl="1" marL="452437" marR="0" rtl="0" algn="just">
                <a:lnSpc>
                  <a:spcPct val="132012"/>
                </a:lnSpc>
                <a:spcBef>
                  <a:spcPts val="0"/>
                </a:spcBef>
                <a:spcAft>
                  <a:spcPts val="0"/>
                </a:spcAft>
                <a:buClr>
                  <a:srgbClr val="000000"/>
                </a:buClr>
                <a:buSzPts val="2499"/>
                <a:buFont typeface="Arial"/>
                <a:buChar char="•"/>
              </a:pPr>
              <a:r>
                <a:rPr b="1" i="0" lang="en-US" sz="2499" u="none" cap="none" strike="noStrike">
                  <a:solidFill>
                    <a:srgbClr val="000000"/>
                  </a:solidFill>
                  <a:latin typeface="Arimo"/>
                  <a:ea typeface="Arimo"/>
                  <a:cs typeface="Arimo"/>
                  <a:sym typeface="Arimo"/>
                </a:rPr>
                <a:t>suspend(): </a:t>
              </a:r>
              <a:r>
                <a:rPr b="0" i="0" lang="en-US" sz="2499" u="none" cap="none" strike="noStrike">
                  <a:solidFill>
                    <a:srgbClr val="000000"/>
                  </a:solidFill>
                  <a:latin typeface="Arimo"/>
                  <a:ea typeface="Arimo"/>
                  <a:cs typeface="Arimo"/>
                  <a:sym typeface="Arimo"/>
                </a:rPr>
                <a:t>Detiene la ejecución sin destruir la tarea del sistema ni el estado de la tarea.</a:t>
              </a:r>
              <a:endParaRPr/>
            </a:p>
            <a:p>
              <a:pPr indent="-226219" lvl="1" marL="452437" marR="0" rtl="0" algn="just">
                <a:lnSpc>
                  <a:spcPct val="132012"/>
                </a:lnSpc>
                <a:spcBef>
                  <a:spcPts val="0"/>
                </a:spcBef>
                <a:spcAft>
                  <a:spcPts val="0"/>
                </a:spcAft>
                <a:buClr>
                  <a:srgbClr val="000000"/>
                </a:buClr>
                <a:buSzPts val="2499"/>
                <a:buFont typeface="Arial"/>
                <a:buChar char="•"/>
              </a:pPr>
              <a:r>
                <a:rPr b="1" i="0" lang="en-US" sz="2499" u="none" cap="none" strike="noStrike">
                  <a:solidFill>
                    <a:srgbClr val="000000"/>
                  </a:solidFill>
                  <a:latin typeface="Arimo"/>
                  <a:ea typeface="Arimo"/>
                  <a:cs typeface="Arimo"/>
                  <a:sym typeface="Arimo"/>
                </a:rPr>
                <a:t>resume(): </a:t>
              </a:r>
              <a:r>
                <a:rPr b="0" i="0" lang="en-US" sz="2499" u="none" cap="none" strike="noStrike">
                  <a:solidFill>
                    <a:srgbClr val="000000"/>
                  </a:solidFill>
                  <a:latin typeface="Arimo"/>
                  <a:ea typeface="Arimo"/>
                  <a:cs typeface="Arimo"/>
                  <a:sym typeface="Arimo"/>
                </a:rPr>
                <a:t>Continua la ejecución desde donde se habia suspendido.</a:t>
              </a:r>
              <a:endParaRPr/>
            </a:p>
          </p:txBody>
        </p:sp>
      </p:grpSp>
      <p:sp>
        <p:nvSpPr>
          <p:cNvPr id="774" name="Google Shape;774;p47"/>
          <p:cNvSpPr/>
          <p:nvPr/>
        </p:nvSpPr>
        <p:spPr>
          <a:xfrm rot="-60000">
            <a:off x="-262483" y="6964352"/>
            <a:ext cx="18812725" cy="3490254"/>
          </a:xfrm>
          <a:custGeom>
            <a:rect b="b" l="l" r="r" t="t"/>
            <a:pathLst>
              <a:path extrusionOk="0" h="4653673" w="25083633">
                <a:moveTo>
                  <a:pt x="24874809" y="4653673"/>
                </a:moveTo>
                <a:lnTo>
                  <a:pt x="0" y="4505401"/>
                </a:lnTo>
                <a:lnTo>
                  <a:pt x="15245330" y="537378"/>
                </a:lnTo>
                <a:lnTo>
                  <a:pt x="15421090" y="494238"/>
                </a:lnTo>
                <a:cubicBezTo>
                  <a:pt x="16792609" y="175530"/>
                  <a:pt x="18353810" y="14349"/>
                  <a:pt x="19912028" y="1611"/>
                </a:cubicBezTo>
                <a:cubicBezTo>
                  <a:pt x="20074364" y="0"/>
                  <a:pt x="20236698" y="508"/>
                  <a:pt x="20398536" y="2460"/>
                </a:cubicBezTo>
                <a:cubicBezTo>
                  <a:pt x="21978382" y="20888"/>
                  <a:pt x="23534115" y="191410"/>
                  <a:pt x="24864369" y="504599"/>
                </a:cubicBezTo>
                <a:lnTo>
                  <a:pt x="25083633" y="561836"/>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5" name="Google Shape;775;p47"/>
          <p:cNvGrpSpPr/>
          <p:nvPr/>
        </p:nvGrpSpPr>
        <p:grpSpPr>
          <a:xfrm>
            <a:off x="7007250" y="7898066"/>
            <a:ext cx="11280825" cy="2720534"/>
            <a:chOff x="-1253689" y="0"/>
            <a:chExt cx="15041100" cy="3627379"/>
          </a:xfrm>
        </p:grpSpPr>
        <p:sp>
          <p:nvSpPr>
            <p:cNvPr id="776" name="Google Shape;776;p47"/>
            <p:cNvSpPr/>
            <p:nvPr/>
          </p:nvSpPr>
          <p:spPr>
            <a:xfrm>
              <a:off x="0" y="0"/>
              <a:ext cx="13787310" cy="3627291"/>
            </a:xfrm>
            <a:custGeom>
              <a:rect b="b" l="l" r="r" t="t"/>
              <a:pathLst>
                <a:path extrusionOk="0" h="3627291" w="13787310">
                  <a:moveTo>
                    <a:pt x="0" y="0"/>
                  </a:moveTo>
                  <a:lnTo>
                    <a:pt x="13787310" y="0"/>
                  </a:lnTo>
                  <a:lnTo>
                    <a:pt x="13787310"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777" name="Google Shape;777;p47"/>
            <p:cNvSpPr txBox="1"/>
            <p:nvPr/>
          </p:nvSpPr>
          <p:spPr>
            <a:xfrm>
              <a:off x="-1253689" y="28579"/>
              <a:ext cx="15041100" cy="3598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Métodos </a:t>
              </a:r>
              <a:r>
                <a:rPr lang="en-US" sz="10000">
                  <a:solidFill>
                    <a:srgbClr val="131416"/>
                  </a:solidFill>
                  <a:latin typeface="Play"/>
                  <a:ea typeface="Play"/>
                  <a:cs typeface="Play"/>
                  <a:sym typeface="Play"/>
                </a:rPr>
                <a:t>C</a:t>
              </a:r>
              <a:r>
                <a:rPr b="0" i="0" lang="en-US" sz="10000" u="none" cap="none" strike="noStrike">
                  <a:solidFill>
                    <a:srgbClr val="131416"/>
                  </a:solidFill>
                  <a:latin typeface="Play"/>
                  <a:ea typeface="Play"/>
                  <a:cs typeface="Play"/>
                  <a:sym typeface="Play"/>
                </a:rPr>
                <a:t>omunes</a:t>
              </a:r>
              <a:endParaRPr sz="10000"/>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48"/>
          <p:cNvSpPr/>
          <p:nvPr/>
        </p:nvSpPr>
        <p:spPr>
          <a:xfrm rot="-60000">
            <a:off x="-81011" y="-129380"/>
            <a:ext cx="19334599" cy="3305027"/>
          </a:xfrm>
          <a:custGeom>
            <a:rect b="b" l="l" r="r" t="t"/>
            <a:pathLst>
              <a:path extrusionOk="0" h="4406704" w="25779465">
                <a:moveTo>
                  <a:pt x="214869" y="0"/>
                </a:moveTo>
                <a:lnTo>
                  <a:pt x="25779465" y="140479"/>
                </a:lnTo>
                <a:lnTo>
                  <a:pt x="10111632" y="3897715"/>
                </a:lnTo>
                <a:lnTo>
                  <a:pt x="9930999" y="3938564"/>
                </a:lnTo>
                <a:cubicBezTo>
                  <a:pt x="8521447" y="4240430"/>
                  <a:pt x="6916952" y="4393051"/>
                  <a:pt x="5315524" y="4405113"/>
                </a:cubicBezTo>
                <a:cubicBezTo>
                  <a:pt x="5148688" y="4406704"/>
                  <a:pt x="4981851" y="4406196"/>
                  <a:pt x="4815525" y="4404309"/>
                </a:cubicBezTo>
                <a:cubicBezTo>
                  <a:pt x="3191870" y="4386859"/>
                  <a:pt x="1592997" y="4225393"/>
                  <a:pt x="225855" y="3928835"/>
                </a:cubicBezTo>
                <a:lnTo>
                  <a:pt x="0" y="3874637"/>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3" name="Google Shape;783;p48"/>
          <p:cNvGrpSpPr/>
          <p:nvPr/>
        </p:nvGrpSpPr>
        <p:grpSpPr>
          <a:xfrm>
            <a:off x="367058" y="42926"/>
            <a:ext cx="11836871" cy="2720468"/>
            <a:chOff x="0" y="0"/>
            <a:chExt cx="15782494" cy="3627291"/>
          </a:xfrm>
        </p:grpSpPr>
        <p:sp>
          <p:nvSpPr>
            <p:cNvPr id="784" name="Google Shape;784;p48"/>
            <p:cNvSpPr/>
            <p:nvPr/>
          </p:nvSpPr>
          <p:spPr>
            <a:xfrm>
              <a:off x="0" y="0"/>
              <a:ext cx="15782494" cy="3627291"/>
            </a:xfrm>
            <a:custGeom>
              <a:rect b="b" l="l" r="r" t="t"/>
              <a:pathLst>
                <a:path extrusionOk="0" h="3627291" w="15782494">
                  <a:moveTo>
                    <a:pt x="0" y="0"/>
                  </a:moveTo>
                  <a:lnTo>
                    <a:pt x="15782494" y="0"/>
                  </a:lnTo>
                  <a:lnTo>
                    <a:pt x="15782494"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785" name="Google Shape;785;p48"/>
            <p:cNvSpPr txBox="1"/>
            <p:nvPr/>
          </p:nvSpPr>
          <p:spPr>
            <a:xfrm>
              <a:off x="0" y="28575"/>
              <a:ext cx="15782493" cy="359871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Multi-Hilos en Java</a:t>
              </a:r>
              <a:endParaRPr sz="10000"/>
            </a:p>
          </p:txBody>
        </p:sp>
      </p:grpSp>
      <p:grpSp>
        <p:nvGrpSpPr>
          <p:cNvPr id="786" name="Google Shape;786;p48"/>
          <p:cNvGrpSpPr/>
          <p:nvPr/>
        </p:nvGrpSpPr>
        <p:grpSpPr>
          <a:xfrm>
            <a:off x="1931487" y="4733922"/>
            <a:ext cx="6260122" cy="2978349"/>
            <a:chOff x="0" y="-76200"/>
            <a:chExt cx="8346830" cy="3971133"/>
          </a:xfrm>
        </p:grpSpPr>
        <p:sp>
          <p:nvSpPr>
            <p:cNvPr id="787" name="Google Shape;787;p48"/>
            <p:cNvSpPr/>
            <p:nvPr/>
          </p:nvSpPr>
          <p:spPr>
            <a:xfrm>
              <a:off x="0" y="0"/>
              <a:ext cx="8346830" cy="3894932"/>
            </a:xfrm>
            <a:custGeom>
              <a:rect b="b" l="l" r="r" t="t"/>
              <a:pathLst>
                <a:path extrusionOk="0" h="3894932" w="8346830">
                  <a:moveTo>
                    <a:pt x="0" y="0"/>
                  </a:moveTo>
                  <a:lnTo>
                    <a:pt x="8346830" y="0"/>
                  </a:lnTo>
                  <a:lnTo>
                    <a:pt x="8346830" y="3894932"/>
                  </a:lnTo>
                  <a:lnTo>
                    <a:pt x="0" y="3894932"/>
                  </a:lnTo>
                  <a:close/>
                </a:path>
              </a:pathLst>
            </a:custGeom>
            <a:solidFill>
              <a:srgbClr val="000000">
                <a:alpha val="0"/>
              </a:srgbClr>
            </a:solidFill>
            <a:ln>
              <a:noFill/>
            </a:ln>
          </p:spPr>
        </p:sp>
        <p:sp>
          <p:nvSpPr>
            <p:cNvPr id="788" name="Google Shape;788;p48"/>
            <p:cNvSpPr txBox="1"/>
            <p:nvPr/>
          </p:nvSpPr>
          <p:spPr>
            <a:xfrm>
              <a:off x="0" y="-76200"/>
              <a:ext cx="8346830" cy="3971133"/>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Una de las características de Java es que es multi-hilo. Esto significa que provee librerías e interfaces nativas para implementar el threading en sus aplicaciones.</a:t>
              </a:r>
              <a:endParaRPr/>
            </a:p>
          </p:txBody>
        </p:sp>
      </p:grpSp>
      <p:sp>
        <p:nvSpPr>
          <p:cNvPr descr="Libros" id="789" name="Google Shape;789;p48"/>
          <p:cNvSpPr/>
          <p:nvPr/>
        </p:nvSpPr>
        <p:spPr>
          <a:xfrm>
            <a:off x="10598003" y="2047339"/>
            <a:ext cx="7429500" cy="7429500"/>
          </a:xfrm>
          <a:custGeom>
            <a:rect b="b" l="l" r="r" t="t"/>
            <a:pathLst>
              <a:path extrusionOk="0" h="7429500" w="7429500">
                <a:moveTo>
                  <a:pt x="0" y="0"/>
                </a:moveTo>
                <a:lnTo>
                  <a:pt x="7429500" y="0"/>
                </a:lnTo>
                <a:lnTo>
                  <a:pt x="7429500" y="7429500"/>
                </a:lnTo>
                <a:lnTo>
                  <a:pt x="0" y="74295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49"/>
          <p:cNvSpPr/>
          <p:nvPr/>
        </p:nvSpPr>
        <p:spPr>
          <a:xfrm rot="-60000">
            <a:off x="8740954" y="5151328"/>
            <a:ext cx="9610725" cy="5219414"/>
          </a:xfrm>
          <a:custGeom>
            <a:rect b="b" l="l" r="r" t="t"/>
            <a:pathLst>
              <a:path extrusionOk="0" h="6959219" w="12814300">
                <a:moveTo>
                  <a:pt x="12707620" y="6959219"/>
                </a:moveTo>
                <a:lnTo>
                  <a:pt x="0" y="6737477"/>
                </a:lnTo>
                <a:lnTo>
                  <a:pt x="7788275" y="803275"/>
                </a:lnTo>
                <a:lnTo>
                  <a:pt x="7878064" y="738759"/>
                </a:lnTo>
                <a:cubicBezTo>
                  <a:pt x="8578723" y="262128"/>
                  <a:pt x="9376283" y="21082"/>
                  <a:pt x="10172319" y="2032"/>
                </a:cubicBezTo>
                <a:cubicBezTo>
                  <a:pt x="10255250" y="0"/>
                  <a:pt x="10338181" y="508"/>
                  <a:pt x="10420858" y="3302"/>
                </a:cubicBezTo>
                <a:cubicBezTo>
                  <a:pt x="11227943" y="30861"/>
                  <a:pt x="12022709" y="285877"/>
                  <a:pt x="12702286" y="754253"/>
                </a:cubicBezTo>
                <a:lnTo>
                  <a:pt x="12814300" y="839851"/>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5" name="Google Shape;795;p49"/>
          <p:cNvGrpSpPr/>
          <p:nvPr/>
        </p:nvGrpSpPr>
        <p:grpSpPr>
          <a:xfrm>
            <a:off x="12385590" y="7423730"/>
            <a:ext cx="5618588" cy="2720468"/>
            <a:chOff x="0" y="0"/>
            <a:chExt cx="7491451" cy="3627291"/>
          </a:xfrm>
        </p:grpSpPr>
        <p:sp>
          <p:nvSpPr>
            <p:cNvPr id="796" name="Google Shape;796;p49"/>
            <p:cNvSpPr/>
            <p:nvPr/>
          </p:nvSpPr>
          <p:spPr>
            <a:xfrm>
              <a:off x="0" y="0"/>
              <a:ext cx="7491450" cy="3627291"/>
            </a:xfrm>
            <a:custGeom>
              <a:rect b="b" l="l" r="r" t="t"/>
              <a:pathLst>
                <a:path extrusionOk="0" h="3627291" w="7491450">
                  <a:moveTo>
                    <a:pt x="0" y="0"/>
                  </a:moveTo>
                  <a:lnTo>
                    <a:pt x="7491450" y="0"/>
                  </a:lnTo>
                  <a:lnTo>
                    <a:pt x="7491450"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797" name="Google Shape;797;p49"/>
            <p:cNvSpPr txBox="1"/>
            <p:nvPr/>
          </p:nvSpPr>
          <p:spPr>
            <a:xfrm>
              <a:off x="0" y="28575"/>
              <a:ext cx="7491451" cy="3598716"/>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None/>
              </a:pPr>
              <a:r>
                <a:rPr b="0" i="0" lang="en-US" sz="9000" u="none" cap="none" strike="noStrike">
                  <a:solidFill>
                    <a:srgbClr val="131416"/>
                  </a:solidFill>
                  <a:latin typeface="Play"/>
                  <a:ea typeface="Play"/>
                  <a:cs typeface="Play"/>
                  <a:sym typeface="Play"/>
                </a:rPr>
                <a:t>Beneficios</a:t>
              </a:r>
              <a:endParaRPr sz="9000"/>
            </a:p>
          </p:txBody>
        </p:sp>
      </p:grpSp>
      <p:grpSp>
        <p:nvGrpSpPr>
          <p:cNvPr id="798" name="Google Shape;798;p49"/>
          <p:cNvGrpSpPr/>
          <p:nvPr/>
        </p:nvGrpSpPr>
        <p:grpSpPr>
          <a:xfrm>
            <a:off x="1028700" y="1850055"/>
            <a:ext cx="12890596" cy="5573674"/>
            <a:chOff x="0" y="-76200"/>
            <a:chExt cx="17187461" cy="7431566"/>
          </a:xfrm>
        </p:grpSpPr>
        <p:sp>
          <p:nvSpPr>
            <p:cNvPr id="799" name="Google Shape;799;p49"/>
            <p:cNvSpPr/>
            <p:nvPr/>
          </p:nvSpPr>
          <p:spPr>
            <a:xfrm>
              <a:off x="0" y="0"/>
              <a:ext cx="17187461" cy="7355366"/>
            </a:xfrm>
            <a:custGeom>
              <a:rect b="b" l="l" r="r" t="t"/>
              <a:pathLst>
                <a:path extrusionOk="0" h="7355366" w="17187461">
                  <a:moveTo>
                    <a:pt x="0" y="0"/>
                  </a:moveTo>
                  <a:lnTo>
                    <a:pt x="17187461" y="0"/>
                  </a:lnTo>
                  <a:lnTo>
                    <a:pt x="17187461" y="7355366"/>
                  </a:lnTo>
                  <a:lnTo>
                    <a:pt x="0" y="7355366"/>
                  </a:lnTo>
                  <a:close/>
                </a:path>
              </a:pathLst>
            </a:custGeom>
            <a:solidFill>
              <a:srgbClr val="000000">
                <a:alpha val="0"/>
              </a:srgbClr>
            </a:solidFill>
            <a:ln>
              <a:noFill/>
            </a:ln>
          </p:spPr>
        </p:sp>
        <p:sp>
          <p:nvSpPr>
            <p:cNvPr id="800" name="Google Shape;800;p49"/>
            <p:cNvSpPr txBox="1"/>
            <p:nvPr/>
          </p:nvSpPr>
          <p:spPr>
            <a:xfrm>
              <a:off x="0" y="-76200"/>
              <a:ext cx="17187461" cy="7431566"/>
            </a:xfrm>
            <a:prstGeom prst="rect">
              <a:avLst/>
            </a:prstGeom>
            <a:noFill/>
            <a:ln>
              <a:noFill/>
            </a:ln>
          </p:spPr>
          <p:txBody>
            <a:bodyPr anchorCtr="0" anchor="t" bIns="0" lIns="0" spcFirstLastPara="1" rIns="0" wrap="square" tIns="0">
              <a:noAutofit/>
            </a:bodyPr>
            <a:lstStyle/>
            <a:p>
              <a:pPr indent="0" lvl="0" marL="0" marR="0" rtl="0" algn="l">
                <a:lnSpc>
                  <a:spcPct val="143962"/>
                </a:lnSpc>
                <a:spcBef>
                  <a:spcPts val="0"/>
                </a:spcBef>
                <a:spcAft>
                  <a:spcPts val="0"/>
                </a:spcAft>
                <a:buNone/>
              </a:pPr>
              <a:r>
                <a:rPr b="0" i="0" lang="en-US" sz="2700" u="none" cap="none" strike="noStrike">
                  <a:solidFill>
                    <a:srgbClr val="171717"/>
                  </a:solidFill>
                  <a:latin typeface="Arimo"/>
                  <a:ea typeface="Arimo"/>
                  <a:cs typeface="Arimo"/>
                  <a:sym typeface="Arimo"/>
                </a:rPr>
                <a:t>Los hilos se utilizan para mejorar la capacidad de respuesta de las aplicaciones y aprovechar la capacidad de procesamiento multicore de las CPU modernas. Se utilizan en aplicaciones que requieren ejecución simultánea de tareas, como aplicaciones gráficas, servidores web, aplicaciones de red y mucho más.</a:t>
              </a:r>
              <a:endParaRPr/>
            </a:p>
            <a:p>
              <a:pPr indent="0" lvl="0" marL="0" marR="0" rtl="0" algn="l">
                <a:lnSpc>
                  <a:spcPct val="143962"/>
                </a:lnSpc>
                <a:spcBef>
                  <a:spcPts val="0"/>
                </a:spcBef>
                <a:spcAft>
                  <a:spcPts val="0"/>
                </a:spcAft>
                <a:buNone/>
              </a:pPr>
              <a:r>
                <a:rPr b="0" i="0" lang="en-US" sz="2700" u="none" cap="none" strike="noStrike">
                  <a:solidFill>
                    <a:srgbClr val="171717"/>
                  </a:solidFill>
                  <a:latin typeface="Arimo"/>
                  <a:ea typeface="Arimo"/>
                  <a:cs typeface="Arimo"/>
                  <a:sym typeface="Arimo"/>
                </a:rPr>
                <a:t>Los hilos en Java son unidades de ejecución que permiten que las aplicaciones realicen tareas concurrentes y paralelas. El uso adecuado de hilos puede mejorar el rendimiento y la eficiencia de las aplicaciones, pero también plantea desafíos de concurrencia que deben abordarse con cuidado. Java proporciona herramientas y bibliotecas para trabajar de manera segura y eficaz con hilos.</a:t>
              </a:r>
              <a:endParaRPr/>
            </a:p>
            <a:p>
              <a:pPr indent="0" lvl="0" marL="0" marR="0" rtl="0" algn="l">
                <a:lnSpc>
                  <a:spcPct val="143962"/>
                </a:lnSpc>
                <a:spcBef>
                  <a:spcPts val="0"/>
                </a:spcBef>
                <a:spcAft>
                  <a:spcPts val="0"/>
                </a:spcAft>
                <a:buNone/>
              </a:pPr>
              <a:r>
                <a:t/>
              </a:r>
              <a:endParaRPr b="0" i="0" sz="2700" u="none" cap="none" strike="noStrike">
                <a:solidFill>
                  <a:srgbClr val="171717"/>
                </a:solidFill>
                <a:latin typeface="Arimo"/>
                <a:ea typeface="Arimo"/>
                <a:cs typeface="Arimo"/>
                <a:sym typeface="Arimo"/>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50"/>
          <p:cNvSpPr/>
          <p:nvPr/>
        </p:nvSpPr>
        <p:spPr>
          <a:xfrm rot="-60000">
            <a:off x="-23355" y="-98707"/>
            <a:ext cx="11414242" cy="6602252"/>
          </a:xfrm>
          <a:custGeom>
            <a:rect b="b" l="l" r="r" t="t"/>
            <a:pathLst>
              <a:path extrusionOk="0" h="8803002" w="15218989">
                <a:moveTo>
                  <a:pt x="126849" y="0"/>
                </a:moveTo>
                <a:lnTo>
                  <a:pt x="15218989" y="280653"/>
                </a:lnTo>
                <a:lnTo>
                  <a:pt x="5969434" y="7786959"/>
                </a:lnTo>
                <a:lnTo>
                  <a:pt x="5862797" y="7868569"/>
                </a:lnTo>
                <a:cubicBezTo>
                  <a:pt x="5030663" y="8471644"/>
                  <a:pt x="4083445" y="8776554"/>
                  <a:pt x="3138037" y="8800652"/>
                </a:cubicBezTo>
                <a:cubicBezTo>
                  <a:pt x="3039544" y="8803002"/>
                  <a:pt x="2941051" y="8802494"/>
                  <a:pt x="2842861" y="8799046"/>
                </a:cubicBezTo>
                <a:cubicBezTo>
                  <a:pt x="1884330" y="8764184"/>
                  <a:pt x="940431" y="8441603"/>
                  <a:pt x="133334" y="7849130"/>
                </a:cubicBezTo>
                <a:lnTo>
                  <a:pt x="0" y="7740853"/>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6" name="Google Shape;806;p50"/>
          <p:cNvGrpSpPr/>
          <p:nvPr/>
        </p:nvGrpSpPr>
        <p:grpSpPr>
          <a:xfrm>
            <a:off x="-221905" y="-166333"/>
            <a:ext cx="8621376" cy="5203856"/>
            <a:chOff x="0" y="0"/>
            <a:chExt cx="11495167" cy="6938475"/>
          </a:xfrm>
        </p:grpSpPr>
        <p:sp>
          <p:nvSpPr>
            <p:cNvPr id="807" name="Google Shape;807;p50"/>
            <p:cNvSpPr/>
            <p:nvPr/>
          </p:nvSpPr>
          <p:spPr>
            <a:xfrm>
              <a:off x="0" y="0"/>
              <a:ext cx="10452294" cy="6745391"/>
            </a:xfrm>
            <a:custGeom>
              <a:rect b="b" l="l" r="r" t="t"/>
              <a:pathLst>
                <a:path extrusionOk="0" h="6745391" w="10452294">
                  <a:moveTo>
                    <a:pt x="0" y="0"/>
                  </a:moveTo>
                  <a:lnTo>
                    <a:pt x="10452294" y="0"/>
                  </a:lnTo>
                  <a:lnTo>
                    <a:pt x="10452294" y="6745391"/>
                  </a:lnTo>
                  <a:lnTo>
                    <a:pt x="0" y="67453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808" name="Google Shape;808;p50"/>
            <p:cNvSpPr txBox="1"/>
            <p:nvPr/>
          </p:nvSpPr>
          <p:spPr>
            <a:xfrm>
              <a:off x="1042867" y="221775"/>
              <a:ext cx="10452300" cy="6716700"/>
            </a:xfrm>
            <a:prstGeom prst="rect">
              <a:avLst/>
            </a:prstGeom>
            <a:noFill/>
            <a:ln>
              <a:noFill/>
            </a:ln>
          </p:spPr>
          <p:txBody>
            <a:bodyPr anchorCtr="0" anchor="ctr" bIns="0" lIns="0" spcFirstLastPara="1" rIns="0" wrap="square" tIns="0">
              <a:noAutofit/>
            </a:bodyPr>
            <a:lstStyle/>
            <a:p>
              <a:pPr indent="0" lvl="0" marL="0" marR="0" rtl="0" algn="ctr">
                <a:lnSpc>
                  <a:spcPct val="115001"/>
                </a:lnSpc>
                <a:spcBef>
                  <a:spcPts val="0"/>
                </a:spcBef>
                <a:spcAft>
                  <a:spcPts val="0"/>
                </a:spcAft>
                <a:buNone/>
              </a:pPr>
              <a:r>
                <a:rPr b="0" i="0" lang="en-US" sz="8000" u="none" cap="none" strike="noStrike">
                  <a:solidFill>
                    <a:srgbClr val="131416"/>
                  </a:solidFill>
                  <a:latin typeface="Play"/>
                  <a:ea typeface="Play"/>
                  <a:cs typeface="Play"/>
                  <a:sym typeface="Play"/>
                </a:rPr>
                <a:t>Herramientas en java para Multihilos</a:t>
              </a:r>
              <a:endParaRPr sz="8000"/>
            </a:p>
          </p:txBody>
        </p:sp>
      </p:grpSp>
      <p:grpSp>
        <p:nvGrpSpPr>
          <p:cNvPr id="809" name="Google Shape;809;p50"/>
          <p:cNvGrpSpPr/>
          <p:nvPr/>
        </p:nvGrpSpPr>
        <p:grpSpPr>
          <a:xfrm>
            <a:off x="9364861" y="2363188"/>
            <a:ext cx="7429500" cy="19050"/>
            <a:chOff x="12700" y="0"/>
            <a:chExt cx="9906000" cy="25400"/>
          </a:xfrm>
        </p:grpSpPr>
        <p:sp>
          <p:nvSpPr>
            <p:cNvPr id="810" name="Google Shape;810;p50"/>
            <p:cNvSpPr/>
            <p:nvPr/>
          </p:nvSpPr>
          <p:spPr>
            <a:xfrm>
              <a:off x="12700" y="12700"/>
              <a:ext cx="9906000" cy="0"/>
            </a:xfrm>
            <a:custGeom>
              <a:rect b="b" l="l" r="r" t="t"/>
              <a:pathLst>
                <a:path extrusionOk="0" h="120000" w="9906000">
                  <a:moveTo>
                    <a:pt x="0" y="0"/>
                  </a:moveTo>
                  <a:lnTo>
                    <a:pt x="9906000" y="0"/>
                  </a:lnTo>
                </a:path>
              </a:pathLst>
            </a:custGeom>
            <a:solidFill>
              <a:srgbClr val="7F29E7"/>
            </a:solidFill>
            <a:ln>
              <a:noFill/>
            </a:ln>
          </p:spPr>
        </p:sp>
        <p:sp>
          <p:nvSpPr>
            <p:cNvPr id="811" name="Google Shape;811;p50"/>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7F29E7"/>
            </a:solidFill>
            <a:ln>
              <a:noFill/>
            </a:ln>
          </p:spPr>
        </p:sp>
      </p:grpSp>
      <p:grpSp>
        <p:nvGrpSpPr>
          <p:cNvPr id="812" name="Google Shape;812;p50"/>
          <p:cNvGrpSpPr/>
          <p:nvPr/>
        </p:nvGrpSpPr>
        <p:grpSpPr>
          <a:xfrm>
            <a:off x="9360099" y="2367951"/>
            <a:ext cx="7439025" cy="1787723"/>
            <a:chOff x="0" y="0"/>
            <a:chExt cx="9918700" cy="2383630"/>
          </a:xfrm>
        </p:grpSpPr>
        <p:sp>
          <p:nvSpPr>
            <p:cNvPr id="813" name="Google Shape;813;p50"/>
            <p:cNvSpPr/>
            <p:nvPr/>
          </p:nvSpPr>
          <p:spPr>
            <a:xfrm>
              <a:off x="0" y="0"/>
              <a:ext cx="9918700" cy="2383630"/>
            </a:xfrm>
            <a:custGeom>
              <a:rect b="b" l="l" r="r" t="t"/>
              <a:pathLst>
                <a:path extrusionOk="0" h="2383630" w="9918700">
                  <a:moveTo>
                    <a:pt x="0" y="0"/>
                  </a:moveTo>
                  <a:lnTo>
                    <a:pt x="9918700" y="0"/>
                  </a:lnTo>
                  <a:lnTo>
                    <a:pt x="9918700" y="2383630"/>
                  </a:lnTo>
                  <a:lnTo>
                    <a:pt x="0" y="2383630"/>
                  </a:lnTo>
                  <a:close/>
                </a:path>
              </a:pathLst>
            </a:custGeom>
            <a:solidFill>
              <a:srgbClr val="000000">
                <a:alpha val="0"/>
              </a:srgbClr>
            </a:solidFill>
            <a:ln>
              <a:noFill/>
            </a:ln>
          </p:spPr>
        </p:sp>
        <p:sp>
          <p:nvSpPr>
            <p:cNvPr id="814" name="Google Shape;814;p50"/>
            <p:cNvSpPr txBox="1"/>
            <p:nvPr/>
          </p:nvSpPr>
          <p:spPr>
            <a:xfrm>
              <a:off x="0" y="57150"/>
              <a:ext cx="9918700" cy="2326480"/>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7650" u="none" cap="none" strike="noStrike">
                  <a:solidFill>
                    <a:srgbClr val="000000"/>
                  </a:solidFill>
                  <a:latin typeface="Arimo"/>
                  <a:ea typeface="Arimo"/>
                  <a:cs typeface="Arimo"/>
                  <a:sym typeface="Arimo"/>
                </a:rPr>
                <a:t>Threads</a:t>
              </a:r>
              <a:endParaRPr/>
            </a:p>
          </p:txBody>
        </p:sp>
      </p:grpSp>
      <p:grpSp>
        <p:nvGrpSpPr>
          <p:cNvPr id="815" name="Google Shape;815;p50"/>
          <p:cNvGrpSpPr/>
          <p:nvPr/>
        </p:nvGrpSpPr>
        <p:grpSpPr>
          <a:xfrm>
            <a:off x="9364861" y="4141386"/>
            <a:ext cx="7429500" cy="19050"/>
            <a:chOff x="12700" y="0"/>
            <a:chExt cx="9906000" cy="25400"/>
          </a:xfrm>
        </p:grpSpPr>
        <p:sp>
          <p:nvSpPr>
            <p:cNvPr id="816" name="Google Shape;816;p50"/>
            <p:cNvSpPr/>
            <p:nvPr/>
          </p:nvSpPr>
          <p:spPr>
            <a:xfrm>
              <a:off x="12700" y="12700"/>
              <a:ext cx="9906000" cy="0"/>
            </a:xfrm>
            <a:custGeom>
              <a:rect b="b" l="l" r="r" t="t"/>
              <a:pathLst>
                <a:path extrusionOk="0" h="120000" w="9906000">
                  <a:moveTo>
                    <a:pt x="0" y="0"/>
                  </a:moveTo>
                  <a:lnTo>
                    <a:pt x="9906000" y="0"/>
                  </a:lnTo>
                </a:path>
              </a:pathLst>
            </a:custGeom>
            <a:solidFill>
              <a:srgbClr val="E729B1"/>
            </a:solidFill>
            <a:ln>
              <a:noFill/>
            </a:ln>
          </p:spPr>
        </p:sp>
        <p:sp>
          <p:nvSpPr>
            <p:cNvPr id="817" name="Google Shape;817;p50"/>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E729B1"/>
            </a:solidFill>
            <a:ln>
              <a:noFill/>
            </a:ln>
          </p:spPr>
        </p:sp>
      </p:grpSp>
      <p:grpSp>
        <p:nvGrpSpPr>
          <p:cNvPr id="818" name="Google Shape;818;p50"/>
          <p:cNvGrpSpPr/>
          <p:nvPr/>
        </p:nvGrpSpPr>
        <p:grpSpPr>
          <a:xfrm>
            <a:off x="9360099" y="4146148"/>
            <a:ext cx="7439025" cy="1787723"/>
            <a:chOff x="0" y="0"/>
            <a:chExt cx="9918700" cy="2383630"/>
          </a:xfrm>
        </p:grpSpPr>
        <p:sp>
          <p:nvSpPr>
            <p:cNvPr id="819" name="Google Shape;819;p50"/>
            <p:cNvSpPr/>
            <p:nvPr/>
          </p:nvSpPr>
          <p:spPr>
            <a:xfrm>
              <a:off x="0" y="0"/>
              <a:ext cx="9918700" cy="2383630"/>
            </a:xfrm>
            <a:custGeom>
              <a:rect b="b" l="l" r="r" t="t"/>
              <a:pathLst>
                <a:path extrusionOk="0" h="2383630" w="9918700">
                  <a:moveTo>
                    <a:pt x="0" y="0"/>
                  </a:moveTo>
                  <a:lnTo>
                    <a:pt x="9918700" y="0"/>
                  </a:lnTo>
                  <a:lnTo>
                    <a:pt x="9918700" y="2383630"/>
                  </a:lnTo>
                  <a:lnTo>
                    <a:pt x="0" y="2383630"/>
                  </a:lnTo>
                  <a:close/>
                </a:path>
              </a:pathLst>
            </a:custGeom>
            <a:solidFill>
              <a:srgbClr val="000000">
                <a:alpha val="0"/>
              </a:srgbClr>
            </a:solidFill>
            <a:ln>
              <a:noFill/>
            </a:ln>
          </p:spPr>
        </p:sp>
        <p:sp>
          <p:nvSpPr>
            <p:cNvPr id="820" name="Google Shape;820;p50"/>
            <p:cNvSpPr txBox="1"/>
            <p:nvPr/>
          </p:nvSpPr>
          <p:spPr>
            <a:xfrm>
              <a:off x="0" y="57150"/>
              <a:ext cx="9918700" cy="2326480"/>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7650" u="none" cap="none" strike="noStrike">
                  <a:solidFill>
                    <a:srgbClr val="000000"/>
                  </a:solidFill>
                  <a:latin typeface="Arimo"/>
                  <a:ea typeface="Arimo"/>
                  <a:cs typeface="Arimo"/>
                  <a:sym typeface="Arimo"/>
                </a:rPr>
                <a:t>Synchronized</a:t>
              </a:r>
              <a:endParaRPr/>
            </a:p>
          </p:txBody>
        </p:sp>
      </p:grpSp>
      <p:grpSp>
        <p:nvGrpSpPr>
          <p:cNvPr id="821" name="Google Shape;821;p50"/>
          <p:cNvGrpSpPr/>
          <p:nvPr/>
        </p:nvGrpSpPr>
        <p:grpSpPr>
          <a:xfrm>
            <a:off x="9364861" y="5919585"/>
            <a:ext cx="7429500" cy="19050"/>
            <a:chOff x="12700" y="0"/>
            <a:chExt cx="9906000" cy="25400"/>
          </a:xfrm>
        </p:grpSpPr>
        <p:sp>
          <p:nvSpPr>
            <p:cNvPr id="822" name="Google Shape;822;p50"/>
            <p:cNvSpPr/>
            <p:nvPr/>
          </p:nvSpPr>
          <p:spPr>
            <a:xfrm>
              <a:off x="12700" y="12700"/>
              <a:ext cx="9906000" cy="0"/>
            </a:xfrm>
            <a:custGeom>
              <a:rect b="b" l="l" r="r" t="t"/>
              <a:pathLst>
                <a:path extrusionOk="0" h="120000" w="9906000">
                  <a:moveTo>
                    <a:pt x="0" y="0"/>
                  </a:moveTo>
                  <a:lnTo>
                    <a:pt x="9906000" y="0"/>
                  </a:lnTo>
                </a:path>
              </a:pathLst>
            </a:custGeom>
            <a:solidFill>
              <a:srgbClr val="17BE15"/>
            </a:solidFill>
            <a:ln>
              <a:noFill/>
            </a:ln>
          </p:spPr>
        </p:sp>
        <p:sp>
          <p:nvSpPr>
            <p:cNvPr id="823" name="Google Shape;823;p50"/>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17BE15"/>
            </a:solidFill>
            <a:ln>
              <a:noFill/>
            </a:ln>
          </p:spPr>
        </p:sp>
      </p:grpSp>
      <p:grpSp>
        <p:nvGrpSpPr>
          <p:cNvPr id="824" name="Google Shape;824;p50"/>
          <p:cNvGrpSpPr/>
          <p:nvPr/>
        </p:nvGrpSpPr>
        <p:grpSpPr>
          <a:xfrm>
            <a:off x="9360099" y="5924347"/>
            <a:ext cx="7439025" cy="1787723"/>
            <a:chOff x="0" y="0"/>
            <a:chExt cx="9918700" cy="2383630"/>
          </a:xfrm>
        </p:grpSpPr>
        <p:sp>
          <p:nvSpPr>
            <p:cNvPr id="825" name="Google Shape;825;p50"/>
            <p:cNvSpPr/>
            <p:nvPr/>
          </p:nvSpPr>
          <p:spPr>
            <a:xfrm>
              <a:off x="0" y="0"/>
              <a:ext cx="9918700" cy="2383630"/>
            </a:xfrm>
            <a:custGeom>
              <a:rect b="b" l="l" r="r" t="t"/>
              <a:pathLst>
                <a:path extrusionOk="0" h="2383630" w="9918700">
                  <a:moveTo>
                    <a:pt x="0" y="0"/>
                  </a:moveTo>
                  <a:lnTo>
                    <a:pt x="9918700" y="0"/>
                  </a:lnTo>
                  <a:lnTo>
                    <a:pt x="9918700" y="2383630"/>
                  </a:lnTo>
                  <a:lnTo>
                    <a:pt x="0" y="2383630"/>
                  </a:lnTo>
                  <a:close/>
                </a:path>
              </a:pathLst>
            </a:custGeom>
            <a:solidFill>
              <a:srgbClr val="000000">
                <a:alpha val="0"/>
              </a:srgbClr>
            </a:solidFill>
            <a:ln>
              <a:noFill/>
            </a:ln>
          </p:spPr>
        </p:sp>
        <p:sp>
          <p:nvSpPr>
            <p:cNvPr id="826" name="Google Shape;826;p50"/>
            <p:cNvSpPr txBox="1"/>
            <p:nvPr/>
          </p:nvSpPr>
          <p:spPr>
            <a:xfrm>
              <a:off x="0" y="57150"/>
              <a:ext cx="9918700" cy="2326480"/>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7650" u="none" cap="none" strike="noStrike">
                  <a:solidFill>
                    <a:srgbClr val="000000"/>
                  </a:solidFill>
                  <a:latin typeface="Arimo"/>
                  <a:ea typeface="Arimo"/>
                  <a:cs typeface="Arimo"/>
                  <a:sym typeface="Arimo"/>
                </a:rPr>
                <a:t>Atomic</a:t>
              </a:r>
              <a:endParaRPr/>
            </a:p>
          </p:txBody>
        </p:sp>
      </p:grpSp>
      <p:grpSp>
        <p:nvGrpSpPr>
          <p:cNvPr id="827" name="Google Shape;827;p50"/>
          <p:cNvGrpSpPr/>
          <p:nvPr/>
        </p:nvGrpSpPr>
        <p:grpSpPr>
          <a:xfrm>
            <a:off x="9364861" y="7697784"/>
            <a:ext cx="7429500" cy="19050"/>
            <a:chOff x="12700" y="0"/>
            <a:chExt cx="9906000" cy="25400"/>
          </a:xfrm>
        </p:grpSpPr>
        <p:sp>
          <p:nvSpPr>
            <p:cNvPr id="828" name="Google Shape;828;p50"/>
            <p:cNvSpPr/>
            <p:nvPr/>
          </p:nvSpPr>
          <p:spPr>
            <a:xfrm>
              <a:off x="12700" y="12700"/>
              <a:ext cx="9906000" cy="0"/>
            </a:xfrm>
            <a:custGeom>
              <a:rect b="b" l="l" r="r" t="t"/>
              <a:pathLst>
                <a:path extrusionOk="0" h="120000" w="9906000">
                  <a:moveTo>
                    <a:pt x="0" y="0"/>
                  </a:moveTo>
                  <a:lnTo>
                    <a:pt x="9906000" y="0"/>
                  </a:lnTo>
                </a:path>
              </a:pathLst>
            </a:custGeom>
            <a:solidFill>
              <a:srgbClr val="21BB5F"/>
            </a:solidFill>
            <a:ln>
              <a:noFill/>
            </a:ln>
          </p:spPr>
        </p:sp>
        <p:sp>
          <p:nvSpPr>
            <p:cNvPr id="829" name="Google Shape;829;p50"/>
            <p:cNvSpPr/>
            <p:nvPr/>
          </p:nvSpPr>
          <p:spPr>
            <a:xfrm>
              <a:off x="12700" y="0"/>
              <a:ext cx="9906000" cy="25400"/>
            </a:xfrm>
            <a:custGeom>
              <a:rect b="b" l="l" r="r" t="t"/>
              <a:pathLst>
                <a:path extrusionOk="0" h="25400" w="9906000">
                  <a:moveTo>
                    <a:pt x="0" y="0"/>
                  </a:moveTo>
                  <a:lnTo>
                    <a:pt x="9906000" y="0"/>
                  </a:lnTo>
                  <a:lnTo>
                    <a:pt x="9906000" y="25400"/>
                  </a:lnTo>
                  <a:lnTo>
                    <a:pt x="0" y="25400"/>
                  </a:lnTo>
                  <a:close/>
                </a:path>
              </a:pathLst>
            </a:custGeom>
            <a:solidFill>
              <a:srgbClr val="21BB5F"/>
            </a:solidFill>
            <a:ln>
              <a:noFill/>
            </a:ln>
          </p:spPr>
        </p:sp>
      </p:grpSp>
      <p:grpSp>
        <p:nvGrpSpPr>
          <p:cNvPr id="830" name="Google Shape;830;p50"/>
          <p:cNvGrpSpPr/>
          <p:nvPr/>
        </p:nvGrpSpPr>
        <p:grpSpPr>
          <a:xfrm>
            <a:off x="9360099" y="7702546"/>
            <a:ext cx="7439025" cy="1787723"/>
            <a:chOff x="0" y="0"/>
            <a:chExt cx="9918700" cy="2383630"/>
          </a:xfrm>
        </p:grpSpPr>
        <p:sp>
          <p:nvSpPr>
            <p:cNvPr id="831" name="Google Shape;831;p50"/>
            <p:cNvSpPr/>
            <p:nvPr/>
          </p:nvSpPr>
          <p:spPr>
            <a:xfrm>
              <a:off x="0" y="0"/>
              <a:ext cx="9918700" cy="2383630"/>
            </a:xfrm>
            <a:custGeom>
              <a:rect b="b" l="l" r="r" t="t"/>
              <a:pathLst>
                <a:path extrusionOk="0" h="2383630" w="9918700">
                  <a:moveTo>
                    <a:pt x="0" y="0"/>
                  </a:moveTo>
                  <a:lnTo>
                    <a:pt x="9918700" y="0"/>
                  </a:lnTo>
                  <a:lnTo>
                    <a:pt x="9918700" y="2383630"/>
                  </a:lnTo>
                  <a:lnTo>
                    <a:pt x="0" y="2383630"/>
                  </a:lnTo>
                  <a:close/>
                </a:path>
              </a:pathLst>
            </a:custGeom>
            <a:solidFill>
              <a:srgbClr val="000000">
                <a:alpha val="0"/>
              </a:srgbClr>
            </a:solidFill>
            <a:ln>
              <a:noFill/>
            </a:ln>
          </p:spPr>
        </p:sp>
        <p:sp>
          <p:nvSpPr>
            <p:cNvPr id="832" name="Google Shape;832;p50"/>
            <p:cNvSpPr txBox="1"/>
            <p:nvPr/>
          </p:nvSpPr>
          <p:spPr>
            <a:xfrm>
              <a:off x="0" y="57150"/>
              <a:ext cx="9918700" cy="2326480"/>
            </a:xfrm>
            <a:prstGeom prst="rect">
              <a:avLst/>
            </a:prstGeom>
            <a:noFill/>
            <a:ln>
              <a:noFill/>
            </a:ln>
          </p:spPr>
          <p:txBody>
            <a:bodyPr anchorCtr="0" anchor="t" bIns="0" lIns="0" spcFirstLastPara="1" rIns="0" wrap="square" tIns="0">
              <a:noAutofit/>
            </a:bodyPr>
            <a:lstStyle/>
            <a:p>
              <a:pPr indent="0" lvl="0" marL="0" marR="0" rtl="0" algn="just">
                <a:lnSpc>
                  <a:spcPct val="108000"/>
                </a:lnSpc>
                <a:spcBef>
                  <a:spcPts val="0"/>
                </a:spcBef>
                <a:spcAft>
                  <a:spcPts val="0"/>
                </a:spcAft>
                <a:buNone/>
              </a:pPr>
              <a:r>
                <a:rPr b="0" i="0" lang="en-US" sz="7650" u="none" cap="none" strike="noStrike">
                  <a:solidFill>
                    <a:srgbClr val="000000"/>
                  </a:solidFill>
                  <a:latin typeface="Arimo"/>
                  <a:ea typeface="Arimo"/>
                  <a:cs typeface="Arimo"/>
                  <a:sym typeface="Arimo"/>
                </a:rPr>
                <a:t>ReentrantLock</a:t>
              </a:r>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51"/>
          <p:cNvSpPr/>
          <p:nvPr/>
        </p:nvSpPr>
        <p:spPr>
          <a:xfrm rot="-60000">
            <a:off x="-35284" y="-82865"/>
            <a:ext cx="9610821" cy="5219510"/>
          </a:xfrm>
          <a:custGeom>
            <a:rect b="b" l="l" r="r" t="t"/>
            <a:pathLst>
              <a:path extrusionOk="0" h="6959346" w="12814427">
                <a:moveTo>
                  <a:pt x="106807" y="0"/>
                </a:moveTo>
                <a:lnTo>
                  <a:pt x="12814427" y="221869"/>
                </a:lnTo>
                <a:lnTo>
                  <a:pt x="5026279" y="6155944"/>
                </a:lnTo>
                <a:lnTo>
                  <a:pt x="4936490" y="6220460"/>
                </a:lnTo>
                <a:cubicBezTo>
                  <a:pt x="4235831" y="6697218"/>
                  <a:pt x="3438271" y="6938264"/>
                  <a:pt x="2642235" y="6957314"/>
                </a:cubicBezTo>
                <a:cubicBezTo>
                  <a:pt x="2559304" y="6959346"/>
                  <a:pt x="2476373" y="6958838"/>
                  <a:pt x="2393696" y="6956044"/>
                </a:cubicBezTo>
                <a:cubicBezTo>
                  <a:pt x="1586611" y="6928485"/>
                  <a:pt x="791845" y="6673469"/>
                  <a:pt x="112268" y="6205093"/>
                </a:cubicBezTo>
                <a:lnTo>
                  <a:pt x="0" y="6119495"/>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8" name="Google Shape;838;p51"/>
          <p:cNvGrpSpPr/>
          <p:nvPr/>
        </p:nvGrpSpPr>
        <p:grpSpPr>
          <a:xfrm>
            <a:off x="491622" y="434991"/>
            <a:ext cx="6458838" cy="2720468"/>
            <a:chOff x="0" y="0"/>
            <a:chExt cx="8611784" cy="3627291"/>
          </a:xfrm>
        </p:grpSpPr>
        <p:sp>
          <p:nvSpPr>
            <p:cNvPr id="839" name="Google Shape;839;p51"/>
            <p:cNvSpPr/>
            <p:nvPr/>
          </p:nvSpPr>
          <p:spPr>
            <a:xfrm>
              <a:off x="0" y="0"/>
              <a:ext cx="8611784" cy="3627291"/>
            </a:xfrm>
            <a:custGeom>
              <a:rect b="b" l="l" r="r" t="t"/>
              <a:pathLst>
                <a:path extrusionOk="0" h="3627291" w="8611784">
                  <a:moveTo>
                    <a:pt x="0" y="0"/>
                  </a:moveTo>
                  <a:lnTo>
                    <a:pt x="8611784" y="0"/>
                  </a:lnTo>
                  <a:lnTo>
                    <a:pt x="8611784"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840" name="Google Shape;840;p51"/>
            <p:cNvSpPr txBox="1"/>
            <p:nvPr/>
          </p:nvSpPr>
          <p:spPr>
            <a:xfrm>
              <a:off x="0" y="28575"/>
              <a:ext cx="8611784" cy="359871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Threads</a:t>
              </a:r>
              <a:endParaRPr/>
            </a:p>
          </p:txBody>
        </p:sp>
      </p:grpSp>
      <p:grpSp>
        <p:nvGrpSpPr>
          <p:cNvPr id="841" name="Google Shape;841;p51"/>
          <p:cNvGrpSpPr/>
          <p:nvPr/>
        </p:nvGrpSpPr>
        <p:grpSpPr>
          <a:xfrm>
            <a:off x="332290" y="5371233"/>
            <a:ext cx="5384468" cy="4706876"/>
            <a:chOff x="0" y="-76200"/>
            <a:chExt cx="7179290" cy="6275834"/>
          </a:xfrm>
        </p:grpSpPr>
        <p:sp>
          <p:nvSpPr>
            <p:cNvPr id="842" name="Google Shape;842;p51"/>
            <p:cNvSpPr/>
            <p:nvPr/>
          </p:nvSpPr>
          <p:spPr>
            <a:xfrm>
              <a:off x="0" y="0"/>
              <a:ext cx="7179290" cy="6199634"/>
            </a:xfrm>
            <a:custGeom>
              <a:rect b="b" l="l" r="r" t="t"/>
              <a:pathLst>
                <a:path extrusionOk="0" h="6199634" w="7179290">
                  <a:moveTo>
                    <a:pt x="0" y="0"/>
                  </a:moveTo>
                  <a:lnTo>
                    <a:pt x="7179290" y="0"/>
                  </a:lnTo>
                  <a:lnTo>
                    <a:pt x="7179290" y="6199634"/>
                  </a:lnTo>
                  <a:lnTo>
                    <a:pt x="0" y="6199634"/>
                  </a:lnTo>
                  <a:close/>
                </a:path>
              </a:pathLst>
            </a:custGeom>
            <a:solidFill>
              <a:srgbClr val="000000">
                <a:alpha val="0"/>
              </a:srgbClr>
            </a:solidFill>
            <a:ln>
              <a:noFill/>
            </a:ln>
          </p:spPr>
        </p:sp>
        <p:sp>
          <p:nvSpPr>
            <p:cNvPr id="843" name="Google Shape;843;p51"/>
            <p:cNvSpPr txBox="1"/>
            <p:nvPr/>
          </p:nvSpPr>
          <p:spPr>
            <a:xfrm>
              <a:off x="0" y="-76200"/>
              <a:ext cx="7179290" cy="6275834"/>
            </a:xfrm>
            <a:prstGeom prst="rect">
              <a:avLst/>
            </a:prstGeom>
            <a:noFill/>
            <a:ln>
              <a:noFill/>
            </a:ln>
          </p:spPr>
          <p:txBody>
            <a:bodyPr anchorCtr="0" anchor="t" bIns="0" lIns="0" spcFirstLastPara="1" rIns="0" wrap="square" tIns="0">
              <a:noAutofit/>
            </a:bodyPr>
            <a:lstStyle/>
            <a:p>
              <a:pPr indent="0" lvl="0" marL="0" marR="0" rtl="0" algn="l">
                <a:lnSpc>
                  <a:spcPct val="143962"/>
                </a:lnSpc>
                <a:spcBef>
                  <a:spcPts val="0"/>
                </a:spcBef>
                <a:spcAft>
                  <a:spcPts val="0"/>
                </a:spcAft>
                <a:buNone/>
              </a:pPr>
              <a:r>
                <a:rPr b="0" i="0" lang="en-US" sz="2700" u="none" cap="none" strike="noStrike">
                  <a:solidFill>
                    <a:srgbClr val="171717"/>
                  </a:solidFill>
                  <a:latin typeface="Arimo"/>
                  <a:ea typeface="Arimo"/>
                  <a:cs typeface="Arimo"/>
                  <a:sym typeface="Arimo"/>
                </a:rPr>
                <a:t>Para la implementación de threads Java nos provee una suite de clases como por ejemplo la interfaz Runnable para crear elementos que van a correr en hilos, y justamente la clase thread que ejecuta los hilos.</a:t>
              </a:r>
              <a:endParaRPr/>
            </a:p>
          </p:txBody>
        </p:sp>
      </p:grpSp>
      <p:sp>
        <p:nvSpPr>
          <p:cNvPr id="844" name="Google Shape;844;p51"/>
          <p:cNvSpPr/>
          <p:nvPr/>
        </p:nvSpPr>
        <p:spPr>
          <a:xfrm>
            <a:off x="6690391" y="1139772"/>
            <a:ext cx="10707436" cy="8577220"/>
          </a:xfrm>
          <a:custGeom>
            <a:rect b="b" l="l" r="r" t="t"/>
            <a:pathLst>
              <a:path extrusionOk="0" h="8577220" w="10707436">
                <a:moveTo>
                  <a:pt x="0" y="0"/>
                </a:moveTo>
                <a:lnTo>
                  <a:pt x="10707437" y="0"/>
                </a:lnTo>
                <a:lnTo>
                  <a:pt x="10707437" y="8577220"/>
                </a:lnTo>
                <a:lnTo>
                  <a:pt x="0" y="857722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52"/>
          <p:cNvSpPr/>
          <p:nvPr/>
        </p:nvSpPr>
        <p:spPr>
          <a:xfrm rot="-60000">
            <a:off x="7710516" y="5189949"/>
            <a:ext cx="10696446" cy="5219414"/>
          </a:xfrm>
          <a:custGeom>
            <a:rect b="b" l="l" r="r" t="t"/>
            <a:pathLst>
              <a:path extrusionOk="0" h="6959219" w="14261929">
                <a:moveTo>
                  <a:pt x="14143197" y="6959219"/>
                </a:moveTo>
                <a:lnTo>
                  <a:pt x="0" y="6737477"/>
                </a:lnTo>
                <a:lnTo>
                  <a:pt x="8668115" y="803275"/>
                </a:lnTo>
                <a:lnTo>
                  <a:pt x="8768048" y="738759"/>
                </a:lnTo>
                <a:cubicBezTo>
                  <a:pt x="9547860" y="262128"/>
                  <a:pt x="10435520" y="21082"/>
                  <a:pt x="11321484" y="2032"/>
                </a:cubicBezTo>
                <a:cubicBezTo>
                  <a:pt x="11413784" y="0"/>
                  <a:pt x="11506084" y="508"/>
                  <a:pt x="11598101" y="3302"/>
                </a:cubicBezTo>
                <a:cubicBezTo>
                  <a:pt x="12496362" y="30861"/>
                  <a:pt x="13380912" y="285877"/>
                  <a:pt x="14137261" y="754253"/>
                </a:cubicBezTo>
                <a:lnTo>
                  <a:pt x="14261929" y="839851"/>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0" name="Google Shape;850;p52"/>
          <p:cNvGrpSpPr/>
          <p:nvPr/>
        </p:nvGrpSpPr>
        <p:grpSpPr>
          <a:xfrm>
            <a:off x="10544315" y="7566532"/>
            <a:ext cx="8234495" cy="2720468"/>
            <a:chOff x="0" y="0"/>
            <a:chExt cx="10979327" cy="3627291"/>
          </a:xfrm>
        </p:grpSpPr>
        <p:sp>
          <p:nvSpPr>
            <p:cNvPr id="851" name="Google Shape;851;p52"/>
            <p:cNvSpPr/>
            <p:nvPr/>
          </p:nvSpPr>
          <p:spPr>
            <a:xfrm>
              <a:off x="0" y="0"/>
              <a:ext cx="10979327" cy="3627291"/>
            </a:xfrm>
            <a:custGeom>
              <a:rect b="b" l="l" r="r" t="t"/>
              <a:pathLst>
                <a:path extrusionOk="0" h="3627291" w="10979327">
                  <a:moveTo>
                    <a:pt x="0" y="0"/>
                  </a:moveTo>
                  <a:lnTo>
                    <a:pt x="10979327" y="0"/>
                  </a:lnTo>
                  <a:lnTo>
                    <a:pt x="10979327"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852" name="Google Shape;852;p52"/>
            <p:cNvSpPr txBox="1"/>
            <p:nvPr/>
          </p:nvSpPr>
          <p:spPr>
            <a:xfrm>
              <a:off x="0" y="28575"/>
              <a:ext cx="10979327" cy="359871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0000" u="none" cap="none" strike="noStrike">
                  <a:solidFill>
                    <a:srgbClr val="131416"/>
                  </a:solidFill>
                  <a:latin typeface="Play"/>
                  <a:ea typeface="Play"/>
                  <a:cs typeface="Play"/>
                  <a:sym typeface="Play"/>
                </a:rPr>
                <a:t>Synchronized</a:t>
              </a:r>
              <a:endParaRPr sz="10000"/>
            </a:p>
          </p:txBody>
        </p:sp>
      </p:grpSp>
      <p:grpSp>
        <p:nvGrpSpPr>
          <p:cNvPr id="853" name="Google Shape;853;p52"/>
          <p:cNvGrpSpPr/>
          <p:nvPr/>
        </p:nvGrpSpPr>
        <p:grpSpPr>
          <a:xfrm>
            <a:off x="9040430" y="277365"/>
            <a:ext cx="8356031" cy="4623810"/>
            <a:chOff x="0" y="-76200"/>
            <a:chExt cx="11141374" cy="6165080"/>
          </a:xfrm>
        </p:grpSpPr>
        <p:sp>
          <p:nvSpPr>
            <p:cNvPr id="854" name="Google Shape;854;p52"/>
            <p:cNvSpPr/>
            <p:nvPr/>
          </p:nvSpPr>
          <p:spPr>
            <a:xfrm>
              <a:off x="0" y="0"/>
              <a:ext cx="11141374" cy="6088880"/>
            </a:xfrm>
            <a:custGeom>
              <a:rect b="b" l="l" r="r" t="t"/>
              <a:pathLst>
                <a:path extrusionOk="0" h="6088880" w="11141374">
                  <a:moveTo>
                    <a:pt x="0" y="0"/>
                  </a:moveTo>
                  <a:lnTo>
                    <a:pt x="11141374" y="0"/>
                  </a:lnTo>
                  <a:lnTo>
                    <a:pt x="11141374" y="6088880"/>
                  </a:lnTo>
                  <a:lnTo>
                    <a:pt x="0" y="6088880"/>
                  </a:lnTo>
                  <a:close/>
                </a:path>
              </a:pathLst>
            </a:custGeom>
            <a:solidFill>
              <a:srgbClr val="000000">
                <a:alpha val="0"/>
              </a:srgbClr>
            </a:solidFill>
            <a:ln>
              <a:noFill/>
            </a:ln>
          </p:spPr>
        </p:sp>
        <p:sp>
          <p:nvSpPr>
            <p:cNvPr id="855" name="Google Shape;855;p52"/>
            <p:cNvSpPr txBox="1"/>
            <p:nvPr/>
          </p:nvSpPr>
          <p:spPr>
            <a:xfrm>
              <a:off x="0" y="-76200"/>
              <a:ext cx="11141374" cy="6165080"/>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171717"/>
                  </a:solidFill>
                  <a:latin typeface="Arimo"/>
                  <a:ea typeface="Arimo"/>
                  <a:cs typeface="Arimo"/>
                  <a:sym typeface="Arimo"/>
                </a:rPr>
                <a:t>La palabra clave synchronized se utiliza para crear bloques de código o métodos que están sincronizados o bloqueados, lo que significa que solo un hilo (thread) puede acceder a ese código o método a la vez. Esta característica se utiliza en programación concurrente para evitar problemas de concurrencia, como condiciones de carrera y accesos simultáneos a datos compartidos, que pueden llevar a comportamientos inesperados y errores en aplicaciones multi-hilo.</a:t>
              </a:r>
              <a:endParaRPr/>
            </a:p>
          </p:txBody>
        </p:sp>
      </p:grpSp>
      <p:sp>
        <p:nvSpPr>
          <p:cNvPr id="856" name="Google Shape;856;p52"/>
          <p:cNvSpPr/>
          <p:nvPr/>
        </p:nvSpPr>
        <p:spPr>
          <a:xfrm>
            <a:off x="460128" y="334515"/>
            <a:ext cx="7737979" cy="9526121"/>
          </a:xfrm>
          <a:custGeom>
            <a:rect b="b" l="l" r="r" t="t"/>
            <a:pathLst>
              <a:path extrusionOk="0" h="9526121" w="7737979">
                <a:moveTo>
                  <a:pt x="0" y="0"/>
                </a:moveTo>
                <a:lnTo>
                  <a:pt x="7737978" y="0"/>
                </a:lnTo>
                <a:lnTo>
                  <a:pt x="7737978" y="9526121"/>
                </a:lnTo>
                <a:lnTo>
                  <a:pt x="0" y="952612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53"/>
          <p:cNvSpPr/>
          <p:nvPr/>
        </p:nvSpPr>
        <p:spPr>
          <a:xfrm rot="-60000">
            <a:off x="-35284" y="-82865"/>
            <a:ext cx="9610821" cy="5219510"/>
          </a:xfrm>
          <a:custGeom>
            <a:rect b="b" l="l" r="r" t="t"/>
            <a:pathLst>
              <a:path extrusionOk="0" h="6959346" w="12814427">
                <a:moveTo>
                  <a:pt x="106807" y="0"/>
                </a:moveTo>
                <a:lnTo>
                  <a:pt x="12814427" y="221869"/>
                </a:lnTo>
                <a:lnTo>
                  <a:pt x="5026279" y="6155944"/>
                </a:lnTo>
                <a:lnTo>
                  <a:pt x="4936490" y="6220460"/>
                </a:lnTo>
                <a:cubicBezTo>
                  <a:pt x="4235831" y="6697218"/>
                  <a:pt x="3438271" y="6938264"/>
                  <a:pt x="2642235" y="6957314"/>
                </a:cubicBezTo>
                <a:cubicBezTo>
                  <a:pt x="2559304" y="6959346"/>
                  <a:pt x="2476373" y="6958838"/>
                  <a:pt x="2393696" y="6956044"/>
                </a:cubicBezTo>
                <a:cubicBezTo>
                  <a:pt x="1586611" y="6928485"/>
                  <a:pt x="791845" y="6673469"/>
                  <a:pt x="112268" y="6205093"/>
                </a:cubicBezTo>
                <a:lnTo>
                  <a:pt x="0" y="6119495"/>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2" name="Google Shape;862;p53"/>
          <p:cNvGrpSpPr/>
          <p:nvPr/>
        </p:nvGrpSpPr>
        <p:grpSpPr>
          <a:xfrm>
            <a:off x="786104" y="250939"/>
            <a:ext cx="6458838" cy="2720468"/>
            <a:chOff x="0" y="0"/>
            <a:chExt cx="8611784" cy="3627291"/>
          </a:xfrm>
        </p:grpSpPr>
        <p:sp>
          <p:nvSpPr>
            <p:cNvPr id="863" name="Google Shape;863;p53"/>
            <p:cNvSpPr/>
            <p:nvPr/>
          </p:nvSpPr>
          <p:spPr>
            <a:xfrm>
              <a:off x="0" y="0"/>
              <a:ext cx="8611784" cy="3627291"/>
            </a:xfrm>
            <a:custGeom>
              <a:rect b="b" l="l" r="r" t="t"/>
              <a:pathLst>
                <a:path extrusionOk="0" h="3627291" w="8611784">
                  <a:moveTo>
                    <a:pt x="0" y="0"/>
                  </a:moveTo>
                  <a:lnTo>
                    <a:pt x="8611784" y="0"/>
                  </a:lnTo>
                  <a:lnTo>
                    <a:pt x="8611784"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864" name="Google Shape;864;p53"/>
            <p:cNvSpPr txBox="1"/>
            <p:nvPr/>
          </p:nvSpPr>
          <p:spPr>
            <a:xfrm>
              <a:off x="0" y="28575"/>
              <a:ext cx="8611784" cy="359871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12700" u="none" cap="none" strike="noStrike">
                  <a:solidFill>
                    <a:srgbClr val="131416"/>
                  </a:solidFill>
                  <a:latin typeface="Play"/>
                  <a:ea typeface="Play"/>
                  <a:cs typeface="Play"/>
                  <a:sym typeface="Play"/>
                </a:rPr>
                <a:t>Atomic</a:t>
              </a:r>
              <a:endParaRPr/>
            </a:p>
          </p:txBody>
        </p:sp>
      </p:grpSp>
      <p:grpSp>
        <p:nvGrpSpPr>
          <p:cNvPr id="865" name="Google Shape;865;p53"/>
          <p:cNvGrpSpPr/>
          <p:nvPr/>
        </p:nvGrpSpPr>
        <p:grpSpPr>
          <a:xfrm>
            <a:off x="1028700" y="5314959"/>
            <a:ext cx="5661602" cy="4706876"/>
            <a:chOff x="0" y="-76200"/>
            <a:chExt cx="7548802" cy="6275834"/>
          </a:xfrm>
        </p:grpSpPr>
        <p:sp>
          <p:nvSpPr>
            <p:cNvPr id="866" name="Google Shape;866;p53"/>
            <p:cNvSpPr/>
            <p:nvPr/>
          </p:nvSpPr>
          <p:spPr>
            <a:xfrm>
              <a:off x="0" y="0"/>
              <a:ext cx="7548802" cy="6199634"/>
            </a:xfrm>
            <a:custGeom>
              <a:rect b="b" l="l" r="r" t="t"/>
              <a:pathLst>
                <a:path extrusionOk="0" h="6199634" w="7548802">
                  <a:moveTo>
                    <a:pt x="0" y="0"/>
                  </a:moveTo>
                  <a:lnTo>
                    <a:pt x="7548802" y="0"/>
                  </a:lnTo>
                  <a:lnTo>
                    <a:pt x="7548802" y="6199634"/>
                  </a:lnTo>
                  <a:lnTo>
                    <a:pt x="0" y="6199634"/>
                  </a:lnTo>
                  <a:close/>
                </a:path>
              </a:pathLst>
            </a:custGeom>
            <a:solidFill>
              <a:srgbClr val="000000">
                <a:alpha val="0"/>
              </a:srgbClr>
            </a:solidFill>
            <a:ln>
              <a:noFill/>
            </a:ln>
          </p:spPr>
        </p:sp>
        <p:sp>
          <p:nvSpPr>
            <p:cNvPr id="867" name="Google Shape;867;p53"/>
            <p:cNvSpPr txBox="1"/>
            <p:nvPr/>
          </p:nvSpPr>
          <p:spPr>
            <a:xfrm>
              <a:off x="0" y="-76200"/>
              <a:ext cx="7548802" cy="6275834"/>
            </a:xfrm>
            <a:prstGeom prst="rect">
              <a:avLst/>
            </a:prstGeom>
            <a:noFill/>
            <a:ln>
              <a:noFill/>
            </a:ln>
          </p:spPr>
          <p:txBody>
            <a:bodyPr anchorCtr="0" anchor="t" bIns="0" lIns="0" spcFirstLastPara="1" rIns="0" wrap="square" tIns="0">
              <a:noAutofit/>
            </a:bodyPr>
            <a:lstStyle/>
            <a:p>
              <a:pPr indent="0" lvl="0" marL="0" marR="0" rtl="0" algn="l">
                <a:lnSpc>
                  <a:spcPct val="143962"/>
                </a:lnSpc>
                <a:spcBef>
                  <a:spcPts val="0"/>
                </a:spcBef>
                <a:spcAft>
                  <a:spcPts val="0"/>
                </a:spcAft>
                <a:buNone/>
              </a:pPr>
              <a:r>
                <a:rPr b="0" i="0" lang="en-US" sz="2700" u="none" cap="none" strike="noStrike">
                  <a:solidFill>
                    <a:srgbClr val="171717"/>
                  </a:solidFill>
                  <a:latin typeface="Arimo"/>
                  <a:ea typeface="Arimo"/>
                  <a:cs typeface="Arimo"/>
                  <a:sym typeface="Arimo"/>
                </a:rPr>
                <a:t>Los tipos atómicos en Java, como AtomicInteger, AtomicLong, y AtomicReference, se utilizan para realizar operaciones de manera atómica, lo que significa que garantizan que ninguna otra operación se puede ejecutar al mismo tiempo en el mismo dato, evitando problemas de concurrencia.</a:t>
              </a:r>
              <a:endParaRPr/>
            </a:p>
          </p:txBody>
        </p:sp>
      </p:grpSp>
      <p:sp>
        <p:nvSpPr>
          <p:cNvPr id="868" name="Google Shape;868;p53"/>
          <p:cNvSpPr/>
          <p:nvPr/>
        </p:nvSpPr>
        <p:spPr>
          <a:xfrm>
            <a:off x="8358609" y="844478"/>
            <a:ext cx="8900691" cy="9055261"/>
          </a:xfrm>
          <a:custGeom>
            <a:rect b="b" l="l" r="r" t="t"/>
            <a:pathLst>
              <a:path extrusionOk="0" h="9055261" w="8900691">
                <a:moveTo>
                  <a:pt x="0" y="0"/>
                </a:moveTo>
                <a:lnTo>
                  <a:pt x="8900691" y="0"/>
                </a:lnTo>
                <a:lnTo>
                  <a:pt x="8900691" y="9055262"/>
                </a:lnTo>
                <a:lnTo>
                  <a:pt x="0" y="905526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54"/>
          <p:cNvSpPr/>
          <p:nvPr/>
        </p:nvSpPr>
        <p:spPr>
          <a:xfrm rot="-60000">
            <a:off x="5734450" y="6429243"/>
            <a:ext cx="12628343" cy="3967746"/>
          </a:xfrm>
          <a:custGeom>
            <a:rect b="b" l="l" r="r" t="t"/>
            <a:pathLst>
              <a:path extrusionOk="0" h="5290329" w="16837791">
                <a:moveTo>
                  <a:pt x="16697615" y="5290329"/>
                </a:moveTo>
                <a:lnTo>
                  <a:pt x="0" y="5121770"/>
                </a:lnTo>
                <a:lnTo>
                  <a:pt x="10233672" y="610803"/>
                </a:lnTo>
                <a:lnTo>
                  <a:pt x="10351654" y="561761"/>
                </a:lnTo>
                <a:cubicBezTo>
                  <a:pt x="11272309" y="199443"/>
                  <a:pt x="12320290" y="16209"/>
                  <a:pt x="13366269" y="1727"/>
                </a:cubicBezTo>
                <a:cubicBezTo>
                  <a:pt x="13475240" y="0"/>
                  <a:pt x="13584210" y="508"/>
                  <a:pt x="13692845" y="2693"/>
                </a:cubicBezTo>
                <a:cubicBezTo>
                  <a:pt x="14753343" y="23642"/>
                  <a:pt x="15797653" y="217496"/>
                  <a:pt x="16690608" y="573539"/>
                </a:cubicBezTo>
                <a:lnTo>
                  <a:pt x="16837791" y="638607"/>
                </a:lnTo>
                <a:close/>
              </a:path>
            </a:pathLst>
          </a:custGeom>
          <a:gradFill>
            <a:gsLst>
              <a:gs pos="0">
                <a:srgbClr val="E3E8E2"/>
              </a:gs>
              <a:gs pos="32000">
                <a:srgbClr val="E3E8E2"/>
              </a:gs>
              <a:gs pos="100000">
                <a:srgbClr val="DE6BEF"/>
              </a:gs>
            </a:gsLst>
            <a:lin ang="1446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4" name="Google Shape;874;p54"/>
          <p:cNvGrpSpPr/>
          <p:nvPr/>
        </p:nvGrpSpPr>
        <p:grpSpPr>
          <a:xfrm>
            <a:off x="10051686" y="7761342"/>
            <a:ext cx="8344926" cy="2720468"/>
            <a:chOff x="0" y="0"/>
            <a:chExt cx="11126567" cy="3627291"/>
          </a:xfrm>
        </p:grpSpPr>
        <p:sp>
          <p:nvSpPr>
            <p:cNvPr id="875" name="Google Shape;875;p54"/>
            <p:cNvSpPr/>
            <p:nvPr/>
          </p:nvSpPr>
          <p:spPr>
            <a:xfrm>
              <a:off x="0" y="0"/>
              <a:ext cx="11126567" cy="3627291"/>
            </a:xfrm>
            <a:custGeom>
              <a:rect b="b" l="l" r="r" t="t"/>
              <a:pathLst>
                <a:path extrusionOk="0" h="3627291" w="11126567">
                  <a:moveTo>
                    <a:pt x="0" y="0"/>
                  </a:moveTo>
                  <a:lnTo>
                    <a:pt x="11126567" y="0"/>
                  </a:lnTo>
                  <a:lnTo>
                    <a:pt x="11126567" y="3627291"/>
                  </a:lnTo>
                  <a:lnTo>
                    <a:pt x="0" y="3627291"/>
                  </a:lnTo>
                  <a:close/>
                </a:path>
              </a:pathLst>
            </a:custGeom>
            <a:gradFill>
              <a:gsLst>
                <a:gs pos="0">
                  <a:srgbClr val="F0F3F3">
                    <a:alpha val="0"/>
                  </a:srgbClr>
                </a:gs>
                <a:gs pos="39000">
                  <a:srgbClr val="F0F3F3">
                    <a:alpha val="0"/>
                  </a:srgbClr>
                </a:gs>
                <a:gs pos="100000">
                  <a:srgbClr val="F18F7F">
                    <a:alpha val="0"/>
                  </a:srgbClr>
                </a:gs>
              </a:gsLst>
              <a:lin ang="1200000" scaled="0"/>
            </a:gradFill>
            <a:ln>
              <a:noFill/>
            </a:ln>
          </p:spPr>
        </p:sp>
        <p:sp>
          <p:nvSpPr>
            <p:cNvPr id="876" name="Google Shape;876;p54"/>
            <p:cNvSpPr txBox="1"/>
            <p:nvPr/>
          </p:nvSpPr>
          <p:spPr>
            <a:xfrm>
              <a:off x="0" y="28575"/>
              <a:ext cx="11126567" cy="359871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US" sz="8000" u="none" cap="none" strike="noStrike">
                  <a:solidFill>
                    <a:srgbClr val="131416"/>
                  </a:solidFill>
                  <a:latin typeface="Play"/>
                  <a:ea typeface="Play"/>
                  <a:cs typeface="Play"/>
                  <a:sym typeface="Play"/>
                </a:rPr>
                <a:t>ReentrantLock</a:t>
              </a:r>
              <a:endParaRPr sz="8000"/>
            </a:p>
          </p:txBody>
        </p:sp>
      </p:grpSp>
      <p:grpSp>
        <p:nvGrpSpPr>
          <p:cNvPr id="877" name="Google Shape;877;p54"/>
          <p:cNvGrpSpPr/>
          <p:nvPr/>
        </p:nvGrpSpPr>
        <p:grpSpPr>
          <a:xfrm>
            <a:off x="8028149" y="971550"/>
            <a:ext cx="8356031" cy="4623810"/>
            <a:chOff x="0" y="-76200"/>
            <a:chExt cx="11141374" cy="6165080"/>
          </a:xfrm>
        </p:grpSpPr>
        <p:sp>
          <p:nvSpPr>
            <p:cNvPr id="878" name="Google Shape;878;p54"/>
            <p:cNvSpPr/>
            <p:nvPr/>
          </p:nvSpPr>
          <p:spPr>
            <a:xfrm>
              <a:off x="0" y="0"/>
              <a:ext cx="11141374" cy="6088880"/>
            </a:xfrm>
            <a:custGeom>
              <a:rect b="b" l="l" r="r" t="t"/>
              <a:pathLst>
                <a:path extrusionOk="0" h="6088880" w="11141374">
                  <a:moveTo>
                    <a:pt x="0" y="0"/>
                  </a:moveTo>
                  <a:lnTo>
                    <a:pt x="11141374" y="0"/>
                  </a:lnTo>
                  <a:lnTo>
                    <a:pt x="11141374" y="6088880"/>
                  </a:lnTo>
                  <a:lnTo>
                    <a:pt x="0" y="6088880"/>
                  </a:lnTo>
                  <a:close/>
                </a:path>
              </a:pathLst>
            </a:custGeom>
            <a:solidFill>
              <a:srgbClr val="000000">
                <a:alpha val="0"/>
              </a:srgbClr>
            </a:solidFill>
            <a:ln>
              <a:noFill/>
            </a:ln>
          </p:spPr>
        </p:sp>
        <p:sp>
          <p:nvSpPr>
            <p:cNvPr id="879" name="Google Shape;879;p54"/>
            <p:cNvSpPr txBox="1"/>
            <p:nvPr/>
          </p:nvSpPr>
          <p:spPr>
            <a:xfrm>
              <a:off x="0" y="-76200"/>
              <a:ext cx="11141374" cy="6165080"/>
            </a:xfrm>
            <a:prstGeom prst="rect">
              <a:avLst/>
            </a:prstGeom>
            <a:noFill/>
            <a:ln>
              <a:noFill/>
            </a:ln>
          </p:spPr>
          <p:txBody>
            <a:bodyPr anchorCtr="0" anchor="t" bIns="0" lIns="0" spcFirstLastPara="1" rIns="0" wrap="square" tIns="0">
              <a:noAutofit/>
            </a:bodyPr>
            <a:lstStyle/>
            <a:p>
              <a:pPr indent="0" lvl="0" marL="0" marR="0" rtl="0" algn="just">
                <a:lnSpc>
                  <a:spcPct val="143962"/>
                </a:lnSpc>
                <a:spcBef>
                  <a:spcPts val="0"/>
                </a:spcBef>
                <a:spcAft>
                  <a:spcPts val="0"/>
                </a:spcAft>
                <a:buNone/>
              </a:pPr>
              <a:r>
                <a:rPr b="0" i="0" lang="en-US" sz="2700" u="none" cap="none" strike="noStrike">
                  <a:solidFill>
                    <a:srgbClr val="000000"/>
                  </a:solidFill>
                  <a:latin typeface="Arimo"/>
                  <a:ea typeface="Arimo"/>
                  <a:cs typeface="Arimo"/>
                  <a:sym typeface="Arimo"/>
                </a:rPr>
                <a:t>ReentrantLock en Java es una implementación de la interfaz Lock que proporciona un mecanismo más flexible y poderoso para sincronización de hilos en comparación con synchronized blocks o métodos. A diferencia de synchronized, ReentrantLock permite la reentrada, lo que significa que un hilo que ya tiene el candado (lock) puede volver a adquirirlo sin causar un bloqueo, lo que es útil en situaciones específicas.</a:t>
              </a:r>
              <a:endParaRPr/>
            </a:p>
          </p:txBody>
        </p:sp>
      </p:grpSp>
      <p:sp>
        <p:nvSpPr>
          <p:cNvPr id="880" name="Google Shape;880;p54"/>
          <p:cNvSpPr/>
          <p:nvPr/>
        </p:nvSpPr>
        <p:spPr>
          <a:xfrm>
            <a:off x="505865" y="460128"/>
            <a:ext cx="7100463" cy="9660424"/>
          </a:xfrm>
          <a:custGeom>
            <a:rect b="b" l="l" r="r" t="t"/>
            <a:pathLst>
              <a:path extrusionOk="0" h="9660424" w="7100463">
                <a:moveTo>
                  <a:pt x="0" y="0"/>
                </a:moveTo>
                <a:lnTo>
                  <a:pt x="7100464" y="0"/>
                </a:lnTo>
                <a:lnTo>
                  <a:pt x="7100464" y="9660423"/>
                </a:lnTo>
                <a:lnTo>
                  <a:pt x="0" y="966042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55"/>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
        <p:nvSpPr>
          <p:cNvPr id="886" name="Google Shape;886;p55"/>
          <p:cNvSpPr txBox="1"/>
          <p:nvPr/>
        </p:nvSpPr>
        <p:spPr>
          <a:xfrm>
            <a:off x="6212437" y="3860833"/>
            <a:ext cx="6911332" cy="5004102"/>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Clases Abstractas</a:t>
            </a:r>
            <a:endParaRPr/>
          </a:p>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Interfaces</a:t>
            </a:r>
            <a:endParaRPr/>
          </a:p>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Miembros Estaticos</a:t>
            </a:r>
            <a:endParaRPr/>
          </a:p>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Miembros de Instancia</a:t>
            </a:r>
            <a:endParaRPr/>
          </a:p>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This</a:t>
            </a:r>
            <a:endParaRPr/>
          </a:p>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Serializacion</a:t>
            </a:r>
            <a:endParaRPr/>
          </a:p>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Definicion de Hilos</a:t>
            </a:r>
            <a:endParaRPr/>
          </a:p>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Concurrencia</a:t>
            </a:r>
            <a:endParaRPr/>
          </a:p>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Paralelismo</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56"/>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892" name="Google Shape;892;p56"/>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893" name="Google Shape;893;p56"/>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894" name="Google Shape;894;p56"/>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