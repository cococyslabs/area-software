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10287000" cx="18288000"/>
  <p:notesSz cx="6858000" cy="9144000"/>
  <p:embeddedFontLst>
    <p:embeddedFont>
      <p:font typeface="Pacifico"/>
      <p:regular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8" roundtripDataSignature="AMtx7miyIkqHeWfQPAEmdQ2seeJcUcg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0B978A-1888-4E14-ACD3-3DD32D73E81A}">
  <a:tblStyle styleId="{180B978A-1888-4E14-ACD3-3DD32D73E81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OpenSans-regular.fntdata"/><Relationship Id="rId21" Type="http://schemas.openxmlformats.org/officeDocument/2006/relationships/slide" Target="slides/slide15.xml"/><Relationship Id="rId43" Type="http://schemas.openxmlformats.org/officeDocument/2006/relationships/font" Target="fonts/Pacifico-regular.fntdata"/><Relationship Id="rId24" Type="http://schemas.openxmlformats.org/officeDocument/2006/relationships/slide" Target="slides/slide18.xml"/><Relationship Id="rId46" Type="http://schemas.openxmlformats.org/officeDocument/2006/relationships/font" Target="fonts/OpenSans-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5c60227a6a_2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5c60227a6a_2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c60227a6a_2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5c60227a6a_2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c60227a6a_2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5c60227a6a_2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c60227a6a_2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35c60227a6a_2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c60227a6a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5c60227a6a_2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5c60227a6a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5c60227a6a_2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5c60227a6a_2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5c60227a6a_2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c60227a6a_2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5c60227a6a_2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c60227a6a_2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5c60227a6a_2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c60227a6a_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35c60227a6a_2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c60227a6a_2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35c60227a6a_2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c60227a6a_2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35c60227a6a_2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5c660dae7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35c660dae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5c60227a6a_2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35c60227a6a_2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c60227a6a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35c60227a6a_2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c60227a6a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5c60227a6a_2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c660dae79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5c660dae7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5c660dae7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35c660dae7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c660dae7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5c660dae7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c660dae79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5c660dae7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c660dae79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5c660dae79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5c660dae79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g35c660dae7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c60227a6a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5c60227a6a_2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c660dae79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5c660dae79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c660dae79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g35c660dae79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5c60227a6a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5c60227a6a_2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5c60227a6a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35c60227a6a_2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5c60227a6a_2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5c60227a6a_2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5c60227a6a_2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35c60227a6a_2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c660dae79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35c660dae79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296" y="6490925"/>
            <a:ext cx="130932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lang="en-US" sz="5000">
                <a:solidFill>
                  <a:srgbClr val="131416"/>
                </a:solidFill>
                <a:latin typeface="Open Sans"/>
                <a:ea typeface="Open Sans"/>
                <a:cs typeface="Open Sans"/>
                <a:sym typeface="Open Sans"/>
              </a:rPr>
              <a:t>Introducción a la Programación y Computación 1</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87405" y="39156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Introducción a Java</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81353" y="8540776"/>
            <a:ext cx="6981300" cy="1461900"/>
          </a:xfrm>
          <a:prstGeom prst="rect">
            <a:avLst/>
          </a:prstGeom>
          <a:noFill/>
          <a:ln>
            <a:noFill/>
          </a:ln>
        </p:spPr>
        <p:txBody>
          <a:bodyPr anchorCtr="0" anchor="t" bIns="0" lIns="0" spcFirstLastPara="1" rIns="0" wrap="square" tIns="0">
            <a:spAutoFit/>
          </a:bodyPr>
          <a:lstStyle/>
          <a:p>
            <a:pPr indent="0" lvl="0" marL="0" rtl="0" algn="l">
              <a:lnSpc>
                <a:spcPct val="140016"/>
              </a:lnSpc>
              <a:spcBef>
                <a:spcPts val="0"/>
              </a:spcBef>
              <a:spcAft>
                <a:spcPts val="0"/>
              </a:spcAft>
              <a:buClr>
                <a:schemeClr val="dk1"/>
              </a:buClr>
              <a:buSzPts val="2499"/>
              <a:buFont typeface="Arial"/>
              <a:buNone/>
            </a:pPr>
            <a:r>
              <a:rPr b="1" lang="en-US" sz="2499">
                <a:solidFill>
                  <a:srgbClr val="131416"/>
                </a:solidFill>
                <a:latin typeface="Open Sans"/>
                <a:ea typeface="Open Sans"/>
                <a:cs typeface="Open Sans"/>
                <a:sym typeface="Open Sans"/>
              </a:rPr>
              <a:t>Universidad de San Carlos de Guatemala</a:t>
            </a:r>
            <a:endParaRPr b="1" sz="2499">
              <a:solidFill>
                <a:srgbClr val="131416"/>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2499"/>
              <a:buFont typeface="Arial"/>
              <a:buNone/>
            </a:pPr>
            <a:r>
              <a:rPr b="1" lang="en-US" sz="2499">
                <a:solidFill>
                  <a:srgbClr val="131416"/>
                </a:solidFill>
                <a:latin typeface="Open Sans"/>
                <a:ea typeface="Open Sans"/>
                <a:cs typeface="Open Sans"/>
                <a:sym typeface="Open Sans"/>
              </a:rPr>
              <a:t>Facultad de Ingeniería</a:t>
            </a:r>
            <a:endParaRPr b="1" sz="2499">
              <a:solidFill>
                <a:srgbClr val="131416"/>
              </a:solidFill>
              <a:latin typeface="Open Sans"/>
              <a:ea typeface="Open Sans"/>
              <a:cs typeface="Open Sans"/>
              <a:sym typeface="Open Sans"/>
            </a:endParaRPr>
          </a:p>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Ciencias Y Sistemas</a:t>
            </a:r>
            <a:endParaRPr b="1" i="0" sz="2499" u="none" cap="none" strike="noStrike">
              <a:solidFill>
                <a:srgbClr val="131416"/>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2"/>
          <p:cNvGrpSpPr/>
          <p:nvPr/>
        </p:nvGrpSpPr>
        <p:grpSpPr>
          <a:xfrm>
            <a:off x="176619" y="4540188"/>
            <a:ext cx="4872264" cy="845566"/>
            <a:chOff x="0" y="-67811"/>
            <a:chExt cx="2074368" cy="360000"/>
          </a:xfrm>
        </p:grpSpPr>
        <p:sp>
          <p:nvSpPr>
            <p:cNvPr id="93" name="Google Shape;9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4" name="Google Shape;94;p2"/>
            <p:cNvSpPr txBox="1"/>
            <p:nvPr/>
          </p:nvSpPr>
          <p:spPr>
            <a:xfrm>
              <a:off x="73668" y="-67811"/>
              <a:ext cx="20007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¿Qué es Java?</a:t>
              </a:r>
              <a:endParaRPr b="0" i="0" sz="1400" u="none" cap="none" strike="noStrike">
                <a:solidFill>
                  <a:srgbClr val="000000"/>
                </a:solidFill>
                <a:latin typeface="Arial"/>
                <a:ea typeface="Arial"/>
                <a:cs typeface="Arial"/>
                <a:sym typeface="Arial"/>
              </a:endParaRPr>
            </a:p>
          </p:txBody>
        </p:sp>
      </p:grpSp>
      <p:sp>
        <p:nvSpPr>
          <p:cNvPr id="95" name="Google Shape;95;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6" name="Google Shape;96;p2"/>
          <p:cNvGrpSpPr/>
          <p:nvPr/>
        </p:nvGrpSpPr>
        <p:grpSpPr>
          <a:xfrm>
            <a:off x="1866989" y="3013983"/>
            <a:ext cx="4115190" cy="1556484"/>
            <a:chOff x="0" y="-76200"/>
            <a:chExt cx="1083836" cy="409938"/>
          </a:xfrm>
        </p:grpSpPr>
        <p:sp>
          <p:nvSpPr>
            <p:cNvPr id="97" name="Google Shape;97;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98" name="Google Shape;98;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99" name="Google Shape;99;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00" name="Google Shape;100;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grpSp>
        <p:nvGrpSpPr>
          <p:cNvPr id="101" name="Google Shape;101;p2"/>
          <p:cNvGrpSpPr/>
          <p:nvPr/>
        </p:nvGrpSpPr>
        <p:grpSpPr>
          <a:xfrm>
            <a:off x="176619" y="5473088"/>
            <a:ext cx="10220725" cy="845566"/>
            <a:chOff x="0" y="-63944"/>
            <a:chExt cx="4351477" cy="360000"/>
          </a:xfrm>
        </p:grpSpPr>
        <p:sp>
          <p:nvSpPr>
            <p:cNvPr id="102" name="Google Shape;10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3" name="Google Shape;103;p2"/>
            <p:cNvSpPr txBox="1"/>
            <p:nvPr/>
          </p:nvSpPr>
          <p:spPr>
            <a:xfrm>
              <a:off x="60277" y="-63944"/>
              <a:ext cx="42912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Versiones y ambientes de Java (JDK, JRE, JVM)</a:t>
              </a:r>
              <a:endParaRPr b="0" i="0" sz="1400" u="none" cap="none" strike="noStrike">
                <a:solidFill>
                  <a:srgbClr val="000000"/>
                </a:solidFill>
                <a:latin typeface="Arial"/>
                <a:ea typeface="Arial"/>
                <a:cs typeface="Arial"/>
                <a:sym typeface="Arial"/>
              </a:endParaRPr>
            </a:p>
          </p:txBody>
        </p:sp>
      </p:grpSp>
      <p:grpSp>
        <p:nvGrpSpPr>
          <p:cNvPr id="104" name="Google Shape;104;p2"/>
          <p:cNvGrpSpPr/>
          <p:nvPr/>
        </p:nvGrpSpPr>
        <p:grpSpPr>
          <a:xfrm>
            <a:off x="176625" y="6425872"/>
            <a:ext cx="6728635" cy="845387"/>
            <a:chOff x="0" y="-76200"/>
            <a:chExt cx="1964221" cy="359923"/>
          </a:xfrm>
        </p:grpSpPr>
        <p:sp>
          <p:nvSpPr>
            <p:cNvPr id="105" name="Google Shape;10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6" name="Google Shape;10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Caracteristicas de Java</a:t>
              </a:r>
              <a:endParaRPr b="0" i="0" sz="1400" u="none" cap="none" strike="noStrike">
                <a:solidFill>
                  <a:srgbClr val="000000"/>
                </a:solidFill>
                <a:latin typeface="Arial"/>
                <a:ea typeface="Arial"/>
                <a:cs typeface="Arial"/>
                <a:sym typeface="Arial"/>
              </a:endParaRPr>
            </a:p>
          </p:txBody>
        </p:sp>
      </p:grpSp>
      <p:grpSp>
        <p:nvGrpSpPr>
          <p:cNvPr id="107" name="Google Shape;107;p2"/>
          <p:cNvGrpSpPr/>
          <p:nvPr/>
        </p:nvGrpSpPr>
        <p:grpSpPr>
          <a:xfrm>
            <a:off x="-84100" y="7419300"/>
            <a:ext cx="9458779" cy="845568"/>
            <a:chOff x="-55677" y="-46463"/>
            <a:chExt cx="2019898" cy="360000"/>
          </a:xfrm>
        </p:grpSpPr>
        <p:sp>
          <p:nvSpPr>
            <p:cNvPr id="108" name="Google Shape;10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9" name="Google Shape;109;p2"/>
            <p:cNvSpPr txBox="1"/>
            <p:nvPr/>
          </p:nvSpPr>
          <p:spPr>
            <a:xfrm>
              <a:off x="-55677" y="-46463"/>
              <a:ext cx="19272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Comentarios de una línea y multilínea</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6" y="8412915"/>
            <a:ext cx="4790176" cy="845566"/>
            <a:chOff x="-75198" y="-76200"/>
            <a:chExt cx="2039419" cy="360000"/>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2" name="Google Shape;112;p2"/>
            <p:cNvSpPr txBox="1"/>
            <p:nvPr/>
          </p:nvSpPr>
          <p:spPr>
            <a:xfrm>
              <a:off x="-75198"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Variables</a:t>
              </a:r>
              <a:endParaRPr b="0" i="0" sz="1400" u="none" cap="none" strike="noStrike">
                <a:solidFill>
                  <a:srgbClr val="000000"/>
                </a:solidFill>
                <a:latin typeface="Arial"/>
                <a:ea typeface="Arial"/>
                <a:cs typeface="Arial"/>
                <a:sym typeface="Arial"/>
              </a:endParaRPr>
            </a:p>
          </p:txBody>
        </p:sp>
      </p:grpSp>
      <p:sp>
        <p:nvSpPr>
          <p:cNvPr id="113" name="Google Shape;113;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4" name="Google Shape;114;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5" name="Google Shape;115;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6" name="Google Shape;116;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grpSp>
        <p:nvGrpSpPr>
          <p:cNvPr id="117" name="Google Shape;117;p2"/>
          <p:cNvGrpSpPr/>
          <p:nvPr/>
        </p:nvGrpSpPr>
        <p:grpSpPr>
          <a:xfrm>
            <a:off x="10177169" y="4540175"/>
            <a:ext cx="7685718" cy="845568"/>
            <a:chOff x="0" y="-67816"/>
            <a:chExt cx="3272189" cy="360000"/>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298889" y="-67816"/>
              <a:ext cx="29733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Tipos de datos primitivos/no primitivos</a:t>
              </a:r>
              <a:endParaRPr b="0" i="0" sz="1400" u="none" cap="none" strike="noStrike">
                <a:solidFill>
                  <a:srgbClr val="000000"/>
                </a:solidFill>
                <a:latin typeface="Arial"/>
                <a:ea typeface="Arial"/>
                <a:cs typeface="Arial"/>
                <a:sym typeface="Arial"/>
              </a:endParaRPr>
            </a:p>
          </p:txBody>
        </p:sp>
      </p:grpSp>
      <p:sp>
        <p:nvSpPr>
          <p:cNvPr id="120" name="Google Shape;120;p2"/>
          <p:cNvSpPr/>
          <p:nvPr/>
        </p:nvSpPr>
        <p:spPr>
          <a:xfrm>
            <a:off x="1072190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21" name="Google Shape;121;p2"/>
          <p:cNvGrpSpPr/>
          <p:nvPr/>
        </p:nvGrpSpPr>
        <p:grpSpPr>
          <a:xfrm>
            <a:off x="10019869" y="5478000"/>
            <a:ext cx="7313982" cy="845568"/>
            <a:chOff x="0" y="-65725"/>
            <a:chExt cx="3113923" cy="360000"/>
          </a:xfrm>
        </p:grpSpPr>
        <p:sp>
          <p:nvSpPr>
            <p:cNvPr id="122" name="Google Shape;12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3" name="Google Shape;123;p2"/>
            <p:cNvSpPr txBox="1"/>
            <p:nvPr/>
          </p:nvSpPr>
          <p:spPr>
            <a:xfrm>
              <a:off x="160723" y="-65725"/>
              <a:ext cx="29532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Casteos implícitos y explícitos</a:t>
              </a:r>
              <a:endParaRPr b="0" i="0" sz="1400" u="none" cap="none" strike="noStrike">
                <a:solidFill>
                  <a:srgbClr val="000000"/>
                </a:solidFill>
                <a:latin typeface="Arial"/>
                <a:ea typeface="Arial"/>
                <a:cs typeface="Arial"/>
                <a:sym typeface="Arial"/>
              </a:endParaRPr>
            </a:p>
          </p:txBody>
        </p:sp>
      </p:grpSp>
      <p:sp>
        <p:nvSpPr>
          <p:cNvPr id="124" name="Google Shape;124;p2"/>
          <p:cNvSpPr/>
          <p:nvPr/>
        </p:nvSpPr>
        <p:spPr>
          <a:xfrm>
            <a:off x="10721904" y="56733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25" name="Google Shape;125;p2"/>
          <p:cNvGrpSpPr/>
          <p:nvPr/>
        </p:nvGrpSpPr>
        <p:grpSpPr>
          <a:xfrm>
            <a:off x="10019869" y="6670312"/>
            <a:ext cx="7773481" cy="886543"/>
            <a:chOff x="0" y="0"/>
            <a:chExt cx="3309554" cy="377445"/>
          </a:xfrm>
        </p:grpSpPr>
        <p:sp>
          <p:nvSpPr>
            <p:cNvPr id="126" name="Google Shape;126;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7" name="Google Shape;127;p2"/>
            <p:cNvSpPr txBox="1"/>
            <p:nvPr/>
          </p:nvSpPr>
          <p:spPr>
            <a:xfrm>
              <a:off x="364454" y="17445"/>
              <a:ext cx="2945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Operadores aritméticos, relacionales y lógicos</a:t>
              </a:r>
              <a:endParaRPr b="0" i="0" sz="1400" u="none" cap="none" strike="noStrike">
                <a:solidFill>
                  <a:srgbClr val="000000"/>
                </a:solidFill>
                <a:latin typeface="Arial"/>
                <a:ea typeface="Arial"/>
                <a:cs typeface="Arial"/>
                <a:sym typeface="Arial"/>
              </a:endParaRPr>
            </a:p>
          </p:txBody>
        </p:sp>
      </p:grpSp>
      <p:sp>
        <p:nvSpPr>
          <p:cNvPr id="128" name="Google Shape;128;p2"/>
          <p:cNvSpPr/>
          <p:nvPr/>
        </p:nvSpPr>
        <p:spPr>
          <a:xfrm>
            <a:off x="10721904" y="671129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29" name="Google Shape;129;p2"/>
          <p:cNvGrpSpPr/>
          <p:nvPr/>
        </p:nvGrpSpPr>
        <p:grpSpPr>
          <a:xfrm>
            <a:off x="10019869" y="7644212"/>
            <a:ext cx="4872276" cy="845568"/>
            <a:chOff x="0" y="-67811"/>
            <a:chExt cx="2074368" cy="360000"/>
          </a:xfrm>
        </p:grpSpPr>
        <p:sp>
          <p:nvSpPr>
            <p:cNvPr id="130" name="Google Shape;13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1" name="Google Shape;131;p2"/>
            <p:cNvSpPr txBox="1"/>
            <p:nvPr/>
          </p:nvSpPr>
          <p:spPr>
            <a:xfrm>
              <a:off x="73668" y="-67811"/>
              <a:ext cx="20007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Input y Output</a:t>
              </a:r>
              <a:endParaRPr b="0" i="0" sz="1400" u="none" cap="none" strike="noStrike">
                <a:solidFill>
                  <a:srgbClr val="000000"/>
                </a:solidFill>
                <a:latin typeface="Arial"/>
                <a:ea typeface="Arial"/>
                <a:cs typeface="Arial"/>
                <a:sym typeface="Arial"/>
              </a:endParaRPr>
            </a:p>
          </p:txBody>
        </p:sp>
      </p:grpSp>
      <p:sp>
        <p:nvSpPr>
          <p:cNvPr id="132" name="Google Shape;132;p2"/>
          <p:cNvSpPr/>
          <p:nvPr/>
        </p:nvSpPr>
        <p:spPr>
          <a:xfrm>
            <a:off x="10721904" y="784446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38" name="Google Shape;138;p3"/>
          <p:cNvSpPr txBox="1"/>
          <p:nvPr/>
        </p:nvSpPr>
        <p:spPr>
          <a:xfrm>
            <a:off x="2202102" y="3287425"/>
            <a:ext cx="14491800" cy="3047700"/>
          </a:xfrm>
          <a:prstGeom prst="rect">
            <a:avLst/>
          </a:prstGeom>
          <a:noFill/>
          <a:ln>
            <a:noFill/>
          </a:ln>
        </p:spPr>
        <p:txBody>
          <a:bodyPr anchorCtr="0" anchor="t" bIns="0" lIns="0" spcFirstLastPara="1" rIns="0" wrap="square" tIns="0">
            <a:spAutoFit/>
          </a:bodyPr>
          <a:lstStyle/>
          <a:p>
            <a:pPr indent="-419100" lvl="0" marL="457200" marR="0" rtl="0" algn="l">
              <a:lnSpc>
                <a:spcPct val="140007"/>
              </a:lnSpc>
              <a:spcBef>
                <a:spcPts val="0"/>
              </a:spcBef>
              <a:spcAft>
                <a:spcPts val="0"/>
              </a:spcAft>
              <a:buClr>
                <a:srgbClr val="000000"/>
              </a:buClr>
              <a:buSzPts val="3000"/>
              <a:buFont typeface="Open Sans"/>
              <a:buChar char="●"/>
            </a:pPr>
            <a:r>
              <a:rPr lang="en-US" sz="3000">
                <a:solidFill>
                  <a:srgbClr val="131416"/>
                </a:solidFill>
                <a:latin typeface="Open Sans"/>
                <a:ea typeface="Open Sans"/>
                <a:cs typeface="Open Sans"/>
                <a:sym typeface="Open Sans"/>
              </a:rPr>
              <a:t>Comprender los fundamentos del lenguaje Java</a:t>
            </a:r>
            <a:endParaRPr sz="3000">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lang="en-US" sz="3000">
                <a:solidFill>
                  <a:srgbClr val="131416"/>
                </a:solidFill>
                <a:latin typeface="Open Sans"/>
                <a:ea typeface="Open Sans"/>
                <a:cs typeface="Open Sans"/>
                <a:sym typeface="Open Sans"/>
              </a:rPr>
              <a:t>Distinguir los distintos tipos de datos en Java</a:t>
            </a:r>
            <a:endParaRPr sz="3000">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lang="en-US" sz="3000">
                <a:solidFill>
                  <a:srgbClr val="131416"/>
                </a:solidFill>
                <a:latin typeface="Open Sans"/>
                <a:ea typeface="Open Sans"/>
                <a:cs typeface="Open Sans"/>
                <a:sym typeface="Open Sans"/>
              </a:rPr>
              <a:t>Aplicar correctamente los operadores aritméticos, relacionales y lógicos</a:t>
            </a:r>
            <a:endParaRPr sz="3000">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lang="en-US" sz="3000">
                <a:solidFill>
                  <a:srgbClr val="131416"/>
                </a:solidFill>
                <a:latin typeface="Open Sans"/>
                <a:ea typeface="Open Sans"/>
                <a:cs typeface="Open Sans"/>
                <a:sym typeface="Open Sans"/>
              </a:rPr>
              <a:t>Realizar conversiones de datos mediante casteo implícito y explícito</a:t>
            </a:r>
            <a:endParaRPr sz="3000">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lang="en-US" sz="3000">
                <a:solidFill>
                  <a:srgbClr val="131416"/>
                </a:solidFill>
                <a:latin typeface="Open Sans"/>
                <a:ea typeface="Open Sans"/>
                <a:cs typeface="Open Sans"/>
                <a:sym typeface="Open Sans"/>
              </a:rPr>
              <a:t>Desarrollar programas simples que utilicen entrada y salida de datos.</a:t>
            </a:r>
            <a:endParaRPr sz="3000">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nvSpPr>
        <p:spPr>
          <a:xfrm>
            <a:off x="1374900" y="2123500"/>
            <a:ext cx="13174800" cy="5706300"/>
          </a:xfrm>
          <a:prstGeom prst="rect">
            <a:avLst/>
          </a:prstGeom>
          <a:noFill/>
          <a:ln>
            <a:noFill/>
          </a:ln>
        </p:spPr>
        <p:txBody>
          <a:bodyPr anchorCtr="0" anchor="t" bIns="0" lIns="0" spcFirstLastPara="1" rIns="0" wrap="square" tIns="0">
            <a:spAutoFit/>
          </a:bodyPr>
          <a:lstStyle/>
          <a:p>
            <a:pPr indent="0" lvl="0" marL="0" rtl="0" algn="just">
              <a:lnSpc>
                <a:spcPct val="173070"/>
              </a:lnSpc>
              <a:spcBef>
                <a:spcPts val="0"/>
              </a:spcBef>
              <a:spcAft>
                <a:spcPts val="0"/>
              </a:spcAft>
              <a:buClr>
                <a:schemeClr val="dk1"/>
              </a:buClr>
              <a:buSzPts val="1100"/>
              <a:buFont typeface="Arial"/>
              <a:buNone/>
            </a:pPr>
            <a:r>
              <a:rPr lang="en-US" sz="2025">
                <a:solidFill>
                  <a:srgbClr val="131416"/>
                </a:solidFill>
              </a:rPr>
              <a:t>Java es una tecnología que se usa para el desarrollo de aplicaciones que convierten a la Web en un elemento más interesante y útil. Java no es lo mismo que JavaScript, que se trata de una tecnología sencilla que se usa para crear páginas web y solamente se ejecuta en el explorador.</a:t>
            </a:r>
            <a:endParaRPr sz="2025">
              <a:solidFill>
                <a:srgbClr val="131416"/>
              </a:solidFill>
            </a:endParaRPr>
          </a:p>
          <a:p>
            <a:pPr indent="0" lvl="0" marL="0" rtl="0" algn="just">
              <a:lnSpc>
                <a:spcPct val="173070"/>
              </a:lnSpc>
              <a:spcBef>
                <a:spcPts val="0"/>
              </a:spcBef>
              <a:spcAft>
                <a:spcPts val="0"/>
              </a:spcAft>
              <a:buClr>
                <a:schemeClr val="dk1"/>
              </a:buClr>
              <a:buSzPts val="1100"/>
              <a:buFont typeface="Arial"/>
              <a:buNone/>
            </a:pPr>
            <a:r>
              <a:t/>
            </a:r>
            <a:endParaRPr sz="2025">
              <a:solidFill>
                <a:srgbClr val="131416"/>
              </a:solidFill>
            </a:endParaRPr>
          </a:p>
          <a:p>
            <a:pPr indent="0" lvl="0" marL="0" rtl="0" algn="just">
              <a:lnSpc>
                <a:spcPct val="173070"/>
              </a:lnSpc>
              <a:spcBef>
                <a:spcPts val="0"/>
              </a:spcBef>
              <a:spcAft>
                <a:spcPts val="0"/>
              </a:spcAft>
              <a:buClr>
                <a:schemeClr val="dk1"/>
              </a:buClr>
              <a:buSzPts val="1100"/>
              <a:buFont typeface="Arial"/>
              <a:buNone/>
            </a:pPr>
            <a:r>
              <a:rPr lang="en-US" sz="2025">
                <a:solidFill>
                  <a:srgbClr val="131416"/>
                </a:solidFill>
              </a:rPr>
              <a:t>Es un lenguaje de programación y una plataforma informática comercializada por primera vez en 1995 por Sun Microsystems. Hay muchas aplicaciones y sitios web que no funcionarían a menos que se disponga de Java instalado, y cada día se crean más. Java es rápido, seguro y fiable. Se utiliza en portátiles, centros de datos, consolas para juegos, super computadoras, teléfonos móviles e Internet. Java está en todas partes, y es ejecutado en una plataforma que no tiene que ser recompilado para correr en otra. Java es, a partir de 2012, uno de los lenguajes de programación más populares en uso, particularmente para aplicaciones de cliente-servidor de web, con unos diez millones de usuarios reportados.</a:t>
            </a:r>
            <a:endParaRPr sz="3625">
              <a:solidFill>
                <a:srgbClr val="131416"/>
              </a:solidFill>
            </a:endParaRPr>
          </a:p>
        </p:txBody>
      </p:sp>
      <p:sp>
        <p:nvSpPr>
          <p:cNvPr id="144" name="Google Shape;144;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¿Que es Java?</a:t>
            </a:r>
            <a:endParaRPr b="0" i="0" sz="1400" u="none" cap="none" strike="noStrike">
              <a:solidFill>
                <a:srgbClr val="000000"/>
              </a:solidFill>
              <a:latin typeface="Impact"/>
              <a:ea typeface="Impact"/>
              <a:cs typeface="Impact"/>
              <a:sym typeface="Impact"/>
            </a:endParaRPr>
          </a:p>
        </p:txBody>
      </p:sp>
      <p:pic>
        <p:nvPicPr>
          <p:cNvPr id="145" name="Google Shape;145;p4"/>
          <p:cNvPicPr preferRelativeResize="0"/>
          <p:nvPr/>
        </p:nvPicPr>
        <p:blipFill>
          <a:blip r:embed="rId3">
            <a:alphaModFix/>
          </a:blip>
          <a:stretch>
            <a:fillRect/>
          </a:stretch>
        </p:blipFill>
        <p:spPr>
          <a:xfrm>
            <a:off x="14623350" y="6841789"/>
            <a:ext cx="2946000" cy="294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5c60227a6a_2_100"/>
          <p:cNvSpPr txBox="1"/>
          <p:nvPr/>
        </p:nvSpPr>
        <p:spPr>
          <a:xfrm>
            <a:off x="1392603" y="1973975"/>
            <a:ext cx="15502800" cy="7627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US" sz="1925">
                <a:solidFill>
                  <a:srgbClr val="131416"/>
                </a:solidFill>
              </a:rPr>
              <a:t>JAVA 1.0 A 1.2</a:t>
            </a:r>
            <a:endParaRPr b="1"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1.0: Versión de lanzamiento, incluye las clases principales, máquina virtual, y AWT.</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1.1: Incorpora Readers/Writers, Calendars y Bundles. Notable por la inclusión de JavaBeans y JDBC.</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1.2: Incorpora Collections y Swing.</a:t>
            </a:r>
            <a:endParaRPr sz="1925">
              <a:solidFill>
                <a:srgbClr val="131416"/>
              </a:solidFill>
            </a:endParaRPr>
          </a:p>
          <a:p>
            <a:pPr indent="0" lvl="0" marL="0" marR="0" rtl="0" algn="l">
              <a:lnSpc>
                <a:spcPct val="173070"/>
              </a:lnSpc>
              <a:spcBef>
                <a:spcPts val="0"/>
              </a:spcBef>
              <a:spcAft>
                <a:spcPts val="0"/>
              </a:spcAft>
              <a:buNone/>
            </a:pPr>
            <a:r>
              <a:t/>
            </a:r>
            <a:endParaRPr sz="1925">
              <a:solidFill>
                <a:srgbClr val="131416"/>
              </a:solidFill>
            </a:endParaRPr>
          </a:p>
          <a:p>
            <a:pPr indent="0" lvl="0" marL="0" rtl="0" algn="l">
              <a:lnSpc>
                <a:spcPct val="115000"/>
              </a:lnSpc>
              <a:spcBef>
                <a:spcPts val="0"/>
              </a:spcBef>
              <a:spcAft>
                <a:spcPts val="0"/>
              </a:spcAft>
              <a:buNone/>
            </a:pPr>
            <a:r>
              <a:rPr b="1" lang="en-US" sz="1925">
                <a:solidFill>
                  <a:srgbClr val="131416"/>
                </a:solidFill>
              </a:rPr>
              <a:t>JAVA 1.3 A 1.5</a:t>
            </a:r>
            <a:endParaRPr b="1"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1.3: Máquina virtual con compilación JIT.</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1.4: APIs de soporte XML, RegEx, y criptografía.</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1.5: Java reconoce estas versiones como SE. Inclusión de tipado genérico y anotaciones.</a:t>
            </a:r>
            <a:endParaRPr sz="1925">
              <a:solidFill>
                <a:srgbClr val="131416"/>
              </a:solidFill>
            </a:endParaRPr>
          </a:p>
          <a:p>
            <a:pPr indent="0" lvl="0" marL="0" marR="0" rtl="0" algn="l">
              <a:lnSpc>
                <a:spcPct val="173070"/>
              </a:lnSpc>
              <a:spcBef>
                <a:spcPts val="0"/>
              </a:spcBef>
              <a:spcAft>
                <a:spcPts val="0"/>
              </a:spcAft>
              <a:buNone/>
            </a:pPr>
            <a:r>
              <a:t/>
            </a:r>
            <a:endParaRPr sz="1925">
              <a:solidFill>
                <a:srgbClr val="131416"/>
              </a:solidFill>
            </a:endParaRPr>
          </a:p>
          <a:p>
            <a:pPr indent="0" lvl="0" marL="0" rtl="0" algn="l">
              <a:lnSpc>
                <a:spcPct val="115000"/>
              </a:lnSpc>
              <a:spcBef>
                <a:spcPts val="0"/>
              </a:spcBef>
              <a:spcAft>
                <a:spcPts val="0"/>
              </a:spcAft>
              <a:buNone/>
            </a:pPr>
            <a:r>
              <a:rPr b="1" lang="en-US" sz="1925">
                <a:solidFill>
                  <a:srgbClr val="131416"/>
                </a:solidFill>
              </a:rPr>
              <a:t>JAVA 6 A 8</a:t>
            </a:r>
            <a:endParaRPr b="1"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1.6: Compilación “on the fly” para servicios web.</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1.7: Mejoras en la máquina virtual y recolector de basura.</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1.8: Expresiones lambda, streams.</a:t>
            </a:r>
            <a:endParaRPr sz="1925">
              <a:solidFill>
                <a:srgbClr val="131416"/>
              </a:solidFill>
            </a:endParaRPr>
          </a:p>
          <a:p>
            <a:pPr indent="0" lvl="0" marL="0" marR="0" rtl="0" algn="l">
              <a:lnSpc>
                <a:spcPct val="173070"/>
              </a:lnSpc>
              <a:spcBef>
                <a:spcPts val="0"/>
              </a:spcBef>
              <a:spcAft>
                <a:spcPts val="0"/>
              </a:spcAft>
              <a:buNone/>
            </a:pPr>
            <a:r>
              <a:t/>
            </a:r>
            <a:endParaRPr sz="1925">
              <a:solidFill>
                <a:srgbClr val="131416"/>
              </a:solidFill>
            </a:endParaRPr>
          </a:p>
          <a:p>
            <a:pPr indent="0" lvl="0" marL="0" rtl="0" algn="l">
              <a:lnSpc>
                <a:spcPct val="115000"/>
              </a:lnSpc>
              <a:spcBef>
                <a:spcPts val="0"/>
              </a:spcBef>
              <a:spcAft>
                <a:spcPts val="0"/>
              </a:spcAft>
              <a:buNone/>
            </a:pPr>
            <a:r>
              <a:rPr b="1" lang="en-US" sz="1925">
                <a:solidFill>
                  <a:srgbClr val="131416"/>
                </a:solidFill>
              </a:rPr>
              <a:t>JAVA 9 en Adelante</a:t>
            </a:r>
            <a:endParaRPr b="1"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9: Mejoras en seguridad, y corrección de errores. Soporte para un heap de tamaño multi-gigabyte.</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10: Corrección de errores y mejoras de seguridad.</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11: Se eliminaron Java Applets y Java Web Start.</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12: Corrección de errores y mejoras de seguridad.</a:t>
            </a:r>
            <a:endParaRPr sz="1925">
              <a:solidFill>
                <a:srgbClr val="131416"/>
              </a:solidFill>
            </a:endParaRPr>
          </a:p>
          <a:p>
            <a:pPr indent="-350837" lvl="0" marL="457200" rtl="0" algn="l">
              <a:lnSpc>
                <a:spcPct val="115000"/>
              </a:lnSpc>
              <a:spcBef>
                <a:spcPts val="0"/>
              </a:spcBef>
              <a:spcAft>
                <a:spcPts val="0"/>
              </a:spcAft>
              <a:buClr>
                <a:srgbClr val="131416"/>
              </a:buClr>
              <a:buSzPts val="1925"/>
              <a:buChar char="●"/>
            </a:pPr>
            <a:r>
              <a:rPr lang="en-US" sz="1925">
                <a:solidFill>
                  <a:srgbClr val="131416"/>
                </a:solidFill>
              </a:rPr>
              <a:t>13: Corrección de errores y mejoras de seguridad.</a:t>
            </a:r>
            <a:endParaRPr sz="3725">
              <a:solidFill>
                <a:srgbClr val="131416"/>
              </a:solidFill>
            </a:endParaRPr>
          </a:p>
        </p:txBody>
      </p:sp>
      <p:sp>
        <p:nvSpPr>
          <p:cNvPr id="151" name="Google Shape;151;g35c60227a6a_2_10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Versiones de Java</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5c60227a6a_2_24"/>
          <p:cNvSpPr txBox="1"/>
          <p:nvPr/>
        </p:nvSpPr>
        <p:spPr>
          <a:xfrm>
            <a:off x="1392603" y="1973975"/>
            <a:ext cx="15502800" cy="704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US" sz="2225">
                <a:solidFill>
                  <a:srgbClr val="131416"/>
                </a:solidFill>
              </a:rPr>
              <a:t>JVM</a:t>
            </a:r>
            <a:endParaRPr b="1" sz="2225">
              <a:solidFill>
                <a:srgbClr val="131416"/>
              </a:solidFill>
            </a:endParaRPr>
          </a:p>
          <a:p>
            <a:pPr indent="0" lvl="0" marL="0" rtl="0" algn="just">
              <a:lnSpc>
                <a:spcPct val="115000"/>
              </a:lnSpc>
              <a:spcBef>
                <a:spcPts val="0"/>
              </a:spcBef>
              <a:spcAft>
                <a:spcPts val="0"/>
              </a:spcAft>
              <a:buNone/>
            </a:pPr>
            <a:r>
              <a:rPr lang="en-US" sz="2225">
                <a:solidFill>
                  <a:srgbClr val="131416"/>
                </a:solidFill>
              </a:rPr>
              <a:t>Es una máquina virtual de proceso nativo, es decir, ejecutable en una plataforma específica, capaz de interpretar y ejecutar instrucciones expresadas en un código binario especial (el bytecode Java), el cual es generado por el compilador del lenguaje Java.</a:t>
            </a:r>
            <a:endParaRPr sz="2225">
              <a:solidFill>
                <a:srgbClr val="131416"/>
              </a:solidFill>
            </a:endParaRPr>
          </a:p>
          <a:p>
            <a:pPr indent="0" lvl="0" marL="0" marR="0" rtl="0" algn="l">
              <a:lnSpc>
                <a:spcPct val="173070"/>
              </a:lnSpc>
              <a:spcBef>
                <a:spcPts val="0"/>
              </a:spcBef>
              <a:spcAft>
                <a:spcPts val="0"/>
              </a:spcAft>
              <a:buNone/>
            </a:pPr>
            <a:r>
              <a:t/>
            </a:r>
            <a:endParaRPr sz="2225">
              <a:solidFill>
                <a:srgbClr val="131416"/>
              </a:solidFill>
            </a:endParaRPr>
          </a:p>
          <a:p>
            <a:pPr indent="0" lvl="0" marL="0" rtl="0" algn="l">
              <a:lnSpc>
                <a:spcPct val="115000"/>
              </a:lnSpc>
              <a:spcBef>
                <a:spcPts val="0"/>
              </a:spcBef>
              <a:spcAft>
                <a:spcPts val="0"/>
              </a:spcAft>
              <a:buNone/>
            </a:pPr>
            <a:r>
              <a:rPr b="1" lang="en-US" sz="2225">
                <a:solidFill>
                  <a:srgbClr val="131416"/>
                </a:solidFill>
              </a:rPr>
              <a:t>JRE</a:t>
            </a:r>
            <a:endParaRPr b="1" sz="2225">
              <a:solidFill>
                <a:srgbClr val="131416"/>
              </a:solidFill>
            </a:endParaRPr>
          </a:p>
          <a:p>
            <a:pPr indent="0" lvl="0" marL="0" rtl="0" algn="just">
              <a:lnSpc>
                <a:spcPct val="115000"/>
              </a:lnSpc>
              <a:spcBef>
                <a:spcPts val="0"/>
              </a:spcBef>
              <a:spcAft>
                <a:spcPts val="0"/>
              </a:spcAft>
              <a:buNone/>
            </a:pPr>
            <a:r>
              <a:rPr lang="en-US" sz="2225">
                <a:solidFill>
                  <a:srgbClr val="131416"/>
                </a:solidFill>
              </a:rPr>
              <a:t>Significa Java Runtime Environment, y son un conjunto de utilidades que permiten la ejecución de aplicaciones Java.</a:t>
            </a:r>
            <a:endParaRPr sz="2225">
              <a:solidFill>
                <a:srgbClr val="131416"/>
              </a:solidFill>
            </a:endParaRPr>
          </a:p>
          <a:p>
            <a:pPr indent="0" lvl="0" marL="0" rtl="0" algn="l">
              <a:lnSpc>
                <a:spcPct val="115000"/>
              </a:lnSpc>
              <a:spcBef>
                <a:spcPts val="0"/>
              </a:spcBef>
              <a:spcAft>
                <a:spcPts val="0"/>
              </a:spcAft>
              <a:buNone/>
            </a:pPr>
            <a:r>
              <a:rPr lang="en-US" sz="2225">
                <a:solidFill>
                  <a:srgbClr val="131416"/>
                </a:solidFill>
              </a:rPr>
              <a:t>Está constituido por:</a:t>
            </a:r>
            <a:endParaRPr sz="2225">
              <a:solidFill>
                <a:srgbClr val="131416"/>
              </a:solidFill>
            </a:endParaRPr>
          </a:p>
          <a:p>
            <a:pPr indent="-369887" lvl="0" marL="457200" rtl="0" algn="l">
              <a:lnSpc>
                <a:spcPct val="115000"/>
              </a:lnSpc>
              <a:spcBef>
                <a:spcPts val="0"/>
              </a:spcBef>
              <a:spcAft>
                <a:spcPts val="0"/>
              </a:spcAft>
              <a:buClr>
                <a:srgbClr val="131416"/>
              </a:buClr>
              <a:buSzPts val="2225"/>
              <a:buChar char="●"/>
            </a:pPr>
            <a:r>
              <a:rPr lang="en-US" sz="2225">
                <a:solidFill>
                  <a:srgbClr val="131416"/>
                </a:solidFill>
              </a:rPr>
              <a:t>Máquina Virtual de JAVA</a:t>
            </a:r>
            <a:endParaRPr sz="2225">
              <a:solidFill>
                <a:srgbClr val="131416"/>
              </a:solidFill>
            </a:endParaRPr>
          </a:p>
          <a:p>
            <a:pPr indent="-369887" lvl="0" marL="457200" rtl="0" algn="l">
              <a:lnSpc>
                <a:spcPct val="115000"/>
              </a:lnSpc>
              <a:spcBef>
                <a:spcPts val="0"/>
              </a:spcBef>
              <a:spcAft>
                <a:spcPts val="0"/>
              </a:spcAft>
              <a:buClr>
                <a:srgbClr val="131416"/>
              </a:buClr>
              <a:buSzPts val="2225"/>
              <a:buChar char="●"/>
            </a:pPr>
            <a:r>
              <a:rPr lang="en-US" sz="2225">
                <a:solidFill>
                  <a:srgbClr val="131416"/>
                </a:solidFill>
              </a:rPr>
              <a:t>Librerías de JAVA</a:t>
            </a:r>
            <a:endParaRPr sz="2225">
              <a:solidFill>
                <a:srgbClr val="131416"/>
              </a:solidFill>
            </a:endParaRPr>
          </a:p>
          <a:p>
            <a:pPr indent="0" lvl="0" marL="0" marR="0" rtl="0" algn="l">
              <a:lnSpc>
                <a:spcPct val="173070"/>
              </a:lnSpc>
              <a:spcBef>
                <a:spcPts val="0"/>
              </a:spcBef>
              <a:spcAft>
                <a:spcPts val="0"/>
              </a:spcAft>
              <a:buNone/>
            </a:pPr>
            <a:r>
              <a:t/>
            </a:r>
            <a:endParaRPr sz="2225">
              <a:solidFill>
                <a:srgbClr val="131416"/>
              </a:solidFill>
            </a:endParaRPr>
          </a:p>
          <a:p>
            <a:pPr indent="0" lvl="0" marL="0" rtl="0" algn="l">
              <a:lnSpc>
                <a:spcPct val="115000"/>
              </a:lnSpc>
              <a:spcBef>
                <a:spcPts val="0"/>
              </a:spcBef>
              <a:spcAft>
                <a:spcPts val="0"/>
              </a:spcAft>
              <a:buNone/>
            </a:pPr>
            <a:r>
              <a:rPr b="1" lang="en-US" sz="2225">
                <a:solidFill>
                  <a:srgbClr val="131416"/>
                </a:solidFill>
              </a:rPr>
              <a:t>JDK</a:t>
            </a:r>
            <a:endParaRPr b="1" sz="2225">
              <a:solidFill>
                <a:srgbClr val="131416"/>
              </a:solidFill>
            </a:endParaRPr>
          </a:p>
          <a:p>
            <a:pPr indent="0" lvl="0" marL="0" rtl="0" algn="just">
              <a:lnSpc>
                <a:spcPct val="115000"/>
              </a:lnSpc>
              <a:spcBef>
                <a:spcPts val="0"/>
              </a:spcBef>
              <a:spcAft>
                <a:spcPts val="0"/>
              </a:spcAft>
              <a:buNone/>
            </a:pPr>
            <a:r>
              <a:rPr lang="en-US" sz="2225">
                <a:solidFill>
                  <a:srgbClr val="131416"/>
                </a:solidFill>
              </a:rPr>
              <a:t>Significa Java Development Kit, y son un conjunto de utilidades que permiten el desarrollo de aplicaciones Java.</a:t>
            </a:r>
            <a:endParaRPr sz="2225">
              <a:solidFill>
                <a:srgbClr val="131416"/>
              </a:solidFill>
            </a:endParaRPr>
          </a:p>
          <a:p>
            <a:pPr indent="0" lvl="0" marL="0" rtl="0" algn="l">
              <a:lnSpc>
                <a:spcPct val="115000"/>
              </a:lnSpc>
              <a:spcBef>
                <a:spcPts val="0"/>
              </a:spcBef>
              <a:spcAft>
                <a:spcPts val="0"/>
              </a:spcAft>
              <a:buNone/>
            </a:pPr>
            <a:r>
              <a:rPr lang="en-US" sz="2225">
                <a:solidFill>
                  <a:srgbClr val="131416"/>
                </a:solidFill>
              </a:rPr>
              <a:t>E</a:t>
            </a:r>
            <a:r>
              <a:rPr lang="en-US" sz="2225">
                <a:solidFill>
                  <a:srgbClr val="131416"/>
                </a:solidFill>
              </a:rPr>
              <a:t>stá constituido por:</a:t>
            </a:r>
            <a:endParaRPr sz="2225">
              <a:solidFill>
                <a:srgbClr val="131416"/>
              </a:solidFill>
            </a:endParaRPr>
          </a:p>
          <a:p>
            <a:pPr indent="-369887" lvl="0" marL="457200" rtl="0" algn="l">
              <a:lnSpc>
                <a:spcPct val="115000"/>
              </a:lnSpc>
              <a:spcBef>
                <a:spcPts val="0"/>
              </a:spcBef>
              <a:spcAft>
                <a:spcPts val="0"/>
              </a:spcAft>
              <a:buClr>
                <a:srgbClr val="131416"/>
              </a:buClr>
              <a:buSzPts val="2225"/>
              <a:buChar char="●"/>
            </a:pPr>
            <a:r>
              <a:rPr lang="en-US" sz="2225">
                <a:solidFill>
                  <a:srgbClr val="131416"/>
                </a:solidFill>
              </a:rPr>
              <a:t>Máquina Virtual de JAVA</a:t>
            </a:r>
            <a:endParaRPr sz="2225">
              <a:solidFill>
                <a:srgbClr val="131416"/>
              </a:solidFill>
            </a:endParaRPr>
          </a:p>
          <a:p>
            <a:pPr indent="-369887" lvl="0" marL="457200" rtl="0" algn="l">
              <a:lnSpc>
                <a:spcPct val="115000"/>
              </a:lnSpc>
              <a:spcBef>
                <a:spcPts val="0"/>
              </a:spcBef>
              <a:spcAft>
                <a:spcPts val="0"/>
              </a:spcAft>
              <a:buClr>
                <a:srgbClr val="131416"/>
              </a:buClr>
              <a:buSzPts val="2225"/>
              <a:buChar char="●"/>
            </a:pPr>
            <a:r>
              <a:rPr lang="en-US" sz="2225">
                <a:solidFill>
                  <a:srgbClr val="131416"/>
                </a:solidFill>
              </a:rPr>
              <a:t>Librerías de JAVA</a:t>
            </a:r>
            <a:endParaRPr sz="2225">
              <a:solidFill>
                <a:srgbClr val="131416"/>
              </a:solidFill>
            </a:endParaRPr>
          </a:p>
          <a:p>
            <a:pPr indent="-369887" lvl="0" marL="457200" rtl="0" algn="l">
              <a:lnSpc>
                <a:spcPct val="115000"/>
              </a:lnSpc>
              <a:spcBef>
                <a:spcPts val="0"/>
              </a:spcBef>
              <a:spcAft>
                <a:spcPts val="0"/>
              </a:spcAft>
              <a:buClr>
                <a:srgbClr val="131416"/>
              </a:buClr>
              <a:buSzPts val="2225"/>
              <a:buChar char="●"/>
            </a:pPr>
            <a:r>
              <a:rPr lang="en-US" sz="2225">
                <a:solidFill>
                  <a:srgbClr val="131416"/>
                </a:solidFill>
              </a:rPr>
              <a:t>Compilador de JAVA</a:t>
            </a:r>
            <a:endParaRPr b="1" sz="2225">
              <a:solidFill>
                <a:srgbClr val="131416"/>
              </a:solidFill>
            </a:endParaRPr>
          </a:p>
        </p:txBody>
      </p:sp>
      <p:sp>
        <p:nvSpPr>
          <p:cNvPr id="157" name="Google Shape;157;g35c60227a6a_2_2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Ambientes de Java (JDK,  JRE, JVM)</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5c60227a6a_2_29"/>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Características de Java</a:t>
            </a:r>
            <a:endParaRPr b="0" i="0" sz="1400" u="none" cap="none" strike="noStrike">
              <a:solidFill>
                <a:srgbClr val="000000"/>
              </a:solidFill>
              <a:latin typeface="Impact"/>
              <a:ea typeface="Impact"/>
              <a:cs typeface="Impact"/>
              <a:sym typeface="Impact"/>
            </a:endParaRPr>
          </a:p>
        </p:txBody>
      </p:sp>
      <p:sp>
        <p:nvSpPr>
          <p:cNvPr id="163" name="Google Shape;163;g35c60227a6a_2_29"/>
          <p:cNvSpPr txBox="1"/>
          <p:nvPr/>
        </p:nvSpPr>
        <p:spPr>
          <a:xfrm>
            <a:off x="1462800" y="5327350"/>
            <a:ext cx="78018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1"/>
                </a:solidFill>
                <a:latin typeface="Calibri"/>
                <a:ea typeface="Calibri"/>
                <a:cs typeface="Calibri"/>
                <a:sym typeface="Calibri"/>
              </a:rPr>
              <a:t>Simple</a:t>
            </a:r>
            <a:br>
              <a:rPr lang="en-US" sz="3200">
                <a:solidFill>
                  <a:schemeClr val="dk1"/>
                </a:solidFill>
                <a:latin typeface="Calibri"/>
                <a:ea typeface="Calibri"/>
                <a:cs typeface="Calibri"/>
                <a:sym typeface="Calibri"/>
              </a:rPr>
            </a:br>
            <a:endParaRPr sz="32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Sintaxis similar a la de C y C++, pero sin características de bajo nivel:</a:t>
            </a:r>
            <a:endParaRPr sz="25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Memoria dinámica automática</a:t>
            </a:r>
            <a:endParaRPr sz="25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Sin aritmética de punteros</a:t>
            </a:r>
            <a:endParaRPr sz="25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Sin structs</a:t>
            </a:r>
            <a:endParaRPr sz="25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Sin typedefs</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Sin pre-procesamiento</a:t>
            </a:r>
            <a:endParaRPr sz="2500">
              <a:solidFill>
                <a:schemeClr val="dk1"/>
              </a:solidFill>
              <a:latin typeface="Calibri"/>
              <a:ea typeface="Calibri"/>
              <a:cs typeface="Calibri"/>
              <a:sym typeface="Calibri"/>
            </a:endParaRPr>
          </a:p>
        </p:txBody>
      </p:sp>
      <p:sp>
        <p:nvSpPr>
          <p:cNvPr id="164" name="Google Shape;164;g35c60227a6a_2_29"/>
          <p:cNvSpPr txBox="1"/>
          <p:nvPr/>
        </p:nvSpPr>
        <p:spPr>
          <a:xfrm>
            <a:off x="9878025" y="5327350"/>
            <a:ext cx="6785700" cy="24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1"/>
                </a:solidFill>
                <a:latin typeface="Calibri"/>
                <a:ea typeface="Calibri"/>
                <a:cs typeface="Calibri"/>
                <a:sym typeface="Calibri"/>
              </a:rPr>
              <a:t>Independencia de la arquitectura</a:t>
            </a:r>
            <a:endParaRPr b="1" sz="35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500">
                <a:solidFill>
                  <a:schemeClr val="dk1"/>
                </a:solidFill>
                <a:latin typeface="Calibri"/>
                <a:ea typeface="Calibri"/>
                <a:cs typeface="Calibri"/>
                <a:sym typeface="Calibri"/>
              </a:rPr>
              <a:t>Los programas corren en la JVM, que es independiente del dispositivo, dando soporte multiplataforma a un lenguaje compilado.</a:t>
            </a:r>
            <a:endParaRPr sz="2500">
              <a:solidFill>
                <a:schemeClr val="dk1"/>
              </a:solidFill>
              <a:latin typeface="Calibri"/>
              <a:ea typeface="Calibri"/>
              <a:cs typeface="Calibri"/>
              <a:sym typeface="Calibri"/>
            </a:endParaRPr>
          </a:p>
        </p:txBody>
      </p:sp>
      <p:pic>
        <p:nvPicPr>
          <p:cNvPr id="165" name="Google Shape;165;g35c60227a6a_2_29"/>
          <p:cNvPicPr preferRelativeResize="0"/>
          <p:nvPr/>
        </p:nvPicPr>
        <p:blipFill>
          <a:blip r:embed="rId3">
            <a:alphaModFix/>
          </a:blip>
          <a:stretch>
            <a:fillRect/>
          </a:stretch>
        </p:blipFill>
        <p:spPr>
          <a:xfrm>
            <a:off x="3390900" y="2586275"/>
            <a:ext cx="2362200" cy="2181225"/>
          </a:xfrm>
          <a:prstGeom prst="rect">
            <a:avLst/>
          </a:prstGeom>
          <a:noFill/>
          <a:ln>
            <a:noFill/>
          </a:ln>
        </p:spPr>
      </p:pic>
      <p:pic>
        <p:nvPicPr>
          <p:cNvPr id="166" name="Google Shape;166;g35c60227a6a_2_29"/>
          <p:cNvPicPr preferRelativeResize="0"/>
          <p:nvPr/>
        </p:nvPicPr>
        <p:blipFill>
          <a:blip r:embed="rId4">
            <a:alphaModFix/>
          </a:blip>
          <a:stretch>
            <a:fillRect/>
          </a:stretch>
        </p:blipFill>
        <p:spPr>
          <a:xfrm>
            <a:off x="12107725" y="3042425"/>
            <a:ext cx="2362200" cy="2181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5c60227a6a_2_124"/>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Características de Java</a:t>
            </a:r>
            <a:endParaRPr b="0" i="0" sz="1400" u="none" cap="none" strike="noStrike">
              <a:solidFill>
                <a:srgbClr val="000000"/>
              </a:solidFill>
              <a:latin typeface="Impact"/>
              <a:ea typeface="Impact"/>
              <a:cs typeface="Impact"/>
              <a:sym typeface="Impact"/>
            </a:endParaRPr>
          </a:p>
        </p:txBody>
      </p:sp>
      <p:graphicFrame>
        <p:nvGraphicFramePr>
          <p:cNvPr id="172" name="Google Shape;172;g35c60227a6a_2_124"/>
          <p:cNvGraphicFramePr/>
          <p:nvPr/>
        </p:nvGraphicFramePr>
        <p:xfrm>
          <a:off x="1173825" y="2682725"/>
          <a:ext cx="3000000" cy="3000000"/>
        </p:xfrm>
        <a:graphic>
          <a:graphicData uri="http://schemas.openxmlformats.org/drawingml/2006/table">
            <a:tbl>
              <a:tblPr>
                <a:noFill/>
                <a:tableStyleId>{180B978A-1888-4E14-ACD3-3DD32D73E81A}</a:tableStyleId>
              </a:tblPr>
              <a:tblGrid>
                <a:gridCol w="4778250"/>
                <a:gridCol w="11604750"/>
              </a:tblGrid>
              <a:tr h="381000">
                <a:tc>
                  <a:txBody>
                    <a:bodyPr/>
                    <a:lstStyle/>
                    <a:p>
                      <a:pPr indent="0" lvl="0" marL="0" rtl="0" algn="ctr">
                        <a:spcBef>
                          <a:spcPts val="0"/>
                        </a:spcBef>
                        <a:spcAft>
                          <a:spcPts val="0"/>
                        </a:spcAft>
                        <a:buNone/>
                      </a:pPr>
                      <a:r>
                        <a:rPr b="1" lang="en-US" sz="2700"/>
                        <a:t>Caracteristica</a:t>
                      </a:r>
                      <a:endParaRPr b="1" sz="2700"/>
                    </a:p>
                  </a:txBody>
                  <a:tcPr marT="91425" marB="91425" marR="91425" marL="91425">
                    <a:solidFill>
                      <a:srgbClr val="FFF2CC"/>
                    </a:solidFill>
                  </a:tcPr>
                </a:tc>
                <a:tc>
                  <a:txBody>
                    <a:bodyPr/>
                    <a:lstStyle/>
                    <a:p>
                      <a:pPr indent="0" lvl="0" marL="0" rtl="0" algn="l">
                        <a:spcBef>
                          <a:spcPts val="0"/>
                        </a:spcBef>
                        <a:spcAft>
                          <a:spcPts val="0"/>
                        </a:spcAft>
                        <a:buNone/>
                      </a:pPr>
                      <a:r>
                        <a:t/>
                      </a:r>
                      <a:endParaRPr b="1" sz="2700"/>
                    </a:p>
                  </a:txBody>
                  <a:tcPr marT="91425" marB="91425" marR="91425" marL="91425">
                    <a:solidFill>
                      <a:srgbClr val="FFF2CC"/>
                    </a:solidFill>
                  </a:tcPr>
                </a:tc>
              </a:tr>
              <a:tr h="381000">
                <a:tc>
                  <a:txBody>
                    <a:bodyPr/>
                    <a:lstStyle/>
                    <a:p>
                      <a:pPr indent="0" lvl="0" marL="0" rtl="0" algn="l">
                        <a:lnSpc>
                          <a:spcPct val="115000"/>
                        </a:lnSpc>
                        <a:spcBef>
                          <a:spcPts val="0"/>
                        </a:spcBef>
                        <a:spcAft>
                          <a:spcPts val="0"/>
                        </a:spcAft>
                        <a:buNone/>
                      </a:pPr>
                      <a:r>
                        <a:rPr lang="en-US" sz="2700"/>
                        <a:t>Portable y Distribuido</a:t>
                      </a:r>
                      <a:endParaRPr sz="2700"/>
                    </a:p>
                  </a:txBody>
                  <a:tcPr marT="91425" marB="91425" marR="91425" marL="91425"/>
                </a:tc>
                <a:tc>
                  <a:txBody>
                    <a:bodyPr/>
                    <a:lstStyle/>
                    <a:p>
                      <a:pPr indent="0" lvl="0" marL="0" rtl="0" algn="l">
                        <a:lnSpc>
                          <a:spcPct val="115000"/>
                        </a:lnSpc>
                        <a:spcBef>
                          <a:spcPts val="0"/>
                        </a:spcBef>
                        <a:spcAft>
                          <a:spcPts val="0"/>
                        </a:spcAft>
                        <a:buNone/>
                      </a:pPr>
                      <a:r>
                        <a:rPr lang="en-US" sz="2700"/>
                        <a:t>Implementa estándares que permiten portabilidad adicional. Además, posee extensiones con soporte de red, protocolo HTTP, TCP/IP y FTP.</a:t>
                      </a:r>
                      <a:endParaRPr sz="2700"/>
                    </a:p>
                  </a:txBody>
                  <a:tcPr marT="91425" marB="91425" marR="91425" marL="91425"/>
                </a:tc>
              </a:tr>
              <a:tr h="381000">
                <a:tc>
                  <a:txBody>
                    <a:bodyPr/>
                    <a:lstStyle/>
                    <a:p>
                      <a:pPr indent="0" lvl="0" marL="0" rtl="0" algn="l">
                        <a:lnSpc>
                          <a:spcPct val="115000"/>
                        </a:lnSpc>
                        <a:spcBef>
                          <a:spcPts val="0"/>
                        </a:spcBef>
                        <a:spcAft>
                          <a:spcPts val="0"/>
                        </a:spcAft>
                        <a:buNone/>
                      </a:pPr>
                      <a:r>
                        <a:rPr lang="en-US" sz="2700"/>
                        <a:t>Robusto y Seguro</a:t>
                      </a:r>
                      <a:endParaRPr sz="2700"/>
                    </a:p>
                  </a:txBody>
                  <a:tcPr marT="91425" marB="91425" marR="91425" marL="91425"/>
                </a:tc>
                <a:tc>
                  <a:txBody>
                    <a:bodyPr/>
                    <a:lstStyle/>
                    <a:p>
                      <a:pPr indent="-400050" lvl="0" marL="457200" rtl="0" algn="l">
                        <a:lnSpc>
                          <a:spcPct val="115000"/>
                        </a:lnSpc>
                        <a:spcBef>
                          <a:spcPts val="0"/>
                        </a:spcBef>
                        <a:spcAft>
                          <a:spcPts val="0"/>
                        </a:spcAft>
                        <a:buSzPts val="2700"/>
                        <a:buChar char="●"/>
                      </a:pPr>
                      <a:r>
                        <a:rPr lang="en-US" sz="2700"/>
                        <a:t>El compilador y el intérprete manejan los errores internamente, administrando la memoria y verificando todo tipo de excepción.</a:t>
                      </a:r>
                      <a:endParaRPr sz="2700"/>
                    </a:p>
                    <a:p>
                      <a:pPr indent="-400050" lvl="0" marL="457200" rtl="0" algn="l">
                        <a:lnSpc>
                          <a:spcPct val="115000"/>
                        </a:lnSpc>
                        <a:spcBef>
                          <a:spcPts val="0"/>
                        </a:spcBef>
                        <a:spcAft>
                          <a:spcPts val="0"/>
                        </a:spcAft>
                        <a:buSzPts val="2700"/>
                        <a:buChar char="●"/>
                      </a:pPr>
                      <a:r>
                        <a:rPr lang="en-US" sz="2700"/>
                        <a:t>No permite accesos ilegales a la memoria, ni a clases internas. Se puede limitar entre aplicaciones y clases, validando internamente el código compilado.</a:t>
                      </a:r>
                      <a:endParaRPr sz="2700"/>
                    </a:p>
                  </a:txBody>
                  <a:tcPr marT="91425" marB="91425" marR="91425" marL="91425"/>
                </a:tc>
              </a:tr>
              <a:tr h="381000">
                <a:tc>
                  <a:txBody>
                    <a:bodyPr/>
                    <a:lstStyle/>
                    <a:p>
                      <a:pPr indent="0" lvl="0" marL="0" rtl="0" algn="l">
                        <a:lnSpc>
                          <a:spcPct val="115000"/>
                        </a:lnSpc>
                        <a:spcBef>
                          <a:spcPts val="0"/>
                        </a:spcBef>
                        <a:spcAft>
                          <a:spcPts val="0"/>
                        </a:spcAft>
                        <a:buNone/>
                      </a:pPr>
                      <a:r>
                        <a:rPr lang="en-US" sz="2700"/>
                        <a:t>Alto Rendimiento, Multihilo y Dinámico</a:t>
                      </a:r>
                      <a:endParaRPr sz="2700"/>
                    </a:p>
                  </a:txBody>
                  <a:tcPr marT="91425" marB="91425" marR="91425" marL="91425"/>
                </a:tc>
                <a:tc>
                  <a:txBody>
                    <a:bodyPr/>
                    <a:lstStyle/>
                    <a:p>
                      <a:pPr indent="-400050" lvl="0" marL="457200" rtl="0" algn="l">
                        <a:lnSpc>
                          <a:spcPct val="115000"/>
                        </a:lnSpc>
                        <a:spcBef>
                          <a:spcPts val="0"/>
                        </a:spcBef>
                        <a:spcAft>
                          <a:spcPts val="0"/>
                        </a:spcAft>
                        <a:buSzPts val="2700"/>
                        <a:buChar char="●"/>
                      </a:pPr>
                      <a:r>
                        <a:rPr lang="en-US" sz="2700"/>
                        <a:t>El código objeto que produce es altamente eficiente.</a:t>
                      </a:r>
                      <a:endParaRPr sz="2700"/>
                    </a:p>
                    <a:p>
                      <a:pPr indent="-400050" lvl="0" marL="457200" rtl="0" algn="l">
                        <a:lnSpc>
                          <a:spcPct val="115000"/>
                        </a:lnSpc>
                        <a:spcBef>
                          <a:spcPts val="0"/>
                        </a:spcBef>
                        <a:spcAft>
                          <a:spcPts val="0"/>
                        </a:spcAft>
                        <a:buSzPts val="2700"/>
                        <a:buChar char="●"/>
                      </a:pPr>
                      <a:r>
                        <a:rPr lang="en-US" sz="2700"/>
                        <a:t>Permite multihilo para un comportamiento interactivo con los usuarios.</a:t>
                      </a:r>
                      <a:endParaRPr sz="2700"/>
                    </a:p>
                    <a:p>
                      <a:pPr indent="-400050" lvl="0" marL="457200" rtl="0" algn="l">
                        <a:lnSpc>
                          <a:spcPct val="115000"/>
                        </a:lnSpc>
                        <a:spcBef>
                          <a:spcPts val="0"/>
                        </a:spcBef>
                        <a:spcAft>
                          <a:spcPts val="0"/>
                        </a:spcAft>
                        <a:buSzPts val="2700"/>
                        <a:buChar char="●"/>
                      </a:pPr>
                      <a:r>
                        <a:rPr lang="en-US" sz="2700"/>
                        <a:t>La memoria crece conforme se accede a los módulos solicitados en la ejecución.</a:t>
                      </a:r>
                      <a:endParaRPr sz="27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5c60227a6a_2_34"/>
          <p:cNvSpPr txBox="1"/>
          <p:nvPr/>
        </p:nvSpPr>
        <p:spPr>
          <a:xfrm>
            <a:off x="1374903" y="2634600"/>
            <a:ext cx="15864600" cy="3689100"/>
          </a:xfrm>
          <a:prstGeom prst="rect">
            <a:avLst/>
          </a:prstGeom>
          <a:noFill/>
          <a:ln>
            <a:noFill/>
          </a:ln>
        </p:spPr>
        <p:txBody>
          <a:bodyPr anchorCtr="0" anchor="t" bIns="0" lIns="0" spcFirstLastPara="1" rIns="0" wrap="square" tIns="0">
            <a:spAutoFit/>
          </a:bodyPr>
          <a:lstStyle/>
          <a:p>
            <a:pPr indent="0" lvl="0" marL="0" rtl="0" algn="l">
              <a:lnSpc>
                <a:spcPct val="173070"/>
              </a:lnSpc>
              <a:spcBef>
                <a:spcPts val="0"/>
              </a:spcBef>
              <a:spcAft>
                <a:spcPts val="0"/>
              </a:spcAft>
              <a:buClr>
                <a:schemeClr val="dk1"/>
              </a:buClr>
              <a:buSzPts val="1100"/>
              <a:buFont typeface="Arial"/>
              <a:buNone/>
            </a:pPr>
            <a:r>
              <a:rPr lang="en-US" sz="3025">
                <a:solidFill>
                  <a:srgbClr val="131416"/>
                </a:solidFill>
              </a:rPr>
              <a:t>En Java, los comentarios se utilizan para dejar notas o explicaciones en el código, y no afectan su ejecución. Existen dos tipos de comentarios:</a:t>
            </a:r>
            <a:endParaRPr sz="3025">
              <a:solidFill>
                <a:srgbClr val="131416"/>
              </a:solidFill>
            </a:endParaRPr>
          </a:p>
          <a:p>
            <a:pPr indent="0" lvl="0" marL="0" rtl="0" algn="l">
              <a:lnSpc>
                <a:spcPct val="173070"/>
              </a:lnSpc>
              <a:spcBef>
                <a:spcPts val="0"/>
              </a:spcBef>
              <a:spcAft>
                <a:spcPts val="0"/>
              </a:spcAft>
              <a:buClr>
                <a:schemeClr val="dk1"/>
              </a:buClr>
              <a:buSzPts val="1100"/>
              <a:buFont typeface="Arial"/>
              <a:buNone/>
            </a:pPr>
            <a:r>
              <a:t/>
            </a:r>
            <a:endParaRPr sz="3025">
              <a:solidFill>
                <a:srgbClr val="131416"/>
              </a:solidFill>
            </a:endParaRPr>
          </a:p>
          <a:p>
            <a:pPr indent="-420687" lvl="0" marL="457200" rtl="0" algn="l">
              <a:lnSpc>
                <a:spcPct val="173070"/>
              </a:lnSpc>
              <a:spcBef>
                <a:spcPts val="0"/>
              </a:spcBef>
              <a:spcAft>
                <a:spcPts val="0"/>
              </a:spcAft>
              <a:buClr>
                <a:srgbClr val="131416"/>
              </a:buClr>
              <a:buSzPts val="3025"/>
              <a:buChar char="●"/>
            </a:pPr>
            <a:r>
              <a:rPr lang="en-US" sz="3025">
                <a:solidFill>
                  <a:srgbClr val="131416"/>
                </a:solidFill>
              </a:rPr>
              <a:t>Comentarios de una línea: Se utilizan para comentarios cortos y se indican con //</a:t>
            </a:r>
            <a:endParaRPr sz="3025">
              <a:solidFill>
                <a:srgbClr val="131416"/>
              </a:solidFill>
            </a:endParaRPr>
          </a:p>
          <a:p>
            <a:pPr indent="-420687" lvl="0" marL="457200" rtl="0" algn="l">
              <a:lnSpc>
                <a:spcPct val="173070"/>
              </a:lnSpc>
              <a:spcBef>
                <a:spcPts val="0"/>
              </a:spcBef>
              <a:spcAft>
                <a:spcPts val="0"/>
              </a:spcAft>
              <a:buClr>
                <a:srgbClr val="131416"/>
              </a:buClr>
              <a:buSzPts val="3025"/>
              <a:buChar char="●"/>
            </a:pPr>
            <a:r>
              <a:rPr lang="en-US" sz="3025">
                <a:solidFill>
                  <a:srgbClr val="131416"/>
                </a:solidFill>
              </a:rPr>
              <a:t>Comentarios multilínea: Se utilizan para comentarios más largos y se indican con /* ... */</a:t>
            </a:r>
            <a:endParaRPr sz="3025">
              <a:solidFill>
                <a:srgbClr val="131416"/>
              </a:solidFill>
            </a:endParaRPr>
          </a:p>
        </p:txBody>
      </p:sp>
      <p:sp>
        <p:nvSpPr>
          <p:cNvPr id="178" name="Google Shape;178;g35c60227a6a_2_3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Comentario de una línea y multilínea</a:t>
            </a:r>
            <a:endParaRPr b="0" i="0" sz="1400" u="none" cap="none" strike="noStrike">
              <a:solidFill>
                <a:srgbClr val="000000"/>
              </a:solidFill>
              <a:latin typeface="Impact"/>
              <a:ea typeface="Impact"/>
              <a:cs typeface="Impact"/>
              <a:sym typeface="Impact"/>
            </a:endParaRPr>
          </a:p>
        </p:txBody>
      </p:sp>
      <p:pic>
        <p:nvPicPr>
          <p:cNvPr id="179" name="Google Shape;179;g35c60227a6a_2_34"/>
          <p:cNvPicPr preferRelativeResize="0"/>
          <p:nvPr/>
        </p:nvPicPr>
        <p:blipFill>
          <a:blip r:embed="rId3">
            <a:alphaModFix/>
          </a:blip>
          <a:stretch>
            <a:fillRect/>
          </a:stretch>
        </p:blipFill>
        <p:spPr>
          <a:xfrm>
            <a:off x="5176000" y="7105275"/>
            <a:ext cx="7686675" cy="2352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5c60227a6a_2_39"/>
          <p:cNvSpPr txBox="1"/>
          <p:nvPr/>
        </p:nvSpPr>
        <p:spPr>
          <a:xfrm>
            <a:off x="1374900" y="2265025"/>
            <a:ext cx="15288900" cy="692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925"/>
              <a:buFont typeface="Arial"/>
              <a:buNone/>
            </a:pPr>
            <a:r>
              <a:rPr lang="en-US" sz="2500">
                <a:solidFill>
                  <a:srgbClr val="131416"/>
                </a:solidFill>
              </a:rPr>
              <a:t>Una variable es un contenedor que almacena datos que pueden ser modificados durante la ejecución de un programa. En Java, para declarar una variable, se necesita especificar el tipo de datos y el nombre de la variable.</a:t>
            </a:r>
            <a:endParaRPr sz="2500">
              <a:solidFill>
                <a:srgbClr val="131416"/>
              </a:solidFill>
            </a:endParaRPr>
          </a:p>
          <a:p>
            <a:pPr indent="0" lvl="0" marL="0" marR="0" rtl="0" algn="l">
              <a:lnSpc>
                <a:spcPct val="115000"/>
              </a:lnSpc>
              <a:spcBef>
                <a:spcPts val="0"/>
              </a:spcBef>
              <a:spcAft>
                <a:spcPts val="0"/>
              </a:spcAft>
              <a:buClr>
                <a:srgbClr val="000000"/>
              </a:buClr>
              <a:buSzPts val="3925"/>
              <a:buFont typeface="Arial"/>
              <a:buNone/>
            </a:pPr>
            <a:r>
              <a:t/>
            </a:r>
            <a:endParaRPr sz="2500">
              <a:solidFill>
                <a:srgbClr val="131416"/>
              </a:solidFill>
            </a:endParaRPr>
          </a:p>
          <a:p>
            <a:pPr indent="0" lvl="0" marL="0" marR="0" rtl="0" algn="l">
              <a:lnSpc>
                <a:spcPct val="115000"/>
              </a:lnSpc>
              <a:spcBef>
                <a:spcPts val="0"/>
              </a:spcBef>
              <a:spcAft>
                <a:spcPts val="0"/>
              </a:spcAft>
              <a:buClr>
                <a:srgbClr val="000000"/>
              </a:buClr>
              <a:buSzPts val="3925"/>
              <a:buFont typeface="Arial"/>
              <a:buNone/>
            </a:pPr>
            <a:r>
              <a:rPr b="1" lang="en-US" sz="2500">
                <a:solidFill>
                  <a:srgbClr val="131416"/>
                </a:solidFill>
              </a:rPr>
              <a:t>Declaración de variables</a:t>
            </a:r>
            <a:endParaRPr b="1" sz="2500">
              <a:solidFill>
                <a:srgbClr val="131416"/>
              </a:solidFill>
            </a:endParaRPr>
          </a:p>
          <a:p>
            <a:pPr indent="0" lvl="0" marL="0" rtl="0" algn="l">
              <a:lnSpc>
                <a:spcPct val="115000"/>
              </a:lnSpc>
              <a:spcBef>
                <a:spcPts val="1200"/>
              </a:spcBef>
              <a:spcAft>
                <a:spcPts val="0"/>
              </a:spcAft>
              <a:buClr>
                <a:schemeClr val="dk1"/>
              </a:buClr>
              <a:buSzPts val="1100"/>
              <a:buFont typeface="Arial"/>
              <a:buNone/>
            </a:pPr>
            <a:r>
              <a:rPr lang="en-US" sz="2500">
                <a:solidFill>
                  <a:schemeClr val="dk1"/>
                </a:solidFill>
              </a:rPr>
              <a:t>Para declarar una variable en JAVA se utiliza la siguiente sintaxis:</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500">
                <a:solidFill>
                  <a:srgbClr val="FF0000"/>
                </a:solidFill>
              </a:rPr>
              <a:t>TIPO_DATO </a:t>
            </a:r>
            <a:r>
              <a:rPr lang="en-US" sz="2500">
                <a:solidFill>
                  <a:srgbClr val="00B050"/>
                </a:solidFill>
              </a:rPr>
              <a:t>IDENTIFICADOR</a:t>
            </a:r>
            <a:r>
              <a:rPr lang="en-US" sz="2500">
                <a:solidFill>
                  <a:schemeClr val="dk1"/>
                </a:solidFill>
              </a:rPr>
              <a:t>;</a:t>
            </a:r>
            <a:endParaRPr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500">
                <a:solidFill>
                  <a:srgbClr val="FF0000"/>
                </a:solidFill>
              </a:rPr>
              <a:t>T</a:t>
            </a:r>
            <a:r>
              <a:rPr lang="en-US" sz="2500">
                <a:solidFill>
                  <a:srgbClr val="FF0000"/>
                </a:solidFill>
              </a:rPr>
              <a:t>IPO_DATO </a:t>
            </a:r>
            <a:r>
              <a:rPr lang="en-US" sz="2500">
                <a:solidFill>
                  <a:srgbClr val="00B050"/>
                </a:solidFill>
              </a:rPr>
              <a:t>IDENTIFICADOR</a:t>
            </a:r>
            <a:r>
              <a:rPr lang="en-US" sz="2500">
                <a:solidFill>
                  <a:srgbClr val="FFFFFF"/>
                </a:solidFill>
              </a:rPr>
              <a:t> </a:t>
            </a:r>
            <a:r>
              <a:rPr lang="en-US" sz="2500">
                <a:solidFill>
                  <a:schemeClr val="dk1"/>
                </a:solidFill>
              </a:rPr>
              <a:t>= </a:t>
            </a:r>
            <a:r>
              <a:rPr lang="en-US" sz="2500">
                <a:solidFill>
                  <a:srgbClr val="00B0F0"/>
                </a:solidFill>
              </a:rPr>
              <a:t>EXPRESION</a:t>
            </a:r>
            <a:r>
              <a:rPr lang="en-US" sz="2500">
                <a:solidFill>
                  <a:srgbClr val="131416"/>
                </a:solidFill>
              </a:rPr>
              <a:t>;</a:t>
            </a:r>
            <a:endParaRPr sz="2500">
              <a:solidFill>
                <a:srgbClr val="131416"/>
              </a:solidFill>
            </a:endParaRPr>
          </a:p>
          <a:p>
            <a:pPr indent="0" lvl="0" marL="0" rtl="0" algn="l">
              <a:lnSpc>
                <a:spcPct val="115000"/>
              </a:lnSpc>
              <a:spcBef>
                <a:spcPts val="1200"/>
              </a:spcBef>
              <a:spcAft>
                <a:spcPts val="0"/>
              </a:spcAft>
              <a:buClr>
                <a:schemeClr val="dk1"/>
              </a:buClr>
              <a:buSzPts val="1100"/>
              <a:buFont typeface="Arial"/>
              <a:buNone/>
            </a:pPr>
            <a:r>
              <a:t/>
            </a:r>
            <a:endParaRPr b="1" sz="2500">
              <a:solidFill>
                <a:srgbClr val="131416"/>
              </a:solidFill>
            </a:endParaRPr>
          </a:p>
          <a:p>
            <a:pPr indent="0" lvl="0" marL="457200" rtl="0" algn="l">
              <a:lnSpc>
                <a:spcPct val="115000"/>
              </a:lnSpc>
              <a:spcBef>
                <a:spcPts val="1200"/>
              </a:spcBef>
              <a:spcAft>
                <a:spcPts val="0"/>
              </a:spcAft>
              <a:buClr>
                <a:schemeClr val="dk1"/>
              </a:buClr>
              <a:buSzPts val="1100"/>
              <a:buFont typeface="Arial"/>
              <a:buNone/>
            </a:pPr>
            <a:r>
              <a:rPr b="1" lang="en-US" sz="2500">
                <a:solidFill>
                  <a:srgbClr val="131416"/>
                </a:solidFill>
              </a:rPr>
              <a:t>Ejemplo</a:t>
            </a:r>
            <a:endParaRPr b="1" sz="2500">
              <a:solidFill>
                <a:srgbClr val="131416"/>
              </a:solidFill>
            </a:endParaRPr>
          </a:p>
          <a:p>
            <a:pPr indent="0" lvl="0" marL="457200" rtl="0" algn="l">
              <a:lnSpc>
                <a:spcPct val="115000"/>
              </a:lnSpc>
              <a:spcBef>
                <a:spcPts val="1200"/>
              </a:spcBef>
              <a:spcAft>
                <a:spcPts val="0"/>
              </a:spcAft>
              <a:buClr>
                <a:schemeClr val="dk1"/>
              </a:buClr>
              <a:buSzPts val="1100"/>
              <a:buFont typeface="Arial"/>
              <a:buNone/>
            </a:pPr>
            <a:r>
              <a:rPr lang="en-US" sz="2500">
                <a:solidFill>
                  <a:srgbClr val="FF0000"/>
                </a:solidFill>
              </a:rPr>
              <a:t>int </a:t>
            </a:r>
            <a:r>
              <a:rPr lang="en-US" sz="2500">
                <a:solidFill>
                  <a:srgbClr val="00B050"/>
                </a:solidFill>
              </a:rPr>
              <a:t>valor1 </a:t>
            </a:r>
            <a:r>
              <a:rPr lang="en-US" sz="2500">
                <a:solidFill>
                  <a:schemeClr val="dk1"/>
                </a:solidFill>
              </a:rPr>
              <a:t>=</a:t>
            </a:r>
            <a:r>
              <a:rPr lang="en-US" sz="2500">
                <a:solidFill>
                  <a:srgbClr val="FFFFFF"/>
                </a:solidFill>
              </a:rPr>
              <a:t> </a:t>
            </a:r>
            <a:r>
              <a:rPr lang="en-US" sz="2500">
                <a:solidFill>
                  <a:srgbClr val="00B0F0"/>
                </a:solidFill>
              </a:rPr>
              <a:t>50</a:t>
            </a:r>
            <a:r>
              <a:rPr lang="en-US" sz="2500">
                <a:solidFill>
                  <a:schemeClr val="dk1"/>
                </a:solidFill>
              </a:rPr>
              <a:t>;</a:t>
            </a:r>
            <a:endParaRPr sz="25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2500">
                <a:solidFill>
                  <a:srgbClr val="FF0000"/>
                </a:solidFill>
              </a:rPr>
              <a:t>string </a:t>
            </a:r>
            <a:r>
              <a:rPr lang="en-US" sz="2500">
                <a:solidFill>
                  <a:srgbClr val="00B050"/>
                </a:solidFill>
              </a:rPr>
              <a:t>nombre</a:t>
            </a:r>
            <a:r>
              <a:rPr lang="en-US" sz="2500">
                <a:solidFill>
                  <a:schemeClr val="dk1"/>
                </a:solidFill>
              </a:rPr>
              <a:t>; //se inicializa con cadena vacía</a:t>
            </a:r>
            <a:endParaRPr sz="25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2500">
                <a:solidFill>
                  <a:srgbClr val="FF0000"/>
                </a:solidFill>
              </a:rPr>
              <a:t>string</a:t>
            </a:r>
            <a:r>
              <a:rPr lang="en-US" sz="2500">
                <a:solidFill>
                  <a:srgbClr val="FFFFFF"/>
                </a:solidFill>
              </a:rPr>
              <a:t> </a:t>
            </a:r>
            <a:r>
              <a:rPr lang="en-US" sz="2500">
                <a:solidFill>
                  <a:srgbClr val="00B050"/>
                </a:solidFill>
              </a:rPr>
              <a:t>curso</a:t>
            </a:r>
            <a:r>
              <a:rPr lang="en-US" sz="2500">
                <a:solidFill>
                  <a:schemeClr val="dk1"/>
                </a:solidFill>
              </a:rPr>
              <a:t> =</a:t>
            </a:r>
            <a:r>
              <a:rPr lang="en-US" sz="2500">
                <a:solidFill>
                  <a:srgbClr val="FFFFFF"/>
                </a:solidFill>
              </a:rPr>
              <a:t> </a:t>
            </a:r>
            <a:r>
              <a:rPr lang="en-US" sz="2500">
                <a:solidFill>
                  <a:srgbClr val="00B0F0"/>
                </a:solidFill>
              </a:rPr>
              <a:t>“IPC 1”</a:t>
            </a:r>
            <a:r>
              <a:rPr lang="en-US" sz="2500">
                <a:solidFill>
                  <a:schemeClr val="dk1"/>
                </a:solidFill>
              </a:rPr>
              <a:t>;</a:t>
            </a:r>
            <a:endParaRPr sz="2500">
              <a:solidFill>
                <a:schemeClr val="dk1"/>
              </a:solidFill>
            </a:endParaRPr>
          </a:p>
        </p:txBody>
      </p:sp>
      <p:sp>
        <p:nvSpPr>
          <p:cNvPr id="185" name="Google Shape;185;g35c60227a6a_2_3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Variables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5c60227a6a_2_151"/>
          <p:cNvSpPr txBox="1"/>
          <p:nvPr/>
        </p:nvSpPr>
        <p:spPr>
          <a:xfrm>
            <a:off x="1374900" y="2896675"/>
            <a:ext cx="15288900" cy="4817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925"/>
              <a:buFont typeface="Arial"/>
              <a:buNone/>
            </a:pPr>
            <a:r>
              <a:rPr b="1" lang="en-US" sz="2500">
                <a:solidFill>
                  <a:srgbClr val="131416"/>
                </a:solidFill>
              </a:rPr>
              <a:t>Asignación de variables</a:t>
            </a:r>
            <a:endParaRPr b="1" sz="2500">
              <a:solidFill>
                <a:srgbClr val="131416"/>
              </a:solidFill>
            </a:endParaRPr>
          </a:p>
          <a:p>
            <a:pPr indent="0" lvl="0" marL="0" rtl="0" algn="l">
              <a:lnSpc>
                <a:spcPct val="150000"/>
              </a:lnSpc>
              <a:spcBef>
                <a:spcPts val="1200"/>
              </a:spcBef>
              <a:spcAft>
                <a:spcPts val="0"/>
              </a:spcAft>
              <a:buClr>
                <a:schemeClr val="dk1"/>
              </a:buClr>
              <a:buSzPts val="1100"/>
              <a:buFont typeface="Arial"/>
              <a:buNone/>
            </a:pPr>
            <a:r>
              <a:rPr lang="en-US" sz="2700">
                <a:solidFill>
                  <a:schemeClr val="dk1"/>
                </a:solidFill>
              </a:rPr>
              <a:t>Para asignar valores a una variable (ya declarada anteriormente) se utiliza la siguiente sintaxis:</a:t>
            </a:r>
            <a:endParaRPr sz="27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US" sz="2500">
                <a:solidFill>
                  <a:srgbClr val="00B050"/>
                </a:solidFill>
              </a:rPr>
              <a:t>IDENTIFICADOR</a:t>
            </a:r>
            <a:r>
              <a:rPr lang="en-US" sz="2500">
                <a:solidFill>
                  <a:srgbClr val="FFFFFF"/>
                </a:solidFill>
              </a:rPr>
              <a:t> </a:t>
            </a:r>
            <a:r>
              <a:rPr lang="en-US" sz="2500">
                <a:solidFill>
                  <a:schemeClr val="dk1"/>
                </a:solidFill>
              </a:rPr>
              <a:t>= </a:t>
            </a:r>
            <a:r>
              <a:rPr lang="en-US" sz="2500">
                <a:solidFill>
                  <a:srgbClr val="00B0F0"/>
                </a:solidFill>
              </a:rPr>
              <a:t>EXPRESION</a:t>
            </a:r>
            <a:r>
              <a:rPr lang="en-US" sz="2500">
                <a:solidFill>
                  <a:srgbClr val="131416"/>
                </a:solidFill>
              </a:rPr>
              <a:t>;</a:t>
            </a:r>
            <a:endParaRPr sz="2500">
              <a:solidFill>
                <a:srgbClr val="131416"/>
              </a:solidFill>
            </a:endParaRPr>
          </a:p>
          <a:p>
            <a:pPr indent="0" lvl="0" marL="0" rtl="0" algn="l">
              <a:lnSpc>
                <a:spcPct val="150000"/>
              </a:lnSpc>
              <a:spcBef>
                <a:spcPts val="1200"/>
              </a:spcBef>
              <a:spcAft>
                <a:spcPts val="0"/>
              </a:spcAft>
              <a:buClr>
                <a:schemeClr val="dk1"/>
              </a:buClr>
              <a:buSzPts val="1100"/>
              <a:buFont typeface="Arial"/>
              <a:buNone/>
            </a:pPr>
            <a:r>
              <a:t/>
            </a:r>
            <a:endParaRPr b="1" sz="2500">
              <a:solidFill>
                <a:srgbClr val="131416"/>
              </a:solidFill>
            </a:endParaRPr>
          </a:p>
          <a:p>
            <a:pPr indent="0" lvl="0" marL="457200" rtl="0" algn="l">
              <a:lnSpc>
                <a:spcPct val="150000"/>
              </a:lnSpc>
              <a:spcBef>
                <a:spcPts val="1200"/>
              </a:spcBef>
              <a:spcAft>
                <a:spcPts val="0"/>
              </a:spcAft>
              <a:buClr>
                <a:schemeClr val="dk1"/>
              </a:buClr>
              <a:buSzPts val="1100"/>
              <a:buFont typeface="Arial"/>
              <a:buNone/>
            </a:pPr>
            <a:r>
              <a:rPr b="1" lang="en-US" sz="2500">
                <a:solidFill>
                  <a:srgbClr val="131416"/>
                </a:solidFill>
              </a:rPr>
              <a:t>Ejemplo</a:t>
            </a:r>
            <a:endParaRPr b="1" sz="2500">
              <a:solidFill>
                <a:srgbClr val="131416"/>
              </a:solidFill>
            </a:endParaRPr>
          </a:p>
          <a:p>
            <a:pPr indent="0" lvl="0" marL="457200" rtl="0" algn="l">
              <a:lnSpc>
                <a:spcPct val="150000"/>
              </a:lnSpc>
              <a:spcBef>
                <a:spcPts val="1200"/>
              </a:spcBef>
              <a:spcAft>
                <a:spcPts val="0"/>
              </a:spcAft>
              <a:buClr>
                <a:schemeClr val="dk1"/>
              </a:buClr>
              <a:buSzPts val="1100"/>
              <a:buFont typeface="Arial"/>
              <a:buNone/>
            </a:pPr>
            <a:r>
              <a:rPr lang="en-US" sz="2500">
                <a:solidFill>
                  <a:srgbClr val="FF0000"/>
                </a:solidFill>
              </a:rPr>
              <a:t>int</a:t>
            </a:r>
            <a:r>
              <a:rPr lang="en-US" sz="2500">
                <a:solidFill>
                  <a:srgbClr val="FF0000"/>
                </a:solidFill>
              </a:rPr>
              <a:t> </a:t>
            </a:r>
            <a:r>
              <a:rPr lang="en-US" sz="2500">
                <a:solidFill>
                  <a:srgbClr val="00B050"/>
                </a:solidFill>
              </a:rPr>
              <a:t>valor1</a:t>
            </a:r>
            <a:r>
              <a:rPr lang="en-US" sz="2500">
                <a:solidFill>
                  <a:schemeClr val="dk1"/>
                </a:solidFill>
              </a:rPr>
              <a:t>;</a:t>
            </a:r>
            <a:endParaRPr sz="2500">
              <a:solidFill>
                <a:schemeClr val="dk1"/>
              </a:solidFill>
            </a:endParaRPr>
          </a:p>
          <a:p>
            <a:pPr indent="0" lvl="0" marL="457200" rtl="0" algn="l">
              <a:lnSpc>
                <a:spcPct val="150000"/>
              </a:lnSpc>
              <a:spcBef>
                <a:spcPts val="1200"/>
              </a:spcBef>
              <a:spcAft>
                <a:spcPts val="0"/>
              </a:spcAft>
              <a:buClr>
                <a:schemeClr val="dk1"/>
              </a:buClr>
              <a:buSzPts val="1100"/>
              <a:buFont typeface="Arial"/>
              <a:buNone/>
            </a:pPr>
            <a:r>
              <a:rPr lang="en-US" sz="2500">
                <a:solidFill>
                  <a:srgbClr val="00B050"/>
                </a:solidFill>
              </a:rPr>
              <a:t>valor </a:t>
            </a:r>
            <a:r>
              <a:rPr lang="en-US" sz="2500">
                <a:solidFill>
                  <a:schemeClr val="dk1"/>
                </a:solidFill>
              </a:rPr>
              <a:t>=</a:t>
            </a:r>
            <a:r>
              <a:rPr lang="en-US" sz="2500">
                <a:solidFill>
                  <a:srgbClr val="FFFFFF"/>
                </a:solidFill>
              </a:rPr>
              <a:t> </a:t>
            </a:r>
            <a:r>
              <a:rPr lang="en-US" sz="2500">
                <a:solidFill>
                  <a:srgbClr val="00B0F0"/>
                </a:solidFill>
              </a:rPr>
              <a:t>50</a:t>
            </a:r>
            <a:r>
              <a:rPr lang="en-US" sz="2500">
                <a:solidFill>
                  <a:schemeClr val="dk1"/>
                </a:solidFill>
              </a:rPr>
              <a:t>;</a:t>
            </a:r>
            <a:endParaRPr sz="2500">
              <a:solidFill>
                <a:schemeClr val="dk1"/>
              </a:solidFill>
            </a:endParaRPr>
          </a:p>
        </p:txBody>
      </p:sp>
      <p:sp>
        <p:nvSpPr>
          <p:cNvPr id="191" name="Google Shape;191;g35c60227a6a_2_151"/>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Variables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5c60227a6a_2_44"/>
          <p:cNvSpPr txBox="1"/>
          <p:nvPr/>
        </p:nvSpPr>
        <p:spPr>
          <a:xfrm>
            <a:off x="1455525" y="3036600"/>
            <a:ext cx="5292300" cy="53547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lang="en-US" sz="3025">
                <a:solidFill>
                  <a:srgbClr val="131416"/>
                </a:solidFill>
              </a:rPr>
              <a:t>En programación, los tipos de datos son fundamentales para definir las características de las variables y cómo se almacenan, manipulan y procesan los datos en memoria. Se dividen en primitivos y no primitivos.</a:t>
            </a:r>
            <a:endParaRPr sz="3925">
              <a:solidFill>
                <a:srgbClr val="131416"/>
              </a:solidFill>
            </a:endParaRPr>
          </a:p>
        </p:txBody>
      </p:sp>
      <p:sp>
        <p:nvSpPr>
          <p:cNvPr id="197" name="Google Shape;197;g35c60227a6a_2_4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Tipos de datos</a:t>
            </a:r>
            <a:endParaRPr b="0" i="0" sz="1400" u="none" cap="none" strike="noStrike">
              <a:solidFill>
                <a:srgbClr val="000000"/>
              </a:solidFill>
              <a:latin typeface="Impact"/>
              <a:ea typeface="Impact"/>
              <a:cs typeface="Impact"/>
              <a:sym typeface="Impact"/>
            </a:endParaRPr>
          </a:p>
        </p:txBody>
      </p:sp>
      <p:pic>
        <p:nvPicPr>
          <p:cNvPr id="198" name="Google Shape;198;g35c60227a6a_2_44"/>
          <p:cNvPicPr preferRelativeResize="0"/>
          <p:nvPr/>
        </p:nvPicPr>
        <p:blipFill>
          <a:blip r:embed="rId3">
            <a:alphaModFix/>
          </a:blip>
          <a:stretch>
            <a:fillRect/>
          </a:stretch>
        </p:blipFill>
        <p:spPr>
          <a:xfrm>
            <a:off x="8976550" y="639263"/>
            <a:ext cx="6202276" cy="90084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5c60227a6a_2_160"/>
          <p:cNvSpPr txBox="1"/>
          <p:nvPr/>
        </p:nvSpPr>
        <p:spPr>
          <a:xfrm>
            <a:off x="1723950" y="2392950"/>
            <a:ext cx="14840100" cy="25608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lang="en-US" sz="3025">
                <a:solidFill>
                  <a:srgbClr val="131416"/>
                </a:solidFill>
              </a:rPr>
              <a:t>Los tipos de datos primitivos son los más básicos y simples. Representan valores atómicos (no están compuestos por otros datos) y se manejan directamente por el lenguaje. Son inmutables (su valor no puede cambiar, aunque las variables que los referencian sí).</a:t>
            </a:r>
            <a:endParaRPr sz="3025">
              <a:solidFill>
                <a:srgbClr val="131416"/>
              </a:solidFill>
            </a:endParaRPr>
          </a:p>
        </p:txBody>
      </p:sp>
      <p:sp>
        <p:nvSpPr>
          <p:cNvPr id="204" name="Google Shape;204;g35c60227a6a_2_16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Tipos de datos primitivos</a:t>
            </a:r>
            <a:endParaRPr b="0" i="0" sz="1400" u="none" cap="none" strike="noStrike">
              <a:solidFill>
                <a:srgbClr val="000000"/>
              </a:solidFill>
              <a:latin typeface="Impact"/>
              <a:ea typeface="Impact"/>
              <a:cs typeface="Impact"/>
              <a:sym typeface="Impact"/>
            </a:endParaRPr>
          </a:p>
        </p:txBody>
      </p:sp>
      <p:pic>
        <p:nvPicPr>
          <p:cNvPr id="205" name="Google Shape;205;g35c60227a6a_2_160"/>
          <p:cNvPicPr preferRelativeResize="0"/>
          <p:nvPr/>
        </p:nvPicPr>
        <p:blipFill>
          <a:blip r:embed="rId3">
            <a:alphaModFix/>
          </a:blip>
          <a:stretch>
            <a:fillRect/>
          </a:stretch>
        </p:blipFill>
        <p:spPr>
          <a:xfrm>
            <a:off x="5052925" y="4953750"/>
            <a:ext cx="8656401" cy="3992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5c60227a6a_2_169"/>
          <p:cNvSpPr txBox="1"/>
          <p:nvPr/>
        </p:nvSpPr>
        <p:spPr>
          <a:xfrm>
            <a:off x="1599300" y="1820975"/>
            <a:ext cx="14840100" cy="3632100"/>
          </a:xfrm>
          <a:prstGeom prst="rect">
            <a:avLst/>
          </a:prstGeom>
          <a:noFill/>
          <a:ln>
            <a:noFill/>
          </a:ln>
        </p:spPr>
        <p:txBody>
          <a:bodyPr anchorCtr="0" anchor="t" bIns="0" lIns="0" spcFirstLastPara="1" rIns="0" wrap="square" tIns="0">
            <a:spAutoFit/>
          </a:bodyPr>
          <a:lstStyle/>
          <a:p>
            <a:pPr indent="0" lvl="0" marL="0" rtl="0" algn="just">
              <a:lnSpc>
                <a:spcPct val="115000"/>
              </a:lnSpc>
              <a:spcBef>
                <a:spcPts val="0"/>
              </a:spcBef>
              <a:spcAft>
                <a:spcPts val="0"/>
              </a:spcAft>
              <a:buClr>
                <a:schemeClr val="dk1"/>
              </a:buClr>
              <a:buSzPts val="1100"/>
              <a:buFont typeface="Arial"/>
              <a:buNone/>
            </a:pPr>
            <a:r>
              <a:rPr b="1" lang="en-US" sz="2925">
                <a:solidFill>
                  <a:srgbClr val="131416"/>
                </a:solidFill>
              </a:rPr>
              <a:t>Caracteristicas</a:t>
            </a:r>
            <a:endParaRPr b="1" sz="2925">
              <a:solidFill>
                <a:srgbClr val="131416"/>
              </a:solidFill>
            </a:endParaRPr>
          </a:p>
          <a:p>
            <a:pPr indent="0" lvl="0" marL="0" rtl="0" algn="just">
              <a:lnSpc>
                <a:spcPct val="115000"/>
              </a:lnSpc>
              <a:spcBef>
                <a:spcPts val="0"/>
              </a:spcBef>
              <a:spcAft>
                <a:spcPts val="0"/>
              </a:spcAft>
              <a:buClr>
                <a:schemeClr val="dk1"/>
              </a:buClr>
              <a:buSzPts val="1100"/>
              <a:buFont typeface="Arial"/>
              <a:buNone/>
            </a:pPr>
            <a:r>
              <a:t/>
            </a:r>
            <a:endParaRPr b="1" sz="2925">
              <a:solidFill>
                <a:srgbClr val="131416"/>
              </a:solidFill>
            </a:endParaRPr>
          </a:p>
          <a:p>
            <a:pPr indent="-382587" lvl="0" marL="457200" rtl="0" algn="just">
              <a:lnSpc>
                <a:spcPct val="115000"/>
              </a:lnSpc>
              <a:spcBef>
                <a:spcPts val="0"/>
              </a:spcBef>
              <a:spcAft>
                <a:spcPts val="0"/>
              </a:spcAft>
              <a:buClr>
                <a:srgbClr val="131416"/>
              </a:buClr>
              <a:buSzPts val="2425"/>
              <a:buChar char="●"/>
            </a:pPr>
            <a:r>
              <a:rPr lang="en-US" sz="2425">
                <a:solidFill>
                  <a:srgbClr val="131416"/>
                </a:solidFill>
              </a:rPr>
              <a:t>No tienen métodos ni propiedades.</a:t>
            </a:r>
            <a:endParaRPr sz="2425">
              <a:solidFill>
                <a:srgbClr val="131416"/>
              </a:solidFill>
            </a:endParaRPr>
          </a:p>
          <a:p>
            <a:pPr indent="-382587" lvl="0" marL="457200" rtl="0" algn="just">
              <a:lnSpc>
                <a:spcPct val="115000"/>
              </a:lnSpc>
              <a:spcBef>
                <a:spcPts val="0"/>
              </a:spcBef>
              <a:spcAft>
                <a:spcPts val="0"/>
              </a:spcAft>
              <a:buClr>
                <a:srgbClr val="131416"/>
              </a:buClr>
              <a:buSzPts val="2425"/>
              <a:buChar char="●"/>
            </a:pPr>
            <a:r>
              <a:rPr lang="en-US" sz="2425">
                <a:solidFill>
                  <a:srgbClr val="131416"/>
                </a:solidFill>
              </a:rPr>
              <a:t>Están definidos por el lenguaje de programación</a:t>
            </a:r>
            <a:endParaRPr sz="2425">
              <a:solidFill>
                <a:srgbClr val="131416"/>
              </a:solidFill>
            </a:endParaRPr>
          </a:p>
          <a:p>
            <a:pPr indent="-382587" lvl="0" marL="457200" rtl="0" algn="just">
              <a:lnSpc>
                <a:spcPct val="115000"/>
              </a:lnSpc>
              <a:spcBef>
                <a:spcPts val="0"/>
              </a:spcBef>
              <a:spcAft>
                <a:spcPts val="0"/>
              </a:spcAft>
              <a:buClr>
                <a:srgbClr val="131416"/>
              </a:buClr>
              <a:buSzPts val="2425"/>
              <a:buChar char="●"/>
            </a:pPr>
            <a:r>
              <a:rPr lang="en-US" sz="2425">
                <a:solidFill>
                  <a:srgbClr val="131416"/>
                </a:solidFill>
              </a:rPr>
              <a:t>Tienen un tamaño fijo o predefinido.</a:t>
            </a:r>
            <a:endParaRPr sz="2425">
              <a:solidFill>
                <a:srgbClr val="131416"/>
              </a:solidFill>
            </a:endParaRPr>
          </a:p>
          <a:p>
            <a:pPr indent="-382587" lvl="0" marL="457200" rtl="0" algn="just">
              <a:lnSpc>
                <a:spcPct val="115000"/>
              </a:lnSpc>
              <a:spcBef>
                <a:spcPts val="0"/>
              </a:spcBef>
              <a:spcAft>
                <a:spcPts val="0"/>
              </a:spcAft>
              <a:buClr>
                <a:srgbClr val="131416"/>
              </a:buClr>
              <a:buSzPts val="2425"/>
              <a:buChar char="●"/>
            </a:pPr>
            <a:r>
              <a:rPr lang="en-US" sz="2425">
                <a:solidFill>
                  <a:srgbClr val="131416"/>
                </a:solidFill>
              </a:rPr>
              <a:t>Se almacenan en stack (memoria estática).</a:t>
            </a:r>
            <a:endParaRPr sz="2425">
              <a:solidFill>
                <a:srgbClr val="131416"/>
              </a:solidFill>
            </a:endParaRPr>
          </a:p>
          <a:p>
            <a:pPr indent="0" lvl="0" marL="0" rtl="0" algn="just">
              <a:lnSpc>
                <a:spcPct val="115000"/>
              </a:lnSpc>
              <a:spcBef>
                <a:spcPts val="0"/>
              </a:spcBef>
              <a:spcAft>
                <a:spcPts val="0"/>
              </a:spcAft>
              <a:buNone/>
            </a:pPr>
            <a:r>
              <a:t/>
            </a:r>
            <a:endParaRPr sz="2425">
              <a:solidFill>
                <a:srgbClr val="131416"/>
              </a:solidFill>
            </a:endParaRPr>
          </a:p>
          <a:p>
            <a:pPr indent="0" lvl="0" marL="0" rtl="0" algn="just">
              <a:lnSpc>
                <a:spcPct val="115000"/>
              </a:lnSpc>
              <a:spcBef>
                <a:spcPts val="0"/>
              </a:spcBef>
              <a:spcAft>
                <a:spcPts val="0"/>
              </a:spcAft>
              <a:buNone/>
            </a:pPr>
            <a:r>
              <a:rPr b="1" lang="en-US" sz="2925">
                <a:solidFill>
                  <a:srgbClr val="131416"/>
                </a:solidFill>
              </a:rPr>
              <a:t>Espacio en memoria</a:t>
            </a:r>
            <a:endParaRPr b="1" sz="2925">
              <a:solidFill>
                <a:srgbClr val="131416"/>
              </a:solidFill>
            </a:endParaRPr>
          </a:p>
        </p:txBody>
      </p:sp>
      <p:sp>
        <p:nvSpPr>
          <p:cNvPr id="211" name="Google Shape;211;g35c60227a6a_2_16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Tipos de datos primitivos</a:t>
            </a:r>
            <a:endParaRPr b="0" i="0" sz="1400" u="none" cap="none" strike="noStrike">
              <a:solidFill>
                <a:srgbClr val="000000"/>
              </a:solidFill>
              <a:latin typeface="Impact"/>
              <a:ea typeface="Impact"/>
              <a:cs typeface="Impact"/>
              <a:sym typeface="Impact"/>
            </a:endParaRPr>
          </a:p>
        </p:txBody>
      </p:sp>
      <p:pic>
        <p:nvPicPr>
          <p:cNvPr id="212" name="Google Shape;212;g35c60227a6a_2_169"/>
          <p:cNvPicPr preferRelativeResize="0"/>
          <p:nvPr/>
        </p:nvPicPr>
        <p:blipFill>
          <a:blip r:embed="rId3">
            <a:alphaModFix/>
          </a:blip>
          <a:stretch>
            <a:fillRect/>
          </a:stretch>
        </p:blipFill>
        <p:spPr>
          <a:xfrm>
            <a:off x="4604088" y="5594625"/>
            <a:ext cx="9079821" cy="4214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5c60227a6a_2_49"/>
          <p:cNvSpPr txBox="1"/>
          <p:nvPr/>
        </p:nvSpPr>
        <p:spPr>
          <a:xfrm>
            <a:off x="1374902" y="2131250"/>
            <a:ext cx="15288900" cy="1862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sz="3025">
                <a:solidFill>
                  <a:srgbClr val="131416"/>
                </a:solidFill>
              </a:rPr>
              <a:t>Los tipos de datos no primitivos (o referenciados) son aquellos que están definidos por el usuario o son estructuras más complejas que los primitivos. Incluyen objetos, arreglos y otros tipos avanzados.</a:t>
            </a:r>
            <a:endParaRPr sz="3925">
              <a:solidFill>
                <a:srgbClr val="131416"/>
              </a:solidFill>
            </a:endParaRPr>
          </a:p>
        </p:txBody>
      </p:sp>
      <p:sp>
        <p:nvSpPr>
          <p:cNvPr id="218" name="Google Shape;218;g35c60227a6a_2_4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Tipos de datos no primitivos</a:t>
            </a:r>
            <a:endParaRPr b="0" i="0" sz="1400" u="none" cap="none" strike="noStrike">
              <a:solidFill>
                <a:srgbClr val="000000"/>
              </a:solidFill>
              <a:latin typeface="Impact"/>
              <a:ea typeface="Impact"/>
              <a:cs typeface="Impact"/>
              <a:sym typeface="Impact"/>
            </a:endParaRPr>
          </a:p>
        </p:txBody>
      </p:sp>
      <p:pic>
        <p:nvPicPr>
          <p:cNvPr id="219" name="Google Shape;219;g35c60227a6a_2_49"/>
          <p:cNvPicPr preferRelativeResize="0"/>
          <p:nvPr/>
        </p:nvPicPr>
        <p:blipFill>
          <a:blip r:embed="rId3">
            <a:alphaModFix/>
          </a:blip>
          <a:stretch>
            <a:fillRect/>
          </a:stretch>
        </p:blipFill>
        <p:spPr>
          <a:xfrm>
            <a:off x="6919324" y="3786075"/>
            <a:ext cx="8055000" cy="55229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5c60227a6a_2_178"/>
          <p:cNvSpPr txBox="1"/>
          <p:nvPr/>
        </p:nvSpPr>
        <p:spPr>
          <a:xfrm>
            <a:off x="1723950" y="2011050"/>
            <a:ext cx="14840100" cy="70323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b="1" lang="en-US" sz="3025">
                <a:solidFill>
                  <a:srgbClr val="131416"/>
                </a:solidFill>
              </a:rPr>
              <a:t>Caracteristicas</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Pueden tener métodos y propiedades.</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Almacenan una referencia en la memoria heap (en lugar de datos directamente).</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Incluyen estructuras más complejas, como clases, arreglos, interfaces, etc.</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Se pueden personalizar (definir nuevos tipos mediante clases o interfaces)</a:t>
            </a:r>
            <a:endParaRPr sz="2525">
              <a:solidFill>
                <a:srgbClr val="131416"/>
              </a:solidFill>
            </a:endParaRPr>
          </a:p>
          <a:p>
            <a:pPr indent="0" lvl="0" marL="0" rtl="0" algn="just">
              <a:lnSpc>
                <a:spcPct val="150000"/>
              </a:lnSpc>
              <a:spcBef>
                <a:spcPts val="0"/>
              </a:spcBef>
              <a:spcAft>
                <a:spcPts val="0"/>
              </a:spcAft>
              <a:buNone/>
            </a:pPr>
            <a:r>
              <a:t/>
            </a:r>
            <a:endParaRPr sz="2525">
              <a:solidFill>
                <a:srgbClr val="131416"/>
              </a:solidFill>
            </a:endParaRPr>
          </a:p>
          <a:p>
            <a:pPr indent="0" lvl="0" marL="0" rtl="0" algn="just">
              <a:lnSpc>
                <a:spcPct val="150000"/>
              </a:lnSpc>
              <a:spcBef>
                <a:spcPts val="0"/>
              </a:spcBef>
              <a:spcAft>
                <a:spcPts val="0"/>
              </a:spcAft>
              <a:buNone/>
            </a:pPr>
            <a:r>
              <a:rPr b="1" lang="en-US" sz="3025">
                <a:solidFill>
                  <a:srgbClr val="131416"/>
                </a:solidFill>
              </a:rPr>
              <a:t>Clasificación</a:t>
            </a:r>
            <a:endParaRPr b="1" sz="30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String (cadena)</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Arreglos (arrays)</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Clases y objetos</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Colecciones (Listas, conjuntos y mapas)</a:t>
            </a:r>
            <a:endParaRPr sz="2525">
              <a:solidFill>
                <a:srgbClr val="131416"/>
              </a:solidFill>
            </a:endParaRPr>
          </a:p>
          <a:p>
            <a:pPr indent="-388937" lvl="0" marL="457200" rtl="0" algn="just">
              <a:lnSpc>
                <a:spcPct val="150000"/>
              </a:lnSpc>
              <a:spcBef>
                <a:spcPts val="0"/>
              </a:spcBef>
              <a:spcAft>
                <a:spcPts val="0"/>
              </a:spcAft>
              <a:buClr>
                <a:srgbClr val="131416"/>
              </a:buClr>
              <a:buSzPts val="2525"/>
              <a:buChar char="●"/>
            </a:pPr>
            <a:r>
              <a:rPr lang="en-US" sz="2525">
                <a:solidFill>
                  <a:srgbClr val="131416"/>
                </a:solidFill>
              </a:rPr>
              <a:t>Interfaces</a:t>
            </a:r>
            <a:endParaRPr sz="2525">
              <a:solidFill>
                <a:srgbClr val="131416"/>
              </a:solidFill>
            </a:endParaRPr>
          </a:p>
        </p:txBody>
      </p:sp>
      <p:sp>
        <p:nvSpPr>
          <p:cNvPr id="225" name="Google Shape;225;g35c60227a6a_2_17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Tipos de datos no primitivos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5c660dae79_0_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Primitivos vs No Primitivos</a:t>
            </a:r>
            <a:endParaRPr b="0" i="0" sz="1400" u="none" cap="none" strike="noStrike">
              <a:solidFill>
                <a:srgbClr val="000000"/>
              </a:solidFill>
              <a:latin typeface="Impact"/>
              <a:ea typeface="Impact"/>
              <a:cs typeface="Impact"/>
              <a:sym typeface="Impact"/>
            </a:endParaRPr>
          </a:p>
        </p:txBody>
      </p:sp>
      <p:graphicFrame>
        <p:nvGraphicFramePr>
          <p:cNvPr id="231" name="Google Shape;231;g35c660dae79_0_0"/>
          <p:cNvGraphicFramePr/>
          <p:nvPr/>
        </p:nvGraphicFramePr>
        <p:xfrm>
          <a:off x="1046875" y="2805075"/>
          <a:ext cx="3000000" cy="3000000"/>
        </p:xfrm>
        <a:graphic>
          <a:graphicData uri="http://schemas.openxmlformats.org/drawingml/2006/table">
            <a:tbl>
              <a:tblPr>
                <a:noFill/>
                <a:tableStyleId>{180B978A-1888-4E14-ACD3-3DD32D73E81A}</a:tableStyleId>
              </a:tblPr>
              <a:tblGrid>
                <a:gridCol w="5461000"/>
                <a:gridCol w="5461000"/>
                <a:gridCol w="5461000"/>
              </a:tblGrid>
              <a:tr h="381000">
                <a:tc>
                  <a:txBody>
                    <a:bodyPr/>
                    <a:lstStyle/>
                    <a:p>
                      <a:pPr indent="0" lvl="0" marL="0" rtl="0" algn="ctr">
                        <a:spcBef>
                          <a:spcPts val="0"/>
                        </a:spcBef>
                        <a:spcAft>
                          <a:spcPts val="0"/>
                        </a:spcAft>
                        <a:buNone/>
                      </a:pPr>
                      <a:r>
                        <a:rPr b="1" lang="en-US" sz="2600"/>
                        <a:t>Características</a:t>
                      </a:r>
                      <a:endParaRPr b="1" sz="2600"/>
                    </a:p>
                  </a:txBody>
                  <a:tcPr marT="91425" marB="91425" marR="91425" marL="91425">
                    <a:solidFill>
                      <a:srgbClr val="CCCCCC"/>
                    </a:solidFill>
                  </a:tcPr>
                </a:tc>
                <a:tc>
                  <a:txBody>
                    <a:bodyPr/>
                    <a:lstStyle/>
                    <a:p>
                      <a:pPr indent="0" lvl="0" marL="0" rtl="0" algn="ctr">
                        <a:spcBef>
                          <a:spcPts val="0"/>
                        </a:spcBef>
                        <a:spcAft>
                          <a:spcPts val="0"/>
                        </a:spcAft>
                        <a:buNone/>
                      </a:pPr>
                      <a:r>
                        <a:rPr b="1" lang="en-US" sz="2600"/>
                        <a:t>Primitivos</a:t>
                      </a:r>
                      <a:endParaRPr b="1" sz="2600"/>
                    </a:p>
                  </a:txBody>
                  <a:tcPr marT="91425" marB="91425" marR="91425" marL="91425">
                    <a:solidFill>
                      <a:srgbClr val="CCCCCC"/>
                    </a:solidFill>
                  </a:tcPr>
                </a:tc>
                <a:tc>
                  <a:txBody>
                    <a:bodyPr/>
                    <a:lstStyle/>
                    <a:p>
                      <a:pPr indent="0" lvl="0" marL="0" rtl="0" algn="ctr">
                        <a:spcBef>
                          <a:spcPts val="0"/>
                        </a:spcBef>
                        <a:spcAft>
                          <a:spcPts val="0"/>
                        </a:spcAft>
                        <a:buNone/>
                      </a:pPr>
                      <a:r>
                        <a:rPr b="1" lang="en-US" sz="2600"/>
                        <a:t>No Primitivos</a:t>
                      </a:r>
                      <a:endParaRPr b="1" sz="26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US" sz="2600"/>
                        <a:t>Almacenamiento</a:t>
                      </a:r>
                      <a:endParaRPr sz="2600"/>
                    </a:p>
                  </a:txBody>
                  <a:tcPr marT="91425" marB="91425" marR="91425" marL="91425"/>
                </a:tc>
                <a:tc>
                  <a:txBody>
                    <a:bodyPr/>
                    <a:lstStyle/>
                    <a:p>
                      <a:pPr indent="0" lvl="0" marL="0" rtl="0" algn="l">
                        <a:spcBef>
                          <a:spcPts val="0"/>
                        </a:spcBef>
                        <a:spcAft>
                          <a:spcPts val="0"/>
                        </a:spcAft>
                        <a:buNone/>
                      </a:pPr>
                      <a:r>
                        <a:rPr lang="en-US" sz="2600"/>
                        <a:t>Memoria Stack</a:t>
                      </a:r>
                      <a:endParaRPr sz="2600"/>
                    </a:p>
                  </a:txBody>
                  <a:tcPr marT="91425" marB="91425" marR="91425" marL="91425"/>
                </a:tc>
                <a:tc>
                  <a:txBody>
                    <a:bodyPr/>
                    <a:lstStyle/>
                    <a:p>
                      <a:pPr indent="0" lvl="0" marL="0" rtl="0" algn="l">
                        <a:spcBef>
                          <a:spcPts val="0"/>
                        </a:spcBef>
                        <a:spcAft>
                          <a:spcPts val="0"/>
                        </a:spcAft>
                        <a:buNone/>
                      </a:pPr>
                      <a:r>
                        <a:rPr lang="en-US" sz="2600"/>
                        <a:t>Memoria Heap</a:t>
                      </a:r>
                      <a:endParaRPr sz="2600"/>
                    </a:p>
                  </a:txBody>
                  <a:tcPr marT="91425" marB="91425" marR="91425" marL="91425"/>
                </a:tc>
              </a:tr>
              <a:tr h="381000">
                <a:tc>
                  <a:txBody>
                    <a:bodyPr/>
                    <a:lstStyle/>
                    <a:p>
                      <a:pPr indent="0" lvl="0" marL="0" rtl="0" algn="l">
                        <a:spcBef>
                          <a:spcPts val="0"/>
                        </a:spcBef>
                        <a:spcAft>
                          <a:spcPts val="0"/>
                        </a:spcAft>
                        <a:buNone/>
                      </a:pPr>
                      <a:r>
                        <a:rPr lang="en-US" sz="2600"/>
                        <a:t>Inmutabilidad</a:t>
                      </a:r>
                      <a:endParaRPr sz="2600"/>
                    </a:p>
                  </a:txBody>
                  <a:tcPr marT="91425" marB="91425" marR="91425" marL="91425"/>
                </a:tc>
                <a:tc>
                  <a:txBody>
                    <a:bodyPr/>
                    <a:lstStyle/>
                    <a:p>
                      <a:pPr indent="0" lvl="0" marL="0" rtl="0" algn="l">
                        <a:spcBef>
                          <a:spcPts val="0"/>
                        </a:spcBef>
                        <a:spcAft>
                          <a:spcPts val="0"/>
                        </a:spcAft>
                        <a:buNone/>
                      </a:pPr>
                      <a:r>
                        <a:rPr lang="en-US" sz="2600"/>
                        <a:t>Inmutables</a:t>
                      </a:r>
                      <a:endParaRPr sz="2600"/>
                    </a:p>
                  </a:txBody>
                  <a:tcPr marT="91425" marB="91425" marR="91425" marL="91425"/>
                </a:tc>
                <a:tc>
                  <a:txBody>
                    <a:bodyPr/>
                    <a:lstStyle/>
                    <a:p>
                      <a:pPr indent="0" lvl="0" marL="0" rtl="0" algn="l">
                        <a:spcBef>
                          <a:spcPts val="0"/>
                        </a:spcBef>
                        <a:spcAft>
                          <a:spcPts val="0"/>
                        </a:spcAft>
                        <a:buNone/>
                      </a:pPr>
                      <a:r>
                        <a:rPr lang="en-US" sz="2600"/>
                        <a:t>Generalmente mutables</a:t>
                      </a:r>
                      <a:endParaRPr sz="2600"/>
                    </a:p>
                  </a:txBody>
                  <a:tcPr marT="91425" marB="91425" marR="91425" marL="91425"/>
                </a:tc>
              </a:tr>
              <a:tr h="381000">
                <a:tc>
                  <a:txBody>
                    <a:bodyPr/>
                    <a:lstStyle/>
                    <a:p>
                      <a:pPr indent="0" lvl="0" marL="0" rtl="0" algn="l">
                        <a:spcBef>
                          <a:spcPts val="0"/>
                        </a:spcBef>
                        <a:spcAft>
                          <a:spcPts val="0"/>
                        </a:spcAft>
                        <a:buNone/>
                      </a:pPr>
                      <a:r>
                        <a:rPr lang="en-US" sz="2600"/>
                        <a:t>Métodos/Propiedades</a:t>
                      </a:r>
                      <a:endParaRPr sz="2600"/>
                    </a:p>
                  </a:txBody>
                  <a:tcPr marT="91425" marB="91425" marR="91425" marL="91425"/>
                </a:tc>
                <a:tc>
                  <a:txBody>
                    <a:bodyPr/>
                    <a:lstStyle/>
                    <a:p>
                      <a:pPr indent="0" lvl="0" marL="0" rtl="0" algn="l">
                        <a:spcBef>
                          <a:spcPts val="0"/>
                        </a:spcBef>
                        <a:spcAft>
                          <a:spcPts val="0"/>
                        </a:spcAft>
                        <a:buNone/>
                      </a:pPr>
                      <a:r>
                        <a:rPr lang="en-US" sz="2600"/>
                        <a:t>No tienen</a:t>
                      </a:r>
                      <a:endParaRPr sz="2600"/>
                    </a:p>
                  </a:txBody>
                  <a:tcPr marT="91425" marB="91425" marR="91425" marL="91425"/>
                </a:tc>
                <a:tc>
                  <a:txBody>
                    <a:bodyPr/>
                    <a:lstStyle/>
                    <a:p>
                      <a:pPr indent="0" lvl="0" marL="0" rtl="0" algn="l">
                        <a:spcBef>
                          <a:spcPts val="0"/>
                        </a:spcBef>
                        <a:spcAft>
                          <a:spcPts val="0"/>
                        </a:spcAft>
                        <a:buNone/>
                      </a:pPr>
                      <a:r>
                        <a:rPr lang="en-US" sz="2600"/>
                        <a:t>Tienen</a:t>
                      </a:r>
                      <a:endParaRPr sz="2600"/>
                    </a:p>
                  </a:txBody>
                  <a:tcPr marT="91425" marB="91425" marR="91425" marL="91425"/>
                </a:tc>
              </a:tr>
              <a:tr h="381000">
                <a:tc>
                  <a:txBody>
                    <a:bodyPr/>
                    <a:lstStyle/>
                    <a:p>
                      <a:pPr indent="0" lvl="0" marL="0" rtl="0" algn="l">
                        <a:spcBef>
                          <a:spcPts val="0"/>
                        </a:spcBef>
                        <a:spcAft>
                          <a:spcPts val="0"/>
                        </a:spcAft>
                        <a:buNone/>
                      </a:pPr>
                      <a:r>
                        <a:rPr lang="en-US" sz="2600"/>
                        <a:t>Definición</a:t>
                      </a:r>
                      <a:endParaRPr sz="2600"/>
                    </a:p>
                  </a:txBody>
                  <a:tcPr marT="91425" marB="91425" marR="91425" marL="91425"/>
                </a:tc>
                <a:tc>
                  <a:txBody>
                    <a:bodyPr/>
                    <a:lstStyle/>
                    <a:p>
                      <a:pPr indent="0" lvl="0" marL="0" rtl="0" algn="l">
                        <a:spcBef>
                          <a:spcPts val="0"/>
                        </a:spcBef>
                        <a:spcAft>
                          <a:spcPts val="0"/>
                        </a:spcAft>
                        <a:buNone/>
                      </a:pPr>
                      <a:r>
                        <a:rPr lang="en-US" sz="2600"/>
                        <a:t>Predefinidos por el lenguaje</a:t>
                      </a:r>
                      <a:endParaRPr sz="2600"/>
                    </a:p>
                  </a:txBody>
                  <a:tcPr marT="91425" marB="91425" marR="91425" marL="91425"/>
                </a:tc>
                <a:tc>
                  <a:txBody>
                    <a:bodyPr/>
                    <a:lstStyle/>
                    <a:p>
                      <a:pPr indent="0" lvl="0" marL="0" rtl="0" algn="l">
                        <a:spcBef>
                          <a:spcPts val="0"/>
                        </a:spcBef>
                        <a:spcAft>
                          <a:spcPts val="0"/>
                        </a:spcAft>
                        <a:buNone/>
                      </a:pPr>
                      <a:r>
                        <a:rPr lang="en-US" sz="2600"/>
                        <a:t>Definidos por el usuario</a:t>
                      </a:r>
                      <a:endParaRPr sz="2600"/>
                    </a:p>
                  </a:txBody>
                  <a:tcPr marT="91425" marB="91425" marR="91425" marL="91425"/>
                </a:tc>
              </a:tr>
              <a:tr h="381000">
                <a:tc>
                  <a:txBody>
                    <a:bodyPr/>
                    <a:lstStyle/>
                    <a:p>
                      <a:pPr indent="0" lvl="0" marL="0" rtl="0" algn="l">
                        <a:spcBef>
                          <a:spcPts val="0"/>
                        </a:spcBef>
                        <a:spcAft>
                          <a:spcPts val="0"/>
                        </a:spcAft>
                        <a:buNone/>
                      </a:pPr>
                      <a:r>
                        <a:rPr lang="en-US" sz="2600"/>
                        <a:t>Referencia/Valor</a:t>
                      </a:r>
                      <a:endParaRPr sz="2600"/>
                    </a:p>
                  </a:txBody>
                  <a:tcPr marT="91425" marB="91425" marR="91425" marL="91425"/>
                </a:tc>
                <a:tc>
                  <a:txBody>
                    <a:bodyPr/>
                    <a:lstStyle/>
                    <a:p>
                      <a:pPr indent="0" lvl="0" marL="0" rtl="0" algn="l">
                        <a:spcBef>
                          <a:spcPts val="0"/>
                        </a:spcBef>
                        <a:spcAft>
                          <a:spcPts val="0"/>
                        </a:spcAft>
                        <a:buNone/>
                      </a:pPr>
                      <a:r>
                        <a:rPr lang="en-US" sz="2600"/>
                        <a:t>Contienen valores directos</a:t>
                      </a:r>
                      <a:endParaRPr sz="2600"/>
                    </a:p>
                  </a:txBody>
                  <a:tcPr marT="91425" marB="91425" marR="91425" marL="91425"/>
                </a:tc>
                <a:tc>
                  <a:txBody>
                    <a:bodyPr/>
                    <a:lstStyle/>
                    <a:p>
                      <a:pPr indent="0" lvl="0" marL="0" rtl="0" algn="l">
                        <a:spcBef>
                          <a:spcPts val="0"/>
                        </a:spcBef>
                        <a:spcAft>
                          <a:spcPts val="0"/>
                        </a:spcAft>
                        <a:buNone/>
                      </a:pPr>
                      <a:r>
                        <a:rPr lang="en-US" sz="2600"/>
                        <a:t>Contienen referencia</a:t>
                      </a:r>
                      <a:endParaRPr sz="2600"/>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5c60227a6a_2_192"/>
          <p:cNvSpPr txBox="1"/>
          <p:nvPr/>
        </p:nvSpPr>
        <p:spPr>
          <a:xfrm>
            <a:off x="1374902" y="2497800"/>
            <a:ext cx="15288900" cy="1862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sz="3025">
                <a:solidFill>
                  <a:srgbClr val="131416"/>
                </a:solidFill>
              </a:rPr>
              <a:t>Consiste en la conversión de tipos de datos similares (compatibles) entre sí, generalmente a través de la herencia, en Java se pueden castear los siguientes tipos de datos (en filas) a los otros tipos de datos (columnas).</a:t>
            </a:r>
            <a:endParaRPr sz="3025">
              <a:solidFill>
                <a:srgbClr val="131416"/>
              </a:solidFill>
            </a:endParaRPr>
          </a:p>
        </p:txBody>
      </p:sp>
      <p:sp>
        <p:nvSpPr>
          <p:cNvPr id="237" name="Google Shape;237;g35c60227a6a_2_192"/>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Casteos</a:t>
            </a:r>
            <a:endParaRPr b="0" i="0" sz="1400" u="none" cap="none" strike="noStrike">
              <a:solidFill>
                <a:srgbClr val="000000"/>
              </a:solidFill>
              <a:latin typeface="Impact"/>
              <a:ea typeface="Impact"/>
              <a:cs typeface="Impact"/>
              <a:sym typeface="Impact"/>
            </a:endParaRPr>
          </a:p>
        </p:txBody>
      </p:sp>
      <p:pic>
        <p:nvPicPr>
          <p:cNvPr id="238" name="Google Shape;238;g35c60227a6a_2_192"/>
          <p:cNvPicPr preferRelativeResize="0"/>
          <p:nvPr/>
        </p:nvPicPr>
        <p:blipFill>
          <a:blip r:embed="rId3">
            <a:alphaModFix/>
          </a:blip>
          <a:stretch>
            <a:fillRect/>
          </a:stretch>
        </p:blipFill>
        <p:spPr>
          <a:xfrm>
            <a:off x="2688963" y="4937300"/>
            <a:ext cx="12660775" cy="4405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5c60227a6a_2_54"/>
          <p:cNvSpPr txBox="1"/>
          <p:nvPr/>
        </p:nvSpPr>
        <p:spPr>
          <a:xfrm>
            <a:off x="1499552" y="2875250"/>
            <a:ext cx="15288900" cy="2560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sz="3025">
                <a:solidFill>
                  <a:srgbClr val="131416"/>
                </a:solidFill>
              </a:rPr>
              <a:t>El casteo implícito ocurre automáticamente cuando convertimos un tipo de dato de menor precisión (menor tamaño en memoria) a uno de mayor precisión (mayor tamaño en memoria). Este proceso no requiere intervención del programador porque no hay riesgo de pérdida de datos.</a:t>
            </a:r>
            <a:endParaRPr sz="3025">
              <a:solidFill>
                <a:srgbClr val="131416"/>
              </a:solidFill>
            </a:endParaRPr>
          </a:p>
        </p:txBody>
      </p:sp>
      <p:sp>
        <p:nvSpPr>
          <p:cNvPr id="244" name="Google Shape;244;g35c60227a6a_2_5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Casteos implícitos</a:t>
            </a:r>
            <a:endParaRPr b="0" i="0" sz="1400" u="none" cap="none" strike="noStrike">
              <a:solidFill>
                <a:srgbClr val="000000"/>
              </a:solidFill>
              <a:latin typeface="Impact"/>
              <a:ea typeface="Impact"/>
              <a:cs typeface="Impact"/>
              <a:sym typeface="Impact"/>
            </a:endParaRPr>
          </a:p>
        </p:txBody>
      </p:sp>
      <p:pic>
        <p:nvPicPr>
          <p:cNvPr id="245" name="Google Shape;245;g35c60227a6a_2_54"/>
          <p:cNvPicPr preferRelativeResize="0"/>
          <p:nvPr/>
        </p:nvPicPr>
        <p:blipFill>
          <a:blip r:embed="rId3">
            <a:alphaModFix/>
          </a:blip>
          <a:stretch>
            <a:fillRect/>
          </a:stretch>
        </p:blipFill>
        <p:spPr>
          <a:xfrm>
            <a:off x="3162300" y="6327775"/>
            <a:ext cx="11963400" cy="2047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5c60227a6a_2_59"/>
          <p:cNvSpPr txBox="1"/>
          <p:nvPr/>
        </p:nvSpPr>
        <p:spPr>
          <a:xfrm>
            <a:off x="1349250" y="2546550"/>
            <a:ext cx="15589500" cy="3810900"/>
          </a:xfrm>
          <a:prstGeom prst="rect">
            <a:avLst/>
          </a:prstGeom>
          <a:noFill/>
          <a:ln>
            <a:noFill/>
          </a:ln>
        </p:spPr>
        <p:txBody>
          <a:bodyPr anchorCtr="0" anchor="t" bIns="0" lIns="0" spcFirstLastPara="1" rIns="0" wrap="square" tIns="0">
            <a:spAutoFit/>
          </a:bodyPr>
          <a:lstStyle/>
          <a:p>
            <a:pPr indent="0" lvl="0" marL="0" rtl="0" algn="l">
              <a:lnSpc>
                <a:spcPct val="173070"/>
              </a:lnSpc>
              <a:spcBef>
                <a:spcPts val="0"/>
              </a:spcBef>
              <a:spcAft>
                <a:spcPts val="0"/>
              </a:spcAft>
              <a:buClr>
                <a:schemeClr val="dk1"/>
              </a:buClr>
              <a:buSzPts val="1100"/>
              <a:buFont typeface="Arial"/>
              <a:buNone/>
            </a:pPr>
            <a:r>
              <a:rPr lang="en-US" sz="3125">
                <a:solidFill>
                  <a:srgbClr val="131416"/>
                </a:solidFill>
              </a:rPr>
              <a:t>El casteo explícito ocurre cuando convertimos un tipo de dato de mayor precisión a uno de menor precisión. Dado que esto puede implicar una pérdida de datos , el programador debe indicar explícitamente que desea realizar esta conversión.</a:t>
            </a:r>
            <a:endParaRPr sz="3125">
              <a:solidFill>
                <a:srgbClr val="131416"/>
              </a:solidFill>
            </a:endParaRPr>
          </a:p>
          <a:p>
            <a:pPr indent="0" lvl="0" marL="0" rtl="0" algn="l">
              <a:lnSpc>
                <a:spcPct val="173070"/>
              </a:lnSpc>
              <a:spcBef>
                <a:spcPts val="0"/>
              </a:spcBef>
              <a:spcAft>
                <a:spcPts val="0"/>
              </a:spcAft>
              <a:buClr>
                <a:schemeClr val="dk1"/>
              </a:buClr>
              <a:buSzPts val="1100"/>
              <a:buFont typeface="Arial"/>
              <a:buNone/>
            </a:pPr>
            <a:r>
              <a:t/>
            </a:r>
            <a:endParaRPr sz="3125">
              <a:solidFill>
                <a:srgbClr val="131416"/>
              </a:solidFill>
            </a:endParaRPr>
          </a:p>
          <a:p>
            <a:pPr indent="0" lvl="0" marL="0" rtl="0" algn="l">
              <a:lnSpc>
                <a:spcPct val="173070"/>
              </a:lnSpc>
              <a:spcBef>
                <a:spcPts val="0"/>
              </a:spcBef>
              <a:spcAft>
                <a:spcPts val="0"/>
              </a:spcAft>
              <a:buClr>
                <a:schemeClr val="dk1"/>
              </a:buClr>
              <a:buSzPts val="1100"/>
              <a:buFont typeface="Arial"/>
              <a:buNone/>
            </a:pPr>
            <a:r>
              <a:rPr b="1" lang="en-US" sz="3125">
                <a:solidFill>
                  <a:srgbClr val="6AA84F"/>
                </a:solidFill>
              </a:rPr>
              <a:t>tipoDestino variableDestino = (tipoDestino) variableOrigen;</a:t>
            </a:r>
            <a:endParaRPr b="1" sz="3125">
              <a:solidFill>
                <a:srgbClr val="6AA84F"/>
              </a:solidFill>
            </a:endParaRPr>
          </a:p>
        </p:txBody>
      </p:sp>
      <p:sp>
        <p:nvSpPr>
          <p:cNvPr id="251" name="Google Shape;251;g35c60227a6a_2_5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Casteos explicitos</a:t>
            </a:r>
            <a:endParaRPr b="0" i="0" sz="1400" u="none" cap="none" strike="noStrike">
              <a:solidFill>
                <a:srgbClr val="000000"/>
              </a:solidFill>
              <a:latin typeface="Impact"/>
              <a:ea typeface="Impact"/>
              <a:cs typeface="Impact"/>
              <a:sym typeface="Impact"/>
            </a:endParaRPr>
          </a:p>
        </p:txBody>
      </p:sp>
      <p:pic>
        <p:nvPicPr>
          <p:cNvPr id="252" name="Google Shape;252;g35c60227a6a_2_59"/>
          <p:cNvPicPr preferRelativeResize="0"/>
          <p:nvPr/>
        </p:nvPicPr>
        <p:blipFill>
          <a:blip r:embed="rId3">
            <a:alphaModFix/>
          </a:blip>
          <a:stretch>
            <a:fillRect/>
          </a:stretch>
        </p:blipFill>
        <p:spPr>
          <a:xfrm>
            <a:off x="2638425" y="7241025"/>
            <a:ext cx="13011150" cy="1895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5c660dae79_0_16"/>
          <p:cNvSpPr txBox="1"/>
          <p:nvPr/>
        </p:nvSpPr>
        <p:spPr>
          <a:xfrm>
            <a:off x="1349250" y="2609450"/>
            <a:ext cx="15589500" cy="3810900"/>
          </a:xfrm>
          <a:prstGeom prst="rect">
            <a:avLst/>
          </a:prstGeom>
          <a:noFill/>
          <a:ln>
            <a:noFill/>
          </a:ln>
        </p:spPr>
        <p:txBody>
          <a:bodyPr anchorCtr="0" anchor="t" bIns="0" lIns="0" spcFirstLastPara="1" rIns="0" wrap="square" tIns="0">
            <a:spAutoFit/>
          </a:bodyPr>
          <a:lstStyle/>
          <a:p>
            <a:pPr indent="-427037" lvl="0" marL="457200" rtl="0" algn="l">
              <a:lnSpc>
                <a:spcPct val="173070"/>
              </a:lnSpc>
              <a:spcBef>
                <a:spcPts val="0"/>
              </a:spcBef>
              <a:spcAft>
                <a:spcPts val="0"/>
              </a:spcAft>
              <a:buClr>
                <a:schemeClr val="dk1"/>
              </a:buClr>
              <a:buSzPts val="3125"/>
              <a:buChar char="●"/>
            </a:pPr>
            <a:r>
              <a:rPr lang="en-US" sz="3125">
                <a:solidFill>
                  <a:schemeClr val="dk1"/>
                </a:solidFill>
              </a:rPr>
              <a:t>Debe realizarse manualmente</a:t>
            </a:r>
            <a:endParaRPr sz="3125">
              <a:solidFill>
                <a:schemeClr val="dk1"/>
              </a:solidFill>
            </a:endParaRPr>
          </a:p>
          <a:p>
            <a:pPr indent="-427037" lvl="0" marL="457200" rtl="0" algn="l">
              <a:lnSpc>
                <a:spcPct val="173070"/>
              </a:lnSpc>
              <a:spcBef>
                <a:spcPts val="0"/>
              </a:spcBef>
              <a:spcAft>
                <a:spcPts val="0"/>
              </a:spcAft>
              <a:buClr>
                <a:schemeClr val="dk1"/>
              </a:buClr>
              <a:buSzPts val="3125"/>
              <a:buChar char="●"/>
            </a:pPr>
            <a:r>
              <a:rPr lang="en-US" sz="3125">
                <a:solidFill>
                  <a:schemeClr val="dk1"/>
                </a:solidFill>
              </a:rPr>
              <a:t>Puede provocar pérdida de datos</a:t>
            </a:r>
            <a:endParaRPr sz="3125">
              <a:solidFill>
                <a:schemeClr val="dk1"/>
              </a:solidFill>
            </a:endParaRPr>
          </a:p>
          <a:p>
            <a:pPr indent="-427037" lvl="0" marL="457200" rtl="0" algn="l">
              <a:lnSpc>
                <a:spcPct val="173070"/>
              </a:lnSpc>
              <a:spcBef>
                <a:spcPts val="0"/>
              </a:spcBef>
              <a:spcAft>
                <a:spcPts val="0"/>
              </a:spcAft>
              <a:buClr>
                <a:schemeClr val="dk1"/>
              </a:buClr>
              <a:buSzPts val="3125"/>
              <a:buChar char="●"/>
            </a:pPr>
            <a:r>
              <a:rPr lang="en-US" sz="3125">
                <a:solidFill>
                  <a:schemeClr val="dk1"/>
                </a:solidFill>
              </a:rPr>
              <a:t>Ejemplos comunes:</a:t>
            </a:r>
            <a:endParaRPr sz="3125">
              <a:solidFill>
                <a:schemeClr val="dk1"/>
              </a:solidFill>
            </a:endParaRPr>
          </a:p>
          <a:p>
            <a:pPr indent="-427037" lvl="1" marL="914400" rtl="0" algn="l">
              <a:lnSpc>
                <a:spcPct val="173070"/>
              </a:lnSpc>
              <a:spcBef>
                <a:spcPts val="0"/>
              </a:spcBef>
              <a:spcAft>
                <a:spcPts val="0"/>
              </a:spcAft>
              <a:buClr>
                <a:schemeClr val="dk1"/>
              </a:buClr>
              <a:buSzPts val="3125"/>
              <a:buChar char="○"/>
            </a:pPr>
            <a:r>
              <a:rPr lang="en-US" sz="3125">
                <a:solidFill>
                  <a:schemeClr val="dk1"/>
                </a:solidFill>
              </a:rPr>
              <a:t>double -&gt; float -&gt; long -&gt; int -&gt; short -&gt; byte</a:t>
            </a:r>
            <a:endParaRPr sz="3125">
              <a:solidFill>
                <a:schemeClr val="dk1"/>
              </a:solidFill>
            </a:endParaRPr>
          </a:p>
          <a:p>
            <a:pPr indent="-427037" lvl="1" marL="914400" rtl="0" algn="l">
              <a:lnSpc>
                <a:spcPct val="173070"/>
              </a:lnSpc>
              <a:spcBef>
                <a:spcPts val="0"/>
              </a:spcBef>
              <a:spcAft>
                <a:spcPts val="0"/>
              </a:spcAft>
              <a:buClr>
                <a:schemeClr val="dk1"/>
              </a:buClr>
              <a:buSzPts val="3125"/>
              <a:buChar char="○"/>
            </a:pPr>
            <a:r>
              <a:rPr lang="en-US" sz="3125">
                <a:solidFill>
                  <a:schemeClr val="dk1"/>
                </a:solidFill>
              </a:rPr>
              <a:t>int -&gt; char</a:t>
            </a:r>
            <a:endParaRPr sz="3125">
              <a:solidFill>
                <a:schemeClr val="dk1"/>
              </a:solidFill>
            </a:endParaRPr>
          </a:p>
        </p:txBody>
      </p:sp>
      <p:sp>
        <p:nvSpPr>
          <p:cNvPr id="258" name="Google Shape;258;g35c660dae79_0_16"/>
          <p:cNvSpPr txBox="1"/>
          <p:nvPr/>
        </p:nvSpPr>
        <p:spPr>
          <a:xfrm>
            <a:off x="1374901" y="84782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Consideraciones de los c</a:t>
            </a:r>
            <a:r>
              <a:rPr lang="en-US" sz="6098">
                <a:solidFill>
                  <a:srgbClr val="131416"/>
                </a:solidFill>
                <a:latin typeface="Impact"/>
                <a:ea typeface="Impact"/>
                <a:cs typeface="Impact"/>
                <a:sym typeface="Impact"/>
              </a:rPr>
              <a:t>asteos explicitos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5c660dae79_0_22"/>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Casteo implícito vs Casteo Explícito</a:t>
            </a:r>
            <a:endParaRPr b="0" i="0" sz="1400" u="none" cap="none" strike="noStrike">
              <a:solidFill>
                <a:srgbClr val="000000"/>
              </a:solidFill>
              <a:latin typeface="Impact"/>
              <a:ea typeface="Impact"/>
              <a:cs typeface="Impact"/>
              <a:sym typeface="Impact"/>
            </a:endParaRPr>
          </a:p>
        </p:txBody>
      </p:sp>
      <p:graphicFrame>
        <p:nvGraphicFramePr>
          <p:cNvPr id="264" name="Google Shape;264;g35c660dae79_0_22"/>
          <p:cNvGraphicFramePr/>
          <p:nvPr/>
        </p:nvGraphicFramePr>
        <p:xfrm>
          <a:off x="1337850" y="4224225"/>
          <a:ext cx="3000000" cy="3000000"/>
        </p:xfrm>
        <a:graphic>
          <a:graphicData uri="http://schemas.openxmlformats.org/drawingml/2006/table">
            <a:tbl>
              <a:tblPr>
                <a:noFill/>
                <a:tableStyleId>{180B978A-1888-4E14-ACD3-3DD32D73E81A}</a:tableStyleId>
              </a:tblPr>
              <a:tblGrid>
                <a:gridCol w="5204100"/>
                <a:gridCol w="5204100"/>
                <a:gridCol w="5204100"/>
              </a:tblGrid>
              <a:tr h="381000">
                <a:tc>
                  <a:txBody>
                    <a:bodyPr/>
                    <a:lstStyle/>
                    <a:p>
                      <a:pPr indent="0" lvl="0" marL="0" rtl="0" algn="ctr">
                        <a:spcBef>
                          <a:spcPts val="0"/>
                        </a:spcBef>
                        <a:spcAft>
                          <a:spcPts val="0"/>
                        </a:spcAft>
                        <a:buNone/>
                      </a:pPr>
                      <a:r>
                        <a:rPr b="1" lang="en-US" sz="2600"/>
                        <a:t>Característica</a:t>
                      </a:r>
                      <a:endParaRPr b="1" sz="2600"/>
                    </a:p>
                  </a:txBody>
                  <a:tcPr marT="91425" marB="91425" marR="91425" marL="91425" anchor="ctr">
                    <a:solidFill>
                      <a:srgbClr val="CCCCCC"/>
                    </a:solidFill>
                  </a:tcPr>
                </a:tc>
                <a:tc>
                  <a:txBody>
                    <a:bodyPr/>
                    <a:lstStyle/>
                    <a:p>
                      <a:pPr indent="0" lvl="0" marL="0" rtl="0" algn="ctr">
                        <a:spcBef>
                          <a:spcPts val="0"/>
                        </a:spcBef>
                        <a:spcAft>
                          <a:spcPts val="0"/>
                        </a:spcAft>
                        <a:buNone/>
                      </a:pPr>
                      <a:r>
                        <a:rPr b="1" lang="en-US" sz="2600"/>
                        <a:t>Casteo implícito</a:t>
                      </a:r>
                      <a:endParaRPr b="1" sz="2600"/>
                    </a:p>
                  </a:txBody>
                  <a:tcPr marT="91425" marB="91425" marR="91425" marL="91425" anchor="ctr">
                    <a:solidFill>
                      <a:srgbClr val="CCCCCC"/>
                    </a:solidFill>
                  </a:tcPr>
                </a:tc>
                <a:tc>
                  <a:txBody>
                    <a:bodyPr/>
                    <a:lstStyle/>
                    <a:p>
                      <a:pPr indent="0" lvl="0" marL="0" rtl="0" algn="ctr">
                        <a:spcBef>
                          <a:spcPts val="0"/>
                        </a:spcBef>
                        <a:spcAft>
                          <a:spcPts val="0"/>
                        </a:spcAft>
                        <a:buNone/>
                      </a:pPr>
                      <a:r>
                        <a:rPr b="1" lang="en-US" sz="2600"/>
                        <a:t>Casteo explícito</a:t>
                      </a:r>
                      <a:endParaRPr b="1" sz="2600"/>
                    </a:p>
                  </a:txBody>
                  <a:tcPr marT="91425" marB="91425" marR="91425" marL="91425" anchor="ctr">
                    <a:solidFill>
                      <a:srgbClr val="CCCCCC"/>
                    </a:solidFill>
                  </a:tcPr>
                </a:tc>
              </a:tr>
              <a:tr h="381000">
                <a:tc>
                  <a:txBody>
                    <a:bodyPr/>
                    <a:lstStyle/>
                    <a:p>
                      <a:pPr indent="0" lvl="0" marL="0" rtl="0" algn="l">
                        <a:spcBef>
                          <a:spcPts val="0"/>
                        </a:spcBef>
                        <a:spcAft>
                          <a:spcPts val="0"/>
                        </a:spcAft>
                        <a:buNone/>
                      </a:pPr>
                      <a:r>
                        <a:rPr lang="en-US" sz="2600"/>
                        <a:t>Dirección</a:t>
                      </a:r>
                      <a:endParaRPr sz="2600"/>
                    </a:p>
                  </a:txBody>
                  <a:tcPr marT="91425" marB="91425" marR="91425" marL="91425"/>
                </a:tc>
                <a:tc>
                  <a:txBody>
                    <a:bodyPr/>
                    <a:lstStyle/>
                    <a:p>
                      <a:pPr indent="0" lvl="0" marL="0" rtl="0" algn="l">
                        <a:spcBef>
                          <a:spcPts val="0"/>
                        </a:spcBef>
                        <a:spcAft>
                          <a:spcPts val="0"/>
                        </a:spcAft>
                        <a:buNone/>
                      </a:pPr>
                      <a:r>
                        <a:rPr lang="en-US" sz="2600"/>
                        <a:t>De menor a mayor precisión</a:t>
                      </a:r>
                      <a:endParaRPr sz="2600"/>
                    </a:p>
                  </a:txBody>
                  <a:tcPr marT="91425" marB="91425" marR="91425" marL="91425"/>
                </a:tc>
                <a:tc>
                  <a:txBody>
                    <a:bodyPr/>
                    <a:lstStyle/>
                    <a:p>
                      <a:pPr indent="0" lvl="0" marL="0" rtl="0" algn="l">
                        <a:spcBef>
                          <a:spcPts val="0"/>
                        </a:spcBef>
                        <a:spcAft>
                          <a:spcPts val="0"/>
                        </a:spcAft>
                        <a:buNone/>
                      </a:pPr>
                      <a:r>
                        <a:rPr lang="en-US" sz="2600"/>
                        <a:t>De mayor a menor precisión</a:t>
                      </a:r>
                      <a:endParaRPr sz="2600"/>
                    </a:p>
                  </a:txBody>
                  <a:tcPr marT="91425" marB="91425" marR="91425" marL="91425"/>
                </a:tc>
              </a:tr>
              <a:tr h="381000">
                <a:tc>
                  <a:txBody>
                    <a:bodyPr/>
                    <a:lstStyle/>
                    <a:p>
                      <a:pPr indent="0" lvl="0" marL="0" rtl="0" algn="l">
                        <a:spcBef>
                          <a:spcPts val="0"/>
                        </a:spcBef>
                        <a:spcAft>
                          <a:spcPts val="0"/>
                        </a:spcAft>
                        <a:buNone/>
                      </a:pPr>
                      <a:r>
                        <a:rPr lang="en-US" sz="2600"/>
                        <a:t>Riesgo de pérdida</a:t>
                      </a:r>
                      <a:endParaRPr sz="2600"/>
                    </a:p>
                  </a:txBody>
                  <a:tcPr marT="91425" marB="91425" marR="91425" marL="91425"/>
                </a:tc>
                <a:tc>
                  <a:txBody>
                    <a:bodyPr/>
                    <a:lstStyle/>
                    <a:p>
                      <a:pPr indent="0" lvl="0" marL="0" rtl="0" algn="l">
                        <a:spcBef>
                          <a:spcPts val="0"/>
                        </a:spcBef>
                        <a:spcAft>
                          <a:spcPts val="0"/>
                        </a:spcAft>
                        <a:buNone/>
                      </a:pPr>
                      <a:r>
                        <a:rPr lang="en-US" sz="2600"/>
                        <a:t>No hay</a:t>
                      </a:r>
                      <a:endParaRPr sz="2600"/>
                    </a:p>
                  </a:txBody>
                  <a:tcPr marT="91425" marB="91425" marR="91425" marL="91425"/>
                </a:tc>
                <a:tc>
                  <a:txBody>
                    <a:bodyPr/>
                    <a:lstStyle/>
                    <a:p>
                      <a:pPr indent="0" lvl="0" marL="0" rtl="0" algn="l">
                        <a:spcBef>
                          <a:spcPts val="0"/>
                        </a:spcBef>
                        <a:spcAft>
                          <a:spcPts val="0"/>
                        </a:spcAft>
                        <a:buNone/>
                      </a:pPr>
                      <a:r>
                        <a:rPr lang="en-US" sz="2600"/>
                        <a:t>Puede haber</a:t>
                      </a:r>
                      <a:endParaRPr sz="2600"/>
                    </a:p>
                  </a:txBody>
                  <a:tcPr marT="91425" marB="91425" marR="91425" marL="91425"/>
                </a:tc>
              </a:tr>
              <a:tr h="381000">
                <a:tc>
                  <a:txBody>
                    <a:bodyPr/>
                    <a:lstStyle/>
                    <a:p>
                      <a:pPr indent="0" lvl="0" marL="0" rtl="0" algn="l">
                        <a:spcBef>
                          <a:spcPts val="0"/>
                        </a:spcBef>
                        <a:spcAft>
                          <a:spcPts val="0"/>
                        </a:spcAft>
                        <a:buNone/>
                      </a:pPr>
                      <a:r>
                        <a:rPr lang="en-US" sz="2600"/>
                        <a:t>Intervención</a:t>
                      </a:r>
                      <a:endParaRPr sz="2600"/>
                    </a:p>
                  </a:txBody>
                  <a:tcPr marT="91425" marB="91425" marR="91425" marL="91425"/>
                </a:tc>
                <a:tc>
                  <a:txBody>
                    <a:bodyPr/>
                    <a:lstStyle/>
                    <a:p>
                      <a:pPr indent="0" lvl="0" marL="0" rtl="0" algn="l">
                        <a:spcBef>
                          <a:spcPts val="0"/>
                        </a:spcBef>
                        <a:spcAft>
                          <a:spcPts val="0"/>
                        </a:spcAft>
                        <a:buNone/>
                      </a:pPr>
                      <a:r>
                        <a:rPr lang="en-US" sz="2600"/>
                        <a:t>Automática</a:t>
                      </a:r>
                      <a:endParaRPr sz="2600"/>
                    </a:p>
                  </a:txBody>
                  <a:tcPr marT="91425" marB="91425" marR="91425" marL="91425"/>
                </a:tc>
                <a:tc>
                  <a:txBody>
                    <a:bodyPr/>
                    <a:lstStyle/>
                    <a:p>
                      <a:pPr indent="0" lvl="0" marL="0" rtl="0" algn="l">
                        <a:spcBef>
                          <a:spcPts val="0"/>
                        </a:spcBef>
                        <a:spcAft>
                          <a:spcPts val="0"/>
                        </a:spcAft>
                        <a:buNone/>
                      </a:pPr>
                      <a:r>
                        <a:rPr lang="en-US" sz="2600"/>
                        <a:t>Manual</a:t>
                      </a:r>
                      <a:endParaRPr sz="2600"/>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5c660dae79_0_29"/>
          <p:cNvSpPr txBox="1"/>
          <p:nvPr/>
        </p:nvSpPr>
        <p:spPr>
          <a:xfrm>
            <a:off x="1374901" y="654375"/>
            <a:ext cx="15288900" cy="1999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Casteo de cadenas a tipos de datos primitivos y viceversa</a:t>
            </a:r>
            <a:endParaRPr b="0" i="0" sz="1400" u="none" cap="none" strike="noStrike">
              <a:solidFill>
                <a:srgbClr val="000000"/>
              </a:solidFill>
              <a:latin typeface="Impact"/>
              <a:ea typeface="Impact"/>
              <a:cs typeface="Impact"/>
              <a:sym typeface="Impact"/>
            </a:endParaRPr>
          </a:p>
        </p:txBody>
      </p:sp>
      <p:sp>
        <p:nvSpPr>
          <p:cNvPr id="270" name="Google Shape;270;g35c660dae79_0_29"/>
          <p:cNvSpPr txBox="1"/>
          <p:nvPr/>
        </p:nvSpPr>
        <p:spPr>
          <a:xfrm>
            <a:off x="2332100" y="6191250"/>
            <a:ext cx="45702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1"/>
                </a:solidFill>
                <a:latin typeface="Calibri"/>
                <a:ea typeface="Calibri"/>
                <a:cs typeface="Calibri"/>
                <a:sym typeface="Calibri"/>
              </a:rPr>
              <a:t>String a tipo primitivo</a:t>
            </a:r>
            <a:endParaRPr b="1" sz="3500">
              <a:solidFill>
                <a:schemeClr val="dk1"/>
              </a:solidFill>
              <a:latin typeface="Calibri"/>
              <a:ea typeface="Calibri"/>
              <a:cs typeface="Calibri"/>
              <a:sym typeface="Calibri"/>
            </a:endParaRPr>
          </a:p>
        </p:txBody>
      </p:sp>
      <p:sp>
        <p:nvSpPr>
          <p:cNvPr id="271" name="Google Shape;271;g35c660dae79_0_29"/>
          <p:cNvSpPr txBox="1"/>
          <p:nvPr/>
        </p:nvSpPr>
        <p:spPr>
          <a:xfrm>
            <a:off x="11199325" y="6064350"/>
            <a:ext cx="4431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chemeClr val="dk1"/>
                </a:solidFill>
                <a:latin typeface="Calibri"/>
                <a:ea typeface="Calibri"/>
                <a:cs typeface="Calibri"/>
                <a:sym typeface="Calibri"/>
              </a:rPr>
              <a:t>Tipo primitivo a String</a:t>
            </a:r>
            <a:endParaRPr b="1" sz="3500">
              <a:solidFill>
                <a:schemeClr val="dk1"/>
              </a:solidFill>
              <a:latin typeface="Calibri"/>
              <a:ea typeface="Calibri"/>
              <a:cs typeface="Calibri"/>
              <a:sym typeface="Calibri"/>
            </a:endParaRPr>
          </a:p>
        </p:txBody>
      </p:sp>
      <p:pic>
        <p:nvPicPr>
          <p:cNvPr id="272" name="Google Shape;272;g35c660dae79_0_29"/>
          <p:cNvPicPr preferRelativeResize="0"/>
          <p:nvPr/>
        </p:nvPicPr>
        <p:blipFill>
          <a:blip r:embed="rId3">
            <a:alphaModFix/>
          </a:blip>
          <a:stretch>
            <a:fillRect/>
          </a:stretch>
        </p:blipFill>
        <p:spPr>
          <a:xfrm>
            <a:off x="3236075" y="3429000"/>
            <a:ext cx="2762250" cy="2762250"/>
          </a:xfrm>
          <a:prstGeom prst="rect">
            <a:avLst/>
          </a:prstGeom>
          <a:noFill/>
          <a:ln>
            <a:noFill/>
          </a:ln>
        </p:spPr>
      </p:pic>
      <p:pic>
        <p:nvPicPr>
          <p:cNvPr id="273" name="Google Shape;273;g35c660dae79_0_29"/>
          <p:cNvPicPr preferRelativeResize="0"/>
          <p:nvPr/>
        </p:nvPicPr>
        <p:blipFill>
          <a:blip r:embed="rId4">
            <a:alphaModFix/>
          </a:blip>
          <a:stretch>
            <a:fillRect/>
          </a:stretch>
        </p:blipFill>
        <p:spPr>
          <a:xfrm>
            <a:off x="12187250" y="3223450"/>
            <a:ext cx="2762250" cy="2762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5c660dae79_0_3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String a tipo primitivo</a:t>
            </a:r>
            <a:endParaRPr b="0" i="0" sz="1400" u="none" cap="none" strike="noStrike">
              <a:solidFill>
                <a:srgbClr val="000000"/>
              </a:solidFill>
              <a:latin typeface="Impact"/>
              <a:ea typeface="Impact"/>
              <a:cs typeface="Impact"/>
              <a:sym typeface="Impact"/>
            </a:endParaRPr>
          </a:p>
        </p:txBody>
      </p:sp>
      <p:sp>
        <p:nvSpPr>
          <p:cNvPr id="279" name="Google Shape;279;g35c660dae79_0_38"/>
          <p:cNvSpPr txBox="1"/>
          <p:nvPr/>
        </p:nvSpPr>
        <p:spPr>
          <a:xfrm>
            <a:off x="1374900" y="2667875"/>
            <a:ext cx="9759600" cy="328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String cadena = “5468";</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int entero = Integer.parseInt(cadena);</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&gt;&gt; 5468</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double decimal = Double.parseDouble(cadena); </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None/>
            </a:pPr>
            <a:r>
              <a:rPr lang="en-US" sz="3000">
                <a:solidFill>
                  <a:srgbClr val="404040"/>
                </a:solidFill>
                <a:latin typeface="Trebuchet MS"/>
                <a:ea typeface="Trebuchet MS"/>
                <a:cs typeface="Trebuchet MS"/>
                <a:sym typeface="Trebuchet MS"/>
              </a:rPr>
              <a:t>&gt;&gt; 5468.0</a:t>
            </a:r>
            <a:endParaRPr b="1" sz="4700">
              <a:solidFill>
                <a:schemeClr val="dk1"/>
              </a:solidFill>
              <a:latin typeface="Calibri"/>
              <a:ea typeface="Calibri"/>
              <a:cs typeface="Calibri"/>
              <a:sym typeface="Calibri"/>
            </a:endParaRPr>
          </a:p>
        </p:txBody>
      </p:sp>
      <p:pic>
        <p:nvPicPr>
          <p:cNvPr id="280" name="Google Shape;280;g35c660dae79_0_38"/>
          <p:cNvPicPr preferRelativeResize="0"/>
          <p:nvPr/>
        </p:nvPicPr>
        <p:blipFill>
          <a:blip r:embed="rId3">
            <a:alphaModFix/>
          </a:blip>
          <a:stretch>
            <a:fillRect/>
          </a:stretch>
        </p:blipFill>
        <p:spPr>
          <a:xfrm>
            <a:off x="12024355" y="0"/>
            <a:ext cx="6263647" cy="10287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5c660dae79_0_4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Tipo primitivo a string</a:t>
            </a:r>
            <a:endParaRPr b="0" i="0" sz="1400" u="none" cap="none" strike="noStrike">
              <a:solidFill>
                <a:srgbClr val="000000"/>
              </a:solidFill>
              <a:latin typeface="Impact"/>
              <a:ea typeface="Impact"/>
              <a:cs typeface="Impact"/>
              <a:sym typeface="Impact"/>
            </a:endParaRPr>
          </a:p>
        </p:txBody>
      </p:sp>
      <p:sp>
        <p:nvSpPr>
          <p:cNvPr id="286" name="Google Shape;286;g35c660dae79_0_48"/>
          <p:cNvSpPr txBox="1"/>
          <p:nvPr/>
        </p:nvSpPr>
        <p:spPr>
          <a:xfrm>
            <a:off x="1374900" y="2667875"/>
            <a:ext cx="9759600" cy="196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int numero = 123;</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String valorcadena = Integer.toString(numero);</a:t>
            </a:r>
            <a:endParaRPr sz="3000">
              <a:solidFill>
                <a:srgbClr val="404040"/>
              </a:solidFill>
              <a:latin typeface="Trebuchet MS"/>
              <a:ea typeface="Trebuchet MS"/>
              <a:cs typeface="Trebuchet MS"/>
              <a:sym typeface="Trebuchet MS"/>
            </a:endParaRPr>
          </a:p>
          <a:p>
            <a:pPr indent="0" lvl="0" marL="0" rtl="0" algn="l">
              <a:lnSpc>
                <a:spcPct val="115000"/>
              </a:lnSpc>
              <a:spcBef>
                <a:spcPts val="1000"/>
              </a:spcBef>
              <a:spcAft>
                <a:spcPts val="0"/>
              </a:spcAft>
              <a:buNone/>
            </a:pPr>
            <a:r>
              <a:rPr lang="en-US" sz="3000">
                <a:solidFill>
                  <a:srgbClr val="404040"/>
                </a:solidFill>
                <a:latin typeface="Trebuchet MS"/>
                <a:ea typeface="Trebuchet MS"/>
                <a:cs typeface="Trebuchet MS"/>
                <a:sym typeface="Trebuchet MS"/>
              </a:rPr>
              <a:t>&gt;&gt; “123”</a:t>
            </a:r>
            <a:endParaRPr sz="3700">
              <a:solidFill>
                <a:srgbClr val="404040"/>
              </a:solidFill>
              <a:latin typeface="Trebuchet MS"/>
              <a:ea typeface="Trebuchet MS"/>
              <a:cs typeface="Trebuchet MS"/>
              <a:sym typeface="Trebuchet MS"/>
            </a:endParaRPr>
          </a:p>
        </p:txBody>
      </p:sp>
      <p:pic>
        <p:nvPicPr>
          <p:cNvPr id="287" name="Google Shape;287;g35c660dae79_0_48"/>
          <p:cNvPicPr preferRelativeResize="0"/>
          <p:nvPr/>
        </p:nvPicPr>
        <p:blipFill>
          <a:blip r:embed="rId3">
            <a:alphaModFix/>
          </a:blip>
          <a:stretch>
            <a:fillRect/>
          </a:stretch>
        </p:blipFill>
        <p:spPr>
          <a:xfrm>
            <a:off x="12024355" y="0"/>
            <a:ext cx="6263647" cy="10287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5c660dae79_0_56"/>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Parseo</a:t>
            </a:r>
            <a:endParaRPr b="0" i="0" sz="1400" u="none" cap="none" strike="noStrike">
              <a:solidFill>
                <a:srgbClr val="000000"/>
              </a:solidFill>
              <a:latin typeface="Impact"/>
              <a:ea typeface="Impact"/>
              <a:cs typeface="Impact"/>
              <a:sym typeface="Impact"/>
            </a:endParaRPr>
          </a:p>
        </p:txBody>
      </p:sp>
      <p:sp>
        <p:nvSpPr>
          <p:cNvPr id="293" name="Google Shape;293;g35c660dae79_0_56"/>
          <p:cNvSpPr txBox="1"/>
          <p:nvPr/>
        </p:nvSpPr>
        <p:spPr>
          <a:xfrm>
            <a:off x="1374900" y="2667875"/>
            <a:ext cx="9759600" cy="3757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El método Parse no es simplemente el cambio del "tipo", sino una adaptación y análisis sintáctico al nuevo tipo de dato deseado.</a:t>
            </a:r>
            <a:endParaRPr sz="3000">
              <a:solidFill>
                <a:srgbClr val="404040"/>
              </a:solidFill>
              <a:latin typeface="Trebuchet MS"/>
              <a:ea typeface="Trebuchet MS"/>
              <a:cs typeface="Trebuchet MS"/>
              <a:sym typeface="Trebuchet MS"/>
            </a:endParaRPr>
          </a:p>
          <a:p>
            <a:pPr indent="0" lvl="0" marL="0" rtl="0" algn="just">
              <a:lnSpc>
                <a:spcPct val="115000"/>
              </a:lnSpc>
              <a:spcBef>
                <a:spcPts val="1000"/>
              </a:spcBef>
              <a:spcAft>
                <a:spcPts val="0"/>
              </a:spcAft>
              <a:buClr>
                <a:schemeClr val="dk1"/>
              </a:buClr>
              <a:buSzPts val="1100"/>
              <a:buFont typeface="Arial"/>
              <a:buNone/>
            </a:pPr>
            <a:r>
              <a:rPr b="1" lang="en-US" sz="3400">
                <a:solidFill>
                  <a:srgbClr val="404040"/>
                </a:solidFill>
                <a:latin typeface="Trebuchet MS"/>
                <a:ea typeface="Trebuchet MS"/>
                <a:cs typeface="Trebuchet MS"/>
                <a:sym typeface="Trebuchet MS"/>
              </a:rPr>
              <a:t>Ejemplo</a:t>
            </a:r>
            <a:endParaRPr b="1" sz="3400">
              <a:solidFill>
                <a:srgbClr val="404040"/>
              </a:solidFill>
              <a:latin typeface="Trebuchet MS"/>
              <a:ea typeface="Trebuchet MS"/>
              <a:cs typeface="Trebuchet MS"/>
              <a:sym typeface="Trebuchet MS"/>
            </a:endParaRPr>
          </a:p>
          <a:p>
            <a:pPr indent="0" lvl="0" marL="0" rtl="0" algn="just">
              <a:lnSpc>
                <a:spcPct val="115000"/>
              </a:lnSpc>
              <a:spcBef>
                <a:spcPts val="1000"/>
              </a:spcBef>
              <a:spcAft>
                <a:spcPts val="0"/>
              </a:spcAft>
              <a:buClr>
                <a:schemeClr val="dk1"/>
              </a:buClr>
              <a:buSzPts val="1100"/>
              <a:buFont typeface="Arial"/>
              <a:buNone/>
            </a:pPr>
            <a:r>
              <a:rPr lang="en-US" sz="3000">
                <a:solidFill>
                  <a:srgbClr val="404040"/>
                </a:solidFill>
                <a:latin typeface="Trebuchet MS"/>
                <a:ea typeface="Trebuchet MS"/>
                <a:cs typeface="Trebuchet MS"/>
                <a:sym typeface="Trebuchet MS"/>
              </a:rPr>
              <a:t>String cadena = “975”;</a:t>
            </a:r>
            <a:endParaRPr sz="3000">
              <a:solidFill>
                <a:srgbClr val="404040"/>
              </a:solidFill>
              <a:latin typeface="Trebuchet MS"/>
              <a:ea typeface="Trebuchet MS"/>
              <a:cs typeface="Trebuchet MS"/>
              <a:sym typeface="Trebuchet MS"/>
            </a:endParaRPr>
          </a:p>
          <a:p>
            <a:pPr indent="0" lvl="0" marL="0" rtl="0" algn="just">
              <a:lnSpc>
                <a:spcPct val="115000"/>
              </a:lnSpc>
              <a:spcBef>
                <a:spcPts val="1000"/>
              </a:spcBef>
              <a:spcAft>
                <a:spcPts val="0"/>
              </a:spcAft>
              <a:buNone/>
            </a:pPr>
            <a:r>
              <a:rPr lang="en-US" sz="3000">
                <a:solidFill>
                  <a:srgbClr val="404040"/>
                </a:solidFill>
                <a:latin typeface="Trebuchet MS"/>
                <a:ea typeface="Trebuchet MS"/>
                <a:cs typeface="Trebuchet MS"/>
                <a:sym typeface="Trebuchet MS"/>
              </a:rPr>
              <a:t>int entero = Integer.parseInt(cadena);</a:t>
            </a:r>
            <a:endParaRPr sz="4000">
              <a:solidFill>
                <a:srgbClr val="404040"/>
              </a:solidFill>
              <a:latin typeface="Trebuchet MS"/>
              <a:ea typeface="Trebuchet MS"/>
              <a:cs typeface="Trebuchet MS"/>
              <a:sym typeface="Trebuchet MS"/>
            </a:endParaRPr>
          </a:p>
        </p:txBody>
      </p:sp>
      <p:pic>
        <p:nvPicPr>
          <p:cNvPr id="294" name="Google Shape;294;g35c660dae79_0_56"/>
          <p:cNvPicPr preferRelativeResize="0"/>
          <p:nvPr/>
        </p:nvPicPr>
        <p:blipFill>
          <a:blip r:embed="rId3">
            <a:alphaModFix/>
          </a:blip>
          <a:stretch>
            <a:fillRect/>
          </a:stretch>
        </p:blipFill>
        <p:spPr>
          <a:xfrm>
            <a:off x="11349825" y="1745475"/>
            <a:ext cx="6638925" cy="6638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5c60227a6a_2_64"/>
          <p:cNvSpPr txBox="1"/>
          <p:nvPr/>
        </p:nvSpPr>
        <p:spPr>
          <a:xfrm>
            <a:off x="1394253" y="2604150"/>
            <a:ext cx="15499500" cy="1649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925">
                <a:solidFill>
                  <a:srgbClr val="131416"/>
                </a:solidFill>
              </a:rPr>
              <a:t>Los operadores aritméticos se utilizan para realizar operaciones matemáticas básicas. En Java, los operadores aritméticos son:</a:t>
            </a:r>
            <a:endParaRPr b="0" i="0" sz="1400" u="none" cap="none" strike="noStrike">
              <a:solidFill>
                <a:srgbClr val="000000"/>
              </a:solidFill>
              <a:latin typeface="Arial"/>
              <a:ea typeface="Arial"/>
              <a:cs typeface="Arial"/>
              <a:sym typeface="Arial"/>
            </a:endParaRPr>
          </a:p>
        </p:txBody>
      </p:sp>
      <p:sp>
        <p:nvSpPr>
          <p:cNvPr id="300" name="Google Shape;300;g35c60227a6a_2_6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Operadores </a:t>
            </a:r>
            <a:r>
              <a:rPr lang="en-US" sz="6098">
                <a:solidFill>
                  <a:srgbClr val="131416"/>
                </a:solidFill>
                <a:latin typeface="Impact"/>
                <a:ea typeface="Impact"/>
                <a:cs typeface="Impact"/>
                <a:sym typeface="Impact"/>
              </a:rPr>
              <a:t>aritméticos</a:t>
            </a:r>
            <a:endParaRPr b="0" i="0" sz="1400" u="none" cap="none" strike="noStrike">
              <a:solidFill>
                <a:srgbClr val="000000"/>
              </a:solidFill>
              <a:latin typeface="Impact"/>
              <a:ea typeface="Impact"/>
              <a:cs typeface="Impact"/>
              <a:sym typeface="Impact"/>
            </a:endParaRPr>
          </a:p>
        </p:txBody>
      </p:sp>
      <p:pic>
        <p:nvPicPr>
          <p:cNvPr id="301" name="Google Shape;301;g35c60227a6a_2_64"/>
          <p:cNvPicPr preferRelativeResize="0"/>
          <p:nvPr/>
        </p:nvPicPr>
        <p:blipFill>
          <a:blip r:embed="rId3">
            <a:alphaModFix/>
          </a:blip>
          <a:stretch>
            <a:fillRect/>
          </a:stretch>
        </p:blipFill>
        <p:spPr>
          <a:xfrm>
            <a:off x="3576625" y="5264925"/>
            <a:ext cx="11134725" cy="3429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5c660dae79_0_81"/>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Expresiones </a:t>
            </a:r>
            <a:r>
              <a:rPr lang="en-US" sz="6098">
                <a:solidFill>
                  <a:srgbClr val="131416"/>
                </a:solidFill>
                <a:latin typeface="Impact"/>
                <a:ea typeface="Impact"/>
                <a:cs typeface="Impact"/>
                <a:sym typeface="Impact"/>
              </a:rPr>
              <a:t>aritméticas</a:t>
            </a:r>
            <a:endParaRPr b="0" i="0" sz="1400" u="none" cap="none" strike="noStrike">
              <a:solidFill>
                <a:srgbClr val="000000"/>
              </a:solidFill>
              <a:latin typeface="Impact"/>
              <a:ea typeface="Impact"/>
              <a:cs typeface="Impact"/>
              <a:sym typeface="Impact"/>
            </a:endParaRPr>
          </a:p>
        </p:txBody>
      </p:sp>
      <p:pic>
        <p:nvPicPr>
          <p:cNvPr id="307" name="Google Shape;307;g35c660dae79_0_81"/>
          <p:cNvPicPr preferRelativeResize="0"/>
          <p:nvPr/>
        </p:nvPicPr>
        <p:blipFill>
          <a:blip r:embed="rId3">
            <a:alphaModFix/>
          </a:blip>
          <a:stretch>
            <a:fillRect/>
          </a:stretch>
        </p:blipFill>
        <p:spPr>
          <a:xfrm>
            <a:off x="1387250" y="2768125"/>
            <a:ext cx="15513501" cy="4750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5c660dae79_0_8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Expresiones de incremento/decremento</a:t>
            </a:r>
            <a:endParaRPr b="0" i="0" sz="1400" u="none" cap="none" strike="noStrike">
              <a:solidFill>
                <a:srgbClr val="000000"/>
              </a:solidFill>
              <a:latin typeface="Impact"/>
              <a:ea typeface="Impact"/>
              <a:cs typeface="Impact"/>
              <a:sym typeface="Impact"/>
            </a:endParaRPr>
          </a:p>
        </p:txBody>
      </p:sp>
      <p:pic>
        <p:nvPicPr>
          <p:cNvPr id="313" name="Google Shape;313;g35c660dae79_0_88"/>
          <p:cNvPicPr preferRelativeResize="0"/>
          <p:nvPr/>
        </p:nvPicPr>
        <p:blipFill>
          <a:blip r:embed="rId3">
            <a:alphaModFix/>
          </a:blip>
          <a:stretch>
            <a:fillRect/>
          </a:stretch>
        </p:blipFill>
        <p:spPr>
          <a:xfrm>
            <a:off x="1576838" y="2737638"/>
            <a:ext cx="15134325" cy="4811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5c60227a6a_2_69"/>
          <p:cNvSpPr txBox="1"/>
          <p:nvPr/>
        </p:nvSpPr>
        <p:spPr>
          <a:xfrm>
            <a:off x="1374902" y="2396150"/>
            <a:ext cx="15288900" cy="1523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625">
                <a:solidFill>
                  <a:srgbClr val="131416"/>
                </a:solidFill>
              </a:rPr>
              <a:t>Los operadores relacionales comparan dos valores y devuelven un valor booleano (verdadero o falso). En Java, los operadores relacionales son:</a:t>
            </a:r>
            <a:endParaRPr b="0" i="0" sz="1100" u="none" cap="none" strike="noStrike">
              <a:solidFill>
                <a:srgbClr val="000000"/>
              </a:solidFill>
              <a:latin typeface="Arial"/>
              <a:ea typeface="Arial"/>
              <a:cs typeface="Arial"/>
              <a:sym typeface="Arial"/>
            </a:endParaRPr>
          </a:p>
        </p:txBody>
      </p:sp>
      <p:sp>
        <p:nvSpPr>
          <p:cNvPr id="319" name="Google Shape;319;g35c60227a6a_2_6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Operadores </a:t>
            </a:r>
            <a:r>
              <a:rPr lang="en-US" sz="6098">
                <a:solidFill>
                  <a:srgbClr val="131416"/>
                </a:solidFill>
                <a:latin typeface="Impact"/>
                <a:ea typeface="Impact"/>
                <a:cs typeface="Impact"/>
                <a:sym typeface="Impact"/>
              </a:rPr>
              <a:t>relacionales</a:t>
            </a:r>
            <a:endParaRPr b="0" i="0" sz="1400" u="none" cap="none" strike="noStrike">
              <a:solidFill>
                <a:srgbClr val="000000"/>
              </a:solidFill>
              <a:latin typeface="Impact"/>
              <a:ea typeface="Impact"/>
              <a:cs typeface="Impact"/>
              <a:sym typeface="Impact"/>
            </a:endParaRPr>
          </a:p>
        </p:txBody>
      </p:sp>
      <p:pic>
        <p:nvPicPr>
          <p:cNvPr id="320" name="Google Shape;320;g35c60227a6a_2_69"/>
          <p:cNvPicPr preferRelativeResize="0"/>
          <p:nvPr/>
        </p:nvPicPr>
        <p:blipFill>
          <a:blip r:embed="rId3">
            <a:alphaModFix/>
          </a:blip>
          <a:stretch>
            <a:fillRect/>
          </a:stretch>
        </p:blipFill>
        <p:spPr>
          <a:xfrm>
            <a:off x="1161563" y="4624425"/>
            <a:ext cx="15964874" cy="4671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5c60227a6a_2_74"/>
          <p:cNvSpPr txBox="1"/>
          <p:nvPr/>
        </p:nvSpPr>
        <p:spPr>
          <a:xfrm>
            <a:off x="1374902" y="2787200"/>
            <a:ext cx="15288900" cy="1649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925">
                <a:solidFill>
                  <a:srgbClr val="131416"/>
                </a:solidFill>
              </a:rPr>
              <a:t>Los operadores lógicos se utilizan para combinar expresiones booleanas. En Java, los operadores lógicos son:</a:t>
            </a:r>
            <a:endParaRPr b="0" i="0" sz="1400" u="none" cap="none" strike="noStrike">
              <a:solidFill>
                <a:srgbClr val="000000"/>
              </a:solidFill>
              <a:latin typeface="Arial"/>
              <a:ea typeface="Arial"/>
              <a:cs typeface="Arial"/>
              <a:sym typeface="Arial"/>
            </a:endParaRPr>
          </a:p>
        </p:txBody>
      </p:sp>
      <p:sp>
        <p:nvSpPr>
          <p:cNvPr id="326" name="Google Shape;326;g35c60227a6a_2_7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Operadores </a:t>
            </a:r>
            <a:r>
              <a:rPr lang="en-US" sz="6098">
                <a:solidFill>
                  <a:srgbClr val="131416"/>
                </a:solidFill>
                <a:latin typeface="Impact"/>
                <a:ea typeface="Impact"/>
                <a:cs typeface="Impact"/>
                <a:sym typeface="Impact"/>
              </a:rPr>
              <a:t>lógicos</a:t>
            </a:r>
            <a:endParaRPr b="0" i="0" sz="1400" u="none" cap="none" strike="noStrike">
              <a:solidFill>
                <a:srgbClr val="000000"/>
              </a:solidFill>
              <a:latin typeface="Impact"/>
              <a:ea typeface="Impact"/>
              <a:cs typeface="Impact"/>
              <a:sym typeface="Impact"/>
            </a:endParaRPr>
          </a:p>
        </p:txBody>
      </p:sp>
      <p:pic>
        <p:nvPicPr>
          <p:cNvPr id="327" name="Google Shape;327;g35c60227a6a_2_74"/>
          <p:cNvPicPr preferRelativeResize="0"/>
          <p:nvPr/>
        </p:nvPicPr>
        <p:blipFill>
          <a:blip r:embed="rId3">
            <a:alphaModFix/>
          </a:blip>
          <a:stretch>
            <a:fillRect/>
          </a:stretch>
        </p:blipFill>
        <p:spPr>
          <a:xfrm>
            <a:off x="1238588" y="4888175"/>
            <a:ext cx="15810824" cy="4203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5c60227a6a_2_79"/>
          <p:cNvSpPr txBox="1"/>
          <p:nvPr/>
        </p:nvSpPr>
        <p:spPr>
          <a:xfrm>
            <a:off x="1374889" y="2650316"/>
            <a:ext cx="12625500" cy="18306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2800">
                <a:solidFill>
                  <a:srgbClr val="131416"/>
                </a:solidFill>
              </a:rPr>
              <a:t>Se utiliza para leer datos del usuario </a:t>
            </a:r>
            <a:r>
              <a:rPr lang="en-US" sz="2800">
                <a:solidFill>
                  <a:srgbClr val="131416"/>
                </a:solidFill>
              </a:rPr>
              <a:t>a través</a:t>
            </a:r>
            <a:r>
              <a:rPr lang="en-US" sz="2800">
                <a:solidFill>
                  <a:srgbClr val="131416"/>
                </a:solidFill>
              </a:rPr>
              <a:t> de la consola, usamos Scanner.</a:t>
            </a:r>
            <a:endParaRPr sz="2800">
              <a:solidFill>
                <a:srgbClr val="131416"/>
              </a:solidFill>
            </a:endParaRPr>
          </a:p>
          <a:p>
            <a:pPr indent="0" lvl="0" marL="0" rtl="0" algn="l">
              <a:lnSpc>
                <a:spcPct val="110000"/>
              </a:lnSpc>
              <a:spcBef>
                <a:spcPts val="700"/>
              </a:spcBef>
              <a:spcAft>
                <a:spcPts val="0"/>
              </a:spcAft>
              <a:buClr>
                <a:schemeClr val="dk1"/>
              </a:buClr>
              <a:buSzPts val="1100"/>
              <a:buFont typeface="Arial"/>
              <a:buNone/>
            </a:pPr>
            <a:r>
              <a:rPr lang="en-US" sz="2800">
                <a:solidFill>
                  <a:srgbClr val="595959"/>
                </a:solidFill>
              </a:rPr>
              <a:t>  </a:t>
            </a:r>
            <a:r>
              <a:rPr lang="en-US" sz="2800">
                <a:solidFill>
                  <a:srgbClr val="FF0000"/>
                </a:solidFill>
              </a:rPr>
              <a:t>import java.util.Scanner();</a:t>
            </a:r>
            <a:endParaRPr sz="2800">
              <a:solidFill>
                <a:srgbClr val="FF0000"/>
              </a:solidFill>
            </a:endParaRPr>
          </a:p>
          <a:p>
            <a:pPr indent="0" lvl="0" marL="0" rtl="0" algn="l">
              <a:lnSpc>
                <a:spcPct val="110000"/>
              </a:lnSpc>
              <a:spcBef>
                <a:spcPts val="700"/>
              </a:spcBef>
              <a:spcAft>
                <a:spcPts val="0"/>
              </a:spcAft>
              <a:buClr>
                <a:schemeClr val="dk1"/>
              </a:buClr>
              <a:buSzPts val="1100"/>
              <a:buFont typeface="Arial"/>
              <a:buNone/>
            </a:pPr>
            <a:r>
              <a:rPr lang="en-US" sz="2800">
                <a:solidFill>
                  <a:srgbClr val="0070C0"/>
                </a:solidFill>
              </a:rPr>
              <a:t>  Scanner valor = new Scanner(System.in);</a:t>
            </a:r>
            <a:endParaRPr sz="4925">
              <a:solidFill>
                <a:srgbClr val="131416"/>
              </a:solidFill>
            </a:endParaRPr>
          </a:p>
        </p:txBody>
      </p:sp>
      <p:sp>
        <p:nvSpPr>
          <p:cNvPr id="333" name="Google Shape;333;g35c60227a6a_2_7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Entrada de datos (Input)</a:t>
            </a:r>
            <a:endParaRPr b="0" i="0" sz="1400" u="none" cap="none" strike="noStrike">
              <a:solidFill>
                <a:srgbClr val="000000"/>
              </a:solidFill>
              <a:latin typeface="Impact"/>
              <a:ea typeface="Impact"/>
              <a:cs typeface="Impact"/>
              <a:sym typeface="Impact"/>
            </a:endParaRPr>
          </a:p>
        </p:txBody>
      </p:sp>
      <p:pic>
        <p:nvPicPr>
          <p:cNvPr id="334" name="Google Shape;334;g35c60227a6a_2_79"/>
          <p:cNvPicPr preferRelativeResize="0"/>
          <p:nvPr/>
        </p:nvPicPr>
        <p:blipFill>
          <a:blip r:embed="rId3">
            <a:alphaModFix/>
          </a:blip>
          <a:stretch>
            <a:fillRect/>
          </a:stretch>
        </p:blipFill>
        <p:spPr>
          <a:xfrm>
            <a:off x="2079729" y="4963628"/>
            <a:ext cx="14128525" cy="4568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5c60227a6a_2_84"/>
          <p:cNvSpPr txBox="1"/>
          <p:nvPr/>
        </p:nvSpPr>
        <p:spPr>
          <a:xfrm>
            <a:off x="1374900" y="2461575"/>
            <a:ext cx="15015000" cy="32460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400">
                <a:solidFill>
                  <a:srgbClr val="131416"/>
                </a:solidFill>
              </a:rPr>
              <a:t>Se utiliza para mostrar datos al usuario a través de la consola, System.out</a:t>
            </a:r>
            <a:endParaRPr sz="3400">
              <a:solidFill>
                <a:srgbClr val="131416"/>
              </a:solidFill>
            </a:endParaRPr>
          </a:p>
          <a:p>
            <a:pPr indent="-444500" lvl="0" marL="457200" rtl="0" algn="l">
              <a:lnSpc>
                <a:spcPct val="110000"/>
              </a:lnSpc>
              <a:spcBef>
                <a:spcPts val="700"/>
              </a:spcBef>
              <a:spcAft>
                <a:spcPts val="0"/>
              </a:spcAft>
              <a:buSzPts val="3400"/>
              <a:buChar char="●"/>
            </a:pPr>
            <a:r>
              <a:rPr lang="en-US" sz="3400">
                <a:solidFill>
                  <a:schemeClr val="dk1"/>
                </a:solidFill>
              </a:rPr>
              <a:t>Impresión con salto de línea</a:t>
            </a:r>
            <a:endParaRPr sz="3400">
              <a:solidFill>
                <a:schemeClr val="dk1"/>
              </a:solidFill>
            </a:endParaRPr>
          </a:p>
          <a:p>
            <a:pPr indent="-444500" lvl="1" marL="914400" rtl="0" algn="l">
              <a:lnSpc>
                <a:spcPct val="110000"/>
              </a:lnSpc>
              <a:spcBef>
                <a:spcPts val="0"/>
              </a:spcBef>
              <a:spcAft>
                <a:spcPts val="0"/>
              </a:spcAft>
              <a:buSzPts val="3400"/>
              <a:buChar char="○"/>
            </a:pPr>
            <a:r>
              <a:rPr lang="en-US" sz="3400">
                <a:solidFill>
                  <a:srgbClr val="0070C0"/>
                </a:solidFill>
              </a:rPr>
              <a:t>System.out.println();</a:t>
            </a:r>
            <a:endParaRPr sz="3400">
              <a:solidFill>
                <a:srgbClr val="0070C0"/>
              </a:solidFill>
            </a:endParaRPr>
          </a:p>
          <a:p>
            <a:pPr indent="-444500" lvl="0" marL="457200" rtl="0" algn="l">
              <a:lnSpc>
                <a:spcPct val="110000"/>
              </a:lnSpc>
              <a:spcBef>
                <a:spcPts val="0"/>
              </a:spcBef>
              <a:spcAft>
                <a:spcPts val="0"/>
              </a:spcAft>
              <a:buSzPts val="3400"/>
              <a:buChar char="●"/>
            </a:pPr>
            <a:r>
              <a:rPr lang="en-US" sz="3400">
                <a:solidFill>
                  <a:schemeClr val="dk1"/>
                </a:solidFill>
              </a:rPr>
              <a:t>Impresión sin salto de línea</a:t>
            </a:r>
            <a:endParaRPr sz="3400">
              <a:solidFill>
                <a:schemeClr val="dk1"/>
              </a:solidFill>
            </a:endParaRPr>
          </a:p>
          <a:p>
            <a:pPr indent="-444500" lvl="1" marL="914400" rtl="0" algn="l">
              <a:lnSpc>
                <a:spcPct val="110000"/>
              </a:lnSpc>
              <a:spcBef>
                <a:spcPts val="0"/>
              </a:spcBef>
              <a:spcAft>
                <a:spcPts val="0"/>
              </a:spcAft>
              <a:buSzPts val="3400"/>
              <a:buChar char="○"/>
            </a:pPr>
            <a:r>
              <a:rPr lang="en-US" sz="3400">
                <a:solidFill>
                  <a:srgbClr val="FF0000"/>
                </a:solidFill>
              </a:rPr>
              <a:t>System.out.print();</a:t>
            </a:r>
            <a:endParaRPr sz="3400">
              <a:solidFill>
                <a:srgbClr val="131416"/>
              </a:solidFill>
            </a:endParaRPr>
          </a:p>
        </p:txBody>
      </p:sp>
      <p:sp>
        <p:nvSpPr>
          <p:cNvPr id="340" name="Google Shape;340;g35c60227a6a_2_8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Salida </a:t>
            </a:r>
            <a:r>
              <a:rPr lang="en-US" sz="6098">
                <a:solidFill>
                  <a:srgbClr val="131416"/>
                </a:solidFill>
                <a:latin typeface="Impact"/>
                <a:ea typeface="Impact"/>
                <a:cs typeface="Impact"/>
                <a:sym typeface="Impact"/>
              </a:rPr>
              <a:t>de datos (Output)</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5c660dae79_0_6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Palabras reservadas</a:t>
            </a:r>
            <a:endParaRPr b="0" i="0" sz="1400" u="none" cap="none" strike="noStrike">
              <a:solidFill>
                <a:srgbClr val="000000"/>
              </a:solidFill>
              <a:latin typeface="Impact"/>
              <a:ea typeface="Impact"/>
              <a:cs typeface="Impact"/>
              <a:sym typeface="Impact"/>
            </a:endParaRPr>
          </a:p>
        </p:txBody>
      </p:sp>
      <p:sp>
        <p:nvSpPr>
          <p:cNvPr id="346" name="Google Shape;346;g35c660dae79_0_64"/>
          <p:cNvSpPr txBox="1"/>
          <p:nvPr/>
        </p:nvSpPr>
        <p:spPr>
          <a:xfrm>
            <a:off x="1374900" y="2667875"/>
            <a:ext cx="13740900" cy="515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Clr>
                <a:schemeClr val="dk1"/>
              </a:buClr>
              <a:buSzPts val="1100"/>
              <a:buFont typeface="Arial"/>
              <a:buNone/>
            </a:pPr>
            <a:r>
              <a:rPr lang="en-US" sz="3000">
                <a:solidFill>
                  <a:schemeClr val="dk1"/>
                </a:solidFill>
                <a:latin typeface="Trebuchet MS"/>
                <a:ea typeface="Trebuchet MS"/>
                <a:cs typeface="Trebuchet MS"/>
                <a:sym typeface="Trebuchet MS"/>
              </a:rPr>
              <a:t>Las palabras reservadas se pueden clasificar en las siguientes categorías:</a:t>
            </a:r>
            <a:endParaRPr sz="3000">
              <a:solidFill>
                <a:schemeClr val="dk1"/>
              </a:solidFill>
              <a:latin typeface="Trebuchet MS"/>
              <a:ea typeface="Trebuchet MS"/>
              <a:cs typeface="Trebuchet MS"/>
              <a:sym typeface="Trebuchet MS"/>
            </a:endParaRPr>
          </a:p>
          <a:p>
            <a:pPr indent="0" lvl="0" marL="12700" rtl="0" algn="just">
              <a:lnSpc>
                <a:spcPct val="115000"/>
              </a:lnSpc>
              <a:spcBef>
                <a:spcPts val="1000"/>
              </a:spcBef>
              <a:spcAft>
                <a:spcPts val="0"/>
              </a:spcAft>
              <a:buNone/>
            </a:pPr>
            <a:r>
              <a:t/>
            </a:r>
            <a:endParaRPr b="1" sz="3000">
              <a:solidFill>
                <a:schemeClr val="dk1"/>
              </a:solidFill>
              <a:latin typeface="Trebuchet MS"/>
              <a:ea typeface="Trebuchet MS"/>
              <a:cs typeface="Trebuchet MS"/>
              <a:sym typeface="Trebuchet MS"/>
            </a:endParaRPr>
          </a:p>
          <a:p>
            <a:pPr indent="-419100" lvl="0" marL="457200" rtl="0" algn="just">
              <a:lnSpc>
                <a:spcPct val="115000"/>
              </a:lnSpc>
              <a:spcBef>
                <a:spcPts val="100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Tipos de datos</a:t>
            </a:r>
            <a:r>
              <a:rPr lang="en-US" sz="3000">
                <a:solidFill>
                  <a:schemeClr val="dk1"/>
                </a:solidFill>
                <a:latin typeface="Trebuchet MS"/>
                <a:ea typeface="Trebuchet MS"/>
                <a:cs typeface="Trebuchet MS"/>
                <a:sym typeface="Trebuchet MS"/>
              </a:rPr>
              <a:t>: boolean, float, double, int, char.</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Sentencias condicionales</a:t>
            </a:r>
            <a:r>
              <a:rPr lang="en-US" sz="3000">
                <a:solidFill>
                  <a:schemeClr val="dk1"/>
                </a:solidFill>
                <a:latin typeface="Trebuchet MS"/>
                <a:ea typeface="Trebuchet MS"/>
                <a:cs typeface="Trebuchet MS"/>
                <a:sym typeface="Trebuchet MS"/>
              </a:rPr>
              <a:t>: if, else, switch.</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Sentencias iterativas</a:t>
            </a:r>
            <a:r>
              <a:rPr lang="en-US" sz="3000">
                <a:solidFill>
                  <a:schemeClr val="dk1"/>
                </a:solidFill>
                <a:latin typeface="Trebuchet MS"/>
                <a:ea typeface="Trebuchet MS"/>
                <a:cs typeface="Trebuchet MS"/>
                <a:sym typeface="Trebuchet MS"/>
              </a:rPr>
              <a:t>: for, do, while, continue.</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Tratamiento de las excepciones</a:t>
            </a:r>
            <a:r>
              <a:rPr lang="en-US" sz="3000">
                <a:solidFill>
                  <a:schemeClr val="dk1"/>
                </a:solidFill>
                <a:latin typeface="Trebuchet MS"/>
                <a:ea typeface="Trebuchet MS"/>
                <a:cs typeface="Trebuchet MS"/>
                <a:sym typeface="Trebuchet MS"/>
              </a:rPr>
              <a:t>: try, catch, finally, throw.</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Estructura de datos</a:t>
            </a:r>
            <a:r>
              <a:rPr lang="en-US" sz="3000">
                <a:solidFill>
                  <a:schemeClr val="dk1"/>
                </a:solidFill>
                <a:latin typeface="Trebuchet MS"/>
                <a:ea typeface="Trebuchet MS"/>
                <a:cs typeface="Trebuchet MS"/>
                <a:sym typeface="Trebuchet MS"/>
              </a:rPr>
              <a:t>: class, interface, implements, extends.</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Modificadores y control de acceso</a:t>
            </a:r>
            <a:r>
              <a:rPr lang="en-US" sz="3000">
                <a:solidFill>
                  <a:schemeClr val="dk1"/>
                </a:solidFill>
                <a:latin typeface="Trebuchet MS"/>
                <a:ea typeface="Trebuchet MS"/>
                <a:cs typeface="Trebuchet MS"/>
                <a:sym typeface="Trebuchet MS"/>
              </a:rPr>
              <a:t>: public, private, protected, transient.</a:t>
            </a:r>
            <a:endParaRPr sz="3000">
              <a:solidFill>
                <a:schemeClr val="dk1"/>
              </a:solidFill>
              <a:latin typeface="Trebuchet MS"/>
              <a:ea typeface="Trebuchet MS"/>
              <a:cs typeface="Trebuchet MS"/>
              <a:sym typeface="Trebuchet MS"/>
            </a:endParaRPr>
          </a:p>
          <a:p>
            <a:pPr indent="-419100" lvl="0" marL="457200" rtl="0" algn="just">
              <a:lnSpc>
                <a:spcPct val="115000"/>
              </a:lnSpc>
              <a:spcBef>
                <a:spcPts val="0"/>
              </a:spcBef>
              <a:spcAft>
                <a:spcPts val="0"/>
              </a:spcAft>
              <a:buClr>
                <a:schemeClr val="dk1"/>
              </a:buClr>
              <a:buSzPts val="3000"/>
              <a:buFont typeface="Trebuchet MS"/>
              <a:buChar char="●"/>
            </a:pPr>
            <a:r>
              <a:rPr b="1" lang="en-US" sz="3000">
                <a:solidFill>
                  <a:schemeClr val="dk1"/>
                </a:solidFill>
                <a:latin typeface="Trebuchet MS"/>
                <a:ea typeface="Trebuchet MS"/>
                <a:cs typeface="Trebuchet MS"/>
                <a:sym typeface="Trebuchet MS"/>
              </a:rPr>
              <a:t>Otras</a:t>
            </a:r>
            <a:r>
              <a:rPr lang="en-US" sz="3000">
                <a:solidFill>
                  <a:schemeClr val="dk1"/>
                </a:solidFill>
                <a:latin typeface="Trebuchet MS"/>
                <a:ea typeface="Trebuchet MS"/>
                <a:cs typeface="Trebuchet MS"/>
                <a:sym typeface="Trebuchet MS"/>
              </a:rPr>
              <a:t>: super, null, this.</a:t>
            </a:r>
            <a:endParaRPr sz="4500">
              <a:solidFill>
                <a:schemeClr val="dk1"/>
              </a:solidFill>
              <a:latin typeface="Trebuchet MS"/>
              <a:ea typeface="Trebuchet MS"/>
              <a:cs typeface="Trebuchet MS"/>
              <a:sym typeface="Trebuchet M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7"/>
          <p:cNvSpPr txBox="1"/>
          <p:nvPr/>
        </p:nvSpPr>
        <p:spPr>
          <a:xfrm>
            <a:off x="2392340" y="3604200"/>
            <a:ext cx="13503300" cy="30786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20000">
                <a:solidFill>
                  <a:srgbClr val="131416"/>
                </a:solidFill>
                <a:latin typeface="Impact"/>
                <a:ea typeface="Impact"/>
                <a:cs typeface="Impact"/>
                <a:sym typeface="Impact"/>
              </a:rPr>
              <a:t>Honestidad</a:t>
            </a:r>
            <a:endParaRPr b="0" i="0" sz="20000" u="none" cap="none" strike="noStrike">
              <a:solidFill>
                <a:srgbClr val="000000"/>
              </a:solidFill>
              <a:latin typeface="Impact"/>
              <a:ea typeface="Impact"/>
              <a:cs typeface="Impact"/>
              <a:sym typeface="Impac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57" name="Google Shape;357;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58" name="Google Shape;358;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59" name="Google Shape;359;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