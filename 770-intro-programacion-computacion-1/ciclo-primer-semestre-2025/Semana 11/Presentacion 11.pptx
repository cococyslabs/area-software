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Lst>
  <p:sldSz cx="18288000" cy="10287000"/>
  <p:notesSz cx="6858000" cy="9144000"/>
  <p:embeddedFontLst>
    <p:embeddedFont>
      <p:font typeface="Open Sans Bold" charset="1" panose="020B0806030504020204"/>
      <p:regular r:id="rId61"/>
    </p:embeddedFont>
    <p:embeddedFont>
      <p:font typeface="Garet" charset="1" panose="00000000000000000000"/>
      <p:regular r:id="rId62"/>
    </p:embeddedFont>
    <p:embeddedFont>
      <p:font typeface="Playlist Script" charset="1" panose="00000000000000000000"/>
      <p:regular r:id="rId63"/>
    </p:embeddedFont>
    <p:embeddedFont>
      <p:font typeface="Arimo" charset="1" panose="020B0604020202020204"/>
      <p:regular r:id="rId64"/>
    </p:embeddedFont>
    <p:embeddedFont>
      <p:font typeface="Arimo Bold" charset="1" panose="020B0704020202020204"/>
      <p:regular r:id="rId65"/>
    </p:embeddedFont>
    <p:embeddedFont>
      <p:font typeface="Horizon" charset="1" panose="02000500000000000000"/>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 Id="rId4"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 Id="rId6" Target="../media/image3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jpeg" Type="http://schemas.openxmlformats.org/officeDocument/2006/relationships/image"/><Relationship Id="rId3" Target="../media/image46.png" Type="http://schemas.openxmlformats.org/officeDocument/2006/relationships/image"/><Relationship Id="rId4" Target="../media/image28.png" Type="http://schemas.openxmlformats.org/officeDocument/2006/relationships/image"/><Relationship Id="rId5" Target="../media/image4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 Id="rId3" Target="../media/image5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9.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3.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jpeg" Type="http://schemas.openxmlformats.org/officeDocument/2006/relationships/image"/><Relationship Id="rId3" Target="https://www.youtube.com/watch?v=Z0yLerU0g-Q&amp;feature=youtu.be" TargetMode="External" Type="http://schemas.openxmlformats.org/officeDocument/2006/relationships/hyperlink"/></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51.png" Type="http://schemas.openxmlformats.org/officeDocument/2006/relationships/image"/><Relationship Id="rId4" Target="../media/image52.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5.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Freeform 3" id="3"/>
          <p:cNvSpPr/>
          <p:nvPr/>
        </p:nvSpPr>
        <p:spPr>
          <a:xfrm flipH="false" flipV="false" rot="0">
            <a:off x="-111897" y="0"/>
            <a:ext cx="18399897" cy="10287000"/>
          </a:xfrm>
          <a:custGeom>
            <a:avLst/>
            <a:gdLst/>
            <a:ahLst/>
            <a:cxnLst/>
            <a:rect r="r" b="b" t="t" l="l"/>
            <a:pathLst>
              <a:path h="10287000" w="18399897">
                <a:moveTo>
                  <a:pt x="0" y="0"/>
                </a:moveTo>
                <a:lnTo>
                  <a:pt x="18399897" y="0"/>
                </a:lnTo>
                <a:lnTo>
                  <a:pt x="18399897" y="10287000"/>
                </a:lnTo>
                <a:lnTo>
                  <a:pt x="0" y="10287000"/>
                </a:lnTo>
                <a:lnTo>
                  <a:pt x="0" y="0"/>
                </a:lnTo>
                <a:close/>
              </a:path>
            </a:pathLst>
          </a:custGeom>
          <a:blipFill>
            <a:blip r:embed="rId3"/>
            <a:stretch>
              <a:fillRect l="0" t="-49432" r="0" b="-29432"/>
            </a:stretch>
          </a:blipFill>
        </p:spPr>
      </p:sp>
      <p:sp>
        <p:nvSpPr>
          <p:cNvPr name="TextBox 4" id="4"/>
          <p:cNvSpPr txBox="true"/>
          <p:nvPr/>
        </p:nvSpPr>
        <p:spPr>
          <a:xfrm rot="0">
            <a:off x="0" y="7506283"/>
            <a:ext cx="16905607" cy="863600"/>
          </a:xfrm>
          <a:prstGeom prst="rect">
            <a:avLst/>
          </a:prstGeom>
        </p:spPr>
        <p:txBody>
          <a:bodyPr anchor="t" rtlCol="false" tIns="0" lIns="0" bIns="0" rIns="0">
            <a:spAutoFit/>
          </a:bodyPr>
          <a:lstStyle/>
          <a:p>
            <a:pPr algn="ctr">
              <a:lnSpc>
                <a:spcPts val="7000"/>
              </a:lnSpc>
            </a:pPr>
            <a:r>
              <a:rPr lang="en-US" sz="5000" b="true">
                <a:solidFill>
                  <a:srgbClr val="FEFDFD"/>
                </a:solidFill>
                <a:latin typeface="Open Sans Bold"/>
                <a:ea typeface="Open Sans Bold"/>
                <a:cs typeface="Open Sans Bold"/>
                <a:sym typeface="Open Sans Bold"/>
              </a:rPr>
              <a:t>Introducción a la Programación y Computación 1</a:t>
            </a:r>
          </a:p>
        </p:txBody>
      </p:sp>
      <p:sp>
        <p:nvSpPr>
          <p:cNvPr name="TextBox 5" id="5"/>
          <p:cNvSpPr txBox="true"/>
          <p:nvPr/>
        </p:nvSpPr>
        <p:spPr>
          <a:xfrm rot="0">
            <a:off x="833533" y="8417508"/>
            <a:ext cx="6981379" cy="422275"/>
          </a:xfrm>
          <a:prstGeom prst="rect">
            <a:avLst/>
          </a:prstGeom>
        </p:spPr>
        <p:txBody>
          <a:bodyPr anchor="t" rtlCol="false" tIns="0" lIns="0" bIns="0" rIns="0">
            <a:spAutoFit/>
          </a:bodyPr>
          <a:lstStyle/>
          <a:p>
            <a:pPr algn="ctr">
              <a:lnSpc>
                <a:spcPts val="3499"/>
              </a:lnSpc>
            </a:pPr>
            <a:r>
              <a:rPr lang="en-US" sz="2499" b="true">
                <a:solidFill>
                  <a:srgbClr val="FEFDFD"/>
                </a:solidFill>
                <a:latin typeface="Open Sans Bold"/>
                <a:ea typeface="Open Sans Bold"/>
                <a:cs typeface="Open Sans Bold"/>
                <a:sym typeface="Open Sans Bold"/>
              </a:rPr>
              <a:t>Escuela de Ingenieria de Ciencias Y Sistemas</a:t>
            </a:r>
          </a:p>
        </p:txBody>
      </p:sp>
      <p:sp>
        <p:nvSpPr>
          <p:cNvPr name="TextBox 6" id="6"/>
          <p:cNvSpPr txBox="true"/>
          <p:nvPr/>
        </p:nvSpPr>
        <p:spPr>
          <a:xfrm rot="0">
            <a:off x="798931" y="8882932"/>
            <a:ext cx="3525292" cy="422275"/>
          </a:xfrm>
          <a:prstGeom prst="rect">
            <a:avLst/>
          </a:prstGeom>
        </p:spPr>
        <p:txBody>
          <a:bodyPr anchor="t" rtlCol="false" tIns="0" lIns="0" bIns="0" rIns="0">
            <a:spAutoFit/>
          </a:bodyPr>
          <a:lstStyle/>
          <a:p>
            <a:pPr algn="ctr">
              <a:lnSpc>
                <a:spcPts val="3499"/>
              </a:lnSpc>
            </a:pPr>
            <a:r>
              <a:rPr lang="en-US" sz="2499" b="true">
                <a:solidFill>
                  <a:srgbClr val="FEFDFD"/>
                </a:solidFill>
                <a:latin typeface="Open Sans Bold"/>
                <a:ea typeface="Open Sans Bold"/>
                <a:cs typeface="Open Sans Bold"/>
                <a:sym typeface="Open Sans Bold"/>
              </a:rPr>
              <a:t>Facultad de Ingenieria</a:t>
            </a:r>
          </a:p>
        </p:txBody>
      </p:sp>
      <p:sp>
        <p:nvSpPr>
          <p:cNvPr name="TextBox 7" id="7"/>
          <p:cNvSpPr txBox="true"/>
          <p:nvPr/>
        </p:nvSpPr>
        <p:spPr>
          <a:xfrm rot="0">
            <a:off x="798931" y="9324257"/>
            <a:ext cx="6407944" cy="422275"/>
          </a:xfrm>
          <a:prstGeom prst="rect">
            <a:avLst/>
          </a:prstGeom>
        </p:spPr>
        <p:txBody>
          <a:bodyPr anchor="t" rtlCol="false" tIns="0" lIns="0" bIns="0" rIns="0">
            <a:spAutoFit/>
          </a:bodyPr>
          <a:lstStyle/>
          <a:p>
            <a:pPr algn="ctr">
              <a:lnSpc>
                <a:spcPts val="3499"/>
              </a:lnSpc>
            </a:pPr>
            <a:r>
              <a:rPr lang="en-US" sz="2499" b="true">
                <a:solidFill>
                  <a:srgbClr val="FEFDFD"/>
                </a:solidFill>
                <a:latin typeface="Open Sans Bold"/>
                <a:ea typeface="Open Sans Bold"/>
                <a:cs typeface="Open Sans Bold"/>
                <a:sym typeface="Open Sans Bold"/>
              </a:rPr>
              <a:t>Universidad de San Carlos de Guatemala</a:t>
            </a:r>
          </a:p>
        </p:txBody>
      </p:sp>
      <p:sp>
        <p:nvSpPr>
          <p:cNvPr name="TextBox 8" id="8"/>
          <p:cNvSpPr txBox="true"/>
          <p:nvPr/>
        </p:nvSpPr>
        <p:spPr>
          <a:xfrm rot="0">
            <a:off x="1685449" y="3915649"/>
            <a:ext cx="14378821"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Open Sans Bold"/>
                <a:ea typeface="Open Sans Bold"/>
                <a:cs typeface="Open Sans Bold"/>
                <a:sym typeface="Open Sans Bold"/>
              </a:rPr>
              <a:t>Unidad 7: POO Avanzado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15547" y="-477"/>
            <a:ext cx="8861828" cy="4497080"/>
            <a:chOff x="0" y="0"/>
            <a:chExt cx="11815770" cy="5996107"/>
          </a:xfrm>
        </p:grpSpPr>
        <p:sp>
          <p:nvSpPr>
            <p:cNvPr name="Freeform 3" id="3"/>
            <p:cNvSpPr/>
            <p:nvPr/>
          </p:nvSpPr>
          <p:spPr>
            <a:xfrm flipH="false" flipV="false" rot="0">
              <a:off x="0" y="-762"/>
              <a:ext cx="11815826" cy="5996855"/>
            </a:xfrm>
            <a:custGeom>
              <a:avLst/>
              <a:gdLst/>
              <a:ahLst/>
              <a:cxnLst/>
              <a:rect r="r" b="b" t="t" l="l"/>
              <a:pathLst>
                <a:path h="5996855" w="11815826">
                  <a:moveTo>
                    <a:pt x="10342626" y="1200"/>
                  </a:moveTo>
                  <a:cubicBezTo>
                    <a:pt x="10778998" y="7438"/>
                    <a:pt x="11212830" y="73541"/>
                    <a:pt x="11626469" y="197648"/>
                  </a:cubicBezTo>
                  <a:lnTo>
                    <a:pt x="11815826" y="261890"/>
                  </a:lnTo>
                  <a:lnTo>
                    <a:pt x="11815826" y="5996855"/>
                  </a:lnTo>
                  <a:lnTo>
                    <a:pt x="0" y="5996855"/>
                  </a:lnTo>
                  <a:lnTo>
                    <a:pt x="7833995" y="699657"/>
                  </a:lnTo>
                  <a:lnTo>
                    <a:pt x="7918958" y="645155"/>
                  </a:lnTo>
                  <a:cubicBezTo>
                    <a:pt x="8582152" y="241424"/>
                    <a:pt x="9342247" y="30968"/>
                    <a:pt x="10104374" y="3826"/>
                  </a:cubicBezTo>
                  <a:cubicBezTo>
                    <a:pt x="10183749" y="981"/>
                    <a:pt x="10263251" y="0"/>
                    <a:pt x="10342499" y="1309"/>
                  </a:cubicBezTo>
                  <a:close/>
                </a:path>
              </a:pathLst>
            </a:custGeom>
            <a:gradFill rotWithShape="true">
              <a:gsLst>
                <a:gs pos="40000">
                  <a:srgbClr val="F0F3F3">
                    <a:alpha val="100000"/>
                  </a:srgbClr>
                </a:gs>
                <a:gs pos="100000">
                  <a:srgbClr val="F18F7F">
                    <a:alpha val="100000"/>
                  </a:srgbClr>
                </a:gs>
              </a:gsLst>
              <a:lin ang="12600000"/>
            </a:gradFill>
          </p:spPr>
        </p:sp>
      </p:grpSp>
      <p:grpSp>
        <p:nvGrpSpPr>
          <p:cNvPr name="Group 4" id="4"/>
          <p:cNvGrpSpPr/>
          <p:nvPr/>
        </p:nvGrpSpPr>
        <p:grpSpPr>
          <a:xfrm rot="0">
            <a:off x="651754" y="6382891"/>
            <a:ext cx="1253027" cy="1253027"/>
            <a:chOff x="0" y="0"/>
            <a:chExt cx="2196000" cy="2196000"/>
          </a:xfrm>
        </p:grpSpPr>
        <p:sp>
          <p:nvSpPr>
            <p:cNvPr name="Freeform 5" id="5"/>
            <p:cNvSpPr/>
            <p:nvPr/>
          </p:nvSpPr>
          <p:spPr>
            <a:xfrm flipH="false" flipV="false" rot="0">
              <a:off x="0" y="0"/>
              <a:ext cx="2196084" cy="2196084"/>
            </a:xfrm>
            <a:custGeom>
              <a:avLst/>
              <a:gdLst/>
              <a:ahLst/>
              <a:cxnLst/>
              <a:rect r="r" b="b" t="t" l="l"/>
              <a:pathLst>
                <a:path h="2196084" w="2196084">
                  <a:moveTo>
                    <a:pt x="0" y="1098042"/>
                  </a:moveTo>
                  <a:cubicBezTo>
                    <a:pt x="0" y="491617"/>
                    <a:pt x="491617" y="0"/>
                    <a:pt x="1098042" y="0"/>
                  </a:cubicBezTo>
                  <a:cubicBezTo>
                    <a:pt x="1704467" y="0"/>
                    <a:pt x="2196084" y="491617"/>
                    <a:pt x="2196084" y="1098042"/>
                  </a:cubicBezTo>
                  <a:cubicBezTo>
                    <a:pt x="2196084" y="1704467"/>
                    <a:pt x="1704467" y="2196084"/>
                    <a:pt x="1098042" y="2196084"/>
                  </a:cubicBezTo>
                  <a:cubicBezTo>
                    <a:pt x="491617" y="2196084"/>
                    <a:pt x="0" y="1704467"/>
                    <a:pt x="0" y="1098042"/>
                  </a:cubicBezTo>
                  <a:close/>
                </a:path>
              </a:pathLst>
            </a:custGeom>
            <a:solidFill>
              <a:srgbClr val="E729AC"/>
            </a:solidFill>
          </p:spPr>
        </p:sp>
      </p:grpSp>
      <p:sp>
        <p:nvSpPr>
          <p:cNvPr name="Freeform 6" id="6"/>
          <p:cNvSpPr/>
          <p:nvPr/>
        </p:nvSpPr>
        <p:spPr>
          <a:xfrm flipH="false" flipV="false" rot="0">
            <a:off x="1002754" y="6733891"/>
            <a:ext cx="584659" cy="584659"/>
          </a:xfrm>
          <a:custGeom>
            <a:avLst/>
            <a:gdLst/>
            <a:ahLst/>
            <a:cxnLst/>
            <a:rect r="r" b="b" t="t" l="l"/>
            <a:pathLst>
              <a:path h="584659" w="584659">
                <a:moveTo>
                  <a:pt x="0" y="0"/>
                </a:moveTo>
                <a:lnTo>
                  <a:pt x="584659" y="0"/>
                </a:lnTo>
                <a:lnTo>
                  <a:pt x="584659" y="584659"/>
                </a:lnTo>
                <a:lnTo>
                  <a:pt x="0" y="5846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2227947" y="6773787"/>
            <a:ext cx="2709525" cy="584327"/>
            <a:chOff x="0" y="0"/>
            <a:chExt cx="3612700" cy="779103"/>
          </a:xfrm>
        </p:grpSpPr>
        <p:sp>
          <p:nvSpPr>
            <p:cNvPr name="Freeform 8" id="8"/>
            <p:cNvSpPr/>
            <p:nvPr/>
          </p:nvSpPr>
          <p:spPr>
            <a:xfrm flipH="false" flipV="false" rot="0">
              <a:off x="0" y="0"/>
              <a:ext cx="3612700" cy="779103"/>
            </a:xfrm>
            <a:custGeom>
              <a:avLst/>
              <a:gdLst/>
              <a:ahLst/>
              <a:cxnLst/>
              <a:rect r="r" b="b" t="t" l="l"/>
              <a:pathLst>
                <a:path h="779103" w="3612700">
                  <a:moveTo>
                    <a:pt x="0" y="0"/>
                  </a:moveTo>
                  <a:lnTo>
                    <a:pt x="3612700" y="0"/>
                  </a:lnTo>
                  <a:lnTo>
                    <a:pt x="3612700" y="779103"/>
                  </a:lnTo>
                  <a:lnTo>
                    <a:pt x="0" y="779103"/>
                  </a:lnTo>
                  <a:close/>
                </a:path>
              </a:pathLst>
            </a:custGeom>
            <a:solidFill>
              <a:srgbClr val="FFFFFF">
                <a:alpha val="0"/>
              </a:srgbClr>
            </a:solidFill>
            <a:ln cap="sq">
              <a:noFill/>
              <a:prstDash val="solid"/>
              <a:miter/>
            </a:ln>
          </p:spPr>
        </p:sp>
        <p:sp>
          <p:nvSpPr>
            <p:cNvPr name="TextBox 9" id="9"/>
            <p:cNvSpPr txBox="true"/>
            <p:nvPr/>
          </p:nvSpPr>
          <p:spPr>
            <a:xfrm>
              <a:off x="0" y="-76200"/>
              <a:ext cx="3612700" cy="855303"/>
            </a:xfrm>
            <a:prstGeom prst="rect">
              <a:avLst/>
            </a:prstGeom>
          </p:spPr>
          <p:txBody>
            <a:bodyPr anchor="t" rtlCol="false" tIns="0" lIns="0" bIns="0" rIns="0"/>
            <a:lstStyle/>
            <a:p>
              <a:pPr algn="ctr" marL="0" indent="0" lvl="0">
                <a:lnSpc>
                  <a:spcPts val="4143"/>
                </a:lnSpc>
                <a:spcBef>
                  <a:spcPct val="0"/>
                </a:spcBef>
              </a:pPr>
              <a:r>
                <a:rPr lang="en-US" sz="2799" spc="81">
                  <a:solidFill>
                    <a:srgbClr val="000000"/>
                  </a:solidFill>
                  <a:latin typeface="Garet"/>
                  <a:ea typeface="Garet"/>
                  <a:cs typeface="Garet"/>
                  <a:sym typeface="Garet"/>
                </a:rPr>
                <a:t>UML</a:t>
              </a:r>
            </a:p>
          </p:txBody>
        </p:sp>
      </p:grpSp>
      <p:grpSp>
        <p:nvGrpSpPr>
          <p:cNvPr name="Group 10" id="10"/>
          <p:cNvGrpSpPr/>
          <p:nvPr/>
        </p:nvGrpSpPr>
        <p:grpSpPr>
          <a:xfrm rot="0">
            <a:off x="651754" y="8005273"/>
            <a:ext cx="1253027" cy="1253027"/>
            <a:chOff x="0" y="0"/>
            <a:chExt cx="1670703" cy="1670703"/>
          </a:xfrm>
        </p:grpSpPr>
        <p:grpSp>
          <p:nvGrpSpPr>
            <p:cNvPr name="Group 11" id="11"/>
            <p:cNvGrpSpPr/>
            <p:nvPr/>
          </p:nvGrpSpPr>
          <p:grpSpPr>
            <a:xfrm rot="0">
              <a:off x="0" y="0"/>
              <a:ext cx="1670703" cy="1670703"/>
              <a:chOff x="0" y="0"/>
              <a:chExt cx="2196000" cy="2196000"/>
            </a:xfrm>
          </p:grpSpPr>
          <p:sp>
            <p:nvSpPr>
              <p:cNvPr name="Freeform 12" id="12"/>
              <p:cNvSpPr/>
              <p:nvPr/>
            </p:nvSpPr>
            <p:spPr>
              <a:xfrm flipH="false" flipV="false" rot="0">
                <a:off x="0" y="0"/>
                <a:ext cx="2196084" cy="2196084"/>
              </a:xfrm>
              <a:custGeom>
                <a:avLst/>
                <a:gdLst/>
                <a:ahLst/>
                <a:cxnLst/>
                <a:rect r="r" b="b" t="t" l="l"/>
                <a:pathLst>
                  <a:path h="2196084" w="2196084">
                    <a:moveTo>
                      <a:pt x="0" y="1098042"/>
                    </a:moveTo>
                    <a:cubicBezTo>
                      <a:pt x="0" y="491617"/>
                      <a:pt x="491617" y="0"/>
                      <a:pt x="1098042" y="0"/>
                    </a:cubicBezTo>
                    <a:cubicBezTo>
                      <a:pt x="1704467" y="0"/>
                      <a:pt x="2196084" y="491617"/>
                      <a:pt x="2196084" y="1098042"/>
                    </a:cubicBezTo>
                    <a:cubicBezTo>
                      <a:pt x="2196084" y="1704467"/>
                      <a:pt x="1704467" y="2196084"/>
                      <a:pt x="1098042" y="2196084"/>
                    </a:cubicBezTo>
                    <a:cubicBezTo>
                      <a:pt x="491617" y="2196084"/>
                      <a:pt x="0" y="1704467"/>
                      <a:pt x="0" y="1098042"/>
                    </a:cubicBezTo>
                    <a:close/>
                  </a:path>
                </a:pathLst>
              </a:custGeom>
              <a:solidFill>
                <a:srgbClr val="C117D5"/>
              </a:solidFill>
            </p:spPr>
          </p:sp>
        </p:grpSp>
        <p:sp>
          <p:nvSpPr>
            <p:cNvPr name="Freeform 13" id="13"/>
            <p:cNvSpPr/>
            <p:nvPr/>
          </p:nvSpPr>
          <p:spPr>
            <a:xfrm flipH="false" flipV="false" rot="0">
              <a:off x="356051" y="356051"/>
              <a:ext cx="958600" cy="958600"/>
            </a:xfrm>
            <a:custGeom>
              <a:avLst/>
              <a:gdLst/>
              <a:ahLst/>
              <a:cxnLst/>
              <a:rect r="r" b="b" t="t" l="l"/>
              <a:pathLst>
                <a:path h="958600" w="958600">
                  <a:moveTo>
                    <a:pt x="0" y="0"/>
                  </a:moveTo>
                  <a:lnTo>
                    <a:pt x="958600" y="0"/>
                  </a:lnTo>
                  <a:lnTo>
                    <a:pt x="958600" y="958600"/>
                  </a:lnTo>
                  <a:lnTo>
                    <a:pt x="0" y="9586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0">
            <a:off x="2227947" y="8341143"/>
            <a:ext cx="4162865" cy="584327"/>
            <a:chOff x="0" y="0"/>
            <a:chExt cx="5550487" cy="779103"/>
          </a:xfrm>
        </p:grpSpPr>
        <p:sp>
          <p:nvSpPr>
            <p:cNvPr name="Freeform 15" id="15"/>
            <p:cNvSpPr/>
            <p:nvPr/>
          </p:nvSpPr>
          <p:spPr>
            <a:xfrm flipH="false" flipV="false" rot="0">
              <a:off x="0" y="0"/>
              <a:ext cx="5550487" cy="779103"/>
            </a:xfrm>
            <a:custGeom>
              <a:avLst/>
              <a:gdLst/>
              <a:ahLst/>
              <a:cxnLst/>
              <a:rect r="r" b="b" t="t" l="l"/>
              <a:pathLst>
                <a:path h="779103" w="5550487">
                  <a:moveTo>
                    <a:pt x="0" y="0"/>
                  </a:moveTo>
                  <a:lnTo>
                    <a:pt x="5550487" y="0"/>
                  </a:lnTo>
                  <a:lnTo>
                    <a:pt x="5550487" y="779103"/>
                  </a:lnTo>
                  <a:lnTo>
                    <a:pt x="0" y="779103"/>
                  </a:lnTo>
                  <a:close/>
                </a:path>
              </a:pathLst>
            </a:custGeom>
            <a:solidFill>
              <a:srgbClr val="FFFFFF">
                <a:alpha val="0"/>
              </a:srgbClr>
            </a:solidFill>
            <a:ln cap="sq">
              <a:noFill/>
              <a:prstDash val="solid"/>
              <a:miter/>
            </a:ln>
          </p:spPr>
        </p:sp>
        <p:sp>
          <p:nvSpPr>
            <p:cNvPr name="TextBox 16" id="16"/>
            <p:cNvSpPr txBox="true"/>
            <p:nvPr/>
          </p:nvSpPr>
          <p:spPr>
            <a:xfrm>
              <a:off x="0" y="-76200"/>
              <a:ext cx="5550487" cy="855303"/>
            </a:xfrm>
            <a:prstGeom prst="rect">
              <a:avLst/>
            </a:prstGeom>
          </p:spPr>
          <p:txBody>
            <a:bodyPr anchor="t" rtlCol="false" tIns="0" lIns="0" bIns="0" rIns="0"/>
            <a:lstStyle/>
            <a:p>
              <a:pPr algn="ctr" marL="0" indent="0" lvl="0">
                <a:lnSpc>
                  <a:spcPts val="4143"/>
                </a:lnSpc>
                <a:spcBef>
                  <a:spcPct val="0"/>
                </a:spcBef>
              </a:pPr>
              <a:r>
                <a:rPr lang="en-US" sz="2799" spc="81">
                  <a:solidFill>
                    <a:srgbClr val="000000"/>
                  </a:solidFill>
                  <a:latin typeface="Garet"/>
                  <a:ea typeface="Garet"/>
                  <a:cs typeface="Garet"/>
                  <a:sym typeface="Garet"/>
                </a:rPr>
                <a:t>Cloud Computing</a:t>
              </a:r>
            </a:p>
          </p:txBody>
        </p:sp>
      </p:grpSp>
      <p:grpSp>
        <p:nvGrpSpPr>
          <p:cNvPr name="Group 17" id="17"/>
          <p:cNvGrpSpPr/>
          <p:nvPr/>
        </p:nvGrpSpPr>
        <p:grpSpPr>
          <a:xfrm rot="0">
            <a:off x="1866989" y="4744253"/>
            <a:ext cx="4115190" cy="1267162"/>
            <a:chOff x="0" y="0"/>
            <a:chExt cx="1083836" cy="333738"/>
          </a:xfrm>
        </p:grpSpPr>
        <p:sp>
          <p:nvSpPr>
            <p:cNvPr name="Freeform 18" id="18"/>
            <p:cNvSpPr/>
            <p:nvPr/>
          </p:nvSpPr>
          <p:spPr>
            <a:xfrm flipH="false" flipV="false" rot="0">
              <a:off x="0" y="0"/>
              <a:ext cx="1083836" cy="333738"/>
            </a:xfrm>
            <a:custGeom>
              <a:avLst/>
              <a:gdLst/>
              <a:ahLst/>
              <a:cxnLst/>
              <a:rect r="r" b="b" t="t" l="l"/>
              <a:pathLst>
                <a:path h="333738" w="1083836">
                  <a:moveTo>
                    <a:pt x="880636" y="0"/>
                  </a:moveTo>
                  <a:lnTo>
                    <a:pt x="0" y="0"/>
                  </a:lnTo>
                  <a:lnTo>
                    <a:pt x="0" y="333738"/>
                  </a:lnTo>
                  <a:lnTo>
                    <a:pt x="880636" y="333738"/>
                  </a:lnTo>
                  <a:lnTo>
                    <a:pt x="1083836" y="166869"/>
                  </a:lnTo>
                  <a:lnTo>
                    <a:pt x="880636" y="0"/>
                  </a:lnTo>
                  <a:close/>
                </a:path>
              </a:pathLst>
            </a:custGeom>
            <a:solidFill>
              <a:srgbClr val="FFFFFF"/>
            </a:solidFill>
          </p:spPr>
        </p:sp>
        <p:sp>
          <p:nvSpPr>
            <p:cNvPr name="TextBox 19" id="19"/>
            <p:cNvSpPr txBox="true"/>
            <p:nvPr/>
          </p:nvSpPr>
          <p:spPr>
            <a:xfrm>
              <a:off x="0" y="-76200"/>
              <a:ext cx="969536" cy="409938"/>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RECORDATORIOS</a:t>
              </a:r>
            </a:p>
          </p:txBody>
        </p:sp>
      </p:grpSp>
      <p:sp>
        <p:nvSpPr>
          <p:cNvPr name="Freeform 20" id="20"/>
          <p:cNvSpPr/>
          <p:nvPr/>
        </p:nvSpPr>
        <p:spPr>
          <a:xfrm flipH="false" flipV="false" rot="0">
            <a:off x="651754" y="4870683"/>
            <a:ext cx="753892" cy="872928"/>
          </a:xfrm>
          <a:custGeom>
            <a:avLst/>
            <a:gdLst/>
            <a:ahLst/>
            <a:cxnLst/>
            <a:rect r="r" b="b" t="t" l="l"/>
            <a:pathLst>
              <a:path h="872928" w="753892">
                <a:moveTo>
                  <a:pt x="0" y="0"/>
                </a:moveTo>
                <a:lnTo>
                  <a:pt x="753892" y="0"/>
                </a:lnTo>
                <a:lnTo>
                  <a:pt x="753892" y="872928"/>
                </a:lnTo>
                <a:lnTo>
                  <a:pt x="0" y="8729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6390812" y="4825942"/>
            <a:ext cx="342106" cy="635117"/>
            <a:chOff x="0" y="0"/>
            <a:chExt cx="277017" cy="514280"/>
          </a:xfrm>
        </p:grpSpPr>
        <p:sp>
          <p:nvSpPr>
            <p:cNvPr name="Freeform 22" id="22"/>
            <p:cNvSpPr/>
            <p:nvPr/>
          </p:nvSpPr>
          <p:spPr>
            <a:xfrm flipH="false" flipV="false" rot="0">
              <a:off x="0" y="0"/>
              <a:ext cx="277017" cy="514280"/>
            </a:xfrm>
            <a:custGeom>
              <a:avLst/>
              <a:gdLst/>
              <a:ahLst/>
              <a:cxnLst/>
              <a:rect r="r" b="b" t="t" l="l"/>
              <a:pathLst>
                <a:path h="514280" w="277017">
                  <a:moveTo>
                    <a:pt x="277017" y="0"/>
                  </a:moveTo>
                  <a:lnTo>
                    <a:pt x="277017" y="514280"/>
                  </a:lnTo>
                  <a:lnTo>
                    <a:pt x="138509" y="387280"/>
                  </a:lnTo>
                  <a:lnTo>
                    <a:pt x="0" y="514280"/>
                  </a:lnTo>
                  <a:lnTo>
                    <a:pt x="0" y="0"/>
                  </a:lnTo>
                  <a:lnTo>
                    <a:pt x="277017" y="0"/>
                  </a:lnTo>
                  <a:close/>
                </a:path>
              </a:pathLst>
            </a:custGeom>
            <a:solidFill>
              <a:srgbClr val="FFFFFF"/>
            </a:solidFill>
          </p:spPr>
        </p:sp>
        <p:sp>
          <p:nvSpPr>
            <p:cNvPr name="TextBox 23" id="23"/>
            <p:cNvSpPr txBox="true"/>
            <p:nvPr/>
          </p:nvSpPr>
          <p:spPr>
            <a:xfrm>
              <a:off x="0" y="-47625"/>
              <a:ext cx="277017" cy="434905"/>
            </a:xfrm>
            <a:prstGeom prst="rect">
              <a:avLst/>
            </a:prstGeom>
          </p:spPr>
          <p:txBody>
            <a:bodyPr anchor="ctr" rtlCol="false" tIns="50800" lIns="50800" bIns="50800" rIns="50800"/>
            <a:lstStyle/>
            <a:p>
              <a:pPr algn="ctr">
                <a:lnSpc>
                  <a:spcPts val="3499"/>
                </a:lnSpc>
              </a:pPr>
            </a:p>
          </p:txBody>
        </p:sp>
      </p:grpSp>
      <p:grpSp>
        <p:nvGrpSpPr>
          <p:cNvPr name="Group 24" id="24"/>
          <p:cNvGrpSpPr/>
          <p:nvPr/>
        </p:nvGrpSpPr>
        <p:grpSpPr>
          <a:xfrm rot="0">
            <a:off x="651754" y="-249180"/>
            <a:ext cx="6140237" cy="2980843"/>
            <a:chOff x="0" y="0"/>
            <a:chExt cx="8186982" cy="3974458"/>
          </a:xfrm>
        </p:grpSpPr>
        <p:sp>
          <p:nvSpPr>
            <p:cNvPr name="TextBox 25" id="25"/>
            <p:cNvSpPr txBox="true"/>
            <p:nvPr/>
          </p:nvSpPr>
          <p:spPr>
            <a:xfrm rot="0">
              <a:off x="0" y="986783"/>
              <a:ext cx="8186982"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name="TextBox 26" id="26"/>
            <p:cNvSpPr txBox="true"/>
            <p:nvPr/>
          </p:nvSpPr>
          <p:spPr>
            <a:xfrm rot="0">
              <a:off x="0" y="-95250"/>
              <a:ext cx="8186982" cy="927435"/>
            </a:xfrm>
            <a:prstGeom prst="rect">
              <a:avLst/>
            </a:prstGeom>
          </p:spPr>
          <p:txBody>
            <a:bodyPr anchor="t" rtlCol="false" tIns="0" lIns="0" bIns="0" rIns="0">
              <a:spAutoFit/>
            </a:bodyPr>
            <a:lstStyle/>
            <a:p>
              <a:pPr algn="l">
                <a:lnSpc>
                  <a:spcPts val="5733"/>
                </a:lnSpc>
              </a:pPr>
            </a:p>
          </p:txBody>
        </p:sp>
      </p:grpSp>
      <p:grpSp>
        <p:nvGrpSpPr>
          <p:cNvPr name="Group 27" id="27"/>
          <p:cNvGrpSpPr/>
          <p:nvPr/>
        </p:nvGrpSpPr>
        <p:grpSpPr>
          <a:xfrm rot="0">
            <a:off x="11823281" y="308863"/>
            <a:ext cx="6464719" cy="2844707"/>
            <a:chOff x="0" y="0"/>
            <a:chExt cx="8619626" cy="3792943"/>
          </a:xfrm>
        </p:grpSpPr>
        <p:sp>
          <p:nvSpPr>
            <p:cNvPr name="TextBox 28" id="28"/>
            <p:cNvSpPr txBox="true"/>
            <p:nvPr/>
          </p:nvSpPr>
          <p:spPr>
            <a:xfrm rot="0">
              <a:off x="0" y="805268"/>
              <a:ext cx="8619626"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name="TextBox 29" id="29"/>
            <p:cNvSpPr txBox="true"/>
            <p:nvPr/>
          </p:nvSpPr>
          <p:spPr>
            <a:xfrm rot="0">
              <a:off x="0" y="-76200"/>
              <a:ext cx="8619626" cy="747545"/>
            </a:xfrm>
            <a:prstGeom prst="rect">
              <a:avLst/>
            </a:prstGeom>
          </p:spPr>
          <p:txBody>
            <a:bodyPr anchor="t" rtlCol="false" tIns="0" lIns="0" bIns="0" rIns="0">
              <a:spAutoFit/>
            </a:bodyPr>
            <a:lstStyle/>
            <a:p>
              <a:pPr algn="l">
                <a:lnSpc>
                  <a:spcPts val="4625"/>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76325"/>
            <a:ext cx="8923530" cy="8772525"/>
          </a:xfrm>
          <a:prstGeom prst="rect">
            <a:avLst/>
          </a:prstGeom>
        </p:spPr>
        <p:txBody>
          <a:bodyPr anchor="t" rtlCol="false" tIns="0" lIns="0" bIns="0" rIns="0">
            <a:spAutoFit/>
          </a:bodyPr>
          <a:lstStyle/>
          <a:p>
            <a:pPr algn="l" marL="0" indent="0" lvl="0">
              <a:lnSpc>
                <a:spcPts val="17250"/>
              </a:lnSpc>
              <a:spcBef>
                <a:spcPct val="0"/>
              </a:spcBef>
            </a:pPr>
            <a:r>
              <a:rPr lang="en-US" sz="15000" strike="noStrike" u="none">
                <a:solidFill>
                  <a:srgbClr val="131416"/>
                </a:solidFill>
                <a:latin typeface="Playlist Script"/>
                <a:ea typeface="Playlist Script"/>
                <a:cs typeface="Playlist Script"/>
                <a:sym typeface="Playlist Script"/>
              </a:rPr>
              <a:t>UML</a:t>
            </a:r>
          </a:p>
          <a:p>
            <a:pPr algn="l" marL="0" indent="0" lvl="0">
              <a:lnSpc>
                <a:spcPts val="17250"/>
              </a:lnSpc>
              <a:spcBef>
                <a:spcPct val="0"/>
              </a:spcBef>
            </a:pPr>
            <a:r>
              <a:rPr lang="en-US" sz="15000" strike="noStrike" u="none">
                <a:solidFill>
                  <a:srgbClr val="131416"/>
                </a:solidFill>
                <a:latin typeface="Playlist Script"/>
                <a:ea typeface="Playlist Script"/>
                <a:cs typeface="Playlist Script"/>
                <a:sym typeface="Playlist Script"/>
              </a:rPr>
              <a:t>Unified Modeling Language</a:t>
            </a:r>
          </a:p>
        </p:txBody>
      </p:sp>
      <p:sp>
        <p:nvSpPr>
          <p:cNvPr name="AutoShape 3" id="3"/>
          <p:cNvSpPr/>
          <p:nvPr/>
        </p:nvSpPr>
        <p:spPr>
          <a:xfrm>
            <a:off x="5061863" y="615276"/>
            <a:ext cx="1582593" cy="114300"/>
          </a:xfrm>
          <a:prstGeom prst="line">
            <a:avLst/>
          </a:prstGeom>
          <a:ln cap="rnd" w="57150">
            <a:solidFill>
              <a:srgbClr val="4D64C3"/>
            </a:solidFill>
            <a:prstDash val="solid"/>
            <a:headEnd type="none" len="sm" w="sm"/>
            <a:tailEnd type="none" len="sm" w="sm"/>
          </a:ln>
        </p:spPr>
      </p:sp>
      <p:grpSp>
        <p:nvGrpSpPr>
          <p:cNvPr name="Group 4" id="4"/>
          <p:cNvGrpSpPr/>
          <p:nvPr/>
        </p:nvGrpSpPr>
        <p:grpSpPr>
          <a:xfrm rot="0">
            <a:off x="7572714" y="2544634"/>
            <a:ext cx="9728560" cy="689925"/>
            <a:chOff x="0" y="0"/>
            <a:chExt cx="12971414" cy="919900"/>
          </a:xfrm>
        </p:grpSpPr>
        <p:sp>
          <p:nvSpPr>
            <p:cNvPr name="Freeform 5" id="5"/>
            <p:cNvSpPr/>
            <p:nvPr/>
          </p:nvSpPr>
          <p:spPr>
            <a:xfrm flipH="false" flipV="false" rot="0">
              <a:off x="6350" y="6350"/>
              <a:ext cx="12958699" cy="907161"/>
            </a:xfrm>
            <a:custGeom>
              <a:avLst/>
              <a:gdLst/>
              <a:ahLst/>
              <a:cxnLst/>
              <a:rect r="r" b="b" t="t" l="l"/>
              <a:pathLst>
                <a:path h="907161" w="12958699">
                  <a:moveTo>
                    <a:pt x="0" y="0"/>
                  </a:moveTo>
                  <a:lnTo>
                    <a:pt x="12958699" y="0"/>
                  </a:lnTo>
                  <a:lnTo>
                    <a:pt x="12958699" y="907161"/>
                  </a:lnTo>
                  <a:lnTo>
                    <a:pt x="0" y="907161"/>
                  </a:lnTo>
                  <a:close/>
                </a:path>
              </a:pathLst>
            </a:custGeom>
            <a:solidFill>
              <a:srgbClr val="FFFFFF">
                <a:alpha val="80784"/>
              </a:srgbClr>
            </a:solidFill>
          </p:spPr>
        </p:sp>
        <p:sp>
          <p:nvSpPr>
            <p:cNvPr name="Freeform 6" id="6"/>
            <p:cNvSpPr/>
            <p:nvPr/>
          </p:nvSpPr>
          <p:spPr>
            <a:xfrm flipH="false" flipV="false" rot="0">
              <a:off x="0" y="0"/>
              <a:ext cx="12971399" cy="919861"/>
            </a:xfrm>
            <a:custGeom>
              <a:avLst/>
              <a:gdLst/>
              <a:ahLst/>
              <a:cxnLst/>
              <a:rect r="r" b="b" t="t" l="l"/>
              <a:pathLst>
                <a:path h="919861" w="12971399">
                  <a:moveTo>
                    <a:pt x="6350" y="0"/>
                  </a:moveTo>
                  <a:lnTo>
                    <a:pt x="12965049" y="0"/>
                  </a:lnTo>
                  <a:cubicBezTo>
                    <a:pt x="12968605" y="0"/>
                    <a:pt x="12971399" y="2794"/>
                    <a:pt x="12971399" y="6350"/>
                  </a:cubicBezTo>
                  <a:lnTo>
                    <a:pt x="12971399" y="913511"/>
                  </a:lnTo>
                  <a:cubicBezTo>
                    <a:pt x="12971399" y="917067"/>
                    <a:pt x="12968605" y="919861"/>
                    <a:pt x="12965049" y="919861"/>
                  </a:cubicBezTo>
                  <a:lnTo>
                    <a:pt x="6350" y="919861"/>
                  </a:lnTo>
                  <a:cubicBezTo>
                    <a:pt x="2794" y="919861"/>
                    <a:pt x="0" y="917067"/>
                    <a:pt x="0" y="913511"/>
                  </a:cubicBezTo>
                  <a:lnTo>
                    <a:pt x="0" y="6350"/>
                  </a:lnTo>
                  <a:cubicBezTo>
                    <a:pt x="0" y="2794"/>
                    <a:pt x="2794" y="0"/>
                    <a:pt x="6350" y="0"/>
                  </a:cubicBezTo>
                  <a:moveTo>
                    <a:pt x="6350" y="12700"/>
                  </a:moveTo>
                  <a:lnTo>
                    <a:pt x="6350" y="6350"/>
                  </a:lnTo>
                  <a:lnTo>
                    <a:pt x="12700" y="6350"/>
                  </a:lnTo>
                  <a:lnTo>
                    <a:pt x="12700" y="913511"/>
                  </a:lnTo>
                  <a:lnTo>
                    <a:pt x="6350" y="913511"/>
                  </a:lnTo>
                  <a:lnTo>
                    <a:pt x="6350" y="907161"/>
                  </a:lnTo>
                  <a:lnTo>
                    <a:pt x="12965049" y="907161"/>
                  </a:lnTo>
                  <a:lnTo>
                    <a:pt x="12965049" y="913511"/>
                  </a:lnTo>
                  <a:lnTo>
                    <a:pt x="12958699" y="913511"/>
                  </a:lnTo>
                  <a:lnTo>
                    <a:pt x="12958699" y="6350"/>
                  </a:lnTo>
                  <a:lnTo>
                    <a:pt x="12965049" y="6350"/>
                  </a:lnTo>
                  <a:lnTo>
                    <a:pt x="12965049" y="12700"/>
                  </a:lnTo>
                  <a:lnTo>
                    <a:pt x="6350" y="12700"/>
                  </a:lnTo>
                  <a:close/>
                </a:path>
              </a:pathLst>
            </a:custGeom>
            <a:solidFill>
              <a:srgbClr val="553BB1"/>
            </a:solidFill>
          </p:spPr>
        </p:sp>
      </p:grpSp>
      <p:grpSp>
        <p:nvGrpSpPr>
          <p:cNvPr name="Group 7" id="7"/>
          <p:cNvGrpSpPr/>
          <p:nvPr/>
        </p:nvGrpSpPr>
        <p:grpSpPr>
          <a:xfrm rot="0">
            <a:off x="8063427" y="2150877"/>
            <a:ext cx="6803323" cy="797040"/>
            <a:chOff x="0" y="0"/>
            <a:chExt cx="9071098" cy="1062720"/>
          </a:xfrm>
        </p:grpSpPr>
        <p:sp>
          <p:nvSpPr>
            <p:cNvPr name="Freeform 8" id="8"/>
            <p:cNvSpPr/>
            <p:nvPr/>
          </p:nvSpPr>
          <p:spPr>
            <a:xfrm flipH="false" flipV="false" rot="0">
              <a:off x="0" y="0"/>
              <a:ext cx="9071102" cy="1062736"/>
            </a:xfrm>
            <a:custGeom>
              <a:avLst/>
              <a:gdLst/>
              <a:ahLst/>
              <a:cxnLst/>
              <a:rect r="r" b="b" t="t" l="l"/>
              <a:pathLst>
                <a:path h="1062736" w="9071102">
                  <a:moveTo>
                    <a:pt x="0" y="177165"/>
                  </a:moveTo>
                  <a:cubicBezTo>
                    <a:pt x="0" y="79248"/>
                    <a:pt x="79248" y="0"/>
                    <a:pt x="177165" y="0"/>
                  </a:cubicBezTo>
                  <a:lnTo>
                    <a:pt x="8893937" y="0"/>
                  </a:lnTo>
                  <a:cubicBezTo>
                    <a:pt x="8991727" y="0"/>
                    <a:pt x="9071102" y="79248"/>
                    <a:pt x="9071102" y="177165"/>
                  </a:cubicBezTo>
                  <a:lnTo>
                    <a:pt x="9071102" y="885571"/>
                  </a:lnTo>
                  <a:cubicBezTo>
                    <a:pt x="9071102" y="983361"/>
                    <a:pt x="8991854" y="1062736"/>
                    <a:pt x="8893937" y="1062736"/>
                  </a:cubicBezTo>
                  <a:lnTo>
                    <a:pt x="177165" y="1062736"/>
                  </a:lnTo>
                  <a:cubicBezTo>
                    <a:pt x="79248" y="1062736"/>
                    <a:pt x="0" y="983361"/>
                    <a:pt x="0" y="885571"/>
                  </a:cubicBezTo>
                  <a:close/>
                </a:path>
              </a:pathLst>
            </a:custGeom>
            <a:gradFill rotWithShape="true">
              <a:gsLst>
                <a:gs pos="0">
                  <a:srgbClr val="6D5CBA">
                    <a:alpha val="100000"/>
                  </a:srgbClr>
                </a:gs>
                <a:gs pos="50000">
                  <a:srgbClr val="5235B7">
                    <a:alpha val="100000"/>
                  </a:srgbClr>
                </a:gs>
                <a:gs pos="100000">
                  <a:srgbClr val="4529A7">
                    <a:alpha val="100000"/>
                  </a:srgbClr>
                </a:gs>
              </a:gsLst>
              <a:lin ang="5400000"/>
            </a:gradFill>
          </p:spPr>
        </p:sp>
      </p:grpSp>
      <p:grpSp>
        <p:nvGrpSpPr>
          <p:cNvPr name="Group 9" id="9"/>
          <p:cNvGrpSpPr/>
          <p:nvPr/>
        </p:nvGrpSpPr>
        <p:grpSpPr>
          <a:xfrm rot="0">
            <a:off x="8097573" y="2185023"/>
            <a:ext cx="6735032" cy="728748"/>
            <a:chOff x="0" y="0"/>
            <a:chExt cx="8980042" cy="971664"/>
          </a:xfrm>
        </p:grpSpPr>
        <p:sp>
          <p:nvSpPr>
            <p:cNvPr name="Freeform 10" id="10"/>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0" y="0"/>
              <a:ext cx="8980042" cy="971664"/>
              <a:chOff x="0" y="0"/>
              <a:chExt cx="8980042" cy="971664"/>
            </a:xfrm>
          </p:grpSpPr>
          <p:sp>
            <p:nvSpPr>
              <p:cNvPr name="Freeform 12" id="12"/>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close/>
                  </a:path>
                </a:pathLst>
              </a:custGeom>
              <a:solidFill>
                <a:srgbClr val="000000">
                  <a:alpha val="0"/>
                </a:srgbClr>
              </a:solidFill>
            </p:spPr>
          </p:sp>
          <p:sp>
            <p:nvSpPr>
              <p:cNvPr name="TextBox 13" id="13"/>
              <p:cNvSpPr txBox="true"/>
              <p:nvPr/>
            </p:nvSpPr>
            <p:spPr>
              <a:xfrm>
                <a:off x="0" y="9525"/>
                <a:ext cx="8980042" cy="962139"/>
              </a:xfrm>
              <a:prstGeom prst="rect">
                <a:avLst/>
              </a:prstGeom>
            </p:spPr>
            <p:txBody>
              <a:bodyPr anchor="ctr" rtlCol="false" tIns="0" lIns="0" bIns="0" rIns="0"/>
              <a:lstStyle/>
              <a:p>
                <a:pPr algn="l">
                  <a:lnSpc>
                    <a:spcPts val="2916"/>
                  </a:lnSpc>
                </a:pPr>
                <a:r>
                  <a:rPr lang="en-US" sz="2700">
                    <a:solidFill>
                      <a:srgbClr val="FFFFFF"/>
                    </a:solidFill>
                    <a:latin typeface="Arimo"/>
                    <a:ea typeface="Arimo"/>
                    <a:cs typeface="Arimo"/>
                    <a:sym typeface="Arimo"/>
                  </a:rPr>
                  <a:t>¿Qué es?</a:t>
                </a:r>
              </a:p>
            </p:txBody>
          </p:sp>
        </p:grpSp>
      </p:grpSp>
      <p:grpSp>
        <p:nvGrpSpPr>
          <p:cNvPr name="Group 14" id="14"/>
          <p:cNvGrpSpPr/>
          <p:nvPr/>
        </p:nvGrpSpPr>
        <p:grpSpPr>
          <a:xfrm rot="0">
            <a:off x="7572714" y="3769354"/>
            <a:ext cx="9728560" cy="689925"/>
            <a:chOff x="0" y="0"/>
            <a:chExt cx="12971414" cy="919900"/>
          </a:xfrm>
        </p:grpSpPr>
        <p:sp>
          <p:nvSpPr>
            <p:cNvPr name="Freeform 15" id="15"/>
            <p:cNvSpPr/>
            <p:nvPr/>
          </p:nvSpPr>
          <p:spPr>
            <a:xfrm flipH="false" flipV="false" rot="0">
              <a:off x="6350" y="6350"/>
              <a:ext cx="12958699" cy="907161"/>
            </a:xfrm>
            <a:custGeom>
              <a:avLst/>
              <a:gdLst/>
              <a:ahLst/>
              <a:cxnLst/>
              <a:rect r="r" b="b" t="t" l="l"/>
              <a:pathLst>
                <a:path h="907161" w="12958699">
                  <a:moveTo>
                    <a:pt x="0" y="0"/>
                  </a:moveTo>
                  <a:lnTo>
                    <a:pt x="12958699" y="0"/>
                  </a:lnTo>
                  <a:lnTo>
                    <a:pt x="12958699" y="907161"/>
                  </a:lnTo>
                  <a:lnTo>
                    <a:pt x="0" y="907161"/>
                  </a:lnTo>
                  <a:close/>
                </a:path>
              </a:pathLst>
            </a:custGeom>
            <a:solidFill>
              <a:srgbClr val="FFFFFF">
                <a:alpha val="80784"/>
              </a:srgbClr>
            </a:solidFill>
          </p:spPr>
        </p:sp>
        <p:sp>
          <p:nvSpPr>
            <p:cNvPr name="Freeform 16" id="16"/>
            <p:cNvSpPr/>
            <p:nvPr/>
          </p:nvSpPr>
          <p:spPr>
            <a:xfrm flipH="false" flipV="false" rot="0">
              <a:off x="0" y="0"/>
              <a:ext cx="12971399" cy="919861"/>
            </a:xfrm>
            <a:custGeom>
              <a:avLst/>
              <a:gdLst/>
              <a:ahLst/>
              <a:cxnLst/>
              <a:rect r="r" b="b" t="t" l="l"/>
              <a:pathLst>
                <a:path h="919861" w="12971399">
                  <a:moveTo>
                    <a:pt x="6350" y="0"/>
                  </a:moveTo>
                  <a:lnTo>
                    <a:pt x="12965049" y="0"/>
                  </a:lnTo>
                  <a:cubicBezTo>
                    <a:pt x="12968605" y="0"/>
                    <a:pt x="12971399" y="2794"/>
                    <a:pt x="12971399" y="6350"/>
                  </a:cubicBezTo>
                  <a:lnTo>
                    <a:pt x="12971399" y="913511"/>
                  </a:lnTo>
                  <a:cubicBezTo>
                    <a:pt x="12971399" y="917067"/>
                    <a:pt x="12968605" y="919861"/>
                    <a:pt x="12965049" y="919861"/>
                  </a:cubicBezTo>
                  <a:lnTo>
                    <a:pt x="6350" y="919861"/>
                  </a:lnTo>
                  <a:cubicBezTo>
                    <a:pt x="2794" y="919861"/>
                    <a:pt x="0" y="917067"/>
                    <a:pt x="0" y="913511"/>
                  </a:cubicBezTo>
                  <a:lnTo>
                    <a:pt x="0" y="6350"/>
                  </a:lnTo>
                  <a:cubicBezTo>
                    <a:pt x="0" y="2794"/>
                    <a:pt x="2794" y="0"/>
                    <a:pt x="6350" y="0"/>
                  </a:cubicBezTo>
                  <a:moveTo>
                    <a:pt x="6350" y="12700"/>
                  </a:moveTo>
                  <a:lnTo>
                    <a:pt x="6350" y="6350"/>
                  </a:lnTo>
                  <a:lnTo>
                    <a:pt x="12700" y="6350"/>
                  </a:lnTo>
                  <a:lnTo>
                    <a:pt x="12700" y="913511"/>
                  </a:lnTo>
                  <a:lnTo>
                    <a:pt x="6350" y="913511"/>
                  </a:lnTo>
                  <a:lnTo>
                    <a:pt x="6350" y="907161"/>
                  </a:lnTo>
                  <a:lnTo>
                    <a:pt x="12965049" y="907161"/>
                  </a:lnTo>
                  <a:lnTo>
                    <a:pt x="12965049" y="913511"/>
                  </a:lnTo>
                  <a:lnTo>
                    <a:pt x="12958699" y="913511"/>
                  </a:lnTo>
                  <a:lnTo>
                    <a:pt x="12958699" y="6350"/>
                  </a:lnTo>
                  <a:lnTo>
                    <a:pt x="12965049" y="6350"/>
                  </a:lnTo>
                  <a:lnTo>
                    <a:pt x="12965049" y="12700"/>
                  </a:lnTo>
                  <a:lnTo>
                    <a:pt x="6350" y="12700"/>
                  </a:lnTo>
                  <a:close/>
                </a:path>
              </a:pathLst>
            </a:custGeom>
            <a:solidFill>
              <a:srgbClr val="984DC3"/>
            </a:solidFill>
          </p:spPr>
        </p:sp>
      </p:grpSp>
      <p:grpSp>
        <p:nvGrpSpPr>
          <p:cNvPr name="Group 17" id="17"/>
          <p:cNvGrpSpPr/>
          <p:nvPr/>
        </p:nvGrpSpPr>
        <p:grpSpPr>
          <a:xfrm rot="0">
            <a:off x="8063427" y="3375597"/>
            <a:ext cx="6803323" cy="797040"/>
            <a:chOff x="0" y="0"/>
            <a:chExt cx="9071098" cy="1062720"/>
          </a:xfrm>
        </p:grpSpPr>
        <p:sp>
          <p:nvSpPr>
            <p:cNvPr name="Freeform 18" id="18"/>
            <p:cNvSpPr/>
            <p:nvPr/>
          </p:nvSpPr>
          <p:spPr>
            <a:xfrm flipH="false" flipV="false" rot="0">
              <a:off x="0" y="0"/>
              <a:ext cx="9071102" cy="1062736"/>
            </a:xfrm>
            <a:custGeom>
              <a:avLst/>
              <a:gdLst/>
              <a:ahLst/>
              <a:cxnLst/>
              <a:rect r="r" b="b" t="t" l="l"/>
              <a:pathLst>
                <a:path h="1062736" w="9071102">
                  <a:moveTo>
                    <a:pt x="0" y="177165"/>
                  </a:moveTo>
                  <a:cubicBezTo>
                    <a:pt x="0" y="79248"/>
                    <a:pt x="79248" y="0"/>
                    <a:pt x="177165" y="0"/>
                  </a:cubicBezTo>
                  <a:lnTo>
                    <a:pt x="8893937" y="0"/>
                  </a:lnTo>
                  <a:cubicBezTo>
                    <a:pt x="8991727" y="0"/>
                    <a:pt x="9071102" y="79248"/>
                    <a:pt x="9071102" y="177165"/>
                  </a:cubicBezTo>
                  <a:lnTo>
                    <a:pt x="9071102" y="885571"/>
                  </a:lnTo>
                  <a:cubicBezTo>
                    <a:pt x="9071102" y="983361"/>
                    <a:pt x="8991854" y="1062736"/>
                    <a:pt x="8893937" y="1062736"/>
                  </a:cubicBezTo>
                  <a:lnTo>
                    <a:pt x="177165" y="1062736"/>
                  </a:lnTo>
                  <a:cubicBezTo>
                    <a:pt x="79248" y="1062736"/>
                    <a:pt x="0" y="983361"/>
                    <a:pt x="0" y="885571"/>
                  </a:cubicBezTo>
                  <a:close/>
                </a:path>
              </a:pathLst>
            </a:custGeom>
            <a:gradFill rotWithShape="true">
              <a:gsLst>
                <a:gs pos="0">
                  <a:srgbClr val="A468CA">
                    <a:alpha val="100000"/>
                  </a:srgbClr>
                </a:gs>
                <a:gs pos="50000">
                  <a:srgbClr val="9A47C9">
                    <a:alpha val="100000"/>
                  </a:srgbClr>
                </a:gs>
                <a:gs pos="100000">
                  <a:srgbClr val="8939B7">
                    <a:alpha val="100000"/>
                  </a:srgbClr>
                </a:gs>
              </a:gsLst>
              <a:lin ang="5400000"/>
            </a:gradFill>
          </p:spPr>
        </p:sp>
      </p:grpSp>
      <p:grpSp>
        <p:nvGrpSpPr>
          <p:cNvPr name="Group 19" id="19"/>
          <p:cNvGrpSpPr/>
          <p:nvPr/>
        </p:nvGrpSpPr>
        <p:grpSpPr>
          <a:xfrm rot="0">
            <a:off x="8097573" y="3409743"/>
            <a:ext cx="6735032" cy="728748"/>
            <a:chOff x="0" y="0"/>
            <a:chExt cx="8980042" cy="971664"/>
          </a:xfrm>
        </p:grpSpPr>
        <p:sp>
          <p:nvSpPr>
            <p:cNvPr name="Freeform 20" id="20"/>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1" id="21"/>
            <p:cNvGrpSpPr/>
            <p:nvPr/>
          </p:nvGrpSpPr>
          <p:grpSpPr>
            <a:xfrm rot="0">
              <a:off x="0" y="0"/>
              <a:ext cx="8980042" cy="971664"/>
              <a:chOff x="0" y="0"/>
              <a:chExt cx="8980042" cy="971664"/>
            </a:xfrm>
          </p:grpSpPr>
          <p:sp>
            <p:nvSpPr>
              <p:cNvPr name="Freeform 22" id="22"/>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close/>
                  </a:path>
                </a:pathLst>
              </a:custGeom>
              <a:solidFill>
                <a:srgbClr val="000000">
                  <a:alpha val="0"/>
                </a:srgbClr>
              </a:solidFill>
            </p:spPr>
          </p:sp>
          <p:sp>
            <p:nvSpPr>
              <p:cNvPr name="TextBox 23" id="23"/>
              <p:cNvSpPr txBox="true"/>
              <p:nvPr/>
            </p:nvSpPr>
            <p:spPr>
              <a:xfrm>
                <a:off x="0" y="9525"/>
                <a:ext cx="8980042" cy="962139"/>
              </a:xfrm>
              <a:prstGeom prst="rect">
                <a:avLst/>
              </a:prstGeom>
            </p:spPr>
            <p:txBody>
              <a:bodyPr anchor="ctr" rtlCol="false" tIns="0" lIns="0" bIns="0" rIns="0"/>
              <a:lstStyle/>
              <a:p>
                <a:pPr algn="l">
                  <a:lnSpc>
                    <a:spcPts val="2916"/>
                  </a:lnSpc>
                </a:pPr>
                <a:r>
                  <a:rPr lang="en-US" sz="2700">
                    <a:solidFill>
                      <a:srgbClr val="FFFFFF"/>
                    </a:solidFill>
                    <a:latin typeface="Arimo"/>
                    <a:ea typeface="Arimo"/>
                    <a:cs typeface="Arimo"/>
                    <a:sym typeface="Arimo"/>
                  </a:rPr>
                  <a:t>Tipos de diagramas</a:t>
                </a:r>
              </a:p>
            </p:txBody>
          </p:sp>
        </p:grpSp>
      </p:grpSp>
      <p:grpSp>
        <p:nvGrpSpPr>
          <p:cNvPr name="Group 24" id="24"/>
          <p:cNvGrpSpPr/>
          <p:nvPr/>
        </p:nvGrpSpPr>
        <p:grpSpPr>
          <a:xfrm rot="0">
            <a:off x="7572714" y="4994074"/>
            <a:ext cx="9728560" cy="689925"/>
            <a:chOff x="0" y="0"/>
            <a:chExt cx="12971414" cy="919900"/>
          </a:xfrm>
        </p:grpSpPr>
        <p:sp>
          <p:nvSpPr>
            <p:cNvPr name="Freeform 25" id="25"/>
            <p:cNvSpPr/>
            <p:nvPr/>
          </p:nvSpPr>
          <p:spPr>
            <a:xfrm flipH="false" flipV="false" rot="0">
              <a:off x="6350" y="6350"/>
              <a:ext cx="12958699" cy="907161"/>
            </a:xfrm>
            <a:custGeom>
              <a:avLst/>
              <a:gdLst/>
              <a:ahLst/>
              <a:cxnLst/>
              <a:rect r="r" b="b" t="t" l="l"/>
              <a:pathLst>
                <a:path h="907161" w="12958699">
                  <a:moveTo>
                    <a:pt x="0" y="0"/>
                  </a:moveTo>
                  <a:lnTo>
                    <a:pt x="12958699" y="0"/>
                  </a:lnTo>
                  <a:lnTo>
                    <a:pt x="12958699" y="907161"/>
                  </a:lnTo>
                  <a:lnTo>
                    <a:pt x="0" y="907161"/>
                  </a:lnTo>
                  <a:close/>
                </a:path>
              </a:pathLst>
            </a:custGeom>
            <a:solidFill>
              <a:srgbClr val="FFFFFF">
                <a:alpha val="80784"/>
              </a:srgbClr>
            </a:solidFill>
          </p:spPr>
        </p:sp>
        <p:sp>
          <p:nvSpPr>
            <p:cNvPr name="Freeform 26" id="26"/>
            <p:cNvSpPr/>
            <p:nvPr/>
          </p:nvSpPr>
          <p:spPr>
            <a:xfrm flipH="false" flipV="false" rot="0">
              <a:off x="0" y="0"/>
              <a:ext cx="12971399" cy="919861"/>
            </a:xfrm>
            <a:custGeom>
              <a:avLst/>
              <a:gdLst/>
              <a:ahLst/>
              <a:cxnLst/>
              <a:rect r="r" b="b" t="t" l="l"/>
              <a:pathLst>
                <a:path h="919861" w="12971399">
                  <a:moveTo>
                    <a:pt x="6350" y="0"/>
                  </a:moveTo>
                  <a:lnTo>
                    <a:pt x="12965049" y="0"/>
                  </a:lnTo>
                  <a:cubicBezTo>
                    <a:pt x="12968605" y="0"/>
                    <a:pt x="12971399" y="2794"/>
                    <a:pt x="12971399" y="6350"/>
                  </a:cubicBezTo>
                  <a:lnTo>
                    <a:pt x="12971399" y="913511"/>
                  </a:lnTo>
                  <a:cubicBezTo>
                    <a:pt x="12971399" y="917067"/>
                    <a:pt x="12968605" y="919861"/>
                    <a:pt x="12965049" y="919861"/>
                  </a:cubicBezTo>
                  <a:lnTo>
                    <a:pt x="6350" y="919861"/>
                  </a:lnTo>
                  <a:cubicBezTo>
                    <a:pt x="2794" y="919861"/>
                    <a:pt x="0" y="917067"/>
                    <a:pt x="0" y="913511"/>
                  </a:cubicBezTo>
                  <a:lnTo>
                    <a:pt x="0" y="6350"/>
                  </a:lnTo>
                  <a:cubicBezTo>
                    <a:pt x="0" y="2794"/>
                    <a:pt x="2794" y="0"/>
                    <a:pt x="6350" y="0"/>
                  </a:cubicBezTo>
                  <a:moveTo>
                    <a:pt x="6350" y="12700"/>
                  </a:moveTo>
                  <a:lnTo>
                    <a:pt x="6350" y="6350"/>
                  </a:lnTo>
                  <a:lnTo>
                    <a:pt x="12700" y="6350"/>
                  </a:lnTo>
                  <a:lnTo>
                    <a:pt x="12700" y="913511"/>
                  </a:lnTo>
                  <a:lnTo>
                    <a:pt x="6350" y="913511"/>
                  </a:lnTo>
                  <a:lnTo>
                    <a:pt x="6350" y="907161"/>
                  </a:lnTo>
                  <a:lnTo>
                    <a:pt x="12965049" y="907161"/>
                  </a:lnTo>
                  <a:lnTo>
                    <a:pt x="12965049" y="913511"/>
                  </a:lnTo>
                  <a:lnTo>
                    <a:pt x="12958699" y="913511"/>
                  </a:lnTo>
                  <a:lnTo>
                    <a:pt x="12958699" y="6350"/>
                  </a:lnTo>
                  <a:lnTo>
                    <a:pt x="12965049" y="6350"/>
                  </a:lnTo>
                  <a:lnTo>
                    <a:pt x="12965049" y="12700"/>
                  </a:lnTo>
                  <a:lnTo>
                    <a:pt x="6350" y="12700"/>
                  </a:lnTo>
                  <a:close/>
                </a:path>
              </a:pathLst>
            </a:custGeom>
            <a:solidFill>
              <a:srgbClr val="B13BAB"/>
            </a:solidFill>
          </p:spPr>
        </p:sp>
      </p:grpSp>
      <p:grpSp>
        <p:nvGrpSpPr>
          <p:cNvPr name="Group 27" id="27"/>
          <p:cNvGrpSpPr/>
          <p:nvPr/>
        </p:nvGrpSpPr>
        <p:grpSpPr>
          <a:xfrm rot="0">
            <a:off x="8063427" y="4600317"/>
            <a:ext cx="6803323" cy="797040"/>
            <a:chOff x="0" y="0"/>
            <a:chExt cx="9071098" cy="1062720"/>
          </a:xfrm>
        </p:grpSpPr>
        <p:sp>
          <p:nvSpPr>
            <p:cNvPr name="Freeform 28" id="28"/>
            <p:cNvSpPr/>
            <p:nvPr/>
          </p:nvSpPr>
          <p:spPr>
            <a:xfrm flipH="false" flipV="false" rot="0">
              <a:off x="0" y="0"/>
              <a:ext cx="9071102" cy="1062736"/>
            </a:xfrm>
            <a:custGeom>
              <a:avLst/>
              <a:gdLst/>
              <a:ahLst/>
              <a:cxnLst/>
              <a:rect r="r" b="b" t="t" l="l"/>
              <a:pathLst>
                <a:path h="1062736" w="9071102">
                  <a:moveTo>
                    <a:pt x="0" y="177165"/>
                  </a:moveTo>
                  <a:cubicBezTo>
                    <a:pt x="0" y="79248"/>
                    <a:pt x="79248" y="0"/>
                    <a:pt x="177165" y="0"/>
                  </a:cubicBezTo>
                  <a:lnTo>
                    <a:pt x="8893937" y="0"/>
                  </a:lnTo>
                  <a:cubicBezTo>
                    <a:pt x="8991727" y="0"/>
                    <a:pt x="9071102" y="79248"/>
                    <a:pt x="9071102" y="177165"/>
                  </a:cubicBezTo>
                  <a:lnTo>
                    <a:pt x="9071102" y="885571"/>
                  </a:lnTo>
                  <a:cubicBezTo>
                    <a:pt x="9071102" y="983361"/>
                    <a:pt x="8991854" y="1062736"/>
                    <a:pt x="8893937" y="1062736"/>
                  </a:cubicBezTo>
                  <a:lnTo>
                    <a:pt x="177165" y="1062736"/>
                  </a:lnTo>
                  <a:cubicBezTo>
                    <a:pt x="79248" y="1062736"/>
                    <a:pt x="0" y="983361"/>
                    <a:pt x="0" y="885571"/>
                  </a:cubicBezTo>
                  <a:close/>
                </a:path>
              </a:pathLst>
            </a:custGeom>
            <a:gradFill rotWithShape="true">
              <a:gsLst>
                <a:gs pos="0">
                  <a:srgbClr val="BA5CB5">
                    <a:alpha val="100000"/>
                  </a:srgbClr>
                </a:gs>
                <a:gs pos="50000">
                  <a:srgbClr val="B735B0">
                    <a:alpha val="100000"/>
                  </a:srgbClr>
                </a:gs>
                <a:gs pos="100000">
                  <a:srgbClr val="A729A1">
                    <a:alpha val="100000"/>
                  </a:srgbClr>
                </a:gs>
              </a:gsLst>
              <a:lin ang="5400000"/>
            </a:gradFill>
          </p:spPr>
        </p:sp>
      </p:grpSp>
      <p:grpSp>
        <p:nvGrpSpPr>
          <p:cNvPr name="Group 29" id="29"/>
          <p:cNvGrpSpPr/>
          <p:nvPr/>
        </p:nvGrpSpPr>
        <p:grpSpPr>
          <a:xfrm rot="0">
            <a:off x="8097573" y="4634463"/>
            <a:ext cx="6735032" cy="728748"/>
            <a:chOff x="0" y="0"/>
            <a:chExt cx="8980042" cy="971664"/>
          </a:xfrm>
        </p:grpSpPr>
        <p:sp>
          <p:nvSpPr>
            <p:cNvPr name="Freeform 30" id="30"/>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1" id="31"/>
            <p:cNvGrpSpPr/>
            <p:nvPr/>
          </p:nvGrpSpPr>
          <p:grpSpPr>
            <a:xfrm rot="0">
              <a:off x="0" y="0"/>
              <a:ext cx="8980042" cy="971664"/>
              <a:chOff x="0" y="0"/>
              <a:chExt cx="8980042" cy="971664"/>
            </a:xfrm>
          </p:grpSpPr>
          <p:sp>
            <p:nvSpPr>
              <p:cNvPr name="Freeform 32" id="32"/>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close/>
                  </a:path>
                </a:pathLst>
              </a:custGeom>
              <a:solidFill>
                <a:srgbClr val="000000">
                  <a:alpha val="0"/>
                </a:srgbClr>
              </a:solidFill>
            </p:spPr>
          </p:sp>
          <p:sp>
            <p:nvSpPr>
              <p:cNvPr name="TextBox 33" id="33"/>
              <p:cNvSpPr txBox="true"/>
              <p:nvPr/>
            </p:nvSpPr>
            <p:spPr>
              <a:xfrm>
                <a:off x="0" y="9525"/>
                <a:ext cx="8980042" cy="962139"/>
              </a:xfrm>
              <a:prstGeom prst="rect">
                <a:avLst/>
              </a:prstGeom>
            </p:spPr>
            <p:txBody>
              <a:bodyPr anchor="ctr" rtlCol="false" tIns="0" lIns="0" bIns="0" rIns="0"/>
              <a:lstStyle/>
              <a:p>
                <a:pPr algn="l">
                  <a:lnSpc>
                    <a:spcPts val="2916"/>
                  </a:lnSpc>
                </a:pPr>
                <a:r>
                  <a:rPr lang="en-US" sz="2700">
                    <a:solidFill>
                      <a:srgbClr val="FFFFFF"/>
                    </a:solidFill>
                    <a:latin typeface="Arimo"/>
                    <a:ea typeface="Arimo"/>
                    <a:cs typeface="Arimo"/>
                    <a:sym typeface="Arimo"/>
                  </a:rPr>
                  <a:t>Diagramas de clases</a:t>
                </a:r>
              </a:p>
            </p:txBody>
          </p:sp>
        </p:grpSp>
      </p:grpSp>
      <p:grpSp>
        <p:nvGrpSpPr>
          <p:cNvPr name="Group 34" id="34"/>
          <p:cNvGrpSpPr/>
          <p:nvPr/>
        </p:nvGrpSpPr>
        <p:grpSpPr>
          <a:xfrm rot="0">
            <a:off x="7572714" y="6218796"/>
            <a:ext cx="9728560" cy="689925"/>
            <a:chOff x="0" y="0"/>
            <a:chExt cx="12971414" cy="919900"/>
          </a:xfrm>
        </p:grpSpPr>
        <p:sp>
          <p:nvSpPr>
            <p:cNvPr name="Freeform 35" id="35"/>
            <p:cNvSpPr/>
            <p:nvPr/>
          </p:nvSpPr>
          <p:spPr>
            <a:xfrm flipH="false" flipV="false" rot="0">
              <a:off x="6350" y="6350"/>
              <a:ext cx="12958699" cy="907161"/>
            </a:xfrm>
            <a:custGeom>
              <a:avLst/>
              <a:gdLst/>
              <a:ahLst/>
              <a:cxnLst/>
              <a:rect r="r" b="b" t="t" l="l"/>
              <a:pathLst>
                <a:path h="907161" w="12958699">
                  <a:moveTo>
                    <a:pt x="0" y="0"/>
                  </a:moveTo>
                  <a:lnTo>
                    <a:pt x="12958699" y="0"/>
                  </a:lnTo>
                  <a:lnTo>
                    <a:pt x="12958699" y="907161"/>
                  </a:lnTo>
                  <a:lnTo>
                    <a:pt x="0" y="907161"/>
                  </a:lnTo>
                  <a:close/>
                </a:path>
              </a:pathLst>
            </a:custGeom>
            <a:solidFill>
              <a:srgbClr val="FFFFFF">
                <a:alpha val="80784"/>
              </a:srgbClr>
            </a:solidFill>
          </p:spPr>
        </p:sp>
        <p:sp>
          <p:nvSpPr>
            <p:cNvPr name="Freeform 36" id="36"/>
            <p:cNvSpPr/>
            <p:nvPr/>
          </p:nvSpPr>
          <p:spPr>
            <a:xfrm flipH="false" flipV="false" rot="0">
              <a:off x="0" y="0"/>
              <a:ext cx="12971399" cy="919861"/>
            </a:xfrm>
            <a:custGeom>
              <a:avLst/>
              <a:gdLst/>
              <a:ahLst/>
              <a:cxnLst/>
              <a:rect r="r" b="b" t="t" l="l"/>
              <a:pathLst>
                <a:path h="919861" w="12971399">
                  <a:moveTo>
                    <a:pt x="6350" y="0"/>
                  </a:moveTo>
                  <a:lnTo>
                    <a:pt x="12965049" y="0"/>
                  </a:lnTo>
                  <a:cubicBezTo>
                    <a:pt x="12968605" y="0"/>
                    <a:pt x="12971399" y="2794"/>
                    <a:pt x="12971399" y="6350"/>
                  </a:cubicBezTo>
                  <a:lnTo>
                    <a:pt x="12971399" y="913511"/>
                  </a:lnTo>
                  <a:cubicBezTo>
                    <a:pt x="12971399" y="917067"/>
                    <a:pt x="12968605" y="919861"/>
                    <a:pt x="12965049" y="919861"/>
                  </a:cubicBezTo>
                  <a:lnTo>
                    <a:pt x="6350" y="919861"/>
                  </a:lnTo>
                  <a:cubicBezTo>
                    <a:pt x="2794" y="919861"/>
                    <a:pt x="0" y="917067"/>
                    <a:pt x="0" y="913511"/>
                  </a:cubicBezTo>
                  <a:lnTo>
                    <a:pt x="0" y="6350"/>
                  </a:lnTo>
                  <a:cubicBezTo>
                    <a:pt x="0" y="2794"/>
                    <a:pt x="2794" y="0"/>
                    <a:pt x="6350" y="0"/>
                  </a:cubicBezTo>
                  <a:moveTo>
                    <a:pt x="6350" y="12700"/>
                  </a:moveTo>
                  <a:lnTo>
                    <a:pt x="6350" y="6350"/>
                  </a:lnTo>
                  <a:lnTo>
                    <a:pt x="12700" y="6350"/>
                  </a:lnTo>
                  <a:lnTo>
                    <a:pt x="12700" y="913511"/>
                  </a:lnTo>
                  <a:lnTo>
                    <a:pt x="6350" y="913511"/>
                  </a:lnTo>
                  <a:lnTo>
                    <a:pt x="6350" y="907161"/>
                  </a:lnTo>
                  <a:lnTo>
                    <a:pt x="12965049" y="907161"/>
                  </a:lnTo>
                  <a:lnTo>
                    <a:pt x="12965049" y="913511"/>
                  </a:lnTo>
                  <a:lnTo>
                    <a:pt x="12958699" y="913511"/>
                  </a:lnTo>
                  <a:lnTo>
                    <a:pt x="12958699" y="6350"/>
                  </a:lnTo>
                  <a:lnTo>
                    <a:pt x="12965049" y="6350"/>
                  </a:lnTo>
                  <a:lnTo>
                    <a:pt x="12965049" y="12700"/>
                  </a:lnTo>
                  <a:lnTo>
                    <a:pt x="6350" y="12700"/>
                  </a:lnTo>
                  <a:close/>
                </a:path>
              </a:pathLst>
            </a:custGeom>
            <a:solidFill>
              <a:srgbClr val="C34D8B"/>
            </a:solidFill>
          </p:spPr>
        </p:sp>
      </p:grpSp>
      <p:grpSp>
        <p:nvGrpSpPr>
          <p:cNvPr name="Group 37" id="37"/>
          <p:cNvGrpSpPr/>
          <p:nvPr/>
        </p:nvGrpSpPr>
        <p:grpSpPr>
          <a:xfrm rot="0">
            <a:off x="8063427" y="5825037"/>
            <a:ext cx="6803323" cy="797040"/>
            <a:chOff x="0" y="0"/>
            <a:chExt cx="9071098" cy="1062720"/>
          </a:xfrm>
        </p:grpSpPr>
        <p:sp>
          <p:nvSpPr>
            <p:cNvPr name="Freeform 38" id="38"/>
            <p:cNvSpPr/>
            <p:nvPr/>
          </p:nvSpPr>
          <p:spPr>
            <a:xfrm flipH="false" flipV="false" rot="0">
              <a:off x="0" y="0"/>
              <a:ext cx="9071102" cy="1062736"/>
            </a:xfrm>
            <a:custGeom>
              <a:avLst/>
              <a:gdLst/>
              <a:ahLst/>
              <a:cxnLst/>
              <a:rect r="r" b="b" t="t" l="l"/>
              <a:pathLst>
                <a:path h="1062736" w="9071102">
                  <a:moveTo>
                    <a:pt x="0" y="177165"/>
                  </a:moveTo>
                  <a:cubicBezTo>
                    <a:pt x="0" y="79248"/>
                    <a:pt x="79248" y="0"/>
                    <a:pt x="177165" y="0"/>
                  </a:cubicBezTo>
                  <a:lnTo>
                    <a:pt x="8893937" y="0"/>
                  </a:lnTo>
                  <a:cubicBezTo>
                    <a:pt x="8991727" y="0"/>
                    <a:pt x="9071102" y="79248"/>
                    <a:pt x="9071102" y="177165"/>
                  </a:cubicBezTo>
                  <a:lnTo>
                    <a:pt x="9071102" y="885571"/>
                  </a:lnTo>
                  <a:cubicBezTo>
                    <a:pt x="9071102" y="983361"/>
                    <a:pt x="8991854" y="1062736"/>
                    <a:pt x="8893937" y="1062736"/>
                  </a:cubicBezTo>
                  <a:lnTo>
                    <a:pt x="177165" y="1062736"/>
                  </a:lnTo>
                  <a:cubicBezTo>
                    <a:pt x="79248" y="1062736"/>
                    <a:pt x="0" y="983361"/>
                    <a:pt x="0" y="885571"/>
                  </a:cubicBezTo>
                  <a:close/>
                </a:path>
              </a:pathLst>
            </a:custGeom>
            <a:gradFill rotWithShape="true">
              <a:gsLst>
                <a:gs pos="0">
                  <a:srgbClr val="CA6898">
                    <a:alpha val="100000"/>
                  </a:srgbClr>
                </a:gs>
                <a:gs pos="50000">
                  <a:srgbClr val="C9478B">
                    <a:alpha val="100000"/>
                  </a:srgbClr>
                </a:gs>
                <a:gs pos="100000">
                  <a:srgbClr val="B7397B">
                    <a:alpha val="100000"/>
                  </a:srgbClr>
                </a:gs>
              </a:gsLst>
              <a:lin ang="5400000"/>
            </a:gradFill>
          </p:spPr>
        </p:sp>
      </p:grpSp>
      <p:grpSp>
        <p:nvGrpSpPr>
          <p:cNvPr name="Group 39" id="39"/>
          <p:cNvGrpSpPr/>
          <p:nvPr/>
        </p:nvGrpSpPr>
        <p:grpSpPr>
          <a:xfrm rot="0">
            <a:off x="8097573" y="5859183"/>
            <a:ext cx="6735032" cy="728748"/>
            <a:chOff x="0" y="0"/>
            <a:chExt cx="8980042" cy="971664"/>
          </a:xfrm>
        </p:grpSpPr>
        <p:sp>
          <p:nvSpPr>
            <p:cNvPr name="Freeform 40" id="40"/>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1" id="41"/>
            <p:cNvGrpSpPr/>
            <p:nvPr/>
          </p:nvGrpSpPr>
          <p:grpSpPr>
            <a:xfrm rot="0">
              <a:off x="0" y="0"/>
              <a:ext cx="8980042" cy="971664"/>
              <a:chOff x="0" y="0"/>
              <a:chExt cx="8980042" cy="971664"/>
            </a:xfrm>
          </p:grpSpPr>
          <p:sp>
            <p:nvSpPr>
              <p:cNvPr name="Freeform 42" id="42"/>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close/>
                  </a:path>
                </a:pathLst>
              </a:custGeom>
              <a:solidFill>
                <a:srgbClr val="000000">
                  <a:alpha val="0"/>
                </a:srgbClr>
              </a:solidFill>
            </p:spPr>
          </p:sp>
          <p:sp>
            <p:nvSpPr>
              <p:cNvPr name="TextBox 43" id="43"/>
              <p:cNvSpPr txBox="true"/>
              <p:nvPr/>
            </p:nvSpPr>
            <p:spPr>
              <a:xfrm>
                <a:off x="0" y="9525"/>
                <a:ext cx="8980042" cy="962139"/>
              </a:xfrm>
              <a:prstGeom prst="rect">
                <a:avLst/>
              </a:prstGeom>
            </p:spPr>
            <p:txBody>
              <a:bodyPr anchor="ctr" rtlCol="false" tIns="0" lIns="0" bIns="0" rIns="0"/>
              <a:lstStyle/>
              <a:p>
                <a:pPr algn="l">
                  <a:lnSpc>
                    <a:spcPts val="2916"/>
                  </a:lnSpc>
                </a:pPr>
                <a:r>
                  <a:rPr lang="en-US" sz="2700">
                    <a:solidFill>
                      <a:srgbClr val="FFFFFF"/>
                    </a:solidFill>
                    <a:latin typeface="Arimo"/>
                    <a:ea typeface="Arimo"/>
                    <a:cs typeface="Arimo"/>
                    <a:sym typeface="Arimo"/>
                  </a:rPr>
                  <a:t>Beneficios de diagramas de clases</a:t>
                </a:r>
              </a:p>
            </p:txBody>
          </p:sp>
        </p:grpSp>
      </p:grpSp>
      <p:grpSp>
        <p:nvGrpSpPr>
          <p:cNvPr name="Group 44" id="44"/>
          <p:cNvGrpSpPr/>
          <p:nvPr/>
        </p:nvGrpSpPr>
        <p:grpSpPr>
          <a:xfrm rot="0">
            <a:off x="7572714" y="7443516"/>
            <a:ext cx="9728560" cy="689925"/>
            <a:chOff x="0" y="0"/>
            <a:chExt cx="12971414" cy="919900"/>
          </a:xfrm>
        </p:grpSpPr>
        <p:sp>
          <p:nvSpPr>
            <p:cNvPr name="Freeform 45" id="45"/>
            <p:cNvSpPr/>
            <p:nvPr/>
          </p:nvSpPr>
          <p:spPr>
            <a:xfrm flipH="false" flipV="false" rot="0">
              <a:off x="6350" y="6350"/>
              <a:ext cx="12958699" cy="907161"/>
            </a:xfrm>
            <a:custGeom>
              <a:avLst/>
              <a:gdLst/>
              <a:ahLst/>
              <a:cxnLst/>
              <a:rect r="r" b="b" t="t" l="l"/>
              <a:pathLst>
                <a:path h="907161" w="12958699">
                  <a:moveTo>
                    <a:pt x="0" y="0"/>
                  </a:moveTo>
                  <a:lnTo>
                    <a:pt x="12958699" y="0"/>
                  </a:lnTo>
                  <a:lnTo>
                    <a:pt x="12958699" y="907161"/>
                  </a:lnTo>
                  <a:lnTo>
                    <a:pt x="0" y="907161"/>
                  </a:lnTo>
                  <a:close/>
                </a:path>
              </a:pathLst>
            </a:custGeom>
            <a:solidFill>
              <a:srgbClr val="FFFFFF">
                <a:alpha val="80784"/>
              </a:srgbClr>
            </a:solidFill>
          </p:spPr>
        </p:sp>
        <p:sp>
          <p:nvSpPr>
            <p:cNvPr name="Freeform 46" id="46"/>
            <p:cNvSpPr/>
            <p:nvPr/>
          </p:nvSpPr>
          <p:spPr>
            <a:xfrm flipH="false" flipV="false" rot="0">
              <a:off x="0" y="0"/>
              <a:ext cx="12971399" cy="919861"/>
            </a:xfrm>
            <a:custGeom>
              <a:avLst/>
              <a:gdLst/>
              <a:ahLst/>
              <a:cxnLst/>
              <a:rect r="r" b="b" t="t" l="l"/>
              <a:pathLst>
                <a:path h="919861" w="12971399">
                  <a:moveTo>
                    <a:pt x="6350" y="0"/>
                  </a:moveTo>
                  <a:lnTo>
                    <a:pt x="12965049" y="0"/>
                  </a:lnTo>
                  <a:cubicBezTo>
                    <a:pt x="12968605" y="0"/>
                    <a:pt x="12971399" y="2794"/>
                    <a:pt x="12971399" y="6350"/>
                  </a:cubicBezTo>
                  <a:lnTo>
                    <a:pt x="12971399" y="913511"/>
                  </a:lnTo>
                  <a:cubicBezTo>
                    <a:pt x="12971399" y="917067"/>
                    <a:pt x="12968605" y="919861"/>
                    <a:pt x="12965049" y="919861"/>
                  </a:cubicBezTo>
                  <a:lnTo>
                    <a:pt x="6350" y="919861"/>
                  </a:lnTo>
                  <a:cubicBezTo>
                    <a:pt x="2794" y="919861"/>
                    <a:pt x="0" y="917067"/>
                    <a:pt x="0" y="913511"/>
                  </a:cubicBezTo>
                  <a:lnTo>
                    <a:pt x="0" y="6350"/>
                  </a:lnTo>
                  <a:cubicBezTo>
                    <a:pt x="0" y="2794"/>
                    <a:pt x="2794" y="0"/>
                    <a:pt x="6350" y="0"/>
                  </a:cubicBezTo>
                  <a:moveTo>
                    <a:pt x="6350" y="12700"/>
                  </a:moveTo>
                  <a:lnTo>
                    <a:pt x="6350" y="6350"/>
                  </a:lnTo>
                  <a:lnTo>
                    <a:pt x="12700" y="6350"/>
                  </a:lnTo>
                  <a:lnTo>
                    <a:pt x="12700" y="913511"/>
                  </a:lnTo>
                  <a:lnTo>
                    <a:pt x="6350" y="913511"/>
                  </a:lnTo>
                  <a:lnTo>
                    <a:pt x="6350" y="907161"/>
                  </a:lnTo>
                  <a:lnTo>
                    <a:pt x="12965049" y="907161"/>
                  </a:lnTo>
                  <a:lnTo>
                    <a:pt x="12965049" y="913511"/>
                  </a:lnTo>
                  <a:lnTo>
                    <a:pt x="12958699" y="913511"/>
                  </a:lnTo>
                  <a:lnTo>
                    <a:pt x="12958699" y="6350"/>
                  </a:lnTo>
                  <a:lnTo>
                    <a:pt x="12965049" y="6350"/>
                  </a:lnTo>
                  <a:lnTo>
                    <a:pt x="12965049" y="12700"/>
                  </a:lnTo>
                  <a:lnTo>
                    <a:pt x="6350" y="12700"/>
                  </a:lnTo>
                  <a:close/>
                </a:path>
              </a:pathLst>
            </a:custGeom>
            <a:solidFill>
              <a:srgbClr val="B13B48"/>
            </a:solidFill>
          </p:spPr>
        </p:sp>
      </p:grpSp>
      <p:grpSp>
        <p:nvGrpSpPr>
          <p:cNvPr name="Group 47" id="47"/>
          <p:cNvGrpSpPr/>
          <p:nvPr/>
        </p:nvGrpSpPr>
        <p:grpSpPr>
          <a:xfrm rot="0">
            <a:off x="8063427" y="7049758"/>
            <a:ext cx="6803323" cy="797040"/>
            <a:chOff x="0" y="0"/>
            <a:chExt cx="9071098" cy="1062720"/>
          </a:xfrm>
        </p:grpSpPr>
        <p:sp>
          <p:nvSpPr>
            <p:cNvPr name="Freeform 48" id="48"/>
            <p:cNvSpPr/>
            <p:nvPr/>
          </p:nvSpPr>
          <p:spPr>
            <a:xfrm flipH="false" flipV="false" rot="0">
              <a:off x="0" y="0"/>
              <a:ext cx="9071102" cy="1062736"/>
            </a:xfrm>
            <a:custGeom>
              <a:avLst/>
              <a:gdLst/>
              <a:ahLst/>
              <a:cxnLst/>
              <a:rect r="r" b="b" t="t" l="l"/>
              <a:pathLst>
                <a:path h="1062736" w="9071102">
                  <a:moveTo>
                    <a:pt x="0" y="177165"/>
                  </a:moveTo>
                  <a:cubicBezTo>
                    <a:pt x="0" y="79248"/>
                    <a:pt x="79248" y="0"/>
                    <a:pt x="177165" y="0"/>
                  </a:cubicBezTo>
                  <a:lnTo>
                    <a:pt x="8893937" y="0"/>
                  </a:lnTo>
                  <a:cubicBezTo>
                    <a:pt x="8991727" y="0"/>
                    <a:pt x="9071102" y="79248"/>
                    <a:pt x="9071102" y="177165"/>
                  </a:cubicBezTo>
                  <a:lnTo>
                    <a:pt x="9071102" y="885571"/>
                  </a:lnTo>
                  <a:cubicBezTo>
                    <a:pt x="9071102" y="983361"/>
                    <a:pt x="8991854" y="1062736"/>
                    <a:pt x="8893937" y="1062736"/>
                  </a:cubicBezTo>
                  <a:lnTo>
                    <a:pt x="177165" y="1062736"/>
                  </a:lnTo>
                  <a:cubicBezTo>
                    <a:pt x="79248" y="1062736"/>
                    <a:pt x="0" y="983361"/>
                    <a:pt x="0" y="885571"/>
                  </a:cubicBezTo>
                  <a:close/>
                </a:path>
              </a:pathLst>
            </a:custGeom>
            <a:gradFill rotWithShape="true">
              <a:gsLst>
                <a:gs pos="0">
                  <a:srgbClr val="BA5C64">
                    <a:alpha val="100000"/>
                  </a:srgbClr>
                </a:gs>
                <a:gs pos="50000">
                  <a:srgbClr val="B73543">
                    <a:alpha val="100000"/>
                  </a:srgbClr>
                </a:gs>
                <a:gs pos="100000">
                  <a:srgbClr val="A72937">
                    <a:alpha val="100000"/>
                  </a:srgbClr>
                </a:gs>
              </a:gsLst>
              <a:lin ang="5400000"/>
            </a:gradFill>
          </p:spPr>
        </p:sp>
      </p:grpSp>
      <p:grpSp>
        <p:nvGrpSpPr>
          <p:cNvPr name="Group 49" id="49"/>
          <p:cNvGrpSpPr/>
          <p:nvPr/>
        </p:nvGrpSpPr>
        <p:grpSpPr>
          <a:xfrm rot="0">
            <a:off x="8097573" y="7083905"/>
            <a:ext cx="6735032" cy="728748"/>
            <a:chOff x="0" y="0"/>
            <a:chExt cx="8980042" cy="971664"/>
          </a:xfrm>
        </p:grpSpPr>
        <p:sp>
          <p:nvSpPr>
            <p:cNvPr name="Freeform 50" id="50"/>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1" id="51"/>
            <p:cNvGrpSpPr/>
            <p:nvPr/>
          </p:nvGrpSpPr>
          <p:grpSpPr>
            <a:xfrm rot="0">
              <a:off x="0" y="0"/>
              <a:ext cx="8980042" cy="971664"/>
              <a:chOff x="0" y="0"/>
              <a:chExt cx="8980042" cy="971664"/>
            </a:xfrm>
          </p:grpSpPr>
          <p:sp>
            <p:nvSpPr>
              <p:cNvPr name="Freeform 52" id="52"/>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close/>
                  </a:path>
                </a:pathLst>
              </a:custGeom>
              <a:solidFill>
                <a:srgbClr val="000000">
                  <a:alpha val="0"/>
                </a:srgbClr>
              </a:solidFill>
            </p:spPr>
          </p:sp>
          <p:sp>
            <p:nvSpPr>
              <p:cNvPr name="TextBox 53" id="53"/>
              <p:cNvSpPr txBox="true"/>
              <p:nvPr/>
            </p:nvSpPr>
            <p:spPr>
              <a:xfrm>
                <a:off x="0" y="9525"/>
                <a:ext cx="8980042" cy="962139"/>
              </a:xfrm>
              <a:prstGeom prst="rect">
                <a:avLst/>
              </a:prstGeom>
            </p:spPr>
            <p:txBody>
              <a:bodyPr anchor="ctr" rtlCol="false" tIns="0" lIns="0" bIns="0" rIns="0"/>
              <a:lstStyle/>
              <a:p>
                <a:pPr algn="l">
                  <a:lnSpc>
                    <a:spcPts val="2916"/>
                  </a:lnSpc>
                </a:pPr>
                <a:r>
                  <a:rPr lang="en-US" sz="2700">
                    <a:solidFill>
                      <a:srgbClr val="FFFFFF"/>
                    </a:solidFill>
                    <a:latin typeface="Arimo"/>
                    <a:ea typeface="Arimo"/>
                    <a:cs typeface="Arimo"/>
                    <a:sym typeface="Arimo"/>
                  </a:rPr>
                  <a:t>Componentes básicos</a:t>
                </a:r>
              </a:p>
            </p:txBody>
          </p:sp>
        </p:grpSp>
      </p:grpSp>
      <p:grpSp>
        <p:nvGrpSpPr>
          <p:cNvPr name="Group 54" id="54"/>
          <p:cNvGrpSpPr/>
          <p:nvPr/>
        </p:nvGrpSpPr>
        <p:grpSpPr>
          <a:xfrm rot="0">
            <a:off x="7572714" y="8668236"/>
            <a:ext cx="9728560" cy="689925"/>
            <a:chOff x="0" y="0"/>
            <a:chExt cx="12971414" cy="919900"/>
          </a:xfrm>
        </p:grpSpPr>
        <p:sp>
          <p:nvSpPr>
            <p:cNvPr name="Freeform 55" id="55"/>
            <p:cNvSpPr/>
            <p:nvPr/>
          </p:nvSpPr>
          <p:spPr>
            <a:xfrm flipH="false" flipV="false" rot="0">
              <a:off x="6350" y="6350"/>
              <a:ext cx="12958699" cy="907161"/>
            </a:xfrm>
            <a:custGeom>
              <a:avLst/>
              <a:gdLst/>
              <a:ahLst/>
              <a:cxnLst/>
              <a:rect r="r" b="b" t="t" l="l"/>
              <a:pathLst>
                <a:path h="907161" w="12958699">
                  <a:moveTo>
                    <a:pt x="0" y="0"/>
                  </a:moveTo>
                  <a:lnTo>
                    <a:pt x="12958699" y="0"/>
                  </a:lnTo>
                  <a:lnTo>
                    <a:pt x="12958699" y="907161"/>
                  </a:lnTo>
                  <a:lnTo>
                    <a:pt x="0" y="907161"/>
                  </a:lnTo>
                  <a:close/>
                </a:path>
              </a:pathLst>
            </a:custGeom>
            <a:solidFill>
              <a:srgbClr val="FFFFFF">
                <a:alpha val="80784"/>
              </a:srgbClr>
            </a:solidFill>
          </p:spPr>
        </p:sp>
        <p:sp>
          <p:nvSpPr>
            <p:cNvPr name="Freeform 56" id="56"/>
            <p:cNvSpPr/>
            <p:nvPr/>
          </p:nvSpPr>
          <p:spPr>
            <a:xfrm flipH="false" flipV="false" rot="0">
              <a:off x="0" y="0"/>
              <a:ext cx="12971399" cy="919861"/>
            </a:xfrm>
            <a:custGeom>
              <a:avLst/>
              <a:gdLst/>
              <a:ahLst/>
              <a:cxnLst/>
              <a:rect r="r" b="b" t="t" l="l"/>
              <a:pathLst>
                <a:path h="919861" w="12971399">
                  <a:moveTo>
                    <a:pt x="6350" y="0"/>
                  </a:moveTo>
                  <a:lnTo>
                    <a:pt x="12965049" y="0"/>
                  </a:lnTo>
                  <a:cubicBezTo>
                    <a:pt x="12968605" y="0"/>
                    <a:pt x="12971399" y="2794"/>
                    <a:pt x="12971399" y="6350"/>
                  </a:cubicBezTo>
                  <a:lnTo>
                    <a:pt x="12971399" y="913511"/>
                  </a:lnTo>
                  <a:cubicBezTo>
                    <a:pt x="12971399" y="917067"/>
                    <a:pt x="12968605" y="919861"/>
                    <a:pt x="12965049" y="919861"/>
                  </a:cubicBezTo>
                  <a:lnTo>
                    <a:pt x="6350" y="919861"/>
                  </a:lnTo>
                  <a:cubicBezTo>
                    <a:pt x="2794" y="919861"/>
                    <a:pt x="0" y="917067"/>
                    <a:pt x="0" y="913511"/>
                  </a:cubicBezTo>
                  <a:lnTo>
                    <a:pt x="0" y="6350"/>
                  </a:lnTo>
                  <a:cubicBezTo>
                    <a:pt x="0" y="2794"/>
                    <a:pt x="2794" y="0"/>
                    <a:pt x="6350" y="0"/>
                  </a:cubicBezTo>
                  <a:moveTo>
                    <a:pt x="6350" y="12700"/>
                  </a:moveTo>
                  <a:lnTo>
                    <a:pt x="6350" y="6350"/>
                  </a:lnTo>
                  <a:lnTo>
                    <a:pt x="12700" y="6350"/>
                  </a:lnTo>
                  <a:lnTo>
                    <a:pt x="12700" y="913511"/>
                  </a:lnTo>
                  <a:lnTo>
                    <a:pt x="6350" y="913511"/>
                  </a:lnTo>
                  <a:lnTo>
                    <a:pt x="6350" y="907161"/>
                  </a:lnTo>
                  <a:lnTo>
                    <a:pt x="12965049" y="907161"/>
                  </a:lnTo>
                  <a:lnTo>
                    <a:pt x="12965049" y="913511"/>
                  </a:lnTo>
                  <a:lnTo>
                    <a:pt x="12958699" y="913511"/>
                  </a:lnTo>
                  <a:lnTo>
                    <a:pt x="12958699" y="6350"/>
                  </a:lnTo>
                  <a:lnTo>
                    <a:pt x="12965049" y="6350"/>
                  </a:lnTo>
                  <a:lnTo>
                    <a:pt x="12965049" y="12700"/>
                  </a:lnTo>
                  <a:lnTo>
                    <a:pt x="6350" y="12700"/>
                  </a:lnTo>
                  <a:close/>
                </a:path>
              </a:pathLst>
            </a:custGeom>
            <a:solidFill>
              <a:srgbClr val="553BB1"/>
            </a:solidFill>
          </p:spPr>
        </p:sp>
      </p:grpSp>
      <p:grpSp>
        <p:nvGrpSpPr>
          <p:cNvPr name="Group 57" id="57"/>
          <p:cNvGrpSpPr/>
          <p:nvPr/>
        </p:nvGrpSpPr>
        <p:grpSpPr>
          <a:xfrm rot="0">
            <a:off x="8063427" y="8274478"/>
            <a:ext cx="6803323" cy="797040"/>
            <a:chOff x="0" y="0"/>
            <a:chExt cx="9071098" cy="1062720"/>
          </a:xfrm>
        </p:grpSpPr>
        <p:sp>
          <p:nvSpPr>
            <p:cNvPr name="Freeform 58" id="58"/>
            <p:cNvSpPr/>
            <p:nvPr/>
          </p:nvSpPr>
          <p:spPr>
            <a:xfrm flipH="false" flipV="false" rot="0">
              <a:off x="0" y="0"/>
              <a:ext cx="9071102" cy="1062736"/>
            </a:xfrm>
            <a:custGeom>
              <a:avLst/>
              <a:gdLst/>
              <a:ahLst/>
              <a:cxnLst/>
              <a:rect r="r" b="b" t="t" l="l"/>
              <a:pathLst>
                <a:path h="1062736" w="9071102">
                  <a:moveTo>
                    <a:pt x="0" y="177165"/>
                  </a:moveTo>
                  <a:cubicBezTo>
                    <a:pt x="0" y="79248"/>
                    <a:pt x="79248" y="0"/>
                    <a:pt x="177165" y="0"/>
                  </a:cubicBezTo>
                  <a:lnTo>
                    <a:pt x="8893937" y="0"/>
                  </a:lnTo>
                  <a:cubicBezTo>
                    <a:pt x="8991727" y="0"/>
                    <a:pt x="9071102" y="79248"/>
                    <a:pt x="9071102" y="177165"/>
                  </a:cubicBezTo>
                  <a:lnTo>
                    <a:pt x="9071102" y="885571"/>
                  </a:lnTo>
                  <a:cubicBezTo>
                    <a:pt x="9071102" y="983361"/>
                    <a:pt x="8991854" y="1062736"/>
                    <a:pt x="8893937" y="1062736"/>
                  </a:cubicBezTo>
                  <a:lnTo>
                    <a:pt x="177165" y="1062736"/>
                  </a:lnTo>
                  <a:cubicBezTo>
                    <a:pt x="79248" y="1062736"/>
                    <a:pt x="0" y="983361"/>
                    <a:pt x="0" y="885571"/>
                  </a:cubicBezTo>
                  <a:close/>
                </a:path>
              </a:pathLst>
            </a:custGeom>
            <a:gradFill rotWithShape="true">
              <a:gsLst>
                <a:gs pos="0">
                  <a:srgbClr val="6D5CBA">
                    <a:alpha val="100000"/>
                  </a:srgbClr>
                </a:gs>
                <a:gs pos="50000">
                  <a:srgbClr val="5235B7">
                    <a:alpha val="100000"/>
                  </a:srgbClr>
                </a:gs>
                <a:gs pos="100000">
                  <a:srgbClr val="4529A7">
                    <a:alpha val="100000"/>
                  </a:srgbClr>
                </a:gs>
              </a:gsLst>
              <a:lin ang="5400000"/>
            </a:gradFill>
          </p:spPr>
        </p:sp>
      </p:grpSp>
      <p:grpSp>
        <p:nvGrpSpPr>
          <p:cNvPr name="Group 59" id="59"/>
          <p:cNvGrpSpPr/>
          <p:nvPr/>
        </p:nvGrpSpPr>
        <p:grpSpPr>
          <a:xfrm rot="0">
            <a:off x="8097573" y="8308624"/>
            <a:ext cx="6735032" cy="728748"/>
            <a:chOff x="0" y="0"/>
            <a:chExt cx="8980042" cy="971664"/>
          </a:xfrm>
        </p:grpSpPr>
        <p:sp>
          <p:nvSpPr>
            <p:cNvPr name="Freeform 60" id="60"/>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1" id="61"/>
            <p:cNvGrpSpPr/>
            <p:nvPr/>
          </p:nvGrpSpPr>
          <p:grpSpPr>
            <a:xfrm rot="0">
              <a:off x="0" y="0"/>
              <a:ext cx="8980042" cy="971664"/>
              <a:chOff x="0" y="0"/>
              <a:chExt cx="8980042" cy="971664"/>
            </a:xfrm>
          </p:grpSpPr>
          <p:sp>
            <p:nvSpPr>
              <p:cNvPr name="Freeform 62" id="62"/>
              <p:cNvSpPr/>
              <p:nvPr/>
            </p:nvSpPr>
            <p:spPr>
              <a:xfrm flipH="false" flipV="false" rot="0">
                <a:off x="0" y="0"/>
                <a:ext cx="8980042" cy="971664"/>
              </a:xfrm>
              <a:custGeom>
                <a:avLst/>
                <a:gdLst/>
                <a:ahLst/>
                <a:cxnLst/>
                <a:rect r="r" b="b" t="t" l="l"/>
                <a:pathLst>
                  <a:path h="971664" w="8980042">
                    <a:moveTo>
                      <a:pt x="0" y="0"/>
                    </a:moveTo>
                    <a:lnTo>
                      <a:pt x="8980042" y="0"/>
                    </a:lnTo>
                    <a:lnTo>
                      <a:pt x="8980042" y="971664"/>
                    </a:lnTo>
                    <a:lnTo>
                      <a:pt x="0" y="971664"/>
                    </a:lnTo>
                    <a:close/>
                  </a:path>
                </a:pathLst>
              </a:custGeom>
              <a:solidFill>
                <a:srgbClr val="000000">
                  <a:alpha val="0"/>
                </a:srgbClr>
              </a:solidFill>
            </p:spPr>
          </p:sp>
          <p:sp>
            <p:nvSpPr>
              <p:cNvPr name="TextBox 63" id="63"/>
              <p:cNvSpPr txBox="true"/>
              <p:nvPr/>
            </p:nvSpPr>
            <p:spPr>
              <a:xfrm>
                <a:off x="0" y="9525"/>
                <a:ext cx="8980042" cy="962139"/>
              </a:xfrm>
              <a:prstGeom prst="rect">
                <a:avLst/>
              </a:prstGeom>
            </p:spPr>
            <p:txBody>
              <a:bodyPr anchor="ctr" rtlCol="false" tIns="0" lIns="0" bIns="0" rIns="0"/>
              <a:lstStyle/>
              <a:p>
                <a:pPr algn="l">
                  <a:lnSpc>
                    <a:spcPts val="2916"/>
                  </a:lnSpc>
                </a:pPr>
                <a:r>
                  <a:rPr lang="en-US" sz="2700">
                    <a:solidFill>
                      <a:srgbClr val="FFFFFF"/>
                    </a:solidFill>
                    <a:latin typeface="Arimo"/>
                    <a:ea typeface="Arimo"/>
                    <a:cs typeface="Arimo"/>
                    <a:sym typeface="Arimo"/>
                  </a:rPr>
                  <a:t>Modificadores de acceso</a:t>
                </a:r>
              </a:p>
            </p:txBody>
          </p:sp>
        </p:gr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8781164" y="1789747"/>
            <a:ext cx="8423908" cy="2228850"/>
          </a:xfrm>
          <a:prstGeom prst="rect">
            <a:avLst/>
          </a:prstGeom>
        </p:spPr>
        <p:txBody>
          <a:bodyPr anchor="t" rtlCol="false" tIns="0" lIns="0" bIns="0" rIns="0">
            <a:spAutoFit/>
          </a:bodyPr>
          <a:lstStyle/>
          <a:p>
            <a:pPr algn="l" marL="0" indent="0" lvl="0">
              <a:lnSpc>
                <a:spcPts val="17250"/>
              </a:lnSpc>
              <a:spcBef>
                <a:spcPct val="0"/>
              </a:spcBef>
            </a:pPr>
            <a:r>
              <a:rPr lang="en-US" sz="15000" strike="noStrike" u="none">
                <a:solidFill>
                  <a:srgbClr val="131416"/>
                </a:solidFill>
                <a:latin typeface="Playlist Script"/>
                <a:ea typeface="Playlist Script"/>
                <a:cs typeface="Playlist Script"/>
                <a:sym typeface="Playlist Script"/>
              </a:rPr>
              <a:t>¿Qué es?</a:t>
            </a:r>
          </a:p>
        </p:txBody>
      </p:sp>
      <p:sp>
        <p:nvSpPr>
          <p:cNvPr name="TextBox 4" id="4"/>
          <p:cNvSpPr txBox="true"/>
          <p:nvPr/>
        </p:nvSpPr>
        <p:spPr>
          <a:xfrm rot="0">
            <a:off x="8781164" y="3909849"/>
            <a:ext cx="8423910" cy="5494755"/>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El Lenguaje Unificado de Modelado (UML) fue creado para forjar un lenguaje de modelado visual común y semántica y sintácticamente rico para la arquitectura, el diseño y la implementación de sistemas de software complejos, tanto en estructura como en comportamiento. UML tiene aplicaciones más allá del desarrollo de software, p. ej., en el flujo de procesos en la fabricación.</a:t>
            </a:r>
          </a:p>
        </p:txBody>
      </p:sp>
      <p:sp>
        <p:nvSpPr>
          <p:cNvPr name="Freeform 5" id="5"/>
          <p:cNvSpPr/>
          <p:nvPr/>
        </p:nvSpPr>
        <p:spPr>
          <a:xfrm flipH="false" flipV="false" rot="0">
            <a:off x="1069848" y="3993930"/>
            <a:ext cx="6515100" cy="5456394"/>
          </a:xfrm>
          <a:custGeom>
            <a:avLst/>
            <a:gdLst/>
            <a:ahLst/>
            <a:cxnLst/>
            <a:rect r="r" b="b" t="t" l="l"/>
            <a:pathLst>
              <a:path h="5456394" w="6515100">
                <a:moveTo>
                  <a:pt x="0" y="0"/>
                </a:moveTo>
                <a:lnTo>
                  <a:pt x="6515100" y="0"/>
                </a:lnTo>
                <a:lnTo>
                  <a:pt x="6515100" y="5456394"/>
                </a:lnTo>
                <a:lnTo>
                  <a:pt x="0" y="5456394"/>
                </a:lnTo>
                <a:lnTo>
                  <a:pt x="0" y="0"/>
                </a:lnTo>
                <a:close/>
              </a:path>
            </a:pathLst>
          </a:custGeom>
          <a:blipFill>
            <a:blip r:embed="rId2"/>
            <a:stretch>
              <a:fillRect l="-47" t="0" r="-47" b="0"/>
            </a:stretch>
          </a:blipFill>
        </p:spPr>
      </p:sp>
      <p:sp>
        <p:nvSpPr>
          <p:cNvPr name="AutoShape 6" id="6"/>
          <p:cNvSpPr/>
          <p:nvPr/>
        </p:nvSpPr>
        <p:spPr>
          <a:xfrm rot="247854">
            <a:off x="8740240" y="1517926"/>
            <a:ext cx="1586715"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1789747"/>
            <a:ext cx="13851979" cy="2228850"/>
          </a:xfrm>
          <a:prstGeom prst="rect">
            <a:avLst/>
          </a:prstGeom>
        </p:spPr>
        <p:txBody>
          <a:bodyPr anchor="t" rtlCol="false" tIns="0" lIns="0" bIns="0" rIns="0">
            <a:spAutoFit/>
          </a:bodyPr>
          <a:lstStyle/>
          <a:p>
            <a:pPr algn="l" marL="0" indent="0" lvl="0">
              <a:lnSpc>
                <a:spcPts val="17250"/>
              </a:lnSpc>
              <a:spcBef>
                <a:spcPct val="0"/>
              </a:spcBef>
            </a:pPr>
            <a:r>
              <a:rPr lang="en-US" sz="15000" strike="noStrike" u="none">
                <a:solidFill>
                  <a:srgbClr val="131416"/>
                </a:solidFill>
                <a:latin typeface="Playlist Script"/>
                <a:ea typeface="Playlist Script"/>
                <a:cs typeface="Playlist Script"/>
                <a:sym typeface="Playlist Script"/>
              </a:rPr>
              <a:t>Tipos de Diagramas</a:t>
            </a:r>
          </a:p>
        </p:txBody>
      </p:sp>
      <p:sp>
        <p:nvSpPr>
          <p:cNvPr name="TextBox 4" id="4"/>
          <p:cNvSpPr txBox="true"/>
          <p:nvPr/>
        </p:nvSpPr>
        <p:spPr>
          <a:xfrm rot="0">
            <a:off x="1051560" y="3909849"/>
            <a:ext cx="8423910" cy="5494755"/>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UML usa elementos y los asocia de diferentes formas para formar diagramas que representan aspectos estáticos o estructurales de un sistema, y diagramas de comportamiento, que captan los aspectos dinámicos de un sistema.</a:t>
            </a:r>
          </a:p>
        </p:txBody>
      </p:sp>
      <p:sp>
        <p:nvSpPr>
          <p:cNvPr name="AutoShape 5" id="5"/>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6" id="6" descr="Diagrama de flujo"/>
          <p:cNvSpPr/>
          <p:nvPr/>
        </p:nvSpPr>
        <p:spPr>
          <a:xfrm flipH="false" flipV="false" rot="0">
            <a:off x="10732768" y="2886579"/>
            <a:ext cx="6563744" cy="6563744"/>
          </a:xfrm>
          <a:custGeom>
            <a:avLst/>
            <a:gdLst/>
            <a:ahLst/>
            <a:cxnLst/>
            <a:rect r="r" b="b" t="t" l="l"/>
            <a:pathLst>
              <a:path h="6563744" w="6563744">
                <a:moveTo>
                  <a:pt x="0" y="0"/>
                </a:moveTo>
                <a:lnTo>
                  <a:pt x="6563744" y="0"/>
                </a:lnTo>
                <a:lnTo>
                  <a:pt x="6563744" y="6563744"/>
                </a:lnTo>
                <a:lnTo>
                  <a:pt x="0" y="6563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1030758" y="504419"/>
            <a:ext cx="1582593" cy="114300"/>
          </a:xfrm>
          <a:prstGeom prst="line">
            <a:avLst/>
          </a:prstGeom>
          <a:ln cap="rnd" w="57150">
            <a:solidFill>
              <a:srgbClr val="4D64C3"/>
            </a:solidFill>
            <a:prstDash val="solid"/>
            <a:headEnd type="none" len="sm" w="sm"/>
            <a:tailEnd type="none" len="sm" w="sm"/>
          </a:ln>
        </p:spPr>
      </p:sp>
      <p:sp>
        <p:nvSpPr>
          <p:cNvPr name="AutoShape 3" id="3"/>
          <p:cNvSpPr/>
          <p:nvPr/>
        </p:nvSpPr>
        <p:spPr>
          <a:xfrm rot="-58301">
            <a:off x="11604067" y="9378698"/>
            <a:ext cx="6740097" cy="0"/>
          </a:xfrm>
          <a:prstGeom prst="line">
            <a:avLst/>
          </a:prstGeom>
          <a:ln cap="rnd" w="57150">
            <a:solidFill>
              <a:srgbClr val="4D64C3"/>
            </a:solidFill>
            <a:prstDash val="solid"/>
            <a:headEnd type="none" len="sm" w="sm"/>
            <a:tailEnd type="none" len="sm" w="sm"/>
          </a:ln>
        </p:spPr>
      </p:sp>
      <p:sp>
        <p:nvSpPr>
          <p:cNvPr name="TextBox 4" id="4"/>
          <p:cNvSpPr txBox="true"/>
          <p:nvPr/>
        </p:nvSpPr>
        <p:spPr>
          <a:xfrm rot="0">
            <a:off x="1030758" y="1076325"/>
            <a:ext cx="16564713" cy="2228850"/>
          </a:xfrm>
          <a:prstGeom prst="rect">
            <a:avLst/>
          </a:prstGeom>
        </p:spPr>
        <p:txBody>
          <a:bodyPr anchor="t" rtlCol="false" tIns="0" lIns="0" bIns="0" rIns="0">
            <a:spAutoFit/>
          </a:bodyPr>
          <a:lstStyle/>
          <a:p>
            <a:pPr algn="l" marL="0" indent="0" lvl="0">
              <a:lnSpc>
                <a:spcPts val="17250"/>
              </a:lnSpc>
              <a:spcBef>
                <a:spcPct val="0"/>
              </a:spcBef>
            </a:pPr>
            <a:r>
              <a:rPr lang="en-US" sz="15000" strike="noStrike" u="none">
                <a:solidFill>
                  <a:srgbClr val="131416"/>
                </a:solidFill>
                <a:latin typeface="Playlist Script"/>
                <a:ea typeface="Playlist Script"/>
                <a:cs typeface="Playlist Script"/>
                <a:sym typeface="Playlist Script"/>
              </a:rPr>
              <a:t>Tipos de Diagramas</a:t>
            </a:r>
          </a:p>
        </p:txBody>
      </p:sp>
      <p:grpSp>
        <p:nvGrpSpPr>
          <p:cNvPr name="Group 5" id="5"/>
          <p:cNvGrpSpPr/>
          <p:nvPr/>
        </p:nvGrpSpPr>
        <p:grpSpPr>
          <a:xfrm rot="5400000">
            <a:off x="623797" y="4449998"/>
            <a:ext cx="1498994" cy="181176"/>
            <a:chOff x="0" y="0"/>
            <a:chExt cx="1998658" cy="241568"/>
          </a:xfrm>
        </p:grpSpPr>
        <p:sp>
          <p:nvSpPr>
            <p:cNvPr name="Freeform 6" id="6"/>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6D5CBA">
                    <a:alpha val="100000"/>
                  </a:srgbClr>
                </a:gs>
                <a:gs pos="50000">
                  <a:srgbClr val="5235B7">
                    <a:alpha val="100000"/>
                  </a:srgbClr>
                </a:gs>
                <a:gs pos="100000">
                  <a:srgbClr val="4529A7">
                    <a:alpha val="100000"/>
                  </a:srgbClr>
                </a:gs>
              </a:gsLst>
              <a:lin ang="0"/>
            </a:gradFill>
          </p:spPr>
        </p:sp>
      </p:grpSp>
      <p:grpSp>
        <p:nvGrpSpPr>
          <p:cNvPr name="Group 7" id="7"/>
          <p:cNvGrpSpPr/>
          <p:nvPr/>
        </p:nvGrpSpPr>
        <p:grpSpPr>
          <a:xfrm rot="0">
            <a:off x="965273" y="3488384"/>
            <a:ext cx="2013072" cy="1207842"/>
            <a:chOff x="0" y="0"/>
            <a:chExt cx="2684096" cy="1610456"/>
          </a:xfrm>
        </p:grpSpPr>
        <p:sp>
          <p:nvSpPr>
            <p:cNvPr name="Freeform 8" id="8"/>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6D5CBA">
                    <a:alpha val="100000"/>
                  </a:srgbClr>
                </a:gs>
                <a:gs pos="50000">
                  <a:srgbClr val="5235B7">
                    <a:alpha val="100000"/>
                  </a:srgbClr>
                </a:gs>
                <a:gs pos="100000">
                  <a:srgbClr val="4529A7">
                    <a:alpha val="100000"/>
                  </a:srgbClr>
                </a:gs>
              </a:gsLst>
              <a:lin ang="5400000"/>
            </a:gradFill>
          </p:spPr>
        </p:sp>
      </p:grpSp>
      <p:grpSp>
        <p:nvGrpSpPr>
          <p:cNvPr name="Group 9" id="9"/>
          <p:cNvGrpSpPr/>
          <p:nvPr/>
        </p:nvGrpSpPr>
        <p:grpSpPr>
          <a:xfrm rot="0">
            <a:off x="995886" y="3518997"/>
            <a:ext cx="1951845" cy="1146615"/>
            <a:chOff x="0" y="0"/>
            <a:chExt cx="2602460" cy="1528820"/>
          </a:xfrm>
        </p:grpSpPr>
        <p:sp>
          <p:nvSpPr>
            <p:cNvPr name="Freeform 10" id="10"/>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0" y="0"/>
              <a:ext cx="2602460" cy="1528820"/>
              <a:chOff x="0" y="0"/>
              <a:chExt cx="2602460" cy="1528820"/>
            </a:xfrm>
          </p:grpSpPr>
          <p:sp>
            <p:nvSpPr>
              <p:cNvPr name="Freeform 12" id="12"/>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13" id="13"/>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clases</a:t>
                </a:r>
              </a:p>
            </p:txBody>
          </p:sp>
        </p:grpSp>
      </p:grpSp>
      <p:grpSp>
        <p:nvGrpSpPr>
          <p:cNvPr name="Group 14" id="14"/>
          <p:cNvGrpSpPr/>
          <p:nvPr/>
        </p:nvGrpSpPr>
        <p:grpSpPr>
          <a:xfrm rot="5400000">
            <a:off x="623798" y="5959801"/>
            <a:ext cx="1498994" cy="181176"/>
            <a:chOff x="0" y="0"/>
            <a:chExt cx="1998658" cy="241568"/>
          </a:xfrm>
        </p:grpSpPr>
        <p:sp>
          <p:nvSpPr>
            <p:cNvPr name="Freeform 15" id="15"/>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A468CA">
                    <a:alpha val="100000"/>
                  </a:srgbClr>
                </a:gs>
                <a:gs pos="50000">
                  <a:srgbClr val="9A47C9">
                    <a:alpha val="100000"/>
                  </a:srgbClr>
                </a:gs>
                <a:gs pos="100000">
                  <a:srgbClr val="8939B7">
                    <a:alpha val="100000"/>
                  </a:srgbClr>
                </a:gs>
              </a:gsLst>
              <a:lin ang="0"/>
            </a:gradFill>
          </p:spPr>
        </p:sp>
      </p:grpSp>
      <p:grpSp>
        <p:nvGrpSpPr>
          <p:cNvPr name="Group 16" id="16"/>
          <p:cNvGrpSpPr/>
          <p:nvPr/>
        </p:nvGrpSpPr>
        <p:grpSpPr>
          <a:xfrm rot="0">
            <a:off x="965273" y="4998187"/>
            <a:ext cx="2013072" cy="1207842"/>
            <a:chOff x="0" y="0"/>
            <a:chExt cx="2684096" cy="1610456"/>
          </a:xfrm>
        </p:grpSpPr>
        <p:sp>
          <p:nvSpPr>
            <p:cNvPr name="Freeform 17" id="17"/>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A468CA">
                    <a:alpha val="100000"/>
                  </a:srgbClr>
                </a:gs>
                <a:gs pos="50000">
                  <a:srgbClr val="9A47C9">
                    <a:alpha val="100000"/>
                  </a:srgbClr>
                </a:gs>
                <a:gs pos="100000">
                  <a:srgbClr val="8939B7">
                    <a:alpha val="100000"/>
                  </a:srgbClr>
                </a:gs>
              </a:gsLst>
              <a:lin ang="5400000"/>
            </a:gradFill>
          </p:spPr>
        </p:sp>
      </p:grpSp>
      <p:grpSp>
        <p:nvGrpSpPr>
          <p:cNvPr name="Group 18" id="18"/>
          <p:cNvGrpSpPr/>
          <p:nvPr/>
        </p:nvGrpSpPr>
        <p:grpSpPr>
          <a:xfrm rot="0">
            <a:off x="995886" y="5028801"/>
            <a:ext cx="1951845" cy="1146615"/>
            <a:chOff x="0" y="0"/>
            <a:chExt cx="2602460" cy="1528820"/>
          </a:xfrm>
        </p:grpSpPr>
        <p:sp>
          <p:nvSpPr>
            <p:cNvPr name="Freeform 19" id="19"/>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0" y="0"/>
              <a:ext cx="2602460" cy="1528820"/>
              <a:chOff x="0" y="0"/>
              <a:chExt cx="2602460" cy="1528820"/>
            </a:xfrm>
          </p:grpSpPr>
          <p:sp>
            <p:nvSpPr>
              <p:cNvPr name="Freeform 21" id="21"/>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22" id="22"/>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componentes</a:t>
                </a:r>
              </a:p>
            </p:txBody>
          </p:sp>
        </p:grpSp>
      </p:grpSp>
      <p:grpSp>
        <p:nvGrpSpPr>
          <p:cNvPr name="Group 23" id="23"/>
          <p:cNvGrpSpPr/>
          <p:nvPr/>
        </p:nvGrpSpPr>
        <p:grpSpPr>
          <a:xfrm rot="5400000">
            <a:off x="623798" y="7469607"/>
            <a:ext cx="1498994" cy="181176"/>
            <a:chOff x="0" y="0"/>
            <a:chExt cx="1998658" cy="241568"/>
          </a:xfrm>
        </p:grpSpPr>
        <p:sp>
          <p:nvSpPr>
            <p:cNvPr name="Freeform 24" id="24"/>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BA5CB5">
                    <a:alpha val="100000"/>
                  </a:srgbClr>
                </a:gs>
                <a:gs pos="50000">
                  <a:srgbClr val="B735B0">
                    <a:alpha val="100000"/>
                  </a:srgbClr>
                </a:gs>
                <a:gs pos="100000">
                  <a:srgbClr val="A729A1">
                    <a:alpha val="100000"/>
                  </a:srgbClr>
                </a:gs>
              </a:gsLst>
              <a:lin ang="0"/>
            </a:gradFill>
          </p:spPr>
        </p:sp>
      </p:grpSp>
      <p:grpSp>
        <p:nvGrpSpPr>
          <p:cNvPr name="Group 25" id="25"/>
          <p:cNvGrpSpPr/>
          <p:nvPr/>
        </p:nvGrpSpPr>
        <p:grpSpPr>
          <a:xfrm rot="0">
            <a:off x="965273" y="6507992"/>
            <a:ext cx="2013072" cy="1207842"/>
            <a:chOff x="0" y="0"/>
            <a:chExt cx="2684096" cy="1610456"/>
          </a:xfrm>
        </p:grpSpPr>
        <p:sp>
          <p:nvSpPr>
            <p:cNvPr name="Freeform 26" id="26"/>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BA5CB5">
                    <a:alpha val="100000"/>
                  </a:srgbClr>
                </a:gs>
                <a:gs pos="50000">
                  <a:srgbClr val="B735B0">
                    <a:alpha val="100000"/>
                  </a:srgbClr>
                </a:gs>
                <a:gs pos="100000">
                  <a:srgbClr val="A729A1">
                    <a:alpha val="100000"/>
                  </a:srgbClr>
                </a:gs>
              </a:gsLst>
              <a:lin ang="5400000"/>
            </a:gradFill>
          </p:spPr>
        </p:sp>
      </p:grpSp>
      <p:grpSp>
        <p:nvGrpSpPr>
          <p:cNvPr name="Group 27" id="27"/>
          <p:cNvGrpSpPr/>
          <p:nvPr/>
        </p:nvGrpSpPr>
        <p:grpSpPr>
          <a:xfrm rot="0">
            <a:off x="995886" y="6538605"/>
            <a:ext cx="1951845" cy="1146615"/>
            <a:chOff x="0" y="0"/>
            <a:chExt cx="2602460" cy="1528820"/>
          </a:xfrm>
        </p:grpSpPr>
        <p:sp>
          <p:nvSpPr>
            <p:cNvPr name="Freeform 28" id="28"/>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9" id="29"/>
            <p:cNvGrpSpPr/>
            <p:nvPr/>
          </p:nvGrpSpPr>
          <p:grpSpPr>
            <a:xfrm rot="0">
              <a:off x="0" y="0"/>
              <a:ext cx="2602460" cy="1528820"/>
              <a:chOff x="0" y="0"/>
              <a:chExt cx="2602460" cy="1528820"/>
            </a:xfrm>
          </p:grpSpPr>
          <p:sp>
            <p:nvSpPr>
              <p:cNvPr name="Freeform 30" id="30"/>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31" id="31"/>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estructura compuesta</a:t>
                </a:r>
              </a:p>
            </p:txBody>
          </p:sp>
        </p:grpSp>
      </p:grpSp>
      <p:grpSp>
        <p:nvGrpSpPr>
          <p:cNvPr name="Group 32" id="32"/>
          <p:cNvGrpSpPr/>
          <p:nvPr/>
        </p:nvGrpSpPr>
        <p:grpSpPr>
          <a:xfrm rot="0">
            <a:off x="1378698" y="8224509"/>
            <a:ext cx="2666576" cy="181176"/>
            <a:chOff x="0" y="0"/>
            <a:chExt cx="3555434" cy="241568"/>
          </a:xfrm>
        </p:grpSpPr>
        <p:sp>
          <p:nvSpPr>
            <p:cNvPr name="Freeform 33" id="33"/>
            <p:cNvSpPr/>
            <p:nvPr/>
          </p:nvSpPr>
          <p:spPr>
            <a:xfrm flipH="false" flipV="false" rot="0">
              <a:off x="0" y="0"/>
              <a:ext cx="3555492" cy="241554"/>
            </a:xfrm>
            <a:custGeom>
              <a:avLst/>
              <a:gdLst/>
              <a:ahLst/>
              <a:cxnLst/>
              <a:rect r="r" b="b" t="t" l="l"/>
              <a:pathLst>
                <a:path h="241554" w="3555492">
                  <a:moveTo>
                    <a:pt x="0" y="0"/>
                  </a:moveTo>
                  <a:lnTo>
                    <a:pt x="3555492" y="0"/>
                  </a:lnTo>
                  <a:lnTo>
                    <a:pt x="3555492" y="241554"/>
                  </a:lnTo>
                  <a:lnTo>
                    <a:pt x="0" y="241554"/>
                  </a:lnTo>
                  <a:close/>
                </a:path>
              </a:pathLst>
            </a:custGeom>
            <a:gradFill rotWithShape="true">
              <a:gsLst>
                <a:gs pos="0">
                  <a:srgbClr val="CA6898">
                    <a:alpha val="100000"/>
                  </a:srgbClr>
                </a:gs>
                <a:gs pos="50000">
                  <a:srgbClr val="C9478B">
                    <a:alpha val="100000"/>
                  </a:srgbClr>
                </a:gs>
                <a:gs pos="100000">
                  <a:srgbClr val="B7397B">
                    <a:alpha val="100000"/>
                  </a:srgbClr>
                </a:gs>
              </a:gsLst>
              <a:lin ang="5400000"/>
            </a:gradFill>
          </p:spPr>
        </p:sp>
      </p:grpSp>
      <p:grpSp>
        <p:nvGrpSpPr>
          <p:cNvPr name="Group 34" id="34"/>
          <p:cNvGrpSpPr/>
          <p:nvPr/>
        </p:nvGrpSpPr>
        <p:grpSpPr>
          <a:xfrm rot="0">
            <a:off x="965273" y="8017796"/>
            <a:ext cx="2013072" cy="1207842"/>
            <a:chOff x="0" y="0"/>
            <a:chExt cx="2684096" cy="1610456"/>
          </a:xfrm>
        </p:grpSpPr>
        <p:sp>
          <p:nvSpPr>
            <p:cNvPr name="Freeform 35" id="35"/>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CA6898">
                    <a:alpha val="100000"/>
                  </a:srgbClr>
                </a:gs>
                <a:gs pos="50000">
                  <a:srgbClr val="C9478B">
                    <a:alpha val="100000"/>
                  </a:srgbClr>
                </a:gs>
                <a:gs pos="100000">
                  <a:srgbClr val="B7397B">
                    <a:alpha val="100000"/>
                  </a:srgbClr>
                </a:gs>
              </a:gsLst>
              <a:lin ang="5400000"/>
            </a:gradFill>
          </p:spPr>
        </p:sp>
      </p:grpSp>
      <p:grpSp>
        <p:nvGrpSpPr>
          <p:cNvPr name="Group 36" id="36"/>
          <p:cNvGrpSpPr/>
          <p:nvPr/>
        </p:nvGrpSpPr>
        <p:grpSpPr>
          <a:xfrm rot="0">
            <a:off x="995886" y="8048409"/>
            <a:ext cx="1951845" cy="1146615"/>
            <a:chOff x="0" y="0"/>
            <a:chExt cx="2602460" cy="1528820"/>
          </a:xfrm>
        </p:grpSpPr>
        <p:sp>
          <p:nvSpPr>
            <p:cNvPr name="Freeform 37" id="37"/>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8" id="38"/>
            <p:cNvGrpSpPr/>
            <p:nvPr/>
          </p:nvGrpSpPr>
          <p:grpSpPr>
            <a:xfrm rot="0">
              <a:off x="0" y="0"/>
              <a:ext cx="2602460" cy="1528820"/>
              <a:chOff x="0" y="0"/>
              <a:chExt cx="2602460" cy="1528820"/>
            </a:xfrm>
          </p:grpSpPr>
          <p:sp>
            <p:nvSpPr>
              <p:cNvPr name="Freeform 39" id="39"/>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40" id="40"/>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implementación</a:t>
                </a:r>
              </a:p>
            </p:txBody>
          </p:sp>
        </p:grpSp>
      </p:grpSp>
      <p:grpSp>
        <p:nvGrpSpPr>
          <p:cNvPr name="Group 41" id="41"/>
          <p:cNvGrpSpPr/>
          <p:nvPr/>
        </p:nvGrpSpPr>
        <p:grpSpPr>
          <a:xfrm rot="-5400000">
            <a:off x="3301182" y="7469607"/>
            <a:ext cx="1498994" cy="181176"/>
            <a:chOff x="0" y="0"/>
            <a:chExt cx="1998658" cy="241568"/>
          </a:xfrm>
        </p:grpSpPr>
        <p:sp>
          <p:nvSpPr>
            <p:cNvPr name="Freeform 42" id="42"/>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BA5C64">
                    <a:alpha val="100000"/>
                  </a:srgbClr>
                </a:gs>
                <a:gs pos="50000">
                  <a:srgbClr val="B73543">
                    <a:alpha val="100000"/>
                  </a:srgbClr>
                </a:gs>
                <a:gs pos="100000">
                  <a:srgbClr val="A72937">
                    <a:alpha val="100000"/>
                  </a:srgbClr>
                </a:gs>
              </a:gsLst>
              <a:lin ang="10800000"/>
            </a:gradFill>
          </p:spPr>
        </p:sp>
      </p:grpSp>
      <p:grpSp>
        <p:nvGrpSpPr>
          <p:cNvPr name="Group 43" id="43"/>
          <p:cNvGrpSpPr/>
          <p:nvPr/>
        </p:nvGrpSpPr>
        <p:grpSpPr>
          <a:xfrm rot="0">
            <a:off x="3642660" y="8017796"/>
            <a:ext cx="2013072" cy="1207842"/>
            <a:chOff x="0" y="0"/>
            <a:chExt cx="2684096" cy="1610456"/>
          </a:xfrm>
        </p:grpSpPr>
        <p:sp>
          <p:nvSpPr>
            <p:cNvPr name="Freeform 44" id="44"/>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BA5C64">
                    <a:alpha val="100000"/>
                  </a:srgbClr>
                </a:gs>
                <a:gs pos="50000">
                  <a:srgbClr val="B73543">
                    <a:alpha val="100000"/>
                  </a:srgbClr>
                </a:gs>
                <a:gs pos="100000">
                  <a:srgbClr val="A72937">
                    <a:alpha val="100000"/>
                  </a:srgbClr>
                </a:gs>
              </a:gsLst>
              <a:lin ang="5400000"/>
            </a:gradFill>
          </p:spPr>
        </p:sp>
      </p:grpSp>
      <p:grpSp>
        <p:nvGrpSpPr>
          <p:cNvPr name="Group 45" id="45"/>
          <p:cNvGrpSpPr/>
          <p:nvPr/>
        </p:nvGrpSpPr>
        <p:grpSpPr>
          <a:xfrm rot="0">
            <a:off x="3673274" y="8048409"/>
            <a:ext cx="1951845" cy="1146615"/>
            <a:chOff x="0" y="0"/>
            <a:chExt cx="2602460" cy="1528820"/>
          </a:xfrm>
        </p:grpSpPr>
        <p:sp>
          <p:nvSpPr>
            <p:cNvPr name="Freeform 46" id="46"/>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7" id="47"/>
            <p:cNvGrpSpPr/>
            <p:nvPr/>
          </p:nvGrpSpPr>
          <p:grpSpPr>
            <a:xfrm rot="0">
              <a:off x="0" y="0"/>
              <a:ext cx="2602460" cy="1528820"/>
              <a:chOff x="0" y="0"/>
              <a:chExt cx="2602460" cy="1528820"/>
            </a:xfrm>
          </p:grpSpPr>
          <p:sp>
            <p:nvSpPr>
              <p:cNvPr name="Freeform 48" id="48"/>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49" id="49"/>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objetos</a:t>
                </a:r>
              </a:p>
            </p:txBody>
          </p:sp>
        </p:grpSp>
      </p:grpSp>
      <p:grpSp>
        <p:nvGrpSpPr>
          <p:cNvPr name="Group 50" id="50"/>
          <p:cNvGrpSpPr/>
          <p:nvPr/>
        </p:nvGrpSpPr>
        <p:grpSpPr>
          <a:xfrm rot="-5400000">
            <a:off x="3301182" y="5959801"/>
            <a:ext cx="1498994" cy="181176"/>
            <a:chOff x="0" y="0"/>
            <a:chExt cx="1998658" cy="241568"/>
          </a:xfrm>
        </p:grpSpPr>
        <p:sp>
          <p:nvSpPr>
            <p:cNvPr name="Freeform 51" id="51"/>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6D5CBA">
                    <a:alpha val="100000"/>
                  </a:srgbClr>
                </a:gs>
                <a:gs pos="50000">
                  <a:srgbClr val="5235B7">
                    <a:alpha val="100000"/>
                  </a:srgbClr>
                </a:gs>
                <a:gs pos="100000">
                  <a:srgbClr val="4529A7">
                    <a:alpha val="100000"/>
                  </a:srgbClr>
                </a:gs>
              </a:gsLst>
              <a:lin ang="10800000"/>
            </a:gradFill>
          </p:spPr>
        </p:sp>
      </p:grpSp>
      <p:grpSp>
        <p:nvGrpSpPr>
          <p:cNvPr name="Group 52" id="52"/>
          <p:cNvGrpSpPr/>
          <p:nvPr/>
        </p:nvGrpSpPr>
        <p:grpSpPr>
          <a:xfrm rot="0">
            <a:off x="3642660" y="6507992"/>
            <a:ext cx="2013072" cy="1207842"/>
            <a:chOff x="0" y="0"/>
            <a:chExt cx="2684096" cy="1610456"/>
          </a:xfrm>
        </p:grpSpPr>
        <p:sp>
          <p:nvSpPr>
            <p:cNvPr name="Freeform 53" id="53"/>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6D5CBA">
                    <a:alpha val="100000"/>
                  </a:srgbClr>
                </a:gs>
                <a:gs pos="50000">
                  <a:srgbClr val="5235B7">
                    <a:alpha val="100000"/>
                  </a:srgbClr>
                </a:gs>
                <a:gs pos="100000">
                  <a:srgbClr val="4529A7">
                    <a:alpha val="100000"/>
                  </a:srgbClr>
                </a:gs>
              </a:gsLst>
              <a:lin ang="5400000"/>
            </a:gradFill>
          </p:spPr>
        </p:sp>
      </p:grpSp>
      <p:grpSp>
        <p:nvGrpSpPr>
          <p:cNvPr name="Group 54" id="54"/>
          <p:cNvGrpSpPr/>
          <p:nvPr/>
        </p:nvGrpSpPr>
        <p:grpSpPr>
          <a:xfrm rot="0">
            <a:off x="3673274" y="6538605"/>
            <a:ext cx="1951845" cy="1146615"/>
            <a:chOff x="0" y="0"/>
            <a:chExt cx="2602460" cy="1528820"/>
          </a:xfrm>
        </p:grpSpPr>
        <p:sp>
          <p:nvSpPr>
            <p:cNvPr name="Freeform 55" id="55"/>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6" id="56"/>
            <p:cNvGrpSpPr/>
            <p:nvPr/>
          </p:nvGrpSpPr>
          <p:grpSpPr>
            <a:xfrm rot="0">
              <a:off x="0" y="0"/>
              <a:ext cx="2602460" cy="1528820"/>
              <a:chOff x="0" y="0"/>
              <a:chExt cx="2602460" cy="1528820"/>
            </a:xfrm>
          </p:grpSpPr>
          <p:sp>
            <p:nvSpPr>
              <p:cNvPr name="Freeform 57" id="57"/>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58" id="58"/>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paquetes</a:t>
                </a:r>
              </a:p>
            </p:txBody>
          </p:sp>
        </p:grpSp>
      </p:grpSp>
      <p:grpSp>
        <p:nvGrpSpPr>
          <p:cNvPr name="Group 59" id="59"/>
          <p:cNvGrpSpPr/>
          <p:nvPr/>
        </p:nvGrpSpPr>
        <p:grpSpPr>
          <a:xfrm rot="-5400000">
            <a:off x="3301182" y="4449997"/>
            <a:ext cx="1498994" cy="181176"/>
            <a:chOff x="0" y="0"/>
            <a:chExt cx="1998658" cy="241568"/>
          </a:xfrm>
        </p:grpSpPr>
        <p:sp>
          <p:nvSpPr>
            <p:cNvPr name="Freeform 60" id="60"/>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A468CA">
                    <a:alpha val="100000"/>
                  </a:srgbClr>
                </a:gs>
                <a:gs pos="50000">
                  <a:srgbClr val="9A47C9">
                    <a:alpha val="100000"/>
                  </a:srgbClr>
                </a:gs>
                <a:gs pos="100000">
                  <a:srgbClr val="8939B7">
                    <a:alpha val="100000"/>
                  </a:srgbClr>
                </a:gs>
              </a:gsLst>
              <a:lin ang="10800000"/>
            </a:gradFill>
          </p:spPr>
        </p:sp>
      </p:grpSp>
      <p:grpSp>
        <p:nvGrpSpPr>
          <p:cNvPr name="Group 61" id="61"/>
          <p:cNvGrpSpPr/>
          <p:nvPr/>
        </p:nvGrpSpPr>
        <p:grpSpPr>
          <a:xfrm rot="0">
            <a:off x="3642660" y="4998187"/>
            <a:ext cx="2013072" cy="1207842"/>
            <a:chOff x="0" y="0"/>
            <a:chExt cx="2684096" cy="1610456"/>
          </a:xfrm>
        </p:grpSpPr>
        <p:sp>
          <p:nvSpPr>
            <p:cNvPr name="Freeform 62" id="62"/>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A468CA">
                    <a:alpha val="100000"/>
                  </a:srgbClr>
                </a:gs>
                <a:gs pos="50000">
                  <a:srgbClr val="9A47C9">
                    <a:alpha val="100000"/>
                  </a:srgbClr>
                </a:gs>
                <a:gs pos="100000">
                  <a:srgbClr val="8939B7">
                    <a:alpha val="100000"/>
                  </a:srgbClr>
                </a:gs>
              </a:gsLst>
              <a:lin ang="5400000"/>
            </a:gradFill>
          </p:spPr>
        </p:sp>
      </p:grpSp>
      <p:grpSp>
        <p:nvGrpSpPr>
          <p:cNvPr name="Group 63" id="63"/>
          <p:cNvGrpSpPr/>
          <p:nvPr/>
        </p:nvGrpSpPr>
        <p:grpSpPr>
          <a:xfrm rot="0">
            <a:off x="3673274" y="5028801"/>
            <a:ext cx="1951845" cy="1146615"/>
            <a:chOff x="0" y="0"/>
            <a:chExt cx="2602460" cy="1528820"/>
          </a:xfrm>
        </p:grpSpPr>
        <p:sp>
          <p:nvSpPr>
            <p:cNvPr name="Freeform 64" id="64"/>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5" id="65"/>
            <p:cNvGrpSpPr/>
            <p:nvPr/>
          </p:nvGrpSpPr>
          <p:grpSpPr>
            <a:xfrm rot="0">
              <a:off x="0" y="0"/>
              <a:ext cx="2602460" cy="1528820"/>
              <a:chOff x="0" y="0"/>
              <a:chExt cx="2602460" cy="1528820"/>
            </a:xfrm>
          </p:grpSpPr>
          <p:sp>
            <p:nvSpPr>
              <p:cNvPr name="Freeform 66" id="66"/>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67" id="67"/>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actividades</a:t>
                </a:r>
              </a:p>
            </p:txBody>
          </p:sp>
        </p:grpSp>
      </p:grpSp>
      <p:grpSp>
        <p:nvGrpSpPr>
          <p:cNvPr name="Group 68" id="68"/>
          <p:cNvGrpSpPr/>
          <p:nvPr/>
        </p:nvGrpSpPr>
        <p:grpSpPr>
          <a:xfrm rot="0">
            <a:off x="4056084" y="3695096"/>
            <a:ext cx="2666576" cy="181176"/>
            <a:chOff x="0" y="0"/>
            <a:chExt cx="3555434" cy="241568"/>
          </a:xfrm>
        </p:grpSpPr>
        <p:sp>
          <p:nvSpPr>
            <p:cNvPr name="Freeform 69" id="69"/>
            <p:cNvSpPr/>
            <p:nvPr/>
          </p:nvSpPr>
          <p:spPr>
            <a:xfrm flipH="false" flipV="false" rot="0">
              <a:off x="0" y="0"/>
              <a:ext cx="3555492" cy="241554"/>
            </a:xfrm>
            <a:custGeom>
              <a:avLst/>
              <a:gdLst/>
              <a:ahLst/>
              <a:cxnLst/>
              <a:rect r="r" b="b" t="t" l="l"/>
              <a:pathLst>
                <a:path h="241554" w="3555492">
                  <a:moveTo>
                    <a:pt x="0" y="0"/>
                  </a:moveTo>
                  <a:lnTo>
                    <a:pt x="3555492" y="0"/>
                  </a:lnTo>
                  <a:lnTo>
                    <a:pt x="3555492" y="241554"/>
                  </a:lnTo>
                  <a:lnTo>
                    <a:pt x="0" y="241554"/>
                  </a:lnTo>
                  <a:close/>
                </a:path>
              </a:pathLst>
            </a:custGeom>
            <a:gradFill rotWithShape="true">
              <a:gsLst>
                <a:gs pos="0">
                  <a:srgbClr val="BA5CB5">
                    <a:alpha val="100000"/>
                  </a:srgbClr>
                </a:gs>
                <a:gs pos="50000">
                  <a:srgbClr val="B735B0">
                    <a:alpha val="100000"/>
                  </a:srgbClr>
                </a:gs>
                <a:gs pos="100000">
                  <a:srgbClr val="A729A1">
                    <a:alpha val="100000"/>
                  </a:srgbClr>
                </a:gs>
              </a:gsLst>
              <a:lin ang="5400000"/>
            </a:gradFill>
          </p:spPr>
        </p:sp>
      </p:grpSp>
      <p:grpSp>
        <p:nvGrpSpPr>
          <p:cNvPr name="Group 70" id="70"/>
          <p:cNvGrpSpPr/>
          <p:nvPr/>
        </p:nvGrpSpPr>
        <p:grpSpPr>
          <a:xfrm rot="0">
            <a:off x="3642660" y="3488384"/>
            <a:ext cx="2013072" cy="1207842"/>
            <a:chOff x="0" y="0"/>
            <a:chExt cx="2684096" cy="1610456"/>
          </a:xfrm>
        </p:grpSpPr>
        <p:sp>
          <p:nvSpPr>
            <p:cNvPr name="Freeform 71" id="71"/>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BA5CB5">
                    <a:alpha val="100000"/>
                  </a:srgbClr>
                </a:gs>
                <a:gs pos="50000">
                  <a:srgbClr val="B735B0">
                    <a:alpha val="100000"/>
                  </a:srgbClr>
                </a:gs>
                <a:gs pos="100000">
                  <a:srgbClr val="A729A1">
                    <a:alpha val="100000"/>
                  </a:srgbClr>
                </a:gs>
              </a:gsLst>
              <a:lin ang="5400000"/>
            </a:gradFill>
          </p:spPr>
        </p:sp>
      </p:grpSp>
      <p:grpSp>
        <p:nvGrpSpPr>
          <p:cNvPr name="Group 72" id="72"/>
          <p:cNvGrpSpPr/>
          <p:nvPr/>
        </p:nvGrpSpPr>
        <p:grpSpPr>
          <a:xfrm rot="0">
            <a:off x="3673274" y="3518997"/>
            <a:ext cx="1951845" cy="1146615"/>
            <a:chOff x="0" y="0"/>
            <a:chExt cx="2602460" cy="1528820"/>
          </a:xfrm>
        </p:grpSpPr>
        <p:sp>
          <p:nvSpPr>
            <p:cNvPr name="Freeform 73" id="73"/>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4" id="74"/>
            <p:cNvGrpSpPr/>
            <p:nvPr/>
          </p:nvGrpSpPr>
          <p:grpSpPr>
            <a:xfrm rot="0">
              <a:off x="0" y="0"/>
              <a:ext cx="2602460" cy="1528820"/>
              <a:chOff x="0" y="0"/>
              <a:chExt cx="2602460" cy="1528820"/>
            </a:xfrm>
          </p:grpSpPr>
          <p:sp>
            <p:nvSpPr>
              <p:cNvPr name="Freeform 75" id="75"/>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76" id="76"/>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comunicación</a:t>
                </a:r>
              </a:p>
            </p:txBody>
          </p:sp>
        </p:grpSp>
      </p:grpSp>
      <p:grpSp>
        <p:nvGrpSpPr>
          <p:cNvPr name="Group 77" id="77"/>
          <p:cNvGrpSpPr/>
          <p:nvPr/>
        </p:nvGrpSpPr>
        <p:grpSpPr>
          <a:xfrm rot="5400000">
            <a:off x="5978570" y="4449998"/>
            <a:ext cx="1498994" cy="181176"/>
            <a:chOff x="0" y="0"/>
            <a:chExt cx="1998658" cy="241568"/>
          </a:xfrm>
        </p:grpSpPr>
        <p:sp>
          <p:nvSpPr>
            <p:cNvPr name="Freeform 78" id="78"/>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CA6898">
                    <a:alpha val="100000"/>
                  </a:srgbClr>
                </a:gs>
                <a:gs pos="50000">
                  <a:srgbClr val="C9478B">
                    <a:alpha val="100000"/>
                  </a:srgbClr>
                </a:gs>
                <a:gs pos="100000">
                  <a:srgbClr val="B7397B">
                    <a:alpha val="100000"/>
                  </a:srgbClr>
                </a:gs>
              </a:gsLst>
              <a:lin ang="0"/>
            </a:gradFill>
          </p:spPr>
        </p:sp>
      </p:grpSp>
      <p:grpSp>
        <p:nvGrpSpPr>
          <p:cNvPr name="Group 79" id="79"/>
          <p:cNvGrpSpPr/>
          <p:nvPr/>
        </p:nvGrpSpPr>
        <p:grpSpPr>
          <a:xfrm rot="0">
            <a:off x="6320046" y="3488384"/>
            <a:ext cx="2013072" cy="1207842"/>
            <a:chOff x="0" y="0"/>
            <a:chExt cx="2684096" cy="1610456"/>
          </a:xfrm>
        </p:grpSpPr>
        <p:sp>
          <p:nvSpPr>
            <p:cNvPr name="Freeform 80" id="80"/>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CA6898">
                    <a:alpha val="100000"/>
                  </a:srgbClr>
                </a:gs>
                <a:gs pos="50000">
                  <a:srgbClr val="C9478B">
                    <a:alpha val="100000"/>
                  </a:srgbClr>
                </a:gs>
                <a:gs pos="100000">
                  <a:srgbClr val="B7397B">
                    <a:alpha val="100000"/>
                  </a:srgbClr>
                </a:gs>
              </a:gsLst>
              <a:lin ang="5400000"/>
            </a:gradFill>
          </p:spPr>
        </p:sp>
      </p:grpSp>
      <p:grpSp>
        <p:nvGrpSpPr>
          <p:cNvPr name="Group 81" id="81"/>
          <p:cNvGrpSpPr/>
          <p:nvPr/>
        </p:nvGrpSpPr>
        <p:grpSpPr>
          <a:xfrm rot="0">
            <a:off x="6350660" y="3518997"/>
            <a:ext cx="1951845" cy="1146615"/>
            <a:chOff x="0" y="0"/>
            <a:chExt cx="2602460" cy="1528820"/>
          </a:xfrm>
        </p:grpSpPr>
        <p:sp>
          <p:nvSpPr>
            <p:cNvPr name="Freeform 82" id="82"/>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3" id="83"/>
            <p:cNvGrpSpPr/>
            <p:nvPr/>
          </p:nvGrpSpPr>
          <p:grpSpPr>
            <a:xfrm rot="0">
              <a:off x="0" y="0"/>
              <a:ext cx="2602460" cy="1528820"/>
              <a:chOff x="0" y="0"/>
              <a:chExt cx="2602460" cy="1528820"/>
            </a:xfrm>
          </p:grpSpPr>
          <p:sp>
            <p:nvSpPr>
              <p:cNvPr name="Freeform 84" id="84"/>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85" id="85"/>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panorama de interacciones</a:t>
                </a:r>
              </a:p>
            </p:txBody>
          </p:sp>
        </p:grpSp>
      </p:grpSp>
      <p:grpSp>
        <p:nvGrpSpPr>
          <p:cNvPr name="Group 86" id="86"/>
          <p:cNvGrpSpPr/>
          <p:nvPr/>
        </p:nvGrpSpPr>
        <p:grpSpPr>
          <a:xfrm rot="5400000">
            <a:off x="5978570" y="5959801"/>
            <a:ext cx="1498994" cy="181176"/>
            <a:chOff x="0" y="0"/>
            <a:chExt cx="1998658" cy="241568"/>
          </a:xfrm>
        </p:grpSpPr>
        <p:sp>
          <p:nvSpPr>
            <p:cNvPr name="Freeform 87" id="87"/>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BA5C64">
                    <a:alpha val="100000"/>
                  </a:srgbClr>
                </a:gs>
                <a:gs pos="50000">
                  <a:srgbClr val="B73543">
                    <a:alpha val="100000"/>
                  </a:srgbClr>
                </a:gs>
                <a:gs pos="100000">
                  <a:srgbClr val="A72937">
                    <a:alpha val="100000"/>
                  </a:srgbClr>
                </a:gs>
              </a:gsLst>
              <a:lin ang="0"/>
            </a:gradFill>
          </p:spPr>
        </p:sp>
      </p:grpSp>
      <p:grpSp>
        <p:nvGrpSpPr>
          <p:cNvPr name="Group 88" id="88"/>
          <p:cNvGrpSpPr/>
          <p:nvPr/>
        </p:nvGrpSpPr>
        <p:grpSpPr>
          <a:xfrm rot="0">
            <a:off x="6320046" y="4998187"/>
            <a:ext cx="2013072" cy="1207842"/>
            <a:chOff x="0" y="0"/>
            <a:chExt cx="2684096" cy="1610456"/>
          </a:xfrm>
        </p:grpSpPr>
        <p:sp>
          <p:nvSpPr>
            <p:cNvPr name="Freeform 89" id="89"/>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BA5C64">
                    <a:alpha val="100000"/>
                  </a:srgbClr>
                </a:gs>
                <a:gs pos="50000">
                  <a:srgbClr val="B73543">
                    <a:alpha val="100000"/>
                  </a:srgbClr>
                </a:gs>
                <a:gs pos="100000">
                  <a:srgbClr val="A72937">
                    <a:alpha val="100000"/>
                  </a:srgbClr>
                </a:gs>
              </a:gsLst>
              <a:lin ang="5400000"/>
            </a:gradFill>
          </p:spPr>
        </p:sp>
      </p:grpSp>
      <p:grpSp>
        <p:nvGrpSpPr>
          <p:cNvPr name="Group 90" id="90"/>
          <p:cNvGrpSpPr/>
          <p:nvPr/>
        </p:nvGrpSpPr>
        <p:grpSpPr>
          <a:xfrm rot="0">
            <a:off x="6350660" y="5028801"/>
            <a:ext cx="1951845" cy="1146615"/>
            <a:chOff x="0" y="0"/>
            <a:chExt cx="2602460" cy="1528820"/>
          </a:xfrm>
        </p:grpSpPr>
        <p:sp>
          <p:nvSpPr>
            <p:cNvPr name="Freeform 91" id="91"/>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2" id="92"/>
            <p:cNvGrpSpPr/>
            <p:nvPr/>
          </p:nvGrpSpPr>
          <p:grpSpPr>
            <a:xfrm rot="0">
              <a:off x="0" y="0"/>
              <a:ext cx="2602460" cy="1528820"/>
              <a:chOff x="0" y="0"/>
              <a:chExt cx="2602460" cy="1528820"/>
            </a:xfrm>
          </p:grpSpPr>
          <p:sp>
            <p:nvSpPr>
              <p:cNvPr name="Freeform 93" id="93"/>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94" id="94"/>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secuencia</a:t>
                </a:r>
              </a:p>
            </p:txBody>
          </p:sp>
        </p:grpSp>
      </p:grpSp>
      <p:grpSp>
        <p:nvGrpSpPr>
          <p:cNvPr name="Group 95" id="95"/>
          <p:cNvGrpSpPr/>
          <p:nvPr/>
        </p:nvGrpSpPr>
        <p:grpSpPr>
          <a:xfrm rot="5400000">
            <a:off x="5978570" y="7469607"/>
            <a:ext cx="1498994" cy="181176"/>
            <a:chOff x="0" y="0"/>
            <a:chExt cx="1998658" cy="241568"/>
          </a:xfrm>
        </p:grpSpPr>
        <p:sp>
          <p:nvSpPr>
            <p:cNvPr name="Freeform 96" id="96"/>
            <p:cNvSpPr/>
            <p:nvPr/>
          </p:nvSpPr>
          <p:spPr>
            <a:xfrm flipH="false" flipV="false" rot="0">
              <a:off x="0" y="0"/>
              <a:ext cx="1998599" cy="241554"/>
            </a:xfrm>
            <a:custGeom>
              <a:avLst/>
              <a:gdLst/>
              <a:ahLst/>
              <a:cxnLst/>
              <a:rect r="r" b="b" t="t" l="l"/>
              <a:pathLst>
                <a:path h="241554" w="1998599">
                  <a:moveTo>
                    <a:pt x="0" y="0"/>
                  </a:moveTo>
                  <a:lnTo>
                    <a:pt x="1998599" y="0"/>
                  </a:lnTo>
                  <a:lnTo>
                    <a:pt x="1998599" y="241554"/>
                  </a:lnTo>
                  <a:lnTo>
                    <a:pt x="0" y="241554"/>
                  </a:lnTo>
                  <a:close/>
                </a:path>
              </a:pathLst>
            </a:custGeom>
            <a:gradFill rotWithShape="true">
              <a:gsLst>
                <a:gs pos="0">
                  <a:srgbClr val="6D5CBA">
                    <a:alpha val="100000"/>
                  </a:srgbClr>
                </a:gs>
                <a:gs pos="50000">
                  <a:srgbClr val="5235B7">
                    <a:alpha val="100000"/>
                  </a:srgbClr>
                </a:gs>
                <a:gs pos="100000">
                  <a:srgbClr val="4529A7">
                    <a:alpha val="100000"/>
                  </a:srgbClr>
                </a:gs>
              </a:gsLst>
              <a:lin ang="0"/>
            </a:gradFill>
          </p:spPr>
        </p:sp>
      </p:grpSp>
      <p:grpSp>
        <p:nvGrpSpPr>
          <p:cNvPr name="Group 97" id="97"/>
          <p:cNvGrpSpPr/>
          <p:nvPr/>
        </p:nvGrpSpPr>
        <p:grpSpPr>
          <a:xfrm rot="0">
            <a:off x="6320046" y="6507992"/>
            <a:ext cx="2013072" cy="1207842"/>
            <a:chOff x="0" y="0"/>
            <a:chExt cx="2684096" cy="1610456"/>
          </a:xfrm>
        </p:grpSpPr>
        <p:sp>
          <p:nvSpPr>
            <p:cNvPr name="Freeform 98" id="98"/>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6D5CBA">
                    <a:alpha val="100000"/>
                  </a:srgbClr>
                </a:gs>
                <a:gs pos="50000">
                  <a:srgbClr val="5235B7">
                    <a:alpha val="100000"/>
                  </a:srgbClr>
                </a:gs>
                <a:gs pos="100000">
                  <a:srgbClr val="4529A7">
                    <a:alpha val="100000"/>
                  </a:srgbClr>
                </a:gs>
              </a:gsLst>
              <a:lin ang="5400000"/>
            </a:gradFill>
          </p:spPr>
        </p:sp>
      </p:grpSp>
      <p:grpSp>
        <p:nvGrpSpPr>
          <p:cNvPr name="Group 99" id="99"/>
          <p:cNvGrpSpPr/>
          <p:nvPr/>
        </p:nvGrpSpPr>
        <p:grpSpPr>
          <a:xfrm rot="0">
            <a:off x="6350660" y="6538605"/>
            <a:ext cx="1951845" cy="1146615"/>
            <a:chOff x="0" y="0"/>
            <a:chExt cx="2602460" cy="1528820"/>
          </a:xfrm>
        </p:grpSpPr>
        <p:sp>
          <p:nvSpPr>
            <p:cNvPr name="Freeform 100" id="100"/>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1" id="101"/>
            <p:cNvGrpSpPr/>
            <p:nvPr/>
          </p:nvGrpSpPr>
          <p:grpSpPr>
            <a:xfrm rot="0">
              <a:off x="0" y="0"/>
              <a:ext cx="2602460" cy="1528820"/>
              <a:chOff x="0" y="0"/>
              <a:chExt cx="2602460" cy="1528820"/>
            </a:xfrm>
          </p:grpSpPr>
          <p:sp>
            <p:nvSpPr>
              <p:cNvPr name="Freeform 102" id="102"/>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103" id="103"/>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máquina de estados</a:t>
                </a:r>
              </a:p>
            </p:txBody>
          </p:sp>
        </p:grpSp>
      </p:grpSp>
      <p:grpSp>
        <p:nvGrpSpPr>
          <p:cNvPr name="Group 104" id="104"/>
          <p:cNvGrpSpPr/>
          <p:nvPr/>
        </p:nvGrpSpPr>
        <p:grpSpPr>
          <a:xfrm rot="0">
            <a:off x="6733472" y="8224509"/>
            <a:ext cx="2666575" cy="181176"/>
            <a:chOff x="0" y="0"/>
            <a:chExt cx="3555434" cy="241568"/>
          </a:xfrm>
        </p:grpSpPr>
        <p:sp>
          <p:nvSpPr>
            <p:cNvPr name="Freeform 105" id="105"/>
            <p:cNvSpPr/>
            <p:nvPr/>
          </p:nvSpPr>
          <p:spPr>
            <a:xfrm flipH="false" flipV="false" rot="0">
              <a:off x="0" y="0"/>
              <a:ext cx="3555492" cy="241554"/>
            </a:xfrm>
            <a:custGeom>
              <a:avLst/>
              <a:gdLst/>
              <a:ahLst/>
              <a:cxnLst/>
              <a:rect r="r" b="b" t="t" l="l"/>
              <a:pathLst>
                <a:path h="241554" w="3555492">
                  <a:moveTo>
                    <a:pt x="0" y="0"/>
                  </a:moveTo>
                  <a:lnTo>
                    <a:pt x="3555492" y="0"/>
                  </a:lnTo>
                  <a:lnTo>
                    <a:pt x="3555492" y="241554"/>
                  </a:lnTo>
                  <a:lnTo>
                    <a:pt x="0" y="241554"/>
                  </a:lnTo>
                  <a:close/>
                </a:path>
              </a:pathLst>
            </a:custGeom>
            <a:gradFill rotWithShape="true">
              <a:gsLst>
                <a:gs pos="0">
                  <a:srgbClr val="A468CA">
                    <a:alpha val="100000"/>
                  </a:srgbClr>
                </a:gs>
                <a:gs pos="50000">
                  <a:srgbClr val="9A47C9">
                    <a:alpha val="100000"/>
                  </a:srgbClr>
                </a:gs>
                <a:gs pos="100000">
                  <a:srgbClr val="8939B7">
                    <a:alpha val="100000"/>
                  </a:srgbClr>
                </a:gs>
              </a:gsLst>
              <a:lin ang="5400000"/>
            </a:gradFill>
          </p:spPr>
        </p:sp>
      </p:grpSp>
      <p:grpSp>
        <p:nvGrpSpPr>
          <p:cNvPr name="Group 106" id="106"/>
          <p:cNvGrpSpPr/>
          <p:nvPr/>
        </p:nvGrpSpPr>
        <p:grpSpPr>
          <a:xfrm rot="0">
            <a:off x="6320046" y="8017796"/>
            <a:ext cx="2013072" cy="1207842"/>
            <a:chOff x="0" y="0"/>
            <a:chExt cx="2684096" cy="1610456"/>
          </a:xfrm>
        </p:grpSpPr>
        <p:sp>
          <p:nvSpPr>
            <p:cNvPr name="Freeform 107" id="107"/>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A468CA">
                    <a:alpha val="100000"/>
                  </a:srgbClr>
                </a:gs>
                <a:gs pos="50000">
                  <a:srgbClr val="9A47C9">
                    <a:alpha val="100000"/>
                  </a:srgbClr>
                </a:gs>
                <a:gs pos="100000">
                  <a:srgbClr val="8939B7">
                    <a:alpha val="100000"/>
                  </a:srgbClr>
                </a:gs>
              </a:gsLst>
              <a:lin ang="5400000"/>
            </a:gradFill>
          </p:spPr>
        </p:sp>
      </p:grpSp>
      <p:grpSp>
        <p:nvGrpSpPr>
          <p:cNvPr name="Group 108" id="108"/>
          <p:cNvGrpSpPr/>
          <p:nvPr/>
        </p:nvGrpSpPr>
        <p:grpSpPr>
          <a:xfrm rot="0">
            <a:off x="6350660" y="8048409"/>
            <a:ext cx="1951845" cy="1146615"/>
            <a:chOff x="0" y="0"/>
            <a:chExt cx="2602460" cy="1528820"/>
          </a:xfrm>
        </p:grpSpPr>
        <p:sp>
          <p:nvSpPr>
            <p:cNvPr name="Freeform 109" id="109"/>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0" id="110"/>
            <p:cNvGrpSpPr/>
            <p:nvPr/>
          </p:nvGrpSpPr>
          <p:grpSpPr>
            <a:xfrm rot="0">
              <a:off x="0" y="0"/>
              <a:ext cx="2602460" cy="1528820"/>
              <a:chOff x="0" y="0"/>
              <a:chExt cx="2602460" cy="1528820"/>
            </a:xfrm>
          </p:grpSpPr>
          <p:sp>
            <p:nvSpPr>
              <p:cNvPr name="Freeform 111" id="111"/>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112" id="112"/>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temporización</a:t>
                </a:r>
              </a:p>
            </p:txBody>
          </p:sp>
        </p:grpSp>
      </p:grpSp>
      <p:grpSp>
        <p:nvGrpSpPr>
          <p:cNvPr name="Group 113" id="113"/>
          <p:cNvGrpSpPr/>
          <p:nvPr/>
        </p:nvGrpSpPr>
        <p:grpSpPr>
          <a:xfrm rot="0">
            <a:off x="8997432" y="8017796"/>
            <a:ext cx="2013072" cy="1207842"/>
            <a:chOff x="0" y="0"/>
            <a:chExt cx="2684096" cy="1610456"/>
          </a:xfrm>
        </p:grpSpPr>
        <p:sp>
          <p:nvSpPr>
            <p:cNvPr name="Freeform 114" id="114"/>
            <p:cNvSpPr/>
            <p:nvPr/>
          </p:nvSpPr>
          <p:spPr>
            <a:xfrm flipH="false" flipV="false" rot="0">
              <a:off x="0" y="0"/>
              <a:ext cx="2684145" cy="1610487"/>
            </a:xfrm>
            <a:custGeom>
              <a:avLst/>
              <a:gdLst/>
              <a:ahLst/>
              <a:cxnLst/>
              <a:rect r="r" b="b" t="t" l="l"/>
              <a:pathLst>
                <a:path h="1610487" w="2684145">
                  <a:moveTo>
                    <a:pt x="0" y="161036"/>
                  </a:moveTo>
                  <a:cubicBezTo>
                    <a:pt x="0" y="72136"/>
                    <a:pt x="72136" y="0"/>
                    <a:pt x="161036" y="0"/>
                  </a:cubicBezTo>
                  <a:lnTo>
                    <a:pt x="2523109" y="0"/>
                  </a:lnTo>
                  <a:cubicBezTo>
                    <a:pt x="2612009" y="0"/>
                    <a:pt x="2684145" y="72136"/>
                    <a:pt x="2684145" y="161036"/>
                  </a:cubicBezTo>
                  <a:lnTo>
                    <a:pt x="2684145" y="1449451"/>
                  </a:lnTo>
                  <a:cubicBezTo>
                    <a:pt x="2684145" y="1538351"/>
                    <a:pt x="2612009" y="1610487"/>
                    <a:pt x="2523109" y="1610487"/>
                  </a:cubicBezTo>
                  <a:lnTo>
                    <a:pt x="161036" y="1610487"/>
                  </a:lnTo>
                  <a:cubicBezTo>
                    <a:pt x="72136" y="1610487"/>
                    <a:pt x="0" y="1538351"/>
                    <a:pt x="0" y="1449451"/>
                  </a:cubicBezTo>
                  <a:close/>
                </a:path>
              </a:pathLst>
            </a:custGeom>
            <a:gradFill rotWithShape="true">
              <a:gsLst>
                <a:gs pos="0">
                  <a:srgbClr val="BA5CB5">
                    <a:alpha val="100000"/>
                  </a:srgbClr>
                </a:gs>
                <a:gs pos="50000">
                  <a:srgbClr val="B735B0">
                    <a:alpha val="100000"/>
                  </a:srgbClr>
                </a:gs>
                <a:gs pos="100000">
                  <a:srgbClr val="A729A1">
                    <a:alpha val="100000"/>
                  </a:srgbClr>
                </a:gs>
              </a:gsLst>
              <a:lin ang="5400000"/>
            </a:gradFill>
          </p:spPr>
        </p:sp>
      </p:grpSp>
      <p:grpSp>
        <p:nvGrpSpPr>
          <p:cNvPr name="Group 115" id="115"/>
          <p:cNvGrpSpPr/>
          <p:nvPr/>
        </p:nvGrpSpPr>
        <p:grpSpPr>
          <a:xfrm rot="0">
            <a:off x="9028046" y="8048409"/>
            <a:ext cx="1951845" cy="1146615"/>
            <a:chOff x="0" y="0"/>
            <a:chExt cx="2602460" cy="1528820"/>
          </a:xfrm>
        </p:grpSpPr>
        <p:sp>
          <p:nvSpPr>
            <p:cNvPr name="Freeform 116" id="116"/>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7" id="117"/>
            <p:cNvGrpSpPr/>
            <p:nvPr/>
          </p:nvGrpSpPr>
          <p:grpSpPr>
            <a:xfrm rot="0">
              <a:off x="0" y="0"/>
              <a:ext cx="2602460" cy="1528820"/>
              <a:chOff x="0" y="0"/>
              <a:chExt cx="2602460" cy="1528820"/>
            </a:xfrm>
          </p:grpSpPr>
          <p:sp>
            <p:nvSpPr>
              <p:cNvPr name="Freeform 118" id="118"/>
              <p:cNvSpPr/>
              <p:nvPr/>
            </p:nvSpPr>
            <p:spPr>
              <a:xfrm flipH="false" flipV="false" rot="0">
                <a:off x="0" y="0"/>
                <a:ext cx="2602460" cy="1528820"/>
              </a:xfrm>
              <a:custGeom>
                <a:avLst/>
                <a:gdLst/>
                <a:ahLst/>
                <a:cxnLst/>
                <a:rect r="r" b="b" t="t" l="l"/>
                <a:pathLst>
                  <a:path h="1528820" w="2602460">
                    <a:moveTo>
                      <a:pt x="0" y="0"/>
                    </a:moveTo>
                    <a:lnTo>
                      <a:pt x="2602460" y="0"/>
                    </a:lnTo>
                    <a:lnTo>
                      <a:pt x="2602460" y="1528820"/>
                    </a:lnTo>
                    <a:lnTo>
                      <a:pt x="0" y="1528820"/>
                    </a:lnTo>
                    <a:close/>
                  </a:path>
                </a:pathLst>
              </a:custGeom>
              <a:solidFill>
                <a:srgbClr val="000000">
                  <a:alpha val="0"/>
                </a:srgbClr>
              </a:solidFill>
            </p:spPr>
          </p:sp>
          <p:sp>
            <p:nvSpPr>
              <p:cNvPr name="TextBox 119" id="119"/>
              <p:cNvSpPr txBox="true"/>
              <p:nvPr/>
            </p:nvSpPr>
            <p:spPr>
              <a:xfrm>
                <a:off x="0" y="0"/>
                <a:ext cx="2602460" cy="1528820"/>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Diagrama de caso de uso</a:t>
                </a:r>
              </a:p>
            </p:txBody>
          </p:sp>
        </p:gr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463040" y="1976661"/>
            <a:ext cx="17195888" cy="1899920"/>
          </a:xfrm>
          <a:prstGeom prst="rect">
            <a:avLst/>
          </a:prstGeom>
        </p:spPr>
        <p:txBody>
          <a:bodyPr anchor="t" rtlCol="false" tIns="0" lIns="0" bIns="0" rIns="0">
            <a:spAutoFit/>
          </a:bodyPr>
          <a:lstStyle/>
          <a:p>
            <a:pPr algn="l" marL="0" indent="0" lvl="0">
              <a:lnSpc>
                <a:spcPts val="14604"/>
              </a:lnSpc>
              <a:spcBef>
                <a:spcPct val="0"/>
              </a:spcBef>
            </a:pPr>
            <a:r>
              <a:rPr lang="en-US" sz="12699" strike="noStrike" u="none">
                <a:solidFill>
                  <a:srgbClr val="131416"/>
                </a:solidFill>
                <a:latin typeface="Playlist Script"/>
                <a:ea typeface="Playlist Script"/>
                <a:cs typeface="Playlist Script"/>
                <a:sym typeface="Playlist Script"/>
              </a:rPr>
              <a:t>Tipos de Diagramas UML</a:t>
            </a:r>
          </a:p>
        </p:txBody>
      </p:sp>
      <p:sp>
        <p:nvSpPr>
          <p:cNvPr name="AutoShape 4" id="4"/>
          <p:cNvSpPr/>
          <p:nvPr/>
        </p:nvSpPr>
        <p:spPr>
          <a:xfrm rot="25469">
            <a:off x="1430016" y="1512384"/>
            <a:ext cx="15427968" cy="0"/>
          </a:xfrm>
          <a:prstGeom prst="line">
            <a:avLst/>
          </a:prstGeom>
          <a:ln cap="rnd" w="57150">
            <a:solidFill>
              <a:srgbClr val="4D64C3"/>
            </a:solidFill>
            <a:prstDash val="solid"/>
            <a:headEnd type="none" len="sm" w="sm"/>
            <a:tailEnd type="none" len="sm" w="sm"/>
          </a:ln>
        </p:spPr>
      </p:sp>
      <p:grpSp>
        <p:nvGrpSpPr>
          <p:cNvPr name="Group 5" id="5"/>
          <p:cNvGrpSpPr/>
          <p:nvPr/>
        </p:nvGrpSpPr>
        <p:grpSpPr>
          <a:xfrm rot="0">
            <a:off x="2400750" y="4316608"/>
            <a:ext cx="2779312" cy="2779313"/>
            <a:chOff x="0" y="0"/>
            <a:chExt cx="3705750" cy="3705750"/>
          </a:xfrm>
        </p:grpSpPr>
        <p:sp>
          <p:nvSpPr>
            <p:cNvPr name="Freeform 6" id="6"/>
            <p:cNvSpPr/>
            <p:nvPr/>
          </p:nvSpPr>
          <p:spPr>
            <a:xfrm flipH="false" flipV="false" rot="0">
              <a:off x="0" y="0"/>
              <a:ext cx="3705733" cy="3705733"/>
            </a:xfrm>
            <a:custGeom>
              <a:avLst/>
              <a:gdLst/>
              <a:ahLst/>
              <a:cxnLst/>
              <a:rect r="r" b="b" t="t" l="l"/>
              <a:pathLst>
                <a:path h="3705733" w="3705733">
                  <a:moveTo>
                    <a:pt x="1101598" y="0"/>
                  </a:moveTo>
                  <a:lnTo>
                    <a:pt x="3705733" y="0"/>
                  </a:lnTo>
                  <a:lnTo>
                    <a:pt x="3705733" y="2604135"/>
                  </a:lnTo>
                  <a:cubicBezTo>
                    <a:pt x="3705733" y="3212592"/>
                    <a:pt x="3212465" y="3705733"/>
                    <a:pt x="2604135" y="3705733"/>
                  </a:cubicBezTo>
                  <a:lnTo>
                    <a:pt x="0" y="3705733"/>
                  </a:lnTo>
                  <a:lnTo>
                    <a:pt x="0" y="1101598"/>
                  </a:lnTo>
                  <a:cubicBezTo>
                    <a:pt x="0" y="493268"/>
                    <a:pt x="493268" y="0"/>
                    <a:pt x="1101598" y="0"/>
                  </a:cubicBezTo>
                  <a:close/>
                </a:path>
              </a:pathLst>
            </a:custGeom>
            <a:solidFill>
              <a:srgbClr val="553BB1"/>
            </a:solidFill>
          </p:spPr>
        </p:sp>
      </p:grpSp>
      <p:sp>
        <p:nvSpPr>
          <p:cNvPr name="Freeform 7" id="7"/>
          <p:cNvSpPr/>
          <p:nvPr/>
        </p:nvSpPr>
        <p:spPr>
          <a:xfrm flipH="false" flipV="false" rot="0">
            <a:off x="2993062" y="4908921"/>
            <a:ext cx="1594687" cy="1594688"/>
          </a:xfrm>
          <a:custGeom>
            <a:avLst/>
            <a:gdLst/>
            <a:ahLst/>
            <a:cxnLst/>
            <a:rect r="r" b="b" t="t" l="l"/>
            <a:pathLst>
              <a:path h="1594688" w="1594687">
                <a:moveTo>
                  <a:pt x="0" y="0"/>
                </a:moveTo>
                <a:lnTo>
                  <a:pt x="1594688" y="0"/>
                </a:lnTo>
                <a:lnTo>
                  <a:pt x="1594688" y="1594688"/>
                </a:lnTo>
                <a:lnTo>
                  <a:pt x="0" y="1594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1507518" y="7975896"/>
            <a:ext cx="4565775" cy="1070475"/>
          </a:xfrm>
          <a:prstGeom prst="rect">
            <a:avLst/>
          </a:prstGeom>
        </p:spPr>
        <p:txBody>
          <a:bodyPr anchor="t" rtlCol="false" tIns="0" lIns="0" bIns="0" rIns="0">
            <a:spAutoFit/>
          </a:bodyPr>
          <a:lstStyle/>
          <a:p>
            <a:pPr algn="ctr">
              <a:lnSpc>
                <a:spcPts val="4212"/>
              </a:lnSpc>
            </a:pPr>
            <a:r>
              <a:rPr lang="en-US" sz="3900">
                <a:solidFill>
                  <a:srgbClr val="000000"/>
                </a:solidFill>
                <a:latin typeface="Arimo"/>
                <a:ea typeface="Arimo"/>
                <a:cs typeface="Arimo"/>
                <a:sym typeface="Arimo"/>
              </a:rPr>
              <a:t>Diagramas estructurales</a:t>
            </a:r>
          </a:p>
        </p:txBody>
      </p:sp>
      <p:grpSp>
        <p:nvGrpSpPr>
          <p:cNvPr name="Group 9" id="9"/>
          <p:cNvGrpSpPr/>
          <p:nvPr/>
        </p:nvGrpSpPr>
        <p:grpSpPr>
          <a:xfrm rot="0">
            <a:off x="7754343" y="4316608"/>
            <a:ext cx="2779313" cy="2779313"/>
            <a:chOff x="0" y="0"/>
            <a:chExt cx="3705750" cy="3705750"/>
          </a:xfrm>
        </p:grpSpPr>
        <p:sp>
          <p:nvSpPr>
            <p:cNvPr name="Freeform 10" id="10"/>
            <p:cNvSpPr/>
            <p:nvPr/>
          </p:nvSpPr>
          <p:spPr>
            <a:xfrm flipH="false" flipV="false" rot="0">
              <a:off x="0" y="0"/>
              <a:ext cx="3705733" cy="3705733"/>
            </a:xfrm>
            <a:custGeom>
              <a:avLst/>
              <a:gdLst/>
              <a:ahLst/>
              <a:cxnLst/>
              <a:rect r="r" b="b" t="t" l="l"/>
              <a:pathLst>
                <a:path h="3705733" w="3705733">
                  <a:moveTo>
                    <a:pt x="1101598" y="0"/>
                  </a:moveTo>
                  <a:lnTo>
                    <a:pt x="3705733" y="0"/>
                  </a:lnTo>
                  <a:lnTo>
                    <a:pt x="3705733" y="2604135"/>
                  </a:lnTo>
                  <a:cubicBezTo>
                    <a:pt x="3705733" y="3212592"/>
                    <a:pt x="3212465" y="3705733"/>
                    <a:pt x="2604135" y="3705733"/>
                  </a:cubicBezTo>
                  <a:lnTo>
                    <a:pt x="0" y="3705733"/>
                  </a:lnTo>
                  <a:lnTo>
                    <a:pt x="0" y="1101598"/>
                  </a:lnTo>
                  <a:cubicBezTo>
                    <a:pt x="0" y="493268"/>
                    <a:pt x="493268" y="0"/>
                    <a:pt x="1101598" y="0"/>
                  </a:cubicBezTo>
                  <a:close/>
                </a:path>
              </a:pathLst>
            </a:custGeom>
            <a:solidFill>
              <a:srgbClr val="984DC3"/>
            </a:solidFill>
          </p:spPr>
        </p:sp>
      </p:grpSp>
      <p:sp>
        <p:nvSpPr>
          <p:cNvPr name="Freeform 11" id="11"/>
          <p:cNvSpPr/>
          <p:nvPr/>
        </p:nvSpPr>
        <p:spPr>
          <a:xfrm flipH="false" flipV="false" rot="0">
            <a:off x="8346656" y="4908921"/>
            <a:ext cx="1594688" cy="1594688"/>
          </a:xfrm>
          <a:custGeom>
            <a:avLst/>
            <a:gdLst/>
            <a:ahLst/>
            <a:cxnLst/>
            <a:rect r="r" b="b" t="t" l="l"/>
            <a:pathLst>
              <a:path h="1594688" w="1594688">
                <a:moveTo>
                  <a:pt x="0" y="0"/>
                </a:moveTo>
                <a:lnTo>
                  <a:pt x="1594687" y="0"/>
                </a:lnTo>
                <a:lnTo>
                  <a:pt x="1594687" y="1594688"/>
                </a:lnTo>
                <a:lnTo>
                  <a:pt x="0" y="1594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6861112" y="7975896"/>
            <a:ext cx="4565775" cy="1070475"/>
          </a:xfrm>
          <a:prstGeom prst="rect">
            <a:avLst/>
          </a:prstGeom>
        </p:spPr>
        <p:txBody>
          <a:bodyPr anchor="t" rtlCol="false" tIns="0" lIns="0" bIns="0" rIns="0">
            <a:spAutoFit/>
          </a:bodyPr>
          <a:lstStyle/>
          <a:p>
            <a:pPr algn="ctr">
              <a:lnSpc>
                <a:spcPts val="4212"/>
              </a:lnSpc>
            </a:pPr>
            <a:r>
              <a:rPr lang="en-US" sz="3900">
                <a:solidFill>
                  <a:srgbClr val="000000"/>
                </a:solidFill>
                <a:latin typeface="Arimo"/>
                <a:ea typeface="Arimo"/>
                <a:cs typeface="Arimo"/>
                <a:sym typeface="Arimo"/>
              </a:rPr>
              <a:t>Diagramas de comportamiento</a:t>
            </a:r>
          </a:p>
        </p:txBody>
      </p:sp>
      <p:grpSp>
        <p:nvGrpSpPr>
          <p:cNvPr name="Group 13" id="13"/>
          <p:cNvGrpSpPr/>
          <p:nvPr/>
        </p:nvGrpSpPr>
        <p:grpSpPr>
          <a:xfrm rot="0">
            <a:off x="13107938" y="4316608"/>
            <a:ext cx="2779312" cy="2779313"/>
            <a:chOff x="0" y="0"/>
            <a:chExt cx="3705750" cy="3705750"/>
          </a:xfrm>
        </p:grpSpPr>
        <p:sp>
          <p:nvSpPr>
            <p:cNvPr name="Freeform 14" id="14"/>
            <p:cNvSpPr/>
            <p:nvPr/>
          </p:nvSpPr>
          <p:spPr>
            <a:xfrm flipH="false" flipV="false" rot="0">
              <a:off x="0" y="0"/>
              <a:ext cx="3705733" cy="3705733"/>
            </a:xfrm>
            <a:custGeom>
              <a:avLst/>
              <a:gdLst/>
              <a:ahLst/>
              <a:cxnLst/>
              <a:rect r="r" b="b" t="t" l="l"/>
              <a:pathLst>
                <a:path h="3705733" w="3705733">
                  <a:moveTo>
                    <a:pt x="1101598" y="0"/>
                  </a:moveTo>
                  <a:lnTo>
                    <a:pt x="3705733" y="0"/>
                  </a:lnTo>
                  <a:lnTo>
                    <a:pt x="3705733" y="2604135"/>
                  </a:lnTo>
                  <a:cubicBezTo>
                    <a:pt x="3705733" y="3212592"/>
                    <a:pt x="3212465" y="3705733"/>
                    <a:pt x="2604135" y="3705733"/>
                  </a:cubicBezTo>
                  <a:lnTo>
                    <a:pt x="0" y="3705733"/>
                  </a:lnTo>
                  <a:lnTo>
                    <a:pt x="0" y="1101598"/>
                  </a:lnTo>
                  <a:cubicBezTo>
                    <a:pt x="0" y="493268"/>
                    <a:pt x="493268" y="0"/>
                    <a:pt x="1101598" y="0"/>
                  </a:cubicBezTo>
                  <a:close/>
                </a:path>
              </a:pathLst>
            </a:custGeom>
            <a:solidFill>
              <a:srgbClr val="B13BAB"/>
            </a:solidFill>
          </p:spPr>
        </p:sp>
      </p:grpSp>
      <p:sp>
        <p:nvSpPr>
          <p:cNvPr name="Freeform 15" id="15"/>
          <p:cNvSpPr/>
          <p:nvPr/>
        </p:nvSpPr>
        <p:spPr>
          <a:xfrm flipH="false" flipV="false" rot="0">
            <a:off x="13700250" y="4908921"/>
            <a:ext cx="1594688" cy="1594688"/>
          </a:xfrm>
          <a:custGeom>
            <a:avLst/>
            <a:gdLst/>
            <a:ahLst/>
            <a:cxnLst/>
            <a:rect r="r" b="b" t="t" l="l"/>
            <a:pathLst>
              <a:path h="1594688" w="1594688">
                <a:moveTo>
                  <a:pt x="0" y="0"/>
                </a:moveTo>
                <a:lnTo>
                  <a:pt x="1594688" y="0"/>
                </a:lnTo>
                <a:lnTo>
                  <a:pt x="1594688" y="1594688"/>
                </a:lnTo>
                <a:lnTo>
                  <a:pt x="0" y="1594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2214706" y="7975896"/>
            <a:ext cx="4565775" cy="1070475"/>
          </a:xfrm>
          <a:prstGeom prst="rect">
            <a:avLst/>
          </a:prstGeom>
        </p:spPr>
        <p:txBody>
          <a:bodyPr anchor="t" rtlCol="false" tIns="0" lIns="0" bIns="0" rIns="0">
            <a:spAutoFit/>
          </a:bodyPr>
          <a:lstStyle/>
          <a:p>
            <a:pPr algn="ctr">
              <a:lnSpc>
                <a:spcPts val="4212"/>
              </a:lnSpc>
            </a:pPr>
            <a:r>
              <a:rPr lang="en-US" sz="3900">
                <a:solidFill>
                  <a:srgbClr val="000000"/>
                </a:solidFill>
                <a:latin typeface="Arimo"/>
                <a:ea typeface="Arimo"/>
                <a:cs typeface="Arimo"/>
                <a:sym typeface="Arimo"/>
              </a:rPr>
              <a:t>Diagramas de interacción</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3536350"/>
            <a:ext cx="6187608" cy="2949575"/>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Diagramas Estructurales</a:t>
            </a:r>
          </a:p>
        </p:txBody>
      </p:sp>
      <p:sp>
        <p:nvSpPr>
          <p:cNvPr name="AutoShape 4" id="4"/>
          <p:cNvSpPr/>
          <p:nvPr/>
        </p:nvSpPr>
        <p:spPr>
          <a:xfrm rot="247854">
            <a:off x="1010637" y="1517926"/>
            <a:ext cx="1586715" cy="0"/>
          </a:xfrm>
          <a:prstGeom prst="line">
            <a:avLst/>
          </a:prstGeom>
          <a:ln cap="rnd" w="57150">
            <a:solidFill>
              <a:srgbClr val="4D64C3"/>
            </a:solidFill>
            <a:prstDash val="solid"/>
            <a:headEnd type="none" len="sm" w="sm"/>
            <a:tailEnd type="none" len="sm" w="sm"/>
          </a:ln>
        </p:spPr>
      </p:sp>
      <p:grpSp>
        <p:nvGrpSpPr>
          <p:cNvPr name="Group 5" id="5"/>
          <p:cNvGrpSpPr/>
          <p:nvPr/>
        </p:nvGrpSpPr>
        <p:grpSpPr>
          <a:xfrm rot="0">
            <a:off x="7567952" y="2498850"/>
            <a:ext cx="9738085" cy="1208568"/>
            <a:chOff x="0" y="0"/>
            <a:chExt cx="12984114" cy="1611424"/>
          </a:xfrm>
        </p:grpSpPr>
        <p:sp>
          <p:nvSpPr>
            <p:cNvPr name="Freeform 6" id="6"/>
            <p:cNvSpPr/>
            <p:nvPr/>
          </p:nvSpPr>
          <p:spPr>
            <a:xfrm flipH="false" flipV="false" rot="0">
              <a:off x="12700" y="12700"/>
              <a:ext cx="12958699" cy="1585976"/>
            </a:xfrm>
            <a:custGeom>
              <a:avLst/>
              <a:gdLst/>
              <a:ahLst/>
              <a:cxnLst/>
              <a:rect r="r" b="b" t="t" l="l"/>
              <a:pathLst>
                <a:path h="1585976" w="12958699">
                  <a:moveTo>
                    <a:pt x="0" y="0"/>
                  </a:moveTo>
                  <a:lnTo>
                    <a:pt x="12958699" y="0"/>
                  </a:lnTo>
                  <a:lnTo>
                    <a:pt x="12958699" y="1585976"/>
                  </a:lnTo>
                  <a:lnTo>
                    <a:pt x="0" y="1585976"/>
                  </a:lnTo>
                  <a:close/>
                </a:path>
              </a:pathLst>
            </a:custGeom>
            <a:solidFill>
              <a:srgbClr val="FFFFFF">
                <a:alpha val="80784"/>
              </a:srgbClr>
            </a:solidFill>
          </p:spPr>
        </p:sp>
        <p:sp>
          <p:nvSpPr>
            <p:cNvPr name="Freeform 7" id="7"/>
            <p:cNvSpPr/>
            <p:nvPr/>
          </p:nvSpPr>
          <p:spPr>
            <a:xfrm flipH="false" flipV="false" rot="0">
              <a:off x="0" y="0"/>
              <a:ext cx="12984099" cy="1611376"/>
            </a:xfrm>
            <a:custGeom>
              <a:avLst/>
              <a:gdLst/>
              <a:ahLst/>
              <a:cxnLst/>
              <a:rect r="r" b="b" t="t" l="l"/>
              <a:pathLst>
                <a:path h="1611376" w="12984099">
                  <a:moveTo>
                    <a:pt x="12700" y="0"/>
                  </a:moveTo>
                  <a:lnTo>
                    <a:pt x="12971399" y="0"/>
                  </a:lnTo>
                  <a:cubicBezTo>
                    <a:pt x="12978384" y="0"/>
                    <a:pt x="12984099" y="5715"/>
                    <a:pt x="12984099" y="12700"/>
                  </a:cubicBezTo>
                  <a:lnTo>
                    <a:pt x="12984099" y="1598676"/>
                  </a:lnTo>
                  <a:cubicBezTo>
                    <a:pt x="12984099" y="1605661"/>
                    <a:pt x="12978384" y="1611376"/>
                    <a:pt x="12971399" y="1611376"/>
                  </a:cubicBezTo>
                  <a:lnTo>
                    <a:pt x="12700" y="1611376"/>
                  </a:lnTo>
                  <a:cubicBezTo>
                    <a:pt x="5715" y="1611376"/>
                    <a:pt x="0" y="1605661"/>
                    <a:pt x="0" y="1598676"/>
                  </a:cubicBezTo>
                  <a:lnTo>
                    <a:pt x="0" y="12700"/>
                  </a:lnTo>
                  <a:cubicBezTo>
                    <a:pt x="0" y="5715"/>
                    <a:pt x="5715" y="0"/>
                    <a:pt x="12700" y="0"/>
                  </a:cubicBezTo>
                  <a:moveTo>
                    <a:pt x="12700" y="25400"/>
                  </a:moveTo>
                  <a:lnTo>
                    <a:pt x="12700" y="12700"/>
                  </a:lnTo>
                  <a:lnTo>
                    <a:pt x="25400" y="12700"/>
                  </a:lnTo>
                  <a:lnTo>
                    <a:pt x="25400" y="1598676"/>
                  </a:lnTo>
                  <a:lnTo>
                    <a:pt x="12700" y="1598676"/>
                  </a:lnTo>
                  <a:lnTo>
                    <a:pt x="12700" y="1585976"/>
                  </a:lnTo>
                  <a:lnTo>
                    <a:pt x="12971399" y="1585976"/>
                  </a:lnTo>
                  <a:lnTo>
                    <a:pt x="12971399" y="1598676"/>
                  </a:lnTo>
                  <a:lnTo>
                    <a:pt x="12958699" y="1598676"/>
                  </a:lnTo>
                  <a:lnTo>
                    <a:pt x="12958699" y="12700"/>
                  </a:lnTo>
                  <a:lnTo>
                    <a:pt x="12971399" y="12700"/>
                  </a:lnTo>
                  <a:lnTo>
                    <a:pt x="12971399" y="25400"/>
                  </a:lnTo>
                  <a:lnTo>
                    <a:pt x="12700" y="25400"/>
                  </a:lnTo>
                  <a:close/>
                </a:path>
              </a:pathLst>
            </a:custGeom>
            <a:solidFill>
              <a:srgbClr val="553BB1"/>
            </a:solidFill>
          </p:spPr>
        </p:sp>
      </p:grpSp>
      <p:sp>
        <p:nvSpPr>
          <p:cNvPr name="TextBox 8" id="8"/>
          <p:cNvSpPr txBox="true"/>
          <p:nvPr/>
        </p:nvSpPr>
        <p:spPr>
          <a:xfrm rot="0">
            <a:off x="8070822" y="2913632"/>
            <a:ext cx="8732346" cy="658658"/>
          </a:xfrm>
          <a:prstGeom prst="rect">
            <a:avLst/>
          </a:prstGeom>
        </p:spPr>
        <p:txBody>
          <a:bodyPr anchor="t" rtlCol="false" tIns="0" lIns="0" bIns="0" rIns="0">
            <a:spAutoFit/>
          </a:bodyPr>
          <a:lstStyle/>
          <a:p>
            <a:pPr algn="l" marL="515779" indent="-171926" lvl="2">
              <a:lnSpc>
                <a:spcPts val="3078"/>
              </a:lnSpc>
              <a:buFont typeface="Arial"/>
              <a:buChar char="⚬"/>
            </a:pPr>
            <a:r>
              <a:rPr lang="en-US" sz="2850">
                <a:solidFill>
                  <a:srgbClr val="000000"/>
                </a:solidFill>
                <a:latin typeface="Arimo"/>
                <a:ea typeface="Arimo"/>
                <a:cs typeface="Arimo"/>
                <a:sym typeface="Arimo"/>
              </a:rPr>
              <a:t>Muestra la estructura estática de un sistema.</a:t>
            </a:r>
          </a:p>
        </p:txBody>
      </p:sp>
      <p:grpSp>
        <p:nvGrpSpPr>
          <p:cNvPr name="Group 9" id="9"/>
          <p:cNvGrpSpPr/>
          <p:nvPr/>
        </p:nvGrpSpPr>
        <p:grpSpPr>
          <a:xfrm rot="0">
            <a:off x="8053902" y="2078190"/>
            <a:ext cx="6822373" cy="860370"/>
            <a:chOff x="0" y="0"/>
            <a:chExt cx="9096498" cy="1147160"/>
          </a:xfrm>
        </p:grpSpPr>
        <p:sp>
          <p:nvSpPr>
            <p:cNvPr name="Freeform 10" id="10"/>
            <p:cNvSpPr/>
            <p:nvPr/>
          </p:nvSpPr>
          <p:spPr>
            <a:xfrm flipH="false" flipV="false" rot="0">
              <a:off x="12700" y="12700"/>
              <a:ext cx="9071102" cy="1121791"/>
            </a:xfrm>
            <a:custGeom>
              <a:avLst/>
              <a:gdLst/>
              <a:ahLst/>
              <a:cxnLst/>
              <a:rect r="r" b="b" t="t" l="l"/>
              <a:pathLst>
                <a:path h="1121791" w="9071102">
                  <a:moveTo>
                    <a:pt x="0" y="186944"/>
                  </a:moveTo>
                  <a:cubicBezTo>
                    <a:pt x="0" y="83693"/>
                    <a:pt x="85344" y="0"/>
                    <a:pt x="190627" y="0"/>
                  </a:cubicBezTo>
                  <a:lnTo>
                    <a:pt x="8880475" y="0"/>
                  </a:lnTo>
                  <a:cubicBezTo>
                    <a:pt x="8985758" y="0"/>
                    <a:pt x="9071102" y="83693"/>
                    <a:pt x="9071102" y="186944"/>
                  </a:cubicBezTo>
                  <a:lnTo>
                    <a:pt x="9071102" y="934847"/>
                  </a:lnTo>
                  <a:cubicBezTo>
                    <a:pt x="9071102" y="1038098"/>
                    <a:pt x="8985758" y="1121791"/>
                    <a:pt x="8880475" y="1121791"/>
                  </a:cubicBezTo>
                  <a:lnTo>
                    <a:pt x="190627" y="1121791"/>
                  </a:lnTo>
                  <a:cubicBezTo>
                    <a:pt x="85344" y="1121791"/>
                    <a:pt x="0" y="1038098"/>
                    <a:pt x="0" y="934847"/>
                  </a:cubicBezTo>
                  <a:close/>
                </a:path>
              </a:pathLst>
            </a:custGeom>
            <a:solidFill>
              <a:srgbClr val="553BB1"/>
            </a:solidFill>
          </p:spPr>
        </p:sp>
        <p:sp>
          <p:nvSpPr>
            <p:cNvPr name="Freeform 11" id="11"/>
            <p:cNvSpPr/>
            <p:nvPr/>
          </p:nvSpPr>
          <p:spPr>
            <a:xfrm flipH="false" flipV="false" rot="0">
              <a:off x="0" y="0"/>
              <a:ext cx="9096502" cy="1147191"/>
            </a:xfrm>
            <a:custGeom>
              <a:avLst/>
              <a:gdLst/>
              <a:ahLst/>
              <a:cxnLst/>
              <a:rect r="r" b="b" t="t" l="l"/>
              <a:pathLst>
                <a:path h="1147191" w="9096502">
                  <a:moveTo>
                    <a:pt x="0" y="199644"/>
                  </a:moveTo>
                  <a:cubicBezTo>
                    <a:pt x="0" y="89154"/>
                    <a:pt x="91313" y="0"/>
                    <a:pt x="203327" y="0"/>
                  </a:cubicBezTo>
                  <a:lnTo>
                    <a:pt x="8893175" y="0"/>
                  </a:lnTo>
                  <a:lnTo>
                    <a:pt x="8893175" y="12700"/>
                  </a:lnTo>
                  <a:lnTo>
                    <a:pt x="8893175" y="0"/>
                  </a:lnTo>
                  <a:cubicBezTo>
                    <a:pt x="9005316" y="0"/>
                    <a:pt x="9096502" y="89154"/>
                    <a:pt x="9096502" y="199644"/>
                  </a:cubicBezTo>
                  <a:lnTo>
                    <a:pt x="9083802" y="199644"/>
                  </a:lnTo>
                  <a:lnTo>
                    <a:pt x="9096502" y="199644"/>
                  </a:lnTo>
                  <a:lnTo>
                    <a:pt x="9096502" y="947547"/>
                  </a:lnTo>
                  <a:lnTo>
                    <a:pt x="9083802" y="947547"/>
                  </a:lnTo>
                  <a:lnTo>
                    <a:pt x="9096502" y="947547"/>
                  </a:lnTo>
                  <a:cubicBezTo>
                    <a:pt x="9096502" y="1058037"/>
                    <a:pt x="9005189" y="1147191"/>
                    <a:pt x="8893175" y="1147191"/>
                  </a:cubicBezTo>
                  <a:lnTo>
                    <a:pt x="8893175" y="1134491"/>
                  </a:lnTo>
                  <a:lnTo>
                    <a:pt x="8893175" y="1147191"/>
                  </a:lnTo>
                  <a:lnTo>
                    <a:pt x="203327" y="1147191"/>
                  </a:lnTo>
                  <a:lnTo>
                    <a:pt x="203327" y="1134491"/>
                  </a:lnTo>
                  <a:lnTo>
                    <a:pt x="203327" y="1147191"/>
                  </a:lnTo>
                  <a:cubicBezTo>
                    <a:pt x="91313" y="1147191"/>
                    <a:pt x="0" y="1058037"/>
                    <a:pt x="0" y="947547"/>
                  </a:cubicBezTo>
                  <a:lnTo>
                    <a:pt x="0" y="199644"/>
                  </a:lnTo>
                  <a:lnTo>
                    <a:pt x="12700" y="199644"/>
                  </a:lnTo>
                  <a:lnTo>
                    <a:pt x="0" y="199644"/>
                  </a:lnTo>
                  <a:moveTo>
                    <a:pt x="25400" y="199644"/>
                  </a:moveTo>
                  <a:lnTo>
                    <a:pt x="25400" y="947547"/>
                  </a:lnTo>
                  <a:lnTo>
                    <a:pt x="12700" y="947547"/>
                  </a:lnTo>
                  <a:lnTo>
                    <a:pt x="25400" y="947547"/>
                  </a:lnTo>
                  <a:cubicBezTo>
                    <a:pt x="25400" y="1043559"/>
                    <a:pt x="104902" y="1121791"/>
                    <a:pt x="203327" y="1121791"/>
                  </a:cubicBezTo>
                  <a:lnTo>
                    <a:pt x="8893175" y="1121791"/>
                  </a:lnTo>
                  <a:cubicBezTo>
                    <a:pt x="8991727" y="1121791"/>
                    <a:pt x="9071102" y="1043559"/>
                    <a:pt x="9071102" y="947547"/>
                  </a:cubicBezTo>
                  <a:lnTo>
                    <a:pt x="9071102" y="199644"/>
                  </a:lnTo>
                  <a:cubicBezTo>
                    <a:pt x="9071102" y="103632"/>
                    <a:pt x="8991600" y="25400"/>
                    <a:pt x="8893175" y="25400"/>
                  </a:cubicBezTo>
                  <a:lnTo>
                    <a:pt x="203327" y="25400"/>
                  </a:lnTo>
                  <a:lnTo>
                    <a:pt x="203327" y="12700"/>
                  </a:lnTo>
                  <a:lnTo>
                    <a:pt x="203327" y="25400"/>
                  </a:lnTo>
                  <a:cubicBezTo>
                    <a:pt x="104902" y="25400"/>
                    <a:pt x="25400" y="103632"/>
                    <a:pt x="25400" y="199644"/>
                  </a:cubicBezTo>
                  <a:close/>
                </a:path>
              </a:pathLst>
            </a:custGeom>
            <a:solidFill>
              <a:srgbClr val="FFFFFF"/>
            </a:solidFill>
          </p:spPr>
        </p:sp>
      </p:grpSp>
      <p:grpSp>
        <p:nvGrpSpPr>
          <p:cNvPr name="Group 12" id="12"/>
          <p:cNvGrpSpPr/>
          <p:nvPr/>
        </p:nvGrpSpPr>
        <p:grpSpPr>
          <a:xfrm rot="0">
            <a:off x="8094972" y="2119260"/>
            <a:ext cx="6740234" cy="778230"/>
            <a:chOff x="0" y="0"/>
            <a:chExt cx="8986978" cy="1037640"/>
          </a:xfrm>
        </p:grpSpPr>
        <p:sp>
          <p:nvSpPr>
            <p:cNvPr name="Freeform 13" id="13"/>
            <p:cNvSpPr/>
            <p:nvPr/>
          </p:nvSpPr>
          <p:spPr>
            <a:xfrm flipH="false" flipV="false" rot="0">
              <a:off x="0" y="0"/>
              <a:ext cx="8986978" cy="1037640"/>
            </a:xfrm>
            <a:custGeom>
              <a:avLst/>
              <a:gdLst/>
              <a:ahLst/>
              <a:cxnLst/>
              <a:rect r="r" b="b" t="t" l="l"/>
              <a:pathLst>
                <a:path h="1037640" w="8986978">
                  <a:moveTo>
                    <a:pt x="0" y="0"/>
                  </a:moveTo>
                  <a:lnTo>
                    <a:pt x="8986978" y="0"/>
                  </a:lnTo>
                  <a:lnTo>
                    <a:pt x="8986978" y="1037640"/>
                  </a:lnTo>
                  <a:lnTo>
                    <a:pt x="0" y="1037640"/>
                  </a:lnTo>
                  <a:close/>
                </a:path>
              </a:pathLst>
            </a:custGeom>
            <a:solidFill>
              <a:srgbClr val="000000">
                <a:alpha val="0"/>
              </a:srgbClr>
            </a:solidFill>
          </p:spPr>
        </p:sp>
        <p:sp>
          <p:nvSpPr>
            <p:cNvPr name="TextBox 14" id="14"/>
            <p:cNvSpPr txBox="true"/>
            <p:nvPr/>
          </p:nvSpPr>
          <p:spPr>
            <a:xfrm>
              <a:off x="0" y="19050"/>
              <a:ext cx="8986978" cy="1018590"/>
            </a:xfrm>
            <a:prstGeom prst="rect">
              <a:avLst/>
            </a:prstGeom>
          </p:spPr>
          <p:txBody>
            <a:bodyPr anchor="ctr" rtlCol="false" tIns="0" lIns="0" bIns="0" rIns="0"/>
            <a:lstStyle/>
            <a:p>
              <a:pPr algn="l">
                <a:lnSpc>
                  <a:spcPts val="3078"/>
                </a:lnSpc>
              </a:pPr>
              <a:r>
                <a:rPr lang="en-US" sz="2850">
                  <a:solidFill>
                    <a:srgbClr val="FFFFFF"/>
                  </a:solidFill>
                  <a:latin typeface="Arimo"/>
                  <a:ea typeface="Arimo"/>
                  <a:cs typeface="Arimo"/>
                  <a:sym typeface="Arimo"/>
                </a:rPr>
                <a:t>Diagrama de clases</a:t>
              </a:r>
            </a:p>
          </p:txBody>
        </p:sp>
      </p:grpSp>
      <p:grpSp>
        <p:nvGrpSpPr>
          <p:cNvPr name="Group 15" id="15"/>
          <p:cNvGrpSpPr/>
          <p:nvPr/>
        </p:nvGrpSpPr>
        <p:grpSpPr>
          <a:xfrm rot="0">
            <a:off x="7567952" y="4262928"/>
            <a:ext cx="9738085" cy="1208568"/>
            <a:chOff x="0" y="0"/>
            <a:chExt cx="12984114" cy="1611424"/>
          </a:xfrm>
        </p:grpSpPr>
        <p:sp>
          <p:nvSpPr>
            <p:cNvPr name="Freeform 16" id="16"/>
            <p:cNvSpPr/>
            <p:nvPr/>
          </p:nvSpPr>
          <p:spPr>
            <a:xfrm flipH="false" flipV="false" rot="0">
              <a:off x="12700" y="12700"/>
              <a:ext cx="12958699" cy="1585976"/>
            </a:xfrm>
            <a:custGeom>
              <a:avLst/>
              <a:gdLst/>
              <a:ahLst/>
              <a:cxnLst/>
              <a:rect r="r" b="b" t="t" l="l"/>
              <a:pathLst>
                <a:path h="1585976" w="12958699">
                  <a:moveTo>
                    <a:pt x="0" y="0"/>
                  </a:moveTo>
                  <a:lnTo>
                    <a:pt x="12958699" y="0"/>
                  </a:lnTo>
                  <a:lnTo>
                    <a:pt x="12958699" y="1585976"/>
                  </a:lnTo>
                  <a:lnTo>
                    <a:pt x="0" y="1585976"/>
                  </a:lnTo>
                  <a:close/>
                </a:path>
              </a:pathLst>
            </a:custGeom>
            <a:solidFill>
              <a:srgbClr val="FFFFFF">
                <a:alpha val="80784"/>
              </a:srgbClr>
            </a:solidFill>
          </p:spPr>
        </p:sp>
        <p:sp>
          <p:nvSpPr>
            <p:cNvPr name="Freeform 17" id="17"/>
            <p:cNvSpPr/>
            <p:nvPr/>
          </p:nvSpPr>
          <p:spPr>
            <a:xfrm flipH="false" flipV="false" rot="0">
              <a:off x="0" y="0"/>
              <a:ext cx="12984099" cy="1611376"/>
            </a:xfrm>
            <a:custGeom>
              <a:avLst/>
              <a:gdLst/>
              <a:ahLst/>
              <a:cxnLst/>
              <a:rect r="r" b="b" t="t" l="l"/>
              <a:pathLst>
                <a:path h="1611376" w="12984099">
                  <a:moveTo>
                    <a:pt x="12700" y="0"/>
                  </a:moveTo>
                  <a:lnTo>
                    <a:pt x="12971399" y="0"/>
                  </a:lnTo>
                  <a:cubicBezTo>
                    <a:pt x="12978384" y="0"/>
                    <a:pt x="12984099" y="5715"/>
                    <a:pt x="12984099" y="12700"/>
                  </a:cubicBezTo>
                  <a:lnTo>
                    <a:pt x="12984099" y="1598676"/>
                  </a:lnTo>
                  <a:cubicBezTo>
                    <a:pt x="12984099" y="1605661"/>
                    <a:pt x="12978384" y="1611376"/>
                    <a:pt x="12971399" y="1611376"/>
                  </a:cubicBezTo>
                  <a:lnTo>
                    <a:pt x="12700" y="1611376"/>
                  </a:lnTo>
                  <a:cubicBezTo>
                    <a:pt x="5715" y="1611376"/>
                    <a:pt x="0" y="1605661"/>
                    <a:pt x="0" y="1598676"/>
                  </a:cubicBezTo>
                  <a:lnTo>
                    <a:pt x="0" y="12700"/>
                  </a:lnTo>
                  <a:cubicBezTo>
                    <a:pt x="0" y="5715"/>
                    <a:pt x="5715" y="0"/>
                    <a:pt x="12700" y="0"/>
                  </a:cubicBezTo>
                  <a:moveTo>
                    <a:pt x="12700" y="25400"/>
                  </a:moveTo>
                  <a:lnTo>
                    <a:pt x="12700" y="12700"/>
                  </a:lnTo>
                  <a:lnTo>
                    <a:pt x="25400" y="12700"/>
                  </a:lnTo>
                  <a:lnTo>
                    <a:pt x="25400" y="1598676"/>
                  </a:lnTo>
                  <a:lnTo>
                    <a:pt x="12700" y="1598676"/>
                  </a:lnTo>
                  <a:lnTo>
                    <a:pt x="12700" y="1585976"/>
                  </a:lnTo>
                  <a:lnTo>
                    <a:pt x="12971399" y="1585976"/>
                  </a:lnTo>
                  <a:lnTo>
                    <a:pt x="12971399" y="1598676"/>
                  </a:lnTo>
                  <a:lnTo>
                    <a:pt x="12958699" y="1598676"/>
                  </a:lnTo>
                  <a:lnTo>
                    <a:pt x="12958699" y="12700"/>
                  </a:lnTo>
                  <a:lnTo>
                    <a:pt x="12971399" y="12700"/>
                  </a:lnTo>
                  <a:lnTo>
                    <a:pt x="12971399" y="25400"/>
                  </a:lnTo>
                  <a:lnTo>
                    <a:pt x="12700" y="25400"/>
                  </a:lnTo>
                  <a:close/>
                </a:path>
              </a:pathLst>
            </a:custGeom>
            <a:solidFill>
              <a:srgbClr val="984DC3"/>
            </a:solidFill>
          </p:spPr>
        </p:sp>
      </p:grpSp>
      <p:sp>
        <p:nvSpPr>
          <p:cNvPr name="TextBox 18" id="18"/>
          <p:cNvSpPr txBox="true"/>
          <p:nvPr/>
        </p:nvSpPr>
        <p:spPr>
          <a:xfrm rot="0">
            <a:off x="8070822" y="4677710"/>
            <a:ext cx="8732346" cy="658658"/>
          </a:xfrm>
          <a:prstGeom prst="rect">
            <a:avLst/>
          </a:prstGeom>
        </p:spPr>
        <p:txBody>
          <a:bodyPr anchor="t" rtlCol="false" tIns="0" lIns="0" bIns="0" rIns="0">
            <a:spAutoFit/>
          </a:bodyPr>
          <a:lstStyle/>
          <a:p>
            <a:pPr algn="l" marL="515779" indent="-171926" lvl="2">
              <a:lnSpc>
                <a:spcPts val="3078"/>
              </a:lnSpc>
              <a:buFont typeface="Arial"/>
              <a:buChar char="⚬"/>
            </a:pPr>
            <a:r>
              <a:rPr lang="en-US" sz="2850">
                <a:solidFill>
                  <a:srgbClr val="000000"/>
                </a:solidFill>
                <a:latin typeface="Arimo"/>
                <a:ea typeface="Arimo"/>
                <a:cs typeface="Arimo"/>
                <a:sym typeface="Arimo"/>
              </a:rPr>
              <a:t>Representa instancias de clases.</a:t>
            </a:r>
          </a:p>
        </p:txBody>
      </p:sp>
      <p:grpSp>
        <p:nvGrpSpPr>
          <p:cNvPr name="Group 19" id="19"/>
          <p:cNvGrpSpPr/>
          <p:nvPr/>
        </p:nvGrpSpPr>
        <p:grpSpPr>
          <a:xfrm rot="0">
            <a:off x="8053902" y="3842268"/>
            <a:ext cx="6822373" cy="860370"/>
            <a:chOff x="0" y="0"/>
            <a:chExt cx="9096498" cy="1147160"/>
          </a:xfrm>
        </p:grpSpPr>
        <p:sp>
          <p:nvSpPr>
            <p:cNvPr name="Freeform 20" id="20"/>
            <p:cNvSpPr/>
            <p:nvPr/>
          </p:nvSpPr>
          <p:spPr>
            <a:xfrm flipH="false" flipV="false" rot="0">
              <a:off x="12700" y="12700"/>
              <a:ext cx="9071102" cy="1121791"/>
            </a:xfrm>
            <a:custGeom>
              <a:avLst/>
              <a:gdLst/>
              <a:ahLst/>
              <a:cxnLst/>
              <a:rect r="r" b="b" t="t" l="l"/>
              <a:pathLst>
                <a:path h="1121791" w="9071102">
                  <a:moveTo>
                    <a:pt x="0" y="186944"/>
                  </a:moveTo>
                  <a:cubicBezTo>
                    <a:pt x="0" y="83693"/>
                    <a:pt x="85344" y="0"/>
                    <a:pt x="190627" y="0"/>
                  </a:cubicBezTo>
                  <a:lnTo>
                    <a:pt x="8880475" y="0"/>
                  </a:lnTo>
                  <a:cubicBezTo>
                    <a:pt x="8985758" y="0"/>
                    <a:pt x="9071102" y="83693"/>
                    <a:pt x="9071102" y="186944"/>
                  </a:cubicBezTo>
                  <a:lnTo>
                    <a:pt x="9071102" y="934847"/>
                  </a:lnTo>
                  <a:cubicBezTo>
                    <a:pt x="9071102" y="1038098"/>
                    <a:pt x="8985758" y="1121791"/>
                    <a:pt x="8880475" y="1121791"/>
                  </a:cubicBezTo>
                  <a:lnTo>
                    <a:pt x="190627" y="1121791"/>
                  </a:lnTo>
                  <a:cubicBezTo>
                    <a:pt x="85344" y="1121791"/>
                    <a:pt x="0" y="1038098"/>
                    <a:pt x="0" y="934847"/>
                  </a:cubicBezTo>
                  <a:close/>
                </a:path>
              </a:pathLst>
            </a:custGeom>
            <a:solidFill>
              <a:srgbClr val="984DC3"/>
            </a:solidFill>
          </p:spPr>
        </p:sp>
        <p:sp>
          <p:nvSpPr>
            <p:cNvPr name="Freeform 21" id="21"/>
            <p:cNvSpPr/>
            <p:nvPr/>
          </p:nvSpPr>
          <p:spPr>
            <a:xfrm flipH="false" flipV="false" rot="0">
              <a:off x="0" y="0"/>
              <a:ext cx="9096502" cy="1147191"/>
            </a:xfrm>
            <a:custGeom>
              <a:avLst/>
              <a:gdLst/>
              <a:ahLst/>
              <a:cxnLst/>
              <a:rect r="r" b="b" t="t" l="l"/>
              <a:pathLst>
                <a:path h="1147191" w="9096502">
                  <a:moveTo>
                    <a:pt x="0" y="199644"/>
                  </a:moveTo>
                  <a:cubicBezTo>
                    <a:pt x="0" y="89154"/>
                    <a:pt x="91313" y="0"/>
                    <a:pt x="203327" y="0"/>
                  </a:cubicBezTo>
                  <a:lnTo>
                    <a:pt x="8893175" y="0"/>
                  </a:lnTo>
                  <a:lnTo>
                    <a:pt x="8893175" y="12700"/>
                  </a:lnTo>
                  <a:lnTo>
                    <a:pt x="8893175" y="0"/>
                  </a:lnTo>
                  <a:cubicBezTo>
                    <a:pt x="9005316" y="0"/>
                    <a:pt x="9096502" y="89154"/>
                    <a:pt x="9096502" y="199644"/>
                  </a:cubicBezTo>
                  <a:lnTo>
                    <a:pt x="9083802" y="199644"/>
                  </a:lnTo>
                  <a:lnTo>
                    <a:pt x="9096502" y="199644"/>
                  </a:lnTo>
                  <a:lnTo>
                    <a:pt x="9096502" y="947547"/>
                  </a:lnTo>
                  <a:lnTo>
                    <a:pt x="9083802" y="947547"/>
                  </a:lnTo>
                  <a:lnTo>
                    <a:pt x="9096502" y="947547"/>
                  </a:lnTo>
                  <a:cubicBezTo>
                    <a:pt x="9096502" y="1058037"/>
                    <a:pt x="9005189" y="1147191"/>
                    <a:pt x="8893175" y="1147191"/>
                  </a:cubicBezTo>
                  <a:lnTo>
                    <a:pt x="8893175" y="1134491"/>
                  </a:lnTo>
                  <a:lnTo>
                    <a:pt x="8893175" y="1147191"/>
                  </a:lnTo>
                  <a:lnTo>
                    <a:pt x="203327" y="1147191"/>
                  </a:lnTo>
                  <a:lnTo>
                    <a:pt x="203327" y="1134491"/>
                  </a:lnTo>
                  <a:lnTo>
                    <a:pt x="203327" y="1147191"/>
                  </a:lnTo>
                  <a:cubicBezTo>
                    <a:pt x="91313" y="1147191"/>
                    <a:pt x="0" y="1058037"/>
                    <a:pt x="0" y="947547"/>
                  </a:cubicBezTo>
                  <a:lnTo>
                    <a:pt x="0" y="199644"/>
                  </a:lnTo>
                  <a:lnTo>
                    <a:pt x="12700" y="199644"/>
                  </a:lnTo>
                  <a:lnTo>
                    <a:pt x="0" y="199644"/>
                  </a:lnTo>
                  <a:moveTo>
                    <a:pt x="25400" y="199644"/>
                  </a:moveTo>
                  <a:lnTo>
                    <a:pt x="25400" y="947547"/>
                  </a:lnTo>
                  <a:lnTo>
                    <a:pt x="12700" y="947547"/>
                  </a:lnTo>
                  <a:lnTo>
                    <a:pt x="25400" y="947547"/>
                  </a:lnTo>
                  <a:cubicBezTo>
                    <a:pt x="25400" y="1043559"/>
                    <a:pt x="104902" y="1121791"/>
                    <a:pt x="203327" y="1121791"/>
                  </a:cubicBezTo>
                  <a:lnTo>
                    <a:pt x="8893175" y="1121791"/>
                  </a:lnTo>
                  <a:cubicBezTo>
                    <a:pt x="8991727" y="1121791"/>
                    <a:pt x="9071102" y="1043559"/>
                    <a:pt x="9071102" y="947547"/>
                  </a:cubicBezTo>
                  <a:lnTo>
                    <a:pt x="9071102" y="199644"/>
                  </a:lnTo>
                  <a:cubicBezTo>
                    <a:pt x="9071102" y="103632"/>
                    <a:pt x="8991600" y="25400"/>
                    <a:pt x="8893175" y="25400"/>
                  </a:cubicBezTo>
                  <a:lnTo>
                    <a:pt x="203327" y="25400"/>
                  </a:lnTo>
                  <a:lnTo>
                    <a:pt x="203327" y="12700"/>
                  </a:lnTo>
                  <a:lnTo>
                    <a:pt x="203327" y="25400"/>
                  </a:lnTo>
                  <a:cubicBezTo>
                    <a:pt x="104902" y="25400"/>
                    <a:pt x="25400" y="103632"/>
                    <a:pt x="25400" y="199644"/>
                  </a:cubicBezTo>
                  <a:close/>
                </a:path>
              </a:pathLst>
            </a:custGeom>
            <a:solidFill>
              <a:srgbClr val="FFFFFF"/>
            </a:solidFill>
          </p:spPr>
        </p:sp>
      </p:grpSp>
      <p:grpSp>
        <p:nvGrpSpPr>
          <p:cNvPr name="Group 22" id="22"/>
          <p:cNvGrpSpPr/>
          <p:nvPr/>
        </p:nvGrpSpPr>
        <p:grpSpPr>
          <a:xfrm rot="0">
            <a:off x="8094972" y="3883338"/>
            <a:ext cx="6740234" cy="778230"/>
            <a:chOff x="0" y="0"/>
            <a:chExt cx="8986978" cy="1037640"/>
          </a:xfrm>
        </p:grpSpPr>
        <p:sp>
          <p:nvSpPr>
            <p:cNvPr name="Freeform 23" id="23"/>
            <p:cNvSpPr/>
            <p:nvPr/>
          </p:nvSpPr>
          <p:spPr>
            <a:xfrm flipH="false" flipV="false" rot="0">
              <a:off x="0" y="0"/>
              <a:ext cx="8986978" cy="1037640"/>
            </a:xfrm>
            <a:custGeom>
              <a:avLst/>
              <a:gdLst/>
              <a:ahLst/>
              <a:cxnLst/>
              <a:rect r="r" b="b" t="t" l="l"/>
              <a:pathLst>
                <a:path h="1037640" w="8986978">
                  <a:moveTo>
                    <a:pt x="0" y="0"/>
                  </a:moveTo>
                  <a:lnTo>
                    <a:pt x="8986978" y="0"/>
                  </a:lnTo>
                  <a:lnTo>
                    <a:pt x="8986978" y="1037640"/>
                  </a:lnTo>
                  <a:lnTo>
                    <a:pt x="0" y="1037640"/>
                  </a:lnTo>
                  <a:close/>
                </a:path>
              </a:pathLst>
            </a:custGeom>
            <a:solidFill>
              <a:srgbClr val="000000">
                <a:alpha val="0"/>
              </a:srgbClr>
            </a:solidFill>
          </p:spPr>
        </p:sp>
        <p:sp>
          <p:nvSpPr>
            <p:cNvPr name="TextBox 24" id="24"/>
            <p:cNvSpPr txBox="true"/>
            <p:nvPr/>
          </p:nvSpPr>
          <p:spPr>
            <a:xfrm>
              <a:off x="0" y="19050"/>
              <a:ext cx="8986978" cy="1018590"/>
            </a:xfrm>
            <a:prstGeom prst="rect">
              <a:avLst/>
            </a:prstGeom>
          </p:spPr>
          <p:txBody>
            <a:bodyPr anchor="ctr" rtlCol="false" tIns="0" lIns="0" bIns="0" rIns="0"/>
            <a:lstStyle/>
            <a:p>
              <a:pPr algn="l">
                <a:lnSpc>
                  <a:spcPts val="3078"/>
                </a:lnSpc>
              </a:pPr>
              <a:r>
                <a:rPr lang="en-US" sz="2850">
                  <a:solidFill>
                    <a:srgbClr val="FFFFFF"/>
                  </a:solidFill>
                  <a:latin typeface="Arimo"/>
                  <a:ea typeface="Arimo"/>
                  <a:cs typeface="Arimo"/>
                  <a:sym typeface="Arimo"/>
                </a:rPr>
                <a:t>Diagrama de objetos</a:t>
              </a:r>
            </a:p>
          </p:txBody>
        </p:sp>
      </p:grpSp>
      <p:grpSp>
        <p:nvGrpSpPr>
          <p:cNvPr name="Group 25" id="25"/>
          <p:cNvGrpSpPr/>
          <p:nvPr/>
        </p:nvGrpSpPr>
        <p:grpSpPr>
          <a:xfrm rot="0">
            <a:off x="7567952" y="6027008"/>
            <a:ext cx="9738085" cy="1208568"/>
            <a:chOff x="0" y="0"/>
            <a:chExt cx="12984114" cy="1611424"/>
          </a:xfrm>
        </p:grpSpPr>
        <p:sp>
          <p:nvSpPr>
            <p:cNvPr name="Freeform 26" id="26"/>
            <p:cNvSpPr/>
            <p:nvPr/>
          </p:nvSpPr>
          <p:spPr>
            <a:xfrm flipH="false" flipV="false" rot="0">
              <a:off x="12700" y="12700"/>
              <a:ext cx="12958699" cy="1585976"/>
            </a:xfrm>
            <a:custGeom>
              <a:avLst/>
              <a:gdLst/>
              <a:ahLst/>
              <a:cxnLst/>
              <a:rect r="r" b="b" t="t" l="l"/>
              <a:pathLst>
                <a:path h="1585976" w="12958699">
                  <a:moveTo>
                    <a:pt x="0" y="0"/>
                  </a:moveTo>
                  <a:lnTo>
                    <a:pt x="12958699" y="0"/>
                  </a:lnTo>
                  <a:lnTo>
                    <a:pt x="12958699" y="1585976"/>
                  </a:lnTo>
                  <a:lnTo>
                    <a:pt x="0" y="1585976"/>
                  </a:lnTo>
                  <a:close/>
                </a:path>
              </a:pathLst>
            </a:custGeom>
            <a:solidFill>
              <a:srgbClr val="FFFFFF">
                <a:alpha val="80784"/>
              </a:srgbClr>
            </a:solidFill>
          </p:spPr>
        </p:sp>
        <p:sp>
          <p:nvSpPr>
            <p:cNvPr name="Freeform 27" id="27"/>
            <p:cNvSpPr/>
            <p:nvPr/>
          </p:nvSpPr>
          <p:spPr>
            <a:xfrm flipH="false" flipV="false" rot="0">
              <a:off x="0" y="0"/>
              <a:ext cx="12984099" cy="1611376"/>
            </a:xfrm>
            <a:custGeom>
              <a:avLst/>
              <a:gdLst/>
              <a:ahLst/>
              <a:cxnLst/>
              <a:rect r="r" b="b" t="t" l="l"/>
              <a:pathLst>
                <a:path h="1611376" w="12984099">
                  <a:moveTo>
                    <a:pt x="12700" y="0"/>
                  </a:moveTo>
                  <a:lnTo>
                    <a:pt x="12971399" y="0"/>
                  </a:lnTo>
                  <a:cubicBezTo>
                    <a:pt x="12978384" y="0"/>
                    <a:pt x="12984099" y="5715"/>
                    <a:pt x="12984099" y="12700"/>
                  </a:cubicBezTo>
                  <a:lnTo>
                    <a:pt x="12984099" y="1598676"/>
                  </a:lnTo>
                  <a:cubicBezTo>
                    <a:pt x="12984099" y="1605661"/>
                    <a:pt x="12978384" y="1611376"/>
                    <a:pt x="12971399" y="1611376"/>
                  </a:cubicBezTo>
                  <a:lnTo>
                    <a:pt x="12700" y="1611376"/>
                  </a:lnTo>
                  <a:cubicBezTo>
                    <a:pt x="5715" y="1611376"/>
                    <a:pt x="0" y="1605661"/>
                    <a:pt x="0" y="1598676"/>
                  </a:cubicBezTo>
                  <a:lnTo>
                    <a:pt x="0" y="12700"/>
                  </a:lnTo>
                  <a:cubicBezTo>
                    <a:pt x="0" y="5715"/>
                    <a:pt x="5715" y="0"/>
                    <a:pt x="12700" y="0"/>
                  </a:cubicBezTo>
                  <a:moveTo>
                    <a:pt x="12700" y="25400"/>
                  </a:moveTo>
                  <a:lnTo>
                    <a:pt x="12700" y="12700"/>
                  </a:lnTo>
                  <a:lnTo>
                    <a:pt x="25400" y="12700"/>
                  </a:lnTo>
                  <a:lnTo>
                    <a:pt x="25400" y="1598676"/>
                  </a:lnTo>
                  <a:lnTo>
                    <a:pt x="12700" y="1598676"/>
                  </a:lnTo>
                  <a:lnTo>
                    <a:pt x="12700" y="1585976"/>
                  </a:lnTo>
                  <a:lnTo>
                    <a:pt x="12971399" y="1585976"/>
                  </a:lnTo>
                  <a:lnTo>
                    <a:pt x="12971399" y="1598676"/>
                  </a:lnTo>
                  <a:lnTo>
                    <a:pt x="12958699" y="1598676"/>
                  </a:lnTo>
                  <a:lnTo>
                    <a:pt x="12958699" y="12700"/>
                  </a:lnTo>
                  <a:lnTo>
                    <a:pt x="12971399" y="12700"/>
                  </a:lnTo>
                  <a:lnTo>
                    <a:pt x="12971399" y="25400"/>
                  </a:lnTo>
                  <a:lnTo>
                    <a:pt x="12700" y="25400"/>
                  </a:lnTo>
                  <a:close/>
                </a:path>
              </a:pathLst>
            </a:custGeom>
            <a:solidFill>
              <a:srgbClr val="B13BAB"/>
            </a:solidFill>
          </p:spPr>
        </p:sp>
      </p:grpSp>
      <p:sp>
        <p:nvSpPr>
          <p:cNvPr name="TextBox 28" id="28"/>
          <p:cNvSpPr txBox="true"/>
          <p:nvPr/>
        </p:nvSpPr>
        <p:spPr>
          <a:xfrm rot="0">
            <a:off x="8070822" y="6441790"/>
            <a:ext cx="8732346" cy="658658"/>
          </a:xfrm>
          <a:prstGeom prst="rect">
            <a:avLst/>
          </a:prstGeom>
        </p:spPr>
        <p:txBody>
          <a:bodyPr anchor="t" rtlCol="false" tIns="0" lIns="0" bIns="0" rIns="0">
            <a:spAutoFit/>
          </a:bodyPr>
          <a:lstStyle/>
          <a:p>
            <a:pPr algn="l" marL="515779" indent="-171926" lvl="2">
              <a:lnSpc>
                <a:spcPts val="3078"/>
              </a:lnSpc>
              <a:buFont typeface="Arial"/>
              <a:buChar char="⚬"/>
            </a:pPr>
            <a:r>
              <a:rPr lang="en-US" sz="2850">
                <a:solidFill>
                  <a:srgbClr val="000000"/>
                </a:solidFill>
                <a:latin typeface="Arimo"/>
                <a:ea typeface="Arimo"/>
                <a:cs typeface="Arimo"/>
                <a:sym typeface="Arimo"/>
              </a:rPr>
              <a:t>Muestra la organización de componentes físicos.</a:t>
            </a:r>
          </a:p>
        </p:txBody>
      </p:sp>
      <p:grpSp>
        <p:nvGrpSpPr>
          <p:cNvPr name="Group 29" id="29"/>
          <p:cNvGrpSpPr/>
          <p:nvPr/>
        </p:nvGrpSpPr>
        <p:grpSpPr>
          <a:xfrm rot="0">
            <a:off x="8053902" y="5606347"/>
            <a:ext cx="6822373" cy="860370"/>
            <a:chOff x="0" y="0"/>
            <a:chExt cx="9096498" cy="1147160"/>
          </a:xfrm>
        </p:grpSpPr>
        <p:sp>
          <p:nvSpPr>
            <p:cNvPr name="Freeform 30" id="30"/>
            <p:cNvSpPr/>
            <p:nvPr/>
          </p:nvSpPr>
          <p:spPr>
            <a:xfrm flipH="false" flipV="false" rot="0">
              <a:off x="12700" y="12700"/>
              <a:ext cx="9071102" cy="1121791"/>
            </a:xfrm>
            <a:custGeom>
              <a:avLst/>
              <a:gdLst/>
              <a:ahLst/>
              <a:cxnLst/>
              <a:rect r="r" b="b" t="t" l="l"/>
              <a:pathLst>
                <a:path h="1121791" w="9071102">
                  <a:moveTo>
                    <a:pt x="0" y="186944"/>
                  </a:moveTo>
                  <a:cubicBezTo>
                    <a:pt x="0" y="83693"/>
                    <a:pt x="85344" y="0"/>
                    <a:pt x="190627" y="0"/>
                  </a:cubicBezTo>
                  <a:lnTo>
                    <a:pt x="8880475" y="0"/>
                  </a:lnTo>
                  <a:cubicBezTo>
                    <a:pt x="8985758" y="0"/>
                    <a:pt x="9071102" y="83693"/>
                    <a:pt x="9071102" y="186944"/>
                  </a:cubicBezTo>
                  <a:lnTo>
                    <a:pt x="9071102" y="934847"/>
                  </a:lnTo>
                  <a:cubicBezTo>
                    <a:pt x="9071102" y="1038098"/>
                    <a:pt x="8985758" y="1121791"/>
                    <a:pt x="8880475" y="1121791"/>
                  </a:cubicBezTo>
                  <a:lnTo>
                    <a:pt x="190627" y="1121791"/>
                  </a:lnTo>
                  <a:cubicBezTo>
                    <a:pt x="85344" y="1121791"/>
                    <a:pt x="0" y="1038098"/>
                    <a:pt x="0" y="934847"/>
                  </a:cubicBezTo>
                  <a:close/>
                </a:path>
              </a:pathLst>
            </a:custGeom>
            <a:solidFill>
              <a:srgbClr val="B13BAB"/>
            </a:solidFill>
          </p:spPr>
        </p:sp>
        <p:sp>
          <p:nvSpPr>
            <p:cNvPr name="Freeform 31" id="31"/>
            <p:cNvSpPr/>
            <p:nvPr/>
          </p:nvSpPr>
          <p:spPr>
            <a:xfrm flipH="false" flipV="false" rot="0">
              <a:off x="0" y="0"/>
              <a:ext cx="9096502" cy="1147191"/>
            </a:xfrm>
            <a:custGeom>
              <a:avLst/>
              <a:gdLst/>
              <a:ahLst/>
              <a:cxnLst/>
              <a:rect r="r" b="b" t="t" l="l"/>
              <a:pathLst>
                <a:path h="1147191" w="9096502">
                  <a:moveTo>
                    <a:pt x="0" y="199644"/>
                  </a:moveTo>
                  <a:cubicBezTo>
                    <a:pt x="0" y="89154"/>
                    <a:pt x="91313" y="0"/>
                    <a:pt x="203327" y="0"/>
                  </a:cubicBezTo>
                  <a:lnTo>
                    <a:pt x="8893175" y="0"/>
                  </a:lnTo>
                  <a:lnTo>
                    <a:pt x="8893175" y="12700"/>
                  </a:lnTo>
                  <a:lnTo>
                    <a:pt x="8893175" y="0"/>
                  </a:lnTo>
                  <a:cubicBezTo>
                    <a:pt x="9005316" y="0"/>
                    <a:pt x="9096502" y="89154"/>
                    <a:pt x="9096502" y="199644"/>
                  </a:cubicBezTo>
                  <a:lnTo>
                    <a:pt x="9083802" y="199644"/>
                  </a:lnTo>
                  <a:lnTo>
                    <a:pt x="9096502" y="199644"/>
                  </a:lnTo>
                  <a:lnTo>
                    <a:pt x="9096502" y="947547"/>
                  </a:lnTo>
                  <a:lnTo>
                    <a:pt x="9083802" y="947547"/>
                  </a:lnTo>
                  <a:lnTo>
                    <a:pt x="9096502" y="947547"/>
                  </a:lnTo>
                  <a:cubicBezTo>
                    <a:pt x="9096502" y="1058037"/>
                    <a:pt x="9005189" y="1147191"/>
                    <a:pt x="8893175" y="1147191"/>
                  </a:cubicBezTo>
                  <a:lnTo>
                    <a:pt x="8893175" y="1134491"/>
                  </a:lnTo>
                  <a:lnTo>
                    <a:pt x="8893175" y="1147191"/>
                  </a:lnTo>
                  <a:lnTo>
                    <a:pt x="203327" y="1147191"/>
                  </a:lnTo>
                  <a:lnTo>
                    <a:pt x="203327" y="1134491"/>
                  </a:lnTo>
                  <a:lnTo>
                    <a:pt x="203327" y="1147191"/>
                  </a:lnTo>
                  <a:cubicBezTo>
                    <a:pt x="91313" y="1147191"/>
                    <a:pt x="0" y="1058037"/>
                    <a:pt x="0" y="947547"/>
                  </a:cubicBezTo>
                  <a:lnTo>
                    <a:pt x="0" y="199644"/>
                  </a:lnTo>
                  <a:lnTo>
                    <a:pt x="12700" y="199644"/>
                  </a:lnTo>
                  <a:lnTo>
                    <a:pt x="0" y="199644"/>
                  </a:lnTo>
                  <a:moveTo>
                    <a:pt x="25400" y="199644"/>
                  </a:moveTo>
                  <a:lnTo>
                    <a:pt x="25400" y="947547"/>
                  </a:lnTo>
                  <a:lnTo>
                    <a:pt x="12700" y="947547"/>
                  </a:lnTo>
                  <a:lnTo>
                    <a:pt x="25400" y="947547"/>
                  </a:lnTo>
                  <a:cubicBezTo>
                    <a:pt x="25400" y="1043559"/>
                    <a:pt x="104902" y="1121791"/>
                    <a:pt x="203327" y="1121791"/>
                  </a:cubicBezTo>
                  <a:lnTo>
                    <a:pt x="8893175" y="1121791"/>
                  </a:lnTo>
                  <a:cubicBezTo>
                    <a:pt x="8991727" y="1121791"/>
                    <a:pt x="9071102" y="1043559"/>
                    <a:pt x="9071102" y="947547"/>
                  </a:cubicBezTo>
                  <a:lnTo>
                    <a:pt x="9071102" y="199644"/>
                  </a:lnTo>
                  <a:cubicBezTo>
                    <a:pt x="9071102" y="103632"/>
                    <a:pt x="8991600" y="25400"/>
                    <a:pt x="8893175" y="25400"/>
                  </a:cubicBezTo>
                  <a:lnTo>
                    <a:pt x="203327" y="25400"/>
                  </a:lnTo>
                  <a:lnTo>
                    <a:pt x="203327" y="12700"/>
                  </a:lnTo>
                  <a:lnTo>
                    <a:pt x="203327" y="25400"/>
                  </a:lnTo>
                  <a:cubicBezTo>
                    <a:pt x="104902" y="25400"/>
                    <a:pt x="25400" y="103632"/>
                    <a:pt x="25400" y="199644"/>
                  </a:cubicBezTo>
                  <a:close/>
                </a:path>
              </a:pathLst>
            </a:custGeom>
            <a:solidFill>
              <a:srgbClr val="FFFFFF"/>
            </a:solidFill>
          </p:spPr>
        </p:sp>
      </p:grpSp>
      <p:grpSp>
        <p:nvGrpSpPr>
          <p:cNvPr name="Group 32" id="32"/>
          <p:cNvGrpSpPr/>
          <p:nvPr/>
        </p:nvGrpSpPr>
        <p:grpSpPr>
          <a:xfrm rot="0">
            <a:off x="8094972" y="5647418"/>
            <a:ext cx="6740234" cy="778230"/>
            <a:chOff x="0" y="0"/>
            <a:chExt cx="8986978" cy="1037640"/>
          </a:xfrm>
        </p:grpSpPr>
        <p:sp>
          <p:nvSpPr>
            <p:cNvPr name="Freeform 33" id="33"/>
            <p:cNvSpPr/>
            <p:nvPr/>
          </p:nvSpPr>
          <p:spPr>
            <a:xfrm flipH="false" flipV="false" rot="0">
              <a:off x="0" y="0"/>
              <a:ext cx="8986978" cy="1037640"/>
            </a:xfrm>
            <a:custGeom>
              <a:avLst/>
              <a:gdLst/>
              <a:ahLst/>
              <a:cxnLst/>
              <a:rect r="r" b="b" t="t" l="l"/>
              <a:pathLst>
                <a:path h="1037640" w="8986978">
                  <a:moveTo>
                    <a:pt x="0" y="0"/>
                  </a:moveTo>
                  <a:lnTo>
                    <a:pt x="8986978" y="0"/>
                  </a:lnTo>
                  <a:lnTo>
                    <a:pt x="8986978" y="1037640"/>
                  </a:lnTo>
                  <a:lnTo>
                    <a:pt x="0" y="1037640"/>
                  </a:lnTo>
                  <a:close/>
                </a:path>
              </a:pathLst>
            </a:custGeom>
            <a:solidFill>
              <a:srgbClr val="000000">
                <a:alpha val="0"/>
              </a:srgbClr>
            </a:solidFill>
          </p:spPr>
        </p:sp>
        <p:sp>
          <p:nvSpPr>
            <p:cNvPr name="TextBox 34" id="34"/>
            <p:cNvSpPr txBox="true"/>
            <p:nvPr/>
          </p:nvSpPr>
          <p:spPr>
            <a:xfrm>
              <a:off x="0" y="19050"/>
              <a:ext cx="8986978" cy="1018590"/>
            </a:xfrm>
            <a:prstGeom prst="rect">
              <a:avLst/>
            </a:prstGeom>
          </p:spPr>
          <p:txBody>
            <a:bodyPr anchor="ctr" rtlCol="false" tIns="0" lIns="0" bIns="0" rIns="0"/>
            <a:lstStyle/>
            <a:p>
              <a:pPr algn="l">
                <a:lnSpc>
                  <a:spcPts val="3078"/>
                </a:lnSpc>
              </a:pPr>
              <a:r>
                <a:rPr lang="en-US" sz="2850">
                  <a:solidFill>
                    <a:srgbClr val="FFFFFF"/>
                  </a:solidFill>
                  <a:latin typeface="Arimo"/>
                  <a:ea typeface="Arimo"/>
                  <a:cs typeface="Arimo"/>
                  <a:sym typeface="Arimo"/>
                </a:rPr>
                <a:t>Diagrama de componentes</a:t>
              </a:r>
            </a:p>
          </p:txBody>
        </p:sp>
      </p:grpSp>
      <p:grpSp>
        <p:nvGrpSpPr>
          <p:cNvPr name="Group 35" id="35"/>
          <p:cNvGrpSpPr/>
          <p:nvPr/>
        </p:nvGrpSpPr>
        <p:grpSpPr>
          <a:xfrm rot="0">
            <a:off x="7567952" y="7791086"/>
            <a:ext cx="9738085" cy="1635000"/>
            <a:chOff x="0" y="0"/>
            <a:chExt cx="12984114" cy="2180000"/>
          </a:xfrm>
        </p:grpSpPr>
        <p:sp>
          <p:nvSpPr>
            <p:cNvPr name="Freeform 36" id="36"/>
            <p:cNvSpPr/>
            <p:nvPr/>
          </p:nvSpPr>
          <p:spPr>
            <a:xfrm flipH="false" flipV="false" rot="0">
              <a:off x="12700" y="12700"/>
              <a:ext cx="12958699" cy="2154555"/>
            </a:xfrm>
            <a:custGeom>
              <a:avLst/>
              <a:gdLst/>
              <a:ahLst/>
              <a:cxnLst/>
              <a:rect r="r" b="b" t="t" l="l"/>
              <a:pathLst>
                <a:path h="2154555" w="12958699">
                  <a:moveTo>
                    <a:pt x="0" y="0"/>
                  </a:moveTo>
                  <a:lnTo>
                    <a:pt x="12958699" y="0"/>
                  </a:lnTo>
                  <a:lnTo>
                    <a:pt x="12958699" y="2154555"/>
                  </a:lnTo>
                  <a:lnTo>
                    <a:pt x="0" y="2154555"/>
                  </a:lnTo>
                  <a:close/>
                </a:path>
              </a:pathLst>
            </a:custGeom>
            <a:solidFill>
              <a:srgbClr val="FFFFFF">
                <a:alpha val="80784"/>
              </a:srgbClr>
            </a:solidFill>
          </p:spPr>
        </p:sp>
        <p:sp>
          <p:nvSpPr>
            <p:cNvPr name="Freeform 37" id="37"/>
            <p:cNvSpPr/>
            <p:nvPr/>
          </p:nvSpPr>
          <p:spPr>
            <a:xfrm flipH="false" flipV="false" rot="0">
              <a:off x="0" y="0"/>
              <a:ext cx="12984099" cy="2179955"/>
            </a:xfrm>
            <a:custGeom>
              <a:avLst/>
              <a:gdLst/>
              <a:ahLst/>
              <a:cxnLst/>
              <a:rect r="r" b="b" t="t" l="l"/>
              <a:pathLst>
                <a:path h="2179955" w="12984099">
                  <a:moveTo>
                    <a:pt x="12700" y="0"/>
                  </a:moveTo>
                  <a:lnTo>
                    <a:pt x="12971399" y="0"/>
                  </a:lnTo>
                  <a:cubicBezTo>
                    <a:pt x="12978384" y="0"/>
                    <a:pt x="12984099" y="5715"/>
                    <a:pt x="12984099" y="12700"/>
                  </a:cubicBezTo>
                  <a:lnTo>
                    <a:pt x="12984099" y="2167255"/>
                  </a:lnTo>
                  <a:cubicBezTo>
                    <a:pt x="12984099" y="2174240"/>
                    <a:pt x="12978384" y="2179955"/>
                    <a:pt x="12971399" y="2179955"/>
                  </a:cubicBezTo>
                  <a:lnTo>
                    <a:pt x="12700" y="2179955"/>
                  </a:lnTo>
                  <a:cubicBezTo>
                    <a:pt x="5715" y="2179955"/>
                    <a:pt x="0" y="2174240"/>
                    <a:pt x="0" y="2167255"/>
                  </a:cubicBezTo>
                  <a:lnTo>
                    <a:pt x="0" y="12700"/>
                  </a:lnTo>
                  <a:cubicBezTo>
                    <a:pt x="0" y="5715"/>
                    <a:pt x="5715" y="0"/>
                    <a:pt x="12700" y="0"/>
                  </a:cubicBezTo>
                  <a:moveTo>
                    <a:pt x="12700" y="25400"/>
                  </a:moveTo>
                  <a:lnTo>
                    <a:pt x="12700" y="12700"/>
                  </a:lnTo>
                  <a:lnTo>
                    <a:pt x="25400" y="12700"/>
                  </a:lnTo>
                  <a:lnTo>
                    <a:pt x="25400" y="2167255"/>
                  </a:lnTo>
                  <a:lnTo>
                    <a:pt x="12700" y="2167255"/>
                  </a:lnTo>
                  <a:lnTo>
                    <a:pt x="12700" y="2154555"/>
                  </a:lnTo>
                  <a:lnTo>
                    <a:pt x="12971399" y="2154555"/>
                  </a:lnTo>
                  <a:lnTo>
                    <a:pt x="12971399" y="2167255"/>
                  </a:lnTo>
                  <a:lnTo>
                    <a:pt x="12958699" y="2167255"/>
                  </a:lnTo>
                  <a:lnTo>
                    <a:pt x="12958699" y="12700"/>
                  </a:lnTo>
                  <a:lnTo>
                    <a:pt x="12971399" y="12700"/>
                  </a:lnTo>
                  <a:lnTo>
                    <a:pt x="12971399" y="25400"/>
                  </a:lnTo>
                  <a:lnTo>
                    <a:pt x="12700" y="25400"/>
                  </a:lnTo>
                  <a:close/>
                </a:path>
              </a:pathLst>
            </a:custGeom>
            <a:solidFill>
              <a:srgbClr val="C34D8B"/>
            </a:solidFill>
          </p:spPr>
        </p:sp>
      </p:grpSp>
      <p:sp>
        <p:nvSpPr>
          <p:cNvPr name="TextBox 38" id="38"/>
          <p:cNvSpPr txBox="true"/>
          <p:nvPr/>
        </p:nvSpPr>
        <p:spPr>
          <a:xfrm rot="0">
            <a:off x="8070822" y="8205867"/>
            <a:ext cx="8732346" cy="1085090"/>
          </a:xfrm>
          <a:prstGeom prst="rect">
            <a:avLst/>
          </a:prstGeom>
        </p:spPr>
        <p:txBody>
          <a:bodyPr anchor="t" rtlCol="false" tIns="0" lIns="0" bIns="0" rIns="0">
            <a:spAutoFit/>
          </a:bodyPr>
          <a:lstStyle/>
          <a:p>
            <a:pPr algn="l" marL="515779" indent="-171926" lvl="2">
              <a:lnSpc>
                <a:spcPts val="3078"/>
              </a:lnSpc>
              <a:buFont typeface="Arial"/>
              <a:buChar char="⚬"/>
            </a:pPr>
            <a:r>
              <a:rPr lang="en-US" sz="2850">
                <a:solidFill>
                  <a:srgbClr val="000000"/>
                </a:solidFill>
                <a:latin typeface="Arimo"/>
                <a:ea typeface="Arimo"/>
                <a:cs typeface="Arimo"/>
                <a:sym typeface="Arimo"/>
              </a:rPr>
              <a:t>Muestra la distribución física de hardware y software.</a:t>
            </a:r>
          </a:p>
        </p:txBody>
      </p:sp>
      <p:grpSp>
        <p:nvGrpSpPr>
          <p:cNvPr name="Group 39" id="39"/>
          <p:cNvGrpSpPr/>
          <p:nvPr/>
        </p:nvGrpSpPr>
        <p:grpSpPr>
          <a:xfrm rot="0">
            <a:off x="8053902" y="7370426"/>
            <a:ext cx="6822373" cy="860370"/>
            <a:chOff x="0" y="0"/>
            <a:chExt cx="9096498" cy="1147160"/>
          </a:xfrm>
        </p:grpSpPr>
        <p:sp>
          <p:nvSpPr>
            <p:cNvPr name="Freeform 40" id="40"/>
            <p:cNvSpPr/>
            <p:nvPr/>
          </p:nvSpPr>
          <p:spPr>
            <a:xfrm flipH="false" flipV="false" rot="0">
              <a:off x="12700" y="12700"/>
              <a:ext cx="9071102" cy="1121791"/>
            </a:xfrm>
            <a:custGeom>
              <a:avLst/>
              <a:gdLst/>
              <a:ahLst/>
              <a:cxnLst/>
              <a:rect r="r" b="b" t="t" l="l"/>
              <a:pathLst>
                <a:path h="1121791" w="9071102">
                  <a:moveTo>
                    <a:pt x="0" y="186944"/>
                  </a:moveTo>
                  <a:cubicBezTo>
                    <a:pt x="0" y="83693"/>
                    <a:pt x="85344" y="0"/>
                    <a:pt x="190627" y="0"/>
                  </a:cubicBezTo>
                  <a:lnTo>
                    <a:pt x="8880475" y="0"/>
                  </a:lnTo>
                  <a:cubicBezTo>
                    <a:pt x="8985758" y="0"/>
                    <a:pt x="9071102" y="83693"/>
                    <a:pt x="9071102" y="186944"/>
                  </a:cubicBezTo>
                  <a:lnTo>
                    <a:pt x="9071102" y="934847"/>
                  </a:lnTo>
                  <a:cubicBezTo>
                    <a:pt x="9071102" y="1038098"/>
                    <a:pt x="8985758" y="1121791"/>
                    <a:pt x="8880475" y="1121791"/>
                  </a:cubicBezTo>
                  <a:lnTo>
                    <a:pt x="190627" y="1121791"/>
                  </a:lnTo>
                  <a:cubicBezTo>
                    <a:pt x="85344" y="1121791"/>
                    <a:pt x="0" y="1038098"/>
                    <a:pt x="0" y="934847"/>
                  </a:cubicBezTo>
                  <a:close/>
                </a:path>
              </a:pathLst>
            </a:custGeom>
            <a:solidFill>
              <a:srgbClr val="C34D8B"/>
            </a:solidFill>
          </p:spPr>
        </p:sp>
        <p:sp>
          <p:nvSpPr>
            <p:cNvPr name="Freeform 41" id="41"/>
            <p:cNvSpPr/>
            <p:nvPr/>
          </p:nvSpPr>
          <p:spPr>
            <a:xfrm flipH="false" flipV="false" rot="0">
              <a:off x="0" y="0"/>
              <a:ext cx="9096502" cy="1147191"/>
            </a:xfrm>
            <a:custGeom>
              <a:avLst/>
              <a:gdLst/>
              <a:ahLst/>
              <a:cxnLst/>
              <a:rect r="r" b="b" t="t" l="l"/>
              <a:pathLst>
                <a:path h="1147191" w="9096502">
                  <a:moveTo>
                    <a:pt x="0" y="199644"/>
                  </a:moveTo>
                  <a:cubicBezTo>
                    <a:pt x="0" y="89154"/>
                    <a:pt x="91313" y="0"/>
                    <a:pt x="203327" y="0"/>
                  </a:cubicBezTo>
                  <a:lnTo>
                    <a:pt x="8893175" y="0"/>
                  </a:lnTo>
                  <a:lnTo>
                    <a:pt x="8893175" y="12700"/>
                  </a:lnTo>
                  <a:lnTo>
                    <a:pt x="8893175" y="0"/>
                  </a:lnTo>
                  <a:cubicBezTo>
                    <a:pt x="9005316" y="0"/>
                    <a:pt x="9096502" y="89154"/>
                    <a:pt x="9096502" y="199644"/>
                  </a:cubicBezTo>
                  <a:lnTo>
                    <a:pt x="9083802" y="199644"/>
                  </a:lnTo>
                  <a:lnTo>
                    <a:pt x="9096502" y="199644"/>
                  </a:lnTo>
                  <a:lnTo>
                    <a:pt x="9096502" y="947547"/>
                  </a:lnTo>
                  <a:lnTo>
                    <a:pt x="9083802" y="947547"/>
                  </a:lnTo>
                  <a:lnTo>
                    <a:pt x="9096502" y="947547"/>
                  </a:lnTo>
                  <a:cubicBezTo>
                    <a:pt x="9096502" y="1058037"/>
                    <a:pt x="9005189" y="1147191"/>
                    <a:pt x="8893175" y="1147191"/>
                  </a:cubicBezTo>
                  <a:lnTo>
                    <a:pt x="8893175" y="1134491"/>
                  </a:lnTo>
                  <a:lnTo>
                    <a:pt x="8893175" y="1147191"/>
                  </a:lnTo>
                  <a:lnTo>
                    <a:pt x="203327" y="1147191"/>
                  </a:lnTo>
                  <a:lnTo>
                    <a:pt x="203327" y="1134491"/>
                  </a:lnTo>
                  <a:lnTo>
                    <a:pt x="203327" y="1147191"/>
                  </a:lnTo>
                  <a:cubicBezTo>
                    <a:pt x="91313" y="1147191"/>
                    <a:pt x="0" y="1058037"/>
                    <a:pt x="0" y="947547"/>
                  </a:cubicBezTo>
                  <a:lnTo>
                    <a:pt x="0" y="199644"/>
                  </a:lnTo>
                  <a:lnTo>
                    <a:pt x="12700" y="199644"/>
                  </a:lnTo>
                  <a:lnTo>
                    <a:pt x="0" y="199644"/>
                  </a:lnTo>
                  <a:moveTo>
                    <a:pt x="25400" y="199644"/>
                  </a:moveTo>
                  <a:lnTo>
                    <a:pt x="25400" y="947547"/>
                  </a:lnTo>
                  <a:lnTo>
                    <a:pt x="12700" y="947547"/>
                  </a:lnTo>
                  <a:lnTo>
                    <a:pt x="25400" y="947547"/>
                  </a:lnTo>
                  <a:cubicBezTo>
                    <a:pt x="25400" y="1043559"/>
                    <a:pt x="104902" y="1121791"/>
                    <a:pt x="203327" y="1121791"/>
                  </a:cubicBezTo>
                  <a:lnTo>
                    <a:pt x="8893175" y="1121791"/>
                  </a:lnTo>
                  <a:cubicBezTo>
                    <a:pt x="8991727" y="1121791"/>
                    <a:pt x="9071102" y="1043559"/>
                    <a:pt x="9071102" y="947547"/>
                  </a:cubicBezTo>
                  <a:lnTo>
                    <a:pt x="9071102" y="199644"/>
                  </a:lnTo>
                  <a:cubicBezTo>
                    <a:pt x="9071102" y="103632"/>
                    <a:pt x="8991600" y="25400"/>
                    <a:pt x="8893175" y="25400"/>
                  </a:cubicBezTo>
                  <a:lnTo>
                    <a:pt x="203327" y="25400"/>
                  </a:lnTo>
                  <a:lnTo>
                    <a:pt x="203327" y="12700"/>
                  </a:lnTo>
                  <a:lnTo>
                    <a:pt x="203327" y="25400"/>
                  </a:lnTo>
                  <a:cubicBezTo>
                    <a:pt x="104902" y="25400"/>
                    <a:pt x="25400" y="103632"/>
                    <a:pt x="25400" y="199644"/>
                  </a:cubicBezTo>
                  <a:close/>
                </a:path>
              </a:pathLst>
            </a:custGeom>
            <a:solidFill>
              <a:srgbClr val="FFFFFF"/>
            </a:solidFill>
          </p:spPr>
        </p:sp>
      </p:grpSp>
      <p:grpSp>
        <p:nvGrpSpPr>
          <p:cNvPr name="Group 42" id="42"/>
          <p:cNvGrpSpPr/>
          <p:nvPr/>
        </p:nvGrpSpPr>
        <p:grpSpPr>
          <a:xfrm rot="0">
            <a:off x="8094972" y="7411496"/>
            <a:ext cx="6740234" cy="778230"/>
            <a:chOff x="0" y="0"/>
            <a:chExt cx="8986978" cy="1037640"/>
          </a:xfrm>
        </p:grpSpPr>
        <p:sp>
          <p:nvSpPr>
            <p:cNvPr name="Freeform 43" id="43"/>
            <p:cNvSpPr/>
            <p:nvPr/>
          </p:nvSpPr>
          <p:spPr>
            <a:xfrm flipH="false" flipV="false" rot="0">
              <a:off x="0" y="0"/>
              <a:ext cx="8986978" cy="1037640"/>
            </a:xfrm>
            <a:custGeom>
              <a:avLst/>
              <a:gdLst/>
              <a:ahLst/>
              <a:cxnLst/>
              <a:rect r="r" b="b" t="t" l="l"/>
              <a:pathLst>
                <a:path h="1037640" w="8986978">
                  <a:moveTo>
                    <a:pt x="0" y="0"/>
                  </a:moveTo>
                  <a:lnTo>
                    <a:pt x="8986978" y="0"/>
                  </a:lnTo>
                  <a:lnTo>
                    <a:pt x="8986978" y="1037640"/>
                  </a:lnTo>
                  <a:lnTo>
                    <a:pt x="0" y="1037640"/>
                  </a:lnTo>
                  <a:close/>
                </a:path>
              </a:pathLst>
            </a:custGeom>
            <a:solidFill>
              <a:srgbClr val="000000">
                <a:alpha val="0"/>
              </a:srgbClr>
            </a:solidFill>
          </p:spPr>
        </p:sp>
        <p:sp>
          <p:nvSpPr>
            <p:cNvPr name="TextBox 44" id="44"/>
            <p:cNvSpPr txBox="true"/>
            <p:nvPr/>
          </p:nvSpPr>
          <p:spPr>
            <a:xfrm>
              <a:off x="0" y="19050"/>
              <a:ext cx="8986978" cy="1018590"/>
            </a:xfrm>
            <a:prstGeom prst="rect">
              <a:avLst/>
            </a:prstGeom>
          </p:spPr>
          <p:txBody>
            <a:bodyPr anchor="ctr" rtlCol="false" tIns="0" lIns="0" bIns="0" rIns="0"/>
            <a:lstStyle/>
            <a:p>
              <a:pPr algn="l">
                <a:lnSpc>
                  <a:spcPts val="3078"/>
                </a:lnSpc>
              </a:pPr>
              <a:r>
                <a:rPr lang="en-US" sz="2850">
                  <a:solidFill>
                    <a:srgbClr val="FFFFFF"/>
                  </a:solidFill>
                  <a:latin typeface="Arimo"/>
                  <a:ea typeface="Arimo"/>
                  <a:cs typeface="Arimo"/>
                  <a:sym typeface="Arimo"/>
                </a:rPr>
                <a:t>Diagrama de despliegue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1574164"/>
            <a:ext cx="5403438" cy="5864225"/>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Diagramas de Comportamiento</a:t>
            </a:r>
          </a:p>
        </p:txBody>
      </p:sp>
      <p:sp>
        <p:nvSpPr>
          <p:cNvPr name="AutoShape 4" id="4"/>
          <p:cNvSpPr/>
          <p:nvPr/>
        </p:nvSpPr>
        <p:spPr>
          <a:xfrm rot="23980">
            <a:off x="951030" y="9380601"/>
            <a:ext cx="16385941" cy="0"/>
          </a:xfrm>
          <a:prstGeom prst="line">
            <a:avLst/>
          </a:prstGeom>
          <a:ln cap="rnd" w="57150">
            <a:solidFill>
              <a:srgbClr val="4D64C3"/>
            </a:solidFill>
            <a:prstDash val="solid"/>
            <a:headEnd type="none" len="sm" w="sm"/>
            <a:tailEnd type="none" len="sm" w="sm"/>
          </a:ln>
        </p:spPr>
      </p:sp>
      <p:grpSp>
        <p:nvGrpSpPr>
          <p:cNvPr name="Group 5" id="5"/>
          <p:cNvGrpSpPr/>
          <p:nvPr/>
        </p:nvGrpSpPr>
        <p:grpSpPr>
          <a:xfrm rot="0">
            <a:off x="6454998" y="1338344"/>
            <a:ext cx="10824624" cy="2190004"/>
            <a:chOff x="0" y="0"/>
            <a:chExt cx="14432832" cy="2920006"/>
          </a:xfrm>
        </p:grpSpPr>
        <p:sp>
          <p:nvSpPr>
            <p:cNvPr name="Freeform 6" id="6"/>
            <p:cNvSpPr/>
            <p:nvPr/>
          </p:nvSpPr>
          <p:spPr>
            <a:xfrm flipH="false" flipV="false" rot="0">
              <a:off x="0" y="0"/>
              <a:ext cx="14432787" cy="2919984"/>
            </a:xfrm>
            <a:custGeom>
              <a:avLst/>
              <a:gdLst/>
              <a:ahLst/>
              <a:cxnLst/>
              <a:rect r="r" b="b" t="t" l="l"/>
              <a:pathLst>
                <a:path h="2919984" w="14432787">
                  <a:moveTo>
                    <a:pt x="0" y="291973"/>
                  </a:moveTo>
                  <a:cubicBezTo>
                    <a:pt x="0" y="130683"/>
                    <a:pt x="130683" y="0"/>
                    <a:pt x="291973" y="0"/>
                  </a:cubicBezTo>
                  <a:lnTo>
                    <a:pt x="14140814" y="0"/>
                  </a:lnTo>
                  <a:cubicBezTo>
                    <a:pt x="14302104" y="0"/>
                    <a:pt x="14432787" y="130683"/>
                    <a:pt x="14432787" y="291973"/>
                  </a:cubicBezTo>
                  <a:lnTo>
                    <a:pt x="14432787" y="2628011"/>
                  </a:lnTo>
                  <a:cubicBezTo>
                    <a:pt x="14432787" y="2789301"/>
                    <a:pt x="14302104" y="2919984"/>
                    <a:pt x="14140814" y="2919984"/>
                  </a:cubicBezTo>
                  <a:lnTo>
                    <a:pt x="291973" y="2919984"/>
                  </a:lnTo>
                  <a:cubicBezTo>
                    <a:pt x="130683" y="2919984"/>
                    <a:pt x="0" y="2789301"/>
                    <a:pt x="0" y="2628011"/>
                  </a:cubicBezTo>
                  <a:close/>
                </a:path>
              </a:pathLst>
            </a:custGeom>
            <a:solidFill>
              <a:srgbClr val="F2F2F2"/>
            </a:solidFill>
          </p:spPr>
        </p:sp>
      </p:grpSp>
      <p:sp>
        <p:nvSpPr>
          <p:cNvPr name="Freeform 7" id="7"/>
          <p:cNvSpPr/>
          <p:nvPr/>
        </p:nvSpPr>
        <p:spPr>
          <a:xfrm flipH="false" flipV="false" rot="0">
            <a:off x="7117475" y="1831095"/>
            <a:ext cx="1204501" cy="1204502"/>
          </a:xfrm>
          <a:custGeom>
            <a:avLst/>
            <a:gdLst/>
            <a:ahLst/>
            <a:cxnLst/>
            <a:rect r="r" b="b" t="t" l="l"/>
            <a:pathLst>
              <a:path h="1204502" w="1204501">
                <a:moveTo>
                  <a:pt x="0" y="0"/>
                </a:moveTo>
                <a:lnTo>
                  <a:pt x="1204501" y="0"/>
                </a:lnTo>
                <a:lnTo>
                  <a:pt x="1204501" y="1204502"/>
                </a:lnTo>
                <a:lnTo>
                  <a:pt x="0" y="12045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8979691" y="1333581"/>
            <a:ext cx="4880605" cy="2199530"/>
            <a:chOff x="0" y="0"/>
            <a:chExt cx="6507474" cy="2932706"/>
          </a:xfrm>
        </p:grpSpPr>
        <p:sp>
          <p:nvSpPr>
            <p:cNvPr name="Freeform 9" id="9"/>
            <p:cNvSpPr/>
            <p:nvPr/>
          </p:nvSpPr>
          <p:spPr>
            <a:xfrm flipH="false" flipV="false" rot="0">
              <a:off x="0" y="0"/>
              <a:ext cx="6507474" cy="2932706"/>
            </a:xfrm>
            <a:custGeom>
              <a:avLst/>
              <a:gdLst/>
              <a:ahLst/>
              <a:cxnLst/>
              <a:rect r="r" b="b" t="t" l="l"/>
              <a:pathLst>
                <a:path h="2932706" w="6507474">
                  <a:moveTo>
                    <a:pt x="0" y="0"/>
                  </a:moveTo>
                  <a:lnTo>
                    <a:pt x="6507474" y="0"/>
                  </a:lnTo>
                  <a:lnTo>
                    <a:pt x="6507474" y="2932706"/>
                  </a:lnTo>
                  <a:lnTo>
                    <a:pt x="0" y="2932706"/>
                  </a:lnTo>
                  <a:close/>
                </a:path>
              </a:pathLst>
            </a:custGeom>
            <a:solidFill>
              <a:srgbClr val="000000">
                <a:alpha val="0"/>
              </a:srgbClr>
            </a:solidFill>
          </p:spPr>
        </p:sp>
        <p:sp>
          <p:nvSpPr>
            <p:cNvPr name="TextBox 10" id="10"/>
            <p:cNvSpPr txBox="true"/>
            <p:nvPr/>
          </p:nvSpPr>
          <p:spPr>
            <a:xfrm>
              <a:off x="0" y="9525"/>
              <a:ext cx="6507474" cy="2923181"/>
            </a:xfrm>
            <a:prstGeom prst="rect">
              <a:avLst/>
            </a:prstGeom>
          </p:spPr>
          <p:txBody>
            <a:bodyPr anchor="ctr" rtlCol="false" tIns="0" lIns="0" bIns="0" rIns="0"/>
            <a:lstStyle/>
            <a:p>
              <a:pPr algn="l">
                <a:lnSpc>
                  <a:spcPts val="4050"/>
                </a:lnSpc>
              </a:pPr>
              <a:r>
                <a:rPr lang="en-US" sz="3750">
                  <a:solidFill>
                    <a:srgbClr val="000000"/>
                  </a:solidFill>
                  <a:latin typeface="Arimo"/>
                  <a:ea typeface="Arimo"/>
                  <a:cs typeface="Arimo"/>
                  <a:sym typeface="Arimo"/>
                </a:rPr>
                <a:t>Diagrama de casos de uso</a:t>
              </a:r>
            </a:p>
          </p:txBody>
        </p:sp>
      </p:grpSp>
      <p:grpSp>
        <p:nvGrpSpPr>
          <p:cNvPr name="Group 11" id="11"/>
          <p:cNvGrpSpPr/>
          <p:nvPr/>
        </p:nvGrpSpPr>
        <p:grpSpPr>
          <a:xfrm rot="0">
            <a:off x="13850772" y="1333581"/>
            <a:ext cx="3433611" cy="2199530"/>
            <a:chOff x="0" y="0"/>
            <a:chExt cx="4578148" cy="2932706"/>
          </a:xfrm>
        </p:grpSpPr>
        <p:sp>
          <p:nvSpPr>
            <p:cNvPr name="Freeform 12" id="12"/>
            <p:cNvSpPr/>
            <p:nvPr/>
          </p:nvSpPr>
          <p:spPr>
            <a:xfrm flipH="false" flipV="false" rot="0">
              <a:off x="0" y="0"/>
              <a:ext cx="4578148" cy="2932706"/>
            </a:xfrm>
            <a:custGeom>
              <a:avLst/>
              <a:gdLst/>
              <a:ahLst/>
              <a:cxnLst/>
              <a:rect r="r" b="b" t="t" l="l"/>
              <a:pathLst>
                <a:path h="2932706" w="4578148">
                  <a:moveTo>
                    <a:pt x="0" y="0"/>
                  </a:moveTo>
                  <a:lnTo>
                    <a:pt x="4578148" y="0"/>
                  </a:lnTo>
                  <a:lnTo>
                    <a:pt x="4578148" y="2932706"/>
                  </a:lnTo>
                  <a:lnTo>
                    <a:pt x="0" y="2932706"/>
                  </a:lnTo>
                  <a:close/>
                </a:path>
              </a:pathLst>
            </a:custGeom>
            <a:solidFill>
              <a:srgbClr val="000000">
                <a:alpha val="0"/>
              </a:srgbClr>
            </a:solidFill>
          </p:spPr>
        </p:sp>
        <p:sp>
          <p:nvSpPr>
            <p:cNvPr name="TextBox 13" id="13"/>
            <p:cNvSpPr txBox="true"/>
            <p:nvPr/>
          </p:nvSpPr>
          <p:spPr>
            <a:xfrm>
              <a:off x="0" y="19050"/>
              <a:ext cx="4578148" cy="2913656"/>
            </a:xfrm>
            <a:prstGeom prst="rect">
              <a:avLst/>
            </a:prstGeom>
          </p:spPr>
          <p:txBody>
            <a:bodyPr anchor="ctr" rtlCol="false" tIns="0" lIns="0" bIns="0" rIns="0"/>
            <a:lstStyle/>
            <a:p>
              <a:pPr algn="l">
                <a:lnSpc>
                  <a:spcPts val="2754"/>
                </a:lnSpc>
              </a:pPr>
              <a:r>
                <a:rPr lang="en-US" sz="2550">
                  <a:solidFill>
                    <a:srgbClr val="000000"/>
                  </a:solidFill>
                  <a:latin typeface="Arimo"/>
                  <a:ea typeface="Arimo"/>
                  <a:cs typeface="Arimo"/>
                  <a:sym typeface="Arimo"/>
                </a:rPr>
                <a:t>Describe las interacciones entre usuarios y el sistema.</a:t>
              </a:r>
            </a:p>
          </p:txBody>
        </p:sp>
      </p:grpSp>
      <p:grpSp>
        <p:nvGrpSpPr>
          <p:cNvPr name="Group 14" id="14"/>
          <p:cNvGrpSpPr/>
          <p:nvPr/>
        </p:nvGrpSpPr>
        <p:grpSpPr>
          <a:xfrm rot="0">
            <a:off x="6454998" y="4075851"/>
            <a:ext cx="10824624" cy="2190005"/>
            <a:chOff x="0" y="0"/>
            <a:chExt cx="14432832" cy="2920006"/>
          </a:xfrm>
        </p:grpSpPr>
        <p:sp>
          <p:nvSpPr>
            <p:cNvPr name="Freeform 15" id="15"/>
            <p:cNvSpPr/>
            <p:nvPr/>
          </p:nvSpPr>
          <p:spPr>
            <a:xfrm flipH="false" flipV="false" rot="0">
              <a:off x="0" y="0"/>
              <a:ext cx="14432787" cy="2919984"/>
            </a:xfrm>
            <a:custGeom>
              <a:avLst/>
              <a:gdLst/>
              <a:ahLst/>
              <a:cxnLst/>
              <a:rect r="r" b="b" t="t" l="l"/>
              <a:pathLst>
                <a:path h="2919984" w="14432787">
                  <a:moveTo>
                    <a:pt x="0" y="291973"/>
                  </a:moveTo>
                  <a:cubicBezTo>
                    <a:pt x="0" y="130683"/>
                    <a:pt x="130683" y="0"/>
                    <a:pt x="291973" y="0"/>
                  </a:cubicBezTo>
                  <a:lnTo>
                    <a:pt x="14140814" y="0"/>
                  </a:lnTo>
                  <a:cubicBezTo>
                    <a:pt x="14302104" y="0"/>
                    <a:pt x="14432787" y="130683"/>
                    <a:pt x="14432787" y="291973"/>
                  </a:cubicBezTo>
                  <a:lnTo>
                    <a:pt x="14432787" y="2628011"/>
                  </a:lnTo>
                  <a:cubicBezTo>
                    <a:pt x="14432787" y="2789301"/>
                    <a:pt x="14302104" y="2919984"/>
                    <a:pt x="14140814" y="2919984"/>
                  </a:cubicBezTo>
                  <a:lnTo>
                    <a:pt x="291973" y="2919984"/>
                  </a:lnTo>
                  <a:cubicBezTo>
                    <a:pt x="130683" y="2919984"/>
                    <a:pt x="0" y="2789301"/>
                    <a:pt x="0" y="2628011"/>
                  </a:cubicBezTo>
                  <a:close/>
                </a:path>
              </a:pathLst>
            </a:custGeom>
            <a:solidFill>
              <a:srgbClr val="F2F2F2"/>
            </a:solidFill>
          </p:spPr>
        </p:sp>
      </p:grpSp>
      <p:sp>
        <p:nvSpPr>
          <p:cNvPr name="Freeform 16" id="16"/>
          <p:cNvSpPr/>
          <p:nvPr/>
        </p:nvSpPr>
        <p:spPr>
          <a:xfrm flipH="false" flipV="false" rot="0">
            <a:off x="7117475" y="4568602"/>
            <a:ext cx="1204501" cy="1204501"/>
          </a:xfrm>
          <a:custGeom>
            <a:avLst/>
            <a:gdLst/>
            <a:ahLst/>
            <a:cxnLst/>
            <a:rect r="r" b="b" t="t" l="l"/>
            <a:pathLst>
              <a:path h="1204501" w="1204501">
                <a:moveTo>
                  <a:pt x="0" y="0"/>
                </a:moveTo>
                <a:lnTo>
                  <a:pt x="1204501" y="0"/>
                </a:lnTo>
                <a:lnTo>
                  <a:pt x="1204501" y="1204502"/>
                </a:lnTo>
                <a:lnTo>
                  <a:pt x="0" y="12045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7" id="17"/>
          <p:cNvGrpSpPr/>
          <p:nvPr/>
        </p:nvGrpSpPr>
        <p:grpSpPr>
          <a:xfrm rot="0">
            <a:off x="8979691" y="4071089"/>
            <a:ext cx="4880605" cy="2199530"/>
            <a:chOff x="0" y="0"/>
            <a:chExt cx="6507474" cy="2932706"/>
          </a:xfrm>
        </p:grpSpPr>
        <p:sp>
          <p:nvSpPr>
            <p:cNvPr name="Freeform 18" id="18"/>
            <p:cNvSpPr/>
            <p:nvPr/>
          </p:nvSpPr>
          <p:spPr>
            <a:xfrm flipH="false" flipV="false" rot="0">
              <a:off x="0" y="0"/>
              <a:ext cx="6507474" cy="2932706"/>
            </a:xfrm>
            <a:custGeom>
              <a:avLst/>
              <a:gdLst/>
              <a:ahLst/>
              <a:cxnLst/>
              <a:rect r="r" b="b" t="t" l="l"/>
              <a:pathLst>
                <a:path h="2932706" w="6507474">
                  <a:moveTo>
                    <a:pt x="0" y="0"/>
                  </a:moveTo>
                  <a:lnTo>
                    <a:pt x="6507474" y="0"/>
                  </a:lnTo>
                  <a:lnTo>
                    <a:pt x="6507474" y="2932706"/>
                  </a:lnTo>
                  <a:lnTo>
                    <a:pt x="0" y="2932706"/>
                  </a:lnTo>
                  <a:close/>
                </a:path>
              </a:pathLst>
            </a:custGeom>
            <a:solidFill>
              <a:srgbClr val="000000">
                <a:alpha val="0"/>
              </a:srgbClr>
            </a:solidFill>
          </p:spPr>
        </p:sp>
        <p:sp>
          <p:nvSpPr>
            <p:cNvPr name="TextBox 19" id="19"/>
            <p:cNvSpPr txBox="true"/>
            <p:nvPr/>
          </p:nvSpPr>
          <p:spPr>
            <a:xfrm>
              <a:off x="0" y="9525"/>
              <a:ext cx="6507474" cy="2923181"/>
            </a:xfrm>
            <a:prstGeom prst="rect">
              <a:avLst/>
            </a:prstGeom>
          </p:spPr>
          <p:txBody>
            <a:bodyPr anchor="ctr" rtlCol="false" tIns="0" lIns="0" bIns="0" rIns="0"/>
            <a:lstStyle/>
            <a:p>
              <a:pPr algn="l">
                <a:lnSpc>
                  <a:spcPts val="4050"/>
                </a:lnSpc>
              </a:pPr>
              <a:r>
                <a:rPr lang="en-US" sz="3750">
                  <a:solidFill>
                    <a:srgbClr val="000000"/>
                  </a:solidFill>
                  <a:latin typeface="Arimo"/>
                  <a:ea typeface="Arimo"/>
                  <a:cs typeface="Arimo"/>
                  <a:sym typeface="Arimo"/>
                </a:rPr>
                <a:t>Diagrama de actividades</a:t>
              </a:r>
            </a:p>
          </p:txBody>
        </p:sp>
      </p:grpSp>
      <p:grpSp>
        <p:nvGrpSpPr>
          <p:cNvPr name="Group 20" id="20"/>
          <p:cNvGrpSpPr/>
          <p:nvPr/>
        </p:nvGrpSpPr>
        <p:grpSpPr>
          <a:xfrm rot="0">
            <a:off x="13850772" y="4071089"/>
            <a:ext cx="3433611" cy="2199530"/>
            <a:chOff x="0" y="0"/>
            <a:chExt cx="4578148" cy="2932706"/>
          </a:xfrm>
        </p:grpSpPr>
        <p:sp>
          <p:nvSpPr>
            <p:cNvPr name="Freeform 21" id="21"/>
            <p:cNvSpPr/>
            <p:nvPr/>
          </p:nvSpPr>
          <p:spPr>
            <a:xfrm flipH="false" flipV="false" rot="0">
              <a:off x="0" y="0"/>
              <a:ext cx="4578148" cy="2932706"/>
            </a:xfrm>
            <a:custGeom>
              <a:avLst/>
              <a:gdLst/>
              <a:ahLst/>
              <a:cxnLst/>
              <a:rect r="r" b="b" t="t" l="l"/>
              <a:pathLst>
                <a:path h="2932706" w="4578148">
                  <a:moveTo>
                    <a:pt x="0" y="0"/>
                  </a:moveTo>
                  <a:lnTo>
                    <a:pt x="4578148" y="0"/>
                  </a:lnTo>
                  <a:lnTo>
                    <a:pt x="4578148" y="2932706"/>
                  </a:lnTo>
                  <a:lnTo>
                    <a:pt x="0" y="2932706"/>
                  </a:lnTo>
                  <a:close/>
                </a:path>
              </a:pathLst>
            </a:custGeom>
            <a:solidFill>
              <a:srgbClr val="000000">
                <a:alpha val="0"/>
              </a:srgbClr>
            </a:solidFill>
          </p:spPr>
        </p:sp>
        <p:sp>
          <p:nvSpPr>
            <p:cNvPr name="TextBox 22" id="22"/>
            <p:cNvSpPr txBox="true"/>
            <p:nvPr/>
          </p:nvSpPr>
          <p:spPr>
            <a:xfrm>
              <a:off x="0" y="19050"/>
              <a:ext cx="4578148" cy="2913656"/>
            </a:xfrm>
            <a:prstGeom prst="rect">
              <a:avLst/>
            </a:prstGeom>
          </p:spPr>
          <p:txBody>
            <a:bodyPr anchor="ctr" rtlCol="false" tIns="0" lIns="0" bIns="0" rIns="0"/>
            <a:lstStyle/>
            <a:p>
              <a:pPr algn="l">
                <a:lnSpc>
                  <a:spcPts val="2754"/>
                </a:lnSpc>
              </a:pPr>
              <a:r>
                <a:rPr lang="en-US" sz="2550">
                  <a:solidFill>
                    <a:srgbClr val="000000"/>
                  </a:solidFill>
                  <a:latin typeface="Arimo"/>
                  <a:ea typeface="Arimo"/>
                  <a:cs typeface="Arimo"/>
                  <a:sym typeface="Arimo"/>
                </a:rPr>
                <a:t>Muestra flujos de trabajo y procesos.</a:t>
              </a:r>
            </a:p>
          </p:txBody>
        </p:sp>
      </p:grpSp>
      <p:grpSp>
        <p:nvGrpSpPr>
          <p:cNvPr name="Group 23" id="23"/>
          <p:cNvGrpSpPr/>
          <p:nvPr/>
        </p:nvGrpSpPr>
        <p:grpSpPr>
          <a:xfrm rot="0">
            <a:off x="6454998" y="6813357"/>
            <a:ext cx="10824624" cy="2190004"/>
            <a:chOff x="0" y="0"/>
            <a:chExt cx="14432832" cy="2920006"/>
          </a:xfrm>
        </p:grpSpPr>
        <p:sp>
          <p:nvSpPr>
            <p:cNvPr name="Freeform 24" id="24"/>
            <p:cNvSpPr/>
            <p:nvPr/>
          </p:nvSpPr>
          <p:spPr>
            <a:xfrm flipH="false" flipV="false" rot="0">
              <a:off x="0" y="0"/>
              <a:ext cx="14432787" cy="2919984"/>
            </a:xfrm>
            <a:custGeom>
              <a:avLst/>
              <a:gdLst/>
              <a:ahLst/>
              <a:cxnLst/>
              <a:rect r="r" b="b" t="t" l="l"/>
              <a:pathLst>
                <a:path h="2919984" w="14432787">
                  <a:moveTo>
                    <a:pt x="0" y="291973"/>
                  </a:moveTo>
                  <a:cubicBezTo>
                    <a:pt x="0" y="130683"/>
                    <a:pt x="130683" y="0"/>
                    <a:pt x="291973" y="0"/>
                  </a:cubicBezTo>
                  <a:lnTo>
                    <a:pt x="14140814" y="0"/>
                  </a:lnTo>
                  <a:cubicBezTo>
                    <a:pt x="14302104" y="0"/>
                    <a:pt x="14432787" y="130683"/>
                    <a:pt x="14432787" y="291973"/>
                  </a:cubicBezTo>
                  <a:lnTo>
                    <a:pt x="14432787" y="2628011"/>
                  </a:lnTo>
                  <a:cubicBezTo>
                    <a:pt x="14432787" y="2789301"/>
                    <a:pt x="14302104" y="2919984"/>
                    <a:pt x="14140814" y="2919984"/>
                  </a:cubicBezTo>
                  <a:lnTo>
                    <a:pt x="291973" y="2919984"/>
                  </a:lnTo>
                  <a:cubicBezTo>
                    <a:pt x="130683" y="2919984"/>
                    <a:pt x="0" y="2789301"/>
                    <a:pt x="0" y="2628011"/>
                  </a:cubicBezTo>
                  <a:close/>
                </a:path>
              </a:pathLst>
            </a:custGeom>
            <a:solidFill>
              <a:srgbClr val="F2F2F2"/>
            </a:solidFill>
          </p:spPr>
        </p:sp>
      </p:grpSp>
      <p:sp>
        <p:nvSpPr>
          <p:cNvPr name="Freeform 25" id="25"/>
          <p:cNvSpPr/>
          <p:nvPr/>
        </p:nvSpPr>
        <p:spPr>
          <a:xfrm flipH="false" flipV="false" rot="0">
            <a:off x="7117475" y="7306108"/>
            <a:ext cx="1204501" cy="1204502"/>
          </a:xfrm>
          <a:custGeom>
            <a:avLst/>
            <a:gdLst/>
            <a:ahLst/>
            <a:cxnLst/>
            <a:rect r="r" b="b" t="t" l="l"/>
            <a:pathLst>
              <a:path h="1204502" w="1204501">
                <a:moveTo>
                  <a:pt x="0" y="0"/>
                </a:moveTo>
                <a:lnTo>
                  <a:pt x="1204501" y="0"/>
                </a:lnTo>
                <a:lnTo>
                  <a:pt x="1204501" y="1204502"/>
                </a:lnTo>
                <a:lnTo>
                  <a:pt x="0" y="12045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6" id="26"/>
          <p:cNvGrpSpPr/>
          <p:nvPr/>
        </p:nvGrpSpPr>
        <p:grpSpPr>
          <a:xfrm rot="0">
            <a:off x="8979691" y="6808594"/>
            <a:ext cx="4880605" cy="2199529"/>
            <a:chOff x="0" y="0"/>
            <a:chExt cx="6507474" cy="2932706"/>
          </a:xfrm>
        </p:grpSpPr>
        <p:sp>
          <p:nvSpPr>
            <p:cNvPr name="Freeform 27" id="27"/>
            <p:cNvSpPr/>
            <p:nvPr/>
          </p:nvSpPr>
          <p:spPr>
            <a:xfrm flipH="false" flipV="false" rot="0">
              <a:off x="0" y="0"/>
              <a:ext cx="6507474" cy="2932706"/>
            </a:xfrm>
            <a:custGeom>
              <a:avLst/>
              <a:gdLst/>
              <a:ahLst/>
              <a:cxnLst/>
              <a:rect r="r" b="b" t="t" l="l"/>
              <a:pathLst>
                <a:path h="2932706" w="6507474">
                  <a:moveTo>
                    <a:pt x="0" y="0"/>
                  </a:moveTo>
                  <a:lnTo>
                    <a:pt x="6507474" y="0"/>
                  </a:lnTo>
                  <a:lnTo>
                    <a:pt x="6507474" y="2932706"/>
                  </a:lnTo>
                  <a:lnTo>
                    <a:pt x="0" y="2932706"/>
                  </a:lnTo>
                  <a:close/>
                </a:path>
              </a:pathLst>
            </a:custGeom>
            <a:solidFill>
              <a:srgbClr val="000000">
                <a:alpha val="0"/>
              </a:srgbClr>
            </a:solidFill>
          </p:spPr>
        </p:sp>
        <p:sp>
          <p:nvSpPr>
            <p:cNvPr name="TextBox 28" id="28"/>
            <p:cNvSpPr txBox="true"/>
            <p:nvPr/>
          </p:nvSpPr>
          <p:spPr>
            <a:xfrm>
              <a:off x="0" y="9525"/>
              <a:ext cx="6507474" cy="2923181"/>
            </a:xfrm>
            <a:prstGeom prst="rect">
              <a:avLst/>
            </a:prstGeom>
          </p:spPr>
          <p:txBody>
            <a:bodyPr anchor="ctr" rtlCol="false" tIns="0" lIns="0" bIns="0" rIns="0"/>
            <a:lstStyle/>
            <a:p>
              <a:pPr algn="l">
                <a:lnSpc>
                  <a:spcPts val="4050"/>
                </a:lnSpc>
              </a:pPr>
              <a:r>
                <a:rPr lang="en-US" sz="3750">
                  <a:solidFill>
                    <a:srgbClr val="000000"/>
                  </a:solidFill>
                  <a:latin typeface="Arimo"/>
                  <a:ea typeface="Arimo"/>
                  <a:cs typeface="Arimo"/>
                  <a:sym typeface="Arimo"/>
                </a:rPr>
                <a:t>Diagrama de estados</a:t>
              </a:r>
            </a:p>
          </p:txBody>
        </p:sp>
      </p:grpSp>
      <p:grpSp>
        <p:nvGrpSpPr>
          <p:cNvPr name="Group 29" id="29"/>
          <p:cNvGrpSpPr/>
          <p:nvPr/>
        </p:nvGrpSpPr>
        <p:grpSpPr>
          <a:xfrm rot="0">
            <a:off x="13850772" y="6808594"/>
            <a:ext cx="3433611" cy="2199529"/>
            <a:chOff x="0" y="0"/>
            <a:chExt cx="4578148" cy="2932706"/>
          </a:xfrm>
        </p:grpSpPr>
        <p:sp>
          <p:nvSpPr>
            <p:cNvPr name="Freeform 30" id="30"/>
            <p:cNvSpPr/>
            <p:nvPr/>
          </p:nvSpPr>
          <p:spPr>
            <a:xfrm flipH="false" flipV="false" rot="0">
              <a:off x="0" y="0"/>
              <a:ext cx="4578148" cy="2932706"/>
            </a:xfrm>
            <a:custGeom>
              <a:avLst/>
              <a:gdLst/>
              <a:ahLst/>
              <a:cxnLst/>
              <a:rect r="r" b="b" t="t" l="l"/>
              <a:pathLst>
                <a:path h="2932706" w="4578148">
                  <a:moveTo>
                    <a:pt x="0" y="0"/>
                  </a:moveTo>
                  <a:lnTo>
                    <a:pt x="4578148" y="0"/>
                  </a:lnTo>
                  <a:lnTo>
                    <a:pt x="4578148" y="2932706"/>
                  </a:lnTo>
                  <a:lnTo>
                    <a:pt x="0" y="2932706"/>
                  </a:lnTo>
                  <a:close/>
                </a:path>
              </a:pathLst>
            </a:custGeom>
            <a:solidFill>
              <a:srgbClr val="000000">
                <a:alpha val="0"/>
              </a:srgbClr>
            </a:solidFill>
          </p:spPr>
        </p:sp>
        <p:sp>
          <p:nvSpPr>
            <p:cNvPr name="TextBox 31" id="31"/>
            <p:cNvSpPr txBox="true"/>
            <p:nvPr/>
          </p:nvSpPr>
          <p:spPr>
            <a:xfrm>
              <a:off x="0" y="19050"/>
              <a:ext cx="4578148" cy="2913656"/>
            </a:xfrm>
            <a:prstGeom prst="rect">
              <a:avLst/>
            </a:prstGeom>
          </p:spPr>
          <p:txBody>
            <a:bodyPr anchor="ctr" rtlCol="false" tIns="0" lIns="0" bIns="0" rIns="0"/>
            <a:lstStyle/>
            <a:p>
              <a:pPr algn="l">
                <a:lnSpc>
                  <a:spcPts val="2754"/>
                </a:lnSpc>
              </a:pPr>
              <a:r>
                <a:rPr lang="en-US" sz="2550">
                  <a:solidFill>
                    <a:srgbClr val="000000"/>
                  </a:solidFill>
                  <a:latin typeface="Arimo"/>
                  <a:ea typeface="Arimo"/>
                  <a:cs typeface="Arimo"/>
                  <a:sym typeface="Arimo"/>
                </a:rPr>
                <a:t>Representa los estados de un objeto y las transiciones entre ellos.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59" y="2148524"/>
            <a:ext cx="16153514"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Diagramas de interacción</a:t>
            </a:r>
          </a:p>
        </p:txBody>
      </p:sp>
      <p:grpSp>
        <p:nvGrpSpPr>
          <p:cNvPr name="Group 4" id="4"/>
          <p:cNvGrpSpPr/>
          <p:nvPr/>
        </p:nvGrpSpPr>
        <p:grpSpPr>
          <a:xfrm rot="0">
            <a:off x="960120" y="3950860"/>
            <a:ext cx="16336392" cy="1527981"/>
            <a:chOff x="0" y="0"/>
            <a:chExt cx="21781856" cy="2037308"/>
          </a:xfrm>
        </p:grpSpPr>
        <p:sp>
          <p:nvSpPr>
            <p:cNvPr name="Freeform 5" id="5"/>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6" id="6"/>
          <p:cNvGrpSpPr/>
          <p:nvPr/>
        </p:nvGrpSpPr>
        <p:grpSpPr>
          <a:xfrm rot="0">
            <a:off x="1412808" y="4285131"/>
            <a:ext cx="859438" cy="859438"/>
            <a:chOff x="0" y="0"/>
            <a:chExt cx="1145918" cy="1145918"/>
          </a:xfrm>
        </p:grpSpPr>
        <p:sp>
          <p:nvSpPr>
            <p:cNvPr name="Freeform 7" id="7"/>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2"/>
              <a:stretch>
                <a:fillRect l="-1133" t="-1133" r="-1133" b="-1133"/>
              </a:stretch>
            </a:blipFill>
          </p:spPr>
        </p:sp>
        <p:sp>
          <p:nvSpPr>
            <p:cNvPr name="Freeform 8" id="8"/>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9" id="9"/>
          <p:cNvGrpSpPr/>
          <p:nvPr/>
        </p:nvGrpSpPr>
        <p:grpSpPr>
          <a:xfrm rot="0">
            <a:off x="2720175" y="3946098"/>
            <a:ext cx="7360900" cy="1537506"/>
            <a:chOff x="0" y="0"/>
            <a:chExt cx="9814534" cy="2050008"/>
          </a:xfrm>
        </p:grpSpPr>
        <p:sp>
          <p:nvSpPr>
            <p:cNvPr name="Freeform 10" id="10"/>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11" id="11"/>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Diagrama de secuencia</a:t>
              </a:r>
            </a:p>
          </p:txBody>
        </p:sp>
      </p:grpSp>
      <p:grpSp>
        <p:nvGrpSpPr>
          <p:cNvPr name="Group 12" id="12"/>
          <p:cNvGrpSpPr/>
          <p:nvPr/>
        </p:nvGrpSpPr>
        <p:grpSpPr>
          <a:xfrm rot="0">
            <a:off x="10071552" y="3946098"/>
            <a:ext cx="7229721" cy="1537506"/>
            <a:chOff x="0" y="0"/>
            <a:chExt cx="9639628" cy="2050008"/>
          </a:xfrm>
        </p:grpSpPr>
        <p:sp>
          <p:nvSpPr>
            <p:cNvPr name="Freeform 13" id="13"/>
            <p:cNvSpPr/>
            <p:nvPr/>
          </p:nvSpPr>
          <p:spPr>
            <a:xfrm flipH="false" flipV="false" rot="0">
              <a:off x="0" y="0"/>
              <a:ext cx="9639628" cy="2050008"/>
            </a:xfrm>
            <a:custGeom>
              <a:avLst/>
              <a:gdLst/>
              <a:ahLst/>
              <a:cxnLst/>
              <a:rect r="r" b="b" t="t" l="l"/>
              <a:pathLst>
                <a:path h="2050008" w="9639628">
                  <a:moveTo>
                    <a:pt x="0" y="0"/>
                  </a:moveTo>
                  <a:lnTo>
                    <a:pt x="9639628" y="0"/>
                  </a:lnTo>
                  <a:lnTo>
                    <a:pt x="9639628" y="2050008"/>
                  </a:lnTo>
                  <a:lnTo>
                    <a:pt x="0" y="2050008"/>
                  </a:lnTo>
                  <a:close/>
                </a:path>
              </a:pathLst>
            </a:custGeom>
            <a:solidFill>
              <a:srgbClr val="000000">
                <a:alpha val="0"/>
              </a:srgbClr>
            </a:solidFill>
          </p:spPr>
        </p:sp>
        <p:sp>
          <p:nvSpPr>
            <p:cNvPr name="TextBox 14" id="14"/>
            <p:cNvSpPr txBox="true"/>
            <p:nvPr/>
          </p:nvSpPr>
          <p:spPr>
            <a:xfrm>
              <a:off x="0" y="-19050"/>
              <a:ext cx="9639628" cy="2069058"/>
            </a:xfrm>
            <a:prstGeom prst="rect">
              <a:avLst/>
            </a:prstGeom>
          </p:spPr>
          <p:txBody>
            <a:bodyPr anchor="ctr" rtlCol="false" tIns="0" lIns="0" bIns="0" rIns="0"/>
            <a:lstStyle/>
            <a:p>
              <a:pPr algn="l">
                <a:lnSpc>
                  <a:spcPts val="3240"/>
                </a:lnSpc>
              </a:pPr>
              <a:r>
                <a:rPr lang="en-US" sz="2700">
                  <a:solidFill>
                    <a:srgbClr val="000000"/>
                  </a:solidFill>
                  <a:latin typeface="Arimo"/>
                  <a:ea typeface="Arimo"/>
                  <a:cs typeface="Arimo"/>
                  <a:sym typeface="Arimo"/>
                </a:rPr>
                <a:t>Muestra la interacción entre objetos en el tiempo.</a:t>
              </a:r>
            </a:p>
          </p:txBody>
        </p:sp>
      </p:grpSp>
      <p:grpSp>
        <p:nvGrpSpPr>
          <p:cNvPr name="Group 15" id="15"/>
          <p:cNvGrpSpPr/>
          <p:nvPr/>
        </p:nvGrpSpPr>
        <p:grpSpPr>
          <a:xfrm rot="0">
            <a:off x="960120" y="5860836"/>
            <a:ext cx="16336392" cy="1527981"/>
            <a:chOff x="0" y="0"/>
            <a:chExt cx="21781856" cy="2037308"/>
          </a:xfrm>
        </p:grpSpPr>
        <p:sp>
          <p:nvSpPr>
            <p:cNvPr name="Freeform 16" id="16"/>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17" id="17"/>
          <p:cNvGrpSpPr/>
          <p:nvPr/>
        </p:nvGrpSpPr>
        <p:grpSpPr>
          <a:xfrm rot="0">
            <a:off x="1412808" y="6195108"/>
            <a:ext cx="859438" cy="859439"/>
            <a:chOff x="0" y="0"/>
            <a:chExt cx="1145918" cy="1145918"/>
          </a:xfrm>
        </p:grpSpPr>
        <p:sp>
          <p:nvSpPr>
            <p:cNvPr name="Freeform 18" id="18"/>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3"/>
              <a:stretch>
                <a:fillRect l="-1133" t="-1133" r="-1133" b="-1133"/>
              </a:stretch>
            </a:blipFill>
          </p:spPr>
        </p:sp>
        <p:sp>
          <p:nvSpPr>
            <p:cNvPr name="Freeform 19" id="19"/>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20" id="20"/>
          <p:cNvGrpSpPr/>
          <p:nvPr/>
        </p:nvGrpSpPr>
        <p:grpSpPr>
          <a:xfrm rot="0">
            <a:off x="2720175" y="5856074"/>
            <a:ext cx="7360900" cy="1537506"/>
            <a:chOff x="0" y="0"/>
            <a:chExt cx="9814534" cy="2050008"/>
          </a:xfrm>
        </p:grpSpPr>
        <p:sp>
          <p:nvSpPr>
            <p:cNvPr name="Freeform 21" id="21"/>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22" id="22"/>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Diagrama de comunicación</a:t>
              </a:r>
            </a:p>
          </p:txBody>
        </p:sp>
      </p:grpSp>
      <p:grpSp>
        <p:nvGrpSpPr>
          <p:cNvPr name="Group 23" id="23"/>
          <p:cNvGrpSpPr/>
          <p:nvPr/>
        </p:nvGrpSpPr>
        <p:grpSpPr>
          <a:xfrm rot="0">
            <a:off x="10071552" y="5856074"/>
            <a:ext cx="7229721" cy="1537506"/>
            <a:chOff x="0" y="0"/>
            <a:chExt cx="9639628" cy="2050008"/>
          </a:xfrm>
        </p:grpSpPr>
        <p:sp>
          <p:nvSpPr>
            <p:cNvPr name="Freeform 24" id="24"/>
            <p:cNvSpPr/>
            <p:nvPr/>
          </p:nvSpPr>
          <p:spPr>
            <a:xfrm flipH="false" flipV="false" rot="0">
              <a:off x="0" y="0"/>
              <a:ext cx="9639628" cy="2050008"/>
            </a:xfrm>
            <a:custGeom>
              <a:avLst/>
              <a:gdLst/>
              <a:ahLst/>
              <a:cxnLst/>
              <a:rect r="r" b="b" t="t" l="l"/>
              <a:pathLst>
                <a:path h="2050008" w="9639628">
                  <a:moveTo>
                    <a:pt x="0" y="0"/>
                  </a:moveTo>
                  <a:lnTo>
                    <a:pt x="9639628" y="0"/>
                  </a:lnTo>
                  <a:lnTo>
                    <a:pt x="9639628" y="2050008"/>
                  </a:lnTo>
                  <a:lnTo>
                    <a:pt x="0" y="2050008"/>
                  </a:lnTo>
                  <a:close/>
                </a:path>
              </a:pathLst>
            </a:custGeom>
            <a:solidFill>
              <a:srgbClr val="000000">
                <a:alpha val="0"/>
              </a:srgbClr>
            </a:solidFill>
          </p:spPr>
        </p:sp>
        <p:sp>
          <p:nvSpPr>
            <p:cNvPr name="TextBox 25" id="25"/>
            <p:cNvSpPr txBox="true"/>
            <p:nvPr/>
          </p:nvSpPr>
          <p:spPr>
            <a:xfrm>
              <a:off x="0" y="-19050"/>
              <a:ext cx="9639628" cy="2069058"/>
            </a:xfrm>
            <a:prstGeom prst="rect">
              <a:avLst/>
            </a:prstGeom>
          </p:spPr>
          <p:txBody>
            <a:bodyPr anchor="ctr" rtlCol="false" tIns="0" lIns="0" bIns="0" rIns="0"/>
            <a:lstStyle/>
            <a:p>
              <a:pPr algn="l">
                <a:lnSpc>
                  <a:spcPts val="3240"/>
                </a:lnSpc>
              </a:pPr>
              <a:r>
                <a:rPr lang="en-US" sz="2700">
                  <a:solidFill>
                    <a:srgbClr val="000000"/>
                  </a:solidFill>
                  <a:latin typeface="Arimo"/>
                  <a:ea typeface="Arimo"/>
                  <a:cs typeface="Arimo"/>
                  <a:sym typeface="Arimo"/>
                </a:rPr>
                <a:t>Muestra cómo los objetos interactúan entre sí.</a:t>
              </a:r>
            </a:p>
          </p:txBody>
        </p:sp>
      </p:grpSp>
      <p:grpSp>
        <p:nvGrpSpPr>
          <p:cNvPr name="Group 26" id="26"/>
          <p:cNvGrpSpPr/>
          <p:nvPr/>
        </p:nvGrpSpPr>
        <p:grpSpPr>
          <a:xfrm rot="0">
            <a:off x="960120" y="7770813"/>
            <a:ext cx="16336392" cy="1527981"/>
            <a:chOff x="0" y="0"/>
            <a:chExt cx="21781856" cy="2037308"/>
          </a:xfrm>
        </p:grpSpPr>
        <p:sp>
          <p:nvSpPr>
            <p:cNvPr name="Freeform 27" id="27"/>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28" id="28"/>
          <p:cNvGrpSpPr/>
          <p:nvPr/>
        </p:nvGrpSpPr>
        <p:grpSpPr>
          <a:xfrm rot="0">
            <a:off x="1412808" y="8105084"/>
            <a:ext cx="859438" cy="859439"/>
            <a:chOff x="0" y="0"/>
            <a:chExt cx="1145918" cy="1145918"/>
          </a:xfrm>
        </p:grpSpPr>
        <p:sp>
          <p:nvSpPr>
            <p:cNvPr name="Freeform 29" id="29"/>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4"/>
              <a:stretch>
                <a:fillRect l="-1133" t="-1133" r="-1133" b="-1133"/>
              </a:stretch>
            </a:blipFill>
          </p:spPr>
        </p:sp>
        <p:sp>
          <p:nvSpPr>
            <p:cNvPr name="Freeform 30" id="30"/>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31" id="31"/>
          <p:cNvGrpSpPr/>
          <p:nvPr/>
        </p:nvGrpSpPr>
        <p:grpSpPr>
          <a:xfrm rot="0">
            <a:off x="2720175" y="7766051"/>
            <a:ext cx="7360900" cy="1537506"/>
            <a:chOff x="0" y="0"/>
            <a:chExt cx="9814534" cy="2050008"/>
          </a:xfrm>
        </p:grpSpPr>
        <p:sp>
          <p:nvSpPr>
            <p:cNvPr name="Freeform 32" id="32"/>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33" id="33"/>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Diagrama de tiempos</a:t>
              </a:r>
            </a:p>
          </p:txBody>
        </p:sp>
      </p:grpSp>
      <p:grpSp>
        <p:nvGrpSpPr>
          <p:cNvPr name="Group 34" id="34"/>
          <p:cNvGrpSpPr/>
          <p:nvPr/>
        </p:nvGrpSpPr>
        <p:grpSpPr>
          <a:xfrm rot="0">
            <a:off x="10071552" y="7766051"/>
            <a:ext cx="7229721" cy="1537506"/>
            <a:chOff x="0" y="0"/>
            <a:chExt cx="9639628" cy="2050008"/>
          </a:xfrm>
        </p:grpSpPr>
        <p:sp>
          <p:nvSpPr>
            <p:cNvPr name="Freeform 35" id="35"/>
            <p:cNvSpPr/>
            <p:nvPr/>
          </p:nvSpPr>
          <p:spPr>
            <a:xfrm flipH="false" flipV="false" rot="0">
              <a:off x="0" y="0"/>
              <a:ext cx="9639628" cy="2050008"/>
            </a:xfrm>
            <a:custGeom>
              <a:avLst/>
              <a:gdLst/>
              <a:ahLst/>
              <a:cxnLst/>
              <a:rect r="r" b="b" t="t" l="l"/>
              <a:pathLst>
                <a:path h="2050008" w="9639628">
                  <a:moveTo>
                    <a:pt x="0" y="0"/>
                  </a:moveTo>
                  <a:lnTo>
                    <a:pt x="9639628" y="0"/>
                  </a:lnTo>
                  <a:lnTo>
                    <a:pt x="9639628" y="2050008"/>
                  </a:lnTo>
                  <a:lnTo>
                    <a:pt x="0" y="2050008"/>
                  </a:lnTo>
                  <a:close/>
                </a:path>
              </a:pathLst>
            </a:custGeom>
            <a:solidFill>
              <a:srgbClr val="000000">
                <a:alpha val="0"/>
              </a:srgbClr>
            </a:solidFill>
          </p:spPr>
        </p:sp>
        <p:sp>
          <p:nvSpPr>
            <p:cNvPr name="TextBox 36" id="36"/>
            <p:cNvSpPr txBox="true"/>
            <p:nvPr/>
          </p:nvSpPr>
          <p:spPr>
            <a:xfrm>
              <a:off x="0" y="-19050"/>
              <a:ext cx="9639628" cy="2069058"/>
            </a:xfrm>
            <a:prstGeom prst="rect">
              <a:avLst/>
            </a:prstGeom>
          </p:spPr>
          <p:txBody>
            <a:bodyPr anchor="ctr" rtlCol="false" tIns="0" lIns="0" bIns="0" rIns="0"/>
            <a:lstStyle/>
            <a:p>
              <a:pPr algn="l">
                <a:lnSpc>
                  <a:spcPts val="3240"/>
                </a:lnSpc>
              </a:pPr>
              <a:r>
                <a:rPr lang="en-US" sz="2700">
                  <a:solidFill>
                    <a:srgbClr val="000000"/>
                  </a:solidFill>
                  <a:latin typeface="Arimo"/>
                  <a:ea typeface="Arimo"/>
                  <a:cs typeface="Arimo"/>
                  <a:sym typeface="Arimo"/>
                </a:rPr>
                <a:t>Muestra el comportamiento temporal de objetos.</a:t>
              </a: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463040" y="2180496"/>
            <a:ext cx="15357348"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Diagrama de Clases</a:t>
            </a:r>
          </a:p>
        </p:txBody>
      </p:sp>
      <p:sp>
        <p:nvSpPr>
          <p:cNvPr name="AutoShape 4" id="4"/>
          <p:cNvSpPr/>
          <p:nvPr/>
        </p:nvSpPr>
        <p:spPr>
          <a:xfrm rot="25469">
            <a:off x="1430016" y="1512384"/>
            <a:ext cx="15427968" cy="0"/>
          </a:xfrm>
          <a:prstGeom prst="line">
            <a:avLst/>
          </a:prstGeom>
          <a:ln cap="rnd" w="57150">
            <a:solidFill>
              <a:srgbClr val="4D64C3"/>
            </a:solidFill>
            <a:prstDash val="solid"/>
            <a:headEnd type="none" len="sm" w="sm"/>
            <a:tailEnd type="none" len="sm" w="sm"/>
          </a:ln>
        </p:spPr>
      </p:sp>
      <p:grpSp>
        <p:nvGrpSpPr>
          <p:cNvPr name="Group 5" id="5"/>
          <p:cNvGrpSpPr/>
          <p:nvPr/>
        </p:nvGrpSpPr>
        <p:grpSpPr>
          <a:xfrm rot="0">
            <a:off x="1363972" y="4203374"/>
            <a:ext cx="6679480" cy="4248423"/>
            <a:chOff x="0" y="0"/>
            <a:chExt cx="8905974" cy="5664564"/>
          </a:xfrm>
        </p:grpSpPr>
        <p:sp>
          <p:nvSpPr>
            <p:cNvPr name="Freeform 6" id="6"/>
            <p:cNvSpPr/>
            <p:nvPr/>
          </p:nvSpPr>
          <p:spPr>
            <a:xfrm flipH="false" flipV="false" rot="0">
              <a:off x="12700" y="12700"/>
              <a:ext cx="8880602" cy="5639181"/>
            </a:xfrm>
            <a:custGeom>
              <a:avLst/>
              <a:gdLst/>
              <a:ahLst/>
              <a:cxnLst/>
              <a:rect r="r" b="b" t="t" l="l"/>
              <a:pathLst>
                <a:path h="5639181" w="8880602">
                  <a:moveTo>
                    <a:pt x="0" y="563880"/>
                  </a:moveTo>
                  <a:cubicBezTo>
                    <a:pt x="0" y="252476"/>
                    <a:pt x="252857" y="0"/>
                    <a:pt x="564896" y="0"/>
                  </a:cubicBezTo>
                  <a:lnTo>
                    <a:pt x="8315706" y="0"/>
                  </a:lnTo>
                  <a:cubicBezTo>
                    <a:pt x="8627618" y="0"/>
                    <a:pt x="8880602" y="252476"/>
                    <a:pt x="8880602" y="563880"/>
                  </a:cubicBezTo>
                  <a:lnTo>
                    <a:pt x="8880602" y="5075301"/>
                  </a:lnTo>
                  <a:cubicBezTo>
                    <a:pt x="8880602" y="5386705"/>
                    <a:pt x="8627745" y="5639181"/>
                    <a:pt x="8315706" y="5639181"/>
                  </a:cubicBezTo>
                  <a:lnTo>
                    <a:pt x="564896" y="5639181"/>
                  </a:lnTo>
                  <a:cubicBezTo>
                    <a:pt x="252857" y="5639181"/>
                    <a:pt x="0" y="5386705"/>
                    <a:pt x="0" y="5075301"/>
                  </a:cubicBezTo>
                  <a:close/>
                </a:path>
              </a:pathLst>
            </a:custGeom>
            <a:solidFill>
              <a:srgbClr val="B13B48"/>
            </a:solidFill>
          </p:spPr>
        </p:sp>
        <p:sp>
          <p:nvSpPr>
            <p:cNvPr name="Freeform 7" id="7"/>
            <p:cNvSpPr/>
            <p:nvPr/>
          </p:nvSpPr>
          <p:spPr>
            <a:xfrm flipH="false" flipV="false" rot="0">
              <a:off x="0" y="0"/>
              <a:ext cx="8906002" cy="5664581"/>
            </a:xfrm>
            <a:custGeom>
              <a:avLst/>
              <a:gdLst/>
              <a:ahLst/>
              <a:cxnLst/>
              <a:rect r="r" b="b" t="t" l="l"/>
              <a:pathLst>
                <a:path h="5664581" w="8906002">
                  <a:moveTo>
                    <a:pt x="0" y="576580"/>
                  </a:moveTo>
                  <a:cubicBezTo>
                    <a:pt x="0" y="258191"/>
                    <a:pt x="258572" y="0"/>
                    <a:pt x="577596" y="0"/>
                  </a:cubicBezTo>
                  <a:lnTo>
                    <a:pt x="8328406" y="0"/>
                  </a:lnTo>
                  <a:lnTo>
                    <a:pt x="8328406" y="12700"/>
                  </a:lnTo>
                  <a:lnTo>
                    <a:pt x="8328406" y="0"/>
                  </a:lnTo>
                  <a:cubicBezTo>
                    <a:pt x="8647303" y="0"/>
                    <a:pt x="8906002" y="258191"/>
                    <a:pt x="8906002" y="576580"/>
                  </a:cubicBezTo>
                  <a:lnTo>
                    <a:pt x="8893302" y="576580"/>
                  </a:lnTo>
                  <a:lnTo>
                    <a:pt x="8906002" y="576580"/>
                  </a:lnTo>
                  <a:lnTo>
                    <a:pt x="8906002" y="5088001"/>
                  </a:lnTo>
                  <a:lnTo>
                    <a:pt x="8893302" y="5088001"/>
                  </a:lnTo>
                  <a:lnTo>
                    <a:pt x="8906002" y="5088001"/>
                  </a:lnTo>
                  <a:cubicBezTo>
                    <a:pt x="8906002" y="5406517"/>
                    <a:pt x="8647430" y="5664581"/>
                    <a:pt x="8328406" y="5664581"/>
                  </a:cubicBezTo>
                  <a:lnTo>
                    <a:pt x="8328406" y="5651881"/>
                  </a:lnTo>
                  <a:lnTo>
                    <a:pt x="8328406" y="5664581"/>
                  </a:lnTo>
                  <a:lnTo>
                    <a:pt x="577596" y="5664581"/>
                  </a:lnTo>
                  <a:lnTo>
                    <a:pt x="577596" y="5651881"/>
                  </a:lnTo>
                  <a:lnTo>
                    <a:pt x="577596" y="5664581"/>
                  </a:lnTo>
                  <a:cubicBezTo>
                    <a:pt x="258572" y="5664581"/>
                    <a:pt x="0" y="5406390"/>
                    <a:pt x="0" y="5088001"/>
                  </a:cubicBezTo>
                  <a:lnTo>
                    <a:pt x="0" y="576580"/>
                  </a:lnTo>
                  <a:lnTo>
                    <a:pt x="12700" y="576580"/>
                  </a:lnTo>
                  <a:lnTo>
                    <a:pt x="0" y="576580"/>
                  </a:lnTo>
                  <a:moveTo>
                    <a:pt x="25400" y="576580"/>
                  </a:moveTo>
                  <a:lnTo>
                    <a:pt x="25400" y="5088001"/>
                  </a:lnTo>
                  <a:lnTo>
                    <a:pt x="12700" y="5088001"/>
                  </a:lnTo>
                  <a:lnTo>
                    <a:pt x="25400" y="5088001"/>
                  </a:lnTo>
                  <a:cubicBezTo>
                    <a:pt x="25400" y="5392420"/>
                    <a:pt x="272542" y="5639181"/>
                    <a:pt x="577596" y="5639181"/>
                  </a:cubicBezTo>
                  <a:lnTo>
                    <a:pt x="8328406" y="5639181"/>
                  </a:lnTo>
                  <a:cubicBezTo>
                    <a:pt x="8633333" y="5639181"/>
                    <a:pt x="8880602" y="5392420"/>
                    <a:pt x="8880602" y="5088001"/>
                  </a:cubicBezTo>
                  <a:lnTo>
                    <a:pt x="8880602" y="576580"/>
                  </a:lnTo>
                  <a:cubicBezTo>
                    <a:pt x="8880602" y="272161"/>
                    <a:pt x="8633461" y="25400"/>
                    <a:pt x="8328406" y="25400"/>
                  </a:cubicBezTo>
                  <a:lnTo>
                    <a:pt x="577596" y="25400"/>
                  </a:lnTo>
                  <a:lnTo>
                    <a:pt x="577596" y="12700"/>
                  </a:lnTo>
                  <a:lnTo>
                    <a:pt x="577596" y="25400"/>
                  </a:lnTo>
                  <a:cubicBezTo>
                    <a:pt x="272542" y="25400"/>
                    <a:pt x="25400" y="272161"/>
                    <a:pt x="25400" y="576580"/>
                  </a:cubicBezTo>
                  <a:close/>
                </a:path>
              </a:pathLst>
            </a:custGeom>
            <a:solidFill>
              <a:srgbClr val="FFFFFF"/>
            </a:solidFill>
          </p:spPr>
        </p:sp>
      </p:grpSp>
      <p:grpSp>
        <p:nvGrpSpPr>
          <p:cNvPr name="Group 8" id="8"/>
          <p:cNvGrpSpPr/>
          <p:nvPr/>
        </p:nvGrpSpPr>
        <p:grpSpPr>
          <a:xfrm rot="0">
            <a:off x="2104020" y="4906419"/>
            <a:ext cx="6679480" cy="4248423"/>
            <a:chOff x="0" y="0"/>
            <a:chExt cx="8905974" cy="5664564"/>
          </a:xfrm>
        </p:grpSpPr>
        <p:sp>
          <p:nvSpPr>
            <p:cNvPr name="Freeform 9" id="9"/>
            <p:cNvSpPr/>
            <p:nvPr/>
          </p:nvSpPr>
          <p:spPr>
            <a:xfrm flipH="false" flipV="false" rot="0">
              <a:off x="12700" y="12700"/>
              <a:ext cx="8880602" cy="5639181"/>
            </a:xfrm>
            <a:custGeom>
              <a:avLst/>
              <a:gdLst/>
              <a:ahLst/>
              <a:cxnLst/>
              <a:rect r="r" b="b" t="t" l="l"/>
              <a:pathLst>
                <a:path h="5639181" w="8880602">
                  <a:moveTo>
                    <a:pt x="0" y="563880"/>
                  </a:moveTo>
                  <a:cubicBezTo>
                    <a:pt x="0" y="252476"/>
                    <a:pt x="252857" y="0"/>
                    <a:pt x="564896" y="0"/>
                  </a:cubicBezTo>
                  <a:lnTo>
                    <a:pt x="8315706" y="0"/>
                  </a:lnTo>
                  <a:cubicBezTo>
                    <a:pt x="8627618" y="0"/>
                    <a:pt x="8880602" y="252476"/>
                    <a:pt x="8880602" y="563880"/>
                  </a:cubicBezTo>
                  <a:lnTo>
                    <a:pt x="8880602" y="5075301"/>
                  </a:lnTo>
                  <a:cubicBezTo>
                    <a:pt x="8880602" y="5386705"/>
                    <a:pt x="8627745" y="5639181"/>
                    <a:pt x="8315706" y="5639181"/>
                  </a:cubicBezTo>
                  <a:lnTo>
                    <a:pt x="564896" y="5639181"/>
                  </a:lnTo>
                  <a:cubicBezTo>
                    <a:pt x="252857" y="5639181"/>
                    <a:pt x="0" y="5386705"/>
                    <a:pt x="0" y="5075301"/>
                  </a:cubicBezTo>
                  <a:close/>
                </a:path>
              </a:pathLst>
            </a:custGeom>
            <a:solidFill>
              <a:srgbClr val="FFFFFF">
                <a:alpha val="80784"/>
              </a:srgbClr>
            </a:solidFill>
          </p:spPr>
        </p:sp>
        <p:sp>
          <p:nvSpPr>
            <p:cNvPr name="Freeform 10" id="10"/>
            <p:cNvSpPr/>
            <p:nvPr/>
          </p:nvSpPr>
          <p:spPr>
            <a:xfrm flipH="false" flipV="false" rot="0">
              <a:off x="0" y="0"/>
              <a:ext cx="8906002" cy="5664581"/>
            </a:xfrm>
            <a:custGeom>
              <a:avLst/>
              <a:gdLst/>
              <a:ahLst/>
              <a:cxnLst/>
              <a:rect r="r" b="b" t="t" l="l"/>
              <a:pathLst>
                <a:path h="5664581" w="8906002">
                  <a:moveTo>
                    <a:pt x="0" y="576580"/>
                  </a:moveTo>
                  <a:cubicBezTo>
                    <a:pt x="0" y="258191"/>
                    <a:pt x="258572" y="0"/>
                    <a:pt x="577596" y="0"/>
                  </a:cubicBezTo>
                  <a:lnTo>
                    <a:pt x="8328406" y="0"/>
                  </a:lnTo>
                  <a:lnTo>
                    <a:pt x="8328406" y="12700"/>
                  </a:lnTo>
                  <a:lnTo>
                    <a:pt x="8328406" y="0"/>
                  </a:lnTo>
                  <a:cubicBezTo>
                    <a:pt x="8647303" y="0"/>
                    <a:pt x="8906002" y="258191"/>
                    <a:pt x="8906002" y="576580"/>
                  </a:cubicBezTo>
                  <a:lnTo>
                    <a:pt x="8893302" y="576580"/>
                  </a:lnTo>
                  <a:lnTo>
                    <a:pt x="8906002" y="576580"/>
                  </a:lnTo>
                  <a:lnTo>
                    <a:pt x="8906002" y="5088001"/>
                  </a:lnTo>
                  <a:lnTo>
                    <a:pt x="8893302" y="5088001"/>
                  </a:lnTo>
                  <a:lnTo>
                    <a:pt x="8906002" y="5088001"/>
                  </a:lnTo>
                  <a:cubicBezTo>
                    <a:pt x="8906002" y="5406517"/>
                    <a:pt x="8647430" y="5664581"/>
                    <a:pt x="8328406" y="5664581"/>
                  </a:cubicBezTo>
                  <a:lnTo>
                    <a:pt x="8328406" y="5651881"/>
                  </a:lnTo>
                  <a:lnTo>
                    <a:pt x="8328406" y="5664581"/>
                  </a:lnTo>
                  <a:lnTo>
                    <a:pt x="577596" y="5664581"/>
                  </a:lnTo>
                  <a:lnTo>
                    <a:pt x="577596" y="5651881"/>
                  </a:lnTo>
                  <a:lnTo>
                    <a:pt x="577596" y="5664581"/>
                  </a:lnTo>
                  <a:cubicBezTo>
                    <a:pt x="258572" y="5664581"/>
                    <a:pt x="0" y="5406390"/>
                    <a:pt x="0" y="5088001"/>
                  </a:cubicBezTo>
                  <a:lnTo>
                    <a:pt x="0" y="576580"/>
                  </a:lnTo>
                  <a:lnTo>
                    <a:pt x="12700" y="576580"/>
                  </a:lnTo>
                  <a:lnTo>
                    <a:pt x="0" y="576580"/>
                  </a:lnTo>
                  <a:moveTo>
                    <a:pt x="25400" y="576580"/>
                  </a:moveTo>
                  <a:lnTo>
                    <a:pt x="25400" y="5088001"/>
                  </a:lnTo>
                  <a:lnTo>
                    <a:pt x="12700" y="5088001"/>
                  </a:lnTo>
                  <a:lnTo>
                    <a:pt x="25400" y="5088001"/>
                  </a:lnTo>
                  <a:cubicBezTo>
                    <a:pt x="25400" y="5392420"/>
                    <a:pt x="272542" y="5639181"/>
                    <a:pt x="577596" y="5639181"/>
                  </a:cubicBezTo>
                  <a:lnTo>
                    <a:pt x="8328406" y="5639181"/>
                  </a:lnTo>
                  <a:cubicBezTo>
                    <a:pt x="8633333" y="5639181"/>
                    <a:pt x="8880602" y="5392420"/>
                    <a:pt x="8880602" y="5088001"/>
                  </a:cubicBezTo>
                  <a:lnTo>
                    <a:pt x="8880602" y="576580"/>
                  </a:lnTo>
                  <a:cubicBezTo>
                    <a:pt x="8880602" y="272161"/>
                    <a:pt x="8633461" y="25400"/>
                    <a:pt x="8328406" y="25400"/>
                  </a:cubicBezTo>
                  <a:lnTo>
                    <a:pt x="577596" y="25400"/>
                  </a:lnTo>
                  <a:lnTo>
                    <a:pt x="577596" y="12700"/>
                  </a:lnTo>
                  <a:lnTo>
                    <a:pt x="577596" y="25400"/>
                  </a:lnTo>
                  <a:cubicBezTo>
                    <a:pt x="272542" y="25400"/>
                    <a:pt x="25400" y="272161"/>
                    <a:pt x="25400" y="576580"/>
                  </a:cubicBezTo>
                  <a:close/>
                </a:path>
              </a:pathLst>
            </a:custGeom>
            <a:solidFill>
              <a:srgbClr val="B13B48"/>
            </a:solidFill>
          </p:spPr>
        </p:sp>
      </p:grpSp>
      <p:grpSp>
        <p:nvGrpSpPr>
          <p:cNvPr name="Group 11" id="11"/>
          <p:cNvGrpSpPr/>
          <p:nvPr/>
        </p:nvGrpSpPr>
        <p:grpSpPr>
          <a:xfrm rot="0">
            <a:off x="2227894" y="5030294"/>
            <a:ext cx="6431732" cy="4000674"/>
            <a:chOff x="0" y="0"/>
            <a:chExt cx="8575642" cy="5334232"/>
          </a:xfrm>
        </p:grpSpPr>
        <p:sp>
          <p:nvSpPr>
            <p:cNvPr name="Freeform 12" id="12"/>
            <p:cNvSpPr/>
            <p:nvPr/>
          </p:nvSpPr>
          <p:spPr>
            <a:xfrm flipH="false" flipV="false" rot="0">
              <a:off x="0" y="0"/>
              <a:ext cx="8575642" cy="5334232"/>
            </a:xfrm>
            <a:custGeom>
              <a:avLst/>
              <a:gdLst/>
              <a:ahLst/>
              <a:cxnLst/>
              <a:rect r="r" b="b" t="t" l="l"/>
              <a:pathLst>
                <a:path h="5334232" w="8575642">
                  <a:moveTo>
                    <a:pt x="0" y="0"/>
                  </a:moveTo>
                  <a:lnTo>
                    <a:pt x="8575642" y="0"/>
                  </a:lnTo>
                  <a:lnTo>
                    <a:pt x="8575642" y="5334232"/>
                  </a:lnTo>
                  <a:lnTo>
                    <a:pt x="0" y="5334232"/>
                  </a:lnTo>
                  <a:close/>
                </a:path>
              </a:pathLst>
            </a:custGeom>
            <a:solidFill>
              <a:srgbClr val="000000">
                <a:alpha val="0"/>
              </a:srgbClr>
            </a:solidFill>
          </p:spPr>
        </p:sp>
        <p:sp>
          <p:nvSpPr>
            <p:cNvPr name="TextBox 13" id="13"/>
            <p:cNvSpPr txBox="true"/>
            <p:nvPr/>
          </p:nvSpPr>
          <p:spPr>
            <a:xfrm>
              <a:off x="0" y="19050"/>
              <a:ext cx="8575642" cy="5315182"/>
            </a:xfrm>
            <a:prstGeom prst="rect">
              <a:avLst/>
            </a:prstGeom>
          </p:spPr>
          <p:txBody>
            <a:bodyPr anchor="ctr" rtlCol="false" tIns="0" lIns="0" bIns="0" rIns="0"/>
            <a:lstStyle/>
            <a:p>
              <a:pPr algn="just">
                <a:lnSpc>
                  <a:spcPts val="2592"/>
                </a:lnSpc>
              </a:pPr>
              <a:r>
                <a:rPr lang="en-US" sz="2400">
                  <a:solidFill>
                    <a:srgbClr val="000000"/>
                  </a:solidFill>
                  <a:latin typeface="Arimo"/>
                  <a:ea typeface="Arimo"/>
                  <a:cs typeface="Arimo"/>
                  <a:sym typeface="Arimo"/>
                </a:rPr>
                <a:t>El diagrama UML más comúnmente usado, y la base principal de toda solución orientada a objetos. Las clases dentro de un sistema, atributos y operaciones, y la relación entre cada clase. Las clases se agrupan para crear diagramas de clases al crear diagramas de sistemas grandes.</a:t>
              </a:r>
            </a:p>
          </p:txBody>
        </p:sp>
      </p:grpSp>
      <p:grpSp>
        <p:nvGrpSpPr>
          <p:cNvPr name="Group 14" id="14"/>
          <p:cNvGrpSpPr/>
          <p:nvPr/>
        </p:nvGrpSpPr>
        <p:grpSpPr>
          <a:xfrm rot="0">
            <a:off x="9504498" y="4203374"/>
            <a:ext cx="6679480" cy="4248423"/>
            <a:chOff x="0" y="0"/>
            <a:chExt cx="8905974" cy="5664564"/>
          </a:xfrm>
        </p:grpSpPr>
        <p:sp>
          <p:nvSpPr>
            <p:cNvPr name="Freeform 15" id="15"/>
            <p:cNvSpPr/>
            <p:nvPr/>
          </p:nvSpPr>
          <p:spPr>
            <a:xfrm flipH="false" flipV="false" rot="0">
              <a:off x="12700" y="12700"/>
              <a:ext cx="8880602" cy="5639181"/>
            </a:xfrm>
            <a:custGeom>
              <a:avLst/>
              <a:gdLst/>
              <a:ahLst/>
              <a:cxnLst/>
              <a:rect r="r" b="b" t="t" l="l"/>
              <a:pathLst>
                <a:path h="5639181" w="8880602">
                  <a:moveTo>
                    <a:pt x="0" y="563880"/>
                  </a:moveTo>
                  <a:cubicBezTo>
                    <a:pt x="0" y="252476"/>
                    <a:pt x="252857" y="0"/>
                    <a:pt x="564896" y="0"/>
                  </a:cubicBezTo>
                  <a:lnTo>
                    <a:pt x="8315706" y="0"/>
                  </a:lnTo>
                  <a:cubicBezTo>
                    <a:pt x="8627618" y="0"/>
                    <a:pt x="8880602" y="252476"/>
                    <a:pt x="8880602" y="563880"/>
                  </a:cubicBezTo>
                  <a:lnTo>
                    <a:pt x="8880602" y="5075301"/>
                  </a:lnTo>
                  <a:cubicBezTo>
                    <a:pt x="8880602" y="5386705"/>
                    <a:pt x="8627745" y="5639181"/>
                    <a:pt x="8315706" y="5639181"/>
                  </a:cubicBezTo>
                  <a:lnTo>
                    <a:pt x="564896" y="5639181"/>
                  </a:lnTo>
                  <a:cubicBezTo>
                    <a:pt x="252857" y="5639181"/>
                    <a:pt x="0" y="5386705"/>
                    <a:pt x="0" y="5075301"/>
                  </a:cubicBezTo>
                  <a:close/>
                </a:path>
              </a:pathLst>
            </a:custGeom>
            <a:solidFill>
              <a:srgbClr val="B13B48"/>
            </a:solidFill>
          </p:spPr>
        </p:sp>
        <p:sp>
          <p:nvSpPr>
            <p:cNvPr name="Freeform 16" id="16"/>
            <p:cNvSpPr/>
            <p:nvPr/>
          </p:nvSpPr>
          <p:spPr>
            <a:xfrm flipH="false" flipV="false" rot="0">
              <a:off x="0" y="0"/>
              <a:ext cx="8906002" cy="5664581"/>
            </a:xfrm>
            <a:custGeom>
              <a:avLst/>
              <a:gdLst/>
              <a:ahLst/>
              <a:cxnLst/>
              <a:rect r="r" b="b" t="t" l="l"/>
              <a:pathLst>
                <a:path h="5664581" w="8906002">
                  <a:moveTo>
                    <a:pt x="0" y="576580"/>
                  </a:moveTo>
                  <a:cubicBezTo>
                    <a:pt x="0" y="258191"/>
                    <a:pt x="258572" y="0"/>
                    <a:pt x="577596" y="0"/>
                  </a:cubicBezTo>
                  <a:lnTo>
                    <a:pt x="8328406" y="0"/>
                  </a:lnTo>
                  <a:lnTo>
                    <a:pt x="8328406" y="12700"/>
                  </a:lnTo>
                  <a:lnTo>
                    <a:pt x="8328406" y="0"/>
                  </a:lnTo>
                  <a:cubicBezTo>
                    <a:pt x="8647303" y="0"/>
                    <a:pt x="8906002" y="258191"/>
                    <a:pt x="8906002" y="576580"/>
                  </a:cubicBezTo>
                  <a:lnTo>
                    <a:pt x="8893302" y="576580"/>
                  </a:lnTo>
                  <a:lnTo>
                    <a:pt x="8906002" y="576580"/>
                  </a:lnTo>
                  <a:lnTo>
                    <a:pt x="8906002" y="5088001"/>
                  </a:lnTo>
                  <a:lnTo>
                    <a:pt x="8893302" y="5088001"/>
                  </a:lnTo>
                  <a:lnTo>
                    <a:pt x="8906002" y="5088001"/>
                  </a:lnTo>
                  <a:cubicBezTo>
                    <a:pt x="8906002" y="5406517"/>
                    <a:pt x="8647430" y="5664581"/>
                    <a:pt x="8328406" y="5664581"/>
                  </a:cubicBezTo>
                  <a:lnTo>
                    <a:pt x="8328406" y="5651881"/>
                  </a:lnTo>
                  <a:lnTo>
                    <a:pt x="8328406" y="5664581"/>
                  </a:lnTo>
                  <a:lnTo>
                    <a:pt x="577596" y="5664581"/>
                  </a:lnTo>
                  <a:lnTo>
                    <a:pt x="577596" y="5651881"/>
                  </a:lnTo>
                  <a:lnTo>
                    <a:pt x="577596" y="5664581"/>
                  </a:lnTo>
                  <a:cubicBezTo>
                    <a:pt x="258572" y="5664581"/>
                    <a:pt x="0" y="5406390"/>
                    <a:pt x="0" y="5088001"/>
                  </a:cubicBezTo>
                  <a:lnTo>
                    <a:pt x="0" y="576580"/>
                  </a:lnTo>
                  <a:lnTo>
                    <a:pt x="12700" y="576580"/>
                  </a:lnTo>
                  <a:lnTo>
                    <a:pt x="0" y="576580"/>
                  </a:lnTo>
                  <a:moveTo>
                    <a:pt x="25400" y="576580"/>
                  </a:moveTo>
                  <a:lnTo>
                    <a:pt x="25400" y="5088001"/>
                  </a:lnTo>
                  <a:lnTo>
                    <a:pt x="12700" y="5088001"/>
                  </a:lnTo>
                  <a:lnTo>
                    <a:pt x="25400" y="5088001"/>
                  </a:lnTo>
                  <a:cubicBezTo>
                    <a:pt x="25400" y="5392420"/>
                    <a:pt x="272542" y="5639181"/>
                    <a:pt x="577596" y="5639181"/>
                  </a:cubicBezTo>
                  <a:lnTo>
                    <a:pt x="8328406" y="5639181"/>
                  </a:lnTo>
                  <a:cubicBezTo>
                    <a:pt x="8633333" y="5639181"/>
                    <a:pt x="8880602" y="5392420"/>
                    <a:pt x="8880602" y="5088001"/>
                  </a:cubicBezTo>
                  <a:lnTo>
                    <a:pt x="8880602" y="576580"/>
                  </a:lnTo>
                  <a:cubicBezTo>
                    <a:pt x="8880602" y="272161"/>
                    <a:pt x="8633461" y="25400"/>
                    <a:pt x="8328406" y="25400"/>
                  </a:cubicBezTo>
                  <a:lnTo>
                    <a:pt x="577596" y="25400"/>
                  </a:lnTo>
                  <a:lnTo>
                    <a:pt x="577596" y="12700"/>
                  </a:lnTo>
                  <a:lnTo>
                    <a:pt x="577596" y="25400"/>
                  </a:lnTo>
                  <a:cubicBezTo>
                    <a:pt x="272542" y="25400"/>
                    <a:pt x="25400" y="272161"/>
                    <a:pt x="25400" y="576580"/>
                  </a:cubicBezTo>
                  <a:close/>
                </a:path>
              </a:pathLst>
            </a:custGeom>
            <a:solidFill>
              <a:srgbClr val="FFFFFF"/>
            </a:solidFill>
          </p:spPr>
        </p:sp>
      </p:grpSp>
      <p:grpSp>
        <p:nvGrpSpPr>
          <p:cNvPr name="Group 17" id="17"/>
          <p:cNvGrpSpPr/>
          <p:nvPr/>
        </p:nvGrpSpPr>
        <p:grpSpPr>
          <a:xfrm rot="0">
            <a:off x="10244546" y="4906419"/>
            <a:ext cx="6679480" cy="4248423"/>
            <a:chOff x="0" y="0"/>
            <a:chExt cx="8905974" cy="5664564"/>
          </a:xfrm>
        </p:grpSpPr>
        <p:sp>
          <p:nvSpPr>
            <p:cNvPr name="Freeform 18" id="18"/>
            <p:cNvSpPr/>
            <p:nvPr/>
          </p:nvSpPr>
          <p:spPr>
            <a:xfrm flipH="false" flipV="false" rot="0">
              <a:off x="12700" y="12700"/>
              <a:ext cx="8880602" cy="5639181"/>
            </a:xfrm>
            <a:custGeom>
              <a:avLst/>
              <a:gdLst/>
              <a:ahLst/>
              <a:cxnLst/>
              <a:rect r="r" b="b" t="t" l="l"/>
              <a:pathLst>
                <a:path h="5639181" w="8880602">
                  <a:moveTo>
                    <a:pt x="0" y="563880"/>
                  </a:moveTo>
                  <a:cubicBezTo>
                    <a:pt x="0" y="252476"/>
                    <a:pt x="252857" y="0"/>
                    <a:pt x="564896" y="0"/>
                  </a:cubicBezTo>
                  <a:lnTo>
                    <a:pt x="8315706" y="0"/>
                  </a:lnTo>
                  <a:cubicBezTo>
                    <a:pt x="8627618" y="0"/>
                    <a:pt x="8880602" y="252476"/>
                    <a:pt x="8880602" y="563880"/>
                  </a:cubicBezTo>
                  <a:lnTo>
                    <a:pt x="8880602" y="5075301"/>
                  </a:lnTo>
                  <a:cubicBezTo>
                    <a:pt x="8880602" y="5386705"/>
                    <a:pt x="8627745" y="5639181"/>
                    <a:pt x="8315706" y="5639181"/>
                  </a:cubicBezTo>
                  <a:lnTo>
                    <a:pt x="564896" y="5639181"/>
                  </a:lnTo>
                  <a:cubicBezTo>
                    <a:pt x="252857" y="5639181"/>
                    <a:pt x="0" y="5386705"/>
                    <a:pt x="0" y="5075301"/>
                  </a:cubicBezTo>
                  <a:close/>
                </a:path>
              </a:pathLst>
            </a:custGeom>
            <a:solidFill>
              <a:srgbClr val="FFFFFF">
                <a:alpha val="80784"/>
              </a:srgbClr>
            </a:solidFill>
          </p:spPr>
        </p:sp>
        <p:sp>
          <p:nvSpPr>
            <p:cNvPr name="Freeform 19" id="19"/>
            <p:cNvSpPr/>
            <p:nvPr/>
          </p:nvSpPr>
          <p:spPr>
            <a:xfrm flipH="false" flipV="false" rot="0">
              <a:off x="0" y="0"/>
              <a:ext cx="8906002" cy="5664581"/>
            </a:xfrm>
            <a:custGeom>
              <a:avLst/>
              <a:gdLst/>
              <a:ahLst/>
              <a:cxnLst/>
              <a:rect r="r" b="b" t="t" l="l"/>
              <a:pathLst>
                <a:path h="5664581" w="8906002">
                  <a:moveTo>
                    <a:pt x="0" y="576580"/>
                  </a:moveTo>
                  <a:cubicBezTo>
                    <a:pt x="0" y="258191"/>
                    <a:pt x="258572" y="0"/>
                    <a:pt x="577596" y="0"/>
                  </a:cubicBezTo>
                  <a:lnTo>
                    <a:pt x="8328406" y="0"/>
                  </a:lnTo>
                  <a:lnTo>
                    <a:pt x="8328406" y="12700"/>
                  </a:lnTo>
                  <a:lnTo>
                    <a:pt x="8328406" y="0"/>
                  </a:lnTo>
                  <a:cubicBezTo>
                    <a:pt x="8647303" y="0"/>
                    <a:pt x="8906002" y="258191"/>
                    <a:pt x="8906002" y="576580"/>
                  </a:cubicBezTo>
                  <a:lnTo>
                    <a:pt x="8893302" y="576580"/>
                  </a:lnTo>
                  <a:lnTo>
                    <a:pt x="8906002" y="576580"/>
                  </a:lnTo>
                  <a:lnTo>
                    <a:pt x="8906002" y="5088001"/>
                  </a:lnTo>
                  <a:lnTo>
                    <a:pt x="8893302" y="5088001"/>
                  </a:lnTo>
                  <a:lnTo>
                    <a:pt x="8906002" y="5088001"/>
                  </a:lnTo>
                  <a:cubicBezTo>
                    <a:pt x="8906002" y="5406517"/>
                    <a:pt x="8647430" y="5664581"/>
                    <a:pt x="8328406" y="5664581"/>
                  </a:cubicBezTo>
                  <a:lnTo>
                    <a:pt x="8328406" y="5651881"/>
                  </a:lnTo>
                  <a:lnTo>
                    <a:pt x="8328406" y="5664581"/>
                  </a:lnTo>
                  <a:lnTo>
                    <a:pt x="577596" y="5664581"/>
                  </a:lnTo>
                  <a:lnTo>
                    <a:pt x="577596" y="5651881"/>
                  </a:lnTo>
                  <a:lnTo>
                    <a:pt x="577596" y="5664581"/>
                  </a:lnTo>
                  <a:cubicBezTo>
                    <a:pt x="258572" y="5664581"/>
                    <a:pt x="0" y="5406390"/>
                    <a:pt x="0" y="5088001"/>
                  </a:cubicBezTo>
                  <a:lnTo>
                    <a:pt x="0" y="576580"/>
                  </a:lnTo>
                  <a:lnTo>
                    <a:pt x="12700" y="576580"/>
                  </a:lnTo>
                  <a:lnTo>
                    <a:pt x="0" y="576580"/>
                  </a:lnTo>
                  <a:moveTo>
                    <a:pt x="25400" y="576580"/>
                  </a:moveTo>
                  <a:lnTo>
                    <a:pt x="25400" y="5088001"/>
                  </a:lnTo>
                  <a:lnTo>
                    <a:pt x="12700" y="5088001"/>
                  </a:lnTo>
                  <a:lnTo>
                    <a:pt x="25400" y="5088001"/>
                  </a:lnTo>
                  <a:cubicBezTo>
                    <a:pt x="25400" y="5392420"/>
                    <a:pt x="272542" y="5639181"/>
                    <a:pt x="577596" y="5639181"/>
                  </a:cubicBezTo>
                  <a:lnTo>
                    <a:pt x="8328406" y="5639181"/>
                  </a:lnTo>
                  <a:cubicBezTo>
                    <a:pt x="8633333" y="5639181"/>
                    <a:pt x="8880602" y="5392420"/>
                    <a:pt x="8880602" y="5088001"/>
                  </a:cubicBezTo>
                  <a:lnTo>
                    <a:pt x="8880602" y="576580"/>
                  </a:lnTo>
                  <a:cubicBezTo>
                    <a:pt x="8880602" y="272161"/>
                    <a:pt x="8633461" y="25400"/>
                    <a:pt x="8328406" y="25400"/>
                  </a:cubicBezTo>
                  <a:lnTo>
                    <a:pt x="577596" y="25400"/>
                  </a:lnTo>
                  <a:lnTo>
                    <a:pt x="577596" y="12700"/>
                  </a:lnTo>
                  <a:lnTo>
                    <a:pt x="577596" y="25400"/>
                  </a:lnTo>
                  <a:cubicBezTo>
                    <a:pt x="272542" y="25400"/>
                    <a:pt x="25400" y="272161"/>
                    <a:pt x="25400" y="576580"/>
                  </a:cubicBezTo>
                  <a:close/>
                </a:path>
              </a:pathLst>
            </a:custGeom>
            <a:solidFill>
              <a:srgbClr val="B13B48"/>
            </a:solidFill>
          </p:spPr>
        </p:sp>
      </p:grpSp>
      <p:grpSp>
        <p:nvGrpSpPr>
          <p:cNvPr name="Group 20" id="20"/>
          <p:cNvGrpSpPr/>
          <p:nvPr/>
        </p:nvGrpSpPr>
        <p:grpSpPr>
          <a:xfrm rot="0">
            <a:off x="10368420" y="5030294"/>
            <a:ext cx="6431732" cy="4000674"/>
            <a:chOff x="0" y="0"/>
            <a:chExt cx="8575642" cy="5334232"/>
          </a:xfrm>
        </p:grpSpPr>
        <p:sp>
          <p:nvSpPr>
            <p:cNvPr name="Freeform 21" id="21"/>
            <p:cNvSpPr/>
            <p:nvPr/>
          </p:nvSpPr>
          <p:spPr>
            <a:xfrm flipH="false" flipV="false" rot="0">
              <a:off x="0" y="0"/>
              <a:ext cx="8575642" cy="5334232"/>
            </a:xfrm>
            <a:custGeom>
              <a:avLst/>
              <a:gdLst/>
              <a:ahLst/>
              <a:cxnLst/>
              <a:rect r="r" b="b" t="t" l="l"/>
              <a:pathLst>
                <a:path h="5334232" w="8575642">
                  <a:moveTo>
                    <a:pt x="0" y="0"/>
                  </a:moveTo>
                  <a:lnTo>
                    <a:pt x="8575642" y="0"/>
                  </a:lnTo>
                  <a:lnTo>
                    <a:pt x="8575642" y="5334232"/>
                  </a:lnTo>
                  <a:lnTo>
                    <a:pt x="0" y="5334232"/>
                  </a:lnTo>
                  <a:close/>
                </a:path>
              </a:pathLst>
            </a:custGeom>
            <a:solidFill>
              <a:srgbClr val="000000">
                <a:alpha val="0"/>
              </a:srgbClr>
            </a:solidFill>
          </p:spPr>
        </p:sp>
        <p:sp>
          <p:nvSpPr>
            <p:cNvPr name="TextBox 22" id="22"/>
            <p:cNvSpPr txBox="true"/>
            <p:nvPr/>
          </p:nvSpPr>
          <p:spPr>
            <a:xfrm>
              <a:off x="0" y="19050"/>
              <a:ext cx="8575642" cy="5315182"/>
            </a:xfrm>
            <a:prstGeom prst="rect">
              <a:avLst/>
            </a:prstGeom>
          </p:spPr>
          <p:txBody>
            <a:bodyPr anchor="ctr" rtlCol="false" tIns="0" lIns="0" bIns="0" rIns="0"/>
            <a:lstStyle/>
            <a:p>
              <a:pPr algn="just">
                <a:lnSpc>
                  <a:spcPts val="2592"/>
                </a:lnSpc>
              </a:pPr>
              <a:r>
                <a:rPr lang="en-US" sz="2400">
                  <a:solidFill>
                    <a:srgbClr val="000000"/>
                  </a:solidFill>
                  <a:latin typeface="Arimo"/>
                  <a:ea typeface="Arimo"/>
                  <a:cs typeface="Arimo"/>
                  <a:sym typeface="Arimo"/>
                </a:rPr>
                <a:t>El UML se estableció como un modelo estandarizado para describir un enfoque de programación orientada a objetos (POO). Como las clases son los componentes básicos de los objetos, los diagramas de clases son los componentes básicos del UML. Los diversos componentes en un diagrama de clases pueden representar las clases que se programarán en realidad, los objetos principales o la interacción entre clases y objetos.</a:t>
              </a:r>
            </a:p>
          </p:txBody>
        </p:sp>
      </p:gr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3" id="3"/>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4" id="4"/>
          <p:cNvSpPr/>
          <p:nvPr/>
        </p:nvSpPr>
        <p:spPr>
          <a:xfrm rot="247854">
            <a:off x="1426689" y="1517926"/>
            <a:ext cx="1586715" cy="0"/>
          </a:xfrm>
          <a:prstGeom prst="line">
            <a:avLst/>
          </a:prstGeom>
          <a:ln cap="rnd" w="57150">
            <a:solidFill>
              <a:srgbClr val="4D64C3"/>
            </a:solidFill>
            <a:prstDash val="solid"/>
            <a:headEnd type="none" len="sm" w="sm"/>
            <a:tailEnd type="none" len="sm" w="sm"/>
          </a:ln>
        </p:spPr>
      </p:sp>
      <p:sp>
        <p:nvSpPr>
          <p:cNvPr name="TextBox 5" id="5"/>
          <p:cNvSpPr txBox="true"/>
          <p:nvPr/>
        </p:nvSpPr>
        <p:spPr>
          <a:xfrm rot="0">
            <a:off x="1051559" y="2148524"/>
            <a:ext cx="16153514"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Beneficios del Diagrama de Clases</a:t>
            </a:r>
          </a:p>
        </p:txBody>
      </p:sp>
      <p:grpSp>
        <p:nvGrpSpPr>
          <p:cNvPr name="Group 6" id="6"/>
          <p:cNvGrpSpPr/>
          <p:nvPr/>
        </p:nvGrpSpPr>
        <p:grpSpPr>
          <a:xfrm rot="0">
            <a:off x="717303" y="3976880"/>
            <a:ext cx="16322922" cy="1391460"/>
            <a:chOff x="0" y="0"/>
            <a:chExt cx="21763896" cy="1855280"/>
          </a:xfrm>
        </p:grpSpPr>
        <p:sp>
          <p:nvSpPr>
            <p:cNvPr name="Freeform 7" id="7"/>
            <p:cNvSpPr/>
            <p:nvPr/>
          </p:nvSpPr>
          <p:spPr>
            <a:xfrm flipH="false" flipV="false" rot="0">
              <a:off x="12700" y="12700"/>
              <a:ext cx="21738462" cy="1829943"/>
            </a:xfrm>
            <a:custGeom>
              <a:avLst/>
              <a:gdLst/>
              <a:ahLst/>
              <a:cxnLst/>
              <a:rect r="r" b="b" t="t" l="l"/>
              <a:pathLst>
                <a:path h="1829943" w="21738462">
                  <a:moveTo>
                    <a:pt x="0" y="304927"/>
                  </a:moveTo>
                  <a:cubicBezTo>
                    <a:pt x="0" y="136525"/>
                    <a:pt x="138303" y="0"/>
                    <a:pt x="308864" y="0"/>
                  </a:cubicBezTo>
                  <a:lnTo>
                    <a:pt x="21429599" y="0"/>
                  </a:lnTo>
                  <a:cubicBezTo>
                    <a:pt x="21600161" y="0"/>
                    <a:pt x="21738462" y="136525"/>
                    <a:pt x="21738462" y="304927"/>
                  </a:cubicBezTo>
                  <a:lnTo>
                    <a:pt x="21738462" y="1524889"/>
                  </a:lnTo>
                  <a:cubicBezTo>
                    <a:pt x="21738462" y="1693291"/>
                    <a:pt x="21600161" y="1829816"/>
                    <a:pt x="21429599" y="1829816"/>
                  </a:cubicBezTo>
                  <a:lnTo>
                    <a:pt x="308864" y="1829816"/>
                  </a:lnTo>
                  <a:cubicBezTo>
                    <a:pt x="138303" y="1829943"/>
                    <a:pt x="0" y="1693291"/>
                    <a:pt x="0" y="1524889"/>
                  </a:cubicBezTo>
                  <a:close/>
                </a:path>
              </a:pathLst>
            </a:custGeom>
            <a:solidFill>
              <a:srgbClr val="36478F"/>
            </a:solidFill>
          </p:spPr>
        </p:sp>
        <p:sp>
          <p:nvSpPr>
            <p:cNvPr name="Freeform 8" id="8"/>
            <p:cNvSpPr/>
            <p:nvPr/>
          </p:nvSpPr>
          <p:spPr>
            <a:xfrm flipH="false" flipV="false" rot="0">
              <a:off x="0" y="0"/>
              <a:ext cx="21763862" cy="1855343"/>
            </a:xfrm>
            <a:custGeom>
              <a:avLst/>
              <a:gdLst/>
              <a:ahLst/>
              <a:cxnLst/>
              <a:rect r="r" b="b" t="t" l="l"/>
              <a:pathLst>
                <a:path h="1855343" w="21763862">
                  <a:moveTo>
                    <a:pt x="0" y="317627"/>
                  </a:moveTo>
                  <a:cubicBezTo>
                    <a:pt x="0" y="142113"/>
                    <a:pt x="144145" y="0"/>
                    <a:pt x="321564" y="0"/>
                  </a:cubicBezTo>
                  <a:lnTo>
                    <a:pt x="21442299" y="0"/>
                  </a:lnTo>
                  <a:lnTo>
                    <a:pt x="21442299" y="12700"/>
                  </a:lnTo>
                  <a:lnTo>
                    <a:pt x="21442299" y="0"/>
                  </a:lnTo>
                  <a:cubicBezTo>
                    <a:pt x="21619718" y="0"/>
                    <a:pt x="21763862" y="142113"/>
                    <a:pt x="21763862" y="317627"/>
                  </a:cubicBezTo>
                  <a:lnTo>
                    <a:pt x="21751162" y="317627"/>
                  </a:lnTo>
                  <a:lnTo>
                    <a:pt x="21763862" y="317627"/>
                  </a:lnTo>
                  <a:lnTo>
                    <a:pt x="21763862" y="1537589"/>
                  </a:lnTo>
                  <a:lnTo>
                    <a:pt x="21751162" y="1537589"/>
                  </a:lnTo>
                  <a:lnTo>
                    <a:pt x="21763862" y="1537589"/>
                  </a:lnTo>
                  <a:cubicBezTo>
                    <a:pt x="21763862" y="1713230"/>
                    <a:pt x="21619718" y="1855216"/>
                    <a:pt x="21442299" y="1855216"/>
                  </a:cubicBezTo>
                  <a:lnTo>
                    <a:pt x="21442299" y="1842516"/>
                  </a:lnTo>
                  <a:lnTo>
                    <a:pt x="21442299" y="1855216"/>
                  </a:lnTo>
                  <a:lnTo>
                    <a:pt x="321564" y="1855216"/>
                  </a:lnTo>
                  <a:lnTo>
                    <a:pt x="321564" y="1842516"/>
                  </a:lnTo>
                  <a:lnTo>
                    <a:pt x="321564" y="1855216"/>
                  </a:lnTo>
                  <a:cubicBezTo>
                    <a:pt x="144145" y="1855343"/>
                    <a:pt x="0" y="1713230"/>
                    <a:pt x="0" y="1537589"/>
                  </a:cubicBezTo>
                  <a:lnTo>
                    <a:pt x="0" y="317627"/>
                  </a:lnTo>
                  <a:lnTo>
                    <a:pt x="12700" y="317627"/>
                  </a:lnTo>
                  <a:lnTo>
                    <a:pt x="0" y="317627"/>
                  </a:lnTo>
                  <a:moveTo>
                    <a:pt x="25400" y="317627"/>
                  </a:moveTo>
                  <a:lnTo>
                    <a:pt x="25400" y="1537589"/>
                  </a:lnTo>
                  <a:lnTo>
                    <a:pt x="12700" y="1537589"/>
                  </a:lnTo>
                  <a:lnTo>
                    <a:pt x="25400" y="1537589"/>
                  </a:lnTo>
                  <a:cubicBezTo>
                    <a:pt x="25400" y="1698879"/>
                    <a:pt x="157861" y="1829816"/>
                    <a:pt x="321564" y="1829816"/>
                  </a:cubicBezTo>
                  <a:lnTo>
                    <a:pt x="21442299" y="1829816"/>
                  </a:lnTo>
                  <a:cubicBezTo>
                    <a:pt x="21606002" y="1829816"/>
                    <a:pt x="21738462" y="1698752"/>
                    <a:pt x="21738462" y="1537589"/>
                  </a:cubicBezTo>
                  <a:lnTo>
                    <a:pt x="21738462" y="317627"/>
                  </a:lnTo>
                  <a:cubicBezTo>
                    <a:pt x="21738462" y="156337"/>
                    <a:pt x="21606002" y="25400"/>
                    <a:pt x="21442299" y="25400"/>
                  </a:cubicBezTo>
                  <a:lnTo>
                    <a:pt x="321564" y="25400"/>
                  </a:lnTo>
                  <a:lnTo>
                    <a:pt x="321564" y="12700"/>
                  </a:lnTo>
                  <a:lnTo>
                    <a:pt x="321564" y="25400"/>
                  </a:lnTo>
                  <a:cubicBezTo>
                    <a:pt x="157861" y="25400"/>
                    <a:pt x="25400" y="156464"/>
                    <a:pt x="25400" y="317627"/>
                  </a:cubicBezTo>
                  <a:close/>
                </a:path>
              </a:pathLst>
            </a:custGeom>
            <a:solidFill>
              <a:srgbClr val="FFFFFF"/>
            </a:solidFill>
          </p:spPr>
        </p:sp>
      </p:grpSp>
      <p:grpSp>
        <p:nvGrpSpPr>
          <p:cNvPr name="Group 9" id="9"/>
          <p:cNvGrpSpPr/>
          <p:nvPr/>
        </p:nvGrpSpPr>
        <p:grpSpPr>
          <a:xfrm rot="0">
            <a:off x="784299" y="4043876"/>
            <a:ext cx="16188930" cy="1257468"/>
            <a:chOff x="0" y="0"/>
            <a:chExt cx="21585240" cy="1676624"/>
          </a:xfrm>
        </p:grpSpPr>
        <p:sp>
          <p:nvSpPr>
            <p:cNvPr name="Freeform 10" id="10"/>
            <p:cNvSpPr/>
            <p:nvPr/>
          </p:nvSpPr>
          <p:spPr>
            <a:xfrm flipH="false" flipV="false" rot="0">
              <a:off x="0" y="0"/>
              <a:ext cx="21585241" cy="1676624"/>
            </a:xfrm>
            <a:custGeom>
              <a:avLst/>
              <a:gdLst/>
              <a:ahLst/>
              <a:cxnLst/>
              <a:rect r="r" b="b" t="t" l="l"/>
              <a:pathLst>
                <a:path h="1676624" w="21585241">
                  <a:moveTo>
                    <a:pt x="0" y="0"/>
                  </a:moveTo>
                  <a:lnTo>
                    <a:pt x="21585241" y="0"/>
                  </a:lnTo>
                  <a:lnTo>
                    <a:pt x="21585241" y="1676624"/>
                  </a:lnTo>
                  <a:lnTo>
                    <a:pt x="0" y="1676624"/>
                  </a:lnTo>
                  <a:close/>
                </a:path>
              </a:pathLst>
            </a:custGeom>
            <a:solidFill>
              <a:srgbClr val="000000">
                <a:alpha val="0"/>
              </a:srgbClr>
            </a:solidFill>
          </p:spPr>
        </p:sp>
        <p:sp>
          <p:nvSpPr>
            <p:cNvPr name="TextBox 11" id="11"/>
            <p:cNvSpPr txBox="true"/>
            <p:nvPr/>
          </p:nvSpPr>
          <p:spPr>
            <a:xfrm>
              <a:off x="0" y="19050"/>
              <a:ext cx="21585240" cy="1657574"/>
            </a:xfrm>
            <a:prstGeom prst="rect">
              <a:avLst/>
            </a:prstGeom>
          </p:spPr>
          <p:txBody>
            <a:bodyPr anchor="ctr" rtlCol="false" tIns="0" lIns="0" bIns="0" rIns="0"/>
            <a:lstStyle/>
            <a:p>
              <a:pPr algn="just">
                <a:lnSpc>
                  <a:spcPts val="3726"/>
                </a:lnSpc>
              </a:pPr>
              <a:r>
                <a:rPr lang="en-US" sz="3450">
                  <a:solidFill>
                    <a:srgbClr val="FFFFFF"/>
                  </a:solidFill>
                  <a:latin typeface="Arimo"/>
                  <a:ea typeface="Arimo"/>
                  <a:cs typeface="Arimo"/>
                  <a:sym typeface="Arimo"/>
                </a:rPr>
                <a:t>Los diagramas de clases ofrecen una serie de beneficios para toda organización. Usa los diagramas de clases UML para:</a:t>
              </a:r>
            </a:p>
          </p:txBody>
        </p:sp>
      </p:grpSp>
      <p:sp>
        <p:nvSpPr>
          <p:cNvPr name="TextBox 12" id="12"/>
          <p:cNvSpPr txBox="true"/>
          <p:nvPr/>
        </p:nvSpPr>
        <p:spPr>
          <a:xfrm rot="0">
            <a:off x="1067164" y="5392787"/>
            <a:ext cx="15804722" cy="3726574"/>
          </a:xfrm>
          <a:prstGeom prst="rect">
            <a:avLst/>
          </a:prstGeom>
        </p:spPr>
        <p:txBody>
          <a:bodyPr anchor="t" rtlCol="false" tIns="0" lIns="0" bIns="0" rIns="0">
            <a:spAutoFit/>
          </a:bodyPr>
          <a:lstStyle/>
          <a:p>
            <a:pPr algn="just" marL="488632" indent="-162878" lvl="2">
              <a:lnSpc>
                <a:spcPts val="2916"/>
              </a:lnSpc>
              <a:buFont typeface="Arial"/>
              <a:buChar char="⚬"/>
            </a:pPr>
            <a:r>
              <a:rPr lang="en-US" sz="2700">
                <a:solidFill>
                  <a:srgbClr val="000000"/>
                </a:solidFill>
                <a:latin typeface="Arimo"/>
                <a:ea typeface="Arimo"/>
                <a:cs typeface="Arimo"/>
                <a:sym typeface="Arimo"/>
              </a:rPr>
              <a:t>Ilustrar modelos de datos para sistemas de información, sin importar qué tan simples o complejos sean.</a:t>
            </a:r>
          </a:p>
          <a:p>
            <a:pPr algn="just" marL="488632" indent="-162878" lvl="2">
              <a:lnSpc>
                <a:spcPts val="2916"/>
              </a:lnSpc>
              <a:buFont typeface="Arial"/>
              <a:buChar char="⚬"/>
            </a:pPr>
            <a:r>
              <a:rPr lang="en-US" sz="2700">
                <a:solidFill>
                  <a:srgbClr val="000000"/>
                </a:solidFill>
                <a:latin typeface="Arimo"/>
                <a:ea typeface="Arimo"/>
                <a:cs typeface="Arimo"/>
                <a:sym typeface="Arimo"/>
              </a:rPr>
              <a:t>Comprender mejor la visión general de los esquemas de una aplicación.</a:t>
            </a:r>
          </a:p>
          <a:p>
            <a:pPr algn="just" marL="488632" indent="-162878" lvl="2">
              <a:lnSpc>
                <a:spcPts val="2916"/>
              </a:lnSpc>
              <a:buFont typeface="Arial"/>
              <a:buChar char="⚬"/>
            </a:pPr>
            <a:r>
              <a:rPr lang="en-US" sz="2700">
                <a:solidFill>
                  <a:srgbClr val="000000"/>
                </a:solidFill>
                <a:latin typeface="Arimo"/>
                <a:ea typeface="Arimo"/>
                <a:cs typeface="Arimo"/>
                <a:sym typeface="Arimo"/>
              </a:rPr>
              <a:t>Expresar visualmente cualesquier necesidades específicas de un sistema y divulgar esa información en toda la empresa.</a:t>
            </a:r>
          </a:p>
          <a:p>
            <a:pPr algn="just" marL="488632" indent="-162878" lvl="2">
              <a:lnSpc>
                <a:spcPts val="2916"/>
              </a:lnSpc>
              <a:buFont typeface="Arial"/>
              <a:buChar char="⚬"/>
            </a:pPr>
            <a:r>
              <a:rPr lang="en-US" sz="2700">
                <a:solidFill>
                  <a:srgbClr val="000000"/>
                </a:solidFill>
                <a:latin typeface="Arimo"/>
                <a:ea typeface="Arimo"/>
                <a:cs typeface="Arimo"/>
                <a:sym typeface="Arimo"/>
              </a:rPr>
              <a:t>Crear diagramas detallados que resalten cualquier código específico que será necesario programar e implementar en la estructura descrita.</a:t>
            </a:r>
          </a:p>
          <a:p>
            <a:pPr algn="just" marL="488632" indent="-162878" lvl="2">
              <a:lnSpc>
                <a:spcPts val="2916"/>
              </a:lnSpc>
              <a:buFont typeface="Arial"/>
              <a:buChar char="⚬"/>
            </a:pPr>
            <a:r>
              <a:rPr lang="en-US" sz="2700">
                <a:solidFill>
                  <a:srgbClr val="000000"/>
                </a:solidFill>
                <a:latin typeface="Arimo"/>
                <a:ea typeface="Arimo"/>
                <a:cs typeface="Arimo"/>
                <a:sym typeface="Arimo"/>
              </a:rPr>
              <a:t>Ofrecer una descripción independiente de la implementación sobre los tipos empleados en un sistema que son posteriormente transferidos entre sus componentes.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2054225"/>
            <a:ext cx="16153512"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Componentes Básicos</a:t>
            </a:r>
          </a:p>
        </p:txBody>
      </p:sp>
      <p:sp>
        <p:nvSpPr>
          <p:cNvPr name="TextBox 4" id="4"/>
          <p:cNvSpPr txBox="true"/>
          <p:nvPr/>
        </p:nvSpPr>
        <p:spPr>
          <a:xfrm rot="0">
            <a:off x="10398034" y="3823335"/>
            <a:ext cx="6807037" cy="5577823"/>
          </a:xfrm>
          <a:prstGeom prst="rect">
            <a:avLst/>
          </a:prstGeom>
        </p:spPr>
        <p:txBody>
          <a:bodyPr anchor="t" rtlCol="false" tIns="0" lIns="0" bIns="0" rIns="0">
            <a:spAutoFit/>
          </a:bodyPr>
          <a:lstStyle/>
          <a:p>
            <a:pPr algn="just">
              <a:lnSpc>
                <a:spcPts val="2772"/>
              </a:lnSpc>
            </a:pPr>
            <a:r>
              <a:rPr lang="en-US" sz="2100">
                <a:solidFill>
                  <a:srgbClr val="000000"/>
                </a:solidFill>
                <a:latin typeface="Arimo"/>
                <a:ea typeface="Arimo"/>
                <a:cs typeface="Arimo"/>
                <a:sym typeface="Arimo"/>
              </a:rPr>
              <a:t>El diagrama de clases estándar está compuesto por tres partes:</a:t>
            </a:r>
          </a:p>
          <a:p>
            <a:pPr algn="just" marL="380048" indent="-190024" lvl="1">
              <a:lnSpc>
                <a:spcPts val="2772"/>
              </a:lnSpc>
              <a:buAutoNum type="arabicPeriod" startAt="1"/>
            </a:pPr>
            <a:r>
              <a:rPr lang="en-US" b="true" sz="2100">
                <a:solidFill>
                  <a:srgbClr val="000000"/>
                </a:solidFill>
                <a:latin typeface="Arimo Bold"/>
                <a:ea typeface="Arimo Bold"/>
                <a:cs typeface="Arimo Bold"/>
                <a:sym typeface="Arimo Bold"/>
              </a:rPr>
              <a:t>Sección superior:</a:t>
            </a:r>
            <a:r>
              <a:rPr lang="en-US" sz="2100">
                <a:solidFill>
                  <a:srgbClr val="000000"/>
                </a:solidFill>
                <a:latin typeface="Arimo"/>
                <a:ea typeface="Arimo"/>
                <a:cs typeface="Arimo"/>
                <a:sym typeface="Arimo"/>
              </a:rPr>
              <a:t> Contiene el nombre de la clase. Esta sección siempre es necesaria, ya sea que estés hablando del clasificador o de un objeto.</a:t>
            </a:r>
          </a:p>
          <a:p>
            <a:pPr algn="just" marL="380048" indent="-190024" lvl="1">
              <a:lnSpc>
                <a:spcPts val="2772"/>
              </a:lnSpc>
              <a:buAutoNum type="arabicPeriod" startAt="1"/>
            </a:pPr>
            <a:r>
              <a:rPr lang="en-US" b="true" sz="2100">
                <a:solidFill>
                  <a:srgbClr val="000000"/>
                </a:solidFill>
                <a:latin typeface="Arimo Bold"/>
                <a:ea typeface="Arimo Bold"/>
                <a:cs typeface="Arimo Bold"/>
                <a:sym typeface="Arimo Bold"/>
              </a:rPr>
              <a:t>Sección central:</a:t>
            </a:r>
            <a:r>
              <a:rPr lang="en-US" sz="2100">
                <a:solidFill>
                  <a:srgbClr val="000000"/>
                </a:solidFill>
                <a:latin typeface="Arimo"/>
                <a:ea typeface="Arimo"/>
                <a:cs typeface="Arimo"/>
                <a:sym typeface="Arimo"/>
              </a:rPr>
              <a:t> Contiene los atributos de la clase. Usa esta sección para describir cualidades de la clase. Esto solo es necesario al describir una instancia específica de una clase.</a:t>
            </a:r>
          </a:p>
          <a:p>
            <a:pPr algn="just" marL="380048" indent="-190024" lvl="1">
              <a:lnSpc>
                <a:spcPts val="2772"/>
              </a:lnSpc>
              <a:buAutoNum type="arabicPeriod" startAt="1"/>
            </a:pPr>
            <a:r>
              <a:rPr lang="en-US" b="true" sz="2100">
                <a:solidFill>
                  <a:srgbClr val="000000"/>
                </a:solidFill>
                <a:latin typeface="Arimo Bold"/>
                <a:ea typeface="Arimo Bold"/>
                <a:cs typeface="Arimo Bold"/>
                <a:sym typeface="Arimo Bold"/>
              </a:rPr>
              <a:t>Sección inferior:</a:t>
            </a:r>
            <a:r>
              <a:rPr lang="en-US" sz="2100">
                <a:solidFill>
                  <a:srgbClr val="000000"/>
                </a:solidFill>
                <a:latin typeface="Arimo"/>
                <a:ea typeface="Arimo"/>
                <a:cs typeface="Arimo"/>
                <a:sym typeface="Arimo"/>
              </a:rPr>
              <a:t> Incluye operaciones de clases (métodos). Esto está organizado en un formato de lista. Cada operación requiere su propia línea. Las operaciones describen cómo una clase puede interactuar con los datos.</a:t>
            </a:r>
          </a:p>
          <a:p>
            <a:pPr algn="just" marL="380048" indent="-190024" lvl="1">
              <a:lnSpc>
                <a:spcPts val="2772"/>
              </a:lnSpc>
            </a:pPr>
          </a:p>
        </p:txBody>
      </p:sp>
      <p:sp>
        <p:nvSpPr>
          <p:cNvPr name="AutoShape 5" id="5"/>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6" id="6" descr="Cómo se crean diagramas de clases con notación UML - IONOS España"/>
          <p:cNvSpPr/>
          <p:nvPr/>
        </p:nvSpPr>
        <p:spPr>
          <a:xfrm flipH="false" flipV="false" rot="0">
            <a:off x="1069848" y="3806190"/>
            <a:ext cx="8207396" cy="5640688"/>
          </a:xfrm>
          <a:custGeom>
            <a:avLst/>
            <a:gdLst/>
            <a:ahLst/>
            <a:cxnLst/>
            <a:rect r="r" b="b" t="t" l="l"/>
            <a:pathLst>
              <a:path h="5640688" w="8207396">
                <a:moveTo>
                  <a:pt x="0" y="0"/>
                </a:moveTo>
                <a:lnTo>
                  <a:pt x="8207396" y="0"/>
                </a:lnTo>
                <a:lnTo>
                  <a:pt x="8207396" y="5640688"/>
                </a:lnTo>
                <a:lnTo>
                  <a:pt x="0" y="5640688"/>
                </a:lnTo>
                <a:lnTo>
                  <a:pt x="0" y="0"/>
                </a:lnTo>
                <a:close/>
              </a:path>
            </a:pathLst>
          </a:custGeom>
          <a:blipFill>
            <a:blip r:embed="rId2"/>
            <a:stretch>
              <a:fillRect l="-77691" t="-75651" r="-77293" b="-33042"/>
            </a:stretch>
          </a:blipFill>
        </p:spPr>
      </p:sp>
      <p:sp>
        <p:nvSpPr>
          <p:cNvPr name="TextBox 7" id="7"/>
          <p:cNvSpPr txBox="true"/>
          <p:nvPr/>
        </p:nvSpPr>
        <p:spPr>
          <a:xfrm rot="0">
            <a:off x="649029" y="4201538"/>
            <a:ext cx="279267" cy="3390096"/>
          </a:xfrm>
          <a:prstGeom prst="rect">
            <a:avLst/>
          </a:prstGeom>
        </p:spPr>
        <p:txBody>
          <a:bodyPr anchor="t" rtlCol="false" tIns="0" lIns="0" bIns="0" rIns="0">
            <a:spAutoFit/>
          </a:bodyPr>
          <a:lstStyle/>
          <a:p>
            <a:pPr algn="l">
              <a:lnSpc>
                <a:spcPts val="3240"/>
              </a:lnSpc>
            </a:pPr>
            <a:r>
              <a:rPr lang="en-US" sz="2700" b="true">
                <a:solidFill>
                  <a:srgbClr val="000000"/>
                </a:solidFill>
                <a:latin typeface="Arimo Bold"/>
                <a:ea typeface="Arimo Bold"/>
                <a:cs typeface="Arimo Bold"/>
                <a:sym typeface="Arimo Bold"/>
              </a:rPr>
              <a:t>1</a:t>
            </a:r>
          </a:p>
          <a:p>
            <a:pPr algn="l">
              <a:lnSpc>
                <a:spcPts val="3240"/>
              </a:lnSpc>
            </a:pPr>
          </a:p>
          <a:p>
            <a:pPr algn="l">
              <a:lnSpc>
                <a:spcPts val="3240"/>
              </a:lnSpc>
            </a:pPr>
            <a:r>
              <a:rPr lang="en-US" sz="2700" b="true">
                <a:solidFill>
                  <a:srgbClr val="000000"/>
                </a:solidFill>
                <a:latin typeface="Arimo Bold"/>
                <a:ea typeface="Arimo Bold"/>
                <a:cs typeface="Arimo Bold"/>
                <a:sym typeface="Arimo Bold"/>
              </a:rPr>
              <a:t>2</a:t>
            </a:r>
          </a:p>
          <a:p>
            <a:pPr algn="l">
              <a:lnSpc>
                <a:spcPts val="3240"/>
              </a:lnSpc>
            </a:pPr>
          </a:p>
          <a:p>
            <a:pPr algn="l">
              <a:lnSpc>
                <a:spcPts val="3240"/>
              </a:lnSpc>
            </a:pPr>
          </a:p>
          <a:p>
            <a:pPr algn="l">
              <a:lnSpc>
                <a:spcPts val="3240"/>
              </a:lnSpc>
            </a:pPr>
          </a:p>
          <a:p>
            <a:pPr algn="l">
              <a:lnSpc>
                <a:spcPts val="3240"/>
              </a:lnSpc>
            </a:pPr>
          </a:p>
          <a:p>
            <a:pPr algn="l">
              <a:lnSpc>
                <a:spcPts val="3240"/>
              </a:lnSpc>
            </a:pPr>
            <a:r>
              <a:rPr lang="en-US" sz="2700" b="true">
                <a:solidFill>
                  <a:srgbClr val="000000"/>
                </a:solidFill>
                <a:latin typeface="Arimo Bold"/>
                <a:ea typeface="Arimo Bold"/>
                <a:cs typeface="Arimo Bold"/>
                <a:sym typeface="Arimo Bold"/>
              </a:rPr>
              <a:t>3</a:t>
            </a:r>
          </a:p>
        </p:txBody>
      </p:sp>
      <p:grpSp>
        <p:nvGrpSpPr>
          <p:cNvPr name="Group 8" id="8"/>
          <p:cNvGrpSpPr/>
          <p:nvPr/>
        </p:nvGrpSpPr>
        <p:grpSpPr>
          <a:xfrm rot="0">
            <a:off x="486992" y="4147132"/>
            <a:ext cx="625725" cy="625725"/>
            <a:chOff x="0" y="0"/>
            <a:chExt cx="834300" cy="834300"/>
          </a:xfrm>
        </p:grpSpPr>
        <p:sp>
          <p:nvSpPr>
            <p:cNvPr name="Freeform 9" id="9"/>
            <p:cNvSpPr/>
            <p:nvPr/>
          </p:nvSpPr>
          <p:spPr>
            <a:xfrm flipH="false" flipV="false" rot="0">
              <a:off x="0" y="0"/>
              <a:ext cx="834263" cy="834263"/>
            </a:xfrm>
            <a:custGeom>
              <a:avLst/>
              <a:gdLst/>
              <a:ahLst/>
              <a:cxnLst/>
              <a:rect r="r" b="b" t="t" l="l"/>
              <a:pathLst>
                <a:path h="834263" w="834263">
                  <a:moveTo>
                    <a:pt x="0" y="417195"/>
                  </a:moveTo>
                  <a:cubicBezTo>
                    <a:pt x="0" y="186817"/>
                    <a:pt x="186817" y="0"/>
                    <a:pt x="417195" y="0"/>
                  </a:cubicBezTo>
                  <a:lnTo>
                    <a:pt x="417195" y="57150"/>
                  </a:lnTo>
                  <a:lnTo>
                    <a:pt x="417195" y="0"/>
                  </a:lnTo>
                  <a:cubicBezTo>
                    <a:pt x="647573" y="0"/>
                    <a:pt x="834263" y="186817"/>
                    <a:pt x="834263" y="417195"/>
                  </a:cubicBezTo>
                  <a:cubicBezTo>
                    <a:pt x="834263" y="647573"/>
                    <a:pt x="647573" y="834263"/>
                    <a:pt x="417195" y="834263"/>
                  </a:cubicBezTo>
                  <a:lnTo>
                    <a:pt x="417195" y="777113"/>
                  </a:lnTo>
                  <a:lnTo>
                    <a:pt x="417195" y="834263"/>
                  </a:lnTo>
                  <a:cubicBezTo>
                    <a:pt x="186817" y="834263"/>
                    <a:pt x="0" y="647573"/>
                    <a:pt x="0" y="417195"/>
                  </a:cubicBezTo>
                  <a:lnTo>
                    <a:pt x="57150" y="417195"/>
                  </a:lnTo>
                  <a:lnTo>
                    <a:pt x="95123" y="459867"/>
                  </a:lnTo>
                  <a:cubicBezTo>
                    <a:pt x="78359" y="474853"/>
                    <a:pt x="54229" y="478536"/>
                    <a:pt x="33782" y="469265"/>
                  </a:cubicBezTo>
                  <a:cubicBezTo>
                    <a:pt x="13335" y="459994"/>
                    <a:pt x="0" y="439674"/>
                    <a:pt x="0" y="417195"/>
                  </a:cubicBezTo>
                  <a:moveTo>
                    <a:pt x="114300" y="417195"/>
                  </a:moveTo>
                  <a:lnTo>
                    <a:pt x="57150" y="417195"/>
                  </a:lnTo>
                  <a:lnTo>
                    <a:pt x="19177" y="374396"/>
                  </a:lnTo>
                  <a:cubicBezTo>
                    <a:pt x="35941" y="359410"/>
                    <a:pt x="60071" y="355727"/>
                    <a:pt x="80518" y="364998"/>
                  </a:cubicBezTo>
                  <a:cubicBezTo>
                    <a:pt x="100965" y="374269"/>
                    <a:pt x="114300" y="394589"/>
                    <a:pt x="114300" y="417195"/>
                  </a:cubicBezTo>
                  <a:cubicBezTo>
                    <a:pt x="114300" y="584454"/>
                    <a:pt x="249936" y="719963"/>
                    <a:pt x="417195" y="719963"/>
                  </a:cubicBezTo>
                  <a:cubicBezTo>
                    <a:pt x="584454" y="719963"/>
                    <a:pt x="719963" y="584454"/>
                    <a:pt x="719963" y="417195"/>
                  </a:cubicBezTo>
                  <a:lnTo>
                    <a:pt x="777113" y="417195"/>
                  </a:lnTo>
                  <a:lnTo>
                    <a:pt x="719963" y="417195"/>
                  </a:lnTo>
                  <a:cubicBezTo>
                    <a:pt x="719963" y="249936"/>
                    <a:pt x="584454" y="114300"/>
                    <a:pt x="417195" y="114300"/>
                  </a:cubicBezTo>
                  <a:lnTo>
                    <a:pt x="417195" y="57150"/>
                  </a:lnTo>
                  <a:lnTo>
                    <a:pt x="417195" y="114300"/>
                  </a:lnTo>
                  <a:cubicBezTo>
                    <a:pt x="249936" y="114300"/>
                    <a:pt x="114300" y="249936"/>
                    <a:pt x="114300" y="417195"/>
                  </a:cubicBezTo>
                  <a:close/>
                </a:path>
              </a:pathLst>
            </a:custGeom>
            <a:solidFill>
              <a:srgbClr val="362B56"/>
            </a:solidFill>
          </p:spPr>
        </p:sp>
      </p:grpSp>
      <p:grpSp>
        <p:nvGrpSpPr>
          <p:cNvPr name="Group 10" id="10"/>
          <p:cNvGrpSpPr/>
          <p:nvPr/>
        </p:nvGrpSpPr>
        <p:grpSpPr>
          <a:xfrm rot="0">
            <a:off x="486995" y="4966558"/>
            <a:ext cx="625725" cy="625725"/>
            <a:chOff x="0" y="0"/>
            <a:chExt cx="834300" cy="834300"/>
          </a:xfrm>
        </p:grpSpPr>
        <p:sp>
          <p:nvSpPr>
            <p:cNvPr name="Freeform 11" id="11"/>
            <p:cNvSpPr/>
            <p:nvPr/>
          </p:nvSpPr>
          <p:spPr>
            <a:xfrm flipH="false" flipV="false" rot="0">
              <a:off x="0" y="0"/>
              <a:ext cx="834263" cy="834263"/>
            </a:xfrm>
            <a:custGeom>
              <a:avLst/>
              <a:gdLst/>
              <a:ahLst/>
              <a:cxnLst/>
              <a:rect r="r" b="b" t="t" l="l"/>
              <a:pathLst>
                <a:path h="834263" w="834263">
                  <a:moveTo>
                    <a:pt x="0" y="417195"/>
                  </a:moveTo>
                  <a:cubicBezTo>
                    <a:pt x="0" y="186817"/>
                    <a:pt x="186817" y="0"/>
                    <a:pt x="417195" y="0"/>
                  </a:cubicBezTo>
                  <a:lnTo>
                    <a:pt x="417195" y="57150"/>
                  </a:lnTo>
                  <a:lnTo>
                    <a:pt x="417195" y="0"/>
                  </a:lnTo>
                  <a:cubicBezTo>
                    <a:pt x="647573" y="0"/>
                    <a:pt x="834263" y="186817"/>
                    <a:pt x="834263" y="417195"/>
                  </a:cubicBezTo>
                  <a:cubicBezTo>
                    <a:pt x="834263" y="647573"/>
                    <a:pt x="647573" y="834263"/>
                    <a:pt x="417195" y="834263"/>
                  </a:cubicBezTo>
                  <a:lnTo>
                    <a:pt x="417195" y="777113"/>
                  </a:lnTo>
                  <a:lnTo>
                    <a:pt x="417195" y="834263"/>
                  </a:lnTo>
                  <a:cubicBezTo>
                    <a:pt x="186817" y="834263"/>
                    <a:pt x="0" y="647573"/>
                    <a:pt x="0" y="417195"/>
                  </a:cubicBezTo>
                  <a:lnTo>
                    <a:pt x="57150" y="417195"/>
                  </a:lnTo>
                  <a:lnTo>
                    <a:pt x="95123" y="459867"/>
                  </a:lnTo>
                  <a:cubicBezTo>
                    <a:pt x="78359" y="474853"/>
                    <a:pt x="54229" y="478536"/>
                    <a:pt x="33782" y="469265"/>
                  </a:cubicBezTo>
                  <a:cubicBezTo>
                    <a:pt x="13335" y="459994"/>
                    <a:pt x="0" y="439674"/>
                    <a:pt x="0" y="417195"/>
                  </a:cubicBezTo>
                  <a:moveTo>
                    <a:pt x="114300" y="417195"/>
                  </a:moveTo>
                  <a:lnTo>
                    <a:pt x="57150" y="417195"/>
                  </a:lnTo>
                  <a:lnTo>
                    <a:pt x="19177" y="374396"/>
                  </a:lnTo>
                  <a:cubicBezTo>
                    <a:pt x="35941" y="359410"/>
                    <a:pt x="60071" y="355727"/>
                    <a:pt x="80518" y="364998"/>
                  </a:cubicBezTo>
                  <a:cubicBezTo>
                    <a:pt x="100965" y="374269"/>
                    <a:pt x="114300" y="394589"/>
                    <a:pt x="114300" y="417195"/>
                  </a:cubicBezTo>
                  <a:cubicBezTo>
                    <a:pt x="114300" y="584454"/>
                    <a:pt x="249936" y="719963"/>
                    <a:pt x="417195" y="719963"/>
                  </a:cubicBezTo>
                  <a:cubicBezTo>
                    <a:pt x="584454" y="719963"/>
                    <a:pt x="719963" y="584454"/>
                    <a:pt x="719963" y="417195"/>
                  </a:cubicBezTo>
                  <a:lnTo>
                    <a:pt x="777113" y="417195"/>
                  </a:lnTo>
                  <a:lnTo>
                    <a:pt x="719963" y="417195"/>
                  </a:lnTo>
                  <a:cubicBezTo>
                    <a:pt x="719963" y="249936"/>
                    <a:pt x="584454" y="114300"/>
                    <a:pt x="417195" y="114300"/>
                  </a:cubicBezTo>
                  <a:lnTo>
                    <a:pt x="417195" y="57150"/>
                  </a:lnTo>
                  <a:lnTo>
                    <a:pt x="417195" y="114300"/>
                  </a:lnTo>
                  <a:cubicBezTo>
                    <a:pt x="249936" y="114300"/>
                    <a:pt x="114300" y="249936"/>
                    <a:pt x="114300" y="417195"/>
                  </a:cubicBezTo>
                  <a:close/>
                </a:path>
              </a:pathLst>
            </a:custGeom>
            <a:solidFill>
              <a:srgbClr val="362B56"/>
            </a:solidFill>
          </p:spPr>
        </p:sp>
      </p:grpSp>
      <p:grpSp>
        <p:nvGrpSpPr>
          <p:cNvPr name="Group 12" id="12"/>
          <p:cNvGrpSpPr/>
          <p:nvPr/>
        </p:nvGrpSpPr>
        <p:grpSpPr>
          <a:xfrm rot="0">
            <a:off x="486986" y="7018089"/>
            <a:ext cx="625725" cy="625725"/>
            <a:chOff x="0" y="0"/>
            <a:chExt cx="834300" cy="834300"/>
          </a:xfrm>
        </p:grpSpPr>
        <p:sp>
          <p:nvSpPr>
            <p:cNvPr name="Freeform 13" id="13"/>
            <p:cNvSpPr/>
            <p:nvPr/>
          </p:nvSpPr>
          <p:spPr>
            <a:xfrm flipH="false" flipV="false" rot="0">
              <a:off x="0" y="0"/>
              <a:ext cx="834263" cy="834263"/>
            </a:xfrm>
            <a:custGeom>
              <a:avLst/>
              <a:gdLst/>
              <a:ahLst/>
              <a:cxnLst/>
              <a:rect r="r" b="b" t="t" l="l"/>
              <a:pathLst>
                <a:path h="834263" w="834263">
                  <a:moveTo>
                    <a:pt x="0" y="417195"/>
                  </a:moveTo>
                  <a:cubicBezTo>
                    <a:pt x="0" y="186817"/>
                    <a:pt x="186817" y="0"/>
                    <a:pt x="417195" y="0"/>
                  </a:cubicBezTo>
                  <a:lnTo>
                    <a:pt x="417195" y="57150"/>
                  </a:lnTo>
                  <a:lnTo>
                    <a:pt x="417195" y="0"/>
                  </a:lnTo>
                  <a:cubicBezTo>
                    <a:pt x="647573" y="0"/>
                    <a:pt x="834263" y="186817"/>
                    <a:pt x="834263" y="417195"/>
                  </a:cubicBezTo>
                  <a:cubicBezTo>
                    <a:pt x="834263" y="647573"/>
                    <a:pt x="647573" y="834263"/>
                    <a:pt x="417195" y="834263"/>
                  </a:cubicBezTo>
                  <a:lnTo>
                    <a:pt x="417195" y="777113"/>
                  </a:lnTo>
                  <a:lnTo>
                    <a:pt x="417195" y="834263"/>
                  </a:lnTo>
                  <a:cubicBezTo>
                    <a:pt x="186817" y="834263"/>
                    <a:pt x="0" y="647573"/>
                    <a:pt x="0" y="417195"/>
                  </a:cubicBezTo>
                  <a:lnTo>
                    <a:pt x="57150" y="417195"/>
                  </a:lnTo>
                  <a:lnTo>
                    <a:pt x="95123" y="459867"/>
                  </a:lnTo>
                  <a:cubicBezTo>
                    <a:pt x="78359" y="474853"/>
                    <a:pt x="54229" y="478536"/>
                    <a:pt x="33782" y="469265"/>
                  </a:cubicBezTo>
                  <a:cubicBezTo>
                    <a:pt x="13335" y="459994"/>
                    <a:pt x="0" y="439674"/>
                    <a:pt x="0" y="417195"/>
                  </a:cubicBezTo>
                  <a:moveTo>
                    <a:pt x="114300" y="417195"/>
                  </a:moveTo>
                  <a:lnTo>
                    <a:pt x="57150" y="417195"/>
                  </a:lnTo>
                  <a:lnTo>
                    <a:pt x="19177" y="374396"/>
                  </a:lnTo>
                  <a:cubicBezTo>
                    <a:pt x="35941" y="359410"/>
                    <a:pt x="60071" y="355727"/>
                    <a:pt x="80518" y="364998"/>
                  </a:cubicBezTo>
                  <a:cubicBezTo>
                    <a:pt x="100965" y="374269"/>
                    <a:pt x="114300" y="394589"/>
                    <a:pt x="114300" y="417195"/>
                  </a:cubicBezTo>
                  <a:cubicBezTo>
                    <a:pt x="114300" y="584454"/>
                    <a:pt x="249936" y="719963"/>
                    <a:pt x="417195" y="719963"/>
                  </a:cubicBezTo>
                  <a:cubicBezTo>
                    <a:pt x="584454" y="719963"/>
                    <a:pt x="719963" y="584454"/>
                    <a:pt x="719963" y="417195"/>
                  </a:cubicBezTo>
                  <a:lnTo>
                    <a:pt x="777113" y="417195"/>
                  </a:lnTo>
                  <a:lnTo>
                    <a:pt x="719963" y="417195"/>
                  </a:lnTo>
                  <a:cubicBezTo>
                    <a:pt x="719963" y="249936"/>
                    <a:pt x="584454" y="114300"/>
                    <a:pt x="417195" y="114300"/>
                  </a:cubicBezTo>
                  <a:lnTo>
                    <a:pt x="417195" y="57150"/>
                  </a:lnTo>
                  <a:lnTo>
                    <a:pt x="417195" y="114300"/>
                  </a:lnTo>
                  <a:cubicBezTo>
                    <a:pt x="249936" y="114300"/>
                    <a:pt x="114300" y="249936"/>
                    <a:pt x="114300" y="417195"/>
                  </a:cubicBezTo>
                  <a:close/>
                </a:path>
              </a:pathLst>
            </a:custGeom>
            <a:solidFill>
              <a:srgbClr val="362B56"/>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2054225"/>
            <a:ext cx="16153512"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Modificadores de Acceso</a:t>
            </a:r>
          </a:p>
        </p:txBody>
      </p:sp>
      <p:sp>
        <p:nvSpPr>
          <p:cNvPr name="TextBox 4" id="4"/>
          <p:cNvSpPr txBox="true"/>
          <p:nvPr/>
        </p:nvSpPr>
        <p:spPr>
          <a:xfrm rot="0">
            <a:off x="10398034" y="3823335"/>
            <a:ext cx="6807037" cy="5577823"/>
          </a:xfrm>
          <a:prstGeom prst="rect">
            <a:avLst/>
          </a:prstGeom>
        </p:spPr>
        <p:txBody>
          <a:bodyPr anchor="t" rtlCol="false" tIns="0" lIns="0" bIns="0" rIns="0">
            <a:spAutoFit/>
          </a:bodyPr>
          <a:lstStyle/>
          <a:p>
            <a:pPr algn="just">
              <a:lnSpc>
                <a:spcPts val="2772"/>
              </a:lnSpc>
            </a:pPr>
            <a:r>
              <a:rPr lang="en-US" sz="2100">
                <a:solidFill>
                  <a:srgbClr val="000000"/>
                </a:solidFill>
                <a:latin typeface="Arimo"/>
                <a:ea typeface="Arimo"/>
                <a:cs typeface="Arimo"/>
                <a:sym typeface="Arimo"/>
              </a:rPr>
              <a:t>Todas las clases poseen diferentes niveles de acceso en función del modificador de acceso (visibilidad). A continuación te mostramos los niveles de acceso con sus símbolos correspondientes:</a:t>
            </a:r>
          </a:p>
          <a:p>
            <a:pPr algn="just">
              <a:lnSpc>
                <a:spcPts val="2772"/>
              </a:lnSpc>
            </a:pPr>
          </a:p>
          <a:p>
            <a:pPr algn="just">
              <a:lnSpc>
                <a:spcPts val="2772"/>
              </a:lnSpc>
            </a:pPr>
            <a:r>
              <a:rPr lang="en-US" sz="2100">
                <a:solidFill>
                  <a:srgbClr val="000000"/>
                </a:solidFill>
                <a:latin typeface="Arimo"/>
                <a:ea typeface="Arimo"/>
                <a:cs typeface="Arimo"/>
                <a:sym typeface="Arimo"/>
              </a:rPr>
              <a:t>                                   Público</a:t>
            </a:r>
          </a:p>
          <a:p>
            <a:pPr algn="just">
              <a:lnSpc>
                <a:spcPts val="2772"/>
              </a:lnSpc>
            </a:pPr>
            <a:r>
              <a:rPr lang="en-US" sz="2100">
                <a:solidFill>
                  <a:srgbClr val="000000"/>
                </a:solidFill>
                <a:latin typeface="Arimo"/>
                <a:ea typeface="Arimo"/>
                <a:cs typeface="Arimo"/>
                <a:sym typeface="Arimo"/>
              </a:rPr>
              <a:t>                                   Privado</a:t>
            </a:r>
          </a:p>
          <a:p>
            <a:pPr algn="just">
              <a:lnSpc>
                <a:spcPts val="2772"/>
              </a:lnSpc>
            </a:pPr>
            <a:r>
              <a:rPr lang="en-US" sz="2100">
                <a:solidFill>
                  <a:srgbClr val="000000"/>
                </a:solidFill>
                <a:latin typeface="Arimo"/>
                <a:ea typeface="Arimo"/>
                <a:cs typeface="Arimo"/>
                <a:sym typeface="Arimo"/>
              </a:rPr>
              <a:t>                                   Protegido</a:t>
            </a:r>
          </a:p>
          <a:p>
            <a:pPr algn="just">
              <a:lnSpc>
                <a:spcPts val="2772"/>
              </a:lnSpc>
            </a:pPr>
            <a:r>
              <a:rPr lang="en-US" sz="2100">
                <a:solidFill>
                  <a:srgbClr val="000000"/>
                </a:solidFill>
                <a:latin typeface="Arimo"/>
                <a:ea typeface="Arimo"/>
                <a:cs typeface="Arimo"/>
                <a:sym typeface="Arimo"/>
              </a:rPr>
              <a:t>                                   Paquete</a:t>
            </a:r>
          </a:p>
          <a:p>
            <a:pPr algn="just">
              <a:lnSpc>
                <a:spcPts val="2772"/>
              </a:lnSpc>
            </a:pPr>
            <a:r>
              <a:rPr lang="en-US" sz="2100">
                <a:solidFill>
                  <a:srgbClr val="000000"/>
                </a:solidFill>
                <a:latin typeface="Arimo"/>
                <a:ea typeface="Arimo"/>
                <a:cs typeface="Arimo"/>
                <a:sym typeface="Arimo"/>
              </a:rPr>
              <a:t>                                   Derivado</a:t>
            </a:r>
          </a:p>
          <a:p>
            <a:pPr algn="just">
              <a:lnSpc>
                <a:spcPts val="2772"/>
              </a:lnSpc>
            </a:pPr>
            <a:r>
              <a:rPr lang="en-US" sz="2100">
                <a:solidFill>
                  <a:srgbClr val="000000"/>
                </a:solidFill>
                <a:latin typeface="Arimo"/>
                <a:ea typeface="Arimo"/>
                <a:cs typeface="Arimo"/>
                <a:sym typeface="Arimo"/>
              </a:rPr>
              <a:t>                                   Estático</a:t>
            </a:r>
          </a:p>
        </p:txBody>
      </p:sp>
      <p:sp>
        <p:nvSpPr>
          <p:cNvPr name="AutoShape 5" id="5"/>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6" id="6" descr="portátil seguro"/>
          <p:cNvSpPr/>
          <p:nvPr/>
        </p:nvSpPr>
        <p:spPr>
          <a:xfrm flipH="false" flipV="false" rot="0">
            <a:off x="1069848" y="3806190"/>
            <a:ext cx="5640688" cy="5640688"/>
          </a:xfrm>
          <a:custGeom>
            <a:avLst/>
            <a:gdLst/>
            <a:ahLst/>
            <a:cxnLst/>
            <a:rect r="r" b="b" t="t" l="l"/>
            <a:pathLst>
              <a:path h="5640688" w="5640688">
                <a:moveTo>
                  <a:pt x="0" y="0"/>
                </a:moveTo>
                <a:lnTo>
                  <a:pt x="5640688" y="0"/>
                </a:lnTo>
                <a:lnTo>
                  <a:pt x="5640688" y="5640688"/>
                </a:lnTo>
                <a:lnTo>
                  <a:pt x="0" y="5640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0448364" y="5941994"/>
            <a:ext cx="2407039" cy="446139"/>
            <a:chOff x="0" y="0"/>
            <a:chExt cx="3209386" cy="594852"/>
          </a:xfrm>
        </p:grpSpPr>
        <p:sp>
          <p:nvSpPr>
            <p:cNvPr name="Freeform 8" id="8"/>
            <p:cNvSpPr/>
            <p:nvPr/>
          </p:nvSpPr>
          <p:spPr>
            <a:xfrm flipH="false" flipV="false" rot="0">
              <a:off x="0" y="0"/>
              <a:ext cx="3209417" cy="594868"/>
            </a:xfrm>
            <a:custGeom>
              <a:avLst/>
              <a:gdLst/>
              <a:ahLst/>
              <a:cxnLst/>
              <a:rect r="r" b="b" t="t" l="l"/>
              <a:pathLst>
                <a:path h="594868" w="3209417">
                  <a:moveTo>
                    <a:pt x="0" y="0"/>
                  </a:moveTo>
                  <a:lnTo>
                    <a:pt x="3209417" y="0"/>
                  </a:lnTo>
                  <a:lnTo>
                    <a:pt x="3209417" y="594868"/>
                  </a:lnTo>
                  <a:lnTo>
                    <a:pt x="0" y="594868"/>
                  </a:lnTo>
                  <a:close/>
                </a:path>
              </a:pathLst>
            </a:custGeom>
            <a:solidFill>
              <a:srgbClr val="4D64C3"/>
            </a:solidFill>
          </p:spPr>
        </p:sp>
        <p:sp>
          <p:nvSpPr>
            <p:cNvPr name="TextBox 9" id="9"/>
            <p:cNvSpPr txBox="true"/>
            <p:nvPr/>
          </p:nvSpPr>
          <p:spPr>
            <a:xfrm>
              <a:off x="0" y="-19050"/>
              <a:ext cx="3209386" cy="613902"/>
            </a:xfrm>
            <a:prstGeom prst="rect">
              <a:avLst/>
            </a:prstGeom>
          </p:spPr>
          <p:txBody>
            <a:bodyPr anchor="ctr" rtlCol="false" tIns="50800" lIns="50800" bIns="50800" rIns="50800"/>
            <a:lstStyle/>
            <a:p>
              <a:pPr algn="ctr">
                <a:lnSpc>
                  <a:spcPts val="3600"/>
                </a:lnSpc>
              </a:pPr>
              <a:r>
                <a:rPr lang="en-US" sz="3000" b="true">
                  <a:solidFill>
                    <a:srgbClr val="FFFFFF"/>
                  </a:solidFill>
                  <a:latin typeface="Arimo Bold"/>
                  <a:ea typeface="Arimo Bold"/>
                  <a:cs typeface="Arimo Bold"/>
                  <a:sym typeface="Arimo Bold"/>
                </a:rPr>
                <a:t>+</a:t>
              </a:r>
            </a:p>
          </p:txBody>
        </p:sp>
      </p:grpSp>
      <p:grpSp>
        <p:nvGrpSpPr>
          <p:cNvPr name="Group 10" id="10"/>
          <p:cNvGrpSpPr/>
          <p:nvPr/>
        </p:nvGrpSpPr>
        <p:grpSpPr>
          <a:xfrm rot="0">
            <a:off x="10448364" y="6487582"/>
            <a:ext cx="2407039" cy="446139"/>
            <a:chOff x="0" y="0"/>
            <a:chExt cx="3209386" cy="594852"/>
          </a:xfrm>
        </p:grpSpPr>
        <p:sp>
          <p:nvSpPr>
            <p:cNvPr name="Freeform 11" id="11"/>
            <p:cNvSpPr/>
            <p:nvPr/>
          </p:nvSpPr>
          <p:spPr>
            <a:xfrm flipH="false" flipV="false" rot="0">
              <a:off x="0" y="0"/>
              <a:ext cx="3209417" cy="594868"/>
            </a:xfrm>
            <a:custGeom>
              <a:avLst/>
              <a:gdLst/>
              <a:ahLst/>
              <a:cxnLst/>
              <a:rect r="r" b="b" t="t" l="l"/>
              <a:pathLst>
                <a:path h="594868" w="3209417">
                  <a:moveTo>
                    <a:pt x="0" y="0"/>
                  </a:moveTo>
                  <a:lnTo>
                    <a:pt x="3209417" y="0"/>
                  </a:lnTo>
                  <a:lnTo>
                    <a:pt x="3209417" y="594868"/>
                  </a:lnTo>
                  <a:lnTo>
                    <a:pt x="0" y="594868"/>
                  </a:lnTo>
                  <a:close/>
                </a:path>
              </a:pathLst>
            </a:custGeom>
            <a:solidFill>
              <a:srgbClr val="4D64C3"/>
            </a:solidFill>
          </p:spPr>
        </p:sp>
        <p:sp>
          <p:nvSpPr>
            <p:cNvPr name="TextBox 12" id="12"/>
            <p:cNvSpPr txBox="true"/>
            <p:nvPr/>
          </p:nvSpPr>
          <p:spPr>
            <a:xfrm>
              <a:off x="0" y="-19050"/>
              <a:ext cx="3209386" cy="613902"/>
            </a:xfrm>
            <a:prstGeom prst="rect">
              <a:avLst/>
            </a:prstGeom>
          </p:spPr>
          <p:txBody>
            <a:bodyPr anchor="ctr" rtlCol="false" tIns="50800" lIns="50800" bIns="50800" rIns="50800"/>
            <a:lstStyle/>
            <a:p>
              <a:pPr algn="ctr">
                <a:lnSpc>
                  <a:spcPts val="3600"/>
                </a:lnSpc>
              </a:pPr>
              <a:r>
                <a:rPr lang="en-US" sz="3000" b="true">
                  <a:solidFill>
                    <a:srgbClr val="FFFFFF"/>
                  </a:solidFill>
                  <a:latin typeface="Arimo Bold"/>
                  <a:ea typeface="Arimo Bold"/>
                  <a:cs typeface="Arimo Bold"/>
                  <a:sym typeface="Arimo Bold"/>
                </a:rPr>
                <a:t>-</a:t>
              </a:r>
            </a:p>
          </p:txBody>
        </p:sp>
      </p:grpSp>
      <p:grpSp>
        <p:nvGrpSpPr>
          <p:cNvPr name="Group 13" id="13"/>
          <p:cNvGrpSpPr/>
          <p:nvPr/>
        </p:nvGrpSpPr>
        <p:grpSpPr>
          <a:xfrm rot="0">
            <a:off x="10448364" y="7033167"/>
            <a:ext cx="2407039" cy="446139"/>
            <a:chOff x="0" y="0"/>
            <a:chExt cx="3209386" cy="594852"/>
          </a:xfrm>
        </p:grpSpPr>
        <p:sp>
          <p:nvSpPr>
            <p:cNvPr name="Freeform 14" id="14"/>
            <p:cNvSpPr/>
            <p:nvPr/>
          </p:nvSpPr>
          <p:spPr>
            <a:xfrm flipH="false" flipV="false" rot="0">
              <a:off x="0" y="0"/>
              <a:ext cx="3209417" cy="594868"/>
            </a:xfrm>
            <a:custGeom>
              <a:avLst/>
              <a:gdLst/>
              <a:ahLst/>
              <a:cxnLst/>
              <a:rect r="r" b="b" t="t" l="l"/>
              <a:pathLst>
                <a:path h="594868" w="3209417">
                  <a:moveTo>
                    <a:pt x="0" y="0"/>
                  </a:moveTo>
                  <a:lnTo>
                    <a:pt x="3209417" y="0"/>
                  </a:lnTo>
                  <a:lnTo>
                    <a:pt x="3209417" y="594868"/>
                  </a:lnTo>
                  <a:lnTo>
                    <a:pt x="0" y="594868"/>
                  </a:lnTo>
                  <a:close/>
                </a:path>
              </a:pathLst>
            </a:custGeom>
            <a:solidFill>
              <a:srgbClr val="4D64C3"/>
            </a:solidFill>
          </p:spPr>
        </p:sp>
        <p:sp>
          <p:nvSpPr>
            <p:cNvPr name="TextBox 15" id="15"/>
            <p:cNvSpPr txBox="true"/>
            <p:nvPr/>
          </p:nvSpPr>
          <p:spPr>
            <a:xfrm>
              <a:off x="0" y="-19050"/>
              <a:ext cx="3209386" cy="613902"/>
            </a:xfrm>
            <a:prstGeom prst="rect">
              <a:avLst/>
            </a:prstGeom>
          </p:spPr>
          <p:txBody>
            <a:bodyPr anchor="ctr" rtlCol="false" tIns="50800" lIns="50800" bIns="50800" rIns="50800"/>
            <a:lstStyle/>
            <a:p>
              <a:pPr algn="ctr">
                <a:lnSpc>
                  <a:spcPts val="3600"/>
                </a:lnSpc>
              </a:pPr>
              <a:r>
                <a:rPr lang="en-US" sz="3000" b="true">
                  <a:solidFill>
                    <a:srgbClr val="FFFFFF"/>
                  </a:solidFill>
                  <a:latin typeface="Arimo Bold"/>
                  <a:ea typeface="Arimo Bold"/>
                  <a:cs typeface="Arimo Bold"/>
                  <a:sym typeface="Arimo Bold"/>
                </a:rPr>
                <a:t>#</a:t>
              </a:r>
            </a:p>
          </p:txBody>
        </p:sp>
      </p:grpSp>
      <p:grpSp>
        <p:nvGrpSpPr>
          <p:cNvPr name="Group 16" id="16"/>
          <p:cNvGrpSpPr/>
          <p:nvPr/>
        </p:nvGrpSpPr>
        <p:grpSpPr>
          <a:xfrm rot="0">
            <a:off x="10448364" y="7580952"/>
            <a:ext cx="2407039" cy="446139"/>
            <a:chOff x="0" y="0"/>
            <a:chExt cx="3209386" cy="594852"/>
          </a:xfrm>
        </p:grpSpPr>
        <p:sp>
          <p:nvSpPr>
            <p:cNvPr name="Freeform 17" id="17"/>
            <p:cNvSpPr/>
            <p:nvPr/>
          </p:nvSpPr>
          <p:spPr>
            <a:xfrm flipH="false" flipV="false" rot="0">
              <a:off x="0" y="0"/>
              <a:ext cx="3209417" cy="594868"/>
            </a:xfrm>
            <a:custGeom>
              <a:avLst/>
              <a:gdLst/>
              <a:ahLst/>
              <a:cxnLst/>
              <a:rect r="r" b="b" t="t" l="l"/>
              <a:pathLst>
                <a:path h="594868" w="3209417">
                  <a:moveTo>
                    <a:pt x="0" y="0"/>
                  </a:moveTo>
                  <a:lnTo>
                    <a:pt x="3209417" y="0"/>
                  </a:lnTo>
                  <a:lnTo>
                    <a:pt x="3209417" y="594868"/>
                  </a:lnTo>
                  <a:lnTo>
                    <a:pt x="0" y="594868"/>
                  </a:lnTo>
                  <a:close/>
                </a:path>
              </a:pathLst>
            </a:custGeom>
            <a:solidFill>
              <a:srgbClr val="4D64C3"/>
            </a:solidFill>
          </p:spPr>
        </p:sp>
        <p:sp>
          <p:nvSpPr>
            <p:cNvPr name="TextBox 18" id="18"/>
            <p:cNvSpPr txBox="true"/>
            <p:nvPr/>
          </p:nvSpPr>
          <p:spPr>
            <a:xfrm>
              <a:off x="0" y="-19050"/>
              <a:ext cx="3209386" cy="613902"/>
            </a:xfrm>
            <a:prstGeom prst="rect">
              <a:avLst/>
            </a:prstGeom>
          </p:spPr>
          <p:txBody>
            <a:bodyPr anchor="ctr" rtlCol="false" tIns="50800" lIns="50800" bIns="50800" rIns="50800"/>
            <a:lstStyle/>
            <a:p>
              <a:pPr algn="ctr">
                <a:lnSpc>
                  <a:spcPts val="3600"/>
                </a:lnSpc>
              </a:pPr>
              <a:r>
                <a:rPr lang="en-US" sz="3000" b="true">
                  <a:solidFill>
                    <a:srgbClr val="FFFFFF"/>
                  </a:solidFill>
                  <a:latin typeface="Arimo Bold"/>
                  <a:ea typeface="Arimo Bold"/>
                  <a:cs typeface="Arimo Bold"/>
                  <a:sym typeface="Arimo Bold"/>
                </a:rPr>
                <a:t>~</a:t>
              </a:r>
            </a:p>
          </p:txBody>
        </p:sp>
      </p:grpSp>
      <p:grpSp>
        <p:nvGrpSpPr>
          <p:cNvPr name="Group 19" id="19"/>
          <p:cNvGrpSpPr/>
          <p:nvPr/>
        </p:nvGrpSpPr>
        <p:grpSpPr>
          <a:xfrm rot="0">
            <a:off x="10448364" y="8142183"/>
            <a:ext cx="2407039" cy="446139"/>
            <a:chOff x="0" y="0"/>
            <a:chExt cx="3209386" cy="594852"/>
          </a:xfrm>
        </p:grpSpPr>
        <p:sp>
          <p:nvSpPr>
            <p:cNvPr name="Freeform 20" id="20"/>
            <p:cNvSpPr/>
            <p:nvPr/>
          </p:nvSpPr>
          <p:spPr>
            <a:xfrm flipH="false" flipV="false" rot="0">
              <a:off x="0" y="0"/>
              <a:ext cx="3209417" cy="594868"/>
            </a:xfrm>
            <a:custGeom>
              <a:avLst/>
              <a:gdLst/>
              <a:ahLst/>
              <a:cxnLst/>
              <a:rect r="r" b="b" t="t" l="l"/>
              <a:pathLst>
                <a:path h="594868" w="3209417">
                  <a:moveTo>
                    <a:pt x="0" y="0"/>
                  </a:moveTo>
                  <a:lnTo>
                    <a:pt x="3209417" y="0"/>
                  </a:lnTo>
                  <a:lnTo>
                    <a:pt x="3209417" y="594868"/>
                  </a:lnTo>
                  <a:lnTo>
                    <a:pt x="0" y="594868"/>
                  </a:lnTo>
                  <a:close/>
                </a:path>
              </a:pathLst>
            </a:custGeom>
            <a:solidFill>
              <a:srgbClr val="4D64C3"/>
            </a:solidFill>
          </p:spPr>
        </p:sp>
        <p:sp>
          <p:nvSpPr>
            <p:cNvPr name="TextBox 21" id="21"/>
            <p:cNvSpPr txBox="true"/>
            <p:nvPr/>
          </p:nvSpPr>
          <p:spPr>
            <a:xfrm>
              <a:off x="0" y="-19050"/>
              <a:ext cx="3209386" cy="613902"/>
            </a:xfrm>
            <a:prstGeom prst="rect">
              <a:avLst/>
            </a:prstGeom>
          </p:spPr>
          <p:txBody>
            <a:bodyPr anchor="ctr" rtlCol="false" tIns="50800" lIns="50800" bIns="50800" rIns="50800"/>
            <a:lstStyle/>
            <a:p>
              <a:pPr algn="ctr">
                <a:lnSpc>
                  <a:spcPts val="3600"/>
                </a:lnSpc>
              </a:pPr>
              <a:r>
                <a:rPr lang="en-US" sz="3000" b="true">
                  <a:solidFill>
                    <a:srgbClr val="FFFFFF"/>
                  </a:solidFill>
                  <a:latin typeface="Arimo Bold"/>
                  <a:ea typeface="Arimo Bold"/>
                  <a:cs typeface="Arimo Bold"/>
                  <a:sym typeface="Arimo Bold"/>
                </a:rPr>
                <a:t>/</a:t>
              </a:r>
            </a:p>
          </p:txBody>
        </p:sp>
      </p:grpSp>
      <p:grpSp>
        <p:nvGrpSpPr>
          <p:cNvPr name="Group 22" id="22"/>
          <p:cNvGrpSpPr/>
          <p:nvPr/>
        </p:nvGrpSpPr>
        <p:grpSpPr>
          <a:xfrm rot="0">
            <a:off x="10448364" y="8689960"/>
            <a:ext cx="2407039" cy="446139"/>
            <a:chOff x="0" y="0"/>
            <a:chExt cx="3209386" cy="594852"/>
          </a:xfrm>
        </p:grpSpPr>
        <p:sp>
          <p:nvSpPr>
            <p:cNvPr name="Freeform 23" id="23"/>
            <p:cNvSpPr/>
            <p:nvPr/>
          </p:nvSpPr>
          <p:spPr>
            <a:xfrm flipH="false" flipV="false" rot="0">
              <a:off x="0" y="0"/>
              <a:ext cx="3209417" cy="594868"/>
            </a:xfrm>
            <a:custGeom>
              <a:avLst/>
              <a:gdLst/>
              <a:ahLst/>
              <a:cxnLst/>
              <a:rect r="r" b="b" t="t" l="l"/>
              <a:pathLst>
                <a:path h="594868" w="3209417">
                  <a:moveTo>
                    <a:pt x="0" y="0"/>
                  </a:moveTo>
                  <a:lnTo>
                    <a:pt x="3209417" y="0"/>
                  </a:lnTo>
                  <a:lnTo>
                    <a:pt x="3209417" y="594868"/>
                  </a:lnTo>
                  <a:lnTo>
                    <a:pt x="0" y="594868"/>
                  </a:lnTo>
                  <a:close/>
                </a:path>
              </a:pathLst>
            </a:custGeom>
            <a:solidFill>
              <a:srgbClr val="4D64C3"/>
            </a:solidFill>
          </p:spPr>
        </p:sp>
        <p:sp>
          <p:nvSpPr>
            <p:cNvPr name="TextBox 24" id="24"/>
            <p:cNvSpPr txBox="true"/>
            <p:nvPr/>
          </p:nvSpPr>
          <p:spPr>
            <a:xfrm>
              <a:off x="0" y="-19050"/>
              <a:ext cx="3209386" cy="613902"/>
            </a:xfrm>
            <a:prstGeom prst="rect">
              <a:avLst/>
            </a:prstGeom>
          </p:spPr>
          <p:txBody>
            <a:bodyPr anchor="ctr" rtlCol="false" tIns="50800" lIns="50800" bIns="50800" rIns="50800"/>
            <a:lstStyle/>
            <a:p>
              <a:pPr algn="ctr">
                <a:lnSpc>
                  <a:spcPts val="3600"/>
                </a:lnSpc>
              </a:pPr>
              <a:r>
                <a:rPr lang="en-US" sz="3000" b="true">
                  <a:solidFill>
                    <a:srgbClr val="FFFFFF"/>
                  </a:solidFill>
                  <a:latin typeface="Arimo Bold"/>
                  <a:ea typeface="Arimo Bold"/>
                  <a:cs typeface="Arimo Bold"/>
                  <a:sym typeface="Arimo Bold"/>
                </a:rPr>
                <a:t>Subrayado</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3" id="3"/>
          <p:cNvSpPr/>
          <p:nvPr/>
        </p:nvSpPr>
        <p:spPr>
          <a:xfrm rot="247854">
            <a:off x="1015210" y="1517926"/>
            <a:ext cx="1586715" cy="0"/>
          </a:xfrm>
          <a:prstGeom prst="line">
            <a:avLst/>
          </a:prstGeom>
          <a:ln cap="rnd" w="57150">
            <a:solidFill>
              <a:srgbClr val="4D64C3"/>
            </a:solidFill>
            <a:prstDash val="solid"/>
            <a:headEnd type="none" len="sm" w="sm"/>
            <a:tailEnd type="none" len="sm" w="sm"/>
          </a:ln>
        </p:spPr>
      </p:sp>
      <p:sp>
        <p:nvSpPr>
          <p:cNvPr name="Freeform 4" id="4" descr="Fórmulas matemáticas complejas en una pizarra"/>
          <p:cNvSpPr/>
          <p:nvPr/>
        </p:nvSpPr>
        <p:spPr>
          <a:xfrm flipH="false" flipV="false" rot="0">
            <a:off x="11018520" y="15"/>
            <a:ext cx="7269480" cy="10286985"/>
          </a:xfrm>
          <a:custGeom>
            <a:avLst/>
            <a:gdLst/>
            <a:ahLst/>
            <a:cxnLst/>
            <a:rect r="r" b="b" t="t" l="l"/>
            <a:pathLst>
              <a:path h="10286985" w="7269480">
                <a:moveTo>
                  <a:pt x="0" y="0"/>
                </a:moveTo>
                <a:lnTo>
                  <a:pt x="7269480" y="0"/>
                </a:lnTo>
                <a:lnTo>
                  <a:pt x="7269480" y="10286985"/>
                </a:lnTo>
                <a:lnTo>
                  <a:pt x="0" y="10286985"/>
                </a:lnTo>
                <a:lnTo>
                  <a:pt x="0" y="0"/>
                </a:lnTo>
                <a:close/>
              </a:path>
            </a:pathLst>
          </a:custGeom>
          <a:blipFill>
            <a:blip r:embed="rId2"/>
            <a:stretch>
              <a:fillRect l="-60500" t="0" r="-33610" b="0"/>
            </a:stretch>
          </a:blipFill>
        </p:spPr>
      </p:sp>
      <p:sp>
        <p:nvSpPr>
          <p:cNvPr name="TextBox 5" id="5"/>
          <p:cNvSpPr txBox="true"/>
          <p:nvPr/>
        </p:nvSpPr>
        <p:spPr>
          <a:xfrm rot="0">
            <a:off x="1051560" y="2148523"/>
            <a:ext cx="8595360"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Interacciones</a:t>
            </a:r>
          </a:p>
        </p:txBody>
      </p:sp>
      <p:sp>
        <p:nvSpPr>
          <p:cNvPr name="TextBox 6" id="6"/>
          <p:cNvSpPr txBox="true"/>
          <p:nvPr/>
        </p:nvSpPr>
        <p:spPr>
          <a:xfrm rot="0">
            <a:off x="1051560" y="3909849"/>
            <a:ext cx="8595360" cy="5491313"/>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El término "interacciones" se refiere a múltiples relaciones y enlaces que pueden existir en diagramas de objetos y de clases. Algunas de las interacciones más comunes incluyen: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59" y="2148524"/>
            <a:ext cx="16153514"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Herencia</a:t>
            </a:r>
          </a:p>
        </p:txBody>
      </p:sp>
      <p:grpSp>
        <p:nvGrpSpPr>
          <p:cNvPr name="Group 4" id="4"/>
          <p:cNvGrpSpPr/>
          <p:nvPr/>
        </p:nvGrpSpPr>
        <p:grpSpPr>
          <a:xfrm rot="0">
            <a:off x="5057253" y="1874619"/>
            <a:ext cx="12351183" cy="2836815"/>
            <a:chOff x="0" y="0"/>
            <a:chExt cx="16468244" cy="3782420"/>
          </a:xfrm>
        </p:grpSpPr>
        <p:sp>
          <p:nvSpPr>
            <p:cNvPr name="Freeform 5" id="5"/>
            <p:cNvSpPr/>
            <p:nvPr/>
          </p:nvSpPr>
          <p:spPr>
            <a:xfrm flipH="false" flipV="false" rot="0">
              <a:off x="0" y="0"/>
              <a:ext cx="16468218" cy="3782441"/>
            </a:xfrm>
            <a:custGeom>
              <a:avLst/>
              <a:gdLst/>
              <a:ahLst/>
              <a:cxnLst/>
              <a:rect r="r" b="b" t="t" l="l"/>
              <a:pathLst>
                <a:path h="3782441" w="16468218">
                  <a:moveTo>
                    <a:pt x="0" y="378206"/>
                  </a:moveTo>
                  <a:cubicBezTo>
                    <a:pt x="0" y="169291"/>
                    <a:pt x="169291" y="0"/>
                    <a:pt x="378206" y="0"/>
                  </a:cubicBezTo>
                  <a:lnTo>
                    <a:pt x="16090012" y="0"/>
                  </a:lnTo>
                  <a:cubicBezTo>
                    <a:pt x="16298926" y="0"/>
                    <a:pt x="16468218" y="169291"/>
                    <a:pt x="16468218" y="378206"/>
                  </a:cubicBezTo>
                  <a:lnTo>
                    <a:pt x="16468218" y="3404235"/>
                  </a:lnTo>
                  <a:cubicBezTo>
                    <a:pt x="16468218" y="3613150"/>
                    <a:pt x="16298926" y="3782441"/>
                    <a:pt x="16090012" y="3782441"/>
                  </a:cubicBezTo>
                  <a:lnTo>
                    <a:pt x="378206" y="3782441"/>
                  </a:lnTo>
                  <a:cubicBezTo>
                    <a:pt x="169291" y="3782441"/>
                    <a:pt x="0" y="3613023"/>
                    <a:pt x="0" y="3404235"/>
                  </a:cubicBezTo>
                  <a:close/>
                </a:path>
              </a:pathLst>
            </a:custGeom>
            <a:solidFill>
              <a:srgbClr val="F2F2F2"/>
            </a:solidFill>
          </p:spPr>
        </p:sp>
      </p:grpSp>
      <p:sp>
        <p:nvSpPr>
          <p:cNvPr name="Freeform 6" id="6"/>
          <p:cNvSpPr/>
          <p:nvPr/>
        </p:nvSpPr>
        <p:spPr>
          <a:xfrm flipH="false" flipV="false" rot="0">
            <a:off x="5665632" y="2514429"/>
            <a:ext cx="1560242" cy="1557196"/>
          </a:xfrm>
          <a:custGeom>
            <a:avLst/>
            <a:gdLst/>
            <a:ahLst/>
            <a:cxnLst/>
            <a:rect r="r" b="b" t="t" l="l"/>
            <a:pathLst>
              <a:path h="1557196" w="1560242">
                <a:moveTo>
                  <a:pt x="0" y="0"/>
                </a:moveTo>
                <a:lnTo>
                  <a:pt x="1560242" y="0"/>
                </a:lnTo>
                <a:lnTo>
                  <a:pt x="1560242" y="1557196"/>
                </a:lnTo>
                <a:lnTo>
                  <a:pt x="0" y="1557196"/>
                </a:lnTo>
                <a:lnTo>
                  <a:pt x="0" y="0"/>
                </a:lnTo>
                <a:close/>
              </a:path>
            </a:pathLst>
          </a:custGeom>
          <a:blipFill>
            <a:blip r:embed="rId2">
              <a:extLst>
                <a:ext uri="{96DAC541-7B7A-43D3-8B79-37D633B846F1}">
                  <asvg:svgBlip xmlns:asvg="http://schemas.microsoft.com/office/drawing/2016/SVG/main" r:embed="rId3"/>
                </a:ext>
              </a:extLst>
            </a:blip>
            <a:stretch>
              <a:fillRect l="0" t="-97" r="0" b="-97"/>
            </a:stretch>
          </a:blipFill>
        </p:spPr>
      </p:sp>
      <p:grpSp>
        <p:nvGrpSpPr>
          <p:cNvPr name="Group 7" id="7"/>
          <p:cNvGrpSpPr/>
          <p:nvPr/>
        </p:nvGrpSpPr>
        <p:grpSpPr>
          <a:xfrm rot="0">
            <a:off x="7582900" y="1862233"/>
            <a:ext cx="9801690" cy="2843559"/>
            <a:chOff x="0" y="0"/>
            <a:chExt cx="13068920" cy="3791412"/>
          </a:xfrm>
        </p:grpSpPr>
        <p:sp>
          <p:nvSpPr>
            <p:cNvPr name="Freeform 8" id="8"/>
            <p:cNvSpPr/>
            <p:nvPr/>
          </p:nvSpPr>
          <p:spPr>
            <a:xfrm flipH="false" flipV="false" rot="0">
              <a:off x="0" y="0"/>
              <a:ext cx="13068920" cy="3791412"/>
            </a:xfrm>
            <a:custGeom>
              <a:avLst/>
              <a:gdLst/>
              <a:ahLst/>
              <a:cxnLst/>
              <a:rect r="r" b="b" t="t" l="l"/>
              <a:pathLst>
                <a:path h="3791412" w="13068920">
                  <a:moveTo>
                    <a:pt x="0" y="0"/>
                  </a:moveTo>
                  <a:lnTo>
                    <a:pt x="13068920" y="0"/>
                  </a:lnTo>
                  <a:lnTo>
                    <a:pt x="13068920" y="3791412"/>
                  </a:lnTo>
                  <a:lnTo>
                    <a:pt x="0" y="3791412"/>
                  </a:lnTo>
                  <a:close/>
                </a:path>
              </a:pathLst>
            </a:custGeom>
            <a:solidFill>
              <a:srgbClr val="000000">
                <a:alpha val="0"/>
              </a:srgbClr>
            </a:solidFill>
          </p:spPr>
        </p:sp>
        <p:sp>
          <p:nvSpPr>
            <p:cNvPr name="TextBox 9" id="9"/>
            <p:cNvSpPr txBox="true"/>
            <p:nvPr/>
          </p:nvSpPr>
          <p:spPr>
            <a:xfrm>
              <a:off x="0" y="-9525"/>
              <a:ext cx="13068920" cy="3800937"/>
            </a:xfrm>
            <a:prstGeom prst="rect">
              <a:avLst/>
            </a:prstGeom>
          </p:spPr>
          <p:txBody>
            <a:bodyPr anchor="ctr" rtlCol="false" tIns="0" lIns="0" bIns="0" rIns="0"/>
            <a:lstStyle/>
            <a:p>
              <a:pPr algn="just">
                <a:lnSpc>
                  <a:spcPts val="2520"/>
                </a:lnSpc>
              </a:pPr>
              <a:r>
                <a:rPr lang="en-US" sz="2100">
                  <a:solidFill>
                    <a:srgbClr val="000000"/>
                  </a:solidFill>
                  <a:latin typeface="Arimo"/>
                  <a:ea typeface="Arimo"/>
                  <a:cs typeface="Arimo"/>
                  <a:sym typeface="Arimo"/>
                </a:rPr>
                <a:t>El proceso en el que una subclase o clase derivada recibe la funcionalidad de una superclase o clase principal, también se conoce como "generalización". Se simboliza mediante una línea de conexión recta con una punta de flecha cerrada que señala a la superclase.</a:t>
              </a:r>
            </a:p>
          </p:txBody>
        </p:sp>
      </p:grpSp>
      <p:grpSp>
        <p:nvGrpSpPr>
          <p:cNvPr name="Group 10" id="10"/>
          <p:cNvGrpSpPr/>
          <p:nvPr/>
        </p:nvGrpSpPr>
        <p:grpSpPr>
          <a:xfrm rot="0">
            <a:off x="5057253" y="5490094"/>
            <a:ext cx="12351183" cy="2834034"/>
            <a:chOff x="0" y="0"/>
            <a:chExt cx="16468244" cy="3778712"/>
          </a:xfrm>
        </p:grpSpPr>
        <p:sp>
          <p:nvSpPr>
            <p:cNvPr name="Freeform 11" id="11"/>
            <p:cNvSpPr/>
            <p:nvPr/>
          </p:nvSpPr>
          <p:spPr>
            <a:xfrm flipH="false" flipV="false" rot="0">
              <a:off x="0" y="0"/>
              <a:ext cx="16468089" cy="3778758"/>
            </a:xfrm>
            <a:custGeom>
              <a:avLst/>
              <a:gdLst/>
              <a:ahLst/>
              <a:cxnLst/>
              <a:rect r="r" b="b" t="t" l="l"/>
              <a:pathLst>
                <a:path h="3778758" w="16468089">
                  <a:moveTo>
                    <a:pt x="0" y="377825"/>
                  </a:moveTo>
                  <a:cubicBezTo>
                    <a:pt x="0" y="169164"/>
                    <a:pt x="169164" y="0"/>
                    <a:pt x="377825" y="0"/>
                  </a:cubicBezTo>
                  <a:lnTo>
                    <a:pt x="16090264" y="0"/>
                  </a:lnTo>
                  <a:cubicBezTo>
                    <a:pt x="16298926" y="0"/>
                    <a:pt x="16468089" y="169164"/>
                    <a:pt x="16468089" y="377825"/>
                  </a:cubicBezTo>
                  <a:lnTo>
                    <a:pt x="16468089" y="3400806"/>
                  </a:lnTo>
                  <a:cubicBezTo>
                    <a:pt x="16468089" y="3609467"/>
                    <a:pt x="16298926" y="3778631"/>
                    <a:pt x="16090264" y="3778631"/>
                  </a:cubicBezTo>
                  <a:lnTo>
                    <a:pt x="377825" y="3778631"/>
                  </a:lnTo>
                  <a:cubicBezTo>
                    <a:pt x="169164" y="3778758"/>
                    <a:pt x="0" y="3609594"/>
                    <a:pt x="0" y="3400806"/>
                  </a:cubicBezTo>
                  <a:close/>
                </a:path>
              </a:pathLst>
            </a:custGeom>
            <a:solidFill>
              <a:srgbClr val="F2F2F2"/>
            </a:solidFill>
          </p:spPr>
        </p:sp>
      </p:grpSp>
      <p:sp>
        <p:nvSpPr>
          <p:cNvPr name="Freeform 12" id="12"/>
          <p:cNvSpPr/>
          <p:nvPr/>
        </p:nvSpPr>
        <p:spPr>
          <a:xfrm flipH="false" flipV="false" rot="0">
            <a:off x="5665632" y="6128514"/>
            <a:ext cx="1560242" cy="1557196"/>
          </a:xfrm>
          <a:custGeom>
            <a:avLst/>
            <a:gdLst/>
            <a:ahLst/>
            <a:cxnLst/>
            <a:rect r="r" b="b" t="t" l="l"/>
            <a:pathLst>
              <a:path h="1557196" w="1560242">
                <a:moveTo>
                  <a:pt x="0" y="0"/>
                </a:moveTo>
                <a:lnTo>
                  <a:pt x="1560242" y="0"/>
                </a:lnTo>
                <a:lnTo>
                  <a:pt x="1560242" y="1557196"/>
                </a:lnTo>
                <a:lnTo>
                  <a:pt x="0" y="1557196"/>
                </a:lnTo>
                <a:lnTo>
                  <a:pt x="0" y="0"/>
                </a:lnTo>
                <a:close/>
              </a:path>
            </a:pathLst>
          </a:custGeom>
          <a:blipFill>
            <a:blip r:embed="rId4">
              <a:extLst>
                <a:ext uri="{96DAC541-7B7A-43D3-8B79-37D633B846F1}">
                  <asvg:svgBlip xmlns:asvg="http://schemas.microsoft.com/office/drawing/2016/SVG/main" r:embed="rId5"/>
                </a:ext>
              </a:extLst>
            </a:blip>
            <a:stretch>
              <a:fillRect l="0" t="-97" r="0" b="-97"/>
            </a:stretch>
          </a:blipFill>
        </p:spPr>
      </p:sp>
      <p:grpSp>
        <p:nvGrpSpPr>
          <p:cNvPr name="Group 13" id="13"/>
          <p:cNvGrpSpPr/>
          <p:nvPr/>
        </p:nvGrpSpPr>
        <p:grpSpPr>
          <a:xfrm rot="0">
            <a:off x="7582900" y="5476318"/>
            <a:ext cx="9801690" cy="2843559"/>
            <a:chOff x="0" y="0"/>
            <a:chExt cx="13068920" cy="3791412"/>
          </a:xfrm>
        </p:grpSpPr>
        <p:sp>
          <p:nvSpPr>
            <p:cNvPr name="Freeform 14" id="14"/>
            <p:cNvSpPr/>
            <p:nvPr/>
          </p:nvSpPr>
          <p:spPr>
            <a:xfrm flipH="false" flipV="false" rot="0">
              <a:off x="0" y="0"/>
              <a:ext cx="13068920" cy="3791412"/>
            </a:xfrm>
            <a:custGeom>
              <a:avLst/>
              <a:gdLst/>
              <a:ahLst/>
              <a:cxnLst/>
              <a:rect r="r" b="b" t="t" l="l"/>
              <a:pathLst>
                <a:path h="3791412" w="13068920">
                  <a:moveTo>
                    <a:pt x="0" y="0"/>
                  </a:moveTo>
                  <a:lnTo>
                    <a:pt x="13068920" y="0"/>
                  </a:lnTo>
                  <a:lnTo>
                    <a:pt x="13068920" y="3791412"/>
                  </a:lnTo>
                  <a:lnTo>
                    <a:pt x="0" y="3791412"/>
                  </a:lnTo>
                  <a:close/>
                </a:path>
              </a:pathLst>
            </a:custGeom>
            <a:solidFill>
              <a:srgbClr val="000000">
                <a:alpha val="0"/>
              </a:srgbClr>
            </a:solidFill>
          </p:spPr>
        </p:sp>
        <p:sp>
          <p:nvSpPr>
            <p:cNvPr name="TextBox 15" id="15"/>
            <p:cNvSpPr txBox="true"/>
            <p:nvPr/>
          </p:nvSpPr>
          <p:spPr>
            <a:xfrm>
              <a:off x="0" y="-9525"/>
              <a:ext cx="13068920" cy="3800937"/>
            </a:xfrm>
            <a:prstGeom prst="rect">
              <a:avLst/>
            </a:prstGeom>
          </p:spPr>
          <p:txBody>
            <a:bodyPr anchor="ctr" rtlCol="false" tIns="0" lIns="0" bIns="0" rIns="0"/>
            <a:lstStyle/>
            <a:p>
              <a:pPr algn="just">
                <a:lnSpc>
                  <a:spcPts val="2520"/>
                </a:lnSpc>
              </a:pPr>
              <a:r>
                <a:rPr lang="en-US" sz="2100">
                  <a:solidFill>
                    <a:srgbClr val="000000"/>
                  </a:solidFill>
                  <a:latin typeface="Arimo"/>
                  <a:ea typeface="Arimo"/>
                  <a:cs typeface="Arimo"/>
                  <a:sym typeface="Arimo"/>
                </a:rPr>
                <a:t>En este ejemplo, el objeto "Auto" heredaría todos los atributos (velocidad, números de pasajeros, combustible) y los métodos (arrancar(), frenar(), cambiarDirección()) de la clase principal ("Vehículo"), además de los atributos específicos (tipo de modelo, número de puertas, fabricante del auto) y métodos de su propia clase (Radio(), limpiaparabrisas(), aireacondicionado/calefacción()). La herencia se muestra en un diagrama de clases por medio de una línea continua con una flecha cerrada y vacía.</a:t>
              </a:r>
            </a:p>
          </p:txBody>
        </p:sp>
      </p:grpSp>
      <p:sp>
        <p:nvSpPr>
          <p:cNvPr name="Freeform 16" id="16"/>
          <p:cNvSpPr/>
          <p:nvPr/>
        </p:nvSpPr>
        <p:spPr>
          <a:xfrm flipH="false" flipV="false" rot="0">
            <a:off x="827038" y="4126549"/>
            <a:ext cx="2863132" cy="5158183"/>
          </a:xfrm>
          <a:custGeom>
            <a:avLst/>
            <a:gdLst/>
            <a:ahLst/>
            <a:cxnLst/>
            <a:rect r="r" b="b" t="t" l="l"/>
            <a:pathLst>
              <a:path h="5158183" w="2863132">
                <a:moveTo>
                  <a:pt x="0" y="0"/>
                </a:moveTo>
                <a:lnTo>
                  <a:pt x="2863132" y="0"/>
                </a:lnTo>
                <a:lnTo>
                  <a:pt x="2863132" y="5158183"/>
                </a:lnTo>
                <a:lnTo>
                  <a:pt x="0" y="5158183"/>
                </a:lnTo>
                <a:lnTo>
                  <a:pt x="0" y="0"/>
                </a:lnTo>
                <a:close/>
              </a:path>
            </a:pathLst>
          </a:custGeom>
          <a:blipFill>
            <a:blip r:embed="rId6"/>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951229" y="2257599"/>
            <a:ext cx="7132322" cy="2949575"/>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Asociación Bidireccional</a:t>
            </a:r>
          </a:p>
        </p:txBody>
      </p:sp>
      <p:sp>
        <p:nvSpPr>
          <p:cNvPr name="TextBox 4" id="4"/>
          <p:cNvSpPr txBox="true"/>
          <p:nvPr/>
        </p:nvSpPr>
        <p:spPr>
          <a:xfrm rot="0">
            <a:off x="9692638" y="1457323"/>
            <a:ext cx="7512435" cy="7471127"/>
          </a:xfrm>
          <a:prstGeom prst="rect">
            <a:avLst/>
          </a:prstGeom>
        </p:spPr>
        <p:txBody>
          <a:bodyPr anchor="t" rtlCol="false" tIns="0" lIns="0" bIns="0" rIns="0">
            <a:spAutoFit/>
          </a:bodyPr>
          <a:lstStyle/>
          <a:p>
            <a:pPr algn="l">
              <a:lnSpc>
                <a:spcPts val="2772"/>
              </a:lnSpc>
            </a:pPr>
            <a:r>
              <a:rPr lang="en-US" sz="2100">
                <a:solidFill>
                  <a:srgbClr val="000000"/>
                </a:solidFill>
                <a:latin typeface="Arimo"/>
                <a:ea typeface="Arimo"/>
                <a:cs typeface="Arimo"/>
                <a:sym typeface="Arimo"/>
              </a:rPr>
              <a:t>La relación predeterminada entre dos clases. Ambas clases están conscientes una de la otra y de la relación que tienen entre sí. Esta asociación se representa mediante una línea recta entre dos clases.</a:t>
            </a:r>
          </a:p>
          <a:p>
            <a:pPr algn="l">
              <a:lnSpc>
                <a:spcPts val="2772"/>
              </a:lnSpc>
            </a:pPr>
          </a:p>
          <a:p>
            <a:pPr algn="l">
              <a:lnSpc>
                <a:spcPts val="2772"/>
              </a:lnSpc>
            </a:pPr>
            <a:r>
              <a:rPr lang="en-US" sz="2100">
                <a:solidFill>
                  <a:srgbClr val="000000"/>
                </a:solidFill>
                <a:latin typeface="Arimo"/>
                <a:ea typeface="Arimo"/>
                <a:cs typeface="Arimo"/>
                <a:sym typeface="Arimo"/>
              </a:rPr>
              <a:t>En el ejemplo anterior, la clase Auto y la clase Viaje están interrelacionadas. En un extremo de la línea, el Auto recibe la asociación de "autoAsignado" con el valor de multiplicidad de 0..1, de modo que cuando la instancia de Viaje existe, puede tener una instancia de Auto asociada a ella o no tener instancias de Autos asociadas a ella. En este caso, una clase CasaRodante separada con un valor de multiplicidad de 0..* es necesaria para demostrar que un Viaje puede tener múltiples instancias de Autos asociadas a ella. Dado que una instancia de Auto podría tener múltiples asociaciones "iniciarViaje", en otras palabras, un auto podría realizar múltiples viajes, el valor de multiplicidad se establece en 0..*</a:t>
            </a:r>
          </a:p>
        </p:txBody>
      </p:sp>
      <p:sp>
        <p:nvSpPr>
          <p:cNvPr name="Freeform 5" id="5" descr="Diagrama  Descripción generada automáticamente"/>
          <p:cNvSpPr/>
          <p:nvPr/>
        </p:nvSpPr>
        <p:spPr>
          <a:xfrm flipH="false" flipV="false" rot="0">
            <a:off x="1028700" y="5807249"/>
            <a:ext cx="7209436" cy="1892477"/>
          </a:xfrm>
          <a:custGeom>
            <a:avLst/>
            <a:gdLst/>
            <a:ahLst/>
            <a:cxnLst/>
            <a:rect r="r" b="b" t="t" l="l"/>
            <a:pathLst>
              <a:path h="1892477" w="7209436">
                <a:moveTo>
                  <a:pt x="0" y="0"/>
                </a:moveTo>
                <a:lnTo>
                  <a:pt x="7209436" y="0"/>
                </a:lnTo>
                <a:lnTo>
                  <a:pt x="7209436" y="1892477"/>
                </a:lnTo>
                <a:lnTo>
                  <a:pt x="0" y="1892477"/>
                </a:lnTo>
                <a:lnTo>
                  <a:pt x="0" y="0"/>
                </a:lnTo>
                <a:close/>
              </a:path>
            </a:pathLst>
          </a:custGeom>
          <a:blipFill>
            <a:blip r:embed="rId2"/>
            <a:stretch>
              <a:fillRect l="0" t="-94" r="0" b="-94"/>
            </a:stretch>
          </a:blipFill>
        </p:spPr>
      </p:sp>
      <p:sp>
        <p:nvSpPr>
          <p:cNvPr name="AutoShape 6" id="6"/>
          <p:cNvSpPr/>
          <p:nvPr/>
        </p:nvSpPr>
        <p:spPr>
          <a:xfrm rot="23980">
            <a:off x="951030" y="9380601"/>
            <a:ext cx="16385941"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951229" y="2423369"/>
            <a:ext cx="7132322" cy="2949575"/>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Asociación Unidireccional</a:t>
            </a:r>
          </a:p>
        </p:txBody>
      </p:sp>
      <p:sp>
        <p:nvSpPr>
          <p:cNvPr name="TextBox 4" id="4"/>
          <p:cNvSpPr txBox="true"/>
          <p:nvPr/>
        </p:nvSpPr>
        <p:spPr>
          <a:xfrm rot="0">
            <a:off x="9692638" y="1447798"/>
            <a:ext cx="7512435" cy="7480652"/>
          </a:xfrm>
          <a:prstGeom prst="rect">
            <a:avLst/>
          </a:prstGeom>
        </p:spPr>
        <p:txBody>
          <a:bodyPr anchor="t" rtlCol="false" tIns="0" lIns="0" bIns="0" rIns="0">
            <a:spAutoFit/>
          </a:bodyPr>
          <a:lstStyle/>
          <a:p>
            <a:pPr algn="just">
              <a:lnSpc>
                <a:spcPts val="3366"/>
              </a:lnSpc>
            </a:pPr>
            <a:r>
              <a:rPr lang="en-US" sz="2550">
                <a:solidFill>
                  <a:srgbClr val="000000"/>
                </a:solidFill>
                <a:latin typeface="Arimo"/>
                <a:ea typeface="Arimo"/>
                <a:cs typeface="Arimo"/>
                <a:sym typeface="Arimo"/>
              </a:rPr>
              <a:t>Una relación un poco menos común entre dos clases. Una clase está consciente de la otra e interactúa con ella. La asociación unidireccional se dibuja con una línea de conexión recta que señala una punta de flecha abierta desde la clase "knowing" a la clase "known".</a:t>
            </a:r>
          </a:p>
          <a:p>
            <a:pPr algn="just">
              <a:lnSpc>
                <a:spcPts val="3366"/>
              </a:lnSpc>
            </a:pPr>
          </a:p>
          <a:p>
            <a:pPr algn="just">
              <a:lnSpc>
                <a:spcPts val="3366"/>
              </a:lnSpc>
            </a:pPr>
            <a:r>
              <a:rPr lang="en-US" sz="2550">
                <a:solidFill>
                  <a:srgbClr val="000000"/>
                </a:solidFill>
                <a:latin typeface="Arimo"/>
                <a:ea typeface="Arimo"/>
                <a:cs typeface="Arimo"/>
                <a:sym typeface="Arimo"/>
              </a:rPr>
              <a:t>Como ejemplo, en tu viaje por Arizona, podrías encontrarte con una trampa de velocidad donde un radar de tráfico registra la velocidad a la que conducías, pero no lo sabrás hasta que recibas la notificación por correo. Esto no está dibujado en la imagen, pero en este caso, el valor de multiplicidad sería 0..* en función de cuántas veces hayas conducido frente al radar de tráfico.</a:t>
            </a:r>
          </a:p>
        </p:txBody>
      </p:sp>
      <p:sp>
        <p:nvSpPr>
          <p:cNvPr name="Freeform 5" id="5" descr="Gráfico, Gráfico de cajas y bigotes  Descripción generada automáticamente"/>
          <p:cNvSpPr/>
          <p:nvPr/>
        </p:nvSpPr>
        <p:spPr>
          <a:xfrm flipH="false" flipV="false" rot="0">
            <a:off x="1028700" y="5669314"/>
            <a:ext cx="7209436" cy="2144806"/>
          </a:xfrm>
          <a:custGeom>
            <a:avLst/>
            <a:gdLst/>
            <a:ahLst/>
            <a:cxnLst/>
            <a:rect r="r" b="b" t="t" l="l"/>
            <a:pathLst>
              <a:path h="2144806" w="7209436">
                <a:moveTo>
                  <a:pt x="0" y="0"/>
                </a:moveTo>
                <a:lnTo>
                  <a:pt x="7209436" y="0"/>
                </a:lnTo>
                <a:lnTo>
                  <a:pt x="7209436" y="2144807"/>
                </a:lnTo>
                <a:lnTo>
                  <a:pt x="0" y="2144807"/>
                </a:lnTo>
                <a:lnTo>
                  <a:pt x="0" y="0"/>
                </a:lnTo>
                <a:close/>
              </a:path>
            </a:pathLst>
          </a:custGeom>
          <a:blipFill>
            <a:blip r:embed="rId2"/>
            <a:stretch>
              <a:fillRect l="0" t="-206" r="0" b="-206"/>
            </a:stretch>
          </a:blipFill>
        </p:spPr>
      </p:sp>
      <p:sp>
        <p:nvSpPr>
          <p:cNvPr name="AutoShape 6" id="6"/>
          <p:cNvSpPr/>
          <p:nvPr/>
        </p:nvSpPr>
        <p:spPr>
          <a:xfrm rot="23980">
            <a:off x="951030" y="9380601"/>
            <a:ext cx="16385941"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3" id="3"/>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4" id="4"/>
          <p:cNvSpPr txBox="true"/>
          <p:nvPr/>
        </p:nvSpPr>
        <p:spPr>
          <a:xfrm rot="0">
            <a:off x="1051560" y="2570299"/>
            <a:ext cx="4754880" cy="2949575"/>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Diagrama de Clases</a:t>
            </a:r>
          </a:p>
        </p:txBody>
      </p:sp>
      <p:sp>
        <p:nvSpPr>
          <p:cNvPr name="AutoShape 5" id="5"/>
          <p:cNvSpPr/>
          <p:nvPr/>
        </p:nvSpPr>
        <p:spPr>
          <a:xfrm rot="247854">
            <a:off x="1010637" y="6660834"/>
            <a:ext cx="1586715" cy="0"/>
          </a:xfrm>
          <a:prstGeom prst="line">
            <a:avLst/>
          </a:prstGeom>
          <a:ln cap="rnd" w="57150">
            <a:solidFill>
              <a:srgbClr val="4D64C3"/>
            </a:solidFill>
            <a:prstDash val="solid"/>
            <a:headEnd type="none" len="sm" w="sm"/>
            <a:tailEnd type="none" len="sm" w="sm"/>
          </a:ln>
        </p:spPr>
      </p:sp>
      <p:sp>
        <p:nvSpPr>
          <p:cNvPr name="Freeform 6" id="6"/>
          <p:cNvSpPr/>
          <p:nvPr/>
        </p:nvSpPr>
        <p:spPr>
          <a:xfrm flipH="false" flipV="false" rot="0">
            <a:off x="7024567" y="1450467"/>
            <a:ext cx="9912717" cy="7310628"/>
          </a:xfrm>
          <a:custGeom>
            <a:avLst/>
            <a:gdLst/>
            <a:ahLst/>
            <a:cxnLst/>
            <a:rect r="r" b="b" t="t" l="l"/>
            <a:pathLst>
              <a:path h="7310628" w="9912717">
                <a:moveTo>
                  <a:pt x="0" y="0"/>
                </a:moveTo>
                <a:lnTo>
                  <a:pt x="9912717" y="0"/>
                </a:lnTo>
                <a:lnTo>
                  <a:pt x="9912717" y="7310628"/>
                </a:lnTo>
                <a:lnTo>
                  <a:pt x="0" y="7310628"/>
                </a:lnTo>
                <a:lnTo>
                  <a:pt x="0" y="0"/>
                </a:lnTo>
                <a:close/>
              </a:path>
            </a:pathLst>
          </a:custGeom>
          <a:blipFill>
            <a:blip r:embed="rId2"/>
            <a:stretch>
              <a:fillRect l="0" t="-75" r="0" b="-75"/>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2148523"/>
            <a:ext cx="8423908"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Definición</a:t>
            </a:r>
          </a:p>
        </p:txBody>
      </p:sp>
      <p:sp>
        <p:nvSpPr>
          <p:cNvPr name="TextBox 4" id="4"/>
          <p:cNvSpPr txBox="true"/>
          <p:nvPr/>
        </p:nvSpPr>
        <p:spPr>
          <a:xfrm rot="0">
            <a:off x="1051560" y="3909849"/>
            <a:ext cx="8423910" cy="5494755"/>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Un Diagrama de Clases es un tipo de diagrama estructural en UML que representa la estructura estática de un sistema. Muestra las clases, sus atributos, métodos y las relaciones entre ellas. Es especialmente útil para modelar sistemas orientados a objetos, ya que permite visualizar cómo interactúan las diferentes partes del sistema.</a:t>
            </a:r>
          </a:p>
        </p:txBody>
      </p:sp>
      <p:sp>
        <p:nvSpPr>
          <p:cNvPr name="AutoShape 5" id="5"/>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6" id="6" descr="Contorno de diagrama de Venn"/>
          <p:cNvSpPr/>
          <p:nvPr/>
        </p:nvSpPr>
        <p:spPr>
          <a:xfrm flipH="false" flipV="false" rot="0">
            <a:off x="10557669" y="1861628"/>
            <a:ext cx="6563744" cy="6563744"/>
          </a:xfrm>
          <a:custGeom>
            <a:avLst/>
            <a:gdLst/>
            <a:ahLst/>
            <a:cxnLst/>
            <a:rect r="r" b="b" t="t" l="l"/>
            <a:pathLst>
              <a:path h="6563744" w="6563744">
                <a:moveTo>
                  <a:pt x="0" y="0"/>
                </a:moveTo>
                <a:lnTo>
                  <a:pt x="6563744" y="0"/>
                </a:lnTo>
                <a:lnTo>
                  <a:pt x="6563744" y="6563744"/>
                </a:lnTo>
                <a:lnTo>
                  <a:pt x="0" y="6563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3" id="3"/>
          <p:cNvSpPr/>
          <p:nvPr/>
        </p:nvSpPr>
        <p:spPr>
          <a:xfrm rot="247854">
            <a:off x="1015210" y="1517926"/>
            <a:ext cx="1586715" cy="0"/>
          </a:xfrm>
          <a:prstGeom prst="line">
            <a:avLst/>
          </a:prstGeom>
          <a:ln cap="rnd" w="57150">
            <a:solidFill>
              <a:srgbClr val="4D64C3"/>
            </a:solidFill>
            <a:prstDash val="solid"/>
            <a:headEnd type="none" len="sm" w="sm"/>
            <a:tailEnd type="none" len="sm" w="sm"/>
          </a:ln>
        </p:spPr>
      </p:sp>
      <p:sp>
        <p:nvSpPr>
          <p:cNvPr name="Freeform 4" id="4" descr="Personas en escritorio de reunión"/>
          <p:cNvSpPr/>
          <p:nvPr/>
        </p:nvSpPr>
        <p:spPr>
          <a:xfrm flipH="false" flipV="false" rot="0">
            <a:off x="11018520" y="15"/>
            <a:ext cx="7269480" cy="10286985"/>
          </a:xfrm>
          <a:custGeom>
            <a:avLst/>
            <a:gdLst/>
            <a:ahLst/>
            <a:cxnLst/>
            <a:rect r="r" b="b" t="t" l="l"/>
            <a:pathLst>
              <a:path h="10286985" w="7269480">
                <a:moveTo>
                  <a:pt x="0" y="0"/>
                </a:moveTo>
                <a:lnTo>
                  <a:pt x="7269480" y="0"/>
                </a:lnTo>
                <a:lnTo>
                  <a:pt x="7269480" y="10286985"/>
                </a:lnTo>
                <a:lnTo>
                  <a:pt x="0" y="10286985"/>
                </a:lnTo>
                <a:lnTo>
                  <a:pt x="0" y="0"/>
                </a:lnTo>
                <a:close/>
              </a:path>
            </a:pathLst>
          </a:custGeom>
          <a:blipFill>
            <a:blip r:embed="rId2"/>
            <a:stretch>
              <a:fillRect l="-63959" t="0" r="-87612" b="0"/>
            </a:stretch>
          </a:blipFill>
        </p:spPr>
      </p:sp>
      <p:sp>
        <p:nvSpPr>
          <p:cNvPr name="TextBox 5" id="5"/>
          <p:cNvSpPr txBox="true"/>
          <p:nvPr/>
        </p:nvSpPr>
        <p:spPr>
          <a:xfrm rot="0">
            <a:off x="1051560" y="2148523"/>
            <a:ext cx="8595360"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Propósito</a:t>
            </a:r>
          </a:p>
        </p:txBody>
      </p:sp>
      <p:grpSp>
        <p:nvGrpSpPr>
          <p:cNvPr name="Group 6" id="6"/>
          <p:cNvGrpSpPr/>
          <p:nvPr/>
        </p:nvGrpSpPr>
        <p:grpSpPr>
          <a:xfrm rot="0">
            <a:off x="960120" y="3950525"/>
            <a:ext cx="8778240" cy="1570196"/>
            <a:chOff x="0" y="0"/>
            <a:chExt cx="11704320" cy="2093594"/>
          </a:xfrm>
        </p:grpSpPr>
        <p:sp>
          <p:nvSpPr>
            <p:cNvPr name="Freeform 7" id="7"/>
            <p:cNvSpPr/>
            <p:nvPr/>
          </p:nvSpPr>
          <p:spPr>
            <a:xfrm flipH="false" flipV="false" rot="0">
              <a:off x="0" y="0"/>
              <a:ext cx="11704320" cy="2093595"/>
            </a:xfrm>
            <a:custGeom>
              <a:avLst/>
              <a:gdLst/>
              <a:ahLst/>
              <a:cxnLst/>
              <a:rect r="r" b="b" t="t" l="l"/>
              <a:pathLst>
                <a:path h="2093595" w="11704320">
                  <a:moveTo>
                    <a:pt x="0" y="209296"/>
                  </a:moveTo>
                  <a:cubicBezTo>
                    <a:pt x="0" y="93726"/>
                    <a:pt x="93726" y="0"/>
                    <a:pt x="209296" y="0"/>
                  </a:cubicBezTo>
                  <a:lnTo>
                    <a:pt x="11495024" y="0"/>
                  </a:lnTo>
                  <a:cubicBezTo>
                    <a:pt x="11610594" y="0"/>
                    <a:pt x="11704320" y="93726"/>
                    <a:pt x="11704320" y="209296"/>
                  </a:cubicBezTo>
                  <a:lnTo>
                    <a:pt x="11704320" y="1884172"/>
                  </a:lnTo>
                  <a:cubicBezTo>
                    <a:pt x="11704320" y="1999742"/>
                    <a:pt x="11610594" y="2093468"/>
                    <a:pt x="11495024" y="2093468"/>
                  </a:cubicBezTo>
                  <a:lnTo>
                    <a:pt x="209296" y="2093468"/>
                  </a:lnTo>
                  <a:cubicBezTo>
                    <a:pt x="93726" y="2093595"/>
                    <a:pt x="0" y="1999869"/>
                    <a:pt x="0" y="1884172"/>
                  </a:cubicBezTo>
                  <a:close/>
                </a:path>
              </a:pathLst>
            </a:custGeom>
            <a:solidFill>
              <a:srgbClr val="D0D3E9"/>
            </a:solidFill>
          </p:spPr>
        </p:sp>
      </p:grpSp>
      <p:grpSp>
        <p:nvGrpSpPr>
          <p:cNvPr name="Group 8" id="8"/>
          <p:cNvGrpSpPr/>
          <p:nvPr/>
        </p:nvGrpSpPr>
        <p:grpSpPr>
          <a:xfrm rot="0">
            <a:off x="1425579" y="4294293"/>
            <a:ext cx="882657" cy="882657"/>
            <a:chOff x="0" y="0"/>
            <a:chExt cx="1176876" cy="1176876"/>
          </a:xfrm>
        </p:grpSpPr>
        <p:sp>
          <p:nvSpPr>
            <p:cNvPr name="Freeform 9" id="9"/>
            <p:cNvSpPr/>
            <p:nvPr/>
          </p:nvSpPr>
          <p:spPr>
            <a:xfrm flipH="false" flipV="false" rot="0">
              <a:off x="12700" y="12700"/>
              <a:ext cx="1151509" cy="1151509"/>
            </a:xfrm>
            <a:custGeom>
              <a:avLst/>
              <a:gdLst/>
              <a:ahLst/>
              <a:cxnLst/>
              <a:rect r="r" b="b" t="t" l="l"/>
              <a:pathLst>
                <a:path h="1151509" w="1151509">
                  <a:moveTo>
                    <a:pt x="0" y="0"/>
                  </a:moveTo>
                  <a:lnTo>
                    <a:pt x="1151509" y="0"/>
                  </a:lnTo>
                  <a:lnTo>
                    <a:pt x="1151509" y="1151509"/>
                  </a:lnTo>
                  <a:lnTo>
                    <a:pt x="0" y="1151509"/>
                  </a:lnTo>
                  <a:close/>
                </a:path>
              </a:pathLst>
            </a:custGeom>
            <a:blipFill>
              <a:blip r:embed="rId3"/>
              <a:stretch>
                <a:fillRect l="-1102" t="-1102" r="-1100" b="-1100"/>
              </a:stretch>
            </a:blipFill>
          </p:spPr>
        </p:sp>
        <p:sp>
          <p:nvSpPr>
            <p:cNvPr name="Freeform 10" id="10"/>
            <p:cNvSpPr/>
            <p:nvPr/>
          </p:nvSpPr>
          <p:spPr>
            <a:xfrm flipH="false" flipV="false" rot="0">
              <a:off x="0" y="0"/>
              <a:ext cx="1176909" cy="1176909"/>
            </a:xfrm>
            <a:custGeom>
              <a:avLst/>
              <a:gdLst/>
              <a:ahLst/>
              <a:cxnLst/>
              <a:rect r="r" b="b" t="t" l="l"/>
              <a:pathLst>
                <a:path h="1176909" w="1176909">
                  <a:moveTo>
                    <a:pt x="12700" y="0"/>
                  </a:moveTo>
                  <a:lnTo>
                    <a:pt x="1164209" y="0"/>
                  </a:lnTo>
                  <a:cubicBezTo>
                    <a:pt x="1171194" y="0"/>
                    <a:pt x="1176909" y="5715"/>
                    <a:pt x="1176909" y="12700"/>
                  </a:cubicBezTo>
                  <a:lnTo>
                    <a:pt x="1176909" y="1164209"/>
                  </a:lnTo>
                  <a:cubicBezTo>
                    <a:pt x="1176909" y="1171194"/>
                    <a:pt x="1171194" y="1176909"/>
                    <a:pt x="1164209" y="1176909"/>
                  </a:cubicBezTo>
                  <a:lnTo>
                    <a:pt x="12700" y="1176909"/>
                  </a:lnTo>
                  <a:cubicBezTo>
                    <a:pt x="5715" y="1176909"/>
                    <a:pt x="0" y="1171194"/>
                    <a:pt x="0" y="1164209"/>
                  </a:cubicBezTo>
                  <a:lnTo>
                    <a:pt x="0" y="12700"/>
                  </a:lnTo>
                  <a:cubicBezTo>
                    <a:pt x="0" y="5715"/>
                    <a:pt x="5715" y="0"/>
                    <a:pt x="12700" y="0"/>
                  </a:cubicBezTo>
                  <a:moveTo>
                    <a:pt x="12700" y="25400"/>
                  </a:moveTo>
                  <a:lnTo>
                    <a:pt x="12700" y="12700"/>
                  </a:lnTo>
                  <a:lnTo>
                    <a:pt x="25400" y="12700"/>
                  </a:lnTo>
                  <a:lnTo>
                    <a:pt x="25400" y="1164209"/>
                  </a:lnTo>
                  <a:lnTo>
                    <a:pt x="12700" y="1164209"/>
                  </a:lnTo>
                  <a:lnTo>
                    <a:pt x="12700" y="1151509"/>
                  </a:lnTo>
                  <a:lnTo>
                    <a:pt x="1164209" y="1151509"/>
                  </a:lnTo>
                  <a:lnTo>
                    <a:pt x="1164209" y="1164209"/>
                  </a:lnTo>
                  <a:lnTo>
                    <a:pt x="1151509" y="1164209"/>
                  </a:lnTo>
                  <a:lnTo>
                    <a:pt x="1151509" y="12700"/>
                  </a:lnTo>
                  <a:lnTo>
                    <a:pt x="1164209" y="12700"/>
                  </a:lnTo>
                  <a:lnTo>
                    <a:pt x="1164209" y="25400"/>
                  </a:lnTo>
                  <a:lnTo>
                    <a:pt x="12700" y="25400"/>
                  </a:lnTo>
                  <a:close/>
                </a:path>
              </a:pathLst>
            </a:custGeom>
            <a:solidFill>
              <a:srgbClr val="FFFFFF"/>
            </a:solidFill>
          </p:spPr>
        </p:sp>
      </p:grpSp>
      <p:grpSp>
        <p:nvGrpSpPr>
          <p:cNvPr name="Group 11" id="11"/>
          <p:cNvGrpSpPr/>
          <p:nvPr/>
        </p:nvGrpSpPr>
        <p:grpSpPr>
          <a:xfrm rot="0">
            <a:off x="2768932" y="3945762"/>
            <a:ext cx="6974188" cy="1579720"/>
            <a:chOff x="0" y="0"/>
            <a:chExt cx="9298918" cy="2106294"/>
          </a:xfrm>
        </p:grpSpPr>
        <p:sp>
          <p:nvSpPr>
            <p:cNvPr name="Freeform 12" id="12"/>
            <p:cNvSpPr/>
            <p:nvPr/>
          </p:nvSpPr>
          <p:spPr>
            <a:xfrm flipH="false" flipV="false" rot="0">
              <a:off x="0" y="0"/>
              <a:ext cx="9298918" cy="2106294"/>
            </a:xfrm>
            <a:custGeom>
              <a:avLst/>
              <a:gdLst/>
              <a:ahLst/>
              <a:cxnLst/>
              <a:rect r="r" b="b" t="t" l="l"/>
              <a:pathLst>
                <a:path h="2106294" w="9298918">
                  <a:moveTo>
                    <a:pt x="0" y="0"/>
                  </a:moveTo>
                  <a:lnTo>
                    <a:pt x="9298918" y="0"/>
                  </a:lnTo>
                  <a:lnTo>
                    <a:pt x="9298918" y="2106294"/>
                  </a:lnTo>
                  <a:lnTo>
                    <a:pt x="0" y="2106294"/>
                  </a:lnTo>
                  <a:close/>
                </a:path>
              </a:pathLst>
            </a:custGeom>
            <a:solidFill>
              <a:srgbClr val="000000">
                <a:alpha val="0"/>
              </a:srgbClr>
            </a:solidFill>
          </p:spPr>
        </p:sp>
        <p:sp>
          <p:nvSpPr>
            <p:cNvPr name="TextBox 13" id="13"/>
            <p:cNvSpPr txBox="true"/>
            <p:nvPr/>
          </p:nvSpPr>
          <p:spPr>
            <a:xfrm>
              <a:off x="0" y="-9525"/>
              <a:ext cx="9298918" cy="2115819"/>
            </a:xfrm>
            <a:prstGeom prst="rect">
              <a:avLst/>
            </a:prstGeom>
          </p:spPr>
          <p:txBody>
            <a:bodyPr anchor="ctr" rtlCol="false" tIns="0" lIns="0" bIns="0" rIns="0"/>
            <a:lstStyle/>
            <a:p>
              <a:pPr algn="just">
                <a:lnSpc>
                  <a:spcPts val="3060"/>
                </a:lnSpc>
              </a:pPr>
              <a:r>
                <a:rPr lang="en-US" sz="2550">
                  <a:solidFill>
                    <a:srgbClr val="000000"/>
                  </a:solidFill>
                  <a:latin typeface="Arimo"/>
                  <a:ea typeface="Arimo"/>
                  <a:cs typeface="Arimo"/>
                  <a:sym typeface="Arimo"/>
                </a:rPr>
                <a:t>Representar la estructura lógica del sistema.</a:t>
              </a:r>
            </a:p>
          </p:txBody>
        </p:sp>
      </p:grpSp>
      <p:grpSp>
        <p:nvGrpSpPr>
          <p:cNvPr name="Group 14" id="14"/>
          <p:cNvGrpSpPr/>
          <p:nvPr/>
        </p:nvGrpSpPr>
        <p:grpSpPr>
          <a:xfrm rot="0">
            <a:off x="960120" y="5913268"/>
            <a:ext cx="8778240" cy="1570196"/>
            <a:chOff x="0" y="0"/>
            <a:chExt cx="11704320" cy="2093594"/>
          </a:xfrm>
        </p:grpSpPr>
        <p:sp>
          <p:nvSpPr>
            <p:cNvPr name="Freeform 15" id="15"/>
            <p:cNvSpPr/>
            <p:nvPr/>
          </p:nvSpPr>
          <p:spPr>
            <a:xfrm flipH="false" flipV="false" rot="0">
              <a:off x="0" y="0"/>
              <a:ext cx="11704320" cy="2093595"/>
            </a:xfrm>
            <a:custGeom>
              <a:avLst/>
              <a:gdLst/>
              <a:ahLst/>
              <a:cxnLst/>
              <a:rect r="r" b="b" t="t" l="l"/>
              <a:pathLst>
                <a:path h="2093595" w="11704320">
                  <a:moveTo>
                    <a:pt x="0" y="209296"/>
                  </a:moveTo>
                  <a:cubicBezTo>
                    <a:pt x="0" y="93726"/>
                    <a:pt x="93726" y="0"/>
                    <a:pt x="209296" y="0"/>
                  </a:cubicBezTo>
                  <a:lnTo>
                    <a:pt x="11495024" y="0"/>
                  </a:lnTo>
                  <a:cubicBezTo>
                    <a:pt x="11610594" y="0"/>
                    <a:pt x="11704320" y="93726"/>
                    <a:pt x="11704320" y="209296"/>
                  </a:cubicBezTo>
                  <a:lnTo>
                    <a:pt x="11704320" y="1884172"/>
                  </a:lnTo>
                  <a:cubicBezTo>
                    <a:pt x="11704320" y="1999742"/>
                    <a:pt x="11610594" y="2093468"/>
                    <a:pt x="11495024" y="2093468"/>
                  </a:cubicBezTo>
                  <a:lnTo>
                    <a:pt x="209296" y="2093468"/>
                  </a:lnTo>
                  <a:cubicBezTo>
                    <a:pt x="93726" y="2093595"/>
                    <a:pt x="0" y="1999869"/>
                    <a:pt x="0" y="1884172"/>
                  </a:cubicBezTo>
                  <a:close/>
                </a:path>
              </a:pathLst>
            </a:custGeom>
            <a:solidFill>
              <a:srgbClr val="D0D3E9"/>
            </a:solidFill>
          </p:spPr>
        </p:sp>
      </p:grpSp>
      <p:grpSp>
        <p:nvGrpSpPr>
          <p:cNvPr name="Group 16" id="16"/>
          <p:cNvGrpSpPr/>
          <p:nvPr/>
        </p:nvGrpSpPr>
        <p:grpSpPr>
          <a:xfrm rot="0">
            <a:off x="1425579" y="6257038"/>
            <a:ext cx="882657" cy="882657"/>
            <a:chOff x="0" y="0"/>
            <a:chExt cx="1176876" cy="1176876"/>
          </a:xfrm>
        </p:grpSpPr>
        <p:sp>
          <p:nvSpPr>
            <p:cNvPr name="Freeform 17" id="17"/>
            <p:cNvSpPr/>
            <p:nvPr/>
          </p:nvSpPr>
          <p:spPr>
            <a:xfrm flipH="false" flipV="false" rot="0">
              <a:off x="12700" y="12700"/>
              <a:ext cx="1151509" cy="1151509"/>
            </a:xfrm>
            <a:custGeom>
              <a:avLst/>
              <a:gdLst/>
              <a:ahLst/>
              <a:cxnLst/>
              <a:rect r="r" b="b" t="t" l="l"/>
              <a:pathLst>
                <a:path h="1151509" w="1151509">
                  <a:moveTo>
                    <a:pt x="0" y="0"/>
                  </a:moveTo>
                  <a:lnTo>
                    <a:pt x="1151509" y="0"/>
                  </a:lnTo>
                  <a:lnTo>
                    <a:pt x="1151509" y="1151509"/>
                  </a:lnTo>
                  <a:lnTo>
                    <a:pt x="0" y="1151509"/>
                  </a:lnTo>
                  <a:close/>
                </a:path>
              </a:pathLst>
            </a:custGeom>
            <a:blipFill>
              <a:blip r:embed="rId4"/>
              <a:stretch>
                <a:fillRect l="-1102" t="-1102" r="-1100" b="-1100"/>
              </a:stretch>
            </a:blipFill>
          </p:spPr>
        </p:sp>
        <p:sp>
          <p:nvSpPr>
            <p:cNvPr name="Freeform 18" id="18"/>
            <p:cNvSpPr/>
            <p:nvPr/>
          </p:nvSpPr>
          <p:spPr>
            <a:xfrm flipH="false" flipV="false" rot="0">
              <a:off x="0" y="0"/>
              <a:ext cx="1176909" cy="1176909"/>
            </a:xfrm>
            <a:custGeom>
              <a:avLst/>
              <a:gdLst/>
              <a:ahLst/>
              <a:cxnLst/>
              <a:rect r="r" b="b" t="t" l="l"/>
              <a:pathLst>
                <a:path h="1176909" w="1176909">
                  <a:moveTo>
                    <a:pt x="12700" y="0"/>
                  </a:moveTo>
                  <a:lnTo>
                    <a:pt x="1164209" y="0"/>
                  </a:lnTo>
                  <a:cubicBezTo>
                    <a:pt x="1171194" y="0"/>
                    <a:pt x="1176909" y="5715"/>
                    <a:pt x="1176909" y="12700"/>
                  </a:cubicBezTo>
                  <a:lnTo>
                    <a:pt x="1176909" y="1164209"/>
                  </a:lnTo>
                  <a:cubicBezTo>
                    <a:pt x="1176909" y="1171194"/>
                    <a:pt x="1171194" y="1176909"/>
                    <a:pt x="1164209" y="1176909"/>
                  </a:cubicBezTo>
                  <a:lnTo>
                    <a:pt x="12700" y="1176909"/>
                  </a:lnTo>
                  <a:cubicBezTo>
                    <a:pt x="5715" y="1176909"/>
                    <a:pt x="0" y="1171194"/>
                    <a:pt x="0" y="1164209"/>
                  </a:cubicBezTo>
                  <a:lnTo>
                    <a:pt x="0" y="12700"/>
                  </a:lnTo>
                  <a:cubicBezTo>
                    <a:pt x="0" y="5715"/>
                    <a:pt x="5715" y="0"/>
                    <a:pt x="12700" y="0"/>
                  </a:cubicBezTo>
                  <a:moveTo>
                    <a:pt x="12700" y="25400"/>
                  </a:moveTo>
                  <a:lnTo>
                    <a:pt x="12700" y="12700"/>
                  </a:lnTo>
                  <a:lnTo>
                    <a:pt x="25400" y="12700"/>
                  </a:lnTo>
                  <a:lnTo>
                    <a:pt x="25400" y="1164209"/>
                  </a:lnTo>
                  <a:lnTo>
                    <a:pt x="12700" y="1164209"/>
                  </a:lnTo>
                  <a:lnTo>
                    <a:pt x="12700" y="1151509"/>
                  </a:lnTo>
                  <a:lnTo>
                    <a:pt x="1164209" y="1151509"/>
                  </a:lnTo>
                  <a:lnTo>
                    <a:pt x="1164209" y="1164209"/>
                  </a:lnTo>
                  <a:lnTo>
                    <a:pt x="1151509" y="1164209"/>
                  </a:lnTo>
                  <a:lnTo>
                    <a:pt x="1151509" y="12700"/>
                  </a:lnTo>
                  <a:lnTo>
                    <a:pt x="1164209" y="12700"/>
                  </a:lnTo>
                  <a:lnTo>
                    <a:pt x="1164209" y="25400"/>
                  </a:lnTo>
                  <a:lnTo>
                    <a:pt x="12700" y="25400"/>
                  </a:lnTo>
                  <a:close/>
                </a:path>
              </a:pathLst>
            </a:custGeom>
            <a:solidFill>
              <a:srgbClr val="FFFFFF"/>
            </a:solidFill>
          </p:spPr>
        </p:sp>
      </p:grpSp>
      <p:grpSp>
        <p:nvGrpSpPr>
          <p:cNvPr name="Group 19" id="19"/>
          <p:cNvGrpSpPr/>
          <p:nvPr/>
        </p:nvGrpSpPr>
        <p:grpSpPr>
          <a:xfrm rot="0">
            <a:off x="2768932" y="5908506"/>
            <a:ext cx="6974188" cy="1579720"/>
            <a:chOff x="0" y="0"/>
            <a:chExt cx="9298918" cy="2106294"/>
          </a:xfrm>
        </p:grpSpPr>
        <p:sp>
          <p:nvSpPr>
            <p:cNvPr name="Freeform 20" id="20"/>
            <p:cNvSpPr/>
            <p:nvPr/>
          </p:nvSpPr>
          <p:spPr>
            <a:xfrm flipH="false" flipV="false" rot="0">
              <a:off x="0" y="0"/>
              <a:ext cx="9298918" cy="2106294"/>
            </a:xfrm>
            <a:custGeom>
              <a:avLst/>
              <a:gdLst/>
              <a:ahLst/>
              <a:cxnLst/>
              <a:rect r="r" b="b" t="t" l="l"/>
              <a:pathLst>
                <a:path h="2106294" w="9298918">
                  <a:moveTo>
                    <a:pt x="0" y="0"/>
                  </a:moveTo>
                  <a:lnTo>
                    <a:pt x="9298918" y="0"/>
                  </a:lnTo>
                  <a:lnTo>
                    <a:pt x="9298918" y="2106294"/>
                  </a:lnTo>
                  <a:lnTo>
                    <a:pt x="0" y="2106294"/>
                  </a:lnTo>
                  <a:close/>
                </a:path>
              </a:pathLst>
            </a:custGeom>
            <a:solidFill>
              <a:srgbClr val="000000">
                <a:alpha val="0"/>
              </a:srgbClr>
            </a:solidFill>
          </p:spPr>
        </p:sp>
        <p:sp>
          <p:nvSpPr>
            <p:cNvPr name="TextBox 21" id="21"/>
            <p:cNvSpPr txBox="true"/>
            <p:nvPr/>
          </p:nvSpPr>
          <p:spPr>
            <a:xfrm>
              <a:off x="0" y="-9525"/>
              <a:ext cx="9298918" cy="2115819"/>
            </a:xfrm>
            <a:prstGeom prst="rect">
              <a:avLst/>
            </a:prstGeom>
          </p:spPr>
          <p:txBody>
            <a:bodyPr anchor="ctr" rtlCol="false" tIns="0" lIns="0" bIns="0" rIns="0"/>
            <a:lstStyle/>
            <a:p>
              <a:pPr algn="just">
                <a:lnSpc>
                  <a:spcPts val="3060"/>
                </a:lnSpc>
              </a:pPr>
              <a:r>
                <a:rPr lang="en-US" sz="2550">
                  <a:solidFill>
                    <a:srgbClr val="000000"/>
                  </a:solidFill>
                  <a:latin typeface="Arimo"/>
                  <a:ea typeface="Arimo"/>
                  <a:cs typeface="Arimo"/>
                  <a:sym typeface="Arimo"/>
                </a:rPr>
                <a:t>Mostrar cómo se organizan las clases y cómo interactúan entre sí.</a:t>
              </a:r>
            </a:p>
          </p:txBody>
        </p:sp>
      </p:grpSp>
      <p:grpSp>
        <p:nvGrpSpPr>
          <p:cNvPr name="Group 22" id="22"/>
          <p:cNvGrpSpPr/>
          <p:nvPr/>
        </p:nvGrpSpPr>
        <p:grpSpPr>
          <a:xfrm rot="0">
            <a:off x="960120" y="7876014"/>
            <a:ext cx="8778240" cy="1570196"/>
            <a:chOff x="0" y="0"/>
            <a:chExt cx="11704320" cy="2093594"/>
          </a:xfrm>
        </p:grpSpPr>
        <p:sp>
          <p:nvSpPr>
            <p:cNvPr name="Freeform 23" id="23"/>
            <p:cNvSpPr/>
            <p:nvPr/>
          </p:nvSpPr>
          <p:spPr>
            <a:xfrm flipH="false" flipV="false" rot="0">
              <a:off x="0" y="0"/>
              <a:ext cx="11704320" cy="2093595"/>
            </a:xfrm>
            <a:custGeom>
              <a:avLst/>
              <a:gdLst/>
              <a:ahLst/>
              <a:cxnLst/>
              <a:rect r="r" b="b" t="t" l="l"/>
              <a:pathLst>
                <a:path h="2093595" w="11704320">
                  <a:moveTo>
                    <a:pt x="0" y="209296"/>
                  </a:moveTo>
                  <a:cubicBezTo>
                    <a:pt x="0" y="93726"/>
                    <a:pt x="93726" y="0"/>
                    <a:pt x="209296" y="0"/>
                  </a:cubicBezTo>
                  <a:lnTo>
                    <a:pt x="11495024" y="0"/>
                  </a:lnTo>
                  <a:cubicBezTo>
                    <a:pt x="11610594" y="0"/>
                    <a:pt x="11704320" y="93726"/>
                    <a:pt x="11704320" y="209296"/>
                  </a:cubicBezTo>
                  <a:lnTo>
                    <a:pt x="11704320" y="1884172"/>
                  </a:lnTo>
                  <a:cubicBezTo>
                    <a:pt x="11704320" y="1999742"/>
                    <a:pt x="11610594" y="2093468"/>
                    <a:pt x="11495024" y="2093468"/>
                  </a:cubicBezTo>
                  <a:lnTo>
                    <a:pt x="209296" y="2093468"/>
                  </a:lnTo>
                  <a:cubicBezTo>
                    <a:pt x="93726" y="2093595"/>
                    <a:pt x="0" y="1999869"/>
                    <a:pt x="0" y="1884172"/>
                  </a:cubicBezTo>
                  <a:close/>
                </a:path>
              </a:pathLst>
            </a:custGeom>
            <a:solidFill>
              <a:srgbClr val="D0D3E9"/>
            </a:solidFill>
          </p:spPr>
        </p:sp>
      </p:grpSp>
      <p:grpSp>
        <p:nvGrpSpPr>
          <p:cNvPr name="Group 24" id="24"/>
          <p:cNvGrpSpPr/>
          <p:nvPr/>
        </p:nvGrpSpPr>
        <p:grpSpPr>
          <a:xfrm rot="0">
            <a:off x="1425579" y="8219783"/>
            <a:ext cx="882657" cy="882657"/>
            <a:chOff x="0" y="0"/>
            <a:chExt cx="1176876" cy="1176876"/>
          </a:xfrm>
        </p:grpSpPr>
        <p:sp>
          <p:nvSpPr>
            <p:cNvPr name="Freeform 25" id="25"/>
            <p:cNvSpPr/>
            <p:nvPr/>
          </p:nvSpPr>
          <p:spPr>
            <a:xfrm flipH="false" flipV="false" rot="0">
              <a:off x="12700" y="12700"/>
              <a:ext cx="1151509" cy="1151509"/>
            </a:xfrm>
            <a:custGeom>
              <a:avLst/>
              <a:gdLst/>
              <a:ahLst/>
              <a:cxnLst/>
              <a:rect r="r" b="b" t="t" l="l"/>
              <a:pathLst>
                <a:path h="1151509" w="1151509">
                  <a:moveTo>
                    <a:pt x="0" y="0"/>
                  </a:moveTo>
                  <a:lnTo>
                    <a:pt x="1151509" y="0"/>
                  </a:lnTo>
                  <a:lnTo>
                    <a:pt x="1151509" y="1151509"/>
                  </a:lnTo>
                  <a:lnTo>
                    <a:pt x="0" y="1151509"/>
                  </a:lnTo>
                  <a:close/>
                </a:path>
              </a:pathLst>
            </a:custGeom>
            <a:blipFill>
              <a:blip r:embed="rId5"/>
              <a:stretch>
                <a:fillRect l="-1102" t="-1102" r="-1100" b="-1100"/>
              </a:stretch>
            </a:blipFill>
          </p:spPr>
        </p:sp>
        <p:sp>
          <p:nvSpPr>
            <p:cNvPr name="Freeform 26" id="26"/>
            <p:cNvSpPr/>
            <p:nvPr/>
          </p:nvSpPr>
          <p:spPr>
            <a:xfrm flipH="false" flipV="false" rot="0">
              <a:off x="0" y="0"/>
              <a:ext cx="1176909" cy="1176909"/>
            </a:xfrm>
            <a:custGeom>
              <a:avLst/>
              <a:gdLst/>
              <a:ahLst/>
              <a:cxnLst/>
              <a:rect r="r" b="b" t="t" l="l"/>
              <a:pathLst>
                <a:path h="1176909" w="1176909">
                  <a:moveTo>
                    <a:pt x="12700" y="0"/>
                  </a:moveTo>
                  <a:lnTo>
                    <a:pt x="1164209" y="0"/>
                  </a:lnTo>
                  <a:cubicBezTo>
                    <a:pt x="1171194" y="0"/>
                    <a:pt x="1176909" y="5715"/>
                    <a:pt x="1176909" y="12700"/>
                  </a:cubicBezTo>
                  <a:lnTo>
                    <a:pt x="1176909" y="1164209"/>
                  </a:lnTo>
                  <a:cubicBezTo>
                    <a:pt x="1176909" y="1171194"/>
                    <a:pt x="1171194" y="1176909"/>
                    <a:pt x="1164209" y="1176909"/>
                  </a:cubicBezTo>
                  <a:lnTo>
                    <a:pt x="12700" y="1176909"/>
                  </a:lnTo>
                  <a:cubicBezTo>
                    <a:pt x="5715" y="1176909"/>
                    <a:pt x="0" y="1171194"/>
                    <a:pt x="0" y="1164209"/>
                  </a:cubicBezTo>
                  <a:lnTo>
                    <a:pt x="0" y="12700"/>
                  </a:lnTo>
                  <a:cubicBezTo>
                    <a:pt x="0" y="5715"/>
                    <a:pt x="5715" y="0"/>
                    <a:pt x="12700" y="0"/>
                  </a:cubicBezTo>
                  <a:moveTo>
                    <a:pt x="12700" y="25400"/>
                  </a:moveTo>
                  <a:lnTo>
                    <a:pt x="12700" y="12700"/>
                  </a:lnTo>
                  <a:lnTo>
                    <a:pt x="25400" y="12700"/>
                  </a:lnTo>
                  <a:lnTo>
                    <a:pt x="25400" y="1164209"/>
                  </a:lnTo>
                  <a:lnTo>
                    <a:pt x="12700" y="1164209"/>
                  </a:lnTo>
                  <a:lnTo>
                    <a:pt x="12700" y="1151509"/>
                  </a:lnTo>
                  <a:lnTo>
                    <a:pt x="1164209" y="1151509"/>
                  </a:lnTo>
                  <a:lnTo>
                    <a:pt x="1164209" y="1164209"/>
                  </a:lnTo>
                  <a:lnTo>
                    <a:pt x="1151509" y="1164209"/>
                  </a:lnTo>
                  <a:lnTo>
                    <a:pt x="1151509" y="12700"/>
                  </a:lnTo>
                  <a:lnTo>
                    <a:pt x="1164209" y="12700"/>
                  </a:lnTo>
                  <a:lnTo>
                    <a:pt x="1164209" y="25400"/>
                  </a:lnTo>
                  <a:lnTo>
                    <a:pt x="12700" y="25400"/>
                  </a:lnTo>
                  <a:close/>
                </a:path>
              </a:pathLst>
            </a:custGeom>
            <a:solidFill>
              <a:srgbClr val="FFFFFF"/>
            </a:solidFill>
          </p:spPr>
        </p:sp>
      </p:grpSp>
      <p:grpSp>
        <p:nvGrpSpPr>
          <p:cNvPr name="Group 27" id="27"/>
          <p:cNvGrpSpPr/>
          <p:nvPr/>
        </p:nvGrpSpPr>
        <p:grpSpPr>
          <a:xfrm rot="0">
            <a:off x="2768932" y="7871252"/>
            <a:ext cx="6974188" cy="1579720"/>
            <a:chOff x="0" y="0"/>
            <a:chExt cx="9298918" cy="2106294"/>
          </a:xfrm>
        </p:grpSpPr>
        <p:sp>
          <p:nvSpPr>
            <p:cNvPr name="Freeform 28" id="28"/>
            <p:cNvSpPr/>
            <p:nvPr/>
          </p:nvSpPr>
          <p:spPr>
            <a:xfrm flipH="false" flipV="false" rot="0">
              <a:off x="0" y="0"/>
              <a:ext cx="9298918" cy="2106294"/>
            </a:xfrm>
            <a:custGeom>
              <a:avLst/>
              <a:gdLst/>
              <a:ahLst/>
              <a:cxnLst/>
              <a:rect r="r" b="b" t="t" l="l"/>
              <a:pathLst>
                <a:path h="2106294" w="9298918">
                  <a:moveTo>
                    <a:pt x="0" y="0"/>
                  </a:moveTo>
                  <a:lnTo>
                    <a:pt x="9298918" y="0"/>
                  </a:lnTo>
                  <a:lnTo>
                    <a:pt x="9298918" y="2106294"/>
                  </a:lnTo>
                  <a:lnTo>
                    <a:pt x="0" y="2106294"/>
                  </a:lnTo>
                  <a:close/>
                </a:path>
              </a:pathLst>
            </a:custGeom>
            <a:solidFill>
              <a:srgbClr val="000000">
                <a:alpha val="0"/>
              </a:srgbClr>
            </a:solidFill>
          </p:spPr>
        </p:sp>
        <p:sp>
          <p:nvSpPr>
            <p:cNvPr name="TextBox 29" id="29"/>
            <p:cNvSpPr txBox="true"/>
            <p:nvPr/>
          </p:nvSpPr>
          <p:spPr>
            <a:xfrm>
              <a:off x="0" y="-9525"/>
              <a:ext cx="9298918" cy="2115819"/>
            </a:xfrm>
            <a:prstGeom prst="rect">
              <a:avLst/>
            </a:prstGeom>
          </p:spPr>
          <p:txBody>
            <a:bodyPr anchor="ctr" rtlCol="false" tIns="0" lIns="0" bIns="0" rIns="0"/>
            <a:lstStyle/>
            <a:p>
              <a:pPr algn="just">
                <a:lnSpc>
                  <a:spcPts val="3060"/>
                </a:lnSpc>
              </a:pPr>
              <a:r>
                <a:rPr lang="en-US" sz="2550">
                  <a:solidFill>
                    <a:srgbClr val="000000"/>
                  </a:solidFill>
                  <a:latin typeface="Arimo"/>
                  <a:ea typeface="Arimo"/>
                  <a:cs typeface="Arimo"/>
                  <a:sym typeface="Arimo"/>
                </a:rPr>
                <a:t>Documentar el diseño del software para facilitar la comunicación entre desarrolladores, diseñadores y stakeholders.</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3" id="3" descr="Diseño abstracto con líneas y símbolos financieros"/>
          <p:cNvSpPr/>
          <p:nvPr/>
        </p:nvSpPr>
        <p:spPr>
          <a:xfrm flipH="false" flipV="false" rot="0">
            <a:off x="30" y="15"/>
            <a:ext cx="7286806" cy="10286985"/>
          </a:xfrm>
          <a:custGeom>
            <a:avLst/>
            <a:gdLst/>
            <a:ahLst/>
            <a:cxnLst/>
            <a:rect r="r" b="b" t="t" l="l"/>
            <a:pathLst>
              <a:path h="10286985" w="7286806">
                <a:moveTo>
                  <a:pt x="0" y="0"/>
                </a:moveTo>
                <a:lnTo>
                  <a:pt x="7286806" y="0"/>
                </a:lnTo>
                <a:lnTo>
                  <a:pt x="7286806" y="10286985"/>
                </a:lnTo>
                <a:lnTo>
                  <a:pt x="0" y="10286985"/>
                </a:lnTo>
                <a:lnTo>
                  <a:pt x="0" y="0"/>
                </a:lnTo>
                <a:close/>
              </a:path>
            </a:pathLst>
          </a:custGeom>
          <a:blipFill>
            <a:blip r:embed="rId2"/>
            <a:stretch>
              <a:fillRect l="-55200" t="0" r="-57091" b="-153"/>
            </a:stretch>
          </a:blipFill>
        </p:spPr>
      </p:sp>
      <p:sp>
        <p:nvSpPr>
          <p:cNvPr name="TextBox 4" id="4"/>
          <p:cNvSpPr txBox="true"/>
          <p:nvPr/>
        </p:nvSpPr>
        <p:spPr>
          <a:xfrm rot="0">
            <a:off x="8390900" y="559873"/>
            <a:ext cx="8868400" cy="440690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Elementos de un Diagrama de Clases</a:t>
            </a:r>
          </a:p>
        </p:txBody>
      </p:sp>
      <p:sp>
        <p:nvSpPr>
          <p:cNvPr name="TextBox 5" id="5"/>
          <p:cNvSpPr txBox="true"/>
          <p:nvPr/>
        </p:nvSpPr>
        <p:spPr>
          <a:xfrm rot="0">
            <a:off x="8314208" y="5095883"/>
            <a:ext cx="7929431" cy="4880882"/>
          </a:xfrm>
          <a:prstGeom prst="rect">
            <a:avLst/>
          </a:prstGeom>
        </p:spPr>
        <p:txBody>
          <a:bodyPr anchor="t" rtlCol="false" tIns="0" lIns="0" bIns="0" rIns="0">
            <a:spAutoFit/>
          </a:bodyPr>
          <a:lstStyle/>
          <a:p>
            <a:pPr algn="l" marL="412625" indent="-206312" lvl="1">
              <a:lnSpc>
                <a:spcPts val="3009"/>
              </a:lnSpc>
              <a:buFont typeface="Arial"/>
              <a:buChar char="•"/>
            </a:pPr>
            <a:r>
              <a:rPr lang="en-US" sz="2280">
                <a:solidFill>
                  <a:srgbClr val="000000"/>
                </a:solidFill>
                <a:latin typeface="Arimo"/>
                <a:ea typeface="Arimo"/>
                <a:cs typeface="Arimo"/>
                <a:sym typeface="Arimo"/>
              </a:rPr>
              <a:t>Clase</a:t>
            </a:r>
          </a:p>
          <a:p>
            <a:pPr algn="l" marL="412625" indent="-206312" lvl="1">
              <a:lnSpc>
                <a:spcPts val="3009"/>
              </a:lnSpc>
              <a:buFont typeface="Arial"/>
              <a:buChar char="•"/>
            </a:pPr>
            <a:r>
              <a:rPr lang="en-US" sz="2280">
                <a:solidFill>
                  <a:srgbClr val="000000"/>
                </a:solidFill>
                <a:latin typeface="Arimo"/>
                <a:ea typeface="Arimo"/>
                <a:cs typeface="Arimo"/>
                <a:sym typeface="Arimo"/>
              </a:rPr>
              <a:t>Atributos</a:t>
            </a:r>
          </a:p>
          <a:p>
            <a:pPr algn="l" marL="412625" indent="-206312" lvl="1">
              <a:lnSpc>
                <a:spcPts val="3009"/>
              </a:lnSpc>
              <a:buFont typeface="Arial"/>
              <a:buChar char="•"/>
            </a:pPr>
            <a:r>
              <a:rPr lang="en-US" sz="2280">
                <a:solidFill>
                  <a:srgbClr val="000000"/>
                </a:solidFill>
                <a:latin typeface="Arimo"/>
                <a:ea typeface="Arimo"/>
                <a:cs typeface="Arimo"/>
                <a:sym typeface="Arimo"/>
              </a:rPr>
              <a:t>Métodos (Operaciones)</a:t>
            </a:r>
          </a:p>
          <a:p>
            <a:pPr algn="l" marL="412625" indent="-206312" lvl="1">
              <a:lnSpc>
                <a:spcPts val="3009"/>
              </a:lnSpc>
              <a:buFont typeface="Arial"/>
              <a:buChar char="•"/>
            </a:pPr>
            <a:r>
              <a:rPr lang="en-US" sz="2280">
                <a:solidFill>
                  <a:srgbClr val="000000"/>
                </a:solidFill>
                <a:latin typeface="Arimo"/>
                <a:ea typeface="Arimo"/>
                <a:cs typeface="Arimo"/>
                <a:sym typeface="Arimo"/>
              </a:rPr>
              <a:t>Relaciones entre clases</a:t>
            </a:r>
          </a:p>
          <a:p>
            <a:pPr algn="l" marL="412625" indent="-206312" lvl="1">
              <a:lnSpc>
                <a:spcPts val="3009"/>
              </a:lnSpc>
              <a:buFont typeface="Arial"/>
              <a:buChar char="•"/>
            </a:pPr>
            <a:r>
              <a:rPr lang="en-US" sz="2280">
                <a:solidFill>
                  <a:srgbClr val="000000"/>
                </a:solidFill>
                <a:latin typeface="Arimo"/>
                <a:ea typeface="Arimo"/>
                <a:cs typeface="Arimo"/>
                <a:sym typeface="Arimo"/>
              </a:rPr>
              <a:t>Agregación</a:t>
            </a:r>
          </a:p>
          <a:p>
            <a:pPr algn="l" marL="412625" indent="-206312" lvl="1">
              <a:lnSpc>
                <a:spcPts val="3009"/>
              </a:lnSpc>
              <a:buFont typeface="Arial"/>
              <a:buChar char="•"/>
            </a:pPr>
            <a:r>
              <a:rPr lang="en-US" sz="2280">
                <a:solidFill>
                  <a:srgbClr val="000000"/>
                </a:solidFill>
                <a:latin typeface="Arimo"/>
                <a:ea typeface="Arimo"/>
                <a:cs typeface="Arimo"/>
                <a:sym typeface="Arimo"/>
              </a:rPr>
              <a:t>Composición</a:t>
            </a:r>
          </a:p>
          <a:p>
            <a:pPr algn="l" marL="412625" indent="-206312" lvl="1">
              <a:lnSpc>
                <a:spcPts val="3009"/>
              </a:lnSpc>
              <a:buFont typeface="Arial"/>
              <a:buChar char="•"/>
            </a:pPr>
            <a:r>
              <a:rPr lang="en-US" sz="2280">
                <a:solidFill>
                  <a:srgbClr val="000000"/>
                </a:solidFill>
                <a:latin typeface="Arimo"/>
                <a:ea typeface="Arimo"/>
                <a:cs typeface="Arimo"/>
                <a:sym typeface="Arimo"/>
              </a:rPr>
              <a:t>Herencia</a:t>
            </a:r>
          </a:p>
          <a:p>
            <a:pPr algn="l" marL="412625" indent="-206312" lvl="1">
              <a:lnSpc>
                <a:spcPts val="3009"/>
              </a:lnSpc>
              <a:buFont typeface="Arial"/>
              <a:buChar char="•"/>
            </a:pPr>
            <a:r>
              <a:rPr lang="en-US" sz="2280">
                <a:solidFill>
                  <a:srgbClr val="000000"/>
                </a:solidFill>
                <a:latin typeface="Arimo"/>
                <a:ea typeface="Arimo"/>
                <a:cs typeface="Arimo"/>
                <a:sym typeface="Arimo"/>
              </a:rPr>
              <a:t>Dependencia</a:t>
            </a:r>
          </a:p>
          <a:p>
            <a:pPr algn="l" marL="412625" indent="-206312" lvl="1">
              <a:lnSpc>
                <a:spcPts val="3009"/>
              </a:lnSpc>
              <a:buFont typeface="Arial"/>
              <a:buChar char="•"/>
            </a:pPr>
            <a:r>
              <a:rPr lang="en-US" sz="2280">
                <a:solidFill>
                  <a:srgbClr val="000000"/>
                </a:solidFill>
                <a:latin typeface="Arimo"/>
                <a:ea typeface="Arimo"/>
                <a:cs typeface="Arimo"/>
                <a:sym typeface="Arimo"/>
              </a:rPr>
              <a:t>Realización (Implementación de Interfaces)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2054225"/>
            <a:ext cx="16153512"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Clase</a:t>
            </a:r>
          </a:p>
        </p:txBody>
      </p:sp>
      <p:sp>
        <p:nvSpPr>
          <p:cNvPr name="TextBox 4" id="4"/>
          <p:cNvSpPr txBox="true"/>
          <p:nvPr/>
        </p:nvSpPr>
        <p:spPr>
          <a:xfrm rot="0">
            <a:off x="10398034" y="2684145"/>
            <a:ext cx="6807037" cy="6717013"/>
          </a:xfrm>
          <a:prstGeom prst="rect">
            <a:avLst/>
          </a:prstGeom>
        </p:spPr>
        <p:txBody>
          <a:bodyPr anchor="t" rtlCol="false" tIns="0" lIns="0" bIns="0" rIns="0">
            <a:spAutoFit/>
          </a:bodyPr>
          <a:lstStyle/>
          <a:p>
            <a:pPr algn="just">
              <a:lnSpc>
                <a:spcPts val="3564"/>
              </a:lnSpc>
            </a:pPr>
            <a:r>
              <a:rPr lang="en-US" sz="2700">
                <a:solidFill>
                  <a:srgbClr val="000000"/>
                </a:solidFill>
                <a:latin typeface="Arimo"/>
                <a:ea typeface="Arimo"/>
                <a:cs typeface="Arimo"/>
                <a:sym typeface="Arimo"/>
              </a:rPr>
              <a:t>Una clase es la unidad básica en un diagrama de clases. Representa un conjunto de objetos que comparten atributos, operaciones, relaciones y semántica.</a:t>
            </a:r>
          </a:p>
          <a:p>
            <a:pPr algn="just">
              <a:lnSpc>
                <a:spcPts val="3564"/>
              </a:lnSpc>
            </a:pPr>
            <a:r>
              <a:rPr lang="en-US" sz="2700">
                <a:solidFill>
                  <a:srgbClr val="000000"/>
                </a:solidFill>
                <a:latin typeface="Arimo"/>
                <a:ea typeface="Arimo"/>
                <a:cs typeface="Arimo"/>
                <a:sym typeface="Arimo"/>
              </a:rPr>
              <a:t>Notación: Una clase se representa como un rectángulo dividido en tres secciones:</a:t>
            </a:r>
          </a:p>
          <a:p>
            <a:pPr algn="just" marL="488632" indent="-244316" lvl="1">
              <a:lnSpc>
                <a:spcPts val="3564"/>
              </a:lnSpc>
              <a:buFont typeface="Arial"/>
              <a:buChar char="•"/>
            </a:pPr>
            <a:r>
              <a:rPr lang="en-US" b="true" sz="2700">
                <a:solidFill>
                  <a:srgbClr val="000000"/>
                </a:solidFill>
                <a:latin typeface="Arimo Bold"/>
                <a:ea typeface="Arimo Bold"/>
                <a:cs typeface="Arimo Bold"/>
                <a:sym typeface="Arimo Bold"/>
              </a:rPr>
              <a:t>Nombre de la clase</a:t>
            </a:r>
          </a:p>
          <a:p>
            <a:pPr algn="just" marL="886396" indent="-295466" lvl="2">
              <a:lnSpc>
                <a:spcPts val="3564"/>
              </a:lnSpc>
              <a:buFont typeface="Arial"/>
              <a:buChar char="⚬"/>
            </a:pPr>
            <a:r>
              <a:rPr lang="en-US" sz="2700">
                <a:solidFill>
                  <a:srgbClr val="000000"/>
                </a:solidFill>
                <a:latin typeface="Arimo"/>
                <a:ea typeface="Arimo"/>
                <a:cs typeface="Arimo"/>
                <a:sym typeface="Arimo"/>
              </a:rPr>
              <a:t>Parte superior (obligatoria).</a:t>
            </a:r>
          </a:p>
          <a:p>
            <a:pPr algn="just" marL="488632" indent="-244316" lvl="1">
              <a:lnSpc>
                <a:spcPts val="3564"/>
              </a:lnSpc>
              <a:buFont typeface="Arial"/>
              <a:buChar char="•"/>
            </a:pPr>
            <a:r>
              <a:rPr lang="en-US" b="true" sz="2700">
                <a:solidFill>
                  <a:srgbClr val="000000"/>
                </a:solidFill>
                <a:latin typeface="Arimo Bold"/>
                <a:ea typeface="Arimo Bold"/>
                <a:cs typeface="Arimo Bold"/>
                <a:sym typeface="Arimo Bold"/>
              </a:rPr>
              <a:t>Atributos</a:t>
            </a:r>
          </a:p>
          <a:p>
            <a:pPr algn="just" marL="886396" indent="-295466" lvl="2">
              <a:lnSpc>
                <a:spcPts val="3564"/>
              </a:lnSpc>
              <a:buFont typeface="Arial"/>
              <a:buChar char="⚬"/>
            </a:pPr>
            <a:r>
              <a:rPr lang="en-US" sz="2700">
                <a:solidFill>
                  <a:srgbClr val="000000"/>
                </a:solidFill>
                <a:latin typeface="Arimo"/>
                <a:ea typeface="Arimo"/>
                <a:cs typeface="Arimo"/>
                <a:sym typeface="Arimo"/>
              </a:rPr>
              <a:t>Parte media (opcional).</a:t>
            </a:r>
          </a:p>
          <a:p>
            <a:pPr algn="just" marL="488632" indent="-244316" lvl="1">
              <a:lnSpc>
                <a:spcPts val="3564"/>
              </a:lnSpc>
              <a:buFont typeface="Arial"/>
              <a:buChar char="•"/>
            </a:pPr>
            <a:r>
              <a:rPr lang="en-US" b="true" sz="2700">
                <a:solidFill>
                  <a:srgbClr val="000000"/>
                </a:solidFill>
                <a:latin typeface="Arimo Bold"/>
                <a:ea typeface="Arimo Bold"/>
                <a:cs typeface="Arimo Bold"/>
                <a:sym typeface="Arimo Bold"/>
              </a:rPr>
              <a:t>Métodos (operaciones)</a:t>
            </a:r>
          </a:p>
          <a:p>
            <a:pPr algn="just" marL="886396" indent="-295466" lvl="2">
              <a:lnSpc>
                <a:spcPts val="3564"/>
              </a:lnSpc>
              <a:buFont typeface="Arial"/>
              <a:buChar char="⚬"/>
            </a:pPr>
            <a:r>
              <a:rPr lang="en-US" sz="2700">
                <a:solidFill>
                  <a:srgbClr val="000000"/>
                </a:solidFill>
                <a:latin typeface="Arimo"/>
                <a:ea typeface="Arimo"/>
                <a:cs typeface="Arimo"/>
                <a:sym typeface="Arimo"/>
              </a:rPr>
              <a:t>Parte inferior (opcional).</a:t>
            </a:r>
          </a:p>
        </p:txBody>
      </p:sp>
      <p:sp>
        <p:nvSpPr>
          <p:cNvPr name="AutoShape 5" id="5"/>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6" id="6"/>
          <p:cNvSpPr/>
          <p:nvPr/>
        </p:nvSpPr>
        <p:spPr>
          <a:xfrm flipH="false" flipV="false" rot="0">
            <a:off x="1069848" y="4299963"/>
            <a:ext cx="8472290" cy="5146914"/>
          </a:xfrm>
          <a:custGeom>
            <a:avLst/>
            <a:gdLst/>
            <a:ahLst/>
            <a:cxnLst/>
            <a:rect r="r" b="b" t="t" l="l"/>
            <a:pathLst>
              <a:path h="5146914" w="8472290">
                <a:moveTo>
                  <a:pt x="0" y="0"/>
                </a:moveTo>
                <a:lnTo>
                  <a:pt x="8472290" y="0"/>
                </a:lnTo>
                <a:lnTo>
                  <a:pt x="8472290" y="5146914"/>
                </a:lnTo>
                <a:lnTo>
                  <a:pt x="0" y="5146914"/>
                </a:lnTo>
                <a:lnTo>
                  <a:pt x="0" y="0"/>
                </a:lnTo>
                <a:close/>
              </a:path>
            </a:pathLst>
          </a:custGeom>
          <a:blipFill>
            <a:blip r:embed="rId2"/>
            <a:stretch>
              <a:fillRect l="-47" t="0" r="-47"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59" y="2148524"/>
            <a:ext cx="16153514"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Tipos de Clases</a:t>
            </a:r>
          </a:p>
        </p:txBody>
      </p:sp>
      <p:grpSp>
        <p:nvGrpSpPr>
          <p:cNvPr name="Group 4" id="4"/>
          <p:cNvGrpSpPr/>
          <p:nvPr/>
        </p:nvGrpSpPr>
        <p:grpSpPr>
          <a:xfrm rot="0">
            <a:off x="960120" y="3950860"/>
            <a:ext cx="16336392" cy="1527981"/>
            <a:chOff x="0" y="0"/>
            <a:chExt cx="21781856" cy="2037308"/>
          </a:xfrm>
        </p:grpSpPr>
        <p:sp>
          <p:nvSpPr>
            <p:cNvPr name="Freeform 5" id="5"/>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6" id="6"/>
          <p:cNvGrpSpPr/>
          <p:nvPr/>
        </p:nvGrpSpPr>
        <p:grpSpPr>
          <a:xfrm rot="0">
            <a:off x="1412808" y="4285131"/>
            <a:ext cx="859438" cy="859438"/>
            <a:chOff x="0" y="0"/>
            <a:chExt cx="1145918" cy="1145918"/>
          </a:xfrm>
        </p:grpSpPr>
        <p:sp>
          <p:nvSpPr>
            <p:cNvPr name="Freeform 7" id="7"/>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2"/>
              <a:stretch>
                <a:fillRect l="-1133" t="-1133" r="-1133" b="-1133"/>
              </a:stretch>
            </a:blipFill>
          </p:spPr>
        </p:sp>
        <p:sp>
          <p:nvSpPr>
            <p:cNvPr name="Freeform 8" id="8"/>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9" id="9"/>
          <p:cNvGrpSpPr/>
          <p:nvPr/>
        </p:nvGrpSpPr>
        <p:grpSpPr>
          <a:xfrm rot="0">
            <a:off x="2720175" y="3946098"/>
            <a:ext cx="7360900" cy="1537506"/>
            <a:chOff x="0" y="0"/>
            <a:chExt cx="9814534" cy="2050008"/>
          </a:xfrm>
        </p:grpSpPr>
        <p:sp>
          <p:nvSpPr>
            <p:cNvPr name="Freeform 10" id="10"/>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11" id="11"/>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Clase abstracta</a:t>
              </a:r>
            </a:p>
          </p:txBody>
        </p:sp>
      </p:grpSp>
      <p:grpSp>
        <p:nvGrpSpPr>
          <p:cNvPr name="Group 12" id="12"/>
          <p:cNvGrpSpPr/>
          <p:nvPr/>
        </p:nvGrpSpPr>
        <p:grpSpPr>
          <a:xfrm rot="0">
            <a:off x="10071552" y="3946098"/>
            <a:ext cx="7229721" cy="1537506"/>
            <a:chOff x="0" y="0"/>
            <a:chExt cx="9639628" cy="2050008"/>
          </a:xfrm>
        </p:grpSpPr>
        <p:sp>
          <p:nvSpPr>
            <p:cNvPr name="Freeform 13" id="13"/>
            <p:cNvSpPr/>
            <p:nvPr/>
          </p:nvSpPr>
          <p:spPr>
            <a:xfrm flipH="false" flipV="false" rot="0">
              <a:off x="0" y="0"/>
              <a:ext cx="9639628" cy="2050008"/>
            </a:xfrm>
            <a:custGeom>
              <a:avLst/>
              <a:gdLst/>
              <a:ahLst/>
              <a:cxnLst/>
              <a:rect r="r" b="b" t="t" l="l"/>
              <a:pathLst>
                <a:path h="2050008" w="9639628">
                  <a:moveTo>
                    <a:pt x="0" y="0"/>
                  </a:moveTo>
                  <a:lnTo>
                    <a:pt x="9639628" y="0"/>
                  </a:lnTo>
                  <a:lnTo>
                    <a:pt x="9639628" y="2050008"/>
                  </a:lnTo>
                  <a:lnTo>
                    <a:pt x="0" y="2050008"/>
                  </a:lnTo>
                  <a:close/>
                </a:path>
              </a:pathLst>
            </a:custGeom>
            <a:solidFill>
              <a:srgbClr val="000000">
                <a:alpha val="0"/>
              </a:srgbClr>
            </a:solidFill>
          </p:spPr>
        </p:sp>
        <p:sp>
          <p:nvSpPr>
            <p:cNvPr name="TextBox 14" id="14"/>
            <p:cNvSpPr txBox="true"/>
            <p:nvPr/>
          </p:nvSpPr>
          <p:spPr>
            <a:xfrm>
              <a:off x="0" y="-9525"/>
              <a:ext cx="9639628" cy="2059533"/>
            </a:xfrm>
            <a:prstGeom prst="rect">
              <a:avLst/>
            </a:prstGeom>
          </p:spPr>
          <p:txBody>
            <a:bodyPr anchor="ctr" rtlCol="false" tIns="0" lIns="0" bIns="0" rIns="0"/>
            <a:lstStyle/>
            <a:p>
              <a:pPr algn="l">
                <a:lnSpc>
                  <a:spcPts val="2520"/>
                </a:lnSpc>
              </a:pPr>
              <a:r>
                <a:rPr lang="en-US" sz="2100">
                  <a:solidFill>
                    <a:srgbClr val="000000"/>
                  </a:solidFill>
                  <a:latin typeface="Arimo"/>
                  <a:ea typeface="Arimo"/>
                  <a:cs typeface="Arimo"/>
                  <a:sym typeface="Arimo"/>
                </a:rPr>
                <a:t>No se puede instanciar directamente.</a:t>
              </a:r>
            </a:p>
            <a:p>
              <a:pPr algn="l">
                <a:lnSpc>
                  <a:spcPts val="2520"/>
                </a:lnSpc>
              </a:pPr>
              <a:r>
                <a:rPr lang="en-US" sz="2100">
                  <a:solidFill>
                    <a:srgbClr val="000000"/>
                  </a:solidFill>
                  <a:latin typeface="Arimo"/>
                  <a:ea typeface="Arimo"/>
                  <a:cs typeface="Arimo"/>
                  <a:sym typeface="Arimo"/>
                </a:rPr>
                <a:t>Se usa como base para otras clases.</a:t>
              </a:r>
            </a:p>
            <a:p>
              <a:pPr algn="l">
                <a:lnSpc>
                  <a:spcPts val="2520"/>
                </a:lnSpc>
              </a:pPr>
              <a:r>
                <a:rPr lang="en-US" sz="2100">
                  <a:solidFill>
                    <a:srgbClr val="000000"/>
                  </a:solidFill>
                  <a:latin typeface="Arimo"/>
                  <a:ea typeface="Arimo"/>
                  <a:cs typeface="Arimo"/>
                  <a:sym typeface="Arimo"/>
                </a:rPr>
                <a:t>Se denota con el nombre en cursiva.</a:t>
              </a:r>
            </a:p>
          </p:txBody>
        </p:sp>
      </p:grpSp>
      <p:grpSp>
        <p:nvGrpSpPr>
          <p:cNvPr name="Group 15" id="15"/>
          <p:cNvGrpSpPr/>
          <p:nvPr/>
        </p:nvGrpSpPr>
        <p:grpSpPr>
          <a:xfrm rot="0">
            <a:off x="960120" y="5860836"/>
            <a:ext cx="16336392" cy="1527981"/>
            <a:chOff x="0" y="0"/>
            <a:chExt cx="21781856" cy="2037308"/>
          </a:xfrm>
        </p:grpSpPr>
        <p:sp>
          <p:nvSpPr>
            <p:cNvPr name="Freeform 16" id="16"/>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17" id="17"/>
          <p:cNvGrpSpPr/>
          <p:nvPr/>
        </p:nvGrpSpPr>
        <p:grpSpPr>
          <a:xfrm rot="0">
            <a:off x="1412808" y="6195108"/>
            <a:ext cx="859438" cy="859439"/>
            <a:chOff x="0" y="0"/>
            <a:chExt cx="1145918" cy="1145918"/>
          </a:xfrm>
        </p:grpSpPr>
        <p:sp>
          <p:nvSpPr>
            <p:cNvPr name="Freeform 18" id="18"/>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3"/>
              <a:stretch>
                <a:fillRect l="-1133" t="-1133" r="-1133" b="-1133"/>
              </a:stretch>
            </a:blipFill>
          </p:spPr>
        </p:sp>
        <p:sp>
          <p:nvSpPr>
            <p:cNvPr name="Freeform 19" id="19"/>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20" id="20"/>
          <p:cNvGrpSpPr/>
          <p:nvPr/>
        </p:nvGrpSpPr>
        <p:grpSpPr>
          <a:xfrm rot="0">
            <a:off x="2720175" y="5856074"/>
            <a:ext cx="7360900" cy="1537506"/>
            <a:chOff x="0" y="0"/>
            <a:chExt cx="9814534" cy="2050008"/>
          </a:xfrm>
        </p:grpSpPr>
        <p:sp>
          <p:nvSpPr>
            <p:cNvPr name="Freeform 21" id="21"/>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22" id="22"/>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Clase concreta</a:t>
              </a:r>
            </a:p>
          </p:txBody>
        </p:sp>
      </p:grpSp>
      <p:grpSp>
        <p:nvGrpSpPr>
          <p:cNvPr name="Group 23" id="23"/>
          <p:cNvGrpSpPr/>
          <p:nvPr/>
        </p:nvGrpSpPr>
        <p:grpSpPr>
          <a:xfrm rot="0">
            <a:off x="10071552" y="5856074"/>
            <a:ext cx="7229721" cy="1537506"/>
            <a:chOff x="0" y="0"/>
            <a:chExt cx="9639628" cy="2050008"/>
          </a:xfrm>
        </p:grpSpPr>
        <p:sp>
          <p:nvSpPr>
            <p:cNvPr name="Freeform 24" id="24"/>
            <p:cNvSpPr/>
            <p:nvPr/>
          </p:nvSpPr>
          <p:spPr>
            <a:xfrm flipH="false" flipV="false" rot="0">
              <a:off x="0" y="0"/>
              <a:ext cx="9639628" cy="2050008"/>
            </a:xfrm>
            <a:custGeom>
              <a:avLst/>
              <a:gdLst/>
              <a:ahLst/>
              <a:cxnLst/>
              <a:rect r="r" b="b" t="t" l="l"/>
              <a:pathLst>
                <a:path h="2050008" w="9639628">
                  <a:moveTo>
                    <a:pt x="0" y="0"/>
                  </a:moveTo>
                  <a:lnTo>
                    <a:pt x="9639628" y="0"/>
                  </a:lnTo>
                  <a:lnTo>
                    <a:pt x="9639628" y="2050008"/>
                  </a:lnTo>
                  <a:lnTo>
                    <a:pt x="0" y="2050008"/>
                  </a:lnTo>
                  <a:close/>
                </a:path>
              </a:pathLst>
            </a:custGeom>
            <a:solidFill>
              <a:srgbClr val="000000">
                <a:alpha val="0"/>
              </a:srgbClr>
            </a:solidFill>
          </p:spPr>
        </p:sp>
        <p:sp>
          <p:nvSpPr>
            <p:cNvPr name="TextBox 25" id="25"/>
            <p:cNvSpPr txBox="true"/>
            <p:nvPr/>
          </p:nvSpPr>
          <p:spPr>
            <a:xfrm>
              <a:off x="0" y="-9525"/>
              <a:ext cx="9639628" cy="2059533"/>
            </a:xfrm>
            <a:prstGeom prst="rect">
              <a:avLst/>
            </a:prstGeom>
          </p:spPr>
          <p:txBody>
            <a:bodyPr anchor="ctr" rtlCol="false" tIns="0" lIns="0" bIns="0" rIns="0"/>
            <a:lstStyle/>
            <a:p>
              <a:pPr algn="l">
                <a:lnSpc>
                  <a:spcPts val="2520"/>
                </a:lnSpc>
              </a:pPr>
              <a:r>
                <a:rPr lang="en-US" sz="2100">
                  <a:solidFill>
                    <a:srgbClr val="000000"/>
                  </a:solidFill>
                  <a:latin typeface="Arimo"/>
                  <a:ea typeface="Arimo"/>
                  <a:cs typeface="Arimo"/>
                  <a:sym typeface="Arimo"/>
                </a:rPr>
                <a:t>Puede ser instanciada.</a:t>
              </a:r>
            </a:p>
          </p:txBody>
        </p:sp>
      </p:grpSp>
      <p:grpSp>
        <p:nvGrpSpPr>
          <p:cNvPr name="Group 26" id="26"/>
          <p:cNvGrpSpPr/>
          <p:nvPr/>
        </p:nvGrpSpPr>
        <p:grpSpPr>
          <a:xfrm rot="0">
            <a:off x="960120" y="7770813"/>
            <a:ext cx="16336392" cy="1527981"/>
            <a:chOff x="0" y="0"/>
            <a:chExt cx="21781856" cy="2037308"/>
          </a:xfrm>
        </p:grpSpPr>
        <p:sp>
          <p:nvSpPr>
            <p:cNvPr name="Freeform 27" id="27"/>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28" id="28"/>
          <p:cNvGrpSpPr/>
          <p:nvPr/>
        </p:nvGrpSpPr>
        <p:grpSpPr>
          <a:xfrm rot="0">
            <a:off x="1412808" y="8105084"/>
            <a:ext cx="859438" cy="859439"/>
            <a:chOff x="0" y="0"/>
            <a:chExt cx="1145918" cy="1145918"/>
          </a:xfrm>
        </p:grpSpPr>
        <p:sp>
          <p:nvSpPr>
            <p:cNvPr name="Freeform 29" id="29"/>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4"/>
              <a:stretch>
                <a:fillRect l="-1133" t="-1133" r="-1133" b="-1133"/>
              </a:stretch>
            </a:blipFill>
          </p:spPr>
        </p:sp>
        <p:sp>
          <p:nvSpPr>
            <p:cNvPr name="Freeform 30" id="30"/>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31" id="31"/>
          <p:cNvGrpSpPr/>
          <p:nvPr/>
        </p:nvGrpSpPr>
        <p:grpSpPr>
          <a:xfrm rot="0">
            <a:off x="2720175" y="7766051"/>
            <a:ext cx="7360900" cy="1537506"/>
            <a:chOff x="0" y="0"/>
            <a:chExt cx="9814534" cy="2050008"/>
          </a:xfrm>
        </p:grpSpPr>
        <p:sp>
          <p:nvSpPr>
            <p:cNvPr name="Freeform 32" id="32"/>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33" id="33"/>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Interfaz</a:t>
              </a:r>
            </a:p>
          </p:txBody>
        </p:sp>
      </p:grpSp>
      <p:grpSp>
        <p:nvGrpSpPr>
          <p:cNvPr name="Group 34" id="34"/>
          <p:cNvGrpSpPr/>
          <p:nvPr/>
        </p:nvGrpSpPr>
        <p:grpSpPr>
          <a:xfrm rot="0">
            <a:off x="10071552" y="7766051"/>
            <a:ext cx="7229721" cy="1537506"/>
            <a:chOff x="0" y="0"/>
            <a:chExt cx="9639628" cy="2050008"/>
          </a:xfrm>
        </p:grpSpPr>
        <p:sp>
          <p:nvSpPr>
            <p:cNvPr name="Freeform 35" id="35"/>
            <p:cNvSpPr/>
            <p:nvPr/>
          </p:nvSpPr>
          <p:spPr>
            <a:xfrm flipH="false" flipV="false" rot="0">
              <a:off x="0" y="0"/>
              <a:ext cx="9639628" cy="2050008"/>
            </a:xfrm>
            <a:custGeom>
              <a:avLst/>
              <a:gdLst/>
              <a:ahLst/>
              <a:cxnLst/>
              <a:rect r="r" b="b" t="t" l="l"/>
              <a:pathLst>
                <a:path h="2050008" w="9639628">
                  <a:moveTo>
                    <a:pt x="0" y="0"/>
                  </a:moveTo>
                  <a:lnTo>
                    <a:pt x="9639628" y="0"/>
                  </a:lnTo>
                  <a:lnTo>
                    <a:pt x="9639628" y="2050008"/>
                  </a:lnTo>
                  <a:lnTo>
                    <a:pt x="0" y="2050008"/>
                  </a:lnTo>
                  <a:close/>
                </a:path>
              </a:pathLst>
            </a:custGeom>
            <a:solidFill>
              <a:srgbClr val="000000">
                <a:alpha val="0"/>
              </a:srgbClr>
            </a:solidFill>
          </p:spPr>
        </p:sp>
        <p:sp>
          <p:nvSpPr>
            <p:cNvPr name="TextBox 36" id="36"/>
            <p:cNvSpPr txBox="true"/>
            <p:nvPr/>
          </p:nvSpPr>
          <p:spPr>
            <a:xfrm>
              <a:off x="0" y="-9525"/>
              <a:ext cx="9639628" cy="2059533"/>
            </a:xfrm>
            <a:prstGeom prst="rect">
              <a:avLst/>
            </a:prstGeom>
          </p:spPr>
          <p:txBody>
            <a:bodyPr anchor="ctr" rtlCol="false" tIns="0" lIns="0" bIns="0" rIns="0"/>
            <a:lstStyle/>
            <a:p>
              <a:pPr algn="l">
                <a:lnSpc>
                  <a:spcPts val="2520"/>
                </a:lnSpc>
              </a:pPr>
              <a:r>
                <a:rPr lang="en-US" sz="2100">
                  <a:solidFill>
                    <a:srgbClr val="000000"/>
                  </a:solidFill>
                  <a:latin typeface="Arimo"/>
                  <a:ea typeface="Arimo"/>
                  <a:cs typeface="Arimo"/>
                  <a:sym typeface="Arimo"/>
                </a:rPr>
                <a:t>Define un contrato que otras clases deben implementar.</a:t>
              </a:r>
            </a:p>
            <a:p>
              <a:pPr algn="l">
                <a:lnSpc>
                  <a:spcPts val="2520"/>
                </a:lnSpc>
              </a:pPr>
              <a:r>
                <a:rPr lang="en-US" sz="2100">
                  <a:solidFill>
                    <a:srgbClr val="000000"/>
                  </a:solidFill>
                  <a:latin typeface="Arimo"/>
                  <a:ea typeface="Arimo"/>
                  <a:cs typeface="Arimo"/>
                  <a:sym typeface="Arimo"/>
                </a:rPr>
                <a:t>Se denota con la palabra clave &lt;&lt;interface&gt;&gt;.</a:t>
              </a:r>
            </a:p>
          </p:txBody>
        </p:sp>
      </p:gr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59" y="2148524"/>
            <a:ext cx="16153514"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Atributos</a:t>
            </a:r>
          </a:p>
        </p:txBody>
      </p:sp>
      <p:grpSp>
        <p:nvGrpSpPr>
          <p:cNvPr name="Group 4" id="4"/>
          <p:cNvGrpSpPr/>
          <p:nvPr/>
        </p:nvGrpSpPr>
        <p:grpSpPr>
          <a:xfrm rot="5400000">
            <a:off x="148210" y="4743068"/>
            <a:ext cx="5368290" cy="3763518"/>
            <a:chOff x="0" y="0"/>
            <a:chExt cx="7157720" cy="5018024"/>
          </a:xfrm>
        </p:grpSpPr>
        <p:sp>
          <p:nvSpPr>
            <p:cNvPr name="Freeform 5" id="5"/>
            <p:cNvSpPr/>
            <p:nvPr/>
          </p:nvSpPr>
          <p:spPr>
            <a:xfrm flipH="false" flipV="false" rot="0">
              <a:off x="12700" y="12700"/>
              <a:ext cx="7132320" cy="4992624"/>
            </a:xfrm>
            <a:custGeom>
              <a:avLst/>
              <a:gdLst/>
              <a:ahLst/>
              <a:cxnLst/>
              <a:rect r="r" b="b" t="t" l="l"/>
              <a:pathLst>
                <a:path h="4992624" w="7132320">
                  <a:moveTo>
                    <a:pt x="0" y="0"/>
                  </a:moveTo>
                  <a:lnTo>
                    <a:pt x="4632198" y="0"/>
                  </a:lnTo>
                  <a:lnTo>
                    <a:pt x="7132320" y="2496312"/>
                  </a:lnTo>
                  <a:lnTo>
                    <a:pt x="4632198" y="4992624"/>
                  </a:lnTo>
                  <a:lnTo>
                    <a:pt x="0" y="4992624"/>
                  </a:lnTo>
                  <a:lnTo>
                    <a:pt x="2500122" y="2496312"/>
                  </a:lnTo>
                  <a:close/>
                </a:path>
              </a:pathLst>
            </a:custGeom>
            <a:solidFill>
              <a:srgbClr val="4D64C3"/>
            </a:solidFill>
          </p:spPr>
        </p:sp>
        <p:sp>
          <p:nvSpPr>
            <p:cNvPr name="Freeform 6" id="6"/>
            <p:cNvSpPr/>
            <p:nvPr/>
          </p:nvSpPr>
          <p:spPr>
            <a:xfrm flipH="false" flipV="false" rot="0">
              <a:off x="-1016" y="0"/>
              <a:ext cx="7158736" cy="5018024"/>
            </a:xfrm>
            <a:custGeom>
              <a:avLst/>
              <a:gdLst/>
              <a:ahLst/>
              <a:cxnLst/>
              <a:rect r="r" b="b" t="t" l="l"/>
              <a:pathLst>
                <a:path h="5018024" w="7158736">
                  <a:moveTo>
                    <a:pt x="13716" y="0"/>
                  </a:moveTo>
                  <a:lnTo>
                    <a:pt x="4645914" y="0"/>
                  </a:lnTo>
                  <a:cubicBezTo>
                    <a:pt x="4649216" y="0"/>
                    <a:pt x="4652518" y="1397"/>
                    <a:pt x="4654931" y="3683"/>
                  </a:cubicBezTo>
                  <a:lnTo>
                    <a:pt x="7155053" y="2499995"/>
                  </a:lnTo>
                  <a:cubicBezTo>
                    <a:pt x="7157466" y="2502408"/>
                    <a:pt x="7158736" y="2505583"/>
                    <a:pt x="7158736" y="2509012"/>
                  </a:cubicBezTo>
                  <a:cubicBezTo>
                    <a:pt x="7158736" y="2512441"/>
                    <a:pt x="7157339" y="2515616"/>
                    <a:pt x="7155053" y="2518029"/>
                  </a:cubicBezTo>
                  <a:lnTo>
                    <a:pt x="4654931" y="5014341"/>
                  </a:lnTo>
                  <a:cubicBezTo>
                    <a:pt x="4652518" y="5016754"/>
                    <a:pt x="4649343" y="5018024"/>
                    <a:pt x="4645914" y="5018024"/>
                  </a:cubicBezTo>
                  <a:lnTo>
                    <a:pt x="13716" y="5018024"/>
                  </a:lnTo>
                  <a:cubicBezTo>
                    <a:pt x="8636" y="5018024"/>
                    <a:pt x="3937" y="5014976"/>
                    <a:pt x="2032" y="5010150"/>
                  </a:cubicBezTo>
                  <a:cubicBezTo>
                    <a:pt x="127" y="5005324"/>
                    <a:pt x="1143" y="4999990"/>
                    <a:pt x="4826" y="4996307"/>
                  </a:cubicBezTo>
                  <a:lnTo>
                    <a:pt x="2504821" y="2499995"/>
                  </a:lnTo>
                  <a:lnTo>
                    <a:pt x="2513838" y="2509012"/>
                  </a:lnTo>
                  <a:lnTo>
                    <a:pt x="2504821" y="2518029"/>
                  </a:lnTo>
                  <a:lnTo>
                    <a:pt x="4699" y="21717"/>
                  </a:lnTo>
                  <a:cubicBezTo>
                    <a:pt x="1143" y="18034"/>
                    <a:pt x="0" y="12573"/>
                    <a:pt x="2032" y="7874"/>
                  </a:cubicBezTo>
                  <a:cubicBezTo>
                    <a:pt x="4064" y="3175"/>
                    <a:pt x="8636" y="0"/>
                    <a:pt x="13716" y="0"/>
                  </a:cubicBezTo>
                  <a:moveTo>
                    <a:pt x="13716" y="25400"/>
                  </a:moveTo>
                  <a:lnTo>
                    <a:pt x="13716" y="12700"/>
                  </a:lnTo>
                  <a:lnTo>
                    <a:pt x="22733" y="3683"/>
                  </a:lnTo>
                  <a:lnTo>
                    <a:pt x="2522855" y="2499995"/>
                  </a:lnTo>
                  <a:cubicBezTo>
                    <a:pt x="2525268" y="2502408"/>
                    <a:pt x="2526538" y="2505583"/>
                    <a:pt x="2526538" y="2509012"/>
                  </a:cubicBezTo>
                  <a:cubicBezTo>
                    <a:pt x="2526538" y="2512441"/>
                    <a:pt x="2525141" y="2515616"/>
                    <a:pt x="2522855" y="2518029"/>
                  </a:cubicBezTo>
                  <a:lnTo>
                    <a:pt x="22733" y="5014341"/>
                  </a:lnTo>
                  <a:lnTo>
                    <a:pt x="13716" y="5005324"/>
                  </a:lnTo>
                  <a:lnTo>
                    <a:pt x="13716" y="4992624"/>
                  </a:lnTo>
                  <a:lnTo>
                    <a:pt x="4645914" y="4992624"/>
                  </a:lnTo>
                  <a:lnTo>
                    <a:pt x="4645914" y="5005324"/>
                  </a:lnTo>
                  <a:lnTo>
                    <a:pt x="4636897" y="4996307"/>
                  </a:lnTo>
                  <a:lnTo>
                    <a:pt x="7137019" y="2499995"/>
                  </a:lnTo>
                  <a:lnTo>
                    <a:pt x="7146036" y="2509012"/>
                  </a:lnTo>
                  <a:lnTo>
                    <a:pt x="7137019" y="2518029"/>
                  </a:lnTo>
                  <a:lnTo>
                    <a:pt x="4636897" y="21717"/>
                  </a:lnTo>
                  <a:lnTo>
                    <a:pt x="4645914" y="12700"/>
                  </a:lnTo>
                  <a:lnTo>
                    <a:pt x="4645914" y="25400"/>
                  </a:lnTo>
                  <a:lnTo>
                    <a:pt x="13716" y="25400"/>
                  </a:lnTo>
                  <a:close/>
                </a:path>
              </a:pathLst>
            </a:custGeom>
            <a:solidFill>
              <a:srgbClr val="4D64C3"/>
            </a:solidFill>
          </p:spPr>
        </p:sp>
      </p:grpSp>
      <p:grpSp>
        <p:nvGrpSpPr>
          <p:cNvPr name="Group 7" id="7"/>
          <p:cNvGrpSpPr/>
          <p:nvPr/>
        </p:nvGrpSpPr>
        <p:grpSpPr>
          <a:xfrm rot="0">
            <a:off x="950596" y="5812916"/>
            <a:ext cx="3763518" cy="1623822"/>
            <a:chOff x="0" y="0"/>
            <a:chExt cx="5018024" cy="2165096"/>
          </a:xfrm>
        </p:grpSpPr>
        <p:sp>
          <p:nvSpPr>
            <p:cNvPr name="Freeform 8" id="8"/>
            <p:cNvSpPr/>
            <p:nvPr/>
          </p:nvSpPr>
          <p:spPr>
            <a:xfrm flipH="false" flipV="false" rot="0">
              <a:off x="0" y="0"/>
              <a:ext cx="5018024" cy="2165096"/>
            </a:xfrm>
            <a:custGeom>
              <a:avLst/>
              <a:gdLst/>
              <a:ahLst/>
              <a:cxnLst/>
              <a:rect r="r" b="b" t="t" l="l"/>
              <a:pathLst>
                <a:path h="2165096" w="5018024">
                  <a:moveTo>
                    <a:pt x="0" y="0"/>
                  </a:moveTo>
                  <a:lnTo>
                    <a:pt x="5018024" y="0"/>
                  </a:lnTo>
                  <a:lnTo>
                    <a:pt x="5018024" y="2165096"/>
                  </a:lnTo>
                  <a:lnTo>
                    <a:pt x="0" y="2165096"/>
                  </a:lnTo>
                  <a:close/>
                </a:path>
              </a:pathLst>
            </a:custGeom>
            <a:solidFill>
              <a:srgbClr val="000000">
                <a:alpha val="0"/>
              </a:srgbClr>
            </a:solidFill>
          </p:spPr>
        </p:sp>
        <p:sp>
          <p:nvSpPr>
            <p:cNvPr name="TextBox 9" id="9"/>
            <p:cNvSpPr txBox="true"/>
            <p:nvPr/>
          </p:nvSpPr>
          <p:spPr>
            <a:xfrm>
              <a:off x="0" y="19050"/>
              <a:ext cx="5018024" cy="2146046"/>
            </a:xfrm>
            <a:prstGeom prst="rect">
              <a:avLst/>
            </a:prstGeom>
          </p:spPr>
          <p:txBody>
            <a:bodyPr anchor="ctr" rtlCol="false" tIns="0" lIns="0" bIns="0" rIns="0"/>
            <a:lstStyle/>
            <a:p>
              <a:pPr algn="ctr">
                <a:lnSpc>
                  <a:spcPts val="2754"/>
                </a:lnSpc>
              </a:pPr>
              <a:r>
                <a:rPr lang="en-US" sz="2550">
                  <a:solidFill>
                    <a:srgbClr val="FFFFFF"/>
                  </a:solidFill>
                  <a:latin typeface="Arimo"/>
                  <a:ea typeface="Arimo"/>
                  <a:cs typeface="Arimo"/>
                  <a:sym typeface="Arimo"/>
                </a:rPr>
                <a:t>Los atributos representan las propiedades o características de una clase</a:t>
              </a:r>
            </a:p>
          </p:txBody>
        </p:sp>
      </p:grpSp>
      <p:grpSp>
        <p:nvGrpSpPr>
          <p:cNvPr name="Group 10" id="10"/>
          <p:cNvGrpSpPr/>
          <p:nvPr/>
        </p:nvGrpSpPr>
        <p:grpSpPr>
          <a:xfrm rot="5400000">
            <a:off x="9252522" y="-616775"/>
            <a:ext cx="3496056" cy="12610973"/>
            <a:chOff x="0" y="0"/>
            <a:chExt cx="4661408" cy="16814630"/>
          </a:xfrm>
        </p:grpSpPr>
        <p:sp>
          <p:nvSpPr>
            <p:cNvPr name="Freeform 11" id="11"/>
            <p:cNvSpPr/>
            <p:nvPr/>
          </p:nvSpPr>
          <p:spPr>
            <a:xfrm flipH="false" flipV="false" rot="0">
              <a:off x="12700" y="12700"/>
              <a:ext cx="4636008" cy="16789146"/>
            </a:xfrm>
            <a:custGeom>
              <a:avLst/>
              <a:gdLst/>
              <a:ahLst/>
              <a:cxnLst/>
              <a:rect r="r" b="b" t="t" l="l"/>
              <a:pathLst>
                <a:path h="16789146" w="4636008">
                  <a:moveTo>
                    <a:pt x="772668" y="0"/>
                  </a:moveTo>
                  <a:lnTo>
                    <a:pt x="3863340" y="0"/>
                  </a:lnTo>
                  <a:cubicBezTo>
                    <a:pt x="4290060" y="0"/>
                    <a:pt x="4636008" y="347345"/>
                    <a:pt x="4636008" y="775716"/>
                  </a:cubicBezTo>
                  <a:lnTo>
                    <a:pt x="4636008" y="16789146"/>
                  </a:lnTo>
                  <a:lnTo>
                    <a:pt x="0" y="16789146"/>
                  </a:lnTo>
                  <a:lnTo>
                    <a:pt x="0" y="775716"/>
                  </a:lnTo>
                  <a:cubicBezTo>
                    <a:pt x="0" y="347345"/>
                    <a:pt x="345948" y="0"/>
                    <a:pt x="772668" y="0"/>
                  </a:cubicBezTo>
                  <a:close/>
                </a:path>
              </a:pathLst>
            </a:custGeom>
            <a:solidFill>
              <a:srgbClr val="FFFFFF">
                <a:alpha val="80784"/>
              </a:srgbClr>
            </a:solidFill>
          </p:spPr>
        </p:sp>
        <p:sp>
          <p:nvSpPr>
            <p:cNvPr name="Freeform 12" id="12"/>
            <p:cNvSpPr/>
            <p:nvPr/>
          </p:nvSpPr>
          <p:spPr>
            <a:xfrm flipH="false" flipV="false" rot="0">
              <a:off x="0" y="0"/>
              <a:ext cx="4661408" cy="16814546"/>
            </a:xfrm>
            <a:custGeom>
              <a:avLst/>
              <a:gdLst/>
              <a:ahLst/>
              <a:cxnLst/>
              <a:rect r="r" b="b" t="t" l="l"/>
              <a:pathLst>
                <a:path h="16814546" w="4661408">
                  <a:moveTo>
                    <a:pt x="785368" y="0"/>
                  </a:moveTo>
                  <a:lnTo>
                    <a:pt x="3876040" y="0"/>
                  </a:lnTo>
                  <a:lnTo>
                    <a:pt x="3876040" y="12700"/>
                  </a:lnTo>
                  <a:lnTo>
                    <a:pt x="3876040" y="0"/>
                  </a:lnTo>
                  <a:lnTo>
                    <a:pt x="3876040" y="12700"/>
                  </a:lnTo>
                  <a:lnTo>
                    <a:pt x="3876040" y="0"/>
                  </a:lnTo>
                  <a:cubicBezTo>
                    <a:pt x="4309872" y="0"/>
                    <a:pt x="4661408" y="353060"/>
                    <a:pt x="4661408" y="788416"/>
                  </a:cubicBezTo>
                  <a:lnTo>
                    <a:pt x="4661408" y="16801846"/>
                  </a:lnTo>
                  <a:cubicBezTo>
                    <a:pt x="4661408" y="16808831"/>
                    <a:pt x="4655693" y="16814546"/>
                    <a:pt x="4648708" y="16814546"/>
                  </a:cubicBezTo>
                  <a:lnTo>
                    <a:pt x="12700" y="16814546"/>
                  </a:lnTo>
                  <a:cubicBezTo>
                    <a:pt x="5715" y="16814546"/>
                    <a:pt x="0" y="16808831"/>
                    <a:pt x="0" y="16801846"/>
                  </a:cubicBezTo>
                  <a:lnTo>
                    <a:pt x="0" y="788416"/>
                  </a:lnTo>
                  <a:lnTo>
                    <a:pt x="12700" y="788416"/>
                  </a:lnTo>
                  <a:lnTo>
                    <a:pt x="0" y="788416"/>
                  </a:lnTo>
                  <a:cubicBezTo>
                    <a:pt x="0" y="353060"/>
                    <a:pt x="351536" y="0"/>
                    <a:pt x="785368" y="0"/>
                  </a:cubicBezTo>
                  <a:cubicBezTo>
                    <a:pt x="787781" y="0"/>
                    <a:pt x="790194" y="635"/>
                    <a:pt x="792226" y="2032"/>
                  </a:cubicBezTo>
                  <a:lnTo>
                    <a:pt x="785368" y="12700"/>
                  </a:lnTo>
                  <a:lnTo>
                    <a:pt x="785368" y="0"/>
                  </a:lnTo>
                  <a:moveTo>
                    <a:pt x="785368" y="25400"/>
                  </a:moveTo>
                  <a:cubicBezTo>
                    <a:pt x="782955" y="25400"/>
                    <a:pt x="780542" y="24765"/>
                    <a:pt x="778510" y="23368"/>
                  </a:cubicBezTo>
                  <a:lnTo>
                    <a:pt x="785368" y="12700"/>
                  </a:lnTo>
                  <a:lnTo>
                    <a:pt x="785368" y="25400"/>
                  </a:lnTo>
                  <a:cubicBezTo>
                    <a:pt x="365760" y="25400"/>
                    <a:pt x="25400" y="367030"/>
                    <a:pt x="25400" y="788416"/>
                  </a:cubicBezTo>
                  <a:lnTo>
                    <a:pt x="25400" y="16801846"/>
                  </a:lnTo>
                  <a:lnTo>
                    <a:pt x="12700" y="16801846"/>
                  </a:lnTo>
                  <a:lnTo>
                    <a:pt x="12700" y="16789146"/>
                  </a:lnTo>
                  <a:lnTo>
                    <a:pt x="4648708" y="16789146"/>
                  </a:lnTo>
                  <a:lnTo>
                    <a:pt x="4648708" y="16801846"/>
                  </a:lnTo>
                  <a:lnTo>
                    <a:pt x="4636008" y="16801846"/>
                  </a:lnTo>
                  <a:lnTo>
                    <a:pt x="4636008" y="788416"/>
                  </a:lnTo>
                  <a:lnTo>
                    <a:pt x="4648708" y="788416"/>
                  </a:lnTo>
                  <a:lnTo>
                    <a:pt x="4636008" y="788416"/>
                  </a:lnTo>
                  <a:cubicBezTo>
                    <a:pt x="4636008" y="367030"/>
                    <a:pt x="4295648" y="25400"/>
                    <a:pt x="3876040" y="25400"/>
                  </a:cubicBezTo>
                  <a:lnTo>
                    <a:pt x="785368" y="25400"/>
                  </a:lnTo>
                  <a:close/>
                </a:path>
              </a:pathLst>
            </a:custGeom>
            <a:solidFill>
              <a:srgbClr val="4D64C3"/>
            </a:solidFill>
          </p:spPr>
        </p:sp>
      </p:grpSp>
      <p:grpSp>
        <p:nvGrpSpPr>
          <p:cNvPr name="Group 13" id="13"/>
          <p:cNvGrpSpPr/>
          <p:nvPr/>
        </p:nvGrpSpPr>
        <p:grpSpPr>
          <a:xfrm rot="0">
            <a:off x="4695064" y="4110417"/>
            <a:ext cx="12441238" cy="3156588"/>
            <a:chOff x="0" y="0"/>
            <a:chExt cx="16588318" cy="4208784"/>
          </a:xfrm>
        </p:grpSpPr>
        <p:sp>
          <p:nvSpPr>
            <p:cNvPr name="Freeform 14" id="14"/>
            <p:cNvSpPr/>
            <p:nvPr/>
          </p:nvSpPr>
          <p:spPr>
            <a:xfrm flipH="false" flipV="false" rot="0">
              <a:off x="0" y="0"/>
              <a:ext cx="16588318" cy="4208784"/>
            </a:xfrm>
            <a:custGeom>
              <a:avLst/>
              <a:gdLst/>
              <a:ahLst/>
              <a:cxnLst/>
              <a:rect r="r" b="b" t="t" l="l"/>
              <a:pathLst>
                <a:path h="4208784" w="16588318">
                  <a:moveTo>
                    <a:pt x="0" y="0"/>
                  </a:moveTo>
                  <a:lnTo>
                    <a:pt x="16588318" y="0"/>
                  </a:lnTo>
                  <a:lnTo>
                    <a:pt x="16588318" y="4208784"/>
                  </a:lnTo>
                  <a:lnTo>
                    <a:pt x="0" y="4208784"/>
                  </a:lnTo>
                  <a:close/>
                </a:path>
              </a:pathLst>
            </a:custGeom>
            <a:solidFill>
              <a:srgbClr val="000000">
                <a:alpha val="0"/>
              </a:srgbClr>
            </a:solidFill>
          </p:spPr>
        </p:sp>
        <p:sp>
          <p:nvSpPr>
            <p:cNvPr name="TextBox 15" id="15"/>
            <p:cNvSpPr txBox="true"/>
            <p:nvPr/>
          </p:nvSpPr>
          <p:spPr>
            <a:xfrm>
              <a:off x="0" y="19050"/>
              <a:ext cx="16588318" cy="4189734"/>
            </a:xfrm>
            <a:prstGeom prst="rect">
              <a:avLst/>
            </a:prstGeom>
          </p:spPr>
          <p:txBody>
            <a:bodyPr anchor="ctr" rtlCol="false" tIns="0" lIns="0" bIns="0" rIns="0"/>
            <a:lstStyle/>
            <a:p>
              <a:pPr algn="l" marL="434340" indent="-144780" lvl="2">
                <a:lnSpc>
                  <a:spcPts val="2592"/>
                </a:lnSpc>
                <a:buFont typeface="Arial"/>
                <a:buChar char="⚬"/>
              </a:pPr>
              <a:r>
                <a:rPr lang="en-US" b="true" sz="2400">
                  <a:solidFill>
                    <a:srgbClr val="000000"/>
                  </a:solidFill>
                  <a:latin typeface="Arimo Bold"/>
                  <a:ea typeface="Arimo Bold"/>
                  <a:cs typeface="Arimo Bold"/>
                  <a:sym typeface="Arimo Bold"/>
                </a:rPr>
                <a:t>Nombre</a:t>
              </a:r>
            </a:p>
            <a:p>
              <a:pPr algn="l" marL="691515" indent="-172879" lvl="3">
                <a:lnSpc>
                  <a:spcPts val="2592"/>
                </a:lnSpc>
                <a:buFont typeface="Arial"/>
                <a:buChar char="￭"/>
              </a:pPr>
              <a:r>
                <a:rPr lang="en-US" sz="2400">
                  <a:solidFill>
                    <a:srgbClr val="000000"/>
                  </a:solidFill>
                  <a:latin typeface="Arimo"/>
                  <a:ea typeface="Arimo"/>
                  <a:cs typeface="Arimo"/>
                  <a:sym typeface="Arimo"/>
                </a:rPr>
                <a:t>Identificador del atributo.</a:t>
              </a:r>
            </a:p>
            <a:p>
              <a:pPr algn="l" marL="434340" indent="-144780" lvl="2">
                <a:lnSpc>
                  <a:spcPts val="2592"/>
                </a:lnSpc>
                <a:buFont typeface="Arial"/>
                <a:buChar char="⚬"/>
              </a:pPr>
              <a:r>
                <a:rPr lang="en-US" b="true" sz="2400">
                  <a:solidFill>
                    <a:srgbClr val="000000"/>
                  </a:solidFill>
                  <a:latin typeface="Arimo Bold"/>
                  <a:ea typeface="Arimo Bold"/>
                  <a:cs typeface="Arimo Bold"/>
                  <a:sym typeface="Arimo Bold"/>
                </a:rPr>
                <a:t>Tipo</a:t>
              </a:r>
            </a:p>
            <a:p>
              <a:pPr algn="l" marL="691515" indent="-172879" lvl="3">
                <a:lnSpc>
                  <a:spcPts val="2592"/>
                </a:lnSpc>
                <a:buFont typeface="Arial"/>
                <a:buChar char="￭"/>
              </a:pPr>
              <a:r>
                <a:rPr lang="en-US" sz="2400">
                  <a:solidFill>
                    <a:srgbClr val="000000"/>
                  </a:solidFill>
                  <a:latin typeface="Arimo"/>
                  <a:ea typeface="Arimo"/>
                  <a:cs typeface="Arimo"/>
                  <a:sym typeface="Arimo"/>
                </a:rPr>
                <a:t>Tipo de dato del atributo (String, int, etc.).</a:t>
              </a:r>
            </a:p>
            <a:p>
              <a:pPr algn="l" marL="434340" indent="-144780" lvl="2">
                <a:lnSpc>
                  <a:spcPts val="2592"/>
                </a:lnSpc>
                <a:buFont typeface="Arial"/>
                <a:buChar char="⚬"/>
              </a:pPr>
              <a:r>
                <a:rPr lang="en-US" b="true" sz="2400">
                  <a:solidFill>
                    <a:srgbClr val="000000"/>
                  </a:solidFill>
                  <a:latin typeface="Arimo Bold"/>
                  <a:ea typeface="Arimo Bold"/>
                  <a:cs typeface="Arimo Bold"/>
                  <a:sym typeface="Arimo Bold"/>
                </a:rPr>
                <a:t>Visibilidad</a:t>
              </a:r>
            </a:p>
            <a:p>
              <a:pPr algn="l" marL="691515" indent="-172879" lvl="3">
                <a:lnSpc>
                  <a:spcPts val="2592"/>
                </a:lnSpc>
                <a:buFont typeface="Arial"/>
                <a:buChar char="￭"/>
              </a:pPr>
              <a:r>
                <a:rPr lang="en-US" sz="2400">
                  <a:solidFill>
                    <a:srgbClr val="000000"/>
                  </a:solidFill>
                  <a:latin typeface="Arimo"/>
                  <a:ea typeface="Arimo"/>
                  <a:cs typeface="Arimo"/>
                  <a:sym typeface="Arimo"/>
                </a:rPr>
                <a:t>Indica el nivel de acceso al atributo (+ público, - privado, # protegido, ~ paquete).</a:t>
              </a:r>
            </a:p>
            <a:p>
              <a:pPr algn="l" marL="434340" indent="-144780" lvl="2">
                <a:lnSpc>
                  <a:spcPts val="2592"/>
                </a:lnSpc>
                <a:buFont typeface="Arial"/>
                <a:buChar char="⚬"/>
              </a:pPr>
              <a:r>
                <a:rPr lang="en-US" b="true" sz="2400">
                  <a:solidFill>
                    <a:srgbClr val="000000"/>
                  </a:solidFill>
                  <a:latin typeface="Arimo Bold"/>
                  <a:ea typeface="Arimo Bold"/>
                  <a:cs typeface="Arimo Bold"/>
                  <a:sym typeface="Arimo Bold"/>
                </a:rPr>
                <a:t>Valor inicial (opcional)</a:t>
              </a:r>
            </a:p>
            <a:p>
              <a:pPr algn="l" marL="691515" indent="-172879" lvl="3">
                <a:lnSpc>
                  <a:spcPts val="2592"/>
                </a:lnSpc>
                <a:buFont typeface="Arial"/>
                <a:buChar char="￭"/>
              </a:pPr>
              <a:r>
                <a:rPr lang="en-US" sz="2400">
                  <a:solidFill>
                    <a:srgbClr val="000000"/>
                  </a:solidFill>
                  <a:latin typeface="Arimo"/>
                  <a:ea typeface="Arimo"/>
                  <a:cs typeface="Arimo"/>
                  <a:sym typeface="Arimo"/>
                </a:rPr>
                <a:t>Valor predeterminado del atributo.</a:t>
              </a:r>
            </a:p>
          </p:txBody>
        </p:sp>
      </p:gr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187841" y="717520"/>
            <a:ext cx="13912317" cy="2144393"/>
            <a:chOff x="0" y="0"/>
            <a:chExt cx="18549756" cy="2859191"/>
          </a:xfrm>
        </p:grpSpPr>
        <p:sp>
          <p:nvSpPr>
            <p:cNvPr name="Freeform 3" id="3"/>
            <p:cNvSpPr/>
            <p:nvPr/>
          </p:nvSpPr>
          <p:spPr>
            <a:xfrm flipH="false" flipV="false" rot="0">
              <a:off x="0" y="0"/>
              <a:ext cx="18549756" cy="2859191"/>
            </a:xfrm>
            <a:custGeom>
              <a:avLst/>
              <a:gdLst/>
              <a:ahLst/>
              <a:cxnLst/>
              <a:rect r="r" b="b" t="t" l="l"/>
              <a:pathLst>
                <a:path h="2859191" w="18549756">
                  <a:moveTo>
                    <a:pt x="0" y="0"/>
                  </a:moveTo>
                  <a:lnTo>
                    <a:pt x="18549756" y="0"/>
                  </a:lnTo>
                  <a:lnTo>
                    <a:pt x="18549756" y="2859191"/>
                  </a:lnTo>
                  <a:lnTo>
                    <a:pt x="0" y="2859191"/>
                  </a:lnTo>
                  <a:close/>
                </a:path>
              </a:pathLst>
            </a:custGeom>
            <a:solidFill>
              <a:srgbClr val="000000">
                <a:alpha val="0"/>
              </a:srgbClr>
            </a:solidFill>
          </p:spPr>
        </p:sp>
        <p:sp>
          <p:nvSpPr>
            <p:cNvPr name="TextBox 4" id="4"/>
            <p:cNvSpPr txBox="true"/>
            <p:nvPr/>
          </p:nvSpPr>
          <p:spPr>
            <a:xfrm>
              <a:off x="0" y="28575"/>
              <a:ext cx="18549756" cy="2830616"/>
            </a:xfrm>
            <a:prstGeom prst="rect">
              <a:avLst/>
            </a:prstGeom>
          </p:spPr>
          <p:txBody>
            <a:bodyPr anchor="b" rtlCol="false" tIns="0" lIns="0" bIns="0" rIns="0"/>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Métodos (Operaciones)</a:t>
              </a:r>
            </a:p>
          </p:txBody>
        </p:sp>
      </p:grpSp>
      <p:grpSp>
        <p:nvGrpSpPr>
          <p:cNvPr name="Group 5" id="5"/>
          <p:cNvGrpSpPr/>
          <p:nvPr/>
        </p:nvGrpSpPr>
        <p:grpSpPr>
          <a:xfrm rot="0">
            <a:off x="6074209" y="4891984"/>
            <a:ext cx="3069791" cy="1442462"/>
            <a:chOff x="0" y="0"/>
            <a:chExt cx="4093055" cy="1923282"/>
          </a:xfrm>
        </p:grpSpPr>
        <p:sp>
          <p:nvSpPr>
            <p:cNvPr name="Freeform 6" id="6"/>
            <p:cNvSpPr/>
            <p:nvPr/>
          </p:nvSpPr>
          <p:spPr>
            <a:xfrm flipH="false" flipV="false" rot="0">
              <a:off x="13604" y="12700"/>
              <a:ext cx="4065858" cy="1897888"/>
            </a:xfrm>
            <a:custGeom>
              <a:avLst/>
              <a:gdLst/>
              <a:ahLst/>
              <a:cxnLst/>
              <a:rect r="r" b="b" t="t" l="l"/>
              <a:pathLst>
                <a:path h="1897888" w="4065858">
                  <a:moveTo>
                    <a:pt x="0" y="189738"/>
                  </a:moveTo>
                  <a:cubicBezTo>
                    <a:pt x="0" y="84963"/>
                    <a:pt x="91688" y="0"/>
                    <a:pt x="204598" y="0"/>
                  </a:cubicBezTo>
                  <a:lnTo>
                    <a:pt x="3861259" y="0"/>
                  </a:lnTo>
                  <a:cubicBezTo>
                    <a:pt x="3974305" y="0"/>
                    <a:pt x="4065858" y="84963"/>
                    <a:pt x="4065858" y="189738"/>
                  </a:cubicBezTo>
                  <a:lnTo>
                    <a:pt x="4065858" y="1708150"/>
                  </a:lnTo>
                  <a:cubicBezTo>
                    <a:pt x="4065858" y="1812925"/>
                    <a:pt x="3974169" y="1897888"/>
                    <a:pt x="3861259" y="1897888"/>
                  </a:cubicBezTo>
                  <a:lnTo>
                    <a:pt x="204598" y="1897888"/>
                  </a:lnTo>
                  <a:cubicBezTo>
                    <a:pt x="91688" y="1897888"/>
                    <a:pt x="0" y="1812925"/>
                    <a:pt x="0" y="1708150"/>
                  </a:cubicBezTo>
                  <a:close/>
                </a:path>
              </a:pathLst>
            </a:custGeom>
            <a:solidFill>
              <a:srgbClr val="B13BAB"/>
            </a:solidFill>
          </p:spPr>
        </p:sp>
        <p:sp>
          <p:nvSpPr>
            <p:cNvPr name="Freeform 7" id="7"/>
            <p:cNvSpPr/>
            <p:nvPr/>
          </p:nvSpPr>
          <p:spPr>
            <a:xfrm flipH="false" flipV="false" rot="0">
              <a:off x="0" y="0"/>
              <a:ext cx="4093065" cy="1923288"/>
            </a:xfrm>
            <a:custGeom>
              <a:avLst/>
              <a:gdLst/>
              <a:ahLst/>
              <a:cxnLst/>
              <a:rect r="r" b="b" t="t" l="l"/>
              <a:pathLst>
                <a:path h="1923288" w="4093065">
                  <a:moveTo>
                    <a:pt x="0" y="202438"/>
                  </a:moveTo>
                  <a:cubicBezTo>
                    <a:pt x="0" y="90551"/>
                    <a:pt x="97810" y="0"/>
                    <a:pt x="218202" y="0"/>
                  </a:cubicBezTo>
                  <a:lnTo>
                    <a:pt x="3874863" y="0"/>
                  </a:lnTo>
                  <a:lnTo>
                    <a:pt x="3874863" y="12700"/>
                  </a:lnTo>
                  <a:lnTo>
                    <a:pt x="3874863" y="0"/>
                  </a:lnTo>
                  <a:cubicBezTo>
                    <a:pt x="3995255" y="0"/>
                    <a:pt x="4093065" y="90551"/>
                    <a:pt x="4093065" y="202438"/>
                  </a:cubicBezTo>
                  <a:lnTo>
                    <a:pt x="4079462" y="202438"/>
                  </a:lnTo>
                  <a:lnTo>
                    <a:pt x="4093065" y="202438"/>
                  </a:lnTo>
                  <a:lnTo>
                    <a:pt x="4093065" y="1720850"/>
                  </a:lnTo>
                  <a:lnTo>
                    <a:pt x="4079462" y="1720850"/>
                  </a:lnTo>
                  <a:lnTo>
                    <a:pt x="4093065" y="1720850"/>
                  </a:lnTo>
                  <a:cubicBezTo>
                    <a:pt x="4093065" y="1832737"/>
                    <a:pt x="3995255" y="1923288"/>
                    <a:pt x="3874863" y="1923288"/>
                  </a:cubicBezTo>
                  <a:lnTo>
                    <a:pt x="3874863" y="1910588"/>
                  </a:lnTo>
                  <a:lnTo>
                    <a:pt x="3874863" y="1923288"/>
                  </a:lnTo>
                  <a:lnTo>
                    <a:pt x="218202" y="1923288"/>
                  </a:lnTo>
                  <a:lnTo>
                    <a:pt x="218202" y="1910588"/>
                  </a:lnTo>
                  <a:lnTo>
                    <a:pt x="218202" y="1923288"/>
                  </a:lnTo>
                  <a:cubicBezTo>
                    <a:pt x="97810" y="1923288"/>
                    <a:pt x="0" y="1832737"/>
                    <a:pt x="0" y="1720850"/>
                  </a:cubicBezTo>
                  <a:lnTo>
                    <a:pt x="0" y="202438"/>
                  </a:lnTo>
                  <a:lnTo>
                    <a:pt x="13604" y="202438"/>
                  </a:lnTo>
                  <a:lnTo>
                    <a:pt x="0" y="202438"/>
                  </a:lnTo>
                  <a:moveTo>
                    <a:pt x="27207" y="202438"/>
                  </a:moveTo>
                  <a:lnTo>
                    <a:pt x="27207" y="1720850"/>
                  </a:lnTo>
                  <a:lnTo>
                    <a:pt x="13604" y="1720850"/>
                  </a:lnTo>
                  <a:lnTo>
                    <a:pt x="27207" y="1720850"/>
                  </a:lnTo>
                  <a:cubicBezTo>
                    <a:pt x="27207" y="1818513"/>
                    <a:pt x="112638" y="1897888"/>
                    <a:pt x="218202" y="1897888"/>
                  </a:cubicBezTo>
                  <a:lnTo>
                    <a:pt x="3874863" y="1897888"/>
                  </a:lnTo>
                  <a:cubicBezTo>
                    <a:pt x="3980427" y="1897888"/>
                    <a:pt x="4065858" y="1818513"/>
                    <a:pt x="4065858" y="1720850"/>
                  </a:cubicBezTo>
                  <a:lnTo>
                    <a:pt x="4065858" y="202438"/>
                  </a:lnTo>
                  <a:cubicBezTo>
                    <a:pt x="4065858" y="104775"/>
                    <a:pt x="3980427" y="25400"/>
                    <a:pt x="3874863" y="25400"/>
                  </a:cubicBezTo>
                  <a:lnTo>
                    <a:pt x="218202" y="25400"/>
                  </a:lnTo>
                  <a:lnTo>
                    <a:pt x="218202" y="12700"/>
                  </a:lnTo>
                  <a:lnTo>
                    <a:pt x="218202" y="25400"/>
                  </a:lnTo>
                  <a:cubicBezTo>
                    <a:pt x="112638" y="25400"/>
                    <a:pt x="27207" y="104775"/>
                    <a:pt x="27207" y="202438"/>
                  </a:cubicBezTo>
                  <a:close/>
                </a:path>
              </a:pathLst>
            </a:custGeom>
            <a:solidFill>
              <a:srgbClr val="FFFFFF"/>
            </a:solidFill>
          </p:spPr>
        </p:sp>
      </p:grpSp>
      <p:grpSp>
        <p:nvGrpSpPr>
          <p:cNvPr name="Group 8" id="8"/>
          <p:cNvGrpSpPr/>
          <p:nvPr/>
        </p:nvGrpSpPr>
        <p:grpSpPr>
          <a:xfrm rot="0">
            <a:off x="6163524" y="4975366"/>
            <a:ext cx="2980476" cy="1359080"/>
            <a:chOff x="0" y="0"/>
            <a:chExt cx="3973968" cy="1812106"/>
          </a:xfrm>
        </p:grpSpPr>
        <p:sp>
          <p:nvSpPr>
            <p:cNvPr name="Freeform 9" id="9"/>
            <p:cNvSpPr/>
            <p:nvPr/>
          </p:nvSpPr>
          <p:spPr>
            <a:xfrm flipH="false" flipV="false" rot="0">
              <a:off x="0" y="0"/>
              <a:ext cx="3973968" cy="1812106"/>
            </a:xfrm>
            <a:custGeom>
              <a:avLst/>
              <a:gdLst/>
              <a:ahLst/>
              <a:cxnLst/>
              <a:rect r="r" b="b" t="t" l="l"/>
              <a:pathLst>
                <a:path h="1812106" w="3973968">
                  <a:moveTo>
                    <a:pt x="0" y="0"/>
                  </a:moveTo>
                  <a:lnTo>
                    <a:pt x="3973968" y="0"/>
                  </a:lnTo>
                  <a:lnTo>
                    <a:pt x="3973968" y="1812106"/>
                  </a:lnTo>
                  <a:lnTo>
                    <a:pt x="0" y="1812106"/>
                  </a:lnTo>
                  <a:close/>
                </a:path>
              </a:pathLst>
            </a:custGeom>
            <a:solidFill>
              <a:srgbClr val="000000">
                <a:alpha val="0"/>
              </a:srgbClr>
            </a:solidFill>
          </p:spPr>
        </p:sp>
        <p:sp>
          <p:nvSpPr>
            <p:cNvPr name="TextBox 10" id="10"/>
            <p:cNvSpPr txBox="true"/>
            <p:nvPr/>
          </p:nvSpPr>
          <p:spPr>
            <a:xfrm>
              <a:off x="0" y="0"/>
              <a:ext cx="3973968"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Los métodos representan las acciones o comportamientos que una clase puede realizar</a:t>
              </a:r>
            </a:p>
          </p:txBody>
        </p:sp>
      </p:grpSp>
      <p:grpSp>
        <p:nvGrpSpPr>
          <p:cNvPr name="Group 11" id="11"/>
          <p:cNvGrpSpPr/>
          <p:nvPr/>
        </p:nvGrpSpPr>
        <p:grpSpPr>
          <a:xfrm rot="0">
            <a:off x="10453820" y="2575520"/>
            <a:ext cx="2865875" cy="1442462"/>
            <a:chOff x="0" y="0"/>
            <a:chExt cx="3821166" cy="1923282"/>
          </a:xfrm>
        </p:grpSpPr>
        <p:sp>
          <p:nvSpPr>
            <p:cNvPr name="Freeform 12" id="12"/>
            <p:cNvSpPr/>
            <p:nvPr/>
          </p:nvSpPr>
          <p:spPr>
            <a:xfrm flipH="false" flipV="false" rot="0">
              <a:off x="12700" y="12700"/>
              <a:ext cx="3795776" cy="1897888"/>
            </a:xfrm>
            <a:custGeom>
              <a:avLst/>
              <a:gdLst/>
              <a:ahLst/>
              <a:cxnLst/>
              <a:rect r="r" b="b" t="t" l="l"/>
              <a:pathLst>
                <a:path h="1897888" w="3795776">
                  <a:moveTo>
                    <a:pt x="0" y="189738"/>
                  </a:moveTo>
                  <a:cubicBezTo>
                    <a:pt x="0" y="84963"/>
                    <a:pt x="85598" y="0"/>
                    <a:pt x="191008" y="0"/>
                  </a:cubicBezTo>
                  <a:lnTo>
                    <a:pt x="3604768" y="0"/>
                  </a:lnTo>
                  <a:cubicBezTo>
                    <a:pt x="3710305" y="0"/>
                    <a:pt x="3795776" y="84963"/>
                    <a:pt x="3795776" y="189738"/>
                  </a:cubicBezTo>
                  <a:lnTo>
                    <a:pt x="3795776" y="1708150"/>
                  </a:lnTo>
                  <a:cubicBezTo>
                    <a:pt x="3795776" y="1812925"/>
                    <a:pt x="3710178" y="1897888"/>
                    <a:pt x="3604768" y="1897888"/>
                  </a:cubicBezTo>
                  <a:lnTo>
                    <a:pt x="191008" y="1897888"/>
                  </a:lnTo>
                  <a:cubicBezTo>
                    <a:pt x="85598" y="1897888"/>
                    <a:pt x="0" y="1812925"/>
                    <a:pt x="0" y="1708150"/>
                  </a:cubicBezTo>
                  <a:close/>
                </a:path>
              </a:pathLst>
            </a:custGeom>
            <a:solidFill>
              <a:srgbClr val="B13B48"/>
            </a:solidFill>
          </p:spPr>
        </p:sp>
        <p:sp>
          <p:nvSpPr>
            <p:cNvPr name="Freeform 13" id="13"/>
            <p:cNvSpPr/>
            <p:nvPr/>
          </p:nvSpPr>
          <p:spPr>
            <a:xfrm flipH="false" flipV="false" rot="0">
              <a:off x="0" y="0"/>
              <a:ext cx="3821176" cy="1923288"/>
            </a:xfrm>
            <a:custGeom>
              <a:avLst/>
              <a:gdLst/>
              <a:ahLst/>
              <a:cxnLst/>
              <a:rect r="r" b="b" t="t" l="l"/>
              <a:pathLst>
                <a:path h="1923288" w="3821176">
                  <a:moveTo>
                    <a:pt x="0" y="202438"/>
                  </a:moveTo>
                  <a:cubicBezTo>
                    <a:pt x="0" y="90551"/>
                    <a:pt x="91313" y="0"/>
                    <a:pt x="203708" y="0"/>
                  </a:cubicBezTo>
                  <a:lnTo>
                    <a:pt x="3617468" y="0"/>
                  </a:lnTo>
                  <a:lnTo>
                    <a:pt x="3617468" y="12700"/>
                  </a:lnTo>
                  <a:lnTo>
                    <a:pt x="3617468" y="0"/>
                  </a:lnTo>
                  <a:cubicBezTo>
                    <a:pt x="3729863" y="0"/>
                    <a:pt x="3821176" y="90551"/>
                    <a:pt x="3821176" y="202438"/>
                  </a:cubicBezTo>
                  <a:lnTo>
                    <a:pt x="3808476" y="202438"/>
                  </a:lnTo>
                  <a:lnTo>
                    <a:pt x="3821176" y="202438"/>
                  </a:lnTo>
                  <a:lnTo>
                    <a:pt x="3821176" y="1720850"/>
                  </a:lnTo>
                  <a:lnTo>
                    <a:pt x="3808476" y="1720850"/>
                  </a:lnTo>
                  <a:lnTo>
                    <a:pt x="3821176" y="1720850"/>
                  </a:lnTo>
                  <a:cubicBezTo>
                    <a:pt x="3821176" y="1832737"/>
                    <a:pt x="3729863" y="1923288"/>
                    <a:pt x="3617468" y="1923288"/>
                  </a:cubicBezTo>
                  <a:lnTo>
                    <a:pt x="3617468" y="1910588"/>
                  </a:lnTo>
                  <a:lnTo>
                    <a:pt x="3617468" y="1923288"/>
                  </a:lnTo>
                  <a:lnTo>
                    <a:pt x="203708" y="1923288"/>
                  </a:lnTo>
                  <a:lnTo>
                    <a:pt x="203708" y="1910588"/>
                  </a:lnTo>
                  <a:lnTo>
                    <a:pt x="203708" y="1923288"/>
                  </a:lnTo>
                  <a:cubicBezTo>
                    <a:pt x="91313" y="1923288"/>
                    <a:pt x="0" y="1832737"/>
                    <a:pt x="0" y="1720850"/>
                  </a:cubicBezTo>
                  <a:lnTo>
                    <a:pt x="0" y="202438"/>
                  </a:lnTo>
                  <a:lnTo>
                    <a:pt x="12700" y="202438"/>
                  </a:lnTo>
                  <a:lnTo>
                    <a:pt x="0" y="202438"/>
                  </a:lnTo>
                  <a:moveTo>
                    <a:pt x="25400" y="202438"/>
                  </a:moveTo>
                  <a:lnTo>
                    <a:pt x="25400" y="1720850"/>
                  </a:lnTo>
                  <a:lnTo>
                    <a:pt x="12700" y="1720850"/>
                  </a:lnTo>
                  <a:lnTo>
                    <a:pt x="25400" y="1720850"/>
                  </a:lnTo>
                  <a:cubicBezTo>
                    <a:pt x="25400" y="1818513"/>
                    <a:pt x="105156" y="1897888"/>
                    <a:pt x="203708" y="1897888"/>
                  </a:cubicBezTo>
                  <a:lnTo>
                    <a:pt x="3617468" y="1897888"/>
                  </a:lnTo>
                  <a:cubicBezTo>
                    <a:pt x="3716020" y="1897888"/>
                    <a:pt x="3795776" y="1818513"/>
                    <a:pt x="3795776" y="1720850"/>
                  </a:cubicBezTo>
                  <a:lnTo>
                    <a:pt x="3795776" y="202438"/>
                  </a:lnTo>
                  <a:cubicBezTo>
                    <a:pt x="3795776" y="104775"/>
                    <a:pt x="3716020" y="25400"/>
                    <a:pt x="3617468" y="25400"/>
                  </a:cubicBezTo>
                  <a:lnTo>
                    <a:pt x="203708" y="25400"/>
                  </a:lnTo>
                  <a:lnTo>
                    <a:pt x="203708" y="12700"/>
                  </a:lnTo>
                  <a:lnTo>
                    <a:pt x="203708" y="25400"/>
                  </a:lnTo>
                  <a:cubicBezTo>
                    <a:pt x="105156" y="25400"/>
                    <a:pt x="25400" y="104775"/>
                    <a:pt x="25400" y="202438"/>
                  </a:cubicBezTo>
                  <a:close/>
                </a:path>
              </a:pathLst>
            </a:custGeom>
            <a:solidFill>
              <a:srgbClr val="FFFFFF"/>
            </a:solidFill>
          </p:spPr>
        </p:sp>
      </p:grpSp>
      <p:grpSp>
        <p:nvGrpSpPr>
          <p:cNvPr name="Group 14" id="14"/>
          <p:cNvGrpSpPr/>
          <p:nvPr/>
        </p:nvGrpSpPr>
        <p:grpSpPr>
          <a:xfrm rot="0">
            <a:off x="10495510" y="2617210"/>
            <a:ext cx="2782492" cy="1359080"/>
            <a:chOff x="0" y="0"/>
            <a:chExt cx="3709990" cy="1812106"/>
          </a:xfrm>
        </p:grpSpPr>
        <p:sp>
          <p:nvSpPr>
            <p:cNvPr name="Freeform 15" id="15"/>
            <p:cNvSpPr/>
            <p:nvPr/>
          </p:nvSpPr>
          <p:spPr>
            <a:xfrm flipH="false" flipV="false" rot="0">
              <a:off x="0" y="0"/>
              <a:ext cx="3709990" cy="1812106"/>
            </a:xfrm>
            <a:custGeom>
              <a:avLst/>
              <a:gdLst/>
              <a:ahLst/>
              <a:cxnLst/>
              <a:rect r="r" b="b" t="t" l="l"/>
              <a:pathLst>
                <a:path h="1812106" w="3709990">
                  <a:moveTo>
                    <a:pt x="0" y="0"/>
                  </a:moveTo>
                  <a:lnTo>
                    <a:pt x="3709990" y="0"/>
                  </a:lnTo>
                  <a:lnTo>
                    <a:pt x="3709990" y="1812106"/>
                  </a:lnTo>
                  <a:lnTo>
                    <a:pt x="0" y="1812106"/>
                  </a:lnTo>
                  <a:close/>
                </a:path>
              </a:pathLst>
            </a:custGeom>
            <a:solidFill>
              <a:srgbClr val="000000">
                <a:alpha val="0"/>
              </a:srgbClr>
            </a:solidFill>
          </p:spPr>
        </p:sp>
        <p:sp>
          <p:nvSpPr>
            <p:cNvPr name="TextBox 16" id="16"/>
            <p:cNvSpPr txBox="true"/>
            <p:nvPr/>
          </p:nvSpPr>
          <p:spPr>
            <a:xfrm>
              <a:off x="0" y="0"/>
              <a:ext cx="3709990"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Nombre</a:t>
              </a:r>
            </a:p>
          </p:txBody>
        </p:sp>
      </p:grpSp>
      <p:grpSp>
        <p:nvGrpSpPr>
          <p:cNvPr name="Group 17" id="17"/>
          <p:cNvGrpSpPr/>
          <p:nvPr/>
        </p:nvGrpSpPr>
        <p:grpSpPr>
          <a:xfrm rot="0">
            <a:off x="14439374" y="2575520"/>
            <a:ext cx="2865874" cy="1442462"/>
            <a:chOff x="0" y="0"/>
            <a:chExt cx="3821166" cy="1923282"/>
          </a:xfrm>
        </p:grpSpPr>
        <p:sp>
          <p:nvSpPr>
            <p:cNvPr name="Freeform 18" id="18"/>
            <p:cNvSpPr/>
            <p:nvPr/>
          </p:nvSpPr>
          <p:spPr>
            <a:xfrm flipH="false" flipV="false" rot="0">
              <a:off x="12700" y="12700"/>
              <a:ext cx="3795776" cy="1897888"/>
            </a:xfrm>
            <a:custGeom>
              <a:avLst/>
              <a:gdLst/>
              <a:ahLst/>
              <a:cxnLst/>
              <a:rect r="r" b="b" t="t" l="l"/>
              <a:pathLst>
                <a:path h="1897888" w="3795776">
                  <a:moveTo>
                    <a:pt x="0" y="189738"/>
                  </a:moveTo>
                  <a:cubicBezTo>
                    <a:pt x="0" y="84963"/>
                    <a:pt x="85598" y="0"/>
                    <a:pt x="191008" y="0"/>
                  </a:cubicBezTo>
                  <a:lnTo>
                    <a:pt x="3604768" y="0"/>
                  </a:lnTo>
                  <a:cubicBezTo>
                    <a:pt x="3710305" y="0"/>
                    <a:pt x="3795776" y="84963"/>
                    <a:pt x="3795776" y="189738"/>
                  </a:cubicBezTo>
                  <a:lnTo>
                    <a:pt x="3795776" y="1708150"/>
                  </a:lnTo>
                  <a:cubicBezTo>
                    <a:pt x="3795776" y="1812925"/>
                    <a:pt x="3710178" y="1897888"/>
                    <a:pt x="3604768" y="1897888"/>
                  </a:cubicBezTo>
                  <a:lnTo>
                    <a:pt x="191008" y="1897888"/>
                  </a:lnTo>
                  <a:cubicBezTo>
                    <a:pt x="85598" y="1897888"/>
                    <a:pt x="0" y="1812925"/>
                    <a:pt x="0" y="1708150"/>
                  </a:cubicBezTo>
                  <a:close/>
                </a:path>
              </a:pathLst>
            </a:custGeom>
            <a:solidFill>
              <a:srgbClr val="4D64C3"/>
            </a:solidFill>
          </p:spPr>
        </p:sp>
        <p:sp>
          <p:nvSpPr>
            <p:cNvPr name="Freeform 19" id="19"/>
            <p:cNvSpPr/>
            <p:nvPr/>
          </p:nvSpPr>
          <p:spPr>
            <a:xfrm flipH="false" flipV="false" rot="0">
              <a:off x="0" y="0"/>
              <a:ext cx="3821176" cy="1923288"/>
            </a:xfrm>
            <a:custGeom>
              <a:avLst/>
              <a:gdLst/>
              <a:ahLst/>
              <a:cxnLst/>
              <a:rect r="r" b="b" t="t" l="l"/>
              <a:pathLst>
                <a:path h="1923288" w="3821176">
                  <a:moveTo>
                    <a:pt x="0" y="202438"/>
                  </a:moveTo>
                  <a:cubicBezTo>
                    <a:pt x="0" y="90551"/>
                    <a:pt x="91313" y="0"/>
                    <a:pt x="203708" y="0"/>
                  </a:cubicBezTo>
                  <a:lnTo>
                    <a:pt x="3617468" y="0"/>
                  </a:lnTo>
                  <a:lnTo>
                    <a:pt x="3617468" y="12700"/>
                  </a:lnTo>
                  <a:lnTo>
                    <a:pt x="3617468" y="0"/>
                  </a:lnTo>
                  <a:cubicBezTo>
                    <a:pt x="3729863" y="0"/>
                    <a:pt x="3821176" y="90551"/>
                    <a:pt x="3821176" y="202438"/>
                  </a:cubicBezTo>
                  <a:lnTo>
                    <a:pt x="3808476" y="202438"/>
                  </a:lnTo>
                  <a:lnTo>
                    <a:pt x="3821176" y="202438"/>
                  </a:lnTo>
                  <a:lnTo>
                    <a:pt x="3821176" y="1720850"/>
                  </a:lnTo>
                  <a:lnTo>
                    <a:pt x="3808476" y="1720850"/>
                  </a:lnTo>
                  <a:lnTo>
                    <a:pt x="3821176" y="1720850"/>
                  </a:lnTo>
                  <a:cubicBezTo>
                    <a:pt x="3821176" y="1832737"/>
                    <a:pt x="3729863" y="1923288"/>
                    <a:pt x="3617468" y="1923288"/>
                  </a:cubicBezTo>
                  <a:lnTo>
                    <a:pt x="3617468" y="1910588"/>
                  </a:lnTo>
                  <a:lnTo>
                    <a:pt x="3617468" y="1923288"/>
                  </a:lnTo>
                  <a:lnTo>
                    <a:pt x="203708" y="1923288"/>
                  </a:lnTo>
                  <a:lnTo>
                    <a:pt x="203708" y="1910588"/>
                  </a:lnTo>
                  <a:lnTo>
                    <a:pt x="203708" y="1923288"/>
                  </a:lnTo>
                  <a:cubicBezTo>
                    <a:pt x="91313" y="1923288"/>
                    <a:pt x="0" y="1832737"/>
                    <a:pt x="0" y="1720850"/>
                  </a:cubicBezTo>
                  <a:lnTo>
                    <a:pt x="0" y="202438"/>
                  </a:lnTo>
                  <a:lnTo>
                    <a:pt x="12700" y="202438"/>
                  </a:lnTo>
                  <a:lnTo>
                    <a:pt x="0" y="202438"/>
                  </a:lnTo>
                  <a:moveTo>
                    <a:pt x="25400" y="202438"/>
                  </a:moveTo>
                  <a:lnTo>
                    <a:pt x="25400" y="1720850"/>
                  </a:lnTo>
                  <a:lnTo>
                    <a:pt x="12700" y="1720850"/>
                  </a:lnTo>
                  <a:lnTo>
                    <a:pt x="25400" y="1720850"/>
                  </a:lnTo>
                  <a:cubicBezTo>
                    <a:pt x="25400" y="1818513"/>
                    <a:pt x="105156" y="1897888"/>
                    <a:pt x="203708" y="1897888"/>
                  </a:cubicBezTo>
                  <a:lnTo>
                    <a:pt x="3617468" y="1897888"/>
                  </a:lnTo>
                  <a:cubicBezTo>
                    <a:pt x="3716020" y="1897888"/>
                    <a:pt x="3795776" y="1818513"/>
                    <a:pt x="3795776" y="1720850"/>
                  </a:cubicBezTo>
                  <a:lnTo>
                    <a:pt x="3795776" y="202438"/>
                  </a:lnTo>
                  <a:cubicBezTo>
                    <a:pt x="3795776" y="104775"/>
                    <a:pt x="3716020" y="25400"/>
                    <a:pt x="3617468" y="25400"/>
                  </a:cubicBezTo>
                  <a:lnTo>
                    <a:pt x="203708" y="25400"/>
                  </a:lnTo>
                  <a:lnTo>
                    <a:pt x="203708" y="12700"/>
                  </a:lnTo>
                  <a:lnTo>
                    <a:pt x="203708" y="25400"/>
                  </a:lnTo>
                  <a:cubicBezTo>
                    <a:pt x="105156" y="25400"/>
                    <a:pt x="25400" y="104775"/>
                    <a:pt x="25400" y="202438"/>
                  </a:cubicBezTo>
                  <a:close/>
                </a:path>
              </a:pathLst>
            </a:custGeom>
            <a:solidFill>
              <a:srgbClr val="FFFFFF"/>
            </a:solidFill>
          </p:spPr>
        </p:sp>
      </p:grpSp>
      <p:grpSp>
        <p:nvGrpSpPr>
          <p:cNvPr name="Group 20" id="20"/>
          <p:cNvGrpSpPr/>
          <p:nvPr/>
        </p:nvGrpSpPr>
        <p:grpSpPr>
          <a:xfrm rot="0">
            <a:off x="14481065" y="2617210"/>
            <a:ext cx="2782492" cy="1359080"/>
            <a:chOff x="0" y="0"/>
            <a:chExt cx="3709990" cy="1812106"/>
          </a:xfrm>
        </p:grpSpPr>
        <p:sp>
          <p:nvSpPr>
            <p:cNvPr name="Freeform 21" id="21"/>
            <p:cNvSpPr/>
            <p:nvPr/>
          </p:nvSpPr>
          <p:spPr>
            <a:xfrm flipH="false" flipV="false" rot="0">
              <a:off x="0" y="0"/>
              <a:ext cx="3709990" cy="1812106"/>
            </a:xfrm>
            <a:custGeom>
              <a:avLst/>
              <a:gdLst/>
              <a:ahLst/>
              <a:cxnLst/>
              <a:rect r="r" b="b" t="t" l="l"/>
              <a:pathLst>
                <a:path h="1812106" w="3709990">
                  <a:moveTo>
                    <a:pt x="0" y="0"/>
                  </a:moveTo>
                  <a:lnTo>
                    <a:pt x="3709990" y="0"/>
                  </a:lnTo>
                  <a:lnTo>
                    <a:pt x="3709990" y="1812106"/>
                  </a:lnTo>
                  <a:lnTo>
                    <a:pt x="0" y="1812106"/>
                  </a:lnTo>
                  <a:close/>
                </a:path>
              </a:pathLst>
            </a:custGeom>
            <a:solidFill>
              <a:srgbClr val="000000">
                <a:alpha val="0"/>
              </a:srgbClr>
            </a:solidFill>
          </p:spPr>
        </p:sp>
        <p:sp>
          <p:nvSpPr>
            <p:cNvPr name="TextBox 22" id="22"/>
            <p:cNvSpPr txBox="true"/>
            <p:nvPr/>
          </p:nvSpPr>
          <p:spPr>
            <a:xfrm>
              <a:off x="0" y="0"/>
              <a:ext cx="3709990"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Identificador del método.</a:t>
              </a:r>
            </a:p>
          </p:txBody>
        </p:sp>
      </p:grpSp>
      <p:grpSp>
        <p:nvGrpSpPr>
          <p:cNvPr name="Group 23" id="23"/>
          <p:cNvGrpSpPr/>
          <p:nvPr/>
        </p:nvGrpSpPr>
        <p:grpSpPr>
          <a:xfrm rot="0">
            <a:off x="10453820" y="4212444"/>
            <a:ext cx="2865875" cy="1442462"/>
            <a:chOff x="0" y="0"/>
            <a:chExt cx="3821166" cy="1923282"/>
          </a:xfrm>
        </p:grpSpPr>
        <p:sp>
          <p:nvSpPr>
            <p:cNvPr name="Freeform 24" id="24"/>
            <p:cNvSpPr/>
            <p:nvPr/>
          </p:nvSpPr>
          <p:spPr>
            <a:xfrm flipH="false" flipV="false" rot="0">
              <a:off x="12700" y="12700"/>
              <a:ext cx="3795776" cy="1897888"/>
            </a:xfrm>
            <a:custGeom>
              <a:avLst/>
              <a:gdLst/>
              <a:ahLst/>
              <a:cxnLst/>
              <a:rect r="r" b="b" t="t" l="l"/>
              <a:pathLst>
                <a:path h="1897888" w="3795776">
                  <a:moveTo>
                    <a:pt x="0" y="189738"/>
                  </a:moveTo>
                  <a:cubicBezTo>
                    <a:pt x="0" y="84963"/>
                    <a:pt x="85598" y="0"/>
                    <a:pt x="191008" y="0"/>
                  </a:cubicBezTo>
                  <a:lnTo>
                    <a:pt x="3604768" y="0"/>
                  </a:lnTo>
                  <a:cubicBezTo>
                    <a:pt x="3710305" y="0"/>
                    <a:pt x="3795776" y="84963"/>
                    <a:pt x="3795776" y="189738"/>
                  </a:cubicBezTo>
                  <a:lnTo>
                    <a:pt x="3795776" y="1708150"/>
                  </a:lnTo>
                  <a:cubicBezTo>
                    <a:pt x="3795776" y="1812925"/>
                    <a:pt x="3710178" y="1897888"/>
                    <a:pt x="3604768" y="1897888"/>
                  </a:cubicBezTo>
                  <a:lnTo>
                    <a:pt x="191008" y="1897888"/>
                  </a:lnTo>
                  <a:cubicBezTo>
                    <a:pt x="85598" y="1897888"/>
                    <a:pt x="0" y="1812925"/>
                    <a:pt x="0" y="1708150"/>
                  </a:cubicBezTo>
                  <a:close/>
                </a:path>
              </a:pathLst>
            </a:custGeom>
            <a:solidFill>
              <a:srgbClr val="B13B48"/>
            </a:solidFill>
          </p:spPr>
        </p:sp>
        <p:sp>
          <p:nvSpPr>
            <p:cNvPr name="Freeform 25" id="25"/>
            <p:cNvSpPr/>
            <p:nvPr/>
          </p:nvSpPr>
          <p:spPr>
            <a:xfrm flipH="false" flipV="false" rot="0">
              <a:off x="0" y="0"/>
              <a:ext cx="3821176" cy="1923288"/>
            </a:xfrm>
            <a:custGeom>
              <a:avLst/>
              <a:gdLst/>
              <a:ahLst/>
              <a:cxnLst/>
              <a:rect r="r" b="b" t="t" l="l"/>
              <a:pathLst>
                <a:path h="1923288" w="3821176">
                  <a:moveTo>
                    <a:pt x="0" y="202438"/>
                  </a:moveTo>
                  <a:cubicBezTo>
                    <a:pt x="0" y="90551"/>
                    <a:pt x="91313" y="0"/>
                    <a:pt x="203708" y="0"/>
                  </a:cubicBezTo>
                  <a:lnTo>
                    <a:pt x="3617468" y="0"/>
                  </a:lnTo>
                  <a:lnTo>
                    <a:pt x="3617468" y="12700"/>
                  </a:lnTo>
                  <a:lnTo>
                    <a:pt x="3617468" y="0"/>
                  </a:lnTo>
                  <a:cubicBezTo>
                    <a:pt x="3729863" y="0"/>
                    <a:pt x="3821176" y="90551"/>
                    <a:pt x="3821176" y="202438"/>
                  </a:cubicBezTo>
                  <a:lnTo>
                    <a:pt x="3808476" y="202438"/>
                  </a:lnTo>
                  <a:lnTo>
                    <a:pt x="3821176" y="202438"/>
                  </a:lnTo>
                  <a:lnTo>
                    <a:pt x="3821176" y="1720850"/>
                  </a:lnTo>
                  <a:lnTo>
                    <a:pt x="3808476" y="1720850"/>
                  </a:lnTo>
                  <a:lnTo>
                    <a:pt x="3821176" y="1720850"/>
                  </a:lnTo>
                  <a:cubicBezTo>
                    <a:pt x="3821176" y="1832737"/>
                    <a:pt x="3729863" y="1923288"/>
                    <a:pt x="3617468" y="1923288"/>
                  </a:cubicBezTo>
                  <a:lnTo>
                    <a:pt x="3617468" y="1910588"/>
                  </a:lnTo>
                  <a:lnTo>
                    <a:pt x="3617468" y="1923288"/>
                  </a:lnTo>
                  <a:lnTo>
                    <a:pt x="203708" y="1923288"/>
                  </a:lnTo>
                  <a:lnTo>
                    <a:pt x="203708" y="1910588"/>
                  </a:lnTo>
                  <a:lnTo>
                    <a:pt x="203708" y="1923288"/>
                  </a:lnTo>
                  <a:cubicBezTo>
                    <a:pt x="91313" y="1923288"/>
                    <a:pt x="0" y="1832737"/>
                    <a:pt x="0" y="1720850"/>
                  </a:cubicBezTo>
                  <a:lnTo>
                    <a:pt x="0" y="202438"/>
                  </a:lnTo>
                  <a:lnTo>
                    <a:pt x="12700" y="202438"/>
                  </a:lnTo>
                  <a:lnTo>
                    <a:pt x="0" y="202438"/>
                  </a:lnTo>
                  <a:moveTo>
                    <a:pt x="25400" y="202438"/>
                  </a:moveTo>
                  <a:lnTo>
                    <a:pt x="25400" y="1720850"/>
                  </a:lnTo>
                  <a:lnTo>
                    <a:pt x="12700" y="1720850"/>
                  </a:lnTo>
                  <a:lnTo>
                    <a:pt x="25400" y="1720850"/>
                  </a:lnTo>
                  <a:cubicBezTo>
                    <a:pt x="25400" y="1818513"/>
                    <a:pt x="105156" y="1897888"/>
                    <a:pt x="203708" y="1897888"/>
                  </a:cubicBezTo>
                  <a:lnTo>
                    <a:pt x="3617468" y="1897888"/>
                  </a:lnTo>
                  <a:cubicBezTo>
                    <a:pt x="3716020" y="1897888"/>
                    <a:pt x="3795776" y="1818513"/>
                    <a:pt x="3795776" y="1720850"/>
                  </a:cubicBezTo>
                  <a:lnTo>
                    <a:pt x="3795776" y="202438"/>
                  </a:lnTo>
                  <a:cubicBezTo>
                    <a:pt x="3795776" y="104775"/>
                    <a:pt x="3716020" y="25400"/>
                    <a:pt x="3617468" y="25400"/>
                  </a:cubicBezTo>
                  <a:lnTo>
                    <a:pt x="203708" y="25400"/>
                  </a:lnTo>
                  <a:lnTo>
                    <a:pt x="203708" y="12700"/>
                  </a:lnTo>
                  <a:lnTo>
                    <a:pt x="203708" y="25400"/>
                  </a:lnTo>
                  <a:cubicBezTo>
                    <a:pt x="105156" y="25400"/>
                    <a:pt x="25400" y="104775"/>
                    <a:pt x="25400" y="202438"/>
                  </a:cubicBezTo>
                  <a:close/>
                </a:path>
              </a:pathLst>
            </a:custGeom>
            <a:solidFill>
              <a:srgbClr val="FFFFFF"/>
            </a:solidFill>
          </p:spPr>
        </p:sp>
      </p:grpSp>
      <p:grpSp>
        <p:nvGrpSpPr>
          <p:cNvPr name="Group 26" id="26"/>
          <p:cNvGrpSpPr/>
          <p:nvPr/>
        </p:nvGrpSpPr>
        <p:grpSpPr>
          <a:xfrm rot="0">
            <a:off x="10495510" y="4254135"/>
            <a:ext cx="2782492" cy="1359080"/>
            <a:chOff x="0" y="0"/>
            <a:chExt cx="3709990" cy="1812106"/>
          </a:xfrm>
        </p:grpSpPr>
        <p:sp>
          <p:nvSpPr>
            <p:cNvPr name="Freeform 27" id="27"/>
            <p:cNvSpPr/>
            <p:nvPr/>
          </p:nvSpPr>
          <p:spPr>
            <a:xfrm flipH="false" flipV="false" rot="0">
              <a:off x="0" y="0"/>
              <a:ext cx="3709990" cy="1812106"/>
            </a:xfrm>
            <a:custGeom>
              <a:avLst/>
              <a:gdLst/>
              <a:ahLst/>
              <a:cxnLst/>
              <a:rect r="r" b="b" t="t" l="l"/>
              <a:pathLst>
                <a:path h="1812106" w="3709990">
                  <a:moveTo>
                    <a:pt x="0" y="0"/>
                  </a:moveTo>
                  <a:lnTo>
                    <a:pt x="3709990" y="0"/>
                  </a:lnTo>
                  <a:lnTo>
                    <a:pt x="3709990" y="1812106"/>
                  </a:lnTo>
                  <a:lnTo>
                    <a:pt x="0" y="1812106"/>
                  </a:lnTo>
                  <a:close/>
                </a:path>
              </a:pathLst>
            </a:custGeom>
            <a:solidFill>
              <a:srgbClr val="000000">
                <a:alpha val="0"/>
              </a:srgbClr>
            </a:solidFill>
          </p:spPr>
        </p:sp>
        <p:sp>
          <p:nvSpPr>
            <p:cNvPr name="TextBox 28" id="28"/>
            <p:cNvSpPr txBox="true"/>
            <p:nvPr/>
          </p:nvSpPr>
          <p:spPr>
            <a:xfrm>
              <a:off x="0" y="0"/>
              <a:ext cx="3709990"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Parámetros</a:t>
              </a:r>
            </a:p>
          </p:txBody>
        </p:sp>
      </p:grpSp>
      <p:grpSp>
        <p:nvGrpSpPr>
          <p:cNvPr name="Group 29" id="29"/>
          <p:cNvGrpSpPr/>
          <p:nvPr/>
        </p:nvGrpSpPr>
        <p:grpSpPr>
          <a:xfrm rot="0">
            <a:off x="14439374" y="4212444"/>
            <a:ext cx="2865874" cy="1442462"/>
            <a:chOff x="0" y="0"/>
            <a:chExt cx="3821166" cy="1923282"/>
          </a:xfrm>
        </p:grpSpPr>
        <p:sp>
          <p:nvSpPr>
            <p:cNvPr name="Freeform 30" id="30"/>
            <p:cNvSpPr/>
            <p:nvPr/>
          </p:nvSpPr>
          <p:spPr>
            <a:xfrm flipH="false" flipV="false" rot="0">
              <a:off x="12700" y="12700"/>
              <a:ext cx="3795776" cy="1897888"/>
            </a:xfrm>
            <a:custGeom>
              <a:avLst/>
              <a:gdLst/>
              <a:ahLst/>
              <a:cxnLst/>
              <a:rect r="r" b="b" t="t" l="l"/>
              <a:pathLst>
                <a:path h="1897888" w="3795776">
                  <a:moveTo>
                    <a:pt x="0" y="189738"/>
                  </a:moveTo>
                  <a:cubicBezTo>
                    <a:pt x="0" y="84963"/>
                    <a:pt x="85598" y="0"/>
                    <a:pt x="191008" y="0"/>
                  </a:cubicBezTo>
                  <a:lnTo>
                    <a:pt x="3604768" y="0"/>
                  </a:lnTo>
                  <a:cubicBezTo>
                    <a:pt x="3710305" y="0"/>
                    <a:pt x="3795776" y="84963"/>
                    <a:pt x="3795776" y="189738"/>
                  </a:cubicBezTo>
                  <a:lnTo>
                    <a:pt x="3795776" y="1708150"/>
                  </a:lnTo>
                  <a:cubicBezTo>
                    <a:pt x="3795776" y="1812925"/>
                    <a:pt x="3710178" y="1897888"/>
                    <a:pt x="3604768" y="1897888"/>
                  </a:cubicBezTo>
                  <a:lnTo>
                    <a:pt x="191008" y="1897888"/>
                  </a:lnTo>
                  <a:cubicBezTo>
                    <a:pt x="85598" y="1897888"/>
                    <a:pt x="0" y="1812925"/>
                    <a:pt x="0" y="1708150"/>
                  </a:cubicBezTo>
                  <a:close/>
                </a:path>
              </a:pathLst>
            </a:custGeom>
            <a:solidFill>
              <a:srgbClr val="4D64C3"/>
            </a:solidFill>
          </p:spPr>
        </p:sp>
        <p:sp>
          <p:nvSpPr>
            <p:cNvPr name="Freeform 31" id="31"/>
            <p:cNvSpPr/>
            <p:nvPr/>
          </p:nvSpPr>
          <p:spPr>
            <a:xfrm flipH="false" flipV="false" rot="0">
              <a:off x="0" y="0"/>
              <a:ext cx="3821176" cy="1923288"/>
            </a:xfrm>
            <a:custGeom>
              <a:avLst/>
              <a:gdLst/>
              <a:ahLst/>
              <a:cxnLst/>
              <a:rect r="r" b="b" t="t" l="l"/>
              <a:pathLst>
                <a:path h="1923288" w="3821176">
                  <a:moveTo>
                    <a:pt x="0" y="202438"/>
                  </a:moveTo>
                  <a:cubicBezTo>
                    <a:pt x="0" y="90551"/>
                    <a:pt x="91313" y="0"/>
                    <a:pt x="203708" y="0"/>
                  </a:cubicBezTo>
                  <a:lnTo>
                    <a:pt x="3617468" y="0"/>
                  </a:lnTo>
                  <a:lnTo>
                    <a:pt x="3617468" y="12700"/>
                  </a:lnTo>
                  <a:lnTo>
                    <a:pt x="3617468" y="0"/>
                  </a:lnTo>
                  <a:cubicBezTo>
                    <a:pt x="3729863" y="0"/>
                    <a:pt x="3821176" y="90551"/>
                    <a:pt x="3821176" y="202438"/>
                  </a:cubicBezTo>
                  <a:lnTo>
                    <a:pt x="3808476" y="202438"/>
                  </a:lnTo>
                  <a:lnTo>
                    <a:pt x="3821176" y="202438"/>
                  </a:lnTo>
                  <a:lnTo>
                    <a:pt x="3821176" y="1720850"/>
                  </a:lnTo>
                  <a:lnTo>
                    <a:pt x="3808476" y="1720850"/>
                  </a:lnTo>
                  <a:lnTo>
                    <a:pt x="3821176" y="1720850"/>
                  </a:lnTo>
                  <a:cubicBezTo>
                    <a:pt x="3821176" y="1832737"/>
                    <a:pt x="3729863" y="1923288"/>
                    <a:pt x="3617468" y="1923288"/>
                  </a:cubicBezTo>
                  <a:lnTo>
                    <a:pt x="3617468" y="1910588"/>
                  </a:lnTo>
                  <a:lnTo>
                    <a:pt x="3617468" y="1923288"/>
                  </a:lnTo>
                  <a:lnTo>
                    <a:pt x="203708" y="1923288"/>
                  </a:lnTo>
                  <a:lnTo>
                    <a:pt x="203708" y="1910588"/>
                  </a:lnTo>
                  <a:lnTo>
                    <a:pt x="203708" y="1923288"/>
                  </a:lnTo>
                  <a:cubicBezTo>
                    <a:pt x="91313" y="1923288"/>
                    <a:pt x="0" y="1832737"/>
                    <a:pt x="0" y="1720850"/>
                  </a:cubicBezTo>
                  <a:lnTo>
                    <a:pt x="0" y="202438"/>
                  </a:lnTo>
                  <a:lnTo>
                    <a:pt x="12700" y="202438"/>
                  </a:lnTo>
                  <a:lnTo>
                    <a:pt x="0" y="202438"/>
                  </a:lnTo>
                  <a:moveTo>
                    <a:pt x="25400" y="202438"/>
                  </a:moveTo>
                  <a:lnTo>
                    <a:pt x="25400" y="1720850"/>
                  </a:lnTo>
                  <a:lnTo>
                    <a:pt x="12700" y="1720850"/>
                  </a:lnTo>
                  <a:lnTo>
                    <a:pt x="25400" y="1720850"/>
                  </a:lnTo>
                  <a:cubicBezTo>
                    <a:pt x="25400" y="1818513"/>
                    <a:pt x="105156" y="1897888"/>
                    <a:pt x="203708" y="1897888"/>
                  </a:cubicBezTo>
                  <a:lnTo>
                    <a:pt x="3617468" y="1897888"/>
                  </a:lnTo>
                  <a:cubicBezTo>
                    <a:pt x="3716020" y="1897888"/>
                    <a:pt x="3795776" y="1818513"/>
                    <a:pt x="3795776" y="1720850"/>
                  </a:cubicBezTo>
                  <a:lnTo>
                    <a:pt x="3795776" y="202438"/>
                  </a:lnTo>
                  <a:cubicBezTo>
                    <a:pt x="3795776" y="104775"/>
                    <a:pt x="3716020" y="25400"/>
                    <a:pt x="3617468" y="25400"/>
                  </a:cubicBezTo>
                  <a:lnTo>
                    <a:pt x="203708" y="25400"/>
                  </a:lnTo>
                  <a:lnTo>
                    <a:pt x="203708" y="12700"/>
                  </a:lnTo>
                  <a:lnTo>
                    <a:pt x="203708" y="25400"/>
                  </a:lnTo>
                  <a:cubicBezTo>
                    <a:pt x="105156" y="25400"/>
                    <a:pt x="25400" y="104775"/>
                    <a:pt x="25400" y="202438"/>
                  </a:cubicBezTo>
                  <a:close/>
                </a:path>
              </a:pathLst>
            </a:custGeom>
            <a:solidFill>
              <a:srgbClr val="FFFFFF"/>
            </a:solidFill>
          </p:spPr>
        </p:sp>
      </p:grpSp>
      <p:grpSp>
        <p:nvGrpSpPr>
          <p:cNvPr name="Group 32" id="32"/>
          <p:cNvGrpSpPr/>
          <p:nvPr/>
        </p:nvGrpSpPr>
        <p:grpSpPr>
          <a:xfrm rot="0">
            <a:off x="14481065" y="4254135"/>
            <a:ext cx="2782492" cy="1359080"/>
            <a:chOff x="0" y="0"/>
            <a:chExt cx="3709990" cy="1812106"/>
          </a:xfrm>
        </p:grpSpPr>
        <p:sp>
          <p:nvSpPr>
            <p:cNvPr name="Freeform 33" id="33"/>
            <p:cNvSpPr/>
            <p:nvPr/>
          </p:nvSpPr>
          <p:spPr>
            <a:xfrm flipH="false" flipV="false" rot="0">
              <a:off x="0" y="0"/>
              <a:ext cx="3709990" cy="1812106"/>
            </a:xfrm>
            <a:custGeom>
              <a:avLst/>
              <a:gdLst/>
              <a:ahLst/>
              <a:cxnLst/>
              <a:rect r="r" b="b" t="t" l="l"/>
              <a:pathLst>
                <a:path h="1812106" w="3709990">
                  <a:moveTo>
                    <a:pt x="0" y="0"/>
                  </a:moveTo>
                  <a:lnTo>
                    <a:pt x="3709990" y="0"/>
                  </a:lnTo>
                  <a:lnTo>
                    <a:pt x="3709990" y="1812106"/>
                  </a:lnTo>
                  <a:lnTo>
                    <a:pt x="0" y="1812106"/>
                  </a:lnTo>
                  <a:close/>
                </a:path>
              </a:pathLst>
            </a:custGeom>
            <a:solidFill>
              <a:srgbClr val="000000">
                <a:alpha val="0"/>
              </a:srgbClr>
            </a:solidFill>
          </p:spPr>
        </p:sp>
        <p:sp>
          <p:nvSpPr>
            <p:cNvPr name="TextBox 34" id="34"/>
            <p:cNvSpPr txBox="true"/>
            <p:nvPr/>
          </p:nvSpPr>
          <p:spPr>
            <a:xfrm>
              <a:off x="0" y="0"/>
              <a:ext cx="3709990"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Lista de argumentos que recibe el método.</a:t>
              </a:r>
            </a:p>
          </p:txBody>
        </p:sp>
      </p:grpSp>
      <p:grpSp>
        <p:nvGrpSpPr>
          <p:cNvPr name="Group 35" id="35"/>
          <p:cNvGrpSpPr/>
          <p:nvPr/>
        </p:nvGrpSpPr>
        <p:grpSpPr>
          <a:xfrm rot="0">
            <a:off x="10453820" y="5849369"/>
            <a:ext cx="2865875" cy="1442462"/>
            <a:chOff x="0" y="0"/>
            <a:chExt cx="3821166" cy="1923282"/>
          </a:xfrm>
        </p:grpSpPr>
        <p:sp>
          <p:nvSpPr>
            <p:cNvPr name="Freeform 36" id="36"/>
            <p:cNvSpPr/>
            <p:nvPr/>
          </p:nvSpPr>
          <p:spPr>
            <a:xfrm flipH="false" flipV="false" rot="0">
              <a:off x="12700" y="12700"/>
              <a:ext cx="3795776" cy="1897888"/>
            </a:xfrm>
            <a:custGeom>
              <a:avLst/>
              <a:gdLst/>
              <a:ahLst/>
              <a:cxnLst/>
              <a:rect r="r" b="b" t="t" l="l"/>
              <a:pathLst>
                <a:path h="1897888" w="3795776">
                  <a:moveTo>
                    <a:pt x="0" y="189738"/>
                  </a:moveTo>
                  <a:cubicBezTo>
                    <a:pt x="0" y="84963"/>
                    <a:pt x="85598" y="0"/>
                    <a:pt x="191008" y="0"/>
                  </a:cubicBezTo>
                  <a:lnTo>
                    <a:pt x="3604768" y="0"/>
                  </a:lnTo>
                  <a:cubicBezTo>
                    <a:pt x="3710305" y="0"/>
                    <a:pt x="3795776" y="84963"/>
                    <a:pt x="3795776" y="189738"/>
                  </a:cubicBezTo>
                  <a:lnTo>
                    <a:pt x="3795776" y="1708150"/>
                  </a:lnTo>
                  <a:cubicBezTo>
                    <a:pt x="3795776" y="1812925"/>
                    <a:pt x="3710178" y="1897888"/>
                    <a:pt x="3604768" y="1897888"/>
                  </a:cubicBezTo>
                  <a:lnTo>
                    <a:pt x="191008" y="1897888"/>
                  </a:lnTo>
                  <a:cubicBezTo>
                    <a:pt x="85598" y="1897888"/>
                    <a:pt x="0" y="1812925"/>
                    <a:pt x="0" y="1708150"/>
                  </a:cubicBezTo>
                  <a:close/>
                </a:path>
              </a:pathLst>
            </a:custGeom>
            <a:solidFill>
              <a:srgbClr val="B13B48"/>
            </a:solidFill>
          </p:spPr>
        </p:sp>
        <p:sp>
          <p:nvSpPr>
            <p:cNvPr name="Freeform 37" id="37"/>
            <p:cNvSpPr/>
            <p:nvPr/>
          </p:nvSpPr>
          <p:spPr>
            <a:xfrm flipH="false" flipV="false" rot="0">
              <a:off x="0" y="0"/>
              <a:ext cx="3821176" cy="1923288"/>
            </a:xfrm>
            <a:custGeom>
              <a:avLst/>
              <a:gdLst/>
              <a:ahLst/>
              <a:cxnLst/>
              <a:rect r="r" b="b" t="t" l="l"/>
              <a:pathLst>
                <a:path h="1923288" w="3821176">
                  <a:moveTo>
                    <a:pt x="0" y="202438"/>
                  </a:moveTo>
                  <a:cubicBezTo>
                    <a:pt x="0" y="90551"/>
                    <a:pt x="91313" y="0"/>
                    <a:pt x="203708" y="0"/>
                  </a:cubicBezTo>
                  <a:lnTo>
                    <a:pt x="3617468" y="0"/>
                  </a:lnTo>
                  <a:lnTo>
                    <a:pt x="3617468" y="12700"/>
                  </a:lnTo>
                  <a:lnTo>
                    <a:pt x="3617468" y="0"/>
                  </a:lnTo>
                  <a:cubicBezTo>
                    <a:pt x="3729863" y="0"/>
                    <a:pt x="3821176" y="90551"/>
                    <a:pt x="3821176" y="202438"/>
                  </a:cubicBezTo>
                  <a:lnTo>
                    <a:pt x="3808476" y="202438"/>
                  </a:lnTo>
                  <a:lnTo>
                    <a:pt x="3821176" y="202438"/>
                  </a:lnTo>
                  <a:lnTo>
                    <a:pt x="3821176" y="1720850"/>
                  </a:lnTo>
                  <a:lnTo>
                    <a:pt x="3808476" y="1720850"/>
                  </a:lnTo>
                  <a:lnTo>
                    <a:pt x="3821176" y="1720850"/>
                  </a:lnTo>
                  <a:cubicBezTo>
                    <a:pt x="3821176" y="1832737"/>
                    <a:pt x="3729863" y="1923288"/>
                    <a:pt x="3617468" y="1923288"/>
                  </a:cubicBezTo>
                  <a:lnTo>
                    <a:pt x="3617468" y="1910588"/>
                  </a:lnTo>
                  <a:lnTo>
                    <a:pt x="3617468" y="1923288"/>
                  </a:lnTo>
                  <a:lnTo>
                    <a:pt x="203708" y="1923288"/>
                  </a:lnTo>
                  <a:lnTo>
                    <a:pt x="203708" y="1910588"/>
                  </a:lnTo>
                  <a:lnTo>
                    <a:pt x="203708" y="1923288"/>
                  </a:lnTo>
                  <a:cubicBezTo>
                    <a:pt x="91313" y="1923288"/>
                    <a:pt x="0" y="1832737"/>
                    <a:pt x="0" y="1720850"/>
                  </a:cubicBezTo>
                  <a:lnTo>
                    <a:pt x="0" y="202438"/>
                  </a:lnTo>
                  <a:lnTo>
                    <a:pt x="12700" y="202438"/>
                  </a:lnTo>
                  <a:lnTo>
                    <a:pt x="0" y="202438"/>
                  </a:lnTo>
                  <a:moveTo>
                    <a:pt x="25400" y="202438"/>
                  </a:moveTo>
                  <a:lnTo>
                    <a:pt x="25400" y="1720850"/>
                  </a:lnTo>
                  <a:lnTo>
                    <a:pt x="12700" y="1720850"/>
                  </a:lnTo>
                  <a:lnTo>
                    <a:pt x="25400" y="1720850"/>
                  </a:lnTo>
                  <a:cubicBezTo>
                    <a:pt x="25400" y="1818513"/>
                    <a:pt x="105156" y="1897888"/>
                    <a:pt x="203708" y="1897888"/>
                  </a:cubicBezTo>
                  <a:lnTo>
                    <a:pt x="3617468" y="1897888"/>
                  </a:lnTo>
                  <a:cubicBezTo>
                    <a:pt x="3716020" y="1897888"/>
                    <a:pt x="3795776" y="1818513"/>
                    <a:pt x="3795776" y="1720850"/>
                  </a:cubicBezTo>
                  <a:lnTo>
                    <a:pt x="3795776" y="202438"/>
                  </a:lnTo>
                  <a:cubicBezTo>
                    <a:pt x="3795776" y="104775"/>
                    <a:pt x="3716020" y="25400"/>
                    <a:pt x="3617468" y="25400"/>
                  </a:cubicBezTo>
                  <a:lnTo>
                    <a:pt x="203708" y="25400"/>
                  </a:lnTo>
                  <a:lnTo>
                    <a:pt x="203708" y="12700"/>
                  </a:lnTo>
                  <a:lnTo>
                    <a:pt x="203708" y="25400"/>
                  </a:lnTo>
                  <a:cubicBezTo>
                    <a:pt x="105156" y="25400"/>
                    <a:pt x="25400" y="104775"/>
                    <a:pt x="25400" y="202438"/>
                  </a:cubicBezTo>
                  <a:close/>
                </a:path>
              </a:pathLst>
            </a:custGeom>
            <a:solidFill>
              <a:srgbClr val="FFFFFF"/>
            </a:solidFill>
          </p:spPr>
        </p:sp>
      </p:grpSp>
      <p:grpSp>
        <p:nvGrpSpPr>
          <p:cNvPr name="Group 38" id="38"/>
          <p:cNvGrpSpPr/>
          <p:nvPr/>
        </p:nvGrpSpPr>
        <p:grpSpPr>
          <a:xfrm rot="0">
            <a:off x="10495510" y="5891060"/>
            <a:ext cx="2782492" cy="1359080"/>
            <a:chOff x="0" y="0"/>
            <a:chExt cx="3709990" cy="1812106"/>
          </a:xfrm>
        </p:grpSpPr>
        <p:sp>
          <p:nvSpPr>
            <p:cNvPr name="Freeform 39" id="39"/>
            <p:cNvSpPr/>
            <p:nvPr/>
          </p:nvSpPr>
          <p:spPr>
            <a:xfrm flipH="false" flipV="false" rot="0">
              <a:off x="0" y="0"/>
              <a:ext cx="3709990" cy="1812106"/>
            </a:xfrm>
            <a:custGeom>
              <a:avLst/>
              <a:gdLst/>
              <a:ahLst/>
              <a:cxnLst/>
              <a:rect r="r" b="b" t="t" l="l"/>
              <a:pathLst>
                <a:path h="1812106" w="3709990">
                  <a:moveTo>
                    <a:pt x="0" y="0"/>
                  </a:moveTo>
                  <a:lnTo>
                    <a:pt x="3709990" y="0"/>
                  </a:lnTo>
                  <a:lnTo>
                    <a:pt x="3709990" y="1812106"/>
                  </a:lnTo>
                  <a:lnTo>
                    <a:pt x="0" y="1812106"/>
                  </a:lnTo>
                  <a:close/>
                </a:path>
              </a:pathLst>
            </a:custGeom>
            <a:solidFill>
              <a:srgbClr val="000000">
                <a:alpha val="0"/>
              </a:srgbClr>
            </a:solidFill>
          </p:spPr>
        </p:sp>
        <p:sp>
          <p:nvSpPr>
            <p:cNvPr name="TextBox 40" id="40"/>
            <p:cNvSpPr txBox="true"/>
            <p:nvPr/>
          </p:nvSpPr>
          <p:spPr>
            <a:xfrm>
              <a:off x="0" y="0"/>
              <a:ext cx="3709990"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Tipo de retorno</a:t>
              </a:r>
            </a:p>
          </p:txBody>
        </p:sp>
      </p:grpSp>
      <p:grpSp>
        <p:nvGrpSpPr>
          <p:cNvPr name="Group 41" id="41"/>
          <p:cNvGrpSpPr/>
          <p:nvPr/>
        </p:nvGrpSpPr>
        <p:grpSpPr>
          <a:xfrm rot="0">
            <a:off x="14439374" y="5849369"/>
            <a:ext cx="2865874" cy="1442462"/>
            <a:chOff x="0" y="0"/>
            <a:chExt cx="3821166" cy="1923282"/>
          </a:xfrm>
        </p:grpSpPr>
        <p:sp>
          <p:nvSpPr>
            <p:cNvPr name="Freeform 42" id="42"/>
            <p:cNvSpPr/>
            <p:nvPr/>
          </p:nvSpPr>
          <p:spPr>
            <a:xfrm flipH="false" flipV="false" rot="0">
              <a:off x="12700" y="12700"/>
              <a:ext cx="3795776" cy="1897888"/>
            </a:xfrm>
            <a:custGeom>
              <a:avLst/>
              <a:gdLst/>
              <a:ahLst/>
              <a:cxnLst/>
              <a:rect r="r" b="b" t="t" l="l"/>
              <a:pathLst>
                <a:path h="1897888" w="3795776">
                  <a:moveTo>
                    <a:pt x="0" y="189738"/>
                  </a:moveTo>
                  <a:cubicBezTo>
                    <a:pt x="0" y="84963"/>
                    <a:pt x="85598" y="0"/>
                    <a:pt x="191008" y="0"/>
                  </a:cubicBezTo>
                  <a:lnTo>
                    <a:pt x="3604768" y="0"/>
                  </a:lnTo>
                  <a:cubicBezTo>
                    <a:pt x="3710305" y="0"/>
                    <a:pt x="3795776" y="84963"/>
                    <a:pt x="3795776" y="189738"/>
                  </a:cubicBezTo>
                  <a:lnTo>
                    <a:pt x="3795776" y="1708150"/>
                  </a:lnTo>
                  <a:cubicBezTo>
                    <a:pt x="3795776" y="1812925"/>
                    <a:pt x="3710178" y="1897888"/>
                    <a:pt x="3604768" y="1897888"/>
                  </a:cubicBezTo>
                  <a:lnTo>
                    <a:pt x="191008" y="1897888"/>
                  </a:lnTo>
                  <a:cubicBezTo>
                    <a:pt x="85598" y="1897888"/>
                    <a:pt x="0" y="1812925"/>
                    <a:pt x="0" y="1708150"/>
                  </a:cubicBezTo>
                  <a:close/>
                </a:path>
              </a:pathLst>
            </a:custGeom>
            <a:solidFill>
              <a:srgbClr val="4D64C3"/>
            </a:solidFill>
          </p:spPr>
        </p:sp>
        <p:sp>
          <p:nvSpPr>
            <p:cNvPr name="Freeform 43" id="43"/>
            <p:cNvSpPr/>
            <p:nvPr/>
          </p:nvSpPr>
          <p:spPr>
            <a:xfrm flipH="false" flipV="false" rot="0">
              <a:off x="0" y="0"/>
              <a:ext cx="3821176" cy="1923288"/>
            </a:xfrm>
            <a:custGeom>
              <a:avLst/>
              <a:gdLst/>
              <a:ahLst/>
              <a:cxnLst/>
              <a:rect r="r" b="b" t="t" l="l"/>
              <a:pathLst>
                <a:path h="1923288" w="3821176">
                  <a:moveTo>
                    <a:pt x="0" y="202438"/>
                  </a:moveTo>
                  <a:cubicBezTo>
                    <a:pt x="0" y="90551"/>
                    <a:pt x="91313" y="0"/>
                    <a:pt x="203708" y="0"/>
                  </a:cubicBezTo>
                  <a:lnTo>
                    <a:pt x="3617468" y="0"/>
                  </a:lnTo>
                  <a:lnTo>
                    <a:pt x="3617468" y="12700"/>
                  </a:lnTo>
                  <a:lnTo>
                    <a:pt x="3617468" y="0"/>
                  </a:lnTo>
                  <a:cubicBezTo>
                    <a:pt x="3729863" y="0"/>
                    <a:pt x="3821176" y="90551"/>
                    <a:pt x="3821176" y="202438"/>
                  </a:cubicBezTo>
                  <a:lnTo>
                    <a:pt x="3808476" y="202438"/>
                  </a:lnTo>
                  <a:lnTo>
                    <a:pt x="3821176" y="202438"/>
                  </a:lnTo>
                  <a:lnTo>
                    <a:pt x="3821176" y="1720850"/>
                  </a:lnTo>
                  <a:lnTo>
                    <a:pt x="3808476" y="1720850"/>
                  </a:lnTo>
                  <a:lnTo>
                    <a:pt x="3821176" y="1720850"/>
                  </a:lnTo>
                  <a:cubicBezTo>
                    <a:pt x="3821176" y="1832737"/>
                    <a:pt x="3729863" y="1923288"/>
                    <a:pt x="3617468" y="1923288"/>
                  </a:cubicBezTo>
                  <a:lnTo>
                    <a:pt x="3617468" y="1910588"/>
                  </a:lnTo>
                  <a:lnTo>
                    <a:pt x="3617468" y="1923288"/>
                  </a:lnTo>
                  <a:lnTo>
                    <a:pt x="203708" y="1923288"/>
                  </a:lnTo>
                  <a:lnTo>
                    <a:pt x="203708" y="1910588"/>
                  </a:lnTo>
                  <a:lnTo>
                    <a:pt x="203708" y="1923288"/>
                  </a:lnTo>
                  <a:cubicBezTo>
                    <a:pt x="91313" y="1923288"/>
                    <a:pt x="0" y="1832737"/>
                    <a:pt x="0" y="1720850"/>
                  </a:cubicBezTo>
                  <a:lnTo>
                    <a:pt x="0" y="202438"/>
                  </a:lnTo>
                  <a:lnTo>
                    <a:pt x="12700" y="202438"/>
                  </a:lnTo>
                  <a:lnTo>
                    <a:pt x="0" y="202438"/>
                  </a:lnTo>
                  <a:moveTo>
                    <a:pt x="25400" y="202438"/>
                  </a:moveTo>
                  <a:lnTo>
                    <a:pt x="25400" y="1720850"/>
                  </a:lnTo>
                  <a:lnTo>
                    <a:pt x="12700" y="1720850"/>
                  </a:lnTo>
                  <a:lnTo>
                    <a:pt x="25400" y="1720850"/>
                  </a:lnTo>
                  <a:cubicBezTo>
                    <a:pt x="25400" y="1818513"/>
                    <a:pt x="105156" y="1897888"/>
                    <a:pt x="203708" y="1897888"/>
                  </a:cubicBezTo>
                  <a:lnTo>
                    <a:pt x="3617468" y="1897888"/>
                  </a:lnTo>
                  <a:cubicBezTo>
                    <a:pt x="3716020" y="1897888"/>
                    <a:pt x="3795776" y="1818513"/>
                    <a:pt x="3795776" y="1720850"/>
                  </a:cubicBezTo>
                  <a:lnTo>
                    <a:pt x="3795776" y="202438"/>
                  </a:lnTo>
                  <a:cubicBezTo>
                    <a:pt x="3795776" y="104775"/>
                    <a:pt x="3716020" y="25400"/>
                    <a:pt x="3617468" y="25400"/>
                  </a:cubicBezTo>
                  <a:lnTo>
                    <a:pt x="203708" y="25400"/>
                  </a:lnTo>
                  <a:lnTo>
                    <a:pt x="203708" y="12700"/>
                  </a:lnTo>
                  <a:lnTo>
                    <a:pt x="203708" y="25400"/>
                  </a:lnTo>
                  <a:cubicBezTo>
                    <a:pt x="105156" y="25400"/>
                    <a:pt x="25400" y="104775"/>
                    <a:pt x="25400" y="202438"/>
                  </a:cubicBezTo>
                  <a:close/>
                </a:path>
              </a:pathLst>
            </a:custGeom>
            <a:solidFill>
              <a:srgbClr val="FFFFFF"/>
            </a:solidFill>
          </p:spPr>
        </p:sp>
      </p:grpSp>
      <p:grpSp>
        <p:nvGrpSpPr>
          <p:cNvPr name="Group 44" id="44"/>
          <p:cNvGrpSpPr/>
          <p:nvPr/>
        </p:nvGrpSpPr>
        <p:grpSpPr>
          <a:xfrm rot="0">
            <a:off x="14481065" y="5891060"/>
            <a:ext cx="2782492" cy="1359080"/>
            <a:chOff x="0" y="0"/>
            <a:chExt cx="3709990" cy="1812106"/>
          </a:xfrm>
        </p:grpSpPr>
        <p:sp>
          <p:nvSpPr>
            <p:cNvPr name="Freeform 45" id="45"/>
            <p:cNvSpPr/>
            <p:nvPr/>
          </p:nvSpPr>
          <p:spPr>
            <a:xfrm flipH="false" flipV="false" rot="0">
              <a:off x="0" y="0"/>
              <a:ext cx="3709990" cy="1812106"/>
            </a:xfrm>
            <a:custGeom>
              <a:avLst/>
              <a:gdLst/>
              <a:ahLst/>
              <a:cxnLst/>
              <a:rect r="r" b="b" t="t" l="l"/>
              <a:pathLst>
                <a:path h="1812106" w="3709990">
                  <a:moveTo>
                    <a:pt x="0" y="0"/>
                  </a:moveTo>
                  <a:lnTo>
                    <a:pt x="3709990" y="0"/>
                  </a:lnTo>
                  <a:lnTo>
                    <a:pt x="3709990" y="1812106"/>
                  </a:lnTo>
                  <a:lnTo>
                    <a:pt x="0" y="1812106"/>
                  </a:lnTo>
                  <a:close/>
                </a:path>
              </a:pathLst>
            </a:custGeom>
            <a:solidFill>
              <a:srgbClr val="000000">
                <a:alpha val="0"/>
              </a:srgbClr>
            </a:solidFill>
          </p:spPr>
        </p:sp>
        <p:sp>
          <p:nvSpPr>
            <p:cNvPr name="TextBox 46" id="46"/>
            <p:cNvSpPr txBox="true"/>
            <p:nvPr/>
          </p:nvSpPr>
          <p:spPr>
            <a:xfrm>
              <a:off x="0" y="0"/>
              <a:ext cx="3709990"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Tipo de dato que devuelve el método (puede ser void si no devuelve nada).</a:t>
              </a:r>
            </a:p>
          </p:txBody>
        </p:sp>
      </p:grpSp>
      <p:grpSp>
        <p:nvGrpSpPr>
          <p:cNvPr name="Group 47" id="47"/>
          <p:cNvGrpSpPr/>
          <p:nvPr/>
        </p:nvGrpSpPr>
        <p:grpSpPr>
          <a:xfrm rot="0">
            <a:off x="10453820" y="7486293"/>
            <a:ext cx="2865875" cy="1442462"/>
            <a:chOff x="0" y="0"/>
            <a:chExt cx="3821166" cy="1923282"/>
          </a:xfrm>
        </p:grpSpPr>
        <p:sp>
          <p:nvSpPr>
            <p:cNvPr name="Freeform 48" id="48"/>
            <p:cNvSpPr/>
            <p:nvPr/>
          </p:nvSpPr>
          <p:spPr>
            <a:xfrm flipH="false" flipV="false" rot="0">
              <a:off x="12700" y="12700"/>
              <a:ext cx="3795776" cy="1897888"/>
            </a:xfrm>
            <a:custGeom>
              <a:avLst/>
              <a:gdLst/>
              <a:ahLst/>
              <a:cxnLst/>
              <a:rect r="r" b="b" t="t" l="l"/>
              <a:pathLst>
                <a:path h="1897888" w="3795776">
                  <a:moveTo>
                    <a:pt x="0" y="189738"/>
                  </a:moveTo>
                  <a:cubicBezTo>
                    <a:pt x="0" y="84963"/>
                    <a:pt x="85598" y="0"/>
                    <a:pt x="191008" y="0"/>
                  </a:cubicBezTo>
                  <a:lnTo>
                    <a:pt x="3604768" y="0"/>
                  </a:lnTo>
                  <a:cubicBezTo>
                    <a:pt x="3710305" y="0"/>
                    <a:pt x="3795776" y="84963"/>
                    <a:pt x="3795776" y="189738"/>
                  </a:cubicBezTo>
                  <a:lnTo>
                    <a:pt x="3795776" y="1708150"/>
                  </a:lnTo>
                  <a:cubicBezTo>
                    <a:pt x="3795776" y="1812925"/>
                    <a:pt x="3710178" y="1897888"/>
                    <a:pt x="3604768" y="1897888"/>
                  </a:cubicBezTo>
                  <a:lnTo>
                    <a:pt x="191008" y="1897888"/>
                  </a:lnTo>
                  <a:cubicBezTo>
                    <a:pt x="85598" y="1897888"/>
                    <a:pt x="0" y="1812925"/>
                    <a:pt x="0" y="1708150"/>
                  </a:cubicBezTo>
                  <a:close/>
                </a:path>
              </a:pathLst>
            </a:custGeom>
            <a:solidFill>
              <a:srgbClr val="B13B48"/>
            </a:solidFill>
          </p:spPr>
        </p:sp>
        <p:sp>
          <p:nvSpPr>
            <p:cNvPr name="Freeform 49" id="49"/>
            <p:cNvSpPr/>
            <p:nvPr/>
          </p:nvSpPr>
          <p:spPr>
            <a:xfrm flipH="false" flipV="false" rot="0">
              <a:off x="0" y="0"/>
              <a:ext cx="3821176" cy="1923288"/>
            </a:xfrm>
            <a:custGeom>
              <a:avLst/>
              <a:gdLst/>
              <a:ahLst/>
              <a:cxnLst/>
              <a:rect r="r" b="b" t="t" l="l"/>
              <a:pathLst>
                <a:path h="1923288" w="3821176">
                  <a:moveTo>
                    <a:pt x="0" y="202438"/>
                  </a:moveTo>
                  <a:cubicBezTo>
                    <a:pt x="0" y="90551"/>
                    <a:pt x="91313" y="0"/>
                    <a:pt x="203708" y="0"/>
                  </a:cubicBezTo>
                  <a:lnTo>
                    <a:pt x="3617468" y="0"/>
                  </a:lnTo>
                  <a:lnTo>
                    <a:pt x="3617468" y="12700"/>
                  </a:lnTo>
                  <a:lnTo>
                    <a:pt x="3617468" y="0"/>
                  </a:lnTo>
                  <a:cubicBezTo>
                    <a:pt x="3729863" y="0"/>
                    <a:pt x="3821176" y="90551"/>
                    <a:pt x="3821176" y="202438"/>
                  </a:cubicBezTo>
                  <a:lnTo>
                    <a:pt x="3808476" y="202438"/>
                  </a:lnTo>
                  <a:lnTo>
                    <a:pt x="3821176" y="202438"/>
                  </a:lnTo>
                  <a:lnTo>
                    <a:pt x="3821176" y="1720850"/>
                  </a:lnTo>
                  <a:lnTo>
                    <a:pt x="3808476" y="1720850"/>
                  </a:lnTo>
                  <a:lnTo>
                    <a:pt x="3821176" y="1720850"/>
                  </a:lnTo>
                  <a:cubicBezTo>
                    <a:pt x="3821176" y="1832737"/>
                    <a:pt x="3729863" y="1923288"/>
                    <a:pt x="3617468" y="1923288"/>
                  </a:cubicBezTo>
                  <a:lnTo>
                    <a:pt x="3617468" y="1910588"/>
                  </a:lnTo>
                  <a:lnTo>
                    <a:pt x="3617468" y="1923288"/>
                  </a:lnTo>
                  <a:lnTo>
                    <a:pt x="203708" y="1923288"/>
                  </a:lnTo>
                  <a:lnTo>
                    <a:pt x="203708" y="1910588"/>
                  </a:lnTo>
                  <a:lnTo>
                    <a:pt x="203708" y="1923288"/>
                  </a:lnTo>
                  <a:cubicBezTo>
                    <a:pt x="91313" y="1923288"/>
                    <a:pt x="0" y="1832737"/>
                    <a:pt x="0" y="1720850"/>
                  </a:cubicBezTo>
                  <a:lnTo>
                    <a:pt x="0" y="202438"/>
                  </a:lnTo>
                  <a:lnTo>
                    <a:pt x="12700" y="202438"/>
                  </a:lnTo>
                  <a:lnTo>
                    <a:pt x="0" y="202438"/>
                  </a:lnTo>
                  <a:moveTo>
                    <a:pt x="25400" y="202438"/>
                  </a:moveTo>
                  <a:lnTo>
                    <a:pt x="25400" y="1720850"/>
                  </a:lnTo>
                  <a:lnTo>
                    <a:pt x="12700" y="1720850"/>
                  </a:lnTo>
                  <a:lnTo>
                    <a:pt x="25400" y="1720850"/>
                  </a:lnTo>
                  <a:cubicBezTo>
                    <a:pt x="25400" y="1818513"/>
                    <a:pt x="105156" y="1897888"/>
                    <a:pt x="203708" y="1897888"/>
                  </a:cubicBezTo>
                  <a:lnTo>
                    <a:pt x="3617468" y="1897888"/>
                  </a:lnTo>
                  <a:cubicBezTo>
                    <a:pt x="3716020" y="1897888"/>
                    <a:pt x="3795776" y="1818513"/>
                    <a:pt x="3795776" y="1720850"/>
                  </a:cubicBezTo>
                  <a:lnTo>
                    <a:pt x="3795776" y="202438"/>
                  </a:lnTo>
                  <a:cubicBezTo>
                    <a:pt x="3795776" y="104775"/>
                    <a:pt x="3716020" y="25400"/>
                    <a:pt x="3617468" y="25400"/>
                  </a:cubicBezTo>
                  <a:lnTo>
                    <a:pt x="203708" y="25400"/>
                  </a:lnTo>
                  <a:lnTo>
                    <a:pt x="203708" y="12700"/>
                  </a:lnTo>
                  <a:lnTo>
                    <a:pt x="203708" y="25400"/>
                  </a:lnTo>
                  <a:cubicBezTo>
                    <a:pt x="105156" y="25400"/>
                    <a:pt x="25400" y="104775"/>
                    <a:pt x="25400" y="202438"/>
                  </a:cubicBezTo>
                  <a:close/>
                </a:path>
              </a:pathLst>
            </a:custGeom>
            <a:solidFill>
              <a:srgbClr val="FFFFFF"/>
            </a:solidFill>
          </p:spPr>
        </p:sp>
      </p:grpSp>
      <p:grpSp>
        <p:nvGrpSpPr>
          <p:cNvPr name="Group 50" id="50"/>
          <p:cNvGrpSpPr/>
          <p:nvPr/>
        </p:nvGrpSpPr>
        <p:grpSpPr>
          <a:xfrm rot="0">
            <a:off x="10495510" y="7527984"/>
            <a:ext cx="2782492" cy="1359080"/>
            <a:chOff x="0" y="0"/>
            <a:chExt cx="3709990" cy="1812106"/>
          </a:xfrm>
        </p:grpSpPr>
        <p:sp>
          <p:nvSpPr>
            <p:cNvPr name="Freeform 51" id="51"/>
            <p:cNvSpPr/>
            <p:nvPr/>
          </p:nvSpPr>
          <p:spPr>
            <a:xfrm flipH="false" flipV="false" rot="0">
              <a:off x="0" y="0"/>
              <a:ext cx="3709990" cy="1812106"/>
            </a:xfrm>
            <a:custGeom>
              <a:avLst/>
              <a:gdLst/>
              <a:ahLst/>
              <a:cxnLst/>
              <a:rect r="r" b="b" t="t" l="l"/>
              <a:pathLst>
                <a:path h="1812106" w="3709990">
                  <a:moveTo>
                    <a:pt x="0" y="0"/>
                  </a:moveTo>
                  <a:lnTo>
                    <a:pt x="3709990" y="0"/>
                  </a:lnTo>
                  <a:lnTo>
                    <a:pt x="3709990" y="1812106"/>
                  </a:lnTo>
                  <a:lnTo>
                    <a:pt x="0" y="1812106"/>
                  </a:lnTo>
                  <a:close/>
                </a:path>
              </a:pathLst>
            </a:custGeom>
            <a:solidFill>
              <a:srgbClr val="000000">
                <a:alpha val="0"/>
              </a:srgbClr>
            </a:solidFill>
          </p:spPr>
        </p:sp>
        <p:sp>
          <p:nvSpPr>
            <p:cNvPr name="TextBox 52" id="52"/>
            <p:cNvSpPr txBox="true"/>
            <p:nvPr/>
          </p:nvSpPr>
          <p:spPr>
            <a:xfrm>
              <a:off x="0" y="0"/>
              <a:ext cx="3709990"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Visibilidad</a:t>
              </a:r>
            </a:p>
          </p:txBody>
        </p:sp>
      </p:grpSp>
      <p:grpSp>
        <p:nvGrpSpPr>
          <p:cNvPr name="Group 53" id="53"/>
          <p:cNvGrpSpPr/>
          <p:nvPr/>
        </p:nvGrpSpPr>
        <p:grpSpPr>
          <a:xfrm rot="0">
            <a:off x="14439374" y="7486293"/>
            <a:ext cx="2865874" cy="1442462"/>
            <a:chOff x="0" y="0"/>
            <a:chExt cx="3821166" cy="1923282"/>
          </a:xfrm>
        </p:grpSpPr>
        <p:sp>
          <p:nvSpPr>
            <p:cNvPr name="Freeform 54" id="54"/>
            <p:cNvSpPr/>
            <p:nvPr/>
          </p:nvSpPr>
          <p:spPr>
            <a:xfrm flipH="false" flipV="false" rot="0">
              <a:off x="12700" y="12700"/>
              <a:ext cx="3795776" cy="1897888"/>
            </a:xfrm>
            <a:custGeom>
              <a:avLst/>
              <a:gdLst/>
              <a:ahLst/>
              <a:cxnLst/>
              <a:rect r="r" b="b" t="t" l="l"/>
              <a:pathLst>
                <a:path h="1897888" w="3795776">
                  <a:moveTo>
                    <a:pt x="0" y="189738"/>
                  </a:moveTo>
                  <a:cubicBezTo>
                    <a:pt x="0" y="84963"/>
                    <a:pt x="85598" y="0"/>
                    <a:pt x="191008" y="0"/>
                  </a:cubicBezTo>
                  <a:lnTo>
                    <a:pt x="3604768" y="0"/>
                  </a:lnTo>
                  <a:cubicBezTo>
                    <a:pt x="3710305" y="0"/>
                    <a:pt x="3795776" y="84963"/>
                    <a:pt x="3795776" y="189738"/>
                  </a:cubicBezTo>
                  <a:lnTo>
                    <a:pt x="3795776" y="1708150"/>
                  </a:lnTo>
                  <a:cubicBezTo>
                    <a:pt x="3795776" y="1812925"/>
                    <a:pt x="3710178" y="1897888"/>
                    <a:pt x="3604768" y="1897888"/>
                  </a:cubicBezTo>
                  <a:lnTo>
                    <a:pt x="191008" y="1897888"/>
                  </a:lnTo>
                  <a:cubicBezTo>
                    <a:pt x="85598" y="1897888"/>
                    <a:pt x="0" y="1812925"/>
                    <a:pt x="0" y="1708150"/>
                  </a:cubicBezTo>
                  <a:close/>
                </a:path>
              </a:pathLst>
            </a:custGeom>
            <a:solidFill>
              <a:srgbClr val="4D64C3"/>
            </a:solidFill>
          </p:spPr>
        </p:sp>
        <p:sp>
          <p:nvSpPr>
            <p:cNvPr name="Freeform 55" id="55"/>
            <p:cNvSpPr/>
            <p:nvPr/>
          </p:nvSpPr>
          <p:spPr>
            <a:xfrm flipH="false" flipV="false" rot="0">
              <a:off x="0" y="0"/>
              <a:ext cx="3821176" cy="1923288"/>
            </a:xfrm>
            <a:custGeom>
              <a:avLst/>
              <a:gdLst/>
              <a:ahLst/>
              <a:cxnLst/>
              <a:rect r="r" b="b" t="t" l="l"/>
              <a:pathLst>
                <a:path h="1923288" w="3821176">
                  <a:moveTo>
                    <a:pt x="0" y="202438"/>
                  </a:moveTo>
                  <a:cubicBezTo>
                    <a:pt x="0" y="90551"/>
                    <a:pt x="91313" y="0"/>
                    <a:pt x="203708" y="0"/>
                  </a:cubicBezTo>
                  <a:lnTo>
                    <a:pt x="3617468" y="0"/>
                  </a:lnTo>
                  <a:lnTo>
                    <a:pt x="3617468" y="12700"/>
                  </a:lnTo>
                  <a:lnTo>
                    <a:pt x="3617468" y="0"/>
                  </a:lnTo>
                  <a:cubicBezTo>
                    <a:pt x="3729863" y="0"/>
                    <a:pt x="3821176" y="90551"/>
                    <a:pt x="3821176" y="202438"/>
                  </a:cubicBezTo>
                  <a:lnTo>
                    <a:pt x="3808476" y="202438"/>
                  </a:lnTo>
                  <a:lnTo>
                    <a:pt x="3821176" y="202438"/>
                  </a:lnTo>
                  <a:lnTo>
                    <a:pt x="3821176" y="1720850"/>
                  </a:lnTo>
                  <a:lnTo>
                    <a:pt x="3808476" y="1720850"/>
                  </a:lnTo>
                  <a:lnTo>
                    <a:pt x="3821176" y="1720850"/>
                  </a:lnTo>
                  <a:cubicBezTo>
                    <a:pt x="3821176" y="1832737"/>
                    <a:pt x="3729863" y="1923288"/>
                    <a:pt x="3617468" y="1923288"/>
                  </a:cubicBezTo>
                  <a:lnTo>
                    <a:pt x="3617468" y="1910588"/>
                  </a:lnTo>
                  <a:lnTo>
                    <a:pt x="3617468" y="1923288"/>
                  </a:lnTo>
                  <a:lnTo>
                    <a:pt x="203708" y="1923288"/>
                  </a:lnTo>
                  <a:lnTo>
                    <a:pt x="203708" y="1910588"/>
                  </a:lnTo>
                  <a:lnTo>
                    <a:pt x="203708" y="1923288"/>
                  </a:lnTo>
                  <a:cubicBezTo>
                    <a:pt x="91313" y="1923288"/>
                    <a:pt x="0" y="1832737"/>
                    <a:pt x="0" y="1720850"/>
                  </a:cubicBezTo>
                  <a:lnTo>
                    <a:pt x="0" y="202438"/>
                  </a:lnTo>
                  <a:lnTo>
                    <a:pt x="12700" y="202438"/>
                  </a:lnTo>
                  <a:lnTo>
                    <a:pt x="0" y="202438"/>
                  </a:lnTo>
                  <a:moveTo>
                    <a:pt x="25400" y="202438"/>
                  </a:moveTo>
                  <a:lnTo>
                    <a:pt x="25400" y="1720850"/>
                  </a:lnTo>
                  <a:lnTo>
                    <a:pt x="12700" y="1720850"/>
                  </a:lnTo>
                  <a:lnTo>
                    <a:pt x="25400" y="1720850"/>
                  </a:lnTo>
                  <a:cubicBezTo>
                    <a:pt x="25400" y="1818513"/>
                    <a:pt x="105156" y="1897888"/>
                    <a:pt x="203708" y="1897888"/>
                  </a:cubicBezTo>
                  <a:lnTo>
                    <a:pt x="3617468" y="1897888"/>
                  </a:lnTo>
                  <a:cubicBezTo>
                    <a:pt x="3716020" y="1897888"/>
                    <a:pt x="3795776" y="1818513"/>
                    <a:pt x="3795776" y="1720850"/>
                  </a:cubicBezTo>
                  <a:lnTo>
                    <a:pt x="3795776" y="202438"/>
                  </a:lnTo>
                  <a:cubicBezTo>
                    <a:pt x="3795776" y="104775"/>
                    <a:pt x="3716020" y="25400"/>
                    <a:pt x="3617468" y="25400"/>
                  </a:cubicBezTo>
                  <a:lnTo>
                    <a:pt x="203708" y="25400"/>
                  </a:lnTo>
                  <a:lnTo>
                    <a:pt x="203708" y="12700"/>
                  </a:lnTo>
                  <a:lnTo>
                    <a:pt x="203708" y="25400"/>
                  </a:lnTo>
                  <a:cubicBezTo>
                    <a:pt x="105156" y="25400"/>
                    <a:pt x="25400" y="104775"/>
                    <a:pt x="25400" y="202438"/>
                  </a:cubicBezTo>
                  <a:close/>
                </a:path>
              </a:pathLst>
            </a:custGeom>
            <a:solidFill>
              <a:srgbClr val="FFFFFF"/>
            </a:solidFill>
          </p:spPr>
        </p:sp>
      </p:grpSp>
      <p:grpSp>
        <p:nvGrpSpPr>
          <p:cNvPr name="Group 56" id="56"/>
          <p:cNvGrpSpPr/>
          <p:nvPr/>
        </p:nvGrpSpPr>
        <p:grpSpPr>
          <a:xfrm rot="0">
            <a:off x="14481065" y="7527984"/>
            <a:ext cx="2782492" cy="1359080"/>
            <a:chOff x="0" y="0"/>
            <a:chExt cx="3709990" cy="1812106"/>
          </a:xfrm>
        </p:grpSpPr>
        <p:sp>
          <p:nvSpPr>
            <p:cNvPr name="Freeform 57" id="57"/>
            <p:cNvSpPr/>
            <p:nvPr/>
          </p:nvSpPr>
          <p:spPr>
            <a:xfrm flipH="false" flipV="false" rot="0">
              <a:off x="0" y="0"/>
              <a:ext cx="3709990" cy="1812106"/>
            </a:xfrm>
            <a:custGeom>
              <a:avLst/>
              <a:gdLst/>
              <a:ahLst/>
              <a:cxnLst/>
              <a:rect r="r" b="b" t="t" l="l"/>
              <a:pathLst>
                <a:path h="1812106" w="3709990">
                  <a:moveTo>
                    <a:pt x="0" y="0"/>
                  </a:moveTo>
                  <a:lnTo>
                    <a:pt x="3709990" y="0"/>
                  </a:lnTo>
                  <a:lnTo>
                    <a:pt x="3709990" y="1812106"/>
                  </a:lnTo>
                  <a:lnTo>
                    <a:pt x="0" y="1812106"/>
                  </a:lnTo>
                  <a:close/>
                </a:path>
              </a:pathLst>
            </a:custGeom>
            <a:solidFill>
              <a:srgbClr val="000000">
                <a:alpha val="0"/>
              </a:srgbClr>
            </a:solidFill>
          </p:spPr>
        </p:sp>
        <p:sp>
          <p:nvSpPr>
            <p:cNvPr name="TextBox 58" id="58"/>
            <p:cNvSpPr txBox="true"/>
            <p:nvPr/>
          </p:nvSpPr>
          <p:spPr>
            <a:xfrm>
              <a:off x="0" y="0"/>
              <a:ext cx="3709990" cy="1812106"/>
            </a:xfrm>
            <a:prstGeom prst="rect">
              <a:avLst/>
            </a:prstGeom>
          </p:spPr>
          <p:txBody>
            <a:bodyPr anchor="ctr" rtlCol="false" tIns="0" lIns="0" bIns="0" rIns="0"/>
            <a:lstStyle/>
            <a:p>
              <a:pPr algn="ctr">
                <a:lnSpc>
                  <a:spcPts val="2106"/>
                </a:lnSpc>
              </a:pPr>
              <a:r>
                <a:rPr lang="en-US" sz="1950">
                  <a:solidFill>
                    <a:srgbClr val="FFFFFF"/>
                  </a:solidFill>
                  <a:latin typeface="Arimo"/>
                  <a:ea typeface="Arimo"/>
                  <a:cs typeface="Arimo"/>
                  <a:sym typeface="Arimo"/>
                </a:rPr>
                <a:t>Nivel de acceso al método (+ público, - privado, # protegido, ~ paquete).</a:t>
              </a:r>
            </a:p>
          </p:txBody>
        </p:sp>
      </p:gr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12698" y="3473735"/>
            <a:ext cx="5330952" cy="2949575"/>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Relaciones entre Clases</a:t>
            </a:r>
          </a:p>
        </p:txBody>
      </p:sp>
      <p:sp>
        <p:nvSpPr>
          <p:cNvPr name="AutoShape 4" id="4"/>
          <p:cNvSpPr/>
          <p:nvPr/>
        </p:nvSpPr>
        <p:spPr>
          <a:xfrm rot="23980">
            <a:off x="951030" y="9380601"/>
            <a:ext cx="16385941" cy="0"/>
          </a:xfrm>
          <a:prstGeom prst="line">
            <a:avLst/>
          </a:prstGeom>
          <a:ln cap="rnd" w="57150">
            <a:solidFill>
              <a:srgbClr val="4D64C3"/>
            </a:solidFill>
            <a:prstDash val="solid"/>
            <a:headEnd type="none" len="sm" w="sm"/>
            <a:tailEnd type="none" len="sm" w="sm"/>
          </a:ln>
        </p:spPr>
      </p:sp>
      <p:grpSp>
        <p:nvGrpSpPr>
          <p:cNvPr name="Group 5" id="5"/>
          <p:cNvGrpSpPr/>
          <p:nvPr/>
        </p:nvGrpSpPr>
        <p:grpSpPr>
          <a:xfrm rot="0">
            <a:off x="8139393" y="2700104"/>
            <a:ext cx="8082125" cy="548250"/>
            <a:chOff x="0" y="0"/>
            <a:chExt cx="10776166" cy="731000"/>
          </a:xfrm>
        </p:grpSpPr>
        <p:sp>
          <p:nvSpPr>
            <p:cNvPr name="Freeform 6" id="6"/>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7" id="7"/>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553BB1"/>
            </a:solidFill>
          </p:spPr>
        </p:sp>
      </p:grpSp>
      <p:grpSp>
        <p:nvGrpSpPr>
          <p:cNvPr name="Group 8" id="8"/>
          <p:cNvGrpSpPr/>
          <p:nvPr/>
        </p:nvGrpSpPr>
        <p:grpSpPr>
          <a:xfrm rot="0">
            <a:off x="8542546" y="2390144"/>
            <a:ext cx="5663202" cy="638970"/>
            <a:chOff x="0" y="0"/>
            <a:chExt cx="7550936" cy="851960"/>
          </a:xfrm>
        </p:grpSpPr>
        <p:sp>
          <p:nvSpPr>
            <p:cNvPr name="Freeform 9" id="9"/>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553BB1"/>
            </a:solidFill>
          </p:spPr>
        </p:sp>
        <p:sp>
          <p:nvSpPr>
            <p:cNvPr name="Freeform 10" id="10"/>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11" id="11"/>
          <p:cNvGrpSpPr/>
          <p:nvPr/>
        </p:nvGrpSpPr>
        <p:grpSpPr>
          <a:xfrm rot="0">
            <a:off x="8572809" y="2420406"/>
            <a:ext cx="5602677" cy="578445"/>
            <a:chOff x="0" y="0"/>
            <a:chExt cx="7470236" cy="771260"/>
          </a:xfrm>
        </p:grpSpPr>
        <p:sp>
          <p:nvSpPr>
            <p:cNvPr name="Freeform 12" id="12"/>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13" id="13"/>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Asociación</a:t>
              </a:r>
            </a:p>
          </p:txBody>
        </p:sp>
      </p:grpSp>
      <p:grpSp>
        <p:nvGrpSpPr>
          <p:cNvPr name="Group 14" id="14"/>
          <p:cNvGrpSpPr/>
          <p:nvPr/>
        </p:nvGrpSpPr>
        <p:grpSpPr>
          <a:xfrm rot="0">
            <a:off x="8139393" y="3652663"/>
            <a:ext cx="8082125" cy="548250"/>
            <a:chOff x="0" y="0"/>
            <a:chExt cx="10776166" cy="731000"/>
          </a:xfrm>
        </p:grpSpPr>
        <p:sp>
          <p:nvSpPr>
            <p:cNvPr name="Freeform 15" id="15"/>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16" id="16"/>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984DC3"/>
            </a:solidFill>
          </p:spPr>
        </p:sp>
      </p:grpSp>
      <p:grpSp>
        <p:nvGrpSpPr>
          <p:cNvPr name="Group 17" id="17"/>
          <p:cNvGrpSpPr/>
          <p:nvPr/>
        </p:nvGrpSpPr>
        <p:grpSpPr>
          <a:xfrm rot="0">
            <a:off x="8542546" y="3342704"/>
            <a:ext cx="5663202" cy="638970"/>
            <a:chOff x="0" y="0"/>
            <a:chExt cx="7550936" cy="851960"/>
          </a:xfrm>
        </p:grpSpPr>
        <p:sp>
          <p:nvSpPr>
            <p:cNvPr name="Freeform 18" id="18"/>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984DC3"/>
            </a:solidFill>
          </p:spPr>
        </p:sp>
        <p:sp>
          <p:nvSpPr>
            <p:cNvPr name="Freeform 19" id="19"/>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20" id="20"/>
          <p:cNvGrpSpPr/>
          <p:nvPr/>
        </p:nvGrpSpPr>
        <p:grpSpPr>
          <a:xfrm rot="0">
            <a:off x="8572809" y="3372966"/>
            <a:ext cx="5602677" cy="578445"/>
            <a:chOff x="0" y="0"/>
            <a:chExt cx="7470236" cy="771260"/>
          </a:xfrm>
        </p:grpSpPr>
        <p:sp>
          <p:nvSpPr>
            <p:cNvPr name="Freeform 21" id="21"/>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22" id="22"/>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Agregación</a:t>
              </a:r>
            </a:p>
          </p:txBody>
        </p:sp>
      </p:grpSp>
      <p:grpSp>
        <p:nvGrpSpPr>
          <p:cNvPr name="Group 23" id="23"/>
          <p:cNvGrpSpPr/>
          <p:nvPr/>
        </p:nvGrpSpPr>
        <p:grpSpPr>
          <a:xfrm rot="0">
            <a:off x="8139393" y="4605225"/>
            <a:ext cx="8082125" cy="548250"/>
            <a:chOff x="0" y="0"/>
            <a:chExt cx="10776166" cy="731000"/>
          </a:xfrm>
        </p:grpSpPr>
        <p:sp>
          <p:nvSpPr>
            <p:cNvPr name="Freeform 24" id="24"/>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25" id="25"/>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B13BAB"/>
            </a:solidFill>
          </p:spPr>
        </p:sp>
      </p:grpSp>
      <p:grpSp>
        <p:nvGrpSpPr>
          <p:cNvPr name="Group 26" id="26"/>
          <p:cNvGrpSpPr/>
          <p:nvPr/>
        </p:nvGrpSpPr>
        <p:grpSpPr>
          <a:xfrm rot="0">
            <a:off x="8542546" y="4295265"/>
            <a:ext cx="5663202" cy="638970"/>
            <a:chOff x="0" y="0"/>
            <a:chExt cx="7550936" cy="851960"/>
          </a:xfrm>
        </p:grpSpPr>
        <p:sp>
          <p:nvSpPr>
            <p:cNvPr name="Freeform 27" id="27"/>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B13BAB"/>
            </a:solidFill>
          </p:spPr>
        </p:sp>
        <p:sp>
          <p:nvSpPr>
            <p:cNvPr name="Freeform 28" id="28"/>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29" id="29"/>
          <p:cNvGrpSpPr/>
          <p:nvPr/>
        </p:nvGrpSpPr>
        <p:grpSpPr>
          <a:xfrm rot="0">
            <a:off x="8572809" y="4325528"/>
            <a:ext cx="5602677" cy="578445"/>
            <a:chOff x="0" y="0"/>
            <a:chExt cx="7470236" cy="771260"/>
          </a:xfrm>
        </p:grpSpPr>
        <p:sp>
          <p:nvSpPr>
            <p:cNvPr name="Freeform 30" id="30"/>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31" id="31"/>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Composición</a:t>
              </a:r>
            </a:p>
          </p:txBody>
        </p:sp>
      </p:grpSp>
      <p:grpSp>
        <p:nvGrpSpPr>
          <p:cNvPr name="Group 32" id="32"/>
          <p:cNvGrpSpPr/>
          <p:nvPr/>
        </p:nvGrpSpPr>
        <p:grpSpPr>
          <a:xfrm rot="0">
            <a:off x="8139393" y="5557784"/>
            <a:ext cx="8082125" cy="548250"/>
            <a:chOff x="0" y="0"/>
            <a:chExt cx="10776166" cy="731000"/>
          </a:xfrm>
        </p:grpSpPr>
        <p:sp>
          <p:nvSpPr>
            <p:cNvPr name="Freeform 33" id="33"/>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34" id="34"/>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C34D8B"/>
            </a:solidFill>
          </p:spPr>
        </p:sp>
      </p:grpSp>
      <p:grpSp>
        <p:nvGrpSpPr>
          <p:cNvPr name="Group 35" id="35"/>
          <p:cNvGrpSpPr/>
          <p:nvPr/>
        </p:nvGrpSpPr>
        <p:grpSpPr>
          <a:xfrm rot="0">
            <a:off x="8542546" y="5247825"/>
            <a:ext cx="5663202" cy="638970"/>
            <a:chOff x="0" y="0"/>
            <a:chExt cx="7550936" cy="851960"/>
          </a:xfrm>
        </p:grpSpPr>
        <p:sp>
          <p:nvSpPr>
            <p:cNvPr name="Freeform 36" id="36"/>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C34D8B"/>
            </a:solidFill>
          </p:spPr>
        </p:sp>
        <p:sp>
          <p:nvSpPr>
            <p:cNvPr name="Freeform 37" id="37"/>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38" id="38"/>
          <p:cNvGrpSpPr/>
          <p:nvPr/>
        </p:nvGrpSpPr>
        <p:grpSpPr>
          <a:xfrm rot="0">
            <a:off x="8572809" y="5278088"/>
            <a:ext cx="5602677" cy="578445"/>
            <a:chOff x="0" y="0"/>
            <a:chExt cx="7470236" cy="771260"/>
          </a:xfrm>
        </p:grpSpPr>
        <p:sp>
          <p:nvSpPr>
            <p:cNvPr name="Freeform 39" id="39"/>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40" id="40"/>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Herencia (Generalización/Especialización)</a:t>
              </a:r>
            </a:p>
          </p:txBody>
        </p:sp>
      </p:grpSp>
      <p:grpSp>
        <p:nvGrpSpPr>
          <p:cNvPr name="Group 41" id="41"/>
          <p:cNvGrpSpPr/>
          <p:nvPr/>
        </p:nvGrpSpPr>
        <p:grpSpPr>
          <a:xfrm rot="0">
            <a:off x="8139393" y="6510345"/>
            <a:ext cx="8082125" cy="548250"/>
            <a:chOff x="0" y="0"/>
            <a:chExt cx="10776166" cy="731000"/>
          </a:xfrm>
        </p:grpSpPr>
        <p:sp>
          <p:nvSpPr>
            <p:cNvPr name="Freeform 42" id="42"/>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43" id="43"/>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B13B48"/>
            </a:solidFill>
          </p:spPr>
        </p:sp>
      </p:grpSp>
      <p:grpSp>
        <p:nvGrpSpPr>
          <p:cNvPr name="Group 44" id="44"/>
          <p:cNvGrpSpPr/>
          <p:nvPr/>
        </p:nvGrpSpPr>
        <p:grpSpPr>
          <a:xfrm rot="0">
            <a:off x="8542546" y="6200385"/>
            <a:ext cx="5663202" cy="638970"/>
            <a:chOff x="0" y="0"/>
            <a:chExt cx="7550936" cy="851960"/>
          </a:xfrm>
        </p:grpSpPr>
        <p:sp>
          <p:nvSpPr>
            <p:cNvPr name="Freeform 45" id="45"/>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B13B48"/>
            </a:solidFill>
          </p:spPr>
        </p:sp>
        <p:sp>
          <p:nvSpPr>
            <p:cNvPr name="Freeform 46" id="46"/>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47" id="47"/>
          <p:cNvGrpSpPr/>
          <p:nvPr/>
        </p:nvGrpSpPr>
        <p:grpSpPr>
          <a:xfrm rot="0">
            <a:off x="8572809" y="6230648"/>
            <a:ext cx="5602677" cy="578445"/>
            <a:chOff x="0" y="0"/>
            <a:chExt cx="7470236" cy="771260"/>
          </a:xfrm>
        </p:grpSpPr>
        <p:sp>
          <p:nvSpPr>
            <p:cNvPr name="Freeform 48" id="48"/>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49" id="49"/>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Dependencia</a:t>
              </a:r>
            </a:p>
          </p:txBody>
        </p:sp>
      </p:grpSp>
      <p:grpSp>
        <p:nvGrpSpPr>
          <p:cNvPr name="Group 50" id="50"/>
          <p:cNvGrpSpPr/>
          <p:nvPr/>
        </p:nvGrpSpPr>
        <p:grpSpPr>
          <a:xfrm rot="0">
            <a:off x="8139393" y="7462905"/>
            <a:ext cx="8082125" cy="548250"/>
            <a:chOff x="0" y="0"/>
            <a:chExt cx="10776166" cy="731000"/>
          </a:xfrm>
        </p:grpSpPr>
        <p:sp>
          <p:nvSpPr>
            <p:cNvPr name="Freeform 51" id="51"/>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52" id="52"/>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553BB1"/>
            </a:solidFill>
          </p:spPr>
        </p:sp>
      </p:grpSp>
      <p:grpSp>
        <p:nvGrpSpPr>
          <p:cNvPr name="Group 53" id="53"/>
          <p:cNvGrpSpPr/>
          <p:nvPr/>
        </p:nvGrpSpPr>
        <p:grpSpPr>
          <a:xfrm rot="0">
            <a:off x="8542546" y="7152945"/>
            <a:ext cx="5663202" cy="638970"/>
            <a:chOff x="0" y="0"/>
            <a:chExt cx="7550936" cy="851960"/>
          </a:xfrm>
        </p:grpSpPr>
        <p:sp>
          <p:nvSpPr>
            <p:cNvPr name="Freeform 54" id="54"/>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553BB1"/>
            </a:solidFill>
          </p:spPr>
        </p:sp>
        <p:sp>
          <p:nvSpPr>
            <p:cNvPr name="Freeform 55" id="55"/>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56" id="56"/>
          <p:cNvGrpSpPr/>
          <p:nvPr/>
        </p:nvGrpSpPr>
        <p:grpSpPr>
          <a:xfrm rot="0">
            <a:off x="8572809" y="7183207"/>
            <a:ext cx="5602677" cy="578445"/>
            <a:chOff x="0" y="0"/>
            <a:chExt cx="7470236" cy="771260"/>
          </a:xfrm>
        </p:grpSpPr>
        <p:sp>
          <p:nvSpPr>
            <p:cNvPr name="Freeform 57" id="57"/>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58" id="58"/>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Realización (Implementación de Interfaces)</a:t>
              </a:r>
            </a:p>
          </p:txBody>
        </p:sp>
      </p:grpSp>
    </p:spTree>
  </p:cSld>
  <p:clrMapOvr>
    <a:masterClrMapping/>
  </p:clrMapOvr>
</p:sld>
</file>

<file path=ppt/slides/slide2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28700" y="1817980"/>
            <a:ext cx="5330952"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Asociación</a:t>
            </a:r>
          </a:p>
        </p:txBody>
      </p:sp>
      <p:sp>
        <p:nvSpPr>
          <p:cNvPr name="AutoShape 4" id="4"/>
          <p:cNvSpPr/>
          <p:nvPr/>
        </p:nvSpPr>
        <p:spPr>
          <a:xfrm rot="23980">
            <a:off x="951030" y="9380601"/>
            <a:ext cx="16385941" cy="0"/>
          </a:xfrm>
          <a:prstGeom prst="line">
            <a:avLst/>
          </a:prstGeom>
          <a:ln cap="rnd" w="57150">
            <a:solidFill>
              <a:srgbClr val="4D64C3"/>
            </a:solidFill>
            <a:prstDash val="solid"/>
            <a:headEnd type="none" len="sm" w="sm"/>
            <a:tailEnd type="none" len="sm" w="sm"/>
          </a:ln>
        </p:spPr>
      </p:sp>
      <p:grpSp>
        <p:nvGrpSpPr>
          <p:cNvPr name="Group 5" id="5"/>
          <p:cNvGrpSpPr/>
          <p:nvPr/>
        </p:nvGrpSpPr>
        <p:grpSpPr>
          <a:xfrm rot="0">
            <a:off x="1002826" y="4271895"/>
            <a:ext cx="3554548" cy="1097376"/>
            <a:chOff x="0" y="0"/>
            <a:chExt cx="4739398" cy="1463168"/>
          </a:xfrm>
        </p:grpSpPr>
        <p:sp>
          <p:nvSpPr>
            <p:cNvPr name="Freeform 6" id="6"/>
            <p:cNvSpPr/>
            <p:nvPr/>
          </p:nvSpPr>
          <p:spPr>
            <a:xfrm flipH="false" flipV="false" rot="0">
              <a:off x="12700" y="12700"/>
              <a:ext cx="4713986" cy="1437767"/>
            </a:xfrm>
            <a:custGeom>
              <a:avLst/>
              <a:gdLst/>
              <a:ahLst/>
              <a:cxnLst/>
              <a:rect r="r" b="b" t="t" l="l"/>
              <a:pathLst>
                <a:path h="1437767" w="4713986">
                  <a:moveTo>
                    <a:pt x="0" y="0"/>
                  </a:moveTo>
                  <a:lnTo>
                    <a:pt x="4713986" y="0"/>
                  </a:lnTo>
                  <a:lnTo>
                    <a:pt x="4713986" y="1437767"/>
                  </a:lnTo>
                  <a:lnTo>
                    <a:pt x="0" y="1437767"/>
                  </a:lnTo>
                  <a:close/>
                </a:path>
              </a:pathLst>
            </a:custGeom>
            <a:solidFill>
              <a:srgbClr val="4D64C3"/>
            </a:solidFill>
          </p:spPr>
        </p:sp>
        <p:sp>
          <p:nvSpPr>
            <p:cNvPr name="Freeform 7" id="7"/>
            <p:cNvSpPr/>
            <p:nvPr/>
          </p:nvSpPr>
          <p:spPr>
            <a:xfrm flipH="false" flipV="false" rot="0">
              <a:off x="0" y="0"/>
              <a:ext cx="4739386" cy="1463167"/>
            </a:xfrm>
            <a:custGeom>
              <a:avLst/>
              <a:gdLst/>
              <a:ahLst/>
              <a:cxnLst/>
              <a:rect r="r" b="b" t="t" l="l"/>
              <a:pathLst>
                <a:path h="1463167" w="4739386">
                  <a:moveTo>
                    <a:pt x="12700" y="0"/>
                  </a:moveTo>
                  <a:lnTo>
                    <a:pt x="4726686" y="0"/>
                  </a:lnTo>
                  <a:cubicBezTo>
                    <a:pt x="4733671" y="0"/>
                    <a:pt x="4739386" y="5715"/>
                    <a:pt x="4739386" y="12700"/>
                  </a:cubicBezTo>
                  <a:lnTo>
                    <a:pt x="4739386" y="1450467"/>
                  </a:lnTo>
                  <a:cubicBezTo>
                    <a:pt x="4739386" y="1457452"/>
                    <a:pt x="4733671" y="1463167"/>
                    <a:pt x="4726686" y="1463167"/>
                  </a:cubicBezTo>
                  <a:lnTo>
                    <a:pt x="12700" y="1463167"/>
                  </a:lnTo>
                  <a:cubicBezTo>
                    <a:pt x="5715" y="1463167"/>
                    <a:pt x="0" y="1457452"/>
                    <a:pt x="0" y="1450467"/>
                  </a:cubicBezTo>
                  <a:lnTo>
                    <a:pt x="0" y="12700"/>
                  </a:lnTo>
                  <a:cubicBezTo>
                    <a:pt x="0" y="5715"/>
                    <a:pt x="5715" y="0"/>
                    <a:pt x="12700" y="0"/>
                  </a:cubicBezTo>
                  <a:moveTo>
                    <a:pt x="12700" y="25400"/>
                  </a:moveTo>
                  <a:lnTo>
                    <a:pt x="12700" y="12700"/>
                  </a:lnTo>
                  <a:lnTo>
                    <a:pt x="25400" y="12700"/>
                  </a:lnTo>
                  <a:lnTo>
                    <a:pt x="25400" y="1450467"/>
                  </a:lnTo>
                  <a:lnTo>
                    <a:pt x="12700" y="1450467"/>
                  </a:lnTo>
                  <a:lnTo>
                    <a:pt x="12700" y="1437767"/>
                  </a:lnTo>
                  <a:lnTo>
                    <a:pt x="4726686" y="1437767"/>
                  </a:lnTo>
                  <a:lnTo>
                    <a:pt x="4726686" y="1450467"/>
                  </a:lnTo>
                  <a:lnTo>
                    <a:pt x="4713986" y="1450467"/>
                  </a:lnTo>
                  <a:lnTo>
                    <a:pt x="4713986" y="12700"/>
                  </a:lnTo>
                  <a:lnTo>
                    <a:pt x="4726686" y="12700"/>
                  </a:lnTo>
                  <a:lnTo>
                    <a:pt x="4726686" y="25400"/>
                  </a:lnTo>
                  <a:lnTo>
                    <a:pt x="12700" y="25400"/>
                  </a:lnTo>
                  <a:close/>
                </a:path>
              </a:pathLst>
            </a:custGeom>
            <a:solidFill>
              <a:srgbClr val="FFFFFF"/>
            </a:solidFill>
          </p:spPr>
        </p:sp>
      </p:grpSp>
      <p:grpSp>
        <p:nvGrpSpPr>
          <p:cNvPr name="Group 8" id="8"/>
          <p:cNvGrpSpPr/>
          <p:nvPr/>
        </p:nvGrpSpPr>
        <p:grpSpPr>
          <a:xfrm rot="0">
            <a:off x="1002826" y="4271895"/>
            <a:ext cx="3554548" cy="1097376"/>
            <a:chOff x="0" y="0"/>
            <a:chExt cx="4739398" cy="1463168"/>
          </a:xfrm>
        </p:grpSpPr>
        <p:sp>
          <p:nvSpPr>
            <p:cNvPr name="Freeform 9" id="9"/>
            <p:cNvSpPr/>
            <p:nvPr/>
          </p:nvSpPr>
          <p:spPr>
            <a:xfrm flipH="false" flipV="false" rot="0">
              <a:off x="0" y="0"/>
              <a:ext cx="4739398" cy="1463168"/>
            </a:xfrm>
            <a:custGeom>
              <a:avLst/>
              <a:gdLst/>
              <a:ahLst/>
              <a:cxnLst/>
              <a:rect r="r" b="b" t="t" l="l"/>
              <a:pathLst>
                <a:path h="1463168" w="4739398">
                  <a:moveTo>
                    <a:pt x="0" y="0"/>
                  </a:moveTo>
                  <a:lnTo>
                    <a:pt x="4739398" y="0"/>
                  </a:lnTo>
                  <a:lnTo>
                    <a:pt x="4739398" y="1463168"/>
                  </a:lnTo>
                  <a:lnTo>
                    <a:pt x="0" y="1463168"/>
                  </a:lnTo>
                  <a:close/>
                </a:path>
              </a:pathLst>
            </a:custGeom>
            <a:solidFill>
              <a:srgbClr val="000000">
                <a:alpha val="0"/>
              </a:srgbClr>
            </a:solidFill>
          </p:spPr>
        </p:sp>
        <p:sp>
          <p:nvSpPr>
            <p:cNvPr name="TextBox 10" id="10"/>
            <p:cNvSpPr txBox="true"/>
            <p:nvPr/>
          </p:nvSpPr>
          <p:spPr>
            <a:xfrm>
              <a:off x="0" y="19050"/>
              <a:ext cx="4739398" cy="1444118"/>
            </a:xfrm>
            <a:prstGeom prst="rect">
              <a:avLst/>
            </a:prstGeom>
          </p:spPr>
          <p:txBody>
            <a:bodyPr anchor="ctr" rtlCol="false" tIns="0" lIns="0" bIns="0" rIns="0"/>
            <a:lstStyle/>
            <a:p>
              <a:pPr algn="ctr">
                <a:lnSpc>
                  <a:spcPts val="2268"/>
                </a:lnSpc>
              </a:pPr>
              <a:r>
                <a:rPr lang="en-US" sz="2100">
                  <a:solidFill>
                    <a:srgbClr val="FFFFFF"/>
                  </a:solidFill>
                  <a:latin typeface="Arimo"/>
                  <a:ea typeface="Arimo"/>
                  <a:cs typeface="Arimo"/>
                  <a:sym typeface="Arimo"/>
                </a:rPr>
                <a:t>Representa una relación entre dos clases.</a:t>
              </a:r>
            </a:p>
          </p:txBody>
        </p:sp>
      </p:grpSp>
      <p:grpSp>
        <p:nvGrpSpPr>
          <p:cNvPr name="Group 11" id="11"/>
          <p:cNvGrpSpPr/>
          <p:nvPr/>
        </p:nvGrpSpPr>
        <p:grpSpPr>
          <a:xfrm rot="0">
            <a:off x="5245425" y="3131696"/>
            <a:ext cx="3554548" cy="1097376"/>
            <a:chOff x="0" y="0"/>
            <a:chExt cx="4739398" cy="1463168"/>
          </a:xfrm>
        </p:grpSpPr>
        <p:sp>
          <p:nvSpPr>
            <p:cNvPr name="Freeform 12" id="12"/>
            <p:cNvSpPr/>
            <p:nvPr/>
          </p:nvSpPr>
          <p:spPr>
            <a:xfrm flipH="false" flipV="false" rot="0">
              <a:off x="12700" y="12700"/>
              <a:ext cx="4713986" cy="1437767"/>
            </a:xfrm>
            <a:custGeom>
              <a:avLst/>
              <a:gdLst/>
              <a:ahLst/>
              <a:cxnLst/>
              <a:rect r="r" b="b" t="t" l="l"/>
              <a:pathLst>
                <a:path h="1437767" w="4713986">
                  <a:moveTo>
                    <a:pt x="0" y="0"/>
                  </a:moveTo>
                  <a:lnTo>
                    <a:pt x="4713986" y="0"/>
                  </a:lnTo>
                  <a:lnTo>
                    <a:pt x="4713986" y="1437767"/>
                  </a:lnTo>
                  <a:lnTo>
                    <a:pt x="0" y="1437767"/>
                  </a:lnTo>
                  <a:close/>
                </a:path>
              </a:pathLst>
            </a:custGeom>
            <a:solidFill>
              <a:srgbClr val="984DC3"/>
            </a:solidFill>
          </p:spPr>
        </p:sp>
        <p:sp>
          <p:nvSpPr>
            <p:cNvPr name="Freeform 13" id="13"/>
            <p:cNvSpPr/>
            <p:nvPr/>
          </p:nvSpPr>
          <p:spPr>
            <a:xfrm flipH="false" flipV="false" rot="0">
              <a:off x="0" y="0"/>
              <a:ext cx="4739386" cy="1463167"/>
            </a:xfrm>
            <a:custGeom>
              <a:avLst/>
              <a:gdLst/>
              <a:ahLst/>
              <a:cxnLst/>
              <a:rect r="r" b="b" t="t" l="l"/>
              <a:pathLst>
                <a:path h="1463167" w="4739386">
                  <a:moveTo>
                    <a:pt x="12700" y="0"/>
                  </a:moveTo>
                  <a:lnTo>
                    <a:pt x="4726686" y="0"/>
                  </a:lnTo>
                  <a:cubicBezTo>
                    <a:pt x="4733671" y="0"/>
                    <a:pt x="4739386" y="5715"/>
                    <a:pt x="4739386" y="12700"/>
                  </a:cubicBezTo>
                  <a:lnTo>
                    <a:pt x="4739386" y="1450467"/>
                  </a:lnTo>
                  <a:cubicBezTo>
                    <a:pt x="4739386" y="1457452"/>
                    <a:pt x="4733671" y="1463167"/>
                    <a:pt x="4726686" y="1463167"/>
                  </a:cubicBezTo>
                  <a:lnTo>
                    <a:pt x="12700" y="1463167"/>
                  </a:lnTo>
                  <a:cubicBezTo>
                    <a:pt x="5715" y="1463167"/>
                    <a:pt x="0" y="1457452"/>
                    <a:pt x="0" y="1450467"/>
                  </a:cubicBezTo>
                  <a:lnTo>
                    <a:pt x="0" y="12700"/>
                  </a:lnTo>
                  <a:cubicBezTo>
                    <a:pt x="0" y="5715"/>
                    <a:pt x="5715" y="0"/>
                    <a:pt x="12700" y="0"/>
                  </a:cubicBezTo>
                  <a:moveTo>
                    <a:pt x="12700" y="25400"/>
                  </a:moveTo>
                  <a:lnTo>
                    <a:pt x="12700" y="12700"/>
                  </a:lnTo>
                  <a:lnTo>
                    <a:pt x="25400" y="12700"/>
                  </a:lnTo>
                  <a:lnTo>
                    <a:pt x="25400" y="1450467"/>
                  </a:lnTo>
                  <a:lnTo>
                    <a:pt x="12700" y="1450467"/>
                  </a:lnTo>
                  <a:lnTo>
                    <a:pt x="12700" y="1437767"/>
                  </a:lnTo>
                  <a:lnTo>
                    <a:pt x="4726686" y="1437767"/>
                  </a:lnTo>
                  <a:lnTo>
                    <a:pt x="4726686" y="1450467"/>
                  </a:lnTo>
                  <a:lnTo>
                    <a:pt x="4713986" y="1450467"/>
                  </a:lnTo>
                  <a:lnTo>
                    <a:pt x="4713986" y="12700"/>
                  </a:lnTo>
                  <a:lnTo>
                    <a:pt x="4726686" y="12700"/>
                  </a:lnTo>
                  <a:lnTo>
                    <a:pt x="4726686" y="25400"/>
                  </a:lnTo>
                  <a:lnTo>
                    <a:pt x="12700" y="25400"/>
                  </a:lnTo>
                  <a:close/>
                </a:path>
              </a:pathLst>
            </a:custGeom>
            <a:solidFill>
              <a:srgbClr val="FFFFFF"/>
            </a:solidFill>
          </p:spPr>
        </p:sp>
      </p:grpSp>
      <p:grpSp>
        <p:nvGrpSpPr>
          <p:cNvPr name="Group 14" id="14"/>
          <p:cNvGrpSpPr/>
          <p:nvPr/>
        </p:nvGrpSpPr>
        <p:grpSpPr>
          <a:xfrm rot="0">
            <a:off x="5245425" y="3131696"/>
            <a:ext cx="3554548" cy="1097376"/>
            <a:chOff x="0" y="0"/>
            <a:chExt cx="4739398" cy="1463168"/>
          </a:xfrm>
        </p:grpSpPr>
        <p:sp>
          <p:nvSpPr>
            <p:cNvPr name="Freeform 15" id="15"/>
            <p:cNvSpPr/>
            <p:nvPr/>
          </p:nvSpPr>
          <p:spPr>
            <a:xfrm flipH="false" flipV="false" rot="0">
              <a:off x="0" y="0"/>
              <a:ext cx="4739398" cy="1463168"/>
            </a:xfrm>
            <a:custGeom>
              <a:avLst/>
              <a:gdLst/>
              <a:ahLst/>
              <a:cxnLst/>
              <a:rect r="r" b="b" t="t" l="l"/>
              <a:pathLst>
                <a:path h="1463168" w="4739398">
                  <a:moveTo>
                    <a:pt x="0" y="0"/>
                  </a:moveTo>
                  <a:lnTo>
                    <a:pt x="4739398" y="0"/>
                  </a:lnTo>
                  <a:lnTo>
                    <a:pt x="4739398" y="1463168"/>
                  </a:lnTo>
                  <a:lnTo>
                    <a:pt x="0" y="1463168"/>
                  </a:lnTo>
                  <a:close/>
                </a:path>
              </a:pathLst>
            </a:custGeom>
            <a:solidFill>
              <a:srgbClr val="000000">
                <a:alpha val="0"/>
              </a:srgbClr>
            </a:solidFill>
          </p:spPr>
        </p:sp>
        <p:sp>
          <p:nvSpPr>
            <p:cNvPr name="TextBox 16" id="16"/>
            <p:cNvSpPr txBox="true"/>
            <p:nvPr/>
          </p:nvSpPr>
          <p:spPr>
            <a:xfrm>
              <a:off x="0" y="19050"/>
              <a:ext cx="4739398" cy="1444118"/>
            </a:xfrm>
            <a:prstGeom prst="rect">
              <a:avLst/>
            </a:prstGeom>
          </p:spPr>
          <p:txBody>
            <a:bodyPr anchor="ctr" rtlCol="false" tIns="0" lIns="0" bIns="0" rIns="0"/>
            <a:lstStyle/>
            <a:p>
              <a:pPr algn="ctr">
                <a:lnSpc>
                  <a:spcPts val="2268"/>
                </a:lnSpc>
              </a:pPr>
              <a:r>
                <a:rPr lang="en-US" sz="2100">
                  <a:solidFill>
                    <a:srgbClr val="FFFFFF"/>
                  </a:solidFill>
                  <a:latin typeface="Arimo"/>
                  <a:ea typeface="Arimo"/>
                  <a:cs typeface="Arimo"/>
                  <a:sym typeface="Arimo"/>
                </a:rPr>
                <a:t>Notación</a:t>
              </a:r>
            </a:p>
          </p:txBody>
        </p:sp>
      </p:grpSp>
      <p:grpSp>
        <p:nvGrpSpPr>
          <p:cNvPr name="Group 17" id="17"/>
          <p:cNvGrpSpPr/>
          <p:nvPr/>
        </p:nvGrpSpPr>
        <p:grpSpPr>
          <a:xfrm rot="0">
            <a:off x="9488024" y="3131696"/>
            <a:ext cx="3554548" cy="1097376"/>
            <a:chOff x="0" y="0"/>
            <a:chExt cx="4739398" cy="1463168"/>
          </a:xfrm>
        </p:grpSpPr>
        <p:sp>
          <p:nvSpPr>
            <p:cNvPr name="Freeform 18" id="18"/>
            <p:cNvSpPr/>
            <p:nvPr/>
          </p:nvSpPr>
          <p:spPr>
            <a:xfrm flipH="false" flipV="false" rot="0">
              <a:off x="12700" y="12700"/>
              <a:ext cx="4713986" cy="1437767"/>
            </a:xfrm>
            <a:custGeom>
              <a:avLst/>
              <a:gdLst/>
              <a:ahLst/>
              <a:cxnLst/>
              <a:rect r="r" b="b" t="t" l="l"/>
              <a:pathLst>
                <a:path h="1437767" w="4713986">
                  <a:moveTo>
                    <a:pt x="0" y="0"/>
                  </a:moveTo>
                  <a:lnTo>
                    <a:pt x="4713986" y="0"/>
                  </a:lnTo>
                  <a:lnTo>
                    <a:pt x="4713986" y="1437767"/>
                  </a:lnTo>
                  <a:lnTo>
                    <a:pt x="0" y="1437767"/>
                  </a:lnTo>
                  <a:close/>
                </a:path>
              </a:pathLst>
            </a:custGeom>
            <a:solidFill>
              <a:srgbClr val="B13BAB"/>
            </a:solidFill>
          </p:spPr>
        </p:sp>
        <p:sp>
          <p:nvSpPr>
            <p:cNvPr name="Freeform 19" id="19"/>
            <p:cNvSpPr/>
            <p:nvPr/>
          </p:nvSpPr>
          <p:spPr>
            <a:xfrm flipH="false" flipV="false" rot="0">
              <a:off x="0" y="0"/>
              <a:ext cx="4739386" cy="1463167"/>
            </a:xfrm>
            <a:custGeom>
              <a:avLst/>
              <a:gdLst/>
              <a:ahLst/>
              <a:cxnLst/>
              <a:rect r="r" b="b" t="t" l="l"/>
              <a:pathLst>
                <a:path h="1463167" w="4739386">
                  <a:moveTo>
                    <a:pt x="12700" y="0"/>
                  </a:moveTo>
                  <a:lnTo>
                    <a:pt x="4726686" y="0"/>
                  </a:lnTo>
                  <a:cubicBezTo>
                    <a:pt x="4733671" y="0"/>
                    <a:pt x="4739386" y="5715"/>
                    <a:pt x="4739386" y="12700"/>
                  </a:cubicBezTo>
                  <a:lnTo>
                    <a:pt x="4739386" y="1450467"/>
                  </a:lnTo>
                  <a:cubicBezTo>
                    <a:pt x="4739386" y="1457452"/>
                    <a:pt x="4733671" y="1463167"/>
                    <a:pt x="4726686" y="1463167"/>
                  </a:cubicBezTo>
                  <a:lnTo>
                    <a:pt x="12700" y="1463167"/>
                  </a:lnTo>
                  <a:cubicBezTo>
                    <a:pt x="5715" y="1463167"/>
                    <a:pt x="0" y="1457452"/>
                    <a:pt x="0" y="1450467"/>
                  </a:cubicBezTo>
                  <a:lnTo>
                    <a:pt x="0" y="12700"/>
                  </a:lnTo>
                  <a:cubicBezTo>
                    <a:pt x="0" y="5715"/>
                    <a:pt x="5715" y="0"/>
                    <a:pt x="12700" y="0"/>
                  </a:cubicBezTo>
                  <a:moveTo>
                    <a:pt x="12700" y="25400"/>
                  </a:moveTo>
                  <a:lnTo>
                    <a:pt x="12700" y="12700"/>
                  </a:lnTo>
                  <a:lnTo>
                    <a:pt x="25400" y="12700"/>
                  </a:lnTo>
                  <a:lnTo>
                    <a:pt x="25400" y="1450467"/>
                  </a:lnTo>
                  <a:lnTo>
                    <a:pt x="12700" y="1450467"/>
                  </a:lnTo>
                  <a:lnTo>
                    <a:pt x="12700" y="1437767"/>
                  </a:lnTo>
                  <a:lnTo>
                    <a:pt x="4726686" y="1437767"/>
                  </a:lnTo>
                  <a:lnTo>
                    <a:pt x="4726686" y="1450467"/>
                  </a:lnTo>
                  <a:lnTo>
                    <a:pt x="4713986" y="1450467"/>
                  </a:lnTo>
                  <a:lnTo>
                    <a:pt x="4713986" y="12700"/>
                  </a:lnTo>
                  <a:lnTo>
                    <a:pt x="4726686" y="12700"/>
                  </a:lnTo>
                  <a:lnTo>
                    <a:pt x="4726686" y="25400"/>
                  </a:lnTo>
                  <a:lnTo>
                    <a:pt x="12700" y="25400"/>
                  </a:lnTo>
                  <a:close/>
                </a:path>
              </a:pathLst>
            </a:custGeom>
            <a:solidFill>
              <a:srgbClr val="FFFFFF"/>
            </a:solidFill>
          </p:spPr>
        </p:sp>
      </p:grpSp>
      <p:grpSp>
        <p:nvGrpSpPr>
          <p:cNvPr name="Group 20" id="20"/>
          <p:cNvGrpSpPr/>
          <p:nvPr/>
        </p:nvGrpSpPr>
        <p:grpSpPr>
          <a:xfrm rot="0">
            <a:off x="9488024" y="3131696"/>
            <a:ext cx="3554548" cy="1097376"/>
            <a:chOff x="0" y="0"/>
            <a:chExt cx="4739398" cy="1463168"/>
          </a:xfrm>
        </p:grpSpPr>
        <p:sp>
          <p:nvSpPr>
            <p:cNvPr name="Freeform 21" id="21"/>
            <p:cNvSpPr/>
            <p:nvPr/>
          </p:nvSpPr>
          <p:spPr>
            <a:xfrm flipH="false" flipV="false" rot="0">
              <a:off x="0" y="0"/>
              <a:ext cx="4739398" cy="1463168"/>
            </a:xfrm>
            <a:custGeom>
              <a:avLst/>
              <a:gdLst/>
              <a:ahLst/>
              <a:cxnLst/>
              <a:rect r="r" b="b" t="t" l="l"/>
              <a:pathLst>
                <a:path h="1463168" w="4739398">
                  <a:moveTo>
                    <a:pt x="0" y="0"/>
                  </a:moveTo>
                  <a:lnTo>
                    <a:pt x="4739398" y="0"/>
                  </a:lnTo>
                  <a:lnTo>
                    <a:pt x="4739398" y="1463168"/>
                  </a:lnTo>
                  <a:lnTo>
                    <a:pt x="0" y="1463168"/>
                  </a:lnTo>
                  <a:close/>
                </a:path>
              </a:pathLst>
            </a:custGeom>
            <a:solidFill>
              <a:srgbClr val="000000">
                <a:alpha val="0"/>
              </a:srgbClr>
            </a:solidFill>
          </p:spPr>
        </p:sp>
        <p:sp>
          <p:nvSpPr>
            <p:cNvPr name="TextBox 22" id="22"/>
            <p:cNvSpPr txBox="true"/>
            <p:nvPr/>
          </p:nvSpPr>
          <p:spPr>
            <a:xfrm>
              <a:off x="0" y="19050"/>
              <a:ext cx="4739398" cy="1444118"/>
            </a:xfrm>
            <a:prstGeom prst="rect">
              <a:avLst/>
            </a:prstGeom>
          </p:spPr>
          <p:txBody>
            <a:bodyPr anchor="ctr" rtlCol="false" tIns="0" lIns="0" bIns="0" rIns="0"/>
            <a:lstStyle/>
            <a:p>
              <a:pPr algn="ctr">
                <a:lnSpc>
                  <a:spcPts val="2268"/>
                </a:lnSpc>
              </a:pPr>
              <a:r>
                <a:rPr lang="en-US" sz="2100">
                  <a:solidFill>
                    <a:srgbClr val="FFFFFF"/>
                  </a:solidFill>
                  <a:latin typeface="Arimo"/>
                  <a:ea typeface="Arimo"/>
                  <a:cs typeface="Arimo"/>
                  <a:sym typeface="Arimo"/>
                </a:rPr>
                <a:t>Línea continua entre las clases</a:t>
              </a:r>
            </a:p>
          </p:txBody>
        </p:sp>
      </p:grpSp>
      <p:grpSp>
        <p:nvGrpSpPr>
          <p:cNvPr name="Group 23" id="23"/>
          <p:cNvGrpSpPr/>
          <p:nvPr/>
        </p:nvGrpSpPr>
        <p:grpSpPr>
          <a:xfrm rot="0">
            <a:off x="5245425" y="5412093"/>
            <a:ext cx="3554548" cy="1097376"/>
            <a:chOff x="0" y="0"/>
            <a:chExt cx="4739398" cy="1463168"/>
          </a:xfrm>
        </p:grpSpPr>
        <p:sp>
          <p:nvSpPr>
            <p:cNvPr name="Freeform 24" id="24"/>
            <p:cNvSpPr/>
            <p:nvPr/>
          </p:nvSpPr>
          <p:spPr>
            <a:xfrm flipH="false" flipV="false" rot="0">
              <a:off x="12700" y="12700"/>
              <a:ext cx="4713986" cy="1437767"/>
            </a:xfrm>
            <a:custGeom>
              <a:avLst/>
              <a:gdLst/>
              <a:ahLst/>
              <a:cxnLst/>
              <a:rect r="r" b="b" t="t" l="l"/>
              <a:pathLst>
                <a:path h="1437767" w="4713986">
                  <a:moveTo>
                    <a:pt x="0" y="0"/>
                  </a:moveTo>
                  <a:lnTo>
                    <a:pt x="4713986" y="0"/>
                  </a:lnTo>
                  <a:lnTo>
                    <a:pt x="4713986" y="1437767"/>
                  </a:lnTo>
                  <a:lnTo>
                    <a:pt x="0" y="1437767"/>
                  </a:lnTo>
                  <a:close/>
                </a:path>
              </a:pathLst>
            </a:custGeom>
            <a:solidFill>
              <a:srgbClr val="984DC3"/>
            </a:solidFill>
          </p:spPr>
        </p:sp>
        <p:sp>
          <p:nvSpPr>
            <p:cNvPr name="Freeform 25" id="25"/>
            <p:cNvSpPr/>
            <p:nvPr/>
          </p:nvSpPr>
          <p:spPr>
            <a:xfrm flipH="false" flipV="false" rot="0">
              <a:off x="0" y="0"/>
              <a:ext cx="4739386" cy="1463167"/>
            </a:xfrm>
            <a:custGeom>
              <a:avLst/>
              <a:gdLst/>
              <a:ahLst/>
              <a:cxnLst/>
              <a:rect r="r" b="b" t="t" l="l"/>
              <a:pathLst>
                <a:path h="1463167" w="4739386">
                  <a:moveTo>
                    <a:pt x="12700" y="0"/>
                  </a:moveTo>
                  <a:lnTo>
                    <a:pt x="4726686" y="0"/>
                  </a:lnTo>
                  <a:cubicBezTo>
                    <a:pt x="4733671" y="0"/>
                    <a:pt x="4739386" y="5715"/>
                    <a:pt x="4739386" y="12700"/>
                  </a:cubicBezTo>
                  <a:lnTo>
                    <a:pt x="4739386" y="1450467"/>
                  </a:lnTo>
                  <a:cubicBezTo>
                    <a:pt x="4739386" y="1457452"/>
                    <a:pt x="4733671" y="1463167"/>
                    <a:pt x="4726686" y="1463167"/>
                  </a:cubicBezTo>
                  <a:lnTo>
                    <a:pt x="12700" y="1463167"/>
                  </a:lnTo>
                  <a:cubicBezTo>
                    <a:pt x="5715" y="1463167"/>
                    <a:pt x="0" y="1457452"/>
                    <a:pt x="0" y="1450467"/>
                  </a:cubicBezTo>
                  <a:lnTo>
                    <a:pt x="0" y="12700"/>
                  </a:lnTo>
                  <a:cubicBezTo>
                    <a:pt x="0" y="5715"/>
                    <a:pt x="5715" y="0"/>
                    <a:pt x="12700" y="0"/>
                  </a:cubicBezTo>
                  <a:moveTo>
                    <a:pt x="12700" y="25400"/>
                  </a:moveTo>
                  <a:lnTo>
                    <a:pt x="12700" y="12700"/>
                  </a:lnTo>
                  <a:lnTo>
                    <a:pt x="25400" y="12700"/>
                  </a:lnTo>
                  <a:lnTo>
                    <a:pt x="25400" y="1450467"/>
                  </a:lnTo>
                  <a:lnTo>
                    <a:pt x="12700" y="1450467"/>
                  </a:lnTo>
                  <a:lnTo>
                    <a:pt x="12700" y="1437767"/>
                  </a:lnTo>
                  <a:lnTo>
                    <a:pt x="4726686" y="1437767"/>
                  </a:lnTo>
                  <a:lnTo>
                    <a:pt x="4726686" y="1450467"/>
                  </a:lnTo>
                  <a:lnTo>
                    <a:pt x="4713986" y="1450467"/>
                  </a:lnTo>
                  <a:lnTo>
                    <a:pt x="4713986" y="12700"/>
                  </a:lnTo>
                  <a:lnTo>
                    <a:pt x="4726686" y="12700"/>
                  </a:lnTo>
                  <a:lnTo>
                    <a:pt x="4726686" y="25400"/>
                  </a:lnTo>
                  <a:lnTo>
                    <a:pt x="12700" y="25400"/>
                  </a:lnTo>
                  <a:close/>
                </a:path>
              </a:pathLst>
            </a:custGeom>
            <a:solidFill>
              <a:srgbClr val="FFFFFF"/>
            </a:solidFill>
          </p:spPr>
        </p:sp>
      </p:grpSp>
      <p:grpSp>
        <p:nvGrpSpPr>
          <p:cNvPr name="Group 26" id="26"/>
          <p:cNvGrpSpPr/>
          <p:nvPr/>
        </p:nvGrpSpPr>
        <p:grpSpPr>
          <a:xfrm rot="0">
            <a:off x="5245425" y="5412093"/>
            <a:ext cx="3554548" cy="1097376"/>
            <a:chOff x="0" y="0"/>
            <a:chExt cx="4739398" cy="1463168"/>
          </a:xfrm>
        </p:grpSpPr>
        <p:sp>
          <p:nvSpPr>
            <p:cNvPr name="Freeform 27" id="27"/>
            <p:cNvSpPr/>
            <p:nvPr/>
          </p:nvSpPr>
          <p:spPr>
            <a:xfrm flipH="false" flipV="false" rot="0">
              <a:off x="0" y="0"/>
              <a:ext cx="4739398" cy="1463168"/>
            </a:xfrm>
            <a:custGeom>
              <a:avLst/>
              <a:gdLst/>
              <a:ahLst/>
              <a:cxnLst/>
              <a:rect r="r" b="b" t="t" l="l"/>
              <a:pathLst>
                <a:path h="1463168" w="4739398">
                  <a:moveTo>
                    <a:pt x="0" y="0"/>
                  </a:moveTo>
                  <a:lnTo>
                    <a:pt x="4739398" y="0"/>
                  </a:lnTo>
                  <a:lnTo>
                    <a:pt x="4739398" y="1463168"/>
                  </a:lnTo>
                  <a:lnTo>
                    <a:pt x="0" y="1463168"/>
                  </a:lnTo>
                  <a:close/>
                </a:path>
              </a:pathLst>
            </a:custGeom>
            <a:solidFill>
              <a:srgbClr val="000000">
                <a:alpha val="0"/>
              </a:srgbClr>
            </a:solidFill>
          </p:spPr>
        </p:sp>
        <p:sp>
          <p:nvSpPr>
            <p:cNvPr name="TextBox 28" id="28"/>
            <p:cNvSpPr txBox="true"/>
            <p:nvPr/>
          </p:nvSpPr>
          <p:spPr>
            <a:xfrm>
              <a:off x="0" y="19050"/>
              <a:ext cx="4739398" cy="1444118"/>
            </a:xfrm>
            <a:prstGeom prst="rect">
              <a:avLst/>
            </a:prstGeom>
          </p:spPr>
          <p:txBody>
            <a:bodyPr anchor="ctr" rtlCol="false" tIns="0" lIns="0" bIns="0" rIns="0"/>
            <a:lstStyle/>
            <a:p>
              <a:pPr algn="ctr">
                <a:lnSpc>
                  <a:spcPts val="2268"/>
                </a:lnSpc>
              </a:pPr>
              <a:r>
                <a:rPr lang="en-US" sz="2100">
                  <a:solidFill>
                    <a:srgbClr val="FFFFFF"/>
                  </a:solidFill>
                  <a:latin typeface="Arimo"/>
                  <a:ea typeface="Arimo"/>
                  <a:cs typeface="Arimo"/>
                  <a:sym typeface="Arimo"/>
                </a:rPr>
                <a:t>Características</a:t>
              </a:r>
            </a:p>
          </p:txBody>
        </p:sp>
      </p:grpSp>
      <p:grpSp>
        <p:nvGrpSpPr>
          <p:cNvPr name="Group 29" id="29"/>
          <p:cNvGrpSpPr/>
          <p:nvPr/>
        </p:nvGrpSpPr>
        <p:grpSpPr>
          <a:xfrm rot="0">
            <a:off x="9488024" y="4651960"/>
            <a:ext cx="3554548" cy="1097376"/>
            <a:chOff x="0" y="0"/>
            <a:chExt cx="4739398" cy="1463168"/>
          </a:xfrm>
        </p:grpSpPr>
        <p:sp>
          <p:nvSpPr>
            <p:cNvPr name="Freeform 30" id="30"/>
            <p:cNvSpPr/>
            <p:nvPr/>
          </p:nvSpPr>
          <p:spPr>
            <a:xfrm flipH="false" flipV="false" rot="0">
              <a:off x="12700" y="12700"/>
              <a:ext cx="4713986" cy="1437767"/>
            </a:xfrm>
            <a:custGeom>
              <a:avLst/>
              <a:gdLst/>
              <a:ahLst/>
              <a:cxnLst/>
              <a:rect r="r" b="b" t="t" l="l"/>
              <a:pathLst>
                <a:path h="1437767" w="4713986">
                  <a:moveTo>
                    <a:pt x="0" y="0"/>
                  </a:moveTo>
                  <a:lnTo>
                    <a:pt x="4713986" y="0"/>
                  </a:lnTo>
                  <a:lnTo>
                    <a:pt x="4713986" y="1437767"/>
                  </a:lnTo>
                  <a:lnTo>
                    <a:pt x="0" y="1437767"/>
                  </a:lnTo>
                  <a:close/>
                </a:path>
              </a:pathLst>
            </a:custGeom>
            <a:solidFill>
              <a:srgbClr val="B13BAB"/>
            </a:solidFill>
          </p:spPr>
        </p:sp>
        <p:sp>
          <p:nvSpPr>
            <p:cNvPr name="Freeform 31" id="31"/>
            <p:cNvSpPr/>
            <p:nvPr/>
          </p:nvSpPr>
          <p:spPr>
            <a:xfrm flipH="false" flipV="false" rot="0">
              <a:off x="0" y="0"/>
              <a:ext cx="4739386" cy="1463167"/>
            </a:xfrm>
            <a:custGeom>
              <a:avLst/>
              <a:gdLst/>
              <a:ahLst/>
              <a:cxnLst/>
              <a:rect r="r" b="b" t="t" l="l"/>
              <a:pathLst>
                <a:path h="1463167" w="4739386">
                  <a:moveTo>
                    <a:pt x="12700" y="0"/>
                  </a:moveTo>
                  <a:lnTo>
                    <a:pt x="4726686" y="0"/>
                  </a:lnTo>
                  <a:cubicBezTo>
                    <a:pt x="4733671" y="0"/>
                    <a:pt x="4739386" y="5715"/>
                    <a:pt x="4739386" y="12700"/>
                  </a:cubicBezTo>
                  <a:lnTo>
                    <a:pt x="4739386" y="1450467"/>
                  </a:lnTo>
                  <a:cubicBezTo>
                    <a:pt x="4739386" y="1457452"/>
                    <a:pt x="4733671" y="1463167"/>
                    <a:pt x="4726686" y="1463167"/>
                  </a:cubicBezTo>
                  <a:lnTo>
                    <a:pt x="12700" y="1463167"/>
                  </a:lnTo>
                  <a:cubicBezTo>
                    <a:pt x="5715" y="1463167"/>
                    <a:pt x="0" y="1457452"/>
                    <a:pt x="0" y="1450467"/>
                  </a:cubicBezTo>
                  <a:lnTo>
                    <a:pt x="0" y="12700"/>
                  </a:lnTo>
                  <a:cubicBezTo>
                    <a:pt x="0" y="5715"/>
                    <a:pt x="5715" y="0"/>
                    <a:pt x="12700" y="0"/>
                  </a:cubicBezTo>
                  <a:moveTo>
                    <a:pt x="12700" y="25400"/>
                  </a:moveTo>
                  <a:lnTo>
                    <a:pt x="12700" y="12700"/>
                  </a:lnTo>
                  <a:lnTo>
                    <a:pt x="25400" y="12700"/>
                  </a:lnTo>
                  <a:lnTo>
                    <a:pt x="25400" y="1450467"/>
                  </a:lnTo>
                  <a:lnTo>
                    <a:pt x="12700" y="1450467"/>
                  </a:lnTo>
                  <a:lnTo>
                    <a:pt x="12700" y="1437767"/>
                  </a:lnTo>
                  <a:lnTo>
                    <a:pt x="4726686" y="1437767"/>
                  </a:lnTo>
                  <a:lnTo>
                    <a:pt x="4726686" y="1450467"/>
                  </a:lnTo>
                  <a:lnTo>
                    <a:pt x="4713986" y="1450467"/>
                  </a:lnTo>
                  <a:lnTo>
                    <a:pt x="4713986" y="12700"/>
                  </a:lnTo>
                  <a:lnTo>
                    <a:pt x="4726686" y="12700"/>
                  </a:lnTo>
                  <a:lnTo>
                    <a:pt x="4726686" y="25400"/>
                  </a:lnTo>
                  <a:lnTo>
                    <a:pt x="12700" y="25400"/>
                  </a:lnTo>
                  <a:close/>
                </a:path>
              </a:pathLst>
            </a:custGeom>
            <a:solidFill>
              <a:srgbClr val="FFFFFF"/>
            </a:solidFill>
          </p:spPr>
        </p:sp>
      </p:grpSp>
      <p:grpSp>
        <p:nvGrpSpPr>
          <p:cNvPr name="Group 32" id="32"/>
          <p:cNvGrpSpPr/>
          <p:nvPr/>
        </p:nvGrpSpPr>
        <p:grpSpPr>
          <a:xfrm rot="0">
            <a:off x="9488024" y="4651960"/>
            <a:ext cx="3554548" cy="1097376"/>
            <a:chOff x="0" y="0"/>
            <a:chExt cx="4739398" cy="1463168"/>
          </a:xfrm>
        </p:grpSpPr>
        <p:sp>
          <p:nvSpPr>
            <p:cNvPr name="Freeform 33" id="33"/>
            <p:cNvSpPr/>
            <p:nvPr/>
          </p:nvSpPr>
          <p:spPr>
            <a:xfrm flipH="false" flipV="false" rot="0">
              <a:off x="0" y="0"/>
              <a:ext cx="4739398" cy="1463168"/>
            </a:xfrm>
            <a:custGeom>
              <a:avLst/>
              <a:gdLst/>
              <a:ahLst/>
              <a:cxnLst/>
              <a:rect r="r" b="b" t="t" l="l"/>
              <a:pathLst>
                <a:path h="1463168" w="4739398">
                  <a:moveTo>
                    <a:pt x="0" y="0"/>
                  </a:moveTo>
                  <a:lnTo>
                    <a:pt x="4739398" y="0"/>
                  </a:lnTo>
                  <a:lnTo>
                    <a:pt x="4739398" y="1463168"/>
                  </a:lnTo>
                  <a:lnTo>
                    <a:pt x="0" y="1463168"/>
                  </a:lnTo>
                  <a:close/>
                </a:path>
              </a:pathLst>
            </a:custGeom>
            <a:solidFill>
              <a:srgbClr val="000000">
                <a:alpha val="0"/>
              </a:srgbClr>
            </a:solidFill>
          </p:spPr>
        </p:sp>
        <p:sp>
          <p:nvSpPr>
            <p:cNvPr name="TextBox 34" id="34"/>
            <p:cNvSpPr txBox="true"/>
            <p:nvPr/>
          </p:nvSpPr>
          <p:spPr>
            <a:xfrm>
              <a:off x="0" y="19050"/>
              <a:ext cx="4739398" cy="1444118"/>
            </a:xfrm>
            <a:prstGeom prst="rect">
              <a:avLst/>
            </a:prstGeom>
          </p:spPr>
          <p:txBody>
            <a:bodyPr anchor="ctr" rtlCol="false" tIns="0" lIns="0" bIns="0" rIns="0"/>
            <a:lstStyle/>
            <a:p>
              <a:pPr algn="ctr">
                <a:lnSpc>
                  <a:spcPts val="2268"/>
                </a:lnSpc>
              </a:pPr>
              <a:r>
                <a:rPr lang="en-US" sz="2100">
                  <a:solidFill>
                    <a:srgbClr val="FFFFFF"/>
                  </a:solidFill>
                  <a:latin typeface="Arimo"/>
                  <a:ea typeface="Arimo"/>
                  <a:cs typeface="Arimo"/>
                  <a:sym typeface="Arimo"/>
                </a:rPr>
                <a:t>Direccionalidad</a:t>
              </a:r>
            </a:p>
          </p:txBody>
        </p:sp>
      </p:grpSp>
      <p:grpSp>
        <p:nvGrpSpPr>
          <p:cNvPr name="Group 35" id="35"/>
          <p:cNvGrpSpPr/>
          <p:nvPr/>
        </p:nvGrpSpPr>
        <p:grpSpPr>
          <a:xfrm rot="0">
            <a:off x="13730622" y="4651960"/>
            <a:ext cx="3554548" cy="1097376"/>
            <a:chOff x="0" y="0"/>
            <a:chExt cx="4739398" cy="1463168"/>
          </a:xfrm>
        </p:grpSpPr>
        <p:sp>
          <p:nvSpPr>
            <p:cNvPr name="Freeform 36" id="36"/>
            <p:cNvSpPr/>
            <p:nvPr/>
          </p:nvSpPr>
          <p:spPr>
            <a:xfrm flipH="false" flipV="false" rot="0">
              <a:off x="12700" y="12700"/>
              <a:ext cx="4713986" cy="1437767"/>
            </a:xfrm>
            <a:custGeom>
              <a:avLst/>
              <a:gdLst/>
              <a:ahLst/>
              <a:cxnLst/>
              <a:rect r="r" b="b" t="t" l="l"/>
              <a:pathLst>
                <a:path h="1437767" w="4713986">
                  <a:moveTo>
                    <a:pt x="0" y="0"/>
                  </a:moveTo>
                  <a:lnTo>
                    <a:pt x="4713986" y="0"/>
                  </a:lnTo>
                  <a:lnTo>
                    <a:pt x="4713986" y="1437767"/>
                  </a:lnTo>
                  <a:lnTo>
                    <a:pt x="0" y="1437767"/>
                  </a:lnTo>
                  <a:close/>
                </a:path>
              </a:pathLst>
            </a:custGeom>
            <a:solidFill>
              <a:srgbClr val="C34D8B"/>
            </a:solidFill>
          </p:spPr>
        </p:sp>
        <p:sp>
          <p:nvSpPr>
            <p:cNvPr name="Freeform 37" id="37"/>
            <p:cNvSpPr/>
            <p:nvPr/>
          </p:nvSpPr>
          <p:spPr>
            <a:xfrm flipH="false" flipV="false" rot="0">
              <a:off x="0" y="0"/>
              <a:ext cx="4739386" cy="1463167"/>
            </a:xfrm>
            <a:custGeom>
              <a:avLst/>
              <a:gdLst/>
              <a:ahLst/>
              <a:cxnLst/>
              <a:rect r="r" b="b" t="t" l="l"/>
              <a:pathLst>
                <a:path h="1463167" w="4739386">
                  <a:moveTo>
                    <a:pt x="12700" y="0"/>
                  </a:moveTo>
                  <a:lnTo>
                    <a:pt x="4726686" y="0"/>
                  </a:lnTo>
                  <a:cubicBezTo>
                    <a:pt x="4733671" y="0"/>
                    <a:pt x="4739386" y="5715"/>
                    <a:pt x="4739386" y="12700"/>
                  </a:cubicBezTo>
                  <a:lnTo>
                    <a:pt x="4739386" y="1450467"/>
                  </a:lnTo>
                  <a:cubicBezTo>
                    <a:pt x="4739386" y="1457452"/>
                    <a:pt x="4733671" y="1463167"/>
                    <a:pt x="4726686" y="1463167"/>
                  </a:cubicBezTo>
                  <a:lnTo>
                    <a:pt x="12700" y="1463167"/>
                  </a:lnTo>
                  <a:cubicBezTo>
                    <a:pt x="5715" y="1463167"/>
                    <a:pt x="0" y="1457452"/>
                    <a:pt x="0" y="1450467"/>
                  </a:cubicBezTo>
                  <a:lnTo>
                    <a:pt x="0" y="12700"/>
                  </a:lnTo>
                  <a:cubicBezTo>
                    <a:pt x="0" y="5715"/>
                    <a:pt x="5715" y="0"/>
                    <a:pt x="12700" y="0"/>
                  </a:cubicBezTo>
                  <a:moveTo>
                    <a:pt x="12700" y="25400"/>
                  </a:moveTo>
                  <a:lnTo>
                    <a:pt x="12700" y="12700"/>
                  </a:lnTo>
                  <a:lnTo>
                    <a:pt x="25400" y="12700"/>
                  </a:lnTo>
                  <a:lnTo>
                    <a:pt x="25400" y="1450467"/>
                  </a:lnTo>
                  <a:lnTo>
                    <a:pt x="12700" y="1450467"/>
                  </a:lnTo>
                  <a:lnTo>
                    <a:pt x="12700" y="1437767"/>
                  </a:lnTo>
                  <a:lnTo>
                    <a:pt x="4726686" y="1437767"/>
                  </a:lnTo>
                  <a:lnTo>
                    <a:pt x="4726686" y="1450467"/>
                  </a:lnTo>
                  <a:lnTo>
                    <a:pt x="4713986" y="1450467"/>
                  </a:lnTo>
                  <a:lnTo>
                    <a:pt x="4713986" y="12700"/>
                  </a:lnTo>
                  <a:lnTo>
                    <a:pt x="4726686" y="12700"/>
                  </a:lnTo>
                  <a:lnTo>
                    <a:pt x="4726686" y="25400"/>
                  </a:lnTo>
                  <a:lnTo>
                    <a:pt x="12700" y="25400"/>
                  </a:lnTo>
                  <a:close/>
                </a:path>
              </a:pathLst>
            </a:custGeom>
            <a:solidFill>
              <a:srgbClr val="FFFFFF"/>
            </a:solidFill>
          </p:spPr>
        </p:sp>
      </p:grpSp>
      <p:grpSp>
        <p:nvGrpSpPr>
          <p:cNvPr name="Group 38" id="38"/>
          <p:cNvGrpSpPr/>
          <p:nvPr/>
        </p:nvGrpSpPr>
        <p:grpSpPr>
          <a:xfrm rot="0">
            <a:off x="13730622" y="4651960"/>
            <a:ext cx="3554548" cy="1097376"/>
            <a:chOff x="0" y="0"/>
            <a:chExt cx="4739398" cy="1463168"/>
          </a:xfrm>
        </p:grpSpPr>
        <p:sp>
          <p:nvSpPr>
            <p:cNvPr name="Freeform 39" id="39"/>
            <p:cNvSpPr/>
            <p:nvPr/>
          </p:nvSpPr>
          <p:spPr>
            <a:xfrm flipH="false" flipV="false" rot="0">
              <a:off x="0" y="0"/>
              <a:ext cx="4739398" cy="1463168"/>
            </a:xfrm>
            <a:custGeom>
              <a:avLst/>
              <a:gdLst/>
              <a:ahLst/>
              <a:cxnLst/>
              <a:rect r="r" b="b" t="t" l="l"/>
              <a:pathLst>
                <a:path h="1463168" w="4739398">
                  <a:moveTo>
                    <a:pt x="0" y="0"/>
                  </a:moveTo>
                  <a:lnTo>
                    <a:pt x="4739398" y="0"/>
                  </a:lnTo>
                  <a:lnTo>
                    <a:pt x="4739398" y="1463168"/>
                  </a:lnTo>
                  <a:lnTo>
                    <a:pt x="0" y="1463168"/>
                  </a:lnTo>
                  <a:close/>
                </a:path>
              </a:pathLst>
            </a:custGeom>
            <a:solidFill>
              <a:srgbClr val="000000">
                <a:alpha val="0"/>
              </a:srgbClr>
            </a:solidFill>
          </p:spPr>
        </p:sp>
        <p:sp>
          <p:nvSpPr>
            <p:cNvPr name="TextBox 40" id="40"/>
            <p:cNvSpPr txBox="true"/>
            <p:nvPr/>
          </p:nvSpPr>
          <p:spPr>
            <a:xfrm>
              <a:off x="0" y="19050"/>
              <a:ext cx="4739398" cy="1444118"/>
            </a:xfrm>
            <a:prstGeom prst="rect">
              <a:avLst/>
            </a:prstGeom>
          </p:spPr>
          <p:txBody>
            <a:bodyPr anchor="ctr" rtlCol="false" tIns="0" lIns="0" bIns="0" rIns="0"/>
            <a:lstStyle/>
            <a:p>
              <a:pPr algn="ctr">
                <a:lnSpc>
                  <a:spcPts val="2268"/>
                </a:lnSpc>
              </a:pPr>
              <a:r>
                <a:rPr lang="en-US" sz="2100">
                  <a:solidFill>
                    <a:srgbClr val="FFFFFF"/>
                  </a:solidFill>
                  <a:latin typeface="Arimo"/>
                  <a:ea typeface="Arimo"/>
                  <a:cs typeface="Arimo"/>
                  <a:sym typeface="Arimo"/>
                </a:rPr>
                <a:t>Puede ser bidireccional o unidireccional (indicada con una flecha)</a:t>
              </a:r>
            </a:p>
          </p:txBody>
        </p:sp>
      </p:grpSp>
      <p:grpSp>
        <p:nvGrpSpPr>
          <p:cNvPr name="Group 41" id="41"/>
          <p:cNvGrpSpPr/>
          <p:nvPr/>
        </p:nvGrpSpPr>
        <p:grpSpPr>
          <a:xfrm rot="0">
            <a:off x="9488024" y="6172225"/>
            <a:ext cx="3554548" cy="1097376"/>
            <a:chOff x="0" y="0"/>
            <a:chExt cx="4739398" cy="1463168"/>
          </a:xfrm>
        </p:grpSpPr>
        <p:sp>
          <p:nvSpPr>
            <p:cNvPr name="Freeform 42" id="42"/>
            <p:cNvSpPr/>
            <p:nvPr/>
          </p:nvSpPr>
          <p:spPr>
            <a:xfrm flipH="false" flipV="false" rot="0">
              <a:off x="12700" y="12700"/>
              <a:ext cx="4713986" cy="1437767"/>
            </a:xfrm>
            <a:custGeom>
              <a:avLst/>
              <a:gdLst/>
              <a:ahLst/>
              <a:cxnLst/>
              <a:rect r="r" b="b" t="t" l="l"/>
              <a:pathLst>
                <a:path h="1437767" w="4713986">
                  <a:moveTo>
                    <a:pt x="0" y="0"/>
                  </a:moveTo>
                  <a:lnTo>
                    <a:pt x="4713986" y="0"/>
                  </a:lnTo>
                  <a:lnTo>
                    <a:pt x="4713986" y="1437767"/>
                  </a:lnTo>
                  <a:lnTo>
                    <a:pt x="0" y="1437767"/>
                  </a:lnTo>
                  <a:close/>
                </a:path>
              </a:pathLst>
            </a:custGeom>
            <a:solidFill>
              <a:srgbClr val="B13BAB"/>
            </a:solidFill>
          </p:spPr>
        </p:sp>
        <p:sp>
          <p:nvSpPr>
            <p:cNvPr name="Freeform 43" id="43"/>
            <p:cNvSpPr/>
            <p:nvPr/>
          </p:nvSpPr>
          <p:spPr>
            <a:xfrm flipH="false" flipV="false" rot="0">
              <a:off x="0" y="0"/>
              <a:ext cx="4739386" cy="1463167"/>
            </a:xfrm>
            <a:custGeom>
              <a:avLst/>
              <a:gdLst/>
              <a:ahLst/>
              <a:cxnLst/>
              <a:rect r="r" b="b" t="t" l="l"/>
              <a:pathLst>
                <a:path h="1463167" w="4739386">
                  <a:moveTo>
                    <a:pt x="12700" y="0"/>
                  </a:moveTo>
                  <a:lnTo>
                    <a:pt x="4726686" y="0"/>
                  </a:lnTo>
                  <a:cubicBezTo>
                    <a:pt x="4733671" y="0"/>
                    <a:pt x="4739386" y="5715"/>
                    <a:pt x="4739386" y="12700"/>
                  </a:cubicBezTo>
                  <a:lnTo>
                    <a:pt x="4739386" y="1450467"/>
                  </a:lnTo>
                  <a:cubicBezTo>
                    <a:pt x="4739386" y="1457452"/>
                    <a:pt x="4733671" y="1463167"/>
                    <a:pt x="4726686" y="1463167"/>
                  </a:cubicBezTo>
                  <a:lnTo>
                    <a:pt x="12700" y="1463167"/>
                  </a:lnTo>
                  <a:cubicBezTo>
                    <a:pt x="5715" y="1463167"/>
                    <a:pt x="0" y="1457452"/>
                    <a:pt x="0" y="1450467"/>
                  </a:cubicBezTo>
                  <a:lnTo>
                    <a:pt x="0" y="12700"/>
                  </a:lnTo>
                  <a:cubicBezTo>
                    <a:pt x="0" y="5715"/>
                    <a:pt x="5715" y="0"/>
                    <a:pt x="12700" y="0"/>
                  </a:cubicBezTo>
                  <a:moveTo>
                    <a:pt x="12700" y="25400"/>
                  </a:moveTo>
                  <a:lnTo>
                    <a:pt x="12700" y="12700"/>
                  </a:lnTo>
                  <a:lnTo>
                    <a:pt x="25400" y="12700"/>
                  </a:lnTo>
                  <a:lnTo>
                    <a:pt x="25400" y="1450467"/>
                  </a:lnTo>
                  <a:lnTo>
                    <a:pt x="12700" y="1450467"/>
                  </a:lnTo>
                  <a:lnTo>
                    <a:pt x="12700" y="1437767"/>
                  </a:lnTo>
                  <a:lnTo>
                    <a:pt x="4726686" y="1437767"/>
                  </a:lnTo>
                  <a:lnTo>
                    <a:pt x="4726686" y="1450467"/>
                  </a:lnTo>
                  <a:lnTo>
                    <a:pt x="4713986" y="1450467"/>
                  </a:lnTo>
                  <a:lnTo>
                    <a:pt x="4713986" y="12700"/>
                  </a:lnTo>
                  <a:lnTo>
                    <a:pt x="4726686" y="12700"/>
                  </a:lnTo>
                  <a:lnTo>
                    <a:pt x="4726686" y="25400"/>
                  </a:lnTo>
                  <a:lnTo>
                    <a:pt x="12700" y="25400"/>
                  </a:lnTo>
                  <a:close/>
                </a:path>
              </a:pathLst>
            </a:custGeom>
            <a:solidFill>
              <a:srgbClr val="FFFFFF"/>
            </a:solidFill>
          </p:spPr>
        </p:sp>
      </p:grpSp>
      <p:grpSp>
        <p:nvGrpSpPr>
          <p:cNvPr name="Group 44" id="44"/>
          <p:cNvGrpSpPr/>
          <p:nvPr/>
        </p:nvGrpSpPr>
        <p:grpSpPr>
          <a:xfrm rot="0">
            <a:off x="9488024" y="6172225"/>
            <a:ext cx="3554548" cy="1097376"/>
            <a:chOff x="0" y="0"/>
            <a:chExt cx="4739398" cy="1463168"/>
          </a:xfrm>
        </p:grpSpPr>
        <p:sp>
          <p:nvSpPr>
            <p:cNvPr name="Freeform 45" id="45"/>
            <p:cNvSpPr/>
            <p:nvPr/>
          </p:nvSpPr>
          <p:spPr>
            <a:xfrm flipH="false" flipV="false" rot="0">
              <a:off x="0" y="0"/>
              <a:ext cx="4739398" cy="1463168"/>
            </a:xfrm>
            <a:custGeom>
              <a:avLst/>
              <a:gdLst/>
              <a:ahLst/>
              <a:cxnLst/>
              <a:rect r="r" b="b" t="t" l="l"/>
              <a:pathLst>
                <a:path h="1463168" w="4739398">
                  <a:moveTo>
                    <a:pt x="0" y="0"/>
                  </a:moveTo>
                  <a:lnTo>
                    <a:pt x="4739398" y="0"/>
                  </a:lnTo>
                  <a:lnTo>
                    <a:pt x="4739398" y="1463168"/>
                  </a:lnTo>
                  <a:lnTo>
                    <a:pt x="0" y="1463168"/>
                  </a:lnTo>
                  <a:close/>
                </a:path>
              </a:pathLst>
            </a:custGeom>
            <a:solidFill>
              <a:srgbClr val="000000">
                <a:alpha val="0"/>
              </a:srgbClr>
            </a:solidFill>
          </p:spPr>
        </p:sp>
        <p:sp>
          <p:nvSpPr>
            <p:cNvPr name="TextBox 46" id="46"/>
            <p:cNvSpPr txBox="true"/>
            <p:nvPr/>
          </p:nvSpPr>
          <p:spPr>
            <a:xfrm>
              <a:off x="0" y="19050"/>
              <a:ext cx="4739398" cy="1444118"/>
            </a:xfrm>
            <a:prstGeom prst="rect">
              <a:avLst/>
            </a:prstGeom>
          </p:spPr>
          <p:txBody>
            <a:bodyPr anchor="ctr" rtlCol="false" tIns="0" lIns="0" bIns="0" rIns="0"/>
            <a:lstStyle/>
            <a:p>
              <a:pPr algn="ctr">
                <a:lnSpc>
                  <a:spcPts val="2268"/>
                </a:lnSpc>
              </a:pPr>
              <a:r>
                <a:rPr lang="en-US" sz="2100">
                  <a:solidFill>
                    <a:srgbClr val="FFFFFF"/>
                  </a:solidFill>
                  <a:latin typeface="Arimo"/>
                  <a:ea typeface="Arimo"/>
                  <a:cs typeface="Arimo"/>
                  <a:sym typeface="Arimo"/>
                </a:rPr>
                <a:t>Multiplicidad</a:t>
              </a:r>
            </a:p>
          </p:txBody>
        </p:sp>
      </p:grpSp>
      <p:grpSp>
        <p:nvGrpSpPr>
          <p:cNvPr name="Group 47" id="47"/>
          <p:cNvGrpSpPr/>
          <p:nvPr/>
        </p:nvGrpSpPr>
        <p:grpSpPr>
          <a:xfrm rot="0">
            <a:off x="13730622" y="6172225"/>
            <a:ext cx="3554548" cy="1097376"/>
            <a:chOff x="0" y="0"/>
            <a:chExt cx="4739398" cy="1463168"/>
          </a:xfrm>
        </p:grpSpPr>
        <p:sp>
          <p:nvSpPr>
            <p:cNvPr name="Freeform 48" id="48"/>
            <p:cNvSpPr/>
            <p:nvPr/>
          </p:nvSpPr>
          <p:spPr>
            <a:xfrm flipH="false" flipV="false" rot="0">
              <a:off x="12700" y="12700"/>
              <a:ext cx="4713986" cy="1437767"/>
            </a:xfrm>
            <a:custGeom>
              <a:avLst/>
              <a:gdLst/>
              <a:ahLst/>
              <a:cxnLst/>
              <a:rect r="r" b="b" t="t" l="l"/>
              <a:pathLst>
                <a:path h="1437767" w="4713986">
                  <a:moveTo>
                    <a:pt x="0" y="0"/>
                  </a:moveTo>
                  <a:lnTo>
                    <a:pt x="4713986" y="0"/>
                  </a:lnTo>
                  <a:lnTo>
                    <a:pt x="4713986" y="1437767"/>
                  </a:lnTo>
                  <a:lnTo>
                    <a:pt x="0" y="1437767"/>
                  </a:lnTo>
                  <a:close/>
                </a:path>
              </a:pathLst>
            </a:custGeom>
            <a:solidFill>
              <a:srgbClr val="C34D8B"/>
            </a:solidFill>
          </p:spPr>
        </p:sp>
        <p:sp>
          <p:nvSpPr>
            <p:cNvPr name="Freeform 49" id="49"/>
            <p:cNvSpPr/>
            <p:nvPr/>
          </p:nvSpPr>
          <p:spPr>
            <a:xfrm flipH="false" flipV="false" rot="0">
              <a:off x="0" y="0"/>
              <a:ext cx="4739386" cy="1463167"/>
            </a:xfrm>
            <a:custGeom>
              <a:avLst/>
              <a:gdLst/>
              <a:ahLst/>
              <a:cxnLst/>
              <a:rect r="r" b="b" t="t" l="l"/>
              <a:pathLst>
                <a:path h="1463167" w="4739386">
                  <a:moveTo>
                    <a:pt x="12700" y="0"/>
                  </a:moveTo>
                  <a:lnTo>
                    <a:pt x="4726686" y="0"/>
                  </a:lnTo>
                  <a:cubicBezTo>
                    <a:pt x="4733671" y="0"/>
                    <a:pt x="4739386" y="5715"/>
                    <a:pt x="4739386" y="12700"/>
                  </a:cubicBezTo>
                  <a:lnTo>
                    <a:pt x="4739386" y="1450467"/>
                  </a:lnTo>
                  <a:cubicBezTo>
                    <a:pt x="4739386" y="1457452"/>
                    <a:pt x="4733671" y="1463167"/>
                    <a:pt x="4726686" y="1463167"/>
                  </a:cubicBezTo>
                  <a:lnTo>
                    <a:pt x="12700" y="1463167"/>
                  </a:lnTo>
                  <a:cubicBezTo>
                    <a:pt x="5715" y="1463167"/>
                    <a:pt x="0" y="1457452"/>
                    <a:pt x="0" y="1450467"/>
                  </a:cubicBezTo>
                  <a:lnTo>
                    <a:pt x="0" y="12700"/>
                  </a:lnTo>
                  <a:cubicBezTo>
                    <a:pt x="0" y="5715"/>
                    <a:pt x="5715" y="0"/>
                    <a:pt x="12700" y="0"/>
                  </a:cubicBezTo>
                  <a:moveTo>
                    <a:pt x="12700" y="25400"/>
                  </a:moveTo>
                  <a:lnTo>
                    <a:pt x="12700" y="12700"/>
                  </a:lnTo>
                  <a:lnTo>
                    <a:pt x="25400" y="12700"/>
                  </a:lnTo>
                  <a:lnTo>
                    <a:pt x="25400" y="1450467"/>
                  </a:lnTo>
                  <a:lnTo>
                    <a:pt x="12700" y="1450467"/>
                  </a:lnTo>
                  <a:lnTo>
                    <a:pt x="12700" y="1437767"/>
                  </a:lnTo>
                  <a:lnTo>
                    <a:pt x="4726686" y="1437767"/>
                  </a:lnTo>
                  <a:lnTo>
                    <a:pt x="4726686" y="1450467"/>
                  </a:lnTo>
                  <a:lnTo>
                    <a:pt x="4713986" y="1450467"/>
                  </a:lnTo>
                  <a:lnTo>
                    <a:pt x="4713986" y="12700"/>
                  </a:lnTo>
                  <a:lnTo>
                    <a:pt x="4726686" y="12700"/>
                  </a:lnTo>
                  <a:lnTo>
                    <a:pt x="4726686" y="25400"/>
                  </a:lnTo>
                  <a:lnTo>
                    <a:pt x="12700" y="25400"/>
                  </a:lnTo>
                  <a:close/>
                </a:path>
              </a:pathLst>
            </a:custGeom>
            <a:solidFill>
              <a:srgbClr val="FFFFFF"/>
            </a:solidFill>
          </p:spPr>
        </p:sp>
      </p:grpSp>
      <p:grpSp>
        <p:nvGrpSpPr>
          <p:cNvPr name="Group 50" id="50"/>
          <p:cNvGrpSpPr/>
          <p:nvPr/>
        </p:nvGrpSpPr>
        <p:grpSpPr>
          <a:xfrm rot="0">
            <a:off x="13730622" y="6172225"/>
            <a:ext cx="3554548" cy="1097376"/>
            <a:chOff x="0" y="0"/>
            <a:chExt cx="4739398" cy="1463168"/>
          </a:xfrm>
        </p:grpSpPr>
        <p:sp>
          <p:nvSpPr>
            <p:cNvPr name="Freeform 51" id="51"/>
            <p:cNvSpPr/>
            <p:nvPr/>
          </p:nvSpPr>
          <p:spPr>
            <a:xfrm flipH="false" flipV="false" rot="0">
              <a:off x="0" y="0"/>
              <a:ext cx="4739398" cy="1463168"/>
            </a:xfrm>
            <a:custGeom>
              <a:avLst/>
              <a:gdLst/>
              <a:ahLst/>
              <a:cxnLst/>
              <a:rect r="r" b="b" t="t" l="l"/>
              <a:pathLst>
                <a:path h="1463168" w="4739398">
                  <a:moveTo>
                    <a:pt x="0" y="0"/>
                  </a:moveTo>
                  <a:lnTo>
                    <a:pt x="4739398" y="0"/>
                  </a:lnTo>
                  <a:lnTo>
                    <a:pt x="4739398" y="1463168"/>
                  </a:lnTo>
                  <a:lnTo>
                    <a:pt x="0" y="1463168"/>
                  </a:lnTo>
                  <a:close/>
                </a:path>
              </a:pathLst>
            </a:custGeom>
            <a:solidFill>
              <a:srgbClr val="000000">
                <a:alpha val="0"/>
              </a:srgbClr>
            </a:solidFill>
          </p:spPr>
        </p:sp>
        <p:sp>
          <p:nvSpPr>
            <p:cNvPr name="TextBox 52" id="52"/>
            <p:cNvSpPr txBox="true"/>
            <p:nvPr/>
          </p:nvSpPr>
          <p:spPr>
            <a:xfrm>
              <a:off x="0" y="19050"/>
              <a:ext cx="4739398" cy="1444118"/>
            </a:xfrm>
            <a:prstGeom prst="rect">
              <a:avLst/>
            </a:prstGeom>
          </p:spPr>
          <p:txBody>
            <a:bodyPr anchor="ctr" rtlCol="false" tIns="0" lIns="0" bIns="0" rIns="0"/>
            <a:lstStyle/>
            <a:p>
              <a:pPr algn="ctr">
                <a:lnSpc>
                  <a:spcPts val="2268"/>
                </a:lnSpc>
              </a:pPr>
              <a:r>
                <a:rPr lang="en-US" sz="2100">
                  <a:solidFill>
                    <a:srgbClr val="FFFFFF"/>
                  </a:solidFill>
                  <a:latin typeface="Arimo"/>
                  <a:ea typeface="Arimo"/>
                  <a:cs typeface="Arimo"/>
                  <a:sym typeface="Arimo"/>
                </a:rPr>
                <a:t>Indica cuántos objetos de una clase están relacionados con objetos de otra clase.</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grpSp>
        <p:nvGrpSpPr>
          <p:cNvPr name="Group 3" id="3"/>
          <p:cNvGrpSpPr/>
          <p:nvPr/>
        </p:nvGrpSpPr>
        <p:grpSpPr>
          <a:xfrm rot="0">
            <a:off x="1012698" y="4983183"/>
            <a:ext cx="8037588" cy="2144393"/>
            <a:chOff x="0" y="0"/>
            <a:chExt cx="10716784" cy="2859191"/>
          </a:xfrm>
        </p:grpSpPr>
        <p:sp>
          <p:nvSpPr>
            <p:cNvPr name="Freeform 4" id="4"/>
            <p:cNvSpPr/>
            <p:nvPr/>
          </p:nvSpPr>
          <p:spPr>
            <a:xfrm flipH="false" flipV="false" rot="0">
              <a:off x="0" y="0"/>
              <a:ext cx="10716784" cy="2859191"/>
            </a:xfrm>
            <a:custGeom>
              <a:avLst/>
              <a:gdLst/>
              <a:ahLst/>
              <a:cxnLst/>
              <a:rect r="r" b="b" t="t" l="l"/>
              <a:pathLst>
                <a:path h="2859191" w="10716784">
                  <a:moveTo>
                    <a:pt x="0" y="0"/>
                  </a:moveTo>
                  <a:lnTo>
                    <a:pt x="10716784" y="0"/>
                  </a:lnTo>
                  <a:lnTo>
                    <a:pt x="10716784" y="2859191"/>
                  </a:lnTo>
                  <a:lnTo>
                    <a:pt x="0" y="2859191"/>
                  </a:lnTo>
                  <a:close/>
                </a:path>
              </a:pathLst>
            </a:custGeom>
            <a:solidFill>
              <a:srgbClr val="000000">
                <a:alpha val="0"/>
              </a:srgbClr>
            </a:solidFill>
          </p:spPr>
        </p:sp>
        <p:sp>
          <p:nvSpPr>
            <p:cNvPr name="TextBox 5" id="5"/>
            <p:cNvSpPr txBox="true"/>
            <p:nvPr/>
          </p:nvSpPr>
          <p:spPr>
            <a:xfrm>
              <a:off x="0" y="28575"/>
              <a:ext cx="10716784" cy="2830616"/>
            </a:xfrm>
            <a:prstGeom prst="rect">
              <a:avLst/>
            </a:prstGeom>
          </p:spPr>
          <p:txBody>
            <a:bodyPr anchor="b" rtlCol="false" tIns="0" lIns="0" bIns="0" rIns="0"/>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Multiplicidad</a:t>
              </a:r>
            </a:p>
          </p:txBody>
        </p:sp>
      </p:grpSp>
      <p:sp>
        <p:nvSpPr>
          <p:cNvPr name="TextBox 6" id="6"/>
          <p:cNvSpPr txBox="true"/>
          <p:nvPr/>
        </p:nvSpPr>
        <p:spPr>
          <a:xfrm rot="0">
            <a:off x="10242873" y="1331595"/>
            <a:ext cx="6962200" cy="8069570"/>
          </a:xfrm>
          <a:prstGeom prst="rect">
            <a:avLst/>
          </a:prstGeom>
        </p:spPr>
        <p:txBody>
          <a:bodyPr anchor="t" rtlCol="false" tIns="0" lIns="0" bIns="0" rIns="0">
            <a:spAutoFit/>
          </a:bodyPr>
          <a:lstStyle/>
          <a:p>
            <a:pPr algn="l" marL="542925" indent="-271462" lvl="1">
              <a:lnSpc>
                <a:spcPts val="4320"/>
              </a:lnSpc>
              <a:buFont typeface="Arial"/>
              <a:buChar char="•"/>
            </a:pPr>
            <a:r>
              <a:rPr lang="en-US" b="true" sz="3000">
                <a:solidFill>
                  <a:srgbClr val="000000"/>
                </a:solidFill>
                <a:latin typeface="Arimo Bold"/>
                <a:ea typeface="Arimo Bold"/>
                <a:cs typeface="Arimo Bold"/>
                <a:sym typeface="Arimo Bold"/>
              </a:rPr>
              <a:t>1:</a:t>
            </a:r>
            <a:r>
              <a:rPr lang="en-US" sz="3000">
                <a:solidFill>
                  <a:srgbClr val="000000"/>
                </a:solidFill>
                <a:latin typeface="Arimo"/>
                <a:ea typeface="Arimo"/>
                <a:cs typeface="Arimo"/>
                <a:sym typeface="Arimo"/>
              </a:rPr>
              <a:t> Exactamente un objeto</a:t>
            </a:r>
          </a:p>
          <a:p>
            <a:pPr algn="l" marL="542925" indent="-271462" lvl="1">
              <a:lnSpc>
                <a:spcPts val="4320"/>
              </a:lnSpc>
              <a:buFont typeface="Arial"/>
              <a:buChar char="•"/>
            </a:pPr>
            <a:r>
              <a:rPr lang="en-US" b="true" sz="3000">
                <a:solidFill>
                  <a:srgbClr val="000000"/>
                </a:solidFill>
                <a:latin typeface="Arimo Bold"/>
                <a:ea typeface="Arimo Bold"/>
                <a:cs typeface="Arimo Bold"/>
                <a:sym typeface="Arimo Bold"/>
              </a:rPr>
              <a:t>1..1: </a:t>
            </a:r>
            <a:r>
              <a:rPr lang="en-US" sz="3000">
                <a:solidFill>
                  <a:srgbClr val="000000"/>
                </a:solidFill>
                <a:latin typeface="Arimo"/>
                <a:ea typeface="Arimo"/>
                <a:cs typeface="Arimo"/>
                <a:sym typeface="Arimo"/>
              </a:rPr>
              <a:t>Sólo uno</a:t>
            </a:r>
          </a:p>
          <a:p>
            <a:pPr algn="l" marL="542925" indent="-271462" lvl="1">
              <a:lnSpc>
                <a:spcPts val="4320"/>
              </a:lnSpc>
              <a:buFont typeface="Arial"/>
              <a:buChar char="•"/>
            </a:pPr>
            <a:r>
              <a:rPr lang="en-US" b="true" sz="3000">
                <a:solidFill>
                  <a:srgbClr val="000000"/>
                </a:solidFill>
                <a:latin typeface="Arimo Bold"/>
                <a:ea typeface="Arimo Bold"/>
                <a:cs typeface="Arimo Bold"/>
                <a:sym typeface="Arimo Bold"/>
              </a:rPr>
              <a:t>0..*: </a:t>
            </a:r>
            <a:r>
              <a:rPr lang="en-US" sz="3000">
                <a:solidFill>
                  <a:srgbClr val="000000"/>
                </a:solidFill>
                <a:latin typeface="Arimo"/>
                <a:ea typeface="Arimo"/>
                <a:cs typeface="Arimo"/>
                <a:sym typeface="Arimo"/>
              </a:rPr>
              <a:t>Cero o más objetos</a:t>
            </a:r>
          </a:p>
          <a:p>
            <a:pPr algn="l" marL="542925" indent="-271462" lvl="1">
              <a:lnSpc>
                <a:spcPts val="4320"/>
              </a:lnSpc>
              <a:buFont typeface="Arial"/>
              <a:buChar char="•"/>
            </a:pPr>
            <a:r>
              <a:rPr lang="en-US" b="true" sz="3000">
                <a:solidFill>
                  <a:srgbClr val="000000"/>
                </a:solidFill>
                <a:latin typeface="Arimo Bold"/>
                <a:ea typeface="Arimo Bold"/>
                <a:cs typeface="Arimo Bold"/>
                <a:sym typeface="Arimo Bold"/>
              </a:rPr>
              <a:t>1..*: </a:t>
            </a:r>
            <a:r>
              <a:rPr lang="en-US" sz="3000">
                <a:solidFill>
                  <a:srgbClr val="000000"/>
                </a:solidFill>
                <a:latin typeface="Arimo"/>
                <a:ea typeface="Arimo"/>
                <a:cs typeface="Arimo"/>
                <a:sym typeface="Arimo"/>
              </a:rPr>
              <a:t>Uno o más objetos</a:t>
            </a:r>
          </a:p>
          <a:p>
            <a:pPr algn="l" marL="542925" indent="-271462" lvl="1">
              <a:lnSpc>
                <a:spcPts val="4320"/>
              </a:lnSpc>
              <a:buFont typeface="Arial"/>
              <a:buChar char="•"/>
            </a:pPr>
            <a:r>
              <a:rPr lang="en-US" sz="3000">
                <a:solidFill>
                  <a:srgbClr val="000000"/>
                </a:solidFill>
                <a:latin typeface="Arimo"/>
                <a:ea typeface="Arimo"/>
                <a:cs typeface="Arimo"/>
                <a:sym typeface="Arimo"/>
              </a:rPr>
              <a:t>*</a:t>
            </a:r>
            <a:r>
              <a:rPr lang="en-US" b="true" sz="3000">
                <a:solidFill>
                  <a:srgbClr val="000000"/>
                </a:solidFill>
                <a:latin typeface="Arimo Bold"/>
                <a:ea typeface="Arimo Bold"/>
                <a:cs typeface="Arimo Bold"/>
                <a:sym typeface="Arimo Bold"/>
              </a:rPr>
              <a:t>:</a:t>
            </a:r>
            <a:r>
              <a:rPr lang="en-US" sz="3000">
                <a:solidFill>
                  <a:srgbClr val="000000"/>
                </a:solidFill>
                <a:latin typeface="Arimo"/>
                <a:ea typeface="Arimo"/>
                <a:cs typeface="Arimo"/>
                <a:sym typeface="Arimo"/>
              </a:rPr>
              <a:t> Cero o más objetos</a:t>
            </a:r>
          </a:p>
          <a:p>
            <a:pPr algn="l" marL="542925" indent="-271462" lvl="1">
              <a:lnSpc>
                <a:spcPts val="4320"/>
              </a:lnSpc>
              <a:buFont typeface="Arial"/>
              <a:buChar char="•"/>
            </a:pPr>
            <a:r>
              <a:rPr lang="en-US" b="true" sz="3000">
                <a:solidFill>
                  <a:srgbClr val="000000"/>
                </a:solidFill>
                <a:latin typeface="Arimo Bold"/>
                <a:ea typeface="Arimo Bold"/>
                <a:cs typeface="Arimo Bold"/>
                <a:sym typeface="Arimo Bold"/>
              </a:rPr>
              <a:t>0..1: </a:t>
            </a:r>
            <a:r>
              <a:rPr lang="en-US" sz="3000">
                <a:solidFill>
                  <a:srgbClr val="000000"/>
                </a:solidFill>
                <a:latin typeface="Arimo"/>
                <a:ea typeface="Arimo"/>
                <a:cs typeface="Arimo"/>
                <a:sym typeface="Arimo"/>
              </a:rPr>
              <a:t>Cero o un objeto</a:t>
            </a:r>
          </a:p>
          <a:p>
            <a:pPr algn="l" marL="542925" indent="-271462" lvl="1">
              <a:lnSpc>
                <a:spcPts val="4320"/>
              </a:lnSpc>
              <a:buFont typeface="Arial"/>
              <a:buChar char="•"/>
            </a:pPr>
            <a:r>
              <a:rPr lang="en-US" b="true" sz="3000">
                <a:solidFill>
                  <a:srgbClr val="000000"/>
                </a:solidFill>
                <a:latin typeface="Arimo Bold"/>
                <a:ea typeface="Arimo Bold"/>
                <a:cs typeface="Arimo Bold"/>
                <a:sym typeface="Arimo Bold"/>
              </a:rPr>
              <a:t>m..n:</a:t>
            </a:r>
            <a:r>
              <a:rPr lang="en-US" sz="3000">
                <a:solidFill>
                  <a:srgbClr val="000000"/>
                </a:solidFill>
                <a:latin typeface="Arimo"/>
                <a:ea typeface="Arimo"/>
                <a:cs typeface="Arimo"/>
                <a:sym typeface="Arimo"/>
              </a:rPr>
              <a:t> Al menos m, como máximo n (m&lt;=n)</a:t>
            </a:r>
          </a:p>
        </p:txBody>
      </p:sp>
      <p:sp>
        <p:nvSpPr>
          <p:cNvPr name="Freeform 7" id="7"/>
          <p:cNvSpPr/>
          <p:nvPr/>
        </p:nvSpPr>
        <p:spPr>
          <a:xfrm flipH="false" flipV="false" rot="0">
            <a:off x="1069848" y="1254212"/>
            <a:ext cx="7943852" cy="1171716"/>
          </a:xfrm>
          <a:custGeom>
            <a:avLst/>
            <a:gdLst/>
            <a:ahLst/>
            <a:cxnLst/>
            <a:rect r="r" b="b" t="t" l="l"/>
            <a:pathLst>
              <a:path h="1171716" w="7943852">
                <a:moveTo>
                  <a:pt x="0" y="0"/>
                </a:moveTo>
                <a:lnTo>
                  <a:pt x="7943852" y="0"/>
                </a:lnTo>
                <a:lnTo>
                  <a:pt x="7943852" y="1171716"/>
                </a:lnTo>
                <a:lnTo>
                  <a:pt x="0" y="1171716"/>
                </a:lnTo>
                <a:lnTo>
                  <a:pt x="0" y="0"/>
                </a:lnTo>
                <a:close/>
              </a:path>
            </a:pathLst>
          </a:custGeom>
          <a:blipFill>
            <a:blip r:embed="rId2"/>
            <a:stretch>
              <a:fillRect l="0" t="-29" r="0" b="-29"/>
            </a:stretch>
          </a:blipFill>
        </p:spPr>
      </p:sp>
      <p:sp>
        <p:nvSpPr>
          <p:cNvPr name="AutoShape 8" id="8"/>
          <p:cNvSpPr/>
          <p:nvPr/>
        </p:nvSpPr>
        <p:spPr>
          <a:xfrm rot="247854">
            <a:off x="1010637" y="9379544"/>
            <a:ext cx="1586715"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grpSp>
        <p:nvGrpSpPr>
          <p:cNvPr name="Group 3" id="3"/>
          <p:cNvGrpSpPr/>
          <p:nvPr/>
        </p:nvGrpSpPr>
        <p:grpSpPr>
          <a:xfrm rot="0">
            <a:off x="960120" y="6953047"/>
            <a:ext cx="8037588" cy="2144393"/>
            <a:chOff x="0" y="0"/>
            <a:chExt cx="10716784" cy="2859191"/>
          </a:xfrm>
        </p:grpSpPr>
        <p:sp>
          <p:nvSpPr>
            <p:cNvPr name="Freeform 4" id="4"/>
            <p:cNvSpPr/>
            <p:nvPr/>
          </p:nvSpPr>
          <p:spPr>
            <a:xfrm flipH="false" flipV="false" rot="0">
              <a:off x="0" y="0"/>
              <a:ext cx="10716784" cy="2859191"/>
            </a:xfrm>
            <a:custGeom>
              <a:avLst/>
              <a:gdLst/>
              <a:ahLst/>
              <a:cxnLst/>
              <a:rect r="r" b="b" t="t" l="l"/>
              <a:pathLst>
                <a:path h="2859191" w="10716784">
                  <a:moveTo>
                    <a:pt x="0" y="0"/>
                  </a:moveTo>
                  <a:lnTo>
                    <a:pt x="10716784" y="0"/>
                  </a:lnTo>
                  <a:lnTo>
                    <a:pt x="10716784" y="2859191"/>
                  </a:lnTo>
                  <a:lnTo>
                    <a:pt x="0" y="2859191"/>
                  </a:lnTo>
                  <a:close/>
                </a:path>
              </a:pathLst>
            </a:custGeom>
            <a:solidFill>
              <a:srgbClr val="000000">
                <a:alpha val="0"/>
              </a:srgbClr>
            </a:solidFill>
            <a:ln cap="sq">
              <a:noFill/>
              <a:prstDash val="solid"/>
              <a:miter/>
            </a:ln>
          </p:spPr>
        </p:sp>
        <p:sp>
          <p:nvSpPr>
            <p:cNvPr name="TextBox 5" id="5"/>
            <p:cNvSpPr txBox="true"/>
            <p:nvPr/>
          </p:nvSpPr>
          <p:spPr>
            <a:xfrm>
              <a:off x="0" y="28575"/>
              <a:ext cx="10716784" cy="2830616"/>
            </a:xfrm>
            <a:prstGeom prst="rect">
              <a:avLst/>
            </a:prstGeom>
          </p:spPr>
          <p:txBody>
            <a:bodyPr anchor="b" rtlCol="false" tIns="0" lIns="0" bIns="0" rIns="0"/>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Asociación</a:t>
              </a:r>
            </a:p>
          </p:txBody>
        </p:sp>
      </p:grpSp>
      <p:sp>
        <p:nvSpPr>
          <p:cNvPr name="TextBox 6" id="6"/>
          <p:cNvSpPr txBox="true"/>
          <p:nvPr/>
        </p:nvSpPr>
        <p:spPr>
          <a:xfrm rot="0">
            <a:off x="10242873" y="1331595"/>
            <a:ext cx="6962200" cy="8069570"/>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Es un término amplio que abarca casi cualquier conexión o relación lógica entre clases. Por ejemplo, el pasajero y la aerolínea pueden estar vinculados.</a:t>
            </a:r>
          </a:p>
        </p:txBody>
      </p:sp>
      <p:sp>
        <p:nvSpPr>
          <p:cNvPr name="Freeform 7" id="7" descr="Diagrama  El contenido generado por IA puede ser incorrecto."/>
          <p:cNvSpPr/>
          <p:nvPr/>
        </p:nvSpPr>
        <p:spPr>
          <a:xfrm flipH="false" flipV="false" rot="0">
            <a:off x="1069848" y="1254212"/>
            <a:ext cx="4455141" cy="5065074"/>
          </a:xfrm>
          <a:custGeom>
            <a:avLst/>
            <a:gdLst/>
            <a:ahLst/>
            <a:cxnLst/>
            <a:rect r="r" b="b" t="t" l="l"/>
            <a:pathLst>
              <a:path h="5065074" w="4455141">
                <a:moveTo>
                  <a:pt x="0" y="0"/>
                </a:moveTo>
                <a:lnTo>
                  <a:pt x="4455141" y="0"/>
                </a:lnTo>
                <a:lnTo>
                  <a:pt x="4455141" y="5065073"/>
                </a:lnTo>
                <a:lnTo>
                  <a:pt x="0" y="5065073"/>
                </a:lnTo>
                <a:lnTo>
                  <a:pt x="0" y="0"/>
                </a:lnTo>
                <a:close/>
              </a:path>
            </a:pathLst>
          </a:custGeom>
          <a:blipFill>
            <a:blip r:embed="rId2"/>
            <a:stretch>
              <a:fillRect l="0" t="0" r="0" b="0"/>
            </a:stretch>
          </a:blipFill>
        </p:spPr>
      </p:sp>
      <p:sp>
        <p:nvSpPr>
          <p:cNvPr name="AutoShape 8" id="8"/>
          <p:cNvSpPr/>
          <p:nvPr/>
        </p:nvSpPr>
        <p:spPr>
          <a:xfrm rot="247854">
            <a:off x="1010637" y="9379544"/>
            <a:ext cx="1586715" cy="0"/>
          </a:xfrm>
          <a:prstGeom prst="line">
            <a:avLst/>
          </a:prstGeom>
          <a:ln cap="rnd" w="57150">
            <a:solidFill>
              <a:srgbClr val="4D64C3"/>
            </a:solidFill>
            <a:prstDash val="solid"/>
            <a:headEnd type="none" len="sm" w="sm"/>
            <a:tailEnd type="none" len="sm" w="sm"/>
          </a:ln>
        </p:spPr>
      </p:sp>
      <p:sp>
        <p:nvSpPr>
          <p:cNvPr name="Freeform 9" id="9"/>
          <p:cNvSpPr/>
          <p:nvPr/>
        </p:nvSpPr>
        <p:spPr>
          <a:xfrm flipH="false" flipV="false" rot="0">
            <a:off x="8972553" y="5143500"/>
            <a:ext cx="7544853" cy="1674708"/>
          </a:xfrm>
          <a:custGeom>
            <a:avLst/>
            <a:gdLst/>
            <a:ahLst/>
            <a:cxnLst/>
            <a:rect r="r" b="b" t="t" l="l"/>
            <a:pathLst>
              <a:path h="1674708" w="7544853">
                <a:moveTo>
                  <a:pt x="0" y="0"/>
                </a:moveTo>
                <a:lnTo>
                  <a:pt x="7544853" y="0"/>
                </a:lnTo>
                <a:lnTo>
                  <a:pt x="7544853" y="1674708"/>
                </a:lnTo>
                <a:lnTo>
                  <a:pt x="0" y="1674708"/>
                </a:lnTo>
                <a:lnTo>
                  <a:pt x="0" y="0"/>
                </a:lnTo>
                <a:close/>
              </a:path>
            </a:pathLst>
          </a:custGeom>
          <a:blipFill>
            <a:blip r:embed="rId3"/>
            <a:stretch>
              <a:fillRect l="0" t="-3" r="0" b="-221674"/>
            </a:stretch>
          </a:blipFill>
        </p:spPr>
      </p:sp>
      <p:sp>
        <p:nvSpPr>
          <p:cNvPr name="Freeform 10" id="10"/>
          <p:cNvSpPr/>
          <p:nvPr/>
        </p:nvSpPr>
        <p:spPr>
          <a:xfrm flipH="false" flipV="false" rot="0">
            <a:off x="8972553" y="7028940"/>
            <a:ext cx="7544853" cy="2070303"/>
          </a:xfrm>
          <a:custGeom>
            <a:avLst/>
            <a:gdLst/>
            <a:ahLst/>
            <a:cxnLst/>
            <a:rect r="r" b="b" t="t" l="l"/>
            <a:pathLst>
              <a:path h="2070303" w="7544853">
                <a:moveTo>
                  <a:pt x="0" y="0"/>
                </a:moveTo>
                <a:lnTo>
                  <a:pt x="7544853" y="0"/>
                </a:lnTo>
                <a:lnTo>
                  <a:pt x="7544853" y="2070303"/>
                </a:lnTo>
                <a:lnTo>
                  <a:pt x="0" y="2070303"/>
                </a:lnTo>
                <a:lnTo>
                  <a:pt x="0" y="0"/>
                </a:lnTo>
                <a:close/>
              </a:path>
            </a:pathLst>
          </a:custGeom>
          <a:blipFill>
            <a:blip r:embed="rId3"/>
            <a:stretch>
              <a:fillRect l="0" t="-160213" r="-1"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2131695"/>
            <a:ext cx="8423908"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Asociación Dirigida</a:t>
            </a:r>
          </a:p>
        </p:txBody>
      </p:sp>
      <p:sp>
        <p:nvSpPr>
          <p:cNvPr name="TextBox 4" id="4"/>
          <p:cNvSpPr txBox="true"/>
          <p:nvPr/>
        </p:nvSpPr>
        <p:spPr>
          <a:xfrm rot="0">
            <a:off x="1051560" y="3909849"/>
            <a:ext cx="8423910" cy="5494755"/>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Se refiere a una relación direccional representada por una línea con una punta de flecha. La punta de la flecha representa un flujo direccional contenido en el contenedor.</a:t>
            </a:r>
          </a:p>
        </p:txBody>
      </p:sp>
      <p:sp>
        <p:nvSpPr>
          <p:cNvPr name="AutoShape 5" id="5"/>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6" id="6" descr="Diagrama  El contenido generado por IA puede ser incorrecto."/>
          <p:cNvSpPr/>
          <p:nvPr/>
        </p:nvSpPr>
        <p:spPr>
          <a:xfrm flipH="false" flipV="false" rot="0">
            <a:off x="10732768" y="1792620"/>
            <a:ext cx="6563744" cy="7657703"/>
          </a:xfrm>
          <a:custGeom>
            <a:avLst/>
            <a:gdLst/>
            <a:ahLst/>
            <a:cxnLst/>
            <a:rect r="r" b="b" t="t" l="l"/>
            <a:pathLst>
              <a:path h="7657703" w="6563744">
                <a:moveTo>
                  <a:pt x="0" y="0"/>
                </a:moveTo>
                <a:lnTo>
                  <a:pt x="6563744" y="0"/>
                </a:lnTo>
                <a:lnTo>
                  <a:pt x="6563744" y="7657703"/>
                </a:lnTo>
                <a:lnTo>
                  <a:pt x="0" y="7657703"/>
                </a:lnTo>
                <a:lnTo>
                  <a:pt x="0" y="0"/>
                </a:lnTo>
                <a:close/>
              </a:path>
            </a:pathLst>
          </a:custGeom>
          <a:blipFill>
            <a:blip r:embed="rId2"/>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951229" y="1632227"/>
            <a:ext cx="7132322" cy="2949575"/>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Asociación Reflexiva</a:t>
            </a:r>
          </a:p>
        </p:txBody>
      </p:sp>
      <p:sp>
        <p:nvSpPr>
          <p:cNvPr name="TextBox 4" id="4"/>
          <p:cNvSpPr txBox="true"/>
          <p:nvPr/>
        </p:nvSpPr>
        <p:spPr>
          <a:xfrm rot="0">
            <a:off x="9692638" y="1400173"/>
            <a:ext cx="7512435" cy="7528277"/>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Esto ocurre cuando una clase puede tener múltiples funciones o responsabilidades. </a:t>
            </a:r>
          </a:p>
          <a:p>
            <a:pPr algn="just">
              <a:lnSpc>
                <a:spcPts val="4320"/>
              </a:lnSpc>
            </a:pPr>
            <a:r>
              <a:rPr lang="en-US" sz="3000">
                <a:solidFill>
                  <a:srgbClr val="000000"/>
                </a:solidFill>
                <a:latin typeface="Arimo"/>
                <a:ea typeface="Arimo"/>
                <a:cs typeface="Arimo"/>
                <a:sym typeface="Arimo"/>
              </a:rPr>
              <a:t>Por ejemplo, un miembro del personal que trabaja en un aeropuerto puede ser un piloto, un ingeniero de aviación, un despachador de billetes, un guardia o un miembro del equipo de mantenimiento. Si el miembro de la tripulación de mantenimiento es gestionado por el ingeniero de aviación, podría haber una relación de gestión en dos instancias de la misma clase.</a:t>
            </a:r>
          </a:p>
        </p:txBody>
      </p:sp>
      <p:sp>
        <p:nvSpPr>
          <p:cNvPr name="Freeform 5" id="5" descr="Diagrama  El contenido generado por IA puede ser incorrecto."/>
          <p:cNvSpPr/>
          <p:nvPr/>
        </p:nvSpPr>
        <p:spPr>
          <a:xfrm flipH="false" flipV="false" rot="0">
            <a:off x="1069848" y="4855320"/>
            <a:ext cx="7136808" cy="4118832"/>
          </a:xfrm>
          <a:custGeom>
            <a:avLst/>
            <a:gdLst/>
            <a:ahLst/>
            <a:cxnLst/>
            <a:rect r="r" b="b" t="t" l="l"/>
            <a:pathLst>
              <a:path h="4118832" w="7136808">
                <a:moveTo>
                  <a:pt x="0" y="0"/>
                </a:moveTo>
                <a:lnTo>
                  <a:pt x="7136808" y="0"/>
                </a:lnTo>
                <a:lnTo>
                  <a:pt x="7136808" y="4118832"/>
                </a:lnTo>
                <a:lnTo>
                  <a:pt x="0" y="4118832"/>
                </a:lnTo>
                <a:lnTo>
                  <a:pt x="0" y="0"/>
                </a:lnTo>
                <a:close/>
              </a:path>
            </a:pathLst>
          </a:custGeom>
          <a:blipFill>
            <a:blip r:embed="rId2"/>
            <a:stretch>
              <a:fillRect l="0" t="-13816" r="0" b="0"/>
            </a:stretch>
          </a:blipFill>
        </p:spPr>
      </p:sp>
      <p:sp>
        <p:nvSpPr>
          <p:cNvPr name="AutoShape 6" id="6"/>
          <p:cNvSpPr/>
          <p:nvPr/>
        </p:nvSpPr>
        <p:spPr>
          <a:xfrm rot="23980">
            <a:off x="951030" y="9380601"/>
            <a:ext cx="16385941"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8781164" y="2131695"/>
            <a:ext cx="8423908"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Multiplicidad</a:t>
            </a:r>
          </a:p>
        </p:txBody>
      </p:sp>
      <p:sp>
        <p:nvSpPr>
          <p:cNvPr name="TextBox 4" id="4"/>
          <p:cNvSpPr txBox="true"/>
          <p:nvPr/>
        </p:nvSpPr>
        <p:spPr>
          <a:xfrm rot="0">
            <a:off x="8781164" y="3909849"/>
            <a:ext cx="8423910" cy="5494755"/>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Es la asociación lógica activa cuando se está representando la cardinalidad de una clase en relación con otra. Por ejemplo, una flota puede incluir varios aviones, mientras que un avión comercial puede contener de cero a muchos pasajeros. La notación 0..* en el diagrama significa “de cero a muchos”.</a:t>
            </a:r>
          </a:p>
        </p:txBody>
      </p:sp>
      <p:sp>
        <p:nvSpPr>
          <p:cNvPr name="Freeform 5" id="5" descr="Diagrama  El contenido generado por IA puede ser incorrecto."/>
          <p:cNvSpPr/>
          <p:nvPr/>
        </p:nvSpPr>
        <p:spPr>
          <a:xfrm flipH="false" flipV="false" rot="0">
            <a:off x="1069848" y="1371600"/>
            <a:ext cx="6125624" cy="8078724"/>
          </a:xfrm>
          <a:custGeom>
            <a:avLst/>
            <a:gdLst/>
            <a:ahLst/>
            <a:cxnLst/>
            <a:rect r="r" b="b" t="t" l="l"/>
            <a:pathLst>
              <a:path h="8078724" w="6125624">
                <a:moveTo>
                  <a:pt x="0" y="0"/>
                </a:moveTo>
                <a:lnTo>
                  <a:pt x="6125624" y="0"/>
                </a:lnTo>
                <a:lnTo>
                  <a:pt x="6125624" y="8078724"/>
                </a:lnTo>
                <a:lnTo>
                  <a:pt x="0" y="8078724"/>
                </a:lnTo>
                <a:lnTo>
                  <a:pt x="0" y="0"/>
                </a:lnTo>
                <a:close/>
              </a:path>
            </a:pathLst>
          </a:custGeom>
          <a:blipFill>
            <a:blip r:embed="rId2"/>
            <a:stretch>
              <a:fillRect l="0" t="0" r="0" b="0"/>
            </a:stretch>
          </a:blipFill>
        </p:spPr>
      </p:sp>
      <p:sp>
        <p:nvSpPr>
          <p:cNvPr name="AutoShape 6" id="6"/>
          <p:cNvSpPr/>
          <p:nvPr/>
        </p:nvSpPr>
        <p:spPr>
          <a:xfrm rot="247854">
            <a:off x="8740240" y="1517926"/>
            <a:ext cx="1586715"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8781164" y="2131695"/>
            <a:ext cx="8423908"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Agregación</a:t>
            </a:r>
          </a:p>
        </p:txBody>
      </p:sp>
      <p:sp>
        <p:nvSpPr>
          <p:cNvPr name="TextBox 4" id="4"/>
          <p:cNvSpPr txBox="true"/>
          <p:nvPr/>
        </p:nvSpPr>
        <p:spPr>
          <a:xfrm rot="0">
            <a:off x="8781164" y="3966999"/>
            <a:ext cx="8423910" cy="5437605"/>
          </a:xfrm>
          <a:prstGeom prst="rect">
            <a:avLst/>
          </a:prstGeom>
        </p:spPr>
        <p:txBody>
          <a:bodyPr anchor="t" rtlCol="false" tIns="0" lIns="0" bIns="0" rIns="0">
            <a:spAutoFit/>
          </a:bodyPr>
          <a:lstStyle/>
          <a:p>
            <a:pPr algn="l">
              <a:lnSpc>
                <a:spcPts val="2772"/>
              </a:lnSpc>
            </a:pPr>
            <a:r>
              <a:rPr lang="en-US" sz="2100">
                <a:solidFill>
                  <a:srgbClr val="000000"/>
                </a:solidFill>
                <a:latin typeface="Arimo"/>
                <a:ea typeface="Arimo"/>
                <a:cs typeface="Arimo"/>
                <a:sym typeface="Arimo"/>
              </a:rPr>
              <a:t>Se refiere a la formación de una clase particular como resultado de una clase agregada o construida como una colección.</a:t>
            </a:r>
          </a:p>
          <a:p>
            <a:pPr algn="l">
              <a:lnSpc>
                <a:spcPts val="2772"/>
              </a:lnSpc>
            </a:pPr>
            <a:r>
              <a:rPr lang="en-US" sz="2100">
                <a:solidFill>
                  <a:srgbClr val="000000"/>
                </a:solidFill>
                <a:latin typeface="Arimo"/>
                <a:ea typeface="Arimo"/>
                <a:cs typeface="Arimo"/>
                <a:sym typeface="Arimo"/>
              </a:rPr>
              <a:t>Por ejemplo, la clase “biblioteca” está formada por uno o varios libros, entre otros materiales. En la agregación, las clases contenidas no dependen fuertemente del ciclo de vida del contenedor. En el mismo ejemplo, los libros seguirán siéndolo aunque se disuelva la biblioteca. Para mostrar la agregación en un diagrama, dibuje una línea desde la clase padre hasta la clase hija con una forma de diamante cerca de la clase padre. Para mostrar la agregación en un diagrama, dibuje una línea desde la clase padre hasta la clase hija con una forma de diamante cerca de la clase padre.</a:t>
            </a:r>
          </a:p>
        </p:txBody>
      </p:sp>
      <p:sp>
        <p:nvSpPr>
          <p:cNvPr name="Freeform 5" id="5" descr="Diagrama  El contenido generado por IA puede ser incorrecto."/>
          <p:cNvSpPr/>
          <p:nvPr/>
        </p:nvSpPr>
        <p:spPr>
          <a:xfrm flipH="false" flipV="false" rot="0">
            <a:off x="1069848" y="2806848"/>
            <a:ext cx="6515100" cy="6643474"/>
          </a:xfrm>
          <a:custGeom>
            <a:avLst/>
            <a:gdLst/>
            <a:ahLst/>
            <a:cxnLst/>
            <a:rect r="r" b="b" t="t" l="l"/>
            <a:pathLst>
              <a:path h="6643474" w="6515100">
                <a:moveTo>
                  <a:pt x="0" y="0"/>
                </a:moveTo>
                <a:lnTo>
                  <a:pt x="6515100" y="0"/>
                </a:lnTo>
                <a:lnTo>
                  <a:pt x="6515100" y="6643474"/>
                </a:lnTo>
                <a:lnTo>
                  <a:pt x="0" y="6643474"/>
                </a:lnTo>
                <a:lnTo>
                  <a:pt x="0" y="0"/>
                </a:lnTo>
                <a:close/>
              </a:path>
            </a:pathLst>
          </a:custGeom>
          <a:blipFill>
            <a:blip r:embed="rId2"/>
            <a:stretch>
              <a:fillRect l="0" t="0" r="0" b="0"/>
            </a:stretch>
          </a:blipFill>
        </p:spPr>
      </p:sp>
      <p:sp>
        <p:nvSpPr>
          <p:cNvPr name="AutoShape 6" id="6"/>
          <p:cNvSpPr/>
          <p:nvPr/>
        </p:nvSpPr>
        <p:spPr>
          <a:xfrm rot="247854">
            <a:off x="8740240" y="1517926"/>
            <a:ext cx="1586715"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5766439"/>
            <a:ext cx="5903595"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Composición</a:t>
            </a:r>
          </a:p>
        </p:txBody>
      </p:sp>
      <p:sp>
        <p:nvSpPr>
          <p:cNvPr name="TextBox 4" id="4"/>
          <p:cNvSpPr txBox="true"/>
          <p:nvPr/>
        </p:nvSpPr>
        <p:spPr>
          <a:xfrm rot="0">
            <a:off x="8242664" y="1331594"/>
            <a:ext cx="8962412" cy="8069564"/>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La relación de composición es muy similar a la relación de agregación. con la única diferencia de su propósito clave de enfatizar la dependencia de la clase contenida al ciclo de vida de la clase contenedora. Es decir, la clase contenida será borrada cuando la clase contenedora sea destruida.</a:t>
            </a:r>
          </a:p>
          <a:p>
            <a:pPr algn="just">
              <a:lnSpc>
                <a:spcPts val="4320"/>
              </a:lnSpc>
            </a:pPr>
            <a:r>
              <a:rPr lang="en-US" sz="3000">
                <a:solidFill>
                  <a:srgbClr val="000000"/>
                </a:solidFill>
                <a:latin typeface="Arimo"/>
                <a:ea typeface="Arimo"/>
                <a:cs typeface="Arimo"/>
                <a:sym typeface="Arimo"/>
              </a:rPr>
              <a:t>Por ejemplo, el bolsillo lateral de una bandolera también dejará de existir una vez que ésta se destruya. Para mostrar una relación de composición en un diagrama UML, utilice una línea direccional que conecte las dos clases, con una forma de diamante rellena adyacente a la clase contenedora y la flecha direccional a la clase contenida.</a:t>
            </a:r>
          </a:p>
        </p:txBody>
      </p:sp>
      <p:sp>
        <p:nvSpPr>
          <p:cNvPr name="Freeform 5" id="5" descr="Diagrama  El contenido generado por IA puede ser incorrecto."/>
          <p:cNvSpPr/>
          <p:nvPr/>
        </p:nvSpPr>
        <p:spPr>
          <a:xfrm flipH="false" flipV="false" rot="0">
            <a:off x="1069848" y="1254213"/>
            <a:ext cx="2681559" cy="3889287"/>
          </a:xfrm>
          <a:custGeom>
            <a:avLst/>
            <a:gdLst/>
            <a:ahLst/>
            <a:cxnLst/>
            <a:rect r="r" b="b" t="t" l="l"/>
            <a:pathLst>
              <a:path h="3889287" w="2681559">
                <a:moveTo>
                  <a:pt x="0" y="0"/>
                </a:moveTo>
                <a:lnTo>
                  <a:pt x="2681559" y="0"/>
                </a:lnTo>
                <a:lnTo>
                  <a:pt x="2681559" y="3889287"/>
                </a:lnTo>
                <a:lnTo>
                  <a:pt x="0" y="3889287"/>
                </a:lnTo>
                <a:lnTo>
                  <a:pt x="0" y="0"/>
                </a:lnTo>
                <a:close/>
              </a:path>
            </a:pathLst>
          </a:custGeom>
          <a:blipFill>
            <a:blip r:embed="rId2"/>
            <a:stretch>
              <a:fillRect l="0" t="0" r="0" b="0"/>
            </a:stretch>
          </a:blipFill>
        </p:spPr>
      </p:sp>
      <p:sp>
        <p:nvSpPr>
          <p:cNvPr name="AutoShape 6" id="6"/>
          <p:cNvSpPr/>
          <p:nvPr/>
        </p:nvSpPr>
        <p:spPr>
          <a:xfrm rot="247854">
            <a:off x="1010637" y="9379544"/>
            <a:ext cx="1586715"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28700" y="6204187"/>
            <a:ext cx="13192093"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Herencia/Generalización</a:t>
            </a:r>
          </a:p>
        </p:txBody>
      </p:sp>
      <p:sp>
        <p:nvSpPr>
          <p:cNvPr name="TextBox 4" id="4"/>
          <p:cNvSpPr txBox="true"/>
          <p:nvPr/>
        </p:nvSpPr>
        <p:spPr>
          <a:xfrm rot="0">
            <a:off x="8242664" y="1331594"/>
            <a:ext cx="8962412" cy="8069564"/>
          </a:xfrm>
          <a:prstGeom prst="rect">
            <a:avLst/>
          </a:prstGeom>
        </p:spPr>
        <p:txBody>
          <a:bodyPr anchor="t" rtlCol="false" tIns="0" lIns="0" bIns="0" rIns="0">
            <a:spAutoFit/>
          </a:bodyPr>
          <a:lstStyle/>
          <a:p>
            <a:pPr algn="just">
              <a:lnSpc>
                <a:spcPts val="4320"/>
              </a:lnSpc>
            </a:pPr>
            <a:r>
              <a:rPr lang="en-US" sz="3000">
                <a:solidFill>
                  <a:srgbClr val="000000"/>
                </a:solidFill>
                <a:latin typeface="Arimo"/>
                <a:ea typeface="Arimo"/>
                <a:cs typeface="Arimo"/>
                <a:sym typeface="Arimo"/>
              </a:rPr>
              <a:t>Se refiere a un tipo de relación en la que una clase asociada es hija de otra en virtud de asumir las mismas funcionalidades de la clase padre. En otras palabras, la clase hija es un tipo específico de la clase padre. Para mostrar la herencia en un diagrama UML, se dibuja una línea sólida desde la clase hija hasta la clase padre utilizando una punta de flecha sin rellenar.</a:t>
            </a:r>
          </a:p>
        </p:txBody>
      </p:sp>
      <p:sp>
        <p:nvSpPr>
          <p:cNvPr name="Freeform 5" id="5" descr="Diagrama  El contenido generado por IA puede ser incorrecto."/>
          <p:cNvSpPr/>
          <p:nvPr/>
        </p:nvSpPr>
        <p:spPr>
          <a:xfrm flipH="false" flipV="false" rot="0">
            <a:off x="1069848" y="1254213"/>
            <a:ext cx="3363087" cy="3889287"/>
          </a:xfrm>
          <a:custGeom>
            <a:avLst/>
            <a:gdLst/>
            <a:ahLst/>
            <a:cxnLst/>
            <a:rect r="r" b="b" t="t" l="l"/>
            <a:pathLst>
              <a:path h="3889287" w="3363087">
                <a:moveTo>
                  <a:pt x="0" y="0"/>
                </a:moveTo>
                <a:lnTo>
                  <a:pt x="3363087" y="0"/>
                </a:lnTo>
                <a:lnTo>
                  <a:pt x="3363087" y="3889287"/>
                </a:lnTo>
                <a:lnTo>
                  <a:pt x="0" y="3889287"/>
                </a:lnTo>
                <a:lnTo>
                  <a:pt x="0" y="0"/>
                </a:lnTo>
                <a:close/>
              </a:path>
            </a:pathLst>
          </a:custGeom>
          <a:blipFill>
            <a:blip r:embed="rId2"/>
            <a:stretch>
              <a:fillRect l="0" t="0" r="0" b="0"/>
            </a:stretch>
          </a:blipFill>
        </p:spPr>
      </p:sp>
      <p:sp>
        <p:nvSpPr>
          <p:cNvPr name="AutoShape 6" id="6"/>
          <p:cNvSpPr/>
          <p:nvPr/>
        </p:nvSpPr>
        <p:spPr>
          <a:xfrm rot="247854">
            <a:off x="1010637" y="9379544"/>
            <a:ext cx="1586715"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951229" y="2857064"/>
            <a:ext cx="7132322"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Dependencia</a:t>
            </a:r>
          </a:p>
        </p:txBody>
      </p:sp>
      <p:sp>
        <p:nvSpPr>
          <p:cNvPr name="TextBox 4" id="4"/>
          <p:cNvSpPr txBox="true"/>
          <p:nvPr/>
        </p:nvSpPr>
        <p:spPr>
          <a:xfrm rot="0">
            <a:off x="9692638" y="1476373"/>
            <a:ext cx="7512435" cy="7452077"/>
          </a:xfrm>
          <a:prstGeom prst="rect">
            <a:avLst/>
          </a:prstGeom>
        </p:spPr>
        <p:txBody>
          <a:bodyPr anchor="t" rtlCol="false" tIns="0" lIns="0" bIns="0" rIns="0">
            <a:spAutoFit/>
          </a:bodyPr>
          <a:lstStyle/>
          <a:p>
            <a:pPr algn="just">
              <a:lnSpc>
                <a:spcPts val="3385"/>
              </a:lnSpc>
            </a:pPr>
            <a:r>
              <a:rPr lang="en-US" sz="2850">
                <a:solidFill>
                  <a:srgbClr val="000000"/>
                </a:solidFill>
                <a:latin typeface="Arimo"/>
                <a:ea typeface="Arimo"/>
                <a:cs typeface="Arimo"/>
                <a:sym typeface="Arimo"/>
              </a:rPr>
              <a:t>Suponga que un cambio en la clase A provoca un cambio en la clase B, luego diga que la clase B depende de la clase A.</a:t>
            </a:r>
          </a:p>
          <a:p>
            <a:pPr algn="just">
              <a:lnSpc>
                <a:spcPts val="3385"/>
              </a:lnSpc>
            </a:pPr>
            <a:r>
              <a:rPr lang="en-US" sz="2850">
                <a:solidFill>
                  <a:srgbClr val="000000"/>
                </a:solidFill>
                <a:latin typeface="Arimo"/>
                <a:ea typeface="Arimo"/>
                <a:cs typeface="Arimo"/>
                <a:sym typeface="Arimo"/>
              </a:rPr>
              <a:t>En la mayoría de los casos, las dependencias se reflejan en los métodos de una clase que utilizan el objeto de otra clase como parámetro.</a:t>
            </a:r>
          </a:p>
          <a:p>
            <a:pPr algn="just">
              <a:lnSpc>
                <a:spcPts val="3385"/>
              </a:lnSpc>
            </a:pPr>
            <a:r>
              <a:rPr lang="en-US" sz="2850">
                <a:solidFill>
                  <a:srgbClr val="000000"/>
                </a:solidFill>
                <a:latin typeface="Arimo"/>
                <a:ea typeface="Arimo"/>
                <a:cs typeface="Arimo"/>
                <a:sym typeface="Arimo"/>
              </a:rPr>
              <a:t>Una relación de dependencia es una relación de “uso”. Un cambio en una cosa en particular puede afectar a otras cosas que la usan, y usar una dependencia cuando es necesario indicar que una cosa usa otra.</a:t>
            </a:r>
          </a:p>
          <a:p>
            <a:pPr algn="just">
              <a:lnSpc>
                <a:spcPts val="3385"/>
              </a:lnSpc>
            </a:pPr>
            <a:r>
              <a:rPr lang="en-US" sz="2850">
                <a:solidFill>
                  <a:srgbClr val="000000"/>
                </a:solidFill>
                <a:latin typeface="Arimo"/>
                <a:ea typeface="Arimo"/>
                <a:cs typeface="Arimo"/>
                <a:sym typeface="Arimo"/>
              </a:rPr>
              <a:t>Por ejemplo: El auto depende de la gasolina. Si no hay gasolina, el automóvil no podrá conducir.</a:t>
            </a:r>
          </a:p>
        </p:txBody>
      </p:sp>
      <p:sp>
        <p:nvSpPr>
          <p:cNvPr name="Freeform 5" id="5"/>
          <p:cNvSpPr/>
          <p:nvPr/>
        </p:nvSpPr>
        <p:spPr>
          <a:xfrm flipH="false" flipV="false" rot="0">
            <a:off x="1028700" y="5545650"/>
            <a:ext cx="7209436" cy="1261650"/>
          </a:xfrm>
          <a:custGeom>
            <a:avLst/>
            <a:gdLst/>
            <a:ahLst/>
            <a:cxnLst/>
            <a:rect r="r" b="b" t="t" l="l"/>
            <a:pathLst>
              <a:path h="1261650" w="7209436">
                <a:moveTo>
                  <a:pt x="0" y="0"/>
                </a:moveTo>
                <a:lnTo>
                  <a:pt x="7209436" y="0"/>
                </a:lnTo>
                <a:lnTo>
                  <a:pt x="7209436" y="1261650"/>
                </a:lnTo>
                <a:lnTo>
                  <a:pt x="0" y="1261650"/>
                </a:lnTo>
                <a:lnTo>
                  <a:pt x="0" y="0"/>
                </a:lnTo>
                <a:close/>
              </a:path>
            </a:pathLst>
          </a:custGeom>
          <a:blipFill>
            <a:blip r:embed="rId2"/>
            <a:stretch>
              <a:fillRect l="0" t="-186" r="0" b="-186"/>
            </a:stretch>
          </a:blipFill>
        </p:spPr>
      </p:sp>
      <p:sp>
        <p:nvSpPr>
          <p:cNvPr name="AutoShape 6" id="6"/>
          <p:cNvSpPr/>
          <p:nvPr/>
        </p:nvSpPr>
        <p:spPr>
          <a:xfrm rot="23980">
            <a:off x="951030" y="9380601"/>
            <a:ext cx="16385941" cy="0"/>
          </a:xfrm>
          <a:prstGeom prst="line">
            <a:avLst/>
          </a:prstGeom>
          <a:ln cap="rnd" w="57150">
            <a:solidFill>
              <a:srgbClr val="4D64C3"/>
            </a:solidFill>
            <a:prstDash val="solid"/>
            <a:headEnd type="none" len="sm" w="sm"/>
            <a:tailEnd type="none" len="sm" w="sm"/>
          </a:ln>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2131695"/>
            <a:ext cx="8423908" cy="1492250"/>
          </a:xfrm>
          <a:prstGeom prst="rect">
            <a:avLst/>
          </a:prstGeom>
        </p:spPr>
        <p:txBody>
          <a:bodyPr anchor="t" rtlCol="false" tIns="0" lIns="0" bIns="0" rIns="0">
            <a:spAutoFit/>
          </a:bodyPr>
          <a:lstStyle/>
          <a:p>
            <a:pPr algn="l"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Realización</a:t>
            </a:r>
          </a:p>
        </p:txBody>
      </p:sp>
      <p:sp>
        <p:nvSpPr>
          <p:cNvPr name="TextBox 4" id="4"/>
          <p:cNvSpPr txBox="true"/>
          <p:nvPr/>
        </p:nvSpPr>
        <p:spPr>
          <a:xfrm rot="0">
            <a:off x="1051560" y="3947949"/>
            <a:ext cx="8423910" cy="5456655"/>
          </a:xfrm>
          <a:prstGeom prst="rect">
            <a:avLst/>
          </a:prstGeom>
        </p:spPr>
        <p:txBody>
          <a:bodyPr anchor="t" rtlCol="false" tIns="0" lIns="0" bIns="0" rIns="0">
            <a:spAutoFit/>
          </a:bodyPr>
          <a:lstStyle/>
          <a:p>
            <a:pPr algn="just">
              <a:lnSpc>
                <a:spcPts val="3960"/>
              </a:lnSpc>
            </a:pPr>
            <a:r>
              <a:rPr lang="en-US" sz="3000">
                <a:solidFill>
                  <a:srgbClr val="000000"/>
                </a:solidFill>
                <a:latin typeface="Arimo"/>
                <a:ea typeface="Arimo"/>
                <a:cs typeface="Arimo"/>
                <a:sym typeface="Arimo"/>
              </a:rPr>
              <a:t>Denota la implementación de la funcionalidad definida en una clase por otra clase. Para mostrar la relación en UML, se dibuja una línea discontinua con una punta de flecha sólida sin rellenar desde la clase que define la funcionalidad de la clase que implementa la función.</a:t>
            </a:r>
          </a:p>
          <a:p>
            <a:pPr algn="just">
              <a:lnSpc>
                <a:spcPts val="3960"/>
              </a:lnSpc>
            </a:pPr>
            <a:r>
              <a:rPr lang="en-US" sz="3000">
                <a:solidFill>
                  <a:srgbClr val="000000"/>
                </a:solidFill>
                <a:latin typeface="Arimo"/>
                <a:ea typeface="Arimo"/>
                <a:cs typeface="Arimo"/>
                <a:sym typeface="Arimo"/>
              </a:rPr>
              <a:t>En el ejemplo, las preferencias de impresión que se establecen mediante la interfaz de configuración de la impresora están siendo implementadas por la impresora.</a:t>
            </a:r>
          </a:p>
        </p:txBody>
      </p:sp>
      <p:sp>
        <p:nvSpPr>
          <p:cNvPr name="AutoShape 5" id="5"/>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6" id="6" descr="Diagrama  El contenido generado por IA puede ser incorrecto."/>
          <p:cNvSpPr/>
          <p:nvPr/>
        </p:nvSpPr>
        <p:spPr>
          <a:xfrm flipH="false" flipV="false" rot="0">
            <a:off x="10942147" y="1371600"/>
            <a:ext cx="6144985" cy="8078724"/>
          </a:xfrm>
          <a:custGeom>
            <a:avLst/>
            <a:gdLst/>
            <a:ahLst/>
            <a:cxnLst/>
            <a:rect r="r" b="b" t="t" l="l"/>
            <a:pathLst>
              <a:path h="8078724" w="6144985">
                <a:moveTo>
                  <a:pt x="0" y="0"/>
                </a:moveTo>
                <a:lnTo>
                  <a:pt x="6144986" y="0"/>
                </a:lnTo>
                <a:lnTo>
                  <a:pt x="6144986" y="8078724"/>
                </a:lnTo>
                <a:lnTo>
                  <a:pt x="0" y="8078724"/>
                </a:lnTo>
                <a:lnTo>
                  <a:pt x="0" y="0"/>
                </a:lnTo>
                <a:close/>
              </a:path>
            </a:pathLst>
          </a:custGeom>
          <a:blipFill>
            <a:blip r:embed="rId2"/>
            <a:stretch>
              <a:fillRect l="0" t="0" r="0" b="0"/>
            </a:stretch>
          </a:blipFill>
        </p:spPr>
      </p:sp>
    </p:spTree>
  </p:cSld>
  <p:clrMapOvr>
    <a:masterClrMapping/>
  </p:clrMapOvr>
</p:sld>
</file>

<file path=ppt/slides/slide3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67243" y="1057275"/>
            <a:ext cx="16153514" cy="2949575"/>
          </a:xfrm>
          <a:prstGeom prst="rect">
            <a:avLst/>
          </a:prstGeom>
        </p:spPr>
        <p:txBody>
          <a:bodyPr anchor="t" rtlCol="false" tIns="0" lIns="0" bIns="0" rIns="0">
            <a:spAutoFit/>
          </a:bodyPr>
          <a:lstStyle/>
          <a:p>
            <a:pPr algn="ctr"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Herramientas para Diagramas de Clases</a:t>
            </a:r>
          </a:p>
        </p:txBody>
      </p:sp>
      <p:grpSp>
        <p:nvGrpSpPr>
          <p:cNvPr name="Group 3" id="3"/>
          <p:cNvGrpSpPr/>
          <p:nvPr/>
        </p:nvGrpSpPr>
        <p:grpSpPr>
          <a:xfrm rot="0">
            <a:off x="955380" y="4147295"/>
            <a:ext cx="3815984" cy="2297210"/>
            <a:chOff x="0" y="0"/>
            <a:chExt cx="5087978" cy="3062946"/>
          </a:xfrm>
        </p:grpSpPr>
        <p:sp>
          <p:nvSpPr>
            <p:cNvPr name="Freeform 4" id="4"/>
            <p:cNvSpPr/>
            <p:nvPr/>
          </p:nvSpPr>
          <p:spPr>
            <a:xfrm flipH="false" flipV="false" rot="0">
              <a:off x="12700" y="12700"/>
              <a:ext cx="5062601" cy="3037586"/>
            </a:xfrm>
            <a:custGeom>
              <a:avLst/>
              <a:gdLst/>
              <a:ahLst/>
              <a:cxnLst/>
              <a:rect r="r" b="b" t="t" l="l"/>
              <a:pathLst>
                <a:path h="3037586" w="5062601">
                  <a:moveTo>
                    <a:pt x="0" y="0"/>
                  </a:moveTo>
                  <a:lnTo>
                    <a:pt x="5062601" y="0"/>
                  </a:lnTo>
                  <a:lnTo>
                    <a:pt x="5062601" y="3037586"/>
                  </a:lnTo>
                  <a:lnTo>
                    <a:pt x="0" y="3037586"/>
                  </a:lnTo>
                  <a:close/>
                </a:path>
              </a:pathLst>
            </a:custGeom>
            <a:solidFill>
              <a:srgbClr val="4D64C3"/>
            </a:solidFill>
          </p:spPr>
        </p:sp>
        <p:sp>
          <p:nvSpPr>
            <p:cNvPr name="Freeform 5" id="5"/>
            <p:cNvSpPr/>
            <p:nvPr/>
          </p:nvSpPr>
          <p:spPr>
            <a:xfrm flipH="false" flipV="false" rot="0">
              <a:off x="0" y="0"/>
              <a:ext cx="5088001" cy="3062986"/>
            </a:xfrm>
            <a:custGeom>
              <a:avLst/>
              <a:gdLst/>
              <a:ahLst/>
              <a:cxnLst/>
              <a:rect r="r" b="b" t="t" l="l"/>
              <a:pathLst>
                <a:path h="3062986" w="5088001">
                  <a:moveTo>
                    <a:pt x="12700" y="0"/>
                  </a:moveTo>
                  <a:lnTo>
                    <a:pt x="5075301" y="0"/>
                  </a:lnTo>
                  <a:cubicBezTo>
                    <a:pt x="5082286" y="0"/>
                    <a:pt x="5088001" y="5715"/>
                    <a:pt x="5088001" y="12700"/>
                  </a:cubicBezTo>
                  <a:lnTo>
                    <a:pt x="5088001" y="3050286"/>
                  </a:lnTo>
                  <a:cubicBezTo>
                    <a:pt x="5088001" y="3057271"/>
                    <a:pt x="5082286" y="3062986"/>
                    <a:pt x="5075301" y="3062986"/>
                  </a:cubicBezTo>
                  <a:lnTo>
                    <a:pt x="12700" y="3062986"/>
                  </a:lnTo>
                  <a:cubicBezTo>
                    <a:pt x="5715" y="3062986"/>
                    <a:pt x="0" y="3057271"/>
                    <a:pt x="0" y="3050286"/>
                  </a:cubicBezTo>
                  <a:lnTo>
                    <a:pt x="0" y="12700"/>
                  </a:lnTo>
                  <a:cubicBezTo>
                    <a:pt x="0" y="5715"/>
                    <a:pt x="5715" y="0"/>
                    <a:pt x="12700" y="0"/>
                  </a:cubicBezTo>
                  <a:moveTo>
                    <a:pt x="12700" y="25400"/>
                  </a:moveTo>
                  <a:lnTo>
                    <a:pt x="12700" y="12700"/>
                  </a:lnTo>
                  <a:lnTo>
                    <a:pt x="25400" y="12700"/>
                  </a:lnTo>
                  <a:lnTo>
                    <a:pt x="25400" y="3050286"/>
                  </a:lnTo>
                  <a:lnTo>
                    <a:pt x="12700" y="3050286"/>
                  </a:lnTo>
                  <a:lnTo>
                    <a:pt x="12700" y="3037586"/>
                  </a:lnTo>
                  <a:lnTo>
                    <a:pt x="5075301" y="3037586"/>
                  </a:lnTo>
                  <a:lnTo>
                    <a:pt x="5075301" y="3050286"/>
                  </a:lnTo>
                  <a:lnTo>
                    <a:pt x="5062601" y="3050286"/>
                  </a:lnTo>
                  <a:lnTo>
                    <a:pt x="5062601" y="12700"/>
                  </a:lnTo>
                  <a:lnTo>
                    <a:pt x="5075301" y="12700"/>
                  </a:lnTo>
                  <a:lnTo>
                    <a:pt x="5075301" y="25400"/>
                  </a:lnTo>
                  <a:lnTo>
                    <a:pt x="12700" y="25400"/>
                  </a:lnTo>
                  <a:close/>
                </a:path>
              </a:pathLst>
            </a:custGeom>
            <a:solidFill>
              <a:srgbClr val="FFFFFF"/>
            </a:solidFill>
          </p:spPr>
        </p:sp>
      </p:grpSp>
      <p:grpSp>
        <p:nvGrpSpPr>
          <p:cNvPr name="Group 6" id="6"/>
          <p:cNvGrpSpPr/>
          <p:nvPr/>
        </p:nvGrpSpPr>
        <p:grpSpPr>
          <a:xfrm rot="0">
            <a:off x="955380" y="4147295"/>
            <a:ext cx="3815984" cy="2297210"/>
            <a:chOff x="0" y="0"/>
            <a:chExt cx="5087978" cy="3062946"/>
          </a:xfrm>
        </p:grpSpPr>
        <p:sp>
          <p:nvSpPr>
            <p:cNvPr name="Freeform 7" id="7"/>
            <p:cNvSpPr/>
            <p:nvPr/>
          </p:nvSpPr>
          <p:spPr>
            <a:xfrm flipH="false" flipV="false" rot="0">
              <a:off x="0" y="0"/>
              <a:ext cx="5087978" cy="3062946"/>
            </a:xfrm>
            <a:custGeom>
              <a:avLst/>
              <a:gdLst/>
              <a:ahLst/>
              <a:cxnLst/>
              <a:rect r="r" b="b" t="t" l="l"/>
              <a:pathLst>
                <a:path h="3062946" w="5087978">
                  <a:moveTo>
                    <a:pt x="0" y="0"/>
                  </a:moveTo>
                  <a:lnTo>
                    <a:pt x="5087978" y="0"/>
                  </a:lnTo>
                  <a:lnTo>
                    <a:pt x="5087978" y="3062946"/>
                  </a:lnTo>
                  <a:lnTo>
                    <a:pt x="0" y="3062946"/>
                  </a:lnTo>
                  <a:close/>
                </a:path>
              </a:pathLst>
            </a:custGeom>
            <a:solidFill>
              <a:srgbClr val="000000">
                <a:alpha val="0"/>
              </a:srgbClr>
            </a:solidFill>
          </p:spPr>
        </p:sp>
        <p:sp>
          <p:nvSpPr>
            <p:cNvPr name="TextBox 8" id="8"/>
            <p:cNvSpPr txBox="true"/>
            <p:nvPr/>
          </p:nvSpPr>
          <p:spPr>
            <a:xfrm>
              <a:off x="0" y="38100"/>
              <a:ext cx="5087978" cy="3024846"/>
            </a:xfrm>
            <a:prstGeom prst="rect">
              <a:avLst/>
            </a:prstGeom>
          </p:spPr>
          <p:txBody>
            <a:bodyPr anchor="ctr" rtlCol="false" tIns="0" lIns="0" bIns="0" rIns="0"/>
            <a:lstStyle/>
            <a:p>
              <a:pPr algn="ctr">
                <a:lnSpc>
                  <a:spcPts val="5994"/>
                </a:lnSpc>
              </a:pPr>
              <a:r>
                <a:rPr lang="en-US" sz="5550">
                  <a:solidFill>
                    <a:srgbClr val="FFFFFF"/>
                  </a:solidFill>
                  <a:latin typeface="Arimo"/>
                  <a:ea typeface="Arimo"/>
                  <a:cs typeface="Arimo"/>
                  <a:sym typeface="Arimo"/>
                </a:rPr>
                <a:t>StarUML</a:t>
              </a:r>
            </a:p>
          </p:txBody>
        </p:sp>
      </p:grpSp>
      <p:grpSp>
        <p:nvGrpSpPr>
          <p:cNvPr name="Group 9" id="9"/>
          <p:cNvGrpSpPr/>
          <p:nvPr/>
        </p:nvGrpSpPr>
        <p:grpSpPr>
          <a:xfrm rot="0">
            <a:off x="5132008" y="4147295"/>
            <a:ext cx="3815984" cy="2297210"/>
            <a:chOff x="0" y="0"/>
            <a:chExt cx="5087978" cy="3062946"/>
          </a:xfrm>
        </p:grpSpPr>
        <p:sp>
          <p:nvSpPr>
            <p:cNvPr name="Freeform 10" id="10"/>
            <p:cNvSpPr/>
            <p:nvPr/>
          </p:nvSpPr>
          <p:spPr>
            <a:xfrm flipH="false" flipV="false" rot="0">
              <a:off x="12700" y="12700"/>
              <a:ext cx="5062601" cy="3037586"/>
            </a:xfrm>
            <a:custGeom>
              <a:avLst/>
              <a:gdLst/>
              <a:ahLst/>
              <a:cxnLst/>
              <a:rect r="r" b="b" t="t" l="l"/>
              <a:pathLst>
                <a:path h="3037586" w="5062601">
                  <a:moveTo>
                    <a:pt x="0" y="0"/>
                  </a:moveTo>
                  <a:lnTo>
                    <a:pt x="5062601" y="0"/>
                  </a:lnTo>
                  <a:lnTo>
                    <a:pt x="5062601" y="3037586"/>
                  </a:lnTo>
                  <a:lnTo>
                    <a:pt x="0" y="3037586"/>
                  </a:lnTo>
                  <a:close/>
                </a:path>
              </a:pathLst>
            </a:custGeom>
            <a:solidFill>
              <a:srgbClr val="4D64C3"/>
            </a:solidFill>
          </p:spPr>
        </p:sp>
        <p:sp>
          <p:nvSpPr>
            <p:cNvPr name="Freeform 11" id="11"/>
            <p:cNvSpPr/>
            <p:nvPr/>
          </p:nvSpPr>
          <p:spPr>
            <a:xfrm flipH="false" flipV="false" rot="0">
              <a:off x="0" y="0"/>
              <a:ext cx="5088001" cy="3062986"/>
            </a:xfrm>
            <a:custGeom>
              <a:avLst/>
              <a:gdLst/>
              <a:ahLst/>
              <a:cxnLst/>
              <a:rect r="r" b="b" t="t" l="l"/>
              <a:pathLst>
                <a:path h="3062986" w="5088001">
                  <a:moveTo>
                    <a:pt x="12700" y="0"/>
                  </a:moveTo>
                  <a:lnTo>
                    <a:pt x="5075301" y="0"/>
                  </a:lnTo>
                  <a:cubicBezTo>
                    <a:pt x="5082286" y="0"/>
                    <a:pt x="5088001" y="5715"/>
                    <a:pt x="5088001" y="12700"/>
                  </a:cubicBezTo>
                  <a:lnTo>
                    <a:pt x="5088001" y="3050286"/>
                  </a:lnTo>
                  <a:cubicBezTo>
                    <a:pt x="5088001" y="3057271"/>
                    <a:pt x="5082286" y="3062986"/>
                    <a:pt x="5075301" y="3062986"/>
                  </a:cubicBezTo>
                  <a:lnTo>
                    <a:pt x="12700" y="3062986"/>
                  </a:lnTo>
                  <a:cubicBezTo>
                    <a:pt x="5715" y="3062986"/>
                    <a:pt x="0" y="3057271"/>
                    <a:pt x="0" y="3050286"/>
                  </a:cubicBezTo>
                  <a:lnTo>
                    <a:pt x="0" y="12700"/>
                  </a:lnTo>
                  <a:cubicBezTo>
                    <a:pt x="0" y="5715"/>
                    <a:pt x="5715" y="0"/>
                    <a:pt x="12700" y="0"/>
                  </a:cubicBezTo>
                  <a:moveTo>
                    <a:pt x="12700" y="25400"/>
                  </a:moveTo>
                  <a:lnTo>
                    <a:pt x="12700" y="12700"/>
                  </a:lnTo>
                  <a:lnTo>
                    <a:pt x="25400" y="12700"/>
                  </a:lnTo>
                  <a:lnTo>
                    <a:pt x="25400" y="3050286"/>
                  </a:lnTo>
                  <a:lnTo>
                    <a:pt x="12700" y="3050286"/>
                  </a:lnTo>
                  <a:lnTo>
                    <a:pt x="12700" y="3037586"/>
                  </a:lnTo>
                  <a:lnTo>
                    <a:pt x="5075301" y="3037586"/>
                  </a:lnTo>
                  <a:lnTo>
                    <a:pt x="5075301" y="3050286"/>
                  </a:lnTo>
                  <a:lnTo>
                    <a:pt x="5062601" y="3050286"/>
                  </a:lnTo>
                  <a:lnTo>
                    <a:pt x="5062601" y="12700"/>
                  </a:lnTo>
                  <a:lnTo>
                    <a:pt x="5075301" y="12700"/>
                  </a:lnTo>
                  <a:lnTo>
                    <a:pt x="5075301" y="25400"/>
                  </a:lnTo>
                  <a:lnTo>
                    <a:pt x="12700" y="25400"/>
                  </a:lnTo>
                  <a:close/>
                </a:path>
              </a:pathLst>
            </a:custGeom>
            <a:solidFill>
              <a:srgbClr val="FFFFFF"/>
            </a:solidFill>
          </p:spPr>
        </p:sp>
      </p:grpSp>
      <p:grpSp>
        <p:nvGrpSpPr>
          <p:cNvPr name="Group 12" id="12"/>
          <p:cNvGrpSpPr/>
          <p:nvPr/>
        </p:nvGrpSpPr>
        <p:grpSpPr>
          <a:xfrm rot="0">
            <a:off x="5132008" y="4147295"/>
            <a:ext cx="3815984" cy="2297210"/>
            <a:chOff x="0" y="0"/>
            <a:chExt cx="5087978" cy="3062946"/>
          </a:xfrm>
        </p:grpSpPr>
        <p:sp>
          <p:nvSpPr>
            <p:cNvPr name="Freeform 13" id="13"/>
            <p:cNvSpPr/>
            <p:nvPr/>
          </p:nvSpPr>
          <p:spPr>
            <a:xfrm flipH="false" flipV="false" rot="0">
              <a:off x="0" y="0"/>
              <a:ext cx="5087978" cy="3062946"/>
            </a:xfrm>
            <a:custGeom>
              <a:avLst/>
              <a:gdLst/>
              <a:ahLst/>
              <a:cxnLst/>
              <a:rect r="r" b="b" t="t" l="l"/>
              <a:pathLst>
                <a:path h="3062946" w="5087978">
                  <a:moveTo>
                    <a:pt x="0" y="0"/>
                  </a:moveTo>
                  <a:lnTo>
                    <a:pt x="5087978" y="0"/>
                  </a:lnTo>
                  <a:lnTo>
                    <a:pt x="5087978" y="3062946"/>
                  </a:lnTo>
                  <a:lnTo>
                    <a:pt x="0" y="3062946"/>
                  </a:lnTo>
                  <a:close/>
                </a:path>
              </a:pathLst>
            </a:custGeom>
            <a:solidFill>
              <a:srgbClr val="000000">
                <a:alpha val="0"/>
              </a:srgbClr>
            </a:solidFill>
          </p:spPr>
        </p:sp>
        <p:sp>
          <p:nvSpPr>
            <p:cNvPr name="TextBox 14" id="14"/>
            <p:cNvSpPr txBox="true"/>
            <p:nvPr/>
          </p:nvSpPr>
          <p:spPr>
            <a:xfrm>
              <a:off x="0" y="38100"/>
              <a:ext cx="5087978" cy="3024846"/>
            </a:xfrm>
            <a:prstGeom prst="rect">
              <a:avLst/>
            </a:prstGeom>
          </p:spPr>
          <p:txBody>
            <a:bodyPr anchor="ctr" rtlCol="false" tIns="0" lIns="0" bIns="0" rIns="0"/>
            <a:lstStyle/>
            <a:p>
              <a:pPr algn="ctr">
                <a:lnSpc>
                  <a:spcPts val="5994"/>
                </a:lnSpc>
              </a:pPr>
              <a:r>
                <a:rPr lang="en-US" sz="5550">
                  <a:solidFill>
                    <a:srgbClr val="FFFFFF"/>
                  </a:solidFill>
                  <a:latin typeface="Arimo"/>
                  <a:ea typeface="Arimo"/>
                  <a:cs typeface="Arimo"/>
                  <a:sym typeface="Arimo"/>
                </a:rPr>
                <a:t>Draw.io</a:t>
              </a:r>
            </a:p>
          </p:txBody>
        </p:sp>
      </p:grpSp>
      <p:grpSp>
        <p:nvGrpSpPr>
          <p:cNvPr name="Group 15" id="15"/>
          <p:cNvGrpSpPr/>
          <p:nvPr/>
        </p:nvGrpSpPr>
        <p:grpSpPr>
          <a:xfrm rot="0">
            <a:off x="9308637" y="4147295"/>
            <a:ext cx="3815984" cy="2297210"/>
            <a:chOff x="0" y="0"/>
            <a:chExt cx="5087978" cy="3062946"/>
          </a:xfrm>
        </p:grpSpPr>
        <p:sp>
          <p:nvSpPr>
            <p:cNvPr name="Freeform 16" id="16"/>
            <p:cNvSpPr/>
            <p:nvPr/>
          </p:nvSpPr>
          <p:spPr>
            <a:xfrm flipH="false" flipV="false" rot="0">
              <a:off x="12700" y="12700"/>
              <a:ext cx="5062601" cy="3037586"/>
            </a:xfrm>
            <a:custGeom>
              <a:avLst/>
              <a:gdLst/>
              <a:ahLst/>
              <a:cxnLst/>
              <a:rect r="r" b="b" t="t" l="l"/>
              <a:pathLst>
                <a:path h="3037586" w="5062601">
                  <a:moveTo>
                    <a:pt x="0" y="0"/>
                  </a:moveTo>
                  <a:lnTo>
                    <a:pt x="5062601" y="0"/>
                  </a:lnTo>
                  <a:lnTo>
                    <a:pt x="5062601" y="3037586"/>
                  </a:lnTo>
                  <a:lnTo>
                    <a:pt x="0" y="3037586"/>
                  </a:lnTo>
                  <a:close/>
                </a:path>
              </a:pathLst>
            </a:custGeom>
            <a:solidFill>
              <a:srgbClr val="4D64C3"/>
            </a:solidFill>
          </p:spPr>
        </p:sp>
        <p:sp>
          <p:nvSpPr>
            <p:cNvPr name="Freeform 17" id="17"/>
            <p:cNvSpPr/>
            <p:nvPr/>
          </p:nvSpPr>
          <p:spPr>
            <a:xfrm flipH="false" flipV="false" rot="0">
              <a:off x="0" y="0"/>
              <a:ext cx="5088001" cy="3062986"/>
            </a:xfrm>
            <a:custGeom>
              <a:avLst/>
              <a:gdLst/>
              <a:ahLst/>
              <a:cxnLst/>
              <a:rect r="r" b="b" t="t" l="l"/>
              <a:pathLst>
                <a:path h="3062986" w="5088001">
                  <a:moveTo>
                    <a:pt x="12700" y="0"/>
                  </a:moveTo>
                  <a:lnTo>
                    <a:pt x="5075301" y="0"/>
                  </a:lnTo>
                  <a:cubicBezTo>
                    <a:pt x="5082286" y="0"/>
                    <a:pt x="5088001" y="5715"/>
                    <a:pt x="5088001" y="12700"/>
                  </a:cubicBezTo>
                  <a:lnTo>
                    <a:pt x="5088001" y="3050286"/>
                  </a:lnTo>
                  <a:cubicBezTo>
                    <a:pt x="5088001" y="3057271"/>
                    <a:pt x="5082286" y="3062986"/>
                    <a:pt x="5075301" y="3062986"/>
                  </a:cubicBezTo>
                  <a:lnTo>
                    <a:pt x="12700" y="3062986"/>
                  </a:lnTo>
                  <a:cubicBezTo>
                    <a:pt x="5715" y="3062986"/>
                    <a:pt x="0" y="3057271"/>
                    <a:pt x="0" y="3050286"/>
                  </a:cubicBezTo>
                  <a:lnTo>
                    <a:pt x="0" y="12700"/>
                  </a:lnTo>
                  <a:cubicBezTo>
                    <a:pt x="0" y="5715"/>
                    <a:pt x="5715" y="0"/>
                    <a:pt x="12700" y="0"/>
                  </a:cubicBezTo>
                  <a:moveTo>
                    <a:pt x="12700" y="25400"/>
                  </a:moveTo>
                  <a:lnTo>
                    <a:pt x="12700" y="12700"/>
                  </a:lnTo>
                  <a:lnTo>
                    <a:pt x="25400" y="12700"/>
                  </a:lnTo>
                  <a:lnTo>
                    <a:pt x="25400" y="3050286"/>
                  </a:lnTo>
                  <a:lnTo>
                    <a:pt x="12700" y="3050286"/>
                  </a:lnTo>
                  <a:lnTo>
                    <a:pt x="12700" y="3037586"/>
                  </a:lnTo>
                  <a:lnTo>
                    <a:pt x="5075301" y="3037586"/>
                  </a:lnTo>
                  <a:lnTo>
                    <a:pt x="5075301" y="3050286"/>
                  </a:lnTo>
                  <a:lnTo>
                    <a:pt x="5062601" y="3050286"/>
                  </a:lnTo>
                  <a:lnTo>
                    <a:pt x="5062601" y="12700"/>
                  </a:lnTo>
                  <a:lnTo>
                    <a:pt x="5075301" y="12700"/>
                  </a:lnTo>
                  <a:lnTo>
                    <a:pt x="5075301" y="25400"/>
                  </a:lnTo>
                  <a:lnTo>
                    <a:pt x="12700" y="25400"/>
                  </a:lnTo>
                  <a:close/>
                </a:path>
              </a:pathLst>
            </a:custGeom>
            <a:solidFill>
              <a:srgbClr val="FFFFFF"/>
            </a:solidFill>
          </p:spPr>
        </p:sp>
      </p:grpSp>
      <p:grpSp>
        <p:nvGrpSpPr>
          <p:cNvPr name="Group 18" id="18"/>
          <p:cNvGrpSpPr/>
          <p:nvPr/>
        </p:nvGrpSpPr>
        <p:grpSpPr>
          <a:xfrm rot="0">
            <a:off x="9308637" y="4147295"/>
            <a:ext cx="3815984" cy="2297210"/>
            <a:chOff x="0" y="0"/>
            <a:chExt cx="5087978" cy="3062946"/>
          </a:xfrm>
        </p:grpSpPr>
        <p:sp>
          <p:nvSpPr>
            <p:cNvPr name="Freeform 19" id="19"/>
            <p:cNvSpPr/>
            <p:nvPr/>
          </p:nvSpPr>
          <p:spPr>
            <a:xfrm flipH="false" flipV="false" rot="0">
              <a:off x="0" y="0"/>
              <a:ext cx="5087978" cy="3062946"/>
            </a:xfrm>
            <a:custGeom>
              <a:avLst/>
              <a:gdLst/>
              <a:ahLst/>
              <a:cxnLst/>
              <a:rect r="r" b="b" t="t" l="l"/>
              <a:pathLst>
                <a:path h="3062946" w="5087978">
                  <a:moveTo>
                    <a:pt x="0" y="0"/>
                  </a:moveTo>
                  <a:lnTo>
                    <a:pt x="5087978" y="0"/>
                  </a:lnTo>
                  <a:lnTo>
                    <a:pt x="5087978" y="3062946"/>
                  </a:lnTo>
                  <a:lnTo>
                    <a:pt x="0" y="3062946"/>
                  </a:lnTo>
                  <a:close/>
                </a:path>
              </a:pathLst>
            </a:custGeom>
            <a:solidFill>
              <a:srgbClr val="000000">
                <a:alpha val="0"/>
              </a:srgbClr>
            </a:solidFill>
          </p:spPr>
        </p:sp>
        <p:sp>
          <p:nvSpPr>
            <p:cNvPr name="TextBox 20" id="20"/>
            <p:cNvSpPr txBox="true"/>
            <p:nvPr/>
          </p:nvSpPr>
          <p:spPr>
            <a:xfrm>
              <a:off x="0" y="38100"/>
              <a:ext cx="5087978" cy="3024846"/>
            </a:xfrm>
            <a:prstGeom prst="rect">
              <a:avLst/>
            </a:prstGeom>
          </p:spPr>
          <p:txBody>
            <a:bodyPr anchor="ctr" rtlCol="false" tIns="0" lIns="0" bIns="0" rIns="0"/>
            <a:lstStyle/>
            <a:p>
              <a:pPr algn="ctr">
                <a:lnSpc>
                  <a:spcPts val="5994"/>
                </a:lnSpc>
              </a:pPr>
              <a:r>
                <a:rPr lang="en-US" sz="5550">
                  <a:solidFill>
                    <a:srgbClr val="FFFFFF"/>
                  </a:solidFill>
                  <a:latin typeface="Arimo"/>
                  <a:ea typeface="Arimo"/>
                  <a:cs typeface="Arimo"/>
                  <a:sym typeface="Arimo"/>
                </a:rPr>
                <a:t>Visual Paradigm</a:t>
              </a:r>
            </a:p>
          </p:txBody>
        </p:sp>
      </p:grpSp>
      <p:grpSp>
        <p:nvGrpSpPr>
          <p:cNvPr name="Group 21" id="21"/>
          <p:cNvGrpSpPr/>
          <p:nvPr/>
        </p:nvGrpSpPr>
        <p:grpSpPr>
          <a:xfrm rot="0">
            <a:off x="13485266" y="4147295"/>
            <a:ext cx="3815984" cy="2297210"/>
            <a:chOff x="0" y="0"/>
            <a:chExt cx="5087978" cy="3062946"/>
          </a:xfrm>
        </p:grpSpPr>
        <p:sp>
          <p:nvSpPr>
            <p:cNvPr name="Freeform 22" id="22"/>
            <p:cNvSpPr/>
            <p:nvPr/>
          </p:nvSpPr>
          <p:spPr>
            <a:xfrm flipH="false" flipV="false" rot="0">
              <a:off x="12700" y="12700"/>
              <a:ext cx="5062601" cy="3037586"/>
            </a:xfrm>
            <a:custGeom>
              <a:avLst/>
              <a:gdLst/>
              <a:ahLst/>
              <a:cxnLst/>
              <a:rect r="r" b="b" t="t" l="l"/>
              <a:pathLst>
                <a:path h="3037586" w="5062601">
                  <a:moveTo>
                    <a:pt x="0" y="0"/>
                  </a:moveTo>
                  <a:lnTo>
                    <a:pt x="5062601" y="0"/>
                  </a:lnTo>
                  <a:lnTo>
                    <a:pt x="5062601" y="3037586"/>
                  </a:lnTo>
                  <a:lnTo>
                    <a:pt x="0" y="3037586"/>
                  </a:lnTo>
                  <a:close/>
                </a:path>
              </a:pathLst>
            </a:custGeom>
            <a:solidFill>
              <a:srgbClr val="4D64C3"/>
            </a:solidFill>
          </p:spPr>
        </p:sp>
        <p:sp>
          <p:nvSpPr>
            <p:cNvPr name="Freeform 23" id="23"/>
            <p:cNvSpPr/>
            <p:nvPr/>
          </p:nvSpPr>
          <p:spPr>
            <a:xfrm flipH="false" flipV="false" rot="0">
              <a:off x="0" y="0"/>
              <a:ext cx="5088001" cy="3062986"/>
            </a:xfrm>
            <a:custGeom>
              <a:avLst/>
              <a:gdLst/>
              <a:ahLst/>
              <a:cxnLst/>
              <a:rect r="r" b="b" t="t" l="l"/>
              <a:pathLst>
                <a:path h="3062986" w="5088001">
                  <a:moveTo>
                    <a:pt x="12700" y="0"/>
                  </a:moveTo>
                  <a:lnTo>
                    <a:pt x="5075301" y="0"/>
                  </a:lnTo>
                  <a:cubicBezTo>
                    <a:pt x="5082286" y="0"/>
                    <a:pt x="5088001" y="5715"/>
                    <a:pt x="5088001" y="12700"/>
                  </a:cubicBezTo>
                  <a:lnTo>
                    <a:pt x="5088001" y="3050286"/>
                  </a:lnTo>
                  <a:cubicBezTo>
                    <a:pt x="5088001" y="3057271"/>
                    <a:pt x="5082286" y="3062986"/>
                    <a:pt x="5075301" y="3062986"/>
                  </a:cubicBezTo>
                  <a:lnTo>
                    <a:pt x="12700" y="3062986"/>
                  </a:lnTo>
                  <a:cubicBezTo>
                    <a:pt x="5715" y="3062986"/>
                    <a:pt x="0" y="3057271"/>
                    <a:pt x="0" y="3050286"/>
                  </a:cubicBezTo>
                  <a:lnTo>
                    <a:pt x="0" y="12700"/>
                  </a:lnTo>
                  <a:cubicBezTo>
                    <a:pt x="0" y="5715"/>
                    <a:pt x="5715" y="0"/>
                    <a:pt x="12700" y="0"/>
                  </a:cubicBezTo>
                  <a:moveTo>
                    <a:pt x="12700" y="25400"/>
                  </a:moveTo>
                  <a:lnTo>
                    <a:pt x="12700" y="12700"/>
                  </a:lnTo>
                  <a:lnTo>
                    <a:pt x="25400" y="12700"/>
                  </a:lnTo>
                  <a:lnTo>
                    <a:pt x="25400" y="3050286"/>
                  </a:lnTo>
                  <a:lnTo>
                    <a:pt x="12700" y="3050286"/>
                  </a:lnTo>
                  <a:lnTo>
                    <a:pt x="12700" y="3037586"/>
                  </a:lnTo>
                  <a:lnTo>
                    <a:pt x="5075301" y="3037586"/>
                  </a:lnTo>
                  <a:lnTo>
                    <a:pt x="5075301" y="3050286"/>
                  </a:lnTo>
                  <a:lnTo>
                    <a:pt x="5062601" y="3050286"/>
                  </a:lnTo>
                  <a:lnTo>
                    <a:pt x="5062601" y="12700"/>
                  </a:lnTo>
                  <a:lnTo>
                    <a:pt x="5075301" y="12700"/>
                  </a:lnTo>
                  <a:lnTo>
                    <a:pt x="5075301" y="25400"/>
                  </a:lnTo>
                  <a:lnTo>
                    <a:pt x="12700" y="25400"/>
                  </a:lnTo>
                  <a:close/>
                </a:path>
              </a:pathLst>
            </a:custGeom>
            <a:solidFill>
              <a:srgbClr val="FFFFFF"/>
            </a:solidFill>
          </p:spPr>
        </p:sp>
      </p:grpSp>
      <p:grpSp>
        <p:nvGrpSpPr>
          <p:cNvPr name="Group 24" id="24"/>
          <p:cNvGrpSpPr/>
          <p:nvPr/>
        </p:nvGrpSpPr>
        <p:grpSpPr>
          <a:xfrm rot="0">
            <a:off x="13485266" y="4147295"/>
            <a:ext cx="3815984" cy="2297210"/>
            <a:chOff x="0" y="0"/>
            <a:chExt cx="5087978" cy="3062946"/>
          </a:xfrm>
        </p:grpSpPr>
        <p:sp>
          <p:nvSpPr>
            <p:cNvPr name="Freeform 25" id="25"/>
            <p:cNvSpPr/>
            <p:nvPr/>
          </p:nvSpPr>
          <p:spPr>
            <a:xfrm flipH="false" flipV="false" rot="0">
              <a:off x="0" y="0"/>
              <a:ext cx="5087978" cy="3062946"/>
            </a:xfrm>
            <a:custGeom>
              <a:avLst/>
              <a:gdLst/>
              <a:ahLst/>
              <a:cxnLst/>
              <a:rect r="r" b="b" t="t" l="l"/>
              <a:pathLst>
                <a:path h="3062946" w="5087978">
                  <a:moveTo>
                    <a:pt x="0" y="0"/>
                  </a:moveTo>
                  <a:lnTo>
                    <a:pt x="5087978" y="0"/>
                  </a:lnTo>
                  <a:lnTo>
                    <a:pt x="5087978" y="3062946"/>
                  </a:lnTo>
                  <a:lnTo>
                    <a:pt x="0" y="3062946"/>
                  </a:lnTo>
                  <a:close/>
                </a:path>
              </a:pathLst>
            </a:custGeom>
            <a:solidFill>
              <a:srgbClr val="000000">
                <a:alpha val="0"/>
              </a:srgbClr>
            </a:solidFill>
          </p:spPr>
        </p:sp>
        <p:sp>
          <p:nvSpPr>
            <p:cNvPr name="TextBox 26" id="26"/>
            <p:cNvSpPr txBox="true"/>
            <p:nvPr/>
          </p:nvSpPr>
          <p:spPr>
            <a:xfrm>
              <a:off x="0" y="38100"/>
              <a:ext cx="5087978" cy="3024846"/>
            </a:xfrm>
            <a:prstGeom prst="rect">
              <a:avLst/>
            </a:prstGeom>
          </p:spPr>
          <p:txBody>
            <a:bodyPr anchor="ctr" rtlCol="false" tIns="0" lIns="0" bIns="0" rIns="0"/>
            <a:lstStyle/>
            <a:p>
              <a:pPr algn="ctr">
                <a:lnSpc>
                  <a:spcPts val="5994"/>
                </a:lnSpc>
              </a:pPr>
              <a:r>
                <a:rPr lang="en-US" sz="5550">
                  <a:solidFill>
                    <a:srgbClr val="FFFFFF"/>
                  </a:solidFill>
                  <a:latin typeface="Arimo"/>
                  <a:ea typeface="Arimo"/>
                  <a:cs typeface="Arimo"/>
                  <a:sym typeface="Arimo"/>
                </a:rPr>
                <a:t>Enterprise Architect</a:t>
              </a:r>
            </a:p>
          </p:txBody>
        </p:sp>
      </p:grpSp>
      <p:grpSp>
        <p:nvGrpSpPr>
          <p:cNvPr name="Group 27" id="27"/>
          <p:cNvGrpSpPr/>
          <p:nvPr/>
        </p:nvGrpSpPr>
        <p:grpSpPr>
          <a:xfrm rot="0">
            <a:off x="3043695" y="6805149"/>
            <a:ext cx="3815984" cy="2297209"/>
            <a:chOff x="0" y="0"/>
            <a:chExt cx="5087978" cy="3062946"/>
          </a:xfrm>
        </p:grpSpPr>
        <p:sp>
          <p:nvSpPr>
            <p:cNvPr name="Freeform 28" id="28"/>
            <p:cNvSpPr/>
            <p:nvPr/>
          </p:nvSpPr>
          <p:spPr>
            <a:xfrm flipH="false" flipV="false" rot="0">
              <a:off x="12700" y="12700"/>
              <a:ext cx="5062601" cy="3037586"/>
            </a:xfrm>
            <a:custGeom>
              <a:avLst/>
              <a:gdLst/>
              <a:ahLst/>
              <a:cxnLst/>
              <a:rect r="r" b="b" t="t" l="l"/>
              <a:pathLst>
                <a:path h="3037586" w="5062601">
                  <a:moveTo>
                    <a:pt x="0" y="0"/>
                  </a:moveTo>
                  <a:lnTo>
                    <a:pt x="5062601" y="0"/>
                  </a:lnTo>
                  <a:lnTo>
                    <a:pt x="5062601" y="3037586"/>
                  </a:lnTo>
                  <a:lnTo>
                    <a:pt x="0" y="3037586"/>
                  </a:lnTo>
                  <a:close/>
                </a:path>
              </a:pathLst>
            </a:custGeom>
            <a:solidFill>
              <a:srgbClr val="4D64C3"/>
            </a:solidFill>
          </p:spPr>
        </p:sp>
        <p:sp>
          <p:nvSpPr>
            <p:cNvPr name="Freeform 29" id="29"/>
            <p:cNvSpPr/>
            <p:nvPr/>
          </p:nvSpPr>
          <p:spPr>
            <a:xfrm flipH="false" flipV="false" rot="0">
              <a:off x="0" y="0"/>
              <a:ext cx="5088001" cy="3062986"/>
            </a:xfrm>
            <a:custGeom>
              <a:avLst/>
              <a:gdLst/>
              <a:ahLst/>
              <a:cxnLst/>
              <a:rect r="r" b="b" t="t" l="l"/>
              <a:pathLst>
                <a:path h="3062986" w="5088001">
                  <a:moveTo>
                    <a:pt x="12700" y="0"/>
                  </a:moveTo>
                  <a:lnTo>
                    <a:pt x="5075301" y="0"/>
                  </a:lnTo>
                  <a:cubicBezTo>
                    <a:pt x="5082286" y="0"/>
                    <a:pt x="5088001" y="5715"/>
                    <a:pt x="5088001" y="12700"/>
                  </a:cubicBezTo>
                  <a:lnTo>
                    <a:pt x="5088001" y="3050286"/>
                  </a:lnTo>
                  <a:cubicBezTo>
                    <a:pt x="5088001" y="3057271"/>
                    <a:pt x="5082286" y="3062986"/>
                    <a:pt x="5075301" y="3062986"/>
                  </a:cubicBezTo>
                  <a:lnTo>
                    <a:pt x="12700" y="3062986"/>
                  </a:lnTo>
                  <a:cubicBezTo>
                    <a:pt x="5715" y="3062986"/>
                    <a:pt x="0" y="3057271"/>
                    <a:pt x="0" y="3050286"/>
                  </a:cubicBezTo>
                  <a:lnTo>
                    <a:pt x="0" y="12700"/>
                  </a:lnTo>
                  <a:cubicBezTo>
                    <a:pt x="0" y="5715"/>
                    <a:pt x="5715" y="0"/>
                    <a:pt x="12700" y="0"/>
                  </a:cubicBezTo>
                  <a:moveTo>
                    <a:pt x="12700" y="25400"/>
                  </a:moveTo>
                  <a:lnTo>
                    <a:pt x="12700" y="12700"/>
                  </a:lnTo>
                  <a:lnTo>
                    <a:pt x="25400" y="12700"/>
                  </a:lnTo>
                  <a:lnTo>
                    <a:pt x="25400" y="3050286"/>
                  </a:lnTo>
                  <a:lnTo>
                    <a:pt x="12700" y="3050286"/>
                  </a:lnTo>
                  <a:lnTo>
                    <a:pt x="12700" y="3037586"/>
                  </a:lnTo>
                  <a:lnTo>
                    <a:pt x="5075301" y="3037586"/>
                  </a:lnTo>
                  <a:lnTo>
                    <a:pt x="5075301" y="3050286"/>
                  </a:lnTo>
                  <a:lnTo>
                    <a:pt x="5062601" y="3050286"/>
                  </a:lnTo>
                  <a:lnTo>
                    <a:pt x="5062601" y="12700"/>
                  </a:lnTo>
                  <a:lnTo>
                    <a:pt x="5075301" y="12700"/>
                  </a:lnTo>
                  <a:lnTo>
                    <a:pt x="5075301" y="25400"/>
                  </a:lnTo>
                  <a:lnTo>
                    <a:pt x="12700" y="25400"/>
                  </a:lnTo>
                  <a:close/>
                </a:path>
              </a:pathLst>
            </a:custGeom>
            <a:solidFill>
              <a:srgbClr val="FFFFFF"/>
            </a:solidFill>
          </p:spPr>
        </p:sp>
      </p:grpSp>
      <p:grpSp>
        <p:nvGrpSpPr>
          <p:cNvPr name="Group 30" id="30"/>
          <p:cNvGrpSpPr/>
          <p:nvPr/>
        </p:nvGrpSpPr>
        <p:grpSpPr>
          <a:xfrm rot="0">
            <a:off x="3043695" y="6805149"/>
            <a:ext cx="3815984" cy="2297209"/>
            <a:chOff x="0" y="0"/>
            <a:chExt cx="5087978" cy="3062946"/>
          </a:xfrm>
        </p:grpSpPr>
        <p:sp>
          <p:nvSpPr>
            <p:cNvPr name="Freeform 31" id="31"/>
            <p:cNvSpPr/>
            <p:nvPr/>
          </p:nvSpPr>
          <p:spPr>
            <a:xfrm flipH="false" flipV="false" rot="0">
              <a:off x="0" y="0"/>
              <a:ext cx="5087978" cy="3062946"/>
            </a:xfrm>
            <a:custGeom>
              <a:avLst/>
              <a:gdLst/>
              <a:ahLst/>
              <a:cxnLst/>
              <a:rect r="r" b="b" t="t" l="l"/>
              <a:pathLst>
                <a:path h="3062946" w="5087978">
                  <a:moveTo>
                    <a:pt x="0" y="0"/>
                  </a:moveTo>
                  <a:lnTo>
                    <a:pt x="5087978" y="0"/>
                  </a:lnTo>
                  <a:lnTo>
                    <a:pt x="5087978" y="3062946"/>
                  </a:lnTo>
                  <a:lnTo>
                    <a:pt x="0" y="3062946"/>
                  </a:lnTo>
                  <a:close/>
                </a:path>
              </a:pathLst>
            </a:custGeom>
            <a:solidFill>
              <a:srgbClr val="000000">
                <a:alpha val="0"/>
              </a:srgbClr>
            </a:solidFill>
          </p:spPr>
        </p:sp>
        <p:sp>
          <p:nvSpPr>
            <p:cNvPr name="TextBox 32" id="32"/>
            <p:cNvSpPr txBox="true"/>
            <p:nvPr/>
          </p:nvSpPr>
          <p:spPr>
            <a:xfrm>
              <a:off x="0" y="38100"/>
              <a:ext cx="5087978" cy="3024846"/>
            </a:xfrm>
            <a:prstGeom prst="rect">
              <a:avLst/>
            </a:prstGeom>
          </p:spPr>
          <p:txBody>
            <a:bodyPr anchor="ctr" rtlCol="false" tIns="0" lIns="0" bIns="0" rIns="0"/>
            <a:lstStyle/>
            <a:p>
              <a:pPr algn="ctr">
                <a:lnSpc>
                  <a:spcPts val="5994"/>
                </a:lnSpc>
              </a:pPr>
              <a:r>
                <a:rPr lang="en-US" sz="5550">
                  <a:solidFill>
                    <a:srgbClr val="FFFFFF"/>
                  </a:solidFill>
                  <a:latin typeface="Arimo"/>
                  <a:ea typeface="Arimo"/>
                  <a:cs typeface="Arimo"/>
                  <a:sym typeface="Arimo"/>
                </a:rPr>
                <a:t>Lucidchart</a:t>
              </a:r>
            </a:p>
          </p:txBody>
        </p:sp>
      </p:grpSp>
      <p:grpSp>
        <p:nvGrpSpPr>
          <p:cNvPr name="Group 33" id="33"/>
          <p:cNvGrpSpPr/>
          <p:nvPr/>
        </p:nvGrpSpPr>
        <p:grpSpPr>
          <a:xfrm rot="0">
            <a:off x="7220323" y="6805149"/>
            <a:ext cx="3815984" cy="2297209"/>
            <a:chOff x="0" y="0"/>
            <a:chExt cx="5087978" cy="3062946"/>
          </a:xfrm>
        </p:grpSpPr>
        <p:sp>
          <p:nvSpPr>
            <p:cNvPr name="Freeform 34" id="34"/>
            <p:cNvSpPr/>
            <p:nvPr/>
          </p:nvSpPr>
          <p:spPr>
            <a:xfrm flipH="false" flipV="false" rot="0">
              <a:off x="12700" y="12700"/>
              <a:ext cx="5062601" cy="3037586"/>
            </a:xfrm>
            <a:custGeom>
              <a:avLst/>
              <a:gdLst/>
              <a:ahLst/>
              <a:cxnLst/>
              <a:rect r="r" b="b" t="t" l="l"/>
              <a:pathLst>
                <a:path h="3037586" w="5062601">
                  <a:moveTo>
                    <a:pt x="0" y="0"/>
                  </a:moveTo>
                  <a:lnTo>
                    <a:pt x="5062601" y="0"/>
                  </a:lnTo>
                  <a:lnTo>
                    <a:pt x="5062601" y="3037586"/>
                  </a:lnTo>
                  <a:lnTo>
                    <a:pt x="0" y="3037586"/>
                  </a:lnTo>
                  <a:close/>
                </a:path>
              </a:pathLst>
            </a:custGeom>
            <a:solidFill>
              <a:srgbClr val="4D64C3"/>
            </a:solidFill>
          </p:spPr>
        </p:sp>
        <p:sp>
          <p:nvSpPr>
            <p:cNvPr name="Freeform 35" id="35"/>
            <p:cNvSpPr/>
            <p:nvPr/>
          </p:nvSpPr>
          <p:spPr>
            <a:xfrm flipH="false" flipV="false" rot="0">
              <a:off x="0" y="0"/>
              <a:ext cx="5088001" cy="3062986"/>
            </a:xfrm>
            <a:custGeom>
              <a:avLst/>
              <a:gdLst/>
              <a:ahLst/>
              <a:cxnLst/>
              <a:rect r="r" b="b" t="t" l="l"/>
              <a:pathLst>
                <a:path h="3062986" w="5088001">
                  <a:moveTo>
                    <a:pt x="12700" y="0"/>
                  </a:moveTo>
                  <a:lnTo>
                    <a:pt x="5075301" y="0"/>
                  </a:lnTo>
                  <a:cubicBezTo>
                    <a:pt x="5082286" y="0"/>
                    <a:pt x="5088001" y="5715"/>
                    <a:pt x="5088001" y="12700"/>
                  </a:cubicBezTo>
                  <a:lnTo>
                    <a:pt x="5088001" y="3050286"/>
                  </a:lnTo>
                  <a:cubicBezTo>
                    <a:pt x="5088001" y="3057271"/>
                    <a:pt x="5082286" y="3062986"/>
                    <a:pt x="5075301" y="3062986"/>
                  </a:cubicBezTo>
                  <a:lnTo>
                    <a:pt x="12700" y="3062986"/>
                  </a:lnTo>
                  <a:cubicBezTo>
                    <a:pt x="5715" y="3062986"/>
                    <a:pt x="0" y="3057271"/>
                    <a:pt x="0" y="3050286"/>
                  </a:cubicBezTo>
                  <a:lnTo>
                    <a:pt x="0" y="12700"/>
                  </a:lnTo>
                  <a:cubicBezTo>
                    <a:pt x="0" y="5715"/>
                    <a:pt x="5715" y="0"/>
                    <a:pt x="12700" y="0"/>
                  </a:cubicBezTo>
                  <a:moveTo>
                    <a:pt x="12700" y="25400"/>
                  </a:moveTo>
                  <a:lnTo>
                    <a:pt x="12700" y="12700"/>
                  </a:lnTo>
                  <a:lnTo>
                    <a:pt x="25400" y="12700"/>
                  </a:lnTo>
                  <a:lnTo>
                    <a:pt x="25400" y="3050286"/>
                  </a:lnTo>
                  <a:lnTo>
                    <a:pt x="12700" y="3050286"/>
                  </a:lnTo>
                  <a:lnTo>
                    <a:pt x="12700" y="3037586"/>
                  </a:lnTo>
                  <a:lnTo>
                    <a:pt x="5075301" y="3037586"/>
                  </a:lnTo>
                  <a:lnTo>
                    <a:pt x="5075301" y="3050286"/>
                  </a:lnTo>
                  <a:lnTo>
                    <a:pt x="5062601" y="3050286"/>
                  </a:lnTo>
                  <a:lnTo>
                    <a:pt x="5062601" y="12700"/>
                  </a:lnTo>
                  <a:lnTo>
                    <a:pt x="5075301" y="12700"/>
                  </a:lnTo>
                  <a:lnTo>
                    <a:pt x="5075301" y="25400"/>
                  </a:lnTo>
                  <a:lnTo>
                    <a:pt x="12700" y="25400"/>
                  </a:lnTo>
                  <a:close/>
                </a:path>
              </a:pathLst>
            </a:custGeom>
            <a:solidFill>
              <a:srgbClr val="FFFFFF"/>
            </a:solidFill>
          </p:spPr>
        </p:sp>
      </p:grpSp>
      <p:grpSp>
        <p:nvGrpSpPr>
          <p:cNvPr name="Group 36" id="36"/>
          <p:cNvGrpSpPr/>
          <p:nvPr/>
        </p:nvGrpSpPr>
        <p:grpSpPr>
          <a:xfrm rot="0">
            <a:off x="7220323" y="6805149"/>
            <a:ext cx="3815984" cy="2297209"/>
            <a:chOff x="0" y="0"/>
            <a:chExt cx="5087978" cy="3062946"/>
          </a:xfrm>
        </p:grpSpPr>
        <p:sp>
          <p:nvSpPr>
            <p:cNvPr name="Freeform 37" id="37"/>
            <p:cNvSpPr/>
            <p:nvPr/>
          </p:nvSpPr>
          <p:spPr>
            <a:xfrm flipH="false" flipV="false" rot="0">
              <a:off x="0" y="0"/>
              <a:ext cx="5087978" cy="3062946"/>
            </a:xfrm>
            <a:custGeom>
              <a:avLst/>
              <a:gdLst/>
              <a:ahLst/>
              <a:cxnLst/>
              <a:rect r="r" b="b" t="t" l="l"/>
              <a:pathLst>
                <a:path h="3062946" w="5087978">
                  <a:moveTo>
                    <a:pt x="0" y="0"/>
                  </a:moveTo>
                  <a:lnTo>
                    <a:pt x="5087978" y="0"/>
                  </a:lnTo>
                  <a:lnTo>
                    <a:pt x="5087978" y="3062946"/>
                  </a:lnTo>
                  <a:lnTo>
                    <a:pt x="0" y="3062946"/>
                  </a:lnTo>
                  <a:close/>
                </a:path>
              </a:pathLst>
            </a:custGeom>
            <a:solidFill>
              <a:srgbClr val="000000">
                <a:alpha val="0"/>
              </a:srgbClr>
            </a:solidFill>
          </p:spPr>
        </p:sp>
        <p:sp>
          <p:nvSpPr>
            <p:cNvPr name="TextBox 38" id="38"/>
            <p:cNvSpPr txBox="true"/>
            <p:nvPr/>
          </p:nvSpPr>
          <p:spPr>
            <a:xfrm>
              <a:off x="0" y="38100"/>
              <a:ext cx="5087978" cy="3024846"/>
            </a:xfrm>
            <a:prstGeom prst="rect">
              <a:avLst/>
            </a:prstGeom>
          </p:spPr>
          <p:txBody>
            <a:bodyPr anchor="ctr" rtlCol="false" tIns="0" lIns="0" bIns="0" rIns="0"/>
            <a:lstStyle/>
            <a:p>
              <a:pPr algn="ctr">
                <a:lnSpc>
                  <a:spcPts val="5994"/>
                </a:lnSpc>
              </a:pPr>
              <a:r>
                <a:rPr lang="en-US" sz="5550">
                  <a:solidFill>
                    <a:srgbClr val="FFFFFF"/>
                  </a:solidFill>
                  <a:latin typeface="Arimo"/>
                  <a:ea typeface="Arimo"/>
                  <a:cs typeface="Arimo"/>
                  <a:sym typeface="Arimo"/>
                </a:rPr>
                <a:t>PlantUML</a:t>
              </a:r>
            </a:p>
          </p:txBody>
        </p:sp>
      </p:grpSp>
      <p:grpSp>
        <p:nvGrpSpPr>
          <p:cNvPr name="Group 39" id="39"/>
          <p:cNvGrpSpPr/>
          <p:nvPr/>
        </p:nvGrpSpPr>
        <p:grpSpPr>
          <a:xfrm rot="0">
            <a:off x="11396950" y="6805149"/>
            <a:ext cx="3815984" cy="2297209"/>
            <a:chOff x="0" y="0"/>
            <a:chExt cx="5087978" cy="3062946"/>
          </a:xfrm>
        </p:grpSpPr>
        <p:sp>
          <p:nvSpPr>
            <p:cNvPr name="Freeform 40" id="40"/>
            <p:cNvSpPr/>
            <p:nvPr/>
          </p:nvSpPr>
          <p:spPr>
            <a:xfrm flipH="false" flipV="false" rot="0">
              <a:off x="12700" y="12700"/>
              <a:ext cx="5062601" cy="3037586"/>
            </a:xfrm>
            <a:custGeom>
              <a:avLst/>
              <a:gdLst/>
              <a:ahLst/>
              <a:cxnLst/>
              <a:rect r="r" b="b" t="t" l="l"/>
              <a:pathLst>
                <a:path h="3037586" w="5062601">
                  <a:moveTo>
                    <a:pt x="0" y="0"/>
                  </a:moveTo>
                  <a:lnTo>
                    <a:pt x="5062601" y="0"/>
                  </a:lnTo>
                  <a:lnTo>
                    <a:pt x="5062601" y="3037586"/>
                  </a:lnTo>
                  <a:lnTo>
                    <a:pt x="0" y="3037586"/>
                  </a:lnTo>
                  <a:close/>
                </a:path>
              </a:pathLst>
            </a:custGeom>
            <a:solidFill>
              <a:srgbClr val="4D64C3"/>
            </a:solidFill>
          </p:spPr>
        </p:sp>
        <p:sp>
          <p:nvSpPr>
            <p:cNvPr name="Freeform 41" id="41"/>
            <p:cNvSpPr/>
            <p:nvPr/>
          </p:nvSpPr>
          <p:spPr>
            <a:xfrm flipH="false" flipV="false" rot="0">
              <a:off x="0" y="0"/>
              <a:ext cx="5088001" cy="3062986"/>
            </a:xfrm>
            <a:custGeom>
              <a:avLst/>
              <a:gdLst/>
              <a:ahLst/>
              <a:cxnLst/>
              <a:rect r="r" b="b" t="t" l="l"/>
              <a:pathLst>
                <a:path h="3062986" w="5088001">
                  <a:moveTo>
                    <a:pt x="12700" y="0"/>
                  </a:moveTo>
                  <a:lnTo>
                    <a:pt x="5075301" y="0"/>
                  </a:lnTo>
                  <a:cubicBezTo>
                    <a:pt x="5082286" y="0"/>
                    <a:pt x="5088001" y="5715"/>
                    <a:pt x="5088001" y="12700"/>
                  </a:cubicBezTo>
                  <a:lnTo>
                    <a:pt x="5088001" y="3050286"/>
                  </a:lnTo>
                  <a:cubicBezTo>
                    <a:pt x="5088001" y="3057271"/>
                    <a:pt x="5082286" y="3062986"/>
                    <a:pt x="5075301" y="3062986"/>
                  </a:cubicBezTo>
                  <a:lnTo>
                    <a:pt x="12700" y="3062986"/>
                  </a:lnTo>
                  <a:cubicBezTo>
                    <a:pt x="5715" y="3062986"/>
                    <a:pt x="0" y="3057271"/>
                    <a:pt x="0" y="3050286"/>
                  </a:cubicBezTo>
                  <a:lnTo>
                    <a:pt x="0" y="12700"/>
                  </a:lnTo>
                  <a:cubicBezTo>
                    <a:pt x="0" y="5715"/>
                    <a:pt x="5715" y="0"/>
                    <a:pt x="12700" y="0"/>
                  </a:cubicBezTo>
                  <a:moveTo>
                    <a:pt x="12700" y="25400"/>
                  </a:moveTo>
                  <a:lnTo>
                    <a:pt x="12700" y="12700"/>
                  </a:lnTo>
                  <a:lnTo>
                    <a:pt x="25400" y="12700"/>
                  </a:lnTo>
                  <a:lnTo>
                    <a:pt x="25400" y="3050286"/>
                  </a:lnTo>
                  <a:lnTo>
                    <a:pt x="12700" y="3050286"/>
                  </a:lnTo>
                  <a:lnTo>
                    <a:pt x="12700" y="3037586"/>
                  </a:lnTo>
                  <a:lnTo>
                    <a:pt x="5075301" y="3037586"/>
                  </a:lnTo>
                  <a:lnTo>
                    <a:pt x="5075301" y="3050286"/>
                  </a:lnTo>
                  <a:lnTo>
                    <a:pt x="5062601" y="3050286"/>
                  </a:lnTo>
                  <a:lnTo>
                    <a:pt x="5062601" y="12700"/>
                  </a:lnTo>
                  <a:lnTo>
                    <a:pt x="5075301" y="12700"/>
                  </a:lnTo>
                  <a:lnTo>
                    <a:pt x="5075301" y="25400"/>
                  </a:lnTo>
                  <a:lnTo>
                    <a:pt x="12700" y="25400"/>
                  </a:lnTo>
                  <a:close/>
                </a:path>
              </a:pathLst>
            </a:custGeom>
            <a:solidFill>
              <a:srgbClr val="FFFFFF"/>
            </a:solidFill>
          </p:spPr>
        </p:sp>
      </p:grpSp>
      <p:grpSp>
        <p:nvGrpSpPr>
          <p:cNvPr name="Group 42" id="42"/>
          <p:cNvGrpSpPr/>
          <p:nvPr/>
        </p:nvGrpSpPr>
        <p:grpSpPr>
          <a:xfrm rot="0">
            <a:off x="11396950" y="6805149"/>
            <a:ext cx="3815984" cy="2297209"/>
            <a:chOff x="0" y="0"/>
            <a:chExt cx="5087978" cy="3062946"/>
          </a:xfrm>
        </p:grpSpPr>
        <p:sp>
          <p:nvSpPr>
            <p:cNvPr name="Freeform 43" id="43"/>
            <p:cNvSpPr/>
            <p:nvPr/>
          </p:nvSpPr>
          <p:spPr>
            <a:xfrm flipH="false" flipV="false" rot="0">
              <a:off x="0" y="0"/>
              <a:ext cx="5087978" cy="3062946"/>
            </a:xfrm>
            <a:custGeom>
              <a:avLst/>
              <a:gdLst/>
              <a:ahLst/>
              <a:cxnLst/>
              <a:rect r="r" b="b" t="t" l="l"/>
              <a:pathLst>
                <a:path h="3062946" w="5087978">
                  <a:moveTo>
                    <a:pt x="0" y="0"/>
                  </a:moveTo>
                  <a:lnTo>
                    <a:pt x="5087978" y="0"/>
                  </a:lnTo>
                  <a:lnTo>
                    <a:pt x="5087978" y="3062946"/>
                  </a:lnTo>
                  <a:lnTo>
                    <a:pt x="0" y="3062946"/>
                  </a:lnTo>
                  <a:close/>
                </a:path>
              </a:pathLst>
            </a:custGeom>
            <a:solidFill>
              <a:srgbClr val="000000">
                <a:alpha val="0"/>
              </a:srgbClr>
            </a:solidFill>
          </p:spPr>
        </p:sp>
        <p:sp>
          <p:nvSpPr>
            <p:cNvPr name="TextBox 44" id="44"/>
            <p:cNvSpPr txBox="true"/>
            <p:nvPr/>
          </p:nvSpPr>
          <p:spPr>
            <a:xfrm>
              <a:off x="0" y="38100"/>
              <a:ext cx="5087978" cy="3024846"/>
            </a:xfrm>
            <a:prstGeom prst="rect">
              <a:avLst/>
            </a:prstGeom>
          </p:spPr>
          <p:txBody>
            <a:bodyPr anchor="ctr" rtlCol="false" tIns="0" lIns="0" bIns="0" rIns="0"/>
            <a:lstStyle/>
            <a:p>
              <a:pPr algn="ctr">
                <a:lnSpc>
                  <a:spcPts val="5994"/>
                </a:lnSpc>
              </a:pPr>
              <a:r>
                <a:rPr lang="en-US" sz="5550">
                  <a:solidFill>
                    <a:srgbClr val="FFFFFF"/>
                  </a:solidFill>
                  <a:latin typeface="Arimo"/>
                  <a:ea typeface="Arimo"/>
                  <a:cs typeface="Arimo"/>
                  <a:sym typeface="Arimo"/>
                </a:rPr>
                <a:t>Archi</a:t>
              </a:r>
            </a:p>
          </p:txBody>
        </p:sp>
      </p:gr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3" id="3"/>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Freeform 4" id="4"/>
          <p:cNvSpPr/>
          <p:nvPr/>
        </p:nvSpPr>
        <p:spPr>
          <a:xfrm flipH="false" flipV="false" rot="0">
            <a:off x="4458348" y="1168533"/>
            <a:ext cx="9371304" cy="5294786"/>
          </a:xfrm>
          <a:custGeom>
            <a:avLst/>
            <a:gdLst/>
            <a:ahLst/>
            <a:cxnLst/>
            <a:rect r="r" b="b" t="t" l="l"/>
            <a:pathLst>
              <a:path h="5294786" w="9371304">
                <a:moveTo>
                  <a:pt x="0" y="0"/>
                </a:moveTo>
                <a:lnTo>
                  <a:pt x="9371304" y="0"/>
                </a:lnTo>
                <a:lnTo>
                  <a:pt x="9371304" y="5294785"/>
                </a:lnTo>
                <a:lnTo>
                  <a:pt x="0" y="5294785"/>
                </a:lnTo>
                <a:lnTo>
                  <a:pt x="0" y="0"/>
                </a:lnTo>
                <a:close/>
              </a:path>
            </a:pathLst>
          </a:custGeom>
          <a:blipFill>
            <a:blip r:embed="rId2"/>
            <a:stretch>
              <a:fillRect l="0" t="0" r="0" b="0"/>
            </a:stretch>
          </a:blipFill>
        </p:spPr>
      </p:sp>
      <p:grpSp>
        <p:nvGrpSpPr>
          <p:cNvPr name="Group 5" id="5"/>
          <p:cNvGrpSpPr/>
          <p:nvPr/>
        </p:nvGrpSpPr>
        <p:grpSpPr>
          <a:xfrm rot="0">
            <a:off x="3870663" y="6711154"/>
            <a:ext cx="10546676" cy="1400858"/>
            <a:chOff x="0" y="0"/>
            <a:chExt cx="14062234" cy="1867810"/>
          </a:xfrm>
        </p:grpSpPr>
        <p:sp>
          <p:nvSpPr>
            <p:cNvPr name="Freeform 6" id="6"/>
            <p:cNvSpPr/>
            <p:nvPr/>
          </p:nvSpPr>
          <p:spPr>
            <a:xfrm flipH="false" flipV="false" rot="0">
              <a:off x="0" y="0"/>
              <a:ext cx="14062235" cy="1867810"/>
            </a:xfrm>
            <a:custGeom>
              <a:avLst/>
              <a:gdLst/>
              <a:ahLst/>
              <a:cxnLst/>
              <a:rect r="r" b="b" t="t" l="l"/>
              <a:pathLst>
                <a:path h="1867810" w="14062235">
                  <a:moveTo>
                    <a:pt x="0" y="0"/>
                  </a:moveTo>
                  <a:lnTo>
                    <a:pt x="14062235" y="0"/>
                  </a:lnTo>
                  <a:lnTo>
                    <a:pt x="14062235" y="1867810"/>
                  </a:lnTo>
                  <a:lnTo>
                    <a:pt x="0" y="1867810"/>
                  </a:lnTo>
                  <a:close/>
                </a:path>
              </a:pathLst>
            </a:custGeom>
            <a:solidFill>
              <a:srgbClr val="000000">
                <a:alpha val="0"/>
              </a:srgbClr>
            </a:solidFill>
          </p:spPr>
        </p:sp>
        <p:sp>
          <p:nvSpPr>
            <p:cNvPr name="TextBox 7" id="7"/>
            <p:cNvSpPr txBox="true"/>
            <p:nvPr/>
          </p:nvSpPr>
          <p:spPr>
            <a:xfrm>
              <a:off x="0" y="-38100"/>
              <a:ext cx="14062234" cy="1905910"/>
            </a:xfrm>
            <a:prstGeom prst="rect">
              <a:avLst/>
            </a:prstGeom>
          </p:spPr>
          <p:txBody>
            <a:bodyPr anchor="b" rtlCol="false" tIns="0" lIns="0" bIns="0" rIns="0"/>
            <a:lstStyle/>
            <a:p>
              <a:pPr algn="ctr">
                <a:lnSpc>
                  <a:spcPts val="7920"/>
                </a:lnSpc>
              </a:pPr>
              <a:r>
                <a:rPr lang="en-US" sz="6600" b="true">
                  <a:solidFill>
                    <a:srgbClr val="000000"/>
                  </a:solidFill>
                  <a:latin typeface="Arimo Bold"/>
                  <a:ea typeface="Arimo Bold"/>
                  <a:cs typeface="Arimo Bold"/>
                  <a:sym typeface="Arimo Bold"/>
                </a:rPr>
                <a:t>Video de Apoyo</a:t>
              </a:r>
            </a:p>
          </p:txBody>
        </p:sp>
      </p:grpSp>
      <p:grpSp>
        <p:nvGrpSpPr>
          <p:cNvPr name="Group 8" id="8"/>
          <p:cNvGrpSpPr/>
          <p:nvPr/>
        </p:nvGrpSpPr>
        <p:grpSpPr>
          <a:xfrm rot="0">
            <a:off x="3870663" y="8647935"/>
            <a:ext cx="10546676" cy="961058"/>
            <a:chOff x="0" y="0"/>
            <a:chExt cx="14062234" cy="1281410"/>
          </a:xfrm>
        </p:grpSpPr>
        <p:sp>
          <p:nvSpPr>
            <p:cNvPr name="Freeform 9" id="9"/>
            <p:cNvSpPr/>
            <p:nvPr/>
          </p:nvSpPr>
          <p:spPr>
            <a:xfrm flipH="false" flipV="false" rot="0">
              <a:off x="0" y="0"/>
              <a:ext cx="14062235" cy="1281410"/>
            </a:xfrm>
            <a:custGeom>
              <a:avLst/>
              <a:gdLst/>
              <a:ahLst/>
              <a:cxnLst/>
              <a:rect r="r" b="b" t="t" l="l"/>
              <a:pathLst>
                <a:path h="1281410" w="14062235">
                  <a:moveTo>
                    <a:pt x="0" y="0"/>
                  </a:moveTo>
                  <a:lnTo>
                    <a:pt x="14062235" y="0"/>
                  </a:lnTo>
                  <a:lnTo>
                    <a:pt x="14062235" y="1281410"/>
                  </a:lnTo>
                  <a:lnTo>
                    <a:pt x="0" y="1281410"/>
                  </a:lnTo>
                  <a:close/>
                </a:path>
              </a:pathLst>
            </a:custGeom>
            <a:solidFill>
              <a:srgbClr val="000000">
                <a:alpha val="0"/>
              </a:srgbClr>
            </a:solidFill>
          </p:spPr>
        </p:sp>
        <p:sp>
          <p:nvSpPr>
            <p:cNvPr name="TextBox 10" id="10"/>
            <p:cNvSpPr txBox="true"/>
            <p:nvPr/>
          </p:nvSpPr>
          <p:spPr>
            <a:xfrm>
              <a:off x="0" y="-66675"/>
              <a:ext cx="14062234" cy="1348085"/>
            </a:xfrm>
            <a:prstGeom prst="rect">
              <a:avLst/>
            </a:prstGeom>
          </p:spPr>
          <p:txBody>
            <a:bodyPr anchor="ctr" rtlCol="false" tIns="0" lIns="0" bIns="0" rIns="0"/>
            <a:lstStyle/>
            <a:p>
              <a:pPr algn="ctr">
                <a:lnSpc>
                  <a:spcPts val="3240"/>
                </a:lnSpc>
              </a:pPr>
              <a:r>
                <a:rPr lang="en-US" b="true" sz="2250" spc="450" u="sng">
                  <a:solidFill>
                    <a:srgbClr val="000000"/>
                  </a:solidFill>
                  <a:latin typeface="Arimo Bold"/>
                  <a:ea typeface="Arimo Bold"/>
                  <a:cs typeface="Arimo Bold"/>
                  <a:sym typeface="Arimo Bold"/>
                  <a:hlinkClick r:id="rId3" tooltip="https://www.youtube.com/watch?v=Z0yLerU0g-Q&amp;feature=youtu.be"/>
                </a:rPr>
                <a:t>https://www.youtube.com/watch?v=Z0yLerU0g-Q&amp;feature=youtu.be</a:t>
              </a:r>
            </a:p>
          </p:txBody>
        </p:sp>
      </p:grpSp>
      <p:sp>
        <p:nvSpPr>
          <p:cNvPr name="AutoShape 11" id="11"/>
          <p:cNvSpPr/>
          <p:nvPr/>
        </p:nvSpPr>
        <p:spPr>
          <a:xfrm rot="323358">
            <a:off x="8687640" y="8474739"/>
            <a:ext cx="912720" cy="0"/>
          </a:xfrm>
          <a:prstGeom prst="line">
            <a:avLst/>
          </a:prstGeom>
          <a:ln cap="rnd" w="47625">
            <a:solidFill>
              <a:srgbClr val="4D64C3"/>
            </a:solidFill>
            <a:prstDash val="solid"/>
            <a:headEnd type="none" len="sm" w="sm"/>
            <a:tailEnd type="none" len="sm" w="sm"/>
          </a:ln>
        </p:spPr>
      </p:sp>
    </p:spTree>
  </p:cSld>
  <p:clrMapOvr>
    <a:masterClrMapping/>
  </p:clrMapOvr>
</p:sld>
</file>

<file path=ppt/slides/slide4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3" id="3"/>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4" id="4"/>
          <p:cNvSpPr/>
          <p:nvPr/>
        </p:nvSpPr>
        <p:spPr>
          <a:xfrm>
            <a:off x="8689657" y="8455689"/>
            <a:ext cx="7365462" cy="370261"/>
          </a:xfrm>
          <a:prstGeom prst="line">
            <a:avLst/>
          </a:prstGeom>
          <a:ln cap="rnd" w="47625">
            <a:solidFill>
              <a:srgbClr val="4D64C3"/>
            </a:solidFill>
            <a:prstDash val="solid"/>
            <a:headEnd type="none" len="sm" w="sm"/>
            <a:tailEnd type="none" len="sm" w="sm"/>
          </a:ln>
        </p:spPr>
      </p:sp>
      <p:sp>
        <p:nvSpPr>
          <p:cNvPr name="TextBox 5" id="5"/>
          <p:cNvSpPr txBox="true"/>
          <p:nvPr/>
        </p:nvSpPr>
        <p:spPr>
          <a:xfrm rot="0">
            <a:off x="1028700" y="3257550"/>
            <a:ext cx="8923530" cy="44100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Cloud </a:t>
            </a:r>
          </a:p>
          <a:p>
            <a:pPr algn="l" marL="0" indent="0" lvl="0">
              <a:lnSpc>
                <a:spcPts val="17250"/>
              </a:lnSpc>
              <a:spcBef>
                <a:spcPct val="0"/>
              </a:spcBef>
            </a:pPr>
            <a:r>
              <a:rPr lang="en-US" sz="15000">
                <a:solidFill>
                  <a:srgbClr val="131416"/>
                </a:solidFill>
                <a:latin typeface="Playlist Script"/>
                <a:ea typeface="Playlist Script"/>
                <a:cs typeface="Playlist Script"/>
                <a:sym typeface="Playlist Script"/>
              </a:rPr>
              <a:t>Computing</a:t>
            </a:r>
          </a:p>
        </p:txBody>
      </p:sp>
      <p:grpSp>
        <p:nvGrpSpPr>
          <p:cNvPr name="Group 6" id="6"/>
          <p:cNvGrpSpPr/>
          <p:nvPr/>
        </p:nvGrpSpPr>
        <p:grpSpPr>
          <a:xfrm rot="0">
            <a:off x="8139393" y="2700104"/>
            <a:ext cx="8082125" cy="548250"/>
            <a:chOff x="0" y="0"/>
            <a:chExt cx="10776166" cy="731000"/>
          </a:xfrm>
        </p:grpSpPr>
        <p:sp>
          <p:nvSpPr>
            <p:cNvPr name="Freeform 7" id="7"/>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8" id="8"/>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553BB1"/>
            </a:solidFill>
          </p:spPr>
        </p:sp>
      </p:grpSp>
      <p:grpSp>
        <p:nvGrpSpPr>
          <p:cNvPr name="Group 9" id="9"/>
          <p:cNvGrpSpPr/>
          <p:nvPr/>
        </p:nvGrpSpPr>
        <p:grpSpPr>
          <a:xfrm rot="0">
            <a:off x="8542546" y="2390144"/>
            <a:ext cx="5663202" cy="638970"/>
            <a:chOff x="0" y="0"/>
            <a:chExt cx="7550936" cy="851960"/>
          </a:xfrm>
        </p:grpSpPr>
        <p:sp>
          <p:nvSpPr>
            <p:cNvPr name="Freeform 10" id="10"/>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553BB1"/>
            </a:solidFill>
          </p:spPr>
        </p:sp>
        <p:sp>
          <p:nvSpPr>
            <p:cNvPr name="Freeform 11" id="11"/>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12" id="12"/>
          <p:cNvGrpSpPr/>
          <p:nvPr/>
        </p:nvGrpSpPr>
        <p:grpSpPr>
          <a:xfrm rot="0">
            <a:off x="8572809" y="2420406"/>
            <a:ext cx="5602677" cy="578445"/>
            <a:chOff x="0" y="0"/>
            <a:chExt cx="7470236" cy="771260"/>
          </a:xfrm>
        </p:grpSpPr>
        <p:sp>
          <p:nvSpPr>
            <p:cNvPr name="Freeform 13" id="13"/>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14" id="14"/>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 Ventajas</a:t>
              </a:r>
            </a:p>
          </p:txBody>
        </p:sp>
      </p:grpSp>
      <p:grpSp>
        <p:nvGrpSpPr>
          <p:cNvPr name="Group 15" id="15"/>
          <p:cNvGrpSpPr/>
          <p:nvPr/>
        </p:nvGrpSpPr>
        <p:grpSpPr>
          <a:xfrm rot="0">
            <a:off x="8139393" y="3652663"/>
            <a:ext cx="8082125" cy="548250"/>
            <a:chOff x="0" y="0"/>
            <a:chExt cx="10776166" cy="731000"/>
          </a:xfrm>
        </p:grpSpPr>
        <p:sp>
          <p:nvSpPr>
            <p:cNvPr name="Freeform 16" id="16"/>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17" id="17"/>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984DC3"/>
            </a:solidFill>
          </p:spPr>
        </p:sp>
      </p:grpSp>
      <p:grpSp>
        <p:nvGrpSpPr>
          <p:cNvPr name="Group 18" id="18"/>
          <p:cNvGrpSpPr/>
          <p:nvPr/>
        </p:nvGrpSpPr>
        <p:grpSpPr>
          <a:xfrm rot="0">
            <a:off x="8542546" y="3342704"/>
            <a:ext cx="5663202" cy="638970"/>
            <a:chOff x="0" y="0"/>
            <a:chExt cx="7550936" cy="851960"/>
          </a:xfrm>
        </p:grpSpPr>
        <p:sp>
          <p:nvSpPr>
            <p:cNvPr name="Freeform 19" id="19"/>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984DC3"/>
            </a:solidFill>
          </p:spPr>
        </p:sp>
        <p:sp>
          <p:nvSpPr>
            <p:cNvPr name="Freeform 20" id="20"/>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21" id="21"/>
          <p:cNvGrpSpPr/>
          <p:nvPr/>
        </p:nvGrpSpPr>
        <p:grpSpPr>
          <a:xfrm rot="0">
            <a:off x="8572809" y="3372966"/>
            <a:ext cx="5602677" cy="578445"/>
            <a:chOff x="0" y="0"/>
            <a:chExt cx="7470236" cy="771260"/>
          </a:xfrm>
        </p:grpSpPr>
        <p:sp>
          <p:nvSpPr>
            <p:cNvPr name="Freeform 22" id="22"/>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23" id="23"/>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Desventajas</a:t>
              </a:r>
            </a:p>
          </p:txBody>
        </p:sp>
      </p:grpSp>
      <p:grpSp>
        <p:nvGrpSpPr>
          <p:cNvPr name="Group 24" id="24"/>
          <p:cNvGrpSpPr/>
          <p:nvPr/>
        </p:nvGrpSpPr>
        <p:grpSpPr>
          <a:xfrm rot="0">
            <a:off x="8139393" y="4605225"/>
            <a:ext cx="8082125" cy="548250"/>
            <a:chOff x="0" y="0"/>
            <a:chExt cx="10776166" cy="731000"/>
          </a:xfrm>
        </p:grpSpPr>
        <p:sp>
          <p:nvSpPr>
            <p:cNvPr name="Freeform 25" id="25"/>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26" id="26"/>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B13BAB"/>
            </a:solidFill>
          </p:spPr>
        </p:sp>
      </p:grpSp>
      <p:grpSp>
        <p:nvGrpSpPr>
          <p:cNvPr name="Group 27" id="27"/>
          <p:cNvGrpSpPr/>
          <p:nvPr/>
        </p:nvGrpSpPr>
        <p:grpSpPr>
          <a:xfrm rot="0">
            <a:off x="8542546" y="4295265"/>
            <a:ext cx="5663202" cy="638970"/>
            <a:chOff x="0" y="0"/>
            <a:chExt cx="7550936" cy="851960"/>
          </a:xfrm>
        </p:grpSpPr>
        <p:sp>
          <p:nvSpPr>
            <p:cNvPr name="Freeform 28" id="28"/>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B13BAB"/>
            </a:solidFill>
          </p:spPr>
        </p:sp>
        <p:sp>
          <p:nvSpPr>
            <p:cNvPr name="Freeform 29" id="29"/>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30" id="30"/>
          <p:cNvGrpSpPr/>
          <p:nvPr/>
        </p:nvGrpSpPr>
        <p:grpSpPr>
          <a:xfrm rot="0">
            <a:off x="8572809" y="4325528"/>
            <a:ext cx="5602677" cy="578445"/>
            <a:chOff x="0" y="0"/>
            <a:chExt cx="7470236" cy="771260"/>
          </a:xfrm>
        </p:grpSpPr>
        <p:sp>
          <p:nvSpPr>
            <p:cNvPr name="Freeform 31" id="31"/>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32" id="32"/>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 Tipos de Nube</a:t>
              </a:r>
            </a:p>
          </p:txBody>
        </p:sp>
      </p:grpSp>
      <p:grpSp>
        <p:nvGrpSpPr>
          <p:cNvPr name="Group 33" id="33"/>
          <p:cNvGrpSpPr/>
          <p:nvPr/>
        </p:nvGrpSpPr>
        <p:grpSpPr>
          <a:xfrm rot="0">
            <a:off x="8139393" y="5557784"/>
            <a:ext cx="8082125" cy="548250"/>
            <a:chOff x="0" y="0"/>
            <a:chExt cx="10776166" cy="731000"/>
          </a:xfrm>
        </p:grpSpPr>
        <p:sp>
          <p:nvSpPr>
            <p:cNvPr name="Freeform 34" id="34"/>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35" id="35"/>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C34D8B"/>
            </a:solidFill>
          </p:spPr>
        </p:sp>
      </p:grpSp>
      <p:grpSp>
        <p:nvGrpSpPr>
          <p:cNvPr name="Group 36" id="36"/>
          <p:cNvGrpSpPr/>
          <p:nvPr/>
        </p:nvGrpSpPr>
        <p:grpSpPr>
          <a:xfrm rot="0">
            <a:off x="8542546" y="5247825"/>
            <a:ext cx="5663202" cy="638970"/>
            <a:chOff x="0" y="0"/>
            <a:chExt cx="7550936" cy="851960"/>
          </a:xfrm>
        </p:grpSpPr>
        <p:sp>
          <p:nvSpPr>
            <p:cNvPr name="Freeform 37" id="37"/>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C34D8B"/>
            </a:solidFill>
          </p:spPr>
        </p:sp>
        <p:sp>
          <p:nvSpPr>
            <p:cNvPr name="Freeform 38" id="38"/>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39" id="39"/>
          <p:cNvGrpSpPr/>
          <p:nvPr/>
        </p:nvGrpSpPr>
        <p:grpSpPr>
          <a:xfrm rot="0">
            <a:off x="8572809" y="5278088"/>
            <a:ext cx="5602677" cy="578445"/>
            <a:chOff x="0" y="0"/>
            <a:chExt cx="7470236" cy="771260"/>
          </a:xfrm>
        </p:grpSpPr>
        <p:sp>
          <p:nvSpPr>
            <p:cNvPr name="Freeform 40" id="40"/>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41" id="41"/>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Modelos en la Nube</a:t>
              </a:r>
            </a:p>
          </p:txBody>
        </p:sp>
      </p:grpSp>
      <p:grpSp>
        <p:nvGrpSpPr>
          <p:cNvPr name="Group 42" id="42"/>
          <p:cNvGrpSpPr/>
          <p:nvPr/>
        </p:nvGrpSpPr>
        <p:grpSpPr>
          <a:xfrm rot="0">
            <a:off x="8139393" y="6510345"/>
            <a:ext cx="8082125" cy="548250"/>
            <a:chOff x="0" y="0"/>
            <a:chExt cx="10776166" cy="731000"/>
          </a:xfrm>
        </p:grpSpPr>
        <p:sp>
          <p:nvSpPr>
            <p:cNvPr name="Freeform 43" id="43"/>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44" id="44"/>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B13B48"/>
            </a:solidFill>
          </p:spPr>
        </p:sp>
      </p:grpSp>
      <p:grpSp>
        <p:nvGrpSpPr>
          <p:cNvPr name="Group 45" id="45"/>
          <p:cNvGrpSpPr/>
          <p:nvPr/>
        </p:nvGrpSpPr>
        <p:grpSpPr>
          <a:xfrm rot="0">
            <a:off x="8542546" y="6200385"/>
            <a:ext cx="5663202" cy="638970"/>
            <a:chOff x="0" y="0"/>
            <a:chExt cx="7550936" cy="851960"/>
          </a:xfrm>
        </p:grpSpPr>
        <p:sp>
          <p:nvSpPr>
            <p:cNvPr name="Freeform 46" id="46"/>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B13B48"/>
            </a:solidFill>
          </p:spPr>
        </p:sp>
        <p:sp>
          <p:nvSpPr>
            <p:cNvPr name="Freeform 47" id="47"/>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48" id="48"/>
          <p:cNvGrpSpPr/>
          <p:nvPr/>
        </p:nvGrpSpPr>
        <p:grpSpPr>
          <a:xfrm rot="0">
            <a:off x="8572809" y="6230648"/>
            <a:ext cx="5602677" cy="578445"/>
            <a:chOff x="0" y="0"/>
            <a:chExt cx="7470236" cy="771260"/>
          </a:xfrm>
        </p:grpSpPr>
        <p:sp>
          <p:nvSpPr>
            <p:cNvPr name="Freeform 49" id="49"/>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50" id="50"/>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Servicios en la Nube</a:t>
              </a:r>
            </a:p>
          </p:txBody>
        </p:sp>
      </p:grpSp>
      <p:grpSp>
        <p:nvGrpSpPr>
          <p:cNvPr name="Group 51" id="51"/>
          <p:cNvGrpSpPr/>
          <p:nvPr/>
        </p:nvGrpSpPr>
        <p:grpSpPr>
          <a:xfrm rot="0">
            <a:off x="8139393" y="7462905"/>
            <a:ext cx="8082125" cy="548250"/>
            <a:chOff x="0" y="0"/>
            <a:chExt cx="10776166" cy="731000"/>
          </a:xfrm>
        </p:grpSpPr>
        <p:sp>
          <p:nvSpPr>
            <p:cNvPr name="Freeform 52" id="52"/>
            <p:cNvSpPr/>
            <p:nvPr/>
          </p:nvSpPr>
          <p:spPr>
            <a:xfrm flipH="false" flipV="false" rot="0">
              <a:off x="12700" y="12700"/>
              <a:ext cx="10750804" cy="705612"/>
            </a:xfrm>
            <a:custGeom>
              <a:avLst/>
              <a:gdLst/>
              <a:ahLst/>
              <a:cxnLst/>
              <a:rect r="r" b="b" t="t" l="l"/>
              <a:pathLst>
                <a:path h="705612" w="10750804">
                  <a:moveTo>
                    <a:pt x="0" y="0"/>
                  </a:moveTo>
                  <a:lnTo>
                    <a:pt x="10750804" y="0"/>
                  </a:lnTo>
                  <a:lnTo>
                    <a:pt x="10750804" y="705612"/>
                  </a:lnTo>
                  <a:lnTo>
                    <a:pt x="0" y="705612"/>
                  </a:lnTo>
                  <a:close/>
                </a:path>
              </a:pathLst>
            </a:custGeom>
            <a:solidFill>
              <a:srgbClr val="FFFFFF">
                <a:alpha val="80784"/>
              </a:srgbClr>
            </a:solidFill>
          </p:spPr>
        </p:sp>
        <p:sp>
          <p:nvSpPr>
            <p:cNvPr name="Freeform 53" id="53"/>
            <p:cNvSpPr/>
            <p:nvPr/>
          </p:nvSpPr>
          <p:spPr>
            <a:xfrm flipH="false" flipV="false" rot="0">
              <a:off x="0" y="0"/>
              <a:ext cx="10776204" cy="731012"/>
            </a:xfrm>
            <a:custGeom>
              <a:avLst/>
              <a:gdLst/>
              <a:ahLst/>
              <a:cxnLst/>
              <a:rect r="r" b="b" t="t" l="l"/>
              <a:pathLst>
                <a:path h="731012" w="10776204">
                  <a:moveTo>
                    <a:pt x="12700" y="0"/>
                  </a:moveTo>
                  <a:lnTo>
                    <a:pt x="10763504" y="0"/>
                  </a:lnTo>
                  <a:cubicBezTo>
                    <a:pt x="10770489" y="0"/>
                    <a:pt x="10776204" y="5715"/>
                    <a:pt x="10776204" y="12700"/>
                  </a:cubicBezTo>
                  <a:lnTo>
                    <a:pt x="10776204" y="718312"/>
                  </a:lnTo>
                  <a:cubicBezTo>
                    <a:pt x="10776204" y="725297"/>
                    <a:pt x="10770489" y="731012"/>
                    <a:pt x="10763504" y="731012"/>
                  </a:cubicBezTo>
                  <a:lnTo>
                    <a:pt x="12700" y="731012"/>
                  </a:lnTo>
                  <a:cubicBezTo>
                    <a:pt x="5715" y="731012"/>
                    <a:pt x="0" y="725297"/>
                    <a:pt x="0" y="718312"/>
                  </a:cubicBezTo>
                  <a:lnTo>
                    <a:pt x="0" y="12700"/>
                  </a:lnTo>
                  <a:cubicBezTo>
                    <a:pt x="0" y="5715"/>
                    <a:pt x="5715" y="0"/>
                    <a:pt x="12700" y="0"/>
                  </a:cubicBezTo>
                  <a:moveTo>
                    <a:pt x="12700" y="25400"/>
                  </a:moveTo>
                  <a:lnTo>
                    <a:pt x="12700" y="12700"/>
                  </a:lnTo>
                  <a:lnTo>
                    <a:pt x="25400" y="12700"/>
                  </a:lnTo>
                  <a:lnTo>
                    <a:pt x="25400" y="718312"/>
                  </a:lnTo>
                  <a:lnTo>
                    <a:pt x="12700" y="718312"/>
                  </a:lnTo>
                  <a:lnTo>
                    <a:pt x="12700" y="705612"/>
                  </a:lnTo>
                  <a:lnTo>
                    <a:pt x="10763504" y="705612"/>
                  </a:lnTo>
                  <a:lnTo>
                    <a:pt x="10763504" y="718312"/>
                  </a:lnTo>
                  <a:lnTo>
                    <a:pt x="10750804" y="718312"/>
                  </a:lnTo>
                  <a:lnTo>
                    <a:pt x="10750804" y="12700"/>
                  </a:lnTo>
                  <a:lnTo>
                    <a:pt x="10763504" y="12700"/>
                  </a:lnTo>
                  <a:lnTo>
                    <a:pt x="10763504" y="25400"/>
                  </a:lnTo>
                  <a:lnTo>
                    <a:pt x="12700" y="25400"/>
                  </a:lnTo>
                  <a:close/>
                </a:path>
              </a:pathLst>
            </a:custGeom>
            <a:solidFill>
              <a:srgbClr val="553BB1"/>
            </a:solidFill>
          </p:spPr>
        </p:sp>
      </p:grpSp>
      <p:grpSp>
        <p:nvGrpSpPr>
          <p:cNvPr name="Group 54" id="54"/>
          <p:cNvGrpSpPr/>
          <p:nvPr/>
        </p:nvGrpSpPr>
        <p:grpSpPr>
          <a:xfrm rot="0">
            <a:off x="8542546" y="7152945"/>
            <a:ext cx="5663202" cy="638970"/>
            <a:chOff x="0" y="0"/>
            <a:chExt cx="7550936" cy="851960"/>
          </a:xfrm>
        </p:grpSpPr>
        <p:sp>
          <p:nvSpPr>
            <p:cNvPr name="Freeform 55" id="55"/>
            <p:cNvSpPr/>
            <p:nvPr/>
          </p:nvSpPr>
          <p:spPr>
            <a:xfrm flipH="false" flipV="false" rot="0">
              <a:off x="12700" y="12700"/>
              <a:ext cx="7525512" cy="826643"/>
            </a:xfrm>
            <a:custGeom>
              <a:avLst/>
              <a:gdLst/>
              <a:ahLst/>
              <a:cxnLst/>
              <a:rect r="r" b="b" t="t" l="l"/>
              <a:pathLst>
                <a:path h="826643" w="7525512">
                  <a:moveTo>
                    <a:pt x="0" y="137795"/>
                  </a:moveTo>
                  <a:cubicBezTo>
                    <a:pt x="0" y="61722"/>
                    <a:pt x="63373" y="0"/>
                    <a:pt x="141478" y="0"/>
                  </a:cubicBezTo>
                  <a:lnTo>
                    <a:pt x="7384034" y="0"/>
                  </a:lnTo>
                  <a:cubicBezTo>
                    <a:pt x="7462139" y="0"/>
                    <a:pt x="7525512" y="61722"/>
                    <a:pt x="7525512" y="137795"/>
                  </a:cubicBezTo>
                  <a:lnTo>
                    <a:pt x="7525512" y="688848"/>
                  </a:lnTo>
                  <a:cubicBezTo>
                    <a:pt x="7525512" y="764921"/>
                    <a:pt x="7462139" y="826643"/>
                    <a:pt x="7384034" y="826643"/>
                  </a:cubicBezTo>
                  <a:lnTo>
                    <a:pt x="141478" y="826643"/>
                  </a:lnTo>
                  <a:cubicBezTo>
                    <a:pt x="63373" y="826516"/>
                    <a:pt x="0" y="764921"/>
                    <a:pt x="0" y="688848"/>
                  </a:cubicBezTo>
                  <a:close/>
                </a:path>
              </a:pathLst>
            </a:custGeom>
            <a:solidFill>
              <a:srgbClr val="553BB1"/>
            </a:solidFill>
          </p:spPr>
        </p:sp>
        <p:sp>
          <p:nvSpPr>
            <p:cNvPr name="Freeform 56" id="56"/>
            <p:cNvSpPr/>
            <p:nvPr/>
          </p:nvSpPr>
          <p:spPr>
            <a:xfrm flipH="false" flipV="false" rot="0">
              <a:off x="0" y="0"/>
              <a:ext cx="7550912" cy="852043"/>
            </a:xfrm>
            <a:custGeom>
              <a:avLst/>
              <a:gdLst/>
              <a:ahLst/>
              <a:cxnLst/>
              <a:rect r="r" b="b" t="t" l="l"/>
              <a:pathLst>
                <a:path h="852043" w="7550912">
                  <a:moveTo>
                    <a:pt x="0" y="150495"/>
                  </a:moveTo>
                  <a:cubicBezTo>
                    <a:pt x="0" y="67056"/>
                    <a:pt x="69342" y="0"/>
                    <a:pt x="154178" y="0"/>
                  </a:cubicBezTo>
                  <a:lnTo>
                    <a:pt x="7396734" y="0"/>
                  </a:lnTo>
                  <a:lnTo>
                    <a:pt x="7396734" y="12700"/>
                  </a:lnTo>
                  <a:lnTo>
                    <a:pt x="7396734" y="0"/>
                  </a:lnTo>
                  <a:cubicBezTo>
                    <a:pt x="7481570" y="0"/>
                    <a:pt x="7550912" y="67056"/>
                    <a:pt x="7550912" y="150495"/>
                  </a:cubicBezTo>
                  <a:lnTo>
                    <a:pt x="7538212" y="150495"/>
                  </a:lnTo>
                  <a:lnTo>
                    <a:pt x="7550912" y="150495"/>
                  </a:lnTo>
                  <a:lnTo>
                    <a:pt x="7550912" y="701548"/>
                  </a:lnTo>
                  <a:lnTo>
                    <a:pt x="7538212" y="701548"/>
                  </a:lnTo>
                  <a:lnTo>
                    <a:pt x="7550912" y="701548"/>
                  </a:lnTo>
                  <a:cubicBezTo>
                    <a:pt x="7550912" y="784987"/>
                    <a:pt x="7481570" y="852043"/>
                    <a:pt x="7396734" y="852043"/>
                  </a:cubicBezTo>
                  <a:lnTo>
                    <a:pt x="7396734" y="839343"/>
                  </a:lnTo>
                  <a:lnTo>
                    <a:pt x="7396734" y="852043"/>
                  </a:lnTo>
                  <a:lnTo>
                    <a:pt x="154178" y="852043"/>
                  </a:lnTo>
                  <a:lnTo>
                    <a:pt x="154178" y="839343"/>
                  </a:lnTo>
                  <a:lnTo>
                    <a:pt x="154178" y="852043"/>
                  </a:lnTo>
                  <a:cubicBezTo>
                    <a:pt x="69342" y="851916"/>
                    <a:pt x="0" y="784860"/>
                    <a:pt x="0" y="701548"/>
                  </a:cubicBezTo>
                  <a:lnTo>
                    <a:pt x="0" y="150495"/>
                  </a:lnTo>
                  <a:lnTo>
                    <a:pt x="12700" y="150495"/>
                  </a:lnTo>
                  <a:lnTo>
                    <a:pt x="0" y="150495"/>
                  </a:lnTo>
                  <a:moveTo>
                    <a:pt x="25400" y="150495"/>
                  </a:moveTo>
                  <a:lnTo>
                    <a:pt x="25400" y="701548"/>
                  </a:lnTo>
                  <a:lnTo>
                    <a:pt x="12700" y="701548"/>
                  </a:lnTo>
                  <a:lnTo>
                    <a:pt x="25400" y="701548"/>
                  </a:lnTo>
                  <a:cubicBezTo>
                    <a:pt x="25400" y="770255"/>
                    <a:pt x="82804" y="826643"/>
                    <a:pt x="154178" y="826643"/>
                  </a:cubicBezTo>
                  <a:lnTo>
                    <a:pt x="7396734" y="826643"/>
                  </a:lnTo>
                  <a:cubicBezTo>
                    <a:pt x="7468235" y="826643"/>
                    <a:pt x="7525512" y="770382"/>
                    <a:pt x="7525512" y="701548"/>
                  </a:cubicBezTo>
                  <a:lnTo>
                    <a:pt x="7525512" y="150495"/>
                  </a:lnTo>
                  <a:cubicBezTo>
                    <a:pt x="7525512" y="81788"/>
                    <a:pt x="7468108" y="25400"/>
                    <a:pt x="7396734" y="25400"/>
                  </a:cubicBezTo>
                  <a:lnTo>
                    <a:pt x="154178" y="25400"/>
                  </a:lnTo>
                  <a:lnTo>
                    <a:pt x="154178" y="12700"/>
                  </a:lnTo>
                  <a:lnTo>
                    <a:pt x="154178" y="25400"/>
                  </a:lnTo>
                  <a:cubicBezTo>
                    <a:pt x="82804" y="25400"/>
                    <a:pt x="25400" y="81661"/>
                    <a:pt x="25400" y="150495"/>
                  </a:cubicBezTo>
                  <a:close/>
                </a:path>
              </a:pathLst>
            </a:custGeom>
            <a:solidFill>
              <a:srgbClr val="FFFFFF"/>
            </a:solidFill>
          </p:spPr>
        </p:sp>
      </p:grpSp>
      <p:grpSp>
        <p:nvGrpSpPr>
          <p:cNvPr name="Group 57" id="57"/>
          <p:cNvGrpSpPr/>
          <p:nvPr/>
        </p:nvGrpSpPr>
        <p:grpSpPr>
          <a:xfrm rot="0">
            <a:off x="8572809" y="7183207"/>
            <a:ext cx="5602677" cy="578445"/>
            <a:chOff x="0" y="0"/>
            <a:chExt cx="7470236" cy="771260"/>
          </a:xfrm>
        </p:grpSpPr>
        <p:sp>
          <p:nvSpPr>
            <p:cNvPr name="Freeform 58" id="58"/>
            <p:cNvSpPr/>
            <p:nvPr/>
          </p:nvSpPr>
          <p:spPr>
            <a:xfrm flipH="false" flipV="false" rot="0">
              <a:off x="0" y="0"/>
              <a:ext cx="7470236" cy="771260"/>
            </a:xfrm>
            <a:custGeom>
              <a:avLst/>
              <a:gdLst/>
              <a:ahLst/>
              <a:cxnLst/>
              <a:rect r="r" b="b" t="t" l="l"/>
              <a:pathLst>
                <a:path h="771260" w="7470236">
                  <a:moveTo>
                    <a:pt x="0" y="0"/>
                  </a:moveTo>
                  <a:lnTo>
                    <a:pt x="7470236" y="0"/>
                  </a:lnTo>
                  <a:lnTo>
                    <a:pt x="7470236" y="771260"/>
                  </a:lnTo>
                  <a:lnTo>
                    <a:pt x="0" y="771260"/>
                  </a:lnTo>
                  <a:close/>
                </a:path>
              </a:pathLst>
            </a:custGeom>
            <a:solidFill>
              <a:srgbClr val="000000">
                <a:alpha val="0"/>
              </a:srgbClr>
            </a:solidFill>
          </p:spPr>
        </p:sp>
        <p:sp>
          <p:nvSpPr>
            <p:cNvPr name="TextBox 59" id="59"/>
            <p:cNvSpPr txBox="true"/>
            <p:nvPr/>
          </p:nvSpPr>
          <p:spPr>
            <a:xfrm>
              <a:off x="0" y="19050"/>
              <a:ext cx="7470236" cy="752210"/>
            </a:xfrm>
            <a:prstGeom prst="rect">
              <a:avLst/>
            </a:prstGeom>
          </p:spPr>
          <p:txBody>
            <a:bodyPr anchor="ctr" rtlCol="false" tIns="0" lIns="0" bIns="0" rIns="0"/>
            <a:lstStyle/>
            <a:p>
              <a:pPr algn="l">
                <a:lnSpc>
                  <a:spcPts val="2268"/>
                </a:lnSpc>
              </a:pPr>
              <a:r>
                <a:rPr lang="en-US" sz="2100">
                  <a:solidFill>
                    <a:srgbClr val="FFFFFF"/>
                  </a:solidFill>
                  <a:latin typeface="Arimo"/>
                  <a:ea typeface="Arimo"/>
                  <a:cs typeface="Arimo"/>
                  <a:sym typeface="Arimo"/>
                </a:rPr>
                <a:t>Proveedores de Nube</a:t>
              </a:r>
            </a:p>
          </p:txBody>
        </p:sp>
      </p:grpSp>
    </p:spTree>
  </p:cSld>
  <p:clrMapOvr>
    <a:masterClrMapping/>
  </p:clrMapOvr>
</p:sld>
</file>

<file path=ppt/slides/slide4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3" id="3"/>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AutoShape 4" id="4"/>
          <p:cNvSpPr/>
          <p:nvPr/>
        </p:nvSpPr>
        <p:spPr>
          <a:xfrm>
            <a:off x="8689657" y="8455689"/>
            <a:ext cx="7365462" cy="370261"/>
          </a:xfrm>
          <a:prstGeom prst="line">
            <a:avLst/>
          </a:prstGeom>
          <a:ln cap="rnd" w="47625">
            <a:solidFill>
              <a:srgbClr val="4D64C3"/>
            </a:solidFill>
            <a:prstDash val="solid"/>
            <a:headEnd type="none" len="sm" w="sm"/>
            <a:tailEnd type="none" len="sm" w="sm"/>
          </a:ln>
        </p:spPr>
      </p:sp>
      <p:sp>
        <p:nvSpPr>
          <p:cNvPr name="TextBox 5" id="5"/>
          <p:cNvSpPr txBox="true"/>
          <p:nvPr/>
        </p:nvSpPr>
        <p:spPr>
          <a:xfrm rot="0">
            <a:off x="1028700" y="4348163"/>
            <a:ext cx="8923530" cy="2228850"/>
          </a:xfrm>
          <a:prstGeom prst="rect">
            <a:avLst/>
          </a:prstGeom>
        </p:spPr>
        <p:txBody>
          <a:bodyPr anchor="t" rtlCol="false" tIns="0" lIns="0" bIns="0" rIns="0">
            <a:spAutoFit/>
          </a:bodyPr>
          <a:lstStyle/>
          <a:p>
            <a:pPr algn="l" marL="0" indent="0" lvl="0">
              <a:lnSpc>
                <a:spcPts val="17250"/>
              </a:lnSpc>
              <a:spcBef>
                <a:spcPct val="0"/>
              </a:spcBef>
            </a:pPr>
            <a:r>
              <a:rPr lang="en-US" sz="15000">
                <a:solidFill>
                  <a:srgbClr val="131416"/>
                </a:solidFill>
                <a:latin typeface="Playlist Script"/>
                <a:ea typeface="Playlist Script"/>
                <a:cs typeface="Playlist Script"/>
                <a:sym typeface="Playlist Script"/>
              </a:rPr>
              <a:t>Qué es?</a:t>
            </a:r>
          </a:p>
        </p:txBody>
      </p:sp>
      <p:sp>
        <p:nvSpPr>
          <p:cNvPr name="TextBox 6" id="6"/>
          <p:cNvSpPr txBox="true"/>
          <p:nvPr/>
        </p:nvSpPr>
        <p:spPr>
          <a:xfrm rot="0">
            <a:off x="7442675" y="3632835"/>
            <a:ext cx="8423910" cy="2973705"/>
          </a:xfrm>
          <a:prstGeom prst="rect">
            <a:avLst/>
          </a:prstGeom>
        </p:spPr>
        <p:txBody>
          <a:bodyPr anchor="t" rtlCol="false" tIns="0" lIns="0" bIns="0" rIns="0">
            <a:spAutoFit/>
          </a:bodyPr>
          <a:lstStyle/>
          <a:p>
            <a:pPr algn="just">
              <a:lnSpc>
                <a:spcPts val="3960"/>
              </a:lnSpc>
            </a:pPr>
            <a:r>
              <a:rPr lang="en-US" sz="3000">
                <a:solidFill>
                  <a:srgbClr val="000000"/>
                </a:solidFill>
                <a:latin typeface="Arimo"/>
                <a:ea typeface="Arimo"/>
                <a:cs typeface="Arimo"/>
                <a:sym typeface="Arimo"/>
              </a:rPr>
              <a:t>L</a:t>
            </a:r>
            <a:r>
              <a:rPr lang="en-US" sz="3000">
                <a:solidFill>
                  <a:srgbClr val="000000"/>
                </a:solidFill>
                <a:latin typeface="Arimo"/>
                <a:ea typeface="Arimo"/>
                <a:cs typeface="Arimo"/>
                <a:sym typeface="Arimo"/>
              </a:rPr>
              <a:t>a computación en la nube (cloud computing) ofrece ventajas como escalabilidad, flexibilidad y reducción de costos, pero también presenta desventajas como dependencia de Internet, riesgos de ciberseguridad y pérdida de control sobre los datos</a:t>
            </a:r>
          </a:p>
        </p:txBody>
      </p:sp>
    </p:spTree>
  </p:cSld>
  <p:clrMapOvr>
    <a:masterClrMapping/>
  </p:clrMapOvr>
</p:sld>
</file>

<file path=ppt/slides/slide4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04826" y="1057275"/>
            <a:ext cx="4019685" cy="1492250"/>
          </a:xfrm>
          <a:prstGeom prst="rect">
            <a:avLst/>
          </a:prstGeom>
        </p:spPr>
        <p:txBody>
          <a:bodyPr anchor="t" rtlCol="false" tIns="0" lIns="0" bIns="0" rIns="0">
            <a:spAutoFit/>
          </a:bodyPr>
          <a:lstStyle/>
          <a:p>
            <a:pPr algn="l" marL="0" indent="0" lvl="0">
              <a:lnSpc>
                <a:spcPts val="11499"/>
              </a:lnSpc>
              <a:spcBef>
                <a:spcPct val="0"/>
              </a:spcBef>
            </a:pPr>
            <a:r>
              <a:rPr lang="en-US" sz="9999">
                <a:solidFill>
                  <a:srgbClr val="131416"/>
                </a:solidFill>
                <a:latin typeface="Playlist Script"/>
                <a:ea typeface="Playlist Script"/>
                <a:cs typeface="Playlist Script"/>
                <a:sym typeface="Playlist Script"/>
              </a:rPr>
              <a:t>Ventajas             </a:t>
            </a:r>
          </a:p>
        </p:txBody>
      </p:sp>
      <p:grpSp>
        <p:nvGrpSpPr>
          <p:cNvPr name="Group 3" id="3"/>
          <p:cNvGrpSpPr/>
          <p:nvPr/>
        </p:nvGrpSpPr>
        <p:grpSpPr>
          <a:xfrm rot="0">
            <a:off x="5124512" y="570068"/>
            <a:ext cx="12679133" cy="9216858"/>
            <a:chOff x="0" y="0"/>
            <a:chExt cx="16905511" cy="12289144"/>
          </a:xfrm>
        </p:grpSpPr>
        <p:sp>
          <p:nvSpPr>
            <p:cNvPr name="Freeform 4" id="4"/>
            <p:cNvSpPr/>
            <p:nvPr/>
          </p:nvSpPr>
          <p:spPr>
            <a:xfrm flipH="false" flipV="false" rot="0">
              <a:off x="24107" y="27552"/>
              <a:ext cx="16857349" cy="12234077"/>
            </a:xfrm>
            <a:custGeom>
              <a:avLst/>
              <a:gdLst/>
              <a:ahLst/>
              <a:cxnLst/>
              <a:rect r="r" b="b" t="t" l="l"/>
              <a:pathLst>
                <a:path h="12234077" w="16857349">
                  <a:moveTo>
                    <a:pt x="0" y="1223325"/>
                  </a:moveTo>
                  <a:cubicBezTo>
                    <a:pt x="0" y="547741"/>
                    <a:pt x="479979" y="0"/>
                    <a:pt x="1072298" y="0"/>
                  </a:cubicBezTo>
                  <a:lnTo>
                    <a:pt x="15785052" y="0"/>
                  </a:lnTo>
                  <a:cubicBezTo>
                    <a:pt x="16377131" y="0"/>
                    <a:pt x="16857349" y="547741"/>
                    <a:pt x="16857349" y="1223325"/>
                  </a:cubicBezTo>
                  <a:lnTo>
                    <a:pt x="16857349" y="11010752"/>
                  </a:lnTo>
                  <a:cubicBezTo>
                    <a:pt x="16857349" y="11686335"/>
                    <a:pt x="16377371" y="12234077"/>
                    <a:pt x="15785052" y="12234077"/>
                  </a:cubicBezTo>
                  <a:lnTo>
                    <a:pt x="1072298" y="12234077"/>
                  </a:lnTo>
                  <a:cubicBezTo>
                    <a:pt x="479979" y="12234077"/>
                    <a:pt x="0" y="11686335"/>
                    <a:pt x="0" y="11010752"/>
                  </a:cubicBezTo>
                  <a:close/>
                </a:path>
              </a:pathLst>
            </a:custGeom>
            <a:solidFill>
              <a:srgbClr val="B13B48"/>
            </a:solidFill>
          </p:spPr>
        </p:sp>
        <p:sp>
          <p:nvSpPr>
            <p:cNvPr name="Freeform 5" id="5"/>
            <p:cNvSpPr/>
            <p:nvPr/>
          </p:nvSpPr>
          <p:spPr>
            <a:xfrm flipH="false" flipV="false" rot="0">
              <a:off x="0" y="0"/>
              <a:ext cx="16905539" cy="12289162"/>
            </a:xfrm>
            <a:custGeom>
              <a:avLst/>
              <a:gdLst/>
              <a:ahLst/>
              <a:cxnLst/>
              <a:rect r="r" b="b" t="t" l="l"/>
              <a:pathLst>
                <a:path h="12289162" w="16905539">
                  <a:moveTo>
                    <a:pt x="0" y="1250877"/>
                  </a:moveTo>
                  <a:cubicBezTo>
                    <a:pt x="0" y="560140"/>
                    <a:pt x="490827" y="0"/>
                    <a:pt x="1096405" y="0"/>
                  </a:cubicBezTo>
                  <a:lnTo>
                    <a:pt x="15809159" y="0"/>
                  </a:lnTo>
                  <a:lnTo>
                    <a:pt x="15809159" y="27552"/>
                  </a:lnTo>
                  <a:lnTo>
                    <a:pt x="15809159" y="0"/>
                  </a:lnTo>
                  <a:cubicBezTo>
                    <a:pt x="16414496" y="0"/>
                    <a:pt x="16905539" y="560140"/>
                    <a:pt x="16905539" y="1250877"/>
                  </a:cubicBezTo>
                  <a:lnTo>
                    <a:pt x="16881456" y="1250877"/>
                  </a:lnTo>
                  <a:lnTo>
                    <a:pt x="16905539" y="1250877"/>
                  </a:lnTo>
                  <a:lnTo>
                    <a:pt x="16905539" y="11038304"/>
                  </a:lnTo>
                  <a:lnTo>
                    <a:pt x="16881456" y="11038304"/>
                  </a:lnTo>
                  <a:lnTo>
                    <a:pt x="16905539" y="11038304"/>
                  </a:lnTo>
                  <a:cubicBezTo>
                    <a:pt x="16905539" y="11729317"/>
                    <a:pt x="16414738" y="12289162"/>
                    <a:pt x="15809159" y="12289162"/>
                  </a:cubicBezTo>
                  <a:lnTo>
                    <a:pt x="15809159" y="12261629"/>
                  </a:lnTo>
                  <a:lnTo>
                    <a:pt x="15809159" y="12289162"/>
                  </a:lnTo>
                  <a:lnTo>
                    <a:pt x="1096405" y="12289162"/>
                  </a:lnTo>
                  <a:lnTo>
                    <a:pt x="1096405" y="12261629"/>
                  </a:lnTo>
                  <a:lnTo>
                    <a:pt x="1096405" y="12289162"/>
                  </a:lnTo>
                  <a:cubicBezTo>
                    <a:pt x="490827" y="12289162"/>
                    <a:pt x="0" y="11729042"/>
                    <a:pt x="0" y="11038304"/>
                  </a:cubicBezTo>
                  <a:lnTo>
                    <a:pt x="0" y="1250877"/>
                  </a:lnTo>
                  <a:lnTo>
                    <a:pt x="24107" y="1250877"/>
                  </a:lnTo>
                  <a:lnTo>
                    <a:pt x="0" y="1250877"/>
                  </a:lnTo>
                  <a:moveTo>
                    <a:pt x="48215" y="1250877"/>
                  </a:moveTo>
                  <a:lnTo>
                    <a:pt x="48215" y="11038304"/>
                  </a:lnTo>
                  <a:lnTo>
                    <a:pt x="24107" y="11038304"/>
                  </a:lnTo>
                  <a:lnTo>
                    <a:pt x="48215" y="11038304"/>
                  </a:lnTo>
                  <a:cubicBezTo>
                    <a:pt x="48215" y="11698734"/>
                    <a:pt x="517345" y="12234077"/>
                    <a:pt x="1096405" y="12234077"/>
                  </a:cubicBezTo>
                  <a:lnTo>
                    <a:pt x="15809159" y="12234077"/>
                  </a:lnTo>
                  <a:cubicBezTo>
                    <a:pt x="16387978" y="12234077"/>
                    <a:pt x="16857349" y="11698734"/>
                    <a:pt x="16857349" y="11038304"/>
                  </a:cubicBezTo>
                  <a:lnTo>
                    <a:pt x="16857349" y="1250877"/>
                  </a:lnTo>
                  <a:cubicBezTo>
                    <a:pt x="16857349" y="590447"/>
                    <a:pt x="16388220" y="55105"/>
                    <a:pt x="15809159" y="55105"/>
                  </a:cubicBezTo>
                  <a:lnTo>
                    <a:pt x="1096405" y="55105"/>
                  </a:lnTo>
                  <a:lnTo>
                    <a:pt x="1096405" y="27552"/>
                  </a:lnTo>
                  <a:lnTo>
                    <a:pt x="1096405" y="55105"/>
                  </a:lnTo>
                  <a:cubicBezTo>
                    <a:pt x="517345" y="55105"/>
                    <a:pt x="48215" y="590447"/>
                    <a:pt x="48215" y="1250877"/>
                  </a:cubicBezTo>
                  <a:close/>
                </a:path>
              </a:pathLst>
            </a:custGeom>
            <a:solidFill>
              <a:srgbClr val="FFFFFF"/>
            </a:solidFill>
          </p:spPr>
        </p:sp>
      </p:grpSp>
      <p:grpSp>
        <p:nvGrpSpPr>
          <p:cNvPr name="Group 6" id="6"/>
          <p:cNvGrpSpPr/>
          <p:nvPr/>
        </p:nvGrpSpPr>
        <p:grpSpPr>
          <a:xfrm rot="0">
            <a:off x="6129718" y="1338776"/>
            <a:ext cx="11673927" cy="8448151"/>
            <a:chOff x="0" y="0"/>
            <a:chExt cx="15565235" cy="11264201"/>
          </a:xfrm>
        </p:grpSpPr>
        <p:sp>
          <p:nvSpPr>
            <p:cNvPr name="Freeform 7" id="7"/>
            <p:cNvSpPr/>
            <p:nvPr/>
          </p:nvSpPr>
          <p:spPr>
            <a:xfrm flipH="false" flipV="false" rot="0">
              <a:off x="22196" y="25254"/>
              <a:ext cx="15520892" cy="11213725"/>
            </a:xfrm>
            <a:custGeom>
              <a:avLst/>
              <a:gdLst/>
              <a:ahLst/>
              <a:cxnLst/>
              <a:rect r="r" b="b" t="t" l="l"/>
              <a:pathLst>
                <a:path h="11213725" w="15520892">
                  <a:moveTo>
                    <a:pt x="0" y="1121297"/>
                  </a:moveTo>
                  <a:cubicBezTo>
                    <a:pt x="0" y="502059"/>
                    <a:pt x="441926" y="0"/>
                    <a:pt x="987286" y="0"/>
                  </a:cubicBezTo>
                  <a:lnTo>
                    <a:pt x="14533607" y="0"/>
                  </a:lnTo>
                  <a:cubicBezTo>
                    <a:pt x="15078746" y="0"/>
                    <a:pt x="15520892" y="502059"/>
                    <a:pt x="15520892" y="1121297"/>
                  </a:cubicBezTo>
                  <a:lnTo>
                    <a:pt x="15520892" y="10092429"/>
                  </a:lnTo>
                  <a:cubicBezTo>
                    <a:pt x="15520892" y="10711668"/>
                    <a:pt x="15078968" y="11213726"/>
                    <a:pt x="14533607" y="11213726"/>
                  </a:cubicBezTo>
                  <a:lnTo>
                    <a:pt x="987286" y="11213726"/>
                  </a:lnTo>
                  <a:cubicBezTo>
                    <a:pt x="441926" y="11213726"/>
                    <a:pt x="0" y="10711668"/>
                    <a:pt x="0" y="10092429"/>
                  </a:cubicBezTo>
                  <a:close/>
                </a:path>
              </a:pathLst>
            </a:custGeom>
            <a:solidFill>
              <a:srgbClr val="FFFFFF">
                <a:alpha val="80784"/>
              </a:srgbClr>
            </a:solidFill>
          </p:spPr>
        </p:sp>
        <p:sp>
          <p:nvSpPr>
            <p:cNvPr name="Freeform 8" id="8"/>
            <p:cNvSpPr/>
            <p:nvPr/>
          </p:nvSpPr>
          <p:spPr>
            <a:xfrm flipH="false" flipV="false" rot="0">
              <a:off x="0" y="0"/>
              <a:ext cx="15565264" cy="11264218"/>
            </a:xfrm>
            <a:custGeom>
              <a:avLst/>
              <a:gdLst/>
              <a:ahLst/>
              <a:cxnLst/>
              <a:rect r="r" b="b" t="t" l="l"/>
              <a:pathLst>
                <a:path h="11264218" w="15565264">
                  <a:moveTo>
                    <a:pt x="0" y="1146551"/>
                  </a:moveTo>
                  <a:cubicBezTo>
                    <a:pt x="0" y="513423"/>
                    <a:pt x="451914" y="0"/>
                    <a:pt x="1009482" y="0"/>
                  </a:cubicBezTo>
                  <a:lnTo>
                    <a:pt x="14555803" y="0"/>
                  </a:lnTo>
                  <a:lnTo>
                    <a:pt x="14555803" y="25254"/>
                  </a:lnTo>
                  <a:lnTo>
                    <a:pt x="14555803" y="0"/>
                  </a:lnTo>
                  <a:cubicBezTo>
                    <a:pt x="15113149" y="0"/>
                    <a:pt x="15565264" y="513423"/>
                    <a:pt x="15565264" y="1146551"/>
                  </a:cubicBezTo>
                  <a:lnTo>
                    <a:pt x="15543088" y="1146551"/>
                  </a:lnTo>
                  <a:lnTo>
                    <a:pt x="15565264" y="1146551"/>
                  </a:lnTo>
                  <a:lnTo>
                    <a:pt x="15565264" y="10117683"/>
                  </a:lnTo>
                  <a:lnTo>
                    <a:pt x="15543088" y="10117683"/>
                  </a:lnTo>
                  <a:lnTo>
                    <a:pt x="15565264" y="10117683"/>
                  </a:lnTo>
                  <a:cubicBezTo>
                    <a:pt x="15565264" y="10751065"/>
                    <a:pt x="15113371" y="11264218"/>
                    <a:pt x="14555803" y="11264218"/>
                  </a:cubicBezTo>
                  <a:lnTo>
                    <a:pt x="14555803" y="11238980"/>
                  </a:lnTo>
                  <a:lnTo>
                    <a:pt x="14555803" y="11264218"/>
                  </a:lnTo>
                  <a:lnTo>
                    <a:pt x="1009482" y="11264218"/>
                  </a:lnTo>
                  <a:lnTo>
                    <a:pt x="1009482" y="11238980"/>
                  </a:lnTo>
                  <a:lnTo>
                    <a:pt x="1009482" y="11264218"/>
                  </a:lnTo>
                  <a:cubicBezTo>
                    <a:pt x="451914" y="11264218"/>
                    <a:pt x="0" y="10750812"/>
                    <a:pt x="0" y="10117683"/>
                  </a:cubicBezTo>
                  <a:lnTo>
                    <a:pt x="0" y="1146551"/>
                  </a:lnTo>
                  <a:lnTo>
                    <a:pt x="22196" y="1146551"/>
                  </a:lnTo>
                  <a:lnTo>
                    <a:pt x="0" y="1146551"/>
                  </a:lnTo>
                  <a:moveTo>
                    <a:pt x="44392" y="1146551"/>
                  </a:moveTo>
                  <a:lnTo>
                    <a:pt x="44392" y="10117683"/>
                  </a:lnTo>
                  <a:lnTo>
                    <a:pt x="22196" y="10117683"/>
                  </a:lnTo>
                  <a:lnTo>
                    <a:pt x="44392" y="10117683"/>
                  </a:lnTo>
                  <a:cubicBezTo>
                    <a:pt x="44392" y="10723032"/>
                    <a:pt x="476330" y="11213726"/>
                    <a:pt x="1009482" y="11213726"/>
                  </a:cubicBezTo>
                  <a:lnTo>
                    <a:pt x="14555803" y="11213726"/>
                  </a:lnTo>
                  <a:cubicBezTo>
                    <a:pt x="15088733" y="11213726"/>
                    <a:pt x="15520893" y="10723032"/>
                    <a:pt x="15520893" y="10117683"/>
                  </a:cubicBezTo>
                  <a:lnTo>
                    <a:pt x="15520893" y="1146551"/>
                  </a:lnTo>
                  <a:cubicBezTo>
                    <a:pt x="15520893" y="541203"/>
                    <a:pt x="15088955" y="50509"/>
                    <a:pt x="14555803" y="50509"/>
                  </a:cubicBezTo>
                  <a:lnTo>
                    <a:pt x="1009482" y="50509"/>
                  </a:lnTo>
                  <a:lnTo>
                    <a:pt x="1009482" y="25254"/>
                  </a:lnTo>
                  <a:lnTo>
                    <a:pt x="1009482" y="50509"/>
                  </a:lnTo>
                  <a:cubicBezTo>
                    <a:pt x="476330" y="50509"/>
                    <a:pt x="44392" y="541202"/>
                    <a:pt x="44392" y="1146551"/>
                  </a:cubicBezTo>
                  <a:close/>
                </a:path>
              </a:pathLst>
            </a:custGeom>
            <a:solidFill>
              <a:srgbClr val="B13B48"/>
            </a:solidFill>
          </p:spPr>
        </p:sp>
      </p:grpSp>
      <p:grpSp>
        <p:nvGrpSpPr>
          <p:cNvPr name="Group 9" id="9"/>
          <p:cNvGrpSpPr/>
          <p:nvPr/>
        </p:nvGrpSpPr>
        <p:grpSpPr>
          <a:xfrm rot="0">
            <a:off x="6412108" y="1988308"/>
            <a:ext cx="11109146" cy="7835794"/>
            <a:chOff x="0" y="0"/>
            <a:chExt cx="14812195" cy="10447726"/>
          </a:xfrm>
        </p:grpSpPr>
        <p:sp>
          <p:nvSpPr>
            <p:cNvPr name="Freeform 10" id="10"/>
            <p:cNvSpPr/>
            <p:nvPr/>
          </p:nvSpPr>
          <p:spPr>
            <a:xfrm flipH="false" flipV="false" rot="0">
              <a:off x="0" y="0"/>
              <a:ext cx="14812195" cy="10447726"/>
            </a:xfrm>
            <a:custGeom>
              <a:avLst/>
              <a:gdLst/>
              <a:ahLst/>
              <a:cxnLst/>
              <a:rect r="r" b="b" t="t" l="l"/>
              <a:pathLst>
                <a:path h="10447726" w="14812195">
                  <a:moveTo>
                    <a:pt x="0" y="0"/>
                  </a:moveTo>
                  <a:lnTo>
                    <a:pt x="14812195" y="0"/>
                  </a:lnTo>
                  <a:lnTo>
                    <a:pt x="14812195" y="10447726"/>
                  </a:lnTo>
                  <a:lnTo>
                    <a:pt x="0" y="10447726"/>
                  </a:lnTo>
                  <a:close/>
                </a:path>
              </a:pathLst>
            </a:custGeom>
            <a:solidFill>
              <a:srgbClr val="000000">
                <a:alpha val="0"/>
              </a:srgbClr>
            </a:solidFill>
          </p:spPr>
        </p:sp>
        <p:sp>
          <p:nvSpPr>
            <p:cNvPr name="TextBox 11" id="11"/>
            <p:cNvSpPr txBox="true"/>
            <p:nvPr/>
          </p:nvSpPr>
          <p:spPr>
            <a:xfrm>
              <a:off x="0" y="19050"/>
              <a:ext cx="14812195" cy="10428676"/>
            </a:xfrm>
            <a:prstGeom prst="rect">
              <a:avLst/>
            </a:prstGeom>
          </p:spPr>
          <p:txBody>
            <a:bodyPr anchor="ctr" rtlCol="false" tIns="0" lIns="0" bIns="0" rIns="0"/>
            <a:lstStyle/>
            <a:p>
              <a:pPr algn="just">
                <a:lnSpc>
                  <a:spcPts val="2699"/>
                </a:lnSpc>
              </a:pPr>
              <a:r>
                <a:rPr lang="en-US" sz="2499" b="true">
                  <a:solidFill>
                    <a:srgbClr val="000000"/>
                  </a:solidFill>
                  <a:latin typeface="Arimo Bold"/>
                  <a:ea typeface="Arimo Bold"/>
                  <a:cs typeface="Arimo Bold"/>
                  <a:sym typeface="Arimo Bold"/>
                </a:rPr>
                <a:t>Flexibi</a:t>
              </a:r>
              <a:r>
                <a:rPr lang="en-US" sz="2499" b="true">
                  <a:solidFill>
                    <a:srgbClr val="000000"/>
                  </a:solidFill>
                  <a:latin typeface="Arimo Bold"/>
                  <a:ea typeface="Arimo Bold"/>
                  <a:cs typeface="Arimo Bold"/>
                  <a:sym typeface="Arimo Bold"/>
                </a:rPr>
                <a:t>lidad y escalabilidad:</a:t>
              </a:r>
            </a:p>
            <a:p>
              <a:pPr algn="just">
                <a:lnSpc>
                  <a:spcPts val="2699"/>
                </a:lnSpc>
              </a:pPr>
              <a:r>
                <a:rPr lang="en-US" sz="2499">
                  <a:solidFill>
                    <a:srgbClr val="000000"/>
                  </a:solidFill>
                  <a:latin typeface="Arimo"/>
                  <a:ea typeface="Arimo"/>
                  <a:cs typeface="Arimo"/>
                  <a:sym typeface="Arimo"/>
                </a:rPr>
                <a:t>Permite ajustar los recursos de computación (almacenamiento, procesamiento, etc.) según las necesidades del negocio, sin necesidad de inversiones pesadas en infraestructura.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Reducción de costos:</a:t>
              </a:r>
            </a:p>
            <a:p>
              <a:pPr algn="just">
                <a:lnSpc>
                  <a:spcPts val="2699"/>
                </a:lnSpc>
              </a:pPr>
              <a:r>
                <a:rPr lang="en-US" sz="2499">
                  <a:solidFill>
                    <a:srgbClr val="000000"/>
                  </a:solidFill>
                  <a:latin typeface="Arimo"/>
                  <a:ea typeface="Arimo"/>
                  <a:cs typeface="Arimo"/>
                  <a:sym typeface="Arimo"/>
                </a:rPr>
                <a:t>Se paga por el uso, lo que elimina la necesidad de comprar y mantener hardware y software, además de reducir costos de personal de TI.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Mayor accesibilidad:</a:t>
              </a:r>
            </a:p>
            <a:p>
              <a:pPr algn="just">
                <a:lnSpc>
                  <a:spcPts val="2699"/>
                </a:lnSpc>
              </a:pPr>
              <a:r>
                <a:rPr lang="en-US" sz="2499">
                  <a:solidFill>
                    <a:srgbClr val="000000"/>
                  </a:solidFill>
                  <a:latin typeface="Arimo"/>
                  <a:ea typeface="Arimo"/>
                  <a:cs typeface="Arimo"/>
                  <a:sym typeface="Arimo"/>
                </a:rPr>
                <a:t>Se puede acceder a datos y aplicaciones desde cualquier lugar con conexión a Internet, facilitando la colaboración y el trabajo remoto.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Mayor disponibilidad y confiabilidad:</a:t>
              </a:r>
            </a:p>
            <a:p>
              <a:pPr algn="just">
                <a:lnSpc>
                  <a:spcPts val="2699"/>
                </a:lnSpc>
              </a:pPr>
              <a:r>
                <a:rPr lang="en-US" sz="2499">
                  <a:solidFill>
                    <a:srgbClr val="000000"/>
                  </a:solidFill>
                  <a:latin typeface="Arimo"/>
                  <a:ea typeface="Arimo"/>
                  <a:cs typeface="Arimo"/>
                  <a:sym typeface="Arimo"/>
                </a:rPr>
                <a:t>Los proveedores de servicios en la nube suelen ofrecer altos niveles de disponibilidad y confiabilidad, garantizando la continuidad del negocio.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Fácil mantenimiento y actualizaciones:</a:t>
              </a:r>
            </a:p>
            <a:p>
              <a:pPr algn="just">
                <a:lnSpc>
                  <a:spcPts val="2699"/>
                </a:lnSpc>
              </a:pPr>
              <a:r>
                <a:rPr lang="en-US" sz="2499">
                  <a:solidFill>
                    <a:srgbClr val="000000"/>
                  </a:solidFill>
                  <a:latin typeface="Arimo"/>
                  <a:ea typeface="Arimo"/>
                  <a:cs typeface="Arimo"/>
                  <a:sym typeface="Arimo"/>
                </a:rPr>
                <a:t>El proveedor se encarga de la infraestructura y las actualizaciones de software, lo que reduce la carga de trabajo para el departamento de TI. </a:t>
              </a:r>
            </a:p>
            <a:p>
              <a:pPr algn="just">
                <a:lnSpc>
                  <a:spcPts val="2699"/>
                </a:lnSpc>
              </a:pPr>
            </a:p>
            <a:p>
              <a:pPr algn="just">
                <a:lnSpc>
                  <a:spcPts val="2699"/>
                </a:lnSpc>
              </a:pPr>
            </a:p>
            <a:p>
              <a:pPr algn="just">
                <a:lnSpc>
                  <a:spcPts val="2699"/>
                </a:lnSpc>
              </a:pPr>
            </a:p>
          </p:txBody>
        </p:sp>
      </p:grpSp>
    </p:spTree>
  </p:cSld>
  <p:clrMapOvr>
    <a:masterClrMapping/>
  </p:clrMapOvr>
</p:sld>
</file>

<file path=ppt/slides/slide4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63009" y="123825"/>
            <a:ext cx="5902000" cy="1492250"/>
          </a:xfrm>
          <a:prstGeom prst="rect">
            <a:avLst/>
          </a:prstGeom>
        </p:spPr>
        <p:txBody>
          <a:bodyPr anchor="t" rtlCol="false" tIns="0" lIns="0" bIns="0" rIns="0">
            <a:spAutoFit/>
          </a:bodyPr>
          <a:lstStyle/>
          <a:p>
            <a:pPr algn="l" marL="0" indent="0" lvl="0">
              <a:lnSpc>
                <a:spcPts val="11499"/>
              </a:lnSpc>
              <a:spcBef>
                <a:spcPct val="0"/>
              </a:spcBef>
            </a:pPr>
            <a:r>
              <a:rPr lang="en-US" sz="9999">
                <a:solidFill>
                  <a:srgbClr val="131416"/>
                </a:solidFill>
                <a:latin typeface="Playlist Script"/>
                <a:ea typeface="Playlist Script"/>
                <a:cs typeface="Playlist Script"/>
                <a:sym typeface="Playlist Script"/>
              </a:rPr>
              <a:t> </a:t>
            </a:r>
            <a:r>
              <a:rPr lang="en-US" sz="9999">
                <a:solidFill>
                  <a:srgbClr val="131416"/>
                </a:solidFill>
                <a:latin typeface="Playlist Script"/>
                <a:ea typeface="Playlist Script"/>
                <a:cs typeface="Playlist Script"/>
                <a:sym typeface="Playlist Script"/>
              </a:rPr>
              <a:t>Desv</a:t>
            </a:r>
            <a:r>
              <a:rPr lang="en-US" sz="9999">
                <a:solidFill>
                  <a:srgbClr val="131416"/>
                </a:solidFill>
                <a:latin typeface="Playlist Script"/>
                <a:ea typeface="Playlist Script"/>
                <a:cs typeface="Playlist Script"/>
                <a:sym typeface="Playlist Script"/>
              </a:rPr>
              <a:t>entajas</a:t>
            </a:r>
          </a:p>
        </p:txBody>
      </p:sp>
      <p:grpSp>
        <p:nvGrpSpPr>
          <p:cNvPr name="Group 3" id="3"/>
          <p:cNvGrpSpPr/>
          <p:nvPr/>
        </p:nvGrpSpPr>
        <p:grpSpPr>
          <a:xfrm rot="0">
            <a:off x="1204479" y="1789112"/>
            <a:ext cx="16639393" cy="7954039"/>
            <a:chOff x="0" y="0"/>
            <a:chExt cx="22185857" cy="10605386"/>
          </a:xfrm>
        </p:grpSpPr>
        <p:sp>
          <p:nvSpPr>
            <p:cNvPr name="Freeform 4" id="4"/>
            <p:cNvSpPr/>
            <p:nvPr/>
          </p:nvSpPr>
          <p:spPr>
            <a:xfrm flipH="false" flipV="false" rot="0">
              <a:off x="31637" y="23777"/>
              <a:ext cx="22122652" cy="10557863"/>
            </a:xfrm>
            <a:custGeom>
              <a:avLst/>
              <a:gdLst/>
              <a:ahLst/>
              <a:cxnLst/>
              <a:rect r="r" b="b" t="t" l="l"/>
              <a:pathLst>
                <a:path h="10557863" w="22122652">
                  <a:moveTo>
                    <a:pt x="0" y="1055715"/>
                  </a:moveTo>
                  <a:cubicBezTo>
                    <a:pt x="0" y="472694"/>
                    <a:pt x="629898" y="0"/>
                    <a:pt x="1407224" y="0"/>
                  </a:cubicBezTo>
                  <a:lnTo>
                    <a:pt x="20715428" y="0"/>
                  </a:lnTo>
                  <a:cubicBezTo>
                    <a:pt x="21492440" y="0"/>
                    <a:pt x="22122653" y="472694"/>
                    <a:pt x="22122653" y="1055715"/>
                  </a:cubicBezTo>
                  <a:lnTo>
                    <a:pt x="22122653" y="9502149"/>
                  </a:lnTo>
                  <a:cubicBezTo>
                    <a:pt x="22122653" y="10085170"/>
                    <a:pt x="21492756" y="10557863"/>
                    <a:pt x="20715428" y="10557863"/>
                  </a:cubicBezTo>
                  <a:lnTo>
                    <a:pt x="1407224" y="10557863"/>
                  </a:lnTo>
                  <a:cubicBezTo>
                    <a:pt x="629898" y="10557863"/>
                    <a:pt x="0" y="10085170"/>
                    <a:pt x="0" y="9502149"/>
                  </a:cubicBezTo>
                  <a:close/>
                </a:path>
              </a:pathLst>
            </a:custGeom>
            <a:solidFill>
              <a:srgbClr val="B13B48"/>
            </a:solidFill>
          </p:spPr>
        </p:sp>
        <p:sp>
          <p:nvSpPr>
            <p:cNvPr name="Freeform 5" id="5"/>
            <p:cNvSpPr/>
            <p:nvPr/>
          </p:nvSpPr>
          <p:spPr>
            <a:xfrm flipH="false" flipV="false" rot="0">
              <a:off x="0" y="0"/>
              <a:ext cx="22185885" cy="10605403"/>
            </a:xfrm>
            <a:custGeom>
              <a:avLst/>
              <a:gdLst/>
              <a:ahLst/>
              <a:cxnLst/>
              <a:rect r="r" b="b" t="t" l="l"/>
              <a:pathLst>
                <a:path h="10605403" w="22185885">
                  <a:moveTo>
                    <a:pt x="0" y="1079492"/>
                  </a:moveTo>
                  <a:cubicBezTo>
                    <a:pt x="0" y="483394"/>
                    <a:pt x="644134" y="0"/>
                    <a:pt x="1438861" y="0"/>
                  </a:cubicBezTo>
                  <a:lnTo>
                    <a:pt x="20747065" y="0"/>
                  </a:lnTo>
                  <a:lnTo>
                    <a:pt x="20747065" y="23777"/>
                  </a:lnTo>
                  <a:lnTo>
                    <a:pt x="20747065" y="0"/>
                  </a:lnTo>
                  <a:cubicBezTo>
                    <a:pt x="21541476" y="0"/>
                    <a:pt x="22185885" y="483394"/>
                    <a:pt x="22185885" y="1079492"/>
                  </a:cubicBezTo>
                  <a:lnTo>
                    <a:pt x="22154290" y="1079492"/>
                  </a:lnTo>
                  <a:lnTo>
                    <a:pt x="22185885" y="1079492"/>
                  </a:lnTo>
                  <a:lnTo>
                    <a:pt x="22185885" y="9525926"/>
                  </a:lnTo>
                  <a:lnTo>
                    <a:pt x="22154290" y="9525926"/>
                  </a:lnTo>
                  <a:lnTo>
                    <a:pt x="22185885" y="9525926"/>
                  </a:lnTo>
                  <a:cubicBezTo>
                    <a:pt x="22185885" y="10122261"/>
                    <a:pt x="21541794" y="10605403"/>
                    <a:pt x="20747065" y="10605403"/>
                  </a:cubicBezTo>
                  <a:lnTo>
                    <a:pt x="20747065" y="10581640"/>
                  </a:lnTo>
                  <a:lnTo>
                    <a:pt x="20747065" y="10605403"/>
                  </a:lnTo>
                  <a:lnTo>
                    <a:pt x="1438861" y="10605403"/>
                  </a:lnTo>
                  <a:lnTo>
                    <a:pt x="1438861" y="10581640"/>
                  </a:lnTo>
                  <a:lnTo>
                    <a:pt x="1438861" y="10605403"/>
                  </a:lnTo>
                  <a:cubicBezTo>
                    <a:pt x="644134" y="10605403"/>
                    <a:pt x="0" y="10122024"/>
                    <a:pt x="0" y="9525926"/>
                  </a:cubicBezTo>
                  <a:lnTo>
                    <a:pt x="0" y="1079492"/>
                  </a:lnTo>
                  <a:lnTo>
                    <a:pt x="31637" y="1079492"/>
                  </a:lnTo>
                  <a:lnTo>
                    <a:pt x="0" y="1079492"/>
                  </a:lnTo>
                  <a:moveTo>
                    <a:pt x="63274" y="1079492"/>
                  </a:moveTo>
                  <a:lnTo>
                    <a:pt x="63274" y="9525926"/>
                  </a:lnTo>
                  <a:lnTo>
                    <a:pt x="31637" y="9525926"/>
                  </a:lnTo>
                  <a:lnTo>
                    <a:pt x="63274" y="9525926"/>
                  </a:lnTo>
                  <a:cubicBezTo>
                    <a:pt x="63274" y="10095869"/>
                    <a:pt x="678935" y="10557863"/>
                    <a:pt x="1438861" y="10557863"/>
                  </a:cubicBezTo>
                  <a:lnTo>
                    <a:pt x="20747065" y="10557863"/>
                  </a:lnTo>
                  <a:cubicBezTo>
                    <a:pt x="21506676" y="10557863"/>
                    <a:pt x="22122653" y="10095869"/>
                    <a:pt x="22122653" y="9525926"/>
                  </a:cubicBezTo>
                  <a:lnTo>
                    <a:pt x="22122653" y="1079492"/>
                  </a:lnTo>
                  <a:cubicBezTo>
                    <a:pt x="22122653" y="509549"/>
                    <a:pt x="21506993" y="47555"/>
                    <a:pt x="20747065" y="47555"/>
                  </a:cubicBezTo>
                  <a:lnTo>
                    <a:pt x="1438861" y="47555"/>
                  </a:lnTo>
                  <a:lnTo>
                    <a:pt x="1438861" y="23777"/>
                  </a:lnTo>
                  <a:lnTo>
                    <a:pt x="1438861" y="47555"/>
                  </a:lnTo>
                  <a:cubicBezTo>
                    <a:pt x="678935" y="47555"/>
                    <a:pt x="63274" y="509549"/>
                    <a:pt x="63274" y="1079492"/>
                  </a:cubicBezTo>
                  <a:close/>
                </a:path>
              </a:pathLst>
            </a:custGeom>
            <a:solidFill>
              <a:srgbClr val="FFFFFF"/>
            </a:solidFill>
          </p:spPr>
        </p:sp>
      </p:grpSp>
      <p:grpSp>
        <p:nvGrpSpPr>
          <p:cNvPr name="Group 6" id="6"/>
          <p:cNvGrpSpPr/>
          <p:nvPr/>
        </p:nvGrpSpPr>
        <p:grpSpPr>
          <a:xfrm rot="0">
            <a:off x="1734589" y="2301098"/>
            <a:ext cx="16109283" cy="7442054"/>
            <a:chOff x="0" y="0"/>
            <a:chExt cx="15997359" cy="7390348"/>
          </a:xfrm>
        </p:grpSpPr>
        <p:sp>
          <p:nvSpPr>
            <p:cNvPr name="Freeform 7" id="7"/>
            <p:cNvSpPr/>
            <p:nvPr/>
          </p:nvSpPr>
          <p:spPr>
            <a:xfrm flipH="false" flipV="false" rot="0">
              <a:off x="22812" y="16569"/>
              <a:ext cx="15951785" cy="7357231"/>
            </a:xfrm>
            <a:custGeom>
              <a:avLst/>
              <a:gdLst/>
              <a:ahLst/>
              <a:cxnLst/>
              <a:rect r="r" b="b" t="t" l="l"/>
              <a:pathLst>
                <a:path h="7357231" w="15951785">
                  <a:moveTo>
                    <a:pt x="0" y="735674"/>
                  </a:moveTo>
                  <a:cubicBezTo>
                    <a:pt x="0" y="329396"/>
                    <a:pt x="454195" y="0"/>
                    <a:pt x="1014695" y="0"/>
                  </a:cubicBezTo>
                  <a:lnTo>
                    <a:pt x="14937090" y="0"/>
                  </a:lnTo>
                  <a:cubicBezTo>
                    <a:pt x="15497363" y="0"/>
                    <a:pt x="15951785" y="329396"/>
                    <a:pt x="15951785" y="735674"/>
                  </a:cubicBezTo>
                  <a:lnTo>
                    <a:pt x="15951785" y="6621558"/>
                  </a:lnTo>
                  <a:cubicBezTo>
                    <a:pt x="15951785" y="7027835"/>
                    <a:pt x="15497591" y="7357231"/>
                    <a:pt x="14937090" y="7357231"/>
                  </a:cubicBezTo>
                  <a:lnTo>
                    <a:pt x="1014695" y="7357231"/>
                  </a:lnTo>
                  <a:cubicBezTo>
                    <a:pt x="454195" y="7357231"/>
                    <a:pt x="0" y="7027835"/>
                    <a:pt x="0" y="6621558"/>
                  </a:cubicBezTo>
                  <a:close/>
                </a:path>
              </a:pathLst>
            </a:custGeom>
            <a:solidFill>
              <a:srgbClr val="FFFFFF">
                <a:alpha val="80784"/>
              </a:srgbClr>
            </a:solidFill>
          </p:spPr>
        </p:sp>
        <p:sp>
          <p:nvSpPr>
            <p:cNvPr name="Freeform 8" id="8"/>
            <p:cNvSpPr/>
            <p:nvPr/>
          </p:nvSpPr>
          <p:spPr>
            <a:xfrm flipH="false" flipV="false" rot="0">
              <a:off x="0" y="0"/>
              <a:ext cx="15997386" cy="7390364"/>
            </a:xfrm>
            <a:custGeom>
              <a:avLst/>
              <a:gdLst/>
              <a:ahLst/>
              <a:cxnLst/>
              <a:rect r="r" b="b" t="t" l="l"/>
              <a:pathLst>
                <a:path h="7390364" w="15997386">
                  <a:moveTo>
                    <a:pt x="0" y="752243"/>
                  </a:moveTo>
                  <a:cubicBezTo>
                    <a:pt x="0" y="336852"/>
                    <a:pt x="464460" y="0"/>
                    <a:pt x="1037507" y="0"/>
                  </a:cubicBezTo>
                  <a:lnTo>
                    <a:pt x="14959902" y="0"/>
                  </a:lnTo>
                  <a:lnTo>
                    <a:pt x="14959902" y="16569"/>
                  </a:lnTo>
                  <a:lnTo>
                    <a:pt x="14959902" y="0"/>
                  </a:lnTo>
                  <a:cubicBezTo>
                    <a:pt x="15532722" y="0"/>
                    <a:pt x="15997386" y="336852"/>
                    <a:pt x="15997386" y="752243"/>
                  </a:cubicBezTo>
                  <a:lnTo>
                    <a:pt x="15974597" y="752243"/>
                  </a:lnTo>
                  <a:lnTo>
                    <a:pt x="15997386" y="752243"/>
                  </a:lnTo>
                  <a:lnTo>
                    <a:pt x="15997386" y="6638127"/>
                  </a:lnTo>
                  <a:lnTo>
                    <a:pt x="15974597" y="6638127"/>
                  </a:lnTo>
                  <a:lnTo>
                    <a:pt x="15997386" y="6638127"/>
                  </a:lnTo>
                  <a:cubicBezTo>
                    <a:pt x="15997386" y="7053683"/>
                    <a:pt x="15532950" y="7390364"/>
                    <a:pt x="14959902" y="7390364"/>
                  </a:cubicBezTo>
                  <a:lnTo>
                    <a:pt x="14959902" y="7373800"/>
                  </a:lnTo>
                  <a:lnTo>
                    <a:pt x="14959902" y="7390364"/>
                  </a:lnTo>
                  <a:lnTo>
                    <a:pt x="1037507" y="7390364"/>
                  </a:lnTo>
                  <a:lnTo>
                    <a:pt x="1037507" y="7373800"/>
                  </a:lnTo>
                  <a:lnTo>
                    <a:pt x="1037507" y="7390364"/>
                  </a:lnTo>
                  <a:cubicBezTo>
                    <a:pt x="464460" y="7390364"/>
                    <a:pt x="0" y="7053518"/>
                    <a:pt x="0" y="6638127"/>
                  </a:cubicBezTo>
                  <a:lnTo>
                    <a:pt x="0" y="752243"/>
                  </a:lnTo>
                  <a:lnTo>
                    <a:pt x="22812" y="752243"/>
                  </a:lnTo>
                  <a:lnTo>
                    <a:pt x="0" y="752243"/>
                  </a:lnTo>
                  <a:moveTo>
                    <a:pt x="45625" y="752243"/>
                  </a:moveTo>
                  <a:lnTo>
                    <a:pt x="45625" y="6638127"/>
                  </a:lnTo>
                  <a:lnTo>
                    <a:pt x="22812" y="6638127"/>
                  </a:lnTo>
                  <a:lnTo>
                    <a:pt x="45625" y="6638127"/>
                  </a:lnTo>
                  <a:cubicBezTo>
                    <a:pt x="45625" y="7035292"/>
                    <a:pt x="489554" y="7357232"/>
                    <a:pt x="1037507" y="7357232"/>
                  </a:cubicBezTo>
                  <a:lnTo>
                    <a:pt x="14959902" y="7357232"/>
                  </a:lnTo>
                  <a:cubicBezTo>
                    <a:pt x="15507629" y="7357232"/>
                    <a:pt x="15951784" y="7035292"/>
                    <a:pt x="15951784" y="6638127"/>
                  </a:cubicBezTo>
                  <a:lnTo>
                    <a:pt x="15951784" y="752243"/>
                  </a:lnTo>
                  <a:cubicBezTo>
                    <a:pt x="15951784" y="355078"/>
                    <a:pt x="15507857" y="33138"/>
                    <a:pt x="14959902" y="33138"/>
                  </a:cubicBezTo>
                  <a:lnTo>
                    <a:pt x="1037507" y="33138"/>
                  </a:lnTo>
                  <a:lnTo>
                    <a:pt x="1037507" y="16569"/>
                  </a:lnTo>
                  <a:lnTo>
                    <a:pt x="1037507" y="33138"/>
                  </a:lnTo>
                  <a:cubicBezTo>
                    <a:pt x="489554" y="33138"/>
                    <a:pt x="45625" y="355078"/>
                    <a:pt x="45625" y="752243"/>
                  </a:cubicBezTo>
                  <a:close/>
                </a:path>
              </a:pathLst>
            </a:custGeom>
            <a:solidFill>
              <a:srgbClr val="B13B48"/>
            </a:solidFill>
          </p:spPr>
        </p:sp>
      </p:grpSp>
      <p:grpSp>
        <p:nvGrpSpPr>
          <p:cNvPr name="Group 9" id="9"/>
          <p:cNvGrpSpPr/>
          <p:nvPr/>
        </p:nvGrpSpPr>
        <p:grpSpPr>
          <a:xfrm rot="0">
            <a:off x="2275864" y="2488168"/>
            <a:ext cx="15026731" cy="7502419"/>
            <a:chOff x="0" y="0"/>
            <a:chExt cx="20035642" cy="10003226"/>
          </a:xfrm>
        </p:grpSpPr>
        <p:sp>
          <p:nvSpPr>
            <p:cNvPr name="Freeform 10" id="10"/>
            <p:cNvSpPr/>
            <p:nvPr/>
          </p:nvSpPr>
          <p:spPr>
            <a:xfrm flipH="false" flipV="false" rot="0">
              <a:off x="0" y="0"/>
              <a:ext cx="20035641" cy="10003226"/>
            </a:xfrm>
            <a:custGeom>
              <a:avLst/>
              <a:gdLst/>
              <a:ahLst/>
              <a:cxnLst/>
              <a:rect r="r" b="b" t="t" l="l"/>
              <a:pathLst>
                <a:path h="10003226" w="20035641">
                  <a:moveTo>
                    <a:pt x="0" y="0"/>
                  </a:moveTo>
                  <a:lnTo>
                    <a:pt x="20035641" y="0"/>
                  </a:lnTo>
                  <a:lnTo>
                    <a:pt x="20035641" y="10003226"/>
                  </a:lnTo>
                  <a:lnTo>
                    <a:pt x="0" y="10003226"/>
                  </a:lnTo>
                  <a:close/>
                </a:path>
              </a:pathLst>
            </a:custGeom>
            <a:solidFill>
              <a:srgbClr val="000000">
                <a:alpha val="0"/>
              </a:srgbClr>
            </a:solidFill>
          </p:spPr>
        </p:sp>
        <p:sp>
          <p:nvSpPr>
            <p:cNvPr name="TextBox 11" id="11"/>
            <p:cNvSpPr txBox="true"/>
            <p:nvPr/>
          </p:nvSpPr>
          <p:spPr>
            <a:xfrm>
              <a:off x="0" y="19050"/>
              <a:ext cx="20035642" cy="9984176"/>
            </a:xfrm>
            <a:prstGeom prst="rect">
              <a:avLst/>
            </a:prstGeom>
          </p:spPr>
          <p:txBody>
            <a:bodyPr anchor="ctr" rtlCol="false" tIns="0" lIns="0" bIns="0" rIns="0"/>
            <a:lstStyle/>
            <a:p>
              <a:pPr algn="just">
                <a:lnSpc>
                  <a:spcPts val="2699"/>
                </a:lnSpc>
              </a:pPr>
              <a:r>
                <a:rPr lang="en-US" sz="2499" b="true">
                  <a:solidFill>
                    <a:srgbClr val="000000"/>
                  </a:solidFill>
                  <a:latin typeface="Arimo Bold"/>
                  <a:ea typeface="Arimo Bold"/>
                  <a:cs typeface="Arimo Bold"/>
                  <a:sym typeface="Arimo Bold"/>
                </a:rPr>
                <a:t>Dependencia de Internet:</a:t>
              </a:r>
            </a:p>
            <a:p>
              <a:pPr algn="just">
                <a:lnSpc>
                  <a:spcPts val="2699"/>
                </a:lnSpc>
              </a:pPr>
              <a:r>
                <a:rPr lang="en-US" sz="2499">
                  <a:solidFill>
                    <a:srgbClr val="000000"/>
                  </a:solidFill>
                  <a:latin typeface="Arimo"/>
                  <a:ea typeface="Arimo"/>
                  <a:cs typeface="Arimo"/>
                  <a:sym typeface="Arimo"/>
                </a:rPr>
                <a:t>La accesibilidad a los datos y aplicaciones depende de la conexión a Internet, lo que puede causar problemas en caso de interrupciones o problemas de red.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Riesgos de ciberseguridad:</a:t>
              </a:r>
            </a:p>
            <a:p>
              <a:pPr algn="just">
                <a:lnSpc>
                  <a:spcPts val="2699"/>
                </a:lnSpc>
              </a:pPr>
              <a:r>
                <a:rPr lang="en-US" sz="2499">
                  <a:solidFill>
                    <a:srgbClr val="000000"/>
                  </a:solidFill>
                  <a:latin typeface="Arimo"/>
                  <a:ea typeface="Arimo"/>
                  <a:cs typeface="Arimo"/>
                  <a:sym typeface="Arimo"/>
                </a:rPr>
                <a:t>La información almacenada en la nube puede ser vulnerable a ciberataques y filtraciones de datos, lo que puede causar pérdidas financieras y reputacionales.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Pérdida de control:</a:t>
              </a:r>
            </a:p>
            <a:p>
              <a:pPr algn="just">
                <a:lnSpc>
                  <a:spcPts val="2699"/>
                </a:lnSpc>
              </a:pPr>
              <a:r>
                <a:rPr lang="en-US" sz="2499">
                  <a:solidFill>
                    <a:srgbClr val="000000"/>
                  </a:solidFill>
                  <a:latin typeface="Arimo"/>
                  <a:ea typeface="Arimo"/>
                  <a:cs typeface="Arimo"/>
                  <a:sym typeface="Arimo"/>
                </a:rPr>
                <a:t>El control sobre los datos y la infraestructura se delega al proveedor de servicios, lo que puede generar dudas sobre la privacidad y la seguridad.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Costos a largo plazo:</a:t>
              </a:r>
            </a:p>
            <a:p>
              <a:pPr algn="just">
                <a:lnSpc>
                  <a:spcPts val="2699"/>
                </a:lnSpc>
              </a:pPr>
              <a:r>
                <a:rPr lang="en-US" sz="2499">
                  <a:solidFill>
                    <a:srgbClr val="000000"/>
                  </a:solidFill>
                  <a:latin typeface="Arimo"/>
                  <a:ea typeface="Arimo"/>
                  <a:cs typeface="Arimo"/>
                  <a:sym typeface="Arimo"/>
                </a:rPr>
                <a:t>Aunque los costos iniciales pueden ser menores, los costos a largo plazo pueden ser impredecibles y dependientes del uso.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Problemas de interoperabilidad:</a:t>
              </a:r>
            </a:p>
            <a:p>
              <a:pPr algn="just">
                <a:lnSpc>
                  <a:spcPts val="2699"/>
                </a:lnSpc>
              </a:pPr>
              <a:r>
                <a:rPr lang="en-US" sz="2499">
                  <a:solidFill>
                    <a:srgbClr val="000000"/>
                  </a:solidFill>
                  <a:latin typeface="Arimo"/>
                  <a:ea typeface="Arimo"/>
                  <a:cs typeface="Arimo"/>
                  <a:sym typeface="Arimo"/>
                </a:rPr>
                <a:t>Integrar servicios de diferentes proveedores de nube puede ser complejo y costoso. </a:t>
              </a:r>
            </a:p>
            <a:p>
              <a:pPr algn="just">
                <a:lnSpc>
                  <a:spcPts val="2699"/>
                </a:lnSpc>
              </a:pPr>
            </a:p>
            <a:p>
              <a:pPr algn="just">
                <a:lnSpc>
                  <a:spcPts val="2699"/>
                </a:lnSpc>
              </a:pPr>
              <a:r>
                <a:rPr lang="en-US" sz="2499" b="true">
                  <a:solidFill>
                    <a:srgbClr val="000000"/>
                  </a:solidFill>
                  <a:latin typeface="Arimo Bold"/>
                  <a:ea typeface="Arimo Bold"/>
                  <a:cs typeface="Arimo Bold"/>
                  <a:sym typeface="Arimo Bold"/>
                </a:rPr>
                <a:t>Problemas de cumplimiento normativo:</a:t>
              </a:r>
            </a:p>
            <a:p>
              <a:pPr algn="just">
                <a:lnSpc>
                  <a:spcPts val="2699"/>
                </a:lnSpc>
              </a:pPr>
              <a:r>
                <a:rPr lang="en-US" sz="2499">
                  <a:solidFill>
                    <a:srgbClr val="000000"/>
                  </a:solidFill>
                  <a:latin typeface="Arimo"/>
                  <a:ea typeface="Arimo"/>
                  <a:cs typeface="Arimo"/>
                  <a:sym typeface="Arimo"/>
                </a:rPr>
                <a:t>Algunos datos pueden estar sujetos a regulaciones específicas que pueden dificultar el uso de la nube. </a:t>
              </a:r>
            </a:p>
            <a:p>
              <a:pPr algn="just">
                <a:lnSpc>
                  <a:spcPts val="2699"/>
                </a:lnSpc>
              </a:pPr>
            </a:p>
          </p:txBody>
        </p:sp>
      </p:gr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63040" y="1976661"/>
            <a:ext cx="17195888" cy="1899920"/>
          </a:xfrm>
          <a:prstGeom prst="rect">
            <a:avLst/>
          </a:prstGeom>
        </p:spPr>
        <p:txBody>
          <a:bodyPr anchor="t" rtlCol="false" tIns="0" lIns="0" bIns="0" rIns="0">
            <a:spAutoFit/>
          </a:bodyPr>
          <a:lstStyle/>
          <a:p>
            <a:pPr algn="l" marL="0" indent="0" lvl="0">
              <a:lnSpc>
                <a:spcPts val="14604"/>
              </a:lnSpc>
              <a:spcBef>
                <a:spcPct val="0"/>
              </a:spcBef>
            </a:pPr>
            <a:r>
              <a:rPr lang="en-US" sz="12699">
                <a:solidFill>
                  <a:srgbClr val="131416"/>
                </a:solidFill>
                <a:latin typeface="Playlist Script"/>
                <a:ea typeface="Playlist Script"/>
                <a:cs typeface="Playlist Script"/>
                <a:sym typeface="Playlist Script"/>
              </a:rPr>
              <a:t>Tipos de Nube</a:t>
            </a:r>
          </a:p>
        </p:txBody>
      </p:sp>
      <p:sp>
        <p:nvSpPr>
          <p:cNvPr name="AutoShape 3" id="3"/>
          <p:cNvSpPr/>
          <p:nvPr/>
        </p:nvSpPr>
        <p:spPr>
          <a:xfrm rot="25469">
            <a:off x="1430016" y="1512384"/>
            <a:ext cx="15427968" cy="0"/>
          </a:xfrm>
          <a:prstGeom prst="line">
            <a:avLst/>
          </a:prstGeom>
          <a:ln cap="rnd" w="57150">
            <a:solidFill>
              <a:srgbClr val="4D64C3"/>
            </a:solidFill>
            <a:prstDash val="solid"/>
            <a:headEnd type="none" len="sm" w="sm"/>
            <a:tailEnd type="none" len="sm" w="sm"/>
          </a:ln>
        </p:spPr>
      </p:sp>
      <p:grpSp>
        <p:nvGrpSpPr>
          <p:cNvPr name="Group 4" id="4"/>
          <p:cNvGrpSpPr/>
          <p:nvPr/>
        </p:nvGrpSpPr>
        <p:grpSpPr>
          <a:xfrm rot="0">
            <a:off x="2400750" y="4316608"/>
            <a:ext cx="2779312" cy="2779313"/>
            <a:chOff x="0" y="0"/>
            <a:chExt cx="3705750" cy="3705750"/>
          </a:xfrm>
        </p:grpSpPr>
        <p:sp>
          <p:nvSpPr>
            <p:cNvPr name="Freeform 5" id="5"/>
            <p:cNvSpPr/>
            <p:nvPr/>
          </p:nvSpPr>
          <p:spPr>
            <a:xfrm flipH="false" flipV="false" rot="0">
              <a:off x="0" y="0"/>
              <a:ext cx="3705733" cy="3705733"/>
            </a:xfrm>
            <a:custGeom>
              <a:avLst/>
              <a:gdLst/>
              <a:ahLst/>
              <a:cxnLst/>
              <a:rect r="r" b="b" t="t" l="l"/>
              <a:pathLst>
                <a:path h="3705733" w="3705733">
                  <a:moveTo>
                    <a:pt x="1101598" y="0"/>
                  </a:moveTo>
                  <a:lnTo>
                    <a:pt x="3705733" y="0"/>
                  </a:lnTo>
                  <a:lnTo>
                    <a:pt x="3705733" y="2604135"/>
                  </a:lnTo>
                  <a:cubicBezTo>
                    <a:pt x="3705733" y="3212592"/>
                    <a:pt x="3212465" y="3705733"/>
                    <a:pt x="2604135" y="3705733"/>
                  </a:cubicBezTo>
                  <a:lnTo>
                    <a:pt x="0" y="3705733"/>
                  </a:lnTo>
                  <a:lnTo>
                    <a:pt x="0" y="1101598"/>
                  </a:lnTo>
                  <a:cubicBezTo>
                    <a:pt x="0" y="493268"/>
                    <a:pt x="493268" y="0"/>
                    <a:pt x="1101598" y="0"/>
                  </a:cubicBezTo>
                  <a:close/>
                </a:path>
              </a:pathLst>
            </a:custGeom>
            <a:solidFill>
              <a:srgbClr val="553BB1"/>
            </a:solidFill>
          </p:spPr>
        </p:sp>
      </p:grpSp>
      <p:sp>
        <p:nvSpPr>
          <p:cNvPr name="Freeform 6" id="6"/>
          <p:cNvSpPr/>
          <p:nvPr/>
        </p:nvSpPr>
        <p:spPr>
          <a:xfrm flipH="false" flipV="false" rot="0">
            <a:off x="2993062" y="4908921"/>
            <a:ext cx="1594687" cy="1594688"/>
          </a:xfrm>
          <a:custGeom>
            <a:avLst/>
            <a:gdLst/>
            <a:ahLst/>
            <a:cxnLst/>
            <a:rect r="r" b="b" t="t" l="l"/>
            <a:pathLst>
              <a:path h="1594688" w="1594687">
                <a:moveTo>
                  <a:pt x="0" y="0"/>
                </a:moveTo>
                <a:lnTo>
                  <a:pt x="1594688" y="0"/>
                </a:lnTo>
                <a:lnTo>
                  <a:pt x="1594688" y="1594688"/>
                </a:lnTo>
                <a:lnTo>
                  <a:pt x="0" y="1594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507518" y="7975896"/>
            <a:ext cx="4565775" cy="573786"/>
          </a:xfrm>
          <a:prstGeom prst="rect">
            <a:avLst/>
          </a:prstGeom>
        </p:spPr>
        <p:txBody>
          <a:bodyPr anchor="t" rtlCol="false" tIns="0" lIns="0" bIns="0" rIns="0">
            <a:spAutoFit/>
          </a:bodyPr>
          <a:lstStyle/>
          <a:p>
            <a:pPr algn="ctr">
              <a:lnSpc>
                <a:spcPts val="4212"/>
              </a:lnSpc>
            </a:pPr>
            <a:r>
              <a:rPr lang="en-US" sz="3900">
                <a:solidFill>
                  <a:srgbClr val="000000"/>
                </a:solidFill>
                <a:latin typeface="Arimo"/>
                <a:ea typeface="Arimo"/>
                <a:cs typeface="Arimo"/>
                <a:sym typeface="Arimo"/>
              </a:rPr>
              <a:t>Privada</a:t>
            </a:r>
          </a:p>
        </p:txBody>
      </p:sp>
      <p:grpSp>
        <p:nvGrpSpPr>
          <p:cNvPr name="Group 8" id="8"/>
          <p:cNvGrpSpPr/>
          <p:nvPr/>
        </p:nvGrpSpPr>
        <p:grpSpPr>
          <a:xfrm rot="0">
            <a:off x="7754343" y="4316608"/>
            <a:ext cx="2779313" cy="2779313"/>
            <a:chOff x="0" y="0"/>
            <a:chExt cx="3705750" cy="3705750"/>
          </a:xfrm>
        </p:grpSpPr>
        <p:sp>
          <p:nvSpPr>
            <p:cNvPr name="Freeform 9" id="9"/>
            <p:cNvSpPr/>
            <p:nvPr/>
          </p:nvSpPr>
          <p:spPr>
            <a:xfrm flipH="false" flipV="false" rot="0">
              <a:off x="0" y="0"/>
              <a:ext cx="3705733" cy="3705733"/>
            </a:xfrm>
            <a:custGeom>
              <a:avLst/>
              <a:gdLst/>
              <a:ahLst/>
              <a:cxnLst/>
              <a:rect r="r" b="b" t="t" l="l"/>
              <a:pathLst>
                <a:path h="3705733" w="3705733">
                  <a:moveTo>
                    <a:pt x="1101598" y="0"/>
                  </a:moveTo>
                  <a:lnTo>
                    <a:pt x="3705733" y="0"/>
                  </a:lnTo>
                  <a:lnTo>
                    <a:pt x="3705733" y="2604135"/>
                  </a:lnTo>
                  <a:cubicBezTo>
                    <a:pt x="3705733" y="3212592"/>
                    <a:pt x="3212465" y="3705733"/>
                    <a:pt x="2604135" y="3705733"/>
                  </a:cubicBezTo>
                  <a:lnTo>
                    <a:pt x="0" y="3705733"/>
                  </a:lnTo>
                  <a:lnTo>
                    <a:pt x="0" y="1101598"/>
                  </a:lnTo>
                  <a:cubicBezTo>
                    <a:pt x="0" y="493268"/>
                    <a:pt x="493268" y="0"/>
                    <a:pt x="1101598" y="0"/>
                  </a:cubicBezTo>
                  <a:close/>
                </a:path>
              </a:pathLst>
            </a:custGeom>
            <a:solidFill>
              <a:srgbClr val="984DC3"/>
            </a:solidFill>
          </p:spPr>
        </p:sp>
      </p:grpSp>
      <p:sp>
        <p:nvSpPr>
          <p:cNvPr name="Freeform 10" id="10"/>
          <p:cNvSpPr/>
          <p:nvPr/>
        </p:nvSpPr>
        <p:spPr>
          <a:xfrm flipH="false" flipV="false" rot="0">
            <a:off x="8346656" y="4908921"/>
            <a:ext cx="1594688" cy="1594688"/>
          </a:xfrm>
          <a:custGeom>
            <a:avLst/>
            <a:gdLst/>
            <a:ahLst/>
            <a:cxnLst/>
            <a:rect r="r" b="b" t="t" l="l"/>
            <a:pathLst>
              <a:path h="1594688" w="1594688">
                <a:moveTo>
                  <a:pt x="0" y="0"/>
                </a:moveTo>
                <a:lnTo>
                  <a:pt x="1594687" y="0"/>
                </a:lnTo>
                <a:lnTo>
                  <a:pt x="1594687" y="1594688"/>
                </a:lnTo>
                <a:lnTo>
                  <a:pt x="0" y="1594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6861112" y="7975896"/>
            <a:ext cx="4565775" cy="573786"/>
          </a:xfrm>
          <a:prstGeom prst="rect">
            <a:avLst/>
          </a:prstGeom>
        </p:spPr>
        <p:txBody>
          <a:bodyPr anchor="t" rtlCol="false" tIns="0" lIns="0" bIns="0" rIns="0">
            <a:spAutoFit/>
          </a:bodyPr>
          <a:lstStyle/>
          <a:p>
            <a:pPr algn="ctr">
              <a:lnSpc>
                <a:spcPts val="4212"/>
              </a:lnSpc>
            </a:pPr>
            <a:r>
              <a:rPr lang="en-US" sz="3900">
                <a:solidFill>
                  <a:srgbClr val="000000"/>
                </a:solidFill>
                <a:latin typeface="Arimo"/>
                <a:ea typeface="Arimo"/>
                <a:cs typeface="Arimo"/>
                <a:sym typeface="Arimo"/>
              </a:rPr>
              <a:t>Publica</a:t>
            </a:r>
          </a:p>
        </p:txBody>
      </p:sp>
      <p:grpSp>
        <p:nvGrpSpPr>
          <p:cNvPr name="Group 12" id="12"/>
          <p:cNvGrpSpPr/>
          <p:nvPr/>
        </p:nvGrpSpPr>
        <p:grpSpPr>
          <a:xfrm rot="0">
            <a:off x="13107938" y="4316608"/>
            <a:ext cx="2779312" cy="2779313"/>
            <a:chOff x="0" y="0"/>
            <a:chExt cx="3705750" cy="3705750"/>
          </a:xfrm>
        </p:grpSpPr>
        <p:sp>
          <p:nvSpPr>
            <p:cNvPr name="Freeform 13" id="13"/>
            <p:cNvSpPr/>
            <p:nvPr/>
          </p:nvSpPr>
          <p:spPr>
            <a:xfrm flipH="false" flipV="false" rot="0">
              <a:off x="0" y="0"/>
              <a:ext cx="3705733" cy="3705733"/>
            </a:xfrm>
            <a:custGeom>
              <a:avLst/>
              <a:gdLst/>
              <a:ahLst/>
              <a:cxnLst/>
              <a:rect r="r" b="b" t="t" l="l"/>
              <a:pathLst>
                <a:path h="3705733" w="3705733">
                  <a:moveTo>
                    <a:pt x="1101598" y="0"/>
                  </a:moveTo>
                  <a:lnTo>
                    <a:pt x="3705733" y="0"/>
                  </a:lnTo>
                  <a:lnTo>
                    <a:pt x="3705733" y="2604135"/>
                  </a:lnTo>
                  <a:cubicBezTo>
                    <a:pt x="3705733" y="3212592"/>
                    <a:pt x="3212465" y="3705733"/>
                    <a:pt x="2604135" y="3705733"/>
                  </a:cubicBezTo>
                  <a:lnTo>
                    <a:pt x="0" y="3705733"/>
                  </a:lnTo>
                  <a:lnTo>
                    <a:pt x="0" y="1101598"/>
                  </a:lnTo>
                  <a:cubicBezTo>
                    <a:pt x="0" y="493268"/>
                    <a:pt x="493268" y="0"/>
                    <a:pt x="1101598" y="0"/>
                  </a:cubicBezTo>
                  <a:close/>
                </a:path>
              </a:pathLst>
            </a:custGeom>
            <a:solidFill>
              <a:srgbClr val="B13BAB"/>
            </a:solidFill>
          </p:spPr>
        </p:sp>
      </p:grpSp>
      <p:sp>
        <p:nvSpPr>
          <p:cNvPr name="Freeform 14" id="14"/>
          <p:cNvSpPr/>
          <p:nvPr/>
        </p:nvSpPr>
        <p:spPr>
          <a:xfrm flipH="false" flipV="false" rot="0">
            <a:off x="13700250" y="4908921"/>
            <a:ext cx="1594688" cy="1594688"/>
          </a:xfrm>
          <a:custGeom>
            <a:avLst/>
            <a:gdLst/>
            <a:ahLst/>
            <a:cxnLst/>
            <a:rect r="r" b="b" t="t" l="l"/>
            <a:pathLst>
              <a:path h="1594688" w="1594688">
                <a:moveTo>
                  <a:pt x="0" y="0"/>
                </a:moveTo>
                <a:lnTo>
                  <a:pt x="1594688" y="0"/>
                </a:lnTo>
                <a:lnTo>
                  <a:pt x="1594688" y="1594688"/>
                </a:lnTo>
                <a:lnTo>
                  <a:pt x="0" y="15946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12214706" y="7975896"/>
            <a:ext cx="4565775" cy="573786"/>
          </a:xfrm>
          <a:prstGeom prst="rect">
            <a:avLst/>
          </a:prstGeom>
        </p:spPr>
        <p:txBody>
          <a:bodyPr anchor="t" rtlCol="false" tIns="0" lIns="0" bIns="0" rIns="0">
            <a:spAutoFit/>
          </a:bodyPr>
          <a:lstStyle/>
          <a:p>
            <a:pPr algn="ctr">
              <a:lnSpc>
                <a:spcPts val="4212"/>
              </a:lnSpc>
            </a:pPr>
            <a:r>
              <a:rPr lang="en-US" sz="3900">
                <a:solidFill>
                  <a:srgbClr val="000000"/>
                </a:solidFill>
                <a:latin typeface="Arimo"/>
                <a:ea typeface="Arimo"/>
                <a:cs typeface="Arimo"/>
                <a:sym typeface="Arimo"/>
              </a:rPr>
              <a:t>Hibrida</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59" y="1624649"/>
            <a:ext cx="16153514" cy="1899920"/>
          </a:xfrm>
          <a:prstGeom prst="rect">
            <a:avLst/>
          </a:prstGeom>
        </p:spPr>
        <p:txBody>
          <a:bodyPr anchor="t" rtlCol="false" tIns="0" lIns="0" bIns="0" rIns="0">
            <a:spAutoFit/>
          </a:bodyPr>
          <a:lstStyle/>
          <a:p>
            <a:pPr algn="l" marL="0" indent="0" lvl="0">
              <a:lnSpc>
                <a:spcPts val="14604"/>
              </a:lnSpc>
              <a:spcBef>
                <a:spcPct val="0"/>
              </a:spcBef>
            </a:pPr>
            <a:r>
              <a:rPr lang="en-US" sz="12699" strike="noStrike" u="none">
                <a:solidFill>
                  <a:srgbClr val="131416"/>
                </a:solidFill>
                <a:latin typeface="Playlist Script"/>
                <a:ea typeface="Playlist Script"/>
                <a:cs typeface="Playlist Script"/>
                <a:sym typeface="Playlist Script"/>
              </a:rPr>
              <a:t>Tipos de Nube</a:t>
            </a:r>
          </a:p>
        </p:txBody>
      </p:sp>
      <p:grpSp>
        <p:nvGrpSpPr>
          <p:cNvPr name="Group 4" id="4"/>
          <p:cNvGrpSpPr/>
          <p:nvPr/>
        </p:nvGrpSpPr>
        <p:grpSpPr>
          <a:xfrm rot="0">
            <a:off x="960120" y="3950860"/>
            <a:ext cx="16336392" cy="1527981"/>
            <a:chOff x="0" y="0"/>
            <a:chExt cx="21781856" cy="2037308"/>
          </a:xfrm>
        </p:grpSpPr>
        <p:sp>
          <p:nvSpPr>
            <p:cNvPr name="Freeform 5" id="5"/>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6" id="6"/>
          <p:cNvGrpSpPr/>
          <p:nvPr/>
        </p:nvGrpSpPr>
        <p:grpSpPr>
          <a:xfrm rot="0">
            <a:off x="1412808" y="4285131"/>
            <a:ext cx="859438" cy="859438"/>
            <a:chOff x="0" y="0"/>
            <a:chExt cx="1145918" cy="1145918"/>
          </a:xfrm>
        </p:grpSpPr>
        <p:sp>
          <p:nvSpPr>
            <p:cNvPr name="Freeform 7" id="7"/>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2"/>
              <a:stretch>
                <a:fillRect l="-1133" t="-1133" r="-1133" b="-1133"/>
              </a:stretch>
            </a:blipFill>
          </p:spPr>
        </p:sp>
        <p:sp>
          <p:nvSpPr>
            <p:cNvPr name="Freeform 8" id="8"/>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9" id="9"/>
          <p:cNvGrpSpPr/>
          <p:nvPr/>
        </p:nvGrpSpPr>
        <p:grpSpPr>
          <a:xfrm rot="0">
            <a:off x="2720175" y="3946098"/>
            <a:ext cx="7360900" cy="1537506"/>
            <a:chOff x="0" y="0"/>
            <a:chExt cx="9814534" cy="2050008"/>
          </a:xfrm>
        </p:grpSpPr>
        <p:sp>
          <p:nvSpPr>
            <p:cNvPr name="Freeform 10" id="10"/>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11" id="11"/>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Pública</a:t>
              </a:r>
            </a:p>
          </p:txBody>
        </p:sp>
      </p:grpSp>
      <p:grpSp>
        <p:nvGrpSpPr>
          <p:cNvPr name="Group 12" id="12"/>
          <p:cNvGrpSpPr/>
          <p:nvPr/>
        </p:nvGrpSpPr>
        <p:grpSpPr>
          <a:xfrm rot="0">
            <a:off x="6676277" y="4017787"/>
            <a:ext cx="10624996" cy="1537506"/>
            <a:chOff x="0" y="0"/>
            <a:chExt cx="14166661" cy="2050008"/>
          </a:xfrm>
        </p:grpSpPr>
        <p:sp>
          <p:nvSpPr>
            <p:cNvPr name="Freeform 13" id="13"/>
            <p:cNvSpPr/>
            <p:nvPr/>
          </p:nvSpPr>
          <p:spPr>
            <a:xfrm flipH="false" flipV="false" rot="0">
              <a:off x="0" y="0"/>
              <a:ext cx="14166661" cy="2050008"/>
            </a:xfrm>
            <a:custGeom>
              <a:avLst/>
              <a:gdLst/>
              <a:ahLst/>
              <a:cxnLst/>
              <a:rect r="r" b="b" t="t" l="l"/>
              <a:pathLst>
                <a:path h="2050008" w="14166661">
                  <a:moveTo>
                    <a:pt x="0" y="0"/>
                  </a:moveTo>
                  <a:lnTo>
                    <a:pt x="14166661" y="0"/>
                  </a:lnTo>
                  <a:lnTo>
                    <a:pt x="14166661" y="2050008"/>
                  </a:lnTo>
                  <a:lnTo>
                    <a:pt x="0" y="2050008"/>
                  </a:lnTo>
                  <a:close/>
                </a:path>
              </a:pathLst>
            </a:custGeom>
            <a:solidFill>
              <a:srgbClr val="000000">
                <a:alpha val="0"/>
              </a:srgbClr>
            </a:solidFill>
          </p:spPr>
        </p:sp>
        <p:sp>
          <p:nvSpPr>
            <p:cNvPr name="TextBox 14" id="14"/>
            <p:cNvSpPr txBox="true"/>
            <p:nvPr/>
          </p:nvSpPr>
          <p:spPr>
            <a:xfrm>
              <a:off x="0" y="-9525"/>
              <a:ext cx="14166661" cy="2059533"/>
            </a:xfrm>
            <a:prstGeom prst="rect">
              <a:avLst/>
            </a:prstGeom>
          </p:spPr>
          <p:txBody>
            <a:bodyPr anchor="ctr" rtlCol="false" tIns="0" lIns="0" bIns="0" rIns="0"/>
            <a:lstStyle/>
            <a:p>
              <a:pPr algn="just">
                <a:lnSpc>
                  <a:spcPts val="2520"/>
                </a:lnSpc>
              </a:pPr>
              <a:r>
                <a:rPr lang="en-US" sz="2100">
                  <a:solidFill>
                    <a:srgbClr val="000000"/>
                  </a:solidFill>
                  <a:latin typeface="Arimo"/>
                  <a:ea typeface="Arimo"/>
                  <a:cs typeface="Arimo"/>
                  <a:sym typeface="Arimo"/>
                </a:rPr>
                <a:t>La</a:t>
              </a:r>
              <a:r>
                <a:rPr lang="en-US" sz="2100">
                  <a:solidFill>
                    <a:srgbClr val="000000"/>
                  </a:solidFill>
                  <a:latin typeface="Arimo"/>
                  <a:ea typeface="Arimo"/>
                  <a:cs typeface="Arimo"/>
                  <a:sym typeface="Arimo"/>
                </a:rPr>
                <a:t>s nubes públicas entregan recursos, como procesamiento, almacenamiento, red, entornos de desarrollo y de implementación, y aplicaciones a través de Internet. Está bajo la propiedad y administración de proveedores de servicios en la nube de terceros, como Google Cloud.</a:t>
              </a:r>
            </a:p>
          </p:txBody>
        </p:sp>
      </p:grpSp>
      <p:grpSp>
        <p:nvGrpSpPr>
          <p:cNvPr name="Group 15" id="15"/>
          <p:cNvGrpSpPr/>
          <p:nvPr/>
        </p:nvGrpSpPr>
        <p:grpSpPr>
          <a:xfrm rot="0">
            <a:off x="960120" y="5860836"/>
            <a:ext cx="16336392" cy="1527981"/>
            <a:chOff x="0" y="0"/>
            <a:chExt cx="21781856" cy="2037308"/>
          </a:xfrm>
        </p:grpSpPr>
        <p:sp>
          <p:nvSpPr>
            <p:cNvPr name="Freeform 16" id="16"/>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17" id="17"/>
          <p:cNvGrpSpPr/>
          <p:nvPr/>
        </p:nvGrpSpPr>
        <p:grpSpPr>
          <a:xfrm rot="0">
            <a:off x="1412808" y="6195108"/>
            <a:ext cx="859438" cy="859439"/>
            <a:chOff x="0" y="0"/>
            <a:chExt cx="1145918" cy="1145918"/>
          </a:xfrm>
        </p:grpSpPr>
        <p:sp>
          <p:nvSpPr>
            <p:cNvPr name="Freeform 18" id="18"/>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3"/>
              <a:stretch>
                <a:fillRect l="-1133" t="-1133" r="-1133" b="-1133"/>
              </a:stretch>
            </a:blipFill>
          </p:spPr>
        </p:sp>
        <p:sp>
          <p:nvSpPr>
            <p:cNvPr name="Freeform 19" id="19"/>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20" id="20"/>
          <p:cNvGrpSpPr/>
          <p:nvPr/>
        </p:nvGrpSpPr>
        <p:grpSpPr>
          <a:xfrm rot="0">
            <a:off x="2720175" y="5856074"/>
            <a:ext cx="7360900" cy="1537506"/>
            <a:chOff x="0" y="0"/>
            <a:chExt cx="9814534" cy="2050008"/>
          </a:xfrm>
        </p:grpSpPr>
        <p:sp>
          <p:nvSpPr>
            <p:cNvPr name="Freeform 21" id="21"/>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22" id="22"/>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Privada</a:t>
              </a:r>
            </a:p>
          </p:txBody>
        </p:sp>
      </p:grpSp>
      <p:grpSp>
        <p:nvGrpSpPr>
          <p:cNvPr name="Group 23" id="23"/>
          <p:cNvGrpSpPr/>
          <p:nvPr/>
        </p:nvGrpSpPr>
        <p:grpSpPr>
          <a:xfrm rot="0">
            <a:off x="6676277" y="5856074"/>
            <a:ext cx="10624996" cy="1537506"/>
            <a:chOff x="0" y="0"/>
            <a:chExt cx="14166661" cy="2050008"/>
          </a:xfrm>
        </p:grpSpPr>
        <p:sp>
          <p:nvSpPr>
            <p:cNvPr name="Freeform 24" id="24"/>
            <p:cNvSpPr/>
            <p:nvPr/>
          </p:nvSpPr>
          <p:spPr>
            <a:xfrm flipH="false" flipV="false" rot="0">
              <a:off x="0" y="0"/>
              <a:ext cx="14166661" cy="2050008"/>
            </a:xfrm>
            <a:custGeom>
              <a:avLst/>
              <a:gdLst/>
              <a:ahLst/>
              <a:cxnLst/>
              <a:rect r="r" b="b" t="t" l="l"/>
              <a:pathLst>
                <a:path h="2050008" w="14166661">
                  <a:moveTo>
                    <a:pt x="0" y="0"/>
                  </a:moveTo>
                  <a:lnTo>
                    <a:pt x="14166661" y="0"/>
                  </a:lnTo>
                  <a:lnTo>
                    <a:pt x="14166661" y="2050008"/>
                  </a:lnTo>
                  <a:lnTo>
                    <a:pt x="0" y="2050008"/>
                  </a:lnTo>
                  <a:close/>
                </a:path>
              </a:pathLst>
            </a:custGeom>
            <a:solidFill>
              <a:srgbClr val="000000">
                <a:alpha val="0"/>
              </a:srgbClr>
            </a:solidFill>
          </p:spPr>
        </p:sp>
        <p:sp>
          <p:nvSpPr>
            <p:cNvPr name="TextBox 25" id="25"/>
            <p:cNvSpPr txBox="true"/>
            <p:nvPr/>
          </p:nvSpPr>
          <p:spPr>
            <a:xfrm>
              <a:off x="0" y="-9525"/>
              <a:ext cx="14166661" cy="2059533"/>
            </a:xfrm>
            <a:prstGeom prst="rect">
              <a:avLst/>
            </a:prstGeom>
          </p:spPr>
          <p:txBody>
            <a:bodyPr anchor="ctr" rtlCol="false" tIns="0" lIns="0" bIns="0" rIns="0"/>
            <a:lstStyle/>
            <a:p>
              <a:pPr algn="l">
                <a:lnSpc>
                  <a:spcPts val="2520"/>
                </a:lnSpc>
              </a:pPr>
              <a:r>
                <a:rPr lang="en-US" sz="2100">
                  <a:solidFill>
                    <a:srgbClr val="000000"/>
                  </a:solidFill>
                  <a:latin typeface="Arimo"/>
                  <a:ea typeface="Arimo"/>
                  <a:cs typeface="Arimo"/>
                  <a:sym typeface="Arimo"/>
                </a:rPr>
                <a:t>Una sola organización, por lo general ubicada de forma local, compila, ejecuta y usa nubes privadas. Proporcionan mayor control, personalización y seguridad de los datos, pero tienen costos y limitaciones de recursos similares asociados a los entornos de TI tradicionales.</a:t>
              </a:r>
            </a:p>
          </p:txBody>
        </p:sp>
      </p:grpSp>
      <p:grpSp>
        <p:nvGrpSpPr>
          <p:cNvPr name="Group 26" id="26"/>
          <p:cNvGrpSpPr/>
          <p:nvPr/>
        </p:nvGrpSpPr>
        <p:grpSpPr>
          <a:xfrm rot="0">
            <a:off x="960120" y="7770813"/>
            <a:ext cx="16336392" cy="1527981"/>
            <a:chOff x="0" y="0"/>
            <a:chExt cx="21781856" cy="2037308"/>
          </a:xfrm>
        </p:grpSpPr>
        <p:sp>
          <p:nvSpPr>
            <p:cNvPr name="Freeform 27" id="27"/>
            <p:cNvSpPr/>
            <p:nvPr/>
          </p:nvSpPr>
          <p:spPr>
            <a:xfrm flipH="false" flipV="false" rot="0">
              <a:off x="0" y="0"/>
              <a:ext cx="21781771" cy="2037334"/>
            </a:xfrm>
            <a:custGeom>
              <a:avLst/>
              <a:gdLst/>
              <a:ahLst/>
              <a:cxnLst/>
              <a:rect r="r" b="b" t="t" l="l"/>
              <a:pathLst>
                <a:path h="2037334" w="21781771">
                  <a:moveTo>
                    <a:pt x="0" y="203708"/>
                  </a:moveTo>
                  <a:cubicBezTo>
                    <a:pt x="0" y="91186"/>
                    <a:pt x="91186" y="0"/>
                    <a:pt x="203708" y="0"/>
                  </a:cubicBezTo>
                  <a:lnTo>
                    <a:pt x="21578063" y="0"/>
                  </a:lnTo>
                  <a:cubicBezTo>
                    <a:pt x="21690585" y="0"/>
                    <a:pt x="21781771" y="91186"/>
                    <a:pt x="21781771" y="203708"/>
                  </a:cubicBezTo>
                  <a:lnTo>
                    <a:pt x="21781771" y="1833626"/>
                  </a:lnTo>
                  <a:cubicBezTo>
                    <a:pt x="21781771" y="1946148"/>
                    <a:pt x="21690585" y="2037334"/>
                    <a:pt x="21578063" y="2037334"/>
                  </a:cubicBezTo>
                  <a:lnTo>
                    <a:pt x="203708" y="2037334"/>
                  </a:lnTo>
                  <a:cubicBezTo>
                    <a:pt x="91186" y="2037334"/>
                    <a:pt x="0" y="1946148"/>
                    <a:pt x="0" y="1833626"/>
                  </a:cubicBezTo>
                  <a:close/>
                </a:path>
              </a:pathLst>
            </a:custGeom>
            <a:solidFill>
              <a:srgbClr val="D0D3E9"/>
            </a:solidFill>
          </p:spPr>
        </p:sp>
      </p:grpSp>
      <p:grpSp>
        <p:nvGrpSpPr>
          <p:cNvPr name="Group 28" id="28"/>
          <p:cNvGrpSpPr/>
          <p:nvPr/>
        </p:nvGrpSpPr>
        <p:grpSpPr>
          <a:xfrm rot="0">
            <a:off x="1412808" y="8105084"/>
            <a:ext cx="859438" cy="859439"/>
            <a:chOff x="0" y="0"/>
            <a:chExt cx="1145918" cy="1145918"/>
          </a:xfrm>
        </p:grpSpPr>
        <p:sp>
          <p:nvSpPr>
            <p:cNvPr name="Freeform 29" id="29"/>
            <p:cNvSpPr/>
            <p:nvPr/>
          </p:nvSpPr>
          <p:spPr>
            <a:xfrm flipH="false" flipV="false" rot="0">
              <a:off x="12700" y="12700"/>
              <a:ext cx="1120521" cy="1120521"/>
            </a:xfrm>
            <a:custGeom>
              <a:avLst/>
              <a:gdLst/>
              <a:ahLst/>
              <a:cxnLst/>
              <a:rect r="r" b="b" t="t" l="l"/>
              <a:pathLst>
                <a:path h="1120521" w="1120521">
                  <a:moveTo>
                    <a:pt x="0" y="0"/>
                  </a:moveTo>
                  <a:lnTo>
                    <a:pt x="1120521" y="0"/>
                  </a:lnTo>
                  <a:lnTo>
                    <a:pt x="1120521" y="1120521"/>
                  </a:lnTo>
                  <a:lnTo>
                    <a:pt x="0" y="1120521"/>
                  </a:lnTo>
                  <a:close/>
                </a:path>
              </a:pathLst>
            </a:custGeom>
            <a:blipFill>
              <a:blip r:embed="rId4"/>
              <a:stretch>
                <a:fillRect l="-1133" t="-1133" r="-1133" b="-1133"/>
              </a:stretch>
            </a:blipFill>
          </p:spPr>
        </p:sp>
        <p:sp>
          <p:nvSpPr>
            <p:cNvPr name="Freeform 30" id="30"/>
            <p:cNvSpPr/>
            <p:nvPr/>
          </p:nvSpPr>
          <p:spPr>
            <a:xfrm flipH="false" flipV="false" rot="0">
              <a:off x="0" y="0"/>
              <a:ext cx="1145921" cy="1145921"/>
            </a:xfrm>
            <a:custGeom>
              <a:avLst/>
              <a:gdLst/>
              <a:ahLst/>
              <a:cxnLst/>
              <a:rect r="r" b="b" t="t" l="l"/>
              <a:pathLst>
                <a:path h="1145921" w="1145921">
                  <a:moveTo>
                    <a:pt x="12700" y="0"/>
                  </a:moveTo>
                  <a:lnTo>
                    <a:pt x="1133221" y="0"/>
                  </a:lnTo>
                  <a:cubicBezTo>
                    <a:pt x="1140206" y="0"/>
                    <a:pt x="1145921" y="5715"/>
                    <a:pt x="1145921" y="12700"/>
                  </a:cubicBezTo>
                  <a:lnTo>
                    <a:pt x="1145921" y="1133221"/>
                  </a:lnTo>
                  <a:cubicBezTo>
                    <a:pt x="1145921" y="1140206"/>
                    <a:pt x="1140206" y="1145921"/>
                    <a:pt x="1133221" y="1145921"/>
                  </a:cubicBezTo>
                  <a:lnTo>
                    <a:pt x="12700" y="1145921"/>
                  </a:lnTo>
                  <a:cubicBezTo>
                    <a:pt x="5715" y="1145921"/>
                    <a:pt x="0" y="1140206"/>
                    <a:pt x="0" y="1133221"/>
                  </a:cubicBezTo>
                  <a:lnTo>
                    <a:pt x="0" y="12700"/>
                  </a:lnTo>
                  <a:cubicBezTo>
                    <a:pt x="0" y="5715"/>
                    <a:pt x="5715" y="0"/>
                    <a:pt x="12700" y="0"/>
                  </a:cubicBezTo>
                  <a:moveTo>
                    <a:pt x="12700" y="25400"/>
                  </a:moveTo>
                  <a:lnTo>
                    <a:pt x="12700" y="12700"/>
                  </a:lnTo>
                  <a:lnTo>
                    <a:pt x="25400" y="12700"/>
                  </a:lnTo>
                  <a:lnTo>
                    <a:pt x="25400" y="1133221"/>
                  </a:lnTo>
                  <a:lnTo>
                    <a:pt x="12700" y="1133221"/>
                  </a:lnTo>
                  <a:lnTo>
                    <a:pt x="12700" y="1120521"/>
                  </a:lnTo>
                  <a:lnTo>
                    <a:pt x="1133221" y="1120521"/>
                  </a:lnTo>
                  <a:lnTo>
                    <a:pt x="1133221" y="1133221"/>
                  </a:lnTo>
                  <a:lnTo>
                    <a:pt x="1120521" y="1133221"/>
                  </a:lnTo>
                  <a:lnTo>
                    <a:pt x="1120521" y="12700"/>
                  </a:lnTo>
                  <a:lnTo>
                    <a:pt x="1133221" y="12700"/>
                  </a:lnTo>
                  <a:lnTo>
                    <a:pt x="1133221" y="25400"/>
                  </a:lnTo>
                  <a:lnTo>
                    <a:pt x="12700" y="25400"/>
                  </a:lnTo>
                  <a:close/>
                </a:path>
              </a:pathLst>
            </a:custGeom>
            <a:solidFill>
              <a:srgbClr val="FFFFFF"/>
            </a:solidFill>
          </p:spPr>
        </p:sp>
      </p:grpSp>
      <p:grpSp>
        <p:nvGrpSpPr>
          <p:cNvPr name="Group 31" id="31"/>
          <p:cNvGrpSpPr/>
          <p:nvPr/>
        </p:nvGrpSpPr>
        <p:grpSpPr>
          <a:xfrm rot="0">
            <a:off x="2720175" y="7766051"/>
            <a:ext cx="7360900" cy="1537506"/>
            <a:chOff x="0" y="0"/>
            <a:chExt cx="9814534" cy="2050008"/>
          </a:xfrm>
        </p:grpSpPr>
        <p:sp>
          <p:nvSpPr>
            <p:cNvPr name="Freeform 32" id="32"/>
            <p:cNvSpPr/>
            <p:nvPr/>
          </p:nvSpPr>
          <p:spPr>
            <a:xfrm flipH="false" flipV="false" rot="0">
              <a:off x="0" y="0"/>
              <a:ext cx="9814534" cy="2050008"/>
            </a:xfrm>
            <a:custGeom>
              <a:avLst/>
              <a:gdLst/>
              <a:ahLst/>
              <a:cxnLst/>
              <a:rect r="r" b="b" t="t" l="l"/>
              <a:pathLst>
                <a:path h="2050008" w="9814534">
                  <a:moveTo>
                    <a:pt x="0" y="0"/>
                  </a:moveTo>
                  <a:lnTo>
                    <a:pt x="9814534" y="0"/>
                  </a:lnTo>
                  <a:lnTo>
                    <a:pt x="9814534" y="2050008"/>
                  </a:lnTo>
                  <a:lnTo>
                    <a:pt x="0" y="2050008"/>
                  </a:lnTo>
                  <a:close/>
                </a:path>
              </a:pathLst>
            </a:custGeom>
            <a:solidFill>
              <a:srgbClr val="000000">
                <a:alpha val="0"/>
              </a:srgbClr>
            </a:solidFill>
          </p:spPr>
        </p:sp>
        <p:sp>
          <p:nvSpPr>
            <p:cNvPr name="TextBox 33" id="33"/>
            <p:cNvSpPr txBox="true"/>
            <p:nvPr/>
          </p:nvSpPr>
          <p:spPr>
            <a:xfrm>
              <a:off x="0" y="-38100"/>
              <a:ext cx="9814534" cy="2088108"/>
            </a:xfrm>
            <a:prstGeom prst="rect">
              <a:avLst/>
            </a:prstGeom>
          </p:spPr>
          <p:txBody>
            <a:bodyPr anchor="ctr" rtlCol="false" tIns="0" lIns="0" bIns="0" rIns="0"/>
            <a:lstStyle/>
            <a:p>
              <a:pPr algn="l">
                <a:lnSpc>
                  <a:spcPts val="4500"/>
                </a:lnSpc>
              </a:pPr>
              <a:r>
                <a:rPr lang="en-US" sz="3750">
                  <a:solidFill>
                    <a:srgbClr val="000000"/>
                  </a:solidFill>
                  <a:latin typeface="Arimo"/>
                  <a:ea typeface="Arimo"/>
                  <a:cs typeface="Arimo"/>
                  <a:sym typeface="Arimo"/>
                </a:rPr>
                <a:t>Hibrida</a:t>
              </a:r>
            </a:p>
          </p:txBody>
        </p:sp>
      </p:grpSp>
      <p:grpSp>
        <p:nvGrpSpPr>
          <p:cNvPr name="Group 34" id="34"/>
          <p:cNvGrpSpPr/>
          <p:nvPr/>
        </p:nvGrpSpPr>
        <p:grpSpPr>
          <a:xfrm rot="0">
            <a:off x="6676277" y="7766051"/>
            <a:ext cx="10624996" cy="1537506"/>
            <a:chOff x="0" y="0"/>
            <a:chExt cx="14166661" cy="2050008"/>
          </a:xfrm>
        </p:grpSpPr>
        <p:sp>
          <p:nvSpPr>
            <p:cNvPr name="Freeform 35" id="35"/>
            <p:cNvSpPr/>
            <p:nvPr/>
          </p:nvSpPr>
          <p:spPr>
            <a:xfrm flipH="false" flipV="false" rot="0">
              <a:off x="0" y="0"/>
              <a:ext cx="14166661" cy="2050008"/>
            </a:xfrm>
            <a:custGeom>
              <a:avLst/>
              <a:gdLst/>
              <a:ahLst/>
              <a:cxnLst/>
              <a:rect r="r" b="b" t="t" l="l"/>
              <a:pathLst>
                <a:path h="2050008" w="14166661">
                  <a:moveTo>
                    <a:pt x="0" y="0"/>
                  </a:moveTo>
                  <a:lnTo>
                    <a:pt x="14166661" y="0"/>
                  </a:lnTo>
                  <a:lnTo>
                    <a:pt x="14166661" y="2050008"/>
                  </a:lnTo>
                  <a:lnTo>
                    <a:pt x="0" y="2050008"/>
                  </a:lnTo>
                  <a:close/>
                </a:path>
              </a:pathLst>
            </a:custGeom>
            <a:solidFill>
              <a:srgbClr val="000000">
                <a:alpha val="0"/>
              </a:srgbClr>
            </a:solidFill>
          </p:spPr>
        </p:sp>
        <p:sp>
          <p:nvSpPr>
            <p:cNvPr name="TextBox 36" id="36"/>
            <p:cNvSpPr txBox="true"/>
            <p:nvPr/>
          </p:nvSpPr>
          <p:spPr>
            <a:xfrm>
              <a:off x="0" y="-9525"/>
              <a:ext cx="14166661" cy="2059533"/>
            </a:xfrm>
            <a:prstGeom prst="rect">
              <a:avLst/>
            </a:prstGeom>
          </p:spPr>
          <p:txBody>
            <a:bodyPr anchor="ctr" rtlCol="false" tIns="0" lIns="0" bIns="0" rIns="0"/>
            <a:lstStyle/>
            <a:p>
              <a:pPr algn="l">
                <a:lnSpc>
                  <a:spcPts val="2520"/>
                </a:lnSpc>
              </a:pPr>
              <a:r>
                <a:rPr lang="en-US" sz="2100">
                  <a:solidFill>
                    <a:srgbClr val="000000"/>
                  </a:solidFill>
                  <a:latin typeface="Arimo"/>
                  <a:ea typeface="Arimo"/>
                  <a:cs typeface="Arimo"/>
                  <a:sym typeface="Arimo"/>
                </a:rPr>
                <a:t>Los entornos qu</a:t>
              </a:r>
              <a:r>
                <a:rPr lang="en-US" sz="2100">
                  <a:solidFill>
                    <a:srgbClr val="000000"/>
                  </a:solidFill>
                  <a:latin typeface="Arimo"/>
                  <a:ea typeface="Arimo"/>
                  <a:cs typeface="Arimo"/>
                  <a:sym typeface="Arimo"/>
                </a:rPr>
                <a:t>e combinan al menos un entorno de computación privado (infraestructura de TI tradicional o nube privada, incluida la perimetral) con una o más nubes públicas, se denominan nubes híbridas. Te permiten aprovechar los recursos y servicios de diferentes entornos de computación y elegir cuál es la mejor para las cargas de trabajo. </a:t>
              </a:r>
            </a:p>
          </p:txBody>
        </p:sp>
      </p:grpSp>
    </p:spTree>
  </p:cSld>
  <p:clrMapOvr>
    <a:masterClrMapping/>
  </p:clrMapOvr>
</p:sld>
</file>

<file path=ppt/slides/slide4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953288" y="885899"/>
            <a:ext cx="1582593" cy="11430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366223" y="1395730"/>
            <a:ext cx="6088774" cy="3747770"/>
          </a:xfrm>
          <a:prstGeom prst="rect">
            <a:avLst/>
          </a:prstGeom>
        </p:spPr>
        <p:txBody>
          <a:bodyPr anchor="t" rtlCol="false" tIns="0" lIns="0" bIns="0" rIns="0">
            <a:spAutoFit/>
          </a:bodyPr>
          <a:lstStyle/>
          <a:p>
            <a:pPr algn="l" marL="0" indent="0" lvl="0">
              <a:lnSpc>
                <a:spcPts val="14604"/>
              </a:lnSpc>
              <a:spcBef>
                <a:spcPct val="0"/>
              </a:spcBef>
            </a:pPr>
            <a:r>
              <a:rPr lang="en-US" sz="12699" strike="noStrike" u="none">
                <a:solidFill>
                  <a:srgbClr val="131416"/>
                </a:solidFill>
                <a:latin typeface="Playlist Script"/>
                <a:ea typeface="Playlist Script"/>
                <a:cs typeface="Playlist Script"/>
                <a:sym typeface="Playlist Script"/>
              </a:rPr>
              <a:t>Modelos en la Nube</a:t>
            </a:r>
          </a:p>
        </p:txBody>
      </p:sp>
      <p:sp>
        <p:nvSpPr>
          <p:cNvPr name="AutoShape 4" id="4"/>
          <p:cNvSpPr/>
          <p:nvPr/>
        </p:nvSpPr>
        <p:spPr>
          <a:xfrm rot="23980">
            <a:off x="951030" y="9380601"/>
            <a:ext cx="16385941" cy="0"/>
          </a:xfrm>
          <a:prstGeom prst="line">
            <a:avLst/>
          </a:prstGeom>
          <a:ln cap="rnd" w="57150">
            <a:solidFill>
              <a:srgbClr val="4D64C3"/>
            </a:solidFill>
            <a:prstDash val="solid"/>
            <a:headEnd type="none" len="sm" w="sm"/>
            <a:tailEnd type="none" len="sm" w="sm"/>
          </a:ln>
        </p:spPr>
      </p:sp>
      <p:grpSp>
        <p:nvGrpSpPr>
          <p:cNvPr name="Group 5" id="5"/>
          <p:cNvGrpSpPr/>
          <p:nvPr/>
        </p:nvGrpSpPr>
        <p:grpSpPr>
          <a:xfrm rot="0">
            <a:off x="6454998" y="1338344"/>
            <a:ext cx="10824624" cy="2190004"/>
            <a:chOff x="0" y="0"/>
            <a:chExt cx="14432832" cy="2920006"/>
          </a:xfrm>
        </p:grpSpPr>
        <p:sp>
          <p:nvSpPr>
            <p:cNvPr name="Freeform 6" id="6"/>
            <p:cNvSpPr/>
            <p:nvPr/>
          </p:nvSpPr>
          <p:spPr>
            <a:xfrm flipH="false" flipV="false" rot="0">
              <a:off x="0" y="0"/>
              <a:ext cx="14432787" cy="2919984"/>
            </a:xfrm>
            <a:custGeom>
              <a:avLst/>
              <a:gdLst/>
              <a:ahLst/>
              <a:cxnLst/>
              <a:rect r="r" b="b" t="t" l="l"/>
              <a:pathLst>
                <a:path h="2919984" w="14432787">
                  <a:moveTo>
                    <a:pt x="0" y="291973"/>
                  </a:moveTo>
                  <a:cubicBezTo>
                    <a:pt x="0" y="130683"/>
                    <a:pt x="130683" y="0"/>
                    <a:pt x="291973" y="0"/>
                  </a:cubicBezTo>
                  <a:lnTo>
                    <a:pt x="14140814" y="0"/>
                  </a:lnTo>
                  <a:cubicBezTo>
                    <a:pt x="14302104" y="0"/>
                    <a:pt x="14432787" y="130683"/>
                    <a:pt x="14432787" y="291973"/>
                  </a:cubicBezTo>
                  <a:lnTo>
                    <a:pt x="14432787" y="2628011"/>
                  </a:lnTo>
                  <a:cubicBezTo>
                    <a:pt x="14432787" y="2789301"/>
                    <a:pt x="14302104" y="2919984"/>
                    <a:pt x="14140814" y="2919984"/>
                  </a:cubicBezTo>
                  <a:lnTo>
                    <a:pt x="291973" y="2919984"/>
                  </a:lnTo>
                  <a:cubicBezTo>
                    <a:pt x="130683" y="2919984"/>
                    <a:pt x="0" y="2789301"/>
                    <a:pt x="0" y="2628011"/>
                  </a:cubicBezTo>
                  <a:close/>
                </a:path>
              </a:pathLst>
            </a:custGeom>
            <a:solidFill>
              <a:srgbClr val="F2F2F2"/>
            </a:solidFill>
          </p:spPr>
        </p:sp>
      </p:grpSp>
      <p:grpSp>
        <p:nvGrpSpPr>
          <p:cNvPr name="Group 7" id="7"/>
          <p:cNvGrpSpPr/>
          <p:nvPr/>
        </p:nvGrpSpPr>
        <p:grpSpPr>
          <a:xfrm rot="0">
            <a:off x="6862748" y="1367155"/>
            <a:ext cx="1377544" cy="2199530"/>
            <a:chOff x="0" y="0"/>
            <a:chExt cx="1836726" cy="2932706"/>
          </a:xfrm>
        </p:grpSpPr>
        <p:sp>
          <p:nvSpPr>
            <p:cNvPr name="Freeform 8" id="8"/>
            <p:cNvSpPr/>
            <p:nvPr/>
          </p:nvSpPr>
          <p:spPr>
            <a:xfrm flipH="false" flipV="false" rot="0">
              <a:off x="0" y="0"/>
              <a:ext cx="1836726" cy="2932706"/>
            </a:xfrm>
            <a:custGeom>
              <a:avLst/>
              <a:gdLst/>
              <a:ahLst/>
              <a:cxnLst/>
              <a:rect r="r" b="b" t="t" l="l"/>
              <a:pathLst>
                <a:path h="2932706" w="1836726">
                  <a:moveTo>
                    <a:pt x="0" y="0"/>
                  </a:moveTo>
                  <a:lnTo>
                    <a:pt x="1836726" y="0"/>
                  </a:lnTo>
                  <a:lnTo>
                    <a:pt x="1836726" y="2932706"/>
                  </a:lnTo>
                  <a:lnTo>
                    <a:pt x="0" y="2932706"/>
                  </a:lnTo>
                  <a:close/>
                </a:path>
              </a:pathLst>
            </a:custGeom>
            <a:solidFill>
              <a:srgbClr val="000000">
                <a:alpha val="0"/>
              </a:srgbClr>
            </a:solidFill>
          </p:spPr>
        </p:sp>
        <p:sp>
          <p:nvSpPr>
            <p:cNvPr name="TextBox 9" id="9"/>
            <p:cNvSpPr txBox="true"/>
            <p:nvPr/>
          </p:nvSpPr>
          <p:spPr>
            <a:xfrm>
              <a:off x="0" y="9525"/>
              <a:ext cx="1836726" cy="2923181"/>
            </a:xfrm>
            <a:prstGeom prst="rect">
              <a:avLst/>
            </a:prstGeom>
          </p:spPr>
          <p:txBody>
            <a:bodyPr anchor="ctr" rtlCol="false" tIns="0" lIns="0" bIns="0" rIns="0"/>
            <a:lstStyle/>
            <a:p>
              <a:pPr algn="l">
                <a:lnSpc>
                  <a:spcPts val="4050"/>
                </a:lnSpc>
              </a:pPr>
              <a:r>
                <a:rPr lang="en-US" sz="3750">
                  <a:solidFill>
                    <a:srgbClr val="000000"/>
                  </a:solidFill>
                  <a:latin typeface="Arimo"/>
                  <a:ea typeface="Arimo"/>
                  <a:cs typeface="Arimo"/>
                  <a:sym typeface="Arimo"/>
                </a:rPr>
                <a:t>IaaS</a:t>
              </a:r>
            </a:p>
          </p:txBody>
        </p:sp>
      </p:grpSp>
      <p:grpSp>
        <p:nvGrpSpPr>
          <p:cNvPr name="Group 10" id="10"/>
          <p:cNvGrpSpPr/>
          <p:nvPr/>
        </p:nvGrpSpPr>
        <p:grpSpPr>
          <a:xfrm rot="0">
            <a:off x="8649868" y="1333581"/>
            <a:ext cx="8634515" cy="2228933"/>
            <a:chOff x="0" y="0"/>
            <a:chExt cx="11512687" cy="2971911"/>
          </a:xfrm>
        </p:grpSpPr>
        <p:sp>
          <p:nvSpPr>
            <p:cNvPr name="Freeform 11" id="11"/>
            <p:cNvSpPr/>
            <p:nvPr/>
          </p:nvSpPr>
          <p:spPr>
            <a:xfrm flipH="false" flipV="false" rot="0">
              <a:off x="0" y="0"/>
              <a:ext cx="11512687" cy="2971911"/>
            </a:xfrm>
            <a:custGeom>
              <a:avLst/>
              <a:gdLst/>
              <a:ahLst/>
              <a:cxnLst/>
              <a:rect r="r" b="b" t="t" l="l"/>
              <a:pathLst>
                <a:path h="2971911" w="11512687">
                  <a:moveTo>
                    <a:pt x="0" y="0"/>
                  </a:moveTo>
                  <a:lnTo>
                    <a:pt x="11512687" y="0"/>
                  </a:lnTo>
                  <a:lnTo>
                    <a:pt x="11512687" y="2971911"/>
                  </a:lnTo>
                  <a:lnTo>
                    <a:pt x="0" y="2971911"/>
                  </a:lnTo>
                  <a:close/>
                </a:path>
              </a:pathLst>
            </a:custGeom>
            <a:solidFill>
              <a:srgbClr val="000000">
                <a:alpha val="0"/>
              </a:srgbClr>
            </a:solidFill>
          </p:spPr>
        </p:sp>
        <p:sp>
          <p:nvSpPr>
            <p:cNvPr name="TextBox 12" id="12"/>
            <p:cNvSpPr txBox="true"/>
            <p:nvPr/>
          </p:nvSpPr>
          <p:spPr>
            <a:xfrm>
              <a:off x="0" y="19050"/>
              <a:ext cx="11512687" cy="2952861"/>
            </a:xfrm>
            <a:prstGeom prst="rect">
              <a:avLst/>
            </a:prstGeom>
          </p:spPr>
          <p:txBody>
            <a:bodyPr anchor="ctr" rtlCol="false" tIns="0" lIns="0" bIns="0" rIns="0"/>
            <a:lstStyle/>
            <a:p>
              <a:pPr algn="l">
                <a:lnSpc>
                  <a:spcPts val="2754"/>
                </a:lnSpc>
              </a:pPr>
              <a:r>
                <a:rPr lang="en-US" sz="2550">
                  <a:solidFill>
                    <a:srgbClr val="000000"/>
                  </a:solidFill>
                  <a:latin typeface="Arimo"/>
                  <a:ea typeface="Arimo"/>
                  <a:cs typeface="Arimo"/>
                  <a:sym typeface="Arimo"/>
                </a:rPr>
                <a:t>Infraestructura como Servicio</a:t>
              </a:r>
            </a:p>
            <a:p>
              <a:pPr algn="l">
                <a:lnSpc>
                  <a:spcPts val="2754"/>
                </a:lnSpc>
              </a:pPr>
              <a:r>
                <a:rPr lang="en-US" sz="2550">
                  <a:solidFill>
                    <a:srgbClr val="000000"/>
                  </a:solidFill>
                  <a:latin typeface="Arimo"/>
                  <a:ea typeface="Arimo"/>
                  <a:cs typeface="Arimo"/>
                  <a:sym typeface="Arimo"/>
                </a:rPr>
                <a:t>Proporciona recursos de infraestructura, como servidores, almacenamiento y redes, que los usuarios pueden aprovisionar y configurar. El proveedor de la nube gestiona la infraestructura subyacente. </a:t>
              </a:r>
            </a:p>
            <a:p>
              <a:pPr algn="l">
                <a:lnSpc>
                  <a:spcPts val="2754"/>
                </a:lnSpc>
              </a:pPr>
            </a:p>
          </p:txBody>
        </p:sp>
      </p:grpSp>
      <p:grpSp>
        <p:nvGrpSpPr>
          <p:cNvPr name="Group 13" id="13"/>
          <p:cNvGrpSpPr/>
          <p:nvPr/>
        </p:nvGrpSpPr>
        <p:grpSpPr>
          <a:xfrm rot="0">
            <a:off x="6454998" y="4075851"/>
            <a:ext cx="10824624" cy="2190005"/>
            <a:chOff x="0" y="0"/>
            <a:chExt cx="14432832" cy="2920006"/>
          </a:xfrm>
        </p:grpSpPr>
        <p:sp>
          <p:nvSpPr>
            <p:cNvPr name="Freeform 14" id="14"/>
            <p:cNvSpPr/>
            <p:nvPr/>
          </p:nvSpPr>
          <p:spPr>
            <a:xfrm flipH="false" flipV="false" rot="0">
              <a:off x="0" y="0"/>
              <a:ext cx="14432787" cy="2919984"/>
            </a:xfrm>
            <a:custGeom>
              <a:avLst/>
              <a:gdLst/>
              <a:ahLst/>
              <a:cxnLst/>
              <a:rect r="r" b="b" t="t" l="l"/>
              <a:pathLst>
                <a:path h="2919984" w="14432787">
                  <a:moveTo>
                    <a:pt x="0" y="291973"/>
                  </a:moveTo>
                  <a:cubicBezTo>
                    <a:pt x="0" y="130683"/>
                    <a:pt x="130683" y="0"/>
                    <a:pt x="291973" y="0"/>
                  </a:cubicBezTo>
                  <a:lnTo>
                    <a:pt x="14140814" y="0"/>
                  </a:lnTo>
                  <a:cubicBezTo>
                    <a:pt x="14302104" y="0"/>
                    <a:pt x="14432787" y="130683"/>
                    <a:pt x="14432787" y="291973"/>
                  </a:cubicBezTo>
                  <a:lnTo>
                    <a:pt x="14432787" y="2628011"/>
                  </a:lnTo>
                  <a:cubicBezTo>
                    <a:pt x="14432787" y="2789301"/>
                    <a:pt x="14302104" y="2919984"/>
                    <a:pt x="14140814" y="2919984"/>
                  </a:cubicBezTo>
                  <a:lnTo>
                    <a:pt x="291973" y="2919984"/>
                  </a:lnTo>
                  <a:cubicBezTo>
                    <a:pt x="130683" y="2919984"/>
                    <a:pt x="0" y="2789301"/>
                    <a:pt x="0" y="2628011"/>
                  </a:cubicBezTo>
                  <a:close/>
                </a:path>
              </a:pathLst>
            </a:custGeom>
            <a:solidFill>
              <a:srgbClr val="F2F2F2"/>
            </a:solidFill>
          </p:spPr>
        </p:sp>
      </p:grpSp>
      <p:grpSp>
        <p:nvGrpSpPr>
          <p:cNvPr name="Group 15" id="15"/>
          <p:cNvGrpSpPr/>
          <p:nvPr/>
        </p:nvGrpSpPr>
        <p:grpSpPr>
          <a:xfrm rot="0">
            <a:off x="6862748" y="4043735"/>
            <a:ext cx="1700904" cy="2199530"/>
            <a:chOff x="0" y="0"/>
            <a:chExt cx="2267872" cy="2932706"/>
          </a:xfrm>
        </p:grpSpPr>
        <p:sp>
          <p:nvSpPr>
            <p:cNvPr name="Freeform 16" id="16"/>
            <p:cNvSpPr/>
            <p:nvPr/>
          </p:nvSpPr>
          <p:spPr>
            <a:xfrm flipH="false" flipV="false" rot="0">
              <a:off x="0" y="0"/>
              <a:ext cx="2267872" cy="2932706"/>
            </a:xfrm>
            <a:custGeom>
              <a:avLst/>
              <a:gdLst/>
              <a:ahLst/>
              <a:cxnLst/>
              <a:rect r="r" b="b" t="t" l="l"/>
              <a:pathLst>
                <a:path h="2932706" w="2267872">
                  <a:moveTo>
                    <a:pt x="0" y="0"/>
                  </a:moveTo>
                  <a:lnTo>
                    <a:pt x="2267872" y="0"/>
                  </a:lnTo>
                  <a:lnTo>
                    <a:pt x="2267872" y="2932706"/>
                  </a:lnTo>
                  <a:lnTo>
                    <a:pt x="0" y="2932706"/>
                  </a:lnTo>
                  <a:close/>
                </a:path>
              </a:pathLst>
            </a:custGeom>
            <a:solidFill>
              <a:srgbClr val="000000">
                <a:alpha val="0"/>
              </a:srgbClr>
            </a:solidFill>
          </p:spPr>
        </p:sp>
        <p:sp>
          <p:nvSpPr>
            <p:cNvPr name="TextBox 17" id="17"/>
            <p:cNvSpPr txBox="true"/>
            <p:nvPr/>
          </p:nvSpPr>
          <p:spPr>
            <a:xfrm>
              <a:off x="0" y="9525"/>
              <a:ext cx="2267872" cy="2923181"/>
            </a:xfrm>
            <a:prstGeom prst="rect">
              <a:avLst/>
            </a:prstGeom>
          </p:spPr>
          <p:txBody>
            <a:bodyPr anchor="ctr" rtlCol="false" tIns="0" lIns="0" bIns="0" rIns="0"/>
            <a:lstStyle/>
            <a:p>
              <a:pPr algn="l">
                <a:lnSpc>
                  <a:spcPts val="4050"/>
                </a:lnSpc>
              </a:pPr>
              <a:r>
                <a:rPr lang="en-US" sz="3750">
                  <a:solidFill>
                    <a:srgbClr val="000000"/>
                  </a:solidFill>
                  <a:latin typeface="Arimo"/>
                  <a:ea typeface="Arimo"/>
                  <a:cs typeface="Arimo"/>
                  <a:sym typeface="Arimo"/>
                </a:rPr>
                <a:t>PaaS</a:t>
              </a:r>
            </a:p>
          </p:txBody>
        </p:sp>
      </p:grpSp>
      <p:grpSp>
        <p:nvGrpSpPr>
          <p:cNvPr name="Group 18" id="18"/>
          <p:cNvGrpSpPr/>
          <p:nvPr/>
        </p:nvGrpSpPr>
        <p:grpSpPr>
          <a:xfrm rot="0">
            <a:off x="8649868" y="4071088"/>
            <a:ext cx="8634515" cy="2228933"/>
            <a:chOff x="0" y="0"/>
            <a:chExt cx="11512687" cy="2971911"/>
          </a:xfrm>
        </p:grpSpPr>
        <p:sp>
          <p:nvSpPr>
            <p:cNvPr name="Freeform 19" id="19"/>
            <p:cNvSpPr/>
            <p:nvPr/>
          </p:nvSpPr>
          <p:spPr>
            <a:xfrm flipH="false" flipV="false" rot="0">
              <a:off x="0" y="0"/>
              <a:ext cx="11512687" cy="2971911"/>
            </a:xfrm>
            <a:custGeom>
              <a:avLst/>
              <a:gdLst/>
              <a:ahLst/>
              <a:cxnLst/>
              <a:rect r="r" b="b" t="t" l="l"/>
              <a:pathLst>
                <a:path h="2971911" w="11512687">
                  <a:moveTo>
                    <a:pt x="0" y="0"/>
                  </a:moveTo>
                  <a:lnTo>
                    <a:pt x="11512687" y="0"/>
                  </a:lnTo>
                  <a:lnTo>
                    <a:pt x="11512687" y="2971911"/>
                  </a:lnTo>
                  <a:lnTo>
                    <a:pt x="0" y="2971911"/>
                  </a:lnTo>
                  <a:close/>
                </a:path>
              </a:pathLst>
            </a:custGeom>
            <a:solidFill>
              <a:srgbClr val="000000">
                <a:alpha val="0"/>
              </a:srgbClr>
            </a:solidFill>
          </p:spPr>
        </p:sp>
        <p:sp>
          <p:nvSpPr>
            <p:cNvPr name="TextBox 20" id="20"/>
            <p:cNvSpPr txBox="true"/>
            <p:nvPr/>
          </p:nvSpPr>
          <p:spPr>
            <a:xfrm>
              <a:off x="0" y="19050"/>
              <a:ext cx="11512687" cy="2952861"/>
            </a:xfrm>
            <a:prstGeom prst="rect">
              <a:avLst/>
            </a:prstGeom>
          </p:spPr>
          <p:txBody>
            <a:bodyPr anchor="ctr" rtlCol="false" tIns="0" lIns="0" bIns="0" rIns="0"/>
            <a:lstStyle/>
            <a:p>
              <a:pPr algn="l">
                <a:lnSpc>
                  <a:spcPts val="2754"/>
                </a:lnSpc>
              </a:pPr>
              <a:r>
                <a:rPr lang="en-US" sz="2550">
                  <a:solidFill>
                    <a:srgbClr val="000000"/>
                  </a:solidFill>
                  <a:latin typeface="Arimo"/>
                  <a:ea typeface="Arimo"/>
                  <a:cs typeface="Arimo"/>
                  <a:sym typeface="Arimo"/>
                </a:rPr>
                <a:t>Plataforma como Servicio</a:t>
              </a:r>
            </a:p>
            <a:p>
              <a:pPr algn="l">
                <a:lnSpc>
                  <a:spcPts val="2754"/>
                </a:lnSpc>
              </a:pPr>
              <a:r>
                <a:rPr lang="en-US" sz="2550">
                  <a:solidFill>
                    <a:srgbClr val="000000"/>
                  </a:solidFill>
                  <a:latin typeface="Arimo"/>
                  <a:ea typeface="Arimo"/>
                  <a:cs typeface="Arimo"/>
                  <a:sym typeface="Arimo"/>
                </a:rPr>
                <a:t>Ofrece </a:t>
              </a:r>
              <a:r>
                <a:rPr lang="en-US" sz="2550">
                  <a:solidFill>
                    <a:srgbClr val="000000"/>
                  </a:solidFill>
                  <a:latin typeface="Arimo"/>
                  <a:ea typeface="Arimo"/>
                  <a:cs typeface="Arimo"/>
                  <a:sym typeface="Arimo"/>
                </a:rPr>
                <a:t>una plataforma para desarrollar, ejecutar y gestionar aplicaciones, incluyendo herramientas y servicios para el desarrollo. El proveedor de la nube gestiona la infraestructura y la plataforma. </a:t>
              </a:r>
            </a:p>
            <a:p>
              <a:pPr algn="l">
                <a:lnSpc>
                  <a:spcPts val="2754"/>
                </a:lnSpc>
              </a:pPr>
            </a:p>
          </p:txBody>
        </p:sp>
      </p:grpSp>
      <p:grpSp>
        <p:nvGrpSpPr>
          <p:cNvPr name="Group 21" id="21"/>
          <p:cNvGrpSpPr/>
          <p:nvPr/>
        </p:nvGrpSpPr>
        <p:grpSpPr>
          <a:xfrm rot="0">
            <a:off x="6454998" y="6813357"/>
            <a:ext cx="10824624" cy="2190004"/>
            <a:chOff x="0" y="0"/>
            <a:chExt cx="14432832" cy="2920006"/>
          </a:xfrm>
        </p:grpSpPr>
        <p:sp>
          <p:nvSpPr>
            <p:cNvPr name="Freeform 22" id="22"/>
            <p:cNvSpPr/>
            <p:nvPr/>
          </p:nvSpPr>
          <p:spPr>
            <a:xfrm flipH="false" flipV="false" rot="0">
              <a:off x="0" y="0"/>
              <a:ext cx="14432787" cy="2919984"/>
            </a:xfrm>
            <a:custGeom>
              <a:avLst/>
              <a:gdLst/>
              <a:ahLst/>
              <a:cxnLst/>
              <a:rect r="r" b="b" t="t" l="l"/>
              <a:pathLst>
                <a:path h="2919984" w="14432787">
                  <a:moveTo>
                    <a:pt x="0" y="291973"/>
                  </a:moveTo>
                  <a:cubicBezTo>
                    <a:pt x="0" y="130683"/>
                    <a:pt x="130683" y="0"/>
                    <a:pt x="291973" y="0"/>
                  </a:cubicBezTo>
                  <a:lnTo>
                    <a:pt x="14140814" y="0"/>
                  </a:lnTo>
                  <a:cubicBezTo>
                    <a:pt x="14302104" y="0"/>
                    <a:pt x="14432787" y="130683"/>
                    <a:pt x="14432787" y="291973"/>
                  </a:cubicBezTo>
                  <a:lnTo>
                    <a:pt x="14432787" y="2628011"/>
                  </a:lnTo>
                  <a:cubicBezTo>
                    <a:pt x="14432787" y="2789301"/>
                    <a:pt x="14302104" y="2919984"/>
                    <a:pt x="14140814" y="2919984"/>
                  </a:cubicBezTo>
                  <a:lnTo>
                    <a:pt x="291973" y="2919984"/>
                  </a:lnTo>
                  <a:cubicBezTo>
                    <a:pt x="130683" y="2919984"/>
                    <a:pt x="0" y="2789301"/>
                    <a:pt x="0" y="2628011"/>
                  </a:cubicBezTo>
                  <a:close/>
                </a:path>
              </a:pathLst>
            </a:custGeom>
            <a:solidFill>
              <a:srgbClr val="F2F2F2"/>
            </a:solidFill>
          </p:spPr>
        </p:sp>
      </p:grpSp>
      <p:grpSp>
        <p:nvGrpSpPr>
          <p:cNvPr name="Group 23" id="23"/>
          <p:cNvGrpSpPr/>
          <p:nvPr/>
        </p:nvGrpSpPr>
        <p:grpSpPr>
          <a:xfrm rot="0">
            <a:off x="6862748" y="6813357"/>
            <a:ext cx="1700904" cy="2199529"/>
            <a:chOff x="0" y="0"/>
            <a:chExt cx="2267872" cy="2932706"/>
          </a:xfrm>
        </p:grpSpPr>
        <p:sp>
          <p:nvSpPr>
            <p:cNvPr name="Freeform 24" id="24"/>
            <p:cNvSpPr/>
            <p:nvPr/>
          </p:nvSpPr>
          <p:spPr>
            <a:xfrm flipH="false" flipV="false" rot="0">
              <a:off x="0" y="0"/>
              <a:ext cx="2267872" cy="2932706"/>
            </a:xfrm>
            <a:custGeom>
              <a:avLst/>
              <a:gdLst/>
              <a:ahLst/>
              <a:cxnLst/>
              <a:rect r="r" b="b" t="t" l="l"/>
              <a:pathLst>
                <a:path h="2932706" w="2267872">
                  <a:moveTo>
                    <a:pt x="0" y="0"/>
                  </a:moveTo>
                  <a:lnTo>
                    <a:pt x="2267872" y="0"/>
                  </a:lnTo>
                  <a:lnTo>
                    <a:pt x="2267872" y="2932706"/>
                  </a:lnTo>
                  <a:lnTo>
                    <a:pt x="0" y="2932706"/>
                  </a:lnTo>
                  <a:close/>
                </a:path>
              </a:pathLst>
            </a:custGeom>
            <a:solidFill>
              <a:srgbClr val="000000">
                <a:alpha val="0"/>
              </a:srgbClr>
            </a:solidFill>
          </p:spPr>
        </p:sp>
        <p:sp>
          <p:nvSpPr>
            <p:cNvPr name="TextBox 25" id="25"/>
            <p:cNvSpPr txBox="true"/>
            <p:nvPr/>
          </p:nvSpPr>
          <p:spPr>
            <a:xfrm>
              <a:off x="0" y="9525"/>
              <a:ext cx="2267872" cy="2923181"/>
            </a:xfrm>
            <a:prstGeom prst="rect">
              <a:avLst/>
            </a:prstGeom>
          </p:spPr>
          <p:txBody>
            <a:bodyPr anchor="ctr" rtlCol="false" tIns="0" lIns="0" bIns="0" rIns="0"/>
            <a:lstStyle/>
            <a:p>
              <a:pPr algn="l">
                <a:lnSpc>
                  <a:spcPts val="4050"/>
                </a:lnSpc>
              </a:pPr>
              <a:r>
                <a:rPr lang="en-US" sz="3750">
                  <a:solidFill>
                    <a:srgbClr val="000000"/>
                  </a:solidFill>
                  <a:latin typeface="Arimo"/>
                  <a:ea typeface="Arimo"/>
                  <a:cs typeface="Arimo"/>
                  <a:sym typeface="Arimo"/>
                </a:rPr>
                <a:t>SaaS</a:t>
              </a:r>
            </a:p>
          </p:txBody>
        </p:sp>
      </p:grpSp>
      <p:grpSp>
        <p:nvGrpSpPr>
          <p:cNvPr name="Group 26" id="26"/>
          <p:cNvGrpSpPr/>
          <p:nvPr/>
        </p:nvGrpSpPr>
        <p:grpSpPr>
          <a:xfrm rot="0">
            <a:off x="8649868" y="6808594"/>
            <a:ext cx="8634515" cy="2228933"/>
            <a:chOff x="0" y="0"/>
            <a:chExt cx="11512687" cy="2971911"/>
          </a:xfrm>
        </p:grpSpPr>
        <p:sp>
          <p:nvSpPr>
            <p:cNvPr name="Freeform 27" id="27"/>
            <p:cNvSpPr/>
            <p:nvPr/>
          </p:nvSpPr>
          <p:spPr>
            <a:xfrm flipH="false" flipV="false" rot="0">
              <a:off x="0" y="0"/>
              <a:ext cx="11512687" cy="2971911"/>
            </a:xfrm>
            <a:custGeom>
              <a:avLst/>
              <a:gdLst/>
              <a:ahLst/>
              <a:cxnLst/>
              <a:rect r="r" b="b" t="t" l="l"/>
              <a:pathLst>
                <a:path h="2971911" w="11512687">
                  <a:moveTo>
                    <a:pt x="0" y="0"/>
                  </a:moveTo>
                  <a:lnTo>
                    <a:pt x="11512687" y="0"/>
                  </a:lnTo>
                  <a:lnTo>
                    <a:pt x="11512687" y="2971911"/>
                  </a:lnTo>
                  <a:lnTo>
                    <a:pt x="0" y="2971911"/>
                  </a:lnTo>
                  <a:close/>
                </a:path>
              </a:pathLst>
            </a:custGeom>
            <a:solidFill>
              <a:srgbClr val="000000">
                <a:alpha val="0"/>
              </a:srgbClr>
            </a:solidFill>
          </p:spPr>
        </p:sp>
        <p:sp>
          <p:nvSpPr>
            <p:cNvPr name="TextBox 28" id="28"/>
            <p:cNvSpPr txBox="true"/>
            <p:nvPr/>
          </p:nvSpPr>
          <p:spPr>
            <a:xfrm>
              <a:off x="0" y="19050"/>
              <a:ext cx="11512687" cy="2952861"/>
            </a:xfrm>
            <a:prstGeom prst="rect">
              <a:avLst/>
            </a:prstGeom>
          </p:spPr>
          <p:txBody>
            <a:bodyPr anchor="ctr" rtlCol="false" tIns="0" lIns="0" bIns="0" rIns="0"/>
            <a:lstStyle/>
            <a:p>
              <a:pPr algn="l">
                <a:lnSpc>
                  <a:spcPts val="2754"/>
                </a:lnSpc>
              </a:pPr>
              <a:r>
                <a:rPr lang="en-US" sz="2550">
                  <a:solidFill>
                    <a:srgbClr val="000000"/>
                  </a:solidFill>
                  <a:latin typeface="Arimo"/>
                  <a:ea typeface="Arimo"/>
                  <a:cs typeface="Arimo"/>
                  <a:sym typeface="Arimo"/>
                </a:rPr>
                <a:t>Software como Servicio</a:t>
              </a:r>
            </a:p>
            <a:p>
              <a:pPr algn="l">
                <a:lnSpc>
                  <a:spcPts val="2754"/>
                </a:lnSpc>
              </a:pPr>
              <a:r>
                <a:rPr lang="en-US" sz="2550">
                  <a:solidFill>
                    <a:srgbClr val="000000"/>
                  </a:solidFill>
                  <a:latin typeface="Arimo"/>
                  <a:ea typeface="Arimo"/>
                  <a:cs typeface="Arimo"/>
                  <a:sym typeface="Arimo"/>
                </a:rPr>
                <a:t>Ofrece aplicaciones de software a través de la nube, a las que los usuarios pueden acceder desde cualquier dispositivo con conexión a Internet. El proveedor de la nube gestiona la infraestructura, la plataforma y la aplicación</a:t>
              </a:r>
            </a:p>
            <a:p>
              <a:pPr algn="l">
                <a:lnSpc>
                  <a:spcPts val="2754"/>
                </a:lnSpc>
              </a:pPr>
            </a:p>
          </p:txBody>
        </p:sp>
      </p:grpSp>
      <p:sp>
        <p:nvSpPr>
          <p:cNvPr name="TextBox 29" id="29"/>
          <p:cNvSpPr txBox="true"/>
          <p:nvPr/>
        </p:nvSpPr>
        <p:spPr>
          <a:xfrm rot="0">
            <a:off x="590322" y="5463490"/>
            <a:ext cx="5640577" cy="3539871"/>
          </a:xfrm>
          <a:prstGeom prst="rect">
            <a:avLst/>
          </a:prstGeom>
        </p:spPr>
        <p:txBody>
          <a:bodyPr anchor="t" rtlCol="false" tIns="0" lIns="0" bIns="0" rIns="0">
            <a:spAutoFit/>
          </a:bodyPr>
          <a:lstStyle/>
          <a:p>
            <a:pPr algn="just">
              <a:lnSpc>
                <a:spcPts val="3132"/>
              </a:lnSpc>
              <a:spcBef>
                <a:spcPct val="0"/>
              </a:spcBef>
            </a:pPr>
            <a:r>
              <a:rPr lang="en-US" sz="2900">
                <a:solidFill>
                  <a:srgbClr val="131416"/>
                </a:solidFill>
                <a:latin typeface="Arimo"/>
                <a:ea typeface="Arimo"/>
                <a:cs typeface="Arimo"/>
                <a:sym typeface="Arimo"/>
              </a:rPr>
              <a:t>Los modelos en la nube, o modelos de servicio en la nube, son la forma en que se ofrecen los servicios informáticos a través de Internet. Los principales modelos son: Infraestructura como Servicio (IaaS), Plataforma como Servicio (PaaS) y Software como Servicio (SaaS). </a:t>
            </a:r>
          </a:p>
        </p:txBody>
      </p:sp>
    </p:spTree>
  </p:cSld>
  <p:clrMapOvr>
    <a:masterClrMapping/>
  </p:clrMapOvr>
</p:sld>
</file>

<file path=ppt/slides/slide4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60000">
            <a:off x="-86273" y="-162535"/>
            <a:ext cx="18890377" cy="10849050"/>
            <a:chOff x="0" y="0"/>
            <a:chExt cx="24619664" cy="14139472"/>
          </a:xfrm>
        </p:grpSpPr>
        <p:sp>
          <p:nvSpPr>
            <p:cNvPr name="Freeform 3" id="3"/>
            <p:cNvSpPr/>
            <p:nvPr/>
          </p:nvSpPr>
          <p:spPr>
            <a:xfrm flipH="false" flipV="false" rot="0">
              <a:off x="0" y="0"/>
              <a:ext cx="24619713" cy="14139545"/>
            </a:xfrm>
            <a:custGeom>
              <a:avLst/>
              <a:gdLst/>
              <a:ahLst/>
              <a:cxnLst/>
              <a:rect r="r" b="b" t="t" l="l"/>
              <a:pathLst>
                <a:path h="14139545" w="24619713">
                  <a:moveTo>
                    <a:pt x="239395" y="0"/>
                  </a:moveTo>
                  <a:lnTo>
                    <a:pt x="24619713" y="425577"/>
                  </a:lnTo>
                  <a:lnTo>
                    <a:pt x="24380318" y="14139545"/>
                  </a:lnTo>
                  <a:lnTo>
                    <a:pt x="0" y="13713968"/>
                  </a:lnTo>
                  <a:close/>
                </a:path>
              </a:pathLst>
            </a:custGeom>
            <a:gradFill rotWithShape="true">
              <a:gsLst>
                <a:gs pos="32000">
                  <a:srgbClr val="E3E8E2">
                    <a:alpha val="100000"/>
                  </a:srgbClr>
                </a:gs>
                <a:gs pos="100000">
                  <a:srgbClr val="DE6BEF">
                    <a:alpha val="100000"/>
                  </a:srgbClr>
                </a:gs>
              </a:gsLst>
              <a:lin ang="14460000"/>
            </a:gradFill>
          </p:spPr>
        </p:sp>
      </p:grpSp>
      <p:grpSp>
        <p:nvGrpSpPr>
          <p:cNvPr name="Group 4" id="4"/>
          <p:cNvGrpSpPr/>
          <p:nvPr/>
        </p:nvGrpSpPr>
        <p:grpSpPr>
          <a:xfrm rot="0">
            <a:off x="331292" y="2003806"/>
            <a:ext cx="6314657" cy="4106062"/>
            <a:chOff x="0" y="0"/>
            <a:chExt cx="8419543" cy="5474750"/>
          </a:xfrm>
        </p:grpSpPr>
        <p:sp>
          <p:nvSpPr>
            <p:cNvPr name="Freeform 5" id="5"/>
            <p:cNvSpPr/>
            <p:nvPr/>
          </p:nvSpPr>
          <p:spPr>
            <a:xfrm flipH="false" flipV="false" rot="0">
              <a:off x="0" y="0"/>
              <a:ext cx="8419543" cy="5474750"/>
            </a:xfrm>
            <a:custGeom>
              <a:avLst/>
              <a:gdLst/>
              <a:ahLst/>
              <a:cxnLst/>
              <a:rect r="r" b="b" t="t" l="l"/>
              <a:pathLst>
                <a:path h="5474750" w="8419543">
                  <a:moveTo>
                    <a:pt x="0" y="0"/>
                  </a:moveTo>
                  <a:lnTo>
                    <a:pt x="8419543" y="0"/>
                  </a:lnTo>
                  <a:lnTo>
                    <a:pt x="8419543" y="5474750"/>
                  </a:lnTo>
                  <a:lnTo>
                    <a:pt x="0" y="5474750"/>
                  </a:lnTo>
                  <a:close/>
                </a:path>
              </a:pathLst>
            </a:custGeom>
            <a:gradFill rotWithShape="true">
              <a:gsLst>
                <a:gs pos="39000">
                  <a:srgbClr val="F0F3F3">
                    <a:alpha val="0"/>
                  </a:srgbClr>
                </a:gs>
                <a:gs pos="100000">
                  <a:srgbClr val="F18F7F">
                    <a:alpha val="0"/>
                  </a:srgbClr>
                </a:gs>
              </a:gsLst>
              <a:lin ang="1200000"/>
            </a:gradFill>
            <a:ln cap="sq">
              <a:noFill/>
              <a:prstDash val="solid"/>
              <a:miter/>
            </a:ln>
          </p:spPr>
        </p:sp>
        <p:sp>
          <p:nvSpPr>
            <p:cNvPr name="TextBox 6" id="6"/>
            <p:cNvSpPr txBox="true"/>
            <p:nvPr/>
          </p:nvSpPr>
          <p:spPr>
            <a:xfrm>
              <a:off x="0" y="28575"/>
              <a:ext cx="8419543" cy="5446175"/>
            </a:xfrm>
            <a:prstGeom prst="rect">
              <a:avLst/>
            </a:prstGeom>
          </p:spPr>
          <p:txBody>
            <a:bodyPr anchor="ctr" rtlCol="false" tIns="0" lIns="0" bIns="0" rIns="0"/>
            <a:lstStyle/>
            <a:p>
              <a:pPr algn="ctr" marL="0" indent="0" lvl="0">
                <a:lnSpc>
                  <a:spcPts val="11499"/>
                </a:lnSpc>
                <a:spcBef>
                  <a:spcPct val="0"/>
                </a:spcBef>
              </a:pPr>
              <a:r>
                <a:rPr lang="en-US" sz="9999">
                  <a:solidFill>
                    <a:srgbClr val="131416"/>
                  </a:solidFill>
                  <a:latin typeface="Playlist Script"/>
                  <a:ea typeface="Playlist Script"/>
                  <a:cs typeface="Playlist Script"/>
                  <a:sym typeface="Playlist Script"/>
                </a:rPr>
                <a:t>Servicios en la nube</a:t>
              </a:r>
            </a:p>
          </p:txBody>
        </p:sp>
      </p:grpSp>
      <p:grpSp>
        <p:nvGrpSpPr>
          <p:cNvPr name="Group 7" id="7"/>
          <p:cNvGrpSpPr/>
          <p:nvPr/>
        </p:nvGrpSpPr>
        <p:grpSpPr>
          <a:xfrm rot="0">
            <a:off x="7006417" y="2074966"/>
            <a:ext cx="9182745" cy="19050"/>
            <a:chOff x="0" y="0"/>
            <a:chExt cx="12243660" cy="25400"/>
          </a:xfrm>
        </p:grpSpPr>
        <p:sp>
          <p:nvSpPr>
            <p:cNvPr name="Freeform 8" id="8"/>
            <p:cNvSpPr/>
            <p:nvPr/>
          </p:nvSpPr>
          <p:spPr>
            <a:xfrm flipH="false" flipV="false" rot="0">
              <a:off x="12700" y="12700"/>
              <a:ext cx="12218289" cy="0"/>
            </a:xfrm>
            <a:custGeom>
              <a:avLst/>
              <a:gdLst/>
              <a:ahLst/>
              <a:cxnLst/>
              <a:rect r="r" b="b" t="t" l="l"/>
              <a:pathLst>
                <a:path h="0" w="12218289">
                  <a:moveTo>
                    <a:pt x="0" y="0"/>
                  </a:moveTo>
                  <a:lnTo>
                    <a:pt x="12218289" y="0"/>
                  </a:lnTo>
                </a:path>
              </a:pathLst>
            </a:custGeom>
            <a:solidFill>
              <a:srgbClr val="7F29E7"/>
            </a:solidFill>
          </p:spPr>
        </p:sp>
        <p:sp>
          <p:nvSpPr>
            <p:cNvPr name="Freeform 9" id="9"/>
            <p:cNvSpPr/>
            <p:nvPr/>
          </p:nvSpPr>
          <p:spPr>
            <a:xfrm flipH="false" flipV="false" rot="0">
              <a:off x="12700" y="0"/>
              <a:ext cx="12218289" cy="25400"/>
            </a:xfrm>
            <a:custGeom>
              <a:avLst/>
              <a:gdLst/>
              <a:ahLst/>
              <a:cxnLst/>
              <a:rect r="r" b="b" t="t" l="l"/>
              <a:pathLst>
                <a:path h="25400" w="12218289">
                  <a:moveTo>
                    <a:pt x="0" y="0"/>
                  </a:moveTo>
                  <a:lnTo>
                    <a:pt x="12218289" y="0"/>
                  </a:lnTo>
                  <a:lnTo>
                    <a:pt x="12218289" y="25400"/>
                  </a:lnTo>
                  <a:lnTo>
                    <a:pt x="0" y="25400"/>
                  </a:lnTo>
                  <a:close/>
                </a:path>
              </a:pathLst>
            </a:custGeom>
            <a:solidFill>
              <a:srgbClr val="7F29E7"/>
            </a:solidFill>
          </p:spPr>
        </p:sp>
      </p:grpSp>
      <p:grpSp>
        <p:nvGrpSpPr>
          <p:cNvPr name="Group 10" id="10"/>
          <p:cNvGrpSpPr/>
          <p:nvPr/>
        </p:nvGrpSpPr>
        <p:grpSpPr>
          <a:xfrm rot="0">
            <a:off x="7006417" y="8802876"/>
            <a:ext cx="9182745" cy="19050"/>
            <a:chOff x="0" y="0"/>
            <a:chExt cx="12243660" cy="25400"/>
          </a:xfrm>
        </p:grpSpPr>
        <p:sp>
          <p:nvSpPr>
            <p:cNvPr name="Freeform 11" id="11"/>
            <p:cNvSpPr/>
            <p:nvPr/>
          </p:nvSpPr>
          <p:spPr>
            <a:xfrm flipH="false" flipV="false" rot="0">
              <a:off x="12700" y="12700"/>
              <a:ext cx="12218289" cy="0"/>
            </a:xfrm>
            <a:custGeom>
              <a:avLst/>
              <a:gdLst/>
              <a:ahLst/>
              <a:cxnLst/>
              <a:rect r="r" b="b" t="t" l="l"/>
              <a:pathLst>
                <a:path h="0" w="12218289">
                  <a:moveTo>
                    <a:pt x="0" y="0"/>
                  </a:moveTo>
                  <a:lnTo>
                    <a:pt x="12218289" y="0"/>
                  </a:lnTo>
                </a:path>
              </a:pathLst>
            </a:custGeom>
            <a:solidFill>
              <a:srgbClr val="14B89B"/>
            </a:solidFill>
          </p:spPr>
        </p:sp>
        <p:sp>
          <p:nvSpPr>
            <p:cNvPr name="Freeform 12" id="12"/>
            <p:cNvSpPr/>
            <p:nvPr/>
          </p:nvSpPr>
          <p:spPr>
            <a:xfrm flipH="false" flipV="false" rot="0">
              <a:off x="12700" y="0"/>
              <a:ext cx="12218289" cy="25400"/>
            </a:xfrm>
            <a:custGeom>
              <a:avLst/>
              <a:gdLst/>
              <a:ahLst/>
              <a:cxnLst/>
              <a:rect r="r" b="b" t="t" l="l"/>
              <a:pathLst>
                <a:path h="25400" w="12218289">
                  <a:moveTo>
                    <a:pt x="0" y="0"/>
                  </a:moveTo>
                  <a:lnTo>
                    <a:pt x="12218289" y="0"/>
                  </a:lnTo>
                  <a:lnTo>
                    <a:pt x="12218289" y="25400"/>
                  </a:lnTo>
                  <a:lnTo>
                    <a:pt x="0" y="25400"/>
                  </a:lnTo>
                  <a:close/>
                </a:path>
              </a:pathLst>
            </a:custGeom>
            <a:solidFill>
              <a:srgbClr val="14B89B"/>
            </a:solidFill>
          </p:spPr>
        </p:sp>
      </p:grpSp>
      <p:grpSp>
        <p:nvGrpSpPr>
          <p:cNvPr name="Group 13" id="13"/>
          <p:cNvGrpSpPr/>
          <p:nvPr/>
        </p:nvGrpSpPr>
        <p:grpSpPr>
          <a:xfrm rot="0">
            <a:off x="7015942" y="2313502"/>
            <a:ext cx="9173220" cy="6321736"/>
            <a:chOff x="0" y="0"/>
            <a:chExt cx="12230960" cy="8428981"/>
          </a:xfrm>
        </p:grpSpPr>
        <p:sp>
          <p:nvSpPr>
            <p:cNvPr name="Freeform 14" id="14"/>
            <p:cNvSpPr/>
            <p:nvPr/>
          </p:nvSpPr>
          <p:spPr>
            <a:xfrm flipH="false" flipV="false" rot="0">
              <a:off x="0" y="0"/>
              <a:ext cx="12230960" cy="8428981"/>
            </a:xfrm>
            <a:custGeom>
              <a:avLst/>
              <a:gdLst/>
              <a:ahLst/>
              <a:cxnLst/>
              <a:rect r="r" b="b" t="t" l="l"/>
              <a:pathLst>
                <a:path h="8428981" w="12230960">
                  <a:moveTo>
                    <a:pt x="0" y="0"/>
                  </a:moveTo>
                  <a:lnTo>
                    <a:pt x="12230960" y="0"/>
                  </a:lnTo>
                  <a:lnTo>
                    <a:pt x="12230960" y="8428981"/>
                  </a:lnTo>
                  <a:lnTo>
                    <a:pt x="0" y="8428981"/>
                  </a:lnTo>
                  <a:close/>
                </a:path>
              </a:pathLst>
            </a:custGeom>
            <a:solidFill>
              <a:srgbClr val="000000">
                <a:alpha val="0"/>
              </a:srgbClr>
            </a:solidFill>
          </p:spPr>
        </p:sp>
        <p:sp>
          <p:nvSpPr>
            <p:cNvPr name="TextBox 15" id="15"/>
            <p:cNvSpPr txBox="true"/>
            <p:nvPr/>
          </p:nvSpPr>
          <p:spPr>
            <a:xfrm>
              <a:off x="0" y="19050"/>
              <a:ext cx="12230960" cy="8409931"/>
            </a:xfrm>
            <a:prstGeom prst="rect">
              <a:avLst/>
            </a:prstGeom>
          </p:spPr>
          <p:txBody>
            <a:bodyPr anchor="t" rtlCol="false" tIns="0" lIns="0" bIns="0" rIns="0"/>
            <a:lstStyle/>
            <a:p>
              <a:pPr algn="just">
                <a:lnSpc>
                  <a:spcPts val="4266"/>
                </a:lnSpc>
              </a:pPr>
              <a:r>
                <a:rPr lang="en-US" sz="3950">
                  <a:solidFill>
                    <a:srgbClr val="000000"/>
                  </a:solidFill>
                  <a:latin typeface="Arimo"/>
                  <a:ea typeface="Arimo"/>
                  <a:cs typeface="Arimo"/>
                  <a:sym typeface="Arimo"/>
                </a:rPr>
                <a:t>Los servicios en la nube, también conocidos como "cloud services" o "cloud computing", son recursos informáticos que se ofrecen a través de internet, gestionados por proveedores externos. Permiten a las empresas y usuarios acceder a infraestructuras, plataformas y software de manera flexible y a demanda, sin necesidad de invertir en hardware o gestionar complejos sistemas de TI. </a:t>
              </a:r>
            </a:p>
          </p:txBody>
        </p:sp>
      </p:grpSp>
    </p:spTree>
  </p:cSld>
  <p:clrMapOvr>
    <a:masterClrMapping/>
  </p:clrMapOvr>
</p:sld>
</file>

<file path=ppt/slides/slide4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247854">
            <a:off x="1010637" y="1517926"/>
            <a:ext cx="1586715" cy="0"/>
          </a:xfrm>
          <a:prstGeom prst="line">
            <a:avLst/>
          </a:prstGeom>
          <a:ln cap="rnd" w="57150">
            <a:solidFill>
              <a:srgbClr val="4D64C3"/>
            </a:solidFill>
            <a:prstDash val="solid"/>
            <a:headEnd type="none" len="sm" w="sm"/>
            <a:tailEnd type="none" len="sm" w="sm"/>
          </a:ln>
        </p:spPr>
      </p:sp>
      <p:sp>
        <p:nvSpPr>
          <p:cNvPr name="TextBox 3" id="3"/>
          <p:cNvSpPr txBox="true"/>
          <p:nvPr/>
        </p:nvSpPr>
        <p:spPr>
          <a:xfrm rot="0">
            <a:off x="1051560" y="2131695"/>
            <a:ext cx="5334000" cy="2949575"/>
          </a:xfrm>
          <a:prstGeom prst="rect">
            <a:avLst/>
          </a:prstGeom>
        </p:spPr>
        <p:txBody>
          <a:bodyPr anchor="t" rtlCol="false" tIns="0" lIns="0" bIns="0" rIns="0">
            <a:spAutoFit/>
          </a:bodyPr>
          <a:lstStyle/>
          <a:p>
            <a:pPr algn="ctr" marL="0" indent="0" lvl="0">
              <a:lnSpc>
                <a:spcPts val="11499"/>
              </a:lnSpc>
              <a:spcBef>
                <a:spcPct val="0"/>
              </a:spcBef>
            </a:pPr>
            <a:r>
              <a:rPr lang="en-US" sz="9999" strike="noStrike" u="none">
                <a:solidFill>
                  <a:srgbClr val="131416"/>
                </a:solidFill>
                <a:latin typeface="Playlist Script"/>
                <a:ea typeface="Playlist Script"/>
                <a:cs typeface="Playlist Script"/>
                <a:sym typeface="Playlist Script"/>
              </a:rPr>
              <a:t>Servicios en la nube</a:t>
            </a:r>
          </a:p>
        </p:txBody>
      </p:sp>
      <p:sp>
        <p:nvSpPr>
          <p:cNvPr name="AutoShape 4" id="4"/>
          <p:cNvSpPr/>
          <p:nvPr/>
        </p:nvSpPr>
        <p:spPr>
          <a:xfrm rot="247854">
            <a:off x="1010637" y="1517926"/>
            <a:ext cx="1586715" cy="0"/>
          </a:xfrm>
          <a:prstGeom prst="line">
            <a:avLst/>
          </a:prstGeom>
          <a:ln cap="rnd" w="57150">
            <a:solidFill>
              <a:srgbClr val="4D64C3"/>
            </a:solidFill>
            <a:prstDash val="solid"/>
            <a:headEnd type="none" len="sm" w="sm"/>
            <a:tailEnd type="none" len="sm" w="sm"/>
          </a:ln>
        </p:spPr>
      </p:sp>
      <p:grpSp>
        <p:nvGrpSpPr>
          <p:cNvPr name="Group 5" id="5"/>
          <p:cNvGrpSpPr/>
          <p:nvPr/>
        </p:nvGrpSpPr>
        <p:grpSpPr>
          <a:xfrm rot="0">
            <a:off x="7521215" y="1717177"/>
            <a:ext cx="9738085" cy="1208568"/>
            <a:chOff x="0" y="0"/>
            <a:chExt cx="12984114" cy="1611424"/>
          </a:xfrm>
        </p:grpSpPr>
        <p:sp>
          <p:nvSpPr>
            <p:cNvPr name="Freeform 6" id="6"/>
            <p:cNvSpPr/>
            <p:nvPr/>
          </p:nvSpPr>
          <p:spPr>
            <a:xfrm flipH="false" flipV="false" rot="0">
              <a:off x="12700" y="12700"/>
              <a:ext cx="12958699" cy="1585976"/>
            </a:xfrm>
            <a:custGeom>
              <a:avLst/>
              <a:gdLst/>
              <a:ahLst/>
              <a:cxnLst/>
              <a:rect r="r" b="b" t="t" l="l"/>
              <a:pathLst>
                <a:path h="1585976" w="12958699">
                  <a:moveTo>
                    <a:pt x="0" y="0"/>
                  </a:moveTo>
                  <a:lnTo>
                    <a:pt x="12958699" y="0"/>
                  </a:lnTo>
                  <a:lnTo>
                    <a:pt x="12958699" y="1585976"/>
                  </a:lnTo>
                  <a:lnTo>
                    <a:pt x="0" y="1585976"/>
                  </a:lnTo>
                  <a:close/>
                </a:path>
              </a:pathLst>
            </a:custGeom>
            <a:solidFill>
              <a:srgbClr val="FFFFFF">
                <a:alpha val="80784"/>
              </a:srgbClr>
            </a:solidFill>
          </p:spPr>
        </p:sp>
        <p:sp>
          <p:nvSpPr>
            <p:cNvPr name="Freeform 7" id="7"/>
            <p:cNvSpPr/>
            <p:nvPr/>
          </p:nvSpPr>
          <p:spPr>
            <a:xfrm flipH="false" flipV="false" rot="0">
              <a:off x="0" y="0"/>
              <a:ext cx="12984099" cy="1611376"/>
            </a:xfrm>
            <a:custGeom>
              <a:avLst/>
              <a:gdLst/>
              <a:ahLst/>
              <a:cxnLst/>
              <a:rect r="r" b="b" t="t" l="l"/>
              <a:pathLst>
                <a:path h="1611376" w="12984099">
                  <a:moveTo>
                    <a:pt x="12700" y="0"/>
                  </a:moveTo>
                  <a:lnTo>
                    <a:pt x="12971399" y="0"/>
                  </a:lnTo>
                  <a:cubicBezTo>
                    <a:pt x="12978384" y="0"/>
                    <a:pt x="12984099" y="5715"/>
                    <a:pt x="12984099" y="12700"/>
                  </a:cubicBezTo>
                  <a:lnTo>
                    <a:pt x="12984099" y="1598676"/>
                  </a:lnTo>
                  <a:cubicBezTo>
                    <a:pt x="12984099" y="1605661"/>
                    <a:pt x="12978384" y="1611376"/>
                    <a:pt x="12971399" y="1611376"/>
                  </a:cubicBezTo>
                  <a:lnTo>
                    <a:pt x="12700" y="1611376"/>
                  </a:lnTo>
                  <a:cubicBezTo>
                    <a:pt x="5715" y="1611376"/>
                    <a:pt x="0" y="1605661"/>
                    <a:pt x="0" y="1598676"/>
                  </a:cubicBezTo>
                  <a:lnTo>
                    <a:pt x="0" y="12700"/>
                  </a:lnTo>
                  <a:cubicBezTo>
                    <a:pt x="0" y="5715"/>
                    <a:pt x="5715" y="0"/>
                    <a:pt x="12700" y="0"/>
                  </a:cubicBezTo>
                  <a:moveTo>
                    <a:pt x="12700" y="25400"/>
                  </a:moveTo>
                  <a:lnTo>
                    <a:pt x="12700" y="12700"/>
                  </a:lnTo>
                  <a:lnTo>
                    <a:pt x="25400" y="12700"/>
                  </a:lnTo>
                  <a:lnTo>
                    <a:pt x="25400" y="1598676"/>
                  </a:lnTo>
                  <a:lnTo>
                    <a:pt x="12700" y="1598676"/>
                  </a:lnTo>
                  <a:lnTo>
                    <a:pt x="12700" y="1585976"/>
                  </a:lnTo>
                  <a:lnTo>
                    <a:pt x="12971399" y="1585976"/>
                  </a:lnTo>
                  <a:lnTo>
                    <a:pt x="12971399" y="1598676"/>
                  </a:lnTo>
                  <a:lnTo>
                    <a:pt x="12958699" y="1598676"/>
                  </a:lnTo>
                  <a:lnTo>
                    <a:pt x="12958699" y="12700"/>
                  </a:lnTo>
                  <a:lnTo>
                    <a:pt x="12971399" y="12700"/>
                  </a:lnTo>
                  <a:lnTo>
                    <a:pt x="12971399" y="25400"/>
                  </a:lnTo>
                  <a:lnTo>
                    <a:pt x="12700" y="25400"/>
                  </a:lnTo>
                  <a:close/>
                </a:path>
              </a:pathLst>
            </a:custGeom>
            <a:solidFill>
              <a:srgbClr val="553BB1"/>
            </a:solidFill>
          </p:spPr>
        </p:sp>
      </p:grpSp>
      <p:sp>
        <p:nvSpPr>
          <p:cNvPr name="TextBox 8" id="8"/>
          <p:cNvSpPr txBox="true"/>
          <p:nvPr/>
        </p:nvSpPr>
        <p:spPr>
          <a:xfrm rot="0">
            <a:off x="8024085" y="2131959"/>
            <a:ext cx="8732346" cy="805434"/>
          </a:xfrm>
          <a:prstGeom prst="rect">
            <a:avLst/>
          </a:prstGeom>
        </p:spPr>
        <p:txBody>
          <a:bodyPr anchor="t" rtlCol="false" tIns="0" lIns="0" bIns="0" rIns="0">
            <a:spAutoFit/>
          </a:bodyPr>
          <a:lstStyle/>
          <a:p>
            <a:pPr algn="l" marL="515779" indent="-171926" lvl="2">
              <a:lnSpc>
                <a:spcPts val="3078"/>
              </a:lnSpc>
              <a:buFont typeface="Arial"/>
              <a:buChar char="⚬"/>
            </a:pPr>
            <a:r>
              <a:rPr lang="en-US" sz="2850">
                <a:solidFill>
                  <a:srgbClr val="000000"/>
                </a:solidFill>
                <a:latin typeface="Arimo"/>
                <a:ea typeface="Arimo"/>
                <a:cs typeface="Arimo"/>
                <a:sym typeface="Arimo"/>
              </a:rPr>
              <a:t>Proporciona acc</a:t>
            </a:r>
            <a:r>
              <a:rPr lang="en-US" sz="2850">
                <a:solidFill>
                  <a:srgbClr val="000000"/>
                </a:solidFill>
                <a:latin typeface="Arimo"/>
                <a:ea typeface="Arimo"/>
                <a:cs typeface="Arimo"/>
                <a:sym typeface="Arimo"/>
              </a:rPr>
              <a:t>eso a recursos de infraestructura virtual como servidores, almacenamiento y redes. </a:t>
            </a:r>
          </a:p>
        </p:txBody>
      </p:sp>
      <p:grpSp>
        <p:nvGrpSpPr>
          <p:cNvPr name="Group 9" id="9"/>
          <p:cNvGrpSpPr/>
          <p:nvPr/>
        </p:nvGrpSpPr>
        <p:grpSpPr>
          <a:xfrm rot="0">
            <a:off x="8007165" y="1296517"/>
            <a:ext cx="6822373" cy="860370"/>
            <a:chOff x="0" y="0"/>
            <a:chExt cx="9096498" cy="1147160"/>
          </a:xfrm>
        </p:grpSpPr>
        <p:sp>
          <p:nvSpPr>
            <p:cNvPr name="Freeform 10" id="10"/>
            <p:cNvSpPr/>
            <p:nvPr/>
          </p:nvSpPr>
          <p:spPr>
            <a:xfrm flipH="false" flipV="false" rot="0">
              <a:off x="12700" y="12700"/>
              <a:ext cx="9071102" cy="1121791"/>
            </a:xfrm>
            <a:custGeom>
              <a:avLst/>
              <a:gdLst/>
              <a:ahLst/>
              <a:cxnLst/>
              <a:rect r="r" b="b" t="t" l="l"/>
              <a:pathLst>
                <a:path h="1121791" w="9071102">
                  <a:moveTo>
                    <a:pt x="0" y="186944"/>
                  </a:moveTo>
                  <a:cubicBezTo>
                    <a:pt x="0" y="83693"/>
                    <a:pt x="85344" y="0"/>
                    <a:pt x="190627" y="0"/>
                  </a:cubicBezTo>
                  <a:lnTo>
                    <a:pt x="8880475" y="0"/>
                  </a:lnTo>
                  <a:cubicBezTo>
                    <a:pt x="8985758" y="0"/>
                    <a:pt x="9071102" y="83693"/>
                    <a:pt x="9071102" y="186944"/>
                  </a:cubicBezTo>
                  <a:lnTo>
                    <a:pt x="9071102" y="934847"/>
                  </a:lnTo>
                  <a:cubicBezTo>
                    <a:pt x="9071102" y="1038098"/>
                    <a:pt x="8985758" y="1121791"/>
                    <a:pt x="8880475" y="1121791"/>
                  </a:cubicBezTo>
                  <a:lnTo>
                    <a:pt x="190627" y="1121791"/>
                  </a:lnTo>
                  <a:cubicBezTo>
                    <a:pt x="85344" y="1121791"/>
                    <a:pt x="0" y="1038098"/>
                    <a:pt x="0" y="934847"/>
                  </a:cubicBezTo>
                  <a:close/>
                </a:path>
              </a:pathLst>
            </a:custGeom>
            <a:solidFill>
              <a:srgbClr val="553BB1"/>
            </a:solidFill>
          </p:spPr>
        </p:sp>
        <p:sp>
          <p:nvSpPr>
            <p:cNvPr name="Freeform 11" id="11"/>
            <p:cNvSpPr/>
            <p:nvPr/>
          </p:nvSpPr>
          <p:spPr>
            <a:xfrm flipH="false" flipV="false" rot="0">
              <a:off x="0" y="0"/>
              <a:ext cx="9096502" cy="1147191"/>
            </a:xfrm>
            <a:custGeom>
              <a:avLst/>
              <a:gdLst/>
              <a:ahLst/>
              <a:cxnLst/>
              <a:rect r="r" b="b" t="t" l="l"/>
              <a:pathLst>
                <a:path h="1147191" w="9096502">
                  <a:moveTo>
                    <a:pt x="0" y="199644"/>
                  </a:moveTo>
                  <a:cubicBezTo>
                    <a:pt x="0" y="89154"/>
                    <a:pt x="91313" y="0"/>
                    <a:pt x="203327" y="0"/>
                  </a:cubicBezTo>
                  <a:lnTo>
                    <a:pt x="8893175" y="0"/>
                  </a:lnTo>
                  <a:lnTo>
                    <a:pt x="8893175" y="12700"/>
                  </a:lnTo>
                  <a:lnTo>
                    <a:pt x="8893175" y="0"/>
                  </a:lnTo>
                  <a:cubicBezTo>
                    <a:pt x="9005316" y="0"/>
                    <a:pt x="9096502" y="89154"/>
                    <a:pt x="9096502" y="199644"/>
                  </a:cubicBezTo>
                  <a:lnTo>
                    <a:pt x="9083802" y="199644"/>
                  </a:lnTo>
                  <a:lnTo>
                    <a:pt x="9096502" y="199644"/>
                  </a:lnTo>
                  <a:lnTo>
                    <a:pt x="9096502" y="947547"/>
                  </a:lnTo>
                  <a:lnTo>
                    <a:pt x="9083802" y="947547"/>
                  </a:lnTo>
                  <a:lnTo>
                    <a:pt x="9096502" y="947547"/>
                  </a:lnTo>
                  <a:cubicBezTo>
                    <a:pt x="9096502" y="1058037"/>
                    <a:pt x="9005189" y="1147191"/>
                    <a:pt x="8893175" y="1147191"/>
                  </a:cubicBezTo>
                  <a:lnTo>
                    <a:pt x="8893175" y="1134491"/>
                  </a:lnTo>
                  <a:lnTo>
                    <a:pt x="8893175" y="1147191"/>
                  </a:lnTo>
                  <a:lnTo>
                    <a:pt x="203327" y="1147191"/>
                  </a:lnTo>
                  <a:lnTo>
                    <a:pt x="203327" y="1134491"/>
                  </a:lnTo>
                  <a:lnTo>
                    <a:pt x="203327" y="1147191"/>
                  </a:lnTo>
                  <a:cubicBezTo>
                    <a:pt x="91313" y="1147191"/>
                    <a:pt x="0" y="1058037"/>
                    <a:pt x="0" y="947547"/>
                  </a:cubicBezTo>
                  <a:lnTo>
                    <a:pt x="0" y="199644"/>
                  </a:lnTo>
                  <a:lnTo>
                    <a:pt x="12700" y="199644"/>
                  </a:lnTo>
                  <a:lnTo>
                    <a:pt x="0" y="199644"/>
                  </a:lnTo>
                  <a:moveTo>
                    <a:pt x="25400" y="199644"/>
                  </a:moveTo>
                  <a:lnTo>
                    <a:pt x="25400" y="947547"/>
                  </a:lnTo>
                  <a:lnTo>
                    <a:pt x="12700" y="947547"/>
                  </a:lnTo>
                  <a:lnTo>
                    <a:pt x="25400" y="947547"/>
                  </a:lnTo>
                  <a:cubicBezTo>
                    <a:pt x="25400" y="1043559"/>
                    <a:pt x="104902" y="1121791"/>
                    <a:pt x="203327" y="1121791"/>
                  </a:cubicBezTo>
                  <a:lnTo>
                    <a:pt x="8893175" y="1121791"/>
                  </a:lnTo>
                  <a:cubicBezTo>
                    <a:pt x="8991727" y="1121791"/>
                    <a:pt x="9071102" y="1043559"/>
                    <a:pt x="9071102" y="947547"/>
                  </a:cubicBezTo>
                  <a:lnTo>
                    <a:pt x="9071102" y="199644"/>
                  </a:lnTo>
                  <a:cubicBezTo>
                    <a:pt x="9071102" y="103632"/>
                    <a:pt x="8991600" y="25400"/>
                    <a:pt x="8893175" y="25400"/>
                  </a:cubicBezTo>
                  <a:lnTo>
                    <a:pt x="203327" y="25400"/>
                  </a:lnTo>
                  <a:lnTo>
                    <a:pt x="203327" y="12700"/>
                  </a:lnTo>
                  <a:lnTo>
                    <a:pt x="203327" y="25400"/>
                  </a:lnTo>
                  <a:cubicBezTo>
                    <a:pt x="104902" y="25400"/>
                    <a:pt x="25400" y="103632"/>
                    <a:pt x="25400" y="199644"/>
                  </a:cubicBezTo>
                  <a:close/>
                </a:path>
              </a:pathLst>
            </a:custGeom>
            <a:solidFill>
              <a:srgbClr val="FFFFFF"/>
            </a:solidFill>
          </p:spPr>
        </p:sp>
      </p:grpSp>
      <p:grpSp>
        <p:nvGrpSpPr>
          <p:cNvPr name="Group 12" id="12"/>
          <p:cNvGrpSpPr/>
          <p:nvPr/>
        </p:nvGrpSpPr>
        <p:grpSpPr>
          <a:xfrm rot="0">
            <a:off x="8048235" y="1337587"/>
            <a:ext cx="6740234" cy="778230"/>
            <a:chOff x="0" y="0"/>
            <a:chExt cx="8986978" cy="1037640"/>
          </a:xfrm>
        </p:grpSpPr>
        <p:sp>
          <p:nvSpPr>
            <p:cNvPr name="Freeform 13" id="13"/>
            <p:cNvSpPr/>
            <p:nvPr/>
          </p:nvSpPr>
          <p:spPr>
            <a:xfrm flipH="false" flipV="false" rot="0">
              <a:off x="0" y="0"/>
              <a:ext cx="8986978" cy="1037640"/>
            </a:xfrm>
            <a:custGeom>
              <a:avLst/>
              <a:gdLst/>
              <a:ahLst/>
              <a:cxnLst/>
              <a:rect r="r" b="b" t="t" l="l"/>
              <a:pathLst>
                <a:path h="1037640" w="8986978">
                  <a:moveTo>
                    <a:pt x="0" y="0"/>
                  </a:moveTo>
                  <a:lnTo>
                    <a:pt x="8986978" y="0"/>
                  </a:lnTo>
                  <a:lnTo>
                    <a:pt x="8986978" y="1037640"/>
                  </a:lnTo>
                  <a:lnTo>
                    <a:pt x="0" y="1037640"/>
                  </a:lnTo>
                  <a:close/>
                </a:path>
              </a:pathLst>
            </a:custGeom>
            <a:solidFill>
              <a:srgbClr val="000000">
                <a:alpha val="0"/>
              </a:srgbClr>
            </a:solidFill>
          </p:spPr>
        </p:sp>
        <p:sp>
          <p:nvSpPr>
            <p:cNvPr name="TextBox 14" id="14"/>
            <p:cNvSpPr txBox="true"/>
            <p:nvPr/>
          </p:nvSpPr>
          <p:spPr>
            <a:xfrm>
              <a:off x="0" y="19050"/>
              <a:ext cx="8986978" cy="1018590"/>
            </a:xfrm>
            <a:prstGeom prst="rect">
              <a:avLst/>
            </a:prstGeom>
          </p:spPr>
          <p:txBody>
            <a:bodyPr anchor="ctr" rtlCol="false" tIns="0" lIns="0" bIns="0" rIns="0"/>
            <a:lstStyle/>
            <a:p>
              <a:pPr algn="l">
                <a:lnSpc>
                  <a:spcPts val="3078"/>
                </a:lnSpc>
              </a:pPr>
              <a:r>
                <a:rPr lang="en-US" sz="2850">
                  <a:solidFill>
                    <a:srgbClr val="FFFFFF"/>
                  </a:solidFill>
                  <a:latin typeface="Arimo"/>
                  <a:ea typeface="Arimo"/>
                  <a:cs typeface="Arimo"/>
                  <a:sym typeface="Arimo"/>
                </a:rPr>
                <a:t>IaaS (Infr</a:t>
              </a:r>
              <a:r>
                <a:rPr lang="en-US" sz="2850">
                  <a:solidFill>
                    <a:srgbClr val="FFFFFF"/>
                  </a:solidFill>
                  <a:latin typeface="Arimo"/>
                  <a:ea typeface="Arimo"/>
                  <a:cs typeface="Arimo"/>
                  <a:sym typeface="Arimo"/>
                </a:rPr>
                <a:t>aestructura como Servicio):</a:t>
              </a:r>
            </a:p>
          </p:txBody>
        </p:sp>
      </p:grpSp>
      <p:grpSp>
        <p:nvGrpSpPr>
          <p:cNvPr name="Group 15" id="15"/>
          <p:cNvGrpSpPr/>
          <p:nvPr/>
        </p:nvGrpSpPr>
        <p:grpSpPr>
          <a:xfrm rot="0">
            <a:off x="7521215" y="3847554"/>
            <a:ext cx="9738085" cy="1625443"/>
            <a:chOff x="0" y="0"/>
            <a:chExt cx="12984114" cy="2167258"/>
          </a:xfrm>
        </p:grpSpPr>
        <p:sp>
          <p:nvSpPr>
            <p:cNvPr name="Freeform 16" id="16"/>
            <p:cNvSpPr/>
            <p:nvPr/>
          </p:nvSpPr>
          <p:spPr>
            <a:xfrm flipH="false" flipV="false" rot="0">
              <a:off x="12700" y="17081"/>
              <a:ext cx="12958699" cy="2133032"/>
            </a:xfrm>
            <a:custGeom>
              <a:avLst/>
              <a:gdLst/>
              <a:ahLst/>
              <a:cxnLst/>
              <a:rect r="r" b="b" t="t" l="l"/>
              <a:pathLst>
                <a:path h="2133032" w="12958699">
                  <a:moveTo>
                    <a:pt x="0" y="0"/>
                  </a:moveTo>
                  <a:lnTo>
                    <a:pt x="12958699" y="0"/>
                  </a:lnTo>
                  <a:lnTo>
                    <a:pt x="12958699" y="2133032"/>
                  </a:lnTo>
                  <a:lnTo>
                    <a:pt x="0" y="2133032"/>
                  </a:lnTo>
                  <a:close/>
                </a:path>
              </a:pathLst>
            </a:custGeom>
            <a:solidFill>
              <a:srgbClr val="FFFFFF">
                <a:alpha val="80784"/>
              </a:srgbClr>
            </a:solidFill>
          </p:spPr>
        </p:sp>
        <p:sp>
          <p:nvSpPr>
            <p:cNvPr name="Freeform 17" id="17"/>
            <p:cNvSpPr/>
            <p:nvPr/>
          </p:nvSpPr>
          <p:spPr>
            <a:xfrm flipH="false" flipV="false" rot="0">
              <a:off x="0" y="0"/>
              <a:ext cx="12984099" cy="2167193"/>
            </a:xfrm>
            <a:custGeom>
              <a:avLst/>
              <a:gdLst/>
              <a:ahLst/>
              <a:cxnLst/>
              <a:rect r="r" b="b" t="t" l="l"/>
              <a:pathLst>
                <a:path h="2167193" w="12984099">
                  <a:moveTo>
                    <a:pt x="12700" y="0"/>
                  </a:moveTo>
                  <a:lnTo>
                    <a:pt x="12971399" y="0"/>
                  </a:lnTo>
                  <a:cubicBezTo>
                    <a:pt x="12978384" y="0"/>
                    <a:pt x="12984099" y="7686"/>
                    <a:pt x="12984099" y="17081"/>
                  </a:cubicBezTo>
                  <a:lnTo>
                    <a:pt x="12984099" y="2150113"/>
                  </a:lnTo>
                  <a:cubicBezTo>
                    <a:pt x="12984099" y="2159507"/>
                    <a:pt x="12978384" y="2167193"/>
                    <a:pt x="12971399" y="2167193"/>
                  </a:cubicBezTo>
                  <a:lnTo>
                    <a:pt x="12700" y="2167193"/>
                  </a:lnTo>
                  <a:cubicBezTo>
                    <a:pt x="5715" y="2167193"/>
                    <a:pt x="0" y="2159507"/>
                    <a:pt x="0" y="2150113"/>
                  </a:cubicBezTo>
                  <a:lnTo>
                    <a:pt x="0" y="17081"/>
                  </a:lnTo>
                  <a:cubicBezTo>
                    <a:pt x="0" y="7686"/>
                    <a:pt x="5715" y="0"/>
                    <a:pt x="12700" y="0"/>
                  </a:cubicBezTo>
                  <a:moveTo>
                    <a:pt x="12700" y="34161"/>
                  </a:moveTo>
                  <a:lnTo>
                    <a:pt x="12700" y="17081"/>
                  </a:lnTo>
                  <a:lnTo>
                    <a:pt x="25400" y="17081"/>
                  </a:lnTo>
                  <a:lnTo>
                    <a:pt x="25400" y="2150113"/>
                  </a:lnTo>
                  <a:lnTo>
                    <a:pt x="12700" y="2150113"/>
                  </a:lnTo>
                  <a:lnTo>
                    <a:pt x="12700" y="2133032"/>
                  </a:lnTo>
                  <a:lnTo>
                    <a:pt x="12971399" y="2133032"/>
                  </a:lnTo>
                  <a:lnTo>
                    <a:pt x="12971399" y="2150113"/>
                  </a:lnTo>
                  <a:lnTo>
                    <a:pt x="12958699" y="2150113"/>
                  </a:lnTo>
                  <a:lnTo>
                    <a:pt x="12958699" y="17081"/>
                  </a:lnTo>
                  <a:lnTo>
                    <a:pt x="12971399" y="17081"/>
                  </a:lnTo>
                  <a:lnTo>
                    <a:pt x="12971399" y="34161"/>
                  </a:lnTo>
                  <a:lnTo>
                    <a:pt x="12700" y="34161"/>
                  </a:lnTo>
                  <a:close/>
                </a:path>
              </a:pathLst>
            </a:custGeom>
            <a:solidFill>
              <a:srgbClr val="984DC3"/>
            </a:solidFill>
          </p:spPr>
        </p:sp>
      </p:grpSp>
      <p:sp>
        <p:nvSpPr>
          <p:cNvPr name="TextBox 18" id="18"/>
          <p:cNvSpPr txBox="true"/>
          <p:nvPr/>
        </p:nvSpPr>
        <p:spPr>
          <a:xfrm rot="0">
            <a:off x="7521215" y="4143688"/>
            <a:ext cx="9738086" cy="1195959"/>
          </a:xfrm>
          <a:prstGeom prst="rect">
            <a:avLst/>
          </a:prstGeom>
        </p:spPr>
        <p:txBody>
          <a:bodyPr anchor="t" rtlCol="false" tIns="0" lIns="0" bIns="0" rIns="0">
            <a:spAutoFit/>
          </a:bodyPr>
          <a:lstStyle/>
          <a:p>
            <a:pPr algn="l" marL="515779" indent="-171926" lvl="2">
              <a:lnSpc>
                <a:spcPts val="3078"/>
              </a:lnSpc>
              <a:buFont typeface="Arial"/>
              <a:buChar char="⚬"/>
            </a:pPr>
            <a:r>
              <a:rPr lang="en-US" sz="2850">
                <a:solidFill>
                  <a:srgbClr val="000000"/>
                </a:solidFill>
                <a:latin typeface="Arimo"/>
                <a:ea typeface="Arimo"/>
                <a:cs typeface="Arimo"/>
                <a:sym typeface="Arimo"/>
              </a:rPr>
              <a:t>Ofrec</a:t>
            </a:r>
            <a:r>
              <a:rPr lang="en-US" sz="2850">
                <a:solidFill>
                  <a:srgbClr val="000000"/>
                </a:solidFill>
                <a:latin typeface="Arimo"/>
                <a:ea typeface="Arimo"/>
                <a:cs typeface="Arimo"/>
                <a:sym typeface="Arimo"/>
              </a:rPr>
              <a:t>e una plataforma para desarrollar, ejecutar y gestionar aplicaciones sin preocuparse por la infraestructura subyacente. </a:t>
            </a:r>
          </a:p>
        </p:txBody>
      </p:sp>
      <p:grpSp>
        <p:nvGrpSpPr>
          <p:cNvPr name="Group 19" id="19"/>
          <p:cNvGrpSpPr/>
          <p:nvPr/>
        </p:nvGrpSpPr>
        <p:grpSpPr>
          <a:xfrm rot="0">
            <a:off x="8007165" y="3281795"/>
            <a:ext cx="6822373" cy="728544"/>
            <a:chOff x="0" y="0"/>
            <a:chExt cx="9096498" cy="971392"/>
          </a:xfrm>
        </p:grpSpPr>
        <p:sp>
          <p:nvSpPr>
            <p:cNvPr name="Freeform 20" id="20"/>
            <p:cNvSpPr/>
            <p:nvPr/>
          </p:nvSpPr>
          <p:spPr>
            <a:xfrm flipH="false" flipV="false" rot="0">
              <a:off x="12700" y="10754"/>
              <a:ext cx="9071102" cy="949910"/>
            </a:xfrm>
            <a:custGeom>
              <a:avLst/>
              <a:gdLst/>
              <a:ahLst/>
              <a:cxnLst/>
              <a:rect r="r" b="b" t="t" l="l"/>
              <a:pathLst>
                <a:path h="949910" w="9071102">
                  <a:moveTo>
                    <a:pt x="0" y="158301"/>
                  </a:moveTo>
                  <a:cubicBezTo>
                    <a:pt x="0" y="70870"/>
                    <a:pt x="85344" y="0"/>
                    <a:pt x="190627" y="0"/>
                  </a:cubicBezTo>
                  <a:lnTo>
                    <a:pt x="8880475" y="0"/>
                  </a:lnTo>
                  <a:cubicBezTo>
                    <a:pt x="8985758" y="0"/>
                    <a:pt x="9071102" y="70870"/>
                    <a:pt x="9071102" y="158301"/>
                  </a:cubicBezTo>
                  <a:lnTo>
                    <a:pt x="9071102" y="791610"/>
                  </a:lnTo>
                  <a:cubicBezTo>
                    <a:pt x="9071102" y="879041"/>
                    <a:pt x="8985758" y="949910"/>
                    <a:pt x="8880475" y="949910"/>
                  </a:cubicBezTo>
                  <a:lnTo>
                    <a:pt x="190627" y="949910"/>
                  </a:lnTo>
                  <a:cubicBezTo>
                    <a:pt x="85344" y="949910"/>
                    <a:pt x="0" y="879041"/>
                    <a:pt x="0" y="791610"/>
                  </a:cubicBezTo>
                  <a:close/>
                </a:path>
              </a:pathLst>
            </a:custGeom>
            <a:solidFill>
              <a:srgbClr val="984DC3"/>
            </a:solidFill>
          </p:spPr>
        </p:sp>
        <p:sp>
          <p:nvSpPr>
            <p:cNvPr name="Freeform 21" id="21"/>
            <p:cNvSpPr/>
            <p:nvPr/>
          </p:nvSpPr>
          <p:spPr>
            <a:xfrm flipH="false" flipV="false" rot="0">
              <a:off x="0" y="0"/>
              <a:ext cx="9096502" cy="971423"/>
            </a:xfrm>
            <a:custGeom>
              <a:avLst/>
              <a:gdLst/>
              <a:ahLst/>
              <a:cxnLst/>
              <a:rect r="r" b="b" t="t" l="l"/>
              <a:pathLst>
                <a:path h="971423" w="9096502">
                  <a:moveTo>
                    <a:pt x="0" y="169055"/>
                  </a:moveTo>
                  <a:cubicBezTo>
                    <a:pt x="0" y="75494"/>
                    <a:pt x="91313" y="0"/>
                    <a:pt x="203327" y="0"/>
                  </a:cubicBezTo>
                  <a:lnTo>
                    <a:pt x="8893175" y="0"/>
                  </a:lnTo>
                  <a:lnTo>
                    <a:pt x="8893175" y="10754"/>
                  </a:lnTo>
                  <a:lnTo>
                    <a:pt x="8893175" y="0"/>
                  </a:lnTo>
                  <a:cubicBezTo>
                    <a:pt x="9005316" y="0"/>
                    <a:pt x="9096502" y="75494"/>
                    <a:pt x="9096502" y="169055"/>
                  </a:cubicBezTo>
                  <a:lnTo>
                    <a:pt x="9083802" y="169055"/>
                  </a:lnTo>
                  <a:lnTo>
                    <a:pt x="9096502" y="169055"/>
                  </a:lnTo>
                  <a:lnTo>
                    <a:pt x="9096502" y="802364"/>
                  </a:lnTo>
                  <a:lnTo>
                    <a:pt x="9083802" y="802364"/>
                  </a:lnTo>
                  <a:lnTo>
                    <a:pt x="9096502" y="802364"/>
                  </a:lnTo>
                  <a:cubicBezTo>
                    <a:pt x="9096502" y="895924"/>
                    <a:pt x="9005189" y="971423"/>
                    <a:pt x="8893175" y="971423"/>
                  </a:cubicBezTo>
                  <a:lnTo>
                    <a:pt x="8893175" y="960664"/>
                  </a:lnTo>
                  <a:lnTo>
                    <a:pt x="8893175" y="971423"/>
                  </a:lnTo>
                  <a:lnTo>
                    <a:pt x="203327" y="971423"/>
                  </a:lnTo>
                  <a:lnTo>
                    <a:pt x="203327" y="960664"/>
                  </a:lnTo>
                  <a:lnTo>
                    <a:pt x="203327" y="971423"/>
                  </a:lnTo>
                  <a:cubicBezTo>
                    <a:pt x="91313" y="971423"/>
                    <a:pt x="0" y="895924"/>
                    <a:pt x="0" y="802364"/>
                  </a:cubicBezTo>
                  <a:lnTo>
                    <a:pt x="0" y="169055"/>
                  </a:lnTo>
                  <a:lnTo>
                    <a:pt x="12700" y="169055"/>
                  </a:lnTo>
                  <a:lnTo>
                    <a:pt x="0" y="169055"/>
                  </a:lnTo>
                  <a:moveTo>
                    <a:pt x="25400" y="169055"/>
                  </a:moveTo>
                  <a:lnTo>
                    <a:pt x="25400" y="802364"/>
                  </a:lnTo>
                  <a:lnTo>
                    <a:pt x="12700" y="802364"/>
                  </a:lnTo>
                  <a:lnTo>
                    <a:pt x="25400" y="802364"/>
                  </a:lnTo>
                  <a:cubicBezTo>
                    <a:pt x="25400" y="883665"/>
                    <a:pt x="104902" y="949910"/>
                    <a:pt x="203327" y="949910"/>
                  </a:cubicBezTo>
                  <a:lnTo>
                    <a:pt x="8893175" y="949910"/>
                  </a:lnTo>
                  <a:cubicBezTo>
                    <a:pt x="8991727" y="949910"/>
                    <a:pt x="9071102" y="883665"/>
                    <a:pt x="9071102" y="802364"/>
                  </a:cubicBezTo>
                  <a:lnTo>
                    <a:pt x="9071102" y="169055"/>
                  </a:lnTo>
                  <a:cubicBezTo>
                    <a:pt x="9071102" y="87753"/>
                    <a:pt x="8991600" y="21508"/>
                    <a:pt x="8893175" y="21508"/>
                  </a:cubicBezTo>
                  <a:lnTo>
                    <a:pt x="203327" y="21508"/>
                  </a:lnTo>
                  <a:lnTo>
                    <a:pt x="203327" y="10754"/>
                  </a:lnTo>
                  <a:lnTo>
                    <a:pt x="203327" y="21508"/>
                  </a:lnTo>
                  <a:cubicBezTo>
                    <a:pt x="104902" y="21508"/>
                    <a:pt x="25400" y="87753"/>
                    <a:pt x="25400" y="169055"/>
                  </a:cubicBezTo>
                  <a:close/>
                </a:path>
              </a:pathLst>
            </a:custGeom>
            <a:solidFill>
              <a:srgbClr val="FFFFFF"/>
            </a:solidFill>
          </p:spPr>
        </p:sp>
      </p:grpSp>
      <p:grpSp>
        <p:nvGrpSpPr>
          <p:cNvPr name="Group 22" id="22"/>
          <p:cNvGrpSpPr/>
          <p:nvPr/>
        </p:nvGrpSpPr>
        <p:grpSpPr>
          <a:xfrm rot="0">
            <a:off x="8136042" y="3262123"/>
            <a:ext cx="6740234" cy="824415"/>
            <a:chOff x="0" y="0"/>
            <a:chExt cx="8986978" cy="1099221"/>
          </a:xfrm>
        </p:grpSpPr>
        <p:sp>
          <p:nvSpPr>
            <p:cNvPr name="Freeform 23" id="23"/>
            <p:cNvSpPr/>
            <p:nvPr/>
          </p:nvSpPr>
          <p:spPr>
            <a:xfrm flipH="false" flipV="false" rot="0">
              <a:off x="0" y="0"/>
              <a:ext cx="8986978" cy="1099221"/>
            </a:xfrm>
            <a:custGeom>
              <a:avLst/>
              <a:gdLst/>
              <a:ahLst/>
              <a:cxnLst/>
              <a:rect r="r" b="b" t="t" l="l"/>
              <a:pathLst>
                <a:path h="1099221" w="8986978">
                  <a:moveTo>
                    <a:pt x="0" y="0"/>
                  </a:moveTo>
                  <a:lnTo>
                    <a:pt x="8986978" y="0"/>
                  </a:lnTo>
                  <a:lnTo>
                    <a:pt x="8986978" y="1099221"/>
                  </a:lnTo>
                  <a:lnTo>
                    <a:pt x="0" y="1099221"/>
                  </a:lnTo>
                  <a:close/>
                </a:path>
              </a:pathLst>
            </a:custGeom>
            <a:solidFill>
              <a:srgbClr val="000000">
                <a:alpha val="0"/>
              </a:srgbClr>
            </a:solidFill>
          </p:spPr>
        </p:sp>
        <p:sp>
          <p:nvSpPr>
            <p:cNvPr name="TextBox 24" id="24"/>
            <p:cNvSpPr txBox="true"/>
            <p:nvPr/>
          </p:nvSpPr>
          <p:spPr>
            <a:xfrm>
              <a:off x="0" y="19050"/>
              <a:ext cx="8986978" cy="1080171"/>
            </a:xfrm>
            <a:prstGeom prst="rect">
              <a:avLst/>
            </a:prstGeom>
          </p:spPr>
          <p:txBody>
            <a:bodyPr anchor="ctr" rtlCol="false" tIns="0" lIns="0" bIns="0" rIns="0"/>
            <a:lstStyle/>
            <a:p>
              <a:pPr algn="l">
                <a:lnSpc>
                  <a:spcPts val="3078"/>
                </a:lnSpc>
              </a:pPr>
              <a:r>
                <a:rPr lang="en-US" sz="2850">
                  <a:solidFill>
                    <a:srgbClr val="FFFFFF"/>
                  </a:solidFill>
                  <a:latin typeface="Arimo"/>
                  <a:ea typeface="Arimo"/>
                  <a:cs typeface="Arimo"/>
                  <a:sym typeface="Arimo"/>
                </a:rPr>
                <a:t>PaaS (Plataforma como Servicio):</a:t>
              </a:r>
            </a:p>
          </p:txBody>
        </p:sp>
      </p:grpSp>
      <p:grpSp>
        <p:nvGrpSpPr>
          <p:cNvPr name="Group 25" id="25"/>
          <p:cNvGrpSpPr/>
          <p:nvPr/>
        </p:nvGrpSpPr>
        <p:grpSpPr>
          <a:xfrm rot="0">
            <a:off x="7567951" y="5815897"/>
            <a:ext cx="9738085" cy="1974251"/>
            <a:chOff x="0" y="0"/>
            <a:chExt cx="12984114" cy="2632335"/>
          </a:xfrm>
        </p:grpSpPr>
        <p:sp>
          <p:nvSpPr>
            <p:cNvPr name="Freeform 26" id="26"/>
            <p:cNvSpPr/>
            <p:nvPr/>
          </p:nvSpPr>
          <p:spPr>
            <a:xfrm flipH="false" flipV="false" rot="0">
              <a:off x="12700" y="20746"/>
              <a:ext cx="12958699" cy="2590764"/>
            </a:xfrm>
            <a:custGeom>
              <a:avLst/>
              <a:gdLst/>
              <a:ahLst/>
              <a:cxnLst/>
              <a:rect r="r" b="b" t="t" l="l"/>
              <a:pathLst>
                <a:path h="2590764" w="12958699">
                  <a:moveTo>
                    <a:pt x="0" y="0"/>
                  </a:moveTo>
                  <a:lnTo>
                    <a:pt x="12958699" y="0"/>
                  </a:lnTo>
                  <a:lnTo>
                    <a:pt x="12958699" y="2590764"/>
                  </a:lnTo>
                  <a:lnTo>
                    <a:pt x="0" y="2590764"/>
                  </a:lnTo>
                  <a:close/>
                </a:path>
              </a:pathLst>
            </a:custGeom>
            <a:solidFill>
              <a:srgbClr val="FFFFFF">
                <a:alpha val="80784"/>
              </a:srgbClr>
            </a:solidFill>
          </p:spPr>
        </p:sp>
        <p:sp>
          <p:nvSpPr>
            <p:cNvPr name="Freeform 27" id="27"/>
            <p:cNvSpPr/>
            <p:nvPr/>
          </p:nvSpPr>
          <p:spPr>
            <a:xfrm flipH="false" flipV="false" rot="0">
              <a:off x="0" y="0"/>
              <a:ext cx="12984099" cy="2632256"/>
            </a:xfrm>
            <a:custGeom>
              <a:avLst/>
              <a:gdLst/>
              <a:ahLst/>
              <a:cxnLst/>
              <a:rect r="r" b="b" t="t" l="l"/>
              <a:pathLst>
                <a:path h="2632256" w="12984099">
                  <a:moveTo>
                    <a:pt x="12700" y="0"/>
                  </a:moveTo>
                  <a:lnTo>
                    <a:pt x="12971399" y="0"/>
                  </a:lnTo>
                  <a:cubicBezTo>
                    <a:pt x="12978384" y="0"/>
                    <a:pt x="12984099" y="9336"/>
                    <a:pt x="12984099" y="20746"/>
                  </a:cubicBezTo>
                  <a:lnTo>
                    <a:pt x="12984099" y="2611510"/>
                  </a:lnTo>
                  <a:cubicBezTo>
                    <a:pt x="12984099" y="2622921"/>
                    <a:pt x="12978384" y="2632256"/>
                    <a:pt x="12971399" y="2632256"/>
                  </a:cubicBezTo>
                  <a:lnTo>
                    <a:pt x="12700" y="2632256"/>
                  </a:lnTo>
                  <a:cubicBezTo>
                    <a:pt x="5715" y="2632256"/>
                    <a:pt x="0" y="2622921"/>
                    <a:pt x="0" y="2611510"/>
                  </a:cubicBezTo>
                  <a:lnTo>
                    <a:pt x="0" y="20746"/>
                  </a:lnTo>
                  <a:cubicBezTo>
                    <a:pt x="0" y="9336"/>
                    <a:pt x="5715" y="0"/>
                    <a:pt x="12700" y="0"/>
                  </a:cubicBezTo>
                  <a:moveTo>
                    <a:pt x="12700" y="41492"/>
                  </a:moveTo>
                  <a:lnTo>
                    <a:pt x="12700" y="20746"/>
                  </a:lnTo>
                  <a:lnTo>
                    <a:pt x="25400" y="20746"/>
                  </a:lnTo>
                  <a:lnTo>
                    <a:pt x="25400" y="2611510"/>
                  </a:lnTo>
                  <a:lnTo>
                    <a:pt x="12700" y="2611510"/>
                  </a:lnTo>
                  <a:lnTo>
                    <a:pt x="12700" y="2590764"/>
                  </a:lnTo>
                  <a:lnTo>
                    <a:pt x="12971399" y="2590764"/>
                  </a:lnTo>
                  <a:lnTo>
                    <a:pt x="12971399" y="2611510"/>
                  </a:lnTo>
                  <a:lnTo>
                    <a:pt x="12958699" y="2611510"/>
                  </a:lnTo>
                  <a:lnTo>
                    <a:pt x="12958699" y="20746"/>
                  </a:lnTo>
                  <a:lnTo>
                    <a:pt x="12971399" y="20746"/>
                  </a:lnTo>
                  <a:lnTo>
                    <a:pt x="12971399" y="41492"/>
                  </a:lnTo>
                  <a:lnTo>
                    <a:pt x="12700" y="41492"/>
                  </a:lnTo>
                  <a:close/>
                </a:path>
              </a:pathLst>
            </a:custGeom>
            <a:solidFill>
              <a:srgbClr val="B13BAB"/>
            </a:solidFill>
          </p:spPr>
        </p:sp>
      </p:grpSp>
      <p:sp>
        <p:nvSpPr>
          <p:cNvPr name="TextBox 28" id="28"/>
          <p:cNvSpPr txBox="true"/>
          <p:nvPr/>
        </p:nvSpPr>
        <p:spPr>
          <a:xfrm rot="0">
            <a:off x="7567952" y="6441790"/>
            <a:ext cx="9691348" cy="1195959"/>
          </a:xfrm>
          <a:prstGeom prst="rect">
            <a:avLst/>
          </a:prstGeom>
        </p:spPr>
        <p:txBody>
          <a:bodyPr anchor="t" rtlCol="false" tIns="0" lIns="0" bIns="0" rIns="0">
            <a:spAutoFit/>
          </a:bodyPr>
          <a:lstStyle/>
          <a:p>
            <a:pPr algn="l" marL="515779" indent="-171926" lvl="2">
              <a:lnSpc>
                <a:spcPts val="3078"/>
              </a:lnSpc>
              <a:buFont typeface="Arial"/>
              <a:buChar char="⚬"/>
            </a:pPr>
            <a:r>
              <a:rPr lang="en-US" sz="2850">
                <a:solidFill>
                  <a:srgbClr val="000000"/>
                </a:solidFill>
                <a:latin typeface="Arimo"/>
                <a:ea typeface="Arimo"/>
                <a:cs typeface="Arimo"/>
                <a:sym typeface="Arimo"/>
              </a:rPr>
              <a:t>Ofrece aplicacion</a:t>
            </a:r>
            <a:r>
              <a:rPr lang="en-US" sz="2850">
                <a:solidFill>
                  <a:srgbClr val="000000"/>
                </a:solidFill>
                <a:latin typeface="Arimo"/>
                <a:ea typeface="Arimo"/>
                <a:cs typeface="Arimo"/>
                <a:sym typeface="Arimo"/>
              </a:rPr>
              <a:t>es de software listas para usar, accesibles a través de internet, como Office 365 o Salesforce. </a:t>
            </a:r>
          </a:p>
        </p:txBody>
      </p:sp>
      <p:grpSp>
        <p:nvGrpSpPr>
          <p:cNvPr name="Group 29" id="29"/>
          <p:cNvGrpSpPr/>
          <p:nvPr/>
        </p:nvGrpSpPr>
        <p:grpSpPr>
          <a:xfrm rot="0">
            <a:off x="8053902" y="5511097"/>
            <a:ext cx="6822373" cy="860370"/>
            <a:chOff x="0" y="0"/>
            <a:chExt cx="9096498" cy="1147160"/>
          </a:xfrm>
        </p:grpSpPr>
        <p:sp>
          <p:nvSpPr>
            <p:cNvPr name="Freeform 30" id="30"/>
            <p:cNvSpPr/>
            <p:nvPr/>
          </p:nvSpPr>
          <p:spPr>
            <a:xfrm flipH="false" flipV="false" rot="0">
              <a:off x="12700" y="12700"/>
              <a:ext cx="9071102" cy="1121791"/>
            </a:xfrm>
            <a:custGeom>
              <a:avLst/>
              <a:gdLst/>
              <a:ahLst/>
              <a:cxnLst/>
              <a:rect r="r" b="b" t="t" l="l"/>
              <a:pathLst>
                <a:path h="1121791" w="9071102">
                  <a:moveTo>
                    <a:pt x="0" y="186944"/>
                  </a:moveTo>
                  <a:cubicBezTo>
                    <a:pt x="0" y="83693"/>
                    <a:pt x="85344" y="0"/>
                    <a:pt x="190627" y="0"/>
                  </a:cubicBezTo>
                  <a:lnTo>
                    <a:pt x="8880475" y="0"/>
                  </a:lnTo>
                  <a:cubicBezTo>
                    <a:pt x="8985758" y="0"/>
                    <a:pt x="9071102" y="83693"/>
                    <a:pt x="9071102" y="186944"/>
                  </a:cubicBezTo>
                  <a:lnTo>
                    <a:pt x="9071102" y="934847"/>
                  </a:lnTo>
                  <a:cubicBezTo>
                    <a:pt x="9071102" y="1038098"/>
                    <a:pt x="8985758" y="1121791"/>
                    <a:pt x="8880475" y="1121791"/>
                  </a:cubicBezTo>
                  <a:lnTo>
                    <a:pt x="190627" y="1121791"/>
                  </a:lnTo>
                  <a:cubicBezTo>
                    <a:pt x="85344" y="1121791"/>
                    <a:pt x="0" y="1038098"/>
                    <a:pt x="0" y="934847"/>
                  </a:cubicBezTo>
                  <a:close/>
                </a:path>
              </a:pathLst>
            </a:custGeom>
            <a:solidFill>
              <a:srgbClr val="B13BAB"/>
            </a:solidFill>
          </p:spPr>
        </p:sp>
        <p:sp>
          <p:nvSpPr>
            <p:cNvPr name="Freeform 31" id="31"/>
            <p:cNvSpPr/>
            <p:nvPr/>
          </p:nvSpPr>
          <p:spPr>
            <a:xfrm flipH="false" flipV="false" rot="0">
              <a:off x="0" y="0"/>
              <a:ext cx="9096502" cy="1147191"/>
            </a:xfrm>
            <a:custGeom>
              <a:avLst/>
              <a:gdLst/>
              <a:ahLst/>
              <a:cxnLst/>
              <a:rect r="r" b="b" t="t" l="l"/>
              <a:pathLst>
                <a:path h="1147191" w="9096502">
                  <a:moveTo>
                    <a:pt x="0" y="199644"/>
                  </a:moveTo>
                  <a:cubicBezTo>
                    <a:pt x="0" y="89154"/>
                    <a:pt x="91313" y="0"/>
                    <a:pt x="203327" y="0"/>
                  </a:cubicBezTo>
                  <a:lnTo>
                    <a:pt x="8893175" y="0"/>
                  </a:lnTo>
                  <a:lnTo>
                    <a:pt x="8893175" y="12700"/>
                  </a:lnTo>
                  <a:lnTo>
                    <a:pt x="8893175" y="0"/>
                  </a:lnTo>
                  <a:cubicBezTo>
                    <a:pt x="9005316" y="0"/>
                    <a:pt x="9096502" y="89154"/>
                    <a:pt x="9096502" y="199644"/>
                  </a:cubicBezTo>
                  <a:lnTo>
                    <a:pt x="9083802" y="199644"/>
                  </a:lnTo>
                  <a:lnTo>
                    <a:pt x="9096502" y="199644"/>
                  </a:lnTo>
                  <a:lnTo>
                    <a:pt x="9096502" y="947547"/>
                  </a:lnTo>
                  <a:lnTo>
                    <a:pt x="9083802" y="947547"/>
                  </a:lnTo>
                  <a:lnTo>
                    <a:pt x="9096502" y="947547"/>
                  </a:lnTo>
                  <a:cubicBezTo>
                    <a:pt x="9096502" y="1058037"/>
                    <a:pt x="9005189" y="1147191"/>
                    <a:pt x="8893175" y="1147191"/>
                  </a:cubicBezTo>
                  <a:lnTo>
                    <a:pt x="8893175" y="1134491"/>
                  </a:lnTo>
                  <a:lnTo>
                    <a:pt x="8893175" y="1147191"/>
                  </a:lnTo>
                  <a:lnTo>
                    <a:pt x="203327" y="1147191"/>
                  </a:lnTo>
                  <a:lnTo>
                    <a:pt x="203327" y="1134491"/>
                  </a:lnTo>
                  <a:lnTo>
                    <a:pt x="203327" y="1147191"/>
                  </a:lnTo>
                  <a:cubicBezTo>
                    <a:pt x="91313" y="1147191"/>
                    <a:pt x="0" y="1058037"/>
                    <a:pt x="0" y="947547"/>
                  </a:cubicBezTo>
                  <a:lnTo>
                    <a:pt x="0" y="199644"/>
                  </a:lnTo>
                  <a:lnTo>
                    <a:pt x="12700" y="199644"/>
                  </a:lnTo>
                  <a:lnTo>
                    <a:pt x="0" y="199644"/>
                  </a:lnTo>
                  <a:moveTo>
                    <a:pt x="25400" y="199644"/>
                  </a:moveTo>
                  <a:lnTo>
                    <a:pt x="25400" y="947547"/>
                  </a:lnTo>
                  <a:lnTo>
                    <a:pt x="12700" y="947547"/>
                  </a:lnTo>
                  <a:lnTo>
                    <a:pt x="25400" y="947547"/>
                  </a:lnTo>
                  <a:cubicBezTo>
                    <a:pt x="25400" y="1043559"/>
                    <a:pt x="104902" y="1121791"/>
                    <a:pt x="203327" y="1121791"/>
                  </a:cubicBezTo>
                  <a:lnTo>
                    <a:pt x="8893175" y="1121791"/>
                  </a:lnTo>
                  <a:cubicBezTo>
                    <a:pt x="8991727" y="1121791"/>
                    <a:pt x="9071102" y="1043559"/>
                    <a:pt x="9071102" y="947547"/>
                  </a:cubicBezTo>
                  <a:lnTo>
                    <a:pt x="9071102" y="199644"/>
                  </a:lnTo>
                  <a:cubicBezTo>
                    <a:pt x="9071102" y="103632"/>
                    <a:pt x="8991600" y="25400"/>
                    <a:pt x="8893175" y="25400"/>
                  </a:cubicBezTo>
                  <a:lnTo>
                    <a:pt x="203327" y="25400"/>
                  </a:lnTo>
                  <a:lnTo>
                    <a:pt x="203327" y="12700"/>
                  </a:lnTo>
                  <a:lnTo>
                    <a:pt x="203327" y="25400"/>
                  </a:lnTo>
                  <a:cubicBezTo>
                    <a:pt x="104902" y="25400"/>
                    <a:pt x="25400" y="103632"/>
                    <a:pt x="25400" y="199644"/>
                  </a:cubicBezTo>
                  <a:close/>
                </a:path>
              </a:pathLst>
            </a:custGeom>
            <a:solidFill>
              <a:srgbClr val="FFFFFF"/>
            </a:solidFill>
          </p:spPr>
        </p:sp>
      </p:grpSp>
      <p:grpSp>
        <p:nvGrpSpPr>
          <p:cNvPr name="Group 32" id="32"/>
          <p:cNvGrpSpPr/>
          <p:nvPr/>
        </p:nvGrpSpPr>
        <p:grpSpPr>
          <a:xfrm rot="0">
            <a:off x="8136042" y="5552168"/>
            <a:ext cx="6740234" cy="778230"/>
            <a:chOff x="0" y="0"/>
            <a:chExt cx="8986978" cy="1037640"/>
          </a:xfrm>
        </p:grpSpPr>
        <p:sp>
          <p:nvSpPr>
            <p:cNvPr name="Freeform 33" id="33"/>
            <p:cNvSpPr/>
            <p:nvPr/>
          </p:nvSpPr>
          <p:spPr>
            <a:xfrm flipH="false" flipV="false" rot="0">
              <a:off x="0" y="0"/>
              <a:ext cx="8986978" cy="1037640"/>
            </a:xfrm>
            <a:custGeom>
              <a:avLst/>
              <a:gdLst/>
              <a:ahLst/>
              <a:cxnLst/>
              <a:rect r="r" b="b" t="t" l="l"/>
              <a:pathLst>
                <a:path h="1037640" w="8986978">
                  <a:moveTo>
                    <a:pt x="0" y="0"/>
                  </a:moveTo>
                  <a:lnTo>
                    <a:pt x="8986978" y="0"/>
                  </a:lnTo>
                  <a:lnTo>
                    <a:pt x="8986978" y="1037640"/>
                  </a:lnTo>
                  <a:lnTo>
                    <a:pt x="0" y="1037640"/>
                  </a:lnTo>
                  <a:close/>
                </a:path>
              </a:pathLst>
            </a:custGeom>
            <a:solidFill>
              <a:srgbClr val="000000">
                <a:alpha val="0"/>
              </a:srgbClr>
            </a:solidFill>
          </p:spPr>
        </p:sp>
        <p:sp>
          <p:nvSpPr>
            <p:cNvPr name="TextBox 34" id="34"/>
            <p:cNvSpPr txBox="true"/>
            <p:nvPr/>
          </p:nvSpPr>
          <p:spPr>
            <a:xfrm>
              <a:off x="0" y="19050"/>
              <a:ext cx="8986978" cy="1018590"/>
            </a:xfrm>
            <a:prstGeom prst="rect">
              <a:avLst/>
            </a:prstGeom>
          </p:spPr>
          <p:txBody>
            <a:bodyPr anchor="ctr" rtlCol="false" tIns="0" lIns="0" bIns="0" rIns="0"/>
            <a:lstStyle/>
            <a:p>
              <a:pPr algn="l">
                <a:lnSpc>
                  <a:spcPts val="3078"/>
                </a:lnSpc>
              </a:pPr>
              <a:r>
                <a:rPr lang="en-US" sz="2850">
                  <a:solidFill>
                    <a:srgbClr val="FFFFFF"/>
                  </a:solidFill>
                  <a:latin typeface="Arimo"/>
                  <a:ea typeface="Arimo"/>
                  <a:cs typeface="Arimo"/>
                  <a:sym typeface="Arimo"/>
                </a:rPr>
                <a:t>S</a:t>
              </a:r>
              <a:r>
                <a:rPr lang="en-US" sz="2850">
                  <a:solidFill>
                    <a:srgbClr val="FFFFFF"/>
                  </a:solidFill>
                  <a:latin typeface="Arimo"/>
                  <a:ea typeface="Arimo"/>
                  <a:cs typeface="Arimo"/>
                  <a:sym typeface="Arimo"/>
                </a:rPr>
                <a:t>aaS (Software como Servicio):</a:t>
              </a:r>
            </a:p>
          </p:txBody>
        </p:sp>
      </p:grpSp>
      <p:grpSp>
        <p:nvGrpSpPr>
          <p:cNvPr name="Group 35" id="35"/>
          <p:cNvGrpSpPr/>
          <p:nvPr/>
        </p:nvGrpSpPr>
        <p:grpSpPr>
          <a:xfrm rot="0">
            <a:off x="7567952" y="8402246"/>
            <a:ext cx="9738085" cy="1635000"/>
            <a:chOff x="0" y="0"/>
            <a:chExt cx="12984114" cy="2180000"/>
          </a:xfrm>
        </p:grpSpPr>
        <p:sp>
          <p:nvSpPr>
            <p:cNvPr name="Freeform 36" id="36"/>
            <p:cNvSpPr/>
            <p:nvPr/>
          </p:nvSpPr>
          <p:spPr>
            <a:xfrm flipH="false" flipV="false" rot="0">
              <a:off x="12700" y="12700"/>
              <a:ext cx="12958699" cy="2154555"/>
            </a:xfrm>
            <a:custGeom>
              <a:avLst/>
              <a:gdLst/>
              <a:ahLst/>
              <a:cxnLst/>
              <a:rect r="r" b="b" t="t" l="l"/>
              <a:pathLst>
                <a:path h="2154555" w="12958699">
                  <a:moveTo>
                    <a:pt x="0" y="0"/>
                  </a:moveTo>
                  <a:lnTo>
                    <a:pt x="12958699" y="0"/>
                  </a:lnTo>
                  <a:lnTo>
                    <a:pt x="12958699" y="2154555"/>
                  </a:lnTo>
                  <a:lnTo>
                    <a:pt x="0" y="2154555"/>
                  </a:lnTo>
                  <a:close/>
                </a:path>
              </a:pathLst>
            </a:custGeom>
            <a:solidFill>
              <a:srgbClr val="FFFFFF">
                <a:alpha val="80784"/>
              </a:srgbClr>
            </a:solidFill>
          </p:spPr>
        </p:sp>
        <p:sp>
          <p:nvSpPr>
            <p:cNvPr name="Freeform 37" id="37"/>
            <p:cNvSpPr/>
            <p:nvPr/>
          </p:nvSpPr>
          <p:spPr>
            <a:xfrm flipH="false" flipV="false" rot="0">
              <a:off x="0" y="0"/>
              <a:ext cx="12984099" cy="2179955"/>
            </a:xfrm>
            <a:custGeom>
              <a:avLst/>
              <a:gdLst/>
              <a:ahLst/>
              <a:cxnLst/>
              <a:rect r="r" b="b" t="t" l="l"/>
              <a:pathLst>
                <a:path h="2179955" w="12984099">
                  <a:moveTo>
                    <a:pt x="12700" y="0"/>
                  </a:moveTo>
                  <a:lnTo>
                    <a:pt x="12971399" y="0"/>
                  </a:lnTo>
                  <a:cubicBezTo>
                    <a:pt x="12978384" y="0"/>
                    <a:pt x="12984099" y="5715"/>
                    <a:pt x="12984099" y="12700"/>
                  </a:cubicBezTo>
                  <a:lnTo>
                    <a:pt x="12984099" y="2167255"/>
                  </a:lnTo>
                  <a:cubicBezTo>
                    <a:pt x="12984099" y="2174240"/>
                    <a:pt x="12978384" y="2179955"/>
                    <a:pt x="12971399" y="2179955"/>
                  </a:cubicBezTo>
                  <a:lnTo>
                    <a:pt x="12700" y="2179955"/>
                  </a:lnTo>
                  <a:cubicBezTo>
                    <a:pt x="5715" y="2179955"/>
                    <a:pt x="0" y="2174240"/>
                    <a:pt x="0" y="2167255"/>
                  </a:cubicBezTo>
                  <a:lnTo>
                    <a:pt x="0" y="12700"/>
                  </a:lnTo>
                  <a:cubicBezTo>
                    <a:pt x="0" y="5715"/>
                    <a:pt x="5715" y="0"/>
                    <a:pt x="12700" y="0"/>
                  </a:cubicBezTo>
                  <a:moveTo>
                    <a:pt x="12700" y="25400"/>
                  </a:moveTo>
                  <a:lnTo>
                    <a:pt x="12700" y="12700"/>
                  </a:lnTo>
                  <a:lnTo>
                    <a:pt x="25400" y="12700"/>
                  </a:lnTo>
                  <a:lnTo>
                    <a:pt x="25400" y="2167255"/>
                  </a:lnTo>
                  <a:lnTo>
                    <a:pt x="12700" y="2167255"/>
                  </a:lnTo>
                  <a:lnTo>
                    <a:pt x="12700" y="2154555"/>
                  </a:lnTo>
                  <a:lnTo>
                    <a:pt x="12971399" y="2154555"/>
                  </a:lnTo>
                  <a:lnTo>
                    <a:pt x="12971399" y="2167255"/>
                  </a:lnTo>
                  <a:lnTo>
                    <a:pt x="12958699" y="2167255"/>
                  </a:lnTo>
                  <a:lnTo>
                    <a:pt x="12958699" y="12700"/>
                  </a:lnTo>
                  <a:lnTo>
                    <a:pt x="12971399" y="12700"/>
                  </a:lnTo>
                  <a:lnTo>
                    <a:pt x="12971399" y="25400"/>
                  </a:lnTo>
                  <a:lnTo>
                    <a:pt x="12700" y="25400"/>
                  </a:lnTo>
                  <a:close/>
                </a:path>
              </a:pathLst>
            </a:custGeom>
            <a:solidFill>
              <a:srgbClr val="C34D8B"/>
            </a:solidFill>
          </p:spPr>
        </p:sp>
      </p:grpSp>
      <p:sp>
        <p:nvSpPr>
          <p:cNvPr name="TextBox 38" id="38"/>
          <p:cNvSpPr txBox="true"/>
          <p:nvPr/>
        </p:nvSpPr>
        <p:spPr>
          <a:xfrm rot="0">
            <a:off x="7801355" y="8936269"/>
            <a:ext cx="8732346" cy="805434"/>
          </a:xfrm>
          <a:prstGeom prst="rect">
            <a:avLst/>
          </a:prstGeom>
        </p:spPr>
        <p:txBody>
          <a:bodyPr anchor="t" rtlCol="false" tIns="0" lIns="0" bIns="0" rIns="0">
            <a:spAutoFit/>
          </a:bodyPr>
          <a:lstStyle/>
          <a:p>
            <a:pPr algn="l" marL="515779" indent="-171926" lvl="2">
              <a:lnSpc>
                <a:spcPts val="3078"/>
              </a:lnSpc>
              <a:buFont typeface="Arial"/>
              <a:buChar char="⚬"/>
            </a:pPr>
            <a:r>
              <a:rPr lang="en-US" sz="2850">
                <a:solidFill>
                  <a:srgbClr val="000000"/>
                </a:solidFill>
                <a:latin typeface="Arimo"/>
                <a:ea typeface="Arimo"/>
                <a:cs typeface="Arimo"/>
                <a:sym typeface="Arimo"/>
              </a:rPr>
              <a:t>Permite ejec</a:t>
            </a:r>
            <a:r>
              <a:rPr lang="en-US" sz="2850">
                <a:solidFill>
                  <a:srgbClr val="000000"/>
                </a:solidFill>
                <a:latin typeface="Arimo"/>
                <a:ea typeface="Arimo"/>
                <a:cs typeface="Arimo"/>
                <a:sym typeface="Arimo"/>
              </a:rPr>
              <a:t>utar código sin preocuparse por la gestión de la infraestructura subyacente. </a:t>
            </a:r>
          </a:p>
        </p:txBody>
      </p:sp>
      <p:grpSp>
        <p:nvGrpSpPr>
          <p:cNvPr name="Group 39" id="39"/>
          <p:cNvGrpSpPr/>
          <p:nvPr/>
        </p:nvGrpSpPr>
        <p:grpSpPr>
          <a:xfrm rot="0">
            <a:off x="8024085" y="7847298"/>
            <a:ext cx="6822373" cy="860370"/>
            <a:chOff x="0" y="0"/>
            <a:chExt cx="9096498" cy="1147160"/>
          </a:xfrm>
        </p:grpSpPr>
        <p:sp>
          <p:nvSpPr>
            <p:cNvPr name="Freeform 40" id="40"/>
            <p:cNvSpPr/>
            <p:nvPr/>
          </p:nvSpPr>
          <p:spPr>
            <a:xfrm flipH="false" flipV="false" rot="0">
              <a:off x="12700" y="12700"/>
              <a:ext cx="9071102" cy="1121791"/>
            </a:xfrm>
            <a:custGeom>
              <a:avLst/>
              <a:gdLst/>
              <a:ahLst/>
              <a:cxnLst/>
              <a:rect r="r" b="b" t="t" l="l"/>
              <a:pathLst>
                <a:path h="1121791" w="9071102">
                  <a:moveTo>
                    <a:pt x="0" y="186944"/>
                  </a:moveTo>
                  <a:cubicBezTo>
                    <a:pt x="0" y="83693"/>
                    <a:pt x="85344" y="0"/>
                    <a:pt x="190627" y="0"/>
                  </a:cubicBezTo>
                  <a:lnTo>
                    <a:pt x="8880475" y="0"/>
                  </a:lnTo>
                  <a:cubicBezTo>
                    <a:pt x="8985758" y="0"/>
                    <a:pt x="9071102" y="83693"/>
                    <a:pt x="9071102" y="186944"/>
                  </a:cubicBezTo>
                  <a:lnTo>
                    <a:pt x="9071102" y="934847"/>
                  </a:lnTo>
                  <a:cubicBezTo>
                    <a:pt x="9071102" y="1038098"/>
                    <a:pt x="8985758" y="1121791"/>
                    <a:pt x="8880475" y="1121791"/>
                  </a:cubicBezTo>
                  <a:lnTo>
                    <a:pt x="190627" y="1121791"/>
                  </a:lnTo>
                  <a:cubicBezTo>
                    <a:pt x="85344" y="1121791"/>
                    <a:pt x="0" y="1038098"/>
                    <a:pt x="0" y="934847"/>
                  </a:cubicBezTo>
                  <a:close/>
                </a:path>
              </a:pathLst>
            </a:custGeom>
            <a:solidFill>
              <a:srgbClr val="C34D8B"/>
            </a:solidFill>
          </p:spPr>
        </p:sp>
        <p:sp>
          <p:nvSpPr>
            <p:cNvPr name="Freeform 41" id="41"/>
            <p:cNvSpPr/>
            <p:nvPr/>
          </p:nvSpPr>
          <p:spPr>
            <a:xfrm flipH="false" flipV="false" rot="0">
              <a:off x="0" y="0"/>
              <a:ext cx="9096502" cy="1147191"/>
            </a:xfrm>
            <a:custGeom>
              <a:avLst/>
              <a:gdLst/>
              <a:ahLst/>
              <a:cxnLst/>
              <a:rect r="r" b="b" t="t" l="l"/>
              <a:pathLst>
                <a:path h="1147191" w="9096502">
                  <a:moveTo>
                    <a:pt x="0" y="199644"/>
                  </a:moveTo>
                  <a:cubicBezTo>
                    <a:pt x="0" y="89154"/>
                    <a:pt x="91313" y="0"/>
                    <a:pt x="203327" y="0"/>
                  </a:cubicBezTo>
                  <a:lnTo>
                    <a:pt x="8893175" y="0"/>
                  </a:lnTo>
                  <a:lnTo>
                    <a:pt x="8893175" y="12700"/>
                  </a:lnTo>
                  <a:lnTo>
                    <a:pt x="8893175" y="0"/>
                  </a:lnTo>
                  <a:cubicBezTo>
                    <a:pt x="9005316" y="0"/>
                    <a:pt x="9096502" y="89154"/>
                    <a:pt x="9096502" y="199644"/>
                  </a:cubicBezTo>
                  <a:lnTo>
                    <a:pt x="9083802" y="199644"/>
                  </a:lnTo>
                  <a:lnTo>
                    <a:pt x="9096502" y="199644"/>
                  </a:lnTo>
                  <a:lnTo>
                    <a:pt x="9096502" y="947547"/>
                  </a:lnTo>
                  <a:lnTo>
                    <a:pt x="9083802" y="947547"/>
                  </a:lnTo>
                  <a:lnTo>
                    <a:pt x="9096502" y="947547"/>
                  </a:lnTo>
                  <a:cubicBezTo>
                    <a:pt x="9096502" y="1058037"/>
                    <a:pt x="9005189" y="1147191"/>
                    <a:pt x="8893175" y="1147191"/>
                  </a:cubicBezTo>
                  <a:lnTo>
                    <a:pt x="8893175" y="1134491"/>
                  </a:lnTo>
                  <a:lnTo>
                    <a:pt x="8893175" y="1147191"/>
                  </a:lnTo>
                  <a:lnTo>
                    <a:pt x="203327" y="1147191"/>
                  </a:lnTo>
                  <a:lnTo>
                    <a:pt x="203327" y="1134491"/>
                  </a:lnTo>
                  <a:lnTo>
                    <a:pt x="203327" y="1147191"/>
                  </a:lnTo>
                  <a:cubicBezTo>
                    <a:pt x="91313" y="1147191"/>
                    <a:pt x="0" y="1058037"/>
                    <a:pt x="0" y="947547"/>
                  </a:cubicBezTo>
                  <a:lnTo>
                    <a:pt x="0" y="199644"/>
                  </a:lnTo>
                  <a:lnTo>
                    <a:pt x="12700" y="199644"/>
                  </a:lnTo>
                  <a:lnTo>
                    <a:pt x="0" y="199644"/>
                  </a:lnTo>
                  <a:moveTo>
                    <a:pt x="25400" y="199644"/>
                  </a:moveTo>
                  <a:lnTo>
                    <a:pt x="25400" y="947547"/>
                  </a:lnTo>
                  <a:lnTo>
                    <a:pt x="12700" y="947547"/>
                  </a:lnTo>
                  <a:lnTo>
                    <a:pt x="25400" y="947547"/>
                  </a:lnTo>
                  <a:cubicBezTo>
                    <a:pt x="25400" y="1043559"/>
                    <a:pt x="104902" y="1121791"/>
                    <a:pt x="203327" y="1121791"/>
                  </a:cubicBezTo>
                  <a:lnTo>
                    <a:pt x="8893175" y="1121791"/>
                  </a:lnTo>
                  <a:cubicBezTo>
                    <a:pt x="8991727" y="1121791"/>
                    <a:pt x="9071102" y="1043559"/>
                    <a:pt x="9071102" y="947547"/>
                  </a:cubicBezTo>
                  <a:lnTo>
                    <a:pt x="9071102" y="199644"/>
                  </a:lnTo>
                  <a:cubicBezTo>
                    <a:pt x="9071102" y="103632"/>
                    <a:pt x="8991600" y="25400"/>
                    <a:pt x="8893175" y="25400"/>
                  </a:cubicBezTo>
                  <a:lnTo>
                    <a:pt x="203327" y="25400"/>
                  </a:lnTo>
                  <a:lnTo>
                    <a:pt x="203327" y="12700"/>
                  </a:lnTo>
                  <a:lnTo>
                    <a:pt x="203327" y="25400"/>
                  </a:lnTo>
                  <a:cubicBezTo>
                    <a:pt x="104902" y="25400"/>
                    <a:pt x="25400" y="103632"/>
                    <a:pt x="25400" y="199644"/>
                  </a:cubicBezTo>
                  <a:close/>
                </a:path>
              </a:pathLst>
            </a:custGeom>
            <a:solidFill>
              <a:srgbClr val="FFFFFF"/>
            </a:solidFill>
          </p:spPr>
        </p:sp>
      </p:grpSp>
      <p:grpSp>
        <p:nvGrpSpPr>
          <p:cNvPr name="Group 42" id="42"/>
          <p:cNvGrpSpPr/>
          <p:nvPr/>
        </p:nvGrpSpPr>
        <p:grpSpPr>
          <a:xfrm rot="0">
            <a:off x="8136042" y="7929438"/>
            <a:ext cx="6740234" cy="778230"/>
            <a:chOff x="0" y="0"/>
            <a:chExt cx="8986978" cy="1037640"/>
          </a:xfrm>
        </p:grpSpPr>
        <p:sp>
          <p:nvSpPr>
            <p:cNvPr name="Freeform 43" id="43"/>
            <p:cNvSpPr/>
            <p:nvPr/>
          </p:nvSpPr>
          <p:spPr>
            <a:xfrm flipH="false" flipV="false" rot="0">
              <a:off x="0" y="0"/>
              <a:ext cx="8986978" cy="1037640"/>
            </a:xfrm>
            <a:custGeom>
              <a:avLst/>
              <a:gdLst/>
              <a:ahLst/>
              <a:cxnLst/>
              <a:rect r="r" b="b" t="t" l="l"/>
              <a:pathLst>
                <a:path h="1037640" w="8986978">
                  <a:moveTo>
                    <a:pt x="0" y="0"/>
                  </a:moveTo>
                  <a:lnTo>
                    <a:pt x="8986978" y="0"/>
                  </a:lnTo>
                  <a:lnTo>
                    <a:pt x="8986978" y="1037640"/>
                  </a:lnTo>
                  <a:lnTo>
                    <a:pt x="0" y="1037640"/>
                  </a:lnTo>
                  <a:close/>
                </a:path>
              </a:pathLst>
            </a:custGeom>
            <a:solidFill>
              <a:srgbClr val="000000">
                <a:alpha val="0"/>
              </a:srgbClr>
            </a:solidFill>
          </p:spPr>
        </p:sp>
        <p:sp>
          <p:nvSpPr>
            <p:cNvPr name="TextBox 44" id="44"/>
            <p:cNvSpPr txBox="true"/>
            <p:nvPr/>
          </p:nvSpPr>
          <p:spPr>
            <a:xfrm>
              <a:off x="0" y="19050"/>
              <a:ext cx="8986978" cy="1018590"/>
            </a:xfrm>
            <a:prstGeom prst="rect">
              <a:avLst/>
            </a:prstGeom>
          </p:spPr>
          <p:txBody>
            <a:bodyPr anchor="ctr" rtlCol="false" tIns="0" lIns="0" bIns="0" rIns="0"/>
            <a:lstStyle/>
            <a:p>
              <a:pPr algn="l">
                <a:lnSpc>
                  <a:spcPts val="3078"/>
                </a:lnSpc>
              </a:pPr>
              <a:r>
                <a:rPr lang="en-US" sz="2850">
                  <a:solidFill>
                    <a:srgbClr val="FFFFFF"/>
                  </a:solidFill>
                  <a:latin typeface="Arimo"/>
                  <a:ea typeface="Arimo"/>
                  <a:cs typeface="Arimo"/>
                  <a:sym typeface="Arimo"/>
                </a:rPr>
                <a:t>F</a:t>
              </a:r>
              <a:r>
                <a:rPr lang="en-US" sz="2850">
                  <a:solidFill>
                    <a:srgbClr val="FFFFFF"/>
                  </a:solidFill>
                  <a:latin typeface="Arimo"/>
                  <a:ea typeface="Arimo"/>
                  <a:cs typeface="Arimo"/>
                  <a:sym typeface="Arimo"/>
                </a:rPr>
                <a:t>aaS (Función como Servicio):</a:t>
              </a:r>
            </a:p>
          </p:txBody>
        </p:sp>
      </p:grpSp>
    </p:spTree>
  </p:cSld>
  <p:clrMapOvr>
    <a:masterClrMapping/>
  </p:clrMapOvr>
</p:sld>
</file>

<file path=ppt/slides/slide5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60000">
            <a:off x="-23360" y="-98707"/>
            <a:ext cx="11414269" cy="6601629"/>
            <a:chOff x="0" y="0"/>
            <a:chExt cx="15219025" cy="8802172"/>
          </a:xfrm>
        </p:grpSpPr>
        <p:sp>
          <p:nvSpPr>
            <p:cNvPr name="Freeform 3" id="3"/>
            <p:cNvSpPr/>
            <p:nvPr/>
          </p:nvSpPr>
          <p:spPr>
            <a:xfrm flipH="false" flipV="false" rot="0">
              <a:off x="0" y="0"/>
              <a:ext cx="15218989" cy="8803002"/>
            </a:xfrm>
            <a:custGeom>
              <a:avLst/>
              <a:gdLst/>
              <a:ahLst/>
              <a:cxnLst/>
              <a:rect r="r" b="b" t="t" l="l"/>
              <a:pathLst>
                <a:path h="8803002" w="15218989">
                  <a:moveTo>
                    <a:pt x="126849" y="0"/>
                  </a:moveTo>
                  <a:lnTo>
                    <a:pt x="15218989" y="280653"/>
                  </a:lnTo>
                  <a:lnTo>
                    <a:pt x="5969434" y="7786959"/>
                  </a:lnTo>
                  <a:lnTo>
                    <a:pt x="5862797" y="7868569"/>
                  </a:lnTo>
                  <a:cubicBezTo>
                    <a:pt x="5030663" y="8471644"/>
                    <a:pt x="4083445" y="8776554"/>
                    <a:pt x="3138037" y="8800652"/>
                  </a:cubicBezTo>
                  <a:cubicBezTo>
                    <a:pt x="3039544" y="8803002"/>
                    <a:pt x="2941051" y="8802494"/>
                    <a:pt x="2842861" y="8799046"/>
                  </a:cubicBezTo>
                  <a:cubicBezTo>
                    <a:pt x="1884330" y="8764184"/>
                    <a:pt x="940431" y="8441603"/>
                    <a:pt x="133334" y="7849130"/>
                  </a:cubicBezTo>
                  <a:lnTo>
                    <a:pt x="0" y="7740853"/>
                  </a:lnTo>
                  <a:close/>
                </a:path>
              </a:pathLst>
            </a:custGeom>
            <a:gradFill rotWithShape="true">
              <a:gsLst>
                <a:gs pos="32000">
                  <a:srgbClr val="E3E8E2">
                    <a:alpha val="100000"/>
                  </a:srgbClr>
                </a:gs>
                <a:gs pos="100000">
                  <a:srgbClr val="DE6BEF">
                    <a:alpha val="100000"/>
                  </a:srgbClr>
                </a:gs>
              </a:gsLst>
              <a:lin ang="14460000"/>
            </a:gradFill>
          </p:spPr>
        </p:sp>
      </p:grpSp>
      <p:grpSp>
        <p:nvGrpSpPr>
          <p:cNvPr name="Group 4" id="4"/>
          <p:cNvGrpSpPr/>
          <p:nvPr/>
        </p:nvGrpSpPr>
        <p:grpSpPr>
          <a:xfrm rot="0">
            <a:off x="424814" y="581379"/>
            <a:ext cx="7839221" cy="3601718"/>
            <a:chOff x="0" y="0"/>
            <a:chExt cx="10452294" cy="4802291"/>
          </a:xfrm>
        </p:grpSpPr>
        <p:sp>
          <p:nvSpPr>
            <p:cNvPr name="Freeform 5" id="5"/>
            <p:cNvSpPr/>
            <p:nvPr/>
          </p:nvSpPr>
          <p:spPr>
            <a:xfrm flipH="false" flipV="false" rot="0">
              <a:off x="0" y="0"/>
              <a:ext cx="10452294" cy="4802291"/>
            </a:xfrm>
            <a:custGeom>
              <a:avLst/>
              <a:gdLst/>
              <a:ahLst/>
              <a:cxnLst/>
              <a:rect r="r" b="b" t="t" l="l"/>
              <a:pathLst>
                <a:path h="4802291" w="10452294">
                  <a:moveTo>
                    <a:pt x="0" y="0"/>
                  </a:moveTo>
                  <a:lnTo>
                    <a:pt x="10452294" y="0"/>
                  </a:lnTo>
                  <a:lnTo>
                    <a:pt x="10452294" y="4802291"/>
                  </a:lnTo>
                  <a:lnTo>
                    <a:pt x="0" y="4802291"/>
                  </a:lnTo>
                  <a:close/>
                </a:path>
              </a:pathLst>
            </a:custGeom>
            <a:gradFill rotWithShape="true">
              <a:gsLst>
                <a:gs pos="39000">
                  <a:srgbClr val="F0F3F3">
                    <a:alpha val="0"/>
                  </a:srgbClr>
                </a:gs>
                <a:gs pos="100000">
                  <a:srgbClr val="F18F7F">
                    <a:alpha val="0"/>
                  </a:srgbClr>
                </a:gs>
              </a:gsLst>
              <a:lin ang="1200000"/>
            </a:gradFill>
            <a:ln cap="sq">
              <a:noFill/>
              <a:prstDash val="solid"/>
              <a:miter/>
            </a:ln>
          </p:spPr>
        </p:sp>
        <p:sp>
          <p:nvSpPr>
            <p:cNvPr name="TextBox 6" id="6"/>
            <p:cNvSpPr txBox="true"/>
            <p:nvPr/>
          </p:nvSpPr>
          <p:spPr>
            <a:xfrm>
              <a:off x="0" y="28575"/>
              <a:ext cx="10452294" cy="4773716"/>
            </a:xfrm>
            <a:prstGeom prst="rect">
              <a:avLst/>
            </a:prstGeom>
          </p:spPr>
          <p:txBody>
            <a:bodyPr anchor="ctr" rtlCol="false" tIns="0" lIns="0" bIns="0" rIns="0"/>
            <a:lstStyle/>
            <a:p>
              <a:pPr algn="ctr" marL="0" indent="0" lvl="0">
                <a:lnSpc>
                  <a:spcPts val="11499"/>
                </a:lnSpc>
                <a:spcBef>
                  <a:spcPct val="0"/>
                </a:spcBef>
              </a:pPr>
              <a:r>
                <a:rPr lang="en-US" sz="9999">
                  <a:solidFill>
                    <a:srgbClr val="131416"/>
                  </a:solidFill>
                  <a:latin typeface="Playlist Script"/>
                  <a:ea typeface="Playlist Script"/>
                  <a:cs typeface="Playlist Script"/>
                  <a:sym typeface="Playlist Script"/>
                </a:rPr>
                <a:t>Proveedores en la Nube</a:t>
              </a:r>
            </a:p>
          </p:txBody>
        </p:sp>
      </p:grpSp>
      <p:grpSp>
        <p:nvGrpSpPr>
          <p:cNvPr name="Group 7" id="7"/>
          <p:cNvGrpSpPr/>
          <p:nvPr/>
        </p:nvGrpSpPr>
        <p:grpSpPr>
          <a:xfrm rot="0">
            <a:off x="9355336" y="2243827"/>
            <a:ext cx="7448550" cy="19050"/>
            <a:chOff x="0" y="0"/>
            <a:chExt cx="9931400" cy="25400"/>
          </a:xfrm>
        </p:grpSpPr>
        <p:sp>
          <p:nvSpPr>
            <p:cNvPr name="Freeform 8" id="8"/>
            <p:cNvSpPr/>
            <p:nvPr/>
          </p:nvSpPr>
          <p:spPr>
            <a:xfrm flipH="false" flipV="false" rot="0">
              <a:off x="12700" y="12700"/>
              <a:ext cx="9906000" cy="0"/>
            </a:xfrm>
            <a:custGeom>
              <a:avLst/>
              <a:gdLst/>
              <a:ahLst/>
              <a:cxnLst/>
              <a:rect r="r" b="b" t="t" l="l"/>
              <a:pathLst>
                <a:path h="0" w="9906000">
                  <a:moveTo>
                    <a:pt x="0" y="0"/>
                  </a:moveTo>
                  <a:lnTo>
                    <a:pt x="9906000" y="0"/>
                  </a:lnTo>
                </a:path>
              </a:pathLst>
            </a:custGeom>
            <a:solidFill>
              <a:srgbClr val="7F29E7"/>
            </a:solidFill>
          </p:spPr>
        </p:sp>
        <p:sp>
          <p:nvSpPr>
            <p:cNvPr name="Freeform 9" id="9"/>
            <p:cNvSpPr/>
            <p:nvPr/>
          </p:nvSpPr>
          <p:spPr>
            <a:xfrm flipH="false" flipV="false" rot="0">
              <a:off x="12700" y="0"/>
              <a:ext cx="9906000" cy="25400"/>
            </a:xfrm>
            <a:custGeom>
              <a:avLst/>
              <a:gdLst/>
              <a:ahLst/>
              <a:cxnLst/>
              <a:rect r="r" b="b" t="t" l="l"/>
              <a:pathLst>
                <a:path h="25400" w="9906000">
                  <a:moveTo>
                    <a:pt x="0" y="0"/>
                  </a:moveTo>
                  <a:lnTo>
                    <a:pt x="9906000" y="0"/>
                  </a:lnTo>
                  <a:lnTo>
                    <a:pt x="9906000" y="25400"/>
                  </a:lnTo>
                  <a:lnTo>
                    <a:pt x="0" y="25400"/>
                  </a:lnTo>
                  <a:close/>
                </a:path>
              </a:pathLst>
            </a:custGeom>
            <a:solidFill>
              <a:srgbClr val="7F29E7"/>
            </a:solidFill>
          </p:spPr>
        </p:sp>
      </p:grpSp>
      <p:grpSp>
        <p:nvGrpSpPr>
          <p:cNvPr name="Group 10" id="10"/>
          <p:cNvGrpSpPr/>
          <p:nvPr/>
        </p:nvGrpSpPr>
        <p:grpSpPr>
          <a:xfrm rot="0">
            <a:off x="9355336" y="2272619"/>
            <a:ext cx="7439025" cy="1878292"/>
            <a:chOff x="0" y="0"/>
            <a:chExt cx="9918700" cy="2504389"/>
          </a:xfrm>
        </p:grpSpPr>
        <p:sp>
          <p:nvSpPr>
            <p:cNvPr name="Freeform 11" id="11"/>
            <p:cNvSpPr/>
            <p:nvPr/>
          </p:nvSpPr>
          <p:spPr>
            <a:xfrm flipH="false" flipV="false" rot="0">
              <a:off x="0" y="0"/>
              <a:ext cx="9918700" cy="2504389"/>
            </a:xfrm>
            <a:custGeom>
              <a:avLst/>
              <a:gdLst/>
              <a:ahLst/>
              <a:cxnLst/>
              <a:rect r="r" b="b" t="t" l="l"/>
              <a:pathLst>
                <a:path h="2504389" w="9918700">
                  <a:moveTo>
                    <a:pt x="0" y="0"/>
                  </a:moveTo>
                  <a:lnTo>
                    <a:pt x="9918700" y="0"/>
                  </a:lnTo>
                  <a:lnTo>
                    <a:pt x="9918700" y="2504389"/>
                  </a:lnTo>
                  <a:lnTo>
                    <a:pt x="0" y="2504389"/>
                  </a:lnTo>
                  <a:close/>
                </a:path>
              </a:pathLst>
            </a:custGeom>
            <a:solidFill>
              <a:srgbClr val="000000">
                <a:alpha val="0"/>
              </a:srgbClr>
            </a:solidFill>
          </p:spPr>
        </p:sp>
        <p:sp>
          <p:nvSpPr>
            <p:cNvPr name="TextBox 12" id="12"/>
            <p:cNvSpPr txBox="true"/>
            <p:nvPr/>
          </p:nvSpPr>
          <p:spPr>
            <a:xfrm>
              <a:off x="0" y="38100"/>
              <a:ext cx="9918700" cy="2466289"/>
            </a:xfrm>
            <a:prstGeom prst="rect">
              <a:avLst/>
            </a:prstGeom>
          </p:spPr>
          <p:txBody>
            <a:bodyPr anchor="t" rtlCol="false" tIns="0" lIns="0" bIns="0" rIns="0"/>
            <a:lstStyle/>
            <a:p>
              <a:pPr algn="just">
                <a:lnSpc>
                  <a:spcPts val="5994"/>
                </a:lnSpc>
              </a:pPr>
              <a:r>
                <a:rPr lang="en-US" sz="5550">
                  <a:solidFill>
                    <a:srgbClr val="000000"/>
                  </a:solidFill>
                  <a:latin typeface="Arimo"/>
                  <a:ea typeface="Arimo"/>
                  <a:cs typeface="Arimo"/>
                  <a:sym typeface="Arimo"/>
                </a:rPr>
                <a:t>Amazon Web Se</a:t>
              </a:r>
              <a:r>
                <a:rPr lang="en-US" sz="5550">
                  <a:solidFill>
                    <a:srgbClr val="000000"/>
                  </a:solidFill>
                  <a:latin typeface="Arimo"/>
                  <a:ea typeface="Arimo"/>
                  <a:cs typeface="Arimo"/>
                  <a:sym typeface="Arimo"/>
                </a:rPr>
                <a:t>rvices (AWS)</a:t>
              </a:r>
            </a:p>
          </p:txBody>
        </p:sp>
      </p:grpSp>
      <p:grpSp>
        <p:nvGrpSpPr>
          <p:cNvPr name="Group 13" id="13"/>
          <p:cNvGrpSpPr/>
          <p:nvPr/>
        </p:nvGrpSpPr>
        <p:grpSpPr>
          <a:xfrm rot="0">
            <a:off x="9355336" y="4141386"/>
            <a:ext cx="7448550" cy="19050"/>
            <a:chOff x="0" y="0"/>
            <a:chExt cx="9931400" cy="25400"/>
          </a:xfrm>
        </p:grpSpPr>
        <p:sp>
          <p:nvSpPr>
            <p:cNvPr name="Freeform 14" id="14"/>
            <p:cNvSpPr/>
            <p:nvPr/>
          </p:nvSpPr>
          <p:spPr>
            <a:xfrm flipH="false" flipV="false" rot="0">
              <a:off x="12700" y="12700"/>
              <a:ext cx="9906000" cy="0"/>
            </a:xfrm>
            <a:custGeom>
              <a:avLst/>
              <a:gdLst/>
              <a:ahLst/>
              <a:cxnLst/>
              <a:rect r="r" b="b" t="t" l="l"/>
              <a:pathLst>
                <a:path h="0" w="9906000">
                  <a:moveTo>
                    <a:pt x="0" y="0"/>
                  </a:moveTo>
                  <a:lnTo>
                    <a:pt x="9906000" y="0"/>
                  </a:lnTo>
                </a:path>
              </a:pathLst>
            </a:custGeom>
            <a:solidFill>
              <a:srgbClr val="E729B1"/>
            </a:solidFill>
          </p:spPr>
        </p:sp>
        <p:sp>
          <p:nvSpPr>
            <p:cNvPr name="Freeform 15" id="15"/>
            <p:cNvSpPr/>
            <p:nvPr/>
          </p:nvSpPr>
          <p:spPr>
            <a:xfrm flipH="false" flipV="false" rot="0">
              <a:off x="12700" y="0"/>
              <a:ext cx="9906000" cy="25400"/>
            </a:xfrm>
            <a:custGeom>
              <a:avLst/>
              <a:gdLst/>
              <a:ahLst/>
              <a:cxnLst/>
              <a:rect r="r" b="b" t="t" l="l"/>
              <a:pathLst>
                <a:path h="25400" w="9906000">
                  <a:moveTo>
                    <a:pt x="0" y="0"/>
                  </a:moveTo>
                  <a:lnTo>
                    <a:pt x="9906000" y="0"/>
                  </a:lnTo>
                  <a:lnTo>
                    <a:pt x="9906000" y="25400"/>
                  </a:lnTo>
                  <a:lnTo>
                    <a:pt x="0" y="25400"/>
                  </a:lnTo>
                  <a:close/>
                </a:path>
              </a:pathLst>
            </a:custGeom>
            <a:solidFill>
              <a:srgbClr val="E729B1"/>
            </a:solidFill>
          </p:spPr>
        </p:sp>
      </p:grpSp>
      <p:grpSp>
        <p:nvGrpSpPr>
          <p:cNvPr name="Group 16" id="16"/>
          <p:cNvGrpSpPr/>
          <p:nvPr/>
        </p:nvGrpSpPr>
        <p:grpSpPr>
          <a:xfrm rot="0">
            <a:off x="9355336" y="4464107"/>
            <a:ext cx="7439025" cy="1251901"/>
            <a:chOff x="0" y="0"/>
            <a:chExt cx="9918700" cy="1669202"/>
          </a:xfrm>
        </p:grpSpPr>
        <p:sp>
          <p:nvSpPr>
            <p:cNvPr name="Freeform 17" id="17"/>
            <p:cNvSpPr/>
            <p:nvPr/>
          </p:nvSpPr>
          <p:spPr>
            <a:xfrm flipH="false" flipV="false" rot="0">
              <a:off x="0" y="0"/>
              <a:ext cx="9918700" cy="1669202"/>
            </a:xfrm>
            <a:custGeom>
              <a:avLst/>
              <a:gdLst/>
              <a:ahLst/>
              <a:cxnLst/>
              <a:rect r="r" b="b" t="t" l="l"/>
              <a:pathLst>
                <a:path h="1669202" w="9918700">
                  <a:moveTo>
                    <a:pt x="0" y="0"/>
                  </a:moveTo>
                  <a:lnTo>
                    <a:pt x="9918700" y="0"/>
                  </a:lnTo>
                  <a:lnTo>
                    <a:pt x="9918700" y="1669202"/>
                  </a:lnTo>
                  <a:lnTo>
                    <a:pt x="0" y="1669202"/>
                  </a:lnTo>
                  <a:close/>
                </a:path>
              </a:pathLst>
            </a:custGeom>
            <a:solidFill>
              <a:srgbClr val="000000">
                <a:alpha val="0"/>
              </a:srgbClr>
            </a:solidFill>
          </p:spPr>
        </p:sp>
        <p:sp>
          <p:nvSpPr>
            <p:cNvPr name="TextBox 18" id="18"/>
            <p:cNvSpPr txBox="true"/>
            <p:nvPr/>
          </p:nvSpPr>
          <p:spPr>
            <a:xfrm>
              <a:off x="0" y="47625"/>
              <a:ext cx="9918700" cy="1621577"/>
            </a:xfrm>
            <a:prstGeom prst="rect">
              <a:avLst/>
            </a:prstGeom>
          </p:spPr>
          <p:txBody>
            <a:bodyPr anchor="t" rtlCol="false" tIns="0" lIns="0" bIns="0" rIns="0"/>
            <a:lstStyle/>
            <a:p>
              <a:pPr algn="just">
                <a:lnSpc>
                  <a:spcPts val="6642"/>
                </a:lnSpc>
              </a:pPr>
              <a:r>
                <a:rPr lang="en-US" sz="6150">
                  <a:solidFill>
                    <a:srgbClr val="000000"/>
                  </a:solidFill>
                  <a:latin typeface="Arimo"/>
                  <a:ea typeface="Arimo"/>
                  <a:cs typeface="Arimo"/>
                  <a:sym typeface="Arimo"/>
                </a:rPr>
                <a:t>Mi</a:t>
              </a:r>
              <a:r>
                <a:rPr lang="en-US" sz="6150">
                  <a:solidFill>
                    <a:srgbClr val="000000"/>
                  </a:solidFill>
                  <a:latin typeface="Arimo"/>
                  <a:ea typeface="Arimo"/>
                  <a:cs typeface="Arimo"/>
                  <a:sym typeface="Arimo"/>
                </a:rPr>
                <a:t>crosoft Azure</a:t>
              </a:r>
            </a:p>
          </p:txBody>
        </p:sp>
      </p:grpSp>
      <p:grpSp>
        <p:nvGrpSpPr>
          <p:cNvPr name="Group 19" id="19"/>
          <p:cNvGrpSpPr/>
          <p:nvPr/>
        </p:nvGrpSpPr>
        <p:grpSpPr>
          <a:xfrm rot="0">
            <a:off x="9355336" y="5919585"/>
            <a:ext cx="7448550" cy="19050"/>
            <a:chOff x="0" y="0"/>
            <a:chExt cx="9931400" cy="25400"/>
          </a:xfrm>
        </p:grpSpPr>
        <p:sp>
          <p:nvSpPr>
            <p:cNvPr name="Freeform 20" id="20"/>
            <p:cNvSpPr/>
            <p:nvPr/>
          </p:nvSpPr>
          <p:spPr>
            <a:xfrm flipH="false" flipV="false" rot="0">
              <a:off x="12700" y="12700"/>
              <a:ext cx="9906000" cy="0"/>
            </a:xfrm>
            <a:custGeom>
              <a:avLst/>
              <a:gdLst/>
              <a:ahLst/>
              <a:cxnLst/>
              <a:rect r="r" b="b" t="t" l="l"/>
              <a:pathLst>
                <a:path h="0" w="9906000">
                  <a:moveTo>
                    <a:pt x="0" y="0"/>
                  </a:moveTo>
                  <a:lnTo>
                    <a:pt x="9906000" y="0"/>
                  </a:lnTo>
                </a:path>
              </a:pathLst>
            </a:custGeom>
            <a:solidFill>
              <a:srgbClr val="17BE15"/>
            </a:solidFill>
          </p:spPr>
        </p:sp>
        <p:sp>
          <p:nvSpPr>
            <p:cNvPr name="Freeform 21" id="21"/>
            <p:cNvSpPr/>
            <p:nvPr/>
          </p:nvSpPr>
          <p:spPr>
            <a:xfrm flipH="false" flipV="false" rot="0">
              <a:off x="12700" y="0"/>
              <a:ext cx="9906000" cy="25400"/>
            </a:xfrm>
            <a:custGeom>
              <a:avLst/>
              <a:gdLst/>
              <a:ahLst/>
              <a:cxnLst/>
              <a:rect r="r" b="b" t="t" l="l"/>
              <a:pathLst>
                <a:path h="25400" w="9906000">
                  <a:moveTo>
                    <a:pt x="0" y="0"/>
                  </a:moveTo>
                  <a:lnTo>
                    <a:pt x="9906000" y="0"/>
                  </a:lnTo>
                  <a:lnTo>
                    <a:pt x="9906000" y="25400"/>
                  </a:lnTo>
                  <a:lnTo>
                    <a:pt x="0" y="25400"/>
                  </a:lnTo>
                  <a:close/>
                </a:path>
              </a:pathLst>
            </a:custGeom>
            <a:solidFill>
              <a:srgbClr val="17BE15"/>
            </a:solidFill>
          </p:spPr>
        </p:sp>
      </p:grpSp>
      <p:grpSp>
        <p:nvGrpSpPr>
          <p:cNvPr name="Group 22" id="22"/>
          <p:cNvGrpSpPr/>
          <p:nvPr/>
        </p:nvGrpSpPr>
        <p:grpSpPr>
          <a:xfrm rot="0">
            <a:off x="9355336" y="6106341"/>
            <a:ext cx="7439025" cy="2090101"/>
            <a:chOff x="0" y="0"/>
            <a:chExt cx="9918700" cy="2786802"/>
          </a:xfrm>
        </p:grpSpPr>
        <p:sp>
          <p:nvSpPr>
            <p:cNvPr name="Freeform 23" id="23"/>
            <p:cNvSpPr/>
            <p:nvPr/>
          </p:nvSpPr>
          <p:spPr>
            <a:xfrm flipH="false" flipV="false" rot="0">
              <a:off x="0" y="0"/>
              <a:ext cx="9918700" cy="2786802"/>
            </a:xfrm>
            <a:custGeom>
              <a:avLst/>
              <a:gdLst/>
              <a:ahLst/>
              <a:cxnLst/>
              <a:rect r="r" b="b" t="t" l="l"/>
              <a:pathLst>
                <a:path h="2786802" w="9918700">
                  <a:moveTo>
                    <a:pt x="0" y="0"/>
                  </a:moveTo>
                  <a:lnTo>
                    <a:pt x="9918700" y="0"/>
                  </a:lnTo>
                  <a:lnTo>
                    <a:pt x="9918700" y="2786802"/>
                  </a:lnTo>
                  <a:lnTo>
                    <a:pt x="0" y="2786802"/>
                  </a:lnTo>
                  <a:close/>
                </a:path>
              </a:pathLst>
            </a:custGeom>
            <a:solidFill>
              <a:srgbClr val="000000">
                <a:alpha val="0"/>
              </a:srgbClr>
            </a:solidFill>
            <a:ln cap="sq">
              <a:noFill/>
              <a:prstDash val="solid"/>
              <a:miter/>
            </a:ln>
          </p:spPr>
        </p:sp>
        <p:sp>
          <p:nvSpPr>
            <p:cNvPr name="TextBox 24" id="24"/>
            <p:cNvSpPr txBox="true"/>
            <p:nvPr/>
          </p:nvSpPr>
          <p:spPr>
            <a:xfrm>
              <a:off x="0" y="47625"/>
              <a:ext cx="9918700" cy="2739177"/>
            </a:xfrm>
            <a:prstGeom prst="rect">
              <a:avLst/>
            </a:prstGeom>
          </p:spPr>
          <p:txBody>
            <a:bodyPr anchor="t" rtlCol="false" tIns="0" lIns="0" bIns="0" rIns="0"/>
            <a:lstStyle/>
            <a:p>
              <a:pPr algn="just" marL="0" indent="0" lvl="0">
                <a:lnSpc>
                  <a:spcPts val="6642"/>
                </a:lnSpc>
                <a:spcBef>
                  <a:spcPct val="0"/>
                </a:spcBef>
              </a:pPr>
              <a:r>
                <a:rPr lang="en-US" sz="6150" strike="noStrike" u="none">
                  <a:solidFill>
                    <a:srgbClr val="000000"/>
                  </a:solidFill>
                  <a:latin typeface="Arimo"/>
                  <a:ea typeface="Arimo"/>
                  <a:cs typeface="Arimo"/>
                  <a:sym typeface="Arimo"/>
                </a:rPr>
                <a:t>Google Cloud Platform (GCP)</a:t>
              </a:r>
            </a:p>
          </p:txBody>
        </p:sp>
      </p:grpSp>
      <p:grpSp>
        <p:nvGrpSpPr>
          <p:cNvPr name="Group 25" id="25"/>
          <p:cNvGrpSpPr/>
          <p:nvPr/>
        </p:nvGrpSpPr>
        <p:grpSpPr>
          <a:xfrm rot="0">
            <a:off x="9355336" y="8364148"/>
            <a:ext cx="7448550" cy="19050"/>
            <a:chOff x="0" y="0"/>
            <a:chExt cx="9931400" cy="25400"/>
          </a:xfrm>
        </p:grpSpPr>
        <p:sp>
          <p:nvSpPr>
            <p:cNvPr name="Freeform 26" id="26"/>
            <p:cNvSpPr/>
            <p:nvPr/>
          </p:nvSpPr>
          <p:spPr>
            <a:xfrm flipH="false" flipV="false" rot="0">
              <a:off x="12700" y="12700"/>
              <a:ext cx="9906000" cy="0"/>
            </a:xfrm>
            <a:custGeom>
              <a:avLst/>
              <a:gdLst/>
              <a:ahLst/>
              <a:cxnLst/>
              <a:rect r="r" b="b" t="t" l="l"/>
              <a:pathLst>
                <a:path h="0" w="9906000">
                  <a:moveTo>
                    <a:pt x="0" y="0"/>
                  </a:moveTo>
                  <a:lnTo>
                    <a:pt x="9906000" y="0"/>
                  </a:lnTo>
                </a:path>
              </a:pathLst>
            </a:custGeom>
            <a:solidFill>
              <a:srgbClr val="21BB5F"/>
            </a:solidFill>
          </p:spPr>
        </p:sp>
        <p:sp>
          <p:nvSpPr>
            <p:cNvPr name="Freeform 27" id="27"/>
            <p:cNvSpPr/>
            <p:nvPr/>
          </p:nvSpPr>
          <p:spPr>
            <a:xfrm flipH="false" flipV="false" rot="0">
              <a:off x="12700" y="0"/>
              <a:ext cx="9906000" cy="25400"/>
            </a:xfrm>
            <a:custGeom>
              <a:avLst/>
              <a:gdLst/>
              <a:ahLst/>
              <a:cxnLst/>
              <a:rect r="r" b="b" t="t" l="l"/>
              <a:pathLst>
                <a:path h="25400" w="9906000">
                  <a:moveTo>
                    <a:pt x="0" y="0"/>
                  </a:moveTo>
                  <a:lnTo>
                    <a:pt x="9906000" y="0"/>
                  </a:lnTo>
                  <a:lnTo>
                    <a:pt x="9906000" y="25400"/>
                  </a:lnTo>
                  <a:lnTo>
                    <a:pt x="0" y="25400"/>
                  </a:lnTo>
                  <a:close/>
                </a:path>
              </a:pathLst>
            </a:custGeom>
            <a:solidFill>
              <a:srgbClr val="21BB5F"/>
            </a:solidFill>
          </p:spPr>
        </p:sp>
      </p:gr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35289" y="-82865"/>
            <a:ext cx="9610844" cy="5218887"/>
            <a:chOff x="0" y="0"/>
            <a:chExt cx="12814458" cy="6958516"/>
          </a:xfrm>
        </p:grpSpPr>
        <p:sp>
          <p:nvSpPr>
            <p:cNvPr name="Freeform 3" id="3"/>
            <p:cNvSpPr/>
            <p:nvPr/>
          </p:nvSpPr>
          <p:spPr>
            <a:xfrm flipH="false" flipV="false" rot="0">
              <a:off x="0" y="0"/>
              <a:ext cx="12814427" cy="6959346"/>
            </a:xfrm>
            <a:custGeom>
              <a:avLst/>
              <a:gdLst/>
              <a:ahLst/>
              <a:cxnLst/>
              <a:rect r="r" b="b" t="t" l="l"/>
              <a:pathLst>
                <a:path h="6959346" w="12814427">
                  <a:moveTo>
                    <a:pt x="106807" y="0"/>
                  </a:moveTo>
                  <a:lnTo>
                    <a:pt x="12814427" y="221869"/>
                  </a:lnTo>
                  <a:lnTo>
                    <a:pt x="5026279" y="6155944"/>
                  </a:lnTo>
                  <a:lnTo>
                    <a:pt x="4936490" y="6220460"/>
                  </a:lnTo>
                  <a:cubicBezTo>
                    <a:pt x="4235831" y="6697218"/>
                    <a:pt x="3438271" y="6938264"/>
                    <a:pt x="2642235" y="6957314"/>
                  </a:cubicBezTo>
                  <a:cubicBezTo>
                    <a:pt x="2559304" y="6959346"/>
                    <a:pt x="2476373" y="6958838"/>
                    <a:pt x="2393696" y="6956044"/>
                  </a:cubicBezTo>
                  <a:cubicBezTo>
                    <a:pt x="1586611" y="6928485"/>
                    <a:pt x="791845" y="6673469"/>
                    <a:pt x="112268" y="6205093"/>
                  </a:cubicBezTo>
                  <a:lnTo>
                    <a:pt x="0" y="6119495"/>
                  </a:lnTo>
                  <a:close/>
                </a:path>
              </a:pathLst>
            </a:custGeom>
            <a:gradFill rotWithShape="true">
              <a:gsLst>
                <a:gs pos="32000">
                  <a:srgbClr val="E3E8E2">
                    <a:alpha val="100000"/>
                  </a:srgbClr>
                </a:gs>
                <a:gs pos="100000">
                  <a:srgbClr val="DE6BEF">
                    <a:alpha val="100000"/>
                  </a:srgbClr>
                </a:gs>
              </a:gsLst>
              <a:lin ang="14460000"/>
            </a:gradFill>
          </p:spPr>
        </p:sp>
      </p:grpSp>
      <p:grpSp>
        <p:nvGrpSpPr>
          <p:cNvPr name="Group 4" id="4"/>
          <p:cNvGrpSpPr/>
          <p:nvPr/>
        </p:nvGrpSpPr>
        <p:grpSpPr>
          <a:xfrm rot="0">
            <a:off x="168263" y="0"/>
            <a:ext cx="8372048" cy="4568318"/>
            <a:chOff x="0" y="0"/>
            <a:chExt cx="11162731" cy="6091091"/>
          </a:xfrm>
        </p:grpSpPr>
        <p:sp>
          <p:nvSpPr>
            <p:cNvPr name="Freeform 5" id="5"/>
            <p:cNvSpPr/>
            <p:nvPr/>
          </p:nvSpPr>
          <p:spPr>
            <a:xfrm flipH="false" flipV="false" rot="0">
              <a:off x="0" y="0"/>
              <a:ext cx="11162731" cy="6091091"/>
            </a:xfrm>
            <a:custGeom>
              <a:avLst/>
              <a:gdLst/>
              <a:ahLst/>
              <a:cxnLst/>
              <a:rect r="r" b="b" t="t" l="l"/>
              <a:pathLst>
                <a:path h="6091091" w="11162731">
                  <a:moveTo>
                    <a:pt x="0" y="0"/>
                  </a:moveTo>
                  <a:lnTo>
                    <a:pt x="11162731" y="0"/>
                  </a:lnTo>
                  <a:lnTo>
                    <a:pt x="11162731" y="6091091"/>
                  </a:lnTo>
                  <a:lnTo>
                    <a:pt x="0" y="6091091"/>
                  </a:lnTo>
                  <a:close/>
                </a:path>
              </a:pathLst>
            </a:custGeom>
            <a:gradFill rotWithShape="true">
              <a:gsLst>
                <a:gs pos="39000">
                  <a:srgbClr val="F0F3F3">
                    <a:alpha val="0"/>
                  </a:srgbClr>
                </a:gs>
                <a:gs pos="100000">
                  <a:srgbClr val="F18F7F">
                    <a:alpha val="0"/>
                  </a:srgbClr>
                </a:gs>
              </a:gsLst>
              <a:lin ang="1200000"/>
            </a:gradFill>
            <a:ln cap="sq">
              <a:noFill/>
              <a:prstDash val="solid"/>
              <a:miter/>
            </a:ln>
          </p:spPr>
        </p:sp>
        <p:sp>
          <p:nvSpPr>
            <p:cNvPr name="TextBox 6" id="6"/>
            <p:cNvSpPr txBox="true"/>
            <p:nvPr/>
          </p:nvSpPr>
          <p:spPr>
            <a:xfrm>
              <a:off x="0" y="28575"/>
              <a:ext cx="11162731" cy="6062516"/>
            </a:xfrm>
            <a:prstGeom prst="rect">
              <a:avLst/>
            </a:prstGeom>
          </p:spPr>
          <p:txBody>
            <a:bodyPr anchor="ctr" rtlCol="false" tIns="0" lIns="0" bIns="0" rIns="0"/>
            <a:lstStyle/>
            <a:p>
              <a:pPr algn="l" marL="0" indent="0" lvl="0">
                <a:lnSpc>
                  <a:spcPts val="14605"/>
                </a:lnSpc>
                <a:spcBef>
                  <a:spcPct val="0"/>
                </a:spcBef>
              </a:pPr>
              <a:r>
                <a:rPr lang="en-US" sz="12700">
                  <a:solidFill>
                    <a:srgbClr val="131416"/>
                  </a:solidFill>
                  <a:latin typeface="Playlist Script"/>
                  <a:ea typeface="Playlist Script"/>
                  <a:cs typeface="Playlist Script"/>
                  <a:sym typeface="Playlist Script"/>
                </a:rPr>
                <a:t>Amazon Web Services</a:t>
              </a:r>
            </a:p>
          </p:txBody>
        </p:sp>
      </p:grpSp>
      <p:grpSp>
        <p:nvGrpSpPr>
          <p:cNvPr name="Group 7" id="7"/>
          <p:cNvGrpSpPr/>
          <p:nvPr/>
        </p:nvGrpSpPr>
        <p:grpSpPr>
          <a:xfrm rot="0">
            <a:off x="332291" y="5428383"/>
            <a:ext cx="5384468" cy="2305369"/>
            <a:chOff x="0" y="0"/>
            <a:chExt cx="7179290" cy="3073826"/>
          </a:xfrm>
        </p:grpSpPr>
        <p:sp>
          <p:nvSpPr>
            <p:cNvPr name="Freeform 8" id="8"/>
            <p:cNvSpPr/>
            <p:nvPr/>
          </p:nvSpPr>
          <p:spPr>
            <a:xfrm flipH="false" flipV="false" rot="0">
              <a:off x="0" y="0"/>
              <a:ext cx="7179290" cy="3073826"/>
            </a:xfrm>
            <a:custGeom>
              <a:avLst/>
              <a:gdLst/>
              <a:ahLst/>
              <a:cxnLst/>
              <a:rect r="r" b="b" t="t" l="l"/>
              <a:pathLst>
                <a:path h="3073826" w="7179290">
                  <a:moveTo>
                    <a:pt x="0" y="0"/>
                  </a:moveTo>
                  <a:lnTo>
                    <a:pt x="7179290" y="0"/>
                  </a:lnTo>
                  <a:lnTo>
                    <a:pt x="7179290" y="3073826"/>
                  </a:lnTo>
                  <a:lnTo>
                    <a:pt x="0" y="3073826"/>
                  </a:lnTo>
                  <a:close/>
                </a:path>
              </a:pathLst>
            </a:custGeom>
            <a:solidFill>
              <a:srgbClr val="000000">
                <a:alpha val="0"/>
              </a:srgbClr>
            </a:solidFill>
          </p:spPr>
        </p:sp>
        <p:sp>
          <p:nvSpPr>
            <p:cNvPr name="TextBox 9" id="9"/>
            <p:cNvSpPr txBox="true"/>
            <p:nvPr/>
          </p:nvSpPr>
          <p:spPr>
            <a:xfrm>
              <a:off x="0" y="-76200"/>
              <a:ext cx="7179290" cy="3150026"/>
            </a:xfrm>
            <a:prstGeom prst="rect">
              <a:avLst/>
            </a:prstGeom>
          </p:spPr>
          <p:txBody>
            <a:bodyPr anchor="t" rtlCol="false" tIns="0" lIns="0" bIns="0" rIns="0"/>
            <a:lstStyle/>
            <a:p>
              <a:pPr algn="l">
                <a:lnSpc>
                  <a:spcPts val="3887"/>
                </a:lnSpc>
              </a:pPr>
              <a:r>
                <a:rPr lang="en-US" sz="2700">
                  <a:solidFill>
                    <a:srgbClr val="171717"/>
                  </a:solidFill>
                  <a:latin typeface="Arimo"/>
                  <a:ea typeface="Arimo"/>
                  <a:cs typeface="Arimo"/>
                  <a:sym typeface="Arimo"/>
                </a:rPr>
                <a:t>E</a:t>
              </a:r>
              <a:r>
                <a:rPr lang="en-US" sz="2700">
                  <a:solidFill>
                    <a:srgbClr val="171717"/>
                  </a:solidFill>
                  <a:latin typeface="Arimo"/>
                  <a:ea typeface="Arimo"/>
                  <a:cs typeface="Arimo"/>
                  <a:sym typeface="Arimo"/>
                </a:rPr>
                <a:t>l mayor proveedor de servicios en la nube del mundo, con una gran variedad de servicios y una base de clientes muy extensa. </a:t>
              </a:r>
            </a:p>
          </p:txBody>
        </p:sp>
      </p:grpSp>
      <p:sp>
        <p:nvSpPr>
          <p:cNvPr name="Freeform 10" id="10"/>
          <p:cNvSpPr/>
          <p:nvPr/>
        </p:nvSpPr>
        <p:spPr>
          <a:xfrm flipH="false" flipV="false" rot="0">
            <a:off x="9144000" y="965546"/>
            <a:ext cx="8681417" cy="8681417"/>
          </a:xfrm>
          <a:custGeom>
            <a:avLst/>
            <a:gdLst/>
            <a:ahLst/>
            <a:cxnLst/>
            <a:rect r="r" b="b" t="t" l="l"/>
            <a:pathLst>
              <a:path h="8681417" w="8681417">
                <a:moveTo>
                  <a:pt x="0" y="0"/>
                </a:moveTo>
                <a:lnTo>
                  <a:pt x="8681417" y="0"/>
                </a:lnTo>
                <a:lnTo>
                  <a:pt x="8681417" y="8681417"/>
                </a:lnTo>
                <a:lnTo>
                  <a:pt x="0" y="8681417"/>
                </a:lnTo>
                <a:lnTo>
                  <a:pt x="0" y="0"/>
                </a:lnTo>
                <a:close/>
              </a:path>
            </a:pathLst>
          </a:custGeom>
          <a:blipFill>
            <a:blip r:embed="rId2"/>
            <a:stretch>
              <a:fillRect l="0" t="0" r="0" b="0"/>
            </a:stretch>
          </a:blipFill>
        </p:spPr>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5309058" y="5211476"/>
            <a:ext cx="13098226" cy="5218887"/>
            <a:chOff x="0" y="0"/>
            <a:chExt cx="17464301" cy="6958516"/>
          </a:xfrm>
        </p:grpSpPr>
        <p:sp>
          <p:nvSpPr>
            <p:cNvPr name="Freeform 3" id="3"/>
            <p:cNvSpPr/>
            <p:nvPr/>
          </p:nvSpPr>
          <p:spPr>
            <a:xfrm flipH="false" flipV="false" rot="0">
              <a:off x="0" y="-762"/>
              <a:ext cx="17464086" cy="6959219"/>
            </a:xfrm>
            <a:custGeom>
              <a:avLst/>
              <a:gdLst/>
              <a:ahLst/>
              <a:cxnLst/>
              <a:rect r="r" b="b" t="t" l="l"/>
              <a:pathLst>
                <a:path h="6959219" w="17464086">
                  <a:moveTo>
                    <a:pt x="17318695" y="6959219"/>
                  </a:moveTo>
                  <a:lnTo>
                    <a:pt x="0" y="6737477"/>
                  </a:lnTo>
                  <a:lnTo>
                    <a:pt x="10614322" y="803275"/>
                  </a:lnTo>
                  <a:lnTo>
                    <a:pt x="10736691" y="738759"/>
                  </a:lnTo>
                  <a:cubicBezTo>
                    <a:pt x="11691591" y="262128"/>
                    <a:pt x="12778553" y="21082"/>
                    <a:pt x="13863438" y="2032"/>
                  </a:cubicBezTo>
                  <a:cubicBezTo>
                    <a:pt x="13976462" y="0"/>
                    <a:pt x="14089484" y="508"/>
                    <a:pt x="14202161" y="3302"/>
                  </a:cubicBezTo>
                  <a:cubicBezTo>
                    <a:pt x="15302105" y="30861"/>
                    <a:pt x="16385259" y="285877"/>
                    <a:pt x="17311426" y="754253"/>
                  </a:cubicBezTo>
                  <a:lnTo>
                    <a:pt x="17464086" y="839851"/>
                  </a:lnTo>
                  <a:close/>
                </a:path>
              </a:pathLst>
            </a:custGeom>
            <a:gradFill rotWithShape="true">
              <a:gsLst>
                <a:gs pos="32000">
                  <a:srgbClr val="E3E8E2">
                    <a:alpha val="100000"/>
                  </a:srgbClr>
                </a:gs>
                <a:gs pos="100000">
                  <a:srgbClr val="DE6BEF">
                    <a:alpha val="100000"/>
                  </a:srgbClr>
                </a:gs>
              </a:gsLst>
              <a:lin ang="14460000"/>
            </a:gradFill>
          </p:spPr>
        </p:sp>
      </p:grpSp>
      <p:grpSp>
        <p:nvGrpSpPr>
          <p:cNvPr name="Group 4" id="4"/>
          <p:cNvGrpSpPr/>
          <p:nvPr/>
        </p:nvGrpSpPr>
        <p:grpSpPr>
          <a:xfrm rot="0">
            <a:off x="12188059" y="5934030"/>
            <a:ext cx="8234495" cy="4568318"/>
            <a:chOff x="0" y="0"/>
            <a:chExt cx="10979327" cy="6091091"/>
          </a:xfrm>
        </p:grpSpPr>
        <p:sp>
          <p:nvSpPr>
            <p:cNvPr name="Freeform 5" id="5"/>
            <p:cNvSpPr/>
            <p:nvPr/>
          </p:nvSpPr>
          <p:spPr>
            <a:xfrm flipH="false" flipV="false" rot="0">
              <a:off x="0" y="0"/>
              <a:ext cx="10979327" cy="6091091"/>
            </a:xfrm>
            <a:custGeom>
              <a:avLst/>
              <a:gdLst/>
              <a:ahLst/>
              <a:cxnLst/>
              <a:rect r="r" b="b" t="t" l="l"/>
              <a:pathLst>
                <a:path h="6091091" w="10979327">
                  <a:moveTo>
                    <a:pt x="0" y="0"/>
                  </a:moveTo>
                  <a:lnTo>
                    <a:pt x="10979327" y="0"/>
                  </a:lnTo>
                  <a:lnTo>
                    <a:pt x="10979327" y="6091091"/>
                  </a:lnTo>
                  <a:lnTo>
                    <a:pt x="0" y="6091091"/>
                  </a:lnTo>
                  <a:close/>
                </a:path>
              </a:pathLst>
            </a:custGeom>
            <a:gradFill rotWithShape="true">
              <a:gsLst>
                <a:gs pos="39000">
                  <a:srgbClr val="F0F3F3">
                    <a:alpha val="0"/>
                  </a:srgbClr>
                </a:gs>
                <a:gs pos="100000">
                  <a:srgbClr val="F18F7F">
                    <a:alpha val="0"/>
                  </a:srgbClr>
                </a:gs>
              </a:gsLst>
              <a:lin ang="1200000"/>
            </a:gradFill>
            <a:ln cap="sq">
              <a:noFill/>
              <a:prstDash val="solid"/>
              <a:miter/>
            </a:ln>
          </p:spPr>
        </p:sp>
        <p:sp>
          <p:nvSpPr>
            <p:cNvPr name="TextBox 6" id="6"/>
            <p:cNvSpPr txBox="true"/>
            <p:nvPr/>
          </p:nvSpPr>
          <p:spPr>
            <a:xfrm>
              <a:off x="0" y="28575"/>
              <a:ext cx="10979327" cy="6062516"/>
            </a:xfrm>
            <a:prstGeom prst="rect">
              <a:avLst/>
            </a:prstGeom>
          </p:spPr>
          <p:txBody>
            <a:bodyPr anchor="ctr" rtlCol="false" tIns="0" lIns="0" bIns="0" rIns="0"/>
            <a:lstStyle/>
            <a:p>
              <a:pPr algn="l" marL="0" indent="0" lvl="0">
                <a:lnSpc>
                  <a:spcPts val="14605"/>
                </a:lnSpc>
                <a:spcBef>
                  <a:spcPct val="0"/>
                </a:spcBef>
              </a:pPr>
              <a:r>
                <a:rPr lang="en-US" sz="12700">
                  <a:solidFill>
                    <a:srgbClr val="131416"/>
                  </a:solidFill>
                  <a:latin typeface="Playlist Script"/>
                  <a:ea typeface="Playlist Script"/>
                  <a:cs typeface="Playlist Script"/>
                  <a:sym typeface="Playlist Script"/>
                </a:rPr>
                <a:t>Microsoft Azure</a:t>
              </a:r>
            </a:p>
          </p:txBody>
        </p:sp>
      </p:grpSp>
      <p:grpSp>
        <p:nvGrpSpPr>
          <p:cNvPr name="Group 7" id="7"/>
          <p:cNvGrpSpPr/>
          <p:nvPr/>
        </p:nvGrpSpPr>
        <p:grpSpPr>
          <a:xfrm rot="0">
            <a:off x="8903270" y="1028700"/>
            <a:ext cx="8356031" cy="1764211"/>
            <a:chOff x="0" y="0"/>
            <a:chExt cx="11141374" cy="2352281"/>
          </a:xfrm>
        </p:grpSpPr>
        <p:sp>
          <p:nvSpPr>
            <p:cNvPr name="Freeform 8" id="8"/>
            <p:cNvSpPr/>
            <p:nvPr/>
          </p:nvSpPr>
          <p:spPr>
            <a:xfrm flipH="false" flipV="false" rot="0">
              <a:off x="0" y="0"/>
              <a:ext cx="11141374" cy="2352281"/>
            </a:xfrm>
            <a:custGeom>
              <a:avLst/>
              <a:gdLst/>
              <a:ahLst/>
              <a:cxnLst/>
              <a:rect r="r" b="b" t="t" l="l"/>
              <a:pathLst>
                <a:path h="2352281" w="11141374">
                  <a:moveTo>
                    <a:pt x="0" y="0"/>
                  </a:moveTo>
                  <a:lnTo>
                    <a:pt x="11141374" y="0"/>
                  </a:lnTo>
                  <a:lnTo>
                    <a:pt x="11141374" y="2352281"/>
                  </a:lnTo>
                  <a:lnTo>
                    <a:pt x="0" y="2352281"/>
                  </a:lnTo>
                  <a:close/>
                </a:path>
              </a:pathLst>
            </a:custGeom>
            <a:solidFill>
              <a:srgbClr val="000000">
                <a:alpha val="0"/>
              </a:srgbClr>
            </a:solidFill>
          </p:spPr>
        </p:sp>
        <p:sp>
          <p:nvSpPr>
            <p:cNvPr name="TextBox 9" id="9"/>
            <p:cNvSpPr txBox="true"/>
            <p:nvPr/>
          </p:nvSpPr>
          <p:spPr>
            <a:xfrm>
              <a:off x="0" y="-76200"/>
              <a:ext cx="11141374" cy="2428481"/>
            </a:xfrm>
            <a:prstGeom prst="rect">
              <a:avLst/>
            </a:prstGeom>
          </p:spPr>
          <p:txBody>
            <a:bodyPr anchor="t" rtlCol="false" tIns="0" lIns="0" bIns="0" rIns="0"/>
            <a:lstStyle/>
            <a:p>
              <a:pPr algn="just">
                <a:lnSpc>
                  <a:spcPts val="3887"/>
                </a:lnSpc>
              </a:pPr>
              <a:r>
                <a:rPr lang="en-US" sz="2700">
                  <a:solidFill>
                    <a:srgbClr val="171717"/>
                  </a:solidFill>
                  <a:latin typeface="Arimo"/>
                  <a:ea typeface="Arimo"/>
                  <a:cs typeface="Arimo"/>
                  <a:sym typeface="Arimo"/>
                </a:rPr>
                <a:t>Pl</a:t>
              </a:r>
              <a:r>
                <a:rPr lang="en-US" sz="2700">
                  <a:solidFill>
                    <a:srgbClr val="171717"/>
                  </a:solidFill>
                  <a:latin typeface="Arimo"/>
                  <a:ea typeface="Arimo"/>
                  <a:cs typeface="Arimo"/>
                  <a:sym typeface="Arimo"/>
                </a:rPr>
                <a:t>ataforma de nube de Microsoft, que ofrece una amplia gama de servicios, incluyendo la integración con otras herramientas de Microsoft. </a:t>
              </a:r>
            </a:p>
          </p:txBody>
        </p:sp>
      </p:grpSp>
      <p:sp>
        <p:nvSpPr>
          <p:cNvPr name="Freeform 10" id="10"/>
          <p:cNvSpPr/>
          <p:nvPr/>
        </p:nvSpPr>
        <p:spPr>
          <a:xfrm flipH="false" flipV="false" rot="0">
            <a:off x="583643" y="2464586"/>
            <a:ext cx="9361742" cy="5265980"/>
          </a:xfrm>
          <a:custGeom>
            <a:avLst/>
            <a:gdLst/>
            <a:ahLst/>
            <a:cxnLst/>
            <a:rect r="r" b="b" t="t" l="l"/>
            <a:pathLst>
              <a:path h="5265980" w="9361742">
                <a:moveTo>
                  <a:pt x="0" y="0"/>
                </a:moveTo>
                <a:lnTo>
                  <a:pt x="9361742" y="0"/>
                </a:lnTo>
                <a:lnTo>
                  <a:pt x="9361742" y="5265979"/>
                </a:lnTo>
                <a:lnTo>
                  <a:pt x="0" y="5265979"/>
                </a:lnTo>
                <a:lnTo>
                  <a:pt x="0" y="0"/>
                </a:lnTo>
                <a:close/>
              </a:path>
            </a:pathLst>
          </a:custGeom>
          <a:blipFill>
            <a:blip r:embed="rId2"/>
            <a:stretch>
              <a:fillRect l="0" t="0" r="0" b="0"/>
            </a:stretch>
          </a:blipFill>
        </p:spPr>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60000">
            <a:off x="-35569" y="-114950"/>
            <a:ext cx="13287724" cy="5218887"/>
            <a:chOff x="0" y="0"/>
            <a:chExt cx="17716965" cy="6958516"/>
          </a:xfrm>
        </p:grpSpPr>
        <p:sp>
          <p:nvSpPr>
            <p:cNvPr name="Freeform 3" id="3"/>
            <p:cNvSpPr/>
            <p:nvPr/>
          </p:nvSpPr>
          <p:spPr>
            <a:xfrm flipH="false" flipV="false" rot="0">
              <a:off x="0" y="0"/>
              <a:ext cx="17716923" cy="6959346"/>
            </a:xfrm>
            <a:custGeom>
              <a:avLst/>
              <a:gdLst/>
              <a:ahLst/>
              <a:cxnLst/>
              <a:rect r="r" b="b" t="t" l="l"/>
              <a:pathLst>
                <a:path h="6959346" w="17716923">
                  <a:moveTo>
                    <a:pt x="147669" y="0"/>
                  </a:moveTo>
                  <a:lnTo>
                    <a:pt x="17716923" y="221869"/>
                  </a:lnTo>
                  <a:lnTo>
                    <a:pt x="6949214" y="6155944"/>
                  </a:lnTo>
                  <a:lnTo>
                    <a:pt x="6825073" y="6220460"/>
                  </a:lnTo>
                  <a:cubicBezTo>
                    <a:pt x="5856359" y="6697218"/>
                    <a:pt x="4753671" y="6938264"/>
                    <a:pt x="3653091" y="6957314"/>
                  </a:cubicBezTo>
                  <a:cubicBezTo>
                    <a:pt x="3538433" y="6959346"/>
                    <a:pt x="3423774" y="6958838"/>
                    <a:pt x="3309467" y="6956044"/>
                  </a:cubicBezTo>
                  <a:cubicBezTo>
                    <a:pt x="2193611" y="6928485"/>
                    <a:pt x="1094786" y="6673469"/>
                    <a:pt x="155219" y="6205093"/>
                  </a:cubicBezTo>
                  <a:lnTo>
                    <a:pt x="0" y="6119495"/>
                  </a:lnTo>
                  <a:close/>
                </a:path>
              </a:pathLst>
            </a:custGeom>
            <a:gradFill rotWithShape="true">
              <a:gsLst>
                <a:gs pos="32000">
                  <a:srgbClr val="E3E8E2">
                    <a:alpha val="100000"/>
                  </a:srgbClr>
                </a:gs>
                <a:gs pos="100000">
                  <a:srgbClr val="DE6BEF">
                    <a:alpha val="100000"/>
                  </a:srgbClr>
                </a:gs>
              </a:gsLst>
              <a:lin ang="14460000"/>
            </a:gradFill>
          </p:spPr>
        </p:sp>
      </p:grpSp>
      <p:grpSp>
        <p:nvGrpSpPr>
          <p:cNvPr name="Group 4" id="4"/>
          <p:cNvGrpSpPr/>
          <p:nvPr/>
        </p:nvGrpSpPr>
        <p:grpSpPr>
          <a:xfrm rot="0">
            <a:off x="247171" y="332883"/>
            <a:ext cx="7860062" cy="3601718"/>
            <a:chOff x="0" y="0"/>
            <a:chExt cx="10480083" cy="4802291"/>
          </a:xfrm>
        </p:grpSpPr>
        <p:sp>
          <p:nvSpPr>
            <p:cNvPr name="Freeform 5" id="5"/>
            <p:cNvSpPr/>
            <p:nvPr/>
          </p:nvSpPr>
          <p:spPr>
            <a:xfrm flipH="false" flipV="false" rot="0">
              <a:off x="0" y="0"/>
              <a:ext cx="10480083" cy="4802291"/>
            </a:xfrm>
            <a:custGeom>
              <a:avLst/>
              <a:gdLst/>
              <a:ahLst/>
              <a:cxnLst/>
              <a:rect r="r" b="b" t="t" l="l"/>
              <a:pathLst>
                <a:path h="4802291" w="10480083">
                  <a:moveTo>
                    <a:pt x="0" y="0"/>
                  </a:moveTo>
                  <a:lnTo>
                    <a:pt x="10480083" y="0"/>
                  </a:lnTo>
                  <a:lnTo>
                    <a:pt x="10480083" y="4802291"/>
                  </a:lnTo>
                  <a:lnTo>
                    <a:pt x="0" y="4802291"/>
                  </a:lnTo>
                  <a:close/>
                </a:path>
              </a:pathLst>
            </a:custGeom>
            <a:gradFill rotWithShape="true">
              <a:gsLst>
                <a:gs pos="39000">
                  <a:srgbClr val="F0F3F3">
                    <a:alpha val="0"/>
                  </a:srgbClr>
                </a:gs>
                <a:gs pos="100000">
                  <a:srgbClr val="F18F7F">
                    <a:alpha val="0"/>
                  </a:srgbClr>
                </a:gs>
              </a:gsLst>
              <a:lin ang="1200000"/>
            </a:gradFill>
            <a:ln cap="sq">
              <a:noFill/>
              <a:prstDash val="solid"/>
              <a:miter/>
            </a:ln>
          </p:spPr>
        </p:sp>
        <p:sp>
          <p:nvSpPr>
            <p:cNvPr name="TextBox 6" id="6"/>
            <p:cNvSpPr txBox="true"/>
            <p:nvPr/>
          </p:nvSpPr>
          <p:spPr>
            <a:xfrm>
              <a:off x="0" y="28575"/>
              <a:ext cx="10480083" cy="4773716"/>
            </a:xfrm>
            <a:prstGeom prst="rect">
              <a:avLst/>
            </a:prstGeom>
          </p:spPr>
          <p:txBody>
            <a:bodyPr anchor="ctr" rtlCol="false" tIns="0" lIns="0" bIns="0" rIns="0"/>
            <a:lstStyle/>
            <a:p>
              <a:pPr algn="l" marL="0" indent="0" lvl="0">
                <a:lnSpc>
                  <a:spcPts val="11499"/>
                </a:lnSpc>
                <a:spcBef>
                  <a:spcPct val="0"/>
                </a:spcBef>
              </a:pPr>
              <a:r>
                <a:rPr lang="en-US" sz="9999">
                  <a:solidFill>
                    <a:srgbClr val="131416"/>
                  </a:solidFill>
                  <a:latin typeface="Playlist Script"/>
                  <a:ea typeface="Playlist Script"/>
                  <a:cs typeface="Playlist Script"/>
                  <a:sym typeface="Playlist Script"/>
                </a:rPr>
                <a:t>Google Cloud Platform(GCP)</a:t>
              </a:r>
            </a:p>
          </p:txBody>
        </p:sp>
      </p:grpSp>
      <p:grpSp>
        <p:nvGrpSpPr>
          <p:cNvPr name="Group 7" id="7"/>
          <p:cNvGrpSpPr/>
          <p:nvPr/>
        </p:nvGrpSpPr>
        <p:grpSpPr>
          <a:xfrm rot="0">
            <a:off x="946691" y="6494838"/>
            <a:ext cx="5661602" cy="2763462"/>
            <a:chOff x="0" y="0"/>
            <a:chExt cx="7548802" cy="3684616"/>
          </a:xfrm>
        </p:grpSpPr>
        <p:sp>
          <p:nvSpPr>
            <p:cNvPr name="Freeform 8" id="8"/>
            <p:cNvSpPr/>
            <p:nvPr/>
          </p:nvSpPr>
          <p:spPr>
            <a:xfrm flipH="false" flipV="false" rot="0">
              <a:off x="0" y="0"/>
              <a:ext cx="7548802" cy="3684616"/>
            </a:xfrm>
            <a:custGeom>
              <a:avLst/>
              <a:gdLst/>
              <a:ahLst/>
              <a:cxnLst/>
              <a:rect r="r" b="b" t="t" l="l"/>
              <a:pathLst>
                <a:path h="3684616" w="7548802">
                  <a:moveTo>
                    <a:pt x="0" y="0"/>
                  </a:moveTo>
                  <a:lnTo>
                    <a:pt x="7548802" y="0"/>
                  </a:lnTo>
                  <a:lnTo>
                    <a:pt x="7548802" y="3684616"/>
                  </a:lnTo>
                  <a:lnTo>
                    <a:pt x="0" y="3684616"/>
                  </a:lnTo>
                  <a:close/>
                </a:path>
              </a:pathLst>
            </a:custGeom>
            <a:solidFill>
              <a:srgbClr val="000000">
                <a:alpha val="0"/>
              </a:srgbClr>
            </a:solidFill>
          </p:spPr>
        </p:sp>
        <p:sp>
          <p:nvSpPr>
            <p:cNvPr name="TextBox 9" id="9"/>
            <p:cNvSpPr txBox="true"/>
            <p:nvPr/>
          </p:nvSpPr>
          <p:spPr>
            <a:xfrm>
              <a:off x="0" y="-76200"/>
              <a:ext cx="7548802" cy="3760816"/>
            </a:xfrm>
            <a:prstGeom prst="rect">
              <a:avLst/>
            </a:prstGeom>
          </p:spPr>
          <p:txBody>
            <a:bodyPr anchor="t" rtlCol="false" tIns="0" lIns="0" bIns="0" rIns="0"/>
            <a:lstStyle/>
            <a:p>
              <a:pPr algn="l">
                <a:lnSpc>
                  <a:spcPts val="3887"/>
                </a:lnSpc>
              </a:pPr>
              <a:r>
                <a:rPr lang="en-US" sz="2700">
                  <a:solidFill>
                    <a:srgbClr val="171717"/>
                  </a:solidFill>
                  <a:latin typeface="Arimo"/>
                  <a:ea typeface="Arimo"/>
                  <a:cs typeface="Arimo"/>
                  <a:sym typeface="Arimo"/>
                </a:rPr>
                <a:t>Plataforma de nube de Google, conocida por su enfoque en la innovación tecnológica y la inteligencia artificial. </a:t>
              </a:r>
            </a:p>
          </p:txBody>
        </p:sp>
      </p:grpSp>
      <p:sp>
        <p:nvSpPr>
          <p:cNvPr name="Freeform 10" id="10"/>
          <p:cNvSpPr/>
          <p:nvPr/>
        </p:nvSpPr>
        <p:spPr>
          <a:xfrm flipH="false" flipV="false" rot="0">
            <a:off x="7893677" y="3190480"/>
            <a:ext cx="8649866" cy="5519706"/>
          </a:xfrm>
          <a:custGeom>
            <a:avLst/>
            <a:gdLst/>
            <a:ahLst/>
            <a:cxnLst/>
            <a:rect r="r" b="b" t="t" l="l"/>
            <a:pathLst>
              <a:path h="5519706" w="8649866">
                <a:moveTo>
                  <a:pt x="0" y="0"/>
                </a:moveTo>
                <a:lnTo>
                  <a:pt x="8649866" y="0"/>
                </a:lnTo>
                <a:lnTo>
                  <a:pt x="8649866" y="5519706"/>
                </a:lnTo>
                <a:lnTo>
                  <a:pt x="0" y="5519706"/>
                </a:lnTo>
                <a:lnTo>
                  <a:pt x="0" y="0"/>
                </a:lnTo>
                <a:close/>
              </a:path>
            </a:pathLst>
          </a:custGeom>
          <a:blipFill>
            <a:blip r:embed="rId2"/>
            <a:stretch>
              <a:fillRect l="-14860" t="-12609" r="-15792" b="0"/>
            </a:stretch>
          </a:blipFill>
        </p:spPr>
      </p:sp>
    </p:spTree>
  </p:cSld>
  <p:clrMapOvr>
    <a:masterClrMapping/>
  </p:clrMapOvr>
</p:sld>
</file>

<file path=ppt/slides/slide5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2052066"/>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CONCEPTOS CLAVE APRENDIDOS </a:t>
            </a:r>
          </a:p>
        </p:txBody>
      </p:sp>
      <p:sp>
        <p:nvSpPr>
          <p:cNvPr name="TextBox 3" id="3"/>
          <p:cNvSpPr txBox="true"/>
          <p:nvPr/>
        </p:nvSpPr>
        <p:spPr>
          <a:xfrm rot="0">
            <a:off x="6212437" y="3860833"/>
            <a:ext cx="6911332" cy="1659117"/>
          </a:xfrm>
          <a:prstGeom prst="rect">
            <a:avLst/>
          </a:prstGeom>
        </p:spPr>
        <p:txBody>
          <a:bodyPr anchor="t" rtlCol="false" tIns="0" lIns="0" bIns="0" rIns="0">
            <a:spAutoFit/>
          </a:bodyPr>
          <a:lstStyle/>
          <a:p>
            <a:pPr algn="ctr">
              <a:lnSpc>
                <a:spcPts val="4412"/>
              </a:lnSpc>
            </a:pPr>
            <a:r>
              <a:rPr lang="en-US" sz="3151">
                <a:solidFill>
                  <a:srgbClr val="131416"/>
                </a:solidFill>
                <a:latin typeface="Garet"/>
                <a:ea typeface="Garet"/>
                <a:cs typeface="Garet"/>
                <a:sym typeface="Garet"/>
              </a:rPr>
              <a:t>UML</a:t>
            </a:r>
          </a:p>
          <a:p>
            <a:pPr algn="ctr">
              <a:lnSpc>
                <a:spcPts val="4412"/>
              </a:lnSpc>
            </a:pPr>
            <a:r>
              <a:rPr lang="en-US" sz="3151">
                <a:solidFill>
                  <a:srgbClr val="131416"/>
                </a:solidFill>
                <a:latin typeface="Garet"/>
                <a:ea typeface="Garet"/>
                <a:cs typeface="Garet"/>
                <a:sym typeface="Garet"/>
              </a:rPr>
              <a:t>Diagrama de Clases</a:t>
            </a:r>
          </a:p>
          <a:p>
            <a:pPr algn="ctr">
              <a:lnSpc>
                <a:spcPts val="4412"/>
              </a:lnSpc>
            </a:pPr>
            <a:r>
              <a:rPr lang="en-US" sz="3151">
                <a:solidFill>
                  <a:srgbClr val="131416"/>
                </a:solidFill>
                <a:latin typeface="Garet"/>
                <a:ea typeface="Garet"/>
                <a:cs typeface="Garet"/>
                <a:sym typeface="Garet"/>
              </a:rPr>
              <a:t>Cloud Computing</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37795" y="3389104"/>
            <a:ext cx="8658828" cy="2495677"/>
          </a:xfrm>
          <a:prstGeom prst="rect">
            <a:avLst/>
          </a:prstGeom>
        </p:spPr>
        <p:txBody>
          <a:bodyPr anchor="t" rtlCol="false" tIns="0" lIns="0" bIns="0" rIns="0">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9735"/>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DAGo-6fjWeQ</dc:identifier>
  <dcterms:modified xsi:type="dcterms:W3CDTF">2011-08-01T06:04:30Z</dcterms:modified>
  <cp:revision>1</cp:revision>
  <dc:title>Presentacion 11</dc:title>
</cp:coreProperties>
</file>