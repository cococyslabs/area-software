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Play"/>
      <p:regular r:id="rId29"/>
      <p:bold r:id="rId30"/>
    </p:embeddedFont>
    <p:embeddedFont>
      <p:font typeface="Lexend Deca"/>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gY0UznfD/S0KJB7G5kr8MUJi0V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A57041-D12B-453F-9D5A-321E71D4DE27}">
  <a:tblStyle styleId="{30A57041-D12B-453F-9D5A-321E71D4DE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ay-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Deca-regular.fntdata"/><Relationship Id="rId30" Type="http://schemas.openxmlformats.org/officeDocument/2006/relationships/font" Target="fonts/Play-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LexendDeca-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1.png"/><Relationship Id="rId13" Type="http://schemas.openxmlformats.org/officeDocument/2006/relationships/image" Target="../media/image6.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7.jpg"/><Relationship Id="rId4" Type="http://schemas.openxmlformats.org/officeDocument/2006/relationships/image" Target="../media/image7.png"/><Relationship Id="rId9" Type="http://schemas.openxmlformats.org/officeDocument/2006/relationships/image" Target="../media/image9.png"/><Relationship Id="rId15" Type="http://schemas.openxmlformats.org/officeDocument/2006/relationships/image" Target="../media/image36.png"/><Relationship Id="rId14" Type="http://schemas.openxmlformats.org/officeDocument/2006/relationships/image" Target="../media/image15.png"/><Relationship Id="rId17" Type="http://schemas.openxmlformats.org/officeDocument/2006/relationships/image" Target="../media/image21.png"/><Relationship Id="rId16"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8.png"/><Relationship Id="rId18" Type="http://schemas.openxmlformats.org/officeDocument/2006/relationships/image" Target="../media/image17.png"/><Relationship Id="rId7" Type="http://schemas.openxmlformats.org/officeDocument/2006/relationships/image" Target="../media/image3.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12700"/>
            <a:ext cx="18299811" cy="10312717"/>
          </a:xfrm>
          <a:custGeom>
            <a:rect b="b" l="l" r="r" t="t"/>
            <a:pathLst>
              <a:path extrusionOk="0" h="13750289" w="24399748">
                <a:moveTo>
                  <a:pt x="0" y="0"/>
                </a:moveTo>
                <a:lnTo>
                  <a:pt x="24399748" y="0"/>
                </a:lnTo>
                <a:lnTo>
                  <a:pt x="24399748" y="13750289"/>
                </a:lnTo>
                <a:lnTo>
                  <a:pt x="0" y="13750289"/>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584964" y="1925763"/>
          <a:ext cx="3000000" cy="3000000"/>
        </p:xfrm>
        <a:graphic>
          <a:graphicData uri="http://schemas.openxmlformats.org/drawingml/2006/table">
            <a:tbl>
              <a:tblPr>
                <a:noFill/>
                <a:tableStyleId>{30A57041-D12B-453F-9D5A-321E71D4DE27}</a:tableStyleId>
              </a:tblPr>
              <a:tblGrid>
                <a:gridCol w="3029975"/>
                <a:gridCol w="4323325"/>
              </a:tblGrid>
              <a:tr h="740575">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Lunes, XX/XX/2026</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r h="740575">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17:20</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bl>
          </a:graphicData>
        </a:graphic>
      </p:graphicFrame>
      <p:sp>
        <p:nvSpPr>
          <p:cNvPr id="86" name="Google Shape;86;p1"/>
          <p:cNvSpPr txBox="1"/>
          <p:nvPr/>
        </p:nvSpPr>
        <p:spPr>
          <a:xfrm>
            <a:off x="6030502" y="4362875"/>
            <a:ext cx="10713747" cy="780625"/>
          </a:xfrm>
          <a:prstGeom prst="rect">
            <a:avLst/>
          </a:prstGeom>
          <a:noFill/>
          <a:ln>
            <a:noFill/>
          </a:ln>
        </p:spPr>
        <p:txBody>
          <a:bodyPr anchorCtr="0" anchor="t" bIns="0" lIns="0" spcFirstLastPara="1" rIns="0" wrap="square" tIns="0">
            <a:spAutoFit/>
          </a:bodyPr>
          <a:lstStyle/>
          <a:p>
            <a:pPr indent="0" lvl="0" marL="0" marR="0" rtl="0" algn="r">
              <a:lnSpc>
                <a:spcPct val="144008"/>
              </a:lnSpc>
              <a:spcBef>
                <a:spcPts val="0"/>
              </a:spcBef>
              <a:spcAft>
                <a:spcPts val="0"/>
              </a:spcAft>
              <a:buNone/>
            </a:pPr>
            <a:r>
              <a:rPr b="0" i="0" lang="en-US" sz="3997" u="none" cap="none" strike="noStrike">
                <a:solidFill>
                  <a:srgbClr val="000000"/>
                </a:solidFill>
                <a:latin typeface="Arial"/>
                <a:ea typeface="Arial"/>
                <a:cs typeface="Arial"/>
                <a:sym typeface="Arial"/>
              </a:rPr>
              <a:t>Manejo e Implementación de Archivos B</a:t>
            </a:r>
            <a:endParaRPr/>
          </a:p>
        </p:txBody>
      </p:sp>
      <p:sp>
        <p:nvSpPr>
          <p:cNvPr id="87" name="Google Shape;87;p1"/>
          <p:cNvSpPr txBox="1"/>
          <p:nvPr/>
        </p:nvSpPr>
        <p:spPr>
          <a:xfrm>
            <a:off x="9897349" y="5129826"/>
            <a:ext cx="6846900" cy="476250"/>
          </a:xfrm>
          <a:prstGeom prst="rect">
            <a:avLst/>
          </a:prstGeom>
          <a:noFill/>
          <a:ln>
            <a:noFill/>
          </a:ln>
        </p:spPr>
        <p:txBody>
          <a:bodyPr anchorCtr="0" anchor="t" bIns="0" lIns="0" spcFirstLastPara="1" rIns="0" wrap="square" tIns="0">
            <a:spAutoFit/>
          </a:bodyPr>
          <a:lstStyle/>
          <a:p>
            <a:pPr indent="0" lvl="0" marL="0" marR="0" rtl="0" algn="r">
              <a:lnSpc>
                <a:spcPct val="144017"/>
              </a:lnSpc>
              <a:spcBef>
                <a:spcPts val="0"/>
              </a:spcBef>
              <a:spcAft>
                <a:spcPts val="0"/>
              </a:spcAft>
              <a:buNone/>
            </a:pPr>
            <a:r>
              <a:rPr b="0" i="0" lang="en-US" sz="2499" u="none" cap="none" strike="noStrike">
                <a:solidFill>
                  <a:srgbClr val="000000"/>
                </a:solidFill>
                <a:latin typeface="Arial"/>
                <a:ea typeface="Arial"/>
                <a:cs typeface="Arial"/>
                <a:sym typeface="Arial"/>
              </a:rPr>
              <a:t>Daniel Eduardo Mellado Ayala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3" name="Google Shape;93;p2"/>
          <p:cNvSpPr/>
          <p:nvPr/>
        </p:nvSpPr>
        <p:spPr>
          <a:xfrm>
            <a:off x="1028700" y="3057253"/>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4">
              <a:alphaModFix/>
            </a:blip>
            <a:stretch>
              <a:fillRect b="0" l="0" r="0" t="0"/>
            </a:stretch>
          </a:blipFill>
          <a:ln>
            <a:noFill/>
          </a:ln>
        </p:spPr>
      </p:sp>
      <p:sp>
        <p:nvSpPr>
          <p:cNvPr id="94" name="Google Shape;94;p2"/>
          <p:cNvSpPr/>
          <p:nvPr/>
        </p:nvSpPr>
        <p:spPr>
          <a:xfrm>
            <a:off x="1028700" y="6136174"/>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5">
              <a:alphaModFix/>
            </a:blip>
            <a:stretch>
              <a:fillRect b="0" l="0" r="0" t="0"/>
            </a:stretch>
          </a:blipFill>
          <a:ln>
            <a:noFill/>
          </a:ln>
        </p:spPr>
      </p:sp>
      <p:sp>
        <p:nvSpPr>
          <p:cNvPr id="95" name="Google Shape;95;p2"/>
          <p:cNvSpPr/>
          <p:nvPr/>
        </p:nvSpPr>
        <p:spPr>
          <a:xfrm>
            <a:off x="6545354" y="3057253"/>
            <a:ext cx="5197293" cy="1585174"/>
          </a:xfrm>
          <a:custGeom>
            <a:rect b="b" l="l" r="r" t="t"/>
            <a:pathLst>
              <a:path extrusionOk="0" h="1585174" w="5197293">
                <a:moveTo>
                  <a:pt x="0" y="0"/>
                </a:moveTo>
                <a:lnTo>
                  <a:pt x="5197292" y="0"/>
                </a:lnTo>
                <a:lnTo>
                  <a:pt x="5197292" y="1585174"/>
                </a:lnTo>
                <a:lnTo>
                  <a:pt x="0" y="1585174"/>
                </a:lnTo>
                <a:lnTo>
                  <a:pt x="0" y="0"/>
                </a:lnTo>
                <a:close/>
              </a:path>
            </a:pathLst>
          </a:custGeom>
          <a:blipFill rotWithShape="1">
            <a:blip r:embed="rId6">
              <a:alphaModFix/>
            </a:blip>
            <a:stretch>
              <a:fillRect b="0" l="0" r="0" t="0"/>
            </a:stretch>
          </a:blipFill>
          <a:ln>
            <a:noFill/>
          </a:ln>
        </p:spPr>
      </p:sp>
      <p:sp>
        <p:nvSpPr>
          <p:cNvPr id="96" name="Google Shape;96;p2"/>
          <p:cNvSpPr/>
          <p:nvPr/>
        </p:nvSpPr>
        <p:spPr>
          <a:xfrm>
            <a:off x="6545354" y="6136174"/>
            <a:ext cx="5197293" cy="1585174"/>
          </a:xfrm>
          <a:custGeom>
            <a:rect b="b" l="l" r="r" t="t"/>
            <a:pathLst>
              <a:path extrusionOk="0" h="1585174" w="5197293">
                <a:moveTo>
                  <a:pt x="0" y="0"/>
                </a:moveTo>
                <a:lnTo>
                  <a:pt x="5197292" y="0"/>
                </a:lnTo>
                <a:lnTo>
                  <a:pt x="5197292" y="1585174"/>
                </a:lnTo>
                <a:lnTo>
                  <a:pt x="0" y="1585174"/>
                </a:lnTo>
                <a:lnTo>
                  <a:pt x="0" y="0"/>
                </a:lnTo>
                <a:close/>
              </a:path>
            </a:pathLst>
          </a:custGeom>
          <a:blipFill rotWithShape="1">
            <a:blip r:embed="rId7">
              <a:alphaModFix/>
            </a:blip>
            <a:stretch>
              <a:fillRect b="0" l="0" r="0" t="0"/>
            </a:stretch>
          </a:blipFill>
          <a:ln>
            <a:noFill/>
          </a:ln>
        </p:spPr>
      </p:sp>
      <p:sp>
        <p:nvSpPr>
          <p:cNvPr id="97" name="Google Shape;97;p2"/>
          <p:cNvSpPr/>
          <p:nvPr/>
        </p:nvSpPr>
        <p:spPr>
          <a:xfrm>
            <a:off x="12062007" y="3057253"/>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8">
              <a:alphaModFix/>
            </a:blip>
            <a:stretch>
              <a:fillRect b="0" l="0" r="0" t="0"/>
            </a:stretch>
          </a:blipFill>
          <a:ln>
            <a:noFill/>
          </a:ln>
        </p:spPr>
      </p:sp>
      <p:sp>
        <p:nvSpPr>
          <p:cNvPr id="98" name="Google Shape;98;p2"/>
          <p:cNvSpPr/>
          <p:nvPr/>
        </p:nvSpPr>
        <p:spPr>
          <a:xfrm>
            <a:off x="12062007" y="6136174"/>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9">
              <a:alphaModFix/>
            </a:blip>
            <a:stretch>
              <a:fillRect b="0" l="0" r="0" t="0"/>
            </a:stretch>
          </a:blipFill>
          <a:ln>
            <a:noFill/>
          </a:ln>
        </p:spPr>
      </p:sp>
      <p:sp>
        <p:nvSpPr>
          <p:cNvPr id="99" name="Google Shape;99;p2"/>
          <p:cNvSpPr/>
          <p:nvPr/>
        </p:nvSpPr>
        <p:spPr>
          <a:xfrm>
            <a:off x="1762177"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0" name="Google Shape;100;p2"/>
          <p:cNvSpPr/>
          <p:nvPr/>
        </p:nvSpPr>
        <p:spPr>
          <a:xfrm>
            <a:off x="1762177"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1" name="Google Shape;101;p2"/>
          <p:cNvSpPr/>
          <p:nvPr/>
        </p:nvSpPr>
        <p:spPr>
          <a:xfrm>
            <a:off x="7280963"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2" name="Google Shape;102;p2"/>
          <p:cNvSpPr/>
          <p:nvPr/>
        </p:nvSpPr>
        <p:spPr>
          <a:xfrm>
            <a:off x="7280963"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grpSp>
        <p:nvGrpSpPr>
          <p:cNvPr id="103" name="Google Shape;103;p2"/>
          <p:cNvGrpSpPr/>
          <p:nvPr/>
        </p:nvGrpSpPr>
        <p:grpSpPr>
          <a:xfrm>
            <a:off x="587698" y="4416637"/>
            <a:ext cx="948012" cy="948012"/>
            <a:chOff x="0" y="0"/>
            <a:chExt cx="812800" cy="812800"/>
          </a:xfrm>
        </p:grpSpPr>
        <p:sp>
          <p:nvSpPr>
            <p:cNvPr id="104" name="Google Shape;10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11468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2"/>
          <p:cNvGrpSpPr/>
          <p:nvPr/>
        </p:nvGrpSpPr>
        <p:grpSpPr>
          <a:xfrm>
            <a:off x="587698" y="7495558"/>
            <a:ext cx="948012" cy="948012"/>
            <a:chOff x="0" y="0"/>
            <a:chExt cx="812800" cy="812800"/>
          </a:xfrm>
        </p:grpSpPr>
        <p:sp>
          <p:nvSpPr>
            <p:cNvPr id="107" name="Google Shape;10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31BF8A"/>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 name="Google Shape;109;p2"/>
          <p:cNvGrpSpPr/>
          <p:nvPr/>
        </p:nvGrpSpPr>
        <p:grpSpPr>
          <a:xfrm>
            <a:off x="6104351" y="4416637"/>
            <a:ext cx="948012" cy="948012"/>
            <a:chOff x="0" y="0"/>
            <a:chExt cx="812800" cy="812800"/>
          </a:xfrm>
        </p:grpSpPr>
        <p:sp>
          <p:nvSpPr>
            <p:cNvPr id="110" name="Google Shape;11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1D8BC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 name="Google Shape;112;p2"/>
          <p:cNvGrpSpPr/>
          <p:nvPr/>
        </p:nvGrpSpPr>
        <p:grpSpPr>
          <a:xfrm>
            <a:off x="6104351" y="7495558"/>
            <a:ext cx="948012" cy="948012"/>
            <a:chOff x="0" y="0"/>
            <a:chExt cx="812800" cy="812800"/>
          </a:xfrm>
        </p:grpSpPr>
        <p:sp>
          <p:nvSpPr>
            <p:cNvPr id="113" name="Google Shape;11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77BF6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 name="Google Shape;115;p2"/>
          <p:cNvGrpSpPr/>
          <p:nvPr/>
        </p:nvGrpSpPr>
        <p:grpSpPr>
          <a:xfrm>
            <a:off x="11621005" y="4416637"/>
            <a:ext cx="948012" cy="948012"/>
            <a:chOff x="0" y="0"/>
            <a:chExt cx="812800" cy="812800"/>
          </a:xfrm>
        </p:grpSpPr>
        <p:sp>
          <p:nvSpPr>
            <p:cNvPr id="116" name="Google Shape;11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2BC5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p2"/>
          <p:cNvGrpSpPr/>
          <p:nvPr/>
        </p:nvGrpSpPr>
        <p:grpSpPr>
          <a:xfrm>
            <a:off x="11621005" y="7495558"/>
            <a:ext cx="948012" cy="948012"/>
            <a:chOff x="0" y="0"/>
            <a:chExt cx="812800" cy="812800"/>
          </a:xfrm>
        </p:grpSpPr>
        <p:sp>
          <p:nvSpPr>
            <p:cNvPr id="119" name="Google Shape;11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519D3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2"/>
          <p:cNvSpPr/>
          <p:nvPr/>
        </p:nvSpPr>
        <p:spPr>
          <a:xfrm>
            <a:off x="12799749"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22" name="Google Shape;122;p2"/>
          <p:cNvSpPr/>
          <p:nvPr/>
        </p:nvSpPr>
        <p:spPr>
          <a:xfrm>
            <a:off x="12799749"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23" name="Google Shape;123;p2"/>
          <p:cNvSpPr/>
          <p:nvPr/>
        </p:nvSpPr>
        <p:spPr>
          <a:xfrm>
            <a:off x="5122074" y="3430220"/>
            <a:ext cx="908930" cy="669200"/>
          </a:xfrm>
          <a:custGeom>
            <a:rect b="b" l="l" r="r" t="t"/>
            <a:pathLst>
              <a:path extrusionOk="0" h="669200" w="908930">
                <a:moveTo>
                  <a:pt x="0" y="0"/>
                </a:moveTo>
                <a:lnTo>
                  <a:pt x="908930" y="0"/>
                </a:lnTo>
                <a:lnTo>
                  <a:pt x="908930" y="669200"/>
                </a:lnTo>
                <a:lnTo>
                  <a:pt x="0" y="669200"/>
                </a:lnTo>
                <a:lnTo>
                  <a:pt x="0" y="0"/>
                </a:lnTo>
                <a:close/>
              </a:path>
            </a:pathLst>
          </a:custGeom>
          <a:blipFill rotWithShape="1">
            <a:blip r:embed="rId11">
              <a:alphaModFix/>
            </a:blip>
            <a:stretch>
              <a:fillRect b="0" l="0" r="0" t="0"/>
            </a:stretch>
          </a:blipFill>
          <a:ln>
            <a:noFill/>
          </a:ln>
        </p:spPr>
      </p:sp>
      <p:sp>
        <p:nvSpPr>
          <p:cNvPr id="124" name="Google Shape;124;p2"/>
          <p:cNvSpPr/>
          <p:nvPr/>
        </p:nvSpPr>
        <p:spPr>
          <a:xfrm>
            <a:off x="-2201496" y="-2276473"/>
            <a:ext cx="3708464" cy="4114800"/>
          </a:xfrm>
          <a:custGeom>
            <a:rect b="b" l="l" r="r" t="t"/>
            <a:pathLst>
              <a:path extrusionOk="0" h="4114800" w="3708464">
                <a:moveTo>
                  <a:pt x="0" y="0"/>
                </a:moveTo>
                <a:lnTo>
                  <a:pt x="3708463" y="0"/>
                </a:lnTo>
                <a:lnTo>
                  <a:pt x="3708463" y="4114800"/>
                </a:lnTo>
                <a:lnTo>
                  <a:pt x="0" y="4114800"/>
                </a:lnTo>
                <a:lnTo>
                  <a:pt x="0" y="0"/>
                </a:lnTo>
                <a:close/>
              </a:path>
            </a:pathLst>
          </a:custGeom>
          <a:blipFill rotWithShape="1">
            <a:blip r:embed="rId12">
              <a:alphaModFix/>
            </a:blip>
            <a:stretch>
              <a:fillRect b="0" l="0" r="0" t="0"/>
            </a:stretch>
          </a:blipFill>
          <a:ln>
            <a:noFill/>
          </a:ln>
        </p:spPr>
      </p:sp>
      <p:sp>
        <p:nvSpPr>
          <p:cNvPr id="125" name="Google Shape;125;p2"/>
          <p:cNvSpPr/>
          <p:nvPr/>
        </p:nvSpPr>
        <p:spPr>
          <a:xfrm>
            <a:off x="16750094" y="9036185"/>
            <a:ext cx="3075813" cy="4114800"/>
          </a:xfrm>
          <a:custGeom>
            <a:rect b="b" l="l" r="r" t="t"/>
            <a:pathLst>
              <a:path extrusionOk="0" h="4114800" w="3075813">
                <a:moveTo>
                  <a:pt x="0" y="0"/>
                </a:moveTo>
                <a:lnTo>
                  <a:pt x="3075812" y="0"/>
                </a:lnTo>
                <a:lnTo>
                  <a:pt x="3075812" y="4114800"/>
                </a:lnTo>
                <a:lnTo>
                  <a:pt x="0" y="4114800"/>
                </a:lnTo>
                <a:lnTo>
                  <a:pt x="0" y="0"/>
                </a:lnTo>
                <a:close/>
              </a:path>
            </a:pathLst>
          </a:custGeom>
          <a:blipFill rotWithShape="1">
            <a:blip r:embed="rId13">
              <a:alphaModFix/>
            </a:blip>
            <a:stretch>
              <a:fillRect b="0" l="0" r="0" t="0"/>
            </a:stretch>
          </a:blipFill>
          <a:ln>
            <a:noFill/>
          </a:ln>
        </p:spPr>
      </p:sp>
      <p:sp>
        <p:nvSpPr>
          <p:cNvPr id="126" name="Google Shape;126;p2"/>
          <p:cNvSpPr/>
          <p:nvPr/>
        </p:nvSpPr>
        <p:spPr>
          <a:xfrm>
            <a:off x="16085087" y="6451115"/>
            <a:ext cx="1028578" cy="955292"/>
          </a:xfrm>
          <a:custGeom>
            <a:rect b="b" l="l" r="r" t="t"/>
            <a:pathLst>
              <a:path extrusionOk="0" h="955292" w="1028578">
                <a:moveTo>
                  <a:pt x="0" y="0"/>
                </a:moveTo>
                <a:lnTo>
                  <a:pt x="1028578" y="0"/>
                </a:lnTo>
                <a:lnTo>
                  <a:pt x="1028578" y="955292"/>
                </a:lnTo>
                <a:lnTo>
                  <a:pt x="0" y="955292"/>
                </a:lnTo>
                <a:lnTo>
                  <a:pt x="0" y="0"/>
                </a:lnTo>
                <a:close/>
              </a:path>
            </a:pathLst>
          </a:custGeom>
          <a:blipFill rotWithShape="1">
            <a:blip r:embed="rId14">
              <a:alphaModFix/>
            </a:blip>
            <a:stretch>
              <a:fillRect b="0" l="0" r="0" t="0"/>
            </a:stretch>
          </a:blipFill>
          <a:ln>
            <a:noFill/>
          </a:ln>
        </p:spPr>
      </p:sp>
      <p:sp>
        <p:nvSpPr>
          <p:cNvPr id="127" name="Google Shape;127;p2"/>
          <p:cNvSpPr/>
          <p:nvPr/>
        </p:nvSpPr>
        <p:spPr>
          <a:xfrm>
            <a:off x="5145560" y="6407302"/>
            <a:ext cx="861958" cy="830479"/>
          </a:xfrm>
          <a:custGeom>
            <a:rect b="b" l="l" r="r" t="t"/>
            <a:pathLst>
              <a:path extrusionOk="0" h="830479" w="861958">
                <a:moveTo>
                  <a:pt x="0" y="0"/>
                </a:moveTo>
                <a:lnTo>
                  <a:pt x="861958" y="0"/>
                </a:lnTo>
                <a:lnTo>
                  <a:pt x="861958" y="830478"/>
                </a:lnTo>
                <a:lnTo>
                  <a:pt x="0" y="830478"/>
                </a:lnTo>
                <a:lnTo>
                  <a:pt x="0" y="0"/>
                </a:lnTo>
                <a:close/>
              </a:path>
            </a:pathLst>
          </a:custGeom>
          <a:blipFill rotWithShape="1">
            <a:blip r:embed="rId15">
              <a:alphaModFix/>
            </a:blip>
            <a:stretch>
              <a:fillRect b="0" l="0" r="0" t="0"/>
            </a:stretch>
          </a:blipFill>
          <a:ln>
            <a:noFill/>
          </a:ln>
        </p:spPr>
      </p:sp>
      <p:sp>
        <p:nvSpPr>
          <p:cNvPr id="128" name="Google Shape;128;p2"/>
          <p:cNvSpPr/>
          <p:nvPr/>
        </p:nvSpPr>
        <p:spPr>
          <a:xfrm>
            <a:off x="15922854" y="3430220"/>
            <a:ext cx="1146887" cy="758379"/>
          </a:xfrm>
          <a:custGeom>
            <a:rect b="b" l="l" r="r" t="t"/>
            <a:pathLst>
              <a:path extrusionOk="0" h="758379" w="1146887">
                <a:moveTo>
                  <a:pt x="0" y="0"/>
                </a:moveTo>
                <a:lnTo>
                  <a:pt x="1146887" y="0"/>
                </a:lnTo>
                <a:lnTo>
                  <a:pt x="1146887" y="758379"/>
                </a:lnTo>
                <a:lnTo>
                  <a:pt x="0" y="758379"/>
                </a:lnTo>
                <a:lnTo>
                  <a:pt x="0" y="0"/>
                </a:lnTo>
                <a:close/>
              </a:path>
            </a:pathLst>
          </a:custGeom>
          <a:blipFill rotWithShape="1">
            <a:blip r:embed="rId16">
              <a:alphaModFix/>
            </a:blip>
            <a:stretch>
              <a:fillRect b="0" l="0" r="0" t="0"/>
            </a:stretch>
          </a:blipFill>
          <a:ln>
            <a:noFill/>
          </a:ln>
        </p:spPr>
      </p:sp>
      <p:sp>
        <p:nvSpPr>
          <p:cNvPr id="129" name="Google Shape;129;p2"/>
          <p:cNvSpPr/>
          <p:nvPr/>
        </p:nvSpPr>
        <p:spPr>
          <a:xfrm>
            <a:off x="10408319" y="3430220"/>
            <a:ext cx="1143768" cy="839240"/>
          </a:xfrm>
          <a:custGeom>
            <a:rect b="b" l="l" r="r" t="t"/>
            <a:pathLst>
              <a:path extrusionOk="0" h="839240" w="1143768">
                <a:moveTo>
                  <a:pt x="0" y="0"/>
                </a:moveTo>
                <a:lnTo>
                  <a:pt x="1143768" y="0"/>
                </a:lnTo>
                <a:lnTo>
                  <a:pt x="1143768" y="839240"/>
                </a:lnTo>
                <a:lnTo>
                  <a:pt x="0" y="839240"/>
                </a:lnTo>
                <a:lnTo>
                  <a:pt x="0" y="0"/>
                </a:lnTo>
                <a:close/>
              </a:path>
            </a:pathLst>
          </a:custGeom>
          <a:blipFill rotWithShape="1">
            <a:blip r:embed="rId17">
              <a:alphaModFix/>
            </a:blip>
            <a:stretch>
              <a:fillRect b="0" l="0" r="0" t="0"/>
            </a:stretch>
          </a:blipFill>
          <a:ln>
            <a:noFill/>
          </a:ln>
        </p:spPr>
      </p:sp>
      <p:sp>
        <p:nvSpPr>
          <p:cNvPr id="130" name="Google Shape;130;p2"/>
          <p:cNvSpPr/>
          <p:nvPr/>
        </p:nvSpPr>
        <p:spPr>
          <a:xfrm>
            <a:off x="10801775" y="6304246"/>
            <a:ext cx="489055" cy="793598"/>
          </a:xfrm>
          <a:custGeom>
            <a:rect b="b" l="l" r="r" t="t"/>
            <a:pathLst>
              <a:path extrusionOk="0" h="793598" w="489055">
                <a:moveTo>
                  <a:pt x="0" y="0"/>
                </a:moveTo>
                <a:lnTo>
                  <a:pt x="489055" y="0"/>
                </a:lnTo>
                <a:lnTo>
                  <a:pt x="489055" y="793598"/>
                </a:lnTo>
                <a:lnTo>
                  <a:pt x="0" y="793598"/>
                </a:lnTo>
                <a:lnTo>
                  <a:pt x="0" y="0"/>
                </a:lnTo>
                <a:close/>
              </a:path>
            </a:pathLst>
          </a:custGeom>
          <a:blipFill rotWithShape="1">
            <a:blip r:embed="rId18">
              <a:alphaModFix/>
            </a:blip>
            <a:stretch>
              <a:fillRect b="0" l="0" r="0" t="0"/>
            </a:stretch>
          </a:blipFill>
          <a:ln>
            <a:noFill/>
          </a:ln>
        </p:spPr>
      </p:sp>
      <p:sp>
        <p:nvSpPr>
          <p:cNvPr id="131" name="Google Shape;131;p2"/>
          <p:cNvSpPr txBox="1"/>
          <p:nvPr/>
        </p:nvSpPr>
        <p:spPr>
          <a:xfrm>
            <a:off x="7024687" y="3497415"/>
            <a:ext cx="2675205" cy="7143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Presentación de Clase #11</a:t>
            </a:r>
            <a:endParaRPr/>
          </a:p>
        </p:txBody>
      </p:sp>
      <p:sp>
        <p:nvSpPr>
          <p:cNvPr id="132" name="Google Shape;132;p2"/>
          <p:cNvSpPr txBox="1"/>
          <p:nvPr/>
        </p:nvSpPr>
        <p:spPr>
          <a:xfrm>
            <a:off x="12256996" y="3492712"/>
            <a:ext cx="3790655"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Ejemplo Práctico</a:t>
            </a:r>
            <a:endParaRPr/>
          </a:p>
        </p:txBody>
      </p:sp>
      <p:sp>
        <p:nvSpPr>
          <p:cNvPr id="133" name="Google Shape;133;p2"/>
          <p:cNvSpPr txBox="1"/>
          <p:nvPr/>
        </p:nvSpPr>
        <p:spPr>
          <a:xfrm>
            <a:off x="7382544" y="828675"/>
            <a:ext cx="3272879" cy="1009652"/>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5999" u="none" cap="none" strike="noStrike">
                <a:solidFill>
                  <a:srgbClr val="1F0A49"/>
                </a:solidFill>
                <a:latin typeface="Arial"/>
                <a:ea typeface="Arial"/>
                <a:cs typeface="Arial"/>
                <a:sym typeface="Arial"/>
              </a:rPr>
              <a:t>AGENDA</a:t>
            </a:r>
            <a:endParaRPr/>
          </a:p>
        </p:txBody>
      </p:sp>
      <p:sp>
        <p:nvSpPr>
          <p:cNvPr id="134" name="Google Shape;134;p2"/>
          <p:cNvSpPr txBox="1"/>
          <p:nvPr/>
        </p:nvSpPr>
        <p:spPr>
          <a:xfrm>
            <a:off x="1506967" y="3497415"/>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Bienvenida Clase #11</a:t>
            </a:r>
            <a:endParaRPr/>
          </a:p>
        </p:txBody>
      </p:sp>
      <p:sp>
        <p:nvSpPr>
          <p:cNvPr id="135" name="Google Shape;135;p2"/>
          <p:cNvSpPr txBox="1"/>
          <p:nvPr/>
        </p:nvSpPr>
        <p:spPr>
          <a:xfrm>
            <a:off x="1357626" y="6576336"/>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Anuncios Generales</a:t>
            </a:r>
            <a:endParaRPr/>
          </a:p>
        </p:txBody>
      </p:sp>
      <p:sp>
        <p:nvSpPr>
          <p:cNvPr id="136" name="Google Shape;136;p2"/>
          <p:cNvSpPr txBox="1"/>
          <p:nvPr/>
        </p:nvSpPr>
        <p:spPr>
          <a:xfrm>
            <a:off x="12569017" y="6666512"/>
            <a:ext cx="294457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Cuestionario #11</a:t>
            </a:r>
            <a:endParaRPr/>
          </a:p>
        </p:txBody>
      </p:sp>
      <p:sp>
        <p:nvSpPr>
          <p:cNvPr id="137" name="Google Shape;137;p2"/>
          <p:cNvSpPr txBox="1"/>
          <p:nvPr/>
        </p:nvSpPr>
        <p:spPr>
          <a:xfrm>
            <a:off x="859520" y="4637913"/>
            <a:ext cx="404366"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11468C"/>
                </a:solidFill>
                <a:latin typeface="Arial"/>
                <a:ea typeface="Arial"/>
                <a:cs typeface="Arial"/>
                <a:sym typeface="Arial"/>
              </a:rPr>
              <a:t>01</a:t>
            </a:r>
            <a:endParaRPr/>
          </a:p>
        </p:txBody>
      </p:sp>
      <p:sp>
        <p:nvSpPr>
          <p:cNvPr id="138" name="Google Shape;138;p2"/>
          <p:cNvSpPr txBox="1"/>
          <p:nvPr/>
        </p:nvSpPr>
        <p:spPr>
          <a:xfrm>
            <a:off x="843782" y="7716834"/>
            <a:ext cx="435843"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31BF8A"/>
                </a:solidFill>
                <a:latin typeface="Arial"/>
                <a:ea typeface="Arial"/>
                <a:cs typeface="Arial"/>
                <a:sym typeface="Arial"/>
              </a:rPr>
              <a:t>04</a:t>
            </a:r>
            <a:endParaRPr/>
          </a:p>
        </p:txBody>
      </p:sp>
      <p:sp>
        <p:nvSpPr>
          <p:cNvPr id="139" name="Google Shape;139;p2"/>
          <p:cNvSpPr txBox="1"/>
          <p:nvPr/>
        </p:nvSpPr>
        <p:spPr>
          <a:xfrm>
            <a:off x="6371151" y="4637913"/>
            <a:ext cx="414412"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1D8BC9"/>
                </a:solidFill>
                <a:latin typeface="Arial"/>
                <a:ea typeface="Arial"/>
                <a:cs typeface="Arial"/>
                <a:sym typeface="Arial"/>
              </a:rPr>
              <a:t>02</a:t>
            </a:r>
            <a:endParaRPr/>
          </a:p>
        </p:txBody>
      </p:sp>
      <p:sp>
        <p:nvSpPr>
          <p:cNvPr id="140" name="Google Shape;140;p2"/>
          <p:cNvSpPr txBox="1"/>
          <p:nvPr/>
        </p:nvSpPr>
        <p:spPr>
          <a:xfrm>
            <a:off x="6363821" y="7716834"/>
            <a:ext cx="429071"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77BF60"/>
                </a:solidFill>
                <a:latin typeface="Arial"/>
                <a:ea typeface="Arial"/>
                <a:cs typeface="Arial"/>
                <a:sym typeface="Arial"/>
              </a:rPr>
              <a:t>05</a:t>
            </a:r>
            <a:endParaRPr/>
          </a:p>
        </p:txBody>
      </p:sp>
      <p:sp>
        <p:nvSpPr>
          <p:cNvPr id="141" name="Google Shape;141;p2"/>
          <p:cNvSpPr txBox="1"/>
          <p:nvPr/>
        </p:nvSpPr>
        <p:spPr>
          <a:xfrm>
            <a:off x="11882261" y="4637913"/>
            <a:ext cx="425500"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2BC5CD"/>
                </a:solidFill>
                <a:latin typeface="Arial"/>
                <a:ea typeface="Arial"/>
                <a:cs typeface="Arial"/>
                <a:sym typeface="Arial"/>
              </a:rPr>
              <a:t>03</a:t>
            </a:r>
            <a:endParaRPr/>
          </a:p>
        </p:txBody>
      </p:sp>
      <p:sp>
        <p:nvSpPr>
          <p:cNvPr id="142" name="Google Shape;142;p2"/>
          <p:cNvSpPr txBox="1"/>
          <p:nvPr/>
        </p:nvSpPr>
        <p:spPr>
          <a:xfrm>
            <a:off x="11872736" y="7716834"/>
            <a:ext cx="444550"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519D39"/>
                </a:solidFill>
                <a:latin typeface="Arial"/>
                <a:ea typeface="Arial"/>
                <a:cs typeface="Arial"/>
                <a:sym typeface="Arial"/>
              </a:rPr>
              <a:t>06</a:t>
            </a:r>
            <a:endParaRPr/>
          </a:p>
        </p:txBody>
      </p:sp>
      <p:sp>
        <p:nvSpPr>
          <p:cNvPr id="143" name="Google Shape;143;p2"/>
          <p:cNvSpPr txBox="1"/>
          <p:nvPr/>
        </p:nvSpPr>
        <p:spPr>
          <a:xfrm>
            <a:off x="6792893" y="6576336"/>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¿Dudas?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47" name="Shape 147"/>
        <p:cNvGrpSpPr/>
        <p:nvPr/>
      </p:nvGrpSpPr>
      <p:grpSpPr>
        <a:xfrm>
          <a:off x="0" y="0"/>
          <a:ext cx="0" cy="0"/>
          <a:chOff x="0" y="0"/>
          <a:chExt cx="0" cy="0"/>
        </a:xfrm>
      </p:grpSpPr>
      <p:pic>
        <p:nvPicPr>
          <p:cNvPr id="148" name="Google Shape;148;p3"/>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149" name="Google Shape;149;p3"/>
          <p:cNvGrpSpPr/>
          <p:nvPr/>
        </p:nvGrpSpPr>
        <p:grpSpPr>
          <a:xfrm>
            <a:off x="1028700" y="3403329"/>
            <a:ext cx="16230600" cy="3778541"/>
            <a:chOff x="0" y="-38100"/>
            <a:chExt cx="3655013" cy="850900"/>
          </a:xfrm>
        </p:grpSpPr>
        <p:sp>
          <p:nvSpPr>
            <p:cNvPr id="150" name="Google Shape;150;p3"/>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3"/>
          <p:cNvSpPr txBox="1"/>
          <p:nvPr/>
        </p:nvSpPr>
        <p:spPr>
          <a:xfrm>
            <a:off x="1652563" y="4078288"/>
            <a:ext cx="14982874" cy="19018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0" u="none" cap="none" strike="noStrike">
                <a:solidFill>
                  <a:srgbClr val="FFFFFF"/>
                </a:solidFill>
                <a:latin typeface="Play"/>
                <a:ea typeface="Play"/>
                <a:cs typeface="Play"/>
                <a:sym typeface="Play"/>
              </a:rPr>
              <a:t>VIRTUALIZACIÓN</a:t>
            </a:r>
            <a:endParaRPr/>
          </a:p>
        </p:txBody>
      </p:sp>
      <p:sp>
        <p:nvSpPr>
          <p:cNvPr id="153" name="Google Shape;153;p3"/>
          <p:cNvSpPr txBox="1"/>
          <p:nvPr/>
        </p:nvSpPr>
        <p:spPr>
          <a:xfrm>
            <a:off x="5983850" y="7677997"/>
            <a:ext cx="6320299"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CLASE 11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57" name="Shape 157"/>
        <p:cNvGrpSpPr/>
        <p:nvPr/>
      </p:nvGrpSpPr>
      <p:grpSpPr>
        <a:xfrm>
          <a:off x="0" y="0"/>
          <a:ext cx="0" cy="0"/>
          <a:chOff x="0" y="0"/>
          <a:chExt cx="0" cy="0"/>
        </a:xfrm>
      </p:grpSpPr>
      <p:pic>
        <p:nvPicPr>
          <p:cNvPr id="158" name="Google Shape;158;p4"/>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159" name="Google Shape;159;p4"/>
          <p:cNvGrpSpPr/>
          <p:nvPr/>
        </p:nvGrpSpPr>
        <p:grpSpPr>
          <a:xfrm>
            <a:off x="1028700" y="3403329"/>
            <a:ext cx="16230600" cy="3778541"/>
            <a:chOff x="0" y="-38100"/>
            <a:chExt cx="3655013" cy="850900"/>
          </a:xfrm>
        </p:grpSpPr>
        <p:sp>
          <p:nvSpPr>
            <p:cNvPr id="160" name="Google Shape;160;p4"/>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4"/>
          <p:cNvSpPr txBox="1"/>
          <p:nvPr/>
        </p:nvSpPr>
        <p:spPr>
          <a:xfrm>
            <a:off x="1652563" y="3822079"/>
            <a:ext cx="14982900" cy="28017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3500" u="none" cap="none" strike="noStrike">
                <a:solidFill>
                  <a:srgbClr val="FFFFFF"/>
                </a:solidFill>
                <a:latin typeface="Play"/>
                <a:ea typeface="Play"/>
                <a:cs typeface="Play"/>
                <a:sym typeface="Play"/>
              </a:rPr>
              <a:t>ANALIZAR ARQUITECTURAS DE VIRTUALIZACIÓN DE ALMACENAMIENTO MEDIANTE LA COMPARACIÓN DE MODELOS Y EVALUACIÓN DE RETOS OPERATIVOS PARA OPTIMIZAR LA ADMINISTRACIÓN DE RECURSOS EN ENTORNOS VIRTUALIZADOS </a:t>
            </a:r>
            <a:endParaRPr sz="3500"/>
          </a:p>
        </p:txBody>
      </p:sp>
      <p:sp>
        <p:nvSpPr>
          <p:cNvPr id="163" name="Google Shape;163;p4"/>
          <p:cNvSpPr txBox="1"/>
          <p:nvPr/>
        </p:nvSpPr>
        <p:spPr>
          <a:xfrm>
            <a:off x="4533669" y="7649422"/>
            <a:ext cx="9220662"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COMPETENCIA DE LA SEMANA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67" name="Shape 167"/>
        <p:cNvGrpSpPr/>
        <p:nvPr/>
      </p:nvGrpSpPr>
      <p:grpSpPr>
        <a:xfrm>
          <a:off x="0" y="0"/>
          <a:ext cx="0" cy="0"/>
          <a:chOff x="0" y="0"/>
          <a:chExt cx="0" cy="0"/>
        </a:xfrm>
      </p:grpSpPr>
      <p:grpSp>
        <p:nvGrpSpPr>
          <p:cNvPr id="168" name="Google Shape;168;p5"/>
          <p:cNvGrpSpPr/>
          <p:nvPr/>
        </p:nvGrpSpPr>
        <p:grpSpPr>
          <a:xfrm>
            <a:off x="9187587" y="-1023038"/>
            <a:ext cx="9246124" cy="11381923"/>
            <a:chOff x="0" y="-38100"/>
            <a:chExt cx="2082160" cy="2563126"/>
          </a:xfrm>
        </p:grpSpPr>
        <p:sp>
          <p:nvSpPr>
            <p:cNvPr id="169" name="Google Shape;169;p5"/>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170" name="Google Shape;170;p5"/>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5"/>
          <p:cNvGrpSpPr/>
          <p:nvPr/>
        </p:nvGrpSpPr>
        <p:grpSpPr>
          <a:xfrm>
            <a:off x="10428097" y="2539125"/>
            <a:ext cx="6871582" cy="6811213"/>
            <a:chOff x="0" y="-38100"/>
            <a:chExt cx="1547430" cy="1533835"/>
          </a:xfrm>
        </p:grpSpPr>
        <p:sp>
          <p:nvSpPr>
            <p:cNvPr id="172" name="Google Shape;172;p5"/>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5"/>
          <p:cNvSpPr/>
          <p:nvPr/>
        </p:nvSpPr>
        <p:spPr>
          <a:xfrm>
            <a:off x="1028700" y="2430555"/>
            <a:ext cx="5425890" cy="5425890"/>
          </a:xfrm>
          <a:custGeom>
            <a:rect b="b" l="l" r="r" t="t"/>
            <a:pathLst>
              <a:path extrusionOk="0" h="5425890" w="5425890">
                <a:moveTo>
                  <a:pt x="0" y="0"/>
                </a:moveTo>
                <a:lnTo>
                  <a:pt x="5425890" y="0"/>
                </a:lnTo>
                <a:lnTo>
                  <a:pt x="5425890" y="5425890"/>
                </a:lnTo>
                <a:lnTo>
                  <a:pt x="0" y="5425890"/>
                </a:lnTo>
                <a:lnTo>
                  <a:pt x="0" y="0"/>
                </a:lnTo>
                <a:close/>
              </a:path>
            </a:pathLst>
          </a:custGeom>
          <a:blipFill rotWithShape="1">
            <a:blip r:embed="rId3">
              <a:alphaModFix/>
            </a:blip>
            <a:stretch>
              <a:fillRect b="0" l="0" r="0" t="0"/>
            </a:stretch>
          </a:blipFill>
          <a:ln>
            <a:noFill/>
          </a:ln>
        </p:spPr>
      </p:sp>
      <p:sp>
        <p:nvSpPr>
          <p:cNvPr id="175" name="Google Shape;175;p5"/>
          <p:cNvSpPr txBox="1"/>
          <p:nvPr/>
        </p:nvSpPr>
        <p:spPr>
          <a:xfrm>
            <a:off x="10428097" y="725805"/>
            <a:ext cx="6745799" cy="138684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CAPACIDAD DE ALMACENAMIENTO</a:t>
            </a:r>
            <a:endParaRPr/>
          </a:p>
        </p:txBody>
      </p:sp>
      <p:sp>
        <p:nvSpPr>
          <p:cNvPr id="176" name="Google Shape;176;p5"/>
          <p:cNvSpPr txBox="1"/>
          <p:nvPr/>
        </p:nvSpPr>
        <p:spPr>
          <a:xfrm>
            <a:off x="10768188" y="2946400"/>
            <a:ext cx="6191400" cy="4803775"/>
          </a:xfrm>
          <a:prstGeom prst="rect">
            <a:avLst/>
          </a:prstGeom>
          <a:noFill/>
          <a:ln>
            <a:noFill/>
          </a:ln>
        </p:spPr>
        <p:txBody>
          <a:bodyPr anchorCtr="0" anchor="t" bIns="0" lIns="0" spcFirstLastPara="1" rIns="0" wrap="square" tIns="0">
            <a:spAutoFit/>
          </a:bodyPr>
          <a:lstStyle/>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La funcionalidad de almacenaje debe ofrecer suficiente espacio para guardar los datos actuales y permitir el crecimiento de la información en el tiempo.</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Esto implica considerar el tipo de almacenamiento (HDD, SSD, almacenamiento en la nube, etc.) y la cantidad de datos proyectada.</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80" name="Shape 180"/>
        <p:cNvGrpSpPr/>
        <p:nvPr/>
      </p:nvGrpSpPr>
      <p:grpSpPr>
        <a:xfrm>
          <a:off x="0" y="0"/>
          <a:ext cx="0" cy="0"/>
          <a:chOff x="0" y="0"/>
          <a:chExt cx="0" cy="0"/>
        </a:xfrm>
      </p:grpSpPr>
      <p:grpSp>
        <p:nvGrpSpPr>
          <p:cNvPr id="181" name="Google Shape;181;p6"/>
          <p:cNvGrpSpPr/>
          <p:nvPr/>
        </p:nvGrpSpPr>
        <p:grpSpPr>
          <a:xfrm>
            <a:off x="9187587" y="-1023038"/>
            <a:ext cx="9246124" cy="11381923"/>
            <a:chOff x="0" y="-38100"/>
            <a:chExt cx="2082160" cy="2563126"/>
          </a:xfrm>
        </p:grpSpPr>
        <p:sp>
          <p:nvSpPr>
            <p:cNvPr id="182" name="Google Shape;182;p6"/>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183" name="Google Shape;183;p6"/>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4" name="Google Shape;184;p6"/>
          <p:cNvGrpSpPr/>
          <p:nvPr/>
        </p:nvGrpSpPr>
        <p:grpSpPr>
          <a:xfrm>
            <a:off x="10428097" y="2539125"/>
            <a:ext cx="6871582" cy="6811213"/>
            <a:chOff x="0" y="-38100"/>
            <a:chExt cx="1547430" cy="1533835"/>
          </a:xfrm>
        </p:grpSpPr>
        <p:sp>
          <p:nvSpPr>
            <p:cNvPr id="185" name="Google Shape;185;p6"/>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7" name="Google Shape;187;p6"/>
          <p:cNvSpPr/>
          <p:nvPr/>
        </p:nvSpPr>
        <p:spPr>
          <a:xfrm>
            <a:off x="1028700" y="2636024"/>
            <a:ext cx="5014952" cy="5014952"/>
          </a:xfrm>
          <a:custGeom>
            <a:rect b="b" l="l" r="r" t="t"/>
            <a:pathLst>
              <a:path extrusionOk="0" h="5014952" w="5014952">
                <a:moveTo>
                  <a:pt x="0" y="0"/>
                </a:moveTo>
                <a:lnTo>
                  <a:pt x="5014952" y="0"/>
                </a:lnTo>
                <a:lnTo>
                  <a:pt x="5014952" y="5014952"/>
                </a:lnTo>
                <a:lnTo>
                  <a:pt x="0" y="5014952"/>
                </a:lnTo>
                <a:lnTo>
                  <a:pt x="0" y="0"/>
                </a:lnTo>
                <a:close/>
              </a:path>
            </a:pathLst>
          </a:custGeom>
          <a:blipFill rotWithShape="1">
            <a:blip r:embed="rId3">
              <a:alphaModFix/>
            </a:blip>
            <a:stretch>
              <a:fillRect b="0" l="0" r="0" t="0"/>
            </a:stretch>
          </a:blipFill>
          <a:ln>
            <a:noFill/>
          </a:ln>
        </p:spPr>
      </p:sp>
      <p:sp>
        <p:nvSpPr>
          <p:cNvPr id="188" name="Google Shape;188;p6"/>
          <p:cNvSpPr txBox="1"/>
          <p:nvPr/>
        </p:nvSpPr>
        <p:spPr>
          <a:xfrm>
            <a:off x="10428097" y="725805"/>
            <a:ext cx="6745799"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ESCALABILIDAD</a:t>
            </a:r>
            <a:endParaRPr/>
          </a:p>
        </p:txBody>
      </p:sp>
      <p:sp>
        <p:nvSpPr>
          <p:cNvPr id="189" name="Google Shape;189;p6"/>
          <p:cNvSpPr txBox="1"/>
          <p:nvPr/>
        </p:nvSpPr>
        <p:spPr>
          <a:xfrm>
            <a:off x="10768188" y="2946400"/>
            <a:ext cx="6191400" cy="5241925"/>
          </a:xfrm>
          <a:prstGeom prst="rect">
            <a:avLst/>
          </a:prstGeom>
          <a:noFill/>
          <a:ln>
            <a:noFill/>
          </a:ln>
        </p:spPr>
        <p:txBody>
          <a:bodyPr anchorCtr="0" anchor="t" bIns="0" lIns="0" spcFirstLastPara="1" rIns="0" wrap="square" tIns="0">
            <a:spAutoFit/>
          </a:bodyPr>
          <a:lstStyle/>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IUn sistema de almacenamiento escalable permite aumentar o reducir la capacidad sin afectar las operaciones.</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La escalabilidad vertical permite aumentar la capacidad de un único servidor de almacenamiento, mientras que la escalabilidad horizontal distribuye los datos entre varios dispositivos o nodos.</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93" name="Shape 193"/>
        <p:cNvGrpSpPr/>
        <p:nvPr/>
      </p:nvGrpSpPr>
      <p:grpSpPr>
        <a:xfrm>
          <a:off x="0" y="0"/>
          <a:ext cx="0" cy="0"/>
          <a:chOff x="0" y="0"/>
          <a:chExt cx="0" cy="0"/>
        </a:xfrm>
      </p:grpSpPr>
      <p:grpSp>
        <p:nvGrpSpPr>
          <p:cNvPr id="194" name="Google Shape;194;p7"/>
          <p:cNvGrpSpPr/>
          <p:nvPr/>
        </p:nvGrpSpPr>
        <p:grpSpPr>
          <a:xfrm>
            <a:off x="9187587" y="-1023038"/>
            <a:ext cx="9246124" cy="11381923"/>
            <a:chOff x="0" y="-38100"/>
            <a:chExt cx="2082160" cy="2563126"/>
          </a:xfrm>
        </p:grpSpPr>
        <p:sp>
          <p:nvSpPr>
            <p:cNvPr id="195" name="Google Shape;195;p7"/>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196" name="Google Shape;196;p7"/>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7"/>
          <p:cNvGrpSpPr/>
          <p:nvPr/>
        </p:nvGrpSpPr>
        <p:grpSpPr>
          <a:xfrm>
            <a:off x="10428097" y="2539125"/>
            <a:ext cx="6871582" cy="6811213"/>
            <a:chOff x="0" y="-38100"/>
            <a:chExt cx="1547430" cy="1533835"/>
          </a:xfrm>
        </p:grpSpPr>
        <p:sp>
          <p:nvSpPr>
            <p:cNvPr id="198" name="Google Shape;198;p7"/>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7"/>
          <p:cNvSpPr/>
          <p:nvPr/>
        </p:nvSpPr>
        <p:spPr>
          <a:xfrm>
            <a:off x="1028700" y="2753435"/>
            <a:ext cx="4780129" cy="4780129"/>
          </a:xfrm>
          <a:custGeom>
            <a:rect b="b" l="l" r="r" t="t"/>
            <a:pathLst>
              <a:path extrusionOk="0" h="4780129" w="4780129">
                <a:moveTo>
                  <a:pt x="0" y="0"/>
                </a:moveTo>
                <a:lnTo>
                  <a:pt x="4780129" y="0"/>
                </a:lnTo>
                <a:lnTo>
                  <a:pt x="4780129" y="4780130"/>
                </a:lnTo>
                <a:lnTo>
                  <a:pt x="0" y="4780130"/>
                </a:lnTo>
                <a:lnTo>
                  <a:pt x="0" y="0"/>
                </a:lnTo>
                <a:close/>
              </a:path>
            </a:pathLst>
          </a:custGeom>
          <a:blipFill rotWithShape="1">
            <a:blip r:embed="rId3">
              <a:alphaModFix/>
            </a:blip>
            <a:stretch>
              <a:fillRect b="0" l="0" r="0" t="0"/>
            </a:stretch>
          </a:blipFill>
          <a:ln>
            <a:noFill/>
          </a:ln>
        </p:spPr>
      </p:sp>
      <p:sp>
        <p:nvSpPr>
          <p:cNvPr id="201" name="Google Shape;201;p7"/>
          <p:cNvSpPr txBox="1"/>
          <p:nvPr/>
        </p:nvSpPr>
        <p:spPr>
          <a:xfrm>
            <a:off x="10428097" y="725805"/>
            <a:ext cx="6745799"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ACCESIBILIDAD</a:t>
            </a:r>
            <a:endParaRPr/>
          </a:p>
        </p:txBody>
      </p:sp>
      <p:sp>
        <p:nvSpPr>
          <p:cNvPr id="202" name="Google Shape;202;p7"/>
          <p:cNvSpPr txBox="1"/>
          <p:nvPr/>
        </p:nvSpPr>
        <p:spPr>
          <a:xfrm>
            <a:off x="10768188" y="2946400"/>
            <a:ext cx="6191400" cy="6118225"/>
          </a:xfrm>
          <a:prstGeom prst="rect">
            <a:avLst/>
          </a:prstGeom>
          <a:noFill/>
          <a:ln>
            <a:noFill/>
          </a:ln>
        </p:spPr>
        <p:txBody>
          <a:bodyPr anchorCtr="0" anchor="t" bIns="0" lIns="0" spcFirstLastPara="1" rIns="0" wrap="square" tIns="0">
            <a:spAutoFit/>
          </a:bodyPr>
          <a:lstStyle/>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La infraestructura de almacenamiento debe permitir el acceso rápido y eficiente a los datos, lo cual es crucial en entornos de negocio dinámicos donde los usuarios necesitan acceder a la información de manera inmediata.</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Deben implementarse medidas para permitir el acceso remoto seguro, facilitando el trabajo desde cualquier ubicación y dispositivo autorizado</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06" name="Shape 206"/>
        <p:cNvGrpSpPr/>
        <p:nvPr/>
      </p:nvGrpSpPr>
      <p:grpSpPr>
        <a:xfrm>
          <a:off x="0" y="0"/>
          <a:ext cx="0" cy="0"/>
          <a:chOff x="0" y="0"/>
          <a:chExt cx="0" cy="0"/>
        </a:xfrm>
      </p:grpSpPr>
      <p:grpSp>
        <p:nvGrpSpPr>
          <p:cNvPr id="207" name="Google Shape;207;p8"/>
          <p:cNvGrpSpPr/>
          <p:nvPr/>
        </p:nvGrpSpPr>
        <p:grpSpPr>
          <a:xfrm>
            <a:off x="9187587" y="-1023038"/>
            <a:ext cx="9246124" cy="11381923"/>
            <a:chOff x="0" y="-38100"/>
            <a:chExt cx="2082160" cy="2563126"/>
          </a:xfrm>
        </p:grpSpPr>
        <p:sp>
          <p:nvSpPr>
            <p:cNvPr id="208" name="Google Shape;208;p8"/>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209" name="Google Shape;209;p8"/>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8"/>
          <p:cNvGrpSpPr/>
          <p:nvPr/>
        </p:nvGrpSpPr>
        <p:grpSpPr>
          <a:xfrm>
            <a:off x="10428097" y="2539125"/>
            <a:ext cx="6871582" cy="6811213"/>
            <a:chOff x="0" y="-38100"/>
            <a:chExt cx="1547430" cy="1533835"/>
          </a:xfrm>
        </p:grpSpPr>
        <p:sp>
          <p:nvSpPr>
            <p:cNvPr id="211" name="Google Shape;211;p8"/>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8"/>
          <p:cNvSpPr/>
          <p:nvPr/>
        </p:nvSpPr>
        <p:spPr>
          <a:xfrm>
            <a:off x="1028700" y="2484368"/>
            <a:ext cx="5318264" cy="5318264"/>
          </a:xfrm>
          <a:custGeom>
            <a:rect b="b" l="l" r="r" t="t"/>
            <a:pathLst>
              <a:path extrusionOk="0" h="5318264" w="5318264">
                <a:moveTo>
                  <a:pt x="0" y="0"/>
                </a:moveTo>
                <a:lnTo>
                  <a:pt x="5318264" y="0"/>
                </a:lnTo>
                <a:lnTo>
                  <a:pt x="5318264" y="5318264"/>
                </a:lnTo>
                <a:lnTo>
                  <a:pt x="0" y="5318264"/>
                </a:lnTo>
                <a:lnTo>
                  <a:pt x="0" y="0"/>
                </a:lnTo>
                <a:close/>
              </a:path>
            </a:pathLst>
          </a:custGeom>
          <a:blipFill rotWithShape="1">
            <a:blip r:embed="rId3">
              <a:alphaModFix/>
            </a:blip>
            <a:stretch>
              <a:fillRect b="0" l="0" r="0" t="0"/>
            </a:stretch>
          </a:blipFill>
          <a:ln>
            <a:noFill/>
          </a:ln>
        </p:spPr>
      </p:sp>
      <p:sp>
        <p:nvSpPr>
          <p:cNvPr id="214" name="Google Shape;214;p8"/>
          <p:cNvSpPr txBox="1"/>
          <p:nvPr/>
        </p:nvSpPr>
        <p:spPr>
          <a:xfrm>
            <a:off x="10428097" y="725805"/>
            <a:ext cx="6745799"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DISPONIBILIDAD</a:t>
            </a:r>
            <a:endParaRPr/>
          </a:p>
        </p:txBody>
      </p:sp>
      <p:sp>
        <p:nvSpPr>
          <p:cNvPr id="215" name="Google Shape;215;p8"/>
          <p:cNvSpPr txBox="1"/>
          <p:nvPr/>
        </p:nvSpPr>
        <p:spPr>
          <a:xfrm>
            <a:off x="10768188" y="2946400"/>
            <a:ext cx="6191400" cy="5680075"/>
          </a:xfrm>
          <a:prstGeom prst="rect">
            <a:avLst/>
          </a:prstGeom>
          <a:noFill/>
          <a:ln>
            <a:noFill/>
          </a:ln>
        </p:spPr>
        <p:txBody>
          <a:bodyPr anchorCtr="0" anchor="t" bIns="0" lIns="0" spcFirstLastPara="1" rIns="0" wrap="square" tIns="0">
            <a:spAutoFit/>
          </a:bodyPr>
          <a:lstStyle/>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Los sistemas de almacenamiento deben estar disponibles en todo momento para evitar interrupciones en los servicios o en el acceso a la información.</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269875" lvl="1" marL="539749" marR="0" rtl="0" algn="l">
              <a:lnSpc>
                <a:spcPct val="140016"/>
              </a:lnSpc>
              <a:spcBef>
                <a:spcPts val="0"/>
              </a:spcBef>
              <a:spcAft>
                <a:spcPts val="0"/>
              </a:spcAft>
              <a:buClr>
                <a:srgbClr val="31356E"/>
              </a:buClr>
              <a:buSzPts val="2499"/>
              <a:buFont typeface="Arial"/>
              <a:buChar char="•"/>
            </a:pPr>
            <a:r>
              <a:rPr b="0" i="0" lang="en-US" sz="2499" u="none" cap="none" strike="noStrike">
                <a:solidFill>
                  <a:srgbClr val="31356E"/>
                </a:solidFill>
                <a:latin typeface="Lexend Deca"/>
                <a:ea typeface="Lexend Deca"/>
                <a:cs typeface="Lexend Deca"/>
                <a:sym typeface="Lexend Deca"/>
              </a:rPr>
              <a:t>Los sistemas de alta disponibilidad incluyen mecanismos de redundancia y recuperación automática ante fallos, como el uso de clústeres y balanceo de carga, para garantizar la continuidad.</a:t>
            </a:r>
            <a:endParaRPr/>
          </a:p>
          <a:p>
            <a:pPr indent="0" lvl="0" marL="0" marR="0" rtl="0" algn="l">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19" name="Shape 219"/>
        <p:cNvGrpSpPr/>
        <p:nvPr/>
      </p:nvGrpSpPr>
      <p:grpSpPr>
        <a:xfrm>
          <a:off x="0" y="0"/>
          <a:ext cx="0" cy="0"/>
          <a:chOff x="0" y="0"/>
          <a:chExt cx="0" cy="0"/>
        </a:xfrm>
      </p:grpSpPr>
      <p:pic>
        <p:nvPicPr>
          <p:cNvPr id="220" name="Google Shape;220;p9"/>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221" name="Google Shape;221;p9"/>
          <p:cNvGrpSpPr/>
          <p:nvPr/>
        </p:nvGrpSpPr>
        <p:grpSpPr>
          <a:xfrm>
            <a:off x="1028700" y="3403329"/>
            <a:ext cx="16230600" cy="3778541"/>
            <a:chOff x="0" y="-38100"/>
            <a:chExt cx="3655013" cy="850900"/>
          </a:xfrm>
        </p:grpSpPr>
        <p:sp>
          <p:nvSpPr>
            <p:cNvPr id="222" name="Google Shape;222;p9"/>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9"/>
          <p:cNvSpPr txBox="1"/>
          <p:nvPr/>
        </p:nvSpPr>
        <p:spPr>
          <a:xfrm>
            <a:off x="1652538" y="3856963"/>
            <a:ext cx="14982900" cy="332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0" u="none" cap="none" strike="noStrike">
                <a:solidFill>
                  <a:srgbClr val="FFFFFF"/>
                </a:solidFill>
                <a:latin typeface="Play"/>
                <a:ea typeface="Play"/>
                <a:cs typeface="Play"/>
                <a:sym typeface="Play"/>
              </a:rPr>
              <a:t>ALMACENAMIENTO VIRTUAL</a:t>
            </a:r>
            <a:endParaRPr sz="9000"/>
          </a:p>
        </p:txBody>
      </p:sp>
      <p:sp>
        <p:nvSpPr>
          <p:cNvPr id="225" name="Google Shape;225;p9"/>
          <p:cNvSpPr txBox="1"/>
          <p:nvPr/>
        </p:nvSpPr>
        <p:spPr>
          <a:xfrm>
            <a:off x="5983850" y="7677997"/>
            <a:ext cx="6320299"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CLASE 11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29" name="Shape 229"/>
        <p:cNvGrpSpPr/>
        <p:nvPr/>
      </p:nvGrpSpPr>
      <p:grpSpPr>
        <a:xfrm>
          <a:off x="0" y="0"/>
          <a:ext cx="0" cy="0"/>
          <a:chOff x="0" y="0"/>
          <a:chExt cx="0" cy="0"/>
        </a:xfrm>
      </p:grpSpPr>
      <p:grpSp>
        <p:nvGrpSpPr>
          <p:cNvPr id="230" name="Google Shape;230;p10"/>
          <p:cNvGrpSpPr/>
          <p:nvPr/>
        </p:nvGrpSpPr>
        <p:grpSpPr>
          <a:xfrm>
            <a:off x="9187587" y="-1023038"/>
            <a:ext cx="9246124" cy="11381923"/>
            <a:chOff x="0" y="-38100"/>
            <a:chExt cx="2082160" cy="2563126"/>
          </a:xfrm>
        </p:grpSpPr>
        <p:sp>
          <p:nvSpPr>
            <p:cNvPr id="231" name="Google Shape;231;p10"/>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232" name="Google Shape;232;p10"/>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3" name="Google Shape;233;p10"/>
          <p:cNvGrpSpPr/>
          <p:nvPr/>
        </p:nvGrpSpPr>
        <p:grpSpPr>
          <a:xfrm>
            <a:off x="10428097" y="2539125"/>
            <a:ext cx="6871582" cy="6811213"/>
            <a:chOff x="0" y="-38100"/>
            <a:chExt cx="1547430" cy="1533835"/>
          </a:xfrm>
        </p:grpSpPr>
        <p:sp>
          <p:nvSpPr>
            <p:cNvPr id="234" name="Google Shape;234;p10"/>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6" name="Google Shape;236;p10"/>
          <p:cNvSpPr/>
          <p:nvPr/>
        </p:nvSpPr>
        <p:spPr>
          <a:xfrm>
            <a:off x="1028700" y="1951126"/>
            <a:ext cx="5249774" cy="5249774"/>
          </a:xfrm>
          <a:custGeom>
            <a:rect b="b" l="l" r="r" t="t"/>
            <a:pathLst>
              <a:path extrusionOk="0" h="5249774" w="5249774">
                <a:moveTo>
                  <a:pt x="0" y="0"/>
                </a:moveTo>
                <a:lnTo>
                  <a:pt x="5249774" y="0"/>
                </a:lnTo>
                <a:lnTo>
                  <a:pt x="5249774" y="5249774"/>
                </a:lnTo>
                <a:lnTo>
                  <a:pt x="0" y="5249774"/>
                </a:lnTo>
                <a:lnTo>
                  <a:pt x="0" y="0"/>
                </a:lnTo>
                <a:close/>
              </a:path>
            </a:pathLst>
          </a:custGeom>
          <a:blipFill rotWithShape="1">
            <a:blip r:embed="rId3">
              <a:alphaModFix/>
            </a:blip>
            <a:stretch>
              <a:fillRect b="0" l="0" r="0" t="0"/>
            </a:stretch>
          </a:blipFill>
          <a:ln>
            <a:noFill/>
          </a:ln>
        </p:spPr>
      </p:sp>
      <p:sp>
        <p:nvSpPr>
          <p:cNvPr id="237" name="Google Shape;237;p10"/>
          <p:cNvSpPr txBox="1"/>
          <p:nvPr/>
        </p:nvSpPr>
        <p:spPr>
          <a:xfrm>
            <a:off x="10428097" y="725805"/>
            <a:ext cx="6745799"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CONCEPTOS BÁSICOS</a:t>
            </a:r>
            <a:endParaRPr/>
          </a:p>
        </p:txBody>
      </p:sp>
      <p:sp>
        <p:nvSpPr>
          <p:cNvPr id="238" name="Google Shape;238;p10"/>
          <p:cNvSpPr txBox="1"/>
          <p:nvPr/>
        </p:nvSpPr>
        <p:spPr>
          <a:xfrm>
            <a:off x="10705296" y="2483439"/>
            <a:ext cx="6191400" cy="7120890"/>
          </a:xfrm>
          <a:prstGeom prst="rect">
            <a:avLst/>
          </a:prstGeom>
          <a:noFill/>
          <a:ln>
            <a:noFill/>
          </a:ln>
        </p:spPr>
        <p:txBody>
          <a:bodyPr anchorCtr="0" anchor="t" bIns="0" lIns="0" spcFirstLastPara="1" rIns="0" wrap="square" tIns="0">
            <a:spAutoFit/>
          </a:bodyPr>
          <a:lstStyle/>
          <a:p>
            <a:pPr indent="0" lvl="0" marL="0" marR="0" rtl="0" algn="l">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59080" lvl="1" marL="518160" marR="0" rtl="0" algn="l">
              <a:lnSpc>
                <a:spcPct val="139958"/>
              </a:lnSpc>
              <a:spcBef>
                <a:spcPts val="0"/>
              </a:spcBef>
              <a:spcAft>
                <a:spcPts val="0"/>
              </a:spcAft>
              <a:buClr>
                <a:srgbClr val="31356E"/>
              </a:buClr>
              <a:buSzPts val="2400"/>
              <a:buFont typeface="Arial"/>
              <a:buChar char="•"/>
            </a:pPr>
            <a:r>
              <a:rPr b="0" i="0" lang="en-US" sz="2400" u="none" cap="none" strike="noStrike">
                <a:solidFill>
                  <a:srgbClr val="31356E"/>
                </a:solidFill>
                <a:latin typeface="Lexend Deca"/>
                <a:ea typeface="Lexend Deca"/>
                <a:cs typeface="Lexend Deca"/>
                <a:sym typeface="Lexend Deca"/>
              </a:rPr>
              <a:t>La virtualización de almacenamiento implica la creación de un “espacio de almacenamiento virtual” que reúne múltiples recursos físicos. Este espacio puede distribuirse en diferentes servidores, discos duros, redes de área de almacenamiento (SAN) o dispositivos de almacenamiento en red (NAS).</a:t>
            </a:r>
            <a:endParaRPr/>
          </a:p>
          <a:p>
            <a:pPr indent="0" lvl="0" marL="0" marR="0" rtl="0" algn="l">
              <a:lnSpc>
                <a:spcPct val="139958"/>
              </a:lnSpc>
              <a:spcBef>
                <a:spcPts val="0"/>
              </a:spcBef>
              <a:spcAft>
                <a:spcPts val="0"/>
              </a:spcAft>
              <a:buNone/>
            </a:pPr>
            <a:r>
              <a:t/>
            </a:r>
            <a:endParaRPr b="0" i="0" sz="2400" u="none" cap="none" strike="noStrike">
              <a:solidFill>
                <a:srgbClr val="31356E"/>
              </a:solidFill>
              <a:latin typeface="Lexend Deca"/>
              <a:ea typeface="Lexend Deca"/>
              <a:cs typeface="Lexend Deca"/>
              <a:sym typeface="Lexend Deca"/>
            </a:endParaRPr>
          </a:p>
          <a:p>
            <a:pPr indent="-259080" lvl="1" marL="518160" marR="0" rtl="0" algn="l">
              <a:lnSpc>
                <a:spcPct val="139958"/>
              </a:lnSpc>
              <a:spcBef>
                <a:spcPts val="0"/>
              </a:spcBef>
              <a:spcAft>
                <a:spcPts val="0"/>
              </a:spcAft>
              <a:buClr>
                <a:srgbClr val="31356E"/>
              </a:buClr>
              <a:buSzPts val="2400"/>
              <a:buFont typeface="Arial"/>
              <a:buChar char="•"/>
            </a:pPr>
            <a:r>
              <a:rPr b="0" i="0" lang="en-US" sz="2400" u="none" cap="none" strike="noStrike">
                <a:solidFill>
                  <a:srgbClr val="31356E"/>
                </a:solidFill>
                <a:latin typeface="Lexend Deca"/>
                <a:ea typeface="Lexend Deca"/>
                <a:cs typeface="Lexend Deca"/>
                <a:sym typeface="Lexend Deca"/>
              </a:rPr>
              <a:t>Los usuarios y aplicaciones pueden acceder a los datos sin necesidad de conocer la ubicación exacta de los archivos, lo que simplifica el acceso y la gestión.</a:t>
            </a:r>
            <a:endParaRPr/>
          </a:p>
          <a:p>
            <a:pPr indent="0" lvl="0" marL="0" marR="0" rtl="0" algn="l">
              <a:lnSpc>
                <a:spcPct val="139958"/>
              </a:lnSpc>
              <a:spcBef>
                <a:spcPts val="0"/>
              </a:spcBef>
              <a:spcAft>
                <a:spcPts val="0"/>
              </a:spcAft>
              <a:buNone/>
            </a:pPr>
            <a:r>
              <a:t/>
            </a:r>
            <a:endParaRPr b="0" i="0" sz="2400"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42" name="Shape 242"/>
        <p:cNvGrpSpPr/>
        <p:nvPr/>
      </p:nvGrpSpPr>
      <p:grpSpPr>
        <a:xfrm>
          <a:off x="0" y="0"/>
          <a:ext cx="0" cy="0"/>
          <a:chOff x="0" y="0"/>
          <a:chExt cx="0" cy="0"/>
        </a:xfrm>
      </p:grpSpPr>
      <p:grpSp>
        <p:nvGrpSpPr>
          <p:cNvPr id="243" name="Google Shape;243;p11"/>
          <p:cNvGrpSpPr/>
          <p:nvPr/>
        </p:nvGrpSpPr>
        <p:grpSpPr>
          <a:xfrm>
            <a:off x="9187587" y="-1023038"/>
            <a:ext cx="9246124" cy="11381923"/>
            <a:chOff x="0" y="-38100"/>
            <a:chExt cx="2082160" cy="2563126"/>
          </a:xfrm>
        </p:grpSpPr>
        <p:sp>
          <p:nvSpPr>
            <p:cNvPr id="244" name="Google Shape;244;p11"/>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245" name="Google Shape;245;p11"/>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11"/>
          <p:cNvGrpSpPr/>
          <p:nvPr/>
        </p:nvGrpSpPr>
        <p:grpSpPr>
          <a:xfrm>
            <a:off x="10428097" y="2539125"/>
            <a:ext cx="6871582" cy="6811213"/>
            <a:chOff x="0" y="-38100"/>
            <a:chExt cx="1547430" cy="1533835"/>
          </a:xfrm>
        </p:grpSpPr>
        <p:sp>
          <p:nvSpPr>
            <p:cNvPr id="247" name="Google Shape;247;p11"/>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1"/>
          <p:cNvSpPr/>
          <p:nvPr/>
        </p:nvSpPr>
        <p:spPr>
          <a:xfrm>
            <a:off x="2018496" y="30861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50" name="Google Shape;250;p11"/>
          <p:cNvSpPr txBox="1"/>
          <p:nvPr/>
        </p:nvSpPr>
        <p:spPr>
          <a:xfrm>
            <a:off x="10428097" y="544430"/>
            <a:ext cx="6745800" cy="199470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500" u="none" cap="none" strike="noStrike">
                <a:solidFill>
                  <a:srgbClr val="FFFFFF"/>
                </a:solidFill>
                <a:latin typeface="Play"/>
                <a:ea typeface="Play"/>
                <a:cs typeface="Play"/>
                <a:sym typeface="Play"/>
              </a:rPr>
              <a:t>COMPONENTES DEL ALMACENAMIENTO VIRTUAL</a:t>
            </a:r>
            <a:endParaRPr sz="4500"/>
          </a:p>
        </p:txBody>
      </p:sp>
      <p:sp>
        <p:nvSpPr>
          <p:cNvPr id="251" name="Google Shape;251;p11"/>
          <p:cNvSpPr txBox="1"/>
          <p:nvPr/>
        </p:nvSpPr>
        <p:spPr>
          <a:xfrm>
            <a:off x="10705296" y="2868295"/>
            <a:ext cx="6191400" cy="6390005"/>
          </a:xfrm>
          <a:prstGeom prst="rect">
            <a:avLst/>
          </a:prstGeom>
          <a:noFill/>
          <a:ln>
            <a:noFill/>
          </a:ln>
        </p:spPr>
        <p:txBody>
          <a:bodyPr anchorCtr="0" anchor="t" bIns="0" lIns="0" spcFirstLastPara="1" rIns="0" wrap="square" tIns="0">
            <a:spAutoFit/>
          </a:bodyPr>
          <a:lstStyle/>
          <a:p>
            <a:pPr indent="-248285" lvl="1" marL="496571" marR="0" rtl="0" algn="l">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Capas de Abstracción: Una capa de software o hipervisor de almacenamiento convierte el almacenamiento físico en un recurso virtual, creando una "capa de abstracción". Este software permite la unificación y administración centralizada de los diferentes dispositivos de almacenamiento.</a:t>
            </a:r>
            <a:endParaRPr/>
          </a:p>
          <a:p>
            <a:pPr indent="0" lvl="0" marL="0" marR="0" rtl="0" algn="l">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248285" lvl="1" marL="496571" marR="0" rtl="0" algn="l">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Controladores Virtuales: Gestionan las operaciones de entrada/salida (I/O) de datos y los distribuyen de manera eficiente entre los recursos físicos disponibles.</a:t>
            </a:r>
            <a:endParaRPr/>
          </a:p>
          <a:p>
            <a:pPr indent="0" lvl="0" marL="0" marR="0" rtl="0" algn="l">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55" name="Shape 255"/>
        <p:cNvGrpSpPr/>
        <p:nvPr/>
      </p:nvGrpSpPr>
      <p:grpSpPr>
        <a:xfrm>
          <a:off x="0" y="0"/>
          <a:ext cx="0" cy="0"/>
          <a:chOff x="0" y="0"/>
          <a:chExt cx="0" cy="0"/>
        </a:xfrm>
      </p:grpSpPr>
      <p:grpSp>
        <p:nvGrpSpPr>
          <p:cNvPr id="256" name="Google Shape;256;p12"/>
          <p:cNvGrpSpPr/>
          <p:nvPr/>
        </p:nvGrpSpPr>
        <p:grpSpPr>
          <a:xfrm>
            <a:off x="9187587" y="-1023038"/>
            <a:ext cx="9246124" cy="11381923"/>
            <a:chOff x="0" y="-38100"/>
            <a:chExt cx="2082160" cy="2563126"/>
          </a:xfrm>
        </p:grpSpPr>
        <p:sp>
          <p:nvSpPr>
            <p:cNvPr id="257" name="Google Shape;257;p12"/>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258" name="Google Shape;258;p12"/>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2"/>
          <p:cNvGrpSpPr/>
          <p:nvPr/>
        </p:nvGrpSpPr>
        <p:grpSpPr>
          <a:xfrm>
            <a:off x="10428097" y="2539125"/>
            <a:ext cx="6871582" cy="6811213"/>
            <a:chOff x="0" y="-38100"/>
            <a:chExt cx="1547430" cy="1533835"/>
          </a:xfrm>
        </p:grpSpPr>
        <p:sp>
          <p:nvSpPr>
            <p:cNvPr id="260" name="Google Shape;260;p12"/>
            <p:cNvSpPr/>
            <p:nvPr/>
          </p:nvSpPr>
          <p:spPr>
            <a:xfrm>
              <a:off x="0" y="0"/>
              <a:ext cx="1547430" cy="1495735"/>
            </a:xfrm>
            <a:custGeom>
              <a:rect b="b" l="l" r="r" t="t"/>
              <a:pathLst>
                <a:path extrusionOk="0" h="1495735" w="1547430">
                  <a:moveTo>
                    <a:pt x="57460" y="0"/>
                  </a:moveTo>
                  <a:lnTo>
                    <a:pt x="1489971" y="0"/>
                  </a:lnTo>
                  <a:cubicBezTo>
                    <a:pt x="1505210" y="0"/>
                    <a:pt x="1519825" y="6054"/>
                    <a:pt x="1530601" y="16830"/>
                  </a:cubicBezTo>
                  <a:cubicBezTo>
                    <a:pt x="1541376" y="27605"/>
                    <a:pt x="1547430" y="42220"/>
                    <a:pt x="1547430" y="57460"/>
                  </a:cubicBezTo>
                  <a:lnTo>
                    <a:pt x="1547430" y="1438276"/>
                  </a:lnTo>
                  <a:cubicBezTo>
                    <a:pt x="1547430" y="1453515"/>
                    <a:pt x="1541376" y="1468130"/>
                    <a:pt x="1530601" y="1478906"/>
                  </a:cubicBezTo>
                  <a:cubicBezTo>
                    <a:pt x="1519825" y="1489682"/>
                    <a:pt x="1505210" y="1495735"/>
                    <a:pt x="1489971" y="1495735"/>
                  </a:cubicBezTo>
                  <a:lnTo>
                    <a:pt x="57460" y="1495735"/>
                  </a:lnTo>
                  <a:cubicBezTo>
                    <a:pt x="42220" y="1495735"/>
                    <a:pt x="27605" y="1489682"/>
                    <a:pt x="16830" y="1478906"/>
                  </a:cubicBezTo>
                  <a:cubicBezTo>
                    <a:pt x="6054" y="1468130"/>
                    <a:pt x="0" y="1453515"/>
                    <a:pt x="0" y="1438276"/>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txBox="1"/>
            <p:nvPr/>
          </p:nvSpPr>
          <p:spPr>
            <a:xfrm>
              <a:off x="0" y="-38100"/>
              <a:ext cx="1547430" cy="153383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2"/>
          <p:cNvSpPr/>
          <p:nvPr/>
        </p:nvSpPr>
        <p:spPr>
          <a:xfrm>
            <a:off x="1028700" y="2671762"/>
            <a:ext cx="4943475" cy="4943475"/>
          </a:xfrm>
          <a:custGeom>
            <a:rect b="b" l="l" r="r" t="t"/>
            <a:pathLst>
              <a:path extrusionOk="0" h="4943475" w="4943475">
                <a:moveTo>
                  <a:pt x="0" y="0"/>
                </a:moveTo>
                <a:lnTo>
                  <a:pt x="4943475" y="0"/>
                </a:lnTo>
                <a:lnTo>
                  <a:pt x="4943475" y="4943476"/>
                </a:lnTo>
                <a:lnTo>
                  <a:pt x="0" y="4943476"/>
                </a:lnTo>
                <a:lnTo>
                  <a:pt x="0" y="0"/>
                </a:lnTo>
                <a:close/>
              </a:path>
            </a:pathLst>
          </a:custGeom>
          <a:blipFill rotWithShape="1">
            <a:blip r:embed="rId3">
              <a:alphaModFix/>
            </a:blip>
            <a:stretch>
              <a:fillRect b="0" l="0" r="0" t="0"/>
            </a:stretch>
          </a:blipFill>
          <a:ln>
            <a:noFill/>
          </a:ln>
        </p:spPr>
      </p:sp>
      <p:sp>
        <p:nvSpPr>
          <p:cNvPr id="263" name="Google Shape;263;p12"/>
          <p:cNvSpPr txBox="1"/>
          <p:nvPr/>
        </p:nvSpPr>
        <p:spPr>
          <a:xfrm>
            <a:off x="10428097" y="544430"/>
            <a:ext cx="6745800" cy="199470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500" u="none" cap="none" strike="noStrike">
                <a:solidFill>
                  <a:srgbClr val="FFFFFF"/>
                </a:solidFill>
                <a:latin typeface="Play"/>
                <a:ea typeface="Play"/>
                <a:cs typeface="Play"/>
                <a:sym typeface="Play"/>
              </a:rPr>
              <a:t>TIPOS DE ALMACENAMIENTO VIRTUAL</a:t>
            </a:r>
            <a:endParaRPr sz="4500"/>
          </a:p>
        </p:txBody>
      </p:sp>
      <p:sp>
        <p:nvSpPr>
          <p:cNvPr id="264" name="Google Shape;264;p12"/>
          <p:cNvSpPr txBox="1"/>
          <p:nvPr/>
        </p:nvSpPr>
        <p:spPr>
          <a:xfrm>
            <a:off x="10705296" y="3010535"/>
            <a:ext cx="6191400" cy="5189855"/>
          </a:xfrm>
          <a:prstGeom prst="rect">
            <a:avLst/>
          </a:prstGeom>
          <a:noFill/>
          <a:ln>
            <a:noFill/>
          </a:ln>
        </p:spPr>
        <p:txBody>
          <a:bodyPr anchorCtr="0" anchor="t" bIns="0" lIns="0" spcFirstLastPara="1" rIns="0" wrap="square" tIns="0">
            <a:spAutoFit/>
          </a:bodyPr>
          <a:lstStyle/>
          <a:p>
            <a:pPr indent="-248285" lvl="1" marL="496571" marR="0" rtl="0" algn="l">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Almacenamiento de Bloques: Virtualiza los bloques de datos, que son la unidad básica de almacenamiento en discos duros. Este método se usa comúnmente en entornos de alto rendimiento y bases de datos, como en redes SAN.</a:t>
            </a:r>
            <a:endParaRPr/>
          </a:p>
          <a:p>
            <a:pPr indent="0" lvl="0" marL="0" marR="0" rtl="0" algn="l">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248285" lvl="1" marL="496571" marR="0" rtl="0" algn="l">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Almacenamiento de Bloques: Virtualiza los bloques de datos, que son la unidad básica de almacenamiento en discos duros. Este método se usa comúnmente en entornos de alto rendimiento y bases de datos, como en redes SAN.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68" name="Shape 268"/>
        <p:cNvGrpSpPr/>
        <p:nvPr/>
      </p:nvGrpSpPr>
      <p:grpSpPr>
        <a:xfrm>
          <a:off x="0" y="0"/>
          <a:ext cx="0" cy="0"/>
          <a:chOff x="0" y="0"/>
          <a:chExt cx="0" cy="0"/>
        </a:xfrm>
      </p:grpSpPr>
      <p:grpSp>
        <p:nvGrpSpPr>
          <p:cNvPr id="269" name="Google Shape;269;p13"/>
          <p:cNvGrpSpPr/>
          <p:nvPr/>
        </p:nvGrpSpPr>
        <p:grpSpPr>
          <a:xfrm>
            <a:off x="5715724" y="-1023038"/>
            <a:ext cx="12717987" cy="11381923"/>
            <a:chOff x="0" y="-38100"/>
            <a:chExt cx="2863998" cy="2563126"/>
          </a:xfrm>
        </p:grpSpPr>
        <p:sp>
          <p:nvSpPr>
            <p:cNvPr id="270" name="Google Shape;270;p13"/>
            <p:cNvSpPr/>
            <p:nvPr/>
          </p:nvSpPr>
          <p:spPr>
            <a:xfrm>
              <a:off x="0" y="0"/>
              <a:ext cx="2863998" cy="2525026"/>
            </a:xfrm>
            <a:custGeom>
              <a:rect b="b" l="l" r="r" t="t"/>
              <a:pathLst>
                <a:path extrusionOk="0" h="2525026" w="2863998">
                  <a:moveTo>
                    <a:pt x="0" y="0"/>
                  </a:moveTo>
                  <a:lnTo>
                    <a:pt x="2863998" y="0"/>
                  </a:lnTo>
                  <a:lnTo>
                    <a:pt x="2863998" y="2525026"/>
                  </a:lnTo>
                  <a:lnTo>
                    <a:pt x="0" y="2525026"/>
                  </a:lnTo>
                  <a:close/>
                </a:path>
              </a:pathLst>
            </a:custGeom>
            <a:solidFill>
              <a:srgbClr val="31356E"/>
            </a:solidFill>
            <a:ln>
              <a:noFill/>
            </a:ln>
          </p:spPr>
        </p:sp>
        <p:sp>
          <p:nvSpPr>
            <p:cNvPr id="271" name="Google Shape;271;p13"/>
            <p:cNvSpPr txBox="1"/>
            <p:nvPr/>
          </p:nvSpPr>
          <p:spPr>
            <a:xfrm>
              <a:off x="0" y="-38100"/>
              <a:ext cx="286399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272" name="Google Shape;272;p13"/>
          <p:cNvGraphicFramePr/>
          <p:nvPr/>
        </p:nvGraphicFramePr>
        <p:xfrm>
          <a:off x="7221888" y="2221706"/>
          <a:ext cx="3000000" cy="3000000"/>
        </p:xfrm>
        <a:graphic>
          <a:graphicData uri="http://schemas.openxmlformats.org/drawingml/2006/table">
            <a:tbl>
              <a:tblPr>
                <a:noFill/>
                <a:tableStyleId>{30A57041-D12B-453F-9D5A-321E71D4DE27}</a:tableStyleId>
              </a:tblPr>
              <a:tblGrid>
                <a:gridCol w="3235225"/>
                <a:gridCol w="3235225"/>
                <a:gridCol w="3235225"/>
              </a:tblGrid>
              <a:tr h="1460900">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Escalabilidad</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Flexibilidad</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Alta Disponibilidad</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r>
              <a:tr h="1460900">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Alta Redundancias</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Optimización y Rendimiento</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Facilidad de Gestión</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r>
              <a:tr h="1460900">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Detección de Problemas</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Consolidación de Almacenamiento</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Entornos de Nube e Híbridos</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r>
              <a:tr h="1460900">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Desarrollo y Pruebas</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318090"/>
                        </a:lnSpc>
                        <a:spcBef>
                          <a:spcPts val="0"/>
                        </a:spcBef>
                        <a:spcAft>
                          <a:spcPts val="0"/>
                        </a:spcAft>
                        <a:buNone/>
                      </a:pPr>
                      <a:r>
                        <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318090"/>
                        </a:lnSpc>
                        <a:spcBef>
                          <a:spcPts val="0"/>
                        </a:spcBef>
                        <a:spcAft>
                          <a:spcPts val="0"/>
                        </a:spcAft>
                        <a:buNone/>
                      </a:pPr>
                      <a:r>
                        <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r>
            </a:tbl>
          </a:graphicData>
        </a:graphic>
      </p:graphicFrame>
      <p:sp>
        <p:nvSpPr>
          <p:cNvPr id="273" name="Google Shape;273;p13"/>
          <p:cNvSpPr/>
          <p:nvPr/>
        </p:nvSpPr>
        <p:spPr>
          <a:xfrm>
            <a:off x="1028700" y="30861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74" name="Google Shape;274;p13"/>
          <p:cNvSpPr txBox="1"/>
          <p:nvPr/>
        </p:nvSpPr>
        <p:spPr>
          <a:xfrm>
            <a:off x="6544406" y="697230"/>
            <a:ext cx="11060624" cy="59436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4500" u="none" cap="none" strike="noStrike">
                <a:solidFill>
                  <a:srgbClr val="FFFFFF"/>
                </a:solidFill>
                <a:latin typeface="Play"/>
                <a:ea typeface="Play"/>
                <a:cs typeface="Play"/>
                <a:sym typeface="Play"/>
              </a:rPr>
              <a:t>VENTAJAS DEL ALMACENAMIENTO VIRTUAL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78" name="Shape 278"/>
        <p:cNvGrpSpPr/>
        <p:nvPr/>
      </p:nvGrpSpPr>
      <p:grpSpPr>
        <a:xfrm>
          <a:off x="0" y="0"/>
          <a:ext cx="0" cy="0"/>
          <a:chOff x="0" y="0"/>
          <a:chExt cx="0" cy="0"/>
        </a:xfrm>
      </p:grpSpPr>
      <p:grpSp>
        <p:nvGrpSpPr>
          <p:cNvPr id="279" name="Google Shape;279;p14"/>
          <p:cNvGrpSpPr/>
          <p:nvPr/>
        </p:nvGrpSpPr>
        <p:grpSpPr>
          <a:xfrm>
            <a:off x="5715724" y="-1023038"/>
            <a:ext cx="12717987" cy="11381923"/>
            <a:chOff x="0" y="-38100"/>
            <a:chExt cx="2863998" cy="2563126"/>
          </a:xfrm>
        </p:grpSpPr>
        <p:sp>
          <p:nvSpPr>
            <p:cNvPr id="280" name="Google Shape;280;p14"/>
            <p:cNvSpPr/>
            <p:nvPr/>
          </p:nvSpPr>
          <p:spPr>
            <a:xfrm>
              <a:off x="0" y="0"/>
              <a:ext cx="2863998" cy="2525026"/>
            </a:xfrm>
            <a:custGeom>
              <a:rect b="b" l="l" r="r" t="t"/>
              <a:pathLst>
                <a:path extrusionOk="0" h="2525026" w="2863998">
                  <a:moveTo>
                    <a:pt x="0" y="0"/>
                  </a:moveTo>
                  <a:lnTo>
                    <a:pt x="2863998" y="0"/>
                  </a:lnTo>
                  <a:lnTo>
                    <a:pt x="2863998" y="2525026"/>
                  </a:lnTo>
                  <a:lnTo>
                    <a:pt x="0" y="2525026"/>
                  </a:lnTo>
                  <a:close/>
                </a:path>
              </a:pathLst>
            </a:custGeom>
            <a:solidFill>
              <a:srgbClr val="31356E"/>
            </a:solidFill>
            <a:ln>
              <a:noFill/>
            </a:ln>
          </p:spPr>
        </p:sp>
        <p:sp>
          <p:nvSpPr>
            <p:cNvPr id="281" name="Google Shape;281;p14"/>
            <p:cNvSpPr txBox="1"/>
            <p:nvPr/>
          </p:nvSpPr>
          <p:spPr>
            <a:xfrm>
              <a:off x="0" y="-38100"/>
              <a:ext cx="286399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282" name="Google Shape;282;p14"/>
          <p:cNvGraphicFramePr/>
          <p:nvPr/>
        </p:nvGraphicFramePr>
        <p:xfrm>
          <a:off x="7221888" y="1359832"/>
          <a:ext cx="3000000" cy="3000000"/>
        </p:xfrm>
        <a:graphic>
          <a:graphicData uri="http://schemas.openxmlformats.org/drawingml/2006/table">
            <a:tbl>
              <a:tblPr>
                <a:noFill/>
                <a:tableStyleId>{30A57041-D12B-453F-9D5A-321E71D4DE27}</a:tableStyleId>
              </a:tblPr>
              <a:tblGrid>
                <a:gridCol w="4852825"/>
                <a:gridCol w="4852825"/>
              </a:tblGrid>
              <a:tr h="1380600">
                <a:tc>
                  <a:txBody>
                    <a:bodyPr/>
                    <a:lstStyle/>
                    <a:p>
                      <a:pPr indent="0" lvl="0" marL="0" marR="0" rtl="0" algn="ctr">
                        <a:lnSpc>
                          <a:spcPct val="140016"/>
                        </a:lnSpc>
                        <a:spcBef>
                          <a:spcPts val="0"/>
                        </a:spcBef>
                        <a:spcAft>
                          <a:spcPts val="0"/>
                        </a:spcAft>
                        <a:buNone/>
                      </a:pPr>
                      <a:r>
                        <a:rPr b="1" lang="en-US" sz="2499" u="none" cap="none" strike="noStrike">
                          <a:solidFill>
                            <a:srgbClr val="000000"/>
                          </a:solidFill>
                          <a:latin typeface="Arial"/>
                          <a:ea typeface="Arial"/>
                          <a:cs typeface="Arial"/>
                          <a:sym typeface="Arial"/>
                        </a:rPr>
                        <a:t>Arquitectura</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99ACFF"/>
                    </a:solidFill>
                  </a:tcPr>
                </a:tc>
                <a:tc>
                  <a:txBody>
                    <a:bodyPr/>
                    <a:lstStyle/>
                    <a:p>
                      <a:pPr indent="0" lvl="0" marL="0" marR="0" rtl="0" algn="ctr">
                        <a:lnSpc>
                          <a:spcPct val="140016"/>
                        </a:lnSpc>
                        <a:spcBef>
                          <a:spcPts val="0"/>
                        </a:spcBef>
                        <a:spcAft>
                          <a:spcPts val="0"/>
                        </a:spcAft>
                        <a:buNone/>
                      </a:pPr>
                      <a:r>
                        <a:rPr b="1" lang="en-US" sz="2499" u="none" cap="none" strike="noStrike">
                          <a:solidFill>
                            <a:srgbClr val="000000"/>
                          </a:solidFill>
                          <a:latin typeface="Arial"/>
                          <a:ea typeface="Arial"/>
                          <a:cs typeface="Arial"/>
                          <a:sym typeface="Arial"/>
                        </a:rPr>
                        <a:t>Ventajas y Desventajas</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99ACFF"/>
                    </a:solidFill>
                  </a:tcPr>
                </a:tc>
              </a:tr>
              <a:tr h="3232650">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Hipervisor Bare-Metal</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00"/>
                        </a:lnSpc>
                        <a:spcBef>
                          <a:spcPts val="0"/>
                        </a:spcBef>
                        <a:spcAft>
                          <a:spcPts val="0"/>
                        </a:spcAft>
                        <a:buNone/>
                      </a:pPr>
                      <a:r>
                        <a:rPr lang="en-US" sz="1500" u="none" cap="none" strike="noStrike">
                          <a:solidFill>
                            <a:srgbClr val="000000"/>
                          </a:solidFill>
                          <a:latin typeface="Arial"/>
                          <a:ea typeface="Arial"/>
                          <a:cs typeface="Arial"/>
                          <a:sym typeface="Arial"/>
                        </a:rPr>
                        <a:t>Ventajas: Al ejecutarse directamente sobre el hardware, ofrece un mejor rendimiento, menor latencia y mayor control sobre los recursos. Es más adecuado para entornos empresariales y servidores de alto rendimiento.</a:t>
                      </a:r>
                      <a:endParaRPr sz="1100" u="none" cap="none" strike="noStrike"/>
                    </a:p>
                    <a:p>
                      <a:pPr indent="0" lvl="0" marL="0" marR="0" rtl="0" algn="ctr">
                        <a:lnSpc>
                          <a:spcPct val="190909"/>
                        </a:lnSpc>
                        <a:spcBef>
                          <a:spcPts val="0"/>
                        </a:spcBef>
                        <a:spcAft>
                          <a:spcPts val="0"/>
                        </a:spcAft>
                        <a:buNone/>
                      </a:pPr>
                      <a:r>
                        <a:t/>
                      </a:r>
                      <a:endParaRPr sz="1100" u="none" cap="none" strike="noStrike"/>
                    </a:p>
                    <a:p>
                      <a:pPr indent="0" lvl="0" marL="0" marR="0" rtl="0" algn="ctr">
                        <a:lnSpc>
                          <a:spcPct val="140000"/>
                        </a:lnSpc>
                        <a:spcBef>
                          <a:spcPts val="0"/>
                        </a:spcBef>
                        <a:spcAft>
                          <a:spcPts val="0"/>
                        </a:spcAft>
                        <a:buNone/>
                      </a:pPr>
                      <a:r>
                        <a:rPr lang="en-US" sz="1500" u="none" cap="none" strike="noStrike">
                          <a:solidFill>
                            <a:srgbClr val="000000"/>
                          </a:solidFill>
                          <a:latin typeface="Arial"/>
                          <a:ea typeface="Arial"/>
                          <a:cs typeface="Arial"/>
                          <a:sym typeface="Arial"/>
                        </a:rPr>
                        <a:t>Desventajas: Generalmente requiere hardware dedicado y una administración más especializada, lo que puede incrementar los costos de configuración y mantenimiento.</a:t>
                      </a:r>
                      <a:endParaRPr/>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E3E8FF"/>
                    </a:solidFill>
                  </a:tcPr>
                </a:tc>
              </a:tr>
              <a:tr h="3791375">
                <a:tc>
                  <a:txBody>
                    <a:bodyPr/>
                    <a:lstStyle/>
                    <a:p>
                      <a:pPr indent="0" lvl="0" marL="0" marR="0" rtl="0" algn="ctr">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Hipervisor Hospedado</a:t>
                      </a:r>
                      <a:endParaRPr sz="1100" u="none" cap="none" strike="noStrike"/>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CDD6FF"/>
                    </a:solidFill>
                  </a:tcPr>
                </a:tc>
                <a:tc>
                  <a:txBody>
                    <a:bodyPr/>
                    <a:lstStyle/>
                    <a:p>
                      <a:pPr indent="0" lvl="0" marL="0" marR="0" rtl="0" algn="ctr">
                        <a:lnSpc>
                          <a:spcPct val="140000"/>
                        </a:lnSpc>
                        <a:spcBef>
                          <a:spcPts val="0"/>
                        </a:spcBef>
                        <a:spcAft>
                          <a:spcPts val="0"/>
                        </a:spcAft>
                        <a:buNone/>
                      </a:pPr>
                      <a:r>
                        <a:rPr lang="en-US" sz="1500" u="none" cap="none" strike="noStrike">
                          <a:solidFill>
                            <a:srgbClr val="000000"/>
                          </a:solidFill>
                          <a:latin typeface="Arial"/>
                          <a:ea typeface="Arial"/>
                          <a:cs typeface="Arial"/>
                          <a:sym typeface="Arial"/>
                        </a:rPr>
                        <a:t>Ventajas: Es fácil de configurar y utilizar, especialmente en entornos de prueba o de desarrollo en computadoras personales, ya que se ejecuta como una aplicación normal en un sistema operativo existente.</a:t>
                      </a:r>
                      <a:endParaRPr sz="1100" u="none" cap="none" strike="noStrike"/>
                    </a:p>
                    <a:p>
                      <a:pPr indent="0" lvl="0" marL="0" marR="0" rtl="0" algn="ctr">
                        <a:lnSpc>
                          <a:spcPct val="190909"/>
                        </a:lnSpc>
                        <a:spcBef>
                          <a:spcPts val="0"/>
                        </a:spcBef>
                        <a:spcAft>
                          <a:spcPts val="0"/>
                        </a:spcAft>
                        <a:buNone/>
                      </a:pPr>
                      <a:r>
                        <a:t/>
                      </a:r>
                      <a:endParaRPr sz="1100" u="none" cap="none" strike="noStrike"/>
                    </a:p>
                    <a:p>
                      <a:pPr indent="0" lvl="0" marL="0" marR="0" rtl="0" algn="ctr">
                        <a:lnSpc>
                          <a:spcPct val="140000"/>
                        </a:lnSpc>
                        <a:spcBef>
                          <a:spcPts val="0"/>
                        </a:spcBef>
                        <a:spcAft>
                          <a:spcPts val="0"/>
                        </a:spcAft>
                        <a:buNone/>
                      </a:pPr>
                      <a:r>
                        <a:rPr lang="en-US" sz="1500" u="none" cap="none" strike="noStrike">
                          <a:solidFill>
                            <a:srgbClr val="000000"/>
                          </a:solidFill>
                          <a:latin typeface="Arial"/>
                          <a:ea typeface="Arial"/>
                          <a:cs typeface="Arial"/>
                          <a:sym typeface="Arial"/>
                        </a:rPr>
                        <a:t>Desventajas: La dependencia del sistema operativo anfitrión puede llevar a un rendimiento menor comparado con la virtualización de Tipo 1, y es menos adecuado para cargas de trabajo pesadas o entornos empresariales de producción.</a:t>
                      </a:r>
                      <a:endParaRPr/>
                    </a:p>
                  </a:txBody>
                  <a:tcPr marT="190500" marB="190500" marR="190500" marL="190500" anchor="ctr">
                    <a:lnL cap="flat" cmpd="sng" w="9525">
                      <a:solidFill>
                        <a:srgbClr val="99ACFF"/>
                      </a:solidFill>
                      <a:prstDash val="solid"/>
                      <a:round/>
                      <a:headEnd len="sm" w="sm" type="none"/>
                      <a:tailEnd len="sm" w="sm" type="none"/>
                    </a:lnL>
                    <a:lnR cap="flat" cmpd="sng" w="9525">
                      <a:solidFill>
                        <a:srgbClr val="99ACFF"/>
                      </a:solidFill>
                      <a:prstDash val="solid"/>
                      <a:round/>
                      <a:headEnd len="sm" w="sm" type="none"/>
                      <a:tailEnd len="sm" w="sm" type="none"/>
                    </a:lnR>
                    <a:lnT cap="flat" cmpd="sng" w="9525">
                      <a:solidFill>
                        <a:srgbClr val="99ACFF"/>
                      </a:solidFill>
                      <a:prstDash val="solid"/>
                      <a:round/>
                      <a:headEnd len="sm" w="sm" type="none"/>
                      <a:tailEnd len="sm" w="sm" type="none"/>
                    </a:lnT>
                    <a:lnB cap="flat" cmpd="sng" w="9525">
                      <a:solidFill>
                        <a:srgbClr val="99ACFF"/>
                      </a:solidFill>
                      <a:prstDash val="solid"/>
                      <a:round/>
                      <a:headEnd len="sm" w="sm" type="none"/>
                      <a:tailEnd len="sm" w="sm" type="none"/>
                    </a:lnB>
                    <a:solidFill>
                      <a:srgbClr val="E3E8FF"/>
                    </a:solidFill>
                  </a:tcPr>
                </a:tc>
              </a:tr>
            </a:tbl>
          </a:graphicData>
        </a:graphic>
      </p:graphicFrame>
      <p:sp>
        <p:nvSpPr>
          <p:cNvPr id="283" name="Google Shape;283;p14"/>
          <p:cNvSpPr/>
          <p:nvPr/>
        </p:nvSpPr>
        <p:spPr>
          <a:xfrm>
            <a:off x="1028700" y="3276514"/>
            <a:ext cx="3467927" cy="3733972"/>
          </a:xfrm>
          <a:custGeom>
            <a:rect b="b" l="l" r="r" t="t"/>
            <a:pathLst>
              <a:path extrusionOk="0" h="3733972" w="3467927">
                <a:moveTo>
                  <a:pt x="0" y="0"/>
                </a:moveTo>
                <a:lnTo>
                  <a:pt x="3467927" y="0"/>
                </a:lnTo>
                <a:lnTo>
                  <a:pt x="3467927" y="3733972"/>
                </a:lnTo>
                <a:lnTo>
                  <a:pt x="0" y="3733972"/>
                </a:lnTo>
                <a:lnTo>
                  <a:pt x="0" y="0"/>
                </a:lnTo>
                <a:close/>
              </a:path>
            </a:pathLst>
          </a:custGeom>
          <a:blipFill rotWithShape="1">
            <a:blip r:embed="rId3">
              <a:alphaModFix/>
            </a:blip>
            <a:stretch>
              <a:fillRect b="0" l="0" r="0" t="0"/>
            </a:stretch>
          </a:blipFill>
          <a:ln>
            <a:noFill/>
          </a:ln>
        </p:spPr>
      </p:sp>
      <p:sp>
        <p:nvSpPr>
          <p:cNvPr id="284" name="Google Shape;284;p14"/>
          <p:cNvSpPr txBox="1"/>
          <p:nvPr/>
        </p:nvSpPr>
        <p:spPr>
          <a:xfrm>
            <a:off x="6544406" y="540068"/>
            <a:ext cx="11060624" cy="59436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4500" u="none" cap="none" strike="noStrike">
                <a:solidFill>
                  <a:srgbClr val="FFFFFF"/>
                </a:solidFill>
                <a:latin typeface="Play"/>
                <a:ea typeface="Play"/>
                <a:cs typeface="Play"/>
                <a:sym typeface="Play"/>
              </a:rPr>
              <a:t>COMPARACIÓN DE ARQUITECTURAS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88" name="Shape 288"/>
        <p:cNvGrpSpPr/>
        <p:nvPr/>
      </p:nvGrpSpPr>
      <p:grpSpPr>
        <a:xfrm>
          <a:off x="0" y="0"/>
          <a:ext cx="0" cy="0"/>
          <a:chOff x="0" y="0"/>
          <a:chExt cx="0" cy="0"/>
        </a:xfrm>
      </p:grpSpPr>
      <p:grpSp>
        <p:nvGrpSpPr>
          <p:cNvPr id="289" name="Google Shape;289;p15"/>
          <p:cNvGrpSpPr/>
          <p:nvPr/>
        </p:nvGrpSpPr>
        <p:grpSpPr>
          <a:xfrm>
            <a:off x="5715724" y="-1094923"/>
            <a:ext cx="12717987" cy="11381923"/>
            <a:chOff x="0" y="-38100"/>
            <a:chExt cx="2863998" cy="2563126"/>
          </a:xfrm>
        </p:grpSpPr>
        <p:sp>
          <p:nvSpPr>
            <p:cNvPr id="290" name="Google Shape;290;p15"/>
            <p:cNvSpPr/>
            <p:nvPr/>
          </p:nvSpPr>
          <p:spPr>
            <a:xfrm>
              <a:off x="0" y="0"/>
              <a:ext cx="2863998" cy="2525026"/>
            </a:xfrm>
            <a:custGeom>
              <a:rect b="b" l="l" r="r" t="t"/>
              <a:pathLst>
                <a:path extrusionOk="0" h="2525026" w="2863998">
                  <a:moveTo>
                    <a:pt x="0" y="0"/>
                  </a:moveTo>
                  <a:lnTo>
                    <a:pt x="2863998" y="0"/>
                  </a:lnTo>
                  <a:lnTo>
                    <a:pt x="2863998" y="2525026"/>
                  </a:lnTo>
                  <a:lnTo>
                    <a:pt x="0" y="2525026"/>
                  </a:lnTo>
                  <a:close/>
                </a:path>
              </a:pathLst>
            </a:custGeom>
            <a:solidFill>
              <a:srgbClr val="31356E"/>
            </a:solidFill>
            <a:ln>
              <a:noFill/>
            </a:ln>
          </p:spPr>
        </p:sp>
        <p:sp>
          <p:nvSpPr>
            <p:cNvPr id="291" name="Google Shape;291;p15"/>
            <p:cNvSpPr txBox="1"/>
            <p:nvPr/>
          </p:nvSpPr>
          <p:spPr>
            <a:xfrm>
              <a:off x="0" y="-38100"/>
              <a:ext cx="286399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15"/>
          <p:cNvGrpSpPr/>
          <p:nvPr/>
        </p:nvGrpSpPr>
        <p:grpSpPr>
          <a:xfrm>
            <a:off x="6744431" y="1998712"/>
            <a:ext cx="10514869" cy="7259588"/>
            <a:chOff x="0" y="-38100"/>
            <a:chExt cx="2367872" cy="1634806"/>
          </a:xfrm>
        </p:grpSpPr>
        <p:sp>
          <p:nvSpPr>
            <p:cNvPr id="293" name="Google Shape;293;p15"/>
            <p:cNvSpPr/>
            <p:nvPr/>
          </p:nvSpPr>
          <p:spPr>
            <a:xfrm>
              <a:off x="0" y="0"/>
              <a:ext cx="2367872" cy="1596706"/>
            </a:xfrm>
            <a:custGeom>
              <a:rect b="b" l="l" r="r" t="t"/>
              <a:pathLst>
                <a:path extrusionOk="0" h="1596706" w="2367872">
                  <a:moveTo>
                    <a:pt x="37550" y="0"/>
                  </a:moveTo>
                  <a:lnTo>
                    <a:pt x="2330321" y="0"/>
                  </a:lnTo>
                  <a:cubicBezTo>
                    <a:pt x="2351060" y="0"/>
                    <a:pt x="2367872" y="16812"/>
                    <a:pt x="2367872" y="37550"/>
                  </a:cubicBezTo>
                  <a:lnTo>
                    <a:pt x="2367872" y="1559156"/>
                  </a:lnTo>
                  <a:cubicBezTo>
                    <a:pt x="2367872" y="1579895"/>
                    <a:pt x="2351060" y="1596706"/>
                    <a:pt x="2330321" y="1596706"/>
                  </a:cubicBezTo>
                  <a:lnTo>
                    <a:pt x="37550" y="1596706"/>
                  </a:lnTo>
                  <a:cubicBezTo>
                    <a:pt x="16812" y="1596706"/>
                    <a:pt x="0" y="1579895"/>
                    <a:pt x="0" y="1559156"/>
                  </a:cubicBezTo>
                  <a:lnTo>
                    <a:pt x="0" y="37550"/>
                  </a:lnTo>
                  <a:cubicBezTo>
                    <a:pt x="0" y="16812"/>
                    <a:pt x="16812" y="0"/>
                    <a:pt x="3755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txBox="1"/>
            <p:nvPr/>
          </p:nvSpPr>
          <p:spPr>
            <a:xfrm>
              <a:off x="0" y="-38100"/>
              <a:ext cx="2367872" cy="163480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15"/>
          <p:cNvSpPr txBox="1"/>
          <p:nvPr/>
        </p:nvSpPr>
        <p:spPr>
          <a:xfrm>
            <a:off x="7444064" y="2517635"/>
            <a:ext cx="9261306" cy="72256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Virtualización a nivel de bloque:</a:t>
            </a:r>
            <a:endParaRPr/>
          </a:p>
          <a:p>
            <a:pPr indent="-248285" lvl="1" marL="496571" marR="0" rtl="0" algn="just">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La virtualización a nivel de bloque es un enfoque de virtualización de almacenamiento donde los datos se dividen y se almacenan en bloques de tamaño fijo. Estos bloques pueden residir en diferentes dispositivos de almacenamiento físico, pero se presentan a los sistemas y aplicaciones como un solo recurso lógico.</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Virtualización a nivel de archivo:</a:t>
            </a:r>
            <a:endParaRPr/>
          </a:p>
          <a:p>
            <a:pPr indent="-248285" lvl="1" marL="496571" marR="0" rtl="0" algn="just">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La virtualización a nivel de archivo es una técnica que permite gestionar y acceder a archivos distribuidos en distintos sistemas de almacenamiento como si estuvieran en un solo repositorio unificado. Esta capa de virtualización abstrae la ubicación física de los archivos y permite a los usuarios y aplicaciones acceder a los datos sin tener que preocuparse por su ubicación real.</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5213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p:txBody>
      </p:sp>
      <p:sp>
        <p:nvSpPr>
          <p:cNvPr id="296" name="Google Shape;296;p15"/>
          <p:cNvSpPr/>
          <p:nvPr/>
        </p:nvSpPr>
        <p:spPr>
          <a:xfrm>
            <a:off x="1028700" y="318611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97" name="Google Shape;297;p15"/>
          <p:cNvSpPr txBox="1"/>
          <p:nvPr/>
        </p:nvSpPr>
        <p:spPr>
          <a:xfrm>
            <a:off x="6544406" y="725805"/>
            <a:ext cx="11060624"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VIRTUALIZACIÓN POR NIVEL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01" name="Shape 301"/>
        <p:cNvGrpSpPr/>
        <p:nvPr/>
      </p:nvGrpSpPr>
      <p:grpSpPr>
        <a:xfrm>
          <a:off x="0" y="0"/>
          <a:ext cx="0" cy="0"/>
          <a:chOff x="0" y="0"/>
          <a:chExt cx="0" cy="0"/>
        </a:xfrm>
      </p:grpSpPr>
      <p:grpSp>
        <p:nvGrpSpPr>
          <p:cNvPr id="302" name="Google Shape;302;p16"/>
          <p:cNvGrpSpPr/>
          <p:nvPr/>
        </p:nvGrpSpPr>
        <p:grpSpPr>
          <a:xfrm>
            <a:off x="5715724" y="-1094923"/>
            <a:ext cx="12717987" cy="11381923"/>
            <a:chOff x="0" y="-38100"/>
            <a:chExt cx="2863998" cy="2563126"/>
          </a:xfrm>
        </p:grpSpPr>
        <p:sp>
          <p:nvSpPr>
            <p:cNvPr id="303" name="Google Shape;303;p16"/>
            <p:cNvSpPr/>
            <p:nvPr/>
          </p:nvSpPr>
          <p:spPr>
            <a:xfrm>
              <a:off x="0" y="0"/>
              <a:ext cx="2863998" cy="2525026"/>
            </a:xfrm>
            <a:custGeom>
              <a:rect b="b" l="l" r="r" t="t"/>
              <a:pathLst>
                <a:path extrusionOk="0" h="2525026" w="2863998">
                  <a:moveTo>
                    <a:pt x="0" y="0"/>
                  </a:moveTo>
                  <a:lnTo>
                    <a:pt x="2863998" y="0"/>
                  </a:lnTo>
                  <a:lnTo>
                    <a:pt x="2863998" y="2525026"/>
                  </a:lnTo>
                  <a:lnTo>
                    <a:pt x="0" y="2525026"/>
                  </a:lnTo>
                  <a:close/>
                </a:path>
              </a:pathLst>
            </a:custGeom>
            <a:solidFill>
              <a:srgbClr val="31356E"/>
            </a:solidFill>
            <a:ln>
              <a:noFill/>
            </a:ln>
          </p:spPr>
        </p:sp>
        <p:sp>
          <p:nvSpPr>
            <p:cNvPr id="304" name="Google Shape;304;p16"/>
            <p:cNvSpPr txBox="1"/>
            <p:nvPr/>
          </p:nvSpPr>
          <p:spPr>
            <a:xfrm>
              <a:off x="0" y="-38100"/>
              <a:ext cx="286399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p16"/>
          <p:cNvGrpSpPr/>
          <p:nvPr/>
        </p:nvGrpSpPr>
        <p:grpSpPr>
          <a:xfrm>
            <a:off x="6744431" y="2827387"/>
            <a:ext cx="10514869" cy="4202063"/>
            <a:chOff x="0" y="-38100"/>
            <a:chExt cx="2367872" cy="946274"/>
          </a:xfrm>
        </p:grpSpPr>
        <p:sp>
          <p:nvSpPr>
            <p:cNvPr id="306" name="Google Shape;306;p16"/>
            <p:cNvSpPr/>
            <p:nvPr/>
          </p:nvSpPr>
          <p:spPr>
            <a:xfrm>
              <a:off x="0" y="0"/>
              <a:ext cx="2367872" cy="908174"/>
            </a:xfrm>
            <a:custGeom>
              <a:rect b="b" l="l" r="r" t="t"/>
              <a:pathLst>
                <a:path extrusionOk="0" h="908174" w="2367872">
                  <a:moveTo>
                    <a:pt x="37550" y="0"/>
                  </a:moveTo>
                  <a:lnTo>
                    <a:pt x="2330321" y="0"/>
                  </a:lnTo>
                  <a:cubicBezTo>
                    <a:pt x="2351060" y="0"/>
                    <a:pt x="2367872" y="16812"/>
                    <a:pt x="2367872" y="37550"/>
                  </a:cubicBezTo>
                  <a:lnTo>
                    <a:pt x="2367872" y="870624"/>
                  </a:lnTo>
                  <a:cubicBezTo>
                    <a:pt x="2367872" y="891362"/>
                    <a:pt x="2351060" y="908174"/>
                    <a:pt x="2330321" y="908174"/>
                  </a:cubicBezTo>
                  <a:lnTo>
                    <a:pt x="37550" y="908174"/>
                  </a:lnTo>
                  <a:cubicBezTo>
                    <a:pt x="16812" y="908174"/>
                    <a:pt x="0" y="891362"/>
                    <a:pt x="0" y="870624"/>
                  </a:cubicBezTo>
                  <a:lnTo>
                    <a:pt x="0" y="37550"/>
                  </a:lnTo>
                  <a:cubicBezTo>
                    <a:pt x="0" y="16812"/>
                    <a:pt x="16812" y="0"/>
                    <a:pt x="3755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txBox="1"/>
            <p:nvPr/>
          </p:nvSpPr>
          <p:spPr>
            <a:xfrm>
              <a:off x="0" y="-38100"/>
              <a:ext cx="2367872" cy="94627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8" name="Google Shape;308;p16"/>
          <p:cNvSpPr txBox="1"/>
          <p:nvPr/>
        </p:nvSpPr>
        <p:spPr>
          <a:xfrm>
            <a:off x="7444064" y="3107055"/>
            <a:ext cx="9261306" cy="40252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Latencia:</a:t>
            </a:r>
            <a:endParaRPr/>
          </a:p>
          <a:p>
            <a:pPr indent="-248285" lvl="1" marL="496571" marR="0" rtl="0" algn="just">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La abstracción que introduce la virtualización puede generar una mayor latencia en el acceso a los datos si no se optimizan adecuadamente los recursos de almacenamiento.</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Seguridad:</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Compartir almacenamiento entre múltiples VMs aumenta el riesgo de brechas de seguridad. Se deben implementar controles estrictos de acceso y cifrado de datos para mitigar este riesgo.</a:t>
            </a:r>
            <a:endParaRPr/>
          </a:p>
          <a:p>
            <a:pPr indent="0" lvl="0" marL="0" marR="0" rtl="0" algn="just">
              <a:lnSpc>
                <a:spcPct val="15213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p:txBody>
      </p:sp>
      <p:sp>
        <p:nvSpPr>
          <p:cNvPr id="309" name="Google Shape;309;p16"/>
          <p:cNvSpPr/>
          <p:nvPr/>
        </p:nvSpPr>
        <p:spPr>
          <a:xfrm>
            <a:off x="900112" y="30861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310" name="Google Shape;310;p16"/>
          <p:cNvSpPr txBox="1"/>
          <p:nvPr/>
        </p:nvSpPr>
        <p:spPr>
          <a:xfrm>
            <a:off x="6544406" y="725805"/>
            <a:ext cx="11060624" cy="138684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RETOS DE LA VIRTUALIZACIÓN DEL ALMACENAMIENTO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14" name="Shape 314"/>
        <p:cNvGrpSpPr/>
        <p:nvPr/>
      </p:nvGrpSpPr>
      <p:grpSpPr>
        <a:xfrm>
          <a:off x="0" y="0"/>
          <a:ext cx="0" cy="0"/>
          <a:chOff x="0" y="0"/>
          <a:chExt cx="0" cy="0"/>
        </a:xfrm>
      </p:grpSpPr>
      <p:pic>
        <p:nvPicPr>
          <p:cNvPr id="315" name="Google Shape;315;p17"/>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316" name="Google Shape;316;p17"/>
          <p:cNvGrpSpPr/>
          <p:nvPr/>
        </p:nvGrpSpPr>
        <p:grpSpPr>
          <a:xfrm>
            <a:off x="1028700" y="3403329"/>
            <a:ext cx="16230600" cy="3778541"/>
            <a:chOff x="0" y="-38100"/>
            <a:chExt cx="3655013" cy="850900"/>
          </a:xfrm>
        </p:grpSpPr>
        <p:sp>
          <p:nvSpPr>
            <p:cNvPr id="317" name="Google Shape;317;p17"/>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9" name="Google Shape;319;p17"/>
          <p:cNvSpPr txBox="1"/>
          <p:nvPr/>
        </p:nvSpPr>
        <p:spPr>
          <a:xfrm>
            <a:off x="1652563" y="4078288"/>
            <a:ext cx="14982874" cy="19018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0" u="none" cap="none" strike="noStrike">
                <a:solidFill>
                  <a:srgbClr val="FFFFFF"/>
                </a:solidFill>
                <a:latin typeface="Play"/>
                <a:ea typeface="Play"/>
                <a:cs typeface="Play"/>
                <a:sym typeface="Play"/>
              </a:rPr>
              <a:t>DOCKER</a:t>
            </a:r>
            <a:endParaRPr/>
          </a:p>
        </p:txBody>
      </p:sp>
      <p:sp>
        <p:nvSpPr>
          <p:cNvPr id="320" name="Google Shape;320;p17"/>
          <p:cNvSpPr txBox="1"/>
          <p:nvPr/>
        </p:nvSpPr>
        <p:spPr>
          <a:xfrm>
            <a:off x="5983850" y="7677997"/>
            <a:ext cx="6320299"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CLASE 11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24" name="Shape 324"/>
        <p:cNvGrpSpPr/>
        <p:nvPr/>
      </p:nvGrpSpPr>
      <p:grpSpPr>
        <a:xfrm>
          <a:off x="0" y="0"/>
          <a:ext cx="0" cy="0"/>
          <a:chOff x="0" y="0"/>
          <a:chExt cx="0" cy="0"/>
        </a:xfrm>
      </p:grpSpPr>
      <p:grpSp>
        <p:nvGrpSpPr>
          <p:cNvPr id="325" name="Google Shape;325;p18"/>
          <p:cNvGrpSpPr/>
          <p:nvPr/>
        </p:nvGrpSpPr>
        <p:grpSpPr>
          <a:xfrm>
            <a:off x="5715724" y="-1094923"/>
            <a:ext cx="12717987" cy="11381923"/>
            <a:chOff x="0" y="-38100"/>
            <a:chExt cx="2863998" cy="2563126"/>
          </a:xfrm>
        </p:grpSpPr>
        <p:sp>
          <p:nvSpPr>
            <p:cNvPr id="326" name="Google Shape;326;p18"/>
            <p:cNvSpPr/>
            <p:nvPr/>
          </p:nvSpPr>
          <p:spPr>
            <a:xfrm>
              <a:off x="0" y="0"/>
              <a:ext cx="2863998" cy="2525026"/>
            </a:xfrm>
            <a:custGeom>
              <a:rect b="b" l="l" r="r" t="t"/>
              <a:pathLst>
                <a:path extrusionOk="0" h="2525026" w="2863998">
                  <a:moveTo>
                    <a:pt x="0" y="0"/>
                  </a:moveTo>
                  <a:lnTo>
                    <a:pt x="2863998" y="0"/>
                  </a:lnTo>
                  <a:lnTo>
                    <a:pt x="2863998" y="2525026"/>
                  </a:lnTo>
                  <a:lnTo>
                    <a:pt x="0" y="2525026"/>
                  </a:lnTo>
                  <a:close/>
                </a:path>
              </a:pathLst>
            </a:custGeom>
            <a:solidFill>
              <a:srgbClr val="31356E"/>
            </a:solidFill>
            <a:ln>
              <a:noFill/>
            </a:ln>
          </p:spPr>
        </p:sp>
        <p:sp>
          <p:nvSpPr>
            <p:cNvPr id="327" name="Google Shape;327;p18"/>
            <p:cNvSpPr txBox="1"/>
            <p:nvPr/>
          </p:nvSpPr>
          <p:spPr>
            <a:xfrm>
              <a:off x="0" y="-38100"/>
              <a:ext cx="286399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8" name="Google Shape;328;p18"/>
          <p:cNvGrpSpPr/>
          <p:nvPr/>
        </p:nvGrpSpPr>
        <p:grpSpPr>
          <a:xfrm>
            <a:off x="6817283" y="2363304"/>
            <a:ext cx="10514869" cy="7259588"/>
            <a:chOff x="0" y="-38100"/>
            <a:chExt cx="2367872" cy="1634806"/>
          </a:xfrm>
        </p:grpSpPr>
        <p:sp>
          <p:nvSpPr>
            <p:cNvPr id="329" name="Google Shape;329;p18"/>
            <p:cNvSpPr/>
            <p:nvPr/>
          </p:nvSpPr>
          <p:spPr>
            <a:xfrm>
              <a:off x="0" y="0"/>
              <a:ext cx="2367872" cy="1596706"/>
            </a:xfrm>
            <a:custGeom>
              <a:rect b="b" l="l" r="r" t="t"/>
              <a:pathLst>
                <a:path extrusionOk="0" h="1596706" w="2367872">
                  <a:moveTo>
                    <a:pt x="37550" y="0"/>
                  </a:moveTo>
                  <a:lnTo>
                    <a:pt x="2330321" y="0"/>
                  </a:lnTo>
                  <a:cubicBezTo>
                    <a:pt x="2351060" y="0"/>
                    <a:pt x="2367872" y="16812"/>
                    <a:pt x="2367872" y="37550"/>
                  </a:cubicBezTo>
                  <a:lnTo>
                    <a:pt x="2367872" y="1559156"/>
                  </a:lnTo>
                  <a:cubicBezTo>
                    <a:pt x="2367872" y="1579895"/>
                    <a:pt x="2351060" y="1596706"/>
                    <a:pt x="2330321" y="1596706"/>
                  </a:cubicBezTo>
                  <a:lnTo>
                    <a:pt x="37550" y="1596706"/>
                  </a:lnTo>
                  <a:cubicBezTo>
                    <a:pt x="16812" y="1596706"/>
                    <a:pt x="0" y="1579895"/>
                    <a:pt x="0" y="1559156"/>
                  </a:cubicBezTo>
                  <a:lnTo>
                    <a:pt x="0" y="37550"/>
                  </a:lnTo>
                  <a:cubicBezTo>
                    <a:pt x="0" y="16812"/>
                    <a:pt x="16812" y="0"/>
                    <a:pt x="3755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txBox="1"/>
            <p:nvPr/>
          </p:nvSpPr>
          <p:spPr>
            <a:xfrm>
              <a:off x="0" y="-38100"/>
              <a:ext cx="2367872" cy="163480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p18"/>
          <p:cNvSpPr txBox="1"/>
          <p:nvPr/>
        </p:nvSpPr>
        <p:spPr>
          <a:xfrm>
            <a:off x="7444064" y="2841848"/>
            <a:ext cx="9261306" cy="6025515"/>
          </a:xfrm>
          <a:prstGeom prst="rect">
            <a:avLst/>
          </a:prstGeom>
          <a:noFill/>
          <a:ln>
            <a:noFill/>
          </a:ln>
        </p:spPr>
        <p:txBody>
          <a:bodyPr anchorCtr="0" anchor="t" bIns="0" lIns="0" spcFirstLastPara="1" rIns="0" wrap="square" tIns="0">
            <a:spAutoFit/>
          </a:bodyPr>
          <a:lstStyle/>
          <a:p>
            <a:pPr indent="0" lvl="0" marL="0" marR="0" rtl="0" algn="just">
              <a:lnSpc>
                <a:spcPct val="17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48285" lvl="1" marL="496571" marR="0" rtl="0" algn="just">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Es un proyecto de código abierto que automatiza el despliegue de aplicaciones dentro de contenedores de software, proporcionando una capa adicional de abstracción y automatización de Virtualización a nivel de sistema operativo en Linux.</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248285" lvl="1" marL="496571" marR="0" rtl="0" algn="just">
              <a:lnSpc>
                <a:spcPct val="140000"/>
              </a:lnSpc>
              <a:spcBef>
                <a:spcPts val="0"/>
              </a:spcBef>
              <a:spcAft>
                <a:spcPts val="0"/>
              </a:spcAft>
              <a:buClr>
                <a:srgbClr val="31356E"/>
              </a:buClr>
              <a:buSzPts val="2300"/>
              <a:buFont typeface="Arial"/>
              <a:buChar char="•"/>
            </a:pPr>
            <a:r>
              <a:rPr b="0" i="0" lang="en-US" sz="2300" u="none" cap="none" strike="noStrike">
                <a:solidFill>
                  <a:srgbClr val="31356E"/>
                </a:solidFill>
                <a:latin typeface="Lexend Deca"/>
                <a:ea typeface="Lexend Deca"/>
                <a:cs typeface="Lexend Deca"/>
                <a:sym typeface="Lexend Deca"/>
              </a:rPr>
              <a:t>Se ha convertido en una herramienta muy utilizada dentro de la comunidad de desarrolladores por su gran capacidad de dar al desarrollador la flexibilidad de que sus aplicaciones se ejecuten siempre de la misma manera, sin importar el sistema operativo en el que se estén ejecutando.</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5213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p:txBody>
      </p:sp>
      <p:sp>
        <p:nvSpPr>
          <p:cNvPr id="332" name="Google Shape;332;p18"/>
          <p:cNvSpPr/>
          <p:nvPr/>
        </p:nvSpPr>
        <p:spPr>
          <a:xfrm>
            <a:off x="1028700" y="30861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333" name="Google Shape;333;p18"/>
          <p:cNvSpPr txBox="1"/>
          <p:nvPr/>
        </p:nvSpPr>
        <p:spPr>
          <a:xfrm>
            <a:off x="6544406" y="725805"/>
            <a:ext cx="11060624" cy="72009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5499" u="none" cap="none" strike="noStrike">
                <a:solidFill>
                  <a:srgbClr val="FFFFFF"/>
                </a:solidFill>
                <a:latin typeface="Play"/>
                <a:ea typeface="Play"/>
                <a:cs typeface="Play"/>
                <a:sym typeface="Play"/>
              </a:rPr>
              <a:t>¿QUÉ ES DOCKER?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37" name="Shape 337"/>
        <p:cNvGrpSpPr/>
        <p:nvPr/>
      </p:nvGrpSpPr>
      <p:grpSpPr>
        <a:xfrm>
          <a:off x="0" y="0"/>
          <a:ext cx="0" cy="0"/>
          <a:chOff x="0" y="0"/>
          <a:chExt cx="0" cy="0"/>
        </a:xfrm>
      </p:grpSpPr>
      <p:sp>
        <p:nvSpPr>
          <p:cNvPr id="338" name="Google Shape;338;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42" name="Shape 342"/>
        <p:cNvGrpSpPr/>
        <p:nvPr/>
      </p:nvGrpSpPr>
      <p:grpSpPr>
        <a:xfrm>
          <a:off x="0" y="0"/>
          <a:ext cx="0" cy="0"/>
          <a:chOff x="0" y="0"/>
          <a:chExt cx="0" cy="0"/>
        </a:xfrm>
      </p:grpSpPr>
      <p:pic>
        <p:nvPicPr>
          <p:cNvPr id="343" name="Google Shape;343;p20"/>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344" name="Google Shape;344;p20"/>
          <p:cNvGrpSpPr/>
          <p:nvPr/>
        </p:nvGrpSpPr>
        <p:grpSpPr>
          <a:xfrm>
            <a:off x="1028700" y="3403329"/>
            <a:ext cx="16230600" cy="3778541"/>
            <a:chOff x="0" y="-38100"/>
            <a:chExt cx="3655013" cy="850900"/>
          </a:xfrm>
        </p:grpSpPr>
        <p:sp>
          <p:nvSpPr>
            <p:cNvPr id="345" name="Google Shape;345;p20"/>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20"/>
          <p:cNvSpPr txBox="1"/>
          <p:nvPr/>
        </p:nvSpPr>
        <p:spPr>
          <a:xfrm>
            <a:off x="1652563" y="3906980"/>
            <a:ext cx="14982900" cy="2632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4500" u="none" cap="none" strike="noStrike">
                <a:solidFill>
                  <a:srgbClr val="FFFFFF"/>
                </a:solidFill>
                <a:latin typeface="Play"/>
                <a:ea typeface="Play"/>
                <a:cs typeface="Play"/>
                <a:sym typeface="Play"/>
              </a:rPr>
              <a:t>ALMACENAMIENTO VIRTUAL, FUNCIONALIDAD DEL ALMACENAJE, ADMINISTRACIÓN DE RECURSOS Y ENTORNOS VIRTUALIZADOS, DOCKER</a:t>
            </a:r>
            <a:endParaRPr sz="4500"/>
          </a:p>
        </p:txBody>
      </p:sp>
      <p:sp>
        <p:nvSpPr>
          <p:cNvPr id="348" name="Google Shape;348;p20"/>
          <p:cNvSpPr txBox="1"/>
          <p:nvPr/>
        </p:nvSpPr>
        <p:spPr>
          <a:xfrm>
            <a:off x="4533669" y="7649422"/>
            <a:ext cx="9220662"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CONCEPTOS CLAVE APRENDIDOS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52" name="Shape 352"/>
        <p:cNvGrpSpPr/>
        <p:nvPr/>
      </p:nvGrpSpPr>
      <p:grpSpPr>
        <a:xfrm>
          <a:off x="0" y="0"/>
          <a:ext cx="0" cy="0"/>
          <a:chOff x="0" y="0"/>
          <a:chExt cx="0" cy="0"/>
        </a:xfrm>
      </p:grpSpPr>
      <p:pic>
        <p:nvPicPr>
          <p:cNvPr id="353" name="Google Shape;353;p21"/>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354" name="Google Shape;354;p21"/>
          <p:cNvGrpSpPr/>
          <p:nvPr/>
        </p:nvGrpSpPr>
        <p:grpSpPr>
          <a:xfrm>
            <a:off x="1028700" y="3403329"/>
            <a:ext cx="16230600" cy="3778541"/>
            <a:chOff x="0" y="-38100"/>
            <a:chExt cx="3655013" cy="850900"/>
          </a:xfrm>
        </p:grpSpPr>
        <p:sp>
          <p:nvSpPr>
            <p:cNvPr id="355" name="Google Shape;355;p21"/>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1"/>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21"/>
          <p:cNvSpPr txBox="1"/>
          <p:nvPr/>
        </p:nvSpPr>
        <p:spPr>
          <a:xfrm>
            <a:off x="1652563" y="4352622"/>
            <a:ext cx="14982900" cy="26415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300" u="none" cap="none" strike="noStrike">
                <a:solidFill>
                  <a:srgbClr val="FFFFFF"/>
                </a:solidFill>
                <a:latin typeface="Play"/>
                <a:ea typeface="Play"/>
                <a:cs typeface="Play"/>
                <a:sym typeface="Play"/>
              </a:rPr>
              <a:t>FOMENTA LA INICIATIVA DEL ESTUDIANTE PARA ANTICIPARSE A LOS DESAFÍOS TECNOLÓGICOS, BUSCAR SOLUCIONES EFICACES Y ADAPTARSE CON DISPOSICIÓN A LOS CAMBIOS EN LOS ENTORNOS VIRTUALIZADOS DE ALMACENAMIENTO.</a:t>
            </a:r>
            <a:endParaRPr sz="3300"/>
          </a:p>
        </p:txBody>
      </p:sp>
      <p:sp>
        <p:nvSpPr>
          <p:cNvPr id="358" name="Google Shape;358;p21"/>
          <p:cNvSpPr txBox="1"/>
          <p:nvPr/>
        </p:nvSpPr>
        <p:spPr>
          <a:xfrm>
            <a:off x="4226488" y="7625609"/>
            <a:ext cx="9835024" cy="5638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00" u="none" cap="none" strike="noStrike">
                <a:solidFill>
                  <a:srgbClr val="31356E"/>
                </a:solidFill>
                <a:latin typeface="Lexend Deca"/>
                <a:ea typeface="Lexend Deca"/>
                <a:cs typeface="Lexend Deca"/>
                <a:sym typeface="Lexend Deca"/>
              </a:rPr>
              <a:t>VALOR DE LA SEMANA: PROACTIVIDAD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62" name="Shape 362"/>
        <p:cNvGrpSpPr/>
        <p:nvPr/>
      </p:nvGrpSpPr>
      <p:grpSpPr>
        <a:xfrm>
          <a:off x="0" y="0"/>
          <a:ext cx="0" cy="0"/>
          <a:chOff x="0" y="0"/>
          <a:chExt cx="0" cy="0"/>
        </a:xfrm>
      </p:grpSpPr>
      <p:pic>
        <p:nvPicPr>
          <p:cNvPr id="363" name="Google Shape;363;p22"/>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364" name="Google Shape;364;p22"/>
          <p:cNvGrpSpPr/>
          <p:nvPr/>
        </p:nvGrpSpPr>
        <p:grpSpPr>
          <a:xfrm>
            <a:off x="1028700" y="3403329"/>
            <a:ext cx="16230600" cy="3778541"/>
            <a:chOff x="0" y="-38100"/>
            <a:chExt cx="3655013" cy="850900"/>
          </a:xfrm>
        </p:grpSpPr>
        <p:sp>
          <p:nvSpPr>
            <p:cNvPr id="365" name="Google Shape;365;p22"/>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7" name="Google Shape;367;p22"/>
          <p:cNvSpPr txBox="1"/>
          <p:nvPr/>
        </p:nvSpPr>
        <p:spPr>
          <a:xfrm>
            <a:off x="1652538" y="3856975"/>
            <a:ext cx="14982900" cy="332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0" u="none" cap="none" strike="noStrike">
                <a:solidFill>
                  <a:srgbClr val="FFFFFF"/>
                </a:solidFill>
                <a:latin typeface="Play"/>
                <a:ea typeface="Play"/>
                <a:cs typeface="Play"/>
                <a:sym typeface="Play"/>
              </a:rPr>
              <a:t>¡GRACIAS POR SU ATENCIÓN!</a:t>
            </a:r>
            <a:endParaRPr sz="9000"/>
          </a:p>
        </p:txBody>
      </p:sp>
      <p:sp>
        <p:nvSpPr>
          <p:cNvPr id="368" name="Google Shape;368;p22"/>
          <p:cNvSpPr txBox="1"/>
          <p:nvPr/>
        </p:nvSpPr>
        <p:spPr>
          <a:xfrm>
            <a:off x="4533669" y="7539884"/>
            <a:ext cx="9220662" cy="59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31356E"/>
                </a:solidFill>
                <a:latin typeface="Lexend Deca"/>
                <a:ea typeface="Lexend Deca"/>
                <a:cs typeface="Lexend Deca"/>
                <a:sym typeface="Lexend Deca"/>
              </a:rPr>
              <a:t>DUDAS EN EL FORO SEMANAL DE UEDI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