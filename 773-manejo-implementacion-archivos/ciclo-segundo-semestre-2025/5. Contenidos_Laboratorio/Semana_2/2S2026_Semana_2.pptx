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Arial MT Pro Bold" charset="1" panose="020B0802020202020204"/>
      <p:regular r:id="rId47"/>
    </p:embeddedFont>
    <p:embeddedFont>
      <p:font typeface="Arial MT Pro" charset="1" panose="020B0502020202020204"/>
      <p:regular r:id="rId48"/>
    </p:embeddedFont>
    <p:embeddedFont>
      <p:font typeface="Canva Sans Bold" charset="1" panose="020B0803030501040103"/>
      <p:regular r:id="rId49"/>
    </p:embeddedFont>
    <p:embeddedFont>
      <p:font typeface="Open Sans Bold" charset="1" panose="00000000000000000000"/>
      <p:regular r:id="rId51"/>
    </p:embeddedFont>
    <p:embeddedFont>
      <p:font typeface="Pacifico" charset="1" panose="00000500000000000000"/>
      <p:regular r:id="rId53"/>
    </p:embeddedFont>
    <p:embeddedFont>
      <p:font typeface="Poppins Bold Italics" charset="1" panose="00000800000000000000"/>
      <p:regular r:id="rId58"/>
    </p:embeddedFont>
    <p:embeddedFont>
      <p:font typeface="Poppins" charset="1" panose="00000500000000000000"/>
      <p:regular r:id="rId60"/>
    </p:embeddedFont>
    <p:embeddedFont>
      <p:font typeface="Poppins Bold" charset="1" panose="00000800000000000000"/>
      <p:regular r:id="rId61"/>
    </p:embeddedFont>
    <p:embeddedFont>
      <p:font typeface="Impact" charset="1" panose="020B0806030902050204"/>
      <p:regular r:id="rId86"/>
    </p:embeddedFont>
    <p:embeddedFont>
      <p:font typeface="Calibri (MS) Bold" charset="1" panose="020F0702030404030204"/>
      <p:regular r:id="rId88"/>
    </p:embeddedFont>
    <p:embeddedFont>
      <p:font typeface="Calibri (MS)" charset="1" panose="020F0502020204030204"/>
      <p:regular r:id="rId8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notesMasters/notesMaster1.xml" Type="http://schemas.openxmlformats.org/officeDocument/2006/relationships/notesMaster"/><Relationship Id="rId45" Target="theme/theme2.xml" Type="http://schemas.openxmlformats.org/officeDocument/2006/relationships/theme"/><Relationship Id="rId46" Target="notesSlides/notesSlide1.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Slides/notesSlide2.xml" Type="http://schemas.openxmlformats.org/officeDocument/2006/relationships/notesSlide"/><Relationship Id="rId51" Target="fonts/font51.fntdata" Type="http://schemas.openxmlformats.org/officeDocument/2006/relationships/font"/><Relationship Id="rId52" Target="notesSlides/notesSlide3.xml" Type="http://schemas.openxmlformats.org/officeDocument/2006/relationships/notesSlide"/><Relationship Id="rId53" Target="fonts/font53.fntdata" Type="http://schemas.openxmlformats.org/officeDocument/2006/relationships/font"/><Relationship Id="rId54" Target="notesSlides/notesSlide4.xml" Type="http://schemas.openxmlformats.org/officeDocument/2006/relationships/notesSlide"/><Relationship Id="rId55" Target="notesSlides/notesSlide5.xml" Type="http://schemas.openxmlformats.org/officeDocument/2006/relationships/notesSlide"/><Relationship Id="rId56" Target="notesSlides/notesSlide6.xml" Type="http://schemas.openxmlformats.org/officeDocument/2006/relationships/notesSlide"/><Relationship Id="rId57" Target="notesSlides/notesSlide7.xml" Type="http://schemas.openxmlformats.org/officeDocument/2006/relationships/notesSlide"/><Relationship Id="rId58" Target="fonts/font58.fntdata" Type="http://schemas.openxmlformats.org/officeDocument/2006/relationships/font"/><Relationship Id="rId59" Target="notesSlides/notesSlide8.xml" Type="http://schemas.openxmlformats.org/officeDocument/2006/relationships/notesSlide"/><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notesSlides/notesSlide9.xml" Type="http://schemas.openxmlformats.org/officeDocument/2006/relationships/notesSlide"/><Relationship Id="rId63" Target="notesSlides/notesSlide10.xml" Type="http://schemas.openxmlformats.org/officeDocument/2006/relationships/notesSlide"/><Relationship Id="rId64" Target="notesSlides/notesSlide11.xml" Type="http://schemas.openxmlformats.org/officeDocument/2006/relationships/notesSlide"/><Relationship Id="rId65" Target="notesSlides/notesSlide12.xml" Type="http://schemas.openxmlformats.org/officeDocument/2006/relationships/notesSlide"/><Relationship Id="rId66" Target="notesSlides/notesSlide13.xml" Type="http://schemas.openxmlformats.org/officeDocument/2006/relationships/notesSlide"/><Relationship Id="rId67" Target="notesSlides/notesSlide14.xml" Type="http://schemas.openxmlformats.org/officeDocument/2006/relationships/notesSlide"/><Relationship Id="rId68" Target="notesSlides/notesSlide15.xml" Type="http://schemas.openxmlformats.org/officeDocument/2006/relationships/notesSlide"/><Relationship Id="rId69" Target="notesSlides/notesSlide16.xml" Type="http://schemas.openxmlformats.org/officeDocument/2006/relationships/notesSlide"/><Relationship Id="rId7" Target="slides/slide2.xml" Type="http://schemas.openxmlformats.org/officeDocument/2006/relationships/slide"/><Relationship Id="rId70" Target="notesSlides/notesSlide17.xml" Type="http://schemas.openxmlformats.org/officeDocument/2006/relationships/notesSlide"/><Relationship Id="rId71" Target="notesSlides/notesSlide18.xml" Type="http://schemas.openxmlformats.org/officeDocument/2006/relationships/notesSlide"/><Relationship Id="rId72" Target="notesSlides/notesSlide19.xml" Type="http://schemas.openxmlformats.org/officeDocument/2006/relationships/notesSlide"/><Relationship Id="rId73" Target="notesSlides/notesSlide20.xml" Type="http://schemas.openxmlformats.org/officeDocument/2006/relationships/notesSlide"/><Relationship Id="rId74" Target="notesSlides/notesSlide21.xml" Type="http://schemas.openxmlformats.org/officeDocument/2006/relationships/notesSlide"/><Relationship Id="rId75" Target="notesSlides/notesSlide22.xml" Type="http://schemas.openxmlformats.org/officeDocument/2006/relationships/notesSlide"/><Relationship Id="rId76" Target="notesSlides/notesSlide23.xml" Type="http://schemas.openxmlformats.org/officeDocument/2006/relationships/notesSlide"/><Relationship Id="rId77" Target="notesSlides/notesSlide24.xml" Type="http://schemas.openxmlformats.org/officeDocument/2006/relationships/notesSlide"/><Relationship Id="rId78" Target="notesSlides/notesSlide25.xml" Type="http://schemas.openxmlformats.org/officeDocument/2006/relationships/notesSlide"/><Relationship Id="rId79" Target="notesSlides/notesSlide26.xml" Type="http://schemas.openxmlformats.org/officeDocument/2006/relationships/notesSlide"/><Relationship Id="rId8" Target="slides/slide3.xml" Type="http://schemas.openxmlformats.org/officeDocument/2006/relationships/slide"/><Relationship Id="rId80" Target="notesSlides/notesSlide27.xml" Type="http://schemas.openxmlformats.org/officeDocument/2006/relationships/notesSlide"/><Relationship Id="rId81" Target="notesSlides/notesSlide28.xml" Type="http://schemas.openxmlformats.org/officeDocument/2006/relationships/notesSlide"/><Relationship Id="rId82" Target="notesSlides/notesSlide29.xml" Type="http://schemas.openxmlformats.org/officeDocument/2006/relationships/notesSlide"/><Relationship Id="rId83" Target="notesSlides/notesSlide30.xml" Type="http://schemas.openxmlformats.org/officeDocument/2006/relationships/notesSlide"/><Relationship Id="rId84" Target="notesSlides/notesSlide31.xml" Type="http://schemas.openxmlformats.org/officeDocument/2006/relationships/notesSlide"/><Relationship Id="rId85" Target="notesSlides/notesSlide32.xml" Type="http://schemas.openxmlformats.org/officeDocument/2006/relationships/notesSlide"/><Relationship Id="rId86" Target="fonts/font86.fntdata" Type="http://schemas.openxmlformats.org/officeDocument/2006/relationships/font"/><Relationship Id="rId87" Target="notesSlides/notesSlide33.xml" Type="http://schemas.openxmlformats.org/officeDocument/2006/relationships/notesSlide"/><Relationship Id="rId88" Target="fonts/font88.fntdata" Type="http://schemas.openxmlformats.org/officeDocument/2006/relationships/font"/><Relationship Id="rId89" Target="fonts/font89.fntdata" Type="http://schemas.openxmlformats.org/officeDocument/2006/relationships/font"/><Relationship Id="rId9" Target="slides/slide4.xml" Type="http://schemas.openxmlformats.org/officeDocument/2006/relationships/slide"/><Relationship Id="rId90" Target="notesSlides/notesSlide34.xml" Type="http://schemas.openxmlformats.org/officeDocument/2006/relationships/notesSlide"/><Relationship Id="rId91" Target="notesSlides/notesSlide35.xml" Type="http://schemas.openxmlformats.org/officeDocument/2006/relationships/notesSlide"/><Relationship Id="rId92" Target="notesSlides/notesSlide36.xml" Type="http://schemas.openxmlformats.org/officeDocument/2006/relationships/notesSlide"/><Relationship Id="rId93" Target="notesSlides/notesSlide37.xml" Type="http://schemas.openxmlformats.org/officeDocument/2006/relationships/notesSlide"/><Relationship Id="rId94" Target="notesSlides/notesSlide38.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4.png" Type="http://schemas.openxmlformats.org/officeDocument/2006/relationships/image"/><Relationship Id="rId8" Target="../media/image4.png" Type="http://schemas.openxmlformats.org/officeDocument/2006/relationships/image"/><Relationship Id="rId9"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 Id="rId7"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 Id="rId7" Target="../media/image1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 Id="rId7"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 Id="rId7"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7.png" Type="http://schemas.openxmlformats.org/officeDocument/2006/relationships/image"/><Relationship Id="rId6" Target="../media/image1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2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7.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2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2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23.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2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bing.com/ck/a?!&amp;&amp;p=dd58507a487d5759JmltdHM9MTcwNjY1OTIwMCZpZ3VpZD0zODViYjVkMy0zMDY5LTYxY2QtMTI5Yy1hMWMwMzFkNzYwNzcmaW5zaWQ9NTYzNA&amp;ptn=3&amp;ver=2&amp;hsh=3&amp;fclid=385bb5d3-3069-61cd-129c-a1c031d76077&amp;u=a1L3NlYXJjaD9xPURpc3Bvc2l0aXZvJTIwZGUlMjBhbG1hY2VuYW1pZW50byUyMGRlJTIwZGF0b3MlMjB3aWtpcGVkaWEmZm9ybT1XSUtJUkU&amp;ntb=1" TargetMode="External" Type="http://schemas.openxmlformats.org/officeDocument/2006/relationships/hyperlink"/><Relationship Id="rId11" Target="https://www.bing.com/ck/a?!&amp;&amp;p=1f88f537ca03a68dJmltdHM9MTcwNjY1OTIwMCZpZ3VpZD0zODViYjVkMy0zMDY5LTYxY2QtMTI5Yy1hMWMwMzFkNzYwNzcmaW5zaWQ9NTYzNQ&amp;ptn=3&amp;ver=2&amp;hsh=3&amp;fclid=385bb5d3-3069-61cd-129c-a1c031d76077&amp;u=a1L3NlYXJjaD9xPU1lbW9yaWElMjBubyUyMHZvbMOhdGlsJTIwd2lraXBlZGlhJmZvcm09V0lLSVJF&amp;ntb=1" TargetMode="External" Type="http://schemas.openxmlformats.org/officeDocument/2006/relationships/hyperlink"/><Relationship Id="rId12" Target="https://www.bing.com/ck/a?!&amp;&amp;p=511f87e63e39871bJmltdHM9MTcwNjY1OTIwMCZpZ3VpZD0zODViYjVkMy0zMDY5LTYxY2QtMTI5Yy1hMWMwMzFkNzYwNzcmaW5zaWQ9NTYzNg&amp;ptn=3&amp;ver=2&amp;hsh=3&amp;fclid=385bb5d3-3069-61cd-129c-a1c031d76077&amp;u=a1L3NlYXJjaD9xPU1lbW9yaWElMjBmbGFzaCUyMHdpa2lwZWRpYSZmb3JtPVdJS0lSRQ&amp;ntb=1" TargetMode="External" Type="http://schemas.openxmlformats.org/officeDocument/2006/relationships/hyperlink"/><Relationship Id="rId13" Target="https://www.bing.com/ck/a?!&amp;&amp;p=607f2e49e5628378JmltdHM9MTcwNjY1OTIwMCZpZ3VpZD0zODViYjVkMy0zMDY5LTYxY2QtMTI5Yy1hMWMwMzFkNzYwNzcmaW5zaWQ9NTYzNw&amp;ptn=3&amp;ver=2&amp;hsh=3&amp;fclid=385bb5d3-3069-61cd-129c-a1c031d76077&amp;u=a1L3NlYXJjaD9xPVBsYXRvJTIwKGRpc2NvJTIwZHVybyklMjB3aWtpcGVkaWEmZm9ybT1XSUtJUkU&amp;ntb=1" TargetMode="External" Type="http://schemas.openxmlformats.org/officeDocument/2006/relationships/hyperlink"/><Relationship Id="rId14" Target="https://www.bing.com/ck/a?!&amp;&amp;p=66d6df4e40e62bb0JmltdHM9MTcwNjY1OTIwMCZpZ3VpZD0zODViYjVkMy0zMDY5LTYxY2QtMTI5Yy1hMWMwMzFkNzYwNzcmaW5zaWQ9NTYzOA&amp;ptn=3&amp;ver=2&amp;hsh=3&amp;fclid=385bb5d3-3069-61cd-129c-a1c031d76077&amp;u=a1L3NlYXJjaD9xPURpc2NvJTIwbWFnbsOpdGljbyUyMHdpa2lwZWRpYSZmb3JtPVdJS0lSRQ&amp;ntb=1" TargetMode="External" Type="http://schemas.openxmlformats.org/officeDocument/2006/relationships/hyperlink"/><Relationship Id="rId15" Target="https://www.bing.com/ck/a?!&amp;&amp;p=7f29b9a33cf0adb2JmltdHM9MTcwNjY1OTIwMCZpZ3VpZD0zODViYjVkMy0zMDY5LTYxY2QtMTI5Yy1hMWMwMzFkNzYwNzcmaW5zaWQ9NTYzOQ&amp;ptn=3&amp;ver=2&amp;hsh=3&amp;fclid=385bb5d3-3069-61cd-129c-a1c031d76077&amp;u=a1L3NlYXJjaD9xPVVuaWRhZCUyMGRlJTIwZGlzY28lMjBkdXJvJTIwd2lraXBlZGlhJmZvcm09V0lLSVJF&amp;ntb=1" TargetMode="External" Type="http://schemas.openxmlformats.org/officeDocument/2006/relationships/hyperlink"/><Relationship Id="rId2" Target="../notesSlides/notesSlide29.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2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7.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2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6.png" Type="http://schemas.openxmlformats.org/officeDocument/2006/relationships/image"/><Relationship Id="rId4" Target="../media/image5.png" Type="http://schemas.openxmlformats.org/officeDocument/2006/relationships/image"/><Relationship Id="rId5" Target="../media/image7.png" Type="http://schemas.openxmlformats.org/officeDocument/2006/relationships/image"/><Relationship Id="rId6" Target="../media/image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6.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 Id="rId7" Target="../media/image2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2.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2.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28.png" Type="http://schemas.openxmlformats.org/officeDocument/2006/relationships/image"/><Relationship Id="rId4" Target="../media/image29.png" Type="http://schemas.openxmlformats.org/officeDocument/2006/relationships/image"/><Relationship Id="rId5"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875"/>
            <a:ext cx="18311242" cy="10319149"/>
            <a:chOff x="0" y="0"/>
            <a:chExt cx="24414990" cy="13758865"/>
          </a:xfrm>
        </p:grpSpPr>
        <p:sp>
          <p:nvSpPr>
            <p:cNvPr name="Freeform 3" id="3"/>
            <p:cNvSpPr/>
            <p:nvPr/>
          </p:nvSpPr>
          <p:spPr>
            <a:xfrm flipH="false" flipV="false" rot="0">
              <a:off x="0" y="0"/>
              <a:ext cx="24414987" cy="13758926"/>
            </a:xfrm>
            <a:custGeom>
              <a:avLst/>
              <a:gdLst/>
              <a:ahLst/>
              <a:cxnLst/>
              <a:rect r="r" b="b" t="t" l="l"/>
              <a:pathLst>
                <a:path h="13758926" w="24414987">
                  <a:moveTo>
                    <a:pt x="0" y="0"/>
                  </a:moveTo>
                  <a:lnTo>
                    <a:pt x="24414987" y="0"/>
                  </a:lnTo>
                  <a:lnTo>
                    <a:pt x="24414987" y="13758926"/>
                  </a:lnTo>
                  <a:lnTo>
                    <a:pt x="0" y="13758926"/>
                  </a:lnTo>
                  <a:lnTo>
                    <a:pt x="0" y="0"/>
                  </a:lnTo>
                  <a:close/>
                </a:path>
              </a:pathLst>
            </a:custGeom>
            <a:blipFill>
              <a:blip r:embed="rId3"/>
              <a:stretch>
                <a:fillRect l="0" t="0" r="0" b="0"/>
              </a:stretch>
            </a:blipFill>
          </p:spPr>
        </p:sp>
      </p:grpSp>
      <p:graphicFrame>
        <p:nvGraphicFramePr>
          <p:cNvPr name="Table 4" id="4"/>
          <p:cNvGraphicFramePr>
            <a:graphicFrameLocks noGrp="true"/>
          </p:cNvGraphicFramePr>
          <p:nvPr/>
        </p:nvGraphicFramePr>
        <p:xfrm>
          <a:off x="10656401" y="1940051"/>
          <a:ext cx="7350125" cy="1428750"/>
        </p:xfrm>
        <a:graphic>
          <a:graphicData uri="http://schemas.openxmlformats.org/drawingml/2006/table">
            <a:tbl>
              <a:tblPr/>
              <a:tblGrid>
                <a:gridCol w="3028681"/>
                <a:gridCol w="4321444"/>
              </a:tblGrid>
              <a:tr h="714375">
                <a:tc>
                  <a:txBody>
                    <a:bodyPr anchor="t" rtlCol="false"/>
                    <a:lstStyle/>
                    <a:p>
                      <a:pPr algn="l">
                        <a:lnSpc>
                          <a:spcPts val="4139"/>
                        </a:lnSpc>
                        <a:defRPr/>
                      </a:pPr>
                      <a:r>
                        <a:rPr lang="en-US" b="true" sz="2874">
                          <a:solidFill>
                            <a:srgbClr val="000000"/>
                          </a:solidFill>
                          <a:latin typeface="Arial MT Pro Bold"/>
                          <a:ea typeface="Arial MT Pro Bold"/>
                          <a:cs typeface="Arial MT Pro Bold"/>
                          <a:sym typeface="Arial MT Pro Bold"/>
                        </a:rPr>
                        <a:t>Día, Fecha:</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c>
                  <a:txBody>
                    <a:bodyPr anchor="t" rtlCol="false"/>
                    <a:lstStyle/>
                    <a:p>
                      <a:pPr algn="l">
                        <a:lnSpc>
                          <a:spcPts val="4139"/>
                        </a:lnSpc>
                        <a:defRPr/>
                      </a:pPr>
                      <a:r>
                        <a:rPr lang="en-US" b="true" sz="2874">
                          <a:solidFill>
                            <a:srgbClr val="000000"/>
                          </a:solidFill>
                          <a:latin typeface="Arial MT Pro Bold"/>
                          <a:ea typeface="Arial MT Pro Bold"/>
                          <a:cs typeface="Arial MT Pro Bold"/>
                          <a:sym typeface="Arial MT Pro Bold"/>
                        </a:rPr>
                        <a:t>Lunes, 28/07/2025</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r>
              <a:tr h="714375">
                <a:tc>
                  <a:txBody>
                    <a:bodyPr anchor="t" rtlCol="false"/>
                    <a:lstStyle/>
                    <a:p>
                      <a:pPr algn="l">
                        <a:lnSpc>
                          <a:spcPts val="4139"/>
                        </a:lnSpc>
                        <a:defRPr/>
                      </a:pPr>
                      <a:r>
                        <a:rPr lang="en-US" b="true" sz="2874">
                          <a:solidFill>
                            <a:srgbClr val="000000"/>
                          </a:solidFill>
                          <a:latin typeface="Arial MT Pro Bold"/>
                          <a:ea typeface="Arial MT Pro Bold"/>
                          <a:cs typeface="Arial MT Pro Bold"/>
                          <a:sym typeface="Arial MT Pro Bold"/>
                        </a:rPr>
                        <a:t>Hora de inicio:</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c>
                  <a:txBody>
                    <a:bodyPr anchor="t" rtlCol="false"/>
                    <a:lstStyle/>
                    <a:p>
                      <a:pPr algn="l">
                        <a:lnSpc>
                          <a:spcPts val="4139"/>
                        </a:lnSpc>
                        <a:defRPr/>
                      </a:pPr>
                      <a:r>
                        <a:rPr lang="en-US" sz="2874">
                          <a:solidFill>
                            <a:srgbClr val="000000"/>
                          </a:solidFill>
                          <a:latin typeface="Arial MT Pro"/>
                          <a:ea typeface="Arial MT Pro"/>
                          <a:cs typeface="Arial MT Pro"/>
                          <a:sym typeface="Arial MT Pro"/>
                        </a:rPr>
                        <a:t>17:25</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063927" y="5320636"/>
            <a:ext cx="13932173" cy="981045"/>
          </a:xfrm>
          <a:prstGeom prst="rect">
            <a:avLst/>
          </a:prstGeom>
        </p:spPr>
        <p:txBody>
          <a:bodyPr anchor="t" rtlCol="false" tIns="0" lIns="0" bIns="0" rIns="0">
            <a:spAutoFit/>
          </a:bodyPr>
          <a:lstStyle/>
          <a:p>
            <a:pPr algn="l">
              <a:lnSpc>
                <a:spcPts val="7200"/>
              </a:lnSpc>
            </a:pPr>
            <a:r>
              <a:rPr lang="en-US" sz="4999">
                <a:solidFill>
                  <a:srgbClr val="000000"/>
                </a:solidFill>
                <a:latin typeface="Arial MT Pro"/>
                <a:ea typeface="Arial MT Pro"/>
                <a:cs typeface="Arial MT Pro"/>
                <a:sym typeface="Arial MT Pro"/>
              </a:rPr>
              <a:t>Manejo e Implementación de Archivos Seccion A</a:t>
            </a:r>
          </a:p>
        </p:txBody>
      </p:sp>
      <p:sp>
        <p:nvSpPr>
          <p:cNvPr name="TextBox 6" id="6"/>
          <p:cNvSpPr txBox="true"/>
          <p:nvPr/>
        </p:nvSpPr>
        <p:spPr>
          <a:xfrm rot="0">
            <a:off x="10656401" y="6960070"/>
            <a:ext cx="6846750" cy="773430"/>
          </a:xfrm>
          <a:prstGeom prst="rect">
            <a:avLst/>
          </a:prstGeom>
        </p:spPr>
        <p:txBody>
          <a:bodyPr anchor="t" rtlCol="false" tIns="0" lIns="0" bIns="0" rIns="0">
            <a:spAutoFit/>
          </a:bodyPr>
          <a:lstStyle/>
          <a:p>
            <a:pPr algn="l">
              <a:lnSpc>
                <a:spcPts val="5759"/>
              </a:lnSpc>
            </a:pPr>
            <a:r>
              <a:rPr lang="en-US" sz="4000">
                <a:solidFill>
                  <a:srgbClr val="000000"/>
                </a:solidFill>
                <a:latin typeface="Arial MT Pro"/>
                <a:ea typeface="Arial MT Pro"/>
                <a:cs typeface="Arial MT Pro"/>
                <a:sym typeface="Arial MT Pro"/>
              </a:rPr>
              <a:t>Tutor: </a:t>
            </a:r>
          </a:p>
        </p:txBody>
      </p:sp>
      <p:sp>
        <p:nvSpPr>
          <p:cNvPr name="TextBox 7" id="7"/>
          <p:cNvSpPr txBox="true"/>
          <p:nvPr/>
        </p:nvSpPr>
        <p:spPr>
          <a:xfrm rot="0">
            <a:off x="4953552" y="3773142"/>
            <a:ext cx="8152924"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BIENVENIDOS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1624" y="0"/>
            <a:ext cx="20691247" cy="10429334"/>
          </a:xfrm>
          <a:custGeom>
            <a:avLst/>
            <a:gdLst/>
            <a:ahLst/>
            <a:cxnLst/>
            <a:rect r="r" b="b" t="t" l="l"/>
            <a:pathLst>
              <a:path h="10429334" w="20691247">
                <a:moveTo>
                  <a:pt x="0" y="0"/>
                </a:moveTo>
                <a:lnTo>
                  <a:pt x="20691248" y="0"/>
                </a:lnTo>
                <a:lnTo>
                  <a:pt x="20691248" y="10429334"/>
                </a:lnTo>
                <a:lnTo>
                  <a:pt x="0" y="10429334"/>
                </a:lnTo>
                <a:lnTo>
                  <a:pt x="0" y="0"/>
                </a:lnTo>
                <a:close/>
              </a:path>
            </a:pathLst>
          </a:custGeom>
          <a:blipFill>
            <a:blip r:embed="rId3"/>
            <a:stretch>
              <a:fillRect l="-8780" t="0" r="-8780" b="0"/>
            </a:stretch>
          </a:blipFill>
        </p:spPr>
      </p:sp>
      <p:sp>
        <p:nvSpPr>
          <p:cNvPr name="AutoShape 3" id="3"/>
          <p:cNvSpPr/>
          <p:nvPr/>
        </p:nvSpPr>
        <p:spPr>
          <a:xfrm rot="8099999">
            <a:off x="16623524" y="5129640"/>
            <a:ext cx="1950151" cy="0"/>
          </a:xfrm>
          <a:prstGeom prst="line">
            <a:avLst/>
          </a:prstGeom>
          <a:ln cap="rnd" w="9525">
            <a:solidFill>
              <a:srgbClr val="FFFFFF"/>
            </a:solidFill>
            <a:prstDash val="solid"/>
            <a:headEnd type="none" len="sm" w="sm"/>
            <a:tailEnd type="none" len="sm" w="sm"/>
          </a:ln>
        </p:spPr>
      </p:sp>
      <p:sp>
        <p:nvSpPr>
          <p:cNvPr name="AutoShape 4" id="4"/>
          <p:cNvSpPr/>
          <p:nvPr/>
        </p:nvSpPr>
        <p:spPr>
          <a:xfrm rot="8100000">
            <a:off x="12877196" y="7021980"/>
            <a:ext cx="6339248" cy="0"/>
          </a:xfrm>
          <a:prstGeom prst="line">
            <a:avLst/>
          </a:prstGeom>
          <a:ln cap="rnd" w="9525">
            <a:solidFill>
              <a:srgbClr val="FFFFFF"/>
            </a:solidFill>
            <a:prstDash val="solid"/>
            <a:headEnd type="none" len="sm" w="sm"/>
            <a:tailEnd type="none" len="sm" w="sm"/>
          </a:ln>
        </p:spPr>
      </p:sp>
      <p:sp>
        <p:nvSpPr>
          <p:cNvPr name="AutoShape 5" id="5"/>
          <p:cNvSpPr/>
          <p:nvPr/>
        </p:nvSpPr>
        <p:spPr>
          <a:xfrm rot="8099783">
            <a:off x="14842142" y="6350040"/>
            <a:ext cx="4037276" cy="0"/>
          </a:xfrm>
          <a:prstGeom prst="line">
            <a:avLst/>
          </a:prstGeom>
          <a:ln cap="rnd" w="9525">
            <a:solidFill>
              <a:srgbClr val="FFFFFF"/>
            </a:solidFill>
            <a:prstDash val="solid"/>
            <a:headEnd type="none" len="sm" w="sm"/>
            <a:tailEnd type="none" len="sm" w="sm"/>
          </a:ln>
        </p:spPr>
      </p:sp>
      <p:sp>
        <p:nvSpPr>
          <p:cNvPr name="AutoShape 6" id="6"/>
          <p:cNvSpPr/>
          <p:nvPr/>
        </p:nvSpPr>
        <p:spPr>
          <a:xfrm rot="8100000">
            <a:off x="15101702" y="5996535"/>
            <a:ext cx="3744236" cy="0"/>
          </a:xfrm>
          <a:prstGeom prst="line">
            <a:avLst/>
          </a:prstGeom>
          <a:ln cap="rnd" w="19050">
            <a:solidFill>
              <a:srgbClr val="FFFFFF"/>
            </a:solidFill>
            <a:prstDash val="solid"/>
            <a:headEnd type="none" len="sm" w="sm"/>
            <a:tailEnd type="none" len="sm" w="sm"/>
          </a:ln>
        </p:spPr>
      </p:sp>
      <p:sp>
        <p:nvSpPr>
          <p:cNvPr name="AutoShape 7" id="7"/>
          <p:cNvSpPr/>
          <p:nvPr/>
        </p:nvSpPr>
        <p:spPr>
          <a:xfrm rot="8099680">
            <a:off x="15963304" y="6467415"/>
            <a:ext cx="2734912" cy="0"/>
          </a:xfrm>
          <a:prstGeom prst="line">
            <a:avLst/>
          </a:prstGeom>
          <a:ln cap="rnd" w="19050">
            <a:solidFill>
              <a:srgbClr val="FFFFFF"/>
            </a:solidFill>
            <a:prstDash val="solid"/>
            <a:headEnd type="none" len="sm" w="sm"/>
            <a:tailEnd type="none" len="sm" w="sm"/>
          </a:ln>
        </p:spPr>
      </p:sp>
      <p:grpSp>
        <p:nvGrpSpPr>
          <p:cNvPr name="Group 8" id="8"/>
          <p:cNvGrpSpPr/>
          <p:nvPr/>
        </p:nvGrpSpPr>
        <p:grpSpPr>
          <a:xfrm rot="0">
            <a:off x="12541320" y="0"/>
            <a:ext cx="5746320" cy="1711440"/>
            <a:chOff x="0" y="0"/>
            <a:chExt cx="7661760" cy="2281920"/>
          </a:xfrm>
        </p:grpSpPr>
        <p:sp>
          <p:nvSpPr>
            <p:cNvPr name="Freeform 9" id="9"/>
            <p:cNvSpPr/>
            <p:nvPr/>
          </p:nvSpPr>
          <p:spPr>
            <a:xfrm flipH="false" flipV="false" rot="0">
              <a:off x="0" y="0"/>
              <a:ext cx="7661783" cy="2281936"/>
            </a:xfrm>
            <a:custGeom>
              <a:avLst/>
              <a:gdLst/>
              <a:ahLst/>
              <a:cxnLst/>
              <a:rect r="r" b="b" t="t" l="l"/>
              <a:pathLst>
                <a:path h="2281936" w="7661783">
                  <a:moveTo>
                    <a:pt x="0" y="0"/>
                  </a:moveTo>
                  <a:lnTo>
                    <a:pt x="7661783" y="0"/>
                  </a:lnTo>
                  <a:lnTo>
                    <a:pt x="7661783" y="2281936"/>
                  </a:lnTo>
                  <a:lnTo>
                    <a:pt x="0" y="2281936"/>
                  </a:lnTo>
                  <a:lnTo>
                    <a:pt x="0" y="0"/>
                  </a:lnTo>
                  <a:close/>
                </a:path>
              </a:pathLst>
            </a:custGeom>
            <a:blipFill>
              <a:blip r:embed="rId4"/>
              <a:stretch>
                <a:fillRect l="0" t="-6" r="0" b="-6"/>
              </a:stretch>
            </a:blipFill>
          </p:spPr>
        </p:sp>
      </p:grpSp>
      <p:sp>
        <p:nvSpPr>
          <p:cNvPr name="TextBox 10" id="10"/>
          <p:cNvSpPr txBox="true"/>
          <p:nvPr/>
        </p:nvSpPr>
        <p:spPr>
          <a:xfrm rot="0">
            <a:off x="3004015" y="5858410"/>
            <a:ext cx="12279900" cy="1294800"/>
          </a:xfrm>
          <a:prstGeom prst="rect">
            <a:avLst/>
          </a:prstGeom>
        </p:spPr>
        <p:txBody>
          <a:bodyPr anchor="t" rtlCol="false" tIns="0" lIns="0" bIns="0" rIns="0">
            <a:spAutoFit/>
          </a:bodyPr>
          <a:lstStyle/>
          <a:p>
            <a:pPr algn="ctr">
              <a:lnSpc>
                <a:spcPts val="8399"/>
              </a:lnSpc>
            </a:pPr>
            <a:r>
              <a:rPr lang="en-US" b="true" sz="4999">
                <a:solidFill>
                  <a:srgbClr val="FFFFFF"/>
                </a:solidFill>
                <a:latin typeface="Open Sans Bold"/>
                <a:ea typeface="Open Sans Bold"/>
                <a:cs typeface="Open Sans Bold"/>
                <a:sym typeface="Open Sans Bold"/>
              </a:rPr>
              <a:t>Manejo e Implementación de Archivos</a:t>
            </a:r>
          </a:p>
        </p:txBody>
      </p:sp>
      <p:sp>
        <p:nvSpPr>
          <p:cNvPr name="TextBox 11" id="11"/>
          <p:cNvSpPr txBox="true"/>
          <p:nvPr/>
        </p:nvSpPr>
        <p:spPr>
          <a:xfrm rot="0">
            <a:off x="1427400" y="2902072"/>
            <a:ext cx="15433200" cy="3925800"/>
          </a:xfrm>
          <a:prstGeom prst="rect">
            <a:avLst/>
          </a:prstGeom>
        </p:spPr>
        <p:txBody>
          <a:bodyPr anchor="t" rtlCol="false" tIns="0" lIns="0" bIns="0" rIns="0">
            <a:spAutoFit/>
          </a:bodyPr>
          <a:lstStyle/>
          <a:p>
            <a:pPr algn="ctr">
              <a:lnSpc>
                <a:spcPts val="11040"/>
              </a:lnSpc>
            </a:pPr>
            <a:r>
              <a:rPr lang="en-US" b="true" sz="9200">
                <a:solidFill>
                  <a:srgbClr val="FFFFFF"/>
                </a:solidFill>
                <a:latin typeface="Open Sans Bold"/>
                <a:ea typeface="Open Sans Bold"/>
                <a:cs typeface="Open Sans Bold"/>
                <a:sym typeface="Open Sans Bold"/>
              </a:rPr>
              <a:t>Manejo e Implementación de Archivos</a:t>
            </a:r>
          </a:p>
        </p:txBody>
      </p:sp>
      <p:sp>
        <p:nvSpPr>
          <p:cNvPr name="TextBox 12" id="12"/>
          <p:cNvSpPr txBox="true"/>
          <p:nvPr/>
        </p:nvSpPr>
        <p:spPr>
          <a:xfrm rot="0">
            <a:off x="292775" y="7996800"/>
            <a:ext cx="10038900" cy="2568375"/>
          </a:xfrm>
          <a:prstGeom prst="rect">
            <a:avLst/>
          </a:prstGeom>
        </p:spPr>
        <p:txBody>
          <a:bodyPr anchor="t" rtlCol="false" tIns="0" lIns="0" bIns="0" rIns="0">
            <a:spAutoFit/>
          </a:bodyPr>
          <a:lstStyle/>
          <a:p>
            <a:pPr algn="l">
              <a:lnSpc>
                <a:spcPts val="4079"/>
              </a:lnSpc>
            </a:pPr>
            <a:r>
              <a:rPr lang="en-US" sz="3400">
                <a:solidFill>
                  <a:srgbClr val="FFFFFF"/>
                </a:solidFill>
                <a:latin typeface="Arial MT Pro"/>
                <a:ea typeface="Arial MT Pro"/>
                <a:cs typeface="Arial MT Pro"/>
                <a:sym typeface="Arial MT Pro"/>
              </a:rPr>
              <a:t>Escuela de Ingeniería de Ciencias y Sistemas </a:t>
            </a:r>
          </a:p>
          <a:p>
            <a:pPr algn="l">
              <a:lnSpc>
                <a:spcPts val="4079"/>
              </a:lnSpc>
            </a:pPr>
            <a:r>
              <a:rPr lang="en-US" sz="3400">
                <a:solidFill>
                  <a:srgbClr val="FFFFFF"/>
                </a:solidFill>
                <a:latin typeface="Arial MT Pro"/>
                <a:ea typeface="Arial MT Pro"/>
                <a:cs typeface="Arial MT Pro"/>
                <a:sym typeface="Arial MT Pro"/>
              </a:rPr>
              <a:t>Universidad de San Carlos de Guatemala</a:t>
            </a:r>
          </a:p>
          <a:p>
            <a:pPr algn="l">
              <a:lnSpc>
                <a:spcPts val="4079"/>
              </a:lnSpc>
            </a:pPr>
            <a:r>
              <a:rPr lang="en-US" sz="3400">
                <a:solidFill>
                  <a:srgbClr val="FFFFFF"/>
                </a:solidFill>
                <a:latin typeface="Arial MT Pro"/>
                <a:ea typeface="Arial MT Pro"/>
                <a:cs typeface="Arial MT Pro"/>
                <a:sym typeface="Arial MT Pro"/>
              </a:rPr>
              <a:t>Facultad de Ingeniería</a:t>
            </a:r>
          </a:p>
        </p:txBody>
      </p:sp>
      <p:grpSp>
        <p:nvGrpSpPr>
          <p:cNvPr name="Group 13" id="13"/>
          <p:cNvGrpSpPr/>
          <p:nvPr/>
        </p:nvGrpSpPr>
        <p:grpSpPr>
          <a:xfrm rot="0">
            <a:off x="12541309" y="0"/>
            <a:ext cx="5746691" cy="1711780"/>
            <a:chOff x="0" y="0"/>
            <a:chExt cx="7662255" cy="2282373"/>
          </a:xfrm>
        </p:grpSpPr>
        <p:sp>
          <p:nvSpPr>
            <p:cNvPr name="Freeform 14" id="14"/>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4"/>
              <a:stretch>
                <a:fillRect l="0" t="0" r="0" b="-2"/>
              </a:stretch>
            </a:blipFill>
          </p:spPr>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6770" cy="10473763"/>
            <a:chOff x="0" y="0"/>
            <a:chExt cx="24795693" cy="13965017"/>
          </a:xfrm>
        </p:grpSpPr>
        <p:sp>
          <p:nvSpPr>
            <p:cNvPr name="Freeform 3" id="3"/>
            <p:cNvSpPr/>
            <p:nvPr/>
          </p:nvSpPr>
          <p:spPr>
            <a:xfrm flipH="false" flipV="false" rot="0">
              <a:off x="0" y="0"/>
              <a:ext cx="24795735" cy="13965047"/>
            </a:xfrm>
            <a:custGeom>
              <a:avLst/>
              <a:gdLst/>
              <a:ahLst/>
              <a:cxnLst/>
              <a:rect r="r" b="b" t="t" l="l"/>
              <a:pathLst>
                <a:path h="13965047" w="24795735">
                  <a:moveTo>
                    <a:pt x="0" y="0"/>
                  </a:moveTo>
                  <a:lnTo>
                    <a:pt x="24795735" y="0"/>
                  </a:lnTo>
                  <a:lnTo>
                    <a:pt x="24795735" y="13965047"/>
                  </a:lnTo>
                  <a:lnTo>
                    <a:pt x="0" y="13965047"/>
                  </a:lnTo>
                  <a:close/>
                </a:path>
              </a:pathLst>
            </a:custGeom>
            <a:solidFill>
              <a:srgbClr val="D9D9D9">
                <a:alpha val="21569"/>
              </a:srgbClr>
            </a:solidFill>
          </p:spPr>
        </p:sp>
      </p:grpSp>
      <p:grpSp>
        <p:nvGrpSpPr>
          <p:cNvPr name="Group 4" id="4"/>
          <p:cNvGrpSpPr/>
          <p:nvPr/>
        </p:nvGrpSpPr>
        <p:grpSpPr>
          <a:xfrm rot="9452055">
            <a:off x="-1158268" y="-1828638"/>
            <a:ext cx="5348395" cy="4045332"/>
            <a:chOff x="0" y="0"/>
            <a:chExt cx="7131193" cy="5393776"/>
          </a:xfrm>
        </p:grpSpPr>
        <p:sp>
          <p:nvSpPr>
            <p:cNvPr name="Freeform 5" id="5"/>
            <p:cNvSpPr/>
            <p:nvPr/>
          </p:nvSpPr>
          <p:spPr>
            <a:xfrm flipH="false" flipV="false" rot="0">
              <a:off x="0" y="0"/>
              <a:ext cx="7131177" cy="5393817"/>
            </a:xfrm>
            <a:custGeom>
              <a:avLst/>
              <a:gdLst/>
              <a:ahLst/>
              <a:cxnLst/>
              <a:rect r="r" b="b" t="t" l="l"/>
              <a:pathLst>
                <a:path h="5393817" w="7131177">
                  <a:moveTo>
                    <a:pt x="0" y="0"/>
                  </a:moveTo>
                  <a:lnTo>
                    <a:pt x="7131177" y="0"/>
                  </a:lnTo>
                  <a:lnTo>
                    <a:pt x="7131177" y="5393817"/>
                  </a:lnTo>
                  <a:lnTo>
                    <a:pt x="0" y="5393817"/>
                  </a:lnTo>
                  <a:lnTo>
                    <a:pt x="0" y="0"/>
                  </a:lnTo>
                  <a:close/>
                </a:path>
              </a:pathLst>
            </a:custGeom>
            <a:blipFill>
              <a:blip r:embed="rId3"/>
              <a:stretch>
                <a:fillRect l="0" t="-108" r="0" b="-107"/>
              </a:stretch>
            </a:blipFill>
          </p:spPr>
        </p:sp>
      </p:grpSp>
      <p:grpSp>
        <p:nvGrpSpPr>
          <p:cNvPr name="Group 6" id="6"/>
          <p:cNvGrpSpPr/>
          <p:nvPr/>
        </p:nvGrpSpPr>
        <p:grpSpPr>
          <a:xfrm rot="0">
            <a:off x="-1421876" y="-3678699"/>
            <a:ext cx="5285099" cy="5256271"/>
            <a:chOff x="0" y="0"/>
            <a:chExt cx="7046799" cy="7008361"/>
          </a:xfrm>
        </p:grpSpPr>
        <p:sp>
          <p:nvSpPr>
            <p:cNvPr name="Freeform 7" id="7"/>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4"/>
              <a:stretch>
                <a:fillRect l="0" t="-80" r="0" b="-80"/>
              </a:stretch>
            </a:blipFill>
          </p:spPr>
        </p:sp>
      </p:grpSp>
      <p:grpSp>
        <p:nvGrpSpPr>
          <p:cNvPr name="Group 8" id="8"/>
          <p:cNvGrpSpPr/>
          <p:nvPr/>
        </p:nvGrpSpPr>
        <p:grpSpPr>
          <a:xfrm rot="-2310192">
            <a:off x="9697895" y="2163575"/>
            <a:ext cx="12649011" cy="9567252"/>
            <a:chOff x="0" y="0"/>
            <a:chExt cx="16865348" cy="12756336"/>
          </a:xfrm>
        </p:grpSpPr>
        <p:sp>
          <p:nvSpPr>
            <p:cNvPr name="Freeform 9" id="9"/>
            <p:cNvSpPr/>
            <p:nvPr/>
          </p:nvSpPr>
          <p:spPr>
            <a:xfrm flipH="false" flipV="false" rot="0">
              <a:off x="0" y="0"/>
              <a:ext cx="16865346" cy="12756388"/>
            </a:xfrm>
            <a:custGeom>
              <a:avLst/>
              <a:gdLst/>
              <a:ahLst/>
              <a:cxnLst/>
              <a:rect r="r" b="b" t="t" l="l"/>
              <a:pathLst>
                <a:path h="12756388" w="16865346">
                  <a:moveTo>
                    <a:pt x="0" y="0"/>
                  </a:moveTo>
                  <a:lnTo>
                    <a:pt x="16865346" y="0"/>
                  </a:lnTo>
                  <a:lnTo>
                    <a:pt x="16865346" y="12756388"/>
                  </a:lnTo>
                  <a:lnTo>
                    <a:pt x="0" y="12756388"/>
                  </a:lnTo>
                  <a:lnTo>
                    <a:pt x="0" y="0"/>
                  </a:lnTo>
                  <a:close/>
                </a:path>
              </a:pathLst>
            </a:custGeom>
            <a:blipFill>
              <a:blip r:embed="rId5">
                <a:alphaModFix amt="7000"/>
              </a:blip>
              <a:stretch>
                <a:fillRect l="0" t="-108" r="0" b="-107"/>
              </a:stretch>
            </a:blipFill>
          </p:spPr>
        </p:sp>
      </p:grpSp>
      <p:grpSp>
        <p:nvGrpSpPr>
          <p:cNvPr name="Group 10" id="10"/>
          <p:cNvGrpSpPr/>
          <p:nvPr/>
        </p:nvGrpSpPr>
        <p:grpSpPr>
          <a:xfrm rot="0">
            <a:off x="17981351" y="9071880"/>
            <a:ext cx="322147" cy="1215486"/>
            <a:chOff x="0" y="0"/>
            <a:chExt cx="429529" cy="1620648"/>
          </a:xfrm>
        </p:grpSpPr>
        <p:sp>
          <p:nvSpPr>
            <p:cNvPr name="Freeform 11" id="11"/>
            <p:cNvSpPr/>
            <p:nvPr/>
          </p:nvSpPr>
          <p:spPr>
            <a:xfrm flipH="false" flipV="false" rot="0">
              <a:off x="0" y="0"/>
              <a:ext cx="429514" cy="1620647"/>
            </a:xfrm>
            <a:custGeom>
              <a:avLst/>
              <a:gdLst/>
              <a:ahLst/>
              <a:cxnLst/>
              <a:rect r="r" b="b" t="t" l="l"/>
              <a:pathLst>
                <a:path h="1620647" w="429514">
                  <a:moveTo>
                    <a:pt x="0" y="0"/>
                  </a:moveTo>
                  <a:lnTo>
                    <a:pt x="429514" y="0"/>
                  </a:lnTo>
                  <a:lnTo>
                    <a:pt x="429514" y="1620647"/>
                  </a:lnTo>
                  <a:lnTo>
                    <a:pt x="0" y="1620647"/>
                  </a:lnTo>
                  <a:close/>
                </a:path>
              </a:pathLst>
            </a:custGeom>
            <a:solidFill>
              <a:srgbClr val="1B4A9B"/>
            </a:solidFill>
          </p:spPr>
        </p:sp>
      </p:grpSp>
      <p:grpSp>
        <p:nvGrpSpPr>
          <p:cNvPr name="Group 12" id="12"/>
          <p:cNvGrpSpPr/>
          <p:nvPr/>
        </p:nvGrpSpPr>
        <p:grpSpPr>
          <a:xfrm rot="0">
            <a:off x="17046764" y="3182967"/>
            <a:ext cx="4828984" cy="4820204"/>
            <a:chOff x="0" y="0"/>
            <a:chExt cx="6438645" cy="6426939"/>
          </a:xfrm>
        </p:grpSpPr>
        <p:sp>
          <p:nvSpPr>
            <p:cNvPr name="Freeform 13" id="13"/>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grpSp>
        <p:nvGrpSpPr>
          <p:cNvPr name="Group 14" id="14"/>
          <p:cNvGrpSpPr/>
          <p:nvPr/>
        </p:nvGrpSpPr>
        <p:grpSpPr>
          <a:xfrm rot="0">
            <a:off x="15172272" y="6448224"/>
            <a:ext cx="2087028" cy="3109894"/>
            <a:chOff x="0" y="0"/>
            <a:chExt cx="2782704" cy="4146525"/>
          </a:xfrm>
        </p:grpSpPr>
        <p:sp>
          <p:nvSpPr>
            <p:cNvPr name="Freeform 15" id="15"/>
            <p:cNvSpPr/>
            <p:nvPr/>
          </p:nvSpPr>
          <p:spPr>
            <a:xfrm flipH="false" flipV="false" rot="0">
              <a:off x="0" y="0"/>
              <a:ext cx="2782697" cy="4146550"/>
            </a:xfrm>
            <a:custGeom>
              <a:avLst/>
              <a:gdLst/>
              <a:ahLst/>
              <a:cxnLst/>
              <a:rect r="r" b="b" t="t" l="l"/>
              <a:pathLst>
                <a:path h="4146550" w="2782697">
                  <a:moveTo>
                    <a:pt x="0" y="0"/>
                  </a:moveTo>
                  <a:lnTo>
                    <a:pt x="2782697" y="0"/>
                  </a:lnTo>
                  <a:lnTo>
                    <a:pt x="2782697" y="4146550"/>
                  </a:lnTo>
                  <a:lnTo>
                    <a:pt x="0" y="4146550"/>
                  </a:lnTo>
                  <a:lnTo>
                    <a:pt x="0" y="0"/>
                  </a:lnTo>
                  <a:close/>
                </a:path>
              </a:pathLst>
            </a:custGeom>
            <a:blipFill>
              <a:blip r:embed="rId7"/>
              <a:stretch>
                <a:fillRect l="-6" t="0" r="-6" b="0"/>
              </a:stretch>
            </a:blipFill>
          </p:spPr>
        </p:sp>
      </p:grpSp>
      <p:grpSp>
        <p:nvGrpSpPr>
          <p:cNvPr name="Group 16" id="16"/>
          <p:cNvGrpSpPr/>
          <p:nvPr/>
        </p:nvGrpSpPr>
        <p:grpSpPr>
          <a:xfrm rot="0">
            <a:off x="651754" y="4921161"/>
            <a:ext cx="4613562" cy="666409"/>
            <a:chOff x="0" y="0"/>
            <a:chExt cx="6151416" cy="888545"/>
          </a:xfrm>
        </p:grpSpPr>
        <p:sp>
          <p:nvSpPr>
            <p:cNvPr name="Freeform 17" id="17"/>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18" id="18"/>
          <p:cNvGrpSpPr/>
          <p:nvPr/>
        </p:nvGrpSpPr>
        <p:grpSpPr>
          <a:xfrm rot="0">
            <a:off x="1062572" y="4952159"/>
            <a:ext cx="453358" cy="550094"/>
            <a:chOff x="0" y="0"/>
            <a:chExt cx="604477" cy="733459"/>
          </a:xfrm>
        </p:grpSpPr>
        <p:sp>
          <p:nvSpPr>
            <p:cNvPr name="Freeform 19" id="19"/>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20" id="20"/>
          <p:cNvGrpSpPr/>
          <p:nvPr/>
        </p:nvGrpSpPr>
        <p:grpSpPr>
          <a:xfrm rot="0">
            <a:off x="1866989" y="3303305"/>
            <a:ext cx="4115217" cy="1267170"/>
            <a:chOff x="0" y="0"/>
            <a:chExt cx="5486956" cy="1689560"/>
          </a:xfrm>
        </p:grpSpPr>
        <p:sp>
          <p:nvSpPr>
            <p:cNvPr name="Freeform 21" id="21"/>
            <p:cNvSpPr/>
            <p:nvPr/>
          </p:nvSpPr>
          <p:spPr>
            <a:xfrm flipH="false" flipV="false" rot="0">
              <a:off x="0" y="0"/>
              <a:ext cx="5486908" cy="1689608"/>
            </a:xfrm>
            <a:custGeom>
              <a:avLst/>
              <a:gdLst/>
              <a:ahLst/>
              <a:cxnLst/>
              <a:rect r="r" b="b" t="t" l="l"/>
              <a:pathLst>
                <a:path h="1689608" w="5486908">
                  <a:moveTo>
                    <a:pt x="4458208" y="0"/>
                  </a:moveTo>
                  <a:lnTo>
                    <a:pt x="0" y="0"/>
                  </a:lnTo>
                  <a:lnTo>
                    <a:pt x="0" y="1689608"/>
                  </a:lnTo>
                  <a:lnTo>
                    <a:pt x="4458208" y="1689608"/>
                  </a:lnTo>
                  <a:lnTo>
                    <a:pt x="5486908" y="844804"/>
                  </a:lnTo>
                  <a:lnTo>
                    <a:pt x="4458208" y="0"/>
                  </a:lnTo>
                  <a:close/>
                </a:path>
              </a:pathLst>
            </a:custGeom>
            <a:solidFill>
              <a:srgbClr val="FFFFFF"/>
            </a:solidFill>
          </p:spPr>
        </p:sp>
      </p:grpSp>
      <p:grpSp>
        <p:nvGrpSpPr>
          <p:cNvPr name="Group 22" id="22"/>
          <p:cNvGrpSpPr/>
          <p:nvPr/>
        </p:nvGrpSpPr>
        <p:grpSpPr>
          <a:xfrm rot="0">
            <a:off x="651754" y="3429735"/>
            <a:ext cx="753892" cy="872928"/>
            <a:chOff x="0" y="0"/>
            <a:chExt cx="1005189" cy="1163904"/>
          </a:xfrm>
        </p:grpSpPr>
        <p:sp>
          <p:nvSpPr>
            <p:cNvPr name="Freeform 23" id="23"/>
            <p:cNvSpPr/>
            <p:nvPr/>
          </p:nvSpPr>
          <p:spPr>
            <a:xfrm flipH="false" flipV="false" rot="0">
              <a:off x="0" y="0"/>
              <a:ext cx="1005205" cy="1163955"/>
            </a:xfrm>
            <a:custGeom>
              <a:avLst/>
              <a:gdLst/>
              <a:ahLst/>
              <a:cxnLst/>
              <a:rect r="r" b="b" t="t" l="l"/>
              <a:pathLst>
                <a:path h="1163955" w="1005205">
                  <a:moveTo>
                    <a:pt x="0" y="0"/>
                  </a:moveTo>
                  <a:lnTo>
                    <a:pt x="1005205" y="0"/>
                  </a:lnTo>
                  <a:lnTo>
                    <a:pt x="1005205" y="1163955"/>
                  </a:lnTo>
                  <a:lnTo>
                    <a:pt x="0" y="1163955"/>
                  </a:lnTo>
                  <a:lnTo>
                    <a:pt x="0" y="0"/>
                  </a:lnTo>
                  <a:close/>
                </a:path>
              </a:pathLst>
            </a:custGeom>
            <a:blipFill>
              <a:blip r:embed="rId9"/>
              <a:stretch>
                <a:fillRect l="0" t="-36" r="1" b="-31"/>
              </a:stretch>
            </a:blipFill>
          </p:spPr>
        </p:sp>
      </p:grpSp>
      <p:grpSp>
        <p:nvGrpSpPr>
          <p:cNvPr name="Group 24" id="24"/>
          <p:cNvGrpSpPr/>
          <p:nvPr/>
        </p:nvGrpSpPr>
        <p:grpSpPr>
          <a:xfrm rot="0">
            <a:off x="651754" y="5806825"/>
            <a:ext cx="5371844" cy="775939"/>
            <a:chOff x="0" y="0"/>
            <a:chExt cx="6151416" cy="888545"/>
          </a:xfrm>
        </p:grpSpPr>
        <p:sp>
          <p:nvSpPr>
            <p:cNvPr name="Freeform 25" id="25"/>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26" id="26"/>
          <p:cNvGrpSpPr/>
          <p:nvPr/>
        </p:nvGrpSpPr>
        <p:grpSpPr>
          <a:xfrm rot="0">
            <a:off x="651754" y="6826552"/>
            <a:ext cx="4613562" cy="666409"/>
            <a:chOff x="0" y="0"/>
            <a:chExt cx="6151416" cy="888545"/>
          </a:xfrm>
        </p:grpSpPr>
        <p:sp>
          <p:nvSpPr>
            <p:cNvPr name="Freeform 27" id="27"/>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28" id="28"/>
          <p:cNvGrpSpPr/>
          <p:nvPr/>
        </p:nvGrpSpPr>
        <p:grpSpPr>
          <a:xfrm rot="0">
            <a:off x="651754" y="7750134"/>
            <a:ext cx="5805587" cy="838591"/>
            <a:chOff x="0" y="0"/>
            <a:chExt cx="6151416" cy="888545"/>
          </a:xfrm>
        </p:grpSpPr>
        <p:sp>
          <p:nvSpPr>
            <p:cNvPr name="Freeform 29" id="29"/>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30" id="30"/>
          <p:cNvGrpSpPr/>
          <p:nvPr/>
        </p:nvGrpSpPr>
        <p:grpSpPr>
          <a:xfrm rot="0">
            <a:off x="651754" y="8714317"/>
            <a:ext cx="5614004" cy="775939"/>
            <a:chOff x="0" y="0"/>
            <a:chExt cx="6428718" cy="888545"/>
          </a:xfrm>
        </p:grpSpPr>
        <p:sp>
          <p:nvSpPr>
            <p:cNvPr name="Freeform 31" id="31"/>
            <p:cNvSpPr/>
            <p:nvPr/>
          </p:nvSpPr>
          <p:spPr>
            <a:xfrm flipH="false" flipV="false" rot="0">
              <a:off x="0" y="0"/>
              <a:ext cx="6428801" cy="888492"/>
            </a:xfrm>
            <a:custGeom>
              <a:avLst/>
              <a:gdLst/>
              <a:ahLst/>
              <a:cxnLst/>
              <a:rect r="r" b="b" t="t" l="l"/>
              <a:pathLst>
                <a:path h="888492" w="6428801">
                  <a:moveTo>
                    <a:pt x="5763720" y="0"/>
                  </a:moveTo>
                  <a:lnTo>
                    <a:pt x="0" y="0"/>
                  </a:lnTo>
                  <a:lnTo>
                    <a:pt x="0" y="888492"/>
                  </a:lnTo>
                  <a:lnTo>
                    <a:pt x="5763720" y="888492"/>
                  </a:lnTo>
                  <a:lnTo>
                    <a:pt x="6428801" y="444246"/>
                  </a:lnTo>
                  <a:lnTo>
                    <a:pt x="5763720" y="0"/>
                  </a:lnTo>
                  <a:close/>
                </a:path>
              </a:pathLst>
            </a:custGeom>
            <a:solidFill>
              <a:srgbClr val="FFFFFF"/>
            </a:solidFill>
          </p:spPr>
        </p:sp>
      </p:grpSp>
      <p:grpSp>
        <p:nvGrpSpPr>
          <p:cNvPr name="Group 32" id="32"/>
          <p:cNvGrpSpPr/>
          <p:nvPr/>
        </p:nvGrpSpPr>
        <p:grpSpPr>
          <a:xfrm rot="0">
            <a:off x="1062572" y="5834998"/>
            <a:ext cx="453358" cy="550094"/>
            <a:chOff x="0" y="0"/>
            <a:chExt cx="604477" cy="733459"/>
          </a:xfrm>
        </p:grpSpPr>
        <p:sp>
          <p:nvSpPr>
            <p:cNvPr name="Freeform 33" id="33"/>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34" id="34"/>
          <p:cNvGrpSpPr/>
          <p:nvPr/>
        </p:nvGrpSpPr>
        <p:grpSpPr>
          <a:xfrm rot="0">
            <a:off x="1062572" y="6816571"/>
            <a:ext cx="453358" cy="550094"/>
            <a:chOff x="0" y="0"/>
            <a:chExt cx="604477" cy="733459"/>
          </a:xfrm>
        </p:grpSpPr>
        <p:sp>
          <p:nvSpPr>
            <p:cNvPr name="Freeform 35" id="35"/>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36" id="36"/>
          <p:cNvGrpSpPr/>
          <p:nvPr/>
        </p:nvGrpSpPr>
        <p:grpSpPr>
          <a:xfrm rot="0">
            <a:off x="1062572" y="7816353"/>
            <a:ext cx="453358" cy="550094"/>
            <a:chOff x="0" y="0"/>
            <a:chExt cx="604477" cy="733459"/>
          </a:xfrm>
        </p:grpSpPr>
        <p:sp>
          <p:nvSpPr>
            <p:cNvPr name="Freeform 37" id="37"/>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38" id="38"/>
          <p:cNvGrpSpPr/>
          <p:nvPr/>
        </p:nvGrpSpPr>
        <p:grpSpPr>
          <a:xfrm rot="0">
            <a:off x="1062572" y="8817258"/>
            <a:ext cx="453358" cy="550094"/>
            <a:chOff x="0" y="0"/>
            <a:chExt cx="604477" cy="733459"/>
          </a:xfrm>
        </p:grpSpPr>
        <p:sp>
          <p:nvSpPr>
            <p:cNvPr name="Freeform 39" id="39"/>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40" id="40"/>
          <p:cNvGrpSpPr/>
          <p:nvPr/>
        </p:nvGrpSpPr>
        <p:grpSpPr>
          <a:xfrm rot="0">
            <a:off x="651754" y="3429735"/>
            <a:ext cx="753892" cy="872928"/>
            <a:chOff x="0" y="0"/>
            <a:chExt cx="1005189" cy="1163904"/>
          </a:xfrm>
        </p:grpSpPr>
        <p:sp>
          <p:nvSpPr>
            <p:cNvPr name="Freeform 41" id="41"/>
            <p:cNvSpPr/>
            <p:nvPr/>
          </p:nvSpPr>
          <p:spPr>
            <a:xfrm flipH="false" flipV="false" rot="0">
              <a:off x="0" y="0"/>
              <a:ext cx="1005205" cy="1163955"/>
            </a:xfrm>
            <a:custGeom>
              <a:avLst/>
              <a:gdLst/>
              <a:ahLst/>
              <a:cxnLst/>
              <a:rect r="r" b="b" t="t" l="l"/>
              <a:pathLst>
                <a:path h="1163955" w="1005205">
                  <a:moveTo>
                    <a:pt x="0" y="0"/>
                  </a:moveTo>
                  <a:lnTo>
                    <a:pt x="1005205" y="0"/>
                  </a:lnTo>
                  <a:lnTo>
                    <a:pt x="1005205" y="1163955"/>
                  </a:lnTo>
                  <a:lnTo>
                    <a:pt x="0" y="1163955"/>
                  </a:lnTo>
                  <a:lnTo>
                    <a:pt x="0" y="0"/>
                  </a:lnTo>
                  <a:close/>
                </a:path>
              </a:pathLst>
            </a:custGeom>
            <a:blipFill>
              <a:blip r:embed="rId9"/>
              <a:stretch>
                <a:fillRect l="0" t="-36" r="1" b="-31"/>
              </a:stretch>
            </a:blipFill>
          </p:spPr>
        </p:sp>
      </p:grpSp>
      <p:sp>
        <p:nvSpPr>
          <p:cNvPr name="TextBox 42" id="42"/>
          <p:cNvSpPr txBox="true"/>
          <p:nvPr/>
        </p:nvSpPr>
        <p:spPr>
          <a:xfrm rot="0">
            <a:off x="878649" y="425975"/>
            <a:ext cx="7710300" cy="2565975"/>
          </a:xfrm>
          <a:prstGeom prst="rect">
            <a:avLst/>
          </a:prstGeom>
        </p:spPr>
        <p:txBody>
          <a:bodyPr anchor="t" rtlCol="false" tIns="0" lIns="0" bIns="0" rIns="0">
            <a:spAutoFit/>
          </a:bodyPr>
          <a:lstStyle/>
          <a:p>
            <a:pPr algn="l">
              <a:lnSpc>
                <a:spcPts val="20699"/>
              </a:lnSpc>
            </a:pPr>
            <a:r>
              <a:rPr lang="en-US" sz="15000">
                <a:solidFill>
                  <a:srgbClr val="131416"/>
                </a:solidFill>
                <a:latin typeface="Pacifico"/>
                <a:ea typeface="Pacifico"/>
                <a:cs typeface="Pacifico"/>
                <a:sym typeface="Pacifico"/>
              </a:rPr>
              <a:t>Agenda</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2D2EF">
                <a:alpha val="100000"/>
              </a:srgbClr>
            </a:gs>
            <a:gs pos="10000">
              <a:srgbClr val="62D2EF">
                <a:alpha val="100000"/>
              </a:srgbClr>
            </a:gs>
            <a:gs pos="100000">
              <a:srgbClr val="05578D">
                <a:alpha val="100000"/>
              </a:srgbClr>
            </a:gs>
          </a:gsLst>
          <a:lin ang="6120000"/>
        </a:gradFill>
      </p:bgPr>
    </p:bg>
    <p:spTree>
      <p:nvGrpSpPr>
        <p:cNvPr id="1" name=""/>
        <p:cNvGrpSpPr/>
        <p:nvPr/>
      </p:nvGrpSpPr>
      <p:grpSpPr>
        <a:xfrm>
          <a:off x="0" y="0"/>
          <a:ext cx="0" cy="0"/>
          <a:chOff x="0" y="0"/>
          <a:chExt cx="0" cy="0"/>
        </a:xfrm>
      </p:grpSpPr>
      <p:sp>
        <p:nvSpPr>
          <p:cNvPr name="Freeform 2" id="2"/>
          <p:cNvSpPr/>
          <p:nvPr/>
        </p:nvSpPr>
        <p:spPr>
          <a:xfrm flipH="false" flipV="false" rot="0">
            <a:off x="-1201624" y="0"/>
            <a:ext cx="20691247" cy="10429334"/>
          </a:xfrm>
          <a:custGeom>
            <a:avLst/>
            <a:gdLst/>
            <a:ahLst/>
            <a:cxnLst/>
            <a:rect r="r" b="b" t="t" l="l"/>
            <a:pathLst>
              <a:path h="10429334" w="20691247">
                <a:moveTo>
                  <a:pt x="0" y="0"/>
                </a:moveTo>
                <a:lnTo>
                  <a:pt x="20691248" y="0"/>
                </a:lnTo>
                <a:lnTo>
                  <a:pt x="20691248" y="10429334"/>
                </a:lnTo>
                <a:lnTo>
                  <a:pt x="0" y="10429334"/>
                </a:lnTo>
                <a:lnTo>
                  <a:pt x="0" y="0"/>
                </a:lnTo>
                <a:close/>
              </a:path>
            </a:pathLst>
          </a:custGeom>
          <a:blipFill>
            <a:blip r:embed="rId3"/>
            <a:stretch>
              <a:fillRect l="-8780" t="0" r="-8780" b="0"/>
            </a:stretch>
          </a:blipFill>
        </p:spPr>
      </p:sp>
      <p:sp>
        <p:nvSpPr>
          <p:cNvPr name="AutoShape 3" id="3"/>
          <p:cNvSpPr/>
          <p:nvPr/>
        </p:nvSpPr>
        <p:spPr>
          <a:xfrm rot="8099999">
            <a:off x="16623524" y="5129640"/>
            <a:ext cx="1950151" cy="0"/>
          </a:xfrm>
          <a:prstGeom prst="line">
            <a:avLst/>
          </a:prstGeom>
          <a:ln cap="rnd" w="9525">
            <a:solidFill>
              <a:srgbClr val="FFFFFF"/>
            </a:solidFill>
            <a:prstDash val="solid"/>
            <a:headEnd type="none" len="sm" w="sm"/>
            <a:tailEnd type="none" len="sm" w="sm"/>
          </a:ln>
        </p:spPr>
      </p:sp>
      <p:sp>
        <p:nvSpPr>
          <p:cNvPr name="AutoShape 4" id="4"/>
          <p:cNvSpPr/>
          <p:nvPr/>
        </p:nvSpPr>
        <p:spPr>
          <a:xfrm rot="8100000">
            <a:off x="12877196" y="7021980"/>
            <a:ext cx="6339248" cy="0"/>
          </a:xfrm>
          <a:prstGeom prst="line">
            <a:avLst/>
          </a:prstGeom>
          <a:ln cap="rnd" w="9525">
            <a:solidFill>
              <a:srgbClr val="FFFFFF"/>
            </a:solidFill>
            <a:prstDash val="solid"/>
            <a:headEnd type="none" len="sm" w="sm"/>
            <a:tailEnd type="none" len="sm" w="sm"/>
          </a:ln>
        </p:spPr>
      </p:sp>
      <p:sp>
        <p:nvSpPr>
          <p:cNvPr name="AutoShape 5" id="5"/>
          <p:cNvSpPr/>
          <p:nvPr/>
        </p:nvSpPr>
        <p:spPr>
          <a:xfrm rot="8099783">
            <a:off x="14842142" y="6350040"/>
            <a:ext cx="4037276" cy="0"/>
          </a:xfrm>
          <a:prstGeom prst="line">
            <a:avLst/>
          </a:prstGeom>
          <a:ln cap="rnd" w="9525">
            <a:solidFill>
              <a:srgbClr val="FFFFFF"/>
            </a:solidFill>
            <a:prstDash val="solid"/>
            <a:headEnd type="none" len="sm" w="sm"/>
            <a:tailEnd type="none" len="sm" w="sm"/>
          </a:ln>
        </p:spPr>
      </p:sp>
      <p:sp>
        <p:nvSpPr>
          <p:cNvPr name="AutoShape 6" id="6"/>
          <p:cNvSpPr/>
          <p:nvPr/>
        </p:nvSpPr>
        <p:spPr>
          <a:xfrm rot="8100000">
            <a:off x="15101702" y="5996535"/>
            <a:ext cx="3744236" cy="0"/>
          </a:xfrm>
          <a:prstGeom prst="line">
            <a:avLst/>
          </a:prstGeom>
          <a:ln cap="rnd" w="19050">
            <a:solidFill>
              <a:srgbClr val="FFFFFF"/>
            </a:solidFill>
            <a:prstDash val="solid"/>
            <a:headEnd type="none" len="sm" w="sm"/>
            <a:tailEnd type="none" len="sm" w="sm"/>
          </a:ln>
        </p:spPr>
      </p:sp>
      <p:sp>
        <p:nvSpPr>
          <p:cNvPr name="AutoShape 7" id="7"/>
          <p:cNvSpPr/>
          <p:nvPr/>
        </p:nvSpPr>
        <p:spPr>
          <a:xfrm rot="8099680">
            <a:off x="15963304" y="6467415"/>
            <a:ext cx="2734912" cy="0"/>
          </a:xfrm>
          <a:prstGeom prst="line">
            <a:avLst/>
          </a:prstGeom>
          <a:ln cap="rnd" w="19050">
            <a:solidFill>
              <a:srgbClr val="FFFFFF"/>
            </a:solidFill>
            <a:prstDash val="solid"/>
            <a:headEnd type="none" len="sm" w="sm"/>
            <a:tailEnd type="none" len="sm" w="sm"/>
          </a:ln>
        </p:spPr>
      </p:sp>
      <p:sp>
        <p:nvSpPr>
          <p:cNvPr name="TextBox 8" id="8"/>
          <p:cNvSpPr txBox="true"/>
          <p:nvPr/>
        </p:nvSpPr>
        <p:spPr>
          <a:xfrm rot="0">
            <a:off x="1970470" y="1404933"/>
            <a:ext cx="14347060" cy="1659370"/>
          </a:xfrm>
          <a:prstGeom prst="rect">
            <a:avLst/>
          </a:prstGeom>
        </p:spPr>
        <p:txBody>
          <a:bodyPr anchor="t" rtlCol="false" tIns="0" lIns="0" bIns="0" rIns="0">
            <a:spAutoFit/>
          </a:bodyPr>
          <a:lstStyle/>
          <a:p>
            <a:pPr algn="ctr" marL="0" indent="0" lvl="0">
              <a:lnSpc>
                <a:spcPts val="11647"/>
              </a:lnSpc>
            </a:pPr>
            <a:r>
              <a:rPr lang="en-US" b="true" sz="9469">
                <a:solidFill>
                  <a:srgbClr val="FFFFFF"/>
                </a:solidFill>
                <a:latin typeface="Arial MT Pro Bold"/>
                <a:ea typeface="Arial MT Pro Bold"/>
                <a:cs typeface="Arial MT Pro Bold"/>
                <a:sym typeface="Arial MT Pro Bold"/>
              </a:rPr>
              <a:t>AVISOS</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2D2EF">
                <a:alpha val="100000"/>
              </a:srgbClr>
            </a:gs>
            <a:gs pos="10000">
              <a:srgbClr val="62D2EF">
                <a:alpha val="100000"/>
              </a:srgbClr>
            </a:gs>
            <a:gs pos="100000">
              <a:srgbClr val="05578D">
                <a:alpha val="100000"/>
              </a:srgbClr>
            </a:gs>
          </a:gsLst>
          <a:lin ang="6120000"/>
        </a:gradFill>
      </p:bgPr>
    </p:bg>
    <p:spTree>
      <p:nvGrpSpPr>
        <p:cNvPr id="1" name=""/>
        <p:cNvGrpSpPr/>
        <p:nvPr/>
      </p:nvGrpSpPr>
      <p:grpSpPr>
        <a:xfrm>
          <a:off x="0" y="0"/>
          <a:ext cx="0" cy="0"/>
          <a:chOff x="0" y="0"/>
          <a:chExt cx="0" cy="0"/>
        </a:xfrm>
      </p:grpSpPr>
      <p:sp>
        <p:nvSpPr>
          <p:cNvPr name="Freeform 2" id="2"/>
          <p:cNvSpPr/>
          <p:nvPr/>
        </p:nvSpPr>
        <p:spPr>
          <a:xfrm flipH="false" flipV="false" rot="0">
            <a:off x="-1201624" y="0"/>
            <a:ext cx="20691247" cy="10429334"/>
          </a:xfrm>
          <a:custGeom>
            <a:avLst/>
            <a:gdLst/>
            <a:ahLst/>
            <a:cxnLst/>
            <a:rect r="r" b="b" t="t" l="l"/>
            <a:pathLst>
              <a:path h="10429334" w="20691247">
                <a:moveTo>
                  <a:pt x="0" y="0"/>
                </a:moveTo>
                <a:lnTo>
                  <a:pt x="20691248" y="0"/>
                </a:lnTo>
                <a:lnTo>
                  <a:pt x="20691248" y="10429334"/>
                </a:lnTo>
                <a:lnTo>
                  <a:pt x="0" y="10429334"/>
                </a:lnTo>
                <a:lnTo>
                  <a:pt x="0" y="0"/>
                </a:lnTo>
                <a:close/>
              </a:path>
            </a:pathLst>
          </a:custGeom>
          <a:blipFill>
            <a:blip r:embed="rId3"/>
            <a:stretch>
              <a:fillRect l="-8780" t="0" r="-8780" b="0"/>
            </a:stretch>
          </a:blipFill>
        </p:spPr>
      </p:sp>
      <p:sp>
        <p:nvSpPr>
          <p:cNvPr name="AutoShape 3" id="3"/>
          <p:cNvSpPr/>
          <p:nvPr/>
        </p:nvSpPr>
        <p:spPr>
          <a:xfrm rot="8099999">
            <a:off x="16623524" y="5129640"/>
            <a:ext cx="1950151" cy="0"/>
          </a:xfrm>
          <a:prstGeom prst="line">
            <a:avLst/>
          </a:prstGeom>
          <a:ln cap="rnd" w="9525">
            <a:solidFill>
              <a:srgbClr val="FFFFFF"/>
            </a:solidFill>
            <a:prstDash val="solid"/>
            <a:headEnd type="none" len="sm" w="sm"/>
            <a:tailEnd type="none" len="sm" w="sm"/>
          </a:ln>
        </p:spPr>
      </p:sp>
      <p:sp>
        <p:nvSpPr>
          <p:cNvPr name="AutoShape 4" id="4"/>
          <p:cNvSpPr/>
          <p:nvPr/>
        </p:nvSpPr>
        <p:spPr>
          <a:xfrm rot="8100000">
            <a:off x="12877196" y="7021980"/>
            <a:ext cx="6339248" cy="0"/>
          </a:xfrm>
          <a:prstGeom prst="line">
            <a:avLst/>
          </a:prstGeom>
          <a:ln cap="rnd" w="9525">
            <a:solidFill>
              <a:srgbClr val="FFFFFF"/>
            </a:solidFill>
            <a:prstDash val="solid"/>
            <a:headEnd type="none" len="sm" w="sm"/>
            <a:tailEnd type="none" len="sm" w="sm"/>
          </a:ln>
        </p:spPr>
      </p:sp>
      <p:sp>
        <p:nvSpPr>
          <p:cNvPr name="AutoShape 5" id="5"/>
          <p:cNvSpPr/>
          <p:nvPr/>
        </p:nvSpPr>
        <p:spPr>
          <a:xfrm rot="8099783">
            <a:off x="14842142" y="6350040"/>
            <a:ext cx="4037276" cy="0"/>
          </a:xfrm>
          <a:prstGeom prst="line">
            <a:avLst/>
          </a:prstGeom>
          <a:ln cap="rnd" w="9525">
            <a:solidFill>
              <a:srgbClr val="FFFFFF"/>
            </a:solidFill>
            <a:prstDash val="solid"/>
            <a:headEnd type="none" len="sm" w="sm"/>
            <a:tailEnd type="none" len="sm" w="sm"/>
          </a:ln>
        </p:spPr>
      </p:sp>
      <p:sp>
        <p:nvSpPr>
          <p:cNvPr name="AutoShape 6" id="6"/>
          <p:cNvSpPr/>
          <p:nvPr/>
        </p:nvSpPr>
        <p:spPr>
          <a:xfrm rot="8100000">
            <a:off x="15101702" y="5996535"/>
            <a:ext cx="3744236" cy="0"/>
          </a:xfrm>
          <a:prstGeom prst="line">
            <a:avLst/>
          </a:prstGeom>
          <a:ln cap="rnd" w="19050">
            <a:solidFill>
              <a:srgbClr val="FFFFFF"/>
            </a:solidFill>
            <a:prstDash val="solid"/>
            <a:headEnd type="none" len="sm" w="sm"/>
            <a:tailEnd type="none" len="sm" w="sm"/>
          </a:ln>
        </p:spPr>
      </p:sp>
      <p:sp>
        <p:nvSpPr>
          <p:cNvPr name="AutoShape 7" id="7"/>
          <p:cNvSpPr/>
          <p:nvPr/>
        </p:nvSpPr>
        <p:spPr>
          <a:xfrm rot="8099680">
            <a:off x="15963304" y="6467415"/>
            <a:ext cx="2734912" cy="0"/>
          </a:xfrm>
          <a:prstGeom prst="line">
            <a:avLst/>
          </a:prstGeom>
          <a:ln cap="rnd" w="19050">
            <a:solidFill>
              <a:srgbClr val="FFFFFF"/>
            </a:solidFill>
            <a:prstDash val="solid"/>
            <a:headEnd type="none" len="sm" w="sm"/>
            <a:tailEnd type="none" len="sm" w="sm"/>
          </a:ln>
        </p:spPr>
      </p:sp>
      <p:sp>
        <p:nvSpPr>
          <p:cNvPr name="TextBox 8" id="8"/>
          <p:cNvSpPr txBox="true"/>
          <p:nvPr/>
        </p:nvSpPr>
        <p:spPr>
          <a:xfrm rot="0">
            <a:off x="1970470" y="3249910"/>
            <a:ext cx="14347060" cy="3135745"/>
          </a:xfrm>
          <a:prstGeom prst="rect">
            <a:avLst/>
          </a:prstGeom>
        </p:spPr>
        <p:txBody>
          <a:bodyPr anchor="t" rtlCol="false" tIns="0" lIns="0" bIns="0" rIns="0">
            <a:spAutoFit/>
          </a:bodyPr>
          <a:lstStyle/>
          <a:p>
            <a:pPr algn="ctr">
              <a:lnSpc>
                <a:spcPts val="11647"/>
              </a:lnSpc>
            </a:pPr>
            <a:r>
              <a:rPr lang="en-US" b="true" sz="9469">
                <a:solidFill>
                  <a:srgbClr val="FFFFFF"/>
                </a:solidFill>
                <a:latin typeface="Arial MT Pro Bold"/>
                <a:ea typeface="Arial MT Pro Bold"/>
                <a:cs typeface="Arial MT Pro Bold"/>
                <a:sym typeface="Arial MT Pro Bold"/>
              </a:rPr>
              <a:t>DUDAS DEL </a:t>
            </a:r>
          </a:p>
          <a:p>
            <a:pPr algn="ctr" marL="0" indent="0" lvl="0">
              <a:lnSpc>
                <a:spcPts val="11647"/>
              </a:lnSpc>
            </a:pPr>
            <a:r>
              <a:rPr lang="en-US" b="true" sz="9469">
                <a:solidFill>
                  <a:srgbClr val="FFFFFF"/>
                </a:solidFill>
                <a:latin typeface="Arial MT Pro Bold"/>
                <a:ea typeface="Arial MT Pro Bold"/>
                <a:cs typeface="Arial MT Pro Bold"/>
                <a:sym typeface="Arial MT Pro Bold"/>
              </a:rPr>
              <a:t>PROYECTO</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6770" cy="10473763"/>
            <a:chOff x="0" y="0"/>
            <a:chExt cx="24795693" cy="13965017"/>
          </a:xfrm>
        </p:grpSpPr>
        <p:sp>
          <p:nvSpPr>
            <p:cNvPr name="Freeform 3" id="3"/>
            <p:cNvSpPr/>
            <p:nvPr/>
          </p:nvSpPr>
          <p:spPr>
            <a:xfrm flipH="false" flipV="false" rot="0">
              <a:off x="0" y="0"/>
              <a:ext cx="24795735" cy="13965047"/>
            </a:xfrm>
            <a:custGeom>
              <a:avLst/>
              <a:gdLst/>
              <a:ahLst/>
              <a:cxnLst/>
              <a:rect r="r" b="b" t="t" l="l"/>
              <a:pathLst>
                <a:path h="13965047" w="24795735">
                  <a:moveTo>
                    <a:pt x="0" y="0"/>
                  </a:moveTo>
                  <a:lnTo>
                    <a:pt x="24795735" y="0"/>
                  </a:lnTo>
                  <a:lnTo>
                    <a:pt x="24795735" y="13965047"/>
                  </a:lnTo>
                  <a:lnTo>
                    <a:pt x="0" y="13965047"/>
                  </a:lnTo>
                  <a:close/>
                </a:path>
              </a:pathLst>
            </a:custGeom>
            <a:solidFill>
              <a:srgbClr val="D9D9D9">
                <a:alpha val="21569"/>
              </a:srgbClr>
            </a:solidFill>
          </p:spPr>
        </p:sp>
      </p:grpSp>
      <p:grpSp>
        <p:nvGrpSpPr>
          <p:cNvPr name="Group 4" id="4"/>
          <p:cNvGrpSpPr/>
          <p:nvPr/>
        </p:nvGrpSpPr>
        <p:grpSpPr>
          <a:xfrm rot="-2310192">
            <a:off x="9697895" y="2163575"/>
            <a:ext cx="12649011" cy="9567252"/>
            <a:chOff x="0" y="0"/>
            <a:chExt cx="16865348" cy="12756336"/>
          </a:xfrm>
        </p:grpSpPr>
        <p:sp>
          <p:nvSpPr>
            <p:cNvPr name="Freeform 5" id="5"/>
            <p:cNvSpPr/>
            <p:nvPr/>
          </p:nvSpPr>
          <p:spPr>
            <a:xfrm flipH="false" flipV="false" rot="0">
              <a:off x="0" y="0"/>
              <a:ext cx="16865346" cy="12756388"/>
            </a:xfrm>
            <a:custGeom>
              <a:avLst/>
              <a:gdLst/>
              <a:ahLst/>
              <a:cxnLst/>
              <a:rect r="r" b="b" t="t" l="l"/>
              <a:pathLst>
                <a:path h="12756388" w="16865346">
                  <a:moveTo>
                    <a:pt x="0" y="0"/>
                  </a:moveTo>
                  <a:lnTo>
                    <a:pt x="16865346" y="0"/>
                  </a:lnTo>
                  <a:lnTo>
                    <a:pt x="16865346" y="12756388"/>
                  </a:lnTo>
                  <a:lnTo>
                    <a:pt x="0" y="12756388"/>
                  </a:lnTo>
                  <a:lnTo>
                    <a:pt x="0" y="0"/>
                  </a:lnTo>
                  <a:close/>
                </a:path>
              </a:pathLst>
            </a:custGeom>
            <a:blipFill>
              <a:blip r:embed="rId3">
                <a:alphaModFix amt="7000"/>
              </a:blip>
              <a:stretch>
                <a:fillRect l="0" t="-108" r="0" b="-107"/>
              </a:stretch>
            </a:blipFill>
          </p:spPr>
        </p:sp>
      </p:grpSp>
      <p:grpSp>
        <p:nvGrpSpPr>
          <p:cNvPr name="Group 6" id="6"/>
          <p:cNvGrpSpPr/>
          <p:nvPr/>
        </p:nvGrpSpPr>
        <p:grpSpPr>
          <a:xfrm rot="-2278288">
            <a:off x="14869645" y="7453626"/>
            <a:ext cx="5348374" cy="4045316"/>
            <a:chOff x="0" y="0"/>
            <a:chExt cx="7131165" cy="5393754"/>
          </a:xfrm>
        </p:grpSpPr>
        <p:sp>
          <p:nvSpPr>
            <p:cNvPr name="Freeform 7" id="7"/>
            <p:cNvSpPr/>
            <p:nvPr/>
          </p:nvSpPr>
          <p:spPr>
            <a:xfrm flipH="false" flipV="false" rot="0">
              <a:off x="0" y="0"/>
              <a:ext cx="7131177" cy="5393817"/>
            </a:xfrm>
            <a:custGeom>
              <a:avLst/>
              <a:gdLst/>
              <a:ahLst/>
              <a:cxnLst/>
              <a:rect r="r" b="b" t="t" l="l"/>
              <a:pathLst>
                <a:path h="5393817" w="7131177">
                  <a:moveTo>
                    <a:pt x="0" y="0"/>
                  </a:moveTo>
                  <a:lnTo>
                    <a:pt x="7131177" y="0"/>
                  </a:lnTo>
                  <a:lnTo>
                    <a:pt x="7131177" y="5393817"/>
                  </a:lnTo>
                  <a:lnTo>
                    <a:pt x="0" y="5393817"/>
                  </a:lnTo>
                  <a:lnTo>
                    <a:pt x="0" y="0"/>
                  </a:lnTo>
                  <a:close/>
                </a:path>
              </a:pathLst>
            </a:custGeom>
            <a:blipFill>
              <a:blip r:embed="rId4"/>
              <a:stretch>
                <a:fillRect l="0" t="-108" r="0" b="-107"/>
              </a:stretch>
            </a:blipFill>
          </p:spPr>
        </p:sp>
      </p:grpSp>
      <p:grpSp>
        <p:nvGrpSpPr>
          <p:cNvPr name="Group 8" id="8"/>
          <p:cNvGrpSpPr/>
          <p:nvPr/>
        </p:nvGrpSpPr>
        <p:grpSpPr>
          <a:xfrm rot="9869657">
            <a:off x="15518522" y="7968515"/>
            <a:ext cx="5285077" cy="5256250"/>
            <a:chOff x="0" y="0"/>
            <a:chExt cx="7046770" cy="7008333"/>
          </a:xfrm>
        </p:grpSpPr>
        <p:sp>
          <p:nvSpPr>
            <p:cNvPr name="Freeform 9" id="9"/>
            <p:cNvSpPr/>
            <p:nvPr/>
          </p:nvSpPr>
          <p:spPr>
            <a:xfrm flipH="false" flipV="false" rot="0">
              <a:off x="0" y="0"/>
              <a:ext cx="7046722" cy="7008368"/>
            </a:xfrm>
            <a:custGeom>
              <a:avLst/>
              <a:gdLst/>
              <a:ahLst/>
              <a:cxnLst/>
              <a:rect r="r" b="b" t="t" l="l"/>
              <a:pathLst>
                <a:path h="7008368" w="7046722">
                  <a:moveTo>
                    <a:pt x="0" y="0"/>
                  </a:moveTo>
                  <a:lnTo>
                    <a:pt x="7046722" y="0"/>
                  </a:lnTo>
                  <a:lnTo>
                    <a:pt x="7046722" y="7008368"/>
                  </a:lnTo>
                  <a:lnTo>
                    <a:pt x="0" y="7008368"/>
                  </a:lnTo>
                  <a:lnTo>
                    <a:pt x="0" y="0"/>
                  </a:lnTo>
                  <a:close/>
                </a:path>
              </a:pathLst>
            </a:custGeom>
            <a:blipFill>
              <a:blip r:embed="rId5"/>
              <a:stretch>
                <a:fillRect l="0" t="-80" r="0" b="-79"/>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5433075" y="316100"/>
            <a:ext cx="7921200" cy="1884975"/>
          </a:xfrm>
          <a:prstGeom prst="rect">
            <a:avLst/>
          </a:prstGeom>
        </p:spPr>
        <p:txBody>
          <a:bodyPr anchor="t" rtlCol="false" tIns="0" lIns="0" bIns="0" rIns="0">
            <a:spAutoFit/>
          </a:bodyPr>
          <a:lstStyle/>
          <a:p>
            <a:pPr algn="l">
              <a:lnSpc>
                <a:spcPts val="7047"/>
              </a:lnSpc>
            </a:pPr>
            <a:r>
              <a:rPr lang="en-US" sz="5198">
                <a:solidFill>
                  <a:srgbClr val="131416"/>
                </a:solidFill>
                <a:latin typeface="Arial MT Pro"/>
                <a:ea typeface="Arial MT Pro"/>
                <a:cs typeface="Arial MT Pro"/>
                <a:sym typeface="Arial MT Pro"/>
              </a:rPr>
              <a:t>COMPETENCIA(S) QUE DESARROLLAREMOS</a:t>
            </a:r>
          </a:p>
        </p:txBody>
      </p:sp>
      <p:sp>
        <p:nvSpPr>
          <p:cNvPr name="TextBox 13" id="13"/>
          <p:cNvSpPr txBox="true"/>
          <p:nvPr/>
        </p:nvSpPr>
        <p:spPr>
          <a:xfrm rot="0">
            <a:off x="1069602" y="2495225"/>
            <a:ext cx="15682200" cy="7655466"/>
          </a:xfrm>
          <a:prstGeom prst="rect">
            <a:avLst/>
          </a:prstGeom>
        </p:spPr>
        <p:txBody>
          <a:bodyPr anchor="t" rtlCol="false" tIns="0" lIns="0" bIns="0" rIns="0">
            <a:spAutoFit/>
          </a:bodyPr>
          <a:lstStyle/>
          <a:p>
            <a:pPr algn="ctr">
              <a:lnSpc>
                <a:spcPts val="8734"/>
              </a:lnSpc>
            </a:pPr>
            <a:r>
              <a:rPr lang="en-US" b="true" sz="5198">
                <a:solidFill>
                  <a:srgbClr val="131416"/>
                </a:solidFill>
                <a:latin typeface="Open Sans Bold"/>
                <a:ea typeface="Open Sans Bold"/>
                <a:cs typeface="Open Sans Bold"/>
                <a:sym typeface="Open Sans Bold"/>
              </a:rPr>
              <a:t>I</a:t>
            </a:r>
            <a:r>
              <a:rPr lang="en-US" b="true" sz="5198">
                <a:solidFill>
                  <a:srgbClr val="131416"/>
                </a:solidFill>
                <a:latin typeface="Open Sans Bold"/>
                <a:ea typeface="Open Sans Bold"/>
                <a:cs typeface="Open Sans Bold"/>
                <a:sym typeface="Open Sans Bold"/>
              </a:rPr>
              <a:t>ntegra soluciones de almacenamiento local y en la nube mediante la selección y combinación de tecnologías de almacenamiento físico y virtualizado para diseñar infraestructuras eficientes, seguras y escalables </a:t>
            </a:r>
          </a:p>
          <a:p>
            <a:pPr algn="ctr">
              <a:lnSpc>
                <a:spcPts val="8734"/>
              </a:lnSpc>
            </a:pP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grpSp>
        <p:nvGrpSpPr>
          <p:cNvPr name="Group 12" id="12"/>
          <p:cNvGrpSpPr/>
          <p:nvPr/>
        </p:nvGrpSpPr>
        <p:grpSpPr>
          <a:xfrm rot="0">
            <a:off x="540010" y="1789670"/>
            <a:ext cx="6707659" cy="6707659"/>
            <a:chOff x="0" y="0"/>
            <a:chExt cx="8943545" cy="8943545"/>
          </a:xfrm>
        </p:grpSpPr>
        <p:sp>
          <p:nvSpPr>
            <p:cNvPr name="Freeform 13" id="13"/>
            <p:cNvSpPr/>
            <p:nvPr/>
          </p:nvSpPr>
          <p:spPr>
            <a:xfrm flipH="false" flipV="false" rot="0">
              <a:off x="0" y="0"/>
              <a:ext cx="8943594" cy="8943594"/>
            </a:xfrm>
            <a:custGeom>
              <a:avLst/>
              <a:gdLst/>
              <a:ahLst/>
              <a:cxnLst/>
              <a:rect r="r" b="b" t="t" l="l"/>
              <a:pathLst>
                <a:path h="8943594" w="8943594">
                  <a:moveTo>
                    <a:pt x="0" y="0"/>
                  </a:moveTo>
                  <a:lnTo>
                    <a:pt x="8943594" y="0"/>
                  </a:lnTo>
                  <a:lnTo>
                    <a:pt x="8943594" y="8943594"/>
                  </a:lnTo>
                  <a:lnTo>
                    <a:pt x="0" y="8943594"/>
                  </a:lnTo>
                  <a:lnTo>
                    <a:pt x="0" y="0"/>
                  </a:lnTo>
                  <a:close/>
                </a:path>
              </a:pathLst>
            </a:custGeom>
            <a:blipFill>
              <a:blip r:embed="rId7">
                <a:alphaModFix amt="12000"/>
              </a:blip>
              <a:stretch>
                <a:fillRect l="0" t="0" r="0" b="0"/>
              </a:stretch>
            </a:blipFill>
          </p:spPr>
        </p:sp>
      </p:grpSp>
      <p:grpSp>
        <p:nvGrpSpPr>
          <p:cNvPr name="Group 14" id="14"/>
          <p:cNvGrpSpPr/>
          <p:nvPr/>
        </p:nvGrpSpPr>
        <p:grpSpPr>
          <a:xfrm rot="0">
            <a:off x="897718" y="2147378"/>
            <a:ext cx="5992244" cy="5992244"/>
            <a:chOff x="0" y="0"/>
            <a:chExt cx="7989658" cy="7989658"/>
          </a:xfrm>
        </p:grpSpPr>
        <p:sp>
          <p:nvSpPr>
            <p:cNvPr name="Freeform 15" id="15"/>
            <p:cNvSpPr/>
            <p:nvPr/>
          </p:nvSpPr>
          <p:spPr>
            <a:xfrm flipH="false" flipV="false" rot="0">
              <a:off x="0" y="0"/>
              <a:ext cx="7989697" cy="7989697"/>
            </a:xfrm>
            <a:custGeom>
              <a:avLst/>
              <a:gdLst/>
              <a:ahLst/>
              <a:cxnLst/>
              <a:rect r="r" b="b" t="t" l="l"/>
              <a:pathLst>
                <a:path h="7989697" w="7989697">
                  <a:moveTo>
                    <a:pt x="0" y="0"/>
                  </a:moveTo>
                  <a:lnTo>
                    <a:pt x="7989697" y="0"/>
                  </a:lnTo>
                  <a:lnTo>
                    <a:pt x="7989697" y="7989697"/>
                  </a:lnTo>
                  <a:lnTo>
                    <a:pt x="0" y="7989697"/>
                  </a:lnTo>
                  <a:lnTo>
                    <a:pt x="0" y="0"/>
                  </a:lnTo>
                  <a:close/>
                </a:path>
              </a:pathLst>
            </a:custGeom>
            <a:blipFill>
              <a:blip r:embed="rId8"/>
              <a:stretch>
                <a:fillRect l="0" t="0" r="0" b="0"/>
              </a:stretch>
            </a:blipFill>
          </p:spPr>
        </p:sp>
      </p:grpSp>
      <p:grpSp>
        <p:nvGrpSpPr>
          <p:cNvPr name="Group 16" id="16"/>
          <p:cNvGrpSpPr/>
          <p:nvPr/>
        </p:nvGrpSpPr>
        <p:grpSpPr>
          <a:xfrm rot="0">
            <a:off x="1003789" y="2310208"/>
            <a:ext cx="5648705" cy="5648705"/>
            <a:chOff x="0" y="0"/>
            <a:chExt cx="7531607" cy="7531607"/>
          </a:xfrm>
        </p:grpSpPr>
        <p:sp>
          <p:nvSpPr>
            <p:cNvPr name="Freeform 17" id="17"/>
            <p:cNvSpPr/>
            <p:nvPr/>
          </p:nvSpPr>
          <p:spPr>
            <a:xfrm flipH="false" flipV="false" rot="0">
              <a:off x="0" y="0"/>
              <a:ext cx="7531608" cy="7531608"/>
            </a:xfrm>
            <a:custGeom>
              <a:avLst/>
              <a:gdLst/>
              <a:ahLst/>
              <a:cxnLst/>
              <a:rect r="r" b="b" t="t" l="l"/>
              <a:pathLst>
                <a:path h="7531608" w="7531608">
                  <a:moveTo>
                    <a:pt x="3765804" y="0"/>
                  </a:moveTo>
                  <a:cubicBezTo>
                    <a:pt x="1686052" y="0"/>
                    <a:pt x="0" y="1686052"/>
                    <a:pt x="0" y="3765804"/>
                  </a:cubicBezTo>
                  <a:cubicBezTo>
                    <a:pt x="0" y="5845556"/>
                    <a:pt x="1686052" y="7531608"/>
                    <a:pt x="3765804" y="7531608"/>
                  </a:cubicBezTo>
                  <a:cubicBezTo>
                    <a:pt x="5845556" y="7531608"/>
                    <a:pt x="7531608" y="5845556"/>
                    <a:pt x="7531608" y="3765804"/>
                  </a:cubicBezTo>
                  <a:cubicBezTo>
                    <a:pt x="7531608" y="1686052"/>
                    <a:pt x="5845556" y="0"/>
                    <a:pt x="3765804" y="0"/>
                  </a:cubicBezTo>
                  <a:close/>
                </a:path>
              </a:pathLst>
            </a:custGeom>
            <a:blipFill>
              <a:blip r:embed="rId9"/>
              <a:stretch>
                <a:fillRect l="-25187" t="0" r="-25187" b="0"/>
              </a:stretch>
            </a:blipFill>
          </p:spPr>
        </p:sp>
      </p:grpSp>
      <p:sp>
        <p:nvSpPr>
          <p:cNvPr name="TextBox 18" id="18"/>
          <p:cNvSpPr txBox="true"/>
          <p:nvPr/>
        </p:nvSpPr>
        <p:spPr>
          <a:xfrm rot="0">
            <a:off x="8731010" y="4202507"/>
            <a:ext cx="8528290" cy="1695450"/>
          </a:xfrm>
          <a:prstGeom prst="rect">
            <a:avLst/>
          </a:prstGeom>
        </p:spPr>
        <p:txBody>
          <a:bodyPr anchor="t" rtlCol="false" tIns="0" lIns="0" bIns="0" rIns="0">
            <a:spAutoFit/>
          </a:bodyPr>
          <a:lstStyle/>
          <a:p>
            <a:pPr algn="ctr">
              <a:lnSpc>
                <a:spcPts val="7198"/>
              </a:lnSpc>
            </a:pPr>
            <a:r>
              <a:rPr lang="en-US" b="true" sz="4999" i="true">
                <a:solidFill>
                  <a:srgbClr val="1B4A9B"/>
                </a:solidFill>
                <a:latin typeface="Poppins Bold Italics"/>
                <a:ea typeface="Poppins Bold Italics"/>
                <a:cs typeface="Poppins Bold Italics"/>
                <a:sym typeface="Poppins Bold Italics"/>
              </a:rPr>
              <a:t>Tipos de Almacenamiento</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0">
            <a:off x="10087911" y="-4008763"/>
            <a:ext cx="4828984" cy="4820204"/>
            <a:chOff x="0" y="0"/>
            <a:chExt cx="6438645" cy="6426939"/>
          </a:xfrm>
        </p:grpSpPr>
        <p:sp>
          <p:nvSpPr>
            <p:cNvPr name="Freeform 7" id="7"/>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4">
                <a:alphaModFix amt="47000"/>
              </a:blip>
              <a:stretch>
                <a:fillRect l="-20" t="0" r="-20" b="0"/>
              </a:stretch>
            </a:blipFill>
          </p:spPr>
        </p:sp>
      </p:grpSp>
      <p:grpSp>
        <p:nvGrpSpPr>
          <p:cNvPr name="Group 8" id="8"/>
          <p:cNvGrpSpPr/>
          <p:nvPr/>
        </p:nvGrpSpPr>
        <p:grpSpPr>
          <a:xfrm rot="0">
            <a:off x="8926759" y="646468"/>
            <a:ext cx="8998026" cy="8998026"/>
            <a:chOff x="0" y="0"/>
            <a:chExt cx="11997368" cy="11997368"/>
          </a:xfrm>
        </p:grpSpPr>
        <p:sp>
          <p:nvSpPr>
            <p:cNvPr name="Freeform 9" id="9"/>
            <p:cNvSpPr/>
            <p:nvPr/>
          </p:nvSpPr>
          <p:spPr>
            <a:xfrm flipH="false" flipV="false" rot="0">
              <a:off x="0" y="0"/>
              <a:ext cx="11997309" cy="11997309"/>
            </a:xfrm>
            <a:custGeom>
              <a:avLst/>
              <a:gdLst/>
              <a:ahLst/>
              <a:cxnLst/>
              <a:rect r="r" b="b" t="t" l="l"/>
              <a:pathLst>
                <a:path h="11997309" w="11997309">
                  <a:moveTo>
                    <a:pt x="0" y="0"/>
                  </a:moveTo>
                  <a:lnTo>
                    <a:pt x="11997309" y="0"/>
                  </a:lnTo>
                  <a:lnTo>
                    <a:pt x="11997309" y="11997309"/>
                  </a:lnTo>
                  <a:lnTo>
                    <a:pt x="0" y="11997309"/>
                  </a:lnTo>
                  <a:lnTo>
                    <a:pt x="0" y="0"/>
                  </a:lnTo>
                  <a:close/>
                </a:path>
              </a:pathLst>
            </a:custGeom>
            <a:blipFill>
              <a:blip r:embed="rId5">
                <a:alphaModFix amt="12000"/>
              </a:blip>
              <a:stretch>
                <a:fillRect l="0" t="0" r="0" b="0"/>
              </a:stretch>
            </a:blipFill>
          </p:spPr>
        </p:sp>
      </p:grpSp>
      <p:grpSp>
        <p:nvGrpSpPr>
          <p:cNvPr name="Group 10" id="10"/>
          <p:cNvGrpSpPr/>
          <p:nvPr/>
        </p:nvGrpSpPr>
        <p:grpSpPr>
          <a:xfrm rot="0">
            <a:off x="9467671" y="1185398"/>
            <a:ext cx="7916204" cy="7916204"/>
            <a:chOff x="0" y="0"/>
            <a:chExt cx="10554939" cy="10554939"/>
          </a:xfrm>
        </p:grpSpPr>
        <p:sp>
          <p:nvSpPr>
            <p:cNvPr name="Freeform 11" id="11"/>
            <p:cNvSpPr/>
            <p:nvPr/>
          </p:nvSpPr>
          <p:spPr>
            <a:xfrm flipH="false" flipV="false" rot="0">
              <a:off x="0" y="0"/>
              <a:ext cx="10554970" cy="10554970"/>
            </a:xfrm>
            <a:custGeom>
              <a:avLst/>
              <a:gdLst/>
              <a:ahLst/>
              <a:cxnLst/>
              <a:rect r="r" b="b" t="t" l="l"/>
              <a:pathLst>
                <a:path h="10554970" w="10554970">
                  <a:moveTo>
                    <a:pt x="0" y="0"/>
                  </a:moveTo>
                  <a:lnTo>
                    <a:pt x="10554970" y="0"/>
                  </a:lnTo>
                  <a:lnTo>
                    <a:pt x="10554970" y="10554970"/>
                  </a:lnTo>
                  <a:lnTo>
                    <a:pt x="0" y="10554970"/>
                  </a:lnTo>
                  <a:lnTo>
                    <a:pt x="0" y="0"/>
                  </a:lnTo>
                  <a:close/>
                </a:path>
              </a:pathLst>
            </a:custGeom>
            <a:blipFill>
              <a:blip r:embed="rId6"/>
              <a:stretch>
                <a:fillRect l="0" t="0" r="0" b="0"/>
              </a:stretch>
            </a:blipFill>
          </p:spPr>
        </p:sp>
      </p:grpSp>
      <p:grpSp>
        <p:nvGrpSpPr>
          <p:cNvPr name="Group 12" id="12"/>
          <p:cNvGrpSpPr/>
          <p:nvPr/>
        </p:nvGrpSpPr>
        <p:grpSpPr>
          <a:xfrm rot="0">
            <a:off x="9641273" y="1355508"/>
            <a:ext cx="7550751" cy="7550751"/>
            <a:chOff x="0" y="0"/>
            <a:chExt cx="10067668" cy="10067668"/>
          </a:xfrm>
        </p:grpSpPr>
        <p:sp>
          <p:nvSpPr>
            <p:cNvPr name="Freeform 13" id="13"/>
            <p:cNvSpPr/>
            <p:nvPr/>
          </p:nvSpPr>
          <p:spPr>
            <a:xfrm flipH="false" flipV="false" rot="0">
              <a:off x="0" y="0"/>
              <a:ext cx="10067671" cy="10067671"/>
            </a:xfrm>
            <a:custGeom>
              <a:avLst/>
              <a:gdLst/>
              <a:ahLst/>
              <a:cxnLst/>
              <a:rect r="r" b="b" t="t" l="l"/>
              <a:pathLst>
                <a:path h="10067671" w="10067671">
                  <a:moveTo>
                    <a:pt x="5033772" y="0"/>
                  </a:moveTo>
                  <a:cubicBezTo>
                    <a:pt x="2253742" y="0"/>
                    <a:pt x="0" y="2253742"/>
                    <a:pt x="0" y="5033772"/>
                  </a:cubicBezTo>
                  <a:cubicBezTo>
                    <a:pt x="0" y="7813801"/>
                    <a:pt x="2253742" y="10067671"/>
                    <a:pt x="5033772" y="10067671"/>
                  </a:cubicBezTo>
                  <a:cubicBezTo>
                    <a:pt x="7813801" y="10067671"/>
                    <a:pt x="10067671" y="7813929"/>
                    <a:pt x="10067671" y="5033772"/>
                  </a:cubicBezTo>
                  <a:cubicBezTo>
                    <a:pt x="10067671" y="2253614"/>
                    <a:pt x="7813929" y="0"/>
                    <a:pt x="5033772" y="0"/>
                  </a:cubicBezTo>
                  <a:close/>
                </a:path>
              </a:pathLst>
            </a:custGeom>
            <a:blipFill>
              <a:blip r:embed="rId7"/>
              <a:stretch>
                <a:fillRect l="-4042" t="0" r="-79023" b="0"/>
              </a:stretch>
            </a:blipFill>
          </p:spPr>
        </p:sp>
      </p:grpSp>
      <p:grpSp>
        <p:nvGrpSpPr>
          <p:cNvPr name="Group 14" id="14"/>
          <p:cNvGrpSpPr/>
          <p:nvPr/>
        </p:nvGrpSpPr>
        <p:grpSpPr>
          <a:xfrm rot="9451627">
            <a:off x="-1152667" y="-1825469"/>
            <a:ext cx="5343238" cy="4041431"/>
            <a:chOff x="0" y="0"/>
            <a:chExt cx="7124318" cy="5388575"/>
          </a:xfrm>
        </p:grpSpPr>
        <p:sp>
          <p:nvSpPr>
            <p:cNvPr name="Freeform 15" id="15"/>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8"/>
              <a:stretch>
                <a:fillRect l="0" t="-108" r="0" b="-107"/>
              </a:stretch>
            </a:blipFill>
          </p:spPr>
        </p:sp>
      </p:grpSp>
      <p:grpSp>
        <p:nvGrpSpPr>
          <p:cNvPr name="Group 16" id="16"/>
          <p:cNvGrpSpPr/>
          <p:nvPr/>
        </p:nvGrpSpPr>
        <p:grpSpPr>
          <a:xfrm rot="0">
            <a:off x="-1421876" y="-3678699"/>
            <a:ext cx="5285098" cy="5256271"/>
            <a:chOff x="0" y="0"/>
            <a:chExt cx="7046798" cy="7008361"/>
          </a:xfrm>
        </p:grpSpPr>
        <p:sp>
          <p:nvSpPr>
            <p:cNvPr name="Freeform 17" id="17"/>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9"/>
              <a:stretch>
                <a:fillRect l="0" t="-80" r="0" b="-80"/>
              </a:stretch>
            </a:blipFill>
          </p:spPr>
        </p:sp>
      </p:grpSp>
      <p:sp>
        <p:nvSpPr>
          <p:cNvPr name="TextBox 18" id="18"/>
          <p:cNvSpPr txBox="true"/>
          <p:nvPr/>
        </p:nvSpPr>
        <p:spPr>
          <a:xfrm rot="0">
            <a:off x="1028700" y="1893464"/>
            <a:ext cx="6471258"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Historia</a:t>
            </a:r>
          </a:p>
        </p:txBody>
      </p:sp>
      <p:sp>
        <p:nvSpPr>
          <p:cNvPr name="TextBox 19" id="19"/>
          <p:cNvSpPr txBox="true"/>
          <p:nvPr/>
        </p:nvSpPr>
        <p:spPr>
          <a:xfrm rot="0">
            <a:off x="1116036" y="3205465"/>
            <a:ext cx="6296585" cy="5058684"/>
          </a:xfrm>
          <a:prstGeom prst="rect">
            <a:avLst/>
          </a:prstGeom>
        </p:spPr>
        <p:txBody>
          <a:bodyPr anchor="t" rtlCol="false" tIns="0" lIns="0" bIns="0" rIns="0">
            <a:spAutoFit/>
          </a:bodyPr>
          <a:lstStyle/>
          <a:p>
            <a:pPr algn="just" marL="617098" indent="-205699" lvl="2">
              <a:lnSpc>
                <a:spcPts val="3821"/>
              </a:lnSpc>
              <a:buFont typeface="Arial"/>
              <a:buChar char="⚬"/>
            </a:pPr>
            <a:r>
              <a:rPr lang="en-US" sz="2699">
                <a:solidFill>
                  <a:srgbClr val="737373"/>
                </a:solidFill>
                <a:latin typeface="Poppins"/>
                <a:ea typeface="Poppins"/>
                <a:cs typeface="Poppins"/>
                <a:sym typeface="Poppins"/>
              </a:rPr>
              <a:t>Las </a:t>
            </a:r>
            <a:r>
              <a:rPr lang="en-US" b="true" sz="2699">
                <a:solidFill>
                  <a:srgbClr val="737373"/>
                </a:solidFill>
                <a:latin typeface="Poppins Bold"/>
                <a:ea typeface="Poppins Bold"/>
                <a:cs typeface="Poppins Bold"/>
                <a:sym typeface="Poppins Bold"/>
              </a:rPr>
              <a:t>tarjetas perforadas</a:t>
            </a:r>
            <a:r>
              <a:rPr lang="en-US" sz="2699">
                <a:solidFill>
                  <a:srgbClr val="737373"/>
                </a:solidFill>
                <a:latin typeface="Poppins"/>
                <a:ea typeface="Poppins"/>
                <a:cs typeface="Poppins"/>
                <a:sym typeface="Poppins"/>
              </a:rPr>
              <a:t> fueron los primeros dispositivos de almacenamiento.</a:t>
            </a:r>
          </a:p>
          <a:p>
            <a:pPr algn="just" marL="320095" indent="-106698" lvl="2">
              <a:lnSpc>
                <a:spcPts val="1982"/>
              </a:lnSpc>
            </a:pPr>
          </a:p>
          <a:p>
            <a:pPr algn="just" marL="617098" indent="-205699" lvl="2">
              <a:lnSpc>
                <a:spcPts val="3821"/>
              </a:lnSpc>
              <a:buFont typeface="Arial"/>
              <a:buChar char="⚬"/>
            </a:pPr>
            <a:r>
              <a:rPr lang="en-US" sz="2699">
                <a:solidFill>
                  <a:srgbClr val="737373"/>
                </a:solidFill>
                <a:latin typeface="Poppins"/>
                <a:ea typeface="Poppins"/>
                <a:cs typeface="Poppins"/>
                <a:sym typeface="Poppins"/>
              </a:rPr>
              <a:t>Fritz Pfleumer, en ingeniero alemán, patentó la cinta magnética en 1928.</a:t>
            </a:r>
          </a:p>
          <a:p>
            <a:pPr algn="just" marL="320095" indent="-106698" lvl="2">
              <a:lnSpc>
                <a:spcPts val="1982"/>
              </a:lnSpc>
            </a:pPr>
          </a:p>
          <a:p>
            <a:pPr algn="just" marL="617098" indent="-205699" lvl="2">
              <a:lnSpc>
                <a:spcPts val="3821"/>
              </a:lnSpc>
              <a:buFont typeface="Arial"/>
              <a:buChar char="⚬"/>
            </a:pPr>
            <a:r>
              <a:rPr lang="en-US" sz="2699">
                <a:solidFill>
                  <a:srgbClr val="737373"/>
                </a:solidFill>
                <a:latin typeface="Poppins"/>
                <a:ea typeface="Poppins"/>
                <a:cs typeface="Poppins"/>
                <a:sym typeface="Poppins"/>
              </a:rPr>
              <a:t>El profesor Fredrick C. Williams junto con Tom Kilburn, desarrollaron el tubo de Williams</a:t>
            </a:r>
          </a:p>
          <a:p>
            <a:pPr algn="just" marL="320095" indent="-106698" lvl="2">
              <a:lnSpc>
                <a:spcPts val="1982"/>
              </a:lnSpc>
            </a:pP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237581" y="2396877"/>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2829315" y="3244668"/>
            <a:ext cx="12613570" cy="5095875"/>
          </a:xfrm>
          <a:prstGeom prst="rect">
            <a:avLst/>
          </a:prstGeom>
        </p:spPr>
        <p:txBody>
          <a:bodyPr anchor="t" rtlCol="false" tIns="0" lIns="0" bIns="0" rIns="0">
            <a:spAutoFit/>
          </a:bodyPr>
          <a:lstStyle/>
          <a:p>
            <a:pPr algn="just">
              <a:lnSpc>
                <a:spcPts val="4680"/>
              </a:lnSpc>
            </a:pPr>
            <a:r>
              <a:rPr lang="en-US" sz="3000">
                <a:solidFill>
                  <a:srgbClr val="737373"/>
                </a:solidFill>
                <a:latin typeface="Poppins"/>
                <a:ea typeface="Poppins"/>
                <a:cs typeface="Poppins"/>
                <a:sym typeface="Poppins"/>
              </a:rPr>
              <a:t>Esta es una de las funcionalidades básica de cualquier computadora o dispositivo cuya funcionalidad sea la manipulación de información.</a:t>
            </a:r>
          </a:p>
          <a:p>
            <a:pPr algn="just">
              <a:lnSpc>
                <a:spcPts val="2183"/>
              </a:lnSpc>
            </a:pPr>
          </a:p>
          <a:p>
            <a:pPr algn="just">
              <a:lnSpc>
                <a:spcPts val="4680"/>
              </a:lnSpc>
            </a:pPr>
            <a:r>
              <a:rPr lang="en-US" sz="3000">
                <a:solidFill>
                  <a:srgbClr val="737373"/>
                </a:solidFill>
                <a:latin typeface="Poppins"/>
                <a:ea typeface="Poppins"/>
                <a:cs typeface="Poppins"/>
                <a:sym typeface="Poppins"/>
              </a:rPr>
              <a:t>El almacenamiento de información en todo este tipo de dispositivos se puede clasificar en 2 tipos los cuales son:</a:t>
            </a:r>
          </a:p>
          <a:p>
            <a:pPr algn="just">
              <a:lnSpc>
                <a:spcPts val="2183"/>
              </a:lnSpc>
            </a:pPr>
          </a:p>
          <a:p>
            <a:pPr algn="just" marL="685800" indent="-228600" lvl="2">
              <a:lnSpc>
                <a:spcPts val="4680"/>
              </a:lnSpc>
              <a:buFont typeface="Arial"/>
              <a:buChar char="⚬"/>
            </a:pPr>
            <a:r>
              <a:rPr lang="en-US" sz="3000">
                <a:solidFill>
                  <a:srgbClr val="737373"/>
                </a:solidFill>
                <a:latin typeface="Poppins"/>
                <a:ea typeface="Poppins"/>
                <a:cs typeface="Poppins"/>
                <a:sym typeface="Poppins"/>
              </a:rPr>
              <a:t>Almacenamiento Primario </a:t>
            </a:r>
          </a:p>
          <a:p>
            <a:pPr algn="just" marL="685800" indent="-228600" lvl="2">
              <a:lnSpc>
                <a:spcPts val="4680"/>
              </a:lnSpc>
              <a:buFont typeface="Arial"/>
              <a:buChar char="⚬"/>
            </a:pPr>
            <a:r>
              <a:rPr lang="en-US" sz="3000">
                <a:solidFill>
                  <a:srgbClr val="737373"/>
                </a:solidFill>
                <a:latin typeface="Poppins"/>
                <a:ea typeface="Poppins"/>
                <a:cs typeface="Poppins"/>
                <a:sym typeface="Poppins"/>
              </a:rPr>
              <a:t>Almacenamiento Secundario </a:t>
            </a:r>
          </a:p>
          <a:p>
            <a:pPr algn="just" marL="320040" indent="-106680" lvl="2">
              <a:lnSpc>
                <a:spcPts val="2183"/>
              </a:lnSpc>
            </a:pPr>
          </a:p>
        </p:txBody>
      </p:sp>
      <p:grpSp>
        <p:nvGrpSpPr>
          <p:cNvPr name="Group 13" id="13"/>
          <p:cNvGrpSpPr/>
          <p:nvPr/>
        </p:nvGrpSpPr>
        <p:grpSpPr>
          <a:xfrm rot="0">
            <a:off x="14916895" y="5883093"/>
            <a:ext cx="3143707" cy="4114800"/>
            <a:chOff x="0" y="0"/>
            <a:chExt cx="4191609" cy="5486400"/>
          </a:xfrm>
        </p:grpSpPr>
        <p:sp>
          <p:nvSpPr>
            <p:cNvPr name="Freeform 14" id="14"/>
            <p:cNvSpPr/>
            <p:nvPr/>
          </p:nvSpPr>
          <p:spPr>
            <a:xfrm flipH="false" flipV="false" rot="0">
              <a:off x="0" y="0"/>
              <a:ext cx="4191635" cy="5486400"/>
            </a:xfrm>
            <a:custGeom>
              <a:avLst/>
              <a:gdLst/>
              <a:ahLst/>
              <a:cxnLst/>
              <a:rect r="r" b="b" t="t" l="l"/>
              <a:pathLst>
                <a:path h="5486400" w="4191635">
                  <a:moveTo>
                    <a:pt x="0" y="0"/>
                  </a:moveTo>
                  <a:lnTo>
                    <a:pt x="4191635" y="0"/>
                  </a:lnTo>
                  <a:lnTo>
                    <a:pt x="4191635" y="5486400"/>
                  </a:lnTo>
                  <a:lnTo>
                    <a:pt x="0" y="5486400"/>
                  </a:lnTo>
                  <a:lnTo>
                    <a:pt x="0" y="0"/>
                  </a:lnTo>
                  <a:close/>
                </a:path>
              </a:pathLst>
            </a:custGeom>
            <a:blipFill>
              <a:blip r:embed="rId7"/>
              <a:stretch>
                <a:fillRect l="0" t="0" r="0" b="0"/>
              </a:stretch>
            </a:blipFill>
          </p:spPr>
        </p:sp>
      </p:grpSp>
      <p:sp>
        <p:nvSpPr>
          <p:cNvPr name="TextBox 15" id="15"/>
          <p:cNvSpPr txBox="true"/>
          <p:nvPr/>
        </p:nvSpPr>
        <p:spPr>
          <a:xfrm rot="0">
            <a:off x="3686177" y="1539739"/>
            <a:ext cx="10915646"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Almacenamiento de Información</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3451366" y="1618577"/>
            <a:ext cx="10915646"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Almacenamiento Primario</a:t>
            </a:r>
          </a:p>
        </p:txBody>
      </p:sp>
      <p:sp>
        <p:nvSpPr>
          <p:cNvPr name="TextBox 13" id="13"/>
          <p:cNvSpPr txBox="true"/>
          <p:nvPr/>
        </p:nvSpPr>
        <p:spPr>
          <a:xfrm rot="0">
            <a:off x="2394032" y="3187713"/>
            <a:ext cx="13030200" cy="5988225"/>
          </a:xfrm>
          <a:prstGeom prst="rect">
            <a:avLst/>
          </a:prstGeom>
        </p:spPr>
        <p:txBody>
          <a:bodyPr anchor="t" rtlCol="false" tIns="0" lIns="0" bIns="0" rIns="0">
            <a:spAutoFit/>
          </a:bodyPr>
          <a:lstStyle/>
          <a:p>
            <a:pPr algn="just">
              <a:lnSpc>
                <a:spcPts val="4680"/>
              </a:lnSpc>
            </a:pPr>
            <a:r>
              <a:rPr lang="en-US" sz="3000">
                <a:solidFill>
                  <a:srgbClr val="737373"/>
                </a:solidFill>
                <a:latin typeface="Poppins"/>
                <a:ea typeface="Poppins"/>
                <a:cs typeface="Poppins"/>
                <a:sym typeface="Poppins"/>
              </a:rPr>
              <a:t>Tal y como su nombre lo indica este es </a:t>
            </a:r>
            <a:r>
              <a:rPr lang="en-US" b="true" sz="3000">
                <a:solidFill>
                  <a:srgbClr val="737373"/>
                </a:solidFill>
                <a:latin typeface="Poppins Bold"/>
                <a:ea typeface="Poppins Bold"/>
                <a:cs typeface="Poppins Bold"/>
                <a:sym typeface="Poppins Bold"/>
              </a:rPr>
              <a:t>almacenamiento principal</a:t>
            </a:r>
            <a:r>
              <a:rPr lang="en-US" sz="3000">
                <a:solidFill>
                  <a:srgbClr val="737373"/>
                </a:solidFill>
                <a:latin typeface="Poppins"/>
                <a:ea typeface="Poppins"/>
                <a:cs typeface="Poppins"/>
                <a:sym typeface="Poppins"/>
              </a:rPr>
              <a:t> que utiliza el sistema para llevar a cabo su funcionamiento.</a:t>
            </a:r>
          </a:p>
          <a:p>
            <a:pPr algn="just">
              <a:lnSpc>
                <a:spcPts val="2183"/>
              </a:lnSpc>
            </a:pPr>
          </a:p>
          <a:p>
            <a:pPr algn="just">
              <a:lnSpc>
                <a:spcPts val="4680"/>
              </a:lnSpc>
            </a:pPr>
            <a:r>
              <a:rPr lang="en-US" sz="3000">
                <a:solidFill>
                  <a:srgbClr val="737373"/>
                </a:solidFill>
                <a:latin typeface="Poppins"/>
                <a:ea typeface="Poppins"/>
                <a:cs typeface="Poppins"/>
                <a:sym typeface="Poppins"/>
              </a:rPr>
              <a:t>Este tipo de dispositivos se caracterizan que todos los datos almacenados son volátiles sin embargo la velocidad de escritura y lectura es muy alta. </a:t>
            </a:r>
          </a:p>
          <a:p>
            <a:pPr algn="just">
              <a:lnSpc>
                <a:spcPts val="2183"/>
              </a:lnSpc>
            </a:pPr>
          </a:p>
          <a:p>
            <a:pPr algn="just">
              <a:lnSpc>
                <a:spcPts val="4680"/>
              </a:lnSpc>
            </a:pPr>
            <a:r>
              <a:rPr lang="en-US" sz="3000">
                <a:solidFill>
                  <a:srgbClr val="737373"/>
                </a:solidFill>
                <a:latin typeface="Poppins"/>
                <a:ea typeface="Poppins"/>
                <a:cs typeface="Poppins"/>
                <a:sym typeface="Poppins"/>
              </a:rPr>
              <a:t>La volatilidad nos indica que solo estará presente mientras el dispositivo cuente con una fuente de electricidad que lo alimente</a:t>
            </a:r>
          </a:p>
          <a:p>
            <a:pPr algn="just">
              <a:lnSpc>
                <a:spcPts val="2183"/>
              </a:lnSpc>
            </a:pP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grpSp>
        <p:nvGrpSpPr>
          <p:cNvPr name="Group 12" id="12"/>
          <p:cNvGrpSpPr/>
          <p:nvPr/>
        </p:nvGrpSpPr>
        <p:grpSpPr>
          <a:xfrm rot="0">
            <a:off x="11777923" y="6374488"/>
            <a:ext cx="6101621" cy="3432162"/>
            <a:chOff x="0" y="0"/>
            <a:chExt cx="8135495" cy="4576216"/>
          </a:xfrm>
        </p:grpSpPr>
        <p:sp>
          <p:nvSpPr>
            <p:cNvPr name="Freeform 13" id="13"/>
            <p:cNvSpPr/>
            <p:nvPr/>
          </p:nvSpPr>
          <p:spPr>
            <a:xfrm flipH="false" flipV="false" rot="0">
              <a:off x="0" y="0"/>
              <a:ext cx="8135493" cy="4576191"/>
            </a:xfrm>
            <a:custGeom>
              <a:avLst/>
              <a:gdLst/>
              <a:ahLst/>
              <a:cxnLst/>
              <a:rect r="r" b="b" t="t" l="l"/>
              <a:pathLst>
                <a:path h="4576191" w="8135493">
                  <a:moveTo>
                    <a:pt x="0" y="0"/>
                  </a:moveTo>
                  <a:lnTo>
                    <a:pt x="8135493" y="0"/>
                  </a:lnTo>
                  <a:lnTo>
                    <a:pt x="8135493" y="4576191"/>
                  </a:lnTo>
                  <a:lnTo>
                    <a:pt x="0" y="4576191"/>
                  </a:lnTo>
                  <a:lnTo>
                    <a:pt x="0" y="0"/>
                  </a:lnTo>
                  <a:close/>
                </a:path>
              </a:pathLst>
            </a:custGeom>
            <a:blipFill>
              <a:blip r:embed="rId7"/>
              <a:stretch>
                <a:fillRect l="0" t="-58" r="0" b="-59"/>
              </a:stretch>
            </a:blipFill>
          </p:spPr>
        </p:sp>
      </p:grpSp>
      <p:sp>
        <p:nvSpPr>
          <p:cNvPr name="TextBox 14" id="14"/>
          <p:cNvSpPr txBox="true"/>
          <p:nvPr/>
        </p:nvSpPr>
        <p:spPr>
          <a:xfrm rot="0">
            <a:off x="3443466" y="2692397"/>
            <a:ext cx="11385267" cy="4600575"/>
          </a:xfrm>
          <a:prstGeom prst="rect">
            <a:avLst/>
          </a:prstGeom>
        </p:spPr>
        <p:txBody>
          <a:bodyPr anchor="t" rtlCol="false" tIns="0" lIns="0" bIns="0" rIns="0">
            <a:spAutoFit/>
          </a:bodyPr>
          <a:lstStyle/>
          <a:p>
            <a:pPr algn="just">
              <a:lnSpc>
                <a:spcPts val="4680"/>
              </a:lnSpc>
            </a:pPr>
            <a:r>
              <a:rPr lang="en-US" sz="3000">
                <a:solidFill>
                  <a:srgbClr val="737373"/>
                </a:solidFill>
                <a:latin typeface="Poppins"/>
                <a:ea typeface="Poppins"/>
                <a:cs typeface="Poppins"/>
                <a:sym typeface="Poppins"/>
              </a:rPr>
              <a:t>Su principal función es almacenar toda aquella información de importancia para el sistema, de esta manera reducir los accesos al almacenamiento secundario lo cual ralentizaría los procesos.</a:t>
            </a:r>
          </a:p>
          <a:p>
            <a:pPr algn="just">
              <a:lnSpc>
                <a:spcPts val="2183"/>
              </a:lnSpc>
            </a:pPr>
          </a:p>
          <a:p>
            <a:pPr algn="just">
              <a:lnSpc>
                <a:spcPts val="4680"/>
              </a:lnSpc>
            </a:pPr>
            <a:r>
              <a:rPr lang="en-US" sz="3000">
                <a:solidFill>
                  <a:srgbClr val="737373"/>
                </a:solidFill>
                <a:latin typeface="Poppins"/>
                <a:ea typeface="Poppins"/>
                <a:cs typeface="Poppins"/>
                <a:sym typeface="Poppins"/>
              </a:rPr>
              <a:t>Ejemplo:</a:t>
            </a:r>
          </a:p>
          <a:p>
            <a:pPr algn="just" marL="685800" indent="-228600" lvl="2">
              <a:lnSpc>
                <a:spcPts val="4680"/>
              </a:lnSpc>
              <a:buFont typeface="Arial"/>
              <a:buChar char="⚬"/>
            </a:pPr>
            <a:r>
              <a:rPr lang="en-US" sz="3000">
                <a:solidFill>
                  <a:srgbClr val="737373"/>
                </a:solidFill>
                <a:latin typeface="Poppins"/>
                <a:ea typeface="Poppins"/>
                <a:cs typeface="Poppins"/>
                <a:sym typeface="Poppins"/>
              </a:rPr>
              <a:t>RAM</a:t>
            </a:r>
          </a:p>
          <a:p>
            <a:pPr algn="just" marL="685800" indent="-228600" lvl="2">
              <a:lnSpc>
                <a:spcPts val="4680"/>
              </a:lnSpc>
              <a:buFont typeface="Arial"/>
              <a:buChar char="⚬"/>
            </a:pPr>
            <a:r>
              <a:rPr lang="en-US" sz="3000">
                <a:solidFill>
                  <a:srgbClr val="737373"/>
                </a:solidFill>
                <a:latin typeface="Poppins"/>
                <a:ea typeface="Poppins"/>
                <a:cs typeface="Poppins"/>
                <a:sym typeface="Poppins"/>
              </a:rPr>
              <a:t>ROM</a:t>
            </a:r>
          </a:p>
          <a:p>
            <a:pPr algn="just" marL="685800" indent="-228600" lvl="2">
              <a:lnSpc>
                <a:spcPts val="4680"/>
              </a:lnSpc>
              <a:buFont typeface="Arial"/>
              <a:buChar char="⚬"/>
            </a:pPr>
            <a:r>
              <a:rPr lang="en-US" sz="3000">
                <a:solidFill>
                  <a:srgbClr val="737373"/>
                </a:solidFill>
                <a:latin typeface="Poppins"/>
                <a:ea typeface="Poppins"/>
                <a:cs typeface="Poppins"/>
                <a:sym typeface="Poppins"/>
              </a:rPr>
              <a:t>Memoria Cache</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581" y="-184968"/>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3747388" y="2912589"/>
            <a:ext cx="10915646" cy="1371600"/>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Almacenamiento Primario </a:t>
            </a:r>
          </a:p>
          <a:p>
            <a:pPr algn="ctr">
              <a:lnSpc>
                <a:spcPts val="5758"/>
              </a:lnSpc>
            </a:pPr>
            <a:r>
              <a:rPr lang="en-US" b="true" sz="3999" i="true">
                <a:solidFill>
                  <a:srgbClr val="1B4A9B"/>
                </a:solidFill>
                <a:latin typeface="Poppins Bold Italics"/>
                <a:ea typeface="Poppins Bold Italics"/>
                <a:cs typeface="Poppins Bold Italics"/>
                <a:sym typeface="Poppins Bold Italics"/>
              </a:rPr>
              <a:t>RAM</a:t>
            </a:r>
          </a:p>
        </p:txBody>
      </p:sp>
      <p:sp>
        <p:nvSpPr>
          <p:cNvPr name="TextBox 13" id="13"/>
          <p:cNvSpPr txBox="true"/>
          <p:nvPr/>
        </p:nvSpPr>
        <p:spPr>
          <a:xfrm rot="0">
            <a:off x="2727545" y="5203720"/>
            <a:ext cx="12832910" cy="2619375"/>
          </a:xfrm>
          <a:prstGeom prst="rect">
            <a:avLst/>
          </a:prstGeom>
        </p:spPr>
        <p:txBody>
          <a:bodyPr anchor="t" rtlCol="false" tIns="0" lIns="0" bIns="0" rIns="0">
            <a:spAutoFit/>
          </a:bodyPr>
          <a:lstStyle/>
          <a:p>
            <a:pPr algn="just">
              <a:lnSpc>
                <a:spcPts val="4680"/>
              </a:lnSpc>
            </a:pPr>
            <a:r>
              <a:rPr lang="en-US" sz="3000">
                <a:solidFill>
                  <a:srgbClr val="737373"/>
                </a:solidFill>
                <a:latin typeface="Poppins"/>
                <a:ea typeface="Poppins"/>
                <a:cs typeface="Poppins"/>
                <a:sym typeface="Poppins"/>
              </a:rPr>
              <a:t>Este dispositivo es donde se almacenan de forma temporal los datos de los programas que estás utilizando en este momento.</a:t>
            </a:r>
          </a:p>
          <a:p>
            <a:pPr algn="just">
              <a:lnSpc>
                <a:spcPts val="2183"/>
              </a:lnSpc>
            </a:pPr>
          </a:p>
          <a:p>
            <a:pPr algn="just">
              <a:lnSpc>
                <a:spcPts val="4680"/>
              </a:lnSpc>
            </a:pPr>
            <a:r>
              <a:rPr lang="en-US" sz="3000">
                <a:solidFill>
                  <a:srgbClr val="737373"/>
                </a:solidFill>
                <a:latin typeface="Poppins"/>
                <a:ea typeface="Poppins"/>
                <a:cs typeface="Poppins"/>
                <a:sym typeface="Poppins"/>
              </a:rPr>
              <a:t>La memoria RAM se puede encontrar en casi cualquier dispositivo, desde ordenadores de sobremesa hasta teléfonos móviles. </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3443466" y="2692397"/>
            <a:ext cx="11385267" cy="4105275"/>
          </a:xfrm>
          <a:prstGeom prst="rect">
            <a:avLst/>
          </a:prstGeom>
        </p:spPr>
        <p:txBody>
          <a:bodyPr anchor="t" rtlCol="false" tIns="0" lIns="0" bIns="0" rIns="0">
            <a:spAutoFit/>
          </a:bodyPr>
          <a:lstStyle/>
          <a:p>
            <a:pPr algn="just">
              <a:lnSpc>
                <a:spcPts val="4680"/>
              </a:lnSpc>
            </a:pPr>
            <a:r>
              <a:rPr lang="en-US" sz="3000">
                <a:solidFill>
                  <a:srgbClr val="737373"/>
                </a:solidFill>
                <a:latin typeface="Poppins"/>
                <a:ea typeface="Poppins"/>
                <a:cs typeface="Poppins"/>
                <a:sym typeface="Poppins"/>
              </a:rPr>
              <a:t>Algunas de sus principales características que la diferencian del resto de tipos de almacenamiento. Por una parte tiene una </a:t>
            </a:r>
            <a:r>
              <a:rPr lang="en-US" b="true" sz="3000">
                <a:solidFill>
                  <a:srgbClr val="737373"/>
                </a:solidFill>
                <a:latin typeface="Poppins Bold"/>
                <a:ea typeface="Poppins Bold"/>
                <a:cs typeface="Poppins Bold"/>
                <a:sym typeface="Poppins Bold"/>
              </a:rPr>
              <a:t>enorme velocidad</a:t>
            </a:r>
            <a:r>
              <a:rPr lang="en-US" sz="3000">
                <a:solidFill>
                  <a:srgbClr val="737373"/>
                </a:solidFill>
                <a:latin typeface="Poppins"/>
                <a:ea typeface="Poppins"/>
                <a:cs typeface="Poppins"/>
                <a:sym typeface="Poppins"/>
              </a:rPr>
              <a:t>, y por otra los datos sólo se </a:t>
            </a:r>
            <a:r>
              <a:rPr lang="en-US" b="true" sz="3000">
                <a:solidFill>
                  <a:srgbClr val="737373"/>
                </a:solidFill>
                <a:latin typeface="Poppins Bold"/>
                <a:ea typeface="Poppins Bold"/>
                <a:cs typeface="Poppins Bold"/>
                <a:sym typeface="Poppins Bold"/>
              </a:rPr>
              <a:t>almacenan de forma temporal</a:t>
            </a:r>
            <a:r>
              <a:rPr lang="en-US" sz="3000">
                <a:solidFill>
                  <a:srgbClr val="737373"/>
                </a:solidFill>
                <a:latin typeface="Poppins"/>
                <a:ea typeface="Poppins"/>
                <a:cs typeface="Poppins"/>
                <a:sym typeface="Poppins"/>
              </a:rPr>
              <a:t>. </a:t>
            </a:r>
          </a:p>
          <a:p>
            <a:pPr algn="just">
              <a:lnSpc>
                <a:spcPts val="2183"/>
              </a:lnSpc>
            </a:pPr>
          </a:p>
          <a:p>
            <a:pPr algn="just">
              <a:lnSpc>
                <a:spcPts val="4680"/>
              </a:lnSpc>
            </a:pPr>
            <a:r>
              <a:rPr lang="en-US" sz="3000">
                <a:solidFill>
                  <a:srgbClr val="737373"/>
                </a:solidFill>
                <a:latin typeface="Poppins"/>
                <a:ea typeface="Poppins"/>
                <a:cs typeface="Poppins"/>
                <a:sym typeface="Poppins"/>
              </a:rPr>
              <a:t>Esto quiere decir que cada vez que reinicies o apagues tu ordenador, lo normal es que los datos que haya almacenados en la RAM se pierdan</a:t>
            </a:r>
          </a:p>
        </p:txBody>
      </p:sp>
      <p:grpSp>
        <p:nvGrpSpPr>
          <p:cNvPr name="Group 13" id="13"/>
          <p:cNvGrpSpPr/>
          <p:nvPr/>
        </p:nvGrpSpPr>
        <p:grpSpPr>
          <a:xfrm rot="0">
            <a:off x="13388021" y="6950677"/>
            <a:ext cx="4618165" cy="2990262"/>
            <a:chOff x="0" y="0"/>
            <a:chExt cx="6157553" cy="3987016"/>
          </a:xfrm>
        </p:grpSpPr>
        <p:sp>
          <p:nvSpPr>
            <p:cNvPr name="Freeform 14" id="14"/>
            <p:cNvSpPr/>
            <p:nvPr/>
          </p:nvSpPr>
          <p:spPr>
            <a:xfrm flipH="false" flipV="false" rot="0">
              <a:off x="0" y="0"/>
              <a:ext cx="6157595" cy="3987038"/>
            </a:xfrm>
            <a:custGeom>
              <a:avLst/>
              <a:gdLst/>
              <a:ahLst/>
              <a:cxnLst/>
              <a:rect r="r" b="b" t="t" l="l"/>
              <a:pathLst>
                <a:path h="3987038" w="6157595">
                  <a:moveTo>
                    <a:pt x="0" y="0"/>
                  </a:moveTo>
                  <a:lnTo>
                    <a:pt x="6157595" y="0"/>
                  </a:lnTo>
                  <a:lnTo>
                    <a:pt x="6157595" y="3987038"/>
                  </a:lnTo>
                  <a:lnTo>
                    <a:pt x="0" y="3987038"/>
                  </a:lnTo>
                  <a:lnTo>
                    <a:pt x="0" y="0"/>
                  </a:lnTo>
                  <a:close/>
                </a:path>
              </a:pathLst>
            </a:custGeom>
            <a:blipFill>
              <a:blip r:embed="rId7"/>
              <a:stretch>
                <a:fillRect l="0" t="-38" r="0" b="-38"/>
              </a:stretch>
            </a:blipFill>
          </p:spPr>
        </p:sp>
      </p:gr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2531" y="-184968"/>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3525164" y="1899461"/>
            <a:ext cx="10915646" cy="1371600"/>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Almacenamiento Primario </a:t>
            </a:r>
          </a:p>
          <a:p>
            <a:pPr algn="ctr">
              <a:lnSpc>
                <a:spcPts val="5758"/>
              </a:lnSpc>
            </a:pPr>
            <a:r>
              <a:rPr lang="en-US" b="true" sz="3999" i="true">
                <a:solidFill>
                  <a:srgbClr val="1B4A9B"/>
                </a:solidFill>
                <a:latin typeface="Poppins Bold Italics"/>
                <a:ea typeface="Poppins Bold Italics"/>
                <a:cs typeface="Poppins Bold Italics"/>
                <a:sym typeface="Poppins Bold Italics"/>
              </a:rPr>
              <a:t>Memorias Caché</a:t>
            </a:r>
          </a:p>
        </p:txBody>
      </p:sp>
      <p:sp>
        <p:nvSpPr>
          <p:cNvPr name="TextBox 13" id="13"/>
          <p:cNvSpPr txBox="true"/>
          <p:nvPr/>
        </p:nvSpPr>
        <p:spPr>
          <a:xfrm rot="0">
            <a:off x="2391061" y="3927066"/>
            <a:ext cx="13183853" cy="2124075"/>
          </a:xfrm>
          <a:prstGeom prst="rect">
            <a:avLst/>
          </a:prstGeom>
        </p:spPr>
        <p:txBody>
          <a:bodyPr anchor="t" rtlCol="false" tIns="0" lIns="0" bIns="0" rIns="0">
            <a:spAutoFit/>
          </a:bodyPr>
          <a:lstStyle/>
          <a:p>
            <a:pPr algn="just">
              <a:lnSpc>
                <a:spcPts val="4680"/>
              </a:lnSpc>
            </a:pPr>
            <a:r>
              <a:rPr lang="en-US" sz="3000">
                <a:solidFill>
                  <a:srgbClr val="737373"/>
                </a:solidFill>
                <a:latin typeface="Poppins"/>
                <a:ea typeface="Poppins"/>
                <a:cs typeface="Poppins"/>
                <a:sym typeface="Poppins"/>
              </a:rPr>
              <a:t>Estos son pequeños dispositivos cuya función es almacenar temporalmente datos </a:t>
            </a:r>
            <a:r>
              <a:rPr lang="en-US" b="true" sz="3000">
                <a:solidFill>
                  <a:srgbClr val="737373"/>
                </a:solidFill>
                <a:latin typeface="Poppins Bold"/>
                <a:ea typeface="Poppins Bold"/>
                <a:cs typeface="Poppins Bold"/>
                <a:sym typeface="Poppins Bold"/>
              </a:rPr>
              <a:t>recientemente procesados</a:t>
            </a:r>
            <a:r>
              <a:rPr lang="en-US" sz="3000">
                <a:solidFill>
                  <a:srgbClr val="737373"/>
                </a:solidFill>
                <a:latin typeface="Poppins"/>
                <a:ea typeface="Poppins"/>
                <a:cs typeface="Poppins"/>
                <a:sym typeface="Poppins"/>
              </a:rPr>
              <a:t> en una memoria auxiliar. También son conocidos como memoria estática de acceso aleatorio SRAM son muy veloces, suelen ubicarse cerca del CPU.</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grpSp>
        <p:nvGrpSpPr>
          <p:cNvPr name="Group 12" id="12"/>
          <p:cNvGrpSpPr/>
          <p:nvPr/>
        </p:nvGrpSpPr>
        <p:grpSpPr>
          <a:xfrm rot="0">
            <a:off x="12867333" y="6596274"/>
            <a:ext cx="5031824" cy="3354550"/>
            <a:chOff x="0" y="0"/>
            <a:chExt cx="6709099" cy="4472733"/>
          </a:xfrm>
        </p:grpSpPr>
        <p:sp>
          <p:nvSpPr>
            <p:cNvPr name="Freeform 13" id="13"/>
            <p:cNvSpPr/>
            <p:nvPr/>
          </p:nvSpPr>
          <p:spPr>
            <a:xfrm flipH="false" flipV="false" rot="0">
              <a:off x="0" y="0"/>
              <a:ext cx="6709156" cy="4472686"/>
            </a:xfrm>
            <a:custGeom>
              <a:avLst/>
              <a:gdLst/>
              <a:ahLst/>
              <a:cxnLst/>
              <a:rect r="r" b="b" t="t" l="l"/>
              <a:pathLst>
                <a:path h="4472686" w="6709156">
                  <a:moveTo>
                    <a:pt x="0" y="0"/>
                  </a:moveTo>
                  <a:lnTo>
                    <a:pt x="6709156" y="0"/>
                  </a:lnTo>
                  <a:lnTo>
                    <a:pt x="6709156" y="4472686"/>
                  </a:lnTo>
                  <a:lnTo>
                    <a:pt x="0" y="4472686"/>
                  </a:lnTo>
                  <a:lnTo>
                    <a:pt x="0" y="0"/>
                  </a:lnTo>
                  <a:close/>
                </a:path>
              </a:pathLst>
            </a:custGeom>
            <a:blipFill>
              <a:blip r:embed="rId7"/>
              <a:stretch>
                <a:fillRect l="0" t="0" r="0" b="-1"/>
              </a:stretch>
            </a:blipFill>
          </p:spPr>
        </p:sp>
      </p:grpSp>
      <p:sp>
        <p:nvSpPr>
          <p:cNvPr name="TextBox 14" id="14"/>
          <p:cNvSpPr txBox="true"/>
          <p:nvPr/>
        </p:nvSpPr>
        <p:spPr>
          <a:xfrm rot="0">
            <a:off x="3443466" y="2692397"/>
            <a:ext cx="11385267" cy="3609975"/>
          </a:xfrm>
          <a:prstGeom prst="rect">
            <a:avLst/>
          </a:prstGeom>
        </p:spPr>
        <p:txBody>
          <a:bodyPr anchor="t" rtlCol="false" tIns="0" lIns="0" bIns="0" rIns="0">
            <a:spAutoFit/>
          </a:bodyPr>
          <a:lstStyle/>
          <a:p>
            <a:pPr algn="just">
              <a:lnSpc>
                <a:spcPts val="4680"/>
              </a:lnSpc>
            </a:pPr>
            <a:r>
              <a:rPr lang="en-US" sz="3000">
                <a:solidFill>
                  <a:srgbClr val="737373"/>
                </a:solidFill>
                <a:latin typeface="Poppins"/>
                <a:ea typeface="Poppins"/>
                <a:cs typeface="Poppins"/>
                <a:sym typeface="Poppins"/>
              </a:rPr>
              <a:t>Pese a su poca capacidad de almacenamiento son de suma importancia para almacenar datos o instrucciones que la CPU va a necesitar en un futuro inmediato, de esta manera que se gana velocidad en la ejecución de procesos, evitando que la CPU tenga que esperar por mucho tiempo de esa manera se aumenta el rendimiento del equipo</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4968"/>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3686177" y="576262"/>
            <a:ext cx="10915646"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Almacenamiento Primario </a:t>
            </a:r>
          </a:p>
        </p:txBody>
      </p:sp>
      <p:sp>
        <p:nvSpPr>
          <p:cNvPr name="TextBox 13" id="13"/>
          <p:cNvSpPr txBox="true"/>
          <p:nvPr/>
        </p:nvSpPr>
        <p:spPr>
          <a:xfrm rot="0">
            <a:off x="2230493" y="1627040"/>
            <a:ext cx="4313520"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Ventajas</a:t>
            </a:r>
          </a:p>
        </p:txBody>
      </p:sp>
      <p:sp>
        <p:nvSpPr>
          <p:cNvPr name="TextBox 14" id="14"/>
          <p:cNvSpPr txBox="true"/>
          <p:nvPr/>
        </p:nvSpPr>
        <p:spPr>
          <a:xfrm rot="0">
            <a:off x="11151496" y="1627040"/>
            <a:ext cx="4313520"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Desventajas</a:t>
            </a:r>
          </a:p>
        </p:txBody>
      </p:sp>
      <p:sp>
        <p:nvSpPr>
          <p:cNvPr name="TextBox 15" id="15"/>
          <p:cNvSpPr txBox="true"/>
          <p:nvPr/>
        </p:nvSpPr>
        <p:spPr>
          <a:xfrm rot="0">
            <a:off x="890866" y="2516168"/>
            <a:ext cx="7831646" cy="6742132"/>
          </a:xfrm>
          <a:prstGeom prst="rect">
            <a:avLst/>
          </a:prstGeom>
        </p:spPr>
        <p:txBody>
          <a:bodyPr anchor="t" rtlCol="false" tIns="0" lIns="0" bIns="0" rIns="0">
            <a:spAutoFit/>
          </a:bodyPr>
          <a:lstStyle/>
          <a:p>
            <a:pPr algn="just" marL="567483" indent="-283742" lvl="1">
              <a:lnSpc>
                <a:spcPts val="4100"/>
              </a:lnSpc>
              <a:buFont typeface="Arial"/>
              <a:buChar char="•"/>
            </a:pPr>
            <a:r>
              <a:rPr lang="en-US" sz="2628">
                <a:solidFill>
                  <a:srgbClr val="000000"/>
                </a:solidFill>
                <a:latin typeface="Arial MT Pro"/>
                <a:ea typeface="Arial MT Pro"/>
                <a:cs typeface="Arial MT Pro"/>
                <a:sym typeface="Arial MT Pro"/>
              </a:rPr>
              <a:t>Alta velocidad de escritura y lectura</a:t>
            </a:r>
          </a:p>
          <a:p>
            <a:pPr algn="just" marL="567483" indent="-283742" lvl="1">
              <a:lnSpc>
                <a:spcPts val="4100"/>
              </a:lnSpc>
              <a:buFont typeface="Arial"/>
              <a:buChar char="•"/>
            </a:pPr>
            <a:r>
              <a:rPr lang="en-US" sz="2628">
                <a:solidFill>
                  <a:srgbClr val="000000"/>
                </a:solidFill>
                <a:latin typeface="Arial MT Pro"/>
                <a:ea typeface="Arial MT Pro"/>
                <a:cs typeface="Arial MT Pro"/>
                <a:sym typeface="Arial MT Pro"/>
              </a:rPr>
              <a:t>Reduce el tiempo de espera de la CPU considerablemente</a:t>
            </a:r>
          </a:p>
          <a:p>
            <a:pPr algn="just" marL="567483" indent="-283742" lvl="1">
              <a:lnSpc>
                <a:spcPts val="4100"/>
              </a:lnSpc>
              <a:buFont typeface="Arial"/>
              <a:buChar char="•"/>
            </a:pPr>
            <a:r>
              <a:rPr lang="en-US" sz="2628">
                <a:solidFill>
                  <a:srgbClr val="000000"/>
                </a:solidFill>
                <a:latin typeface="Arial MT Pro"/>
                <a:ea typeface="Arial MT Pro"/>
                <a:cs typeface="Arial MT Pro"/>
                <a:sym typeface="Arial MT Pro"/>
              </a:rPr>
              <a:t>Mejora el rendimiento general del sistema</a:t>
            </a:r>
          </a:p>
          <a:p>
            <a:pPr algn="just" marL="567483" indent="-283742" lvl="1">
              <a:lnSpc>
                <a:spcPts val="4100"/>
              </a:lnSpc>
              <a:buFont typeface="Arial"/>
              <a:buChar char="•"/>
            </a:pPr>
            <a:r>
              <a:rPr lang="en-US" sz="2628">
                <a:solidFill>
                  <a:srgbClr val="000000"/>
                </a:solidFill>
                <a:latin typeface="Arial MT Pro"/>
                <a:ea typeface="Arial MT Pro"/>
                <a:cs typeface="Arial MT Pro"/>
                <a:sym typeface="Arial MT Pro"/>
              </a:rPr>
              <a:t>Acceso casi instantáneo a datos frecuentemente usados</a:t>
            </a:r>
          </a:p>
          <a:p>
            <a:pPr algn="just" marL="567483" indent="-283742" lvl="1">
              <a:lnSpc>
                <a:spcPts val="4100"/>
              </a:lnSpc>
              <a:buFont typeface="Arial"/>
              <a:buChar char="•"/>
            </a:pPr>
            <a:r>
              <a:rPr lang="en-US" sz="2628">
                <a:solidFill>
                  <a:srgbClr val="000000"/>
                </a:solidFill>
                <a:latin typeface="Arial MT Pro"/>
                <a:ea typeface="Arial MT Pro"/>
                <a:cs typeface="Arial MT Pro"/>
                <a:sym typeface="Arial MT Pro"/>
              </a:rPr>
              <a:t>Bajo consumo energético comparado con la RAM</a:t>
            </a:r>
          </a:p>
          <a:p>
            <a:pPr algn="just" marL="567483" indent="-283742" lvl="1">
              <a:lnSpc>
                <a:spcPts val="4100"/>
              </a:lnSpc>
              <a:buFont typeface="Arial"/>
              <a:buChar char="•"/>
            </a:pPr>
            <a:r>
              <a:rPr lang="en-US" sz="2628">
                <a:solidFill>
                  <a:srgbClr val="000000"/>
                </a:solidFill>
                <a:latin typeface="Arial MT Pro"/>
                <a:ea typeface="Arial MT Pro"/>
                <a:cs typeface="Arial MT Pro"/>
                <a:sym typeface="Arial MT Pro"/>
              </a:rPr>
              <a:t>No requiere refresco de memoria (a diferencia de la DRAM)</a:t>
            </a:r>
          </a:p>
          <a:p>
            <a:pPr algn="just" marL="567483" indent="-283742" lvl="1">
              <a:lnSpc>
                <a:spcPts val="4100"/>
              </a:lnSpc>
              <a:buFont typeface="Arial"/>
              <a:buChar char="•"/>
            </a:pPr>
            <a:r>
              <a:rPr lang="en-US" sz="2628">
                <a:solidFill>
                  <a:srgbClr val="000000"/>
                </a:solidFill>
                <a:latin typeface="Arial MT Pro"/>
                <a:ea typeface="Arial MT Pro"/>
                <a:cs typeface="Arial MT Pro"/>
                <a:sym typeface="Arial MT Pro"/>
              </a:rPr>
              <a:t>Integrada directamente en el procesador (L1, L2, L3)</a:t>
            </a:r>
          </a:p>
          <a:p>
            <a:pPr algn="just">
              <a:lnSpc>
                <a:spcPts val="4100"/>
              </a:lnSpc>
            </a:pPr>
          </a:p>
        </p:txBody>
      </p:sp>
      <p:sp>
        <p:nvSpPr>
          <p:cNvPr name="TextBox 16" id="16"/>
          <p:cNvSpPr txBox="true"/>
          <p:nvPr/>
        </p:nvSpPr>
        <p:spPr>
          <a:xfrm rot="0">
            <a:off x="9889136" y="2554268"/>
            <a:ext cx="7234555" cy="7186803"/>
          </a:xfrm>
          <a:prstGeom prst="rect">
            <a:avLst/>
          </a:prstGeom>
        </p:spPr>
        <p:txBody>
          <a:bodyPr anchor="t" rtlCol="false" tIns="0" lIns="0" bIns="0" rIns="0">
            <a:spAutoFit/>
          </a:bodyPr>
          <a:lstStyle/>
          <a:p>
            <a:pPr algn="l" marL="561340" indent="-280670" lvl="1">
              <a:lnSpc>
                <a:spcPts val="4056"/>
              </a:lnSpc>
              <a:buFont typeface="Arial"/>
              <a:buChar char="•"/>
            </a:pPr>
            <a:r>
              <a:rPr lang="en-US" sz="2600">
                <a:solidFill>
                  <a:srgbClr val="000000"/>
                </a:solidFill>
                <a:latin typeface="Poppins"/>
                <a:ea typeface="Poppins"/>
                <a:cs typeface="Poppins"/>
                <a:sym typeface="Poppins"/>
              </a:rPr>
              <a:t>Poca capacidad de almacenamiento</a:t>
            </a:r>
          </a:p>
          <a:p>
            <a:pPr algn="l" marL="561341" indent="-280670" lvl="1">
              <a:lnSpc>
                <a:spcPts val="4056"/>
              </a:lnSpc>
              <a:buFont typeface="Arial"/>
              <a:buChar char="•"/>
            </a:pPr>
            <a:r>
              <a:rPr lang="en-US" sz="2600">
                <a:solidFill>
                  <a:srgbClr val="000000"/>
                </a:solidFill>
                <a:latin typeface="Poppins"/>
                <a:ea typeface="Poppins"/>
                <a:cs typeface="Poppins"/>
                <a:sym typeface="Poppins"/>
              </a:rPr>
              <a:t>Información volátil (se pierde al apagar el equipo)</a:t>
            </a:r>
          </a:p>
          <a:p>
            <a:pPr algn="l" marL="561341" indent="-280670" lvl="1">
              <a:lnSpc>
                <a:spcPts val="4056"/>
              </a:lnSpc>
              <a:buFont typeface="Arial"/>
              <a:buChar char="•"/>
            </a:pPr>
            <a:r>
              <a:rPr lang="en-US" sz="2600">
                <a:solidFill>
                  <a:srgbClr val="000000"/>
                </a:solidFill>
                <a:latin typeface="Poppins"/>
                <a:ea typeface="Poppins"/>
                <a:cs typeface="Poppins"/>
                <a:sym typeface="Poppins"/>
              </a:rPr>
              <a:t>Costo de fabricación muy elevado</a:t>
            </a:r>
          </a:p>
          <a:p>
            <a:pPr algn="l" marL="561341" indent="-280670" lvl="1">
              <a:lnSpc>
                <a:spcPts val="4056"/>
              </a:lnSpc>
              <a:buFont typeface="Arial"/>
              <a:buChar char="•"/>
            </a:pPr>
            <a:r>
              <a:rPr lang="en-US" sz="2600">
                <a:solidFill>
                  <a:srgbClr val="000000"/>
                </a:solidFill>
                <a:latin typeface="Poppins"/>
                <a:ea typeface="Poppins"/>
                <a:cs typeface="Poppins"/>
                <a:sym typeface="Poppins"/>
              </a:rPr>
              <a:t>Tamaño físico mayor por bit comparado con DRAM</a:t>
            </a:r>
          </a:p>
          <a:p>
            <a:pPr algn="l" marL="561341" indent="-280670" lvl="1">
              <a:lnSpc>
                <a:spcPts val="4056"/>
              </a:lnSpc>
              <a:buFont typeface="Arial"/>
              <a:buChar char="•"/>
            </a:pPr>
            <a:r>
              <a:rPr lang="en-US" sz="2600">
                <a:solidFill>
                  <a:srgbClr val="000000"/>
                </a:solidFill>
                <a:latin typeface="Poppins"/>
                <a:ea typeface="Poppins"/>
                <a:cs typeface="Poppins"/>
                <a:sym typeface="Poppins"/>
              </a:rPr>
              <a:t>Capacidad limitada por el espacio físico dentro del chip</a:t>
            </a:r>
          </a:p>
          <a:p>
            <a:pPr algn="l" marL="561341" indent="-280670" lvl="1">
              <a:lnSpc>
                <a:spcPts val="4056"/>
              </a:lnSpc>
              <a:buFont typeface="Arial"/>
              <a:buChar char="•"/>
            </a:pPr>
            <a:r>
              <a:rPr lang="en-US" sz="2600">
                <a:solidFill>
                  <a:srgbClr val="000000"/>
                </a:solidFill>
                <a:latin typeface="Poppins"/>
                <a:ea typeface="Poppins"/>
                <a:cs typeface="Poppins"/>
                <a:sym typeface="Poppins"/>
              </a:rPr>
              <a:t>No puede reemplazar a la RAM ni al almacenamiento secundario</a:t>
            </a:r>
          </a:p>
          <a:p>
            <a:pPr algn="l" marL="561341" indent="-280670" lvl="1">
              <a:lnSpc>
                <a:spcPts val="4056"/>
              </a:lnSpc>
              <a:buFont typeface="Arial"/>
              <a:buChar char="•"/>
            </a:pPr>
            <a:r>
              <a:rPr lang="en-US" sz="2600">
                <a:solidFill>
                  <a:srgbClr val="000000"/>
                </a:solidFill>
                <a:latin typeface="Poppins"/>
                <a:ea typeface="Poppins"/>
                <a:cs typeface="Poppins"/>
                <a:sym typeface="Poppins"/>
              </a:rPr>
              <a:t>Difícil de escalar a grandes capacidades</a:t>
            </a:r>
          </a:p>
          <a:p>
            <a:pPr algn="l">
              <a:lnSpc>
                <a:spcPts val="4056"/>
              </a:lnSpc>
            </a:pPr>
          </a:p>
          <a:p>
            <a:pPr algn="l">
              <a:lnSpc>
                <a:spcPts val="4056"/>
              </a:lnSpc>
            </a:pP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9451627">
            <a:off x="-1152667" y="-1825469"/>
            <a:ext cx="5343238" cy="4041431"/>
            <a:chOff x="0" y="0"/>
            <a:chExt cx="7124318" cy="5388575"/>
          </a:xfrm>
        </p:grpSpPr>
        <p:sp>
          <p:nvSpPr>
            <p:cNvPr name="Freeform 5" id="5"/>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3"/>
              <a:stretch>
                <a:fillRect l="0" t="-108" r="0" b="-107"/>
              </a:stretch>
            </a:blipFill>
          </p:spPr>
        </p:sp>
      </p:grpSp>
      <p:grpSp>
        <p:nvGrpSpPr>
          <p:cNvPr name="Group 6" id="6"/>
          <p:cNvGrpSpPr/>
          <p:nvPr/>
        </p:nvGrpSpPr>
        <p:grpSpPr>
          <a:xfrm rot="0">
            <a:off x="-1421876" y="-3678699"/>
            <a:ext cx="5285098" cy="5256271"/>
            <a:chOff x="0" y="0"/>
            <a:chExt cx="7046798" cy="7008361"/>
          </a:xfrm>
        </p:grpSpPr>
        <p:sp>
          <p:nvSpPr>
            <p:cNvPr name="Freeform 7" id="7"/>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4"/>
              <a:stretch>
                <a:fillRect l="0" t="-80" r="0" b="-80"/>
              </a:stretch>
            </a:blipFill>
          </p:spPr>
        </p:sp>
      </p:grpSp>
      <p:grpSp>
        <p:nvGrpSpPr>
          <p:cNvPr name="Group 8" id="8"/>
          <p:cNvGrpSpPr/>
          <p:nvPr/>
        </p:nvGrpSpPr>
        <p:grpSpPr>
          <a:xfrm rot="-2308677">
            <a:off x="9698130" y="2166602"/>
            <a:ext cx="12650197" cy="9568149"/>
            <a:chOff x="0" y="0"/>
            <a:chExt cx="16866929" cy="12757532"/>
          </a:xfrm>
        </p:grpSpPr>
        <p:sp>
          <p:nvSpPr>
            <p:cNvPr name="Freeform 9" id="9"/>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5">
                <a:alphaModFix amt="6999"/>
              </a:blip>
              <a:stretch>
                <a:fillRect l="0" t="-108" r="0" b="-108"/>
              </a:stretch>
            </a:blipFill>
          </p:spPr>
        </p:sp>
      </p:grpSp>
      <p:grpSp>
        <p:nvGrpSpPr>
          <p:cNvPr name="Group 10" id="10"/>
          <p:cNvGrpSpPr/>
          <p:nvPr/>
        </p:nvGrpSpPr>
        <p:grpSpPr>
          <a:xfrm rot="0">
            <a:off x="17981351" y="9071880"/>
            <a:ext cx="322049" cy="1215120"/>
            <a:chOff x="0" y="0"/>
            <a:chExt cx="429399" cy="1620160"/>
          </a:xfrm>
        </p:grpSpPr>
        <p:sp>
          <p:nvSpPr>
            <p:cNvPr name="Freeform 11" id="11"/>
            <p:cNvSpPr/>
            <p:nvPr/>
          </p:nvSpPr>
          <p:spPr>
            <a:xfrm flipH="false" flipV="false" rot="0">
              <a:off x="0" y="0"/>
              <a:ext cx="429387" cy="1620139"/>
            </a:xfrm>
            <a:custGeom>
              <a:avLst/>
              <a:gdLst/>
              <a:ahLst/>
              <a:cxnLst/>
              <a:rect r="r" b="b" t="t" l="l"/>
              <a:pathLst>
                <a:path h="1620139" w="429387">
                  <a:moveTo>
                    <a:pt x="0" y="0"/>
                  </a:moveTo>
                  <a:lnTo>
                    <a:pt x="429387" y="0"/>
                  </a:lnTo>
                  <a:lnTo>
                    <a:pt x="429387" y="1620139"/>
                  </a:lnTo>
                  <a:lnTo>
                    <a:pt x="0" y="1620139"/>
                  </a:lnTo>
                  <a:close/>
                </a:path>
              </a:pathLst>
            </a:custGeom>
            <a:solidFill>
              <a:srgbClr val="1B4A9B"/>
            </a:solidFill>
          </p:spPr>
        </p:sp>
      </p:grpSp>
      <p:grpSp>
        <p:nvGrpSpPr>
          <p:cNvPr name="Group 12" id="12"/>
          <p:cNvGrpSpPr/>
          <p:nvPr/>
        </p:nvGrpSpPr>
        <p:grpSpPr>
          <a:xfrm rot="0">
            <a:off x="17046764" y="3182967"/>
            <a:ext cx="4828984" cy="4820204"/>
            <a:chOff x="0" y="0"/>
            <a:chExt cx="6438645" cy="6426939"/>
          </a:xfrm>
        </p:grpSpPr>
        <p:sp>
          <p:nvSpPr>
            <p:cNvPr name="Freeform 13" id="13"/>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4" id="14"/>
          <p:cNvSpPr txBox="true"/>
          <p:nvPr/>
        </p:nvSpPr>
        <p:spPr>
          <a:xfrm rot="0">
            <a:off x="2834783" y="2598555"/>
            <a:ext cx="12282724" cy="962025"/>
          </a:xfrm>
          <a:prstGeom prst="rect">
            <a:avLst/>
          </a:prstGeom>
        </p:spPr>
        <p:txBody>
          <a:bodyPr anchor="t" rtlCol="false" tIns="0" lIns="0" bIns="0" rIns="0">
            <a:spAutoFit/>
          </a:bodyPr>
          <a:lstStyle/>
          <a:p>
            <a:pPr algn="ctr">
              <a:lnSpc>
                <a:spcPts val="7199"/>
              </a:lnSpc>
            </a:pPr>
            <a:r>
              <a:rPr lang="en-US" b="true" sz="4999" i="true">
                <a:solidFill>
                  <a:srgbClr val="1B4A9B"/>
                </a:solidFill>
                <a:latin typeface="Poppins Bold Italics"/>
                <a:ea typeface="Poppins Bold Italics"/>
                <a:cs typeface="Poppins Bold Italics"/>
                <a:sym typeface="Poppins Bold Italics"/>
              </a:rPr>
              <a:t>Almacenamiento Secundario</a:t>
            </a:r>
          </a:p>
        </p:txBody>
      </p:sp>
      <p:sp>
        <p:nvSpPr>
          <p:cNvPr name="TextBox 15" id="15"/>
          <p:cNvSpPr txBox="true"/>
          <p:nvPr/>
        </p:nvSpPr>
        <p:spPr>
          <a:xfrm rot="0">
            <a:off x="1220673" y="4134049"/>
            <a:ext cx="15510944" cy="3100832"/>
          </a:xfrm>
          <a:prstGeom prst="rect">
            <a:avLst/>
          </a:prstGeom>
        </p:spPr>
        <p:txBody>
          <a:bodyPr anchor="t" rtlCol="false" tIns="0" lIns="0" bIns="0" rIns="0">
            <a:spAutoFit/>
          </a:bodyPr>
          <a:lstStyle/>
          <a:p>
            <a:pPr algn="just">
              <a:lnSpc>
                <a:spcPts val="4108"/>
              </a:lnSpc>
            </a:pPr>
            <a:r>
              <a:rPr lang="en-US" sz="3200">
                <a:solidFill>
                  <a:srgbClr val="737373"/>
                </a:solidFill>
                <a:latin typeface="Poppins"/>
                <a:ea typeface="Poppins"/>
                <a:cs typeface="Poppins"/>
                <a:sym typeface="Poppins"/>
              </a:rPr>
              <a:t>Estos son dispositivos que cumplen la función de </a:t>
            </a:r>
            <a:r>
              <a:rPr lang="en-US" b="true" sz="3200">
                <a:solidFill>
                  <a:srgbClr val="737373"/>
                </a:solidFill>
                <a:latin typeface="Poppins Bold"/>
                <a:ea typeface="Poppins Bold"/>
                <a:cs typeface="Poppins Bold"/>
                <a:sym typeface="Poppins Bold"/>
              </a:rPr>
              <a:t>almacenar información de manera persistente</a:t>
            </a:r>
            <a:r>
              <a:rPr lang="en-US" sz="3200">
                <a:solidFill>
                  <a:srgbClr val="737373"/>
                </a:solidFill>
                <a:latin typeface="Poppins"/>
                <a:ea typeface="Poppins"/>
                <a:cs typeface="Poppins"/>
                <a:sym typeface="Poppins"/>
              </a:rPr>
              <a:t>, incluso cuando se retira la alimentación eléctrica a la computadora.</a:t>
            </a:r>
          </a:p>
          <a:p>
            <a:pPr algn="just">
              <a:lnSpc>
                <a:spcPts val="1797"/>
              </a:lnSpc>
            </a:pPr>
          </a:p>
          <a:p>
            <a:pPr algn="just">
              <a:lnSpc>
                <a:spcPts val="4108"/>
              </a:lnSpc>
            </a:pPr>
            <a:r>
              <a:rPr lang="en-US" sz="3200">
                <a:solidFill>
                  <a:srgbClr val="737373"/>
                </a:solidFill>
                <a:latin typeface="Poppins"/>
                <a:ea typeface="Poppins"/>
                <a:cs typeface="Poppins"/>
                <a:sym typeface="Poppins"/>
              </a:rPr>
              <a:t>Se caracterizan por poseer una </a:t>
            </a:r>
            <a:r>
              <a:rPr lang="en-US" b="true" sz="3200">
                <a:solidFill>
                  <a:srgbClr val="737373"/>
                </a:solidFill>
                <a:latin typeface="Poppins Bold"/>
                <a:ea typeface="Poppins Bold"/>
                <a:cs typeface="Poppins Bold"/>
                <a:sym typeface="Poppins Bold"/>
              </a:rPr>
              <a:t>mayor capacidad de almacenamiento</a:t>
            </a:r>
            <a:r>
              <a:rPr lang="en-US" sz="3200">
                <a:solidFill>
                  <a:srgbClr val="737373"/>
                </a:solidFill>
                <a:latin typeface="Poppins"/>
                <a:ea typeface="Poppins"/>
                <a:cs typeface="Poppins"/>
                <a:sym typeface="Poppins"/>
              </a:rPr>
              <a:t> que los dispositivos de almacenamiento primario, sin embargo estos poseen una menor velocidad para manejar la información.</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9451627">
            <a:off x="-1152667" y="-1825469"/>
            <a:ext cx="5343238" cy="4041431"/>
            <a:chOff x="0" y="0"/>
            <a:chExt cx="7124318" cy="5388575"/>
          </a:xfrm>
        </p:grpSpPr>
        <p:sp>
          <p:nvSpPr>
            <p:cNvPr name="Freeform 5" id="5"/>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3"/>
              <a:stretch>
                <a:fillRect l="0" t="-108" r="0" b="-107"/>
              </a:stretch>
            </a:blipFill>
          </p:spPr>
        </p:sp>
      </p:grpSp>
      <p:grpSp>
        <p:nvGrpSpPr>
          <p:cNvPr name="Group 6" id="6"/>
          <p:cNvGrpSpPr/>
          <p:nvPr/>
        </p:nvGrpSpPr>
        <p:grpSpPr>
          <a:xfrm rot="0">
            <a:off x="-1421876" y="-3678699"/>
            <a:ext cx="5285098" cy="5256271"/>
            <a:chOff x="0" y="0"/>
            <a:chExt cx="7046798" cy="7008361"/>
          </a:xfrm>
        </p:grpSpPr>
        <p:sp>
          <p:nvSpPr>
            <p:cNvPr name="Freeform 7" id="7"/>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4"/>
              <a:stretch>
                <a:fillRect l="0" t="-80" r="0" b="-80"/>
              </a:stretch>
            </a:blipFill>
          </p:spPr>
        </p:sp>
      </p:grpSp>
      <p:grpSp>
        <p:nvGrpSpPr>
          <p:cNvPr name="Group 8" id="8"/>
          <p:cNvGrpSpPr/>
          <p:nvPr/>
        </p:nvGrpSpPr>
        <p:grpSpPr>
          <a:xfrm rot="0">
            <a:off x="17981351" y="9071880"/>
            <a:ext cx="322049" cy="1215120"/>
            <a:chOff x="0" y="0"/>
            <a:chExt cx="429399" cy="1620160"/>
          </a:xfrm>
        </p:grpSpPr>
        <p:sp>
          <p:nvSpPr>
            <p:cNvPr name="Freeform 9" id="9"/>
            <p:cNvSpPr/>
            <p:nvPr/>
          </p:nvSpPr>
          <p:spPr>
            <a:xfrm flipH="false" flipV="false" rot="0">
              <a:off x="0" y="0"/>
              <a:ext cx="429387" cy="1620139"/>
            </a:xfrm>
            <a:custGeom>
              <a:avLst/>
              <a:gdLst/>
              <a:ahLst/>
              <a:cxnLst/>
              <a:rect r="r" b="b" t="t" l="l"/>
              <a:pathLst>
                <a:path h="1620139" w="429387">
                  <a:moveTo>
                    <a:pt x="0" y="0"/>
                  </a:moveTo>
                  <a:lnTo>
                    <a:pt x="429387" y="0"/>
                  </a:lnTo>
                  <a:lnTo>
                    <a:pt x="429387" y="1620139"/>
                  </a:lnTo>
                  <a:lnTo>
                    <a:pt x="0" y="1620139"/>
                  </a:lnTo>
                  <a:close/>
                </a:path>
              </a:pathLst>
            </a:custGeom>
            <a:solidFill>
              <a:srgbClr val="1B4A9B"/>
            </a:solidFill>
          </p:spPr>
        </p:sp>
      </p:grpSp>
      <p:grpSp>
        <p:nvGrpSpPr>
          <p:cNvPr name="Group 10" id="10"/>
          <p:cNvGrpSpPr/>
          <p:nvPr/>
        </p:nvGrpSpPr>
        <p:grpSpPr>
          <a:xfrm rot="0">
            <a:off x="17046764" y="3182967"/>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5">
                <a:alphaModFix amt="47000"/>
              </a:blip>
              <a:stretch>
                <a:fillRect l="-20" t="0" r="-20" b="0"/>
              </a:stretch>
            </a:blipFill>
          </p:spPr>
        </p:sp>
      </p:grpSp>
      <p:sp>
        <p:nvSpPr>
          <p:cNvPr name="Freeform 12" id="12"/>
          <p:cNvSpPr/>
          <p:nvPr/>
        </p:nvSpPr>
        <p:spPr>
          <a:xfrm flipH="false" flipV="false" rot="0">
            <a:off x="2544108" y="4523195"/>
            <a:ext cx="12516111" cy="5394349"/>
          </a:xfrm>
          <a:custGeom>
            <a:avLst/>
            <a:gdLst/>
            <a:ahLst/>
            <a:cxnLst/>
            <a:rect r="r" b="b" t="t" l="l"/>
            <a:pathLst>
              <a:path h="5394349" w="12516111">
                <a:moveTo>
                  <a:pt x="0" y="0"/>
                </a:moveTo>
                <a:lnTo>
                  <a:pt x="12516111" y="0"/>
                </a:lnTo>
                <a:lnTo>
                  <a:pt x="12516111" y="5394348"/>
                </a:lnTo>
                <a:lnTo>
                  <a:pt x="0" y="5394348"/>
                </a:lnTo>
                <a:lnTo>
                  <a:pt x="0" y="0"/>
                </a:lnTo>
                <a:close/>
              </a:path>
            </a:pathLst>
          </a:custGeom>
          <a:blipFill>
            <a:blip r:embed="rId6"/>
            <a:stretch>
              <a:fillRect l="0" t="-14268" r="0" b="-12473"/>
            </a:stretch>
          </a:blipFill>
        </p:spPr>
      </p:sp>
      <p:sp>
        <p:nvSpPr>
          <p:cNvPr name="TextBox 13" id="13"/>
          <p:cNvSpPr txBox="true"/>
          <p:nvPr/>
        </p:nvSpPr>
        <p:spPr>
          <a:xfrm rot="0">
            <a:off x="1380650" y="619533"/>
            <a:ext cx="15510900" cy="4871237"/>
          </a:xfrm>
          <a:prstGeom prst="rect">
            <a:avLst/>
          </a:prstGeom>
        </p:spPr>
        <p:txBody>
          <a:bodyPr anchor="t" rtlCol="false" tIns="0" lIns="0" bIns="0" rIns="0">
            <a:spAutoFit/>
          </a:bodyPr>
          <a:lstStyle/>
          <a:p>
            <a:pPr algn="just">
              <a:lnSpc>
                <a:spcPts val="4108"/>
              </a:lnSpc>
            </a:pPr>
            <a:r>
              <a:rPr lang="en-US" sz="3200">
                <a:solidFill>
                  <a:srgbClr val="000000"/>
                </a:solidFill>
                <a:latin typeface="Poppins"/>
                <a:ea typeface="Poppins"/>
                <a:cs typeface="Poppins"/>
                <a:sym typeface="Poppins"/>
              </a:rPr>
              <a:t>Entre este tipo de dispositivos podemos encontrar los siguientes dispositivos: </a:t>
            </a:r>
          </a:p>
          <a:p>
            <a:pPr algn="just">
              <a:lnSpc>
                <a:spcPts val="4108"/>
              </a:lnSpc>
            </a:pPr>
          </a:p>
          <a:p>
            <a:pPr algn="l" marL="690881" indent="-345440" lvl="1">
              <a:lnSpc>
                <a:spcPts val="4108"/>
              </a:lnSpc>
              <a:buFont typeface="Arial"/>
              <a:buChar char="•"/>
            </a:pPr>
            <a:r>
              <a:rPr lang="en-US" sz="3200">
                <a:solidFill>
                  <a:srgbClr val="000000"/>
                </a:solidFill>
                <a:latin typeface="Poppins"/>
                <a:ea typeface="Poppins"/>
                <a:cs typeface="Poppins"/>
                <a:sym typeface="Poppins"/>
              </a:rPr>
              <a:t>Cinta Magnética</a:t>
            </a:r>
          </a:p>
          <a:p>
            <a:pPr algn="l" marL="690881" indent="-345440" lvl="1">
              <a:lnSpc>
                <a:spcPts val="4108"/>
              </a:lnSpc>
              <a:buFont typeface="Arial"/>
              <a:buChar char="•"/>
            </a:pPr>
            <a:r>
              <a:rPr lang="en-US" sz="3200">
                <a:solidFill>
                  <a:srgbClr val="000000"/>
                </a:solidFill>
                <a:latin typeface="Poppins"/>
                <a:ea typeface="Poppins"/>
                <a:cs typeface="Poppins"/>
                <a:sym typeface="Poppins"/>
              </a:rPr>
              <a:t>Almacenamiento óptico</a:t>
            </a:r>
          </a:p>
          <a:p>
            <a:pPr algn="l" marL="690881" indent="-345440" lvl="1">
              <a:lnSpc>
                <a:spcPts val="4108"/>
              </a:lnSpc>
              <a:buFont typeface="Arial"/>
              <a:buChar char="•"/>
            </a:pPr>
            <a:r>
              <a:rPr lang="en-US" sz="3200">
                <a:solidFill>
                  <a:srgbClr val="000000"/>
                </a:solidFill>
                <a:latin typeface="Poppins"/>
                <a:ea typeface="Poppins"/>
                <a:cs typeface="Poppins"/>
                <a:sym typeface="Poppins"/>
              </a:rPr>
              <a:t>Unidad de disco duro</a:t>
            </a:r>
          </a:p>
          <a:p>
            <a:pPr algn="l" marL="690881" indent="-345440" lvl="1">
              <a:lnSpc>
                <a:spcPts val="4108"/>
              </a:lnSpc>
              <a:buFont typeface="Arial"/>
              <a:buChar char="•"/>
            </a:pPr>
            <a:r>
              <a:rPr lang="en-US" sz="3200">
                <a:solidFill>
                  <a:srgbClr val="000000"/>
                </a:solidFill>
                <a:latin typeface="Poppins"/>
                <a:ea typeface="Poppins"/>
                <a:cs typeface="Poppins"/>
                <a:sym typeface="Poppins"/>
              </a:rPr>
              <a:t>Unidad de estado sólido</a:t>
            </a:r>
          </a:p>
          <a:p>
            <a:pPr algn="just">
              <a:lnSpc>
                <a:spcPts val="4108"/>
              </a:lnSpc>
            </a:pPr>
          </a:p>
          <a:p>
            <a:pPr algn="just">
              <a:lnSpc>
                <a:spcPts val="1797"/>
              </a:lnSpc>
            </a:pPr>
          </a:p>
          <a:p>
            <a:pPr algn="l">
              <a:lnSpc>
                <a:spcPts val="4108"/>
              </a:lnSpc>
            </a:pP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0">
            <a:off x="10087911" y="-4008763"/>
            <a:ext cx="4828984" cy="4820204"/>
            <a:chOff x="0" y="0"/>
            <a:chExt cx="6438645" cy="6426939"/>
          </a:xfrm>
        </p:grpSpPr>
        <p:sp>
          <p:nvSpPr>
            <p:cNvPr name="Freeform 7" id="7"/>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4">
                <a:alphaModFix amt="47000"/>
              </a:blip>
              <a:stretch>
                <a:fillRect l="-20" t="0" r="-20" b="0"/>
              </a:stretch>
            </a:blipFill>
          </p:spPr>
        </p:sp>
      </p:grpSp>
      <p:grpSp>
        <p:nvGrpSpPr>
          <p:cNvPr name="Group 8" id="8"/>
          <p:cNvGrpSpPr/>
          <p:nvPr/>
        </p:nvGrpSpPr>
        <p:grpSpPr>
          <a:xfrm rot="9451627">
            <a:off x="-1152667" y="-1825469"/>
            <a:ext cx="5343238" cy="4041431"/>
            <a:chOff x="0" y="0"/>
            <a:chExt cx="7124318" cy="5388575"/>
          </a:xfrm>
        </p:grpSpPr>
        <p:sp>
          <p:nvSpPr>
            <p:cNvPr name="Freeform 9" id="9"/>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5"/>
              <a:stretch>
                <a:fillRect l="0" t="-108" r="0" b="-107"/>
              </a:stretch>
            </a:blipFill>
          </p:spPr>
        </p:sp>
      </p:grpSp>
      <p:grpSp>
        <p:nvGrpSpPr>
          <p:cNvPr name="Group 10" id="10"/>
          <p:cNvGrpSpPr/>
          <p:nvPr/>
        </p:nvGrpSpPr>
        <p:grpSpPr>
          <a:xfrm rot="0">
            <a:off x="-1421876" y="-3678699"/>
            <a:ext cx="5285098" cy="5256271"/>
            <a:chOff x="0" y="0"/>
            <a:chExt cx="7046798" cy="7008361"/>
          </a:xfrm>
        </p:grpSpPr>
        <p:sp>
          <p:nvSpPr>
            <p:cNvPr name="Freeform 11" id="11"/>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6"/>
              <a:stretch>
                <a:fillRect l="0" t="-80" r="0" b="-80"/>
              </a:stretch>
            </a:blipFill>
          </p:spPr>
        </p:sp>
      </p:grpSp>
      <p:sp>
        <p:nvSpPr>
          <p:cNvPr name="TextBox 12" id="12"/>
          <p:cNvSpPr txBox="true"/>
          <p:nvPr/>
        </p:nvSpPr>
        <p:spPr>
          <a:xfrm rot="0">
            <a:off x="1897121" y="4308936"/>
            <a:ext cx="14477958" cy="2503678"/>
          </a:xfrm>
          <a:prstGeom prst="rect">
            <a:avLst/>
          </a:prstGeom>
        </p:spPr>
        <p:txBody>
          <a:bodyPr anchor="t" rtlCol="false" tIns="0" lIns="0" bIns="0" rIns="0">
            <a:spAutoFit/>
          </a:bodyPr>
          <a:lstStyle/>
          <a:p>
            <a:pPr algn="just">
              <a:lnSpc>
                <a:spcPts val="4529"/>
              </a:lnSpc>
            </a:pPr>
            <a:r>
              <a:rPr lang="en-US" sz="3199">
                <a:solidFill>
                  <a:srgbClr val="737373"/>
                </a:solidFill>
                <a:latin typeface="Poppins"/>
                <a:ea typeface="Poppins"/>
                <a:cs typeface="Poppins"/>
                <a:sym typeface="Poppins"/>
              </a:rPr>
              <a:t>Este es un tipo de almacenamiento en el cual la información es grabada en </a:t>
            </a:r>
            <a:r>
              <a:rPr lang="en-US" b="true" sz="3199">
                <a:solidFill>
                  <a:srgbClr val="737373"/>
                </a:solidFill>
                <a:latin typeface="Poppins Bold"/>
                <a:ea typeface="Poppins Bold"/>
                <a:cs typeface="Poppins Bold"/>
                <a:sym typeface="Poppins Bold"/>
              </a:rPr>
              <a:t>pistas magnéticas</a:t>
            </a:r>
            <a:r>
              <a:rPr lang="en-US" sz="3199">
                <a:solidFill>
                  <a:srgbClr val="737373"/>
                </a:solidFill>
                <a:latin typeface="Poppins"/>
                <a:ea typeface="Poppins"/>
                <a:cs typeface="Poppins"/>
                <a:sym typeface="Poppins"/>
              </a:rPr>
              <a:t> ubicadas a lo largo de la cinta magnética, su capacidad de almacenamiento puede variar dependiendo de los materiales que conforman la cinta, como también por su longitud.</a:t>
            </a:r>
          </a:p>
        </p:txBody>
      </p:sp>
      <p:sp>
        <p:nvSpPr>
          <p:cNvPr name="TextBox 13" id="13"/>
          <p:cNvSpPr txBox="true"/>
          <p:nvPr/>
        </p:nvSpPr>
        <p:spPr>
          <a:xfrm rot="0">
            <a:off x="5856603" y="2587373"/>
            <a:ext cx="6558994" cy="857250"/>
          </a:xfrm>
          <a:prstGeom prst="rect">
            <a:avLst/>
          </a:prstGeom>
        </p:spPr>
        <p:txBody>
          <a:bodyPr anchor="t" rtlCol="false" tIns="0" lIns="0" bIns="0" rIns="0">
            <a:spAutoFit/>
          </a:bodyPr>
          <a:lstStyle/>
          <a:p>
            <a:pPr algn="ctr">
              <a:lnSpc>
                <a:spcPts val="6478"/>
              </a:lnSpc>
            </a:pPr>
            <a:r>
              <a:rPr lang="en-US" b="true" sz="4498" i="true">
                <a:solidFill>
                  <a:srgbClr val="1B4A9B"/>
                </a:solidFill>
                <a:latin typeface="Poppins Bold Italics"/>
                <a:ea typeface="Poppins Bold Italics"/>
                <a:cs typeface="Poppins Bold Italics"/>
                <a:sym typeface="Poppins Bold Italics"/>
              </a:rPr>
              <a:t>Cintas Magnéticas</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0">
            <a:off x="10087911" y="-4008763"/>
            <a:ext cx="4828984" cy="4820204"/>
            <a:chOff x="0" y="0"/>
            <a:chExt cx="6438645" cy="6426939"/>
          </a:xfrm>
        </p:grpSpPr>
        <p:sp>
          <p:nvSpPr>
            <p:cNvPr name="Freeform 7" id="7"/>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4">
                <a:alphaModFix amt="47000"/>
              </a:blip>
              <a:stretch>
                <a:fillRect l="-20" t="0" r="-20" b="0"/>
              </a:stretch>
            </a:blipFill>
          </p:spPr>
        </p:sp>
      </p:grpSp>
      <p:grpSp>
        <p:nvGrpSpPr>
          <p:cNvPr name="Group 8" id="8"/>
          <p:cNvGrpSpPr/>
          <p:nvPr/>
        </p:nvGrpSpPr>
        <p:grpSpPr>
          <a:xfrm rot="9451627">
            <a:off x="-1152667" y="-1825469"/>
            <a:ext cx="5343238" cy="4041431"/>
            <a:chOff x="0" y="0"/>
            <a:chExt cx="7124318" cy="5388575"/>
          </a:xfrm>
        </p:grpSpPr>
        <p:sp>
          <p:nvSpPr>
            <p:cNvPr name="Freeform 9" id="9"/>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5"/>
              <a:stretch>
                <a:fillRect l="0" t="-108" r="0" b="-107"/>
              </a:stretch>
            </a:blipFill>
          </p:spPr>
        </p:sp>
      </p:grpSp>
      <p:grpSp>
        <p:nvGrpSpPr>
          <p:cNvPr name="Group 10" id="10"/>
          <p:cNvGrpSpPr/>
          <p:nvPr/>
        </p:nvGrpSpPr>
        <p:grpSpPr>
          <a:xfrm rot="0">
            <a:off x="-1421876" y="-3678699"/>
            <a:ext cx="5285098" cy="5256271"/>
            <a:chOff x="0" y="0"/>
            <a:chExt cx="7046798" cy="7008361"/>
          </a:xfrm>
        </p:grpSpPr>
        <p:sp>
          <p:nvSpPr>
            <p:cNvPr name="Freeform 11" id="11"/>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6"/>
              <a:stretch>
                <a:fillRect l="0" t="-80" r="0" b="-80"/>
              </a:stretch>
            </a:blipFill>
          </p:spPr>
        </p:sp>
      </p:grpSp>
      <p:grpSp>
        <p:nvGrpSpPr>
          <p:cNvPr name="Group 12" id="12"/>
          <p:cNvGrpSpPr/>
          <p:nvPr/>
        </p:nvGrpSpPr>
        <p:grpSpPr>
          <a:xfrm rot="0">
            <a:off x="12326931" y="6356918"/>
            <a:ext cx="5543384" cy="3427797"/>
            <a:chOff x="0" y="0"/>
            <a:chExt cx="7391179" cy="4570396"/>
          </a:xfrm>
        </p:grpSpPr>
        <p:sp>
          <p:nvSpPr>
            <p:cNvPr name="Freeform 13" id="13"/>
            <p:cNvSpPr/>
            <p:nvPr/>
          </p:nvSpPr>
          <p:spPr>
            <a:xfrm flipH="false" flipV="false" rot="0">
              <a:off x="0" y="0"/>
              <a:ext cx="7391146" cy="4570349"/>
            </a:xfrm>
            <a:custGeom>
              <a:avLst/>
              <a:gdLst/>
              <a:ahLst/>
              <a:cxnLst/>
              <a:rect r="r" b="b" t="t" l="l"/>
              <a:pathLst>
                <a:path h="4570349" w="7391146">
                  <a:moveTo>
                    <a:pt x="0" y="0"/>
                  </a:moveTo>
                  <a:lnTo>
                    <a:pt x="7391146" y="0"/>
                  </a:lnTo>
                  <a:lnTo>
                    <a:pt x="7391146" y="4570349"/>
                  </a:lnTo>
                  <a:lnTo>
                    <a:pt x="0" y="4570349"/>
                  </a:lnTo>
                  <a:lnTo>
                    <a:pt x="0" y="0"/>
                  </a:lnTo>
                  <a:close/>
                </a:path>
              </a:pathLst>
            </a:custGeom>
            <a:blipFill>
              <a:blip r:embed="rId7"/>
              <a:stretch>
                <a:fillRect l="0" t="-27681" r="0" b="-27682"/>
              </a:stretch>
            </a:blipFill>
          </p:spPr>
        </p:sp>
      </p:grpSp>
      <p:sp>
        <p:nvSpPr>
          <p:cNvPr name="TextBox 14" id="14"/>
          <p:cNvSpPr txBox="true"/>
          <p:nvPr/>
        </p:nvSpPr>
        <p:spPr>
          <a:xfrm rot="0">
            <a:off x="1028700" y="3561605"/>
            <a:ext cx="10222800" cy="5817150"/>
          </a:xfrm>
          <a:prstGeom prst="rect">
            <a:avLst/>
          </a:prstGeom>
        </p:spPr>
        <p:txBody>
          <a:bodyPr anchor="t" rtlCol="false" tIns="0" lIns="0" bIns="0" rIns="0">
            <a:spAutoFit/>
          </a:bodyPr>
          <a:lstStyle/>
          <a:p>
            <a:pPr algn="just">
              <a:lnSpc>
                <a:spcPts val="4529"/>
              </a:lnSpc>
            </a:pPr>
            <a:r>
              <a:rPr lang="en-US" sz="3199">
                <a:solidFill>
                  <a:srgbClr val="737373"/>
                </a:solidFill>
                <a:latin typeface="Poppins"/>
                <a:ea typeface="Poppins"/>
                <a:cs typeface="Poppins"/>
                <a:sym typeface="Poppins"/>
              </a:rPr>
              <a:t>Este es </a:t>
            </a:r>
            <a:r>
              <a:rPr lang="en-US" b="true" sz="3199">
                <a:solidFill>
                  <a:srgbClr val="737373"/>
                </a:solidFill>
                <a:latin typeface="Poppins Bold"/>
                <a:ea typeface="Poppins Bold"/>
                <a:cs typeface="Poppins Bold"/>
                <a:sym typeface="Poppins Bold"/>
              </a:rPr>
              <a:t>uno de los primeros dispositivos de almacenamiento</a:t>
            </a:r>
            <a:r>
              <a:rPr lang="en-US" sz="3199">
                <a:solidFill>
                  <a:srgbClr val="737373"/>
                </a:solidFill>
                <a:latin typeface="Poppins"/>
                <a:ea typeface="Poppins"/>
                <a:cs typeface="Poppins"/>
                <a:sym typeface="Poppins"/>
              </a:rPr>
              <a:t> su creación se remonta al año 1878, en sus principios fue empleada en los telégrafos. </a:t>
            </a:r>
          </a:p>
          <a:p>
            <a:pPr algn="just">
              <a:lnSpc>
                <a:spcPts val="1982"/>
              </a:lnSpc>
            </a:pPr>
          </a:p>
          <a:p>
            <a:pPr algn="just">
              <a:lnSpc>
                <a:spcPts val="4529"/>
              </a:lnSpc>
            </a:pPr>
            <a:r>
              <a:rPr lang="en-US" sz="3199">
                <a:solidFill>
                  <a:srgbClr val="737373"/>
                </a:solidFill>
                <a:latin typeface="Poppins"/>
                <a:ea typeface="Poppins"/>
                <a:cs typeface="Poppins"/>
                <a:sym typeface="Poppins"/>
              </a:rPr>
              <a:t>En la actualidad aún es utilizada en ciertas áreas que requieran un </a:t>
            </a:r>
            <a:r>
              <a:rPr lang="en-US" b="true" sz="3199">
                <a:solidFill>
                  <a:srgbClr val="737373"/>
                </a:solidFill>
                <a:latin typeface="Poppins Bold"/>
                <a:ea typeface="Poppins Bold"/>
                <a:cs typeface="Poppins Bold"/>
                <a:sym typeface="Poppins Bold"/>
              </a:rPr>
              <a:t>almacenamiento masivo</a:t>
            </a:r>
            <a:r>
              <a:rPr lang="en-US" sz="3199">
                <a:solidFill>
                  <a:srgbClr val="737373"/>
                </a:solidFill>
                <a:latin typeface="Poppins"/>
                <a:ea typeface="Poppins"/>
                <a:cs typeface="Poppins"/>
                <a:sym typeface="Poppins"/>
              </a:rPr>
              <a:t> y no sea necesario un acceso veloz a los datos. Su principal uso es el de respaldar información de otras unidades de almacenamiento secundario</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4968"/>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3761448" y="1964421"/>
            <a:ext cx="10915646"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Cintas Magnéticas</a:t>
            </a:r>
          </a:p>
        </p:txBody>
      </p:sp>
      <p:sp>
        <p:nvSpPr>
          <p:cNvPr name="TextBox 13" id="13"/>
          <p:cNvSpPr txBox="true"/>
          <p:nvPr/>
        </p:nvSpPr>
        <p:spPr>
          <a:xfrm rot="0">
            <a:off x="1500812" y="4166706"/>
            <a:ext cx="4313520"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Ventajas</a:t>
            </a:r>
          </a:p>
        </p:txBody>
      </p:sp>
      <p:sp>
        <p:nvSpPr>
          <p:cNvPr name="TextBox 14" id="14"/>
          <p:cNvSpPr txBox="true"/>
          <p:nvPr/>
        </p:nvSpPr>
        <p:spPr>
          <a:xfrm rot="0">
            <a:off x="9275211" y="4166706"/>
            <a:ext cx="4313520"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Desventajas</a:t>
            </a:r>
          </a:p>
        </p:txBody>
      </p:sp>
      <p:sp>
        <p:nvSpPr>
          <p:cNvPr name="TextBox 15" id="15"/>
          <p:cNvSpPr txBox="true"/>
          <p:nvPr/>
        </p:nvSpPr>
        <p:spPr>
          <a:xfrm rot="0">
            <a:off x="1500812" y="5276593"/>
            <a:ext cx="11385267" cy="1395730"/>
          </a:xfrm>
          <a:prstGeom prst="rect">
            <a:avLst/>
          </a:prstGeom>
        </p:spPr>
        <p:txBody>
          <a:bodyPr anchor="t" rtlCol="false" tIns="0" lIns="0" bIns="0" rIns="0">
            <a:spAutoFit/>
          </a:bodyPr>
          <a:lstStyle/>
          <a:p>
            <a:pPr algn="just" marL="594361" indent="-198120" lvl="2">
              <a:lnSpc>
                <a:spcPts val="4056"/>
              </a:lnSpc>
              <a:buFont typeface="Arial"/>
              <a:buChar char="⚬"/>
            </a:pPr>
            <a:r>
              <a:rPr lang="en-US" sz="2600">
                <a:solidFill>
                  <a:srgbClr val="737373"/>
                </a:solidFill>
                <a:latin typeface="Poppins"/>
                <a:ea typeface="Poppins"/>
                <a:cs typeface="Poppins"/>
                <a:sym typeface="Poppins"/>
              </a:rPr>
              <a:t>Capacidad de Almacenamiento</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Fácil manipulación de su información </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Bajo Costo</a:t>
            </a:r>
          </a:p>
        </p:txBody>
      </p:sp>
      <p:sp>
        <p:nvSpPr>
          <p:cNvPr name="TextBox 16" id="16"/>
          <p:cNvSpPr txBox="true"/>
          <p:nvPr/>
        </p:nvSpPr>
        <p:spPr>
          <a:xfrm rot="0">
            <a:off x="9724914" y="5418185"/>
            <a:ext cx="11385300" cy="2586075"/>
          </a:xfrm>
          <a:prstGeom prst="rect">
            <a:avLst/>
          </a:prstGeom>
        </p:spPr>
        <p:txBody>
          <a:bodyPr anchor="t" rtlCol="false" tIns="0" lIns="0" bIns="0" rIns="0">
            <a:spAutoFit/>
          </a:bodyPr>
          <a:lstStyle/>
          <a:p>
            <a:pPr algn="just" marL="594361" indent="-198120" lvl="2">
              <a:lnSpc>
                <a:spcPts val="4056"/>
              </a:lnSpc>
              <a:buFont typeface="Arial"/>
              <a:buChar char="⚬"/>
            </a:pPr>
            <a:r>
              <a:rPr lang="en-US" sz="2600">
                <a:solidFill>
                  <a:srgbClr val="737373"/>
                </a:solidFill>
                <a:latin typeface="Poppins"/>
                <a:ea typeface="Poppins"/>
                <a:cs typeface="Poppins"/>
                <a:sym typeface="Poppins"/>
              </a:rPr>
              <a:t>Pérdida de calidad con cada copia</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Se estira con el uso, deteriorando </a:t>
            </a:r>
          </a:p>
          <a:p>
            <a:pPr algn="just" marL="594361" indent="-198120" lvl="2">
              <a:lnSpc>
                <a:spcPts val="4056"/>
              </a:lnSpc>
            </a:pPr>
            <a:r>
              <a:rPr lang="en-US" sz="2600">
                <a:solidFill>
                  <a:srgbClr val="737373"/>
                </a:solidFill>
                <a:latin typeface="Poppins"/>
                <a:ea typeface="Poppins"/>
                <a:cs typeface="Poppins"/>
                <a:sym typeface="Poppins"/>
              </a:rPr>
              <a:t>    la información </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Necesidad de un mecanismo complejo </a:t>
            </a:r>
          </a:p>
          <a:p>
            <a:pPr algn="just" marL="594361" indent="-198120" lvl="2">
              <a:lnSpc>
                <a:spcPts val="4056"/>
              </a:lnSpc>
            </a:pPr>
            <a:r>
              <a:rPr lang="en-US" sz="2600">
                <a:solidFill>
                  <a:srgbClr val="737373"/>
                </a:solidFill>
                <a:latin typeface="Poppins"/>
                <a:ea typeface="Poppins"/>
                <a:cs typeface="Poppins"/>
                <a:sym typeface="Poppins"/>
              </a:rPr>
              <a:t>   para la lectura</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0">
            <a:off x="10087911" y="-4008763"/>
            <a:ext cx="4828984" cy="4820204"/>
            <a:chOff x="0" y="0"/>
            <a:chExt cx="6438645" cy="6426939"/>
          </a:xfrm>
        </p:grpSpPr>
        <p:sp>
          <p:nvSpPr>
            <p:cNvPr name="Freeform 7" id="7"/>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4">
                <a:alphaModFix amt="47000"/>
              </a:blip>
              <a:stretch>
                <a:fillRect l="-20" t="0" r="-20" b="0"/>
              </a:stretch>
            </a:blipFill>
          </p:spPr>
        </p:sp>
      </p:grpSp>
      <p:grpSp>
        <p:nvGrpSpPr>
          <p:cNvPr name="Group 8" id="8"/>
          <p:cNvGrpSpPr/>
          <p:nvPr/>
        </p:nvGrpSpPr>
        <p:grpSpPr>
          <a:xfrm rot="9451627">
            <a:off x="-1152667" y="-1825469"/>
            <a:ext cx="5343238" cy="4041431"/>
            <a:chOff x="0" y="0"/>
            <a:chExt cx="7124318" cy="5388575"/>
          </a:xfrm>
        </p:grpSpPr>
        <p:sp>
          <p:nvSpPr>
            <p:cNvPr name="Freeform 9" id="9"/>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5"/>
              <a:stretch>
                <a:fillRect l="0" t="-108" r="0" b="-107"/>
              </a:stretch>
            </a:blipFill>
          </p:spPr>
        </p:sp>
      </p:grpSp>
      <p:grpSp>
        <p:nvGrpSpPr>
          <p:cNvPr name="Group 10" id="10"/>
          <p:cNvGrpSpPr/>
          <p:nvPr/>
        </p:nvGrpSpPr>
        <p:grpSpPr>
          <a:xfrm rot="0">
            <a:off x="-1421876" y="-3678699"/>
            <a:ext cx="5285098" cy="5256271"/>
            <a:chOff x="0" y="0"/>
            <a:chExt cx="7046798" cy="7008361"/>
          </a:xfrm>
        </p:grpSpPr>
        <p:sp>
          <p:nvSpPr>
            <p:cNvPr name="Freeform 11" id="11"/>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6"/>
              <a:stretch>
                <a:fillRect l="0" t="-80" r="0" b="-80"/>
              </a:stretch>
            </a:blipFill>
          </p:spPr>
        </p:sp>
      </p:grpSp>
      <p:sp>
        <p:nvSpPr>
          <p:cNvPr name="TextBox 12" id="12"/>
          <p:cNvSpPr txBox="true"/>
          <p:nvPr/>
        </p:nvSpPr>
        <p:spPr>
          <a:xfrm rot="0">
            <a:off x="1905021" y="5229319"/>
            <a:ext cx="14478000" cy="2330850"/>
          </a:xfrm>
          <a:prstGeom prst="rect">
            <a:avLst/>
          </a:prstGeom>
        </p:spPr>
        <p:txBody>
          <a:bodyPr anchor="t" rtlCol="false" tIns="0" lIns="0" bIns="0" rIns="0">
            <a:spAutoFit/>
          </a:bodyPr>
          <a:lstStyle/>
          <a:p>
            <a:pPr algn="just">
              <a:lnSpc>
                <a:spcPts val="4529"/>
              </a:lnSpc>
            </a:pPr>
            <a:r>
              <a:rPr lang="en-US" sz="3199">
                <a:solidFill>
                  <a:srgbClr val="737373"/>
                </a:solidFill>
                <a:latin typeface="Poppins"/>
                <a:ea typeface="Poppins"/>
                <a:cs typeface="Poppins"/>
                <a:sym typeface="Poppins"/>
              </a:rPr>
              <a:t>Este es un tipo de almacenamiento cuenta con la particularidad de ser bastante compactos ya que la información es grabada sobre la superficie, su capacidad puede variar dependiendo del dispositivo o el tipo de escritura. </a:t>
            </a:r>
          </a:p>
        </p:txBody>
      </p:sp>
      <p:sp>
        <p:nvSpPr>
          <p:cNvPr name="TextBox 13" id="13"/>
          <p:cNvSpPr txBox="true"/>
          <p:nvPr/>
        </p:nvSpPr>
        <p:spPr>
          <a:xfrm rot="0">
            <a:off x="5864503" y="3507756"/>
            <a:ext cx="7853099" cy="857250"/>
          </a:xfrm>
          <a:prstGeom prst="rect">
            <a:avLst/>
          </a:prstGeom>
        </p:spPr>
        <p:txBody>
          <a:bodyPr anchor="t" rtlCol="false" tIns="0" lIns="0" bIns="0" rIns="0">
            <a:spAutoFit/>
          </a:bodyPr>
          <a:lstStyle/>
          <a:p>
            <a:pPr algn="ctr">
              <a:lnSpc>
                <a:spcPts val="6478"/>
              </a:lnSpc>
            </a:pPr>
            <a:r>
              <a:rPr lang="en-US" b="true" sz="4498" i="true">
                <a:solidFill>
                  <a:srgbClr val="1B4A9B"/>
                </a:solidFill>
                <a:latin typeface="Poppins Bold Italics"/>
                <a:ea typeface="Poppins Bold Italics"/>
                <a:cs typeface="Poppins Bold Italics"/>
                <a:sym typeface="Poppins Bold Italics"/>
              </a:rPr>
              <a:t>Almacenamiento óptico</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0">
            <a:off x="10087911" y="-4008763"/>
            <a:ext cx="4828984" cy="4820204"/>
            <a:chOff x="0" y="0"/>
            <a:chExt cx="6438645" cy="6426939"/>
          </a:xfrm>
        </p:grpSpPr>
        <p:sp>
          <p:nvSpPr>
            <p:cNvPr name="Freeform 5" id="5"/>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3">
                <a:alphaModFix amt="47000"/>
              </a:blip>
              <a:stretch>
                <a:fillRect l="-20" t="0" r="-20" b="0"/>
              </a:stretch>
            </a:blipFill>
          </p:spPr>
        </p:sp>
      </p:grpSp>
      <p:grpSp>
        <p:nvGrpSpPr>
          <p:cNvPr name="Group 6" id="6"/>
          <p:cNvGrpSpPr/>
          <p:nvPr/>
        </p:nvGrpSpPr>
        <p:grpSpPr>
          <a:xfrm rot="9451627">
            <a:off x="-1152667" y="-1825469"/>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0">
            <a:off x="-1421876" y="-3678699"/>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sp>
        <p:nvSpPr>
          <p:cNvPr name="Freeform 10" id="10"/>
          <p:cNvSpPr/>
          <p:nvPr/>
        </p:nvSpPr>
        <p:spPr>
          <a:xfrm flipH="false" flipV="false" rot="0">
            <a:off x="8003808" y="3167278"/>
            <a:ext cx="9554247" cy="3952443"/>
          </a:xfrm>
          <a:custGeom>
            <a:avLst/>
            <a:gdLst/>
            <a:ahLst/>
            <a:cxnLst/>
            <a:rect r="r" b="b" t="t" l="l"/>
            <a:pathLst>
              <a:path h="3952443" w="9554247">
                <a:moveTo>
                  <a:pt x="0" y="0"/>
                </a:moveTo>
                <a:lnTo>
                  <a:pt x="9554247" y="0"/>
                </a:lnTo>
                <a:lnTo>
                  <a:pt x="9554247" y="3952444"/>
                </a:lnTo>
                <a:lnTo>
                  <a:pt x="0" y="3952444"/>
                </a:lnTo>
                <a:lnTo>
                  <a:pt x="0" y="0"/>
                </a:lnTo>
                <a:close/>
              </a:path>
            </a:pathLst>
          </a:custGeom>
          <a:blipFill>
            <a:blip r:embed="rId6"/>
            <a:stretch>
              <a:fillRect l="0" t="-20060" r="-2458" b="-15231"/>
            </a:stretch>
          </a:blipFill>
        </p:spPr>
      </p:sp>
      <p:sp>
        <p:nvSpPr>
          <p:cNvPr name="TextBox 11" id="11"/>
          <p:cNvSpPr txBox="true"/>
          <p:nvPr/>
        </p:nvSpPr>
        <p:spPr>
          <a:xfrm rot="0">
            <a:off x="248948" y="1285951"/>
            <a:ext cx="7071177" cy="8027435"/>
          </a:xfrm>
          <a:prstGeom prst="rect">
            <a:avLst/>
          </a:prstGeom>
        </p:spPr>
        <p:txBody>
          <a:bodyPr anchor="t" rtlCol="false" tIns="0" lIns="0" bIns="0" rIns="0">
            <a:spAutoFit/>
          </a:bodyPr>
          <a:lstStyle/>
          <a:p>
            <a:pPr algn="just">
              <a:lnSpc>
                <a:spcPts val="3651"/>
              </a:lnSpc>
            </a:pPr>
            <a:r>
              <a:rPr lang="en-US" sz="2578">
                <a:solidFill>
                  <a:srgbClr val="000000"/>
                </a:solidFill>
                <a:latin typeface="Poppins"/>
                <a:ea typeface="Poppins"/>
                <a:cs typeface="Poppins"/>
                <a:sym typeface="Poppins"/>
              </a:rPr>
              <a:t>Entre los dispositivos de almacenamiento de este tipo podemos encontrar: </a:t>
            </a:r>
          </a:p>
          <a:p>
            <a:pPr algn="just">
              <a:lnSpc>
                <a:spcPts val="1598"/>
              </a:lnSpc>
            </a:pPr>
          </a:p>
          <a:p>
            <a:pPr algn="l" marL="556760" indent="-278380" lvl="1">
              <a:lnSpc>
                <a:spcPts val="3651"/>
              </a:lnSpc>
              <a:buFont typeface="Arial"/>
              <a:buChar char="•"/>
            </a:pPr>
            <a:r>
              <a:rPr lang="en-US" sz="2578">
                <a:solidFill>
                  <a:srgbClr val="000000"/>
                </a:solidFill>
                <a:latin typeface="Poppins"/>
                <a:ea typeface="Poppins"/>
                <a:cs typeface="Poppins"/>
                <a:sym typeface="Poppins"/>
              </a:rPr>
              <a:t>CD (700 MB): El estándar clásico para música y software ligero.</a:t>
            </a:r>
          </a:p>
          <a:p>
            <a:pPr algn="l" marL="556760" indent="-278380" lvl="1">
              <a:lnSpc>
                <a:spcPts val="3651"/>
              </a:lnSpc>
              <a:buFont typeface="Arial"/>
              <a:buChar char="•"/>
            </a:pPr>
            <a:r>
              <a:rPr lang="en-US" sz="2578">
                <a:solidFill>
                  <a:srgbClr val="000000"/>
                </a:solidFill>
                <a:latin typeface="Poppins"/>
                <a:ea typeface="Poppins"/>
                <a:cs typeface="Poppins"/>
                <a:sym typeface="Poppins"/>
              </a:rPr>
              <a:t>MINI DVD (1.5 GB): Formato compacto (8 cm) utilizado en videocámaras antiguas y consolas como la GameCube.</a:t>
            </a:r>
          </a:p>
          <a:p>
            <a:pPr algn="l" marL="556760" indent="-278380" lvl="1">
              <a:lnSpc>
                <a:spcPts val="3651"/>
              </a:lnSpc>
              <a:buFont typeface="Arial"/>
              <a:buChar char="•"/>
            </a:pPr>
            <a:r>
              <a:rPr lang="en-US" sz="2578">
                <a:solidFill>
                  <a:srgbClr val="000000"/>
                </a:solidFill>
                <a:latin typeface="Poppins"/>
                <a:ea typeface="Poppins"/>
                <a:cs typeface="Poppins"/>
                <a:sym typeface="Poppins"/>
              </a:rPr>
              <a:t>DVD (4.7 GB): El salto masivo que permitió el cine digital y juegos de gran capacidad; 7 veces más espacio que un CD.</a:t>
            </a:r>
          </a:p>
          <a:p>
            <a:pPr algn="l" marL="556760" indent="-278380" lvl="1">
              <a:lnSpc>
                <a:spcPts val="3651"/>
              </a:lnSpc>
              <a:buFont typeface="Arial"/>
              <a:buChar char="•"/>
            </a:pPr>
            <a:r>
              <a:rPr lang="en-US" sz="2578">
                <a:solidFill>
                  <a:srgbClr val="000000"/>
                </a:solidFill>
                <a:latin typeface="Poppins"/>
                <a:ea typeface="Poppins"/>
                <a:cs typeface="Poppins"/>
                <a:sym typeface="Poppins"/>
              </a:rPr>
              <a:t>HD DVD (30 GB): Diseñado para video en alta definición (1080p); fue el gran competidor que perdió la batalla contra el Blu-ray.</a:t>
            </a:r>
          </a:p>
          <a:p>
            <a:pPr algn="l">
              <a:lnSpc>
                <a:spcPts val="3651"/>
              </a:lnSpc>
            </a:pP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10500662" y="2057166"/>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0">
            <a:off x="10087911" y="-4008763"/>
            <a:ext cx="4828984" cy="4820204"/>
            <a:chOff x="0" y="0"/>
            <a:chExt cx="6438645" cy="6426939"/>
          </a:xfrm>
        </p:grpSpPr>
        <p:sp>
          <p:nvSpPr>
            <p:cNvPr name="Freeform 7" id="7"/>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4">
                <a:alphaModFix amt="47000"/>
              </a:blip>
              <a:stretch>
                <a:fillRect l="-20" t="0" r="-20" b="0"/>
              </a:stretch>
            </a:blipFill>
          </p:spPr>
        </p:sp>
      </p:grpSp>
      <p:grpSp>
        <p:nvGrpSpPr>
          <p:cNvPr name="Group 8" id="8"/>
          <p:cNvGrpSpPr/>
          <p:nvPr/>
        </p:nvGrpSpPr>
        <p:grpSpPr>
          <a:xfrm rot="9451627">
            <a:off x="-1152667" y="-1825469"/>
            <a:ext cx="5343238" cy="4041431"/>
            <a:chOff x="0" y="0"/>
            <a:chExt cx="7124318" cy="5388575"/>
          </a:xfrm>
        </p:grpSpPr>
        <p:sp>
          <p:nvSpPr>
            <p:cNvPr name="Freeform 9" id="9"/>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5"/>
              <a:stretch>
                <a:fillRect l="0" t="-108" r="0" b="-107"/>
              </a:stretch>
            </a:blipFill>
          </p:spPr>
        </p:sp>
      </p:grpSp>
      <p:grpSp>
        <p:nvGrpSpPr>
          <p:cNvPr name="Group 10" id="10"/>
          <p:cNvGrpSpPr/>
          <p:nvPr/>
        </p:nvGrpSpPr>
        <p:grpSpPr>
          <a:xfrm rot="0">
            <a:off x="-1421876" y="-3678699"/>
            <a:ext cx="5285098" cy="5256271"/>
            <a:chOff x="0" y="0"/>
            <a:chExt cx="7046798" cy="7008361"/>
          </a:xfrm>
        </p:grpSpPr>
        <p:sp>
          <p:nvSpPr>
            <p:cNvPr name="Freeform 11" id="11"/>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6"/>
              <a:stretch>
                <a:fillRect l="0" t="-80" r="0" b="-80"/>
              </a:stretch>
            </a:blipFill>
          </p:spPr>
        </p:sp>
      </p:grpSp>
      <p:sp>
        <p:nvSpPr>
          <p:cNvPr name="Freeform 12" id="12"/>
          <p:cNvSpPr/>
          <p:nvPr/>
        </p:nvSpPr>
        <p:spPr>
          <a:xfrm flipH="false" flipV="false" rot="0">
            <a:off x="2974434" y="2225828"/>
            <a:ext cx="12162194" cy="7192722"/>
          </a:xfrm>
          <a:custGeom>
            <a:avLst/>
            <a:gdLst/>
            <a:ahLst/>
            <a:cxnLst/>
            <a:rect r="r" b="b" t="t" l="l"/>
            <a:pathLst>
              <a:path h="7192722" w="12162194">
                <a:moveTo>
                  <a:pt x="0" y="0"/>
                </a:moveTo>
                <a:lnTo>
                  <a:pt x="12162194" y="0"/>
                </a:lnTo>
                <a:lnTo>
                  <a:pt x="12162194" y="7192722"/>
                </a:lnTo>
                <a:lnTo>
                  <a:pt x="0" y="7192722"/>
                </a:lnTo>
                <a:lnTo>
                  <a:pt x="0" y="0"/>
                </a:lnTo>
                <a:close/>
              </a:path>
            </a:pathLst>
          </a:custGeom>
          <a:blipFill>
            <a:blip r:embed="rId7"/>
            <a:stretch>
              <a:fillRect l="-4971" t="-5137" r="-6767" b="-3502"/>
            </a:stretch>
          </a:blipFill>
        </p:spPr>
      </p:sp>
      <p:sp>
        <p:nvSpPr>
          <p:cNvPr name="TextBox 13" id="13"/>
          <p:cNvSpPr txBox="true"/>
          <p:nvPr/>
        </p:nvSpPr>
        <p:spPr>
          <a:xfrm rot="0">
            <a:off x="3241296" y="273818"/>
            <a:ext cx="11789609" cy="1644018"/>
          </a:xfrm>
          <a:prstGeom prst="rect">
            <a:avLst/>
          </a:prstGeom>
        </p:spPr>
        <p:txBody>
          <a:bodyPr anchor="t" rtlCol="false" tIns="0" lIns="0" bIns="0" rIns="0">
            <a:spAutoFit/>
          </a:bodyPr>
          <a:lstStyle/>
          <a:p>
            <a:pPr algn="ctr">
              <a:lnSpc>
                <a:spcPts val="6478"/>
              </a:lnSpc>
            </a:pPr>
            <a:r>
              <a:rPr lang="en-US" b="true" sz="4498" i="true">
                <a:solidFill>
                  <a:srgbClr val="1B4A9B"/>
                </a:solidFill>
                <a:latin typeface="Poppins Bold Italics"/>
                <a:ea typeface="Poppins Bold Italics"/>
                <a:cs typeface="Poppins Bold Italics"/>
                <a:sym typeface="Poppins Bold Italics"/>
              </a:rPr>
              <a:t>Principales aplicaciones de las unidades de almacenamiento óptico </a:t>
            </a:r>
          </a:p>
        </p:txBody>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6770" cy="10473763"/>
            <a:chOff x="0" y="0"/>
            <a:chExt cx="24795693" cy="13965017"/>
          </a:xfrm>
        </p:grpSpPr>
        <p:sp>
          <p:nvSpPr>
            <p:cNvPr name="Freeform 3" id="3"/>
            <p:cNvSpPr/>
            <p:nvPr/>
          </p:nvSpPr>
          <p:spPr>
            <a:xfrm flipH="false" flipV="false" rot="0">
              <a:off x="0" y="0"/>
              <a:ext cx="24795735" cy="13965047"/>
            </a:xfrm>
            <a:custGeom>
              <a:avLst/>
              <a:gdLst/>
              <a:ahLst/>
              <a:cxnLst/>
              <a:rect r="r" b="b" t="t" l="l"/>
              <a:pathLst>
                <a:path h="13965047" w="24795735">
                  <a:moveTo>
                    <a:pt x="0" y="0"/>
                  </a:moveTo>
                  <a:lnTo>
                    <a:pt x="24795735" y="0"/>
                  </a:lnTo>
                  <a:lnTo>
                    <a:pt x="24795735" y="13965047"/>
                  </a:lnTo>
                  <a:lnTo>
                    <a:pt x="0" y="13965047"/>
                  </a:lnTo>
                  <a:close/>
                </a:path>
              </a:pathLst>
            </a:custGeom>
            <a:solidFill>
              <a:srgbClr val="D9D9D9">
                <a:alpha val="22353"/>
              </a:srgbClr>
            </a:solidFill>
          </p:spPr>
        </p:sp>
      </p:grpSp>
      <p:grpSp>
        <p:nvGrpSpPr>
          <p:cNvPr name="Group 4" id="4"/>
          <p:cNvGrpSpPr/>
          <p:nvPr/>
        </p:nvGrpSpPr>
        <p:grpSpPr>
          <a:xfrm rot="-2310192">
            <a:off x="9697895" y="2163575"/>
            <a:ext cx="12649011" cy="9567252"/>
            <a:chOff x="0" y="0"/>
            <a:chExt cx="16865348" cy="12756336"/>
          </a:xfrm>
        </p:grpSpPr>
        <p:sp>
          <p:nvSpPr>
            <p:cNvPr name="Freeform 5" id="5"/>
            <p:cNvSpPr/>
            <p:nvPr/>
          </p:nvSpPr>
          <p:spPr>
            <a:xfrm flipH="false" flipV="false" rot="0">
              <a:off x="0" y="0"/>
              <a:ext cx="16865346" cy="12756388"/>
            </a:xfrm>
            <a:custGeom>
              <a:avLst/>
              <a:gdLst/>
              <a:ahLst/>
              <a:cxnLst/>
              <a:rect r="r" b="b" t="t" l="l"/>
              <a:pathLst>
                <a:path h="12756388" w="16865346">
                  <a:moveTo>
                    <a:pt x="0" y="0"/>
                  </a:moveTo>
                  <a:lnTo>
                    <a:pt x="16865346" y="0"/>
                  </a:lnTo>
                  <a:lnTo>
                    <a:pt x="16865346" y="12756388"/>
                  </a:lnTo>
                  <a:lnTo>
                    <a:pt x="0" y="12756388"/>
                  </a:lnTo>
                  <a:lnTo>
                    <a:pt x="0" y="0"/>
                  </a:lnTo>
                  <a:close/>
                </a:path>
              </a:pathLst>
            </a:custGeom>
            <a:blipFill>
              <a:blip r:embed="rId3">
                <a:alphaModFix amt="7000"/>
              </a:blip>
              <a:stretch>
                <a:fillRect l="0" t="-108" r="0" b="-107"/>
              </a:stretch>
            </a:blipFill>
          </p:spPr>
        </p:sp>
      </p:grpSp>
      <p:grpSp>
        <p:nvGrpSpPr>
          <p:cNvPr name="Group 6" id="6"/>
          <p:cNvGrpSpPr/>
          <p:nvPr/>
        </p:nvGrpSpPr>
        <p:grpSpPr>
          <a:xfrm rot="0">
            <a:off x="10087911" y="-4008763"/>
            <a:ext cx="4828984" cy="4820204"/>
            <a:chOff x="0" y="0"/>
            <a:chExt cx="6438645" cy="6426939"/>
          </a:xfrm>
        </p:grpSpPr>
        <p:sp>
          <p:nvSpPr>
            <p:cNvPr name="Freeform 7" id="7"/>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4">
                <a:alphaModFix amt="47000"/>
              </a:blip>
              <a:stretch>
                <a:fillRect l="-20" t="0" r="-20" b="0"/>
              </a:stretch>
            </a:blipFill>
          </p:spPr>
        </p:sp>
      </p:grpSp>
      <p:grpSp>
        <p:nvGrpSpPr>
          <p:cNvPr name="Group 8" id="8"/>
          <p:cNvGrpSpPr/>
          <p:nvPr/>
        </p:nvGrpSpPr>
        <p:grpSpPr>
          <a:xfrm rot="9452055">
            <a:off x="-1158268" y="-1828639"/>
            <a:ext cx="5348396" cy="4045332"/>
            <a:chOff x="0" y="0"/>
            <a:chExt cx="7131194" cy="5393776"/>
          </a:xfrm>
        </p:grpSpPr>
        <p:sp>
          <p:nvSpPr>
            <p:cNvPr name="Freeform 9" id="9"/>
            <p:cNvSpPr/>
            <p:nvPr/>
          </p:nvSpPr>
          <p:spPr>
            <a:xfrm flipH="false" flipV="false" rot="0">
              <a:off x="0" y="0"/>
              <a:ext cx="7131177" cy="5393817"/>
            </a:xfrm>
            <a:custGeom>
              <a:avLst/>
              <a:gdLst/>
              <a:ahLst/>
              <a:cxnLst/>
              <a:rect r="r" b="b" t="t" l="l"/>
              <a:pathLst>
                <a:path h="5393817" w="7131177">
                  <a:moveTo>
                    <a:pt x="0" y="0"/>
                  </a:moveTo>
                  <a:lnTo>
                    <a:pt x="7131177" y="0"/>
                  </a:lnTo>
                  <a:lnTo>
                    <a:pt x="7131177" y="5393817"/>
                  </a:lnTo>
                  <a:lnTo>
                    <a:pt x="0" y="5393817"/>
                  </a:lnTo>
                  <a:lnTo>
                    <a:pt x="0" y="0"/>
                  </a:lnTo>
                  <a:close/>
                </a:path>
              </a:pathLst>
            </a:custGeom>
            <a:blipFill>
              <a:blip r:embed="rId5"/>
              <a:stretch>
                <a:fillRect l="0" t="-108" r="0" b="-107"/>
              </a:stretch>
            </a:blipFill>
          </p:spPr>
        </p:sp>
      </p:grpSp>
      <p:grpSp>
        <p:nvGrpSpPr>
          <p:cNvPr name="Group 10" id="10"/>
          <p:cNvGrpSpPr/>
          <p:nvPr/>
        </p:nvGrpSpPr>
        <p:grpSpPr>
          <a:xfrm rot="0">
            <a:off x="-1421875" y="-3678699"/>
            <a:ext cx="5285098" cy="5256270"/>
            <a:chOff x="0" y="0"/>
            <a:chExt cx="7046798" cy="7008360"/>
          </a:xfrm>
        </p:grpSpPr>
        <p:sp>
          <p:nvSpPr>
            <p:cNvPr name="Freeform 11" id="11"/>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6"/>
              <a:stretch>
                <a:fillRect l="0" t="-80" r="0" b="-80"/>
              </a:stretch>
            </a:blipFill>
          </p:spPr>
        </p:sp>
      </p:grpSp>
      <p:sp>
        <p:nvSpPr>
          <p:cNvPr name="TextBox 12" id="12"/>
          <p:cNvSpPr txBox="true"/>
          <p:nvPr/>
        </p:nvSpPr>
        <p:spPr>
          <a:xfrm rot="0">
            <a:off x="1425541" y="2987848"/>
            <a:ext cx="4313400" cy="748950"/>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Ventajas</a:t>
            </a:r>
          </a:p>
        </p:txBody>
      </p:sp>
      <p:sp>
        <p:nvSpPr>
          <p:cNvPr name="TextBox 13" id="13"/>
          <p:cNvSpPr txBox="true"/>
          <p:nvPr/>
        </p:nvSpPr>
        <p:spPr>
          <a:xfrm rot="0">
            <a:off x="9545990" y="3056298"/>
            <a:ext cx="4313400" cy="748950"/>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Desventajas</a:t>
            </a:r>
          </a:p>
        </p:txBody>
      </p:sp>
      <p:sp>
        <p:nvSpPr>
          <p:cNvPr name="TextBox 14" id="14"/>
          <p:cNvSpPr txBox="true"/>
          <p:nvPr/>
        </p:nvSpPr>
        <p:spPr>
          <a:xfrm rot="0">
            <a:off x="849375" y="4318425"/>
            <a:ext cx="7678200" cy="5187375"/>
          </a:xfrm>
          <a:prstGeom prst="rect">
            <a:avLst/>
          </a:prstGeom>
        </p:spPr>
        <p:txBody>
          <a:bodyPr anchor="t" rtlCol="false" tIns="0" lIns="0" bIns="0" rIns="0">
            <a:spAutoFit/>
          </a:bodyPr>
          <a:lstStyle/>
          <a:p>
            <a:pPr algn="just" marL="594361" indent="-198120" lvl="2">
              <a:lnSpc>
                <a:spcPts val="4056"/>
              </a:lnSpc>
              <a:buFont typeface="Arial"/>
              <a:buChar char="⚬"/>
            </a:pPr>
            <a:r>
              <a:rPr lang="en-US" sz="2600">
                <a:solidFill>
                  <a:srgbClr val="737373"/>
                </a:solidFill>
                <a:latin typeface="Poppins"/>
                <a:ea typeface="Poppins"/>
                <a:cs typeface="Poppins"/>
                <a:sym typeface="Poppins"/>
              </a:rPr>
              <a:t>Almacenamiento a largo plazo</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inmutabilidad (una vez grabados, en discos de solo lectura, no pueden ser modificados o eliminados).</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No son afectados por campos magnéticos, a diferencia de discos duros y algunas memorias flash.</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Bajo costo por unidad</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Compatibilidad con múltiples dispositivos que incluyen lectores ópticos. </a:t>
            </a:r>
          </a:p>
        </p:txBody>
      </p:sp>
      <p:sp>
        <p:nvSpPr>
          <p:cNvPr name="TextBox 15" id="15"/>
          <p:cNvSpPr txBox="true"/>
          <p:nvPr/>
        </p:nvSpPr>
        <p:spPr>
          <a:xfrm rot="0">
            <a:off x="9287873" y="4318425"/>
            <a:ext cx="7526700" cy="4667175"/>
          </a:xfrm>
          <a:prstGeom prst="rect">
            <a:avLst/>
          </a:prstGeom>
        </p:spPr>
        <p:txBody>
          <a:bodyPr anchor="t" rtlCol="false" tIns="0" lIns="0" bIns="0" rIns="0">
            <a:spAutoFit/>
          </a:bodyPr>
          <a:lstStyle/>
          <a:p>
            <a:pPr algn="just" marL="594361" indent="-198120" lvl="2">
              <a:lnSpc>
                <a:spcPts val="4056"/>
              </a:lnSpc>
              <a:buFont typeface="Arial"/>
              <a:buChar char="⚬"/>
            </a:pPr>
            <a:r>
              <a:rPr lang="en-US" sz="2600">
                <a:solidFill>
                  <a:srgbClr val="737373"/>
                </a:solidFill>
                <a:latin typeface="Poppins"/>
                <a:ea typeface="Poppins"/>
                <a:cs typeface="Poppins"/>
                <a:sym typeface="Poppins"/>
              </a:rPr>
              <a:t>Capacidad limitada en comparación con los HDD y SSD</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Velocidad de escritura/lectura es considerablemente más baja</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Son propensos a rayarse y deteriorarse con el tiempo</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Poca portabilidad comparados con memorias usb</a:t>
            </a:r>
          </a:p>
          <a:p>
            <a:pPr algn="just" marL="594361" indent="-198120" lvl="2">
              <a:lnSpc>
                <a:spcPts val="4056"/>
              </a:lnSpc>
              <a:buFont typeface="Arial"/>
              <a:buChar char="⚬"/>
            </a:pPr>
            <a:r>
              <a:rPr lang="en-US" sz="2600">
                <a:solidFill>
                  <a:srgbClr val="737373"/>
                </a:solidFill>
                <a:latin typeface="Poppins"/>
                <a:ea typeface="Poppins"/>
                <a:cs typeface="Poppins"/>
                <a:sym typeface="Poppins"/>
              </a:rPr>
              <a:t>Obsolescencia.</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716">
            <a:off x="15498160" y="7722585"/>
            <a:ext cx="5343218" cy="4041416"/>
            <a:chOff x="0" y="0"/>
            <a:chExt cx="7124290" cy="5388554"/>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657">
            <a:off x="16490198" y="8408916"/>
            <a:ext cx="5285078" cy="5256250"/>
            <a:chOff x="0" y="0"/>
            <a:chExt cx="7046771" cy="7008334"/>
          </a:xfrm>
        </p:grpSpPr>
        <p:sp>
          <p:nvSpPr>
            <p:cNvPr name="Freeform 9" id="9"/>
            <p:cNvSpPr/>
            <p:nvPr/>
          </p:nvSpPr>
          <p:spPr>
            <a:xfrm flipH="false" flipV="false" rot="0">
              <a:off x="0" y="0"/>
              <a:ext cx="7046722" cy="7008368"/>
            </a:xfrm>
            <a:custGeom>
              <a:avLst/>
              <a:gdLst/>
              <a:ahLst/>
              <a:cxnLst/>
              <a:rect r="r" b="b" t="t" l="l"/>
              <a:pathLst>
                <a:path h="7008368" w="7046722">
                  <a:moveTo>
                    <a:pt x="0" y="0"/>
                  </a:moveTo>
                  <a:lnTo>
                    <a:pt x="7046722" y="0"/>
                  </a:lnTo>
                  <a:lnTo>
                    <a:pt x="7046722" y="7008368"/>
                  </a:lnTo>
                  <a:lnTo>
                    <a:pt x="0" y="7008368"/>
                  </a:lnTo>
                  <a:lnTo>
                    <a:pt x="0" y="0"/>
                  </a:lnTo>
                  <a:close/>
                </a:path>
              </a:pathLst>
            </a:custGeom>
            <a:blipFill>
              <a:blip r:embed="rId5"/>
              <a:stretch>
                <a:fillRect l="0" t="-80" r="0" b="-79"/>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10369964" y="777204"/>
            <a:ext cx="6858000" cy="748950"/>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DISCO DURO (HDD)</a:t>
            </a:r>
          </a:p>
        </p:txBody>
      </p:sp>
      <p:grpSp>
        <p:nvGrpSpPr>
          <p:cNvPr name="Group 13" id="13"/>
          <p:cNvGrpSpPr/>
          <p:nvPr/>
        </p:nvGrpSpPr>
        <p:grpSpPr>
          <a:xfrm rot="0">
            <a:off x="211000" y="-48746"/>
            <a:ext cx="10384491" cy="10384491"/>
            <a:chOff x="0" y="0"/>
            <a:chExt cx="13845988" cy="13845988"/>
          </a:xfrm>
        </p:grpSpPr>
        <p:sp>
          <p:nvSpPr>
            <p:cNvPr name="Freeform 14" id="14"/>
            <p:cNvSpPr/>
            <p:nvPr/>
          </p:nvSpPr>
          <p:spPr>
            <a:xfrm flipH="false" flipV="false" rot="0">
              <a:off x="0" y="0"/>
              <a:ext cx="13846048" cy="13846048"/>
            </a:xfrm>
            <a:custGeom>
              <a:avLst/>
              <a:gdLst/>
              <a:ahLst/>
              <a:cxnLst/>
              <a:rect r="r" b="b" t="t" l="l"/>
              <a:pathLst>
                <a:path h="13846048" w="13846048">
                  <a:moveTo>
                    <a:pt x="0" y="0"/>
                  </a:moveTo>
                  <a:lnTo>
                    <a:pt x="13846048" y="0"/>
                  </a:lnTo>
                  <a:lnTo>
                    <a:pt x="13846048" y="13846048"/>
                  </a:lnTo>
                  <a:lnTo>
                    <a:pt x="0" y="13846048"/>
                  </a:lnTo>
                  <a:lnTo>
                    <a:pt x="0" y="0"/>
                  </a:lnTo>
                  <a:close/>
                </a:path>
              </a:pathLst>
            </a:custGeom>
            <a:blipFill>
              <a:blip r:embed="rId7">
                <a:alphaModFix amt="12000"/>
              </a:blip>
              <a:stretch>
                <a:fillRect l="0" t="0" r="0" b="0"/>
              </a:stretch>
            </a:blipFill>
          </p:spPr>
        </p:sp>
      </p:grpSp>
      <p:grpSp>
        <p:nvGrpSpPr>
          <p:cNvPr name="Group 15" id="15"/>
          <p:cNvGrpSpPr/>
          <p:nvPr/>
        </p:nvGrpSpPr>
        <p:grpSpPr>
          <a:xfrm rot="0">
            <a:off x="764786" y="505040"/>
            <a:ext cx="9276918" cy="9276918"/>
            <a:chOff x="0" y="0"/>
            <a:chExt cx="12369224" cy="12369224"/>
          </a:xfrm>
        </p:grpSpPr>
        <p:sp>
          <p:nvSpPr>
            <p:cNvPr name="Freeform 16" id="16"/>
            <p:cNvSpPr/>
            <p:nvPr/>
          </p:nvSpPr>
          <p:spPr>
            <a:xfrm flipH="false" flipV="false" rot="0">
              <a:off x="0" y="0"/>
              <a:ext cx="12369165" cy="12369165"/>
            </a:xfrm>
            <a:custGeom>
              <a:avLst/>
              <a:gdLst/>
              <a:ahLst/>
              <a:cxnLst/>
              <a:rect r="r" b="b" t="t" l="l"/>
              <a:pathLst>
                <a:path h="12369165" w="12369165">
                  <a:moveTo>
                    <a:pt x="0" y="0"/>
                  </a:moveTo>
                  <a:lnTo>
                    <a:pt x="12369165" y="0"/>
                  </a:lnTo>
                  <a:lnTo>
                    <a:pt x="12369165" y="12369165"/>
                  </a:lnTo>
                  <a:lnTo>
                    <a:pt x="0" y="12369165"/>
                  </a:lnTo>
                  <a:lnTo>
                    <a:pt x="0" y="0"/>
                  </a:lnTo>
                  <a:close/>
                </a:path>
              </a:pathLst>
            </a:custGeom>
            <a:blipFill>
              <a:blip r:embed="rId8"/>
              <a:stretch>
                <a:fillRect l="0" t="0" r="0" b="0"/>
              </a:stretch>
            </a:blipFill>
          </p:spPr>
        </p:sp>
      </p:grpSp>
      <p:grpSp>
        <p:nvGrpSpPr>
          <p:cNvPr name="Group 17" id="17"/>
          <p:cNvGrpSpPr/>
          <p:nvPr/>
        </p:nvGrpSpPr>
        <p:grpSpPr>
          <a:xfrm rot="0">
            <a:off x="998078" y="733941"/>
            <a:ext cx="8789098" cy="8789098"/>
            <a:chOff x="0" y="0"/>
            <a:chExt cx="11718797" cy="11718797"/>
          </a:xfrm>
        </p:grpSpPr>
        <p:sp>
          <p:nvSpPr>
            <p:cNvPr name="Freeform 18" id="18"/>
            <p:cNvSpPr/>
            <p:nvPr/>
          </p:nvSpPr>
          <p:spPr>
            <a:xfrm flipH="false" flipV="false" rot="0">
              <a:off x="0" y="0"/>
              <a:ext cx="11718798" cy="11718798"/>
            </a:xfrm>
            <a:custGeom>
              <a:avLst/>
              <a:gdLst/>
              <a:ahLst/>
              <a:cxnLst/>
              <a:rect r="r" b="b" t="t" l="l"/>
              <a:pathLst>
                <a:path h="11718798" w="11718798">
                  <a:moveTo>
                    <a:pt x="5859399" y="0"/>
                  </a:moveTo>
                  <a:cubicBezTo>
                    <a:pt x="2623312" y="0"/>
                    <a:pt x="0" y="2623312"/>
                    <a:pt x="0" y="5859399"/>
                  </a:cubicBezTo>
                  <a:cubicBezTo>
                    <a:pt x="0" y="9095486"/>
                    <a:pt x="2623312" y="11718798"/>
                    <a:pt x="5859399" y="11718798"/>
                  </a:cubicBezTo>
                  <a:cubicBezTo>
                    <a:pt x="9095486" y="11718798"/>
                    <a:pt x="11718798" y="9095486"/>
                    <a:pt x="11718798" y="5859399"/>
                  </a:cubicBezTo>
                  <a:cubicBezTo>
                    <a:pt x="11718798" y="2623312"/>
                    <a:pt x="9095486" y="0"/>
                    <a:pt x="5859399" y="0"/>
                  </a:cubicBezTo>
                  <a:close/>
                </a:path>
              </a:pathLst>
            </a:custGeom>
            <a:blipFill>
              <a:blip r:embed="rId9"/>
              <a:stretch>
                <a:fillRect l="-24958" t="0" r="-24958" b="0"/>
              </a:stretch>
            </a:blipFill>
          </p:spPr>
        </p:sp>
      </p:grpSp>
      <p:sp>
        <p:nvSpPr>
          <p:cNvPr name="TextBox 19" id="19"/>
          <p:cNvSpPr txBox="true"/>
          <p:nvPr/>
        </p:nvSpPr>
        <p:spPr>
          <a:xfrm rot="0">
            <a:off x="10946990" y="1677591"/>
            <a:ext cx="6709500" cy="7789125"/>
          </a:xfrm>
          <a:prstGeom prst="rect">
            <a:avLst/>
          </a:prstGeom>
        </p:spPr>
        <p:txBody>
          <a:bodyPr anchor="t" rtlCol="false" tIns="0" lIns="0" bIns="0" rIns="0">
            <a:spAutoFit/>
          </a:bodyPr>
          <a:lstStyle/>
          <a:p>
            <a:pPr algn="just">
              <a:lnSpc>
                <a:spcPts val="4680"/>
              </a:lnSpc>
            </a:pPr>
            <a:r>
              <a:rPr lang="en-US" sz="3000">
                <a:solidFill>
                  <a:srgbClr val="737373"/>
                </a:solidFill>
                <a:latin typeface="Poppins"/>
                <a:ea typeface="Poppins"/>
                <a:cs typeface="Poppins"/>
                <a:sym typeface="Poppins"/>
              </a:rPr>
              <a:t>Este tipo de dispositivo deben su nombre a su estructura compuesto uno o varios platos o discos rígidos unidos por un mismo eje que gira a gran velocidad dentro de una caja metálica sellada, en tanto, sobre cada plato y en cada una de sus caras, se encuentra situado un cabezal de lectura/escritura que flota sobre una delgada lámina de aire generada por la rotación de los discos.</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0">
            <a:off x="10087911" y="-4008763"/>
            <a:ext cx="4828984" cy="4820204"/>
            <a:chOff x="0" y="0"/>
            <a:chExt cx="6438645" cy="6426939"/>
          </a:xfrm>
        </p:grpSpPr>
        <p:sp>
          <p:nvSpPr>
            <p:cNvPr name="Freeform 7" id="7"/>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4">
                <a:alphaModFix amt="47000"/>
              </a:blip>
              <a:stretch>
                <a:fillRect l="-20" t="0" r="-20" b="0"/>
              </a:stretch>
            </a:blipFill>
          </p:spPr>
        </p:sp>
      </p:grpSp>
      <p:grpSp>
        <p:nvGrpSpPr>
          <p:cNvPr name="Group 8" id="8"/>
          <p:cNvGrpSpPr/>
          <p:nvPr/>
        </p:nvGrpSpPr>
        <p:grpSpPr>
          <a:xfrm rot="9451627">
            <a:off x="-1105493" y="-1699643"/>
            <a:ext cx="5343239" cy="4041432"/>
            <a:chOff x="0" y="0"/>
            <a:chExt cx="7124318" cy="5388576"/>
          </a:xfrm>
        </p:grpSpPr>
        <p:sp>
          <p:nvSpPr>
            <p:cNvPr name="Freeform 9" id="9"/>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5"/>
              <a:stretch>
                <a:fillRect l="0" t="-108" r="0" b="-107"/>
              </a:stretch>
            </a:blipFill>
          </p:spPr>
        </p:sp>
      </p:grpSp>
      <p:grpSp>
        <p:nvGrpSpPr>
          <p:cNvPr name="Group 10" id="10"/>
          <p:cNvGrpSpPr/>
          <p:nvPr/>
        </p:nvGrpSpPr>
        <p:grpSpPr>
          <a:xfrm rot="0">
            <a:off x="-1675026" y="-3788799"/>
            <a:ext cx="5285099" cy="5256271"/>
            <a:chOff x="0" y="0"/>
            <a:chExt cx="7046798" cy="7008362"/>
          </a:xfrm>
        </p:grpSpPr>
        <p:sp>
          <p:nvSpPr>
            <p:cNvPr name="Freeform 11" id="11"/>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6"/>
              <a:stretch>
                <a:fillRect l="0" t="-80" r="0" b="-80"/>
              </a:stretch>
            </a:blipFill>
          </p:spPr>
        </p:sp>
      </p:grpSp>
      <p:sp>
        <p:nvSpPr>
          <p:cNvPr name="TextBox 12" id="12"/>
          <p:cNvSpPr txBox="true"/>
          <p:nvPr/>
        </p:nvSpPr>
        <p:spPr>
          <a:xfrm rot="0">
            <a:off x="1233175" y="1690850"/>
            <a:ext cx="10222800" cy="8722350"/>
          </a:xfrm>
          <a:prstGeom prst="rect">
            <a:avLst/>
          </a:prstGeom>
        </p:spPr>
        <p:txBody>
          <a:bodyPr anchor="t" rtlCol="false" tIns="0" lIns="0" bIns="0" rIns="0">
            <a:spAutoFit/>
          </a:bodyPr>
          <a:lstStyle/>
          <a:p>
            <a:pPr algn="just">
              <a:lnSpc>
                <a:spcPts val="4529"/>
              </a:lnSpc>
            </a:pPr>
            <a:r>
              <a:rPr lang="en-US" sz="3199">
                <a:solidFill>
                  <a:srgbClr val="737373"/>
                </a:solidFill>
                <a:latin typeface="Poppins"/>
                <a:ea typeface="Poppins"/>
                <a:cs typeface="Poppins"/>
                <a:sym typeface="Poppins"/>
              </a:rPr>
              <a:t>Para su funcionamiento tanto en lectura y escritura consiste en el movimiento del cabezal a lo largo del disco en busca del sector deseado, realizando acciones tales como: </a:t>
            </a:r>
          </a:p>
          <a:p>
            <a:pPr algn="just" marL="731398" indent="-243799" lvl="2">
              <a:lnSpc>
                <a:spcPts val="4529"/>
              </a:lnSpc>
              <a:buFont typeface="Arial"/>
              <a:buChar char="⚬"/>
            </a:pPr>
            <a:r>
              <a:rPr lang="en-US" sz="3199">
                <a:solidFill>
                  <a:srgbClr val="737373"/>
                </a:solidFill>
                <a:latin typeface="Poppins"/>
                <a:ea typeface="Poppins"/>
                <a:cs typeface="Poppins"/>
                <a:sym typeface="Poppins"/>
              </a:rPr>
              <a:t>Tiempo medio de acceso (el tiempo medio que tarda la aguja en situarse en la pista y el sector deseado) </a:t>
            </a:r>
          </a:p>
          <a:p>
            <a:pPr algn="just" marL="731398" indent="-243799" lvl="2">
              <a:lnSpc>
                <a:spcPts val="4529"/>
              </a:lnSpc>
              <a:buFont typeface="Arial"/>
              <a:buChar char="⚬"/>
            </a:pPr>
            <a:r>
              <a:rPr lang="en-US" sz="3199">
                <a:solidFill>
                  <a:srgbClr val="737373"/>
                </a:solidFill>
                <a:latin typeface="Poppins"/>
                <a:ea typeface="Poppins"/>
                <a:cs typeface="Poppins"/>
                <a:sym typeface="Poppins"/>
              </a:rPr>
              <a:t>Tiempo de lectura/escritura (el tiempo medio que tarda el disco en leer o escribir una nueva información) </a:t>
            </a:r>
          </a:p>
          <a:p>
            <a:pPr algn="just" marL="731398" indent="-243799" lvl="2">
              <a:lnSpc>
                <a:spcPts val="4529"/>
              </a:lnSpc>
              <a:buFont typeface="Arial"/>
              <a:buChar char="⚬"/>
            </a:pPr>
            <a:r>
              <a:rPr lang="en-US" sz="3199">
                <a:solidFill>
                  <a:srgbClr val="737373"/>
                </a:solidFill>
                <a:latin typeface="Poppins"/>
                <a:ea typeface="Poppins"/>
                <a:cs typeface="Poppins"/>
                <a:sym typeface="Poppins"/>
              </a:rPr>
              <a:t>Velocidad de rotación (revoluciones por minuto de los platos) </a:t>
            </a:r>
          </a:p>
          <a:p>
            <a:pPr algn="just" marL="731398" indent="-243799" lvl="2">
              <a:lnSpc>
                <a:spcPts val="4529"/>
              </a:lnSpc>
              <a:buFont typeface="Arial"/>
              <a:buChar char="⚬"/>
            </a:pPr>
            <a:r>
              <a:rPr lang="en-US" sz="3199">
                <a:solidFill>
                  <a:srgbClr val="737373"/>
                </a:solidFill>
                <a:latin typeface="Poppins"/>
                <a:ea typeface="Poppins"/>
                <a:cs typeface="Poppins"/>
                <a:sym typeface="Poppins"/>
              </a:rPr>
              <a:t>Tasa de transferencia (velocidad con la cual traslada la información a la computadora)</a:t>
            </a:r>
          </a:p>
          <a:p>
            <a:pPr algn="just" marL="320087" indent="-106696" lvl="2">
              <a:lnSpc>
                <a:spcPts val="1982"/>
              </a:lnSpc>
            </a:pPr>
          </a:p>
        </p:txBody>
      </p:sp>
      <p:grpSp>
        <p:nvGrpSpPr>
          <p:cNvPr name="Group 13" id="13"/>
          <p:cNvGrpSpPr/>
          <p:nvPr/>
        </p:nvGrpSpPr>
        <p:grpSpPr>
          <a:xfrm rot="0">
            <a:off x="13548445" y="4042252"/>
            <a:ext cx="2880360" cy="4114800"/>
            <a:chOff x="0" y="0"/>
            <a:chExt cx="3840480" cy="5486400"/>
          </a:xfrm>
        </p:grpSpPr>
        <p:sp>
          <p:nvSpPr>
            <p:cNvPr name="Freeform 14" id="14"/>
            <p:cNvSpPr/>
            <p:nvPr/>
          </p:nvSpPr>
          <p:spPr>
            <a:xfrm flipH="false" flipV="false" rot="0">
              <a:off x="0" y="0"/>
              <a:ext cx="3840480" cy="5486400"/>
            </a:xfrm>
            <a:custGeom>
              <a:avLst/>
              <a:gdLst/>
              <a:ahLst/>
              <a:cxnLst/>
              <a:rect r="r" b="b" t="t" l="l"/>
              <a:pathLst>
                <a:path h="5486400" w="3840480">
                  <a:moveTo>
                    <a:pt x="0" y="0"/>
                  </a:moveTo>
                  <a:lnTo>
                    <a:pt x="3840480" y="0"/>
                  </a:lnTo>
                  <a:lnTo>
                    <a:pt x="3840480" y="5486400"/>
                  </a:lnTo>
                  <a:lnTo>
                    <a:pt x="0" y="5486400"/>
                  </a:lnTo>
                  <a:lnTo>
                    <a:pt x="0" y="0"/>
                  </a:lnTo>
                  <a:close/>
                </a:path>
              </a:pathLst>
            </a:custGeom>
            <a:blipFill>
              <a:blip r:embed="rId7"/>
              <a:stretch>
                <a:fillRect l="-20" t="0" r="-20" b="0"/>
              </a:stretch>
            </a:blipFill>
          </p:spPr>
        </p:sp>
      </p:gr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4968"/>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30326" y="2403918"/>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01069" y="7692629"/>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450643" y="8205918"/>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3637539" y="332258"/>
            <a:ext cx="10915646"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Disco duro (HDD)</a:t>
            </a:r>
          </a:p>
        </p:txBody>
      </p:sp>
      <p:sp>
        <p:nvSpPr>
          <p:cNvPr name="TextBox 13" id="13"/>
          <p:cNvSpPr txBox="true"/>
          <p:nvPr/>
        </p:nvSpPr>
        <p:spPr>
          <a:xfrm rot="0">
            <a:off x="2308806" y="1434305"/>
            <a:ext cx="4313520"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Ventajas</a:t>
            </a:r>
          </a:p>
        </p:txBody>
      </p:sp>
      <p:sp>
        <p:nvSpPr>
          <p:cNvPr name="TextBox 14" id="14"/>
          <p:cNvSpPr txBox="true"/>
          <p:nvPr/>
        </p:nvSpPr>
        <p:spPr>
          <a:xfrm rot="0">
            <a:off x="11498184" y="1434305"/>
            <a:ext cx="4313520"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Desventajas</a:t>
            </a:r>
          </a:p>
        </p:txBody>
      </p:sp>
      <p:sp>
        <p:nvSpPr>
          <p:cNvPr name="TextBox 15" id="15"/>
          <p:cNvSpPr txBox="true"/>
          <p:nvPr/>
        </p:nvSpPr>
        <p:spPr>
          <a:xfrm rot="0">
            <a:off x="708589" y="2466052"/>
            <a:ext cx="8198328" cy="5129022"/>
          </a:xfrm>
          <a:prstGeom prst="rect">
            <a:avLst/>
          </a:prstGeom>
        </p:spPr>
        <p:txBody>
          <a:bodyPr anchor="t" rtlCol="false" tIns="0" lIns="0" bIns="0" rIns="0">
            <a:spAutoFit/>
          </a:bodyPr>
          <a:lstStyle/>
          <a:p>
            <a:pPr algn="l" marL="518160" indent="-259080" lvl="1">
              <a:lnSpc>
                <a:spcPts val="3744"/>
              </a:lnSpc>
              <a:buFont typeface="Arial"/>
              <a:buChar char="•"/>
            </a:pPr>
            <a:r>
              <a:rPr lang="en-US" sz="2400">
                <a:solidFill>
                  <a:srgbClr val="000000"/>
                </a:solidFill>
                <a:latin typeface="Poppins"/>
                <a:ea typeface="Poppins"/>
                <a:cs typeface="Poppins"/>
                <a:sym typeface="Poppins"/>
              </a:rPr>
              <a:t>Alta capacidad de almacenamiento</a:t>
            </a:r>
          </a:p>
          <a:p>
            <a:pPr algn="l" marL="518160" indent="-259080" lvl="1">
              <a:lnSpc>
                <a:spcPts val="3744"/>
              </a:lnSpc>
              <a:buFont typeface="Arial"/>
              <a:buChar char="•"/>
            </a:pPr>
            <a:r>
              <a:rPr lang="en-US" sz="2400">
                <a:solidFill>
                  <a:srgbClr val="000000"/>
                </a:solidFill>
                <a:latin typeface="Poppins"/>
                <a:ea typeface="Poppins"/>
                <a:cs typeface="Poppins"/>
                <a:sym typeface="Poppins"/>
              </a:rPr>
              <a:t>Costo accesible</a:t>
            </a:r>
          </a:p>
          <a:p>
            <a:pPr algn="l" marL="518160" indent="-259080" lvl="1">
              <a:lnSpc>
                <a:spcPts val="3744"/>
              </a:lnSpc>
              <a:buFont typeface="Arial"/>
              <a:buChar char="•"/>
            </a:pPr>
            <a:r>
              <a:rPr lang="en-US" sz="2400">
                <a:solidFill>
                  <a:srgbClr val="000000"/>
                </a:solidFill>
                <a:latin typeface="Poppins"/>
                <a:ea typeface="Poppins"/>
                <a:cs typeface="Poppins"/>
                <a:sym typeface="Poppins"/>
              </a:rPr>
              <a:t>Promedio de vida largo</a:t>
            </a:r>
          </a:p>
          <a:p>
            <a:pPr algn="l" marL="518160" indent="-259080" lvl="1">
              <a:lnSpc>
                <a:spcPts val="3744"/>
              </a:lnSpc>
              <a:buFont typeface="Arial"/>
              <a:buChar char="•"/>
            </a:pPr>
            <a:r>
              <a:rPr lang="en-US" sz="2400">
                <a:solidFill>
                  <a:srgbClr val="000000"/>
                </a:solidFill>
                <a:latin typeface="Poppins"/>
                <a:ea typeface="Poppins"/>
                <a:cs typeface="Poppins"/>
                <a:sym typeface="Poppins"/>
              </a:rPr>
              <a:t>Mayor posibilidad de recuperación de datos ante fallos electrónicos o de software</a:t>
            </a:r>
          </a:p>
          <a:p>
            <a:pPr algn="l" marL="518160" indent="-259080" lvl="1">
              <a:lnSpc>
                <a:spcPts val="3744"/>
              </a:lnSpc>
              <a:buFont typeface="Arial"/>
              <a:buChar char="•"/>
            </a:pPr>
            <a:r>
              <a:rPr lang="en-US" sz="2400">
                <a:solidFill>
                  <a:srgbClr val="000000"/>
                </a:solidFill>
                <a:latin typeface="Poppins"/>
                <a:ea typeface="Poppins"/>
                <a:cs typeface="Poppins"/>
                <a:sym typeface="Poppins"/>
              </a:rPr>
              <a:t>Amplia disponibilidad en el mercado</a:t>
            </a:r>
          </a:p>
          <a:p>
            <a:pPr algn="l" marL="518160" indent="-259080" lvl="1">
              <a:lnSpc>
                <a:spcPts val="3744"/>
              </a:lnSpc>
              <a:buFont typeface="Arial"/>
              <a:buChar char="•"/>
            </a:pPr>
            <a:r>
              <a:rPr lang="en-US" sz="2400">
                <a:solidFill>
                  <a:srgbClr val="000000"/>
                </a:solidFill>
                <a:latin typeface="Poppins"/>
                <a:ea typeface="Poppins"/>
                <a:cs typeface="Poppins"/>
                <a:sym typeface="Poppins"/>
              </a:rPr>
              <a:t>Compatible con prácticamente cualquier sistema</a:t>
            </a:r>
          </a:p>
          <a:p>
            <a:pPr algn="l" marL="518160" indent="-259080" lvl="1">
              <a:lnSpc>
                <a:spcPts val="3744"/>
              </a:lnSpc>
              <a:buFont typeface="Arial"/>
              <a:buChar char="•"/>
            </a:pPr>
            <a:r>
              <a:rPr lang="en-US" sz="2400">
                <a:solidFill>
                  <a:srgbClr val="000000"/>
                </a:solidFill>
                <a:latin typeface="Poppins"/>
                <a:ea typeface="Poppins"/>
                <a:cs typeface="Poppins"/>
                <a:sym typeface="Poppins"/>
              </a:rPr>
              <a:t>Mayor capacidad por unidad de precio (GB/Q)</a:t>
            </a:r>
          </a:p>
          <a:p>
            <a:pPr algn="l" marL="518160" indent="-259080" lvl="1">
              <a:lnSpc>
                <a:spcPts val="3744"/>
              </a:lnSpc>
              <a:buFont typeface="Arial"/>
              <a:buChar char="•"/>
            </a:pPr>
            <a:r>
              <a:rPr lang="en-US" sz="2400">
                <a:solidFill>
                  <a:srgbClr val="000000"/>
                </a:solidFill>
                <a:latin typeface="Poppins"/>
                <a:ea typeface="Poppins"/>
                <a:cs typeface="Poppins"/>
                <a:sym typeface="Poppins"/>
              </a:rPr>
              <a:t>Ideal para almacenamiento masivo de archivos</a:t>
            </a:r>
          </a:p>
          <a:p>
            <a:pPr algn="l">
              <a:lnSpc>
                <a:spcPts val="3744"/>
              </a:lnSpc>
            </a:pPr>
          </a:p>
          <a:p>
            <a:pPr algn="l">
              <a:lnSpc>
                <a:spcPts val="3744"/>
              </a:lnSpc>
            </a:pPr>
          </a:p>
        </p:txBody>
      </p:sp>
      <p:sp>
        <p:nvSpPr>
          <p:cNvPr name="TextBox 16" id="16"/>
          <p:cNvSpPr txBox="true"/>
          <p:nvPr/>
        </p:nvSpPr>
        <p:spPr>
          <a:xfrm rot="0">
            <a:off x="9666956" y="2340773"/>
            <a:ext cx="7975977" cy="7462647"/>
          </a:xfrm>
          <a:prstGeom prst="rect">
            <a:avLst/>
          </a:prstGeom>
        </p:spPr>
        <p:txBody>
          <a:bodyPr anchor="t" rtlCol="false" tIns="0" lIns="0" bIns="0" rIns="0">
            <a:spAutoFit/>
          </a:bodyPr>
          <a:lstStyle/>
          <a:p>
            <a:pPr algn="l" marL="518160" indent="-259080" lvl="1">
              <a:lnSpc>
                <a:spcPts val="3744"/>
              </a:lnSpc>
              <a:buFont typeface="Arial"/>
              <a:buChar char="•"/>
            </a:pPr>
            <a:r>
              <a:rPr lang="en-US" sz="2400">
                <a:solidFill>
                  <a:srgbClr val="000000"/>
                </a:solidFill>
                <a:latin typeface="Poppins"/>
                <a:ea typeface="Poppins"/>
                <a:cs typeface="Poppins"/>
                <a:sym typeface="Poppins"/>
              </a:rPr>
              <a:t>Ruidosos por su mecanismo mecánico</a:t>
            </a:r>
          </a:p>
          <a:p>
            <a:pPr algn="l" marL="518160" indent="-259080" lvl="1">
              <a:lnSpc>
                <a:spcPts val="3744"/>
              </a:lnSpc>
              <a:buFont typeface="Arial"/>
              <a:buChar char="•"/>
            </a:pPr>
            <a:r>
              <a:rPr lang="en-US" sz="2400">
                <a:solidFill>
                  <a:srgbClr val="000000"/>
                </a:solidFill>
                <a:latin typeface="Poppins"/>
                <a:ea typeface="Poppins"/>
                <a:cs typeface="Poppins"/>
                <a:sym typeface="Poppins"/>
              </a:rPr>
              <a:t>Tiende a dañarse ante movimientos o golpes</a:t>
            </a:r>
          </a:p>
          <a:p>
            <a:pPr algn="l" marL="518160" indent="-259080" lvl="1">
              <a:lnSpc>
                <a:spcPts val="3744"/>
              </a:lnSpc>
              <a:buFont typeface="Arial"/>
              <a:buChar char="•"/>
            </a:pPr>
            <a:r>
              <a:rPr lang="en-US" sz="2400">
                <a:solidFill>
                  <a:srgbClr val="000000"/>
                </a:solidFill>
                <a:latin typeface="Poppins"/>
                <a:ea typeface="Poppins"/>
                <a:cs typeface="Poppins"/>
                <a:sym typeface="Poppins"/>
              </a:rPr>
              <a:t>Alto consumo energético</a:t>
            </a:r>
          </a:p>
          <a:p>
            <a:pPr algn="l" marL="518160" indent="-259080" lvl="1">
              <a:lnSpc>
                <a:spcPts val="3744"/>
              </a:lnSpc>
              <a:buFont typeface="Arial"/>
              <a:buChar char="•"/>
            </a:pPr>
            <a:r>
              <a:rPr lang="en-US" sz="2400">
                <a:solidFill>
                  <a:srgbClr val="000000"/>
                </a:solidFill>
                <a:latin typeface="Poppins"/>
                <a:ea typeface="Poppins"/>
                <a:cs typeface="Poppins"/>
                <a:sym typeface="Poppins"/>
              </a:rPr>
              <a:t>Lento procesamiento de datos</a:t>
            </a:r>
          </a:p>
          <a:p>
            <a:pPr algn="l" marL="518160" indent="-259080" lvl="1">
              <a:lnSpc>
                <a:spcPts val="3744"/>
              </a:lnSpc>
              <a:buFont typeface="Arial"/>
              <a:buChar char="•"/>
            </a:pPr>
            <a:r>
              <a:rPr lang="en-US" sz="2400">
                <a:solidFill>
                  <a:srgbClr val="000000"/>
                </a:solidFill>
                <a:latin typeface="Poppins"/>
                <a:ea typeface="Poppins"/>
                <a:cs typeface="Poppins"/>
                <a:sym typeface="Poppins"/>
              </a:rPr>
              <a:t>Mayor tiempo de arranque del sistema operativo</a:t>
            </a:r>
          </a:p>
          <a:p>
            <a:pPr algn="l" marL="518160" indent="-259080" lvl="1">
              <a:lnSpc>
                <a:spcPts val="3744"/>
              </a:lnSpc>
              <a:buFont typeface="Arial"/>
              <a:buChar char="•"/>
            </a:pPr>
            <a:r>
              <a:rPr lang="en-US" sz="2400">
                <a:solidFill>
                  <a:srgbClr val="000000"/>
                </a:solidFill>
                <a:latin typeface="Poppins"/>
                <a:ea typeface="Poppins"/>
                <a:cs typeface="Poppins"/>
                <a:sym typeface="Poppins"/>
              </a:rPr>
              <a:t>Sensible a campos magnéticos (puede corromper datos)</a:t>
            </a:r>
          </a:p>
          <a:p>
            <a:pPr algn="l" marL="518160" indent="-259080" lvl="1">
              <a:lnSpc>
                <a:spcPts val="3744"/>
              </a:lnSpc>
              <a:buFont typeface="Arial"/>
              <a:buChar char="•"/>
            </a:pPr>
            <a:r>
              <a:rPr lang="en-US" sz="2400">
                <a:solidFill>
                  <a:srgbClr val="000000"/>
                </a:solidFill>
                <a:latin typeface="Poppins"/>
                <a:ea typeface="Poppins"/>
                <a:cs typeface="Poppins"/>
                <a:sym typeface="Poppins"/>
              </a:rPr>
              <a:t>Mayor peso y tamaño físico</a:t>
            </a:r>
          </a:p>
          <a:p>
            <a:pPr algn="l" marL="518160" indent="-259080" lvl="1">
              <a:lnSpc>
                <a:spcPts val="3744"/>
              </a:lnSpc>
              <a:buFont typeface="Arial"/>
              <a:buChar char="•"/>
            </a:pPr>
            <a:r>
              <a:rPr lang="en-US" sz="2400">
                <a:solidFill>
                  <a:srgbClr val="000000"/>
                </a:solidFill>
                <a:latin typeface="Poppins"/>
                <a:ea typeface="Poppins"/>
                <a:cs typeface="Poppins"/>
                <a:sym typeface="Poppins"/>
              </a:rPr>
              <a:t>Genera más calor durante su operación</a:t>
            </a:r>
          </a:p>
          <a:p>
            <a:pPr algn="l" marL="518160" indent="-259080" lvl="1">
              <a:lnSpc>
                <a:spcPts val="3744"/>
              </a:lnSpc>
              <a:buFont typeface="Arial"/>
              <a:buChar char="•"/>
            </a:pPr>
            <a:r>
              <a:rPr lang="en-US" sz="2400">
                <a:solidFill>
                  <a:srgbClr val="000000"/>
                </a:solidFill>
                <a:latin typeface="Poppins"/>
                <a:ea typeface="Poppins"/>
                <a:cs typeface="Poppins"/>
                <a:sym typeface="Poppins"/>
              </a:rPr>
              <a:t>Fragmentación del disco afecta el rendimiento con el tiempo</a:t>
            </a:r>
          </a:p>
          <a:p>
            <a:pPr algn="l" marL="518160" indent="-259080" lvl="1">
              <a:lnSpc>
                <a:spcPts val="3744"/>
              </a:lnSpc>
              <a:buFont typeface="Arial"/>
              <a:buChar char="•"/>
            </a:pPr>
            <a:r>
              <a:rPr lang="en-US" sz="2400">
                <a:solidFill>
                  <a:srgbClr val="000000"/>
                </a:solidFill>
                <a:latin typeface="Poppins"/>
                <a:ea typeface="Poppins"/>
                <a:cs typeface="Poppins"/>
                <a:sym typeface="Poppins"/>
              </a:rPr>
              <a:t>Datos irrecuperables ante daño físico por caída o golpe fuerte</a:t>
            </a:r>
          </a:p>
          <a:p>
            <a:pPr algn="l">
              <a:lnSpc>
                <a:spcPts val="3744"/>
              </a:lnSpc>
            </a:pPr>
          </a:p>
          <a:p>
            <a:pPr algn="l">
              <a:lnSpc>
                <a:spcPts val="3744"/>
              </a:lnSpc>
            </a:pP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716">
            <a:off x="15183585" y="8121434"/>
            <a:ext cx="5343217" cy="4041416"/>
            <a:chOff x="0" y="0"/>
            <a:chExt cx="7124289" cy="5388554"/>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657">
            <a:off x="16468573" y="8634740"/>
            <a:ext cx="5285077" cy="5256250"/>
            <a:chOff x="0" y="0"/>
            <a:chExt cx="7046769" cy="7008334"/>
          </a:xfrm>
        </p:grpSpPr>
        <p:sp>
          <p:nvSpPr>
            <p:cNvPr name="Freeform 9" id="9"/>
            <p:cNvSpPr/>
            <p:nvPr/>
          </p:nvSpPr>
          <p:spPr>
            <a:xfrm flipH="false" flipV="false" rot="0">
              <a:off x="0" y="0"/>
              <a:ext cx="7046722" cy="7008368"/>
            </a:xfrm>
            <a:custGeom>
              <a:avLst/>
              <a:gdLst/>
              <a:ahLst/>
              <a:cxnLst/>
              <a:rect r="r" b="b" t="t" l="l"/>
              <a:pathLst>
                <a:path h="7008368" w="7046722">
                  <a:moveTo>
                    <a:pt x="0" y="0"/>
                  </a:moveTo>
                  <a:lnTo>
                    <a:pt x="7046722" y="0"/>
                  </a:lnTo>
                  <a:lnTo>
                    <a:pt x="7046722" y="7008368"/>
                  </a:lnTo>
                  <a:lnTo>
                    <a:pt x="0" y="7008368"/>
                  </a:lnTo>
                  <a:lnTo>
                    <a:pt x="0" y="0"/>
                  </a:lnTo>
                  <a:close/>
                </a:path>
              </a:pathLst>
            </a:custGeom>
            <a:blipFill>
              <a:blip r:embed="rId5"/>
              <a:stretch>
                <a:fillRect l="0" t="-80" r="0" b="-79"/>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grpSp>
        <p:nvGrpSpPr>
          <p:cNvPr name="Group 12" id="12"/>
          <p:cNvGrpSpPr/>
          <p:nvPr/>
        </p:nvGrpSpPr>
        <p:grpSpPr>
          <a:xfrm rot="0">
            <a:off x="211000" y="-48746"/>
            <a:ext cx="10384491" cy="10384491"/>
            <a:chOff x="0" y="0"/>
            <a:chExt cx="13845988" cy="13845988"/>
          </a:xfrm>
        </p:grpSpPr>
        <p:sp>
          <p:nvSpPr>
            <p:cNvPr name="Freeform 13" id="13"/>
            <p:cNvSpPr/>
            <p:nvPr/>
          </p:nvSpPr>
          <p:spPr>
            <a:xfrm flipH="false" flipV="false" rot="0">
              <a:off x="0" y="0"/>
              <a:ext cx="13846048" cy="13846048"/>
            </a:xfrm>
            <a:custGeom>
              <a:avLst/>
              <a:gdLst/>
              <a:ahLst/>
              <a:cxnLst/>
              <a:rect r="r" b="b" t="t" l="l"/>
              <a:pathLst>
                <a:path h="13846048" w="13846048">
                  <a:moveTo>
                    <a:pt x="0" y="0"/>
                  </a:moveTo>
                  <a:lnTo>
                    <a:pt x="13846048" y="0"/>
                  </a:lnTo>
                  <a:lnTo>
                    <a:pt x="13846048" y="13846048"/>
                  </a:lnTo>
                  <a:lnTo>
                    <a:pt x="0" y="13846048"/>
                  </a:lnTo>
                  <a:lnTo>
                    <a:pt x="0" y="0"/>
                  </a:lnTo>
                  <a:close/>
                </a:path>
              </a:pathLst>
            </a:custGeom>
            <a:blipFill>
              <a:blip r:embed="rId7">
                <a:alphaModFix amt="12000"/>
              </a:blip>
              <a:stretch>
                <a:fillRect l="0" t="0" r="0" b="0"/>
              </a:stretch>
            </a:blipFill>
          </p:spPr>
        </p:sp>
      </p:grpSp>
      <p:grpSp>
        <p:nvGrpSpPr>
          <p:cNvPr name="Group 14" id="14"/>
          <p:cNvGrpSpPr/>
          <p:nvPr/>
        </p:nvGrpSpPr>
        <p:grpSpPr>
          <a:xfrm rot="0">
            <a:off x="764786" y="505040"/>
            <a:ext cx="9276918" cy="9276918"/>
            <a:chOff x="0" y="0"/>
            <a:chExt cx="12369224" cy="12369224"/>
          </a:xfrm>
        </p:grpSpPr>
        <p:sp>
          <p:nvSpPr>
            <p:cNvPr name="Freeform 15" id="15"/>
            <p:cNvSpPr/>
            <p:nvPr/>
          </p:nvSpPr>
          <p:spPr>
            <a:xfrm flipH="false" flipV="false" rot="0">
              <a:off x="0" y="0"/>
              <a:ext cx="12369165" cy="12369165"/>
            </a:xfrm>
            <a:custGeom>
              <a:avLst/>
              <a:gdLst/>
              <a:ahLst/>
              <a:cxnLst/>
              <a:rect r="r" b="b" t="t" l="l"/>
              <a:pathLst>
                <a:path h="12369165" w="12369165">
                  <a:moveTo>
                    <a:pt x="0" y="0"/>
                  </a:moveTo>
                  <a:lnTo>
                    <a:pt x="12369165" y="0"/>
                  </a:lnTo>
                  <a:lnTo>
                    <a:pt x="12369165" y="12369165"/>
                  </a:lnTo>
                  <a:lnTo>
                    <a:pt x="0" y="12369165"/>
                  </a:lnTo>
                  <a:lnTo>
                    <a:pt x="0" y="0"/>
                  </a:lnTo>
                  <a:close/>
                </a:path>
              </a:pathLst>
            </a:custGeom>
            <a:blipFill>
              <a:blip r:embed="rId8"/>
              <a:stretch>
                <a:fillRect l="0" t="0" r="0" b="0"/>
              </a:stretch>
            </a:blipFill>
          </p:spPr>
        </p:sp>
      </p:grpSp>
      <p:grpSp>
        <p:nvGrpSpPr>
          <p:cNvPr name="Group 16" id="16"/>
          <p:cNvGrpSpPr/>
          <p:nvPr/>
        </p:nvGrpSpPr>
        <p:grpSpPr>
          <a:xfrm rot="0">
            <a:off x="998078" y="733941"/>
            <a:ext cx="8789098" cy="8789098"/>
            <a:chOff x="0" y="0"/>
            <a:chExt cx="11718797" cy="11718797"/>
          </a:xfrm>
        </p:grpSpPr>
        <p:sp>
          <p:nvSpPr>
            <p:cNvPr name="Freeform 17" id="17"/>
            <p:cNvSpPr/>
            <p:nvPr/>
          </p:nvSpPr>
          <p:spPr>
            <a:xfrm flipH="false" flipV="false" rot="0">
              <a:off x="0" y="0"/>
              <a:ext cx="11718798" cy="11718798"/>
            </a:xfrm>
            <a:custGeom>
              <a:avLst/>
              <a:gdLst/>
              <a:ahLst/>
              <a:cxnLst/>
              <a:rect r="r" b="b" t="t" l="l"/>
              <a:pathLst>
                <a:path h="11718798" w="11718798">
                  <a:moveTo>
                    <a:pt x="5859399" y="0"/>
                  </a:moveTo>
                  <a:cubicBezTo>
                    <a:pt x="2623312" y="0"/>
                    <a:pt x="0" y="2623312"/>
                    <a:pt x="0" y="5859399"/>
                  </a:cubicBezTo>
                  <a:cubicBezTo>
                    <a:pt x="0" y="9095486"/>
                    <a:pt x="2623312" y="11718798"/>
                    <a:pt x="5859399" y="11718798"/>
                  </a:cubicBezTo>
                  <a:cubicBezTo>
                    <a:pt x="9095486" y="11718798"/>
                    <a:pt x="11718798" y="9095486"/>
                    <a:pt x="11718798" y="5859399"/>
                  </a:cubicBezTo>
                  <a:cubicBezTo>
                    <a:pt x="11718798" y="2623312"/>
                    <a:pt x="9095486" y="0"/>
                    <a:pt x="5859399" y="0"/>
                  </a:cubicBezTo>
                  <a:close/>
                </a:path>
              </a:pathLst>
            </a:custGeom>
            <a:blipFill>
              <a:blip r:embed="rId9"/>
              <a:stretch>
                <a:fillRect l="-41533" t="0" r="-41533" b="0"/>
              </a:stretch>
            </a:blipFill>
          </p:spPr>
        </p:sp>
      </p:grpSp>
      <p:sp>
        <p:nvSpPr>
          <p:cNvPr name="TextBox 18" id="18"/>
          <p:cNvSpPr txBox="true"/>
          <p:nvPr/>
        </p:nvSpPr>
        <p:spPr>
          <a:xfrm rot="0">
            <a:off x="11850749" y="756699"/>
            <a:ext cx="5067600" cy="1487550"/>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UNIDAD DE ESTADO SÓLIDO (SDD)</a:t>
            </a:r>
          </a:p>
        </p:txBody>
      </p:sp>
      <p:sp>
        <p:nvSpPr>
          <p:cNvPr name="TextBox 19" id="19"/>
          <p:cNvSpPr txBox="true"/>
          <p:nvPr/>
        </p:nvSpPr>
        <p:spPr>
          <a:xfrm rot="0">
            <a:off x="11096874" y="2339235"/>
            <a:ext cx="6575358" cy="6086475"/>
          </a:xfrm>
          <a:prstGeom prst="rect">
            <a:avLst/>
          </a:prstGeom>
        </p:spPr>
        <p:txBody>
          <a:bodyPr anchor="t" rtlCol="false" tIns="0" lIns="0" bIns="0" rIns="0">
            <a:spAutoFit/>
          </a:bodyPr>
          <a:lstStyle/>
          <a:p>
            <a:pPr algn="just">
              <a:lnSpc>
                <a:spcPts val="4680"/>
              </a:lnSpc>
            </a:pPr>
            <a:r>
              <a:rPr lang="en-US" sz="3000">
                <a:solidFill>
                  <a:srgbClr val="737373"/>
                </a:solidFill>
                <a:latin typeface="Poppins"/>
                <a:ea typeface="Poppins"/>
                <a:cs typeface="Poppins"/>
                <a:sym typeface="Poppins"/>
              </a:rPr>
              <a:t>La </a:t>
            </a:r>
            <a:r>
              <a:rPr lang="en-US" b="true" sz="3000">
                <a:solidFill>
                  <a:srgbClr val="737373"/>
                </a:solidFill>
                <a:latin typeface="Poppins Bold"/>
                <a:ea typeface="Poppins Bold"/>
                <a:cs typeface="Poppins Bold"/>
                <a:sym typeface="Poppins Bold"/>
              </a:rPr>
              <a:t>unidad de estado sólido</a:t>
            </a:r>
            <a:r>
              <a:rPr lang="en-US" sz="3000">
                <a:solidFill>
                  <a:srgbClr val="737373"/>
                </a:solidFill>
                <a:latin typeface="Poppins"/>
                <a:ea typeface="Poppins"/>
                <a:cs typeface="Poppins"/>
                <a:sym typeface="Poppins"/>
              </a:rPr>
              <a:t>, la o el SSD (acrónimo inglés de Solid State Drive), también llamado a veces incorrectamente </a:t>
            </a:r>
            <a:r>
              <a:rPr lang="en-US" b="true" sz="3000">
                <a:solidFill>
                  <a:srgbClr val="737373"/>
                </a:solidFill>
                <a:latin typeface="Poppins Bold"/>
                <a:ea typeface="Poppins Bold"/>
                <a:cs typeface="Poppins Bold"/>
                <a:sym typeface="Poppins Bold"/>
              </a:rPr>
              <a:t>disco de estado sólido</a:t>
            </a:r>
            <a:r>
              <a:rPr lang="en-US" sz="3000">
                <a:solidFill>
                  <a:srgbClr val="737373"/>
                </a:solidFill>
                <a:latin typeface="Poppins"/>
                <a:ea typeface="Poppins"/>
                <a:cs typeface="Poppins"/>
                <a:sym typeface="Poppins"/>
              </a:rPr>
              <a:t> pues carece de disco, es un tipo de </a:t>
            </a:r>
            <a:r>
              <a:rPr lang="en-US" sz="3000" u="sng">
                <a:solidFill>
                  <a:srgbClr val="737373"/>
                </a:solidFill>
                <a:latin typeface="Poppins"/>
                <a:ea typeface="Poppins"/>
                <a:cs typeface="Poppins"/>
                <a:sym typeface="Poppins"/>
                <a:hlinkClick r:id="rId10" tooltip="https://www.bing.com/ck/a?!&amp;&amp;p=dd58507a487d5759JmltdHM9MTcwNjY1OTIwMCZpZ3VpZD0zODViYjVkMy0zMDY5LTYxY2QtMTI5Yy1hMWMwMzFkNzYwNzcmaW5zaWQ9NTYzNA&amp;ptn=3&amp;ver=2&amp;hsh=3&amp;fclid=385bb5d3-3069-61cd-129c-a1c031d76077&amp;u=a1L3NlYXJjaD9xPURpc3Bvc2l0aXZvJTIwZGUlMjBhbG1hY2VuYW1pZW50byUyMGRlJTIwZGF0b3MlMjB3aWtpcGVkaWEmZm9ybT1XSUtJUkU&amp;ntb=1"/>
              </a:rPr>
              <a:t>dispositivo de almacenamiento de datos</a:t>
            </a:r>
            <a:r>
              <a:rPr lang="en-US" sz="3000">
                <a:solidFill>
                  <a:srgbClr val="737373"/>
                </a:solidFill>
                <a:latin typeface="Poppins"/>
                <a:ea typeface="Poppins"/>
                <a:cs typeface="Poppins"/>
                <a:sym typeface="Poppins"/>
              </a:rPr>
              <a:t> que utiliza </a:t>
            </a:r>
            <a:r>
              <a:rPr lang="en-US" b="true" sz="3000" u="sng">
                <a:solidFill>
                  <a:srgbClr val="737373"/>
                </a:solidFill>
                <a:latin typeface="Poppins Bold"/>
                <a:ea typeface="Poppins Bold"/>
                <a:cs typeface="Poppins Bold"/>
                <a:sym typeface="Poppins Bold"/>
                <a:hlinkClick r:id="rId11" tooltip="https://www.bing.com/ck/a?!&amp;&amp;p=1f88f537ca03a68dJmltdHM9MTcwNjY1OTIwMCZpZ3VpZD0zODViYjVkMy0zMDY5LTYxY2QtMTI5Yy1hMWMwMzFkNzYwNzcmaW5zaWQ9NTYzNQ&amp;ptn=3&amp;ver=2&amp;hsh=3&amp;fclid=385bb5d3-3069-61cd-129c-a1c031d76077&amp;u=a1L3NlYXJjaD9xPU1lbW9yaWElMjBubyUyMHZvbMOhdGlsJTIwd2lraXBlZGlhJmZvcm09V0lLSVJF&amp;ntb=1"/>
              </a:rPr>
              <a:t>memoria no volátil</a:t>
            </a:r>
            <a:r>
              <a:rPr lang="en-US" sz="3000">
                <a:solidFill>
                  <a:srgbClr val="737373"/>
                </a:solidFill>
                <a:latin typeface="Poppins"/>
                <a:ea typeface="Poppins"/>
                <a:cs typeface="Poppins"/>
                <a:sym typeface="Poppins"/>
              </a:rPr>
              <a:t>, como la </a:t>
            </a:r>
            <a:r>
              <a:rPr lang="en-US" sz="3000" u="sng">
                <a:solidFill>
                  <a:srgbClr val="737373"/>
                </a:solidFill>
                <a:latin typeface="Poppins"/>
                <a:ea typeface="Poppins"/>
                <a:cs typeface="Poppins"/>
                <a:sym typeface="Poppins"/>
                <a:hlinkClick r:id="rId12" tooltip="https://www.bing.com/ck/a?!&amp;&amp;p=511f87e63e39871bJmltdHM9MTcwNjY1OTIwMCZpZ3VpZD0zODViYjVkMy0zMDY5LTYxY2QtMTI5Yy1hMWMwMzFkNzYwNzcmaW5zaWQ9NTYzNg&amp;ptn=3&amp;ver=2&amp;hsh=3&amp;fclid=385bb5d3-3069-61cd-129c-a1c031d76077&amp;u=a1L3NlYXJjaD9xPU1lbW9yaWElMjBmbGFzaCUyMHdpa2lwZWRpYSZmb3JtPVdJS0lSRQ&amp;ntb=1"/>
              </a:rPr>
              <a:t>memoria flash</a:t>
            </a:r>
            <a:r>
              <a:rPr lang="en-US" sz="3000">
                <a:solidFill>
                  <a:srgbClr val="737373"/>
                </a:solidFill>
                <a:latin typeface="Poppins"/>
                <a:ea typeface="Poppins"/>
                <a:cs typeface="Poppins"/>
                <a:sym typeface="Poppins"/>
              </a:rPr>
              <a:t>, para almacenar datos, en lugar de los </a:t>
            </a:r>
            <a:r>
              <a:rPr lang="en-US" sz="3000" u="sng">
                <a:solidFill>
                  <a:srgbClr val="737373"/>
                </a:solidFill>
                <a:latin typeface="Poppins"/>
                <a:ea typeface="Poppins"/>
                <a:cs typeface="Poppins"/>
                <a:sym typeface="Poppins"/>
                <a:hlinkClick r:id="rId13" tooltip="https://www.bing.com/ck/a?!&amp;&amp;p=607f2e49e5628378JmltdHM9MTcwNjY1OTIwMCZpZ3VpZD0zODViYjVkMy0zMDY5LTYxY2QtMTI5Yy1hMWMwMzFkNzYwNzcmaW5zaWQ9NTYzNw&amp;ptn=3&amp;ver=2&amp;hsh=3&amp;fclid=385bb5d3-3069-61cd-129c-a1c031d76077&amp;u=a1L3NlYXJjaD9xPVBsYXRvJTIwKGRpc2NvJTIwZHVybyklMjB3aWtpcGVkaWEmZm9ybT1XSUtJUkU&amp;ntb=1"/>
              </a:rPr>
              <a:t>platos o discos</a:t>
            </a:r>
            <a:r>
              <a:rPr lang="en-US" sz="3000">
                <a:solidFill>
                  <a:srgbClr val="737373"/>
                </a:solidFill>
                <a:latin typeface="Poppins"/>
                <a:ea typeface="Poppins"/>
                <a:cs typeface="Poppins"/>
                <a:sym typeface="Poppins"/>
              </a:rPr>
              <a:t> </a:t>
            </a:r>
            <a:r>
              <a:rPr lang="en-US" sz="3000" u="sng">
                <a:solidFill>
                  <a:srgbClr val="737373"/>
                </a:solidFill>
                <a:latin typeface="Poppins"/>
                <a:ea typeface="Poppins"/>
                <a:cs typeface="Poppins"/>
                <a:sym typeface="Poppins"/>
                <a:hlinkClick r:id="rId14" tooltip="https://www.bing.com/ck/a?!&amp;&amp;p=66d6df4e40e62bb0JmltdHM9MTcwNjY1OTIwMCZpZ3VpZD0zODViYjVkMy0zMDY5LTYxY2QtMTI5Yy1hMWMwMzFkNzYwNzcmaW5zaWQ9NTYzOA&amp;ptn=3&amp;ver=2&amp;hsh=3&amp;fclid=385bb5d3-3069-61cd-129c-a1c031d76077&amp;u=a1L3NlYXJjaD9xPURpc2NvJTIwbWFnbsOpdGljbyUyMHdpa2lwZWRpYSZmb3JtPVdJS0lSRQ&amp;ntb=1"/>
              </a:rPr>
              <a:t>magnéticos</a:t>
            </a:r>
            <a:r>
              <a:rPr lang="en-US" sz="3000">
                <a:solidFill>
                  <a:srgbClr val="737373"/>
                </a:solidFill>
                <a:latin typeface="Poppins"/>
                <a:ea typeface="Poppins"/>
                <a:cs typeface="Poppins"/>
                <a:sym typeface="Poppins"/>
              </a:rPr>
              <a:t> de las </a:t>
            </a:r>
            <a:r>
              <a:rPr lang="en-US" sz="3000" u="sng">
                <a:solidFill>
                  <a:srgbClr val="737373"/>
                </a:solidFill>
                <a:latin typeface="Poppins"/>
                <a:ea typeface="Poppins"/>
                <a:cs typeface="Poppins"/>
                <a:sym typeface="Poppins"/>
                <a:hlinkClick r:id="rId15" tooltip="https://www.bing.com/ck/a?!&amp;&amp;p=7f29b9a33cf0adb2JmltdHM9MTcwNjY1OTIwMCZpZ3VpZD0zODViYjVkMy0zMDY5LTYxY2QtMTI5Yy1hMWMwMzFkNzYwNzcmaW5zaWQ9NTYzOQ&amp;ptn=3&amp;ver=2&amp;hsh=3&amp;fclid=385bb5d3-3069-61cd-129c-a1c031d76077&amp;u=a1L3NlYXJjaD9xPVVuaWRhZCUyMGRlJTIwZGlzY28lMjBkdXJvJTIwd2lraXBlZGlhJmZvcm09V0lLSVJF&amp;ntb=1"/>
              </a:rPr>
              <a:t>unidades de discos duros</a:t>
            </a:r>
            <a:r>
              <a:rPr lang="en-US" sz="3000">
                <a:solidFill>
                  <a:srgbClr val="737373"/>
                </a:solidFill>
                <a:latin typeface="Poppins"/>
                <a:ea typeface="Poppins"/>
                <a:cs typeface="Poppins"/>
                <a:sym typeface="Poppins"/>
              </a:rPr>
              <a:t> (HDD)</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0">
            <a:off x="10087911" y="-4008763"/>
            <a:ext cx="4828984" cy="4820204"/>
            <a:chOff x="0" y="0"/>
            <a:chExt cx="6438645" cy="6426939"/>
          </a:xfrm>
        </p:grpSpPr>
        <p:sp>
          <p:nvSpPr>
            <p:cNvPr name="Freeform 5" id="5"/>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3">
                <a:alphaModFix amt="47000"/>
              </a:blip>
              <a:stretch>
                <a:fillRect l="-20" t="0" r="-20" b="0"/>
              </a:stretch>
            </a:blipFill>
          </p:spPr>
        </p:sp>
      </p:grpSp>
      <p:grpSp>
        <p:nvGrpSpPr>
          <p:cNvPr name="Group 6" id="6"/>
          <p:cNvGrpSpPr/>
          <p:nvPr/>
        </p:nvGrpSpPr>
        <p:grpSpPr>
          <a:xfrm rot="9451627">
            <a:off x="-1152667" y="-1825469"/>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0">
            <a:off x="-1421876" y="-3678699"/>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sp>
        <p:nvSpPr>
          <p:cNvPr name="Freeform 10" id="10"/>
          <p:cNvSpPr/>
          <p:nvPr/>
        </p:nvSpPr>
        <p:spPr>
          <a:xfrm flipH="false" flipV="false" rot="0">
            <a:off x="3038998" y="3260642"/>
            <a:ext cx="12210004" cy="6669715"/>
          </a:xfrm>
          <a:custGeom>
            <a:avLst/>
            <a:gdLst/>
            <a:ahLst/>
            <a:cxnLst/>
            <a:rect r="r" b="b" t="t" l="l"/>
            <a:pathLst>
              <a:path h="6669715" w="12210004">
                <a:moveTo>
                  <a:pt x="0" y="0"/>
                </a:moveTo>
                <a:lnTo>
                  <a:pt x="12210004" y="0"/>
                </a:lnTo>
                <a:lnTo>
                  <a:pt x="12210004" y="6669714"/>
                </a:lnTo>
                <a:lnTo>
                  <a:pt x="0" y="6669714"/>
                </a:lnTo>
                <a:lnTo>
                  <a:pt x="0" y="0"/>
                </a:lnTo>
                <a:close/>
              </a:path>
            </a:pathLst>
          </a:custGeom>
          <a:blipFill>
            <a:blip r:embed="rId6"/>
            <a:stretch>
              <a:fillRect l="0" t="0" r="0" b="0"/>
            </a:stretch>
          </a:blipFill>
        </p:spPr>
      </p:sp>
      <p:sp>
        <p:nvSpPr>
          <p:cNvPr name="TextBox 11" id="11"/>
          <p:cNvSpPr txBox="true"/>
          <p:nvPr/>
        </p:nvSpPr>
        <p:spPr>
          <a:xfrm rot="0">
            <a:off x="919264" y="280171"/>
            <a:ext cx="17012061" cy="2803556"/>
          </a:xfrm>
          <a:prstGeom prst="rect">
            <a:avLst/>
          </a:prstGeom>
        </p:spPr>
        <p:txBody>
          <a:bodyPr anchor="t" rtlCol="false" tIns="0" lIns="0" bIns="0" rIns="0">
            <a:spAutoFit/>
          </a:bodyPr>
          <a:lstStyle/>
          <a:p>
            <a:pPr algn="just">
              <a:lnSpc>
                <a:spcPts val="4094"/>
              </a:lnSpc>
            </a:pPr>
            <a:r>
              <a:rPr lang="en-US" sz="2891">
                <a:solidFill>
                  <a:srgbClr val="000000"/>
                </a:solidFill>
                <a:latin typeface="Poppins"/>
                <a:ea typeface="Poppins"/>
                <a:cs typeface="Poppins"/>
                <a:sym typeface="Poppins"/>
              </a:rPr>
              <a:t>En su estructura este tipo de dispositivos almacena los datos como un dispositivo flash, reemplazando los mecanismos utilizados por un disco duro tradicional. </a:t>
            </a:r>
          </a:p>
          <a:p>
            <a:pPr algn="just">
              <a:lnSpc>
                <a:spcPts val="1791"/>
              </a:lnSpc>
            </a:pPr>
          </a:p>
          <a:p>
            <a:pPr algn="just">
              <a:lnSpc>
                <a:spcPts val="4094"/>
              </a:lnSpc>
            </a:pPr>
            <a:r>
              <a:rPr lang="en-US" sz="2891">
                <a:solidFill>
                  <a:srgbClr val="000000"/>
                </a:solidFill>
                <a:latin typeface="Poppins"/>
                <a:ea typeface="Poppins"/>
                <a:cs typeface="Poppins"/>
                <a:sym typeface="Poppins"/>
              </a:rPr>
              <a:t>Su mejor característica es su alta capacidad para la manipulación de la información, lo cual beneficia gratamente a los equipos consiguiendo menores tiempos en el encendido, tiempos de espera, copia de información, etc</a:t>
            </a: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4968"/>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2278816">
            <a:off x="14868873" y="7455313"/>
            <a:ext cx="5343238" cy="4041431"/>
            <a:chOff x="0" y="0"/>
            <a:chExt cx="7124318" cy="5388575"/>
          </a:xfrm>
        </p:grpSpPr>
        <p:sp>
          <p:nvSpPr>
            <p:cNvPr name="Freeform 7" id="7"/>
            <p:cNvSpPr/>
            <p:nvPr/>
          </p:nvSpPr>
          <p:spPr>
            <a:xfrm flipH="false" flipV="false" rot="0">
              <a:off x="0" y="0"/>
              <a:ext cx="7124319" cy="5388610"/>
            </a:xfrm>
            <a:custGeom>
              <a:avLst/>
              <a:gdLst/>
              <a:ahLst/>
              <a:cxnLst/>
              <a:rect r="r" b="b" t="t" l="l"/>
              <a:pathLst>
                <a:path h="5388610" w="7124319">
                  <a:moveTo>
                    <a:pt x="0" y="0"/>
                  </a:moveTo>
                  <a:lnTo>
                    <a:pt x="7124319" y="0"/>
                  </a:lnTo>
                  <a:lnTo>
                    <a:pt x="7124319" y="5388610"/>
                  </a:lnTo>
                  <a:lnTo>
                    <a:pt x="0" y="5388610"/>
                  </a:lnTo>
                  <a:lnTo>
                    <a:pt x="0" y="0"/>
                  </a:lnTo>
                  <a:close/>
                </a:path>
              </a:pathLst>
            </a:custGeom>
            <a:blipFill>
              <a:blip r:embed="rId4"/>
              <a:stretch>
                <a:fillRect l="0" t="-108" r="0" b="-107"/>
              </a:stretch>
            </a:blipFill>
          </p:spPr>
        </p:sp>
      </p:grpSp>
      <p:grpSp>
        <p:nvGrpSpPr>
          <p:cNvPr name="Group 8" id="8"/>
          <p:cNvGrpSpPr/>
          <p:nvPr/>
        </p:nvGrpSpPr>
        <p:grpSpPr>
          <a:xfrm rot="9869556">
            <a:off x="15518447" y="7968603"/>
            <a:ext cx="5285098" cy="5256271"/>
            <a:chOff x="0" y="0"/>
            <a:chExt cx="7046798" cy="7008361"/>
          </a:xfrm>
        </p:grpSpPr>
        <p:sp>
          <p:nvSpPr>
            <p:cNvPr name="Freeform 9" id="9"/>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5"/>
              <a:stretch>
                <a:fillRect l="0" t="-80" r="0" b="-80"/>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3996335" y="459219"/>
            <a:ext cx="10915646"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Unidades de estado solido (SSD)</a:t>
            </a:r>
          </a:p>
        </p:txBody>
      </p:sp>
      <p:sp>
        <p:nvSpPr>
          <p:cNvPr name="TextBox 13" id="13"/>
          <p:cNvSpPr txBox="true"/>
          <p:nvPr/>
        </p:nvSpPr>
        <p:spPr>
          <a:xfrm rot="0">
            <a:off x="2398307" y="1487660"/>
            <a:ext cx="4313520"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Ventajas</a:t>
            </a:r>
          </a:p>
        </p:txBody>
      </p:sp>
      <p:sp>
        <p:nvSpPr>
          <p:cNvPr name="TextBox 14" id="14"/>
          <p:cNvSpPr txBox="true"/>
          <p:nvPr/>
        </p:nvSpPr>
        <p:spPr>
          <a:xfrm rot="0">
            <a:off x="11709708" y="1487660"/>
            <a:ext cx="4313520" cy="771525"/>
          </a:xfrm>
          <a:prstGeom prst="rect">
            <a:avLst/>
          </a:prstGeom>
        </p:spPr>
        <p:txBody>
          <a:bodyPr anchor="t" rtlCol="false" tIns="0" lIns="0" bIns="0" rIns="0">
            <a:spAutoFit/>
          </a:bodyPr>
          <a:lstStyle/>
          <a:p>
            <a:pPr algn="ctr">
              <a:lnSpc>
                <a:spcPts val="5758"/>
              </a:lnSpc>
            </a:pPr>
            <a:r>
              <a:rPr lang="en-US" b="true" sz="3999" i="true">
                <a:solidFill>
                  <a:srgbClr val="1B4A9B"/>
                </a:solidFill>
                <a:latin typeface="Poppins Bold Italics"/>
                <a:ea typeface="Poppins Bold Italics"/>
                <a:cs typeface="Poppins Bold Italics"/>
                <a:sym typeface="Poppins Bold Italics"/>
              </a:rPr>
              <a:t>Desventajas</a:t>
            </a:r>
          </a:p>
        </p:txBody>
      </p:sp>
      <p:sp>
        <p:nvSpPr>
          <p:cNvPr name="TextBox 15" id="15"/>
          <p:cNvSpPr txBox="true"/>
          <p:nvPr/>
        </p:nvSpPr>
        <p:spPr>
          <a:xfrm rot="0">
            <a:off x="1109392" y="2325803"/>
            <a:ext cx="7774399" cy="7706392"/>
          </a:xfrm>
          <a:prstGeom prst="rect">
            <a:avLst/>
          </a:prstGeom>
        </p:spPr>
        <p:txBody>
          <a:bodyPr anchor="t" rtlCol="false" tIns="0" lIns="0" bIns="0" rIns="0">
            <a:spAutoFit/>
          </a:bodyPr>
          <a:lstStyle/>
          <a:p>
            <a:pPr algn="just" marL="594361" indent="-198120" lvl="2">
              <a:lnSpc>
                <a:spcPts val="4056"/>
              </a:lnSpc>
              <a:buFont typeface="Arial"/>
              <a:buChar char="⚬"/>
            </a:pPr>
            <a:r>
              <a:rPr lang="en-US" sz="2600">
                <a:solidFill>
                  <a:srgbClr val="000000"/>
                </a:solidFill>
                <a:latin typeface="Poppins"/>
                <a:ea typeface="Poppins"/>
                <a:cs typeface="Poppins"/>
                <a:sym typeface="Poppins"/>
              </a:rPr>
              <a:t>Alta capacidad de lectura y escritura</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Bajo consumo de energía</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Compactos</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Duraderos </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Sin partes móviles (mayor resistencia a golpes y vibraciones)</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Arranque del sistema operativo más rápido</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Operación silenciosa</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Menor generación de calor</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Menor peso y tamaño (ideal para laptops ultradelgadas)</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Mayor resistencia a temperaturas extremas</a:t>
            </a:r>
          </a:p>
          <a:p>
            <a:pPr algn="just" marL="594361" indent="-198120" lvl="2">
              <a:lnSpc>
                <a:spcPts val="4056"/>
              </a:lnSpc>
              <a:buFont typeface="Arial"/>
              <a:buChar char="⚬"/>
            </a:pPr>
          </a:p>
        </p:txBody>
      </p:sp>
      <p:sp>
        <p:nvSpPr>
          <p:cNvPr name="TextBox 16" id="16"/>
          <p:cNvSpPr txBox="true"/>
          <p:nvPr/>
        </p:nvSpPr>
        <p:spPr>
          <a:xfrm rot="0">
            <a:off x="10087911" y="2325803"/>
            <a:ext cx="6971341" cy="5947410"/>
          </a:xfrm>
          <a:prstGeom prst="rect">
            <a:avLst/>
          </a:prstGeom>
        </p:spPr>
        <p:txBody>
          <a:bodyPr anchor="t" rtlCol="false" tIns="0" lIns="0" bIns="0" rIns="0">
            <a:spAutoFit/>
          </a:bodyPr>
          <a:lstStyle/>
          <a:p>
            <a:pPr algn="just" marL="594361" indent="-198120" lvl="2">
              <a:lnSpc>
                <a:spcPts val="4056"/>
              </a:lnSpc>
              <a:buFont typeface="Arial"/>
              <a:buChar char="⚬"/>
            </a:pPr>
            <a:r>
              <a:rPr lang="en-US" sz="2600">
                <a:solidFill>
                  <a:srgbClr val="000000"/>
                </a:solidFill>
                <a:latin typeface="Poppins"/>
                <a:ea typeface="Poppins"/>
                <a:cs typeface="Poppins"/>
                <a:sym typeface="Poppins"/>
              </a:rPr>
              <a:t>Capacidad de a</a:t>
            </a:r>
            <a:r>
              <a:rPr lang="en-US" sz="2600">
                <a:solidFill>
                  <a:srgbClr val="000000"/>
                </a:solidFill>
                <a:latin typeface="Poppins"/>
                <a:ea typeface="Poppins"/>
                <a:cs typeface="Poppins"/>
                <a:sym typeface="Poppins"/>
              </a:rPr>
              <a:t>lmacenamiento menor en comparación al precio vs HDD</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Degradación del rendimiento con el tiempo al llenarse</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Incompatibilidad con sistemas muy antiguos (algunos no soportan NVMe)</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Datos irrecuperables al fallar la memoria flash</a:t>
            </a:r>
          </a:p>
          <a:p>
            <a:pPr algn="just" marL="594361" indent="-198120" lvl="2">
              <a:lnSpc>
                <a:spcPts val="4056"/>
              </a:lnSpc>
              <a:buFont typeface="Arial"/>
              <a:buChar char="⚬"/>
            </a:pPr>
            <a:r>
              <a:rPr lang="en-US" sz="2600">
                <a:solidFill>
                  <a:srgbClr val="000000"/>
                </a:solidFill>
                <a:latin typeface="Poppins"/>
                <a:ea typeface="Poppins"/>
                <a:cs typeface="Poppins"/>
                <a:sym typeface="Poppins"/>
              </a:rPr>
              <a:t>Vida útil limitada por número de escrituras (TBW — Terabytes Written)</a:t>
            </a:r>
          </a:p>
          <a:p>
            <a:pPr algn="just" marL="320041" indent="-106680" lvl="2">
              <a:lnSpc>
                <a:spcPts val="2183"/>
              </a:lnSpc>
            </a:pPr>
          </a:p>
        </p:txBody>
      </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4968"/>
            <a:ext cx="18593584" cy="10471968"/>
            <a:chOff x="0" y="0"/>
            <a:chExt cx="24791445" cy="13962624"/>
          </a:xfrm>
        </p:grpSpPr>
        <p:sp>
          <p:nvSpPr>
            <p:cNvPr name="Freeform 3" id="3"/>
            <p:cNvSpPr/>
            <p:nvPr/>
          </p:nvSpPr>
          <p:spPr>
            <a:xfrm flipH="false" flipV="false" rot="0">
              <a:off x="0" y="0"/>
              <a:ext cx="24791415" cy="13962635"/>
            </a:xfrm>
            <a:custGeom>
              <a:avLst/>
              <a:gdLst/>
              <a:ahLst/>
              <a:cxnLst/>
              <a:rect r="r" b="b" t="t" l="l"/>
              <a:pathLst>
                <a:path h="13962635" w="24791415">
                  <a:moveTo>
                    <a:pt x="0" y="0"/>
                  </a:moveTo>
                  <a:lnTo>
                    <a:pt x="24791415" y="0"/>
                  </a:lnTo>
                  <a:lnTo>
                    <a:pt x="24791415" y="13962635"/>
                  </a:lnTo>
                  <a:lnTo>
                    <a:pt x="0" y="13962635"/>
                  </a:lnTo>
                  <a:close/>
                </a:path>
              </a:pathLst>
            </a:custGeom>
            <a:solidFill>
              <a:srgbClr val="D9D9D9">
                <a:alpha val="22353"/>
              </a:srgbClr>
            </a:solidFill>
          </p:spPr>
        </p:sp>
      </p:grpSp>
      <p:grpSp>
        <p:nvGrpSpPr>
          <p:cNvPr name="Group 4" id="4"/>
          <p:cNvGrpSpPr/>
          <p:nvPr/>
        </p:nvGrpSpPr>
        <p:grpSpPr>
          <a:xfrm rot="-2308677">
            <a:off x="9698130" y="2166602"/>
            <a:ext cx="12650197" cy="9568149"/>
            <a:chOff x="0" y="0"/>
            <a:chExt cx="16866929" cy="12757532"/>
          </a:xfrm>
        </p:grpSpPr>
        <p:sp>
          <p:nvSpPr>
            <p:cNvPr name="Freeform 5" id="5"/>
            <p:cNvSpPr/>
            <p:nvPr/>
          </p:nvSpPr>
          <p:spPr>
            <a:xfrm flipH="false" flipV="false" rot="0">
              <a:off x="0" y="0"/>
              <a:ext cx="16866870" cy="12757531"/>
            </a:xfrm>
            <a:custGeom>
              <a:avLst/>
              <a:gdLst/>
              <a:ahLst/>
              <a:cxnLst/>
              <a:rect r="r" b="b" t="t" l="l"/>
              <a:pathLst>
                <a:path h="12757531" w="16866870">
                  <a:moveTo>
                    <a:pt x="0" y="0"/>
                  </a:moveTo>
                  <a:lnTo>
                    <a:pt x="16866870" y="0"/>
                  </a:lnTo>
                  <a:lnTo>
                    <a:pt x="16866870" y="12757531"/>
                  </a:lnTo>
                  <a:lnTo>
                    <a:pt x="0" y="12757531"/>
                  </a:lnTo>
                  <a:lnTo>
                    <a:pt x="0" y="0"/>
                  </a:lnTo>
                  <a:close/>
                </a:path>
              </a:pathLst>
            </a:custGeom>
            <a:blipFill>
              <a:blip r:embed="rId3">
                <a:alphaModFix amt="6999"/>
              </a:blip>
              <a:stretch>
                <a:fillRect l="0" t="-108" r="0" b="-108"/>
              </a:stretch>
            </a:blipFill>
          </p:spPr>
        </p:sp>
      </p:grpSp>
      <p:grpSp>
        <p:nvGrpSpPr>
          <p:cNvPr name="Group 6" id="6"/>
          <p:cNvGrpSpPr/>
          <p:nvPr/>
        </p:nvGrpSpPr>
        <p:grpSpPr>
          <a:xfrm rot="9869556">
            <a:off x="15518447" y="7968603"/>
            <a:ext cx="5285098" cy="5256271"/>
            <a:chOff x="0" y="0"/>
            <a:chExt cx="7046798" cy="7008361"/>
          </a:xfrm>
        </p:grpSpPr>
        <p:sp>
          <p:nvSpPr>
            <p:cNvPr name="Freeform 7" id="7"/>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4"/>
              <a:stretch>
                <a:fillRect l="0" t="-80" r="0" b="-80"/>
              </a:stretch>
            </a:blipFill>
          </p:spPr>
        </p:sp>
      </p:grpSp>
      <p:grpSp>
        <p:nvGrpSpPr>
          <p:cNvPr name="Group 8" id="8"/>
          <p:cNvGrpSpPr/>
          <p:nvPr/>
        </p:nvGrpSpPr>
        <p:grpSpPr>
          <a:xfrm rot="0">
            <a:off x="10087911" y="-4008763"/>
            <a:ext cx="4828984" cy="4820204"/>
            <a:chOff x="0" y="0"/>
            <a:chExt cx="6438645" cy="6426939"/>
          </a:xfrm>
        </p:grpSpPr>
        <p:sp>
          <p:nvSpPr>
            <p:cNvPr name="Freeform 9" id="9"/>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5">
                <a:alphaModFix amt="47000"/>
              </a:blip>
              <a:stretch>
                <a:fillRect l="-20" t="0" r="-20" b="0"/>
              </a:stretch>
            </a:blipFill>
          </p:spPr>
        </p:sp>
      </p:grpSp>
      <p:sp>
        <p:nvSpPr>
          <p:cNvPr name="TextBox 10" id="10"/>
          <p:cNvSpPr txBox="true"/>
          <p:nvPr/>
        </p:nvSpPr>
        <p:spPr>
          <a:xfrm rot="0">
            <a:off x="2519929" y="1745165"/>
            <a:ext cx="13503300" cy="1300125"/>
          </a:xfrm>
          <a:prstGeom prst="rect">
            <a:avLst/>
          </a:prstGeom>
        </p:spPr>
        <p:txBody>
          <a:bodyPr anchor="t" rtlCol="false" tIns="0" lIns="0" bIns="0" rIns="0">
            <a:spAutoFit/>
          </a:bodyPr>
          <a:lstStyle/>
          <a:p>
            <a:pPr algn="ctr">
              <a:lnSpc>
                <a:spcPts val="9356"/>
              </a:lnSpc>
            </a:pPr>
            <a:r>
              <a:rPr lang="en-US" sz="6900">
                <a:solidFill>
                  <a:srgbClr val="131416"/>
                </a:solidFill>
                <a:latin typeface="Impact"/>
                <a:ea typeface="Impact"/>
                <a:cs typeface="Impact"/>
                <a:sym typeface="Impact"/>
              </a:rPr>
              <a:t>CONCEPTOS CLAVE APRENDIDOS </a:t>
            </a:r>
          </a:p>
        </p:txBody>
      </p:sp>
      <p:sp>
        <p:nvSpPr>
          <p:cNvPr name="TextBox 11" id="11"/>
          <p:cNvSpPr txBox="true"/>
          <p:nvPr/>
        </p:nvSpPr>
        <p:spPr>
          <a:xfrm rot="0">
            <a:off x="4510197" y="3431940"/>
            <a:ext cx="9267606" cy="3518736"/>
          </a:xfrm>
          <a:prstGeom prst="rect">
            <a:avLst/>
          </a:prstGeom>
        </p:spPr>
        <p:txBody>
          <a:bodyPr anchor="t" rtlCol="false" tIns="0" lIns="0" bIns="0" rIns="0">
            <a:spAutoFit/>
          </a:bodyPr>
          <a:lstStyle/>
          <a:p>
            <a:pPr algn="ctr">
              <a:lnSpc>
                <a:spcPts val="6974"/>
              </a:lnSpc>
            </a:pPr>
            <a:r>
              <a:rPr lang="en-US" sz="4150">
                <a:solidFill>
                  <a:srgbClr val="131416"/>
                </a:solidFill>
                <a:latin typeface="Arial MT Pro"/>
                <a:ea typeface="Arial MT Pro"/>
                <a:cs typeface="Arial MT Pro"/>
                <a:sym typeface="Arial MT Pro"/>
              </a:rPr>
              <a:t>Almacenamiento primario y secundario y las diferencias, ventajas y desventajas de los discos duros (HDD) vs los discos de estado sólido (SSD)</a:t>
            </a:r>
          </a:p>
        </p:txBody>
      </p:sp>
      <p:grpSp>
        <p:nvGrpSpPr>
          <p:cNvPr name="Group 12" id="12"/>
          <p:cNvGrpSpPr/>
          <p:nvPr/>
        </p:nvGrpSpPr>
        <p:grpSpPr>
          <a:xfrm rot="-2278288">
            <a:off x="14869645" y="7453626"/>
            <a:ext cx="5348374" cy="4045316"/>
            <a:chOff x="0" y="0"/>
            <a:chExt cx="7131165" cy="5393754"/>
          </a:xfrm>
        </p:grpSpPr>
        <p:sp>
          <p:nvSpPr>
            <p:cNvPr name="Freeform 13" id="13"/>
            <p:cNvSpPr/>
            <p:nvPr/>
          </p:nvSpPr>
          <p:spPr>
            <a:xfrm flipH="false" flipV="false" rot="0">
              <a:off x="0" y="0"/>
              <a:ext cx="7131177" cy="5393817"/>
            </a:xfrm>
            <a:custGeom>
              <a:avLst/>
              <a:gdLst/>
              <a:ahLst/>
              <a:cxnLst/>
              <a:rect r="r" b="b" t="t" l="l"/>
              <a:pathLst>
                <a:path h="5393817" w="7131177">
                  <a:moveTo>
                    <a:pt x="0" y="0"/>
                  </a:moveTo>
                  <a:lnTo>
                    <a:pt x="7131177" y="0"/>
                  </a:lnTo>
                  <a:lnTo>
                    <a:pt x="7131177" y="5393817"/>
                  </a:lnTo>
                  <a:lnTo>
                    <a:pt x="0" y="5393817"/>
                  </a:lnTo>
                  <a:lnTo>
                    <a:pt x="0" y="0"/>
                  </a:lnTo>
                  <a:close/>
                </a:path>
              </a:pathLst>
            </a:custGeom>
            <a:blipFill>
              <a:blip r:embed="rId6"/>
              <a:stretch>
                <a:fillRect l="0" t="-108" r="0" b="-107"/>
              </a:stretch>
            </a:blipFill>
          </p:spPr>
        </p:sp>
      </p:grpSp>
    </p:spTree>
  </p:cSld>
  <p:clrMapOvr>
    <a:masterClrMapping/>
  </p:clrMapOvr>
  <p:transition spd="fast">
    <p:fade/>
  </p:transition>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4968"/>
            <a:ext cx="18596770" cy="10473763"/>
            <a:chOff x="0" y="0"/>
            <a:chExt cx="24795693" cy="13965017"/>
          </a:xfrm>
        </p:grpSpPr>
        <p:sp>
          <p:nvSpPr>
            <p:cNvPr name="Freeform 3" id="3"/>
            <p:cNvSpPr/>
            <p:nvPr/>
          </p:nvSpPr>
          <p:spPr>
            <a:xfrm flipH="false" flipV="false" rot="0">
              <a:off x="0" y="0"/>
              <a:ext cx="24795735" cy="13965047"/>
            </a:xfrm>
            <a:custGeom>
              <a:avLst/>
              <a:gdLst/>
              <a:ahLst/>
              <a:cxnLst/>
              <a:rect r="r" b="b" t="t" l="l"/>
              <a:pathLst>
                <a:path h="13965047" w="24795735">
                  <a:moveTo>
                    <a:pt x="0" y="0"/>
                  </a:moveTo>
                  <a:lnTo>
                    <a:pt x="24795735" y="0"/>
                  </a:lnTo>
                  <a:lnTo>
                    <a:pt x="24795735" y="13965047"/>
                  </a:lnTo>
                  <a:lnTo>
                    <a:pt x="0" y="13965047"/>
                  </a:lnTo>
                  <a:close/>
                </a:path>
              </a:pathLst>
            </a:custGeom>
            <a:solidFill>
              <a:srgbClr val="D9D9D9">
                <a:alpha val="22353"/>
              </a:srgbClr>
            </a:solidFill>
          </p:spPr>
        </p:sp>
      </p:grpSp>
      <p:grpSp>
        <p:nvGrpSpPr>
          <p:cNvPr name="Group 4" id="4"/>
          <p:cNvGrpSpPr/>
          <p:nvPr/>
        </p:nvGrpSpPr>
        <p:grpSpPr>
          <a:xfrm rot="0">
            <a:off x="0" y="-184968"/>
            <a:ext cx="18596770" cy="10473763"/>
            <a:chOff x="0" y="0"/>
            <a:chExt cx="24795693" cy="13965017"/>
          </a:xfrm>
        </p:grpSpPr>
        <p:sp>
          <p:nvSpPr>
            <p:cNvPr name="Freeform 5" id="5"/>
            <p:cNvSpPr/>
            <p:nvPr/>
          </p:nvSpPr>
          <p:spPr>
            <a:xfrm flipH="false" flipV="false" rot="0">
              <a:off x="0" y="0"/>
              <a:ext cx="24795735" cy="13965047"/>
            </a:xfrm>
            <a:custGeom>
              <a:avLst/>
              <a:gdLst/>
              <a:ahLst/>
              <a:cxnLst/>
              <a:rect r="r" b="b" t="t" l="l"/>
              <a:pathLst>
                <a:path h="13965047" w="24795735">
                  <a:moveTo>
                    <a:pt x="0" y="0"/>
                  </a:moveTo>
                  <a:lnTo>
                    <a:pt x="24795735" y="0"/>
                  </a:lnTo>
                  <a:lnTo>
                    <a:pt x="24795735" y="13965047"/>
                  </a:lnTo>
                  <a:lnTo>
                    <a:pt x="0" y="13965047"/>
                  </a:lnTo>
                  <a:close/>
                </a:path>
              </a:pathLst>
            </a:custGeom>
            <a:solidFill>
              <a:srgbClr val="D9D9D9">
                <a:alpha val="22353"/>
              </a:srgbClr>
            </a:solidFill>
          </p:spPr>
        </p:sp>
      </p:grpSp>
      <p:sp>
        <p:nvSpPr>
          <p:cNvPr name="TextBox 6" id="6"/>
          <p:cNvSpPr txBox="true"/>
          <p:nvPr/>
        </p:nvSpPr>
        <p:spPr>
          <a:xfrm rot="0">
            <a:off x="4705425" y="2458989"/>
            <a:ext cx="8877150" cy="820500"/>
          </a:xfrm>
          <a:prstGeom prst="rect">
            <a:avLst/>
          </a:prstGeom>
        </p:spPr>
        <p:txBody>
          <a:bodyPr anchor="t" rtlCol="false" tIns="0" lIns="0" bIns="0" rIns="0">
            <a:spAutoFit/>
          </a:bodyPr>
          <a:lstStyle/>
          <a:p>
            <a:pPr algn="l">
              <a:lnSpc>
                <a:spcPts val="5640"/>
              </a:lnSpc>
            </a:pPr>
            <a:r>
              <a:rPr lang="en-US" b="true" sz="4700">
                <a:solidFill>
                  <a:srgbClr val="000000"/>
                </a:solidFill>
                <a:latin typeface="Calibri (MS) Bold"/>
                <a:ea typeface="Calibri (MS) Bold"/>
                <a:cs typeface="Calibri (MS) Bold"/>
                <a:sym typeface="Calibri (MS) Bold"/>
              </a:rPr>
              <a:t>Toma de Decisiones Tecnológicas</a:t>
            </a:r>
          </a:p>
        </p:txBody>
      </p:sp>
      <p:grpSp>
        <p:nvGrpSpPr>
          <p:cNvPr name="Group 7" id="7"/>
          <p:cNvGrpSpPr/>
          <p:nvPr/>
        </p:nvGrpSpPr>
        <p:grpSpPr>
          <a:xfrm rot="-2310192">
            <a:off x="9697895" y="2163575"/>
            <a:ext cx="12649011" cy="9567252"/>
            <a:chOff x="0" y="0"/>
            <a:chExt cx="16865348" cy="12756336"/>
          </a:xfrm>
        </p:grpSpPr>
        <p:sp>
          <p:nvSpPr>
            <p:cNvPr name="Freeform 8" id="8"/>
            <p:cNvSpPr/>
            <p:nvPr/>
          </p:nvSpPr>
          <p:spPr>
            <a:xfrm flipH="false" flipV="false" rot="0">
              <a:off x="0" y="0"/>
              <a:ext cx="16865346" cy="12756388"/>
            </a:xfrm>
            <a:custGeom>
              <a:avLst/>
              <a:gdLst/>
              <a:ahLst/>
              <a:cxnLst/>
              <a:rect r="r" b="b" t="t" l="l"/>
              <a:pathLst>
                <a:path h="12756388" w="16865346">
                  <a:moveTo>
                    <a:pt x="0" y="0"/>
                  </a:moveTo>
                  <a:lnTo>
                    <a:pt x="16865346" y="0"/>
                  </a:lnTo>
                  <a:lnTo>
                    <a:pt x="16865346" y="12756388"/>
                  </a:lnTo>
                  <a:lnTo>
                    <a:pt x="0" y="12756388"/>
                  </a:lnTo>
                  <a:lnTo>
                    <a:pt x="0" y="0"/>
                  </a:lnTo>
                  <a:close/>
                </a:path>
              </a:pathLst>
            </a:custGeom>
            <a:blipFill>
              <a:blip r:embed="rId3">
                <a:alphaModFix amt="7000"/>
              </a:blip>
              <a:stretch>
                <a:fillRect l="0" t="-108" r="0" b="-107"/>
              </a:stretch>
            </a:blipFill>
          </p:spPr>
        </p:sp>
      </p:grpSp>
      <p:grpSp>
        <p:nvGrpSpPr>
          <p:cNvPr name="Group 9" id="9"/>
          <p:cNvGrpSpPr/>
          <p:nvPr/>
        </p:nvGrpSpPr>
        <p:grpSpPr>
          <a:xfrm rot="-2278288">
            <a:off x="14869645" y="7453626"/>
            <a:ext cx="5348374" cy="4045316"/>
            <a:chOff x="0" y="0"/>
            <a:chExt cx="7131165" cy="5393754"/>
          </a:xfrm>
        </p:grpSpPr>
        <p:sp>
          <p:nvSpPr>
            <p:cNvPr name="Freeform 10" id="10"/>
            <p:cNvSpPr/>
            <p:nvPr/>
          </p:nvSpPr>
          <p:spPr>
            <a:xfrm flipH="false" flipV="false" rot="0">
              <a:off x="0" y="0"/>
              <a:ext cx="7131177" cy="5393817"/>
            </a:xfrm>
            <a:custGeom>
              <a:avLst/>
              <a:gdLst/>
              <a:ahLst/>
              <a:cxnLst/>
              <a:rect r="r" b="b" t="t" l="l"/>
              <a:pathLst>
                <a:path h="5393817" w="7131177">
                  <a:moveTo>
                    <a:pt x="0" y="0"/>
                  </a:moveTo>
                  <a:lnTo>
                    <a:pt x="7131177" y="0"/>
                  </a:lnTo>
                  <a:lnTo>
                    <a:pt x="7131177" y="5393817"/>
                  </a:lnTo>
                  <a:lnTo>
                    <a:pt x="0" y="5393817"/>
                  </a:lnTo>
                  <a:lnTo>
                    <a:pt x="0" y="0"/>
                  </a:lnTo>
                  <a:close/>
                </a:path>
              </a:pathLst>
            </a:custGeom>
            <a:blipFill>
              <a:blip r:embed="rId4"/>
              <a:stretch>
                <a:fillRect l="0" t="-108" r="0" b="-107"/>
              </a:stretch>
            </a:blipFill>
          </p:spPr>
        </p:sp>
      </p:grpSp>
      <p:grpSp>
        <p:nvGrpSpPr>
          <p:cNvPr name="Group 11" id="11"/>
          <p:cNvGrpSpPr/>
          <p:nvPr/>
        </p:nvGrpSpPr>
        <p:grpSpPr>
          <a:xfrm rot="9869657">
            <a:off x="15518522" y="7968515"/>
            <a:ext cx="5285077" cy="5256250"/>
            <a:chOff x="0" y="0"/>
            <a:chExt cx="7046770" cy="7008333"/>
          </a:xfrm>
        </p:grpSpPr>
        <p:sp>
          <p:nvSpPr>
            <p:cNvPr name="Freeform 12" id="12"/>
            <p:cNvSpPr/>
            <p:nvPr/>
          </p:nvSpPr>
          <p:spPr>
            <a:xfrm flipH="false" flipV="false" rot="0">
              <a:off x="0" y="0"/>
              <a:ext cx="7046722" cy="7008368"/>
            </a:xfrm>
            <a:custGeom>
              <a:avLst/>
              <a:gdLst/>
              <a:ahLst/>
              <a:cxnLst/>
              <a:rect r="r" b="b" t="t" l="l"/>
              <a:pathLst>
                <a:path h="7008368" w="7046722">
                  <a:moveTo>
                    <a:pt x="0" y="0"/>
                  </a:moveTo>
                  <a:lnTo>
                    <a:pt x="7046722" y="0"/>
                  </a:lnTo>
                  <a:lnTo>
                    <a:pt x="7046722" y="7008368"/>
                  </a:lnTo>
                  <a:lnTo>
                    <a:pt x="0" y="7008368"/>
                  </a:lnTo>
                  <a:lnTo>
                    <a:pt x="0" y="0"/>
                  </a:lnTo>
                  <a:close/>
                </a:path>
              </a:pathLst>
            </a:custGeom>
            <a:blipFill>
              <a:blip r:embed="rId5"/>
              <a:stretch>
                <a:fillRect l="0" t="-80" r="0" b="-79"/>
              </a:stretch>
            </a:blipFill>
          </p:spPr>
        </p:sp>
      </p:grpSp>
      <p:grpSp>
        <p:nvGrpSpPr>
          <p:cNvPr name="Group 13" id="13"/>
          <p:cNvGrpSpPr/>
          <p:nvPr/>
        </p:nvGrpSpPr>
        <p:grpSpPr>
          <a:xfrm rot="0">
            <a:off x="10087911" y="-4008763"/>
            <a:ext cx="4828984" cy="4820204"/>
            <a:chOff x="0" y="0"/>
            <a:chExt cx="6438645" cy="6426939"/>
          </a:xfrm>
        </p:grpSpPr>
        <p:sp>
          <p:nvSpPr>
            <p:cNvPr name="Freeform 14" id="14"/>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5" id="15"/>
          <p:cNvSpPr txBox="true"/>
          <p:nvPr/>
        </p:nvSpPr>
        <p:spPr>
          <a:xfrm rot="0">
            <a:off x="2299602" y="3527908"/>
            <a:ext cx="13438950" cy="3505200"/>
          </a:xfrm>
          <a:prstGeom prst="rect">
            <a:avLst/>
          </a:prstGeom>
        </p:spPr>
        <p:txBody>
          <a:bodyPr anchor="t" rtlCol="false" tIns="0" lIns="0" bIns="0" rIns="0">
            <a:spAutoFit/>
          </a:bodyPr>
          <a:lstStyle/>
          <a:p>
            <a:pPr algn="l">
              <a:lnSpc>
                <a:spcPts val="4559"/>
              </a:lnSpc>
            </a:pPr>
            <a:r>
              <a:rPr lang="en-US" sz="3799">
                <a:solidFill>
                  <a:srgbClr val="000000"/>
                </a:solidFill>
                <a:latin typeface="Calibri (MS)"/>
                <a:ea typeface="Calibri (MS)"/>
                <a:cs typeface="Calibri (MS)"/>
                <a:sym typeface="Calibri (MS)"/>
              </a:rPr>
              <a:t>La selección de soluciones de almacenamiento requiere comparar tecnologías físicas y virtualizadas, evaluando ventajas, desventajas y evolución de dispositivos como HDD, SDD, almacenamiento distribuido y  en la nube. Este valor permitirá a los estudiantes diseñar infraestructuras eligiendo las mejores opciones según las necesidades de cada sistema.</a:t>
            </a:r>
          </a:p>
        </p:txBody>
      </p:sp>
    </p:spTree>
  </p:cSld>
  <p:clrMapOvr>
    <a:masterClrMapping/>
  </p:clrMapOvr>
  <p:transition spd="fast">
    <p:fade/>
  </p:transition>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84968"/>
            <a:ext cx="18596770" cy="10473763"/>
            <a:chOff x="0" y="0"/>
            <a:chExt cx="24795693" cy="13965017"/>
          </a:xfrm>
        </p:grpSpPr>
        <p:sp>
          <p:nvSpPr>
            <p:cNvPr name="Freeform 3" id="3"/>
            <p:cNvSpPr/>
            <p:nvPr/>
          </p:nvSpPr>
          <p:spPr>
            <a:xfrm flipH="false" flipV="false" rot="0">
              <a:off x="0" y="0"/>
              <a:ext cx="24795735" cy="13965047"/>
            </a:xfrm>
            <a:custGeom>
              <a:avLst/>
              <a:gdLst/>
              <a:ahLst/>
              <a:cxnLst/>
              <a:rect r="r" b="b" t="t" l="l"/>
              <a:pathLst>
                <a:path h="13965047" w="24795735">
                  <a:moveTo>
                    <a:pt x="0" y="0"/>
                  </a:moveTo>
                  <a:lnTo>
                    <a:pt x="24795735" y="0"/>
                  </a:lnTo>
                  <a:lnTo>
                    <a:pt x="24795735" y="13965047"/>
                  </a:lnTo>
                  <a:lnTo>
                    <a:pt x="0" y="13965047"/>
                  </a:lnTo>
                  <a:close/>
                </a:path>
              </a:pathLst>
            </a:custGeom>
            <a:solidFill>
              <a:srgbClr val="D9D9D9">
                <a:alpha val="22353"/>
              </a:srgbClr>
            </a:solidFill>
          </p:spPr>
        </p:sp>
      </p:grpSp>
      <p:grpSp>
        <p:nvGrpSpPr>
          <p:cNvPr name="Group 4" id="4"/>
          <p:cNvGrpSpPr/>
          <p:nvPr/>
        </p:nvGrpSpPr>
        <p:grpSpPr>
          <a:xfrm rot="-2310192">
            <a:off x="9697895" y="2163575"/>
            <a:ext cx="12649011" cy="9567252"/>
            <a:chOff x="0" y="0"/>
            <a:chExt cx="16865348" cy="12756336"/>
          </a:xfrm>
        </p:grpSpPr>
        <p:sp>
          <p:nvSpPr>
            <p:cNvPr name="Freeform 5" id="5"/>
            <p:cNvSpPr/>
            <p:nvPr/>
          </p:nvSpPr>
          <p:spPr>
            <a:xfrm flipH="false" flipV="false" rot="0">
              <a:off x="0" y="0"/>
              <a:ext cx="16865346" cy="12756388"/>
            </a:xfrm>
            <a:custGeom>
              <a:avLst/>
              <a:gdLst/>
              <a:ahLst/>
              <a:cxnLst/>
              <a:rect r="r" b="b" t="t" l="l"/>
              <a:pathLst>
                <a:path h="12756388" w="16865346">
                  <a:moveTo>
                    <a:pt x="0" y="0"/>
                  </a:moveTo>
                  <a:lnTo>
                    <a:pt x="16865346" y="0"/>
                  </a:lnTo>
                  <a:lnTo>
                    <a:pt x="16865346" y="12756388"/>
                  </a:lnTo>
                  <a:lnTo>
                    <a:pt x="0" y="12756388"/>
                  </a:lnTo>
                  <a:lnTo>
                    <a:pt x="0" y="0"/>
                  </a:lnTo>
                  <a:close/>
                </a:path>
              </a:pathLst>
            </a:custGeom>
            <a:blipFill>
              <a:blip r:embed="rId3">
                <a:alphaModFix amt="7000"/>
              </a:blip>
              <a:stretch>
                <a:fillRect l="0" t="-108" r="0" b="-107"/>
              </a:stretch>
            </a:blipFill>
          </p:spPr>
        </p:sp>
      </p:grpSp>
      <p:grpSp>
        <p:nvGrpSpPr>
          <p:cNvPr name="Group 6" id="6"/>
          <p:cNvGrpSpPr/>
          <p:nvPr/>
        </p:nvGrpSpPr>
        <p:grpSpPr>
          <a:xfrm rot="-2278288">
            <a:off x="14869645" y="7453626"/>
            <a:ext cx="5348374" cy="4045316"/>
            <a:chOff x="0" y="0"/>
            <a:chExt cx="7131165" cy="5393754"/>
          </a:xfrm>
        </p:grpSpPr>
        <p:sp>
          <p:nvSpPr>
            <p:cNvPr name="Freeform 7" id="7"/>
            <p:cNvSpPr/>
            <p:nvPr/>
          </p:nvSpPr>
          <p:spPr>
            <a:xfrm flipH="false" flipV="false" rot="0">
              <a:off x="0" y="0"/>
              <a:ext cx="7131177" cy="5393817"/>
            </a:xfrm>
            <a:custGeom>
              <a:avLst/>
              <a:gdLst/>
              <a:ahLst/>
              <a:cxnLst/>
              <a:rect r="r" b="b" t="t" l="l"/>
              <a:pathLst>
                <a:path h="5393817" w="7131177">
                  <a:moveTo>
                    <a:pt x="0" y="0"/>
                  </a:moveTo>
                  <a:lnTo>
                    <a:pt x="7131177" y="0"/>
                  </a:lnTo>
                  <a:lnTo>
                    <a:pt x="7131177" y="5393817"/>
                  </a:lnTo>
                  <a:lnTo>
                    <a:pt x="0" y="5393817"/>
                  </a:lnTo>
                  <a:lnTo>
                    <a:pt x="0" y="0"/>
                  </a:lnTo>
                  <a:close/>
                </a:path>
              </a:pathLst>
            </a:custGeom>
            <a:blipFill>
              <a:blip r:embed="rId4"/>
              <a:stretch>
                <a:fillRect l="0" t="-108" r="0" b="-107"/>
              </a:stretch>
            </a:blipFill>
          </p:spPr>
        </p:sp>
      </p:grpSp>
      <p:grpSp>
        <p:nvGrpSpPr>
          <p:cNvPr name="Group 8" id="8"/>
          <p:cNvGrpSpPr/>
          <p:nvPr/>
        </p:nvGrpSpPr>
        <p:grpSpPr>
          <a:xfrm rot="9869657">
            <a:off x="15518522" y="7968515"/>
            <a:ext cx="5285077" cy="5256250"/>
            <a:chOff x="0" y="0"/>
            <a:chExt cx="7046770" cy="7008333"/>
          </a:xfrm>
        </p:grpSpPr>
        <p:sp>
          <p:nvSpPr>
            <p:cNvPr name="Freeform 9" id="9"/>
            <p:cNvSpPr/>
            <p:nvPr/>
          </p:nvSpPr>
          <p:spPr>
            <a:xfrm flipH="false" flipV="false" rot="0">
              <a:off x="0" y="0"/>
              <a:ext cx="7046722" cy="7008368"/>
            </a:xfrm>
            <a:custGeom>
              <a:avLst/>
              <a:gdLst/>
              <a:ahLst/>
              <a:cxnLst/>
              <a:rect r="r" b="b" t="t" l="l"/>
              <a:pathLst>
                <a:path h="7008368" w="7046722">
                  <a:moveTo>
                    <a:pt x="0" y="0"/>
                  </a:moveTo>
                  <a:lnTo>
                    <a:pt x="7046722" y="0"/>
                  </a:lnTo>
                  <a:lnTo>
                    <a:pt x="7046722" y="7008368"/>
                  </a:lnTo>
                  <a:lnTo>
                    <a:pt x="0" y="7008368"/>
                  </a:lnTo>
                  <a:lnTo>
                    <a:pt x="0" y="0"/>
                  </a:lnTo>
                  <a:close/>
                </a:path>
              </a:pathLst>
            </a:custGeom>
            <a:blipFill>
              <a:blip r:embed="rId5"/>
              <a:stretch>
                <a:fillRect l="0" t="-80" r="0" b="-79"/>
              </a:stretch>
            </a:blipFill>
          </p:spPr>
        </p:sp>
      </p:grpSp>
      <p:grpSp>
        <p:nvGrpSpPr>
          <p:cNvPr name="Group 10" id="10"/>
          <p:cNvGrpSpPr/>
          <p:nvPr/>
        </p:nvGrpSpPr>
        <p:grpSpPr>
          <a:xfrm rot="0">
            <a:off x="10087911" y="-4008763"/>
            <a:ext cx="4828984" cy="4820204"/>
            <a:chOff x="0" y="0"/>
            <a:chExt cx="6438645" cy="6426939"/>
          </a:xfrm>
        </p:grpSpPr>
        <p:sp>
          <p:nvSpPr>
            <p:cNvPr name="Freeform 11" id="11"/>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sp>
        <p:nvSpPr>
          <p:cNvPr name="TextBox 12" id="12"/>
          <p:cNvSpPr txBox="true"/>
          <p:nvPr/>
        </p:nvSpPr>
        <p:spPr>
          <a:xfrm rot="0">
            <a:off x="2546735" y="1248255"/>
            <a:ext cx="13503300" cy="1282522"/>
          </a:xfrm>
          <a:prstGeom prst="rect">
            <a:avLst/>
          </a:prstGeom>
        </p:spPr>
        <p:txBody>
          <a:bodyPr anchor="t" rtlCol="false" tIns="0" lIns="0" bIns="0" rIns="0">
            <a:spAutoFit/>
          </a:bodyPr>
          <a:lstStyle/>
          <a:p>
            <a:pPr algn="ctr">
              <a:lnSpc>
                <a:spcPts val="9356"/>
              </a:lnSpc>
            </a:pPr>
            <a:r>
              <a:rPr lang="en-US" b="true" sz="6900">
                <a:solidFill>
                  <a:srgbClr val="131416"/>
                </a:solidFill>
                <a:latin typeface="Arial MT Pro Bold"/>
                <a:ea typeface="Arial MT Pro Bold"/>
                <a:cs typeface="Arial MT Pro Bold"/>
                <a:sym typeface="Arial MT Pro Bold"/>
              </a:rPr>
              <a:t>REFERENCIAS </a:t>
            </a:r>
          </a:p>
        </p:txBody>
      </p:sp>
      <p:sp>
        <p:nvSpPr>
          <p:cNvPr name="TextBox 13" id="13"/>
          <p:cNvSpPr txBox="true"/>
          <p:nvPr/>
        </p:nvSpPr>
        <p:spPr>
          <a:xfrm rot="0">
            <a:off x="5688300" y="6905627"/>
            <a:ext cx="6911400" cy="694650"/>
          </a:xfrm>
          <a:prstGeom prst="rect">
            <a:avLst/>
          </a:prstGeom>
        </p:spPr>
        <p:txBody>
          <a:bodyPr anchor="t" rtlCol="false" tIns="0" lIns="0" bIns="0" rIns="0">
            <a:spAutoFit/>
          </a:bodyPr>
          <a:lstStyle/>
          <a:p>
            <a:pPr algn="ctr">
              <a:lnSpc>
                <a:spcPts val="5294"/>
              </a:lnSpc>
            </a:pPr>
            <a:r>
              <a:rPr lang="en-US" sz="3151">
                <a:solidFill>
                  <a:srgbClr val="131416"/>
                </a:solidFill>
                <a:latin typeface="Arial MT Pro"/>
                <a:ea typeface="Arial MT Pro"/>
                <a:cs typeface="Arial MT Pro"/>
                <a:sym typeface="Arial MT Pro"/>
              </a:rPr>
              <a:t>COCOCYS  </a:t>
            </a:r>
          </a:p>
        </p:txBody>
      </p:sp>
      <p:grpSp>
        <p:nvGrpSpPr>
          <p:cNvPr name="Group 14" id="14"/>
          <p:cNvGrpSpPr/>
          <p:nvPr/>
        </p:nvGrpSpPr>
        <p:grpSpPr>
          <a:xfrm rot="0">
            <a:off x="7765366" y="2937492"/>
            <a:ext cx="2757268" cy="3770970"/>
            <a:chOff x="0" y="0"/>
            <a:chExt cx="3676357" cy="5027960"/>
          </a:xfrm>
        </p:grpSpPr>
        <p:sp>
          <p:nvSpPr>
            <p:cNvPr name="Freeform 15" id="15"/>
            <p:cNvSpPr/>
            <p:nvPr/>
          </p:nvSpPr>
          <p:spPr>
            <a:xfrm flipH="false" flipV="false" rot="0">
              <a:off x="0" y="0"/>
              <a:ext cx="3676396" cy="5027930"/>
            </a:xfrm>
            <a:custGeom>
              <a:avLst/>
              <a:gdLst/>
              <a:ahLst/>
              <a:cxnLst/>
              <a:rect r="r" b="b" t="t" l="l"/>
              <a:pathLst>
                <a:path h="5027930" w="3676396">
                  <a:moveTo>
                    <a:pt x="0" y="0"/>
                  </a:moveTo>
                  <a:lnTo>
                    <a:pt x="3676396" y="0"/>
                  </a:lnTo>
                  <a:lnTo>
                    <a:pt x="3676396" y="5027930"/>
                  </a:lnTo>
                  <a:lnTo>
                    <a:pt x="0" y="5027930"/>
                  </a:lnTo>
                  <a:lnTo>
                    <a:pt x="0" y="0"/>
                  </a:lnTo>
                  <a:close/>
                </a:path>
              </a:pathLst>
            </a:custGeom>
            <a:blipFill>
              <a:blip r:embed="rId7"/>
              <a:stretch>
                <a:fillRect l="-7" t="0" r="-6" b="0"/>
              </a:stretch>
            </a:blipFill>
          </p:spPr>
        </p:sp>
      </p:gr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2D2EF">
                <a:alpha val="100000"/>
              </a:srgbClr>
            </a:gs>
            <a:gs pos="10000">
              <a:srgbClr val="62D2EF">
                <a:alpha val="100000"/>
              </a:srgbClr>
            </a:gs>
            <a:gs pos="100000">
              <a:srgbClr val="05578D">
                <a:alpha val="100000"/>
              </a:srgbClr>
            </a:gs>
          </a:gsLst>
          <a:lin ang="6120000"/>
        </a:gradFill>
      </p:bgPr>
    </p:bg>
    <p:spTree>
      <p:nvGrpSpPr>
        <p:cNvPr id="1" name=""/>
        <p:cNvGrpSpPr/>
        <p:nvPr/>
      </p:nvGrpSpPr>
      <p:grpSpPr>
        <a:xfrm>
          <a:off x="0" y="0"/>
          <a:ext cx="0" cy="0"/>
          <a:chOff x="0" y="0"/>
          <a:chExt cx="0" cy="0"/>
        </a:xfrm>
      </p:grpSpPr>
      <p:sp>
        <p:nvSpPr>
          <p:cNvPr name="Freeform 2" id="2"/>
          <p:cNvSpPr/>
          <p:nvPr/>
        </p:nvSpPr>
        <p:spPr>
          <a:xfrm flipH="false" flipV="false" rot="0">
            <a:off x="-1201624" y="0"/>
            <a:ext cx="20691247" cy="10429334"/>
          </a:xfrm>
          <a:custGeom>
            <a:avLst/>
            <a:gdLst/>
            <a:ahLst/>
            <a:cxnLst/>
            <a:rect r="r" b="b" t="t" l="l"/>
            <a:pathLst>
              <a:path h="10429334" w="20691247">
                <a:moveTo>
                  <a:pt x="0" y="0"/>
                </a:moveTo>
                <a:lnTo>
                  <a:pt x="20691248" y="0"/>
                </a:lnTo>
                <a:lnTo>
                  <a:pt x="20691248" y="10429334"/>
                </a:lnTo>
                <a:lnTo>
                  <a:pt x="0" y="10429334"/>
                </a:lnTo>
                <a:lnTo>
                  <a:pt x="0" y="0"/>
                </a:lnTo>
                <a:close/>
              </a:path>
            </a:pathLst>
          </a:custGeom>
          <a:blipFill>
            <a:blip r:embed="rId3"/>
            <a:stretch>
              <a:fillRect l="-8780" t="0" r="-8780" b="0"/>
            </a:stretch>
          </a:blipFill>
        </p:spPr>
      </p:sp>
      <p:sp>
        <p:nvSpPr>
          <p:cNvPr name="AutoShape 3" id="3"/>
          <p:cNvSpPr/>
          <p:nvPr/>
        </p:nvSpPr>
        <p:spPr>
          <a:xfrm rot="8099999">
            <a:off x="16623524" y="5129640"/>
            <a:ext cx="1950151" cy="0"/>
          </a:xfrm>
          <a:prstGeom prst="line">
            <a:avLst/>
          </a:prstGeom>
          <a:ln cap="rnd" w="9525">
            <a:solidFill>
              <a:srgbClr val="FFFFFF"/>
            </a:solidFill>
            <a:prstDash val="solid"/>
            <a:headEnd type="none" len="sm" w="sm"/>
            <a:tailEnd type="none" len="sm" w="sm"/>
          </a:ln>
        </p:spPr>
      </p:sp>
      <p:sp>
        <p:nvSpPr>
          <p:cNvPr name="AutoShape 4" id="4"/>
          <p:cNvSpPr/>
          <p:nvPr/>
        </p:nvSpPr>
        <p:spPr>
          <a:xfrm rot="8100000">
            <a:off x="12877196" y="7021980"/>
            <a:ext cx="6339248" cy="0"/>
          </a:xfrm>
          <a:prstGeom prst="line">
            <a:avLst/>
          </a:prstGeom>
          <a:ln cap="rnd" w="9525">
            <a:solidFill>
              <a:srgbClr val="FFFFFF"/>
            </a:solidFill>
            <a:prstDash val="solid"/>
            <a:headEnd type="none" len="sm" w="sm"/>
            <a:tailEnd type="none" len="sm" w="sm"/>
          </a:ln>
        </p:spPr>
      </p:sp>
      <p:sp>
        <p:nvSpPr>
          <p:cNvPr name="AutoShape 5" id="5"/>
          <p:cNvSpPr/>
          <p:nvPr/>
        </p:nvSpPr>
        <p:spPr>
          <a:xfrm rot="8099783">
            <a:off x="14842142" y="6350040"/>
            <a:ext cx="4037276" cy="0"/>
          </a:xfrm>
          <a:prstGeom prst="line">
            <a:avLst/>
          </a:prstGeom>
          <a:ln cap="rnd" w="9525">
            <a:solidFill>
              <a:srgbClr val="FFFFFF"/>
            </a:solidFill>
            <a:prstDash val="solid"/>
            <a:headEnd type="none" len="sm" w="sm"/>
            <a:tailEnd type="none" len="sm" w="sm"/>
          </a:ln>
        </p:spPr>
      </p:sp>
      <p:sp>
        <p:nvSpPr>
          <p:cNvPr name="AutoShape 6" id="6"/>
          <p:cNvSpPr/>
          <p:nvPr/>
        </p:nvSpPr>
        <p:spPr>
          <a:xfrm rot="8100000">
            <a:off x="15101702" y="5996535"/>
            <a:ext cx="3744236" cy="0"/>
          </a:xfrm>
          <a:prstGeom prst="line">
            <a:avLst/>
          </a:prstGeom>
          <a:ln cap="rnd" w="19050">
            <a:solidFill>
              <a:srgbClr val="FFFFFF"/>
            </a:solidFill>
            <a:prstDash val="solid"/>
            <a:headEnd type="none" len="sm" w="sm"/>
            <a:tailEnd type="none" len="sm" w="sm"/>
          </a:ln>
        </p:spPr>
      </p:sp>
      <p:sp>
        <p:nvSpPr>
          <p:cNvPr name="AutoShape 7" id="7"/>
          <p:cNvSpPr/>
          <p:nvPr/>
        </p:nvSpPr>
        <p:spPr>
          <a:xfrm rot="8099680">
            <a:off x="15963304" y="6467415"/>
            <a:ext cx="2734912" cy="0"/>
          </a:xfrm>
          <a:prstGeom prst="line">
            <a:avLst/>
          </a:prstGeom>
          <a:ln cap="rnd" w="19050">
            <a:solidFill>
              <a:srgbClr val="FFFFFF"/>
            </a:solidFill>
            <a:prstDash val="solid"/>
            <a:headEnd type="none" len="sm" w="sm"/>
            <a:tailEnd type="none" len="sm" w="sm"/>
          </a:ln>
        </p:spPr>
      </p:sp>
      <p:sp>
        <p:nvSpPr>
          <p:cNvPr name="TextBox 8" id="8"/>
          <p:cNvSpPr txBox="true"/>
          <p:nvPr/>
        </p:nvSpPr>
        <p:spPr>
          <a:xfrm rot="0">
            <a:off x="1970470" y="3988097"/>
            <a:ext cx="14347060" cy="1659370"/>
          </a:xfrm>
          <a:prstGeom prst="rect">
            <a:avLst/>
          </a:prstGeom>
        </p:spPr>
        <p:txBody>
          <a:bodyPr anchor="t" rtlCol="false" tIns="0" lIns="0" bIns="0" rIns="0">
            <a:spAutoFit/>
          </a:bodyPr>
          <a:lstStyle/>
          <a:p>
            <a:pPr algn="ctr" marL="0" indent="0" lvl="0">
              <a:lnSpc>
                <a:spcPts val="11647"/>
              </a:lnSpc>
            </a:pPr>
            <a:r>
              <a:rPr lang="en-US" b="true" sz="9469">
                <a:solidFill>
                  <a:srgbClr val="FFFFFF"/>
                </a:solidFill>
                <a:latin typeface="Arial MT Pro Bold"/>
                <a:ea typeface="Arial MT Pro Bold"/>
                <a:cs typeface="Arial MT Pro Bold"/>
                <a:sym typeface="Arial MT Pro Bold"/>
              </a:rPr>
              <a:t>EXAMEN CORTO</a:t>
            </a:r>
          </a:p>
        </p:txBody>
      </p:sp>
    </p:spTree>
  </p:cSld>
  <p:clrMapOvr>
    <a:masterClrMapping/>
  </p:clrMapOvr>
  <p:transition spd="fast">
    <p:fade/>
  </p:transition>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6902" y="0"/>
            <a:ext cx="18254198" cy="10287002"/>
            <a:chOff x="0" y="0"/>
            <a:chExt cx="24338931" cy="13716003"/>
          </a:xfrm>
        </p:grpSpPr>
        <p:sp>
          <p:nvSpPr>
            <p:cNvPr name="Freeform 3" id="3"/>
            <p:cNvSpPr/>
            <p:nvPr/>
          </p:nvSpPr>
          <p:spPr>
            <a:xfrm flipH="false" flipV="false" rot="0">
              <a:off x="0" y="0"/>
              <a:ext cx="24338914" cy="13716000"/>
            </a:xfrm>
            <a:custGeom>
              <a:avLst/>
              <a:gdLst/>
              <a:ahLst/>
              <a:cxnLst/>
              <a:rect r="r" b="b" t="t" l="l"/>
              <a:pathLst>
                <a:path h="13716000" w="24338914">
                  <a:moveTo>
                    <a:pt x="0" y="0"/>
                  </a:moveTo>
                  <a:lnTo>
                    <a:pt x="24338914" y="0"/>
                  </a:lnTo>
                  <a:lnTo>
                    <a:pt x="24338914" y="13716000"/>
                  </a:lnTo>
                  <a:lnTo>
                    <a:pt x="0" y="13716000"/>
                  </a:lnTo>
                  <a:lnTo>
                    <a:pt x="0" y="0"/>
                  </a:lnTo>
                  <a:close/>
                </a:path>
              </a:pathLst>
            </a:custGeom>
            <a:blipFill>
              <a:blip r:embed="rId3">
                <a:alphaModFix amt="62000"/>
              </a:blip>
              <a:stretch>
                <a:fillRect l="0" t="0" r="0" b="0"/>
              </a:stretch>
            </a:blipFill>
          </p:spPr>
        </p:sp>
      </p:grpSp>
      <p:graphicFrame>
        <p:nvGraphicFramePr>
          <p:cNvPr name="Table 4" id="4"/>
          <p:cNvGraphicFramePr>
            <a:graphicFrameLocks noGrp="true"/>
          </p:cNvGraphicFramePr>
          <p:nvPr/>
        </p:nvGraphicFramePr>
        <p:xfrm>
          <a:off x="16902" y="1642394"/>
          <a:ext cx="10414000" cy="2576512"/>
        </p:xfrm>
        <a:graphic>
          <a:graphicData uri="http://schemas.openxmlformats.org/drawingml/2006/table">
            <a:tbl>
              <a:tblPr/>
              <a:tblGrid>
                <a:gridCol w="5508899"/>
                <a:gridCol w="4905101"/>
              </a:tblGrid>
              <a:tr h="715698">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Nombre de la actividad:</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39"/>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5698">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Cantidad de participantes: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145117">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Doy fe que esta actividad está planificada en dtt (Sí/No):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91425" y="4316175"/>
            <a:ext cx="17854950" cy="67470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MT Pro Bold"/>
                <a:ea typeface="Arial MT Pro Bold"/>
                <a:cs typeface="Arial MT Pro Bold"/>
                <a:sym typeface="Arial MT Pro Bold"/>
              </a:rPr>
              <a:t>Participantes: llenar las siguientes cajas de texto (tomar información del chat del meet)</a:t>
            </a:r>
          </a:p>
        </p:txBody>
      </p:sp>
      <p:grpSp>
        <p:nvGrpSpPr>
          <p:cNvPr name="Group 6" id="6"/>
          <p:cNvGrpSpPr/>
          <p:nvPr/>
        </p:nvGrpSpPr>
        <p:grpSpPr>
          <a:xfrm rot="0">
            <a:off x="7375" y="4946275"/>
            <a:ext cx="6186450" cy="5129250"/>
            <a:chOff x="0" y="0"/>
            <a:chExt cx="8248600" cy="6839000"/>
          </a:xfrm>
        </p:grpSpPr>
        <p:sp>
          <p:nvSpPr>
            <p:cNvPr name="Freeform 7" id="7"/>
            <p:cNvSpPr/>
            <p:nvPr/>
          </p:nvSpPr>
          <p:spPr>
            <a:xfrm flipH="false" flipV="false" rot="0">
              <a:off x="0" y="0"/>
              <a:ext cx="8248650" cy="6838950"/>
            </a:xfrm>
            <a:custGeom>
              <a:avLst/>
              <a:gdLst/>
              <a:ahLst/>
              <a:cxnLst/>
              <a:rect r="r" b="b" t="t" l="l"/>
              <a:pathLst>
                <a:path h="6838950" w="8248650">
                  <a:moveTo>
                    <a:pt x="12700" y="0"/>
                  </a:moveTo>
                  <a:lnTo>
                    <a:pt x="8235950" y="0"/>
                  </a:lnTo>
                  <a:cubicBezTo>
                    <a:pt x="8242935" y="0"/>
                    <a:pt x="8248650" y="5715"/>
                    <a:pt x="8248650" y="12700"/>
                  </a:cubicBezTo>
                  <a:lnTo>
                    <a:pt x="8248650" y="6826250"/>
                  </a:lnTo>
                  <a:cubicBezTo>
                    <a:pt x="8248650" y="6833235"/>
                    <a:pt x="8242935" y="6838950"/>
                    <a:pt x="8235950" y="6838950"/>
                  </a:cubicBezTo>
                  <a:lnTo>
                    <a:pt x="12700" y="6838950"/>
                  </a:lnTo>
                  <a:cubicBezTo>
                    <a:pt x="5715" y="6838950"/>
                    <a:pt x="0" y="6833235"/>
                    <a:pt x="0" y="6826250"/>
                  </a:cubicBezTo>
                  <a:lnTo>
                    <a:pt x="0" y="12700"/>
                  </a:lnTo>
                  <a:cubicBezTo>
                    <a:pt x="0" y="5715"/>
                    <a:pt x="5715" y="0"/>
                    <a:pt x="12700" y="0"/>
                  </a:cubicBezTo>
                  <a:moveTo>
                    <a:pt x="12700" y="25400"/>
                  </a:moveTo>
                  <a:lnTo>
                    <a:pt x="12700" y="12700"/>
                  </a:lnTo>
                  <a:lnTo>
                    <a:pt x="25400" y="12700"/>
                  </a:lnTo>
                  <a:lnTo>
                    <a:pt x="25400" y="6826250"/>
                  </a:lnTo>
                  <a:lnTo>
                    <a:pt x="12700" y="6826250"/>
                  </a:lnTo>
                  <a:lnTo>
                    <a:pt x="12700" y="6813550"/>
                  </a:lnTo>
                  <a:lnTo>
                    <a:pt x="8235950" y="6813550"/>
                  </a:lnTo>
                  <a:lnTo>
                    <a:pt x="8235950" y="6826250"/>
                  </a:lnTo>
                  <a:lnTo>
                    <a:pt x="8223250" y="6826250"/>
                  </a:lnTo>
                  <a:lnTo>
                    <a:pt x="8223250" y="12700"/>
                  </a:lnTo>
                  <a:lnTo>
                    <a:pt x="8235950" y="12700"/>
                  </a:lnTo>
                  <a:lnTo>
                    <a:pt x="8235950" y="25400"/>
                  </a:lnTo>
                  <a:lnTo>
                    <a:pt x="12700" y="25400"/>
                  </a:lnTo>
                  <a:close/>
                </a:path>
              </a:pathLst>
            </a:custGeom>
            <a:solidFill>
              <a:srgbClr val="000000"/>
            </a:solidFill>
          </p:spPr>
        </p:sp>
      </p:grpSp>
      <p:graphicFrame>
        <p:nvGraphicFramePr>
          <p:cNvPr name="Table 8" id="8"/>
          <p:cNvGraphicFramePr>
            <a:graphicFrameLocks noGrp="true"/>
          </p:cNvGraphicFramePr>
          <p:nvPr/>
        </p:nvGraphicFramePr>
        <p:xfrm>
          <a:off x="10656400" y="1856706"/>
          <a:ext cx="7366000" cy="2147887"/>
        </p:xfrm>
        <a:graphic>
          <a:graphicData uri="http://schemas.openxmlformats.org/drawingml/2006/table">
            <a:tbl>
              <a:tblPr/>
              <a:tblGrid>
                <a:gridCol w="3030168"/>
                <a:gridCol w="4335832"/>
              </a:tblGrid>
              <a:tr h="715962">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Hora de inicio: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5962">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Hora de fin: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5962">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Duración (min):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grpSp>
        <p:nvGrpSpPr>
          <p:cNvPr name="Group 9" id="9"/>
          <p:cNvGrpSpPr/>
          <p:nvPr/>
        </p:nvGrpSpPr>
        <p:grpSpPr>
          <a:xfrm rot="0">
            <a:off x="6252075" y="4946275"/>
            <a:ext cx="6186450" cy="5129250"/>
            <a:chOff x="0" y="0"/>
            <a:chExt cx="8248600" cy="6839000"/>
          </a:xfrm>
        </p:grpSpPr>
        <p:sp>
          <p:nvSpPr>
            <p:cNvPr name="Freeform 10" id="10"/>
            <p:cNvSpPr/>
            <p:nvPr/>
          </p:nvSpPr>
          <p:spPr>
            <a:xfrm flipH="false" flipV="false" rot="0">
              <a:off x="0" y="0"/>
              <a:ext cx="8248650" cy="6838950"/>
            </a:xfrm>
            <a:custGeom>
              <a:avLst/>
              <a:gdLst/>
              <a:ahLst/>
              <a:cxnLst/>
              <a:rect r="r" b="b" t="t" l="l"/>
              <a:pathLst>
                <a:path h="6838950" w="8248650">
                  <a:moveTo>
                    <a:pt x="12700" y="0"/>
                  </a:moveTo>
                  <a:lnTo>
                    <a:pt x="8235950" y="0"/>
                  </a:lnTo>
                  <a:cubicBezTo>
                    <a:pt x="8242935" y="0"/>
                    <a:pt x="8248650" y="5715"/>
                    <a:pt x="8248650" y="12700"/>
                  </a:cubicBezTo>
                  <a:lnTo>
                    <a:pt x="8248650" y="6826250"/>
                  </a:lnTo>
                  <a:cubicBezTo>
                    <a:pt x="8248650" y="6833235"/>
                    <a:pt x="8242935" y="6838950"/>
                    <a:pt x="8235950" y="6838950"/>
                  </a:cubicBezTo>
                  <a:lnTo>
                    <a:pt x="12700" y="6838950"/>
                  </a:lnTo>
                  <a:cubicBezTo>
                    <a:pt x="5715" y="6838950"/>
                    <a:pt x="0" y="6833235"/>
                    <a:pt x="0" y="6826250"/>
                  </a:cubicBezTo>
                  <a:lnTo>
                    <a:pt x="0" y="12700"/>
                  </a:lnTo>
                  <a:cubicBezTo>
                    <a:pt x="0" y="5715"/>
                    <a:pt x="5715" y="0"/>
                    <a:pt x="12700" y="0"/>
                  </a:cubicBezTo>
                  <a:moveTo>
                    <a:pt x="12700" y="25400"/>
                  </a:moveTo>
                  <a:lnTo>
                    <a:pt x="12700" y="12700"/>
                  </a:lnTo>
                  <a:lnTo>
                    <a:pt x="25400" y="12700"/>
                  </a:lnTo>
                  <a:lnTo>
                    <a:pt x="25400" y="6826250"/>
                  </a:lnTo>
                  <a:lnTo>
                    <a:pt x="12700" y="6826250"/>
                  </a:lnTo>
                  <a:lnTo>
                    <a:pt x="12700" y="6813550"/>
                  </a:lnTo>
                  <a:lnTo>
                    <a:pt x="8235950" y="6813550"/>
                  </a:lnTo>
                  <a:lnTo>
                    <a:pt x="8235950" y="6826250"/>
                  </a:lnTo>
                  <a:lnTo>
                    <a:pt x="8223250" y="6826250"/>
                  </a:lnTo>
                  <a:lnTo>
                    <a:pt x="8223250" y="12700"/>
                  </a:lnTo>
                  <a:lnTo>
                    <a:pt x="8235950" y="12700"/>
                  </a:lnTo>
                  <a:lnTo>
                    <a:pt x="8235950" y="25400"/>
                  </a:lnTo>
                  <a:lnTo>
                    <a:pt x="12700" y="25400"/>
                  </a:lnTo>
                  <a:close/>
                </a:path>
              </a:pathLst>
            </a:custGeom>
            <a:solidFill>
              <a:srgbClr val="000000"/>
            </a:solidFill>
          </p:spPr>
        </p:sp>
      </p:grpSp>
      <p:grpSp>
        <p:nvGrpSpPr>
          <p:cNvPr name="Group 11" id="11"/>
          <p:cNvGrpSpPr/>
          <p:nvPr/>
        </p:nvGrpSpPr>
        <p:grpSpPr>
          <a:xfrm rot="0">
            <a:off x="12496775" y="4946275"/>
            <a:ext cx="5783850" cy="5129250"/>
            <a:chOff x="0" y="0"/>
            <a:chExt cx="7711800" cy="6839000"/>
          </a:xfrm>
        </p:grpSpPr>
        <p:sp>
          <p:nvSpPr>
            <p:cNvPr name="Freeform 12" id="12"/>
            <p:cNvSpPr/>
            <p:nvPr/>
          </p:nvSpPr>
          <p:spPr>
            <a:xfrm flipH="false" flipV="false" rot="0">
              <a:off x="0" y="0"/>
              <a:ext cx="7711821" cy="6838950"/>
            </a:xfrm>
            <a:custGeom>
              <a:avLst/>
              <a:gdLst/>
              <a:ahLst/>
              <a:cxnLst/>
              <a:rect r="r" b="b" t="t" l="l"/>
              <a:pathLst>
                <a:path h="6838950" w="7711821">
                  <a:moveTo>
                    <a:pt x="12700" y="0"/>
                  </a:moveTo>
                  <a:lnTo>
                    <a:pt x="7699121" y="0"/>
                  </a:lnTo>
                  <a:cubicBezTo>
                    <a:pt x="7706106" y="0"/>
                    <a:pt x="7711821" y="5715"/>
                    <a:pt x="7711821" y="12700"/>
                  </a:cubicBezTo>
                  <a:lnTo>
                    <a:pt x="7711821" y="6826250"/>
                  </a:lnTo>
                  <a:cubicBezTo>
                    <a:pt x="7711821" y="6833235"/>
                    <a:pt x="7706106" y="6838950"/>
                    <a:pt x="7699121" y="6838950"/>
                  </a:cubicBezTo>
                  <a:lnTo>
                    <a:pt x="12700" y="6838950"/>
                  </a:lnTo>
                  <a:cubicBezTo>
                    <a:pt x="5715" y="6838950"/>
                    <a:pt x="0" y="6833235"/>
                    <a:pt x="0" y="6826250"/>
                  </a:cubicBezTo>
                  <a:lnTo>
                    <a:pt x="0" y="12700"/>
                  </a:lnTo>
                  <a:cubicBezTo>
                    <a:pt x="0" y="5715"/>
                    <a:pt x="5715" y="0"/>
                    <a:pt x="12700" y="0"/>
                  </a:cubicBezTo>
                  <a:moveTo>
                    <a:pt x="12700" y="25400"/>
                  </a:moveTo>
                  <a:lnTo>
                    <a:pt x="12700" y="12700"/>
                  </a:lnTo>
                  <a:lnTo>
                    <a:pt x="25400" y="12700"/>
                  </a:lnTo>
                  <a:lnTo>
                    <a:pt x="25400" y="6826250"/>
                  </a:lnTo>
                  <a:lnTo>
                    <a:pt x="12700" y="6826250"/>
                  </a:lnTo>
                  <a:lnTo>
                    <a:pt x="12700" y="6813550"/>
                  </a:lnTo>
                  <a:lnTo>
                    <a:pt x="7699121" y="6813550"/>
                  </a:lnTo>
                  <a:lnTo>
                    <a:pt x="7699121" y="6826250"/>
                  </a:lnTo>
                  <a:lnTo>
                    <a:pt x="7686421" y="6826250"/>
                  </a:lnTo>
                  <a:lnTo>
                    <a:pt x="7686421" y="12700"/>
                  </a:lnTo>
                  <a:lnTo>
                    <a:pt x="7699121" y="12700"/>
                  </a:lnTo>
                  <a:lnTo>
                    <a:pt x="7699121" y="25400"/>
                  </a:lnTo>
                  <a:lnTo>
                    <a:pt x="12700" y="25400"/>
                  </a:lnTo>
                  <a:close/>
                </a:path>
              </a:pathLst>
            </a:custGeom>
            <a:solidFill>
              <a:srgbClr val="000000"/>
            </a:solidFill>
          </p:spPr>
        </p:sp>
      </p:grpSp>
    </p:spTree>
  </p:cSld>
  <p:clrMapOvr>
    <a:masterClrMapping/>
  </p:clrMapOvr>
  <p:transition spd="fast">
    <p:fade/>
  </p:transition>
</p:sld>
</file>

<file path=ppt/slides/slide3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2D2EF">
                <a:alpha val="100000"/>
              </a:srgbClr>
            </a:gs>
            <a:gs pos="10000">
              <a:srgbClr val="62D2EF">
                <a:alpha val="100000"/>
              </a:srgbClr>
            </a:gs>
            <a:gs pos="100000">
              <a:srgbClr val="05578D">
                <a:alpha val="100000"/>
              </a:srgbClr>
            </a:gs>
          </a:gsLst>
          <a:lin ang="6120000"/>
        </a:gradFill>
      </p:bgPr>
    </p:bg>
    <p:spTree>
      <p:nvGrpSpPr>
        <p:cNvPr id="1" name=""/>
        <p:cNvGrpSpPr/>
        <p:nvPr/>
      </p:nvGrpSpPr>
      <p:grpSpPr>
        <a:xfrm>
          <a:off x="0" y="0"/>
          <a:ext cx="0" cy="0"/>
          <a:chOff x="0" y="0"/>
          <a:chExt cx="0" cy="0"/>
        </a:xfrm>
      </p:grpSpPr>
      <p:sp>
        <p:nvSpPr>
          <p:cNvPr name="Freeform 2" id="2"/>
          <p:cNvSpPr/>
          <p:nvPr/>
        </p:nvSpPr>
        <p:spPr>
          <a:xfrm flipH="false" flipV="false" rot="0">
            <a:off x="-1201624" y="0"/>
            <a:ext cx="20691247" cy="10429334"/>
          </a:xfrm>
          <a:custGeom>
            <a:avLst/>
            <a:gdLst/>
            <a:ahLst/>
            <a:cxnLst/>
            <a:rect r="r" b="b" t="t" l="l"/>
            <a:pathLst>
              <a:path h="10429334" w="20691247">
                <a:moveTo>
                  <a:pt x="0" y="0"/>
                </a:moveTo>
                <a:lnTo>
                  <a:pt x="20691248" y="0"/>
                </a:lnTo>
                <a:lnTo>
                  <a:pt x="20691248" y="10429334"/>
                </a:lnTo>
                <a:lnTo>
                  <a:pt x="0" y="10429334"/>
                </a:lnTo>
                <a:lnTo>
                  <a:pt x="0" y="0"/>
                </a:lnTo>
                <a:close/>
              </a:path>
            </a:pathLst>
          </a:custGeom>
          <a:blipFill>
            <a:blip r:embed="rId3"/>
            <a:stretch>
              <a:fillRect l="-8780" t="0" r="-8780" b="0"/>
            </a:stretch>
          </a:blipFill>
        </p:spPr>
      </p:sp>
      <p:sp>
        <p:nvSpPr>
          <p:cNvPr name="AutoShape 3" id="3"/>
          <p:cNvSpPr/>
          <p:nvPr/>
        </p:nvSpPr>
        <p:spPr>
          <a:xfrm rot="8099999">
            <a:off x="16623524" y="5129640"/>
            <a:ext cx="1950151" cy="0"/>
          </a:xfrm>
          <a:prstGeom prst="line">
            <a:avLst/>
          </a:prstGeom>
          <a:ln cap="rnd" w="9525">
            <a:solidFill>
              <a:srgbClr val="FFFFFF"/>
            </a:solidFill>
            <a:prstDash val="solid"/>
            <a:headEnd type="none" len="sm" w="sm"/>
            <a:tailEnd type="none" len="sm" w="sm"/>
          </a:ln>
        </p:spPr>
      </p:sp>
      <p:sp>
        <p:nvSpPr>
          <p:cNvPr name="AutoShape 4" id="4"/>
          <p:cNvSpPr/>
          <p:nvPr/>
        </p:nvSpPr>
        <p:spPr>
          <a:xfrm rot="8100000">
            <a:off x="12877196" y="7021980"/>
            <a:ext cx="6339248" cy="0"/>
          </a:xfrm>
          <a:prstGeom prst="line">
            <a:avLst/>
          </a:prstGeom>
          <a:ln cap="rnd" w="9525">
            <a:solidFill>
              <a:srgbClr val="FFFFFF"/>
            </a:solidFill>
            <a:prstDash val="solid"/>
            <a:headEnd type="none" len="sm" w="sm"/>
            <a:tailEnd type="none" len="sm" w="sm"/>
          </a:ln>
        </p:spPr>
      </p:sp>
      <p:sp>
        <p:nvSpPr>
          <p:cNvPr name="AutoShape 5" id="5"/>
          <p:cNvSpPr/>
          <p:nvPr/>
        </p:nvSpPr>
        <p:spPr>
          <a:xfrm rot="8099783">
            <a:off x="14842142" y="6350040"/>
            <a:ext cx="4037276" cy="0"/>
          </a:xfrm>
          <a:prstGeom prst="line">
            <a:avLst/>
          </a:prstGeom>
          <a:ln cap="rnd" w="9525">
            <a:solidFill>
              <a:srgbClr val="FFFFFF"/>
            </a:solidFill>
            <a:prstDash val="solid"/>
            <a:headEnd type="none" len="sm" w="sm"/>
            <a:tailEnd type="none" len="sm" w="sm"/>
          </a:ln>
        </p:spPr>
      </p:sp>
      <p:sp>
        <p:nvSpPr>
          <p:cNvPr name="AutoShape 6" id="6"/>
          <p:cNvSpPr/>
          <p:nvPr/>
        </p:nvSpPr>
        <p:spPr>
          <a:xfrm rot="8100000">
            <a:off x="15101702" y="5996535"/>
            <a:ext cx="3744236" cy="0"/>
          </a:xfrm>
          <a:prstGeom prst="line">
            <a:avLst/>
          </a:prstGeom>
          <a:ln cap="rnd" w="19050">
            <a:solidFill>
              <a:srgbClr val="FFFFFF"/>
            </a:solidFill>
            <a:prstDash val="solid"/>
            <a:headEnd type="none" len="sm" w="sm"/>
            <a:tailEnd type="none" len="sm" w="sm"/>
          </a:ln>
        </p:spPr>
      </p:sp>
      <p:sp>
        <p:nvSpPr>
          <p:cNvPr name="AutoShape 7" id="7"/>
          <p:cNvSpPr/>
          <p:nvPr/>
        </p:nvSpPr>
        <p:spPr>
          <a:xfrm rot="8099680">
            <a:off x="15963304" y="6467415"/>
            <a:ext cx="2734912" cy="0"/>
          </a:xfrm>
          <a:prstGeom prst="line">
            <a:avLst/>
          </a:prstGeom>
          <a:ln cap="rnd" w="19050">
            <a:solidFill>
              <a:srgbClr val="FFFFFF"/>
            </a:solidFill>
            <a:prstDash val="solid"/>
            <a:headEnd type="none" len="sm" w="sm"/>
            <a:tailEnd type="none" len="sm" w="sm"/>
          </a:ln>
        </p:spPr>
      </p:sp>
      <p:sp>
        <p:nvSpPr>
          <p:cNvPr name="TextBox 8" id="8"/>
          <p:cNvSpPr txBox="true"/>
          <p:nvPr/>
        </p:nvSpPr>
        <p:spPr>
          <a:xfrm rot="0">
            <a:off x="1970470" y="3988097"/>
            <a:ext cx="14347060" cy="1659370"/>
          </a:xfrm>
          <a:prstGeom prst="rect">
            <a:avLst/>
          </a:prstGeom>
        </p:spPr>
        <p:txBody>
          <a:bodyPr anchor="t" rtlCol="false" tIns="0" lIns="0" bIns="0" rIns="0">
            <a:spAutoFit/>
          </a:bodyPr>
          <a:lstStyle/>
          <a:p>
            <a:pPr algn="ctr" marL="0" indent="0" lvl="0">
              <a:lnSpc>
                <a:spcPts val="11647"/>
              </a:lnSpc>
            </a:pPr>
            <a:r>
              <a:rPr lang="en-US" b="true" sz="9469">
                <a:solidFill>
                  <a:srgbClr val="FFFFFF"/>
                </a:solidFill>
                <a:latin typeface="Arial MT Pro Bold"/>
                <a:ea typeface="Arial MT Pro Bold"/>
                <a:cs typeface="Arial MT Pro Bold"/>
                <a:sym typeface="Arial MT Pro Bold"/>
              </a:rPr>
              <a:t>EJEMPLO PRACTICO</a:t>
            </a:r>
          </a:p>
        </p:txBody>
      </p:sp>
    </p:spTree>
  </p:cSld>
  <p:clrMapOvr>
    <a:masterClrMapping/>
  </p:clrMapOvr>
  <p:transition spd="fast">
    <p:fade/>
  </p:transition>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38888" r="0" b="-38888"/>
              </a:stretch>
            </a:blipFill>
          </p:spPr>
        </p:sp>
      </p:grpSp>
      <p:grpSp>
        <p:nvGrpSpPr>
          <p:cNvPr name="Group 4" id="4"/>
          <p:cNvGrpSpPr/>
          <p:nvPr/>
        </p:nvGrpSpPr>
        <p:grpSpPr>
          <a:xfrm rot="0">
            <a:off x="-160692" y="-149623"/>
            <a:ext cx="18606025" cy="10589664"/>
            <a:chOff x="0" y="0"/>
            <a:chExt cx="24808033" cy="14119552"/>
          </a:xfrm>
        </p:grpSpPr>
        <p:sp>
          <p:nvSpPr>
            <p:cNvPr name="Freeform 5" id="5"/>
            <p:cNvSpPr/>
            <p:nvPr/>
          </p:nvSpPr>
          <p:spPr>
            <a:xfrm flipH="false" flipV="false" rot="0">
              <a:off x="0" y="0"/>
              <a:ext cx="24808053" cy="14119606"/>
            </a:xfrm>
            <a:custGeom>
              <a:avLst/>
              <a:gdLst/>
              <a:ahLst/>
              <a:cxnLst/>
              <a:rect r="r" b="b" t="t" l="l"/>
              <a:pathLst>
                <a:path h="14119606" w="24808053">
                  <a:moveTo>
                    <a:pt x="0" y="0"/>
                  </a:moveTo>
                  <a:lnTo>
                    <a:pt x="24808053" y="0"/>
                  </a:lnTo>
                  <a:lnTo>
                    <a:pt x="24808053" y="14119606"/>
                  </a:lnTo>
                  <a:lnTo>
                    <a:pt x="0" y="14119606"/>
                  </a:lnTo>
                  <a:close/>
                </a:path>
              </a:pathLst>
            </a:custGeom>
            <a:solidFill>
              <a:srgbClr val="14056D">
                <a:alpha val="3137"/>
              </a:srgbClr>
            </a:solidFill>
          </p:spPr>
        </p:sp>
      </p:grpSp>
      <p:grpSp>
        <p:nvGrpSpPr>
          <p:cNvPr name="Group 6" id="6"/>
          <p:cNvGrpSpPr/>
          <p:nvPr/>
        </p:nvGrpSpPr>
        <p:grpSpPr>
          <a:xfrm rot="-2310192">
            <a:off x="9580234" y="2202005"/>
            <a:ext cx="12649011" cy="9567252"/>
            <a:chOff x="0" y="0"/>
            <a:chExt cx="16865348" cy="12756336"/>
          </a:xfrm>
        </p:grpSpPr>
        <p:sp>
          <p:nvSpPr>
            <p:cNvPr name="Freeform 7" id="7"/>
            <p:cNvSpPr/>
            <p:nvPr/>
          </p:nvSpPr>
          <p:spPr>
            <a:xfrm flipH="false" flipV="false" rot="0">
              <a:off x="0" y="0"/>
              <a:ext cx="16865346" cy="12756388"/>
            </a:xfrm>
            <a:custGeom>
              <a:avLst/>
              <a:gdLst/>
              <a:ahLst/>
              <a:cxnLst/>
              <a:rect r="r" b="b" t="t" l="l"/>
              <a:pathLst>
                <a:path h="12756388" w="16865346">
                  <a:moveTo>
                    <a:pt x="0" y="0"/>
                  </a:moveTo>
                  <a:lnTo>
                    <a:pt x="16865346" y="0"/>
                  </a:lnTo>
                  <a:lnTo>
                    <a:pt x="16865346" y="12756388"/>
                  </a:lnTo>
                  <a:lnTo>
                    <a:pt x="0" y="12756388"/>
                  </a:lnTo>
                  <a:lnTo>
                    <a:pt x="0" y="0"/>
                  </a:lnTo>
                  <a:close/>
                </a:path>
              </a:pathLst>
            </a:custGeom>
            <a:blipFill>
              <a:blip r:embed="rId4">
                <a:alphaModFix amt="37000"/>
              </a:blip>
              <a:stretch>
                <a:fillRect l="0" t="-108" r="0" b="-107"/>
              </a:stretch>
            </a:blipFill>
          </p:spPr>
        </p:sp>
      </p:grpSp>
      <p:sp>
        <p:nvSpPr>
          <p:cNvPr name="TextBox 8" id="8"/>
          <p:cNvSpPr txBox="true"/>
          <p:nvPr/>
        </p:nvSpPr>
        <p:spPr>
          <a:xfrm rot="0">
            <a:off x="1365653" y="3489027"/>
            <a:ext cx="11995928" cy="1310643"/>
          </a:xfrm>
          <a:prstGeom prst="rect">
            <a:avLst/>
          </a:prstGeom>
        </p:spPr>
        <p:txBody>
          <a:bodyPr anchor="t" rtlCol="false" tIns="0" lIns="0" bIns="0" rIns="0">
            <a:spAutoFit/>
          </a:bodyPr>
          <a:lstStyle/>
          <a:p>
            <a:pPr algn="just">
              <a:lnSpc>
                <a:spcPts val="7611"/>
              </a:lnSpc>
            </a:pPr>
            <a:r>
              <a:rPr lang="en-US" sz="6098">
                <a:solidFill>
                  <a:srgbClr val="FFFFFF"/>
                </a:solidFill>
                <a:latin typeface="Arial MT Pro"/>
                <a:ea typeface="Arial MT Pro"/>
                <a:cs typeface="Arial MT Pro"/>
                <a:sym typeface="Arial MT Pro"/>
              </a:rPr>
              <a:t>¡GRACIAS POR SU  ATENCIÓN!</a:t>
            </a:r>
          </a:p>
          <a:p>
            <a:pPr algn="just">
              <a:lnSpc>
                <a:spcPts val="1747"/>
              </a:lnSpc>
            </a:pPr>
          </a:p>
        </p:txBody>
      </p:sp>
      <p:sp>
        <p:nvSpPr>
          <p:cNvPr name="TextBox 9" id="9"/>
          <p:cNvSpPr txBox="true"/>
          <p:nvPr/>
        </p:nvSpPr>
        <p:spPr>
          <a:xfrm rot="0">
            <a:off x="5789820" y="6614156"/>
            <a:ext cx="6705000" cy="1140975"/>
          </a:xfrm>
          <a:prstGeom prst="rect">
            <a:avLst/>
          </a:prstGeom>
        </p:spPr>
        <p:txBody>
          <a:bodyPr anchor="t" rtlCol="false" tIns="0" lIns="0" bIns="0" rIns="0">
            <a:spAutoFit/>
          </a:bodyPr>
          <a:lstStyle/>
          <a:p>
            <a:pPr algn="ctr">
              <a:lnSpc>
                <a:spcPts val="8879"/>
              </a:lnSpc>
            </a:pPr>
            <a:r>
              <a:rPr lang="en-US" sz="4999">
                <a:solidFill>
                  <a:srgbClr val="FFFFFF"/>
                </a:solidFill>
                <a:latin typeface="Arial MT Pro"/>
                <a:ea typeface="Arial MT Pro"/>
                <a:cs typeface="Arial MT Pro"/>
                <a:sym typeface="Arial MT Pro"/>
              </a:rPr>
              <a:t>DUDAS</a:t>
            </a:r>
          </a:p>
        </p:txBody>
      </p:sp>
      <p:grpSp>
        <p:nvGrpSpPr>
          <p:cNvPr name="Group 10" id="10"/>
          <p:cNvGrpSpPr/>
          <p:nvPr/>
        </p:nvGrpSpPr>
        <p:grpSpPr>
          <a:xfrm rot="0">
            <a:off x="13361581" y="2032317"/>
            <a:ext cx="2757268" cy="3770970"/>
            <a:chOff x="0" y="0"/>
            <a:chExt cx="3676357" cy="5027960"/>
          </a:xfrm>
        </p:grpSpPr>
        <p:sp>
          <p:nvSpPr>
            <p:cNvPr name="Freeform 11" id="11"/>
            <p:cNvSpPr/>
            <p:nvPr/>
          </p:nvSpPr>
          <p:spPr>
            <a:xfrm flipH="false" flipV="false" rot="0">
              <a:off x="0" y="0"/>
              <a:ext cx="3676396" cy="5027930"/>
            </a:xfrm>
            <a:custGeom>
              <a:avLst/>
              <a:gdLst/>
              <a:ahLst/>
              <a:cxnLst/>
              <a:rect r="r" b="b" t="t" l="l"/>
              <a:pathLst>
                <a:path h="5027930" w="3676396">
                  <a:moveTo>
                    <a:pt x="0" y="0"/>
                  </a:moveTo>
                  <a:lnTo>
                    <a:pt x="3676396" y="0"/>
                  </a:lnTo>
                  <a:lnTo>
                    <a:pt x="3676396" y="5027930"/>
                  </a:lnTo>
                  <a:lnTo>
                    <a:pt x="0" y="5027930"/>
                  </a:lnTo>
                  <a:lnTo>
                    <a:pt x="0" y="0"/>
                  </a:lnTo>
                  <a:close/>
                </a:path>
              </a:pathLst>
            </a:custGeom>
            <a:blipFill>
              <a:blip r:embed="rId5"/>
              <a:stretch>
                <a:fillRect l="-7" t="0" r="-6" b="0"/>
              </a:stretch>
            </a:blipFill>
          </p:spPr>
        </p:sp>
      </p:grpSp>
      <p:sp>
        <p:nvSpPr>
          <p:cNvPr name="TextBox 12" id="12"/>
          <p:cNvSpPr txBox="true"/>
          <p:nvPr/>
        </p:nvSpPr>
        <p:spPr>
          <a:xfrm rot="0">
            <a:off x="2411098" y="7699710"/>
            <a:ext cx="13465800" cy="1171881"/>
          </a:xfrm>
          <a:prstGeom prst="rect">
            <a:avLst/>
          </a:prstGeom>
        </p:spPr>
        <p:txBody>
          <a:bodyPr anchor="t" rtlCol="false" tIns="0" lIns="0" bIns="0" rIns="0">
            <a:spAutoFit/>
          </a:bodyPr>
          <a:lstStyle/>
          <a:p>
            <a:pPr algn="ctr">
              <a:lnSpc>
                <a:spcPts val="4617"/>
              </a:lnSpc>
            </a:pPr>
            <a:r>
              <a:rPr lang="en-US" sz="2599">
                <a:solidFill>
                  <a:srgbClr val="FFFFFF"/>
                </a:solidFill>
                <a:latin typeface="Arial MT Pro"/>
                <a:ea typeface="Arial MT Pro"/>
                <a:cs typeface="Arial MT Pro"/>
                <a:sym typeface="Arial MT Pro"/>
              </a:rPr>
              <a:t>RECUERDA QUE TENEMOS NUESTRO FORO SEMANAL DONDE PUEDES CONSULTAR CUALQUIER DUDA QUE TE SURJA EN LA SEMANA</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DAGsVG_M8SA</dc:identifier>
  <dcterms:modified xsi:type="dcterms:W3CDTF">2011-08-01T06:04:30Z</dcterms:modified>
  <cp:revision>1</cp:revision>
  <dc:title>Presentacion_S2.pptx</dc:title>
</cp:coreProperties>
</file>