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8288000" cy="10287000"/>
  <p:notesSz cx="6858000" cy="9144000"/>
  <p:embeddedFontLst>
    <p:embeddedFont>
      <p:font typeface="Arial MT Pro Bold" charset="1" panose="020B0802020202020204"/>
      <p:regular r:id="rId60"/>
    </p:embeddedFont>
    <p:embeddedFont>
      <p:font typeface="Arial MT Pro" charset="1" panose="020B0502020202020204"/>
      <p:regular r:id="rId61"/>
    </p:embeddedFont>
    <p:embeddedFont>
      <p:font typeface="Canva Sans Bold" charset="1" panose="020B0803030501040103"/>
      <p:regular r:id="rId62"/>
    </p:embeddedFont>
    <p:embeddedFont>
      <p:font typeface="Open Sans Bold" charset="1" panose="00000000000000000000"/>
      <p:regular r:id="rId64"/>
    </p:embeddedFont>
    <p:embeddedFont>
      <p:font typeface="Libre Franklin Bold" charset="1" panose="00000000000000000000"/>
      <p:regular r:id="rId65"/>
    </p:embeddedFont>
    <p:embeddedFont>
      <p:font typeface="Pacifico" charset="1" panose="00000500000000000000"/>
      <p:regular r:id="rId67"/>
    </p:embeddedFont>
    <p:embeddedFont>
      <p:font typeface="Arial Bold" charset="1" panose="020B0704020202020204"/>
      <p:regular r:id="rId69"/>
    </p:embeddedFont>
    <p:embeddedFont>
      <p:font typeface="Arial" charset="1" panose="020B0604020202020204"/>
      <p:regular r:id="rId75"/>
    </p:embeddedFont>
    <p:embeddedFont>
      <p:font typeface="Impact" charset="1" panose="020B0806030902050204"/>
      <p:regular r:id="rId1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34.xml" Type="http://schemas.openxmlformats.org/officeDocument/2006/relationships/notesSlide"/><Relationship Id="rId101" Target="notesSlides/notesSlide35.xml" Type="http://schemas.openxmlformats.org/officeDocument/2006/relationships/notesSlide"/><Relationship Id="rId102" Target="notesSlides/notesSlide36.xml" Type="http://schemas.openxmlformats.org/officeDocument/2006/relationships/notesSlide"/><Relationship Id="rId103" Target="notesSlides/notesSlide37.xml" Type="http://schemas.openxmlformats.org/officeDocument/2006/relationships/notesSlide"/><Relationship Id="rId104" Target="notesSlides/notesSlide38.xml" Type="http://schemas.openxmlformats.org/officeDocument/2006/relationships/notesSlide"/><Relationship Id="rId105" Target="notesSlides/notesSlide39.xml" Type="http://schemas.openxmlformats.org/officeDocument/2006/relationships/notesSlide"/><Relationship Id="rId106" Target="notesSlides/notesSlide40.xml" Type="http://schemas.openxmlformats.org/officeDocument/2006/relationships/notesSlide"/><Relationship Id="rId107" Target="notesSlides/notesSlide41.xml" Type="http://schemas.openxmlformats.org/officeDocument/2006/relationships/notesSlide"/><Relationship Id="rId108" Target="notesSlides/notesSlide42.xml" Type="http://schemas.openxmlformats.org/officeDocument/2006/relationships/notesSlide"/><Relationship Id="rId109" Target="notesSlides/notesSlide43.xml" Type="http://schemas.openxmlformats.org/officeDocument/2006/relationships/notesSlide"/><Relationship Id="rId11" Target="slides/slide6.xml" Type="http://schemas.openxmlformats.org/officeDocument/2006/relationships/slide"/><Relationship Id="rId110" Target="notesSlides/notesSlide44.xml" Type="http://schemas.openxmlformats.org/officeDocument/2006/relationships/notesSlide"/><Relationship Id="rId111" Target="notesSlides/notesSlide45.xml" Type="http://schemas.openxmlformats.org/officeDocument/2006/relationships/notesSlide"/><Relationship Id="rId112" Target="notesSlides/notesSlide46.xml" Type="http://schemas.openxmlformats.org/officeDocument/2006/relationships/notesSlide"/><Relationship Id="rId113" Target="notesSlides/notesSlide47.xml" Type="http://schemas.openxmlformats.org/officeDocument/2006/relationships/notesSlide"/><Relationship Id="rId114" Target="fonts/font114.fntdata" Type="http://schemas.openxmlformats.org/officeDocument/2006/relationships/font"/><Relationship Id="rId115" Target="notesSlides/notesSlide48.xml" Type="http://schemas.openxmlformats.org/officeDocument/2006/relationships/notesSlide"/><Relationship Id="rId116" Target="notesSlides/notesSlide49.xml" Type="http://schemas.openxmlformats.org/officeDocument/2006/relationships/notesSlide"/><Relationship Id="rId117" Target="notesSlides/notesSlide50.xml" Type="http://schemas.openxmlformats.org/officeDocument/2006/relationships/notesSlide"/><Relationship Id="rId118" Target="notesSlides/notesSlide51.xml" Type="http://schemas.openxmlformats.org/officeDocument/2006/relationships/note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notesMasters/notesMaster1.xml" Type="http://schemas.openxmlformats.org/officeDocument/2006/relationships/notesMaster"/><Relationship Id="rId58" Target="theme/theme2.xml" Type="http://schemas.openxmlformats.org/officeDocument/2006/relationships/theme"/><Relationship Id="rId59" Target="notesSlides/notesSlide1.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notesSlides/notesSlide2.xml" Type="http://schemas.openxmlformats.org/officeDocument/2006/relationships/notesSlide"/><Relationship Id="rId64" Target="fonts/font64.fntdata" Type="http://schemas.openxmlformats.org/officeDocument/2006/relationships/font"/><Relationship Id="rId65" Target="fonts/font65.fntdata" Type="http://schemas.openxmlformats.org/officeDocument/2006/relationships/font"/><Relationship Id="rId66" Target="notesSlides/notesSlide3.xml" Type="http://schemas.openxmlformats.org/officeDocument/2006/relationships/notesSlide"/><Relationship Id="rId67" Target="fonts/font67.fntdata" Type="http://schemas.openxmlformats.org/officeDocument/2006/relationships/font"/><Relationship Id="rId68" Target="notesSlides/notesSlide4.xml" Type="http://schemas.openxmlformats.org/officeDocument/2006/relationships/notesSlide"/><Relationship Id="rId69" Target="fonts/font69.fntdata" Type="http://schemas.openxmlformats.org/officeDocument/2006/relationships/font"/><Relationship Id="rId7" Target="slides/slide2.xml" Type="http://schemas.openxmlformats.org/officeDocument/2006/relationships/slide"/><Relationship Id="rId70" Target="notesSlides/notesSlide5.xml" Type="http://schemas.openxmlformats.org/officeDocument/2006/relationships/notesSlide"/><Relationship Id="rId71" Target="notesSlides/notesSlide6.xml" Type="http://schemas.openxmlformats.org/officeDocument/2006/relationships/notesSlide"/><Relationship Id="rId72" Target="notesSlides/notesSlide7.xml" Type="http://schemas.openxmlformats.org/officeDocument/2006/relationships/notesSlide"/><Relationship Id="rId73" Target="notesSlides/notesSlide8.xml" Type="http://schemas.openxmlformats.org/officeDocument/2006/relationships/notesSlide"/><Relationship Id="rId74" Target="notesSlides/notesSlide9.xml" Type="http://schemas.openxmlformats.org/officeDocument/2006/relationships/notesSlide"/><Relationship Id="rId75" Target="fonts/font75.fntdata" Type="http://schemas.openxmlformats.org/officeDocument/2006/relationships/font"/><Relationship Id="rId76" Target="notesSlides/notesSlide10.xml" Type="http://schemas.openxmlformats.org/officeDocument/2006/relationships/notesSlide"/><Relationship Id="rId77" Target="notesSlides/notesSlide11.xml" Type="http://schemas.openxmlformats.org/officeDocument/2006/relationships/notesSlide"/><Relationship Id="rId78" Target="notesSlides/notesSlide12.xml" Type="http://schemas.openxmlformats.org/officeDocument/2006/relationships/notesSlide"/><Relationship Id="rId79" Target="notesSlides/notesSlide13.xml" Type="http://schemas.openxmlformats.org/officeDocument/2006/relationships/notesSlide"/><Relationship Id="rId8" Target="slides/slide3.xml" Type="http://schemas.openxmlformats.org/officeDocument/2006/relationships/slide"/><Relationship Id="rId80" Target="notesSlides/notesSlide14.xml" Type="http://schemas.openxmlformats.org/officeDocument/2006/relationships/notesSlide"/><Relationship Id="rId81" Target="notesSlides/notesSlide15.xml" Type="http://schemas.openxmlformats.org/officeDocument/2006/relationships/notesSlide"/><Relationship Id="rId82" Target="notesSlides/notesSlide16.xml" Type="http://schemas.openxmlformats.org/officeDocument/2006/relationships/notesSlide"/><Relationship Id="rId83" Target="notesSlides/notesSlide17.xml" Type="http://schemas.openxmlformats.org/officeDocument/2006/relationships/notesSlide"/><Relationship Id="rId84" Target="notesSlides/notesSlide18.xml" Type="http://schemas.openxmlformats.org/officeDocument/2006/relationships/notesSlide"/><Relationship Id="rId85" Target="notesSlides/notesSlide19.xml" Type="http://schemas.openxmlformats.org/officeDocument/2006/relationships/notesSlide"/><Relationship Id="rId86" Target="notesSlides/notesSlide20.xml" Type="http://schemas.openxmlformats.org/officeDocument/2006/relationships/notesSlide"/><Relationship Id="rId87" Target="notesSlides/notesSlide21.xml" Type="http://schemas.openxmlformats.org/officeDocument/2006/relationships/notesSlide"/><Relationship Id="rId88" Target="notesSlides/notesSlide22.xml" Type="http://schemas.openxmlformats.org/officeDocument/2006/relationships/notesSlide"/><Relationship Id="rId89" Target="notesSlides/notesSlide23.xml" Type="http://schemas.openxmlformats.org/officeDocument/2006/relationships/notesSlide"/><Relationship Id="rId9" Target="slides/slide4.xml" Type="http://schemas.openxmlformats.org/officeDocument/2006/relationships/slide"/><Relationship Id="rId90" Target="notesSlides/notesSlide24.xml" Type="http://schemas.openxmlformats.org/officeDocument/2006/relationships/notesSlide"/><Relationship Id="rId91" Target="notesSlides/notesSlide25.xml" Type="http://schemas.openxmlformats.org/officeDocument/2006/relationships/notesSlide"/><Relationship Id="rId92" Target="notesSlides/notesSlide26.xml" Type="http://schemas.openxmlformats.org/officeDocument/2006/relationships/notesSlide"/><Relationship Id="rId93" Target="notesSlides/notesSlide27.xml" Type="http://schemas.openxmlformats.org/officeDocument/2006/relationships/notesSlide"/><Relationship Id="rId94" Target="notesSlides/notesSlide28.xml" Type="http://schemas.openxmlformats.org/officeDocument/2006/relationships/notesSlide"/><Relationship Id="rId95" Target="notesSlides/notesSlide29.xml" Type="http://schemas.openxmlformats.org/officeDocument/2006/relationships/notesSlide"/><Relationship Id="rId96" Target="notesSlides/notesSlide30.xml" Type="http://schemas.openxmlformats.org/officeDocument/2006/relationships/notesSlide"/><Relationship Id="rId97" Target="notesSlides/notesSlide31.xml" Type="http://schemas.openxmlformats.org/officeDocument/2006/relationships/notesSlide"/><Relationship Id="rId98" Target="notesSlides/notesSlide32.xml" Type="http://schemas.openxmlformats.org/officeDocument/2006/relationships/notesSlide"/><Relationship Id="rId99" Target="notesSlides/notesSlide33.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1.png" Type="http://schemas.openxmlformats.org/officeDocument/2006/relationships/image"/><Relationship Id="rId4"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1.png" Type="http://schemas.openxmlformats.org/officeDocument/2006/relationships/image"/><Relationship Id="rId4"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1.png" Type="http://schemas.openxmlformats.org/officeDocument/2006/relationships/image"/><Relationship Id="rId4"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1.png" Type="http://schemas.openxmlformats.org/officeDocument/2006/relationships/image"/><Relationship Id="rId4"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1.png" Type="http://schemas.openxmlformats.org/officeDocument/2006/relationships/image"/><Relationship Id="rId4"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1.png" Type="http://schemas.openxmlformats.org/officeDocument/2006/relationships/image"/><Relationship Id="rId4"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1.png" Type="http://schemas.openxmlformats.org/officeDocument/2006/relationships/image"/><Relationship Id="rId4"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1.png" Type="http://schemas.openxmlformats.org/officeDocument/2006/relationships/image"/><Relationship Id="rId4"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1.png" Type="http://schemas.openxmlformats.org/officeDocument/2006/relationships/image"/><Relationship Id="rId4"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1.png" Type="http://schemas.openxmlformats.org/officeDocument/2006/relationships/image"/><Relationship Id="rId4"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1.png" Type="http://schemas.openxmlformats.org/officeDocument/2006/relationships/image"/><Relationship Id="rId4"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1.png" Type="http://schemas.openxmlformats.org/officeDocument/2006/relationships/image"/><Relationship Id="rId4" Target="../media/image2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1.png" Type="http://schemas.openxmlformats.org/officeDocument/2006/relationships/image"/><Relationship Id="rId4" Target="../media/image2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1.pn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2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2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1.png" Type="http://schemas.openxmlformats.org/officeDocument/2006/relationships/image"/><Relationship Id="rId4" Target="../media/image3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1.png" Type="http://schemas.openxmlformats.org/officeDocument/2006/relationships/image"/><Relationship Id="rId4" Target="../media/image3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1.png" Type="http://schemas.openxmlformats.org/officeDocument/2006/relationships/image"/><Relationship Id="rId4" Target="../media/image3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5.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2.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2.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2.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2.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11.pn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14.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11.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1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11.png" Type="http://schemas.openxmlformats.org/officeDocument/2006/relationships/image"/><Relationship Id="rId4" Target="../media/image3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1.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11.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11.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1.xml" Type="http://schemas.openxmlformats.org/officeDocument/2006/relationships/notesSlide"/><Relationship Id="rId3" Target="../media/image2.png" Type="http://schemas.openxmlformats.org/officeDocument/2006/relationships/image"/><Relationship Id="rId4" Target="../media/image3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406596" cy="10420350"/>
            <a:chOff x="0" y="0"/>
            <a:chExt cx="24338928" cy="13778764"/>
          </a:xfrm>
        </p:grpSpPr>
        <p:sp>
          <p:nvSpPr>
            <p:cNvPr name="Freeform 3" id="3"/>
            <p:cNvSpPr/>
            <p:nvPr/>
          </p:nvSpPr>
          <p:spPr>
            <a:xfrm flipH="false" flipV="false" rot="0">
              <a:off x="0" y="0"/>
              <a:ext cx="24338914" cy="13778765"/>
            </a:xfrm>
            <a:custGeom>
              <a:avLst/>
              <a:gdLst/>
              <a:ahLst/>
              <a:cxnLst/>
              <a:rect r="r" b="b" t="t" l="l"/>
              <a:pathLst>
                <a:path h="13778765" w="24338914">
                  <a:moveTo>
                    <a:pt x="0" y="0"/>
                  </a:moveTo>
                  <a:lnTo>
                    <a:pt x="24338914" y="0"/>
                  </a:lnTo>
                  <a:lnTo>
                    <a:pt x="24338914" y="13778765"/>
                  </a:lnTo>
                  <a:lnTo>
                    <a:pt x="0" y="13778765"/>
                  </a:lnTo>
                  <a:lnTo>
                    <a:pt x="0" y="0"/>
                  </a:lnTo>
                  <a:close/>
                </a:path>
              </a:pathLst>
            </a:custGeom>
            <a:blipFill>
              <a:blip r:embed="rId3"/>
              <a:stretch>
                <a:fillRect l="-228" t="0" r="-228" b="0"/>
              </a:stretch>
            </a:blipFill>
          </p:spPr>
        </p:sp>
      </p:grpSp>
      <p:graphicFrame>
        <p:nvGraphicFramePr>
          <p:cNvPr name="Table 4" id="4"/>
          <p:cNvGraphicFramePr>
            <a:graphicFrameLocks noGrp="true"/>
          </p:cNvGraphicFramePr>
          <p:nvPr/>
        </p:nvGraphicFramePr>
        <p:xfrm>
          <a:off x="10808801" y="2092451"/>
          <a:ext cx="7350125" cy="1402100"/>
        </p:xfrm>
        <a:graphic>
          <a:graphicData uri="http://schemas.openxmlformats.org/drawingml/2006/table">
            <a:tbl>
              <a:tblPr/>
              <a:tblGrid>
                <a:gridCol w="3028681"/>
                <a:gridCol w="4321444"/>
              </a:tblGrid>
              <a:tr h="701050">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Día, Fecha:</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c>
                  <a:txBody>
                    <a:bodyPr anchor="t" rtlCol="false"/>
                    <a:lstStyle/>
                    <a:p>
                      <a:pPr algn="l">
                        <a:lnSpc>
                          <a:spcPts val="4139"/>
                        </a:lnSpc>
                        <a:defRPr/>
                      </a:pP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r>
              <a:tr h="701050">
                <a:tc>
                  <a:txBody>
                    <a:bodyPr anchor="t" rtlCol="false"/>
                    <a:lstStyle/>
                    <a:p>
                      <a:pPr algn="l">
                        <a:lnSpc>
                          <a:spcPts val="4139"/>
                        </a:lnSpc>
                        <a:defRPr/>
                      </a:pPr>
                      <a:r>
                        <a:rPr lang="en-US" b="true" sz="2874">
                          <a:solidFill>
                            <a:srgbClr val="000000"/>
                          </a:solidFill>
                          <a:latin typeface="Arial MT Pro Bold"/>
                          <a:ea typeface="Arial MT Pro Bold"/>
                          <a:cs typeface="Arial MT Pro Bold"/>
                          <a:sym typeface="Arial MT Pro Bold"/>
                        </a:rPr>
                        <a:t>Hora de inicio:</a:t>
                      </a: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c>
                  <a:txBody>
                    <a:bodyPr anchor="t" rtlCol="false"/>
                    <a:lstStyle/>
                    <a:p>
                      <a:pPr algn="l">
                        <a:lnSpc>
                          <a:spcPts val="4139"/>
                        </a:lnSpc>
                        <a:defRPr/>
                      </a:pPr>
                      <a:endParaRPr lang="en-US" sz="1100"/>
                    </a:p>
                  </a:txBody>
                  <a:tcPr marL="73150" marR="73150" marT="73150" marB="73150" anchor="ctr">
                    <a:lnL cmpd="sng" algn="ctr" cap="flat" w="11450">
                      <a:solidFill>
                        <a:srgbClr val="000000"/>
                      </a:solidFill>
                      <a:prstDash val="solid"/>
                      <a:round/>
                      <a:headEnd type="none" w="med" len="med"/>
                      <a:tailEnd type="none" w="med" len="med"/>
                    </a:lnL>
                    <a:lnR cmpd="sng" algn="ctr" cap="flat" w="11450">
                      <a:solidFill>
                        <a:srgbClr val="000000"/>
                      </a:solidFill>
                      <a:prstDash val="solid"/>
                      <a:round/>
                      <a:headEnd type="none" w="med" len="med"/>
                      <a:tailEnd type="none" w="med" len="med"/>
                    </a:lnR>
                    <a:lnT cmpd="sng" algn="ctr" cap="flat" w="11450">
                      <a:solidFill>
                        <a:srgbClr val="000000"/>
                      </a:solidFill>
                      <a:prstDash val="solid"/>
                      <a:round/>
                      <a:headEnd type="none" w="med" len="med"/>
                      <a:tailEnd type="none" w="med" len="med"/>
                    </a:lnT>
                    <a:lnB cmpd="sng" algn="ctr" cap="flat" w="1145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216327" y="5473036"/>
            <a:ext cx="13932173" cy="981045"/>
          </a:xfrm>
          <a:prstGeom prst="rect">
            <a:avLst/>
          </a:prstGeom>
        </p:spPr>
        <p:txBody>
          <a:bodyPr anchor="t" rtlCol="false" tIns="0" lIns="0" bIns="0" rIns="0">
            <a:spAutoFit/>
          </a:bodyPr>
          <a:lstStyle/>
          <a:p>
            <a:pPr algn="l">
              <a:lnSpc>
                <a:spcPts val="7200"/>
              </a:lnSpc>
            </a:pPr>
            <a:r>
              <a:rPr lang="en-US" sz="4999">
                <a:solidFill>
                  <a:srgbClr val="000000"/>
                </a:solidFill>
                <a:latin typeface="Arial MT Pro"/>
                <a:ea typeface="Arial MT Pro"/>
                <a:cs typeface="Arial MT Pro"/>
                <a:sym typeface="Arial MT Pro"/>
              </a:rPr>
              <a:t>Manejo e Implementación de Archivos Seccion A</a:t>
            </a:r>
          </a:p>
        </p:txBody>
      </p:sp>
      <p:sp>
        <p:nvSpPr>
          <p:cNvPr name="TextBox 6" id="6"/>
          <p:cNvSpPr txBox="true"/>
          <p:nvPr/>
        </p:nvSpPr>
        <p:spPr>
          <a:xfrm rot="0">
            <a:off x="10808801" y="7112470"/>
            <a:ext cx="6846750" cy="773430"/>
          </a:xfrm>
          <a:prstGeom prst="rect">
            <a:avLst/>
          </a:prstGeom>
        </p:spPr>
        <p:txBody>
          <a:bodyPr anchor="t" rtlCol="false" tIns="0" lIns="0" bIns="0" rIns="0">
            <a:spAutoFit/>
          </a:bodyPr>
          <a:lstStyle/>
          <a:p>
            <a:pPr algn="l">
              <a:lnSpc>
                <a:spcPts val="5759"/>
              </a:lnSpc>
            </a:pPr>
            <a:r>
              <a:rPr lang="en-US" sz="4000">
                <a:solidFill>
                  <a:srgbClr val="000000"/>
                </a:solidFill>
                <a:latin typeface="Arial MT Pro"/>
                <a:ea typeface="Arial MT Pro"/>
                <a:cs typeface="Arial MT Pro"/>
                <a:sym typeface="Arial MT Pro"/>
              </a:rPr>
              <a:t>Tutor: </a:t>
            </a:r>
          </a:p>
        </p:txBody>
      </p:sp>
      <p:sp>
        <p:nvSpPr>
          <p:cNvPr name="TextBox 7" id="7"/>
          <p:cNvSpPr txBox="true"/>
          <p:nvPr/>
        </p:nvSpPr>
        <p:spPr>
          <a:xfrm rot="0">
            <a:off x="5105952" y="3925542"/>
            <a:ext cx="8152924"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BIENVENIDOS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9953"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44672" y="0"/>
            <a:ext cx="10243328" cy="1067010"/>
            <a:chOff x="0" y="0"/>
            <a:chExt cx="13657770" cy="1422679"/>
          </a:xfrm>
        </p:grpSpPr>
        <p:sp>
          <p:nvSpPr>
            <p:cNvPr name="Freeform 5" id="5"/>
            <p:cNvSpPr/>
            <p:nvPr/>
          </p:nvSpPr>
          <p:spPr>
            <a:xfrm flipH="false" flipV="false" rot="0">
              <a:off x="0" y="0"/>
              <a:ext cx="13657707" cy="1422654"/>
            </a:xfrm>
            <a:custGeom>
              <a:avLst/>
              <a:gdLst/>
              <a:ahLst/>
              <a:cxnLst/>
              <a:rect r="r" b="b" t="t" l="l"/>
              <a:pathLst>
                <a:path h="1422654" w="13657707">
                  <a:moveTo>
                    <a:pt x="0" y="0"/>
                  </a:moveTo>
                  <a:lnTo>
                    <a:pt x="13657707" y="0"/>
                  </a:lnTo>
                  <a:lnTo>
                    <a:pt x="13657707" y="1422654"/>
                  </a:lnTo>
                  <a:lnTo>
                    <a:pt x="0" y="1422654"/>
                  </a:lnTo>
                  <a:lnTo>
                    <a:pt x="0" y="0"/>
                  </a:lnTo>
                  <a:close/>
                </a:path>
              </a:pathLst>
            </a:custGeom>
            <a:blipFill>
              <a:blip r:embed="rId4"/>
              <a:stretch>
                <a:fillRect l="0" t="-274" r="0" b="-276"/>
              </a:stretch>
            </a:blipFill>
          </p:spPr>
        </p:sp>
      </p:grpSp>
      <p:sp>
        <p:nvSpPr>
          <p:cNvPr name="TextBox 6" id="6"/>
          <p:cNvSpPr txBox="true"/>
          <p:nvPr/>
        </p:nvSpPr>
        <p:spPr>
          <a:xfrm rot="0">
            <a:off x="472326" y="7751226"/>
            <a:ext cx="6939001" cy="474078"/>
          </a:xfrm>
          <a:prstGeom prst="rect">
            <a:avLst/>
          </a:prstGeom>
        </p:spPr>
        <p:txBody>
          <a:bodyPr anchor="t" rtlCol="false" tIns="0" lIns="0" bIns="0" rIns="0">
            <a:spAutoFit/>
          </a:bodyPr>
          <a:lstStyle/>
          <a:p>
            <a:pPr algn="ctr">
              <a:lnSpc>
                <a:spcPts val="4032"/>
              </a:lnSpc>
            </a:pPr>
            <a:r>
              <a:rPr lang="en-US" b="true" sz="2400">
                <a:solidFill>
                  <a:srgbClr val="FFFFFF"/>
                </a:solidFill>
                <a:latin typeface="Open Sans Bold"/>
                <a:ea typeface="Open Sans Bold"/>
                <a:cs typeface="Open Sans Bold"/>
                <a:sym typeface="Open Sans Bold"/>
              </a:rPr>
              <a:t>773 - Manejo e Implementación de Archivos</a:t>
            </a:r>
          </a:p>
        </p:txBody>
      </p:sp>
      <p:sp>
        <p:nvSpPr>
          <p:cNvPr name="TextBox 7" id="7"/>
          <p:cNvSpPr txBox="true"/>
          <p:nvPr/>
        </p:nvSpPr>
        <p:spPr>
          <a:xfrm rot="0">
            <a:off x="563747" y="8324812"/>
            <a:ext cx="5915549" cy="354101"/>
          </a:xfrm>
          <a:prstGeom prst="rect">
            <a:avLst/>
          </a:prstGeom>
        </p:spPr>
        <p:txBody>
          <a:bodyPr anchor="t" rtlCol="false" tIns="0" lIns="0" bIns="0" rIns="0">
            <a:spAutoFit/>
          </a:bodyPr>
          <a:lstStyle/>
          <a:p>
            <a:pPr algn="l">
              <a:lnSpc>
                <a:spcPts val="3024"/>
              </a:lnSpc>
            </a:pPr>
            <a:r>
              <a:rPr lang="en-US" b="true" sz="1800">
                <a:solidFill>
                  <a:srgbClr val="FFFFFF"/>
                </a:solidFill>
                <a:latin typeface="Open Sans Bold"/>
                <a:ea typeface="Open Sans Bold"/>
                <a:cs typeface="Open Sans Bold"/>
                <a:sym typeface="Open Sans Bold"/>
              </a:rPr>
              <a:t>Escuela de Ingenieria de Ciencias Y Sistemas</a:t>
            </a:r>
          </a:p>
        </p:txBody>
      </p:sp>
      <p:sp>
        <p:nvSpPr>
          <p:cNvPr name="TextBox 8" id="8"/>
          <p:cNvSpPr txBox="true"/>
          <p:nvPr/>
        </p:nvSpPr>
        <p:spPr>
          <a:xfrm rot="0">
            <a:off x="563747" y="8767620"/>
            <a:ext cx="5971651" cy="354101"/>
          </a:xfrm>
          <a:prstGeom prst="rect">
            <a:avLst/>
          </a:prstGeom>
        </p:spPr>
        <p:txBody>
          <a:bodyPr anchor="t" rtlCol="false" tIns="0" lIns="0" bIns="0" rIns="0">
            <a:spAutoFit/>
          </a:bodyPr>
          <a:lstStyle/>
          <a:p>
            <a:pPr algn="l">
              <a:lnSpc>
                <a:spcPts val="3024"/>
              </a:lnSpc>
            </a:pPr>
            <a:r>
              <a:rPr lang="en-US" b="true" sz="1800">
                <a:solidFill>
                  <a:srgbClr val="FFFFFF"/>
                </a:solidFill>
                <a:latin typeface="Open Sans Bold"/>
                <a:ea typeface="Open Sans Bold"/>
                <a:cs typeface="Open Sans Bold"/>
                <a:sym typeface="Open Sans Bold"/>
              </a:rPr>
              <a:t>Facultad de Ingenieria</a:t>
            </a:r>
          </a:p>
        </p:txBody>
      </p:sp>
      <p:sp>
        <p:nvSpPr>
          <p:cNvPr name="TextBox 9" id="9"/>
          <p:cNvSpPr txBox="true"/>
          <p:nvPr/>
        </p:nvSpPr>
        <p:spPr>
          <a:xfrm rot="0">
            <a:off x="563747" y="9210437"/>
            <a:ext cx="5915549" cy="354101"/>
          </a:xfrm>
          <a:prstGeom prst="rect">
            <a:avLst/>
          </a:prstGeom>
        </p:spPr>
        <p:txBody>
          <a:bodyPr anchor="t" rtlCol="false" tIns="0" lIns="0" bIns="0" rIns="0">
            <a:spAutoFit/>
          </a:bodyPr>
          <a:lstStyle/>
          <a:p>
            <a:pPr algn="l">
              <a:lnSpc>
                <a:spcPts val="3024"/>
              </a:lnSpc>
            </a:pPr>
            <a:r>
              <a:rPr lang="en-US" b="true" sz="1800">
                <a:solidFill>
                  <a:srgbClr val="FFFFFF"/>
                </a:solidFill>
                <a:latin typeface="Open Sans Bold"/>
                <a:ea typeface="Open Sans Bold"/>
                <a:cs typeface="Open Sans Bold"/>
                <a:sym typeface="Open Sans Bold"/>
              </a:rPr>
              <a:t>Universidad de San Carlos de Guatemala</a:t>
            </a:r>
          </a:p>
        </p:txBody>
      </p:sp>
      <p:sp>
        <p:nvSpPr>
          <p:cNvPr name="TextBox 10" id="10"/>
          <p:cNvSpPr txBox="true"/>
          <p:nvPr/>
        </p:nvSpPr>
        <p:spPr>
          <a:xfrm rot="0">
            <a:off x="1028700" y="3838575"/>
            <a:ext cx="16407085" cy="3895725"/>
          </a:xfrm>
          <a:prstGeom prst="rect">
            <a:avLst/>
          </a:prstGeom>
        </p:spPr>
        <p:txBody>
          <a:bodyPr anchor="t" rtlCol="false" tIns="0" lIns="0" bIns="0" rIns="0">
            <a:spAutoFit/>
          </a:bodyPr>
          <a:lstStyle/>
          <a:p>
            <a:pPr algn="ctr">
              <a:lnSpc>
                <a:spcPts val="7679"/>
              </a:lnSpc>
            </a:pPr>
            <a:r>
              <a:rPr lang="en-US" sz="6399" b="true">
                <a:solidFill>
                  <a:srgbClr val="FFFFFF"/>
                </a:solidFill>
                <a:latin typeface="Libre Franklin Bold"/>
                <a:ea typeface="Libre Franklin Bold"/>
                <a:cs typeface="Libre Franklin Bold"/>
                <a:sym typeface="Libre Franklin Bold"/>
              </a:rPr>
              <a:t>Unidad No. 3 – Introducción a la Disponibilidad de Información, a la Seguridad y Virtualización</a:t>
            </a:r>
          </a:p>
          <a:p>
            <a:pPr algn="ctr">
              <a:lnSpc>
                <a:spcPts val="77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692" y="-90502"/>
            <a:ext cx="18596770" cy="10473763"/>
            <a:chOff x="0" y="0"/>
            <a:chExt cx="24795693" cy="13965017"/>
          </a:xfrm>
        </p:grpSpPr>
        <p:sp>
          <p:nvSpPr>
            <p:cNvPr name="Freeform 3" id="3"/>
            <p:cNvSpPr/>
            <p:nvPr/>
          </p:nvSpPr>
          <p:spPr>
            <a:xfrm flipH="false" flipV="false" rot="0">
              <a:off x="0" y="0"/>
              <a:ext cx="24795735" cy="13965047"/>
            </a:xfrm>
            <a:custGeom>
              <a:avLst/>
              <a:gdLst/>
              <a:ahLst/>
              <a:cxnLst/>
              <a:rect r="r" b="b" t="t" l="l"/>
              <a:pathLst>
                <a:path h="13965047" w="24795735">
                  <a:moveTo>
                    <a:pt x="0" y="0"/>
                  </a:moveTo>
                  <a:lnTo>
                    <a:pt x="24795735" y="0"/>
                  </a:lnTo>
                  <a:lnTo>
                    <a:pt x="24795735" y="13965047"/>
                  </a:lnTo>
                  <a:lnTo>
                    <a:pt x="0" y="13965047"/>
                  </a:lnTo>
                  <a:close/>
                </a:path>
              </a:pathLst>
            </a:custGeom>
            <a:solidFill>
              <a:srgbClr val="D9D9D9">
                <a:alpha val="21569"/>
              </a:srgbClr>
            </a:solidFill>
          </p:spPr>
        </p:sp>
      </p:grpSp>
      <p:grpSp>
        <p:nvGrpSpPr>
          <p:cNvPr name="Group 4" id="4"/>
          <p:cNvGrpSpPr/>
          <p:nvPr/>
        </p:nvGrpSpPr>
        <p:grpSpPr>
          <a:xfrm rot="9452055">
            <a:off x="-1158268" y="-1828638"/>
            <a:ext cx="5348395" cy="4045332"/>
            <a:chOff x="0" y="0"/>
            <a:chExt cx="7131193" cy="5393776"/>
          </a:xfrm>
        </p:grpSpPr>
        <p:sp>
          <p:nvSpPr>
            <p:cNvPr name="Freeform 5" id="5"/>
            <p:cNvSpPr/>
            <p:nvPr/>
          </p:nvSpPr>
          <p:spPr>
            <a:xfrm flipH="false" flipV="false" rot="0">
              <a:off x="0" y="0"/>
              <a:ext cx="7131177" cy="5393817"/>
            </a:xfrm>
            <a:custGeom>
              <a:avLst/>
              <a:gdLst/>
              <a:ahLst/>
              <a:cxnLst/>
              <a:rect r="r" b="b" t="t" l="l"/>
              <a:pathLst>
                <a:path h="5393817" w="7131177">
                  <a:moveTo>
                    <a:pt x="0" y="0"/>
                  </a:moveTo>
                  <a:lnTo>
                    <a:pt x="7131177" y="0"/>
                  </a:lnTo>
                  <a:lnTo>
                    <a:pt x="7131177" y="5393817"/>
                  </a:lnTo>
                  <a:lnTo>
                    <a:pt x="0" y="5393817"/>
                  </a:lnTo>
                  <a:lnTo>
                    <a:pt x="0" y="0"/>
                  </a:lnTo>
                  <a:close/>
                </a:path>
              </a:pathLst>
            </a:custGeom>
            <a:blipFill>
              <a:blip r:embed="rId3"/>
              <a:stretch>
                <a:fillRect l="0" t="-108" r="0" b="-107"/>
              </a:stretch>
            </a:blipFill>
          </p:spPr>
        </p:sp>
      </p:grpSp>
      <p:grpSp>
        <p:nvGrpSpPr>
          <p:cNvPr name="Group 6" id="6"/>
          <p:cNvGrpSpPr/>
          <p:nvPr/>
        </p:nvGrpSpPr>
        <p:grpSpPr>
          <a:xfrm rot="0">
            <a:off x="-1421876" y="-3678699"/>
            <a:ext cx="5285099" cy="5256271"/>
            <a:chOff x="0" y="0"/>
            <a:chExt cx="7046799" cy="7008361"/>
          </a:xfrm>
        </p:grpSpPr>
        <p:sp>
          <p:nvSpPr>
            <p:cNvPr name="Freeform 7" id="7"/>
            <p:cNvSpPr/>
            <p:nvPr/>
          </p:nvSpPr>
          <p:spPr>
            <a:xfrm flipH="false" flipV="false" rot="0">
              <a:off x="0" y="0"/>
              <a:ext cx="7046849" cy="7008368"/>
            </a:xfrm>
            <a:custGeom>
              <a:avLst/>
              <a:gdLst/>
              <a:ahLst/>
              <a:cxnLst/>
              <a:rect r="r" b="b" t="t" l="l"/>
              <a:pathLst>
                <a:path h="7008368" w="7046849">
                  <a:moveTo>
                    <a:pt x="0" y="0"/>
                  </a:moveTo>
                  <a:lnTo>
                    <a:pt x="7046849" y="0"/>
                  </a:lnTo>
                  <a:lnTo>
                    <a:pt x="7046849" y="7008368"/>
                  </a:lnTo>
                  <a:lnTo>
                    <a:pt x="0" y="7008368"/>
                  </a:lnTo>
                  <a:lnTo>
                    <a:pt x="0" y="0"/>
                  </a:lnTo>
                  <a:close/>
                </a:path>
              </a:pathLst>
            </a:custGeom>
            <a:blipFill>
              <a:blip r:embed="rId4"/>
              <a:stretch>
                <a:fillRect l="0" t="-80" r="0" b="-80"/>
              </a:stretch>
            </a:blipFill>
          </p:spPr>
        </p:sp>
      </p:grpSp>
      <p:grpSp>
        <p:nvGrpSpPr>
          <p:cNvPr name="Group 8" id="8"/>
          <p:cNvGrpSpPr/>
          <p:nvPr/>
        </p:nvGrpSpPr>
        <p:grpSpPr>
          <a:xfrm rot="-2310192">
            <a:off x="9697895" y="2163575"/>
            <a:ext cx="12649011" cy="9567252"/>
            <a:chOff x="0" y="0"/>
            <a:chExt cx="16865348" cy="12756336"/>
          </a:xfrm>
        </p:grpSpPr>
        <p:sp>
          <p:nvSpPr>
            <p:cNvPr name="Freeform 9" id="9"/>
            <p:cNvSpPr/>
            <p:nvPr/>
          </p:nvSpPr>
          <p:spPr>
            <a:xfrm flipH="false" flipV="false" rot="0">
              <a:off x="0" y="0"/>
              <a:ext cx="16865346" cy="12756388"/>
            </a:xfrm>
            <a:custGeom>
              <a:avLst/>
              <a:gdLst/>
              <a:ahLst/>
              <a:cxnLst/>
              <a:rect r="r" b="b" t="t" l="l"/>
              <a:pathLst>
                <a:path h="12756388" w="16865346">
                  <a:moveTo>
                    <a:pt x="0" y="0"/>
                  </a:moveTo>
                  <a:lnTo>
                    <a:pt x="16865346" y="0"/>
                  </a:lnTo>
                  <a:lnTo>
                    <a:pt x="16865346" y="12756388"/>
                  </a:lnTo>
                  <a:lnTo>
                    <a:pt x="0" y="12756388"/>
                  </a:lnTo>
                  <a:lnTo>
                    <a:pt x="0" y="0"/>
                  </a:lnTo>
                  <a:close/>
                </a:path>
              </a:pathLst>
            </a:custGeom>
            <a:blipFill>
              <a:blip r:embed="rId5">
                <a:alphaModFix amt="7000"/>
              </a:blip>
              <a:stretch>
                <a:fillRect l="0" t="-108" r="0" b="-107"/>
              </a:stretch>
            </a:blipFill>
          </p:spPr>
        </p:sp>
      </p:grpSp>
      <p:grpSp>
        <p:nvGrpSpPr>
          <p:cNvPr name="Group 10" id="10"/>
          <p:cNvGrpSpPr/>
          <p:nvPr/>
        </p:nvGrpSpPr>
        <p:grpSpPr>
          <a:xfrm rot="0">
            <a:off x="17981351" y="9071880"/>
            <a:ext cx="322147" cy="1215486"/>
            <a:chOff x="0" y="0"/>
            <a:chExt cx="429529" cy="1620648"/>
          </a:xfrm>
        </p:grpSpPr>
        <p:sp>
          <p:nvSpPr>
            <p:cNvPr name="Freeform 11" id="11"/>
            <p:cNvSpPr/>
            <p:nvPr/>
          </p:nvSpPr>
          <p:spPr>
            <a:xfrm flipH="false" flipV="false" rot="0">
              <a:off x="0" y="0"/>
              <a:ext cx="429514" cy="1620647"/>
            </a:xfrm>
            <a:custGeom>
              <a:avLst/>
              <a:gdLst/>
              <a:ahLst/>
              <a:cxnLst/>
              <a:rect r="r" b="b" t="t" l="l"/>
              <a:pathLst>
                <a:path h="1620647" w="429514">
                  <a:moveTo>
                    <a:pt x="0" y="0"/>
                  </a:moveTo>
                  <a:lnTo>
                    <a:pt x="429514" y="0"/>
                  </a:lnTo>
                  <a:lnTo>
                    <a:pt x="429514" y="1620647"/>
                  </a:lnTo>
                  <a:lnTo>
                    <a:pt x="0" y="1620647"/>
                  </a:lnTo>
                  <a:close/>
                </a:path>
              </a:pathLst>
            </a:custGeom>
            <a:solidFill>
              <a:srgbClr val="1B4A9B"/>
            </a:solidFill>
          </p:spPr>
        </p:sp>
      </p:grpSp>
      <p:grpSp>
        <p:nvGrpSpPr>
          <p:cNvPr name="Group 12" id="12"/>
          <p:cNvGrpSpPr/>
          <p:nvPr/>
        </p:nvGrpSpPr>
        <p:grpSpPr>
          <a:xfrm rot="0">
            <a:off x="17046764" y="3182967"/>
            <a:ext cx="4828984" cy="4820204"/>
            <a:chOff x="0" y="0"/>
            <a:chExt cx="6438645" cy="6426939"/>
          </a:xfrm>
        </p:grpSpPr>
        <p:sp>
          <p:nvSpPr>
            <p:cNvPr name="Freeform 13" id="13"/>
            <p:cNvSpPr/>
            <p:nvPr/>
          </p:nvSpPr>
          <p:spPr>
            <a:xfrm flipH="false" flipV="false" rot="0">
              <a:off x="0" y="0"/>
              <a:ext cx="6438646" cy="6426962"/>
            </a:xfrm>
            <a:custGeom>
              <a:avLst/>
              <a:gdLst/>
              <a:ahLst/>
              <a:cxnLst/>
              <a:rect r="r" b="b" t="t" l="l"/>
              <a:pathLst>
                <a:path h="6426962" w="6438646">
                  <a:moveTo>
                    <a:pt x="0" y="0"/>
                  </a:moveTo>
                  <a:lnTo>
                    <a:pt x="6438646" y="0"/>
                  </a:lnTo>
                  <a:lnTo>
                    <a:pt x="6438646" y="6426962"/>
                  </a:lnTo>
                  <a:lnTo>
                    <a:pt x="0" y="6426962"/>
                  </a:lnTo>
                  <a:lnTo>
                    <a:pt x="0" y="0"/>
                  </a:lnTo>
                  <a:close/>
                </a:path>
              </a:pathLst>
            </a:custGeom>
            <a:blipFill>
              <a:blip r:embed="rId6">
                <a:alphaModFix amt="47000"/>
              </a:blip>
              <a:stretch>
                <a:fillRect l="-20" t="0" r="-20" b="0"/>
              </a:stretch>
            </a:blipFill>
          </p:spPr>
        </p:sp>
      </p:grpSp>
      <p:grpSp>
        <p:nvGrpSpPr>
          <p:cNvPr name="Group 14" id="14"/>
          <p:cNvGrpSpPr/>
          <p:nvPr/>
        </p:nvGrpSpPr>
        <p:grpSpPr>
          <a:xfrm rot="0">
            <a:off x="15172272" y="6448224"/>
            <a:ext cx="2087028" cy="3109894"/>
            <a:chOff x="0" y="0"/>
            <a:chExt cx="2782704" cy="4146525"/>
          </a:xfrm>
        </p:grpSpPr>
        <p:sp>
          <p:nvSpPr>
            <p:cNvPr name="Freeform 15" id="15"/>
            <p:cNvSpPr/>
            <p:nvPr/>
          </p:nvSpPr>
          <p:spPr>
            <a:xfrm flipH="false" flipV="false" rot="0">
              <a:off x="0" y="0"/>
              <a:ext cx="2782697" cy="4146550"/>
            </a:xfrm>
            <a:custGeom>
              <a:avLst/>
              <a:gdLst/>
              <a:ahLst/>
              <a:cxnLst/>
              <a:rect r="r" b="b" t="t" l="l"/>
              <a:pathLst>
                <a:path h="4146550" w="2782697">
                  <a:moveTo>
                    <a:pt x="0" y="0"/>
                  </a:moveTo>
                  <a:lnTo>
                    <a:pt x="2782697" y="0"/>
                  </a:lnTo>
                  <a:lnTo>
                    <a:pt x="2782697" y="4146550"/>
                  </a:lnTo>
                  <a:lnTo>
                    <a:pt x="0" y="4146550"/>
                  </a:lnTo>
                  <a:lnTo>
                    <a:pt x="0" y="0"/>
                  </a:lnTo>
                  <a:close/>
                </a:path>
              </a:pathLst>
            </a:custGeom>
            <a:blipFill>
              <a:blip r:embed="rId7"/>
              <a:stretch>
                <a:fillRect l="-6" t="0" r="-6" b="0"/>
              </a:stretch>
            </a:blipFill>
          </p:spPr>
        </p:sp>
      </p:grpSp>
      <p:grpSp>
        <p:nvGrpSpPr>
          <p:cNvPr name="Group 16" id="16"/>
          <p:cNvGrpSpPr/>
          <p:nvPr/>
        </p:nvGrpSpPr>
        <p:grpSpPr>
          <a:xfrm rot="0">
            <a:off x="651754" y="4921161"/>
            <a:ext cx="4613562" cy="666409"/>
            <a:chOff x="0" y="0"/>
            <a:chExt cx="6151416" cy="888545"/>
          </a:xfrm>
        </p:grpSpPr>
        <p:sp>
          <p:nvSpPr>
            <p:cNvPr name="Freeform 17" id="17"/>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18" id="18"/>
          <p:cNvGrpSpPr/>
          <p:nvPr/>
        </p:nvGrpSpPr>
        <p:grpSpPr>
          <a:xfrm rot="0">
            <a:off x="1062572" y="4952159"/>
            <a:ext cx="453358" cy="550094"/>
            <a:chOff x="0" y="0"/>
            <a:chExt cx="604477" cy="733459"/>
          </a:xfrm>
        </p:grpSpPr>
        <p:sp>
          <p:nvSpPr>
            <p:cNvPr name="Freeform 19" id="19"/>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20" id="20"/>
          <p:cNvGrpSpPr/>
          <p:nvPr/>
        </p:nvGrpSpPr>
        <p:grpSpPr>
          <a:xfrm rot="0">
            <a:off x="1866989" y="3303305"/>
            <a:ext cx="4115217" cy="1267170"/>
            <a:chOff x="0" y="0"/>
            <a:chExt cx="5486956" cy="1689560"/>
          </a:xfrm>
        </p:grpSpPr>
        <p:sp>
          <p:nvSpPr>
            <p:cNvPr name="Freeform 21" id="21"/>
            <p:cNvSpPr/>
            <p:nvPr/>
          </p:nvSpPr>
          <p:spPr>
            <a:xfrm flipH="false" flipV="false" rot="0">
              <a:off x="0" y="0"/>
              <a:ext cx="5486908" cy="1689608"/>
            </a:xfrm>
            <a:custGeom>
              <a:avLst/>
              <a:gdLst/>
              <a:ahLst/>
              <a:cxnLst/>
              <a:rect r="r" b="b" t="t" l="l"/>
              <a:pathLst>
                <a:path h="1689608" w="5486908">
                  <a:moveTo>
                    <a:pt x="4458208" y="0"/>
                  </a:moveTo>
                  <a:lnTo>
                    <a:pt x="0" y="0"/>
                  </a:lnTo>
                  <a:lnTo>
                    <a:pt x="0" y="1689608"/>
                  </a:lnTo>
                  <a:lnTo>
                    <a:pt x="4458208" y="1689608"/>
                  </a:lnTo>
                  <a:lnTo>
                    <a:pt x="5486908" y="844804"/>
                  </a:lnTo>
                  <a:lnTo>
                    <a:pt x="4458208" y="0"/>
                  </a:lnTo>
                  <a:close/>
                </a:path>
              </a:pathLst>
            </a:custGeom>
            <a:solidFill>
              <a:srgbClr val="FFFFFF"/>
            </a:solidFill>
          </p:spPr>
        </p:sp>
      </p:grpSp>
      <p:grpSp>
        <p:nvGrpSpPr>
          <p:cNvPr name="Group 22" id="22"/>
          <p:cNvGrpSpPr/>
          <p:nvPr/>
        </p:nvGrpSpPr>
        <p:grpSpPr>
          <a:xfrm rot="0">
            <a:off x="651754" y="3429735"/>
            <a:ext cx="753892" cy="872928"/>
            <a:chOff x="0" y="0"/>
            <a:chExt cx="1005189" cy="1163904"/>
          </a:xfrm>
        </p:grpSpPr>
        <p:sp>
          <p:nvSpPr>
            <p:cNvPr name="Freeform 23" id="23"/>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9"/>
              <a:stretch>
                <a:fillRect l="0" t="-36" r="1" b="-31"/>
              </a:stretch>
            </a:blipFill>
          </p:spPr>
        </p:sp>
      </p:grpSp>
      <p:grpSp>
        <p:nvGrpSpPr>
          <p:cNvPr name="Group 24" id="24"/>
          <p:cNvGrpSpPr/>
          <p:nvPr/>
        </p:nvGrpSpPr>
        <p:grpSpPr>
          <a:xfrm rot="0">
            <a:off x="651754" y="5806825"/>
            <a:ext cx="5371844" cy="775939"/>
            <a:chOff x="0" y="0"/>
            <a:chExt cx="6151416" cy="888545"/>
          </a:xfrm>
        </p:grpSpPr>
        <p:sp>
          <p:nvSpPr>
            <p:cNvPr name="Freeform 25" id="25"/>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26" id="26"/>
          <p:cNvGrpSpPr/>
          <p:nvPr/>
        </p:nvGrpSpPr>
        <p:grpSpPr>
          <a:xfrm rot="0">
            <a:off x="651754" y="6826552"/>
            <a:ext cx="4613562" cy="666409"/>
            <a:chOff x="0" y="0"/>
            <a:chExt cx="6151416" cy="888545"/>
          </a:xfrm>
        </p:grpSpPr>
        <p:sp>
          <p:nvSpPr>
            <p:cNvPr name="Freeform 27" id="27"/>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28" id="28"/>
          <p:cNvGrpSpPr/>
          <p:nvPr/>
        </p:nvGrpSpPr>
        <p:grpSpPr>
          <a:xfrm rot="0">
            <a:off x="651754" y="7750134"/>
            <a:ext cx="5805587" cy="838591"/>
            <a:chOff x="0" y="0"/>
            <a:chExt cx="6151416" cy="888545"/>
          </a:xfrm>
        </p:grpSpPr>
        <p:sp>
          <p:nvSpPr>
            <p:cNvPr name="Freeform 29" id="29"/>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30" id="30"/>
          <p:cNvGrpSpPr/>
          <p:nvPr/>
        </p:nvGrpSpPr>
        <p:grpSpPr>
          <a:xfrm rot="0">
            <a:off x="651754" y="8714317"/>
            <a:ext cx="5614004" cy="775939"/>
            <a:chOff x="0" y="0"/>
            <a:chExt cx="6428718" cy="888545"/>
          </a:xfrm>
        </p:grpSpPr>
        <p:sp>
          <p:nvSpPr>
            <p:cNvPr name="Freeform 31" id="31"/>
            <p:cNvSpPr/>
            <p:nvPr/>
          </p:nvSpPr>
          <p:spPr>
            <a:xfrm flipH="false" flipV="false" rot="0">
              <a:off x="0" y="0"/>
              <a:ext cx="6428801" cy="888492"/>
            </a:xfrm>
            <a:custGeom>
              <a:avLst/>
              <a:gdLst/>
              <a:ahLst/>
              <a:cxnLst/>
              <a:rect r="r" b="b" t="t" l="l"/>
              <a:pathLst>
                <a:path h="888492" w="6428801">
                  <a:moveTo>
                    <a:pt x="5763720" y="0"/>
                  </a:moveTo>
                  <a:lnTo>
                    <a:pt x="0" y="0"/>
                  </a:lnTo>
                  <a:lnTo>
                    <a:pt x="0" y="888492"/>
                  </a:lnTo>
                  <a:lnTo>
                    <a:pt x="5763720" y="888492"/>
                  </a:lnTo>
                  <a:lnTo>
                    <a:pt x="6428801" y="444246"/>
                  </a:lnTo>
                  <a:lnTo>
                    <a:pt x="5763720" y="0"/>
                  </a:lnTo>
                  <a:close/>
                </a:path>
              </a:pathLst>
            </a:custGeom>
            <a:solidFill>
              <a:srgbClr val="FFFFFF"/>
            </a:solidFill>
          </p:spPr>
        </p:sp>
      </p:grpSp>
      <p:grpSp>
        <p:nvGrpSpPr>
          <p:cNvPr name="Group 32" id="32"/>
          <p:cNvGrpSpPr/>
          <p:nvPr/>
        </p:nvGrpSpPr>
        <p:grpSpPr>
          <a:xfrm rot="0">
            <a:off x="1062572" y="5834998"/>
            <a:ext cx="453358" cy="550094"/>
            <a:chOff x="0" y="0"/>
            <a:chExt cx="604477" cy="733459"/>
          </a:xfrm>
        </p:grpSpPr>
        <p:sp>
          <p:nvSpPr>
            <p:cNvPr name="Freeform 33" id="33"/>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4" id="34"/>
          <p:cNvGrpSpPr/>
          <p:nvPr/>
        </p:nvGrpSpPr>
        <p:grpSpPr>
          <a:xfrm rot="0">
            <a:off x="1062572" y="6816571"/>
            <a:ext cx="453358" cy="550094"/>
            <a:chOff x="0" y="0"/>
            <a:chExt cx="604477" cy="733459"/>
          </a:xfrm>
        </p:grpSpPr>
        <p:sp>
          <p:nvSpPr>
            <p:cNvPr name="Freeform 35" id="35"/>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6" id="36"/>
          <p:cNvGrpSpPr/>
          <p:nvPr/>
        </p:nvGrpSpPr>
        <p:grpSpPr>
          <a:xfrm rot="0">
            <a:off x="1062572" y="7816353"/>
            <a:ext cx="453358" cy="550094"/>
            <a:chOff x="0" y="0"/>
            <a:chExt cx="604477" cy="733459"/>
          </a:xfrm>
        </p:grpSpPr>
        <p:sp>
          <p:nvSpPr>
            <p:cNvPr name="Freeform 37" id="37"/>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38" id="38"/>
          <p:cNvGrpSpPr/>
          <p:nvPr/>
        </p:nvGrpSpPr>
        <p:grpSpPr>
          <a:xfrm rot="0">
            <a:off x="1062572" y="8817258"/>
            <a:ext cx="453358" cy="550094"/>
            <a:chOff x="0" y="0"/>
            <a:chExt cx="604477" cy="733459"/>
          </a:xfrm>
        </p:grpSpPr>
        <p:sp>
          <p:nvSpPr>
            <p:cNvPr name="Freeform 39" id="39"/>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8"/>
              <a:stretch>
                <a:fillRect l="0" t="0" r="7" b="-4"/>
              </a:stretch>
            </a:blipFill>
          </p:spPr>
        </p:sp>
      </p:grpSp>
      <p:grpSp>
        <p:nvGrpSpPr>
          <p:cNvPr name="Group 40" id="40"/>
          <p:cNvGrpSpPr/>
          <p:nvPr/>
        </p:nvGrpSpPr>
        <p:grpSpPr>
          <a:xfrm rot="0">
            <a:off x="651754" y="3429735"/>
            <a:ext cx="753892" cy="872928"/>
            <a:chOff x="0" y="0"/>
            <a:chExt cx="1005189" cy="1163904"/>
          </a:xfrm>
        </p:grpSpPr>
        <p:sp>
          <p:nvSpPr>
            <p:cNvPr name="Freeform 41" id="41"/>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9"/>
              <a:stretch>
                <a:fillRect l="0" t="-36" r="1" b="-31"/>
              </a:stretch>
            </a:blipFill>
          </p:spPr>
        </p:sp>
      </p:grpSp>
      <p:sp>
        <p:nvSpPr>
          <p:cNvPr name="TextBox 42" id="42"/>
          <p:cNvSpPr txBox="true"/>
          <p:nvPr/>
        </p:nvSpPr>
        <p:spPr>
          <a:xfrm rot="0">
            <a:off x="878649" y="425975"/>
            <a:ext cx="7710300" cy="2565975"/>
          </a:xfrm>
          <a:prstGeom prst="rect">
            <a:avLst/>
          </a:prstGeom>
        </p:spPr>
        <p:txBody>
          <a:bodyPr anchor="t" rtlCol="false" tIns="0" lIns="0" bIns="0" rIns="0">
            <a:spAutoFit/>
          </a:bodyPr>
          <a:lstStyle/>
          <a:p>
            <a:pPr algn="l">
              <a:lnSpc>
                <a:spcPts val="20699"/>
              </a:lnSpc>
            </a:pPr>
            <a:r>
              <a:rPr lang="en-US" sz="15000">
                <a:solidFill>
                  <a:srgbClr val="131416"/>
                </a:solidFill>
                <a:latin typeface="Pacifico"/>
                <a:ea typeface="Pacifico"/>
                <a:cs typeface="Pacifico"/>
                <a:sym typeface="Pacifico"/>
              </a:rPr>
              <a:t>Agenda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23702"/>
            <a:ext cx="14147311" cy="1241041"/>
          </a:xfrm>
          <a:prstGeom prst="rect">
            <a:avLst/>
          </a:prstGeom>
        </p:spPr>
        <p:txBody>
          <a:bodyPr anchor="t" rtlCol="false" tIns="0" lIns="0" bIns="0" rIns="0">
            <a:spAutoFit/>
          </a:bodyPr>
          <a:lstStyle/>
          <a:p>
            <a:pPr algn="l">
              <a:lnSpc>
                <a:spcPts val="8936"/>
              </a:lnSpc>
            </a:pPr>
            <a:r>
              <a:rPr lang="en-US" b="true" sz="7598">
                <a:solidFill>
                  <a:srgbClr val="FFFFFF"/>
                </a:solidFill>
                <a:latin typeface="Arial Bold"/>
                <a:ea typeface="Arial Bold"/>
                <a:cs typeface="Arial Bold"/>
                <a:sym typeface="Arial Bold"/>
              </a:rPr>
              <a:t>Competencias a desarrollar</a:t>
            </a:r>
          </a:p>
        </p:txBody>
      </p:sp>
      <p:sp>
        <p:nvSpPr>
          <p:cNvPr name="TextBox 5" id="5"/>
          <p:cNvSpPr txBox="true"/>
          <p:nvPr/>
        </p:nvSpPr>
        <p:spPr>
          <a:xfrm rot="0">
            <a:off x="643071" y="3360001"/>
            <a:ext cx="11582324" cy="6160351"/>
          </a:xfrm>
          <a:prstGeom prst="rect">
            <a:avLst/>
          </a:prstGeom>
        </p:spPr>
        <p:txBody>
          <a:bodyPr anchor="t" rtlCol="false" tIns="0" lIns="0" bIns="0" rIns="0">
            <a:spAutoFit/>
          </a:bodyPr>
          <a:lstStyle/>
          <a:p>
            <a:pPr algn="just" marL="656101" indent="-218700" lvl="2">
              <a:lnSpc>
                <a:spcPts val="4821"/>
              </a:lnSpc>
              <a:buFont typeface="Arial"/>
              <a:buChar char="⚬"/>
            </a:pPr>
            <a:r>
              <a:rPr lang="en-US" b="true" sz="2870">
                <a:solidFill>
                  <a:srgbClr val="FFFFFF"/>
                </a:solidFill>
                <a:latin typeface="Arial Bold"/>
                <a:ea typeface="Arial Bold"/>
                <a:cs typeface="Arial Bold"/>
                <a:sym typeface="Arial Bold"/>
              </a:rPr>
              <a:t>Comprender el modelo de seguridad integral para almacenamiento de datos mediante el análisis de amenazas, controles de acceso y técnicas de respaldo para garantizar la confidencialidad, integridad y disponibilidad de la información </a:t>
            </a:r>
          </a:p>
          <a:p>
            <a:pPr algn="just" marL="320050" indent="-106683" lvl="2">
              <a:lnSpc>
                <a:spcPts val="2351"/>
              </a:lnSpc>
            </a:pPr>
          </a:p>
          <a:p>
            <a:pPr algn="just" marL="656101" indent="-218700" lvl="2">
              <a:lnSpc>
                <a:spcPts val="4821"/>
              </a:lnSpc>
              <a:buFont typeface="Arial"/>
              <a:buChar char="⚬"/>
            </a:pPr>
            <a:r>
              <a:rPr lang="en-US" b="true" sz="2870">
                <a:solidFill>
                  <a:srgbClr val="FFFFFF"/>
                </a:solidFill>
                <a:latin typeface="Arial Bold"/>
                <a:ea typeface="Arial Bold"/>
                <a:cs typeface="Arial Bold"/>
                <a:sym typeface="Arial Bold"/>
              </a:rPr>
              <a:t>Explicar los fundamentos de conectividad, administración y evolución de tecnologías de red y almacenamiento mediante la identificación de componentes clave y su interacción funcional para comprender su rol en infraestructuras tecnológicas actuales </a:t>
            </a:r>
          </a:p>
        </p:txBody>
      </p:sp>
      <p:grpSp>
        <p:nvGrpSpPr>
          <p:cNvPr name="Group 6" id="6"/>
          <p:cNvGrpSpPr/>
          <p:nvPr/>
        </p:nvGrpSpPr>
        <p:grpSpPr>
          <a:xfrm rot="0">
            <a:off x="12385196" y="3429000"/>
            <a:ext cx="5043497" cy="5558428"/>
            <a:chOff x="0" y="0"/>
            <a:chExt cx="6724663" cy="7411237"/>
          </a:xfrm>
        </p:grpSpPr>
        <p:sp>
          <p:nvSpPr>
            <p:cNvPr name="Freeform 7" id="7"/>
            <p:cNvSpPr/>
            <p:nvPr/>
          </p:nvSpPr>
          <p:spPr>
            <a:xfrm flipH="false" flipV="false" rot="0">
              <a:off x="0" y="0"/>
              <a:ext cx="6724650" cy="7411212"/>
            </a:xfrm>
            <a:custGeom>
              <a:avLst/>
              <a:gdLst/>
              <a:ahLst/>
              <a:cxnLst/>
              <a:rect r="r" b="b" t="t" l="l"/>
              <a:pathLst>
                <a:path h="7411212" w="6724650">
                  <a:moveTo>
                    <a:pt x="0" y="0"/>
                  </a:moveTo>
                  <a:lnTo>
                    <a:pt x="6724650" y="0"/>
                  </a:lnTo>
                  <a:lnTo>
                    <a:pt x="6724650" y="7411212"/>
                  </a:lnTo>
                  <a:lnTo>
                    <a:pt x="0" y="7411212"/>
                  </a:lnTo>
                  <a:lnTo>
                    <a:pt x="0" y="0"/>
                  </a:lnTo>
                  <a:close/>
                </a:path>
              </a:pathLst>
            </a:custGeom>
            <a:blipFill>
              <a:blip r:embed="rId4"/>
              <a:stretch>
                <a:fillRect l="-38710" t="0" r="-38178" b="0"/>
              </a:stretch>
            </a:blipFill>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2D2EF">
                <a:alpha val="100000"/>
              </a:srgbClr>
            </a:gs>
            <a:gs pos="10000">
              <a:srgbClr val="62D2EF">
                <a:alpha val="100000"/>
              </a:srgbClr>
            </a:gs>
            <a:gs pos="100000">
              <a:srgbClr val="05578D">
                <a:alpha val="100000"/>
              </a:srgbClr>
            </a:gs>
          </a:gsLst>
          <a:lin ang="6120000"/>
        </a:gradFill>
      </p:bgPr>
    </p:bg>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1404933"/>
            <a:ext cx="14347060" cy="1659370"/>
          </a:xfrm>
          <a:prstGeom prst="rect">
            <a:avLst/>
          </a:prstGeom>
        </p:spPr>
        <p:txBody>
          <a:bodyPr anchor="t" rtlCol="false" tIns="0" lIns="0" bIns="0" rIns="0">
            <a:spAutoFit/>
          </a:bodyPr>
          <a:lstStyle/>
          <a:p>
            <a:pPr algn="ctr" marL="0" indent="0" lvl="0">
              <a:lnSpc>
                <a:spcPts val="11647"/>
              </a:lnSpc>
            </a:pPr>
            <a:r>
              <a:rPr lang="en-US" b="true" sz="9469">
                <a:solidFill>
                  <a:srgbClr val="FFFFFF"/>
                </a:solidFill>
                <a:latin typeface="Arial MT Pro Bold"/>
                <a:ea typeface="Arial MT Pro Bold"/>
                <a:cs typeface="Arial MT Pro Bold"/>
                <a:sym typeface="Arial MT Pro Bold"/>
              </a:rPr>
              <a:t>AVISOS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2D2EF">
                <a:alpha val="100000"/>
              </a:srgbClr>
            </a:gs>
            <a:gs pos="10000">
              <a:srgbClr val="62D2EF">
                <a:alpha val="100000"/>
              </a:srgbClr>
            </a:gs>
            <a:gs pos="100000">
              <a:srgbClr val="05578D">
                <a:alpha val="100000"/>
              </a:srgbClr>
            </a:gs>
          </a:gsLst>
          <a:lin ang="6120000"/>
        </a:gradFill>
      </p:bgPr>
    </p:bg>
    <p:spTree>
      <p:nvGrpSpPr>
        <p:cNvPr id="1" name=""/>
        <p:cNvGrpSpPr/>
        <p:nvPr/>
      </p:nvGrpSpPr>
      <p:grpSpPr>
        <a:xfrm>
          <a:off x="0" y="0"/>
          <a:ext cx="0" cy="0"/>
          <a:chOff x="0" y="0"/>
          <a:chExt cx="0" cy="0"/>
        </a:xfrm>
      </p:grpSpPr>
      <p:sp>
        <p:nvSpPr>
          <p:cNvPr name="Freeform 2" id="2"/>
          <p:cNvSpPr/>
          <p:nvPr/>
        </p:nvSpPr>
        <p:spPr>
          <a:xfrm flipH="false" flipV="false" rot="0">
            <a:off x="-1201624" y="0"/>
            <a:ext cx="20691247" cy="10429334"/>
          </a:xfrm>
          <a:custGeom>
            <a:avLst/>
            <a:gdLst/>
            <a:ahLst/>
            <a:cxnLst/>
            <a:rect r="r" b="b" t="t" l="l"/>
            <a:pathLst>
              <a:path h="10429334" w="20691247">
                <a:moveTo>
                  <a:pt x="0" y="0"/>
                </a:moveTo>
                <a:lnTo>
                  <a:pt x="20691248" y="0"/>
                </a:lnTo>
                <a:lnTo>
                  <a:pt x="20691248" y="10429334"/>
                </a:lnTo>
                <a:lnTo>
                  <a:pt x="0" y="10429334"/>
                </a:lnTo>
                <a:lnTo>
                  <a:pt x="0" y="0"/>
                </a:lnTo>
                <a:close/>
              </a:path>
            </a:pathLst>
          </a:custGeom>
          <a:blipFill>
            <a:blip r:embed="rId3"/>
            <a:stretch>
              <a:fillRect l="-8780" t="0" r="-8780" b="0"/>
            </a:stretch>
          </a:blipFill>
        </p:spPr>
      </p:sp>
      <p:sp>
        <p:nvSpPr>
          <p:cNvPr name="AutoShape 3" id="3"/>
          <p:cNvSpPr/>
          <p:nvPr/>
        </p:nvSpPr>
        <p:spPr>
          <a:xfrm rot="8099999">
            <a:off x="16623524" y="5129640"/>
            <a:ext cx="1950151" cy="0"/>
          </a:xfrm>
          <a:prstGeom prst="line">
            <a:avLst/>
          </a:prstGeom>
          <a:ln cap="rnd" w="9525">
            <a:solidFill>
              <a:srgbClr val="FFFFFF"/>
            </a:solidFill>
            <a:prstDash val="solid"/>
            <a:headEnd type="none" len="sm" w="sm"/>
            <a:tailEnd type="none" len="sm" w="sm"/>
          </a:ln>
        </p:spPr>
      </p:sp>
      <p:sp>
        <p:nvSpPr>
          <p:cNvPr name="AutoShape 4" id="4"/>
          <p:cNvSpPr/>
          <p:nvPr/>
        </p:nvSpPr>
        <p:spPr>
          <a:xfrm rot="8100000">
            <a:off x="12877196" y="7021980"/>
            <a:ext cx="6339248" cy="0"/>
          </a:xfrm>
          <a:prstGeom prst="line">
            <a:avLst/>
          </a:prstGeom>
          <a:ln cap="rnd" w="9525">
            <a:solidFill>
              <a:srgbClr val="FFFFFF"/>
            </a:solidFill>
            <a:prstDash val="solid"/>
            <a:headEnd type="none" len="sm" w="sm"/>
            <a:tailEnd type="none" len="sm" w="sm"/>
          </a:ln>
        </p:spPr>
      </p:sp>
      <p:sp>
        <p:nvSpPr>
          <p:cNvPr name="AutoShape 5" id="5"/>
          <p:cNvSpPr/>
          <p:nvPr/>
        </p:nvSpPr>
        <p:spPr>
          <a:xfrm rot="8099783">
            <a:off x="14842142" y="6350040"/>
            <a:ext cx="4037276" cy="0"/>
          </a:xfrm>
          <a:prstGeom prst="line">
            <a:avLst/>
          </a:prstGeom>
          <a:ln cap="rnd" w="9525">
            <a:solidFill>
              <a:srgbClr val="FFFFFF"/>
            </a:solidFill>
            <a:prstDash val="solid"/>
            <a:headEnd type="none" len="sm" w="sm"/>
            <a:tailEnd type="none" len="sm" w="sm"/>
          </a:ln>
        </p:spPr>
      </p:sp>
      <p:sp>
        <p:nvSpPr>
          <p:cNvPr name="AutoShape 6" id="6"/>
          <p:cNvSpPr/>
          <p:nvPr/>
        </p:nvSpPr>
        <p:spPr>
          <a:xfrm rot="8100000">
            <a:off x="15101702" y="5996535"/>
            <a:ext cx="3744236" cy="0"/>
          </a:xfrm>
          <a:prstGeom prst="line">
            <a:avLst/>
          </a:prstGeom>
          <a:ln cap="rnd" w="19050">
            <a:solidFill>
              <a:srgbClr val="FFFFFF"/>
            </a:solidFill>
            <a:prstDash val="solid"/>
            <a:headEnd type="none" len="sm" w="sm"/>
            <a:tailEnd type="none" len="sm" w="sm"/>
          </a:ln>
        </p:spPr>
      </p:sp>
      <p:sp>
        <p:nvSpPr>
          <p:cNvPr name="AutoShape 7" id="7"/>
          <p:cNvSpPr/>
          <p:nvPr/>
        </p:nvSpPr>
        <p:spPr>
          <a:xfrm rot="8099680">
            <a:off x="15963304" y="6467415"/>
            <a:ext cx="2734912" cy="0"/>
          </a:xfrm>
          <a:prstGeom prst="line">
            <a:avLst/>
          </a:prstGeom>
          <a:ln cap="rnd" w="19050">
            <a:solidFill>
              <a:srgbClr val="FFFFFF"/>
            </a:solidFill>
            <a:prstDash val="solid"/>
            <a:headEnd type="none" len="sm" w="sm"/>
            <a:tailEnd type="none" len="sm" w="sm"/>
          </a:ln>
        </p:spPr>
      </p:sp>
      <p:sp>
        <p:nvSpPr>
          <p:cNvPr name="TextBox 8" id="8"/>
          <p:cNvSpPr txBox="true"/>
          <p:nvPr/>
        </p:nvSpPr>
        <p:spPr>
          <a:xfrm rot="0">
            <a:off x="1970470" y="3249910"/>
            <a:ext cx="14347060" cy="3135745"/>
          </a:xfrm>
          <a:prstGeom prst="rect">
            <a:avLst/>
          </a:prstGeom>
        </p:spPr>
        <p:txBody>
          <a:bodyPr anchor="t" rtlCol="false" tIns="0" lIns="0" bIns="0" rIns="0">
            <a:spAutoFit/>
          </a:bodyPr>
          <a:lstStyle/>
          <a:p>
            <a:pPr algn="ctr">
              <a:lnSpc>
                <a:spcPts val="11647"/>
              </a:lnSpc>
            </a:pPr>
            <a:r>
              <a:rPr lang="en-US" b="true" sz="9469">
                <a:solidFill>
                  <a:srgbClr val="FFFFFF"/>
                </a:solidFill>
                <a:latin typeface="Arial MT Pro Bold"/>
                <a:ea typeface="Arial MT Pro Bold"/>
                <a:cs typeface="Arial MT Pro Bold"/>
                <a:sym typeface="Arial MT Pro Bold"/>
              </a:rPr>
              <a:t>DUDAS DEL </a:t>
            </a:r>
          </a:p>
          <a:p>
            <a:pPr algn="ctr" marL="0" indent="0" lvl="0">
              <a:lnSpc>
                <a:spcPts val="11647"/>
              </a:lnSpc>
            </a:pPr>
            <a:r>
              <a:rPr lang="en-US" b="true" sz="9469">
                <a:solidFill>
                  <a:srgbClr val="FFFFFF"/>
                </a:solidFill>
                <a:latin typeface="Arial MT Pro Bold"/>
                <a:ea typeface="Arial MT Pro Bold"/>
                <a:cs typeface="Arial MT Pro Bold"/>
                <a:sym typeface="Arial MT Pro Bold"/>
              </a:rPr>
              <a:t>PROYECTO</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28700" y="4097588"/>
            <a:ext cx="16230600" cy="1486214"/>
          </a:xfrm>
          <a:prstGeom prst="rect">
            <a:avLst/>
          </a:prstGeom>
        </p:spPr>
        <p:txBody>
          <a:bodyPr anchor="t" rtlCol="false" tIns="0" lIns="0" bIns="0" rIns="0">
            <a:spAutoFit/>
          </a:bodyPr>
          <a:lstStyle/>
          <a:p>
            <a:pPr algn="ctr">
              <a:lnSpc>
                <a:spcPts val="10752"/>
              </a:lnSpc>
            </a:pPr>
            <a:r>
              <a:rPr lang="en-US" b="true" sz="8000">
                <a:solidFill>
                  <a:srgbClr val="FFFFFF"/>
                </a:solidFill>
                <a:latin typeface="Arial Bold"/>
                <a:ea typeface="Arial Bold"/>
                <a:cs typeface="Arial Bold"/>
                <a:sym typeface="Arial Bold"/>
              </a:rPr>
              <a:t>SEGURIDAD</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61802"/>
            <a:ext cx="11013624" cy="654682"/>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Temas principales</a:t>
            </a:r>
          </a:p>
        </p:txBody>
      </p:sp>
      <p:sp>
        <p:nvSpPr>
          <p:cNvPr name="TextBox 5" id="5"/>
          <p:cNvSpPr txBox="true"/>
          <p:nvPr/>
        </p:nvSpPr>
        <p:spPr>
          <a:xfrm rot="0">
            <a:off x="1906772" y="2875016"/>
            <a:ext cx="4286250"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1.</a:t>
            </a:r>
          </a:p>
        </p:txBody>
      </p:sp>
      <p:sp>
        <p:nvSpPr>
          <p:cNvPr name="TextBox 6" id="6"/>
          <p:cNvSpPr txBox="true"/>
          <p:nvPr/>
        </p:nvSpPr>
        <p:spPr>
          <a:xfrm rot="0">
            <a:off x="1906772" y="3501695"/>
            <a:ext cx="4286250"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Cifrado de Datos</a:t>
            </a:r>
          </a:p>
        </p:txBody>
      </p:sp>
      <p:sp>
        <p:nvSpPr>
          <p:cNvPr name="TextBox 7" id="7"/>
          <p:cNvSpPr txBox="true"/>
          <p:nvPr/>
        </p:nvSpPr>
        <p:spPr>
          <a:xfrm rot="0">
            <a:off x="1906772" y="6040012"/>
            <a:ext cx="4286250"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4.</a:t>
            </a:r>
          </a:p>
        </p:txBody>
      </p:sp>
      <p:sp>
        <p:nvSpPr>
          <p:cNvPr name="TextBox 8" id="8"/>
          <p:cNvSpPr txBox="true"/>
          <p:nvPr/>
        </p:nvSpPr>
        <p:spPr>
          <a:xfrm rot="0">
            <a:off x="1906772" y="6667090"/>
            <a:ext cx="4286250"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Monitoreo y Detección de Intrusos</a:t>
            </a:r>
          </a:p>
        </p:txBody>
      </p:sp>
      <p:sp>
        <p:nvSpPr>
          <p:cNvPr name="TextBox 9" id="9"/>
          <p:cNvSpPr txBox="true"/>
          <p:nvPr/>
        </p:nvSpPr>
        <p:spPr>
          <a:xfrm rot="0">
            <a:off x="7002285" y="2875016"/>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2.</a:t>
            </a:r>
          </a:p>
        </p:txBody>
      </p:sp>
      <p:sp>
        <p:nvSpPr>
          <p:cNvPr name="TextBox 10" id="10"/>
          <p:cNvSpPr txBox="true"/>
          <p:nvPr/>
        </p:nvSpPr>
        <p:spPr>
          <a:xfrm rot="0">
            <a:off x="7004418" y="3501695"/>
            <a:ext cx="4284107"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Control de Acceso y Autenticación</a:t>
            </a:r>
          </a:p>
        </p:txBody>
      </p:sp>
      <p:sp>
        <p:nvSpPr>
          <p:cNvPr name="TextBox 11" id="11"/>
          <p:cNvSpPr txBox="true"/>
          <p:nvPr/>
        </p:nvSpPr>
        <p:spPr>
          <a:xfrm rot="0">
            <a:off x="7002285" y="6040012"/>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5.</a:t>
            </a:r>
          </a:p>
        </p:txBody>
      </p:sp>
      <p:sp>
        <p:nvSpPr>
          <p:cNvPr name="TextBox 12" id="12"/>
          <p:cNvSpPr txBox="true"/>
          <p:nvPr/>
        </p:nvSpPr>
        <p:spPr>
          <a:xfrm rot="0">
            <a:off x="7004418" y="6667090"/>
            <a:ext cx="4284107"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Políticas de Retención y Eliminación de Datos</a:t>
            </a:r>
          </a:p>
        </p:txBody>
      </p:sp>
      <p:sp>
        <p:nvSpPr>
          <p:cNvPr name="TextBox 13" id="13"/>
          <p:cNvSpPr txBox="true"/>
          <p:nvPr/>
        </p:nvSpPr>
        <p:spPr>
          <a:xfrm rot="0">
            <a:off x="12094978" y="2875016"/>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3.</a:t>
            </a:r>
          </a:p>
        </p:txBody>
      </p:sp>
      <p:sp>
        <p:nvSpPr>
          <p:cNvPr name="TextBox 14" id="14"/>
          <p:cNvSpPr txBox="true"/>
          <p:nvPr/>
        </p:nvSpPr>
        <p:spPr>
          <a:xfrm rot="0">
            <a:off x="12097121" y="3501695"/>
            <a:ext cx="4284107"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Seguridad Física</a:t>
            </a:r>
          </a:p>
        </p:txBody>
      </p:sp>
      <p:sp>
        <p:nvSpPr>
          <p:cNvPr name="TextBox 15" id="15"/>
          <p:cNvSpPr txBox="true"/>
          <p:nvPr/>
        </p:nvSpPr>
        <p:spPr>
          <a:xfrm rot="0">
            <a:off x="12094978" y="6040012"/>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6.</a:t>
            </a:r>
          </a:p>
        </p:txBody>
      </p:sp>
      <p:sp>
        <p:nvSpPr>
          <p:cNvPr name="TextBox 16" id="16"/>
          <p:cNvSpPr txBox="true"/>
          <p:nvPr/>
        </p:nvSpPr>
        <p:spPr>
          <a:xfrm rot="0">
            <a:off x="12097121" y="6667090"/>
            <a:ext cx="4284107"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Seguridad en Almacenamiento en la Nube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845031" y="3291697"/>
            <a:ext cx="9245203" cy="795652"/>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Introducción</a:t>
            </a:r>
          </a:p>
        </p:txBody>
      </p:sp>
      <p:sp>
        <p:nvSpPr>
          <p:cNvPr name="TextBox 5" id="5"/>
          <p:cNvSpPr txBox="true"/>
          <p:nvPr/>
        </p:nvSpPr>
        <p:spPr>
          <a:xfrm rot="0">
            <a:off x="1845031" y="4117143"/>
            <a:ext cx="9245203" cy="2458212"/>
          </a:xfrm>
          <a:prstGeom prst="rect">
            <a:avLst/>
          </a:prstGeom>
        </p:spPr>
        <p:txBody>
          <a:bodyPr anchor="t" rtlCol="false" tIns="0" lIns="0" bIns="0" rIns="0">
            <a:spAutoFit/>
          </a:bodyPr>
          <a:lstStyle/>
          <a:p>
            <a:pPr algn="just">
              <a:lnSpc>
                <a:spcPts val="4347"/>
              </a:lnSpc>
            </a:pPr>
            <a:r>
              <a:rPr lang="en-US" sz="2399">
                <a:solidFill>
                  <a:srgbClr val="FFFFFF"/>
                </a:solidFill>
                <a:latin typeface="Arial"/>
                <a:ea typeface="Arial"/>
                <a:cs typeface="Arial"/>
                <a:sym typeface="Arial"/>
              </a:rPr>
              <a:t>La seguridad de la información en almacenamiento se refiere a las medidas y prácticas implementadas para proteger los datos almacenados, ya sea en servidores, discos duros, almacenamiento en la nube, u otros dispositivos. Aquí algunos elementos clave: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360065" y="1459497"/>
            <a:ext cx="5635076" cy="891283"/>
          </a:xfrm>
          <a:prstGeom prst="rect">
            <a:avLst/>
          </a:prstGeom>
        </p:spPr>
        <p:txBody>
          <a:bodyPr anchor="t" rtlCol="false" tIns="0" lIns="0" bIns="0" rIns="0">
            <a:spAutoFit/>
          </a:bodyPr>
          <a:lstStyle/>
          <a:p>
            <a:pPr algn="l">
              <a:lnSpc>
                <a:spcPts val="6139"/>
              </a:lnSpc>
            </a:pPr>
            <a:r>
              <a:rPr lang="en-US" b="true" sz="4299">
                <a:solidFill>
                  <a:srgbClr val="FFFFFF"/>
                </a:solidFill>
                <a:latin typeface="Arial Bold"/>
                <a:ea typeface="Arial Bold"/>
                <a:cs typeface="Arial Bold"/>
                <a:sym typeface="Arial Bold"/>
              </a:rPr>
              <a:t>Cifrado de Datos</a:t>
            </a:r>
          </a:p>
        </p:txBody>
      </p:sp>
      <p:sp>
        <p:nvSpPr>
          <p:cNvPr name="TextBox 5" id="5"/>
          <p:cNvSpPr txBox="true"/>
          <p:nvPr/>
        </p:nvSpPr>
        <p:spPr>
          <a:xfrm rot="0">
            <a:off x="3052201" y="3110027"/>
            <a:ext cx="6776542" cy="2030730"/>
          </a:xfrm>
          <a:prstGeom prst="rect">
            <a:avLst/>
          </a:prstGeom>
        </p:spPr>
        <p:txBody>
          <a:bodyPr anchor="t" rtlCol="false" tIns="0" lIns="0" bIns="0" rIns="0">
            <a:spAutoFit/>
          </a:bodyPr>
          <a:lstStyle/>
          <a:p>
            <a:pPr algn="just">
              <a:lnSpc>
                <a:spcPts val="3024"/>
              </a:lnSpc>
            </a:pPr>
            <a:r>
              <a:rPr lang="en-US" sz="1800">
                <a:solidFill>
                  <a:srgbClr val="FFFFFF"/>
                </a:solidFill>
                <a:latin typeface="Arial"/>
                <a:ea typeface="Arial"/>
                <a:cs typeface="Arial"/>
                <a:sym typeface="Arial"/>
              </a:rPr>
              <a:t>El cifrado es esencial para proteger los datos tanto en reposo como en tránsito. En el almacenamiento, el cifrado de datos garantiza que, si alguien accede sin autorización, no pueda interpretarlos sin la clave de desencriptación. Existen varios algoritmos de cifrado, como AES (Advanced Encryption Standard) y RSA.</a:t>
            </a:r>
          </a:p>
        </p:txBody>
      </p:sp>
      <p:sp>
        <p:nvSpPr>
          <p:cNvPr name="TextBox 6" id="6"/>
          <p:cNvSpPr txBox="true"/>
          <p:nvPr/>
        </p:nvSpPr>
        <p:spPr>
          <a:xfrm rot="0">
            <a:off x="9933384" y="5708161"/>
            <a:ext cx="6776542" cy="1087755"/>
          </a:xfrm>
          <a:prstGeom prst="rect">
            <a:avLst/>
          </a:prstGeom>
        </p:spPr>
        <p:txBody>
          <a:bodyPr anchor="t" rtlCol="false" tIns="0" lIns="0" bIns="0" rIns="0">
            <a:spAutoFit/>
          </a:bodyPr>
          <a:lstStyle/>
          <a:p>
            <a:pPr algn="just">
              <a:lnSpc>
                <a:spcPts val="3024"/>
              </a:lnSpc>
            </a:pPr>
            <a:r>
              <a:rPr lang="en-US" sz="1800">
                <a:solidFill>
                  <a:srgbClr val="FFFFFF"/>
                </a:solidFill>
                <a:latin typeface="Arial"/>
                <a:ea typeface="Arial"/>
                <a:cs typeface="Arial"/>
                <a:sym typeface="Arial"/>
              </a:rPr>
              <a:t>La gestión de claves es fundamental, ya que estas deben ser almacenadas de forma segura y administradas cuidadosamente para evitar fugas.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7787392" y="2268198"/>
            <a:ext cx="9200969" cy="5750604"/>
            <a:chOff x="0" y="0"/>
            <a:chExt cx="12267959" cy="7667473"/>
          </a:xfrm>
        </p:grpSpPr>
        <p:sp>
          <p:nvSpPr>
            <p:cNvPr name="Freeform 5" id="5"/>
            <p:cNvSpPr/>
            <p:nvPr/>
          </p:nvSpPr>
          <p:spPr>
            <a:xfrm flipH="false" flipV="false" rot="0">
              <a:off x="0" y="0"/>
              <a:ext cx="12267946" cy="7667498"/>
            </a:xfrm>
            <a:custGeom>
              <a:avLst/>
              <a:gdLst/>
              <a:ahLst/>
              <a:cxnLst/>
              <a:rect r="r" b="b" t="t" l="l"/>
              <a:pathLst>
                <a:path h="7667498" w="12267946">
                  <a:moveTo>
                    <a:pt x="0" y="0"/>
                  </a:moveTo>
                  <a:lnTo>
                    <a:pt x="12267946" y="0"/>
                  </a:lnTo>
                  <a:lnTo>
                    <a:pt x="12267946" y="7667498"/>
                  </a:lnTo>
                  <a:lnTo>
                    <a:pt x="0" y="7667498"/>
                  </a:lnTo>
                  <a:lnTo>
                    <a:pt x="0" y="0"/>
                  </a:lnTo>
                  <a:close/>
                </a:path>
              </a:pathLst>
            </a:custGeom>
            <a:blipFill>
              <a:blip r:embed="rId4"/>
              <a:stretch>
                <a:fillRect l="0" t="0" r="0" b="0"/>
              </a:stretch>
            </a:blipFill>
          </p:spPr>
        </p:sp>
      </p:grpSp>
      <p:sp>
        <p:nvSpPr>
          <p:cNvPr name="TextBox 6" id="6"/>
          <p:cNvSpPr txBox="true"/>
          <p:nvPr/>
        </p:nvSpPr>
        <p:spPr>
          <a:xfrm rot="0">
            <a:off x="1531820" y="1131789"/>
            <a:ext cx="4270686" cy="1995802"/>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Control de Acceso y Autenticación</a:t>
            </a:r>
          </a:p>
        </p:txBody>
      </p:sp>
      <p:sp>
        <p:nvSpPr>
          <p:cNvPr name="TextBox 7" id="7"/>
          <p:cNvSpPr txBox="true"/>
          <p:nvPr/>
        </p:nvSpPr>
        <p:spPr>
          <a:xfrm rot="0">
            <a:off x="1531820" y="3207391"/>
            <a:ext cx="4270686" cy="5090951"/>
          </a:xfrm>
          <a:prstGeom prst="rect">
            <a:avLst/>
          </a:prstGeom>
        </p:spPr>
        <p:txBody>
          <a:bodyPr anchor="t" rtlCol="false" tIns="0" lIns="0" bIns="0" rIns="0">
            <a:spAutoFit/>
          </a:bodyPr>
          <a:lstStyle/>
          <a:p>
            <a:pPr algn="l">
              <a:lnSpc>
                <a:spcPts val="3624"/>
              </a:lnSpc>
            </a:pPr>
            <a:r>
              <a:rPr lang="en-US" sz="2000">
                <a:solidFill>
                  <a:srgbClr val="FFFFFF"/>
                </a:solidFill>
                <a:latin typeface="Arial"/>
                <a:ea typeface="Arial"/>
                <a:cs typeface="Arial"/>
                <a:sym typeface="Arial"/>
              </a:rPr>
              <a:t>Implementar controles de acceso es vital para garantizar que solo usuarios autorizados puedan acceder a los datos. Esto se logra con sistemas de autenticación multifactor (MFA), permisos basados en roles (RBAC), y políticas de acceso mínimas.</a:t>
            </a:r>
          </a:p>
          <a:p>
            <a:pPr algn="l">
              <a:lnSpc>
                <a:spcPts val="2536"/>
              </a:lnSpc>
            </a:pPr>
          </a:p>
          <a:p>
            <a:pPr algn="l">
              <a:lnSpc>
                <a:spcPts val="3624"/>
              </a:lnSpc>
            </a:pPr>
            <a:r>
              <a:rPr lang="en-US" sz="2000">
                <a:solidFill>
                  <a:srgbClr val="FFFFFF"/>
                </a:solidFill>
                <a:latin typeface="Arial"/>
                <a:ea typeface="Arial"/>
                <a:cs typeface="Arial"/>
                <a:sym typeface="Arial"/>
              </a:rPr>
              <a:t>Autenticación multifactor agrega una capa adicional de seguridad, donde el acceso requiere dos o más verificaciones.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AutoShape 4" id="4"/>
          <p:cNvSpPr/>
          <p:nvPr/>
        </p:nvSpPr>
        <p:spPr>
          <a:xfrm rot="21480">
            <a:off x="2676173" y="2647093"/>
            <a:ext cx="6093276" cy="0"/>
          </a:xfrm>
          <a:prstGeom prst="line">
            <a:avLst/>
          </a:prstGeom>
          <a:ln cap="rnd" w="28575">
            <a:solidFill>
              <a:srgbClr val="FFFFFF"/>
            </a:solidFill>
            <a:prstDash val="solid"/>
            <a:headEnd type="oval" len="lg" w="lg"/>
            <a:tailEnd type="arrow" len="sm" w="med"/>
          </a:ln>
        </p:spPr>
      </p:sp>
      <p:sp>
        <p:nvSpPr>
          <p:cNvPr name="AutoShape 5" id="5"/>
          <p:cNvSpPr/>
          <p:nvPr/>
        </p:nvSpPr>
        <p:spPr>
          <a:xfrm rot="21480">
            <a:off x="9501978" y="2647093"/>
            <a:ext cx="6093276" cy="0"/>
          </a:xfrm>
          <a:prstGeom prst="line">
            <a:avLst/>
          </a:prstGeom>
          <a:ln cap="rnd" w="28575">
            <a:solidFill>
              <a:srgbClr val="FFFFFF"/>
            </a:solidFill>
            <a:prstDash val="solid"/>
            <a:headEnd type="arrow" len="sm" w="med"/>
            <a:tailEnd type="oval" len="lg" w="lg"/>
          </a:ln>
        </p:spPr>
      </p:sp>
      <p:grpSp>
        <p:nvGrpSpPr>
          <p:cNvPr name="Group 6" id="6"/>
          <p:cNvGrpSpPr/>
          <p:nvPr/>
        </p:nvGrpSpPr>
        <p:grpSpPr>
          <a:xfrm rot="0">
            <a:off x="9959769" y="3706358"/>
            <a:ext cx="5869438" cy="3301556"/>
            <a:chOff x="0" y="0"/>
            <a:chExt cx="7825918" cy="4402074"/>
          </a:xfrm>
        </p:grpSpPr>
        <p:sp>
          <p:nvSpPr>
            <p:cNvPr name="Freeform 7" id="7"/>
            <p:cNvSpPr/>
            <p:nvPr/>
          </p:nvSpPr>
          <p:spPr>
            <a:xfrm flipH="false" flipV="false" rot="0">
              <a:off x="0" y="0"/>
              <a:ext cx="7825867" cy="4402074"/>
            </a:xfrm>
            <a:custGeom>
              <a:avLst/>
              <a:gdLst/>
              <a:ahLst/>
              <a:cxnLst/>
              <a:rect r="r" b="b" t="t" l="l"/>
              <a:pathLst>
                <a:path h="4402074" w="7825867">
                  <a:moveTo>
                    <a:pt x="0" y="0"/>
                  </a:moveTo>
                  <a:lnTo>
                    <a:pt x="7825867" y="0"/>
                  </a:lnTo>
                  <a:lnTo>
                    <a:pt x="7825867" y="4402074"/>
                  </a:lnTo>
                  <a:lnTo>
                    <a:pt x="0" y="4402074"/>
                  </a:lnTo>
                  <a:lnTo>
                    <a:pt x="0" y="0"/>
                  </a:lnTo>
                  <a:close/>
                </a:path>
              </a:pathLst>
            </a:custGeom>
            <a:blipFill>
              <a:blip r:embed="rId4"/>
              <a:stretch>
                <a:fillRect l="0" t="0" r="0" b="0"/>
              </a:stretch>
            </a:blipFill>
          </p:spPr>
        </p:sp>
      </p:grpSp>
      <p:sp>
        <p:nvSpPr>
          <p:cNvPr name="TextBox 8" id="8"/>
          <p:cNvSpPr txBox="true"/>
          <p:nvPr/>
        </p:nvSpPr>
        <p:spPr>
          <a:xfrm rot="0">
            <a:off x="3637188" y="1161802"/>
            <a:ext cx="11013624" cy="654682"/>
          </a:xfrm>
          <a:prstGeom prst="rect">
            <a:avLst/>
          </a:prstGeom>
        </p:spPr>
        <p:txBody>
          <a:bodyPr anchor="t" rtlCol="false" tIns="0" lIns="0" bIns="0" rIns="0">
            <a:spAutoFit/>
          </a:bodyPr>
          <a:lstStyle/>
          <a:p>
            <a:pPr algn="ctr">
              <a:lnSpc>
                <a:spcPts val="4702"/>
              </a:lnSpc>
            </a:pPr>
            <a:r>
              <a:rPr lang="en-US" b="true" sz="3999">
                <a:solidFill>
                  <a:srgbClr val="FFFFFF"/>
                </a:solidFill>
                <a:latin typeface="Arial Bold"/>
                <a:ea typeface="Arial Bold"/>
                <a:cs typeface="Arial Bold"/>
                <a:sym typeface="Arial Bold"/>
              </a:rPr>
              <a:t> Seguridad Física</a:t>
            </a:r>
          </a:p>
        </p:txBody>
      </p:sp>
      <p:sp>
        <p:nvSpPr>
          <p:cNvPr name="TextBox 9" id="9"/>
          <p:cNvSpPr txBox="true"/>
          <p:nvPr/>
        </p:nvSpPr>
        <p:spPr>
          <a:xfrm rot="0">
            <a:off x="3206077" y="3458708"/>
            <a:ext cx="5072939" cy="2835907"/>
          </a:xfrm>
          <a:prstGeom prst="rect">
            <a:avLst/>
          </a:prstGeom>
        </p:spPr>
        <p:txBody>
          <a:bodyPr anchor="t" rtlCol="false" tIns="0" lIns="0" bIns="0" rIns="0">
            <a:spAutoFit/>
          </a:bodyPr>
          <a:lstStyle/>
          <a:p>
            <a:pPr algn="just">
              <a:lnSpc>
                <a:spcPts val="3624"/>
              </a:lnSpc>
            </a:pPr>
            <a:r>
              <a:rPr lang="en-US" sz="2000">
                <a:solidFill>
                  <a:srgbClr val="FFFFFF"/>
                </a:solidFill>
                <a:latin typeface="Arial"/>
                <a:ea typeface="Arial"/>
                <a:cs typeface="Arial"/>
                <a:sym typeface="Arial"/>
              </a:rPr>
              <a:t>En entornos físicos, como centros de datos, es necesario proteger los dispositivos de almacenamiento de acceso físico no autorizado. Esto incluye el uso de cámaras, control de acceso biométrico, y monitoreo de los dispositivos.</a:t>
            </a:r>
          </a:p>
        </p:txBody>
      </p:sp>
      <p:sp>
        <p:nvSpPr>
          <p:cNvPr name="TextBox 10" id="10"/>
          <p:cNvSpPr txBox="true"/>
          <p:nvPr/>
        </p:nvSpPr>
        <p:spPr>
          <a:xfrm rot="0">
            <a:off x="3206077" y="6839293"/>
            <a:ext cx="5072939" cy="1692907"/>
          </a:xfrm>
          <a:prstGeom prst="rect">
            <a:avLst/>
          </a:prstGeom>
        </p:spPr>
        <p:txBody>
          <a:bodyPr anchor="t" rtlCol="false" tIns="0" lIns="0" bIns="0" rIns="0">
            <a:spAutoFit/>
          </a:bodyPr>
          <a:lstStyle/>
          <a:p>
            <a:pPr algn="just">
              <a:lnSpc>
                <a:spcPts val="3624"/>
              </a:lnSpc>
            </a:pPr>
            <a:r>
              <a:rPr lang="en-US" sz="2000">
                <a:solidFill>
                  <a:srgbClr val="FFFFFF"/>
                </a:solidFill>
                <a:latin typeface="Arial"/>
                <a:ea typeface="Arial"/>
                <a:cs typeface="Arial"/>
                <a:sym typeface="Arial"/>
              </a:rPr>
              <a:t>También se deben implementar medidas de seguridad ambiental, como control de temperatura y humedad, para evitar daños físicos.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2193608" y="3339694"/>
            <a:ext cx="6075969" cy="3607603"/>
            <a:chOff x="0" y="0"/>
            <a:chExt cx="8101292" cy="4810138"/>
          </a:xfrm>
        </p:grpSpPr>
        <p:sp>
          <p:nvSpPr>
            <p:cNvPr name="Freeform 5" id="5"/>
            <p:cNvSpPr/>
            <p:nvPr/>
          </p:nvSpPr>
          <p:spPr>
            <a:xfrm flipH="false" flipV="false" rot="0">
              <a:off x="0" y="0"/>
              <a:ext cx="8101330" cy="4810125"/>
            </a:xfrm>
            <a:custGeom>
              <a:avLst/>
              <a:gdLst/>
              <a:ahLst/>
              <a:cxnLst/>
              <a:rect r="r" b="b" t="t" l="l"/>
              <a:pathLst>
                <a:path h="4810125" w="8101330">
                  <a:moveTo>
                    <a:pt x="0" y="0"/>
                  </a:moveTo>
                  <a:lnTo>
                    <a:pt x="8101330" y="0"/>
                  </a:lnTo>
                  <a:lnTo>
                    <a:pt x="8101330" y="4810125"/>
                  </a:lnTo>
                  <a:lnTo>
                    <a:pt x="0" y="4810125"/>
                  </a:lnTo>
                  <a:lnTo>
                    <a:pt x="0" y="0"/>
                  </a:lnTo>
                  <a:close/>
                </a:path>
              </a:pathLst>
            </a:custGeom>
            <a:blipFill>
              <a:blip r:embed="rId4"/>
              <a:stretch>
                <a:fillRect l="-29" t="0" r="-28" b="0"/>
              </a:stretch>
            </a:blipFill>
          </p:spPr>
        </p:sp>
      </p:grpSp>
      <p:sp>
        <p:nvSpPr>
          <p:cNvPr name="TextBox 6" id="6"/>
          <p:cNvSpPr txBox="true"/>
          <p:nvPr/>
        </p:nvSpPr>
        <p:spPr>
          <a:xfrm rot="0">
            <a:off x="3637188" y="1161802"/>
            <a:ext cx="11013624" cy="654682"/>
          </a:xfrm>
          <a:prstGeom prst="rect">
            <a:avLst/>
          </a:prstGeom>
        </p:spPr>
        <p:txBody>
          <a:bodyPr anchor="t" rtlCol="false" tIns="0" lIns="0" bIns="0" rIns="0">
            <a:spAutoFit/>
          </a:bodyPr>
          <a:lstStyle/>
          <a:p>
            <a:pPr algn="ctr">
              <a:lnSpc>
                <a:spcPts val="4702"/>
              </a:lnSpc>
            </a:pPr>
            <a:r>
              <a:rPr lang="en-US" b="true" sz="3999">
                <a:solidFill>
                  <a:srgbClr val="FFFFFF"/>
                </a:solidFill>
                <a:latin typeface="Arial Bold"/>
                <a:ea typeface="Arial Bold"/>
                <a:cs typeface="Arial Bold"/>
                <a:sym typeface="Arial Bold"/>
              </a:rPr>
              <a:t>MONITOREO Y DETECCIÓN DE INTRUSOS</a:t>
            </a:r>
          </a:p>
        </p:txBody>
      </p:sp>
      <p:sp>
        <p:nvSpPr>
          <p:cNvPr name="TextBox 7" id="7"/>
          <p:cNvSpPr txBox="true"/>
          <p:nvPr/>
        </p:nvSpPr>
        <p:spPr>
          <a:xfrm rot="0">
            <a:off x="10129847" y="2839717"/>
            <a:ext cx="5072939" cy="4359907"/>
          </a:xfrm>
          <a:prstGeom prst="rect">
            <a:avLst/>
          </a:prstGeom>
        </p:spPr>
        <p:txBody>
          <a:bodyPr anchor="t" rtlCol="false" tIns="0" lIns="0" bIns="0" rIns="0">
            <a:spAutoFit/>
          </a:bodyPr>
          <a:lstStyle/>
          <a:p>
            <a:pPr algn="just">
              <a:lnSpc>
                <a:spcPts val="3624"/>
              </a:lnSpc>
            </a:pPr>
            <a:r>
              <a:rPr lang="en-US" sz="2000">
                <a:solidFill>
                  <a:srgbClr val="FFFFFF"/>
                </a:solidFill>
                <a:latin typeface="Arial"/>
                <a:ea typeface="Arial"/>
                <a:cs typeface="Arial"/>
                <a:sym typeface="Arial"/>
              </a:rPr>
              <a:t>Implementar sistemas de detección de intrusos (IDS) y herramientas de monitoreo en tiempo real para detectar actividades sospechosas en el almacenamiento y evitar brechas.</a:t>
            </a:r>
          </a:p>
          <a:p>
            <a:pPr algn="just">
              <a:lnSpc>
                <a:spcPts val="2536"/>
              </a:lnSpc>
            </a:pPr>
          </a:p>
          <a:p>
            <a:pPr algn="just">
              <a:lnSpc>
                <a:spcPts val="2536"/>
              </a:lnSpc>
            </a:pPr>
          </a:p>
          <a:p>
            <a:pPr algn="just">
              <a:lnSpc>
                <a:spcPts val="3624"/>
              </a:lnSpc>
            </a:pPr>
            <a:r>
              <a:rPr lang="en-US" sz="2000">
                <a:solidFill>
                  <a:srgbClr val="FFFFFF"/>
                </a:solidFill>
                <a:latin typeface="Arial"/>
                <a:ea typeface="Arial"/>
                <a:cs typeface="Arial"/>
                <a:sym typeface="Arial"/>
              </a:rPr>
              <a:t>Las herramientas de monitoreo permiten registrar quién accede a los datos, qué cambios se hacen y alertar en caso de comportamientos anómalos.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83787" y="2703509"/>
            <a:ext cx="8675513" cy="4879972"/>
            <a:chOff x="0" y="0"/>
            <a:chExt cx="11567350" cy="6506629"/>
          </a:xfrm>
        </p:grpSpPr>
        <p:sp>
          <p:nvSpPr>
            <p:cNvPr name="Freeform 5" id="5"/>
            <p:cNvSpPr/>
            <p:nvPr/>
          </p:nvSpPr>
          <p:spPr>
            <a:xfrm flipH="false" flipV="false" rot="0">
              <a:off x="0" y="0"/>
              <a:ext cx="11567414" cy="6506591"/>
            </a:xfrm>
            <a:custGeom>
              <a:avLst/>
              <a:gdLst/>
              <a:ahLst/>
              <a:cxnLst/>
              <a:rect r="r" b="b" t="t" l="l"/>
              <a:pathLst>
                <a:path h="6506591" w="11567414">
                  <a:moveTo>
                    <a:pt x="0" y="0"/>
                  </a:moveTo>
                  <a:lnTo>
                    <a:pt x="11567414" y="0"/>
                  </a:lnTo>
                  <a:lnTo>
                    <a:pt x="11567414" y="6506591"/>
                  </a:lnTo>
                  <a:lnTo>
                    <a:pt x="0" y="6506591"/>
                  </a:lnTo>
                  <a:lnTo>
                    <a:pt x="0" y="0"/>
                  </a:lnTo>
                  <a:close/>
                </a:path>
              </a:pathLst>
            </a:custGeom>
            <a:blipFill>
              <a:blip r:embed="rId4"/>
              <a:stretch>
                <a:fillRect l="0" t="0" r="0" b="0"/>
              </a:stretch>
            </a:blipFill>
          </p:spPr>
        </p:sp>
      </p:grpSp>
      <p:sp>
        <p:nvSpPr>
          <p:cNvPr name="TextBox 6" id="6"/>
          <p:cNvSpPr txBox="true"/>
          <p:nvPr/>
        </p:nvSpPr>
        <p:spPr>
          <a:xfrm rot="0">
            <a:off x="1427178" y="809625"/>
            <a:ext cx="8538486" cy="1424302"/>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Políticas de Retención y Eliminación de Datos</a:t>
            </a:r>
          </a:p>
        </p:txBody>
      </p:sp>
      <p:sp>
        <p:nvSpPr>
          <p:cNvPr name="TextBox 7" id="7"/>
          <p:cNvSpPr txBox="true"/>
          <p:nvPr/>
        </p:nvSpPr>
        <p:spPr>
          <a:xfrm rot="0">
            <a:off x="1427178" y="2700195"/>
            <a:ext cx="5072939" cy="5121907"/>
          </a:xfrm>
          <a:prstGeom prst="rect">
            <a:avLst/>
          </a:prstGeom>
        </p:spPr>
        <p:txBody>
          <a:bodyPr anchor="t" rtlCol="false" tIns="0" lIns="0" bIns="0" rIns="0">
            <a:spAutoFit/>
          </a:bodyPr>
          <a:lstStyle/>
          <a:p>
            <a:pPr algn="just" marL="457201" indent="-152400" lvl="2">
              <a:lnSpc>
                <a:spcPts val="3624"/>
              </a:lnSpc>
              <a:buFont typeface="Arial"/>
              <a:buChar char="⚬"/>
            </a:pPr>
            <a:r>
              <a:rPr lang="en-US" sz="2000">
                <a:solidFill>
                  <a:srgbClr val="FFFFFF"/>
                </a:solidFill>
                <a:latin typeface="Arial"/>
                <a:ea typeface="Arial"/>
                <a:cs typeface="Arial"/>
                <a:sym typeface="Arial"/>
              </a:rPr>
              <a:t>Definir políticas para la retención y eliminación de datos garantiza que solo se almacene la información necesaria y que los datos antiguos se destruyan de manera segura.</a:t>
            </a:r>
          </a:p>
          <a:p>
            <a:pPr algn="just" marL="320041" indent="-106680" lvl="2">
              <a:lnSpc>
                <a:spcPts val="2536"/>
              </a:lnSpc>
            </a:pPr>
          </a:p>
          <a:p>
            <a:pPr algn="just" marL="457201" indent="-152400" lvl="2">
              <a:lnSpc>
                <a:spcPts val="3624"/>
              </a:lnSpc>
              <a:buFont typeface="Arial"/>
              <a:buChar char="⚬"/>
            </a:pPr>
            <a:r>
              <a:rPr lang="en-US" sz="2000">
                <a:solidFill>
                  <a:srgbClr val="FFFFFF"/>
                </a:solidFill>
                <a:latin typeface="Arial"/>
                <a:ea typeface="Arial"/>
                <a:cs typeface="Arial"/>
                <a:sym typeface="Arial"/>
              </a:rPr>
              <a:t>Para eliminar datos, se emplean métodos como el borrado seguro o destrucción física, y en algunos casos, el borrado criptográfico, donde las claves de cifrado se eliminan para hacer inaccesible el contenido.</a:t>
            </a:r>
          </a:p>
          <a:p>
            <a:pPr algn="just" marL="320041" indent="-106680" lvl="2">
              <a:lnSpc>
                <a:spcPts val="2536"/>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236306" y="2398871"/>
            <a:ext cx="9248813" cy="5271821"/>
            <a:chOff x="0" y="0"/>
            <a:chExt cx="12331751" cy="7029094"/>
          </a:xfrm>
        </p:grpSpPr>
        <p:sp>
          <p:nvSpPr>
            <p:cNvPr name="Freeform 5" id="5"/>
            <p:cNvSpPr/>
            <p:nvPr/>
          </p:nvSpPr>
          <p:spPr>
            <a:xfrm flipH="false" flipV="false" rot="0">
              <a:off x="0" y="0"/>
              <a:ext cx="12331700" cy="7029069"/>
            </a:xfrm>
            <a:custGeom>
              <a:avLst/>
              <a:gdLst/>
              <a:ahLst/>
              <a:cxnLst/>
              <a:rect r="r" b="b" t="t" l="l"/>
              <a:pathLst>
                <a:path h="7029069" w="12331700">
                  <a:moveTo>
                    <a:pt x="0" y="0"/>
                  </a:moveTo>
                  <a:lnTo>
                    <a:pt x="12331700" y="0"/>
                  </a:lnTo>
                  <a:lnTo>
                    <a:pt x="12331700" y="7029069"/>
                  </a:lnTo>
                  <a:lnTo>
                    <a:pt x="0" y="7029069"/>
                  </a:lnTo>
                  <a:lnTo>
                    <a:pt x="0" y="0"/>
                  </a:lnTo>
                  <a:close/>
                </a:path>
              </a:pathLst>
            </a:custGeom>
            <a:blipFill>
              <a:blip r:embed="rId4"/>
              <a:stretch>
                <a:fillRect l="0" t="-32" r="0" b="-32"/>
              </a:stretch>
            </a:blipFill>
          </p:spPr>
        </p:sp>
      </p:grpSp>
      <p:sp>
        <p:nvSpPr>
          <p:cNvPr name="TextBox 6" id="6"/>
          <p:cNvSpPr txBox="true"/>
          <p:nvPr/>
        </p:nvSpPr>
        <p:spPr>
          <a:xfrm rot="0">
            <a:off x="1427178" y="809625"/>
            <a:ext cx="10666190" cy="824227"/>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Seguridad en Almacenamiento en la Nube</a:t>
            </a:r>
          </a:p>
        </p:txBody>
      </p:sp>
      <p:sp>
        <p:nvSpPr>
          <p:cNvPr name="TextBox 7" id="7"/>
          <p:cNvSpPr txBox="true"/>
          <p:nvPr/>
        </p:nvSpPr>
        <p:spPr>
          <a:xfrm rot="0">
            <a:off x="1427178" y="2700195"/>
            <a:ext cx="5072939" cy="4740907"/>
          </a:xfrm>
          <a:prstGeom prst="rect">
            <a:avLst/>
          </a:prstGeom>
        </p:spPr>
        <p:txBody>
          <a:bodyPr anchor="t" rtlCol="false" tIns="0" lIns="0" bIns="0" rIns="0">
            <a:spAutoFit/>
          </a:bodyPr>
          <a:lstStyle/>
          <a:p>
            <a:pPr algn="just" marL="457201" indent="-152400" lvl="2">
              <a:lnSpc>
                <a:spcPts val="3624"/>
              </a:lnSpc>
              <a:buFont typeface="Arial"/>
              <a:buChar char="⚬"/>
            </a:pPr>
            <a:r>
              <a:rPr lang="en-US" sz="2000">
                <a:solidFill>
                  <a:srgbClr val="FFFFFF"/>
                </a:solidFill>
                <a:latin typeface="Arial"/>
                <a:ea typeface="Arial"/>
                <a:cs typeface="Arial"/>
                <a:sym typeface="Arial"/>
              </a:rPr>
              <a:t>En el almacenamiento en la nube, es crucial validar la seguridad del proveedor. Asegúrate de que cumpla con normas de seguridad como ISO 27001, SOC 2, o GDPR.</a:t>
            </a:r>
          </a:p>
          <a:p>
            <a:pPr algn="just" marL="320041" indent="-106680" lvl="2">
              <a:lnSpc>
                <a:spcPts val="2536"/>
              </a:lnSpc>
            </a:pPr>
          </a:p>
          <a:p>
            <a:pPr algn="just" marL="457201" indent="-152400" lvl="2">
              <a:lnSpc>
                <a:spcPts val="3624"/>
              </a:lnSpc>
              <a:buFont typeface="Arial"/>
              <a:buChar char="⚬"/>
            </a:pPr>
            <a:r>
              <a:rPr lang="en-US" sz="2000">
                <a:solidFill>
                  <a:srgbClr val="FFFFFF"/>
                </a:solidFill>
                <a:latin typeface="Arial"/>
                <a:ea typeface="Arial"/>
                <a:cs typeface="Arial"/>
                <a:sym typeface="Arial"/>
              </a:rPr>
              <a:t>Revisa las políticas de cifrado del proveedor y opta por herramientas de cifrado de extremo a extremo, donde el proveedor no pueda acceder a las claves de cifrado.</a:t>
            </a:r>
          </a:p>
          <a:p>
            <a:pPr algn="just" marL="320041" indent="-106680" lvl="2">
              <a:lnSpc>
                <a:spcPts val="2536"/>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264004" y="2163442"/>
            <a:ext cx="8003591" cy="5960126"/>
            <a:chOff x="0" y="0"/>
            <a:chExt cx="10671454" cy="7946834"/>
          </a:xfrm>
        </p:grpSpPr>
        <p:sp>
          <p:nvSpPr>
            <p:cNvPr name="Freeform 5" id="5"/>
            <p:cNvSpPr/>
            <p:nvPr/>
          </p:nvSpPr>
          <p:spPr>
            <a:xfrm flipH="false" flipV="false" rot="0">
              <a:off x="0" y="0"/>
              <a:ext cx="10671429" cy="7946771"/>
            </a:xfrm>
            <a:custGeom>
              <a:avLst/>
              <a:gdLst/>
              <a:ahLst/>
              <a:cxnLst/>
              <a:rect r="r" b="b" t="t" l="l"/>
              <a:pathLst>
                <a:path h="7946771" w="10671429">
                  <a:moveTo>
                    <a:pt x="0" y="0"/>
                  </a:moveTo>
                  <a:lnTo>
                    <a:pt x="10671429" y="0"/>
                  </a:lnTo>
                  <a:lnTo>
                    <a:pt x="10671429" y="7946771"/>
                  </a:lnTo>
                  <a:lnTo>
                    <a:pt x="0" y="7946771"/>
                  </a:lnTo>
                  <a:lnTo>
                    <a:pt x="0" y="0"/>
                  </a:lnTo>
                  <a:close/>
                </a:path>
              </a:pathLst>
            </a:custGeom>
            <a:blipFill>
              <a:blip r:embed="rId4"/>
              <a:stretch>
                <a:fillRect l="0" t="0" r="0" b="0"/>
              </a:stretch>
            </a:blipFill>
          </p:spPr>
        </p:sp>
      </p:grpSp>
      <p:sp>
        <p:nvSpPr>
          <p:cNvPr name="TextBox 6" id="6"/>
          <p:cNvSpPr txBox="true"/>
          <p:nvPr/>
        </p:nvSpPr>
        <p:spPr>
          <a:xfrm rot="0">
            <a:off x="1427178" y="809625"/>
            <a:ext cx="9915125" cy="824227"/>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Políticas y Concienciación de Seguridad</a:t>
            </a:r>
          </a:p>
        </p:txBody>
      </p:sp>
      <p:sp>
        <p:nvSpPr>
          <p:cNvPr name="TextBox 7" id="7"/>
          <p:cNvSpPr txBox="true"/>
          <p:nvPr/>
        </p:nvSpPr>
        <p:spPr>
          <a:xfrm rot="0">
            <a:off x="1512160" y="2037474"/>
            <a:ext cx="5072939" cy="5502907"/>
          </a:xfrm>
          <a:prstGeom prst="rect">
            <a:avLst/>
          </a:prstGeom>
        </p:spPr>
        <p:txBody>
          <a:bodyPr anchor="t" rtlCol="false" tIns="0" lIns="0" bIns="0" rIns="0">
            <a:spAutoFit/>
          </a:bodyPr>
          <a:lstStyle/>
          <a:p>
            <a:pPr algn="just" marL="457201" indent="-152400" lvl="2">
              <a:lnSpc>
                <a:spcPts val="3624"/>
              </a:lnSpc>
              <a:buFont typeface="Arial"/>
              <a:buChar char="⚬"/>
            </a:pPr>
            <a:r>
              <a:rPr lang="en-US" sz="2000">
                <a:solidFill>
                  <a:srgbClr val="FFFFFF"/>
                </a:solidFill>
                <a:latin typeface="Arial"/>
                <a:ea typeface="Arial"/>
                <a:cs typeface="Arial"/>
                <a:sym typeface="Arial"/>
              </a:rPr>
              <a:t>Capacitar a los empleados sobre la importancia de la seguridad en almacenamiento de datos es esencial para reducir errores humanos, que suelen ser una de las principales causas de vulnerabilidades.</a:t>
            </a:r>
          </a:p>
          <a:p>
            <a:pPr algn="just" marL="320041" indent="-106680" lvl="2">
              <a:lnSpc>
                <a:spcPts val="2536"/>
              </a:lnSpc>
            </a:pPr>
          </a:p>
          <a:p>
            <a:pPr algn="just" marL="457201" indent="-152400" lvl="2">
              <a:lnSpc>
                <a:spcPts val="3624"/>
              </a:lnSpc>
              <a:buFont typeface="Arial"/>
              <a:buChar char="⚬"/>
            </a:pPr>
            <a:r>
              <a:rPr lang="en-US" sz="2000">
                <a:solidFill>
                  <a:srgbClr val="FFFFFF"/>
                </a:solidFill>
                <a:latin typeface="Arial"/>
                <a:ea typeface="Arial"/>
                <a:cs typeface="Arial"/>
                <a:sym typeface="Arial"/>
              </a:rPr>
              <a:t>Define políticas claras de almacenamiento y manejo de datos, incluyendo cómo deben manejarse los dispositivos de almacenamiento removibles y cómo gestionar el acceso a la información confidencial.</a:t>
            </a:r>
          </a:p>
          <a:p>
            <a:pPr algn="just" marL="320041" indent="-106680" lvl="2">
              <a:lnSpc>
                <a:spcPts val="2536"/>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3600421" y="4596013"/>
            <a:ext cx="11301260" cy="4139089"/>
            <a:chOff x="0" y="0"/>
            <a:chExt cx="15068347" cy="5518785"/>
          </a:xfrm>
        </p:grpSpPr>
        <p:sp>
          <p:nvSpPr>
            <p:cNvPr name="Freeform 5" id="5"/>
            <p:cNvSpPr/>
            <p:nvPr/>
          </p:nvSpPr>
          <p:spPr>
            <a:xfrm flipH="false" flipV="false" rot="0">
              <a:off x="0" y="0"/>
              <a:ext cx="15068296" cy="5518785"/>
            </a:xfrm>
            <a:custGeom>
              <a:avLst/>
              <a:gdLst/>
              <a:ahLst/>
              <a:cxnLst/>
              <a:rect r="r" b="b" t="t" l="l"/>
              <a:pathLst>
                <a:path h="5518785" w="15068296">
                  <a:moveTo>
                    <a:pt x="0" y="0"/>
                  </a:moveTo>
                  <a:lnTo>
                    <a:pt x="15068296" y="0"/>
                  </a:lnTo>
                  <a:lnTo>
                    <a:pt x="15068296" y="5518785"/>
                  </a:lnTo>
                  <a:lnTo>
                    <a:pt x="0" y="5518785"/>
                  </a:lnTo>
                  <a:lnTo>
                    <a:pt x="0" y="0"/>
                  </a:lnTo>
                  <a:close/>
                </a:path>
              </a:pathLst>
            </a:custGeom>
            <a:blipFill>
              <a:blip r:embed="rId4"/>
              <a:stretch>
                <a:fillRect l="0" t="-56" r="0" b="-56"/>
              </a:stretch>
            </a:blipFill>
          </p:spPr>
        </p:sp>
      </p:grpSp>
      <p:sp>
        <p:nvSpPr>
          <p:cNvPr name="TextBox 6" id="6"/>
          <p:cNvSpPr txBox="true"/>
          <p:nvPr/>
        </p:nvSpPr>
        <p:spPr>
          <a:xfrm rot="0">
            <a:off x="3342713" y="507044"/>
            <a:ext cx="11816686" cy="824227"/>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Implementación de Normas y Buenas Prácticas</a:t>
            </a:r>
          </a:p>
        </p:txBody>
      </p:sp>
      <p:sp>
        <p:nvSpPr>
          <p:cNvPr name="TextBox 7" id="7"/>
          <p:cNvSpPr txBox="true"/>
          <p:nvPr/>
        </p:nvSpPr>
        <p:spPr>
          <a:xfrm rot="0">
            <a:off x="2105130" y="1926593"/>
            <a:ext cx="5823356" cy="2073907"/>
          </a:xfrm>
          <a:prstGeom prst="rect">
            <a:avLst/>
          </a:prstGeom>
        </p:spPr>
        <p:txBody>
          <a:bodyPr anchor="t" rtlCol="false" tIns="0" lIns="0" bIns="0" rIns="0">
            <a:spAutoFit/>
          </a:bodyPr>
          <a:lstStyle/>
          <a:p>
            <a:pPr algn="just">
              <a:lnSpc>
                <a:spcPts val="3624"/>
              </a:lnSpc>
            </a:pPr>
            <a:r>
              <a:rPr lang="en-US" sz="2000">
                <a:solidFill>
                  <a:srgbClr val="FFFFFF"/>
                </a:solidFill>
                <a:latin typeface="Arial"/>
                <a:ea typeface="Arial"/>
                <a:cs typeface="Arial"/>
                <a:sym typeface="Arial"/>
              </a:rPr>
              <a:t>Adopta normas como ISO/IEC 27001, NIST y GDPR para definir un marco de trabajo que ayude a estandarizar la seguridad en el almacenamiento de información.</a:t>
            </a:r>
          </a:p>
          <a:p>
            <a:pPr algn="just">
              <a:lnSpc>
                <a:spcPts val="2536"/>
              </a:lnSpc>
            </a:pPr>
          </a:p>
        </p:txBody>
      </p:sp>
      <p:sp>
        <p:nvSpPr>
          <p:cNvPr name="TextBox 8" id="8"/>
          <p:cNvSpPr txBox="true"/>
          <p:nvPr/>
        </p:nvSpPr>
        <p:spPr>
          <a:xfrm rot="0">
            <a:off x="9251051" y="1926593"/>
            <a:ext cx="5823356" cy="1311907"/>
          </a:xfrm>
          <a:prstGeom prst="rect">
            <a:avLst/>
          </a:prstGeom>
        </p:spPr>
        <p:txBody>
          <a:bodyPr anchor="t" rtlCol="false" tIns="0" lIns="0" bIns="0" rIns="0">
            <a:spAutoFit/>
          </a:bodyPr>
          <a:lstStyle/>
          <a:p>
            <a:pPr algn="just">
              <a:lnSpc>
                <a:spcPts val="3624"/>
              </a:lnSpc>
            </a:pPr>
            <a:r>
              <a:rPr lang="en-US" sz="2000">
                <a:solidFill>
                  <a:srgbClr val="FFFFFF"/>
                </a:solidFill>
                <a:latin typeface="Arial"/>
                <a:ea typeface="Arial"/>
                <a:cs typeface="Arial"/>
                <a:sym typeface="Arial"/>
              </a:rPr>
              <a:t>Estas medidas fortalecen la seguridad de los datos en almacenamiento, protegiéndolos de accesos no autorizados, pérdida, y daños.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28700" y="4221794"/>
            <a:ext cx="16230600" cy="2662552"/>
          </a:xfrm>
          <a:prstGeom prst="rect">
            <a:avLst/>
          </a:prstGeom>
        </p:spPr>
        <p:txBody>
          <a:bodyPr anchor="t" rtlCol="false" tIns="0" lIns="0" bIns="0" rIns="0">
            <a:spAutoFit/>
          </a:bodyPr>
          <a:lstStyle/>
          <a:p>
            <a:pPr algn="ctr">
              <a:lnSpc>
                <a:spcPts val="10752"/>
              </a:lnSpc>
            </a:pPr>
            <a:r>
              <a:rPr lang="en-US" b="true" sz="8000">
                <a:solidFill>
                  <a:srgbClr val="FFFFFF"/>
                </a:solidFill>
                <a:latin typeface="Arial Bold"/>
                <a:ea typeface="Arial Bold"/>
                <a:cs typeface="Arial Bold"/>
                <a:sym typeface="Arial Bold"/>
              </a:rPr>
              <a:t>ELEMENTOS CLAVE DE LA SEGURIDAD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5621979"/>
            <a:ext cx="8293370" cy="4665021"/>
            <a:chOff x="0" y="0"/>
            <a:chExt cx="11057826" cy="6220028"/>
          </a:xfrm>
        </p:grpSpPr>
        <p:sp>
          <p:nvSpPr>
            <p:cNvPr name="Freeform 5" id="5"/>
            <p:cNvSpPr/>
            <p:nvPr/>
          </p:nvSpPr>
          <p:spPr>
            <a:xfrm flipH="false" flipV="false" rot="0">
              <a:off x="0" y="0"/>
              <a:ext cx="11057890" cy="6220079"/>
            </a:xfrm>
            <a:custGeom>
              <a:avLst/>
              <a:gdLst/>
              <a:ahLst/>
              <a:cxnLst/>
              <a:rect r="r" b="b" t="t" l="l"/>
              <a:pathLst>
                <a:path h="6220079" w="11057890">
                  <a:moveTo>
                    <a:pt x="0" y="0"/>
                  </a:moveTo>
                  <a:lnTo>
                    <a:pt x="11057890" y="0"/>
                  </a:lnTo>
                  <a:lnTo>
                    <a:pt x="11057890" y="6220079"/>
                  </a:lnTo>
                  <a:lnTo>
                    <a:pt x="0" y="6220079"/>
                  </a:lnTo>
                  <a:lnTo>
                    <a:pt x="0" y="0"/>
                  </a:lnTo>
                  <a:close/>
                </a:path>
              </a:pathLst>
            </a:custGeom>
            <a:blipFill>
              <a:blip r:embed="rId4"/>
              <a:stretch>
                <a:fillRect l="-35" t="0" r="-34" b="0"/>
              </a:stretch>
            </a:blipFill>
          </p:spPr>
        </p:sp>
      </p:grpSp>
      <p:sp>
        <p:nvSpPr>
          <p:cNvPr name="TextBox 6" id="6"/>
          <p:cNvSpPr txBox="true"/>
          <p:nvPr/>
        </p:nvSpPr>
        <p:spPr>
          <a:xfrm rot="0">
            <a:off x="1464240" y="895702"/>
            <a:ext cx="5709761" cy="941870"/>
          </a:xfrm>
          <a:prstGeom prst="rect">
            <a:avLst/>
          </a:prstGeom>
        </p:spPr>
        <p:txBody>
          <a:bodyPr anchor="t" rtlCol="false" tIns="0" lIns="0" bIns="0" rIns="0">
            <a:spAutoFit/>
          </a:bodyPr>
          <a:lstStyle/>
          <a:p>
            <a:pPr algn="l">
              <a:lnSpc>
                <a:spcPts val="6776"/>
              </a:lnSpc>
            </a:pPr>
            <a:r>
              <a:rPr lang="en-US" b="true" sz="4746">
                <a:solidFill>
                  <a:srgbClr val="FFFFFF"/>
                </a:solidFill>
                <a:latin typeface="Arial Bold"/>
                <a:ea typeface="Arial Bold"/>
                <a:cs typeface="Arial Bold"/>
                <a:sym typeface="Arial Bold"/>
              </a:rPr>
              <a:t>Confidencialidad</a:t>
            </a:r>
          </a:p>
        </p:txBody>
      </p:sp>
      <p:sp>
        <p:nvSpPr>
          <p:cNvPr name="TextBox 7" id="7"/>
          <p:cNvSpPr txBox="true"/>
          <p:nvPr/>
        </p:nvSpPr>
        <p:spPr>
          <a:xfrm rot="0">
            <a:off x="1464240" y="1822428"/>
            <a:ext cx="5709761" cy="3290326"/>
          </a:xfrm>
          <a:prstGeom prst="rect">
            <a:avLst/>
          </a:prstGeom>
        </p:spPr>
        <p:txBody>
          <a:bodyPr anchor="t" rtlCol="false" tIns="0" lIns="0" bIns="0" rIns="0">
            <a:spAutoFit/>
          </a:bodyPr>
          <a:lstStyle/>
          <a:p>
            <a:pPr algn="just">
              <a:lnSpc>
                <a:spcPts val="4299"/>
              </a:lnSpc>
            </a:pPr>
            <a:r>
              <a:rPr lang="en-US" sz="2373">
                <a:solidFill>
                  <a:srgbClr val="FFFFFF"/>
                </a:solidFill>
                <a:latin typeface="Arial"/>
                <a:ea typeface="Arial"/>
                <a:cs typeface="Arial"/>
                <a:sym typeface="Arial"/>
              </a:rPr>
              <a:t>La confidencialidad es el principio que garantiza que a la información solo pueden acceder las personas que dispongan de autorización, la cual se basa en la necesidad de conocer los datos necesarios para el desempeño de la actividad laboral</a:t>
            </a:r>
          </a:p>
        </p:txBody>
      </p:sp>
      <p:sp>
        <p:nvSpPr>
          <p:cNvPr name="TextBox 8" id="8"/>
          <p:cNvSpPr txBox="true"/>
          <p:nvPr/>
        </p:nvSpPr>
        <p:spPr>
          <a:xfrm rot="0">
            <a:off x="8293370" y="2930271"/>
            <a:ext cx="8965930" cy="5081026"/>
          </a:xfrm>
          <a:prstGeom prst="rect">
            <a:avLst/>
          </a:prstGeom>
        </p:spPr>
        <p:txBody>
          <a:bodyPr anchor="t" rtlCol="false" tIns="0" lIns="0" bIns="0" rIns="0">
            <a:spAutoFit/>
          </a:bodyPr>
          <a:lstStyle/>
          <a:p>
            <a:pPr algn="just" marL="542475" indent="-180825" lvl="2">
              <a:lnSpc>
                <a:spcPts val="4299"/>
              </a:lnSpc>
              <a:buFont typeface="Arial"/>
              <a:buChar char="⚬"/>
            </a:pPr>
            <a:r>
              <a:rPr lang="en-US" sz="2373">
                <a:solidFill>
                  <a:srgbClr val="FFFFFF"/>
                </a:solidFill>
                <a:latin typeface="Arial"/>
                <a:ea typeface="Arial"/>
                <a:cs typeface="Arial"/>
                <a:sym typeface="Arial"/>
              </a:rPr>
              <a:t>Propósito: Asegura que la información solo esté accesible a las personas autorizadas y evita el acceso no autorizado.</a:t>
            </a:r>
          </a:p>
          <a:p>
            <a:pPr algn="just" marL="542475" indent="-180825" lvl="2">
              <a:lnSpc>
                <a:spcPts val="4299"/>
              </a:lnSpc>
              <a:buFont typeface="Arial"/>
              <a:buChar char="⚬"/>
            </a:pPr>
            <a:r>
              <a:rPr lang="en-US" sz="2373">
                <a:solidFill>
                  <a:srgbClr val="FFFFFF"/>
                </a:solidFill>
                <a:latin typeface="Arial"/>
                <a:ea typeface="Arial"/>
                <a:cs typeface="Arial"/>
                <a:sym typeface="Arial"/>
              </a:rPr>
              <a:t>Medidas clave: Se implementan mecanismos como el cifrado de datos, control de acceso basado en roles (RBAC), autenticación multifactor (MFA), y políticas de manejo de contraseñas para limitar el acceso a la información.</a:t>
            </a:r>
          </a:p>
          <a:p>
            <a:pPr algn="just" marL="542475" indent="-180825" lvl="2">
              <a:lnSpc>
                <a:spcPts val="4299"/>
              </a:lnSpc>
              <a:buFont typeface="Arial"/>
              <a:buChar char="⚬"/>
            </a:pPr>
            <a:r>
              <a:rPr lang="en-US" sz="2373">
                <a:solidFill>
                  <a:srgbClr val="FFFFFF"/>
                </a:solidFill>
                <a:latin typeface="Arial"/>
                <a:ea typeface="Arial"/>
                <a:cs typeface="Arial"/>
                <a:sym typeface="Arial"/>
              </a:rPr>
              <a:t>Ejemplos: El cifrado de correos electrónicos o datos sensibles, y la aplicación de permisos específicos en sistemas.</a:t>
            </a:r>
          </a:p>
          <a:p>
            <a:pPr algn="just" marL="320045" indent="-106682" lvl="2">
              <a:lnSpc>
                <a:spcPts val="2536"/>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5713552"/>
            <a:ext cx="8130578" cy="4573448"/>
            <a:chOff x="0" y="0"/>
            <a:chExt cx="10840771" cy="6097930"/>
          </a:xfrm>
        </p:grpSpPr>
        <p:sp>
          <p:nvSpPr>
            <p:cNvPr name="Freeform 5" id="5"/>
            <p:cNvSpPr/>
            <p:nvPr/>
          </p:nvSpPr>
          <p:spPr>
            <a:xfrm flipH="false" flipV="false" rot="0">
              <a:off x="0" y="0"/>
              <a:ext cx="10840720" cy="6097905"/>
            </a:xfrm>
            <a:custGeom>
              <a:avLst/>
              <a:gdLst/>
              <a:ahLst/>
              <a:cxnLst/>
              <a:rect r="r" b="b" t="t" l="l"/>
              <a:pathLst>
                <a:path h="6097905" w="10840720">
                  <a:moveTo>
                    <a:pt x="0" y="0"/>
                  </a:moveTo>
                  <a:lnTo>
                    <a:pt x="10840720" y="0"/>
                  </a:lnTo>
                  <a:lnTo>
                    <a:pt x="10840720" y="6097905"/>
                  </a:lnTo>
                  <a:lnTo>
                    <a:pt x="0" y="6097905"/>
                  </a:lnTo>
                  <a:lnTo>
                    <a:pt x="0" y="0"/>
                  </a:lnTo>
                  <a:close/>
                </a:path>
              </a:pathLst>
            </a:custGeom>
            <a:blipFill>
              <a:blip r:embed="rId4"/>
              <a:stretch>
                <a:fillRect l="-35" t="0" r="-35" b="0"/>
              </a:stretch>
            </a:blipFill>
          </p:spPr>
        </p:sp>
      </p:grpSp>
      <p:sp>
        <p:nvSpPr>
          <p:cNvPr name="TextBox 6" id="6"/>
          <p:cNvSpPr txBox="true"/>
          <p:nvPr/>
        </p:nvSpPr>
        <p:spPr>
          <a:xfrm rot="0">
            <a:off x="1360541" y="273510"/>
            <a:ext cx="5709761" cy="941870"/>
          </a:xfrm>
          <a:prstGeom prst="rect">
            <a:avLst/>
          </a:prstGeom>
        </p:spPr>
        <p:txBody>
          <a:bodyPr anchor="t" rtlCol="false" tIns="0" lIns="0" bIns="0" rIns="0">
            <a:spAutoFit/>
          </a:bodyPr>
          <a:lstStyle/>
          <a:p>
            <a:pPr algn="l">
              <a:lnSpc>
                <a:spcPts val="6776"/>
              </a:lnSpc>
            </a:pPr>
            <a:r>
              <a:rPr lang="en-US" b="true" sz="4746">
                <a:solidFill>
                  <a:srgbClr val="FFFFFF"/>
                </a:solidFill>
                <a:latin typeface="Arial Bold"/>
                <a:ea typeface="Arial Bold"/>
                <a:cs typeface="Arial Bold"/>
                <a:sym typeface="Arial Bold"/>
              </a:rPr>
              <a:t>Integridad</a:t>
            </a:r>
          </a:p>
        </p:txBody>
      </p:sp>
      <p:sp>
        <p:nvSpPr>
          <p:cNvPr name="TextBox 7" id="7"/>
          <p:cNvSpPr txBox="true"/>
          <p:nvPr/>
        </p:nvSpPr>
        <p:spPr>
          <a:xfrm rot="0">
            <a:off x="1360541" y="1200226"/>
            <a:ext cx="5709761" cy="4185676"/>
          </a:xfrm>
          <a:prstGeom prst="rect">
            <a:avLst/>
          </a:prstGeom>
        </p:spPr>
        <p:txBody>
          <a:bodyPr anchor="t" rtlCol="false" tIns="0" lIns="0" bIns="0" rIns="0">
            <a:spAutoFit/>
          </a:bodyPr>
          <a:lstStyle/>
          <a:p>
            <a:pPr algn="just">
              <a:lnSpc>
                <a:spcPts val="4299"/>
              </a:lnSpc>
            </a:pPr>
            <a:r>
              <a:rPr lang="en-US" sz="2373">
                <a:solidFill>
                  <a:srgbClr val="FFFFFF"/>
                </a:solidFill>
                <a:latin typeface="Arial"/>
                <a:ea typeface="Arial"/>
                <a:cs typeface="Arial"/>
                <a:sym typeface="Arial"/>
              </a:rPr>
              <a:t>La integridad implica mantener la exactitud y completitud de la información. Garantiza que los datos no sean alterados de forma no autorizada durante su almacenamiento, procesamiento o transmisión. La integridad de la información es vital para asegurar que los datos sean confiables y no estén corruptos.</a:t>
            </a:r>
          </a:p>
        </p:txBody>
      </p:sp>
      <p:sp>
        <p:nvSpPr>
          <p:cNvPr name="TextBox 8" id="8"/>
          <p:cNvSpPr txBox="true"/>
          <p:nvPr/>
        </p:nvSpPr>
        <p:spPr>
          <a:xfrm rot="0">
            <a:off x="8293370" y="2954426"/>
            <a:ext cx="8965930" cy="5081026"/>
          </a:xfrm>
          <a:prstGeom prst="rect">
            <a:avLst/>
          </a:prstGeom>
        </p:spPr>
        <p:txBody>
          <a:bodyPr anchor="t" rtlCol="false" tIns="0" lIns="0" bIns="0" rIns="0">
            <a:spAutoFit/>
          </a:bodyPr>
          <a:lstStyle/>
          <a:p>
            <a:pPr algn="just" marL="542475" indent="-180825" lvl="2">
              <a:lnSpc>
                <a:spcPts val="4299"/>
              </a:lnSpc>
              <a:buFont typeface="Arial"/>
              <a:buChar char="⚬"/>
            </a:pPr>
            <a:r>
              <a:rPr lang="en-US" sz="2373">
                <a:solidFill>
                  <a:srgbClr val="FFFFFF"/>
                </a:solidFill>
                <a:latin typeface="Arial"/>
                <a:ea typeface="Arial"/>
                <a:cs typeface="Arial"/>
                <a:sym typeface="Arial"/>
              </a:rPr>
              <a:t>Propósito: Garantiza que la información se mantenga exacta, completa y sin alteraciones no autorizadas, preservando su veracidad a lo largo del tiempo.</a:t>
            </a:r>
          </a:p>
          <a:p>
            <a:pPr algn="just" marL="542475" indent="-180825" lvl="2">
              <a:lnSpc>
                <a:spcPts val="4299"/>
              </a:lnSpc>
              <a:buFont typeface="Arial"/>
              <a:buChar char="⚬"/>
            </a:pPr>
            <a:r>
              <a:rPr lang="en-US" sz="2373">
                <a:solidFill>
                  <a:srgbClr val="FFFFFF"/>
                </a:solidFill>
                <a:latin typeface="Arial"/>
                <a:ea typeface="Arial"/>
                <a:cs typeface="Arial"/>
                <a:sym typeface="Arial"/>
              </a:rPr>
              <a:t>Medidas clave: La implementación de firmas digitales, códigos de verificación de integridad (checksums), controles de acceso y hashing son técnicas comunes para mantener la integridad.</a:t>
            </a:r>
          </a:p>
          <a:p>
            <a:pPr algn="just" marL="542475" indent="-180825" lvl="2">
              <a:lnSpc>
                <a:spcPts val="4299"/>
              </a:lnSpc>
              <a:buFont typeface="Arial"/>
              <a:buChar char="⚬"/>
            </a:pPr>
            <a:r>
              <a:rPr lang="en-US" sz="2373">
                <a:solidFill>
                  <a:srgbClr val="FFFFFF"/>
                </a:solidFill>
                <a:latin typeface="Arial"/>
                <a:ea typeface="Arial"/>
                <a:cs typeface="Arial"/>
                <a:sym typeface="Arial"/>
              </a:rPr>
              <a:t>Ejemplos: Los sistemas bancarios utilizan controles de integridad para asegurar que las transacciones no sean manipuladas durante su procesamiento.</a:t>
            </a:r>
          </a:p>
          <a:p>
            <a:pPr algn="just" marL="320045" indent="-106682" lvl="2">
              <a:lnSpc>
                <a:spcPts val="2536"/>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8293370" y="2930271"/>
            <a:ext cx="8965930" cy="5081026"/>
          </a:xfrm>
          <a:prstGeom prst="rect">
            <a:avLst/>
          </a:prstGeom>
        </p:spPr>
        <p:txBody>
          <a:bodyPr anchor="t" rtlCol="false" tIns="0" lIns="0" bIns="0" rIns="0">
            <a:spAutoFit/>
          </a:bodyPr>
          <a:lstStyle/>
          <a:p>
            <a:pPr algn="just" marL="542475" indent="-180825" lvl="2">
              <a:lnSpc>
                <a:spcPts val="4299"/>
              </a:lnSpc>
              <a:buFont typeface="Arial"/>
              <a:buChar char="⚬"/>
            </a:pPr>
            <a:r>
              <a:rPr lang="en-US" sz="2373">
                <a:solidFill>
                  <a:srgbClr val="FFFFFF"/>
                </a:solidFill>
                <a:latin typeface="Arial"/>
                <a:ea typeface="Arial"/>
                <a:cs typeface="Arial"/>
                <a:sym typeface="Arial"/>
              </a:rPr>
              <a:t>Propósito: Asegura que la información esté accesible cuando se necesite y que los sistemas funcionen de manera continua.</a:t>
            </a:r>
          </a:p>
          <a:p>
            <a:pPr algn="just" marL="542475" indent="-180825" lvl="2">
              <a:lnSpc>
                <a:spcPts val="4299"/>
              </a:lnSpc>
              <a:buFont typeface="Arial"/>
              <a:buChar char="⚬"/>
            </a:pPr>
            <a:r>
              <a:rPr lang="en-US" sz="2373">
                <a:solidFill>
                  <a:srgbClr val="FFFFFF"/>
                </a:solidFill>
                <a:latin typeface="Arial"/>
                <a:ea typeface="Arial"/>
                <a:cs typeface="Arial"/>
                <a:sym typeface="Arial"/>
              </a:rPr>
              <a:t>Medidas clave: La disponibilidad se fortalece con copias de seguridad, redundancia de sistemas y datos, recuperación ante desastres y protección contra ataques de denegación de servicio (DDoS).</a:t>
            </a:r>
          </a:p>
          <a:p>
            <a:pPr algn="just" marL="542475" indent="-180825" lvl="2">
              <a:lnSpc>
                <a:spcPts val="4299"/>
              </a:lnSpc>
              <a:buFont typeface="Arial"/>
              <a:buChar char="⚬"/>
            </a:pPr>
            <a:r>
              <a:rPr lang="en-US" sz="2373">
                <a:solidFill>
                  <a:srgbClr val="FFFFFF"/>
                </a:solidFill>
                <a:latin typeface="Arial"/>
                <a:ea typeface="Arial"/>
                <a:cs typeface="Arial"/>
                <a:sym typeface="Arial"/>
              </a:rPr>
              <a:t>Ejemplos: Servicios en la nube que replican datos en varios servidores para evitar interrupciones y garantizar el acceso ininterrumpido.</a:t>
            </a:r>
          </a:p>
          <a:p>
            <a:pPr algn="just" marL="320045" indent="-106682" lvl="2">
              <a:lnSpc>
                <a:spcPts val="2536"/>
              </a:lnSpc>
            </a:pPr>
          </a:p>
        </p:txBody>
      </p:sp>
      <p:grpSp>
        <p:nvGrpSpPr>
          <p:cNvPr name="Group 5" id="5"/>
          <p:cNvGrpSpPr/>
          <p:nvPr/>
        </p:nvGrpSpPr>
        <p:grpSpPr>
          <a:xfrm rot="0">
            <a:off x="0" y="3141802"/>
            <a:ext cx="8130578" cy="4573448"/>
            <a:chOff x="0" y="0"/>
            <a:chExt cx="10840771" cy="6097930"/>
          </a:xfrm>
        </p:grpSpPr>
        <p:sp>
          <p:nvSpPr>
            <p:cNvPr name="Freeform 6" id="6"/>
            <p:cNvSpPr/>
            <p:nvPr/>
          </p:nvSpPr>
          <p:spPr>
            <a:xfrm flipH="false" flipV="false" rot="0">
              <a:off x="0" y="0"/>
              <a:ext cx="10840720" cy="6097905"/>
            </a:xfrm>
            <a:custGeom>
              <a:avLst/>
              <a:gdLst/>
              <a:ahLst/>
              <a:cxnLst/>
              <a:rect r="r" b="b" t="t" l="l"/>
              <a:pathLst>
                <a:path h="6097905" w="10840720">
                  <a:moveTo>
                    <a:pt x="0" y="0"/>
                  </a:moveTo>
                  <a:lnTo>
                    <a:pt x="10840720" y="0"/>
                  </a:lnTo>
                  <a:lnTo>
                    <a:pt x="10840720" y="6097905"/>
                  </a:lnTo>
                  <a:lnTo>
                    <a:pt x="0" y="6097905"/>
                  </a:lnTo>
                  <a:lnTo>
                    <a:pt x="0" y="0"/>
                  </a:lnTo>
                  <a:close/>
                </a:path>
              </a:pathLst>
            </a:custGeom>
            <a:blipFill>
              <a:blip r:embed="rId4"/>
              <a:stretch>
                <a:fillRect l="-35" t="0" r="-35" b="0"/>
              </a:stretch>
            </a:blipFill>
          </p:spPr>
        </p:sp>
      </p:grpSp>
      <p:sp>
        <p:nvSpPr>
          <p:cNvPr name="TextBox 7" id="7"/>
          <p:cNvSpPr txBox="true"/>
          <p:nvPr/>
        </p:nvSpPr>
        <p:spPr>
          <a:xfrm rot="0">
            <a:off x="8915810" y="771525"/>
            <a:ext cx="4106599" cy="977579"/>
          </a:xfrm>
          <a:prstGeom prst="rect">
            <a:avLst/>
          </a:prstGeom>
        </p:spPr>
        <p:txBody>
          <a:bodyPr anchor="t" rtlCol="false" tIns="0" lIns="0" bIns="0" rIns="0">
            <a:spAutoFit/>
          </a:bodyPr>
          <a:lstStyle/>
          <a:p>
            <a:pPr algn="ctr">
              <a:lnSpc>
                <a:spcPts val="6776"/>
              </a:lnSpc>
            </a:pPr>
            <a:r>
              <a:rPr lang="en-US" b="true" sz="4746">
                <a:solidFill>
                  <a:srgbClr val="FFFFFF"/>
                </a:solidFill>
                <a:latin typeface="Arial Bold"/>
                <a:ea typeface="Arial Bold"/>
                <a:cs typeface="Arial Bold"/>
                <a:sym typeface="Arial Bold"/>
              </a:rPr>
              <a:t>Disponibilidad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8293370" y="2930271"/>
            <a:ext cx="8965930" cy="5081026"/>
          </a:xfrm>
          <a:prstGeom prst="rect">
            <a:avLst/>
          </a:prstGeom>
        </p:spPr>
        <p:txBody>
          <a:bodyPr anchor="t" rtlCol="false" tIns="0" lIns="0" bIns="0" rIns="0">
            <a:spAutoFit/>
          </a:bodyPr>
          <a:lstStyle/>
          <a:p>
            <a:pPr algn="just" marL="542475" indent="-180825" lvl="2">
              <a:lnSpc>
                <a:spcPts val="4299"/>
              </a:lnSpc>
              <a:buFont typeface="Arial"/>
              <a:buChar char="⚬"/>
            </a:pPr>
            <a:r>
              <a:rPr lang="en-US" sz="2373">
                <a:solidFill>
                  <a:srgbClr val="FFFFFF"/>
                </a:solidFill>
                <a:latin typeface="Arial"/>
                <a:ea typeface="Arial"/>
                <a:cs typeface="Arial"/>
                <a:sym typeface="Arial"/>
              </a:rPr>
              <a:t>Propósito: Verifica que los usuarios y los datos sean genuinos y no hayan sido manipulados, lo que evita suplantaciones de identidad y asegura la fuente de la información.</a:t>
            </a:r>
          </a:p>
          <a:p>
            <a:pPr algn="just" marL="542475" indent="-180825" lvl="2">
              <a:lnSpc>
                <a:spcPts val="4299"/>
              </a:lnSpc>
              <a:buFont typeface="Arial"/>
              <a:buChar char="⚬"/>
            </a:pPr>
            <a:r>
              <a:rPr lang="en-US" sz="2373">
                <a:solidFill>
                  <a:srgbClr val="FFFFFF"/>
                </a:solidFill>
                <a:latin typeface="Arial"/>
                <a:ea typeface="Arial"/>
                <a:cs typeface="Arial"/>
                <a:sym typeface="Arial"/>
              </a:rPr>
              <a:t>Medidas clave: Para autenticar identidades y datos se utilizan certificados digitales, autenticación multifactor y tokens de seguridad.</a:t>
            </a:r>
          </a:p>
          <a:p>
            <a:pPr algn="just" marL="542475" indent="-180825" lvl="2">
              <a:lnSpc>
                <a:spcPts val="4299"/>
              </a:lnSpc>
              <a:buFont typeface="Arial"/>
              <a:buChar char="⚬"/>
            </a:pPr>
            <a:r>
              <a:rPr lang="en-US" sz="2373">
                <a:solidFill>
                  <a:srgbClr val="FFFFFF"/>
                </a:solidFill>
                <a:latin typeface="Arial"/>
                <a:ea typeface="Arial"/>
                <a:cs typeface="Arial"/>
                <a:sym typeface="Arial"/>
              </a:rPr>
              <a:t>Ejemplos: Un usuario inicia sesión en un sistema con una contraseña y un código enviado a su teléfono, autenticándose como una persona autorizada.</a:t>
            </a:r>
          </a:p>
          <a:p>
            <a:pPr algn="just" marL="320045" indent="-106682" lvl="2">
              <a:lnSpc>
                <a:spcPts val="2536"/>
              </a:lnSpc>
            </a:pPr>
          </a:p>
        </p:txBody>
      </p:sp>
      <p:grpSp>
        <p:nvGrpSpPr>
          <p:cNvPr name="Group 5" id="5"/>
          <p:cNvGrpSpPr/>
          <p:nvPr/>
        </p:nvGrpSpPr>
        <p:grpSpPr>
          <a:xfrm rot="0">
            <a:off x="0" y="3141802"/>
            <a:ext cx="8130578" cy="4573448"/>
            <a:chOff x="0" y="0"/>
            <a:chExt cx="10840771" cy="6097930"/>
          </a:xfrm>
        </p:grpSpPr>
        <p:sp>
          <p:nvSpPr>
            <p:cNvPr name="Freeform 6" id="6"/>
            <p:cNvSpPr/>
            <p:nvPr/>
          </p:nvSpPr>
          <p:spPr>
            <a:xfrm flipH="false" flipV="false" rot="0">
              <a:off x="0" y="0"/>
              <a:ext cx="10840720" cy="6097905"/>
            </a:xfrm>
            <a:custGeom>
              <a:avLst/>
              <a:gdLst/>
              <a:ahLst/>
              <a:cxnLst/>
              <a:rect r="r" b="b" t="t" l="l"/>
              <a:pathLst>
                <a:path h="6097905" w="10840720">
                  <a:moveTo>
                    <a:pt x="0" y="0"/>
                  </a:moveTo>
                  <a:lnTo>
                    <a:pt x="10840720" y="0"/>
                  </a:lnTo>
                  <a:lnTo>
                    <a:pt x="10840720" y="6097905"/>
                  </a:lnTo>
                  <a:lnTo>
                    <a:pt x="0" y="6097905"/>
                  </a:lnTo>
                  <a:lnTo>
                    <a:pt x="0" y="0"/>
                  </a:lnTo>
                  <a:close/>
                </a:path>
              </a:pathLst>
            </a:custGeom>
            <a:blipFill>
              <a:blip r:embed="rId4"/>
              <a:stretch>
                <a:fillRect l="-35" t="0" r="-35" b="0"/>
              </a:stretch>
            </a:blipFill>
          </p:spPr>
        </p:sp>
      </p:grpSp>
      <p:sp>
        <p:nvSpPr>
          <p:cNvPr name="TextBox 7" id="7"/>
          <p:cNvSpPr txBox="true"/>
          <p:nvPr/>
        </p:nvSpPr>
        <p:spPr>
          <a:xfrm rot="0">
            <a:off x="9030976" y="771525"/>
            <a:ext cx="3876275" cy="977579"/>
          </a:xfrm>
          <a:prstGeom prst="rect">
            <a:avLst/>
          </a:prstGeom>
        </p:spPr>
        <p:txBody>
          <a:bodyPr anchor="t" rtlCol="false" tIns="0" lIns="0" bIns="0" rIns="0">
            <a:spAutoFit/>
          </a:bodyPr>
          <a:lstStyle/>
          <a:p>
            <a:pPr algn="ctr">
              <a:lnSpc>
                <a:spcPts val="6776"/>
              </a:lnSpc>
            </a:pPr>
            <a:r>
              <a:rPr lang="en-US" b="true" sz="4746">
                <a:solidFill>
                  <a:srgbClr val="FFFFFF"/>
                </a:solidFill>
                <a:latin typeface="Arial Bold"/>
                <a:ea typeface="Arial Bold"/>
                <a:cs typeface="Arial Bold"/>
                <a:sym typeface="Arial Bold"/>
              </a:rPr>
              <a:t>Autenticidad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8293370" y="2930271"/>
            <a:ext cx="8965930" cy="5081026"/>
          </a:xfrm>
          <a:prstGeom prst="rect">
            <a:avLst/>
          </a:prstGeom>
        </p:spPr>
        <p:txBody>
          <a:bodyPr anchor="t" rtlCol="false" tIns="0" lIns="0" bIns="0" rIns="0">
            <a:spAutoFit/>
          </a:bodyPr>
          <a:lstStyle/>
          <a:p>
            <a:pPr algn="just" marL="542475" indent="-180825" lvl="2">
              <a:lnSpc>
                <a:spcPts val="4299"/>
              </a:lnSpc>
              <a:buFont typeface="Arial"/>
              <a:buChar char="⚬"/>
            </a:pPr>
            <a:r>
              <a:rPr lang="en-US" sz="2373">
                <a:solidFill>
                  <a:srgbClr val="FFFFFF"/>
                </a:solidFill>
                <a:latin typeface="Arial"/>
                <a:ea typeface="Arial"/>
                <a:cs typeface="Arial"/>
                <a:sym typeface="Arial"/>
              </a:rPr>
              <a:t>Propósito: Asegura que todas las acciones en el sistema puedan ser rastreadas hasta los usuarios y dispositivos responsables, promoviendo transparencia y cumplimiento.</a:t>
            </a:r>
          </a:p>
          <a:p>
            <a:pPr algn="just" marL="542475" indent="-180825" lvl="2">
              <a:lnSpc>
                <a:spcPts val="4299"/>
              </a:lnSpc>
              <a:buFont typeface="Arial"/>
              <a:buChar char="⚬"/>
            </a:pPr>
            <a:r>
              <a:rPr lang="en-US" sz="2373">
                <a:solidFill>
                  <a:srgbClr val="FFFFFF"/>
                </a:solidFill>
                <a:latin typeface="Arial"/>
                <a:ea typeface="Arial"/>
                <a:cs typeface="Arial"/>
                <a:sym typeface="Arial"/>
              </a:rPr>
              <a:t>Medidas clave: El registro de auditorías y logs de actividad permiten rastrear cambios y accesos, mientras que las políticas de retención de registros ayudan a mantener esta información disponible.</a:t>
            </a:r>
          </a:p>
          <a:p>
            <a:pPr algn="just" marL="542475" indent="-180825" lvl="2">
              <a:lnSpc>
                <a:spcPts val="4299"/>
              </a:lnSpc>
              <a:buFont typeface="Arial"/>
              <a:buChar char="⚬"/>
            </a:pPr>
            <a:r>
              <a:rPr lang="en-US" sz="2373">
                <a:solidFill>
                  <a:srgbClr val="FFFFFF"/>
                </a:solidFill>
                <a:latin typeface="Arial"/>
                <a:ea typeface="Arial"/>
                <a:cs typeface="Arial"/>
                <a:sym typeface="Arial"/>
              </a:rPr>
              <a:t>Ejemplos: En un sistema bancario, cada operación realizada por un empleado queda registrada, lo que permite rastrear las acciones en caso de inconsistencias o problemas.</a:t>
            </a:r>
          </a:p>
          <a:p>
            <a:pPr algn="just" marL="320045" indent="-106682" lvl="2">
              <a:lnSpc>
                <a:spcPts val="2536"/>
              </a:lnSpc>
            </a:pPr>
          </a:p>
        </p:txBody>
      </p:sp>
      <p:grpSp>
        <p:nvGrpSpPr>
          <p:cNvPr name="Group 5" id="5"/>
          <p:cNvGrpSpPr/>
          <p:nvPr/>
        </p:nvGrpSpPr>
        <p:grpSpPr>
          <a:xfrm rot="0">
            <a:off x="0" y="3141802"/>
            <a:ext cx="8130578" cy="4573448"/>
            <a:chOff x="0" y="0"/>
            <a:chExt cx="10840771" cy="6097930"/>
          </a:xfrm>
        </p:grpSpPr>
        <p:sp>
          <p:nvSpPr>
            <p:cNvPr name="Freeform 6" id="6"/>
            <p:cNvSpPr/>
            <p:nvPr/>
          </p:nvSpPr>
          <p:spPr>
            <a:xfrm flipH="false" flipV="false" rot="0">
              <a:off x="0" y="0"/>
              <a:ext cx="10840720" cy="6097905"/>
            </a:xfrm>
            <a:custGeom>
              <a:avLst/>
              <a:gdLst/>
              <a:ahLst/>
              <a:cxnLst/>
              <a:rect r="r" b="b" t="t" l="l"/>
              <a:pathLst>
                <a:path h="6097905" w="10840720">
                  <a:moveTo>
                    <a:pt x="0" y="0"/>
                  </a:moveTo>
                  <a:lnTo>
                    <a:pt x="10840720" y="0"/>
                  </a:lnTo>
                  <a:lnTo>
                    <a:pt x="10840720" y="6097905"/>
                  </a:lnTo>
                  <a:lnTo>
                    <a:pt x="0" y="6097905"/>
                  </a:lnTo>
                  <a:lnTo>
                    <a:pt x="0" y="0"/>
                  </a:lnTo>
                  <a:close/>
                </a:path>
              </a:pathLst>
            </a:custGeom>
            <a:blipFill>
              <a:blip r:embed="rId4"/>
              <a:stretch>
                <a:fillRect l="-35" t="0" r="-35" b="0"/>
              </a:stretch>
            </a:blipFill>
          </p:spPr>
        </p:sp>
      </p:grpSp>
      <p:sp>
        <p:nvSpPr>
          <p:cNvPr name="TextBox 7" id="7"/>
          <p:cNvSpPr txBox="true"/>
          <p:nvPr/>
        </p:nvSpPr>
        <p:spPr>
          <a:xfrm rot="0">
            <a:off x="6214129" y="771525"/>
            <a:ext cx="4864237" cy="977579"/>
          </a:xfrm>
          <a:prstGeom prst="rect">
            <a:avLst/>
          </a:prstGeom>
        </p:spPr>
        <p:txBody>
          <a:bodyPr anchor="t" rtlCol="false" tIns="0" lIns="0" bIns="0" rIns="0">
            <a:spAutoFit/>
          </a:bodyPr>
          <a:lstStyle/>
          <a:p>
            <a:pPr algn="ctr">
              <a:lnSpc>
                <a:spcPts val="6776"/>
              </a:lnSpc>
            </a:pPr>
            <a:r>
              <a:rPr lang="en-US" b="true" sz="4746">
                <a:solidFill>
                  <a:srgbClr val="FFFFFF"/>
                </a:solidFill>
                <a:latin typeface="Arial Bold"/>
                <a:ea typeface="Arial Bold"/>
                <a:cs typeface="Arial Bold"/>
                <a:sym typeface="Arial Bold"/>
              </a:rPr>
              <a:t>Responsabilidad</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1022359" y="7324582"/>
            <a:ext cx="5127327" cy="2235203"/>
          </a:xfrm>
          <a:prstGeom prst="rect">
            <a:avLst/>
          </a:prstGeom>
        </p:spPr>
        <p:txBody>
          <a:bodyPr anchor="t" rtlCol="false" tIns="0" lIns="0" bIns="0" rIns="0">
            <a:spAutoFit/>
          </a:bodyPr>
          <a:lstStyle/>
          <a:p>
            <a:pPr algn="l">
              <a:lnSpc>
                <a:spcPts val="6419"/>
              </a:lnSpc>
            </a:pPr>
            <a:r>
              <a:rPr lang="en-US" b="true" sz="4999">
                <a:solidFill>
                  <a:srgbClr val="FFFFFF"/>
                </a:solidFill>
                <a:latin typeface="Arial Bold"/>
                <a:ea typeface="Arial Bold"/>
                <a:cs typeface="Arial Bold"/>
                <a:sym typeface="Arial Bold"/>
              </a:rPr>
              <a:t>Cifrado de Datos y Gestión de Claves</a:t>
            </a:r>
          </a:p>
        </p:txBody>
      </p:sp>
      <p:sp>
        <p:nvSpPr>
          <p:cNvPr name="TextBox 5" id="5"/>
          <p:cNvSpPr txBox="true"/>
          <p:nvPr/>
        </p:nvSpPr>
        <p:spPr>
          <a:xfrm rot="0">
            <a:off x="9570463" y="607819"/>
            <a:ext cx="5125888" cy="1558928"/>
          </a:xfrm>
          <a:prstGeom prst="rect">
            <a:avLst/>
          </a:prstGeom>
        </p:spPr>
        <p:txBody>
          <a:bodyPr anchor="t" rtlCol="false" tIns="0" lIns="0" bIns="0" rIns="0">
            <a:spAutoFit/>
          </a:bodyPr>
          <a:lstStyle/>
          <a:p>
            <a:pPr algn="l">
              <a:lnSpc>
                <a:spcPts val="6419"/>
              </a:lnSpc>
            </a:pPr>
            <a:r>
              <a:rPr lang="en-US" b="true" sz="4999">
                <a:solidFill>
                  <a:srgbClr val="FFFFFF"/>
                </a:solidFill>
                <a:latin typeface="Arial Bold"/>
                <a:ea typeface="Arial Bold"/>
                <a:cs typeface="Arial Bold"/>
                <a:sym typeface="Arial Bold"/>
              </a:rPr>
              <a:t>Implementación de Firewalls</a:t>
            </a:r>
          </a:p>
        </p:txBody>
      </p:sp>
      <p:sp>
        <p:nvSpPr>
          <p:cNvPr name="TextBox 6" id="6"/>
          <p:cNvSpPr txBox="true"/>
          <p:nvPr/>
        </p:nvSpPr>
        <p:spPr>
          <a:xfrm rot="0">
            <a:off x="1028700" y="2442667"/>
            <a:ext cx="4998015" cy="2235203"/>
          </a:xfrm>
          <a:prstGeom prst="rect">
            <a:avLst/>
          </a:prstGeom>
        </p:spPr>
        <p:txBody>
          <a:bodyPr anchor="t" rtlCol="false" tIns="0" lIns="0" bIns="0" rIns="0">
            <a:spAutoFit/>
          </a:bodyPr>
          <a:lstStyle/>
          <a:p>
            <a:pPr algn="r">
              <a:lnSpc>
                <a:spcPts val="6419"/>
              </a:lnSpc>
            </a:pPr>
            <a:r>
              <a:rPr lang="en-US" b="true" sz="4999">
                <a:solidFill>
                  <a:srgbClr val="FFFFFF"/>
                </a:solidFill>
                <a:latin typeface="Arial Bold"/>
                <a:ea typeface="Arial Bold"/>
                <a:cs typeface="Arial Bold"/>
                <a:sym typeface="Arial Bold"/>
              </a:rPr>
              <a:t>Evaluación y Gestión de Riesgos</a:t>
            </a:r>
          </a:p>
        </p:txBody>
      </p:sp>
      <p:sp>
        <p:nvSpPr>
          <p:cNvPr name="TextBox 7" id="7"/>
          <p:cNvSpPr txBox="true"/>
          <p:nvPr/>
        </p:nvSpPr>
        <p:spPr>
          <a:xfrm rot="0">
            <a:off x="1706204" y="5885155"/>
            <a:ext cx="4998015" cy="2235203"/>
          </a:xfrm>
          <a:prstGeom prst="rect">
            <a:avLst/>
          </a:prstGeom>
        </p:spPr>
        <p:txBody>
          <a:bodyPr anchor="t" rtlCol="false" tIns="0" lIns="0" bIns="0" rIns="0">
            <a:spAutoFit/>
          </a:bodyPr>
          <a:lstStyle/>
          <a:p>
            <a:pPr algn="r">
              <a:lnSpc>
                <a:spcPts val="6419"/>
              </a:lnSpc>
            </a:pPr>
            <a:r>
              <a:rPr lang="en-US" b="true" sz="4999">
                <a:solidFill>
                  <a:srgbClr val="FFFFFF"/>
                </a:solidFill>
                <a:latin typeface="Arial Bold"/>
                <a:ea typeface="Arial Bold"/>
                <a:cs typeface="Arial Bold"/>
                <a:sym typeface="Arial Bold"/>
              </a:rPr>
              <a:t>Capacitación y Políticas de Seguridad:</a:t>
            </a:r>
          </a:p>
        </p:txBody>
      </p:sp>
      <p:sp>
        <p:nvSpPr>
          <p:cNvPr name="TextBox 8" id="8"/>
          <p:cNvSpPr txBox="true"/>
          <p:nvPr/>
        </p:nvSpPr>
        <p:spPr>
          <a:xfrm rot="0">
            <a:off x="12133412" y="3939378"/>
            <a:ext cx="5125888" cy="2235203"/>
          </a:xfrm>
          <a:prstGeom prst="rect">
            <a:avLst/>
          </a:prstGeom>
        </p:spPr>
        <p:txBody>
          <a:bodyPr anchor="t" rtlCol="false" tIns="0" lIns="0" bIns="0" rIns="0">
            <a:spAutoFit/>
          </a:bodyPr>
          <a:lstStyle/>
          <a:p>
            <a:pPr algn="l">
              <a:lnSpc>
                <a:spcPts val="6419"/>
              </a:lnSpc>
            </a:pPr>
            <a:r>
              <a:rPr lang="en-US" b="true" sz="4999">
                <a:solidFill>
                  <a:srgbClr val="FFFFFF"/>
                </a:solidFill>
                <a:latin typeface="Arial Bold"/>
                <a:ea typeface="Arial Bold"/>
                <a:cs typeface="Arial Bold"/>
                <a:sym typeface="Arial Bold"/>
              </a:rPr>
              <a:t>sistemas de Detección de Intrusos</a:t>
            </a:r>
          </a:p>
        </p:txBody>
      </p:sp>
      <p:sp>
        <p:nvSpPr>
          <p:cNvPr name="Freeform 9" id="9"/>
          <p:cNvSpPr/>
          <p:nvPr/>
        </p:nvSpPr>
        <p:spPr>
          <a:xfrm flipH="false" flipV="false" rot="0">
            <a:off x="6704219" y="2532174"/>
            <a:ext cx="4879553" cy="5051108"/>
          </a:xfrm>
          <a:custGeom>
            <a:avLst/>
            <a:gdLst/>
            <a:ahLst/>
            <a:cxnLst/>
            <a:rect r="r" b="b" t="t" l="l"/>
            <a:pathLst>
              <a:path h="5051108" w="4879553">
                <a:moveTo>
                  <a:pt x="0" y="0"/>
                </a:moveTo>
                <a:lnTo>
                  <a:pt x="4879553" y="0"/>
                </a:lnTo>
                <a:lnTo>
                  <a:pt x="4879553" y="5051107"/>
                </a:lnTo>
                <a:lnTo>
                  <a:pt x="0" y="50511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6975777" y="4354830"/>
            <a:ext cx="4336447" cy="1424302"/>
          </a:xfrm>
          <a:prstGeom prst="rect">
            <a:avLst/>
          </a:prstGeom>
        </p:spPr>
        <p:txBody>
          <a:bodyPr anchor="t" rtlCol="false" tIns="0" lIns="0" bIns="0" rIns="0">
            <a:spAutoFit/>
          </a:bodyPr>
          <a:lstStyle/>
          <a:p>
            <a:pPr algn="ctr">
              <a:lnSpc>
                <a:spcPts val="5710"/>
              </a:lnSpc>
            </a:pPr>
            <a:r>
              <a:rPr lang="en-US" b="true" sz="3999">
                <a:solidFill>
                  <a:srgbClr val="FFFFFF"/>
                </a:solidFill>
                <a:latin typeface="Arial Bold"/>
                <a:ea typeface="Arial Bold"/>
                <a:cs typeface="Arial Bold"/>
                <a:sym typeface="Arial Bold"/>
              </a:rPr>
              <a:t>ESTRATEGIAS DE SEGURIDAD</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aphicFrame>
        <p:nvGraphicFramePr>
          <p:cNvPr name="Table 4" id="4"/>
          <p:cNvGraphicFramePr>
            <a:graphicFrameLocks noGrp="true"/>
          </p:cNvGraphicFramePr>
          <p:nvPr/>
        </p:nvGraphicFramePr>
        <p:xfrm>
          <a:off x="1028700" y="2380788"/>
          <a:ext cx="16217900" cy="6832600"/>
        </p:xfrm>
        <a:graphic>
          <a:graphicData uri="http://schemas.openxmlformats.org/drawingml/2006/table">
            <a:tbl>
              <a:tblPr/>
              <a:tblGrid>
                <a:gridCol w="5459257"/>
                <a:gridCol w="10758643"/>
              </a:tblGrid>
              <a:tr h="796026">
                <a:tc>
                  <a:txBody>
                    <a:bodyPr anchor="t" rtlCol="false"/>
                    <a:lstStyle/>
                    <a:p>
                      <a:pPr algn="l">
                        <a:lnSpc>
                          <a:spcPts val="3360"/>
                        </a:lnSpc>
                        <a:defRPr/>
                      </a:pPr>
                      <a:r>
                        <a:rPr lang="en-US" b="true" sz="2000">
                          <a:solidFill>
                            <a:srgbClr val="FFFFFF"/>
                          </a:solidFill>
                          <a:latin typeface="Arial Bold"/>
                          <a:ea typeface="Arial Bold"/>
                          <a:cs typeface="Arial Bold"/>
                          <a:sym typeface="Arial Bold"/>
                        </a:rPr>
                        <a:t>AMENAZA</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gradFill rotWithShape="true">
                      <a:gsLst>
                        <a:gs pos="0">
                          <a:srgbClr val="FF5757">
                            <a:alpha val="100000"/>
                          </a:srgbClr>
                        </a:gs>
                        <a:gs pos="100000">
                          <a:srgbClr val="6B44ED">
                            <a:alpha val="100000"/>
                          </a:srgbClr>
                        </a:gs>
                      </a:gsLst>
                      <a:lin ang="0"/>
                    </a:gradFill>
                  </a:tcPr>
                </a:tc>
                <a:tc>
                  <a:txBody>
                    <a:bodyPr anchor="t" rtlCol="false"/>
                    <a:lstStyle/>
                    <a:p>
                      <a:pPr algn="l">
                        <a:lnSpc>
                          <a:spcPts val="3360"/>
                        </a:lnSpc>
                        <a:defRPr/>
                      </a:pPr>
                      <a:r>
                        <a:rPr lang="en-US" b="true" sz="2000">
                          <a:solidFill>
                            <a:srgbClr val="FFFFFF"/>
                          </a:solidFill>
                          <a:latin typeface="Arial Bold"/>
                          <a:ea typeface="Arial Bold"/>
                          <a:cs typeface="Arial Bold"/>
                          <a:sym typeface="Arial Bold"/>
                        </a:rPr>
                        <a:t>DESCRIPCION</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gradFill rotWithShape="true">
                      <a:gsLst>
                        <a:gs pos="0">
                          <a:srgbClr val="FF5757">
                            <a:alpha val="100000"/>
                          </a:srgbClr>
                        </a:gs>
                        <a:gs pos="100000">
                          <a:srgbClr val="6B44ED">
                            <a:alpha val="100000"/>
                          </a:srgbClr>
                        </a:gs>
                      </a:gsLst>
                      <a:lin ang="0"/>
                    </a:gradFill>
                  </a:tcPr>
                </a:tc>
              </a:tr>
              <a:tr h="962991">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 Malware</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 Software malicioso diseñado para dañar, explotar o infectar sistemas. Incluye virus, gusanos, troyanos, ransomware y spyware.</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1162051">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Phishing</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Tipo de ataque en el que un atacante se hace pasar por una entidad confiable, normalmente a través de correos electrónicos o mensajes, para engañar a los usuarios y obtener información sensible como contraseñas o datos de tarjetas de crédito</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924142">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Ataques de Ingeniería Social</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 Manipulación psicológica para obtener información confidencial. Los atacantes engañan a las personas para que realicen ciertas acciones o divulguen información.</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962991">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Ataques de Denegación de Servicio</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Intentos de sobrecargar un sistema o red para que deje de funcionar, afectando su disponibilidad. Los ataques DDoS son realizados por múltiples dispositivos coordinados.</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962991">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Ataques de Fuerza Bruta</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Método de prueba y error en el que los atacantes intentan todas las combinaciones posibles para adivinar contraseñas o claves de cifrado.</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1061408">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Explotación de Vulnerabilidades de Software</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Ataques que aprovechan vulnerabilidades o errores en el software para ganar acceso o ejecutar código malicioso.</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bl>
          </a:graphicData>
        </a:graphic>
      </p:graphicFrame>
      <p:sp>
        <p:nvSpPr>
          <p:cNvPr name="TextBox 5" id="5"/>
          <p:cNvSpPr txBox="true"/>
          <p:nvPr/>
        </p:nvSpPr>
        <p:spPr>
          <a:xfrm rot="0">
            <a:off x="1031015" y="994515"/>
            <a:ext cx="10256310" cy="824227"/>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Amenazas comunes en seguridad</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aphicFrame>
        <p:nvGraphicFramePr>
          <p:cNvPr name="Table 4" id="4"/>
          <p:cNvGraphicFramePr>
            <a:graphicFrameLocks noGrp="true"/>
          </p:cNvGraphicFramePr>
          <p:nvPr/>
        </p:nvGraphicFramePr>
        <p:xfrm>
          <a:off x="1028700" y="2608927"/>
          <a:ext cx="16217900" cy="6134100"/>
        </p:xfrm>
        <a:graphic>
          <a:graphicData uri="http://schemas.openxmlformats.org/drawingml/2006/table">
            <a:tbl>
              <a:tblPr/>
              <a:tblGrid>
                <a:gridCol w="5459257"/>
                <a:gridCol w="10758643"/>
              </a:tblGrid>
              <a:tr h="790631">
                <a:tc>
                  <a:txBody>
                    <a:bodyPr anchor="t" rtlCol="false"/>
                    <a:lstStyle/>
                    <a:p>
                      <a:pPr algn="l">
                        <a:lnSpc>
                          <a:spcPts val="3360"/>
                        </a:lnSpc>
                        <a:defRPr/>
                      </a:pPr>
                      <a:r>
                        <a:rPr lang="en-US" b="true" sz="2000">
                          <a:solidFill>
                            <a:srgbClr val="FFFFFF"/>
                          </a:solidFill>
                          <a:latin typeface="Arial Bold"/>
                          <a:ea typeface="Arial Bold"/>
                          <a:cs typeface="Arial Bold"/>
                          <a:sym typeface="Arial Bold"/>
                        </a:rPr>
                        <a:t>AMENAZA</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gradFill rotWithShape="true">
                      <a:gsLst>
                        <a:gs pos="0">
                          <a:srgbClr val="FF5757">
                            <a:alpha val="100000"/>
                          </a:srgbClr>
                        </a:gs>
                        <a:gs pos="100000">
                          <a:srgbClr val="6B44ED">
                            <a:alpha val="100000"/>
                          </a:srgbClr>
                        </a:gs>
                      </a:gsLst>
                      <a:lin ang="0"/>
                    </a:gradFill>
                  </a:tcPr>
                </a:tc>
                <a:tc>
                  <a:txBody>
                    <a:bodyPr anchor="t" rtlCol="false"/>
                    <a:lstStyle/>
                    <a:p>
                      <a:pPr algn="l">
                        <a:lnSpc>
                          <a:spcPts val="3360"/>
                        </a:lnSpc>
                        <a:defRPr/>
                      </a:pPr>
                      <a:r>
                        <a:rPr lang="en-US" b="true" sz="2000">
                          <a:solidFill>
                            <a:srgbClr val="FFFFFF"/>
                          </a:solidFill>
                          <a:latin typeface="Arial Bold"/>
                          <a:ea typeface="Arial Bold"/>
                          <a:cs typeface="Arial Bold"/>
                          <a:sym typeface="Arial Bold"/>
                        </a:rPr>
                        <a:t>DESCRIPCION</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gradFill rotWithShape="true">
                      <a:gsLst>
                        <a:gs pos="0">
                          <a:srgbClr val="FF5757">
                            <a:alpha val="100000"/>
                          </a:srgbClr>
                        </a:gs>
                        <a:gs pos="100000">
                          <a:srgbClr val="6B44ED">
                            <a:alpha val="100000"/>
                          </a:srgbClr>
                        </a:gs>
                      </a:gsLst>
                      <a:lin ang="0"/>
                    </a:gradFill>
                  </a:tcPr>
                </a:tc>
              </a:tr>
              <a:tr h="917864">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Amenazas internas </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Riesgos que provienen de empleados o personas internas que, intencionalmente o por negligencia, comprometen la seguridad.</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956462">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Secuestro de Sesiones</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 Ocurre cuando un atacante intercepta y toma control de una sesión activa entre un usuario y un servidor.</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754268">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Ataques de Inyección</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 Tipo de ataque en el que el atacante inserta código malicioso en una aplicación para ejecutar comandos no autorizados.</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956462">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Ataques de Man-in-the-Middle</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Ocurre cuando un atacante intercepta la comunicación entre dos partes para robar o manipular datos sin que las víctimas se den cuenta.</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917864">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Robo o Pérdida de Dispositivos Físicos</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Pérdida o robo de dispositivos de almacenamiento, como computadoras portátiles o discos duros, que pueden contener datos sensibles.</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r h="840549">
                <a:tc>
                  <a:txBody>
                    <a:bodyPr anchor="t" rtlCol="false"/>
                    <a:lstStyle/>
                    <a:p>
                      <a:pPr algn="l">
                        <a:lnSpc>
                          <a:spcPts val="3024"/>
                        </a:lnSpc>
                        <a:defRPr/>
                      </a:pPr>
                      <a:r>
                        <a:rPr lang="en-US" b="true" sz="1800">
                          <a:solidFill>
                            <a:srgbClr val="FFFFFF"/>
                          </a:solidFill>
                          <a:latin typeface="Arial Bold"/>
                          <a:ea typeface="Arial Bold"/>
                          <a:cs typeface="Arial Bold"/>
                          <a:sym typeface="Arial Bold"/>
                        </a:rPr>
                        <a:t>Cross-Site Scripting</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c>
                  <a:txBody>
                    <a:bodyPr anchor="t" rtlCol="false"/>
                    <a:lstStyle/>
                    <a:p>
                      <a:pPr algn="l">
                        <a:lnSpc>
                          <a:spcPts val="2351"/>
                        </a:lnSpc>
                        <a:defRPr/>
                      </a:pPr>
                      <a:r>
                        <a:rPr lang="en-US" sz="1399">
                          <a:solidFill>
                            <a:srgbClr val="FFFFFF"/>
                          </a:solidFill>
                          <a:latin typeface="Arial"/>
                          <a:ea typeface="Arial"/>
                          <a:cs typeface="Arial"/>
                          <a:sym typeface="Arial"/>
                        </a:rPr>
                        <a:t> Permite que los atacantes inserten código malicioso en sitios web, que luego es ejecutado por los usuarios.</a:t>
                      </a:r>
                      <a:endParaRPr lang="en-US" sz="1100"/>
                    </a:p>
                  </a:txBody>
                  <a:tcPr marL="190500" marR="190500" marT="190500" marB="190500"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000000"/>
                    </a:solidFill>
                  </a:tcPr>
                </a:tc>
              </a:tr>
            </a:tbl>
          </a:graphicData>
        </a:graphic>
      </p:graphicFrame>
      <p:sp>
        <p:nvSpPr>
          <p:cNvPr name="TextBox 5" id="5"/>
          <p:cNvSpPr txBox="true"/>
          <p:nvPr/>
        </p:nvSpPr>
        <p:spPr>
          <a:xfrm rot="0">
            <a:off x="1031015" y="994515"/>
            <a:ext cx="10256310" cy="824227"/>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Amenazas comunes en seguridad</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28700" y="4221794"/>
            <a:ext cx="16230600" cy="2662552"/>
          </a:xfrm>
          <a:prstGeom prst="rect">
            <a:avLst/>
          </a:prstGeom>
        </p:spPr>
        <p:txBody>
          <a:bodyPr anchor="t" rtlCol="false" tIns="0" lIns="0" bIns="0" rIns="0">
            <a:spAutoFit/>
          </a:bodyPr>
          <a:lstStyle/>
          <a:p>
            <a:pPr algn="ctr">
              <a:lnSpc>
                <a:spcPts val="10752"/>
              </a:lnSpc>
            </a:pPr>
            <a:r>
              <a:rPr lang="en-US" b="true" sz="8000">
                <a:solidFill>
                  <a:srgbClr val="FFFFFF"/>
                </a:solidFill>
                <a:latin typeface="Arial Bold"/>
                <a:ea typeface="Arial Bold"/>
                <a:cs typeface="Arial Bold"/>
                <a:sym typeface="Arial Bold"/>
              </a:rPr>
              <a:t>MODELO DE SEGURIDAD </a:t>
            </a:r>
          </a:p>
          <a:p>
            <a:pPr algn="ctr">
              <a:lnSpc>
                <a:spcPts val="10752"/>
              </a:lnSpc>
            </a:pPr>
            <a:r>
              <a:rPr lang="en-US" b="true" sz="8000">
                <a:solidFill>
                  <a:srgbClr val="FFFFFF"/>
                </a:solidFill>
                <a:latin typeface="Arial Bold"/>
                <a:ea typeface="Arial Bold"/>
                <a:cs typeface="Arial Bold"/>
                <a:sym typeface="Arial Bold"/>
              </a:rPr>
              <a:t>PARA ALMACENAMIENTO</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7587967" y="1291114"/>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587967" y="3609184"/>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587967" y="7681312"/>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587967" y="5316817"/>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7943669" y="1725901"/>
            <a:ext cx="516798" cy="398583"/>
            <a:chOff x="0" y="0"/>
            <a:chExt cx="689064" cy="531444"/>
          </a:xfrm>
        </p:grpSpPr>
        <p:sp>
          <p:nvSpPr>
            <p:cNvPr name="Freeform 9" id="9"/>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grpSp>
        <p:nvGrpSpPr>
          <p:cNvPr name="Group 10" id="10"/>
          <p:cNvGrpSpPr/>
          <p:nvPr/>
        </p:nvGrpSpPr>
        <p:grpSpPr>
          <a:xfrm rot="0">
            <a:off x="7943669" y="4043972"/>
            <a:ext cx="516798" cy="398583"/>
            <a:chOff x="0" y="0"/>
            <a:chExt cx="689064" cy="531444"/>
          </a:xfrm>
        </p:grpSpPr>
        <p:sp>
          <p:nvSpPr>
            <p:cNvPr name="Freeform 11" id="11"/>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grpSp>
        <p:nvGrpSpPr>
          <p:cNvPr name="Group 12" id="12"/>
          <p:cNvGrpSpPr/>
          <p:nvPr/>
        </p:nvGrpSpPr>
        <p:grpSpPr>
          <a:xfrm rot="0">
            <a:off x="7943669" y="5794981"/>
            <a:ext cx="516798" cy="398583"/>
            <a:chOff x="0" y="0"/>
            <a:chExt cx="689064" cy="531444"/>
          </a:xfrm>
        </p:grpSpPr>
        <p:sp>
          <p:nvSpPr>
            <p:cNvPr name="Freeform 13" id="13"/>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grpSp>
        <p:nvGrpSpPr>
          <p:cNvPr name="Group 14" id="14"/>
          <p:cNvGrpSpPr/>
          <p:nvPr/>
        </p:nvGrpSpPr>
        <p:grpSpPr>
          <a:xfrm rot="0">
            <a:off x="7943669" y="8139313"/>
            <a:ext cx="516798" cy="398583"/>
            <a:chOff x="0" y="0"/>
            <a:chExt cx="689064" cy="531444"/>
          </a:xfrm>
        </p:grpSpPr>
        <p:sp>
          <p:nvSpPr>
            <p:cNvPr name="Freeform 15" id="15"/>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16" id="16"/>
          <p:cNvSpPr txBox="true"/>
          <p:nvPr/>
        </p:nvSpPr>
        <p:spPr>
          <a:xfrm rot="0">
            <a:off x="9179071" y="1203322"/>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 Evaluación de Requisitos de Seguridad</a:t>
            </a:r>
          </a:p>
        </p:txBody>
      </p:sp>
      <p:sp>
        <p:nvSpPr>
          <p:cNvPr name="TextBox 17" id="17"/>
          <p:cNvSpPr txBox="true"/>
          <p:nvPr/>
        </p:nvSpPr>
        <p:spPr>
          <a:xfrm rot="0">
            <a:off x="9179071" y="1625346"/>
            <a:ext cx="7143750" cy="15031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 Categorizar la información según su sensibilidad para aplicar controles de seguridad proporcionales. Por ejemplo, datos confidenciales pueden requerir cifrado más estricto que los datos públicos.</a:t>
            </a:r>
          </a:p>
        </p:txBody>
      </p:sp>
      <p:sp>
        <p:nvSpPr>
          <p:cNvPr name="TextBox 18" id="18"/>
          <p:cNvSpPr txBox="true"/>
          <p:nvPr/>
        </p:nvSpPr>
        <p:spPr>
          <a:xfrm rot="0">
            <a:off x="9182643" y="3521392"/>
            <a:ext cx="7140178" cy="85182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Definición de Políticas de Seguridad de Almacenamiento</a:t>
            </a:r>
          </a:p>
        </p:txBody>
      </p:sp>
      <p:sp>
        <p:nvSpPr>
          <p:cNvPr name="TextBox 19" id="19"/>
          <p:cNvSpPr txBox="true"/>
          <p:nvPr/>
        </p:nvSpPr>
        <p:spPr>
          <a:xfrm rot="0">
            <a:off x="9182643" y="4305376"/>
            <a:ext cx="7140178" cy="8173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Definir reglas claras sobre quién puede acceder a qué datos y bajo qué condiciones. </a:t>
            </a:r>
          </a:p>
        </p:txBody>
      </p:sp>
      <p:sp>
        <p:nvSpPr>
          <p:cNvPr name="TextBox 20" id="20"/>
          <p:cNvSpPr txBox="true"/>
          <p:nvPr/>
        </p:nvSpPr>
        <p:spPr>
          <a:xfrm rot="0">
            <a:off x="9182643" y="5275450"/>
            <a:ext cx="7140178"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Implementación de Controles de Acceso</a:t>
            </a:r>
          </a:p>
        </p:txBody>
      </p:sp>
      <p:sp>
        <p:nvSpPr>
          <p:cNvPr name="TextBox 21" id="21"/>
          <p:cNvSpPr txBox="true"/>
          <p:nvPr/>
        </p:nvSpPr>
        <p:spPr>
          <a:xfrm rot="0">
            <a:off x="9182643" y="5697474"/>
            <a:ext cx="7140178" cy="15031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Configurar sistemas de autenticación sólida, como la autenticación multifactor (MFA) y los controles de acceso basados en roles (RBAC) para verificar la identidad de los usuarios y restringir el acceso según los permisos.</a:t>
            </a:r>
          </a:p>
        </p:txBody>
      </p:sp>
      <p:sp>
        <p:nvSpPr>
          <p:cNvPr name="TextBox 22" id="22"/>
          <p:cNvSpPr txBox="true"/>
          <p:nvPr/>
        </p:nvSpPr>
        <p:spPr>
          <a:xfrm rot="0">
            <a:off x="9182643" y="7593521"/>
            <a:ext cx="7140178"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Cifrado de Datos en Reposo</a:t>
            </a:r>
          </a:p>
        </p:txBody>
      </p:sp>
      <p:sp>
        <p:nvSpPr>
          <p:cNvPr name="TextBox 23" id="23"/>
          <p:cNvSpPr txBox="true"/>
          <p:nvPr/>
        </p:nvSpPr>
        <p:spPr>
          <a:xfrm rot="0">
            <a:off x="9182643" y="8015554"/>
            <a:ext cx="7140178" cy="11602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Implementar cifrado en todo el disco para proteger la información almacenada. Esto es útil en caso de robo físico del medio de almacenamiento.</a:t>
            </a:r>
          </a:p>
        </p:txBody>
      </p:sp>
      <p:sp>
        <p:nvSpPr>
          <p:cNvPr name="TextBox 24" id="24"/>
          <p:cNvSpPr txBox="true"/>
          <p:nvPr/>
        </p:nvSpPr>
        <p:spPr>
          <a:xfrm rot="0">
            <a:off x="1445162" y="1827038"/>
            <a:ext cx="4812163" cy="1395727"/>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Puntos importantes</a:t>
            </a:r>
          </a:p>
        </p:txBody>
      </p:sp>
      <p:sp>
        <p:nvSpPr>
          <p:cNvPr name="TextBox 25" id="25"/>
          <p:cNvSpPr txBox="true"/>
          <p:nvPr/>
        </p:nvSpPr>
        <p:spPr>
          <a:xfrm rot="0">
            <a:off x="1445162" y="3300632"/>
            <a:ext cx="4812163" cy="3566951"/>
          </a:xfrm>
          <a:prstGeom prst="rect">
            <a:avLst/>
          </a:prstGeom>
        </p:spPr>
        <p:txBody>
          <a:bodyPr anchor="t" rtlCol="false" tIns="0" lIns="0" bIns="0" rIns="0">
            <a:spAutoFit/>
          </a:bodyPr>
          <a:lstStyle/>
          <a:p>
            <a:pPr algn="l">
              <a:lnSpc>
                <a:spcPts val="3624"/>
              </a:lnSpc>
            </a:pPr>
            <a:r>
              <a:rPr lang="en-US" sz="2000">
                <a:solidFill>
                  <a:srgbClr val="FFFFFF"/>
                </a:solidFill>
                <a:latin typeface="Arial"/>
                <a:ea typeface="Arial"/>
                <a:cs typeface="Arial"/>
                <a:sym typeface="Arial"/>
              </a:rPr>
              <a:t>Desarrollar un modelo de seguridad para almacenamiento implica definir estrategias y mecanismos para proteger los datos en reposo contra accesos no autorizados, pérdidas y otros riesgos. Este proceso abarca múltiples capas de seguridad y se basa en los principios fundamentales de la seguridad de la información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7587967" y="1291114"/>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587967" y="3609184"/>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587967" y="7681312"/>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587967" y="5316817"/>
            <a:ext cx="1228220" cy="1271397"/>
          </a:xfrm>
          <a:custGeom>
            <a:avLst/>
            <a:gdLst/>
            <a:ahLst/>
            <a:cxnLst/>
            <a:rect r="r" b="b" t="t" l="l"/>
            <a:pathLst>
              <a:path h="1271397" w="1228220">
                <a:moveTo>
                  <a:pt x="0" y="0"/>
                </a:moveTo>
                <a:lnTo>
                  <a:pt x="1228221" y="0"/>
                </a:lnTo>
                <a:lnTo>
                  <a:pt x="1228221"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7943669" y="1725901"/>
            <a:ext cx="516798" cy="398583"/>
            <a:chOff x="0" y="0"/>
            <a:chExt cx="689064" cy="531444"/>
          </a:xfrm>
        </p:grpSpPr>
        <p:sp>
          <p:nvSpPr>
            <p:cNvPr name="Freeform 9" id="9"/>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grpSp>
        <p:nvGrpSpPr>
          <p:cNvPr name="Group 10" id="10"/>
          <p:cNvGrpSpPr/>
          <p:nvPr/>
        </p:nvGrpSpPr>
        <p:grpSpPr>
          <a:xfrm rot="0">
            <a:off x="7943669" y="4043972"/>
            <a:ext cx="516798" cy="398583"/>
            <a:chOff x="0" y="0"/>
            <a:chExt cx="689064" cy="531444"/>
          </a:xfrm>
        </p:grpSpPr>
        <p:sp>
          <p:nvSpPr>
            <p:cNvPr name="Freeform 11" id="11"/>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grpSp>
        <p:nvGrpSpPr>
          <p:cNvPr name="Group 12" id="12"/>
          <p:cNvGrpSpPr/>
          <p:nvPr/>
        </p:nvGrpSpPr>
        <p:grpSpPr>
          <a:xfrm rot="0">
            <a:off x="7943669" y="5794981"/>
            <a:ext cx="516798" cy="398583"/>
            <a:chOff x="0" y="0"/>
            <a:chExt cx="689064" cy="531444"/>
          </a:xfrm>
        </p:grpSpPr>
        <p:sp>
          <p:nvSpPr>
            <p:cNvPr name="Freeform 13" id="13"/>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grpSp>
        <p:nvGrpSpPr>
          <p:cNvPr name="Group 14" id="14"/>
          <p:cNvGrpSpPr/>
          <p:nvPr/>
        </p:nvGrpSpPr>
        <p:grpSpPr>
          <a:xfrm rot="0">
            <a:off x="7943669" y="8139313"/>
            <a:ext cx="516798" cy="398583"/>
            <a:chOff x="0" y="0"/>
            <a:chExt cx="689064" cy="531444"/>
          </a:xfrm>
        </p:grpSpPr>
        <p:sp>
          <p:nvSpPr>
            <p:cNvPr name="Freeform 15" id="15"/>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16" id="16"/>
          <p:cNvSpPr txBox="true"/>
          <p:nvPr/>
        </p:nvSpPr>
        <p:spPr>
          <a:xfrm rot="0">
            <a:off x="9179071" y="1203322"/>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Monitoreo y Registro de Actividades</a:t>
            </a:r>
          </a:p>
        </p:txBody>
      </p:sp>
      <p:sp>
        <p:nvSpPr>
          <p:cNvPr name="TextBox 17" id="17"/>
          <p:cNvSpPr txBox="true"/>
          <p:nvPr/>
        </p:nvSpPr>
        <p:spPr>
          <a:xfrm rot="0">
            <a:off x="9179071" y="1625346"/>
            <a:ext cx="7143750" cy="11602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 Registrar todos los accesos, cambios y eliminaciones de datos en los sistemas de almacenamiento para poder auditar y rastrear cualquier acción sospechosa.</a:t>
            </a:r>
          </a:p>
        </p:txBody>
      </p:sp>
      <p:sp>
        <p:nvSpPr>
          <p:cNvPr name="TextBox 18" id="18"/>
          <p:cNvSpPr txBox="true"/>
          <p:nvPr/>
        </p:nvSpPr>
        <p:spPr>
          <a:xfrm rot="0">
            <a:off x="9182643" y="3521392"/>
            <a:ext cx="7140178"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Respaldo y Recuperación de Datos</a:t>
            </a:r>
          </a:p>
        </p:txBody>
      </p:sp>
      <p:sp>
        <p:nvSpPr>
          <p:cNvPr name="TextBox 19" id="19"/>
          <p:cNvSpPr txBox="true"/>
          <p:nvPr/>
        </p:nvSpPr>
        <p:spPr>
          <a:xfrm rot="0">
            <a:off x="9182643" y="3943426"/>
            <a:ext cx="7140178" cy="8173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Crear copias de seguridad de los datos de forma periódica para garantizar su disponibilidad en caso de pérdida o corrupción.</a:t>
            </a:r>
          </a:p>
        </p:txBody>
      </p:sp>
      <p:sp>
        <p:nvSpPr>
          <p:cNvPr name="TextBox 20" id="20"/>
          <p:cNvSpPr txBox="true"/>
          <p:nvPr/>
        </p:nvSpPr>
        <p:spPr>
          <a:xfrm rot="0">
            <a:off x="9182643" y="5275450"/>
            <a:ext cx="7140178" cy="85182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 Protección Física de los Medios de Almacenamiento</a:t>
            </a:r>
          </a:p>
        </p:txBody>
      </p:sp>
      <p:sp>
        <p:nvSpPr>
          <p:cNvPr name="TextBox 21" id="21"/>
          <p:cNvSpPr txBox="true"/>
          <p:nvPr/>
        </p:nvSpPr>
        <p:spPr>
          <a:xfrm rot="0">
            <a:off x="9182643" y="6059424"/>
            <a:ext cx="7140178" cy="11602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 Implementar controles físicos en los centros de datos, como cámaras de vigilancia, sistemas de control de acceso y protección contra incendios.</a:t>
            </a:r>
          </a:p>
        </p:txBody>
      </p:sp>
      <p:sp>
        <p:nvSpPr>
          <p:cNvPr name="TextBox 22" id="22"/>
          <p:cNvSpPr txBox="true"/>
          <p:nvPr/>
        </p:nvSpPr>
        <p:spPr>
          <a:xfrm rot="0">
            <a:off x="9182643" y="7593521"/>
            <a:ext cx="7140178"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 Capacitación y Concientización de Usuarios</a:t>
            </a:r>
          </a:p>
        </p:txBody>
      </p:sp>
      <p:sp>
        <p:nvSpPr>
          <p:cNvPr name="TextBox 23" id="23"/>
          <p:cNvSpPr txBox="true"/>
          <p:nvPr/>
        </p:nvSpPr>
        <p:spPr>
          <a:xfrm rot="0">
            <a:off x="9182643" y="8015554"/>
            <a:ext cx="7140178" cy="1160240"/>
          </a:xfrm>
          <a:prstGeom prst="rect">
            <a:avLst/>
          </a:prstGeom>
        </p:spPr>
        <p:txBody>
          <a:bodyPr anchor="t" rtlCol="false" tIns="0" lIns="0" bIns="0" rIns="0">
            <a:spAutoFit/>
          </a:bodyPr>
          <a:lstStyle/>
          <a:p>
            <a:pPr algn="l">
              <a:lnSpc>
                <a:spcPts val="3261"/>
              </a:lnSpc>
            </a:pPr>
            <a:r>
              <a:rPr lang="en-US" sz="1800">
                <a:solidFill>
                  <a:srgbClr val="FFFFFF"/>
                </a:solidFill>
                <a:latin typeface="Arial"/>
                <a:ea typeface="Arial"/>
                <a:cs typeface="Arial"/>
                <a:sym typeface="Arial"/>
              </a:rPr>
              <a:t>Capacitar a los empleados sobre prácticas de seguridad, la importancia de proteger la información almacenada y cómo detectar posibles amenazas como ataques de phishing.</a:t>
            </a:r>
          </a:p>
        </p:txBody>
      </p:sp>
      <p:sp>
        <p:nvSpPr>
          <p:cNvPr name="TextBox 24" id="24"/>
          <p:cNvSpPr txBox="true"/>
          <p:nvPr/>
        </p:nvSpPr>
        <p:spPr>
          <a:xfrm rot="0">
            <a:off x="1445162" y="1827038"/>
            <a:ext cx="4812163" cy="1395727"/>
          </a:xfrm>
          <a:prstGeom prst="rect">
            <a:avLst/>
          </a:prstGeom>
        </p:spPr>
        <p:txBody>
          <a:bodyPr anchor="t" rtlCol="false" tIns="0" lIns="0" bIns="0" rIns="0">
            <a:spAutoFit/>
          </a:bodyPr>
          <a:lstStyle/>
          <a:p>
            <a:pPr algn="l">
              <a:lnSpc>
                <a:spcPts val="5710"/>
              </a:lnSpc>
            </a:pPr>
            <a:r>
              <a:rPr lang="en-US" b="true" sz="3999">
                <a:solidFill>
                  <a:srgbClr val="FFFFFF"/>
                </a:solidFill>
                <a:latin typeface="Arial Bold"/>
                <a:ea typeface="Arial Bold"/>
                <a:cs typeface="Arial Bold"/>
                <a:sym typeface="Arial Bold"/>
              </a:rPr>
              <a:t>Puntos importantes</a:t>
            </a:r>
          </a:p>
        </p:txBody>
      </p:sp>
      <p:sp>
        <p:nvSpPr>
          <p:cNvPr name="TextBox 25" id="25"/>
          <p:cNvSpPr txBox="true"/>
          <p:nvPr/>
        </p:nvSpPr>
        <p:spPr>
          <a:xfrm rot="0">
            <a:off x="1445162" y="3300632"/>
            <a:ext cx="4812163" cy="3566951"/>
          </a:xfrm>
          <a:prstGeom prst="rect">
            <a:avLst/>
          </a:prstGeom>
        </p:spPr>
        <p:txBody>
          <a:bodyPr anchor="t" rtlCol="false" tIns="0" lIns="0" bIns="0" rIns="0">
            <a:spAutoFit/>
          </a:bodyPr>
          <a:lstStyle/>
          <a:p>
            <a:pPr algn="l">
              <a:lnSpc>
                <a:spcPts val="3624"/>
              </a:lnSpc>
            </a:pPr>
            <a:r>
              <a:rPr lang="en-US" sz="2000">
                <a:solidFill>
                  <a:srgbClr val="FFFFFF"/>
                </a:solidFill>
                <a:latin typeface="Arial"/>
                <a:ea typeface="Arial"/>
                <a:cs typeface="Arial"/>
                <a:sym typeface="Arial"/>
              </a:rPr>
              <a:t>Desarrollar un modelo de seguridad para almacenamiento implica definir estrategias y mecanismos para proteger los datos en reposo contra accesos no autorizados, pérdidas y otros riesgos. Este proceso abarca múltiples capas de seguridad y se basa en los principios fundamentales de la seguridad de la información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2874024" y="2198109"/>
            <a:ext cx="12407740" cy="7336336"/>
          </a:xfrm>
          <a:custGeom>
            <a:avLst/>
            <a:gdLst/>
            <a:ahLst/>
            <a:cxnLst/>
            <a:rect r="r" b="b" t="t" l="l"/>
            <a:pathLst>
              <a:path h="7336336" w="12407740">
                <a:moveTo>
                  <a:pt x="0" y="0"/>
                </a:moveTo>
                <a:lnTo>
                  <a:pt x="12407740" y="0"/>
                </a:lnTo>
                <a:lnTo>
                  <a:pt x="12407740" y="7336336"/>
                </a:lnTo>
                <a:lnTo>
                  <a:pt x="0" y="7336336"/>
                </a:lnTo>
                <a:lnTo>
                  <a:pt x="0" y="0"/>
                </a:lnTo>
                <a:close/>
              </a:path>
            </a:pathLst>
          </a:custGeom>
          <a:blipFill>
            <a:blip r:embed="rId4"/>
            <a:stretch>
              <a:fillRect l="-6842" t="0" r="-6590" b="0"/>
            </a:stretch>
          </a:blipFill>
        </p:spPr>
      </p:sp>
      <p:sp>
        <p:nvSpPr>
          <p:cNvPr name="TextBox 5" id="5"/>
          <p:cNvSpPr txBox="true"/>
          <p:nvPr/>
        </p:nvSpPr>
        <p:spPr>
          <a:xfrm rot="0">
            <a:off x="3409045" y="571567"/>
            <a:ext cx="11013596" cy="1336729"/>
          </a:xfrm>
          <a:prstGeom prst="rect">
            <a:avLst/>
          </a:prstGeom>
        </p:spPr>
        <p:txBody>
          <a:bodyPr anchor="t" rtlCol="false" tIns="0" lIns="0" bIns="0" rIns="0">
            <a:spAutoFit/>
          </a:bodyPr>
          <a:lstStyle/>
          <a:p>
            <a:pPr algn="ctr">
              <a:lnSpc>
                <a:spcPts val="5173"/>
              </a:lnSpc>
            </a:pPr>
            <a:r>
              <a:rPr lang="en-US" b="true" sz="4399">
                <a:solidFill>
                  <a:srgbClr val="FFFFFF"/>
                </a:solidFill>
                <a:latin typeface="Arial Bold"/>
                <a:ea typeface="Arial Bold"/>
                <a:cs typeface="Arial Bold"/>
                <a:sym typeface="Arial Bold"/>
              </a:rPr>
              <a:t>Control de acceso de usuarios a los datos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2266757" y="2180406"/>
            <a:ext cx="13298173" cy="7230881"/>
          </a:xfrm>
          <a:custGeom>
            <a:avLst/>
            <a:gdLst/>
            <a:ahLst/>
            <a:cxnLst/>
            <a:rect r="r" b="b" t="t" l="l"/>
            <a:pathLst>
              <a:path h="7230881" w="13298173">
                <a:moveTo>
                  <a:pt x="0" y="0"/>
                </a:moveTo>
                <a:lnTo>
                  <a:pt x="13298172" y="0"/>
                </a:lnTo>
                <a:lnTo>
                  <a:pt x="13298172" y="7230882"/>
                </a:lnTo>
                <a:lnTo>
                  <a:pt x="0" y="7230882"/>
                </a:lnTo>
                <a:lnTo>
                  <a:pt x="0" y="0"/>
                </a:lnTo>
                <a:close/>
              </a:path>
            </a:pathLst>
          </a:custGeom>
          <a:blipFill>
            <a:blip r:embed="rId4"/>
            <a:stretch>
              <a:fillRect l="0" t="0" r="0" b="0"/>
            </a:stretch>
          </a:blipFill>
        </p:spPr>
      </p:sp>
      <p:sp>
        <p:nvSpPr>
          <p:cNvPr name="TextBox 5" id="5"/>
          <p:cNvSpPr txBox="true"/>
          <p:nvPr/>
        </p:nvSpPr>
        <p:spPr>
          <a:xfrm rot="0">
            <a:off x="3409045" y="571567"/>
            <a:ext cx="11013596" cy="1336729"/>
          </a:xfrm>
          <a:prstGeom prst="rect">
            <a:avLst/>
          </a:prstGeom>
        </p:spPr>
        <p:txBody>
          <a:bodyPr anchor="t" rtlCol="false" tIns="0" lIns="0" bIns="0" rIns="0">
            <a:spAutoFit/>
          </a:bodyPr>
          <a:lstStyle/>
          <a:p>
            <a:pPr algn="ctr">
              <a:lnSpc>
                <a:spcPts val="5173"/>
              </a:lnSpc>
            </a:pPr>
            <a:r>
              <a:rPr lang="en-US" b="true" sz="4399">
                <a:solidFill>
                  <a:srgbClr val="FFFFFF"/>
                </a:solidFill>
                <a:latin typeface="Arial Bold"/>
                <a:ea typeface="Arial Bold"/>
                <a:cs typeface="Arial Bold"/>
                <a:sym typeface="Arial Bold"/>
              </a:rPr>
              <a:t>Control de acceso de usuarios a los datos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2810104" y="2216885"/>
            <a:ext cx="12667791" cy="7376481"/>
          </a:xfrm>
          <a:custGeom>
            <a:avLst/>
            <a:gdLst/>
            <a:ahLst/>
            <a:cxnLst/>
            <a:rect r="r" b="b" t="t" l="l"/>
            <a:pathLst>
              <a:path h="7376481" w="12667791">
                <a:moveTo>
                  <a:pt x="0" y="0"/>
                </a:moveTo>
                <a:lnTo>
                  <a:pt x="12667792" y="0"/>
                </a:lnTo>
                <a:lnTo>
                  <a:pt x="12667792" y="7376481"/>
                </a:lnTo>
                <a:lnTo>
                  <a:pt x="0" y="7376481"/>
                </a:lnTo>
                <a:lnTo>
                  <a:pt x="0" y="0"/>
                </a:lnTo>
                <a:close/>
              </a:path>
            </a:pathLst>
          </a:custGeom>
          <a:blipFill>
            <a:blip r:embed="rId4"/>
            <a:stretch>
              <a:fillRect l="-4209" t="0" r="-2880" b="0"/>
            </a:stretch>
          </a:blipFill>
        </p:spPr>
      </p:sp>
      <p:sp>
        <p:nvSpPr>
          <p:cNvPr name="TextBox 5" id="5"/>
          <p:cNvSpPr txBox="true"/>
          <p:nvPr/>
        </p:nvSpPr>
        <p:spPr>
          <a:xfrm rot="0">
            <a:off x="3637202" y="571567"/>
            <a:ext cx="11013596" cy="1336729"/>
          </a:xfrm>
          <a:prstGeom prst="rect">
            <a:avLst/>
          </a:prstGeom>
        </p:spPr>
        <p:txBody>
          <a:bodyPr anchor="t" rtlCol="false" tIns="0" lIns="0" bIns="0" rIns="0">
            <a:spAutoFit/>
          </a:bodyPr>
          <a:lstStyle/>
          <a:p>
            <a:pPr algn="ctr">
              <a:lnSpc>
                <a:spcPts val="5173"/>
              </a:lnSpc>
            </a:pPr>
            <a:r>
              <a:rPr lang="en-US" b="true" sz="4399">
                <a:solidFill>
                  <a:srgbClr val="FFFFFF"/>
                </a:solidFill>
                <a:latin typeface="Arial Bold"/>
                <a:ea typeface="Arial Bold"/>
                <a:cs typeface="Arial Bold"/>
                <a:sym typeface="Arial Bold"/>
              </a:rPr>
              <a:t>Control de acceso de usuarios a los datos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28700" y="3931672"/>
            <a:ext cx="16230600" cy="2619689"/>
          </a:xfrm>
          <a:prstGeom prst="rect">
            <a:avLst/>
          </a:prstGeom>
        </p:spPr>
        <p:txBody>
          <a:bodyPr anchor="t" rtlCol="false" tIns="0" lIns="0" bIns="0" rIns="0">
            <a:spAutoFit/>
          </a:bodyPr>
          <a:lstStyle/>
          <a:p>
            <a:pPr algn="ctr">
              <a:lnSpc>
                <a:spcPts val="10752"/>
              </a:lnSpc>
            </a:pPr>
            <a:r>
              <a:rPr lang="en-US" b="true" sz="8000">
                <a:solidFill>
                  <a:srgbClr val="FFFFFF"/>
                </a:solidFill>
                <a:latin typeface="Arial Bold"/>
                <a:ea typeface="Arial Bold"/>
                <a:cs typeface="Arial Bold"/>
                <a:sym typeface="Arial Bold"/>
              </a:rPr>
              <a:t>SEGURIDAD EN EL ALMACENAMIENTO </a:t>
            </a:r>
          </a:p>
        </p:txBody>
      </p:sp>
      <p:sp>
        <p:nvSpPr>
          <p:cNvPr name="TextBox 5" id="5"/>
          <p:cNvSpPr txBox="true"/>
          <p:nvPr/>
        </p:nvSpPr>
        <p:spPr>
          <a:xfrm rot="0">
            <a:off x="3140154" y="8404222"/>
            <a:ext cx="12007691" cy="501653"/>
          </a:xfrm>
          <a:prstGeom prst="rect">
            <a:avLst/>
          </a:prstGeom>
        </p:spPr>
        <p:txBody>
          <a:bodyPr anchor="t" rtlCol="false" tIns="0" lIns="0" bIns="0" rIns="0">
            <a:spAutoFit/>
          </a:bodyPr>
          <a:lstStyle/>
          <a:p>
            <a:pPr algn="ctr">
              <a:lnSpc>
                <a:spcPts val="3360"/>
              </a:lnSpc>
            </a:pPr>
            <a:r>
              <a:rPr lang="en-US" sz="2000">
                <a:solidFill>
                  <a:srgbClr val="FFFFFF"/>
                </a:solidFill>
                <a:latin typeface="Arial"/>
                <a:ea typeface="Arial"/>
                <a:cs typeface="Arial"/>
                <a:sym typeface="Arial"/>
              </a:rPr>
              <a:t>AUXILIAR xxxxx</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2449306" y="1605086"/>
            <a:ext cx="7828016" cy="1211266"/>
          </a:xfrm>
          <a:prstGeom prst="rect">
            <a:avLst/>
          </a:prstGeom>
        </p:spPr>
        <p:txBody>
          <a:bodyPr anchor="t" rtlCol="false" tIns="0" lIns="0" bIns="0" rIns="0">
            <a:spAutoFit/>
          </a:bodyPr>
          <a:lstStyle/>
          <a:p>
            <a:pPr algn="l">
              <a:lnSpc>
                <a:spcPts val="8727"/>
              </a:lnSpc>
            </a:pPr>
            <a:r>
              <a:rPr lang="en-US" b="true" sz="6112">
                <a:solidFill>
                  <a:srgbClr val="FFFFFF"/>
                </a:solidFill>
                <a:latin typeface="Arial Bold"/>
                <a:ea typeface="Arial Bold"/>
                <a:cs typeface="Arial Bold"/>
                <a:sym typeface="Arial Bold"/>
              </a:rPr>
              <a:t>introducción</a:t>
            </a:r>
          </a:p>
        </p:txBody>
      </p:sp>
      <p:sp>
        <p:nvSpPr>
          <p:cNvPr name="TextBox 5" id="5"/>
          <p:cNvSpPr txBox="true"/>
          <p:nvPr/>
        </p:nvSpPr>
        <p:spPr>
          <a:xfrm rot="0">
            <a:off x="2449306" y="2925804"/>
            <a:ext cx="7828016" cy="4384034"/>
          </a:xfrm>
          <a:prstGeom prst="rect">
            <a:avLst/>
          </a:prstGeom>
        </p:spPr>
        <p:txBody>
          <a:bodyPr anchor="t" rtlCol="false" tIns="0" lIns="0" bIns="0" rIns="0">
            <a:spAutoFit/>
          </a:bodyPr>
          <a:lstStyle/>
          <a:p>
            <a:pPr algn="just">
              <a:lnSpc>
                <a:spcPts val="5033"/>
              </a:lnSpc>
            </a:pPr>
            <a:r>
              <a:rPr lang="en-US" sz="2778">
                <a:solidFill>
                  <a:srgbClr val="FFFFFF"/>
                </a:solidFill>
                <a:latin typeface="Arial"/>
                <a:ea typeface="Arial"/>
                <a:cs typeface="Arial"/>
                <a:sym typeface="Arial"/>
              </a:rPr>
              <a:t>La seguridad en el almacenamiento de datos es esencial para proteger la información confidencial y garantizar su integridad y disponibilidad. A medida que los volúmenes de datos crecen y las amenazas se vuelven más sofisticadas, implementar mecanismos de seguridad en los sistemas de almacenamiento es fundamental.</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61802"/>
            <a:ext cx="11013624" cy="654682"/>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Tipos de seguridad</a:t>
            </a:r>
          </a:p>
        </p:txBody>
      </p:sp>
      <p:sp>
        <p:nvSpPr>
          <p:cNvPr name="TextBox 5" id="5"/>
          <p:cNvSpPr txBox="true"/>
          <p:nvPr/>
        </p:nvSpPr>
        <p:spPr>
          <a:xfrm rot="0">
            <a:off x="1906772" y="2875016"/>
            <a:ext cx="4286250"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1.</a:t>
            </a:r>
          </a:p>
        </p:txBody>
      </p:sp>
      <p:sp>
        <p:nvSpPr>
          <p:cNvPr name="TextBox 6" id="6"/>
          <p:cNvSpPr txBox="true"/>
          <p:nvPr/>
        </p:nvSpPr>
        <p:spPr>
          <a:xfrm rot="0">
            <a:off x="1906772" y="3501695"/>
            <a:ext cx="4286250"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Cifrado de Datos</a:t>
            </a:r>
          </a:p>
        </p:txBody>
      </p:sp>
      <p:sp>
        <p:nvSpPr>
          <p:cNvPr name="TextBox 7" id="7"/>
          <p:cNvSpPr txBox="true"/>
          <p:nvPr/>
        </p:nvSpPr>
        <p:spPr>
          <a:xfrm rot="0">
            <a:off x="1906772" y="4090283"/>
            <a:ext cx="4286250" cy="13395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Protege los datos almacenados en discos o bases de datos para evitar que sean legibles en caso de robo físico o acceso no autorizado.</a:t>
            </a:r>
          </a:p>
        </p:txBody>
      </p:sp>
      <p:sp>
        <p:nvSpPr>
          <p:cNvPr name="TextBox 8" id="8"/>
          <p:cNvSpPr txBox="true"/>
          <p:nvPr/>
        </p:nvSpPr>
        <p:spPr>
          <a:xfrm rot="0">
            <a:off x="1906772" y="6040012"/>
            <a:ext cx="4286250"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4.</a:t>
            </a:r>
          </a:p>
        </p:txBody>
      </p:sp>
      <p:sp>
        <p:nvSpPr>
          <p:cNvPr name="TextBox 9" id="9"/>
          <p:cNvSpPr txBox="true"/>
          <p:nvPr/>
        </p:nvSpPr>
        <p:spPr>
          <a:xfrm rot="0">
            <a:off x="1906772" y="6667090"/>
            <a:ext cx="4286250"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Autenticación Multifactor</a:t>
            </a:r>
          </a:p>
        </p:txBody>
      </p:sp>
      <p:sp>
        <p:nvSpPr>
          <p:cNvPr name="TextBox 10" id="10"/>
          <p:cNvSpPr txBox="true"/>
          <p:nvPr/>
        </p:nvSpPr>
        <p:spPr>
          <a:xfrm rot="0">
            <a:off x="1906772" y="7255678"/>
            <a:ext cx="4286250" cy="13395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La MFA añade una capa de seguridad adicional que requiere que los usuarios proporcionen dos o más pruebas de identidad</a:t>
            </a:r>
          </a:p>
        </p:txBody>
      </p:sp>
      <p:sp>
        <p:nvSpPr>
          <p:cNvPr name="TextBox 11" id="11"/>
          <p:cNvSpPr txBox="true"/>
          <p:nvPr/>
        </p:nvSpPr>
        <p:spPr>
          <a:xfrm rot="0">
            <a:off x="7002285" y="2875016"/>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2.</a:t>
            </a:r>
          </a:p>
        </p:txBody>
      </p:sp>
      <p:sp>
        <p:nvSpPr>
          <p:cNvPr name="TextBox 12" id="12"/>
          <p:cNvSpPr txBox="true"/>
          <p:nvPr/>
        </p:nvSpPr>
        <p:spPr>
          <a:xfrm rot="0">
            <a:off x="7004418" y="3501695"/>
            <a:ext cx="4284107"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Cifrado en Tránsito</a:t>
            </a:r>
          </a:p>
        </p:txBody>
      </p:sp>
      <p:sp>
        <p:nvSpPr>
          <p:cNvPr name="TextBox 13" id="13"/>
          <p:cNvSpPr txBox="true"/>
          <p:nvPr/>
        </p:nvSpPr>
        <p:spPr>
          <a:xfrm rot="0">
            <a:off x="7004418" y="4090283"/>
            <a:ext cx="4284107" cy="13395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Protege los datos mientras se mueven entre el almacenamiento y el usuario o entre diferentes sistemas, evitando que sean interceptados por terceros</a:t>
            </a:r>
          </a:p>
        </p:txBody>
      </p:sp>
      <p:sp>
        <p:nvSpPr>
          <p:cNvPr name="TextBox 14" id="14"/>
          <p:cNvSpPr txBox="true"/>
          <p:nvPr/>
        </p:nvSpPr>
        <p:spPr>
          <a:xfrm rot="0">
            <a:off x="7002285" y="6040012"/>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5.</a:t>
            </a:r>
          </a:p>
        </p:txBody>
      </p:sp>
      <p:sp>
        <p:nvSpPr>
          <p:cNvPr name="TextBox 15" id="15"/>
          <p:cNvSpPr txBox="true"/>
          <p:nvPr/>
        </p:nvSpPr>
        <p:spPr>
          <a:xfrm rot="0">
            <a:off x="7004418" y="6667090"/>
            <a:ext cx="4284107"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 Protección Contra Malware y Amenazas</a:t>
            </a:r>
          </a:p>
        </p:txBody>
      </p:sp>
      <p:sp>
        <p:nvSpPr>
          <p:cNvPr name="TextBox 16" id="16"/>
          <p:cNvSpPr txBox="true"/>
          <p:nvPr/>
        </p:nvSpPr>
        <p:spPr>
          <a:xfrm rot="0">
            <a:off x="7004418" y="7608103"/>
            <a:ext cx="4284107" cy="13395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mplementar soluciones antimalware en los sistemas de almacenamiento para detectar y mitigar amenazas antes de que infecten o comprometan los datos</a:t>
            </a:r>
          </a:p>
        </p:txBody>
      </p:sp>
      <p:sp>
        <p:nvSpPr>
          <p:cNvPr name="TextBox 17" id="17"/>
          <p:cNvSpPr txBox="true"/>
          <p:nvPr/>
        </p:nvSpPr>
        <p:spPr>
          <a:xfrm rot="0">
            <a:off x="12094978" y="2875016"/>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3.</a:t>
            </a:r>
          </a:p>
        </p:txBody>
      </p:sp>
      <p:sp>
        <p:nvSpPr>
          <p:cNvPr name="TextBox 18" id="18"/>
          <p:cNvSpPr txBox="true"/>
          <p:nvPr/>
        </p:nvSpPr>
        <p:spPr>
          <a:xfrm rot="0">
            <a:off x="12097121" y="3501695"/>
            <a:ext cx="4284107"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Control de Acceso</a:t>
            </a:r>
          </a:p>
        </p:txBody>
      </p:sp>
      <p:sp>
        <p:nvSpPr>
          <p:cNvPr name="TextBox 19" id="19"/>
          <p:cNvSpPr txBox="true"/>
          <p:nvPr/>
        </p:nvSpPr>
        <p:spPr>
          <a:xfrm rot="0">
            <a:off x="12097121" y="4090283"/>
            <a:ext cx="4284107" cy="13395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Definir roles específicos y permisos de acceso a los datos asegura que solo los usuarios autorizados puedan acceder a información crítica.</a:t>
            </a:r>
          </a:p>
        </p:txBody>
      </p:sp>
      <p:sp>
        <p:nvSpPr>
          <p:cNvPr name="TextBox 20" id="20"/>
          <p:cNvSpPr txBox="true"/>
          <p:nvPr/>
        </p:nvSpPr>
        <p:spPr>
          <a:xfrm rot="0">
            <a:off x="12094978" y="6040012"/>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6.</a:t>
            </a:r>
          </a:p>
        </p:txBody>
      </p:sp>
      <p:sp>
        <p:nvSpPr>
          <p:cNvPr name="TextBox 21" id="21"/>
          <p:cNvSpPr txBox="true"/>
          <p:nvPr/>
        </p:nvSpPr>
        <p:spPr>
          <a:xfrm rot="0">
            <a:off x="12097121" y="6667090"/>
            <a:ext cx="4284107"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Análisis de Comportamiento</a:t>
            </a:r>
          </a:p>
        </p:txBody>
      </p:sp>
      <p:sp>
        <p:nvSpPr>
          <p:cNvPr name="TextBox 22" id="22"/>
          <p:cNvSpPr txBox="true"/>
          <p:nvPr/>
        </p:nvSpPr>
        <p:spPr>
          <a:xfrm rot="0">
            <a:off x="12097121" y="7255678"/>
            <a:ext cx="4284107" cy="16443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El monitoreo y análisis del comportamiento de usuarios permite identificar patrones inusuales, como accesos masivos o actividades sospechosas, que podrían indicar una amenaza interna.</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61802"/>
            <a:ext cx="11013624" cy="654682"/>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Tipos de seguridad</a:t>
            </a:r>
          </a:p>
        </p:txBody>
      </p:sp>
      <p:sp>
        <p:nvSpPr>
          <p:cNvPr name="TextBox 5" id="5"/>
          <p:cNvSpPr txBox="true"/>
          <p:nvPr/>
        </p:nvSpPr>
        <p:spPr>
          <a:xfrm rot="0">
            <a:off x="1720120" y="2474624"/>
            <a:ext cx="4286250"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1.</a:t>
            </a:r>
          </a:p>
        </p:txBody>
      </p:sp>
      <p:sp>
        <p:nvSpPr>
          <p:cNvPr name="TextBox 6" id="6"/>
          <p:cNvSpPr txBox="true"/>
          <p:nvPr/>
        </p:nvSpPr>
        <p:spPr>
          <a:xfrm rot="0">
            <a:off x="1720120" y="3101302"/>
            <a:ext cx="4286250"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Redundancia y Recuperación de Datos</a:t>
            </a:r>
          </a:p>
        </p:txBody>
      </p:sp>
      <p:sp>
        <p:nvSpPr>
          <p:cNvPr name="TextBox 7" id="7"/>
          <p:cNvSpPr txBox="true"/>
          <p:nvPr/>
        </p:nvSpPr>
        <p:spPr>
          <a:xfrm rot="0">
            <a:off x="1720120" y="4042315"/>
            <a:ext cx="4286250" cy="13395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Realizar copias de seguridad de los datos regularmente y almacenarlas en ubicaciones seguras y separadas para recuperar datos en caso de pérdida o ataque.</a:t>
            </a:r>
          </a:p>
        </p:txBody>
      </p:sp>
      <p:sp>
        <p:nvSpPr>
          <p:cNvPr name="TextBox 8" id="8"/>
          <p:cNvSpPr txBox="true"/>
          <p:nvPr/>
        </p:nvSpPr>
        <p:spPr>
          <a:xfrm rot="0">
            <a:off x="1906772" y="6040012"/>
            <a:ext cx="4286250"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4.</a:t>
            </a:r>
          </a:p>
        </p:txBody>
      </p:sp>
      <p:sp>
        <p:nvSpPr>
          <p:cNvPr name="TextBox 9" id="9"/>
          <p:cNvSpPr txBox="true"/>
          <p:nvPr/>
        </p:nvSpPr>
        <p:spPr>
          <a:xfrm rot="0">
            <a:off x="1906772" y="6667090"/>
            <a:ext cx="4286250"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Auditoría y Cumplimiento de Normativas</a:t>
            </a:r>
          </a:p>
        </p:txBody>
      </p:sp>
      <p:sp>
        <p:nvSpPr>
          <p:cNvPr name="TextBox 10" id="10"/>
          <p:cNvSpPr txBox="true"/>
          <p:nvPr/>
        </p:nvSpPr>
        <p:spPr>
          <a:xfrm rot="0">
            <a:off x="1906772" y="7608103"/>
            <a:ext cx="4286250" cy="16443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Realizar auditorías periódicas de los accesos y actividades en los sistemas de almacenamiento permite detectar cambios no autorizados y corregir problemas de seguridad.</a:t>
            </a:r>
          </a:p>
        </p:txBody>
      </p:sp>
      <p:sp>
        <p:nvSpPr>
          <p:cNvPr name="TextBox 11" id="11"/>
          <p:cNvSpPr txBox="true"/>
          <p:nvPr/>
        </p:nvSpPr>
        <p:spPr>
          <a:xfrm rot="0">
            <a:off x="7002285" y="2079650"/>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2.</a:t>
            </a:r>
          </a:p>
        </p:txBody>
      </p:sp>
      <p:sp>
        <p:nvSpPr>
          <p:cNvPr name="TextBox 12" id="12"/>
          <p:cNvSpPr txBox="true"/>
          <p:nvPr/>
        </p:nvSpPr>
        <p:spPr>
          <a:xfrm rot="0">
            <a:off x="7004418" y="2706319"/>
            <a:ext cx="4284107"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Monitoreo y Detección de Amenazas</a:t>
            </a:r>
          </a:p>
        </p:txBody>
      </p:sp>
      <p:sp>
        <p:nvSpPr>
          <p:cNvPr name="TextBox 13" id="13"/>
          <p:cNvSpPr txBox="true"/>
          <p:nvPr/>
        </p:nvSpPr>
        <p:spPr>
          <a:xfrm rot="0">
            <a:off x="7004418" y="3647332"/>
            <a:ext cx="4284107" cy="22539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Mantener registros detallados de acceso a datos y acciones realizadas en los sistemas de almacenamiento permite detectar anomalías y responder rápidamente a incidentes.</a:t>
            </a:r>
          </a:p>
          <a:p>
            <a:pPr algn="l">
              <a:lnSpc>
                <a:spcPts val="2537"/>
              </a:lnSpc>
            </a:pPr>
          </a:p>
          <a:p>
            <a:pPr algn="l">
              <a:lnSpc>
                <a:spcPts val="2537"/>
              </a:lnSpc>
            </a:pPr>
          </a:p>
        </p:txBody>
      </p:sp>
      <p:sp>
        <p:nvSpPr>
          <p:cNvPr name="TextBox 14" id="14"/>
          <p:cNvSpPr txBox="true"/>
          <p:nvPr/>
        </p:nvSpPr>
        <p:spPr>
          <a:xfrm rot="0">
            <a:off x="7002285" y="6164456"/>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5.</a:t>
            </a:r>
          </a:p>
        </p:txBody>
      </p:sp>
      <p:sp>
        <p:nvSpPr>
          <p:cNvPr name="TextBox 15" id="15"/>
          <p:cNvSpPr txBox="true"/>
          <p:nvPr/>
        </p:nvSpPr>
        <p:spPr>
          <a:xfrm rot="0">
            <a:off x="7004418" y="6791525"/>
            <a:ext cx="4284107" cy="475459"/>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Cumplimiento de Normativas:</a:t>
            </a:r>
          </a:p>
        </p:txBody>
      </p:sp>
      <p:sp>
        <p:nvSpPr>
          <p:cNvPr name="TextBox 16" id="16"/>
          <p:cNvSpPr txBox="true"/>
          <p:nvPr/>
        </p:nvSpPr>
        <p:spPr>
          <a:xfrm rot="0">
            <a:off x="7004418" y="7380122"/>
            <a:ext cx="4284107" cy="16443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Implementar medidas para cumplir con regulaciones como el GDPR, HIPAA o ISO/IEC 27001, que exigen controles específicos para la seguridad de los datos y la privacidad.</a:t>
            </a:r>
          </a:p>
        </p:txBody>
      </p:sp>
      <p:sp>
        <p:nvSpPr>
          <p:cNvPr name="TextBox 17" id="17"/>
          <p:cNvSpPr txBox="true"/>
          <p:nvPr/>
        </p:nvSpPr>
        <p:spPr>
          <a:xfrm rot="0">
            <a:off x="12094978" y="2079650"/>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3.</a:t>
            </a:r>
          </a:p>
        </p:txBody>
      </p:sp>
      <p:sp>
        <p:nvSpPr>
          <p:cNvPr name="TextBox 18" id="18"/>
          <p:cNvSpPr txBox="true"/>
          <p:nvPr/>
        </p:nvSpPr>
        <p:spPr>
          <a:xfrm rot="0">
            <a:off x="12097121" y="2706319"/>
            <a:ext cx="4284107"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Clasificación y Segmentación de Datos</a:t>
            </a:r>
          </a:p>
        </p:txBody>
      </p:sp>
      <p:sp>
        <p:nvSpPr>
          <p:cNvPr name="TextBox 19" id="19"/>
          <p:cNvSpPr txBox="true"/>
          <p:nvPr/>
        </p:nvSpPr>
        <p:spPr>
          <a:xfrm rot="0">
            <a:off x="12097121" y="3647332"/>
            <a:ext cx="4284107" cy="19491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Identificar y clasificar los datos en función de su sensibilidad (como datos personales, financieros o de propiedad intelectual) para aplicar diferentes niveles de protección.</a:t>
            </a:r>
          </a:p>
          <a:p>
            <a:pPr algn="l">
              <a:lnSpc>
                <a:spcPts val="2537"/>
              </a:lnSpc>
            </a:pPr>
          </a:p>
          <a:p>
            <a:pPr algn="l">
              <a:lnSpc>
                <a:spcPts val="2537"/>
              </a:lnSpc>
            </a:pPr>
          </a:p>
        </p:txBody>
      </p:sp>
      <p:sp>
        <p:nvSpPr>
          <p:cNvPr name="TextBox 20" id="20"/>
          <p:cNvSpPr txBox="true"/>
          <p:nvPr/>
        </p:nvSpPr>
        <p:spPr>
          <a:xfrm rot="0">
            <a:off x="12094978" y="6040012"/>
            <a:ext cx="4284107" cy="645157"/>
          </a:xfrm>
          <a:prstGeom prst="rect">
            <a:avLst/>
          </a:prstGeom>
        </p:spPr>
        <p:txBody>
          <a:bodyPr anchor="t" rtlCol="false" tIns="0" lIns="0" bIns="0" rIns="0">
            <a:spAutoFit/>
          </a:bodyPr>
          <a:lstStyle/>
          <a:p>
            <a:pPr algn="l">
              <a:lnSpc>
                <a:spcPts val="4702"/>
              </a:lnSpc>
            </a:pPr>
            <a:r>
              <a:rPr lang="en-US" b="true" sz="3999">
                <a:solidFill>
                  <a:srgbClr val="FFFFFF"/>
                </a:solidFill>
                <a:latin typeface="Arial Bold"/>
                <a:ea typeface="Arial Bold"/>
                <a:cs typeface="Arial Bold"/>
                <a:sym typeface="Arial Bold"/>
              </a:rPr>
              <a:t>6.</a:t>
            </a:r>
          </a:p>
        </p:txBody>
      </p:sp>
      <p:sp>
        <p:nvSpPr>
          <p:cNvPr name="TextBox 21" id="21"/>
          <p:cNvSpPr txBox="true"/>
          <p:nvPr/>
        </p:nvSpPr>
        <p:spPr>
          <a:xfrm rot="0">
            <a:off x="12097121" y="6667090"/>
            <a:ext cx="4284107" cy="827884"/>
          </a:xfrm>
          <a:prstGeom prst="rect">
            <a:avLst/>
          </a:prstGeom>
        </p:spPr>
        <p:txBody>
          <a:bodyPr anchor="t" rtlCol="false" tIns="0" lIns="0" bIns="0" rIns="0">
            <a:spAutoFit/>
          </a:bodyPr>
          <a:lstStyle/>
          <a:p>
            <a:pPr algn="l">
              <a:lnSpc>
                <a:spcPts val="3360"/>
              </a:lnSpc>
            </a:pPr>
            <a:r>
              <a:rPr lang="en-US" b="true" sz="2000">
                <a:solidFill>
                  <a:srgbClr val="FFFFFF"/>
                </a:solidFill>
                <a:latin typeface="Arial Bold"/>
                <a:ea typeface="Arial Bold"/>
                <a:cs typeface="Arial Bold"/>
                <a:sym typeface="Arial Bold"/>
              </a:rPr>
              <a:t> Tecnologías de Seguridad en la Nube para Almacenamiento</a:t>
            </a:r>
          </a:p>
        </p:txBody>
      </p:sp>
      <p:sp>
        <p:nvSpPr>
          <p:cNvPr name="TextBox 22" id="22"/>
          <p:cNvSpPr txBox="true"/>
          <p:nvPr/>
        </p:nvSpPr>
        <p:spPr>
          <a:xfrm rot="0">
            <a:off x="12097121" y="7608103"/>
            <a:ext cx="4284107" cy="1339567"/>
          </a:xfrm>
          <a:prstGeom prst="rect">
            <a:avLst/>
          </a:prstGeom>
        </p:spPr>
        <p:txBody>
          <a:bodyPr anchor="t" rtlCol="false" tIns="0" lIns="0" bIns="0" rIns="0">
            <a:spAutoFit/>
          </a:bodyPr>
          <a:lstStyle/>
          <a:p>
            <a:pPr algn="l">
              <a:lnSpc>
                <a:spcPts val="2897"/>
              </a:lnSpc>
            </a:pPr>
            <a:r>
              <a:rPr lang="en-US" sz="1599">
                <a:solidFill>
                  <a:srgbClr val="FFFFFF"/>
                </a:solidFill>
                <a:latin typeface="Arial"/>
                <a:ea typeface="Arial"/>
                <a:cs typeface="Arial"/>
                <a:sym typeface="Arial"/>
              </a:rPr>
              <a:t>Configurar roles y permisos específicos para el acceso a los datos almacenados en servicios de nube pública o privada.</a:t>
            </a:r>
          </a:p>
          <a:p>
            <a:pPr algn="l">
              <a:lnSpc>
                <a:spcPts val="2537"/>
              </a:lnSpc>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28700" y="2823867"/>
            <a:ext cx="16230600" cy="3753164"/>
          </a:xfrm>
          <a:prstGeom prst="rect">
            <a:avLst/>
          </a:prstGeom>
        </p:spPr>
        <p:txBody>
          <a:bodyPr anchor="t" rtlCol="false" tIns="0" lIns="0" bIns="0" rIns="0">
            <a:spAutoFit/>
          </a:bodyPr>
          <a:lstStyle/>
          <a:p>
            <a:pPr algn="ctr">
              <a:lnSpc>
                <a:spcPts val="10752"/>
              </a:lnSpc>
            </a:pPr>
            <a:r>
              <a:rPr lang="en-US" b="true" sz="8000">
                <a:solidFill>
                  <a:srgbClr val="FFFFFF"/>
                </a:solidFill>
                <a:latin typeface="Arial Bold"/>
                <a:ea typeface="Arial Bold"/>
                <a:cs typeface="Arial Bold"/>
                <a:sym typeface="Arial Bold"/>
              </a:rPr>
              <a:t>TÉCNICAS DE RESPALDO Y RECUPERACION DE ARCHIVOS</a:t>
            </a:r>
          </a:p>
        </p:txBody>
      </p:sp>
      <p:sp>
        <p:nvSpPr>
          <p:cNvPr name="TextBox 5" id="5"/>
          <p:cNvSpPr txBox="true"/>
          <p:nvPr/>
        </p:nvSpPr>
        <p:spPr>
          <a:xfrm rot="0">
            <a:off x="3140154" y="8404222"/>
            <a:ext cx="12007691" cy="501653"/>
          </a:xfrm>
          <a:prstGeom prst="rect">
            <a:avLst/>
          </a:prstGeom>
        </p:spPr>
        <p:txBody>
          <a:bodyPr anchor="t" rtlCol="false" tIns="0" lIns="0" bIns="0" rIns="0">
            <a:spAutoFit/>
          </a:bodyPr>
          <a:lstStyle/>
          <a:p>
            <a:pPr algn="ctr">
              <a:lnSpc>
                <a:spcPts val="3360"/>
              </a:lnSpc>
            </a:pPr>
            <a:r>
              <a:rPr lang="en-US" sz="2000">
                <a:solidFill>
                  <a:srgbClr val="FFFFFF"/>
                </a:solidFill>
                <a:latin typeface="Arial"/>
                <a:ea typeface="Arial"/>
                <a:cs typeface="Arial"/>
                <a:sym typeface="Arial"/>
              </a:rPr>
              <a:t>AUXILIAR xxxxx</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6184878" y="2041750"/>
            <a:ext cx="5635076" cy="824227"/>
          </a:xfrm>
          <a:prstGeom prst="rect">
            <a:avLst/>
          </a:prstGeom>
        </p:spPr>
        <p:txBody>
          <a:bodyPr anchor="t" rtlCol="false" tIns="0" lIns="0" bIns="0" rIns="0">
            <a:spAutoFit/>
          </a:bodyPr>
          <a:lstStyle/>
          <a:p>
            <a:pPr algn="ctr">
              <a:lnSpc>
                <a:spcPts val="5710"/>
              </a:lnSpc>
            </a:pPr>
            <a:r>
              <a:rPr lang="en-US" b="true" sz="3999">
                <a:solidFill>
                  <a:srgbClr val="FFFFFF"/>
                </a:solidFill>
                <a:latin typeface="Arial Bold"/>
                <a:ea typeface="Arial Bold"/>
                <a:cs typeface="Arial Bold"/>
                <a:sym typeface="Arial Bold"/>
              </a:rPr>
              <a:t>Introducción</a:t>
            </a:r>
          </a:p>
        </p:txBody>
      </p:sp>
      <p:sp>
        <p:nvSpPr>
          <p:cNvPr name="TextBox 5" id="5"/>
          <p:cNvSpPr txBox="true"/>
          <p:nvPr/>
        </p:nvSpPr>
        <p:spPr>
          <a:xfrm rot="0">
            <a:off x="1569853" y="4004948"/>
            <a:ext cx="14865115" cy="2019938"/>
          </a:xfrm>
          <a:prstGeom prst="rect">
            <a:avLst/>
          </a:prstGeom>
        </p:spPr>
        <p:txBody>
          <a:bodyPr anchor="t" rtlCol="false" tIns="0" lIns="0" bIns="0" rIns="0">
            <a:spAutoFit/>
          </a:bodyPr>
          <a:lstStyle/>
          <a:p>
            <a:pPr algn="l">
              <a:lnSpc>
                <a:spcPts val="4366"/>
              </a:lnSpc>
            </a:pPr>
            <a:r>
              <a:rPr lang="en-US" sz="2599">
                <a:solidFill>
                  <a:srgbClr val="FFFFFF"/>
                </a:solidFill>
                <a:latin typeface="Arial"/>
                <a:ea typeface="Arial"/>
                <a:cs typeface="Arial"/>
                <a:sym typeface="Arial"/>
              </a:rPr>
              <a:t>Las técnicas de respaldo y recuperación de archivos son fundamentales para garantizar que los datos críticos puedan recuperarse tras un fallo, ataque o pérdida accidental. Estas técnicas no solo protegen la información contra el borrado o la corrupción, sino que también aseguran la continuidad del negocio en caso de desastre.</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7629439" y="1253680"/>
            <a:ext cx="1228220" cy="1271397"/>
          </a:xfrm>
          <a:custGeom>
            <a:avLst/>
            <a:gdLst/>
            <a:ahLst/>
            <a:cxnLst/>
            <a:rect r="r" b="b" t="t" l="l"/>
            <a:pathLst>
              <a:path h="1271397" w="1228220">
                <a:moveTo>
                  <a:pt x="0" y="0"/>
                </a:moveTo>
                <a:lnTo>
                  <a:pt x="1228220" y="0"/>
                </a:lnTo>
                <a:lnTo>
                  <a:pt x="1228220" y="1271398"/>
                </a:lnTo>
                <a:lnTo>
                  <a:pt x="0" y="1271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7985150" y="1688468"/>
            <a:ext cx="516798" cy="398583"/>
            <a:chOff x="0" y="0"/>
            <a:chExt cx="689064" cy="531444"/>
          </a:xfrm>
        </p:grpSpPr>
        <p:sp>
          <p:nvSpPr>
            <p:cNvPr name="Freeform 6" id="6"/>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7" id="7"/>
          <p:cNvSpPr txBox="true"/>
          <p:nvPr/>
        </p:nvSpPr>
        <p:spPr>
          <a:xfrm rot="0">
            <a:off x="9220552" y="1165889"/>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Respaldo Completo:</a:t>
            </a:r>
          </a:p>
        </p:txBody>
      </p:sp>
      <p:sp>
        <p:nvSpPr>
          <p:cNvPr name="TextBox 8" id="8"/>
          <p:cNvSpPr txBox="true"/>
          <p:nvPr/>
        </p:nvSpPr>
        <p:spPr>
          <a:xfrm rot="0">
            <a:off x="9220552" y="1587913"/>
            <a:ext cx="7143750" cy="28747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Consiste en copiar todos los datos seleccionados en un solo respaldo, proporcionando una copia completa del sistema o carpeta.</a:t>
            </a:r>
          </a:p>
          <a:p>
            <a:pPr algn="l" marL="411480" indent="-137160" lvl="2">
              <a:lnSpc>
                <a:spcPts val="3261"/>
              </a:lnSpc>
              <a:buFont typeface="Arial"/>
              <a:buChar char="⚬"/>
            </a:pPr>
            <a:r>
              <a:rPr lang="en-US" sz="1800">
                <a:solidFill>
                  <a:srgbClr val="FFFFFF"/>
                </a:solidFill>
                <a:latin typeface="Arial"/>
                <a:ea typeface="Arial"/>
                <a:cs typeface="Arial"/>
                <a:sym typeface="Arial"/>
              </a:rPr>
              <a:t>Ventaja: Es más fácil de restaurar porque toda la información está en un solo archivo o conjunto de archivos.</a:t>
            </a:r>
          </a:p>
          <a:p>
            <a:pPr algn="l" marL="411480" indent="-137160" lvl="2">
              <a:lnSpc>
                <a:spcPts val="3261"/>
              </a:lnSpc>
              <a:buFont typeface="Arial"/>
              <a:buChar char="⚬"/>
            </a:pPr>
            <a:r>
              <a:rPr lang="en-US" sz="1800">
                <a:solidFill>
                  <a:srgbClr val="FFFFFF"/>
                </a:solidFill>
                <a:latin typeface="Arial"/>
                <a:ea typeface="Arial"/>
                <a:cs typeface="Arial"/>
                <a:sym typeface="Arial"/>
              </a:rPr>
              <a:t>Desventaja: Consume mucho tiempo y espacio de almacenamiento.</a:t>
            </a:r>
          </a:p>
          <a:p>
            <a:pPr algn="l" marL="320040" indent="-106680" lvl="2">
              <a:lnSpc>
                <a:spcPts val="2536"/>
              </a:lnSpc>
            </a:pPr>
          </a:p>
        </p:txBody>
      </p:sp>
      <p:sp>
        <p:nvSpPr>
          <p:cNvPr name="TextBox 9" id="9"/>
          <p:cNvSpPr txBox="true"/>
          <p:nvPr/>
        </p:nvSpPr>
        <p:spPr>
          <a:xfrm rot="0">
            <a:off x="1590342" y="4245959"/>
            <a:ext cx="4812163" cy="1594133"/>
          </a:xfrm>
          <a:prstGeom prst="rect">
            <a:avLst/>
          </a:prstGeom>
        </p:spPr>
        <p:txBody>
          <a:bodyPr anchor="t" rtlCol="false" tIns="0" lIns="0" bIns="0" rIns="0">
            <a:spAutoFit/>
          </a:bodyPr>
          <a:lstStyle/>
          <a:p>
            <a:pPr algn="ctr">
              <a:lnSpc>
                <a:spcPts val="6567"/>
              </a:lnSpc>
            </a:pPr>
            <a:r>
              <a:rPr lang="en-US" b="true" sz="4599">
                <a:solidFill>
                  <a:srgbClr val="FFFFFF"/>
                </a:solidFill>
                <a:latin typeface="Arial Bold"/>
                <a:ea typeface="Arial Bold"/>
                <a:cs typeface="Arial Bold"/>
                <a:sym typeface="Arial Bold"/>
              </a:rPr>
              <a:t>Tipos de Respaldo</a:t>
            </a:r>
          </a:p>
        </p:txBody>
      </p:sp>
      <p:sp>
        <p:nvSpPr>
          <p:cNvPr name="Freeform 10" id="10"/>
          <p:cNvSpPr/>
          <p:nvPr/>
        </p:nvSpPr>
        <p:spPr>
          <a:xfrm flipH="false" flipV="false" rot="0">
            <a:off x="7774619" y="5350107"/>
            <a:ext cx="1228220" cy="1271397"/>
          </a:xfrm>
          <a:custGeom>
            <a:avLst/>
            <a:gdLst/>
            <a:ahLst/>
            <a:cxnLst/>
            <a:rect r="r" b="b" t="t" l="l"/>
            <a:pathLst>
              <a:path h="1271397" w="1228220">
                <a:moveTo>
                  <a:pt x="0" y="0"/>
                </a:moveTo>
                <a:lnTo>
                  <a:pt x="1228220" y="0"/>
                </a:lnTo>
                <a:lnTo>
                  <a:pt x="1228220"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8130330" y="5784904"/>
            <a:ext cx="516798" cy="398583"/>
            <a:chOff x="0" y="0"/>
            <a:chExt cx="689064" cy="531444"/>
          </a:xfrm>
        </p:grpSpPr>
        <p:sp>
          <p:nvSpPr>
            <p:cNvPr name="Freeform 12" id="12"/>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13" id="13"/>
          <p:cNvSpPr txBox="true"/>
          <p:nvPr/>
        </p:nvSpPr>
        <p:spPr>
          <a:xfrm rot="0">
            <a:off x="9365732" y="5262324"/>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Respaldo Incremental:</a:t>
            </a:r>
          </a:p>
        </p:txBody>
      </p:sp>
      <p:sp>
        <p:nvSpPr>
          <p:cNvPr name="TextBox 14" id="14"/>
          <p:cNvSpPr txBox="true"/>
          <p:nvPr/>
        </p:nvSpPr>
        <p:spPr>
          <a:xfrm rot="0">
            <a:off x="9365732" y="5684349"/>
            <a:ext cx="7143750" cy="28747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Solo copia los datos que han cambiado desde el último respaldo (completo o incremental).</a:t>
            </a:r>
          </a:p>
          <a:p>
            <a:pPr algn="l" marL="411480" indent="-137160" lvl="2">
              <a:lnSpc>
                <a:spcPts val="3261"/>
              </a:lnSpc>
              <a:buFont typeface="Arial"/>
              <a:buChar char="⚬"/>
            </a:pPr>
            <a:r>
              <a:rPr lang="en-US" sz="1800">
                <a:solidFill>
                  <a:srgbClr val="FFFFFF"/>
                </a:solidFill>
                <a:latin typeface="Arial"/>
                <a:ea typeface="Arial"/>
                <a:cs typeface="Arial"/>
                <a:sym typeface="Arial"/>
              </a:rPr>
              <a:t>Ventaja: Requiere menos tiempo y espacio de almacenamiento.</a:t>
            </a:r>
          </a:p>
          <a:p>
            <a:pPr algn="l" marL="411480" indent="-137160" lvl="2">
              <a:lnSpc>
                <a:spcPts val="3261"/>
              </a:lnSpc>
              <a:buFont typeface="Arial"/>
              <a:buChar char="⚬"/>
            </a:pPr>
            <a:r>
              <a:rPr lang="en-US" sz="1800">
                <a:solidFill>
                  <a:srgbClr val="FFFFFF"/>
                </a:solidFill>
                <a:latin typeface="Arial"/>
                <a:ea typeface="Arial"/>
                <a:cs typeface="Arial"/>
                <a:sym typeface="Arial"/>
              </a:rPr>
              <a:t>Desventaja: La restauración puede ser más lenta, ya que depende de una serie de respaldos anteriores.</a:t>
            </a:r>
          </a:p>
          <a:p>
            <a:pPr algn="l" marL="320040" indent="-106680" lvl="2">
              <a:lnSpc>
                <a:spcPts val="2536"/>
              </a:lnSpc>
            </a:pPr>
          </a:p>
          <a:p>
            <a:pPr algn="l" marL="320040" indent="-106680" lvl="2">
              <a:lnSpc>
                <a:spcPts val="2536"/>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7629439" y="1253680"/>
            <a:ext cx="1228220" cy="1271397"/>
          </a:xfrm>
          <a:custGeom>
            <a:avLst/>
            <a:gdLst/>
            <a:ahLst/>
            <a:cxnLst/>
            <a:rect r="r" b="b" t="t" l="l"/>
            <a:pathLst>
              <a:path h="1271397" w="1228220">
                <a:moveTo>
                  <a:pt x="0" y="0"/>
                </a:moveTo>
                <a:lnTo>
                  <a:pt x="1228220" y="0"/>
                </a:lnTo>
                <a:lnTo>
                  <a:pt x="1228220" y="1271398"/>
                </a:lnTo>
                <a:lnTo>
                  <a:pt x="0" y="1271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7985150" y="1688468"/>
            <a:ext cx="516798" cy="398583"/>
            <a:chOff x="0" y="0"/>
            <a:chExt cx="689064" cy="531444"/>
          </a:xfrm>
        </p:grpSpPr>
        <p:sp>
          <p:nvSpPr>
            <p:cNvPr name="Freeform 6" id="6"/>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7" id="7"/>
          <p:cNvSpPr txBox="true"/>
          <p:nvPr/>
        </p:nvSpPr>
        <p:spPr>
          <a:xfrm rot="0">
            <a:off x="9220552" y="1165889"/>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Respaldo Diferencial:</a:t>
            </a:r>
          </a:p>
        </p:txBody>
      </p:sp>
      <p:sp>
        <p:nvSpPr>
          <p:cNvPr name="TextBox 8" id="8"/>
          <p:cNvSpPr txBox="true"/>
          <p:nvPr/>
        </p:nvSpPr>
        <p:spPr>
          <a:xfrm rot="0">
            <a:off x="9220552" y="1587913"/>
            <a:ext cx="7143750" cy="28747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Copia todos los cambios realizados desde el último respaldo completo.</a:t>
            </a:r>
          </a:p>
          <a:p>
            <a:pPr algn="l" marL="411480" indent="-137160" lvl="2">
              <a:lnSpc>
                <a:spcPts val="3261"/>
              </a:lnSpc>
              <a:buFont typeface="Arial"/>
              <a:buChar char="⚬"/>
            </a:pPr>
            <a:r>
              <a:rPr lang="en-US" sz="1800">
                <a:solidFill>
                  <a:srgbClr val="FFFFFF"/>
                </a:solidFill>
                <a:latin typeface="Arial"/>
                <a:ea typeface="Arial"/>
                <a:cs typeface="Arial"/>
                <a:sym typeface="Arial"/>
              </a:rPr>
              <a:t>Ventaja: Es más rápido de restaurar que un respaldo incremental, ya que solo necesita el último respaldo completo y el último diferencial.</a:t>
            </a:r>
          </a:p>
          <a:p>
            <a:pPr algn="l" marL="411480" indent="-137160" lvl="2">
              <a:lnSpc>
                <a:spcPts val="3261"/>
              </a:lnSpc>
              <a:buFont typeface="Arial"/>
              <a:buChar char="⚬"/>
            </a:pPr>
            <a:r>
              <a:rPr lang="en-US" sz="1800">
                <a:solidFill>
                  <a:srgbClr val="FFFFFF"/>
                </a:solidFill>
                <a:latin typeface="Arial"/>
                <a:ea typeface="Arial"/>
                <a:cs typeface="Arial"/>
                <a:sym typeface="Arial"/>
              </a:rPr>
              <a:t>Desventaja: Consume más espacio y tiempo que el respaldo incremental, pero menos que el respaldo completo.</a:t>
            </a:r>
          </a:p>
          <a:p>
            <a:pPr algn="l" marL="320040" indent="-106680" lvl="2">
              <a:lnSpc>
                <a:spcPts val="2536"/>
              </a:lnSpc>
            </a:pPr>
          </a:p>
        </p:txBody>
      </p:sp>
      <p:sp>
        <p:nvSpPr>
          <p:cNvPr name="TextBox 9" id="9"/>
          <p:cNvSpPr txBox="true"/>
          <p:nvPr/>
        </p:nvSpPr>
        <p:spPr>
          <a:xfrm rot="0">
            <a:off x="1590342" y="4245959"/>
            <a:ext cx="4812163" cy="1594133"/>
          </a:xfrm>
          <a:prstGeom prst="rect">
            <a:avLst/>
          </a:prstGeom>
        </p:spPr>
        <p:txBody>
          <a:bodyPr anchor="t" rtlCol="false" tIns="0" lIns="0" bIns="0" rIns="0">
            <a:spAutoFit/>
          </a:bodyPr>
          <a:lstStyle/>
          <a:p>
            <a:pPr algn="ctr">
              <a:lnSpc>
                <a:spcPts val="6567"/>
              </a:lnSpc>
            </a:pPr>
            <a:r>
              <a:rPr lang="en-US" b="true" sz="4599">
                <a:solidFill>
                  <a:srgbClr val="FFFFFF"/>
                </a:solidFill>
                <a:latin typeface="Arial Bold"/>
                <a:ea typeface="Arial Bold"/>
                <a:cs typeface="Arial Bold"/>
                <a:sym typeface="Arial Bold"/>
              </a:rPr>
              <a:t>Tipos de Respaldo</a:t>
            </a:r>
          </a:p>
        </p:txBody>
      </p:sp>
      <p:sp>
        <p:nvSpPr>
          <p:cNvPr name="Freeform 10" id="10"/>
          <p:cNvSpPr/>
          <p:nvPr/>
        </p:nvSpPr>
        <p:spPr>
          <a:xfrm flipH="false" flipV="false" rot="0">
            <a:off x="7774619" y="5350107"/>
            <a:ext cx="1228220" cy="1271397"/>
          </a:xfrm>
          <a:custGeom>
            <a:avLst/>
            <a:gdLst/>
            <a:ahLst/>
            <a:cxnLst/>
            <a:rect r="r" b="b" t="t" l="l"/>
            <a:pathLst>
              <a:path h="1271397" w="1228220">
                <a:moveTo>
                  <a:pt x="0" y="0"/>
                </a:moveTo>
                <a:lnTo>
                  <a:pt x="1228220" y="0"/>
                </a:lnTo>
                <a:lnTo>
                  <a:pt x="1228220"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8130330" y="5784904"/>
            <a:ext cx="516798" cy="398583"/>
            <a:chOff x="0" y="0"/>
            <a:chExt cx="689064" cy="531444"/>
          </a:xfrm>
        </p:grpSpPr>
        <p:sp>
          <p:nvSpPr>
            <p:cNvPr name="Freeform 12" id="12"/>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13" id="13"/>
          <p:cNvSpPr txBox="true"/>
          <p:nvPr/>
        </p:nvSpPr>
        <p:spPr>
          <a:xfrm rot="0">
            <a:off x="9365732" y="5262324"/>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Respaldo Espejo (Mirror Backup)</a:t>
            </a:r>
          </a:p>
        </p:txBody>
      </p:sp>
      <p:sp>
        <p:nvSpPr>
          <p:cNvPr name="TextBox 14" id="14"/>
          <p:cNvSpPr txBox="true"/>
          <p:nvPr/>
        </p:nvSpPr>
        <p:spPr>
          <a:xfrm rot="0">
            <a:off x="9365732" y="5684349"/>
            <a:ext cx="7143750" cy="28747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Crea una copia exacta (espejo) de los archivos y carpetas seleccionados.</a:t>
            </a:r>
          </a:p>
          <a:p>
            <a:pPr algn="l" marL="411480" indent="-137160" lvl="2">
              <a:lnSpc>
                <a:spcPts val="3261"/>
              </a:lnSpc>
              <a:buFont typeface="Arial"/>
              <a:buChar char="⚬"/>
            </a:pPr>
            <a:r>
              <a:rPr lang="en-US" sz="1800">
                <a:solidFill>
                  <a:srgbClr val="FFFFFF"/>
                </a:solidFill>
                <a:latin typeface="Arial"/>
                <a:ea typeface="Arial"/>
                <a:cs typeface="Arial"/>
                <a:sym typeface="Arial"/>
              </a:rPr>
              <a:t>Ventaja: La copia siempre está actualizada con los cambios realizados.</a:t>
            </a:r>
          </a:p>
          <a:p>
            <a:pPr algn="l" marL="411480" indent="-137160" lvl="2">
              <a:lnSpc>
                <a:spcPts val="3261"/>
              </a:lnSpc>
              <a:buFont typeface="Arial"/>
              <a:buChar char="⚬"/>
            </a:pPr>
            <a:r>
              <a:rPr lang="en-US" sz="1800">
                <a:solidFill>
                  <a:srgbClr val="FFFFFF"/>
                </a:solidFill>
                <a:latin typeface="Arial"/>
                <a:ea typeface="Arial"/>
                <a:cs typeface="Arial"/>
                <a:sym typeface="Arial"/>
              </a:rPr>
              <a:t>Desventaja: Los datos eliminados también se eliminan del respaldo, lo que puede ser una desventaja si ocurre un borrado accidental.</a:t>
            </a:r>
          </a:p>
          <a:p>
            <a:pPr algn="l" marL="320040" indent="-106680" lvl="2">
              <a:lnSpc>
                <a:spcPts val="2536"/>
              </a:lnSpc>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7629439" y="1253680"/>
            <a:ext cx="1228220" cy="1271397"/>
          </a:xfrm>
          <a:custGeom>
            <a:avLst/>
            <a:gdLst/>
            <a:ahLst/>
            <a:cxnLst/>
            <a:rect r="r" b="b" t="t" l="l"/>
            <a:pathLst>
              <a:path h="1271397" w="1228220">
                <a:moveTo>
                  <a:pt x="0" y="0"/>
                </a:moveTo>
                <a:lnTo>
                  <a:pt x="1228220" y="0"/>
                </a:lnTo>
                <a:lnTo>
                  <a:pt x="1228220" y="1271398"/>
                </a:lnTo>
                <a:lnTo>
                  <a:pt x="0" y="1271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7985150" y="1688468"/>
            <a:ext cx="516798" cy="398583"/>
            <a:chOff x="0" y="0"/>
            <a:chExt cx="689064" cy="531444"/>
          </a:xfrm>
        </p:grpSpPr>
        <p:sp>
          <p:nvSpPr>
            <p:cNvPr name="Freeform 6" id="6"/>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7" id="7"/>
          <p:cNvSpPr txBox="true"/>
          <p:nvPr/>
        </p:nvSpPr>
        <p:spPr>
          <a:xfrm rot="0">
            <a:off x="9220552" y="1165889"/>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Dispositivos Locales</a:t>
            </a:r>
          </a:p>
        </p:txBody>
      </p:sp>
      <p:sp>
        <p:nvSpPr>
          <p:cNvPr name="TextBox 8" id="8"/>
          <p:cNvSpPr txBox="true"/>
          <p:nvPr/>
        </p:nvSpPr>
        <p:spPr>
          <a:xfrm rot="0">
            <a:off x="9220552" y="1587913"/>
            <a:ext cx="7143750" cy="25318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Los respaldos se almacenan en dispositivos como discos duros externos, cintas de respaldo o servidores de almacenamiento interno.</a:t>
            </a:r>
          </a:p>
          <a:p>
            <a:pPr algn="l" marL="411480" indent="-137160" lvl="2">
              <a:lnSpc>
                <a:spcPts val="3261"/>
              </a:lnSpc>
              <a:buFont typeface="Arial"/>
              <a:buChar char="⚬"/>
            </a:pPr>
            <a:r>
              <a:rPr lang="en-US" sz="1800">
                <a:solidFill>
                  <a:srgbClr val="FFFFFF"/>
                </a:solidFill>
                <a:latin typeface="Arial"/>
                <a:ea typeface="Arial"/>
                <a:cs typeface="Arial"/>
                <a:sym typeface="Arial"/>
              </a:rPr>
              <a:t>Ventaja: Acceso rápido y bajo costo.</a:t>
            </a:r>
          </a:p>
          <a:p>
            <a:pPr algn="l" marL="411480" indent="-137160" lvl="2">
              <a:lnSpc>
                <a:spcPts val="3261"/>
              </a:lnSpc>
              <a:buFont typeface="Arial"/>
              <a:buChar char="⚬"/>
            </a:pPr>
            <a:r>
              <a:rPr lang="en-US" sz="1800">
                <a:solidFill>
                  <a:srgbClr val="FFFFFF"/>
                </a:solidFill>
                <a:latin typeface="Arial"/>
                <a:ea typeface="Arial"/>
                <a:cs typeface="Arial"/>
                <a:sym typeface="Arial"/>
              </a:rPr>
              <a:t>Desventaja: Vulnerabilidad ante desastres locales, como incendios o fallos de hardware.</a:t>
            </a:r>
          </a:p>
          <a:p>
            <a:pPr algn="l" marL="320040" indent="-106680" lvl="2">
              <a:lnSpc>
                <a:spcPts val="2536"/>
              </a:lnSpc>
            </a:pPr>
          </a:p>
        </p:txBody>
      </p:sp>
      <p:sp>
        <p:nvSpPr>
          <p:cNvPr name="TextBox 9" id="9"/>
          <p:cNvSpPr txBox="true"/>
          <p:nvPr/>
        </p:nvSpPr>
        <p:spPr>
          <a:xfrm rot="0">
            <a:off x="1028700" y="4245959"/>
            <a:ext cx="5621017" cy="2279933"/>
          </a:xfrm>
          <a:prstGeom prst="rect">
            <a:avLst/>
          </a:prstGeom>
        </p:spPr>
        <p:txBody>
          <a:bodyPr anchor="t" rtlCol="false" tIns="0" lIns="0" bIns="0" rIns="0">
            <a:spAutoFit/>
          </a:bodyPr>
          <a:lstStyle/>
          <a:p>
            <a:pPr algn="ctr">
              <a:lnSpc>
                <a:spcPts val="6567"/>
              </a:lnSpc>
            </a:pPr>
            <a:r>
              <a:rPr lang="en-US" b="true" sz="4599">
                <a:solidFill>
                  <a:srgbClr val="FFFFFF"/>
                </a:solidFill>
                <a:latin typeface="Arial Bold"/>
                <a:ea typeface="Arial Bold"/>
                <a:cs typeface="Arial Bold"/>
                <a:sym typeface="Arial Bold"/>
              </a:rPr>
              <a:t>Métodos de Almacenamiento de Respaldo</a:t>
            </a:r>
          </a:p>
        </p:txBody>
      </p:sp>
      <p:sp>
        <p:nvSpPr>
          <p:cNvPr name="Freeform 10" id="10"/>
          <p:cNvSpPr/>
          <p:nvPr/>
        </p:nvSpPr>
        <p:spPr>
          <a:xfrm flipH="false" flipV="false" rot="0">
            <a:off x="7774619" y="5350107"/>
            <a:ext cx="1228220" cy="1271397"/>
          </a:xfrm>
          <a:custGeom>
            <a:avLst/>
            <a:gdLst/>
            <a:ahLst/>
            <a:cxnLst/>
            <a:rect r="r" b="b" t="t" l="l"/>
            <a:pathLst>
              <a:path h="1271397" w="1228220">
                <a:moveTo>
                  <a:pt x="0" y="0"/>
                </a:moveTo>
                <a:lnTo>
                  <a:pt x="1228220" y="0"/>
                </a:lnTo>
                <a:lnTo>
                  <a:pt x="1228220"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8130330" y="5784904"/>
            <a:ext cx="516798" cy="398583"/>
            <a:chOff x="0" y="0"/>
            <a:chExt cx="689064" cy="531444"/>
          </a:xfrm>
        </p:grpSpPr>
        <p:sp>
          <p:nvSpPr>
            <p:cNvPr name="Freeform 12" id="12"/>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13" id="13"/>
          <p:cNvSpPr txBox="true"/>
          <p:nvPr/>
        </p:nvSpPr>
        <p:spPr>
          <a:xfrm rot="0">
            <a:off x="9365732" y="5262324"/>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Almacenamiento en Red (NAS)</a:t>
            </a:r>
          </a:p>
        </p:txBody>
      </p:sp>
      <p:sp>
        <p:nvSpPr>
          <p:cNvPr name="TextBox 14" id="14"/>
          <p:cNvSpPr txBox="true"/>
          <p:nvPr/>
        </p:nvSpPr>
        <p:spPr>
          <a:xfrm rot="0">
            <a:off x="9365732" y="5684349"/>
            <a:ext cx="7143750" cy="25318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Utiliza dispositivos de almacenamiento conectados a la red que permiten el acceso desde varios dispositivos y usuarios.</a:t>
            </a:r>
          </a:p>
          <a:p>
            <a:pPr algn="l" marL="411480" indent="-137160" lvl="2">
              <a:lnSpc>
                <a:spcPts val="3261"/>
              </a:lnSpc>
              <a:buFont typeface="Arial"/>
              <a:buChar char="⚬"/>
            </a:pPr>
            <a:r>
              <a:rPr lang="en-US" sz="1800">
                <a:solidFill>
                  <a:srgbClr val="FFFFFF"/>
                </a:solidFill>
                <a:latin typeface="Arial"/>
                <a:ea typeface="Arial"/>
                <a:cs typeface="Arial"/>
                <a:sym typeface="Arial"/>
              </a:rPr>
              <a:t>Ventaja: Flexibilidad para gestionar grandes volúmenes de datos.</a:t>
            </a:r>
          </a:p>
          <a:p>
            <a:pPr algn="l" marL="411480" indent="-137160" lvl="2">
              <a:lnSpc>
                <a:spcPts val="3261"/>
              </a:lnSpc>
              <a:buFont typeface="Arial"/>
              <a:buChar char="⚬"/>
            </a:pPr>
            <a:r>
              <a:rPr lang="en-US" sz="1800">
                <a:solidFill>
                  <a:srgbClr val="FFFFFF"/>
                </a:solidFill>
                <a:latin typeface="Arial"/>
                <a:ea typeface="Arial"/>
                <a:cs typeface="Arial"/>
                <a:sym typeface="Arial"/>
              </a:rPr>
              <a:t>Desventaja: Puede estar expuesto a ataques de red si no se protege adecuadamente</a:t>
            </a:r>
          </a:p>
          <a:p>
            <a:pPr algn="l" marL="320040" indent="-106680" lvl="2">
              <a:lnSpc>
                <a:spcPts val="2536"/>
              </a:lnSpc>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7629439" y="1253680"/>
            <a:ext cx="1228220" cy="1271397"/>
          </a:xfrm>
          <a:custGeom>
            <a:avLst/>
            <a:gdLst/>
            <a:ahLst/>
            <a:cxnLst/>
            <a:rect r="r" b="b" t="t" l="l"/>
            <a:pathLst>
              <a:path h="1271397" w="1228220">
                <a:moveTo>
                  <a:pt x="0" y="0"/>
                </a:moveTo>
                <a:lnTo>
                  <a:pt x="1228220" y="0"/>
                </a:lnTo>
                <a:lnTo>
                  <a:pt x="1228220" y="1271398"/>
                </a:lnTo>
                <a:lnTo>
                  <a:pt x="0" y="12713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7985150" y="1688468"/>
            <a:ext cx="516798" cy="398583"/>
            <a:chOff x="0" y="0"/>
            <a:chExt cx="689064" cy="531444"/>
          </a:xfrm>
        </p:grpSpPr>
        <p:sp>
          <p:nvSpPr>
            <p:cNvPr name="Freeform 6" id="6"/>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7" id="7"/>
          <p:cNvSpPr txBox="true"/>
          <p:nvPr/>
        </p:nvSpPr>
        <p:spPr>
          <a:xfrm rot="0">
            <a:off x="9220552" y="1165889"/>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Almacenamiento en Cintas (Tape Backup)</a:t>
            </a:r>
          </a:p>
        </p:txBody>
      </p:sp>
      <p:sp>
        <p:nvSpPr>
          <p:cNvPr name="TextBox 8" id="8"/>
          <p:cNvSpPr txBox="true"/>
          <p:nvPr/>
        </p:nvSpPr>
        <p:spPr>
          <a:xfrm rot="0">
            <a:off x="9220552" y="1587913"/>
            <a:ext cx="7143750" cy="25318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Utiliza cintas magnéticas para almacenar copias de seguridad, que son fiables para almacenamiento a largo plazo.</a:t>
            </a:r>
          </a:p>
          <a:p>
            <a:pPr algn="l" marL="411480" indent="-137160" lvl="2">
              <a:lnSpc>
                <a:spcPts val="3261"/>
              </a:lnSpc>
              <a:buFont typeface="Arial"/>
              <a:buChar char="⚬"/>
            </a:pPr>
            <a:r>
              <a:rPr lang="en-US" sz="1800">
                <a:solidFill>
                  <a:srgbClr val="FFFFFF"/>
                </a:solidFill>
                <a:latin typeface="Arial"/>
                <a:ea typeface="Arial"/>
                <a:cs typeface="Arial"/>
                <a:sym typeface="Arial"/>
              </a:rPr>
              <a:t>Ventaja: Alta capacidad y durabilidad para respaldos de archivo y almacenamiento a largo plazo.</a:t>
            </a:r>
          </a:p>
          <a:p>
            <a:pPr algn="l" marL="411480" indent="-137160" lvl="2">
              <a:lnSpc>
                <a:spcPts val="3261"/>
              </a:lnSpc>
              <a:buFont typeface="Arial"/>
              <a:buChar char="⚬"/>
            </a:pPr>
            <a:r>
              <a:rPr lang="en-US" sz="1800">
                <a:solidFill>
                  <a:srgbClr val="FFFFFF"/>
                </a:solidFill>
                <a:latin typeface="Arial"/>
                <a:ea typeface="Arial"/>
                <a:cs typeface="Arial"/>
                <a:sym typeface="Arial"/>
              </a:rPr>
              <a:t>Desventaja: Tiempo de acceso más lento y mayor esfuerzo de mantenimiento.</a:t>
            </a:r>
          </a:p>
          <a:p>
            <a:pPr algn="l" marL="320040" indent="-106680" lvl="2">
              <a:lnSpc>
                <a:spcPts val="2536"/>
              </a:lnSpc>
            </a:pPr>
          </a:p>
        </p:txBody>
      </p:sp>
      <p:sp>
        <p:nvSpPr>
          <p:cNvPr name="TextBox 9" id="9"/>
          <p:cNvSpPr txBox="true"/>
          <p:nvPr/>
        </p:nvSpPr>
        <p:spPr>
          <a:xfrm rot="0">
            <a:off x="1590342" y="4245959"/>
            <a:ext cx="4812163" cy="2279933"/>
          </a:xfrm>
          <a:prstGeom prst="rect">
            <a:avLst/>
          </a:prstGeom>
        </p:spPr>
        <p:txBody>
          <a:bodyPr anchor="t" rtlCol="false" tIns="0" lIns="0" bIns="0" rIns="0">
            <a:spAutoFit/>
          </a:bodyPr>
          <a:lstStyle/>
          <a:p>
            <a:pPr algn="ctr">
              <a:lnSpc>
                <a:spcPts val="6567"/>
              </a:lnSpc>
            </a:pPr>
            <a:r>
              <a:rPr lang="en-US" b="true" sz="4599">
                <a:solidFill>
                  <a:srgbClr val="FFFFFF"/>
                </a:solidFill>
                <a:latin typeface="Arial Bold"/>
                <a:ea typeface="Arial Bold"/>
                <a:cs typeface="Arial Bold"/>
                <a:sym typeface="Arial Bold"/>
              </a:rPr>
              <a:t>Métodos de Almacenamiento de Respaldo</a:t>
            </a:r>
          </a:p>
        </p:txBody>
      </p:sp>
      <p:sp>
        <p:nvSpPr>
          <p:cNvPr name="Freeform 10" id="10"/>
          <p:cNvSpPr/>
          <p:nvPr/>
        </p:nvSpPr>
        <p:spPr>
          <a:xfrm flipH="false" flipV="false" rot="0">
            <a:off x="7774619" y="5350107"/>
            <a:ext cx="1228220" cy="1271397"/>
          </a:xfrm>
          <a:custGeom>
            <a:avLst/>
            <a:gdLst/>
            <a:ahLst/>
            <a:cxnLst/>
            <a:rect r="r" b="b" t="t" l="l"/>
            <a:pathLst>
              <a:path h="1271397" w="1228220">
                <a:moveTo>
                  <a:pt x="0" y="0"/>
                </a:moveTo>
                <a:lnTo>
                  <a:pt x="1228220" y="0"/>
                </a:lnTo>
                <a:lnTo>
                  <a:pt x="1228220" y="1271397"/>
                </a:lnTo>
                <a:lnTo>
                  <a:pt x="0" y="1271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8130330" y="5784904"/>
            <a:ext cx="516798" cy="398583"/>
            <a:chOff x="0" y="0"/>
            <a:chExt cx="689064" cy="531444"/>
          </a:xfrm>
        </p:grpSpPr>
        <p:sp>
          <p:nvSpPr>
            <p:cNvPr name="Freeform 12" id="12"/>
            <p:cNvSpPr/>
            <p:nvPr/>
          </p:nvSpPr>
          <p:spPr>
            <a:xfrm flipH="false" flipV="false" rot="0">
              <a:off x="0" y="0"/>
              <a:ext cx="689102" cy="531495"/>
            </a:xfrm>
            <a:custGeom>
              <a:avLst/>
              <a:gdLst/>
              <a:ahLst/>
              <a:cxnLst/>
              <a:rect r="r" b="b" t="t" l="l"/>
              <a:pathLst>
                <a:path h="531495" w="689102">
                  <a:moveTo>
                    <a:pt x="0" y="0"/>
                  </a:moveTo>
                  <a:lnTo>
                    <a:pt x="689102" y="0"/>
                  </a:lnTo>
                  <a:lnTo>
                    <a:pt x="689102" y="531495"/>
                  </a:lnTo>
                  <a:lnTo>
                    <a:pt x="0" y="531495"/>
                  </a:lnTo>
                  <a:lnTo>
                    <a:pt x="0" y="0"/>
                  </a:lnTo>
                  <a:close/>
                </a:path>
              </a:pathLst>
            </a:custGeom>
            <a:blipFill>
              <a:blip r:embed="rId6"/>
              <a:stretch>
                <a:fillRect l="0" t="-11" r="5" b="-2"/>
              </a:stretch>
            </a:blipFill>
          </p:spPr>
        </p:sp>
      </p:grpSp>
      <p:sp>
        <p:nvSpPr>
          <p:cNvPr name="TextBox 13" id="13"/>
          <p:cNvSpPr txBox="true"/>
          <p:nvPr/>
        </p:nvSpPr>
        <p:spPr>
          <a:xfrm rot="0">
            <a:off x="9365732" y="5262324"/>
            <a:ext cx="7143750" cy="489871"/>
          </a:xfrm>
          <a:prstGeom prst="rect">
            <a:avLst/>
          </a:prstGeom>
        </p:spPr>
        <p:txBody>
          <a:bodyPr anchor="t" rtlCol="false" tIns="0" lIns="0" bIns="0" rIns="0">
            <a:spAutoFit/>
          </a:bodyPr>
          <a:lstStyle/>
          <a:p>
            <a:pPr algn="l">
              <a:lnSpc>
                <a:spcPts val="3484"/>
              </a:lnSpc>
            </a:pPr>
            <a:r>
              <a:rPr lang="en-US" b="true" sz="2400">
                <a:solidFill>
                  <a:srgbClr val="FFFFFF"/>
                </a:solidFill>
                <a:latin typeface="Arial Bold"/>
                <a:ea typeface="Arial Bold"/>
                <a:cs typeface="Arial Bold"/>
                <a:sym typeface="Arial Bold"/>
              </a:rPr>
              <a:t>Estrategias de Respaldo</a:t>
            </a:r>
          </a:p>
        </p:txBody>
      </p:sp>
      <p:sp>
        <p:nvSpPr>
          <p:cNvPr name="TextBox 14" id="14"/>
          <p:cNvSpPr txBox="true"/>
          <p:nvPr/>
        </p:nvSpPr>
        <p:spPr>
          <a:xfrm rot="0">
            <a:off x="9365732" y="5684349"/>
            <a:ext cx="7143750" cy="1503140"/>
          </a:xfrm>
          <a:prstGeom prst="rect">
            <a:avLst/>
          </a:prstGeom>
        </p:spPr>
        <p:txBody>
          <a:bodyPr anchor="t" rtlCol="false" tIns="0" lIns="0" bIns="0" rIns="0">
            <a:spAutoFit/>
          </a:bodyPr>
          <a:lstStyle/>
          <a:p>
            <a:pPr algn="l" marL="411480" indent="-137160" lvl="2">
              <a:lnSpc>
                <a:spcPts val="3261"/>
              </a:lnSpc>
              <a:buFont typeface="Arial"/>
              <a:buChar char="⚬"/>
            </a:pPr>
            <a:r>
              <a:rPr lang="en-US" sz="1800">
                <a:solidFill>
                  <a:srgbClr val="FFFFFF"/>
                </a:solidFill>
                <a:latin typeface="Arial"/>
                <a:ea typeface="Arial"/>
                <a:cs typeface="Arial"/>
                <a:sym typeface="Arial"/>
              </a:rPr>
              <a:t>Respaldo en Tiempo Real (Real-Time Backup)</a:t>
            </a:r>
          </a:p>
          <a:p>
            <a:pPr algn="l" marL="411480" indent="-137160" lvl="2">
              <a:lnSpc>
                <a:spcPts val="3261"/>
              </a:lnSpc>
              <a:buFont typeface="Arial"/>
              <a:buChar char="⚬"/>
            </a:pPr>
            <a:r>
              <a:rPr lang="en-US" sz="1800">
                <a:solidFill>
                  <a:srgbClr val="FFFFFF"/>
                </a:solidFill>
                <a:latin typeface="Arial"/>
                <a:ea typeface="Arial"/>
                <a:cs typeface="Arial"/>
                <a:sym typeface="Arial"/>
              </a:rPr>
              <a:t>Respaldo Programado.</a:t>
            </a:r>
          </a:p>
          <a:p>
            <a:pPr algn="l" marL="411480" indent="-137160" lvl="2">
              <a:lnSpc>
                <a:spcPts val="3261"/>
              </a:lnSpc>
              <a:buFont typeface="Arial"/>
              <a:buChar char="⚬"/>
            </a:pPr>
            <a:r>
              <a:rPr lang="en-US" sz="1800">
                <a:solidFill>
                  <a:srgbClr val="FFFFFF"/>
                </a:solidFill>
                <a:latin typeface="Arial"/>
                <a:ea typeface="Arial"/>
                <a:cs typeface="Arial"/>
                <a:sym typeface="Arial"/>
              </a:rPr>
              <a:t>Respaldo Offsite (Externo).</a:t>
            </a:r>
          </a:p>
          <a:p>
            <a:pPr algn="l" marL="320040" indent="-106680" lvl="2">
              <a:lnSpc>
                <a:spcPts val="2536"/>
              </a:lnSpc>
            </a:pP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6980349" y="3525498"/>
            <a:ext cx="4078424" cy="4221804"/>
          </a:xfrm>
          <a:custGeom>
            <a:avLst/>
            <a:gdLst/>
            <a:ahLst/>
            <a:cxnLst/>
            <a:rect r="r" b="b" t="t" l="l"/>
            <a:pathLst>
              <a:path h="4221804" w="4078424">
                <a:moveTo>
                  <a:pt x="0" y="0"/>
                </a:moveTo>
                <a:lnTo>
                  <a:pt x="4078424" y="0"/>
                </a:lnTo>
                <a:lnTo>
                  <a:pt x="4078424" y="4221804"/>
                </a:lnTo>
                <a:lnTo>
                  <a:pt x="0" y="42218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340396" y="2483587"/>
            <a:ext cx="11013624" cy="823341"/>
          </a:xfrm>
          <a:prstGeom prst="rect">
            <a:avLst/>
          </a:prstGeom>
        </p:spPr>
        <p:txBody>
          <a:bodyPr anchor="t" rtlCol="false" tIns="0" lIns="0" bIns="0" rIns="0">
            <a:spAutoFit/>
          </a:bodyPr>
          <a:lstStyle/>
          <a:p>
            <a:pPr algn="ctr">
              <a:lnSpc>
                <a:spcPts val="5756"/>
              </a:lnSpc>
            </a:pPr>
            <a:r>
              <a:rPr lang="en-US" b="true" sz="3900">
                <a:solidFill>
                  <a:srgbClr val="FFFFFF"/>
                </a:solidFill>
                <a:latin typeface="Arial Bold"/>
                <a:ea typeface="Arial Bold"/>
                <a:cs typeface="Arial Bold"/>
                <a:sym typeface="Arial Bold"/>
              </a:rPr>
              <a:t>Seguridad de Respaldo</a:t>
            </a:r>
          </a:p>
        </p:txBody>
      </p:sp>
      <p:sp>
        <p:nvSpPr>
          <p:cNvPr name="TextBox 6" id="6"/>
          <p:cNvSpPr txBox="true"/>
          <p:nvPr/>
        </p:nvSpPr>
        <p:spPr>
          <a:xfrm rot="0">
            <a:off x="7135901" y="4355430"/>
            <a:ext cx="3767318" cy="2486339"/>
          </a:xfrm>
          <a:prstGeom prst="rect">
            <a:avLst/>
          </a:prstGeom>
        </p:spPr>
        <p:txBody>
          <a:bodyPr anchor="t" rtlCol="false" tIns="0" lIns="0" bIns="0" rIns="0">
            <a:spAutoFit/>
          </a:bodyPr>
          <a:lstStyle/>
          <a:p>
            <a:pPr algn="ctr">
              <a:lnSpc>
                <a:spcPts val="5486"/>
              </a:lnSpc>
            </a:pPr>
            <a:r>
              <a:rPr lang="en-US" b="true" sz="3875">
                <a:solidFill>
                  <a:srgbClr val="FFFFFF"/>
                </a:solidFill>
                <a:latin typeface="Arial Bold"/>
                <a:ea typeface="Arial Bold"/>
                <a:cs typeface="Arial Bold"/>
                <a:sym typeface="Arial Bold"/>
              </a:rPr>
              <a:t>Buenas Prácticas en Respaldo y Recuperación</a:t>
            </a:r>
          </a:p>
        </p:txBody>
      </p:sp>
      <p:sp>
        <p:nvSpPr>
          <p:cNvPr name="TextBox 7" id="7"/>
          <p:cNvSpPr txBox="true"/>
          <p:nvPr/>
        </p:nvSpPr>
        <p:spPr>
          <a:xfrm rot="0">
            <a:off x="8272920" y="2446734"/>
            <a:ext cx="11013624" cy="776859"/>
          </a:xfrm>
          <a:prstGeom prst="rect">
            <a:avLst/>
          </a:prstGeom>
        </p:spPr>
        <p:txBody>
          <a:bodyPr anchor="t" rtlCol="false" tIns="0" lIns="0" bIns="0" rIns="0">
            <a:spAutoFit/>
          </a:bodyPr>
          <a:lstStyle/>
          <a:p>
            <a:pPr algn="ctr">
              <a:lnSpc>
                <a:spcPts val="5313"/>
              </a:lnSpc>
            </a:pPr>
            <a:r>
              <a:rPr lang="en-US" b="true" sz="3600">
                <a:solidFill>
                  <a:srgbClr val="FFFFFF"/>
                </a:solidFill>
                <a:latin typeface="Arial Bold"/>
                <a:ea typeface="Arial Bold"/>
                <a:cs typeface="Arial Bold"/>
                <a:sym typeface="Arial Bold"/>
              </a:rPr>
              <a:t>Rotación de Medios</a:t>
            </a:r>
          </a:p>
        </p:txBody>
      </p:sp>
      <p:sp>
        <p:nvSpPr>
          <p:cNvPr name="TextBox 8" id="8"/>
          <p:cNvSpPr txBox="true"/>
          <p:nvPr/>
        </p:nvSpPr>
        <p:spPr>
          <a:xfrm rot="0">
            <a:off x="-1994068" y="5009197"/>
            <a:ext cx="11013624" cy="1159764"/>
          </a:xfrm>
          <a:prstGeom prst="rect">
            <a:avLst/>
          </a:prstGeom>
        </p:spPr>
        <p:txBody>
          <a:bodyPr anchor="t" rtlCol="false" tIns="0" lIns="0" bIns="0" rIns="0">
            <a:spAutoFit/>
          </a:bodyPr>
          <a:lstStyle/>
          <a:p>
            <a:pPr algn="ctr">
              <a:lnSpc>
                <a:spcPts val="4723"/>
              </a:lnSpc>
            </a:pPr>
            <a:r>
              <a:rPr lang="en-US" b="true" sz="3200">
                <a:solidFill>
                  <a:srgbClr val="FFFFFF"/>
                </a:solidFill>
                <a:latin typeface="Arial Bold"/>
                <a:ea typeface="Arial Bold"/>
                <a:cs typeface="Arial Bold"/>
                <a:sym typeface="Arial Bold"/>
              </a:rPr>
              <a:t>Documentación de Proceso</a:t>
            </a:r>
          </a:p>
          <a:p>
            <a:pPr algn="ctr">
              <a:lnSpc>
                <a:spcPts val="4428"/>
              </a:lnSpc>
            </a:pPr>
            <a:r>
              <a:rPr lang="en-US" b="true" sz="3000">
                <a:solidFill>
                  <a:srgbClr val="FFFFFF"/>
                </a:solidFill>
                <a:latin typeface="Arial Bold"/>
                <a:ea typeface="Arial Bold"/>
                <a:cs typeface="Arial Bold"/>
                <a:sym typeface="Arial Bold"/>
              </a:rPr>
              <a:t> de Recuperación</a:t>
            </a:r>
          </a:p>
        </p:txBody>
      </p:sp>
      <p:sp>
        <p:nvSpPr>
          <p:cNvPr name="TextBox 9" id="9"/>
          <p:cNvSpPr txBox="true"/>
          <p:nvPr/>
        </p:nvSpPr>
        <p:spPr>
          <a:xfrm rot="0">
            <a:off x="8666978" y="5191125"/>
            <a:ext cx="11013624" cy="776859"/>
          </a:xfrm>
          <a:prstGeom prst="rect">
            <a:avLst/>
          </a:prstGeom>
        </p:spPr>
        <p:txBody>
          <a:bodyPr anchor="t" rtlCol="false" tIns="0" lIns="0" bIns="0" rIns="0">
            <a:spAutoFit/>
          </a:bodyPr>
          <a:lstStyle/>
          <a:p>
            <a:pPr algn="ctr">
              <a:lnSpc>
                <a:spcPts val="5313"/>
              </a:lnSpc>
            </a:pPr>
            <a:r>
              <a:rPr lang="en-US" b="true" sz="3600">
                <a:solidFill>
                  <a:srgbClr val="FFFFFF"/>
                </a:solidFill>
                <a:latin typeface="Arial Bold"/>
                <a:ea typeface="Arial Bold"/>
                <a:cs typeface="Arial Bold"/>
                <a:sym typeface="Arial Bold"/>
              </a:rPr>
              <a:t>Backup en Frío</a:t>
            </a:r>
          </a:p>
        </p:txBody>
      </p:sp>
      <p:sp>
        <p:nvSpPr>
          <p:cNvPr name="TextBox 10" id="10"/>
          <p:cNvSpPr txBox="true"/>
          <p:nvPr/>
        </p:nvSpPr>
        <p:spPr>
          <a:xfrm rot="0">
            <a:off x="-521532" y="7880642"/>
            <a:ext cx="11013624" cy="776859"/>
          </a:xfrm>
          <a:prstGeom prst="rect">
            <a:avLst/>
          </a:prstGeom>
        </p:spPr>
        <p:txBody>
          <a:bodyPr anchor="t" rtlCol="false" tIns="0" lIns="0" bIns="0" rIns="0">
            <a:spAutoFit/>
          </a:bodyPr>
          <a:lstStyle/>
          <a:p>
            <a:pPr algn="ctr">
              <a:lnSpc>
                <a:spcPts val="5313"/>
              </a:lnSpc>
            </a:pPr>
            <a:r>
              <a:rPr lang="en-US" b="true" sz="3600">
                <a:solidFill>
                  <a:srgbClr val="FFFFFF"/>
                </a:solidFill>
                <a:latin typeface="Arial Bold"/>
                <a:ea typeface="Arial Bold"/>
                <a:cs typeface="Arial Bold"/>
                <a:sym typeface="Arial Bold"/>
              </a:rPr>
              <a:t>Seguridad de Respaldo</a:t>
            </a:r>
          </a:p>
        </p:txBody>
      </p:sp>
      <p:sp>
        <p:nvSpPr>
          <p:cNvPr name="TextBox 11" id="11"/>
          <p:cNvSpPr txBox="true"/>
          <p:nvPr/>
        </p:nvSpPr>
        <p:spPr>
          <a:xfrm rot="0">
            <a:off x="8666978" y="7608608"/>
            <a:ext cx="11013624" cy="776859"/>
          </a:xfrm>
          <a:prstGeom prst="rect">
            <a:avLst/>
          </a:prstGeom>
        </p:spPr>
        <p:txBody>
          <a:bodyPr anchor="t" rtlCol="false" tIns="0" lIns="0" bIns="0" rIns="0">
            <a:spAutoFit/>
          </a:bodyPr>
          <a:lstStyle/>
          <a:p>
            <a:pPr algn="ctr">
              <a:lnSpc>
                <a:spcPts val="5313"/>
              </a:lnSpc>
            </a:pPr>
            <a:r>
              <a:rPr lang="en-US" b="true" sz="3600">
                <a:solidFill>
                  <a:srgbClr val="FFFFFF"/>
                </a:solidFill>
                <a:latin typeface="Arial Bold"/>
                <a:ea typeface="Arial Bold"/>
                <a:cs typeface="Arial Bold"/>
                <a:sym typeface="Arial Bold"/>
              </a:rPr>
              <a:t>Backup en caliente</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287866" y="2558120"/>
            <a:ext cx="10000764" cy="1050065"/>
          </a:xfrm>
          <a:prstGeom prst="rect">
            <a:avLst/>
          </a:prstGeom>
        </p:spPr>
        <p:txBody>
          <a:bodyPr anchor="t" rtlCol="false" tIns="0" lIns="0" bIns="0" rIns="0">
            <a:spAutoFit/>
          </a:bodyPr>
          <a:lstStyle/>
          <a:p>
            <a:pPr algn="l">
              <a:lnSpc>
                <a:spcPts val="7550"/>
              </a:lnSpc>
            </a:pPr>
            <a:r>
              <a:rPr lang="en-US" b="true" sz="5288">
                <a:solidFill>
                  <a:srgbClr val="FFFFFF"/>
                </a:solidFill>
                <a:latin typeface="Arial Bold"/>
                <a:ea typeface="Arial Bold"/>
                <a:cs typeface="Arial Bold"/>
                <a:sym typeface="Arial Bold"/>
              </a:rPr>
              <a:t>Conclusión</a:t>
            </a:r>
          </a:p>
        </p:txBody>
      </p:sp>
      <p:sp>
        <p:nvSpPr>
          <p:cNvPr name="TextBox 5" id="5"/>
          <p:cNvSpPr txBox="true"/>
          <p:nvPr/>
        </p:nvSpPr>
        <p:spPr>
          <a:xfrm rot="0">
            <a:off x="1287866" y="3714407"/>
            <a:ext cx="10000764" cy="3210601"/>
          </a:xfrm>
          <a:prstGeom prst="rect">
            <a:avLst/>
          </a:prstGeom>
        </p:spPr>
        <p:txBody>
          <a:bodyPr anchor="t" rtlCol="false" tIns="0" lIns="0" bIns="0" rIns="0">
            <a:spAutoFit/>
          </a:bodyPr>
          <a:lstStyle/>
          <a:p>
            <a:pPr algn="just">
              <a:lnSpc>
                <a:spcPts val="4790"/>
              </a:lnSpc>
            </a:pPr>
            <a:r>
              <a:rPr lang="en-US" sz="2644">
                <a:solidFill>
                  <a:srgbClr val="FFFFFF"/>
                </a:solidFill>
                <a:latin typeface="Arial"/>
                <a:ea typeface="Arial"/>
                <a:cs typeface="Arial"/>
                <a:sym typeface="Arial"/>
              </a:rPr>
              <a:t>La estrategia de respaldo y recuperación debe estar alineada con los requisitos de seguridad, tiempo y disponibilidad de los datos de la organización. Implementar varias técnicas y prácticas asegura que los datos puedan recuperarse rápidamente en caso de pérdida, garantizando la continuidad del negocio y minimizando el impacto de posibles incidentes.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23702"/>
            <a:ext cx="14147311" cy="1241041"/>
          </a:xfrm>
          <a:prstGeom prst="rect">
            <a:avLst/>
          </a:prstGeom>
        </p:spPr>
        <p:txBody>
          <a:bodyPr anchor="t" rtlCol="false" tIns="0" lIns="0" bIns="0" rIns="0">
            <a:spAutoFit/>
          </a:bodyPr>
          <a:lstStyle/>
          <a:p>
            <a:pPr algn="l">
              <a:lnSpc>
                <a:spcPts val="8936"/>
              </a:lnSpc>
            </a:pPr>
            <a:r>
              <a:rPr lang="en-US" b="true" sz="7598">
                <a:solidFill>
                  <a:srgbClr val="FFFFFF"/>
                </a:solidFill>
                <a:latin typeface="Arial Bold"/>
                <a:ea typeface="Arial Bold"/>
                <a:cs typeface="Arial Bold"/>
                <a:sym typeface="Arial Bold"/>
              </a:rPr>
              <a:t>Conceptos claves aprendidos</a:t>
            </a:r>
          </a:p>
        </p:txBody>
      </p:sp>
      <p:sp>
        <p:nvSpPr>
          <p:cNvPr name="TextBox 5" id="5"/>
          <p:cNvSpPr txBox="true"/>
          <p:nvPr/>
        </p:nvSpPr>
        <p:spPr>
          <a:xfrm rot="0">
            <a:off x="698516" y="2970847"/>
            <a:ext cx="16890968" cy="5999226"/>
          </a:xfrm>
          <a:prstGeom prst="rect">
            <a:avLst/>
          </a:prstGeom>
        </p:spPr>
        <p:txBody>
          <a:bodyPr anchor="t" rtlCol="false" tIns="0" lIns="0" bIns="0" rIns="0">
            <a:spAutoFit/>
          </a:bodyPr>
          <a:lstStyle/>
          <a:p>
            <a:pPr algn="l" marL="571380" indent="-190460" lvl="2">
              <a:lnSpc>
                <a:spcPts val="4198"/>
              </a:lnSpc>
              <a:buFont typeface="Arial"/>
              <a:buChar char="⚬"/>
            </a:pPr>
            <a:r>
              <a:rPr lang="en-US" b="true" sz="2499">
                <a:solidFill>
                  <a:srgbClr val="FFFFFF"/>
                </a:solidFill>
                <a:latin typeface="Arial Bold"/>
                <a:ea typeface="Arial Bold"/>
                <a:cs typeface="Arial Bold"/>
                <a:sym typeface="Arial Bold"/>
              </a:rPr>
              <a:t>Cifrado de datos:  </a:t>
            </a:r>
            <a:r>
              <a:rPr lang="en-US" sz="2499">
                <a:solidFill>
                  <a:srgbClr val="FFFFFF"/>
                </a:solidFill>
                <a:latin typeface="Arial"/>
                <a:ea typeface="Arial"/>
                <a:cs typeface="Arial"/>
                <a:sym typeface="Arial"/>
              </a:rPr>
              <a:t>Proceso que transforma información legible en datos codificados para evitar accesos no autorizados. Solo quienes tienen la clave pueden descifrar y leer la información.</a:t>
            </a:r>
          </a:p>
          <a:p>
            <a:pPr algn="l" marL="320101" indent="-106700" lvl="2">
              <a:lnSpc>
                <a:spcPts val="2352"/>
              </a:lnSpc>
            </a:pPr>
          </a:p>
          <a:p>
            <a:pPr algn="l" marL="571380" indent="-190460" lvl="2">
              <a:lnSpc>
                <a:spcPts val="4198"/>
              </a:lnSpc>
              <a:buFont typeface="Arial"/>
              <a:buChar char="⚬"/>
            </a:pPr>
            <a:r>
              <a:rPr lang="en-US" b="true" sz="2499">
                <a:solidFill>
                  <a:srgbClr val="FFFFFF"/>
                </a:solidFill>
                <a:latin typeface="Arial Bold"/>
                <a:ea typeface="Arial Bold"/>
                <a:cs typeface="Arial Bold"/>
                <a:sym typeface="Arial Bold"/>
              </a:rPr>
              <a:t>Elementos claves de seguridad: </a:t>
            </a:r>
            <a:r>
              <a:rPr lang="en-US" sz="2499">
                <a:solidFill>
                  <a:srgbClr val="FFFFFF"/>
                </a:solidFill>
                <a:latin typeface="Arial"/>
                <a:ea typeface="Arial"/>
                <a:cs typeface="Arial"/>
                <a:sym typeface="Arial"/>
              </a:rPr>
              <a:t> Principios que garantizan la protección de la información: asegurar su confidencialidad, integridad, disponibilidad, y controlar quién accede y qué puede hacer</a:t>
            </a:r>
            <a:r>
              <a:rPr lang="en-US" b="true" sz="2499">
                <a:solidFill>
                  <a:srgbClr val="FFFFFF"/>
                </a:solidFill>
                <a:latin typeface="Arial Bold"/>
                <a:ea typeface="Arial Bold"/>
                <a:cs typeface="Arial Bold"/>
                <a:sym typeface="Arial Bold"/>
              </a:rPr>
              <a:t>.</a:t>
            </a:r>
          </a:p>
          <a:p>
            <a:pPr algn="l" marL="320101" indent="-106700" lvl="2">
              <a:lnSpc>
                <a:spcPts val="2352"/>
              </a:lnSpc>
            </a:pPr>
          </a:p>
          <a:p>
            <a:pPr algn="l" marL="571380" indent="-190460" lvl="2">
              <a:lnSpc>
                <a:spcPts val="4198"/>
              </a:lnSpc>
              <a:buFont typeface="Arial"/>
              <a:buChar char="⚬"/>
            </a:pPr>
            <a:r>
              <a:rPr lang="en-US" b="true" sz="2499">
                <a:solidFill>
                  <a:srgbClr val="FFFFFF"/>
                </a:solidFill>
                <a:latin typeface="Arial Bold"/>
                <a:ea typeface="Arial Bold"/>
                <a:cs typeface="Arial Bold"/>
                <a:sym typeface="Arial Bold"/>
              </a:rPr>
              <a:t>Estrategias de seguridad: </a:t>
            </a:r>
            <a:r>
              <a:rPr lang="en-US" sz="2499">
                <a:solidFill>
                  <a:srgbClr val="FFFFFF"/>
                </a:solidFill>
                <a:latin typeface="Arial"/>
                <a:ea typeface="Arial"/>
                <a:cs typeface="Arial"/>
                <a:sym typeface="Arial"/>
              </a:rPr>
              <a:t>Conjunto de medidas que se aplican para prevenir ataques y proteger los sistemas, como el uso de contraseñas seguras, cifrado, actualizaciones y respaldos.</a:t>
            </a:r>
          </a:p>
          <a:p>
            <a:pPr algn="l" marL="320101" indent="-106700" lvl="2">
              <a:lnSpc>
                <a:spcPts val="2352"/>
              </a:lnSpc>
            </a:pPr>
          </a:p>
          <a:p>
            <a:pPr algn="l" marL="571380" indent="-190460" lvl="2">
              <a:lnSpc>
                <a:spcPts val="4198"/>
              </a:lnSpc>
              <a:buFont typeface="Arial"/>
              <a:buChar char="⚬"/>
            </a:pPr>
            <a:r>
              <a:rPr lang="en-US" b="true" sz="2499">
                <a:solidFill>
                  <a:srgbClr val="FFFFFF"/>
                </a:solidFill>
                <a:latin typeface="Arial Bold"/>
                <a:ea typeface="Arial Bold"/>
                <a:cs typeface="Arial Bold"/>
                <a:sym typeface="Arial Bold"/>
              </a:rPr>
              <a:t>Amenazas comunes de seguridad: </a:t>
            </a:r>
            <a:r>
              <a:rPr lang="en-US" sz="2499">
                <a:solidFill>
                  <a:srgbClr val="FFFFFF"/>
                </a:solidFill>
                <a:latin typeface="Arial"/>
                <a:ea typeface="Arial"/>
                <a:cs typeface="Arial"/>
                <a:sym typeface="Arial"/>
              </a:rPr>
              <a:t>Riesgos frecuentes que afectan la información o los sistemas, como virus, fraudes, bloqueos maliciosos y accesos no autorizados.</a:t>
            </a:r>
          </a:p>
          <a:p>
            <a:pPr algn="l" marL="320101" indent="-106700" lvl="2">
              <a:lnSpc>
                <a:spcPts val="2701"/>
              </a:lnSpc>
            </a:pPr>
          </a:p>
          <a:p>
            <a:pPr algn="l" marL="320101" indent="-106700" lvl="2">
              <a:lnSpc>
                <a:spcPts val="2701"/>
              </a:lnSpc>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23702"/>
            <a:ext cx="14147311" cy="1241041"/>
          </a:xfrm>
          <a:prstGeom prst="rect">
            <a:avLst/>
          </a:prstGeom>
        </p:spPr>
        <p:txBody>
          <a:bodyPr anchor="t" rtlCol="false" tIns="0" lIns="0" bIns="0" rIns="0">
            <a:spAutoFit/>
          </a:bodyPr>
          <a:lstStyle/>
          <a:p>
            <a:pPr algn="l">
              <a:lnSpc>
                <a:spcPts val="8936"/>
              </a:lnSpc>
            </a:pPr>
            <a:r>
              <a:rPr lang="en-US" b="true" sz="7598">
                <a:solidFill>
                  <a:srgbClr val="FFFFFF"/>
                </a:solidFill>
                <a:latin typeface="Arial Bold"/>
                <a:ea typeface="Arial Bold"/>
                <a:cs typeface="Arial Bold"/>
                <a:sym typeface="Arial Bold"/>
              </a:rPr>
              <a:t>Conceptos claves aprendidos</a:t>
            </a:r>
          </a:p>
        </p:txBody>
      </p:sp>
      <p:sp>
        <p:nvSpPr>
          <p:cNvPr name="TextBox 5" id="5"/>
          <p:cNvSpPr txBox="true"/>
          <p:nvPr/>
        </p:nvSpPr>
        <p:spPr>
          <a:xfrm rot="0">
            <a:off x="698516" y="2970847"/>
            <a:ext cx="16890968" cy="3808476"/>
          </a:xfrm>
          <a:prstGeom prst="rect">
            <a:avLst/>
          </a:prstGeom>
        </p:spPr>
        <p:txBody>
          <a:bodyPr anchor="t" rtlCol="false" tIns="0" lIns="0" bIns="0" rIns="0">
            <a:spAutoFit/>
          </a:bodyPr>
          <a:lstStyle/>
          <a:p>
            <a:pPr algn="l" marL="571380" indent="-190460" lvl="2">
              <a:lnSpc>
                <a:spcPts val="4198"/>
              </a:lnSpc>
              <a:buFont typeface="Arial"/>
              <a:buChar char="⚬"/>
            </a:pPr>
            <a:r>
              <a:rPr lang="en-US" b="true" sz="2499">
                <a:solidFill>
                  <a:srgbClr val="FFFFFF"/>
                </a:solidFill>
                <a:latin typeface="Arial Bold"/>
                <a:ea typeface="Arial Bold"/>
                <a:cs typeface="Arial Bold"/>
                <a:sym typeface="Arial Bold"/>
              </a:rPr>
              <a:t>Seguridad en el almacenamiento: </a:t>
            </a:r>
            <a:r>
              <a:rPr lang="en-US" sz="2499">
                <a:solidFill>
                  <a:srgbClr val="FFFFFF"/>
                </a:solidFill>
                <a:latin typeface="Arial"/>
                <a:ea typeface="Arial"/>
                <a:cs typeface="Arial"/>
                <a:sym typeface="Arial"/>
              </a:rPr>
              <a:t>Conjunto de prácticas que protegen la información guardada en dispositivos físicos o en la nube, evitando accesos no autorizados, pérdidas o daños.</a:t>
            </a:r>
          </a:p>
          <a:p>
            <a:pPr algn="l" marL="320101" indent="-106700" lvl="2">
              <a:lnSpc>
                <a:spcPts val="2352"/>
              </a:lnSpc>
            </a:pPr>
          </a:p>
          <a:p>
            <a:pPr algn="l" marL="571380" indent="-190460" lvl="2">
              <a:lnSpc>
                <a:spcPts val="4198"/>
              </a:lnSpc>
              <a:buFont typeface="Arial"/>
              <a:buChar char="⚬"/>
            </a:pPr>
            <a:r>
              <a:rPr lang="en-US" b="true" sz="2499">
                <a:solidFill>
                  <a:srgbClr val="FFFFFF"/>
                </a:solidFill>
                <a:latin typeface="Arial Bold"/>
                <a:ea typeface="Arial Bold"/>
                <a:cs typeface="Arial Bold"/>
                <a:sym typeface="Arial Bold"/>
              </a:rPr>
              <a:t>Técnicas de respaldo y recuperación de archivos: </a:t>
            </a:r>
            <a:r>
              <a:rPr lang="en-US" sz="2499">
                <a:solidFill>
                  <a:srgbClr val="FFFFFF"/>
                </a:solidFill>
                <a:latin typeface="Arial"/>
                <a:ea typeface="Arial"/>
                <a:cs typeface="Arial"/>
                <a:sym typeface="Arial"/>
              </a:rPr>
              <a:t>Métodos para crear copias de seguridad y restaurar datos en caso de fallos, errores humanos o ataques, asegurando la disponibilidad y continuidad de la información.</a:t>
            </a:r>
          </a:p>
          <a:p>
            <a:pPr algn="l" marL="320101" indent="-106700" lvl="2">
              <a:lnSpc>
                <a:spcPts val="2701"/>
              </a:lnSpc>
            </a:pPr>
          </a:p>
          <a:p>
            <a:pPr algn="l" marL="320101" indent="-106700" lvl="2">
              <a:lnSpc>
                <a:spcPts val="2701"/>
              </a:lnSpc>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933202"/>
            <a:ext cx="14147397" cy="1148248"/>
          </a:xfrm>
          <a:prstGeom prst="rect">
            <a:avLst/>
          </a:prstGeom>
        </p:spPr>
        <p:txBody>
          <a:bodyPr anchor="t" rtlCol="false" tIns="0" lIns="0" bIns="0" rIns="0">
            <a:spAutoFit/>
          </a:bodyPr>
          <a:lstStyle/>
          <a:p>
            <a:pPr algn="ctr">
              <a:lnSpc>
                <a:spcPts val="8267"/>
              </a:lnSpc>
            </a:pPr>
            <a:r>
              <a:rPr lang="en-US" sz="6098">
                <a:solidFill>
                  <a:srgbClr val="FFFFFF"/>
                </a:solidFill>
                <a:latin typeface="Impact"/>
                <a:ea typeface="Impact"/>
                <a:cs typeface="Impact"/>
                <a:sym typeface="Impact"/>
              </a:rPr>
              <a:t>Practiquemos lo aprendid</a:t>
            </a:r>
            <a:r>
              <a:rPr lang="en-US" sz="6098">
                <a:solidFill>
                  <a:srgbClr val="131416"/>
                </a:solidFill>
                <a:latin typeface="Impact"/>
                <a:ea typeface="Impact"/>
                <a:cs typeface="Impact"/>
                <a:sym typeface="Impact"/>
              </a:rPr>
              <a:t>o</a:t>
            </a:r>
          </a:p>
        </p:txBody>
      </p:sp>
      <p:grpSp>
        <p:nvGrpSpPr>
          <p:cNvPr name="Group 5" id="5"/>
          <p:cNvGrpSpPr/>
          <p:nvPr/>
        </p:nvGrpSpPr>
        <p:grpSpPr>
          <a:xfrm rot="0">
            <a:off x="2798150" y="3757546"/>
            <a:ext cx="4077824" cy="4077824"/>
            <a:chOff x="0" y="0"/>
            <a:chExt cx="5437099" cy="5437099"/>
          </a:xfrm>
        </p:grpSpPr>
        <p:sp>
          <p:nvSpPr>
            <p:cNvPr name="Freeform 6" id="6"/>
            <p:cNvSpPr/>
            <p:nvPr/>
          </p:nvSpPr>
          <p:spPr>
            <a:xfrm flipH="false" flipV="false" rot="0">
              <a:off x="0" y="0"/>
              <a:ext cx="5437124" cy="5437124"/>
            </a:xfrm>
            <a:custGeom>
              <a:avLst/>
              <a:gdLst/>
              <a:ahLst/>
              <a:cxnLst/>
              <a:rect r="r" b="b" t="t" l="l"/>
              <a:pathLst>
                <a:path h="5437124" w="5437124">
                  <a:moveTo>
                    <a:pt x="0" y="0"/>
                  </a:moveTo>
                  <a:lnTo>
                    <a:pt x="5437124" y="0"/>
                  </a:lnTo>
                  <a:lnTo>
                    <a:pt x="5437124" y="5437124"/>
                  </a:lnTo>
                  <a:lnTo>
                    <a:pt x="0" y="5437124"/>
                  </a:lnTo>
                  <a:lnTo>
                    <a:pt x="0" y="0"/>
                  </a:lnTo>
                  <a:close/>
                </a:path>
              </a:pathLst>
            </a:custGeom>
            <a:blipFill>
              <a:blip r:embed="rId4"/>
              <a:stretch>
                <a:fillRect l="0" t="0" r="0" b="0"/>
              </a:stretch>
            </a:blipFill>
          </p:spPr>
        </p:sp>
      </p:grpSp>
      <p:sp>
        <p:nvSpPr>
          <p:cNvPr name="TextBox 7" id="7"/>
          <p:cNvSpPr txBox="true"/>
          <p:nvPr/>
        </p:nvSpPr>
        <p:spPr>
          <a:xfrm rot="0">
            <a:off x="7828207" y="3934349"/>
            <a:ext cx="8352901" cy="1148248"/>
          </a:xfrm>
          <a:prstGeom prst="rect">
            <a:avLst/>
          </a:prstGeom>
        </p:spPr>
        <p:txBody>
          <a:bodyPr anchor="t" rtlCol="false" tIns="0" lIns="0" bIns="0" rIns="0">
            <a:spAutoFit/>
          </a:bodyPr>
          <a:lstStyle/>
          <a:p>
            <a:pPr algn="ctr">
              <a:lnSpc>
                <a:spcPts val="8267"/>
              </a:lnSpc>
            </a:pPr>
            <a:r>
              <a:rPr lang="en-US" sz="6098">
                <a:solidFill>
                  <a:srgbClr val="FFFFFF"/>
                </a:solidFill>
                <a:latin typeface="Impact"/>
                <a:ea typeface="Impact"/>
                <a:cs typeface="Impact"/>
                <a:sym typeface="Impact"/>
              </a:rPr>
              <a:t>Examen corto</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6902" y="0"/>
            <a:ext cx="18254198" cy="10287002"/>
            <a:chOff x="0" y="0"/>
            <a:chExt cx="24338931" cy="13716003"/>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6902" y="1642394"/>
          <a:ext cx="10414000" cy="2576512"/>
        </p:xfrm>
        <a:graphic>
          <a:graphicData uri="http://schemas.openxmlformats.org/drawingml/2006/table">
            <a:tbl>
              <a:tblPr/>
              <a:tblGrid>
                <a:gridCol w="5508899"/>
                <a:gridCol w="4905101"/>
              </a:tblGrid>
              <a:tr h="715698">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Nombre de la actividad:</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39"/>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698">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Cantidad de participantes: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145117">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Doy fe que esta actividad está planificada en dtt (Sí/No):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91425" y="4316175"/>
            <a:ext cx="17854950" cy="67470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MT Pro Bold"/>
                <a:ea typeface="Arial MT Pro Bold"/>
                <a:cs typeface="Arial MT Pro Bold"/>
                <a:sym typeface="Arial MT Pro Bold"/>
              </a:rPr>
              <a:t>Participantes: llenar las siguientes cajas de texto (tomar información del chat del meet)</a:t>
            </a:r>
          </a:p>
        </p:txBody>
      </p:sp>
      <p:grpSp>
        <p:nvGrpSpPr>
          <p:cNvPr name="Group 6" id="6"/>
          <p:cNvGrpSpPr/>
          <p:nvPr/>
        </p:nvGrpSpPr>
        <p:grpSpPr>
          <a:xfrm rot="0">
            <a:off x="7375" y="4946275"/>
            <a:ext cx="6186450" cy="5129250"/>
            <a:chOff x="0" y="0"/>
            <a:chExt cx="8248600" cy="6839000"/>
          </a:xfrm>
        </p:grpSpPr>
        <p:sp>
          <p:nvSpPr>
            <p:cNvPr name="Freeform 7" id="7"/>
            <p:cNvSpPr/>
            <p:nvPr/>
          </p:nvSpPr>
          <p:spPr>
            <a:xfrm flipH="false" flipV="false" rot="0">
              <a:off x="0" y="0"/>
              <a:ext cx="8248650" cy="6838950"/>
            </a:xfrm>
            <a:custGeom>
              <a:avLst/>
              <a:gdLst/>
              <a:ahLst/>
              <a:cxnLst/>
              <a:rect r="r" b="b" t="t" l="l"/>
              <a:pathLst>
                <a:path h="6838950" w="8248650">
                  <a:moveTo>
                    <a:pt x="12700" y="0"/>
                  </a:moveTo>
                  <a:lnTo>
                    <a:pt x="8235950" y="0"/>
                  </a:lnTo>
                  <a:cubicBezTo>
                    <a:pt x="8242935" y="0"/>
                    <a:pt x="8248650" y="5715"/>
                    <a:pt x="8248650" y="12700"/>
                  </a:cubicBezTo>
                  <a:lnTo>
                    <a:pt x="8248650" y="6826250"/>
                  </a:lnTo>
                  <a:cubicBezTo>
                    <a:pt x="8248650" y="6833235"/>
                    <a:pt x="8242935" y="6838950"/>
                    <a:pt x="8235950"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8235950" y="6813550"/>
                  </a:lnTo>
                  <a:lnTo>
                    <a:pt x="8235950" y="6826250"/>
                  </a:lnTo>
                  <a:lnTo>
                    <a:pt x="8223250" y="6826250"/>
                  </a:lnTo>
                  <a:lnTo>
                    <a:pt x="8223250" y="12700"/>
                  </a:lnTo>
                  <a:lnTo>
                    <a:pt x="8235950" y="12700"/>
                  </a:lnTo>
                  <a:lnTo>
                    <a:pt x="8235950" y="25400"/>
                  </a:lnTo>
                  <a:lnTo>
                    <a:pt x="12700" y="25400"/>
                  </a:lnTo>
                  <a:close/>
                </a:path>
              </a:pathLst>
            </a:custGeom>
            <a:solidFill>
              <a:srgbClr val="000000"/>
            </a:solidFill>
          </p:spPr>
        </p:sp>
      </p:grpSp>
      <p:graphicFrame>
        <p:nvGraphicFramePr>
          <p:cNvPr name="Table 8" id="8"/>
          <p:cNvGraphicFramePr>
            <a:graphicFrameLocks noGrp="true"/>
          </p:cNvGraphicFramePr>
          <p:nvPr/>
        </p:nvGraphicFramePr>
        <p:xfrm>
          <a:off x="10656400" y="1856706"/>
          <a:ext cx="7366000" cy="2147888"/>
        </p:xfrm>
        <a:graphic>
          <a:graphicData uri="http://schemas.openxmlformats.org/drawingml/2006/table">
            <a:tbl>
              <a:tblPr/>
              <a:tblGrid>
                <a:gridCol w="3030168"/>
                <a:gridCol w="4335832"/>
              </a:tblGrid>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Hora de inicio: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Hora de fin: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15962">
                <a:tc>
                  <a:txBody>
                    <a:bodyPr anchor="t" rtlCol="false"/>
                    <a:lstStyle/>
                    <a:p>
                      <a:pPr algn="l">
                        <a:lnSpc>
                          <a:spcPts val="3408"/>
                        </a:lnSpc>
                        <a:defRPr/>
                      </a:pPr>
                      <a:r>
                        <a:rPr lang="en-US" b="true" sz="2840">
                          <a:solidFill>
                            <a:srgbClr val="000000"/>
                          </a:solidFill>
                          <a:latin typeface="Arial MT Pro Bold"/>
                          <a:ea typeface="Arial MT Pro Bold"/>
                          <a:cs typeface="Arial MT Pro Bold"/>
                          <a:sym typeface="Arial MT Pro Bold"/>
                        </a:rPr>
                        <a:t>Duración (min):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640"/>
                        </a:lnSpc>
                        <a:defRPr/>
                      </a:pP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pSp>
        <p:nvGrpSpPr>
          <p:cNvPr name="Group 9" id="9"/>
          <p:cNvGrpSpPr/>
          <p:nvPr/>
        </p:nvGrpSpPr>
        <p:grpSpPr>
          <a:xfrm rot="0">
            <a:off x="6252075" y="4946275"/>
            <a:ext cx="6186450" cy="5129250"/>
            <a:chOff x="0" y="0"/>
            <a:chExt cx="8248600" cy="6839000"/>
          </a:xfrm>
        </p:grpSpPr>
        <p:sp>
          <p:nvSpPr>
            <p:cNvPr name="Freeform 10" id="10"/>
            <p:cNvSpPr/>
            <p:nvPr/>
          </p:nvSpPr>
          <p:spPr>
            <a:xfrm flipH="false" flipV="false" rot="0">
              <a:off x="0" y="0"/>
              <a:ext cx="8248650" cy="6838950"/>
            </a:xfrm>
            <a:custGeom>
              <a:avLst/>
              <a:gdLst/>
              <a:ahLst/>
              <a:cxnLst/>
              <a:rect r="r" b="b" t="t" l="l"/>
              <a:pathLst>
                <a:path h="6838950" w="8248650">
                  <a:moveTo>
                    <a:pt x="12700" y="0"/>
                  </a:moveTo>
                  <a:lnTo>
                    <a:pt x="8235950" y="0"/>
                  </a:lnTo>
                  <a:cubicBezTo>
                    <a:pt x="8242935" y="0"/>
                    <a:pt x="8248650" y="5715"/>
                    <a:pt x="8248650" y="12700"/>
                  </a:cubicBezTo>
                  <a:lnTo>
                    <a:pt x="8248650" y="6826250"/>
                  </a:lnTo>
                  <a:cubicBezTo>
                    <a:pt x="8248650" y="6833235"/>
                    <a:pt x="8242935" y="6838950"/>
                    <a:pt x="8235950"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8235950" y="6813550"/>
                  </a:lnTo>
                  <a:lnTo>
                    <a:pt x="8235950" y="6826250"/>
                  </a:lnTo>
                  <a:lnTo>
                    <a:pt x="8223250" y="6826250"/>
                  </a:lnTo>
                  <a:lnTo>
                    <a:pt x="8223250" y="12700"/>
                  </a:lnTo>
                  <a:lnTo>
                    <a:pt x="8235950" y="12700"/>
                  </a:lnTo>
                  <a:lnTo>
                    <a:pt x="8235950" y="25400"/>
                  </a:lnTo>
                  <a:lnTo>
                    <a:pt x="12700" y="25400"/>
                  </a:lnTo>
                  <a:close/>
                </a:path>
              </a:pathLst>
            </a:custGeom>
            <a:solidFill>
              <a:srgbClr val="000000"/>
            </a:solidFill>
          </p:spPr>
        </p:sp>
      </p:grpSp>
      <p:grpSp>
        <p:nvGrpSpPr>
          <p:cNvPr name="Group 11" id="11"/>
          <p:cNvGrpSpPr/>
          <p:nvPr/>
        </p:nvGrpSpPr>
        <p:grpSpPr>
          <a:xfrm rot="0">
            <a:off x="12496775" y="4946275"/>
            <a:ext cx="5783850" cy="5129250"/>
            <a:chOff x="0" y="0"/>
            <a:chExt cx="7711800" cy="6839000"/>
          </a:xfrm>
        </p:grpSpPr>
        <p:sp>
          <p:nvSpPr>
            <p:cNvPr name="Freeform 12" id="12"/>
            <p:cNvSpPr/>
            <p:nvPr/>
          </p:nvSpPr>
          <p:spPr>
            <a:xfrm flipH="false" flipV="false" rot="0">
              <a:off x="0" y="0"/>
              <a:ext cx="7711821" cy="6838950"/>
            </a:xfrm>
            <a:custGeom>
              <a:avLst/>
              <a:gdLst/>
              <a:ahLst/>
              <a:cxnLst/>
              <a:rect r="r" b="b" t="t" l="l"/>
              <a:pathLst>
                <a:path h="6838950" w="7711821">
                  <a:moveTo>
                    <a:pt x="12700" y="0"/>
                  </a:moveTo>
                  <a:lnTo>
                    <a:pt x="7699121" y="0"/>
                  </a:lnTo>
                  <a:cubicBezTo>
                    <a:pt x="7706106" y="0"/>
                    <a:pt x="7711821" y="5715"/>
                    <a:pt x="7711821" y="12700"/>
                  </a:cubicBezTo>
                  <a:lnTo>
                    <a:pt x="7711821" y="6826250"/>
                  </a:lnTo>
                  <a:cubicBezTo>
                    <a:pt x="7711821" y="6833235"/>
                    <a:pt x="7706106" y="6838950"/>
                    <a:pt x="7699121" y="6838950"/>
                  </a:cubicBezTo>
                  <a:lnTo>
                    <a:pt x="12700" y="6838950"/>
                  </a:lnTo>
                  <a:cubicBezTo>
                    <a:pt x="5715" y="6838950"/>
                    <a:pt x="0" y="6833235"/>
                    <a:pt x="0" y="6826250"/>
                  </a:cubicBezTo>
                  <a:lnTo>
                    <a:pt x="0" y="12700"/>
                  </a:lnTo>
                  <a:cubicBezTo>
                    <a:pt x="0" y="5715"/>
                    <a:pt x="5715" y="0"/>
                    <a:pt x="12700" y="0"/>
                  </a:cubicBezTo>
                  <a:moveTo>
                    <a:pt x="12700" y="25400"/>
                  </a:moveTo>
                  <a:lnTo>
                    <a:pt x="12700" y="12700"/>
                  </a:lnTo>
                  <a:lnTo>
                    <a:pt x="25400" y="12700"/>
                  </a:lnTo>
                  <a:lnTo>
                    <a:pt x="25400" y="6826250"/>
                  </a:lnTo>
                  <a:lnTo>
                    <a:pt x="12700" y="6826250"/>
                  </a:lnTo>
                  <a:lnTo>
                    <a:pt x="12700" y="6813550"/>
                  </a:lnTo>
                  <a:lnTo>
                    <a:pt x="7699121" y="6813550"/>
                  </a:lnTo>
                  <a:lnTo>
                    <a:pt x="7699121" y="6826250"/>
                  </a:lnTo>
                  <a:lnTo>
                    <a:pt x="7686421" y="6826250"/>
                  </a:lnTo>
                  <a:lnTo>
                    <a:pt x="7686421" y="12700"/>
                  </a:lnTo>
                  <a:lnTo>
                    <a:pt x="7699121" y="12700"/>
                  </a:lnTo>
                  <a:lnTo>
                    <a:pt x="7699121" y="25400"/>
                  </a:lnTo>
                  <a:lnTo>
                    <a:pt x="12700" y="25400"/>
                  </a:lnTo>
                  <a:close/>
                </a:path>
              </a:pathLst>
            </a:custGeom>
            <a:solidFill>
              <a:srgbClr val="000000"/>
            </a:solidFill>
          </p:spPr>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23702"/>
            <a:ext cx="14147311" cy="1241041"/>
          </a:xfrm>
          <a:prstGeom prst="rect">
            <a:avLst/>
          </a:prstGeom>
        </p:spPr>
        <p:txBody>
          <a:bodyPr anchor="t" rtlCol="false" tIns="0" lIns="0" bIns="0" rIns="0">
            <a:spAutoFit/>
          </a:bodyPr>
          <a:lstStyle/>
          <a:p>
            <a:pPr algn="l">
              <a:lnSpc>
                <a:spcPts val="8936"/>
              </a:lnSpc>
            </a:pPr>
            <a:r>
              <a:rPr lang="en-US" b="true" sz="7598">
                <a:solidFill>
                  <a:srgbClr val="FFFFFF"/>
                </a:solidFill>
                <a:latin typeface="Arial Bold"/>
                <a:ea typeface="Arial Bold"/>
                <a:cs typeface="Arial Bold"/>
                <a:sym typeface="Arial Bold"/>
              </a:rPr>
              <a:t>Integridad</a:t>
            </a:r>
          </a:p>
        </p:txBody>
      </p:sp>
      <p:sp>
        <p:nvSpPr>
          <p:cNvPr name="TextBox 5" id="5"/>
          <p:cNvSpPr txBox="true"/>
          <p:nvPr/>
        </p:nvSpPr>
        <p:spPr>
          <a:xfrm rot="0">
            <a:off x="698525" y="2923222"/>
            <a:ext cx="12545997" cy="1831200"/>
          </a:xfrm>
          <a:prstGeom prst="rect">
            <a:avLst/>
          </a:prstGeom>
        </p:spPr>
        <p:txBody>
          <a:bodyPr anchor="t" rtlCol="false" tIns="0" lIns="0" bIns="0" rIns="0">
            <a:spAutoFit/>
          </a:bodyPr>
          <a:lstStyle/>
          <a:p>
            <a:pPr algn="just">
              <a:lnSpc>
                <a:spcPts val="4821"/>
              </a:lnSpc>
            </a:pPr>
            <a:r>
              <a:rPr lang="en-US" sz="2870">
                <a:solidFill>
                  <a:srgbClr val="FFFFFF"/>
                </a:solidFill>
                <a:latin typeface="Arial"/>
                <a:ea typeface="Arial"/>
                <a:cs typeface="Arial"/>
                <a:sym typeface="Arial"/>
              </a:rPr>
              <a:t>Fomenta el compromiso del estudiante con el manejo responsable, coherente y honesto de la información, promoviendo prácticas que aseguren la confidencialidad, disponibilidad y veracidad de los datos almacenados.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21982" y="1123702"/>
            <a:ext cx="14147311" cy="1241041"/>
          </a:xfrm>
          <a:prstGeom prst="rect">
            <a:avLst/>
          </a:prstGeom>
        </p:spPr>
        <p:txBody>
          <a:bodyPr anchor="t" rtlCol="false" tIns="0" lIns="0" bIns="0" rIns="0">
            <a:spAutoFit/>
          </a:bodyPr>
          <a:lstStyle/>
          <a:p>
            <a:pPr algn="l">
              <a:lnSpc>
                <a:spcPts val="8936"/>
              </a:lnSpc>
            </a:pPr>
            <a:r>
              <a:rPr lang="en-US" b="true" sz="7598">
                <a:solidFill>
                  <a:srgbClr val="FFFFFF"/>
                </a:solidFill>
                <a:latin typeface="Arial Bold"/>
                <a:ea typeface="Arial Bold"/>
                <a:cs typeface="Arial Bold"/>
                <a:sym typeface="Arial Bold"/>
              </a:rPr>
              <a:t>Referencias</a:t>
            </a:r>
          </a:p>
        </p:txBody>
      </p:sp>
      <p:sp>
        <p:nvSpPr>
          <p:cNvPr name="TextBox 5" id="5"/>
          <p:cNvSpPr txBox="true"/>
          <p:nvPr/>
        </p:nvSpPr>
        <p:spPr>
          <a:xfrm rot="0">
            <a:off x="460619" y="2502160"/>
            <a:ext cx="17366761" cy="6645278"/>
          </a:xfrm>
          <a:prstGeom prst="rect">
            <a:avLst/>
          </a:prstGeom>
        </p:spPr>
        <p:txBody>
          <a:bodyPr anchor="t" rtlCol="false" tIns="0" lIns="0" bIns="0" rIns="0">
            <a:spAutoFit/>
          </a:bodyPr>
          <a:lstStyle/>
          <a:p>
            <a:pPr algn="just">
              <a:lnSpc>
                <a:spcPts val="3360"/>
              </a:lnSpc>
            </a:pPr>
            <a:r>
              <a:rPr lang="en-US" sz="2000">
                <a:solidFill>
                  <a:srgbClr val="FFFFFF"/>
                </a:solidFill>
                <a:latin typeface="Arial"/>
                <a:ea typeface="Arial"/>
                <a:cs typeface="Arial"/>
                <a:sym typeface="Arial"/>
              </a:rPr>
              <a:t>INCIBE. (s.f.). Cifrado y firma digital. Instituto Nacional de Ciberseguridad. https://www.incibe.es/protege-tu-empresa/blog/cifrado-y-firma-digital</a:t>
            </a:r>
          </a:p>
          <a:p>
            <a:pPr algn="just">
              <a:lnSpc>
                <a:spcPts val="2351"/>
              </a:lnSpc>
            </a:pPr>
          </a:p>
          <a:p>
            <a:pPr algn="just">
              <a:lnSpc>
                <a:spcPts val="3360"/>
              </a:lnSpc>
            </a:pPr>
            <a:r>
              <a:rPr lang="en-US" sz="2000">
                <a:solidFill>
                  <a:srgbClr val="FFFFFF"/>
                </a:solidFill>
                <a:latin typeface="Arial"/>
                <a:ea typeface="Arial"/>
                <a:cs typeface="Arial"/>
                <a:sym typeface="Arial"/>
              </a:rPr>
              <a:t>ESET. (2023). Los pilares de la seguridad informática: confidencialidad, integridad y disponibilidad. WeLiveSecurity. https://www.welivesecurity.com/la-es/2023/01/20/pilares-seguridad-confidencialidad-integridad-disponibilidad/</a:t>
            </a:r>
          </a:p>
          <a:p>
            <a:pPr algn="just">
              <a:lnSpc>
                <a:spcPts val="2351"/>
              </a:lnSpc>
            </a:pPr>
          </a:p>
          <a:p>
            <a:pPr algn="just">
              <a:lnSpc>
                <a:spcPts val="3360"/>
              </a:lnSpc>
            </a:pPr>
            <a:r>
              <a:rPr lang="en-US" sz="2000">
                <a:solidFill>
                  <a:srgbClr val="FFFFFF"/>
                </a:solidFill>
                <a:latin typeface="Arial"/>
                <a:ea typeface="Arial"/>
                <a:cs typeface="Arial"/>
                <a:sym typeface="Arial"/>
              </a:rPr>
              <a:t>Kaspersky. (s.f.). 10 consejos de ciberseguridad para empresas. https://latam.kaspersky.com/blog/10-consejos-de-ciberseguridad-para-empresas/21410/</a:t>
            </a:r>
          </a:p>
          <a:p>
            <a:pPr algn="just">
              <a:lnSpc>
                <a:spcPts val="2351"/>
              </a:lnSpc>
            </a:pPr>
          </a:p>
          <a:p>
            <a:pPr algn="just">
              <a:lnSpc>
                <a:spcPts val="3360"/>
              </a:lnSpc>
            </a:pPr>
            <a:r>
              <a:rPr lang="en-US" sz="2000">
                <a:solidFill>
                  <a:srgbClr val="FFFFFF"/>
                </a:solidFill>
                <a:latin typeface="Arial"/>
                <a:ea typeface="Arial"/>
                <a:cs typeface="Arial"/>
                <a:sym typeface="Arial"/>
              </a:rPr>
              <a:t>INCIBE. (2023). Principales amenazas de ciberseguridad en 2023. https://www.incibe.es/protege-tu-empresa/blog/principales-amenazas-ciberseguridad-2023</a:t>
            </a:r>
          </a:p>
          <a:p>
            <a:pPr algn="just">
              <a:lnSpc>
                <a:spcPts val="2351"/>
              </a:lnSpc>
            </a:pPr>
          </a:p>
          <a:p>
            <a:pPr algn="just">
              <a:lnSpc>
                <a:spcPts val="3360"/>
              </a:lnSpc>
            </a:pPr>
            <a:r>
              <a:rPr lang="en-US" sz="2000">
                <a:solidFill>
                  <a:srgbClr val="FFFFFF"/>
                </a:solidFill>
                <a:latin typeface="Arial"/>
                <a:ea typeface="Arial"/>
                <a:cs typeface="Arial"/>
                <a:sym typeface="Arial"/>
              </a:rPr>
              <a:t>IBM. (s.f.). ¿Qué es la seguridad del almacenamiento?. IBM Docs. https://www.ibm.com/es-es/topics/storage-security</a:t>
            </a:r>
          </a:p>
          <a:p>
            <a:pPr algn="just">
              <a:lnSpc>
                <a:spcPts val="2351"/>
              </a:lnSpc>
            </a:pPr>
          </a:p>
          <a:p>
            <a:pPr algn="just">
              <a:lnSpc>
                <a:spcPts val="3360"/>
              </a:lnSpc>
            </a:pPr>
            <a:r>
              <a:rPr lang="en-US" sz="2000">
                <a:solidFill>
                  <a:srgbClr val="FFFFFF"/>
                </a:solidFill>
                <a:latin typeface="Arial"/>
                <a:ea typeface="Arial"/>
                <a:cs typeface="Arial"/>
                <a:sym typeface="Arial"/>
              </a:rPr>
              <a:t>Acronis. (2022). Seguridad en almacenamiento de datos: amenazas y soluciones. https://www.acronis.com/es-es/blog/posts/seguridad-en-almacenamiento-datos/</a:t>
            </a:r>
          </a:p>
          <a:p>
            <a:pPr algn="just">
              <a:lnSpc>
                <a:spcPts val="3375"/>
              </a:lnSpc>
            </a:pPr>
          </a:p>
          <a:p>
            <a:pPr algn="just">
              <a:lnSpc>
                <a:spcPts val="3360"/>
              </a:lnSpc>
            </a:pPr>
            <a:r>
              <a:rPr lang="en-US" sz="2000">
                <a:solidFill>
                  <a:srgbClr val="FFFFFF"/>
                </a:solidFill>
                <a:latin typeface="Arial"/>
                <a:ea typeface="Arial"/>
                <a:cs typeface="Arial"/>
                <a:sym typeface="Arial"/>
              </a:rPr>
              <a:t>Blog Panda Security. (2021). ¿Qué es una copia de seguridad y para qué sirve?. https://www.pandasecurity.com/es/mediacenter/consejos/copia-de-seguridad/</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4832035" y="595027"/>
            <a:ext cx="2952283" cy="4036524"/>
            <a:chOff x="0" y="0"/>
            <a:chExt cx="3936378" cy="5382031"/>
          </a:xfrm>
        </p:grpSpPr>
        <p:sp>
          <p:nvSpPr>
            <p:cNvPr name="Freeform 5" id="5"/>
            <p:cNvSpPr/>
            <p:nvPr/>
          </p:nvSpPr>
          <p:spPr>
            <a:xfrm flipH="false" flipV="false" rot="0">
              <a:off x="0" y="0"/>
              <a:ext cx="3936365" cy="5382006"/>
            </a:xfrm>
            <a:custGeom>
              <a:avLst/>
              <a:gdLst/>
              <a:ahLst/>
              <a:cxnLst/>
              <a:rect r="r" b="b" t="t" l="l"/>
              <a:pathLst>
                <a:path h="5382006" w="3936365">
                  <a:moveTo>
                    <a:pt x="0" y="0"/>
                  </a:moveTo>
                  <a:lnTo>
                    <a:pt x="3936365" y="0"/>
                  </a:lnTo>
                  <a:lnTo>
                    <a:pt x="3936365" y="5382006"/>
                  </a:lnTo>
                  <a:lnTo>
                    <a:pt x="0" y="5382006"/>
                  </a:lnTo>
                  <a:lnTo>
                    <a:pt x="0" y="0"/>
                  </a:lnTo>
                  <a:close/>
                </a:path>
              </a:pathLst>
            </a:custGeom>
            <a:blipFill>
              <a:blip r:embed="rId4"/>
              <a:stretch>
                <a:fillRect l="0" t="-5" r="0" b="-5"/>
              </a:stretch>
            </a:blipFill>
          </p:spPr>
        </p:sp>
      </p:grpSp>
      <p:sp>
        <p:nvSpPr>
          <p:cNvPr name="TextBox 6" id="6"/>
          <p:cNvSpPr txBox="true"/>
          <p:nvPr/>
        </p:nvSpPr>
        <p:spPr>
          <a:xfrm rot="0">
            <a:off x="1028700" y="4457729"/>
            <a:ext cx="16230600" cy="1726949"/>
          </a:xfrm>
          <a:prstGeom prst="rect">
            <a:avLst/>
          </a:prstGeom>
        </p:spPr>
        <p:txBody>
          <a:bodyPr anchor="t" rtlCol="false" tIns="0" lIns="0" bIns="0" rIns="0">
            <a:spAutoFit/>
          </a:bodyPr>
          <a:lstStyle/>
          <a:p>
            <a:pPr algn="ctr">
              <a:lnSpc>
                <a:spcPts val="6719"/>
              </a:lnSpc>
            </a:pPr>
            <a:r>
              <a:rPr lang="en-US" b="true" sz="4999">
                <a:solidFill>
                  <a:srgbClr val="FFFFFF"/>
                </a:solidFill>
                <a:latin typeface="Arial Bold"/>
                <a:ea typeface="Arial Bold"/>
                <a:cs typeface="Arial Bold"/>
                <a:sym typeface="Arial Bold"/>
              </a:rPr>
              <a:t>¡GRACIAS POR SU ATENCIÓN!</a:t>
            </a:r>
          </a:p>
          <a:p>
            <a:pPr algn="ctr">
              <a:lnSpc>
                <a:spcPts val="6719"/>
              </a:lnSpc>
            </a:pPr>
            <a:r>
              <a:rPr lang="en-US" b="true" sz="4999">
                <a:solidFill>
                  <a:srgbClr val="FFFFFF"/>
                </a:solidFill>
                <a:latin typeface="Arial Bold"/>
                <a:ea typeface="Arial Bold"/>
                <a:cs typeface="Arial Bold"/>
                <a:sym typeface="Arial Bold"/>
              </a:rPr>
              <a:t>¿DUDAS?</a:t>
            </a:r>
          </a:p>
        </p:txBody>
      </p:sp>
      <p:sp>
        <p:nvSpPr>
          <p:cNvPr name="TextBox 7" id="7"/>
          <p:cNvSpPr txBox="true"/>
          <p:nvPr/>
        </p:nvSpPr>
        <p:spPr>
          <a:xfrm rot="0">
            <a:off x="3632359" y="8272967"/>
            <a:ext cx="12007691" cy="1206503"/>
          </a:xfrm>
          <a:prstGeom prst="rect">
            <a:avLst/>
          </a:prstGeom>
        </p:spPr>
        <p:txBody>
          <a:bodyPr anchor="t" rtlCol="false" tIns="0" lIns="0" bIns="0" rIns="0">
            <a:spAutoFit/>
          </a:bodyPr>
          <a:lstStyle/>
          <a:p>
            <a:pPr algn="ctr">
              <a:lnSpc>
                <a:spcPts val="3360"/>
              </a:lnSpc>
            </a:pPr>
            <a:r>
              <a:rPr lang="en-US" sz="2000">
                <a:solidFill>
                  <a:srgbClr val="FFFFFF"/>
                </a:solidFill>
                <a:latin typeface="Arial"/>
                <a:ea typeface="Arial"/>
                <a:cs typeface="Arial"/>
                <a:sym typeface="Arial"/>
              </a:rPr>
              <a:t>RECUERDA QUE TENEMOS NUESTRO FORO SEMANAL DONDE PUEDES CONSULTAR CUALQUIER DUDA QUE TE SURJA EN LA SEMANA</a:t>
            </a:r>
          </a:p>
          <a:p>
            <a:pPr algn="ctr">
              <a:lnSpc>
                <a:spcPts val="2351"/>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DAHGHUYoIEE</dc:identifier>
  <dcterms:modified xsi:type="dcterms:W3CDTF">2011-08-01T06:04:30Z</dcterms:modified>
  <cp:revision>1</cp:revision>
  <dc:title>Presentación_S10.pptx</dc:title>
</cp:coreProperties>
</file>