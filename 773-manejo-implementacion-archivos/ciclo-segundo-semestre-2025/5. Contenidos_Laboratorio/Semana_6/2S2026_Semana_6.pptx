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Arial MT Pro Bold" charset="1" panose="020B0802020202020204"/>
      <p:regular r:id="rId35"/>
    </p:embeddedFont>
    <p:embeddedFont>
      <p:font typeface="Arial MT Pro" charset="1" panose="020B0502020202020204"/>
      <p:regular r:id="rId36"/>
    </p:embeddedFont>
    <p:embeddedFont>
      <p:font typeface="Canva Sans Bold" charset="1" panose="020B0803030501040103"/>
      <p:regular r:id="rId37"/>
    </p:embeddedFont>
    <p:embeddedFont>
      <p:font typeface="Open Sans Bold" charset="1" panose="00000000000000000000"/>
      <p:regular r:id="rId39"/>
    </p:embeddedFont>
    <p:embeddedFont>
      <p:font typeface="Pacifico" charset="1" panose="00000500000000000000"/>
      <p:regular r:id="rId41"/>
    </p:embeddedFont>
    <p:embeddedFont>
      <p:font typeface="Montserrat" charset="1" panose="00000500000000000000"/>
      <p:regular r:id="rId45"/>
    </p:embeddedFont>
    <p:embeddedFont>
      <p:font typeface="Play" charset="1" panose="00000500000000000000"/>
      <p:regular r:id="rId47"/>
    </p:embeddedFont>
    <p:embeddedFont>
      <p:font typeface="Lexend Deca" charset="1" panose="00000000000000000000"/>
      <p:regular r:id="rId48"/>
    </p:embeddedFont>
    <p:embeddedFont>
      <p:font typeface="Play Bold" charset="1" panose="00000800000000000000"/>
      <p:regular r:id="rId50"/>
    </p:embeddedFont>
    <p:embeddedFont>
      <p:font typeface="Arial" charset="1" panose="020B0604020202020204"/>
      <p:regular r:id="rId56"/>
    </p:embeddedFont>
    <p:embeddedFont>
      <p:font typeface="Arial Bold" charset="1" panose="020B0704020202020204"/>
      <p:regular r:id="rId63"/>
    </p:embeddedFont>
    <p:embeddedFont>
      <p:font typeface="Montserrat Bold" charset="1" panose="00000800000000000000"/>
      <p:regular r:id="rId68"/>
    </p:embeddedFont>
    <p:embeddedFont>
      <p:font typeface="Impact" charset="1" panose="020B0806030902050204"/>
      <p:regular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notesMasters/notesMaster1.xml" Type="http://schemas.openxmlformats.org/officeDocument/2006/relationships/notesMaster"/><Relationship Id="rId33" Target="theme/theme2.xml" Type="http://schemas.openxmlformats.org/officeDocument/2006/relationships/theme"/><Relationship Id="rId34" Target="notesSlides/notesSlide1.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notesSlides/notesSlide2.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3.xml" Type="http://schemas.openxmlformats.org/officeDocument/2006/relationships/notesSlide"/><Relationship Id="rId41" Target="fonts/font41.fntdata" Type="http://schemas.openxmlformats.org/officeDocument/2006/relationships/font"/><Relationship Id="rId42" Target="notesSlides/notesSlide4.xml" Type="http://schemas.openxmlformats.org/officeDocument/2006/relationships/notesSlide"/><Relationship Id="rId43" Target="notesSlides/notesSlide5.xml" Type="http://schemas.openxmlformats.org/officeDocument/2006/relationships/notesSlide"/><Relationship Id="rId44" Target="notesSlides/notesSlide6.xml" Type="http://schemas.openxmlformats.org/officeDocument/2006/relationships/notesSlide"/><Relationship Id="rId45" Target="fonts/font45.fntdata" Type="http://schemas.openxmlformats.org/officeDocument/2006/relationships/font"/><Relationship Id="rId46" Target="notesSlides/notesSlide7.xml" Type="http://schemas.openxmlformats.org/officeDocument/2006/relationships/notesSlide"/><Relationship Id="rId47" Target="fonts/font47.fntdata" Type="http://schemas.openxmlformats.org/officeDocument/2006/relationships/font"/><Relationship Id="rId48" Target="fonts/font48.fntdata" Type="http://schemas.openxmlformats.org/officeDocument/2006/relationships/font"/><Relationship Id="rId49" Target="notesSlides/notesSlide8.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51" Target="notesSlides/notesSlide9.xml" Type="http://schemas.openxmlformats.org/officeDocument/2006/relationships/notesSlide"/><Relationship Id="rId52" Target="notesSlides/notesSlide10.xml" Type="http://schemas.openxmlformats.org/officeDocument/2006/relationships/notesSlide"/><Relationship Id="rId53" Target="notesSlides/notesSlide11.xml" Type="http://schemas.openxmlformats.org/officeDocument/2006/relationships/notesSlide"/><Relationship Id="rId54" Target="notesSlides/notesSlide12.xml" Type="http://schemas.openxmlformats.org/officeDocument/2006/relationships/notesSlide"/><Relationship Id="rId55" Target="notesSlides/notesSlide13.xml" Type="http://schemas.openxmlformats.org/officeDocument/2006/relationships/notesSlide"/><Relationship Id="rId56" Target="fonts/font56.fntdata" Type="http://schemas.openxmlformats.org/officeDocument/2006/relationships/font"/><Relationship Id="rId57" Target="notesSlides/notesSlide14.xml" Type="http://schemas.openxmlformats.org/officeDocument/2006/relationships/notesSlide"/><Relationship Id="rId58" Target="notesSlides/notesSlide15.xml" Type="http://schemas.openxmlformats.org/officeDocument/2006/relationships/notesSlide"/><Relationship Id="rId59" Target="notesSlides/notesSlide16.xml" Type="http://schemas.openxmlformats.org/officeDocument/2006/relationships/notesSlide"/><Relationship Id="rId6" Target="slides/slide1.xml" Type="http://schemas.openxmlformats.org/officeDocument/2006/relationships/slide"/><Relationship Id="rId60" Target="notesSlides/notesSlide17.xml" Type="http://schemas.openxmlformats.org/officeDocument/2006/relationships/notesSlide"/><Relationship Id="rId61" Target="notesSlides/notesSlide18.xml" Type="http://schemas.openxmlformats.org/officeDocument/2006/relationships/notesSlide"/><Relationship Id="rId62" Target="notesSlides/notesSlide19.xml" Type="http://schemas.openxmlformats.org/officeDocument/2006/relationships/notesSlide"/><Relationship Id="rId63" Target="fonts/font63.fntdata" Type="http://schemas.openxmlformats.org/officeDocument/2006/relationships/font"/><Relationship Id="rId64" Target="notesSlides/notesSlide20.xml" Type="http://schemas.openxmlformats.org/officeDocument/2006/relationships/notesSlide"/><Relationship Id="rId65" Target="notesSlides/notesSlide21.xml" Type="http://schemas.openxmlformats.org/officeDocument/2006/relationships/notesSlide"/><Relationship Id="rId66" Target="notesSlides/notesSlide22.xml" Type="http://schemas.openxmlformats.org/officeDocument/2006/relationships/notesSlide"/><Relationship Id="rId67" Target="notesSlides/notesSlide23.xml" Type="http://schemas.openxmlformats.org/officeDocument/2006/relationships/notesSlide"/><Relationship Id="rId68" Target="fonts/font68.fntdata" Type="http://schemas.openxmlformats.org/officeDocument/2006/relationships/font"/><Relationship Id="rId69" Target="notesSlides/notesSlide24.xml" Type="http://schemas.openxmlformats.org/officeDocument/2006/relationships/notesSlide"/><Relationship Id="rId7" Target="slides/slide2.xml" Type="http://schemas.openxmlformats.org/officeDocument/2006/relationships/slide"/><Relationship Id="rId70" Target="notesSlides/notesSlide25.xml" Type="http://schemas.openxmlformats.org/officeDocument/2006/relationships/notesSlide"/><Relationship Id="rId71" Target="notesSlides/notesSlide26.xml" Type="http://schemas.openxmlformats.org/officeDocument/2006/relationships/notesSlide"/><Relationship Id="rId72" Target="fonts/font72.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2" Target="../notesSlides/notesSlide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9.pn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 Id="rId5"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 Id="rId5" Target="../media/image3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 Id="rId5" Target="../media/image3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 Id="rId5" Target="../media/image4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1.pn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4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49.png" Type="http://schemas.openxmlformats.org/officeDocument/2006/relationships/image"/><Relationship Id="rId4" Target="../media/image50.svg" Type="http://schemas.openxmlformats.org/officeDocument/2006/relationships/image"/><Relationship Id="rId5" Target="../media/image51.png" Type="http://schemas.openxmlformats.org/officeDocument/2006/relationships/image"/><Relationship Id="rId6" Target="../media/image52.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49.png" Type="http://schemas.openxmlformats.org/officeDocument/2006/relationships/image"/><Relationship Id="rId4" Target="../media/image50.svg" Type="http://schemas.openxmlformats.org/officeDocument/2006/relationships/image"/><Relationship Id="rId5" Target="../media/image57.png" Type="http://schemas.openxmlformats.org/officeDocument/2006/relationships/image"/><Relationship Id="rId6" Target="../media/image5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62.png" Type="http://schemas.openxmlformats.org/officeDocument/2006/relationships/image"/><Relationship Id="rId4" Target="../media/image6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64.png" Type="http://schemas.openxmlformats.org/officeDocument/2006/relationships/image"/><Relationship Id="rId4" Target="../media/image65.svg" Type="http://schemas.openxmlformats.org/officeDocument/2006/relationships/image"/><Relationship Id="rId5" Target="../media/image6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67.png" Type="http://schemas.openxmlformats.org/officeDocument/2006/relationships/image"/><Relationship Id="rId14" Target="../media/image68.png" Type="http://schemas.openxmlformats.org/officeDocument/2006/relationships/image"/><Relationship Id="rId2" Target="../notesSlides/notesSlide2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28.png" Type="http://schemas.openxmlformats.org/officeDocument/2006/relationships/image"/><Relationship Id="rId2" Target="../notesSlides/notesSlide2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69.png" Type="http://schemas.openxmlformats.org/officeDocument/2006/relationships/image"/><Relationship Id="rId2" Target="../notesSlides/notesSlide25.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notesSlides/notesSlide26.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875"/>
            <a:ext cx="18311242" cy="10319149"/>
            <a:chOff x="0" y="0"/>
            <a:chExt cx="24414990" cy="13758865"/>
          </a:xfrm>
        </p:grpSpPr>
        <p:sp>
          <p:nvSpPr>
            <p:cNvPr name="Freeform 3" id="3"/>
            <p:cNvSpPr/>
            <p:nvPr/>
          </p:nvSpPr>
          <p:spPr>
            <a:xfrm flipH="false" flipV="false" rot="0">
              <a:off x="0" y="0"/>
              <a:ext cx="24414987" cy="13758926"/>
            </a:xfrm>
            <a:custGeom>
              <a:avLst/>
              <a:gdLst/>
              <a:ahLst/>
              <a:cxnLst/>
              <a:rect r="r" b="b" t="t" l="l"/>
              <a:pathLst>
                <a:path h="13758926" w="24414987">
                  <a:moveTo>
                    <a:pt x="0" y="0"/>
                  </a:moveTo>
                  <a:lnTo>
                    <a:pt x="24414987" y="0"/>
                  </a:lnTo>
                  <a:lnTo>
                    <a:pt x="24414987" y="13758926"/>
                  </a:lnTo>
                  <a:lnTo>
                    <a:pt x="0" y="13758926"/>
                  </a:lnTo>
                  <a:lnTo>
                    <a:pt x="0" y="0"/>
                  </a:lnTo>
                  <a:close/>
                </a:path>
              </a:pathLst>
            </a:custGeom>
            <a:blipFill>
              <a:blip r:embed="rId3"/>
              <a:stretch>
                <a:fillRect l="0" t="0" r="0" b="0"/>
              </a:stretch>
            </a:blipFill>
          </p:spPr>
        </p:sp>
      </p:grpSp>
      <p:graphicFrame>
        <p:nvGraphicFramePr>
          <p:cNvPr name="Table 4" id="4"/>
          <p:cNvGraphicFramePr>
            <a:graphicFrameLocks noGrp="true"/>
          </p:cNvGraphicFramePr>
          <p:nvPr/>
        </p:nvGraphicFramePr>
        <p:xfrm>
          <a:off x="10656401" y="1940051"/>
          <a:ext cx="7350125" cy="1402100"/>
        </p:xfrm>
        <a:graphic>
          <a:graphicData uri="http://schemas.openxmlformats.org/drawingml/2006/table">
            <a:tbl>
              <a:tblPr/>
              <a:tblGrid>
                <a:gridCol w="3028681"/>
                <a:gridCol w="4321444"/>
              </a:tblGrid>
              <a:tr h="701050">
                <a:tc>
                  <a:txBody>
                    <a:bodyPr anchor="t" rtlCol="false"/>
                    <a:lstStyle/>
                    <a:p>
                      <a:pPr algn="l">
                        <a:lnSpc>
                          <a:spcPts val="4139"/>
                        </a:lnSpc>
                        <a:defRPr/>
                      </a:pPr>
                      <a:r>
                        <a:rPr lang="en-US" b="true" sz="2874">
                          <a:solidFill>
                            <a:srgbClr val="000000"/>
                          </a:solidFill>
                          <a:latin typeface="Arial MT Pro Bold"/>
                          <a:ea typeface="Arial MT Pro Bold"/>
                          <a:cs typeface="Arial MT Pro Bold"/>
                          <a:sym typeface="Arial MT Pro Bold"/>
                        </a:rPr>
                        <a:t>Día, Fecha:</a:t>
                      </a: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c>
                  <a:txBody>
                    <a:bodyPr anchor="t" rtlCol="false"/>
                    <a:lstStyle/>
                    <a:p>
                      <a:pPr algn="l">
                        <a:lnSpc>
                          <a:spcPts val="4139"/>
                        </a:lnSpc>
                        <a:defRPr/>
                      </a:pPr>
                      <a:r>
                        <a:rPr lang="en-US" b="true" sz="2874">
                          <a:solidFill>
                            <a:srgbClr val="000000"/>
                          </a:solidFill>
                          <a:latin typeface="Arial MT Pro Bold"/>
                          <a:ea typeface="Arial MT Pro Bold"/>
                          <a:cs typeface="Arial MT Pro Bold"/>
                          <a:sym typeface="Arial MT Pro Bold"/>
                        </a:rPr>
                        <a:t>Lunes, 03/03/2026</a:t>
                      </a: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r>
              <a:tr h="701050">
                <a:tc>
                  <a:txBody>
                    <a:bodyPr anchor="t" rtlCol="false"/>
                    <a:lstStyle/>
                    <a:p>
                      <a:pPr algn="l">
                        <a:lnSpc>
                          <a:spcPts val="4139"/>
                        </a:lnSpc>
                        <a:defRPr/>
                      </a:pPr>
                      <a:r>
                        <a:rPr lang="en-US" b="true" sz="2874">
                          <a:solidFill>
                            <a:srgbClr val="000000"/>
                          </a:solidFill>
                          <a:latin typeface="Arial MT Pro Bold"/>
                          <a:ea typeface="Arial MT Pro Bold"/>
                          <a:cs typeface="Arial MT Pro Bold"/>
                          <a:sym typeface="Arial MT Pro Bold"/>
                        </a:rPr>
                        <a:t>Hora de inicio:</a:t>
                      </a: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c>
                  <a:txBody>
                    <a:bodyPr anchor="t" rtlCol="false"/>
                    <a:lstStyle/>
                    <a:p>
                      <a:pPr algn="l">
                        <a:lnSpc>
                          <a:spcPts val="4139"/>
                        </a:lnSpc>
                        <a:defRPr/>
                      </a:pPr>
                      <a:r>
                        <a:rPr lang="en-US" sz="2874">
                          <a:solidFill>
                            <a:srgbClr val="000000"/>
                          </a:solidFill>
                          <a:latin typeface="Arial MT Pro"/>
                          <a:ea typeface="Arial MT Pro"/>
                          <a:cs typeface="Arial MT Pro"/>
                          <a:sym typeface="Arial MT Pro"/>
                        </a:rPr>
                        <a:t>17:25</a:t>
                      </a: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063927" y="5320636"/>
            <a:ext cx="13932173" cy="981045"/>
          </a:xfrm>
          <a:prstGeom prst="rect">
            <a:avLst/>
          </a:prstGeom>
        </p:spPr>
        <p:txBody>
          <a:bodyPr anchor="t" rtlCol="false" tIns="0" lIns="0" bIns="0" rIns="0">
            <a:spAutoFit/>
          </a:bodyPr>
          <a:lstStyle/>
          <a:p>
            <a:pPr algn="l">
              <a:lnSpc>
                <a:spcPts val="7200"/>
              </a:lnSpc>
            </a:pPr>
            <a:r>
              <a:rPr lang="en-US" sz="4999">
                <a:solidFill>
                  <a:srgbClr val="000000"/>
                </a:solidFill>
                <a:latin typeface="Arial MT Pro"/>
                <a:ea typeface="Arial MT Pro"/>
                <a:cs typeface="Arial MT Pro"/>
                <a:sym typeface="Arial MT Pro"/>
              </a:rPr>
              <a:t>Manejo e Implementación de Archivos Seccion A</a:t>
            </a:r>
          </a:p>
        </p:txBody>
      </p:sp>
      <p:sp>
        <p:nvSpPr>
          <p:cNvPr name="TextBox 6" id="6"/>
          <p:cNvSpPr txBox="true"/>
          <p:nvPr/>
        </p:nvSpPr>
        <p:spPr>
          <a:xfrm rot="0">
            <a:off x="10656401" y="6960070"/>
            <a:ext cx="6846750" cy="773430"/>
          </a:xfrm>
          <a:prstGeom prst="rect">
            <a:avLst/>
          </a:prstGeom>
        </p:spPr>
        <p:txBody>
          <a:bodyPr anchor="t" rtlCol="false" tIns="0" lIns="0" bIns="0" rIns="0">
            <a:spAutoFit/>
          </a:bodyPr>
          <a:lstStyle/>
          <a:p>
            <a:pPr algn="l">
              <a:lnSpc>
                <a:spcPts val="5759"/>
              </a:lnSpc>
            </a:pPr>
            <a:r>
              <a:rPr lang="en-US" sz="4000">
                <a:solidFill>
                  <a:srgbClr val="000000"/>
                </a:solidFill>
                <a:latin typeface="Arial MT Pro"/>
                <a:ea typeface="Arial MT Pro"/>
                <a:cs typeface="Arial MT Pro"/>
                <a:sym typeface="Arial MT Pro"/>
              </a:rPr>
              <a:t>Tutor:</a:t>
            </a:r>
          </a:p>
        </p:txBody>
      </p:sp>
      <p:sp>
        <p:nvSpPr>
          <p:cNvPr name="TextBox 7" id="7"/>
          <p:cNvSpPr txBox="true"/>
          <p:nvPr/>
        </p:nvSpPr>
        <p:spPr>
          <a:xfrm rot="0">
            <a:off x="4953552" y="3773142"/>
            <a:ext cx="8152924"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BIENVENIDOS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63EF5"/>
        </a:solidFill>
      </p:bgPr>
    </p:bg>
    <p:spTree>
      <p:nvGrpSpPr>
        <p:cNvPr id="1" name=""/>
        <p:cNvGrpSpPr/>
        <p:nvPr/>
      </p:nvGrpSpPr>
      <p:grpSpPr>
        <a:xfrm>
          <a:off x="0" y="0"/>
          <a:ext cx="0" cy="0"/>
          <a:chOff x="0" y="0"/>
          <a:chExt cx="0" cy="0"/>
        </a:xfrm>
      </p:grpSpPr>
      <p:grpSp>
        <p:nvGrpSpPr>
          <p:cNvPr name="Group 2" id="2"/>
          <p:cNvGrpSpPr/>
          <p:nvPr/>
        </p:nvGrpSpPr>
        <p:grpSpPr>
          <a:xfrm rot="0">
            <a:off x="57" y="5649001"/>
            <a:ext cx="14740804" cy="4637999"/>
            <a:chOff x="0" y="0"/>
            <a:chExt cx="19654406" cy="6183998"/>
          </a:xfrm>
        </p:grpSpPr>
        <p:sp>
          <p:nvSpPr>
            <p:cNvPr name="Freeform 3" id="3"/>
            <p:cNvSpPr/>
            <p:nvPr/>
          </p:nvSpPr>
          <p:spPr>
            <a:xfrm flipH="false" flipV="false" rot="0">
              <a:off x="0" y="0"/>
              <a:ext cx="19654393" cy="6184011"/>
            </a:xfrm>
            <a:custGeom>
              <a:avLst/>
              <a:gdLst/>
              <a:ahLst/>
              <a:cxnLst/>
              <a:rect r="r" b="b" t="t" l="l"/>
              <a:pathLst>
                <a:path h="6184011" w="19654393">
                  <a:moveTo>
                    <a:pt x="0" y="6184011"/>
                  </a:moveTo>
                  <a:lnTo>
                    <a:pt x="0" y="0"/>
                  </a:lnTo>
                  <a:lnTo>
                    <a:pt x="19654393" y="6184011"/>
                  </a:lnTo>
                  <a:close/>
                </a:path>
              </a:pathLst>
            </a:custGeom>
            <a:solidFill>
              <a:srgbClr val="00796B"/>
            </a:solidFill>
          </p:spPr>
        </p:sp>
      </p:grpSp>
      <p:grpSp>
        <p:nvGrpSpPr>
          <p:cNvPr name="Group 4" id="4"/>
          <p:cNvGrpSpPr/>
          <p:nvPr/>
        </p:nvGrpSpPr>
        <p:grpSpPr>
          <a:xfrm rot="0">
            <a:off x="7165200" y="3101397"/>
            <a:ext cx="11122800" cy="7185603"/>
            <a:chOff x="0" y="0"/>
            <a:chExt cx="14830400" cy="9580804"/>
          </a:xfrm>
        </p:grpSpPr>
        <p:sp>
          <p:nvSpPr>
            <p:cNvPr name="Freeform 5" id="5"/>
            <p:cNvSpPr/>
            <p:nvPr/>
          </p:nvSpPr>
          <p:spPr>
            <a:xfrm flipH="false" flipV="false" rot="0">
              <a:off x="0" y="0"/>
              <a:ext cx="14830425" cy="9580753"/>
            </a:xfrm>
            <a:custGeom>
              <a:avLst/>
              <a:gdLst/>
              <a:ahLst/>
              <a:cxnLst/>
              <a:rect r="r" b="b" t="t" l="l"/>
              <a:pathLst>
                <a:path h="9580753" w="14830425">
                  <a:moveTo>
                    <a:pt x="14830425" y="9580753"/>
                  </a:moveTo>
                  <a:lnTo>
                    <a:pt x="14830425" y="0"/>
                  </a:lnTo>
                  <a:lnTo>
                    <a:pt x="0" y="9580753"/>
                  </a:lnTo>
                  <a:close/>
                </a:path>
              </a:pathLst>
            </a:custGeom>
            <a:solidFill>
              <a:srgbClr val="C4A15A"/>
            </a:solidFill>
          </p:spPr>
        </p:sp>
      </p:grpSp>
      <p:grpSp>
        <p:nvGrpSpPr>
          <p:cNvPr name="Group 6" id="6"/>
          <p:cNvGrpSpPr/>
          <p:nvPr/>
        </p:nvGrpSpPr>
        <p:grpSpPr>
          <a:xfrm rot="-10800000">
            <a:off x="10117807" y="0"/>
            <a:ext cx="8170202" cy="4105199"/>
            <a:chOff x="0" y="0"/>
            <a:chExt cx="10893603" cy="5473598"/>
          </a:xfrm>
        </p:grpSpPr>
        <p:sp>
          <p:nvSpPr>
            <p:cNvPr name="Freeform 7" id="7"/>
            <p:cNvSpPr/>
            <p:nvPr/>
          </p:nvSpPr>
          <p:spPr>
            <a:xfrm flipH="false" flipV="false" rot="0">
              <a:off x="0" y="0"/>
              <a:ext cx="10893552" cy="5473573"/>
            </a:xfrm>
            <a:custGeom>
              <a:avLst/>
              <a:gdLst/>
              <a:ahLst/>
              <a:cxnLst/>
              <a:rect r="r" b="b" t="t" l="l"/>
              <a:pathLst>
                <a:path h="5473573" w="10893552">
                  <a:moveTo>
                    <a:pt x="0" y="5473573"/>
                  </a:moveTo>
                  <a:lnTo>
                    <a:pt x="0" y="0"/>
                  </a:lnTo>
                  <a:lnTo>
                    <a:pt x="10893552" y="5473573"/>
                  </a:lnTo>
                  <a:close/>
                </a:path>
              </a:pathLst>
            </a:custGeom>
            <a:solidFill>
              <a:srgbClr val="233A44"/>
            </a:solidFill>
          </p:spPr>
        </p:sp>
      </p:grpSp>
      <p:grpSp>
        <p:nvGrpSpPr>
          <p:cNvPr name="Group 8" id="8"/>
          <p:cNvGrpSpPr/>
          <p:nvPr/>
        </p:nvGrpSpPr>
        <p:grpSpPr>
          <a:xfrm rot="0">
            <a:off x="406498" y="499929"/>
            <a:ext cx="17475003" cy="9462002"/>
            <a:chOff x="0" y="0"/>
            <a:chExt cx="23300004" cy="12616002"/>
          </a:xfrm>
        </p:grpSpPr>
        <p:sp>
          <p:nvSpPr>
            <p:cNvPr name="Freeform 9" id="9"/>
            <p:cNvSpPr/>
            <p:nvPr/>
          </p:nvSpPr>
          <p:spPr>
            <a:xfrm flipH="false" flipV="false" rot="0">
              <a:off x="0" y="0"/>
              <a:ext cx="23300055" cy="12616053"/>
            </a:xfrm>
            <a:custGeom>
              <a:avLst/>
              <a:gdLst/>
              <a:ahLst/>
              <a:cxnLst/>
              <a:rect r="r" b="b" t="t" l="l"/>
              <a:pathLst>
                <a:path h="12616053" w="23300055">
                  <a:moveTo>
                    <a:pt x="0" y="0"/>
                  </a:moveTo>
                  <a:lnTo>
                    <a:pt x="23300055" y="0"/>
                  </a:lnTo>
                  <a:lnTo>
                    <a:pt x="23300055" y="12616053"/>
                  </a:lnTo>
                  <a:lnTo>
                    <a:pt x="0" y="12616053"/>
                  </a:lnTo>
                  <a:close/>
                </a:path>
              </a:pathLst>
            </a:custGeom>
            <a:solidFill>
              <a:srgbClr val="FFFFFF"/>
            </a:solidFill>
          </p:spPr>
        </p:sp>
      </p:grpSp>
      <p:sp>
        <p:nvSpPr>
          <p:cNvPr name="Freeform 10" id="10"/>
          <p:cNvSpPr/>
          <p:nvPr/>
        </p:nvSpPr>
        <p:spPr>
          <a:xfrm flipH="false" flipV="false" rot="0">
            <a:off x="510397" y="1181"/>
            <a:ext cx="4500724" cy="2088604"/>
          </a:xfrm>
          <a:custGeom>
            <a:avLst/>
            <a:gdLst/>
            <a:ahLst/>
            <a:cxnLst/>
            <a:rect r="r" b="b" t="t" l="l"/>
            <a:pathLst>
              <a:path h="2088604" w="4500724">
                <a:moveTo>
                  <a:pt x="0" y="0"/>
                </a:moveTo>
                <a:lnTo>
                  <a:pt x="4500725" y="0"/>
                </a:lnTo>
                <a:lnTo>
                  <a:pt x="4500725" y="2088604"/>
                </a:lnTo>
                <a:lnTo>
                  <a:pt x="0" y="20886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810788" y="1181"/>
            <a:ext cx="4500724" cy="2088604"/>
          </a:xfrm>
          <a:custGeom>
            <a:avLst/>
            <a:gdLst/>
            <a:ahLst/>
            <a:cxnLst/>
            <a:rect r="r" b="b" t="t" l="l"/>
            <a:pathLst>
              <a:path h="2088604" w="4500724">
                <a:moveTo>
                  <a:pt x="0" y="0"/>
                </a:moveTo>
                <a:lnTo>
                  <a:pt x="4500725" y="0"/>
                </a:lnTo>
                <a:lnTo>
                  <a:pt x="4500725" y="2088604"/>
                </a:lnTo>
                <a:lnTo>
                  <a:pt x="0" y="20886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4114936" y="10173"/>
            <a:ext cx="3702568" cy="1504217"/>
          </a:xfrm>
          <a:custGeom>
            <a:avLst/>
            <a:gdLst/>
            <a:ahLst/>
            <a:cxnLst/>
            <a:rect r="r" b="b" t="t" l="l"/>
            <a:pathLst>
              <a:path h="1504217" w="3702568">
                <a:moveTo>
                  <a:pt x="0" y="0"/>
                </a:moveTo>
                <a:lnTo>
                  <a:pt x="3702567" y="0"/>
                </a:lnTo>
                <a:lnTo>
                  <a:pt x="3702567" y="1504216"/>
                </a:lnTo>
                <a:lnTo>
                  <a:pt x="0" y="15042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3106067" y="8435702"/>
            <a:ext cx="4778131" cy="1851479"/>
          </a:xfrm>
          <a:custGeom>
            <a:avLst/>
            <a:gdLst/>
            <a:ahLst/>
            <a:cxnLst/>
            <a:rect r="r" b="b" t="t" l="l"/>
            <a:pathLst>
              <a:path h="1851479" w="4778131">
                <a:moveTo>
                  <a:pt x="0" y="0"/>
                </a:moveTo>
                <a:lnTo>
                  <a:pt x="4778130" y="0"/>
                </a:lnTo>
                <a:lnTo>
                  <a:pt x="4778130" y="1851479"/>
                </a:lnTo>
                <a:lnTo>
                  <a:pt x="0" y="18514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98297" y="8111300"/>
            <a:ext cx="5590823" cy="2166614"/>
          </a:xfrm>
          <a:custGeom>
            <a:avLst/>
            <a:gdLst/>
            <a:ahLst/>
            <a:cxnLst/>
            <a:rect r="r" b="b" t="t" l="l"/>
            <a:pathLst>
              <a:path h="2166614" w="5590823">
                <a:moveTo>
                  <a:pt x="0" y="0"/>
                </a:moveTo>
                <a:lnTo>
                  <a:pt x="5590823" y="0"/>
                </a:lnTo>
                <a:lnTo>
                  <a:pt x="5590823" y="2166613"/>
                </a:lnTo>
                <a:lnTo>
                  <a:pt x="0" y="216661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5" id="15"/>
          <p:cNvGrpSpPr/>
          <p:nvPr/>
        </p:nvGrpSpPr>
        <p:grpSpPr>
          <a:xfrm rot="0">
            <a:off x="7621648" y="499929"/>
            <a:ext cx="10243328" cy="1067010"/>
            <a:chOff x="0" y="0"/>
            <a:chExt cx="13657770" cy="1422679"/>
          </a:xfrm>
        </p:grpSpPr>
        <p:sp>
          <p:nvSpPr>
            <p:cNvPr name="Freeform 16" id="16"/>
            <p:cNvSpPr/>
            <p:nvPr/>
          </p:nvSpPr>
          <p:spPr>
            <a:xfrm flipH="false" flipV="false" rot="0">
              <a:off x="0" y="0"/>
              <a:ext cx="13657707" cy="1422654"/>
            </a:xfrm>
            <a:custGeom>
              <a:avLst/>
              <a:gdLst/>
              <a:ahLst/>
              <a:cxnLst/>
              <a:rect r="r" b="b" t="t" l="l"/>
              <a:pathLst>
                <a:path h="1422654" w="13657707">
                  <a:moveTo>
                    <a:pt x="0" y="0"/>
                  </a:moveTo>
                  <a:lnTo>
                    <a:pt x="13657707" y="0"/>
                  </a:lnTo>
                  <a:lnTo>
                    <a:pt x="13657707" y="1422654"/>
                  </a:lnTo>
                  <a:lnTo>
                    <a:pt x="0" y="1422654"/>
                  </a:lnTo>
                  <a:lnTo>
                    <a:pt x="0" y="0"/>
                  </a:lnTo>
                  <a:close/>
                </a:path>
              </a:pathLst>
            </a:custGeom>
            <a:blipFill>
              <a:blip r:embed="rId13"/>
              <a:stretch>
                <a:fillRect l="0" t="-274" r="0" b="-276"/>
              </a:stretch>
            </a:blipFill>
          </p:spPr>
        </p:sp>
      </p:grpSp>
      <p:sp>
        <p:nvSpPr>
          <p:cNvPr name="TextBox 17" id="17"/>
          <p:cNvSpPr txBox="true"/>
          <p:nvPr/>
        </p:nvSpPr>
        <p:spPr>
          <a:xfrm rot="0">
            <a:off x="1903571" y="3065802"/>
            <a:ext cx="15055501" cy="2394147"/>
          </a:xfrm>
          <a:prstGeom prst="rect">
            <a:avLst/>
          </a:prstGeom>
        </p:spPr>
        <p:txBody>
          <a:bodyPr anchor="t" rtlCol="false" tIns="0" lIns="0" bIns="0" rIns="0">
            <a:spAutoFit/>
          </a:bodyPr>
          <a:lstStyle/>
          <a:p>
            <a:pPr algn="ctr">
              <a:lnSpc>
                <a:spcPts val="6384"/>
              </a:lnSpc>
            </a:pPr>
            <a:r>
              <a:rPr lang="en-US" b="true" sz="3800">
                <a:solidFill>
                  <a:srgbClr val="131416"/>
                </a:solidFill>
                <a:latin typeface="Open Sans Bold"/>
                <a:ea typeface="Open Sans Bold"/>
                <a:cs typeface="Open Sans Bold"/>
                <a:sym typeface="Open Sans Bold"/>
              </a:rPr>
              <a:t>Unidad No. 1 - Introducción a las tecnologías de almacenamiento y arquitecturas de los sistemas de almacenamiento enfocadas en GNU/LINUX</a:t>
            </a:r>
          </a:p>
        </p:txBody>
      </p:sp>
      <p:sp>
        <p:nvSpPr>
          <p:cNvPr name="TextBox 18" id="18"/>
          <p:cNvSpPr txBox="true"/>
          <p:nvPr/>
        </p:nvSpPr>
        <p:spPr>
          <a:xfrm rot="0">
            <a:off x="6985530" y="8207931"/>
            <a:ext cx="6981301" cy="498900"/>
          </a:xfrm>
          <a:prstGeom prst="rect">
            <a:avLst/>
          </a:prstGeom>
        </p:spPr>
        <p:txBody>
          <a:bodyPr anchor="t" rtlCol="false" tIns="0" lIns="0" bIns="0" rIns="0">
            <a:spAutoFit/>
          </a:bodyPr>
          <a:lstStyle/>
          <a:p>
            <a:pPr algn="ctr">
              <a:lnSpc>
                <a:spcPts val="4198"/>
              </a:lnSpc>
            </a:pPr>
            <a:r>
              <a:rPr lang="en-US" b="true" sz="2499">
                <a:solidFill>
                  <a:srgbClr val="131416"/>
                </a:solidFill>
                <a:latin typeface="Open Sans Bold"/>
                <a:ea typeface="Open Sans Bold"/>
                <a:cs typeface="Open Sans Bold"/>
                <a:sym typeface="Open Sans Bold"/>
              </a:rPr>
              <a:t>Escuela de Ingenieria de Ciencias Y Sistemas</a:t>
            </a:r>
          </a:p>
        </p:txBody>
      </p:sp>
      <p:sp>
        <p:nvSpPr>
          <p:cNvPr name="TextBox 19" id="19"/>
          <p:cNvSpPr txBox="true"/>
          <p:nvPr/>
        </p:nvSpPr>
        <p:spPr>
          <a:xfrm rot="0">
            <a:off x="6950926" y="8673351"/>
            <a:ext cx="6667500" cy="498900"/>
          </a:xfrm>
          <a:prstGeom prst="rect">
            <a:avLst/>
          </a:prstGeom>
        </p:spPr>
        <p:txBody>
          <a:bodyPr anchor="t" rtlCol="false" tIns="0" lIns="0" bIns="0" rIns="0">
            <a:spAutoFit/>
          </a:bodyPr>
          <a:lstStyle/>
          <a:p>
            <a:pPr algn="l">
              <a:lnSpc>
                <a:spcPts val="4198"/>
              </a:lnSpc>
            </a:pPr>
            <a:r>
              <a:rPr lang="en-US" b="true" sz="2499">
                <a:solidFill>
                  <a:srgbClr val="131416"/>
                </a:solidFill>
                <a:latin typeface="Open Sans Bold"/>
                <a:ea typeface="Open Sans Bold"/>
                <a:cs typeface="Open Sans Bold"/>
                <a:sym typeface="Open Sans Bold"/>
              </a:rPr>
              <a:t>Facultad de Ingenieria</a:t>
            </a:r>
          </a:p>
        </p:txBody>
      </p:sp>
      <p:sp>
        <p:nvSpPr>
          <p:cNvPr name="TextBox 20" id="20"/>
          <p:cNvSpPr txBox="true"/>
          <p:nvPr/>
        </p:nvSpPr>
        <p:spPr>
          <a:xfrm rot="0">
            <a:off x="6150826" y="9050931"/>
            <a:ext cx="8115300" cy="498900"/>
          </a:xfrm>
          <a:prstGeom prst="rect">
            <a:avLst/>
          </a:prstGeom>
        </p:spPr>
        <p:txBody>
          <a:bodyPr anchor="t" rtlCol="false" tIns="0" lIns="0" bIns="0" rIns="0">
            <a:spAutoFit/>
          </a:bodyPr>
          <a:lstStyle/>
          <a:p>
            <a:pPr algn="ctr">
              <a:lnSpc>
                <a:spcPts val="4198"/>
              </a:lnSpc>
            </a:pPr>
            <a:r>
              <a:rPr lang="en-US" b="true" sz="2499">
                <a:solidFill>
                  <a:srgbClr val="131416"/>
                </a:solidFill>
                <a:latin typeface="Open Sans Bold"/>
                <a:ea typeface="Open Sans Bold"/>
                <a:cs typeface="Open Sans Bold"/>
                <a:sym typeface="Open Sans Bold"/>
              </a:rPr>
              <a:t>Universidad de San Carlos de Guatemala</a:t>
            </a:r>
          </a:p>
        </p:txBody>
      </p:sp>
      <p:sp>
        <p:nvSpPr>
          <p:cNvPr name="TextBox 21" id="21"/>
          <p:cNvSpPr txBox="true"/>
          <p:nvPr/>
        </p:nvSpPr>
        <p:spPr>
          <a:xfrm rot="0">
            <a:off x="774897" y="6649126"/>
            <a:ext cx="13857599" cy="998096"/>
          </a:xfrm>
          <a:prstGeom prst="rect">
            <a:avLst/>
          </a:prstGeom>
        </p:spPr>
        <p:txBody>
          <a:bodyPr anchor="t" rtlCol="false" tIns="0" lIns="0" bIns="0" rIns="0">
            <a:spAutoFit/>
          </a:bodyPr>
          <a:lstStyle/>
          <a:p>
            <a:pPr algn="ctr">
              <a:lnSpc>
                <a:spcPts val="8399"/>
              </a:lnSpc>
            </a:pPr>
            <a:r>
              <a:rPr lang="en-US" b="true" sz="4999">
                <a:solidFill>
                  <a:srgbClr val="131416"/>
                </a:solidFill>
                <a:latin typeface="Open Sans Bold"/>
                <a:ea typeface="Open Sans Bold"/>
                <a:cs typeface="Open Sans Bold"/>
                <a:sym typeface="Open Sans Bold"/>
              </a:rPr>
              <a:t>773 - Manejo e Implementación de Archivos</a:t>
            </a:r>
          </a:p>
        </p:txBody>
      </p:sp>
      <p:grpSp>
        <p:nvGrpSpPr>
          <p:cNvPr name="Group 22" id="22"/>
          <p:cNvGrpSpPr/>
          <p:nvPr/>
        </p:nvGrpSpPr>
        <p:grpSpPr>
          <a:xfrm rot="0">
            <a:off x="14997846" y="6697447"/>
            <a:ext cx="2370477" cy="2370477"/>
            <a:chOff x="0" y="0"/>
            <a:chExt cx="3160636" cy="3160636"/>
          </a:xfrm>
        </p:grpSpPr>
        <p:sp>
          <p:nvSpPr>
            <p:cNvPr name="Freeform 23" id="23"/>
            <p:cNvSpPr/>
            <p:nvPr/>
          </p:nvSpPr>
          <p:spPr>
            <a:xfrm flipH="false" flipV="false" rot="0">
              <a:off x="0" y="0"/>
              <a:ext cx="3160649" cy="3160649"/>
            </a:xfrm>
            <a:custGeom>
              <a:avLst/>
              <a:gdLst/>
              <a:ahLst/>
              <a:cxnLst/>
              <a:rect r="r" b="b" t="t" l="l"/>
              <a:pathLst>
                <a:path h="3160649" w="3160649">
                  <a:moveTo>
                    <a:pt x="0" y="0"/>
                  </a:moveTo>
                  <a:lnTo>
                    <a:pt x="3160649" y="0"/>
                  </a:lnTo>
                  <a:lnTo>
                    <a:pt x="3160649" y="3160649"/>
                  </a:lnTo>
                  <a:lnTo>
                    <a:pt x="0" y="3160649"/>
                  </a:lnTo>
                  <a:lnTo>
                    <a:pt x="0" y="0"/>
                  </a:lnTo>
                  <a:close/>
                </a:path>
              </a:pathLst>
            </a:custGeom>
            <a:blipFill>
              <a:blip r:embed="rId14"/>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6770" cy="10473763"/>
            <a:chOff x="0" y="0"/>
            <a:chExt cx="24795693" cy="13965017"/>
          </a:xfrm>
        </p:grpSpPr>
        <p:sp>
          <p:nvSpPr>
            <p:cNvPr name="Freeform 3" id="3"/>
            <p:cNvSpPr/>
            <p:nvPr/>
          </p:nvSpPr>
          <p:spPr>
            <a:xfrm flipH="false" flipV="false" rot="0">
              <a:off x="0" y="0"/>
              <a:ext cx="24795735" cy="13965047"/>
            </a:xfrm>
            <a:custGeom>
              <a:avLst/>
              <a:gdLst/>
              <a:ahLst/>
              <a:cxnLst/>
              <a:rect r="r" b="b" t="t" l="l"/>
              <a:pathLst>
                <a:path h="13965047" w="24795735">
                  <a:moveTo>
                    <a:pt x="0" y="0"/>
                  </a:moveTo>
                  <a:lnTo>
                    <a:pt x="24795735" y="0"/>
                  </a:lnTo>
                  <a:lnTo>
                    <a:pt x="24795735" y="13965047"/>
                  </a:lnTo>
                  <a:lnTo>
                    <a:pt x="0" y="13965047"/>
                  </a:lnTo>
                  <a:close/>
                </a:path>
              </a:pathLst>
            </a:custGeom>
            <a:solidFill>
              <a:srgbClr val="D9D9D9">
                <a:alpha val="21569"/>
              </a:srgbClr>
            </a:solidFill>
          </p:spPr>
        </p:sp>
      </p:grpSp>
      <p:grpSp>
        <p:nvGrpSpPr>
          <p:cNvPr name="Group 4" id="4"/>
          <p:cNvGrpSpPr/>
          <p:nvPr/>
        </p:nvGrpSpPr>
        <p:grpSpPr>
          <a:xfrm rot="9452055">
            <a:off x="-1158268" y="-1828638"/>
            <a:ext cx="5348395" cy="4045332"/>
            <a:chOff x="0" y="0"/>
            <a:chExt cx="7131193" cy="5393776"/>
          </a:xfrm>
        </p:grpSpPr>
        <p:sp>
          <p:nvSpPr>
            <p:cNvPr name="Freeform 5" id="5"/>
            <p:cNvSpPr/>
            <p:nvPr/>
          </p:nvSpPr>
          <p:spPr>
            <a:xfrm flipH="false" flipV="false" rot="0">
              <a:off x="0" y="0"/>
              <a:ext cx="7131177" cy="5393817"/>
            </a:xfrm>
            <a:custGeom>
              <a:avLst/>
              <a:gdLst/>
              <a:ahLst/>
              <a:cxnLst/>
              <a:rect r="r" b="b" t="t" l="l"/>
              <a:pathLst>
                <a:path h="5393817" w="7131177">
                  <a:moveTo>
                    <a:pt x="0" y="0"/>
                  </a:moveTo>
                  <a:lnTo>
                    <a:pt x="7131177" y="0"/>
                  </a:lnTo>
                  <a:lnTo>
                    <a:pt x="7131177" y="5393817"/>
                  </a:lnTo>
                  <a:lnTo>
                    <a:pt x="0" y="5393817"/>
                  </a:lnTo>
                  <a:lnTo>
                    <a:pt x="0" y="0"/>
                  </a:lnTo>
                  <a:close/>
                </a:path>
              </a:pathLst>
            </a:custGeom>
            <a:blipFill>
              <a:blip r:embed="rId3"/>
              <a:stretch>
                <a:fillRect l="0" t="-108" r="0" b="-107"/>
              </a:stretch>
            </a:blipFill>
          </p:spPr>
        </p:sp>
      </p:grpSp>
      <p:grpSp>
        <p:nvGrpSpPr>
          <p:cNvPr name="Group 6" id="6"/>
          <p:cNvGrpSpPr/>
          <p:nvPr/>
        </p:nvGrpSpPr>
        <p:grpSpPr>
          <a:xfrm rot="0">
            <a:off x="-1421876" y="-3678699"/>
            <a:ext cx="5285099" cy="5256271"/>
            <a:chOff x="0" y="0"/>
            <a:chExt cx="7046799" cy="7008361"/>
          </a:xfrm>
        </p:grpSpPr>
        <p:sp>
          <p:nvSpPr>
            <p:cNvPr name="Freeform 7" id="7"/>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4"/>
              <a:stretch>
                <a:fillRect l="0" t="-80" r="0" b="-80"/>
              </a:stretch>
            </a:blipFill>
          </p:spPr>
        </p:sp>
      </p:grpSp>
      <p:grpSp>
        <p:nvGrpSpPr>
          <p:cNvPr name="Group 8" id="8"/>
          <p:cNvGrpSpPr/>
          <p:nvPr/>
        </p:nvGrpSpPr>
        <p:grpSpPr>
          <a:xfrm rot="-2310192">
            <a:off x="9697895" y="2163575"/>
            <a:ext cx="12649011" cy="9567252"/>
            <a:chOff x="0" y="0"/>
            <a:chExt cx="16865348" cy="12756336"/>
          </a:xfrm>
        </p:grpSpPr>
        <p:sp>
          <p:nvSpPr>
            <p:cNvPr name="Freeform 9" id="9"/>
            <p:cNvSpPr/>
            <p:nvPr/>
          </p:nvSpPr>
          <p:spPr>
            <a:xfrm flipH="false" flipV="false" rot="0">
              <a:off x="0" y="0"/>
              <a:ext cx="16865346" cy="12756388"/>
            </a:xfrm>
            <a:custGeom>
              <a:avLst/>
              <a:gdLst/>
              <a:ahLst/>
              <a:cxnLst/>
              <a:rect r="r" b="b" t="t" l="l"/>
              <a:pathLst>
                <a:path h="12756388" w="16865346">
                  <a:moveTo>
                    <a:pt x="0" y="0"/>
                  </a:moveTo>
                  <a:lnTo>
                    <a:pt x="16865346" y="0"/>
                  </a:lnTo>
                  <a:lnTo>
                    <a:pt x="16865346" y="12756388"/>
                  </a:lnTo>
                  <a:lnTo>
                    <a:pt x="0" y="12756388"/>
                  </a:lnTo>
                  <a:lnTo>
                    <a:pt x="0" y="0"/>
                  </a:lnTo>
                  <a:close/>
                </a:path>
              </a:pathLst>
            </a:custGeom>
            <a:blipFill>
              <a:blip r:embed="rId5">
                <a:alphaModFix amt="7000"/>
              </a:blip>
              <a:stretch>
                <a:fillRect l="0" t="-108" r="0" b="-107"/>
              </a:stretch>
            </a:blipFill>
          </p:spPr>
        </p:sp>
      </p:grpSp>
      <p:grpSp>
        <p:nvGrpSpPr>
          <p:cNvPr name="Group 10" id="10"/>
          <p:cNvGrpSpPr/>
          <p:nvPr/>
        </p:nvGrpSpPr>
        <p:grpSpPr>
          <a:xfrm rot="0">
            <a:off x="17981351" y="9071880"/>
            <a:ext cx="322147" cy="1215486"/>
            <a:chOff x="0" y="0"/>
            <a:chExt cx="429529" cy="1620648"/>
          </a:xfrm>
        </p:grpSpPr>
        <p:sp>
          <p:nvSpPr>
            <p:cNvPr name="Freeform 11" id="11"/>
            <p:cNvSpPr/>
            <p:nvPr/>
          </p:nvSpPr>
          <p:spPr>
            <a:xfrm flipH="false" flipV="false" rot="0">
              <a:off x="0" y="0"/>
              <a:ext cx="429514" cy="1620647"/>
            </a:xfrm>
            <a:custGeom>
              <a:avLst/>
              <a:gdLst/>
              <a:ahLst/>
              <a:cxnLst/>
              <a:rect r="r" b="b" t="t" l="l"/>
              <a:pathLst>
                <a:path h="1620647" w="429514">
                  <a:moveTo>
                    <a:pt x="0" y="0"/>
                  </a:moveTo>
                  <a:lnTo>
                    <a:pt x="429514" y="0"/>
                  </a:lnTo>
                  <a:lnTo>
                    <a:pt x="429514" y="1620647"/>
                  </a:lnTo>
                  <a:lnTo>
                    <a:pt x="0" y="1620647"/>
                  </a:lnTo>
                  <a:close/>
                </a:path>
              </a:pathLst>
            </a:custGeom>
            <a:solidFill>
              <a:srgbClr val="1B4A9B"/>
            </a:solidFill>
          </p:spPr>
        </p:sp>
      </p:grpSp>
      <p:grpSp>
        <p:nvGrpSpPr>
          <p:cNvPr name="Group 12" id="12"/>
          <p:cNvGrpSpPr/>
          <p:nvPr/>
        </p:nvGrpSpPr>
        <p:grpSpPr>
          <a:xfrm rot="0">
            <a:off x="17046764" y="3182967"/>
            <a:ext cx="4828984" cy="4820204"/>
            <a:chOff x="0" y="0"/>
            <a:chExt cx="6438645" cy="6426939"/>
          </a:xfrm>
        </p:grpSpPr>
        <p:sp>
          <p:nvSpPr>
            <p:cNvPr name="Freeform 13" id="13"/>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grpSp>
        <p:nvGrpSpPr>
          <p:cNvPr name="Group 14" id="14"/>
          <p:cNvGrpSpPr/>
          <p:nvPr/>
        </p:nvGrpSpPr>
        <p:grpSpPr>
          <a:xfrm rot="0">
            <a:off x="15172272" y="6448224"/>
            <a:ext cx="2087028" cy="3109894"/>
            <a:chOff x="0" y="0"/>
            <a:chExt cx="2782704" cy="4146525"/>
          </a:xfrm>
        </p:grpSpPr>
        <p:sp>
          <p:nvSpPr>
            <p:cNvPr name="Freeform 15" id="15"/>
            <p:cNvSpPr/>
            <p:nvPr/>
          </p:nvSpPr>
          <p:spPr>
            <a:xfrm flipH="false" flipV="false" rot="0">
              <a:off x="0" y="0"/>
              <a:ext cx="2782697" cy="4146550"/>
            </a:xfrm>
            <a:custGeom>
              <a:avLst/>
              <a:gdLst/>
              <a:ahLst/>
              <a:cxnLst/>
              <a:rect r="r" b="b" t="t" l="l"/>
              <a:pathLst>
                <a:path h="4146550" w="2782697">
                  <a:moveTo>
                    <a:pt x="0" y="0"/>
                  </a:moveTo>
                  <a:lnTo>
                    <a:pt x="2782697" y="0"/>
                  </a:lnTo>
                  <a:lnTo>
                    <a:pt x="2782697" y="4146550"/>
                  </a:lnTo>
                  <a:lnTo>
                    <a:pt x="0" y="4146550"/>
                  </a:lnTo>
                  <a:lnTo>
                    <a:pt x="0" y="0"/>
                  </a:lnTo>
                  <a:close/>
                </a:path>
              </a:pathLst>
            </a:custGeom>
            <a:blipFill>
              <a:blip r:embed="rId7"/>
              <a:stretch>
                <a:fillRect l="-6" t="0" r="-6" b="0"/>
              </a:stretch>
            </a:blipFill>
          </p:spPr>
        </p:sp>
      </p:grpSp>
      <p:grpSp>
        <p:nvGrpSpPr>
          <p:cNvPr name="Group 16" id="16"/>
          <p:cNvGrpSpPr/>
          <p:nvPr/>
        </p:nvGrpSpPr>
        <p:grpSpPr>
          <a:xfrm rot="0">
            <a:off x="651754" y="4921161"/>
            <a:ext cx="4613562" cy="666409"/>
            <a:chOff x="0" y="0"/>
            <a:chExt cx="6151416" cy="888545"/>
          </a:xfrm>
        </p:grpSpPr>
        <p:sp>
          <p:nvSpPr>
            <p:cNvPr name="Freeform 17" id="17"/>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18" id="18"/>
          <p:cNvGrpSpPr/>
          <p:nvPr/>
        </p:nvGrpSpPr>
        <p:grpSpPr>
          <a:xfrm rot="0">
            <a:off x="1062572" y="4952159"/>
            <a:ext cx="453358" cy="550094"/>
            <a:chOff x="0" y="0"/>
            <a:chExt cx="604477" cy="733459"/>
          </a:xfrm>
        </p:grpSpPr>
        <p:sp>
          <p:nvSpPr>
            <p:cNvPr name="Freeform 19" id="19"/>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20" id="20"/>
          <p:cNvGrpSpPr/>
          <p:nvPr/>
        </p:nvGrpSpPr>
        <p:grpSpPr>
          <a:xfrm rot="0">
            <a:off x="1866989" y="3303305"/>
            <a:ext cx="4115217" cy="1267170"/>
            <a:chOff x="0" y="0"/>
            <a:chExt cx="5486956" cy="1689560"/>
          </a:xfrm>
        </p:grpSpPr>
        <p:sp>
          <p:nvSpPr>
            <p:cNvPr name="Freeform 21" id="21"/>
            <p:cNvSpPr/>
            <p:nvPr/>
          </p:nvSpPr>
          <p:spPr>
            <a:xfrm flipH="false" flipV="false" rot="0">
              <a:off x="0" y="0"/>
              <a:ext cx="5486908" cy="1689608"/>
            </a:xfrm>
            <a:custGeom>
              <a:avLst/>
              <a:gdLst/>
              <a:ahLst/>
              <a:cxnLst/>
              <a:rect r="r" b="b" t="t" l="l"/>
              <a:pathLst>
                <a:path h="1689608" w="5486908">
                  <a:moveTo>
                    <a:pt x="4458208" y="0"/>
                  </a:moveTo>
                  <a:lnTo>
                    <a:pt x="0" y="0"/>
                  </a:lnTo>
                  <a:lnTo>
                    <a:pt x="0" y="1689608"/>
                  </a:lnTo>
                  <a:lnTo>
                    <a:pt x="4458208" y="1689608"/>
                  </a:lnTo>
                  <a:lnTo>
                    <a:pt x="5486908" y="844804"/>
                  </a:lnTo>
                  <a:lnTo>
                    <a:pt x="4458208" y="0"/>
                  </a:lnTo>
                  <a:close/>
                </a:path>
              </a:pathLst>
            </a:custGeom>
            <a:solidFill>
              <a:srgbClr val="FFFFFF"/>
            </a:solidFill>
          </p:spPr>
        </p:sp>
      </p:grpSp>
      <p:grpSp>
        <p:nvGrpSpPr>
          <p:cNvPr name="Group 22" id="22"/>
          <p:cNvGrpSpPr/>
          <p:nvPr/>
        </p:nvGrpSpPr>
        <p:grpSpPr>
          <a:xfrm rot="0">
            <a:off x="651754" y="3429735"/>
            <a:ext cx="753892" cy="872928"/>
            <a:chOff x="0" y="0"/>
            <a:chExt cx="1005189" cy="1163904"/>
          </a:xfrm>
        </p:grpSpPr>
        <p:sp>
          <p:nvSpPr>
            <p:cNvPr name="Freeform 23" id="23"/>
            <p:cNvSpPr/>
            <p:nvPr/>
          </p:nvSpPr>
          <p:spPr>
            <a:xfrm flipH="false" flipV="false" rot="0">
              <a:off x="0" y="0"/>
              <a:ext cx="1005205" cy="1163955"/>
            </a:xfrm>
            <a:custGeom>
              <a:avLst/>
              <a:gdLst/>
              <a:ahLst/>
              <a:cxnLst/>
              <a:rect r="r" b="b" t="t" l="l"/>
              <a:pathLst>
                <a:path h="1163955" w="1005205">
                  <a:moveTo>
                    <a:pt x="0" y="0"/>
                  </a:moveTo>
                  <a:lnTo>
                    <a:pt x="1005205" y="0"/>
                  </a:lnTo>
                  <a:lnTo>
                    <a:pt x="1005205" y="1163955"/>
                  </a:lnTo>
                  <a:lnTo>
                    <a:pt x="0" y="1163955"/>
                  </a:lnTo>
                  <a:lnTo>
                    <a:pt x="0" y="0"/>
                  </a:lnTo>
                  <a:close/>
                </a:path>
              </a:pathLst>
            </a:custGeom>
            <a:blipFill>
              <a:blip r:embed="rId9"/>
              <a:stretch>
                <a:fillRect l="0" t="-36" r="1" b="-31"/>
              </a:stretch>
            </a:blipFill>
          </p:spPr>
        </p:sp>
      </p:grpSp>
      <p:grpSp>
        <p:nvGrpSpPr>
          <p:cNvPr name="Group 24" id="24"/>
          <p:cNvGrpSpPr/>
          <p:nvPr/>
        </p:nvGrpSpPr>
        <p:grpSpPr>
          <a:xfrm rot="0">
            <a:off x="651754" y="5806825"/>
            <a:ext cx="5371844" cy="775939"/>
            <a:chOff x="0" y="0"/>
            <a:chExt cx="6151416" cy="888545"/>
          </a:xfrm>
        </p:grpSpPr>
        <p:sp>
          <p:nvSpPr>
            <p:cNvPr name="Freeform 25" id="25"/>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26" id="26"/>
          <p:cNvGrpSpPr/>
          <p:nvPr/>
        </p:nvGrpSpPr>
        <p:grpSpPr>
          <a:xfrm rot="0">
            <a:off x="651754" y="6826552"/>
            <a:ext cx="4613562" cy="666409"/>
            <a:chOff x="0" y="0"/>
            <a:chExt cx="6151416" cy="888545"/>
          </a:xfrm>
        </p:grpSpPr>
        <p:sp>
          <p:nvSpPr>
            <p:cNvPr name="Freeform 27" id="27"/>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28" id="28"/>
          <p:cNvGrpSpPr/>
          <p:nvPr/>
        </p:nvGrpSpPr>
        <p:grpSpPr>
          <a:xfrm rot="0">
            <a:off x="651754" y="7750134"/>
            <a:ext cx="5805587" cy="838591"/>
            <a:chOff x="0" y="0"/>
            <a:chExt cx="6151416" cy="888545"/>
          </a:xfrm>
        </p:grpSpPr>
        <p:sp>
          <p:nvSpPr>
            <p:cNvPr name="Freeform 29" id="29"/>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30" id="30"/>
          <p:cNvGrpSpPr/>
          <p:nvPr/>
        </p:nvGrpSpPr>
        <p:grpSpPr>
          <a:xfrm rot="0">
            <a:off x="651754" y="8714317"/>
            <a:ext cx="5614004" cy="775939"/>
            <a:chOff x="0" y="0"/>
            <a:chExt cx="6428718" cy="888545"/>
          </a:xfrm>
        </p:grpSpPr>
        <p:sp>
          <p:nvSpPr>
            <p:cNvPr name="Freeform 31" id="31"/>
            <p:cNvSpPr/>
            <p:nvPr/>
          </p:nvSpPr>
          <p:spPr>
            <a:xfrm flipH="false" flipV="false" rot="0">
              <a:off x="0" y="0"/>
              <a:ext cx="6428801" cy="888492"/>
            </a:xfrm>
            <a:custGeom>
              <a:avLst/>
              <a:gdLst/>
              <a:ahLst/>
              <a:cxnLst/>
              <a:rect r="r" b="b" t="t" l="l"/>
              <a:pathLst>
                <a:path h="888492" w="6428801">
                  <a:moveTo>
                    <a:pt x="5763720" y="0"/>
                  </a:moveTo>
                  <a:lnTo>
                    <a:pt x="0" y="0"/>
                  </a:lnTo>
                  <a:lnTo>
                    <a:pt x="0" y="888492"/>
                  </a:lnTo>
                  <a:lnTo>
                    <a:pt x="5763720" y="888492"/>
                  </a:lnTo>
                  <a:lnTo>
                    <a:pt x="6428801" y="444246"/>
                  </a:lnTo>
                  <a:lnTo>
                    <a:pt x="5763720" y="0"/>
                  </a:lnTo>
                  <a:close/>
                </a:path>
              </a:pathLst>
            </a:custGeom>
            <a:solidFill>
              <a:srgbClr val="FFFFFF"/>
            </a:solidFill>
          </p:spPr>
        </p:sp>
      </p:grpSp>
      <p:grpSp>
        <p:nvGrpSpPr>
          <p:cNvPr name="Group 32" id="32"/>
          <p:cNvGrpSpPr/>
          <p:nvPr/>
        </p:nvGrpSpPr>
        <p:grpSpPr>
          <a:xfrm rot="0">
            <a:off x="1062572" y="5834998"/>
            <a:ext cx="453358" cy="550094"/>
            <a:chOff x="0" y="0"/>
            <a:chExt cx="604477" cy="733459"/>
          </a:xfrm>
        </p:grpSpPr>
        <p:sp>
          <p:nvSpPr>
            <p:cNvPr name="Freeform 33" id="33"/>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34" id="34"/>
          <p:cNvGrpSpPr/>
          <p:nvPr/>
        </p:nvGrpSpPr>
        <p:grpSpPr>
          <a:xfrm rot="0">
            <a:off x="1062572" y="6816571"/>
            <a:ext cx="453358" cy="550094"/>
            <a:chOff x="0" y="0"/>
            <a:chExt cx="604477" cy="733459"/>
          </a:xfrm>
        </p:grpSpPr>
        <p:sp>
          <p:nvSpPr>
            <p:cNvPr name="Freeform 35" id="35"/>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36" id="36"/>
          <p:cNvGrpSpPr/>
          <p:nvPr/>
        </p:nvGrpSpPr>
        <p:grpSpPr>
          <a:xfrm rot="0">
            <a:off x="1062572" y="7816353"/>
            <a:ext cx="453358" cy="550094"/>
            <a:chOff x="0" y="0"/>
            <a:chExt cx="604477" cy="733459"/>
          </a:xfrm>
        </p:grpSpPr>
        <p:sp>
          <p:nvSpPr>
            <p:cNvPr name="Freeform 37" id="37"/>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38" id="38"/>
          <p:cNvGrpSpPr/>
          <p:nvPr/>
        </p:nvGrpSpPr>
        <p:grpSpPr>
          <a:xfrm rot="0">
            <a:off x="1062572" y="8817258"/>
            <a:ext cx="453358" cy="550094"/>
            <a:chOff x="0" y="0"/>
            <a:chExt cx="604477" cy="733459"/>
          </a:xfrm>
        </p:grpSpPr>
        <p:sp>
          <p:nvSpPr>
            <p:cNvPr name="Freeform 39" id="39"/>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40" id="40"/>
          <p:cNvGrpSpPr/>
          <p:nvPr/>
        </p:nvGrpSpPr>
        <p:grpSpPr>
          <a:xfrm rot="0">
            <a:off x="651754" y="3429735"/>
            <a:ext cx="753892" cy="872928"/>
            <a:chOff x="0" y="0"/>
            <a:chExt cx="1005189" cy="1163904"/>
          </a:xfrm>
        </p:grpSpPr>
        <p:sp>
          <p:nvSpPr>
            <p:cNvPr name="Freeform 41" id="41"/>
            <p:cNvSpPr/>
            <p:nvPr/>
          </p:nvSpPr>
          <p:spPr>
            <a:xfrm flipH="false" flipV="false" rot="0">
              <a:off x="0" y="0"/>
              <a:ext cx="1005205" cy="1163955"/>
            </a:xfrm>
            <a:custGeom>
              <a:avLst/>
              <a:gdLst/>
              <a:ahLst/>
              <a:cxnLst/>
              <a:rect r="r" b="b" t="t" l="l"/>
              <a:pathLst>
                <a:path h="1163955" w="1005205">
                  <a:moveTo>
                    <a:pt x="0" y="0"/>
                  </a:moveTo>
                  <a:lnTo>
                    <a:pt x="1005205" y="0"/>
                  </a:lnTo>
                  <a:lnTo>
                    <a:pt x="1005205" y="1163955"/>
                  </a:lnTo>
                  <a:lnTo>
                    <a:pt x="0" y="1163955"/>
                  </a:lnTo>
                  <a:lnTo>
                    <a:pt x="0" y="0"/>
                  </a:lnTo>
                  <a:close/>
                </a:path>
              </a:pathLst>
            </a:custGeom>
            <a:blipFill>
              <a:blip r:embed="rId9"/>
              <a:stretch>
                <a:fillRect l="0" t="-36" r="1" b="-31"/>
              </a:stretch>
            </a:blipFill>
          </p:spPr>
        </p:sp>
      </p:grpSp>
      <p:sp>
        <p:nvSpPr>
          <p:cNvPr name="TextBox 42" id="42"/>
          <p:cNvSpPr txBox="true"/>
          <p:nvPr/>
        </p:nvSpPr>
        <p:spPr>
          <a:xfrm rot="0">
            <a:off x="878649" y="425975"/>
            <a:ext cx="7710300" cy="2565975"/>
          </a:xfrm>
          <a:prstGeom prst="rect">
            <a:avLst/>
          </a:prstGeom>
        </p:spPr>
        <p:txBody>
          <a:bodyPr anchor="t" rtlCol="false" tIns="0" lIns="0" bIns="0" rIns="0">
            <a:spAutoFit/>
          </a:bodyPr>
          <a:lstStyle/>
          <a:p>
            <a:pPr algn="l">
              <a:lnSpc>
                <a:spcPts val="20699"/>
              </a:lnSpc>
            </a:pPr>
            <a:r>
              <a:rPr lang="en-US" sz="15000">
                <a:solidFill>
                  <a:srgbClr val="131416"/>
                </a:solidFill>
                <a:latin typeface="Pacifico"/>
                <a:ea typeface="Pacifico"/>
                <a:cs typeface="Pacifico"/>
                <a:sym typeface="Pacifico"/>
              </a:rPr>
              <a:t>Agenda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1624" y="0"/>
            <a:ext cx="20691247" cy="10429334"/>
          </a:xfrm>
          <a:custGeom>
            <a:avLst/>
            <a:gdLst/>
            <a:ahLst/>
            <a:cxnLst/>
            <a:rect r="r" b="b" t="t" l="l"/>
            <a:pathLst>
              <a:path h="10429334" w="20691247">
                <a:moveTo>
                  <a:pt x="0" y="0"/>
                </a:moveTo>
                <a:lnTo>
                  <a:pt x="20691248" y="0"/>
                </a:lnTo>
                <a:lnTo>
                  <a:pt x="20691248" y="10429334"/>
                </a:lnTo>
                <a:lnTo>
                  <a:pt x="0" y="10429334"/>
                </a:lnTo>
                <a:lnTo>
                  <a:pt x="0" y="0"/>
                </a:lnTo>
                <a:close/>
              </a:path>
            </a:pathLst>
          </a:custGeom>
          <a:blipFill>
            <a:blip r:embed="rId3"/>
            <a:stretch>
              <a:fillRect l="-8780" t="0" r="-8780" b="0"/>
            </a:stretch>
          </a:blipFill>
        </p:spPr>
      </p:sp>
      <p:sp>
        <p:nvSpPr>
          <p:cNvPr name="AutoShape 3" id="3"/>
          <p:cNvSpPr/>
          <p:nvPr/>
        </p:nvSpPr>
        <p:spPr>
          <a:xfrm rot="8099999">
            <a:off x="16623524" y="5129640"/>
            <a:ext cx="1950151" cy="0"/>
          </a:xfrm>
          <a:prstGeom prst="line">
            <a:avLst/>
          </a:prstGeom>
          <a:ln cap="rnd" w="9525">
            <a:solidFill>
              <a:srgbClr val="FFFFFF"/>
            </a:solidFill>
            <a:prstDash val="solid"/>
            <a:headEnd type="none" len="sm" w="sm"/>
            <a:tailEnd type="none" len="sm" w="sm"/>
          </a:ln>
        </p:spPr>
      </p:sp>
      <p:sp>
        <p:nvSpPr>
          <p:cNvPr name="AutoShape 4" id="4"/>
          <p:cNvSpPr/>
          <p:nvPr/>
        </p:nvSpPr>
        <p:spPr>
          <a:xfrm rot="8099999">
            <a:off x="12877196" y="7021980"/>
            <a:ext cx="6339248" cy="0"/>
          </a:xfrm>
          <a:prstGeom prst="line">
            <a:avLst/>
          </a:prstGeom>
          <a:ln cap="rnd" w="9525">
            <a:solidFill>
              <a:srgbClr val="FFFFFF"/>
            </a:solidFill>
            <a:prstDash val="solid"/>
            <a:headEnd type="none" len="sm" w="sm"/>
            <a:tailEnd type="none" len="sm" w="sm"/>
          </a:ln>
        </p:spPr>
      </p:sp>
      <p:sp>
        <p:nvSpPr>
          <p:cNvPr name="AutoShape 5" id="5"/>
          <p:cNvSpPr/>
          <p:nvPr/>
        </p:nvSpPr>
        <p:spPr>
          <a:xfrm rot="8099783">
            <a:off x="14842142" y="6350040"/>
            <a:ext cx="4037276" cy="0"/>
          </a:xfrm>
          <a:prstGeom prst="line">
            <a:avLst/>
          </a:prstGeom>
          <a:ln cap="rnd" w="9525">
            <a:solidFill>
              <a:srgbClr val="FFFFFF"/>
            </a:solidFill>
            <a:prstDash val="solid"/>
            <a:headEnd type="none" len="sm" w="sm"/>
            <a:tailEnd type="none" len="sm" w="sm"/>
          </a:ln>
        </p:spPr>
      </p:sp>
      <p:sp>
        <p:nvSpPr>
          <p:cNvPr name="AutoShape 6" id="6"/>
          <p:cNvSpPr/>
          <p:nvPr/>
        </p:nvSpPr>
        <p:spPr>
          <a:xfrm rot="8100000">
            <a:off x="15101702" y="5996535"/>
            <a:ext cx="3744236" cy="0"/>
          </a:xfrm>
          <a:prstGeom prst="line">
            <a:avLst/>
          </a:prstGeom>
          <a:ln cap="rnd" w="19050">
            <a:solidFill>
              <a:srgbClr val="FFFFFF"/>
            </a:solidFill>
            <a:prstDash val="solid"/>
            <a:headEnd type="none" len="sm" w="sm"/>
            <a:tailEnd type="none" len="sm" w="sm"/>
          </a:ln>
        </p:spPr>
      </p:sp>
      <p:sp>
        <p:nvSpPr>
          <p:cNvPr name="AutoShape 7" id="7"/>
          <p:cNvSpPr/>
          <p:nvPr/>
        </p:nvSpPr>
        <p:spPr>
          <a:xfrm rot="8099680">
            <a:off x="15963304" y="6467415"/>
            <a:ext cx="2734912" cy="0"/>
          </a:xfrm>
          <a:prstGeom prst="line">
            <a:avLst/>
          </a:prstGeom>
          <a:ln cap="rnd" w="19050">
            <a:solidFill>
              <a:srgbClr val="FFFFFF"/>
            </a:solidFill>
            <a:prstDash val="solid"/>
            <a:headEnd type="none" len="sm" w="sm"/>
            <a:tailEnd type="none" len="sm" w="sm"/>
          </a:ln>
        </p:spPr>
      </p:sp>
      <p:sp>
        <p:nvSpPr>
          <p:cNvPr name="TextBox 8" id="8"/>
          <p:cNvSpPr txBox="true"/>
          <p:nvPr/>
        </p:nvSpPr>
        <p:spPr>
          <a:xfrm rot="0">
            <a:off x="1970470" y="1404933"/>
            <a:ext cx="14347060" cy="1659370"/>
          </a:xfrm>
          <a:prstGeom prst="rect">
            <a:avLst/>
          </a:prstGeom>
        </p:spPr>
        <p:txBody>
          <a:bodyPr anchor="t" rtlCol="false" tIns="0" lIns="0" bIns="0" rIns="0">
            <a:spAutoFit/>
          </a:bodyPr>
          <a:lstStyle/>
          <a:p>
            <a:pPr algn="ctr" marL="0" indent="0" lvl="0">
              <a:lnSpc>
                <a:spcPts val="11647"/>
              </a:lnSpc>
            </a:pPr>
            <a:r>
              <a:rPr lang="en-US" b="true" sz="9469">
                <a:solidFill>
                  <a:srgbClr val="FFFFFF"/>
                </a:solidFill>
                <a:latin typeface="Arial MT Pro Bold"/>
                <a:ea typeface="Arial MT Pro Bold"/>
                <a:cs typeface="Arial MT Pro Bold"/>
                <a:sym typeface="Arial MT Pro Bold"/>
              </a:rPr>
              <a:t>AVISOS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2D2EF">
                <a:alpha val="100000"/>
              </a:srgbClr>
            </a:gs>
            <a:gs pos="10000">
              <a:srgbClr val="62D2EF">
                <a:alpha val="100000"/>
              </a:srgbClr>
            </a:gs>
            <a:gs pos="100000">
              <a:srgbClr val="05578D">
                <a:alpha val="100000"/>
              </a:srgbClr>
            </a:gs>
          </a:gsLst>
          <a:lin ang="6120000"/>
        </a:gradFill>
      </p:bgPr>
    </p:bg>
    <p:spTree>
      <p:nvGrpSpPr>
        <p:cNvPr id="1" name=""/>
        <p:cNvGrpSpPr/>
        <p:nvPr/>
      </p:nvGrpSpPr>
      <p:grpSpPr>
        <a:xfrm>
          <a:off x="0" y="0"/>
          <a:ext cx="0" cy="0"/>
          <a:chOff x="0" y="0"/>
          <a:chExt cx="0" cy="0"/>
        </a:xfrm>
      </p:grpSpPr>
      <p:sp>
        <p:nvSpPr>
          <p:cNvPr name="Freeform 2" id="2"/>
          <p:cNvSpPr/>
          <p:nvPr/>
        </p:nvSpPr>
        <p:spPr>
          <a:xfrm flipH="false" flipV="false" rot="0">
            <a:off x="-1201624" y="0"/>
            <a:ext cx="20691247" cy="10429334"/>
          </a:xfrm>
          <a:custGeom>
            <a:avLst/>
            <a:gdLst/>
            <a:ahLst/>
            <a:cxnLst/>
            <a:rect r="r" b="b" t="t" l="l"/>
            <a:pathLst>
              <a:path h="10429334" w="20691247">
                <a:moveTo>
                  <a:pt x="0" y="0"/>
                </a:moveTo>
                <a:lnTo>
                  <a:pt x="20691248" y="0"/>
                </a:lnTo>
                <a:lnTo>
                  <a:pt x="20691248" y="10429334"/>
                </a:lnTo>
                <a:lnTo>
                  <a:pt x="0" y="10429334"/>
                </a:lnTo>
                <a:lnTo>
                  <a:pt x="0" y="0"/>
                </a:lnTo>
                <a:close/>
              </a:path>
            </a:pathLst>
          </a:custGeom>
          <a:blipFill>
            <a:blip r:embed="rId3"/>
            <a:stretch>
              <a:fillRect l="-8780" t="0" r="-8780" b="0"/>
            </a:stretch>
          </a:blipFill>
        </p:spPr>
      </p:sp>
      <p:sp>
        <p:nvSpPr>
          <p:cNvPr name="AutoShape 3" id="3"/>
          <p:cNvSpPr/>
          <p:nvPr/>
        </p:nvSpPr>
        <p:spPr>
          <a:xfrm rot="8099999">
            <a:off x="16623524" y="5129640"/>
            <a:ext cx="1950151" cy="0"/>
          </a:xfrm>
          <a:prstGeom prst="line">
            <a:avLst/>
          </a:prstGeom>
          <a:ln cap="rnd" w="9525">
            <a:solidFill>
              <a:srgbClr val="FFFFFF"/>
            </a:solidFill>
            <a:prstDash val="solid"/>
            <a:headEnd type="none" len="sm" w="sm"/>
            <a:tailEnd type="none" len="sm" w="sm"/>
          </a:ln>
        </p:spPr>
      </p:sp>
      <p:sp>
        <p:nvSpPr>
          <p:cNvPr name="AutoShape 4" id="4"/>
          <p:cNvSpPr/>
          <p:nvPr/>
        </p:nvSpPr>
        <p:spPr>
          <a:xfrm rot="8100000">
            <a:off x="12877196" y="7021980"/>
            <a:ext cx="6339248" cy="0"/>
          </a:xfrm>
          <a:prstGeom prst="line">
            <a:avLst/>
          </a:prstGeom>
          <a:ln cap="rnd" w="9525">
            <a:solidFill>
              <a:srgbClr val="FFFFFF"/>
            </a:solidFill>
            <a:prstDash val="solid"/>
            <a:headEnd type="none" len="sm" w="sm"/>
            <a:tailEnd type="none" len="sm" w="sm"/>
          </a:ln>
        </p:spPr>
      </p:sp>
      <p:sp>
        <p:nvSpPr>
          <p:cNvPr name="AutoShape 5" id="5"/>
          <p:cNvSpPr/>
          <p:nvPr/>
        </p:nvSpPr>
        <p:spPr>
          <a:xfrm rot="8099783">
            <a:off x="14842142" y="6350040"/>
            <a:ext cx="4037276" cy="0"/>
          </a:xfrm>
          <a:prstGeom prst="line">
            <a:avLst/>
          </a:prstGeom>
          <a:ln cap="rnd" w="9525">
            <a:solidFill>
              <a:srgbClr val="FFFFFF"/>
            </a:solidFill>
            <a:prstDash val="solid"/>
            <a:headEnd type="none" len="sm" w="sm"/>
            <a:tailEnd type="none" len="sm" w="sm"/>
          </a:ln>
        </p:spPr>
      </p:sp>
      <p:sp>
        <p:nvSpPr>
          <p:cNvPr name="AutoShape 6" id="6"/>
          <p:cNvSpPr/>
          <p:nvPr/>
        </p:nvSpPr>
        <p:spPr>
          <a:xfrm rot="8100000">
            <a:off x="15101702" y="5996535"/>
            <a:ext cx="3744236" cy="0"/>
          </a:xfrm>
          <a:prstGeom prst="line">
            <a:avLst/>
          </a:prstGeom>
          <a:ln cap="rnd" w="19050">
            <a:solidFill>
              <a:srgbClr val="FFFFFF"/>
            </a:solidFill>
            <a:prstDash val="solid"/>
            <a:headEnd type="none" len="sm" w="sm"/>
            <a:tailEnd type="none" len="sm" w="sm"/>
          </a:ln>
        </p:spPr>
      </p:sp>
      <p:sp>
        <p:nvSpPr>
          <p:cNvPr name="AutoShape 7" id="7"/>
          <p:cNvSpPr/>
          <p:nvPr/>
        </p:nvSpPr>
        <p:spPr>
          <a:xfrm rot="8099680">
            <a:off x="15963304" y="6467415"/>
            <a:ext cx="2734912" cy="0"/>
          </a:xfrm>
          <a:prstGeom prst="line">
            <a:avLst/>
          </a:prstGeom>
          <a:ln cap="rnd" w="19050">
            <a:solidFill>
              <a:srgbClr val="FFFFFF"/>
            </a:solidFill>
            <a:prstDash val="solid"/>
            <a:headEnd type="none" len="sm" w="sm"/>
            <a:tailEnd type="none" len="sm" w="sm"/>
          </a:ln>
        </p:spPr>
      </p:sp>
      <p:sp>
        <p:nvSpPr>
          <p:cNvPr name="TextBox 8" id="8"/>
          <p:cNvSpPr txBox="true"/>
          <p:nvPr/>
        </p:nvSpPr>
        <p:spPr>
          <a:xfrm rot="0">
            <a:off x="1970470" y="3249910"/>
            <a:ext cx="14347060" cy="3135745"/>
          </a:xfrm>
          <a:prstGeom prst="rect">
            <a:avLst/>
          </a:prstGeom>
        </p:spPr>
        <p:txBody>
          <a:bodyPr anchor="t" rtlCol="false" tIns="0" lIns="0" bIns="0" rIns="0">
            <a:spAutoFit/>
          </a:bodyPr>
          <a:lstStyle/>
          <a:p>
            <a:pPr algn="ctr">
              <a:lnSpc>
                <a:spcPts val="11647"/>
              </a:lnSpc>
            </a:pPr>
            <a:r>
              <a:rPr lang="en-US" b="true" sz="9469">
                <a:solidFill>
                  <a:srgbClr val="FFFFFF"/>
                </a:solidFill>
                <a:latin typeface="Arial MT Pro Bold"/>
                <a:ea typeface="Arial MT Pro Bold"/>
                <a:cs typeface="Arial MT Pro Bold"/>
                <a:sym typeface="Arial MT Pro Bold"/>
              </a:rPr>
              <a:t>DUDAS DEL </a:t>
            </a:r>
          </a:p>
          <a:p>
            <a:pPr algn="ctr" marL="0" indent="0" lvl="0">
              <a:lnSpc>
                <a:spcPts val="11647"/>
              </a:lnSpc>
            </a:pPr>
            <a:r>
              <a:rPr lang="en-US" b="true" sz="9469">
                <a:solidFill>
                  <a:srgbClr val="FFFFFF"/>
                </a:solidFill>
                <a:latin typeface="Arial MT Pro Bold"/>
                <a:ea typeface="Arial MT Pro Bold"/>
                <a:cs typeface="Arial MT Pro Bold"/>
                <a:sym typeface="Arial MT Pro Bold"/>
              </a:rPr>
              <a:t>PROYECTO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796B"/>
        </a:solidFill>
      </p:bgPr>
    </p:bg>
    <p:spTree>
      <p:nvGrpSpPr>
        <p:cNvPr id="1" name=""/>
        <p:cNvGrpSpPr/>
        <p:nvPr/>
      </p:nvGrpSpPr>
      <p:grpSpPr>
        <a:xfrm>
          <a:off x="0" y="0"/>
          <a:ext cx="0" cy="0"/>
          <a:chOff x="0" y="0"/>
          <a:chExt cx="0" cy="0"/>
        </a:xfrm>
      </p:grpSpPr>
      <p:grpSp>
        <p:nvGrpSpPr>
          <p:cNvPr name="Group 2" id="2"/>
          <p:cNvGrpSpPr/>
          <p:nvPr/>
        </p:nvGrpSpPr>
        <p:grpSpPr>
          <a:xfrm rot="0">
            <a:off x="0" y="5646287"/>
            <a:ext cx="14738404" cy="4633798"/>
            <a:chOff x="0" y="0"/>
            <a:chExt cx="19651205" cy="6178398"/>
          </a:xfrm>
        </p:grpSpPr>
        <p:sp>
          <p:nvSpPr>
            <p:cNvPr name="Freeform 3" id="3"/>
            <p:cNvSpPr/>
            <p:nvPr/>
          </p:nvSpPr>
          <p:spPr>
            <a:xfrm flipH="false" flipV="false" rot="0">
              <a:off x="0" y="0"/>
              <a:ext cx="19651218" cy="6178423"/>
            </a:xfrm>
            <a:custGeom>
              <a:avLst/>
              <a:gdLst/>
              <a:ahLst/>
              <a:cxnLst/>
              <a:rect r="r" b="b" t="t" l="l"/>
              <a:pathLst>
                <a:path h="6178423" w="19651218">
                  <a:moveTo>
                    <a:pt x="0" y="6178423"/>
                  </a:moveTo>
                  <a:lnTo>
                    <a:pt x="0" y="0"/>
                  </a:lnTo>
                  <a:lnTo>
                    <a:pt x="19651218" y="6178423"/>
                  </a:lnTo>
                  <a:close/>
                </a:path>
              </a:pathLst>
            </a:custGeom>
            <a:solidFill>
              <a:srgbClr val="163EF5"/>
            </a:solidFill>
          </p:spPr>
        </p:sp>
      </p:grpSp>
      <p:grpSp>
        <p:nvGrpSpPr>
          <p:cNvPr name="Group 4" id="4"/>
          <p:cNvGrpSpPr/>
          <p:nvPr/>
        </p:nvGrpSpPr>
        <p:grpSpPr>
          <a:xfrm rot="0">
            <a:off x="7166420" y="3108227"/>
            <a:ext cx="11120999" cy="7179002"/>
            <a:chOff x="0" y="0"/>
            <a:chExt cx="14827999" cy="9572003"/>
          </a:xfrm>
        </p:grpSpPr>
        <p:sp>
          <p:nvSpPr>
            <p:cNvPr name="Freeform 5" id="5"/>
            <p:cNvSpPr/>
            <p:nvPr/>
          </p:nvSpPr>
          <p:spPr>
            <a:xfrm flipH="false" flipV="false" rot="0">
              <a:off x="0" y="0"/>
              <a:ext cx="14828013" cy="9571990"/>
            </a:xfrm>
            <a:custGeom>
              <a:avLst/>
              <a:gdLst/>
              <a:ahLst/>
              <a:cxnLst/>
              <a:rect r="r" b="b" t="t" l="l"/>
              <a:pathLst>
                <a:path h="9571990" w="14828013">
                  <a:moveTo>
                    <a:pt x="14828013" y="9571990"/>
                  </a:moveTo>
                  <a:lnTo>
                    <a:pt x="14828013" y="0"/>
                  </a:lnTo>
                  <a:lnTo>
                    <a:pt x="0" y="9571990"/>
                  </a:lnTo>
                  <a:close/>
                </a:path>
              </a:pathLst>
            </a:custGeom>
            <a:solidFill>
              <a:srgbClr val="D9D9D9"/>
            </a:solidFill>
          </p:spPr>
        </p:sp>
      </p:grpSp>
      <p:sp>
        <p:nvSpPr>
          <p:cNvPr name="Freeform 6" id="6"/>
          <p:cNvSpPr/>
          <p:nvPr/>
        </p:nvSpPr>
        <p:spPr>
          <a:xfrm flipH="false" flipV="false" rot="0">
            <a:off x="511978" y="-238"/>
            <a:ext cx="4502696" cy="2086813"/>
          </a:xfrm>
          <a:custGeom>
            <a:avLst/>
            <a:gdLst/>
            <a:ahLst/>
            <a:cxnLst/>
            <a:rect r="r" b="b" t="t" l="l"/>
            <a:pathLst>
              <a:path h="2086813" w="4502696">
                <a:moveTo>
                  <a:pt x="0" y="0"/>
                </a:moveTo>
                <a:lnTo>
                  <a:pt x="4502696" y="0"/>
                </a:lnTo>
                <a:lnTo>
                  <a:pt x="4502696" y="2086813"/>
                </a:lnTo>
                <a:lnTo>
                  <a:pt x="0" y="20868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06451" y="412499"/>
            <a:ext cx="17475003" cy="9462002"/>
            <a:chOff x="0" y="0"/>
            <a:chExt cx="23300004" cy="12616002"/>
          </a:xfrm>
        </p:grpSpPr>
        <p:sp>
          <p:nvSpPr>
            <p:cNvPr name="Freeform 8" id="8"/>
            <p:cNvSpPr/>
            <p:nvPr/>
          </p:nvSpPr>
          <p:spPr>
            <a:xfrm flipH="false" flipV="false" rot="0">
              <a:off x="0" y="0"/>
              <a:ext cx="23300055" cy="12616053"/>
            </a:xfrm>
            <a:custGeom>
              <a:avLst/>
              <a:gdLst/>
              <a:ahLst/>
              <a:cxnLst/>
              <a:rect r="r" b="b" t="t" l="l"/>
              <a:pathLst>
                <a:path h="12616053" w="23300055">
                  <a:moveTo>
                    <a:pt x="0" y="0"/>
                  </a:moveTo>
                  <a:lnTo>
                    <a:pt x="23300055" y="0"/>
                  </a:lnTo>
                  <a:lnTo>
                    <a:pt x="23300055" y="12616053"/>
                  </a:lnTo>
                  <a:lnTo>
                    <a:pt x="0" y="12616053"/>
                  </a:lnTo>
                  <a:close/>
                </a:path>
              </a:pathLst>
            </a:custGeom>
            <a:solidFill>
              <a:srgbClr val="FFFFFF"/>
            </a:solidFill>
          </p:spPr>
        </p:sp>
      </p:grpSp>
      <p:sp>
        <p:nvSpPr>
          <p:cNvPr name="Freeform 9" id="9"/>
          <p:cNvSpPr/>
          <p:nvPr/>
        </p:nvSpPr>
        <p:spPr>
          <a:xfrm flipH="false" flipV="false" rot="0">
            <a:off x="69866" y="9044254"/>
            <a:ext cx="3186608" cy="1234145"/>
          </a:xfrm>
          <a:custGeom>
            <a:avLst/>
            <a:gdLst/>
            <a:ahLst/>
            <a:cxnLst/>
            <a:rect r="r" b="b" t="t" l="l"/>
            <a:pathLst>
              <a:path h="1234145" w="3186608">
                <a:moveTo>
                  <a:pt x="0" y="0"/>
                </a:moveTo>
                <a:lnTo>
                  <a:pt x="3186608" y="0"/>
                </a:lnTo>
                <a:lnTo>
                  <a:pt x="3186608" y="1234145"/>
                </a:lnTo>
                <a:lnTo>
                  <a:pt x="0" y="12341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1772710" y="2486"/>
            <a:ext cx="6514910" cy="2523030"/>
          </a:xfrm>
          <a:custGeom>
            <a:avLst/>
            <a:gdLst/>
            <a:ahLst/>
            <a:cxnLst/>
            <a:rect r="r" b="b" t="t" l="l"/>
            <a:pathLst>
              <a:path h="2523030" w="6514910">
                <a:moveTo>
                  <a:pt x="0" y="0"/>
                </a:moveTo>
                <a:lnTo>
                  <a:pt x="6514909" y="0"/>
                </a:lnTo>
                <a:lnTo>
                  <a:pt x="6514909" y="2523030"/>
                </a:lnTo>
                <a:lnTo>
                  <a:pt x="0" y="2523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839705" y="3672554"/>
            <a:ext cx="3732305" cy="5114649"/>
            <a:chOff x="0" y="0"/>
            <a:chExt cx="4976406" cy="6819532"/>
          </a:xfrm>
        </p:grpSpPr>
        <p:sp>
          <p:nvSpPr>
            <p:cNvPr name="Freeform 12" id="12"/>
            <p:cNvSpPr/>
            <p:nvPr/>
          </p:nvSpPr>
          <p:spPr>
            <a:xfrm flipH="false" flipV="false" rot="0">
              <a:off x="0" y="0"/>
              <a:ext cx="4976368" cy="6819519"/>
            </a:xfrm>
            <a:custGeom>
              <a:avLst/>
              <a:gdLst/>
              <a:ahLst/>
              <a:cxnLst/>
              <a:rect r="r" b="b" t="t" l="l"/>
              <a:pathLst>
                <a:path h="6819519" w="4976368">
                  <a:moveTo>
                    <a:pt x="0" y="0"/>
                  </a:moveTo>
                  <a:lnTo>
                    <a:pt x="4976368" y="0"/>
                  </a:lnTo>
                  <a:lnTo>
                    <a:pt x="4976368" y="6819519"/>
                  </a:lnTo>
                  <a:lnTo>
                    <a:pt x="0" y="6819519"/>
                  </a:lnTo>
                  <a:lnTo>
                    <a:pt x="0" y="0"/>
                  </a:lnTo>
                  <a:close/>
                </a:path>
              </a:pathLst>
            </a:custGeom>
            <a:blipFill>
              <a:blip r:embed="rId9"/>
              <a:stretch>
                <a:fillRect l="0" t="0" r="0" b="0"/>
              </a:stretch>
            </a:blipFill>
          </p:spPr>
        </p:sp>
      </p:grpSp>
      <p:sp>
        <p:nvSpPr>
          <p:cNvPr name="TextBox 13" id="13"/>
          <p:cNvSpPr txBox="true"/>
          <p:nvPr/>
        </p:nvSpPr>
        <p:spPr>
          <a:xfrm rot="0">
            <a:off x="1374896" y="1126274"/>
            <a:ext cx="9008402" cy="2084927"/>
          </a:xfrm>
          <a:prstGeom prst="rect">
            <a:avLst/>
          </a:prstGeom>
        </p:spPr>
        <p:txBody>
          <a:bodyPr anchor="t" rtlCol="false" tIns="0" lIns="0" bIns="0" rIns="0">
            <a:spAutoFit/>
          </a:bodyPr>
          <a:lstStyle/>
          <a:p>
            <a:pPr algn="just">
              <a:lnSpc>
                <a:spcPts val="8267"/>
              </a:lnSpc>
            </a:pPr>
            <a:r>
              <a:rPr lang="en-US" sz="6098">
                <a:solidFill>
                  <a:srgbClr val="131416"/>
                </a:solidFill>
                <a:latin typeface="Montserrat"/>
                <a:ea typeface="Montserrat"/>
                <a:cs typeface="Montserrat"/>
                <a:sym typeface="Montserrat"/>
              </a:rPr>
              <a:t>COMPETENCIAS QUE DESARROLLAREMOS</a:t>
            </a:r>
          </a:p>
        </p:txBody>
      </p:sp>
      <p:sp>
        <p:nvSpPr>
          <p:cNvPr name="TextBox 14" id="14"/>
          <p:cNvSpPr txBox="true"/>
          <p:nvPr/>
        </p:nvSpPr>
        <p:spPr>
          <a:xfrm rot="0">
            <a:off x="4132974" y="4045525"/>
            <a:ext cx="13018503" cy="3827850"/>
          </a:xfrm>
          <a:prstGeom prst="rect">
            <a:avLst/>
          </a:prstGeom>
        </p:spPr>
        <p:txBody>
          <a:bodyPr anchor="t" rtlCol="false" tIns="0" lIns="0" bIns="0" rIns="0">
            <a:spAutoFit/>
          </a:bodyPr>
          <a:lstStyle/>
          <a:p>
            <a:pPr algn="just">
              <a:lnSpc>
                <a:spcPts val="5040"/>
              </a:lnSpc>
            </a:pPr>
            <a:r>
              <a:rPr lang="en-US" sz="3000">
                <a:solidFill>
                  <a:srgbClr val="1F1F1F"/>
                </a:solidFill>
                <a:latin typeface="Montserrat"/>
                <a:ea typeface="Montserrat"/>
                <a:cs typeface="Montserrat"/>
                <a:sym typeface="Montserrat"/>
              </a:rPr>
              <a:t>EXPLICA LOS FUNDAMENTOS DE CONECTIVIDAD, ADMINISTRACIÓN Y EVOLUCIÓN DE TECNOLOGÍAS DE RED Y ALMACENAMIENTO MEDIANTE LA IDENTIFICACIÓN DE COMPONENTES CLAVE Y SU INTERACCIÓN FUNCIONAL PARA COMPRENDER SU ROL EN INFRAESTRUCTURAS TECNOLÓGICAS ACTUALES</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2285505" y="-4771434"/>
            <a:ext cx="22859009" cy="17585436"/>
            <a:chOff x="0" y="0"/>
            <a:chExt cx="30478679" cy="23447248"/>
          </a:xfrm>
        </p:grpSpPr>
        <p:sp>
          <p:nvSpPr>
            <p:cNvPr name="Freeform 3" id="3"/>
            <p:cNvSpPr/>
            <p:nvPr/>
          </p:nvSpPr>
          <p:spPr>
            <a:xfrm flipH="false" flipV="false" rot="0">
              <a:off x="0" y="0"/>
              <a:ext cx="30478729" cy="23447248"/>
            </a:xfrm>
            <a:custGeom>
              <a:avLst/>
              <a:gdLst/>
              <a:ahLst/>
              <a:cxnLst/>
              <a:rect r="r" b="b" t="t" l="l"/>
              <a:pathLst>
                <a:path h="23447248" w="30478729">
                  <a:moveTo>
                    <a:pt x="0" y="0"/>
                  </a:moveTo>
                  <a:lnTo>
                    <a:pt x="30478729" y="0"/>
                  </a:lnTo>
                  <a:lnTo>
                    <a:pt x="30478729" y="23447248"/>
                  </a:lnTo>
                  <a:lnTo>
                    <a:pt x="0" y="23447248"/>
                  </a:lnTo>
                  <a:lnTo>
                    <a:pt x="0" y="0"/>
                  </a:lnTo>
                  <a:close/>
                </a:path>
              </a:pathLst>
            </a:custGeom>
            <a:blipFill>
              <a:blip r:embed="rId3">
                <a:alphaModFix amt="60000"/>
              </a:blip>
              <a:stretch>
                <a:fillRect l="0" t="0" r="-17" b="0"/>
              </a:stretch>
            </a:blipFill>
          </p:spPr>
        </p:sp>
      </p:grpSp>
      <p:sp>
        <p:nvSpPr>
          <p:cNvPr name="Freeform 4" id="4"/>
          <p:cNvSpPr/>
          <p:nvPr/>
        </p:nvSpPr>
        <p:spPr>
          <a:xfrm flipH="false" flipV="false" rot="0">
            <a:off x="1028700" y="3403330"/>
            <a:ext cx="16230600" cy="3778539"/>
          </a:xfrm>
          <a:custGeom>
            <a:avLst/>
            <a:gdLst/>
            <a:ahLst/>
            <a:cxnLst/>
            <a:rect r="r" b="b" t="t" l="l"/>
            <a:pathLst>
              <a:path h="3778539" w="16230600">
                <a:moveTo>
                  <a:pt x="0" y="0"/>
                </a:moveTo>
                <a:lnTo>
                  <a:pt x="16230600" y="0"/>
                </a:lnTo>
                <a:lnTo>
                  <a:pt x="16230600" y="3778539"/>
                </a:lnTo>
                <a:lnTo>
                  <a:pt x="0" y="3778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652559" y="3837318"/>
            <a:ext cx="14982901" cy="2288772"/>
          </a:xfrm>
          <a:prstGeom prst="rect">
            <a:avLst/>
          </a:prstGeom>
        </p:spPr>
        <p:txBody>
          <a:bodyPr anchor="t" rtlCol="false" tIns="0" lIns="0" bIns="0" rIns="0">
            <a:spAutoFit/>
          </a:bodyPr>
          <a:lstStyle/>
          <a:p>
            <a:pPr algn="ctr">
              <a:lnSpc>
                <a:spcPts val="9238"/>
              </a:lnSpc>
            </a:pPr>
            <a:r>
              <a:rPr lang="en-US" sz="5498">
                <a:solidFill>
                  <a:srgbClr val="FFFFFF"/>
                </a:solidFill>
                <a:latin typeface="Play"/>
                <a:ea typeface="Play"/>
                <a:cs typeface="Play"/>
                <a:sym typeface="Play"/>
              </a:rPr>
              <a:t>ARQUITECTURA DEL SISTEMA OPERATIVO LINUX Y GESTIÓN DE PROCESOS Y RECURSOS</a:t>
            </a:r>
          </a:p>
        </p:txBody>
      </p:sp>
      <p:sp>
        <p:nvSpPr>
          <p:cNvPr name="TextBox 6" id="6"/>
          <p:cNvSpPr txBox="true"/>
          <p:nvPr/>
        </p:nvSpPr>
        <p:spPr>
          <a:xfrm rot="0">
            <a:off x="5983776" y="7977892"/>
            <a:ext cx="6320399" cy="862727"/>
          </a:xfrm>
          <a:prstGeom prst="rect">
            <a:avLst/>
          </a:prstGeom>
        </p:spPr>
        <p:txBody>
          <a:bodyPr anchor="t" rtlCol="false" tIns="0" lIns="0" bIns="0" rIns="0">
            <a:spAutoFit/>
          </a:bodyPr>
          <a:lstStyle/>
          <a:p>
            <a:pPr algn="ctr">
              <a:lnSpc>
                <a:spcPts val="7233"/>
              </a:lnSpc>
            </a:pPr>
            <a:r>
              <a:rPr lang="en-US" sz="4306">
                <a:solidFill>
                  <a:srgbClr val="31356E"/>
                </a:solidFill>
                <a:latin typeface="Lexend Deca"/>
                <a:ea typeface="Lexend Deca"/>
                <a:cs typeface="Lexend Deca"/>
                <a:sym typeface="Lexend Deca"/>
              </a:rPr>
              <a:t>CLASE 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9177938" y="-827599"/>
            <a:ext cx="9246041" cy="11381813"/>
          </a:xfrm>
          <a:custGeom>
            <a:avLst/>
            <a:gdLst/>
            <a:ahLst/>
            <a:cxnLst/>
            <a:rect r="r" b="b" t="t" l="l"/>
            <a:pathLst>
              <a:path h="11381813" w="9246041">
                <a:moveTo>
                  <a:pt x="0" y="0"/>
                </a:moveTo>
                <a:lnTo>
                  <a:pt x="9246041" y="0"/>
                </a:lnTo>
                <a:lnTo>
                  <a:pt x="9246041" y="11381813"/>
                </a:lnTo>
                <a:lnTo>
                  <a:pt x="0" y="113818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365200" y="6508423"/>
            <a:ext cx="6871583" cy="2946025"/>
          </a:xfrm>
          <a:custGeom>
            <a:avLst/>
            <a:gdLst/>
            <a:ahLst/>
            <a:cxnLst/>
            <a:rect r="r" b="b" t="t" l="l"/>
            <a:pathLst>
              <a:path h="2946025" w="6871583">
                <a:moveTo>
                  <a:pt x="0" y="0"/>
                </a:moveTo>
                <a:lnTo>
                  <a:pt x="6871583" y="0"/>
                </a:lnTo>
                <a:lnTo>
                  <a:pt x="6871583" y="2946025"/>
                </a:lnTo>
                <a:lnTo>
                  <a:pt x="0" y="29460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845916" y="4768548"/>
            <a:ext cx="4124573" cy="4423410"/>
            <a:chOff x="0" y="0"/>
            <a:chExt cx="5499430" cy="5897880"/>
          </a:xfrm>
        </p:grpSpPr>
        <p:sp>
          <p:nvSpPr>
            <p:cNvPr name="Freeform 5" id="5"/>
            <p:cNvSpPr/>
            <p:nvPr/>
          </p:nvSpPr>
          <p:spPr>
            <a:xfrm flipH="false" flipV="false" rot="0">
              <a:off x="0" y="0"/>
              <a:ext cx="5499481" cy="5897880"/>
            </a:xfrm>
            <a:custGeom>
              <a:avLst/>
              <a:gdLst/>
              <a:ahLst/>
              <a:cxnLst/>
              <a:rect r="r" b="b" t="t" l="l"/>
              <a:pathLst>
                <a:path h="5897880" w="5499481">
                  <a:moveTo>
                    <a:pt x="0" y="0"/>
                  </a:moveTo>
                  <a:lnTo>
                    <a:pt x="5499481" y="0"/>
                  </a:lnTo>
                  <a:lnTo>
                    <a:pt x="5499481" y="5897880"/>
                  </a:lnTo>
                  <a:lnTo>
                    <a:pt x="0" y="5897880"/>
                  </a:lnTo>
                  <a:lnTo>
                    <a:pt x="0" y="0"/>
                  </a:lnTo>
                  <a:close/>
                </a:path>
              </a:pathLst>
            </a:custGeom>
            <a:blipFill>
              <a:blip r:embed="rId7"/>
              <a:stretch>
                <a:fillRect l="0" t="-1142" r="0" b="-1142"/>
              </a:stretch>
            </a:blipFill>
          </p:spPr>
        </p:sp>
      </p:grpSp>
      <p:sp>
        <p:nvSpPr>
          <p:cNvPr name="TextBox 6" id="6"/>
          <p:cNvSpPr txBox="true"/>
          <p:nvPr/>
        </p:nvSpPr>
        <p:spPr>
          <a:xfrm rot="0">
            <a:off x="535295" y="1024528"/>
            <a:ext cx="6745796" cy="2418750"/>
          </a:xfrm>
          <a:prstGeom prst="rect">
            <a:avLst/>
          </a:prstGeom>
        </p:spPr>
        <p:txBody>
          <a:bodyPr anchor="t" rtlCol="false" tIns="0" lIns="0" bIns="0" rIns="0">
            <a:spAutoFit/>
          </a:bodyPr>
          <a:lstStyle/>
          <a:p>
            <a:pPr algn="ctr">
              <a:lnSpc>
                <a:spcPts val="6334"/>
              </a:lnSpc>
            </a:pPr>
            <a:r>
              <a:rPr lang="en-US" b="true" sz="5498">
                <a:solidFill>
                  <a:srgbClr val="1F1F1F"/>
                </a:solidFill>
                <a:latin typeface="Play Bold"/>
                <a:ea typeface="Play Bold"/>
                <a:cs typeface="Play Bold"/>
                <a:sym typeface="Play Bold"/>
              </a:rPr>
              <a:t>INTRODUCCIÓN AL SISTEMA OPERATIVO LINUX</a:t>
            </a:r>
          </a:p>
        </p:txBody>
      </p:sp>
      <p:sp>
        <p:nvSpPr>
          <p:cNvPr name="TextBox 7" id="7"/>
          <p:cNvSpPr txBox="true"/>
          <p:nvPr/>
        </p:nvSpPr>
        <p:spPr>
          <a:xfrm rot="0">
            <a:off x="10365200" y="693820"/>
            <a:ext cx="6297901" cy="5648849"/>
          </a:xfrm>
          <a:prstGeom prst="rect">
            <a:avLst/>
          </a:prstGeom>
        </p:spPr>
        <p:txBody>
          <a:bodyPr anchor="t" rtlCol="false" tIns="0" lIns="0" bIns="0" rIns="0">
            <a:spAutoFit/>
          </a:bodyPr>
          <a:lstStyle/>
          <a:p>
            <a:pPr algn="just">
              <a:lnSpc>
                <a:spcPts val="3696"/>
              </a:lnSpc>
            </a:pPr>
            <a:r>
              <a:rPr lang="en-US" sz="2200">
                <a:solidFill>
                  <a:srgbClr val="FFFFFF"/>
                </a:solidFill>
                <a:latin typeface="Lexend Deca"/>
                <a:ea typeface="Lexend Deca"/>
                <a:cs typeface="Lexend Deca"/>
                <a:sym typeface="Lexend Deca"/>
              </a:rPr>
              <a:t>Los sistemas de archivos son el mecanismo que permite a los sistemas operativos organizar y gestionar los datos almacenados en los Linux fue originalmente desarrollado por Linus Torvalds en 1991 como un proyecto de software libre y de código abierto. Desde entonces, ha evolucionado convirtiéndose en uno de los sistemas operativos más utilizados en el mundo, especialmente en servidores, supercomputadoras y dispositivos embebidos.</a:t>
            </a:r>
          </a:p>
          <a:p>
            <a:pPr algn="just">
              <a:lnSpc>
                <a:spcPts val="2351"/>
              </a:lnSpc>
            </a:pPr>
          </a:p>
          <a:p>
            <a:pPr algn="just">
              <a:lnSpc>
                <a:spcPts val="2351"/>
              </a:lnSpc>
            </a:pPr>
          </a:p>
        </p:txBody>
      </p:sp>
      <p:sp>
        <p:nvSpPr>
          <p:cNvPr name="TextBox 8" id="8"/>
          <p:cNvSpPr txBox="true"/>
          <p:nvPr/>
        </p:nvSpPr>
        <p:spPr>
          <a:xfrm rot="0">
            <a:off x="10714949" y="6771132"/>
            <a:ext cx="6191402" cy="2559053"/>
          </a:xfrm>
          <a:prstGeom prst="rect">
            <a:avLst/>
          </a:prstGeom>
        </p:spPr>
        <p:txBody>
          <a:bodyPr anchor="t" rtlCol="false" tIns="0" lIns="0" bIns="0" rIns="0">
            <a:spAutoFit/>
          </a:bodyPr>
          <a:lstStyle/>
          <a:p>
            <a:pPr algn="ctr">
              <a:lnSpc>
                <a:spcPts val="3360"/>
              </a:lnSpc>
            </a:pPr>
            <a:r>
              <a:rPr lang="en-US" sz="2000">
                <a:solidFill>
                  <a:srgbClr val="31356E"/>
                </a:solidFill>
                <a:latin typeface="Lexend Deca"/>
                <a:ea typeface="Lexend Deca"/>
                <a:cs typeface="Lexend Deca"/>
                <a:sym typeface="Lexend Deca"/>
              </a:rPr>
              <a:t>Linux se destaca por su estabilidad, seguridad, escalabilidad y flexibilidad. Cuenta con una amplia variedad de distribuciones, cada una con sus propias características y funcionalidades, lo que lo convierte en una opción adaptable a diversas necesidades.</a:t>
            </a:r>
          </a:p>
          <a:p>
            <a:pPr algn="ctr">
              <a:lnSpc>
                <a:spcPts val="2351"/>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9177938" y="-827599"/>
            <a:ext cx="9246041" cy="11381813"/>
          </a:xfrm>
          <a:custGeom>
            <a:avLst/>
            <a:gdLst/>
            <a:ahLst/>
            <a:cxnLst/>
            <a:rect r="r" b="b" t="t" l="l"/>
            <a:pathLst>
              <a:path h="11381813" w="9246041">
                <a:moveTo>
                  <a:pt x="0" y="0"/>
                </a:moveTo>
                <a:lnTo>
                  <a:pt x="9246041" y="0"/>
                </a:lnTo>
                <a:lnTo>
                  <a:pt x="9246041" y="11381813"/>
                </a:lnTo>
                <a:lnTo>
                  <a:pt x="0" y="113818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06852" y="2538538"/>
            <a:ext cx="7393496" cy="5209925"/>
          </a:xfrm>
          <a:custGeom>
            <a:avLst/>
            <a:gdLst/>
            <a:ahLst/>
            <a:cxnLst/>
            <a:rect r="r" b="b" t="t" l="l"/>
            <a:pathLst>
              <a:path h="5209925" w="7393496">
                <a:moveTo>
                  <a:pt x="0" y="0"/>
                </a:moveTo>
                <a:lnTo>
                  <a:pt x="7393496" y="0"/>
                </a:lnTo>
                <a:lnTo>
                  <a:pt x="7393496" y="5209924"/>
                </a:lnTo>
                <a:lnTo>
                  <a:pt x="0" y="5209924"/>
                </a:lnTo>
                <a:lnTo>
                  <a:pt x="0" y="0"/>
                </a:lnTo>
                <a:close/>
              </a:path>
            </a:pathLst>
          </a:custGeom>
          <a:blipFill>
            <a:blip r:embed="rId5"/>
            <a:stretch>
              <a:fillRect l="0" t="0" r="0" b="0"/>
            </a:stretch>
          </a:blipFill>
        </p:spPr>
      </p:sp>
      <p:sp>
        <p:nvSpPr>
          <p:cNvPr name="TextBox 4" id="4"/>
          <p:cNvSpPr txBox="true"/>
          <p:nvPr/>
        </p:nvSpPr>
        <p:spPr>
          <a:xfrm rot="0">
            <a:off x="1030702" y="1120292"/>
            <a:ext cx="6745796" cy="814580"/>
          </a:xfrm>
          <a:prstGeom prst="rect">
            <a:avLst/>
          </a:prstGeom>
        </p:spPr>
        <p:txBody>
          <a:bodyPr anchor="t" rtlCol="false" tIns="0" lIns="0" bIns="0" rIns="0">
            <a:spAutoFit/>
          </a:bodyPr>
          <a:lstStyle/>
          <a:p>
            <a:pPr algn="ctr">
              <a:lnSpc>
                <a:spcPts val="6334"/>
              </a:lnSpc>
            </a:pPr>
            <a:r>
              <a:rPr lang="en-US" b="true" sz="5498">
                <a:solidFill>
                  <a:srgbClr val="1F1F1F"/>
                </a:solidFill>
                <a:latin typeface="Play Bold"/>
                <a:ea typeface="Play Bold"/>
                <a:cs typeface="Play Bold"/>
                <a:sym typeface="Play Bold"/>
              </a:rPr>
              <a:t>Historia</a:t>
            </a:r>
          </a:p>
        </p:txBody>
      </p:sp>
      <p:sp>
        <p:nvSpPr>
          <p:cNvPr name="TextBox 5" id="5"/>
          <p:cNvSpPr txBox="true"/>
          <p:nvPr/>
        </p:nvSpPr>
        <p:spPr>
          <a:xfrm rot="0">
            <a:off x="9729655" y="977417"/>
            <a:ext cx="8142606" cy="8208342"/>
          </a:xfrm>
          <a:prstGeom prst="rect">
            <a:avLst/>
          </a:prstGeom>
        </p:spPr>
        <p:txBody>
          <a:bodyPr anchor="t" rtlCol="false" tIns="0" lIns="0" bIns="0" rIns="0">
            <a:spAutoFit/>
          </a:bodyPr>
          <a:lstStyle/>
          <a:p>
            <a:pPr algn="just">
              <a:lnSpc>
                <a:spcPts val="4778"/>
              </a:lnSpc>
            </a:pPr>
            <a:r>
              <a:rPr lang="en-US" sz="2844">
                <a:solidFill>
                  <a:srgbClr val="FFFFFF"/>
                </a:solidFill>
                <a:latin typeface="Lexend Deca"/>
                <a:ea typeface="Lexend Deca"/>
                <a:cs typeface="Lexend Deca"/>
                <a:sym typeface="Lexend Deca"/>
              </a:rPr>
              <a:t>Origen de UNIX: </a:t>
            </a:r>
            <a:r>
              <a:rPr lang="en-US" sz="2844">
                <a:solidFill>
                  <a:srgbClr val="FFFFFF"/>
                </a:solidFill>
                <a:latin typeface="Lexend Deca"/>
                <a:ea typeface="Lexend Deca"/>
                <a:cs typeface="Lexend Deca"/>
                <a:sym typeface="Lexend Deca"/>
              </a:rPr>
              <a:t>La Base de Linux (1969)</a:t>
            </a:r>
          </a:p>
          <a:p>
            <a:pPr algn="just">
              <a:lnSpc>
                <a:spcPts val="4778"/>
              </a:lnSpc>
            </a:pPr>
            <a:r>
              <a:rPr lang="en-US" sz="2844">
                <a:solidFill>
                  <a:srgbClr val="FFFFFF"/>
                </a:solidFill>
                <a:latin typeface="Lexend Deca"/>
                <a:ea typeface="Lexend Deca"/>
                <a:cs typeface="Lexend Deca"/>
                <a:sym typeface="Lexend Deca"/>
              </a:rPr>
              <a:t>Antes de Linux existió UNIX, desarrollado en 1969 en los laboratorios Bell por:</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Ken Thompson</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Dennis Ritchie</a:t>
            </a:r>
          </a:p>
          <a:p>
            <a:pPr algn="just">
              <a:lnSpc>
                <a:spcPts val="4778"/>
              </a:lnSpc>
            </a:pPr>
            <a:r>
              <a:rPr lang="en-US" sz="2844">
                <a:solidFill>
                  <a:srgbClr val="FFFFFF"/>
                </a:solidFill>
                <a:latin typeface="Lexend Deca"/>
                <a:ea typeface="Lexend Deca"/>
                <a:cs typeface="Lexend Deca"/>
                <a:sym typeface="Lexend Deca"/>
              </a:rPr>
              <a:t>Características innovadoras de UNIX:</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Sistema multiusuario y multitarea</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Escrito en lenguaje C</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Portabilidad entre arquitecturas</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Filosofía modular</a:t>
            </a:r>
          </a:p>
          <a:p>
            <a:pPr algn="just">
              <a:lnSpc>
                <a:spcPts val="4778"/>
              </a:lnSpc>
            </a:pPr>
            <a:r>
              <a:rPr lang="en-US" sz="2844">
                <a:solidFill>
                  <a:srgbClr val="FFFFFF"/>
                </a:solidFill>
                <a:latin typeface="Lexend Deca"/>
                <a:ea typeface="Lexend Deca"/>
                <a:cs typeface="Lexend Deca"/>
                <a:sym typeface="Lexend Deca"/>
              </a:rPr>
              <a:t> </a:t>
            </a:r>
            <a:r>
              <a:rPr lang="en-US" sz="2844">
                <a:solidFill>
                  <a:srgbClr val="FFFFFF"/>
                </a:solidFill>
                <a:latin typeface="Lexend Deca"/>
                <a:ea typeface="Lexend Deca"/>
                <a:cs typeface="Lexend Deca"/>
                <a:sym typeface="Lexend Deca"/>
              </a:rPr>
              <a:t>Importancia:</a:t>
            </a:r>
          </a:p>
          <a:p>
            <a:pPr algn="just">
              <a:lnSpc>
                <a:spcPts val="4778"/>
              </a:lnSpc>
            </a:pPr>
            <a:r>
              <a:rPr lang="en-US" sz="2844">
                <a:solidFill>
                  <a:srgbClr val="FFFFFF"/>
                </a:solidFill>
                <a:latin typeface="Lexend Deca"/>
                <a:ea typeface="Lexend Deca"/>
                <a:cs typeface="Lexend Deca"/>
                <a:sym typeface="Lexend Deca"/>
              </a:rPr>
              <a:t> Linux está inspirado en la arquitectura y filosofía de UNIX.</a:t>
            </a:r>
          </a:p>
          <a:p>
            <a:pPr algn="just">
              <a:lnSpc>
                <a:spcPts val="304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9177938" y="-827599"/>
            <a:ext cx="9246041" cy="11381813"/>
          </a:xfrm>
          <a:custGeom>
            <a:avLst/>
            <a:gdLst/>
            <a:ahLst/>
            <a:cxnLst/>
            <a:rect r="r" b="b" t="t" l="l"/>
            <a:pathLst>
              <a:path h="11381813" w="9246041">
                <a:moveTo>
                  <a:pt x="0" y="0"/>
                </a:moveTo>
                <a:lnTo>
                  <a:pt x="9246041" y="0"/>
                </a:lnTo>
                <a:lnTo>
                  <a:pt x="9246041" y="11381813"/>
                </a:lnTo>
                <a:lnTo>
                  <a:pt x="0" y="113818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535295" y="1024528"/>
            <a:ext cx="6745796" cy="814580"/>
          </a:xfrm>
          <a:prstGeom prst="rect">
            <a:avLst/>
          </a:prstGeom>
        </p:spPr>
        <p:txBody>
          <a:bodyPr anchor="t" rtlCol="false" tIns="0" lIns="0" bIns="0" rIns="0">
            <a:spAutoFit/>
          </a:bodyPr>
          <a:lstStyle/>
          <a:p>
            <a:pPr algn="ctr">
              <a:lnSpc>
                <a:spcPts val="6334"/>
              </a:lnSpc>
            </a:pPr>
            <a:r>
              <a:rPr lang="en-US" b="true" sz="5498">
                <a:solidFill>
                  <a:srgbClr val="1F1F1F"/>
                </a:solidFill>
                <a:latin typeface="Play Bold"/>
                <a:ea typeface="Play Bold"/>
                <a:cs typeface="Play Bold"/>
                <a:sym typeface="Play Bold"/>
              </a:rPr>
              <a:t>Historia</a:t>
            </a:r>
          </a:p>
        </p:txBody>
      </p:sp>
      <p:sp>
        <p:nvSpPr>
          <p:cNvPr name="TextBox 4" id="4"/>
          <p:cNvSpPr txBox="true"/>
          <p:nvPr/>
        </p:nvSpPr>
        <p:spPr>
          <a:xfrm rot="0">
            <a:off x="9729655" y="373984"/>
            <a:ext cx="8142606" cy="9415206"/>
          </a:xfrm>
          <a:prstGeom prst="rect">
            <a:avLst/>
          </a:prstGeom>
        </p:spPr>
        <p:txBody>
          <a:bodyPr anchor="t" rtlCol="false" tIns="0" lIns="0" bIns="0" rIns="0">
            <a:spAutoFit/>
          </a:bodyPr>
          <a:lstStyle/>
          <a:p>
            <a:pPr algn="just">
              <a:lnSpc>
                <a:spcPts val="4778"/>
              </a:lnSpc>
            </a:pPr>
            <a:r>
              <a:rPr lang="en-US" sz="2844">
                <a:solidFill>
                  <a:srgbClr val="FFFFFF"/>
                </a:solidFill>
                <a:latin typeface="Lexend Deca"/>
                <a:ea typeface="Lexend Deca"/>
                <a:cs typeface="Lexend Deca"/>
                <a:sym typeface="Lexend Deca"/>
              </a:rPr>
              <a:t>El Proyecto GNU</a:t>
            </a:r>
            <a:r>
              <a:rPr lang="en-US" sz="2844">
                <a:solidFill>
                  <a:srgbClr val="FFFFFF"/>
                </a:solidFill>
                <a:latin typeface="Lexend Deca"/>
                <a:ea typeface="Lexend Deca"/>
                <a:cs typeface="Lexend Deca"/>
                <a:sym typeface="Lexend Deca"/>
              </a:rPr>
              <a:t> (1983)</a:t>
            </a:r>
          </a:p>
          <a:p>
            <a:pPr algn="just">
              <a:lnSpc>
                <a:spcPts val="4778"/>
              </a:lnSpc>
            </a:pPr>
            <a:r>
              <a:rPr lang="en-US" sz="2844">
                <a:solidFill>
                  <a:srgbClr val="FFFFFF"/>
                </a:solidFill>
                <a:latin typeface="Lexend Deca"/>
                <a:ea typeface="Lexend Deca"/>
                <a:cs typeface="Lexend Deca"/>
                <a:sym typeface="Lexend Deca"/>
              </a:rPr>
              <a:t>E</a:t>
            </a:r>
            <a:r>
              <a:rPr lang="en-US" sz="2844">
                <a:solidFill>
                  <a:srgbClr val="FFFFFF"/>
                </a:solidFill>
                <a:latin typeface="Lexend Deca"/>
                <a:ea typeface="Lexend Deca"/>
                <a:cs typeface="Lexend Deca"/>
                <a:sym typeface="Lexend Deca"/>
              </a:rPr>
              <a:t>n 1983, Richard Stallman inició el Proyecto GNU con el objetivo de crear un sistema operativo completamente libre.</a:t>
            </a:r>
          </a:p>
          <a:p>
            <a:pPr algn="just">
              <a:lnSpc>
                <a:spcPts val="4778"/>
              </a:lnSpc>
            </a:pPr>
            <a:r>
              <a:rPr lang="en-US" sz="2844">
                <a:solidFill>
                  <a:srgbClr val="FFFFFF"/>
                </a:solidFill>
                <a:latin typeface="Lexend Deca"/>
                <a:ea typeface="Lexend Deca"/>
                <a:cs typeface="Lexend Deca"/>
                <a:sym typeface="Lexend Deca"/>
              </a:rPr>
              <a:t>Objetivos:</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Software libre</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Libertad de uso, modificación y distribución</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Desarrollo de herramientas como:</a:t>
            </a:r>
          </a:p>
          <a:p>
            <a:pPr algn="just" marL="1228209" indent="-409403" lvl="2">
              <a:lnSpc>
                <a:spcPts val="4778"/>
              </a:lnSpc>
              <a:buFont typeface="Arial"/>
              <a:buChar char="⚬"/>
            </a:pPr>
            <a:r>
              <a:rPr lang="en-US" sz="2844">
                <a:solidFill>
                  <a:srgbClr val="FFFFFF"/>
                </a:solidFill>
                <a:latin typeface="Lexend Deca"/>
                <a:ea typeface="Lexend Deca"/>
                <a:cs typeface="Lexend Deca"/>
                <a:sym typeface="Lexend Deca"/>
              </a:rPr>
              <a:t>GCC (compilador)</a:t>
            </a:r>
          </a:p>
          <a:p>
            <a:pPr algn="just" marL="1228209" indent="-409403" lvl="2">
              <a:lnSpc>
                <a:spcPts val="4778"/>
              </a:lnSpc>
              <a:buFont typeface="Arial"/>
              <a:buChar char="⚬"/>
            </a:pPr>
            <a:r>
              <a:rPr lang="en-US" sz="2844">
                <a:solidFill>
                  <a:srgbClr val="FFFFFF"/>
                </a:solidFill>
                <a:latin typeface="Lexend Deca"/>
                <a:ea typeface="Lexend Deca"/>
                <a:cs typeface="Lexend Deca"/>
                <a:sym typeface="Lexend Deca"/>
              </a:rPr>
              <a:t>Bash (shell)</a:t>
            </a:r>
          </a:p>
          <a:p>
            <a:pPr algn="just" marL="1228209" indent="-409403" lvl="2">
              <a:lnSpc>
                <a:spcPts val="4778"/>
              </a:lnSpc>
              <a:buFont typeface="Arial"/>
              <a:buChar char="⚬"/>
            </a:pPr>
            <a:r>
              <a:rPr lang="en-US" sz="2844">
                <a:solidFill>
                  <a:srgbClr val="FFFFFF"/>
                </a:solidFill>
                <a:latin typeface="Lexend Deca"/>
                <a:ea typeface="Lexend Deca"/>
                <a:cs typeface="Lexend Deca"/>
                <a:sym typeface="Lexend Deca"/>
              </a:rPr>
              <a:t>GNU Coreutils</a:t>
            </a:r>
          </a:p>
          <a:p>
            <a:pPr algn="just">
              <a:lnSpc>
                <a:spcPts val="4778"/>
              </a:lnSpc>
            </a:pPr>
            <a:r>
              <a:rPr lang="en-US" sz="2844">
                <a:solidFill>
                  <a:srgbClr val="FFFFFF"/>
                </a:solidFill>
                <a:latin typeface="Lexend Deca"/>
                <a:ea typeface="Lexend Deca"/>
                <a:cs typeface="Lexend Deca"/>
                <a:sym typeface="Lexend Deca"/>
              </a:rPr>
              <a:t>Problema:</a:t>
            </a:r>
          </a:p>
          <a:p>
            <a:pPr algn="just">
              <a:lnSpc>
                <a:spcPts val="4778"/>
              </a:lnSpc>
            </a:pPr>
            <a:r>
              <a:rPr lang="en-US" sz="2844">
                <a:solidFill>
                  <a:srgbClr val="FFFFFF"/>
                </a:solidFill>
                <a:latin typeface="Lexend Deca"/>
                <a:ea typeface="Lexend Deca"/>
                <a:cs typeface="Lexend Deca"/>
                <a:sym typeface="Lexend Deca"/>
              </a:rPr>
              <a:t> GNU </a:t>
            </a:r>
            <a:r>
              <a:rPr lang="en-US" sz="2844">
                <a:solidFill>
                  <a:srgbClr val="FFFFFF"/>
                </a:solidFill>
                <a:latin typeface="Lexend Deca"/>
                <a:ea typeface="Lexend Deca"/>
                <a:cs typeface="Lexend Deca"/>
                <a:sym typeface="Lexend Deca"/>
              </a:rPr>
              <a:t>tenía casi todos los componentes… excepto el kernel.</a:t>
            </a:r>
          </a:p>
          <a:p>
            <a:pPr algn="just">
              <a:lnSpc>
                <a:spcPts val="3040"/>
              </a:lnSpc>
            </a:pPr>
          </a:p>
        </p:txBody>
      </p:sp>
      <p:sp>
        <p:nvSpPr>
          <p:cNvPr name="Freeform 5" id="5"/>
          <p:cNvSpPr/>
          <p:nvPr/>
        </p:nvSpPr>
        <p:spPr>
          <a:xfrm flipH="false" flipV="false" rot="0">
            <a:off x="750629" y="2953082"/>
            <a:ext cx="7025869" cy="4680985"/>
          </a:xfrm>
          <a:custGeom>
            <a:avLst/>
            <a:gdLst/>
            <a:ahLst/>
            <a:cxnLst/>
            <a:rect r="r" b="b" t="t" l="l"/>
            <a:pathLst>
              <a:path h="4680985" w="7025869">
                <a:moveTo>
                  <a:pt x="0" y="0"/>
                </a:moveTo>
                <a:lnTo>
                  <a:pt x="7025869" y="0"/>
                </a:lnTo>
                <a:lnTo>
                  <a:pt x="7025869" y="4680985"/>
                </a:lnTo>
                <a:lnTo>
                  <a:pt x="0" y="4680985"/>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9177938" y="-827599"/>
            <a:ext cx="9246041" cy="11381813"/>
          </a:xfrm>
          <a:custGeom>
            <a:avLst/>
            <a:gdLst/>
            <a:ahLst/>
            <a:cxnLst/>
            <a:rect r="r" b="b" t="t" l="l"/>
            <a:pathLst>
              <a:path h="11381813" w="9246041">
                <a:moveTo>
                  <a:pt x="0" y="0"/>
                </a:moveTo>
                <a:lnTo>
                  <a:pt x="9246041" y="0"/>
                </a:lnTo>
                <a:lnTo>
                  <a:pt x="9246041" y="11381813"/>
                </a:lnTo>
                <a:lnTo>
                  <a:pt x="0" y="113818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28700" y="2732324"/>
            <a:ext cx="7238052" cy="4822352"/>
          </a:xfrm>
          <a:custGeom>
            <a:avLst/>
            <a:gdLst/>
            <a:ahLst/>
            <a:cxnLst/>
            <a:rect r="r" b="b" t="t" l="l"/>
            <a:pathLst>
              <a:path h="4822352" w="7238052">
                <a:moveTo>
                  <a:pt x="0" y="0"/>
                </a:moveTo>
                <a:lnTo>
                  <a:pt x="7238052" y="0"/>
                </a:lnTo>
                <a:lnTo>
                  <a:pt x="7238052" y="4822352"/>
                </a:lnTo>
                <a:lnTo>
                  <a:pt x="0" y="4822352"/>
                </a:lnTo>
                <a:lnTo>
                  <a:pt x="0" y="0"/>
                </a:lnTo>
                <a:close/>
              </a:path>
            </a:pathLst>
          </a:custGeom>
          <a:blipFill>
            <a:blip r:embed="rId5"/>
            <a:stretch>
              <a:fillRect l="0" t="0" r="0" b="0"/>
            </a:stretch>
          </a:blipFill>
        </p:spPr>
      </p:sp>
      <p:sp>
        <p:nvSpPr>
          <p:cNvPr name="TextBox 4" id="4"/>
          <p:cNvSpPr txBox="true"/>
          <p:nvPr/>
        </p:nvSpPr>
        <p:spPr>
          <a:xfrm rot="0">
            <a:off x="1274828" y="1287177"/>
            <a:ext cx="6745796" cy="814580"/>
          </a:xfrm>
          <a:prstGeom prst="rect">
            <a:avLst/>
          </a:prstGeom>
        </p:spPr>
        <p:txBody>
          <a:bodyPr anchor="t" rtlCol="false" tIns="0" lIns="0" bIns="0" rIns="0">
            <a:spAutoFit/>
          </a:bodyPr>
          <a:lstStyle/>
          <a:p>
            <a:pPr algn="ctr">
              <a:lnSpc>
                <a:spcPts val="6334"/>
              </a:lnSpc>
            </a:pPr>
            <a:r>
              <a:rPr lang="en-US" b="true" sz="5498">
                <a:solidFill>
                  <a:srgbClr val="1F1F1F"/>
                </a:solidFill>
                <a:latin typeface="Play Bold"/>
                <a:ea typeface="Play Bold"/>
                <a:cs typeface="Play Bold"/>
                <a:sym typeface="Play Bold"/>
              </a:rPr>
              <a:t>Historia</a:t>
            </a:r>
          </a:p>
        </p:txBody>
      </p:sp>
      <p:sp>
        <p:nvSpPr>
          <p:cNvPr name="TextBox 5" id="5"/>
          <p:cNvSpPr txBox="true"/>
          <p:nvPr/>
        </p:nvSpPr>
        <p:spPr>
          <a:xfrm rot="0">
            <a:off x="9729655" y="373984"/>
            <a:ext cx="8142606" cy="9415206"/>
          </a:xfrm>
          <a:prstGeom prst="rect">
            <a:avLst/>
          </a:prstGeom>
        </p:spPr>
        <p:txBody>
          <a:bodyPr anchor="t" rtlCol="false" tIns="0" lIns="0" bIns="0" rIns="0">
            <a:spAutoFit/>
          </a:bodyPr>
          <a:lstStyle/>
          <a:p>
            <a:pPr algn="just">
              <a:lnSpc>
                <a:spcPts val="4778"/>
              </a:lnSpc>
            </a:pPr>
            <a:r>
              <a:rPr lang="en-US" sz="2844">
                <a:solidFill>
                  <a:srgbClr val="FFFFFF"/>
                </a:solidFill>
                <a:latin typeface="Lexend Deca"/>
                <a:ea typeface="Lexend Deca"/>
                <a:cs typeface="Lexend Deca"/>
                <a:sym typeface="Lexend Deca"/>
              </a:rPr>
              <a:t>Nacimiento del Kernel Linux</a:t>
            </a:r>
            <a:r>
              <a:rPr lang="en-US" sz="2844">
                <a:solidFill>
                  <a:srgbClr val="FFFFFF"/>
                </a:solidFill>
                <a:latin typeface="Lexend Deca"/>
                <a:ea typeface="Lexend Deca"/>
                <a:cs typeface="Lexend Deca"/>
                <a:sym typeface="Lexend Deca"/>
              </a:rPr>
              <a:t> (1991)</a:t>
            </a:r>
          </a:p>
          <a:p>
            <a:pPr algn="just">
              <a:lnSpc>
                <a:spcPts val="4778"/>
              </a:lnSpc>
            </a:pPr>
            <a:r>
              <a:rPr lang="en-US" sz="2844">
                <a:solidFill>
                  <a:srgbClr val="FFFFFF"/>
                </a:solidFill>
                <a:latin typeface="Lexend Deca"/>
                <a:ea typeface="Lexend Deca"/>
                <a:cs typeface="Lexend Deca"/>
                <a:sym typeface="Lexend Deca"/>
              </a:rPr>
              <a:t>E</a:t>
            </a:r>
            <a:r>
              <a:rPr lang="en-US" sz="2844">
                <a:solidFill>
                  <a:srgbClr val="FFFFFF"/>
                </a:solidFill>
                <a:latin typeface="Lexend Deca"/>
                <a:ea typeface="Lexend Deca"/>
                <a:cs typeface="Lexend Deca"/>
                <a:sym typeface="Lexend Deca"/>
              </a:rPr>
              <a:t>n 1991, un estudiante finlandés llamado Linus Torvalds desarrolló un pequeño kernel como proyecto personal.</a:t>
            </a:r>
          </a:p>
          <a:p>
            <a:pPr algn="just">
              <a:lnSpc>
                <a:spcPts val="4778"/>
              </a:lnSpc>
            </a:pPr>
            <a:r>
              <a:rPr lang="en-US" sz="2844">
                <a:solidFill>
                  <a:srgbClr val="FFFFFF"/>
                </a:solidFill>
                <a:latin typeface="Lexend Deca"/>
                <a:ea typeface="Lexend Deca"/>
                <a:cs typeface="Lexend Deca"/>
                <a:sym typeface="Lexend Deca"/>
              </a:rPr>
              <a:t>Fecha clave: 25 de agosto de 1991</a:t>
            </a:r>
          </a:p>
          <a:p>
            <a:pPr algn="just">
              <a:lnSpc>
                <a:spcPts val="4778"/>
              </a:lnSpc>
            </a:pPr>
            <a:r>
              <a:rPr lang="en-US" sz="2844">
                <a:solidFill>
                  <a:srgbClr val="FFFFFF"/>
                </a:solidFill>
                <a:latin typeface="Lexend Deca"/>
                <a:ea typeface="Lexend Deca"/>
                <a:cs typeface="Lexend Deca"/>
                <a:sym typeface="Lexend Deca"/>
              </a:rPr>
              <a:t> Publicó en un foro de Usenet que estaba desarrollando:</a:t>
            </a:r>
          </a:p>
          <a:p>
            <a:pPr algn="just">
              <a:lnSpc>
                <a:spcPts val="4778"/>
              </a:lnSpc>
            </a:pPr>
            <a:r>
              <a:rPr lang="en-US" sz="2844">
                <a:solidFill>
                  <a:srgbClr val="FFFFFF"/>
                </a:solidFill>
                <a:latin typeface="Lexend Deca"/>
                <a:ea typeface="Lexend Deca"/>
                <a:cs typeface="Lexend Deca"/>
                <a:sym typeface="Lexend Deca"/>
              </a:rPr>
              <a:t>"Un sistema operativo (solo un hobby, no será grande y profesional como GNU)"</a:t>
            </a:r>
          </a:p>
          <a:p>
            <a:pPr algn="just">
              <a:lnSpc>
                <a:spcPts val="4778"/>
              </a:lnSpc>
            </a:pPr>
            <a:r>
              <a:rPr lang="en-US" sz="2844">
                <a:solidFill>
                  <a:srgbClr val="FFFFFF"/>
                </a:solidFill>
                <a:latin typeface="Lexend Deca"/>
                <a:ea typeface="Lexend Deca"/>
                <a:cs typeface="Lexend Deca"/>
                <a:sym typeface="Lexend Deca"/>
              </a:rPr>
              <a:t>El kernel fue:</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Escrito en C</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Ins</a:t>
            </a:r>
            <a:r>
              <a:rPr lang="en-US" sz="2844">
                <a:solidFill>
                  <a:srgbClr val="FFFFFF"/>
                </a:solidFill>
                <a:latin typeface="Lexend Deca"/>
                <a:ea typeface="Lexend Deca"/>
                <a:cs typeface="Lexend Deca"/>
                <a:sym typeface="Lexend Deca"/>
              </a:rPr>
              <a:t>pirado en MINIX</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Publicado</a:t>
            </a:r>
            <a:r>
              <a:rPr lang="en-US" sz="2844">
                <a:solidFill>
                  <a:srgbClr val="FFFFFF"/>
                </a:solidFill>
                <a:latin typeface="Lexend Deca"/>
                <a:ea typeface="Lexend Deca"/>
                <a:cs typeface="Lexend Deca"/>
                <a:sym typeface="Lexend Deca"/>
              </a:rPr>
              <a:t> bajo lic</a:t>
            </a:r>
            <a:r>
              <a:rPr lang="en-US" sz="2844">
                <a:solidFill>
                  <a:srgbClr val="FFFFFF"/>
                </a:solidFill>
                <a:latin typeface="Lexend Deca"/>
                <a:ea typeface="Lexend Deca"/>
                <a:cs typeface="Lexend Deca"/>
                <a:sym typeface="Lexend Deca"/>
              </a:rPr>
              <a:t>encia GPL</a:t>
            </a:r>
          </a:p>
          <a:p>
            <a:pPr algn="just">
              <a:lnSpc>
                <a:spcPts val="4778"/>
              </a:lnSpc>
            </a:pPr>
            <a:r>
              <a:rPr lang="en-US" sz="2844">
                <a:solidFill>
                  <a:srgbClr val="FFFFFF"/>
                </a:solidFill>
                <a:latin typeface="Lexend Deca"/>
                <a:ea typeface="Lexend Deca"/>
                <a:cs typeface="Lexend Deca"/>
                <a:sym typeface="Lexend Deca"/>
              </a:rPr>
              <a:t>Este kernel se combinó con las herramientas GNU → nace GNU/Linux.</a:t>
            </a:r>
          </a:p>
          <a:p>
            <a:pPr algn="just">
              <a:lnSpc>
                <a:spcPts val="304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9177938" y="-827599"/>
            <a:ext cx="9246041" cy="11381813"/>
          </a:xfrm>
          <a:custGeom>
            <a:avLst/>
            <a:gdLst/>
            <a:ahLst/>
            <a:cxnLst/>
            <a:rect r="r" b="b" t="t" l="l"/>
            <a:pathLst>
              <a:path h="11381813" w="9246041">
                <a:moveTo>
                  <a:pt x="0" y="0"/>
                </a:moveTo>
                <a:lnTo>
                  <a:pt x="9246041" y="0"/>
                </a:lnTo>
                <a:lnTo>
                  <a:pt x="9246041" y="11381813"/>
                </a:lnTo>
                <a:lnTo>
                  <a:pt x="0" y="113818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96273" y="2993656"/>
            <a:ext cx="7181939" cy="4784967"/>
          </a:xfrm>
          <a:custGeom>
            <a:avLst/>
            <a:gdLst/>
            <a:ahLst/>
            <a:cxnLst/>
            <a:rect r="r" b="b" t="t" l="l"/>
            <a:pathLst>
              <a:path h="4784967" w="7181939">
                <a:moveTo>
                  <a:pt x="0" y="0"/>
                </a:moveTo>
                <a:lnTo>
                  <a:pt x="7181939" y="0"/>
                </a:lnTo>
                <a:lnTo>
                  <a:pt x="7181939" y="4784967"/>
                </a:lnTo>
                <a:lnTo>
                  <a:pt x="0" y="4784967"/>
                </a:lnTo>
                <a:lnTo>
                  <a:pt x="0" y="0"/>
                </a:lnTo>
                <a:close/>
              </a:path>
            </a:pathLst>
          </a:custGeom>
          <a:blipFill>
            <a:blip r:embed="rId5"/>
            <a:stretch>
              <a:fillRect l="0" t="0" r="0" b="0"/>
            </a:stretch>
          </a:blipFill>
        </p:spPr>
      </p:sp>
      <p:sp>
        <p:nvSpPr>
          <p:cNvPr name="TextBox 4" id="4"/>
          <p:cNvSpPr txBox="true"/>
          <p:nvPr/>
        </p:nvSpPr>
        <p:spPr>
          <a:xfrm rot="0">
            <a:off x="1014345" y="1446107"/>
            <a:ext cx="6745796" cy="814580"/>
          </a:xfrm>
          <a:prstGeom prst="rect">
            <a:avLst/>
          </a:prstGeom>
        </p:spPr>
        <p:txBody>
          <a:bodyPr anchor="t" rtlCol="false" tIns="0" lIns="0" bIns="0" rIns="0">
            <a:spAutoFit/>
          </a:bodyPr>
          <a:lstStyle/>
          <a:p>
            <a:pPr algn="ctr">
              <a:lnSpc>
                <a:spcPts val="6334"/>
              </a:lnSpc>
            </a:pPr>
            <a:r>
              <a:rPr lang="en-US" b="true" sz="5498">
                <a:solidFill>
                  <a:srgbClr val="1F1F1F"/>
                </a:solidFill>
                <a:latin typeface="Play Bold"/>
                <a:ea typeface="Play Bold"/>
                <a:cs typeface="Play Bold"/>
                <a:sym typeface="Play Bold"/>
              </a:rPr>
              <a:t>Historia</a:t>
            </a:r>
          </a:p>
        </p:txBody>
      </p:sp>
      <p:sp>
        <p:nvSpPr>
          <p:cNvPr name="TextBox 5" id="5"/>
          <p:cNvSpPr txBox="true"/>
          <p:nvPr/>
        </p:nvSpPr>
        <p:spPr>
          <a:xfrm rot="0">
            <a:off x="9729655" y="697225"/>
            <a:ext cx="8142606" cy="8208342"/>
          </a:xfrm>
          <a:prstGeom prst="rect">
            <a:avLst/>
          </a:prstGeom>
        </p:spPr>
        <p:txBody>
          <a:bodyPr anchor="t" rtlCol="false" tIns="0" lIns="0" bIns="0" rIns="0">
            <a:spAutoFit/>
          </a:bodyPr>
          <a:lstStyle/>
          <a:p>
            <a:pPr algn="just">
              <a:lnSpc>
                <a:spcPts val="4778"/>
              </a:lnSpc>
            </a:pPr>
            <a:r>
              <a:rPr lang="en-US" sz="2844">
                <a:solidFill>
                  <a:srgbClr val="FFFFFF"/>
                </a:solidFill>
                <a:latin typeface="Lexend Deca"/>
                <a:ea typeface="Lexend Deca"/>
                <a:cs typeface="Lexend Deca"/>
                <a:sym typeface="Lexend Deca"/>
              </a:rPr>
              <a:t>Crecimiento y Expansión</a:t>
            </a:r>
            <a:r>
              <a:rPr lang="en-US" sz="2844">
                <a:solidFill>
                  <a:srgbClr val="FFFFFF"/>
                </a:solidFill>
                <a:latin typeface="Lexend Deca"/>
                <a:ea typeface="Lexend Deca"/>
                <a:cs typeface="Lexend Deca"/>
                <a:sym typeface="Lexend Deca"/>
              </a:rPr>
              <a:t> (1992–2000)</a:t>
            </a:r>
          </a:p>
          <a:p>
            <a:pPr algn="just">
              <a:lnSpc>
                <a:spcPts val="4778"/>
              </a:lnSpc>
            </a:pPr>
            <a:r>
              <a:rPr lang="en-US" sz="2844">
                <a:solidFill>
                  <a:srgbClr val="FFFFFF"/>
                </a:solidFill>
                <a:latin typeface="Lexend Deca"/>
                <a:ea typeface="Lexend Deca"/>
                <a:cs typeface="Lexend Deca"/>
                <a:sym typeface="Lexend Deca"/>
              </a:rPr>
              <a:t>D</a:t>
            </a:r>
            <a:r>
              <a:rPr lang="en-US" sz="2844">
                <a:solidFill>
                  <a:srgbClr val="FFFFFF"/>
                </a:solidFill>
                <a:latin typeface="Lexend Deca"/>
                <a:ea typeface="Lexend Deca"/>
                <a:cs typeface="Lexend Deca"/>
                <a:sym typeface="Lexend Deca"/>
              </a:rPr>
              <a:t>urante los años 90:</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Se publica bajo licencia GPL</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La comunidad comienza a colaborar</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Surgen las primeras distribuciones:</a:t>
            </a:r>
          </a:p>
          <a:p>
            <a:pPr algn="just" marL="1228209" indent="-409403" lvl="2">
              <a:lnSpc>
                <a:spcPts val="4778"/>
              </a:lnSpc>
              <a:buFont typeface="Arial"/>
              <a:buChar char="⚬"/>
            </a:pPr>
            <a:r>
              <a:rPr lang="en-US" sz="2844">
                <a:solidFill>
                  <a:srgbClr val="FFFFFF"/>
                </a:solidFill>
                <a:latin typeface="Lexend Deca"/>
                <a:ea typeface="Lexend Deca"/>
                <a:cs typeface="Lexend Deca"/>
                <a:sym typeface="Lexend Deca"/>
              </a:rPr>
              <a:t>Sl</a:t>
            </a:r>
            <a:r>
              <a:rPr lang="en-US" sz="2844">
                <a:solidFill>
                  <a:srgbClr val="FFFFFF"/>
                </a:solidFill>
                <a:latin typeface="Lexend Deca"/>
                <a:ea typeface="Lexend Deca"/>
                <a:cs typeface="Lexend Deca"/>
                <a:sym typeface="Lexend Deca"/>
              </a:rPr>
              <a:t>ackware (1993)</a:t>
            </a:r>
          </a:p>
          <a:p>
            <a:pPr algn="just" marL="1228209" indent="-409403" lvl="2">
              <a:lnSpc>
                <a:spcPts val="4778"/>
              </a:lnSpc>
              <a:buFont typeface="Arial"/>
              <a:buChar char="⚬"/>
            </a:pPr>
            <a:r>
              <a:rPr lang="en-US" sz="2844">
                <a:solidFill>
                  <a:srgbClr val="FFFFFF"/>
                </a:solidFill>
                <a:latin typeface="Lexend Deca"/>
                <a:ea typeface="Lexend Deca"/>
                <a:cs typeface="Lexend Deca"/>
                <a:sym typeface="Lexend Deca"/>
              </a:rPr>
              <a:t>Debian (1993)</a:t>
            </a:r>
          </a:p>
          <a:p>
            <a:pPr algn="just" marL="1228209" indent="-409403" lvl="2">
              <a:lnSpc>
                <a:spcPts val="4778"/>
              </a:lnSpc>
              <a:buFont typeface="Arial"/>
              <a:buChar char="⚬"/>
            </a:pPr>
            <a:r>
              <a:rPr lang="en-US" sz="2844">
                <a:solidFill>
                  <a:srgbClr val="FFFFFF"/>
                </a:solidFill>
                <a:latin typeface="Lexend Deca"/>
                <a:ea typeface="Lexend Deca"/>
                <a:cs typeface="Lexend Deca"/>
                <a:sym typeface="Lexend Deca"/>
              </a:rPr>
              <a:t>Red Hat (1994)</a:t>
            </a:r>
          </a:p>
          <a:p>
            <a:pPr algn="just">
              <a:lnSpc>
                <a:spcPts val="4778"/>
              </a:lnSpc>
            </a:pPr>
            <a:r>
              <a:rPr lang="en-US" sz="2844">
                <a:solidFill>
                  <a:srgbClr val="FFFFFF"/>
                </a:solidFill>
                <a:latin typeface="Lexend Deca"/>
                <a:ea typeface="Lexend Deca"/>
                <a:cs typeface="Lexend Deca"/>
                <a:sym typeface="Lexend Deca"/>
              </a:rPr>
              <a:t>L</a:t>
            </a:r>
            <a:r>
              <a:rPr lang="en-US" sz="2844">
                <a:solidFill>
                  <a:srgbClr val="FFFFFF"/>
                </a:solidFill>
                <a:latin typeface="Lexend Deca"/>
                <a:ea typeface="Lexend Deca"/>
                <a:cs typeface="Lexend Deca"/>
                <a:sym typeface="Lexend Deca"/>
              </a:rPr>
              <a:t>inux empieza a utilizarse en:</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S</a:t>
            </a:r>
            <a:r>
              <a:rPr lang="en-US" sz="2844">
                <a:solidFill>
                  <a:srgbClr val="FFFFFF"/>
                </a:solidFill>
                <a:latin typeface="Lexend Deca"/>
                <a:ea typeface="Lexend Deca"/>
                <a:cs typeface="Lexend Deca"/>
                <a:sym typeface="Lexend Deca"/>
              </a:rPr>
              <a:t>ervidores</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Universidades</a:t>
            </a:r>
          </a:p>
          <a:p>
            <a:pPr algn="just" marL="614105" indent="-307052" lvl="1">
              <a:lnSpc>
                <a:spcPts val="4778"/>
              </a:lnSpc>
              <a:buFont typeface="Arial"/>
              <a:buChar char="•"/>
            </a:pPr>
            <a:r>
              <a:rPr lang="en-US" sz="2844">
                <a:solidFill>
                  <a:srgbClr val="FFFFFF"/>
                </a:solidFill>
                <a:latin typeface="Lexend Deca"/>
                <a:ea typeface="Lexend Deca"/>
                <a:cs typeface="Lexend Deca"/>
                <a:sym typeface="Lexend Deca"/>
              </a:rPr>
              <a:t>C</a:t>
            </a:r>
            <a:r>
              <a:rPr lang="en-US" sz="2844">
                <a:solidFill>
                  <a:srgbClr val="FFFFFF"/>
                </a:solidFill>
                <a:latin typeface="Lexend Deca"/>
                <a:ea typeface="Lexend Deca"/>
                <a:cs typeface="Lexend Deca"/>
                <a:sym typeface="Lexend Deca"/>
              </a:rPr>
              <a:t>entros de i</a:t>
            </a:r>
            <a:r>
              <a:rPr lang="en-US" sz="2844">
                <a:solidFill>
                  <a:srgbClr val="FFFFFF"/>
                </a:solidFill>
                <a:latin typeface="Lexend Deca"/>
                <a:ea typeface="Lexend Deca"/>
                <a:cs typeface="Lexend Deca"/>
                <a:sym typeface="Lexend Deca"/>
              </a:rPr>
              <a:t>nvest</a:t>
            </a:r>
            <a:r>
              <a:rPr lang="en-US" sz="2844">
                <a:solidFill>
                  <a:srgbClr val="FFFFFF"/>
                </a:solidFill>
                <a:latin typeface="Lexend Deca"/>
                <a:ea typeface="Lexend Deca"/>
                <a:cs typeface="Lexend Deca"/>
                <a:sym typeface="Lexend Deca"/>
              </a:rPr>
              <a:t>igación</a:t>
            </a:r>
          </a:p>
          <a:p>
            <a:pPr algn="just">
              <a:lnSpc>
                <a:spcPts val="4778"/>
              </a:lnSpc>
            </a:pPr>
            <a:r>
              <a:rPr lang="en-US" sz="2844">
                <a:solidFill>
                  <a:srgbClr val="FFFFFF"/>
                </a:solidFill>
                <a:latin typeface="Lexend Deca"/>
                <a:ea typeface="Lexend Deca"/>
                <a:cs typeface="Lexend Deca"/>
                <a:sym typeface="Lexend Deca"/>
              </a:rPr>
              <a:t>Modelo</a:t>
            </a:r>
            <a:r>
              <a:rPr lang="en-US" sz="2844">
                <a:solidFill>
                  <a:srgbClr val="FFFFFF"/>
                </a:solidFill>
                <a:latin typeface="Lexend Deca"/>
                <a:ea typeface="Lexend Deca"/>
                <a:cs typeface="Lexend Deca"/>
                <a:sym typeface="Lexend Deca"/>
              </a:rPr>
              <a:t> cl</a:t>
            </a:r>
            <a:r>
              <a:rPr lang="en-US" sz="2844">
                <a:solidFill>
                  <a:srgbClr val="FFFFFF"/>
                </a:solidFill>
                <a:latin typeface="Lexend Deca"/>
                <a:ea typeface="Lexend Deca"/>
                <a:cs typeface="Lexend Deca"/>
                <a:sym typeface="Lexend Deca"/>
              </a:rPr>
              <a:t>ave: Desarrollo colaborativo global.</a:t>
            </a:r>
          </a:p>
          <a:p>
            <a:pPr algn="just">
              <a:lnSpc>
                <a:spcPts val="304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10305151" y="2678067"/>
            <a:ext cx="7400923" cy="4930865"/>
          </a:xfrm>
          <a:custGeom>
            <a:avLst/>
            <a:gdLst/>
            <a:ahLst/>
            <a:cxnLst/>
            <a:rect r="r" b="b" t="t" l="l"/>
            <a:pathLst>
              <a:path h="4930865" w="7400923">
                <a:moveTo>
                  <a:pt x="0" y="0"/>
                </a:moveTo>
                <a:lnTo>
                  <a:pt x="7400923" y="0"/>
                </a:lnTo>
                <a:lnTo>
                  <a:pt x="7400923" y="4930866"/>
                </a:lnTo>
                <a:lnTo>
                  <a:pt x="0" y="4930866"/>
                </a:lnTo>
                <a:lnTo>
                  <a:pt x="0" y="0"/>
                </a:lnTo>
                <a:close/>
              </a:path>
            </a:pathLst>
          </a:custGeom>
          <a:blipFill>
            <a:blip r:embed="rId3"/>
            <a:stretch>
              <a:fillRect l="0" t="0" r="0" b="0"/>
            </a:stretch>
          </a:blipFill>
        </p:spPr>
      </p:sp>
      <p:sp>
        <p:nvSpPr>
          <p:cNvPr name="TextBox 3" id="3"/>
          <p:cNvSpPr txBox="true"/>
          <p:nvPr/>
        </p:nvSpPr>
        <p:spPr>
          <a:xfrm rot="0">
            <a:off x="10632714" y="1290499"/>
            <a:ext cx="6745796" cy="814580"/>
          </a:xfrm>
          <a:prstGeom prst="rect">
            <a:avLst/>
          </a:prstGeom>
        </p:spPr>
        <p:txBody>
          <a:bodyPr anchor="t" rtlCol="false" tIns="0" lIns="0" bIns="0" rIns="0">
            <a:spAutoFit/>
          </a:bodyPr>
          <a:lstStyle/>
          <a:p>
            <a:pPr algn="ctr">
              <a:lnSpc>
                <a:spcPts val="6334"/>
              </a:lnSpc>
            </a:pPr>
            <a:r>
              <a:rPr lang="en-US" b="true" sz="5498">
                <a:solidFill>
                  <a:srgbClr val="1F1F1F"/>
                </a:solidFill>
                <a:latin typeface="Play Bold"/>
                <a:ea typeface="Play Bold"/>
                <a:cs typeface="Play Bold"/>
                <a:sym typeface="Play Bold"/>
              </a:rPr>
              <a:t>Historia</a:t>
            </a:r>
          </a:p>
        </p:txBody>
      </p:sp>
      <p:sp>
        <p:nvSpPr>
          <p:cNvPr name="Freeform 4" id="4"/>
          <p:cNvSpPr/>
          <p:nvPr/>
        </p:nvSpPr>
        <p:spPr>
          <a:xfrm flipH="false" flipV="false" rot="0">
            <a:off x="566516" y="-547407"/>
            <a:ext cx="9246041" cy="11381813"/>
          </a:xfrm>
          <a:custGeom>
            <a:avLst/>
            <a:gdLst/>
            <a:ahLst/>
            <a:cxnLst/>
            <a:rect r="r" b="b" t="t" l="l"/>
            <a:pathLst>
              <a:path h="11381813" w="9246041">
                <a:moveTo>
                  <a:pt x="0" y="0"/>
                </a:moveTo>
                <a:lnTo>
                  <a:pt x="9246041" y="0"/>
                </a:lnTo>
                <a:lnTo>
                  <a:pt x="9246041" y="11381814"/>
                </a:lnTo>
                <a:lnTo>
                  <a:pt x="0" y="11381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692281" y="1261497"/>
            <a:ext cx="8842111" cy="7659231"/>
          </a:xfrm>
          <a:prstGeom prst="rect">
            <a:avLst/>
          </a:prstGeom>
        </p:spPr>
        <p:txBody>
          <a:bodyPr anchor="t" rtlCol="false" tIns="0" lIns="0" bIns="0" rIns="0">
            <a:spAutoFit/>
          </a:bodyPr>
          <a:lstStyle/>
          <a:p>
            <a:pPr algn="just" marL="457620" indent="-228810" lvl="1">
              <a:lnSpc>
                <a:spcPts val="3560"/>
              </a:lnSpc>
              <a:spcBef>
                <a:spcPct val="0"/>
              </a:spcBef>
              <a:buFont typeface="Arial"/>
              <a:buChar char="•"/>
            </a:pPr>
            <a:r>
              <a:rPr lang="en-US" sz="2119" strike="noStrike" u="none">
                <a:solidFill>
                  <a:srgbClr val="FFFFFF"/>
                </a:solidFill>
                <a:latin typeface="Arial"/>
                <a:ea typeface="Arial"/>
                <a:cs typeface="Arial"/>
                <a:sym typeface="Arial"/>
              </a:rPr>
              <a:t>En el siglo XXI, Linux se ha consolidado como la base tecnológica de la sociedad digital, evolucionando desde un núcleo de código abierto hasta convertirse en el estándar de facto para la infraestructura crítica mundial. Su predominio es total en el ámbito de la supercomputación y masivo en los servidores web y la arquitectura de la nube, donde permite la escalabilidad de servicios globales en plataformas como AWS y GCP.</a:t>
            </a:r>
          </a:p>
          <a:p>
            <a:pPr algn="just">
              <a:lnSpc>
                <a:spcPts val="3560"/>
              </a:lnSpc>
              <a:spcBef>
                <a:spcPct val="0"/>
              </a:spcBef>
            </a:pPr>
          </a:p>
          <a:p>
            <a:pPr algn="just" marL="457620" indent="-228810" lvl="1">
              <a:lnSpc>
                <a:spcPts val="3560"/>
              </a:lnSpc>
              <a:spcBef>
                <a:spcPct val="0"/>
              </a:spcBef>
              <a:buFont typeface="Arial"/>
              <a:buChar char="•"/>
            </a:pPr>
            <a:r>
              <a:rPr lang="en-US" sz="2119" strike="noStrike" u="none">
                <a:solidFill>
                  <a:srgbClr val="FFFFFF"/>
                </a:solidFill>
                <a:latin typeface="Arial"/>
                <a:ea typeface="Arial"/>
                <a:cs typeface="Arial"/>
                <a:sym typeface="Arial"/>
              </a:rPr>
              <a:t> Al ser el núcleo de Android y el motor detrás de la revolución de los contenedores con Docker y Kubernetes, Linux facilita tanto la movilidad personal como la agilidad empresarial. Este ecosistema ha impulsado a gigantes como Microsoft e IBM a integrarlo en el corazón de sus estrategias, demostrando que su flexibilidad, seguridad y modelo colaborativo son indispensables para el desarrollo de la inteligencia artificial, el procesamiento de datos masivos y la transformación digital contemporánea a nivel global.</a:t>
            </a:r>
          </a:p>
          <a:p>
            <a:pPr algn="just">
              <a:lnSpc>
                <a:spcPts val="356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12151"/>
            <a:ext cx="15858486" cy="8662698"/>
          </a:xfrm>
          <a:custGeom>
            <a:avLst/>
            <a:gdLst/>
            <a:ahLst/>
            <a:cxnLst/>
            <a:rect r="r" b="b" t="t" l="l"/>
            <a:pathLst>
              <a:path h="8662698" w="15858486">
                <a:moveTo>
                  <a:pt x="0" y="0"/>
                </a:moveTo>
                <a:lnTo>
                  <a:pt x="15858486" y="0"/>
                </a:lnTo>
                <a:lnTo>
                  <a:pt x="15858486" y="8662698"/>
                </a:lnTo>
                <a:lnTo>
                  <a:pt x="0" y="8662698"/>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361274" y="-789537"/>
            <a:ext cx="19344570" cy="4437250"/>
          </a:xfrm>
          <a:custGeom>
            <a:avLst/>
            <a:gdLst/>
            <a:ahLst/>
            <a:cxnLst/>
            <a:rect r="r" b="b" t="t" l="l"/>
            <a:pathLst>
              <a:path h="4437250" w="19344570">
                <a:moveTo>
                  <a:pt x="0" y="0"/>
                </a:moveTo>
                <a:lnTo>
                  <a:pt x="19344570" y="0"/>
                </a:lnTo>
                <a:lnTo>
                  <a:pt x="19344570" y="4437250"/>
                </a:lnTo>
                <a:lnTo>
                  <a:pt x="0" y="44372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2409930" y="1209675"/>
            <a:ext cx="13333867" cy="1876425"/>
          </a:xfrm>
          <a:prstGeom prst="rect">
            <a:avLst/>
          </a:prstGeom>
        </p:spPr>
        <p:txBody>
          <a:bodyPr anchor="t" rtlCol="false" tIns="0" lIns="0" bIns="0" rIns="0">
            <a:spAutoFit/>
          </a:bodyPr>
          <a:lstStyle/>
          <a:p>
            <a:pPr algn="ctr">
              <a:lnSpc>
                <a:spcPts val="8640"/>
              </a:lnSpc>
            </a:pPr>
            <a:r>
              <a:rPr lang="en-US" sz="7500">
                <a:solidFill>
                  <a:srgbClr val="FFFFFF"/>
                </a:solidFill>
                <a:latin typeface="Play"/>
                <a:ea typeface="Play"/>
                <a:cs typeface="Play"/>
                <a:sym typeface="Play"/>
              </a:rPr>
              <a:t>ELEMENTOS CLAVE DE LA ARQUITECTURA DE LINUX</a:t>
            </a:r>
          </a:p>
        </p:txBody>
      </p:sp>
      <p:sp>
        <p:nvSpPr>
          <p:cNvPr name="Freeform 4" id="4"/>
          <p:cNvSpPr/>
          <p:nvPr/>
        </p:nvSpPr>
        <p:spPr>
          <a:xfrm flipH="false" flipV="false" rot="0">
            <a:off x="12233710" y="4232710"/>
            <a:ext cx="5025590" cy="5025590"/>
          </a:xfrm>
          <a:custGeom>
            <a:avLst/>
            <a:gdLst/>
            <a:ahLst/>
            <a:cxnLst/>
            <a:rect r="r" b="b" t="t" l="l"/>
            <a:pathLst>
              <a:path h="5025590" w="5025590">
                <a:moveTo>
                  <a:pt x="0" y="0"/>
                </a:moveTo>
                <a:lnTo>
                  <a:pt x="5025590" y="0"/>
                </a:lnTo>
                <a:lnTo>
                  <a:pt x="5025590" y="5025590"/>
                </a:lnTo>
                <a:lnTo>
                  <a:pt x="0" y="50255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139016" y="5617826"/>
            <a:ext cx="4233967" cy="4233967"/>
          </a:xfrm>
          <a:custGeom>
            <a:avLst/>
            <a:gdLst/>
            <a:ahLst/>
            <a:cxnLst/>
            <a:rect r="r" b="b" t="t" l="l"/>
            <a:pathLst>
              <a:path h="4233967" w="4233967">
                <a:moveTo>
                  <a:pt x="0" y="0"/>
                </a:moveTo>
                <a:lnTo>
                  <a:pt x="4233967" y="0"/>
                </a:lnTo>
                <a:lnTo>
                  <a:pt x="4233967" y="4233967"/>
                </a:lnTo>
                <a:lnTo>
                  <a:pt x="0" y="42339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7604389" y="6087885"/>
            <a:ext cx="3303222" cy="448075"/>
          </a:xfrm>
          <a:prstGeom prst="rect">
            <a:avLst/>
          </a:prstGeom>
        </p:spPr>
        <p:txBody>
          <a:bodyPr anchor="t" rtlCol="false" tIns="0" lIns="0" bIns="0" rIns="0">
            <a:spAutoFit/>
          </a:bodyPr>
          <a:lstStyle/>
          <a:p>
            <a:pPr algn="ctr">
              <a:lnSpc>
                <a:spcPts val="3775"/>
              </a:lnSpc>
            </a:pPr>
            <a:r>
              <a:rPr lang="en-US" sz="2711">
                <a:solidFill>
                  <a:srgbClr val="31356E"/>
                </a:solidFill>
                <a:latin typeface="Lexend Deca"/>
                <a:ea typeface="Lexend Deca"/>
                <a:cs typeface="Lexend Deca"/>
                <a:sym typeface="Lexend Deca"/>
              </a:rPr>
              <a:t>Shell</a:t>
            </a:r>
          </a:p>
        </p:txBody>
      </p:sp>
      <p:sp>
        <p:nvSpPr>
          <p:cNvPr name="Freeform 7" id="7"/>
          <p:cNvSpPr/>
          <p:nvPr/>
        </p:nvSpPr>
        <p:spPr>
          <a:xfrm flipH="false" flipV="false" rot="0">
            <a:off x="1028700" y="4043020"/>
            <a:ext cx="5025590" cy="5025590"/>
          </a:xfrm>
          <a:custGeom>
            <a:avLst/>
            <a:gdLst/>
            <a:ahLst/>
            <a:cxnLst/>
            <a:rect r="r" b="b" t="t" l="l"/>
            <a:pathLst>
              <a:path h="5025590" w="5025590">
                <a:moveTo>
                  <a:pt x="0" y="0"/>
                </a:moveTo>
                <a:lnTo>
                  <a:pt x="5025590" y="0"/>
                </a:lnTo>
                <a:lnTo>
                  <a:pt x="5025590" y="5025590"/>
                </a:lnTo>
                <a:lnTo>
                  <a:pt x="0" y="50255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253333" y="4521741"/>
            <a:ext cx="4576324" cy="501015"/>
          </a:xfrm>
          <a:prstGeom prst="rect">
            <a:avLst/>
          </a:prstGeom>
        </p:spPr>
        <p:txBody>
          <a:bodyPr anchor="t" rtlCol="false" tIns="0" lIns="0" bIns="0" rIns="0">
            <a:spAutoFit/>
          </a:bodyPr>
          <a:lstStyle/>
          <a:p>
            <a:pPr algn="ctr">
              <a:lnSpc>
                <a:spcPts val="4174"/>
              </a:lnSpc>
            </a:pPr>
            <a:r>
              <a:rPr lang="en-US" sz="3000">
                <a:solidFill>
                  <a:srgbClr val="FFFFFF"/>
                </a:solidFill>
                <a:latin typeface="Lexend Deca"/>
                <a:ea typeface="Lexend Deca"/>
                <a:cs typeface="Lexend Deca"/>
                <a:sym typeface="Lexend Deca"/>
              </a:rPr>
              <a:t>Kernel</a:t>
            </a:r>
          </a:p>
        </p:txBody>
      </p:sp>
      <p:sp>
        <p:nvSpPr>
          <p:cNvPr name="TextBox 9" id="9"/>
          <p:cNvSpPr txBox="true"/>
          <p:nvPr/>
        </p:nvSpPr>
        <p:spPr>
          <a:xfrm rot="0">
            <a:off x="12457719" y="4956081"/>
            <a:ext cx="4577696" cy="472650"/>
          </a:xfrm>
          <a:prstGeom prst="rect">
            <a:avLst/>
          </a:prstGeom>
        </p:spPr>
        <p:txBody>
          <a:bodyPr anchor="t" rtlCol="false" tIns="0" lIns="0" bIns="0" rIns="0">
            <a:spAutoFit/>
          </a:bodyPr>
          <a:lstStyle/>
          <a:p>
            <a:pPr algn="ctr">
              <a:lnSpc>
                <a:spcPts val="3757"/>
              </a:lnSpc>
            </a:pPr>
            <a:r>
              <a:rPr lang="en-US" sz="2700">
                <a:solidFill>
                  <a:srgbClr val="FFFFFF"/>
                </a:solidFill>
                <a:latin typeface="Lexend Deca"/>
                <a:ea typeface="Lexend Deca"/>
                <a:cs typeface="Lexend Deca"/>
                <a:sym typeface="Lexend Deca"/>
              </a:rPr>
              <a:t>Servicios y Bibliotecas</a:t>
            </a:r>
          </a:p>
        </p:txBody>
      </p:sp>
      <p:sp>
        <p:nvSpPr>
          <p:cNvPr name="TextBox 10" id="10"/>
          <p:cNvSpPr txBox="true"/>
          <p:nvPr/>
        </p:nvSpPr>
        <p:spPr>
          <a:xfrm rot="0">
            <a:off x="1490105" y="5069247"/>
            <a:ext cx="4102770" cy="3041981"/>
          </a:xfrm>
          <a:prstGeom prst="rect">
            <a:avLst/>
          </a:prstGeom>
        </p:spPr>
        <p:txBody>
          <a:bodyPr anchor="t" rtlCol="false" tIns="0" lIns="0" bIns="0" rIns="0">
            <a:spAutoFit/>
          </a:bodyPr>
          <a:lstStyle/>
          <a:p>
            <a:pPr algn="ctr">
              <a:lnSpc>
                <a:spcPts val="3061"/>
              </a:lnSpc>
            </a:pPr>
            <a:r>
              <a:rPr lang="en-US" sz="2199">
                <a:solidFill>
                  <a:srgbClr val="FFFFFF"/>
                </a:solidFill>
                <a:latin typeface="Lexend Deca"/>
                <a:ea typeface="Lexend Deca"/>
                <a:cs typeface="Lexend Deca"/>
                <a:sym typeface="Lexend Deca"/>
              </a:rPr>
              <a:t>El núcleo o kernel de Linux es el componente central del sistema operativo, responsable del control y la gestión de los recursos del hardware, así como de la comunicación entre el software y el hardware.</a:t>
            </a:r>
          </a:p>
        </p:txBody>
      </p:sp>
      <p:sp>
        <p:nvSpPr>
          <p:cNvPr name="TextBox 11" id="11"/>
          <p:cNvSpPr txBox="true"/>
          <p:nvPr/>
        </p:nvSpPr>
        <p:spPr>
          <a:xfrm rot="0">
            <a:off x="7517101" y="6656451"/>
            <a:ext cx="3653104" cy="2845803"/>
          </a:xfrm>
          <a:prstGeom prst="rect">
            <a:avLst/>
          </a:prstGeom>
        </p:spPr>
        <p:txBody>
          <a:bodyPr anchor="t" rtlCol="false" tIns="0" lIns="0" bIns="0" rIns="0">
            <a:spAutoFit/>
          </a:bodyPr>
          <a:lstStyle/>
          <a:p>
            <a:pPr algn="ctr">
              <a:lnSpc>
                <a:spcPts val="2783"/>
              </a:lnSpc>
            </a:pPr>
            <a:r>
              <a:rPr lang="en-US" sz="2000">
                <a:solidFill>
                  <a:srgbClr val="31356E"/>
                </a:solidFill>
                <a:latin typeface="Lexend Deca"/>
                <a:ea typeface="Lexend Deca"/>
                <a:cs typeface="Lexend Deca"/>
                <a:sym typeface="Lexend Deca"/>
              </a:rPr>
              <a:t>La shell de Linux, también conocida como intérprete de comandos, es la interfaz de usuario que permite a los usuarios interactuar con el sistema operativo a través de comandos y scripts.</a:t>
            </a:r>
          </a:p>
          <a:p>
            <a:pPr algn="ctr">
              <a:lnSpc>
                <a:spcPts val="2288"/>
              </a:lnSpc>
            </a:pPr>
          </a:p>
        </p:txBody>
      </p:sp>
      <p:sp>
        <p:nvSpPr>
          <p:cNvPr name="TextBox 12" id="12"/>
          <p:cNvSpPr txBox="true"/>
          <p:nvPr/>
        </p:nvSpPr>
        <p:spPr>
          <a:xfrm rot="0">
            <a:off x="12632998" y="5503606"/>
            <a:ext cx="4227004" cy="3134620"/>
          </a:xfrm>
          <a:prstGeom prst="rect">
            <a:avLst/>
          </a:prstGeom>
        </p:spPr>
        <p:txBody>
          <a:bodyPr anchor="t" rtlCol="false" tIns="0" lIns="0" bIns="0" rIns="0">
            <a:spAutoFit/>
          </a:bodyPr>
          <a:lstStyle/>
          <a:p>
            <a:pPr algn="ctr">
              <a:lnSpc>
                <a:spcPts val="3061"/>
              </a:lnSpc>
            </a:pPr>
            <a:r>
              <a:rPr lang="en-US" sz="2199">
                <a:solidFill>
                  <a:srgbClr val="FFFFFF"/>
                </a:solidFill>
                <a:latin typeface="Lexend Deca"/>
                <a:ea typeface="Lexend Deca"/>
                <a:cs typeface="Lexend Deca"/>
                <a:sym typeface="Lexend Deca"/>
              </a:rPr>
              <a:t>Linux cuenta con una amplia variedad de servicios y bibliotecas que brindan funcionalidades específicas, como la gestión de archivos, la red, la seguridad y la interoperabilidad con otros sistemas.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361274" y="-789537"/>
            <a:ext cx="18649274" cy="11381927"/>
          </a:xfrm>
          <a:custGeom>
            <a:avLst/>
            <a:gdLst/>
            <a:ahLst/>
            <a:cxnLst/>
            <a:rect r="r" b="b" t="t" l="l"/>
            <a:pathLst>
              <a:path h="11381927" w="18649274">
                <a:moveTo>
                  <a:pt x="0" y="0"/>
                </a:moveTo>
                <a:lnTo>
                  <a:pt x="18649274" y="0"/>
                </a:lnTo>
                <a:lnTo>
                  <a:pt x="18649274" y="11381928"/>
                </a:lnTo>
                <a:lnTo>
                  <a:pt x="0" y="113819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616753" y="2935548"/>
            <a:ext cx="8527180" cy="7351414"/>
          </a:xfrm>
          <a:custGeom>
            <a:avLst/>
            <a:gdLst/>
            <a:ahLst/>
            <a:cxnLst/>
            <a:rect r="r" b="b" t="t" l="l"/>
            <a:pathLst>
              <a:path h="7351414" w="8527180">
                <a:moveTo>
                  <a:pt x="0" y="0"/>
                </a:moveTo>
                <a:lnTo>
                  <a:pt x="8527180" y="0"/>
                </a:lnTo>
                <a:lnTo>
                  <a:pt x="8527180" y="7351414"/>
                </a:lnTo>
                <a:lnTo>
                  <a:pt x="0" y="73514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028700" y="575653"/>
            <a:ext cx="16230600" cy="2187826"/>
          </a:xfrm>
          <a:prstGeom prst="rect">
            <a:avLst/>
          </a:prstGeom>
        </p:spPr>
        <p:txBody>
          <a:bodyPr anchor="t" rtlCol="false" tIns="0" lIns="0" bIns="0" rIns="0">
            <a:spAutoFit/>
          </a:bodyPr>
          <a:lstStyle/>
          <a:p>
            <a:pPr algn="ctr">
              <a:lnSpc>
                <a:spcPts val="8640"/>
              </a:lnSpc>
            </a:pPr>
            <a:r>
              <a:rPr lang="en-US" sz="7500">
                <a:solidFill>
                  <a:srgbClr val="FFFFFF"/>
                </a:solidFill>
                <a:latin typeface="Play"/>
                <a:ea typeface="Play"/>
                <a:cs typeface="Play"/>
                <a:sym typeface="Play"/>
              </a:rPr>
              <a:t>KERNEL DE LINUX: FUNCIONES Y COMPONENTES</a:t>
            </a:r>
          </a:p>
        </p:txBody>
      </p:sp>
      <p:sp>
        <p:nvSpPr>
          <p:cNvPr name="TextBox 5" id="5"/>
          <p:cNvSpPr txBox="true"/>
          <p:nvPr/>
        </p:nvSpPr>
        <p:spPr>
          <a:xfrm rot="0">
            <a:off x="1028700" y="3261531"/>
            <a:ext cx="7618247" cy="5683253"/>
          </a:xfrm>
          <a:prstGeom prst="rect">
            <a:avLst/>
          </a:prstGeom>
        </p:spPr>
        <p:txBody>
          <a:bodyPr anchor="t" rtlCol="false" tIns="0" lIns="0" bIns="0" rIns="0">
            <a:spAutoFit/>
          </a:bodyPr>
          <a:lstStyle/>
          <a:p>
            <a:pPr algn="just">
              <a:lnSpc>
                <a:spcPts val="5040"/>
              </a:lnSpc>
            </a:pPr>
            <a:r>
              <a:rPr lang="en-US" sz="3000">
                <a:solidFill>
                  <a:srgbClr val="000000"/>
                </a:solidFill>
                <a:latin typeface="Lexend Deca"/>
                <a:ea typeface="Lexend Deca"/>
                <a:cs typeface="Lexend Deca"/>
                <a:sym typeface="Lexend Deca"/>
              </a:rPr>
              <a:t>Gestión de Procesos:</a:t>
            </a:r>
          </a:p>
          <a:p>
            <a:pPr algn="just">
              <a:lnSpc>
                <a:spcPts val="4198"/>
              </a:lnSpc>
            </a:pPr>
            <a:r>
              <a:rPr lang="en-US" sz="2499">
                <a:solidFill>
                  <a:srgbClr val="31356E"/>
                </a:solidFill>
                <a:latin typeface="Lexend Deca"/>
                <a:ea typeface="Lexend Deca"/>
                <a:cs typeface="Lexend Deca"/>
                <a:sym typeface="Lexend Deca"/>
              </a:rPr>
              <a:t>El kernel de Linux es responsable de la creación, planificación, ejecución y finalización de los procesos, asegurando un uso eficiente de los recursos del sistema.</a:t>
            </a:r>
          </a:p>
          <a:p>
            <a:pPr algn="just">
              <a:lnSpc>
                <a:spcPts val="2823"/>
              </a:lnSpc>
            </a:pPr>
          </a:p>
          <a:p>
            <a:pPr algn="just">
              <a:lnSpc>
                <a:spcPts val="5040"/>
              </a:lnSpc>
            </a:pPr>
            <a:r>
              <a:rPr lang="en-US" sz="3000">
                <a:solidFill>
                  <a:srgbClr val="000000"/>
                </a:solidFill>
                <a:latin typeface="Lexend Deca"/>
                <a:ea typeface="Lexend Deca"/>
                <a:cs typeface="Lexend Deca"/>
                <a:sym typeface="Lexend Deca"/>
              </a:rPr>
              <a:t>Manejo de Dispositivos:</a:t>
            </a:r>
          </a:p>
          <a:p>
            <a:pPr algn="just">
              <a:lnSpc>
                <a:spcPts val="4198"/>
              </a:lnSpc>
            </a:pPr>
            <a:r>
              <a:rPr lang="en-US" sz="2499">
                <a:solidFill>
                  <a:srgbClr val="31356E"/>
                </a:solidFill>
                <a:latin typeface="Lexend Deca"/>
                <a:ea typeface="Lexend Deca"/>
                <a:cs typeface="Lexend Deca"/>
                <a:sym typeface="Lexend Deca"/>
              </a:rPr>
              <a:t>El kernel proporciona una interfaz unificada para que los programas interactúen con los dispositivos de hardware, ya sean internos o periféricos, a través de los controladores de dispositivo.</a:t>
            </a:r>
          </a:p>
        </p:txBody>
      </p:sp>
      <p:sp>
        <p:nvSpPr>
          <p:cNvPr name="Freeform 6" id="6"/>
          <p:cNvSpPr/>
          <p:nvPr/>
        </p:nvSpPr>
        <p:spPr>
          <a:xfrm flipH="false" flipV="false" rot="0">
            <a:off x="9544745" y="2969304"/>
            <a:ext cx="7714469" cy="7094782"/>
          </a:xfrm>
          <a:custGeom>
            <a:avLst/>
            <a:gdLst/>
            <a:ahLst/>
            <a:cxnLst/>
            <a:rect r="r" b="b" t="t" l="l"/>
            <a:pathLst>
              <a:path h="7094782" w="7714469">
                <a:moveTo>
                  <a:pt x="0" y="0"/>
                </a:moveTo>
                <a:lnTo>
                  <a:pt x="7714469" y="0"/>
                </a:lnTo>
                <a:lnTo>
                  <a:pt x="7714469" y="7094782"/>
                </a:lnTo>
                <a:lnTo>
                  <a:pt x="0" y="709478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9976295" y="3290106"/>
            <a:ext cx="6795554" cy="5486733"/>
          </a:xfrm>
          <a:prstGeom prst="rect">
            <a:avLst/>
          </a:prstGeom>
        </p:spPr>
        <p:txBody>
          <a:bodyPr anchor="t" rtlCol="false" tIns="0" lIns="0" bIns="0" rIns="0">
            <a:spAutoFit/>
          </a:bodyPr>
          <a:lstStyle/>
          <a:p>
            <a:pPr algn="just">
              <a:lnSpc>
                <a:spcPts val="4575"/>
              </a:lnSpc>
            </a:pPr>
            <a:r>
              <a:rPr lang="en-US" sz="2722">
                <a:solidFill>
                  <a:srgbClr val="000000"/>
                </a:solidFill>
                <a:latin typeface="Lexend Deca"/>
                <a:ea typeface="Lexend Deca"/>
                <a:cs typeface="Lexend Deca"/>
                <a:sym typeface="Lexend Deca"/>
              </a:rPr>
              <a:t>Administración de Memoria:</a:t>
            </a:r>
          </a:p>
          <a:p>
            <a:pPr algn="just">
              <a:lnSpc>
                <a:spcPts val="4198"/>
              </a:lnSpc>
            </a:pPr>
            <a:r>
              <a:rPr lang="en-US" sz="2499">
                <a:solidFill>
                  <a:srgbClr val="31356E"/>
                </a:solidFill>
                <a:latin typeface="Lexend Deca"/>
                <a:ea typeface="Lexend Deca"/>
                <a:cs typeface="Lexend Deca"/>
                <a:sym typeface="Lexend Deca"/>
              </a:rPr>
              <a:t>El kernel gestiona la memoria del sistema, asignando y liberando espacios de memoria para los procesos, y aplicando técnicas como la paginación y la memoria virtual.</a:t>
            </a:r>
          </a:p>
          <a:p>
            <a:pPr algn="just">
              <a:lnSpc>
                <a:spcPts val="2563"/>
              </a:lnSpc>
            </a:pPr>
          </a:p>
          <a:p>
            <a:pPr algn="just">
              <a:lnSpc>
                <a:spcPts val="4575"/>
              </a:lnSpc>
            </a:pPr>
            <a:r>
              <a:rPr lang="en-US" sz="2722">
                <a:solidFill>
                  <a:srgbClr val="000000"/>
                </a:solidFill>
                <a:latin typeface="Lexend Deca"/>
                <a:ea typeface="Lexend Deca"/>
                <a:cs typeface="Lexend Deca"/>
                <a:sym typeface="Lexend Deca"/>
              </a:rPr>
              <a:t>Sistema de Archivos:</a:t>
            </a:r>
          </a:p>
          <a:p>
            <a:pPr algn="just">
              <a:lnSpc>
                <a:spcPts val="4198"/>
              </a:lnSpc>
            </a:pPr>
            <a:r>
              <a:rPr lang="en-US" sz="2499">
                <a:solidFill>
                  <a:srgbClr val="31356E"/>
                </a:solidFill>
                <a:latin typeface="Lexend Deca"/>
                <a:ea typeface="Lexend Deca"/>
                <a:cs typeface="Lexend Deca"/>
                <a:sym typeface="Lexend Deca"/>
              </a:rPr>
              <a:t>El kernel de Linux implementa diversos sistemas de archivos, permitiendo a los usuarios almacenar, organizar y acceder a sus datos de manera eficiente y segura.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361274" y="-789537"/>
            <a:ext cx="19344570" cy="4437250"/>
          </a:xfrm>
          <a:custGeom>
            <a:avLst/>
            <a:gdLst/>
            <a:ahLst/>
            <a:cxnLst/>
            <a:rect r="r" b="b" t="t" l="l"/>
            <a:pathLst>
              <a:path h="4437250" w="19344570">
                <a:moveTo>
                  <a:pt x="0" y="0"/>
                </a:moveTo>
                <a:lnTo>
                  <a:pt x="19344570" y="0"/>
                </a:lnTo>
                <a:lnTo>
                  <a:pt x="19344570" y="4437250"/>
                </a:lnTo>
                <a:lnTo>
                  <a:pt x="0" y="44372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2409930" y="1209675"/>
            <a:ext cx="13333800" cy="962025"/>
          </a:xfrm>
          <a:prstGeom prst="rect">
            <a:avLst/>
          </a:prstGeom>
        </p:spPr>
        <p:txBody>
          <a:bodyPr anchor="t" rtlCol="false" tIns="0" lIns="0" bIns="0" rIns="0">
            <a:spAutoFit/>
          </a:bodyPr>
          <a:lstStyle/>
          <a:p>
            <a:pPr algn="ctr">
              <a:lnSpc>
                <a:spcPts val="8640"/>
              </a:lnSpc>
            </a:pPr>
            <a:r>
              <a:rPr lang="en-US" sz="7500">
                <a:solidFill>
                  <a:srgbClr val="FFFFFF"/>
                </a:solidFill>
                <a:latin typeface="Play"/>
                <a:ea typeface="Play"/>
                <a:cs typeface="Play"/>
                <a:sym typeface="Play"/>
              </a:rPr>
              <a:t>GESTIÓN DE PROCESOS EN LINUX</a:t>
            </a:r>
          </a:p>
        </p:txBody>
      </p:sp>
      <p:sp>
        <p:nvSpPr>
          <p:cNvPr name="Freeform 4" id="4"/>
          <p:cNvSpPr/>
          <p:nvPr/>
        </p:nvSpPr>
        <p:spPr>
          <a:xfrm flipH="false" flipV="false" rot="0">
            <a:off x="12233710" y="4232710"/>
            <a:ext cx="5025590" cy="5025590"/>
          </a:xfrm>
          <a:custGeom>
            <a:avLst/>
            <a:gdLst/>
            <a:ahLst/>
            <a:cxnLst/>
            <a:rect r="r" b="b" t="t" l="l"/>
            <a:pathLst>
              <a:path h="5025590" w="5025590">
                <a:moveTo>
                  <a:pt x="0" y="0"/>
                </a:moveTo>
                <a:lnTo>
                  <a:pt x="5025590" y="0"/>
                </a:lnTo>
                <a:lnTo>
                  <a:pt x="5025590" y="5025590"/>
                </a:lnTo>
                <a:lnTo>
                  <a:pt x="0" y="50255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651660" y="4448451"/>
            <a:ext cx="5318703" cy="5318703"/>
          </a:xfrm>
          <a:custGeom>
            <a:avLst/>
            <a:gdLst/>
            <a:ahLst/>
            <a:cxnLst/>
            <a:rect r="r" b="b" t="t" l="l"/>
            <a:pathLst>
              <a:path h="5318703" w="5318703">
                <a:moveTo>
                  <a:pt x="0" y="0"/>
                </a:moveTo>
                <a:lnTo>
                  <a:pt x="5318703" y="0"/>
                </a:lnTo>
                <a:lnTo>
                  <a:pt x="5318703" y="5318703"/>
                </a:lnTo>
                <a:lnTo>
                  <a:pt x="0" y="53187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7659395" y="5175485"/>
            <a:ext cx="3303222" cy="716537"/>
          </a:xfrm>
          <a:prstGeom prst="rect">
            <a:avLst/>
          </a:prstGeom>
        </p:spPr>
        <p:txBody>
          <a:bodyPr anchor="t" rtlCol="false" tIns="0" lIns="0" bIns="0" rIns="0">
            <a:spAutoFit/>
          </a:bodyPr>
          <a:lstStyle/>
          <a:p>
            <a:pPr algn="ctr">
              <a:lnSpc>
                <a:spcPts val="3201"/>
              </a:lnSpc>
            </a:pPr>
            <a:r>
              <a:rPr lang="en-US" sz="2300">
                <a:solidFill>
                  <a:srgbClr val="31356E"/>
                </a:solidFill>
                <a:latin typeface="Lexend Deca"/>
                <a:ea typeface="Lexend Deca"/>
                <a:cs typeface="Lexend Deca"/>
                <a:sym typeface="Lexend Deca"/>
              </a:rPr>
              <a:t>Planificación de Procesos</a:t>
            </a:r>
          </a:p>
        </p:txBody>
      </p:sp>
      <p:sp>
        <p:nvSpPr>
          <p:cNvPr name="Freeform 7" id="7"/>
          <p:cNvSpPr/>
          <p:nvPr/>
        </p:nvSpPr>
        <p:spPr>
          <a:xfrm flipH="false" flipV="false" rot="0">
            <a:off x="1028700" y="4043020"/>
            <a:ext cx="5025590" cy="5025590"/>
          </a:xfrm>
          <a:custGeom>
            <a:avLst/>
            <a:gdLst/>
            <a:ahLst/>
            <a:cxnLst/>
            <a:rect r="r" b="b" t="t" l="l"/>
            <a:pathLst>
              <a:path h="5025590" w="5025590">
                <a:moveTo>
                  <a:pt x="0" y="0"/>
                </a:moveTo>
                <a:lnTo>
                  <a:pt x="5025590" y="0"/>
                </a:lnTo>
                <a:lnTo>
                  <a:pt x="5025590" y="5025590"/>
                </a:lnTo>
                <a:lnTo>
                  <a:pt x="0" y="50255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253338" y="5116811"/>
            <a:ext cx="4576324" cy="501015"/>
          </a:xfrm>
          <a:prstGeom prst="rect">
            <a:avLst/>
          </a:prstGeom>
        </p:spPr>
        <p:txBody>
          <a:bodyPr anchor="t" rtlCol="false" tIns="0" lIns="0" bIns="0" rIns="0">
            <a:spAutoFit/>
          </a:bodyPr>
          <a:lstStyle/>
          <a:p>
            <a:pPr algn="ctr">
              <a:lnSpc>
                <a:spcPts val="4174"/>
              </a:lnSpc>
            </a:pPr>
            <a:r>
              <a:rPr lang="en-US" sz="3000">
                <a:solidFill>
                  <a:srgbClr val="FFFFFF"/>
                </a:solidFill>
                <a:latin typeface="Lexend Deca"/>
                <a:ea typeface="Lexend Deca"/>
                <a:cs typeface="Lexend Deca"/>
                <a:sym typeface="Lexend Deca"/>
              </a:rPr>
              <a:t>Creación de Procesos</a:t>
            </a:r>
          </a:p>
        </p:txBody>
      </p:sp>
      <p:sp>
        <p:nvSpPr>
          <p:cNvPr name="TextBox 9" id="9"/>
          <p:cNvSpPr txBox="true"/>
          <p:nvPr/>
        </p:nvSpPr>
        <p:spPr>
          <a:xfrm rot="0">
            <a:off x="12457719" y="5234664"/>
            <a:ext cx="4577582" cy="383162"/>
          </a:xfrm>
          <a:prstGeom prst="rect">
            <a:avLst/>
          </a:prstGeom>
        </p:spPr>
        <p:txBody>
          <a:bodyPr anchor="t" rtlCol="false" tIns="0" lIns="0" bIns="0" rIns="0">
            <a:spAutoFit/>
          </a:bodyPr>
          <a:lstStyle/>
          <a:p>
            <a:pPr algn="ctr">
              <a:lnSpc>
                <a:spcPts val="3201"/>
              </a:lnSpc>
            </a:pPr>
            <a:r>
              <a:rPr lang="en-US" sz="2300">
                <a:solidFill>
                  <a:srgbClr val="FFFFFF"/>
                </a:solidFill>
                <a:latin typeface="Lexend Deca"/>
                <a:ea typeface="Lexend Deca"/>
                <a:cs typeface="Lexend Deca"/>
                <a:sym typeface="Lexend Deca"/>
              </a:rPr>
              <a:t>Comunicación entre Procesos</a:t>
            </a:r>
          </a:p>
        </p:txBody>
      </p:sp>
      <p:sp>
        <p:nvSpPr>
          <p:cNvPr name="TextBox 10" id="10"/>
          <p:cNvSpPr txBox="true"/>
          <p:nvPr/>
        </p:nvSpPr>
        <p:spPr>
          <a:xfrm rot="0">
            <a:off x="1579054" y="5894622"/>
            <a:ext cx="3924881" cy="1745009"/>
          </a:xfrm>
          <a:prstGeom prst="rect">
            <a:avLst/>
          </a:prstGeom>
        </p:spPr>
        <p:txBody>
          <a:bodyPr anchor="t" rtlCol="false" tIns="0" lIns="0" bIns="0" rIns="0">
            <a:spAutoFit/>
          </a:bodyPr>
          <a:lstStyle/>
          <a:p>
            <a:pPr algn="ctr">
              <a:lnSpc>
                <a:spcPts val="3195"/>
              </a:lnSpc>
            </a:pPr>
            <a:r>
              <a:rPr lang="en-US" sz="2295">
                <a:solidFill>
                  <a:srgbClr val="FFFFFF"/>
                </a:solidFill>
                <a:latin typeface="Lexend Deca"/>
                <a:ea typeface="Lexend Deca"/>
                <a:cs typeface="Lexend Deca"/>
                <a:sym typeface="Lexend Deca"/>
              </a:rPr>
              <a:t>Linux utiliza el sistema de llamadas a funciones fork() y exec() para crear nuevos procesos a partir de procesos existentes.</a:t>
            </a:r>
          </a:p>
        </p:txBody>
      </p:sp>
      <p:sp>
        <p:nvSpPr>
          <p:cNvPr name="TextBox 11" id="11"/>
          <p:cNvSpPr txBox="true"/>
          <p:nvPr/>
        </p:nvSpPr>
        <p:spPr>
          <a:xfrm rot="0">
            <a:off x="7246877" y="6385893"/>
            <a:ext cx="4128268" cy="2459860"/>
          </a:xfrm>
          <a:prstGeom prst="rect">
            <a:avLst/>
          </a:prstGeom>
        </p:spPr>
        <p:txBody>
          <a:bodyPr anchor="t" rtlCol="false" tIns="0" lIns="0" bIns="0" rIns="0">
            <a:spAutoFit/>
          </a:bodyPr>
          <a:lstStyle/>
          <a:p>
            <a:pPr algn="ctr">
              <a:lnSpc>
                <a:spcPts val="3269"/>
              </a:lnSpc>
            </a:pPr>
            <a:r>
              <a:rPr lang="en-US" sz="2349">
                <a:solidFill>
                  <a:srgbClr val="31356E"/>
                </a:solidFill>
                <a:latin typeface="Lexend Deca"/>
                <a:ea typeface="Lexend Deca"/>
                <a:cs typeface="Lexend Deca"/>
                <a:sym typeface="Lexend Deca"/>
              </a:rPr>
              <a:t>El kernel de Linux emplea algoritmos de planificación, como el Round-Robin y el CFS (Completely Fair Scheduler), para decidir qué procesos se ejecutan en un momento dado.</a:t>
            </a:r>
          </a:p>
        </p:txBody>
      </p:sp>
      <p:sp>
        <p:nvSpPr>
          <p:cNvPr name="TextBox 12" id="12"/>
          <p:cNvSpPr txBox="true"/>
          <p:nvPr/>
        </p:nvSpPr>
        <p:spPr>
          <a:xfrm rot="0">
            <a:off x="12632941" y="5748995"/>
            <a:ext cx="4227119" cy="2946397"/>
          </a:xfrm>
          <a:prstGeom prst="rect">
            <a:avLst/>
          </a:prstGeom>
        </p:spPr>
        <p:txBody>
          <a:bodyPr anchor="t" rtlCol="false" tIns="0" lIns="0" bIns="0" rIns="0">
            <a:spAutoFit/>
          </a:bodyPr>
          <a:lstStyle/>
          <a:p>
            <a:pPr algn="ctr">
              <a:lnSpc>
                <a:spcPts val="3478"/>
              </a:lnSpc>
            </a:pPr>
            <a:r>
              <a:rPr lang="en-US" sz="2499">
                <a:solidFill>
                  <a:srgbClr val="FFFFFF"/>
                </a:solidFill>
                <a:latin typeface="Lexend Deca"/>
                <a:ea typeface="Lexend Deca"/>
                <a:cs typeface="Lexend Deca"/>
                <a:sym typeface="Lexend Deca"/>
              </a:rPr>
              <a:t>Linux proporciona mecanismos de comunicación entre procesos, como tuberías, sockets y semáforos, para permitir el intercambio de datos y la sincronización entre ellos.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361274" y="-789537"/>
            <a:ext cx="18649274" cy="11381927"/>
          </a:xfrm>
          <a:custGeom>
            <a:avLst/>
            <a:gdLst/>
            <a:ahLst/>
            <a:cxnLst/>
            <a:rect r="r" b="b" t="t" l="l"/>
            <a:pathLst>
              <a:path h="11381927" w="18649274">
                <a:moveTo>
                  <a:pt x="0" y="0"/>
                </a:moveTo>
                <a:lnTo>
                  <a:pt x="18649274" y="0"/>
                </a:lnTo>
                <a:lnTo>
                  <a:pt x="18649274" y="11381928"/>
                </a:lnTo>
                <a:lnTo>
                  <a:pt x="0" y="113819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616744" y="3502704"/>
            <a:ext cx="7714545" cy="6092171"/>
          </a:xfrm>
          <a:custGeom>
            <a:avLst/>
            <a:gdLst/>
            <a:ahLst/>
            <a:cxnLst/>
            <a:rect r="r" b="b" t="t" l="l"/>
            <a:pathLst>
              <a:path h="6092171" w="7714545">
                <a:moveTo>
                  <a:pt x="0" y="0"/>
                </a:moveTo>
                <a:lnTo>
                  <a:pt x="7714545" y="0"/>
                </a:lnTo>
                <a:lnTo>
                  <a:pt x="7714545" y="6092171"/>
                </a:lnTo>
                <a:lnTo>
                  <a:pt x="0" y="60921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687824" y="1219200"/>
            <a:ext cx="16912353" cy="1022528"/>
          </a:xfrm>
          <a:prstGeom prst="rect">
            <a:avLst/>
          </a:prstGeom>
        </p:spPr>
        <p:txBody>
          <a:bodyPr anchor="t" rtlCol="false" tIns="0" lIns="0" bIns="0" rIns="0">
            <a:spAutoFit/>
          </a:bodyPr>
          <a:lstStyle/>
          <a:p>
            <a:pPr algn="ctr">
              <a:lnSpc>
                <a:spcPts val="7833"/>
              </a:lnSpc>
            </a:pPr>
            <a:r>
              <a:rPr lang="en-US" sz="6800">
                <a:solidFill>
                  <a:srgbClr val="FFFFFF"/>
                </a:solidFill>
                <a:latin typeface="Play"/>
                <a:ea typeface="Play"/>
                <a:cs typeface="Play"/>
                <a:sym typeface="Play"/>
              </a:rPr>
              <a:t>PROGRAMACIÓN DE PROCESOS Y THREADS</a:t>
            </a:r>
          </a:p>
        </p:txBody>
      </p:sp>
      <p:sp>
        <p:nvSpPr>
          <p:cNvPr name="TextBox 5" id="5"/>
          <p:cNvSpPr txBox="true"/>
          <p:nvPr/>
        </p:nvSpPr>
        <p:spPr>
          <a:xfrm rot="0">
            <a:off x="1028700" y="3893301"/>
            <a:ext cx="6807575" cy="4730115"/>
          </a:xfrm>
          <a:prstGeom prst="rect">
            <a:avLst/>
          </a:prstGeom>
        </p:spPr>
        <p:txBody>
          <a:bodyPr anchor="t" rtlCol="false" tIns="0" lIns="0" bIns="0" rIns="0">
            <a:spAutoFit/>
          </a:bodyPr>
          <a:lstStyle/>
          <a:p>
            <a:pPr algn="just">
              <a:lnSpc>
                <a:spcPts val="4030"/>
              </a:lnSpc>
            </a:pPr>
            <a:r>
              <a:rPr lang="en-US" sz="2400">
                <a:solidFill>
                  <a:srgbClr val="000000"/>
                </a:solidFill>
                <a:latin typeface="Lexend Deca"/>
                <a:ea typeface="Lexend Deca"/>
                <a:cs typeface="Lexend Deca"/>
                <a:sym typeface="Lexend Deca"/>
              </a:rPr>
              <a:t>Fork():</a:t>
            </a:r>
          </a:p>
          <a:p>
            <a:pPr algn="just">
              <a:lnSpc>
                <a:spcPts val="4030"/>
              </a:lnSpc>
            </a:pPr>
            <a:r>
              <a:rPr lang="en-US" sz="2400">
                <a:solidFill>
                  <a:srgbClr val="31356E"/>
                </a:solidFill>
                <a:latin typeface="Lexend Deca"/>
                <a:ea typeface="Lexend Deca"/>
                <a:cs typeface="Lexend Deca"/>
                <a:sym typeface="Lexend Deca"/>
              </a:rPr>
              <a:t>La llamada a sistema fork() crea un nuevo proceso que es una copia exacta del proceso original, con su propio espacio de memoria y recursos.</a:t>
            </a:r>
          </a:p>
          <a:p>
            <a:pPr algn="just">
              <a:lnSpc>
                <a:spcPts val="2351"/>
              </a:lnSpc>
            </a:pPr>
          </a:p>
          <a:p>
            <a:pPr algn="just">
              <a:lnSpc>
                <a:spcPts val="4030"/>
              </a:lnSpc>
            </a:pPr>
            <a:r>
              <a:rPr lang="en-US" sz="2400">
                <a:solidFill>
                  <a:srgbClr val="000000"/>
                </a:solidFill>
                <a:latin typeface="Lexend Deca"/>
                <a:ea typeface="Lexend Deca"/>
                <a:cs typeface="Lexend Deca"/>
                <a:sym typeface="Lexend Deca"/>
              </a:rPr>
              <a:t>Threads:</a:t>
            </a:r>
          </a:p>
          <a:p>
            <a:pPr algn="just">
              <a:lnSpc>
                <a:spcPts val="4030"/>
              </a:lnSpc>
            </a:pPr>
            <a:r>
              <a:rPr lang="en-US" sz="2400">
                <a:solidFill>
                  <a:srgbClr val="31356E"/>
                </a:solidFill>
                <a:latin typeface="Lexend Deca"/>
                <a:ea typeface="Lexend Deca"/>
                <a:cs typeface="Lexend Deca"/>
                <a:sym typeface="Lexend Deca"/>
              </a:rPr>
              <a:t>Los threads son unidades de ejecución ligera dentro de un mismo proceso, compartiendo recursos como memoria y archivos, lo que mejora el rendimiento y la concurrencia.</a:t>
            </a:r>
          </a:p>
        </p:txBody>
      </p:sp>
      <p:sp>
        <p:nvSpPr>
          <p:cNvPr name="Freeform 6" id="6"/>
          <p:cNvSpPr/>
          <p:nvPr/>
        </p:nvSpPr>
        <p:spPr>
          <a:xfrm flipH="false" flipV="false" rot="0">
            <a:off x="9544755" y="3502704"/>
            <a:ext cx="7714545" cy="6092171"/>
          </a:xfrm>
          <a:custGeom>
            <a:avLst/>
            <a:gdLst/>
            <a:ahLst/>
            <a:cxnLst/>
            <a:rect r="r" b="b" t="t" l="l"/>
            <a:pathLst>
              <a:path h="6092171" w="7714545">
                <a:moveTo>
                  <a:pt x="0" y="0"/>
                </a:moveTo>
                <a:lnTo>
                  <a:pt x="7714545" y="0"/>
                </a:lnTo>
                <a:lnTo>
                  <a:pt x="7714545" y="6092171"/>
                </a:lnTo>
                <a:lnTo>
                  <a:pt x="0" y="60921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9998240" y="3912270"/>
            <a:ext cx="6807575" cy="5149215"/>
          </a:xfrm>
          <a:prstGeom prst="rect">
            <a:avLst/>
          </a:prstGeom>
        </p:spPr>
        <p:txBody>
          <a:bodyPr anchor="t" rtlCol="false" tIns="0" lIns="0" bIns="0" rIns="0">
            <a:spAutoFit/>
          </a:bodyPr>
          <a:lstStyle/>
          <a:p>
            <a:pPr algn="just">
              <a:lnSpc>
                <a:spcPts val="4030"/>
              </a:lnSpc>
            </a:pPr>
            <a:r>
              <a:rPr lang="en-US" sz="2400">
                <a:solidFill>
                  <a:srgbClr val="000000"/>
                </a:solidFill>
                <a:latin typeface="Lexend Deca"/>
                <a:ea typeface="Lexend Deca"/>
                <a:cs typeface="Lexend Deca"/>
                <a:sym typeface="Lexend Deca"/>
              </a:rPr>
              <a:t>exec():</a:t>
            </a:r>
          </a:p>
          <a:p>
            <a:pPr algn="just">
              <a:lnSpc>
                <a:spcPts val="4030"/>
              </a:lnSpc>
            </a:pPr>
            <a:r>
              <a:rPr lang="en-US" sz="2400">
                <a:solidFill>
                  <a:srgbClr val="31356E"/>
                </a:solidFill>
                <a:latin typeface="Lexend Deca"/>
                <a:ea typeface="Lexend Deca"/>
                <a:cs typeface="Lexend Deca"/>
                <a:sym typeface="Lexend Deca"/>
              </a:rPr>
              <a:t>La función exec() reemplaza el espacio de memoria de un proceso por un nuevo programa, permitiendo la ejecución de diferentes aplicaciones.</a:t>
            </a:r>
          </a:p>
          <a:p>
            <a:pPr algn="just">
              <a:lnSpc>
                <a:spcPts val="2351"/>
              </a:lnSpc>
            </a:pPr>
          </a:p>
          <a:p>
            <a:pPr algn="just">
              <a:lnSpc>
                <a:spcPts val="4030"/>
              </a:lnSpc>
            </a:pPr>
            <a:r>
              <a:rPr lang="en-US" sz="2400">
                <a:solidFill>
                  <a:srgbClr val="000000"/>
                </a:solidFill>
                <a:latin typeface="Lexend Deca"/>
                <a:ea typeface="Lexend Deca"/>
                <a:cs typeface="Lexend Deca"/>
                <a:sym typeface="Lexend Deca"/>
              </a:rPr>
              <a:t>Sincronización:</a:t>
            </a:r>
          </a:p>
          <a:p>
            <a:pPr algn="just">
              <a:lnSpc>
                <a:spcPts val="4030"/>
              </a:lnSpc>
            </a:pPr>
            <a:r>
              <a:rPr lang="en-US" sz="2400">
                <a:solidFill>
                  <a:srgbClr val="31356E"/>
                </a:solidFill>
                <a:latin typeface="Lexend Deca"/>
                <a:ea typeface="Lexend Deca"/>
                <a:cs typeface="Lexend Deca"/>
                <a:sym typeface="Lexend Deca"/>
              </a:rPr>
              <a:t>Lnux proporciona mecanismos de sincronización, como mutexes y semáforos, para coordinar el acceso a recursos compartidos entre procesos y threads.</a:t>
            </a:r>
          </a:p>
          <a:p>
            <a:pPr algn="just">
              <a:lnSpc>
                <a:spcPts val="2351"/>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sp>
        <p:nvSpPr>
          <p:cNvPr name="Freeform 2" id="2"/>
          <p:cNvSpPr/>
          <p:nvPr/>
        </p:nvSpPr>
        <p:spPr>
          <a:xfrm flipH="false" flipV="false" rot="0">
            <a:off x="5715724" y="-1023042"/>
            <a:ext cx="12717990" cy="11381927"/>
          </a:xfrm>
          <a:custGeom>
            <a:avLst/>
            <a:gdLst/>
            <a:ahLst/>
            <a:cxnLst/>
            <a:rect r="r" b="b" t="t" l="l"/>
            <a:pathLst>
              <a:path h="11381927" w="12717990">
                <a:moveTo>
                  <a:pt x="0" y="0"/>
                </a:moveTo>
                <a:lnTo>
                  <a:pt x="12717989" y="0"/>
                </a:lnTo>
                <a:lnTo>
                  <a:pt x="12717989" y="11381927"/>
                </a:lnTo>
                <a:lnTo>
                  <a:pt x="0" y="11381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878500" y="3086100"/>
            <a:ext cx="4114800" cy="4114800"/>
            <a:chOff x="0" y="0"/>
            <a:chExt cx="5486400" cy="5486400"/>
          </a:xfrm>
        </p:grpSpPr>
        <p:sp>
          <p:nvSpPr>
            <p:cNvPr name="Freeform 4" id="4"/>
            <p:cNvSpPr/>
            <p:nvPr/>
          </p:nvSpPr>
          <p:spPr>
            <a:xfrm flipH="false" flipV="false" rot="0">
              <a:off x="0" y="0"/>
              <a:ext cx="5486400" cy="5486400"/>
            </a:xfrm>
            <a:custGeom>
              <a:avLst/>
              <a:gdLst/>
              <a:ahLst/>
              <a:cxnLst/>
              <a:rect r="r" b="b" t="t" l="l"/>
              <a:pathLst>
                <a:path h="5486400" w="5486400">
                  <a:moveTo>
                    <a:pt x="0" y="0"/>
                  </a:moveTo>
                  <a:lnTo>
                    <a:pt x="5486400" y="0"/>
                  </a:lnTo>
                  <a:lnTo>
                    <a:pt x="5486400" y="5486400"/>
                  </a:lnTo>
                  <a:lnTo>
                    <a:pt x="0" y="5486400"/>
                  </a:lnTo>
                  <a:lnTo>
                    <a:pt x="0" y="0"/>
                  </a:lnTo>
                  <a:close/>
                </a:path>
              </a:pathLst>
            </a:custGeom>
            <a:blipFill>
              <a:blip r:embed="rId5"/>
              <a:stretch>
                <a:fillRect l="0" t="0" r="0" b="0"/>
              </a:stretch>
            </a:blipFill>
          </p:spPr>
        </p:sp>
      </p:grpSp>
      <p:graphicFrame>
        <p:nvGraphicFramePr>
          <p:cNvPr name="Table 5" id="5"/>
          <p:cNvGraphicFramePr>
            <a:graphicFrameLocks noGrp="true"/>
          </p:cNvGraphicFramePr>
          <p:nvPr/>
        </p:nvGraphicFramePr>
        <p:xfrm>
          <a:off x="6642070" y="2043112"/>
          <a:ext cx="10934700" cy="7791783"/>
        </p:xfrm>
        <a:graphic>
          <a:graphicData uri="http://schemas.openxmlformats.org/drawingml/2006/table">
            <a:tbl>
              <a:tblPr/>
              <a:tblGrid>
                <a:gridCol w="3644900"/>
                <a:gridCol w="3644900"/>
                <a:gridCol w="3644900"/>
              </a:tblGrid>
              <a:tr h="1791478">
                <a:tc>
                  <a:txBody>
                    <a:bodyPr anchor="t" rtlCol="false"/>
                    <a:lstStyle/>
                    <a:p>
                      <a:pPr algn="ctr">
                        <a:lnSpc>
                          <a:spcPts val="4198"/>
                        </a:lnSpc>
                        <a:defRPr/>
                      </a:pPr>
                      <a:r>
                        <a:rPr lang="en-US" b="true" sz="2499">
                          <a:solidFill>
                            <a:srgbClr val="000000"/>
                          </a:solidFill>
                          <a:latin typeface="Arial Bold"/>
                          <a:ea typeface="Arial Bold"/>
                          <a:cs typeface="Arial Bold"/>
                          <a:sym typeface="Arial Bold"/>
                        </a:rPr>
                        <a:t>Recurso</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99ACFF"/>
                    </a:solidFill>
                  </a:tcPr>
                </a:tc>
                <a:tc>
                  <a:txBody>
                    <a:bodyPr anchor="t" rtlCol="false"/>
                    <a:lstStyle/>
                    <a:p>
                      <a:pPr algn="ctr">
                        <a:lnSpc>
                          <a:spcPts val="4198"/>
                        </a:lnSpc>
                        <a:defRPr/>
                      </a:pPr>
                      <a:r>
                        <a:rPr lang="en-US" b="true" sz="2499">
                          <a:solidFill>
                            <a:srgbClr val="000000"/>
                          </a:solidFill>
                          <a:latin typeface="Arial Bold"/>
                          <a:ea typeface="Arial Bold"/>
                          <a:cs typeface="Arial Bold"/>
                          <a:sym typeface="Arial Bold"/>
                        </a:rPr>
                        <a:t>Funciones de Administración</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99ACFF"/>
                    </a:solidFill>
                  </a:tcPr>
                </a:tc>
                <a:tc>
                  <a:txBody>
                    <a:bodyPr anchor="t" rtlCol="false"/>
                    <a:lstStyle/>
                    <a:p>
                      <a:pPr algn="ctr">
                        <a:lnSpc>
                          <a:spcPts val="4198"/>
                        </a:lnSpc>
                        <a:defRPr/>
                      </a:pPr>
                      <a:r>
                        <a:rPr lang="en-US" b="true" sz="2499">
                          <a:solidFill>
                            <a:srgbClr val="000000"/>
                          </a:solidFill>
                          <a:latin typeface="Arial Bold"/>
                          <a:ea typeface="Arial Bold"/>
                          <a:cs typeface="Arial Bold"/>
                          <a:sym typeface="Arial Bold"/>
                        </a:rPr>
                        <a:t>Técnicas de Optimización</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99ACFF"/>
                    </a:solidFill>
                  </a:tcPr>
                </a:tc>
              </a:tr>
              <a:tr h="2412774">
                <a:tc>
                  <a:txBody>
                    <a:bodyPr anchor="t" rtlCol="false"/>
                    <a:lstStyle/>
                    <a:p>
                      <a:pPr algn="ctr">
                        <a:lnSpc>
                          <a:spcPts val="4198"/>
                        </a:lnSpc>
                        <a:defRPr/>
                      </a:pPr>
                      <a:r>
                        <a:rPr lang="en-US" sz="2499">
                          <a:solidFill>
                            <a:srgbClr val="000000"/>
                          </a:solidFill>
                          <a:latin typeface="Arial"/>
                          <a:ea typeface="Arial"/>
                          <a:cs typeface="Arial"/>
                          <a:sym typeface="Arial"/>
                        </a:rPr>
                        <a:t>Memoria</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CDD6FF"/>
                    </a:solidFill>
                  </a:tcPr>
                </a:tc>
                <a:tc>
                  <a:txBody>
                    <a:bodyPr anchor="t" rtlCol="false"/>
                    <a:lstStyle/>
                    <a:p>
                      <a:pPr algn="ctr">
                        <a:lnSpc>
                          <a:spcPts val="3191"/>
                        </a:lnSpc>
                        <a:defRPr/>
                      </a:pPr>
                      <a:r>
                        <a:rPr lang="en-US" sz="1899">
                          <a:solidFill>
                            <a:srgbClr val="000000"/>
                          </a:solidFill>
                          <a:latin typeface="Arial"/>
                          <a:ea typeface="Arial"/>
                          <a:cs typeface="Arial"/>
                          <a:sym typeface="Arial"/>
                        </a:rPr>
                        <a:t>Asignación, liberación, paginación, memoria virtual</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E3E8FF"/>
                    </a:solidFill>
                  </a:tcPr>
                </a:tc>
                <a:tc>
                  <a:txBody>
                    <a:bodyPr anchor="t" rtlCol="false"/>
                    <a:lstStyle/>
                    <a:p>
                      <a:pPr algn="ctr">
                        <a:lnSpc>
                          <a:spcPts val="4123"/>
                        </a:lnSpc>
                        <a:defRPr/>
                      </a:pPr>
                      <a:endParaRPr lang="en-US" sz="1100"/>
                    </a:p>
                    <a:p>
                      <a:pPr algn="ctr">
                        <a:lnSpc>
                          <a:spcPts val="3191"/>
                        </a:lnSpc>
                      </a:pPr>
                      <a:r>
                        <a:rPr lang="en-US" sz="1899">
                          <a:solidFill>
                            <a:srgbClr val="000000"/>
                          </a:solidFill>
                          <a:latin typeface="Arial"/>
                          <a:ea typeface="Arial"/>
                          <a:cs typeface="Arial"/>
                          <a:sym typeface="Arial"/>
                        </a:rPr>
                        <a:t>Técnicas de caching, compresión de datos, uso eficiente de la memoria</a:t>
                      </a:r>
                    </a:p>
                    <a:p>
                      <a:pPr algn="ctr">
                        <a:lnSpc>
                          <a:spcPts val="3023"/>
                        </a:lnSpc>
                      </a:pPr>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E3E8FF"/>
                    </a:solidFill>
                  </a:tcPr>
                </a:tc>
              </a:tr>
              <a:tr h="1796053">
                <a:tc>
                  <a:txBody>
                    <a:bodyPr anchor="t" rtlCol="false"/>
                    <a:lstStyle/>
                    <a:p>
                      <a:pPr algn="ctr">
                        <a:lnSpc>
                          <a:spcPts val="4198"/>
                        </a:lnSpc>
                        <a:defRPr/>
                      </a:pPr>
                      <a:r>
                        <a:rPr lang="en-US" sz="2499">
                          <a:solidFill>
                            <a:srgbClr val="000000"/>
                          </a:solidFill>
                          <a:latin typeface="Arial"/>
                          <a:ea typeface="Arial"/>
                          <a:cs typeface="Arial"/>
                          <a:sym typeface="Arial"/>
                        </a:rPr>
                        <a:t>CPU</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CDD6FF"/>
                    </a:solidFill>
                  </a:tcPr>
                </a:tc>
                <a:tc>
                  <a:txBody>
                    <a:bodyPr anchor="t" rtlCol="false"/>
                    <a:lstStyle/>
                    <a:p>
                      <a:pPr algn="ctr">
                        <a:lnSpc>
                          <a:spcPts val="3191"/>
                        </a:lnSpc>
                        <a:defRPr/>
                      </a:pPr>
                      <a:r>
                        <a:rPr lang="en-US" sz="1899">
                          <a:solidFill>
                            <a:srgbClr val="000000"/>
                          </a:solidFill>
                          <a:latin typeface="Arial"/>
                          <a:ea typeface="Arial"/>
                          <a:cs typeface="Arial"/>
                          <a:sym typeface="Arial"/>
                        </a:rPr>
                        <a:t>Planificación de Procesos, asignación de tiempo de CPU</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E3E8FF"/>
                    </a:solidFill>
                  </a:tcPr>
                </a:tc>
                <a:tc>
                  <a:txBody>
                    <a:bodyPr anchor="t" rtlCol="false"/>
                    <a:lstStyle/>
                    <a:p>
                      <a:pPr algn="ctr">
                        <a:lnSpc>
                          <a:spcPts val="3191"/>
                        </a:lnSpc>
                        <a:defRPr/>
                      </a:pPr>
                      <a:r>
                        <a:rPr lang="en-US" sz="1899">
                          <a:solidFill>
                            <a:srgbClr val="000000"/>
                          </a:solidFill>
                          <a:latin typeface="Arial"/>
                          <a:ea typeface="Arial"/>
                          <a:cs typeface="Arial"/>
                          <a:sym typeface="Arial"/>
                        </a:rPr>
                        <a:t>Algoritmos de planificación eficientes, balanceo de carga, uso de multi-core</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E3E8FF"/>
                    </a:solidFill>
                  </a:tcPr>
                </a:tc>
              </a:tr>
              <a:tr h="1791478">
                <a:tc>
                  <a:txBody>
                    <a:bodyPr anchor="t" rtlCol="false"/>
                    <a:lstStyle/>
                    <a:p>
                      <a:pPr algn="ctr">
                        <a:lnSpc>
                          <a:spcPts val="4198"/>
                        </a:lnSpc>
                        <a:defRPr/>
                      </a:pPr>
                      <a:r>
                        <a:rPr lang="en-US" sz="2499">
                          <a:solidFill>
                            <a:srgbClr val="000000"/>
                          </a:solidFill>
                          <a:latin typeface="Arial"/>
                          <a:ea typeface="Arial"/>
                          <a:cs typeface="Arial"/>
                          <a:sym typeface="Arial"/>
                        </a:rPr>
                        <a:t>Almacenamiento</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CDD6FF"/>
                    </a:solidFill>
                  </a:tcPr>
                </a:tc>
                <a:tc>
                  <a:txBody>
                    <a:bodyPr anchor="t" rtlCol="false"/>
                    <a:lstStyle/>
                    <a:p>
                      <a:pPr algn="ctr">
                        <a:lnSpc>
                          <a:spcPts val="3191"/>
                        </a:lnSpc>
                        <a:defRPr/>
                      </a:pPr>
                      <a:r>
                        <a:rPr lang="en-US" sz="1899">
                          <a:solidFill>
                            <a:srgbClr val="000000"/>
                          </a:solidFill>
                          <a:latin typeface="Arial"/>
                          <a:ea typeface="Arial"/>
                          <a:cs typeface="Arial"/>
                          <a:sym typeface="Arial"/>
                        </a:rPr>
                        <a:t>Organización y acceso archivos, gestión de discos</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E3E8FF"/>
                    </a:solidFill>
                  </a:tcPr>
                </a:tc>
                <a:tc>
                  <a:txBody>
                    <a:bodyPr anchor="t" rtlCol="false"/>
                    <a:lstStyle/>
                    <a:p>
                      <a:pPr algn="ctr">
                        <a:lnSpc>
                          <a:spcPts val="3191"/>
                        </a:lnSpc>
                        <a:defRPr/>
                      </a:pPr>
                      <a:r>
                        <a:rPr lang="en-US" sz="1899">
                          <a:solidFill>
                            <a:srgbClr val="000000"/>
                          </a:solidFill>
                          <a:latin typeface="Arial"/>
                          <a:ea typeface="Arial"/>
                          <a:cs typeface="Arial"/>
                          <a:sym typeface="Arial"/>
                        </a:rPr>
                        <a:t>Sistemas de archivos avanzados, técnicas de cache y buffering, desfragmentación</a:t>
                      </a:r>
                      <a:endParaRPr lang="en-US" sz="1100"/>
                    </a:p>
                  </a:txBody>
                  <a:tcPr marL="190500" marR="190500" marT="190500" marB="190500" anchor="ctr">
                    <a:lnL cmpd="sng" algn="ctr" cap="flat" w="9525">
                      <a:solidFill>
                        <a:srgbClr val="99ACFF"/>
                      </a:solidFill>
                      <a:prstDash val="solid"/>
                      <a:round/>
                      <a:headEnd type="none" w="med" len="med"/>
                      <a:tailEnd type="none" w="med" len="med"/>
                    </a:lnL>
                    <a:lnR cmpd="sng" algn="ctr" cap="flat" w="9525">
                      <a:solidFill>
                        <a:srgbClr val="99ACFF"/>
                      </a:solidFill>
                      <a:prstDash val="solid"/>
                      <a:round/>
                      <a:headEnd type="none" w="med" len="med"/>
                      <a:tailEnd type="none" w="med" len="med"/>
                    </a:lnR>
                    <a:lnT cmpd="sng" algn="ctr" cap="flat" w="9525">
                      <a:solidFill>
                        <a:srgbClr val="99ACFF"/>
                      </a:solidFill>
                      <a:prstDash val="solid"/>
                      <a:round/>
                      <a:headEnd type="none" w="med" len="med"/>
                      <a:tailEnd type="none" w="med" len="med"/>
                    </a:lnT>
                    <a:lnB cmpd="sng" algn="ctr" cap="flat" w="9525">
                      <a:solidFill>
                        <a:srgbClr val="99ACFF"/>
                      </a:solidFill>
                      <a:prstDash val="solid"/>
                      <a:round/>
                      <a:headEnd type="none" w="med" len="med"/>
                      <a:tailEnd type="none" w="med" len="med"/>
                    </a:lnB>
                    <a:solidFill>
                      <a:srgbClr val="E3E8FF"/>
                    </a:solidFill>
                  </a:tcPr>
                </a:tc>
              </a:tr>
            </a:tbl>
          </a:graphicData>
        </a:graphic>
      </p:graphicFrame>
      <p:sp>
        <p:nvSpPr>
          <p:cNvPr name="TextBox 6" id="6"/>
          <p:cNvSpPr txBox="true"/>
          <p:nvPr/>
        </p:nvSpPr>
        <p:spPr>
          <a:xfrm rot="0">
            <a:off x="5861437" y="230885"/>
            <a:ext cx="12426563" cy="1614680"/>
          </a:xfrm>
          <a:prstGeom prst="rect">
            <a:avLst/>
          </a:prstGeom>
        </p:spPr>
        <p:txBody>
          <a:bodyPr anchor="t" rtlCol="false" tIns="0" lIns="0" bIns="0" rIns="0">
            <a:spAutoFit/>
          </a:bodyPr>
          <a:lstStyle/>
          <a:p>
            <a:pPr algn="ctr">
              <a:lnSpc>
                <a:spcPts val="6334"/>
              </a:lnSpc>
            </a:pPr>
            <a:r>
              <a:rPr lang="en-US" sz="5498">
                <a:solidFill>
                  <a:srgbClr val="FFFFFF"/>
                </a:solidFill>
                <a:latin typeface="Play"/>
                <a:ea typeface="Play"/>
                <a:cs typeface="Play"/>
                <a:sym typeface="Play"/>
              </a:rPr>
              <a:t>ADMINISTRACIÓN DE RECURSOS DEL SISTEMA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524572"/>
            <a:ext cx="16230448" cy="4943304"/>
          </a:xfrm>
          <a:custGeom>
            <a:avLst/>
            <a:gdLst/>
            <a:ahLst/>
            <a:cxnLst/>
            <a:rect r="r" b="b" t="t" l="l"/>
            <a:pathLst>
              <a:path h="4943304" w="16230448">
                <a:moveTo>
                  <a:pt x="0" y="0"/>
                </a:moveTo>
                <a:lnTo>
                  <a:pt x="16230448" y="0"/>
                </a:lnTo>
                <a:lnTo>
                  <a:pt x="16230448" y="4943303"/>
                </a:lnTo>
                <a:lnTo>
                  <a:pt x="0" y="49433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652502" y="2314604"/>
            <a:ext cx="14982901" cy="4658773"/>
          </a:xfrm>
          <a:prstGeom prst="rect">
            <a:avLst/>
          </a:prstGeom>
        </p:spPr>
        <p:txBody>
          <a:bodyPr anchor="t" rtlCol="false" tIns="0" lIns="0" bIns="0" rIns="0">
            <a:spAutoFit/>
          </a:bodyPr>
          <a:lstStyle/>
          <a:p>
            <a:pPr algn="ctr">
              <a:lnSpc>
                <a:spcPts val="9238"/>
              </a:lnSpc>
            </a:pPr>
            <a:r>
              <a:rPr lang="en-US" sz="5498">
                <a:solidFill>
                  <a:srgbClr val="FFFFFF"/>
                </a:solidFill>
                <a:latin typeface="Play"/>
                <a:ea typeface="Play"/>
                <a:cs typeface="Play"/>
                <a:sym typeface="Play"/>
              </a:rPr>
              <a:t>LOS PRINCIPIOS FUNDAMENTALES Y LOS COMPONENTES CLAVE QUE CONFORMAN LA ESTRUCTURA DEL SISTEMA OPERATIVO LINUX</a:t>
            </a:r>
          </a:p>
          <a:p>
            <a:pPr algn="ctr">
              <a:lnSpc>
                <a:spcPts val="2566"/>
              </a:lnSpc>
            </a:pPr>
          </a:p>
        </p:txBody>
      </p:sp>
      <p:sp>
        <p:nvSpPr>
          <p:cNvPr name="TextBox 4" id="4"/>
          <p:cNvSpPr txBox="true"/>
          <p:nvPr/>
        </p:nvSpPr>
        <p:spPr>
          <a:xfrm rot="0">
            <a:off x="4533671" y="7449398"/>
            <a:ext cx="9220667" cy="938374"/>
          </a:xfrm>
          <a:prstGeom prst="rect">
            <a:avLst/>
          </a:prstGeom>
        </p:spPr>
        <p:txBody>
          <a:bodyPr anchor="t" rtlCol="false" tIns="0" lIns="0" bIns="0" rIns="0">
            <a:spAutoFit/>
          </a:bodyPr>
          <a:lstStyle/>
          <a:p>
            <a:pPr algn="ctr">
              <a:lnSpc>
                <a:spcPts val="7233"/>
              </a:lnSpc>
            </a:pPr>
            <a:r>
              <a:rPr lang="en-US" sz="4306">
                <a:solidFill>
                  <a:srgbClr val="31356E"/>
                </a:solidFill>
                <a:latin typeface="Lexend Deca"/>
                <a:ea typeface="Lexend Deca"/>
                <a:cs typeface="Lexend Deca"/>
                <a:sym typeface="Lexend Deca"/>
              </a:rPr>
              <a:t>CONCEPTOS CLAVE APRENDIDOS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85182"/>
            <a:ext cx="16230448" cy="5780418"/>
          </a:xfrm>
          <a:custGeom>
            <a:avLst/>
            <a:gdLst/>
            <a:ahLst/>
            <a:cxnLst/>
            <a:rect r="r" b="b" t="t" l="l"/>
            <a:pathLst>
              <a:path h="5780418" w="16230448">
                <a:moveTo>
                  <a:pt x="0" y="0"/>
                </a:moveTo>
                <a:lnTo>
                  <a:pt x="16230448" y="0"/>
                </a:lnTo>
                <a:lnTo>
                  <a:pt x="16230448" y="5780418"/>
                </a:lnTo>
                <a:lnTo>
                  <a:pt x="0" y="57804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44961" y="1763876"/>
            <a:ext cx="14982901" cy="3939073"/>
          </a:xfrm>
          <a:prstGeom prst="rect">
            <a:avLst/>
          </a:prstGeom>
        </p:spPr>
        <p:txBody>
          <a:bodyPr anchor="t" rtlCol="false" tIns="0" lIns="0" bIns="0" rIns="0">
            <a:spAutoFit/>
          </a:bodyPr>
          <a:lstStyle/>
          <a:p>
            <a:pPr algn="ctr">
              <a:lnSpc>
                <a:spcPts val="6214"/>
              </a:lnSpc>
            </a:pPr>
            <a:r>
              <a:rPr lang="en-US" sz="3699">
                <a:solidFill>
                  <a:srgbClr val="FFFFFF"/>
                </a:solidFill>
                <a:latin typeface="Play"/>
                <a:ea typeface="Play"/>
                <a:cs typeface="Play"/>
                <a:sym typeface="Play"/>
              </a:rPr>
              <a:t> ANALIZA LAS ESTRUCTURAS DE ALMACENAMIENTO EN SISTEMAS DE ARCHIVOS, INTERPRETA CÓMO SE REPRESENTAN LOS DATOS Y METADATOS EN SISTEMAS DE ARCHIVOS LINUX Y APLICA ESQUEMAS DE ORGANIZACIÓN Y DIRECCIONAMIENTO DE DATOS MEDIANTE DIAGRAMACIÓN. </a:t>
            </a:r>
          </a:p>
        </p:txBody>
      </p:sp>
      <p:sp>
        <p:nvSpPr>
          <p:cNvPr name="TextBox 4" id="4"/>
          <p:cNvSpPr txBox="true"/>
          <p:nvPr/>
        </p:nvSpPr>
        <p:spPr>
          <a:xfrm rot="0">
            <a:off x="5620903" y="7473201"/>
            <a:ext cx="8440503" cy="1371600"/>
          </a:xfrm>
          <a:prstGeom prst="rect">
            <a:avLst/>
          </a:prstGeom>
        </p:spPr>
        <p:txBody>
          <a:bodyPr anchor="t" rtlCol="false" tIns="0" lIns="0" bIns="0" rIns="0">
            <a:spAutoFit/>
          </a:bodyPr>
          <a:lstStyle/>
          <a:p>
            <a:pPr algn="ctr">
              <a:lnSpc>
                <a:spcPts val="5544"/>
              </a:lnSpc>
            </a:pPr>
            <a:r>
              <a:rPr lang="en-US" sz="3300">
                <a:solidFill>
                  <a:srgbClr val="31356E"/>
                </a:solidFill>
                <a:latin typeface="Lexend Deca"/>
                <a:ea typeface="Lexend Deca"/>
                <a:cs typeface="Lexend Deca"/>
                <a:sym typeface="Lexend Deca"/>
              </a:rPr>
              <a:t>VALOR DE LA SEMANA: </a:t>
            </a:r>
          </a:p>
          <a:p>
            <a:pPr algn="ctr">
              <a:lnSpc>
                <a:spcPts val="5544"/>
              </a:lnSpc>
            </a:pPr>
            <a:r>
              <a:rPr lang="en-US" sz="3300">
                <a:solidFill>
                  <a:srgbClr val="31356E"/>
                </a:solidFill>
                <a:latin typeface="Lexend Deca"/>
                <a:ea typeface="Lexend Deca"/>
                <a:cs typeface="Lexend Deca"/>
                <a:sym typeface="Lexend Deca"/>
              </a:rPr>
              <a:t>TRABAJO EN EQUIPO</a:t>
            </a:r>
          </a:p>
        </p:txBody>
      </p:sp>
      <p:grpSp>
        <p:nvGrpSpPr>
          <p:cNvPr name="Group 5" id="5"/>
          <p:cNvGrpSpPr/>
          <p:nvPr/>
        </p:nvGrpSpPr>
        <p:grpSpPr>
          <a:xfrm rot="0">
            <a:off x="1028700" y="6177239"/>
            <a:ext cx="4115924" cy="4115924"/>
            <a:chOff x="0" y="0"/>
            <a:chExt cx="5487899" cy="5487899"/>
          </a:xfrm>
        </p:grpSpPr>
        <p:sp>
          <p:nvSpPr>
            <p:cNvPr name="Freeform 6" id="6"/>
            <p:cNvSpPr/>
            <p:nvPr/>
          </p:nvSpPr>
          <p:spPr>
            <a:xfrm flipH="false" flipV="false" rot="0">
              <a:off x="0" y="0"/>
              <a:ext cx="5487924" cy="5487924"/>
            </a:xfrm>
            <a:custGeom>
              <a:avLst/>
              <a:gdLst/>
              <a:ahLst/>
              <a:cxnLst/>
              <a:rect r="r" b="b" t="t" l="l"/>
              <a:pathLst>
                <a:path h="5487924" w="5487924">
                  <a:moveTo>
                    <a:pt x="0" y="0"/>
                  </a:moveTo>
                  <a:lnTo>
                    <a:pt x="5487924" y="0"/>
                  </a:lnTo>
                  <a:lnTo>
                    <a:pt x="5487924" y="5487924"/>
                  </a:lnTo>
                  <a:lnTo>
                    <a:pt x="0" y="5487924"/>
                  </a:lnTo>
                  <a:lnTo>
                    <a:pt x="0" y="0"/>
                  </a:lnTo>
                  <a:close/>
                </a:path>
              </a:pathLst>
            </a:custGeom>
            <a:blipFill>
              <a:blip r:embed="rId5"/>
              <a:stretch>
                <a:fillRect l="0" t="0" r="0" b="0"/>
              </a:stretch>
            </a:blip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63EF5"/>
        </a:solidFill>
      </p:bgPr>
    </p:bg>
    <p:spTree>
      <p:nvGrpSpPr>
        <p:cNvPr id="1" name=""/>
        <p:cNvGrpSpPr/>
        <p:nvPr/>
      </p:nvGrpSpPr>
      <p:grpSpPr>
        <a:xfrm>
          <a:off x="0" y="0"/>
          <a:ext cx="0" cy="0"/>
          <a:chOff x="0" y="0"/>
          <a:chExt cx="0" cy="0"/>
        </a:xfrm>
      </p:grpSpPr>
      <p:grpSp>
        <p:nvGrpSpPr>
          <p:cNvPr name="Group 2" id="2"/>
          <p:cNvGrpSpPr/>
          <p:nvPr/>
        </p:nvGrpSpPr>
        <p:grpSpPr>
          <a:xfrm rot="0">
            <a:off x="57" y="5649001"/>
            <a:ext cx="14740804" cy="4637999"/>
            <a:chOff x="0" y="0"/>
            <a:chExt cx="19654406" cy="6183998"/>
          </a:xfrm>
        </p:grpSpPr>
        <p:sp>
          <p:nvSpPr>
            <p:cNvPr name="Freeform 3" id="3"/>
            <p:cNvSpPr/>
            <p:nvPr/>
          </p:nvSpPr>
          <p:spPr>
            <a:xfrm flipH="false" flipV="false" rot="0">
              <a:off x="0" y="0"/>
              <a:ext cx="19654393" cy="6184011"/>
            </a:xfrm>
            <a:custGeom>
              <a:avLst/>
              <a:gdLst/>
              <a:ahLst/>
              <a:cxnLst/>
              <a:rect r="r" b="b" t="t" l="l"/>
              <a:pathLst>
                <a:path h="6184011" w="19654393">
                  <a:moveTo>
                    <a:pt x="0" y="6184011"/>
                  </a:moveTo>
                  <a:lnTo>
                    <a:pt x="0" y="0"/>
                  </a:lnTo>
                  <a:lnTo>
                    <a:pt x="19654393" y="6184011"/>
                  </a:lnTo>
                  <a:close/>
                </a:path>
              </a:pathLst>
            </a:custGeom>
            <a:solidFill>
              <a:srgbClr val="00796B"/>
            </a:solidFill>
          </p:spPr>
        </p:sp>
      </p:grpSp>
      <p:grpSp>
        <p:nvGrpSpPr>
          <p:cNvPr name="Group 4" id="4"/>
          <p:cNvGrpSpPr/>
          <p:nvPr/>
        </p:nvGrpSpPr>
        <p:grpSpPr>
          <a:xfrm rot="0">
            <a:off x="7165200" y="3101397"/>
            <a:ext cx="11122800" cy="7185603"/>
            <a:chOff x="0" y="0"/>
            <a:chExt cx="14830400" cy="9580804"/>
          </a:xfrm>
        </p:grpSpPr>
        <p:sp>
          <p:nvSpPr>
            <p:cNvPr name="Freeform 5" id="5"/>
            <p:cNvSpPr/>
            <p:nvPr/>
          </p:nvSpPr>
          <p:spPr>
            <a:xfrm flipH="false" flipV="false" rot="0">
              <a:off x="0" y="0"/>
              <a:ext cx="14830425" cy="9580753"/>
            </a:xfrm>
            <a:custGeom>
              <a:avLst/>
              <a:gdLst/>
              <a:ahLst/>
              <a:cxnLst/>
              <a:rect r="r" b="b" t="t" l="l"/>
              <a:pathLst>
                <a:path h="9580753" w="14830425">
                  <a:moveTo>
                    <a:pt x="14830425" y="9580753"/>
                  </a:moveTo>
                  <a:lnTo>
                    <a:pt x="14830425" y="0"/>
                  </a:lnTo>
                  <a:lnTo>
                    <a:pt x="0" y="9580753"/>
                  </a:lnTo>
                  <a:close/>
                </a:path>
              </a:pathLst>
            </a:custGeom>
            <a:solidFill>
              <a:srgbClr val="C4A15A"/>
            </a:solidFill>
          </p:spPr>
        </p:sp>
      </p:grpSp>
      <p:grpSp>
        <p:nvGrpSpPr>
          <p:cNvPr name="Group 6" id="6"/>
          <p:cNvGrpSpPr/>
          <p:nvPr/>
        </p:nvGrpSpPr>
        <p:grpSpPr>
          <a:xfrm rot="-10800000">
            <a:off x="10117807" y="0"/>
            <a:ext cx="8170202" cy="4105199"/>
            <a:chOff x="0" y="0"/>
            <a:chExt cx="10893603" cy="5473598"/>
          </a:xfrm>
        </p:grpSpPr>
        <p:sp>
          <p:nvSpPr>
            <p:cNvPr name="Freeform 7" id="7"/>
            <p:cNvSpPr/>
            <p:nvPr/>
          </p:nvSpPr>
          <p:spPr>
            <a:xfrm flipH="false" flipV="false" rot="0">
              <a:off x="0" y="0"/>
              <a:ext cx="10893552" cy="5473573"/>
            </a:xfrm>
            <a:custGeom>
              <a:avLst/>
              <a:gdLst/>
              <a:ahLst/>
              <a:cxnLst/>
              <a:rect r="r" b="b" t="t" l="l"/>
              <a:pathLst>
                <a:path h="5473573" w="10893552">
                  <a:moveTo>
                    <a:pt x="0" y="5473573"/>
                  </a:moveTo>
                  <a:lnTo>
                    <a:pt x="0" y="0"/>
                  </a:lnTo>
                  <a:lnTo>
                    <a:pt x="10893552" y="5473573"/>
                  </a:lnTo>
                  <a:close/>
                </a:path>
              </a:pathLst>
            </a:custGeom>
            <a:solidFill>
              <a:srgbClr val="233A44"/>
            </a:solidFill>
          </p:spPr>
        </p:sp>
      </p:grpSp>
      <p:grpSp>
        <p:nvGrpSpPr>
          <p:cNvPr name="Group 8" id="8"/>
          <p:cNvGrpSpPr/>
          <p:nvPr/>
        </p:nvGrpSpPr>
        <p:grpSpPr>
          <a:xfrm rot="0">
            <a:off x="406546" y="412499"/>
            <a:ext cx="17475003" cy="9462002"/>
            <a:chOff x="0" y="0"/>
            <a:chExt cx="23300004" cy="12616002"/>
          </a:xfrm>
        </p:grpSpPr>
        <p:sp>
          <p:nvSpPr>
            <p:cNvPr name="Freeform 9" id="9"/>
            <p:cNvSpPr/>
            <p:nvPr/>
          </p:nvSpPr>
          <p:spPr>
            <a:xfrm flipH="false" flipV="false" rot="0">
              <a:off x="0" y="0"/>
              <a:ext cx="23300055" cy="12616053"/>
            </a:xfrm>
            <a:custGeom>
              <a:avLst/>
              <a:gdLst/>
              <a:ahLst/>
              <a:cxnLst/>
              <a:rect r="r" b="b" t="t" l="l"/>
              <a:pathLst>
                <a:path h="12616053" w="23300055">
                  <a:moveTo>
                    <a:pt x="0" y="0"/>
                  </a:moveTo>
                  <a:lnTo>
                    <a:pt x="23300055" y="0"/>
                  </a:lnTo>
                  <a:lnTo>
                    <a:pt x="23300055" y="12616053"/>
                  </a:lnTo>
                  <a:lnTo>
                    <a:pt x="0" y="12616053"/>
                  </a:lnTo>
                  <a:close/>
                </a:path>
              </a:pathLst>
            </a:custGeom>
            <a:solidFill>
              <a:srgbClr val="FFFFFF"/>
            </a:solidFill>
          </p:spPr>
        </p:sp>
      </p:grpSp>
      <p:sp>
        <p:nvSpPr>
          <p:cNvPr name="Freeform 10" id="10"/>
          <p:cNvSpPr/>
          <p:nvPr/>
        </p:nvSpPr>
        <p:spPr>
          <a:xfrm flipH="false" flipV="false" rot="0">
            <a:off x="510397" y="1181"/>
            <a:ext cx="4500724" cy="2088604"/>
          </a:xfrm>
          <a:custGeom>
            <a:avLst/>
            <a:gdLst/>
            <a:ahLst/>
            <a:cxnLst/>
            <a:rect r="r" b="b" t="t" l="l"/>
            <a:pathLst>
              <a:path h="2088604" w="4500724">
                <a:moveTo>
                  <a:pt x="0" y="0"/>
                </a:moveTo>
                <a:lnTo>
                  <a:pt x="4500725" y="0"/>
                </a:lnTo>
                <a:lnTo>
                  <a:pt x="4500725" y="2088604"/>
                </a:lnTo>
                <a:lnTo>
                  <a:pt x="0" y="20886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810788" y="1181"/>
            <a:ext cx="4500724" cy="2088604"/>
          </a:xfrm>
          <a:custGeom>
            <a:avLst/>
            <a:gdLst/>
            <a:ahLst/>
            <a:cxnLst/>
            <a:rect r="r" b="b" t="t" l="l"/>
            <a:pathLst>
              <a:path h="2088604" w="4500724">
                <a:moveTo>
                  <a:pt x="0" y="0"/>
                </a:moveTo>
                <a:lnTo>
                  <a:pt x="4500725" y="0"/>
                </a:lnTo>
                <a:lnTo>
                  <a:pt x="4500725" y="2088604"/>
                </a:lnTo>
                <a:lnTo>
                  <a:pt x="0" y="20886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4114936" y="10173"/>
            <a:ext cx="3702568" cy="1504217"/>
          </a:xfrm>
          <a:custGeom>
            <a:avLst/>
            <a:gdLst/>
            <a:ahLst/>
            <a:cxnLst/>
            <a:rect r="r" b="b" t="t" l="l"/>
            <a:pathLst>
              <a:path h="1504217" w="3702568">
                <a:moveTo>
                  <a:pt x="0" y="0"/>
                </a:moveTo>
                <a:lnTo>
                  <a:pt x="3702567" y="0"/>
                </a:lnTo>
                <a:lnTo>
                  <a:pt x="3702567" y="1504216"/>
                </a:lnTo>
                <a:lnTo>
                  <a:pt x="0" y="15042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3106067" y="8435702"/>
            <a:ext cx="4778131" cy="1851479"/>
          </a:xfrm>
          <a:custGeom>
            <a:avLst/>
            <a:gdLst/>
            <a:ahLst/>
            <a:cxnLst/>
            <a:rect r="r" b="b" t="t" l="l"/>
            <a:pathLst>
              <a:path h="1851479" w="4778131">
                <a:moveTo>
                  <a:pt x="0" y="0"/>
                </a:moveTo>
                <a:lnTo>
                  <a:pt x="4778130" y="0"/>
                </a:lnTo>
                <a:lnTo>
                  <a:pt x="4778130" y="1851479"/>
                </a:lnTo>
                <a:lnTo>
                  <a:pt x="0" y="18514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98297" y="8111300"/>
            <a:ext cx="5590823" cy="2166614"/>
          </a:xfrm>
          <a:custGeom>
            <a:avLst/>
            <a:gdLst/>
            <a:ahLst/>
            <a:cxnLst/>
            <a:rect r="r" b="b" t="t" l="l"/>
            <a:pathLst>
              <a:path h="2166614" w="5590823">
                <a:moveTo>
                  <a:pt x="0" y="0"/>
                </a:moveTo>
                <a:lnTo>
                  <a:pt x="5590823" y="0"/>
                </a:lnTo>
                <a:lnTo>
                  <a:pt x="5590823" y="2166613"/>
                </a:lnTo>
                <a:lnTo>
                  <a:pt x="0" y="216661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5" id="15"/>
          <p:cNvSpPr txBox="true"/>
          <p:nvPr/>
        </p:nvSpPr>
        <p:spPr>
          <a:xfrm rot="0">
            <a:off x="846973" y="4129973"/>
            <a:ext cx="7592101" cy="1371600"/>
          </a:xfrm>
          <a:prstGeom prst="rect">
            <a:avLst/>
          </a:prstGeom>
        </p:spPr>
        <p:txBody>
          <a:bodyPr anchor="t" rtlCol="false" tIns="0" lIns="0" bIns="0" rIns="0">
            <a:spAutoFit/>
          </a:bodyPr>
          <a:lstStyle/>
          <a:p>
            <a:pPr algn="ctr">
              <a:lnSpc>
                <a:spcPts val="5544"/>
              </a:lnSpc>
            </a:pPr>
            <a:r>
              <a:rPr lang="en-US" sz="3300">
                <a:solidFill>
                  <a:srgbClr val="31356E"/>
                </a:solidFill>
                <a:latin typeface="Lexend Deca"/>
                <a:ea typeface="Lexend Deca"/>
                <a:cs typeface="Lexend Deca"/>
                <a:sym typeface="Lexend Deca"/>
              </a:rPr>
              <a:t>VALOR DE LA SEMANA: </a:t>
            </a:r>
          </a:p>
          <a:p>
            <a:pPr algn="ctr">
              <a:lnSpc>
                <a:spcPts val="5544"/>
              </a:lnSpc>
            </a:pPr>
            <a:r>
              <a:rPr lang="en-US" sz="3300">
                <a:solidFill>
                  <a:srgbClr val="31356E"/>
                </a:solidFill>
                <a:latin typeface="Lexend Deca"/>
                <a:ea typeface="Lexend Deca"/>
                <a:cs typeface="Lexend Deca"/>
                <a:sym typeface="Lexend Deca"/>
              </a:rPr>
              <a:t>TRABAJO EN EQUIPO</a:t>
            </a:r>
          </a:p>
        </p:txBody>
      </p:sp>
      <p:grpSp>
        <p:nvGrpSpPr>
          <p:cNvPr name="Group 16" id="16"/>
          <p:cNvGrpSpPr/>
          <p:nvPr/>
        </p:nvGrpSpPr>
        <p:grpSpPr>
          <a:xfrm rot="0">
            <a:off x="9939137" y="5389902"/>
            <a:ext cx="6217472" cy="3497323"/>
            <a:chOff x="0" y="0"/>
            <a:chExt cx="8289963" cy="4663097"/>
          </a:xfrm>
        </p:grpSpPr>
        <p:sp>
          <p:nvSpPr>
            <p:cNvPr name="Freeform 17" id="17"/>
            <p:cNvSpPr/>
            <p:nvPr/>
          </p:nvSpPr>
          <p:spPr>
            <a:xfrm flipH="false" flipV="false" rot="0">
              <a:off x="0" y="0"/>
              <a:ext cx="8289925" cy="4663059"/>
            </a:xfrm>
            <a:custGeom>
              <a:avLst/>
              <a:gdLst/>
              <a:ahLst/>
              <a:cxnLst/>
              <a:rect r="r" b="b" t="t" l="l"/>
              <a:pathLst>
                <a:path h="4663059" w="8289925">
                  <a:moveTo>
                    <a:pt x="0" y="0"/>
                  </a:moveTo>
                  <a:lnTo>
                    <a:pt x="8289925" y="0"/>
                  </a:lnTo>
                  <a:lnTo>
                    <a:pt x="8289925" y="4663059"/>
                  </a:lnTo>
                  <a:lnTo>
                    <a:pt x="0" y="4663059"/>
                  </a:lnTo>
                  <a:lnTo>
                    <a:pt x="0" y="0"/>
                  </a:lnTo>
                  <a:close/>
                </a:path>
              </a:pathLst>
            </a:custGeom>
            <a:blipFill>
              <a:blip r:embed="rId13"/>
              <a:stretch>
                <a:fillRect l="0" t="0" r="0" b="-1"/>
              </a:stretch>
            </a:blipFill>
          </p:spPr>
        </p:sp>
      </p:grpSp>
      <p:grpSp>
        <p:nvGrpSpPr>
          <p:cNvPr name="Group 18" id="18"/>
          <p:cNvGrpSpPr/>
          <p:nvPr/>
        </p:nvGrpSpPr>
        <p:grpSpPr>
          <a:xfrm rot="0">
            <a:off x="10062353" y="1555375"/>
            <a:ext cx="5971051" cy="3358725"/>
            <a:chOff x="0" y="0"/>
            <a:chExt cx="7961401" cy="4478299"/>
          </a:xfrm>
        </p:grpSpPr>
        <p:sp>
          <p:nvSpPr>
            <p:cNvPr name="Freeform 19" id="19"/>
            <p:cNvSpPr/>
            <p:nvPr/>
          </p:nvSpPr>
          <p:spPr>
            <a:xfrm flipH="false" flipV="false" rot="0">
              <a:off x="0" y="0"/>
              <a:ext cx="7961376" cy="4478274"/>
            </a:xfrm>
            <a:custGeom>
              <a:avLst/>
              <a:gdLst/>
              <a:ahLst/>
              <a:cxnLst/>
              <a:rect r="r" b="b" t="t" l="l"/>
              <a:pathLst>
                <a:path h="4478274" w="7961376">
                  <a:moveTo>
                    <a:pt x="0" y="0"/>
                  </a:moveTo>
                  <a:lnTo>
                    <a:pt x="7961376" y="0"/>
                  </a:lnTo>
                  <a:lnTo>
                    <a:pt x="7961376" y="4478274"/>
                  </a:lnTo>
                  <a:lnTo>
                    <a:pt x="0" y="4478274"/>
                  </a:lnTo>
                  <a:lnTo>
                    <a:pt x="0" y="0"/>
                  </a:lnTo>
                  <a:close/>
                </a:path>
              </a:pathLst>
            </a:custGeom>
            <a:blipFill>
              <a:blip r:embed="rId14"/>
              <a:stretch>
                <a:fillRect l="0" t="0" r="0" b="0"/>
              </a:stretch>
            </a:blip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63EF5"/>
        </a:solidFill>
      </p:bgPr>
    </p:bg>
    <p:spTree>
      <p:nvGrpSpPr>
        <p:cNvPr id="1" name=""/>
        <p:cNvGrpSpPr/>
        <p:nvPr/>
      </p:nvGrpSpPr>
      <p:grpSpPr>
        <a:xfrm>
          <a:off x="0" y="0"/>
          <a:ext cx="0" cy="0"/>
          <a:chOff x="0" y="0"/>
          <a:chExt cx="0" cy="0"/>
        </a:xfrm>
      </p:grpSpPr>
      <p:grpSp>
        <p:nvGrpSpPr>
          <p:cNvPr name="Group 2" id="2"/>
          <p:cNvGrpSpPr/>
          <p:nvPr/>
        </p:nvGrpSpPr>
        <p:grpSpPr>
          <a:xfrm rot="0">
            <a:off x="57" y="5649001"/>
            <a:ext cx="14740804" cy="4637999"/>
            <a:chOff x="0" y="0"/>
            <a:chExt cx="19654406" cy="6183998"/>
          </a:xfrm>
        </p:grpSpPr>
        <p:sp>
          <p:nvSpPr>
            <p:cNvPr name="Freeform 3" id="3"/>
            <p:cNvSpPr/>
            <p:nvPr/>
          </p:nvSpPr>
          <p:spPr>
            <a:xfrm flipH="false" flipV="false" rot="0">
              <a:off x="0" y="0"/>
              <a:ext cx="19654393" cy="6184011"/>
            </a:xfrm>
            <a:custGeom>
              <a:avLst/>
              <a:gdLst/>
              <a:ahLst/>
              <a:cxnLst/>
              <a:rect r="r" b="b" t="t" l="l"/>
              <a:pathLst>
                <a:path h="6184011" w="19654393">
                  <a:moveTo>
                    <a:pt x="0" y="6184011"/>
                  </a:moveTo>
                  <a:lnTo>
                    <a:pt x="0" y="0"/>
                  </a:lnTo>
                  <a:lnTo>
                    <a:pt x="19654393" y="6184011"/>
                  </a:lnTo>
                  <a:close/>
                </a:path>
              </a:pathLst>
            </a:custGeom>
            <a:solidFill>
              <a:srgbClr val="00796B"/>
            </a:solidFill>
          </p:spPr>
        </p:sp>
      </p:grpSp>
      <p:grpSp>
        <p:nvGrpSpPr>
          <p:cNvPr name="Group 4" id="4"/>
          <p:cNvGrpSpPr/>
          <p:nvPr/>
        </p:nvGrpSpPr>
        <p:grpSpPr>
          <a:xfrm rot="0">
            <a:off x="7165200" y="3101397"/>
            <a:ext cx="11122800" cy="7185603"/>
            <a:chOff x="0" y="0"/>
            <a:chExt cx="14830400" cy="9580804"/>
          </a:xfrm>
        </p:grpSpPr>
        <p:sp>
          <p:nvSpPr>
            <p:cNvPr name="Freeform 5" id="5"/>
            <p:cNvSpPr/>
            <p:nvPr/>
          </p:nvSpPr>
          <p:spPr>
            <a:xfrm flipH="false" flipV="false" rot="0">
              <a:off x="0" y="0"/>
              <a:ext cx="14830425" cy="9580753"/>
            </a:xfrm>
            <a:custGeom>
              <a:avLst/>
              <a:gdLst/>
              <a:ahLst/>
              <a:cxnLst/>
              <a:rect r="r" b="b" t="t" l="l"/>
              <a:pathLst>
                <a:path h="9580753" w="14830425">
                  <a:moveTo>
                    <a:pt x="14830425" y="9580753"/>
                  </a:moveTo>
                  <a:lnTo>
                    <a:pt x="14830425" y="0"/>
                  </a:lnTo>
                  <a:lnTo>
                    <a:pt x="0" y="9580753"/>
                  </a:lnTo>
                  <a:close/>
                </a:path>
              </a:pathLst>
            </a:custGeom>
            <a:solidFill>
              <a:srgbClr val="C4A15A"/>
            </a:solidFill>
          </p:spPr>
        </p:sp>
      </p:grpSp>
      <p:grpSp>
        <p:nvGrpSpPr>
          <p:cNvPr name="Group 6" id="6"/>
          <p:cNvGrpSpPr/>
          <p:nvPr/>
        </p:nvGrpSpPr>
        <p:grpSpPr>
          <a:xfrm rot="-10800000">
            <a:off x="10117807" y="0"/>
            <a:ext cx="8170202" cy="4105199"/>
            <a:chOff x="0" y="0"/>
            <a:chExt cx="10893603" cy="5473598"/>
          </a:xfrm>
        </p:grpSpPr>
        <p:sp>
          <p:nvSpPr>
            <p:cNvPr name="Freeform 7" id="7"/>
            <p:cNvSpPr/>
            <p:nvPr/>
          </p:nvSpPr>
          <p:spPr>
            <a:xfrm flipH="false" flipV="false" rot="0">
              <a:off x="0" y="0"/>
              <a:ext cx="10893552" cy="5473573"/>
            </a:xfrm>
            <a:custGeom>
              <a:avLst/>
              <a:gdLst/>
              <a:ahLst/>
              <a:cxnLst/>
              <a:rect r="r" b="b" t="t" l="l"/>
              <a:pathLst>
                <a:path h="5473573" w="10893552">
                  <a:moveTo>
                    <a:pt x="0" y="5473573"/>
                  </a:moveTo>
                  <a:lnTo>
                    <a:pt x="0" y="0"/>
                  </a:lnTo>
                  <a:lnTo>
                    <a:pt x="10893552" y="5473573"/>
                  </a:lnTo>
                  <a:close/>
                </a:path>
              </a:pathLst>
            </a:custGeom>
            <a:solidFill>
              <a:srgbClr val="233A44"/>
            </a:solidFill>
          </p:spPr>
        </p:sp>
      </p:grpSp>
      <p:grpSp>
        <p:nvGrpSpPr>
          <p:cNvPr name="Group 8" id="8"/>
          <p:cNvGrpSpPr/>
          <p:nvPr/>
        </p:nvGrpSpPr>
        <p:grpSpPr>
          <a:xfrm rot="0">
            <a:off x="406546" y="412499"/>
            <a:ext cx="17475003" cy="9462002"/>
            <a:chOff x="0" y="0"/>
            <a:chExt cx="23300004" cy="12616002"/>
          </a:xfrm>
        </p:grpSpPr>
        <p:sp>
          <p:nvSpPr>
            <p:cNvPr name="Freeform 9" id="9"/>
            <p:cNvSpPr/>
            <p:nvPr/>
          </p:nvSpPr>
          <p:spPr>
            <a:xfrm flipH="false" flipV="false" rot="0">
              <a:off x="0" y="0"/>
              <a:ext cx="23300055" cy="12616053"/>
            </a:xfrm>
            <a:custGeom>
              <a:avLst/>
              <a:gdLst/>
              <a:ahLst/>
              <a:cxnLst/>
              <a:rect r="r" b="b" t="t" l="l"/>
              <a:pathLst>
                <a:path h="12616053" w="23300055">
                  <a:moveTo>
                    <a:pt x="0" y="0"/>
                  </a:moveTo>
                  <a:lnTo>
                    <a:pt x="23300055" y="0"/>
                  </a:lnTo>
                  <a:lnTo>
                    <a:pt x="23300055" y="12616053"/>
                  </a:lnTo>
                  <a:lnTo>
                    <a:pt x="0" y="12616053"/>
                  </a:lnTo>
                  <a:close/>
                </a:path>
              </a:pathLst>
            </a:custGeom>
            <a:solidFill>
              <a:srgbClr val="FFFFFF"/>
            </a:solidFill>
          </p:spPr>
        </p:sp>
      </p:grpSp>
      <p:sp>
        <p:nvSpPr>
          <p:cNvPr name="Freeform 10" id="10"/>
          <p:cNvSpPr/>
          <p:nvPr/>
        </p:nvSpPr>
        <p:spPr>
          <a:xfrm flipH="false" flipV="false" rot="0">
            <a:off x="510397" y="1181"/>
            <a:ext cx="4500724" cy="2088604"/>
          </a:xfrm>
          <a:custGeom>
            <a:avLst/>
            <a:gdLst/>
            <a:ahLst/>
            <a:cxnLst/>
            <a:rect r="r" b="b" t="t" l="l"/>
            <a:pathLst>
              <a:path h="2088604" w="4500724">
                <a:moveTo>
                  <a:pt x="0" y="0"/>
                </a:moveTo>
                <a:lnTo>
                  <a:pt x="4500725" y="0"/>
                </a:lnTo>
                <a:lnTo>
                  <a:pt x="4500725" y="2088604"/>
                </a:lnTo>
                <a:lnTo>
                  <a:pt x="0" y="20886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810788" y="1181"/>
            <a:ext cx="4500724" cy="2088604"/>
          </a:xfrm>
          <a:custGeom>
            <a:avLst/>
            <a:gdLst/>
            <a:ahLst/>
            <a:cxnLst/>
            <a:rect r="r" b="b" t="t" l="l"/>
            <a:pathLst>
              <a:path h="2088604" w="4500724">
                <a:moveTo>
                  <a:pt x="0" y="0"/>
                </a:moveTo>
                <a:lnTo>
                  <a:pt x="4500725" y="0"/>
                </a:lnTo>
                <a:lnTo>
                  <a:pt x="4500725" y="2088604"/>
                </a:lnTo>
                <a:lnTo>
                  <a:pt x="0" y="20886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4114936" y="10173"/>
            <a:ext cx="3702568" cy="1504217"/>
          </a:xfrm>
          <a:custGeom>
            <a:avLst/>
            <a:gdLst/>
            <a:ahLst/>
            <a:cxnLst/>
            <a:rect r="r" b="b" t="t" l="l"/>
            <a:pathLst>
              <a:path h="1504217" w="3702568">
                <a:moveTo>
                  <a:pt x="0" y="0"/>
                </a:moveTo>
                <a:lnTo>
                  <a:pt x="3702567" y="0"/>
                </a:lnTo>
                <a:lnTo>
                  <a:pt x="3702567" y="1504216"/>
                </a:lnTo>
                <a:lnTo>
                  <a:pt x="0" y="15042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3106067" y="8435702"/>
            <a:ext cx="4778131" cy="1851479"/>
          </a:xfrm>
          <a:custGeom>
            <a:avLst/>
            <a:gdLst/>
            <a:ahLst/>
            <a:cxnLst/>
            <a:rect r="r" b="b" t="t" l="l"/>
            <a:pathLst>
              <a:path h="1851479" w="4778131">
                <a:moveTo>
                  <a:pt x="0" y="0"/>
                </a:moveTo>
                <a:lnTo>
                  <a:pt x="4778130" y="0"/>
                </a:lnTo>
                <a:lnTo>
                  <a:pt x="4778130" y="1851479"/>
                </a:lnTo>
                <a:lnTo>
                  <a:pt x="0" y="18514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98297" y="8111300"/>
            <a:ext cx="5590823" cy="2166614"/>
          </a:xfrm>
          <a:custGeom>
            <a:avLst/>
            <a:gdLst/>
            <a:ahLst/>
            <a:cxnLst/>
            <a:rect r="r" b="b" t="t" l="l"/>
            <a:pathLst>
              <a:path h="2166614" w="5590823">
                <a:moveTo>
                  <a:pt x="0" y="0"/>
                </a:moveTo>
                <a:lnTo>
                  <a:pt x="5590823" y="0"/>
                </a:lnTo>
                <a:lnTo>
                  <a:pt x="5590823" y="2166613"/>
                </a:lnTo>
                <a:lnTo>
                  <a:pt x="0" y="216661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5" id="15"/>
          <p:cNvSpPr txBox="true"/>
          <p:nvPr/>
        </p:nvSpPr>
        <p:spPr>
          <a:xfrm rot="0">
            <a:off x="1912077" y="3313147"/>
            <a:ext cx="9730197" cy="3272171"/>
          </a:xfrm>
          <a:prstGeom prst="rect">
            <a:avLst/>
          </a:prstGeom>
        </p:spPr>
        <p:txBody>
          <a:bodyPr anchor="t" rtlCol="false" tIns="0" lIns="0" bIns="0" rIns="0">
            <a:spAutoFit/>
          </a:bodyPr>
          <a:lstStyle/>
          <a:p>
            <a:pPr algn="just">
              <a:lnSpc>
                <a:spcPts val="8984"/>
              </a:lnSpc>
            </a:pPr>
            <a:r>
              <a:rPr lang="en-US" b="true" sz="7198">
                <a:solidFill>
                  <a:srgbClr val="131416"/>
                </a:solidFill>
                <a:latin typeface="Montserrat Bold"/>
                <a:ea typeface="Montserrat Bold"/>
                <a:cs typeface="Montserrat Bold"/>
                <a:sym typeface="Montserrat Bold"/>
              </a:rPr>
              <a:t>Practiquemos lo aprendido - corto 6</a:t>
            </a:r>
          </a:p>
          <a:p>
            <a:pPr algn="just">
              <a:lnSpc>
                <a:spcPts val="1747"/>
              </a:lnSpc>
            </a:pPr>
          </a:p>
        </p:txBody>
      </p:sp>
      <p:grpSp>
        <p:nvGrpSpPr>
          <p:cNvPr name="Group 16" id="16"/>
          <p:cNvGrpSpPr/>
          <p:nvPr/>
        </p:nvGrpSpPr>
        <p:grpSpPr>
          <a:xfrm rot="0">
            <a:off x="13498249" y="4457948"/>
            <a:ext cx="3732305" cy="5114649"/>
            <a:chOff x="0" y="0"/>
            <a:chExt cx="4976406" cy="6819532"/>
          </a:xfrm>
        </p:grpSpPr>
        <p:sp>
          <p:nvSpPr>
            <p:cNvPr name="Freeform 17" id="17"/>
            <p:cNvSpPr/>
            <p:nvPr/>
          </p:nvSpPr>
          <p:spPr>
            <a:xfrm flipH="false" flipV="false" rot="0">
              <a:off x="0" y="0"/>
              <a:ext cx="4976368" cy="6819519"/>
            </a:xfrm>
            <a:custGeom>
              <a:avLst/>
              <a:gdLst/>
              <a:ahLst/>
              <a:cxnLst/>
              <a:rect r="r" b="b" t="t" l="l"/>
              <a:pathLst>
                <a:path h="6819519" w="4976368">
                  <a:moveTo>
                    <a:pt x="0" y="0"/>
                  </a:moveTo>
                  <a:lnTo>
                    <a:pt x="4976368" y="0"/>
                  </a:lnTo>
                  <a:lnTo>
                    <a:pt x="4976368" y="6819519"/>
                  </a:lnTo>
                  <a:lnTo>
                    <a:pt x="0" y="6819519"/>
                  </a:lnTo>
                  <a:lnTo>
                    <a:pt x="0" y="0"/>
                  </a:lnTo>
                  <a:close/>
                </a:path>
              </a:pathLst>
            </a:custGeom>
            <a:blipFill>
              <a:blip r:embed="rId13"/>
              <a:stretch>
                <a:fillRect l="0" t="0" r="0" b="0"/>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6902" y="0"/>
            <a:ext cx="18254198" cy="10287002"/>
            <a:chOff x="0" y="0"/>
            <a:chExt cx="24338931" cy="13716003"/>
          </a:xfrm>
        </p:grpSpPr>
        <p:sp>
          <p:nvSpPr>
            <p:cNvPr name="Freeform 3" id="3"/>
            <p:cNvSpPr/>
            <p:nvPr/>
          </p:nvSpPr>
          <p:spPr>
            <a:xfrm flipH="false" flipV="false" rot="0">
              <a:off x="0" y="0"/>
              <a:ext cx="24338914" cy="13716000"/>
            </a:xfrm>
            <a:custGeom>
              <a:avLst/>
              <a:gdLst/>
              <a:ahLst/>
              <a:cxnLst/>
              <a:rect r="r" b="b" t="t" l="l"/>
              <a:pathLst>
                <a:path h="13716000" w="24338914">
                  <a:moveTo>
                    <a:pt x="0" y="0"/>
                  </a:moveTo>
                  <a:lnTo>
                    <a:pt x="24338914" y="0"/>
                  </a:lnTo>
                  <a:lnTo>
                    <a:pt x="24338914" y="13716000"/>
                  </a:lnTo>
                  <a:lnTo>
                    <a:pt x="0" y="13716000"/>
                  </a:lnTo>
                  <a:lnTo>
                    <a:pt x="0" y="0"/>
                  </a:lnTo>
                  <a:close/>
                </a:path>
              </a:pathLst>
            </a:custGeom>
            <a:blipFill>
              <a:blip r:embed="rId3">
                <a:alphaModFix amt="62000"/>
              </a:blip>
              <a:stretch>
                <a:fillRect l="0" t="0" r="0" b="0"/>
              </a:stretch>
            </a:blipFill>
          </p:spPr>
        </p:sp>
      </p:grpSp>
      <p:graphicFrame>
        <p:nvGraphicFramePr>
          <p:cNvPr name="Table 4" id="4"/>
          <p:cNvGraphicFramePr>
            <a:graphicFrameLocks noGrp="true"/>
          </p:cNvGraphicFramePr>
          <p:nvPr/>
        </p:nvGraphicFramePr>
        <p:xfrm>
          <a:off x="16902" y="1642394"/>
          <a:ext cx="10414000" cy="2576512"/>
        </p:xfrm>
        <a:graphic>
          <a:graphicData uri="http://schemas.openxmlformats.org/drawingml/2006/table">
            <a:tbl>
              <a:tblPr/>
              <a:tblGrid>
                <a:gridCol w="5508899"/>
                <a:gridCol w="4905101"/>
              </a:tblGrid>
              <a:tr h="715698">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Nombre de la actividad:</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39"/>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5698">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Cantidad de participantes: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145117">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Doy fe que esta actividad está planificada en dtt (Sí/No):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91425" y="4316175"/>
            <a:ext cx="17854950" cy="67470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MT Pro Bold"/>
                <a:ea typeface="Arial MT Pro Bold"/>
                <a:cs typeface="Arial MT Pro Bold"/>
                <a:sym typeface="Arial MT Pro Bold"/>
              </a:rPr>
              <a:t>Participantes: llenar las siguientes cajas de texto (tomar información del chat del meet)</a:t>
            </a:r>
          </a:p>
        </p:txBody>
      </p:sp>
      <p:grpSp>
        <p:nvGrpSpPr>
          <p:cNvPr name="Group 6" id="6"/>
          <p:cNvGrpSpPr/>
          <p:nvPr/>
        </p:nvGrpSpPr>
        <p:grpSpPr>
          <a:xfrm rot="0">
            <a:off x="7375" y="4946275"/>
            <a:ext cx="6186450" cy="5129250"/>
            <a:chOff x="0" y="0"/>
            <a:chExt cx="8248600" cy="6839000"/>
          </a:xfrm>
        </p:grpSpPr>
        <p:sp>
          <p:nvSpPr>
            <p:cNvPr name="Freeform 7" id="7"/>
            <p:cNvSpPr/>
            <p:nvPr/>
          </p:nvSpPr>
          <p:spPr>
            <a:xfrm flipH="false" flipV="false" rot="0">
              <a:off x="0" y="0"/>
              <a:ext cx="8248650" cy="6838950"/>
            </a:xfrm>
            <a:custGeom>
              <a:avLst/>
              <a:gdLst/>
              <a:ahLst/>
              <a:cxnLst/>
              <a:rect r="r" b="b" t="t" l="l"/>
              <a:pathLst>
                <a:path h="6838950" w="8248650">
                  <a:moveTo>
                    <a:pt x="12700" y="0"/>
                  </a:moveTo>
                  <a:lnTo>
                    <a:pt x="8235950" y="0"/>
                  </a:lnTo>
                  <a:cubicBezTo>
                    <a:pt x="8242935" y="0"/>
                    <a:pt x="8248650" y="5715"/>
                    <a:pt x="8248650" y="12700"/>
                  </a:cubicBezTo>
                  <a:lnTo>
                    <a:pt x="8248650" y="6826250"/>
                  </a:lnTo>
                  <a:cubicBezTo>
                    <a:pt x="8248650" y="6833235"/>
                    <a:pt x="8242935" y="6838950"/>
                    <a:pt x="8235950" y="6838950"/>
                  </a:cubicBezTo>
                  <a:lnTo>
                    <a:pt x="12700" y="6838950"/>
                  </a:lnTo>
                  <a:cubicBezTo>
                    <a:pt x="5715" y="6838950"/>
                    <a:pt x="0" y="6833235"/>
                    <a:pt x="0" y="6826250"/>
                  </a:cubicBezTo>
                  <a:lnTo>
                    <a:pt x="0" y="12700"/>
                  </a:lnTo>
                  <a:cubicBezTo>
                    <a:pt x="0" y="5715"/>
                    <a:pt x="5715" y="0"/>
                    <a:pt x="12700" y="0"/>
                  </a:cubicBezTo>
                  <a:moveTo>
                    <a:pt x="12700" y="25400"/>
                  </a:moveTo>
                  <a:lnTo>
                    <a:pt x="12700" y="12700"/>
                  </a:lnTo>
                  <a:lnTo>
                    <a:pt x="25400" y="12700"/>
                  </a:lnTo>
                  <a:lnTo>
                    <a:pt x="25400" y="6826250"/>
                  </a:lnTo>
                  <a:lnTo>
                    <a:pt x="12700" y="6826250"/>
                  </a:lnTo>
                  <a:lnTo>
                    <a:pt x="12700" y="6813550"/>
                  </a:lnTo>
                  <a:lnTo>
                    <a:pt x="8235950" y="6813550"/>
                  </a:lnTo>
                  <a:lnTo>
                    <a:pt x="8235950" y="6826250"/>
                  </a:lnTo>
                  <a:lnTo>
                    <a:pt x="8223250" y="6826250"/>
                  </a:lnTo>
                  <a:lnTo>
                    <a:pt x="8223250" y="12700"/>
                  </a:lnTo>
                  <a:lnTo>
                    <a:pt x="8235950" y="12700"/>
                  </a:lnTo>
                  <a:lnTo>
                    <a:pt x="8235950" y="25400"/>
                  </a:lnTo>
                  <a:lnTo>
                    <a:pt x="12700" y="25400"/>
                  </a:lnTo>
                  <a:close/>
                </a:path>
              </a:pathLst>
            </a:custGeom>
            <a:solidFill>
              <a:srgbClr val="000000"/>
            </a:solidFill>
          </p:spPr>
        </p:sp>
      </p:grpSp>
      <p:graphicFrame>
        <p:nvGraphicFramePr>
          <p:cNvPr name="Table 8" id="8"/>
          <p:cNvGraphicFramePr>
            <a:graphicFrameLocks noGrp="true"/>
          </p:cNvGraphicFramePr>
          <p:nvPr/>
        </p:nvGraphicFramePr>
        <p:xfrm>
          <a:off x="10656400" y="1856706"/>
          <a:ext cx="7366000" cy="2147888"/>
        </p:xfrm>
        <a:graphic>
          <a:graphicData uri="http://schemas.openxmlformats.org/drawingml/2006/table">
            <a:tbl>
              <a:tblPr/>
              <a:tblGrid>
                <a:gridCol w="3030168"/>
                <a:gridCol w="4335832"/>
              </a:tblGrid>
              <a:tr h="715962">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Hora de inicio: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5962">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Hora de fin: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5962">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Duración (min):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grpSp>
        <p:nvGrpSpPr>
          <p:cNvPr name="Group 9" id="9"/>
          <p:cNvGrpSpPr/>
          <p:nvPr/>
        </p:nvGrpSpPr>
        <p:grpSpPr>
          <a:xfrm rot="0">
            <a:off x="6252075" y="4946275"/>
            <a:ext cx="6186450" cy="5129250"/>
            <a:chOff x="0" y="0"/>
            <a:chExt cx="8248600" cy="6839000"/>
          </a:xfrm>
        </p:grpSpPr>
        <p:sp>
          <p:nvSpPr>
            <p:cNvPr name="Freeform 10" id="10"/>
            <p:cNvSpPr/>
            <p:nvPr/>
          </p:nvSpPr>
          <p:spPr>
            <a:xfrm flipH="false" flipV="false" rot="0">
              <a:off x="0" y="0"/>
              <a:ext cx="8248650" cy="6838950"/>
            </a:xfrm>
            <a:custGeom>
              <a:avLst/>
              <a:gdLst/>
              <a:ahLst/>
              <a:cxnLst/>
              <a:rect r="r" b="b" t="t" l="l"/>
              <a:pathLst>
                <a:path h="6838950" w="8248650">
                  <a:moveTo>
                    <a:pt x="12700" y="0"/>
                  </a:moveTo>
                  <a:lnTo>
                    <a:pt x="8235950" y="0"/>
                  </a:lnTo>
                  <a:cubicBezTo>
                    <a:pt x="8242935" y="0"/>
                    <a:pt x="8248650" y="5715"/>
                    <a:pt x="8248650" y="12700"/>
                  </a:cubicBezTo>
                  <a:lnTo>
                    <a:pt x="8248650" y="6826250"/>
                  </a:lnTo>
                  <a:cubicBezTo>
                    <a:pt x="8248650" y="6833235"/>
                    <a:pt x="8242935" y="6838950"/>
                    <a:pt x="8235950" y="6838950"/>
                  </a:cubicBezTo>
                  <a:lnTo>
                    <a:pt x="12700" y="6838950"/>
                  </a:lnTo>
                  <a:cubicBezTo>
                    <a:pt x="5715" y="6838950"/>
                    <a:pt x="0" y="6833235"/>
                    <a:pt x="0" y="6826250"/>
                  </a:cubicBezTo>
                  <a:lnTo>
                    <a:pt x="0" y="12700"/>
                  </a:lnTo>
                  <a:cubicBezTo>
                    <a:pt x="0" y="5715"/>
                    <a:pt x="5715" y="0"/>
                    <a:pt x="12700" y="0"/>
                  </a:cubicBezTo>
                  <a:moveTo>
                    <a:pt x="12700" y="25400"/>
                  </a:moveTo>
                  <a:lnTo>
                    <a:pt x="12700" y="12700"/>
                  </a:lnTo>
                  <a:lnTo>
                    <a:pt x="25400" y="12700"/>
                  </a:lnTo>
                  <a:lnTo>
                    <a:pt x="25400" y="6826250"/>
                  </a:lnTo>
                  <a:lnTo>
                    <a:pt x="12700" y="6826250"/>
                  </a:lnTo>
                  <a:lnTo>
                    <a:pt x="12700" y="6813550"/>
                  </a:lnTo>
                  <a:lnTo>
                    <a:pt x="8235950" y="6813550"/>
                  </a:lnTo>
                  <a:lnTo>
                    <a:pt x="8235950" y="6826250"/>
                  </a:lnTo>
                  <a:lnTo>
                    <a:pt x="8223250" y="6826250"/>
                  </a:lnTo>
                  <a:lnTo>
                    <a:pt x="8223250" y="12700"/>
                  </a:lnTo>
                  <a:lnTo>
                    <a:pt x="8235950" y="12700"/>
                  </a:lnTo>
                  <a:lnTo>
                    <a:pt x="8235950" y="25400"/>
                  </a:lnTo>
                  <a:lnTo>
                    <a:pt x="12700" y="25400"/>
                  </a:lnTo>
                  <a:close/>
                </a:path>
              </a:pathLst>
            </a:custGeom>
            <a:solidFill>
              <a:srgbClr val="000000"/>
            </a:solidFill>
          </p:spPr>
        </p:sp>
      </p:grpSp>
      <p:grpSp>
        <p:nvGrpSpPr>
          <p:cNvPr name="Group 11" id="11"/>
          <p:cNvGrpSpPr/>
          <p:nvPr/>
        </p:nvGrpSpPr>
        <p:grpSpPr>
          <a:xfrm rot="0">
            <a:off x="12496775" y="4946275"/>
            <a:ext cx="5783850" cy="5129250"/>
            <a:chOff x="0" y="0"/>
            <a:chExt cx="7711800" cy="6839000"/>
          </a:xfrm>
        </p:grpSpPr>
        <p:sp>
          <p:nvSpPr>
            <p:cNvPr name="Freeform 12" id="12"/>
            <p:cNvSpPr/>
            <p:nvPr/>
          </p:nvSpPr>
          <p:spPr>
            <a:xfrm flipH="false" flipV="false" rot="0">
              <a:off x="0" y="0"/>
              <a:ext cx="7711821" cy="6838950"/>
            </a:xfrm>
            <a:custGeom>
              <a:avLst/>
              <a:gdLst/>
              <a:ahLst/>
              <a:cxnLst/>
              <a:rect r="r" b="b" t="t" l="l"/>
              <a:pathLst>
                <a:path h="6838950" w="7711821">
                  <a:moveTo>
                    <a:pt x="12700" y="0"/>
                  </a:moveTo>
                  <a:lnTo>
                    <a:pt x="7699121" y="0"/>
                  </a:lnTo>
                  <a:cubicBezTo>
                    <a:pt x="7706106" y="0"/>
                    <a:pt x="7711821" y="5715"/>
                    <a:pt x="7711821" y="12700"/>
                  </a:cubicBezTo>
                  <a:lnTo>
                    <a:pt x="7711821" y="6826250"/>
                  </a:lnTo>
                  <a:cubicBezTo>
                    <a:pt x="7711821" y="6833235"/>
                    <a:pt x="7706106" y="6838950"/>
                    <a:pt x="7699121" y="6838950"/>
                  </a:cubicBezTo>
                  <a:lnTo>
                    <a:pt x="12700" y="6838950"/>
                  </a:lnTo>
                  <a:cubicBezTo>
                    <a:pt x="5715" y="6838950"/>
                    <a:pt x="0" y="6833235"/>
                    <a:pt x="0" y="6826250"/>
                  </a:cubicBezTo>
                  <a:lnTo>
                    <a:pt x="0" y="12700"/>
                  </a:lnTo>
                  <a:cubicBezTo>
                    <a:pt x="0" y="5715"/>
                    <a:pt x="5715" y="0"/>
                    <a:pt x="12700" y="0"/>
                  </a:cubicBezTo>
                  <a:moveTo>
                    <a:pt x="12700" y="25400"/>
                  </a:moveTo>
                  <a:lnTo>
                    <a:pt x="12700" y="12700"/>
                  </a:lnTo>
                  <a:lnTo>
                    <a:pt x="25400" y="12700"/>
                  </a:lnTo>
                  <a:lnTo>
                    <a:pt x="25400" y="6826250"/>
                  </a:lnTo>
                  <a:lnTo>
                    <a:pt x="12700" y="6826250"/>
                  </a:lnTo>
                  <a:lnTo>
                    <a:pt x="12700" y="6813550"/>
                  </a:lnTo>
                  <a:lnTo>
                    <a:pt x="7699121" y="6813550"/>
                  </a:lnTo>
                  <a:lnTo>
                    <a:pt x="7699121" y="6826250"/>
                  </a:lnTo>
                  <a:lnTo>
                    <a:pt x="7686421" y="6826250"/>
                  </a:lnTo>
                  <a:lnTo>
                    <a:pt x="7686421" y="12700"/>
                  </a:lnTo>
                  <a:lnTo>
                    <a:pt x="7699121" y="12700"/>
                  </a:lnTo>
                  <a:lnTo>
                    <a:pt x="7699121" y="25400"/>
                  </a:lnTo>
                  <a:lnTo>
                    <a:pt x="12700" y="25400"/>
                  </a:lnTo>
                  <a:close/>
                </a:path>
              </a:pathLst>
            </a:custGeom>
            <a:solidFill>
              <a:srgbClr val="000000"/>
            </a:solid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63EF5"/>
        </a:solidFill>
      </p:bgPr>
    </p:bg>
    <p:spTree>
      <p:nvGrpSpPr>
        <p:cNvPr id="1" name=""/>
        <p:cNvGrpSpPr/>
        <p:nvPr/>
      </p:nvGrpSpPr>
      <p:grpSpPr>
        <a:xfrm>
          <a:off x="0" y="0"/>
          <a:ext cx="0" cy="0"/>
          <a:chOff x="0" y="0"/>
          <a:chExt cx="0" cy="0"/>
        </a:xfrm>
      </p:grpSpPr>
      <p:grpSp>
        <p:nvGrpSpPr>
          <p:cNvPr name="Group 2" id="2"/>
          <p:cNvGrpSpPr/>
          <p:nvPr/>
        </p:nvGrpSpPr>
        <p:grpSpPr>
          <a:xfrm rot="0">
            <a:off x="57" y="5649001"/>
            <a:ext cx="14740804" cy="4637999"/>
            <a:chOff x="0" y="0"/>
            <a:chExt cx="19654406" cy="6183998"/>
          </a:xfrm>
        </p:grpSpPr>
        <p:sp>
          <p:nvSpPr>
            <p:cNvPr name="Freeform 3" id="3"/>
            <p:cNvSpPr/>
            <p:nvPr/>
          </p:nvSpPr>
          <p:spPr>
            <a:xfrm flipH="false" flipV="false" rot="0">
              <a:off x="0" y="0"/>
              <a:ext cx="19654393" cy="6184011"/>
            </a:xfrm>
            <a:custGeom>
              <a:avLst/>
              <a:gdLst/>
              <a:ahLst/>
              <a:cxnLst/>
              <a:rect r="r" b="b" t="t" l="l"/>
              <a:pathLst>
                <a:path h="6184011" w="19654393">
                  <a:moveTo>
                    <a:pt x="0" y="6184011"/>
                  </a:moveTo>
                  <a:lnTo>
                    <a:pt x="0" y="0"/>
                  </a:lnTo>
                  <a:lnTo>
                    <a:pt x="19654393" y="6184011"/>
                  </a:lnTo>
                  <a:close/>
                </a:path>
              </a:pathLst>
            </a:custGeom>
            <a:solidFill>
              <a:srgbClr val="00796B"/>
            </a:solidFill>
          </p:spPr>
        </p:sp>
      </p:grpSp>
      <p:grpSp>
        <p:nvGrpSpPr>
          <p:cNvPr name="Group 4" id="4"/>
          <p:cNvGrpSpPr/>
          <p:nvPr/>
        </p:nvGrpSpPr>
        <p:grpSpPr>
          <a:xfrm rot="0">
            <a:off x="7165200" y="3101397"/>
            <a:ext cx="11122800" cy="7185603"/>
            <a:chOff x="0" y="0"/>
            <a:chExt cx="14830400" cy="9580804"/>
          </a:xfrm>
        </p:grpSpPr>
        <p:sp>
          <p:nvSpPr>
            <p:cNvPr name="Freeform 5" id="5"/>
            <p:cNvSpPr/>
            <p:nvPr/>
          </p:nvSpPr>
          <p:spPr>
            <a:xfrm flipH="false" flipV="false" rot="0">
              <a:off x="0" y="0"/>
              <a:ext cx="14830425" cy="9580753"/>
            </a:xfrm>
            <a:custGeom>
              <a:avLst/>
              <a:gdLst/>
              <a:ahLst/>
              <a:cxnLst/>
              <a:rect r="r" b="b" t="t" l="l"/>
              <a:pathLst>
                <a:path h="9580753" w="14830425">
                  <a:moveTo>
                    <a:pt x="14830425" y="9580753"/>
                  </a:moveTo>
                  <a:lnTo>
                    <a:pt x="14830425" y="0"/>
                  </a:lnTo>
                  <a:lnTo>
                    <a:pt x="0" y="9580753"/>
                  </a:lnTo>
                  <a:close/>
                </a:path>
              </a:pathLst>
            </a:custGeom>
            <a:solidFill>
              <a:srgbClr val="C4A15A"/>
            </a:solidFill>
          </p:spPr>
        </p:sp>
      </p:grpSp>
      <p:grpSp>
        <p:nvGrpSpPr>
          <p:cNvPr name="Group 6" id="6"/>
          <p:cNvGrpSpPr/>
          <p:nvPr/>
        </p:nvGrpSpPr>
        <p:grpSpPr>
          <a:xfrm rot="-10800000">
            <a:off x="10117807" y="0"/>
            <a:ext cx="8170202" cy="4105199"/>
            <a:chOff x="0" y="0"/>
            <a:chExt cx="10893603" cy="5473598"/>
          </a:xfrm>
        </p:grpSpPr>
        <p:sp>
          <p:nvSpPr>
            <p:cNvPr name="Freeform 7" id="7"/>
            <p:cNvSpPr/>
            <p:nvPr/>
          </p:nvSpPr>
          <p:spPr>
            <a:xfrm flipH="false" flipV="false" rot="0">
              <a:off x="0" y="0"/>
              <a:ext cx="10893552" cy="5473573"/>
            </a:xfrm>
            <a:custGeom>
              <a:avLst/>
              <a:gdLst/>
              <a:ahLst/>
              <a:cxnLst/>
              <a:rect r="r" b="b" t="t" l="l"/>
              <a:pathLst>
                <a:path h="5473573" w="10893552">
                  <a:moveTo>
                    <a:pt x="0" y="5473573"/>
                  </a:moveTo>
                  <a:lnTo>
                    <a:pt x="0" y="0"/>
                  </a:lnTo>
                  <a:lnTo>
                    <a:pt x="10893552" y="5473573"/>
                  </a:lnTo>
                  <a:close/>
                </a:path>
              </a:pathLst>
            </a:custGeom>
            <a:solidFill>
              <a:srgbClr val="233A44"/>
            </a:solidFill>
          </p:spPr>
        </p:sp>
      </p:grpSp>
      <p:grpSp>
        <p:nvGrpSpPr>
          <p:cNvPr name="Group 8" id="8"/>
          <p:cNvGrpSpPr/>
          <p:nvPr/>
        </p:nvGrpSpPr>
        <p:grpSpPr>
          <a:xfrm rot="0">
            <a:off x="406546" y="412499"/>
            <a:ext cx="17475003" cy="9462002"/>
            <a:chOff x="0" y="0"/>
            <a:chExt cx="23300004" cy="12616002"/>
          </a:xfrm>
        </p:grpSpPr>
        <p:sp>
          <p:nvSpPr>
            <p:cNvPr name="Freeform 9" id="9"/>
            <p:cNvSpPr/>
            <p:nvPr/>
          </p:nvSpPr>
          <p:spPr>
            <a:xfrm flipH="false" flipV="false" rot="0">
              <a:off x="0" y="0"/>
              <a:ext cx="23300055" cy="12616053"/>
            </a:xfrm>
            <a:custGeom>
              <a:avLst/>
              <a:gdLst/>
              <a:ahLst/>
              <a:cxnLst/>
              <a:rect r="r" b="b" t="t" l="l"/>
              <a:pathLst>
                <a:path h="12616053" w="23300055">
                  <a:moveTo>
                    <a:pt x="0" y="0"/>
                  </a:moveTo>
                  <a:lnTo>
                    <a:pt x="23300055" y="0"/>
                  </a:lnTo>
                  <a:lnTo>
                    <a:pt x="23300055" y="12616053"/>
                  </a:lnTo>
                  <a:lnTo>
                    <a:pt x="0" y="12616053"/>
                  </a:lnTo>
                  <a:close/>
                </a:path>
              </a:pathLst>
            </a:custGeom>
            <a:solidFill>
              <a:srgbClr val="FFFFFF"/>
            </a:solidFill>
          </p:spPr>
        </p:sp>
      </p:grpSp>
      <p:sp>
        <p:nvSpPr>
          <p:cNvPr name="Freeform 10" id="10"/>
          <p:cNvSpPr/>
          <p:nvPr/>
        </p:nvSpPr>
        <p:spPr>
          <a:xfrm flipH="false" flipV="false" rot="0">
            <a:off x="510397" y="1181"/>
            <a:ext cx="4500724" cy="2088604"/>
          </a:xfrm>
          <a:custGeom>
            <a:avLst/>
            <a:gdLst/>
            <a:ahLst/>
            <a:cxnLst/>
            <a:rect r="r" b="b" t="t" l="l"/>
            <a:pathLst>
              <a:path h="2088604" w="4500724">
                <a:moveTo>
                  <a:pt x="0" y="0"/>
                </a:moveTo>
                <a:lnTo>
                  <a:pt x="4500725" y="0"/>
                </a:lnTo>
                <a:lnTo>
                  <a:pt x="4500725" y="2088604"/>
                </a:lnTo>
                <a:lnTo>
                  <a:pt x="0" y="20886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810788" y="1181"/>
            <a:ext cx="4500724" cy="2088604"/>
          </a:xfrm>
          <a:custGeom>
            <a:avLst/>
            <a:gdLst/>
            <a:ahLst/>
            <a:cxnLst/>
            <a:rect r="r" b="b" t="t" l="l"/>
            <a:pathLst>
              <a:path h="2088604" w="4500724">
                <a:moveTo>
                  <a:pt x="0" y="0"/>
                </a:moveTo>
                <a:lnTo>
                  <a:pt x="4500725" y="0"/>
                </a:lnTo>
                <a:lnTo>
                  <a:pt x="4500725" y="2088604"/>
                </a:lnTo>
                <a:lnTo>
                  <a:pt x="0" y="20886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4114936" y="10173"/>
            <a:ext cx="3702568" cy="1504217"/>
          </a:xfrm>
          <a:custGeom>
            <a:avLst/>
            <a:gdLst/>
            <a:ahLst/>
            <a:cxnLst/>
            <a:rect r="r" b="b" t="t" l="l"/>
            <a:pathLst>
              <a:path h="1504217" w="3702568">
                <a:moveTo>
                  <a:pt x="0" y="0"/>
                </a:moveTo>
                <a:lnTo>
                  <a:pt x="3702567" y="0"/>
                </a:lnTo>
                <a:lnTo>
                  <a:pt x="3702567" y="1504216"/>
                </a:lnTo>
                <a:lnTo>
                  <a:pt x="0" y="15042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3106067" y="8435702"/>
            <a:ext cx="4778131" cy="1851479"/>
          </a:xfrm>
          <a:custGeom>
            <a:avLst/>
            <a:gdLst/>
            <a:ahLst/>
            <a:cxnLst/>
            <a:rect r="r" b="b" t="t" l="l"/>
            <a:pathLst>
              <a:path h="1851479" w="4778131">
                <a:moveTo>
                  <a:pt x="0" y="0"/>
                </a:moveTo>
                <a:lnTo>
                  <a:pt x="4778130" y="0"/>
                </a:lnTo>
                <a:lnTo>
                  <a:pt x="4778130" y="1851479"/>
                </a:lnTo>
                <a:lnTo>
                  <a:pt x="0" y="18514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98297" y="8111300"/>
            <a:ext cx="5590823" cy="2166614"/>
          </a:xfrm>
          <a:custGeom>
            <a:avLst/>
            <a:gdLst/>
            <a:ahLst/>
            <a:cxnLst/>
            <a:rect r="r" b="b" t="t" l="l"/>
            <a:pathLst>
              <a:path h="2166614" w="5590823">
                <a:moveTo>
                  <a:pt x="0" y="0"/>
                </a:moveTo>
                <a:lnTo>
                  <a:pt x="5590823" y="0"/>
                </a:lnTo>
                <a:lnTo>
                  <a:pt x="5590823" y="2166613"/>
                </a:lnTo>
                <a:lnTo>
                  <a:pt x="0" y="216661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5" id="15"/>
          <p:cNvSpPr txBox="true"/>
          <p:nvPr/>
        </p:nvSpPr>
        <p:spPr>
          <a:xfrm rot="0">
            <a:off x="1852127" y="4560827"/>
            <a:ext cx="9730197" cy="1136771"/>
          </a:xfrm>
          <a:prstGeom prst="rect">
            <a:avLst/>
          </a:prstGeom>
        </p:spPr>
        <p:txBody>
          <a:bodyPr anchor="t" rtlCol="false" tIns="0" lIns="0" bIns="0" rIns="0">
            <a:spAutoFit/>
          </a:bodyPr>
          <a:lstStyle/>
          <a:p>
            <a:pPr algn="just">
              <a:lnSpc>
                <a:spcPts val="8984"/>
              </a:lnSpc>
            </a:pPr>
            <a:r>
              <a:rPr lang="en-US" b="true" sz="7198">
                <a:solidFill>
                  <a:srgbClr val="131416"/>
                </a:solidFill>
                <a:latin typeface="Montserrat Bold"/>
                <a:ea typeface="Montserrat Bold"/>
                <a:cs typeface="Montserrat Bold"/>
                <a:sym typeface="Montserrat Bold"/>
              </a:rPr>
              <a:t>Ejemplo práctico</a:t>
            </a:r>
          </a:p>
        </p:txBody>
      </p:sp>
      <p:grpSp>
        <p:nvGrpSpPr>
          <p:cNvPr name="Group 16" id="16"/>
          <p:cNvGrpSpPr/>
          <p:nvPr/>
        </p:nvGrpSpPr>
        <p:grpSpPr>
          <a:xfrm rot="0">
            <a:off x="12291946" y="2658256"/>
            <a:ext cx="4695577" cy="6434680"/>
            <a:chOff x="0" y="0"/>
            <a:chExt cx="6260770" cy="8579574"/>
          </a:xfrm>
        </p:grpSpPr>
        <p:sp>
          <p:nvSpPr>
            <p:cNvPr name="Freeform 17" id="17"/>
            <p:cNvSpPr/>
            <p:nvPr/>
          </p:nvSpPr>
          <p:spPr>
            <a:xfrm flipH="false" flipV="false" rot="0">
              <a:off x="0" y="0"/>
              <a:ext cx="6260719" cy="8579612"/>
            </a:xfrm>
            <a:custGeom>
              <a:avLst/>
              <a:gdLst/>
              <a:ahLst/>
              <a:cxnLst/>
              <a:rect r="r" b="b" t="t" l="l"/>
              <a:pathLst>
                <a:path h="8579612" w="6260719">
                  <a:moveTo>
                    <a:pt x="0" y="0"/>
                  </a:moveTo>
                  <a:lnTo>
                    <a:pt x="6260719" y="0"/>
                  </a:lnTo>
                  <a:lnTo>
                    <a:pt x="6260719" y="8579612"/>
                  </a:lnTo>
                  <a:lnTo>
                    <a:pt x="0" y="8579612"/>
                  </a:lnTo>
                  <a:lnTo>
                    <a:pt x="0" y="0"/>
                  </a:lnTo>
                  <a:close/>
                </a:path>
              </a:pathLst>
            </a:custGeom>
            <a:blipFill>
              <a:blip r:embed="rId13"/>
              <a:stretch>
                <a:fillRect l="0" t="0" r="0" b="0"/>
              </a:stretch>
            </a:blipFill>
          </p:spPr>
        </p:sp>
      </p:gr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63EF5"/>
        </a:solidFill>
      </p:bgPr>
    </p:bg>
    <p:spTree>
      <p:nvGrpSpPr>
        <p:cNvPr id="1" name=""/>
        <p:cNvGrpSpPr/>
        <p:nvPr/>
      </p:nvGrpSpPr>
      <p:grpSpPr>
        <a:xfrm>
          <a:off x="0" y="0"/>
          <a:ext cx="0" cy="0"/>
          <a:chOff x="0" y="0"/>
          <a:chExt cx="0" cy="0"/>
        </a:xfrm>
      </p:grpSpPr>
      <p:grpSp>
        <p:nvGrpSpPr>
          <p:cNvPr name="Group 2" id="2"/>
          <p:cNvGrpSpPr/>
          <p:nvPr/>
        </p:nvGrpSpPr>
        <p:grpSpPr>
          <a:xfrm rot="0">
            <a:off x="57" y="5649001"/>
            <a:ext cx="14740804" cy="4637999"/>
            <a:chOff x="0" y="0"/>
            <a:chExt cx="19654406" cy="6183998"/>
          </a:xfrm>
        </p:grpSpPr>
        <p:sp>
          <p:nvSpPr>
            <p:cNvPr name="Freeform 3" id="3"/>
            <p:cNvSpPr/>
            <p:nvPr/>
          </p:nvSpPr>
          <p:spPr>
            <a:xfrm flipH="false" flipV="false" rot="0">
              <a:off x="0" y="0"/>
              <a:ext cx="19654393" cy="6184011"/>
            </a:xfrm>
            <a:custGeom>
              <a:avLst/>
              <a:gdLst/>
              <a:ahLst/>
              <a:cxnLst/>
              <a:rect r="r" b="b" t="t" l="l"/>
              <a:pathLst>
                <a:path h="6184011" w="19654393">
                  <a:moveTo>
                    <a:pt x="0" y="6184011"/>
                  </a:moveTo>
                  <a:lnTo>
                    <a:pt x="0" y="0"/>
                  </a:lnTo>
                  <a:lnTo>
                    <a:pt x="19654393" y="6184011"/>
                  </a:lnTo>
                  <a:close/>
                </a:path>
              </a:pathLst>
            </a:custGeom>
            <a:solidFill>
              <a:srgbClr val="00796B"/>
            </a:solidFill>
          </p:spPr>
        </p:sp>
      </p:grpSp>
      <p:grpSp>
        <p:nvGrpSpPr>
          <p:cNvPr name="Group 4" id="4"/>
          <p:cNvGrpSpPr/>
          <p:nvPr/>
        </p:nvGrpSpPr>
        <p:grpSpPr>
          <a:xfrm rot="0">
            <a:off x="7165200" y="3101397"/>
            <a:ext cx="11122800" cy="7185603"/>
            <a:chOff x="0" y="0"/>
            <a:chExt cx="14830400" cy="9580804"/>
          </a:xfrm>
        </p:grpSpPr>
        <p:sp>
          <p:nvSpPr>
            <p:cNvPr name="Freeform 5" id="5"/>
            <p:cNvSpPr/>
            <p:nvPr/>
          </p:nvSpPr>
          <p:spPr>
            <a:xfrm flipH="false" flipV="false" rot="0">
              <a:off x="0" y="0"/>
              <a:ext cx="14830425" cy="9580753"/>
            </a:xfrm>
            <a:custGeom>
              <a:avLst/>
              <a:gdLst/>
              <a:ahLst/>
              <a:cxnLst/>
              <a:rect r="r" b="b" t="t" l="l"/>
              <a:pathLst>
                <a:path h="9580753" w="14830425">
                  <a:moveTo>
                    <a:pt x="14830425" y="9580753"/>
                  </a:moveTo>
                  <a:lnTo>
                    <a:pt x="14830425" y="0"/>
                  </a:lnTo>
                  <a:lnTo>
                    <a:pt x="0" y="9580753"/>
                  </a:lnTo>
                  <a:close/>
                </a:path>
              </a:pathLst>
            </a:custGeom>
            <a:solidFill>
              <a:srgbClr val="C4A15A"/>
            </a:solidFill>
          </p:spPr>
        </p:sp>
      </p:grpSp>
      <p:grpSp>
        <p:nvGrpSpPr>
          <p:cNvPr name="Group 6" id="6"/>
          <p:cNvGrpSpPr/>
          <p:nvPr/>
        </p:nvGrpSpPr>
        <p:grpSpPr>
          <a:xfrm rot="-10800000">
            <a:off x="10117807" y="0"/>
            <a:ext cx="8170202" cy="4105199"/>
            <a:chOff x="0" y="0"/>
            <a:chExt cx="10893603" cy="5473598"/>
          </a:xfrm>
        </p:grpSpPr>
        <p:sp>
          <p:nvSpPr>
            <p:cNvPr name="Freeform 7" id="7"/>
            <p:cNvSpPr/>
            <p:nvPr/>
          </p:nvSpPr>
          <p:spPr>
            <a:xfrm flipH="false" flipV="false" rot="0">
              <a:off x="0" y="0"/>
              <a:ext cx="10893552" cy="5473573"/>
            </a:xfrm>
            <a:custGeom>
              <a:avLst/>
              <a:gdLst/>
              <a:ahLst/>
              <a:cxnLst/>
              <a:rect r="r" b="b" t="t" l="l"/>
              <a:pathLst>
                <a:path h="5473573" w="10893552">
                  <a:moveTo>
                    <a:pt x="0" y="5473573"/>
                  </a:moveTo>
                  <a:lnTo>
                    <a:pt x="0" y="0"/>
                  </a:lnTo>
                  <a:lnTo>
                    <a:pt x="10893552" y="5473573"/>
                  </a:lnTo>
                  <a:close/>
                </a:path>
              </a:pathLst>
            </a:custGeom>
            <a:solidFill>
              <a:srgbClr val="233A44"/>
            </a:solidFill>
          </p:spPr>
        </p:sp>
      </p:grpSp>
      <p:grpSp>
        <p:nvGrpSpPr>
          <p:cNvPr name="Group 8" id="8"/>
          <p:cNvGrpSpPr/>
          <p:nvPr/>
        </p:nvGrpSpPr>
        <p:grpSpPr>
          <a:xfrm rot="0">
            <a:off x="406546" y="412499"/>
            <a:ext cx="17475003" cy="9462002"/>
            <a:chOff x="0" y="0"/>
            <a:chExt cx="23300004" cy="12616002"/>
          </a:xfrm>
        </p:grpSpPr>
        <p:sp>
          <p:nvSpPr>
            <p:cNvPr name="Freeform 9" id="9"/>
            <p:cNvSpPr/>
            <p:nvPr/>
          </p:nvSpPr>
          <p:spPr>
            <a:xfrm flipH="false" flipV="false" rot="0">
              <a:off x="0" y="0"/>
              <a:ext cx="23300055" cy="12616053"/>
            </a:xfrm>
            <a:custGeom>
              <a:avLst/>
              <a:gdLst/>
              <a:ahLst/>
              <a:cxnLst/>
              <a:rect r="r" b="b" t="t" l="l"/>
              <a:pathLst>
                <a:path h="12616053" w="23300055">
                  <a:moveTo>
                    <a:pt x="0" y="0"/>
                  </a:moveTo>
                  <a:lnTo>
                    <a:pt x="23300055" y="0"/>
                  </a:lnTo>
                  <a:lnTo>
                    <a:pt x="23300055" y="12616053"/>
                  </a:lnTo>
                  <a:lnTo>
                    <a:pt x="0" y="12616053"/>
                  </a:lnTo>
                  <a:close/>
                </a:path>
              </a:pathLst>
            </a:custGeom>
            <a:solidFill>
              <a:srgbClr val="FFFFFF"/>
            </a:solidFill>
          </p:spPr>
        </p:sp>
      </p:grpSp>
      <p:sp>
        <p:nvSpPr>
          <p:cNvPr name="Freeform 10" id="10"/>
          <p:cNvSpPr/>
          <p:nvPr/>
        </p:nvSpPr>
        <p:spPr>
          <a:xfrm flipH="false" flipV="false" rot="0">
            <a:off x="510397" y="1181"/>
            <a:ext cx="4500724" cy="2088604"/>
          </a:xfrm>
          <a:custGeom>
            <a:avLst/>
            <a:gdLst/>
            <a:ahLst/>
            <a:cxnLst/>
            <a:rect r="r" b="b" t="t" l="l"/>
            <a:pathLst>
              <a:path h="2088604" w="4500724">
                <a:moveTo>
                  <a:pt x="0" y="0"/>
                </a:moveTo>
                <a:lnTo>
                  <a:pt x="4500725" y="0"/>
                </a:lnTo>
                <a:lnTo>
                  <a:pt x="4500725" y="2088604"/>
                </a:lnTo>
                <a:lnTo>
                  <a:pt x="0" y="20886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810788" y="1181"/>
            <a:ext cx="4500724" cy="2088604"/>
          </a:xfrm>
          <a:custGeom>
            <a:avLst/>
            <a:gdLst/>
            <a:ahLst/>
            <a:cxnLst/>
            <a:rect r="r" b="b" t="t" l="l"/>
            <a:pathLst>
              <a:path h="2088604" w="4500724">
                <a:moveTo>
                  <a:pt x="0" y="0"/>
                </a:moveTo>
                <a:lnTo>
                  <a:pt x="4500725" y="0"/>
                </a:lnTo>
                <a:lnTo>
                  <a:pt x="4500725" y="2088604"/>
                </a:lnTo>
                <a:lnTo>
                  <a:pt x="0" y="20886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4114936" y="10173"/>
            <a:ext cx="3702568" cy="1504217"/>
          </a:xfrm>
          <a:custGeom>
            <a:avLst/>
            <a:gdLst/>
            <a:ahLst/>
            <a:cxnLst/>
            <a:rect r="r" b="b" t="t" l="l"/>
            <a:pathLst>
              <a:path h="1504217" w="3702568">
                <a:moveTo>
                  <a:pt x="0" y="0"/>
                </a:moveTo>
                <a:lnTo>
                  <a:pt x="3702567" y="0"/>
                </a:lnTo>
                <a:lnTo>
                  <a:pt x="3702567" y="1504216"/>
                </a:lnTo>
                <a:lnTo>
                  <a:pt x="0" y="15042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3106067" y="8435702"/>
            <a:ext cx="4778131" cy="1851479"/>
          </a:xfrm>
          <a:custGeom>
            <a:avLst/>
            <a:gdLst/>
            <a:ahLst/>
            <a:cxnLst/>
            <a:rect r="r" b="b" t="t" l="l"/>
            <a:pathLst>
              <a:path h="1851479" w="4778131">
                <a:moveTo>
                  <a:pt x="0" y="0"/>
                </a:moveTo>
                <a:lnTo>
                  <a:pt x="4778130" y="0"/>
                </a:lnTo>
                <a:lnTo>
                  <a:pt x="4778130" y="1851479"/>
                </a:lnTo>
                <a:lnTo>
                  <a:pt x="0" y="18514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98297" y="8111300"/>
            <a:ext cx="5590823" cy="2166614"/>
          </a:xfrm>
          <a:custGeom>
            <a:avLst/>
            <a:gdLst/>
            <a:ahLst/>
            <a:cxnLst/>
            <a:rect r="r" b="b" t="t" l="l"/>
            <a:pathLst>
              <a:path h="2166614" w="5590823">
                <a:moveTo>
                  <a:pt x="0" y="0"/>
                </a:moveTo>
                <a:lnTo>
                  <a:pt x="5590823" y="0"/>
                </a:lnTo>
                <a:lnTo>
                  <a:pt x="5590823" y="2166613"/>
                </a:lnTo>
                <a:lnTo>
                  <a:pt x="0" y="216661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5" id="15"/>
          <p:cNvSpPr txBox="true"/>
          <p:nvPr/>
        </p:nvSpPr>
        <p:spPr>
          <a:xfrm rot="0">
            <a:off x="4814554" y="2024805"/>
            <a:ext cx="8658901" cy="2067601"/>
          </a:xfrm>
          <a:prstGeom prst="rect">
            <a:avLst/>
          </a:prstGeom>
        </p:spPr>
        <p:txBody>
          <a:bodyPr anchor="t" rtlCol="false" tIns="0" lIns="0" bIns="0" rIns="0">
            <a:spAutoFit/>
          </a:bodyPr>
          <a:lstStyle/>
          <a:p>
            <a:pPr algn="just">
              <a:lnSpc>
                <a:spcPts val="7611"/>
              </a:lnSpc>
            </a:pPr>
            <a:r>
              <a:rPr lang="en-US" sz="6098">
                <a:solidFill>
                  <a:srgbClr val="131416"/>
                </a:solidFill>
                <a:latin typeface="Impact"/>
                <a:ea typeface="Impact"/>
                <a:cs typeface="Impact"/>
                <a:sym typeface="Impact"/>
              </a:rPr>
              <a:t>¡GRACIAS POR SU  ATENCIÓN!</a:t>
            </a:r>
          </a:p>
          <a:p>
            <a:pPr algn="just">
              <a:lnSpc>
                <a:spcPts val="1747"/>
              </a:lnSpc>
            </a:pPr>
          </a:p>
        </p:txBody>
      </p:sp>
      <p:sp>
        <p:nvSpPr>
          <p:cNvPr name="TextBox 16" id="16"/>
          <p:cNvSpPr txBox="true"/>
          <p:nvPr/>
        </p:nvSpPr>
        <p:spPr>
          <a:xfrm rot="0">
            <a:off x="4081777" y="4875771"/>
            <a:ext cx="10571702" cy="877795"/>
          </a:xfrm>
          <a:prstGeom prst="rect">
            <a:avLst/>
          </a:prstGeom>
        </p:spPr>
        <p:txBody>
          <a:bodyPr anchor="t" rtlCol="false" tIns="0" lIns="0" bIns="0" rIns="0">
            <a:spAutoFit/>
          </a:bodyPr>
          <a:lstStyle/>
          <a:p>
            <a:pPr algn="ctr">
              <a:lnSpc>
                <a:spcPts val="3552"/>
              </a:lnSpc>
            </a:pPr>
            <a:r>
              <a:rPr lang="en-US" b="true" sz="2000">
                <a:solidFill>
                  <a:srgbClr val="131416"/>
                </a:solidFill>
                <a:latin typeface="Arial Bold"/>
                <a:ea typeface="Arial Bold"/>
                <a:cs typeface="Arial Bold"/>
                <a:sym typeface="Arial Bold"/>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DAHCz9Xd7b4</dc:identifier>
  <dcterms:modified xsi:type="dcterms:W3CDTF">2011-08-01T06:04:30Z</dcterms:modified>
  <cp:revision>1</cp:revision>
  <dc:title>Presentación Semana 6.pptx</dc:title>
</cp:coreProperties>
</file>