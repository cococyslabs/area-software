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10287000" cx="18288000"/>
  <p:notesSz cx="6858000" cy="9144000"/>
  <p:embeddedFontLst>
    <p:embeddedFont>
      <p:font typeface="Play"/>
      <p:regular r:id="rId29"/>
      <p:bold r:id="rId30"/>
    </p:embeddedFont>
    <p:embeddedFont>
      <p:font typeface="Lexend Deca"/>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3" roundtripDataSignature="AMtx7mg+MSaGyv1t1JJXrnFXanzknj2V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ADB1E0-CD70-4D55-98E8-B1196FAE5DFD}">
  <a:tblStyle styleId="{22ADB1E0-CD70-4D55-98E8-B1196FAE5DF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lay-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exendDeca-regular.fntdata"/><Relationship Id="rId30" Type="http://schemas.openxmlformats.org/officeDocument/2006/relationships/font" Target="fonts/Play-bold.fntdata"/><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LexendDeca-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2"/>
          <p:cNvSpPr/>
          <p:nvPr>
            <p:ph idx="2" type="pic"/>
          </p:nvPr>
        </p:nvSpPr>
        <p:spPr>
          <a:xfrm>
            <a:off x="1792288" y="612775"/>
            <a:ext cx="5486400" cy="4114800"/>
          </a:xfrm>
          <a:prstGeom prst="rect">
            <a:avLst/>
          </a:prstGeom>
          <a:noFill/>
          <a:ln>
            <a:noFill/>
          </a:ln>
        </p:spPr>
      </p:sp>
      <p:sp>
        <p:nvSpPr>
          <p:cNvPr id="64" name="Google Shape;64;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14.png"/><Relationship Id="rId13" Type="http://schemas.openxmlformats.org/officeDocument/2006/relationships/image" Target="../media/image2.png"/><Relationship Id="rId12"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5.jpg"/><Relationship Id="rId4" Type="http://schemas.openxmlformats.org/officeDocument/2006/relationships/image" Target="../media/image7.png"/><Relationship Id="rId9" Type="http://schemas.openxmlformats.org/officeDocument/2006/relationships/image" Target="../media/image8.png"/><Relationship Id="rId15" Type="http://schemas.openxmlformats.org/officeDocument/2006/relationships/image" Target="../media/image12.png"/><Relationship Id="rId14" Type="http://schemas.openxmlformats.org/officeDocument/2006/relationships/image" Target="../media/image1.png"/><Relationship Id="rId17" Type="http://schemas.openxmlformats.org/officeDocument/2006/relationships/image" Target="../media/image18.png"/><Relationship Id="rId16"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11.png"/><Relationship Id="rId18" Type="http://schemas.openxmlformats.org/officeDocument/2006/relationships/image" Target="../media/image19.png"/><Relationship Id="rId7" Type="http://schemas.openxmlformats.org/officeDocument/2006/relationships/image" Target="../media/image3.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12700"/>
            <a:ext cx="18299811" cy="10312717"/>
          </a:xfrm>
          <a:custGeom>
            <a:rect b="b" l="l" r="r" t="t"/>
            <a:pathLst>
              <a:path extrusionOk="0" h="13750289" w="24399748">
                <a:moveTo>
                  <a:pt x="0" y="0"/>
                </a:moveTo>
                <a:lnTo>
                  <a:pt x="24399748" y="0"/>
                </a:lnTo>
                <a:lnTo>
                  <a:pt x="24399748" y="13750289"/>
                </a:lnTo>
                <a:lnTo>
                  <a:pt x="0" y="13750289"/>
                </a:lnTo>
                <a:lnTo>
                  <a:pt x="0" y="0"/>
                </a:lnTo>
                <a:close/>
              </a:path>
            </a:pathLst>
          </a:custGeom>
          <a:blipFill rotWithShape="1">
            <a:blip r:embed="rId3">
              <a:alphaModFix/>
            </a:blip>
            <a:stretch>
              <a:fillRect b="0" l="0" r="0" t="0"/>
            </a:stretch>
          </a:blipFill>
          <a:ln>
            <a:noFill/>
          </a:ln>
        </p:spPr>
      </p:sp>
      <p:graphicFrame>
        <p:nvGraphicFramePr>
          <p:cNvPr id="85" name="Google Shape;85;p1"/>
          <p:cNvGraphicFramePr/>
          <p:nvPr/>
        </p:nvGraphicFramePr>
        <p:xfrm>
          <a:off x="10656401" y="1940051"/>
          <a:ext cx="3000000" cy="3000000"/>
        </p:xfrm>
        <a:graphic>
          <a:graphicData uri="http://schemas.openxmlformats.org/drawingml/2006/table">
            <a:tbl>
              <a:tblPr>
                <a:noFill/>
                <a:tableStyleId>{22ADB1E0-CD70-4D55-98E8-B1196FAE5DFD}</a:tableStyleId>
              </a:tblPr>
              <a:tblGrid>
                <a:gridCol w="3029975"/>
                <a:gridCol w="4323325"/>
              </a:tblGrid>
              <a:tr h="740575">
                <a:tc>
                  <a:txBody>
                    <a:bodyPr/>
                    <a:lstStyle/>
                    <a:p>
                      <a:pPr indent="0" lvl="0" marL="0" marR="0" rtl="0" algn="l">
                        <a:lnSpc>
                          <a:spcPct val="144000"/>
                        </a:lnSpc>
                        <a:spcBef>
                          <a:spcPts val="0"/>
                        </a:spcBef>
                        <a:spcAft>
                          <a:spcPts val="0"/>
                        </a:spcAft>
                        <a:buNone/>
                      </a:pPr>
                      <a:r>
                        <a:rPr b="1" lang="en-US" sz="290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c>
                  <a:txBody>
                    <a:bodyPr/>
                    <a:lstStyle/>
                    <a:p>
                      <a:pPr indent="0" lvl="0" marL="0" marR="0" rtl="0" algn="l">
                        <a:lnSpc>
                          <a:spcPct val="144000"/>
                        </a:lnSpc>
                        <a:spcBef>
                          <a:spcPts val="0"/>
                        </a:spcBef>
                        <a:spcAft>
                          <a:spcPts val="0"/>
                        </a:spcAft>
                        <a:buNone/>
                      </a:pPr>
                      <a:r>
                        <a:rPr b="1" lang="en-US" sz="2900" u="none" cap="none" strike="noStrike">
                          <a:solidFill>
                            <a:srgbClr val="000000"/>
                          </a:solidFill>
                          <a:latin typeface="Arial"/>
                          <a:ea typeface="Arial"/>
                          <a:cs typeface="Arial"/>
                          <a:sym typeface="Arial"/>
                        </a:rPr>
                        <a:t>Lunes, </a:t>
                      </a:r>
                      <a:r>
                        <a:rPr b="1" lang="en-US" sz="2900"/>
                        <a:t>xx</a:t>
                      </a:r>
                      <a:r>
                        <a:rPr b="1" lang="en-US" sz="2900" u="none" cap="none" strike="noStrike">
                          <a:solidFill>
                            <a:srgbClr val="000000"/>
                          </a:solidFill>
                          <a:latin typeface="Arial"/>
                          <a:ea typeface="Arial"/>
                          <a:cs typeface="Arial"/>
                          <a:sym typeface="Arial"/>
                        </a:rPr>
                        <a:t>/</a:t>
                      </a:r>
                      <a:r>
                        <a:rPr b="1" lang="en-US" sz="2900"/>
                        <a:t>xx</a:t>
                      </a:r>
                      <a:r>
                        <a:rPr b="1" lang="en-US" sz="2900" u="none" cap="none" strike="noStrike">
                          <a:solidFill>
                            <a:srgbClr val="000000"/>
                          </a:solidFill>
                          <a:latin typeface="Arial"/>
                          <a:ea typeface="Arial"/>
                          <a:cs typeface="Arial"/>
                          <a:sym typeface="Arial"/>
                        </a:rPr>
                        <a:t>/2026</a:t>
                      </a:r>
                      <a:endParaRPr sz="1100" u="none" cap="none" strike="noStrike"/>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r>
              <a:tr h="740575">
                <a:tc>
                  <a:txBody>
                    <a:bodyPr/>
                    <a:lstStyle/>
                    <a:p>
                      <a:pPr indent="0" lvl="0" marL="0" marR="0" rtl="0" algn="l">
                        <a:lnSpc>
                          <a:spcPct val="144000"/>
                        </a:lnSpc>
                        <a:spcBef>
                          <a:spcPts val="0"/>
                        </a:spcBef>
                        <a:spcAft>
                          <a:spcPts val="0"/>
                        </a:spcAft>
                        <a:buNone/>
                      </a:pPr>
                      <a:r>
                        <a:rPr b="1" lang="en-US" sz="290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c>
                  <a:txBody>
                    <a:bodyPr/>
                    <a:lstStyle/>
                    <a:p>
                      <a:pPr indent="0" lvl="0" marL="0" marR="0" rtl="0" algn="l">
                        <a:lnSpc>
                          <a:spcPct val="144000"/>
                        </a:lnSpc>
                        <a:spcBef>
                          <a:spcPts val="0"/>
                        </a:spcBef>
                        <a:spcAft>
                          <a:spcPts val="0"/>
                        </a:spcAft>
                        <a:buNone/>
                      </a:pPr>
                      <a:r>
                        <a:rPr b="1" lang="en-US" sz="2900" u="none" cap="none" strike="noStrike">
                          <a:solidFill>
                            <a:srgbClr val="000000"/>
                          </a:solidFill>
                          <a:latin typeface="Arial"/>
                          <a:ea typeface="Arial"/>
                          <a:cs typeface="Arial"/>
                          <a:sym typeface="Arial"/>
                        </a:rPr>
                        <a:t>17:20</a:t>
                      </a:r>
                      <a:endParaRPr sz="1100" u="none" cap="none" strike="noStrike"/>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r>
            </a:tbl>
          </a:graphicData>
        </a:graphic>
      </p:graphicFrame>
      <p:sp>
        <p:nvSpPr>
          <p:cNvPr id="86" name="Google Shape;86;p1"/>
          <p:cNvSpPr txBox="1"/>
          <p:nvPr/>
        </p:nvSpPr>
        <p:spPr>
          <a:xfrm>
            <a:off x="6030502" y="4362875"/>
            <a:ext cx="10713747" cy="780625"/>
          </a:xfrm>
          <a:prstGeom prst="rect">
            <a:avLst/>
          </a:prstGeom>
          <a:noFill/>
          <a:ln>
            <a:noFill/>
          </a:ln>
        </p:spPr>
        <p:txBody>
          <a:bodyPr anchorCtr="0" anchor="t" bIns="0" lIns="0" spcFirstLastPara="1" rIns="0" wrap="square" tIns="0">
            <a:spAutoFit/>
          </a:bodyPr>
          <a:lstStyle/>
          <a:p>
            <a:pPr indent="0" lvl="0" marL="0" marR="0" rtl="0" algn="r">
              <a:lnSpc>
                <a:spcPct val="144008"/>
              </a:lnSpc>
              <a:spcBef>
                <a:spcPts val="0"/>
              </a:spcBef>
              <a:spcAft>
                <a:spcPts val="0"/>
              </a:spcAft>
              <a:buNone/>
            </a:pPr>
            <a:r>
              <a:rPr b="0" i="0" lang="en-US" sz="3997" u="none" cap="none" strike="noStrike">
                <a:solidFill>
                  <a:srgbClr val="000000"/>
                </a:solidFill>
                <a:latin typeface="Arial"/>
                <a:ea typeface="Arial"/>
                <a:cs typeface="Arial"/>
                <a:sym typeface="Arial"/>
              </a:rPr>
              <a:t>Manejo e Implementación de Archivos B</a:t>
            </a:r>
            <a:endParaRPr/>
          </a:p>
        </p:txBody>
      </p:sp>
      <p:sp>
        <p:nvSpPr>
          <p:cNvPr id="87" name="Google Shape;87;p1"/>
          <p:cNvSpPr txBox="1"/>
          <p:nvPr/>
        </p:nvSpPr>
        <p:spPr>
          <a:xfrm>
            <a:off x="9897349" y="5129826"/>
            <a:ext cx="6846900" cy="476250"/>
          </a:xfrm>
          <a:prstGeom prst="rect">
            <a:avLst/>
          </a:prstGeom>
          <a:noFill/>
          <a:ln>
            <a:noFill/>
          </a:ln>
        </p:spPr>
        <p:txBody>
          <a:bodyPr anchorCtr="0" anchor="t" bIns="0" lIns="0" spcFirstLastPara="1" rIns="0" wrap="square" tIns="0">
            <a:spAutoFit/>
          </a:bodyPr>
          <a:lstStyle/>
          <a:p>
            <a:pPr indent="0" lvl="0" marL="0" marR="0" rtl="0" algn="r">
              <a:lnSpc>
                <a:spcPct val="144017"/>
              </a:lnSpc>
              <a:spcBef>
                <a:spcPts val="0"/>
              </a:spcBef>
              <a:spcAft>
                <a:spcPts val="0"/>
              </a:spcAft>
              <a:buNone/>
            </a:pPr>
            <a:r>
              <a:rPr b="0" i="0" lang="en-US" sz="2499" u="none" cap="none" strike="noStrike">
                <a:solidFill>
                  <a:srgbClr val="000000"/>
                </a:solidFill>
                <a:latin typeface="Arial"/>
                <a:ea typeface="Arial"/>
                <a:cs typeface="Arial"/>
                <a:sym typeface="Arial"/>
              </a:rPr>
              <a:t>Daniel Eduardo Mellado Ayala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3" name="Google Shape;93;p2"/>
          <p:cNvSpPr/>
          <p:nvPr/>
        </p:nvSpPr>
        <p:spPr>
          <a:xfrm>
            <a:off x="1028700" y="3057253"/>
            <a:ext cx="5197293" cy="1585174"/>
          </a:xfrm>
          <a:custGeom>
            <a:rect b="b" l="l" r="r" t="t"/>
            <a:pathLst>
              <a:path extrusionOk="0" h="1585174" w="5197293">
                <a:moveTo>
                  <a:pt x="0" y="0"/>
                </a:moveTo>
                <a:lnTo>
                  <a:pt x="5197293" y="0"/>
                </a:lnTo>
                <a:lnTo>
                  <a:pt x="5197293" y="1585174"/>
                </a:lnTo>
                <a:lnTo>
                  <a:pt x="0" y="1585174"/>
                </a:lnTo>
                <a:lnTo>
                  <a:pt x="0" y="0"/>
                </a:lnTo>
                <a:close/>
              </a:path>
            </a:pathLst>
          </a:custGeom>
          <a:blipFill rotWithShape="1">
            <a:blip r:embed="rId4">
              <a:alphaModFix/>
            </a:blip>
            <a:stretch>
              <a:fillRect b="0" l="0" r="0" t="0"/>
            </a:stretch>
          </a:blipFill>
          <a:ln>
            <a:noFill/>
          </a:ln>
        </p:spPr>
      </p:sp>
      <p:sp>
        <p:nvSpPr>
          <p:cNvPr id="94" name="Google Shape;94;p2"/>
          <p:cNvSpPr/>
          <p:nvPr/>
        </p:nvSpPr>
        <p:spPr>
          <a:xfrm>
            <a:off x="1028700" y="6136174"/>
            <a:ext cx="5197293" cy="1585174"/>
          </a:xfrm>
          <a:custGeom>
            <a:rect b="b" l="l" r="r" t="t"/>
            <a:pathLst>
              <a:path extrusionOk="0" h="1585174" w="5197293">
                <a:moveTo>
                  <a:pt x="0" y="0"/>
                </a:moveTo>
                <a:lnTo>
                  <a:pt x="5197293" y="0"/>
                </a:lnTo>
                <a:lnTo>
                  <a:pt x="5197293" y="1585174"/>
                </a:lnTo>
                <a:lnTo>
                  <a:pt x="0" y="1585174"/>
                </a:lnTo>
                <a:lnTo>
                  <a:pt x="0" y="0"/>
                </a:lnTo>
                <a:close/>
              </a:path>
            </a:pathLst>
          </a:custGeom>
          <a:blipFill rotWithShape="1">
            <a:blip r:embed="rId5">
              <a:alphaModFix/>
            </a:blip>
            <a:stretch>
              <a:fillRect b="0" l="0" r="0" t="0"/>
            </a:stretch>
          </a:blipFill>
          <a:ln>
            <a:noFill/>
          </a:ln>
        </p:spPr>
      </p:sp>
      <p:sp>
        <p:nvSpPr>
          <p:cNvPr id="95" name="Google Shape;95;p2"/>
          <p:cNvSpPr/>
          <p:nvPr/>
        </p:nvSpPr>
        <p:spPr>
          <a:xfrm>
            <a:off x="6545354" y="3057253"/>
            <a:ext cx="5197293" cy="1585174"/>
          </a:xfrm>
          <a:custGeom>
            <a:rect b="b" l="l" r="r" t="t"/>
            <a:pathLst>
              <a:path extrusionOk="0" h="1585174" w="5197293">
                <a:moveTo>
                  <a:pt x="0" y="0"/>
                </a:moveTo>
                <a:lnTo>
                  <a:pt x="5197292" y="0"/>
                </a:lnTo>
                <a:lnTo>
                  <a:pt x="5197292" y="1585174"/>
                </a:lnTo>
                <a:lnTo>
                  <a:pt x="0" y="1585174"/>
                </a:lnTo>
                <a:lnTo>
                  <a:pt x="0" y="0"/>
                </a:lnTo>
                <a:close/>
              </a:path>
            </a:pathLst>
          </a:custGeom>
          <a:blipFill rotWithShape="1">
            <a:blip r:embed="rId6">
              <a:alphaModFix/>
            </a:blip>
            <a:stretch>
              <a:fillRect b="0" l="0" r="0" t="0"/>
            </a:stretch>
          </a:blipFill>
          <a:ln>
            <a:noFill/>
          </a:ln>
        </p:spPr>
      </p:sp>
      <p:sp>
        <p:nvSpPr>
          <p:cNvPr id="96" name="Google Shape;96;p2"/>
          <p:cNvSpPr/>
          <p:nvPr/>
        </p:nvSpPr>
        <p:spPr>
          <a:xfrm>
            <a:off x="6545354" y="6136174"/>
            <a:ext cx="5197293" cy="1585174"/>
          </a:xfrm>
          <a:custGeom>
            <a:rect b="b" l="l" r="r" t="t"/>
            <a:pathLst>
              <a:path extrusionOk="0" h="1585174" w="5197293">
                <a:moveTo>
                  <a:pt x="0" y="0"/>
                </a:moveTo>
                <a:lnTo>
                  <a:pt x="5197292" y="0"/>
                </a:lnTo>
                <a:lnTo>
                  <a:pt x="5197292" y="1585174"/>
                </a:lnTo>
                <a:lnTo>
                  <a:pt x="0" y="1585174"/>
                </a:lnTo>
                <a:lnTo>
                  <a:pt x="0" y="0"/>
                </a:lnTo>
                <a:close/>
              </a:path>
            </a:pathLst>
          </a:custGeom>
          <a:blipFill rotWithShape="1">
            <a:blip r:embed="rId7">
              <a:alphaModFix/>
            </a:blip>
            <a:stretch>
              <a:fillRect b="0" l="0" r="0" t="0"/>
            </a:stretch>
          </a:blipFill>
          <a:ln>
            <a:noFill/>
          </a:ln>
        </p:spPr>
      </p:sp>
      <p:sp>
        <p:nvSpPr>
          <p:cNvPr id="97" name="Google Shape;97;p2"/>
          <p:cNvSpPr/>
          <p:nvPr/>
        </p:nvSpPr>
        <p:spPr>
          <a:xfrm>
            <a:off x="12062007" y="3057253"/>
            <a:ext cx="5197293" cy="1585174"/>
          </a:xfrm>
          <a:custGeom>
            <a:rect b="b" l="l" r="r" t="t"/>
            <a:pathLst>
              <a:path extrusionOk="0" h="1585174" w="5197293">
                <a:moveTo>
                  <a:pt x="0" y="0"/>
                </a:moveTo>
                <a:lnTo>
                  <a:pt x="5197293" y="0"/>
                </a:lnTo>
                <a:lnTo>
                  <a:pt x="5197293" y="1585174"/>
                </a:lnTo>
                <a:lnTo>
                  <a:pt x="0" y="1585174"/>
                </a:lnTo>
                <a:lnTo>
                  <a:pt x="0" y="0"/>
                </a:lnTo>
                <a:close/>
              </a:path>
            </a:pathLst>
          </a:custGeom>
          <a:blipFill rotWithShape="1">
            <a:blip r:embed="rId8">
              <a:alphaModFix/>
            </a:blip>
            <a:stretch>
              <a:fillRect b="0" l="0" r="0" t="0"/>
            </a:stretch>
          </a:blipFill>
          <a:ln>
            <a:noFill/>
          </a:ln>
        </p:spPr>
      </p:sp>
      <p:sp>
        <p:nvSpPr>
          <p:cNvPr id="98" name="Google Shape;98;p2"/>
          <p:cNvSpPr/>
          <p:nvPr/>
        </p:nvSpPr>
        <p:spPr>
          <a:xfrm>
            <a:off x="12062007" y="6136174"/>
            <a:ext cx="5197293" cy="1585174"/>
          </a:xfrm>
          <a:custGeom>
            <a:rect b="b" l="l" r="r" t="t"/>
            <a:pathLst>
              <a:path extrusionOk="0" h="1585174" w="5197293">
                <a:moveTo>
                  <a:pt x="0" y="0"/>
                </a:moveTo>
                <a:lnTo>
                  <a:pt x="5197293" y="0"/>
                </a:lnTo>
                <a:lnTo>
                  <a:pt x="5197293" y="1585174"/>
                </a:lnTo>
                <a:lnTo>
                  <a:pt x="0" y="1585174"/>
                </a:lnTo>
                <a:lnTo>
                  <a:pt x="0" y="0"/>
                </a:lnTo>
                <a:close/>
              </a:path>
            </a:pathLst>
          </a:custGeom>
          <a:blipFill rotWithShape="1">
            <a:blip r:embed="rId9">
              <a:alphaModFix/>
            </a:blip>
            <a:stretch>
              <a:fillRect b="0" l="0" r="0" t="0"/>
            </a:stretch>
          </a:blipFill>
          <a:ln>
            <a:noFill/>
          </a:ln>
        </p:spPr>
      </p:sp>
      <p:sp>
        <p:nvSpPr>
          <p:cNvPr id="99" name="Google Shape;99;p2"/>
          <p:cNvSpPr/>
          <p:nvPr/>
        </p:nvSpPr>
        <p:spPr>
          <a:xfrm>
            <a:off x="1762177" y="5076698"/>
            <a:ext cx="4115707" cy="169773"/>
          </a:xfrm>
          <a:custGeom>
            <a:rect b="b" l="l" r="r" t="t"/>
            <a:pathLst>
              <a:path extrusionOk="0" h="169773" w="4115707">
                <a:moveTo>
                  <a:pt x="0" y="0"/>
                </a:moveTo>
                <a:lnTo>
                  <a:pt x="4115707" y="0"/>
                </a:lnTo>
                <a:lnTo>
                  <a:pt x="4115707" y="169773"/>
                </a:lnTo>
                <a:lnTo>
                  <a:pt x="0" y="169773"/>
                </a:lnTo>
                <a:lnTo>
                  <a:pt x="0" y="0"/>
                </a:lnTo>
                <a:close/>
              </a:path>
            </a:pathLst>
          </a:custGeom>
          <a:blipFill rotWithShape="1">
            <a:blip r:embed="rId10">
              <a:alphaModFix/>
            </a:blip>
            <a:stretch>
              <a:fillRect b="0" l="0" r="0" t="0"/>
            </a:stretch>
          </a:blipFill>
          <a:ln>
            <a:noFill/>
          </a:ln>
        </p:spPr>
      </p:sp>
      <p:sp>
        <p:nvSpPr>
          <p:cNvPr id="100" name="Google Shape;100;p2"/>
          <p:cNvSpPr/>
          <p:nvPr/>
        </p:nvSpPr>
        <p:spPr>
          <a:xfrm>
            <a:off x="1762177" y="8155619"/>
            <a:ext cx="4115707" cy="169773"/>
          </a:xfrm>
          <a:custGeom>
            <a:rect b="b" l="l" r="r" t="t"/>
            <a:pathLst>
              <a:path extrusionOk="0" h="169773" w="4115707">
                <a:moveTo>
                  <a:pt x="0" y="0"/>
                </a:moveTo>
                <a:lnTo>
                  <a:pt x="4115707" y="0"/>
                </a:lnTo>
                <a:lnTo>
                  <a:pt x="4115707" y="169773"/>
                </a:lnTo>
                <a:lnTo>
                  <a:pt x="0" y="169773"/>
                </a:lnTo>
                <a:lnTo>
                  <a:pt x="0" y="0"/>
                </a:lnTo>
                <a:close/>
              </a:path>
            </a:pathLst>
          </a:custGeom>
          <a:blipFill rotWithShape="1">
            <a:blip r:embed="rId10">
              <a:alphaModFix/>
            </a:blip>
            <a:stretch>
              <a:fillRect b="0" l="0" r="0" t="0"/>
            </a:stretch>
          </a:blipFill>
          <a:ln>
            <a:noFill/>
          </a:ln>
        </p:spPr>
      </p:sp>
      <p:sp>
        <p:nvSpPr>
          <p:cNvPr id="101" name="Google Shape;101;p2"/>
          <p:cNvSpPr/>
          <p:nvPr/>
        </p:nvSpPr>
        <p:spPr>
          <a:xfrm>
            <a:off x="7280963" y="5076698"/>
            <a:ext cx="4115707" cy="169773"/>
          </a:xfrm>
          <a:custGeom>
            <a:rect b="b" l="l" r="r" t="t"/>
            <a:pathLst>
              <a:path extrusionOk="0" h="169773" w="4115707">
                <a:moveTo>
                  <a:pt x="0" y="0"/>
                </a:moveTo>
                <a:lnTo>
                  <a:pt x="4115707" y="0"/>
                </a:lnTo>
                <a:lnTo>
                  <a:pt x="4115707" y="169773"/>
                </a:lnTo>
                <a:lnTo>
                  <a:pt x="0" y="169773"/>
                </a:lnTo>
                <a:lnTo>
                  <a:pt x="0" y="0"/>
                </a:lnTo>
                <a:close/>
              </a:path>
            </a:pathLst>
          </a:custGeom>
          <a:blipFill rotWithShape="1">
            <a:blip r:embed="rId10">
              <a:alphaModFix/>
            </a:blip>
            <a:stretch>
              <a:fillRect b="0" l="0" r="0" t="0"/>
            </a:stretch>
          </a:blipFill>
          <a:ln>
            <a:noFill/>
          </a:ln>
        </p:spPr>
      </p:sp>
      <p:sp>
        <p:nvSpPr>
          <p:cNvPr id="102" name="Google Shape;102;p2"/>
          <p:cNvSpPr/>
          <p:nvPr/>
        </p:nvSpPr>
        <p:spPr>
          <a:xfrm>
            <a:off x="7280963" y="8155619"/>
            <a:ext cx="4115707" cy="169773"/>
          </a:xfrm>
          <a:custGeom>
            <a:rect b="b" l="l" r="r" t="t"/>
            <a:pathLst>
              <a:path extrusionOk="0" h="169773" w="4115707">
                <a:moveTo>
                  <a:pt x="0" y="0"/>
                </a:moveTo>
                <a:lnTo>
                  <a:pt x="4115707" y="0"/>
                </a:lnTo>
                <a:lnTo>
                  <a:pt x="4115707" y="169773"/>
                </a:lnTo>
                <a:lnTo>
                  <a:pt x="0" y="169773"/>
                </a:lnTo>
                <a:lnTo>
                  <a:pt x="0" y="0"/>
                </a:lnTo>
                <a:close/>
              </a:path>
            </a:pathLst>
          </a:custGeom>
          <a:blipFill rotWithShape="1">
            <a:blip r:embed="rId10">
              <a:alphaModFix/>
            </a:blip>
            <a:stretch>
              <a:fillRect b="0" l="0" r="0" t="0"/>
            </a:stretch>
          </a:blipFill>
          <a:ln>
            <a:noFill/>
          </a:ln>
        </p:spPr>
      </p:sp>
      <p:grpSp>
        <p:nvGrpSpPr>
          <p:cNvPr id="103" name="Google Shape;103;p2"/>
          <p:cNvGrpSpPr/>
          <p:nvPr/>
        </p:nvGrpSpPr>
        <p:grpSpPr>
          <a:xfrm>
            <a:off x="587698" y="4416637"/>
            <a:ext cx="948012" cy="948012"/>
            <a:chOff x="0" y="0"/>
            <a:chExt cx="812800" cy="812800"/>
          </a:xfrm>
        </p:grpSpPr>
        <p:sp>
          <p:nvSpPr>
            <p:cNvPr id="104" name="Google Shape;104;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76200">
              <a:solidFill>
                <a:srgbClr val="11468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6" name="Google Shape;106;p2"/>
          <p:cNvGrpSpPr/>
          <p:nvPr/>
        </p:nvGrpSpPr>
        <p:grpSpPr>
          <a:xfrm>
            <a:off x="587698" y="7495558"/>
            <a:ext cx="948012" cy="948012"/>
            <a:chOff x="0" y="0"/>
            <a:chExt cx="812800" cy="812800"/>
          </a:xfrm>
        </p:grpSpPr>
        <p:sp>
          <p:nvSpPr>
            <p:cNvPr id="107" name="Google Shape;107;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76200">
              <a:solidFill>
                <a:srgbClr val="31BF8A"/>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9" name="Google Shape;109;p2"/>
          <p:cNvGrpSpPr/>
          <p:nvPr/>
        </p:nvGrpSpPr>
        <p:grpSpPr>
          <a:xfrm>
            <a:off x="6104351" y="4416637"/>
            <a:ext cx="948012" cy="948012"/>
            <a:chOff x="0" y="0"/>
            <a:chExt cx="812800" cy="812800"/>
          </a:xfrm>
        </p:grpSpPr>
        <p:sp>
          <p:nvSpPr>
            <p:cNvPr id="110" name="Google Shape;110;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76200">
              <a:solidFill>
                <a:srgbClr val="1D8BC9"/>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2" name="Google Shape;112;p2"/>
          <p:cNvGrpSpPr/>
          <p:nvPr/>
        </p:nvGrpSpPr>
        <p:grpSpPr>
          <a:xfrm>
            <a:off x="6104351" y="7495558"/>
            <a:ext cx="948012" cy="948012"/>
            <a:chOff x="0" y="0"/>
            <a:chExt cx="812800" cy="812800"/>
          </a:xfrm>
        </p:grpSpPr>
        <p:sp>
          <p:nvSpPr>
            <p:cNvPr id="113" name="Google Shape;113;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76200">
              <a:solidFill>
                <a:srgbClr val="77BF6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5" name="Google Shape;115;p2"/>
          <p:cNvGrpSpPr/>
          <p:nvPr/>
        </p:nvGrpSpPr>
        <p:grpSpPr>
          <a:xfrm>
            <a:off x="11621005" y="4416637"/>
            <a:ext cx="948012" cy="948012"/>
            <a:chOff x="0" y="0"/>
            <a:chExt cx="812800" cy="812800"/>
          </a:xfrm>
        </p:grpSpPr>
        <p:sp>
          <p:nvSpPr>
            <p:cNvPr id="116" name="Google Shape;116;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76200">
              <a:solidFill>
                <a:srgbClr val="2BC5CD"/>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8" name="Google Shape;118;p2"/>
          <p:cNvGrpSpPr/>
          <p:nvPr/>
        </p:nvGrpSpPr>
        <p:grpSpPr>
          <a:xfrm>
            <a:off x="11621005" y="7495558"/>
            <a:ext cx="948012" cy="948012"/>
            <a:chOff x="0" y="0"/>
            <a:chExt cx="812800" cy="812800"/>
          </a:xfrm>
        </p:grpSpPr>
        <p:sp>
          <p:nvSpPr>
            <p:cNvPr id="119" name="Google Shape;119;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76200">
              <a:solidFill>
                <a:srgbClr val="519D39"/>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1" name="Google Shape;121;p2"/>
          <p:cNvSpPr/>
          <p:nvPr/>
        </p:nvSpPr>
        <p:spPr>
          <a:xfrm>
            <a:off x="12799749" y="5076698"/>
            <a:ext cx="4115707" cy="169773"/>
          </a:xfrm>
          <a:custGeom>
            <a:rect b="b" l="l" r="r" t="t"/>
            <a:pathLst>
              <a:path extrusionOk="0" h="169773" w="4115707">
                <a:moveTo>
                  <a:pt x="0" y="0"/>
                </a:moveTo>
                <a:lnTo>
                  <a:pt x="4115707" y="0"/>
                </a:lnTo>
                <a:lnTo>
                  <a:pt x="4115707" y="169773"/>
                </a:lnTo>
                <a:lnTo>
                  <a:pt x="0" y="169773"/>
                </a:lnTo>
                <a:lnTo>
                  <a:pt x="0" y="0"/>
                </a:lnTo>
                <a:close/>
              </a:path>
            </a:pathLst>
          </a:custGeom>
          <a:blipFill rotWithShape="1">
            <a:blip r:embed="rId10">
              <a:alphaModFix/>
            </a:blip>
            <a:stretch>
              <a:fillRect b="0" l="0" r="0" t="0"/>
            </a:stretch>
          </a:blipFill>
          <a:ln>
            <a:noFill/>
          </a:ln>
        </p:spPr>
      </p:sp>
      <p:sp>
        <p:nvSpPr>
          <p:cNvPr id="122" name="Google Shape;122;p2"/>
          <p:cNvSpPr/>
          <p:nvPr/>
        </p:nvSpPr>
        <p:spPr>
          <a:xfrm>
            <a:off x="12799749" y="8155619"/>
            <a:ext cx="4115707" cy="169773"/>
          </a:xfrm>
          <a:custGeom>
            <a:rect b="b" l="l" r="r" t="t"/>
            <a:pathLst>
              <a:path extrusionOk="0" h="169773" w="4115707">
                <a:moveTo>
                  <a:pt x="0" y="0"/>
                </a:moveTo>
                <a:lnTo>
                  <a:pt x="4115707" y="0"/>
                </a:lnTo>
                <a:lnTo>
                  <a:pt x="4115707" y="169773"/>
                </a:lnTo>
                <a:lnTo>
                  <a:pt x="0" y="169773"/>
                </a:lnTo>
                <a:lnTo>
                  <a:pt x="0" y="0"/>
                </a:lnTo>
                <a:close/>
              </a:path>
            </a:pathLst>
          </a:custGeom>
          <a:blipFill rotWithShape="1">
            <a:blip r:embed="rId10">
              <a:alphaModFix/>
            </a:blip>
            <a:stretch>
              <a:fillRect b="0" l="0" r="0" t="0"/>
            </a:stretch>
          </a:blipFill>
          <a:ln>
            <a:noFill/>
          </a:ln>
        </p:spPr>
      </p:sp>
      <p:sp>
        <p:nvSpPr>
          <p:cNvPr id="123" name="Google Shape;123;p2"/>
          <p:cNvSpPr/>
          <p:nvPr/>
        </p:nvSpPr>
        <p:spPr>
          <a:xfrm>
            <a:off x="5122074" y="3430220"/>
            <a:ext cx="908930" cy="669200"/>
          </a:xfrm>
          <a:custGeom>
            <a:rect b="b" l="l" r="r" t="t"/>
            <a:pathLst>
              <a:path extrusionOk="0" h="669200" w="908930">
                <a:moveTo>
                  <a:pt x="0" y="0"/>
                </a:moveTo>
                <a:lnTo>
                  <a:pt x="908930" y="0"/>
                </a:lnTo>
                <a:lnTo>
                  <a:pt x="908930" y="669200"/>
                </a:lnTo>
                <a:lnTo>
                  <a:pt x="0" y="669200"/>
                </a:lnTo>
                <a:lnTo>
                  <a:pt x="0" y="0"/>
                </a:lnTo>
                <a:close/>
              </a:path>
            </a:pathLst>
          </a:custGeom>
          <a:blipFill rotWithShape="1">
            <a:blip r:embed="rId11">
              <a:alphaModFix/>
            </a:blip>
            <a:stretch>
              <a:fillRect b="0" l="0" r="0" t="0"/>
            </a:stretch>
          </a:blipFill>
          <a:ln>
            <a:noFill/>
          </a:ln>
        </p:spPr>
      </p:sp>
      <p:sp>
        <p:nvSpPr>
          <p:cNvPr id="124" name="Google Shape;124;p2"/>
          <p:cNvSpPr/>
          <p:nvPr/>
        </p:nvSpPr>
        <p:spPr>
          <a:xfrm>
            <a:off x="-2201496" y="-2276473"/>
            <a:ext cx="3708464" cy="4114800"/>
          </a:xfrm>
          <a:custGeom>
            <a:rect b="b" l="l" r="r" t="t"/>
            <a:pathLst>
              <a:path extrusionOk="0" h="4114800" w="3708464">
                <a:moveTo>
                  <a:pt x="0" y="0"/>
                </a:moveTo>
                <a:lnTo>
                  <a:pt x="3708463" y="0"/>
                </a:lnTo>
                <a:lnTo>
                  <a:pt x="3708463" y="4114800"/>
                </a:lnTo>
                <a:lnTo>
                  <a:pt x="0" y="4114800"/>
                </a:lnTo>
                <a:lnTo>
                  <a:pt x="0" y="0"/>
                </a:lnTo>
                <a:close/>
              </a:path>
            </a:pathLst>
          </a:custGeom>
          <a:blipFill rotWithShape="1">
            <a:blip r:embed="rId12">
              <a:alphaModFix/>
            </a:blip>
            <a:stretch>
              <a:fillRect b="0" l="0" r="0" t="0"/>
            </a:stretch>
          </a:blipFill>
          <a:ln>
            <a:noFill/>
          </a:ln>
        </p:spPr>
      </p:sp>
      <p:sp>
        <p:nvSpPr>
          <p:cNvPr id="125" name="Google Shape;125;p2"/>
          <p:cNvSpPr/>
          <p:nvPr/>
        </p:nvSpPr>
        <p:spPr>
          <a:xfrm>
            <a:off x="16750094" y="9036185"/>
            <a:ext cx="3075813" cy="4114800"/>
          </a:xfrm>
          <a:custGeom>
            <a:rect b="b" l="l" r="r" t="t"/>
            <a:pathLst>
              <a:path extrusionOk="0" h="4114800" w="3075813">
                <a:moveTo>
                  <a:pt x="0" y="0"/>
                </a:moveTo>
                <a:lnTo>
                  <a:pt x="3075812" y="0"/>
                </a:lnTo>
                <a:lnTo>
                  <a:pt x="3075812" y="4114800"/>
                </a:lnTo>
                <a:lnTo>
                  <a:pt x="0" y="4114800"/>
                </a:lnTo>
                <a:lnTo>
                  <a:pt x="0" y="0"/>
                </a:lnTo>
                <a:close/>
              </a:path>
            </a:pathLst>
          </a:custGeom>
          <a:blipFill rotWithShape="1">
            <a:blip r:embed="rId13">
              <a:alphaModFix/>
            </a:blip>
            <a:stretch>
              <a:fillRect b="0" l="0" r="0" t="0"/>
            </a:stretch>
          </a:blipFill>
          <a:ln>
            <a:noFill/>
          </a:ln>
        </p:spPr>
      </p:sp>
      <p:sp>
        <p:nvSpPr>
          <p:cNvPr id="126" name="Google Shape;126;p2"/>
          <p:cNvSpPr/>
          <p:nvPr/>
        </p:nvSpPr>
        <p:spPr>
          <a:xfrm>
            <a:off x="16085087" y="6451115"/>
            <a:ext cx="1028578" cy="955292"/>
          </a:xfrm>
          <a:custGeom>
            <a:rect b="b" l="l" r="r" t="t"/>
            <a:pathLst>
              <a:path extrusionOk="0" h="955292" w="1028578">
                <a:moveTo>
                  <a:pt x="0" y="0"/>
                </a:moveTo>
                <a:lnTo>
                  <a:pt x="1028578" y="0"/>
                </a:lnTo>
                <a:lnTo>
                  <a:pt x="1028578" y="955292"/>
                </a:lnTo>
                <a:lnTo>
                  <a:pt x="0" y="955292"/>
                </a:lnTo>
                <a:lnTo>
                  <a:pt x="0" y="0"/>
                </a:lnTo>
                <a:close/>
              </a:path>
            </a:pathLst>
          </a:custGeom>
          <a:blipFill rotWithShape="1">
            <a:blip r:embed="rId14">
              <a:alphaModFix/>
            </a:blip>
            <a:stretch>
              <a:fillRect b="0" l="0" r="0" t="0"/>
            </a:stretch>
          </a:blipFill>
          <a:ln>
            <a:noFill/>
          </a:ln>
        </p:spPr>
      </p:sp>
      <p:sp>
        <p:nvSpPr>
          <p:cNvPr id="127" name="Google Shape;127;p2"/>
          <p:cNvSpPr/>
          <p:nvPr/>
        </p:nvSpPr>
        <p:spPr>
          <a:xfrm>
            <a:off x="5145560" y="6407302"/>
            <a:ext cx="861958" cy="830479"/>
          </a:xfrm>
          <a:custGeom>
            <a:rect b="b" l="l" r="r" t="t"/>
            <a:pathLst>
              <a:path extrusionOk="0" h="830479" w="861958">
                <a:moveTo>
                  <a:pt x="0" y="0"/>
                </a:moveTo>
                <a:lnTo>
                  <a:pt x="861958" y="0"/>
                </a:lnTo>
                <a:lnTo>
                  <a:pt x="861958" y="830478"/>
                </a:lnTo>
                <a:lnTo>
                  <a:pt x="0" y="830478"/>
                </a:lnTo>
                <a:lnTo>
                  <a:pt x="0" y="0"/>
                </a:lnTo>
                <a:close/>
              </a:path>
            </a:pathLst>
          </a:custGeom>
          <a:blipFill rotWithShape="1">
            <a:blip r:embed="rId15">
              <a:alphaModFix/>
            </a:blip>
            <a:stretch>
              <a:fillRect b="0" l="0" r="0" t="0"/>
            </a:stretch>
          </a:blipFill>
          <a:ln>
            <a:noFill/>
          </a:ln>
        </p:spPr>
      </p:sp>
      <p:sp>
        <p:nvSpPr>
          <p:cNvPr id="128" name="Google Shape;128;p2"/>
          <p:cNvSpPr/>
          <p:nvPr/>
        </p:nvSpPr>
        <p:spPr>
          <a:xfrm>
            <a:off x="15922854" y="3430220"/>
            <a:ext cx="1146887" cy="758379"/>
          </a:xfrm>
          <a:custGeom>
            <a:rect b="b" l="l" r="r" t="t"/>
            <a:pathLst>
              <a:path extrusionOk="0" h="758379" w="1146887">
                <a:moveTo>
                  <a:pt x="0" y="0"/>
                </a:moveTo>
                <a:lnTo>
                  <a:pt x="1146887" y="0"/>
                </a:lnTo>
                <a:lnTo>
                  <a:pt x="1146887" y="758379"/>
                </a:lnTo>
                <a:lnTo>
                  <a:pt x="0" y="758379"/>
                </a:lnTo>
                <a:lnTo>
                  <a:pt x="0" y="0"/>
                </a:lnTo>
                <a:close/>
              </a:path>
            </a:pathLst>
          </a:custGeom>
          <a:blipFill rotWithShape="1">
            <a:blip r:embed="rId16">
              <a:alphaModFix/>
            </a:blip>
            <a:stretch>
              <a:fillRect b="0" l="0" r="0" t="0"/>
            </a:stretch>
          </a:blipFill>
          <a:ln>
            <a:noFill/>
          </a:ln>
        </p:spPr>
      </p:sp>
      <p:sp>
        <p:nvSpPr>
          <p:cNvPr id="129" name="Google Shape;129;p2"/>
          <p:cNvSpPr/>
          <p:nvPr/>
        </p:nvSpPr>
        <p:spPr>
          <a:xfrm>
            <a:off x="10408319" y="3430220"/>
            <a:ext cx="1143768" cy="839240"/>
          </a:xfrm>
          <a:custGeom>
            <a:rect b="b" l="l" r="r" t="t"/>
            <a:pathLst>
              <a:path extrusionOk="0" h="839240" w="1143768">
                <a:moveTo>
                  <a:pt x="0" y="0"/>
                </a:moveTo>
                <a:lnTo>
                  <a:pt x="1143768" y="0"/>
                </a:lnTo>
                <a:lnTo>
                  <a:pt x="1143768" y="839240"/>
                </a:lnTo>
                <a:lnTo>
                  <a:pt x="0" y="839240"/>
                </a:lnTo>
                <a:lnTo>
                  <a:pt x="0" y="0"/>
                </a:lnTo>
                <a:close/>
              </a:path>
            </a:pathLst>
          </a:custGeom>
          <a:blipFill rotWithShape="1">
            <a:blip r:embed="rId17">
              <a:alphaModFix/>
            </a:blip>
            <a:stretch>
              <a:fillRect b="0" l="0" r="0" t="0"/>
            </a:stretch>
          </a:blipFill>
          <a:ln>
            <a:noFill/>
          </a:ln>
        </p:spPr>
      </p:sp>
      <p:sp>
        <p:nvSpPr>
          <p:cNvPr id="130" name="Google Shape;130;p2"/>
          <p:cNvSpPr/>
          <p:nvPr/>
        </p:nvSpPr>
        <p:spPr>
          <a:xfrm>
            <a:off x="10801775" y="6304246"/>
            <a:ext cx="489055" cy="793598"/>
          </a:xfrm>
          <a:custGeom>
            <a:rect b="b" l="l" r="r" t="t"/>
            <a:pathLst>
              <a:path extrusionOk="0" h="793598" w="489055">
                <a:moveTo>
                  <a:pt x="0" y="0"/>
                </a:moveTo>
                <a:lnTo>
                  <a:pt x="489055" y="0"/>
                </a:lnTo>
                <a:lnTo>
                  <a:pt x="489055" y="793598"/>
                </a:lnTo>
                <a:lnTo>
                  <a:pt x="0" y="793598"/>
                </a:lnTo>
                <a:lnTo>
                  <a:pt x="0" y="0"/>
                </a:lnTo>
                <a:close/>
              </a:path>
            </a:pathLst>
          </a:custGeom>
          <a:blipFill rotWithShape="1">
            <a:blip r:embed="rId18">
              <a:alphaModFix/>
            </a:blip>
            <a:stretch>
              <a:fillRect b="0" l="0" r="0" t="0"/>
            </a:stretch>
          </a:blipFill>
          <a:ln>
            <a:noFill/>
          </a:ln>
        </p:spPr>
      </p:sp>
      <p:sp>
        <p:nvSpPr>
          <p:cNvPr id="131" name="Google Shape;131;p2"/>
          <p:cNvSpPr txBox="1"/>
          <p:nvPr/>
        </p:nvSpPr>
        <p:spPr>
          <a:xfrm>
            <a:off x="7024687" y="3497415"/>
            <a:ext cx="2675205" cy="71437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FFFF"/>
                </a:solidFill>
                <a:latin typeface="Arial"/>
                <a:ea typeface="Arial"/>
                <a:cs typeface="Arial"/>
                <a:sym typeface="Arial"/>
              </a:rPr>
              <a:t>Presentación de Clase #03</a:t>
            </a:r>
            <a:endParaRPr/>
          </a:p>
        </p:txBody>
      </p:sp>
      <p:sp>
        <p:nvSpPr>
          <p:cNvPr id="132" name="Google Shape;132;p2"/>
          <p:cNvSpPr txBox="1"/>
          <p:nvPr/>
        </p:nvSpPr>
        <p:spPr>
          <a:xfrm>
            <a:off x="12256996" y="3492712"/>
            <a:ext cx="3790655" cy="3524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FFFF"/>
                </a:solidFill>
                <a:latin typeface="Arial"/>
                <a:ea typeface="Arial"/>
                <a:cs typeface="Arial"/>
                <a:sym typeface="Arial"/>
              </a:rPr>
              <a:t>Ejemplo Práctico #03</a:t>
            </a:r>
            <a:endParaRPr/>
          </a:p>
        </p:txBody>
      </p:sp>
      <p:sp>
        <p:nvSpPr>
          <p:cNvPr id="133" name="Google Shape;133;p2"/>
          <p:cNvSpPr txBox="1"/>
          <p:nvPr/>
        </p:nvSpPr>
        <p:spPr>
          <a:xfrm>
            <a:off x="7382544" y="828675"/>
            <a:ext cx="3272879" cy="1009652"/>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5999" u="none" cap="none" strike="noStrike">
                <a:solidFill>
                  <a:srgbClr val="1F0A49"/>
                </a:solidFill>
                <a:latin typeface="Arial"/>
                <a:ea typeface="Arial"/>
                <a:cs typeface="Arial"/>
                <a:sym typeface="Arial"/>
              </a:rPr>
              <a:t>AGENDA</a:t>
            </a:r>
            <a:endParaRPr/>
          </a:p>
        </p:txBody>
      </p:sp>
      <p:sp>
        <p:nvSpPr>
          <p:cNvPr id="134" name="Google Shape;134;p2"/>
          <p:cNvSpPr txBox="1"/>
          <p:nvPr/>
        </p:nvSpPr>
        <p:spPr>
          <a:xfrm>
            <a:off x="1506967" y="3497415"/>
            <a:ext cx="3534550" cy="3524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FFFF"/>
                </a:solidFill>
                <a:latin typeface="Arial"/>
                <a:ea typeface="Arial"/>
                <a:cs typeface="Arial"/>
                <a:sym typeface="Arial"/>
              </a:rPr>
              <a:t>Bienvenida Clase #03</a:t>
            </a:r>
            <a:endParaRPr/>
          </a:p>
        </p:txBody>
      </p:sp>
      <p:sp>
        <p:nvSpPr>
          <p:cNvPr id="135" name="Google Shape;135;p2"/>
          <p:cNvSpPr txBox="1"/>
          <p:nvPr/>
        </p:nvSpPr>
        <p:spPr>
          <a:xfrm>
            <a:off x="1357626" y="6576336"/>
            <a:ext cx="3534550" cy="3524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FFFF"/>
                </a:solidFill>
                <a:latin typeface="Arial"/>
                <a:ea typeface="Arial"/>
                <a:cs typeface="Arial"/>
                <a:sym typeface="Arial"/>
              </a:rPr>
              <a:t>Anuncios Generales</a:t>
            </a:r>
            <a:endParaRPr/>
          </a:p>
        </p:txBody>
      </p:sp>
      <p:sp>
        <p:nvSpPr>
          <p:cNvPr id="136" name="Google Shape;136;p2"/>
          <p:cNvSpPr txBox="1"/>
          <p:nvPr/>
        </p:nvSpPr>
        <p:spPr>
          <a:xfrm>
            <a:off x="12569017" y="6666512"/>
            <a:ext cx="2944570" cy="3524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FFFF"/>
                </a:solidFill>
                <a:latin typeface="Arial"/>
                <a:ea typeface="Arial"/>
                <a:cs typeface="Arial"/>
                <a:sym typeface="Arial"/>
              </a:rPr>
              <a:t>Cuestionario #03</a:t>
            </a:r>
            <a:endParaRPr/>
          </a:p>
        </p:txBody>
      </p:sp>
      <p:sp>
        <p:nvSpPr>
          <p:cNvPr id="137" name="Google Shape;137;p2"/>
          <p:cNvSpPr txBox="1"/>
          <p:nvPr/>
        </p:nvSpPr>
        <p:spPr>
          <a:xfrm>
            <a:off x="859520" y="4637913"/>
            <a:ext cx="404366" cy="448310"/>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599" u="none" cap="none" strike="noStrike">
                <a:solidFill>
                  <a:srgbClr val="11468C"/>
                </a:solidFill>
                <a:latin typeface="Arial"/>
                <a:ea typeface="Arial"/>
                <a:cs typeface="Arial"/>
                <a:sym typeface="Arial"/>
              </a:rPr>
              <a:t>01</a:t>
            </a:r>
            <a:endParaRPr/>
          </a:p>
        </p:txBody>
      </p:sp>
      <p:sp>
        <p:nvSpPr>
          <p:cNvPr id="138" name="Google Shape;138;p2"/>
          <p:cNvSpPr txBox="1"/>
          <p:nvPr/>
        </p:nvSpPr>
        <p:spPr>
          <a:xfrm>
            <a:off x="843782" y="7716834"/>
            <a:ext cx="435843" cy="448310"/>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599" u="none" cap="none" strike="noStrike">
                <a:solidFill>
                  <a:srgbClr val="31BF8A"/>
                </a:solidFill>
                <a:latin typeface="Arial"/>
                <a:ea typeface="Arial"/>
                <a:cs typeface="Arial"/>
                <a:sym typeface="Arial"/>
              </a:rPr>
              <a:t>04</a:t>
            </a:r>
            <a:endParaRPr/>
          </a:p>
        </p:txBody>
      </p:sp>
      <p:sp>
        <p:nvSpPr>
          <p:cNvPr id="139" name="Google Shape;139;p2"/>
          <p:cNvSpPr txBox="1"/>
          <p:nvPr/>
        </p:nvSpPr>
        <p:spPr>
          <a:xfrm>
            <a:off x="6371151" y="4637913"/>
            <a:ext cx="414412" cy="448310"/>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599" u="none" cap="none" strike="noStrike">
                <a:solidFill>
                  <a:srgbClr val="1D8BC9"/>
                </a:solidFill>
                <a:latin typeface="Arial"/>
                <a:ea typeface="Arial"/>
                <a:cs typeface="Arial"/>
                <a:sym typeface="Arial"/>
              </a:rPr>
              <a:t>02</a:t>
            </a:r>
            <a:endParaRPr/>
          </a:p>
        </p:txBody>
      </p:sp>
      <p:sp>
        <p:nvSpPr>
          <p:cNvPr id="140" name="Google Shape;140;p2"/>
          <p:cNvSpPr txBox="1"/>
          <p:nvPr/>
        </p:nvSpPr>
        <p:spPr>
          <a:xfrm>
            <a:off x="6363821" y="7716834"/>
            <a:ext cx="429071" cy="448310"/>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599" u="none" cap="none" strike="noStrike">
                <a:solidFill>
                  <a:srgbClr val="77BF60"/>
                </a:solidFill>
                <a:latin typeface="Arial"/>
                <a:ea typeface="Arial"/>
                <a:cs typeface="Arial"/>
                <a:sym typeface="Arial"/>
              </a:rPr>
              <a:t>05</a:t>
            </a:r>
            <a:endParaRPr/>
          </a:p>
        </p:txBody>
      </p:sp>
      <p:sp>
        <p:nvSpPr>
          <p:cNvPr id="141" name="Google Shape;141;p2"/>
          <p:cNvSpPr txBox="1"/>
          <p:nvPr/>
        </p:nvSpPr>
        <p:spPr>
          <a:xfrm>
            <a:off x="11882261" y="4637913"/>
            <a:ext cx="425500" cy="448310"/>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599" u="none" cap="none" strike="noStrike">
                <a:solidFill>
                  <a:srgbClr val="2BC5CD"/>
                </a:solidFill>
                <a:latin typeface="Arial"/>
                <a:ea typeface="Arial"/>
                <a:cs typeface="Arial"/>
                <a:sym typeface="Arial"/>
              </a:rPr>
              <a:t>03</a:t>
            </a:r>
            <a:endParaRPr/>
          </a:p>
        </p:txBody>
      </p:sp>
      <p:sp>
        <p:nvSpPr>
          <p:cNvPr id="142" name="Google Shape;142;p2"/>
          <p:cNvSpPr txBox="1"/>
          <p:nvPr/>
        </p:nvSpPr>
        <p:spPr>
          <a:xfrm>
            <a:off x="11872736" y="7716834"/>
            <a:ext cx="444550" cy="448310"/>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599" u="none" cap="none" strike="noStrike">
                <a:solidFill>
                  <a:srgbClr val="519D39"/>
                </a:solidFill>
                <a:latin typeface="Arial"/>
                <a:ea typeface="Arial"/>
                <a:cs typeface="Arial"/>
                <a:sym typeface="Arial"/>
              </a:rPr>
              <a:t>06</a:t>
            </a:r>
            <a:endParaRPr/>
          </a:p>
        </p:txBody>
      </p:sp>
      <p:sp>
        <p:nvSpPr>
          <p:cNvPr id="143" name="Google Shape;143;p2"/>
          <p:cNvSpPr txBox="1"/>
          <p:nvPr/>
        </p:nvSpPr>
        <p:spPr>
          <a:xfrm>
            <a:off x="6792893" y="6576336"/>
            <a:ext cx="3534550" cy="3524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US" sz="2400" u="none" cap="none" strike="noStrike">
                <a:solidFill>
                  <a:srgbClr val="FFFFFF"/>
                </a:solidFill>
                <a:latin typeface="Arial"/>
                <a:ea typeface="Arial"/>
                <a:cs typeface="Arial"/>
                <a:sym typeface="Arial"/>
              </a:rPr>
              <a:t>¿Dudas?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147" name="Shape 147"/>
        <p:cNvGrpSpPr/>
        <p:nvPr/>
      </p:nvGrpSpPr>
      <p:grpSpPr>
        <a:xfrm>
          <a:off x="0" y="0"/>
          <a:ext cx="0" cy="0"/>
          <a:chOff x="0" y="0"/>
          <a:chExt cx="0" cy="0"/>
        </a:xfrm>
      </p:grpSpPr>
      <p:pic>
        <p:nvPicPr>
          <p:cNvPr id="148" name="Google Shape;148;p3"/>
          <p:cNvPicPr preferRelativeResize="0"/>
          <p:nvPr/>
        </p:nvPicPr>
        <p:blipFill rotWithShape="1">
          <a:blip r:embed="rId3">
            <a:alphaModFix amt="60000"/>
          </a:blip>
          <a:srcRect b="0" l="0" r="0" t="0"/>
          <a:stretch/>
        </p:blipFill>
        <p:spPr>
          <a:xfrm>
            <a:off x="-2285506" y="-4771437"/>
            <a:ext cx="22859012" cy="17585432"/>
          </a:xfrm>
          <a:prstGeom prst="rect">
            <a:avLst/>
          </a:prstGeom>
          <a:noFill/>
          <a:ln>
            <a:noFill/>
          </a:ln>
        </p:spPr>
      </p:pic>
      <p:grpSp>
        <p:nvGrpSpPr>
          <p:cNvPr id="149" name="Google Shape;149;p3"/>
          <p:cNvGrpSpPr/>
          <p:nvPr/>
        </p:nvGrpSpPr>
        <p:grpSpPr>
          <a:xfrm>
            <a:off x="1028700" y="3403329"/>
            <a:ext cx="16230600" cy="3778541"/>
            <a:chOff x="0" y="-38100"/>
            <a:chExt cx="3655013" cy="850900"/>
          </a:xfrm>
        </p:grpSpPr>
        <p:sp>
          <p:nvSpPr>
            <p:cNvPr id="150" name="Google Shape;150;p3"/>
            <p:cNvSpPr/>
            <p:nvPr/>
          </p:nvSpPr>
          <p:spPr>
            <a:xfrm>
              <a:off x="0" y="0"/>
              <a:ext cx="3655013" cy="812800"/>
            </a:xfrm>
            <a:custGeom>
              <a:rect b="b" l="l" r="r" t="t"/>
              <a:pathLst>
                <a:path extrusionOk="0" h="812800" w="3655013">
                  <a:moveTo>
                    <a:pt x="24327" y="0"/>
                  </a:moveTo>
                  <a:lnTo>
                    <a:pt x="3630686" y="0"/>
                  </a:lnTo>
                  <a:cubicBezTo>
                    <a:pt x="3644121" y="0"/>
                    <a:pt x="3655013" y="10891"/>
                    <a:pt x="3655013" y="24327"/>
                  </a:cubicBezTo>
                  <a:lnTo>
                    <a:pt x="3655013" y="788473"/>
                  </a:lnTo>
                  <a:cubicBezTo>
                    <a:pt x="3655013" y="801909"/>
                    <a:pt x="3644121" y="812800"/>
                    <a:pt x="3630686" y="812800"/>
                  </a:cubicBezTo>
                  <a:lnTo>
                    <a:pt x="24327" y="812800"/>
                  </a:lnTo>
                  <a:cubicBezTo>
                    <a:pt x="10891" y="812800"/>
                    <a:pt x="0" y="801909"/>
                    <a:pt x="0" y="788473"/>
                  </a:cubicBezTo>
                  <a:lnTo>
                    <a:pt x="0" y="24327"/>
                  </a:lnTo>
                  <a:cubicBezTo>
                    <a:pt x="0" y="10891"/>
                    <a:pt x="10891" y="0"/>
                    <a:pt x="24327" y="0"/>
                  </a:cubicBezTo>
                  <a:close/>
                </a:path>
              </a:pathLst>
            </a:custGeom>
            <a:solidFill>
              <a:srgbClr val="313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
            <p:cNvSpPr txBox="1"/>
            <p:nvPr/>
          </p:nvSpPr>
          <p:spPr>
            <a:xfrm>
              <a:off x="0" y="-38100"/>
              <a:ext cx="3655013"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2" name="Google Shape;152;p3"/>
          <p:cNvSpPr txBox="1"/>
          <p:nvPr/>
        </p:nvSpPr>
        <p:spPr>
          <a:xfrm>
            <a:off x="1652563" y="3611894"/>
            <a:ext cx="14982874" cy="333057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9500" u="none" cap="none" strike="noStrike">
                <a:solidFill>
                  <a:srgbClr val="FFFFFF"/>
                </a:solidFill>
                <a:latin typeface="Play"/>
                <a:ea typeface="Play"/>
                <a:cs typeface="Play"/>
                <a:sym typeface="Play"/>
              </a:rPr>
              <a:t>INTRODUCCIÓN A RAID: </a:t>
            </a:r>
            <a:endParaRPr/>
          </a:p>
          <a:p>
            <a:pPr indent="0" lvl="0" marL="0" marR="0" rtl="0" algn="ctr">
              <a:lnSpc>
                <a:spcPct val="140000"/>
              </a:lnSpc>
              <a:spcBef>
                <a:spcPts val="0"/>
              </a:spcBef>
              <a:spcAft>
                <a:spcPts val="0"/>
              </a:spcAft>
              <a:buNone/>
            </a:pPr>
            <a:r>
              <a:rPr b="0" i="0" lang="en-US" sz="9500" u="none" cap="none" strike="noStrike">
                <a:solidFill>
                  <a:srgbClr val="FFFFFF"/>
                </a:solidFill>
                <a:latin typeface="Play"/>
                <a:ea typeface="Play"/>
                <a:cs typeface="Play"/>
                <a:sym typeface="Play"/>
              </a:rPr>
              <a:t>CONCEPTOS Y TIPOS</a:t>
            </a:r>
            <a:endParaRPr/>
          </a:p>
        </p:txBody>
      </p:sp>
      <p:sp>
        <p:nvSpPr>
          <p:cNvPr id="153" name="Google Shape;153;p3"/>
          <p:cNvSpPr txBox="1"/>
          <p:nvPr/>
        </p:nvSpPr>
        <p:spPr>
          <a:xfrm>
            <a:off x="5983850" y="7677997"/>
            <a:ext cx="6320299" cy="738346"/>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4306" u="none" cap="none" strike="noStrike">
                <a:solidFill>
                  <a:srgbClr val="31356E"/>
                </a:solidFill>
                <a:latin typeface="Lexend Deca"/>
                <a:ea typeface="Lexend Deca"/>
                <a:cs typeface="Lexend Deca"/>
                <a:sym typeface="Lexend Deca"/>
              </a:rPr>
              <a:t>CLASE 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157" name="Shape 157"/>
        <p:cNvGrpSpPr/>
        <p:nvPr/>
      </p:nvGrpSpPr>
      <p:grpSpPr>
        <a:xfrm>
          <a:off x="0" y="0"/>
          <a:ext cx="0" cy="0"/>
          <a:chOff x="0" y="0"/>
          <a:chExt cx="0" cy="0"/>
        </a:xfrm>
      </p:grpSpPr>
      <p:pic>
        <p:nvPicPr>
          <p:cNvPr id="158" name="Google Shape;158;p4"/>
          <p:cNvPicPr preferRelativeResize="0"/>
          <p:nvPr/>
        </p:nvPicPr>
        <p:blipFill rotWithShape="1">
          <a:blip r:embed="rId3">
            <a:alphaModFix amt="60000"/>
          </a:blip>
          <a:srcRect b="0" l="0" r="0" t="0"/>
          <a:stretch/>
        </p:blipFill>
        <p:spPr>
          <a:xfrm>
            <a:off x="-2285506" y="-4771437"/>
            <a:ext cx="22859012" cy="17585432"/>
          </a:xfrm>
          <a:prstGeom prst="rect">
            <a:avLst/>
          </a:prstGeom>
          <a:noFill/>
          <a:ln>
            <a:noFill/>
          </a:ln>
        </p:spPr>
      </p:pic>
      <p:grpSp>
        <p:nvGrpSpPr>
          <p:cNvPr id="159" name="Google Shape;159;p4"/>
          <p:cNvGrpSpPr/>
          <p:nvPr/>
        </p:nvGrpSpPr>
        <p:grpSpPr>
          <a:xfrm>
            <a:off x="1028700" y="3403329"/>
            <a:ext cx="16230600" cy="3778541"/>
            <a:chOff x="0" y="-38100"/>
            <a:chExt cx="3655013" cy="850900"/>
          </a:xfrm>
        </p:grpSpPr>
        <p:sp>
          <p:nvSpPr>
            <p:cNvPr id="160" name="Google Shape;160;p4"/>
            <p:cNvSpPr/>
            <p:nvPr/>
          </p:nvSpPr>
          <p:spPr>
            <a:xfrm>
              <a:off x="0" y="0"/>
              <a:ext cx="3655013" cy="812800"/>
            </a:xfrm>
            <a:custGeom>
              <a:rect b="b" l="l" r="r" t="t"/>
              <a:pathLst>
                <a:path extrusionOk="0" h="812800" w="3655013">
                  <a:moveTo>
                    <a:pt x="24327" y="0"/>
                  </a:moveTo>
                  <a:lnTo>
                    <a:pt x="3630686" y="0"/>
                  </a:lnTo>
                  <a:cubicBezTo>
                    <a:pt x="3644121" y="0"/>
                    <a:pt x="3655013" y="10891"/>
                    <a:pt x="3655013" y="24327"/>
                  </a:cubicBezTo>
                  <a:lnTo>
                    <a:pt x="3655013" y="788473"/>
                  </a:lnTo>
                  <a:cubicBezTo>
                    <a:pt x="3655013" y="801909"/>
                    <a:pt x="3644121" y="812800"/>
                    <a:pt x="3630686" y="812800"/>
                  </a:cubicBezTo>
                  <a:lnTo>
                    <a:pt x="24327" y="812800"/>
                  </a:lnTo>
                  <a:cubicBezTo>
                    <a:pt x="10891" y="812800"/>
                    <a:pt x="0" y="801909"/>
                    <a:pt x="0" y="788473"/>
                  </a:cubicBezTo>
                  <a:lnTo>
                    <a:pt x="0" y="24327"/>
                  </a:lnTo>
                  <a:cubicBezTo>
                    <a:pt x="0" y="10891"/>
                    <a:pt x="10891" y="0"/>
                    <a:pt x="24327" y="0"/>
                  </a:cubicBezTo>
                  <a:close/>
                </a:path>
              </a:pathLst>
            </a:custGeom>
            <a:solidFill>
              <a:srgbClr val="313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
            <p:cNvSpPr txBox="1"/>
            <p:nvPr/>
          </p:nvSpPr>
          <p:spPr>
            <a:xfrm>
              <a:off x="0" y="-38100"/>
              <a:ext cx="3655013"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2" name="Google Shape;162;p4"/>
          <p:cNvSpPr txBox="1"/>
          <p:nvPr/>
        </p:nvSpPr>
        <p:spPr>
          <a:xfrm>
            <a:off x="1652538" y="3971854"/>
            <a:ext cx="14982900" cy="264150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0" i="0" lang="en-US" sz="3300" u="none" cap="none" strike="noStrike">
                <a:solidFill>
                  <a:srgbClr val="FFFFFF"/>
                </a:solidFill>
                <a:latin typeface="Play"/>
                <a:ea typeface="Play"/>
                <a:cs typeface="Play"/>
                <a:sym typeface="Play"/>
              </a:rPr>
              <a:t>COMPRENDER EL MODELO DE SEGURIDAD INTEGRAL PARA ALMACENAMIENTO DE DATOS MEDIANTE EL ANÁLISIS DE AMENAZAS, CONTROLES DE ACCESO Y TÉCNICAS DE RESPALDO PARA GARANTIZAR LA CONFIDENCIALIDAD, INTEGRIDAD Y DISPONIBILIDAD DE LA INFORMACIÓN</a:t>
            </a:r>
            <a:endParaRPr sz="3300"/>
          </a:p>
        </p:txBody>
      </p:sp>
      <p:sp>
        <p:nvSpPr>
          <p:cNvPr id="163" name="Google Shape;163;p4"/>
          <p:cNvSpPr txBox="1"/>
          <p:nvPr/>
        </p:nvSpPr>
        <p:spPr>
          <a:xfrm>
            <a:off x="4533669" y="7649422"/>
            <a:ext cx="9220662" cy="738346"/>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4306" u="none" cap="none" strike="noStrike">
                <a:solidFill>
                  <a:srgbClr val="31356E"/>
                </a:solidFill>
                <a:latin typeface="Lexend Deca"/>
                <a:ea typeface="Lexend Deca"/>
                <a:cs typeface="Lexend Deca"/>
                <a:sym typeface="Lexend Deca"/>
              </a:rPr>
              <a:t>COMPETENCIA DE LA SEMANA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167" name="Shape 167"/>
        <p:cNvGrpSpPr/>
        <p:nvPr/>
      </p:nvGrpSpPr>
      <p:grpSpPr>
        <a:xfrm>
          <a:off x="0" y="0"/>
          <a:ext cx="0" cy="0"/>
          <a:chOff x="0" y="0"/>
          <a:chExt cx="0" cy="0"/>
        </a:xfrm>
      </p:grpSpPr>
      <p:grpSp>
        <p:nvGrpSpPr>
          <p:cNvPr id="168" name="Google Shape;168;p5"/>
          <p:cNvGrpSpPr/>
          <p:nvPr/>
        </p:nvGrpSpPr>
        <p:grpSpPr>
          <a:xfrm>
            <a:off x="9144000" y="-1094923"/>
            <a:ext cx="9246124" cy="11381923"/>
            <a:chOff x="0" y="-38100"/>
            <a:chExt cx="2082160" cy="2563126"/>
          </a:xfrm>
        </p:grpSpPr>
        <p:sp>
          <p:nvSpPr>
            <p:cNvPr id="169" name="Google Shape;169;p5"/>
            <p:cNvSpPr/>
            <p:nvPr/>
          </p:nvSpPr>
          <p:spPr>
            <a:xfrm>
              <a:off x="0" y="0"/>
              <a:ext cx="2082160" cy="2525026"/>
            </a:xfrm>
            <a:custGeom>
              <a:rect b="b" l="l" r="r" t="t"/>
              <a:pathLst>
                <a:path extrusionOk="0" h="2525026" w="2082160">
                  <a:moveTo>
                    <a:pt x="0" y="0"/>
                  </a:moveTo>
                  <a:lnTo>
                    <a:pt x="2082160" y="0"/>
                  </a:lnTo>
                  <a:lnTo>
                    <a:pt x="2082160" y="2525026"/>
                  </a:lnTo>
                  <a:lnTo>
                    <a:pt x="0" y="2525026"/>
                  </a:lnTo>
                  <a:close/>
                </a:path>
              </a:pathLst>
            </a:custGeom>
            <a:solidFill>
              <a:srgbClr val="31356E"/>
            </a:solidFill>
            <a:ln>
              <a:noFill/>
            </a:ln>
          </p:spPr>
        </p:sp>
        <p:sp>
          <p:nvSpPr>
            <p:cNvPr id="170" name="Google Shape;170;p5"/>
            <p:cNvSpPr txBox="1"/>
            <p:nvPr/>
          </p:nvSpPr>
          <p:spPr>
            <a:xfrm>
              <a:off x="0" y="-38100"/>
              <a:ext cx="2082160"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1" name="Google Shape;171;p5"/>
          <p:cNvGrpSpPr/>
          <p:nvPr/>
        </p:nvGrpSpPr>
        <p:grpSpPr>
          <a:xfrm>
            <a:off x="10331284" y="5925827"/>
            <a:ext cx="6871518" cy="2945996"/>
            <a:chOff x="0" y="-38100"/>
            <a:chExt cx="1547430" cy="663423"/>
          </a:xfrm>
        </p:grpSpPr>
        <p:sp>
          <p:nvSpPr>
            <p:cNvPr id="172" name="Google Shape;172;p5"/>
            <p:cNvSpPr/>
            <p:nvPr/>
          </p:nvSpPr>
          <p:spPr>
            <a:xfrm>
              <a:off x="0" y="0"/>
              <a:ext cx="1547430" cy="625323"/>
            </a:xfrm>
            <a:custGeom>
              <a:rect b="b" l="l" r="r" t="t"/>
              <a:pathLst>
                <a:path extrusionOk="0" h="625323" w="1547430">
                  <a:moveTo>
                    <a:pt x="57460" y="0"/>
                  </a:moveTo>
                  <a:lnTo>
                    <a:pt x="1489971" y="0"/>
                  </a:lnTo>
                  <a:cubicBezTo>
                    <a:pt x="1505210" y="0"/>
                    <a:pt x="1519825" y="6054"/>
                    <a:pt x="1530601" y="16830"/>
                  </a:cubicBezTo>
                  <a:cubicBezTo>
                    <a:pt x="1541376" y="27605"/>
                    <a:pt x="1547430" y="42220"/>
                    <a:pt x="1547430" y="57460"/>
                  </a:cubicBezTo>
                  <a:lnTo>
                    <a:pt x="1547430" y="567863"/>
                  </a:lnTo>
                  <a:cubicBezTo>
                    <a:pt x="1547430" y="599597"/>
                    <a:pt x="1521705" y="625323"/>
                    <a:pt x="1489971" y="625323"/>
                  </a:cubicBezTo>
                  <a:lnTo>
                    <a:pt x="57460" y="625323"/>
                  </a:lnTo>
                  <a:cubicBezTo>
                    <a:pt x="42220" y="625323"/>
                    <a:pt x="27605" y="619269"/>
                    <a:pt x="16830" y="608493"/>
                  </a:cubicBezTo>
                  <a:cubicBezTo>
                    <a:pt x="6054" y="597717"/>
                    <a:pt x="0" y="583102"/>
                    <a:pt x="0" y="567863"/>
                  </a:cubicBezTo>
                  <a:lnTo>
                    <a:pt x="0" y="57460"/>
                  </a:lnTo>
                  <a:cubicBezTo>
                    <a:pt x="0" y="42220"/>
                    <a:pt x="6054" y="27605"/>
                    <a:pt x="16830" y="16830"/>
                  </a:cubicBezTo>
                  <a:cubicBezTo>
                    <a:pt x="27605" y="6054"/>
                    <a:pt x="42220" y="0"/>
                    <a:pt x="57460"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txBox="1"/>
            <p:nvPr/>
          </p:nvSpPr>
          <p:spPr>
            <a:xfrm>
              <a:off x="0" y="-38100"/>
              <a:ext cx="1547430" cy="66342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5"/>
          <p:cNvSpPr/>
          <p:nvPr/>
        </p:nvSpPr>
        <p:spPr>
          <a:xfrm>
            <a:off x="257175" y="2977230"/>
            <a:ext cx="8686795" cy="4332539"/>
          </a:xfrm>
          <a:custGeom>
            <a:rect b="b" l="l" r="r" t="t"/>
            <a:pathLst>
              <a:path extrusionOk="0" h="4332539" w="8686795">
                <a:moveTo>
                  <a:pt x="0" y="0"/>
                </a:moveTo>
                <a:lnTo>
                  <a:pt x="8686795" y="0"/>
                </a:lnTo>
                <a:lnTo>
                  <a:pt x="8686795" y="4332540"/>
                </a:lnTo>
                <a:lnTo>
                  <a:pt x="0" y="4332540"/>
                </a:lnTo>
                <a:lnTo>
                  <a:pt x="0" y="0"/>
                </a:lnTo>
                <a:close/>
              </a:path>
            </a:pathLst>
          </a:custGeom>
          <a:blipFill rotWithShape="1">
            <a:blip r:embed="rId3">
              <a:alphaModFix/>
            </a:blip>
            <a:stretch>
              <a:fillRect b="0" l="0" r="0" t="0"/>
            </a:stretch>
          </a:blipFill>
          <a:ln>
            <a:noFill/>
          </a:ln>
        </p:spPr>
      </p:sp>
      <p:sp>
        <p:nvSpPr>
          <p:cNvPr id="175" name="Google Shape;175;p5"/>
          <p:cNvSpPr txBox="1"/>
          <p:nvPr/>
        </p:nvSpPr>
        <p:spPr>
          <a:xfrm>
            <a:off x="10447402" y="1437091"/>
            <a:ext cx="6745799" cy="2005966"/>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8000" u="none" cap="none" strike="noStrike">
                <a:solidFill>
                  <a:srgbClr val="FFFFFF"/>
                </a:solidFill>
                <a:latin typeface="Play"/>
                <a:ea typeface="Play"/>
                <a:cs typeface="Play"/>
                <a:sym typeface="Play"/>
              </a:rPr>
              <a:t>INTRODUCCIÓN A RAID</a:t>
            </a:r>
            <a:endParaRPr/>
          </a:p>
        </p:txBody>
      </p:sp>
      <p:sp>
        <p:nvSpPr>
          <p:cNvPr id="176" name="Google Shape;176;p5"/>
          <p:cNvSpPr txBox="1"/>
          <p:nvPr/>
        </p:nvSpPr>
        <p:spPr>
          <a:xfrm>
            <a:off x="10671362" y="3854974"/>
            <a:ext cx="6297879" cy="17589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FFFFFF"/>
                </a:solidFill>
                <a:latin typeface="Lexend Deca"/>
                <a:ea typeface="Lexend Deca"/>
                <a:cs typeface="Lexend Deca"/>
                <a:sym typeface="Lexend Deca"/>
              </a:rPr>
              <a:t>RAID (Redundant array of independent disks) es una tecnología de almacenamiento que combina múltiples unidades de disco duro para mejorar el rendimiento, fiabilidad y la capacidad de los sistemas de almacenamiento.</a:t>
            </a:r>
            <a:endParaRPr/>
          </a:p>
        </p:txBody>
      </p:sp>
      <p:sp>
        <p:nvSpPr>
          <p:cNvPr id="177" name="Google Shape;177;p5"/>
          <p:cNvSpPr txBox="1"/>
          <p:nvPr/>
        </p:nvSpPr>
        <p:spPr>
          <a:xfrm>
            <a:off x="10671362" y="6265037"/>
            <a:ext cx="6191400" cy="22675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600" u="none" cap="none" strike="noStrike">
                <a:solidFill>
                  <a:srgbClr val="31356E"/>
                </a:solidFill>
                <a:latin typeface="Lexend Deca"/>
                <a:ea typeface="Lexend Deca"/>
                <a:cs typeface="Lexend Deca"/>
                <a:sym typeface="Lexend Deca"/>
              </a:rPr>
              <a:t>Al agrupar varios discos duros, RAID ofrece una variedad de beneficios, como una mayor velocidad de lectura/escritura, redundancia de datos y tolerancia a fallos.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181" name="Shape 181"/>
        <p:cNvGrpSpPr/>
        <p:nvPr/>
      </p:nvGrpSpPr>
      <p:grpSpPr>
        <a:xfrm>
          <a:off x="0" y="0"/>
          <a:ext cx="0" cy="0"/>
          <a:chOff x="0" y="0"/>
          <a:chExt cx="0" cy="0"/>
        </a:xfrm>
      </p:grpSpPr>
      <p:grpSp>
        <p:nvGrpSpPr>
          <p:cNvPr id="182" name="Google Shape;182;p6"/>
          <p:cNvGrpSpPr/>
          <p:nvPr/>
        </p:nvGrpSpPr>
        <p:grpSpPr>
          <a:xfrm>
            <a:off x="-361272" y="-789541"/>
            <a:ext cx="9246124" cy="11381923"/>
            <a:chOff x="0" y="-38100"/>
            <a:chExt cx="2082160" cy="2563126"/>
          </a:xfrm>
        </p:grpSpPr>
        <p:sp>
          <p:nvSpPr>
            <p:cNvPr id="183" name="Google Shape;183;p6"/>
            <p:cNvSpPr/>
            <p:nvPr/>
          </p:nvSpPr>
          <p:spPr>
            <a:xfrm>
              <a:off x="0" y="0"/>
              <a:ext cx="2082160" cy="2525026"/>
            </a:xfrm>
            <a:custGeom>
              <a:rect b="b" l="l" r="r" t="t"/>
              <a:pathLst>
                <a:path extrusionOk="0" h="2525026" w="2082160">
                  <a:moveTo>
                    <a:pt x="0" y="0"/>
                  </a:moveTo>
                  <a:lnTo>
                    <a:pt x="2082160" y="0"/>
                  </a:lnTo>
                  <a:lnTo>
                    <a:pt x="2082160" y="2525026"/>
                  </a:lnTo>
                  <a:lnTo>
                    <a:pt x="0" y="2525026"/>
                  </a:lnTo>
                  <a:close/>
                </a:path>
              </a:pathLst>
            </a:custGeom>
            <a:solidFill>
              <a:srgbClr val="31356E"/>
            </a:solidFill>
            <a:ln>
              <a:noFill/>
            </a:ln>
          </p:spPr>
        </p:sp>
        <p:sp>
          <p:nvSpPr>
            <p:cNvPr id="184" name="Google Shape;184;p6"/>
            <p:cNvSpPr txBox="1"/>
            <p:nvPr/>
          </p:nvSpPr>
          <p:spPr>
            <a:xfrm>
              <a:off x="0" y="-38100"/>
              <a:ext cx="2082160"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5" name="Google Shape;185;p6"/>
          <p:cNvGrpSpPr/>
          <p:nvPr/>
        </p:nvGrpSpPr>
        <p:grpSpPr>
          <a:xfrm>
            <a:off x="616744" y="3502700"/>
            <a:ext cx="7714545" cy="6092167"/>
            <a:chOff x="0" y="-38100"/>
            <a:chExt cx="1737259" cy="1371912"/>
          </a:xfrm>
        </p:grpSpPr>
        <p:sp>
          <p:nvSpPr>
            <p:cNvPr id="186" name="Google Shape;186;p6"/>
            <p:cNvSpPr/>
            <p:nvPr/>
          </p:nvSpPr>
          <p:spPr>
            <a:xfrm>
              <a:off x="0" y="0"/>
              <a:ext cx="1737259" cy="1333812"/>
            </a:xfrm>
            <a:custGeom>
              <a:rect b="b" l="l" r="r" t="t"/>
              <a:pathLst>
                <a:path extrusionOk="0" h="1333812" w="1737259">
                  <a:moveTo>
                    <a:pt x="51181" y="0"/>
                  </a:moveTo>
                  <a:lnTo>
                    <a:pt x="1686078" y="0"/>
                  </a:lnTo>
                  <a:cubicBezTo>
                    <a:pt x="1699652" y="0"/>
                    <a:pt x="1712670" y="5392"/>
                    <a:pt x="1722269" y="14991"/>
                  </a:cubicBezTo>
                  <a:cubicBezTo>
                    <a:pt x="1731867" y="24589"/>
                    <a:pt x="1737259" y="37607"/>
                    <a:pt x="1737259" y="51181"/>
                  </a:cubicBezTo>
                  <a:lnTo>
                    <a:pt x="1737259" y="1282631"/>
                  </a:lnTo>
                  <a:cubicBezTo>
                    <a:pt x="1737259" y="1296205"/>
                    <a:pt x="1731867" y="1309223"/>
                    <a:pt x="1722269" y="1318821"/>
                  </a:cubicBezTo>
                  <a:cubicBezTo>
                    <a:pt x="1712670" y="1328419"/>
                    <a:pt x="1699652" y="1333812"/>
                    <a:pt x="1686078" y="1333812"/>
                  </a:cubicBezTo>
                  <a:lnTo>
                    <a:pt x="51181" y="1333812"/>
                  </a:lnTo>
                  <a:cubicBezTo>
                    <a:pt x="37607" y="1333812"/>
                    <a:pt x="24589" y="1328419"/>
                    <a:pt x="14991" y="1318821"/>
                  </a:cubicBezTo>
                  <a:cubicBezTo>
                    <a:pt x="5392" y="1309223"/>
                    <a:pt x="0" y="1296205"/>
                    <a:pt x="0" y="1282631"/>
                  </a:cubicBezTo>
                  <a:lnTo>
                    <a:pt x="0" y="51181"/>
                  </a:lnTo>
                  <a:cubicBezTo>
                    <a:pt x="0" y="37607"/>
                    <a:pt x="5392" y="24589"/>
                    <a:pt x="14991" y="14991"/>
                  </a:cubicBezTo>
                  <a:cubicBezTo>
                    <a:pt x="24589" y="5392"/>
                    <a:pt x="37607" y="0"/>
                    <a:pt x="51181"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txBox="1"/>
            <p:nvPr/>
          </p:nvSpPr>
          <p:spPr>
            <a:xfrm>
              <a:off x="0" y="-38100"/>
              <a:ext cx="1737259" cy="13719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8" name="Google Shape;188;p6"/>
          <p:cNvSpPr/>
          <p:nvPr/>
        </p:nvSpPr>
        <p:spPr>
          <a:xfrm>
            <a:off x="11255987" y="2151068"/>
            <a:ext cx="5500688" cy="5500688"/>
          </a:xfrm>
          <a:custGeom>
            <a:rect b="b" l="l" r="r" t="t"/>
            <a:pathLst>
              <a:path extrusionOk="0" h="5500688" w="5500688">
                <a:moveTo>
                  <a:pt x="0" y="0"/>
                </a:moveTo>
                <a:lnTo>
                  <a:pt x="5500688" y="0"/>
                </a:lnTo>
                <a:lnTo>
                  <a:pt x="5500688" y="5500688"/>
                </a:lnTo>
                <a:lnTo>
                  <a:pt x="0" y="5500688"/>
                </a:lnTo>
                <a:lnTo>
                  <a:pt x="0" y="0"/>
                </a:lnTo>
                <a:close/>
              </a:path>
            </a:pathLst>
          </a:custGeom>
          <a:blipFill rotWithShape="1">
            <a:blip r:embed="rId3">
              <a:alphaModFix/>
            </a:blip>
            <a:stretch>
              <a:fillRect b="0" l="0" r="0" t="0"/>
            </a:stretch>
          </a:blipFill>
          <a:ln>
            <a:noFill/>
          </a:ln>
        </p:spPr>
      </p:sp>
      <p:sp>
        <p:nvSpPr>
          <p:cNvPr id="189" name="Google Shape;189;p6"/>
          <p:cNvSpPr txBox="1"/>
          <p:nvPr/>
        </p:nvSpPr>
        <p:spPr>
          <a:xfrm>
            <a:off x="1028700" y="1209675"/>
            <a:ext cx="6807600" cy="1920900"/>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6500" u="none" cap="none" strike="noStrike">
                <a:solidFill>
                  <a:srgbClr val="FFFFFF"/>
                </a:solidFill>
                <a:latin typeface="Play"/>
                <a:ea typeface="Play"/>
                <a:cs typeface="Play"/>
                <a:sym typeface="Play"/>
              </a:rPr>
              <a:t>CONCEPTOS BÁSICOS DE RAID</a:t>
            </a:r>
            <a:endParaRPr sz="6500"/>
          </a:p>
        </p:txBody>
      </p:sp>
      <p:sp>
        <p:nvSpPr>
          <p:cNvPr id="190" name="Google Shape;190;p6"/>
          <p:cNvSpPr txBox="1"/>
          <p:nvPr/>
        </p:nvSpPr>
        <p:spPr>
          <a:xfrm>
            <a:off x="1028700" y="4162901"/>
            <a:ext cx="6807579" cy="3927475"/>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2499" u="none" cap="none" strike="noStrike">
                <a:solidFill>
                  <a:srgbClr val="31356E"/>
                </a:solidFill>
                <a:latin typeface="Lexend Deca"/>
                <a:ea typeface="Lexend Deca"/>
                <a:cs typeface="Lexend Deca"/>
                <a:sym typeface="Lexend Deca"/>
              </a:rPr>
              <a:t>Existen diferentes niveles de RAID, cada uno con sus propias características y objetivos, como RAID 0, RAID 1, RAID 5, RAID 6, etc.</a:t>
            </a:r>
            <a:endParaRPr/>
          </a:p>
          <a:p>
            <a:pPr indent="0" lvl="0" marL="0" marR="0" rtl="0" algn="just">
              <a:lnSpc>
                <a:spcPct val="140016"/>
              </a:lnSpc>
              <a:spcBef>
                <a:spcPts val="0"/>
              </a:spcBef>
              <a:spcAft>
                <a:spcPts val="0"/>
              </a:spcAft>
              <a:buNone/>
            </a:pPr>
            <a:r>
              <a:t/>
            </a:r>
            <a:endParaRPr b="0" i="0" sz="2499" u="none" cap="none" strike="noStrike">
              <a:solidFill>
                <a:srgbClr val="31356E"/>
              </a:solidFill>
              <a:latin typeface="Lexend Deca"/>
              <a:ea typeface="Lexend Deca"/>
              <a:cs typeface="Lexend Deca"/>
              <a:sym typeface="Lexend Deca"/>
            </a:endParaRPr>
          </a:p>
          <a:p>
            <a:pPr indent="0" lvl="0" marL="0" marR="0" rtl="0" algn="just">
              <a:lnSpc>
                <a:spcPct val="140016"/>
              </a:lnSpc>
              <a:spcBef>
                <a:spcPts val="0"/>
              </a:spcBef>
              <a:spcAft>
                <a:spcPts val="0"/>
              </a:spcAft>
              <a:buNone/>
            </a:pPr>
            <a:r>
              <a:rPr b="0" i="0" lang="en-US" sz="2499" u="none" cap="none" strike="noStrike">
                <a:solidFill>
                  <a:srgbClr val="31356E"/>
                </a:solidFill>
                <a:latin typeface="Lexend Deca"/>
                <a:ea typeface="Lexend Deca"/>
                <a:cs typeface="Lexend Deca"/>
                <a:sym typeface="Lexend Deca"/>
              </a:rPr>
              <a:t>Conceptos fundamentales como striping (división de datos en bloques) y mirroring (duplicación de datos) son esenciales en la implementación de RAID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194" name="Shape 194"/>
        <p:cNvGrpSpPr/>
        <p:nvPr/>
      </p:nvGrpSpPr>
      <p:grpSpPr>
        <a:xfrm>
          <a:off x="0" y="0"/>
          <a:ext cx="0" cy="0"/>
          <a:chOff x="0" y="0"/>
          <a:chExt cx="0" cy="0"/>
        </a:xfrm>
      </p:grpSpPr>
      <p:grpSp>
        <p:nvGrpSpPr>
          <p:cNvPr id="195" name="Google Shape;195;p7"/>
          <p:cNvGrpSpPr/>
          <p:nvPr/>
        </p:nvGrpSpPr>
        <p:grpSpPr>
          <a:xfrm>
            <a:off x="-361272" y="-789541"/>
            <a:ext cx="19344569" cy="4437252"/>
            <a:chOff x="0" y="-38100"/>
            <a:chExt cx="4356256" cy="999237"/>
          </a:xfrm>
        </p:grpSpPr>
        <p:sp>
          <p:nvSpPr>
            <p:cNvPr id="196" name="Google Shape;196;p7"/>
            <p:cNvSpPr/>
            <p:nvPr/>
          </p:nvSpPr>
          <p:spPr>
            <a:xfrm>
              <a:off x="0" y="0"/>
              <a:ext cx="4356255" cy="961137"/>
            </a:xfrm>
            <a:custGeom>
              <a:rect b="b" l="l" r="r" t="t"/>
              <a:pathLst>
                <a:path extrusionOk="0" h="961137" w="4356255">
                  <a:moveTo>
                    <a:pt x="0" y="0"/>
                  </a:moveTo>
                  <a:lnTo>
                    <a:pt x="4356255" y="0"/>
                  </a:lnTo>
                  <a:lnTo>
                    <a:pt x="4356255" y="961137"/>
                  </a:lnTo>
                  <a:lnTo>
                    <a:pt x="0" y="961137"/>
                  </a:lnTo>
                  <a:close/>
                </a:path>
              </a:pathLst>
            </a:custGeom>
            <a:solidFill>
              <a:srgbClr val="31356E"/>
            </a:solidFill>
            <a:ln>
              <a:noFill/>
            </a:ln>
          </p:spPr>
        </p:sp>
        <p:sp>
          <p:nvSpPr>
            <p:cNvPr id="197" name="Google Shape;197;p7"/>
            <p:cNvSpPr txBox="1"/>
            <p:nvPr/>
          </p:nvSpPr>
          <p:spPr>
            <a:xfrm>
              <a:off x="0" y="-38100"/>
              <a:ext cx="4356256" cy="99923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8" name="Google Shape;198;p7"/>
          <p:cNvSpPr txBox="1"/>
          <p:nvPr/>
        </p:nvSpPr>
        <p:spPr>
          <a:xfrm>
            <a:off x="2409926" y="1181100"/>
            <a:ext cx="13333867" cy="990600"/>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7500" u="none" cap="none" strike="noStrike">
                <a:solidFill>
                  <a:srgbClr val="FFFFFF"/>
                </a:solidFill>
                <a:latin typeface="Play"/>
                <a:ea typeface="Play"/>
                <a:cs typeface="Play"/>
                <a:sym typeface="Play"/>
              </a:rPr>
              <a:t>RAID 0: RENDIMIENTO MEJORADO</a:t>
            </a:r>
            <a:endParaRPr/>
          </a:p>
        </p:txBody>
      </p:sp>
      <p:grpSp>
        <p:nvGrpSpPr>
          <p:cNvPr id="199" name="Google Shape;199;p7"/>
          <p:cNvGrpSpPr/>
          <p:nvPr/>
        </p:nvGrpSpPr>
        <p:grpSpPr>
          <a:xfrm>
            <a:off x="12233710" y="4232710"/>
            <a:ext cx="5025590" cy="5025590"/>
            <a:chOff x="0" y="0"/>
            <a:chExt cx="812800" cy="812800"/>
          </a:xfrm>
        </p:grpSpPr>
        <p:sp>
          <p:nvSpPr>
            <p:cNvPr id="200" name="Google Shape;200;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2" name="Google Shape;202;p7"/>
          <p:cNvGrpSpPr/>
          <p:nvPr/>
        </p:nvGrpSpPr>
        <p:grpSpPr>
          <a:xfrm>
            <a:off x="7139017" y="5617827"/>
            <a:ext cx="4233972" cy="4233972"/>
            <a:chOff x="0" y="0"/>
            <a:chExt cx="812800" cy="812800"/>
          </a:xfrm>
        </p:grpSpPr>
        <p:sp>
          <p:nvSpPr>
            <p:cNvPr id="203" name="Google Shape;203;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CE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5" name="Google Shape;205;p7"/>
          <p:cNvSpPr txBox="1"/>
          <p:nvPr/>
        </p:nvSpPr>
        <p:spPr>
          <a:xfrm>
            <a:off x="7484488" y="6407855"/>
            <a:ext cx="3653048" cy="2959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31356E"/>
                </a:solidFill>
                <a:latin typeface="Lexend Deca"/>
                <a:ea typeface="Lexend Deca"/>
                <a:cs typeface="Lexend Deca"/>
                <a:sym typeface="Lexend Deca"/>
              </a:rPr>
              <a:t>Sin Redundancia</a:t>
            </a:r>
            <a:endParaRPr/>
          </a:p>
        </p:txBody>
      </p:sp>
      <p:grpSp>
        <p:nvGrpSpPr>
          <p:cNvPr id="206" name="Google Shape;206;p7"/>
          <p:cNvGrpSpPr/>
          <p:nvPr/>
        </p:nvGrpSpPr>
        <p:grpSpPr>
          <a:xfrm>
            <a:off x="1028700" y="4043015"/>
            <a:ext cx="5025590" cy="5025590"/>
            <a:chOff x="0" y="0"/>
            <a:chExt cx="812800" cy="812800"/>
          </a:xfrm>
        </p:grpSpPr>
        <p:sp>
          <p:nvSpPr>
            <p:cNvPr id="207" name="Google Shape;207;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9" name="Google Shape;209;p7"/>
          <p:cNvSpPr txBox="1"/>
          <p:nvPr/>
        </p:nvSpPr>
        <p:spPr>
          <a:xfrm>
            <a:off x="1253333" y="4932997"/>
            <a:ext cx="4576323" cy="2959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FFFFFF"/>
                </a:solidFill>
                <a:latin typeface="Lexend Deca"/>
                <a:ea typeface="Lexend Deca"/>
                <a:cs typeface="Lexend Deca"/>
                <a:sym typeface="Lexend Deca"/>
              </a:rPr>
              <a:t>Segmentación de datos</a:t>
            </a:r>
            <a:endParaRPr/>
          </a:p>
        </p:txBody>
      </p:sp>
      <p:sp>
        <p:nvSpPr>
          <p:cNvPr id="210" name="Google Shape;210;p7"/>
          <p:cNvSpPr txBox="1"/>
          <p:nvPr/>
        </p:nvSpPr>
        <p:spPr>
          <a:xfrm>
            <a:off x="12457717" y="5321917"/>
            <a:ext cx="4577577" cy="2959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FFFFFF"/>
                </a:solidFill>
                <a:latin typeface="Lexend Deca"/>
                <a:ea typeface="Lexend Deca"/>
                <a:cs typeface="Lexend Deca"/>
                <a:sym typeface="Lexend Deca"/>
              </a:rPr>
              <a:t>Aplicaciones Recomendadas</a:t>
            </a:r>
            <a:endParaRPr/>
          </a:p>
        </p:txBody>
      </p:sp>
      <p:sp>
        <p:nvSpPr>
          <p:cNvPr id="211" name="Google Shape;211;p7"/>
          <p:cNvSpPr txBox="1"/>
          <p:nvPr/>
        </p:nvSpPr>
        <p:spPr>
          <a:xfrm>
            <a:off x="1490110" y="5627352"/>
            <a:ext cx="4102771" cy="2561393"/>
          </a:xfrm>
          <a:prstGeom prst="rect">
            <a:avLst/>
          </a:prstGeom>
          <a:noFill/>
          <a:ln>
            <a:noFill/>
          </a:ln>
        </p:spPr>
        <p:txBody>
          <a:bodyPr anchorCtr="0" anchor="t" bIns="0" lIns="0" spcFirstLastPara="1" rIns="0" wrap="square" tIns="0">
            <a:spAutoFit/>
          </a:bodyPr>
          <a:lstStyle/>
          <a:p>
            <a:pPr indent="0" lvl="0" marL="0" marR="0" rtl="0" algn="ctr">
              <a:lnSpc>
                <a:spcPct val="115950"/>
              </a:lnSpc>
              <a:spcBef>
                <a:spcPts val="0"/>
              </a:spcBef>
              <a:spcAft>
                <a:spcPts val="0"/>
              </a:spcAft>
              <a:buNone/>
            </a:pPr>
            <a:r>
              <a:rPr b="0" i="0" lang="en-US" sz="1793" u="none" cap="none" strike="noStrike">
                <a:solidFill>
                  <a:srgbClr val="FFFFFF"/>
                </a:solidFill>
                <a:latin typeface="Lexend Deca"/>
                <a:ea typeface="Lexend Deca"/>
                <a:cs typeface="Lexend Deca"/>
                <a:sym typeface="Lexend Deca"/>
              </a:rPr>
              <a:t>Divide los datos en bloques más pequeños y los distribuye uniformemente entre las unidades de disco. Esto permite una lectura y escritura simultánea en varios discos, lo que mejora significativamente el rendimiento en aplicaciones que requieren un alto ancho de banda, como edición de video o servidores de archivos.</a:t>
            </a:r>
            <a:endParaRPr/>
          </a:p>
        </p:txBody>
      </p:sp>
      <p:sp>
        <p:nvSpPr>
          <p:cNvPr id="212" name="Google Shape;212;p7"/>
          <p:cNvSpPr txBox="1"/>
          <p:nvPr/>
        </p:nvSpPr>
        <p:spPr>
          <a:xfrm>
            <a:off x="7429479" y="7107803"/>
            <a:ext cx="3653048" cy="20104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31356E"/>
                </a:solidFill>
                <a:latin typeface="Lexend Deca"/>
                <a:ea typeface="Lexend Deca"/>
                <a:cs typeface="Lexend Deca"/>
                <a:sym typeface="Lexend Deca"/>
              </a:rPr>
              <a:t>A diferencia de otros niveles de RAID, el RAID 0 no proporciona redundancia de datos. Si falla uno de los discos, se perderán todos los datos almacenados en el conjunto RAID 0.</a:t>
            </a:r>
            <a:endParaRPr/>
          </a:p>
        </p:txBody>
      </p:sp>
      <p:sp>
        <p:nvSpPr>
          <p:cNvPr id="213" name="Google Shape;213;p7"/>
          <p:cNvSpPr txBox="1"/>
          <p:nvPr/>
        </p:nvSpPr>
        <p:spPr>
          <a:xfrm>
            <a:off x="12632945" y="5925208"/>
            <a:ext cx="4227119" cy="2374715"/>
          </a:xfrm>
          <a:prstGeom prst="rect">
            <a:avLst/>
          </a:prstGeom>
          <a:noFill/>
          <a:ln>
            <a:noFill/>
          </a:ln>
        </p:spPr>
        <p:txBody>
          <a:bodyPr anchorCtr="0" anchor="t" bIns="0" lIns="0" spcFirstLastPara="1" rIns="0" wrap="square" tIns="0">
            <a:spAutoFit/>
          </a:bodyPr>
          <a:lstStyle/>
          <a:p>
            <a:pPr indent="0" lvl="0" marL="0" marR="0" rtl="0" algn="ctr">
              <a:lnSpc>
                <a:spcPct val="116097"/>
              </a:lnSpc>
              <a:spcBef>
                <a:spcPts val="0"/>
              </a:spcBef>
              <a:spcAft>
                <a:spcPts val="0"/>
              </a:spcAft>
              <a:buNone/>
            </a:pPr>
            <a:r>
              <a:rPr b="0" i="0" lang="en-US" sz="1846" u="none" cap="none" strike="noStrike">
                <a:solidFill>
                  <a:srgbClr val="FFFFFF"/>
                </a:solidFill>
                <a:latin typeface="Lexend Deca"/>
                <a:ea typeface="Lexend Deca"/>
                <a:cs typeface="Lexend Deca"/>
                <a:sym typeface="Lexend Deca"/>
              </a:rPr>
              <a:t>El RAID 0 es ideal para aplicaciones que requieren un rendimiento de lectura/escritura elevado, como servidores de bases de datos, edición de video y procesamiento de imágenes. Sin embargo es importante tener en cuenta el riesgo de pérdida de datos en caso de fallo de disco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217" name="Shape 217"/>
        <p:cNvGrpSpPr/>
        <p:nvPr/>
      </p:nvGrpSpPr>
      <p:grpSpPr>
        <a:xfrm>
          <a:off x="0" y="0"/>
          <a:ext cx="0" cy="0"/>
          <a:chOff x="0" y="0"/>
          <a:chExt cx="0" cy="0"/>
        </a:xfrm>
      </p:grpSpPr>
      <p:grpSp>
        <p:nvGrpSpPr>
          <p:cNvPr id="218" name="Google Shape;218;p8"/>
          <p:cNvGrpSpPr/>
          <p:nvPr/>
        </p:nvGrpSpPr>
        <p:grpSpPr>
          <a:xfrm>
            <a:off x="-361272" y="-789541"/>
            <a:ext cx="19344569" cy="4437252"/>
            <a:chOff x="0" y="-38100"/>
            <a:chExt cx="4356256" cy="999237"/>
          </a:xfrm>
        </p:grpSpPr>
        <p:sp>
          <p:nvSpPr>
            <p:cNvPr id="219" name="Google Shape;219;p8"/>
            <p:cNvSpPr/>
            <p:nvPr/>
          </p:nvSpPr>
          <p:spPr>
            <a:xfrm>
              <a:off x="0" y="0"/>
              <a:ext cx="4356255" cy="961137"/>
            </a:xfrm>
            <a:custGeom>
              <a:rect b="b" l="l" r="r" t="t"/>
              <a:pathLst>
                <a:path extrusionOk="0" h="961137" w="4356255">
                  <a:moveTo>
                    <a:pt x="0" y="0"/>
                  </a:moveTo>
                  <a:lnTo>
                    <a:pt x="4356255" y="0"/>
                  </a:lnTo>
                  <a:lnTo>
                    <a:pt x="4356255" y="961137"/>
                  </a:lnTo>
                  <a:lnTo>
                    <a:pt x="0" y="961137"/>
                  </a:lnTo>
                  <a:close/>
                </a:path>
              </a:pathLst>
            </a:custGeom>
            <a:solidFill>
              <a:srgbClr val="31356E"/>
            </a:solidFill>
            <a:ln>
              <a:noFill/>
            </a:ln>
          </p:spPr>
        </p:sp>
        <p:sp>
          <p:nvSpPr>
            <p:cNvPr id="220" name="Google Shape;220;p8"/>
            <p:cNvSpPr txBox="1"/>
            <p:nvPr/>
          </p:nvSpPr>
          <p:spPr>
            <a:xfrm>
              <a:off x="0" y="-38100"/>
              <a:ext cx="4356256" cy="99923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1" name="Google Shape;221;p8"/>
          <p:cNvSpPr txBox="1"/>
          <p:nvPr/>
        </p:nvSpPr>
        <p:spPr>
          <a:xfrm>
            <a:off x="2409926" y="1181100"/>
            <a:ext cx="13333867" cy="990600"/>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7500" u="none" cap="none" strike="noStrike">
                <a:solidFill>
                  <a:srgbClr val="FFFFFF"/>
                </a:solidFill>
                <a:latin typeface="Play"/>
                <a:ea typeface="Play"/>
                <a:cs typeface="Play"/>
                <a:sym typeface="Play"/>
              </a:rPr>
              <a:t>RAID 1: TOLERANCIA A FALLOS</a:t>
            </a:r>
            <a:endParaRPr/>
          </a:p>
        </p:txBody>
      </p:sp>
      <p:grpSp>
        <p:nvGrpSpPr>
          <p:cNvPr id="222" name="Google Shape;222;p8"/>
          <p:cNvGrpSpPr/>
          <p:nvPr/>
        </p:nvGrpSpPr>
        <p:grpSpPr>
          <a:xfrm>
            <a:off x="12233710" y="4232710"/>
            <a:ext cx="5025590" cy="5025590"/>
            <a:chOff x="0" y="0"/>
            <a:chExt cx="812800" cy="812800"/>
          </a:xfrm>
        </p:grpSpPr>
        <p:sp>
          <p:nvSpPr>
            <p:cNvPr id="223" name="Google Shape;223;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5" name="Google Shape;225;p8"/>
          <p:cNvGrpSpPr/>
          <p:nvPr/>
        </p:nvGrpSpPr>
        <p:grpSpPr>
          <a:xfrm>
            <a:off x="7139017" y="5617827"/>
            <a:ext cx="4233972" cy="4233972"/>
            <a:chOff x="0" y="0"/>
            <a:chExt cx="812800" cy="812800"/>
          </a:xfrm>
        </p:grpSpPr>
        <p:sp>
          <p:nvSpPr>
            <p:cNvPr id="226" name="Google Shape;226;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CE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8" name="Google Shape;228;p8"/>
          <p:cNvSpPr txBox="1"/>
          <p:nvPr/>
        </p:nvSpPr>
        <p:spPr>
          <a:xfrm>
            <a:off x="7715618" y="6264491"/>
            <a:ext cx="3080770" cy="481014"/>
          </a:xfrm>
          <a:prstGeom prst="rect">
            <a:avLst/>
          </a:prstGeom>
          <a:noFill/>
          <a:ln>
            <a:noFill/>
          </a:ln>
        </p:spPr>
        <p:txBody>
          <a:bodyPr anchorCtr="0" anchor="t" bIns="0" lIns="0" spcFirstLastPara="1" rIns="0" wrap="square" tIns="0">
            <a:spAutoFit/>
          </a:bodyPr>
          <a:lstStyle/>
          <a:p>
            <a:pPr indent="0" lvl="0" marL="0" marR="0" rtl="0" algn="ctr">
              <a:lnSpc>
                <a:spcPct val="116014"/>
              </a:lnSpc>
              <a:spcBef>
                <a:spcPts val="0"/>
              </a:spcBef>
              <a:spcAft>
                <a:spcPts val="0"/>
              </a:spcAft>
              <a:buNone/>
            </a:pPr>
            <a:r>
              <a:rPr b="0" i="0" lang="en-US" sz="1686" u="none" cap="none" strike="noStrike">
                <a:solidFill>
                  <a:srgbClr val="31356E"/>
                </a:solidFill>
                <a:latin typeface="Lexend Deca"/>
                <a:ea typeface="Lexend Deca"/>
                <a:cs typeface="Lexend Deca"/>
                <a:sym typeface="Lexend Deca"/>
              </a:rPr>
              <a:t>Lectura Mejorada, escritura reducida</a:t>
            </a:r>
            <a:endParaRPr/>
          </a:p>
        </p:txBody>
      </p:sp>
      <p:grpSp>
        <p:nvGrpSpPr>
          <p:cNvPr id="229" name="Google Shape;229;p8"/>
          <p:cNvGrpSpPr/>
          <p:nvPr/>
        </p:nvGrpSpPr>
        <p:grpSpPr>
          <a:xfrm>
            <a:off x="1028700" y="4043015"/>
            <a:ext cx="5025590" cy="5025590"/>
            <a:chOff x="0" y="0"/>
            <a:chExt cx="812800" cy="812800"/>
          </a:xfrm>
        </p:grpSpPr>
        <p:sp>
          <p:nvSpPr>
            <p:cNvPr id="230" name="Google Shape;230;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2" name="Google Shape;232;p8"/>
          <p:cNvSpPr txBox="1"/>
          <p:nvPr/>
        </p:nvSpPr>
        <p:spPr>
          <a:xfrm>
            <a:off x="1246895" y="5026007"/>
            <a:ext cx="4576323" cy="2959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FFFFFF"/>
                </a:solidFill>
                <a:latin typeface="Lexend Deca"/>
                <a:ea typeface="Lexend Deca"/>
                <a:cs typeface="Lexend Deca"/>
                <a:sym typeface="Lexend Deca"/>
              </a:rPr>
              <a:t>Duplicación de datos</a:t>
            </a:r>
            <a:endParaRPr/>
          </a:p>
        </p:txBody>
      </p:sp>
      <p:sp>
        <p:nvSpPr>
          <p:cNvPr id="233" name="Google Shape;233;p8"/>
          <p:cNvSpPr txBox="1"/>
          <p:nvPr/>
        </p:nvSpPr>
        <p:spPr>
          <a:xfrm>
            <a:off x="12457717" y="5321917"/>
            <a:ext cx="4577577" cy="2959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FFFFFF"/>
                </a:solidFill>
                <a:latin typeface="Lexend Deca"/>
                <a:ea typeface="Lexend Deca"/>
                <a:cs typeface="Lexend Deca"/>
                <a:sym typeface="Lexend Deca"/>
              </a:rPr>
              <a:t>Aplicaciones Recomendadas</a:t>
            </a:r>
            <a:endParaRPr/>
          </a:p>
        </p:txBody>
      </p:sp>
      <p:sp>
        <p:nvSpPr>
          <p:cNvPr id="234" name="Google Shape;234;p8"/>
          <p:cNvSpPr txBox="1"/>
          <p:nvPr/>
        </p:nvSpPr>
        <p:spPr>
          <a:xfrm>
            <a:off x="1483672" y="5740300"/>
            <a:ext cx="4102771" cy="20104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FFFFFF"/>
                </a:solidFill>
                <a:latin typeface="Lexend Deca"/>
                <a:ea typeface="Lexend Deca"/>
                <a:cs typeface="Lexend Deca"/>
                <a:sym typeface="Lexend Deca"/>
              </a:rPr>
              <a:t>En el RAID 1, los datos se escriben simultáneamente en dos o más unidades de disco. Esto crea una copia exacta (espejo) de los datos en cada disco, lo que proporciona redundancia y tolerancia a fallos</a:t>
            </a:r>
            <a:endParaRPr/>
          </a:p>
        </p:txBody>
      </p:sp>
      <p:sp>
        <p:nvSpPr>
          <p:cNvPr id="235" name="Google Shape;235;p8"/>
          <p:cNvSpPr txBox="1"/>
          <p:nvPr/>
        </p:nvSpPr>
        <p:spPr>
          <a:xfrm>
            <a:off x="7764225" y="6941116"/>
            <a:ext cx="2983557" cy="2556437"/>
          </a:xfrm>
          <a:prstGeom prst="rect">
            <a:avLst/>
          </a:prstGeom>
          <a:noFill/>
          <a:ln>
            <a:noFill/>
          </a:ln>
        </p:spPr>
        <p:txBody>
          <a:bodyPr anchorCtr="0" anchor="t" bIns="0" lIns="0" spcFirstLastPara="1" rIns="0" wrap="square" tIns="0">
            <a:spAutoFit/>
          </a:bodyPr>
          <a:lstStyle/>
          <a:p>
            <a:pPr indent="0" lvl="0" marL="0" marR="0" rtl="0" algn="ctr">
              <a:lnSpc>
                <a:spcPct val="115982"/>
              </a:lnSpc>
              <a:spcBef>
                <a:spcPts val="0"/>
              </a:spcBef>
              <a:spcAft>
                <a:spcPts val="0"/>
              </a:spcAft>
              <a:buNone/>
            </a:pPr>
            <a:r>
              <a:rPr b="0" i="0" lang="en-US" sz="1633" u="none" cap="none" strike="noStrike">
                <a:solidFill>
                  <a:srgbClr val="31356E"/>
                </a:solidFill>
                <a:latin typeface="Lexend Deca"/>
                <a:ea typeface="Lexend Deca"/>
                <a:cs typeface="Lexend Deca"/>
                <a:sym typeface="Lexend Deca"/>
              </a:rPr>
              <a:t>Aunque la capacidad total del conjunto RAID 1 es igual a la de un solo disco, el rendimiento de lectura se ve mejorado, ya que los datos pueden leerse de cualquiera de los discos. Sin embargo, la escritura se ve ligeramente reducida, ya que los datos deben escribirse en múltiples discos</a:t>
            </a:r>
            <a:endParaRPr/>
          </a:p>
        </p:txBody>
      </p:sp>
      <p:sp>
        <p:nvSpPr>
          <p:cNvPr id="236" name="Google Shape;236;p8"/>
          <p:cNvSpPr txBox="1"/>
          <p:nvPr/>
        </p:nvSpPr>
        <p:spPr>
          <a:xfrm>
            <a:off x="12632945" y="6110945"/>
            <a:ext cx="4227119" cy="1846969"/>
          </a:xfrm>
          <a:prstGeom prst="rect">
            <a:avLst/>
          </a:prstGeom>
          <a:noFill/>
          <a:ln>
            <a:noFill/>
          </a:ln>
        </p:spPr>
        <p:txBody>
          <a:bodyPr anchorCtr="0" anchor="t" bIns="0" lIns="0" spcFirstLastPara="1" rIns="0" wrap="square" tIns="0">
            <a:spAutoFit/>
          </a:bodyPr>
          <a:lstStyle/>
          <a:p>
            <a:pPr indent="0" lvl="0" marL="0" marR="0" rtl="0" algn="ctr">
              <a:lnSpc>
                <a:spcPct val="116097"/>
              </a:lnSpc>
              <a:spcBef>
                <a:spcPts val="0"/>
              </a:spcBef>
              <a:spcAft>
                <a:spcPts val="0"/>
              </a:spcAft>
              <a:buNone/>
            </a:pPr>
            <a:r>
              <a:rPr b="0" i="0" lang="en-US" sz="1846" u="none" cap="none" strike="noStrike">
                <a:solidFill>
                  <a:srgbClr val="FFFFFF"/>
                </a:solidFill>
                <a:latin typeface="Lexend Deca"/>
                <a:ea typeface="Lexend Deca"/>
                <a:cs typeface="Lexend Deca"/>
                <a:sym typeface="Lexend Deca"/>
              </a:rPr>
              <a:t>El RAID 1 es ideal para entornos que requieren una alta disponibilidad y tolerancia a fallos (redundancia de datos), como servidores web, bases de datos críticas y sistemas de almacenamiento de archivos importantes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240" name="Shape 240"/>
        <p:cNvGrpSpPr/>
        <p:nvPr/>
      </p:nvGrpSpPr>
      <p:grpSpPr>
        <a:xfrm>
          <a:off x="0" y="0"/>
          <a:ext cx="0" cy="0"/>
          <a:chOff x="0" y="0"/>
          <a:chExt cx="0" cy="0"/>
        </a:xfrm>
      </p:grpSpPr>
      <p:grpSp>
        <p:nvGrpSpPr>
          <p:cNvPr id="241" name="Google Shape;241;p9"/>
          <p:cNvGrpSpPr/>
          <p:nvPr/>
        </p:nvGrpSpPr>
        <p:grpSpPr>
          <a:xfrm>
            <a:off x="-361272" y="-789541"/>
            <a:ext cx="18649272" cy="11381923"/>
            <a:chOff x="0" y="-38100"/>
            <a:chExt cx="4199680" cy="2563126"/>
          </a:xfrm>
        </p:grpSpPr>
        <p:sp>
          <p:nvSpPr>
            <p:cNvPr id="242" name="Google Shape;242;p9"/>
            <p:cNvSpPr/>
            <p:nvPr/>
          </p:nvSpPr>
          <p:spPr>
            <a:xfrm>
              <a:off x="0" y="0"/>
              <a:ext cx="4199680" cy="2525026"/>
            </a:xfrm>
            <a:custGeom>
              <a:rect b="b" l="l" r="r" t="t"/>
              <a:pathLst>
                <a:path extrusionOk="0" h="2525026" w="4199680">
                  <a:moveTo>
                    <a:pt x="0" y="0"/>
                  </a:moveTo>
                  <a:lnTo>
                    <a:pt x="4199680" y="0"/>
                  </a:lnTo>
                  <a:lnTo>
                    <a:pt x="4199680" y="2525026"/>
                  </a:lnTo>
                  <a:lnTo>
                    <a:pt x="0" y="2525026"/>
                  </a:lnTo>
                  <a:close/>
                </a:path>
              </a:pathLst>
            </a:custGeom>
            <a:solidFill>
              <a:srgbClr val="31356E"/>
            </a:solidFill>
            <a:ln>
              <a:noFill/>
            </a:ln>
          </p:spPr>
        </p:sp>
        <p:sp>
          <p:nvSpPr>
            <p:cNvPr id="243" name="Google Shape;243;p9"/>
            <p:cNvSpPr txBox="1"/>
            <p:nvPr/>
          </p:nvSpPr>
          <p:spPr>
            <a:xfrm>
              <a:off x="0" y="-38100"/>
              <a:ext cx="4199680"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4" name="Google Shape;244;p9"/>
          <p:cNvGrpSpPr/>
          <p:nvPr/>
        </p:nvGrpSpPr>
        <p:grpSpPr>
          <a:xfrm>
            <a:off x="616744" y="3502700"/>
            <a:ext cx="7714545" cy="6092167"/>
            <a:chOff x="0" y="-38100"/>
            <a:chExt cx="1737259" cy="1371912"/>
          </a:xfrm>
        </p:grpSpPr>
        <p:sp>
          <p:nvSpPr>
            <p:cNvPr id="245" name="Google Shape;245;p9"/>
            <p:cNvSpPr/>
            <p:nvPr/>
          </p:nvSpPr>
          <p:spPr>
            <a:xfrm>
              <a:off x="0" y="0"/>
              <a:ext cx="1737259" cy="1333812"/>
            </a:xfrm>
            <a:custGeom>
              <a:rect b="b" l="l" r="r" t="t"/>
              <a:pathLst>
                <a:path extrusionOk="0" h="1333812" w="1737259">
                  <a:moveTo>
                    <a:pt x="51181" y="0"/>
                  </a:moveTo>
                  <a:lnTo>
                    <a:pt x="1686078" y="0"/>
                  </a:lnTo>
                  <a:cubicBezTo>
                    <a:pt x="1699652" y="0"/>
                    <a:pt x="1712670" y="5392"/>
                    <a:pt x="1722269" y="14991"/>
                  </a:cubicBezTo>
                  <a:cubicBezTo>
                    <a:pt x="1731867" y="24589"/>
                    <a:pt x="1737259" y="37607"/>
                    <a:pt x="1737259" y="51181"/>
                  </a:cubicBezTo>
                  <a:lnTo>
                    <a:pt x="1737259" y="1282631"/>
                  </a:lnTo>
                  <a:cubicBezTo>
                    <a:pt x="1737259" y="1296205"/>
                    <a:pt x="1731867" y="1309223"/>
                    <a:pt x="1722269" y="1318821"/>
                  </a:cubicBezTo>
                  <a:cubicBezTo>
                    <a:pt x="1712670" y="1328419"/>
                    <a:pt x="1699652" y="1333812"/>
                    <a:pt x="1686078" y="1333812"/>
                  </a:cubicBezTo>
                  <a:lnTo>
                    <a:pt x="51181" y="1333812"/>
                  </a:lnTo>
                  <a:cubicBezTo>
                    <a:pt x="37607" y="1333812"/>
                    <a:pt x="24589" y="1328419"/>
                    <a:pt x="14991" y="1318821"/>
                  </a:cubicBezTo>
                  <a:cubicBezTo>
                    <a:pt x="5392" y="1309223"/>
                    <a:pt x="0" y="1296205"/>
                    <a:pt x="0" y="1282631"/>
                  </a:cubicBezTo>
                  <a:lnTo>
                    <a:pt x="0" y="51181"/>
                  </a:lnTo>
                  <a:cubicBezTo>
                    <a:pt x="0" y="37607"/>
                    <a:pt x="5392" y="24589"/>
                    <a:pt x="14991" y="14991"/>
                  </a:cubicBezTo>
                  <a:cubicBezTo>
                    <a:pt x="24589" y="5392"/>
                    <a:pt x="37607" y="0"/>
                    <a:pt x="51181"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txBox="1"/>
            <p:nvPr/>
          </p:nvSpPr>
          <p:spPr>
            <a:xfrm>
              <a:off x="0" y="-38100"/>
              <a:ext cx="1737259" cy="13719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7" name="Google Shape;247;p9"/>
          <p:cNvSpPr txBox="1"/>
          <p:nvPr/>
        </p:nvSpPr>
        <p:spPr>
          <a:xfrm>
            <a:off x="1028700" y="1209675"/>
            <a:ext cx="16230600" cy="1920900"/>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6500" u="none" cap="none" strike="noStrike">
                <a:solidFill>
                  <a:srgbClr val="FFFFFF"/>
                </a:solidFill>
                <a:latin typeface="Play"/>
                <a:ea typeface="Play"/>
                <a:cs typeface="Play"/>
                <a:sym typeface="Play"/>
              </a:rPr>
              <a:t>RAID 5: EQUILIBRIO ENTRE RENDIMIENTO </a:t>
            </a:r>
            <a:endParaRPr sz="6500"/>
          </a:p>
          <a:p>
            <a:pPr indent="0" lvl="0" marL="0" marR="0" rtl="0" algn="ctr">
              <a:lnSpc>
                <a:spcPct val="96000"/>
              </a:lnSpc>
              <a:spcBef>
                <a:spcPts val="0"/>
              </a:spcBef>
              <a:spcAft>
                <a:spcPts val="0"/>
              </a:spcAft>
              <a:buNone/>
            </a:pPr>
            <a:r>
              <a:rPr b="0" i="0" lang="en-US" sz="6500" u="none" cap="none" strike="noStrike">
                <a:solidFill>
                  <a:srgbClr val="FFFFFF"/>
                </a:solidFill>
                <a:latin typeface="Play"/>
                <a:ea typeface="Play"/>
                <a:cs typeface="Play"/>
                <a:sym typeface="Play"/>
              </a:rPr>
              <a:t>Y TOLERANCIA A LOS FALLOS</a:t>
            </a:r>
            <a:endParaRPr sz="6500"/>
          </a:p>
        </p:txBody>
      </p:sp>
      <p:sp>
        <p:nvSpPr>
          <p:cNvPr id="248" name="Google Shape;248;p9"/>
          <p:cNvSpPr txBox="1"/>
          <p:nvPr/>
        </p:nvSpPr>
        <p:spPr>
          <a:xfrm>
            <a:off x="1028700" y="4162901"/>
            <a:ext cx="6807579" cy="4578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000" u="none" cap="none" strike="noStrike">
                <a:solidFill>
                  <a:srgbClr val="000000"/>
                </a:solidFill>
                <a:latin typeface="Lexend Deca"/>
                <a:ea typeface="Lexend Deca"/>
                <a:cs typeface="Lexend Deca"/>
                <a:sym typeface="Lexend Deca"/>
              </a:rPr>
              <a:t>Bloques de paridad distribuidos:</a:t>
            </a:r>
            <a:endParaRPr/>
          </a:p>
          <a:p>
            <a:pPr indent="0" lvl="0" marL="0" marR="0" rtl="0" algn="just">
              <a:lnSpc>
                <a:spcPct val="140000"/>
              </a:lnSpc>
              <a:spcBef>
                <a:spcPts val="0"/>
              </a:spcBef>
              <a:spcAft>
                <a:spcPts val="0"/>
              </a:spcAft>
              <a:buNone/>
            </a:pPr>
            <a:r>
              <a:rPr b="0" i="0" lang="en-US" sz="2000" u="none" cap="none" strike="noStrike">
                <a:solidFill>
                  <a:srgbClr val="31356E"/>
                </a:solidFill>
                <a:latin typeface="Lexend Deca"/>
                <a:ea typeface="Lexend Deca"/>
                <a:cs typeface="Lexend Deca"/>
                <a:sym typeface="Lexend Deca"/>
              </a:rPr>
              <a:t>El RAID 5 distribuye los bloques de paridad entre todos los discos del conjunto. Esto permite una mayor tolerancia a fallos en comparación con el RAID 0, ya que puede sobrevivir a la falla de un disco sin perder datos.</a:t>
            </a:r>
            <a:endParaRPr/>
          </a:p>
          <a:p>
            <a:pPr indent="0" lvl="0" marL="0" marR="0" rtl="0" algn="just">
              <a:lnSpc>
                <a:spcPct val="140000"/>
              </a:lnSpc>
              <a:spcBef>
                <a:spcPts val="0"/>
              </a:spcBef>
              <a:spcAft>
                <a:spcPts val="0"/>
              </a:spcAft>
              <a:buNone/>
            </a:pPr>
            <a:r>
              <a:t/>
            </a:r>
            <a:endParaRPr b="0" i="0" sz="2000" u="none" cap="none" strike="noStrike">
              <a:solidFill>
                <a:srgbClr val="31356E"/>
              </a:solidFill>
              <a:latin typeface="Lexend Deca"/>
              <a:ea typeface="Lexend Deca"/>
              <a:cs typeface="Lexend Deca"/>
              <a:sym typeface="Lexend Deca"/>
            </a:endParaRPr>
          </a:p>
          <a:p>
            <a:pPr indent="0" lvl="0" marL="0" marR="0" rtl="0" algn="just">
              <a:lnSpc>
                <a:spcPct val="140000"/>
              </a:lnSpc>
              <a:spcBef>
                <a:spcPts val="0"/>
              </a:spcBef>
              <a:spcAft>
                <a:spcPts val="0"/>
              </a:spcAft>
              <a:buNone/>
            </a:pPr>
            <a:r>
              <a:rPr b="0" i="0" lang="en-US" sz="2000" u="none" cap="none" strike="noStrike">
                <a:solidFill>
                  <a:srgbClr val="000000"/>
                </a:solidFill>
                <a:latin typeface="Lexend Deca"/>
                <a:ea typeface="Lexend Deca"/>
                <a:cs typeface="Lexend Deca"/>
                <a:sym typeface="Lexend Deca"/>
              </a:rPr>
              <a:t>Rendimiento equilibrado:</a:t>
            </a:r>
            <a:endParaRPr/>
          </a:p>
          <a:p>
            <a:pPr indent="0" lvl="0" marL="0" marR="0" rtl="0" algn="just">
              <a:lnSpc>
                <a:spcPct val="140000"/>
              </a:lnSpc>
              <a:spcBef>
                <a:spcPts val="0"/>
              </a:spcBef>
              <a:spcAft>
                <a:spcPts val="0"/>
              </a:spcAft>
              <a:buNone/>
            </a:pPr>
            <a:r>
              <a:rPr b="0" i="0" lang="en-US" sz="2000" u="none" cap="none" strike="noStrike">
                <a:solidFill>
                  <a:srgbClr val="31356E"/>
                </a:solidFill>
                <a:latin typeface="Lexend Deca"/>
                <a:ea typeface="Lexend Deca"/>
                <a:cs typeface="Lexend Deca"/>
                <a:sym typeface="Lexend Deca"/>
              </a:rPr>
              <a:t>RAID 5 ofrece un buen equilibrio entre rendimiento y tolerancia a los fallos. La lecutra de datos es rápida, mientras que la escritura se veligeramente ralentizada debido al cálculo y la escritura de los bloques de paridad.</a:t>
            </a:r>
            <a:endParaRPr/>
          </a:p>
        </p:txBody>
      </p:sp>
      <p:grpSp>
        <p:nvGrpSpPr>
          <p:cNvPr id="249" name="Google Shape;249;p9"/>
          <p:cNvGrpSpPr/>
          <p:nvPr/>
        </p:nvGrpSpPr>
        <p:grpSpPr>
          <a:xfrm>
            <a:off x="9544755" y="3502700"/>
            <a:ext cx="7714545" cy="6092167"/>
            <a:chOff x="0" y="-38100"/>
            <a:chExt cx="1737259" cy="1371912"/>
          </a:xfrm>
        </p:grpSpPr>
        <p:sp>
          <p:nvSpPr>
            <p:cNvPr id="250" name="Google Shape;250;p9"/>
            <p:cNvSpPr/>
            <p:nvPr/>
          </p:nvSpPr>
          <p:spPr>
            <a:xfrm>
              <a:off x="0" y="0"/>
              <a:ext cx="1737259" cy="1333812"/>
            </a:xfrm>
            <a:custGeom>
              <a:rect b="b" l="l" r="r" t="t"/>
              <a:pathLst>
                <a:path extrusionOk="0" h="1333812" w="1737259">
                  <a:moveTo>
                    <a:pt x="51181" y="0"/>
                  </a:moveTo>
                  <a:lnTo>
                    <a:pt x="1686078" y="0"/>
                  </a:lnTo>
                  <a:cubicBezTo>
                    <a:pt x="1699652" y="0"/>
                    <a:pt x="1712670" y="5392"/>
                    <a:pt x="1722269" y="14991"/>
                  </a:cubicBezTo>
                  <a:cubicBezTo>
                    <a:pt x="1731867" y="24589"/>
                    <a:pt x="1737259" y="37607"/>
                    <a:pt x="1737259" y="51181"/>
                  </a:cubicBezTo>
                  <a:lnTo>
                    <a:pt x="1737259" y="1282631"/>
                  </a:lnTo>
                  <a:cubicBezTo>
                    <a:pt x="1737259" y="1296205"/>
                    <a:pt x="1731867" y="1309223"/>
                    <a:pt x="1722269" y="1318821"/>
                  </a:cubicBezTo>
                  <a:cubicBezTo>
                    <a:pt x="1712670" y="1328419"/>
                    <a:pt x="1699652" y="1333812"/>
                    <a:pt x="1686078" y="1333812"/>
                  </a:cubicBezTo>
                  <a:lnTo>
                    <a:pt x="51181" y="1333812"/>
                  </a:lnTo>
                  <a:cubicBezTo>
                    <a:pt x="37607" y="1333812"/>
                    <a:pt x="24589" y="1328419"/>
                    <a:pt x="14991" y="1318821"/>
                  </a:cubicBezTo>
                  <a:cubicBezTo>
                    <a:pt x="5392" y="1309223"/>
                    <a:pt x="0" y="1296205"/>
                    <a:pt x="0" y="1282631"/>
                  </a:cubicBezTo>
                  <a:lnTo>
                    <a:pt x="0" y="51181"/>
                  </a:lnTo>
                  <a:cubicBezTo>
                    <a:pt x="0" y="37607"/>
                    <a:pt x="5392" y="24589"/>
                    <a:pt x="14991" y="14991"/>
                  </a:cubicBezTo>
                  <a:cubicBezTo>
                    <a:pt x="24589" y="5392"/>
                    <a:pt x="37607" y="0"/>
                    <a:pt x="51181"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9"/>
            <p:cNvSpPr txBox="1"/>
            <p:nvPr/>
          </p:nvSpPr>
          <p:spPr>
            <a:xfrm>
              <a:off x="0" y="-38100"/>
              <a:ext cx="1737259" cy="13719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2" name="Google Shape;252;p9"/>
          <p:cNvSpPr txBox="1"/>
          <p:nvPr/>
        </p:nvSpPr>
        <p:spPr>
          <a:xfrm>
            <a:off x="9998238" y="4162901"/>
            <a:ext cx="6807579" cy="42259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000" u="none" cap="none" strike="noStrike">
                <a:solidFill>
                  <a:srgbClr val="000000"/>
                </a:solidFill>
                <a:latin typeface="Lexend Deca"/>
                <a:ea typeface="Lexend Deca"/>
                <a:cs typeface="Lexend Deca"/>
                <a:sym typeface="Lexend Deca"/>
              </a:rPr>
              <a:t>Aplicaciones recomendadas:</a:t>
            </a:r>
            <a:endParaRPr/>
          </a:p>
          <a:p>
            <a:pPr indent="0" lvl="0" marL="0" marR="0" rtl="0" algn="just">
              <a:lnSpc>
                <a:spcPct val="140000"/>
              </a:lnSpc>
              <a:spcBef>
                <a:spcPts val="0"/>
              </a:spcBef>
              <a:spcAft>
                <a:spcPts val="0"/>
              </a:spcAft>
              <a:buNone/>
            </a:pPr>
            <a:r>
              <a:rPr b="0" i="0" lang="en-US" sz="2000" u="none" cap="none" strike="noStrike">
                <a:solidFill>
                  <a:srgbClr val="31356E"/>
                </a:solidFill>
                <a:latin typeface="Lexend Deca"/>
                <a:ea typeface="Lexend Deca"/>
                <a:cs typeface="Lexend Deca"/>
                <a:sym typeface="Lexend Deca"/>
              </a:rPr>
              <a:t>El RAID 5 es adecuado para una amplia gama de aplicaciones, como servidores de archivos, bases de datos empresariales y sistemas de almacenamiento que requieren un buen balance entre rendimiento y redundancia.</a:t>
            </a:r>
            <a:endParaRPr/>
          </a:p>
          <a:p>
            <a:pPr indent="0" lvl="0" marL="0" marR="0" rtl="0" algn="just">
              <a:lnSpc>
                <a:spcPct val="140000"/>
              </a:lnSpc>
              <a:spcBef>
                <a:spcPts val="0"/>
              </a:spcBef>
              <a:spcAft>
                <a:spcPts val="0"/>
              </a:spcAft>
              <a:buNone/>
            </a:pPr>
            <a:r>
              <a:t/>
            </a:r>
            <a:endParaRPr b="0" i="0" sz="2000" u="none" cap="none" strike="noStrike">
              <a:solidFill>
                <a:srgbClr val="31356E"/>
              </a:solidFill>
              <a:latin typeface="Lexend Deca"/>
              <a:ea typeface="Lexend Deca"/>
              <a:cs typeface="Lexend Deca"/>
              <a:sym typeface="Lexend Deca"/>
            </a:endParaRPr>
          </a:p>
          <a:p>
            <a:pPr indent="0" lvl="0" marL="0" marR="0" rtl="0" algn="just">
              <a:lnSpc>
                <a:spcPct val="140000"/>
              </a:lnSpc>
              <a:spcBef>
                <a:spcPts val="0"/>
              </a:spcBef>
              <a:spcAft>
                <a:spcPts val="0"/>
              </a:spcAft>
              <a:buNone/>
            </a:pPr>
            <a:r>
              <a:rPr b="0" i="0" lang="en-US" sz="2000" u="none" cap="none" strike="noStrike">
                <a:solidFill>
                  <a:srgbClr val="000000"/>
                </a:solidFill>
                <a:latin typeface="Lexend Deca"/>
                <a:ea typeface="Lexend Deca"/>
                <a:cs typeface="Lexend Deca"/>
                <a:sym typeface="Lexend Deca"/>
              </a:rPr>
              <a:t>Capacidad útil:</a:t>
            </a:r>
            <a:endParaRPr/>
          </a:p>
          <a:p>
            <a:pPr indent="0" lvl="0" marL="0" marR="0" rtl="0" algn="just">
              <a:lnSpc>
                <a:spcPct val="140000"/>
              </a:lnSpc>
              <a:spcBef>
                <a:spcPts val="0"/>
              </a:spcBef>
              <a:spcAft>
                <a:spcPts val="0"/>
              </a:spcAft>
              <a:buNone/>
            </a:pPr>
            <a:r>
              <a:rPr b="0" i="0" lang="en-US" sz="2000" u="none" cap="none" strike="noStrike">
                <a:solidFill>
                  <a:srgbClr val="31356E"/>
                </a:solidFill>
                <a:latin typeface="Lexend Deca"/>
                <a:ea typeface="Lexend Deca"/>
                <a:cs typeface="Lexend Deca"/>
                <a:sym typeface="Lexend Deca"/>
              </a:rPr>
              <a:t>La capacidad útil de un conjunto RAID 5 es igual al tamaño de un disco menos uno, lo que significa que se pierde un disco de capacidad para garantizar la redundancia.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256" name="Shape 256"/>
        <p:cNvGrpSpPr/>
        <p:nvPr/>
      </p:nvGrpSpPr>
      <p:grpSpPr>
        <a:xfrm>
          <a:off x="0" y="0"/>
          <a:ext cx="0" cy="0"/>
          <a:chOff x="0" y="0"/>
          <a:chExt cx="0" cy="0"/>
        </a:xfrm>
      </p:grpSpPr>
      <p:grpSp>
        <p:nvGrpSpPr>
          <p:cNvPr id="257" name="Google Shape;257;p10"/>
          <p:cNvGrpSpPr/>
          <p:nvPr/>
        </p:nvGrpSpPr>
        <p:grpSpPr>
          <a:xfrm>
            <a:off x="-361272" y="-789541"/>
            <a:ext cx="19344569" cy="4437252"/>
            <a:chOff x="0" y="-38100"/>
            <a:chExt cx="4356256" cy="999237"/>
          </a:xfrm>
        </p:grpSpPr>
        <p:sp>
          <p:nvSpPr>
            <p:cNvPr id="258" name="Google Shape;258;p10"/>
            <p:cNvSpPr/>
            <p:nvPr/>
          </p:nvSpPr>
          <p:spPr>
            <a:xfrm>
              <a:off x="0" y="0"/>
              <a:ext cx="4356255" cy="961137"/>
            </a:xfrm>
            <a:custGeom>
              <a:rect b="b" l="l" r="r" t="t"/>
              <a:pathLst>
                <a:path extrusionOk="0" h="961137" w="4356255">
                  <a:moveTo>
                    <a:pt x="0" y="0"/>
                  </a:moveTo>
                  <a:lnTo>
                    <a:pt x="4356255" y="0"/>
                  </a:lnTo>
                  <a:lnTo>
                    <a:pt x="4356255" y="961137"/>
                  </a:lnTo>
                  <a:lnTo>
                    <a:pt x="0" y="961137"/>
                  </a:lnTo>
                  <a:close/>
                </a:path>
              </a:pathLst>
            </a:custGeom>
            <a:solidFill>
              <a:srgbClr val="31356E"/>
            </a:solidFill>
            <a:ln>
              <a:noFill/>
            </a:ln>
          </p:spPr>
        </p:sp>
        <p:sp>
          <p:nvSpPr>
            <p:cNvPr id="259" name="Google Shape;259;p10"/>
            <p:cNvSpPr txBox="1"/>
            <p:nvPr/>
          </p:nvSpPr>
          <p:spPr>
            <a:xfrm>
              <a:off x="0" y="-38100"/>
              <a:ext cx="4356256" cy="99923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0" name="Google Shape;260;p10"/>
          <p:cNvSpPr txBox="1"/>
          <p:nvPr/>
        </p:nvSpPr>
        <p:spPr>
          <a:xfrm>
            <a:off x="2409926" y="1181100"/>
            <a:ext cx="13333867" cy="990600"/>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7500" u="none" cap="none" strike="noStrike">
                <a:solidFill>
                  <a:srgbClr val="FFFFFF"/>
                </a:solidFill>
                <a:latin typeface="Play"/>
                <a:ea typeface="Play"/>
                <a:cs typeface="Play"/>
                <a:sym typeface="Play"/>
              </a:rPr>
              <a:t>RAID 6: MAYOR TOLERANCIA A FALLOS</a:t>
            </a:r>
            <a:endParaRPr/>
          </a:p>
        </p:txBody>
      </p:sp>
      <p:grpSp>
        <p:nvGrpSpPr>
          <p:cNvPr id="261" name="Google Shape;261;p10"/>
          <p:cNvGrpSpPr/>
          <p:nvPr/>
        </p:nvGrpSpPr>
        <p:grpSpPr>
          <a:xfrm>
            <a:off x="12233710" y="4232710"/>
            <a:ext cx="5025590" cy="5025590"/>
            <a:chOff x="0" y="0"/>
            <a:chExt cx="812800" cy="812800"/>
          </a:xfrm>
        </p:grpSpPr>
        <p:sp>
          <p:nvSpPr>
            <p:cNvPr id="262" name="Google Shape;262;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p10"/>
          <p:cNvGrpSpPr/>
          <p:nvPr/>
        </p:nvGrpSpPr>
        <p:grpSpPr>
          <a:xfrm>
            <a:off x="7139017" y="5617827"/>
            <a:ext cx="4233972" cy="4233972"/>
            <a:chOff x="0" y="0"/>
            <a:chExt cx="812800" cy="812800"/>
          </a:xfrm>
        </p:grpSpPr>
        <p:sp>
          <p:nvSpPr>
            <p:cNvPr id="265" name="Google Shape;265;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CE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7" name="Google Shape;267;p10"/>
          <p:cNvSpPr txBox="1"/>
          <p:nvPr/>
        </p:nvSpPr>
        <p:spPr>
          <a:xfrm>
            <a:off x="7715618" y="6264491"/>
            <a:ext cx="3080770" cy="240028"/>
          </a:xfrm>
          <a:prstGeom prst="rect">
            <a:avLst/>
          </a:prstGeom>
          <a:noFill/>
          <a:ln>
            <a:noFill/>
          </a:ln>
        </p:spPr>
        <p:txBody>
          <a:bodyPr anchorCtr="0" anchor="t" bIns="0" lIns="0" spcFirstLastPara="1" rIns="0" wrap="square" tIns="0">
            <a:spAutoFit/>
          </a:bodyPr>
          <a:lstStyle/>
          <a:p>
            <a:pPr indent="0" lvl="0" marL="0" marR="0" rtl="0" algn="ctr">
              <a:lnSpc>
                <a:spcPct val="116014"/>
              </a:lnSpc>
              <a:spcBef>
                <a:spcPts val="0"/>
              </a:spcBef>
              <a:spcAft>
                <a:spcPts val="0"/>
              </a:spcAft>
              <a:buNone/>
            </a:pPr>
            <a:r>
              <a:rPr b="0" i="0" lang="en-US" sz="1686" u="none" cap="none" strike="noStrike">
                <a:solidFill>
                  <a:srgbClr val="31356E"/>
                </a:solidFill>
                <a:latin typeface="Lexend Deca"/>
                <a:ea typeface="Lexend Deca"/>
                <a:cs typeface="Lexend Deca"/>
                <a:sym typeface="Lexend Deca"/>
              </a:rPr>
              <a:t>Rendimiento más lento</a:t>
            </a:r>
            <a:endParaRPr/>
          </a:p>
        </p:txBody>
      </p:sp>
      <p:grpSp>
        <p:nvGrpSpPr>
          <p:cNvPr id="268" name="Google Shape;268;p10"/>
          <p:cNvGrpSpPr/>
          <p:nvPr/>
        </p:nvGrpSpPr>
        <p:grpSpPr>
          <a:xfrm>
            <a:off x="1028700" y="4043015"/>
            <a:ext cx="5025590" cy="5025590"/>
            <a:chOff x="0" y="0"/>
            <a:chExt cx="812800" cy="812800"/>
          </a:xfrm>
        </p:grpSpPr>
        <p:sp>
          <p:nvSpPr>
            <p:cNvPr id="269" name="Google Shape;269;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1" name="Google Shape;271;p10"/>
          <p:cNvSpPr txBox="1"/>
          <p:nvPr/>
        </p:nvSpPr>
        <p:spPr>
          <a:xfrm>
            <a:off x="1246895" y="5026007"/>
            <a:ext cx="4576323" cy="2959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FFFFFF"/>
                </a:solidFill>
                <a:latin typeface="Lexend Deca"/>
                <a:ea typeface="Lexend Deca"/>
                <a:cs typeface="Lexend Deca"/>
                <a:sym typeface="Lexend Deca"/>
              </a:rPr>
              <a:t>Doble Paridad</a:t>
            </a:r>
            <a:endParaRPr/>
          </a:p>
        </p:txBody>
      </p:sp>
      <p:sp>
        <p:nvSpPr>
          <p:cNvPr id="272" name="Google Shape;272;p10"/>
          <p:cNvSpPr txBox="1"/>
          <p:nvPr/>
        </p:nvSpPr>
        <p:spPr>
          <a:xfrm>
            <a:off x="12457717" y="5321917"/>
            <a:ext cx="4577577" cy="2959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FFFFFF"/>
                </a:solidFill>
                <a:latin typeface="Lexend Deca"/>
                <a:ea typeface="Lexend Deca"/>
                <a:cs typeface="Lexend Deca"/>
                <a:sym typeface="Lexend Deca"/>
              </a:rPr>
              <a:t>Aplicaciones Recomendadas</a:t>
            </a:r>
            <a:endParaRPr/>
          </a:p>
        </p:txBody>
      </p:sp>
      <p:sp>
        <p:nvSpPr>
          <p:cNvPr id="273" name="Google Shape;273;p10"/>
          <p:cNvSpPr txBox="1"/>
          <p:nvPr/>
        </p:nvSpPr>
        <p:spPr>
          <a:xfrm>
            <a:off x="1483672" y="5631111"/>
            <a:ext cx="4102771" cy="25819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FFFFFF"/>
                </a:solidFill>
                <a:latin typeface="Lexend Deca"/>
                <a:ea typeface="Lexend Deca"/>
                <a:cs typeface="Lexend Deca"/>
                <a:sym typeface="Lexend Deca"/>
              </a:rPr>
              <a:t>A diferencia del RAID 5, el RAID 6 utiliza dos bloques de paridad distribuidos entre todos los discos del conjunto. Esto proporciona una mayor tolerancia a fallos, ya que el sistema puede sobrevivir a la falla de hasta dos discos sin perder datos.</a:t>
            </a:r>
            <a:endParaRPr/>
          </a:p>
        </p:txBody>
      </p:sp>
      <p:sp>
        <p:nvSpPr>
          <p:cNvPr id="274" name="Google Shape;274;p10"/>
          <p:cNvSpPr txBox="1"/>
          <p:nvPr/>
        </p:nvSpPr>
        <p:spPr>
          <a:xfrm>
            <a:off x="7603278" y="6808847"/>
            <a:ext cx="3305451" cy="2317184"/>
          </a:xfrm>
          <a:prstGeom prst="rect">
            <a:avLst/>
          </a:prstGeom>
          <a:noFill/>
          <a:ln>
            <a:noFill/>
          </a:ln>
        </p:spPr>
        <p:txBody>
          <a:bodyPr anchorCtr="0" anchor="t" bIns="0" lIns="0" spcFirstLastPara="1" rIns="0" wrap="square" tIns="0">
            <a:spAutoFit/>
          </a:bodyPr>
          <a:lstStyle/>
          <a:p>
            <a:pPr indent="0" lvl="0" marL="0" marR="0" rtl="0" algn="ctr">
              <a:lnSpc>
                <a:spcPct val="116030"/>
              </a:lnSpc>
              <a:spcBef>
                <a:spcPts val="0"/>
              </a:spcBef>
              <a:spcAft>
                <a:spcPts val="0"/>
              </a:spcAft>
              <a:buNone/>
            </a:pPr>
            <a:r>
              <a:rPr b="0" i="0" lang="en-US" sz="1809" u="none" cap="none" strike="noStrike">
                <a:solidFill>
                  <a:srgbClr val="31356E"/>
                </a:solidFill>
                <a:latin typeface="Lexend Deca"/>
                <a:ea typeface="Lexend Deca"/>
                <a:cs typeface="Lexend Deca"/>
                <a:sym typeface="Lexend Deca"/>
              </a:rPr>
              <a:t>Debido a la sobrearga adicional del cálculo y la escritura de los bloques de paridad, el rendimiento de escritura en RAID 6 es ligeramente más lento que en RAID 5. Sin embargo, el rendimiento de lectura sigue siendo bueno</a:t>
            </a:r>
            <a:endParaRPr/>
          </a:p>
        </p:txBody>
      </p:sp>
      <p:sp>
        <p:nvSpPr>
          <p:cNvPr id="275" name="Google Shape;275;p10"/>
          <p:cNvSpPr txBox="1"/>
          <p:nvPr/>
        </p:nvSpPr>
        <p:spPr>
          <a:xfrm>
            <a:off x="12632945" y="6110945"/>
            <a:ext cx="4227119" cy="2110842"/>
          </a:xfrm>
          <a:prstGeom prst="rect">
            <a:avLst/>
          </a:prstGeom>
          <a:noFill/>
          <a:ln>
            <a:noFill/>
          </a:ln>
        </p:spPr>
        <p:txBody>
          <a:bodyPr anchorCtr="0" anchor="t" bIns="0" lIns="0" spcFirstLastPara="1" rIns="0" wrap="square" tIns="0">
            <a:spAutoFit/>
          </a:bodyPr>
          <a:lstStyle/>
          <a:p>
            <a:pPr indent="0" lvl="0" marL="0" marR="0" rtl="0" algn="ctr">
              <a:lnSpc>
                <a:spcPct val="116097"/>
              </a:lnSpc>
              <a:spcBef>
                <a:spcPts val="0"/>
              </a:spcBef>
              <a:spcAft>
                <a:spcPts val="0"/>
              </a:spcAft>
              <a:buNone/>
            </a:pPr>
            <a:r>
              <a:rPr b="0" i="0" lang="en-US" sz="1846" u="none" cap="none" strike="noStrike">
                <a:solidFill>
                  <a:srgbClr val="FFFFFF"/>
                </a:solidFill>
                <a:latin typeface="Lexend Deca"/>
                <a:ea typeface="Lexend Deca"/>
                <a:cs typeface="Lexend Deca"/>
                <a:sym typeface="Lexend Deca"/>
              </a:rPr>
              <a:t>RAID 6 es ideal para entonces que requieren un alto nivel de tolerancia a fallos y redundancia, como almacenamiento de datos a largo plazo, copias de seguridad y sistemas críticos que no pueden permitirse perder datos, incluso en caso de fallo de dos discos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279" name="Shape 279"/>
        <p:cNvGrpSpPr/>
        <p:nvPr/>
      </p:nvGrpSpPr>
      <p:grpSpPr>
        <a:xfrm>
          <a:off x="0" y="0"/>
          <a:ext cx="0" cy="0"/>
          <a:chOff x="0" y="0"/>
          <a:chExt cx="0" cy="0"/>
        </a:xfrm>
      </p:grpSpPr>
      <p:grpSp>
        <p:nvGrpSpPr>
          <p:cNvPr id="280" name="Google Shape;280;p11"/>
          <p:cNvGrpSpPr/>
          <p:nvPr/>
        </p:nvGrpSpPr>
        <p:grpSpPr>
          <a:xfrm>
            <a:off x="-361272" y="-789541"/>
            <a:ext cx="18649272" cy="11381923"/>
            <a:chOff x="0" y="-38100"/>
            <a:chExt cx="4199680" cy="2563126"/>
          </a:xfrm>
        </p:grpSpPr>
        <p:sp>
          <p:nvSpPr>
            <p:cNvPr id="281" name="Google Shape;281;p11"/>
            <p:cNvSpPr/>
            <p:nvPr/>
          </p:nvSpPr>
          <p:spPr>
            <a:xfrm>
              <a:off x="0" y="0"/>
              <a:ext cx="4199680" cy="2525026"/>
            </a:xfrm>
            <a:custGeom>
              <a:rect b="b" l="l" r="r" t="t"/>
              <a:pathLst>
                <a:path extrusionOk="0" h="2525026" w="4199680">
                  <a:moveTo>
                    <a:pt x="0" y="0"/>
                  </a:moveTo>
                  <a:lnTo>
                    <a:pt x="4199680" y="0"/>
                  </a:lnTo>
                  <a:lnTo>
                    <a:pt x="4199680" y="2525026"/>
                  </a:lnTo>
                  <a:lnTo>
                    <a:pt x="0" y="2525026"/>
                  </a:lnTo>
                  <a:close/>
                </a:path>
              </a:pathLst>
            </a:custGeom>
            <a:solidFill>
              <a:srgbClr val="31356E"/>
            </a:solidFill>
            <a:ln>
              <a:noFill/>
            </a:ln>
          </p:spPr>
        </p:sp>
        <p:sp>
          <p:nvSpPr>
            <p:cNvPr id="282" name="Google Shape;282;p11"/>
            <p:cNvSpPr txBox="1"/>
            <p:nvPr/>
          </p:nvSpPr>
          <p:spPr>
            <a:xfrm>
              <a:off x="0" y="-38100"/>
              <a:ext cx="4199680"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3" name="Google Shape;283;p11"/>
          <p:cNvGrpSpPr/>
          <p:nvPr/>
        </p:nvGrpSpPr>
        <p:grpSpPr>
          <a:xfrm>
            <a:off x="616744" y="3502700"/>
            <a:ext cx="7714545" cy="6092167"/>
            <a:chOff x="0" y="-38100"/>
            <a:chExt cx="1737259" cy="1371912"/>
          </a:xfrm>
        </p:grpSpPr>
        <p:sp>
          <p:nvSpPr>
            <p:cNvPr id="284" name="Google Shape;284;p11"/>
            <p:cNvSpPr/>
            <p:nvPr/>
          </p:nvSpPr>
          <p:spPr>
            <a:xfrm>
              <a:off x="0" y="0"/>
              <a:ext cx="1737259" cy="1333812"/>
            </a:xfrm>
            <a:custGeom>
              <a:rect b="b" l="l" r="r" t="t"/>
              <a:pathLst>
                <a:path extrusionOk="0" h="1333812" w="1737259">
                  <a:moveTo>
                    <a:pt x="51181" y="0"/>
                  </a:moveTo>
                  <a:lnTo>
                    <a:pt x="1686078" y="0"/>
                  </a:lnTo>
                  <a:cubicBezTo>
                    <a:pt x="1699652" y="0"/>
                    <a:pt x="1712670" y="5392"/>
                    <a:pt x="1722269" y="14991"/>
                  </a:cubicBezTo>
                  <a:cubicBezTo>
                    <a:pt x="1731867" y="24589"/>
                    <a:pt x="1737259" y="37607"/>
                    <a:pt x="1737259" y="51181"/>
                  </a:cubicBezTo>
                  <a:lnTo>
                    <a:pt x="1737259" y="1282631"/>
                  </a:lnTo>
                  <a:cubicBezTo>
                    <a:pt x="1737259" y="1296205"/>
                    <a:pt x="1731867" y="1309223"/>
                    <a:pt x="1722269" y="1318821"/>
                  </a:cubicBezTo>
                  <a:cubicBezTo>
                    <a:pt x="1712670" y="1328419"/>
                    <a:pt x="1699652" y="1333812"/>
                    <a:pt x="1686078" y="1333812"/>
                  </a:cubicBezTo>
                  <a:lnTo>
                    <a:pt x="51181" y="1333812"/>
                  </a:lnTo>
                  <a:cubicBezTo>
                    <a:pt x="37607" y="1333812"/>
                    <a:pt x="24589" y="1328419"/>
                    <a:pt x="14991" y="1318821"/>
                  </a:cubicBezTo>
                  <a:cubicBezTo>
                    <a:pt x="5392" y="1309223"/>
                    <a:pt x="0" y="1296205"/>
                    <a:pt x="0" y="1282631"/>
                  </a:cubicBezTo>
                  <a:lnTo>
                    <a:pt x="0" y="51181"/>
                  </a:lnTo>
                  <a:cubicBezTo>
                    <a:pt x="0" y="37607"/>
                    <a:pt x="5392" y="24589"/>
                    <a:pt x="14991" y="14991"/>
                  </a:cubicBezTo>
                  <a:cubicBezTo>
                    <a:pt x="24589" y="5392"/>
                    <a:pt x="37607" y="0"/>
                    <a:pt x="51181"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1"/>
            <p:cNvSpPr txBox="1"/>
            <p:nvPr/>
          </p:nvSpPr>
          <p:spPr>
            <a:xfrm>
              <a:off x="0" y="-38100"/>
              <a:ext cx="1737259" cy="13719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6" name="Google Shape;286;p11"/>
          <p:cNvSpPr txBox="1"/>
          <p:nvPr/>
        </p:nvSpPr>
        <p:spPr>
          <a:xfrm>
            <a:off x="1028700" y="1209675"/>
            <a:ext cx="16230600" cy="1034400"/>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7000" u="none" cap="none" strike="noStrike">
                <a:solidFill>
                  <a:srgbClr val="FFFFFF"/>
                </a:solidFill>
                <a:latin typeface="Play"/>
                <a:ea typeface="Play"/>
                <a:cs typeface="Play"/>
                <a:sym typeface="Play"/>
              </a:rPr>
              <a:t>RAID 10: COMBINACIÓN DE RAID 0 Y 1</a:t>
            </a:r>
            <a:endParaRPr sz="7000"/>
          </a:p>
        </p:txBody>
      </p:sp>
      <p:sp>
        <p:nvSpPr>
          <p:cNvPr id="287" name="Google Shape;287;p11"/>
          <p:cNvSpPr txBox="1"/>
          <p:nvPr/>
        </p:nvSpPr>
        <p:spPr>
          <a:xfrm>
            <a:off x="1028700" y="4162901"/>
            <a:ext cx="6807579" cy="4578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000" u="none" cap="none" strike="noStrike">
                <a:solidFill>
                  <a:srgbClr val="000000"/>
                </a:solidFill>
                <a:latin typeface="Lexend Deca"/>
                <a:ea typeface="Lexend Deca"/>
                <a:cs typeface="Lexend Deca"/>
                <a:sym typeface="Lexend Deca"/>
              </a:rPr>
              <a:t>Rendimiento mejorado:</a:t>
            </a:r>
            <a:endParaRPr/>
          </a:p>
          <a:p>
            <a:pPr indent="0" lvl="0" marL="0" marR="0" rtl="0" algn="just">
              <a:lnSpc>
                <a:spcPct val="140000"/>
              </a:lnSpc>
              <a:spcBef>
                <a:spcPts val="0"/>
              </a:spcBef>
              <a:spcAft>
                <a:spcPts val="0"/>
              </a:spcAft>
              <a:buNone/>
            </a:pPr>
            <a:r>
              <a:rPr b="0" i="0" lang="en-US" sz="2000" u="none" cap="none" strike="noStrike">
                <a:solidFill>
                  <a:srgbClr val="31356E"/>
                </a:solidFill>
                <a:latin typeface="Lexend Deca"/>
                <a:ea typeface="Lexend Deca"/>
                <a:cs typeface="Lexend Deca"/>
                <a:sym typeface="Lexend Deca"/>
              </a:rPr>
              <a:t>RAID 10 combina las ventajas del RAID 0 (segmentación de datos) con la redundancia del RAID 1 (duplicación de datos). Esto proporciona un alto rendimiento de lectura/escritura junto con una excelente tolerancia a fallos.</a:t>
            </a:r>
            <a:endParaRPr/>
          </a:p>
          <a:p>
            <a:pPr indent="0" lvl="0" marL="0" marR="0" rtl="0" algn="just">
              <a:lnSpc>
                <a:spcPct val="140000"/>
              </a:lnSpc>
              <a:spcBef>
                <a:spcPts val="0"/>
              </a:spcBef>
              <a:spcAft>
                <a:spcPts val="0"/>
              </a:spcAft>
              <a:buNone/>
            </a:pPr>
            <a:r>
              <a:t/>
            </a:r>
            <a:endParaRPr b="0" i="0" sz="2000" u="none" cap="none" strike="noStrike">
              <a:solidFill>
                <a:srgbClr val="31356E"/>
              </a:solidFill>
              <a:latin typeface="Lexend Deca"/>
              <a:ea typeface="Lexend Deca"/>
              <a:cs typeface="Lexend Deca"/>
              <a:sym typeface="Lexend Deca"/>
            </a:endParaRPr>
          </a:p>
          <a:p>
            <a:pPr indent="0" lvl="0" marL="0" marR="0" rtl="0" algn="just">
              <a:lnSpc>
                <a:spcPct val="140000"/>
              </a:lnSpc>
              <a:spcBef>
                <a:spcPts val="0"/>
              </a:spcBef>
              <a:spcAft>
                <a:spcPts val="0"/>
              </a:spcAft>
              <a:buNone/>
            </a:pPr>
            <a:r>
              <a:rPr b="0" i="0" lang="en-US" sz="2000" u="none" cap="none" strike="noStrike">
                <a:solidFill>
                  <a:srgbClr val="000000"/>
                </a:solidFill>
                <a:latin typeface="Lexend Deca"/>
                <a:ea typeface="Lexend Deca"/>
                <a:cs typeface="Lexend Deca"/>
                <a:sym typeface="Lexend Deca"/>
              </a:rPr>
              <a:t>Tolerancia a fallos:</a:t>
            </a:r>
            <a:endParaRPr/>
          </a:p>
          <a:p>
            <a:pPr indent="0" lvl="0" marL="0" marR="0" rtl="0" algn="just">
              <a:lnSpc>
                <a:spcPct val="140000"/>
              </a:lnSpc>
              <a:spcBef>
                <a:spcPts val="0"/>
              </a:spcBef>
              <a:spcAft>
                <a:spcPts val="0"/>
              </a:spcAft>
              <a:buNone/>
            </a:pPr>
            <a:r>
              <a:rPr b="0" i="0" lang="en-US" sz="2000" u="none" cap="none" strike="noStrike">
                <a:solidFill>
                  <a:srgbClr val="31356E"/>
                </a:solidFill>
                <a:latin typeface="Lexend Deca"/>
                <a:ea typeface="Lexend Deca"/>
                <a:cs typeface="Lexend Deca"/>
                <a:sym typeface="Lexend Deca"/>
              </a:rPr>
              <a:t>RAID 10 puede sobrevivir a la falla de uno o más discos en cada uno de los conjuntos espejo, lo que lo convierte en una solución robusta y confiable para aplicaciones críticas que requieren tanto alto rendimiento como alta disponibilidad.</a:t>
            </a:r>
            <a:endParaRPr/>
          </a:p>
        </p:txBody>
      </p:sp>
      <p:grpSp>
        <p:nvGrpSpPr>
          <p:cNvPr id="288" name="Google Shape;288;p11"/>
          <p:cNvGrpSpPr/>
          <p:nvPr/>
        </p:nvGrpSpPr>
        <p:grpSpPr>
          <a:xfrm>
            <a:off x="9544755" y="3502700"/>
            <a:ext cx="7714545" cy="6092167"/>
            <a:chOff x="0" y="-38100"/>
            <a:chExt cx="1737259" cy="1371912"/>
          </a:xfrm>
        </p:grpSpPr>
        <p:sp>
          <p:nvSpPr>
            <p:cNvPr id="289" name="Google Shape;289;p11"/>
            <p:cNvSpPr/>
            <p:nvPr/>
          </p:nvSpPr>
          <p:spPr>
            <a:xfrm>
              <a:off x="0" y="0"/>
              <a:ext cx="1737259" cy="1333812"/>
            </a:xfrm>
            <a:custGeom>
              <a:rect b="b" l="l" r="r" t="t"/>
              <a:pathLst>
                <a:path extrusionOk="0" h="1333812" w="1737259">
                  <a:moveTo>
                    <a:pt x="51181" y="0"/>
                  </a:moveTo>
                  <a:lnTo>
                    <a:pt x="1686078" y="0"/>
                  </a:lnTo>
                  <a:cubicBezTo>
                    <a:pt x="1699652" y="0"/>
                    <a:pt x="1712670" y="5392"/>
                    <a:pt x="1722269" y="14991"/>
                  </a:cubicBezTo>
                  <a:cubicBezTo>
                    <a:pt x="1731867" y="24589"/>
                    <a:pt x="1737259" y="37607"/>
                    <a:pt x="1737259" y="51181"/>
                  </a:cubicBezTo>
                  <a:lnTo>
                    <a:pt x="1737259" y="1282631"/>
                  </a:lnTo>
                  <a:cubicBezTo>
                    <a:pt x="1737259" y="1296205"/>
                    <a:pt x="1731867" y="1309223"/>
                    <a:pt x="1722269" y="1318821"/>
                  </a:cubicBezTo>
                  <a:cubicBezTo>
                    <a:pt x="1712670" y="1328419"/>
                    <a:pt x="1699652" y="1333812"/>
                    <a:pt x="1686078" y="1333812"/>
                  </a:cubicBezTo>
                  <a:lnTo>
                    <a:pt x="51181" y="1333812"/>
                  </a:lnTo>
                  <a:cubicBezTo>
                    <a:pt x="37607" y="1333812"/>
                    <a:pt x="24589" y="1328419"/>
                    <a:pt x="14991" y="1318821"/>
                  </a:cubicBezTo>
                  <a:cubicBezTo>
                    <a:pt x="5392" y="1309223"/>
                    <a:pt x="0" y="1296205"/>
                    <a:pt x="0" y="1282631"/>
                  </a:cubicBezTo>
                  <a:lnTo>
                    <a:pt x="0" y="51181"/>
                  </a:lnTo>
                  <a:cubicBezTo>
                    <a:pt x="0" y="37607"/>
                    <a:pt x="5392" y="24589"/>
                    <a:pt x="14991" y="14991"/>
                  </a:cubicBezTo>
                  <a:cubicBezTo>
                    <a:pt x="24589" y="5392"/>
                    <a:pt x="37607" y="0"/>
                    <a:pt x="51181"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
            <p:cNvSpPr txBox="1"/>
            <p:nvPr/>
          </p:nvSpPr>
          <p:spPr>
            <a:xfrm>
              <a:off x="0" y="-38100"/>
              <a:ext cx="1737259" cy="13719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1" name="Google Shape;291;p11"/>
          <p:cNvSpPr txBox="1"/>
          <p:nvPr/>
        </p:nvSpPr>
        <p:spPr>
          <a:xfrm>
            <a:off x="9998238" y="4162901"/>
            <a:ext cx="6807579" cy="35210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000" u="none" cap="none" strike="noStrike">
                <a:solidFill>
                  <a:srgbClr val="000000"/>
                </a:solidFill>
                <a:latin typeface="Lexend Deca"/>
                <a:ea typeface="Lexend Deca"/>
                <a:cs typeface="Lexend Deca"/>
                <a:sym typeface="Lexend Deca"/>
              </a:rPr>
              <a:t>Capacidad reducida:</a:t>
            </a:r>
            <a:endParaRPr/>
          </a:p>
          <a:p>
            <a:pPr indent="0" lvl="0" marL="0" marR="0" rtl="0" algn="just">
              <a:lnSpc>
                <a:spcPct val="140000"/>
              </a:lnSpc>
              <a:spcBef>
                <a:spcPts val="0"/>
              </a:spcBef>
              <a:spcAft>
                <a:spcPts val="0"/>
              </a:spcAft>
              <a:buNone/>
            </a:pPr>
            <a:r>
              <a:rPr b="0" i="0" lang="en-US" sz="2000" u="none" cap="none" strike="noStrike">
                <a:solidFill>
                  <a:srgbClr val="31356E"/>
                </a:solidFill>
                <a:latin typeface="Lexend Deca"/>
                <a:ea typeface="Lexend Deca"/>
                <a:cs typeface="Lexend Deca"/>
                <a:sym typeface="Lexend Deca"/>
              </a:rPr>
              <a:t>La capacidad útil de un conjunto RAID 10 es la mitad del total de los discos, ya que se reserva espacio para la duplicación de datos.</a:t>
            </a:r>
            <a:endParaRPr/>
          </a:p>
          <a:p>
            <a:pPr indent="0" lvl="0" marL="0" marR="0" rtl="0" algn="just">
              <a:lnSpc>
                <a:spcPct val="140000"/>
              </a:lnSpc>
              <a:spcBef>
                <a:spcPts val="0"/>
              </a:spcBef>
              <a:spcAft>
                <a:spcPts val="0"/>
              </a:spcAft>
              <a:buNone/>
            </a:pPr>
            <a:r>
              <a:t/>
            </a:r>
            <a:endParaRPr b="0" i="0" sz="2000" u="none" cap="none" strike="noStrike">
              <a:solidFill>
                <a:srgbClr val="31356E"/>
              </a:solidFill>
              <a:latin typeface="Lexend Deca"/>
              <a:ea typeface="Lexend Deca"/>
              <a:cs typeface="Lexend Deca"/>
              <a:sym typeface="Lexend Deca"/>
            </a:endParaRPr>
          </a:p>
          <a:p>
            <a:pPr indent="0" lvl="0" marL="0" marR="0" rtl="0" algn="just">
              <a:lnSpc>
                <a:spcPct val="140000"/>
              </a:lnSpc>
              <a:spcBef>
                <a:spcPts val="0"/>
              </a:spcBef>
              <a:spcAft>
                <a:spcPts val="0"/>
              </a:spcAft>
              <a:buNone/>
            </a:pPr>
            <a:r>
              <a:rPr b="0" i="0" lang="en-US" sz="2000" u="none" cap="none" strike="noStrike">
                <a:solidFill>
                  <a:srgbClr val="000000"/>
                </a:solidFill>
                <a:latin typeface="Lexend Deca"/>
                <a:ea typeface="Lexend Deca"/>
                <a:cs typeface="Lexend Deca"/>
                <a:sym typeface="Lexend Deca"/>
              </a:rPr>
              <a:t>Configuración compleja:</a:t>
            </a:r>
            <a:endParaRPr/>
          </a:p>
          <a:p>
            <a:pPr indent="0" lvl="0" marL="0" marR="0" rtl="0" algn="just">
              <a:lnSpc>
                <a:spcPct val="140000"/>
              </a:lnSpc>
              <a:spcBef>
                <a:spcPts val="0"/>
              </a:spcBef>
              <a:spcAft>
                <a:spcPts val="0"/>
              </a:spcAft>
              <a:buNone/>
            </a:pPr>
            <a:r>
              <a:rPr b="0" i="0" lang="en-US" sz="2000" u="none" cap="none" strike="noStrike">
                <a:solidFill>
                  <a:srgbClr val="31356E"/>
                </a:solidFill>
                <a:latin typeface="Lexend Deca"/>
                <a:ea typeface="Lexend Deca"/>
                <a:cs typeface="Lexend Deca"/>
                <a:sym typeface="Lexend Deca"/>
              </a:rPr>
              <a:t>La implementación de RAID 10 es más compleja que otros niveles de RAID, ya que requiere la configuración de conjuntos de discos espejo y una capa adicional de agregación.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295" name="Shape 295"/>
        <p:cNvGrpSpPr/>
        <p:nvPr/>
      </p:nvGrpSpPr>
      <p:grpSpPr>
        <a:xfrm>
          <a:off x="0" y="0"/>
          <a:ext cx="0" cy="0"/>
          <a:chOff x="0" y="0"/>
          <a:chExt cx="0" cy="0"/>
        </a:xfrm>
      </p:grpSpPr>
      <p:grpSp>
        <p:nvGrpSpPr>
          <p:cNvPr id="296" name="Google Shape;296;p12"/>
          <p:cNvGrpSpPr/>
          <p:nvPr/>
        </p:nvGrpSpPr>
        <p:grpSpPr>
          <a:xfrm>
            <a:off x="-361272" y="-789541"/>
            <a:ext cx="18649272" cy="11381923"/>
            <a:chOff x="0" y="-38100"/>
            <a:chExt cx="4199680" cy="2563126"/>
          </a:xfrm>
        </p:grpSpPr>
        <p:sp>
          <p:nvSpPr>
            <p:cNvPr id="297" name="Google Shape;297;p12"/>
            <p:cNvSpPr/>
            <p:nvPr/>
          </p:nvSpPr>
          <p:spPr>
            <a:xfrm>
              <a:off x="0" y="0"/>
              <a:ext cx="4199680" cy="2525026"/>
            </a:xfrm>
            <a:custGeom>
              <a:rect b="b" l="l" r="r" t="t"/>
              <a:pathLst>
                <a:path extrusionOk="0" h="2525026" w="4199680">
                  <a:moveTo>
                    <a:pt x="0" y="0"/>
                  </a:moveTo>
                  <a:lnTo>
                    <a:pt x="4199680" y="0"/>
                  </a:lnTo>
                  <a:lnTo>
                    <a:pt x="4199680" y="2525026"/>
                  </a:lnTo>
                  <a:lnTo>
                    <a:pt x="0" y="2525026"/>
                  </a:lnTo>
                  <a:close/>
                </a:path>
              </a:pathLst>
            </a:custGeom>
            <a:solidFill>
              <a:srgbClr val="31356E"/>
            </a:solidFill>
            <a:ln>
              <a:noFill/>
            </a:ln>
          </p:spPr>
        </p:sp>
        <p:sp>
          <p:nvSpPr>
            <p:cNvPr id="298" name="Google Shape;298;p12"/>
            <p:cNvSpPr txBox="1"/>
            <p:nvPr/>
          </p:nvSpPr>
          <p:spPr>
            <a:xfrm>
              <a:off x="0" y="-38100"/>
              <a:ext cx="4199680"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9" name="Google Shape;299;p12"/>
          <p:cNvGrpSpPr/>
          <p:nvPr/>
        </p:nvGrpSpPr>
        <p:grpSpPr>
          <a:xfrm>
            <a:off x="616744" y="3502700"/>
            <a:ext cx="7714545" cy="6092167"/>
            <a:chOff x="0" y="-38100"/>
            <a:chExt cx="1737259" cy="1371912"/>
          </a:xfrm>
        </p:grpSpPr>
        <p:sp>
          <p:nvSpPr>
            <p:cNvPr id="300" name="Google Shape;300;p12"/>
            <p:cNvSpPr/>
            <p:nvPr/>
          </p:nvSpPr>
          <p:spPr>
            <a:xfrm>
              <a:off x="0" y="0"/>
              <a:ext cx="1737259" cy="1333812"/>
            </a:xfrm>
            <a:custGeom>
              <a:rect b="b" l="l" r="r" t="t"/>
              <a:pathLst>
                <a:path extrusionOk="0" h="1333812" w="1737259">
                  <a:moveTo>
                    <a:pt x="51181" y="0"/>
                  </a:moveTo>
                  <a:lnTo>
                    <a:pt x="1686078" y="0"/>
                  </a:lnTo>
                  <a:cubicBezTo>
                    <a:pt x="1699652" y="0"/>
                    <a:pt x="1712670" y="5392"/>
                    <a:pt x="1722269" y="14991"/>
                  </a:cubicBezTo>
                  <a:cubicBezTo>
                    <a:pt x="1731867" y="24589"/>
                    <a:pt x="1737259" y="37607"/>
                    <a:pt x="1737259" y="51181"/>
                  </a:cubicBezTo>
                  <a:lnTo>
                    <a:pt x="1737259" y="1282631"/>
                  </a:lnTo>
                  <a:cubicBezTo>
                    <a:pt x="1737259" y="1296205"/>
                    <a:pt x="1731867" y="1309223"/>
                    <a:pt x="1722269" y="1318821"/>
                  </a:cubicBezTo>
                  <a:cubicBezTo>
                    <a:pt x="1712670" y="1328419"/>
                    <a:pt x="1699652" y="1333812"/>
                    <a:pt x="1686078" y="1333812"/>
                  </a:cubicBezTo>
                  <a:lnTo>
                    <a:pt x="51181" y="1333812"/>
                  </a:lnTo>
                  <a:cubicBezTo>
                    <a:pt x="37607" y="1333812"/>
                    <a:pt x="24589" y="1328419"/>
                    <a:pt x="14991" y="1318821"/>
                  </a:cubicBezTo>
                  <a:cubicBezTo>
                    <a:pt x="5392" y="1309223"/>
                    <a:pt x="0" y="1296205"/>
                    <a:pt x="0" y="1282631"/>
                  </a:cubicBezTo>
                  <a:lnTo>
                    <a:pt x="0" y="51181"/>
                  </a:lnTo>
                  <a:cubicBezTo>
                    <a:pt x="0" y="37607"/>
                    <a:pt x="5392" y="24589"/>
                    <a:pt x="14991" y="14991"/>
                  </a:cubicBezTo>
                  <a:cubicBezTo>
                    <a:pt x="24589" y="5392"/>
                    <a:pt x="37607" y="0"/>
                    <a:pt x="51181"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2"/>
            <p:cNvSpPr txBox="1"/>
            <p:nvPr/>
          </p:nvSpPr>
          <p:spPr>
            <a:xfrm>
              <a:off x="0" y="-38100"/>
              <a:ext cx="1737259" cy="13719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2" name="Google Shape;302;p12"/>
          <p:cNvSpPr txBox="1"/>
          <p:nvPr/>
        </p:nvSpPr>
        <p:spPr>
          <a:xfrm>
            <a:off x="1028700" y="1209675"/>
            <a:ext cx="16230600" cy="1034416"/>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7000" u="none" cap="none" strike="noStrike">
                <a:solidFill>
                  <a:srgbClr val="FFFFFF"/>
                </a:solidFill>
                <a:latin typeface="Play"/>
                <a:ea typeface="Play"/>
                <a:cs typeface="Play"/>
                <a:sym typeface="Play"/>
              </a:rPr>
              <a:t>RAID 50: COMBINACIÓN DE RAID 5 Y 0</a:t>
            </a:r>
            <a:endParaRPr sz="7000"/>
          </a:p>
        </p:txBody>
      </p:sp>
      <p:sp>
        <p:nvSpPr>
          <p:cNvPr id="303" name="Google Shape;303;p12"/>
          <p:cNvSpPr txBox="1"/>
          <p:nvPr/>
        </p:nvSpPr>
        <p:spPr>
          <a:xfrm>
            <a:off x="1028700" y="4162901"/>
            <a:ext cx="6807579" cy="42259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000" u="none" cap="none" strike="noStrike">
                <a:solidFill>
                  <a:srgbClr val="000000"/>
                </a:solidFill>
                <a:latin typeface="Lexend Deca"/>
                <a:ea typeface="Lexend Deca"/>
                <a:cs typeface="Lexend Deca"/>
                <a:sym typeface="Lexend Deca"/>
              </a:rPr>
              <a:t>Segmentación y paridad:</a:t>
            </a:r>
            <a:endParaRPr/>
          </a:p>
          <a:p>
            <a:pPr indent="0" lvl="0" marL="0" marR="0" rtl="0" algn="just">
              <a:lnSpc>
                <a:spcPct val="140000"/>
              </a:lnSpc>
              <a:spcBef>
                <a:spcPts val="0"/>
              </a:spcBef>
              <a:spcAft>
                <a:spcPts val="0"/>
              </a:spcAft>
              <a:buNone/>
            </a:pPr>
            <a:r>
              <a:rPr b="0" i="0" lang="en-US" sz="2000" u="none" cap="none" strike="noStrike">
                <a:solidFill>
                  <a:srgbClr val="31356E"/>
                </a:solidFill>
                <a:latin typeface="Lexend Deca"/>
                <a:ea typeface="Lexend Deca"/>
                <a:cs typeface="Lexend Deca"/>
                <a:sym typeface="Lexend Deca"/>
              </a:rPr>
              <a:t>RAID 50 combina las ventajas del RAID 5 (paridad distribuida) con la segmentación de datos del RAID 0. Esto proporciona un equilibrio entre rendimiento, tolerancia a fallos y capacidad.</a:t>
            </a:r>
            <a:endParaRPr/>
          </a:p>
          <a:p>
            <a:pPr indent="0" lvl="0" marL="0" marR="0" rtl="0" algn="just">
              <a:lnSpc>
                <a:spcPct val="140000"/>
              </a:lnSpc>
              <a:spcBef>
                <a:spcPts val="0"/>
              </a:spcBef>
              <a:spcAft>
                <a:spcPts val="0"/>
              </a:spcAft>
              <a:buNone/>
            </a:pPr>
            <a:r>
              <a:t/>
            </a:r>
            <a:endParaRPr b="0" i="0" sz="2000" u="none" cap="none" strike="noStrike">
              <a:solidFill>
                <a:srgbClr val="31356E"/>
              </a:solidFill>
              <a:latin typeface="Lexend Deca"/>
              <a:ea typeface="Lexend Deca"/>
              <a:cs typeface="Lexend Deca"/>
              <a:sym typeface="Lexend Deca"/>
            </a:endParaRPr>
          </a:p>
          <a:p>
            <a:pPr indent="0" lvl="0" marL="0" marR="0" rtl="0" algn="just">
              <a:lnSpc>
                <a:spcPct val="140000"/>
              </a:lnSpc>
              <a:spcBef>
                <a:spcPts val="0"/>
              </a:spcBef>
              <a:spcAft>
                <a:spcPts val="0"/>
              </a:spcAft>
              <a:buNone/>
            </a:pPr>
            <a:r>
              <a:rPr b="0" i="0" lang="en-US" sz="2000" u="none" cap="none" strike="noStrike">
                <a:solidFill>
                  <a:srgbClr val="000000"/>
                </a:solidFill>
                <a:latin typeface="Lexend Deca"/>
                <a:ea typeface="Lexend Deca"/>
                <a:cs typeface="Lexend Deca"/>
                <a:sym typeface="Lexend Deca"/>
              </a:rPr>
              <a:t>Tolerancia a fallos:</a:t>
            </a:r>
            <a:endParaRPr/>
          </a:p>
          <a:p>
            <a:pPr indent="0" lvl="0" marL="0" marR="0" rtl="0" algn="just">
              <a:lnSpc>
                <a:spcPct val="140000"/>
              </a:lnSpc>
              <a:spcBef>
                <a:spcPts val="0"/>
              </a:spcBef>
              <a:spcAft>
                <a:spcPts val="0"/>
              </a:spcAft>
              <a:buNone/>
            </a:pPr>
            <a:r>
              <a:rPr b="0" i="0" lang="en-US" sz="2000" u="none" cap="none" strike="noStrike">
                <a:solidFill>
                  <a:srgbClr val="31356E"/>
                </a:solidFill>
                <a:latin typeface="Lexend Deca"/>
                <a:ea typeface="Lexend Deca"/>
                <a:cs typeface="Lexend Deca"/>
                <a:sym typeface="Lexend Deca"/>
              </a:rPr>
              <a:t>RAID 50 puede sobrevivir a la falla de uno o más discos en cada uno de los conjuntos RAID 5 que lo componen. Esto lo convierte en una solución robusta y confiable para aplicaciones que requieren un alto nivel de redundancia.</a:t>
            </a:r>
            <a:endParaRPr/>
          </a:p>
        </p:txBody>
      </p:sp>
      <p:grpSp>
        <p:nvGrpSpPr>
          <p:cNvPr id="304" name="Google Shape;304;p12"/>
          <p:cNvGrpSpPr/>
          <p:nvPr/>
        </p:nvGrpSpPr>
        <p:grpSpPr>
          <a:xfrm>
            <a:off x="9544755" y="3502700"/>
            <a:ext cx="7714545" cy="6092167"/>
            <a:chOff x="0" y="-38100"/>
            <a:chExt cx="1737259" cy="1371912"/>
          </a:xfrm>
        </p:grpSpPr>
        <p:sp>
          <p:nvSpPr>
            <p:cNvPr id="305" name="Google Shape;305;p12"/>
            <p:cNvSpPr/>
            <p:nvPr/>
          </p:nvSpPr>
          <p:spPr>
            <a:xfrm>
              <a:off x="0" y="0"/>
              <a:ext cx="1737259" cy="1333812"/>
            </a:xfrm>
            <a:custGeom>
              <a:rect b="b" l="l" r="r" t="t"/>
              <a:pathLst>
                <a:path extrusionOk="0" h="1333812" w="1737259">
                  <a:moveTo>
                    <a:pt x="51181" y="0"/>
                  </a:moveTo>
                  <a:lnTo>
                    <a:pt x="1686078" y="0"/>
                  </a:lnTo>
                  <a:cubicBezTo>
                    <a:pt x="1699652" y="0"/>
                    <a:pt x="1712670" y="5392"/>
                    <a:pt x="1722269" y="14991"/>
                  </a:cubicBezTo>
                  <a:cubicBezTo>
                    <a:pt x="1731867" y="24589"/>
                    <a:pt x="1737259" y="37607"/>
                    <a:pt x="1737259" y="51181"/>
                  </a:cubicBezTo>
                  <a:lnTo>
                    <a:pt x="1737259" y="1282631"/>
                  </a:lnTo>
                  <a:cubicBezTo>
                    <a:pt x="1737259" y="1296205"/>
                    <a:pt x="1731867" y="1309223"/>
                    <a:pt x="1722269" y="1318821"/>
                  </a:cubicBezTo>
                  <a:cubicBezTo>
                    <a:pt x="1712670" y="1328419"/>
                    <a:pt x="1699652" y="1333812"/>
                    <a:pt x="1686078" y="1333812"/>
                  </a:cubicBezTo>
                  <a:lnTo>
                    <a:pt x="51181" y="1333812"/>
                  </a:lnTo>
                  <a:cubicBezTo>
                    <a:pt x="37607" y="1333812"/>
                    <a:pt x="24589" y="1328419"/>
                    <a:pt x="14991" y="1318821"/>
                  </a:cubicBezTo>
                  <a:cubicBezTo>
                    <a:pt x="5392" y="1309223"/>
                    <a:pt x="0" y="1296205"/>
                    <a:pt x="0" y="1282631"/>
                  </a:cubicBezTo>
                  <a:lnTo>
                    <a:pt x="0" y="51181"/>
                  </a:lnTo>
                  <a:cubicBezTo>
                    <a:pt x="0" y="37607"/>
                    <a:pt x="5392" y="24589"/>
                    <a:pt x="14991" y="14991"/>
                  </a:cubicBezTo>
                  <a:cubicBezTo>
                    <a:pt x="24589" y="5392"/>
                    <a:pt x="37607" y="0"/>
                    <a:pt x="51181"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2"/>
            <p:cNvSpPr txBox="1"/>
            <p:nvPr/>
          </p:nvSpPr>
          <p:spPr>
            <a:xfrm>
              <a:off x="0" y="-38100"/>
              <a:ext cx="1737259" cy="137191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7" name="Google Shape;307;p12"/>
          <p:cNvSpPr txBox="1"/>
          <p:nvPr/>
        </p:nvSpPr>
        <p:spPr>
          <a:xfrm>
            <a:off x="9998238" y="4162901"/>
            <a:ext cx="6807579" cy="21113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000" u="none" cap="none" strike="noStrike">
                <a:solidFill>
                  <a:srgbClr val="000000"/>
                </a:solidFill>
                <a:latin typeface="Lexend Deca"/>
                <a:ea typeface="Lexend Deca"/>
                <a:cs typeface="Lexend Deca"/>
                <a:sym typeface="Lexend Deca"/>
              </a:rPr>
              <a:t>Mejor rendimiento:</a:t>
            </a:r>
            <a:endParaRPr/>
          </a:p>
          <a:p>
            <a:pPr indent="0" lvl="0" marL="0" marR="0" rtl="0" algn="just">
              <a:lnSpc>
                <a:spcPct val="140000"/>
              </a:lnSpc>
              <a:spcBef>
                <a:spcPts val="0"/>
              </a:spcBef>
              <a:spcAft>
                <a:spcPts val="0"/>
              </a:spcAft>
              <a:buNone/>
            </a:pPr>
            <a:r>
              <a:rPr b="0" i="0" lang="en-US" sz="2000" u="none" cap="none" strike="noStrike">
                <a:solidFill>
                  <a:srgbClr val="31356E"/>
                </a:solidFill>
                <a:latin typeface="Lexend Deca"/>
                <a:ea typeface="Lexend Deca"/>
                <a:cs typeface="Lexend Deca"/>
                <a:sym typeface="Lexend Deca"/>
              </a:rPr>
              <a:t>Al distribuir los datos en varias unidades de disco y utilizar paridad, RAID 50 ofrece un mejor rendimiento de lectura/escritura en comparación con el RAID 5 tradicional.</a:t>
            </a:r>
            <a:endParaRPr/>
          </a:p>
          <a:p>
            <a:pPr indent="0" lvl="0" marL="0" marR="0" rtl="0" algn="just">
              <a:lnSpc>
                <a:spcPct val="140000"/>
              </a:lnSpc>
              <a:spcBef>
                <a:spcPts val="0"/>
              </a:spcBef>
              <a:spcAft>
                <a:spcPts val="0"/>
              </a:spcAft>
              <a:buNone/>
            </a:pPr>
            <a:r>
              <a:t/>
            </a:r>
            <a:endParaRPr b="0" i="0" sz="2000" u="none" cap="none" strike="noStrike">
              <a:solidFill>
                <a:srgbClr val="31356E"/>
              </a:solidFill>
              <a:latin typeface="Lexend Deca"/>
              <a:ea typeface="Lexend Deca"/>
              <a:cs typeface="Lexend Deca"/>
              <a:sym typeface="Lexend Dec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311" name="Shape 311"/>
        <p:cNvGrpSpPr/>
        <p:nvPr/>
      </p:nvGrpSpPr>
      <p:grpSpPr>
        <a:xfrm>
          <a:off x="0" y="0"/>
          <a:ext cx="0" cy="0"/>
          <a:chOff x="0" y="0"/>
          <a:chExt cx="0" cy="0"/>
        </a:xfrm>
      </p:grpSpPr>
      <p:grpSp>
        <p:nvGrpSpPr>
          <p:cNvPr id="312" name="Google Shape;312;p13"/>
          <p:cNvGrpSpPr/>
          <p:nvPr/>
        </p:nvGrpSpPr>
        <p:grpSpPr>
          <a:xfrm>
            <a:off x="-361272" y="-789541"/>
            <a:ext cx="11374962" cy="11381923"/>
            <a:chOff x="0" y="-38100"/>
            <a:chExt cx="2561558" cy="2563126"/>
          </a:xfrm>
        </p:grpSpPr>
        <p:sp>
          <p:nvSpPr>
            <p:cNvPr id="313" name="Google Shape;313;p13"/>
            <p:cNvSpPr/>
            <p:nvPr/>
          </p:nvSpPr>
          <p:spPr>
            <a:xfrm>
              <a:off x="0" y="0"/>
              <a:ext cx="2561558" cy="2525026"/>
            </a:xfrm>
            <a:custGeom>
              <a:rect b="b" l="l" r="r" t="t"/>
              <a:pathLst>
                <a:path extrusionOk="0" h="2525026" w="2561558">
                  <a:moveTo>
                    <a:pt x="0" y="0"/>
                  </a:moveTo>
                  <a:lnTo>
                    <a:pt x="2561558" y="0"/>
                  </a:lnTo>
                  <a:lnTo>
                    <a:pt x="2561558" y="2525026"/>
                  </a:lnTo>
                  <a:lnTo>
                    <a:pt x="0" y="2525026"/>
                  </a:lnTo>
                  <a:close/>
                </a:path>
              </a:pathLst>
            </a:custGeom>
            <a:solidFill>
              <a:srgbClr val="31356E"/>
            </a:solidFill>
            <a:ln>
              <a:noFill/>
            </a:ln>
          </p:spPr>
        </p:sp>
        <p:sp>
          <p:nvSpPr>
            <p:cNvPr id="314" name="Google Shape;314;p13"/>
            <p:cNvSpPr txBox="1"/>
            <p:nvPr/>
          </p:nvSpPr>
          <p:spPr>
            <a:xfrm>
              <a:off x="0" y="-38100"/>
              <a:ext cx="2561558"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5" name="Google Shape;315;p13"/>
          <p:cNvGrpSpPr/>
          <p:nvPr/>
        </p:nvGrpSpPr>
        <p:grpSpPr>
          <a:xfrm>
            <a:off x="616744" y="2731174"/>
            <a:ext cx="9857670" cy="6863692"/>
            <a:chOff x="0" y="-38100"/>
            <a:chExt cx="2219875" cy="1545653"/>
          </a:xfrm>
        </p:grpSpPr>
        <p:sp>
          <p:nvSpPr>
            <p:cNvPr id="316" name="Google Shape;316;p13"/>
            <p:cNvSpPr/>
            <p:nvPr/>
          </p:nvSpPr>
          <p:spPr>
            <a:xfrm>
              <a:off x="0" y="0"/>
              <a:ext cx="2219875" cy="1507553"/>
            </a:xfrm>
            <a:custGeom>
              <a:rect b="b" l="l" r="r" t="t"/>
              <a:pathLst>
                <a:path extrusionOk="0" h="1507553" w="2219875">
                  <a:moveTo>
                    <a:pt x="40054" y="0"/>
                  </a:moveTo>
                  <a:lnTo>
                    <a:pt x="2179821" y="0"/>
                  </a:lnTo>
                  <a:cubicBezTo>
                    <a:pt x="2201943" y="0"/>
                    <a:pt x="2219875" y="17933"/>
                    <a:pt x="2219875" y="40054"/>
                  </a:cubicBezTo>
                  <a:lnTo>
                    <a:pt x="2219875" y="1467500"/>
                  </a:lnTo>
                  <a:cubicBezTo>
                    <a:pt x="2219875" y="1489621"/>
                    <a:pt x="2201943" y="1507553"/>
                    <a:pt x="2179821" y="1507553"/>
                  </a:cubicBezTo>
                  <a:lnTo>
                    <a:pt x="40054" y="1507553"/>
                  </a:lnTo>
                  <a:cubicBezTo>
                    <a:pt x="29431" y="1507553"/>
                    <a:pt x="19243" y="1503334"/>
                    <a:pt x="11732" y="1495822"/>
                  </a:cubicBezTo>
                  <a:cubicBezTo>
                    <a:pt x="4220" y="1488310"/>
                    <a:pt x="0" y="1478122"/>
                    <a:pt x="0" y="1467500"/>
                  </a:cubicBezTo>
                  <a:lnTo>
                    <a:pt x="0" y="40054"/>
                  </a:lnTo>
                  <a:cubicBezTo>
                    <a:pt x="0" y="17933"/>
                    <a:pt x="17933" y="0"/>
                    <a:pt x="40054"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3"/>
            <p:cNvSpPr txBox="1"/>
            <p:nvPr/>
          </p:nvSpPr>
          <p:spPr>
            <a:xfrm>
              <a:off x="0" y="-38100"/>
              <a:ext cx="2219875" cy="154565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8" name="Google Shape;318;p13"/>
          <p:cNvSpPr/>
          <p:nvPr/>
        </p:nvSpPr>
        <p:spPr>
          <a:xfrm>
            <a:off x="11758612" y="2393156"/>
            <a:ext cx="5500688" cy="5500688"/>
          </a:xfrm>
          <a:custGeom>
            <a:rect b="b" l="l" r="r" t="t"/>
            <a:pathLst>
              <a:path extrusionOk="0" h="5500688" w="5500688">
                <a:moveTo>
                  <a:pt x="0" y="0"/>
                </a:moveTo>
                <a:lnTo>
                  <a:pt x="5500688" y="0"/>
                </a:lnTo>
                <a:lnTo>
                  <a:pt x="5500688" y="5500688"/>
                </a:lnTo>
                <a:lnTo>
                  <a:pt x="0" y="5500688"/>
                </a:lnTo>
                <a:lnTo>
                  <a:pt x="0" y="0"/>
                </a:lnTo>
                <a:close/>
              </a:path>
            </a:pathLst>
          </a:custGeom>
          <a:blipFill rotWithShape="1">
            <a:blip r:embed="rId3">
              <a:alphaModFix/>
            </a:blip>
            <a:stretch>
              <a:fillRect b="0" l="0" r="0" t="0"/>
            </a:stretch>
          </a:blipFill>
          <a:ln>
            <a:noFill/>
          </a:ln>
        </p:spPr>
      </p:sp>
      <p:sp>
        <p:nvSpPr>
          <p:cNvPr id="319" name="Google Shape;319;p13"/>
          <p:cNvSpPr txBox="1"/>
          <p:nvPr/>
        </p:nvSpPr>
        <p:spPr>
          <a:xfrm>
            <a:off x="2141789" y="1152525"/>
            <a:ext cx="6807600" cy="1329600"/>
          </a:xfrm>
          <a:prstGeom prst="rect">
            <a:avLst/>
          </a:prstGeom>
          <a:noFill/>
          <a:ln>
            <a:noFill/>
          </a:ln>
        </p:spPr>
        <p:txBody>
          <a:bodyPr anchorCtr="0" anchor="t" bIns="0" lIns="0" spcFirstLastPara="1" rIns="0" wrap="square" tIns="0">
            <a:spAutoFit/>
          </a:bodyPr>
          <a:lstStyle/>
          <a:p>
            <a:pPr indent="0" lvl="0" marL="0" marR="0" rtl="0" algn="ctr">
              <a:lnSpc>
                <a:spcPct val="95983"/>
              </a:lnSpc>
              <a:spcBef>
                <a:spcPts val="0"/>
              </a:spcBef>
              <a:spcAft>
                <a:spcPts val="0"/>
              </a:spcAft>
              <a:buNone/>
            </a:pPr>
            <a:r>
              <a:rPr b="0" i="0" lang="en-US" sz="4500" u="none" cap="none" strike="noStrike">
                <a:solidFill>
                  <a:srgbClr val="FFFFFF"/>
                </a:solidFill>
                <a:latin typeface="Play"/>
                <a:ea typeface="Play"/>
                <a:cs typeface="Play"/>
                <a:sym typeface="Play"/>
              </a:rPr>
              <a:t>OTROS NIVELES RAID Y CONSIDERACIONES</a:t>
            </a:r>
            <a:endParaRPr sz="4500"/>
          </a:p>
        </p:txBody>
      </p:sp>
      <p:sp>
        <p:nvSpPr>
          <p:cNvPr id="320" name="Google Shape;320;p13"/>
          <p:cNvSpPr txBox="1"/>
          <p:nvPr/>
        </p:nvSpPr>
        <p:spPr>
          <a:xfrm>
            <a:off x="1028700" y="3334226"/>
            <a:ext cx="8950704" cy="558990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300" u="none" cap="none" strike="noStrike">
                <a:solidFill>
                  <a:srgbClr val="31356E"/>
                </a:solidFill>
                <a:latin typeface="Lexend Deca"/>
                <a:ea typeface="Lexend Deca"/>
                <a:cs typeface="Lexend Deca"/>
                <a:sym typeface="Lexend Deca"/>
              </a:rPr>
              <a:t>Además de los niveles cubiertos anteriormentes, existen otros niveles como RAID 2, 3, 4, 5, 60 y 61; cada uno con sus propias características y aplicaciones específicas.</a:t>
            </a:r>
            <a:endParaRPr/>
          </a:p>
          <a:p>
            <a:pPr indent="0" lvl="0" marL="0" marR="0" rtl="0" algn="just">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a:p>
            <a:pPr indent="0" lvl="0" marL="0" marR="0" rtl="0" algn="just">
              <a:lnSpc>
                <a:spcPct val="140000"/>
              </a:lnSpc>
              <a:spcBef>
                <a:spcPts val="0"/>
              </a:spcBef>
              <a:spcAft>
                <a:spcPts val="0"/>
              </a:spcAft>
              <a:buNone/>
            </a:pPr>
            <a:r>
              <a:rPr b="0" i="0" lang="en-US" sz="2300" u="none" cap="none" strike="noStrike">
                <a:solidFill>
                  <a:srgbClr val="31356E"/>
                </a:solidFill>
                <a:latin typeface="Lexend Deca"/>
                <a:ea typeface="Lexend Deca"/>
                <a:cs typeface="Lexend Deca"/>
                <a:sym typeface="Lexend Deca"/>
              </a:rPr>
              <a:t>La selección del nivel RAID adecuado depende de los requisitos de la aplicación, como el rendimiento, la tolerancia a fallos, la capacidad y el presupuesto. Es importante evaluar cuidadosamente las necesidades del sistema para elegir la configuración RAID más apropiada.</a:t>
            </a:r>
            <a:endParaRPr/>
          </a:p>
          <a:p>
            <a:pPr indent="0" lvl="0" marL="0" marR="0" rtl="0" algn="just">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a:p>
            <a:pPr indent="0" lvl="0" marL="0" marR="0" rtl="0" algn="just">
              <a:lnSpc>
                <a:spcPct val="140000"/>
              </a:lnSpc>
              <a:spcBef>
                <a:spcPts val="0"/>
              </a:spcBef>
              <a:spcAft>
                <a:spcPts val="0"/>
              </a:spcAft>
              <a:buNone/>
            </a:pPr>
            <a:r>
              <a:rPr b="0" i="0" lang="en-US" sz="2300" u="none" cap="none" strike="noStrike">
                <a:solidFill>
                  <a:srgbClr val="31356E"/>
                </a:solidFill>
                <a:latin typeface="Lexend Deca"/>
                <a:ea typeface="Lexend Deca"/>
                <a:cs typeface="Lexend Deca"/>
                <a:sym typeface="Lexend Deca"/>
              </a:rPr>
              <a:t>Otros factores a tener en cuenta al implementar RAID incluyen la compatibilidad de los controladores, la complejidad de la configuración, la sobrecarga de procesamiento y los costos de implementación y mantenimiento.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324" name="Shape 324"/>
        <p:cNvGrpSpPr/>
        <p:nvPr/>
      </p:nvGrpSpPr>
      <p:grpSpPr>
        <a:xfrm>
          <a:off x="0" y="0"/>
          <a:ext cx="0" cy="0"/>
          <a:chOff x="0" y="0"/>
          <a:chExt cx="0" cy="0"/>
        </a:xfrm>
      </p:grpSpPr>
      <p:grpSp>
        <p:nvGrpSpPr>
          <p:cNvPr id="325" name="Google Shape;325;p14"/>
          <p:cNvGrpSpPr/>
          <p:nvPr/>
        </p:nvGrpSpPr>
        <p:grpSpPr>
          <a:xfrm>
            <a:off x="9144000" y="-1094923"/>
            <a:ext cx="9246124" cy="11381923"/>
            <a:chOff x="0" y="-38100"/>
            <a:chExt cx="2082160" cy="2563126"/>
          </a:xfrm>
        </p:grpSpPr>
        <p:sp>
          <p:nvSpPr>
            <p:cNvPr id="326" name="Google Shape;326;p14"/>
            <p:cNvSpPr/>
            <p:nvPr/>
          </p:nvSpPr>
          <p:spPr>
            <a:xfrm>
              <a:off x="0" y="0"/>
              <a:ext cx="2082160" cy="2525026"/>
            </a:xfrm>
            <a:custGeom>
              <a:rect b="b" l="l" r="r" t="t"/>
              <a:pathLst>
                <a:path extrusionOk="0" h="2525026" w="2082160">
                  <a:moveTo>
                    <a:pt x="0" y="0"/>
                  </a:moveTo>
                  <a:lnTo>
                    <a:pt x="2082160" y="0"/>
                  </a:lnTo>
                  <a:lnTo>
                    <a:pt x="2082160" y="2525026"/>
                  </a:lnTo>
                  <a:lnTo>
                    <a:pt x="0" y="2525026"/>
                  </a:lnTo>
                  <a:close/>
                </a:path>
              </a:pathLst>
            </a:custGeom>
            <a:solidFill>
              <a:srgbClr val="31356E"/>
            </a:solidFill>
            <a:ln>
              <a:noFill/>
            </a:ln>
          </p:spPr>
        </p:sp>
        <p:sp>
          <p:nvSpPr>
            <p:cNvPr id="327" name="Google Shape;327;p14"/>
            <p:cNvSpPr txBox="1"/>
            <p:nvPr/>
          </p:nvSpPr>
          <p:spPr>
            <a:xfrm>
              <a:off x="0" y="-38100"/>
              <a:ext cx="2082160"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8" name="Google Shape;328;p14"/>
          <p:cNvGrpSpPr/>
          <p:nvPr/>
        </p:nvGrpSpPr>
        <p:grpSpPr>
          <a:xfrm>
            <a:off x="10331271" y="3207563"/>
            <a:ext cx="6871582" cy="5603496"/>
            <a:chOff x="0" y="-38100"/>
            <a:chExt cx="1547430" cy="1261867"/>
          </a:xfrm>
        </p:grpSpPr>
        <p:sp>
          <p:nvSpPr>
            <p:cNvPr id="329" name="Google Shape;329;p14"/>
            <p:cNvSpPr/>
            <p:nvPr/>
          </p:nvSpPr>
          <p:spPr>
            <a:xfrm>
              <a:off x="0" y="0"/>
              <a:ext cx="1547430" cy="1223766"/>
            </a:xfrm>
            <a:custGeom>
              <a:rect b="b" l="l" r="r" t="t"/>
              <a:pathLst>
                <a:path extrusionOk="0" h="1223766" w="1547430">
                  <a:moveTo>
                    <a:pt x="57460" y="0"/>
                  </a:moveTo>
                  <a:lnTo>
                    <a:pt x="1489971" y="0"/>
                  </a:lnTo>
                  <a:cubicBezTo>
                    <a:pt x="1505210" y="0"/>
                    <a:pt x="1519825" y="6054"/>
                    <a:pt x="1530601" y="16830"/>
                  </a:cubicBezTo>
                  <a:cubicBezTo>
                    <a:pt x="1541376" y="27605"/>
                    <a:pt x="1547430" y="42220"/>
                    <a:pt x="1547430" y="57460"/>
                  </a:cubicBezTo>
                  <a:lnTo>
                    <a:pt x="1547430" y="1166307"/>
                  </a:lnTo>
                  <a:cubicBezTo>
                    <a:pt x="1547430" y="1198041"/>
                    <a:pt x="1521705" y="1223766"/>
                    <a:pt x="1489971" y="1223766"/>
                  </a:cubicBezTo>
                  <a:lnTo>
                    <a:pt x="57460" y="1223766"/>
                  </a:lnTo>
                  <a:cubicBezTo>
                    <a:pt x="42220" y="1223766"/>
                    <a:pt x="27605" y="1217713"/>
                    <a:pt x="16830" y="1206937"/>
                  </a:cubicBezTo>
                  <a:cubicBezTo>
                    <a:pt x="6054" y="1196161"/>
                    <a:pt x="0" y="1181546"/>
                    <a:pt x="0" y="1166307"/>
                  </a:cubicBezTo>
                  <a:lnTo>
                    <a:pt x="0" y="57460"/>
                  </a:lnTo>
                  <a:cubicBezTo>
                    <a:pt x="0" y="42220"/>
                    <a:pt x="6054" y="27605"/>
                    <a:pt x="16830" y="16830"/>
                  </a:cubicBezTo>
                  <a:cubicBezTo>
                    <a:pt x="27605" y="6054"/>
                    <a:pt x="42220" y="0"/>
                    <a:pt x="57460"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4"/>
            <p:cNvSpPr txBox="1"/>
            <p:nvPr/>
          </p:nvSpPr>
          <p:spPr>
            <a:xfrm>
              <a:off x="0" y="-38100"/>
              <a:ext cx="1547430" cy="126186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1" name="Google Shape;331;p14"/>
          <p:cNvSpPr/>
          <p:nvPr/>
        </p:nvSpPr>
        <p:spPr>
          <a:xfrm>
            <a:off x="257175" y="2977230"/>
            <a:ext cx="8686795" cy="4332539"/>
          </a:xfrm>
          <a:custGeom>
            <a:rect b="b" l="l" r="r" t="t"/>
            <a:pathLst>
              <a:path extrusionOk="0" h="4332539" w="8686795">
                <a:moveTo>
                  <a:pt x="0" y="0"/>
                </a:moveTo>
                <a:lnTo>
                  <a:pt x="8686795" y="0"/>
                </a:lnTo>
                <a:lnTo>
                  <a:pt x="8686795" y="4332540"/>
                </a:lnTo>
                <a:lnTo>
                  <a:pt x="0" y="4332540"/>
                </a:lnTo>
                <a:lnTo>
                  <a:pt x="0" y="0"/>
                </a:lnTo>
                <a:close/>
              </a:path>
            </a:pathLst>
          </a:custGeom>
          <a:blipFill rotWithShape="1">
            <a:blip r:embed="rId3">
              <a:alphaModFix/>
            </a:blip>
            <a:stretch>
              <a:fillRect b="0" l="0" r="0" t="0"/>
            </a:stretch>
          </a:blipFill>
          <a:ln>
            <a:noFill/>
          </a:ln>
        </p:spPr>
      </p:sp>
      <p:sp>
        <p:nvSpPr>
          <p:cNvPr id="332" name="Google Shape;332;p14"/>
          <p:cNvSpPr txBox="1"/>
          <p:nvPr/>
        </p:nvSpPr>
        <p:spPr>
          <a:xfrm>
            <a:off x="10447402" y="1379941"/>
            <a:ext cx="6745800" cy="1477500"/>
          </a:xfrm>
          <a:prstGeom prst="rect">
            <a:avLst/>
          </a:prstGeom>
          <a:noFill/>
          <a:ln>
            <a:noFill/>
          </a:ln>
        </p:spPr>
        <p:txBody>
          <a:bodyPr anchorCtr="0" anchor="t" bIns="0" lIns="0" spcFirstLastPara="1" rIns="0" wrap="square" tIns="0">
            <a:spAutoFit/>
          </a:bodyPr>
          <a:lstStyle/>
          <a:p>
            <a:pPr indent="0" lvl="0" marL="0" marR="0" rtl="0" algn="ctr">
              <a:lnSpc>
                <a:spcPct val="95983"/>
              </a:lnSpc>
              <a:spcBef>
                <a:spcPts val="0"/>
              </a:spcBef>
              <a:spcAft>
                <a:spcPts val="0"/>
              </a:spcAft>
              <a:buNone/>
            </a:pPr>
            <a:r>
              <a:rPr b="0" i="0" lang="en-US" sz="5000" u="none" cap="none" strike="noStrike">
                <a:solidFill>
                  <a:srgbClr val="FFFFFF"/>
                </a:solidFill>
                <a:latin typeface="Play"/>
                <a:ea typeface="Play"/>
                <a:cs typeface="Play"/>
                <a:sym typeface="Play"/>
              </a:rPr>
              <a:t>VENTAJAS Y DESVENTAJAS DE RAID</a:t>
            </a:r>
            <a:endParaRPr sz="5000"/>
          </a:p>
        </p:txBody>
      </p:sp>
      <p:sp>
        <p:nvSpPr>
          <p:cNvPr id="333" name="Google Shape;333;p14"/>
          <p:cNvSpPr txBox="1"/>
          <p:nvPr/>
        </p:nvSpPr>
        <p:spPr>
          <a:xfrm>
            <a:off x="10671362" y="3985895"/>
            <a:ext cx="6191400" cy="436562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000000"/>
                </a:solidFill>
                <a:latin typeface="Lexend Deca"/>
                <a:ea typeface="Lexend Deca"/>
                <a:cs typeface="Lexend Deca"/>
                <a:sym typeface="Lexend Deca"/>
              </a:rPr>
              <a:t>Ventajas:</a:t>
            </a:r>
            <a:endParaRPr/>
          </a:p>
          <a:p>
            <a:pPr indent="0" lvl="0" marL="0" marR="0" rtl="0" algn="just">
              <a:lnSpc>
                <a:spcPct val="140016"/>
              </a:lnSpc>
              <a:spcBef>
                <a:spcPts val="0"/>
              </a:spcBef>
              <a:spcAft>
                <a:spcPts val="0"/>
              </a:spcAft>
              <a:buNone/>
            </a:pPr>
            <a:r>
              <a:rPr b="0" i="0" lang="en-US" sz="2499" u="none" cap="none" strike="noStrike">
                <a:solidFill>
                  <a:srgbClr val="31356E"/>
                </a:solidFill>
                <a:latin typeface="Lexend Deca"/>
                <a:ea typeface="Lexend Deca"/>
                <a:cs typeface="Lexend Deca"/>
                <a:sym typeface="Lexend Deca"/>
              </a:rPr>
              <a:t>Mejora del rendimiento, mayor fiabilidad y disponibilidad de los datos, mejor escalabilidad y tolerancia a fallos.</a:t>
            </a:r>
            <a:endParaRPr/>
          </a:p>
          <a:p>
            <a:pPr indent="0" lvl="0" marL="0" marR="0" rtl="0" algn="just">
              <a:lnSpc>
                <a:spcPct val="140016"/>
              </a:lnSpc>
              <a:spcBef>
                <a:spcPts val="0"/>
              </a:spcBef>
              <a:spcAft>
                <a:spcPts val="0"/>
              </a:spcAft>
              <a:buNone/>
            </a:pPr>
            <a:r>
              <a:t/>
            </a:r>
            <a:endParaRPr b="0" i="0" sz="2499" u="none" cap="none" strike="noStrike">
              <a:solidFill>
                <a:srgbClr val="31356E"/>
              </a:solidFill>
              <a:latin typeface="Lexend Deca"/>
              <a:ea typeface="Lexend Deca"/>
              <a:cs typeface="Lexend Deca"/>
              <a:sym typeface="Lexend Deca"/>
            </a:endParaRPr>
          </a:p>
          <a:p>
            <a:pPr indent="0" lvl="0" marL="0" marR="0" rtl="0" algn="just">
              <a:lnSpc>
                <a:spcPct val="140016"/>
              </a:lnSpc>
              <a:spcBef>
                <a:spcPts val="0"/>
              </a:spcBef>
              <a:spcAft>
                <a:spcPts val="0"/>
              </a:spcAft>
              <a:buNone/>
            </a:pPr>
            <a:r>
              <a:rPr b="0" i="0" lang="en-US" sz="2499" u="none" cap="none" strike="noStrike">
                <a:solidFill>
                  <a:srgbClr val="000000"/>
                </a:solidFill>
                <a:latin typeface="Lexend Deca"/>
                <a:ea typeface="Lexend Deca"/>
                <a:cs typeface="Lexend Deca"/>
                <a:sym typeface="Lexend Deca"/>
              </a:rPr>
              <a:t>Desventajas:</a:t>
            </a:r>
            <a:endParaRPr/>
          </a:p>
          <a:p>
            <a:pPr indent="0" lvl="0" marL="0" marR="0" rtl="0" algn="just">
              <a:lnSpc>
                <a:spcPct val="140016"/>
              </a:lnSpc>
              <a:spcBef>
                <a:spcPts val="0"/>
              </a:spcBef>
              <a:spcAft>
                <a:spcPts val="0"/>
              </a:spcAft>
              <a:buNone/>
            </a:pPr>
            <a:r>
              <a:rPr b="0" i="0" lang="en-US" sz="2499" u="none" cap="none" strike="noStrike">
                <a:solidFill>
                  <a:srgbClr val="31356E"/>
                </a:solidFill>
                <a:latin typeface="Lexend Deca"/>
                <a:ea typeface="Lexend Deca"/>
                <a:cs typeface="Lexend Deca"/>
                <a:sym typeface="Lexend Deca"/>
              </a:rPr>
              <a:t>Complejidad de implementación, costo adicional de los discos, mayor consumo de energía y espacio físico requerido.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337" name="Shape 337"/>
        <p:cNvGrpSpPr/>
        <p:nvPr/>
      </p:nvGrpSpPr>
      <p:grpSpPr>
        <a:xfrm>
          <a:off x="0" y="0"/>
          <a:ext cx="0" cy="0"/>
          <a:chOff x="0" y="0"/>
          <a:chExt cx="0" cy="0"/>
        </a:xfrm>
      </p:grpSpPr>
      <p:grpSp>
        <p:nvGrpSpPr>
          <p:cNvPr id="338" name="Google Shape;338;p15"/>
          <p:cNvGrpSpPr/>
          <p:nvPr/>
        </p:nvGrpSpPr>
        <p:grpSpPr>
          <a:xfrm>
            <a:off x="-361272" y="-789541"/>
            <a:ext cx="19344569" cy="4437252"/>
            <a:chOff x="0" y="-38100"/>
            <a:chExt cx="4356256" cy="999237"/>
          </a:xfrm>
        </p:grpSpPr>
        <p:sp>
          <p:nvSpPr>
            <p:cNvPr id="339" name="Google Shape;339;p15"/>
            <p:cNvSpPr/>
            <p:nvPr/>
          </p:nvSpPr>
          <p:spPr>
            <a:xfrm>
              <a:off x="0" y="0"/>
              <a:ext cx="4356255" cy="961137"/>
            </a:xfrm>
            <a:custGeom>
              <a:rect b="b" l="l" r="r" t="t"/>
              <a:pathLst>
                <a:path extrusionOk="0" h="961137" w="4356255">
                  <a:moveTo>
                    <a:pt x="0" y="0"/>
                  </a:moveTo>
                  <a:lnTo>
                    <a:pt x="4356255" y="0"/>
                  </a:lnTo>
                  <a:lnTo>
                    <a:pt x="4356255" y="961137"/>
                  </a:lnTo>
                  <a:lnTo>
                    <a:pt x="0" y="961137"/>
                  </a:lnTo>
                  <a:close/>
                </a:path>
              </a:pathLst>
            </a:custGeom>
            <a:solidFill>
              <a:srgbClr val="31356E"/>
            </a:solidFill>
            <a:ln>
              <a:noFill/>
            </a:ln>
          </p:spPr>
        </p:sp>
        <p:sp>
          <p:nvSpPr>
            <p:cNvPr id="340" name="Google Shape;340;p15"/>
            <p:cNvSpPr txBox="1"/>
            <p:nvPr/>
          </p:nvSpPr>
          <p:spPr>
            <a:xfrm>
              <a:off x="0" y="-38100"/>
              <a:ext cx="4356256" cy="99923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1" name="Google Shape;341;p15"/>
          <p:cNvSpPr txBox="1"/>
          <p:nvPr/>
        </p:nvSpPr>
        <p:spPr>
          <a:xfrm>
            <a:off x="2409926" y="1181100"/>
            <a:ext cx="13333867" cy="990600"/>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7500" u="none" cap="none" strike="noStrike">
                <a:solidFill>
                  <a:srgbClr val="FFFFFF"/>
                </a:solidFill>
                <a:latin typeface="Play"/>
                <a:ea typeface="Play"/>
                <a:cs typeface="Play"/>
                <a:sym typeface="Play"/>
              </a:rPr>
              <a:t>RENDIMIENTO Y FIABILIDAD EN RAID</a:t>
            </a:r>
            <a:endParaRPr/>
          </a:p>
        </p:txBody>
      </p:sp>
      <p:grpSp>
        <p:nvGrpSpPr>
          <p:cNvPr id="342" name="Google Shape;342;p15"/>
          <p:cNvGrpSpPr/>
          <p:nvPr/>
        </p:nvGrpSpPr>
        <p:grpSpPr>
          <a:xfrm>
            <a:off x="12233710" y="4232710"/>
            <a:ext cx="5025590" cy="5025590"/>
            <a:chOff x="0" y="0"/>
            <a:chExt cx="812800" cy="812800"/>
          </a:xfrm>
        </p:grpSpPr>
        <p:sp>
          <p:nvSpPr>
            <p:cNvPr id="343" name="Google Shape;343;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5" name="Google Shape;345;p15"/>
          <p:cNvGrpSpPr/>
          <p:nvPr/>
        </p:nvGrpSpPr>
        <p:grpSpPr>
          <a:xfrm>
            <a:off x="7139017" y="5617827"/>
            <a:ext cx="4233972" cy="4233972"/>
            <a:chOff x="0" y="0"/>
            <a:chExt cx="812800" cy="812800"/>
          </a:xfrm>
        </p:grpSpPr>
        <p:sp>
          <p:nvSpPr>
            <p:cNvPr id="346" name="Google Shape;346;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CE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8" name="Google Shape;348;p15"/>
          <p:cNvSpPr txBox="1"/>
          <p:nvPr/>
        </p:nvSpPr>
        <p:spPr>
          <a:xfrm>
            <a:off x="7715618" y="6254966"/>
            <a:ext cx="3080770" cy="2959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31356E"/>
                </a:solidFill>
                <a:latin typeface="Lexend Deca"/>
                <a:ea typeface="Lexend Deca"/>
                <a:cs typeface="Lexend Deca"/>
                <a:sym typeface="Lexend Deca"/>
              </a:rPr>
              <a:t>Fiabilidad</a:t>
            </a:r>
            <a:endParaRPr/>
          </a:p>
        </p:txBody>
      </p:sp>
      <p:grpSp>
        <p:nvGrpSpPr>
          <p:cNvPr id="349" name="Google Shape;349;p15"/>
          <p:cNvGrpSpPr/>
          <p:nvPr/>
        </p:nvGrpSpPr>
        <p:grpSpPr>
          <a:xfrm>
            <a:off x="1028700" y="4043015"/>
            <a:ext cx="5025590" cy="5025590"/>
            <a:chOff x="0" y="0"/>
            <a:chExt cx="812800" cy="812800"/>
          </a:xfrm>
        </p:grpSpPr>
        <p:sp>
          <p:nvSpPr>
            <p:cNvPr id="350" name="Google Shape;350;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2" name="Google Shape;352;p15"/>
          <p:cNvSpPr txBox="1"/>
          <p:nvPr/>
        </p:nvSpPr>
        <p:spPr>
          <a:xfrm>
            <a:off x="1246895" y="5026007"/>
            <a:ext cx="4576323" cy="2959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FFFFFF"/>
                </a:solidFill>
                <a:latin typeface="Lexend Deca"/>
                <a:ea typeface="Lexend Deca"/>
                <a:cs typeface="Lexend Deca"/>
                <a:sym typeface="Lexend Deca"/>
              </a:rPr>
              <a:t>Rendimiento</a:t>
            </a:r>
            <a:endParaRPr/>
          </a:p>
        </p:txBody>
      </p:sp>
      <p:sp>
        <p:nvSpPr>
          <p:cNvPr id="353" name="Google Shape;353;p15"/>
          <p:cNvSpPr txBox="1"/>
          <p:nvPr/>
        </p:nvSpPr>
        <p:spPr>
          <a:xfrm>
            <a:off x="12457717" y="5545525"/>
            <a:ext cx="4577577" cy="2959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FFFFFF"/>
                </a:solidFill>
                <a:latin typeface="Lexend Deca"/>
                <a:ea typeface="Lexend Deca"/>
                <a:cs typeface="Lexend Deca"/>
                <a:sym typeface="Lexend Deca"/>
              </a:rPr>
              <a:t>Consideraciones</a:t>
            </a:r>
            <a:endParaRPr/>
          </a:p>
        </p:txBody>
      </p:sp>
      <p:sp>
        <p:nvSpPr>
          <p:cNvPr id="354" name="Google Shape;354;p15"/>
          <p:cNvSpPr txBox="1"/>
          <p:nvPr/>
        </p:nvSpPr>
        <p:spPr>
          <a:xfrm>
            <a:off x="1483672" y="5693480"/>
            <a:ext cx="4102771" cy="172466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FFFFFF"/>
                </a:solidFill>
                <a:latin typeface="Lexend Deca"/>
                <a:ea typeface="Lexend Deca"/>
                <a:cs typeface="Lexend Deca"/>
                <a:sym typeface="Lexend Deca"/>
              </a:rPr>
              <a:t>Los sistemas RAID pueden mejorar significativamente el rendimiento de lectura y escritura al distribuir los datos entre múltiples discos, reduciendo los cuellos de botella.</a:t>
            </a:r>
            <a:endParaRPr/>
          </a:p>
        </p:txBody>
      </p:sp>
      <p:sp>
        <p:nvSpPr>
          <p:cNvPr id="355" name="Google Shape;355;p15"/>
          <p:cNvSpPr txBox="1"/>
          <p:nvPr/>
        </p:nvSpPr>
        <p:spPr>
          <a:xfrm>
            <a:off x="7603278" y="6808847"/>
            <a:ext cx="3305451" cy="1800064"/>
          </a:xfrm>
          <a:prstGeom prst="rect">
            <a:avLst/>
          </a:prstGeom>
          <a:noFill/>
          <a:ln>
            <a:noFill/>
          </a:ln>
        </p:spPr>
        <p:txBody>
          <a:bodyPr anchorCtr="0" anchor="t" bIns="0" lIns="0" spcFirstLastPara="1" rIns="0" wrap="square" tIns="0">
            <a:spAutoFit/>
          </a:bodyPr>
          <a:lstStyle/>
          <a:p>
            <a:pPr indent="0" lvl="0" marL="0" marR="0" rtl="0" algn="ctr">
              <a:lnSpc>
                <a:spcPct val="116030"/>
              </a:lnSpc>
              <a:spcBef>
                <a:spcPts val="0"/>
              </a:spcBef>
              <a:spcAft>
                <a:spcPts val="0"/>
              </a:spcAft>
              <a:buNone/>
            </a:pPr>
            <a:r>
              <a:rPr b="0" i="0" lang="en-US" sz="1809" u="none" cap="none" strike="noStrike">
                <a:solidFill>
                  <a:srgbClr val="31356E"/>
                </a:solidFill>
                <a:latin typeface="Lexend Deca"/>
                <a:ea typeface="Lexend Deca"/>
                <a:cs typeface="Lexend Deca"/>
                <a:sym typeface="Lexend Deca"/>
              </a:rPr>
              <a:t>La redundancia inherente de los niveles RAID, como la duplicación de datos (mirroring) o la paridad, aumenta la tolerancia a fallos y garantiza la disponibilidad de los datos.</a:t>
            </a:r>
            <a:endParaRPr/>
          </a:p>
        </p:txBody>
      </p:sp>
      <p:sp>
        <p:nvSpPr>
          <p:cNvPr id="356" name="Google Shape;356;p15"/>
          <p:cNvSpPr txBox="1"/>
          <p:nvPr/>
        </p:nvSpPr>
        <p:spPr>
          <a:xfrm>
            <a:off x="12632945" y="6380132"/>
            <a:ext cx="4227119" cy="1319223"/>
          </a:xfrm>
          <a:prstGeom prst="rect">
            <a:avLst/>
          </a:prstGeom>
          <a:noFill/>
          <a:ln>
            <a:noFill/>
          </a:ln>
        </p:spPr>
        <p:txBody>
          <a:bodyPr anchorCtr="0" anchor="t" bIns="0" lIns="0" spcFirstLastPara="1" rIns="0" wrap="square" tIns="0">
            <a:spAutoFit/>
          </a:bodyPr>
          <a:lstStyle/>
          <a:p>
            <a:pPr indent="0" lvl="0" marL="0" marR="0" rtl="0" algn="ctr">
              <a:lnSpc>
                <a:spcPct val="116097"/>
              </a:lnSpc>
              <a:spcBef>
                <a:spcPts val="0"/>
              </a:spcBef>
              <a:spcAft>
                <a:spcPts val="0"/>
              </a:spcAft>
              <a:buNone/>
            </a:pPr>
            <a:r>
              <a:rPr b="0" i="0" lang="en-US" sz="1846" u="none" cap="none" strike="noStrike">
                <a:solidFill>
                  <a:srgbClr val="FFFFFF"/>
                </a:solidFill>
                <a:latin typeface="Lexend Deca"/>
                <a:ea typeface="Lexend Deca"/>
                <a:cs typeface="Lexend Deca"/>
                <a:sym typeface="Lexend Deca"/>
              </a:rPr>
              <a:t>El nivel de RAID elegido, la calidad de los discos y la implementación adecuada son factores clave para optimizar el rendimiento y la fiabilidad del sistema.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360" name="Shape 360"/>
        <p:cNvGrpSpPr/>
        <p:nvPr/>
      </p:nvGrpSpPr>
      <p:grpSpPr>
        <a:xfrm>
          <a:off x="0" y="0"/>
          <a:ext cx="0" cy="0"/>
          <a:chOff x="0" y="0"/>
          <a:chExt cx="0" cy="0"/>
        </a:xfrm>
      </p:grpSpPr>
      <p:grpSp>
        <p:nvGrpSpPr>
          <p:cNvPr id="361" name="Google Shape;361;p16"/>
          <p:cNvGrpSpPr/>
          <p:nvPr/>
        </p:nvGrpSpPr>
        <p:grpSpPr>
          <a:xfrm>
            <a:off x="9144000" y="-1094923"/>
            <a:ext cx="9246124" cy="11381923"/>
            <a:chOff x="0" y="-38100"/>
            <a:chExt cx="2082160" cy="2563126"/>
          </a:xfrm>
        </p:grpSpPr>
        <p:sp>
          <p:nvSpPr>
            <p:cNvPr id="362" name="Google Shape;362;p16"/>
            <p:cNvSpPr/>
            <p:nvPr/>
          </p:nvSpPr>
          <p:spPr>
            <a:xfrm>
              <a:off x="0" y="0"/>
              <a:ext cx="2082160" cy="2525026"/>
            </a:xfrm>
            <a:custGeom>
              <a:rect b="b" l="l" r="r" t="t"/>
              <a:pathLst>
                <a:path extrusionOk="0" h="2525026" w="2082160">
                  <a:moveTo>
                    <a:pt x="0" y="0"/>
                  </a:moveTo>
                  <a:lnTo>
                    <a:pt x="2082160" y="0"/>
                  </a:lnTo>
                  <a:lnTo>
                    <a:pt x="2082160" y="2525026"/>
                  </a:lnTo>
                  <a:lnTo>
                    <a:pt x="0" y="2525026"/>
                  </a:lnTo>
                  <a:close/>
                </a:path>
              </a:pathLst>
            </a:custGeom>
            <a:solidFill>
              <a:srgbClr val="31356E"/>
            </a:solidFill>
            <a:ln>
              <a:noFill/>
            </a:ln>
          </p:spPr>
        </p:sp>
        <p:sp>
          <p:nvSpPr>
            <p:cNvPr id="363" name="Google Shape;363;p16"/>
            <p:cNvSpPr txBox="1"/>
            <p:nvPr/>
          </p:nvSpPr>
          <p:spPr>
            <a:xfrm>
              <a:off x="0" y="-38100"/>
              <a:ext cx="2082160"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4" name="Google Shape;364;p16"/>
          <p:cNvGrpSpPr/>
          <p:nvPr/>
        </p:nvGrpSpPr>
        <p:grpSpPr>
          <a:xfrm>
            <a:off x="10331271" y="2521763"/>
            <a:ext cx="6871582" cy="6289296"/>
            <a:chOff x="0" y="-38100"/>
            <a:chExt cx="1547430" cy="1416304"/>
          </a:xfrm>
        </p:grpSpPr>
        <p:sp>
          <p:nvSpPr>
            <p:cNvPr id="365" name="Google Shape;365;p16"/>
            <p:cNvSpPr/>
            <p:nvPr/>
          </p:nvSpPr>
          <p:spPr>
            <a:xfrm>
              <a:off x="0" y="0"/>
              <a:ext cx="1547430" cy="1378204"/>
            </a:xfrm>
            <a:custGeom>
              <a:rect b="b" l="l" r="r" t="t"/>
              <a:pathLst>
                <a:path extrusionOk="0" h="1378204" w="1547430">
                  <a:moveTo>
                    <a:pt x="57460" y="0"/>
                  </a:moveTo>
                  <a:lnTo>
                    <a:pt x="1489971" y="0"/>
                  </a:lnTo>
                  <a:cubicBezTo>
                    <a:pt x="1505210" y="0"/>
                    <a:pt x="1519825" y="6054"/>
                    <a:pt x="1530601" y="16830"/>
                  </a:cubicBezTo>
                  <a:cubicBezTo>
                    <a:pt x="1541376" y="27605"/>
                    <a:pt x="1547430" y="42220"/>
                    <a:pt x="1547430" y="57460"/>
                  </a:cubicBezTo>
                  <a:lnTo>
                    <a:pt x="1547430" y="1320744"/>
                  </a:lnTo>
                  <a:cubicBezTo>
                    <a:pt x="1547430" y="1352478"/>
                    <a:pt x="1521705" y="1378204"/>
                    <a:pt x="1489971" y="1378204"/>
                  </a:cubicBezTo>
                  <a:lnTo>
                    <a:pt x="57460" y="1378204"/>
                  </a:lnTo>
                  <a:cubicBezTo>
                    <a:pt x="42220" y="1378204"/>
                    <a:pt x="27605" y="1372150"/>
                    <a:pt x="16830" y="1361374"/>
                  </a:cubicBezTo>
                  <a:cubicBezTo>
                    <a:pt x="6054" y="1350598"/>
                    <a:pt x="0" y="1335983"/>
                    <a:pt x="0" y="1320744"/>
                  </a:cubicBezTo>
                  <a:lnTo>
                    <a:pt x="0" y="57460"/>
                  </a:lnTo>
                  <a:cubicBezTo>
                    <a:pt x="0" y="42220"/>
                    <a:pt x="6054" y="27605"/>
                    <a:pt x="16830" y="16830"/>
                  </a:cubicBezTo>
                  <a:cubicBezTo>
                    <a:pt x="27605" y="6054"/>
                    <a:pt x="42220" y="0"/>
                    <a:pt x="57460"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6"/>
            <p:cNvSpPr txBox="1"/>
            <p:nvPr/>
          </p:nvSpPr>
          <p:spPr>
            <a:xfrm>
              <a:off x="0" y="-38100"/>
              <a:ext cx="1547430" cy="141630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7" name="Google Shape;367;p16"/>
          <p:cNvSpPr/>
          <p:nvPr/>
        </p:nvSpPr>
        <p:spPr>
          <a:xfrm>
            <a:off x="257175" y="2977230"/>
            <a:ext cx="8686795" cy="4332539"/>
          </a:xfrm>
          <a:custGeom>
            <a:rect b="b" l="l" r="r" t="t"/>
            <a:pathLst>
              <a:path extrusionOk="0" h="4332539" w="8686795">
                <a:moveTo>
                  <a:pt x="0" y="0"/>
                </a:moveTo>
                <a:lnTo>
                  <a:pt x="8686795" y="0"/>
                </a:lnTo>
                <a:lnTo>
                  <a:pt x="8686795" y="4332540"/>
                </a:lnTo>
                <a:lnTo>
                  <a:pt x="0" y="4332540"/>
                </a:lnTo>
                <a:lnTo>
                  <a:pt x="0" y="0"/>
                </a:lnTo>
                <a:close/>
              </a:path>
            </a:pathLst>
          </a:custGeom>
          <a:blipFill rotWithShape="1">
            <a:blip r:embed="rId3">
              <a:alphaModFix/>
            </a:blip>
            <a:stretch>
              <a:fillRect b="0" l="0" r="0" t="0"/>
            </a:stretch>
          </a:blipFill>
          <a:ln>
            <a:noFill/>
          </a:ln>
        </p:spPr>
      </p:sp>
      <p:sp>
        <p:nvSpPr>
          <p:cNvPr id="368" name="Google Shape;368;p16"/>
          <p:cNvSpPr txBox="1"/>
          <p:nvPr/>
        </p:nvSpPr>
        <p:spPr>
          <a:xfrm>
            <a:off x="10447402" y="1341841"/>
            <a:ext cx="6745800" cy="1034400"/>
          </a:xfrm>
          <a:prstGeom prst="rect">
            <a:avLst/>
          </a:prstGeom>
          <a:noFill/>
          <a:ln>
            <a:noFill/>
          </a:ln>
        </p:spPr>
        <p:txBody>
          <a:bodyPr anchorCtr="0" anchor="t" bIns="0" lIns="0" spcFirstLastPara="1" rIns="0" wrap="square" tIns="0">
            <a:spAutoFit/>
          </a:bodyPr>
          <a:lstStyle/>
          <a:p>
            <a:pPr indent="0" lvl="0" marL="0" marR="0" rtl="0" algn="ctr">
              <a:lnSpc>
                <a:spcPct val="95999"/>
              </a:lnSpc>
              <a:spcBef>
                <a:spcPts val="0"/>
              </a:spcBef>
              <a:spcAft>
                <a:spcPts val="0"/>
              </a:spcAft>
              <a:buNone/>
            </a:pPr>
            <a:r>
              <a:rPr b="0" i="0" lang="en-US" sz="3500" u="none" cap="none" strike="noStrike">
                <a:solidFill>
                  <a:srgbClr val="FFFFFF"/>
                </a:solidFill>
                <a:latin typeface="Play"/>
                <a:ea typeface="Play"/>
                <a:cs typeface="Play"/>
                <a:sym typeface="Play"/>
              </a:rPr>
              <a:t>IMPLEMENTACIÓN DE RAID POR SOFTWARE VS HARDWARE</a:t>
            </a:r>
            <a:endParaRPr sz="3500"/>
          </a:p>
        </p:txBody>
      </p:sp>
      <p:sp>
        <p:nvSpPr>
          <p:cNvPr id="369" name="Google Shape;369;p16"/>
          <p:cNvSpPr txBox="1"/>
          <p:nvPr/>
        </p:nvSpPr>
        <p:spPr>
          <a:xfrm>
            <a:off x="10671362" y="2944144"/>
            <a:ext cx="6191400" cy="55899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300" u="none" cap="none" strike="noStrike">
                <a:solidFill>
                  <a:srgbClr val="000000"/>
                </a:solidFill>
                <a:latin typeface="Lexend Deca"/>
                <a:ea typeface="Lexend Deca"/>
                <a:cs typeface="Lexend Deca"/>
                <a:sym typeface="Lexend Deca"/>
              </a:rPr>
              <a:t>Software:</a:t>
            </a:r>
            <a:endParaRPr/>
          </a:p>
          <a:p>
            <a:pPr indent="0" lvl="0" marL="0" marR="0" rtl="0" algn="just">
              <a:lnSpc>
                <a:spcPct val="140000"/>
              </a:lnSpc>
              <a:spcBef>
                <a:spcPts val="0"/>
              </a:spcBef>
              <a:spcAft>
                <a:spcPts val="0"/>
              </a:spcAft>
              <a:buNone/>
            </a:pPr>
            <a:r>
              <a:rPr b="0" i="0" lang="en-US" sz="2300" u="none" cap="none" strike="noStrike">
                <a:solidFill>
                  <a:srgbClr val="31356E"/>
                </a:solidFill>
                <a:latin typeface="Lexend Deca"/>
                <a:ea typeface="Lexend Deca"/>
                <a:cs typeface="Lexend Deca"/>
                <a:sym typeface="Lexend Deca"/>
              </a:rPr>
              <a:t>La implementación de RAID por software utiliza el procesador del sistema para gestionar la redundancia y la distribución de datos, lo que es más económico pero puede tener un impacto en el rendimiento.</a:t>
            </a:r>
            <a:endParaRPr/>
          </a:p>
          <a:p>
            <a:pPr indent="0" lvl="0" marL="0" marR="0" rtl="0" algn="just">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a:p>
            <a:pPr indent="0" lvl="0" marL="0" marR="0" rtl="0" algn="just">
              <a:lnSpc>
                <a:spcPct val="140000"/>
              </a:lnSpc>
              <a:spcBef>
                <a:spcPts val="0"/>
              </a:spcBef>
              <a:spcAft>
                <a:spcPts val="0"/>
              </a:spcAft>
              <a:buNone/>
            </a:pPr>
            <a:r>
              <a:rPr b="0" i="0" lang="en-US" sz="2300" u="none" cap="none" strike="noStrike">
                <a:solidFill>
                  <a:srgbClr val="000000"/>
                </a:solidFill>
                <a:latin typeface="Lexend Deca"/>
                <a:ea typeface="Lexend Deca"/>
                <a:cs typeface="Lexend Deca"/>
                <a:sym typeface="Lexend Deca"/>
              </a:rPr>
              <a:t>Hardware:</a:t>
            </a:r>
            <a:endParaRPr/>
          </a:p>
          <a:p>
            <a:pPr indent="0" lvl="0" marL="0" marR="0" rtl="0" algn="just">
              <a:lnSpc>
                <a:spcPct val="140000"/>
              </a:lnSpc>
              <a:spcBef>
                <a:spcPts val="0"/>
              </a:spcBef>
              <a:spcAft>
                <a:spcPts val="0"/>
              </a:spcAft>
              <a:buNone/>
            </a:pPr>
            <a:r>
              <a:rPr b="0" i="0" lang="en-US" sz="2300" u="none" cap="none" strike="noStrike">
                <a:solidFill>
                  <a:srgbClr val="31356E"/>
                </a:solidFill>
                <a:latin typeface="Lexend Deca"/>
                <a:ea typeface="Lexend Deca"/>
                <a:cs typeface="Lexend Deca"/>
                <a:sym typeface="Lexend Deca"/>
              </a:rPr>
              <a:t>Los controladores RAID dedicados ofrecen un mejor rendimiento y fiabilidad, ya que cuentan con procesadores y memoria propios para gestionar las operaciones RAID, pero conllevan un mayor costo de implementación.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373" name="Shape 373"/>
        <p:cNvGrpSpPr/>
        <p:nvPr/>
      </p:nvGrpSpPr>
      <p:grpSpPr>
        <a:xfrm>
          <a:off x="0" y="0"/>
          <a:ext cx="0" cy="0"/>
          <a:chOff x="0" y="0"/>
          <a:chExt cx="0" cy="0"/>
        </a:xfrm>
      </p:grpSpPr>
      <p:grpSp>
        <p:nvGrpSpPr>
          <p:cNvPr id="374" name="Google Shape;374;p17"/>
          <p:cNvGrpSpPr/>
          <p:nvPr/>
        </p:nvGrpSpPr>
        <p:grpSpPr>
          <a:xfrm>
            <a:off x="-361272" y="-789541"/>
            <a:ext cx="19344569" cy="4437252"/>
            <a:chOff x="0" y="-38100"/>
            <a:chExt cx="4356256" cy="999237"/>
          </a:xfrm>
        </p:grpSpPr>
        <p:sp>
          <p:nvSpPr>
            <p:cNvPr id="375" name="Google Shape;375;p17"/>
            <p:cNvSpPr/>
            <p:nvPr/>
          </p:nvSpPr>
          <p:spPr>
            <a:xfrm>
              <a:off x="0" y="0"/>
              <a:ext cx="4356255" cy="961137"/>
            </a:xfrm>
            <a:custGeom>
              <a:rect b="b" l="l" r="r" t="t"/>
              <a:pathLst>
                <a:path extrusionOk="0" h="961137" w="4356255">
                  <a:moveTo>
                    <a:pt x="0" y="0"/>
                  </a:moveTo>
                  <a:lnTo>
                    <a:pt x="4356255" y="0"/>
                  </a:lnTo>
                  <a:lnTo>
                    <a:pt x="4356255" y="961137"/>
                  </a:lnTo>
                  <a:lnTo>
                    <a:pt x="0" y="961137"/>
                  </a:lnTo>
                  <a:close/>
                </a:path>
              </a:pathLst>
            </a:custGeom>
            <a:solidFill>
              <a:srgbClr val="31356E"/>
            </a:solidFill>
            <a:ln>
              <a:noFill/>
            </a:ln>
          </p:spPr>
        </p:sp>
        <p:sp>
          <p:nvSpPr>
            <p:cNvPr id="376" name="Google Shape;376;p17"/>
            <p:cNvSpPr txBox="1"/>
            <p:nvPr/>
          </p:nvSpPr>
          <p:spPr>
            <a:xfrm>
              <a:off x="0" y="-38100"/>
              <a:ext cx="4356256" cy="99923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7" name="Google Shape;377;p17"/>
          <p:cNvSpPr txBox="1"/>
          <p:nvPr/>
        </p:nvSpPr>
        <p:spPr>
          <a:xfrm>
            <a:off x="2409926" y="1181100"/>
            <a:ext cx="13333800" cy="1773300"/>
          </a:xfrm>
          <a:prstGeom prst="rect">
            <a:avLst/>
          </a:prstGeom>
          <a:noFill/>
          <a:ln>
            <a:noFill/>
          </a:ln>
        </p:spPr>
        <p:txBody>
          <a:bodyPr anchorCtr="0" anchor="t" bIns="0" lIns="0" spcFirstLastPara="1" rIns="0" wrap="square" tIns="0">
            <a:spAutoFit/>
          </a:bodyPr>
          <a:lstStyle/>
          <a:p>
            <a:pPr indent="0" lvl="0" marL="0" marR="0" rtl="0" algn="ctr">
              <a:lnSpc>
                <a:spcPct val="96000"/>
              </a:lnSpc>
              <a:spcBef>
                <a:spcPts val="0"/>
              </a:spcBef>
              <a:spcAft>
                <a:spcPts val="0"/>
              </a:spcAft>
              <a:buNone/>
            </a:pPr>
            <a:r>
              <a:rPr b="0" i="0" lang="en-US" sz="6000" u="none" cap="none" strike="noStrike">
                <a:solidFill>
                  <a:srgbClr val="FFFFFF"/>
                </a:solidFill>
                <a:latin typeface="Play"/>
                <a:ea typeface="Play"/>
                <a:cs typeface="Play"/>
                <a:sym typeface="Play"/>
              </a:rPr>
              <a:t>CONSIDERACIONES DE RENDIMIENTO </a:t>
            </a:r>
            <a:endParaRPr sz="6000"/>
          </a:p>
          <a:p>
            <a:pPr indent="0" lvl="0" marL="0" marR="0" rtl="0" algn="ctr">
              <a:lnSpc>
                <a:spcPct val="96000"/>
              </a:lnSpc>
              <a:spcBef>
                <a:spcPts val="0"/>
              </a:spcBef>
              <a:spcAft>
                <a:spcPts val="0"/>
              </a:spcAft>
              <a:buNone/>
            </a:pPr>
            <a:r>
              <a:rPr b="0" i="0" lang="en-US" sz="6000" u="none" cap="none" strike="noStrike">
                <a:solidFill>
                  <a:srgbClr val="FFFFFF"/>
                </a:solidFill>
                <a:latin typeface="Play"/>
                <a:ea typeface="Play"/>
                <a:cs typeface="Play"/>
                <a:sym typeface="Play"/>
              </a:rPr>
              <a:t>Y FIABILIDAD</a:t>
            </a:r>
            <a:endParaRPr sz="6000"/>
          </a:p>
        </p:txBody>
      </p:sp>
      <p:grpSp>
        <p:nvGrpSpPr>
          <p:cNvPr id="378" name="Google Shape;378;p17"/>
          <p:cNvGrpSpPr/>
          <p:nvPr/>
        </p:nvGrpSpPr>
        <p:grpSpPr>
          <a:xfrm>
            <a:off x="12233710" y="4232710"/>
            <a:ext cx="5025590" cy="5025590"/>
            <a:chOff x="0" y="0"/>
            <a:chExt cx="812800" cy="812800"/>
          </a:xfrm>
        </p:grpSpPr>
        <p:sp>
          <p:nvSpPr>
            <p:cNvPr id="379" name="Google Shape;379;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1" name="Google Shape;381;p17"/>
          <p:cNvGrpSpPr/>
          <p:nvPr/>
        </p:nvGrpSpPr>
        <p:grpSpPr>
          <a:xfrm>
            <a:off x="7139017" y="5617827"/>
            <a:ext cx="4233972" cy="4233972"/>
            <a:chOff x="0" y="0"/>
            <a:chExt cx="812800" cy="812800"/>
          </a:xfrm>
        </p:grpSpPr>
        <p:sp>
          <p:nvSpPr>
            <p:cNvPr id="382" name="Google Shape;382;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CE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4" name="Google Shape;384;p17"/>
          <p:cNvSpPr txBox="1"/>
          <p:nvPr/>
        </p:nvSpPr>
        <p:spPr>
          <a:xfrm>
            <a:off x="7715618" y="6370607"/>
            <a:ext cx="3080770" cy="2959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31356E"/>
                </a:solidFill>
                <a:latin typeface="Lexend Deca"/>
                <a:ea typeface="Lexend Deca"/>
                <a:cs typeface="Lexend Deca"/>
                <a:sym typeface="Lexend Deca"/>
              </a:rPr>
              <a:t>Calidad de los Discos</a:t>
            </a:r>
            <a:endParaRPr/>
          </a:p>
        </p:txBody>
      </p:sp>
      <p:grpSp>
        <p:nvGrpSpPr>
          <p:cNvPr id="385" name="Google Shape;385;p17"/>
          <p:cNvGrpSpPr/>
          <p:nvPr/>
        </p:nvGrpSpPr>
        <p:grpSpPr>
          <a:xfrm>
            <a:off x="1028700" y="4043015"/>
            <a:ext cx="5025590" cy="5025590"/>
            <a:chOff x="0" y="0"/>
            <a:chExt cx="812800" cy="812800"/>
          </a:xfrm>
        </p:grpSpPr>
        <p:sp>
          <p:nvSpPr>
            <p:cNvPr id="386" name="Google Shape;386;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8B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8" name="Google Shape;388;p17"/>
          <p:cNvSpPr txBox="1"/>
          <p:nvPr/>
        </p:nvSpPr>
        <p:spPr>
          <a:xfrm>
            <a:off x="1246895" y="5249615"/>
            <a:ext cx="4576323" cy="2959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FFFFFF"/>
                </a:solidFill>
                <a:latin typeface="Lexend Deca"/>
                <a:ea typeface="Lexend Deca"/>
                <a:cs typeface="Lexend Deca"/>
                <a:sym typeface="Lexend Deca"/>
              </a:rPr>
              <a:t>Selección de Nivel RAID</a:t>
            </a:r>
            <a:endParaRPr/>
          </a:p>
        </p:txBody>
      </p:sp>
      <p:sp>
        <p:nvSpPr>
          <p:cNvPr id="389" name="Google Shape;389;p17"/>
          <p:cNvSpPr txBox="1"/>
          <p:nvPr/>
        </p:nvSpPr>
        <p:spPr>
          <a:xfrm>
            <a:off x="12457717" y="5545525"/>
            <a:ext cx="4577577" cy="2959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FFFFFF"/>
                </a:solidFill>
                <a:latin typeface="Lexend Deca"/>
                <a:ea typeface="Lexend Deca"/>
                <a:cs typeface="Lexend Deca"/>
                <a:sym typeface="Lexend Deca"/>
              </a:rPr>
              <a:t>Implementación óptima</a:t>
            </a:r>
            <a:endParaRPr/>
          </a:p>
        </p:txBody>
      </p:sp>
      <p:sp>
        <p:nvSpPr>
          <p:cNvPr id="390" name="Google Shape;390;p17"/>
          <p:cNvSpPr txBox="1"/>
          <p:nvPr/>
        </p:nvSpPr>
        <p:spPr>
          <a:xfrm>
            <a:off x="1483672" y="6026050"/>
            <a:ext cx="4102771" cy="143891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2000" u="none" cap="none" strike="noStrike">
                <a:solidFill>
                  <a:srgbClr val="FFFFFF"/>
                </a:solidFill>
                <a:latin typeface="Lexend Deca"/>
                <a:ea typeface="Lexend Deca"/>
                <a:cs typeface="Lexend Deca"/>
                <a:sym typeface="Lexend Deca"/>
              </a:rPr>
              <a:t>Elegir el nivel RAID adecuado es crucial para equilibrar las necesidades de rendimiento, capacidad y fiabilidad de la aplicación.</a:t>
            </a:r>
            <a:endParaRPr/>
          </a:p>
        </p:txBody>
      </p:sp>
      <p:sp>
        <p:nvSpPr>
          <p:cNvPr id="391" name="Google Shape;391;p17"/>
          <p:cNvSpPr txBox="1"/>
          <p:nvPr/>
        </p:nvSpPr>
        <p:spPr>
          <a:xfrm>
            <a:off x="7658287" y="7054030"/>
            <a:ext cx="3305451" cy="1282944"/>
          </a:xfrm>
          <a:prstGeom prst="rect">
            <a:avLst/>
          </a:prstGeom>
          <a:noFill/>
          <a:ln>
            <a:noFill/>
          </a:ln>
        </p:spPr>
        <p:txBody>
          <a:bodyPr anchorCtr="0" anchor="t" bIns="0" lIns="0" spcFirstLastPara="1" rIns="0" wrap="square" tIns="0">
            <a:spAutoFit/>
          </a:bodyPr>
          <a:lstStyle/>
          <a:p>
            <a:pPr indent="0" lvl="0" marL="0" marR="0" rtl="0" algn="ctr">
              <a:lnSpc>
                <a:spcPct val="116030"/>
              </a:lnSpc>
              <a:spcBef>
                <a:spcPts val="0"/>
              </a:spcBef>
              <a:spcAft>
                <a:spcPts val="0"/>
              </a:spcAft>
              <a:buNone/>
            </a:pPr>
            <a:r>
              <a:rPr b="0" i="0" lang="en-US" sz="1809" u="none" cap="none" strike="noStrike">
                <a:solidFill>
                  <a:srgbClr val="31356E"/>
                </a:solidFill>
                <a:latin typeface="Lexend Deca"/>
                <a:ea typeface="Lexend Deca"/>
                <a:cs typeface="Lexend Deca"/>
                <a:sym typeface="Lexend Deca"/>
              </a:rPr>
              <a:t>Utilizar discos de alta calidad y fiabilidad es fundamental para garantizar el correcto funcionamiento del sistema RAID.</a:t>
            </a:r>
            <a:endParaRPr/>
          </a:p>
        </p:txBody>
      </p:sp>
      <p:sp>
        <p:nvSpPr>
          <p:cNvPr id="392" name="Google Shape;392;p17"/>
          <p:cNvSpPr txBox="1"/>
          <p:nvPr/>
        </p:nvSpPr>
        <p:spPr>
          <a:xfrm>
            <a:off x="12632945" y="6366755"/>
            <a:ext cx="4227119" cy="1319223"/>
          </a:xfrm>
          <a:prstGeom prst="rect">
            <a:avLst/>
          </a:prstGeom>
          <a:noFill/>
          <a:ln>
            <a:noFill/>
          </a:ln>
        </p:spPr>
        <p:txBody>
          <a:bodyPr anchorCtr="0" anchor="t" bIns="0" lIns="0" spcFirstLastPara="1" rIns="0" wrap="square" tIns="0">
            <a:spAutoFit/>
          </a:bodyPr>
          <a:lstStyle/>
          <a:p>
            <a:pPr indent="0" lvl="0" marL="0" marR="0" rtl="0" algn="ctr">
              <a:lnSpc>
                <a:spcPct val="116097"/>
              </a:lnSpc>
              <a:spcBef>
                <a:spcPts val="0"/>
              </a:spcBef>
              <a:spcAft>
                <a:spcPts val="0"/>
              </a:spcAft>
              <a:buNone/>
            </a:pPr>
            <a:r>
              <a:rPr b="0" i="0" lang="en-US" sz="1846" u="none" cap="none" strike="noStrike">
                <a:solidFill>
                  <a:srgbClr val="FFFFFF"/>
                </a:solidFill>
                <a:latin typeface="Lexend Deca"/>
                <a:ea typeface="Lexend Deca"/>
                <a:cs typeface="Lexend Deca"/>
                <a:sym typeface="Lexend Deca"/>
              </a:rPr>
              <a:t>Una implementación cuidadosa, que incluya un diseño adecuado, configuración y monitorización, es esencial para maximizar el rendimiento y fiabilidad del RAID.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396" name="Shape 396"/>
        <p:cNvGrpSpPr/>
        <p:nvPr/>
      </p:nvGrpSpPr>
      <p:grpSpPr>
        <a:xfrm>
          <a:off x="0" y="0"/>
          <a:ext cx="0" cy="0"/>
          <a:chOff x="0" y="0"/>
          <a:chExt cx="0" cy="0"/>
        </a:xfrm>
      </p:grpSpPr>
      <p:grpSp>
        <p:nvGrpSpPr>
          <p:cNvPr id="397" name="Google Shape;397;p18"/>
          <p:cNvGrpSpPr/>
          <p:nvPr/>
        </p:nvGrpSpPr>
        <p:grpSpPr>
          <a:xfrm>
            <a:off x="-361272" y="-789541"/>
            <a:ext cx="11374962" cy="11381923"/>
            <a:chOff x="0" y="-38100"/>
            <a:chExt cx="2561558" cy="2563126"/>
          </a:xfrm>
        </p:grpSpPr>
        <p:sp>
          <p:nvSpPr>
            <p:cNvPr id="398" name="Google Shape;398;p18"/>
            <p:cNvSpPr/>
            <p:nvPr/>
          </p:nvSpPr>
          <p:spPr>
            <a:xfrm>
              <a:off x="0" y="0"/>
              <a:ext cx="2561558" cy="2525026"/>
            </a:xfrm>
            <a:custGeom>
              <a:rect b="b" l="l" r="r" t="t"/>
              <a:pathLst>
                <a:path extrusionOk="0" h="2525026" w="2561558">
                  <a:moveTo>
                    <a:pt x="0" y="0"/>
                  </a:moveTo>
                  <a:lnTo>
                    <a:pt x="2561558" y="0"/>
                  </a:lnTo>
                  <a:lnTo>
                    <a:pt x="2561558" y="2525026"/>
                  </a:lnTo>
                  <a:lnTo>
                    <a:pt x="0" y="2525026"/>
                  </a:lnTo>
                  <a:close/>
                </a:path>
              </a:pathLst>
            </a:custGeom>
            <a:solidFill>
              <a:srgbClr val="31356E"/>
            </a:solidFill>
            <a:ln>
              <a:noFill/>
            </a:ln>
          </p:spPr>
        </p:sp>
        <p:sp>
          <p:nvSpPr>
            <p:cNvPr id="399" name="Google Shape;399;p18"/>
            <p:cNvSpPr txBox="1"/>
            <p:nvPr/>
          </p:nvSpPr>
          <p:spPr>
            <a:xfrm>
              <a:off x="0" y="-38100"/>
              <a:ext cx="2561558"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0" name="Google Shape;400;p18"/>
          <p:cNvGrpSpPr/>
          <p:nvPr/>
        </p:nvGrpSpPr>
        <p:grpSpPr>
          <a:xfrm>
            <a:off x="616744" y="2731174"/>
            <a:ext cx="9857670" cy="6863692"/>
            <a:chOff x="0" y="-38100"/>
            <a:chExt cx="2219875" cy="1545653"/>
          </a:xfrm>
        </p:grpSpPr>
        <p:sp>
          <p:nvSpPr>
            <p:cNvPr id="401" name="Google Shape;401;p18"/>
            <p:cNvSpPr/>
            <p:nvPr/>
          </p:nvSpPr>
          <p:spPr>
            <a:xfrm>
              <a:off x="0" y="0"/>
              <a:ext cx="2219875" cy="1507553"/>
            </a:xfrm>
            <a:custGeom>
              <a:rect b="b" l="l" r="r" t="t"/>
              <a:pathLst>
                <a:path extrusionOk="0" h="1507553" w="2219875">
                  <a:moveTo>
                    <a:pt x="40054" y="0"/>
                  </a:moveTo>
                  <a:lnTo>
                    <a:pt x="2179821" y="0"/>
                  </a:lnTo>
                  <a:cubicBezTo>
                    <a:pt x="2201943" y="0"/>
                    <a:pt x="2219875" y="17933"/>
                    <a:pt x="2219875" y="40054"/>
                  </a:cubicBezTo>
                  <a:lnTo>
                    <a:pt x="2219875" y="1467500"/>
                  </a:lnTo>
                  <a:cubicBezTo>
                    <a:pt x="2219875" y="1489621"/>
                    <a:pt x="2201943" y="1507553"/>
                    <a:pt x="2179821" y="1507553"/>
                  </a:cubicBezTo>
                  <a:lnTo>
                    <a:pt x="40054" y="1507553"/>
                  </a:lnTo>
                  <a:cubicBezTo>
                    <a:pt x="29431" y="1507553"/>
                    <a:pt x="19243" y="1503334"/>
                    <a:pt x="11732" y="1495822"/>
                  </a:cubicBezTo>
                  <a:cubicBezTo>
                    <a:pt x="4220" y="1488310"/>
                    <a:pt x="0" y="1478122"/>
                    <a:pt x="0" y="1467500"/>
                  </a:cubicBezTo>
                  <a:lnTo>
                    <a:pt x="0" y="40054"/>
                  </a:lnTo>
                  <a:cubicBezTo>
                    <a:pt x="0" y="17933"/>
                    <a:pt x="17933" y="0"/>
                    <a:pt x="40054"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8"/>
            <p:cNvSpPr txBox="1"/>
            <p:nvPr/>
          </p:nvSpPr>
          <p:spPr>
            <a:xfrm>
              <a:off x="0" y="-38100"/>
              <a:ext cx="2219875" cy="154565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3" name="Google Shape;403;p18"/>
          <p:cNvSpPr/>
          <p:nvPr/>
        </p:nvSpPr>
        <p:spPr>
          <a:xfrm>
            <a:off x="11702415" y="2365058"/>
            <a:ext cx="5556885" cy="5556885"/>
          </a:xfrm>
          <a:custGeom>
            <a:rect b="b" l="l" r="r" t="t"/>
            <a:pathLst>
              <a:path extrusionOk="0" h="5556885" w="5556885">
                <a:moveTo>
                  <a:pt x="0" y="0"/>
                </a:moveTo>
                <a:lnTo>
                  <a:pt x="5556885" y="0"/>
                </a:lnTo>
                <a:lnTo>
                  <a:pt x="5556885" y="5556884"/>
                </a:lnTo>
                <a:lnTo>
                  <a:pt x="0" y="5556884"/>
                </a:lnTo>
                <a:lnTo>
                  <a:pt x="0" y="0"/>
                </a:lnTo>
                <a:close/>
              </a:path>
            </a:pathLst>
          </a:custGeom>
          <a:blipFill rotWithShape="1">
            <a:blip r:embed="rId3">
              <a:alphaModFix/>
            </a:blip>
            <a:stretch>
              <a:fillRect b="0" l="0" r="0" t="0"/>
            </a:stretch>
          </a:blipFill>
          <a:ln>
            <a:noFill/>
          </a:ln>
        </p:spPr>
      </p:sp>
      <p:sp>
        <p:nvSpPr>
          <p:cNvPr id="404" name="Google Shape;404;p18"/>
          <p:cNvSpPr txBox="1"/>
          <p:nvPr/>
        </p:nvSpPr>
        <p:spPr>
          <a:xfrm>
            <a:off x="2141789" y="1152525"/>
            <a:ext cx="6807600" cy="1477500"/>
          </a:xfrm>
          <a:prstGeom prst="rect">
            <a:avLst/>
          </a:prstGeom>
          <a:noFill/>
          <a:ln>
            <a:noFill/>
          </a:ln>
        </p:spPr>
        <p:txBody>
          <a:bodyPr anchorCtr="0" anchor="t" bIns="0" lIns="0" spcFirstLastPara="1" rIns="0" wrap="square" tIns="0">
            <a:spAutoFit/>
          </a:bodyPr>
          <a:lstStyle/>
          <a:p>
            <a:pPr indent="0" lvl="0" marL="0" marR="0" rtl="0" algn="ctr">
              <a:lnSpc>
                <a:spcPct val="95983"/>
              </a:lnSpc>
              <a:spcBef>
                <a:spcPts val="0"/>
              </a:spcBef>
              <a:spcAft>
                <a:spcPts val="0"/>
              </a:spcAft>
              <a:buNone/>
            </a:pPr>
            <a:r>
              <a:rPr b="0" i="0" lang="en-US" sz="5000" u="none" cap="none" strike="noStrike">
                <a:solidFill>
                  <a:srgbClr val="FFFFFF"/>
                </a:solidFill>
                <a:latin typeface="Play"/>
                <a:ea typeface="Play"/>
                <a:cs typeface="Play"/>
                <a:sym typeface="Play"/>
              </a:rPr>
              <a:t>RAID EN ENTORNOS VIRTUALIZADOS</a:t>
            </a:r>
            <a:endParaRPr sz="5000"/>
          </a:p>
        </p:txBody>
      </p:sp>
      <p:sp>
        <p:nvSpPr>
          <p:cNvPr id="405" name="Google Shape;405;p18"/>
          <p:cNvSpPr txBox="1"/>
          <p:nvPr/>
        </p:nvSpPr>
        <p:spPr>
          <a:xfrm>
            <a:off x="1028700" y="3334226"/>
            <a:ext cx="8950704" cy="558990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300" u="none" cap="none" strike="noStrike">
                <a:solidFill>
                  <a:srgbClr val="000000"/>
                </a:solidFill>
                <a:latin typeface="Lexend Deca"/>
                <a:ea typeface="Lexend Deca"/>
                <a:cs typeface="Lexend Deca"/>
                <a:sym typeface="Lexend Deca"/>
              </a:rPr>
              <a:t>Flexibilidad:</a:t>
            </a:r>
            <a:endParaRPr/>
          </a:p>
          <a:p>
            <a:pPr indent="0" lvl="0" marL="0" marR="0" rtl="0" algn="just">
              <a:lnSpc>
                <a:spcPct val="140000"/>
              </a:lnSpc>
              <a:spcBef>
                <a:spcPts val="0"/>
              </a:spcBef>
              <a:spcAft>
                <a:spcPts val="0"/>
              </a:spcAft>
              <a:buNone/>
            </a:pPr>
            <a:r>
              <a:rPr b="0" i="0" lang="en-US" sz="2300" u="none" cap="none" strike="noStrike">
                <a:solidFill>
                  <a:srgbClr val="31356E"/>
                </a:solidFill>
                <a:latin typeface="Lexend Deca"/>
                <a:ea typeface="Lexend Deca"/>
                <a:cs typeface="Lexend Deca"/>
                <a:sym typeface="Lexend Deca"/>
              </a:rPr>
              <a:t>Los sistemas RAID en entornos virtualizados ofrecen mayor flexibilidad y escalabilidad, permitiendo la asignación dinámica de recursos de almacenamiento.</a:t>
            </a:r>
            <a:endParaRPr/>
          </a:p>
          <a:p>
            <a:pPr indent="0" lvl="0" marL="0" marR="0" rtl="0" algn="just">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a:p>
            <a:pPr indent="0" lvl="0" marL="0" marR="0" rtl="0" algn="just">
              <a:lnSpc>
                <a:spcPct val="140000"/>
              </a:lnSpc>
              <a:spcBef>
                <a:spcPts val="0"/>
              </a:spcBef>
              <a:spcAft>
                <a:spcPts val="0"/>
              </a:spcAft>
              <a:buNone/>
            </a:pPr>
            <a:r>
              <a:rPr b="0" i="0" lang="en-US" sz="2300" u="none" cap="none" strike="noStrike">
                <a:solidFill>
                  <a:srgbClr val="000000"/>
                </a:solidFill>
                <a:latin typeface="Lexend Deca"/>
                <a:ea typeface="Lexend Deca"/>
                <a:cs typeface="Lexend Deca"/>
                <a:sym typeface="Lexend Deca"/>
              </a:rPr>
              <a:t>Alta Disponibilidad:</a:t>
            </a:r>
            <a:endParaRPr/>
          </a:p>
          <a:p>
            <a:pPr indent="0" lvl="0" marL="0" marR="0" rtl="0" algn="just">
              <a:lnSpc>
                <a:spcPct val="140000"/>
              </a:lnSpc>
              <a:spcBef>
                <a:spcPts val="0"/>
              </a:spcBef>
              <a:spcAft>
                <a:spcPts val="0"/>
              </a:spcAft>
              <a:buNone/>
            </a:pPr>
            <a:r>
              <a:rPr b="0" i="0" lang="en-US" sz="2300" u="none" cap="none" strike="noStrike">
                <a:solidFill>
                  <a:srgbClr val="31356E"/>
                </a:solidFill>
                <a:latin typeface="Lexend Deca"/>
                <a:ea typeface="Lexend Deca"/>
                <a:cs typeface="Lexend Deca"/>
                <a:sym typeface="Lexend Deca"/>
              </a:rPr>
              <a:t>La redundancia inherente de RAID, combinada con la movilidad de las máquinas virtuales, mejora la disponibilidad y tolerancia a fallos.</a:t>
            </a:r>
            <a:endParaRPr/>
          </a:p>
          <a:p>
            <a:pPr indent="0" lvl="0" marL="0" marR="0" rtl="0" algn="just">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a:p>
            <a:pPr indent="0" lvl="0" marL="0" marR="0" rtl="0" algn="just">
              <a:lnSpc>
                <a:spcPct val="140000"/>
              </a:lnSpc>
              <a:spcBef>
                <a:spcPts val="0"/>
              </a:spcBef>
              <a:spcAft>
                <a:spcPts val="0"/>
              </a:spcAft>
              <a:buNone/>
            </a:pPr>
            <a:r>
              <a:rPr b="0" i="0" lang="en-US" sz="2300" u="none" cap="none" strike="noStrike">
                <a:solidFill>
                  <a:srgbClr val="000000"/>
                </a:solidFill>
                <a:latin typeface="Lexend Deca"/>
                <a:ea typeface="Lexend Deca"/>
                <a:cs typeface="Lexend Deca"/>
                <a:sym typeface="Lexend Deca"/>
              </a:rPr>
              <a:t>Eficiencia:</a:t>
            </a:r>
            <a:endParaRPr/>
          </a:p>
          <a:p>
            <a:pPr indent="0" lvl="0" marL="0" marR="0" rtl="0" algn="just">
              <a:lnSpc>
                <a:spcPct val="140000"/>
              </a:lnSpc>
              <a:spcBef>
                <a:spcPts val="0"/>
              </a:spcBef>
              <a:spcAft>
                <a:spcPts val="0"/>
              </a:spcAft>
              <a:buNone/>
            </a:pPr>
            <a:r>
              <a:rPr b="0" i="0" lang="en-US" sz="2300" u="none" cap="none" strike="noStrike">
                <a:solidFill>
                  <a:srgbClr val="31356E"/>
                </a:solidFill>
                <a:latin typeface="Lexend Deca"/>
                <a:ea typeface="Lexend Deca"/>
                <a:cs typeface="Lexend Deca"/>
                <a:sym typeface="Lexend Deca"/>
              </a:rPr>
              <a:t>La implementación de RAID en entornos virtualizados puede optimizar el uso de recursos, reduciendo costos y mejorando la eficiencia general.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409" name="Shape 409"/>
        <p:cNvGrpSpPr/>
        <p:nvPr/>
      </p:nvGrpSpPr>
      <p:grpSpPr>
        <a:xfrm>
          <a:off x="0" y="0"/>
          <a:ext cx="0" cy="0"/>
          <a:chOff x="0" y="0"/>
          <a:chExt cx="0" cy="0"/>
        </a:xfrm>
      </p:grpSpPr>
      <p:grpSp>
        <p:nvGrpSpPr>
          <p:cNvPr id="410" name="Google Shape;410;p19"/>
          <p:cNvGrpSpPr/>
          <p:nvPr/>
        </p:nvGrpSpPr>
        <p:grpSpPr>
          <a:xfrm>
            <a:off x="-361272" y="-789541"/>
            <a:ext cx="11374962" cy="11381923"/>
            <a:chOff x="0" y="-38100"/>
            <a:chExt cx="2561558" cy="2563126"/>
          </a:xfrm>
        </p:grpSpPr>
        <p:sp>
          <p:nvSpPr>
            <p:cNvPr id="411" name="Google Shape;411;p19"/>
            <p:cNvSpPr/>
            <p:nvPr/>
          </p:nvSpPr>
          <p:spPr>
            <a:xfrm>
              <a:off x="0" y="0"/>
              <a:ext cx="2561558" cy="2525026"/>
            </a:xfrm>
            <a:custGeom>
              <a:rect b="b" l="l" r="r" t="t"/>
              <a:pathLst>
                <a:path extrusionOk="0" h="2525026" w="2561558">
                  <a:moveTo>
                    <a:pt x="0" y="0"/>
                  </a:moveTo>
                  <a:lnTo>
                    <a:pt x="2561558" y="0"/>
                  </a:lnTo>
                  <a:lnTo>
                    <a:pt x="2561558" y="2525026"/>
                  </a:lnTo>
                  <a:lnTo>
                    <a:pt x="0" y="2525026"/>
                  </a:lnTo>
                  <a:close/>
                </a:path>
              </a:pathLst>
            </a:custGeom>
            <a:solidFill>
              <a:srgbClr val="31356E"/>
            </a:solidFill>
            <a:ln>
              <a:noFill/>
            </a:ln>
          </p:spPr>
        </p:sp>
        <p:sp>
          <p:nvSpPr>
            <p:cNvPr id="412" name="Google Shape;412;p19"/>
            <p:cNvSpPr txBox="1"/>
            <p:nvPr/>
          </p:nvSpPr>
          <p:spPr>
            <a:xfrm>
              <a:off x="0" y="-38100"/>
              <a:ext cx="2561558" cy="256312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3" name="Google Shape;413;p19"/>
          <p:cNvGrpSpPr/>
          <p:nvPr/>
        </p:nvGrpSpPr>
        <p:grpSpPr>
          <a:xfrm>
            <a:off x="616744" y="2731174"/>
            <a:ext cx="9857670" cy="6863692"/>
            <a:chOff x="0" y="-38100"/>
            <a:chExt cx="2219875" cy="1545653"/>
          </a:xfrm>
        </p:grpSpPr>
        <p:sp>
          <p:nvSpPr>
            <p:cNvPr id="414" name="Google Shape;414;p19"/>
            <p:cNvSpPr/>
            <p:nvPr/>
          </p:nvSpPr>
          <p:spPr>
            <a:xfrm>
              <a:off x="0" y="0"/>
              <a:ext cx="2219875" cy="1507553"/>
            </a:xfrm>
            <a:custGeom>
              <a:rect b="b" l="l" r="r" t="t"/>
              <a:pathLst>
                <a:path extrusionOk="0" h="1507553" w="2219875">
                  <a:moveTo>
                    <a:pt x="40054" y="0"/>
                  </a:moveTo>
                  <a:lnTo>
                    <a:pt x="2179821" y="0"/>
                  </a:lnTo>
                  <a:cubicBezTo>
                    <a:pt x="2201943" y="0"/>
                    <a:pt x="2219875" y="17933"/>
                    <a:pt x="2219875" y="40054"/>
                  </a:cubicBezTo>
                  <a:lnTo>
                    <a:pt x="2219875" y="1467500"/>
                  </a:lnTo>
                  <a:cubicBezTo>
                    <a:pt x="2219875" y="1489621"/>
                    <a:pt x="2201943" y="1507553"/>
                    <a:pt x="2179821" y="1507553"/>
                  </a:cubicBezTo>
                  <a:lnTo>
                    <a:pt x="40054" y="1507553"/>
                  </a:lnTo>
                  <a:cubicBezTo>
                    <a:pt x="29431" y="1507553"/>
                    <a:pt x="19243" y="1503334"/>
                    <a:pt x="11732" y="1495822"/>
                  </a:cubicBezTo>
                  <a:cubicBezTo>
                    <a:pt x="4220" y="1488310"/>
                    <a:pt x="0" y="1478122"/>
                    <a:pt x="0" y="1467500"/>
                  </a:cubicBezTo>
                  <a:lnTo>
                    <a:pt x="0" y="40054"/>
                  </a:lnTo>
                  <a:cubicBezTo>
                    <a:pt x="0" y="17933"/>
                    <a:pt x="17933" y="0"/>
                    <a:pt x="40054" y="0"/>
                  </a:cubicBezTo>
                  <a:close/>
                </a:path>
              </a:pathLst>
            </a:custGeom>
            <a:solidFill>
              <a:srgbClr val="DAE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9"/>
            <p:cNvSpPr txBox="1"/>
            <p:nvPr/>
          </p:nvSpPr>
          <p:spPr>
            <a:xfrm>
              <a:off x="0" y="-38100"/>
              <a:ext cx="2219875" cy="154565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16" name="Google Shape;416;p19"/>
          <p:cNvSpPr/>
          <p:nvPr/>
        </p:nvSpPr>
        <p:spPr>
          <a:xfrm>
            <a:off x="11702415" y="2365058"/>
            <a:ext cx="5556885" cy="5556885"/>
          </a:xfrm>
          <a:custGeom>
            <a:rect b="b" l="l" r="r" t="t"/>
            <a:pathLst>
              <a:path extrusionOk="0" h="5556885" w="5556885">
                <a:moveTo>
                  <a:pt x="0" y="0"/>
                </a:moveTo>
                <a:lnTo>
                  <a:pt x="5556885" y="0"/>
                </a:lnTo>
                <a:lnTo>
                  <a:pt x="5556885" y="5556884"/>
                </a:lnTo>
                <a:lnTo>
                  <a:pt x="0" y="5556884"/>
                </a:lnTo>
                <a:lnTo>
                  <a:pt x="0" y="0"/>
                </a:lnTo>
                <a:close/>
              </a:path>
            </a:pathLst>
          </a:custGeom>
          <a:blipFill rotWithShape="1">
            <a:blip r:embed="rId3">
              <a:alphaModFix/>
            </a:blip>
            <a:stretch>
              <a:fillRect b="0" l="0" r="0" t="0"/>
            </a:stretch>
          </a:blipFill>
          <a:ln>
            <a:noFill/>
          </a:ln>
        </p:spPr>
      </p:sp>
      <p:sp>
        <p:nvSpPr>
          <p:cNvPr id="417" name="Google Shape;417;p19"/>
          <p:cNvSpPr txBox="1"/>
          <p:nvPr/>
        </p:nvSpPr>
        <p:spPr>
          <a:xfrm>
            <a:off x="2141789" y="1152525"/>
            <a:ext cx="6807600" cy="1182000"/>
          </a:xfrm>
          <a:prstGeom prst="rect">
            <a:avLst/>
          </a:prstGeom>
          <a:noFill/>
          <a:ln>
            <a:noFill/>
          </a:ln>
        </p:spPr>
        <p:txBody>
          <a:bodyPr anchorCtr="0" anchor="t" bIns="0" lIns="0" spcFirstLastPara="1" rIns="0" wrap="square" tIns="0">
            <a:spAutoFit/>
          </a:bodyPr>
          <a:lstStyle/>
          <a:p>
            <a:pPr indent="0" lvl="0" marL="0" marR="0" rtl="0" algn="ctr">
              <a:lnSpc>
                <a:spcPct val="95983"/>
              </a:lnSpc>
              <a:spcBef>
                <a:spcPts val="0"/>
              </a:spcBef>
              <a:spcAft>
                <a:spcPts val="0"/>
              </a:spcAft>
              <a:buNone/>
            </a:pPr>
            <a:r>
              <a:rPr b="0" i="0" lang="en-US" sz="4000" u="none" cap="none" strike="noStrike">
                <a:solidFill>
                  <a:srgbClr val="FFFFFF"/>
                </a:solidFill>
                <a:latin typeface="Play"/>
                <a:ea typeface="Play"/>
                <a:cs typeface="Play"/>
                <a:sym typeface="Play"/>
              </a:rPr>
              <a:t>IMPLEMENTACIÓN RAID EN ENTORNOS VIRTUALES</a:t>
            </a:r>
            <a:endParaRPr sz="4000"/>
          </a:p>
        </p:txBody>
      </p:sp>
      <p:sp>
        <p:nvSpPr>
          <p:cNvPr id="418" name="Google Shape;418;p19"/>
          <p:cNvSpPr txBox="1"/>
          <p:nvPr/>
        </p:nvSpPr>
        <p:spPr>
          <a:xfrm>
            <a:off x="1028700" y="3334226"/>
            <a:ext cx="8950704" cy="518985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300" u="none" cap="none" strike="noStrike">
                <a:solidFill>
                  <a:srgbClr val="000000"/>
                </a:solidFill>
                <a:latin typeface="Lexend Deca"/>
                <a:ea typeface="Lexend Deca"/>
                <a:cs typeface="Lexend Deca"/>
                <a:sym typeface="Lexend Deca"/>
              </a:rPr>
              <a:t>Diseño de Almacenamiento:</a:t>
            </a:r>
            <a:endParaRPr/>
          </a:p>
          <a:p>
            <a:pPr indent="0" lvl="0" marL="0" marR="0" rtl="0" algn="just">
              <a:lnSpc>
                <a:spcPct val="140000"/>
              </a:lnSpc>
              <a:spcBef>
                <a:spcPts val="0"/>
              </a:spcBef>
              <a:spcAft>
                <a:spcPts val="0"/>
              </a:spcAft>
              <a:buNone/>
            </a:pPr>
            <a:r>
              <a:rPr b="0" i="0" lang="en-US" sz="2300" u="none" cap="none" strike="noStrike">
                <a:solidFill>
                  <a:srgbClr val="31356E"/>
                </a:solidFill>
                <a:latin typeface="Lexend Deca"/>
                <a:ea typeface="Lexend Deca"/>
                <a:cs typeface="Lexend Deca"/>
                <a:sym typeface="Lexend Deca"/>
              </a:rPr>
              <a:t>Debe considerar la arquitectura de la infraestructura virtual, los requisitos de rendimiento y fiabilidad de las aplicaciones.</a:t>
            </a:r>
            <a:endParaRPr/>
          </a:p>
          <a:p>
            <a:pPr indent="0" lvl="0" marL="0" marR="0" rtl="0" algn="just">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a:p>
            <a:pPr indent="0" lvl="0" marL="0" marR="0" rtl="0" algn="just">
              <a:lnSpc>
                <a:spcPct val="140000"/>
              </a:lnSpc>
              <a:spcBef>
                <a:spcPts val="0"/>
              </a:spcBef>
              <a:spcAft>
                <a:spcPts val="0"/>
              </a:spcAft>
              <a:buNone/>
            </a:pPr>
            <a:r>
              <a:rPr b="0" i="0" lang="en-US" sz="2300" u="none" cap="none" strike="noStrike">
                <a:solidFill>
                  <a:srgbClr val="000000"/>
                </a:solidFill>
                <a:latin typeface="Lexend Deca"/>
                <a:ea typeface="Lexend Deca"/>
                <a:cs typeface="Lexend Deca"/>
                <a:sym typeface="Lexend Deca"/>
              </a:rPr>
              <a:t>Configuración RAID:</a:t>
            </a:r>
            <a:endParaRPr/>
          </a:p>
          <a:p>
            <a:pPr indent="0" lvl="0" marL="0" marR="0" rtl="0" algn="just">
              <a:lnSpc>
                <a:spcPct val="140000"/>
              </a:lnSpc>
              <a:spcBef>
                <a:spcPts val="0"/>
              </a:spcBef>
              <a:spcAft>
                <a:spcPts val="0"/>
              </a:spcAft>
              <a:buNone/>
            </a:pPr>
            <a:r>
              <a:rPr b="0" i="0" lang="en-US" sz="2300" u="none" cap="none" strike="noStrike">
                <a:solidFill>
                  <a:srgbClr val="31356E"/>
                </a:solidFill>
                <a:latin typeface="Lexend Deca"/>
                <a:ea typeface="Lexend Deca"/>
                <a:cs typeface="Lexend Deca"/>
                <a:sym typeface="Lexend Deca"/>
              </a:rPr>
              <a:t>Debe ser cuidadosamente planificada y probada para garantizar un alto rendimiento y disponibilidad.</a:t>
            </a:r>
            <a:endParaRPr/>
          </a:p>
          <a:p>
            <a:pPr indent="0" lvl="0" marL="0" marR="0" rtl="0" algn="just">
              <a:lnSpc>
                <a:spcPct val="140000"/>
              </a:lnSpc>
              <a:spcBef>
                <a:spcPts val="0"/>
              </a:spcBef>
              <a:spcAft>
                <a:spcPts val="0"/>
              </a:spcAft>
              <a:buNone/>
            </a:pPr>
            <a:r>
              <a:t/>
            </a:r>
            <a:endParaRPr b="0" i="0" sz="2300" u="none" cap="none" strike="noStrike">
              <a:solidFill>
                <a:srgbClr val="31356E"/>
              </a:solidFill>
              <a:latin typeface="Lexend Deca"/>
              <a:ea typeface="Lexend Deca"/>
              <a:cs typeface="Lexend Deca"/>
              <a:sym typeface="Lexend Deca"/>
            </a:endParaRPr>
          </a:p>
          <a:p>
            <a:pPr indent="0" lvl="0" marL="0" marR="0" rtl="0" algn="just">
              <a:lnSpc>
                <a:spcPct val="140000"/>
              </a:lnSpc>
              <a:spcBef>
                <a:spcPts val="0"/>
              </a:spcBef>
              <a:spcAft>
                <a:spcPts val="0"/>
              </a:spcAft>
              <a:buNone/>
            </a:pPr>
            <a:r>
              <a:rPr b="0" i="0" lang="en-US" sz="2300" u="none" cap="none" strike="noStrike">
                <a:solidFill>
                  <a:srgbClr val="000000"/>
                </a:solidFill>
                <a:latin typeface="Lexend Deca"/>
                <a:ea typeface="Lexend Deca"/>
                <a:cs typeface="Lexend Deca"/>
                <a:sym typeface="Lexend Deca"/>
              </a:rPr>
              <a:t>Monitorización y Optimización:</a:t>
            </a:r>
            <a:endParaRPr/>
          </a:p>
          <a:p>
            <a:pPr indent="0" lvl="0" marL="0" marR="0" rtl="0" algn="just">
              <a:lnSpc>
                <a:spcPct val="140000"/>
              </a:lnSpc>
              <a:spcBef>
                <a:spcPts val="0"/>
              </a:spcBef>
              <a:spcAft>
                <a:spcPts val="0"/>
              </a:spcAft>
              <a:buNone/>
            </a:pPr>
            <a:r>
              <a:rPr b="0" i="0" lang="en-US" sz="2300" u="none" cap="none" strike="noStrike">
                <a:solidFill>
                  <a:srgbClr val="31356E"/>
                </a:solidFill>
                <a:latin typeface="Lexend Deca"/>
                <a:ea typeface="Lexend Deca"/>
                <a:cs typeface="Lexend Deca"/>
                <a:sym typeface="Lexend Deca"/>
              </a:rPr>
              <a:t>El monitoreo continuo del rendimiento y la fiabilidad del RAID, junto con ajustes y optimizaciones cuando sea necesario, son esenciales para mantener un sistema de almacenamiento eficiente.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422" name="Shape 422"/>
        <p:cNvGrpSpPr/>
        <p:nvPr/>
      </p:nvGrpSpPr>
      <p:grpSpPr>
        <a:xfrm>
          <a:off x="0" y="0"/>
          <a:ext cx="0" cy="0"/>
          <a:chOff x="0" y="0"/>
          <a:chExt cx="0" cy="0"/>
        </a:xfrm>
      </p:grpSpPr>
      <p:pic>
        <p:nvPicPr>
          <p:cNvPr id="423" name="Google Shape;423;p20"/>
          <p:cNvPicPr preferRelativeResize="0"/>
          <p:nvPr/>
        </p:nvPicPr>
        <p:blipFill rotWithShape="1">
          <a:blip r:embed="rId3">
            <a:alphaModFix amt="60000"/>
          </a:blip>
          <a:srcRect b="0" l="0" r="0" t="0"/>
          <a:stretch/>
        </p:blipFill>
        <p:spPr>
          <a:xfrm>
            <a:off x="-2285506" y="-4771437"/>
            <a:ext cx="22859012" cy="17585432"/>
          </a:xfrm>
          <a:prstGeom prst="rect">
            <a:avLst/>
          </a:prstGeom>
          <a:noFill/>
          <a:ln>
            <a:noFill/>
          </a:ln>
        </p:spPr>
      </p:pic>
      <p:grpSp>
        <p:nvGrpSpPr>
          <p:cNvPr id="424" name="Google Shape;424;p20"/>
          <p:cNvGrpSpPr/>
          <p:nvPr/>
        </p:nvGrpSpPr>
        <p:grpSpPr>
          <a:xfrm>
            <a:off x="1028700" y="3403329"/>
            <a:ext cx="16230600" cy="3778541"/>
            <a:chOff x="0" y="-38100"/>
            <a:chExt cx="3655013" cy="850900"/>
          </a:xfrm>
        </p:grpSpPr>
        <p:sp>
          <p:nvSpPr>
            <p:cNvPr id="425" name="Google Shape;425;p20"/>
            <p:cNvSpPr/>
            <p:nvPr/>
          </p:nvSpPr>
          <p:spPr>
            <a:xfrm>
              <a:off x="0" y="0"/>
              <a:ext cx="3655013" cy="812800"/>
            </a:xfrm>
            <a:custGeom>
              <a:rect b="b" l="l" r="r" t="t"/>
              <a:pathLst>
                <a:path extrusionOk="0" h="812800" w="3655013">
                  <a:moveTo>
                    <a:pt x="24327" y="0"/>
                  </a:moveTo>
                  <a:lnTo>
                    <a:pt x="3630686" y="0"/>
                  </a:lnTo>
                  <a:cubicBezTo>
                    <a:pt x="3644121" y="0"/>
                    <a:pt x="3655013" y="10891"/>
                    <a:pt x="3655013" y="24327"/>
                  </a:cubicBezTo>
                  <a:lnTo>
                    <a:pt x="3655013" y="788473"/>
                  </a:lnTo>
                  <a:cubicBezTo>
                    <a:pt x="3655013" y="801909"/>
                    <a:pt x="3644121" y="812800"/>
                    <a:pt x="3630686" y="812800"/>
                  </a:cubicBezTo>
                  <a:lnTo>
                    <a:pt x="24327" y="812800"/>
                  </a:lnTo>
                  <a:cubicBezTo>
                    <a:pt x="10891" y="812800"/>
                    <a:pt x="0" y="801909"/>
                    <a:pt x="0" y="788473"/>
                  </a:cubicBezTo>
                  <a:lnTo>
                    <a:pt x="0" y="24327"/>
                  </a:lnTo>
                  <a:cubicBezTo>
                    <a:pt x="0" y="10891"/>
                    <a:pt x="10891" y="0"/>
                    <a:pt x="24327" y="0"/>
                  </a:cubicBezTo>
                  <a:close/>
                </a:path>
              </a:pathLst>
            </a:custGeom>
            <a:solidFill>
              <a:srgbClr val="313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0"/>
            <p:cNvSpPr txBox="1"/>
            <p:nvPr/>
          </p:nvSpPr>
          <p:spPr>
            <a:xfrm>
              <a:off x="0" y="-38100"/>
              <a:ext cx="3655013"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7" name="Google Shape;427;p20"/>
          <p:cNvSpPr txBox="1"/>
          <p:nvPr/>
        </p:nvSpPr>
        <p:spPr>
          <a:xfrm>
            <a:off x="1652563" y="3774454"/>
            <a:ext cx="14982900" cy="2924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FFFFFF"/>
                </a:solidFill>
                <a:latin typeface="Play"/>
                <a:ea typeface="Play"/>
                <a:cs typeface="Play"/>
                <a:sym typeface="Play"/>
              </a:rPr>
              <a:t>RAID, SUS CLASIFICACIONES, SU USO Y LOS DISTINTOS NIVELES DE RAID CONSIDERANDO VENTAJAS, DESVENTAJAS Y SUS USOS.</a:t>
            </a:r>
            <a:endParaRPr sz="5000"/>
          </a:p>
        </p:txBody>
      </p:sp>
      <p:sp>
        <p:nvSpPr>
          <p:cNvPr id="428" name="Google Shape;428;p20"/>
          <p:cNvSpPr txBox="1"/>
          <p:nvPr/>
        </p:nvSpPr>
        <p:spPr>
          <a:xfrm>
            <a:off x="4533669" y="7649422"/>
            <a:ext cx="9220662" cy="738346"/>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4306" u="none" cap="none" strike="noStrike">
                <a:solidFill>
                  <a:srgbClr val="31356E"/>
                </a:solidFill>
                <a:latin typeface="Lexend Deca"/>
                <a:ea typeface="Lexend Deca"/>
                <a:cs typeface="Lexend Deca"/>
                <a:sym typeface="Lexend Deca"/>
              </a:rPr>
              <a:t>CONCEPTOS CLAVE APRENDIDOS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432" name="Shape 432"/>
        <p:cNvGrpSpPr/>
        <p:nvPr/>
      </p:nvGrpSpPr>
      <p:grpSpPr>
        <a:xfrm>
          <a:off x="0" y="0"/>
          <a:ext cx="0" cy="0"/>
          <a:chOff x="0" y="0"/>
          <a:chExt cx="0" cy="0"/>
        </a:xfrm>
      </p:grpSpPr>
      <p:pic>
        <p:nvPicPr>
          <p:cNvPr id="433" name="Google Shape;433;p21"/>
          <p:cNvPicPr preferRelativeResize="0"/>
          <p:nvPr/>
        </p:nvPicPr>
        <p:blipFill rotWithShape="1">
          <a:blip r:embed="rId3">
            <a:alphaModFix amt="60000"/>
          </a:blip>
          <a:srcRect b="0" l="0" r="0" t="0"/>
          <a:stretch/>
        </p:blipFill>
        <p:spPr>
          <a:xfrm>
            <a:off x="-2285506" y="-4771437"/>
            <a:ext cx="22859012" cy="17585432"/>
          </a:xfrm>
          <a:prstGeom prst="rect">
            <a:avLst/>
          </a:prstGeom>
          <a:noFill/>
          <a:ln>
            <a:noFill/>
          </a:ln>
        </p:spPr>
      </p:pic>
      <p:grpSp>
        <p:nvGrpSpPr>
          <p:cNvPr id="434" name="Google Shape;434;p21"/>
          <p:cNvGrpSpPr/>
          <p:nvPr/>
        </p:nvGrpSpPr>
        <p:grpSpPr>
          <a:xfrm>
            <a:off x="1028700" y="3403329"/>
            <a:ext cx="16230600" cy="3778541"/>
            <a:chOff x="0" y="-38100"/>
            <a:chExt cx="3655013" cy="850900"/>
          </a:xfrm>
        </p:grpSpPr>
        <p:sp>
          <p:nvSpPr>
            <p:cNvPr id="435" name="Google Shape;435;p21"/>
            <p:cNvSpPr/>
            <p:nvPr/>
          </p:nvSpPr>
          <p:spPr>
            <a:xfrm>
              <a:off x="0" y="0"/>
              <a:ext cx="3655013" cy="812800"/>
            </a:xfrm>
            <a:custGeom>
              <a:rect b="b" l="l" r="r" t="t"/>
              <a:pathLst>
                <a:path extrusionOk="0" h="812800" w="3655013">
                  <a:moveTo>
                    <a:pt x="24327" y="0"/>
                  </a:moveTo>
                  <a:lnTo>
                    <a:pt x="3630686" y="0"/>
                  </a:lnTo>
                  <a:cubicBezTo>
                    <a:pt x="3644121" y="0"/>
                    <a:pt x="3655013" y="10891"/>
                    <a:pt x="3655013" y="24327"/>
                  </a:cubicBezTo>
                  <a:lnTo>
                    <a:pt x="3655013" y="788473"/>
                  </a:lnTo>
                  <a:cubicBezTo>
                    <a:pt x="3655013" y="801909"/>
                    <a:pt x="3644121" y="812800"/>
                    <a:pt x="3630686" y="812800"/>
                  </a:cubicBezTo>
                  <a:lnTo>
                    <a:pt x="24327" y="812800"/>
                  </a:lnTo>
                  <a:cubicBezTo>
                    <a:pt x="10891" y="812800"/>
                    <a:pt x="0" y="801909"/>
                    <a:pt x="0" y="788473"/>
                  </a:cubicBezTo>
                  <a:lnTo>
                    <a:pt x="0" y="24327"/>
                  </a:lnTo>
                  <a:cubicBezTo>
                    <a:pt x="0" y="10891"/>
                    <a:pt x="10891" y="0"/>
                    <a:pt x="24327" y="0"/>
                  </a:cubicBezTo>
                  <a:close/>
                </a:path>
              </a:pathLst>
            </a:custGeom>
            <a:solidFill>
              <a:srgbClr val="313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1"/>
            <p:cNvSpPr txBox="1"/>
            <p:nvPr/>
          </p:nvSpPr>
          <p:spPr>
            <a:xfrm>
              <a:off x="0" y="-38100"/>
              <a:ext cx="3655013"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7" name="Google Shape;437;p21"/>
          <p:cNvSpPr txBox="1"/>
          <p:nvPr/>
        </p:nvSpPr>
        <p:spPr>
          <a:xfrm>
            <a:off x="1652563" y="3695397"/>
            <a:ext cx="14982900" cy="31986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3699" u="none" cap="none" strike="noStrike">
                <a:solidFill>
                  <a:srgbClr val="FFFFFF"/>
                </a:solidFill>
                <a:latin typeface="Play"/>
                <a:ea typeface="Play"/>
                <a:cs typeface="Play"/>
                <a:sym typeface="Play"/>
              </a:rPr>
              <a:t> </a:t>
            </a:r>
            <a:r>
              <a:rPr b="0" i="0" lang="en-US" sz="3000" u="none" cap="none" strike="noStrike">
                <a:solidFill>
                  <a:srgbClr val="FFFFFF"/>
                </a:solidFill>
                <a:latin typeface="Play"/>
                <a:ea typeface="Play"/>
                <a:cs typeface="Play"/>
                <a:sym typeface="Play"/>
              </a:rPr>
              <a:t>LA IMPLEMENTACIÓN DE SISTEMAS DE ARCHIVOS Y LA GESTIÓN DE DATOS Y/O INFORMACIÓN REQUIEREN UN ENFOQUE CONSTANTE Y RESPONSABLE PARA GARANTIZAR LA CORRECTA EJECUCIÓN DE LAS OPERACIONES. FOMENTAR ESTE VALOR PERMITIRÁ A LOS ESTUDIANTES MANTENER UN ALTO ESTÁNDAR EN EL TRABAJO TÉCNICO, ASEGURANDO SOLUCIONES EFECTIVAS Y SEGURAS. </a:t>
            </a:r>
            <a:endParaRPr sz="3000"/>
          </a:p>
        </p:txBody>
      </p:sp>
      <p:sp>
        <p:nvSpPr>
          <p:cNvPr id="438" name="Google Shape;438;p21"/>
          <p:cNvSpPr txBox="1"/>
          <p:nvPr/>
        </p:nvSpPr>
        <p:spPr>
          <a:xfrm>
            <a:off x="4533669" y="7668472"/>
            <a:ext cx="9220662" cy="596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500" u="none" cap="none" strike="noStrike">
                <a:solidFill>
                  <a:srgbClr val="31356E"/>
                </a:solidFill>
                <a:latin typeface="Lexend Deca"/>
                <a:ea typeface="Lexend Deca"/>
                <a:cs typeface="Lexend Deca"/>
                <a:sym typeface="Lexend Deca"/>
              </a:rPr>
              <a:t>VALOR DE LA SEMANA: COMPROMISO</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9FF"/>
        </a:solidFill>
      </p:bgPr>
    </p:bg>
    <p:spTree>
      <p:nvGrpSpPr>
        <p:cNvPr id="442" name="Shape 442"/>
        <p:cNvGrpSpPr/>
        <p:nvPr/>
      </p:nvGrpSpPr>
      <p:grpSpPr>
        <a:xfrm>
          <a:off x="0" y="0"/>
          <a:ext cx="0" cy="0"/>
          <a:chOff x="0" y="0"/>
          <a:chExt cx="0" cy="0"/>
        </a:xfrm>
      </p:grpSpPr>
      <p:pic>
        <p:nvPicPr>
          <p:cNvPr id="443" name="Google Shape;443;p22"/>
          <p:cNvPicPr preferRelativeResize="0"/>
          <p:nvPr/>
        </p:nvPicPr>
        <p:blipFill rotWithShape="1">
          <a:blip r:embed="rId3">
            <a:alphaModFix amt="60000"/>
          </a:blip>
          <a:srcRect b="0" l="0" r="0" t="0"/>
          <a:stretch/>
        </p:blipFill>
        <p:spPr>
          <a:xfrm>
            <a:off x="-2285506" y="-4771437"/>
            <a:ext cx="22859012" cy="17585432"/>
          </a:xfrm>
          <a:prstGeom prst="rect">
            <a:avLst/>
          </a:prstGeom>
          <a:noFill/>
          <a:ln>
            <a:noFill/>
          </a:ln>
        </p:spPr>
      </p:pic>
      <p:grpSp>
        <p:nvGrpSpPr>
          <p:cNvPr id="444" name="Google Shape;444;p22"/>
          <p:cNvGrpSpPr/>
          <p:nvPr/>
        </p:nvGrpSpPr>
        <p:grpSpPr>
          <a:xfrm>
            <a:off x="1028700" y="3403329"/>
            <a:ext cx="16230600" cy="3778541"/>
            <a:chOff x="0" y="-38100"/>
            <a:chExt cx="3655013" cy="850900"/>
          </a:xfrm>
        </p:grpSpPr>
        <p:sp>
          <p:nvSpPr>
            <p:cNvPr id="445" name="Google Shape;445;p22"/>
            <p:cNvSpPr/>
            <p:nvPr/>
          </p:nvSpPr>
          <p:spPr>
            <a:xfrm>
              <a:off x="0" y="0"/>
              <a:ext cx="3655013" cy="812800"/>
            </a:xfrm>
            <a:custGeom>
              <a:rect b="b" l="l" r="r" t="t"/>
              <a:pathLst>
                <a:path extrusionOk="0" h="812800" w="3655013">
                  <a:moveTo>
                    <a:pt x="24327" y="0"/>
                  </a:moveTo>
                  <a:lnTo>
                    <a:pt x="3630686" y="0"/>
                  </a:lnTo>
                  <a:cubicBezTo>
                    <a:pt x="3644121" y="0"/>
                    <a:pt x="3655013" y="10891"/>
                    <a:pt x="3655013" y="24327"/>
                  </a:cubicBezTo>
                  <a:lnTo>
                    <a:pt x="3655013" y="788473"/>
                  </a:lnTo>
                  <a:cubicBezTo>
                    <a:pt x="3655013" y="801909"/>
                    <a:pt x="3644121" y="812800"/>
                    <a:pt x="3630686" y="812800"/>
                  </a:cubicBezTo>
                  <a:lnTo>
                    <a:pt x="24327" y="812800"/>
                  </a:lnTo>
                  <a:cubicBezTo>
                    <a:pt x="10891" y="812800"/>
                    <a:pt x="0" y="801909"/>
                    <a:pt x="0" y="788473"/>
                  </a:cubicBezTo>
                  <a:lnTo>
                    <a:pt x="0" y="24327"/>
                  </a:lnTo>
                  <a:cubicBezTo>
                    <a:pt x="0" y="10891"/>
                    <a:pt x="10891" y="0"/>
                    <a:pt x="24327" y="0"/>
                  </a:cubicBezTo>
                  <a:close/>
                </a:path>
              </a:pathLst>
            </a:custGeom>
            <a:solidFill>
              <a:srgbClr val="313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2"/>
            <p:cNvSpPr txBox="1"/>
            <p:nvPr/>
          </p:nvSpPr>
          <p:spPr>
            <a:xfrm>
              <a:off x="0" y="-38100"/>
              <a:ext cx="3655013"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7" name="Google Shape;447;p22"/>
          <p:cNvSpPr txBox="1"/>
          <p:nvPr/>
        </p:nvSpPr>
        <p:spPr>
          <a:xfrm>
            <a:off x="1652538" y="3856975"/>
            <a:ext cx="14982900" cy="3324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9000" u="none" cap="none" strike="noStrike">
                <a:solidFill>
                  <a:srgbClr val="FFFFFF"/>
                </a:solidFill>
                <a:latin typeface="Play"/>
                <a:ea typeface="Play"/>
                <a:cs typeface="Play"/>
                <a:sym typeface="Play"/>
              </a:rPr>
              <a:t>¡GRACIAS POR SU ATENCIÓN!</a:t>
            </a:r>
            <a:endParaRPr sz="9000"/>
          </a:p>
        </p:txBody>
      </p:sp>
      <p:sp>
        <p:nvSpPr>
          <p:cNvPr id="448" name="Google Shape;448;p22"/>
          <p:cNvSpPr txBox="1"/>
          <p:nvPr/>
        </p:nvSpPr>
        <p:spPr>
          <a:xfrm>
            <a:off x="4533669" y="7539884"/>
            <a:ext cx="9220662" cy="596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500" u="none" cap="none" strike="noStrike">
                <a:solidFill>
                  <a:srgbClr val="31356E"/>
                </a:solidFill>
                <a:latin typeface="Lexend Deca"/>
                <a:ea typeface="Lexend Deca"/>
                <a:cs typeface="Lexend Deca"/>
                <a:sym typeface="Lexend Deca"/>
              </a:rPr>
              <a:t>DUDAS EN EL FORO SEMANAL DE UEDI</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