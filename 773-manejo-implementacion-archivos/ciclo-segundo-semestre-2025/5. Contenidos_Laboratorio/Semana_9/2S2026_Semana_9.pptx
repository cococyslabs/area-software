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y="6858000" cx="12192000"/>
  <p:notesSz cx="6858000" cy="9144000"/>
  <p:embeddedFontLst>
    <p:embeddedFont>
      <p:font typeface="Inter SemiBold"/>
      <p:regular r:id="rId63"/>
      <p:bold r:id="rId64"/>
      <p:italic r:id="rId65"/>
      <p:boldItalic r:id="rId66"/>
    </p:embeddedFont>
    <p:embeddedFont>
      <p:font typeface="Inter"/>
      <p:regular r:id="rId67"/>
      <p:bold r:id="rId68"/>
      <p:italic r:id="rId69"/>
      <p:boldItalic r:id="rId70"/>
    </p:embeddedFont>
    <p:embeddedFont>
      <p:font typeface="Outfit"/>
      <p:regular r:id="rId71"/>
      <p:bold r:id="rId72"/>
    </p:embeddedFont>
    <p:embeddedFont>
      <p:font typeface="Gill Sans"/>
      <p:regular r:id="rId73"/>
      <p:bold r:id="rId74"/>
    </p:embeddedFont>
    <p:embeddedFont>
      <p:font typeface="Open Sans"/>
      <p:regular r:id="rId75"/>
      <p:bold r:id="rId76"/>
      <p:italic r:id="rId77"/>
      <p:boldItalic r:id="rId7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C7D72A-EC7C-488A-A418-A96D62DEC214}">
  <a:tblStyle styleId="{7CC7D72A-EC7C-488A-A418-A96D62DEC21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3302BF5C-0084-4361-B5F0-8FC9A55F9FE1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GillSans-regular.fntdata"/><Relationship Id="rId72" Type="http://schemas.openxmlformats.org/officeDocument/2006/relationships/font" Target="fonts/Outfit-bold.fntdata"/><Relationship Id="rId31" Type="http://schemas.openxmlformats.org/officeDocument/2006/relationships/slide" Target="slides/slide25.xml"/><Relationship Id="rId75" Type="http://schemas.openxmlformats.org/officeDocument/2006/relationships/font" Target="fonts/OpenSans-regular.fntdata"/><Relationship Id="rId30" Type="http://schemas.openxmlformats.org/officeDocument/2006/relationships/slide" Target="slides/slide24.xml"/><Relationship Id="rId74" Type="http://schemas.openxmlformats.org/officeDocument/2006/relationships/font" Target="fonts/GillSans-bold.fntdata"/><Relationship Id="rId33" Type="http://schemas.openxmlformats.org/officeDocument/2006/relationships/slide" Target="slides/slide27.xml"/><Relationship Id="rId77" Type="http://schemas.openxmlformats.org/officeDocument/2006/relationships/font" Target="fonts/OpenSans-italic.fntdata"/><Relationship Id="rId32" Type="http://schemas.openxmlformats.org/officeDocument/2006/relationships/slide" Target="slides/slide26.xml"/><Relationship Id="rId76" Type="http://schemas.openxmlformats.org/officeDocument/2006/relationships/font" Target="fonts/OpenSans-bold.fntdata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8" Type="http://schemas.openxmlformats.org/officeDocument/2006/relationships/font" Target="fonts/OpenSans-boldItalic.fntdata"/><Relationship Id="rId71" Type="http://schemas.openxmlformats.org/officeDocument/2006/relationships/font" Target="fonts/Outfit-regular.fntdata"/><Relationship Id="rId70" Type="http://schemas.openxmlformats.org/officeDocument/2006/relationships/font" Target="fonts/Inter-boldItalic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font" Target="fonts/InterSemiBold-bold.fntdata"/><Relationship Id="rId63" Type="http://schemas.openxmlformats.org/officeDocument/2006/relationships/font" Target="fonts/InterSemiBold-regular.fntdata"/><Relationship Id="rId22" Type="http://schemas.openxmlformats.org/officeDocument/2006/relationships/slide" Target="slides/slide16.xml"/><Relationship Id="rId66" Type="http://schemas.openxmlformats.org/officeDocument/2006/relationships/font" Target="fonts/InterSemiBold-boldItalic.fntdata"/><Relationship Id="rId21" Type="http://schemas.openxmlformats.org/officeDocument/2006/relationships/slide" Target="slides/slide15.xml"/><Relationship Id="rId65" Type="http://schemas.openxmlformats.org/officeDocument/2006/relationships/font" Target="fonts/InterSemiBold-italic.fntdata"/><Relationship Id="rId24" Type="http://schemas.openxmlformats.org/officeDocument/2006/relationships/slide" Target="slides/slide18.xml"/><Relationship Id="rId68" Type="http://schemas.openxmlformats.org/officeDocument/2006/relationships/font" Target="fonts/Inter-bold.fntdata"/><Relationship Id="rId23" Type="http://schemas.openxmlformats.org/officeDocument/2006/relationships/slide" Target="slides/slide17.xml"/><Relationship Id="rId67" Type="http://schemas.openxmlformats.org/officeDocument/2006/relationships/font" Target="fonts/Inter-regular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Inter-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7a7552b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97a7552b7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7a7552b75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97a7552b75_0_1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7a7a7f8f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97a7a7f8f2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7a7552b75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97a7552b75_0_1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97a7552b75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97a7552b75_0_2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97a7552b75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g397a7552b75_0_2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97a7552b75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g397a7552b75_0_2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97a7a7f8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g397a7a7f8f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97a7a7f8f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g397a7a7f8f2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397a7a7f8f2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7" name="Google Shape;757;g397a7a7f8f2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97a7a7f8f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3" name="Google Shape;763;g397a7a7f8f2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97a7552b75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9" name="Google Shape;769;g397a7552b75_0_4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97a7552b75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6" name="Google Shape;776;g397a7552b75_0_4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97a7552b75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5" name="Google Shape;805;g397a7552b75_0_3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97a7552b75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0" name="Google Shape;810;g397a7552b75_0_2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21.png"/><Relationship Id="rId7" Type="http://schemas.openxmlformats.org/officeDocument/2006/relationships/hyperlink" Target="https://youtu.be/sCR3SAVdyCc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8.png"/><Relationship Id="rId6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4.png"/><Relationship Id="rId6" Type="http://schemas.openxmlformats.org/officeDocument/2006/relationships/image" Target="../media/image20.png"/><Relationship Id="rId7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2.png"/><Relationship Id="rId8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10" Type="http://schemas.openxmlformats.org/officeDocument/2006/relationships/image" Target="../media/image40.png"/><Relationship Id="rId9" Type="http://schemas.openxmlformats.org/officeDocument/2006/relationships/image" Target="../media/image28.png"/><Relationship Id="rId5" Type="http://schemas.openxmlformats.org/officeDocument/2006/relationships/image" Target="../media/image3.png"/><Relationship Id="rId6" Type="http://schemas.openxmlformats.org/officeDocument/2006/relationships/image" Target="../media/image14.png"/><Relationship Id="rId7" Type="http://schemas.openxmlformats.org/officeDocument/2006/relationships/image" Target="../media/image23.png"/><Relationship Id="rId8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27.png"/><Relationship Id="rId5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14.png"/><Relationship Id="rId7" Type="http://schemas.openxmlformats.org/officeDocument/2006/relationships/image" Target="../media/image4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30.png"/><Relationship Id="rId5" Type="http://schemas.openxmlformats.org/officeDocument/2006/relationships/image" Target="../media/image36.png"/><Relationship Id="rId6" Type="http://schemas.openxmlformats.org/officeDocument/2006/relationships/image" Target="../media/image3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37.png"/><Relationship Id="rId5" Type="http://schemas.openxmlformats.org/officeDocument/2006/relationships/image" Target="../media/image4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4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32.png"/><Relationship Id="rId9" Type="http://schemas.openxmlformats.org/officeDocument/2006/relationships/image" Target="../media/image44.png"/><Relationship Id="rId5" Type="http://schemas.openxmlformats.org/officeDocument/2006/relationships/image" Target="../media/image29.png"/><Relationship Id="rId6" Type="http://schemas.openxmlformats.org/officeDocument/2006/relationships/image" Target="../media/image33.png"/><Relationship Id="rId7" Type="http://schemas.openxmlformats.org/officeDocument/2006/relationships/image" Target="../media/image35.png"/><Relationship Id="rId8" Type="http://schemas.openxmlformats.org/officeDocument/2006/relationships/image" Target="../media/image3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9" Type="http://schemas.openxmlformats.org/officeDocument/2006/relationships/image" Target="../media/image38.png"/><Relationship Id="rId5" Type="http://schemas.openxmlformats.org/officeDocument/2006/relationships/image" Target="../media/image3.png"/><Relationship Id="rId6" Type="http://schemas.openxmlformats.org/officeDocument/2006/relationships/image" Target="../media/image14.png"/><Relationship Id="rId7" Type="http://schemas.openxmlformats.org/officeDocument/2006/relationships/image" Target="../media/image50.png"/><Relationship Id="rId8" Type="http://schemas.openxmlformats.org/officeDocument/2006/relationships/image" Target="../media/image3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Relationship Id="rId4" Type="http://schemas.openxmlformats.org/officeDocument/2006/relationships/image" Target="../media/image52.png"/><Relationship Id="rId5" Type="http://schemas.openxmlformats.org/officeDocument/2006/relationships/image" Target="../media/image5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10" Type="http://schemas.openxmlformats.org/officeDocument/2006/relationships/image" Target="../media/image51.png"/><Relationship Id="rId9" Type="http://schemas.openxmlformats.org/officeDocument/2006/relationships/image" Target="../media/image48.png"/><Relationship Id="rId5" Type="http://schemas.openxmlformats.org/officeDocument/2006/relationships/image" Target="../media/image3.png"/><Relationship Id="rId6" Type="http://schemas.openxmlformats.org/officeDocument/2006/relationships/image" Target="../media/image14.png"/><Relationship Id="rId7" Type="http://schemas.openxmlformats.org/officeDocument/2006/relationships/image" Target="../media/image54.png"/><Relationship Id="rId8" Type="http://schemas.openxmlformats.org/officeDocument/2006/relationships/image" Target="../media/image4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5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9.png"/><Relationship Id="rId4" Type="http://schemas.openxmlformats.org/officeDocument/2006/relationships/image" Target="../media/image6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9.png"/><Relationship Id="rId4" Type="http://schemas.openxmlformats.org/officeDocument/2006/relationships/image" Target="../media/image5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.png"/><Relationship Id="rId4" Type="http://schemas.openxmlformats.org/officeDocument/2006/relationships/image" Target="../media/image61.png"/><Relationship Id="rId5" Type="http://schemas.openxmlformats.org/officeDocument/2006/relationships/image" Target="../media/image5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.png"/><Relationship Id="rId4" Type="http://schemas.openxmlformats.org/officeDocument/2006/relationships/image" Target="../media/image65.png"/><Relationship Id="rId5" Type="http://schemas.openxmlformats.org/officeDocument/2006/relationships/image" Target="../media/image5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9" Type="http://schemas.openxmlformats.org/officeDocument/2006/relationships/image" Target="../media/image59.png"/><Relationship Id="rId5" Type="http://schemas.openxmlformats.org/officeDocument/2006/relationships/image" Target="../media/image3.png"/><Relationship Id="rId6" Type="http://schemas.openxmlformats.org/officeDocument/2006/relationships/image" Target="../media/image14.png"/><Relationship Id="rId7" Type="http://schemas.openxmlformats.org/officeDocument/2006/relationships/image" Target="../media/image63.png"/><Relationship Id="rId8" Type="http://schemas.openxmlformats.org/officeDocument/2006/relationships/image" Target="../media/image4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6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.png"/><Relationship Id="rId4" Type="http://schemas.openxmlformats.org/officeDocument/2006/relationships/image" Target="../media/image7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.png"/><Relationship Id="rId4" Type="http://schemas.openxmlformats.org/officeDocument/2006/relationships/image" Target="../media/image52.png"/><Relationship Id="rId5" Type="http://schemas.openxmlformats.org/officeDocument/2006/relationships/image" Target="../media/image5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.png"/><Relationship Id="rId4" Type="http://schemas.openxmlformats.org/officeDocument/2006/relationships/image" Target="../media/image66.png"/><Relationship Id="rId5" Type="http://schemas.openxmlformats.org/officeDocument/2006/relationships/image" Target="../media/image6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.png"/><Relationship Id="rId4" Type="http://schemas.openxmlformats.org/officeDocument/2006/relationships/image" Target="../media/image72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.png"/><Relationship Id="rId4" Type="http://schemas.openxmlformats.org/officeDocument/2006/relationships/image" Target="../media/image70.png"/><Relationship Id="rId5" Type="http://schemas.openxmlformats.org/officeDocument/2006/relationships/image" Target="../media/image4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9" Type="http://schemas.openxmlformats.org/officeDocument/2006/relationships/image" Target="../media/image67.png"/><Relationship Id="rId5" Type="http://schemas.openxmlformats.org/officeDocument/2006/relationships/image" Target="../media/image3.png"/><Relationship Id="rId6" Type="http://schemas.openxmlformats.org/officeDocument/2006/relationships/image" Target="../media/image14.png"/><Relationship Id="rId7" Type="http://schemas.openxmlformats.org/officeDocument/2006/relationships/image" Target="../media/image69.png"/><Relationship Id="rId8" Type="http://schemas.openxmlformats.org/officeDocument/2006/relationships/image" Target="../media/image7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1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3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5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7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-8467"/>
            <a:ext cx="12199874" cy="6875145"/>
          </a:xfrm>
          <a:custGeom>
            <a:rect b="b" l="l" r="r" t="t"/>
            <a:pathLst>
              <a:path extrusionOk="0" h="13750289" w="24399748">
                <a:moveTo>
                  <a:pt x="0" y="0"/>
                </a:moveTo>
                <a:lnTo>
                  <a:pt x="24399748" y="0"/>
                </a:lnTo>
                <a:lnTo>
                  <a:pt x="24399748" y="13750289"/>
                </a:lnTo>
                <a:lnTo>
                  <a:pt x="0" y="137502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85" name="Google Shape;85;p13"/>
          <p:cNvGraphicFramePr/>
          <p:nvPr/>
        </p:nvGraphicFramePr>
        <p:xfrm>
          <a:off x="7104267" y="12933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{7CC7D72A-EC7C-488A-A418-A96D62DEC214}</a:tableStyleId>
              </a:tblPr>
              <a:tblGrid>
                <a:gridCol w="2019975"/>
                <a:gridCol w="2882225"/>
              </a:tblGrid>
              <a:tr h="493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sz="700" u="none" cap="none" strike="noStrike"/>
                    </a:p>
                  </a:txBody>
                  <a:tcPr marT="60975" marB="60975" marR="60975" marL="609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Lunes, 25/08/2025</a:t>
                      </a:r>
                      <a:endParaRPr sz="700" u="none" cap="none" strike="noStrike"/>
                    </a:p>
                  </a:txBody>
                  <a:tcPr marT="60975" marB="60975" marR="60975" marL="609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700" u="none" cap="none" strike="noStrike"/>
                    </a:p>
                  </a:txBody>
                  <a:tcPr marT="60975" marB="60975" marR="60975" marL="609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17:20</a:t>
                      </a:r>
                      <a:endParaRPr sz="700" u="none" cap="none" strike="noStrike"/>
                    </a:p>
                  </a:txBody>
                  <a:tcPr marT="60975" marB="60975" marR="60975" marL="609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" name="Google Shape;86;p13"/>
          <p:cNvSpPr txBox="1"/>
          <p:nvPr/>
        </p:nvSpPr>
        <p:spPr>
          <a:xfrm>
            <a:off x="4020335" y="2908583"/>
            <a:ext cx="7142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4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Manejo e Implementación de Archivos B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6598233" y="3419884"/>
            <a:ext cx="4564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4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Daniel Eduardo Mellado Ayala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/>
          <p:nvPr/>
        </p:nvSpPr>
        <p:spPr>
          <a:xfrm>
            <a:off x="2332350" y="3951825"/>
            <a:ext cx="4910100" cy="4833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75" lIns="60975" spcFirstLastPara="1" rIns="60975" wrap="square" tIns="609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2060617" y="3187500"/>
            <a:ext cx="6761700" cy="4833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75" lIns="60975" spcFirstLastPara="1" rIns="60975" wrap="square" tIns="609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773 - Manejo e Implementación de Archivos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9229450" y="1304083"/>
            <a:ext cx="2667300" cy="4833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75" lIns="60975" spcFirstLastPara="1" rIns="60975" wrap="square" tIns="609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13/04/2026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9229450" y="1891933"/>
            <a:ext cx="2667300" cy="4833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75" lIns="60975" spcFirstLastPara="1" rIns="60975" wrap="square" tIns="609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17:20 - 19:00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4533900" y="1807964"/>
            <a:ext cx="3124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UNIDAD 2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2515552" y="2284214"/>
            <a:ext cx="7161000" cy="17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5400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Disponibilidad de la información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245425" y="4828135"/>
            <a:ext cx="7620000" cy="17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Manejo e implementación de archivos</a:t>
            </a:r>
            <a:endParaRPr b="1" sz="21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Escuela de ingeniería de Ciencias y Sistemas</a:t>
            </a:r>
            <a:endParaRPr sz="21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Facultad de Ingeniería</a:t>
            </a:r>
            <a:endParaRPr sz="21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Universidad de San Carlos de Guatemala</a:t>
            </a:r>
            <a:endParaRPr sz="21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48675" y="166625"/>
            <a:ext cx="10243324" cy="1067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743200"/>
            <a:ext cx="5095875" cy="2276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743200"/>
            <a:ext cx="5095875" cy="2276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1104900" y="3086100"/>
            <a:ext cx="463057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Módulos de Infraestructura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677025" y="3086100"/>
            <a:ext cx="463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RECURSOS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1295400" y="3667125"/>
            <a:ext cx="42195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Dudas generales o del proyecto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TAREA 05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Corto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952500" y="571500"/>
            <a:ext cx="1100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AGENDA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762000" y="571500"/>
            <a:ext cx="57150" cy="5238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4902501" y="4164540"/>
            <a:ext cx="1930088" cy="252655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6811913" y="3533075"/>
            <a:ext cx="414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 u="sng">
                <a:solidFill>
                  <a:srgbClr val="0066FF"/>
                </a:solidFill>
                <a:latin typeface="Gill Sans"/>
                <a:ea typeface="Gill Sans"/>
                <a:cs typeface="Gill Sans"/>
                <a:sym typeface="Gill Sa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https://youtu.be/sCR3SAVdyCc</a:t>
            </a:r>
            <a:r>
              <a:rPr lang="en-US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743200"/>
            <a:ext cx="5095875" cy="279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743200"/>
            <a:ext cx="5095875" cy="273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1104900" y="3086100"/>
            <a:ext cx="46305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Comprende el modelo de seguridad integral para almacenamiento de datos mediante el análisis de amenazas, controles de acceso y técnicas de respaldo para garantizar la confidencialidad, integridad y disponibilidad de la información </a:t>
            </a:r>
            <a:endParaRPr sz="1600"/>
          </a:p>
        </p:txBody>
      </p:sp>
      <p:sp>
        <p:nvSpPr>
          <p:cNvPr id="124" name="Google Shape;124;p16"/>
          <p:cNvSpPr txBox="1"/>
          <p:nvPr/>
        </p:nvSpPr>
        <p:spPr>
          <a:xfrm>
            <a:off x="6677025" y="3086100"/>
            <a:ext cx="4630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Analiza soluciones de almacenamiento en entornos híbridos mediante la comparación de sus características operativas y criterios de implementación para seleccionar alternativas que respondan a necesidades de eficiencia, escalabilidad y disponibilidad.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1190625" y="3667125"/>
            <a:ext cx="104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1190625" y="3952875"/>
            <a:ext cx="104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1190625" y="4238625"/>
            <a:ext cx="104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952500" y="571500"/>
            <a:ext cx="1100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300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COMPETENCIA(S) QUE DESARROLLAREMOS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762000" y="571500"/>
            <a:ext cx="57300" cy="523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/>
          <p:nvPr/>
        </p:nvSpPr>
        <p:spPr>
          <a:xfrm>
            <a:off x="8339925" y="2290428"/>
            <a:ext cx="2333700" cy="73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6991499" y="2550925"/>
            <a:ext cx="4887900" cy="17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Valor de la semana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502200" y="1538000"/>
            <a:ext cx="67422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En esta semana podemos ver reflejada la responsabilidad ya que garantizar la disponibilidad de la información no depende solo de la tecnología, sino también del compromiso de las personas y las organizaciones para prevenir fallos, proteger los datos y actuar correctamente ante incidentes.</a:t>
            </a:r>
            <a:endParaRPr b="1" sz="1800">
              <a:solidFill>
                <a:srgbClr val="1E3A8A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rgbClr val="1E3A8A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La responsabilidad se aplica cuando se toman decisiones conscientes para asegurar que la información esté disponible para los usuarios autorizados, minimizando riesgos técnicos y económicos.</a:t>
            </a:r>
            <a:endParaRPr b="1" sz="1800">
              <a:solidFill>
                <a:srgbClr val="1E3A8A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1E3A8A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2192251" y="5329950"/>
            <a:ext cx="7807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RESPONSABILIDAD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/>
          <p:nvPr/>
        </p:nvSpPr>
        <p:spPr>
          <a:xfrm>
            <a:off x="8339925" y="2290428"/>
            <a:ext cx="2333700" cy="73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6991499" y="2550925"/>
            <a:ext cx="4887900" cy="26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Fundamentos de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Disponibilidad</a:t>
            </a:r>
            <a:endParaRPr/>
          </a:p>
        </p:txBody>
      </p:sp>
      <p:pic>
        <p:nvPicPr>
          <p:cNvPr descr="Fondo digital de puntos de datos" id="144" name="Google Shape;144;p1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7933" r="7941" t="0"/>
          <a:stretch/>
        </p:blipFill>
        <p:spPr>
          <a:xfrm>
            <a:off x="0" y="0"/>
            <a:ext cx="6267451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76437"/>
            <a:ext cx="50958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529137"/>
            <a:ext cx="5095875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>
            <a:off x="762000" y="2757487"/>
            <a:ext cx="5095875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"Garantizar que los datos sean </a:t>
            </a:r>
            <a:r>
              <a:rPr b="1" i="0" lang="en-US" sz="22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accesibles y utilizables</a:t>
            </a:r>
            <a:r>
              <a:rPr b="0" i="0" lang="en-US" sz="22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cuando se necesiten, por quienes estén autorizados."</a:t>
            </a:r>
            <a:endParaRPr/>
          </a:p>
        </p:txBody>
      </p:sp>
      <p:pic>
        <p:nvPicPr>
          <p:cNvPr descr="image.png" id="153" name="Google Shape;15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1985962"/>
            <a:ext cx="50768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 txBox="1"/>
          <p:nvPr/>
        </p:nvSpPr>
        <p:spPr>
          <a:xfrm>
            <a:off x="1047750" y="4767262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 disponibilidad es una inversión, no un gasto.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Definición de Disponibilidad</a:t>
            </a:r>
            <a:endParaRPr/>
          </a:p>
        </p:txBody>
      </p:sp>
      <p:sp>
        <p:nvSpPr>
          <p:cNvPr id="156" name="Google Shape;156;p19"/>
          <p:cNvSpPr/>
          <p:nvPr/>
        </p:nvSpPr>
        <p:spPr>
          <a:xfrm>
            <a:off x="762000" y="571500"/>
            <a:ext cx="57150" cy="5238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5" y="11430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87600" y="2380775"/>
            <a:ext cx="336545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00" y="2380775"/>
            <a:ext cx="3365450" cy="30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 txBox="1"/>
          <p:nvPr/>
        </p:nvSpPr>
        <p:spPr>
          <a:xfrm>
            <a:off x="2930500" y="3428525"/>
            <a:ext cx="281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Accesibilidad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2930500" y="4047650"/>
            <a:ext cx="267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Datos disponibles en todo momento y desde cualquier ubicación autorizada.</a:t>
            </a:r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6581700" y="3428525"/>
            <a:ext cx="281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Usabilidad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6581700" y="4047650"/>
            <a:ext cx="267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 información debe ser fácil de recuperar, interpretar y utilizar.</a:t>
            </a:r>
            <a:endParaRPr/>
          </a:p>
        </p:txBody>
      </p:sp>
      <p:pic>
        <p:nvPicPr>
          <p:cNvPr descr="image.png" id="168" name="Google Shape;16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30500" y="277130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00" y="277130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Elementos de la Disponibilidad</a:t>
            </a:r>
            <a:endParaRPr/>
          </a:p>
        </p:txBody>
      </p:sp>
      <p:sp>
        <p:nvSpPr>
          <p:cNvPr id="171" name="Google Shape;171;p20"/>
          <p:cNvSpPr/>
          <p:nvPr/>
        </p:nvSpPr>
        <p:spPr>
          <a:xfrm>
            <a:off x="762000" y="571500"/>
            <a:ext cx="57150" cy="5238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3525" y="2352675"/>
            <a:ext cx="336545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57500" y="2352675"/>
            <a:ext cx="3365599" cy="30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1"/>
          <p:cNvSpPr txBox="1"/>
          <p:nvPr/>
        </p:nvSpPr>
        <p:spPr>
          <a:xfrm>
            <a:off x="1806425" y="3400425"/>
            <a:ext cx="281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Seguridas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1806425" y="4019550"/>
            <a:ext cx="267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Solo las personas autorizadas pueden acceder a ella.</a:t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1" name="Google Shape;181;p21"/>
          <p:cNvSpPr txBox="1"/>
          <p:nvPr/>
        </p:nvSpPr>
        <p:spPr>
          <a:xfrm>
            <a:off x="6300400" y="3400425"/>
            <a:ext cx="281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Resiliencia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6300400" y="4019550"/>
            <a:ext cx="267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Capacidad intrínseca para recuperarse ante fallas físicas o ciberataques.</a:t>
            </a:r>
            <a:endParaRPr/>
          </a:p>
        </p:txBody>
      </p:sp>
      <p:pic>
        <p:nvPicPr>
          <p:cNvPr descr="image.png" id="183" name="Google Shape;18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6425" y="274320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00400" y="274320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 txBox="1"/>
          <p:nvPr/>
        </p:nvSpPr>
        <p:spPr>
          <a:xfrm>
            <a:off x="952500" y="571500"/>
            <a:ext cx="1100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Elementos de la Disponibilidad</a:t>
            </a:r>
            <a:endParaRPr/>
          </a:p>
        </p:txBody>
      </p:sp>
      <p:sp>
        <p:nvSpPr>
          <p:cNvPr id="186" name="Google Shape;186;p21"/>
          <p:cNvSpPr/>
          <p:nvPr/>
        </p:nvSpPr>
        <p:spPr>
          <a:xfrm>
            <a:off x="762000" y="571500"/>
            <a:ext cx="57300" cy="523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2"/>
          <p:cNvSpPr txBox="1"/>
          <p:nvPr/>
        </p:nvSpPr>
        <p:spPr>
          <a:xfrm>
            <a:off x="762000" y="2900362"/>
            <a:ext cx="50958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 disponibilidad es uno de los tres pilares fundamentales de la seguridad de la información:</a:t>
            </a:r>
            <a:endParaRPr/>
          </a:p>
        </p:txBody>
      </p:sp>
      <p:pic>
        <p:nvPicPr>
          <p:cNvPr descr="image.png" id="193" name="Google Shape;19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9562" y="2928937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2"/>
          <p:cNvSpPr txBox="1"/>
          <p:nvPr/>
        </p:nvSpPr>
        <p:spPr>
          <a:xfrm>
            <a:off x="1038225" y="3757612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1143000" y="3757612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Confidencialidad: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Solo acceso autorizado.</a:t>
            </a:r>
            <a:endParaRPr/>
          </a:p>
        </p:txBody>
      </p:sp>
      <p:sp>
        <p:nvSpPr>
          <p:cNvPr id="196" name="Google Shape;196;p22"/>
          <p:cNvSpPr txBox="1"/>
          <p:nvPr/>
        </p:nvSpPr>
        <p:spPr>
          <a:xfrm>
            <a:off x="1038225" y="4186237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1143000" y="4186237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Integridad: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Datos precisos y sin alteraciones.</a:t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1038225" y="4614862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1143000" y="4614862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Disponibilidad: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Acceso oportuno y confiable.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La Tríada de Seguridad (CIA)</a:t>
            </a:r>
            <a:endParaRPr/>
          </a:p>
        </p:txBody>
      </p:sp>
      <p:sp>
        <p:nvSpPr>
          <p:cNvPr id="201" name="Google Shape;201;p22"/>
          <p:cNvSpPr/>
          <p:nvPr/>
        </p:nvSpPr>
        <p:spPr>
          <a:xfrm>
            <a:off x="762000" y="571500"/>
            <a:ext cx="57150" cy="5238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690937"/>
            <a:ext cx="106680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262437"/>
            <a:ext cx="106680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19500" y="3690937"/>
            <a:ext cx="78105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19500" y="4262437"/>
            <a:ext cx="78105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19500" y="3690937"/>
            <a:ext cx="58578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19500" y="4262437"/>
            <a:ext cx="39052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1476375"/>
            <a:ext cx="10668000" cy="48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3"/>
          <p:cNvSpPr txBox="1"/>
          <p:nvPr/>
        </p:nvSpPr>
        <p:spPr>
          <a:xfrm>
            <a:off x="762000" y="2547937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Costo estimado por minuto de inactividad en sectores críticos:</a:t>
            </a:r>
            <a:endParaRPr/>
          </a:p>
        </p:txBody>
      </p:sp>
      <p:sp>
        <p:nvSpPr>
          <p:cNvPr id="215" name="Google Shape;215;p23"/>
          <p:cNvSpPr txBox="1"/>
          <p:nvPr/>
        </p:nvSpPr>
        <p:spPr>
          <a:xfrm>
            <a:off x="762000" y="5024437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*Fuente: Gartner &amp; IDC Research 2025.</a:t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762000" y="3762375"/>
            <a:ext cx="2667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Banca y Finanzas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762000" y="4333875"/>
            <a:ext cx="2667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Salud (HIPAA Compliance)</a:t>
            </a:r>
            <a:endParaRPr/>
          </a:p>
        </p:txBody>
      </p:sp>
      <p:sp>
        <p:nvSpPr>
          <p:cNvPr id="218" name="Google Shape;218;p23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Impacto Económico del Downtime</a:t>
            </a:r>
            <a:endParaRPr/>
          </a:p>
        </p:txBody>
      </p:sp>
      <p:sp>
        <p:nvSpPr>
          <p:cNvPr id="219" name="Google Shape;219;p23"/>
          <p:cNvSpPr/>
          <p:nvPr/>
        </p:nvSpPr>
        <p:spPr>
          <a:xfrm>
            <a:off x="762000" y="571500"/>
            <a:ext cx="57150" cy="5238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4"/>
          <p:cNvSpPr/>
          <p:nvPr/>
        </p:nvSpPr>
        <p:spPr>
          <a:xfrm>
            <a:off x="5619750" y="2208014"/>
            <a:ext cx="952500" cy="571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4"/>
          <p:cNvSpPr txBox="1"/>
          <p:nvPr/>
        </p:nvSpPr>
        <p:spPr>
          <a:xfrm>
            <a:off x="4572000" y="2550925"/>
            <a:ext cx="70266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Tecnologías de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Infraestructura Física y garan</a:t>
            </a:r>
            <a:r>
              <a:rPr b="1" lang="en-US" sz="5400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tizar la disponibilidad</a:t>
            </a:r>
            <a:endParaRPr/>
          </a:p>
        </p:txBody>
      </p:sp>
      <p:pic>
        <p:nvPicPr>
          <p:cNvPr descr="Un hombre con traje y corbata con un celular en la calle&#10;&#10;Descripción generada automáticamente" id="227" name="Google Shape;227;p24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0" l="21063" r="21057" t="0"/>
          <a:stretch/>
        </p:blipFill>
        <p:spPr>
          <a:xfrm>
            <a:off x="0" y="2360675"/>
            <a:ext cx="4110050" cy="449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2" name="Google Shape;23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76437"/>
            <a:ext cx="50958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5"/>
          <p:cNvSpPr txBox="1"/>
          <p:nvPr/>
        </p:nvSpPr>
        <p:spPr>
          <a:xfrm>
            <a:off x="762000" y="2166937"/>
            <a:ext cx="50958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 sistema RAID (Redundant Array of Independent Disks) protege contra fallos físicos del hardware de almacenamiento.</a:t>
            </a:r>
            <a:endParaRPr/>
          </a:p>
        </p:txBody>
      </p:sp>
      <p:pic>
        <p:nvPicPr>
          <p:cNvPr descr="image.png" id="235" name="Google Shape;23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85962"/>
            <a:ext cx="50768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5"/>
          <p:cNvSpPr txBox="1"/>
          <p:nvPr/>
        </p:nvSpPr>
        <p:spPr>
          <a:xfrm>
            <a:off x="762000" y="3309937"/>
            <a:ext cx="53506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rPr>
              <a:t>Beneficios:</a:t>
            </a:r>
            <a:endParaRPr/>
          </a:p>
        </p:txBody>
      </p:sp>
      <p:sp>
        <p:nvSpPr>
          <p:cNvPr id="237" name="Google Shape;237;p25"/>
          <p:cNvSpPr txBox="1"/>
          <p:nvPr/>
        </p:nvSpPr>
        <p:spPr>
          <a:xfrm>
            <a:off x="1038225" y="3681412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8" name="Google Shape;238;p25"/>
          <p:cNvSpPr txBox="1"/>
          <p:nvPr/>
        </p:nvSpPr>
        <p:spPr>
          <a:xfrm>
            <a:off x="1143000" y="3681412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Tolerancia a fallos de discos.</a:t>
            </a:r>
            <a:endParaRPr/>
          </a:p>
        </p:txBody>
      </p:sp>
      <p:sp>
        <p:nvSpPr>
          <p:cNvPr id="239" name="Google Shape;239;p25"/>
          <p:cNvSpPr txBox="1"/>
          <p:nvPr/>
        </p:nvSpPr>
        <p:spPr>
          <a:xfrm>
            <a:off x="1038225" y="3967162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0" name="Google Shape;240;p25"/>
          <p:cNvSpPr txBox="1"/>
          <p:nvPr/>
        </p:nvSpPr>
        <p:spPr>
          <a:xfrm>
            <a:off x="1143000" y="3967162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Mejora en el rendimiento de E/S.</a:t>
            </a:r>
            <a:endParaRPr/>
          </a:p>
        </p:txBody>
      </p:sp>
      <p:sp>
        <p:nvSpPr>
          <p:cNvPr id="241" name="Google Shape;241;p25"/>
          <p:cNvSpPr txBox="1"/>
          <p:nvPr/>
        </p:nvSpPr>
        <p:spPr>
          <a:xfrm>
            <a:off x="1038225" y="4252912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2" name="Google Shape;242;p25"/>
          <p:cNvSpPr txBox="1"/>
          <p:nvPr/>
        </p:nvSpPr>
        <p:spPr>
          <a:xfrm>
            <a:off x="1143000" y="4252912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Continuidad sin pérdida de datos.</a:t>
            </a:r>
            <a:endParaRPr/>
          </a:p>
        </p:txBody>
      </p:sp>
      <p:sp>
        <p:nvSpPr>
          <p:cNvPr id="243" name="Google Shape;243;p25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Redundancia de Discos (RAID)</a:t>
            </a:r>
            <a:endParaRPr/>
          </a:p>
        </p:txBody>
      </p:sp>
      <p:sp>
        <p:nvSpPr>
          <p:cNvPr id="244" name="Google Shape;244;p25"/>
          <p:cNvSpPr/>
          <p:nvPr/>
        </p:nvSpPr>
        <p:spPr>
          <a:xfrm>
            <a:off x="762000" y="571500"/>
            <a:ext cx="57150" cy="5238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6"/>
          <p:cNvSpPr/>
          <p:nvPr/>
        </p:nvSpPr>
        <p:spPr>
          <a:xfrm>
            <a:off x="762000" y="2281237"/>
            <a:ext cx="10668000" cy="32004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1" name="Google Shape;251;p26"/>
          <p:cNvGraphicFramePr/>
          <p:nvPr/>
        </p:nvGraphicFramePr>
        <p:xfrm>
          <a:off x="762000" y="22812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{3302BF5C-0084-4361-B5F0-8FC9A55F9FE1}</a:tableStyleId>
              </a:tblPr>
              <a:tblGrid>
                <a:gridCol w="1685025"/>
                <a:gridCol w="3171825"/>
                <a:gridCol w="2626675"/>
                <a:gridCol w="3184475"/>
              </a:tblGrid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E3A8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Nivel RAID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E3A8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Concepto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E3A8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Tolerancia a Fallos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E3A8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Uso Ideal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RAID 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Stripping (Distribución)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Ninguna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Rendimiento puro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RAID 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Mirroring (Espejo)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 Disco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Sistemas Operativos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RAID 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Paridad Distribuida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 Disco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Servidores de archivos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RAID 10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Espejo + Distribución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 o más Discos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Bases de datos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2" name="Google Shape;252;p26"/>
          <p:cNvSpPr/>
          <p:nvPr/>
        </p:nvSpPr>
        <p:spPr>
          <a:xfrm>
            <a:off x="762000" y="2900362"/>
            <a:ext cx="168503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6"/>
          <p:cNvSpPr/>
          <p:nvPr/>
        </p:nvSpPr>
        <p:spPr>
          <a:xfrm>
            <a:off x="2447032" y="2900362"/>
            <a:ext cx="31718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6"/>
          <p:cNvSpPr/>
          <p:nvPr/>
        </p:nvSpPr>
        <p:spPr>
          <a:xfrm>
            <a:off x="5618857" y="2900362"/>
            <a:ext cx="2626667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6"/>
          <p:cNvSpPr/>
          <p:nvPr/>
        </p:nvSpPr>
        <p:spPr>
          <a:xfrm>
            <a:off x="8245524" y="2900362"/>
            <a:ext cx="318447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6"/>
          <p:cNvSpPr/>
          <p:nvPr/>
        </p:nvSpPr>
        <p:spPr>
          <a:xfrm>
            <a:off x="762000" y="3552825"/>
            <a:ext cx="16850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6"/>
          <p:cNvSpPr/>
          <p:nvPr/>
        </p:nvSpPr>
        <p:spPr>
          <a:xfrm>
            <a:off x="2447032" y="3552825"/>
            <a:ext cx="31718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6"/>
          <p:cNvSpPr/>
          <p:nvPr/>
        </p:nvSpPr>
        <p:spPr>
          <a:xfrm>
            <a:off x="5618857" y="3552825"/>
            <a:ext cx="26266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6"/>
          <p:cNvSpPr/>
          <p:nvPr/>
        </p:nvSpPr>
        <p:spPr>
          <a:xfrm>
            <a:off x="8245524" y="3552825"/>
            <a:ext cx="3184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6"/>
          <p:cNvSpPr/>
          <p:nvPr/>
        </p:nvSpPr>
        <p:spPr>
          <a:xfrm>
            <a:off x="762000" y="4191000"/>
            <a:ext cx="16850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6"/>
          <p:cNvSpPr/>
          <p:nvPr/>
        </p:nvSpPr>
        <p:spPr>
          <a:xfrm>
            <a:off x="2447032" y="4191000"/>
            <a:ext cx="31718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6"/>
          <p:cNvSpPr/>
          <p:nvPr/>
        </p:nvSpPr>
        <p:spPr>
          <a:xfrm>
            <a:off x="5618857" y="4191000"/>
            <a:ext cx="26266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6"/>
          <p:cNvSpPr/>
          <p:nvPr/>
        </p:nvSpPr>
        <p:spPr>
          <a:xfrm>
            <a:off x="8245524" y="4191000"/>
            <a:ext cx="3184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6"/>
          <p:cNvSpPr/>
          <p:nvPr/>
        </p:nvSpPr>
        <p:spPr>
          <a:xfrm>
            <a:off x="762000" y="4829175"/>
            <a:ext cx="16850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6"/>
          <p:cNvSpPr/>
          <p:nvPr/>
        </p:nvSpPr>
        <p:spPr>
          <a:xfrm>
            <a:off x="2447032" y="4829175"/>
            <a:ext cx="31718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5618857" y="4829175"/>
            <a:ext cx="26266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6"/>
          <p:cNvSpPr/>
          <p:nvPr/>
        </p:nvSpPr>
        <p:spPr>
          <a:xfrm>
            <a:off x="8245524" y="4829175"/>
            <a:ext cx="3184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6"/>
          <p:cNvSpPr/>
          <p:nvPr/>
        </p:nvSpPr>
        <p:spPr>
          <a:xfrm>
            <a:off x="762000" y="5467350"/>
            <a:ext cx="16850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6"/>
          <p:cNvSpPr/>
          <p:nvPr/>
        </p:nvSpPr>
        <p:spPr>
          <a:xfrm>
            <a:off x="2447032" y="5467350"/>
            <a:ext cx="31718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6"/>
          <p:cNvSpPr/>
          <p:nvPr/>
        </p:nvSpPr>
        <p:spPr>
          <a:xfrm>
            <a:off x="5618857" y="5467350"/>
            <a:ext cx="26266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6"/>
          <p:cNvSpPr/>
          <p:nvPr/>
        </p:nvSpPr>
        <p:spPr>
          <a:xfrm>
            <a:off x="8245524" y="5467350"/>
            <a:ext cx="3184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6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Comparativa de Niveles RAID</a:t>
            </a:r>
            <a:endParaRPr/>
          </a:p>
        </p:txBody>
      </p:sp>
      <p:sp>
        <p:nvSpPr>
          <p:cNvPr id="273" name="Google Shape;273;p26"/>
          <p:cNvSpPr/>
          <p:nvPr/>
        </p:nvSpPr>
        <p:spPr>
          <a:xfrm>
            <a:off x="762000" y="571500"/>
            <a:ext cx="57150" cy="5238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8" name="Google Shape;27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069025"/>
            <a:ext cx="336545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3069025"/>
            <a:ext cx="336545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3069025"/>
            <a:ext cx="3365599" cy="30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7"/>
          <p:cNvSpPr txBox="1"/>
          <p:nvPr/>
        </p:nvSpPr>
        <p:spPr>
          <a:xfrm>
            <a:off x="1104900" y="4116775"/>
            <a:ext cx="281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Distribución</a:t>
            </a:r>
            <a:endParaRPr/>
          </a:p>
        </p:txBody>
      </p:sp>
      <p:sp>
        <p:nvSpPr>
          <p:cNvPr id="283" name="Google Shape;283;p27"/>
          <p:cNvSpPr txBox="1"/>
          <p:nvPr/>
        </p:nvSpPr>
        <p:spPr>
          <a:xfrm>
            <a:off x="1104900" y="4735900"/>
            <a:ext cx="267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Reparte las peticiones entre múltiples servidores para evitar la saturación.</a:t>
            </a:r>
            <a:endParaRPr/>
          </a:p>
        </p:txBody>
      </p:sp>
      <p:sp>
        <p:nvSpPr>
          <p:cNvPr id="284" name="Google Shape;284;p27"/>
          <p:cNvSpPr txBox="1"/>
          <p:nvPr/>
        </p:nvSpPr>
        <p:spPr>
          <a:xfrm>
            <a:off x="4756100" y="4116775"/>
            <a:ext cx="281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Health Checks</a:t>
            </a:r>
            <a:endParaRPr/>
          </a:p>
        </p:txBody>
      </p:sp>
      <p:sp>
        <p:nvSpPr>
          <p:cNvPr id="285" name="Google Shape;285;p27"/>
          <p:cNvSpPr txBox="1"/>
          <p:nvPr/>
        </p:nvSpPr>
        <p:spPr>
          <a:xfrm>
            <a:off x="4756100" y="4735900"/>
            <a:ext cx="267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Monitoreo constante. Si un servidor falla, el tráfico se redirige automáticamente.</a:t>
            </a:r>
            <a:endParaRPr/>
          </a:p>
        </p:txBody>
      </p:sp>
      <p:sp>
        <p:nvSpPr>
          <p:cNvPr id="286" name="Google Shape;286;p27"/>
          <p:cNvSpPr txBox="1"/>
          <p:nvPr/>
        </p:nvSpPr>
        <p:spPr>
          <a:xfrm>
            <a:off x="8407300" y="4116775"/>
            <a:ext cx="281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Ejemplos</a:t>
            </a:r>
            <a:endParaRPr/>
          </a:p>
        </p:txBody>
      </p:sp>
      <p:sp>
        <p:nvSpPr>
          <p:cNvPr id="287" name="Google Shape;287;p27"/>
          <p:cNvSpPr txBox="1"/>
          <p:nvPr/>
        </p:nvSpPr>
        <p:spPr>
          <a:xfrm>
            <a:off x="8407300" y="4735900"/>
            <a:ext cx="267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AWS ELB (Elastic Load Balancer) y Nginx como proxy inverso.</a:t>
            </a:r>
            <a:endParaRPr/>
          </a:p>
        </p:txBody>
      </p:sp>
      <p:pic>
        <p:nvPicPr>
          <p:cNvPr descr="image.png" id="288" name="Google Shape;288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04900" y="3459550"/>
            <a:ext cx="47625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56100" y="345955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07300" y="345955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7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Balanceo de Carga</a:t>
            </a:r>
            <a:endParaRPr/>
          </a:p>
        </p:txBody>
      </p:sp>
      <p:sp>
        <p:nvSpPr>
          <p:cNvPr id="292" name="Google Shape;292;p27"/>
          <p:cNvSpPr/>
          <p:nvPr/>
        </p:nvSpPr>
        <p:spPr>
          <a:xfrm>
            <a:off x="762000" y="571500"/>
            <a:ext cx="57150" cy="5238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3" name="Google Shape;293;p2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648026" y="628651"/>
            <a:ext cx="4866300" cy="187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8" name="Google Shape;29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976437"/>
            <a:ext cx="50958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1985962"/>
            <a:ext cx="50768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8"/>
          <p:cNvSpPr txBox="1"/>
          <p:nvPr/>
        </p:nvSpPr>
        <p:spPr>
          <a:xfrm>
            <a:off x="6334125" y="2166937"/>
            <a:ext cx="50958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 redundancia geográfica es vital para la supervivencia ante desastres naturales o fallos masivos de energía.</a:t>
            </a:r>
            <a:endParaRPr/>
          </a:p>
        </p:txBody>
      </p:sp>
      <p:sp>
        <p:nvSpPr>
          <p:cNvPr id="302" name="Google Shape;302;p28"/>
          <p:cNvSpPr txBox="1"/>
          <p:nvPr/>
        </p:nvSpPr>
        <p:spPr>
          <a:xfrm>
            <a:off x="6334125" y="3309937"/>
            <a:ext cx="53506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rPr>
              <a:t>Servidores Espejo</a:t>
            </a:r>
            <a:endParaRPr/>
          </a:p>
        </p:txBody>
      </p:sp>
      <p:sp>
        <p:nvSpPr>
          <p:cNvPr id="303" name="Google Shape;303;p28"/>
          <p:cNvSpPr txBox="1"/>
          <p:nvPr/>
        </p:nvSpPr>
        <p:spPr>
          <a:xfrm>
            <a:off x="6334125" y="3729037"/>
            <a:ext cx="50958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Réplicas exactas en tiempo real ubicadas en diferentes ciudades o continentes.</a:t>
            </a:r>
            <a:endParaRPr/>
          </a:p>
        </p:txBody>
      </p:sp>
      <p:sp>
        <p:nvSpPr>
          <p:cNvPr id="304" name="Google Shape;304;p28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Centros de Datos Distribuidos</a:t>
            </a:r>
            <a:endParaRPr/>
          </a:p>
        </p:txBody>
      </p:sp>
      <p:sp>
        <p:nvSpPr>
          <p:cNvPr id="305" name="Google Shape;305;p28"/>
          <p:cNvSpPr/>
          <p:nvPr/>
        </p:nvSpPr>
        <p:spPr>
          <a:xfrm>
            <a:off x="762000" y="571500"/>
            <a:ext cx="57150" cy="5238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0" name="Google Shape;31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723150"/>
            <a:ext cx="3365450" cy="240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3723150"/>
            <a:ext cx="3365450" cy="240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3723150"/>
            <a:ext cx="3365600" cy="240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9"/>
          <p:cNvSpPr txBox="1"/>
          <p:nvPr/>
        </p:nvSpPr>
        <p:spPr>
          <a:xfrm>
            <a:off x="1104900" y="4116775"/>
            <a:ext cx="281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ESCALABILIDAD</a:t>
            </a:r>
            <a:endParaRPr/>
          </a:p>
        </p:txBody>
      </p:sp>
      <p:sp>
        <p:nvSpPr>
          <p:cNvPr id="315" name="Google Shape;315;p29"/>
          <p:cNvSpPr txBox="1"/>
          <p:nvPr/>
        </p:nvSpPr>
        <p:spPr>
          <a:xfrm>
            <a:off x="1104900" y="4735900"/>
            <a:ext cx="2679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 adapta a la demanda sin intervención manual.</a:t>
            </a:r>
            <a:endParaRPr/>
          </a:p>
        </p:txBody>
      </p:sp>
      <p:sp>
        <p:nvSpPr>
          <p:cNvPr id="316" name="Google Shape;316;p29"/>
          <p:cNvSpPr txBox="1"/>
          <p:nvPr/>
        </p:nvSpPr>
        <p:spPr>
          <a:xfrm>
            <a:off x="4756100" y="4116775"/>
            <a:ext cx="281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redundancia geografica</a:t>
            </a:r>
            <a:endParaRPr/>
          </a:p>
        </p:txBody>
      </p:sp>
      <p:sp>
        <p:nvSpPr>
          <p:cNvPr id="317" name="Google Shape;317;p29"/>
          <p:cNvSpPr txBox="1"/>
          <p:nvPr/>
        </p:nvSpPr>
        <p:spPr>
          <a:xfrm>
            <a:off x="4756100" y="4735900"/>
            <a:ext cx="267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Copias de datos en distintas regiones para evitar pérdidas.</a:t>
            </a:r>
            <a:endParaRPr/>
          </a:p>
        </p:txBody>
      </p:sp>
      <p:sp>
        <p:nvSpPr>
          <p:cNvPr id="318" name="Google Shape;318;p29"/>
          <p:cNvSpPr txBox="1"/>
          <p:nvPr/>
        </p:nvSpPr>
        <p:spPr>
          <a:xfrm>
            <a:off x="8407300" y="4116775"/>
            <a:ext cx="281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Ejemplos</a:t>
            </a:r>
            <a:endParaRPr/>
          </a:p>
        </p:txBody>
      </p:sp>
      <p:sp>
        <p:nvSpPr>
          <p:cNvPr id="319" name="Google Shape;319;p29"/>
          <p:cNvSpPr txBox="1"/>
          <p:nvPr/>
        </p:nvSpPr>
        <p:spPr>
          <a:xfrm>
            <a:off x="8407300" y="4735900"/>
            <a:ext cx="26799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AWS S3</a:t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Inter"/>
              <a:buChar char="-"/>
            </a:pP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Google cloud storage</a:t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0" name="Google Shape;320;p29"/>
          <p:cNvSpPr txBox="1"/>
          <p:nvPr/>
        </p:nvSpPr>
        <p:spPr>
          <a:xfrm>
            <a:off x="938450" y="1709225"/>
            <a:ext cx="1100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300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Almacenamiento en la Nube</a:t>
            </a:r>
            <a:endParaRPr/>
          </a:p>
        </p:txBody>
      </p:sp>
      <p:sp>
        <p:nvSpPr>
          <p:cNvPr id="321" name="Google Shape;321;p29"/>
          <p:cNvSpPr/>
          <p:nvPr/>
        </p:nvSpPr>
        <p:spPr>
          <a:xfrm>
            <a:off x="762000" y="1517900"/>
            <a:ext cx="57300" cy="10113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2" name="Google Shape;322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28350" y="457638"/>
            <a:ext cx="4292651" cy="2859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7" name="Google Shape;32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0"/>
          <p:cNvSpPr/>
          <p:nvPr/>
        </p:nvSpPr>
        <p:spPr>
          <a:xfrm>
            <a:off x="5619750" y="2208014"/>
            <a:ext cx="952500" cy="571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0"/>
          <p:cNvSpPr txBox="1"/>
          <p:nvPr/>
        </p:nvSpPr>
        <p:spPr>
          <a:xfrm>
            <a:off x="1980485" y="2550914"/>
            <a:ext cx="8231100" cy="17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Estrategias de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Respaldo y Recuperación</a:t>
            </a:r>
            <a:endParaRPr/>
          </a:p>
        </p:txBody>
      </p:sp>
      <p:sp>
        <p:nvSpPr>
          <p:cNvPr id="330" name="Google Shape;330;p30"/>
          <p:cNvSpPr txBox="1"/>
          <p:nvPr/>
        </p:nvSpPr>
        <p:spPr>
          <a:xfrm>
            <a:off x="4148150" y="4296335"/>
            <a:ext cx="3895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Seguros de vida para sus activos digitales.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5" name="Google Shape;33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300287"/>
            <a:ext cx="3365450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7" name="Google Shape;337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300287"/>
            <a:ext cx="3365450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8" name="Google Shape;338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300287"/>
            <a:ext cx="3365599" cy="31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1"/>
          <p:cNvSpPr txBox="1"/>
          <p:nvPr/>
        </p:nvSpPr>
        <p:spPr>
          <a:xfrm>
            <a:off x="1104900" y="2690812"/>
            <a:ext cx="26796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/>
          </a:p>
        </p:txBody>
      </p:sp>
      <p:sp>
        <p:nvSpPr>
          <p:cNvPr id="340" name="Google Shape;340;p31"/>
          <p:cNvSpPr txBox="1"/>
          <p:nvPr/>
        </p:nvSpPr>
        <p:spPr>
          <a:xfrm>
            <a:off x="1104900" y="3452812"/>
            <a:ext cx="281363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Copias</a:t>
            </a:r>
            <a:endParaRPr/>
          </a:p>
        </p:txBody>
      </p:sp>
      <p:sp>
        <p:nvSpPr>
          <p:cNvPr id="341" name="Google Shape;341;p31"/>
          <p:cNvSpPr txBox="1"/>
          <p:nvPr/>
        </p:nvSpPr>
        <p:spPr>
          <a:xfrm>
            <a:off x="1104900" y="4071937"/>
            <a:ext cx="26796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Mantenga al menos tres copias de sus datos (Original + 2 backups).</a:t>
            </a:r>
            <a:endParaRPr/>
          </a:p>
        </p:txBody>
      </p:sp>
      <p:sp>
        <p:nvSpPr>
          <p:cNvPr id="342" name="Google Shape;342;p31"/>
          <p:cNvSpPr txBox="1"/>
          <p:nvPr/>
        </p:nvSpPr>
        <p:spPr>
          <a:xfrm>
            <a:off x="4756100" y="2690812"/>
            <a:ext cx="26796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/>
          </a:p>
        </p:txBody>
      </p:sp>
      <p:sp>
        <p:nvSpPr>
          <p:cNvPr id="343" name="Google Shape;343;p31"/>
          <p:cNvSpPr txBox="1"/>
          <p:nvPr/>
        </p:nvSpPr>
        <p:spPr>
          <a:xfrm>
            <a:off x="4756100" y="3452812"/>
            <a:ext cx="281363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Medios</a:t>
            </a:r>
            <a:endParaRPr/>
          </a:p>
        </p:txBody>
      </p:sp>
      <p:sp>
        <p:nvSpPr>
          <p:cNvPr id="344" name="Google Shape;344;p31"/>
          <p:cNvSpPr txBox="1"/>
          <p:nvPr/>
        </p:nvSpPr>
        <p:spPr>
          <a:xfrm>
            <a:off x="4756100" y="4071937"/>
            <a:ext cx="26796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Almacene en dos tipos de medios diferentes (Disco, Nube, Cinta).</a:t>
            </a:r>
            <a:endParaRPr/>
          </a:p>
        </p:txBody>
      </p:sp>
      <p:sp>
        <p:nvSpPr>
          <p:cNvPr id="345" name="Google Shape;345;p31"/>
          <p:cNvSpPr txBox="1"/>
          <p:nvPr/>
        </p:nvSpPr>
        <p:spPr>
          <a:xfrm>
            <a:off x="8407300" y="2690812"/>
            <a:ext cx="2679799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/>
          </a:p>
        </p:txBody>
      </p:sp>
      <p:sp>
        <p:nvSpPr>
          <p:cNvPr id="346" name="Google Shape;346;p31"/>
          <p:cNvSpPr txBox="1"/>
          <p:nvPr/>
        </p:nvSpPr>
        <p:spPr>
          <a:xfrm>
            <a:off x="8407300" y="3452812"/>
            <a:ext cx="281378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Off-site</a:t>
            </a:r>
            <a:endParaRPr/>
          </a:p>
        </p:txBody>
      </p:sp>
      <p:sp>
        <p:nvSpPr>
          <p:cNvPr id="347" name="Google Shape;347;p31"/>
          <p:cNvSpPr txBox="1"/>
          <p:nvPr/>
        </p:nvSpPr>
        <p:spPr>
          <a:xfrm>
            <a:off x="8407300" y="4071937"/>
            <a:ext cx="267979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Una copia debe estar fuera del sitio físico (Nube o sitio remoto).</a:t>
            </a:r>
            <a:endParaRPr/>
          </a:p>
        </p:txBody>
      </p:sp>
      <p:sp>
        <p:nvSpPr>
          <p:cNvPr id="348" name="Google Shape;348;p31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La Regla de Oro: 3-2-1</a:t>
            </a:r>
            <a:endParaRPr/>
          </a:p>
        </p:txBody>
      </p:sp>
      <p:sp>
        <p:nvSpPr>
          <p:cNvPr id="349" name="Google Shape;349;p31"/>
          <p:cNvSpPr/>
          <p:nvPr/>
        </p:nvSpPr>
        <p:spPr>
          <a:xfrm>
            <a:off x="762000" y="571500"/>
            <a:ext cx="57150" cy="5238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4" name="Google Shape;35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5" name="Google Shape;35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562225"/>
            <a:ext cx="5095875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6" name="Google Shape;356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562225"/>
            <a:ext cx="5095875" cy="2638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2"/>
          <p:cNvSpPr txBox="1"/>
          <p:nvPr/>
        </p:nvSpPr>
        <p:spPr>
          <a:xfrm>
            <a:off x="1104900" y="2905125"/>
            <a:ext cx="463057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Incremental</a:t>
            </a:r>
            <a:endParaRPr/>
          </a:p>
        </p:txBody>
      </p:sp>
      <p:sp>
        <p:nvSpPr>
          <p:cNvPr id="358" name="Google Shape;358;p32"/>
          <p:cNvSpPr txBox="1"/>
          <p:nvPr/>
        </p:nvSpPr>
        <p:spPr>
          <a:xfrm>
            <a:off x="1104900" y="3524250"/>
            <a:ext cx="44100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Respalda solo lo que cambió desde el último backup de cualquier tipo.</a:t>
            </a:r>
            <a:endParaRPr/>
          </a:p>
        </p:txBody>
      </p:sp>
      <p:sp>
        <p:nvSpPr>
          <p:cNvPr id="359" name="Google Shape;359;p32"/>
          <p:cNvSpPr txBox="1"/>
          <p:nvPr/>
        </p:nvSpPr>
        <p:spPr>
          <a:xfrm>
            <a:off x="1104900" y="4381500"/>
            <a:ext cx="44100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Rápido de crear, lento de restaurar.</a:t>
            </a:r>
            <a:endParaRPr/>
          </a:p>
        </p:txBody>
      </p:sp>
      <p:sp>
        <p:nvSpPr>
          <p:cNvPr id="360" name="Google Shape;360;p32"/>
          <p:cNvSpPr txBox="1"/>
          <p:nvPr/>
        </p:nvSpPr>
        <p:spPr>
          <a:xfrm>
            <a:off x="6677025" y="2905125"/>
            <a:ext cx="463057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Diferencial</a:t>
            </a:r>
            <a:endParaRPr/>
          </a:p>
        </p:txBody>
      </p:sp>
      <p:sp>
        <p:nvSpPr>
          <p:cNvPr id="361" name="Google Shape;361;p32"/>
          <p:cNvSpPr txBox="1"/>
          <p:nvPr/>
        </p:nvSpPr>
        <p:spPr>
          <a:xfrm>
            <a:off x="6677025" y="3524250"/>
            <a:ext cx="44100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Respalda todo lo que cambió desde el último backup </a:t>
            </a: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completo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362" name="Google Shape;362;p32"/>
          <p:cNvSpPr txBox="1"/>
          <p:nvPr/>
        </p:nvSpPr>
        <p:spPr>
          <a:xfrm>
            <a:off x="6677025" y="4381500"/>
            <a:ext cx="44100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Lento de crear, rápido de restaurar.</a:t>
            </a:r>
            <a:endParaRPr/>
          </a:p>
        </p:txBody>
      </p:sp>
      <p:sp>
        <p:nvSpPr>
          <p:cNvPr id="363" name="Google Shape;363;p32"/>
          <p:cNvSpPr txBox="1"/>
          <p:nvPr/>
        </p:nvSpPr>
        <p:spPr>
          <a:xfrm>
            <a:off x="952500" y="571500"/>
            <a:ext cx="1100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BACKUPS - </a:t>
            </a:r>
            <a:r>
              <a:rPr b="1" i="0" lang="en-US" sz="33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Incrementales vs. Diferenciales</a:t>
            </a:r>
            <a:endParaRPr/>
          </a:p>
        </p:txBody>
      </p:sp>
      <p:sp>
        <p:nvSpPr>
          <p:cNvPr id="364" name="Google Shape;364;p32"/>
          <p:cNvSpPr/>
          <p:nvPr/>
        </p:nvSpPr>
        <p:spPr>
          <a:xfrm>
            <a:off x="762000" y="571500"/>
            <a:ext cx="57150" cy="5238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9" name="Google Shape;36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3"/>
          <p:cNvSpPr txBox="1"/>
          <p:nvPr/>
        </p:nvSpPr>
        <p:spPr>
          <a:xfrm>
            <a:off x="762000" y="2495550"/>
            <a:ext cx="50958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 abstracción del hardware mediante VMware o Hyper-V permite:</a:t>
            </a:r>
            <a:endParaRPr/>
          </a:p>
        </p:txBody>
      </p:sp>
      <p:sp>
        <p:nvSpPr>
          <p:cNvPr id="371" name="Google Shape;371;p33"/>
          <p:cNvSpPr txBox="1"/>
          <p:nvPr/>
        </p:nvSpPr>
        <p:spPr>
          <a:xfrm>
            <a:off x="1038225" y="3305175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72" name="Google Shape;372;p33"/>
          <p:cNvSpPr txBox="1"/>
          <p:nvPr/>
        </p:nvSpPr>
        <p:spPr>
          <a:xfrm>
            <a:off x="1143000" y="3305175"/>
            <a:ext cx="47148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Snapshotting: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Capturar el estado exacto de un sistema.</a:t>
            </a:r>
            <a:endParaRPr/>
          </a:p>
        </p:txBody>
      </p:sp>
      <p:sp>
        <p:nvSpPr>
          <p:cNvPr id="373" name="Google Shape;373;p33"/>
          <p:cNvSpPr txBox="1"/>
          <p:nvPr/>
        </p:nvSpPr>
        <p:spPr>
          <a:xfrm>
            <a:off x="1038225" y="4019550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74" name="Google Shape;374;p33"/>
          <p:cNvSpPr txBox="1"/>
          <p:nvPr/>
        </p:nvSpPr>
        <p:spPr>
          <a:xfrm>
            <a:off x="1143000" y="4019550"/>
            <a:ext cx="47148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Migración en vivo: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Mover sistemas entre servidores sin downtime.</a:t>
            </a:r>
            <a:endParaRPr/>
          </a:p>
        </p:txBody>
      </p:sp>
      <p:sp>
        <p:nvSpPr>
          <p:cNvPr id="375" name="Google Shape;375;p33"/>
          <p:cNvSpPr txBox="1"/>
          <p:nvPr/>
        </p:nvSpPr>
        <p:spPr>
          <a:xfrm>
            <a:off x="1038225" y="4733925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76" name="Google Shape;376;p33"/>
          <p:cNvSpPr txBox="1"/>
          <p:nvPr/>
        </p:nvSpPr>
        <p:spPr>
          <a:xfrm>
            <a:off x="1143000" y="4733925"/>
            <a:ext cx="47148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Recuperación rápida: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Restaurar archivos VHD/VMDK en minutos.</a:t>
            </a:r>
            <a:endParaRPr/>
          </a:p>
        </p:txBody>
      </p:sp>
      <p:sp>
        <p:nvSpPr>
          <p:cNvPr id="377" name="Google Shape;377;p33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Virtualización y Continuidad</a:t>
            </a:r>
            <a:endParaRPr/>
          </a:p>
        </p:txBody>
      </p:sp>
      <p:sp>
        <p:nvSpPr>
          <p:cNvPr id="378" name="Google Shape;378;p33"/>
          <p:cNvSpPr/>
          <p:nvPr/>
        </p:nvSpPr>
        <p:spPr>
          <a:xfrm>
            <a:off x="762000" y="571500"/>
            <a:ext cx="57150" cy="5238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9" name="Google Shape;379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1450" y="2262756"/>
            <a:ext cx="4714875" cy="32598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5" name="Google Shape;38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209800"/>
            <a:ext cx="3365450" cy="3343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6" name="Google Shape;386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209800"/>
            <a:ext cx="3365450" cy="3343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7" name="Google Shape;387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209800"/>
            <a:ext cx="3365599" cy="3343275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4"/>
          <p:cNvSpPr txBox="1"/>
          <p:nvPr/>
        </p:nvSpPr>
        <p:spPr>
          <a:xfrm>
            <a:off x="1104900" y="3257550"/>
            <a:ext cx="281363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Docker</a:t>
            </a:r>
            <a:endParaRPr/>
          </a:p>
        </p:txBody>
      </p:sp>
      <p:sp>
        <p:nvSpPr>
          <p:cNvPr id="389" name="Google Shape;389;p34"/>
          <p:cNvSpPr txBox="1"/>
          <p:nvPr/>
        </p:nvSpPr>
        <p:spPr>
          <a:xfrm>
            <a:off x="1104900" y="3876675"/>
            <a:ext cx="26796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Aislamiento de aplicaciones para garantizar que funcionen en cualquier entorno.</a:t>
            </a:r>
            <a:endParaRPr/>
          </a:p>
        </p:txBody>
      </p:sp>
      <p:sp>
        <p:nvSpPr>
          <p:cNvPr id="390" name="Google Shape;390;p34"/>
          <p:cNvSpPr txBox="1"/>
          <p:nvPr/>
        </p:nvSpPr>
        <p:spPr>
          <a:xfrm>
            <a:off x="4756100" y="3257550"/>
            <a:ext cx="281363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Kubernetes</a:t>
            </a:r>
            <a:endParaRPr/>
          </a:p>
        </p:txBody>
      </p:sp>
      <p:sp>
        <p:nvSpPr>
          <p:cNvPr id="391" name="Google Shape;391;p34"/>
          <p:cNvSpPr txBox="1"/>
          <p:nvPr/>
        </p:nvSpPr>
        <p:spPr>
          <a:xfrm>
            <a:off x="4756100" y="3876675"/>
            <a:ext cx="26796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Orquestación que escala y reinicia contenedores automáticamente si fallan.</a:t>
            </a:r>
            <a:endParaRPr/>
          </a:p>
        </p:txBody>
      </p:sp>
      <p:sp>
        <p:nvSpPr>
          <p:cNvPr id="392" name="Google Shape;392;p34"/>
          <p:cNvSpPr txBox="1"/>
          <p:nvPr/>
        </p:nvSpPr>
        <p:spPr>
          <a:xfrm>
            <a:off x="8407300" y="3257550"/>
            <a:ext cx="281378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Alta Disp.</a:t>
            </a:r>
            <a:endParaRPr/>
          </a:p>
        </p:txBody>
      </p:sp>
      <p:sp>
        <p:nvSpPr>
          <p:cNvPr id="393" name="Google Shape;393;p34"/>
          <p:cNvSpPr txBox="1"/>
          <p:nvPr/>
        </p:nvSpPr>
        <p:spPr>
          <a:xfrm>
            <a:off x="8407300" y="3876675"/>
            <a:ext cx="267979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Garantiza que siempre haya instancias activas de su aplicación.</a:t>
            </a:r>
            <a:endParaRPr/>
          </a:p>
        </p:txBody>
      </p:sp>
      <p:pic>
        <p:nvPicPr>
          <p:cNvPr descr="image.png" id="394" name="Google Shape;394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04900" y="2590800"/>
            <a:ext cx="5238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5" name="Google Shape;395;p3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56100" y="2600325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6" name="Google Shape;396;p3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07300" y="2600325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4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Contenedores y Orquestación</a:t>
            </a:r>
            <a:endParaRPr/>
          </a:p>
        </p:txBody>
      </p:sp>
      <p:sp>
        <p:nvSpPr>
          <p:cNvPr id="398" name="Google Shape;398;p34"/>
          <p:cNvSpPr/>
          <p:nvPr/>
        </p:nvSpPr>
        <p:spPr>
          <a:xfrm>
            <a:off x="762000" y="571500"/>
            <a:ext cx="57150" cy="5238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/>
          <p:nvPr/>
        </p:nvSpPr>
        <p:spPr>
          <a:xfrm>
            <a:off x="5619750" y="2208014"/>
            <a:ext cx="952500" cy="571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5"/>
          <p:cNvSpPr txBox="1"/>
          <p:nvPr/>
        </p:nvSpPr>
        <p:spPr>
          <a:xfrm>
            <a:off x="2545556" y="2550914"/>
            <a:ext cx="7101000" cy="17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Redes y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Seguridad Perimetral</a:t>
            </a:r>
            <a:endParaRPr/>
          </a:p>
        </p:txBody>
      </p:sp>
      <p:sp>
        <p:nvSpPr>
          <p:cNvPr id="406" name="Google Shape;406;p35"/>
          <p:cNvSpPr txBox="1"/>
          <p:nvPr/>
        </p:nvSpPr>
        <p:spPr>
          <a:xfrm>
            <a:off x="4548187" y="4249935"/>
            <a:ext cx="3095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Protegiendo los datos en tránsito.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1" name="Google Shape;41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75" y="11905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2" name="Google Shape;41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3875" y="3161989"/>
            <a:ext cx="4341037" cy="3241525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36"/>
          <p:cNvSpPr txBox="1"/>
          <p:nvPr/>
        </p:nvSpPr>
        <p:spPr>
          <a:xfrm>
            <a:off x="6235925" y="3238862"/>
            <a:ext cx="50958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Las CDN como </a:t>
            </a: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Cloudflare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 Akamai mejoran la disponibilidad global:</a:t>
            </a:r>
            <a:endParaRPr/>
          </a:p>
        </p:txBody>
      </p:sp>
      <p:sp>
        <p:nvSpPr>
          <p:cNvPr id="414" name="Google Shape;414;p36"/>
          <p:cNvSpPr txBox="1"/>
          <p:nvPr/>
        </p:nvSpPr>
        <p:spPr>
          <a:xfrm>
            <a:off x="6785350" y="4238637"/>
            <a:ext cx="471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Caching: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Almacena copias cerca del usuario.</a:t>
            </a:r>
            <a:endParaRPr/>
          </a:p>
        </p:txBody>
      </p:sp>
      <p:sp>
        <p:nvSpPr>
          <p:cNvPr id="415" name="Google Shape;415;p36"/>
          <p:cNvSpPr txBox="1"/>
          <p:nvPr/>
        </p:nvSpPr>
        <p:spPr>
          <a:xfrm>
            <a:off x="6610350" y="3405187"/>
            <a:ext cx="104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6"/>
          <p:cNvSpPr txBox="1"/>
          <p:nvPr/>
        </p:nvSpPr>
        <p:spPr>
          <a:xfrm>
            <a:off x="6785350" y="4667262"/>
            <a:ext cx="471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Reducción de Latencia: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Respuesta inmediata.</a:t>
            </a:r>
            <a:endParaRPr/>
          </a:p>
        </p:txBody>
      </p:sp>
      <p:sp>
        <p:nvSpPr>
          <p:cNvPr id="417" name="Google Shape;417;p36"/>
          <p:cNvSpPr txBox="1"/>
          <p:nvPr/>
        </p:nvSpPr>
        <p:spPr>
          <a:xfrm>
            <a:off x="6610350" y="3833812"/>
            <a:ext cx="104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6"/>
          <p:cNvSpPr txBox="1"/>
          <p:nvPr/>
        </p:nvSpPr>
        <p:spPr>
          <a:xfrm>
            <a:off x="6785350" y="5095887"/>
            <a:ext cx="47148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Offloading: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Quita carga de sus servidores principales.</a:t>
            </a:r>
            <a:endParaRPr/>
          </a:p>
        </p:txBody>
      </p:sp>
      <p:sp>
        <p:nvSpPr>
          <p:cNvPr id="419" name="Google Shape;419;p36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Redes de Distribución (CDN)</a:t>
            </a:r>
            <a:endParaRPr/>
          </a:p>
        </p:txBody>
      </p:sp>
      <p:sp>
        <p:nvSpPr>
          <p:cNvPr id="420" name="Google Shape;420;p36"/>
          <p:cNvSpPr/>
          <p:nvPr/>
        </p:nvSpPr>
        <p:spPr>
          <a:xfrm>
            <a:off x="762000" y="571500"/>
            <a:ext cx="57150" cy="5238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6"/>
          <p:cNvSpPr txBox="1"/>
          <p:nvPr/>
        </p:nvSpPr>
        <p:spPr>
          <a:xfrm>
            <a:off x="4972325" y="1708088"/>
            <a:ext cx="7061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Son redes de servidores distribuidos en diferentes ubicaciones geográficas que almacenan copias de contenido web, como imágenes, videos, archivos CSS, JavaScript o páginas estáticas. </a:t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6" name="Google Shape;42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7" name="Google Shape;42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352675"/>
            <a:ext cx="336545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8" name="Google Shape;428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352675"/>
            <a:ext cx="336545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9" name="Google Shape;429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352675"/>
            <a:ext cx="3365599" cy="30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37"/>
          <p:cNvSpPr txBox="1"/>
          <p:nvPr/>
        </p:nvSpPr>
        <p:spPr>
          <a:xfrm>
            <a:off x="1104900" y="3400425"/>
            <a:ext cx="281363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La Amenaza</a:t>
            </a:r>
            <a:endParaRPr/>
          </a:p>
        </p:txBody>
      </p:sp>
      <p:sp>
        <p:nvSpPr>
          <p:cNvPr id="431" name="Google Shape;431;p37"/>
          <p:cNvSpPr txBox="1"/>
          <p:nvPr/>
        </p:nvSpPr>
        <p:spPr>
          <a:xfrm>
            <a:off x="1104900" y="4019550"/>
            <a:ext cx="26796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Ataques de Denegación de Servicio que inundan su red con tráfico falso.</a:t>
            </a:r>
            <a:endParaRPr/>
          </a:p>
        </p:txBody>
      </p:sp>
      <p:sp>
        <p:nvSpPr>
          <p:cNvPr id="432" name="Google Shape;432;p37"/>
          <p:cNvSpPr txBox="1"/>
          <p:nvPr/>
        </p:nvSpPr>
        <p:spPr>
          <a:xfrm>
            <a:off x="4756100" y="3400425"/>
            <a:ext cx="281363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Filtrado</a:t>
            </a:r>
            <a:endParaRPr/>
          </a:p>
        </p:txBody>
      </p:sp>
      <p:sp>
        <p:nvSpPr>
          <p:cNvPr id="433" name="Google Shape;433;p37"/>
          <p:cNvSpPr txBox="1"/>
          <p:nvPr/>
        </p:nvSpPr>
        <p:spPr>
          <a:xfrm>
            <a:off x="4756100" y="4019550"/>
            <a:ext cx="26796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Identificación de patrones maliciosos para bloquear el tráfico antes de que llegue.</a:t>
            </a:r>
            <a:endParaRPr/>
          </a:p>
        </p:txBody>
      </p:sp>
      <p:sp>
        <p:nvSpPr>
          <p:cNvPr id="434" name="Google Shape;434;p37"/>
          <p:cNvSpPr txBox="1"/>
          <p:nvPr/>
        </p:nvSpPr>
        <p:spPr>
          <a:xfrm>
            <a:off x="8407300" y="3400425"/>
            <a:ext cx="281378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WAF</a:t>
            </a:r>
            <a:endParaRPr/>
          </a:p>
        </p:txBody>
      </p:sp>
      <p:sp>
        <p:nvSpPr>
          <p:cNvPr id="435" name="Google Shape;435;p37"/>
          <p:cNvSpPr txBox="1"/>
          <p:nvPr/>
        </p:nvSpPr>
        <p:spPr>
          <a:xfrm>
            <a:off x="8407300" y="4019550"/>
            <a:ext cx="267979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Web Application Firewall para proteger aplicaciones contra ataques complejos.</a:t>
            </a:r>
            <a:endParaRPr/>
          </a:p>
        </p:txBody>
      </p:sp>
      <p:pic>
        <p:nvPicPr>
          <p:cNvPr descr="image.png" id="436" name="Google Shape;436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04900" y="2743200"/>
            <a:ext cx="3714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7" name="Google Shape;437;p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56100" y="274320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8" name="Google Shape;438;p3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07300" y="2743200"/>
            <a:ext cx="37147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Protección DDoS</a:t>
            </a:r>
            <a:endParaRPr/>
          </a:p>
        </p:txBody>
      </p:sp>
      <p:sp>
        <p:nvSpPr>
          <p:cNvPr id="440" name="Google Shape;440;p37"/>
          <p:cNvSpPr/>
          <p:nvPr/>
        </p:nvSpPr>
        <p:spPr>
          <a:xfrm>
            <a:off x="762000" y="571500"/>
            <a:ext cx="57150" cy="5238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5" name="Google Shape;44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6" name="Google Shape;446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286000"/>
            <a:ext cx="5095875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7" name="Google Shape;447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286000"/>
            <a:ext cx="5095875" cy="23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38"/>
          <p:cNvSpPr txBox="1"/>
          <p:nvPr/>
        </p:nvSpPr>
        <p:spPr>
          <a:xfrm>
            <a:off x="1104900" y="2628900"/>
            <a:ext cx="463057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El Ataque</a:t>
            </a:r>
            <a:endParaRPr/>
          </a:p>
        </p:txBody>
      </p:sp>
      <p:sp>
        <p:nvSpPr>
          <p:cNvPr id="449" name="Google Shape;449;p38"/>
          <p:cNvSpPr txBox="1"/>
          <p:nvPr/>
        </p:nvSpPr>
        <p:spPr>
          <a:xfrm>
            <a:off x="1104900" y="3248025"/>
            <a:ext cx="44100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Inserción de código SQL malicioso en formularios web para robar o destruir bases de datos.</a:t>
            </a:r>
            <a:endParaRPr/>
          </a:p>
        </p:txBody>
      </p:sp>
      <p:sp>
        <p:nvSpPr>
          <p:cNvPr id="450" name="Google Shape;450;p38"/>
          <p:cNvSpPr txBox="1"/>
          <p:nvPr/>
        </p:nvSpPr>
        <p:spPr>
          <a:xfrm>
            <a:off x="6677025" y="2628900"/>
            <a:ext cx="463057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La Prevención</a:t>
            </a:r>
            <a:endParaRPr/>
          </a:p>
        </p:txBody>
      </p:sp>
      <p:sp>
        <p:nvSpPr>
          <p:cNvPr id="451" name="Google Shape;451;p38"/>
          <p:cNvSpPr txBox="1"/>
          <p:nvPr/>
        </p:nvSpPr>
        <p:spPr>
          <a:xfrm>
            <a:off x="6677025" y="3248025"/>
            <a:ext cx="44100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Uso de </a:t>
            </a: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consultas preparadas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(Prepared Statements) y validación estricta de entradas.</a:t>
            </a:r>
            <a:endParaRPr/>
          </a:p>
        </p:txBody>
      </p:sp>
      <p:sp>
        <p:nvSpPr>
          <p:cNvPr id="452" name="Google Shape;452;p38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Vulnerabilidades: SQL Injection</a:t>
            </a:r>
            <a:endParaRPr/>
          </a:p>
        </p:txBody>
      </p:sp>
      <p:sp>
        <p:nvSpPr>
          <p:cNvPr id="453" name="Google Shape;453;p38"/>
          <p:cNvSpPr/>
          <p:nvPr/>
        </p:nvSpPr>
        <p:spPr>
          <a:xfrm>
            <a:off x="762000" y="571500"/>
            <a:ext cx="57150" cy="5238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8" name="Google Shape;45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39"/>
          <p:cNvSpPr/>
          <p:nvPr/>
        </p:nvSpPr>
        <p:spPr>
          <a:xfrm>
            <a:off x="5619750" y="2208014"/>
            <a:ext cx="952500" cy="571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9"/>
          <p:cNvSpPr txBox="1"/>
          <p:nvPr/>
        </p:nvSpPr>
        <p:spPr>
          <a:xfrm>
            <a:off x="2235517" y="2550914"/>
            <a:ext cx="7721100" cy="17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Seguridad en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Almacenamiento Cloud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5" name="Google Shape;46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6" name="Google Shape;466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847975"/>
            <a:ext cx="5095875" cy="2066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7" name="Google Shape;467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847975"/>
            <a:ext cx="5095875" cy="2066925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40"/>
          <p:cNvSpPr txBox="1"/>
          <p:nvPr/>
        </p:nvSpPr>
        <p:spPr>
          <a:xfrm>
            <a:off x="1104900" y="3190875"/>
            <a:ext cx="463057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Del Proveedor</a:t>
            </a:r>
            <a:endParaRPr/>
          </a:p>
        </p:txBody>
      </p:sp>
      <p:sp>
        <p:nvSpPr>
          <p:cNvPr id="469" name="Google Shape;469;p40"/>
          <p:cNvSpPr txBox="1"/>
          <p:nvPr/>
        </p:nvSpPr>
        <p:spPr>
          <a:xfrm>
            <a:off x="1104900" y="3810000"/>
            <a:ext cx="44100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Seguridad </a:t>
            </a: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DE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la nube: centros físicos, redes, energía y hardware.</a:t>
            </a:r>
            <a:endParaRPr/>
          </a:p>
        </p:txBody>
      </p:sp>
      <p:sp>
        <p:nvSpPr>
          <p:cNvPr id="470" name="Google Shape;470;p40"/>
          <p:cNvSpPr txBox="1"/>
          <p:nvPr/>
        </p:nvSpPr>
        <p:spPr>
          <a:xfrm>
            <a:off x="6677025" y="3190875"/>
            <a:ext cx="463057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Del Cliente</a:t>
            </a:r>
            <a:endParaRPr/>
          </a:p>
        </p:txBody>
      </p:sp>
      <p:sp>
        <p:nvSpPr>
          <p:cNvPr id="471" name="Google Shape;471;p40"/>
          <p:cNvSpPr txBox="1"/>
          <p:nvPr/>
        </p:nvSpPr>
        <p:spPr>
          <a:xfrm>
            <a:off x="6677025" y="3810000"/>
            <a:ext cx="44100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Seguridad </a:t>
            </a: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la nube: datos, cifrado, accesos e identidades.</a:t>
            </a:r>
            <a:endParaRPr/>
          </a:p>
        </p:txBody>
      </p:sp>
      <p:sp>
        <p:nvSpPr>
          <p:cNvPr id="472" name="Google Shape;472;p40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Modelo de Responsabilidad</a:t>
            </a:r>
            <a:endParaRPr/>
          </a:p>
        </p:txBody>
      </p:sp>
      <p:sp>
        <p:nvSpPr>
          <p:cNvPr id="473" name="Google Shape;473;p40"/>
          <p:cNvSpPr/>
          <p:nvPr/>
        </p:nvSpPr>
        <p:spPr>
          <a:xfrm>
            <a:off x="762000" y="571500"/>
            <a:ext cx="57150" cy="5238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8" name="Google Shape;47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9" name="Google Shape;479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352675"/>
            <a:ext cx="336545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0" name="Google Shape;480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352675"/>
            <a:ext cx="336545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1" name="Google Shape;481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352675"/>
            <a:ext cx="3365599" cy="30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41"/>
          <p:cNvSpPr txBox="1"/>
          <p:nvPr/>
        </p:nvSpPr>
        <p:spPr>
          <a:xfrm>
            <a:off x="1104900" y="3400425"/>
            <a:ext cx="281363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Control de Acceso</a:t>
            </a:r>
            <a:endParaRPr/>
          </a:p>
        </p:txBody>
      </p:sp>
      <p:sp>
        <p:nvSpPr>
          <p:cNvPr id="483" name="Google Shape;483;p41"/>
          <p:cNvSpPr txBox="1"/>
          <p:nvPr/>
        </p:nvSpPr>
        <p:spPr>
          <a:xfrm>
            <a:off x="1104900" y="4019550"/>
            <a:ext cx="26796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Principio de menor privilegio: dar solo el acceso necesario.</a:t>
            </a:r>
            <a:endParaRPr/>
          </a:p>
        </p:txBody>
      </p:sp>
      <p:sp>
        <p:nvSpPr>
          <p:cNvPr id="484" name="Google Shape;484;p41"/>
          <p:cNvSpPr txBox="1"/>
          <p:nvPr/>
        </p:nvSpPr>
        <p:spPr>
          <a:xfrm>
            <a:off x="4756100" y="3400425"/>
            <a:ext cx="281363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MFA</a:t>
            </a:r>
            <a:endParaRPr/>
          </a:p>
        </p:txBody>
      </p:sp>
      <p:sp>
        <p:nvSpPr>
          <p:cNvPr id="485" name="Google Shape;485;p41"/>
          <p:cNvSpPr txBox="1"/>
          <p:nvPr/>
        </p:nvSpPr>
        <p:spPr>
          <a:xfrm>
            <a:off x="4756100" y="4019550"/>
            <a:ext cx="26796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Autenticación de Múltiples Factores para todas las cuentas críticas.</a:t>
            </a:r>
            <a:endParaRPr/>
          </a:p>
        </p:txBody>
      </p:sp>
      <p:sp>
        <p:nvSpPr>
          <p:cNvPr id="486" name="Google Shape;486;p41"/>
          <p:cNvSpPr txBox="1"/>
          <p:nvPr/>
        </p:nvSpPr>
        <p:spPr>
          <a:xfrm>
            <a:off x="8407300" y="3400425"/>
            <a:ext cx="281378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Auditoría</a:t>
            </a:r>
            <a:endParaRPr/>
          </a:p>
        </p:txBody>
      </p:sp>
      <p:sp>
        <p:nvSpPr>
          <p:cNvPr id="487" name="Google Shape;487;p41"/>
          <p:cNvSpPr txBox="1"/>
          <p:nvPr/>
        </p:nvSpPr>
        <p:spPr>
          <a:xfrm>
            <a:off x="8407300" y="4019550"/>
            <a:ext cx="267979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Registro completo de quién accedió a qué archivo y cuándo.</a:t>
            </a:r>
            <a:endParaRPr/>
          </a:p>
        </p:txBody>
      </p:sp>
      <p:pic>
        <p:nvPicPr>
          <p:cNvPr descr="image.png" id="488" name="Google Shape;488;p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04900" y="2743200"/>
            <a:ext cx="5238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9" name="Google Shape;489;p4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56100" y="274320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0" name="Google Shape;490;p4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07300" y="2743200"/>
            <a:ext cx="31432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41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Gestión de Identidades (IAM)</a:t>
            </a:r>
            <a:endParaRPr/>
          </a:p>
        </p:txBody>
      </p:sp>
      <p:sp>
        <p:nvSpPr>
          <p:cNvPr id="492" name="Google Shape;492;p41"/>
          <p:cNvSpPr/>
          <p:nvPr/>
        </p:nvSpPr>
        <p:spPr>
          <a:xfrm>
            <a:off x="762000" y="571500"/>
            <a:ext cx="57150" cy="5238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3" name="Google Shape;493;p4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407297" y="292672"/>
            <a:ext cx="1658025" cy="165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2"/>
          <p:cNvSpPr txBox="1"/>
          <p:nvPr/>
        </p:nvSpPr>
        <p:spPr>
          <a:xfrm>
            <a:off x="952500" y="571500"/>
            <a:ext cx="1100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Gestión de Identidades (IAM)</a:t>
            </a:r>
            <a:endParaRPr/>
          </a:p>
        </p:txBody>
      </p:sp>
      <p:sp>
        <p:nvSpPr>
          <p:cNvPr id="499" name="Google Shape;499;p42"/>
          <p:cNvSpPr/>
          <p:nvPr/>
        </p:nvSpPr>
        <p:spPr>
          <a:xfrm>
            <a:off x="762000" y="571500"/>
            <a:ext cx="57300" cy="523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0" name="Google Shape;50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0225" y="1514575"/>
            <a:ext cx="8102497" cy="5111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05" name="Google Shape;5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6" name="Google Shape;506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76437"/>
            <a:ext cx="50958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3"/>
          <p:cNvSpPr txBox="1"/>
          <p:nvPr/>
        </p:nvSpPr>
        <p:spPr>
          <a:xfrm>
            <a:off x="762000" y="2795587"/>
            <a:ext cx="53506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rPr>
              <a:t>En Tránsito</a:t>
            </a:r>
            <a:endParaRPr/>
          </a:p>
        </p:txBody>
      </p:sp>
      <p:sp>
        <p:nvSpPr>
          <p:cNvPr id="508" name="Google Shape;508;p43"/>
          <p:cNvSpPr txBox="1"/>
          <p:nvPr/>
        </p:nvSpPr>
        <p:spPr>
          <a:xfrm>
            <a:off x="762000" y="3214687"/>
            <a:ext cx="50958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Uso de TLS/SSL para proteger datos mientras viajan por la red.</a:t>
            </a:r>
            <a:endParaRPr/>
          </a:p>
        </p:txBody>
      </p:sp>
      <p:sp>
        <p:nvSpPr>
          <p:cNvPr id="509" name="Google Shape;509;p43"/>
          <p:cNvSpPr txBox="1"/>
          <p:nvPr/>
        </p:nvSpPr>
        <p:spPr>
          <a:xfrm>
            <a:off x="762000" y="4071937"/>
            <a:ext cx="53506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rPr>
              <a:t>En Reposo</a:t>
            </a:r>
            <a:endParaRPr/>
          </a:p>
        </p:txBody>
      </p:sp>
      <p:sp>
        <p:nvSpPr>
          <p:cNvPr id="510" name="Google Shape;510;p43"/>
          <p:cNvSpPr txBox="1"/>
          <p:nvPr/>
        </p:nvSpPr>
        <p:spPr>
          <a:xfrm>
            <a:off x="762000" y="4491037"/>
            <a:ext cx="5095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Cifrado AES-256 en los discos del proveedor de nube.</a:t>
            </a:r>
            <a:endParaRPr/>
          </a:p>
        </p:txBody>
      </p:sp>
      <p:pic>
        <p:nvPicPr>
          <p:cNvPr descr="image.png" id="511" name="Google Shape;511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85962"/>
            <a:ext cx="50768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43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Cifrado de Datos</a:t>
            </a:r>
            <a:endParaRPr/>
          </a:p>
        </p:txBody>
      </p:sp>
      <p:sp>
        <p:nvSpPr>
          <p:cNvPr id="513" name="Google Shape;513;p43"/>
          <p:cNvSpPr/>
          <p:nvPr/>
        </p:nvSpPr>
        <p:spPr>
          <a:xfrm>
            <a:off x="762000" y="571500"/>
            <a:ext cx="57150" cy="5238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18" name="Google Shape;51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44"/>
          <p:cNvSpPr/>
          <p:nvPr/>
        </p:nvSpPr>
        <p:spPr>
          <a:xfrm>
            <a:off x="5619750" y="2208014"/>
            <a:ext cx="952500" cy="571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44"/>
          <p:cNvSpPr txBox="1"/>
          <p:nvPr/>
        </p:nvSpPr>
        <p:spPr>
          <a:xfrm>
            <a:off x="2190511" y="2550914"/>
            <a:ext cx="7811100" cy="17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Escalabilidad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y Rendimiento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25" name="Google Shape;52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3262312"/>
            <a:ext cx="106680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45"/>
          <p:cNvSpPr txBox="1"/>
          <p:nvPr/>
        </p:nvSpPr>
        <p:spPr>
          <a:xfrm>
            <a:off x="819150" y="5054512"/>
            <a:ext cx="5095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Vertical: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Aumentar CPU/RAM a una sola máquina.</a:t>
            </a:r>
            <a:endParaRPr/>
          </a:p>
        </p:txBody>
      </p:sp>
      <p:sp>
        <p:nvSpPr>
          <p:cNvPr id="527" name="Google Shape;527;p45"/>
          <p:cNvSpPr txBox="1"/>
          <p:nvPr/>
        </p:nvSpPr>
        <p:spPr>
          <a:xfrm>
            <a:off x="6334125" y="4884262"/>
            <a:ext cx="50958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Horizontal: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Añadir más máquinas al grupo de servidores.</a:t>
            </a:r>
            <a:endParaRPr/>
          </a:p>
        </p:txBody>
      </p:sp>
      <p:sp>
        <p:nvSpPr>
          <p:cNvPr id="528" name="Google Shape;528;p45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Horizontal vs. Vertical</a:t>
            </a:r>
            <a:endParaRPr/>
          </a:p>
        </p:txBody>
      </p:sp>
      <p:sp>
        <p:nvSpPr>
          <p:cNvPr id="529" name="Google Shape;529;p45"/>
          <p:cNvSpPr/>
          <p:nvPr/>
        </p:nvSpPr>
        <p:spPr>
          <a:xfrm>
            <a:off x="762000" y="571500"/>
            <a:ext cx="57150" cy="5238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0" name="Google Shape;530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9150" y="1241000"/>
            <a:ext cx="9463943" cy="2923413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45"/>
          <p:cNvSpPr txBox="1"/>
          <p:nvPr/>
        </p:nvSpPr>
        <p:spPr>
          <a:xfrm>
            <a:off x="6486525" y="5036662"/>
            <a:ext cx="50958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Horizontal: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Añadir más máquinas al grupo de servidores.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36" name="Google Shape;53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3262312"/>
            <a:ext cx="106680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46"/>
          <p:cNvSpPr txBox="1"/>
          <p:nvPr/>
        </p:nvSpPr>
        <p:spPr>
          <a:xfrm>
            <a:off x="952500" y="571500"/>
            <a:ext cx="1100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Horizontal vs. Vertical</a:t>
            </a:r>
            <a:endParaRPr/>
          </a:p>
        </p:txBody>
      </p:sp>
      <p:sp>
        <p:nvSpPr>
          <p:cNvPr id="538" name="Google Shape;538;p46"/>
          <p:cNvSpPr/>
          <p:nvPr/>
        </p:nvSpPr>
        <p:spPr>
          <a:xfrm>
            <a:off x="762000" y="571500"/>
            <a:ext cx="57300" cy="523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9" name="Google Shape;53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3800" y="1697319"/>
            <a:ext cx="6041600" cy="433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44" name="Google Shape;544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5" name="Google Shape;545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300287"/>
            <a:ext cx="5095875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6" name="Google Shape;546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300287"/>
            <a:ext cx="5095875" cy="31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7"/>
          <p:cNvSpPr txBox="1"/>
          <p:nvPr/>
        </p:nvSpPr>
        <p:spPr>
          <a:xfrm>
            <a:off x="1104900" y="2643187"/>
            <a:ext cx="441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Input/Output Operations Per Second.</a:t>
            </a:r>
            <a:endParaRPr sz="3000"/>
          </a:p>
        </p:txBody>
      </p:sp>
      <p:sp>
        <p:nvSpPr>
          <p:cNvPr id="548" name="Google Shape;548;p47"/>
          <p:cNvSpPr txBox="1"/>
          <p:nvPr/>
        </p:nvSpPr>
        <p:spPr>
          <a:xfrm>
            <a:off x="1231300" y="3884037"/>
            <a:ext cx="44100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Mide cuántas operaciones de lectura y escritura puede realizar un sistema de almacenamiento en un segundo, como un disco duro, SSD, NAS o SAN. </a:t>
            </a:r>
            <a:endParaRPr/>
          </a:p>
        </p:txBody>
      </p:sp>
      <p:sp>
        <p:nvSpPr>
          <p:cNvPr id="549" name="Google Shape;549;p47"/>
          <p:cNvSpPr txBox="1"/>
          <p:nvPr/>
        </p:nvSpPr>
        <p:spPr>
          <a:xfrm>
            <a:off x="6677025" y="2643187"/>
            <a:ext cx="441007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msec</a:t>
            </a:r>
            <a:endParaRPr/>
          </a:p>
        </p:txBody>
      </p:sp>
      <p:sp>
        <p:nvSpPr>
          <p:cNvPr id="550" name="Google Shape;550;p47"/>
          <p:cNvSpPr txBox="1"/>
          <p:nvPr/>
        </p:nvSpPr>
        <p:spPr>
          <a:xfrm>
            <a:off x="6677025" y="4357687"/>
            <a:ext cx="44100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Latencia de red.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El tiempo de respuesta. Crucial para la experiencia del usuario final.</a:t>
            </a:r>
            <a:endParaRPr/>
          </a:p>
        </p:txBody>
      </p:sp>
      <p:sp>
        <p:nvSpPr>
          <p:cNvPr id="551" name="Google Shape;551;p47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IOPS y Latencia</a:t>
            </a:r>
            <a:endParaRPr/>
          </a:p>
        </p:txBody>
      </p:sp>
      <p:sp>
        <p:nvSpPr>
          <p:cNvPr id="552" name="Google Shape;552;p47"/>
          <p:cNvSpPr/>
          <p:nvPr/>
        </p:nvSpPr>
        <p:spPr>
          <a:xfrm>
            <a:off x="762000" y="571500"/>
            <a:ext cx="57150" cy="5238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57" name="Google Shape;55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8" name="Google Shape;558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024187"/>
            <a:ext cx="5095875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48"/>
          <p:cNvSpPr txBox="1"/>
          <p:nvPr/>
        </p:nvSpPr>
        <p:spPr>
          <a:xfrm>
            <a:off x="6334125" y="2166937"/>
            <a:ext cx="50958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 nube permite el ajuste automático de recursos basado en métricas de uso real.</a:t>
            </a:r>
            <a:endParaRPr/>
          </a:p>
        </p:txBody>
      </p:sp>
      <p:sp>
        <p:nvSpPr>
          <p:cNvPr id="560" name="Google Shape;560;p48"/>
          <p:cNvSpPr txBox="1"/>
          <p:nvPr/>
        </p:nvSpPr>
        <p:spPr>
          <a:xfrm>
            <a:off x="6572250" y="3452812"/>
            <a:ext cx="4619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Beneficio: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Paga solo por lo que usa, evitando el sobreaprovisionamiento.</a:t>
            </a:r>
            <a:endParaRPr/>
          </a:p>
        </p:txBody>
      </p:sp>
      <p:sp>
        <p:nvSpPr>
          <p:cNvPr id="561" name="Google Shape;561;p48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Elasticidad y Auto-scaling</a:t>
            </a:r>
            <a:endParaRPr/>
          </a:p>
        </p:txBody>
      </p:sp>
      <p:sp>
        <p:nvSpPr>
          <p:cNvPr id="562" name="Google Shape;562;p48"/>
          <p:cNvSpPr/>
          <p:nvPr/>
        </p:nvSpPr>
        <p:spPr>
          <a:xfrm>
            <a:off x="762000" y="571500"/>
            <a:ext cx="57150" cy="5238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3" name="Google Shape;563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9900" y="1857350"/>
            <a:ext cx="5239825" cy="45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49"/>
          <p:cNvSpPr/>
          <p:nvPr/>
        </p:nvSpPr>
        <p:spPr>
          <a:xfrm>
            <a:off x="5619750" y="2208014"/>
            <a:ext cx="952500" cy="571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49"/>
          <p:cNvSpPr txBox="1"/>
          <p:nvPr/>
        </p:nvSpPr>
        <p:spPr>
          <a:xfrm>
            <a:off x="2940605" y="2550914"/>
            <a:ext cx="6310800" cy="17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Costos y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Modelos de Precios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74" name="Google Shape;57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50"/>
          <p:cNvSpPr/>
          <p:nvPr/>
        </p:nvSpPr>
        <p:spPr>
          <a:xfrm>
            <a:off x="762000" y="2600325"/>
            <a:ext cx="10668000" cy="256222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76" name="Google Shape;576;p50"/>
          <p:cNvGraphicFramePr/>
          <p:nvPr/>
        </p:nvGraphicFramePr>
        <p:xfrm>
          <a:off x="762000" y="26003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{3302BF5C-0084-4361-B5F0-8FC9A55F9FE1}</a:tableStyleId>
              </a:tblPr>
              <a:tblGrid>
                <a:gridCol w="3255175"/>
                <a:gridCol w="1861700"/>
                <a:gridCol w="2558350"/>
                <a:gridCol w="2992775"/>
              </a:tblGrid>
              <a:tr h="64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E3A8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Clase de Almacenamiento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E3A8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Costo por GB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E3A8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Latencia de Acceso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E3A8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Caso de Uso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64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Hot Storage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Más alto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Milisegundos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Datos de uso diario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Cool Storage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Milisegundos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Backups recientes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Archive (Glacier)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Mínimo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Minutos/Horas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Datos históricos (Legal)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77" name="Google Shape;577;p50"/>
          <p:cNvSpPr/>
          <p:nvPr/>
        </p:nvSpPr>
        <p:spPr>
          <a:xfrm>
            <a:off x="762000" y="3219450"/>
            <a:ext cx="3255168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50"/>
          <p:cNvSpPr/>
          <p:nvPr/>
        </p:nvSpPr>
        <p:spPr>
          <a:xfrm>
            <a:off x="4017168" y="3219450"/>
            <a:ext cx="1861691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50"/>
          <p:cNvSpPr/>
          <p:nvPr/>
        </p:nvSpPr>
        <p:spPr>
          <a:xfrm>
            <a:off x="5878859" y="3219450"/>
            <a:ext cx="255835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50"/>
          <p:cNvSpPr/>
          <p:nvPr/>
        </p:nvSpPr>
        <p:spPr>
          <a:xfrm>
            <a:off x="8437215" y="3219450"/>
            <a:ext cx="2992784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50"/>
          <p:cNvSpPr/>
          <p:nvPr/>
        </p:nvSpPr>
        <p:spPr>
          <a:xfrm>
            <a:off x="762000" y="3871912"/>
            <a:ext cx="32551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50"/>
          <p:cNvSpPr/>
          <p:nvPr/>
        </p:nvSpPr>
        <p:spPr>
          <a:xfrm>
            <a:off x="4017168" y="3871912"/>
            <a:ext cx="18616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50"/>
          <p:cNvSpPr/>
          <p:nvPr/>
        </p:nvSpPr>
        <p:spPr>
          <a:xfrm>
            <a:off x="5878859" y="3871912"/>
            <a:ext cx="25583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50"/>
          <p:cNvSpPr/>
          <p:nvPr/>
        </p:nvSpPr>
        <p:spPr>
          <a:xfrm>
            <a:off x="8437215" y="3871912"/>
            <a:ext cx="29927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50"/>
          <p:cNvSpPr/>
          <p:nvPr/>
        </p:nvSpPr>
        <p:spPr>
          <a:xfrm>
            <a:off x="762000" y="4510087"/>
            <a:ext cx="32551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50"/>
          <p:cNvSpPr/>
          <p:nvPr/>
        </p:nvSpPr>
        <p:spPr>
          <a:xfrm>
            <a:off x="4017168" y="4510087"/>
            <a:ext cx="18616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50"/>
          <p:cNvSpPr/>
          <p:nvPr/>
        </p:nvSpPr>
        <p:spPr>
          <a:xfrm>
            <a:off x="5878859" y="4510087"/>
            <a:ext cx="25583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50"/>
          <p:cNvSpPr/>
          <p:nvPr/>
        </p:nvSpPr>
        <p:spPr>
          <a:xfrm>
            <a:off x="8437215" y="4510087"/>
            <a:ext cx="29927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50"/>
          <p:cNvSpPr/>
          <p:nvPr/>
        </p:nvSpPr>
        <p:spPr>
          <a:xfrm>
            <a:off x="762000" y="5148262"/>
            <a:ext cx="32551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50"/>
          <p:cNvSpPr/>
          <p:nvPr/>
        </p:nvSpPr>
        <p:spPr>
          <a:xfrm>
            <a:off x="4017168" y="5148262"/>
            <a:ext cx="18616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50"/>
          <p:cNvSpPr/>
          <p:nvPr/>
        </p:nvSpPr>
        <p:spPr>
          <a:xfrm>
            <a:off x="5878859" y="5148262"/>
            <a:ext cx="25583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50"/>
          <p:cNvSpPr/>
          <p:nvPr/>
        </p:nvSpPr>
        <p:spPr>
          <a:xfrm>
            <a:off x="8437215" y="5148262"/>
            <a:ext cx="29927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50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Niveles de Almacenamiento</a:t>
            </a:r>
            <a:endParaRPr/>
          </a:p>
        </p:txBody>
      </p:sp>
      <p:sp>
        <p:nvSpPr>
          <p:cNvPr id="594" name="Google Shape;594;p50"/>
          <p:cNvSpPr/>
          <p:nvPr/>
        </p:nvSpPr>
        <p:spPr>
          <a:xfrm>
            <a:off x="762000" y="571500"/>
            <a:ext cx="57150" cy="5238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99" name="Google Shape;59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0" name="Google Shape;600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352675"/>
            <a:ext cx="336545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1" name="Google Shape;601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352675"/>
            <a:ext cx="336545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2" name="Google Shape;602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352675"/>
            <a:ext cx="3365599" cy="30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51"/>
          <p:cNvSpPr txBox="1"/>
          <p:nvPr/>
        </p:nvSpPr>
        <p:spPr>
          <a:xfrm>
            <a:off x="1104900" y="3400425"/>
            <a:ext cx="281363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Sin CAPEX</a:t>
            </a:r>
            <a:endParaRPr/>
          </a:p>
        </p:txBody>
      </p:sp>
      <p:sp>
        <p:nvSpPr>
          <p:cNvPr id="604" name="Google Shape;604;p51"/>
          <p:cNvSpPr txBox="1"/>
          <p:nvPr/>
        </p:nvSpPr>
        <p:spPr>
          <a:xfrm>
            <a:off x="1104900" y="4019550"/>
            <a:ext cx="26796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 requiere inversión inicial en hardware físico costoso.</a:t>
            </a:r>
            <a:endParaRPr/>
          </a:p>
        </p:txBody>
      </p:sp>
      <p:sp>
        <p:nvSpPr>
          <p:cNvPr id="605" name="Google Shape;605;p51"/>
          <p:cNvSpPr txBox="1"/>
          <p:nvPr/>
        </p:nvSpPr>
        <p:spPr>
          <a:xfrm>
            <a:off x="4756100" y="3400425"/>
            <a:ext cx="281363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Ajustable</a:t>
            </a:r>
            <a:endParaRPr/>
          </a:p>
        </p:txBody>
      </p:sp>
      <p:sp>
        <p:nvSpPr>
          <p:cNvPr id="606" name="Google Shape;606;p51"/>
          <p:cNvSpPr txBox="1"/>
          <p:nvPr/>
        </p:nvSpPr>
        <p:spPr>
          <a:xfrm>
            <a:off x="4756100" y="4019550"/>
            <a:ext cx="26796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Aumente o disminuya su gasto según la demanda del negocio.</a:t>
            </a:r>
            <a:endParaRPr/>
          </a:p>
        </p:txBody>
      </p:sp>
      <p:sp>
        <p:nvSpPr>
          <p:cNvPr id="607" name="Google Shape;607;p51"/>
          <p:cNvSpPr txBox="1"/>
          <p:nvPr/>
        </p:nvSpPr>
        <p:spPr>
          <a:xfrm>
            <a:off x="8407300" y="3400425"/>
            <a:ext cx="281378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Transparencia</a:t>
            </a:r>
            <a:endParaRPr/>
          </a:p>
        </p:txBody>
      </p:sp>
      <p:sp>
        <p:nvSpPr>
          <p:cNvPr id="608" name="Google Shape;608;p51"/>
          <p:cNvSpPr txBox="1"/>
          <p:nvPr/>
        </p:nvSpPr>
        <p:spPr>
          <a:xfrm>
            <a:off x="8407300" y="4019550"/>
            <a:ext cx="267979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Visibilidad total del costo por cada recurso utilizado.</a:t>
            </a:r>
            <a:endParaRPr/>
          </a:p>
        </p:txBody>
      </p:sp>
      <p:pic>
        <p:nvPicPr>
          <p:cNvPr descr="image.png" id="609" name="Google Shape;609;p5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04900" y="274320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0" name="Google Shape;610;p5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56100" y="274320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1" name="Google Shape;611;p5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07300" y="2743200"/>
            <a:ext cx="31432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51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Modelo Pay-as-you-go</a:t>
            </a:r>
            <a:endParaRPr/>
          </a:p>
        </p:txBody>
      </p:sp>
      <p:sp>
        <p:nvSpPr>
          <p:cNvPr id="613" name="Google Shape;613;p51"/>
          <p:cNvSpPr/>
          <p:nvPr/>
        </p:nvSpPr>
        <p:spPr>
          <a:xfrm>
            <a:off x="762000" y="571500"/>
            <a:ext cx="57150" cy="5238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18" name="Google Shape;618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9" name="Google Shape;619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76437"/>
            <a:ext cx="50958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52"/>
          <p:cNvSpPr txBox="1"/>
          <p:nvPr/>
        </p:nvSpPr>
        <p:spPr>
          <a:xfrm>
            <a:off x="762000" y="2166937"/>
            <a:ext cx="50958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 vital planificar considerando variables que a menudo se omiten:</a:t>
            </a:r>
            <a:endParaRPr/>
          </a:p>
        </p:txBody>
      </p:sp>
      <p:pic>
        <p:nvPicPr>
          <p:cNvPr descr="image.png" id="621" name="Google Shape;621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85962"/>
            <a:ext cx="50768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52"/>
          <p:cNvSpPr txBox="1"/>
          <p:nvPr/>
        </p:nvSpPr>
        <p:spPr>
          <a:xfrm>
            <a:off x="1038225" y="2976562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623" name="Google Shape;623;p52"/>
          <p:cNvSpPr txBox="1"/>
          <p:nvPr/>
        </p:nvSpPr>
        <p:spPr>
          <a:xfrm>
            <a:off x="1143000" y="2976562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Egress Fees: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Costo por sacar datos de la nube.</a:t>
            </a:r>
            <a:endParaRPr/>
          </a:p>
        </p:txBody>
      </p:sp>
      <p:sp>
        <p:nvSpPr>
          <p:cNvPr id="624" name="Google Shape;624;p52"/>
          <p:cNvSpPr txBox="1"/>
          <p:nvPr/>
        </p:nvSpPr>
        <p:spPr>
          <a:xfrm>
            <a:off x="1038225" y="3405187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625" name="Google Shape;625;p52"/>
          <p:cNvSpPr txBox="1"/>
          <p:nvPr/>
        </p:nvSpPr>
        <p:spPr>
          <a:xfrm>
            <a:off x="1143000" y="3405187"/>
            <a:ext cx="47148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API Requests: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Costo por cada millón de peticiones (GET/PUT).</a:t>
            </a:r>
            <a:endParaRPr/>
          </a:p>
        </p:txBody>
      </p:sp>
      <p:sp>
        <p:nvSpPr>
          <p:cNvPr id="626" name="Google Shape;626;p52"/>
          <p:cNvSpPr txBox="1"/>
          <p:nvPr/>
        </p:nvSpPr>
        <p:spPr>
          <a:xfrm>
            <a:off x="1038225" y="4119562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627" name="Google Shape;627;p52"/>
          <p:cNvSpPr txBox="1"/>
          <p:nvPr/>
        </p:nvSpPr>
        <p:spPr>
          <a:xfrm>
            <a:off x="1143000" y="4119562"/>
            <a:ext cx="47148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Cross-Region: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Transferencia de datos entre centros de datos.</a:t>
            </a:r>
            <a:endParaRPr/>
          </a:p>
        </p:txBody>
      </p:sp>
      <p:sp>
        <p:nvSpPr>
          <p:cNvPr id="628" name="Google Shape;628;p52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Costos Ocultos en la Nube</a:t>
            </a:r>
            <a:endParaRPr/>
          </a:p>
        </p:txBody>
      </p:sp>
      <p:sp>
        <p:nvSpPr>
          <p:cNvPr id="629" name="Google Shape;629;p52"/>
          <p:cNvSpPr/>
          <p:nvPr/>
        </p:nvSpPr>
        <p:spPr>
          <a:xfrm>
            <a:off x="762000" y="571500"/>
            <a:ext cx="57150" cy="5238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34" name="Google Shape;63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53"/>
          <p:cNvSpPr/>
          <p:nvPr/>
        </p:nvSpPr>
        <p:spPr>
          <a:xfrm>
            <a:off x="5619750" y="2208014"/>
            <a:ext cx="952500" cy="571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53"/>
          <p:cNvSpPr txBox="1"/>
          <p:nvPr/>
        </p:nvSpPr>
        <p:spPr>
          <a:xfrm>
            <a:off x="5825674" y="2550925"/>
            <a:ext cx="5493600" cy="26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Continuidad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y Recuperación (BCP/DR)</a:t>
            </a:r>
            <a:endParaRPr/>
          </a:p>
        </p:txBody>
      </p:sp>
      <p:pic>
        <p:nvPicPr>
          <p:cNvPr id="637" name="Google Shape;637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73680" y="2265175"/>
            <a:ext cx="5493499" cy="3664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42" name="Google Shape;64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43" name="Google Shape;643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847975"/>
            <a:ext cx="5095875" cy="2066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44" name="Google Shape;644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847975"/>
            <a:ext cx="5095875" cy="2066925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54"/>
          <p:cNvSpPr txBox="1"/>
          <p:nvPr/>
        </p:nvSpPr>
        <p:spPr>
          <a:xfrm>
            <a:off x="1104900" y="3190875"/>
            <a:ext cx="463057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Propósito</a:t>
            </a:r>
            <a:endParaRPr/>
          </a:p>
        </p:txBody>
      </p:sp>
      <p:sp>
        <p:nvSpPr>
          <p:cNvPr id="646" name="Google Shape;646;p54"/>
          <p:cNvSpPr txBox="1"/>
          <p:nvPr/>
        </p:nvSpPr>
        <p:spPr>
          <a:xfrm>
            <a:off x="1104900" y="3810000"/>
            <a:ext cx="44100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Asegurar que las funciones críticas del negocio continúen operando durante un desastre total.</a:t>
            </a:r>
            <a:endParaRPr/>
          </a:p>
        </p:txBody>
      </p:sp>
      <p:sp>
        <p:nvSpPr>
          <p:cNvPr id="647" name="Google Shape;647;p54"/>
          <p:cNvSpPr txBox="1"/>
          <p:nvPr/>
        </p:nvSpPr>
        <p:spPr>
          <a:xfrm>
            <a:off x="6677025" y="3190875"/>
            <a:ext cx="463057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Alcance</a:t>
            </a:r>
            <a:endParaRPr/>
          </a:p>
        </p:txBody>
      </p:sp>
      <p:sp>
        <p:nvSpPr>
          <p:cNvPr id="648" name="Google Shape;648;p54"/>
          <p:cNvSpPr txBox="1"/>
          <p:nvPr/>
        </p:nvSpPr>
        <p:spPr>
          <a:xfrm>
            <a:off x="6677025" y="3810000"/>
            <a:ext cx="44100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 es solo tecnología; involucra personas, procesos, logística y comunicación.</a:t>
            </a:r>
            <a:endParaRPr/>
          </a:p>
        </p:txBody>
      </p:sp>
      <p:sp>
        <p:nvSpPr>
          <p:cNvPr id="649" name="Google Shape;649;p54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Plan de Continuidad (BCP)</a:t>
            </a:r>
            <a:endParaRPr/>
          </a:p>
        </p:txBody>
      </p:sp>
      <p:sp>
        <p:nvSpPr>
          <p:cNvPr id="650" name="Google Shape;650;p54"/>
          <p:cNvSpPr/>
          <p:nvPr/>
        </p:nvSpPr>
        <p:spPr>
          <a:xfrm>
            <a:off x="762000" y="571500"/>
            <a:ext cx="57150" cy="5238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55" name="Google Shape;655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55"/>
          <p:cNvSpPr/>
          <p:nvPr/>
        </p:nvSpPr>
        <p:spPr>
          <a:xfrm>
            <a:off x="762000" y="4100512"/>
            <a:ext cx="10668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55"/>
          <p:cNvSpPr txBox="1"/>
          <p:nvPr/>
        </p:nvSpPr>
        <p:spPr>
          <a:xfrm>
            <a:off x="703328" y="3881437"/>
            <a:ext cx="246421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rPr>
              <a:t>BIA</a:t>
            </a:r>
            <a:endParaRPr/>
          </a:p>
        </p:txBody>
      </p:sp>
      <p:sp>
        <p:nvSpPr>
          <p:cNvPr id="658" name="Google Shape;658;p55"/>
          <p:cNvSpPr txBox="1"/>
          <p:nvPr/>
        </p:nvSpPr>
        <p:spPr>
          <a:xfrm>
            <a:off x="762000" y="4300537"/>
            <a:ext cx="234687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Análisis de Impacto al Negocio.</a:t>
            </a:r>
            <a:endParaRPr/>
          </a:p>
        </p:txBody>
      </p:sp>
      <p:sp>
        <p:nvSpPr>
          <p:cNvPr id="659" name="Google Shape;659;p55"/>
          <p:cNvSpPr txBox="1"/>
          <p:nvPr/>
        </p:nvSpPr>
        <p:spPr>
          <a:xfrm>
            <a:off x="3477037" y="3881437"/>
            <a:ext cx="246421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rPr>
              <a:t>Estrategia</a:t>
            </a:r>
            <a:endParaRPr/>
          </a:p>
        </p:txBody>
      </p:sp>
      <p:sp>
        <p:nvSpPr>
          <p:cNvPr id="660" name="Google Shape;660;p55"/>
          <p:cNvSpPr txBox="1"/>
          <p:nvPr/>
        </p:nvSpPr>
        <p:spPr>
          <a:xfrm>
            <a:off x="3535709" y="4300537"/>
            <a:ext cx="234687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Diseño de soluciones de recuperación.</a:t>
            </a:r>
            <a:endParaRPr/>
          </a:p>
        </p:txBody>
      </p:sp>
      <p:sp>
        <p:nvSpPr>
          <p:cNvPr id="661" name="Google Shape;661;p55"/>
          <p:cNvSpPr txBox="1"/>
          <p:nvPr/>
        </p:nvSpPr>
        <p:spPr>
          <a:xfrm>
            <a:off x="6250747" y="3881437"/>
            <a:ext cx="246421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rPr>
              <a:t>Implem.</a:t>
            </a:r>
            <a:endParaRPr/>
          </a:p>
        </p:txBody>
      </p:sp>
      <p:sp>
        <p:nvSpPr>
          <p:cNvPr id="662" name="Google Shape;662;p55"/>
          <p:cNvSpPr txBox="1"/>
          <p:nvPr/>
        </p:nvSpPr>
        <p:spPr>
          <a:xfrm>
            <a:off x="6309419" y="4300537"/>
            <a:ext cx="234687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Configuración técnica y operativa.</a:t>
            </a:r>
            <a:endParaRPr/>
          </a:p>
        </p:txBody>
      </p:sp>
      <p:sp>
        <p:nvSpPr>
          <p:cNvPr id="663" name="Google Shape;663;p55"/>
          <p:cNvSpPr txBox="1"/>
          <p:nvPr/>
        </p:nvSpPr>
        <p:spPr>
          <a:xfrm>
            <a:off x="9024457" y="3881437"/>
            <a:ext cx="246421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rPr>
              <a:t>Pruebas</a:t>
            </a:r>
            <a:endParaRPr/>
          </a:p>
        </p:txBody>
      </p:sp>
      <p:sp>
        <p:nvSpPr>
          <p:cNvPr id="664" name="Google Shape;664;p55"/>
          <p:cNvSpPr txBox="1"/>
          <p:nvPr/>
        </p:nvSpPr>
        <p:spPr>
          <a:xfrm>
            <a:off x="9083129" y="4300537"/>
            <a:ext cx="234687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Simulacros y mantenimiento anual.</a:t>
            </a:r>
            <a:endParaRPr/>
          </a:p>
        </p:txBody>
      </p:sp>
      <p:sp>
        <p:nvSpPr>
          <p:cNvPr id="665" name="Google Shape;665;p55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Pasos para un BCP Efectivo</a:t>
            </a:r>
            <a:endParaRPr/>
          </a:p>
        </p:txBody>
      </p:sp>
      <p:sp>
        <p:nvSpPr>
          <p:cNvPr id="666" name="Google Shape;666;p55"/>
          <p:cNvSpPr/>
          <p:nvPr/>
        </p:nvSpPr>
        <p:spPr>
          <a:xfrm>
            <a:off x="762000" y="571500"/>
            <a:ext cx="57150" cy="5238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55"/>
          <p:cNvSpPr/>
          <p:nvPr/>
        </p:nvSpPr>
        <p:spPr>
          <a:xfrm>
            <a:off x="1678185" y="3176587"/>
            <a:ext cx="514350" cy="514350"/>
          </a:xfrm>
          <a:prstGeom prst="roundRect">
            <a:avLst>
              <a:gd fmla="val 50000" name="adj"/>
            </a:avLst>
          </a:prstGeom>
          <a:solidFill>
            <a:srgbClr val="1E3A8A"/>
          </a:solidFill>
          <a:ln cap="flat" cmpd="sng" w="5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55"/>
          <p:cNvSpPr/>
          <p:nvPr/>
        </p:nvSpPr>
        <p:spPr>
          <a:xfrm>
            <a:off x="4451895" y="3176587"/>
            <a:ext cx="514350" cy="514350"/>
          </a:xfrm>
          <a:prstGeom prst="roundRect">
            <a:avLst>
              <a:gd fmla="val 50000" name="adj"/>
            </a:avLst>
          </a:prstGeom>
          <a:solidFill>
            <a:srgbClr val="1E3A8A"/>
          </a:solidFill>
          <a:ln cap="flat" cmpd="sng" w="5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55"/>
          <p:cNvSpPr/>
          <p:nvPr/>
        </p:nvSpPr>
        <p:spPr>
          <a:xfrm>
            <a:off x="7225605" y="3176587"/>
            <a:ext cx="514350" cy="514350"/>
          </a:xfrm>
          <a:prstGeom prst="roundRect">
            <a:avLst>
              <a:gd fmla="val 50000" name="adj"/>
            </a:avLst>
          </a:prstGeom>
          <a:solidFill>
            <a:srgbClr val="1E3A8A"/>
          </a:solidFill>
          <a:ln cap="flat" cmpd="sng" w="5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55"/>
          <p:cNvSpPr/>
          <p:nvPr/>
        </p:nvSpPr>
        <p:spPr>
          <a:xfrm>
            <a:off x="9999315" y="3176587"/>
            <a:ext cx="514350" cy="514350"/>
          </a:xfrm>
          <a:prstGeom prst="roundRect">
            <a:avLst>
              <a:gd fmla="val 50000" name="adj"/>
            </a:avLst>
          </a:prstGeom>
          <a:solidFill>
            <a:srgbClr val="1E3A8A"/>
          </a:solidFill>
          <a:ln cap="flat" cmpd="sng" w="5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75" name="Google Shape;675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6" name="Google Shape;676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966912"/>
            <a:ext cx="5095875" cy="3829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7" name="Google Shape;677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66912"/>
            <a:ext cx="5095875" cy="382905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6"/>
          <p:cNvSpPr txBox="1"/>
          <p:nvPr/>
        </p:nvSpPr>
        <p:spPr>
          <a:xfrm>
            <a:off x="1104900" y="2309812"/>
            <a:ext cx="441007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RPO</a:t>
            </a:r>
            <a:endParaRPr/>
          </a:p>
        </p:txBody>
      </p:sp>
      <p:sp>
        <p:nvSpPr>
          <p:cNvPr id="679" name="Google Shape;679;p56"/>
          <p:cNvSpPr txBox="1"/>
          <p:nvPr/>
        </p:nvSpPr>
        <p:spPr>
          <a:xfrm>
            <a:off x="1104900" y="4024312"/>
            <a:ext cx="44100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Recovery Point Objective</a:t>
            </a:r>
            <a:endParaRPr/>
          </a:p>
        </p:txBody>
      </p:sp>
      <p:sp>
        <p:nvSpPr>
          <p:cNvPr id="680" name="Google Shape;680;p56"/>
          <p:cNvSpPr txBox="1"/>
          <p:nvPr/>
        </p:nvSpPr>
        <p:spPr>
          <a:xfrm>
            <a:off x="1104900" y="4691062"/>
            <a:ext cx="4410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¿Cuántos datos podemos permitirnos perder? </a:t>
            </a:r>
            <a:endParaRPr/>
          </a:p>
        </p:txBody>
      </p:sp>
      <p:sp>
        <p:nvSpPr>
          <p:cNvPr id="681" name="Google Shape;681;p56"/>
          <p:cNvSpPr txBox="1"/>
          <p:nvPr/>
        </p:nvSpPr>
        <p:spPr>
          <a:xfrm>
            <a:off x="6677025" y="2309812"/>
            <a:ext cx="441007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RTO</a:t>
            </a:r>
            <a:endParaRPr/>
          </a:p>
        </p:txBody>
      </p:sp>
      <p:sp>
        <p:nvSpPr>
          <p:cNvPr id="682" name="Google Shape;682;p56"/>
          <p:cNvSpPr txBox="1"/>
          <p:nvPr/>
        </p:nvSpPr>
        <p:spPr>
          <a:xfrm>
            <a:off x="6677025" y="4024312"/>
            <a:ext cx="44100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Recovery Time Objective</a:t>
            </a:r>
            <a:endParaRPr/>
          </a:p>
        </p:txBody>
      </p:sp>
      <p:sp>
        <p:nvSpPr>
          <p:cNvPr id="683" name="Google Shape;683;p56"/>
          <p:cNvSpPr txBox="1"/>
          <p:nvPr/>
        </p:nvSpPr>
        <p:spPr>
          <a:xfrm>
            <a:off x="6677025" y="4691062"/>
            <a:ext cx="4410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¿Cuánto tiempo podemos estar inactivos? </a:t>
            </a:r>
            <a:endParaRPr/>
          </a:p>
        </p:txBody>
      </p:sp>
      <p:sp>
        <p:nvSpPr>
          <p:cNvPr id="684" name="Google Shape;684;p56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Métricas de Recuperación</a:t>
            </a:r>
            <a:endParaRPr/>
          </a:p>
        </p:txBody>
      </p:sp>
      <p:sp>
        <p:nvSpPr>
          <p:cNvPr id="685" name="Google Shape;685;p56"/>
          <p:cNvSpPr/>
          <p:nvPr/>
        </p:nvSpPr>
        <p:spPr>
          <a:xfrm>
            <a:off x="762000" y="571500"/>
            <a:ext cx="57150" cy="5238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90" name="Google Shape;690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7"/>
          <p:cNvSpPr/>
          <p:nvPr/>
        </p:nvSpPr>
        <p:spPr>
          <a:xfrm>
            <a:off x="5619750" y="2208014"/>
            <a:ext cx="952500" cy="571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57"/>
          <p:cNvSpPr txBox="1"/>
          <p:nvPr/>
        </p:nvSpPr>
        <p:spPr>
          <a:xfrm>
            <a:off x="1635442" y="2550914"/>
            <a:ext cx="8921100" cy="17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Casos de Estudio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y Tendencias Futuras</a:t>
            </a:r>
            <a:endParaRPr/>
          </a:p>
        </p:txBody>
      </p:sp>
      <p:sp>
        <p:nvSpPr>
          <p:cNvPr id="693" name="Google Shape;693;p57"/>
          <p:cNvSpPr txBox="1"/>
          <p:nvPr/>
        </p:nvSpPr>
        <p:spPr>
          <a:xfrm>
            <a:off x="3976687" y="4249935"/>
            <a:ext cx="4238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Lecciones aprendidas y el camino por delante.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98" name="Google Shape;698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8"/>
          <p:cNvSpPr txBox="1"/>
          <p:nvPr/>
        </p:nvSpPr>
        <p:spPr>
          <a:xfrm>
            <a:off x="819150" y="2028487"/>
            <a:ext cx="5095800" cy="40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Desafío: </a:t>
            </a: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Garantizar disponibilidad global para millones de usuarios.</a:t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Solución:</a:t>
            </a:r>
            <a:endParaRPr b="1"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Uso de múltiples regiones en la nube (AWS).</a:t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Arquitectura basada en microservicios.</a:t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Chaos Engineering:</a:t>
            </a: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Simulación de fallos para fortalecer la infraestructura.</a:t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Lección: </a:t>
            </a: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Redundancia y pruebas constantes mejoran la resiliencia.</a:t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0" name="Google Shape;700;p58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Caso: Netflix y Resiliencia</a:t>
            </a:r>
            <a:endParaRPr/>
          </a:p>
        </p:txBody>
      </p:sp>
      <p:sp>
        <p:nvSpPr>
          <p:cNvPr id="701" name="Google Shape;701;p58"/>
          <p:cNvSpPr/>
          <p:nvPr/>
        </p:nvSpPr>
        <p:spPr>
          <a:xfrm>
            <a:off x="762000" y="571500"/>
            <a:ext cx="57150" cy="5238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n conjunto de imágenes de una persona&#10;&#10;Descripción generada automáticamente con confianza baja" id="702" name="Google Shape;702;p58"/>
          <p:cNvPicPr preferRelativeResize="0"/>
          <p:nvPr/>
        </p:nvPicPr>
        <p:blipFill rotWithShape="1">
          <a:blip r:embed="rId4">
            <a:alphaModFix/>
          </a:blip>
          <a:srcRect b="0" l="7270" r="3532" t="0"/>
          <a:stretch/>
        </p:blipFill>
        <p:spPr>
          <a:xfrm>
            <a:off x="6301305" y="1965095"/>
            <a:ext cx="5339397" cy="3995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07" name="Google Shape;70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08" name="Google Shape;708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705100"/>
            <a:ext cx="5095875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09" name="Google Shape;709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705100"/>
            <a:ext cx="5095875" cy="23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9"/>
          <p:cNvSpPr txBox="1"/>
          <p:nvPr/>
        </p:nvSpPr>
        <p:spPr>
          <a:xfrm>
            <a:off x="1104900" y="3048000"/>
            <a:ext cx="463057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El Error</a:t>
            </a:r>
            <a:endParaRPr/>
          </a:p>
        </p:txBody>
      </p:sp>
      <p:sp>
        <p:nvSpPr>
          <p:cNvPr id="711" name="Google Shape;711;p59"/>
          <p:cNvSpPr txBox="1"/>
          <p:nvPr/>
        </p:nvSpPr>
        <p:spPr>
          <a:xfrm>
            <a:off x="1104900" y="3667125"/>
            <a:ext cx="441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Cambio de configuración erróneo en los routers que desconectó los centros de datos de internet.</a:t>
            </a:r>
            <a:endParaRPr/>
          </a:p>
        </p:txBody>
      </p:sp>
      <p:sp>
        <p:nvSpPr>
          <p:cNvPr id="712" name="Google Shape;712;p59"/>
          <p:cNvSpPr txBox="1"/>
          <p:nvPr/>
        </p:nvSpPr>
        <p:spPr>
          <a:xfrm>
            <a:off x="6677025" y="3048000"/>
            <a:ext cx="463057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La Lección</a:t>
            </a:r>
            <a:endParaRPr/>
          </a:p>
        </p:txBody>
      </p:sp>
      <p:sp>
        <p:nvSpPr>
          <p:cNvPr id="713" name="Google Shape;713;p59"/>
          <p:cNvSpPr txBox="1"/>
          <p:nvPr/>
        </p:nvSpPr>
        <p:spPr>
          <a:xfrm>
            <a:off x="6677025" y="3667125"/>
            <a:ext cx="441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Un solo punto de fallo puede generar un apagón masivo. Es clave tener accesos alternativos y pruebas rigurosas.</a:t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4" name="Google Shape;714;p59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Caso: Facebook Downtime 2021</a:t>
            </a:r>
            <a:endParaRPr/>
          </a:p>
        </p:txBody>
      </p:sp>
      <p:sp>
        <p:nvSpPr>
          <p:cNvPr id="715" name="Google Shape;715;p59"/>
          <p:cNvSpPr/>
          <p:nvPr/>
        </p:nvSpPr>
        <p:spPr>
          <a:xfrm>
            <a:off x="762000" y="571500"/>
            <a:ext cx="57150" cy="5238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59"/>
          <p:cNvSpPr txBox="1"/>
          <p:nvPr/>
        </p:nvSpPr>
        <p:spPr>
          <a:xfrm>
            <a:off x="819150" y="1519250"/>
            <a:ext cx="936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Problema: Caída global de Facebook, WhatsApp e Instagram por fallos en su red interna.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21" name="Google Shape;721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22" name="Google Shape;722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352675"/>
            <a:ext cx="336545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23" name="Google Shape;723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352675"/>
            <a:ext cx="336545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24" name="Google Shape;724;p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352675"/>
            <a:ext cx="3365599" cy="30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60"/>
          <p:cNvSpPr txBox="1"/>
          <p:nvPr/>
        </p:nvSpPr>
        <p:spPr>
          <a:xfrm>
            <a:off x="1104900" y="3400425"/>
            <a:ext cx="281363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Edge Storage</a:t>
            </a:r>
            <a:endParaRPr/>
          </a:p>
        </p:txBody>
      </p:sp>
      <p:sp>
        <p:nvSpPr>
          <p:cNvPr id="726" name="Google Shape;726;p60"/>
          <p:cNvSpPr txBox="1"/>
          <p:nvPr/>
        </p:nvSpPr>
        <p:spPr>
          <a:xfrm>
            <a:off x="1104900" y="4019550"/>
            <a:ext cx="26796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Procesamiento y almacenamiento cerca del usuario para latencia cero.</a:t>
            </a:r>
            <a:endParaRPr/>
          </a:p>
        </p:txBody>
      </p:sp>
      <p:sp>
        <p:nvSpPr>
          <p:cNvPr id="727" name="Google Shape;727;p60"/>
          <p:cNvSpPr txBox="1"/>
          <p:nvPr/>
        </p:nvSpPr>
        <p:spPr>
          <a:xfrm>
            <a:off x="4756100" y="3400425"/>
            <a:ext cx="281363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AIOps</a:t>
            </a:r>
            <a:endParaRPr/>
          </a:p>
        </p:txBody>
      </p:sp>
      <p:sp>
        <p:nvSpPr>
          <p:cNvPr id="728" name="Google Shape;728;p60"/>
          <p:cNvSpPr txBox="1"/>
          <p:nvPr/>
        </p:nvSpPr>
        <p:spPr>
          <a:xfrm>
            <a:off x="4756100" y="4019550"/>
            <a:ext cx="26796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IA para predecir fallos y optimizar el rendimiento automáticamente.</a:t>
            </a:r>
            <a:endParaRPr/>
          </a:p>
        </p:txBody>
      </p:sp>
      <p:sp>
        <p:nvSpPr>
          <p:cNvPr id="729" name="Google Shape;729;p60"/>
          <p:cNvSpPr txBox="1"/>
          <p:nvPr/>
        </p:nvSpPr>
        <p:spPr>
          <a:xfrm>
            <a:off x="8407300" y="3400425"/>
            <a:ext cx="281378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Quantum Safety</a:t>
            </a:r>
            <a:endParaRPr/>
          </a:p>
        </p:txBody>
      </p:sp>
      <p:sp>
        <p:nvSpPr>
          <p:cNvPr id="730" name="Google Shape;730;p60"/>
          <p:cNvSpPr txBox="1"/>
          <p:nvPr/>
        </p:nvSpPr>
        <p:spPr>
          <a:xfrm>
            <a:off x="8407300" y="4019550"/>
            <a:ext cx="267979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Criptografía resistente a la computación cuántica para proteger datos futuros.</a:t>
            </a:r>
            <a:endParaRPr/>
          </a:p>
        </p:txBody>
      </p:sp>
      <p:pic>
        <p:nvPicPr>
          <p:cNvPr descr="image.png" id="731" name="Google Shape;731;p6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04900" y="274320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2" name="Google Shape;732;p6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56100" y="274320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3" name="Google Shape;733;p6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07300" y="274320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60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Tendencias en Gestión de Datos</a:t>
            </a:r>
            <a:endParaRPr/>
          </a:p>
        </p:txBody>
      </p:sp>
      <p:sp>
        <p:nvSpPr>
          <p:cNvPr id="735" name="Google Shape;735;p60"/>
          <p:cNvSpPr/>
          <p:nvPr/>
        </p:nvSpPr>
        <p:spPr>
          <a:xfrm>
            <a:off x="762000" y="571500"/>
            <a:ext cx="57150" cy="5238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40" name="Google Shape;740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41" name="Google Shape;741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7700" y="1481800"/>
            <a:ext cx="7452300" cy="4945225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61"/>
          <p:cNvSpPr txBox="1"/>
          <p:nvPr/>
        </p:nvSpPr>
        <p:spPr>
          <a:xfrm>
            <a:off x="477550" y="1631725"/>
            <a:ext cx="7092600" cy="5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Procesamiento cercano al usuario: En lugar de enviar todos los datos a un centro de datos centralizado, el procesamiento se realiza localmente en dispositivos cercanos al usuario.</a:t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Ejemplos: </a:t>
            </a: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IoT (Internet de las Cosas), 5G, dispositivos inteligentes.</a:t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Beneficios de Edge Computing:</a:t>
            </a:r>
            <a:endParaRPr b="1"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✔ Reducción de latencia en un 50%.</a:t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Mejora la experiencia del usuario al reducir el tiempo de respuesta.</a:t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✔ Mayor disponibilidad y resiliencia: Al procesar datos localmente, la infraestructura es menos vulnerable a caídas globales.</a:t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✔ Optimización de ancho de banda: Solo se envían datos relevantes al centro de datos, lo que reduce el tráfico y la carga de la red.</a:t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3" name="Google Shape;743;p61"/>
          <p:cNvSpPr txBox="1"/>
          <p:nvPr/>
        </p:nvSpPr>
        <p:spPr>
          <a:xfrm>
            <a:off x="952500" y="571500"/>
            <a:ext cx="1100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Edge Computing</a:t>
            </a:r>
            <a:endParaRPr/>
          </a:p>
        </p:txBody>
      </p:sp>
      <p:sp>
        <p:nvSpPr>
          <p:cNvPr id="744" name="Google Shape;744;p61"/>
          <p:cNvSpPr/>
          <p:nvPr/>
        </p:nvSpPr>
        <p:spPr>
          <a:xfrm>
            <a:off x="762000" y="571500"/>
            <a:ext cx="57300" cy="523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n que contiene Mapa&#10;&#10;Descripción generada automáticamente" id="745" name="Google Shape;745;p61"/>
          <p:cNvPicPr preferRelativeResize="0"/>
          <p:nvPr>
            <p:ph idx="2" type="pic"/>
          </p:nvPr>
        </p:nvPicPr>
        <p:blipFill rotWithShape="1">
          <a:blip r:embed="rId5">
            <a:alphaModFix/>
          </a:blip>
          <a:srcRect b="0" l="2182" r="35290" t="0"/>
          <a:stretch/>
        </p:blipFill>
        <p:spPr>
          <a:xfrm>
            <a:off x="7967850" y="1857238"/>
            <a:ext cx="4097724" cy="4194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50" name="Google Shape;750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51" name="Google Shape;751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7700" y="1481800"/>
            <a:ext cx="10654800" cy="4945225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62"/>
          <p:cNvSpPr txBox="1"/>
          <p:nvPr/>
        </p:nvSpPr>
        <p:spPr>
          <a:xfrm>
            <a:off x="477550" y="1631725"/>
            <a:ext cx="9505800" cy="57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Amenaza: Rompería la Encriptación Actual</a:t>
            </a:r>
            <a:endParaRPr b="1"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Inter"/>
              <a:buChar char="-"/>
            </a:pPr>
            <a:r>
              <a:rPr b="1"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Riesgo de seguridad:</a:t>
            </a: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La computación cuántica podría romper algoritmos de encriptación utilizados hoy en día, como RSA, que son fundamentales para proteger la disponibilidad y privacidad de la información.</a:t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Inter"/>
              <a:buChar char="-"/>
            </a:pPr>
            <a:r>
              <a:rPr b="1"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Vulnerabilidad de sistemas críticos: </a:t>
            </a: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 confidencialidad y la integridad de los datos podrían verse comprometidas.</a:t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Inter"/>
              <a:buChar char="-"/>
            </a:pPr>
            <a:r>
              <a:t/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Oportunidad: Simulación de Redundancia Ultra-rápida</a:t>
            </a:r>
            <a:endParaRPr b="1"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 computación cuántica podría permitir la creación de redes y sistemas de redundancia mucho más rápidos y eficientes, reduciendo tiempos de recuperación y mejorando la disponibilidad.</a:t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Simulación de grandes volúmenes de datos: Permite modelar fallos y escenarios de recuperación de manera mucho más precisa y veloz.</a:t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3" name="Google Shape;753;p62"/>
          <p:cNvSpPr txBox="1"/>
          <p:nvPr/>
        </p:nvSpPr>
        <p:spPr>
          <a:xfrm>
            <a:off x="952500" y="571500"/>
            <a:ext cx="1100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300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Quantum Computing </a:t>
            </a:r>
            <a:endParaRPr/>
          </a:p>
        </p:txBody>
      </p:sp>
      <p:sp>
        <p:nvSpPr>
          <p:cNvPr id="754" name="Google Shape;754;p62"/>
          <p:cNvSpPr/>
          <p:nvPr/>
        </p:nvSpPr>
        <p:spPr>
          <a:xfrm>
            <a:off x="762000" y="571500"/>
            <a:ext cx="57300" cy="523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63"/>
          <p:cNvSpPr txBox="1"/>
          <p:nvPr/>
        </p:nvSpPr>
        <p:spPr>
          <a:xfrm>
            <a:off x="1485425" y="428925"/>
            <a:ext cx="8436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Coneptos clave aprendidos</a:t>
            </a:r>
            <a:endParaRPr sz="2500"/>
          </a:p>
        </p:txBody>
      </p:sp>
      <p:sp>
        <p:nvSpPr>
          <p:cNvPr id="760" name="Google Shape;760;p63"/>
          <p:cNvSpPr txBox="1"/>
          <p:nvPr/>
        </p:nvSpPr>
        <p:spPr>
          <a:xfrm>
            <a:off x="951675" y="1728750"/>
            <a:ext cx="9684900" cy="43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1. Disponibilidad y Seguridad (Tríada CIA)</a:t>
            </a:r>
            <a:endParaRPr b="1"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Inter"/>
              <a:buChar char="-"/>
            </a:pP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Disponibilidad: Garantizar el acceso oportuno a la información.</a:t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Inter"/>
              <a:buChar char="-"/>
            </a:pP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Integridad: Asegurar que los datos no sean alterados.</a:t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Inter"/>
              <a:buChar char="-"/>
            </a:pP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Confidencialidad: Restringir el acceso solo a personal autorizado.</a:t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2. Infraestructura y Redundancia</a:t>
            </a:r>
            <a:endParaRPr b="1"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Inter"/>
              <a:buChar char="-"/>
            </a:pP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RAID: Uso de múltiples discos físicos para tolerar fallos de hardware (RAID 1, 5 y 10 como los más comunes).</a:t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Inter"/>
              <a:buChar char="-"/>
            </a:pP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Balanceo de Carga: Distribución del tráfico (AWS ELB, Nginx) para evitar la saturación de servidores.</a:t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Inter"/>
              <a:buChar char="-"/>
            </a:pP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Regla 3-2-1: La estrategia de respaldo definitiva (3 copias, 2 medios diferentes, 1 fuera de sitio).</a:t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4"/>
          <p:cNvSpPr txBox="1"/>
          <p:nvPr/>
        </p:nvSpPr>
        <p:spPr>
          <a:xfrm>
            <a:off x="1485425" y="428925"/>
            <a:ext cx="8436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Coneptos clave aprendidos</a:t>
            </a:r>
            <a:endParaRPr sz="2500"/>
          </a:p>
        </p:txBody>
      </p:sp>
      <p:sp>
        <p:nvSpPr>
          <p:cNvPr id="766" name="Google Shape;766;p64"/>
          <p:cNvSpPr txBox="1"/>
          <p:nvPr/>
        </p:nvSpPr>
        <p:spPr>
          <a:xfrm>
            <a:off x="951675" y="1728750"/>
            <a:ext cx="96849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3.  Continuidad del Negocio (BCP) y Recuperación (DR)</a:t>
            </a:r>
            <a:endParaRPr b="1"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Inter"/>
              <a:buChar char="-"/>
            </a:pP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BCP (Business Continuity Plan): Plan integral que abarca procesos, personas y tecnología para que la empresa no se detenga.</a:t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Inter"/>
              <a:buChar char="-"/>
            </a:pP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RTO (Tiempo de Recuperación): Cuánto tiempo se puede estar inactivo.</a:t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4. Nuevas Paradigmas y Nube</a:t>
            </a:r>
            <a:endParaRPr b="1"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Inter"/>
              <a:buChar char="-"/>
            </a:pP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Responsabilidad Compartida: El proveedor protege la infraestructura; el cliente protege sus datos y accesos (IAM).</a:t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Inter"/>
              <a:buChar char="-"/>
            </a:pP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Escalabilidad: Diferencia entre escalado vertical (más potencia) y horizontal (más máquinas).</a:t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Inter"/>
              <a:buChar char="-"/>
            </a:pP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Virtualización y Contenedores: Uso de Docker y Kubernetes para despliegues ágiles y resilientes.</a:t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5"/>
          <p:cNvSpPr txBox="1"/>
          <p:nvPr/>
        </p:nvSpPr>
        <p:spPr>
          <a:xfrm>
            <a:off x="7764850" y="4785325"/>
            <a:ext cx="2499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CORTO 9</a:t>
            </a:r>
            <a:endParaRPr/>
          </a:p>
        </p:txBody>
      </p:sp>
      <p:pic>
        <p:nvPicPr>
          <p:cNvPr id="772" name="Google Shape;772;p65"/>
          <p:cNvPicPr preferRelativeResize="0"/>
          <p:nvPr/>
        </p:nvPicPr>
        <p:blipFill rotWithShape="1">
          <a:blip r:embed="rId3">
            <a:alphaModFix/>
          </a:blip>
          <a:srcRect b="0" l="9077" r="10382" t="0"/>
          <a:stretch/>
        </p:blipFill>
        <p:spPr>
          <a:xfrm>
            <a:off x="378913" y="3064050"/>
            <a:ext cx="3813325" cy="3455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65"/>
          <p:cNvSpPr txBox="1"/>
          <p:nvPr/>
        </p:nvSpPr>
        <p:spPr>
          <a:xfrm>
            <a:off x="4572000" y="1608800"/>
            <a:ext cx="54195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Practiquemos lo aprendido</a:t>
            </a:r>
            <a:endParaRPr sz="25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66"/>
          <p:cNvSpPr/>
          <p:nvPr/>
        </p:nvSpPr>
        <p:spPr>
          <a:xfrm>
            <a:off x="0" y="0"/>
            <a:ext cx="12207240" cy="6851313"/>
          </a:xfrm>
          <a:custGeom>
            <a:rect b="b" l="l" r="r" t="t"/>
            <a:pathLst>
              <a:path extrusionOk="0"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79" name="Google Shape;779;p66"/>
          <p:cNvSpPr txBox="1"/>
          <p:nvPr/>
        </p:nvSpPr>
        <p:spPr>
          <a:xfrm>
            <a:off x="3770054" y="1111375"/>
            <a:ext cx="2041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>
                <a:latin typeface="Open Sans"/>
                <a:ea typeface="Open Sans"/>
                <a:cs typeface="Open Sans"/>
                <a:sym typeface="Open Sans"/>
              </a:rPr>
              <a:t>CORTO  9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66"/>
          <p:cNvSpPr txBox="1"/>
          <p:nvPr/>
        </p:nvSpPr>
        <p:spPr>
          <a:xfrm>
            <a:off x="3770046" y="1640297"/>
            <a:ext cx="1002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66"/>
          <p:cNvSpPr txBox="1"/>
          <p:nvPr/>
        </p:nvSpPr>
        <p:spPr>
          <a:xfrm>
            <a:off x="3770046" y="2316873"/>
            <a:ext cx="1002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>
                <a:latin typeface="Open Sans"/>
                <a:ea typeface="Open Sans"/>
                <a:cs typeface="Open Sans"/>
                <a:sym typeface="Open Sans"/>
              </a:rPr>
              <a:t>SI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66"/>
          <p:cNvSpPr txBox="1"/>
          <p:nvPr/>
        </p:nvSpPr>
        <p:spPr>
          <a:xfrm>
            <a:off x="9302059" y="1394172"/>
            <a:ext cx="1002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66"/>
          <p:cNvSpPr txBox="1"/>
          <p:nvPr/>
        </p:nvSpPr>
        <p:spPr>
          <a:xfrm>
            <a:off x="9302059" y="1923083"/>
            <a:ext cx="1002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66"/>
          <p:cNvSpPr txBox="1"/>
          <p:nvPr/>
        </p:nvSpPr>
        <p:spPr>
          <a:xfrm>
            <a:off x="9302059" y="2453520"/>
            <a:ext cx="1002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66"/>
          <p:cNvSpPr txBox="1"/>
          <p:nvPr/>
        </p:nvSpPr>
        <p:spPr>
          <a:xfrm>
            <a:off x="184821" y="3390900"/>
            <a:ext cx="1002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66"/>
          <p:cNvSpPr txBox="1"/>
          <p:nvPr/>
        </p:nvSpPr>
        <p:spPr>
          <a:xfrm>
            <a:off x="184821" y="3902007"/>
            <a:ext cx="1002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66"/>
          <p:cNvSpPr txBox="1"/>
          <p:nvPr/>
        </p:nvSpPr>
        <p:spPr>
          <a:xfrm>
            <a:off x="184821" y="4413393"/>
            <a:ext cx="1002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66"/>
          <p:cNvSpPr txBox="1"/>
          <p:nvPr/>
        </p:nvSpPr>
        <p:spPr>
          <a:xfrm>
            <a:off x="184821" y="5066937"/>
            <a:ext cx="1002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66"/>
          <p:cNvSpPr txBox="1"/>
          <p:nvPr/>
        </p:nvSpPr>
        <p:spPr>
          <a:xfrm>
            <a:off x="184821" y="5578323"/>
            <a:ext cx="1002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66"/>
          <p:cNvSpPr txBox="1"/>
          <p:nvPr/>
        </p:nvSpPr>
        <p:spPr>
          <a:xfrm>
            <a:off x="184821" y="6134100"/>
            <a:ext cx="1002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66"/>
          <p:cNvSpPr txBox="1"/>
          <p:nvPr/>
        </p:nvSpPr>
        <p:spPr>
          <a:xfrm>
            <a:off x="4271025" y="3383280"/>
            <a:ext cx="1002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66"/>
          <p:cNvSpPr txBox="1"/>
          <p:nvPr/>
        </p:nvSpPr>
        <p:spPr>
          <a:xfrm>
            <a:off x="4271025" y="3902007"/>
            <a:ext cx="1002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66"/>
          <p:cNvSpPr txBox="1"/>
          <p:nvPr/>
        </p:nvSpPr>
        <p:spPr>
          <a:xfrm>
            <a:off x="4271025" y="4432443"/>
            <a:ext cx="1002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66"/>
          <p:cNvSpPr txBox="1"/>
          <p:nvPr/>
        </p:nvSpPr>
        <p:spPr>
          <a:xfrm>
            <a:off x="4271025" y="4962880"/>
            <a:ext cx="1002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66"/>
          <p:cNvSpPr txBox="1"/>
          <p:nvPr/>
        </p:nvSpPr>
        <p:spPr>
          <a:xfrm>
            <a:off x="4271025" y="5578323"/>
            <a:ext cx="1002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66"/>
          <p:cNvSpPr txBox="1"/>
          <p:nvPr/>
        </p:nvSpPr>
        <p:spPr>
          <a:xfrm>
            <a:off x="4271025" y="6134100"/>
            <a:ext cx="1002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66"/>
          <p:cNvSpPr txBox="1"/>
          <p:nvPr/>
        </p:nvSpPr>
        <p:spPr>
          <a:xfrm>
            <a:off x="8359084" y="3383280"/>
            <a:ext cx="1002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66"/>
          <p:cNvSpPr txBox="1"/>
          <p:nvPr/>
        </p:nvSpPr>
        <p:spPr>
          <a:xfrm>
            <a:off x="8359084" y="3902007"/>
            <a:ext cx="1002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66"/>
          <p:cNvSpPr txBox="1"/>
          <p:nvPr/>
        </p:nvSpPr>
        <p:spPr>
          <a:xfrm>
            <a:off x="8359084" y="4432443"/>
            <a:ext cx="1002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66"/>
          <p:cNvSpPr txBox="1"/>
          <p:nvPr/>
        </p:nvSpPr>
        <p:spPr>
          <a:xfrm>
            <a:off x="8359084" y="4962880"/>
            <a:ext cx="1002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66"/>
          <p:cNvSpPr txBox="1"/>
          <p:nvPr/>
        </p:nvSpPr>
        <p:spPr>
          <a:xfrm>
            <a:off x="8359084" y="5578323"/>
            <a:ext cx="1002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66"/>
          <p:cNvSpPr txBox="1"/>
          <p:nvPr/>
        </p:nvSpPr>
        <p:spPr>
          <a:xfrm>
            <a:off x="8359084" y="6108760"/>
            <a:ext cx="1002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67"/>
          <p:cNvSpPr/>
          <p:nvPr/>
        </p:nvSpPr>
        <p:spPr>
          <a:xfrm>
            <a:off x="2574455" y="396865"/>
            <a:ext cx="7051895" cy="5782554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68"/>
          <p:cNvSpPr/>
          <p:nvPr/>
        </p:nvSpPr>
        <p:spPr>
          <a:xfrm>
            <a:off x="542963" y="0"/>
            <a:ext cx="11119955" cy="6866573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