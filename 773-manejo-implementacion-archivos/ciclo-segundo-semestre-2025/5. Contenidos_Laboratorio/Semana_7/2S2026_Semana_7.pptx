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10287000" cx="18288000"/>
  <p:notesSz cx="6858000" cy="9144000"/>
  <p:embeddedFontLst>
    <p:embeddedFont>
      <p:font typeface="Play"/>
      <p:regular r:id="rId37"/>
      <p:bold r:id="rId38"/>
    </p:embeddedFont>
    <p:embeddedFont>
      <p:font typeface="Lexend Dec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ixxvT2U+sxD7JNZBX3GOsWpDHL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2A1C84-6956-4616-BCA4-8D12A4AE9A24}">
  <a:tblStyle styleId="{BC2A1C84-6956-4616-BCA4-8D12A4AE9A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exendDeca-bold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lay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LexendDeca-regular.fntdata"/><Relationship Id="rId16" Type="http://schemas.openxmlformats.org/officeDocument/2006/relationships/slide" Target="slides/slide10.xml"/><Relationship Id="rId38" Type="http://schemas.openxmlformats.org/officeDocument/2006/relationships/font" Target="fonts/Play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3.png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jp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5" Type="http://schemas.openxmlformats.org/officeDocument/2006/relationships/image" Target="../media/image12.png"/><Relationship Id="rId14" Type="http://schemas.openxmlformats.org/officeDocument/2006/relationships/image" Target="../media/image9.png"/><Relationship Id="rId17" Type="http://schemas.openxmlformats.org/officeDocument/2006/relationships/image" Target="../media/image24.png"/><Relationship Id="rId16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18" Type="http://schemas.openxmlformats.org/officeDocument/2006/relationships/image" Target="../media/image23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12700"/>
            <a:ext cx="18299811" cy="10312717"/>
          </a:xfrm>
          <a:custGeom>
            <a:rect b="b" l="l" r="r" t="t"/>
            <a:pathLst>
              <a:path extrusionOk="0" h="13750289" w="24399748">
                <a:moveTo>
                  <a:pt x="0" y="0"/>
                </a:moveTo>
                <a:lnTo>
                  <a:pt x="24399748" y="0"/>
                </a:lnTo>
                <a:lnTo>
                  <a:pt x="24399748" y="13750289"/>
                </a:lnTo>
                <a:lnTo>
                  <a:pt x="0" y="137502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1" y="1940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{BC2A1C84-6956-4616-BCA4-8D12A4AE9A24}</a:tableStyleId>
              </a:tblPr>
              <a:tblGrid>
                <a:gridCol w="3029975"/>
                <a:gridCol w="4323325"/>
              </a:tblGrid>
              <a:tr h="74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Lunes, </a:t>
                      </a:r>
                      <a:r>
                        <a:rPr b="1" lang="en-US" sz="2900"/>
                        <a:t>XX/XX/</a:t>
                      </a: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17:20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6030502" y="4362875"/>
            <a:ext cx="10713747" cy="78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4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e Implementación de Archivos B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897349" y="5129826"/>
            <a:ext cx="68469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4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Daniel Eduardo Mellado Ayala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1028700" y="3057253"/>
            <a:ext cx="5197293" cy="1585174"/>
          </a:xfrm>
          <a:custGeom>
            <a:rect b="b" l="l" r="r" t="t"/>
            <a:pathLst>
              <a:path extrusionOk="0" h="1585174" w="5197293">
                <a:moveTo>
                  <a:pt x="0" y="0"/>
                </a:moveTo>
                <a:lnTo>
                  <a:pt x="5197293" y="0"/>
                </a:lnTo>
                <a:lnTo>
                  <a:pt x="5197293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>
            <a:off x="1028700" y="6136174"/>
            <a:ext cx="5197293" cy="1585174"/>
          </a:xfrm>
          <a:custGeom>
            <a:rect b="b" l="l" r="r" t="t"/>
            <a:pathLst>
              <a:path extrusionOk="0" h="1585174" w="5197293">
                <a:moveTo>
                  <a:pt x="0" y="0"/>
                </a:moveTo>
                <a:lnTo>
                  <a:pt x="5197293" y="0"/>
                </a:lnTo>
                <a:lnTo>
                  <a:pt x="5197293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6545354" y="3057253"/>
            <a:ext cx="5197293" cy="1585174"/>
          </a:xfrm>
          <a:custGeom>
            <a:rect b="b" l="l" r="r" t="t"/>
            <a:pathLst>
              <a:path extrusionOk="0" h="1585174" w="5197293">
                <a:moveTo>
                  <a:pt x="0" y="0"/>
                </a:moveTo>
                <a:lnTo>
                  <a:pt x="5197292" y="0"/>
                </a:lnTo>
                <a:lnTo>
                  <a:pt x="5197292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>
            <a:off x="6545354" y="6136174"/>
            <a:ext cx="5197293" cy="1585174"/>
          </a:xfrm>
          <a:custGeom>
            <a:rect b="b" l="l" r="r" t="t"/>
            <a:pathLst>
              <a:path extrusionOk="0" h="1585174" w="5197293">
                <a:moveTo>
                  <a:pt x="0" y="0"/>
                </a:moveTo>
                <a:lnTo>
                  <a:pt x="5197292" y="0"/>
                </a:lnTo>
                <a:lnTo>
                  <a:pt x="5197292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12062007" y="3057253"/>
            <a:ext cx="5197293" cy="1585174"/>
          </a:xfrm>
          <a:custGeom>
            <a:rect b="b" l="l" r="r" t="t"/>
            <a:pathLst>
              <a:path extrusionOk="0" h="1585174" w="5197293">
                <a:moveTo>
                  <a:pt x="0" y="0"/>
                </a:moveTo>
                <a:lnTo>
                  <a:pt x="5197293" y="0"/>
                </a:lnTo>
                <a:lnTo>
                  <a:pt x="5197293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12062007" y="6136174"/>
            <a:ext cx="5197293" cy="1585174"/>
          </a:xfrm>
          <a:custGeom>
            <a:rect b="b" l="l" r="r" t="t"/>
            <a:pathLst>
              <a:path extrusionOk="0" h="1585174" w="5197293">
                <a:moveTo>
                  <a:pt x="0" y="0"/>
                </a:moveTo>
                <a:lnTo>
                  <a:pt x="5197293" y="0"/>
                </a:lnTo>
                <a:lnTo>
                  <a:pt x="5197293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1762177" y="5076698"/>
            <a:ext cx="4115707" cy="169773"/>
          </a:xfrm>
          <a:custGeom>
            <a:rect b="b" l="l" r="r" t="t"/>
            <a:pathLst>
              <a:path extrusionOk="0" h="169773" w="4115707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1762177" y="8155619"/>
            <a:ext cx="4115707" cy="169773"/>
          </a:xfrm>
          <a:custGeom>
            <a:rect b="b" l="l" r="r" t="t"/>
            <a:pathLst>
              <a:path extrusionOk="0" h="169773" w="4115707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7280963" y="5076698"/>
            <a:ext cx="4115707" cy="169773"/>
          </a:xfrm>
          <a:custGeom>
            <a:rect b="b" l="l" r="r" t="t"/>
            <a:pathLst>
              <a:path extrusionOk="0" h="169773" w="4115707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7280963" y="8155619"/>
            <a:ext cx="4115707" cy="169773"/>
          </a:xfrm>
          <a:custGeom>
            <a:rect b="b" l="l" r="r" t="t"/>
            <a:pathLst>
              <a:path extrusionOk="0" h="169773" w="4115707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3" name="Google Shape;103;p2"/>
          <p:cNvGrpSpPr/>
          <p:nvPr/>
        </p:nvGrpSpPr>
        <p:grpSpPr>
          <a:xfrm>
            <a:off x="587698" y="4416637"/>
            <a:ext cx="948012" cy="948012"/>
            <a:chOff x="0" y="0"/>
            <a:chExt cx="812800" cy="81280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11468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587698" y="7495558"/>
            <a:ext cx="948012" cy="948012"/>
            <a:chOff x="0" y="0"/>
            <a:chExt cx="812800" cy="8128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31BF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6104351" y="4416637"/>
            <a:ext cx="948012" cy="948012"/>
            <a:chOff x="0" y="0"/>
            <a:chExt cx="812800" cy="81280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1D8BC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6104351" y="7495558"/>
            <a:ext cx="948012" cy="948012"/>
            <a:chOff x="0" y="0"/>
            <a:chExt cx="812800" cy="81280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77BF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1621005" y="4416637"/>
            <a:ext cx="948012" cy="948012"/>
            <a:chOff x="0" y="0"/>
            <a:chExt cx="812800" cy="812800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2BC5C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1621005" y="7495558"/>
            <a:ext cx="948012" cy="948012"/>
            <a:chOff x="0" y="0"/>
            <a:chExt cx="812800" cy="81280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519D3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12799749" y="5076698"/>
            <a:ext cx="4115707" cy="169773"/>
          </a:xfrm>
          <a:custGeom>
            <a:rect b="b" l="l" r="r" t="t"/>
            <a:pathLst>
              <a:path extrusionOk="0" h="169773" w="4115707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12799749" y="8155619"/>
            <a:ext cx="4115707" cy="169773"/>
          </a:xfrm>
          <a:custGeom>
            <a:rect b="b" l="l" r="r" t="t"/>
            <a:pathLst>
              <a:path extrusionOk="0" h="169773" w="4115707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5122074" y="3430220"/>
            <a:ext cx="908930" cy="669200"/>
          </a:xfrm>
          <a:custGeom>
            <a:rect b="b" l="l" r="r" t="t"/>
            <a:pathLst>
              <a:path extrusionOk="0" h="669200" w="908930">
                <a:moveTo>
                  <a:pt x="0" y="0"/>
                </a:moveTo>
                <a:lnTo>
                  <a:pt x="908930" y="0"/>
                </a:lnTo>
                <a:lnTo>
                  <a:pt x="908930" y="669200"/>
                </a:lnTo>
                <a:lnTo>
                  <a:pt x="0" y="66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-2201496" y="-2276473"/>
            <a:ext cx="3708464" cy="4114800"/>
          </a:xfrm>
          <a:custGeom>
            <a:rect b="b" l="l" r="r" t="t"/>
            <a:pathLst>
              <a:path extrusionOk="0" h="4114800" w="3708464">
                <a:moveTo>
                  <a:pt x="0" y="0"/>
                </a:moveTo>
                <a:lnTo>
                  <a:pt x="3708463" y="0"/>
                </a:lnTo>
                <a:lnTo>
                  <a:pt x="37084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16750094" y="9036185"/>
            <a:ext cx="3075813" cy="4114800"/>
          </a:xfrm>
          <a:custGeom>
            <a:rect b="b" l="l" r="r" t="t"/>
            <a:pathLst>
              <a:path extrusionOk="0" h="4114800" w="3075813">
                <a:moveTo>
                  <a:pt x="0" y="0"/>
                </a:moveTo>
                <a:lnTo>
                  <a:pt x="3075812" y="0"/>
                </a:lnTo>
                <a:lnTo>
                  <a:pt x="30758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16085087" y="6451115"/>
            <a:ext cx="1028578" cy="955292"/>
          </a:xfrm>
          <a:custGeom>
            <a:rect b="b" l="l" r="r" t="t"/>
            <a:pathLst>
              <a:path extrusionOk="0" h="955292" w="1028578">
                <a:moveTo>
                  <a:pt x="0" y="0"/>
                </a:moveTo>
                <a:lnTo>
                  <a:pt x="1028578" y="0"/>
                </a:lnTo>
                <a:lnTo>
                  <a:pt x="1028578" y="955292"/>
                </a:lnTo>
                <a:lnTo>
                  <a:pt x="0" y="955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/>
          <p:nvPr/>
        </p:nvSpPr>
        <p:spPr>
          <a:xfrm>
            <a:off x="5145560" y="6407302"/>
            <a:ext cx="861958" cy="830479"/>
          </a:xfrm>
          <a:custGeom>
            <a:rect b="b" l="l" r="r" t="t"/>
            <a:pathLst>
              <a:path extrusionOk="0" h="830479" w="861958">
                <a:moveTo>
                  <a:pt x="0" y="0"/>
                </a:moveTo>
                <a:lnTo>
                  <a:pt x="861958" y="0"/>
                </a:lnTo>
                <a:lnTo>
                  <a:pt x="861958" y="830478"/>
                </a:lnTo>
                <a:lnTo>
                  <a:pt x="0" y="830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2"/>
          <p:cNvSpPr/>
          <p:nvPr/>
        </p:nvSpPr>
        <p:spPr>
          <a:xfrm>
            <a:off x="15922854" y="3430220"/>
            <a:ext cx="1146887" cy="758379"/>
          </a:xfrm>
          <a:custGeom>
            <a:rect b="b" l="l" r="r" t="t"/>
            <a:pathLst>
              <a:path extrusionOk="0" h="758379" w="1146887">
                <a:moveTo>
                  <a:pt x="0" y="0"/>
                </a:moveTo>
                <a:lnTo>
                  <a:pt x="1146887" y="0"/>
                </a:lnTo>
                <a:lnTo>
                  <a:pt x="1146887" y="758379"/>
                </a:lnTo>
                <a:lnTo>
                  <a:pt x="0" y="7583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2"/>
          <p:cNvSpPr/>
          <p:nvPr/>
        </p:nvSpPr>
        <p:spPr>
          <a:xfrm>
            <a:off x="10408319" y="3430220"/>
            <a:ext cx="1143768" cy="839240"/>
          </a:xfrm>
          <a:custGeom>
            <a:rect b="b" l="l" r="r" t="t"/>
            <a:pathLst>
              <a:path extrusionOk="0" h="839240" w="1143768">
                <a:moveTo>
                  <a:pt x="0" y="0"/>
                </a:moveTo>
                <a:lnTo>
                  <a:pt x="1143768" y="0"/>
                </a:lnTo>
                <a:lnTo>
                  <a:pt x="1143768" y="839240"/>
                </a:lnTo>
                <a:lnTo>
                  <a:pt x="0" y="839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"/>
          <p:cNvSpPr/>
          <p:nvPr/>
        </p:nvSpPr>
        <p:spPr>
          <a:xfrm>
            <a:off x="10801775" y="6304246"/>
            <a:ext cx="489055" cy="793598"/>
          </a:xfrm>
          <a:custGeom>
            <a:rect b="b" l="l" r="r" t="t"/>
            <a:pathLst>
              <a:path extrusionOk="0" h="793598" w="489055">
                <a:moveTo>
                  <a:pt x="0" y="0"/>
                </a:moveTo>
                <a:lnTo>
                  <a:pt x="489055" y="0"/>
                </a:lnTo>
                <a:lnTo>
                  <a:pt x="489055" y="793598"/>
                </a:lnTo>
                <a:lnTo>
                  <a:pt x="0" y="793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2"/>
          <p:cNvSpPr txBox="1"/>
          <p:nvPr/>
        </p:nvSpPr>
        <p:spPr>
          <a:xfrm>
            <a:off x="7024687" y="3497415"/>
            <a:ext cx="267520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Clase #07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2256996" y="3492712"/>
            <a:ext cx="37906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 #07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7382551" y="828675"/>
            <a:ext cx="379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1F0A49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1506967" y="3497415"/>
            <a:ext cx="35345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Bienvenida Clase #07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357626" y="6576336"/>
            <a:ext cx="35345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Anuncios Generales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2569017" y="6666512"/>
            <a:ext cx="29445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Cuestionario #07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859520" y="4637913"/>
            <a:ext cx="404366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11468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843782" y="7716834"/>
            <a:ext cx="435843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31BF8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6371151" y="4637913"/>
            <a:ext cx="414412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1D8BC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363821" y="7716834"/>
            <a:ext cx="429071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77BF6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1882261" y="4637913"/>
            <a:ext cx="425500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2BC5C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11872736" y="7716834"/>
            <a:ext cx="444550" cy="44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519D3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6792893" y="6576336"/>
            <a:ext cx="35345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-2285506" y="-4771437"/>
            <a:ext cx="22859012" cy="17585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3"/>
          <p:cNvGrpSpPr/>
          <p:nvPr/>
        </p:nvGrpSpPr>
        <p:grpSpPr>
          <a:xfrm>
            <a:off x="1028700" y="3403329"/>
            <a:ext cx="16230600" cy="3778541"/>
            <a:chOff x="0" y="-38100"/>
            <a:chExt cx="3655013" cy="850900"/>
          </a:xfrm>
        </p:grpSpPr>
        <p:sp>
          <p:nvSpPr>
            <p:cNvPr id="150" name="Google Shape;150;p3"/>
            <p:cNvSpPr/>
            <p:nvPr/>
          </p:nvSpPr>
          <p:spPr>
            <a:xfrm>
              <a:off x="0" y="0"/>
              <a:ext cx="3655013" cy="812800"/>
            </a:xfrm>
            <a:custGeom>
              <a:rect b="b" l="l" r="r" t="t"/>
              <a:pathLst>
                <a:path extrusionOk="0" h="812800" w="3655013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3"/>
          <p:cNvSpPr txBox="1"/>
          <p:nvPr/>
        </p:nvSpPr>
        <p:spPr>
          <a:xfrm>
            <a:off x="1028575" y="3611900"/>
            <a:ext cx="16230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TIPOS DE ALMACENAMIENTO 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EN RED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5983850" y="7677997"/>
            <a:ext cx="6320299" cy="738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06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CLASE 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-2285506" y="-4771437"/>
            <a:ext cx="22859012" cy="17585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4"/>
          <p:cNvGrpSpPr/>
          <p:nvPr/>
        </p:nvGrpSpPr>
        <p:grpSpPr>
          <a:xfrm>
            <a:off x="1028700" y="3403329"/>
            <a:ext cx="16230600" cy="3778541"/>
            <a:chOff x="0" y="-38100"/>
            <a:chExt cx="3655013" cy="850900"/>
          </a:xfrm>
        </p:grpSpPr>
        <p:sp>
          <p:nvSpPr>
            <p:cNvPr id="160" name="Google Shape;160;p4"/>
            <p:cNvSpPr/>
            <p:nvPr/>
          </p:nvSpPr>
          <p:spPr>
            <a:xfrm>
              <a:off x="0" y="0"/>
              <a:ext cx="3655013" cy="812800"/>
            </a:xfrm>
            <a:custGeom>
              <a:rect b="b" l="l" r="r" t="t"/>
              <a:pathLst>
                <a:path extrusionOk="0" h="812800" w="3655013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4"/>
          <p:cNvSpPr txBox="1"/>
          <p:nvPr/>
        </p:nvSpPr>
        <p:spPr>
          <a:xfrm>
            <a:off x="1028700" y="3822075"/>
            <a:ext cx="162306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SUPERVISA EL DESEMPEÑO DE SISTEMAS DE ALMACENAMIENTO MASIVO MEDIANTE EL USO DE HERRAMIENTAS DE MONITOREO Y ANÁLISIS DE MÉTRICAS PARA IDENTIFICAR OPORTUNIDADES DE MEJORA EN LA DISPONIBILIDAD, EFICIENCIA Y SEGURIDAD DE LOS DATOS </a:t>
            </a:r>
            <a:endParaRPr sz="3800"/>
          </a:p>
        </p:txBody>
      </p:sp>
      <p:sp>
        <p:nvSpPr>
          <p:cNvPr id="163" name="Google Shape;163;p4"/>
          <p:cNvSpPr txBox="1"/>
          <p:nvPr/>
        </p:nvSpPr>
        <p:spPr>
          <a:xfrm>
            <a:off x="4533669" y="7649422"/>
            <a:ext cx="9220662" cy="738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06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COMPETENCIA DE LA SEMANA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5"/>
          <p:cNvGrpSpPr/>
          <p:nvPr/>
        </p:nvGrpSpPr>
        <p:grpSpPr>
          <a:xfrm>
            <a:off x="9187587" y="-1023038"/>
            <a:ext cx="9246124" cy="11381923"/>
            <a:chOff x="0" y="-38100"/>
            <a:chExt cx="2082160" cy="2563126"/>
          </a:xfrm>
        </p:grpSpPr>
        <p:sp>
          <p:nvSpPr>
            <p:cNvPr id="169" name="Google Shape;169;p5"/>
            <p:cNvSpPr/>
            <p:nvPr/>
          </p:nvSpPr>
          <p:spPr>
            <a:xfrm>
              <a:off x="0" y="0"/>
              <a:ext cx="2082160" cy="2525026"/>
            </a:xfrm>
            <a:custGeom>
              <a:rect b="b" l="l" r="r" t="t"/>
              <a:pathLst>
                <a:path extrusionOk="0" h="2525026" w="2082160">
                  <a:moveTo>
                    <a:pt x="0" y="0"/>
                  </a:moveTo>
                  <a:lnTo>
                    <a:pt x="2082160" y="0"/>
                  </a:lnTo>
                  <a:lnTo>
                    <a:pt x="208216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170" name="Google Shape;170;p5"/>
            <p:cNvSpPr txBox="1"/>
            <p:nvPr/>
          </p:nvSpPr>
          <p:spPr>
            <a:xfrm>
              <a:off x="0" y="-38100"/>
              <a:ext cx="2082160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5"/>
          <p:cNvGrpSpPr/>
          <p:nvPr/>
        </p:nvGrpSpPr>
        <p:grpSpPr>
          <a:xfrm>
            <a:off x="10374858" y="6521631"/>
            <a:ext cx="6871582" cy="1974471"/>
            <a:chOff x="0" y="-38100"/>
            <a:chExt cx="1547430" cy="444637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1547430" cy="406537"/>
            </a:xfrm>
            <a:custGeom>
              <a:rect b="b" l="l" r="r" t="t"/>
              <a:pathLst>
                <a:path extrusionOk="0" h="406537" w="1547430">
                  <a:moveTo>
                    <a:pt x="57460" y="0"/>
                  </a:moveTo>
                  <a:lnTo>
                    <a:pt x="1489971" y="0"/>
                  </a:lnTo>
                  <a:cubicBezTo>
                    <a:pt x="1505210" y="0"/>
                    <a:pt x="1519825" y="6054"/>
                    <a:pt x="1530601" y="16830"/>
                  </a:cubicBezTo>
                  <a:cubicBezTo>
                    <a:pt x="1541376" y="27605"/>
                    <a:pt x="1547430" y="42220"/>
                    <a:pt x="1547430" y="57460"/>
                  </a:cubicBezTo>
                  <a:lnTo>
                    <a:pt x="1547430" y="349077"/>
                  </a:lnTo>
                  <a:cubicBezTo>
                    <a:pt x="1547430" y="364316"/>
                    <a:pt x="1541376" y="378931"/>
                    <a:pt x="1530601" y="389707"/>
                  </a:cubicBezTo>
                  <a:cubicBezTo>
                    <a:pt x="1519825" y="400483"/>
                    <a:pt x="1505210" y="406537"/>
                    <a:pt x="1489971" y="406537"/>
                  </a:cubicBezTo>
                  <a:lnTo>
                    <a:pt x="57460" y="406537"/>
                  </a:lnTo>
                  <a:cubicBezTo>
                    <a:pt x="42220" y="406537"/>
                    <a:pt x="27605" y="400483"/>
                    <a:pt x="16830" y="389707"/>
                  </a:cubicBezTo>
                  <a:cubicBezTo>
                    <a:pt x="6054" y="378931"/>
                    <a:pt x="0" y="364316"/>
                    <a:pt x="0" y="349077"/>
                  </a:cubicBezTo>
                  <a:lnTo>
                    <a:pt x="0" y="57460"/>
                  </a:lnTo>
                  <a:cubicBezTo>
                    <a:pt x="0" y="42220"/>
                    <a:pt x="6054" y="27605"/>
                    <a:pt x="16830" y="16830"/>
                  </a:cubicBezTo>
                  <a:cubicBezTo>
                    <a:pt x="27605" y="6054"/>
                    <a:pt x="42220" y="0"/>
                    <a:pt x="5746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0" y="-38100"/>
              <a:ext cx="1547430" cy="44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5"/>
          <p:cNvSpPr/>
          <p:nvPr/>
        </p:nvSpPr>
        <p:spPr>
          <a:xfrm>
            <a:off x="1028700" y="1666418"/>
            <a:ext cx="6645707" cy="6172200"/>
          </a:xfrm>
          <a:custGeom>
            <a:rect b="b" l="l" r="r" t="t"/>
            <a:pathLst>
              <a:path extrusionOk="0" h="6172200" w="6645707">
                <a:moveTo>
                  <a:pt x="0" y="0"/>
                </a:moveTo>
                <a:lnTo>
                  <a:pt x="6645707" y="0"/>
                </a:lnTo>
                <a:lnTo>
                  <a:pt x="6645707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5"/>
          <p:cNvSpPr txBox="1"/>
          <p:nvPr/>
        </p:nvSpPr>
        <p:spPr>
          <a:xfrm>
            <a:off x="10428097" y="1143000"/>
            <a:ext cx="6745799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CONCEPTOS BÁSICOS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10652057" y="2578277"/>
            <a:ext cx="6297879" cy="281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en Red: sistemas que permiten almacenar y acceder a datos a través de una red, en lugar de hacerlo directamente desde un dispositivo local.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Local: datos almacenados en dispositivos físicos conectados directamente a una computadora (ejemplo: discos duros internos).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10714949" y="6866386"/>
            <a:ext cx="6191400" cy="140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Acceso: en red (multiusuario) vs. local (un usuario)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Escalabilidad: el almacenamiento en red es más fácil de escalar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6"/>
          <p:cNvGrpSpPr/>
          <p:nvPr/>
        </p:nvGrpSpPr>
        <p:grpSpPr>
          <a:xfrm>
            <a:off x="5715724" y="-1023038"/>
            <a:ext cx="12717987" cy="11381923"/>
            <a:chOff x="0" y="-38100"/>
            <a:chExt cx="2863998" cy="2563126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85" name="Google Shape;185;p6"/>
          <p:cNvGraphicFramePr/>
          <p:nvPr/>
        </p:nvGraphicFramePr>
        <p:xfrm>
          <a:off x="7221888" y="19061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{BC2A1C84-6956-4616-BCA4-8D12A4AE9A24}</a:tableStyleId>
              </a:tblPr>
              <a:tblGrid>
                <a:gridCol w="4852825"/>
                <a:gridCol w="4852825"/>
              </a:tblGrid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Beneficio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</a:tr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Escalabilidad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Añadir más capacidad de almacenamiento sin interrumpir operaciones.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Acceso Remoto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 usuarios pueden acceder a los datos desde cualquier lugar con conexión 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Redundancia y Seguridad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Copias de seguridad automáticas y protección contra pérdida de datos.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Colaboración Eficiente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Múltiples usuarios pueden trabajar en los mismos archivos simultáneamente.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6"/>
          <p:cNvSpPr/>
          <p:nvPr/>
        </p:nvSpPr>
        <p:spPr>
          <a:xfrm>
            <a:off x="1028700" y="30861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6"/>
          <p:cNvSpPr txBox="1"/>
          <p:nvPr/>
        </p:nvSpPr>
        <p:spPr>
          <a:xfrm>
            <a:off x="6544406" y="320130"/>
            <a:ext cx="110607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BENEFICIOS DEL ALMACENAMIENTO EN RED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7"/>
          <p:cNvGrpSpPr/>
          <p:nvPr/>
        </p:nvGrpSpPr>
        <p:grpSpPr>
          <a:xfrm>
            <a:off x="5715724" y="-1023038"/>
            <a:ext cx="12717987" cy="11381923"/>
            <a:chOff x="0" y="-38100"/>
            <a:chExt cx="2863998" cy="2563126"/>
          </a:xfrm>
        </p:grpSpPr>
        <p:sp>
          <p:nvSpPr>
            <p:cNvPr id="193" name="Google Shape;193;p7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194" name="Google Shape;194;p7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95" name="Google Shape;195;p7"/>
          <p:cNvGraphicFramePr/>
          <p:nvPr/>
        </p:nvGraphicFramePr>
        <p:xfrm>
          <a:off x="7030432" y="19061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{BC2A1C84-6956-4616-BCA4-8D12A4AE9A24}</a:tableStyleId>
              </a:tblPr>
              <a:tblGrid>
                <a:gridCol w="5044275"/>
                <a:gridCol w="5044275"/>
              </a:tblGrid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Desafío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Costos Iniciales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implementación puede ser costosa, especialmente para soluciones avanzadas como SAN.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Complejidad de Implementación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Requiere conocimientos técnicos para configurar y mantener.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Latencia y Rendimiento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Depende de la calidad de la red y puede ser un problema en entornos con alto tráfico.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7"/>
          <p:cNvSpPr/>
          <p:nvPr/>
        </p:nvSpPr>
        <p:spPr>
          <a:xfrm>
            <a:off x="1028700" y="30861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7"/>
          <p:cNvSpPr txBox="1"/>
          <p:nvPr/>
        </p:nvSpPr>
        <p:spPr>
          <a:xfrm>
            <a:off x="6544406" y="204205"/>
            <a:ext cx="110607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DESAFIOS DEL ALMACENAMIENTO EN 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8"/>
          <p:cNvGrpSpPr/>
          <p:nvPr/>
        </p:nvGrpSpPr>
        <p:grpSpPr>
          <a:xfrm>
            <a:off x="5715724" y="-1023037"/>
            <a:ext cx="12717870" cy="11381817"/>
            <a:chOff x="0" y="-38100"/>
            <a:chExt cx="2863998" cy="2563126"/>
          </a:xfrm>
        </p:grpSpPr>
        <p:sp>
          <p:nvSpPr>
            <p:cNvPr id="203" name="Google Shape;203;p8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204" name="Google Shape;204;p8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05" name="Google Shape;205;p8"/>
          <p:cNvGraphicFramePr/>
          <p:nvPr/>
        </p:nvGraphicFramePr>
        <p:xfrm>
          <a:off x="7221888" y="19061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{BC2A1C84-6956-4616-BCA4-8D12A4AE9A24}</a:tableStyleId>
              </a:tblPr>
              <a:tblGrid>
                <a:gridCol w="4852825"/>
                <a:gridCol w="4852825"/>
              </a:tblGrid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</a:tr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 (Direct-Attached Storage)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Almacenamiento conectado directamente a un servidor o computadora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 (Network-Attached Storage)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Dispositivos de almacenamiento conectados a una red, accesibles por múltiples usuarios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 (Storage Area Network)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 dedicada de alta velocidad que conecta servidores y unidades de almacenamiento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47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Almacenamiento en la Nube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Datos almacenados en servidores remotos accesibles a través de internet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8"/>
          <p:cNvSpPr/>
          <p:nvPr/>
        </p:nvSpPr>
        <p:spPr>
          <a:xfrm>
            <a:off x="1028700" y="2181779"/>
            <a:ext cx="3618316" cy="5141479"/>
          </a:xfrm>
          <a:custGeom>
            <a:rect b="b" l="l" r="r" t="t"/>
            <a:pathLst>
              <a:path extrusionOk="0" h="5141479" w="3618316">
                <a:moveTo>
                  <a:pt x="0" y="0"/>
                </a:moveTo>
                <a:lnTo>
                  <a:pt x="3618316" y="0"/>
                </a:lnTo>
                <a:lnTo>
                  <a:pt x="3618316" y="5141479"/>
                </a:lnTo>
                <a:lnTo>
                  <a:pt x="0" y="5141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8"/>
          <p:cNvSpPr txBox="1"/>
          <p:nvPr/>
        </p:nvSpPr>
        <p:spPr>
          <a:xfrm>
            <a:off x="6544356" y="5"/>
            <a:ext cx="110607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TIPOS DE ALMACENAMIENTO EN RED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9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213" name="Google Shape;213;p9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214" name="Google Shape;214;p9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9"/>
          <p:cNvGrpSpPr/>
          <p:nvPr/>
        </p:nvGrpSpPr>
        <p:grpSpPr>
          <a:xfrm>
            <a:off x="6744431" y="1998712"/>
            <a:ext cx="10514869" cy="6120389"/>
            <a:chOff x="0" y="-38100"/>
            <a:chExt cx="2367872" cy="1378267"/>
          </a:xfrm>
        </p:grpSpPr>
        <p:sp>
          <p:nvSpPr>
            <p:cNvPr id="216" name="Google Shape;216;p9"/>
            <p:cNvSpPr/>
            <p:nvPr/>
          </p:nvSpPr>
          <p:spPr>
            <a:xfrm>
              <a:off x="0" y="0"/>
              <a:ext cx="2367872" cy="1340167"/>
            </a:xfrm>
            <a:custGeom>
              <a:rect b="b" l="l" r="r" t="t"/>
              <a:pathLst>
                <a:path extrusionOk="0" h="1340167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302617"/>
                  </a:lnTo>
                  <a:cubicBezTo>
                    <a:pt x="2367872" y="1323355"/>
                    <a:pt x="2351060" y="1340167"/>
                    <a:pt x="2330321" y="1340167"/>
                  </a:cubicBezTo>
                  <a:lnTo>
                    <a:pt x="37550" y="1340167"/>
                  </a:lnTo>
                  <a:cubicBezTo>
                    <a:pt x="16812" y="1340167"/>
                    <a:pt x="0" y="1323355"/>
                    <a:pt x="0" y="1302617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 txBox="1"/>
            <p:nvPr/>
          </p:nvSpPr>
          <p:spPr>
            <a:xfrm>
              <a:off x="0" y="-38100"/>
              <a:ext cx="2367872" cy="1378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9"/>
          <p:cNvSpPr/>
          <p:nvPr/>
        </p:nvSpPr>
        <p:spPr>
          <a:xfrm>
            <a:off x="1028700" y="3418056"/>
            <a:ext cx="3972652" cy="4114800"/>
          </a:xfrm>
          <a:custGeom>
            <a:rect b="b" l="l" r="r" t="t"/>
            <a:pathLst>
              <a:path extrusionOk="0" h="4114800" w="3972652">
                <a:moveTo>
                  <a:pt x="0" y="0"/>
                </a:moveTo>
                <a:lnTo>
                  <a:pt x="3972652" y="0"/>
                </a:lnTo>
                <a:lnTo>
                  <a:pt x="3972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9"/>
          <p:cNvSpPr txBox="1"/>
          <p:nvPr/>
        </p:nvSpPr>
        <p:spPr>
          <a:xfrm>
            <a:off x="6544406" y="323705"/>
            <a:ext cx="110607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DAS (DIRECT-ATTACHED STORAGE)</a:t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7444064" y="2778125"/>
            <a:ext cx="9261306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Características: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Bajo costo inicial, fácil de configurar, ideal para entornos pequeños.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Ventajas: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Alto rendimiento, simplicidad.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Desventajas: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Escalabilidad limitada, no es accesible desde la red.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0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226" name="Google Shape;226;p10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227" name="Google Shape;227;p10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0"/>
          <p:cNvGrpSpPr/>
          <p:nvPr/>
        </p:nvGrpSpPr>
        <p:grpSpPr>
          <a:xfrm>
            <a:off x="6744431" y="1998712"/>
            <a:ext cx="10514869" cy="6120389"/>
            <a:chOff x="0" y="-38100"/>
            <a:chExt cx="2367872" cy="1378267"/>
          </a:xfrm>
        </p:grpSpPr>
        <p:sp>
          <p:nvSpPr>
            <p:cNvPr id="229" name="Google Shape;229;p10"/>
            <p:cNvSpPr/>
            <p:nvPr/>
          </p:nvSpPr>
          <p:spPr>
            <a:xfrm>
              <a:off x="0" y="0"/>
              <a:ext cx="2367872" cy="1340167"/>
            </a:xfrm>
            <a:custGeom>
              <a:rect b="b" l="l" r="r" t="t"/>
              <a:pathLst>
                <a:path extrusionOk="0" h="1340167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302617"/>
                  </a:lnTo>
                  <a:cubicBezTo>
                    <a:pt x="2367872" y="1323355"/>
                    <a:pt x="2351060" y="1340167"/>
                    <a:pt x="2330321" y="1340167"/>
                  </a:cubicBezTo>
                  <a:lnTo>
                    <a:pt x="37550" y="1340167"/>
                  </a:lnTo>
                  <a:cubicBezTo>
                    <a:pt x="16812" y="1340167"/>
                    <a:pt x="0" y="1323355"/>
                    <a:pt x="0" y="1302617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0"/>
            <p:cNvSpPr txBox="1"/>
            <p:nvPr/>
          </p:nvSpPr>
          <p:spPr>
            <a:xfrm>
              <a:off x="0" y="-38100"/>
              <a:ext cx="2367872" cy="1378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0"/>
          <p:cNvSpPr/>
          <p:nvPr/>
        </p:nvSpPr>
        <p:spPr>
          <a:xfrm>
            <a:off x="1028700" y="3418056"/>
            <a:ext cx="3972652" cy="4114800"/>
          </a:xfrm>
          <a:custGeom>
            <a:rect b="b" l="l" r="r" t="t"/>
            <a:pathLst>
              <a:path extrusionOk="0" h="4114800" w="3972652">
                <a:moveTo>
                  <a:pt x="0" y="0"/>
                </a:moveTo>
                <a:lnTo>
                  <a:pt x="3972652" y="0"/>
                </a:lnTo>
                <a:lnTo>
                  <a:pt x="3972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10"/>
          <p:cNvSpPr txBox="1"/>
          <p:nvPr/>
        </p:nvSpPr>
        <p:spPr>
          <a:xfrm>
            <a:off x="6544406" y="725805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EJEMPLOS DE USO DAS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7444064" y="2778125"/>
            <a:ext cx="9261306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Discos Duros Externos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Conectados vía USAB, Thunderbolt o eSATA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Unidades SSD: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Ofrecen mayor velocidad que los discos duros tradicionales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Casos de uso: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Backup local, almacenamiento temporal para proyectos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1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239" name="Google Shape;239;p11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240" name="Google Shape;240;p11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1"/>
          <p:cNvGrpSpPr/>
          <p:nvPr/>
        </p:nvGrpSpPr>
        <p:grpSpPr>
          <a:xfrm>
            <a:off x="6744431" y="1998712"/>
            <a:ext cx="10514869" cy="6120389"/>
            <a:chOff x="0" y="-38100"/>
            <a:chExt cx="2367872" cy="1378267"/>
          </a:xfrm>
        </p:grpSpPr>
        <p:sp>
          <p:nvSpPr>
            <p:cNvPr id="242" name="Google Shape;242;p11"/>
            <p:cNvSpPr/>
            <p:nvPr/>
          </p:nvSpPr>
          <p:spPr>
            <a:xfrm>
              <a:off x="0" y="0"/>
              <a:ext cx="2367872" cy="1340167"/>
            </a:xfrm>
            <a:custGeom>
              <a:rect b="b" l="l" r="r" t="t"/>
              <a:pathLst>
                <a:path extrusionOk="0" h="1340167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302617"/>
                  </a:lnTo>
                  <a:cubicBezTo>
                    <a:pt x="2367872" y="1323355"/>
                    <a:pt x="2351060" y="1340167"/>
                    <a:pt x="2330321" y="1340167"/>
                  </a:cubicBezTo>
                  <a:lnTo>
                    <a:pt x="37550" y="1340167"/>
                  </a:lnTo>
                  <a:cubicBezTo>
                    <a:pt x="16812" y="1340167"/>
                    <a:pt x="0" y="1323355"/>
                    <a:pt x="0" y="1302617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1"/>
            <p:cNvSpPr txBox="1"/>
            <p:nvPr/>
          </p:nvSpPr>
          <p:spPr>
            <a:xfrm>
              <a:off x="0" y="-38100"/>
              <a:ext cx="2367872" cy="1378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1"/>
          <p:cNvSpPr/>
          <p:nvPr/>
        </p:nvSpPr>
        <p:spPr>
          <a:xfrm>
            <a:off x="572907" y="3685147"/>
            <a:ext cx="4602296" cy="2916705"/>
          </a:xfrm>
          <a:custGeom>
            <a:rect b="b" l="l" r="r" t="t"/>
            <a:pathLst>
              <a:path extrusionOk="0" h="2916705" w="4602296">
                <a:moveTo>
                  <a:pt x="0" y="0"/>
                </a:moveTo>
                <a:lnTo>
                  <a:pt x="4602296" y="0"/>
                </a:lnTo>
                <a:lnTo>
                  <a:pt x="4602296" y="2916706"/>
                </a:lnTo>
                <a:lnTo>
                  <a:pt x="0" y="2916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1"/>
          <p:cNvSpPr txBox="1"/>
          <p:nvPr/>
        </p:nvSpPr>
        <p:spPr>
          <a:xfrm>
            <a:off x="6544381" y="373605"/>
            <a:ext cx="110607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NAS (NETWORK-ATTACHED STORAGE)</a:t>
            </a:r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7444064" y="2778125"/>
            <a:ext cx="9261306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Características: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Usa protocolos como NFS y SMB/CIFS, fácil de administrar.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Ventajas: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Acceso multiusuario, escalabilidad moderada.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Desventajas: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Rendimiento limitado por la red.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12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252" name="Google Shape;252;p12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253" name="Google Shape;253;p12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2"/>
          <p:cNvGrpSpPr/>
          <p:nvPr/>
        </p:nvGrpSpPr>
        <p:grpSpPr>
          <a:xfrm>
            <a:off x="6744431" y="1998712"/>
            <a:ext cx="10514869" cy="6120389"/>
            <a:chOff x="0" y="-38100"/>
            <a:chExt cx="2367872" cy="1378267"/>
          </a:xfrm>
        </p:grpSpPr>
        <p:sp>
          <p:nvSpPr>
            <p:cNvPr id="255" name="Google Shape;255;p12"/>
            <p:cNvSpPr/>
            <p:nvPr/>
          </p:nvSpPr>
          <p:spPr>
            <a:xfrm>
              <a:off x="0" y="0"/>
              <a:ext cx="2367872" cy="1340167"/>
            </a:xfrm>
            <a:custGeom>
              <a:rect b="b" l="l" r="r" t="t"/>
              <a:pathLst>
                <a:path extrusionOk="0" h="1340167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302617"/>
                  </a:lnTo>
                  <a:cubicBezTo>
                    <a:pt x="2367872" y="1323355"/>
                    <a:pt x="2351060" y="1340167"/>
                    <a:pt x="2330321" y="1340167"/>
                  </a:cubicBezTo>
                  <a:lnTo>
                    <a:pt x="37550" y="1340167"/>
                  </a:lnTo>
                  <a:cubicBezTo>
                    <a:pt x="16812" y="1340167"/>
                    <a:pt x="0" y="1323355"/>
                    <a:pt x="0" y="1302617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2"/>
            <p:cNvSpPr txBox="1"/>
            <p:nvPr/>
          </p:nvSpPr>
          <p:spPr>
            <a:xfrm>
              <a:off x="0" y="-38100"/>
              <a:ext cx="2367872" cy="1378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2"/>
          <p:cNvSpPr/>
          <p:nvPr/>
        </p:nvSpPr>
        <p:spPr>
          <a:xfrm>
            <a:off x="572907" y="3685147"/>
            <a:ext cx="4602296" cy="2916705"/>
          </a:xfrm>
          <a:custGeom>
            <a:rect b="b" l="l" r="r" t="t"/>
            <a:pathLst>
              <a:path extrusionOk="0" h="2916705" w="4602296">
                <a:moveTo>
                  <a:pt x="0" y="0"/>
                </a:moveTo>
                <a:lnTo>
                  <a:pt x="4602296" y="0"/>
                </a:lnTo>
                <a:lnTo>
                  <a:pt x="4602296" y="2916706"/>
                </a:lnTo>
                <a:lnTo>
                  <a:pt x="0" y="2916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2"/>
          <p:cNvSpPr txBox="1"/>
          <p:nvPr/>
        </p:nvSpPr>
        <p:spPr>
          <a:xfrm>
            <a:off x="6544406" y="725805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EJEMPLOS DE USO NAS</a:t>
            </a:r>
            <a:endParaRPr/>
          </a:p>
        </p:txBody>
      </p:sp>
      <p:sp>
        <p:nvSpPr>
          <p:cNvPr id="259" name="Google Shape;259;p12"/>
          <p:cNvSpPr txBox="1"/>
          <p:nvPr/>
        </p:nvSpPr>
        <p:spPr>
          <a:xfrm>
            <a:off x="7444064" y="3216275"/>
            <a:ext cx="9261306" cy="378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Pequeñas y medianas empresas: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ocmpartido para documentos, backup centralizado.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Uso doméstico: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de multimedia (fotos, videos, música), acceso remoto a archivos.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13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265" name="Google Shape;265;p13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266" name="Google Shape;266;p13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3"/>
          <p:cNvGrpSpPr/>
          <p:nvPr/>
        </p:nvGrpSpPr>
        <p:grpSpPr>
          <a:xfrm>
            <a:off x="6744431" y="1998712"/>
            <a:ext cx="10514869" cy="7259588"/>
            <a:chOff x="0" y="-38100"/>
            <a:chExt cx="2367872" cy="1634806"/>
          </a:xfrm>
        </p:grpSpPr>
        <p:sp>
          <p:nvSpPr>
            <p:cNvPr id="268" name="Google Shape;268;p13"/>
            <p:cNvSpPr/>
            <p:nvPr/>
          </p:nvSpPr>
          <p:spPr>
            <a:xfrm>
              <a:off x="0" y="0"/>
              <a:ext cx="2367872" cy="1596706"/>
            </a:xfrm>
            <a:custGeom>
              <a:rect b="b" l="l" r="r" t="t"/>
              <a:pathLst>
                <a:path extrusionOk="0" h="1596706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559156"/>
                  </a:lnTo>
                  <a:cubicBezTo>
                    <a:pt x="2367872" y="1579895"/>
                    <a:pt x="2351060" y="1596706"/>
                    <a:pt x="2330321" y="1596706"/>
                  </a:cubicBezTo>
                  <a:lnTo>
                    <a:pt x="37550" y="1596706"/>
                  </a:lnTo>
                  <a:cubicBezTo>
                    <a:pt x="16812" y="1596706"/>
                    <a:pt x="0" y="1579895"/>
                    <a:pt x="0" y="1559156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3"/>
            <p:cNvSpPr txBox="1"/>
            <p:nvPr/>
          </p:nvSpPr>
          <p:spPr>
            <a:xfrm>
              <a:off x="0" y="-38100"/>
              <a:ext cx="2367872" cy="16348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3"/>
          <p:cNvSpPr/>
          <p:nvPr/>
        </p:nvSpPr>
        <p:spPr>
          <a:xfrm>
            <a:off x="572907" y="3685147"/>
            <a:ext cx="4602296" cy="2916705"/>
          </a:xfrm>
          <a:custGeom>
            <a:rect b="b" l="l" r="r" t="t"/>
            <a:pathLst>
              <a:path extrusionOk="0" h="2916705" w="4602296">
                <a:moveTo>
                  <a:pt x="0" y="0"/>
                </a:moveTo>
                <a:lnTo>
                  <a:pt x="4602296" y="0"/>
                </a:lnTo>
                <a:lnTo>
                  <a:pt x="4602296" y="2916706"/>
                </a:lnTo>
                <a:lnTo>
                  <a:pt x="0" y="2916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3"/>
          <p:cNvSpPr txBox="1"/>
          <p:nvPr/>
        </p:nvSpPr>
        <p:spPr>
          <a:xfrm>
            <a:off x="6544406" y="725805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ARQUITECTURA DE NAS</a:t>
            </a:r>
            <a:endParaRPr/>
          </a:p>
        </p:txBody>
      </p:sp>
      <p:sp>
        <p:nvSpPr>
          <p:cNvPr id="272" name="Google Shape;272;p13"/>
          <p:cNvSpPr txBox="1"/>
          <p:nvPr/>
        </p:nvSpPr>
        <p:spPr>
          <a:xfrm>
            <a:off x="7444064" y="2778125"/>
            <a:ext cx="9261306" cy="6410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Componentes principales: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Servidor NAS: Hardware dedicado que gestiona el almacenamiento.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Discos: HDDs o SSDs donde se almacenan los datos.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Software: Sistema operativo especializado para gestionar el almacenamiento.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Protocolos comúnes: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NFS (Network File System): usado en entornos Unix/Linux.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SMB/CIFS (Server Message Block/Common Internet File System): usado en entornos Windows.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4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278" name="Google Shape;278;p14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279" name="Google Shape;279;p14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4"/>
          <p:cNvGrpSpPr/>
          <p:nvPr/>
        </p:nvGrpSpPr>
        <p:grpSpPr>
          <a:xfrm>
            <a:off x="6744431" y="1998712"/>
            <a:ext cx="10514869" cy="6120389"/>
            <a:chOff x="0" y="-38100"/>
            <a:chExt cx="2367872" cy="1378267"/>
          </a:xfrm>
        </p:grpSpPr>
        <p:sp>
          <p:nvSpPr>
            <p:cNvPr id="281" name="Google Shape;281;p14"/>
            <p:cNvSpPr/>
            <p:nvPr/>
          </p:nvSpPr>
          <p:spPr>
            <a:xfrm>
              <a:off x="0" y="0"/>
              <a:ext cx="2367872" cy="1340167"/>
            </a:xfrm>
            <a:custGeom>
              <a:rect b="b" l="l" r="r" t="t"/>
              <a:pathLst>
                <a:path extrusionOk="0" h="1340167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302617"/>
                  </a:lnTo>
                  <a:cubicBezTo>
                    <a:pt x="2367872" y="1323355"/>
                    <a:pt x="2351060" y="1340167"/>
                    <a:pt x="2330321" y="1340167"/>
                  </a:cubicBezTo>
                  <a:lnTo>
                    <a:pt x="37550" y="1340167"/>
                  </a:lnTo>
                  <a:cubicBezTo>
                    <a:pt x="16812" y="1340167"/>
                    <a:pt x="0" y="1323355"/>
                    <a:pt x="0" y="1302617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 txBox="1"/>
            <p:nvPr/>
          </p:nvSpPr>
          <p:spPr>
            <a:xfrm>
              <a:off x="0" y="-38100"/>
              <a:ext cx="2367872" cy="1378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4"/>
          <p:cNvSpPr txBox="1"/>
          <p:nvPr/>
        </p:nvSpPr>
        <p:spPr>
          <a:xfrm>
            <a:off x="7444064" y="2778125"/>
            <a:ext cx="9261306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Características: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Alto rendimiento, escalabilidad avanzada.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Ventajas: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Ideal para grandes volúmenes de datos, alta disponibilidad.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Desventajas: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Costo elevado, complejidad de implementación.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1028700" y="3086100"/>
            <a:ext cx="4053078" cy="4114800"/>
          </a:xfrm>
          <a:custGeom>
            <a:rect b="b" l="l" r="r" t="t"/>
            <a:pathLst>
              <a:path extrusionOk="0" h="4114800" w="4053078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14"/>
          <p:cNvSpPr txBox="1"/>
          <p:nvPr/>
        </p:nvSpPr>
        <p:spPr>
          <a:xfrm>
            <a:off x="6544406" y="725805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SAN (STORAGE AREA NETWORK)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15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291" name="Google Shape;291;p15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292" name="Google Shape;292;p15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5"/>
          <p:cNvGrpSpPr/>
          <p:nvPr/>
        </p:nvGrpSpPr>
        <p:grpSpPr>
          <a:xfrm>
            <a:off x="6744431" y="2457812"/>
            <a:ext cx="10514869" cy="5202188"/>
            <a:chOff x="0" y="-38100"/>
            <a:chExt cx="2367872" cy="1171495"/>
          </a:xfrm>
        </p:grpSpPr>
        <p:sp>
          <p:nvSpPr>
            <p:cNvPr id="294" name="Google Shape;294;p15"/>
            <p:cNvSpPr/>
            <p:nvPr/>
          </p:nvSpPr>
          <p:spPr>
            <a:xfrm>
              <a:off x="0" y="0"/>
              <a:ext cx="2367872" cy="1133395"/>
            </a:xfrm>
            <a:custGeom>
              <a:rect b="b" l="l" r="r" t="t"/>
              <a:pathLst>
                <a:path extrusionOk="0" h="1133395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095844"/>
                  </a:lnTo>
                  <a:cubicBezTo>
                    <a:pt x="2367872" y="1116583"/>
                    <a:pt x="2351060" y="1133395"/>
                    <a:pt x="2330321" y="1133395"/>
                  </a:cubicBezTo>
                  <a:lnTo>
                    <a:pt x="37550" y="1133395"/>
                  </a:lnTo>
                  <a:cubicBezTo>
                    <a:pt x="16812" y="1133395"/>
                    <a:pt x="0" y="1116583"/>
                    <a:pt x="0" y="1095844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 txBox="1"/>
            <p:nvPr/>
          </p:nvSpPr>
          <p:spPr>
            <a:xfrm>
              <a:off x="0" y="-38100"/>
              <a:ext cx="2367872" cy="117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5"/>
          <p:cNvSpPr txBox="1"/>
          <p:nvPr/>
        </p:nvSpPr>
        <p:spPr>
          <a:xfrm>
            <a:off x="7444064" y="2949575"/>
            <a:ext cx="9261306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Grandes empresas y centros de datos: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Bases de datos críticas, virtualización de servidores.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Aplicaciones de alto rendimiento: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Análisis de big data, transacciones financieras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Desventajas: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Costo elevado, complejidad de implementación.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1028700" y="3086100"/>
            <a:ext cx="4053078" cy="4114800"/>
          </a:xfrm>
          <a:custGeom>
            <a:rect b="b" l="l" r="r" t="t"/>
            <a:pathLst>
              <a:path extrusionOk="0" h="4114800" w="4053078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5"/>
          <p:cNvSpPr txBox="1"/>
          <p:nvPr/>
        </p:nvSpPr>
        <p:spPr>
          <a:xfrm>
            <a:off x="6544406" y="725805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EJEMPLOS DE USO SAN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6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304" name="Google Shape;304;p16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305" name="Google Shape;305;p16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" name="Google Shape;306;p16"/>
          <p:cNvGrpSpPr/>
          <p:nvPr/>
        </p:nvGrpSpPr>
        <p:grpSpPr>
          <a:xfrm>
            <a:off x="6744431" y="1998712"/>
            <a:ext cx="10514869" cy="7506276"/>
            <a:chOff x="0" y="-38100"/>
            <a:chExt cx="2367872" cy="1690359"/>
          </a:xfrm>
        </p:grpSpPr>
        <p:sp>
          <p:nvSpPr>
            <p:cNvPr id="307" name="Google Shape;307;p16"/>
            <p:cNvSpPr/>
            <p:nvPr/>
          </p:nvSpPr>
          <p:spPr>
            <a:xfrm>
              <a:off x="0" y="0"/>
              <a:ext cx="2367872" cy="1652259"/>
            </a:xfrm>
            <a:custGeom>
              <a:rect b="b" l="l" r="r" t="t"/>
              <a:pathLst>
                <a:path extrusionOk="0" h="1652259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614708"/>
                  </a:lnTo>
                  <a:cubicBezTo>
                    <a:pt x="2367872" y="1635447"/>
                    <a:pt x="2351060" y="1652259"/>
                    <a:pt x="2330321" y="1652259"/>
                  </a:cubicBezTo>
                  <a:lnTo>
                    <a:pt x="37550" y="1652259"/>
                  </a:lnTo>
                  <a:cubicBezTo>
                    <a:pt x="16812" y="1652259"/>
                    <a:pt x="0" y="1635447"/>
                    <a:pt x="0" y="1614708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6"/>
            <p:cNvSpPr txBox="1"/>
            <p:nvPr/>
          </p:nvSpPr>
          <p:spPr>
            <a:xfrm>
              <a:off x="0" y="-38100"/>
              <a:ext cx="2367872" cy="1690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p16"/>
          <p:cNvSpPr txBox="1"/>
          <p:nvPr/>
        </p:nvSpPr>
        <p:spPr>
          <a:xfrm>
            <a:off x="7444064" y="2778125"/>
            <a:ext cx="9261306" cy="695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Fibre Channel (FC):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Tecnología de alta velocidad para conectar servidores y almacenamiento.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iSCSI: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Protocolo que permite el uso de redes Ethernet para SAN.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Componentes: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Switches: conectan servidores y unidades de almacenamiento.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Matrices de almacenamiento: unidades de disco de alta capacidad.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Servidores: acceden al almacenamiento a través de la red.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1028700" y="3086100"/>
            <a:ext cx="4053078" cy="4114800"/>
          </a:xfrm>
          <a:custGeom>
            <a:rect b="b" l="l" r="r" t="t"/>
            <a:pathLst>
              <a:path extrusionOk="0" h="4114800" w="4053078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1" name="Google Shape;311;p16"/>
          <p:cNvSpPr txBox="1"/>
          <p:nvPr/>
        </p:nvSpPr>
        <p:spPr>
          <a:xfrm>
            <a:off x="6544406" y="725805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ARQUITECTURA DE SAN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17"/>
          <p:cNvGrpSpPr/>
          <p:nvPr/>
        </p:nvGrpSpPr>
        <p:grpSpPr>
          <a:xfrm>
            <a:off x="5715724" y="-1023038"/>
            <a:ext cx="12717987" cy="11381923"/>
            <a:chOff x="0" y="-38100"/>
            <a:chExt cx="2863998" cy="2563126"/>
          </a:xfrm>
        </p:grpSpPr>
        <p:sp>
          <p:nvSpPr>
            <p:cNvPr id="317" name="Google Shape;317;p17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318" name="Google Shape;318;p17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19" name="Google Shape;319;p17"/>
          <p:cNvGraphicFramePr/>
          <p:nvPr/>
        </p:nvGraphicFramePr>
        <p:xfrm>
          <a:off x="7030432" y="19061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{BC2A1C84-6956-4616-BCA4-8D12A4AE9A24}</a:tableStyleId>
              </a:tblPr>
              <a:tblGrid>
                <a:gridCol w="5044275"/>
                <a:gridCol w="5044275"/>
              </a:tblGrid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Comparativa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Rendimiento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 es más rápido que NAS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Escalabilidad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SAN es más escalable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 es más económico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id="320" name="Google Shape;320;p17"/>
          <p:cNvSpPr/>
          <p:nvPr/>
        </p:nvSpPr>
        <p:spPr>
          <a:xfrm>
            <a:off x="1028700" y="3086100"/>
            <a:ext cx="4053078" cy="4114800"/>
          </a:xfrm>
          <a:custGeom>
            <a:rect b="b" l="l" r="r" t="t"/>
            <a:pathLst>
              <a:path extrusionOk="0" h="4114800" w="4053078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17"/>
          <p:cNvSpPr txBox="1"/>
          <p:nvPr/>
        </p:nvSpPr>
        <p:spPr>
          <a:xfrm>
            <a:off x="6544406" y="725805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COMPARACIÓN ENTRE NAS Y SAN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18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327" name="Google Shape;327;p18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328" name="Google Shape;328;p18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18"/>
          <p:cNvGrpSpPr/>
          <p:nvPr/>
        </p:nvGrpSpPr>
        <p:grpSpPr>
          <a:xfrm>
            <a:off x="6817283" y="2691655"/>
            <a:ext cx="10514869" cy="4734501"/>
            <a:chOff x="0" y="-38100"/>
            <a:chExt cx="2367872" cy="1066175"/>
          </a:xfrm>
        </p:grpSpPr>
        <p:sp>
          <p:nvSpPr>
            <p:cNvPr id="330" name="Google Shape;330;p18"/>
            <p:cNvSpPr/>
            <p:nvPr/>
          </p:nvSpPr>
          <p:spPr>
            <a:xfrm>
              <a:off x="0" y="0"/>
              <a:ext cx="2367872" cy="1028075"/>
            </a:xfrm>
            <a:custGeom>
              <a:rect b="b" l="l" r="r" t="t"/>
              <a:pathLst>
                <a:path extrusionOk="0" h="1028075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990525"/>
                  </a:lnTo>
                  <a:cubicBezTo>
                    <a:pt x="2367872" y="1011263"/>
                    <a:pt x="2351060" y="1028075"/>
                    <a:pt x="2330321" y="1028075"/>
                  </a:cubicBezTo>
                  <a:lnTo>
                    <a:pt x="37550" y="1028075"/>
                  </a:lnTo>
                  <a:cubicBezTo>
                    <a:pt x="16812" y="1028075"/>
                    <a:pt x="0" y="1011263"/>
                    <a:pt x="0" y="990525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8"/>
            <p:cNvSpPr txBox="1"/>
            <p:nvPr/>
          </p:nvSpPr>
          <p:spPr>
            <a:xfrm>
              <a:off x="0" y="-38100"/>
              <a:ext cx="2367872" cy="1066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2" name="Google Shape;3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373" y="2967038"/>
            <a:ext cx="5032283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8"/>
          <p:cNvSpPr txBox="1"/>
          <p:nvPr/>
        </p:nvSpPr>
        <p:spPr>
          <a:xfrm>
            <a:off x="7329764" y="3387725"/>
            <a:ext cx="9261306" cy="344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Características: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Escalabilidad limitada, acceso desde cualquier lugar.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Diferencias con NAS, SAN y DAS: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No requiere hardware local, pago por uso.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6430106" y="1143000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ALMACENAMIENTO EN LA NUBE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9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340" name="Google Shape;340;p19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341" name="Google Shape;341;p19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19"/>
          <p:cNvGrpSpPr/>
          <p:nvPr/>
        </p:nvGrpSpPr>
        <p:grpSpPr>
          <a:xfrm>
            <a:off x="6817283" y="2691655"/>
            <a:ext cx="10514869" cy="6920489"/>
            <a:chOff x="0" y="-38100"/>
            <a:chExt cx="2367872" cy="1558444"/>
          </a:xfrm>
        </p:grpSpPr>
        <p:sp>
          <p:nvSpPr>
            <p:cNvPr id="343" name="Google Shape;343;p19"/>
            <p:cNvSpPr/>
            <p:nvPr/>
          </p:nvSpPr>
          <p:spPr>
            <a:xfrm>
              <a:off x="0" y="0"/>
              <a:ext cx="2367872" cy="1520344"/>
            </a:xfrm>
            <a:custGeom>
              <a:rect b="b" l="l" r="r" t="t"/>
              <a:pathLst>
                <a:path extrusionOk="0" h="1520344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482793"/>
                  </a:lnTo>
                  <a:cubicBezTo>
                    <a:pt x="2367872" y="1503532"/>
                    <a:pt x="2351060" y="1520344"/>
                    <a:pt x="2330321" y="1520344"/>
                  </a:cubicBezTo>
                  <a:lnTo>
                    <a:pt x="37550" y="1520344"/>
                  </a:lnTo>
                  <a:cubicBezTo>
                    <a:pt x="16812" y="1520344"/>
                    <a:pt x="0" y="1503532"/>
                    <a:pt x="0" y="1482793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9"/>
            <p:cNvSpPr txBox="1"/>
            <p:nvPr/>
          </p:nvSpPr>
          <p:spPr>
            <a:xfrm>
              <a:off x="0" y="-38100"/>
              <a:ext cx="2367872" cy="1558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5" name="Google Shape;3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373" y="2967038"/>
            <a:ext cx="5032283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9"/>
          <p:cNvSpPr txBox="1"/>
          <p:nvPr/>
        </p:nvSpPr>
        <p:spPr>
          <a:xfrm>
            <a:off x="7329764" y="3387725"/>
            <a:ext cx="9261306" cy="757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Público: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Servicios ofrecidos por proveedores como AWS, Google Cloud y Azure.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Privado: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Infraestructura dedicada para una sola organización.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Híbrido: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Combinación de nube pública y privada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Ejemplos: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AWS S3, Google Cloud Storage, Azure Blob Storage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6430106" y="1143000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TIPOS DE ALMACENAMIENTO EN LA NUBE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20"/>
          <p:cNvGrpSpPr/>
          <p:nvPr/>
        </p:nvGrpSpPr>
        <p:grpSpPr>
          <a:xfrm>
            <a:off x="5715724" y="-1023038"/>
            <a:ext cx="12717987" cy="11381923"/>
            <a:chOff x="0" y="-38100"/>
            <a:chExt cx="2863998" cy="2563126"/>
          </a:xfrm>
        </p:grpSpPr>
        <p:sp>
          <p:nvSpPr>
            <p:cNvPr id="353" name="Google Shape;353;p20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354" name="Google Shape;354;p20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55" name="Google Shape;355;p20"/>
          <p:cNvGraphicFramePr/>
          <p:nvPr/>
        </p:nvGraphicFramePr>
        <p:xfrm>
          <a:off x="7030432" y="19061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{BC2A1C84-6956-4616-BCA4-8D12A4AE9A24}</a:tableStyleId>
              </a:tblPr>
              <a:tblGrid>
                <a:gridCol w="5044275"/>
                <a:gridCol w="5044275"/>
              </a:tblGrid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Ventaja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Escalabilidad Ilimitada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Añadir capacidad según sea necesario.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Acceso desde cualquier lugar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Datos disponibles en cualquier dispositivo con Internet.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Reducción de Costos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se necesita invertir en hardware local.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id="356" name="Google Shape;356;p20"/>
          <p:cNvSpPr txBox="1"/>
          <p:nvPr/>
        </p:nvSpPr>
        <p:spPr>
          <a:xfrm>
            <a:off x="6430094" y="146255"/>
            <a:ext cx="112893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VENTAJAS DEL ALMACENAMIENTO EN LA NUBE</a:t>
            </a:r>
            <a:endParaRPr/>
          </a:p>
        </p:txBody>
      </p:sp>
      <p:pic>
        <p:nvPicPr>
          <p:cNvPr id="357" name="Google Shape;3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373" y="2967038"/>
            <a:ext cx="5032283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21"/>
          <p:cNvGrpSpPr/>
          <p:nvPr/>
        </p:nvGrpSpPr>
        <p:grpSpPr>
          <a:xfrm>
            <a:off x="5715711" y="-1094912"/>
            <a:ext cx="12717870" cy="11381817"/>
            <a:chOff x="0" y="-38100"/>
            <a:chExt cx="2863998" cy="2563126"/>
          </a:xfrm>
        </p:grpSpPr>
        <p:sp>
          <p:nvSpPr>
            <p:cNvPr id="363" name="Google Shape;363;p21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364" name="Google Shape;364;p21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65" name="Google Shape;365;p21"/>
          <p:cNvGraphicFramePr/>
          <p:nvPr/>
        </p:nvGraphicFramePr>
        <p:xfrm>
          <a:off x="7030432" y="19061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{BC2A1C84-6956-4616-BCA4-8D12A4AE9A24}</a:tableStyleId>
              </a:tblPr>
              <a:tblGrid>
                <a:gridCol w="5044275"/>
                <a:gridCol w="5044275"/>
              </a:tblGrid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Desventaja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C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Dependencia de la conexión a Internet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 conexión, no hay acceso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Seguridad y privacidad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Preocupaciones sobre la protección de datos sensibles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  <a:tr h="18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Costos a largo plazo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pago por uso puede acumularse con el tiempo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90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id="366" name="Google Shape;366;p21"/>
          <p:cNvSpPr txBox="1"/>
          <p:nvPr/>
        </p:nvSpPr>
        <p:spPr>
          <a:xfrm>
            <a:off x="6058644" y="5"/>
            <a:ext cx="120321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DESVENTAJAS DEL ALMACENAMIENTO EN LA NUBE</a:t>
            </a:r>
            <a:endParaRPr/>
          </a:p>
        </p:txBody>
      </p:sp>
      <p:pic>
        <p:nvPicPr>
          <p:cNvPr id="367" name="Google Shape;3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373" y="2967038"/>
            <a:ext cx="5032283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22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373" name="Google Shape;373;p22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374" name="Google Shape;374;p22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22"/>
          <p:cNvGrpSpPr/>
          <p:nvPr/>
        </p:nvGrpSpPr>
        <p:grpSpPr>
          <a:xfrm>
            <a:off x="6744431" y="1998712"/>
            <a:ext cx="10514869" cy="6120389"/>
            <a:chOff x="0" y="-38100"/>
            <a:chExt cx="2367872" cy="1378267"/>
          </a:xfrm>
        </p:grpSpPr>
        <p:sp>
          <p:nvSpPr>
            <p:cNvPr id="376" name="Google Shape;376;p22"/>
            <p:cNvSpPr/>
            <p:nvPr/>
          </p:nvSpPr>
          <p:spPr>
            <a:xfrm>
              <a:off x="0" y="0"/>
              <a:ext cx="2367872" cy="1340167"/>
            </a:xfrm>
            <a:custGeom>
              <a:rect b="b" l="l" r="r" t="t"/>
              <a:pathLst>
                <a:path extrusionOk="0" h="1340167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302617"/>
                  </a:lnTo>
                  <a:cubicBezTo>
                    <a:pt x="2367872" y="1323355"/>
                    <a:pt x="2351060" y="1340167"/>
                    <a:pt x="2330321" y="1340167"/>
                  </a:cubicBezTo>
                  <a:lnTo>
                    <a:pt x="37550" y="1340167"/>
                  </a:lnTo>
                  <a:cubicBezTo>
                    <a:pt x="16812" y="1340167"/>
                    <a:pt x="0" y="1323355"/>
                    <a:pt x="0" y="1302617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 txBox="1"/>
            <p:nvPr/>
          </p:nvSpPr>
          <p:spPr>
            <a:xfrm>
              <a:off x="0" y="-38100"/>
              <a:ext cx="2367872" cy="1378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" name="Google Shape;378;p22"/>
          <p:cNvSpPr/>
          <p:nvPr/>
        </p:nvSpPr>
        <p:spPr>
          <a:xfrm>
            <a:off x="585959" y="2994646"/>
            <a:ext cx="4553863" cy="4297708"/>
          </a:xfrm>
          <a:custGeom>
            <a:rect b="b" l="l" r="r" t="t"/>
            <a:pathLst>
              <a:path extrusionOk="0" h="4297708" w="4553863">
                <a:moveTo>
                  <a:pt x="0" y="0"/>
                </a:moveTo>
                <a:lnTo>
                  <a:pt x="4553863" y="0"/>
                </a:lnTo>
                <a:lnTo>
                  <a:pt x="4553863" y="4297708"/>
                </a:lnTo>
                <a:lnTo>
                  <a:pt x="0" y="4297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22"/>
          <p:cNvSpPr txBox="1"/>
          <p:nvPr/>
        </p:nvSpPr>
        <p:spPr>
          <a:xfrm>
            <a:off x="7444064" y="2778125"/>
            <a:ext cx="9261306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Encriptación de datos: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Protege la información en tránsito y en reposo.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Control de acceso: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Autenticación y autorización para limitar el acceso.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Copias de seguridad: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Planes de recuperación ante desastres.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6471556" y="323705"/>
            <a:ext cx="110607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SEGURIDAD EN EL ALMACEMANIENTO EN RED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85;p23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386" name="Google Shape;386;p23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387" name="Google Shape;387;p23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23"/>
          <p:cNvGrpSpPr/>
          <p:nvPr/>
        </p:nvGrpSpPr>
        <p:grpSpPr>
          <a:xfrm>
            <a:off x="6744431" y="1998712"/>
            <a:ext cx="10514869" cy="6120389"/>
            <a:chOff x="0" y="-38100"/>
            <a:chExt cx="2367872" cy="1378267"/>
          </a:xfrm>
        </p:grpSpPr>
        <p:sp>
          <p:nvSpPr>
            <p:cNvPr id="389" name="Google Shape;389;p23"/>
            <p:cNvSpPr/>
            <p:nvPr/>
          </p:nvSpPr>
          <p:spPr>
            <a:xfrm>
              <a:off x="0" y="0"/>
              <a:ext cx="2367872" cy="1340167"/>
            </a:xfrm>
            <a:custGeom>
              <a:rect b="b" l="l" r="r" t="t"/>
              <a:pathLst>
                <a:path extrusionOk="0" h="1340167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302617"/>
                  </a:lnTo>
                  <a:cubicBezTo>
                    <a:pt x="2367872" y="1323355"/>
                    <a:pt x="2351060" y="1340167"/>
                    <a:pt x="2330321" y="1340167"/>
                  </a:cubicBezTo>
                  <a:lnTo>
                    <a:pt x="37550" y="1340167"/>
                  </a:lnTo>
                  <a:cubicBezTo>
                    <a:pt x="16812" y="1340167"/>
                    <a:pt x="0" y="1323355"/>
                    <a:pt x="0" y="1302617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3"/>
            <p:cNvSpPr txBox="1"/>
            <p:nvPr/>
          </p:nvSpPr>
          <p:spPr>
            <a:xfrm>
              <a:off x="0" y="-38100"/>
              <a:ext cx="2367872" cy="1378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23"/>
          <p:cNvSpPr txBox="1"/>
          <p:nvPr/>
        </p:nvSpPr>
        <p:spPr>
          <a:xfrm>
            <a:off x="7444064" y="2778125"/>
            <a:ext cx="9261306" cy="519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Definición: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Creación de una capa abstracta sobre el almacenamiento físico.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Beneficios: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Mayor flexibilidad, uso eficiente de recursos.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Ejemplos: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VMware vSAN (definido por software), Microsoft Storage Spaces (entornos Windows).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630954" y="3086100"/>
            <a:ext cx="4424516" cy="4114800"/>
          </a:xfrm>
          <a:custGeom>
            <a:rect b="b" l="l" r="r" t="t"/>
            <a:pathLst>
              <a:path extrusionOk="0" h="4114800" w="4424516">
                <a:moveTo>
                  <a:pt x="0" y="0"/>
                </a:moveTo>
                <a:lnTo>
                  <a:pt x="4424517" y="0"/>
                </a:lnTo>
                <a:lnTo>
                  <a:pt x="4424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3" name="Google Shape;393;p23"/>
          <p:cNvSpPr txBox="1"/>
          <p:nvPr/>
        </p:nvSpPr>
        <p:spPr>
          <a:xfrm>
            <a:off x="6544406" y="390705"/>
            <a:ext cx="110607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VIRTUALIZACIÓN DEL ALMACENAMIENTO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24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399" name="Google Shape;399;p24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400" name="Google Shape;400;p24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24"/>
          <p:cNvGrpSpPr/>
          <p:nvPr/>
        </p:nvGrpSpPr>
        <p:grpSpPr>
          <a:xfrm>
            <a:off x="6744431" y="2555923"/>
            <a:ext cx="10514869" cy="3862339"/>
            <a:chOff x="0" y="-38100"/>
            <a:chExt cx="2367872" cy="869770"/>
          </a:xfrm>
        </p:grpSpPr>
        <p:sp>
          <p:nvSpPr>
            <p:cNvPr id="402" name="Google Shape;402;p24"/>
            <p:cNvSpPr/>
            <p:nvPr/>
          </p:nvSpPr>
          <p:spPr>
            <a:xfrm>
              <a:off x="0" y="0"/>
              <a:ext cx="2367872" cy="831670"/>
            </a:xfrm>
            <a:custGeom>
              <a:rect b="b" l="l" r="r" t="t"/>
              <a:pathLst>
                <a:path extrusionOk="0" h="831670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794120"/>
                  </a:lnTo>
                  <a:cubicBezTo>
                    <a:pt x="2367872" y="814859"/>
                    <a:pt x="2351060" y="831670"/>
                    <a:pt x="2330321" y="831670"/>
                  </a:cubicBezTo>
                  <a:lnTo>
                    <a:pt x="37550" y="831670"/>
                  </a:lnTo>
                  <a:cubicBezTo>
                    <a:pt x="16812" y="831670"/>
                    <a:pt x="0" y="814859"/>
                    <a:pt x="0" y="794120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4"/>
            <p:cNvSpPr txBox="1"/>
            <p:nvPr/>
          </p:nvSpPr>
          <p:spPr>
            <a:xfrm>
              <a:off x="0" y="-38100"/>
              <a:ext cx="2367872" cy="869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4"/>
          <p:cNvSpPr txBox="1"/>
          <p:nvPr/>
        </p:nvSpPr>
        <p:spPr>
          <a:xfrm>
            <a:off x="7444064" y="3068637"/>
            <a:ext cx="9261306" cy="334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Ventajas: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Mayor flexibilidad, reducción de costos.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Diferencias con el almacenamiento tradicional: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No depende de hardware específico, escalabilidad más fácil.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1028700" y="3086100"/>
            <a:ext cx="4078795" cy="4114800"/>
          </a:xfrm>
          <a:custGeom>
            <a:rect b="b" l="l" r="r" t="t"/>
            <a:pathLst>
              <a:path extrusionOk="0" h="4114800" w="4078795">
                <a:moveTo>
                  <a:pt x="0" y="0"/>
                </a:moveTo>
                <a:lnTo>
                  <a:pt x="4078796" y="0"/>
                </a:lnTo>
                <a:lnTo>
                  <a:pt x="40787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24"/>
          <p:cNvSpPr txBox="1"/>
          <p:nvPr/>
        </p:nvSpPr>
        <p:spPr>
          <a:xfrm>
            <a:off x="6544406" y="725805"/>
            <a:ext cx="11060624" cy="138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ALMACENAMIENTO DEFINIDO POR SOFTWARE (SDS)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5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412" name="Google Shape;412;p25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413" name="Google Shape;413;p25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25"/>
          <p:cNvGrpSpPr/>
          <p:nvPr/>
        </p:nvGrpSpPr>
        <p:grpSpPr>
          <a:xfrm>
            <a:off x="6744431" y="2555923"/>
            <a:ext cx="10514869" cy="3862339"/>
            <a:chOff x="0" y="-38100"/>
            <a:chExt cx="2367872" cy="869770"/>
          </a:xfrm>
        </p:grpSpPr>
        <p:sp>
          <p:nvSpPr>
            <p:cNvPr id="415" name="Google Shape;415;p25"/>
            <p:cNvSpPr/>
            <p:nvPr/>
          </p:nvSpPr>
          <p:spPr>
            <a:xfrm>
              <a:off x="0" y="0"/>
              <a:ext cx="2367872" cy="831670"/>
            </a:xfrm>
            <a:custGeom>
              <a:rect b="b" l="l" r="r" t="t"/>
              <a:pathLst>
                <a:path extrusionOk="0" h="831670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794120"/>
                  </a:lnTo>
                  <a:cubicBezTo>
                    <a:pt x="2367872" y="814859"/>
                    <a:pt x="2351060" y="831670"/>
                    <a:pt x="2330321" y="831670"/>
                  </a:cubicBezTo>
                  <a:lnTo>
                    <a:pt x="37550" y="831670"/>
                  </a:lnTo>
                  <a:cubicBezTo>
                    <a:pt x="16812" y="831670"/>
                    <a:pt x="0" y="814859"/>
                    <a:pt x="0" y="794120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5"/>
            <p:cNvSpPr txBox="1"/>
            <p:nvPr/>
          </p:nvSpPr>
          <p:spPr>
            <a:xfrm>
              <a:off x="0" y="-38100"/>
              <a:ext cx="2367872" cy="869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7" name="Google Shape;4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638" y="3060097"/>
            <a:ext cx="4578908" cy="4166807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5"/>
          <p:cNvSpPr txBox="1"/>
          <p:nvPr/>
        </p:nvSpPr>
        <p:spPr>
          <a:xfrm>
            <a:off x="7444064" y="3068637"/>
            <a:ext cx="9261306" cy="334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Requerimientos: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Alta capacidad, escalabilidad.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Soluciones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Hadoop Distributed File System (HDFS): diseñañdo para grandes volúmenes de datos.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19" name="Google Shape;419;p25"/>
          <p:cNvSpPr txBox="1"/>
          <p:nvPr/>
        </p:nvSpPr>
        <p:spPr>
          <a:xfrm>
            <a:off x="6544406" y="725805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ALMACENAMIENTO PARA BIG DATA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26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425" name="Google Shape;425;p26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426" name="Google Shape;426;p26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p26"/>
          <p:cNvGrpSpPr/>
          <p:nvPr/>
        </p:nvGrpSpPr>
        <p:grpSpPr>
          <a:xfrm>
            <a:off x="6744431" y="2555923"/>
            <a:ext cx="10514869" cy="3862339"/>
            <a:chOff x="0" y="-38100"/>
            <a:chExt cx="2367872" cy="869770"/>
          </a:xfrm>
        </p:grpSpPr>
        <p:sp>
          <p:nvSpPr>
            <p:cNvPr id="428" name="Google Shape;428;p26"/>
            <p:cNvSpPr/>
            <p:nvPr/>
          </p:nvSpPr>
          <p:spPr>
            <a:xfrm>
              <a:off x="0" y="0"/>
              <a:ext cx="2367872" cy="831670"/>
            </a:xfrm>
            <a:custGeom>
              <a:rect b="b" l="l" r="r" t="t"/>
              <a:pathLst>
                <a:path extrusionOk="0" h="831670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794120"/>
                  </a:lnTo>
                  <a:cubicBezTo>
                    <a:pt x="2367872" y="814859"/>
                    <a:pt x="2351060" y="831670"/>
                    <a:pt x="2330321" y="831670"/>
                  </a:cubicBezTo>
                  <a:lnTo>
                    <a:pt x="37550" y="831670"/>
                  </a:lnTo>
                  <a:cubicBezTo>
                    <a:pt x="16812" y="831670"/>
                    <a:pt x="0" y="814859"/>
                    <a:pt x="0" y="794120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6"/>
            <p:cNvSpPr txBox="1"/>
            <p:nvPr/>
          </p:nvSpPr>
          <p:spPr>
            <a:xfrm>
              <a:off x="0" y="-38100"/>
              <a:ext cx="2367872" cy="869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0" name="Google Shape;430;p26"/>
          <p:cNvSpPr/>
          <p:nvPr/>
        </p:nvSpPr>
        <p:spPr>
          <a:xfrm>
            <a:off x="1028700" y="3135312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p26"/>
          <p:cNvSpPr txBox="1"/>
          <p:nvPr/>
        </p:nvSpPr>
        <p:spPr>
          <a:xfrm>
            <a:off x="7444064" y="3068637"/>
            <a:ext cx="9261306" cy="334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Necesidades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rápido para grandes conjuntos de datos, acceso concurrente.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Ejemplos de soluciones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en la nube con GPUs integradas.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32" name="Google Shape;432;p26"/>
          <p:cNvSpPr txBox="1"/>
          <p:nvPr/>
        </p:nvSpPr>
        <p:spPr>
          <a:xfrm>
            <a:off x="6544406" y="725805"/>
            <a:ext cx="11060624" cy="138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ALMACENAMIENTO PARA IA Y </a:t>
            </a:r>
            <a:endParaRPr/>
          </a:p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MACHINE LEARNING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27"/>
          <p:cNvGrpSpPr/>
          <p:nvPr/>
        </p:nvGrpSpPr>
        <p:grpSpPr>
          <a:xfrm>
            <a:off x="5715724" y="-1094923"/>
            <a:ext cx="12717987" cy="11381923"/>
            <a:chOff x="0" y="-38100"/>
            <a:chExt cx="2863998" cy="2563126"/>
          </a:xfrm>
        </p:grpSpPr>
        <p:sp>
          <p:nvSpPr>
            <p:cNvPr id="438" name="Google Shape;438;p27"/>
            <p:cNvSpPr/>
            <p:nvPr/>
          </p:nvSpPr>
          <p:spPr>
            <a:xfrm>
              <a:off x="0" y="0"/>
              <a:ext cx="2863998" cy="2525026"/>
            </a:xfrm>
            <a:custGeom>
              <a:rect b="b" l="l" r="r" t="t"/>
              <a:pathLst>
                <a:path extrusionOk="0" h="2525026" w="2863998">
                  <a:moveTo>
                    <a:pt x="0" y="0"/>
                  </a:moveTo>
                  <a:lnTo>
                    <a:pt x="2863998" y="0"/>
                  </a:lnTo>
                  <a:lnTo>
                    <a:pt x="2863998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</p:sp>
        <p:sp>
          <p:nvSpPr>
            <p:cNvPr id="439" name="Google Shape;439;p27"/>
            <p:cNvSpPr txBox="1"/>
            <p:nvPr/>
          </p:nvSpPr>
          <p:spPr>
            <a:xfrm>
              <a:off x="0" y="-38100"/>
              <a:ext cx="2863998" cy="2563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0" name="Google Shape;440;p27"/>
          <p:cNvGrpSpPr/>
          <p:nvPr/>
        </p:nvGrpSpPr>
        <p:grpSpPr>
          <a:xfrm>
            <a:off x="6744431" y="2555924"/>
            <a:ext cx="10514869" cy="6562676"/>
            <a:chOff x="0" y="-38100"/>
            <a:chExt cx="2367872" cy="1477867"/>
          </a:xfrm>
        </p:grpSpPr>
        <p:sp>
          <p:nvSpPr>
            <p:cNvPr id="441" name="Google Shape;441;p27"/>
            <p:cNvSpPr/>
            <p:nvPr/>
          </p:nvSpPr>
          <p:spPr>
            <a:xfrm>
              <a:off x="0" y="0"/>
              <a:ext cx="2367872" cy="1439767"/>
            </a:xfrm>
            <a:custGeom>
              <a:rect b="b" l="l" r="r" t="t"/>
              <a:pathLst>
                <a:path extrusionOk="0" h="1439767" w="2367872">
                  <a:moveTo>
                    <a:pt x="37550" y="0"/>
                  </a:moveTo>
                  <a:lnTo>
                    <a:pt x="2330321" y="0"/>
                  </a:lnTo>
                  <a:cubicBezTo>
                    <a:pt x="2351060" y="0"/>
                    <a:pt x="2367872" y="16812"/>
                    <a:pt x="2367872" y="37550"/>
                  </a:cubicBezTo>
                  <a:lnTo>
                    <a:pt x="2367872" y="1402216"/>
                  </a:lnTo>
                  <a:cubicBezTo>
                    <a:pt x="2367872" y="1422955"/>
                    <a:pt x="2351060" y="1439767"/>
                    <a:pt x="2330321" y="1439767"/>
                  </a:cubicBezTo>
                  <a:lnTo>
                    <a:pt x="37550" y="1439767"/>
                  </a:lnTo>
                  <a:cubicBezTo>
                    <a:pt x="16812" y="1439767"/>
                    <a:pt x="0" y="1422955"/>
                    <a:pt x="0" y="1402216"/>
                  </a:cubicBezTo>
                  <a:lnTo>
                    <a:pt x="0" y="37550"/>
                  </a:lnTo>
                  <a:cubicBezTo>
                    <a:pt x="0" y="16812"/>
                    <a:pt x="16812" y="0"/>
                    <a:pt x="37550" y="0"/>
                  </a:cubicBezTo>
                  <a:close/>
                </a:path>
              </a:pathLst>
            </a:custGeom>
            <a:solidFill>
              <a:srgbClr val="DAE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7"/>
            <p:cNvSpPr txBox="1"/>
            <p:nvPr/>
          </p:nvSpPr>
          <p:spPr>
            <a:xfrm>
              <a:off x="0" y="-38100"/>
              <a:ext cx="2367872" cy="1477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27"/>
          <p:cNvSpPr/>
          <p:nvPr/>
        </p:nvSpPr>
        <p:spPr>
          <a:xfrm>
            <a:off x="517771" y="2786274"/>
            <a:ext cx="4690880" cy="4714452"/>
          </a:xfrm>
          <a:custGeom>
            <a:rect b="b" l="l" r="r" t="t"/>
            <a:pathLst>
              <a:path extrusionOk="0" h="4714452" w="4690880">
                <a:moveTo>
                  <a:pt x="0" y="0"/>
                </a:moveTo>
                <a:lnTo>
                  <a:pt x="4690880" y="0"/>
                </a:lnTo>
                <a:lnTo>
                  <a:pt x="4690880" y="4714452"/>
                </a:lnTo>
                <a:lnTo>
                  <a:pt x="0" y="4714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27"/>
          <p:cNvSpPr txBox="1"/>
          <p:nvPr/>
        </p:nvSpPr>
        <p:spPr>
          <a:xfrm>
            <a:off x="7444064" y="3068637"/>
            <a:ext cx="9261306" cy="563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Hiperconvergente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Integración de almacenamiento, computación y redes en una sola solución.</a:t>
            </a:r>
            <a:endParaRPr/>
          </a:p>
          <a:p>
            <a:pPr indent="0" lvl="0" marL="0" marR="0" rtl="0" algn="just">
              <a:lnSpc>
                <a:spcPct val="1680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Edge computing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descentralizado para procesar datos cerca de la fuente.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Tendencias Emergentes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cuántico</a:t>
            </a:r>
            <a:endParaRPr/>
          </a:p>
          <a:p>
            <a:pPr indent="-269875" lvl="1" marL="539749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31356E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Almacenamiento en ADN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445" name="Google Shape;445;p27"/>
          <p:cNvSpPr txBox="1"/>
          <p:nvPr/>
        </p:nvSpPr>
        <p:spPr>
          <a:xfrm>
            <a:off x="6544406" y="725805"/>
            <a:ext cx="1106062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TENDENCIAS EN ALMACENAMIENTO EN RED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2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-2285506" y="-4771437"/>
            <a:ext cx="22859012" cy="17585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1" name="Google Shape;451;p28"/>
          <p:cNvGrpSpPr/>
          <p:nvPr/>
        </p:nvGrpSpPr>
        <p:grpSpPr>
          <a:xfrm>
            <a:off x="1028700" y="3403329"/>
            <a:ext cx="16230600" cy="3778541"/>
            <a:chOff x="0" y="-38100"/>
            <a:chExt cx="3655013" cy="850900"/>
          </a:xfrm>
        </p:grpSpPr>
        <p:sp>
          <p:nvSpPr>
            <p:cNvPr id="452" name="Google Shape;452;p28"/>
            <p:cNvSpPr/>
            <p:nvPr/>
          </p:nvSpPr>
          <p:spPr>
            <a:xfrm>
              <a:off x="0" y="0"/>
              <a:ext cx="3655013" cy="812800"/>
            </a:xfrm>
            <a:custGeom>
              <a:rect b="b" l="l" r="r" t="t"/>
              <a:pathLst>
                <a:path extrusionOk="0" h="812800" w="3655013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8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4" name="Google Shape;454;p28"/>
          <p:cNvSpPr txBox="1"/>
          <p:nvPr/>
        </p:nvSpPr>
        <p:spPr>
          <a:xfrm>
            <a:off x="1652538" y="3986182"/>
            <a:ext cx="14982900" cy="44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TIPOS DE ALMACENAMIENTO EN RED: VENTAJAS Y DESVENTAJAS, CASOS DE USO Y TENDENCIAS FUTURAS</a:t>
            </a:r>
            <a:endParaRPr/>
          </a:p>
          <a:p>
            <a:pPr indent="0" lvl="0" marL="0" marR="0" rtl="0" algn="ctr">
              <a:lnSpc>
                <a:spcPct val="152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499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5" name="Google Shape;455;p28"/>
          <p:cNvSpPr txBox="1"/>
          <p:nvPr/>
        </p:nvSpPr>
        <p:spPr>
          <a:xfrm>
            <a:off x="4533669" y="7649422"/>
            <a:ext cx="9220662" cy="738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06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CONCEPTOS CLAVE APRENDIDOS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2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-2285506" y="-4771437"/>
            <a:ext cx="22859012" cy="17585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1" name="Google Shape;461;p29"/>
          <p:cNvGrpSpPr/>
          <p:nvPr/>
        </p:nvGrpSpPr>
        <p:grpSpPr>
          <a:xfrm>
            <a:off x="1028700" y="3403329"/>
            <a:ext cx="16230600" cy="3778541"/>
            <a:chOff x="0" y="-38100"/>
            <a:chExt cx="3655013" cy="850900"/>
          </a:xfrm>
        </p:grpSpPr>
        <p:sp>
          <p:nvSpPr>
            <p:cNvPr id="462" name="Google Shape;462;p29"/>
            <p:cNvSpPr/>
            <p:nvPr/>
          </p:nvSpPr>
          <p:spPr>
            <a:xfrm>
              <a:off x="0" y="0"/>
              <a:ext cx="3655013" cy="812800"/>
            </a:xfrm>
            <a:custGeom>
              <a:rect b="b" l="l" r="r" t="t"/>
              <a:pathLst>
                <a:path extrusionOk="0" h="812800" w="3655013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9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4" name="Google Shape;464;p29"/>
          <p:cNvSpPr txBox="1"/>
          <p:nvPr/>
        </p:nvSpPr>
        <p:spPr>
          <a:xfrm>
            <a:off x="1652563" y="4024009"/>
            <a:ext cx="14982900" cy="24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FOMENTAMOS LA COLABORACIÓN ENTRE ESTUDIANTES COMO UNA HERRAMIENTA CLAVE PARA EL APRENDIZAJE EFECTIVO. A TRAVÉS DE LOS PROYECTOS, INCENTIVAMOS EL TRABAJO EN EQUIPO, LA DIVISIÓN RESPONSABLE DE TAREAS Y EL APOYO MUTUO PARA RESOLVER DESAFÍOS TÉCNICOS Y DE IMPLEMENTACIÓN.</a:t>
            </a:r>
            <a:endParaRPr sz="3000"/>
          </a:p>
        </p:txBody>
      </p:sp>
      <p:sp>
        <p:nvSpPr>
          <p:cNvPr id="465" name="Google Shape;465;p29"/>
          <p:cNvSpPr txBox="1"/>
          <p:nvPr/>
        </p:nvSpPr>
        <p:spPr>
          <a:xfrm>
            <a:off x="4226488" y="7625609"/>
            <a:ext cx="9835024" cy="56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VALOR DE LA SEMANA: COLABORACIÓN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9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3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-2285506" y="-4771437"/>
            <a:ext cx="22859012" cy="17585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1" name="Google Shape;471;p30"/>
          <p:cNvGrpSpPr/>
          <p:nvPr/>
        </p:nvGrpSpPr>
        <p:grpSpPr>
          <a:xfrm>
            <a:off x="1028700" y="3403329"/>
            <a:ext cx="16230600" cy="3778541"/>
            <a:chOff x="0" y="-38100"/>
            <a:chExt cx="3655013" cy="850900"/>
          </a:xfrm>
        </p:grpSpPr>
        <p:sp>
          <p:nvSpPr>
            <p:cNvPr id="472" name="Google Shape;472;p30"/>
            <p:cNvSpPr/>
            <p:nvPr/>
          </p:nvSpPr>
          <p:spPr>
            <a:xfrm>
              <a:off x="0" y="0"/>
              <a:ext cx="3655013" cy="812800"/>
            </a:xfrm>
            <a:custGeom>
              <a:rect b="b" l="l" r="r" t="t"/>
              <a:pathLst>
                <a:path extrusionOk="0" h="812800" w="3655013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0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4" name="Google Shape;474;p30"/>
          <p:cNvSpPr txBox="1"/>
          <p:nvPr/>
        </p:nvSpPr>
        <p:spPr>
          <a:xfrm>
            <a:off x="1652563" y="3981450"/>
            <a:ext cx="149829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¡GRACIAS POR SU ATENCIÓN!</a:t>
            </a:r>
            <a:endParaRPr sz="9000"/>
          </a:p>
        </p:txBody>
      </p:sp>
      <p:sp>
        <p:nvSpPr>
          <p:cNvPr id="475" name="Google Shape;475;p30"/>
          <p:cNvSpPr txBox="1"/>
          <p:nvPr/>
        </p:nvSpPr>
        <p:spPr>
          <a:xfrm>
            <a:off x="4533669" y="7539884"/>
            <a:ext cx="9220662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DUDAS EN EL FORO SEMANAL DE UEDI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