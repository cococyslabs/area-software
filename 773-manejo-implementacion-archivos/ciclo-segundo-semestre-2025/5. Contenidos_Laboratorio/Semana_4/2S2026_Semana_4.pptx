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288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90" r:id="rId15"/>
    <p:sldId id="291" r:id="rId16"/>
    <p:sldId id="289" r:id="rId17"/>
    <p:sldId id="294" r:id="rId18"/>
    <p:sldId id="292" r:id="rId19"/>
    <p:sldId id="295" r:id="rId20"/>
    <p:sldId id="293" r:id="rId21"/>
    <p:sldId id="296" r:id="rId22"/>
    <p:sldId id="297" r:id="rId23"/>
    <p:sldId id="269" r:id="rId24"/>
    <p:sldId id="270" r:id="rId25"/>
    <p:sldId id="278" r:id="rId26"/>
    <p:sldId id="279" r:id="rId27"/>
    <p:sldId id="281" r:id="rId28"/>
    <p:sldId id="271" r:id="rId29"/>
  </p:sldIdLst>
  <p:sldSz cx="18288000" cy="10287000"/>
  <p:notesSz cx="6858000" cy="9144000"/>
  <p:embeddedFontLst>
    <p:embeddedFont>
      <p:font typeface="Arial MT Pro Bold" panose="020B0604020202020204" charset="0"/>
      <p:regular r:id="rId31"/>
    </p:embeddedFont>
    <p:embeddedFont>
      <p:font typeface="Arimo" panose="020B0604020202020204" charset="0"/>
      <p:regular r:id="rId32"/>
    </p:embeddedFont>
    <p:embeddedFont>
      <p:font typeface="Canva Sans Bold" panose="020B0604020202020204" charset="0"/>
      <p:regular r:id="rId33"/>
    </p:embeddedFont>
    <p:embeddedFont>
      <p:font typeface="Futura Display" panose="020B0604020202020204" charset="0"/>
      <p:regular r:id="rId34"/>
    </p:embeddedFont>
    <p:embeddedFont>
      <p:font typeface="Impact" panose="020B0806030902050204" pitchFamily="34" charset="0"/>
      <p:regular r:id="rId35"/>
    </p:embeddedFont>
    <p:embeddedFont>
      <p:font typeface="Lexend Deca" panose="020B0604020202020204" charset="0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0" d="100"/>
          <a:sy n="50" d="100"/>
        </p:scale>
        <p:origin x="946" y="13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588516-8285-44BC-8E27-8BAD148771B9}" type="datetimeFigureOut">
              <a:rPr lang="en-US" smtClean="0"/>
              <a:t>10-May-26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22AFD-44A1-46CE-82F6-C9D0D23DEE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3119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2" name="Google Shape;43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9" name="Google Shape;4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6" name="Google Shape;45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10-May-26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13" Type="http://schemas.openxmlformats.org/officeDocument/2006/relationships/image" Target="../media/image13.svg"/><Relationship Id="rId3" Type="http://schemas.openxmlformats.org/officeDocument/2006/relationships/image" Target="../media/image3.svg"/><Relationship Id="rId7" Type="http://schemas.openxmlformats.org/officeDocument/2006/relationships/image" Target="../media/image7.svg"/><Relationship Id="rId12" Type="http://schemas.openxmlformats.org/officeDocument/2006/relationships/image" Target="../media/image12.svg"/><Relationship Id="rId17" Type="http://schemas.openxmlformats.org/officeDocument/2006/relationships/image" Target="../media/image17.svg"/><Relationship Id="rId2" Type="http://schemas.openxmlformats.org/officeDocument/2006/relationships/image" Target="../media/image2.jpeg"/><Relationship Id="rId16" Type="http://schemas.openxmlformats.org/officeDocument/2006/relationships/image" Target="../media/image16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11" Type="http://schemas.openxmlformats.org/officeDocument/2006/relationships/image" Target="../media/image11.svg"/><Relationship Id="rId5" Type="http://schemas.openxmlformats.org/officeDocument/2006/relationships/image" Target="../media/image5.svg"/><Relationship Id="rId15" Type="http://schemas.openxmlformats.org/officeDocument/2006/relationships/image" Target="../media/image15.svg"/><Relationship Id="rId10" Type="http://schemas.openxmlformats.org/officeDocument/2006/relationships/image" Target="../media/image10.svg"/><Relationship Id="rId4" Type="http://schemas.openxmlformats.org/officeDocument/2006/relationships/image" Target="../media/image4.svg"/><Relationship Id="rId9" Type="http://schemas.openxmlformats.org/officeDocument/2006/relationships/image" Target="../media/image9.svg"/><Relationship Id="rId14" Type="http://schemas.openxmlformats.org/officeDocument/2006/relationships/image" Target="../media/image14.sv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0" y="-19049"/>
            <a:ext cx="18287987" cy="10306049"/>
          </a:xfrm>
          <a:custGeom>
            <a:avLst/>
            <a:gdLst/>
            <a:ahLst/>
            <a:cxnLst/>
            <a:rect l="l" t="t" r="r" b="b"/>
            <a:pathLst>
              <a:path w="24338914" h="13716000">
                <a:moveTo>
                  <a:pt x="0" y="0"/>
                </a:moveTo>
                <a:lnTo>
                  <a:pt x="24338914" y="0"/>
                </a:lnTo>
                <a:lnTo>
                  <a:pt x="24338914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2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645308" y="5330532"/>
            <a:ext cx="12752007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3200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LABORATORIO MANEJO E IMPLEMENTACION DE ARCHIVOS </a:t>
            </a:r>
          </a:p>
          <a:p>
            <a:pPr algn="l">
              <a:lnSpc>
                <a:spcPts val="3359"/>
              </a:lnSpc>
            </a:pPr>
            <a:r>
              <a:rPr lang="en-US" sz="3200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1ER SEMESTRE 2026 </a:t>
            </a:r>
            <a:r>
              <a:rPr lang="en-US" sz="3200" b="1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- X</a:t>
            </a:r>
            <a:endParaRPr lang="en-US" sz="3200" b="1" dirty="0">
              <a:solidFill>
                <a:srgbClr val="000000"/>
              </a:solidFill>
              <a:latin typeface="Arial MT Pro Bold"/>
              <a:ea typeface="Arial MT Pro Bold"/>
              <a:cs typeface="Arial MT Pro Bold"/>
              <a:sym typeface="Arial MT Pro Bold"/>
            </a:endParaRPr>
          </a:p>
        </p:txBody>
      </p:sp>
      <p:graphicFrame>
        <p:nvGraphicFramePr>
          <p:cNvPr id="8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8473910"/>
              </p:ext>
            </p:extLst>
          </p:nvPr>
        </p:nvGraphicFramePr>
        <p:xfrm>
          <a:off x="10338620" y="1856706"/>
          <a:ext cx="6607278" cy="1579668"/>
        </p:xfrm>
        <a:graphic>
          <a:graphicData uri="http://schemas.openxmlformats.org/drawingml/2006/table">
            <a:tbl>
              <a:tblPr/>
              <a:tblGrid>
                <a:gridCol w="27180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922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9834">
                <a:tc>
                  <a:txBody>
                    <a:bodyPr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sz="2840" b="1" dirty="0">
                          <a:solidFill>
                            <a:srgbClr val="000000"/>
                          </a:solidFill>
                          <a:latin typeface="Arial MT Pro Bold"/>
                          <a:sym typeface="Arial MT Pro Bold"/>
                        </a:rPr>
                        <a:t>Dia, </a:t>
                      </a:r>
                      <a:r>
                        <a:rPr lang="en-US" sz="2840" b="1" dirty="0" err="1">
                          <a:solidFill>
                            <a:srgbClr val="000000"/>
                          </a:solidFill>
                          <a:latin typeface="Arial MT Pro Bold"/>
                          <a:sym typeface="Arial MT Pro Bold"/>
                        </a:rPr>
                        <a:t>Fecha</a:t>
                      </a:r>
                      <a:r>
                        <a:rPr lang="en-US" sz="2840" b="1" dirty="0">
                          <a:solidFill>
                            <a:srgbClr val="000000"/>
                          </a:solidFill>
                          <a:latin typeface="Arial MT Pro Bold"/>
                          <a:sym typeface="Arial MT Pro Bold"/>
                        </a:rPr>
                        <a:t>: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640"/>
                        </a:lnSpc>
                        <a:defRPr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LUNES </a:t>
                      </a:r>
                      <a:r>
                        <a:rPr lang="en-US" sz="260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, 16/02/2026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834">
                <a:tc>
                  <a:txBody>
                    <a:bodyPr/>
                    <a:lstStyle/>
                    <a:p>
                      <a:pPr algn="l">
                        <a:lnSpc>
                          <a:spcPts val="3408"/>
                        </a:lnSpc>
                        <a:defRPr/>
                      </a:pPr>
                      <a:r>
                        <a:rPr lang="en-US" sz="2840" b="1" dirty="0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Hora de </a:t>
                      </a:r>
                      <a:r>
                        <a:rPr lang="en-US" sz="2840" b="1" dirty="0" err="1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inicio</a:t>
                      </a:r>
                      <a:r>
                        <a:rPr lang="en-US" sz="2840" b="1" dirty="0">
                          <a:solidFill>
                            <a:srgbClr val="000000"/>
                          </a:solidFill>
                          <a:latin typeface="Arial MT Pro Bold"/>
                          <a:ea typeface="Arial MT Pro Bold"/>
                          <a:cs typeface="Arial MT Pro Bold"/>
                          <a:sym typeface="Arial MT Pro Bold"/>
                        </a:rPr>
                        <a:t>: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364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2600" dirty="0">
                          <a:solidFill>
                            <a:srgbClr val="000000"/>
                          </a:solidFill>
                          <a:latin typeface="Arimo"/>
                          <a:ea typeface="Arimo"/>
                          <a:cs typeface="Arimo"/>
                          <a:sym typeface="Arimo"/>
                        </a:rPr>
                        <a:t>17:20</a:t>
                      </a:r>
                      <a:endParaRPr lang="en-US" sz="1100" dirty="0"/>
                    </a:p>
                  </a:txBody>
                  <a:tcPr marL="91425" marR="91425" marT="91425" marB="91425" anchor="ctr">
                    <a:lnL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762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" name="TextBox 5">
            <a:extLst>
              <a:ext uri="{FF2B5EF4-FFF2-40B4-BE49-F238E27FC236}">
                <a16:creationId xmlns:a16="http://schemas.microsoft.com/office/drawing/2014/main" id="{5778FB04-7CE0-F773-EAD9-DD83B8D7FCB2}"/>
              </a:ext>
            </a:extLst>
          </p:cNvPr>
          <p:cNvSpPr txBox="1"/>
          <p:nvPr/>
        </p:nvSpPr>
        <p:spPr>
          <a:xfrm>
            <a:off x="2645308" y="6835407"/>
            <a:ext cx="12752007" cy="4360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3200" b="1" dirty="0">
                <a:solidFill>
                  <a:srgbClr val="000000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TUTOR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>
            <a:off x="1028700" y="3057253"/>
            <a:ext cx="5197293" cy="1585174"/>
          </a:xfrm>
          <a:custGeom>
            <a:avLst/>
            <a:gdLst/>
            <a:ahLst/>
            <a:cxnLst/>
            <a:rect l="l" t="t" r="r" b="b"/>
            <a:pathLst>
              <a:path w="5197293" h="1585174">
                <a:moveTo>
                  <a:pt x="0" y="0"/>
                </a:moveTo>
                <a:lnTo>
                  <a:pt x="5197293" y="0"/>
                </a:lnTo>
                <a:lnTo>
                  <a:pt x="5197293" y="1585174"/>
                </a:lnTo>
                <a:lnTo>
                  <a:pt x="0" y="1585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1028700" y="6136174"/>
            <a:ext cx="5197293" cy="1585174"/>
          </a:xfrm>
          <a:custGeom>
            <a:avLst/>
            <a:gdLst/>
            <a:ahLst/>
            <a:cxnLst/>
            <a:rect l="l" t="t" r="r" b="b"/>
            <a:pathLst>
              <a:path w="5197293" h="1585174">
                <a:moveTo>
                  <a:pt x="0" y="0"/>
                </a:moveTo>
                <a:lnTo>
                  <a:pt x="5197293" y="0"/>
                </a:lnTo>
                <a:lnTo>
                  <a:pt x="5197293" y="1585174"/>
                </a:lnTo>
                <a:lnTo>
                  <a:pt x="0" y="1585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>
            <a:off x="6545354" y="3057253"/>
            <a:ext cx="5197293" cy="1585174"/>
          </a:xfrm>
          <a:custGeom>
            <a:avLst/>
            <a:gdLst/>
            <a:ahLst/>
            <a:cxnLst/>
            <a:rect l="l" t="t" r="r" b="b"/>
            <a:pathLst>
              <a:path w="5197293" h="1585174">
                <a:moveTo>
                  <a:pt x="0" y="0"/>
                </a:moveTo>
                <a:lnTo>
                  <a:pt x="5197292" y="0"/>
                </a:lnTo>
                <a:lnTo>
                  <a:pt x="5197292" y="1585174"/>
                </a:lnTo>
                <a:lnTo>
                  <a:pt x="0" y="1585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545354" y="6136174"/>
            <a:ext cx="5197293" cy="1585174"/>
          </a:xfrm>
          <a:custGeom>
            <a:avLst/>
            <a:gdLst/>
            <a:ahLst/>
            <a:cxnLst/>
            <a:rect l="l" t="t" r="r" b="b"/>
            <a:pathLst>
              <a:path w="5197293" h="1585174">
                <a:moveTo>
                  <a:pt x="0" y="0"/>
                </a:moveTo>
                <a:lnTo>
                  <a:pt x="5197292" y="0"/>
                </a:lnTo>
                <a:lnTo>
                  <a:pt x="5197292" y="1585174"/>
                </a:lnTo>
                <a:lnTo>
                  <a:pt x="0" y="1585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2062007" y="3057253"/>
            <a:ext cx="5197293" cy="1585174"/>
          </a:xfrm>
          <a:custGeom>
            <a:avLst/>
            <a:gdLst/>
            <a:ahLst/>
            <a:cxnLst/>
            <a:rect l="l" t="t" r="r" b="b"/>
            <a:pathLst>
              <a:path w="5197293" h="1585174">
                <a:moveTo>
                  <a:pt x="0" y="0"/>
                </a:moveTo>
                <a:lnTo>
                  <a:pt x="5197293" y="0"/>
                </a:lnTo>
                <a:lnTo>
                  <a:pt x="5197293" y="1585174"/>
                </a:lnTo>
                <a:lnTo>
                  <a:pt x="0" y="1585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2062007" y="6136174"/>
            <a:ext cx="5197293" cy="1585174"/>
          </a:xfrm>
          <a:custGeom>
            <a:avLst/>
            <a:gdLst/>
            <a:ahLst/>
            <a:cxnLst/>
            <a:rect l="l" t="t" r="r" b="b"/>
            <a:pathLst>
              <a:path w="5197293" h="1585174">
                <a:moveTo>
                  <a:pt x="0" y="0"/>
                </a:moveTo>
                <a:lnTo>
                  <a:pt x="5197293" y="0"/>
                </a:lnTo>
                <a:lnTo>
                  <a:pt x="5197293" y="1585174"/>
                </a:lnTo>
                <a:lnTo>
                  <a:pt x="0" y="158517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762177" y="5076698"/>
            <a:ext cx="4115707" cy="169773"/>
          </a:xfrm>
          <a:custGeom>
            <a:avLst/>
            <a:gdLst/>
            <a:ahLst/>
            <a:cxnLst/>
            <a:rect l="l" t="t" r="r" b="b"/>
            <a:pathLst>
              <a:path w="4115707" h="169773">
                <a:moveTo>
                  <a:pt x="0" y="0"/>
                </a:moveTo>
                <a:lnTo>
                  <a:pt x="4115707" y="0"/>
                </a:lnTo>
                <a:lnTo>
                  <a:pt x="4115707" y="169773"/>
                </a:lnTo>
                <a:lnTo>
                  <a:pt x="0" y="169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762177" y="8155619"/>
            <a:ext cx="4115707" cy="169773"/>
          </a:xfrm>
          <a:custGeom>
            <a:avLst/>
            <a:gdLst/>
            <a:ahLst/>
            <a:cxnLst/>
            <a:rect l="l" t="t" r="r" b="b"/>
            <a:pathLst>
              <a:path w="4115707" h="169773">
                <a:moveTo>
                  <a:pt x="0" y="0"/>
                </a:moveTo>
                <a:lnTo>
                  <a:pt x="4115707" y="0"/>
                </a:lnTo>
                <a:lnTo>
                  <a:pt x="4115707" y="169773"/>
                </a:lnTo>
                <a:lnTo>
                  <a:pt x="0" y="169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7280963" y="5076698"/>
            <a:ext cx="4115707" cy="169773"/>
          </a:xfrm>
          <a:custGeom>
            <a:avLst/>
            <a:gdLst/>
            <a:ahLst/>
            <a:cxnLst/>
            <a:rect l="l" t="t" r="r" b="b"/>
            <a:pathLst>
              <a:path w="4115707" h="169773">
                <a:moveTo>
                  <a:pt x="0" y="0"/>
                </a:moveTo>
                <a:lnTo>
                  <a:pt x="4115707" y="0"/>
                </a:lnTo>
                <a:lnTo>
                  <a:pt x="4115707" y="169773"/>
                </a:lnTo>
                <a:lnTo>
                  <a:pt x="0" y="169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7280963" y="8155619"/>
            <a:ext cx="4115707" cy="169773"/>
          </a:xfrm>
          <a:custGeom>
            <a:avLst/>
            <a:gdLst/>
            <a:ahLst/>
            <a:cxnLst/>
            <a:rect l="l" t="t" r="r" b="b"/>
            <a:pathLst>
              <a:path w="4115707" h="169773">
                <a:moveTo>
                  <a:pt x="0" y="0"/>
                </a:moveTo>
                <a:lnTo>
                  <a:pt x="4115707" y="0"/>
                </a:lnTo>
                <a:lnTo>
                  <a:pt x="4115707" y="169773"/>
                </a:lnTo>
                <a:lnTo>
                  <a:pt x="0" y="169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587698" y="4416637"/>
            <a:ext cx="948012" cy="948012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11468C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87698" y="7495558"/>
            <a:ext cx="948012" cy="948012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31BF8A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104351" y="4416637"/>
            <a:ext cx="948012" cy="948012"/>
            <a:chOff x="0" y="0"/>
            <a:chExt cx="812800" cy="81280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1D8BC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104351" y="7495558"/>
            <a:ext cx="948012" cy="948012"/>
            <a:chOff x="0" y="0"/>
            <a:chExt cx="812800" cy="8128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77BF6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1621005" y="4416637"/>
            <a:ext cx="948012" cy="948012"/>
            <a:chOff x="0" y="0"/>
            <a:chExt cx="812800" cy="81280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BC5CD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11621005" y="7495558"/>
            <a:ext cx="948012" cy="948012"/>
            <a:chOff x="0" y="0"/>
            <a:chExt cx="812800" cy="81280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519D39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31" name="Freeform 31"/>
          <p:cNvSpPr/>
          <p:nvPr/>
        </p:nvSpPr>
        <p:spPr>
          <a:xfrm>
            <a:off x="12799749" y="5076698"/>
            <a:ext cx="4115707" cy="169773"/>
          </a:xfrm>
          <a:custGeom>
            <a:avLst/>
            <a:gdLst/>
            <a:ahLst/>
            <a:cxnLst/>
            <a:rect l="l" t="t" r="r" b="b"/>
            <a:pathLst>
              <a:path w="4115707" h="169773">
                <a:moveTo>
                  <a:pt x="0" y="0"/>
                </a:moveTo>
                <a:lnTo>
                  <a:pt x="4115707" y="0"/>
                </a:lnTo>
                <a:lnTo>
                  <a:pt x="4115707" y="169773"/>
                </a:lnTo>
                <a:lnTo>
                  <a:pt x="0" y="169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2" name="Freeform 32"/>
          <p:cNvSpPr/>
          <p:nvPr/>
        </p:nvSpPr>
        <p:spPr>
          <a:xfrm>
            <a:off x="12799749" y="8155619"/>
            <a:ext cx="4115707" cy="169773"/>
          </a:xfrm>
          <a:custGeom>
            <a:avLst/>
            <a:gdLst/>
            <a:ahLst/>
            <a:cxnLst/>
            <a:rect l="l" t="t" r="r" b="b"/>
            <a:pathLst>
              <a:path w="4115707" h="169773">
                <a:moveTo>
                  <a:pt x="0" y="0"/>
                </a:moveTo>
                <a:lnTo>
                  <a:pt x="4115707" y="0"/>
                </a:lnTo>
                <a:lnTo>
                  <a:pt x="4115707" y="169773"/>
                </a:lnTo>
                <a:lnTo>
                  <a:pt x="0" y="16977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3" name="Freeform 33"/>
          <p:cNvSpPr/>
          <p:nvPr/>
        </p:nvSpPr>
        <p:spPr>
          <a:xfrm>
            <a:off x="5122074" y="3430220"/>
            <a:ext cx="908930" cy="669200"/>
          </a:xfrm>
          <a:custGeom>
            <a:avLst/>
            <a:gdLst/>
            <a:ahLst/>
            <a:cxnLst/>
            <a:rect l="l" t="t" r="r" b="b"/>
            <a:pathLst>
              <a:path w="908930" h="669200">
                <a:moveTo>
                  <a:pt x="0" y="0"/>
                </a:moveTo>
                <a:lnTo>
                  <a:pt x="908930" y="0"/>
                </a:lnTo>
                <a:lnTo>
                  <a:pt x="908930" y="669200"/>
                </a:lnTo>
                <a:lnTo>
                  <a:pt x="0" y="6692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4" name="Freeform 34"/>
          <p:cNvSpPr/>
          <p:nvPr/>
        </p:nvSpPr>
        <p:spPr>
          <a:xfrm>
            <a:off x="-2201496" y="-2276473"/>
            <a:ext cx="3708464" cy="4114800"/>
          </a:xfrm>
          <a:custGeom>
            <a:avLst/>
            <a:gdLst/>
            <a:ahLst/>
            <a:cxnLst/>
            <a:rect l="l" t="t" r="r" b="b"/>
            <a:pathLst>
              <a:path w="3708464" h="4114800">
                <a:moveTo>
                  <a:pt x="0" y="0"/>
                </a:moveTo>
                <a:lnTo>
                  <a:pt x="3708463" y="0"/>
                </a:lnTo>
                <a:lnTo>
                  <a:pt x="370846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5" name="Freeform 35"/>
          <p:cNvSpPr/>
          <p:nvPr/>
        </p:nvSpPr>
        <p:spPr>
          <a:xfrm>
            <a:off x="16750094" y="9036185"/>
            <a:ext cx="3075813" cy="4114800"/>
          </a:xfrm>
          <a:custGeom>
            <a:avLst/>
            <a:gdLst/>
            <a:ahLst/>
            <a:cxnLst/>
            <a:rect l="l" t="t" r="r" b="b"/>
            <a:pathLst>
              <a:path w="3075813" h="4114800">
                <a:moveTo>
                  <a:pt x="0" y="0"/>
                </a:moveTo>
                <a:lnTo>
                  <a:pt x="3075812" y="0"/>
                </a:lnTo>
                <a:lnTo>
                  <a:pt x="307581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6" name="Freeform 36"/>
          <p:cNvSpPr/>
          <p:nvPr/>
        </p:nvSpPr>
        <p:spPr>
          <a:xfrm>
            <a:off x="16085087" y="6451115"/>
            <a:ext cx="1028578" cy="955292"/>
          </a:xfrm>
          <a:custGeom>
            <a:avLst/>
            <a:gdLst/>
            <a:ahLst/>
            <a:cxnLst/>
            <a:rect l="l" t="t" r="r" b="b"/>
            <a:pathLst>
              <a:path w="1028578" h="955292">
                <a:moveTo>
                  <a:pt x="0" y="0"/>
                </a:moveTo>
                <a:lnTo>
                  <a:pt x="1028578" y="0"/>
                </a:lnTo>
                <a:lnTo>
                  <a:pt x="1028578" y="955292"/>
                </a:lnTo>
                <a:lnTo>
                  <a:pt x="0" y="95529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5145560" y="6407302"/>
            <a:ext cx="861958" cy="830479"/>
          </a:xfrm>
          <a:custGeom>
            <a:avLst/>
            <a:gdLst/>
            <a:ahLst/>
            <a:cxnLst/>
            <a:rect l="l" t="t" r="r" b="b"/>
            <a:pathLst>
              <a:path w="861958" h="830479">
                <a:moveTo>
                  <a:pt x="0" y="0"/>
                </a:moveTo>
                <a:lnTo>
                  <a:pt x="861958" y="0"/>
                </a:lnTo>
                <a:lnTo>
                  <a:pt x="861958" y="830478"/>
                </a:lnTo>
                <a:lnTo>
                  <a:pt x="0" y="83047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Freeform 38"/>
          <p:cNvSpPr/>
          <p:nvPr/>
        </p:nvSpPr>
        <p:spPr>
          <a:xfrm>
            <a:off x="15922854" y="3430220"/>
            <a:ext cx="1146887" cy="758379"/>
          </a:xfrm>
          <a:custGeom>
            <a:avLst/>
            <a:gdLst/>
            <a:ahLst/>
            <a:cxnLst/>
            <a:rect l="l" t="t" r="r" b="b"/>
            <a:pathLst>
              <a:path w="1146887" h="758379">
                <a:moveTo>
                  <a:pt x="0" y="0"/>
                </a:moveTo>
                <a:lnTo>
                  <a:pt x="1146887" y="0"/>
                </a:lnTo>
                <a:lnTo>
                  <a:pt x="1146887" y="758379"/>
                </a:lnTo>
                <a:lnTo>
                  <a:pt x="0" y="75837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9" name="Freeform 39"/>
          <p:cNvSpPr/>
          <p:nvPr/>
        </p:nvSpPr>
        <p:spPr>
          <a:xfrm>
            <a:off x="10408319" y="3430220"/>
            <a:ext cx="1143768" cy="839240"/>
          </a:xfrm>
          <a:custGeom>
            <a:avLst/>
            <a:gdLst/>
            <a:ahLst/>
            <a:cxnLst/>
            <a:rect l="l" t="t" r="r" b="b"/>
            <a:pathLst>
              <a:path w="1143768" h="839240">
                <a:moveTo>
                  <a:pt x="0" y="0"/>
                </a:moveTo>
                <a:lnTo>
                  <a:pt x="1143768" y="0"/>
                </a:lnTo>
                <a:lnTo>
                  <a:pt x="1143768" y="839240"/>
                </a:lnTo>
                <a:lnTo>
                  <a:pt x="0" y="83924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0" name="Freeform 40"/>
          <p:cNvSpPr/>
          <p:nvPr/>
        </p:nvSpPr>
        <p:spPr>
          <a:xfrm>
            <a:off x="10801775" y="6304246"/>
            <a:ext cx="489055" cy="793598"/>
          </a:xfrm>
          <a:custGeom>
            <a:avLst/>
            <a:gdLst/>
            <a:ahLst/>
            <a:cxnLst/>
            <a:rect l="l" t="t" r="r" b="b"/>
            <a:pathLst>
              <a:path w="489055" h="793598">
                <a:moveTo>
                  <a:pt x="0" y="0"/>
                </a:moveTo>
                <a:lnTo>
                  <a:pt x="489055" y="0"/>
                </a:lnTo>
                <a:lnTo>
                  <a:pt x="489055" y="793598"/>
                </a:lnTo>
                <a:lnTo>
                  <a:pt x="0" y="79359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1" name="TextBox 41"/>
          <p:cNvSpPr txBox="1"/>
          <p:nvPr/>
        </p:nvSpPr>
        <p:spPr>
          <a:xfrm>
            <a:off x="7024687" y="3497415"/>
            <a:ext cx="2675205" cy="714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Presentación de Clase #04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12256996" y="3492712"/>
            <a:ext cx="3790655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Ejemplo Práctico #04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6785564" y="828675"/>
            <a:ext cx="3869860" cy="10096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399"/>
              </a:lnSpc>
            </a:pPr>
            <a:r>
              <a:rPr lang="en-US" sz="5999" b="1" dirty="0">
                <a:solidFill>
                  <a:srgbClr val="1F0A4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AGENDA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506967" y="3497415"/>
            <a:ext cx="353455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Bienvenida Clase #04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357626" y="6576336"/>
            <a:ext cx="353455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Anuncios Generales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2569017" y="6666512"/>
            <a:ext cx="294457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Cuestionario #04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59520" y="4637913"/>
            <a:ext cx="404366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11468C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01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843782" y="7716834"/>
            <a:ext cx="435843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31BF8A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6371151" y="4637913"/>
            <a:ext cx="414412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1D8BC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02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363821" y="7716834"/>
            <a:ext cx="429071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77BF6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05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1882261" y="4637913"/>
            <a:ext cx="42550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2BC5CD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03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872736" y="7716834"/>
            <a:ext cx="444550" cy="448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sz="2599" b="1">
                <a:solidFill>
                  <a:srgbClr val="519D39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06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792893" y="6576336"/>
            <a:ext cx="3534550" cy="352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¿Dudas?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2285506" y="-4771437"/>
            <a:ext cx="22859012" cy="17585432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028700" y="3572517"/>
            <a:ext cx="16230600" cy="3609353"/>
            <a:chOff x="0" y="0"/>
            <a:chExt cx="365501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5013" cy="812800"/>
            </a:xfrm>
            <a:custGeom>
              <a:avLst/>
              <a:gdLst/>
              <a:ahLst/>
              <a:cxnLst/>
              <a:rect l="l" t="t" r="r" b="b"/>
              <a:pathLst>
                <a:path w="3655013" h="812800">
                  <a:moveTo>
                    <a:pt x="24327" y="0"/>
                  </a:moveTo>
                  <a:lnTo>
                    <a:pt x="3630686" y="0"/>
                  </a:lnTo>
                  <a:cubicBezTo>
                    <a:pt x="3644121" y="0"/>
                    <a:pt x="3655013" y="10891"/>
                    <a:pt x="3655013" y="24327"/>
                  </a:cubicBezTo>
                  <a:lnTo>
                    <a:pt x="3655013" y="788473"/>
                  </a:lnTo>
                  <a:cubicBezTo>
                    <a:pt x="3655013" y="801909"/>
                    <a:pt x="3644121" y="812800"/>
                    <a:pt x="3630686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5501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52563" y="3822079"/>
            <a:ext cx="14982874" cy="302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19"/>
              </a:lnSpc>
            </a:pPr>
            <a:r>
              <a:rPr lang="en-US" sz="42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COMPRENDER EL MODELO DE SEGURIDAD INTEGRAL PARA ALMACENAMIENTO DE DATOS MEDIANTE EL ANÁLISIS DE AMENAZASAS, CONTROLES DE ACCESO Y TÉCNICAS DE RESPALDO PARA GARANTIZAR LA CONFIDENCIALIDAD, INTEGRIDAD Y DISPONIBILIDAD DE LA INFORMACIÓN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33669" y="7649422"/>
            <a:ext cx="9220662" cy="738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8"/>
              </a:lnSpc>
            </a:pPr>
            <a:r>
              <a:rPr lang="en-US" sz="430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COMPETENCIA DE LA SEMANA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2285506" y="-4771437"/>
            <a:ext cx="22859012" cy="17585432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028700" y="3572517"/>
            <a:ext cx="16230600" cy="3609353"/>
            <a:chOff x="0" y="0"/>
            <a:chExt cx="365501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5013" cy="812800"/>
            </a:xfrm>
            <a:custGeom>
              <a:avLst/>
              <a:gdLst/>
              <a:ahLst/>
              <a:cxnLst/>
              <a:rect l="l" t="t" r="r" b="b"/>
              <a:pathLst>
                <a:path w="3655013" h="812800">
                  <a:moveTo>
                    <a:pt x="24327" y="0"/>
                  </a:moveTo>
                  <a:lnTo>
                    <a:pt x="3630686" y="0"/>
                  </a:lnTo>
                  <a:cubicBezTo>
                    <a:pt x="3644121" y="0"/>
                    <a:pt x="3655013" y="10891"/>
                    <a:pt x="3655013" y="24327"/>
                  </a:cubicBezTo>
                  <a:lnTo>
                    <a:pt x="3655013" y="788473"/>
                  </a:lnTo>
                  <a:cubicBezTo>
                    <a:pt x="3655013" y="801909"/>
                    <a:pt x="3644121" y="812800"/>
                    <a:pt x="3630686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5501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52563" y="3649994"/>
            <a:ext cx="14982874" cy="2955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MANEJO DE ARCHIVOS Y OPERACIONES BÁSICAS DE ARCHIVOS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983850" y="7677997"/>
            <a:ext cx="6320299" cy="738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8"/>
              </a:lnSpc>
            </a:pPr>
            <a:r>
              <a:rPr lang="en-US" sz="430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CLASE 4</a:t>
            </a:r>
          </a:p>
        </p:txBody>
      </p:sp>
    </p:spTree>
    <p:extLst>
      <p:ext uri="{BB962C8B-B14F-4D97-AF65-F5344CB8AC3E}">
        <p14:creationId xmlns:p14="http://schemas.microsoft.com/office/powerpoint/2010/main" val="22715974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144000" y="-925735"/>
            <a:ext cx="9246124" cy="11212735"/>
            <a:chOff x="0" y="0"/>
            <a:chExt cx="2082160" cy="25250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082160" cy="2525026"/>
            </a:xfrm>
            <a:custGeom>
              <a:avLst/>
              <a:gdLst/>
              <a:ahLst/>
              <a:cxnLst/>
              <a:rect l="l" t="t" r="r" b="b"/>
              <a:pathLst>
                <a:path w="2082160" h="2525026">
                  <a:moveTo>
                    <a:pt x="0" y="0"/>
                  </a:moveTo>
                  <a:lnTo>
                    <a:pt x="2082160" y="0"/>
                  </a:lnTo>
                  <a:lnTo>
                    <a:pt x="208216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08216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0331271" y="6034226"/>
            <a:ext cx="6871582" cy="2776833"/>
            <a:chOff x="0" y="0"/>
            <a:chExt cx="1547430" cy="6253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47430" cy="625323"/>
            </a:xfrm>
            <a:custGeom>
              <a:avLst/>
              <a:gdLst/>
              <a:ahLst/>
              <a:cxnLst/>
              <a:rect l="l" t="t" r="r" b="b"/>
              <a:pathLst>
                <a:path w="1547430" h="625323">
                  <a:moveTo>
                    <a:pt x="57460" y="0"/>
                  </a:moveTo>
                  <a:lnTo>
                    <a:pt x="1489971" y="0"/>
                  </a:lnTo>
                  <a:cubicBezTo>
                    <a:pt x="1505210" y="0"/>
                    <a:pt x="1519825" y="6054"/>
                    <a:pt x="1530601" y="16830"/>
                  </a:cubicBezTo>
                  <a:cubicBezTo>
                    <a:pt x="1541376" y="27605"/>
                    <a:pt x="1547430" y="42220"/>
                    <a:pt x="1547430" y="57460"/>
                  </a:cubicBezTo>
                  <a:lnTo>
                    <a:pt x="1547430" y="567863"/>
                  </a:lnTo>
                  <a:cubicBezTo>
                    <a:pt x="1547430" y="599597"/>
                    <a:pt x="1521705" y="625323"/>
                    <a:pt x="1489971" y="625323"/>
                  </a:cubicBezTo>
                  <a:lnTo>
                    <a:pt x="57460" y="625323"/>
                  </a:lnTo>
                  <a:cubicBezTo>
                    <a:pt x="42220" y="625323"/>
                    <a:pt x="27605" y="619269"/>
                    <a:pt x="16830" y="608493"/>
                  </a:cubicBezTo>
                  <a:cubicBezTo>
                    <a:pt x="6054" y="597717"/>
                    <a:pt x="0" y="583102"/>
                    <a:pt x="0" y="567863"/>
                  </a:cubicBezTo>
                  <a:lnTo>
                    <a:pt x="0" y="57460"/>
                  </a:lnTo>
                  <a:cubicBezTo>
                    <a:pt x="0" y="42220"/>
                    <a:pt x="6054" y="27605"/>
                    <a:pt x="16830" y="16830"/>
                  </a:cubicBezTo>
                  <a:cubicBezTo>
                    <a:pt x="27605" y="6054"/>
                    <a:pt x="42220" y="0"/>
                    <a:pt x="57460" y="0"/>
                  </a:cubicBezTo>
                  <a:close/>
                </a:path>
              </a:pathLst>
            </a:custGeom>
            <a:solidFill>
              <a:srgbClr val="DAE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547430" cy="6634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028700" y="1905121"/>
            <a:ext cx="6452471" cy="6476758"/>
          </a:xfrm>
          <a:custGeom>
            <a:avLst/>
            <a:gdLst/>
            <a:ahLst/>
            <a:cxnLst/>
            <a:rect l="l" t="t" r="r" b="b"/>
            <a:pathLst>
              <a:path w="6452471" h="6476758">
                <a:moveTo>
                  <a:pt x="0" y="0"/>
                </a:moveTo>
                <a:lnTo>
                  <a:pt x="6452471" y="0"/>
                </a:lnTo>
                <a:lnTo>
                  <a:pt x="6452471" y="6476758"/>
                </a:lnTo>
                <a:lnTo>
                  <a:pt x="0" y="6476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10447402" y="1437091"/>
            <a:ext cx="6745799" cy="2005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8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¿QUÉ ES UN ARCHIVO?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671362" y="4129770"/>
            <a:ext cx="6297879" cy="10541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Es una unidad de almacenamiento de datos que se guarda en un dispositivo digital como un disco duro o una memoria USB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671362" y="6265037"/>
            <a:ext cx="6191400" cy="22675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Los archivos se organizan en directorios o carpetas para facilitar su gestión y acceso y pueden contener texto, imágenes, video, audio u otros tipos de información digital.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19344569" cy="4268064"/>
            <a:chOff x="0" y="0"/>
            <a:chExt cx="4356256" cy="9611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255" cy="961137"/>
            </a:xfrm>
            <a:custGeom>
              <a:avLst/>
              <a:gdLst/>
              <a:ahLst/>
              <a:cxnLst/>
              <a:rect l="l" t="t" r="r" b="b"/>
              <a:pathLst>
                <a:path w="4356255" h="961137">
                  <a:moveTo>
                    <a:pt x="0" y="0"/>
                  </a:moveTo>
                  <a:lnTo>
                    <a:pt x="4356255" y="0"/>
                  </a:lnTo>
                  <a:lnTo>
                    <a:pt x="4356255" y="961137"/>
                  </a:lnTo>
                  <a:lnTo>
                    <a:pt x="0" y="961137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56256" cy="999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09926" y="1181100"/>
            <a:ext cx="13333867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5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TIPOS DE ARCHIVOS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233710" y="4232710"/>
            <a:ext cx="5025590" cy="502559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39017" y="5617827"/>
            <a:ext cx="4233972" cy="423397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E5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604391" y="6460797"/>
            <a:ext cx="3303225" cy="400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46"/>
              </a:lnSpc>
            </a:pPr>
            <a:r>
              <a:rPr lang="en-US" sz="2712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Archivos Binarios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28700" y="4043015"/>
            <a:ext cx="5025590" cy="502559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53333" y="5173962"/>
            <a:ext cx="4576323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Archivos de Texto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57717" y="5321917"/>
            <a:ext cx="4577577" cy="2959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20"/>
              </a:lnSpc>
            </a:pPr>
            <a:r>
              <a:rPr lang="en-US" sz="2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Archivos Multimedia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0110" y="6024780"/>
            <a:ext cx="4102771" cy="145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Contienen información en formato de texto plano, como documentos, scripts o código fuente.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429479" y="7117328"/>
            <a:ext cx="3653048" cy="181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Almacenan datos en un formato específico, como programas ejecutables, imágenes o bases de datos.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32945" y="5925208"/>
            <a:ext cx="4227119" cy="181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Incluyen archivos de audio, video e imágenes que se utilizan para reproducir contenido multimedia.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19344569" cy="4268064"/>
            <a:chOff x="0" y="0"/>
            <a:chExt cx="4356256" cy="9611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255" cy="961137"/>
            </a:xfrm>
            <a:custGeom>
              <a:avLst/>
              <a:gdLst/>
              <a:ahLst/>
              <a:cxnLst/>
              <a:rect l="l" t="t" r="r" b="b"/>
              <a:pathLst>
                <a:path w="4356255" h="961137">
                  <a:moveTo>
                    <a:pt x="0" y="0"/>
                  </a:moveTo>
                  <a:lnTo>
                    <a:pt x="4356255" y="0"/>
                  </a:lnTo>
                  <a:lnTo>
                    <a:pt x="4356255" y="961137"/>
                  </a:lnTo>
                  <a:lnTo>
                    <a:pt x="0" y="961137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56256" cy="999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09926" y="1181100"/>
            <a:ext cx="13333867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5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ESTRUCTURA BÁSICA DE UN ARCHIVO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233710" y="4232710"/>
            <a:ext cx="5025590" cy="502559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39017" y="5617827"/>
            <a:ext cx="4233972" cy="423397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E5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715618" y="6264491"/>
            <a:ext cx="3080770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Datos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28700" y="4043015"/>
            <a:ext cx="5025590" cy="502559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46895" y="5035532"/>
            <a:ext cx="4576323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Encabezado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57717" y="5331442"/>
            <a:ext cx="4577577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Metadatos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83672" y="5921888"/>
            <a:ext cx="4102771" cy="181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Contiene información sobre el tipo de archivo, tamaño, permisos y otros metadatos.</a:t>
            </a:r>
          </a:p>
          <a:p>
            <a:pPr algn="ctr">
              <a:lnSpc>
                <a:spcPts val="2899"/>
              </a:lnSpc>
            </a:pPr>
            <a:endParaRPr lang="en-US" sz="2499">
              <a:solidFill>
                <a:srgbClr val="FFFFFF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7704934" y="7039192"/>
            <a:ext cx="3212157" cy="181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La información real almacenada en el archivo, ya sea texto, números, imágenes, etc.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32945" y="6264491"/>
            <a:ext cx="4227119" cy="145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Datos adicionales sobre el archivo, como fecha de creación, autor, palabras clave, etc.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18649272" cy="11212735"/>
            <a:chOff x="0" y="0"/>
            <a:chExt cx="4199680" cy="25250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9680" cy="2525026"/>
            </a:xfrm>
            <a:custGeom>
              <a:avLst/>
              <a:gdLst/>
              <a:ahLst/>
              <a:cxnLst/>
              <a:rect l="l" t="t" r="r" b="b"/>
              <a:pathLst>
                <a:path w="4199680" h="2525026">
                  <a:moveTo>
                    <a:pt x="0" y="0"/>
                  </a:moveTo>
                  <a:lnTo>
                    <a:pt x="4199680" y="0"/>
                  </a:lnTo>
                  <a:lnTo>
                    <a:pt x="419968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968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6744" y="3671888"/>
            <a:ext cx="7714545" cy="5922979"/>
            <a:chOff x="0" y="0"/>
            <a:chExt cx="1737259" cy="13338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7259" cy="1333812"/>
            </a:xfrm>
            <a:custGeom>
              <a:avLst/>
              <a:gdLst/>
              <a:ahLst/>
              <a:cxnLst/>
              <a:rect l="l" t="t" r="r" b="b"/>
              <a:pathLst>
                <a:path w="1737259" h="1333812">
                  <a:moveTo>
                    <a:pt x="51181" y="0"/>
                  </a:moveTo>
                  <a:lnTo>
                    <a:pt x="1686078" y="0"/>
                  </a:lnTo>
                  <a:cubicBezTo>
                    <a:pt x="1699652" y="0"/>
                    <a:pt x="1712670" y="5392"/>
                    <a:pt x="1722269" y="14991"/>
                  </a:cubicBezTo>
                  <a:cubicBezTo>
                    <a:pt x="1731867" y="24589"/>
                    <a:pt x="1737259" y="37607"/>
                    <a:pt x="1737259" y="51181"/>
                  </a:cubicBezTo>
                  <a:lnTo>
                    <a:pt x="1737259" y="1282631"/>
                  </a:lnTo>
                  <a:cubicBezTo>
                    <a:pt x="1737259" y="1296205"/>
                    <a:pt x="1731867" y="1309223"/>
                    <a:pt x="1722269" y="1318821"/>
                  </a:cubicBezTo>
                  <a:cubicBezTo>
                    <a:pt x="1712670" y="1328419"/>
                    <a:pt x="1699652" y="1333812"/>
                    <a:pt x="1686078" y="1333812"/>
                  </a:cubicBezTo>
                  <a:lnTo>
                    <a:pt x="51181" y="1333812"/>
                  </a:lnTo>
                  <a:cubicBezTo>
                    <a:pt x="37607" y="1333812"/>
                    <a:pt x="24589" y="1328419"/>
                    <a:pt x="14991" y="1318821"/>
                  </a:cubicBezTo>
                  <a:cubicBezTo>
                    <a:pt x="5392" y="1309223"/>
                    <a:pt x="0" y="1296205"/>
                    <a:pt x="0" y="1282631"/>
                  </a:cubicBezTo>
                  <a:lnTo>
                    <a:pt x="0" y="51181"/>
                  </a:lnTo>
                  <a:cubicBezTo>
                    <a:pt x="0" y="37607"/>
                    <a:pt x="5392" y="24589"/>
                    <a:pt x="14991" y="14991"/>
                  </a:cubicBezTo>
                  <a:cubicBezTo>
                    <a:pt x="24589" y="5392"/>
                    <a:pt x="37607" y="0"/>
                    <a:pt x="51181" y="0"/>
                  </a:cubicBezTo>
                  <a:close/>
                </a:path>
              </a:pathLst>
            </a:custGeom>
            <a:solidFill>
              <a:srgbClr val="DAE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37259" cy="137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209675"/>
            <a:ext cx="16230600" cy="2005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8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OPERACIONES FUNDAMENTALES </a:t>
            </a:r>
          </a:p>
          <a:p>
            <a:pPr algn="ctr">
              <a:lnSpc>
                <a:spcPts val="7680"/>
              </a:lnSpc>
            </a:pPr>
            <a:r>
              <a:rPr lang="en-US" sz="8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CON ARCHIVOS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0227" y="4652177"/>
            <a:ext cx="6807579" cy="3895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Creación: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Generar un nuevo archivo en el sistema de archivos.</a:t>
            </a:r>
          </a:p>
          <a:p>
            <a:pPr algn="just">
              <a:lnSpc>
                <a:spcPts val="2800"/>
              </a:lnSpc>
            </a:pPr>
            <a:endParaRPr lang="en-US" sz="3000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algn="just">
              <a:lnSpc>
                <a:spcPts val="2800"/>
              </a:lnSpc>
            </a:pPr>
            <a:endParaRPr lang="en-US" sz="3000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Apertura: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Acceder a un archivo existente para leer o modificar su contenido.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544755" y="3671888"/>
            <a:ext cx="7714545" cy="5922979"/>
            <a:chOff x="0" y="0"/>
            <a:chExt cx="1737259" cy="13338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37259" cy="1333812"/>
            </a:xfrm>
            <a:custGeom>
              <a:avLst/>
              <a:gdLst/>
              <a:ahLst/>
              <a:cxnLst/>
              <a:rect l="l" t="t" r="r" b="b"/>
              <a:pathLst>
                <a:path w="1737259" h="1333812">
                  <a:moveTo>
                    <a:pt x="51181" y="0"/>
                  </a:moveTo>
                  <a:lnTo>
                    <a:pt x="1686078" y="0"/>
                  </a:lnTo>
                  <a:cubicBezTo>
                    <a:pt x="1699652" y="0"/>
                    <a:pt x="1712670" y="5392"/>
                    <a:pt x="1722269" y="14991"/>
                  </a:cubicBezTo>
                  <a:cubicBezTo>
                    <a:pt x="1731867" y="24589"/>
                    <a:pt x="1737259" y="37607"/>
                    <a:pt x="1737259" y="51181"/>
                  </a:cubicBezTo>
                  <a:lnTo>
                    <a:pt x="1737259" y="1282631"/>
                  </a:lnTo>
                  <a:cubicBezTo>
                    <a:pt x="1737259" y="1296205"/>
                    <a:pt x="1731867" y="1309223"/>
                    <a:pt x="1722269" y="1318821"/>
                  </a:cubicBezTo>
                  <a:cubicBezTo>
                    <a:pt x="1712670" y="1328419"/>
                    <a:pt x="1699652" y="1333812"/>
                    <a:pt x="1686078" y="1333812"/>
                  </a:cubicBezTo>
                  <a:lnTo>
                    <a:pt x="51181" y="1333812"/>
                  </a:lnTo>
                  <a:cubicBezTo>
                    <a:pt x="37607" y="1333812"/>
                    <a:pt x="24589" y="1328419"/>
                    <a:pt x="14991" y="1318821"/>
                  </a:cubicBezTo>
                  <a:cubicBezTo>
                    <a:pt x="5392" y="1309223"/>
                    <a:pt x="0" y="1296205"/>
                    <a:pt x="0" y="1282631"/>
                  </a:cubicBezTo>
                  <a:lnTo>
                    <a:pt x="0" y="51181"/>
                  </a:lnTo>
                  <a:cubicBezTo>
                    <a:pt x="0" y="37607"/>
                    <a:pt x="5392" y="24589"/>
                    <a:pt x="14991" y="14991"/>
                  </a:cubicBezTo>
                  <a:cubicBezTo>
                    <a:pt x="24589" y="5392"/>
                    <a:pt x="37607" y="0"/>
                    <a:pt x="51181" y="0"/>
                  </a:cubicBezTo>
                  <a:close/>
                </a:path>
              </a:pathLst>
            </a:custGeom>
            <a:solidFill>
              <a:srgbClr val="DAE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37259" cy="137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998238" y="4737902"/>
            <a:ext cx="6807579" cy="3724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Escritura: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Guardar información nueva o actualizada en un archivo.</a:t>
            </a:r>
          </a:p>
          <a:p>
            <a:pPr algn="just">
              <a:lnSpc>
                <a:spcPts val="4200"/>
              </a:lnSpc>
            </a:pPr>
            <a:endParaRPr lang="en-US" sz="3000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Cierre:</a:t>
            </a:r>
          </a:p>
          <a:p>
            <a:pPr algn="just">
              <a:lnSpc>
                <a:spcPts val="4200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Terminar el acceso a un archivo y liberar los recursos utilizados.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19344569" cy="4268064"/>
            <a:chOff x="0" y="0"/>
            <a:chExt cx="4356256" cy="9611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255" cy="961137"/>
            </a:xfrm>
            <a:custGeom>
              <a:avLst/>
              <a:gdLst/>
              <a:ahLst/>
              <a:cxnLst/>
              <a:rect l="l" t="t" r="r" b="b"/>
              <a:pathLst>
                <a:path w="4356255" h="961137">
                  <a:moveTo>
                    <a:pt x="0" y="0"/>
                  </a:moveTo>
                  <a:lnTo>
                    <a:pt x="4356255" y="0"/>
                  </a:lnTo>
                  <a:lnTo>
                    <a:pt x="4356255" y="961137"/>
                  </a:lnTo>
                  <a:lnTo>
                    <a:pt x="0" y="961137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56256" cy="999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09926" y="1181100"/>
            <a:ext cx="13333867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5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ABRIR Y CERRAR ARCHIVOS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233710" y="4232710"/>
            <a:ext cx="5025590" cy="502559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39017" y="5617827"/>
            <a:ext cx="4233972" cy="423397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E5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715618" y="6264491"/>
            <a:ext cx="3080770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Permisos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28700" y="4043015"/>
            <a:ext cx="5025590" cy="502559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46895" y="5035532"/>
            <a:ext cx="4576323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Apertura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57717" y="5331442"/>
            <a:ext cx="4577577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Cierre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0110" y="5888097"/>
            <a:ext cx="4102771" cy="1812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Utilizar funciones del sistema operativo para abrir un archivo y obtener un identificador de archivo.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03278" y="7014088"/>
            <a:ext cx="3305451" cy="145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Especificar los permisos de acceso, como lectura, escritura o ejecución.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32945" y="6250047"/>
            <a:ext cx="4227119" cy="145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Liberar el identificador de archivo y asegurar que todos los cambios se hayan guardado.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19344569" cy="4268064"/>
            <a:chOff x="0" y="0"/>
            <a:chExt cx="4356256" cy="9611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255" cy="961137"/>
            </a:xfrm>
            <a:custGeom>
              <a:avLst/>
              <a:gdLst/>
              <a:ahLst/>
              <a:cxnLst/>
              <a:rect l="l" t="t" r="r" b="b"/>
              <a:pathLst>
                <a:path w="4356255" h="961137">
                  <a:moveTo>
                    <a:pt x="0" y="0"/>
                  </a:moveTo>
                  <a:lnTo>
                    <a:pt x="4356255" y="0"/>
                  </a:lnTo>
                  <a:lnTo>
                    <a:pt x="4356255" y="961137"/>
                  </a:lnTo>
                  <a:lnTo>
                    <a:pt x="0" y="961137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56256" cy="999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09926" y="1181100"/>
            <a:ext cx="13333867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5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LEER Y ESCRIBIR EN ARCHIVOS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233710" y="4232710"/>
            <a:ext cx="5025590" cy="502559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39017" y="5617827"/>
            <a:ext cx="4233972" cy="423397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E5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715618" y="6264491"/>
            <a:ext cx="3080770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Escritura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28700" y="4043015"/>
            <a:ext cx="5025590" cy="502559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46895" y="5035532"/>
            <a:ext cx="4576323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Lectura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57717" y="5331442"/>
            <a:ext cx="4577577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Formatos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0110" y="5888097"/>
            <a:ext cx="4102771" cy="145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Extraer información del archivo y almacenarla en variables o buffers de memoria.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03278" y="7014088"/>
            <a:ext cx="3305451" cy="2174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Transferir datos desde la memoria al archivo, ya sea reemplazando o anexando información.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32945" y="6250047"/>
            <a:ext cx="4227119" cy="145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Conocer los formatos de archivo y sus convenciones de lectura/escritura es crucial.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19344569" cy="4268064"/>
            <a:chOff x="0" y="0"/>
            <a:chExt cx="4356256" cy="96113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56255" cy="961137"/>
            </a:xfrm>
            <a:custGeom>
              <a:avLst/>
              <a:gdLst/>
              <a:ahLst/>
              <a:cxnLst/>
              <a:rect l="l" t="t" r="r" b="b"/>
              <a:pathLst>
                <a:path w="4356255" h="961137">
                  <a:moveTo>
                    <a:pt x="0" y="0"/>
                  </a:moveTo>
                  <a:lnTo>
                    <a:pt x="4356255" y="0"/>
                  </a:lnTo>
                  <a:lnTo>
                    <a:pt x="4356255" y="961137"/>
                  </a:lnTo>
                  <a:lnTo>
                    <a:pt x="0" y="961137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56256" cy="999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409926" y="1181100"/>
            <a:ext cx="13333867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5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POSICIONAMIENTO EN ARCHIVOS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2233710" y="4232710"/>
            <a:ext cx="5025590" cy="5025590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139017" y="5617827"/>
            <a:ext cx="4233972" cy="4233972"/>
            <a:chOff x="0" y="0"/>
            <a:chExt cx="812800" cy="8128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E5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7715618" y="6264491"/>
            <a:ext cx="3080770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Desplazamiento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28700" y="4043015"/>
            <a:ext cx="5025590" cy="5025590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246895" y="5035532"/>
            <a:ext cx="4576323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Inicio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457717" y="5331442"/>
            <a:ext cx="4577577" cy="44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Fin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490110" y="5888097"/>
            <a:ext cx="4102771" cy="145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Mover el puntero al principio del archivo para leer o escribir desde el comienzo.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03278" y="7014088"/>
            <a:ext cx="3305451" cy="145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Avanzar o retroceder la posición del puntero dentro del archivo.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632945" y="6250047"/>
            <a:ext cx="4227119" cy="145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n-US" sz="2499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Posicionar el puntero al final del archivo, ya sea para agregar nuevos datos o verificar el tamaño.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18649272" cy="11212735"/>
            <a:chOff x="0" y="0"/>
            <a:chExt cx="4199680" cy="25250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9680" cy="2525026"/>
            </a:xfrm>
            <a:custGeom>
              <a:avLst/>
              <a:gdLst/>
              <a:ahLst/>
              <a:cxnLst/>
              <a:rect l="l" t="t" r="r" b="b"/>
              <a:pathLst>
                <a:path w="4199680" h="2525026">
                  <a:moveTo>
                    <a:pt x="0" y="0"/>
                  </a:moveTo>
                  <a:lnTo>
                    <a:pt x="4199680" y="0"/>
                  </a:lnTo>
                  <a:lnTo>
                    <a:pt x="419968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968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6744" y="3671888"/>
            <a:ext cx="7714545" cy="5922979"/>
            <a:chOff x="0" y="0"/>
            <a:chExt cx="1737259" cy="13338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7259" cy="1333812"/>
            </a:xfrm>
            <a:custGeom>
              <a:avLst/>
              <a:gdLst/>
              <a:ahLst/>
              <a:cxnLst/>
              <a:rect l="l" t="t" r="r" b="b"/>
              <a:pathLst>
                <a:path w="1737259" h="1333812">
                  <a:moveTo>
                    <a:pt x="51181" y="0"/>
                  </a:moveTo>
                  <a:lnTo>
                    <a:pt x="1686078" y="0"/>
                  </a:lnTo>
                  <a:cubicBezTo>
                    <a:pt x="1699652" y="0"/>
                    <a:pt x="1712670" y="5392"/>
                    <a:pt x="1722269" y="14991"/>
                  </a:cubicBezTo>
                  <a:cubicBezTo>
                    <a:pt x="1731867" y="24589"/>
                    <a:pt x="1737259" y="37607"/>
                    <a:pt x="1737259" y="51181"/>
                  </a:cubicBezTo>
                  <a:lnTo>
                    <a:pt x="1737259" y="1282631"/>
                  </a:lnTo>
                  <a:cubicBezTo>
                    <a:pt x="1737259" y="1296205"/>
                    <a:pt x="1731867" y="1309223"/>
                    <a:pt x="1722269" y="1318821"/>
                  </a:cubicBezTo>
                  <a:cubicBezTo>
                    <a:pt x="1712670" y="1328419"/>
                    <a:pt x="1699652" y="1333812"/>
                    <a:pt x="1686078" y="1333812"/>
                  </a:cubicBezTo>
                  <a:lnTo>
                    <a:pt x="51181" y="1333812"/>
                  </a:lnTo>
                  <a:cubicBezTo>
                    <a:pt x="37607" y="1333812"/>
                    <a:pt x="24589" y="1328419"/>
                    <a:pt x="14991" y="1318821"/>
                  </a:cubicBezTo>
                  <a:cubicBezTo>
                    <a:pt x="5392" y="1309223"/>
                    <a:pt x="0" y="1296205"/>
                    <a:pt x="0" y="1282631"/>
                  </a:cubicBezTo>
                  <a:lnTo>
                    <a:pt x="0" y="51181"/>
                  </a:lnTo>
                  <a:cubicBezTo>
                    <a:pt x="0" y="37607"/>
                    <a:pt x="5392" y="24589"/>
                    <a:pt x="14991" y="14991"/>
                  </a:cubicBezTo>
                  <a:cubicBezTo>
                    <a:pt x="24589" y="5392"/>
                    <a:pt x="37607" y="0"/>
                    <a:pt x="51181" y="0"/>
                  </a:cubicBezTo>
                  <a:close/>
                </a:path>
              </a:pathLst>
            </a:custGeom>
            <a:solidFill>
              <a:srgbClr val="DAE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37259" cy="137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209675"/>
            <a:ext cx="16230600" cy="2005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8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MANEJO DE ERRORES EN OPERACIONES </a:t>
            </a:r>
          </a:p>
          <a:p>
            <a:pPr algn="ctr">
              <a:lnSpc>
                <a:spcPts val="7680"/>
              </a:lnSpc>
            </a:pPr>
            <a:r>
              <a:rPr lang="en-US" sz="8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DE ARCHIVOS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0227" y="4645827"/>
            <a:ext cx="6807579" cy="392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Permisos Insuficientes: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Verificar que el usuario tenga los permisos necesarios para realizar operaciones de lectura, escritura o ejecución.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Errores de Entrada/Salida: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Manejar adecuadamente los errores de lectura o escritura que puedan ocurrir durante las operaciones de archivo.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544755" y="3671888"/>
            <a:ext cx="7714545" cy="5922979"/>
            <a:chOff x="0" y="0"/>
            <a:chExt cx="1737259" cy="13338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37259" cy="1333812"/>
            </a:xfrm>
            <a:custGeom>
              <a:avLst/>
              <a:gdLst/>
              <a:ahLst/>
              <a:cxnLst/>
              <a:rect l="l" t="t" r="r" b="b"/>
              <a:pathLst>
                <a:path w="1737259" h="1333812">
                  <a:moveTo>
                    <a:pt x="51181" y="0"/>
                  </a:moveTo>
                  <a:lnTo>
                    <a:pt x="1686078" y="0"/>
                  </a:lnTo>
                  <a:cubicBezTo>
                    <a:pt x="1699652" y="0"/>
                    <a:pt x="1712670" y="5392"/>
                    <a:pt x="1722269" y="14991"/>
                  </a:cubicBezTo>
                  <a:cubicBezTo>
                    <a:pt x="1731867" y="24589"/>
                    <a:pt x="1737259" y="37607"/>
                    <a:pt x="1737259" y="51181"/>
                  </a:cubicBezTo>
                  <a:lnTo>
                    <a:pt x="1737259" y="1282631"/>
                  </a:lnTo>
                  <a:cubicBezTo>
                    <a:pt x="1737259" y="1296205"/>
                    <a:pt x="1731867" y="1309223"/>
                    <a:pt x="1722269" y="1318821"/>
                  </a:cubicBezTo>
                  <a:cubicBezTo>
                    <a:pt x="1712670" y="1328419"/>
                    <a:pt x="1699652" y="1333812"/>
                    <a:pt x="1686078" y="1333812"/>
                  </a:cubicBezTo>
                  <a:lnTo>
                    <a:pt x="51181" y="1333812"/>
                  </a:lnTo>
                  <a:cubicBezTo>
                    <a:pt x="37607" y="1333812"/>
                    <a:pt x="24589" y="1328419"/>
                    <a:pt x="14991" y="1318821"/>
                  </a:cubicBezTo>
                  <a:cubicBezTo>
                    <a:pt x="5392" y="1309223"/>
                    <a:pt x="0" y="1296205"/>
                    <a:pt x="0" y="1282631"/>
                  </a:cubicBezTo>
                  <a:lnTo>
                    <a:pt x="0" y="51181"/>
                  </a:lnTo>
                  <a:cubicBezTo>
                    <a:pt x="0" y="37607"/>
                    <a:pt x="5392" y="24589"/>
                    <a:pt x="14991" y="14991"/>
                  </a:cubicBezTo>
                  <a:cubicBezTo>
                    <a:pt x="24589" y="5392"/>
                    <a:pt x="37607" y="0"/>
                    <a:pt x="51181" y="0"/>
                  </a:cubicBezTo>
                  <a:close/>
                </a:path>
              </a:pathLst>
            </a:custGeom>
            <a:solidFill>
              <a:srgbClr val="DAE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37259" cy="137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998238" y="4645827"/>
            <a:ext cx="6807579" cy="39274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Archivos NO Encontrados: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Comprobar que la ruta y el nombre del archivo sean correctos antes de intentar acceder a él.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Excepciones: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Implementar un manejo de excepciones robusto para capturar y procesar errores de manera controlada.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61272" y="-620353"/>
            <a:ext cx="18649272" cy="11212735"/>
            <a:chOff x="0" y="0"/>
            <a:chExt cx="4199680" cy="252502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199680" cy="2525026"/>
            </a:xfrm>
            <a:custGeom>
              <a:avLst/>
              <a:gdLst/>
              <a:ahLst/>
              <a:cxnLst/>
              <a:rect l="l" t="t" r="r" b="b"/>
              <a:pathLst>
                <a:path w="4199680" h="2525026">
                  <a:moveTo>
                    <a:pt x="0" y="0"/>
                  </a:moveTo>
                  <a:lnTo>
                    <a:pt x="4199680" y="0"/>
                  </a:lnTo>
                  <a:lnTo>
                    <a:pt x="419968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19968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616744" y="3671888"/>
            <a:ext cx="7714545" cy="5922979"/>
            <a:chOff x="0" y="0"/>
            <a:chExt cx="1737259" cy="133381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37259" cy="1333812"/>
            </a:xfrm>
            <a:custGeom>
              <a:avLst/>
              <a:gdLst/>
              <a:ahLst/>
              <a:cxnLst/>
              <a:rect l="l" t="t" r="r" b="b"/>
              <a:pathLst>
                <a:path w="1737259" h="1333812">
                  <a:moveTo>
                    <a:pt x="51181" y="0"/>
                  </a:moveTo>
                  <a:lnTo>
                    <a:pt x="1686078" y="0"/>
                  </a:lnTo>
                  <a:cubicBezTo>
                    <a:pt x="1699652" y="0"/>
                    <a:pt x="1712670" y="5392"/>
                    <a:pt x="1722269" y="14991"/>
                  </a:cubicBezTo>
                  <a:cubicBezTo>
                    <a:pt x="1731867" y="24589"/>
                    <a:pt x="1737259" y="37607"/>
                    <a:pt x="1737259" y="51181"/>
                  </a:cubicBezTo>
                  <a:lnTo>
                    <a:pt x="1737259" y="1282631"/>
                  </a:lnTo>
                  <a:cubicBezTo>
                    <a:pt x="1737259" y="1296205"/>
                    <a:pt x="1731867" y="1309223"/>
                    <a:pt x="1722269" y="1318821"/>
                  </a:cubicBezTo>
                  <a:cubicBezTo>
                    <a:pt x="1712670" y="1328419"/>
                    <a:pt x="1699652" y="1333812"/>
                    <a:pt x="1686078" y="1333812"/>
                  </a:cubicBezTo>
                  <a:lnTo>
                    <a:pt x="51181" y="1333812"/>
                  </a:lnTo>
                  <a:cubicBezTo>
                    <a:pt x="37607" y="1333812"/>
                    <a:pt x="24589" y="1328419"/>
                    <a:pt x="14991" y="1318821"/>
                  </a:cubicBezTo>
                  <a:cubicBezTo>
                    <a:pt x="5392" y="1309223"/>
                    <a:pt x="0" y="1296205"/>
                    <a:pt x="0" y="1282631"/>
                  </a:cubicBezTo>
                  <a:lnTo>
                    <a:pt x="0" y="51181"/>
                  </a:lnTo>
                  <a:cubicBezTo>
                    <a:pt x="0" y="37607"/>
                    <a:pt x="5392" y="24589"/>
                    <a:pt x="14991" y="14991"/>
                  </a:cubicBezTo>
                  <a:cubicBezTo>
                    <a:pt x="24589" y="5392"/>
                    <a:pt x="37607" y="0"/>
                    <a:pt x="51181" y="0"/>
                  </a:cubicBezTo>
                  <a:close/>
                </a:path>
              </a:pathLst>
            </a:custGeom>
            <a:solidFill>
              <a:srgbClr val="DAE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737259" cy="137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028700" y="1209675"/>
            <a:ext cx="16230600" cy="20059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8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BUENAS PRÁCTICAS PARA EL MANEJO EFICIENTE DE ARCHIVOS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083977"/>
            <a:ext cx="6807579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Organización: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Mantener una estructura de directorios clara y coherente.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Respaldos: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Realizar copias de seguridad periódicas de los archivos importantes.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9544755" y="3671888"/>
            <a:ext cx="7714545" cy="5922979"/>
            <a:chOff x="0" y="0"/>
            <a:chExt cx="1737259" cy="133381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37259" cy="1333812"/>
            </a:xfrm>
            <a:custGeom>
              <a:avLst/>
              <a:gdLst/>
              <a:ahLst/>
              <a:cxnLst/>
              <a:rect l="l" t="t" r="r" b="b"/>
              <a:pathLst>
                <a:path w="1737259" h="1333812">
                  <a:moveTo>
                    <a:pt x="51181" y="0"/>
                  </a:moveTo>
                  <a:lnTo>
                    <a:pt x="1686078" y="0"/>
                  </a:lnTo>
                  <a:cubicBezTo>
                    <a:pt x="1699652" y="0"/>
                    <a:pt x="1712670" y="5392"/>
                    <a:pt x="1722269" y="14991"/>
                  </a:cubicBezTo>
                  <a:cubicBezTo>
                    <a:pt x="1731867" y="24589"/>
                    <a:pt x="1737259" y="37607"/>
                    <a:pt x="1737259" y="51181"/>
                  </a:cubicBezTo>
                  <a:lnTo>
                    <a:pt x="1737259" y="1282631"/>
                  </a:lnTo>
                  <a:cubicBezTo>
                    <a:pt x="1737259" y="1296205"/>
                    <a:pt x="1731867" y="1309223"/>
                    <a:pt x="1722269" y="1318821"/>
                  </a:cubicBezTo>
                  <a:cubicBezTo>
                    <a:pt x="1712670" y="1328419"/>
                    <a:pt x="1699652" y="1333812"/>
                    <a:pt x="1686078" y="1333812"/>
                  </a:cubicBezTo>
                  <a:lnTo>
                    <a:pt x="51181" y="1333812"/>
                  </a:lnTo>
                  <a:cubicBezTo>
                    <a:pt x="37607" y="1333812"/>
                    <a:pt x="24589" y="1328419"/>
                    <a:pt x="14991" y="1318821"/>
                  </a:cubicBezTo>
                  <a:cubicBezTo>
                    <a:pt x="5392" y="1309223"/>
                    <a:pt x="0" y="1296205"/>
                    <a:pt x="0" y="1282631"/>
                  </a:cubicBezTo>
                  <a:lnTo>
                    <a:pt x="0" y="51181"/>
                  </a:lnTo>
                  <a:cubicBezTo>
                    <a:pt x="0" y="37607"/>
                    <a:pt x="5392" y="24589"/>
                    <a:pt x="14991" y="14991"/>
                  </a:cubicBezTo>
                  <a:cubicBezTo>
                    <a:pt x="24589" y="5392"/>
                    <a:pt x="37607" y="0"/>
                    <a:pt x="51181" y="0"/>
                  </a:cubicBezTo>
                  <a:close/>
                </a:path>
              </a:pathLst>
            </a:custGeom>
            <a:solidFill>
              <a:srgbClr val="DAE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37259" cy="137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9998238" y="5083977"/>
            <a:ext cx="6807579" cy="305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Seguridad: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Implementar controles de acceso y protección de datos confidenciales.</a:t>
            </a:r>
          </a:p>
          <a:p>
            <a:pPr algn="just">
              <a:lnSpc>
                <a:spcPts val="3499"/>
              </a:lnSpc>
            </a:pPr>
            <a:endParaRPr lang="en-US" sz="2499">
              <a:solidFill>
                <a:srgbClr val="31356E"/>
              </a:solidFill>
              <a:latin typeface="Lexend Deca"/>
              <a:ea typeface="Lexend Deca"/>
              <a:cs typeface="Lexend Deca"/>
              <a:sym typeface="Lexend Deca"/>
            </a:endParaRP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Lexend Deca"/>
                <a:ea typeface="Lexend Deca"/>
                <a:cs typeface="Lexend Deca"/>
                <a:sym typeface="Lexend Deca"/>
              </a:rPr>
              <a:t>Eficiencia:</a:t>
            </a:r>
          </a:p>
          <a:p>
            <a:pPr algn="just">
              <a:lnSpc>
                <a:spcPts val="3499"/>
              </a:lnSpc>
            </a:pPr>
            <a:r>
              <a:rPr lang="en-US" sz="2499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Optimizar el uso de recursos y el tiempo invertido en el manejo de archivos.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73BF3-CB88-549F-E9A2-7110540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29B2834-6301-18B0-CD2F-A170B3507D57}"/>
              </a:ext>
            </a:extLst>
          </p:cNvPr>
          <p:cNvGrpSpPr/>
          <p:nvPr/>
        </p:nvGrpSpPr>
        <p:grpSpPr>
          <a:xfrm>
            <a:off x="-361272" y="-620353"/>
            <a:ext cx="18649272" cy="11212735"/>
            <a:chOff x="0" y="0"/>
            <a:chExt cx="4199680" cy="25250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A7771A67-2E73-B527-8968-9C1A00BFBE91}"/>
                </a:ext>
              </a:extLst>
            </p:cNvPr>
            <p:cNvSpPr/>
            <p:nvPr/>
          </p:nvSpPr>
          <p:spPr>
            <a:xfrm>
              <a:off x="0" y="0"/>
              <a:ext cx="4199680" cy="2525026"/>
            </a:xfrm>
            <a:custGeom>
              <a:avLst/>
              <a:gdLst/>
              <a:ahLst/>
              <a:cxnLst/>
              <a:rect l="l" t="t" r="r" b="b"/>
              <a:pathLst>
                <a:path w="4199680" h="2525026">
                  <a:moveTo>
                    <a:pt x="0" y="0"/>
                  </a:moveTo>
                  <a:lnTo>
                    <a:pt x="4199680" y="0"/>
                  </a:lnTo>
                  <a:lnTo>
                    <a:pt x="419968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33F6CC1-FDCF-85C7-8888-C214B87A76D2}"/>
                </a:ext>
              </a:extLst>
            </p:cNvPr>
            <p:cNvSpPr txBox="1"/>
            <p:nvPr/>
          </p:nvSpPr>
          <p:spPr>
            <a:xfrm>
              <a:off x="0" y="-38100"/>
              <a:ext cx="419968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93594AD2-D95B-31EB-4F58-5F2FABE04F3C}"/>
              </a:ext>
            </a:extLst>
          </p:cNvPr>
          <p:cNvSpPr txBox="1"/>
          <p:nvPr/>
        </p:nvSpPr>
        <p:spPr>
          <a:xfrm>
            <a:off x="1028700" y="1209675"/>
            <a:ext cx="16230600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8000" dirty="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MANEJO DE MEMORIA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9C481E35-513F-45F4-5C2B-8DDD6089A2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908582"/>
            <a:ext cx="6096000" cy="609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665892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DDE8D-3BF7-49C6-9433-664255222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66C805FF-54E7-5022-028E-4991EA80707B}"/>
              </a:ext>
            </a:extLst>
          </p:cNvPr>
          <p:cNvGrpSpPr/>
          <p:nvPr/>
        </p:nvGrpSpPr>
        <p:grpSpPr>
          <a:xfrm>
            <a:off x="-361272" y="-620353"/>
            <a:ext cx="19344569" cy="4268064"/>
            <a:chOff x="0" y="0"/>
            <a:chExt cx="4356256" cy="961137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5571F75F-14DC-7873-385B-D53C614D941D}"/>
                </a:ext>
              </a:extLst>
            </p:cNvPr>
            <p:cNvSpPr/>
            <p:nvPr/>
          </p:nvSpPr>
          <p:spPr>
            <a:xfrm>
              <a:off x="0" y="0"/>
              <a:ext cx="4356255" cy="961137"/>
            </a:xfrm>
            <a:custGeom>
              <a:avLst/>
              <a:gdLst/>
              <a:ahLst/>
              <a:cxnLst/>
              <a:rect l="l" t="t" r="r" b="b"/>
              <a:pathLst>
                <a:path w="4356255" h="961137">
                  <a:moveTo>
                    <a:pt x="0" y="0"/>
                  </a:moveTo>
                  <a:lnTo>
                    <a:pt x="4356255" y="0"/>
                  </a:lnTo>
                  <a:lnTo>
                    <a:pt x="4356255" y="961137"/>
                  </a:lnTo>
                  <a:lnTo>
                    <a:pt x="0" y="961137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E2F08429-857C-26C0-7DD8-A5EBEF3D978A}"/>
                </a:ext>
              </a:extLst>
            </p:cNvPr>
            <p:cNvSpPr txBox="1"/>
            <p:nvPr/>
          </p:nvSpPr>
          <p:spPr>
            <a:xfrm>
              <a:off x="0" y="-38100"/>
              <a:ext cx="4356256" cy="9992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>
            <a:extLst>
              <a:ext uri="{FF2B5EF4-FFF2-40B4-BE49-F238E27FC236}">
                <a16:creationId xmlns:a16="http://schemas.microsoft.com/office/drawing/2014/main" id="{96D5955C-FBAB-6D2C-C0B4-850EA968A495}"/>
              </a:ext>
            </a:extLst>
          </p:cNvPr>
          <p:cNvSpPr txBox="1"/>
          <p:nvPr/>
        </p:nvSpPr>
        <p:spPr>
          <a:xfrm>
            <a:off x="2409926" y="1181100"/>
            <a:ext cx="13333867" cy="923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7500" dirty="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ALGORITMOS DE ASIGNACION</a:t>
            </a:r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2309881-FDDE-44B4-08CA-E85F65DE3381}"/>
              </a:ext>
            </a:extLst>
          </p:cNvPr>
          <p:cNvGrpSpPr/>
          <p:nvPr/>
        </p:nvGrpSpPr>
        <p:grpSpPr>
          <a:xfrm>
            <a:off x="12233710" y="4232710"/>
            <a:ext cx="5025590" cy="5025590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06ED9C50-E917-59D9-311B-1F67DA880B0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BC90F70-9F93-5AD4-F158-C8A56DDF570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9">
            <a:extLst>
              <a:ext uri="{FF2B5EF4-FFF2-40B4-BE49-F238E27FC236}">
                <a16:creationId xmlns:a16="http://schemas.microsoft.com/office/drawing/2014/main" id="{D16E9411-4328-74BC-717A-71350082E6CE}"/>
              </a:ext>
            </a:extLst>
          </p:cNvPr>
          <p:cNvGrpSpPr/>
          <p:nvPr/>
        </p:nvGrpSpPr>
        <p:grpSpPr>
          <a:xfrm>
            <a:off x="7139017" y="5617827"/>
            <a:ext cx="4233972" cy="4233972"/>
            <a:chOff x="0" y="0"/>
            <a:chExt cx="812800" cy="812800"/>
          </a:xfrm>
        </p:grpSpPr>
        <p:sp>
          <p:nvSpPr>
            <p:cNvPr id="10" name="Freeform 10">
              <a:extLst>
                <a:ext uri="{FF2B5EF4-FFF2-40B4-BE49-F238E27FC236}">
                  <a16:creationId xmlns:a16="http://schemas.microsoft.com/office/drawing/2014/main" id="{08DBE82A-CAA6-499A-30AA-D1D32ECB0D5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CE5E8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>
              <a:extLst>
                <a:ext uri="{FF2B5EF4-FFF2-40B4-BE49-F238E27FC236}">
                  <a16:creationId xmlns:a16="http://schemas.microsoft.com/office/drawing/2014/main" id="{4DCAB604-3328-DF72-683F-3096C0E87CFB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TextBox 12">
            <a:extLst>
              <a:ext uri="{FF2B5EF4-FFF2-40B4-BE49-F238E27FC236}">
                <a16:creationId xmlns:a16="http://schemas.microsoft.com/office/drawing/2014/main" id="{D57448D8-ADE7-2F66-A996-6DBEFE677A3A}"/>
              </a:ext>
            </a:extLst>
          </p:cNvPr>
          <p:cNvSpPr txBox="1"/>
          <p:nvPr/>
        </p:nvSpPr>
        <p:spPr>
          <a:xfrm>
            <a:off x="7715618" y="6264491"/>
            <a:ext cx="3080770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 dirty="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WORST FIT</a:t>
            </a:r>
          </a:p>
        </p:txBody>
      </p:sp>
      <p:grpSp>
        <p:nvGrpSpPr>
          <p:cNvPr id="13" name="Group 13">
            <a:extLst>
              <a:ext uri="{FF2B5EF4-FFF2-40B4-BE49-F238E27FC236}">
                <a16:creationId xmlns:a16="http://schemas.microsoft.com/office/drawing/2014/main" id="{7426CACE-B78F-5747-8D05-2B53FBF1A013}"/>
              </a:ext>
            </a:extLst>
          </p:cNvPr>
          <p:cNvGrpSpPr/>
          <p:nvPr/>
        </p:nvGrpSpPr>
        <p:grpSpPr>
          <a:xfrm>
            <a:off x="1028700" y="4043015"/>
            <a:ext cx="5025590" cy="5025590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716EB2E8-CDBA-CD85-4A30-FD6C0AA1764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D8BBA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88DD572-2963-4715-3856-E9AC62AE8C3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6" name="TextBox 16">
            <a:extLst>
              <a:ext uri="{FF2B5EF4-FFF2-40B4-BE49-F238E27FC236}">
                <a16:creationId xmlns:a16="http://schemas.microsoft.com/office/drawing/2014/main" id="{013536B3-4529-51D8-7176-B4B96541DCDB}"/>
              </a:ext>
            </a:extLst>
          </p:cNvPr>
          <p:cNvSpPr txBox="1"/>
          <p:nvPr/>
        </p:nvSpPr>
        <p:spPr>
          <a:xfrm>
            <a:off x="1246895" y="5035532"/>
            <a:ext cx="4576323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 dirty="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BEST FIT</a:t>
            </a:r>
          </a:p>
        </p:txBody>
      </p:sp>
      <p:sp>
        <p:nvSpPr>
          <p:cNvPr id="17" name="TextBox 17">
            <a:extLst>
              <a:ext uri="{FF2B5EF4-FFF2-40B4-BE49-F238E27FC236}">
                <a16:creationId xmlns:a16="http://schemas.microsoft.com/office/drawing/2014/main" id="{124C3801-52E4-24B6-A9B2-E728D395792B}"/>
              </a:ext>
            </a:extLst>
          </p:cNvPr>
          <p:cNvSpPr txBox="1"/>
          <p:nvPr/>
        </p:nvSpPr>
        <p:spPr>
          <a:xfrm>
            <a:off x="12457717" y="5331442"/>
            <a:ext cx="4577577" cy="4488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79"/>
              </a:lnSpc>
            </a:pPr>
            <a:r>
              <a:rPr lang="en-US" sz="3000" dirty="0">
                <a:solidFill>
                  <a:srgbClr val="FFFFFF"/>
                </a:solidFill>
                <a:latin typeface="Lexend Deca"/>
                <a:ea typeface="Lexend Deca"/>
                <a:cs typeface="Lexend Deca"/>
                <a:sym typeface="Lexend Deca"/>
              </a:rPr>
              <a:t>FIRST FIT</a:t>
            </a:r>
          </a:p>
        </p:txBody>
      </p:sp>
      <p:sp>
        <p:nvSpPr>
          <p:cNvPr id="18" name="TextBox 18">
            <a:extLst>
              <a:ext uri="{FF2B5EF4-FFF2-40B4-BE49-F238E27FC236}">
                <a16:creationId xmlns:a16="http://schemas.microsoft.com/office/drawing/2014/main" id="{5ECCF5E3-332B-9A83-5D68-B0ABA3DFD09C}"/>
              </a:ext>
            </a:extLst>
          </p:cNvPr>
          <p:cNvSpPr txBox="1"/>
          <p:nvPr/>
        </p:nvSpPr>
        <p:spPr>
          <a:xfrm>
            <a:off x="1490110" y="5888097"/>
            <a:ext cx="4102771" cy="18594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s-ES" sz="2800" dirty="0">
                <a:solidFill>
                  <a:schemeClr val="bg1"/>
                </a:solidFill>
              </a:rPr>
              <a:t>Busca </a:t>
            </a:r>
            <a:r>
              <a:rPr lang="es-ES" sz="2800" b="1" dirty="0">
                <a:solidFill>
                  <a:schemeClr val="bg1"/>
                </a:solidFill>
              </a:rPr>
              <a:t>el bloque libre más pequeño</a:t>
            </a:r>
            <a:r>
              <a:rPr lang="es-ES" sz="2800" dirty="0">
                <a:solidFill>
                  <a:schemeClr val="bg1"/>
                </a:solidFill>
              </a:rPr>
              <a:t> que sea </a:t>
            </a:r>
            <a:r>
              <a:rPr lang="es-ES" sz="2800" b="1" dirty="0">
                <a:solidFill>
                  <a:schemeClr val="bg1"/>
                </a:solidFill>
              </a:rPr>
              <a:t>suficiente</a:t>
            </a:r>
            <a:r>
              <a:rPr lang="es-ES" sz="2800" dirty="0">
                <a:solidFill>
                  <a:schemeClr val="bg1"/>
                </a:solidFill>
              </a:rPr>
              <a:t> para el archivo, intentando desperdiciar lo menos posible</a:t>
            </a:r>
            <a:endParaRPr lang="en-US" sz="2499" dirty="0">
              <a:solidFill>
                <a:schemeClr val="bg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F34DFE77-AA74-7818-3401-E129C196D0BB}"/>
              </a:ext>
            </a:extLst>
          </p:cNvPr>
          <p:cNvSpPr txBox="1"/>
          <p:nvPr/>
        </p:nvSpPr>
        <p:spPr>
          <a:xfrm>
            <a:off x="7638812" y="7189735"/>
            <a:ext cx="3305451" cy="1115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s-ES" sz="2800" dirty="0">
                <a:solidFill>
                  <a:schemeClr val="bg1"/>
                </a:solidFill>
              </a:rPr>
              <a:t>Asigna el archivo al </a:t>
            </a:r>
            <a:r>
              <a:rPr lang="es-ES" sz="2800" b="1" dirty="0">
                <a:solidFill>
                  <a:schemeClr val="bg1"/>
                </a:solidFill>
              </a:rPr>
              <a:t>bloque libre más grande</a:t>
            </a:r>
            <a:r>
              <a:rPr lang="es-ES" sz="2800" dirty="0">
                <a:solidFill>
                  <a:schemeClr val="bg1"/>
                </a:solidFill>
              </a:rPr>
              <a:t> disponible</a:t>
            </a:r>
            <a:endParaRPr lang="en-US" sz="2499" dirty="0">
              <a:solidFill>
                <a:schemeClr val="bg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C8CE6A6E-00ED-92EB-89CB-7816FD1A6D78}"/>
              </a:ext>
            </a:extLst>
          </p:cNvPr>
          <p:cNvSpPr txBox="1"/>
          <p:nvPr/>
        </p:nvSpPr>
        <p:spPr>
          <a:xfrm>
            <a:off x="12687653" y="6365282"/>
            <a:ext cx="4227119" cy="14875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9"/>
              </a:lnSpc>
            </a:pPr>
            <a:r>
              <a:rPr lang="es-ES" sz="2800" dirty="0">
                <a:solidFill>
                  <a:schemeClr val="bg1"/>
                </a:solidFill>
              </a:rPr>
              <a:t>Busca </a:t>
            </a:r>
            <a:r>
              <a:rPr lang="es-ES" sz="2800" b="1" dirty="0">
                <a:solidFill>
                  <a:schemeClr val="bg1"/>
                </a:solidFill>
              </a:rPr>
              <a:t>el primer bloque libre</a:t>
            </a:r>
            <a:r>
              <a:rPr lang="es-ES" sz="2800" dirty="0">
                <a:solidFill>
                  <a:schemeClr val="bg1"/>
                </a:solidFill>
              </a:rPr>
              <a:t> que sea </a:t>
            </a:r>
            <a:r>
              <a:rPr lang="es-ES" sz="2800" b="1" dirty="0">
                <a:solidFill>
                  <a:schemeClr val="bg1"/>
                </a:solidFill>
              </a:rPr>
              <a:t>lo suficientemente grande</a:t>
            </a:r>
            <a:r>
              <a:rPr lang="es-ES" sz="2800" dirty="0">
                <a:solidFill>
                  <a:schemeClr val="bg1"/>
                </a:solidFill>
              </a:rPr>
              <a:t> para el archivo y lo asigna de inmediato</a:t>
            </a:r>
            <a:endParaRPr lang="en-US" sz="2499" dirty="0">
              <a:solidFill>
                <a:schemeClr val="bg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</p:spTree>
    <p:extLst>
      <p:ext uri="{BB962C8B-B14F-4D97-AF65-F5344CB8AC3E}">
        <p14:creationId xmlns:p14="http://schemas.microsoft.com/office/powerpoint/2010/main" val="380469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7110B-F549-D180-70CC-BA53425D9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02D4F9-66BF-1C88-C078-EC9984EA8C3C}"/>
              </a:ext>
            </a:extLst>
          </p:cNvPr>
          <p:cNvGrpSpPr/>
          <p:nvPr/>
        </p:nvGrpSpPr>
        <p:grpSpPr>
          <a:xfrm>
            <a:off x="-361272" y="-522391"/>
            <a:ext cx="18649272" cy="11212735"/>
            <a:chOff x="0" y="0"/>
            <a:chExt cx="4199680" cy="25250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3368DF34-0CF0-D162-7895-ABD68D7B3E1A}"/>
                </a:ext>
              </a:extLst>
            </p:cNvPr>
            <p:cNvSpPr/>
            <p:nvPr/>
          </p:nvSpPr>
          <p:spPr>
            <a:xfrm>
              <a:off x="0" y="0"/>
              <a:ext cx="4199680" cy="2525026"/>
            </a:xfrm>
            <a:custGeom>
              <a:avLst/>
              <a:gdLst/>
              <a:ahLst/>
              <a:cxnLst/>
              <a:rect l="l" t="t" r="r" b="b"/>
              <a:pathLst>
                <a:path w="4199680" h="2525026">
                  <a:moveTo>
                    <a:pt x="0" y="0"/>
                  </a:moveTo>
                  <a:lnTo>
                    <a:pt x="4199680" y="0"/>
                  </a:lnTo>
                  <a:lnTo>
                    <a:pt x="419968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F0A8878-14ED-1B28-0D98-05A482782DC7}"/>
                </a:ext>
              </a:extLst>
            </p:cNvPr>
            <p:cNvSpPr txBox="1"/>
            <p:nvPr/>
          </p:nvSpPr>
          <p:spPr>
            <a:xfrm>
              <a:off x="0" y="-38100"/>
              <a:ext cx="419968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31011AC-6B7C-F3DC-25A2-262055301FC1}"/>
              </a:ext>
            </a:extLst>
          </p:cNvPr>
          <p:cNvGrpSpPr/>
          <p:nvPr/>
        </p:nvGrpSpPr>
        <p:grpSpPr>
          <a:xfrm>
            <a:off x="616744" y="4381500"/>
            <a:ext cx="7714545" cy="5213367"/>
            <a:chOff x="0" y="0"/>
            <a:chExt cx="1737259" cy="133381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D13ED803-23B4-5F58-BCD8-FD5E4075A0CA}"/>
                </a:ext>
              </a:extLst>
            </p:cNvPr>
            <p:cNvSpPr/>
            <p:nvPr/>
          </p:nvSpPr>
          <p:spPr>
            <a:xfrm>
              <a:off x="0" y="0"/>
              <a:ext cx="1737259" cy="1333812"/>
            </a:xfrm>
            <a:custGeom>
              <a:avLst/>
              <a:gdLst/>
              <a:ahLst/>
              <a:cxnLst/>
              <a:rect l="l" t="t" r="r" b="b"/>
              <a:pathLst>
                <a:path w="1737259" h="1333812">
                  <a:moveTo>
                    <a:pt x="51181" y="0"/>
                  </a:moveTo>
                  <a:lnTo>
                    <a:pt x="1686078" y="0"/>
                  </a:lnTo>
                  <a:cubicBezTo>
                    <a:pt x="1699652" y="0"/>
                    <a:pt x="1712670" y="5392"/>
                    <a:pt x="1722269" y="14991"/>
                  </a:cubicBezTo>
                  <a:cubicBezTo>
                    <a:pt x="1731867" y="24589"/>
                    <a:pt x="1737259" y="37607"/>
                    <a:pt x="1737259" y="51181"/>
                  </a:cubicBezTo>
                  <a:lnTo>
                    <a:pt x="1737259" y="1282631"/>
                  </a:lnTo>
                  <a:cubicBezTo>
                    <a:pt x="1737259" y="1296205"/>
                    <a:pt x="1731867" y="1309223"/>
                    <a:pt x="1722269" y="1318821"/>
                  </a:cubicBezTo>
                  <a:cubicBezTo>
                    <a:pt x="1712670" y="1328419"/>
                    <a:pt x="1699652" y="1333812"/>
                    <a:pt x="1686078" y="1333812"/>
                  </a:cubicBezTo>
                  <a:lnTo>
                    <a:pt x="51181" y="1333812"/>
                  </a:lnTo>
                  <a:cubicBezTo>
                    <a:pt x="37607" y="1333812"/>
                    <a:pt x="24589" y="1328419"/>
                    <a:pt x="14991" y="1318821"/>
                  </a:cubicBezTo>
                  <a:cubicBezTo>
                    <a:pt x="5392" y="1309223"/>
                    <a:pt x="0" y="1296205"/>
                    <a:pt x="0" y="1282631"/>
                  </a:cubicBezTo>
                  <a:lnTo>
                    <a:pt x="0" y="51181"/>
                  </a:lnTo>
                  <a:cubicBezTo>
                    <a:pt x="0" y="37607"/>
                    <a:pt x="5392" y="24589"/>
                    <a:pt x="14991" y="14991"/>
                  </a:cubicBezTo>
                  <a:cubicBezTo>
                    <a:pt x="24589" y="5392"/>
                    <a:pt x="37607" y="0"/>
                    <a:pt x="51181" y="0"/>
                  </a:cubicBezTo>
                  <a:close/>
                </a:path>
              </a:pathLst>
            </a:custGeom>
            <a:solidFill>
              <a:srgbClr val="DAE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BF8F812-A7DA-CAEA-A046-25E88B2B802B}"/>
                </a:ext>
              </a:extLst>
            </p:cNvPr>
            <p:cNvSpPr txBox="1"/>
            <p:nvPr/>
          </p:nvSpPr>
          <p:spPr>
            <a:xfrm>
              <a:off x="0" y="-38100"/>
              <a:ext cx="1737259" cy="137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52214FC-E108-8439-F6D6-A51EF6EE540D}"/>
              </a:ext>
            </a:extLst>
          </p:cNvPr>
          <p:cNvSpPr txBox="1"/>
          <p:nvPr/>
        </p:nvSpPr>
        <p:spPr>
          <a:xfrm>
            <a:off x="1028700" y="1209675"/>
            <a:ext cx="16230600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8000" dirty="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BEST FIT (MEJOR AJUSTE)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A9C0EFB-4618-E2DE-44FB-57E1247FCC2D}"/>
              </a:ext>
            </a:extLst>
          </p:cNvPr>
          <p:cNvSpPr txBox="1"/>
          <p:nvPr/>
        </p:nvSpPr>
        <p:spPr>
          <a:xfrm>
            <a:off x="1070226" y="4999382"/>
            <a:ext cx="6807579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ES" sz="2800" b="1" dirty="0"/>
              <a:t>Ventajas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Reduce el desperdicio inmediato de espacio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Usa el disco de forma más “precisa”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C92BE83E-BBE6-FCB1-A13F-D18BBF0C3DFF}"/>
              </a:ext>
            </a:extLst>
          </p:cNvPr>
          <p:cNvSpPr txBox="1"/>
          <p:nvPr/>
        </p:nvSpPr>
        <p:spPr>
          <a:xfrm>
            <a:off x="1028700" y="2749837"/>
            <a:ext cx="15151740" cy="8783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s-ES" sz="2800" dirty="0">
                <a:solidFill>
                  <a:schemeClr val="bg1"/>
                </a:solidFill>
              </a:rPr>
              <a:t>Busca </a:t>
            </a:r>
            <a:r>
              <a:rPr lang="es-ES" sz="2800" b="1" dirty="0">
                <a:solidFill>
                  <a:schemeClr val="bg1"/>
                </a:solidFill>
              </a:rPr>
              <a:t>el bloque libre más pequeño</a:t>
            </a:r>
            <a:r>
              <a:rPr lang="es-ES" sz="2800" dirty="0">
                <a:solidFill>
                  <a:schemeClr val="bg1"/>
                </a:solidFill>
              </a:rPr>
              <a:t> que sea </a:t>
            </a:r>
            <a:r>
              <a:rPr lang="es-ES" sz="2800" b="1" dirty="0">
                <a:solidFill>
                  <a:schemeClr val="bg1"/>
                </a:solidFill>
              </a:rPr>
              <a:t>suficiente</a:t>
            </a:r>
            <a:r>
              <a:rPr lang="es-ES" sz="2800" dirty="0">
                <a:solidFill>
                  <a:schemeClr val="bg1"/>
                </a:solidFill>
              </a:rPr>
              <a:t> para el archivo, intentando desperdiciar lo menos posible</a:t>
            </a:r>
            <a:endParaRPr lang="en-US" sz="2499" dirty="0">
              <a:solidFill>
                <a:schemeClr val="bg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E0AF00C9-D313-F89A-5B57-B698B10B8EC5}"/>
              </a:ext>
            </a:extLst>
          </p:cNvPr>
          <p:cNvSpPr txBox="1"/>
          <p:nvPr/>
        </p:nvSpPr>
        <p:spPr>
          <a:xfrm>
            <a:off x="1028700" y="6461232"/>
            <a:ext cx="6807579" cy="25853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ES" sz="2800" b="1" dirty="0"/>
              <a:t>Desventajas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Es más lento, porque debe revisar todos los bloques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Produce muchos fragmentos pequeños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A largo plazo puede empeorar la fragmentación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FDE5E3D-D81C-42C9-5607-6508F5784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6459" y="4381500"/>
            <a:ext cx="8657317" cy="5045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471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2789D3-870D-3C1C-6BD0-621FE4CD72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8C87471-0E8B-922F-F0E4-4D4DD4913CA9}"/>
              </a:ext>
            </a:extLst>
          </p:cNvPr>
          <p:cNvGrpSpPr/>
          <p:nvPr/>
        </p:nvGrpSpPr>
        <p:grpSpPr>
          <a:xfrm>
            <a:off x="-361272" y="-522391"/>
            <a:ext cx="18649272" cy="11212735"/>
            <a:chOff x="0" y="0"/>
            <a:chExt cx="4199680" cy="25250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FF7574A-1874-F9BD-C227-7C07D0BD56DD}"/>
                </a:ext>
              </a:extLst>
            </p:cNvPr>
            <p:cNvSpPr/>
            <p:nvPr/>
          </p:nvSpPr>
          <p:spPr>
            <a:xfrm>
              <a:off x="0" y="0"/>
              <a:ext cx="4199680" cy="2525026"/>
            </a:xfrm>
            <a:custGeom>
              <a:avLst/>
              <a:gdLst/>
              <a:ahLst/>
              <a:cxnLst/>
              <a:rect l="l" t="t" r="r" b="b"/>
              <a:pathLst>
                <a:path w="4199680" h="2525026">
                  <a:moveTo>
                    <a:pt x="0" y="0"/>
                  </a:moveTo>
                  <a:lnTo>
                    <a:pt x="4199680" y="0"/>
                  </a:lnTo>
                  <a:lnTo>
                    <a:pt x="419968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5448D1F4-3278-7E60-30A9-A3204FE2BB32}"/>
                </a:ext>
              </a:extLst>
            </p:cNvPr>
            <p:cNvSpPr txBox="1"/>
            <p:nvPr/>
          </p:nvSpPr>
          <p:spPr>
            <a:xfrm>
              <a:off x="0" y="-38100"/>
              <a:ext cx="419968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509E3737-B68D-C4BC-25E1-44DFD1089DD5}"/>
              </a:ext>
            </a:extLst>
          </p:cNvPr>
          <p:cNvSpPr txBox="1"/>
          <p:nvPr/>
        </p:nvSpPr>
        <p:spPr>
          <a:xfrm>
            <a:off x="1028700" y="1209675"/>
            <a:ext cx="16230600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8000" dirty="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BEST FIT (MEJOR AJUSTE)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FE0A3C-D564-962F-0B48-F83B6DBB28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2552700"/>
            <a:ext cx="12192000" cy="7105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3969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244DA-769A-22C9-6DF2-69359C25D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2787E6F1-0995-37E5-0376-998FA49B2E4C}"/>
              </a:ext>
            </a:extLst>
          </p:cNvPr>
          <p:cNvGrpSpPr/>
          <p:nvPr/>
        </p:nvGrpSpPr>
        <p:grpSpPr>
          <a:xfrm>
            <a:off x="-361272" y="-522391"/>
            <a:ext cx="18649272" cy="11212735"/>
            <a:chOff x="0" y="0"/>
            <a:chExt cx="4199680" cy="25250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07A590A-2374-3282-EC73-1F024DEF2E52}"/>
                </a:ext>
              </a:extLst>
            </p:cNvPr>
            <p:cNvSpPr/>
            <p:nvPr/>
          </p:nvSpPr>
          <p:spPr>
            <a:xfrm>
              <a:off x="0" y="0"/>
              <a:ext cx="4199680" cy="2525026"/>
            </a:xfrm>
            <a:custGeom>
              <a:avLst/>
              <a:gdLst/>
              <a:ahLst/>
              <a:cxnLst/>
              <a:rect l="l" t="t" r="r" b="b"/>
              <a:pathLst>
                <a:path w="4199680" h="2525026">
                  <a:moveTo>
                    <a:pt x="0" y="0"/>
                  </a:moveTo>
                  <a:lnTo>
                    <a:pt x="4199680" y="0"/>
                  </a:lnTo>
                  <a:lnTo>
                    <a:pt x="419968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6412F0B-E772-BFAA-440C-D5D0F1DEE72F}"/>
                </a:ext>
              </a:extLst>
            </p:cNvPr>
            <p:cNvSpPr txBox="1"/>
            <p:nvPr/>
          </p:nvSpPr>
          <p:spPr>
            <a:xfrm>
              <a:off x="0" y="-38100"/>
              <a:ext cx="419968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7CA09F3E-1AE8-6B86-F2D5-27E8C48BF6B3}"/>
              </a:ext>
            </a:extLst>
          </p:cNvPr>
          <p:cNvGrpSpPr/>
          <p:nvPr/>
        </p:nvGrpSpPr>
        <p:grpSpPr>
          <a:xfrm>
            <a:off x="616744" y="4381500"/>
            <a:ext cx="7714545" cy="5213367"/>
            <a:chOff x="0" y="0"/>
            <a:chExt cx="1737259" cy="133381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B9B5FE8-FE0C-FD78-544B-8FB360D56611}"/>
                </a:ext>
              </a:extLst>
            </p:cNvPr>
            <p:cNvSpPr/>
            <p:nvPr/>
          </p:nvSpPr>
          <p:spPr>
            <a:xfrm>
              <a:off x="0" y="0"/>
              <a:ext cx="1737259" cy="1333812"/>
            </a:xfrm>
            <a:custGeom>
              <a:avLst/>
              <a:gdLst/>
              <a:ahLst/>
              <a:cxnLst/>
              <a:rect l="l" t="t" r="r" b="b"/>
              <a:pathLst>
                <a:path w="1737259" h="1333812">
                  <a:moveTo>
                    <a:pt x="51181" y="0"/>
                  </a:moveTo>
                  <a:lnTo>
                    <a:pt x="1686078" y="0"/>
                  </a:lnTo>
                  <a:cubicBezTo>
                    <a:pt x="1699652" y="0"/>
                    <a:pt x="1712670" y="5392"/>
                    <a:pt x="1722269" y="14991"/>
                  </a:cubicBezTo>
                  <a:cubicBezTo>
                    <a:pt x="1731867" y="24589"/>
                    <a:pt x="1737259" y="37607"/>
                    <a:pt x="1737259" y="51181"/>
                  </a:cubicBezTo>
                  <a:lnTo>
                    <a:pt x="1737259" y="1282631"/>
                  </a:lnTo>
                  <a:cubicBezTo>
                    <a:pt x="1737259" y="1296205"/>
                    <a:pt x="1731867" y="1309223"/>
                    <a:pt x="1722269" y="1318821"/>
                  </a:cubicBezTo>
                  <a:cubicBezTo>
                    <a:pt x="1712670" y="1328419"/>
                    <a:pt x="1699652" y="1333812"/>
                    <a:pt x="1686078" y="1333812"/>
                  </a:cubicBezTo>
                  <a:lnTo>
                    <a:pt x="51181" y="1333812"/>
                  </a:lnTo>
                  <a:cubicBezTo>
                    <a:pt x="37607" y="1333812"/>
                    <a:pt x="24589" y="1328419"/>
                    <a:pt x="14991" y="1318821"/>
                  </a:cubicBezTo>
                  <a:cubicBezTo>
                    <a:pt x="5392" y="1309223"/>
                    <a:pt x="0" y="1296205"/>
                    <a:pt x="0" y="1282631"/>
                  </a:cubicBezTo>
                  <a:lnTo>
                    <a:pt x="0" y="51181"/>
                  </a:lnTo>
                  <a:cubicBezTo>
                    <a:pt x="0" y="37607"/>
                    <a:pt x="5392" y="24589"/>
                    <a:pt x="14991" y="14991"/>
                  </a:cubicBezTo>
                  <a:cubicBezTo>
                    <a:pt x="24589" y="5392"/>
                    <a:pt x="37607" y="0"/>
                    <a:pt x="51181" y="0"/>
                  </a:cubicBezTo>
                  <a:close/>
                </a:path>
              </a:pathLst>
            </a:custGeom>
            <a:solidFill>
              <a:srgbClr val="DAE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5CE49C1C-B08E-2CCF-919A-349E1EB4645C}"/>
                </a:ext>
              </a:extLst>
            </p:cNvPr>
            <p:cNvSpPr txBox="1"/>
            <p:nvPr/>
          </p:nvSpPr>
          <p:spPr>
            <a:xfrm>
              <a:off x="0" y="-38100"/>
              <a:ext cx="1737259" cy="137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A352E657-EEAB-65EA-8510-E52997A61056}"/>
              </a:ext>
            </a:extLst>
          </p:cNvPr>
          <p:cNvSpPr txBox="1"/>
          <p:nvPr/>
        </p:nvSpPr>
        <p:spPr>
          <a:xfrm>
            <a:off x="1028700" y="1209675"/>
            <a:ext cx="16230600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8000" dirty="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FIRST FIT (PRIMER AJUSTE)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9022A31-DF6B-B60D-0D90-92DE7FC9EF2C}"/>
              </a:ext>
            </a:extLst>
          </p:cNvPr>
          <p:cNvSpPr txBox="1"/>
          <p:nvPr/>
        </p:nvSpPr>
        <p:spPr>
          <a:xfrm>
            <a:off x="1070226" y="4999382"/>
            <a:ext cx="6807579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ES" sz="2800" b="1" dirty="0"/>
              <a:t>Ventajas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Es rápido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Fácil de </a:t>
            </a:r>
            <a:r>
              <a:rPr lang="es-ES" sz="2800" dirty="0" err="1"/>
              <a:t>implementarConsume</a:t>
            </a:r>
            <a:r>
              <a:rPr lang="es-ES" sz="2800" dirty="0"/>
              <a:t> poco tiempo de búsqueda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9641BAC1-C61F-902A-F4CE-C5F19B46AAB3}"/>
              </a:ext>
            </a:extLst>
          </p:cNvPr>
          <p:cNvSpPr txBox="1"/>
          <p:nvPr/>
        </p:nvSpPr>
        <p:spPr>
          <a:xfrm>
            <a:off x="1318155" y="2911935"/>
            <a:ext cx="15151740" cy="429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s-ES" sz="2800" dirty="0">
                <a:solidFill>
                  <a:schemeClr val="bg1"/>
                </a:solidFill>
              </a:rPr>
              <a:t>Busca </a:t>
            </a:r>
            <a:r>
              <a:rPr lang="es-ES" sz="2800" b="1" dirty="0">
                <a:solidFill>
                  <a:schemeClr val="bg1"/>
                </a:solidFill>
              </a:rPr>
              <a:t>el primer bloque libre</a:t>
            </a:r>
            <a:r>
              <a:rPr lang="es-ES" sz="2800" dirty="0">
                <a:solidFill>
                  <a:schemeClr val="bg1"/>
                </a:solidFill>
              </a:rPr>
              <a:t> que sea </a:t>
            </a:r>
            <a:r>
              <a:rPr lang="es-ES" sz="2800" b="1" dirty="0">
                <a:solidFill>
                  <a:schemeClr val="bg1"/>
                </a:solidFill>
              </a:rPr>
              <a:t>lo suficientemente grande</a:t>
            </a:r>
            <a:r>
              <a:rPr lang="es-ES" sz="2800" dirty="0">
                <a:solidFill>
                  <a:schemeClr val="bg1"/>
                </a:solidFill>
              </a:rPr>
              <a:t> para el archivo y lo asigna de inmediato</a:t>
            </a:r>
            <a:endParaRPr lang="en-US" sz="2499" dirty="0">
              <a:solidFill>
                <a:schemeClr val="bg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17A9A427-AA42-1996-E4CD-B8FCC4E4D479}"/>
              </a:ext>
            </a:extLst>
          </p:cNvPr>
          <p:cNvSpPr txBox="1"/>
          <p:nvPr/>
        </p:nvSpPr>
        <p:spPr>
          <a:xfrm>
            <a:off x="1001661" y="6967289"/>
            <a:ext cx="6807579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ES" sz="2800" b="1" dirty="0"/>
              <a:t>Desventajas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Genera fragmentación externa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Los primeros bloques del disco se llenan y se desperdicia espacio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A largo plazo, el rendimiento baja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C12602C-9982-5EC5-E74A-C4B4F58CD0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4025" y="4381499"/>
            <a:ext cx="9086934" cy="521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7678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9E3A8-34A7-59A8-B58D-8F7F1918C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D5264FCB-60C9-5299-FF64-4E901ED1B1A0}"/>
              </a:ext>
            </a:extLst>
          </p:cNvPr>
          <p:cNvGrpSpPr/>
          <p:nvPr/>
        </p:nvGrpSpPr>
        <p:grpSpPr>
          <a:xfrm>
            <a:off x="-361272" y="-522391"/>
            <a:ext cx="18649272" cy="11212735"/>
            <a:chOff x="0" y="0"/>
            <a:chExt cx="4199680" cy="25250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D6E65C48-04A8-37C1-CB9E-19AE257124D2}"/>
                </a:ext>
              </a:extLst>
            </p:cNvPr>
            <p:cNvSpPr/>
            <p:nvPr/>
          </p:nvSpPr>
          <p:spPr>
            <a:xfrm>
              <a:off x="0" y="0"/>
              <a:ext cx="4199680" cy="2525026"/>
            </a:xfrm>
            <a:custGeom>
              <a:avLst/>
              <a:gdLst/>
              <a:ahLst/>
              <a:cxnLst/>
              <a:rect l="l" t="t" r="r" b="b"/>
              <a:pathLst>
                <a:path w="4199680" h="2525026">
                  <a:moveTo>
                    <a:pt x="0" y="0"/>
                  </a:moveTo>
                  <a:lnTo>
                    <a:pt x="4199680" y="0"/>
                  </a:lnTo>
                  <a:lnTo>
                    <a:pt x="419968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10EA5C9C-D5CD-8525-9D6B-2629129E16AF}"/>
                </a:ext>
              </a:extLst>
            </p:cNvPr>
            <p:cNvSpPr txBox="1"/>
            <p:nvPr/>
          </p:nvSpPr>
          <p:spPr>
            <a:xfrm>
              <a:off x="0" y="-38100"/>
              <a:ext cx="419968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1E22DAA-26DB-C673-F7FD-B747044E5904}"/>
              </a:ext>
            </a:extLst>
          </p:cNvPr>
          <p:cNvSpPr txBox="1"/>
          <p:nvPr/>
        </p:nvSpPr>
        <p:spPr>
          <a:xfrm>
            <a:off x="1028700" y="1209675"/>
            <a:ext cx="16230600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8000" dirty="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FIRST FIT (PRIMER AJUSTE)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6711F3F-DF51-F758-C6FA-47EFD2A91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552700"/>
            <a:ext cx="12192000" cy="6994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8074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4F98E-B17A-B90D-343D-D177A5B1F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A07A27E-2100-F622-64B6-475C916954A3}"/>
              </a:ext>
            </a:extLst>
          </p:cNvPr>
          <p:cNvGrpSpPr/>
          <p:nvPr/>
        </p:nvGrpSpPr>
        <p:grpSpPr>
          <a:xfrm>
            <a:off x="-361272" y="-522391"/>
            <a:ext cx="18649272" cy="11212735"/>
            <a:chOff x="0" y="0"/>
            <a:chExt cx="4199680" cy="25250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B07638A5-D090-ACA7-D087-7371B7E5CAAF}"/>
                </a:ext>
              </a:extLst>
            </p:cNvPr>
            <p:cNvSpPr/>
            <p:nvPr/>
          </p:nvSpPr>
          <p:spPr>
            <a:xfrm>
              <a:off x="0" y="0"/>
              <a:ext cx="4199680" cy="2525026"/>
            </a:xfrm>
            <a:custGeom>
              <a:avLst/>
              <a:gdLst/>
              <a:ahLst/>
              <a:cxnLst/>
              <a:rect l="l" t="t" r="r" b="b"/>
              <a:pathLst>
                <a:path w="4199680" h="2525026">
                  <a:moveTo>
                    <a:pt x="0" y="0"/>
                  </a:moveTo>
                  <a:lnTo>
                    <a:pt x="4199680" y="0"/>
                  </a:lnTo>
                  <a:lnTo>
                    <a:pt x="419968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7806E21F-1952-5A88-709E-99583204787D}"/>
                </a:ext>
              </a:extLst>
            </p:cNvPr>
            <p:cNvSpPr txBox="1"/>
            <p:nvPr/>
          </p:nvSpPr>
          <p:spPr>
            <a:xfrm>
              <a:off x="0" y="-38100"/>
              <a:ext cx="419968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6830578D-2152-FEC9-6676-1E3056091077}"/>
              </a:ext>
            </a:extLst>
          </p:cNvPr>
          <p:cNvGrpSpPr/>
          <p:nvPr/>
        </p:nvGrpSpPr>
        <p:grpSpPr>
          <a:xfrm>
            <a:off x="616744" y="4381500"/>
            <a:ext cx="7714545" cy="5213367"/>
            <a:chOff x="0" y="0"/>
            <a:chExt cx="1737259" cy="133381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C3C88368-9E8D-99A3-D7C2-89D23F090F45}"/>
                </a:ext>
              </a:extLst>
            </p:cNvPr>
            <p:cNvSpPr/>
            <p:nvPr/>
          </p:nvSpPr>
          <p:spPr>
            <a:xfrm>
              <a:off x="0" y="0"/>
              <a:ext cx="1737259" cy="1333812"/>
            </a:xfrm>
            <a:custGeom>
              <a:avLst/>
              <a:gdLst/>
              <a:ahLst/>
              <a:cxnLst/>
              <a:rect l="l" t="t" r="r" b="b"/>
              <a:pathLst>
                <a:path w="1737259" h="1333812">
                  <a:moveTo>
                    <a:pt x="51181" y="0"/>
                  </a:moveTo>
                  <a:lnTo>
                    <a:pt x="1686078" y="0"/>
                  </a:lnTo>
                  <a:cubicBezTo>
                    <a:pt x="1699652" y="0"/>
                    <a:pt x="1712670" y="5392"/>
                    <a:pt x="1722269" y="14991"/>
                  </a:cubicBezTo>
                  <a:cubicBezTo>
                    <a:pt x="1731867" y="24589"/>
                    <a:pt x="1737259" y="37607"/>
                    <a:pt x="1737259" y="51181"/>
                  </a:cubicBezTo>
                  <a:lnTo>
                    <a:pt x="1737259" y="1282631"/>
                  </a:lnTo>
                  <a:cubicBezTo>
                    <a:pt x="1737259" y="1296205"/>
                    <a:pt x="1731867" y="1309223"/>
                    <a:pt x="1722269" y="1318821"/>
                  </a:cubicBezTo>
                  <a:cubicBezTo>
                    <a:pt x="1712670" y="1328419"/>
                    <a:pt x="1699652" y="1333812"/>
                    <a:pt x="1686078" y="1333812"/>
                  </a:cubicBezTo>
                  <a:lnTo>
                    <a:pt x="51181" y="1333812"/>
                  </a:lnTo>
                  <a:cubicBezTo>
                    <a:pt x="37607" y="1333812"/>
                    <a:pt x="24589" y="1328419"/>
                    <a:pt x="14991" y="1318821"/>
                  </a:cubicBezTo>
                  <a:cubicBezTo>
                    <a:pt x="5392" y="1309223"/>
                    <a:pt x="0" y="1296205"/>
                    <a:pt x="0" y="1282631"/>
                  </a:cubicBezTo>
                  <a:lnTo>
                    <a:pt x="0" y="51181"/>
                  </a:lnTo>
                  <a:cubicBezTo>
                    <a:pt x="0" y="37607"/>
                    <a:pt x="5392" y="24589"/>
                    <a:pt x="14991" y="14991"/>
                  </a:cubicBezTo>
                  <a:cubicBezTo>
                    <a:pt x="24589" y="5392"/>
                    <a:pt x="37607" y="0"/>
                    <a:pt x="51181" y="0"/>
                  </a:cubicBezTo>
                  <a:close/>
                </a:path>
              </a:pathLst>
            </a:custGeom>
            <a:solidFill>
              <a:srgbClr val="DAE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CA40E881-2370-3EF3-42AD-AFF6C74EB100}"/>
                </a:ext>
              </a:extLst>
            </p:cNvPr>
            <p:cNvSpPr txBox="1"/>
            <p:nvPr/>
          </p:nvSpPr>
          <p:spPr>
            <a:xfrm>
              <a:off x="0" y="-38100"/>
              <a:ext cx="1737259" cy="137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BC51345-659F-DF3D-4EB2-EA937FFEAA12}"/>
              </a:ext>
            </a:extLst>
          </p:cNvPr>
          <p:cNvSpPr txBox="1"/>
          <p:nvPr/>
        </p:nvSpPr>
        <p:spPr>
          <a:xfrm>
            <a:off x="1028700" y="1209675"/>
            <a:ext cx="16230600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8000" dirty="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WORST FIT (PEOR AJUSTE)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45BDEC8-B1BB-8CDD-8D60-78F7F9F9A519}"/>
              </a:ext>
            </a:extLst>
          </p:cNvPr>
          <p:cNvSpPr txBox="1"/>
          <p:nvPr/>
        </p:nvSpPr>
        <p:spPr>
          <a:xfrm>
            <a:off x="1070226" y="4999382"/>
            <a:ext cx="6807579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ES" sz="2800" b="1" dirty="0"/>
              <a:t>Ventajas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Deja bloques medianos para futuros archivos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Reduce la creación de fragmentos muy pequeños</a:t>
            </a:r>
          </a:p>
        </p:txBody>
      </p:sp>
      <p:sp>
        <p:nvSpPr>
          <p:cNvPr id="14" name="TextBox 9">
            <a:extLst>
              <a:ext uri="{FF2B5EF4-FFF2-40B4-BE49-F238E27FC236}">
                <a16:creationId xmlns:a16="http://schemas.microsoft.com/office/drawing/2014/main" id="{139200DD-3942-EF40-8EF8-C36BFDE1368D}"/>
              </a:ext>
            </a:extLst>
          </p:cNvPr>
          <p:cNvSpPr txBox="1"/>
          <p:nvPr/>
        </p:nvSpPr>
        <p:spPr>
          <a:xfrm>
            <a:off x="1318155" y="2911935"/>
            <a:ext cx="15151740" cy="4295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es-ES" sz="2800" dirty="0">
                <a:solidFill>
                  <a:schemeClr val="bg1"/>
                </a:solidFill>
              </a:rPr>
              <a:t>Asigna el archivo al </a:t>
            </a:r>
            <a:r>
              <a:rPr lang="es-ES" sz="2800" b="1" dirty="0">
                <a:solidFill>
                  <a:schemeClr val="bg1"/>
                </a:solidFill>
              </a:rPr>
              <a:t>bloque libre más grande</a:t>
            </a:r>
            <a:r>
              <a:rPr lang="es-ES" sz="2800" dirty="0">
                <a:solidFill>
                  <a:schemeClr val="bg1"/>
                </a:solidFill>
              </a:rPr>
              <a:t> disponible.</a:t>
            </a:r>
            <a:endParaRPr lang="en-US" sz="2499" dirty="0">
              <a:solidFill>
                <a:schemeClr val="bg1"/>
              </a:solidFill>
              <a:latin typeface="Lexend Deca"/>
              <a:ea typeface="Lexend Deca"/>
              <a:cs typeface="Lexend Deca"/>
              <a:sym typeface="Lexend Deca"/>
            </a:endParaRPr>
          </a:p>
        </p:txBody>
      </p:sp>
      <p:sp>
        <p:nvSpPr>
          <p:cNvPr id="15" name="TextBox 9">
            <a:extLst>
              <a:ext uri="{FF2B5EF4-FFF2-40B4-BE49-F238E27FC236}">
                <a16:creationId xmlns:a16="http://schemas.microsoft.com/office/drawing/2014/main" id="{DE1F393B-2250-78FD-B7BB-09366ED8F1B6}"/>
              </a:ext>
            </a:extLst>
          </p:cNvPr>
          <p:cNvSpPr txBox="1"/>
          <p:nvPr/>
        </p:nvSpPr>
        <p:spPr>
          <a:xfrm>
            <a:off x="1028700" y="7353776"/>
            <a:ext cx="6807579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ES" sz="2800" b="1" dirty="0"/>
              <a:t>Desventajas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Desperdicia mucho espacio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No es eficiente en uso del disco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s-ES" sz="2800" dirty="0"/>
              <a:t>Menos utilizado en sistemas reales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01B806E-0640-0C4F-3280-AFF0859E90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4771" y="4381500"/>
            <a:ext cx="9178077" cy="5213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953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4BB3BE-AC47-A86F-FB78-7FB672FAD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AD1BADF-C504-228C-9486-C5CC41C01681}"/>
              </a:ext>
            </a:extLst>
          </p:cNvPr>
          <p:cNvGrpSpPr/>
          <p:nvPr/>
        </p:nvGrpSpPr>
        <p:grpSpPr>
          <a:xfrm>
            <a:off x="-361272" y="-522391"/>
            <a:ext cx="18649272" cy="11212735"/>
            <a:chOff x="0" y="0"/>
            <a:chExt cx="4199680" cy="25250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7C7312E5-1757-BF7B-9F29-F468415985C5}"/>
                </a:ext>
              </a:extLst>
            </p:cNvPr>
            <p:cNvSpPr/>
            <p:nvPr/>
          </p:nvSpPr>
          <p:spPr>
            <a:xfrm>
              <a:off x="0" y="0"/>
              <a:ext cx="4199680" cy="2525026"/>
            </a:xfrm>
            <a:custGeom>
              <a:avLst/>
              <a:gdLst/>
              <a:ahLst/>
              <a:cxnLst/>
              <a:rect l="l" t="t" r="r" b="b"/>
              <a:pathLst>
                <a:path w="4199680" h="2525026">
                  <a:moveTo>
                    <a:pt x="0" y="0"/>
                  </a:moveTo>
                  <a:lnTo>
                    <a:pt x="4199680" y="0"/>
                  </a:lnTo>
                  <a:lnTo>
                    <a:pt x="419968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CAEC6A5A-603D-0A57-C897-5D11CE08E442}"/>
                </a:ext>
              </a:extLst>
            </p:cNvPr>
            <p:cNvSpPr txBox="1"/>
            <p:nvPr/>
          </p:nvSpPr>
          <p:spPr>
            <a:xfrm>
              <a:off x="0" y="-38100"/>
              <a:ext cx="419968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7C4A14D6-8E45-4DE2-B844-1AE8DC9F7F80}"/>
              </a:ext>
            </a:extLst>
          </p:cNvPr>
          <p:cNvSpPr txBox="1"/>
          <p:nvPr/>
        </p:nvSpPr>
        <p:spPr>
          <a:xfrm>
            <a:off x="1028700" y="1209675"/>
            <a:ext cx="16230600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8000" dirty="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WORST FIT (PEOR AJUSTE)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9674483-17EF-8238-9BB2-E17152D639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0" y="2628900"/>
            <a:ext cx="12573000" cy="714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58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A28420-C839-F455-9C64-BC42567EC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49C5327-7A5C-0D54-5C1C-C6923B17A344}"/>
              </a:ext>
            </a:extLst>
          </p:cNvPr>
          <p:cNvGrpSpPr/>
          <p:nvPr/>
        </p:nvGrpSpPr>
        <p:grpSpPr>
          <a:xfrm>
            <a:off x="-361272" y="-927018"/>
            <a:ext cx="18649272" cy="11212735"/>
            <a:chOff x="0" y="0"/>
            <a:chExt cx="4199680" cy="2525026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609C982E-FF22-0A08-C4A6-535830C24027}"/>
                </a:ext>
              </a:extLst>
            </p:cNvPr>
            <p:cNvSpPr/>
            <p:nvPr/>
          </p:nvSpPr>
          <p:spPr>
            <a:xfrm>
              <a:off x="0" y="0"/>
              <a:ext cx="4199680" cy="2525026"/>
            </a:xfrm>
            <a:custGeom>
              <a:avLst/>
              <a:gdLst/>
              <a:ahLst/>
              <a:cxnLst/>
              <a:rect l="l" t="t" r="r" b="b"/>
              <a:pathLst>
                <a:path w="4199680" h="2525026">
                  <a:moveTo>
                    <a:pt x="0" y="0"/>
                  </a:moveTo>
                  <a:lnTo>
                    <a:pt x="4199680" y="0"/>
                  </a:lnTo>
                  <a:lnTo>
                    <a:pt x="4199680" y="2525026"/>
                  </a:lnTo>
                  <a:lnTo>
                    <a:pt x="0" y="2525026"/>
                  </a:ln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F4AAFB86-7A19-4FEC-990D-538AA881B051}"/>
                </a:ext>
              </a:extLst>
            </p:cNvPr>
            <p:cNvSpPr txBox="1"/>
            <p:nvPr/>
          </p:nvSpPr>
          <p:spPr>
            <a:xfrm>
              <a:off x="0" y="-38100"/>
              <a:ext cx="4199680" cy="25631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8" name="TextBox 8">
            <a:extLst>
              <a:ext uri="{FF2B5EF4-FFF2-40B4-BE49-F238E27FC236}">
                <a16:creationId xmlns:a16="http://schemas.microsoft.com/office/drawing/2014/main" id="{1C436907-C950-9783-335F-07EC6EE515B2}"/>
              </a:ext>
            </a:extLst>
          </p:cNvPr>
          <p:cNvSpPr txBox="1"/>
          <p:nvPr/>
        </p:nvSpPr>
        <p:spPr>
          <a:xfrm>
            <a:off x="1028700" y="1209675"/>
            <a:ext cx="16230600" cy="987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80"/>
              </a:lnSpc>
            </a:pPr>
            <a:r>
              <a:rPr lang="en-US" sz="8000" dirty="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TIPOS DE FRAGMENTACION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48D114FB-9BF5-38B5-F5D1-92625739C55E}"/>
              </a:ext>
            </a:extLst>
          </p:cNvPr>
          <p:cNvGrpSpPr/>
          <p:nvPr/>
        </p:nvGrpSpPr>
        <p:grpSpPr>
          <a:xfrm>
            <a:off x="604713" y="3452598"/>
            <a:ext cx="7714545" cy="2525650"/>
            <a:chOff x="0" y="0"/>
            <a:chExt cx="1737259" cy="1333812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5AF6F37-C8D1-AA1E-7D39-C0E02EB8643F}"/>
                </a:ext>
              </a:extLst>
            </p:cNvPr>
            <p:cNvSpPr/>
            <p:nvPr/>
          </p:nvSpPr>
          <p:spPr>
            <a:xfrm>
              <a:off x="0" y="0"/>
              <a:ext cx="1737259" cy="1333812"/>
            </a:xfrm>
            <a:custGeom>
              <a:avLst/>
              <a:gdLst/>
              <a:ahLst/>
              <a:cxnLst/>
              <a:rect l="l" t="t" r="r" b="b"/>
              <a:pathLst>
                <a:path w="1737259" h="1333812">
                  <a:moveTo>
                    <a:pt x="51181" y="0"/>
                  </a:moveTo>
                  <a:lnTo>
                    <a:pt x="1686078" y="0"/>
                  </a:lnTo>
                  <a:cubicBezTo>
                    <a:pt x="1699652" y="0"/>
                    <a:pt x="1712670" y="5392"/>
                    <a:pt x="1722269" y="14991"/>
                  </a:cubicBezTo>
                  <a:cubicBezTo>
                    <a:pt x="1731867" y="24589"/>
                    <a:pt x="1737259" y="37607"/>
                    <a:pt x="1737259" y="51181"/>
                  </a:cubicBezTo>
                  <a:lnTo>
                    <a:pt x="1737259" y="1282631"/>
                  </a:lnTo>
                  <a:cubicBezTo>
                    <a:pt x="1737259" y="1296205"/>
                    <a:pt x="1731867" y="1309223"/>
                    <a:pt x="1722269" y="1318821"/>
                  </a:cubicBezTo>
                  <a:cubicBezTo>
                    <a:pt x="1712670" y="1328419"/>
                    <a:pt x="1699652" y="1333812"/>
                    <a:pt x="1686078" y="1333812"/>
                  </a:cubicBezTo>
                  <a:lnTo>
                    <a:pt x="51181" y="1333812"/>
                  </a:lnTo>
                  <a:cubicBezTo>
                    <a:pt x="37607" y="1333812"/>
                    <a:pt x="24589" y="1328419"/>
                    <a:pt x="14991" y="1318821"/>
                  </a:cubicBezTo>
                  <a:cubicBezTo>
                    <a:pt x="5392" y="1309223"/>
                    <a:pt x="0" y="1296205"/>
                    <a:pt x="0" y="1282631"/>
                  </a:cubicBezTo>
                  <a:lnTo>
                    <a:pt x="0" y="51181"/>
                  </a:lnTo>
                  <a:cubicBezTo>
                    <a:pt x="0" y="37607"/>
                    <a:pt x="5392" y="24589"/>
                    <a:pt x="14991" y="14991"/>
                  </a:cubicBezTo>
                  <a:cubicBezTo>
                    <a:pt x="24589" y="5392"/>
                    <a:pt x="37607" y="0"/>
                    <a:pt x="51181" y="0"/>
                  </a:cubicBezTo>
                  <a:close/>
                </a:path>
              </a:pathLst>
            </a:custGeom>
            <a:solidFill>
              <a:srgbClr val="DAE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B5242BB-6090-FC6C-0E7F-DF218259A91E}"/>
                </a:ext>
              </a:extLst>
            </p:cNvPr>
            <p:cNvSpPr txBox="1"/>
            <p:nvPr/>
          </p:nvSpPr>
          <p:spPr>
            <a:xfrm>
              <a:off x="0" y="-38100"/>
              <a:ext cx="1737259" cy="137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" name="TextBox 9">
            <a:extLst>
              <a:ext uri="{FF2B5EF4-FFF2-40B4-BE49-F238E27FC236}">
                <a16:creationId xmlns:a16="http://schemas.microsoft.com/office/drawing/2014/main" id="{5ED59283-9977-CDDF-297C-7FFC793A172E}"/>
              </a:ext>
            </a:extLst>
          </p:cNvPr>
          <p:cNvSpPr txBox="1"/>
          <p:nvPr/>
        </p:nvSpPr>
        <p:spPr>
          <a:xfrm>
            <a:off x="1058197" y="3905350"/>
            <a:ext cx="6807579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ES" sz="2800" b="1" dirty="0"/>
              <a:t>FRAGMENTACION INTERNTA</a:t>
            </a:r>
          </a:p>
          <a:p>
            <a:r>
              <a:rPr lang="es-ES" sz="2800" dirty="0"/>
              <a:t>Sucede cuando el espacio asignado es mayor al que realmente necesita el proceso o archivo, y lo que sobra no se puede usar</a:t>
            </a:r>
          </a:p>
        </p:txBody>
      </p:sp>
      <p:grpSp>
        <p:nvGrpSpPr>
          <p:cNvPr id="12" name="Group 5">
            <a:extLst>
              <a:ext uri="{FF2B5EF4-FFF2-40B4-BE49-F238E27FC236}">
                <a16:creationId xmlns:a16="http://schemas.microsoft.com/office/drawing/2014/main" id="{E7A9EFE4-2F85-8517-2E93-5EF5BF66A396}"/>
              </a:ext>
            </a:extLst>
          </p:cNvPr>
          <p:cNvGrpSpPr/>
          <p:nvPr/>
        </p:nvGrpSpPr>
        <p:grpSpPr>
          <a:xfrm>
            <a:off x="9144000" y="3479624"/>
            <a:ext cx="7714545" cy="2525650"/>
            <a:chOff x="0" y="0"/>
            <a:chExt cx="1737259" cy="1333812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DB3286A-1191-AA76-75DB-E8A3FEA980D5}"/>
                </a:ext>
              </a:extLst>
            </p:cNvPr>
            <p:cNvSpPr/>
            <p:nvPr/>
          </p:nvSpPr>
          <p:spPr>
            <a:xfrm>
              <a:off x="0" y="0"/>
              <a:ext cx="1737259" cy="1333812"/>
            </a:xfrm>
            <a:custGeom>
              <a:avLst/>
              <a:gdLst/>
              <a:ahLst/>
              <a:cxnLst/>
              <a:rect l="l" t="t" r="r" b="b"/>
              <a:pathLst>
                <a:path w="1737259" h="1333812">
                  <a:moveTo>
                    <a:pt x="51181" y="0"/>
                  </a:moveTo>
                  <a:lnTo>
                    <a:pt x="1686078" y="0"/>
                  </a:lnTo>
                  <a:cubicBezTo>
                    <a:pt x="1699652" y="0"/>
                    <a:pt x="1712670" y="5392"/>
                    <a:pt x="1722269" y="14991"/>
                  </a:cubicBezTo>
                  <a:cubicBezTo>
                    <a:pt x="1731867" y="24589"/>
                    <a:pt x="1737259" y="37607"/>
                    <a:pt x="1737259" y="51181"/>
                  </a:cubicBezTo>
                  <a:lnTo>
                    <a:pt x="1737259" y="1282631"/>
                  </a:lnTo>
                  <a:cubicBezTo>
                    <a:pt x="1737259" y="1296205"/>
                    <a:pt x="1731867" y="1309223"/>
                    <a:pt x="1722269" y="1318821"/>
                  </a:cubicBezTo>
                  <a:cubicBezTo>
                    <a:pt x="1712670" y="1328419"/>
                    <a:pt x="1699652" y="1333812"/>
                    <a:pt x="1686078" y="1333812"/>
                  </a:cubicBezTo>
                  <a:lnTo>
                    <a:pt x="51181" y="1333812"/>
                  </a:lnTo>
                  <a:cubicBezTo>
                    <a:pt x="37607" y="1333812"/>
                    <a:pt x="24589" y="1328419"/>
                    <a:pt x="14991" y="1318821"/>
                  </a:cubicBezTo>
                  <a:cubicBezTo>
                    <a:pt x="5392" y="1309223"/>
                    <a:pt x="0" y="1296205"/>
                    <a:pt x="0" y="1282631"/>
                  </a:cubicBezTo>
                  <a:lnTo>
                    <a:pt x="0" y="51181"/>
                  </a:lnTo>
                  <a:cubicBezTo>
                    <a:pt x="0" y="37607"/>
                    <a:pt x="5392" y="24589"/>
                    <a:pt x="14991" y="14991"/>
                  </a:cubicBezTo>
                  <a:cubicBezTo>
                    <a:pt x="24589" y="5392"/>
                    <a:pt x="37607" y="0"/>
                    <a:pt x="51181" y="0"/>
                  </a:cubicBezTo>
                  <a:close/>
                </a:path>
              </a:pathLst>
            </a:custGeom>
            <a:solidFill>
              <a:srgbClr val="DAE9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7">
              <a:extLst>
                <a:ext uri="{FF2B5EF4-FFF2-40B4-BE49-F238E27FC236}">
                  <a16:creationId xmlns:a16="http://schemas.microsoft.com/office/drawing/2014/main" id="{D507F784-0EB4-C67C-657D-74915978FD19}"/>
                </a:ext>
              </a:extLst>
            </p:cNvPr>
            <p:cNvSpPr txBox="1"/>
            <p:nvPr/>
          </p:nvSpPr>
          <p:spPr>
            <a:xfrm>
              <a:off x="0" y="-38100"/>
              <a:ext cx="1737259" cy="13719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E2989B0-71C0-1CC7-8CF8-B17BEED3EE2E}"/>
              </a:ext>
            </a:extLst>
          </p:cNvPr>
          <p:cNvSpPr txBox="1"/>
          <p:nvPr/>
        </p:nvSpPr>
        <p:spPr>
          <a:xfrm>
            <a:off x="9597482" y="3880674"/>
            <a:ext cx="6807579" cy="17235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s-ES" sz="2800" b="1" dirty="0"/>
              <a:t>FRAGMENTACION EXTERNTA</a:t>
            </a:r>
          </a:p>
          <a:p>
            <a:r>
              <a:rPr lang="es-ES" sz="2800" dirty="0"/>
              <a:t>Sucede cuando hay espacio libre suficiente, pero no está contiguo, por lo que no se puede usar para una asignación grande.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0F4A912A-51CD-77AD-054C-B88776FEB6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9587" y="6703585"/>
            <a:ext cx="8376743" cy="245379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60124BC-749D-3EA2-CFC4-0111A05549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504596"/>
            <a:ext cx="8345349" cy="2874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8326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2285506" y="-4771437"/>
            <a:ext cx="22859012" cy="17585432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028700" y="3572517"/>
            <a:ext cx="16230600" cy="3609353"/>
            <a:chOff x="0" y="0"/>
            <a:chExt cx="365501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5013" cy="812800"/>
            </a:xfrm>
            <a:custGeom>
              <a:avLst/>
              <a:gdLst/>
              <a:ahLst/>
              <a:cxnLst/>
              <a:rect l="l" t="t" r="r" b="b"/>
              <a:pathLst>
                <a:path w="3655013" h="812800">
                  <a:moveTo>
                    <a:pt x="24327" y="0"/>
                  </a:moveTo>
                  <a:lnTo>
                    <a:pt x="3630686" y="0"/>
                  </a:lnTo>
                  <a:cubicBezTo>
                    <a:pt x="3644121" y="0"/>
                    <a:pt x="3655013" y="10891"/>
                    <a:pt x="3655013" y="24327"/>
                  </a:cubicBezTo>
                  <a:lnTo>
                    <a:pt x="3655013" y="788473"/>
                  </a:lnTo>
                  <a:cubicBezTo>
                    <a:pt x="3655013" y="801909"/>
                    <a:pt x="3644121" y="812800"/>
                    <a:pt x="3630686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5501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52563" y="3774454"/>
            <a:ext cx="14982874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OPERACIONES BÁSICAS DE ARCHIVOS, PERMISOS Y SEGURIDAD EN ARCHIVOS, BUENAS PRÁCTICAS PARA EL MANEJO EFICIENTE DE ARCHIVOS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33669" y="7649422"/>
            <a:ext cx="9220662" cy="738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28"/>
              </a:lnSpc>
            </a:pPr>
            <a:r>
              <a:rPr lang="en-US" sz="4306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CONCEPTOS CLAVE APRENDIDOS</a:t>
            </a:r>
          </a:p>
        </p:txBody>
      </p:sp>
    </p:spTree>
    <p:extLst>
      <p:ext uri="{BB962C8B-B14F-4D97-AF65-F5344CB8AC3E}">
        <p14:creationId xmlns:p14="http://schemas.microsoft.com/office/powerpoint/2010/main" val="30061290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2285506" y="-4771437"/>
            <a:ext cx="22859012" cy="17585432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028700" y="3572517"/>
            <a:ext cx="16230600" cy="3609353"/>
            <a:chOff x="0" y="0"/>
            <a:chExt cx="365501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5013" cy="812800"/>
            </a:xfrm>
            <a:custGeom>
              <a:avLst/>
              <a:gdLst/>
              <a:ahLst/>
              <a:cxnLst/>
              <a:rect l="l" t="t" r="r" b="b"/>
              <a:pathLst>
                <a:path w="3655013" h="812800">
                  <a:moveTo>
                    <a:pt x="24327" y="0"/>
                  </a:moveTo>
                  <a:lnTo>
                    <a:pt x="3630686" y="0"/>
                  </a:lnTo>
                  <a:cubicBezTo>
                    <a:pt x="3644121" y="0"/>
                    <a:pt x="3655013" y="10891"/>
                    <a:pt x="3655013" y="24327"/>
                  </a:cubicBezTo>
                  <a:lnTo>
                    <a:pt x="3655013" y="788473"/>
                  </a:lnTo>
                  <a:cubicBezTo>
                    <a:pt x="3655013" y="801909"/>
                    <a:pt x="3644121" y="812800"/>
                    <a:pt x="3630686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5501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52563" y="3695397"/>
            <a:ext cx="14982874" cy="3277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179"/>
              </a:lnSpc>
            </a:pPr>
            <a:r>
              <a:rPr lang="en-US" sz="3699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 LA IMPLEMENTACIÓN DE SISTEMAS DE ARCHIVOS Y LA GESTIÓN DE DATOS Y/O INFORMACIÓN REQUIEREN UN ENFOQUE CONSTANTE Y RESPONSABLE PARA GARANTIZAR LA CORRECTA EJECUCIÓN DE LAS OPERACIONES. FOMENTAR ESTE VALOR PERMITIRÁ A LOS ESTUDIANTES MANTENER UN ALTO ESTÁNDAR EN EL TRABAJO TÉCNICO, ASEGURANDO SOLUCIONES EFECTIVAS Y SEGURAS.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33669" y="7668472"/>
            <a:ext cx="9220662" cy="5638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lang="en-US" sz="33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VALOR DE LA SEMANA: RESPONSABILIDAD</a:t>
            </a:r>
          </a:p>
        </p:txBody>
      </p:sp>
    </p:spTree>
    <p:extLst>
      <p:ext uri="{BB962C8B-B14F-4D97-AF65-F5344CB8AC3E}">
        <p14:creationId xmlns:p14="http://schemas.microsoft.com/office/powerpoint/2010/main" val="10604907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"/>
          <p:cNvSpPr txBox="1"/>
          <p:nvPr/>
        </p:nvSpPr>
        <p:spPr>
          <a:xfrm>
            <a:off x="2148439" y="1891819"/>
            <a:ext cx="13991100" cy="10604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 dirty="0" err="1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Ejemplo</a:t>
            </a:r>
            <a:r>
              <a:rPr lang="en-US" sz="6098" b="0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 </a:t>
            </a:r>
            <a:r>
              <a:rPr lang="en-US" sz="6098" b="0" i="0" u="none" strike="noStrike" cap="none" dirty="0" err="1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práctico</a:t>
            </a:r>
            <a:endParaRPr sz="6098" b="0" i="0" u="none" strike="noStrike" cap="none" dirty="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435" name="Google Shape;435;p3"/>
          <p:cNvSpPr txBox="1"/>
          <p:nvPr/>
        </p:nvSpPr>
        <p:spPr>
          <a:xfrm>
            <a:off x="2148439" y="3783635"/>
            <a:ext cx="13991100" cy="9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endParaRPr sz="6098" b="0" i="0" u="none" strike="noStrike" cap="none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436" name="Google Shape;436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38914" y="2135666"/>
            <a:ext cx="501015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4"/>
          <p:cNvSpPr txBox="1"/>
          <p:nvPr/>
        </p:nvSpPr>
        <p:spPr>
          <a:xfrm>
            <a:off x="2346147" y="2088423"/>
            <a:ext cx="13991100" cy="3181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b="0" i="0" u="none" strike="noStrike" cap="none" dirty="0" err="1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Practiquemos</a:t>
            </a:r>
            <a:r>
              <a:rPr lang="en-US" sz="6098" b="0" i="0" u="none" strike="noStrike" cap="none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 lo </a:t>
            </a:r>
            <a:r>
              <a:rPr lang="en-US" sz="6098" b="0" i="0" u="none" strike="noStrike" cap="none" dirty="0" err="1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aprendido</a:t>
            </a:r>
            <a:endParaRPr sz="6098" b="0" i="0" u="none" strike="noStrike" cap="none" dirty="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endParaRPr sz="6098" b="0" i="0" u="none" strike="noStrike" cap="none" dirty="0">
              <a:solidFill>
                <a:srgbClr val="131416"/>
              </a:solidFill>
              <a:latin typeface="Impact"/>
              <a:ea typeface="Impact"/>
              <a:cs typeface="Impact"/>
              <a:sym typeface="Impact"/>
            </a:endParaRPr>
          </a:p>
          <a:p>
            <a:pPr marL="0" marR="0" lvl="0" indent="0" algn="ctr" rtl="0">
              <a:lnSpc>
                <a:spcPct val="11298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98"/>
              <a:buFont typeface="Arial"/>
              <a:buNone/>
            </a:pPr>
            <a:r>
              <a:rPr lang="en-US" sz="6098" dirty="0">
                <a:solidFill>
                  <a:srgbClr val="131416"/>
                </a:solidFill>
                <a:latin typeface="Impact"/>
                <a:ea typeface="Impact"/>
                <a:cs typeface="Impact"/>
                <a:sym typeface="Impact"/>
              </a:rPr>
              <a:t>Corto 4</a:t>
            </a:r>
            <a:endParaRPr sz="1400" b="0" i="0" u="none" strike="noStrike" cap="none" dirty="0">
              <a:solidFill>
                <a:srgbClr val="000000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442" name="Google Shape;442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71888" y="3176539"/>
            <a:ext cx="5201957" cy="5348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Google Shape;458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20065" y="1833176"/>
            <a:ext cx="9753600" cy="6076950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0"/>
          <p:cNvSpPr txBox="1"/>
          <p:nvPr/>
        </p:nvSpPr>
        <p:spPr>
          <a:xfrm>
            <a:off x="5791489" y="6796953"/>
            <a:ext cx="6705000" cy="76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8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lang="en-US" sz="5000" b="0" i="0" u="none" strike="noStrike" cap="none">
                <a:solidFill>
                  <a:srgbClr val="131416"/>
                </a:solidFill>
                <a:latin typeface="Arial"/>
                <a:ea typeface="Arial"/>
                <a:cs typeface="Arial"/>
                <a:sym typeface="Arial"/>
              </a:rPr>
              <a:t>DUDAS ¿?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AE9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>
            <a:alphaModFix amt="60000"/>
          </a:blip>
          <a:stretch>
            <a:fillRect/>
          </a:stretch>
        </p:blipFill>
        <p:spPr>
          <a:xfrm>
            <a:off x="-2285506" y="-4771437"/>
            <a:ext cx="22859012" cy="17585432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>
            <a:off x="1028700" y="3572517"/>
            <a:ext cx="16230600" cy="3609353"/>
            <a:chOff x="0" y="0"/>
            <a:chExt cx="3655013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655013" cy="812800"/>
            </a:xfrm>
            <a:custGeom>
              <a:avLst/>
              <a:gdLst/>
              <a:ahLst/>
              <a:cxnLst/>
              <a:rect l="l" t="t" r="r" b="b"/>
              <a:pathLst>
                <a:path w="3655013" h="812800">
                  <a:moveTo>
                    <a:pt x="24327" y="0"/>
                  </a:moveTo>
                  <a:lnTo>
                    <a:pt x="3630686" y="0"/>
                  </a:lnTo>
                  <a:cubicBezTo>
                    <a:pt x="3644121" y="0"/>
                    <a:pt x="3655013" y="10891"/>
                    <a:pt x="3655013" y="24327"/>
                  </a:cubicBezTo>
                  <a:lnTo>
                    <a:pt x="3655013" y="788473"/>
                  </a:lnTo>
                  <a:cubicBezTo>
                    <a:pt x="3655013" y="801909"/>
                    <a:pt x="3644121" y="812800"/>
                    <a:pt x="3630686" y="812800"/>
                  </a:cubicBezTo>
                  <a:lnTo>
                    <a:pt x="24327" y="812800"/>
                  </a:lnTo>
                  <a:cubicBezTo>
                    <a:pt x="10891" y="812800"/>
                    <a:pt x="0" y="801909"/>
                    <a:pt x="0" y="788473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solidFill>
              <a:srgbClr val="31356E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3655013" cy="8509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52563" y="3981450"/>
            <a:ext cx="14982874" cy="2076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800"/>
              </a:lnSpc>
            </a:pPr>
            <a:r>
              <a:rPr lang="en-US" sz="12000">
                <a:solidFill>
                  <a:srgbClr val="FFFFFF"/>
                </a:solidFill>
                <a:latin typeface="Futura Display"/>
                <a:ea typeface="Futura Display"/>
                <a:cs typeface="Futura Display"/>
                <a:sym typeface="Futura Display"/>
              </a:rPr>
              <a:t>¡GRACIAS POR SU ATENCIÓN!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33669" y="7539884"/>
            <a:ext cx="9220662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>
                <a:solidFill>
                  <a:srgbClr val="31356E"/>
                </a:solidFill>
                <a:latin typeface="Lexend Deca"/>
                <a:ea typeface="Lexend Deca"/>
                <a:cs typeface="Lexend Deca"/>
                <a:sym typeface="Lexend Deca"/>
              </a:rPr>
              <a:t>DUDAS EN EL FORO SEMANAL DE UEDI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1032</Words>
  <Application>Microsoft Office PowerPoint</Application>
  <PresentationFormat>Custom</PresentationFormat>
  <Paragraphs>152</Paragraphs>
  <Slides>28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Lexend Deca</vt:lpstr>
      <vt:lpstr>Arial</vt:lpstr>
      <vt:lpstr>Aptos</vt:lpstr>
      <vt:lpstr>Futura Display</vt:lpstr>
      <vt:lpstr>Arimo</vt:lpstr>
      <vt:lpstr>Canva Sans Bold</vt:lpstr>
      <vt:lpstr>Impact</vt:lpstr>
      <vt:lpstr>Arial MT Pro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Semana 4</dc:title>
  <cp:lastModifiedBy>kevin ruiz</cp:lastModifiedBy>
  <cp:revision>19</cp:revision>
  <dcterms:created xsi:type="dcterms:W3CDTF">2006-08-16T00:00:00Z</dcterms:created>
  <dcterms:modified xsi:type="dcterms:W3CDTF">2026-05-10T07:23:36Z</dcterms:modified>
  <dc:identifier>DAGvveBrPho</dc:identifier>
</cp:coreProperties>
</file>