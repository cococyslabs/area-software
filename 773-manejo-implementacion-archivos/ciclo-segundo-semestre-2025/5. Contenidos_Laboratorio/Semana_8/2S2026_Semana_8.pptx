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9"/>
  </p:notesMasterIdLst>
  <p:sldIdLst>
    <p:sldId id="33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25" r:id="rId42"/>
    <p:sldId id="326" r:id="rId43"/>
    <p:sldId id="327" r:id="rId44"/>
    <p:sldId id="328" r:id="rId45"/>
    <p:sldId id="333" r:id="rId46"/>
    <p:sldId id="330" r:id="rId47"/>
    <p:sldId id="331" r:id="rId48"/>
  </p:sldIdLst>
  <p:sldSz cx="12192000" cy="6858000"/>
  <p:notesSz cx="6858000" cy="9144000"/>
  <p:embeddedFontLst>
    <p:embeddedFont>
      <p:font typeface="Arial MT Pro Bold" panose="020B0604020202020204" charset="0"/>
      <p:regular r:id="rId50"/>
    </p:embeddedFont>
    <p:embeddedFont>
      <p:font typeface="Arimo" panose="020B0604020202020204" charset="0"/>
      <p:regular r:id="rId51"/>
    </p:embeddedFont>
    <p:embeddedFont>
      <p:font typeface="Impact" panose="020B0806030902050204" pitchFamily="34" charset="0"/>
      <p:regular r:id="rId52"/>
    </p:embeddedFont>
    <p:embeddedFont>
      <p:font typeface="Libre Franklin" pitchFamily="2" charset="0"/>
      <p:regular r:id="rId53"/>
      <p:bold r:id="rId54"/>
      <p:italic r:id="rId55"/>
      <p:boldItalic r:id="rId56"/>
    </p:embeddedFont>
    <p:embeddedFont>
      <p:font typeface="Lobster" panose="00000500000000000000" pitchFamily="2" charset="0"/>
      <p:regular r:id="rId57"/>
    </p:embeddedFont>
    <p:embeddedFont>
      <p:font typeface="Montserrat" panose="00000500000000000000" pitchFamily="2" charset="0"/>
      <p:regular r:id="rId58"/>
      <p:bold r:id="rId59"/>
      <p:italic r:id="rId60"/>
      <p:boldItalic r:id="rId61"/>
    </p:embeddedFont>
    <p:embeddedFont>
      <p:font typeface="Open Sans" panose="020B0606030504020204" pitchFamily="34" charset="0"/>
      <p:regular r:id="rId62"/>
      <p:bold r:id="rId63"/>
      <p:italic r:id="rId64"/>
      <p:boldItalic r:id="rId65"/>
    </p:embeddedFont>
    <p:embeddedFont>
      <p:font typeface="Pacifico" panose="00000500000000000000" pitchFamily="2" charset="0"/>
      <p:regular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6504">
          <p15:clr>
            <a:srgbClr val="A4A3A4"/>
          </p15:clr>
        </p15:guide>
        <p15:guide id="2" orient="horz" pos="3696">
          <p15:clr>
            <a:srgbClr val="A4A3A4"/>
          </p15:clr>
        </p15:guide>
        <p15:guide id="3" orient="horz" pos="196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7" roundtripDataSignature="AMtx7mgnQGVmnn3OaRyU5NtlrU0DodNU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FA423C-E40C-485A-BC40-F7EE7BCC788A}">
  <a:tblStyle styleId="{9FFA423C-E40C-485A-BC40-F7EE7BCC78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C8DF289-5F5A-478D-88D7-DE97A70C0613}" styleName="Table_1">
    <a:wholeTbl>
      <a:tcTxStyle b="off" i="off">
        <a:font>
          <a:latin typeface="Avenir Next LT Pro Light"/>
          <a:ea typeface="Avenir Next LT Pro Light"/>
          <a:cs typeface="Avenir Next LT Pro Light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09EB788-FF75-4172-9C72-885C7A46615C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>
        <p:guide pos="6504"/>
        <p:guide orient="horz" pos="3696"/>
        <p:guide orient="horz" pos="19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font" Target="fonts/font17.fntdata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97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aef6878a73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3aef6878a7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aef6878a73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g3aef6878a7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3" name="Google Shape;5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2" name="Google Shape;54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0" name="Google Shape;55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3" name="Google Shape;5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" name="Google Shape;58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5" name="Google Shape;59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7" name="Google Shape;60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0" name="Google Shape;62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3aef6878a73_0_4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g3aef6878a73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3aef6878a73_0_4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g3aef6878a73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aef6878a73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g3aef6878a7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aef301bc5b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5" name="Google Shape;705;g3aef301bc5b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aef6878a73_0_4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g3aef6878a73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1" name="Google Shape;1111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6" name="Google Shape;16;p7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venir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lvl="1" indent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lvl="2" indent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lvl="3" indent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lvl="4" indent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lvl="5" indent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lvl="6" indent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lvl="7" indent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lvl="8" indent="0" algn="r">
              <a:spcBef>
                <a:spcPts val="0"/>
              </a:spcBef>
              <a:buClr>
                <a:schemeClr val="dk1"/>
              </a:buClr>
              <a:buSzPts val="1000"/>
              <a:buFont typeface="Avenir"/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de la sección 2">
  <p:cSld name="Título de la sección 2">
    <p:bg>
      <p:bgPr>
        <a:solidFill>
          <a:srgbClr val="FCE9E7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2"/>
          <p:cNvSpPr txBox="1">
            <a:spLocks noGrp="1"/>
          </p:cNvSpPr>
          <p:nvPr>
            <p:ph type="title"/>
          </p:nvPr>
        </p:nvSpPr>
        <p:spPr>
          <a:xfrm>
            <a:off x="6096000" y="176784"/>
            <a:ext cx="5864352" cy="362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2"/>
          <p:cNvSpPr>
            <a:spLocks noGrp="1"/>
          </p:cNvSpPr>
          <p:nvPr>
            <p:ph type="pic" idx="2"/>
          </p:nvPr>
        </p:nvSpPr>
        <p:spPr>
          <a:xfrm>
            <a:off x="-15240" y="-15240"/>
            <a:ext cx="4581525" cy="660241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Google Shape;21;p72"/>
          <p:cNvSpPr txBox="1">
            <a:spLocks noGrp="1"/>
          </p:cNvSpPr>
          <p:nvPr>
            <p:ph type="body" idx="1"/>
          </p:nvPr>
        </p:nvSpPr>
        <p:spPr>
          <a:xfrm>
            <a:off x="6096000" y="4084320"/>
            <a:ext cx="5864225" cy="2362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72"/>
          <p:cNvSpPr/>
          <p:nvPr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ción">
  <p:cSld name="Introducció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3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3"/>
          <p:cNvSpPr txBox="1">
            <a:spLocks noGrp="1"/>
          </p:cNvSpPr>
          <p:nvPr>
            <p:ph type="body" idx="1"/>
          </p:nvPr>
        </p:nvSpPr>
        <p:spPr>
          <a:xfrm>
            <a:off x="865631" y="2072640"/>
            <a:ext cx="8324089" cy="349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marL="228600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3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27" name="Google Shape;27;p73"/>
          <p:cNvSpPr txBox="1">
            <a:spLocks noGrp="1"/>
          </p:cNvSpPr>
          <p:nvPr>
            <p:ph type="ftr" idx="11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73"/>
          <p:cNvPicPr preferRelativeResize="0"/>
          <p:nvPr/>
        </p:nvPicPr>
        <p:blipFill rotWithShape="1">
          <a:blip r:embed="rId2">
            <a:alphaModFix/>
          </a:blip>
          <a:srcRect l="1585" r="26226" b="3860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de la sección 3">
  <p:cSld name="Título de la sección 3">
    <p:bg>
      <p:bgPr>
        <a:solidFill>
          <a:srgbClr val="D7ECEB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4"/>
          <p:cNvSpPr txBox="1"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4"/>
          <p:cNvSpPr txBox="1">
            <a:spLocks noGrp="1"/>
          </p:cNvSpPr>
          <p:nvPr>
            <p:ph type="body" idx="1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2" name="Google Shape;32;p74"/>
          <p:cNvPicPr preferRelativeResize="0"/>
          <p:nvPr/>
        </p:nvPicPr>
        <p:blipFill rotWithShape="1">
          <a:blip r:embed="rId2">
            <a:alphaModFix/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bg>
      <p:bgPr>
        <a:solidFill>
          <a:srgbClr val="9FDAF5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5"/>
          <p:cNvSpPr txBox="1"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5" name="Google Shape;35;p75"/>
          <p:cNvPicPr preferRelativeResize="0"/>
          <p:nvPr/>
        </p:nvPicPr>
        <p:blipFill rotWithShape="1">
          <a:blip r:embed="rId2">
            <a:alphaModFix/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39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, contenido e imagen">
  <p:cSld name="Título, contenido e imagen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6"/>
          <p:cNvSpPr/>
          <p:nvPr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38" name="Google Shape;38;p76"/>
          <p:cNvPicPr preferRelativeResize="0"/>
          <p:nvPr/>
        </p:nvPicPr>
        <p:blipFill rotWithShape="1">
          <a:blip r:embed="rId2">
            <a:alphaModFix/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6"/>
          <p:cNvSpPr txBox="1"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6"/>
          <p:cNvSpPr txBox="1">
            <a:spLocks noGrp="1"/>
          </p:cNvSpPr>
          <p:nvPr>
            <p:ph type="body" idx="1"/>
          </p:nvPr>
        </p:nvSpPr>
        <p:spPr>
          <a:xfrm>
            <a:off x="899160" y="2087880"/>
            <a:ext cx="10210800" cy="195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76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42" name="Google Shape;42;p76"/>
          <p:cNvSpPr>
            <a:spLocks noGrp="1"/>
          </p:cNvSpPr>
          <p:nvPr>
            <p:ph type="pic" idx="2"/>
          </p:nvPr>
        </p:nvSpPr>
        <p:spPr>
          <a:xfrm>
            <a:off x="2179320" y="4094802"/>
            <a:ext cx="10027919" cy="24688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de la sección">
  <p:cSld name="Título de la sección">
    <p:bg>
      <p:bgPr>
        <a:solidFill>
          <a:srgbClr val="FDF3E9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7"/>
          <p:cNvSpPr txBox="1">
            <a:spLocks noGrp="1"/>
          </p:cNvSpPr>
          <p:nvPr>
            <p:ph type="title"/>
          </p:nvPr>
        </p:nvSpPr>
        <p:spPr>
          <a:xfrm>
            <a:off x="902208" y="420624"/>
            <a:ext cx="5864352" cy="362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7"/>
          <p:cNvSpPr>
            <a:spLocks noGrp="1"/>
          </p:cNvSpPr>
          <p:nvPr>
            <p:ph type="pic" idx="2"/>
          </p:nvPr>
        </p:nvSpPr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Google Shape;46;p77"/>
          <p:cNvSpPr/>
          <p:nvPr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umen 1">
  <p:cSld name="Resumen 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8"/>
          <p:cNvPicPr preferRelativeResize="0"/>
          <p:nvPr/>
        </p:nvPicPr>
        <p:blipFill rotWithShape="1">
          <a:blip r:embed="rId2">
            <a:alphaModFix/>
          </a:blip>
          <a:srcRect l="19256" t="-150" r="58719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8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8"/>
          <p:cNvSpPr txBox="1">
            <a:spLocks noGrp="1"/>
          </p:cNvSpPr>
          <p:nvPr>
            <p:ph type="body" idx="1"/>
          </p:nvPr>
        </p:nvSpPr>
        <p:spPr>
          <a:xfrm>
            <a:off x="911352" y="2058669"/>
            <a:ext cx="6192838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8"/>
          <p:cNvSpPr txBox="1">
            <a:spLocks noGrp="1"/>
          </p:cNvSpPr>
          <p:nvPr>
            <p:ph type="body" idx="2"/>
          </p:nvPr>
        </p:nvSpPr>
        <p:spPr>
          <a:xfrm>
            <a:off x="8295483" y="2058670"/>
            <a:ext cx="3002755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78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53" name="Google Shape;53;p78"/>
          <p:cNvSpPr txBox="1">
            <a:spLocks noGrp="1"/>
          </p:cNvSpPr>
          <p:nvPr>
            <p:ph type="ftr" idx="11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a">
  <p:cSld name="Tabla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9"/>
          <p:cNvSpPr txBox="1"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9"/>
          <p:cNvSpPr txBox="1">
            <a:spLocks noGrp="1"/>
          </p:cNvSpPr>
          <p:nvPr>
            <p:ph type="body" idx="1"/>
          </p:nvPr>
        </p:nvSpPr>
        <p:spPr>
          <a:xfrm>
            <a:off x="899160" y="2026920"/>
            <a:ext cx="3017520" cy="3901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79"/>
          <p:cNvSpPr txBox="1">
            <a:spLocks noGrp="1"/>
          </p:cNvSpPr>
          <p:nvPr>
            <p:ph type="body" idx="2"/>
          </p:nvPr>
        </p:nvSpPr>
        <p:spPr>
          <a:xfrm>
            <a:off x="4525963" y="2026603"/>
            <a:ext cx="6766877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3pPr>
            <a:lvl4pPr marL="1828800" lvl="3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79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cias">
  <p:cSld name="Gracias">
    <p:bg>
      <p:bgPr>
        <a:solidFill>
          <a:srgbClr val="FDDDA0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80"/>
          <p:cNvPicPr preferRelativeResize="0"/>
          <p:nvPr/>
        </p:nvPicPr>
        <p:blipFill rotWithShape="1">
          <a:blip r:embed="rId2">
            <a:alphaModFix/>
          </a:blip>
          <a:srcRect l="3432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80"/>
          <p:cNvSpPr txBox="1"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0"/>
          <p:cNvSpPr txBox="1">
            <a:spLocks noGrp="1"/>
          </p:cNvSpPr>
          <p:nvPr>
            <p:ph type="body" idx="1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marL="1371600" lvl="2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marL="228600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os contenidos">
  <p:cSld name="Título y dos contenido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1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1"/>
          <p:cNvSpPr txBox="1">
            <a:spLocks noGrp="1"/>
          </p:cNvSpPr>
          <p:nvPr>
            <p:ph type="body" idx="1"/>
          </p:nvPr>
        </p:nvSpPr>
        <p:spPr>
          <a:xfrm>
            <a:off x="893763" y="2073275"/>
            <a:ext cx="4887594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81"/>
          <p:cNvSpPr txBox="1">
            <a:spLocks noGrp="1"/>
          </p:cNvSpPr>
          <p:nvPr>
            <p:ph type="body" idx="2"/>
          </p:nvPr>
        </p:nvSpPr>
        <p:spPr>
          <a:xfrm>
            <a:off x="6410644" y="2073275"/>
            <a:ext cx="4887594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81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68" name="Google Shape;68;p81"/>
          <p:cNvSpPr txBox="1">
            <a:spLocks noGrp="1"/>
          </p:cNvSpPr>
          <p:nvPr>
            <p:ph type="ftr" idx="11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os contenidos 2">
  <p:cSld name="Título y dos contenidos 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2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2"/>
          <p:cNvSpPr txBox="1">
            <a:spLocks noGrp="1"/>
          </p:cNvSpPr>
          <p:nvPr>
            <p:ph type="body" idx="1"/>
          </p:nvPr>
        </p:nvSpPr>
        <p:spPr>
          <a:xfrm>
            <a:off x="893763" y="2073275"/>
            <a:ext cx="3144837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eriod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arenR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romanLcPeriod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82"/>
          <p:cNvSpPr txBox="1">
            <a:spLocks noGrp="1"/>
          </p:cNvSpPr>
          <p:nvPr>
            <p:ph type="body" idx="2"/>
          </p:nvPr>
        </p:nvSpPr>
        <p:spPr>
          <a:xfrm>
            <a:off x="4556760" y="2073275"/>
            <a:ext cx="6192838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82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4" name="Google Shape;74;p82"/>
          <p:cNvSpPr txBox="1">
            <a:spLocks noGrp="1"/>
          </p:cNvSpPr>
          <p:nvPr>
            <p:ph type="ftr" idx="11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a 2">
  <p:cSld name="Tabla 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3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83"/>
          <p:cNvSpPr txBox="1">
            <a:spLocks noGrp="1"/>
          </p:cNvSpPr>
          <p:nvPr>
            <p:ph type="body" idx="1"/>
          </p:nvPr>
        </p:nvSpPr>
        <p:spPr>
          <a:xfrm>
            <a:off x="911352" y="2043429"/>
            <a:ext cx="10405174" cy="392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83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buNone/>
              <a:defRPr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79" name="Google Shape;79;p83"/>
          <p:cNvSpPr txBox="1">
            <a:spLocks noGrp="1"/>
          </p:cNvSpPr>
          <p:nvPr>
            <p:ph type="ftr" idx="11"/>
          </p:nvPr>
        </p:nvSpPr>
        <p:spPr>
          <a:xfrm>
            <a:off x="3806194" y="624662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4"/>
          <p:cNvSpPr txBox="1">
            <a:spLocks noGrp="1"/>
          </p:cNvSpPr>
          <p:nvPr>
            <p:ph type="title"/>
          </p:nvPr>
        </p:nvSpPr>
        <p:spPr>
          <a:xfrm>
            <a:off x="831850" y="4672584"/>
            <a:ext cx="10515600" cy="1299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2" name="Google Shape;82;p84"/>
          <p:cNvGrpSpPr/>
          <p:nvPr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83" name="Google Shape;83;p84"/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/>
              <a:ahLst/>
              <a:cxnLst/>
              <a:rect l="l" t="t" r="r" b="b"/>
              <a:pathLst>
                <a:path w="952261" h="268535" extrusionOk="0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4" name="Google Shape;84;p84"/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/>
              <a:ahLst/>
              <a:cxnLst/>
              <a:rect l="l" t="t" r="r" b="b"/>
              <a:pathLst>
                <a:path w="51549" h="49897" extrusionOk="0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5" name="Google Shape;85;p84"/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/>
              <a:ahLst/>
              <a:cxnLst/>
              <a:rect l="l" t="t" r="r" b="b"/>
              <a:pathLst>
                <a:path w="3458361" h="1058651" extrusionOk="0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6" name="Google Shape;86;p84"/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/>
              <a:ahLst/>
              <a:cxnLst/>
              <a:rect l="l" t="t" r="r" b="b"/>
              <a:pathLst>
                <a:path w="1022221" h="308021" extrusionOk="0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7" name="Google Shape;87;p84"/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/>
              <a:ahLst/>
              <a:cxnLst/>
              <a:rect l="l" t="t" r="r" b="b"/>
              <a:pathLst>
                <a:path w="1265873" h="505824" extrusionOk="0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8" name="Google Shape;88;p84"/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/>
              <a:ahLst/>
              <a:cxnLst/>
              <a:rect l="l" t="t" r="r" b="b"/>
              <a:pathLst>
                <a:path w="105510" h="435370" extrusionOk="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89" name="Google Shape;89;p84"/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/>
              <a:ahLst/>
              <a:cxnLst/>
              <a:rect l="l" t="t" r="r" b="b"/>
              <a:pathLst>
                <a:path w="100305" h="111985" extrusionOk="0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0" name="Google Shape;90;p84"/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/>
              <a:ahLst/>
              <a:cxnLst/>
              <a:rect l="l" t="t" r="r" b="b"/>
              <a:pathLst>
                <a:path w="1740226" h="683844" extrusionOk="0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1" name="Google Shape;91;p84"/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/>
              <a:ahLst/>
              <a:cxnLst/>
              <a:rect l="l" t="t" r="r" b="b"/>
              <a:pathLst>
                <a:path w="496826" h="353730" extrusionOk="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rgbClr val="C4E3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2" name="Google Shape;92;p84"/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/>
              <a:ahLst/>
              <a:cxnLst/>
              <a:rect l="l" t="t" r="r" b="b"/>
              <a:pathLst>
                <a:path w="1411124" h="930414" extrusionOk="0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3" name="Google Shape;93;p84"/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/>
              <a:ahLst/>
              <a:cxnLst/>
              <a:rect l="l" t="t" r="r" b="b"/>
              <a:pathLst>
                <a:path w="407567" h="588492" extrusionOk="0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4" name="Google Shape;94;p84"/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/>
              <a:ahLst/>
              <a:cxnLst/>
              <a:rect l="l" t="t" r="r" b="b"/>
              <a:pathLst>
                <a:path w="1654777" h="624804" extrusionOk="0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5" name="Google Shape;95;p84"/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/>
              <a:ahLst/>
              <a:cxnLst/>
              <a:rect l="l" t="t" r="r" b="b"/>
              <a:pathLst>
                <a:path w="650712" h="321607" extrusionOk="0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rgbClr val="A2D0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6" name="Google Shape;96;p84"/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/>
              <a:ahLst/>
              <a:cxnLst/>
              <a:rect l="l" t="t" r="r" b="b"/>
              <a:pathLst>
                <a:path w="243017" h="805732" extrusionOk="0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7" name="Google Shape;97;p84"/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/>
              <a:ahLst/>
              <a:cxnLst/>
              <a:rect l="l" t="t" r="r" b="b"/>
              <a:pathLst>
                <a:path w="3539857" h="1070447" extrusionOk="0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rgbClr val="A2D0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8" name="Google Shape;98;p84"/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/>
              <a:ahLst/>
              <a:cxnLst/>
              <a:rect l="l" t="t" r="r" b="b"/>
              <a:pathLst>
                <a:path w="1734016" h="450213" extrusionOk="0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99" name="Google Shape;99;p84"/>
            <p:cNvSpPr/>
            <p:nvPr/>
          </p:nvSpPr>
          <p:spPr>
            <a:xfrm>
              <a:off x="8136109" y="-12695"/>
              <a:ext cx="1588137" cy="527789"/>
            </a:xfrm>
            <a:custGeom>
              <a:avLst/>
              <a:gdLst/>
              <a:ahLst/>
              <a:cxnLst/>
              <a:rect l="l" t="t" r="r" b="b"/>
              <a:pathLst>
                <a:path w="1588137" h="527789" extrusionOk="0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rgbClr val="A2D0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0" name="Google Shape;100;p84"/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/>
              <a:ahLst/>
              <a:cxnLst/>
              <a:rect l="l" t="t" r="r" b="b"/>
              <a:pathLst>
                <a:path w="320976" h="560686" extrusionOk="0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1" name="Google Shape;101;p84"/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/>
              <a:ahLst/>
              <a:cxnLst/>
              <a:rect l="l" t="t" r="r" b="b"/>
              <a:pathLst>
                <a:path w="1050864" h="231449" extrusionOk="0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2" name="Google Shape;102;p84"/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/>
              <a:ahLst/>
              <a:cxnLst/>
              <a:rect l="l" t="t" r="r" b="b"/>
              <a:pathLst>
                <a:path w="28187" h="216732" extrusionOk="0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3" name="Google Shape;103;p84"/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/>
              <a:ahLst/>
              <a:cxnLst/>
              <a:rect l="l" t="t" r="r" b="b"/>
              <a:pathLst>
                <a:path w="223337" h="229683" extrusionOk="0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4" name="Google Shape;104;p84"/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/>
              <a:ahLst/>
              <a:cxnLst/>
              <a:rect l="l" t="t" r="r" b="b"/>
              <a:pathLst>
                <a:path w="433850" h="122396" extrusionOk="0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5" name="Google Shape;105;p84"/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/>
              <a:ahLst/>
              <a:cxnLst/>
              <a:rect l="l" t="t" r="r" b="b"/>
              <a:pathLst>
                <a:path w="735526" h="343572" extrusionOk="0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6" name="Google Shape;106;p84"/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/>
              <a:ahLst/>
              <a:cxnLst/>
              <a:rect l="l" t="t" r="r" b="b"/>
              <a:pathLst>
                <a:path w="86719" h="160994" extrusionOk="0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7" name="Google Shape;107;p84"/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/>
              <a:ahLst/>
              <a:cxnLst/>
              <a:rect l="l" t="t" r="r" b="b"/>
              <a:pathLst>
                <a:path w="385094" h="188546" extrusionOk="0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8" name="Google Shape;108;p84"/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/>
              <a:ahLst/>
              <a:cxnLst/>
              <a:rect l="l" t="t" r="r" b="b"/>
              <a:pathLst>
                <a:path w="470924" h="261425" extrusionOk="0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rgbClr val="A2D0C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09" name="Google Shape;109;p84"/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/>
              <a:ahLst/>
              <a:cxnLst/>
              <a:rect l="l" t="t" r="r" b="b"/>
              <a:pathLst>
                <a:path w="64753" h="72370" extrusionOk="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0" name="Google Shape;110;p84"/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/>
              <a:ahLst/>
              <a:cxnLst/>
              <a:rect l="l" t="t" r="r" b="b"/>
              <a:pathLst>
                <a:path w="242636" h="686002" extrusionOk="0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1" name="Google Shape;111;p84"/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/>
              <a:ahLst/>
              <a:cxnLst/>
              <a:rect l="l" t="t" r="r" b="b"/>
              <a:pathLst>
                <a:path w="1577961" h="1069316" extrusionOk="0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2" name="Google Shape;112;p84"/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/>
              <a:ahLst/>
              <a:cxnLst/>
              <a:rect l="l" t="t" r="r" b="b"/>
              <a:pathLst>
                <a:path w="1826185" h="510522" extrusionOk="0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3" name="Google Shape;113;p84"/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/>
              <a:ahLst/>
              <a:cxnLst/>
              <a:rect l="l" t="t" r="r" b="b"/>
              <a:pathLst>
                <a:path w="242636" h="547597" extrusionOk="0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4" name="Google Shape;114;p84"/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/>
              <a:ahLst/>
              <a:cxnLst/>
              <a:rect l="l" t="t" r="r" b="b"/>
              <a:pathLst>
                <a:path w="1824932" h="551786" extrusionOk="0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5" name="Google Shape;115;p84"/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/>
              <a:ahLst/>
              <a:cxnLst/>
              <a:rect l="l" t="t" r="r" b="b"/>
              <a:pathLst>
                <a:path w="510666" h="160232" extrusionOk="0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6" name="Google Shape;116;p84"/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/>
              <a:ahLst/>
              <a:cxnLst/>
              <a:rect l="l" t="t" r="r" b="b"/>
              <a:pathLst>
                <a:path w="1164933" h="547100" extrusionOk="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7" name="Google Shape;117;p84"/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/>
              <a:ahLst/>
              <a:cxnLst/>
              <a:rect l="l" t="t" r="r" b="b"/>
              <a:pathLst>
                <a:path w="3068949" h="638517" extrusionOk="0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8" name="Google Shape;118;p84"/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/>
              <a:ahLst/>
              <a:cxnLst/>
              <a:rect l="l" t="t" r="r" b="b"/>
              <a:pathLst>
                <a:path w="758888" h="229302" extrusionOk="0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19" name="Google Shape;119;p84"/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/>
              <a:ahLst/>
              <a:cxnLst/>
              <a:rect l="l" t="t" r="r" b="b"/>
              <a:pathLst>
                <a:path w="1764858" h="708603" extrusionOk="0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0" name="Google Shape;120;p84"/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/>
              <a:ahLst/>
              <a:cxnLst/>
              <a:rect l="l" t="t" r="r" b="b"/>
              <a:pathLst>
                <a:path w="4550795" h="1177492" extrusionOk="0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1" name="Google Shape;121;p84"/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/>
              <a:ahLst/>
              <a:cxnLst/>
              <a:rect l="l" t="t" r="r" b="b"/>
              <a:pathLst>
                <a:path w="1286569" h="350428" extrusionOk="0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2" name="Google Shape;122;p84"/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/>
              <a:ahLst/>
              <a:cxnLst/>
              <a:rect l="l" t="t" r="r" b="b"/>
              <a:pathLst>
                <a:path w="1759399" h="580239" extrusionOk="0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3" name="Google Shape;123;p84"/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/>
              <a:ahLst/>
              <a:cxnLst/>
              <a:rect l="l" t="t" r="r" b="b"/>
              <a:pathLst>
                <a:path w="2135606" h="964060" extrusionOk="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4" name="Google Shape;124;p84"/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/>
              <a:ahLst/>
              <a:cxnLst/>
              <a:rect l="l" t="t" r="r" b="b"/>
              <a:pathLst>
                <a:path w="359954" h="383186" extrusionOk="0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5" name="Google Shape;125;p84"/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/>
              <a:ahLst/>
              <a:cxnLst/>
              <a:rect l="l" t="t" r="r" b="b"/>
              <a:pathLst>
                <a:path w="131285" h="133188" extrusionOk="0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rgbClr val="D3F4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6" name="Google Shape;126;p84"/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/>
              <a:ahLst/>
              <a:cxnLst/>
              <a:rect l="l" t="t" r="r" b="b"/>
              <a:pathLst>
                <a:path w="242509" h="694890" extrusionOk="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7" name="Google Shape;127;p84"/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/>
              <a:ahLst/>
              <a:cxnLst/>
              <a:rect l="l" t="t" r="r" b="b"/>
              <a:pathLst>
                <a:path w="665441" h="395883" extrusionOk="0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8" name="Google Shape;128;p84"/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/>
              <a:ahLst/>
              <a:cxnLst/>
              <a:rect l="l" t="t" r="r" b="b"/>
              <a:pathLst>
                <a:path w="660869" h="725489" extrusionOk="0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29" name="Google Shape;129;p84"/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/>
              <a:ahLst/>
              <a:cxnLst/>
              <a:rect l="l" t="t" r="r" b="b"/>
              <a:pathLst>
                <a:path w="178898" h="423308" extrusionOk="0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0" name="Google Shape;130;p84"/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/>
              <a:ahLst/>
              <a:cxnLst/>
              <a:rect l="l" t="t" r="r" b="b"/>
              <a:pathLst>
                <a:path w="368080" h="670767" extrusionOk="0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1" name="Google Shape;131;p84"/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/>
              <a:ahLst/>
              <a:cxnLst/>
              <a:rect l="l" t="t" r="r" b="b"/>
              <a:pathLst>
                <a:path w="168740" h="227525" extrusionOk="0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2" name="Google Shape;132;p84"/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/>
              <a:ahLst/>
              <a:cxnLst/>
              <a:rect l="l" t="t" r="r" b="b"/>
              <a:pathLst>
                <a:path w="1263079" h="453780" extrusionOk="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3" name="Google Shape;133;p84"/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/>
              <a:ahLst/>
              <a:cxnLst/>
              <a:rect l="l" t="t" r="r" b="b"/>
              <a:pathLst>
                <a:path w="1428138" h="489076" extrusionOk="0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rgbClr val="C4E3E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4" name="Google Shape;134;p84"/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/>
              <a:ahLst/>
              <a:cxnLst/>
              <a:rect l="l" t="t" r="r" b="b"/>
              <a:pathLst>
                <a:path w="45073" h="157311" extrusionOk="0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5" name="Google Shape;135;p84"/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/>
              <a:ahLst/>
              <a:cxnLst/>
              <a:rect l="l" t="t" r="r" b="b"/>
              <a:pathLst>
                <a:path w="797614" h="227017" extrusionOk="0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6" name="Google Shape;136;p84"/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/>
              <a:ahLst/>
              <a:cxnLst/>
              <a:rect l="l" t="t" r="r" b="b"/>
              <a:pathLst>
                <a:path w="847259" h="232857" extrusionOk="0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7" name="Google Shape;137;p84"/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/>
              <a:ahLst/>
              <a:cxnLst/>
              <a:rect l="l" t="t" r="r" b="b"/>
              <a:pathLst>
                <a:path w="165185" h="224604" extrusionOk="0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8" name="Google Shape;138;p84"/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/>
              <a:ahLst/>
              <a:cxnLst/>
              <a:rect l="l" t="t" r="r" b="b"/>
              <a:pathLst>
                <a:path w="4068951" h="1115278" extrusionOk="0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39" name="Google Shape;139;p84"/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/>
              <a:ahLst/>
              <a:cxnLst/>
              <a:rect l="l" t="t" r="r" b="b"/>
              <a:pathLst>
                <a:path w="4239343" h="1032611" extrusionOk="0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0" name="Google Shape;140;p84"/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/>
              <a:ahLst/>
              <a:cxnLst/>
              <a:rect l="l" t="t" r="r" b="b"/>
              <a:pathLst>
                <a:path w="83544" h="195656" extrusionOk="0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rgbClr val="F398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1" name="Google Shape;141;p84"/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/>
              <a:ahLst/>
              <a:cxnLst/>
              <a:rect l="l" t="t" r="r" b="b"/>
              <a:pathLst>
                <a:path w="1068437" h="287072" extrusionOk="0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2" name="Google Shape;142;p84"/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/>
              <a:ahLst/>
              <a:cxnLst/>
              <a:rect l="l" t="t" r="r" b="b"/>
              <a:pathLst>
                <a:path w="1154903" h="340144" extrusionOk="0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3" name="Google Shape;143;p84"/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/>
              <a:ahLst/>
              <a:cxnLst/>
              <a:rect l="l" t="t" r="r" b="b"/>
              <a:pathLst>
                <a:path w="1506478" h="460636" extrusionOk="0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4" name="Google Shape;144;p84"/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/>
              <a:ahLst/>
              <a:cxnLst/>
              <a:rect l="l" t="t" r="r" b="b"/>
              <a:pathLst>
                <a:path w="300280" h="253553" extrusionOk="0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5" name="Google Shape;145;p84"/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/>
              <a:ahLst/>
              <a:cxnLst/>
              <a:rect l="l" t="t" r="r" b="b"/>
              <a:pathLst>
                <a:path w="430421" h="128109" extrusionOk="0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6" name="Google Shape;146;p84"/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7" name="Google Shape;147;p84"/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8" name="Google Shape;148;p84"/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/>
              <a:ahLst/>
              <a:cxnLst/>
              <a:rect l="l" t="t" r="r" b="b"/>
              <a:pathLst>
                <a:path w="9179" h="625065" extrusionOk="0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49" name="Google Shape;149;p84"/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/>
              <a:ahLst/>
              <a:cxnLst/>
              <a:rect l="l" t="t" r="r" b="b"/>
              <a:pathLst>
                <a:path w="10792" h="506217" extrusionOk="0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0" name="Google Shape;150;p84"/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/>
              <a:ahLst/>
              <a:cxnLst/>
              <a:rect l="l" t="t" r="r" b="b"/>
              <a:pathLst>
                <a:path w="12696" h="761" extrusionOk="0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1" name="Google Shape;151;p84"/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/>
              <a:ahLst/>
              <a:cxnLst/>
              <a:rect l="l" t="t" r="r" b="b"/>
              <a:pathLst>
                <a:path w="12696" h="761" extrusionOk="0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2" name="Google Shape;152;p84"/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/>
              <a:ahLst/>
              <a:cxnLst/>
              <a:rect l="l" t="t" r="r" b="b"/>
              <a:pathLst>
                <a:path w="1422679" h="436512" extrusionOk="0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3" name="Google Shape;153;p84"/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/>
              <a:ahLst/>
              <a:cxnLst/>
              <a:rect l="l" t="t" r="r" b="b"/>
              <a:pathLst>
                <a:path w="258888" h="202258" extrusionOk="0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4" name="Google Shape;154;p84"/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/>
              <a:ahLst/>
              <a:cxnLst/>
              <a:rect l="l" t="t" r="r" b="b"/>
              <a:pathLst>
                <a:path w="12696" h="761" extrusionOk="0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5" name="Google Shape;155;p84"/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/>
              <a:ahLst/>
              <a:cxnLst/>
              <a:rect l="l" t="t" r="r" b="b"/>
              <a:pathLst>
                <a:path w="253936" h="211400" extrusionOk="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6" name="Google Shape;156;p84"/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/>
              <a:ahLst/>
              <a:cxnLst/>
              <a:rect l="l" t="t" r="r" b="b"/>
              <a:pathLst>
                <a:path w="3638910" h="1108170" extrusionOk="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7" name="Google Shape;157;p84"/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/>
              <a:ahLst/>
              <a:cxnLst/>
              <a:rect l="l" t="t" r="r" b="b"/>
              <a:pathLst>
                <a:path w="66" h="761" extrusionOk="0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8" name="Google Shape;158;p84"/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/>
              <a:ahLst/>
              <a:cxnLst/>
              <a:rect l="l" t="t" r="r" b="b"/>
              <a:pathLst>
                <a:path w="10537" h="624171" extrusionOk="0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59" name="Google Shape;159;p84"/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/>
              <a:ahLst/>
              <a:cxnLst/>
              <a:rect l="l" t="t" r="r" b="b"/>
              <a:pathLst>
                <a:path w="1525737" h="460751" extrusionOk="0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0" name="Google Shape;160;p84"/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1" name="Google Shape;161;p84"/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/>
              <a:ahLst/>
              <a:cxnLst/>
              <a:rect l="l" t="t" r="r" b="b"/>
              <a:pathLst>
                <a:path w="12696" h="888" extrusionOk="0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2" name="Google Shape;162;p84"/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/>
              <a:ahLst/>
              <a:cxnLst/>
              <a:rect l="l" t="t" r="r" b="b"/>
              <a:pathLst>
                <a:path w="762" h="12696" extrusionOk="0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3" name="Google Shape;163;p84"/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/>
              <a:ahLst/>
              <a:cxnLst/>
              <a:rect l="l" t="t" r="r" b="b"/>
              <a:pathLst>
                <a:path w="253532" h="208702" extrusionOk="0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4" name="Google Shape;164;p84"/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/>
              <a:ahLst/>
              <a:cxnLst/>
              <a:rect l="l" t="t" r="r" b="b"/>
              <a:pathLst>
                <a:path w="389665" h="125316" extrusionOk="0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5" name="Google Shape;165;p84"/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/>
              <a:ahLst/>
              <a:cxnLst/>
              <a:rect l="l" t="t" r="r" b="b"/>
              <a:pathLst>
                <a:path w="10791" h="266630" extrusionOk="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6" name="Google Shape;166;p84"/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/>
              <a:ahLst/>
              <a:cxnLst/>
              <a:rect l="l" t="t" r="r" b="b"/>
              <a:pathLst>
                <a:path w="802500" h="241733" extrusionOk="0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7" name="Google Shape;167;p84"/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/>
              <a:ahLst/>
              <a:cxnLst/>
              <a:rect l="l" t="t" r="r" b="b"/>
              <a:pathLst>
                <a:path w="3301" h="1269" extrusionOk="0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8" name="Google Shape;168;p84"/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/>
              <a:ahLst/>
              <a:cxnLst/>
              <a:rect l="l" t="t" r="r" b="b"/>
              <a:pathLst>
                <a:path w="10792" h="401723" extrusionOk="0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69" name="Google Shape;169;p84"/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/>
              <a:ahLst/>
              <a:cxnLst/>
              <a:rect l="l" t="t" r="r" b="b"/>
              <a:pathLst>
                <a:path w="342397" h="278819" extrusionOk="0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0" name="Google Shape;170;p84"/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/>
              <a:ahLst/>
              <a:cxnLst/>
              <a:rect l="l" t="t" r="r" b="b"/>
              <a:pathLst>
                <a:path w="1276793" h="415944" extrusionOk="0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1" name="Google Shape;171;p84"/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/>
              <a:ahLst/>
              <a:cxnLst/>
              <a:rect l="l" t="t" r="r" b="b"/>
              <a:pathLst>
                <a:path w="10633" h="410357" extrusionOk="0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2" name="Google Shape;172;p84"/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/>
              <a:ahLst/>
              <a:cxnLst/>
              <a:rect l="l" t="t" r="r" b="b"/>
              <a:pathLst>
                <a:path w="634" h="634" extrusionOk="0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3" name="Google Shape;173;p84"/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/>
              <a:ahLst/>
              <a:cxnLst/>
              <a:rect l="l" t="t" r="r" b="b"/>
              <a:pathLst>
                <a:path w="114652" h="94336" extrusionOk="0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4" name="Google Shape;174;p84"/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5" name="Google Shape;175;p84"/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/>
              <a:ahLst/>
              <a:cxnLst/>
              <a:rect l="l" t="t" r="r" b="b"/>
              <a:pathLst>
                <a:path w="56" h="888" extrusionOk="0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6" name="Google Shape;176;p84"/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/>
              <a:ahLst/>
              <a:cxnLst/>
              <a:rect l="l" t="t" r="r" b="b"/>
              <a:pathLst>
                <a:path w="38979" h="36947" extrusionOk="0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7" name="Google Shape;177;p84"/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/>
              <a:ahLst/>
              <a:cxnLst/>
              <a:rect l="l" t="t" r="r" b="b"/>
              <a:pathLst>
                <a:path w="10792" h="204670" extrusionOk="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8" name="Google Shape;178;p84"/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79" name="Google Shape;179;p84"/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0" name="Google Shape;180;p84"/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1" name="Google Shape;181;p84"/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/>
              <a:ahLst/>
              <a:cxnLst/>
              <a:rect l="l" t="t" r="r" b="b"/>
              <a:pathLst>
                <a:path w="540631" h="160740" extrusionOk="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2" name="Google Shape;182;p84"/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3" name="Google Shape;183;p84"/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/>
              <a:ahLst/>
              <a:cxnLst/>
              <a:rect l="l" t="t" r="r" b="b"/>
              <a:pathLst>
                <a:path w="47" h="761" extrusionOk="0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4" name="Google Shape;184;p84"/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/>
              <a:ahLst/>
              <a:cxnLst/>
              <a:rect l="l" t="t" r="r" b="b"/>
              <a:pathLst>
                <a:path w="761" h="12696" extrusionOk="0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5" name="Google Shape;185;p84"/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/>
              <a:ahLst/>
              <a:cxnLst/>
              <a:rect l="l" t="t" r="r" b="b"/>
              <a:pathLst>
                <a:path w="888" h="47" extrusionOk="0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6" name="Google Shape;186;p84"/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/>
              <a:ahLst/>
              <a:cxnLst/>
              <a:rect l="l" t="t" r="r" b="b"/>
              <a:pathLst>
                <a:path w="1143" h="12696" extrusionOk="0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7" name="Google Shape;187;p84"/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/>
              <a:ahLst/>
              <a:cxnLst/>
              <a:rect l="l" t="t" r="r" b="b"/>
              <a:pathLst>
                <a:path w="583037" h="139663" extrusionOk="0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8" name="Google Shape;188;p84"/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89" name="Google Shape;189;p84"/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/>
              <a:ahLst/>
              <a:cxnLst/>
              <a:rect l="l" t="t" r="r" b="b"/>
              <a:pathLst>
                <a:path w="888" h="12696" extrusionOk="0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0" name="Google Shape;190;p84"/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/>
              <a:ahLst/>
              <a:cxnLst/>
              <a:rect l="l" t="t" r="r" b="b"/>
              <a:pathLst>
                <a:path w="10030" h="212417" extrusionOk="0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1" name="Google Shape;191;p84"/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2" name="Google Shape;192;p84"/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3" name="Google Shape;193;p84"/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/>
              <a:ahLst/>
              <a:cxnLst/>
              <a:rect l="l" t="t" r="r" b="b"/>
              <a:pathLst>
                <a:path w="48317" h="38597" extrusionOk="0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4" name="Google Shape;194;p84"/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/>
              <a:ahLst/>
              <a:cxnLst/>
              <a:rect l="l" t="t" r="r" b="b"/>
              <a:pathLst>
                <a:path w="1254319" h="376203" extrusionOk="0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5" name="Google Shape;195;p84"/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/>
              <a:ahLst/>
              <a:cxnLst/>
              <a:rect l="l" t="t" r="r" b="b"/>
              <a:pathLst>
                <a:path w="141315" h="107287" extrusionOk="0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6" name="Google Shape;196;p84"/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7" name="Google Shape;197;p84"/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/>
              <a:ahLst/>
              <a:cxnLst/>
              <a:rect l="l" t="t" r="r" b="b"/>
              <a:pathLst>
                <a:path w="55866" h="95352" extrusionOk="0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8" name="Google Shape;198;p84"/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199" name="Google Shape;199;p84"/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/>
              <a:ahLst/>
              <a:cxnLst/>
              <a:rect l="l" t="t" r="r" b="b"/>
              <a:pathLst>
                <a:path w="809803" h="144494" extrusionOk="0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0" name="Google Shape;200;p84"/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/>
              <a:ahLst/>
              <a:cxnLst/>
              <a:rect l="l" t="t" r="r" b="b"/>
              <a:pathLst>
                <a:path w="12696" h="634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1" name="Google Shape;201;p84"/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/>
              <a:ahLst/>
              <a:cxnLst/>
              <a:rect l="l" t="t" r="r" b="b"/>
              <a:pathLst>
                <a:path w="56" h="888" extrusionOk="0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2" name="Google Shape;202;p84"/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/>
              <a:ahLst/>
              <a:cxnLst/>
              <a:rect l="l" t="t" r="r" b="b"/>
              <a:pathLst>
                <a:path w="9941" h="107336" extrusionOk="0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3" name="Google Shape;203;p84"/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/>
              <a:ahLst/>
              <a:cxnLst/>
              <a:rect l="l" t="t" r="r" b="b"/>
              <a:pathLst>
                <a:path w="95" h="1650" extrusionOk="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4" name="Google Shape;204;p84"/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5" name="Google Shape;205;p84"/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/>
              <a:ahLst/>
              <a:cxnLst/>
              <a:rect l="l" t="t" r="r" b="b"/>
              <a:pathLst>
                <a:path w="82275" h="108175" extrusionOk="0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6" name="Google Shape;206;p84"/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7" name="Google Shape;207;p84"/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8" name="Google Shape;208;p84"/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09" name="Google Shape;209;p84"/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/>
              <a:ahLst/>
              <a:cxnLst/>
              <a:rect l="l" t="t" r="r" b="b"/>
              <a:pathLst>
                <a:path w="795328" h="158074" extrusionOk="0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0" name="Google Shape;210;p84"/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/>
              <a:ahLst/>
              <a:cxnLst/>
              <a:rect l="l" t="t" r="r" b="b"/>
              <a:pathLst>
                <a:path w="761" h="12696" extrusionOk="0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1" name="Google Shape;211;p84"/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2" name="Google Shape;212;p84"/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/>
              <a:ahLst/>
              <a:cxnLst/>
              <a:rect l="l" t="t" r="r" b="b"/>
              <a:pathLst>
                <a:path w="10433" h="109070" extrusionOk="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3" name="Google Shape;213;p84"/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/>
              <a:ahLst/>
              <a:cxnLst/>
              <a:rect l="l" t="t" r="r" b="b"/>
              <a:pathLst>
                <a:path w="47" h="635" extrusionOk="0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4" name="Google Shape;214;p84"/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5" name="Google Shape;215;p84"/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/>
              <a:ahLst/>
              <a:cxnLst/>
              <a:rect l="l" t="t" r="r" b="b"/>
              <a:pathLst>
                <a:path w="61856" h="95733" extrusionOk="0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6" name="Google Shape;216;p84"/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/>
              <a:ahLst/>
              <a:cxnLst/>
              <a:rect l="l" t="t" r="r" b="b"/>
              <a:pathLst>
                <a:path w="10712" h="108558" extrusionOk="0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7" name="Google Shape;217;p84"/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/>
              <a:ahLst/>
              <a:cxnLst/>
              <a:rect l="l" t="t" r="r" b="b"/>
              <a:pathLst>
                <a:path w="818231" h="143695" extrusionOk="0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8" name="Google Shape;218;p84"/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/>
              <a:ahLst/>
              <a:cxnLst/>
              <a:rect l="l" t="t" r="r" b="b"/>
              <a:pathLst>
                <a:path w="175216" h="148170" extrusionOk="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19" name="Google Shape;219;p84"/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/>
              <a:ahLst/>
              <a:cxnLst/>
              <a:rect l="l" t="t" r="r" b="b"/>
              <a:pathLst>
                <a:path w="12696" h="761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0" name="Google Shape;220;p84"/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/>
              <a:ahLst/>
              <a:cxnLst/>
              <a:rect l="l" t="t" r="r" b="b"/>
              <a:pathLst>
                <a:path w="4074411" h="1033011" extrusionOk="0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1" name="Google Shape;221;p84"/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/>
              <a:ahLst/>
              <a:cxnLst/>
              <a:rect l="l" t="t" r="r" b="b"/>
              <a:pathLst>
                <a:path w="10538" h="106531" extrusionOk="0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2" name="Google Shape;222;p84"/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/>
              <a:ahLst/>
              <a:cxnLst/>
              <a:rect l="l" t="t" r="r" b="b"/>
              <a:pathLst>
                <a:path w="3301" h="1142" extrusionOk="0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3" name="Google Shape;223;p84"/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/>
              <a:ahLst/>
              <a:cxnLst/>
              <a:rect l="l" t="t" r="r" b="b"/>
              <a:pathLst>
                <a:path w="4074411" h="1033003" extrusionOk="0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4" name="Google Shape;224;p84"/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/>
              <a:ahLst/>
              <a:cxnLst/>
              <a:rect l="l" t="t" r="r" b="b"/>
              <a:pathLst>
                <a:path w="12696" h="634" extrusionOk="0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5" name="Google Shape;225;p84"/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/>
              <a:ahLst/>
              <a:cxnLst/>
              <a:rect l="l" t="t" r="r" b="b"/>
              <a:pathLst>
                <a:path w="12696" h="761" extrusionOk="0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6" name="Google Shape;226;p84"/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/>
              <a:ahLst/>
              <a:cxnLst/>
              <a:rect l="l" t="t" r="r" b="b"/>
              <a:pathLst>
                <a:path w="761" h="12696" extrusionOk="0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7" name="Google Shape;227;p84"/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/>
              <a:ahLst/>
              <a:cxnLst/>
              <a:rect l="l" t="t" r="r" b="b"/>
              <a:pathLst>
                <a:path w="3578310" h="897391" extrusionOk="0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8" name="Google Shape;228;p84"/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29" name="Google Shape;229;p84"/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0" name="Google Shape;230;p84"/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1" name="Google Shape;231;p84"/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/>
              <a:ahLst/>
              <a:cxnLst/>
              <a:rect l="l" t="t" r="r" b="b"/>
              <a:pathLst>
                <a:path w="635" h="12696" extrusionOk="0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2" name="Google Shape;232;p84"/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/>
              <a:ahLst/>
              <a:cxnLst/>
              <a:rect l="l" t="t" r="r" b="b"/>
              <a:pathLst>
                <a:path w="10726" h="109197" extrusionOk="0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3" name="Google Shape;233;p84"/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/>
              <a:ahLst/>
              <a:cxnLst/>
              <a:rect l="l" t="t" r="r" b="b"/>
              <a:pathLst>
                <a:path w="186480" h="152233" extrusionOk="0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4" name="Google Shape;234;p84"/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/>
              <a:ahLst/>
              <a:cxnLst/>
              <a:rect l="l" t="t" r="r" b="b"/>
              <a:pathLst>
                <a:path w="94464" h="128236" extrusionOk="0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5" name="Google Shape;235;p84"/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/>
              <a:ahLst/>
              <a:cxnLst/>
              <a:rect l="l" t="t" r="r" b="b"/>
              <a:pathLst>
                <a:path w="1080246" h="204416" extrusionOk="0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6" name="Google Shape;236;p84"/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/>
              <a:ahLst/>
              <a:cxnLst/>
              <a:rect l="l" t="t" r="r" b="b"/>
              <a:pathLst>
                <a:path w="12696" h="988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7" name="Google Shape;237;p84"/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/>
              <a:ahLst/>
              <a:cxnLst/>
              <a:rect l="l" t="t" r="r" b="b"/>
              <a:pathLst>
                <a:path w="12696" h="761" extrusionOk="0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8" name="Google Shape;238;p84"/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/>
              <a:ahLst/>
              <a:cxnLst/>
              <a:rect l="l" t="t" r="r" b="b"/>
              <a:pathLst>
                <a:path w="9354" h="106167" extrusionOk="0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39" name="Google Shape;239;p84"/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0" name="Google Shape;240;p84"/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/>
              <a:ahLst/>
              <a:cxnLst/>
              <a:rect l="l" t="t" r="r" b="b"/>
              <a:pathLst>
                <a:path w="256" h="1015" extrusionOk="0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1" name="Google Shape;241;p84"/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/>
              <a:ahLst/>
              <a:cxnLst/>
              <a:rect l="l" t="t" r="r" b="b"/>
              <a:pathLst>
                <a:path w="140173" h="154772" extrusionOk="0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2" name="Google Shape;242;p84"/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/>
              <a:ahLst/>
              <a:cxnLst/>
              <a:rect l="l" t="t" r="r" b="b"/>
              <a:pathLst>
                <a:path w="635" h="12696" extrusionOk="0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3" name="Google Shape;243;p84"/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4" name="Google Shape;244;p84"/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5" name="Google Shape;245;p84"/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6" name="Google Shape;246;p84"/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/>
              <a:ahLst/>
              <a:cxnLst/>
              <a:rect l="l" t="t" r="r" b="b"/>
              <a:pathLst>
                <a:path w="1046074" h="234974" extrusionOk="0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7" name="Google Shape;247;p84"/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/>
              <a:ahLst/>
              <a:cxnLst/>
              <a:rect l="l" t="t" r="r" b="b"/>
              <a:pathLst>
                <a:path w="888" h="76" extrusionOk="0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8" name="Google Shape;248;p84"/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/>
              <a:ahLst/>
              <a:cxnLst/>
              <a:rect l="l" t="t" r="r" b="b"/>
              <a:pathLst>
                <a:path w="10800" h="108798" extrusionOk="0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49" name="Google Shape;249;p84"/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/>
              <a:ahLst/>
              <a:cxnLst/>
              <a:rect l="l" t="t" r="r" b="b"/>
              <a:pathLst>
                <a:path w="634" h="635" extrusionOk="0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0" name="Google Shape;250;p84"/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1" name="Google Shape;251;p84"/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/>
              <a:ahLst/>
              <a:cxnLst/>
              <a:rect l="l" t="t" r="r" b="b"/>
              <a:pathLst>
                <a:path w="12696" h="888" extrusionOk="0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2" name="Google Shape;252;p84"/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/>
              <a:ahLst/>
              <a:cxnLst/>
              <a:rect l="l" t="t" r="r" b="b"/>
              <a:pathLst>
                <a:path w="100439" h="128871" extrusionOk="0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3" name="Google Shape;253;p84"/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/>
              <a:ahLst/>
              <a:cxnLst/>
              <a:rect l="l" t="t" r="r" b="b"/>
              <a:pathLst>
                <a:path w="10712" h="109090" extrusionOk="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4" name="Google Shape;254;p84"/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/>
              <a:ahLst/>
              <a:cxnLst/>
              <a:rect l="l" t="t" r="r" b="b"/>
              <a:pathLst>
                <a:path w="1089130" h="204759" extrusionOk="0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rgbClr val="468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5" name="Google Shape;255;p84"/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/>
              <a:ahLst/>
              <a:cxnLst/>
              <a:rect l="l" t="t" r="r" b="b"/>
              <a:pathLst>
                <a:path w="97638" h="84687" extrusionOk="0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6" name="Google Shape;256;p84"/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/>
              <a:ahLst/>
              <a:cxnLst/>
              <a:rect l="l" t="t" r="r" b="b"/>
              <a:pathLst>
                <a:path w="397410" h="106906" extrusionOk="0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7" name="Google Shape;257;p84"/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/>
              <a:ahLst/>
              <a:cxnLst/>
              <a:rect l="l" t="t" r="r" b="b"/>
              <a:pathLst>
                <a:path w="47" h="76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8" name="Google Shape;258;p84"/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59" name="Google Shape;259;p84"/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/>
              <a:ahLst/>
              <a:cxnLst/>
              <a:rect l="l" t="t" r="r" b="b"/>
              <a:pathLst>
                <a:path w="56" h="56" extrusionOk="0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0" name="Google Shape;260;p84"/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/>
              <a:ahLst/>
              <a:cxnLst/>
              <a:rect l="l" t="t" r="r" b="b"/>
              <a:pathLst>
                <a:path w="9443" h="106493" extrusionOk="0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1" name="Google Shape;261;p84"/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/>
              <a:ahLst/>
              <a:cxnLst/>
              <a:rect l="l" t="t" r="r" b="b"/>
              <a:pathLst>
                <a:path w="10830" h="106277" extrusionOk="0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2" name="Google Shape;262;p84"/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/>
              <a:ahLst/>
              <a:cxnLst/>
              <a:rect l="l" t="t" r="r" b="b"/>
              <a:pathLst>
                <a:path w="12696" h="1015" extrusionOk="0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3" name="Google Shape;263;p84"/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/>
              <a:ahLst/>
              <a:cxnLst/>
              <a:rect l="l" t="t" r="r" b="b"/>
              <a:pathLst>
                <a:path w="761" h="888" extrusionOk="0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4" name="Google Shape;264;p84"/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/>
              <a:ahLst/>
              <a:cxnLst/>
              <a:rect l="l" t="t" r="r" b="b"/>
              <a:pathLst>
                <a:path w="3428" h="1143" extrusionOk="0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5" name="Google Shape;265;p84"/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/>
              <a:ahLst/>
              <a:cxnLst/>
              <a:rect l="l" t="t" r="r" b="b"/>
              <a:pathLst>
                <a:path w="397410" h="105002" extrusionOk="0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6" name="Google Shape;266;p84"/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/>
              <a:ahLst/>
              <a:cxnLst/>
              <a:rect l="l" t="t" r="r" b="b"/>
              <a:pathLst>
                <a:path w="97660" h="82404" extrusionOk="0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7" name="Google Shape;267;p84"/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8" name="Google Shape;268;p84"/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/>
              <a:ahLst/>
              <a:cxnLst/>
              <a:rect l="l" t="t" r="r" b="b"/>
              <a:pathLst>
                <a:path w="761" h="12696" extrusionOk="0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69" name="Google Shape;269;p84"/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/>
              <a:ahLst/>
              <a:cxnLst/>
              <a:rect l="l" t="t" r="r" b="b"/>
              <a:pathLst>
                <a:path w="47" h="762" extrusionOk="0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0" name="Google Shape;270;p84"/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/>
              <a:ahLst/>
              <a:cxnLst/>
              <a:rect l="l" t="t" r="r" b="b"/>
              <a:pathLst>
                <a:path w="634" h="761" extrusionOk="0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1" name="Google Shape;271;p84"/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/>
              <a:ahLst/>
              <a:cxnLst/>
              <a:rect l="l" t="t" r="r" b="b"/>
              <a:pathLst>
                <a:path w="80624" h="68181" extrusionOk="0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2" name="Google Shape;272;p84"/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/>
              <a:ahLst/>
              <a:cxnLst/>
              <a:rect l="l" t="t" r="r" b="b"/>
              <a:pathLst>
                <a:path w="12696" h="634" extrusionOk="0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3" name="Google Shape;273;p84"/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/>
              <a:ahLst/>
              <a:cxnLst/>
              <a:rect l="l" t="t" r="r" b="b"/>
              <a:pathLst>
                <a:path w="191848" h="67895" extrusionOk="0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4" name="Google Shape;274;p84"/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/>
              <a:ahLst/>
              <a:cxnLst/>
              <a:rect l="l" t="t" r="r" b="b"/>
              <a:pathLst>
                <a:path w="56" h="761" extrusionOk="0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5" name="Google Shape;275;p84"/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/>
              <a:ahLst/>
              <a:cxnLst/>
              <a:rect l="l" t="t" r="r" b="b"/>
              <a:pathLst>
                <a:path w="224884" h="184356" extrusionOk="0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6" name="Google Shape;276;p84"/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/>
              <a:ahLst/>
              <a:cxnLst/>
              <a:rect l="l" t="t" r="r" b="b"/>
              <a:pathLst>
                <a:path w="28" h="761" extrusionOk="0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7" name="Google Shape;277;p84"/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/>
              <a:ahLst/>
              <a:cxnLst/>
              <a:rect l="l" t="t" r="r" b="b"/>
              <a:pathLst>
                <a:path w="888" h="12696" extrusionOk="0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8" name="Google Shape;278;p84"/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/>
              <a:ahLst/>
              <a:cxnLst/>
              <a:rect l="l" t="t" r="r" b="b"/>
              <a:pathLst>
                <a:path w="42153" h="28186" extrusionOk="0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79" name="Google Shape;279;p84"/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/>
              <a:ahLst/>
              <a:cxnLst/>
              <a:rect l="l" t="t" r="r" b="b"/>
              <a:pathLst>
                <a:path w="1555107" h="478284" extrusionOk="0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0" name="Google Shape;280;p84"/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/>
              <a:ahLst/>
              <a:cxnLst/>
              <a:rect l="l" t="t" r="r" b="b"/>
              <a:pathLst>
                <a:path w="10538" h="511423" extrusionOk="0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1" name="Google Shape;281;p84"/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/>
              <a:ahLst/>
              <a:cxnLst/>
              <a:rect l="l" t="t" r="r" b="b"/>
              <a:pathLst>
                <a:path w="3301" h="1145" extrusionOk="0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2" name="Google Shape;282;p84"/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/>
              <a:ahLst/>
              <a:cxnLst/>
              <a:rect l="l" t="t" r="r" b="b"/>
              <a:pathLst>
                <a:path w="1595014" h="490224" extrusionOk="0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3" name="Google Shape;283;p84"/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/>
              <a:ahLst/>
              <a:cxnLst/>
              <a:rect l="l" t="t" r="r" b="b"/>
              <a:pathLst>
                <a:path w="28" h="761" extrusionOk="0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4" name="Google Shape;284;p84"/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/>
              <a:ahLst/>
              <a:cxnLst/>
              <a:rect l="l" t="t" r="r" b="b"/>
              <a:pathLst>
                <a:path w="12696" h="888" extrusionOk="0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5" name="Google Shape;285;p84"/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/>
              <a:ahLst/>
              <a:cxnLst/>
              <a:rect l="l" t="t" r="r" b="b"/>
              <a:pathLst>
                <a:path w="888" h="12696" extrusionOk="0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6" name="Google Shape;286;p84"/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/>
              <a:ahLst/>
              <a:cxnLst/>
              <a:rect l="l" t="t" r="r" b="b"/>
              <a:pathLst>
                <a:path w="888" h="12696" extrusionOk="0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7" name="Google Shape;287;p84"/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/>
              <a:ahLst/>
              <a:cxnLst/>
              <a:rect l="l" t="t" r="r" b="b"/>
              <a:pathLst>
                <a:path w="761" h="12696" extrusionOk="0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8" name="Google Shape;288;p84"/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89" name="Google Shape;289;p84"/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0" name="Google Shape;290;p84"/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/>
              <a:ahLst/>
              <a:cxnLst/>
              <a:rect l="l" t="t" r="r" b="b"/>
              <a:pathLst>
                <a:path w="10468" h="625319" extrusionOk="0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1" name="Google Shape;291;p84"/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/>
              <a:ahLst/>
              <a:cxnLst/>
              <a:rect l="l" t="t" r="r" b="b"/>
              <a:pathLst>
                <a:path w="261899" h="214829" extrusionOk="0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2" name="Google Shape;292;p84"/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/>
              <a:ahLst/>
              <a:cxnLst/>
              <a:rect l="l" t="t" r="r" b="b"/>
              <a:pathLst>
                <a:path w="253936" h="212162" extrusionOk="0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3" name="Google Shape;293;p84"/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/>
              <a:ahLst/>
              <a:cxnLst/>
              <a:rect l="l" t="t" r="r" b="b"/>
              <a:pathLst>
                <a:path w="57" h="888" extrusionOk="0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4" name="Google Shape;294;p84"/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/>
              <a:ahLst/>
              <a:cxnLst/>
              <a:rect l="l" t="t" r="r" b="b"/>
              <a:pathLst>
                <a:path w="1865222" h="563292" extrusionOk="0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5" name="Google Shape;295;p84"/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/>
              <a:ahLst/>
              <a:cxnLst/>
              <a:rect l="l" t="t" r="r" b="b"/>
              <a:pathLst>
                <a:path w="10538" h="563600" extrusionOk="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6" name="Google Shape;296;p84"/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/>
              <a:ahLst/>
              <a:cxnLst/>
              <a:rect l="l" t="t" r="r" b="b"/>
              <a:pathLst>
                <a:path w="54898" h="40007" extrusionOk="0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7" name="Google Shape;297;p84"/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/>
              <a:ahLst/>
              <a:cxnLst/>
              <a:rect l="l" t="t" r="r" b="b"/>
              <a:pathLst>
                <a:path w="19" h="888" extrusionOk="0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8" name="Google Shape;298;p84"/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/>
              <a:ahLst/>
              <a:cxnLst/>
              <a:rect l="l" t="t" r="r" b="b"/>
              <a:pathLst>
                <a:path w="10966" h="114143" extrusionOk="0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299" name="Google Shape;299;p84"/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/>
              <a:ahLst/>
              <a:cxnLst/>
              <a:rect l="l" t="t" r="r" b="b"/>
              <a:pathLst>
                <a:path w="10791" h="29710" extrusionOk="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0" name="Google Shape;300;p84"/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/>
              <a:ahLst/>
              <a:cxnLst/>
              <a:rect l="l" t="t" r="r" b="b"/>
              <a:pathLst>
                <a:path w="12696" h="761" extrusionOk="0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1" name="Google Shape;301;p84"/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/>
              <a:ahLst/>
              <a:cxnLst/>
              <a:rect l="l" t="t" r="r" b="b"/>
              <a:pathLst>
                <a:path w="12696" h="634" extrusionOk="0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2" name="Google Shape;302;p84"/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/>
              <a:ahLst/>
              <a:cxnLst/>
              <a:rect l="l" t="t" r="r" b="b"/>
              <a:pathLst>
                <a:path w="3428" h="1142" extrusionOk="0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3" name="Google Shape;303;p84"/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/>
              <a:ahLst/>
              <a:cxnLst/>
              <a:rect l="l" t="t" r="r" b="b"/>
              <a:pathLst>
                <a:path w="525014" h="143218" extrusionOk="0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4" name="Google Shape;304;p84"/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/>
              <a:ahLst/>
              <a:cxnLst/>
              <a:rect l="l" t="t" r="r" b="b"/>
              <a:pathLst>
                <a:path w="222820" h="227778" extrusionOk="0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5" name="Google Shape;305;p84"/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/>
              <a:ahLst/>
              <a:cxnLst/>
              <a:rect l="l" t="t" r="r" b="b"/>
              <a:pathLst>
                <a:path w="244415" h="200366" extrusionOk="0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6" name="Google Shape;306;p84"/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/>
              <a:ahLst/>
              <a:cxnLst/>
              <a:rect l="l" t="t" r="r" b="b"/>
              <a:pathLst>
                <a:path w="1077579" h="336335" extrusionOk="0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7" name="Google Shape;307;p84"/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/>
              <a:ahLst/>
              <a:cxnLst/>
              <a:rect l="l" t="t" r="r" b="b"/>
              <a:pathLst>
                <a:path w="2872148" h="449844" extrusionOk="0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8" name="Google Shape;308;p84"/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/>
              <a:ahLst/>
              <a:cxnLst/>
              <a:rect l="l" t="t" r="r" b="b"/>
              <a:pathLst>
                <a:path w="10633" h="203781" extrusionOk="0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09" name="Google Shape;309;p84"/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/>
              <a:ahLst/>
              <a:cxnLst/>
              <a:rect l="l" t="t" r="r" b="b"/>
              <a:pathLst>
                <a:path w="114" h="635" extrusionOk="0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0" name="Google Shape;310;p84"/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/>
              <a:ahLst/>
              <a:cxnLst/>
              <a:rect l="l" t="t" r="r" b="b"/>
              <a:pathLst>
                <a:path w="1164679" h="359443" extrusionOk="0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1" name="Google Shape;311;p84"/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/>
              <a:ahLst/>
              <a:cxnLst/>
              <a:rect l="l" t="t" r="r" b="b"/>
              <a:pathLst>
                <a:path w="569960" h="461779" extrusionOk="0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2" name="Google Shape;312;p84"/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3" name="Google Shape;313;p84"/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4" name="Google Shape;314;p84"/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/>
              <a:ahLst/>
              <a:cxnLst/>
              <a:rect l="l" t="t" r="r" b="b"/>
              <a:pathLst>
                <a:path w="3082407" h="482728" extrusionOk="0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5" name="Google Shape;315;p84"/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6" name="Google Shape;316;p84"/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7" name="Google Shape;317;p84"/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/>
              <a:ahLst/>
              <a:cxnLst/>
              <a:rect l="l" t="t" r="r" b="b"/>
              <a:pathLst>
                <a:path w="62849" h="64245" extrusionOk="0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8" name="Google Shape;318;p84"/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/>
              <a:ahLst/>
              <a:cxnLst/>
              <a:rect l="l" t="t" r="r" b="b"/>
              <a:pathLst>
                <a:path w="12696" h="1289" extrusionOk="0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19" name="Google Shape;319;p84"/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/>
              <a:ahLst/>
              <a:cxnLst/>
              <a:rect l="l" t="t" r="r" b="b"/>
              <a:pathLst>
                <a:path w="136745" h="51431" extrusionOk="0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0" name="Google Shape;320;p84"/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/>
              <a:ahLst/>
              <a:cxnLst/>
              <a:rect l="l" t="t" r="r" b="b"/>
              <a:pathLst>
                <a:path w="10537" h="106404" extrusionOk="0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1" name="Google Shape;321;p84"/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/>
              <a:ahLst/>
              <a:cxnLst/>
              <a:rect l="l" t="t" r="r" b="b"/>
              <a:pathLst>
                <a:path w="136617" h="51516" extrusionOk="0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2" name="Google Shape;322;p84"/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/>
              <a:ahLst/>
              <a:cxnLst/>
              <a:rect l="l" t="t" r="r" b="b"/>
              <a:pathLst>
                <a:path w="3301" h="1142" extrusionOk="0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3" name="Google Shape;323;p84"/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/>
              <a:ahLst/>
              <a:cxnLst/>
              <a:rect l="l" t="t" r="r" b="b"/>
              <a:pathLst>
                <a:path w="761" h="112" extrusionOk="0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4" name="Google Shape;324;p84"/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/>
              <a:ahLst/>
              <a:cxnLst/>
              <a:rect l="l" t="t" r="r" b="b"/>
              <a:pathLst>
                <a:path w="12696" h="761" extrusionOk="0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5" name="Google Shape;325;p84"/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/>
              <a:ahLst/>
              <a:cxnLst/>
              <a:rect l="l" t="t" r="r" b="b"/>
              <a:pathLst>
                <a:path w="38" h="761" extrusionOk="0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6" name="Google Shape;326;p84"/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/>
              <a:ahLst/>
              <a:cxnLst/>
              <a:rect l="l" t="t" r="r" b="b"/>
              <a:pathLst>
                <a:path w="214955" h="69070" extrusionOk="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7" name="Google Shape;327;p84"/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/>
              <a:ahLst/>
              <a:cxnLst/>
              <a:rect l="l" t="t" r="r" b="b"/>
              <a:pathLst>
                <a:path w="1015" h="12696" extrusionOk="0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8" name="Google Shape;328;p84"/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29" name="Google Shape;329;p84"/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/>
              <a:ahLst/>
              <a:cxnLst/>
              <a:rect l="l" t="t" r="r" b="b"/>
              <a:pathLst>
                <a:path w="10796" h="57135" extrusionOk="0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0" name="Google Shape;330;p84"/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1" name="Google Shape;331;p84"/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/>
              <a:ahLst/>
              <a:cxnLst/>
              <a:rect l="l" t="t" r="r" b="b"/>
              <a:pathLst>
                <a:path w="12696" h="634" extrusionOk="0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2" name="Google Shape;332;p84"/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/>
              <a:ahLst/>
              <a:cxnLst/>
              <a:rect l="l" t="t" r="r" b="b"/>
              <a:pathLst>
                <a:path w="381368" h="311835" extrusionOk="0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3" name="Google Shape;333;p84"/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/>
              <a:ahLst/>
              <a:cxnLst/>
              <a:rect l="l" t="t" r="r" b="b"/>
              <a:pathLst>
                <a:path w="116049" h="89765" extrusionOk="0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4" name="Google Shape;334;p84"/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/>
              <a:ahLst/>
              <a:cxnLst/>
              <a:rect l="l" t="t" r="r" b="b"/>
              <a:pathLst>
                <a:path w="10665" h="468889" extrusionOk="0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5" name="Google Shape;335;p84"/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/>
              <a:ahLst/>
              <a:cxnLst/>
              <a:rect l="l" t="t" r="r" b="b"/>
              <a:pathLst>
                <a:path w="422100" h="135562" extrusionOk="0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6" name="Google Shape;336;p84"/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/>
              <a:ahLst/>
              <a:cxnLst/>
              <a:rect l="l" t="t" r="r" b="b"/>
              <a:pathLst>
                <a:path w="12696" h="761" extrusionOk="0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7" name="Google Shape;337;p84"/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/>
              <a:ahLst/>
              <a:cxnLst/>
              <a:rect l="l" t="t" r="r" b="b"/>
              <a:pathLst>
                <a:path w="761" h="12696" extrusionOk="0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8" name="Google Shape;338;p84"/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/>
              <a:ahLst/>
              <a:cxnLst/>
              <a:rect l="l" t="t" r="r" b="b"/>
              <a:pathLst>
                <a:path w="12696" h="761" extrusionOk="0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39" name="Google Shape;339;p84"/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/>
              <a:ahLst/>
              <a:cxnLst/>
              <a:rect l="l" t="t" r="r" b="b"/>
              <a:pathLst>
                <a:path w="420391" h="132553" extrusionOk="0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0" name="Google Shape;340;p84"/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/>
              <a:ahLst/>
              <a:cxnLst/>
              <a:rect l="l" t="t" r="r" b="b"/>
              <a:pathLst>
                <a:path w="254846" h="214828" extrusionOk="0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1" name="Google Shape;341;p84"/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/>
              <a:ahLst/>
              <a:cxnLst/>
              <a:rect l="l" t="t" r="r" b="b"/>
              <a:pathLst>
                <a:path w="57" h="1015" extrusionOk="0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2" name="Google Shape;342;p84"/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/>
              <a:ahLst/>
              <a:cxnLst/>
              <a:rect l="l" t="t" r="r" b="b"/>
              <a:pathLst>
                <a:path w="761" h="12696" extrusionOk="0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3" name="Google Shape;343;p84"/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/>
              <a:ahLst/>
              <a:cxnLst/>
              <a:rect l="l" t="t" r="r" b="b"/>
              <a:pathLst>
                <a:path w="12696" h="761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4" name="Google Shape;344;p84"/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/>
              <a:ahLst/>
              <a:cxnLst/>
              <a:rect l="l" t="t" r="r" b="b"/>
              <a:pathLst>
                <a:path w="115128" h="42392" extrusionOk="0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5" name="Google Shape;345;p84"/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/>
              <a:ahLst/>
              <a:cxnLst/>
              <a:rect l="l" t="t" r="r" b="b"/>
              <a:pathLst>
                <a:path w="115217" h="42813" extrusionOk="0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6" name="Google Shape;346;p84"/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/>
              <a:ahLst/>
              <a:cxnLst/>
              <a:rect l="l" t="t" r="r" b="b"/>
              <a:pathLst>
                <a:path w="672931" h="224858" extrusionOk="0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7" name="Google Shape;347;p84"/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/>
              <a:ahLst/>
              <a:cxnLst/>
              <a:rect l="l" t="t" r="r" b="b"/>
              <a:pathLst>
                <a:path w="9" h="888" extrusionOk="0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8" name="Google Shape;348;p84"/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/>
              <a:ahLst/>
              <a:cxnLst/>
              <a:rect l="l" t="t" r="r" b="b"/>
              <a:pathLst>
                <a:path w="672677" h="223208" extrusionOk="0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49" name="Google Shape;349;p84"/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/>
              <a:ahLst/>
              <a:cxnLst/>
              <a:rect l="l" t="t" r="r" b="b"/>
              <a:pathLst>
                <a:path w="87608" h="36566" extrusionOk="0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0" name="Google Shape;350;p84"/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/>
              <a:ahLst/>
              <a:cxnLst/>
              <a:rect l="l" t="t" r="r" b="b"/>
              <a:pathLst>
                <a:path w="189690" h="251267" extrusionOk="0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1" name="Google Shape;351;p84"/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/>
              <a:ahLst/>
              <a:cxnLst/>
              <a:rect l="l" t="t" r="r" b="b"/>
              <a:pathLst>
                <a:path w="1015" h="12696" extrusionOk="0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2" name="Google Shape;352;p84"/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/>
              <a:ahLst/>
              <a:cxnLst/>
              <a:rect l="l" t="t" r="r" b="b"/>
              <a:pathLst>
                <a:path w="10537" h="211909" extrusionOk="0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3" name="Google Shape;353;p84"/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/>
              <a:ahLst/>
              <a:cxnLst/>
              <a:rect l="l" t="t" r="r" b="b"/>
              <a:pathLst>
                <a:path w="197054" h="247712" extrusionOk="0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4" name="Google Shape;354;p84"/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/>
              <a:ahLst/>
              <a:cxnLst/>
              <a:rect l="l" t="t" r="r" b="b"/>
              <a:pathLst>
                <a:path w="888" h="38" extrusionOk="0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5" name="Google Shape;355;p84"/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/>
              <a:ahLst/>
              <a:cxnLst/>
              <a:rect l="l" t="t" r="r" b="b"/>
              <a:pathLst>
                <a:path w="761" h="12696" extrusionOk="0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6" name="Google Shape;356;p84"/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/>
              <a:ahLst/>
              <a:cxnLst/>
              <a:rect l="l" t="t" r="r" b="b"/>
              <a:pathLst>
                <a:path w="10804" h="207210" extrusionOk="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7" name="Google Shape;357;p84"/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8" name="Google Shape;358;p84"/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59" name="Google Shape;359;p84"/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/>
              <a:ahLst/>
              <a:cxnLst/>
              <a:rect l="l" t="t" r="r" b="b"/>
              <a:pathLst>
                <a:path w="1596716" h="487426" extrusionOk="0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0" name="Google Shape;360;p84"/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/>
              <a:ahLst/>
              <a:cxnLst/>
              <a:rect l="l" t="t" r="r" b="b"/>
              <a:pathLst>
                <a:path w="761" h="761" extrusionOk="0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1" name="Google Shape;361;p84"/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2" name="Google Shape;362;p84"/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3" name="Google Shape;363;p84"/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/>
              <a:ahLst/>
              <a:cxnLst/>
              <a:rect l="l" t="t" r="r" b="b"/>
              <a:pathLst>
                <a:path w="12696" h="888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4" name="Google Shape;364;p84"/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/>
              <a:ahLst/>
              <a:cxnLst/>
              <a:rect l="l" t="t" r="r" b="b"/>
              <a:pathLst>
                <a:path w="175470" h="148932" extrusionOk="0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5" name="Google Shape;365;p84"/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/>
              <a:ahLst/>
              <a:cxnLst/>
              <a:rect l="l" t="t" r="r" b="b"/>
              <a:pathLst>
                <a:path w="1275650" h="372013" extrusionOk="0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6" name="Google Shape;366;p84"/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/>
              <a:ahLst/>
              <a:cxnLst/>
              <a:rect l="l" t="t" r="r" b="b"/>
              <a:pathLst>
                <a:path w="9" h="888" extrusionOk="0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7" name="Google Shape;367;p84"/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8" name="Google Shape;368;p84"/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/>
              <a:ahLst/>
              <a:cxnLst/>
              <a:rect l="l" t="t" r="r" b="b"/>
              <a:pathLst>
                <a:path w="12696" h="12696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69" name="Google Shape;369;p84"/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/>
              <a:ahLst/>
              <a:cxnLst/>
              <a:rect l="l" t="t" r="r" b="b"/>
              <a:pathLst>
                <a:path w="9069" h="107160" extrusionOk="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0" name="Google Shape;370;p84"/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/>
              <a:ahLst/>
              <a:cxnLst/>
              <a:rect l="l" t="t" r="r" b="b"/>
              <a:pathLst>
                <a:path w="10538" h="106404" extrusionOk="0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1" name="Google Shape;371;p84"/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/>
              <a:ahLst/>
              <a:cxnLst/>
              <a:rect l="l" t="t" r="r" b="b"/>
              <a:pathLst>
                <a:path w="673" h="761" extrusionOk="0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2" name="Google Shape;372;p84"/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/>
              <a:ahLst/>
              <a:cxnLst/>
              <a:rect l="l" t="t" r="r" b="b"/>
              <a:pathLst>
                <a:path w="37" h="761" extrusionOk="0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3" name="Google Shape;373;p84"/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/>
              <a:ahLst/>
              <a:cxnLst/>
              <a:rect l="l" t="t" r="r" b="b"/>
              <a:pathLst>
                <a:path w="3301" h="1142" extrusionOk="0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4" name="Google Shape;374;p84"/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/>
              <a:ahLst/>
              <a:cxnLst/>
              <a:rect l="l" t="t" r="r" b="b"/>
              <a:pathLst>
                <a:path w="1275649" h="370594" extrusionOk="0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5" name="Google Shape;375;p84"/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/>
              <a:ahLst/>
              <a:cxnLst/>
              <a:rect l="l" t="t" r="r" b="b"/>
              <a:pathLst>
                <a:path w="1261087" h="385627" extrusionOk="0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6" name="Google Shape;376;p84"/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/>
              <a:ahLst/>
              <a:cxnLst/>
              <a:rect l="l" t="t" r="r" b="b"/>
              <a:pathLst>
                <a:path w="47" h="761" extrusionOk="0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7" name="Google Shape;377;p84"/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/>
              <a:ahLst/>
              <a:cxnLst/>
              <a:rect l="l" t="t" r="r" b="b"/>
              <a:pathLst>
                <a:path w="184435" h="152824" extrusionOk="0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8" name="Google Shape;378;p84"/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/>
              <a:ahLst/>
              <a:cxnLst/>
              <a:rect l="l" t="t" r="r" b="b"/>
              <a:pathLst>
                <a:path w="379901" h="502813" extrusionOk="0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79" name="Google Shape;379;p84"/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/>
              <a:ahLst/>
              <a:cxnLst/>
              <a:rect l="l" t="t" r="r" b="b"/>
              <a:pathLst>
                <a:path w="47" h="1015" extrusionOk="0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0" name="Google Shape;380;p84"/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/>
              <a:ahLst/>
              <a:cxnLst/>
              <a:rect l="l" t="t" r="r" b="b"/>
              <a:pathLst>
                <a:path w="9" h="888" extrusionOk="0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1" name="Google Shape;381;p84"/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/>
              <a:ahLst/>
              <a:cxnLst/>
              <a:rect l="l" t="t" r="r" b="b"/>
              <a:pathLst>
                <a:path w="328213" h="104754" extrusionOk="0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2" name="Google Shape;382;p84"/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/>
              <a:ahLst/>
              <a:cxnLst/>
              <a:rect l="l" t="t" r="r" b="b"/>
              <a:pathLst>
                <a:path w="166804" h="51410" extrusionOk="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3" name="Google Shape;383;p84"/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/>
              <a:ahLst/>
              <a:cxnLst/>
              <a:rect l="l" t="t" r="r" b="b"/>
              <a:pathLst>
                <a:path w="47" h="761" extrusionOk="0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4" name="Google Shape;384;p84"/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/>
              <a:ahLst/>
              <a:cxnLst/>
              <a:rect l="l" t="t" r="r" b="b"/>
              <a:pathLst>
                <a:path w="386148" h="498743" extrusionOk="0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5" name="Google Shape;385;p84"/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/>
              <a:ahLst/>
              <a:cxnLst/>
              <a:rect l="l" t="t" r="r" b="b"/>
              <a:pathLst>
                <a:path w="10586" h="212187" extrusionOk="0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6" name="Google Shape;386;p84"/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/>
              <a:ahLst/>
              <a:cxnLst/>
              <a:rect l="l" t="t" r="r" b="b"/>
              <a:pathLst>
                <a:path w="1785220" h="523050" extrusionOk="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7" name="Google Shape;387;p84"/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/>
              <a:ahLst/>
              <a:cxnLst/>
              <a:rect l="l" t="t" r="r" b="b"/>
              <a:pathLst>
                <a:path w="218004" h="175087" extrusionOk="0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8" name="Google Shape;388;p84"/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/>
              <a:ahLst/>
              <a:cxnLst/>
              <a:rect l="l" t="t" r="r" b="b"/>
              <a:pathLst>
                <a:path w="55909" h="45835" extrusionOk="0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89" name="Google Shape;389;p84"/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/>
              <a:ahLst/>
              <a:cxnLst/>
              <a:rect l="l" t="t" r="r" b="b"/>
              <a:pathLst>
                <a:path w="133697" h="111225" extrusionOk="0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0" name="Google Shape;390;p84"/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/>
              <a:ahLst/>
              <a:cxnLst/>
              <a:rect l="l" t="t" r="r" b="b"/>
              <a:pathLst>
                <a:path w="134734" h="112239" extrusionOk="0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1" name="Google Shape;391;p84"/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/>
              <a:ahLst/>
              <a:cxnLst/>
              <a:rect l="l" t="t" r="r" b="b"/>
              <a:pathLst>
                <a:path w="1048638" h="324528" extrusionOk="0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2" name="Google Shape;392;p84"/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/>
              <a:ahLst/>
              <a:cxnLst/>
              <a:rect l="l" t="t" r="r" b="b"/>
              <a:pathLst>
                <a:path w="38" h="888" extrusionOk="0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3" name="Google Shape;393;p84"/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/>
              <a:ahLst/>
              <a:cxnLst/>
              <a:rect l="l" t="t" r="r" b="b"/>
              <a:pathLst>
                <a:path w="12696" h="761" extrusionOk="0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4" name="Google Shape;394;p84"/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/>
              <a:ahLst/>
              <a:cxnLst/>
              <a:rect l="l" t="t" r="r" b="b"/>
              <a:pathLst>
                <a:path w="1015" h="12696" extrusionOk="0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5" name="Google Shape;395;p84"/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/>
              <a:ahLst/>
              <a:cxnLst/>
              <a:rect l="l" t="t" r="r" b="b"/>
              <a:pathLst>
                <a:path w="11014" h="164041" extrusionOk="0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6" name="Google Shape;396;p84"/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/>
              <a:ahLst/>
              <a:cxnLst/>
              <a:rect l="l" t="t" r="r" b="b"/>
              <a:pathLst>
                <a:path w="10967" h="466870" extrusionOk="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7" name="Google Shape;397;p84"/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/>
              <a:ahLst/>
              <a:cxnLst/>
              <a:rect l="l" t="t" r="r" b="b"/>
              <a:pathLst>
                <a:path w="497461" h="104494" extrusionOk="0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8" name="Google Shape;398;p84"/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/>
              <a:ahLst/>
              <a:cxnLst/>
              <a:rect l="l" t="t" r="r" b="b"/>
              <a:pathLst>
                <a:path w="903470" h="182464" extrusionOk="0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399" name="Google Shape;399;p84"/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/>
              <a:ahLst/>
              <a:cxnLst/>
              <a:rect l="l" t="t" r="r" b="b"/>
              <a:pathLst>
                <a:path w="9960" h="48507" extrusionOk="0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0" name="Google Shape;400;p84"/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/>
              <a:ahLst/>
              <a:cxnLst/>
              <a:rect l="l" t="t" r="r" b="b"/>
              <a:pathLst>
                <a:path w="10791" h="65070" extrusionOk="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1" name="Google Shape;401;p84"/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/>
              <a:ahLst/>
              <a:cxnLst/>
              <a:rect l="l" t="t" r="r" b="b"/>
              <a:pathLst>
                <a:path w="1143" h="12696" extrusionOk="0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2" name="Google Shape;402;p84"/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/>
              <a:ahLst/>
              <a:cxnLst/>
              <a:rect l="l" t="t" r="r" b="b"/>
              <a:pathLst>
                <a:path w="85" h="888" extrusionOk="0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3" name="Google Shape;403;p84"/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/>
              <a:ahLst/>
              <a:cxnLst/>
              <a:rect l="l" t="t" r="r" b="b"/>
              <a:pathLst>
                <a:path w="12696" h="761" extrusionOk="0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4" name="Google Shape;404;p84"/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/>
              <a:ahLst/>
              <a:cxnLst/>
              <a:rect l="l" t="t" r="r" b="b"/>
              <a:pathLst>
                <a:path w="83084" h="32493" extrusionOk="0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5" name="Google Shape;405;p84"/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/>
              <a:ahLst/>
              <a:cxnLst/>
              <a:rect l="l" t="t" r="r" b="b"/>
              <a:pathLst>
                <a:path w="93416" h="33773" extrusionOk="0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6" name="Google Shape;406;p84"/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/>
              <a:ahLst/>
              <a:cxnLst/>
              <a:rect l="l" t="t" r="r" b="b"/>
              <a:pathLst>
                <a:path w="9951" h="613971" extrusionOk="0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7" name="Google Shape;407;p84"/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/>
              <a:ahLst/>
              <a:cxnLst/>
              <a:rect l="l" t="t" r="r" b="b"/>
              <a:pathLst>
                <a:path w="10459" h="191726" extrusionOk="0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8" name="Google Shape;408;p84"/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/>
              <a:ahLst/>
              <a:cxnLst/>
              <a:rect l="l" t="t" r="r" b="b"/>
              <a:pathLst>
                <a:path w="9081" h="99266" extrusionOk="0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09" name="Google Shape;409;p84"/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/>
              <a:ahLst/>
              <a:cxnLst/>
              <a:rect l="l" t="t" r="r" b="b"/>
              <a:pathLst>
                <a:path w="89130" h="35043" extrusionOk="0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0" name="Google Shape;410;p84"/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/>
              <a:ahLst/>
              <a:cxnLst/>
              <a:rect l="l" t="t" r="r" b="b"/>
              <a:pathLst>
                <a:path w="1307783" h="143350" extrusionOk="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1" name="Google Shape;411;p84"/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/>
              <a:ahLst/>
              <a:cxnLst/>
              <a:rect l="l" t="t" r="r" b="b"/>
              <a:pathLst>
                <a:path w="10840" h="178622" extrusionOk="0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2" name="Google Shape;412;p84"/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/>
              <a:ahLst/>
              <a:cxnLst/>
              <a:rect l="l" t="t" r="r" b="b"/>
              <a:pathLst>
                <a:path w="56" h="112" extrusionOk="0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3" name="Google Shape;413;p84"/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/>
              <a:ahLst/>
              <a:cxnLst/>
              <a:rect l="l" t="t" r="r" b="b"/>
              <a:pathLst>
                <a:path w="10791" h="37519" extrusionOk="0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4" name="Google Shape;414;p84"/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/>
              <a:ahLst/>
              <a:cxnLst/>
              <a:rect l="l" t="t" r="r" b="b"/>
              <a:pathLst>
                <a:path w="40502" h="69927" extrusionOk="0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5" name="Google Shape;415;p84"/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/>
              <a:ahLst/>
              <a:cxnLst/>
              <a:rect l="l" t="t" r="r" b="b"/>
              <a:pathLst>
                <a:path w="50475" h="94342" extrusionOk="0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6" name="Google Shape;416;p84"/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/>
              <a:ahLst/>
              <a:cxnLst/>
              <a:rect l="l" t="t" r="r" b="b"/>
              <a:pathLst>
                <a:path w="38" h="1015" extrusionOk="0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7" name="Google Shape;417;p84"/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/>
              <a:ahLst/>
              <a:cxnLst/>
              <a:rect l="l" t="t" r="r" b="b"/>
              <a:pathLst>
                <a:path w="47486" h="37836" extrusionOk="0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8" name="Google Shape;418;p84"/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/>
              <a:ahLst/>
              <a:cxnLst/>
              <a:rect l="l" t="t" r="r" b="b"/>
              <a:pathLst>
                <a:path w="222978" h="183018" extrusionOk="0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19" name="Google Shape;419;p84"/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/>
              <a:ahLst/>
              <a:cxnLst/>
              <a:rect l="l" t="t" r="r" b="b"/>
              <a:pathLst>
                <a:path w="9432" h="54849" extrusionOk="0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0" name="Google Shape;420;p84"/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/>
              <a:ahLst/>
              <a:cxnLst/>
              <a:rect l="l" t="t" r="r" b="b"/>
              <a:pathLst>
                <a:path w="9179" h="194180" extrusionOk="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1" name="Google Shape;421;p84"/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/>
              <a:ahLst/>
              <a:cxnLst/>
              <a:rect l="l" t="t" r="r" b="b"/>
              <a:pathLst>
                <a:path w="309342" h="275010" extrusionOk="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2" name="Google Shape;422;p84"/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/>
              <a:ahLst/>
              <a:cxnLst/>
              <a:rect l="l" t="t" r="r" b="b"/>
              <a:pathLst>
                <a:path w="292332" h="261326" extrusionOk="0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3" name="Google Shape;423;p84"/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/>
              <a:ahLst/>
              <a:cxnLst/>
              <a:rect l="l" t="t" r="r" b="b"/>
              <a:pathLst>
                <a:path w="104208" h="29604" extrusionOk="0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4" name="Google Shape;424;p84"/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/>
              <a:ahLst/>
              <a:cxnLst/>
              <a:rect l="l" t="t" r="r" b="b"/>
              <a:pathLst>
                <a:path w="171966" h="141412" extrusionOk="0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5" name="Google Shape;425;p84"/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/>
              <a:ahLst/>
              <a:cxnLst/>
              <a:rect l="l" t="t" r="r" b="b"/>
              <a:pathLst>
                <a:path w="9872" h="91046" extrusionOk="0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6" name="Google Shape;426;p84"/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/>
              <a:ahLst/>
              <a:cxnLst/>
              <a:rect l="l" t="t" r="r" b="b"/>
              <a:pathLst>
                <a:path w="268050" h="88369" extrusionOk="0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7" name="Google Shape;427;p84"/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/>
              <a:ahLst/>
              <a:cxnLst/>
              <a:rect l="l" t="t" r="r" b="b"/>
              <a:pathLst>
                <a:path w="129435" h="45579" extrusionOk="0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8" name="Google Shape;428;p84"/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/>
              <a:ahLst/>
              <a:cxnLst/>
              <a:rect l="l" t="t" r="r" b="b"/>
              <a:pathLst>
                <a:path w="849448" h="254177" extrusionOk="0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29" name="Google Shape;429;p84"/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/>
              <a:ahLst/>
              <a:cxnLst/>
              <a:rect l="l" t="t" r="r" b="b"/>
              <a:pathLst>
                <a:path w="10792" h="108112" extrusionOk="0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0" name="Google Shape;430;p84"/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/>
              <a:ahLst/>
              <a:cxnLst/>
              <a:rect l="l" t="t" r="r" b="b"/>
              <a:pathLst>
                <a:path w="9272" h="47491" extrusionOk="0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1" name="Google Shape;431;p84"/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/>
              <a:ahLst/>
              <a:cxnLst/>
              <a:rect l="l" t="t" r="r" b="b"/>
              <a:pathLst>
                <a:path w="191864" h="28827" extrusionOk="0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2" name="Google Shape;432;p84"/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/>
              <a:ahLst/>
              <a:cxnLst/>
              <a:rect l="l" t="t" r="r" b="b"/>
              <a:pathLst>
                <a:path w="9989" h="396524" extrusionOk="0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3" name="Google Shape;433;p84"/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/>
              <a:ahLst/>
              <a:cxnLst/>
              <a:rect l="l" t="t" r="r" b="b"/>
              <a:pathLst>
                <a:path w="990272" h="215590" extrusionOk="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4" name="Google Shape;434;p84"/>
            <p:cNvSpPr/>
            <p:nvPr/>
          </p:nvSpPr>
          <p:spPr>
            <a:xfrm>
              <a:off x="4127359" y="-12695"/>
              <a:ext cx="10792" cy="66581"/>
            </a:xfrm>
            <a:custGeom>
              <a:avLst/>
              <a:gdLst/>
              <a:ahLst/>
              <a:cxnLst/>
              <a:rect l="l" t="t" r="r" b="b"/>
              <a:pathLst>
                <a:path w="10792" h="66581" extrusionOk="0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5" name="Google Shape;435;p84"/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/>
              <a:ahLst/>
              <a:cxnLst/>
              <a:rect l="l" t="t" r="r" b="b"/>
              <a:pathLst>
                <a:path w="180067" h="26722" extrusionOk="0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6" name="Google Shape;436;p84"/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/>
              <a:ahLst/>
              <a:cxnLst/>
              <a:rect l="l" t="t" r="r" b="b"/>
              <a:pathLst>
                <a:path w="10791" h="79164" extrusionOk="0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7" name="Google Shape;437;p84"/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/>
              <a:ahLst/>
              <a:cxnLst/>
              <a:rect l="l" t="t" r="r" b="b"/>
              <a:pathLst>
                <a:path w="10791" h="112874" extrusionOk="0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8" name="Google Shape;438;p84"/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/>
              <a:ahLst/>
              <a:cxnLst/>
              <a:rect l="l" t="t" r="r" b="b"/>
              <a:pathLst>
                <a:path w="425562" h="97462" extrusionOk="0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39" name="Google Shape;439;p84"/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/>
              <a:ahLst/>
              <a:cxnLst/>
              <a:rect l="l" t="t" r="r" b="b"/>
              <a:pathLst>
                <a:path w="153307" h="39667" extrusionOk="0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0" name="Google Shape;440;p84"/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/>
              <a:ahLst/>
              <a:cxnLst/>
              <a:rect l="l" t="t" r="r" b="b"/>
              <a:pathLst>
                <a:path w="979332" h="109621" extrusionOk="0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41" name="Google Shape;441;p84"/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/>
              <a:ahLst/>
              <a:cxnLst/>
              <a:rect l="l" t="t" r="r" b="b"/>
              <a:pathLst>
                <a:path w="532272" h="63176" extrusionOk="0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ef6878a73_0_13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g3aef6878a73_0_13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5" name="Google Shape;445;g3aef6878a73_0_13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aef6878a73_0_258"/>
          <p:cNvSpPr/>
          <p:nvPr/>
        </p:nvSpPr>
        <p:spPr>
          <a:xfrm>
            <a:off x="41" y="3766000"/>
            <a:ext cx="9827100" cy="3092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g3aef6878a73_0_258"/>
          <p:cNvSpPr/>
          <p:nvPr/>
        </p:nvSpPr>
        <p:spPr>
          <a:xfrm flipH="1">
            <a:off x="4776900" y="2067600"/>
            <a:ext cx="7415100" cy="4790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3aef6878a73_0_258"/>
          <p:cNvSpPr/>
          <p:nvPr/>
        </p:nvSpPr>
        <p:spPr>
          <a:xfrm rot="10800000">
            <a:off x="6745206" y="-100"/>
            <a:ext cx="5446800" cy="27369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g3aef6878a73_0_258"/>
          <p:cNvSpPr/>
          <p:nvPr/>
        </p:nvSpPr>
        <p:spPr>
          <a:xfrm>
            <a:off x="271033" y="275000"/>
            <a:ext cx="11649900" cy="63081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3048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1" name="Google Shape;451;g3aef6878a73_0_258"/>
          <p:cNvGrpSpPr/>
          <p:nvPr/>
        </p:nvGrpSpPr>
        <p:grpSpPr>
          <a:xfrm>
            <a:off x="340259" y="790"/>
            <a:ext cx="3000409" cy="1392365"/>
            <a:chOff x="255200" y="592"/>
            <a:chExt cx="2250363" cy="1044300"/>
          </a:xfrm>
        </p:grpSpPr>
        <p:sp>
          <p:nvSpPr>
            <p:cNvPr id="452" name="Google Shape;452;g3aef6878a73_0_258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g3aef6878a73_0_258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g3aef6878a73_0_258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5" name="Google Shape;455;g3aef6878a73_0_258"/>
          <p:cNvGrpSpPr/>
          <p:nvPr/>
        </p:nvGrpSpPr>
        <p:grpSpPr>
          <a:xfrm>
            <a:off x="1207163" y="790"/>
            <a:ext cx="3000409" cy="1392365"/>
            <a:chOff x="905395" y="592"/>
            <a:chExt cx="2250363" cy="1044300"/>
          </a:xfrm>
        </p:grpSpPr>
        <p:sp>
          <p:nvSpPr>
            <p:cNvPr id="456" name="Google Shape;456;g3aef6878a73_0_258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g3aef6878a73_0_258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g3aef6878a73_0_258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" name="Google Shape;459;g3aef6878a73_0_258"/>
          <p:cNvGrpSpPr/>
          <p:nvPr/>
        </p:nvGrpSpPr>
        <p:grpSpPr>
          <a:xfrm>
            <a:off x="9409957" y="6784"/>
            <a:ext cx="2468376" cy="1002839"/>
            <a:chOff x="6917201" y="0"/>
            <a:chExt cx="2227777" cy="863400"/>
          </a:xfrm>
        </p:grpSpPr>
        <p:sp>
          <p:nvSpPr>
            <p:cNvPr id="460" name="Google Shape;460;g3aef6878a73_0_25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g3aef6878a73_0_25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g3aef6878a73_0_25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g3aef6878a73_0_258"/>
          <p:cNvGrpSpPr/>
          <p:nvPr/>
        </p:nvGrpSpPr>
        <p:grpSpPr>
          <a:xfrm>
            <a:off x="8737606" y="5623802"/>
            <a:ext cx="3185498" cy="1234317"/>
            <a:chOff x="6917201" y="0"/>
            <a:chExt cx="2227777" cy="863400"/>
          </a:xfrm>
        </p:grpSpPr>
        <p:sp>
          <p:nvSpPr>
            <p:cNvPr id="464" name="Google Shape;464;g3aef6878a73_0_25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g3aef6878a73_0_25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g3aef6878a73_0_25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g3aef6878a73_0_258"/>
          <p:cNvGrpSpPr/>
          <p:nvPr/>
        </p:nvGrpSpPr>
        <p:grpSpPr>
          <a:xfrm>
            <a:off x="265762" y="5407536"/>
            <a:ext cx="3727293" cy="1444382"/>
            <a:chOff x="6917201" y="0"/>
            <a:chExt cx="2227777" cy="863400"/>
          </a:xfrm>
        </p:grpSpPr>
        <p:sp>
          <p:nvSpPr>
            <p:cNvPr id="468" name="Google Shape;468;g3aef6878a73_0_25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g3aef6878a73_0_25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g3aef6878a73_0_25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1" name="Google Shape;471;g3aef6878a73_0_258"/>
          <p:cNvSpPr txBox="1">
            <a:spLocks noGrp="1"/>
          </p:cNvSpPr>
          <p:nvPr>
            <p:ph type="ctrTitle"/>
          </p:nvPr>
        </p:nvSpPr>
        <p:spPr>
          <a:xfrm>
            <a:off x="2478271" y="2430444"/>
            <a:ext cx="7148400" cy="1930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>
            <a:endParaRPr/>
          </a:p>
        </p:txBody>
      </p:sp>
      <p:sp>
        <p:nvSpPr>
          <p:cNvPr id="472" name="Google Shape;472;g3aef6878a73_0_258"/>
          <p:cNvSpPr txBox="1">
            <a:spLocks noGrp="1"/>
          </p:cNvSpPr>
          <p:nvPr>
            <p:ph type="subTitle" idx="1"/>
          </p:nvPr>
        </p:nvSpPr>
        <p:spPr>
          <a:xfrm>
            <a:off x="2478267" y="4550878"/>
            <a:ext cx="7148400" cy="69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3" name="Google Shape;473;g3aef6878a73_0_258"/>
          <p:cNvSpPr txBox="1">
            <a:spLocks noGrp="1"/>
          </p:cNvSpPr>
          <p:nvPr>
            <p:ph type="sldNum" idx="12"/>
          </p:nvPr>
        </p:nvSpPr>
        <p:spPr>
          <a:xfrm>
            <a:off x="11187645" y="6058224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2" name="Google Shape;12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  <p:sp>
        <p:nvSpPr>
          <p:cNvPr id="13" name="Google Shape;13;p70"/>
          <p:cNvSpPr txBox="1">
            <a:spLocks noGrp="1"/>
          </p:cNvSpPr>
          <p:nvPr>
            <p:ph type="sldNum" idx="1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0" marR="0" lvl="1" indent="0" algn="l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0" marR="0" lvl="2" indent="0" algn="l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0" marR="0" lvl="3" indent="0" algn="l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0" marR="0" lvl="4" indent="0" algn="l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0" marR="0" lvl="5" indent="0" algn="l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marL="0" marR="0" lvl="6" indent="0" algn="l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marL="0" marR="0" lvl="7" indent="0" algn="l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marL="0" marR="0" lvl="8" indent="0" algn="l" rtl="0">
              <a:spcBef>
                <a:spcPts val="0"/>
              </a:spcBef>
              <a:buNone/>
              <a:defRPr sz="1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pos="7104">
          <p15:clr>
            <a:srgbClr val="C35EA4"/>
          </p15:clr>
        </p15:guide>
        <p15:guide id="5" pos="576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://aprenderinternet.about.com/od/ConceptosBasico/a/La-Nube-En-Internet.htm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clavesliderazgoresponsable.blogspot.com/2018/10/la-importancia-de-la-curiosidad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" y="-12699"/>
            <a:ext cx="12191991" cy="6870699"/>
          </a:xfrm>
          <a:custGeom>
            <a:avLst/>
            <a:gdLst/>
            <a:ahLst/>
            <a:cxnLst/>
            <a:rect l="l" t="t" r="r" b="b"/>
            <a:pathLst>
              <a:path w="24338914" h="13716000">
                <a:moveTo>
                  <a:pt x="0" y="0"/>
                </a:moveTo>
                <a:lnTo>
                  <a:pt x="24338914" y="0"/>
                </a:lnTo>
                <a:lnTo>
                  <a:pt x="24338914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</a:blip>
            <a:stretch>
              <a:fillRect/>
            </a:stretch>
          </a:blipFill>
        </p:spPr>
        <p:txBody>
          <a:bodyPr/>
          <a:lstStyle/>
          <a:p>
            <a:endParaRPr lang="en-US" sz="933"/>
          </a:p>
        </p:txBody>
      </p:sp>
      <p:sp>
        <p:nvSpPr>
          <p:cNvPr id="5" name="TextBox 5"/>
          <p:cNvSpPr txBox="1"/>
          <p:nvPr/>
        </p:nvSpPr>
        <p:spPr>
          <a:xfrm>
            <a:off x="1763539" y="3553689"/>
            <a:ext cx="8501338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2133" b="1" dirty="0">
                <a:latin typeface="Arial MT Pro Bold"/>
                <a:ea typeface="Arial MT Pro Bold"/>
                <a:cs typeface="Arial MT Pro Bold"/>
                <a:sym typeface="Arial MT Pro Bold"/>
              </a:rPr>
              <a:t>LABORATORIO MANEJO E IMPLEMENTACION DE ARCHIVOS </a:t>
            </a:r>
          </a:p>
          <a:p>
            <a:pPr>
              <a:lnSpc>
                <a:spcPts val="2239"/>
              </a:lnSpc>
            </a:pPr>
            <a:r>
              <a:rPr lang="en-US" sz="2133" b="1" dirty="0">
                <a:latin typeface="Arial MT Pro Bold"/>
                <a:ea typeface="Arial MT Pro Bold"/>
                <a:cs typeface="Arial MT Pro Bold"/>
                <a:sym typeface="Arial MT Pro Bold"/>
              </a:rPr>
              <a:t>2DO SEMESTRE 2026 - X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475556"/>
              </p:ext>
            </p:extLst>
          </p:nvPr>
        </p:nvGraphicFramePr>
        <p:xfrm>
          <a:off x="6892413" y="1237804"/>
          <a:ext cx="4404852" cy="1053112"/>
        </p:xfrm>
        <a:graphic>
          <a:graphicData uri="http://schemas.openxmlformats.org/drawingml/2006/table">
            <a:tbl>
              <a:tblPr/>
              <a:tblGrid>
                <a:gridCol w="1812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6556">
                <a:tc>
                  <a:txBody>
                    <a:bodyPr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Arial MT Pro Bold"/>
                          <a:sym typeface="Arial MT Pro Bold"/>
                        </a:rPr>
                        <a:t>Dia, </a:t>
                      </a:r>
                      <a:r>
                        <a:rPr lang="en-US" sz="1900" b="1" dirty="0" err="1">
                          <a:solidFill>
                            <a:srgbClr val="000000"/>
                          </a:solidFill>
                          <a:latin typeface="Arial MT Pro Bold"/>
                          <a:sym typeface="Arial MT Pro Bold"/>
                        </a:rPr>
                        <a:t>Fecha</a:t>
                      </a: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Arial MT Pro Bold"/>
                          <a:sym typeface="Arial MT Pro Bold"/>
                        </a:rPr>
                        <a:t>:</a:t>
                      </a:r>
                      <a:endParaRPr lang="en-US" sz="700" dirty="0"/>
                    </a:p>
                  </a:txBody>
                  <a:tcPr marL="60950" marR="60950" marT="60950" marB="609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LUNES , 16/03/2026</a:t>
                      </a:r>
                      <a:endParaRPr lang="en-US" sz="700" dirty="0"/>
                    </a:p>
                  </a:txBody>
                  <a:tcPr marL="60950" marR="60950" marT="60950" marB="609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556">
                <a:tc>
                  <a:txBody>
                    <a:bodyPr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Hora de </a:t>
                      </a:r>
                      <a:r>
                        <a:rPr lang="en-US" sz="1900" b="1" dirty="0" err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inicio</a:t>
                      </a:r>
                      <a:r>
                        <a:rPr lang="en-US" sz="1900" b="1" dirty="0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:</a:t>
                      </a:r>
                      <a:endParaRPr lang="en-US" sz="700" dirty="0"/>
                    </a:p>
                  </a:txBody>
                  <a:tcPr marL="60950" marR="60950" marT="60950" marB="609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6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17:20</a:t>
                      </a:r>
                      <a:endParaRPr lang="en-US" sz="700" dirty="0"/>
                    </a:p>
                  </a:txBody>
                  <a:tcPr marL="60950" marR="60950" marT="60950" marB="6095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5">
            <a:extLst>
              <a:ext uri="{FF2B5EF4-FFF2-40B4-BE49-F238E27FC236}">
                <a16:creationId xmlns:a16="http://schemas.microsoft.com/office/drawing/2014/main" id="{5778FB04-7CE0-F773-EAD9-DD83B8D7FCB2}"/>
              </a:ext>
            </a:extLst>
          </p:cNvPr>
          <p:cNvSpPr txBox="1"/>
          <p:nvPr/>
        </p:nvSpPr>
        <p:spPr>
          <a:xfrm>
            <a:off x="1763539" y="4556938"/>
            <a:ext cx="8501338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39"/>
              </a:lnSpc>
            </a:pPr>
            <a:r>
              <a:rPr lang="en-US" sz="2133" b="1" dirty="0">
                <a:latin typeface="Arial MT Pro Bold"/>
                <a:ea typeface="Arial MT Pro Bold"/>
                <a:cs typeface="Arial MT Pro Bold"/>
                <a:sym typeface="Arial MT Pro Bold"/>
              </a:rPr>
              <a:t>TUTOR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ef6878a73_0_4"/>
          <p:cNvSpPr txBox="1">
            <a:spLocks noGrp="1"/>
          </p:cNvSpPr>
          <p:nvPr>
            <p:ph type="title"/>
          </p:nvPr>
        </p:nvSpPr>
        <p:spPr>
          <a:xfrm>
            <a:off x="1575769" y="1938948"/>
            <a:ext cx="9676500" cy="15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 dirty="0"/>
              <a:t>Unidad No. 2 - Introducción a los Almacenamientos en Red y en la Nube</a:t>
            </a:r>
            <a:endParaRPr dirty="0"/>
          </a:p>
        </p:txBody>
      </p:sp>
      <p:sp>
        <p:nvSpPr>
          <p:cNvPr id="487" name="Google Shape;487;g3aef6878a73_0_4"/>
          <p:cNvSpPr txBox="1"/>
          <p:nvPr/>
        </p:nvSpPr>
        <p:spPr>
          <a:xfrm>
            <a:off x="432350" y="4098450"/>
            <a:ext cx="693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773 - Manejo e Implementación de Archivos</a:t>
            </a:r>
            <a:endParaRPr sz="2400"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8" name="Google Shape;488;g3aef6878a73_0_4"/>
          <p:cNvSpPr txBox="1"/>
          <p:nvPr/>
        </p:nvSpPr>
        <p:spPr>
          <a:xfrm>
            <a:off x="432346" y="4597759"/>
            <a:ext cx="609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800"/>
              <a:buFont typeface="Open Sans"/>
              <a:buNone/>
            </a:pPr>
            <a:r>
              <a:rPr lang="es-MX" sz="18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489" name="Google Shape;489;g3aef6878a73_0_4"/>
          <p:cNvSpPr txBox="1"/>
          <p:nvPr/>
        </p:nvSpPr>
        <p:spPr>
          <a:xfrm>
            <a:off x="432346" y="5040573"/>
            <a:ext cx="6154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800"/>
              <a:buFont typeface="Open Sans"/>
              <a:buNone/>
            </a:pPr>
            <a:r>
              <a:rPr lang="es-MX" sz="18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sz="1800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0" name="Google Shape;490;g3aef6878a73_0_4"/>
          <p:cNvSpPr txBox="1"/>
          <p:nvPr/>
        </p:nvSpPr>
        <p:spPr>
          <a:xfrm>
            <a:off x="432346" y="5483387"/>
            <a:ext cx="609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800"/>
              <a:buFont typeface="Open Sans"/>
              <a:buNone/>
            </a:pPr>
            <a:r>
              <a:rPr lang="es-MX" sz="18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491" name="Google Shape;491;g3aef6878a73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8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"/>
          <p:cNvSpPr txBox="1">
            <a:spLocks noGrp="1"/>
          </p:cNvSpPr>
          <p:nvPr>
            <p:ph type="title"/>
          </p:nvPr>
        </p:nvSpPr>
        <p:spPr>
          <a:xfrm>
            <a:off x="2666247" y="1706645"/>
            <a:ext cx="6854718" cy="1581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/>
              <a:t>TIPOS DE ALMACENAMIENTO EN LA NUBE</a:t>
            </a:r>
            <a:endParaRPr/>
          </a:p>
        </p:txBody>
      </p:sp>
      <p:sp>
        <p:nvSpPr>
          <p:cNvPr id="497" name="Google Shape;497;p2"/>
          <p:cNvSpPr txBox="1"/>
          <p:nvPr/>
        </p:nvSpPr>
        <p:spPr>
          <a:xfrm>
            <a:off x="432350" y="4098450"/>
            <a:ext cx="6939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 b="1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773 - Manejo e Implementación de Archivos</a:t>
            </a:r>
            <a:endParaRPr sz="2400" b="1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"/>
          <p:cNvSpPr txBox="1"/>
          <p:nvPr/>
        </p:nvSpPr>
        <p:spPr>
          <a:xfrm>
            <a:off x="432346" y="4597759"/>
            <a:ext cx="6098344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800"/>
              <a:buFont typeface="Open Sans"/>
              <a:buNone/>
            </a:pPr>
            <a:r>
              <a:rPr lang="es-MX" sz="18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499" name="Google Shape;499;p2"/>
          <p:cNvSpPr txBox="1"/>
          <p:nvPr/>
        </p:nvSpPr>
        <p:spPr>
          <a:xfrm>
            <a:off x="432346" y="5040573"/>
            <a:ext cx="6154614" cy="442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800"/>
              <a:buFont typeface="Open Sans"/>
              <a:buNone/>
            </a:pPr>
            <a:r>
              <a:rPr lang="es-MX" sz="18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sz="1800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0" name="Google Shape;500;p2"/>
          <p:cNvSpPr txBox="1"/>
          <p:nvPr/>
        </p:nvSpPr>
        <p:spPr>
          <a:xfrm>
            <a:off x="432346" y="5483387"/>
            <a:ext cx="6098344" cy="44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800"/>
              <a:buFont typeface="Open Sans"/>
              <a:buNone/>
            </a:pPr>
            <a:r>
              <a:rPr lang="es-MX" sz="18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01" name="Google Shape;50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8675" y="0"/>
            <a:ext cx="10243325" cy="1067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"/>
          <p:cNvSpPr txBox="1">
            <a:spLocks noGrp="1"/>
          </p:cNvSpPr>
          <p:nvPr>
            <p:ph type="body" idx="1"/>
          </p:nvPr>
        </p:nvSpPr>
        <p:spPr>
          <a:xfrm>
            <a:off x="218475" y="1899425"/>
            <a:ext cx="5067000" cy="2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Dudas generales o del proyecto</a:t>
            </a:r>
            <a:endParaRPr sz="2000" b="0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Avisos</a:t>
            </a:r>
            <a:endParaRPr sz="2000" b="0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Tipos de almacenamiento en la nube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/>
              <a:t>corto 8</a:t>
            </a:r>
            <a:endParaRPr sz="2000" b="0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08" name="Google Shape;508;p3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"/>
          <p:cNvSpPr txBox="1"/>
          <p:nvPr/>
        </p:nvSpPr>
        <p:spPr>
          <a:xfrm>
            <a:off x="911349" y="669725"/>
            <a:ext cx="3444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s-MX" sz="6000" b="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6000" b="0" i="0" u="none" strike="noStrike" cap="non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510" name="Google Shape;510;p3"/>
          <p:cNvSpPr txBox="1"/>
          <p:nvPr/>
        </p:nvSpPr>
        <p:spPr>
          <a:xfrm>
            <a:off x="6188569" y="2967300"/>
            <a:ext cx="3045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lang="es-MX" sz="6000" b="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6000" b="0" i="0" u="none" strike="noStrike" cap="non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511" name="Google Shape;511;p3"/>
          <p:cNvSpPr txBox="1">
            <a:spLocks noGrp="1"/>
          </p:cNvSpPr>
          <p:nvPr>
            <p:ph type="body" idx="1"/>
          </p:nvPr>
        </p:nvSpPr>
        <p:spPr>
          <a:xfrm>
            <a:off x="4967825" y="4291650"/>
            <a:ext cx="4848000" cy="2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Dudas generales o del proyecto</a:t>
            </a:r>
            <a:endParaRPr sz="2000" b="0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Avisos</a:t>
            </a:r>
            <a:endParaRPr sz="2000" b="0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Tipos de almacenamiento en la nube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 codigo</a:t>
            </a:r>
            <a:endParaRPr sz="2000" b="0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4"/>
          <p:cNvSpPr txBox="1"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000"/>
              <a:buFont typeface="Impact"/>
              <a:buNone/>
            </a:pPr>
            <a:r>
              <a:rPr lang="es-MX" sz="400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br>
              <a:rPr lang="es-MX">
                <a:latin typeface="Impact"/>
                <a:ea typeface="Impact"/>
                <a:cs typeface="Impact"/>
                <a:sym typeface="Impact"/>
              </a:rPr>
            </a:br>
            <a:endParaRPr/>
          </a:p>
        </p:txBody>
      </p:sp>
      <p:sp>
        <p:nvSpPr>
          <p:cNvPr id="517" name="Google Shape;517;p4"/>
          <p:cNvSpPr txBox="1">
            <a:spLocks noGrp="1"/>
          </p:cNvSpPr>
          <p:nvPr>
            <p:ph type="body" idx="1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MX" sz="1800" i="0">
                <a:latin typeface="Libre Franklin"/>
                <a:ea typeface="Libre Franklin"/>
                <a:cs typeface="Libre Franklin"/>
                <a:sym typeface="Libre Franklin"/>
              </a:rPr>
              <a:t>Comprende el modelo de seguridad integral para almacenamiento de datos mediante el análisis de amenazas, controles de acceso y técnicas de respaldo para garantizar la confidencialidad, integridad y disponibilidad de la información 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518" name="Google Shape;518;p4" title="Gemini_Generated_Image_sfb0qdsfb0qdsfb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5234360" cy="717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aef6878a73_0_15"/>
          <p:cNvSpPr txBox="1">
            <a:spLocks noGrp="1"/>
          </p:cNvSpPr>
          <p:nvPr>
            <p:ph type="body" idx="1"/>
          </p:nvPr>
        </p:nvSpPr>
        <p:spPr>
          <a:xfrm>
            <a:off x="6269600" y="1350200"/>
            <a:ext cx="4705500" cy="26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None/>
            </a:pPr>
            <a:r>
              <a:rPr lang="es-MX" sz="1765">
                <a:latin typeface="Libre Franklin"/>
                <a:ea typeface="Libre Franklin"/>
                <a:cs typeface="Libre Franklin"/>
                <a:sym typeface="Libre Franklin"/>
              </a:rPr>
              <a:t>Explica los fundamentos de conectividad, administración y evolución de tecnologías de red y almacenamiento mediante la identificación de componentes clave y su interacción funcional para comprender su rol en infraestructuras tecnológicas actuales.</a:t>
            </a:r>
            <a:endParaRPr sz="269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524" name="Google Shape;524;g3aef6878a73_0_15" title="Gemini_Generated_Image_sfb0qdsfb0qdsfb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1"/>
            <a:ext cx="5234360" cy="7173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"/>
          <p:cNvSpPr txBox="1"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br>
              <a:rPr lang="es-MX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ALMACENAMIENTO EN LA NUBE</a:t>
            </a:r>
            <a:endParaRPr sz="4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"/>
          <p:cNvSpPr txBox="1"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OBJETIVOS </a:t>
            </a:r>
            <a:endParaRPr/>
          </a:p>
        </p:txBody>
      </p:sp>
      <p:sp>
        <p:nvSpPr>
          <p:cNvPr id="537" name="Google Shape;537;p6"/>
          <p:cNvSpPr txBox="1">
            <a:spLocks noGrp="1"/>
          </p:cNvSpPr>
          <p:nvPr>
            <p:ph type="body" idx="1"/>
          </p:nvPr>
        </p:nvSpPr>
        <p:spPr>
          <a:xfrm>
            <a:off x="899160" y="1629964"/>
            <a:ext cx="10210800" cy="195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s-MX" sz="17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Definir el almacenamiento en la nube</a:t>
            </a:r>
            <a:r>
              <a:rPr lang="es-MX" sz="17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y su función en el manejo de la información.</a:t>
            </a:r>
            <a:endParaRPr/>
          </a:p>
          <a:p>
            <a:pPr marL="0" marR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s-MX" sz="17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Explorar la historia del almacenamiento en la nube</a:t>
            </a:r>
            <a:r>
              <a:rPr lang="es-MX" sz="17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desde sus inicios hasta su evolución actual.</a:t>
            </a:r>
            <a:endParaRPr/>
          </a:p>
          <a:p>
            <a:pPr marL="0" marR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s-MX" sz="17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Describir los diferentes tipos de almacenamiento en la nube</a:t>
            </a:r>
            <a:r>
              <a:rPr lang="es-MX" sz="17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incluyendo opciones públicas, privadas e híbridas.</a:t>
            </a:r>
            <a:endParaRPr/>
          </a:p>
          <a:p>
            <a:pPr marL="0" marR="0" lvl="0" indent="0" algn="just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s-MX" sz="17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Destacar la importancia del almacenamiento en la nube</a:t>
            </a:r>
            <a:r>
              <a:rPr lang="es-MX" sz="17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la era digital y su impacto en empresas y usuarios individuales.</a:t>
            </a:r>
            <a:endParaRPr sz="1700" b="0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38" name="Google Shape;538;p6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9" name="Google Shape;539;p6" descr="Un dibujo de un avión&#10;&#10;Descripción generada automáticamente con confianza baja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25791" b="25791"/>
          <a:stretch/>
        </p:blipFill>
        <p:spPr>
          <a:xfrm>
            <a:off x="2163763" y="3992961"/>
            <a:ext cx="10028237" cy="24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"/>
          <p:cNvSpPr txBox="1">
            <a:spLocks noGrp="1"/>
          </p:cNvSpPr>
          <p:nvPr>
            <p:ph type="title"/>
          </p:nvPr>
        </p:nvSpPr>
        <p:spPr>
          <a:xfrm>
            <a:off x="902208" y="420624"/>
            <a:ext cx="5864352" cy="362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EL ALMACENAMIENTO EN LA NUBE?</a:t>
            </a:r>
            <a:endParaRPr sz="4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6" name="Google Shape;546;p7" descr="Dibujo de la cara de una persona&#10;&#10;Descripción generada automáticamente con confianza baja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9348" r="19808"/>
          <a:stretch/>
        </p:blipFill>
        <p:spPr>
          <a:xfrm>
            <a:off x="7874000" y="-9144"/>
            <a:ext cx="5029200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7"/>
          <p:cNvSpPr txBox="1"/>
          <p:nvPr/>
        </p:nvSpPr>
        <p:spPr>
          <a:xfrm>
            <a:off x="7625969" y="6593269"/>
            <a:ext cx="458152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es-MX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de Autor desconocido está bajo licencia </a:t>
            </a: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ES EL ALMACENAMIENTO EN LA NUBE?</a:t>
            </a:r>
            <a:endParaRPr/>
          </a:p>
        </p:txBody>
      </p:sp>
      <p:sp>
        <p:nvSpPr>
          <p:cNvPr id="554" name="Google Shape;554;p8"/>
          <p:cNvSpPr txBox="1">
            <a:spLocks noGrp="1"/>
          </p:cNvSpPr>
          <p:nvPr>
            <p:ph type="body" idx="2"/>
          </p:nvPr>
        </p:nvSpPr>
        <p:spPr>
          <a:xfrm>
            <a:off x="7554351" y="2058670"/>
            <a:ext cx="3743887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</a:t>
            </a:r>
            <a:r>
              <a:rPr lang="es-MX" sz="2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</a:t>
            </a: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es un modelo de servicio que permite guardar datos en servidores remotos accesibles a través de Internet. En lugar de almacenar archivos en discos duros o dispositivos físicos, los usuarios pueden acceder a su información desde cualquier lugar y en cualquier momento.</a:t>
            </a:r>
            <a:endParaRPr/>
          </a:p>
        </p:txBody>
      </p:sp>
      <p:sp>
        <p:nvSpPr>
          <p:cNvPr id="555" name="Google Shape;555;p8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6" name="Google Shape;556;p8"/>
          <p:cNvGrpSpPr/>
          <p:nvPr/>
        </p:nvGrpSpPr>
        <p:grpSpPr>
          <a:xfrm>
            <a:off x="911352" y="2174010"/>
            <a:ext cx="6192837" cy="3457080"/>
            <a:chOff x="0" y="115341"/>
            <a:chExt cx="6192837" cy="3457080"/>
          </a:xfrm>
        </p:grpSpPr>
        <p:sp>
          <p:nvSpPr>
            <p:cNvPr id="557" name="Google Shape;557;p8"/>
            <p:cNvSpPr/>
            <p:nvPr/>
          </p:nvSpPr>
          <p:spPr>
            <a:xfrm>
              <a:off x="0" y="115341"/>
              <a:ext cx="6192837" cy="575639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46164"/>
                </a:gs>
                <a:gs pos="50000">
                  <a:srgbClr val="F83E42"/>
                </a:gs>
                <a:gs pos="100000">
                  <a:srgbClr val="E32C31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8"/>
            <p:cNvSpPr txBox="1"/>
            <p:nvPr/>
          </p:nvSpPr>
          <p:spPr>
            <a:xfrm>
              <a:off x="28100" y="143441"/>
              <a:ext cx="6136637" cy="5194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venir"/>
                <a:buNone/>
              </a:pPr>
              <a:r>
                <a:rPr lang="es-MX" sz="2400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rPr>
                <a:t>Ejemplos cotidianos:</a:t>
              </a:r>
              <a:endParaRPr sz="24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559" name="Google Shape;559;p8"/>
            <p:cNvSpPr/>
            <p:nvPr/>
          </p:nvSpPr>
          <p:spPr>
            <a:xfrm>
              <a:off x="0" y="690981"/>
              <a:ext cx="6192837" cy="2881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8"/>
            <p:cNvSpPr txBox="1"/>
            <p:nvPr/>
          </p:nvSpPr>
          <p:spPr>
            <a:xfrm>
              <a:off x="0" y="690981"/>
              <a:ext cx="6192837" cy="2881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6600" tIns="30475" rIns="170675" bIns="30475" anchor="t" anchorCtr="0">
              <a:noAutofit/>
            </a:bodyPr>
            <a:lstStyle/>
            <a:p>
              <a:pPr marL="171450" marR="0" lvl="1" indent="-17145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Char char="•"/>
              </a:pPr>
              <a:r>
                <a:rPr lang="es-MX" sz="1900" b="1" i="0" u="none" strike="noStrike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Google Drive</a:t>
              </a:r>
              <a:r>
                <a:rPr lang="es-MX" sz="1900" b="0" i="0" u="none" strike="noStrike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Almacena documentos, fotos y videos, permitiendo edición y colaboración en línea.</a:t>
              </a:r>
              <a:endParaRPr sz="19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Char char="•"/>
              </a:pPr>
              <a:r>
                <a:rPr lang="es-MX" sz="1900" b="1" i="0" u="none" strike="noStrike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Dropbox</a:t>
              </a:r>
              <a:r>
                <a:rPr lang="es-MX" sz="1900" b="0" i="0" u="none" strike="noStrike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Sincroniza archivos entre dispositivos y facilita el acceso compartido.</a:t>
              </a:r>
              <a:endParaRPr sz="19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Char char="•"/>
              </a:pPr>
              <a:r>
                <a:rPr lang="es-MX" sz="1900" b="1" i="0" u="none" strike="noStrike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OneDrive</a:t>
              </a:r>
              <a:r>
                <a:rPr lang="es-MX" sz="1900" b="0" i="0" u="none" strike="noStrike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Servicio de Microsoft integrado con Windows y Office para almacenar y compartir archivos.</a:t>
              </a:r>
              <a:endParaRPr sz="19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  <a:p>
              <a:pPr marL="171450" marR="0" lvl="1" indent="-171450" algn="l" rtl="0">
                <a:lnSpc>
                  <a:spcPct val="90000"/>
                </a:lnSpc>
                <a:spcBef>
                  <a:spcPts val="38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venir"/>
                <a:buChar char="•"/>
              </a:pPr>
              <a:r>
                <a:rPr lang="es-MX" sz="1900" b="1" i="0" u="none" strike="noStrike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iCloud</a:t>
              </a:r>
              <a:r>
                <a:rPr lang="es-MX" sz="1900" b="0" i="0" u="none" strike="noStrike" cap="non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Plataforma de Apple para almacenar fotos, contactos y copias de seguridad de dispositivos.</a:t>
              </a:r>
              <a:endParaRPr sz="19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9"/>
          <p:cNvSpPr txBox="1">
            <a:spLocks noGrp="1"/>
          </p:cNvSpPr>
          <p:nvPr>
            <p:ph type="title"/>
          </p:nvPr>
        </p:nvSpPr>
        <p:spPr>
          <a:xfrm>
            <a:off x="6096000" y="176784"/>
            <a:ext cx="5864352" cy="362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IMPORTANCIA DEL ALMACENAMIENTO EN LA NUBE</a:t>
            </a:r>
            <a:endParaRPr sz="4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7" name="Google Shape;567;p9" descr="Una persona con una camisa amarilla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3" r="32"/>
          <a:stretch/>
        </p:blipFill>
        <p:spPr>
          <a:xfrm>
            <a:off x="-15240" y="-15240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9"/>
          <p:cNvSpPr txBox="1">
            <a:spLocks noGrp="1"/>
          </p:cNvSpPr>
          <p:nvPr>
            <p:ph type="body" idx="1"/>
          </p:nvPr>
        </p:nvSpPr>
        <p:spPr>
          <a:xfrm>
            <a:off x="6096000" y="4084320"/>
            <a:ext cx="5864225" cy="2362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2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Era digital </a:t>
            </a:r>
            <a:endParaRPr sz="2800" b="0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0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IMPORTANCIA DEL ALMACENAMIENTO EN LA NUBE</a:t>
            </a:r>
            <a:endParaRPr/>
          </a:p>
        </p:txBody>
      </p:sp>
      <p:sp>
        <p:nvSpPr>
          <p:cNvPr id="575" name="Google Shape;575;p10"/>
          <p:cNvSpPr/>
          <p:nvPr/>
        </p:nvSpPr>
        <p:spPr>
          <a:xfrm>
            <a:off x="5539623" y="2199346"/>
            <a:ext cx="6192838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MX" sz="19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Accesibilidad global</a:t>
            </a:r>
            <a:r>
              <a:rPr lang="es-MX" sz="19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Los datos pueden consultarse desde cualquier dispositivo con Internet. </a:t>
            </a:r>
            <a:endParaRPr/>
          </a:p>
          <a:p>
            <a:pPr marL="228600" marR="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MX" sz="19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Respaldo y recuperación</a:t>
            </a:r>
            <a:r>
              <a:rPr lang="es-MX" sz="19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Evita la pérdida de información ante fallos en dispositivos físicos. </a:t>
            </a:r>
            <a:endParaRPr/>
          </a:p>
          <a:p>
            <a:pPr marL="228600" marR="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MX" sz="19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Escalabilidad</a:t>
            </a:r>
            <a:r>
              <a:rPr lang="es-MX" sz="19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Empresas y usuarios pueden ampliar su almacenamiento según sus necesidades. </a:t>
            </a:r>
            <a:endParaRPr/>
          </a:p>
          <a:p>
            <a:pPr marL="228600" marR="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MX" sz="19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Colaboración en tiempo real</a:t>
            </a:r>
            <a:r>
              <a:rPr lang="es-MX" sz="19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Permite el trabajo simultáneo en documentos sin necesidad de enviarlos por correo. </a:t>
            </a:r>
            <a:endParaRPr/>
          </a:p>
          <a:p>
            <a:pPr marL="228600" marR="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s-MX" sz="19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Reducción de costos</a:t>
            </a:r>
            <a:r>
              <a:rPr lang="es-MX" sz="19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Minimiza la necesidad de hardware físico y mantenimiento. </a:t>
            </a:r>
            <a:endParaRPr/>
          </a:p>
        </p:txBody>
      </p:sp>
      <p:sp>
        <p:nvSpPr>
          <p:cNvPr id="576" name="Google Shape;576;p10"/>
          <p:cNvSpPr txBox="1">
            <a:spLocks noGrp="1"/>
          </p:cNvSpPr>
          <p:nvPr>
            <p:ph type="body" idx="2"/>
          </p:nvPr>
        </p:nvSpPr>
        <p:spPr>
          <a:xfrm>
            <a:off x="911352" y="2175997"/>
            <a:ext cx="3729821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almacenamiento en la nube es esencial en la era digital porque permite </a:t>
            </a:r>
            <a:r>
              <a:rPr lang="es-MX" sz="2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flexible, seguridad y eficiencia en la gestión de datos</a:t>
            </a: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 Su relevancia se debe a varios factores clave:</a:t>
            </a:r>
            <a:b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b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Ejemplo: Empresas como Netflix dependen de la nube para almacenar y distribuir su contenido globalmente sin necesidad de servidores físicos propios.</a:t>
            </a:r>
            <a:endParaRPr sz="2000" b="0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7" name="Google Shape;577;p10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1"/>
          <p:cNvSpPr txBox="1">
            <a:spLocks noGrp="1"/>
          </p:cNvSpPr>
          <p:nvPr>
            <p:ph type="title"/>
          </p:nvPr>
        </p:nvSpPr>
        <p:spPr>
          <a:xfrm>
            <a:off x="6096000" y="1342293"/>
            <a:ext cx="5423731" cy="3316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br>
              <a:rPr lang="es-MX"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6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HISTORIA Y ORÍGENES</a:t>
            </a:r>
            <a:endParaRPr sz="6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2"/>
          <p:cNvSpPr txBox="1"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PRECURSORES DEL ALMACENAMIENTO EN LA NUBE</a:t>
            </a: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2"/>
          <p:cNvSpPr txBox="1">
            <a:spLocks noGrp="1"/>
          </p:cNvSpPr>
          <p:nvPr>
            <p:ph type="body" idx="1"/>
          </p:nvPr>
        </p:nvSpPr>
        <p:spPr>
          <a:xfrm>
            <a:off x="899159" y="2087880"/>
            <a:ext cx="10535113" cy="195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marR="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Conceptos tempranos como el "time-sharing" en los años 60.</a:t>
            </a:r>
            <a:endParaRPr/>
          </a:p>
          <a:p>
            <a:pPr marL="742950" marR="0" lvl="1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John McCarthy y su idea de la computación como servicio.</a:t>
            </a:r>
            <a:endParaRPr/>
          </a:p>
        </p:txBody>
      </p:sp>
      <p:sp>
        <p:nvSpPr>
          <p:cNvPr id="591" name="Google Shape;591;p12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2" name="Google Shape;592;p12" descr="Imagen de la pantalla de un videojuego&#10;&#10;Descripción generada automáticamente con confianza baja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29081" b="29082"/>
          <a:stretch/>
        </p:blipFill>
        <p:spPr>
          <a:xfrm>
            <a:off x="2179320" y="4094802"/>
            <a:ext cx="10027919" cy="246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3"/>
          <p:cNvSpPr txBox="1"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PRECURSORES DEL ALMACENAMIENTO EN LA NUBE</a:t>
            </a: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3"/>
          <p:cNvSpPr txBox="1">
            <a:spLocks noGrp="1"/>
          </p:cNvSpPr>
          <p:nvPr>
            <p:ph type="body" idx="1"/>
          </p:nvPr>
        </p:nvSpPr>
        <p:spPr>
          <a:xfrm>
            <a:off x="899159" y="2026920"/>
            <a:ext cx="10425333" cy="1096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almacenamiento en la nube tiene sus raíces en conceptos desarrollados desde los años 60, cuando se comenzó a explorar el uso compartido de recursos computacionales.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00" name="Google Shape;600;p13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3"/>
          <p:cNvSpPr txBox="1"/>
          <p:nvPr/>
        </p:nvSpPr>
        <p:spPr>
          <a:xfrm>
            <a:off x="899159" y="3291840"/>
            <a:ext cx="4741986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Time-Sharing (Años 60)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Concepto que permitía a múltiples usuarios acceder simultáneamente a un mismo sistema informático central.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Redujo costos al distribuir el poder de cómputo entre varios usuarios.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Fue la base para el desarrollo de la computación remota y los servicios en la nube.</a:t>
            </a:r>
            <a:endParaRPr/>
          </a:p>
        </p:txBody>
      </p:sp>
      <p:sp>
        <p:nvSpPr>
          <p:cNvPr id="602" name="Google Shape;602;p13"/>
          <p:cNvSpPr txBox="1"/>
          <p:nvPr/>
        </p:nvSpPr>
        <p:spPr>
          <a:xfrm>
            <a:off x="6096000" y="3151163"/>
            <a:ext cx="5326966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Otros avances clave: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ARPANET (Años 70)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Primera red que permitió el acceso remoto a sistemas.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Virtualización (Años 90)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Creación de máquinas virtuales que facilitó la separación entre hardware y software.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Ejemplo: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IBM y General Electric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fueron pioneros en ofrecer servicios de cómputo compartido en esta época.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03" name="Google Shape;603;p13" descr="Gesto de doble toque contor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51477" y="173502"/>
            <a:ext cx="1591994" cy="159199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3"/>
          <p:cNvSpPr/>
          <p:nvPr/>
        </p:nvSpPr>
        <p:spPr>
          <a:xfrm>
            <a:off x="407963" y="1386840"/>
            <a:ext cx="6663397" cy="168812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4"/>
          <p:cNvSpPr txBox="1">
            <a:spLocks noGrp="1"/>
          </p:cNvSpPr>
          <p:nvPr>
            <p:ph type="title"/>
          </p:nvPr>
        </p:nvSpPr>
        <p:spPr>
          <a:xfrm>
            <a:off x="899159" y="137160"/>
            <a:ext cx="9452317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PRECURSORES DEL ALMACENAMIENTO EN LA NUBE</a:t>
            </a:r>
            <a:br>
              <a:rPr lang="es-MX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4"/>
          <p:cNvSpPr txBox="1">
            <a:spLocks noGrp="1"/>
          </p:cNvSpPr>
          <p:nvPr>
            <p:ph type="body" idx="1"/>
          </p:nvPr>
        </p:nvSpPr>
        <p:spPr>
          <a:xfrm>
            <a:off x="899159" y="2026920"/>
            <a:ext cx="10425333" cy="1096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John McCarthy, pionero en inteligencia artificial, propuso en los años 60 la idea de que </a:t>
            </a:r>
            <a:r>
              <a:rPr lang="es-MX" sz="2000" b="1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 computación podría ofrecerse como un servicio público</a:t>
            </a: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similar a la electricidad o el agua.</a:t>
            </a:r>
            <a:b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Principales ideas de McCarthy:</a:t>
            </a:r>
            <a:endParaRPr sz="2000" b="0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12" name="Google Shape;612;p14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4"/>
          <p:cNvSpPr txBox="1"/>
          <p:nvPr/>
        </p:nvSpPr>
        <p:spPr>
          <a:xfrm>
            <a:off x="899158" y="3291840"/>
            <a:ext cx="5670453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bajo demanda: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Los usuarios no necesitarían poseer computadoras potentes, solo pagar por el uso de recursos computacionales.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Optimización de costos: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Compartir potencia de cómputo permitiría reducir gastos y mejorar la eficiencia.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Fundamento de la computación en la nube: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Su visión sentó las bases para modelos como </a:t>
            </a:r>
            <a:r>
              <a:rPr lang="es-MX" sz="1800" i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Software as a Service (SaaS)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y </a:t>
            </a:r>
            <a:r>
              <a:rPr lang="es-MX" sz="1800" i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Infrastructure as a Service (IaaS)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</p:txBody>
      </p:sp>
      <p:sp>
        <p:nvSpPr>
          <p:cNvPr id="614" name="Google Shape;614;p14"/>
          <p:cNvSpPr txBox="1"/>
          <p:nvPr/>
        </p:nvSpPr>
        <p:spPr>
          <a:xfrm>
            <a:off x="7329268" y="3151163"/>
            <a:ext cx="4093698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Ejemplo: Hoy en día, servicios como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Web Services (AWS)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y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Cloud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siguen este principio, ofreciendo almacenamiento y procesamiento en la nube según el consumo del usuario.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15" name="Google Shape;615;p14" descr="Gesto de doble toque contorn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51477" y="173502"/>
            <a:ext cx="1591994" cy="1591994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14"/>
          <p:cNvSpPr/>
          <p:nvPr/>
        </p:nvSpPr>
        <p:spPr>
          <a:xfrm>
            <a:off x="407963" y="1386840"/>
            <a:ext cx="6663397" cy="168812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17" name="Google Shape;617;p14"/>
          <p:cNvSpPr txBox="1"/>
          <p:nvPr/>
        </p:nvSpPr>
        <p:spPr>
          <a:xfrm>
            <a:off x="911352" y="966540"/>
            <a:ext cx="51746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John McCarthy y la Computación como Servicio</a:t>
            </a:r>
            <a:endParaRPr sz="1800" b="1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5"/>
          <p:cNvSpPr txBox="1"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DÉCADA DE 1990</a:t>
            </a: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5"/>
          <p:cNvSpPr txBox="1">
            <a:spLocks noGrp="1"/>
          </p:cNvSpPr>
          <p:nvPr>
            <p:ph type="body" idx="1"/>
          </p:nvPr>
        </p:nvSpPr>
        <p:spPr>
          <a:xfrm>
            <a:off x="899159" y="2087880"/>
            <a:ext cx="10535113" cy="1954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Surgimiento de Internet y su impacto en el almacenamiento remoto.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0" i="0" u="none" strike="noStrike" cap="non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Empresas como Salesforce pioneras en ofrecer servicios en la nube.</a:t>
            </a:r>
            <a:endParaRPr/>
          </a:p>
          <a:p>
            <a:pPr marL="742950" marR="0" lvl="1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25" name="Google Shape;625;p15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6" name="Google Shape;626;p15" descr="Imagen que contiene interior, azul, juguete, pequeño&#10;&#10;Descripción generada automáticament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52" t="30420" r="-151" b="12453"/>
          <a:stretch/>
        </p:blipFill>
        <p:spPr>
          <a:xfrm>
            <a:off x="2210387" y="3228784"/>
            <a:ext cx="10027919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6"/>
          <p:cNvSpPr txBox="1">
            <a:spLocks noGrp="1"/>
          </p:cNvSpPr>
          <p:nvPr>
            <p:ph type="title"/>
          </p:nvPr>
        </p:nvSpPr>
        <p:spPr>
          <a:xfrm>
            <a:off x="522379" y="125203"/>
            <a:ext cx="7580611" cy="2139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DÉCADA DE 1990: INTERNET Y EL ALMACENAMIENTO REMOTO</a:t>
            </a:r>
            <a:endParaRPr/>
          </a:p>
        </p:txBody>
      </p:sp>
      <p:sp>
        <p:nvSpPr>
          <p:cNvPr id="632" name="Google Shape;632;p16"/>
          <p:cNvSpPr txBox="1"/>
          <p:nvPr/>
        </p:nvSpPr>
        <p:spPr>
          <a:xfrm>
            <a:off x="717451" y="2302637"/>
            <a:ext cx="1095216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 expansión de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Internet en los años 90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revolucionó la forma en que se accedía y almacenaba la información, allanando el camino para el almacenamiento en la nube.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 del Internet en el almacenamiento remoto: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33" name="Google Shape;633;p16"/>
          <p:cNvSpPr txBox="1"/>
          <p:nvPr/>
        </p:nvSpPr>
        <p:spPr>
          <a:xfrm>
            <a:off x="522379" y="3445637"/>
            <a:ext cx="5428255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Mayor conectividad global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Permitió a los usuarios acceder a servidores remotos desde cualquier lugar.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de alojamiento web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Empresas comenzaron a ofrecer almacenamiento en línea, eliminando la necesidad de hardware físico propio.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Primeros servicios en la nube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Empresas como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AT&amp;T, Amazon y Microsoft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comenzaron a explorar modelos de almacenamiento remoto.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34" name="Google Shape;634;p16"/>
          <p:cNvSpPr txBox="1"/>
          <p:nvPr/>
        </p:nvSpPr>
        <p:spPr>
          <a:xfrm>
            <a:off x="6241368" y="3445637"/>
            <a:ext cx="5428253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Popularización de la virtualización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Facilitó la separación entre hardware físico y almacenamiento de datos.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En 1999,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Salesforce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lanzó su primer servicio basado en la nube, marcando el inicio del </a:t>
            </a:r>
            <a:r>
              <a:rPr lang="es-MX" sz="1800" i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Software as a Service (SaaS)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35" name="Google Shape;635;p16" descr="Gesto de aguantar con relleno sóli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3176" y="373130"/>
            <a:ext cx="1573014" cy="1573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7"/>
          <p:cNvSpPr txBox="1">
            <a:spLocks noGrp="1"/>
          </p:cNvSpPr>
          <p:nvPr>
            <p:ph type="title"/>
          </p:nvPr>
        </p:nvSpPr>
        <p:spPr>
          <a:xfrm>
            <a:off x="522379" y="125203"/>
            <a:ext cx="7580611" cy="2139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DÉCADA DE 1990: PIONEROS EN SERVICIOS EN LA NUBE</a:t>
            </a:r>
            <a:endParaRPr/>
          </a:p>
        </p:txBody>
      </p:sp>
      <p:sp>
        <p:nvSpPr>
          <p:cNvPr id="641" name="Google Shape;641;p17"/>
          <p:cNvSpPr txBox="1"/>
          <p:nvPr/>
        </p:nvSpPr>
        <p:spPr>
          <a:xfrm>
            <a:off x="717451" y="2302637"/>
            <a:ext cx="1095216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En los años 90, algunas empresas comenzaron a ofrecer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basados en la nube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sentando las bases para el modelo actual de almacenamiento y software como servicio.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2" name="Google Shape;642;p17"/>
          <p:cNvSpPr txBox="1"/>
          <p:nvPr/>
        </p:nvSpPr>
        <p:spPr>
          <a:xfrm>
            <a:off x="395770" y="3164283"/>
            <a:ext cx="542825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Salesforce (1999): El Inicio del SaaS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Primera empresa en ofrecer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Software as a Service (SaaS)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lugar de software instalado localmente.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Permitía a las empresas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gestionar clientes y ventas desde Internet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sin necesidad de infraestructura propia.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Modelo basado en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suscripciones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eliminando costos de licencias tradicionales.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3" name="Google Shape;643;p17"/>
          <p:cNvSpPr txBox="1"/>
          <p:nvPr/>
        </p:nvSpPr>
        <p:spPr>
          <a:xfrm>
            <a:off x="6241367" y="2997257"/>
            <a:ext cx="5428253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Otras empresas pioneras: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(1994)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Inicialmente una tienda en línea, evolucionó hacia el almacenamiento en la nube con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AWS en 2006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Hotmail (1996)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Uno de los primeros servicios de correo basado completamente en la web, demostrando el poder del almacenamiento remoto.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(1998)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Aunque inicialmente un motor de búsqueda, más tarde revolucionó la nube con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Drive y Google Docs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44" name="Google Shape;644;p17" descr="Gesto de aguantar con relleno sólid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3176" y="373130"/>
            <a:ext cx="1573014" cy="1573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8"/>
          <p:cNvSpPr txBox="1"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AÑOS 2000</a:t>
            </a:r>
            <a:endParaRPr/>
          </a:p>
        </p:txBody>
      </p:sp>
      <p:sp>
        <p:nvSpPr>
          <p:cNvPr id="650" name="Google Shape;650;p18"/>
          <p:cNvSpPr txBox="1">
            <a:spLocks noGrp="1"/>
          </p:cNvSpPr>
          <p:nvPr>
            <p:ph type="body" idx="1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/>
              <a:t>Lanzamiento de Amazon Web Services (</a:t>
            </a:r>
            <a:r>
              <a:rPr lang="es-MX" b="1"/>
              <a:t>AWS</a:t>
            </a:r>
            <a:r>
              <a:rPr lang="es-MX"/>
              <a:t>) en 2006.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/>
              <a:t>Google Docs y el inicio del almacenamiento masivo en la nube.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9"/>
          <p:cNvSpPr txBox="1">
            <a:spLocks noGrp="1"/>
          </p:cNvSpPr>
          <p:nvPr>
            <p:ph type="title"/>
          </p:nvPr>
        </p:nvSpPr>
        <p:spPr>
          <a:xfrm>
            <a:off x="899160" y="137160"/>
            <a:ext cx="7133492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AÑOS 2000: AWS Y LA REVOLUCIÓN DEL ALMACENAMIENTO EN LA NUBE</a:t>
            </a:r>
            <a:endParaRPr/>
          </a:p>
        </p:txBody>
      </p:sp>
      <p:sp>
        <p:nvSpPr>
          <p:cNvPr id="656" name="Google Shape;656;p19"/>
          <p:cNvSpPr txBox="1">
            <a:spLocks noGrp="1"/>
          </p:cNvSpPr>
          <p:nvPr>
            <p:ph type="body" idx="1"/>
          </p:nvPr>
        </p:nvSpPr>
        <p:spPr>
          <a:xfrm>
            <a:off x="899160" y="1609579"/>
            <a:ext cx="10210800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En </a:t>
            </a:r>
            <a:r>
              <a:rPr lang="es-MX" b="1"/>
              <a:t>2006</a:t>
            </a:r>
            <a:r>
              <a:rPr lang="es-MX"/>
              <a:t>, Amazon lanzó </a:t>
            </a:r>
            <a:r>
              <a:rPr lang="es-MX" b="1"/>
              <a:t>Amazon Web Services (AWS)</a:t>
            </a:r>
            <a:r>
              <a:rPr lang="es-MX"/>
              <a:t>, marcando un hito en la computación en la nube al ofrecer infraestructura como servicio (</a:t>
            </a:r>
            <a:r>
              <a:rPr lang="es-MX" i="1"/>
              <a:t>Infrastructure as a Service - IaaS</a:t>
            </a:r>
            <a:r>
              <a:rPr lang="es-MX"/>
              <a:t>).</a:t>
            </a:r>
            <a:endParaRPr/>
          </a:p>
        </p:txBody>
      </p:sp>
      <p:sp>
        <p:nvSpPr>
          <p:cNvPr id="657" name="Google Shape;657;p19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21</a:t>
            </a:fld>
            <a:endParaRPr/>
          </a:p>
        </p:txBody>
      </p:sp>
      <p:sp>
        <p:nvSpPr>
          <p:cNvPr id="658" name="Google Shape;658;p19"/>
          <p:cNvSpPr txBox="1"/>
          <p:nvPr/>
        </p:nvSpPr>
        <p:spPr>
          <a:xfrm>
            <a:off x="702212" y="2859258"/>
            <a:ext cx="5393788" cy="338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¿Por qué fue importante AWS?</a:t>
            </a:r>
            <a:b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</a:br>
            <a:r>
              <a:rPr lang="es-MX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Primer servicio en la nube a gran escala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Permitió a empresas y desarrolladores alquilar servidores, almacenamiento y bases de datos en lugar de comprarlos.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Escalabilidad y pago por uso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Los clientes podían ajustar su capacidad según la demanda, reduciendo costos.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Impulso para startups y grandes empresas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Empresas como Netflix, Airbnb y Spotify comenzaron a depender de AWS para su infraestructura.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59" name="Google Shape;659;p19"/>
          <p:cNvSpPr txBox="1"/>
          <p:nvPr/>
        </p:nvSpPr>
        <p:spPr>
          <a:xfrm>
            <a:off x="6763044" y="2754038"/>
            <a:ext cx="4726744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Servicios clave en su lanzamiento: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S3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(Simple Storage Service): Almacenamiento seguro y escalable en la nube.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EC2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(Elastic Compute Cloud): Servidores virtuales flexibles para aplicaciones.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AWS demostró que el almacenamiento y la computación en la nube eran viables para cualquier tipo de negocio, impulsando el crecimiento del sector.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0"/>
          <p:cNvSpPr txBox="1">
            <a:spLocks noGrp="1"/>
          </p:cNvSpPr>
          <p:nvPr>
            <p:ph type="title"/>
          </p:nvPr>
        </p:nvSpPr>
        <p:spPr>
          <a:xfrm>
            <a:off x="899159" y="137160"/>
            <a:ext cx="8821616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AÑOS 2000: GOOGLE DOCS Y EL INICIO DEL ALMACENAMIENTO MASIVO EN LA NUBE</a:t>
            </a:r>
            <a:endParaRPr/>
          </a:p>
        </p:txBody>
      </p:sp>
      <p:sp>
        <p:nvSpPr>
          <p:cNvPr id="665" name="Google Shape;665;p20"/>
          <p:cNvSpPr txBox="1">
            <a:spLocks noGrp="1"/>
          </p:cNvSpPr>
          <p:nvPr>
            <p:ph type="body" idx="1"/>
          </p:nvPr>
        </p:nvSpPr>
        <p:spPr>
          <a:xfrm>
            <a:off x="899160" y="1609579"/>
            <a:ext cx="10210800" cy="12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En </a:t>
            </a:r>
            <a:r>
              <a:rPr lang="es-MX" b="1"/>
              <a:t>2006</a:t>
            </a:r>
            <a:r>
              <a:rPr lang="es-MX"/>
              <a:t>, Google lanzó </a:t>
            </a:r>
            <a:r>
              <a:rPr lang="es-MX" b="1"/>
              <a:t>Google Docs</a:t>
            </a:r>
            <a:r>
              <a:rPr lang="es-MX"/>
              <a:t>, una plataforma que permitió la edición y almacenamiento de documentos en la nube, marcando el inicio del almacenamiento masivo accesible para el público en general.</a:t>
            </a:r>
            <a:endParaRPr/>
          </a:p>
        </p:txBody>
      </p:sp>
      <p:sp>
        <p:nvSpPr>
          <p:cNvPr id="666" name="Google Shape;666;p20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22</a:t>
            </a:fld>
            <a:endParaRPr/>
          </a:p>
        </p:txBody>
      </p:sp>
      <p:sp>
        <p:nvSpPr>
          <p:cNvPr id="667" name="Google Shape;667;p20"/>
          <p:cNvSpPr txBox="1"/>
          <p:nvPr/>
        </p:nvSpPr>
        <p:spPr>
          <a:xfrm>
            <a:off x="702212" y="2859258"/>
            <a:ext cx="4995203" cy="3387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¿Por qué fue revolucionario?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Edición en línea y colaboración en tiempo real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Varias personas podían trabajar simultáneamente en un documento sin necesidad de enviarlo por correo.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Almacenamiento en la nube gratuito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usuarios no necesitaban guardar archivos en sus dispositivos, solo en sus cuentas de Google.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Accesibilidad desde cualquier dispositivo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Se podía acceder desde navegadores sin necesidad de instalar software.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68" name="Google Shape;668;p20"/>
          <p:cNvSpPr txBox="1"/>
          <p:nvPr/>
        </p:nvSpPr>
        <p:spPr>
          <a:xfrm>
            <a:off x="6004560" y="2859258"/>
            <a:ext cx="5826369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Otros avances clave en almacenamiento masivo en la nube: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Drive (2012):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Expandió la capacidad de almacenamiento en la nube para documentos, imágenes y videos.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Dropbox (2007):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Introdujo la sincronización automática de archivos entre dispositivos.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OneDrive (2007):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Microsoft lanzó su propio servicio de almacenamiento en la nube.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Google Docs demostró que la nube no solo era útil para empresas, sino también para estudiantes y profesionales, facilitando el trabajo colaborativo y la accesibilidad global.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21"/>
          <p:cNvSpPr txBox="1"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br>
              <a:rPr lang="es-MX"/>
            </a:br>
            <a:r>
              <a:rPr lang="es-MX"/>
              <a:t>EVOLUCIÓN TECNOLÓGICA</a:t>
            </a:r>
            <a:endParaRPr/>
          </a:p>
        </p:txBody>
      </p:sp>
      <p:sp>
        <p:nvSpPr>
          <p:cNvPr id="674" name="Google Shape;674;p21"/>
          <p:cNvSpPr txBox="1">
            <a:spLocks noGrp="1"/>
          </p:cNvSpPr>
          <p:nvPr>
            <p:ph type="body" idx="1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MX"/>
              <a:t>Mejoras en ancho de banda y reducción de costos de almacenamiento.</a:t>
            </a:r>
            <a:endParaRPr/>
          </a:p>
          <a:p>
            <a:pPr marL="0" lvl="0" indent="0" algn="l" rtl="0">
              <a:lnSpc>
                <a:spcPct val="8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2"/>
          <p:cNvSpPr txBox="1">
            <a:spLocks noGrp="1"/>
          </p:cNvSpPr>
          <p:nvPr>
            <p:ph type="title"/>
          </p:nvPr>
        </p:nvSpPr>
        <p:spPr>
          <a:xfrm>
            <a:off x="5190978" y="176784"/>
            <a:ext cx="6769374" cy="111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 sz="2000"/>
              <a:t>EVOLUCIÓN TECNOLÓGICA: ANCHO DE BANDA Y REDUCCIÓN DE COSTOS DE ALMACENAMIENTO</a:t>
            </a:r>
            <a:endParaRPr sz="2000"/>
          </a:p>
        </p:txBody>
      </p:sp>
      <p:sp>
        <p:nvSpPr>
          <p:cNvPr id="680" name="Google Shape;680;p22"/>
          <p:cNvSpPr txBox="1">
            <a:spLocks noGrp="1"/>
          </p:cNvSpPr>
          <p:nvPr>
            <p:ph type="body" idx="1"/>
          </p:nvPr>
        </p:nvSpPr>
        <p:spPr>
          <a:xfrm>
            <a:off x="5190978" y="1448972"/>
            <a:ext cx="6769374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 sz="2000"/>
              <a:t>La evolución tecnológica en los últimos años ha sido clave para la expansión del almacenamiento en la nube, especialmente en términos de </a:t>
            </a:r>
            <a:r>
              <a:rPr lang="es-MX" sz="2000" b="1"/>
              <a:t>mejoras en el ancho de banda</a:t>
            </a:r>
            <a:r>
              <a:rPr lang="es-MX" sz="2000"/>
              <a:t> y la </a:t>
            </a:r>
            <a:r>
              <a:rPr lang="es-MX" sz="2000" b="1"/>
              <a:t>reducción de los costos de almacenamiento</a:t>
            </a:r>
            <a:r>
              <a:rPr lang="es-MX" sz="2000"/>
              <a:t>.</a:t>
            </a:r>
            <a:endParaRPr sz="2000"/>
          </a:p>
        </p:txBody>
      </p:sp>
      <p:sp>
        <p:nvSpPr>
          <p:cNvPr id="681" name="Google Shape;681;p22"/>
          <p:cNvSpPr txBox="1"/>
          <p:nvPr/>
        </p:nvSpPr>
        <p:spPr>
          <a:xfrm>
            <a:off x="267286" y="534572"/>
            <a:ext cx="4656406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Mejoras en el Ancho de Banda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Mayor velocidad de conexión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El desarrollo de redes de fibra óptica y la expansión de la conectividad 4G y 5G han permitido velocidades de transmisión de datos mucho más rápidas.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más rápido a los datos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La mejora en el ancho de banda facilita el acceso y la carga de grandes cantidades de datos en tiempo real.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Reducción de la latencia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Las redes más rápidas y estables mejoran la experiencia del usuario, especialmente en aplicaciones de streaming, videoconferencias y videojuegos en la nube.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2" name="Google Shape;682;p22"/>
          <p:cNvSpPr txBox="1"/>
          <p:nvPr/>
        </p:nvSpPr>
        <p:spPr>
          <a:xfrm>
            <a:off x="5190978" y="2982351"/>
            <a:ext cx="6555545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Reducción de Costos de Almacenamiento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Economías de escala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Las grandes empresas de almacenamiento en la nube han podido reducir sus costos a medida que aumentan su infraestructura y clientes.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Tecnologías de almacenamiento más eficientes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Avances en almacenamiento de datos, como el uso de discos duros SSD y almacenamiento en la nube distribuido, han reducido costos y mejorado la eficiencia.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Modelos de pago por uso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Los proveedores de nube permiten a los usuarios pagar solo por el espacio y servicios que consumen, eliminando la necesidad de grandes inversiones iniciales.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83" name="Google Shape;683;p22"/>
          <p:cNvSpPr txBox="1"/>
          <p:nvPr/>
        </p:nvSpPr>
        <p:spPr>
          <a:xfrm>
            <a:off x="267286" y="5150327"/>
            <a:ext cx="465640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Estas mejoras han hecho que el almacenamiento en la nube sea accesible tanto para individuos como para empresas, lo que fomenta su adopción masiva.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 txBox="1"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br>
              <a:rPr lang="es-MX"/>
            </a:br>
            <a:r>
              <a:rPr lang="es-MX"/>
              <a:t>EVOLUCIÓN TECNOLÓGICA</a:t>
            </a:r>
            <a:endParaRPr/>
          </a:p>
        </p:txBody>
      </p:sp>
      <p:sp>
        <p:nvSpPr>
          <p:cNvPr id="689" name="Google Shape;689;p23"/>
          <p:cNvSpPr txBox="1">
            <a:spLocks noGrp="1"/>
          </p:cNvSpPr>
          <p:nvPr>
            <p:ph type="body" idx="1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/>
              <a:t>Mejoras en ancho de banda y reducción de costos de almacenamiento.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4"/>
          <p:cNvSpPr txBox="1">
            <a:spLocks noGrp="1"/>
          </p:cNvSpPr>
          <p:nvPr>
            <p:ph type="title"/>
          </p:nvPr>
        </p:nvSpPr>
        <p:spPr>
          <a:xfrm>
            <a:off x="536448" y="364354"/>
            <a:ext cx="6398924" cy="887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MX" sz="2400"/>
              <a:t>HITOS IMPORTANTES EN EL ALMACENAMIENTO EN LA NUBE</a:t>
            </a:r>
            <a:endParaRPr sz="2400"/>
          </a:p>
        </p:txBody>
      </p:sp>
      <p:sp>
        <p:nvSpPr>
          <p:cNvPr id="695" name="Google Shape;695;p24"/>
          <p:cNvSpPr txBox="1"/>
          <p:nvPr/>
        </p:nvSpPr>
        <p:spPr>
          <a:xfrm>
            <a:off x="536448" y="1406768"/>
            <a:ext cx="652553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En los últimos años, varios lanzamientos han marcado momentos clave en la historia del almacenamiento en la nube, ofreciendo nuevas capacidades y mejorando la experiencia de los usuarios.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96" name="Google Shape;696;p24"/>
          <p:cNvSpPr txBox="1"/>
          <p:nvPr/>
        </p:nvSpPr>
        <p:spPr>
          <a:xfrm>
            <a:off x="7315199" y="703385"/>
            <a:ext cx="4543865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Dropbox (2007)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Revolución en la sincronización de archivos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Permite almacenar archivos y sincronizarlos entre múltiples dispositivos sin esfuerzo.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a archivos sin conexión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Ofreció la capacidad de trabajar en archivos incluso sin estar conectado a Internet.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Modelo freemium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Ofreció almacenamiento gratuito con opciones de pago para más espacio.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97" name="Google Shape;697;p24"/>
          <p:cNvSpPr txBox="1"/>
          <p:nvPr/>
        </p:nvSpPr>
        <p:spPr>
          <a:xfrm>
            <a:off x="536448" y="2761840"/>
            <a:ext cx="6398924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Google Drive (2012)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Integración con los servicios de Google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Permite almacenar no solo documentos, sino también fotos, videos y otros archivos, todo en un solo lugar.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Colaboración en tiempo real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Refuerza la colaboración con herramientas como Google Docs, Sheets y Slides.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Amplio almacenamiento gratuito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Ofreció una gran capacidad de almacenamiento gratuita, lo que lo hizo popular entre usuarios y empresas.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5"/>
          <p:cNvSpPr txBox="1">
            <a:spLocks noGrp="1"/>
          </p:cNvSpPr>
          <p:nvPr>
            <p:ph type="title"/>
          </p:nvPr>
        </p:nvSpPr>
        <p:spPr>
          <a:xfrm>
            <a:off x="536448" y="364354"/>
            <a:ext cx="6398924" cy="887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s-MX" sz="2400"/>
              <a:t>HITOS IMPORTANTES EN EL ALMACENAMIENTO EN LA NUBE</a:t>
            </a:r>
            <a:endParaRPr sz="2400"/>
          </a:p>
        </p:txBody>
      </p:sp>
      <p:sp>
        <p:nvSpPr>
          <p:cNvPr id="703" name="Google Shape;703;p25"/>
          <p:cNvSpPr txBox="1"/>
          <p:nvPr/>
        </p:nvSpPr>
        <p:spPr>
          <a:xfrm>
            <a:off x="1074770" y="1467613"/>
            <a:ext cx="10042457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Otros Servicios Populares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OneDrive (2007)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Servicio de Microsoft que se integra con Office 365 y permite almacenamiento en la nube accesible desde cualquier dispositivo.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iCloud (2011)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Plataforma de Apple para almacenar y sincronizar fotos, documentos y otros datos entre dispositivos Apple.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Box (2005)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Especializado en soluciones de almacenamiento en la nube para empresas, con énfasis en seguridad y colaboración.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04" name="Google Shape;704;p25"/>
          <p:cNvSpPr txBox="1"/>
          <p:nvPr/>
        </p:nvSpPr>
        <p:spPr>
          <a:xfrm>
            <a:off x="1175119" y="4744056"/>
            <a:ext cx="984175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Estos servicios han popularizado el almacenamiento en la nube al ofrecer soluciones fáciles de usar y accesibles tanto para usuarios individuales como para empresas.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6"/>
          <p:cNvSpPr txBox="1"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IMPACTO EN LA SOCIEDAD</a:t>
            </a:r>
            <a:endParaRPr/>
          </a:p>
        </p:txBody>
      </p:sp>
      <p:sp>
        <p:nvSpPr>
          <p:cNvPr id="710" name="Google Shape;710;p26"/>
          <p:cNvSpPr txBox="1">
            <a:spLocks noGrp="1"/>
          </p:cNvSpPr>
          <p:nvPr>
            <p:ph type="body" idx="1"/>
          </p:nvPr>
        </p:nvSpPr>
        <p:spPr>
          <a:xfrm>
            <a:off x="6109694" y="4068392"/>
            <a:ext cx="5580586" cy="219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MX"/>
              <a:t>Cómo el Almacenamiento en la Nube Ha Cambiado la Forma de Trabajar y Compartir Información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27"/>
          <p:cNvSpPr txBox="1">
            <a:spLocks noGrp="1"/>
          </p:cNvSpPr>
          <p:nvPr>
            <p:ph type="title"/>
          </p:nvPr>
        </p:nvSpPr>
        <p:spPr>
          <a:xfrm>
            <a:off x="6096000" y="176784"/>
            <a:ext cx="5864352" cy="1398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IMPACTO EN LA SOCIEDAD</a:t>
            </a:r>
            <a:endParaRPr/>
          </a:p>
        </p:txBody>
      </p:sp>
      <p:sp>
        <p:nvSpPr>
          <p:cNvPr id="716" name="Google Shape;716;p27"/>
          <p:cNvSpPr txBox="1">
            <a:spLocks noGrp="1"/>
          </p:cNvSpPr>
          <p:nvPr>
            <p:ph type="body" idx="1"/>
          </p:nvPr>
        </p:nvSpPr>
        <p:spPr>
          <a:xfrm>
            <a:off x="6095874" y="1730326"/>
            <a:ext cx="5864351" cy="4716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sz="1800"/>
              <a:t>El almacenamiento en la nube ha transformado profundamente la manera en que las personas y las empresas manejan, comparten y acceden a la información.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sz="1800"/>
              <a:t>Cambio en la forma de trabajar</a:t>
            </a:r>
            <a:endParaRPr/>
          </a:p>
          <a:p>
            <a:pPr marL="285750" lvl="0" indent="-2857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MX" sz="1800" b="1"/>
              <a:t>Trabajo remoto y flexible </a:t>
            </a:r>
            <a:r>
              <a:rPr lang="es-MX" sz="1800"/>
              <a:t>: La posibilidad de acceder a documentos y herramientas desde cualquier lugar permite a los empleados trabajar desde cualquier parte del mundo, facilitando el teletrabajo.</a:t>
            </a:r>
            <a:endParaRPr/>
          </a:p>
          <a:p>
            <a:pPr marL="285750" lvl="0" indent="-2857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MX" sz="1800" b="1"/>
              <a:t>Colaboración en tiempo real </a:t>
            </a:r>
            <a:r>
              <a:rPr lang="es-MX" sz="1800"/>
              <a:t>: Plataformas como Google Drive y Microsoft OneDrive permiten que equipos de todo el mundo trabajen juntos en proyectos simultáneamente, mejorando la productividad.</a:t>
            </a:r>
            <a:endParaRPr/>
          </a:p>
          <a:p>
            <a:pPr marL="285750" lvl="0" indent="-2857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MX" sz="1800" b="1"/>
              <a:t>Mayor eficiencia </a:t>
            </a:r>
            <a:r>
              <a:rPr lang="es-MX" sz="1800"/>
              <a:t>: La automatización de tareas y el acceso instantáneo a datos eliminan las barreras físicas, lo que acelera los procesos y reduce tiempos de espera.</a:t>
            </a:r>
            <a:endParaRPr sz="1800"/>
          </a:p>
        </p:txBody>
      </p:sp>
      <p:sp>
        <p:nvSpPr>
          <p:cNvPr id="717" name="Google Shape;717;p27"/>
          <p:cNvSpPr txBox="1"/>
          <p:nvPr/>
        </p:nvSpPr>
        <p:spPr>
          <a:xfrm>
            <a:off x="355600" y="266700"/>
            <a:ext cx="5130900" cy="6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Facilidad para compartir información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Acceso desde cualquier dispositivo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usuarios pueden ver, editar y compartir documentos en la nube desde computadoras, tabletas y teléfonos inteligentes.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Mejora en la comunicación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servicios de nube permiten un intercambio rápido de archivos entre colegas, clientes y amigos, sin depender de correos electrónicos o dispositivos físicos.</a:t>
            </a:r>
            <a:endParaRPr/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Reducción de la dependencia de hardware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Ya no es necesario tener servidores o discos duros para almacenar grandes volúmenes de datos, lo que reduce los costos de infraestructura.</a:t>
            </a:r>
            <a:endParaRPr/>
          </a:p>
          <a:p>
            <a:pPr marL="285750" marR="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Impacto social: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El almacenamiento en la nube ha democratizado el acceso a la tecnología, mejorando la conectividad global y haciendo que la información esté más accesible que nunca.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8"/>
          <p:cNvSpPr txBox="1">
            <a:spLocks noGrp="1"/>
          </p:cNvSpPr>
          <p:nvPr>
            <p:ph type="title"/>
          </p:nvPr>
        </p:nvSpPr>
        <p:spPr>
          <a:xfrm>
            <a:off x="480178" y="195540"/>
            <a:ext cx="5864352" cy="105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DATOS CURIOSOS</a:t>
            </a:r>
            <a:endParaRPr/>
          </a:p>
        </p:txBody>
      </p:sp>
      <p:pic>
        <p:nvPicPr>
          <p:cNvPr id="723" name="Google Shape;723;p28" descr="Forma, Círculo&#10;&#10;Descripción generada automáticament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5303" r="15304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28"/>
          <p:cNvSpPr txBox="1"/>
          <p:nvPr/>
        </p:nvSpPr>
        <p:spPr>
          <a:xfrm>
            <a:off x="480178" y="1445402"/>
            <a:ext cx="6778751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Datos Curiosos: Estadísticas sobre el Crecimiento del Almacenamiento en la Nube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El almacenamiento en la nube ha experimentado un crecimiento exponencial en la última década. A continuación, se presentan algunas estadísticas destacadas que reflejan su expansión: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Crecimiento del Tráfico de Datos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Aumento del Tráfico Global: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2023, el tráfico mundial de datos alcanzó los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59 exabytes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lo que representa un incremento del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23%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comparación con los 48 exabytes registrados en 2022. 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9"/>
          <p:cNvSpPr txBox="1">
            <a:spLocks noGrp="1"/>
          </p:cNvSpPr>
          <p:nvPr>
            <p:ph type="title"/>
          </p:nvPr>
        </p:nvSpPr>
        <p:spPr>
          <a:xfrm>
            <a:off x="480178" y="195540"/>
            <a:ext cx="5864352" cy="105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DATOS CURIOSOS</a:t>
            </a:r>
            <a:endParaRPr/>
          </a:p>
        </p:txBody>
      </p:sp>
      <p:sp>
        <p:nvSpPr>
          <p:cNvPr id="730" name="Google Shape;730;p29"/>
          <p:cNvSpPr txBox="1"/>
          <p:nvPr/>
        </p:nvSpPr>
        <p:spPr>
          <a:xfrm>
            <a:off x="480178" y="1445402"/>
            <a:ext cx="6778751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Mercado del Almacenamiento en la Nube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Valor del Mercado: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Se estima que el mercado de almacenamiento en la nube alcanzó un valor de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117,12 mil millones de dólares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2024, con proyecciones que indican un crecimiento a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343,33 mil millones de dólares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para 2029, reflejando una tasa de crecimiento anual compuesta del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24%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durante el período 2024-2029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Capacidad de Almacenamiento: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 2023, la capacidad total de almacenamiento en servicios de almacenamiento en la nube ascendió a aproximadamente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2.100 exabytes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con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Amazon Web Services (AWS)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liderando el mercado al representar alrededor del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38%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de la capacidad global consumida.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731" name="Google Shape;731;p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3978" r="23978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29"/>
          <p:cNvSpPr txBox="1"/>
          <p:nvPr/>
        </p:nvSpPr>
        <p:spPr>
          <a:xfrm>
            <a:off x="7625969" y="6593269"/>
            <a:ext cx="458152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 foto</a:t>
            </a:r>
            <a:r>
              <a:rPr lang="es-MX" sz="9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de Autor desconocido está bajo licencia </a:t>
            </a:r>
            <a:r>
              <a:rPr lang="es-MX" sz="900" u="sng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sz="9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0"/>
          <p:cNvSpPr txBox="1">
            <a:spLocks noGrp="1"/>
          </p:cNvSpPr>
          <p:nvPr>
            <p:ph type="title"/>
          </p:nvPr>
        </p:nvSpPr>
        <p:spPr>
          <a:xfrm>
            <a:off x="480178" y="195540"/>
            <a:ext cx="5864352" cy="105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DATOS CURIOSOS</a:t>
            </a:r>
            <a:endParaRPr/>
          </a:p>
        </p:txBody>
      </p:sp>
      <p:pic>
        <p:nvPicPr>
          <p:cNvPr id="738" name="Google Shape;738;p30" descr="Forma, Círculo&#10;&#10;Descripción generada automáticament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5303" r="15304"/>
          <a:stretch/>
        </p:blipFill>
        <p:spPr>
          <a:xfrm>
            <a:off x="7625969" y="-9144"/>
            <a:ext cx="4581525" cy="6602413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30"/>
          <p:cNvSpPr txBox="1"/>
          <p:nvPr/>
        </p:nvSpPr>
        <p:spPr>
          <a:xfrm>
            <a:off x="480178" y="1252024"/>
            <a:ext cx="6778751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Tendencias en el Uso de la Nube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Demanda de Infraestructura: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Se proyecta que la demanda de servidores, conmutadores Ethernet y soluciones de almacenamiento empresarial aumente a una tasa del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10,9%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, impulsada por la adopción de servicios en la nube pública y privada.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Crecimiento del Almacenamiento de Datos en la Nube: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Se espera que la cuota de mercado del almacenamiento de datos en la nube crezca a una tasa anual compuesta del </a:t>
            </a: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27,38%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entre 2022 y 2027, impulsada por la creciente adopción de dispositivos IoT y la necesidad de soluciones de computación en el borde. ​</a:t>
            </a:r>
            <a:endParaRPr/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Estas cifras destacan la rápida adopción y expansión del almacenamiento en la nube, subrayando su papel fundamental en la transformación digital y en la gestión de datos a nivel global.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1"/>
          <p:cNvSpPr txBox="1">
            <a:spLocks noGrp="1"/>
          </p:cNvSpPr>
          <p:nvPr>
            <p:ph type="ctrTitle"/>
          </p:nvPr>
        </p:nvSpPr>
        <p:spPr>
          <a:xfrm>
            <a:off x="6352970" y="1691640"/>
            <a:ext cx="5221224" cy="305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s-MX" sz="6000"/>
              <a:t>CONCEPTOS BÁSICOS</a:t>
            </a:r>
            <a:br>
              <a:rPr lang="es-MX"/>
            </a:b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2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i="0"/>
              <a:t>¿CÓMO FUNCIONA EL ALMACENAMIENTO EN LA NUBE?</a:t>
            </a:r>
            <a:endParaRPr/>
          </a:p>
        </p:txBody>
      </p:sp>
      <p:sp>
        <p:nvSpPr>
          <p:cNvPr id="750" name="Google Shape;750;p32"/>
          <p:cNvSpPr txBox="1">
            <a:spLocks noGrp="1"/>
          </p:cNvSpPr>
          <p:nvPr>
            <p:ph type="body" idx="2"/>
          </p:nvPr>
        </p:nvSpPr>
        <p:spPr>
          <a:xfrm>
            <a:off x="8295483" y="2058670"/>
            <a:ext cx="3002755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El almacenamiento en la nube se basa en servidores y centros de datos distribuidos, donde los usuarios pueden guardar y acceder a sus datos de forma remota a través de Internet. A continuación, te explico los componentes clave:</a:t>
            </a:r>
            <a:endParaRPr/>
          </a:p>
        </p:txBody>
      </p:sp>
      <p:sp>
        <p:nvSpPr>
          <p:cNvPr id="751" name="Google Shape;751;p32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34</a:t>
            </a:fld>
            <a:endParaRPr/>
          </a:p>
        </p:txBody>
      </p:sp>
      <p:grpSp>
        <p:nvGrpSpPr>
          <p:cNvPr id="752" name="Google Shape;752;p32"/>
          <p:cNvGrpSpPr/>
          <p:nvPr/>
        </p:nvGrpSpPr>
        <p:grpSpPr>
          <a:xfrm>
            <a:off x="1290148" y="2059500"/>
            <a:ext cx="5435244" cy="3739686"/>
            <a:chOff x="378796" y="831"/>
            <a:chExt cx="5435244" cy="3739686"/>
          </a:xfrm>
        </p:grpSpPr>
        <p:sp>
          <p:nvSpPr>
            <p:cNvPr id="753" name="Google Shape;753;p32"/>
            <p:cNvSpPr/>
            <p:nvPr/>
          </p:nvSpPr>
          <p:spPr>
            <a:xfrm>
              <a:off x="824973" y="831"/>
              <a:ext cx="730107" cy="73010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/>
            <p:cNvSpPr/>
            <p:nvPr/>
          </p:nvSpPr>
          <p:spPr>
            <a:xfrm>
              <a:off x="378796" y="882549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 txBox="1"/>
            <p:nvPr/>
          </p:nvSpPr>
          <p:spPr>
            <a:xfrm>
              <a:off x="378796" y="882549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venir"/>
                <a:buNone/>
              </a:pPr>
              <a:r>
                <a:rPr lang="es-MX" sz="14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Servidores</a:t>
              </a:r>
              <a:r>
                <a:rPr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Son computadoras potentes que almacenan grandes cantidades de datos. En la nube, estos servidores están distribuidos en diferentes ubicaciones y gestionados por proveedores de servicios (como AWS, Google Cloud, Microsoft Azure).</a:t>
              </a:r>
              <a:endPara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6" name="Google Shape;756;p32"/>
            <p:cNvSpPr/>
            <p:nvPr/>
          </p:nvSpPr>
          <p:spPr>
            <a:xfrm>
              <a:off x="2731365" y="831"/>
              <a:ext cx="730107" cy="73010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2"/>
            <p:cNvSpPr/>
            <p:nvPr/>
          </p:nvSpPr>
          <p:spPr>
            <a:xfrm>
              <a:off x="2285188" y="912302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2"/>
            <p:cNvSpPr txBox="1"/>
            <p:nvPr/>
          </p:nvSpPr>
          <p:spPr>
            <a:xfrm>
              <a:off x="2285188" y="912302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venir"/>
                <a:buNone/>
              </a:pPr>
              <a:r>
                <a:rPr lang="es-MX" sz="14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Centros de Datos</a:t>
              </a:r>
              <a:r>
                <a:rPr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Son grandes instalaciones donde se alojan los servidores. Están diseñados para garantizar la seguridad, disponibilidad y eficiencia del almacenamiento. Los centros de datos suelen estar en múltiples lugares para ofrecer redundancia y alta disponibilidad.</a:t>
              </a:r>
              <a:endParaRPr sz="14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759" name="Google Shape;759;p32"/>
            <p:cNvSpPr/>
            <p:nvPr/>
          </p:nvSpPr>
          <p:spPr>
            <a:xfrm>
              <a:off x="4637756" y="831"/>
              <a:ext cx="730107" cy="73010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2"/>
            <p:cNvSpPr/>
            <p:nvPr/>
          </p:nvSpPr>
          <p:spPr>
            <a:xfrm>
              <a:off x="4191580" y="884161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2"/>
            <p:cNvSpPr txBox="1"/>
            <p:nvPr/>
          </p:nvSpPr>
          <p:spPr>
            <a:xfrm>
              <a:off x="4191580" y="884161"/>
              <a:ext cx="1622460" cy="28282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venir"/>
                <a:buNone/>
              </a:pPr>
              <a:r>
                <a:rPr lang="es-MX" sz="1400" b="1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Virtualización</a:t>
              </a:r>
              <a:r>
                <a:rPr lang="es-MX" sz="14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: Esta tecnología permite que un solo servidor físico se divida en múltiples servidores virtuales. Cada servidor virtual tiene su propio sistema operativo y recursos dedicados, lo que optimiza el uso del hardware y permite escalar de manera eficiente según las necesidades de almacenamiento</a:t>
              </a:r>
              <a:r>
                <a:rPr lang="es-MX" sz="1200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rPr>
                <a:t>.</a:t>
              </a:r>
              <a:endParaRPr sz="12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3"/>
          <p:cNvSpPr txBox="1"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MODELOS DE SERVICIO</a:t>
            </a:r>
            <a:endParaRPr/>
          </a:p>
        </p:txBody>
      </p:sp>
      <p:sp>
        <p:nvSpPr>
          <p:cNvPr id="767" name="Google Shape;767;p33"/>
          <p:cNvSpPr txBox="1">
            <a:spLocks noGrp="1"/>
          </p:cNvSpPr>
          <p:nvPr>
            <p:ph type="body" idx="1"/>
          </p:nvPr>
        </p:nvSpPr>
        <p:spPr>
          <a:xfrm>
            <a:off x="911353" y="4006024"/>
            <a:ext cx="5794248" cy="2346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/>
              <a:t>IaaS (Infraestructura como Servicio), PaaS (Plataforma como Servicio), SaaS (Software como Servicio).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34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MODELOS DE SERVICIO EN LA NUBE</a:t>
            </a:r>
            <a:endParaRPr/>
          </a:p>
        </p:txBody>
      </p:sp>
      <p:sp>
        <p:nvSpPr>
          <p:cNvPr id="773" name="Google Shape;773;p34"/>
          <p:cNvSpPr txBox="1">
            <a:spLocks noGrp="1"/>
          </p:cNvSpPr>
          <p:nvPr>
            <p:ph type="body" idx="1"/>
          </p:nvPr>
        </p:nvSpPr>
        <p:spPr>
          <a:xfrm>
            <a:off x="893064" y="2073275"/>
            <a:ext cx="3354680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IaaS (Infraestructura como Servicio)</a:t>
            </a:r>
            <a:r>
              <a:rPr lang="es-MX"/>
              <a:t>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Qué es</a:t>
            </a:r>
            <a:r>
              <a:rPr lang="es-MX"/>
              <a:t>: Proporciona infraestructura básica como servidores, redes, almacenamiento y otros recursos. Los usuarios gestionan el sistema operativo, aplicaciones y datos.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Ejemplo</a:t>
            </a:r>
            <a:r>
              <a:rPr lang="es-MX"/>
              <a:t>: AWS EC2, Google Compute Engine, Microsoft Azure.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Ventaja</a:t>
            </a:r>
            <a:r>
              <a:rPr lang="es-MX"/>
              <a:t>: Flexibilidad y control sobre la infraestructura, pagando solo por los recursos que se usan.</a:t>
            </a:r>
            <a:endParaRPr/>
          </a:p>
        </p:txBody>
      </p:sp>
      <p:sp>
        <p:nvSpPr>
          <p:cNvPr id="774" name="Google Shape;774;p34"/>
          <p:cNvSpPr txBox="1">
            <a:spLocks noGrp="1"/>
          </p:cNvSpPr>
          <p:nvPr>
            <p:ph type="body" idx="2"/>
          </p:nvPr>
        </p:nvSpPr>
        <p:spPr>
          <a:xfrm>
            <a:off x="4589578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PaaS (Plataforma como Servicio)</a:t>
            </a:r>
            <a:r>
              <a:rPr lang="es-MX"/>
              <a:t>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Qué es</a:t>
            </a:r>
            <a:r>
              <a:rPr lang="es-MX"/>
              <a:t>: Ofrece una plataforma para desarrollar, ejecutar y gestionar aplicaciones sin preocuparse por la infraestructura subyacente (servidores, almacenamiento, redes).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Ejemplo</a:t>
            </a:r>
            <a:r>
              <a:rPr lang="es-MX"/>
              <a:t>: Google App Engine, Microsoft Azure App Service, Heroku.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Ventaja</a:t>
            </a:r>
            <a:r>
              <a:rPr lang="es-MX"/>
              <a:t>: Simplifica el desarrollo de aplicaciones, ya que maneja la infraestructura y el middleware, permitiendo que los desarrolladores se concentren solo en el código.</a:t>
            </a:r>
            <a:endParaRPr/>
          </a:p>
        </p:txBody>
      </p:sp>
      <p:sp>
        <p:nvSpPr>
          <p:cNvPr id="775" name="Google Shape;775;p34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36</a:t>
            </a:fld>
            <a:endParaRPr/>
          </a:p>
        </p:txBody>
      </p:sp>
      <p:sp>
        <p:nvSpPr>
          <p:cNvPr id="776" name="Google Shape;776;p34"/>
          <p:cNvSpPr txBox="1"/>
          <p:nvPr/>
        </p:nvSpPr>
        <p:spPr>
          <a:xfrm>
            <a:off x="8286092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SaaS (Software como Servicio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Qué es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Proporciona aplicaciones completas que se acceden y utilizan a través de Internet. Los usuarios no tienen que gestionar ni la infraestructura ni el software subyacente.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Ejemplo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Google Workspace, Microsoft Office 365, Dropbox.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Acceso fácil y rápido a aplicaciones listas para usar, sin necesidad de instalación ni mantenimiento.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77" name="Google Shape;777;p34"/>
          <p:cNvSpPr/>
          <p:nvPr/>
        </p:nvSpPr>
        <p:spPr>
          <a:xfrm>
            <a:off x="304800" y="1399032"/>
            <a:ext cx="8432800" cy="188659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69470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78" name="Google Shape;778;p34"/>
          <p:cNvSpPr/>
          <p:nvPr/>
        </p:nvSpPr>
        <p:spPr>
          <a:xfrm>
            <a:off x="3207972" y="5882166"/>
            <a:ext cx="8432800" cy="188659"/>
          </a:xfrm>
          <a:prstGeom prst="rect">
            <a:avLst/>
          </a:prstGeom>
          <a:solidFill>
            <a:schemeClr val="accent4"/>
          </a:solidFill>
          <a:ln w="12700" cap="flat" cmpd="sng">
            <a:solidFill>
              <a:srgbClr val="69470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5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MODELOS DE SERVICIO EN LA NUBE</a:t>
            </a:r>
            <a:endParaRPr/>
          </a:p>
        </p:txBody>
      </p:sp>
      <p:sp>
        <p:nvSpPr>
          <p:cNvPr id="784" name="Google Shape;784;p35"/>
          <p:cNvSpPr txBox="1">
            <a:spLocks noGrp="1"/>
          </p:cNvSpPr>
          <p:nvPr>
            <p:ph type="body" idx="1"/>
          </p:nvPr>
        </p:nvSpPr>
        <p:spPr>
          <a:xfrm>
            <a:off x="893064" y="2073275"/>
            <a:ext cx="3354680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Escalabilidad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Qué es</a:t>
            </a:r>
            <a:r>
              <a:rPr lang="es-MX"/>
              <a:t>: La capacidad de ajustar el almacenamiento según las necesidades. Puedes aumentar o reducir los recursos (espacio, capacidad de procesamiento) sin problemas.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Ventaja</a:t>
            </a:r>
            <a:r>
              <a:rPr lang="es-MX"/>
              <a:t>: Permite adaptarse al crecimiento de los datos y a los cambios en la demanda sin invertir en infraestructura adicional.</a:t>
            </a:r>
            <a:endParaRPr/>
          </a:p>
        </p:txBody>
      </p:sp>
      <p:sp>
        <p:nvSpPr>
          <p:cNvPr id="785" name="Google Shape;785;p35"/>
          <p:cNvSpPr txBox="1">
            <a:spLocks noGrp="1"/>
          </p:cNvSpPr>
          <p:nvPr>
            <p:ph type="body" idx="2"/>
          </p:nvPr>
        </p:nvSpPr>
        <p:spPr>
          <a:xfrm>
            <a:off x="4589578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MX" sz="1800" b="1"/>
              <a:t>Accesibilidad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MX" sz="1800" b="1"/>
              <a:t>Qué es</a:t>
            </a:r>
            <a:r>
              <a:rPr lang="es-MX" sz="1800"/>
              <a:t>: Los datos están disponibles desde cualquier lugar con acceso a Internet, en cualquier momento y desde cualquier dispositivo.</a:t>
            </a:r>
            <a:endParaRPr sz="1800"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MX" sz="1800" b="1"/>
              <a:t>Ventaja</a:t>
            </a:r>
            <a:r>
              <a:rPr lang="es-MX" sz="1800"/>
              <a:t>: Facilita el trabajo remoto y la colaboración entre equipos distribuidos.</a:t>
            </a:r>
            <a:endParaRPr sz="1800"/>
          </a:p>
        </p:txBody>
      </p:sp>
      <p:sp>
        <p:nvSpPr>
          <p:cNvPr id="786" name="Google Shape;786;p35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37</a:t>
            </a:fld>
            <a:endParaRPr/>
          </a:p>
        </p:txBody>
      </p:sp>
      <p:sp>
        <p:nvSpPr>
          <p:cNvPr id="787" name="Google Shape;787;p35"/>
          <p:cNvSpPr txBox="1"/>
          <p:nvPr/>
        </p:nvSpPr>
        <p:spPr>
          <a:xfrm>
            <a:off x="8286092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Seguridad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Qué es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Los proveedores de la nube implementan medidas avanzadas de protección, como cifrado de datos, autenticación de usuarios, y monitoreo constante para prevenir accesos no autorizados.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s-MX" sz="20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</a:t>
            </a:r>
            <a:r>
              <a:rPr lang="es-MX" sz="2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Asegura que los datos estén protegidos frente a ataques y accesos no deseados, garantizando su integridad y confidencialidad.</a:t>
            </a:r>
            <a:endParaRPr sz="20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8" name="Google Shape;788;p35"/>
          <p:cNvSpPr/>
          <p:nvPr/>
        </p:nvSpPr>
        <p:spPr>
          <a:xfrm>
            <a:off x="304800" y="1399032"/>
            <a:ext cx="8432800" cy="188659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89" name="Google Shape;789;p35"/>
          <p:cNvSpPr/>
          <p:nvPr/>
        </p:nvSpPr>
        <p:spPr>
          <a:xfrm>
            <a:off x="3207972" y="5882166"/>
            <a:ext cx="8432800" cy="18865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661E2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6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BENEFICIOS GENERALES </a:t>
            </a:r>
            <a:r>
              <a:rPr lang="es-MX" sz="1800"/>
              <a:t>(AHORRO DE COSTOS, FLEXIBILIDAD, Y COLABORACIÓN EN TIEMPO REAL)</a:t>
            </a:r>
            <a:endParaRPr/>
          </a:p>
        </p:txBody>
      </p:sp>
      <p:sp>
        <p:nvSpPr>
          <p:cNvPr id="795" name="Google Shape;795;p36"/>
          <p:cNvSpPr txBox="1">
            <a:spLocks noGrp="1"/>
          </p:cNvSpPr>
          <p:nvPr>
            <p:ph type="body" idx="1"/>
          </p:nvPr>
        </p:nvSpPr>
        <p:spPr>
          <a:xfrm>
            <a:off x="893064" y="2073275"/>
            <a:ext cx="3354680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Ahorro de Costos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Qué es</a:t>
            </a:r>
            <a:r>
              <a:rPr lang="es-MX"/>
              <a:t>: No es necesario invertir en infraestructura costosa (servidores, hardware) ni en mantenimiento. Los usuarios solo pagan por los recursos que realmente utilizan.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Ventaja</a:t>
            </a:r>
            <a:r>
              <a:rPr lang="es-MX"/>
              <a:t>: Permite adaptarse al crecimiento de los datos y a los cambios en la demanda sin invertir en infraestructura adicional.</a:t>
            </a:r>
            <a:endParaRPr/>
          </a:p>
        </p:txBody>
      </p:sp>
      <p:sp>
        <p:nvSpPr>
          <p:cNvPr id="796" name="Google Shape;796;p36"/>
          <p:cNvSpPr txBox="1">
            <a:spLocks noGrp="1"/>
          </p:cNvSpPr>
          <p:nvPr>
            <p:ph type="body" idx="2"/>
          </p:nvPr>
        </p:nvSpPr>
        <p:spPr>
          <a:xfrm>
            <a:off x="4589578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MX" sz="1800" b="1"/>
              <a:t>Flexibilidad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MX" sz="1800" b="1"/>
              <a:t>Qué es</a:t>
            </a:r>
            <a:r>
              <a:rPr lang="es-MX" sz="1800"/>
              <a:t>: La nube permite ajustar los recursos a medida que cambian las necesidades. Se puede aumentar o reducir almacenamiento y procesamiento de forma rápida y sencilla.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MX" sz="1800" b="1"/>
              <a:t>Ventaja</a:t>
            </a:r>
            <a:r>
              <a:rPr lang="es-MX" sz="1800"/>
              <a:t>: Adapta los recursos a la demanda sin compromiso a largo plazo, optimizando costos y capacidades según sea necesario</a:t>
            </a:r>
            <a:r>
              <a:rPr lang="es-MX" sz="1600"/>
              <a:t>.</a:t>
            </a:r>
            <a:endParaRPr sz="1800"/>
          </a:p>
        </p:txBody>
      </p:sp>
      <p:sp>
        <p:nvSpPr>
          <p:cNvPr id="797" name="Google Shape;797;p36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38</a:t>
            </a:fld>
            <a:endParaRPr/>
          </a:p>
        </p:txBody>
      </p:sp>
      <p:sp>
        <p:nvSpPr>
          <p:cNvPr id="798" name="Google Shape;798;p36"/>
          <p:cNvSpPr txBox="1"/>
          <p:nvPr/>
        </p:nvSpPr>
        <p:spPr>
          <a:xfrm>
            <a:off x="8286092" y="2056544"/>
            <a:ext cx="3354680" cy="4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Colaboración en Tiempo Real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Qué es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Varias personas pueden acceder y trabajar sobre los mismos archivos o aplicaciones simultáneamente, independientemente de su ubicación.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s-MX" sz="18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Ventaja</a:t>
            </a:r>
            <a:r>
              <a:rPr lang="es-MX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Mejora la productividad y comunicación en equipos distribuidos, facilitando la toma de decisiones y la ejecución de tareas en tiempo real.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799" name="Google Shape;799;p36"/>
          <p:cNvSpPr/>
          <p:nvPr/>
        </p:nvSpPr>
        <p:spPr>
          <a:xfrm>
            <a:off x="373178" y="1605088"/>
            <a:ext cx="8432800" cy="188659"/>
          </a:xfrm>
          <a:prstGeom prst="rect">
            <a:avLst/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00" name="Google Shape;800;p36"/>
          <p:cNvSpPr/>
          <p:nvPr/>
        </p:nvSpPr>
        <p:spPr>
          <a:xfrm>
            <a:off x="3207972" y="6334854"/>
            <a:ext cx="8432800" cy="188659"/>
          </a:xfrm>
          <a:prstGeom prst="rect">
            <a:avLst/>
          </a:prstGeom>
          <a:solidFill>
            <a:schemeClr val="accent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DESAFÍOS COMUNES</a:t>
            </a:r>
            <a:endParaRPr/>
          </a:p>
        </p:txBody>
      </p:sp>
      <p:sp>
        <p:nvSpPr>
          <p:cNvPr id="806" name="Google Shape;806;p37"/>
          <p:cNvSpPr txBox="1">
            <a:spLocks noGrp="1"/>
          </p:cNvSpPr>
          <p:nvPr>
            <p:ph type="body" idx="1"/>
          </p:nvPr>
        </p:nvSpPr>
        <p:spPr>
          <a:xfrm>
            <a:off x="893064" y="2073275"/>
            <a:ext cx="3354680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Seguridad de Datos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Qué es</a:t>
            </a:r>
            <a:r>
              <a:rPr lang="es-MX"/>
              <a:t>: Aunque los proveedores de la nube implementan medidas de seguridad, la protección de los datos depende también de la correcta configuración por parte del usuario y del cumplimiento de las regulaciones de privacidad.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b="1"/>
              <a:t>Desafío</a:t>
            </a:r>
            <a:r>
              <a:rPr lang="es-MX"/>
              <a:t>: Los datos almacenados en la nube pueden ser vulnerables a ataques cibernéticos, acceso no autorizado o pérdida de datos si no se implementan adecuadas prácticas de seguridad.</a:t>
            </a:r>
            <a:endParaRPr/>
          </a:p>
        </p:txBody>
      </p:sp>
      <p:sp>
        <p:nvSpPr>
          <p:cNvPr id="807" name="Google Shape;807;p37"/>
          <p:cNvSpPr txBox="1">
            <a:spLocks noGrp="1"/>
          </p:cNvSpPr>
          <p:nvPr>
            <p:ph type="body" idx="2"/>
          </p:nvPr>
        </p:nvSpPr>
        <p:spPr>
          <a:xfrm>
            <a:off x="4589578" y="2056544"/>
            <a:ext cx="3354680" cy="372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MX" sz="1600" b="1"/>
              <a:t>Latencia</a:t>
            </a:r>
            <a:endParaRPr sz="1800" b="1"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MX" sz="1600" b="1"/>
              <a:t>Qué es</a:t>
            </a:r>
            <a:r>
              <a:rPr lang="es-MX" sz="1600"/>
              <a:t>: La latencia se refiere al tiempo que tarda en enviarse y recibirse información desde los servidores de la nube hasta el usuario final.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s-MX" sz="1600" b="1"/>
              <a:t>Desafío</a:t>
            </a:r>
            <a:r>
              <a:rPr lang="es-MX" sz="1600"/>
              <a:t>: Si la latencia es alta, puede afectar el rendimiento de aplicaciones, especialmente en tareas que requieren procesamiento en tiempo real, como videoconferencias o videojuegos en línea.</a:t>
            </a:r>
            <a:endParaRPr sz="1800"/>
          </a:p>
        </p:txBody>
      </p:sp>
      <p:sp>
        <p:nvSpPr>
          <p:cNvPr id="808" name="Google Shape;808;p37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4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39</a:t>
            </a:fld>
            <a:endParaRPr/>
          </a:p>
        </p:txBody>
      </p:sp>
      <p:sp>
        <p:nvSpPr>
          <p:cNvPr id="809" name="Google Shape;809;p37"/>
          <p:cNvSpPr txBox="1"/>
          <p:nvPr/>
        </p:nvSpPr>
        <p:spPr>
          <a:xfrm>
            <a:off x="8286092" y="2056544"/>
            <a:ext cx="3354680" cy="419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MX" sz="16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Dependencia de la Conexión a Internet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MX" sz="16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Qué es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El acceso a los datos almacenados en la nube depende de tener una conexión estable y de alta velocidad a Internet.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MX" sz="1600" b="1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Desafío</a:t>
            </a:r>
            <a:r>
              <a:rPr lang="es-MX" sz="16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: Si hay problemas de conectividad o interrupciones en el servicio de Internet, se puede perder el acceso a los datos o aplicaciones, lo que afecta la productividad.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10" name="Google Shape;810;p37"/>
          <p:cNvSpPr/>
          <p:nvPr/>
        </p:nvSpPr>
        <p:spPr>
          <a:xfrm>
            <a:off x="373178" y="1489899"/>
            <a:ext cx="8432800" cy="188659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811" name="Google Shape;811;p37"/>
          <p:cNvSpPr/>
          <p:nvPr/>
        </p:nvSpPr>
        <p:spPr>
          <a:xfrm>
            <a:off x="3207972" y="6040564"/>
            <a:ext cx="8432800" cy="188659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38"/>
          <p:cNvSpPr txBox="1"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/>
              <a:t>TIPOS DE ALMACENAMIENTO EN LA NUBE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aef6878a73_0_418"/>
          <p:cNvSpPr txBox="1">
            <a:spLocks noGrp="1"/>
          </p:cNvSpPr>
          <p:nvPr>
            <p:ph type="title"/>
          </p:nvPr>
        </p:nvSpPr>
        <p:spPr>
          <a:xfrm>
            <a:off x="813114" y="432268"/>
            <a:ext cx="10405200" cy="13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4100"/>
              <a:t>CONCEPTOS CLAVE APRENDIDOS </a:t>
            </a:r>
            <a:endParaRPr sz="4100"/>
          </a:p>
        </p:txBody>
      </p:sp>
      <p:sp>
        <p:nvSpPr>
          <p:cNvPr id="1058" name="Google Shape;1058;g3aef6878a73_0_418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41</a:t>
            </a:fld>
            <a:endParaRPr/>
          </a:p>
        </p:txBody>
      </p:sp>
      <p:sp>
        <p:nvSpPr>
          <p:cNvPr id="1059" name="Google Shape;1059;g3aef6878a73_0_418"/>
          <p:cNvSpPr/>
          <p:nvPr/>
        </p:nvSpPr>
        <p:spPr>
          <a:xfrm>
            <a:off x="4238171" y="6346239"/>
            <a:ext cx="7953900" cy="5118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2B4B4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60" name="Google Shape;1060;g3aef6878a73_0_418"/>
          <p:cNvSpPr/>
          <p:nvPr/>
        </p:nvSpPr>
        <p:spPr>
          <a:xfrm>
            <a:off x="-697" y="-9628"/>
            <a:ext cx="7953900" cy="5118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2B4B4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61" name="Google Shape;1061;g3aef6878a73_0_418"/>
          <p:cNvSpPr txBox="1"/>
          <p:nvPr/>
        </p:nvSpPr>
        <p:spPr>
          <a:xfrm>
            <a:off x="319800" y="2078650"/>
            <a:ext cx="6657900" cy="3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</a:pPr>
            <a:r>
              <a:rPr lang="es-MX" b="1"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s-MX" sz="1500" b="1">
                <a:latin typeface="Libre Franklin"/>
                <a:ea typeface="Libre Franklin"/>
                <a:cs typeface="Libre Franklin"/>
                <a:sym typeface="Libre Franklin"/>
              </a:rPr>
              <a:t>Almacenamiento en la nube</a:t>
            </a:r>
            <a:endParaRPr sz="1500" b="1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latin typeface="Libre Franklin"/>
                <a:ea typeface="Libre Franklin"/>
                <a:cs typeface="Libre Franklin"/>
                <a:sym typeface="Libre Franklin"/>
              </a:rPr>
              <a:t>Es un modelo de servicio que permite guardar datos en servidores remotos accesibles a través de Internet. Ejemplo: Google drive</a:t>
            </a:r>
            <a:endParaRPr sz="15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Libre Franklin"/>
              <a:buChar char="●"/>
            </a:pPr>
            <a:r>
              <a:rPr lang="es-MX" sz="1500" b="1">
                <a:latin typeface="Libre Franklin"/>
                <a:ea typeface="Libre Franklin"/>
                <a:cs typeface="Libre Franklin"/>
                <a:sym typeface="Libre Franklin"/>
              </a:rPr>
              <a:t>Importancia del almacenamiento en la nube</a:t>
            </a:r>
            <a:endParaRPr sz="1500" b="1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latin typeface="Libre Franklin"/>
                <a:ea typeface="Libre Franklin"/>
                <a:cs typeface="Libre Franklin"/>
                <a:sym typeface="Libre Franklin"/>
              </a:rPr>
              <a:t>- Acceso flexible</a:t>
            </a:r>
            <a:endParaRPr sz="15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latin typeface="Libre Franklin"/>
                <a:ea typeface="Libre Franklin"/>
                <a:cs typeface="Libre Franklin"/>
                <a:sym typeface="Libre Franklin"/>
              </a:rPr>
              <a:t>- Respaldo</a:t>
            </a:r>
            <a:endParaRPr sz="15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latin typeface="Libre Franklin"/>
                <a:ea typeface="Libre Franklin"/>
                <a:cs typeface="Libre Franklin"/>
                <a:sym typeface="Libre Franklin"/>
              </a:rPr>
              <a:t>- Recuperación</a:t>
            </a:r>
            <a:endParaRPr sz="15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latin typeface="Libre Franklin"/>
                <a:ea typeface="Libre Franklin"/>
                <a:cs typeface="Libre Franklin"/>
                <a:sym typeface="Libre Franklin"/>
              </a:rPr>
              <a:t>- Escalabilidad</a:t>
            </a:r>
            <a:endParaRPr sz="15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latin typeface="Libre Franklin"/>
                <a:ea typeface="Libre Franklin"/>
                <a:cs typeface="Libre Franklin"/>
                <a:sym typeface="Libre Franklin"/>
              </a:rPr>
              <a:t>- Colaboración en tiempo real</a:t>
            </a:r>
            <a:endParaRPr sz="15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latin typeface="Libre Franklin"/>
                <a:ea typeface="Libre Franklin"/>
                <a:cs typeface="Libre Franklin"/>
                <a:sym typeface="Libre Franklin"/>
              </a:rPr>
              <a:t>- Reducción de costos</a:t>
            </a:r>
            <a:endParaRPr sz="15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</a:pPr>
            <a:r>
              <a:rPr lang="es-MX" sz="1700" b="1">
                <a:latin typeface="Libre Franklin"/>
                <a:ea typeface="Libre Franklin"/>
                <a:cs typeface="Libre Franklin"/>
                <a:sym typeface="Libre Franklin"/>
              </a:rPr>
              <a:t> Historia:</a:t>
            </a:r>
            <a:r>
              <a:rPr lang="es-MX" sz="1500">
                <a:latin typeface="Libre Franklin"/>
                <a:ea typeface="Libre Franklin"/>
                <a:cs typeface="Libre Franklin"/>
                <a:sym typeface="Libre Franklin"/>
              </a:rPr>
              <a:t> El concepto de time sharing inició en los años sesenta, John McCarthy propuso la idea de un servicio público</a:t>
            </a:r>
            <a:endParaRPr sz="150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062" name="Google Shape;1062;g3aef6878a73_0_4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2800" y="2163073"/>
            <a:ext cx="3236925" cy="290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3aef6878a73_0_433"/>
          <p:cNvSpPr txBox="1">
            <a:spLocks noGrp="1"/>
          </p:cNvSpPr>
          <p:nvPr>
            <p:ph type="title"/>
          </p:nvPr>
        </p:nvSpPr>
        <p:spPr>
          <a:xfrm>
            <a:off x="893064" y="72518"/>
            <a:ext cx="10405200" cy="13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CONCEPTOS CLAVE APRENDIDOS </a:t>
            </a:r>
            <a:endParaRPr/>
          </a:p>
        </p:txBody>
      </p:sp>
      <p:sp>
        <p:nvSpPr>
          <p:cNvPr id="1068" name="Google Shape;1068;g3aef6878a73_0_433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2670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42</a:t>
            </a:fld>
            <a:endParaRPr/>
          </a:p>
        </p:txBody>
      </p:sp>
      <p:sp>
        <p:nvSpPr>
          <p:cNvPr id="1069" name="Google Shape;1069;g3aef6878a73_0_433"/>
          <p:cNvSpPr/>
          <p:nvPr/>
        </p:nvSpPr>
        <p:spPr>
          <a:xfrm>
            <a:off x="4238171" y="6346239"/>
            <a:ext cx="7953900" cy="5118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2B4B4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70" name="Google Shape;1070;g3aef6878a73_0_433"/>
          <p:cNvSpPr/>
          <p:nvPr/>
        </p:nvSpPr>
        <p:spPr>
          <a:xfrm>
            <a:off x="-697" y="-9628"/>
            <a:ext cx="7953900" cy="5118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2B4B4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071" name="Google Shape;1071;g3aef6878a73_0_4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6504" y="3035930"/>
            <a:ext cx="4559155" cy="28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g3aef6878a73_0_433"/>
          <p:cNvSpPr txBox="1"/>
          <p:nvPr/>
        </p:nvSpPr>
        <p:spPr>
          <a:xfrm>
            <a:off x="79950" y="1519000"/>
            <a:ext cx="6911100" cy="44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</a:pPr>
            <a:r>
              <a:rPr lang="es-MX" sz="1600" b="1">
                <a:latin typeface="Libre Franklin"/>
                <a:ea typeface="Libre Franklin"/>
                <a:cs typeface="Libre Franklin"/>
                <a:sym typeface="Libre Franklin"/>
              </a:rPr>
              <a:t>Servidores:</a:t>
            </a:r>
            <a:r>
              <a:rPr lang="es-MX">
                <a:latin typeface="Libre Franklin"/>
                <a:ea typeface="Libre Franklin"/>
                <a:cs typeface="Libre Franklin"/>
                <a:sym typeface="Libre Franklin"/>
              </a:rPr>
              <a:t> Son computadoras potentes que almacenan grandes cantidades de datos. Están distribuidos en distintas ubicaciones y gestionados por los proveedores de servicio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</a:pPr>
            <a:r>
              <a:rPr lang="es-MX" sz="1600" b="1">
                <a:latin typeface="Libre Franklin"/>
                <a:ea typeface="Libre Franklin"/>
                <a:cs typeface="Libre Franklin"/>
                <a:sym typeface="Libre Franklin"/>
              </a:rPr>
              <a:t> Centros de datos: </a:t>
            </a:r>
            <a:r>
              <a:rPr lang="es-MX">
                <a:latin typeface="Libre Franklin"/>
                <a:ea typeface="Libre Franklin"/>
                <a:cs typeface="Libre Franklin"/>
                <a:sym typeface="Libre Franklin"/>
              </a:rPr>
              <a:t>Son grandes instalaciones donde se alojan los servidores. Están diseñados para garantizar la seguridad, disponibilidad y eficiencia del almacenamiento.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Char char="●"/>
            </a:pPr>
            <a:r>
              <a:rPr lang="es-MX" sz="1600" b="1">
                <a:latin typeface="Libre Franklin"/>
                <a:ea typeface="Libre Franklin"/>
                <a:cs typeface="Libre Franklin"/>
                <a:sym typeface="Libre Franklin"/>
              </a:rPr>
              <a:t>Virtualización: </a:t>
            </a:r>
            <a:r>
              <a:rPr lang="es-MX">
                <a:latin typeface="Libre Franklin"/>
                <a:ea typeface="Libre Franklin"/>
                <a:cs typeface="Libre Franklin"/>
                <a:sym typeface="Libre Franklin"/>
              </a:rPr>
              <a:t>Esta tecnología permite que un solo servidor físico se divida en múltiples servidores virtuales. 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SzPts val="1500"/>
              <a:buFont typeface="Libre Franklin"/>
              <a:buChar char="●"/>
            </a:pPr>
            <a:r>
              <a:rPr lang="es-MX" sz="1500" b="1">
                <a:latin typeface="Libre Franklin"/>
                <a:ea typeface="Libre Franklin"/>
                <a:cs typeface="Libre Franklin"/>
                <a:sym typeface="Libre Franklin"/>
              </a:rPr>
              <a:t>Modelos de servicio:</a:t>
            </a:r>
            <a:endParaRPr sz="1500" b="1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Libre Franklin"/>
                <a:ea typeface="Libre Franklin"/>
                <a:cs typeface="Libre Franklin"/>
                <a:sym typeface="Libre Franklin"/>
              </a:rPr>
              <a:t>- IaaS (Infraestructura como Servicio)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Libre Franklin"/>
                <a:ea typeface="Libre Franklin"/>
                <a:cs typeface="Libre Franklin"/>
                <a:sym typeface="Libre Franklin"/>
              </a:rPr>
              <a:t>- PaaS (Plataforma como Servicio)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Libre Franklin"/>
                <a:ea typeface="Libre Franklin"/>
                <a:cs typeface="Libre Franklin"/>
                <a:sym typeface="Libre Franklin"/>
              </a:rPr>
              <a:t>- SaaS (Software como Servicio)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SzPts val="1500"/>
              <a:buFont typeface="Libre Franklin"/>
              <a:buChar char="●"/>
            </a:pPr>
            <a:r>
              <a:rPr lang="es-MX" sz="1500" b="1">
                <a:latin typeface="Libre Franklin"/>
                <a:ea typeface="Libre Franklin"/>
                <a:cs typeface="Libre Franklin"/>
                <a:sym typeface="Libre Franklin"/>
              </a:rPr>
              <a:t>Tipos de almacenamiento</a:t>
            </a:r>
            <a:endParaRPr sz="1500" b="1"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Libre Franklin"/>
                <a:ea typeface="Libre Franklin"/>
                <a:cs typeface="Libre Franklin"/>
                <a:sym typeface="Libre Franklin"/>
              </a:rPr>
              <a:t>- Publico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Libre Franklin"/>
                <a:ea typeface="Libre Franklin"/>
                <a:cs typeface="Libre Franklin"/>
                <a:sym typeface="Libre Franklin"/>
              </a:rPr>
              <a:t>- Privado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>
                <a:latin typeface="Libre Franklin"/>
                <a:ea typeface="Libre Franklin"/>
                <a:cs typeface="Libre Franklin"/>
                <a:sym typeface="Libre Franklin"/>
              </a:rPr>
              <a:t>- Hibrido</a:t>
            </a: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1073" name="Google Shape;1073;g3aef6878a73_0_433" title="Gemini_Generated_Image_k3gbyrk3gbyrk3gb.png"/>
          <p:cNvPicPr preferRelativeResize="0"/>
          <p:nvPr/>
        </p:nvPicPr>
        <p:blipFill rotWithShape="1">
          <a:blip r:embed="rId4">
            <a:alphaModFix/>
          </a:blip>
          <a:srcRect l="27916" r="24117"/>
          <a:stretch/>
        </p:blipFill>
        <p:spPr>
          <a:xfrm>
            <a:off x="9610075" y="275375"/>
            <a:ext cx="1894049" cy="24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68"/>
          <p:cNvSpPr txBox="1">
            <a:spLocks noGrp="1"/>
          </p:cNvSpPr>
          <p:nvPr>
            <p:ph type="title"/>
          </p:nvPr>
        </p:nvSpPr>
        <p:spPr>
          <a:xfrm>
            <a:off x="419485" y="10"/>
            <a:ext cx="6172200" cy="12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/>
              <a:t>VALOR </a:t>
            </a:r>
            <a:endParaRPr/>
          </a:p>
        </p:txBody>
      </p:sp>
      <p:sp>
        <p:nvSpPr>
          <p:cNvPr id="1079" name="Google Shape;1079;p68"/>
          <p:cNvSpPr txBox="1">
            <a:spLocks noGrp="1"/>
          </p:cNvSpPr>
          <p:nvPr>
            <p:ph type="body" idx="1"/>
          </p:nvPr>
        </p:nvSpPr>
        <p:spPr>
          <a:xfrm>
            <a:off x="3140150" y="2706850"/>
            <a:ext cx="3850800" cy="3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s-MX" sz="2800" b="1"/>
              <a:t>"Promovemos la adaptabilidad como una competencia esencial en el desarrollo profesional. Los estudiantes deben estar preparados para enfrentar cambios tecnológicos, nuevas herramientas y escenarios imprevistos."</a:t>
            </a:r>
            <a:endParaRPr sz="2800" b="1"/>
          </a:p>
        </p:txBody>
      </p:sp>
      <p:sp>
        <p:nvSpPr>
          <p:cNvPr id="1080" name="Google Shape;1080;p68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43</a:t>
            </a:fld>
            <a:endParaRPr/>
          </a:p>
        </p:txBody>
      </p:sp>
      <p:sp>
        <p:nvSpPr>
          <p:cNvPr id="1081" name="Google Shape;1081;p68"/>
          <p:cNvSpPr txBox="1"/>
          <p:nvPr/>
        </p:nvSpPr>
        <p:spPr>
          <a:xfrm>
            <a:off x="2444225" y="1031825"/>
            <a:ext cx="5812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000"/>
              <a:buFont typeface="Impact"/>
              <a:buNone/>
            </a:pPr>
            <a:r>
              <a:rPr lang="es-MX" sz="4000" b="1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ADAPTABILIDAD</a:t>
            </a:r>
            <a:endParaRPr/>
          </a:p>
        </p:txBody>
      </p:sp>
      <p:sp>
        <p:nvSpPr>
          <p:cNvPr id="1082" name="Google Shape;1082;p68"/>
          <p:cNvSpPr txBox="1">
            <a:spLocks noGrp="1"/>
          </p:cNvSpPr>
          <p:nvPr>
            <p:ph type="body" idx="1"/>
          </p:nvPr>
        </p:nvSpPr>
        <p:spPr>
          <a:xfrm>
            <a:off x="7923700" y="2819275"/>
            <a:ext cx="3434100" cy="25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9306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MX" sz="2800" b="1"/>
              <a:t>Adaptarnos a nuevas situaciones</a:t>
            </a:r>
            <a:endParaRPr sz="2800" b="1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/>
          </a:p>
          <a:p>
            <a:pPr marL="457200" lvl="0" indent="-39306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MX" sz="2800" b="1"/>
              <a:t>Adaptar sistemas</a:t>
            </a:r>
            <a:endParaRPr sz="2800" b="1"/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/>
          </a:p>
          <a:p>
            <a:pPr marL="457200" lvl="0" indent="-39306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MX" sz="2800" b="1"/>
              <a:t>Adaptarnos al contexto actual</a:t>
            </a:r>
            <a:endParaRPr sz="2800" b="1"/>
          </a:p>
        </p:txBody>
      </p:sp>
      <p:pic>
        <p:nvPicPr>
          <p:cNvPr id="1083" name="Google Shape;1083;p68" title="Gemini_Generated_Image_sfb0qdsfb0qdsfb0.png"/>
          <p:cNvPicPr preferRelativeResize="0"/>
          <p:nvPr/>
        </p:nvPicPr>
        <p:blipFill rotWithShape="1">
          <a:blip r:embed="rId3">
            <a:alphaModFix/>
          </a:blip>
          <a:srcRect l="24354" t="19124" r="20917" b="13630"/>
          <a:stretch/>
        </p:blipFill>
        <p:spPr>
          <a:xfrm>
            <a:off x="0" y="2064950"/>
            <a:ext cx="2864776" cy="482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aef6878a73_0_30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1188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44</a:t>
            </a:fld>
            <a:endParaRPr/>
          </a:p>
        </p:txBody>
      </p:sp>
      <p:pic>
        <p:nvPicPr>
          <p:cNvPr id="1089" name="Google Shape;1089;g3aef6878a73_0_30" title="Gemini_Generated_Image_sfb0qdsfb0qdsfb0.png"/>
          <p:cNvPicPr preferRelativeResize="0"/>
          <p:nvPr/>
        </p:nvPicPr>
        <p:blipFill rotWithShape="1">
          <a:blip r:embed="rId3">
            <a:alphaModFix/>
          </a:blip>
          <a:srcRect l="24354" t="19124" r="20917" b="13630"/>
          <a:stretch/>
        </p:blipFill>
        <p:spPr>
          <a:xfrm>
            <a:off x="12" y="2034500"/>
            <a:ext cx="2864776" cy="482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0" name="Google Shape;1090;g3aef6878a73_0_30"/>
          <p:cNvSpPr txBox="1"/>
          <p:nvPr/>
        </p:nvSpPr>
        <p:spPr>
          <a:xfrm>
            <a:off x="3291175" y="2918100"/>
            <a:ext cx="80568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600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Practiquemos lo aprendido - corto #8</a:t>
            </a:r>
            <a:endParaRPr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g3aef301bc5b_0_99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1268" y="0"/>
            <a:ext cx="12169464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08" name="Google Shape;708;g3aef301bc5b_0_99"/>
          <p:cNvGraphicFramePr/>
          <p:nvPr>
            <p:extLst>
              <p:ext uri="{D42A27DB-BD31-4B8C-83A1-F6EECF244321}">
                <p14:modId xmlns:p14="http://schemas.microsoft.com/office/powerpoint/2010/main" val="3733284761"/>
              </p:ext>
            </p:extLst>
          </p:nvPr>
        </p:nvGraphicFramePr>
        <p:xfrm>
          <a:off x="71193" y="1293367"/>
          <a:ext cx="6973150" cy="2179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8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01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b="1" u="none" strike="noStrike" cap="none" dirty="0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19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 dirty="0"/>
                        <a:t>Corto 8</a:t>
                      </a:r>
                      <a:endParaRPr sz="1900" u="none" strike="noStrike" cap="none" dirty="0"/>
                    </a:p>
                  </a:txBody>
                  <a:tcPr marL="121900" marR="121900" marT="121900" marB="1219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01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b="1" u="none" strike="noStrike" cap="none" dirty="0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19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/>
                        <a:t>7</a:t>
                      </a:r>
                      <a:r>
                        <a:rPr lang="en-US" sz="1900" u="none" strike="noStrike" cap="none" dirty="0"/>
                        <a:t>0</a:t>
                      </a:r>
                      <a:endParaRPr sz="1900" u="none" strike="noStrike" cap="none" dirty="0"/>
                    </a:p>
                  </a:txBody>
                  <a:tcPr marL="121900" marR="121900" marT="121900" marB="1219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330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b="1" u="none" strike="noStrike" cap="none" dirty="0">
                          <a:solidFill>
                            <a:schemeClr val="dk1"/>
                          </a:solidFill>
                        </a:rPr>
                        <a:t>Doy fe que esta actividad está planificada en </a:t>
                      </a:r>
                      <a:r>
                        <a:rPr lang="es-MX" sz="1900" b="1" u="none" strike="noStrike" cap="none" dirty="0" err="1">
                          <a:solidFill>
                            <a:schemeClr val="dk1"/>
                          </a:solidFill>
                        </a:rPr>
                        <a:t>dtt</a:t>
                      </a:r>
                      <a:r>
                        <a:rPr lang="es-MX" sz="1900" b="1" u="none" strike="noStrike" cap="none" dirty="0">
                          <a:solidFill>
                            <a:schemeClr val="dk1"/>
                          </a:solidFill>
                        </a:rPr>
                        <a:t> (Sí/No):</a:t>
                      </a:r>
                      <a:endParaRPr sz="1900" b="1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 dirty="0"/>
                        <a:t>Si</a:t>
                      </a:r>
                      <a:endParaRPr sz="1900" u="none" strike="noStrike" cap="none" dirty="0"/>
                    </a:p>
                  </a:txBody>
                  <a:tcPr marL="121900" marR="121900" marT="121900" marB="1219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09" name="Google Shape;709;g3aef301bc5b_0_99"/>
          <p:cNvSpPr txBox="1"/>
          <p:nvPr/>
        </p:nvSpPr>
        <p:spPr>
          <a:xfrm>
            <a:off x="-92199" y="3429000"/>
            <a:ext cx="120252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MX" sz="19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</a:t>
            </a:r>
            <a:r>
              <a:rPr lang="es-MX" sz="19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meet</a:t>
            </a:r>
            <a:r>
              <a:rPr lang="es-MX" sz="19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g3aef301bc5b_0_99"/>
          <p:cNvSpPr txBox="1"/>
          <p:nvPr/>
        </p:nvSpPr>
        <p:spPr>
          <a:xfrm>
            <a:off x="39533" y="3893802"/>
            <a:ext cx="4111500" cy="46162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lvl="0"/>
            <a:r>
              <a:rPr lang="en-US" dirty="0"/>
              <a:t>XXX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1" name="Google Shape;711;g3aef301bc5b_0_99"/>
          <p:cNvGraphicFramePr/>
          <p:nvPr/>
        </p:nvGraphicFramePr>
        <p:xfrm>
          <a:off x="7104267" y="1293367"/>
          <a:ext cx="4920775" cy="1889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9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 dirty="0"/>
                        <a:t>6:45</a:t>
                      </a:r>
                      <a:endParaRPr sz="1900" u="none" strike="noStrike" cap="none" dirty="0"/>
                    </a:p>
                  </a:txBody>
                  <a:tcPr marL="121900" marR="121900" marT="121900" marB="1219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s-MX" sz="1900" b="1" u="none" strike="noStrike" cap="non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19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 dirty="0"/>
                        <a:t>7:00</a:t>
                      </a:r>
                      <a:endParaRPr sz="1900" u="none" strike="noStrike" cap="none" dirty="0"/>
                    </a:p>
                  </a:txBody>
                  <a:tcPr marL="121900" marR="121900" marT="121900" marB="1219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lang="es-MX" sz="1900" b="1" u="none" strike="noStrike" cap="non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700" b="1" u="none" strike="noStrike" cap="none"/>
                    </a:p>
                  </a:txBody>
                  <a:tcPr marL="121900" marR="121900" marT="121900" marB="1219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-US" sz="1900" u="none" strike="noStrike" cap="none" dirty="0"/>
                        <a:t>15min</a:t>
                      </a:r>
                      <a:endParaRPr sz="1900" u="none" strike="noStrike" cap="none" dirty="0"/>
                    </a:p>
                  </a:txBody>
                  <a:tcPr marL="121900" marR="121900" marT="121900" marB="12190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2" name="Google Shape;712;g3aef301bc5b_0_99"/>
          <p:cNvSpPr txBox="1"/>
          <p:nvPr/>
        </p:nvSpPr>
        <p:spPr>
          <a:xfrm>
            <a:off x="4240216" y="3889207"/>
            <a:ext cx="4111500" cy="4926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3aef301bc5b_0_99"/>
          <p:cNvSpPr txBox="1"/>
          <p:nvPr/>
        </p:nvSpPr>
        <p:spPr>
          <a:xfrm>
            <a:off x="8440899" y="3893802"/>
            <a:ext cx="3843300" cy="492600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aef6878a73_0_410"/>
          <p:cNvSpPr txBox="1">
            <a:spLocks noGrp="1"/>
          </p:cNvSpPr>
          <p:nvPr>
            <p:ph type="sldNum" idx="12"/>
          </p:nvPr>
        </p:nvSpPr>
        <p:spPr>
          <a:xfrm>
            <a:off x="911352" y="6246622"/>
            <a:ext cx="1188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46</a:t>
            </a:fld>
            <a:endParaRPr/>
          </a:p>
        </p:txBody>
      </p:sp>
      <p:sp>
        <p:nvSpPr>
          <p:cNvPr id="1107" name="Google Shape;1107;g3aef6878a73_0_410"/>
          <p:cNvSpPr txBox="1"/>
          <p:nvPr/>
        </p:nvSpPr>
        <p:spPr>
          <a:xfrm>
            <a:off x="1012675" y="3276600"/>
            <a:ext cx="3744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600" b="1">
                <a:solidFill>
                  <a:srgbClr val="131416"/>
                </a:solidFill>
                <a:latin typeface="Montserrat"/>
                <a:ea typeface="Montserrat"/>
                <a:cs typeface="Montserrat"/>
                <a:sym typeface="Montserrat"/>
              </a:rPr>
              <a:t>¿Dudas?</a:t>
            </a:r>
            <a:endParaRPr sz="1000"/>
          </a:p>
        </p:txBody>
      </p:sp>
      <p:pic>
        <p:nvPicPr>
          <p:cNvPr id="1108" name="Google Shape;1108;g3aef6878a73_0_410" title="Gemini_Generated_Image_1od44x1od44x1od4.png"/>
          <p:cNvPicPr preferRelativeResize="0"/>
          <p:nvPr/>
        </p:nvPicPr>
        <p:blipFill rotWithShape="1">
          <a:blip r:embed="rId3">
            <a:alphaModFix/>
          </a:blip>
          <a:srcRect l="18108" r="16706"/>
          <a:stretch/>
        </p:blipFill>
        <p:spPr>
          <a:xfrm>
            <a:off x="6096000" y="1428075"/>
            <a:ext cx="5423099" cy="51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9E7"/>
        </a:solidFill>
        <a:effectLst/>
      </p:bgPr>
    </p:bg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69"/>
          <p:cNvSpPr txBox="1"/>
          <p:nvPr/>
        </p:nvSpPr>
        <p:spPr>
          <a:xfrm>
            <a:off x="-136857" y="506437"/>
            <a:ext cx="7938753" cy="1904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000"/>
              <a:buFont typeface="Impact"/>
              <a:buNone/>
            </a:pPr>
            <a:r>
              <a:rPr lang="es-MX" sz="4000" b="1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4000" b="1" cap="none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16" name="Google Shape;1116;p69"/>
          <p:cNvSpPr txBox="1"/>
          <p:nvPr/>
        </p:nvSpPr>
        <p:spPr>
          <a:xfrm>
            <a:off x="944691" y="2722140"/>
            <a:ext cx="5775656" cy="1822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800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82">
      <a:dk1>
        <a:srgbClr val="000000"/>
      </a:dk1>
      <a:lt1>
        <a:srgbClr val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4113</Words>
  <Application>Microsoft Office PowerPoint</Application>
  <PresentationFormat>Widescreen</PresentationFormat>
  <Paragraphs>331</Paragraphs>
  <Slides>47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9" baseType="lpstr">
      <vt:lpstr>Libre Franklin</vt:lpstr>
      <vt:lpstr>Arial</vt:lpstr>
      <vt:lpstr>Arimo</vt:lpstr>
      <vt:lpstr>Arial MT Pro Bold</vt:lpstr>
      <vt:lpstr>Impact</vt:lpstr>
      <vt:lpstr>Lobster</vt:lpstr>
      <vt:lpstr>Avenir</vt:lpstr>
      <vt:lpstr>Calibri</vt:lpstr>
      <vt:lpstr>Montserrat</vt:lpstr>
      <vt:lpstr>Open Sans</vt:lpstr>
      <vt:lpstr>Pacifico</vt:lpstr>
      <vt:lpstr>Personalizar</vt:lpstr>
      <vt:lpstr>PowerPoint Presentation</vt:lpstr>
      <vt:lpstr>Unidad No. 2 - Introducción a los Almacenamientos en Red y en la Nube</vt:lpstr>
      <vt:lpstr>TIPOS DE ALMACENAMIENTO EN LA NUBE</vt:lpstr>
      <vt:lpstr>PowerPoint Presentation</vt:lpstr>
      <vt:lpstr>COMPETENCIA(S) QUE DESARROLLAREMOS </vt:lpstr>
      <vt:lpstr>PowerPoint Presentation</vt:lpstr>
      <vt:lpstr> TIPOS DE ALMACENAMIENTO EN LA NUBE</vt:lpstr>
      <vt:lpstr>OBJETIVOS </vt:lpstr>
      <vt:lpstr>¿QUÉ ES EL ALMACENAMIENTO EN LA NUBE?</vt:lpstr>
      <vt:lpstr>¿QUÉ ES EL ALMACENAMIENTO EN LA NUBE?</vt:lpstr>
      <vt:lpstr>IMPORTANCIA DEL ALMACENAMIENTO EN LA NUBE</vt:lpstr>
      <vt:lpstr>IMPORTANCIA DEL ALMACENAMIENTO EN LA NUBE</vt:lpstr>
      <vt:lpstr> HISTORIA Y ORÍGENES</vt:lpstr>
      <vt:lpstr>PRECURSORES DEL ALMACENAMIENTO EN LA NUBE</vt:lpstr>
      <vt:lpstr>PRECURSORES DEL ALMACENAMIENTO EN LA NUBE</vt:lpstr>
      <vt:lpstr>PRECURSORES DEL ALMACENAMIENTO EN LA NUBE </vt:lpstr>
      <vt:lpstr>DÉCADA DE 1990</vt:lpstr>
      <vt:lpstr>DÉCADA DE 1990: INTERNET Y EL ALMACENAMIENTO REMOTO</vt:lpstr>
      <vt:lpstr>DÉCADA DE 1990: PIONEROS EN SERVICIOS EN LA NUBE</vt:lpstr>
      <vt:lpstr>AÑOS 2000</vt:lpstr>
      <vt:lpstr>AÑOS 2000: AWS Y LA REVOLUCIÓN DEL ALMACENAMIENTO EN LA NUBE</vt:lpstr>
      <vt:lpstr>AÑOS 2000: GOOGLE DOCS Y EL INICIO DEL ALMACENAMIENTO MASIVO EN LA NUBE</vt:lpstr>
      <vt:lpstr> EVOLUCIÓN TECNOLÓGICA</vt:lpstr>
      <vt:lpstr>EVOLUCIÓN TECNOLÓGICA: ANCHO DE BANDA Y REDUCCIÓN DE COSTOS DE ALMACENAMIENTO</vt:lpstr>
      <vt:lpstr> EVOLUCIÓN TECNOLÓGICA</vt:lpstr>
      <vt:lpstr>HITOS IMPORTANTES EN EL ALMACENAMIENTO EN LA NUBE</vt:lpstr>
      <vt:lpstr>HITOS IMPORTANTES EN EL ALMACENAMIENTO EN LA NUBE</vt:lpstr>
      <vt:lpstr>IMPACTO EN LA SOCIEDAD</vt:lpstr>
      <vt:lpstr>IMPACTO EN LA SOCIEDAD</vt:lpstr>
      <vt:lpstr>DATOS CURIOSOS</vt:lpstr>
      <vt:lpstr>DATOS CURIOSOS</vt:lpstr>
      <vt:lpstr>DATOS CURIOSOS</vt:lpstr>
      <vt:lpstr>CONCEPTOS BÁSICOS </vt:lpstr>
      <vt:lpstr>¿CÓMO FUNCIONA EL ALMACENAMIENTO EN LA NUBE?</vt:lpstr>
      <vt:lpstr>MODELOS DE SERVICIO</vt:lpstr>
      <vt:lpstr>MODELOS DE SERVICIO EN LA NUBE</vt:lpstr>
      <vt:lpstr>MODELOS DE SERVICIO EN LA NUBE</vt:lpstr>
      <vt:lpstr>BENEFICIOS GENERALES (AHORRO DE COSTOS, FLEXIBILIDAD, Y COLABORACIÓN EN TIEMPO REAL)</vt:lpstr>
      <vt:lpstr>DESAFÍOS COMUNES</vt:lpstr>
      <vt:lpstr>TIPOS DE ALMACENAMIENTO EN LA NUBE</vt:lpstr>
      <vt:lpstr>CONCEPTOS CLAVE APRENDIDOS </vt:lpstr>
      <vt:lpstr>CONCEPTOS CLAVE APRENDIDOS </vt:lpstr>
      <vt:lpstr>VALOR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Saul Andre</dc:creator>
  <cp:lastModifiedBy>kevin ruiz</cp:lastModifiedBy>
  <cp:revision>11</cp:revision>
  <dcterms:created xsi:type="dcterms:W3CDTF">2025-03-17T02:37:24Z</dcterms:created>
  <dcterms:modified xsi:type="dcterms:W3CDTF">2026-05-10T07:41:11Z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0x010100B1ECE7E405C86F4AAC9D57B5C1A0129E</vt:lpwstr>
  </property>
</Properties>
</file>