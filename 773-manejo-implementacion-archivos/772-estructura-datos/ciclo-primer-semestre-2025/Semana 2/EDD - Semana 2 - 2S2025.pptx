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Open Sans 1 Bold" charset="1" panose="00000000000000000000"/>
      <p:regular r:id="rId26"/>
    </p:embeddedFont>
    <p:embeddedFont>
      <p:font typeface="Arial" charset="1" panose="020B0502020202020204"/>
      <p:regular r:id="rId28"/>
    </p:embeddedFont>
    <p:embeddedFont>
      <p:font typeface="Pacifico" charset="1" panose="00000500000000000000"/>
      <p:regular r:id="rId29"/>
    </p:embeddedFont>
    <p:embeddedFont>
      <p:font typeface="Lobster" charset="1" panose="00000500000000000000"/>
      <p:regular r:id="rId30"/>
    </p:embeddedFont>
    <p:embeddedFont>
      <p:font typeface="Impact" charset="1" panose="020B0806030902050204"/>
      <p:regular r:id="rId32"/>
    </p:embeddedFont>
    <p:embeddedFont>
      <p:font typeface="Open Sans 1" charset="1" panose="00000000000000000000"/>
      <p:regular r:id="rId34"/>
    </p:embeddedFont>
    <p:embeddedFont>
      <p:font typeface="Open Sans 2 Bold" charset="1" panose="020B0806030504020204"/>
      <p:regular r:id="rId36"/>
    </p:embeddedFont>
    <p:embeddedFont>
      <p:font typeface="Open Sans 2" charset="1" panose="020B0606030504020204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notesMasters/notesMaster1.xml" Type="http://schemas.openxmlformats.org/officeDocument/2006/relationships/notesMaster"/><Relationship Id="rId24" Target="theme/theme2.xml" Type="http://schemas.openxmlformats.org/officeDocument/2006/relationships/theme"/><Relationship Id="rId25" Target="notesSlides/notesSlide1.xml" Type="http://schemas.openxmlformats.org/officeDocument/2006/relationships/notesSlide"/><Relationship Id="rId26" Target="fonts/font26.fntdata" Type="http://schemas.openxmlformats.org/officeDocument/2006/relationships/font"/><Relationship Id="rId27" Target="notesSlides/notesSlide2.xml" Type="http://schemas.openxmlformats.org/officeDocument/2006/relationships/notes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notesSlides/notesSlide3.xml" Type="http://schemas.openxmlformats.org/officeDocument/2006/relationships/notesSlide"/><Relationship Id="rId32" Target="fonts/font32.fntdata" Type="http://schemas.openxmlformats.org/officeDocument/2006/relationships/font"/><Relationship Id="rId33" Target="notesSlides/notesSlide4.xml" Type="http://schemas.openxmlformats.org/officeDocument/2006/relationships/notesSlide"/><Relationship Id="rId34" Target="fonts/font34.fntdata" Type="http://schemas.openxmlformats.org/officeDocument/2006/relationships/font"/><Relationship Id="rId35" Target="notesSlides/notesSlide5.xml" Type="http://schemas.openxmlformats.org/officeDocument/2006/relationships/notesSlide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notesSlides/notesSlide6.xml" Type="http://schemas.openxmlformats.org/officeDocument/2006/relationships/notesSlide"/><Relationship Id="rId39" Target="notesSlides/notesSlide7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8.xml" Type="http://schemas.openxmlformats.org/officeDocument/2006/relationships/notesSlide"/><Relationship Id="rId41" Target="notesSlides/notesSlide9.xml" Type="http://schemas.openxmlformats.org/officeDocument/2006/relationships/notesSlide"/><Relationship Id="rId42" Target="notesSlides/notesSlide10.xml" Type="http://schemas.openxmlformats.org/officeDocument/2006/relationships/notesSlide"/><Relationship Id="rId43" Target="notesSlides/notesSlide11.xml" Type="http://schemas.openxmlformats.org/officeDocument/2006/relationships/notesSlide"/><Relationship Id="rId44" Target="notesSlides/notesSlide12.xml" Type="http://schemas.openxmlformats.org/officeDocument/2006/relationships/notesSlide"/><Relationship Id="rId45" Target="notesSlides/notesSlide13.xml" Type="http://schemas.openxmlformats.org/officeDocument/2006/relationships/notesSlide"/><Relationship Id="rId46" Target="notesSlides/notesSlide14.xml" Type="http://schemas.openxmlformats.org/officeDocument/2006/relationships/notesSlide"/><Relationship Id="rId47" Target="notesSlides/notesSlide15.xml" Type="http://schemas.openxmlformats.org/officeDocument/2006/relationships/notesSlide"/><Relationship Id="rId48" Target="notesSlides/notesSlide16.xml" Type="http://schemas.openxmlformats.org/officeDocument/2006/relationships/notesSlide"/><Relationship Id="rId49" Target="notesSlides/notesSlide17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4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6.pn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9.pn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1.pn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3.png" Type="http://schemas.openxmlformats.org/officeDocument/2006/relationships/image"/><Relationship Id="rId4" Target="../media/image2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25.png" Type="http://schemas.openxmlformats.org/officeDocument/2006/relationships/image"/><Relationship Id="rId4" Target="../media/image2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2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28.pn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33.png" Type="http://schemas.openxmlformats.org/officeDocument/2006/relationships/image"/><Relationship Id="rId4" Target="../media/image34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29.png" Type="http://schemas.openxmlformats.org/officeDocument/2006/relationships/image"/><Relationship Id="rId6" Target="../media/image30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https://www.w3schools.com/cs/cs_intro.php" TargetMode="External" Type="http://schemas.openxmlformats.org/officeDocument/2006/relationships/hyperlink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3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41309" y="0"/>
            <a:ext cx="5746691" cy="1711780"/>
            <a:chOff x="0" y="0"/>
            <a:chExt cx="7662255" cy="22823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62291" cy="2282317"/>
            </a:xfrm>
            <a:custGeom>
              <a:avLst/>
              <a:gdLst/>
              <a:ahLst/>
              <a:cxnLst/>
              <a:rect r="r" b="b" t="t" l="l"/>
              <a:pathLst>
                <a:path h="2282317" w="7662291">
                  <a:moveTo>
                    <a:pt x="0" y="0"/>
                  </a:moveTo>
                  <a:lnTo>
                    <a:pt x="7662291" y="0"/>
                  </a:lnTo>
                  <a:lnTo>
                    <a:pt x="7662291" y="2282317"/>
                  </a:lnTo>
                  <a:lnTo>
                    <a:pt x="0" y="22823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63303" y="7205119"/>
            <a:ext cx="6303503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b="true" sz="4999">
                <a:solidFill>
                  <a:srgbClr val="131416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Estructura de datos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655307" y="2579849"/>
            <a:ext cx="12977386" cy="3193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057"/>
              </a:lnSpc>
            </a:pPr>
            <a:r>
              <a:rPr lang="en-US" b="true" sz="7772">
                <a:solidFill>
                  <a:srgbClr val="131416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Principi</a:t>
            </a:r>
            <a:r>
              <a:rPr lang="en-US" b="true" sz="7772">
                <a:solidFill>
                  <a:srgbClr val="131416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os del Lenguaje de programación a utilizar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63303" y="8630951"/>
            <a:ext cx="6981379" cy="536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8"/>
              </a:lnSpc>
            </a:pPr>
            <a:r>
              <a:rPr lang="en-US" b="true" sz="2499">
                <a:solidFill>
                  <a:srgbClr val="131416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Escuela de Ingenieria de Ciencias Y Sistemas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096375"/>
            <a:ext cx="6667500" cy="536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b="true" sz="2499">
                <a:solidFill>
                  <a:srgbClr val="131416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Facultad de Ingenieria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8600" y="9473954"/>
            <a:ext cx="8115300" cy="533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8"/>
              </a:lnSpc>
            </a:pPr>
            <a:r>
              <a:rPr lang="en-US" b="true" sz="2499">
                <a:solidFill>
                  <a:srgbClr val="131416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Universidad de San Carlos de Guatemala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6619" y="4699462"/>
            <a:ext cx="4613551" cy="666407"/>
            <a:chOff x="0" y="0"/>
            <a:chExt cx="6151401" cy="8885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51372" cy="888492"/>
            </a:xfrm>
            <a:custGeom>
              <a:avLst/>
              <a:gdLst/>
              <a:ahLst/>
              <a:cxnLst/>
              <a:rect r="r" b="b" t="t" l="l"/>
              <a:pathLst>
                <a:path h="888492" w="6151372">
                  <a:moveTo>
                    <a:pt x="5514975" y="0"/>
                  </a:moveTo>
                  <a:lnTo>
                    <a:pt x="0" y="0"/>
                  </a:lnTo>
                  <a:lnTo>
                    <a:pt x="0" y="888492"/>
                  </a:lnTo>
                  <a:lnTo>
                    <a:pt x="5514975" y="888492"/>
                  </a:lnTo>
                  <a:lnTo>
                    <a:pt x="6151372" y="444246"/>
                  </a:lnTo>
                  <a:lnTo>
                    <a:pt x="551497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58478" y="4644545"/>
            <a:ext cx="6463385" cy="845385"/>
            <a:chOff x="0" y="0"/>
            <a:chExt cx="8617847" cy="11271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617847" cy="1127180"/>
            </a:xfrm>
            <a:custGeom>
              <a:avLst/>
              <a:gdLst/>
              <a:ahLst/>
              <a:cxnLst/>
              <a:rect r="r" b="b" t="t" l="l"/>
              <a:pathLst>
                <a:path h="1127180" w="8617847">
                  <a:moveTo>
                    <a:pt x="0" y="0"/>
                  </a:moveTo>
                  <a:lnTo>
                    <a:pt x="8617847" y="0"/>
                  </a:lnTo>
                  <a:lnTo>
                    <a:pt x="8617847" y="1127180"/>
                  </a:lnTo>
                  <a:lnTo>
                    <a:pt x="0" y="11271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09550"/>
              <a:ext cx="8617847" cy="1336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971"/>
                </a:lnSpc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Tipos de datos basicos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78654" y="4740441"/>
            <a:ext cx="453358" cy="550094"/>
            <a:chOff x="0" y="0"/>
            <a:chExt cx="604477" cy="73345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04520" cy="733425"/>
            </a:xfrm>
            <a:custGeom>
              <a:avLst/>
              <a:gdLst/>
              <a:ahLst/>
              <a:cxnLst/>
              <a:rect r="r" b="b" t="t" l="l"/>
              <a:pathLst>
                <a:path h="733425" w="604520">
                  <a:moveTo>
                    <a:pt x="0" y="0"/>
                  </a:moveTo>
                  <a:lnTo>
                    <a:pt x="604520" y="0"/>
                  </a:lnTo>
                  <a:lnTo>
                    <a:pt x="604520" y="733425"/>
                  </a:lnTo>
                  <a:lnTo>
                    <a:pt x="0" y="7334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7" b="-4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866989" y="3303305"/>
            <a:ext cx="4115190" cy="1267162"/>
            <a:chOff x="0" y="0"/>
            <a:chExt cx="5486920" cy="168954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486908" cy="1689608"/>
            </a:xfrm>
            <a:custGeom>
              <a:avLst/>
              <a:gdLst/>
              <a:ahLst/>
              <a:cxnLst/>
              <a:rect r="r" b="b" t="t" l="l"/>
              <a:pathLst>
                <a:path h="1689608" w="5486908">
                  <a:moveTo>
                    <a:pt x="4458208" y="0"/>
                  </a:moveTo>
                  <a:lnTo>
                    <a:pt x="0" y="0"/>
                  </a:lnTo>
                  <a:lnTo>
                    <a:pt x="0" y="1689608"/>
                  </a:lnTo>
                  <a:lnTo>
                    <a:pt x="4458208" y="1689608"/>
                  </a:lnTo>
                  <a:lnTo>
                    <a:pt x="5486908" y="844804"/>
                  </a:lnTo>
                  <a:lnTo>
                    <a:pt x="4458208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866989" y="3013983"/>
            <a:ext cx="3681207" cy="1556484"/>
            <a:chOff x="0" y="0"/>
            <a:chExt cx="4908276" cy="207531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908276" cy="2075312"/>
            </a:xfrm>
            <a:custGeom>
              <a:avLst/>
              <a:gdLst/>
              <a:ahLst/>
              <a:cxnLst/>
              <a:rect r="r" b="b" t="t" l="l"/>
              <a:pathLst>
                <a:path h="2075312" w="4908276">
                  <a:moveTo>
                    <a:pt x="0" y="0"/>
                  </a:moveTo>
                  <a:lnTo>
                    <a:pt x="4908276" y="0"/>
                  </a:lnTo>
                  <a:lnTo>
                    <a:pt x="4908276" y="2075312"/>
                  </a:lnTo>
                  <a:lnTo>
                    <a:pt x="0" y="20753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09550"/>
              <a:ext cx="4908276" cy="22848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971"/>
                </a:lnSpc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51754" y="3429735"/>
            <a:ext cx="753892" cy="872928"/>
            <a:chOff x="0" y="0"/>
            <a:chExt cx="1005189" cy="116390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05205" cy="1163955"/>
            </a:xfrm>
            <a:custGeom>
              <a:avLst/>
              <a:gdLst/>
              <a:ahLst/>
              <a:cxnLst/>
              <a:rect r="r" b="b" t="t" l="l"/>
              <a:pathLst>
                <a:path h="1163955" w="1005205">
                  <a:moveTo>
                    <a:pt x="0" y="0"/>
                  </a:moveTo>
                  <a:lnTo>
                    <a:pt x="1005205" y="0"/>
                  </a:lnTo>
                  <a:lnTo>
                    <a:pt x="1005205" y="1163955"/>
                  </a:lnTo>
                  <a:lnTo>
                    <a:pt x="0" y="11639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6" r="1" b="-31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739805" y="3232617"/>
            <a:ext cx="5353646" cy="1267162"/>
            <a:chOff x="0" y="0"/>
            <a:chExt cx="7138195" cy="168954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138162" cy="1689608"/>
            </a:xfrm>
            <a:custGeom>
              <a:avLst/>
              <a:gdLst/>
              <a:ahLst/>
              <a:cxnLst/>
              <a:rect r="r" b="b" t="t" l="l"/>
              <a:pathLst>
                <a:path h="1689608" w="7138162">
                  <a:moveTo>
                    <a:pt x="6109462" y="0"/>
                  </a:moveTo>
                  <a:lnTo>
                    <a:pt x="0" y="0"/>
                  </a:lnTo>
                  <a:lnTo>
                    <a:pt x="0" y="1689608"/>
                  </a:lnTo>
                  <a:lnTo>
                    <a:pt x="6109462" y="1689608"/>
                  </a:lnTo>
                  <a:lnTo>
                    <a:pt x="7138162" y="844804"/>
                  </a:lnTo>
                  <a:lnTo>
                    <a:pt x="6109462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739805" y="2798634"/>
            <a:ext cx="4919663" cy="1701145"/>
            <a:chOff x="0" y="0"/>
            <a:chExt cx="6559551" cy="226819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559551" cy="2268193"/>
            </a:xfrm>
            <a:custGeom>
              <a:avLst/>
              <a:gdLst/>
              <a:ahLst/>
              <a:cxnLst/>
              <a:rect r="r" b="b" t="t" l="l"/>
              <a:pathLst>
                <a:path h="2268193" w="6559551">
                  <a:moveTo>
                    <a:pt x="0" y="0"/>
                  </a:moveTo>
                  <a:lnTo>
                    <a:pt x="6559551" y="0"/>
                  </a:lnTo>
                  <a:lnTo>
                    <a:pt x="6559551" y="2268193"/>
                  </a:lnTo>
                  <a:lnTo>
                    <a:pt x="0" y="22681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33375"/>
              <a:ext cx="6559551" cy="26015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90"/>
                </a:lnSpc>
              </a:pPr>
              <a:r>
                <a:rPr lang="en-US" sz="449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del Video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739805" y="5032666"/>
            <a:ext cx="5353646" cy="1267162"/>
            <a:chOff x="0" y="0"/>
            <a:chExt cx="7138195" cy="168954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138162" cy="1689608"/>
            </a:xfrm>
            <a:custGeom>
              <a:avLst/>
              <a:gdLst/>
              <a:ahLst/>
              <a:cxnLst/>
              <a:rect r="r" b="b" t="t" l="l"/>
              <a:pathLst>
                <a:path h="1689608" w="7138162">
                  <a:moveTo>
                    <a:pt x="6109462" y="0"/>
                  </a:moveTo>
                  <a:lnTo>
                    <a:pt x="0" y="0"/>
                  </a:lnTo>
                  <a:lnTo>
                    <a:pt x="0" y="1689608"/>
                  </a:lnTo>
                  <a:lnTo>
                    <a:pt x="6109462" y="1689608"/>
                  </a:lnTo>
                  <a:lnTo>
                    <a:pt x="7138162" y="844804"/>
                  </a:lnTo>
                  <a:lnTo>
                    <a:pt x="6109462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739805" y="4598683"/>
            <a:ext cx="4919663" cy="1701145"/>
            <a:chOff x="0" y="0"/>
            <a:chExt cx="6559551" cy="226819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559551" cy="2268193"/>
            </a:xfrm>
            <a:custGeom>
              <a:avLst/>
              <a:gdLst/>
              <a:ahLst/>
              <a:cxnLst/>
              <a:rect r="r" b="b" t="t" l="l"/>
              <a:pathLst>
                <a:path h="2268193" w="6559551">
                  <a:moveTo>
                    <a:pt x="0" y="0"/>
                  </a:moveTo>
                  <a:lnTo>
                    <a:pt x="6559551" y="0"/>
                  </a:lnTo>
                  <a:lnTo>
                    <a:pt x="6559551" y="2268193"/>
                  </a:lnTo>
                  <a:lnTo>
                    <a:pt x="0" y="22681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33375"/>
              <a:ext cx="6559551" cy="26015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90"/>
                </a:lnSpc>
              </a:pPr>
              <a:r>
                <a:rPr lang="en-US" sz="449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 Quizziz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76619" y="5623280"/>
            <a:ext cx="4613551" cy="666407"/>
            <a:chOff x="0" y="0"/>
            <a:chExt cx="6151401" cy="88854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151372" cy="888492"/>
            </a:xfrm>
            <a:custGeom>
              <a:avLst/>
              <a:gdLst/>
              <a:ahLst/>
              <a:cxnLst/>
              <a:rect r="r" b="b" t="t" l="l"/>
              <a:pathLst>
                <a:path h="888492" w="6151372">
                  <a:moveTo>
                    <a:pt x="5514975" y="0"/>
                  </a:moveTo>
                  <a:lnTo>
                    <a:pt x="0" y="0"/>
                  </a:lnTo>
                  <a:lnTo>
                    <a:pt x="0" y="888492"/>
                  </a:lnTo>
                  <a:lnTo>
                    <a:pt x="5514975" y="888492"/>
                  </a:lnTo>
                  <a:lnTo>
                    <a:pt x="6151372" y="444246"/>
                  </a:lnTo>
                  <a:lnTo>
                    <a:pt x="551497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558478" y="5611822"/>
            <a:ext cx="5993602" cy="845385"/>
            <a:chOff x="0" y="0"/>
            <a:chExt cx="7991470" cy="11271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991470" cy="1127180"/>
            </a:xfrm>
            <a:custGeom>
              <a:avLst/>
              <a:gdLst/>
              <a:ahLst/>
              <a:cxnLst/>
              <a:rect r="r" b="b" t="t" l="l"/>
              <a:pathLst>
                <a:path h="1127180" w="7991470">
                  <a:moveTo>
                    <a:pt x="0" y="0"/>
                  </a:moveTo>
                  <a:lnTo>
                    <a:pt x="7991470" y="0"/>
                  </a:lnTo>
                  <a:lnTo>
                    <a:pt x="7991470" y="1127180"/>
                  </a:lnTo>
                  <a:lnTo>
                    <a:pt x="0" y="11271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09550"/>
              <a:ext cx="7991470" cy="1336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971"/>
                </a:lnSpc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Estructuras de control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6619" y="6604853"/>
            <a:ext cx="4613551" cy="666407"/>
            <a:chOff x="0" y="0"/>
            <a:chExt cx="6151401" cy="88854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151372" cy="888492"/>
            </a:xfrm>
            <a:custGeom>
              <a:avLst/>
              <a:gdLst/>
              <a:ahLst/>
              <a:cxnLst/>
              <a:rect r="r" b="b" t="t" l="l"/>
              <a:pathLst>
                <a:path h="888492" w="6151372">
                  <a:moveTo>
                    <a:pt x="5514975" y="0"/>
                  </a:moveTo>
                  <a:lnTo>
                    <a:pt x="0" y="0"/>
                  </a:lnTo>
                  <a:lnTo>
                    <a:pt x="0" y="888492"/>
                  </a:lnTo>
                  <a:lnTo>
                    <a:pt x="5514975" y="888492"/>
                  </a:lnTo>
                  <a:lnTo>
                    <a:pt x="6151372" y="444246"/>
                  </a:lnTo>
                  <a:lnTo>
                    <a:pt x="551497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558478" y="6480830"/>
            <a:ext cx="7391958" cy="845385"/>
            <a:chOff x="0" y="0"/>
            <a:chExt cx="9855944" cy="11271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855944" cy="1127180"/>
            </a:xfrm>
            <a:custGeom>
              <a:avLst/>
              <a:gdLst/>
              <a:ahLst/>
              <a:cxnLst/>
              <a:rect r="r" b="b" t="t" l="l"/>
              <a:pathLst>
                <a:path h="1127180" w="9855944">
                  <a:moveTo>
                    <a:pt x="0" y="0"/>
                  </a:moveTo>
                  <a:lnTo>
                    <a:pt x="9855944" y="0"/>
                  </a:lnTo>
                  <a:lnTo>
                    <a:pt x="9855944" y="1127180"/>
                  </a:lnTo>
                  <a:lnTo>
                    <a:pt x="0" y="11271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09550"/>
              <a:ext cx="9855944" cy="1336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971"/>
                </a:lnSpc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Metodos y funciones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76619" y="7528435"/>
            <a:ext cx="4613551" cy="666407"/>
            <a:chOff x="0" y="0"/>
            <a:chExt cx="6151401" cy="88854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151372" cy="888492"/>
            </a:xfrm>
            <a:custGeom>
              <a:avLst/>
              <a:gdLst/>
              <a:ahLst/>
              <a:cxnLst/>
              <a:rect r="r" b="b" t="t" l="l"/>
              <a:pathLst>
                <a:path h="888492" w="6151372">
                  <a:moveTo>
                    <a:pt x="5514975" y="0"/>
                  </a:moveTo>
                  <a:lnTo>
                    <a:pt x="0" y="0"/>
                  </a:lnTo>
                  <a:lnTo>
                    <a:pt x="0" y="888492"/>
                  </a:lnTo>
                  <a:lnTo>
                    <a:pt x="5514975" y="888492"/>
                  </a:lnTo>
                  <a:lnTo>
                    <a:pt x="6151372" y="444246"/>
                  </a:lnTo>
                  <a:lnTo>
                    <a:pt x="551497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558478" y="7516715"/>
            <a:ext cx="9134060" cy="845385"/>
            <a:chOff x="0" y="0"/>
            <a:chExt cx="12178747" cy="11271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178747" cy="1127180"/>
            </a:xfrm>
            <a:custGeom>
              <a:avLst/>
              <a:gdLst/>
              <a:ahLst/>
              <a:cxnLst/>
              <a:rect r="r" b="b" t="t" l="l"/>
              <a:pathLst>
                <a:path h="1127180" w="12178747">
                  <a:moveTo>
                    <a:pt x="0" y="0"/>
                  </a:moveTo>
                  <a:lnTo>
                    <a:pt x="12178747" y="0"/>
                  </a:lnTo>
                  <a:lnTo>
                    <a:pt x="12178747" y="1127180"/>
                  </a:lnTo>
                  <a:lnTo>
                    <a:pt x="0" y="11271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09550"/>
              <a:ext cx="12178747" cy="1336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971"/>
                </a:lnSpc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Manejo de memoria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78654" y="5623280"/>
            <a:ext cx="453358" cy="550094"/>
            <a:chOff x="0" y="0"/>
            <a:chExt cx="604477" cy="73345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04520" cy="733425"/>
            </a:xfrm>
            <a:custGeom>
              <a:avLst/>
              <a:gdLst/>
              <a:ahLst/>
              <a:cxnLst/>
              <a:rect r="r" b="b" t="t" l="l"/>
              <a:pathLst>
                <a:path h="733425" w="604520">
                  <a:moveTo>
                    <a:pt x="0" y="0"/>
                  </a:moveTo>
                  <a:lnTo>
                    <a:pt x="604520" y="0"/>
                  </a:lnTo>
                  <a:lnTo>
                    <a:pt x="604520" y="733425"/>
                  </a:lnTo>
                  <a:lnTo>
                    <a:pt x="0" y="7334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7" b="-4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878654" y="6604853"/>
            <a:ext cx="453358" cy="550094"/>
            <a:chOff x="0" y="0"/>
            <a:chExt cx="604477" cy="73345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04520" cy="733425"/>
            </a:xfrm>
            <a:custGeom>
              <a:avLst/>
              <a:gdLst/>
              <a:ahLst/>
              <a:cxnLst/>
              <a:rect r="r" b="b" t="t" l="l"/>
              <a:pathLst>
                <a:path h="733425" w="604520">
                  <a:moveTo>
                    <a:pt x="0" y="0"/>
                  </a:moveTo>
                  <a:lnTo>
                    <a:pt x="604520" y="0"/>
                  </a:lnTo>
                  <a:lnTo>
                    <a:pt x="604520" y="733425"/>
                  </a:lnTo>
                  <a:lnTo>
                    <a:pt x="0" y="7334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7" b="-4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878654" y="7604635"/>
            <a:ext cx="453358" cy="550094"/>
            <a:chOff x="0" y="0"/>
            <a:chExt cx="604477" cy="733459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04520" cy="733425"/>
            </a:xfrm>
            <a:custGeom>
              <a:avLst/>
              <a:gdLst/>
              <a:ahLst/>
              <a:cxnLst/>
              <a:rect r="r" b="b" t="t" l="l"/>
              <a:pathLst>
                <a:path h="733425" w="604520">
                  <a:moveTo>
                    <a:pt x="0" y="0"/>
                  </a:moveTo>
                  <a:lnTo>
                    <a:pt x="604520" y="0"/>
                  </a:lnTo>
                  <a:lnTo>
                    <a:pt x="604520" y="733425"/>
                  </a:lnTo>
                  <a:lnTo>
                    <a:pt x="0" y="7334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7" b="-4"/>
              </a:stretch>
            </a:blipFill>
          </p:spPr>
        </p:sp>
      </p:grpSp>
      <p:sp>
        <p:nvSpPr>
          <p:cNvPr name="Freeform 47" id="47"/>
          <p:cNvSpPr/>
          <p:nvPr/>
        </p:nvSpPr>
        <p:spPr>
          <a:xfrm flipH="false" flipV="false" rot="0">
            <a:off x="14831038" y="8154729"/>
            <a:ext cx="4856524" cy="4114800"/>
          </a:xfrm>
          <a:custGeom>
            <a:avLst/>
            <a:gdLst/>
            <a:ahLst/>
            <a:cxnLst/>
            <a:rect r="r" b="b" t="t" l="l"/>
            <a:pathLst>
              <a:path h="4114800" w="4856524">
                <a:moveTo>
                  <a:pt x="0" y="0"/>
                </a:moveTo>
                <a:lnTo>
                  <a:pt x="4856524" y="0"/>
                </a:lnTo>
                <a:lnTo>
                  <a:pt x="48565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-497096" y="8347242"/>
            <a:ext cx="5003996" cy="4185160"/>
          </a:xfrm>
          <a:custGeom>
            <a:avLst/>
            <a:gdLst/>
            <a:ahLst/>
            <a:cxnLst/>
            <a:rect r="r" b="b" t="t" l="l"/>
            <a:pathLst>
              <a:path h="4185160" w="5003996">
                <a:moveTo>
                  <a:pt x="0" y="0"/>
                </a:moveTo>
                <a:lnTo>
                  <a:pt x="5003996" y="0"/>
                </a:lnTo>
                <a:lnTo>
                  <a:pt x="5003996" y="4185160"/>
                </a:lnTo>
                <a:lnTo>
                  <a:pt x="0" y="41851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651749" y="233725"/>
            <a:ext cx="7710301" cy="2566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99"/>
              </a:lnSpc>
            </a:pPr>
            <a:r>
              <a:rPr lang="en-US" sz="15000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0105990" y="143117"/>
            <a:ext cx="8416800" cy="255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99"/>
              </a:lnSpc>
            </a:pPr>
            <a:r>
              <a:rPr lang="en-US" sz="15000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60030" y="3720904"/>
            <a:ext cx="4920538" cy="4114800"/>
          </a:xfrm>
          <a:custGeom>
            <a:avLst/>
            <a:gdLst/>
            <a:ahLst/>
            <a:cxnLst/>
            <a:rect r="r" b="b" t="t" l="l"/>
            <a:pathLst>
              <a:path h="4114800" w="4920538">
                <a:moveTo>
                  <a:pt x="0" y="0"/>
                </a:moveTo>
                <a:lnTo>
                  <a:pt x="4920538" y="0"/>
                </a:lnTo>
                <a:lnTo>
                  <a:pt x="49205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653732" y="2599825"/>
            <a:ext cx="6356958" cy="6356958"/>
          </a:xfrm>
          <a:custGeom>
            <a:avLst/>
            <a:gdLst/>
            <a:ahLst/>
            <a:cxnLst/>
            <a:rect r="r" b="b" t="t" l="l"/>
            <a:pathLst>
              <a:path h="6356958" w="6356958">
                <a:moveTo>
                  <a:pt x="0" y="0"/>
                </a:moveTo>
                <a:lnTo>
                  <a:pt x="6356958" y="0"/>
                </a:lnTo>
                <a:lnTo>
                  <a:pt x="63569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507390" y="762000"/>
            <a:ext cx="13503300" cy="1282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56"/>
              </a:lnSpc>
            </a:pPr>
            <a:r>
              <a:rPr lang="en-US" sz="69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Honestidad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308879" y="5974478"/>
            <a:ext cx="4114219" cy="3903366"/>
          </a:xfrm>
          <a:custGeom>
            <a:avLst/>
            <a:gdLst/>
            <a:ahLst/>
            <a:cxnLst/>
            <a:rect r="r" b="b" t="t" l="l"/>
            <a:pathLst>
              <a:path h="3903366" w="4114219">
                <a:moveTo>
                  <a:pt x="0" y="0"/>
                </a:moveTo>
                <a:lnTo>
                  <a:pt x="4114220" y="0"/>
                </a:lnTo>
                <a:lnTo>
                  <a:pt x="4114220" y="3903365"/>
                </a:lnTo>
                <a:lnTo>
                  <a:pt x="0" y="3903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98731" y="3406518"/>
            <a:ext cx="11490538" cy="3235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34"/>
              </a:lnSpc>
            </a:pPr>
            <a:r>
              <a:rPr lang="en-US" sz="5198">
                <a:solidFill>
                  <a:srgbClr val="131416"/>
                </a:solidFill>
                <a:latin typeface="Open Sans 1"/>
                <a:ea typeface="Open Sans 1"/>
                <a:cs typeface="Open Sans 1"/>
                <a:sym typeface="Open Sans 1"/>
              </a:rPr>
              <a:t>Aplicar pri</a:t>
            </a:r>
            <a:r>
              <a:rPr lang="en-US" sz="5198">
                <a:solidFill>
                  <a:srgbClr val="131416"/>
                </a:solidFill>
                <a:latin typeface="Open Sans 1"/>
                <a:ea typeface="Open Sans 1"/>
                <a:cs typeface="Open Sans 1"/>
                <a:sym typeface="Open Sans 1"/>
              </a:rPr>
              <a:t>ncipios de programación y estructuras de datos utilizando distintos lenguajes. 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1231669" y="-52858"/>
            <a:ext cx="7315200" cy="3697501"/>
          </a:xfrm>
          <a:custGeom>
            <a:avLst/>
            <a:gdLst/>
            <a:ahLst/>
            <a:cxnLst/>
            <a:rect r="r" b="b" t="t" l="l"/>
            <a:pathLst>
              <a:path h="3697501" w="7315200">
                <a:moveTo>
                  <a:pt x="0" y="0"/>
                </a:moveTo>
                <a:lnTo>
                  <a:pt x="7315200" y="0"/>
                </a:lnTo>
                <a:lnTo>
                  <a:pt x="7315200" y="3697501"/>
                </a:lnTo>
                <a:lnTo>
                  <a:pt x="0" y="36975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636922" y="355621"/>
            <a:ext cx="6740149" cy="2184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67"/>
              </a:lnSpc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COMPETENCIA(S) QUE DESARROLLAREMOS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27777" y="3749763"/>
            <a:ext cx="6391793" cy="1934359"/>
          </a:xfrm>
          <a:custGeom>
            <a:avLst/>
            <a:gdLst/>
            <a:ahLst/>
            <a:cxnLst/>
            <a:rect r="r" b="b" t="t" l="l"/>
            <a:pathLst>
              <a:path h="1934359" w="6391793">
                <a:moveTo>
                  <a:pt x="0" y="0"/>
                </a:moveTo>
                <a:lnTo>
                  <a:pt x="6391794" y="0"/>
                </a:lnTo>
                <a:lnTo>
                  <a:pt x="6391794" y="1934359"/>
                </a:lnTo>
                <a:lnTo>
                  <a:pt x="0" y="19343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27777" y="7316518"/>
            <a:ext cx="6132487" cy="1740662"/>
          </a:xfrm>
          <a:custGeom>
            <a:avLst/>
            <a:gdLst/>
            <a:ahLst/>
            <a:cxnLst/>
            <a:rect r="r" b="b" t="t" l="l"/>
            <a:pathLst>
              <a:path h="1740662" w="6132487">
                <a:moveTo>
                  <a:pt x="0" y="0"/>
                </a:moveTo>
                <a:lnTo>
                  <a:pt x="6132487" y="0"/>
                </a:lnTo>
                <a:lnTo>
                  <a:pt x="6132487" y="1740662"/>
                </a:lnTo>
                <a:lnTo>
                  <a:pt x="0" y="17406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74889" y="651389"/>
            <a:ext cx="15334363" cy="1035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39"/>
              </a:lnSpc>
            </a:pPr>
            <a:r>
              <a:rPr lang="en-US" sz="6099" b="true">
                <a:solidFill>
                  <a:srgbClr val="131416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Tipos de datos basicos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74889" y="3258591"/>
            <a:ext cx="93940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131416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Int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74889" y="4321688"/>
            <a:ext cx="5453211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131416"/>
                </a:solidFill>
                <a:latin typeface="Open Sans 2"/>
                <a:ea typeface="Open Sans 2"/>
                <a:cs typeface="Open Sans 2"/>
                <a:sym typeface="Open Sans 2"/>
              </a:rPr>
              <a:t>Valores de numeros entre -2,147,483,648 y 2,147,483,647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73489" y="6133210"/>
            <a:ext cx="165839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131416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Float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85471" y="7429498"/>
            <a:ext cx="5453211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131416"/>
                </a:solidFill>
                <a:latin typeface="Open Sans 2"/>
                <a:ea typeface="Open Sans 2"/>
                <a:cs typeface="Open Sans 2"/>
                <a:sym typeface="Open Sans 2"/>
              </a:rPr>
              <a:t>Valores de numeros fraccionarios. Suficiente para almacenar entre 6 y 7 digitos decimales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64413" y="3412004"/>
            <a:ext cx="8444839" cy="1731496"/>
          </a:xfrm>
          <a:custGeom>
            <a:avLst/>
            <a:gdLst/>
            <a:ahLst/>
            <a:cxnLst/>
            <a:rect r="r" b="b" t="t" l="l"/>
            <a:pathLst>
              <a:path h="1731496" w="8444839">
                <a:moveTo>
                  <a:pt x="0" y="0"/>
                </a:moveTo>
                <a:lnTo>
                  <a:pt x="8444839" y="0"/>
                </a:lnTo>
                <a:lnTo>
                  <a:pt x="8444839" y="1731496"/>
                </a:lnTo>
                <a:lnTo>
                  <a:pt x="0" y="17314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264413" y="6218751"/>
            <a:ext cx="9953848" cy="2602612"/>
          </a:xfrm>
          <a:custGeom>
            <a:avLst/>
            <a:gdLst/>
            <a:ahLst/>
            <a:cxnLst/>
            <a:rect r="r" b="b" t="t" l="l"/>
            <a:pathLst>
              <a:path h="2602612" w="9953848">
                <a:moveTo>
                  <a:pt x="0" y="0"/>
                </a:moveTo>
                <a:lnTo>
                  <a:pt x="9953848" y="0"/>
                </a:lnTo>
                <a:lnTo>
                  <a:pt x="9953848" y="2602612"/>
                </a:lnTo>
                <a:lnTo>
                  <a:pt x="0" y="26026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74889" y="651389"/>
            <a:ext cx="15334363" cy="1035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39"/>
              </a:lnSpc>
            </a:pPr>
            <a:r>
              <a:rPr lang="en-US" sz="6099" b="true">
                <a:solidFill>
                  <a:srgbClr val="131416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Tipos de datos basicos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61174" y="6123501"/>
            <a:ext cx="146298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131416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Bool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1174" y="3827976"/>
            <a:ext cx="5453211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131416"/>
                </a:solidFill>
                <a:latin typeface="Open Sans 2"/>
                <a:ea typeface="Open Sans 2"/>
                <a:cs typeface="Open Sans 2"/>
                <a:sym typeface="Open Sans 2"/>
              </a:rPr>
              <a:t>Almacena una secuencia de caracteres, rodeado entre comillas dobles.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61174" y="2402232"/>
            <a:ext cx="195887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131416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String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61174" y="7763071"/>
            <a:ext cx="545321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131416"/>
                </a:solidFill>
                <a:latin typeface="Open Sans 2"/>
                <a:ea typeface="Open Sans 2"/>
                <a:cs typeface="Open Sans 2"/>
                <a:sym typeface="Open Sans 2"/>
              </a:rPr>
              <a:t>Almacena valores true o false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37526" y="3890202"/>
            <a:ext cx="11301259" cy="5368098"/>
          </a:xfrm>
          <a:custGeom>
            <a:avLst/>
            <a:gdLst/>
            <a:ahLst/>
            <a:cxnLst/>
            <a:rect r="r" b="b" t="t" l="l"/>
            <a:pathLst>
              <a:path h="5368098" w="11301259">
                <a:moveTo>
                  <a:pt x="0" y="0"/>
                </a:moveTo>
                <a:lnTo>
                  <a:pt x="11301259" y="0"/>
                </a:lnTo>
                <a:lnTo>
                  <a:pt x="11301259" y="5368098"/>
                </a:lnTo>
                <a:lnTo>
                  <a:pt x="0" y="53680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798767" y="632449"/>
            <a:ext cx="4690466" cy="2066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 b="true">
                <a:solidFill>
                  <a:srgbClr val="131416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Estructuras de control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4208053"/>
            <a:ext cx="8876842" cy="1935814"/>
          </a:xfrm>
          <a:custGeom>
            <a:avLst/>
            <a:gdLst/>
            <a:ahLst/>
            <a:cxnLst/>
            <a:rect r="r" b="b" t="t" l="l"/>
            <a:pathLst>
              <a:path h="1935814" w="8876842">
                <a:moveTo>
                  <a:pt x="0" y="0"/>
                </a:moveTo>
                <a:lnTo>
                  <a:pt x="8876842" y="0"/>
                </a:lnTo>
                <a:lnTo>
                  <a:pt x="8876842" y="1935815"/>
                </a:lnTo>
                <a:lnTo>
                  <a:pt x="0" y="19358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65852" y="7126213"/>
            <a:ext cx="6490026" cy="1885277"/>
          </a:xfrm>
          <a:custGeom>
            <a:avLst/>
            <a:gdLst/>
            <a:ahLst/>
            <a:cxnLst/>
            <a:rect r="r" b="b" t="t" l="l"/>
            <a:pathLst>
              <a:path h="1885277" w="6490026">
                <a:moveTo>
                  <a:pt x="0" y="0"/>
                </a:moveTo>
                <a:lnTo>
                  <a:pt x="6490026" y="0"/>
                </a:lnTo>
                <a:lnTo>
                  <a:pt x="6490026" y="1885277"/>
                </a:lnTo>
                <a:lnTo>
                  <a:pt x="0" y="18852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641334" y="598827"/>
            <a:ext cx="399127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131416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Sentencia IF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740192"/>
            <a:ext cx="9838025" cy="1295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6"/>
              </a:lnSpc>
              <a:spcBef>
                <a:spcPct val="0"/>
              </a:spcBef>
            </a:pPr>
            <a:r>
              <a:rPr lang="en-US" sz="2998">
                <a:solidFill>
                  <a:srgbClr val="131416"/>
                </a:solidFill>
                <a:latin typeface="Open Sans 1"/>
                <a:ea typeface="Open Sans 1"/>
                <a:cs typeface="Open Sans 1"/>
                <a:sym typeface="Open Sans 1"/>
              </a:rPr>
              <a:t>Usar la sentencia IF para un bloque especifico de codigo para ser ejecutado si la condicion es verdadera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130458"/>
            <a:ext cx="350430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131416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Sintaxis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048618"/>
            <a:ext cx="350430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131416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Ejemplo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4142" y="4521267"/>
            <a:ext cx="3915719" cy="5183666"/>
          </a:xfrm>
          <a:custGeom>
            <a:avLst/>
            <a:gdLst/>
            <a:ahLst/>
            <a:cxnLst/>
            <a:rect r="r" b="b" t="t" l="l"/>
            <a:pathLst>
              <a:path h="5183666" w="3915719">
                <a:moveTo>
                  <a:pt x="0" y="0"/>
                </a:moveTo>
                <a:lnTo>
                  <a:pt x="3915719" y="0"/>
                </a:lnTo>
                <a:lnTo>
                  <a:pt x="3915719" y="5183666"/>
                </a:lnTo>
                <a:lnTo>
                  <a:pt x="0" y="51836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283796" y="1424623"/>
            <a:ext cx="4495367" cy="8492830"/>
          </a:xfrm>
          <a:custGeom>
            <a:avLst/>
            <a:gdLst/>
            <a:ahLst/>
            <a:cxnLst/>
            <a:rect r="r" b="b" t="t" l="l"/>
            <a:pathLst>
              <a:path h="8492830" w="4495367">
                <a:moveTo>
                  <a:pt x="0" y="0"/>
                </a:moveTo>
                <a:lnTo>
                  <a:pt x="4495367" y="0"/>
                </a:lnTo>
                <a:lnTo>
                  <a:pt x="4495367" y="8492829"/>
                </a:lnTo>
                <a:lnTo>
                  <a:pt x="0" y="84928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098489" y="537527"/>
            <a:ext cx="560099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131416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Sentencia Switch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44142" y="2096345"/>
            <a:ext cx="7803397" cy="1204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71"/>
              </a:lnSpc>
              <a:spcBef>
                <a:spcPct val="0"/>
              </a:spcBef>
            </a:pPr>
            <a:r>
              <a:rPr lang="en-US" sz="2799">
                <a:solidFill>
                  <a:srgbClr val="131416"/>
                </a:solidFill>
                <a:latin typeface="Open Sans 1"/>
                <a:ea typeface="Open Sans 1"/>
                <a:cs typeface="Open Sans 1"/>
                <a:sym typeface="Open Sans 1"/>
              </a:rPr>
              <a:t>Usar la sentencia switch para elegir un de muchos bloques de codigo para ser ejecuado.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44142" y="3634172"/>
            <a:ext cx="350430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131416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Sintaxis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9666" y="5656048"/>
            <a:ext cx="6200926" cy="2422584"/>
          </a:xfrm>
          <a:custGeom>
            <a:avLst/>
            <a:gdLst/>
            <a:ahLst/>
            <a:cxnLst/>
            <a:rect r="r" b="b" t="t" l="l"/>
            <a:pathLst>
              <a:path h="2422584" w="6200926">
                <a:moveTo>
                  <a:pt x="0" y="0"/>
                </a:moveTo>
                <a:lnTo>
                  <a:pt x="6200926" y="0"/>
                </a:lnTo>
                <a:lnTo>
                  <a:pt x="6200926" y="2422584"/>
                </a:lnTo>
                <a:lnTo>
                  <a:pt x="0" y="24225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21211" y="5511756"/>
            <a:ext cx="5486603" cy="3383405"/>
          </a:xfrm>
          <a:custGeom>
            <a:avLst/>
            <a:gdLst/>
            <a:ahLst/>
            <a:cxnLst/>
            <a:rect r="r" b="b" t="t" l="l"/>
            <a:pathLst>
              <a:path h="3383405" w="5486603">
                <a:moveTo>
                  <a:pt x="0" y="0"/>
                </a:moveTo>
                <a:lnTo>
                  <a:pt x="5486603" y="0"/>
                </a:lnTo>
                <a:lnTo>
                  <a:pt x="5486603" y="3383405"/>
                </a:lnTo>
                <a:lnTo>
                  <a:pt x="0" y="33834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76818" y="260740"/>
            <a:ext cx="15334363" cy="1035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39"/>
              </a:lnSpc>
            </a:pPr>
            <a:r>
              <a:rPr lang="en-US" sz="6099" b="true">
                <a:solidFill>
                  <a:srgbClr val="131416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Loop While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39666" y="1676710"/>
            <a:ext cx="10204139" cy="1833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71"/>
              </a:lnSpc>
              <a:spcBef>
                <a:spcPct val="0"/>
              </a:spcBef>
            </a:pPr>
            <a:r>
              <a:rPr lang="en-US" sz="2799">
                <a:solidFill>
                  <a:srgbClr val="131416"/>
                </a:solidFill>
                <a:latin typeface="Open Sans 1"/>
                <a:ea typeface="Open Sans 1"/>
                <a:cs typeface="Open Sans 1"/>
                <a:sym typeface="Open Sans 1"/>
              </a:rPr>
              <a:t>Pueden ejecutar un bloque de codigo siempre que se alcance una condicion especifica. Los bucles son utiles porque ahorran tiempo y hacen que el codigo sea mas legible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39666" y="4091261"/>
            <a:ext cx="350430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131416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Sintaxis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89117" y="4091261"/>
            <a:ext cx="350430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131416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Ejemplo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63362" y="6024872"/>
            <a:ext cx="8080638" cy="2159112"/>
          </a:xfrm>
          <a:custGeom>
            <a:avLst/>
            <a:gdLst/>
            <a:ahLst/>
            <a:cxnLst/>
            <a:rect r="r" b="b" t="t" l="l"/>
            <a:pathLst>
              <a:path h="2159112" w="8080638">
                <a:moveTo>
                  <a:pt x="0" y="0"/>
                </a:moveTo>
                <a:lnTo>
                  <a:pt x="8080638" y="0"/>
                </a:lnTo>
                <a:lnTo>
                  <a:pt x="8080638" y="2159112"/>
                </a:lnTo>
                <a:lnTo>
                  <a:pt x="0" y="21591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923121" y="7404750"/>
            <a:ext cx="6138188" cy="2559649"/>
          </a:xfrm>
          <a:custGeom>
            <a:avLst/>
            <a:gdLst/>
            <a:ahLst/>
            <a:cxnLst/>
            <a:rect r="r" b="b" t="t" l="l"/>
            <a:pathLst>
              <a:path h="2559649" w="6138188">
                <a:moveTo>
                  <a:pt x="0" y="0"/>
                </a:moveTo>
                <a:lnTo>
                  <a:pt x="6138187" y="0"/>
                </a:lnTo>
                <a:lnTo>
                  <a:pt x="6138187" y="2559650"/>
                </a:lnTo>
                <a:lnTo>
                  <a:pt x="0" y="25596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76818" y="260740"/>
            <a:ext cx="15334363" cy="1035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39"/>
              </a:lnSpc>
            </a:pPr>
            <a:r>
              <a:rPr lang="en-US" sz="6099" b="true">
                <a:solidFill>
                  <a:srgbClr val="131416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Loop For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39666" y="1676710"/>
            <a:ext cx="7238517" cy="2462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71"/>
              </a:lnSpc>
              <a:spcBef>
                <a:spcPct val="0"/>
              </a:spcBef>
            </a:pPr>
            <a:r>
              <a:rPr lang="en-US" sz="2799">
                <a:solidFill>
                  <a:srgbClr val="131416"/>
                </a:solidFill>
                <a:latin typeface="Open Sans 1"/>
                <a:ea typeface="Open Sans 1"/>
                <a:cs typeface="Open Sans 1"/>
                <a:sym typeface="Open Sans 1"/>
              </a:rPr>
              <a:t>cuando sabes exactamente cuantas veces quieres que un bloque de codigo sea ejecutado puedes usar el bucle for en vez del bucle while.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39666" y="4487184"/>
            <a:ext cx="350430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131416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Sintaxis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3121" y="6272470"/>
            <a:ext cx="350430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131416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Ejemplo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020783" y="1676710"/>
            <a:ext cx="7238517" cy="4348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71"/>
              </a:lnSpc>
            </a:pPr>
            <a:r>
              <a:rPr lang="en-US" sz="2799" b="true">
                <a:solidFill>
                  <a:srgbClr val="131416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Statement 1: </a:t>
            </a:r>
            <a:r>
              <a:rPr lang="en-US" sz="2799">
                <a:solidFill>
                  <a:srgbClr val="131416"/>
                </a:solidFill>
                <a:latin typeface="Open Sans 1"/>
                <a:ea typeface="Open Sans 1"/>
                <a:cs typeface="Open Sans 1"/>
                <a:sym typeface="Open Sans 1"/>
              </a:rPr>
              <a:t>Es ejecutado una sola vez antes de ejecutar el bloque de codigo.</a:t>
            </a:r>
          </a:p>
          <a:p>
            <a:pPr algn="l">
              <a:lnSpc>
                <a:spcPts val="4971"/>
              </a:lnSpc>
            </a:pPr>
            <a:r>
              <a:rPr lang="en-US" sz="2799" b="true">
                <a:solidFill>
                  <a:srgbClr val="131416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Statement 2 </a:t>
            </a:r>
            <a:r>
              <a:rPr lang="en-US" sz="2799">
                <a:solidFill>
                  <a:srgbClr val="131416"/>
                </a:solidFill>
                <a:latin typeface="Open Sans 1"/>
                <a:ea typeface="Open Sans 1"/>
                <a:cs typeface="Open Sans 1"/>
                <a:sym typeface="Open Sans 1"/>
              </a:rPr>
              <a:t>Define la condicion para ejecutar el codigo de lboque</a:t>
            </a:r>
          </a:p>
          <a:p>
            <a:pPr algn="l">
              <a:lnSpc>
                <a:spcPts val="4971"/>
              </a:lnSpc>
              <a:spcBef>
                <a:spcPct val="0"/>
              </a:spcBef>
            </a:pPr>
            <a:r>
              <a:rPr lang="en-US" b="true" sz="2799">
                <a:solidFill>
                  <a:srgbClr val="131416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Statement 3: </a:t>
            </a:r>
            <a:r>
              <a:rPr lang="en-US" sz="2799">
                <a:solidFill>
                  <a:srgbClr val="131416"/>
                </a:solidFill>
                <a:latin typeface="Open Sans 1"/>
                <a:ea typeface="Open Sans 1"/>
                <a:cs typeface="Open Sans 1"/>
                <a:sym typeface="Open Sans 1"/>
              </a:rPr>
              <a:t>Es ejecutado cada vez despues de que el bloque de codigo haya sido ejecutado.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622185" y="5329389"/>
            <a:ext cx="5276332" cy="3607927"/>
          </a:xfrm>
          <a:custGeom>
            <a:avLst/>
            <a:gdLst/>
            <a:ahLst/>
            <a:cxnLst/>
            <a:rect r="r" b="b" t="t" l="l"/>
            <a:pathLst>
              <a:path h="3607927" w="5276332">
                <a:moveTo>
                  <a:pt x="0" y="0"/>
                </a:moveTo>
                <a:lnTo>
                  <a:pt x="5276332" y="0"/>
                </a:lnTo>
                <a:lnTo>
                  <a:pt x="5276332" y="3607926"/>
                </a:lnTo>
                <a:lnTo>
                  <a:pt x="0" y="36079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05009" y="256767"/>
            <a:ext cx="16408647" cy="1035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39"/>
              </a:lnSpc>
            </a:pPr>
            <a:r>
              <a:rPr lang="en-US" sz="6099" b="true">
                <a:solidFill>
                  <a:srgbClr val="131416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Metodos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784715"/>
            <a:ext cx="14434898" cy="264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131416"/>
                </a:solidFill>
                <a:latin typeface="Open Sans 2"/>
                <a:ea typeface="Open Sans 2"/>
                <a:cs typeface="Open Sans 2"/>
                <a:sym typeface="Open Sans 2"/>
              </a:rPr>
              <a:t>Un metodo es un bloque de codigo que solo sera ejecutado cuando es llamado.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131416"/>
                </a:solidFill>
                <a:latin typeface="Open Sans 2"/>
                <a:ea typeface="Open Sans 2"/>
                <a:cs typeface="Open Sans 2"/>
                <a:sym typeface="Open Sans 2"/>
              </a:rPr>
              <a:t>Puedes pasarle datos, conocidos como parametros, dentro de un metodo.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131416"/>
                </a:solidFill>
                <a:latin typeface="Open Sans 2"/>
                <a:ea typeface="Open Sans 2"/>
                <a:cs typeface="Open Sans 2"/>
                <a:sym typeface="Open Sans 2"/>
              </a:rPr>
              <a:t>Los métodos se utilizan para realizar determinadas acciones y tambien se conocen como funciones.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574743" y="4652327"/>
            <a:ext cx="698220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131416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Crear un metodo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6034723"/>
            <a:ext cx="9823947" cy="264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131416"/>
                </a:solidFill>
                <a:latin typeface="Open Sans 2"/>
                <a:ea typeface="Open Sans 2"/>
                <a:cs typeface="Open Sans 2"/>
                <a:sym typeface="Open Sans 2"/>
              </a:rPr>
              <a:t>Un método se define con su nombre, seguido de paréntesis (). C# proporciona algunos métodos predefinidos con los que ya está familiarizado, como Main(), pero también puede crear sus propios métodos para realizar ciertas acciones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97876" y="4863139"/>
            <a:ext cx="5068611" cy="5053615"/>
          </a:xfrm>
          <a:custGeom>
            <a:avLst/>
            <a:gdLst/>
            <a:ahLst/>
            <a:cxnLst/>
            <a:rect r="r" b="b" t="t" l="l"/>
            <a:pathLst>
              <a:path h="5053615" w="5068611">
                <a:moveTo>
                  <a:pt x="0" y="0"/>
                </a:moveTo>
                <a:lnTo>
                  <a:pt x="5068612" y="0"/>
                </a:lnTo>
                <a:lnTo>
                  <a:pt x="5068612" y="5053615"/>
                </a:lnTo>
                <a:lnTo>
                  <a:pt x="0" y="50536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53706" y="7859354"/>
            <a:ext cx="5011187" cy="4114800"/>
          </a:xfrm>
          <a:custGeom>
            <a:avLst/>
            <a:gdLst/>
            <a:ahLst/>
            <a:cxnLst/>
            <a:rect r="r" b="b" t="t" l="l"/>
            <a:pathLst>
              <a:path h="4114800" w="5011187">
                <a:moveTo>
                  <a:pt x="0" y="0"/>
                </a:moveTo>
                <a:lnTo>
                  <a:pt x="5011188" y="0"/>
                </a:lnTo>
                <a:lnTo>
                  <a:pt x="501118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080092" y="-1225641"/>
            <a:ext cx="4160184" cy="4114800"/>
          </a:xfrm>
          <a:custGeom>
            <a:avLst/>
            <a:gdLst/>
            <a:ahLst/>
            <a:cxnLst/>
            <a:rect r="r" b="b" t="t" l="l"/>
            <a:pathLst>
              <a:path h="4114800" w="4160184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05009" y="256767"/>
            <a:ext cx="16408647" cy="1035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39"/>
              </a:lnSpc>
            </a:pPr>
            <a:r>
              <a:rPr lang="en-US" sz="6099" b="true">
                <a:solidFill>
                  <a:srgbClr val="131416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Manejo de memoria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867641" y="1541128"/>
            <a:ext cx="171226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131416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Heap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028170" y="1541128"/>
            <a:ext cx="179829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131416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Stack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374880" y="2704448"/>
            <a:ext cx="7884420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131416"/>
                </a:solidFill>
                <a:latin typeface="Open Sans 2"/>
                <a:ea typeface="Open Sans 2"/>
                <a:cs typeface="Open Sans 2"/>
                <a:sym typeface="Open Sans 2"/>
              </a:rPr>
              <a:t>El stack es utilizado para almacenar variables locales y la informacion de llamadas a funciones.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7626" y="2704448"/>
            <a:ext cx="7884420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131416"/>
                </a:solidFill>
                <a:latin typeface="Open Sans 2"/>
                <a:ea typeface="Open Sans 2"/>
                <a:cs typeface="Open Sans 2"/>
                <a:sym typeface="Open Sans 2"/>
              </a:rPr>
              <a:t>El heap se utiliza para asignar memoria de forma dinámica durante la ejecución del programa.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086600" y="5701949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57186" y="916848"/>
            <a:ext cx="4973628" cy="1136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267"/>
              </a:lnSpc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Ejemplo practico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232685" y="3073720"/>
            <a:ext cx="7822629" cy="182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>
                <a:solidFill>
                  <a:srgbClr val="131416"/>
                </a:solidFill>
                <a:latin typeface="Open Sans 2"/>
                <a:ea typeface="Open Sans 2"/>
                <a:cs typeface="Open Sans 2"/>
                <a:sym typeface="Open Sans 2"/>
              </a:rPr>
              <a:t>Un juego de piedra, papel o tijera para poner en practica las estructuras de control y metodos.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623329">
            <a:off x="13129728" y="7661956"/>
            <a:ext cx="7315200" cy="3697501"/>
          </a:xfrm>
          <a:custGeom>
            <a:avLst/>
            <a:gdLst/>
            <a:ahLst/>
            <a:cxnLst/>
            <a:rect r="r" b="b" t="t" l="l"/>
            <a:pathLst>
              <a:path h="3697501" w="7315200">
                <a:moveTo>
                  <a:pt x="0" y="0"/>
                </a:moveTo>
                <a:lnTo>
                  <a:pt x="7315200" y="0"/>
                </a:lnTo>
                <a:lnTo>
                  <a:pt x="7315200" y="3697501"/>
                </a:lnTo>
                <a:lnTo>
                  <a:pt x="0" y="36975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59847" y="-791782"/>
            <a:ext cx="5011187" cy="4114800"/>
          </a:xfrm>
          <a:custGeom>
            <a:avLst/>
            <a:gdLst/>
            <a:ahLst/>
            <a:cxnLst/>
            <a:rect r="r" b="b" t="t" l="l"/>
            <a:pathLst>
              <a:path h="4114800" w="5011187">
                <a:moveTo>
                  <a:pt x="0" y="0"/>
                </a:moveTo>
                <a:lnTo>
                  <a:pt x="5011187" y="0"/>
                </a:lnTo>
                <a:lnTo>
                  <a:pt x="501118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507390" y="762000"/>
            <a:ext cx="13503300" cy="13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56"/>
              </a:lnSpc>
            </a:pPr>
            <a:r>
              <a:rPr lang="en-US" sz="69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CONCEPTOS CLAVE APRENDIDOS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212437" y="3632233"/>
            <a:ext cx="5812805" cy="2901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852" indent="-367426" lvl="1">
              <a:lnSpc>
                <a:spcPts val="5718"/>
              </a:lnSpc>
              <a:buFont typeface="Arial"/>
              <a:buChar char="•"/>
            </a:pPr>
            <a:r>
              <a:rPr lang="en-US" sz="3403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Datos basicos</a:t>
            </a:r>
          </a:p>
          <a:p>
            <a:pPr algn="just" marL="734852" indent="-367426" lvl="1">
              <a:lnSpc>
                <a:spcPts val="5718"/>
              </a:lnSpc>
              <a:buFont typeface="Arial"/>
              <a:buChar char="•"/>
            </a:pPr>
            <a:r>
              <a:rPr lang="en-US" sz="3403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Estructuras de control</a:t>
            </a:r>
          </a:p>
          <a:p>
            <a:pPr algn="just" marL="734852" indent="-367426" lvl="1">
              <a:lnSpc>
                <a:spcPts val="5718"/>
              </a:lnSpc>
              <a:buFont typeface="Arial"/>
              <a:buChar char="•"/>
            </a:pPr>
            <a:r>
              <a:rPr lang="en-US" sz="3403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Metodos</a:t>
            </a:r>
          </a:p>
          <a:p>
            <a:pPr algn="just" marL="734852" indent="-367426" lvl="1">
              <a:lnSpc>
                <a:spcPts val="5718"/>
              </a:lnSpc>
              <a:buFont typeface="Arial"/>
              <a:buChar char="•"/>
            </a:pPr>
            <a:r>
              <a:rPr lang="en-US" sz="3403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Heap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07390" y="762000"/>
            <a:ext cx="13503300" cy="13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56"/>
              </a:lnSpc>
            </a:pPr>
            <a:r>
              <a:rPr lang="en-US" sz="69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REFERENCIAS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034659" y="4547119"/>
            <a:ext cx="4218682" cy="596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8"/>
              </a:lnSpc>
              <a:spcBef>
                <a:spcPct val="0"/>
              </a:spcBef>
            </a:pPr>
            <a:r>
              <a:rPr lang="en-US" b="true" sz="3520" u="sng">
                <a:solidFill>
                  <a:srgbClr val="131416"/>
                </a:solidFill>
                <a:latin typeface="Open Sans 2 Bold"/>
                <a:ea typeface="Open Sans 2 Bold"/>
                <a:cs typeface="Open Sans 2 Bold"/>
                <a:sym typeface="Open Sans 2 Bold"/>
                <a:hlinkClick r:id="rId3" tooltip="https://www.w3schools.com/cs/cs_intro.php"/>
              </a:rPr>
              <a:t>Documentacion C#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37795" y="3236704"/>
            <a:ext cx="8658900" cy="2067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611"/>
              </a:lnSpc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</a:p>
          <a:p>
            <a:pPr algn="just">
              <a:lnSpc>
                <a:spcPts val="1747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5414714" y="5586628"/>
            <a:ext cx="6704991" cy="127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79"/>
              </a:lnSpc>
            </a:pPr>
            <a:r>
              <a:rPr lang="en-US" sz="4999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3963751" y="1028700"/>
            <a:ext cx="2757268" cy="3770970"/>
            <a:chOff x="0" y="0"/>
            <a:chExt cx="3676357" cy="50279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76396" cy="5027930"/>
            </a:xfrm>
            <a:custGeom>
              <a:avLst/>
              <a:gdLst/>
              <a:ahLst/>
              <a:cxnLst/>
              <a:rect r="r" b="b" t="t" l="l"/>
              <a:pathLst>
                <a:path h="5027930" w="3676396">
                  <a:moveTo>
                    <a:pt x="0" y="0"/>
                  </a:moveTo>
                  <a:lnTo>
                    <a:pt x="3676396" y="0"/>
                  </a:lnTo>
                  <a:lnTo>
                    <a:pt x="3676396" y="5027930"/>
                  </a:lnTo>
                  <a:lnTo>
                    <a:pt x="0" y="50279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" t="0" r="-6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2411098" y="7747335"/>
            <a:ext cx="13465804" cy="871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2"/>
              </a:lnSpc>
            </a:pPr>
            <a:r>
              <a:rPr lang="en-US" sz="200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DAGoB6YFfyM</dc:identifier>
  <dcterms:modified xsi:type="dcterms:W3CDTF">2011-08-01T06:04:30Z</dcterms:modified>
  <cp:revision>1</cp:revision>
  <dc:title>EDD - Semana 2 - Cococys</dc:title>
</cp:coreProperties>
</file>