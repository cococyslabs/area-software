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Open Sans Bold" charset="1" panose="020B0806030504020204"/>
      <p:regular r:id="rId30"/>
    </p:embeddedFont>
    <p:embeddedFont>
      <p:font typeface="Open Sans" charset="1" panose="020B0606030504020204"/>
      <p:regular r:id="rId31"/>
    </p:embeddedFont>
    <p:embeddedFont>
      <p:font typeface="Be Vietnam" charset="1" panose="00000500000000000000"/>
      <p:regular r:id="rId32"/>
    </p:embeddedFont>
    <p:embeddedFont>
      <p:font typeface="Be Vietnam Ultra-Bold" charset="1" panose="000009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https://youtu.be/yjm7jdeiDno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9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9.png" Type="http://schemas.openxmlformats.org/officeDocument/2006/relationships/image"/><Relationship Id="rId5" Target="../media/image21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9.png" Type="http://schemas.openxmlformats.org/officeDocument/2006/relationships/image"/><Relationship Id="rId5" Target="../media/image21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35.png" Type="http://schemas.openxmlformats.org/officeDocument/2006/relationships/image"/><Relationship Id="rId5" Target="../media/image21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35.png" Type="http://schemas.openxmlformats.org/officeDocument/2006/relationships/image"/><Relationship Id="rId5" Target="../media/image21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9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jpeg" Type="http://schemas.openxmlformats.org/officeDocument/2006/relationships/image"/><Relationship Id="rId7" Target="../media/VAGoZ8AxEmM.mp4" Type="http://schemas.openxmlformats.org/officeDocument/2006/relationships/video"/><Relationship Id="rId8" Target="../media/VAGoZ8AxEmM.mp4" Type="http://schemas.microsoft.com/office/2007/relationships/media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https://www.youtube.com/watch?v=tBaOQeyXYqg&amp;t=256s" TargetMode="External" Type="http://schemas.openxmlformats.org/officeDocument/2006/relationships/hyperlink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8.jpeg" Type="http://schemas.openxmlformats.org/officeDocument/2006/relationships/image"/><Relationship Id="rId4" Target="../media/VAGoJdRJjVI.mp4" Type="http://schemas.openxmlformats.org/officeDocument/2006/relationships/video"/><Relationship Id="rId5" Target="../media/VAGoJdRJjVI.mp4" Type="http://schemas.microsoft.com/office/2007/relationships/media"/><Relationship Id="rId6" Target="../media/image4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https://tenor.com/view/gracias-por-su-atenci%C3%B3n-gif-26313656" TargetMode="External" Type="http://schemas.openxmlformats.org/officeDocument/2006/relationships/hyperlink"/><Relationship Id="rId4" Target="../media/image50.jpeg" Type="http://schemas.openxmlformats.org/officeDocument/2006/relationships/image"/><Relationship Id="rId5" Target="../media/VAGoJclItjE.mp4" Type="http://schemas.openxmlformats.org/officeDocument/2006/relationships/video"/><Relationship Id="rId6" Target="../media/VAGoJclItjE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050" y="0"/>
            <a:ext cx="18288000" cy="10260918"/>
          </a:xfrm>
          <a:custGeom>
            <a:avLst/>
            <a:gdLst/>
            <a:ahLst/>
            <a:cxnLst/>
            <a:rect r="r" b="b" t="t" l="l"/>
            <a:pathLst>
              <a:path h="10260918" w="18288000">
                <a:moveTo>
                  <a:pt x="0" y="0"/>
                </a:moveTo>
                <a:lnTo>
                  <a:pt x="18288000" y="0"/>
                </a:lnTo>
                <a:lnTo>
                  <a:pt x="18288000" y="10260918"/>
                </a:lnTo>
                <a:lnTo>
                  <a:pt x="0" y="10260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5320707"/>
            <a:ext cx="18288000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Laboratorio Estructura de Datos 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8407849"/>
            <a:ext cx="811530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Aux. Steven Mejía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69539" y="2363391"/>
            <a:ext cx="3694485" cy="43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00/00/0000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69539" y="3097188"/>
            <a:ext cx="3694485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17:20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2978" y="8333207"/>
            <a:ext cx="6376947" cy="1641745"/>
            <a:chOff x="0" y="0"/>
            <a:chExt cx="15090559" cy="38850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5027060" cy="3821565"/>
            </a:xfrm>
            <a:custGeom>
              <a:avLst/>
              <a:gdLst/>
              <a:ahLst/>
              <a:cxnLst/>
              <a:rect r="r" b="b" t="t" l="l"/>
              <a:pathLst>
                <a:path h="3821565" w="15027060">
                  <a:moveTo>
                    <a:pt x="14934349" y="3821565"/>
                  </a:moveTo>
                  <a:lnTo>
                    <a:pt x="92710" y="3821565"/>
                  </a:lnTo>
                  <a:cubicBezTo>
                    <a:pt x="41910" y="3821565"/>
                    <a:pt x="0" y="3779655"/>
                    <a:pt x="0" y="372885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4933079" y="0"/>
                  </a:lnTo>
                  <a:cubicBezTo>
                    <a:pt x="14983879" y="0"/>
                    <a:pt x="15025788" y="41910"/>
                    <a:pt x="15025788" y="92710"/>
                  </a:cubicBezTo>
                  <a:lnTo>
                    <a:pt x="15025788" y="3727585"/>
                  </a:lnTo>
                  <a:cubicBezTo>
                    <a:pt x="15027060" y="3779655"/>
                    <a:pt x="14985149" y="3821565"/>
                    <a:pt x="14934349" y="3821565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90560" cy="3885065"/>
            </a:xfrm>
            <a:custGeom>
              <a:avLst/>
              <a:gdLst/>
              <a:ahLst/>
              <a:cxnLst/>
              <a:rect r="r" b="b" t="t" l="l"/>
              <a:pathLst>
                <a:path h="3885065" w="15090560">
                  <a:moveTo>
                    <a:pt x="14966099" y="59690"/>
                  </a:moveTo>
                  <a:cubicBezTo>
                    <a:pt x="15001660" y="59690"/>
                    <a:pt x="15030869" y="88900"/>
                    <a:pt x="15030869" y="124460"/>
                  </a:cubicBezTo>
                  <a:lnTo>
                    <a:pt x="15030869" y="3760605"/>
                  </a:lnTo>
                  <a:cubicBezTo>
                    <a:pt x="15030869" y="3796165"/>
                    <a:pt x="15001660" y="3825375"/>
                    <a:pt x="14966099" y="3825375"/>
                  </a:cubicBezTo>
                  <a:lnTo>
                    <a:pt x="124460" y="3825375"/>
                  </a:lnTo>
                  <a:cubicBezTo>
                    <a:pt x="88900" y="3825375"/>
                    <a:pt x="59690" y="3796165"/>
                    <a:pt x="59690" y="37606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4966099" y="59690"/>
                  </a:lnTo>
                  <a:moveTo>
                    <a:pt x="149660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760605"/>
                  </a:lnTo>
                  <a:cubicBezTo>
                    <a:pt x="0" y="3829185"/>
                    <a:pt x="55880" y="3885065"/>
                    <a:pt x="124460" y="3885065"/>
                  </a:cubicBezTo>
                  <a:lnTo>
                    <a:pt x="14966099" y="3885065"/>
                  </a:lnTo>
                  <a:cubicBezTo>
                    <a:pt x="15034679" y="3885065"/>
                    <a:pt x="15090560" y="3829185"/>
                    <a:pt x="15090560" y="3760605"/>
                  </a:cubicBezTo>
                  <a:lnTo>
                    <a:pt x="15090560" y="124460"/>
                  </a:lnTo>
                  <a:cubicBezTo>
                    <a:pt x="15090560" y="55880"/>
                    <a:pt x="15034679" y="0"/>
                    <a:pt x="149660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4166" y="8345950"/>
            <a:ext cx="6048773" cy="146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Escuela de Ingenieria de Ciencias Y Sistemas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Facultad de Ingenieria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Universidad de San Carlos de Guatemala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396871" y="0"/>
            <a:ext cx="4891129" cy="1438783"/>
            <a:chOff x="0" y="0"/>
            <a:chExt cx="6521506" cy="191837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521506" cy="1918377"/>
              <a:chOff x="0" y="0"/>
              <a:chExt cx="7667530" cy="225549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31750" y="31750"/>
                <a:ext cx="7604030" cy="2191993"/>
              </a:xfrm>
              <a:custGeom>
                <a:avLst/>
                <a:gdLst/>
                <a:ahLst/>
                <a:cxnLst/>
                <a:rect r="r" b="b" t="t" l="l"/>
                <a:pathLst>
                  <a:path h="2191993" w="7604030">
                    <a:moveTo>
                      <a:pt x="7511320" y="2191993"/>
                    </a:moveTo>
                    <a:lnTo>
                      <a:pt x="92710" y="2191993"/>
                    </a:lnTo>
                    <a:cubicBezTo>
                      <a:pt x="41910" y="2191993"/>
                      <a:pt x="0" y="2150083"/>
                      <a:pt x="0" y="209928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7510050" y="0"/>
                    </a:lnTo>
                    <a:cubicBezTo>
                      <a:pt x="7560850" y="0"/>
                      <a:pt x="7602760" y="41910"/>
                      <a:pt x="7602760" y="92710"/>
                    </a:cubicBezTo>
                    <a:lnTo>
                      <a:pt x="7602760" y="2098013"/>
                    </a:lnTo>
                    <a:cubicBezTo>
                      <a:pt x="7604030" y="2150083"/>
                      <a:pt x="7562120" y="2191993"/>
                      <a:pt x="7511320" y="2191993"/>
                    </a:cubicBezTo>
                    <a:close/>
                  </a:path>
                </a:pathLst>
              </a:custGeom>
              <a:solidFill>
                <a:srgbClr val="DFDFDF"/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667530" cy="2255494"/>
              </a:xfrm>
              <a:custGeom>
                <a:avLst/>
                <a:gdLst/>
                <a:ahLst/>
                <a:cxnLst/>
                <a:rect r="r" b="b" t="t" l="l"/>
                <a:pathLst>
                  <a:path h="2255494" w="7667530">
                    <a:moveTo>
                      <a:pt x="7543070" y="59690"/>
                    </a:moveTo>
                    <a:cubicBezTo>
                      <a:pt x="7578630" y="59690"/>
                      <a:pt x="7607840" y="88900"/>
                      <a:pt x="7607840" y="124460"/>
                    </a:cubicBezTo>
                    <a:lnTo>
                      <a:pt x="7607840" y="2131033"/>
                    </a:lnTo>
                    <a:cubicBezTo>
                      <a:pt x="7607840" y="2166594"/>
                      <a:pt x="7578630" y="2195803"/>
                      <a:pt x="7543070" y="2195803"/>
                    </a:cubicBezTo>
                    <a:lnTo>
                      <a:pt x="124460" y="2195803"/>
                    </a:lnTo>
                    <a:cubicBezTo>
                      <a:pt x="88900" y="2195803"/>
                      <a:pt x="59690" y="2166594"/>
                      <a:pt x="59690" y="213103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7543070" y="59690"/>
                    </a:lnTo>
                    <a:moveTo>
                      <a:pt x="754307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31033"/>
                    </a:lnTo>
                    <a:cubicBezTo>
                      <a:pt x="0" y="2199613"/>
                      <a:pt x="55880" y="2255494"/>
                      <a:pt x="124460" y="2255494"/>
                    </a:cubicBezTo>
                    <a:lnTo>
                      <a:pt x="7543070" y="2255494"/>
                    </a:lnTo>
                    <a:cubicBezTo>
                      <a:pt x="7611650" y="2255494"/>
                      <a:pt x="7667530" y="2199613"/>
                      <a:pt x="7667530" y="2131033"/>
                    </a:cubicBezTo>
                    <a:lnTo>
                      <a:pt x="7667530" y="124460"/>
                    </a:lnTo>
                    <a:cubicBezTo>
                      <a:pt x="7667530" y="55880"/>
                      <a:pt x="7611650" y="0"/>
                      <a:pt x="75430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29759" y="143281"/>
              <a:ext cx="6261987" cy="1659598"/>
            </a:xfrm>
            <a:custGeom>
              <a:avLst/>
              <a:gdLst/>
              <a:ahLst/>
              <a:cxnLst/>
              <a:rect r="r" b="b" t="t" l="l"/>
              <a:pathLst>
                <a:path h="1659598" w="6261987">
                  <a:moveTo>
                    <a:pt x="0" y="0"/>
                  </a:moveTo>
                  <a:lnTo>
                    <a:pt x="6261987" y="0"/>
                  </a:lnTo>
                  <a:lnTo>
                    <a:pt x="6261987" y="1659598"/>
                  </a:lnTo>
                  <a:lnTo>
                    <a:pt x="0" y="1659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32978" y="7488308"/>
            <a:ext cx="6376947" cy="844899"/>
            <a:chOff x="0" y="0"/>
            <a:chExt cx="6973034" cy="9238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1750" y="31750"/>
              <a:ext cx="6909534" cy="860376"/>
            </a:xfrm>
            <a:custGeom>
              <a:avLst/>
              <a:gdLst/>
              <a:ahLst/>
              <a:cxnLst/>
              <a:rect r="r" b="b" t="t" l="l"/>
              <a:pathLst>
                <a:path h="860376" w="6909534">
                  <a:moveTo>
                    <a:pt x="6816823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6815554" y="0"/>
                  </a:lnTo>
                  <a:cubicBezTo>
                    <a:pt x="6866354" y="0"/>
                    <a:pt x="6908264" y="41910"/>
                    <a:pt x="6908264" y="92710"/>
                  </a:cubicBezTo>
                  <a:lnTo>
                    <a:pt x="6908264" y="766396"/>
                  </a:lnTo>
                  <a:cubicBezTo>
                    <a:pt x="6909534" y="818466"/>
                    <a:pt x="6867623" y="860376"/>
                    <a:pt x="6816823" y="860376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73034" cy="923876"/>
            </a:xfrm>
            <a:custGeom>
              <a:avLst/>
              <a:gdLst/>
              <a:ahLst/>
              <a:cxnLst/>
              <a:rect r="r" b="b" t="t" l="l"/>
              <a:pathLst>
                <a:path h="923876" w="6973034">
                  <a:moveTo>
                    <a:pt x="6848573" y="59690"/>
                  </a:moveTo>
                  <a:cubicBezTo>
                    <a:pt x="6884134" y="59690"/>
                    <a:pt x="6913344" y="88900"/>
                    <a:pt x="6913344" y="124460"/>
                  </a:cubicBezTo>
                  <a:lnTo>
                    <a:pt x="6913344" y="799416"/>
                  </a:lnTo>
                  <a:cubicBezTo>
                    <a:pt x="6913344" y="834976"/>
                    <a:pt x="6884134" y="864186"/>
                    <a:pt x="6848573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848574" y="59690"/>
                  </a:lnTo>
                  <a:moveTo>
                    <a:pt x="684857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6848574" y="923876"/>
                  </a:lnTo>
                  <a:cubicBezTo>
                    <a:pt x="6917154" y="923876"/>
                    <a:pt x="6973034" y="867996"/>
                    <a:pt x="6973034" y="799416"/>
                  </a:cubicBezTo>
                  <a:lnTo>
                    <a:pt x="6973034" y="124460"/>
                  </a:lnTo>
                  <a:cubicBezTo>
                    <a:pt x="6973034" y="55880"/>
                    <a:pt x="6917154" y="0"/>
                    <a:pt x="684857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43023" y="7615520"/>
            <a:ext cx="5162357" cy="52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4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Estructura de Datos 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3996902"/>
            <a:ext cx="15996208" cy="1146598"/>
            <a:chOff x="0" y="0"/>
            <a:chExt cx="17491459" cy="12537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363867" y="408601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Unidad 5: Arboles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1551" y="2442168"/>
            <a:ext cx="14694421" cy="844899"/>
            <a:chOff x="0" y="0"/>
            <a:chExt cx="19592561" cy="112653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592561" cy="1126532"/>
              <a:chOff x="0" y="0"/>
              <a:chExt cx="16067986" cy="9238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31750" y="31750"/>
                <a:ext cx="16004487" cy="860376"/>
              </a:xfrm>
              <a:custGeom>
                <a:avLst/>
                <a:gdLst/>
                <a:ahLst/>
                <a:cxnLst/>
                <a:rect r="r" b="b" t="t" l="l"/>
                <a:pathLst>
                  <a:path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6067987" cy="923876"/>
              </a:xfrm>
              <a:custGeom>
                <a:avLst/>
                <a:gdLst/>
                <a:ahLst/>
                <a:cxnLst/>
                <a:rect r="r" b="b" t="t" l="l"/>
                <a:pathLst>
                  <a:path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75496" y="208226"/>
              <a:ext cx="713111" cy="740649"/>
            </a:xfrm>
            <a:custGeom>
              <a:avLst/>
              <a:gdLst/>
              <a:ahLst/>
              <a:cxnLst/>
              <a:rect r="r" b="b" t="t" l="l"/>
              <a:pathLst>
                <a:path h="740649" w="713111">
                  <a:moveTo>
                    <a:pt x="0" y="0"/>
                  </a:moveTo>
                  <a:lnTo>
                    <a:pt x="713111" y="0"/>
                  </a:lnTo>
                  <a:lnTo>
                    <a:pt x="713111" y="740649"/>
                  </a:lnTo>
                  <a:lnTo>
                    <a:pt x="0" y="740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30" t="0" r="-193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110551" y="191841"/>
              <a:ext cx="6627223" cy="676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44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Avisos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91551" y="4552173"/>
            <a:ext cx="14694421" cy="844899"/>
            <a:chOff x="0" y="0"/>
            <a:chExt cx="19592561" cy="112653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9592561" cy="1126532"/>
              <a:chOff x="0" y="0"/>
              <a:chExt cx="16067986" cy="9238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31750" y="31750"/>
                <a:ext cx="16004487" cy="860376"/>
              </a:xfrm>
              <a:custGeom>
                <a:avLst/>
                <a:gdLst/>
                <a:ahLst/>
                <a:cxnLst/>
                <a:rect r="r" b="b" t="t" l="l"/>
                <a:pathLst>
                  <a:path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067987" cy="923876"/>
              </a:xfrm>
              <a:custGeom>
                <a:avLst/>
                <a:gdLst/>
                <a:ahLst/>
                <a:cxnLst/>
                <a:rect r="r" b="b" t="t" l="l"/>
                <a:pathLst>
                  <a:path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179301" y="170704"/>
              <a:ext cx="755932" cy="785123"/>
            </a:xfrm>
            <a:custGeom>
              <a:avLst/>
              <a:gdLst/>
              <a:ahLst/>
              <a:cxnLst/>
              <a:rect r="r" b="b" t="t" l="l"/>
              <a:pathLst>
                <a:path h="785123" w="755932">
                  <a:moveTo>
                    <a:pt x="0" y="0"/>
                  </a:moveTo>
                  <a:lnTo>
                    <a:pt x="755932" y="0"/>
                  </a:lnTo>
                  <a:lnTo>
                    <a:pt x="755932" y="785124"/>
                  </a:lnTo>
                  <a:lnTo>
                    <a:pt x="0" y="785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30" t="0" r="-193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116476" y="191841"/>
              <a:ext cx="6627223" cy="676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44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Contenido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96789" y="3252860"/>
            <a:ext cx="14667236" cy="674186"/>
            <a:chOff x="0" y="0"/>
            <a:chExt cx="34708896" cy="15954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1750" y="31750"/>
              <a:ext cx="34645395" cy="1531911"/>
            </a:xfrm>
            <a:custGeom>
              <a:avLst/>
              <a:gdLst/>
              <a:ahLst/>
              <a:cxnLst/>
              <a:rect r="r" b="b" t="t" l="l"/>
              <a:pathLst>
                <a:path h="1531911" w="34645395">
                  <a:moveTo>
                    <a:pt x="34552685" y="1531911"/>
                  </a:moveTo>
                  <a:lnTo>
                    <a:pt x="92710" y="1531911"/>
                  </a:lnTo>
                  <a:cubicBezTo>
                    <a:pt x="41910" y="1531911"/>
                    <a:pt x="0" y="1490001"/>
                    <a:pt x="0" y="143920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437931"/>
                  </a:lnTo>
                  <a:cubicBezTo>
                    <a:pt x="34645395" y="1490001"/>
                    <a:pt x="34603485" y="1531911"/>
                    <a:pt x="34552685" y="1531911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708895" cy="1595411"/>
            </a:xfrm>
            <a:custGeom>
              <a:avLst/>
              <a:gdLst/>
              <a:ahLst/>
              <a:cxnLst/>
              <a:rect r="r" b="b" t="t" l="l"/>
              <a:pathLst>
                <a:path h="1595411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470951"/>
                  </a:lnTo>
                  <a:cubicBezTo>
                    <a:pt x="34649206" y="1506511"/>
                    <a:pt x="34619995" y="1535721"/>
                    <a:pt x="34584435" y="1535721"/>
                  </a:cubicBezTo>
                  <a:lnTo>
                    <a:pt x="124460" y="1535721"/>
                  </a:lnTo>
                  <a:cubicBezTo>
                    <a:pt x="88900" y="1535721"/>
                    <a:pt x="59690" y="1506511"/>
                    <a:pt x="59690" y="147095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0951"/>
                  </a:lnTo>
                  <a:cubicBezTo>
                    <a:pt x="0" y="1539531"/>
                    <a:pt x="55880" y="1595411"/>
                    <a:pt x="124460" y="1595411"/>
                  </a:cubicBezTo>
                  <a:lnTo>
                    <a:pt x="34584435" y="1595411"/>
                  </a:lnTo>
                  <a:cubicBezTo>
                    <a:pt x="34653017" y="1595411"/>
                    <a:pt x="34708895" y="1539531"/>
                    <a:pt x="34708895" y="147095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946487" y="3443533"/>
            <a:ext cx="399157" cy="297399"/>
          </a:xfrm>
          <a:custGeom>
            <a:avLst/>
            <a:gdLst/>
            <a:ahLst/>
            <a:cxnLst/>
            <a:rect r="r" b="b" t="t" l="l"/>
            <a:pathLst>
              <a:path h="297399" w="399157">
                <a:moveTo>
                  <a:pt x="0" y="0"/>
                </a:moveTo>
                <a:lnTo>
                  <a:pt x="399158" y="0"/>
                </a:lnTo>
                <a:lnTo>
                  <a:pt x="399158" y="297399"/>
                </a:lnTo>
                <a:lnTo>
                  <a:pt x="0" y="297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7120" r="0" b="-17095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791551" y="5361957"/>
            <a:ext cx="14694421" cy="4312542"/>
            <a:chOff x="0" y="0"/>
            <a:chExt cx="34773228" cy="102053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1750" y="31750"/>
              <a:ext cx="34709726" cy="10141802"/>
            </a:xfrm>
            <a:custGeom>
              <a:avLst/>
              <a:gdLst/>
              <a:ahLst/>
              <a:cxnLst/>
              <a:rect r="r" b="b" t="t" l="l"/>
              <a:pathLst>
                <a:path h="10141802" w="34709726">
                  <a:moveTo>
                    <a:pt x="34617019" y="10141802"/>
                  </a:moveTo>
                  <a:lnTo>
                    <a:pt x="92710" y="10141802"/>
                  </a:lnTo>
                  <a:cubicBezTo>
                    <a:pt x="41910" y="10141802"/>
                    <a:pt x="0" y="10099891"/>
                    <a:pt x="0" y="1004909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10047822"/>
                  </a:lnTo>
                  <a:cubicBezTo>
                    <a:pt x="34709726" y="10099891"/>
                    <a:pt x="34667819" y="10141802"/>
                    <a:pt x="34617019" y="10141802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773229" cy="10205302"/>
            </a:xfrm>
            <a:custGeom>
              <a:avLst/>
              <a:gdLst/>
              <a:ahLst/>
              <a:cxnLst/>
              <a:rect r="r" b="b" t="t" l="l"/>
              <a:pathLst>
                <a:path h="10205302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10080842"/>
                  </a:lnTo>
                  <a:cubicBezTo>
                    <a:pt x="34713537" y="10116402"/>
                    <a:pt x="34684326" y="10145612"/>
                    <a:pt x="34648769" y="10145612"/>
                  </a:cubicBezTo>
                  <a:lnTo>
                    <a:pt x="124460" y="10145612"/>
                  </a:lnTo>
                  <a:cubicBezTo>
                    <a:pt x="88900" y="10145612"/>
                    <a:pt x="59690" y="10116402"/>
                    <a:pt x="59690" y="1008084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080842"/>
                  </a:lnTo>
                  <a:cubicBezTo>
                    <a:pt x="0" y="10149422"/>
                    <a:pt x="55880" y="10205302"/>
                    <a:pt x="124460" y="10205302"/>
                  </a:cubicBezTo>
                  <a:lnTo>
                    <a:pt x="34648769" y="10205302"/>
                  </a:lnTo>
                  <a:cubicBezTo>
                    <a:pt x="34717348" y="10205302"/>
                    <a:pt x="34773229" y="10149422"/>
                    <a:pt x="34773229" y="10080842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2020298" y="5601215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20298" y="6095558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020298" y="7612300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020298" y="8106643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9"/>
                </a:lnTo>
                <a:lnTo>
                  <a:pt x="0" y="29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020298" y="8600987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020298" y="9101926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145896" y="717072"/>
            <a:ext cx="15996208" cy="1146598"/>
            <a:chOff x="0" y="0"/>
            <a:chExt cx="17491459" cy="125377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2020298" y="7085201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020298" y="6606757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9"/>
                </a:lnTo>
                <a:lnTo>
                  <a:pt x="0" y="29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867262" y="858466"/>
            <a:ext cx="863809" cy="863809"/>
          </a:xfrm>
          <a:custGeom>
            <a:avLst/>
            <a:gdLst/>
            <a:ahLst/>
            <a:cxnLst/>
            <a:rect r="r" b="b" t="t" l="l"/>
            <a:pathLst>
              <a:path h="863809" w="863809">
                <a:moveTo>
                  <a:pt x="0" y="0"/>
                </a:moveTo>
                <a:lnTo>
                  <a:pt x="863809" y="0"/>
                </a:lnTo>
                <a:lnTo>
                  <a:pt x="863809" y="863809"/>
                </a:lnTo>
                <a:lnTo>
                  <a:pt x="0" y="8638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422800" y="3286574"/>
            <a:ext cx="5308271" cy="45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Foro Semana 7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22800" y="5408632"/>
            <a:ext cx="5308271" cy="398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Competencias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Contenido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     Arboles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     Arbol BST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Aplicaciones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Conceptos Claves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Valor de la Semana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Bibliografía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481062" y="80618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1551" y="2442168"/>
            <a:ext cx="14694421" cy="844899"/>
            <a:chOff x="0" y="0"/>
            <a:chExt cx="19592561" cy="112653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592561" cy="1126532"/>
              <a:chOff x="0" y="0"/>
              <a:chExt cx="16067986" cy="9238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31750" y="31750"/>
                <a:ext cx="16004487" cy="860376"/>
              </a:xfrm>
              <a:custGeom>
                <a:avLst/>
                <a:gdLst/>
                <a:ahLst/>
                <a:cxnLst/>
                <a:rect r="r" b="b" t="t" l="l"/>
                <a:pathLst>
                  <a:path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6067987" cy="923876"/>
              </a:xfrm>
              <a:custGeom>
                <a:avLst/>
                <a:gdLst/>
                <a:ahLst/>
                <a:cxnLst/>
                <a:rect r="r" b="b" t="t" l="l"/>
                <a:pathLst>
                  <a:path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1110551" y="191791"/>
              <a:ext cx="662722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44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Videos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91551" y="4552173"/>
            <a:ext cx="14694421" cy="844899"/>
            <a:chOff x="0" y="0"/>
            <a:chExt cx="16067986" cy="923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16004487" cy="860376"/>
            </a:xfrm>
            <a:custGeom>
              <a:avLst/>
              <a:gdLst/>
              <a:ahLst/>
              <a:cxnLst/>
              <a:rect r="r" b="b" t="t" l="l"/>
              <a:pathLst>
                <a:path h="860376" w="16004487">
                  <a:moveTo>
                    <a:pt x="15911776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766396"/>
                  </a:lnTo>
                  <a:cubicBezTo>
                    <a:pt x="16004487" y="818466"/>
                    <a:pt x="15962576" y="860376"/>
                    <a:pt x="15911776" y="860376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67987" cy="923876"/>
            </a:xfrm>
            <a:custGeom>
              <a:avLst/>
              <a:gdLst/>
              <a:ahLst/>
              <a:cxnLst/>
              <a:rect r="r" b="b" t="t" l="l"/>
              <a:pathLst>
                <a:path h="923876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799416"/>
                  </a:lnTo>
                  <a:cubicBezTo>
                    <a:pt x="16008296" y="834976"/>
                    <a:pt x="15979087" y="864186"/>
                    <a:pt x="15943526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15943526" y="923876"/>
                  </a:lnTo>
                  <a:cubicBezTo>
                    <a:pt x="16012106" y="923876"/>
                    <a:pt x="16067987" y="867996"/>
                    <a:pt x="16067987" y="799416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96789" y="3252860"/>
            <a:ext cx="14667236" cy="674186"/>
            <a:chOff x="0" y="0"/>
            <a:chExt cx="34708896" cy="15954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34645395" cy="1531911"/>
            </a:xfrm>
            <a:custGeom>
              <a:avLst/>
              <a:gdLst/>
              <a:ahLst/>
              <a:cxnLst/>
              <a:rect r="r" b="b" t="t" l="l"/>
              <a:pathLst>
                <a:path h="1531911" w="34645395">
                  <a:moveTo>
                    <a:pt x="34552685" y="1531911"/>
                  </a:moveTo>
                  <a:lnTo>
                    <a:pt x="92710" y="1531911"/>
                  </a:lnTo>
                  <a:cubicBezTo>
                    <a:pt x="41910" y="1531911"/>
                    <a:pt x="0" y="1490001"/>
                    <a:pt x="0" y="143920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437931"/>
                  </a:lnTo>
                  <a:cubicBezTo>
                    <a:pt x="34645395" y="1490001"/>
                    <a:pt x="34603485" y="1531911"/>
                    <a:pt x="34552685" y="1531911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08895" cy="1595411"/>
            </a:xfrm>
            <a:custGeom>
              <a:avLst/>
              <a:gdLst/>
              <a:ahLst/>
              <a:cxnLst/>
              <a:rect r="r" b="b" t="t" l="l"/>
              <a:pathLst>
                <a:path h="1595411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470951"/>
                  </a:lnTo>
                  <a:cubicBezTo>
                    <a:pt x="34649206" y="1506511"/>
                    <a:pt x="34619995" y="1535721"/>
                    <a:pt x="34584435" y="1535721"/>
                  </a:cubicBezTo>
                  <a:lnTo>
                    <a:pt x="124460" y="1535721"/>
                  </a:lnTo>
                  <a:cubicBezTo>
                    <a:pt x="88900" y="1535721"/>
                    <a:pt x="59690" y="1506511"/>
                    <a:pt x="59690" y="147095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0951"/>
                  </a:lnTo>
                  <a:cubicBezTo>
                    <a:pt x="0" y="1539531"/>
                    <a:pt x="55880" y="1595411"/>
                    <a:pt x="124460" y="1595411"/>
                  </a:cubicBezTo>
                  <a:lnTo>
                    <a:pt x="34584435" y="1595411"/>
                  </a:lnTo>
                  <a:cubicBezTo>
                    <a:pt x="34653017" y="1595411"/>
                    <a:pt x="34708895" y="1539531"/>
                    <a:pt x="34708895" y="147095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91551" y="5361957"/>
            <a:ext cx="14694421" cy="749856"/>
            <a:chOff x="0" y="0"/>
            <a:chExt cx="34773228" cy="17744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750" y="31750"/>
              <a:ext cx="34709726" cy="1710977"/>
            </a:xfrm>
            <a:custGeom>
              <a:avLst/>
              <a:gdLst/>
              <a:ahLst/>
              <a:cxnLst/>
              <a:rect r="r" b="b" t="t" l="l"/>
              <a:pathLst>
                <a:path h="1710977" w="34709726">
                  <a:moveTo>
                    <a:pt x="34617019" y="1710977"/>
                  </a:moveTo>
                  <a:lnTo>
                    <a:pt x="92710" y="1710977"/>
                  </a:lnTo>
                  <a:cubicBezTo>
                    <a:pt x="41910" y="1710977"/>
                    <a:pt x="0" y="1669067"/>
                    <a:pt x="0" y="16182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1616997"/>
                  </a:lnTo>
                  <a:cubicBezTo>
                    <a:pt x="34709726" y="1669067"/>
                    <a:pt x="34667819" y="1710977"/>
                    <a:pt x="34617019" y="171097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773229" cy="1774477"/>
            </a:xfrm>
            <a:custGeom>
              <a:avLst/>
              <a:gdLst/>
              <a:ahLst/>
              <a:cxnLst/>
              <a:rect r="r" b="b" t="t" l="l"/>
              <a:pathLst>
                <a:path h="1774477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1650017"/>
                  </a:lnTo>
                  <a:cubicBezTo>
                    <a:pt x="34713537" y="1685577"/>
                    <a:pt x="34684326" y="1714787"/>
                    <a:pt x="34648769" y="1714787"/>
                  </a:cubicBezTo>
                  <a:lnTo>
                    <a:pt x="124460" y="1714787"/>
                  </a:lnTo>
                  <a:cubicBezTo>
                    <a:pt x="88900" y="1714787"/>
                    <a:pt x="59690" y="1685577"/>
                    <a:pt x="59690" y="16500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50017"/>
                  </a:lnTo>
                  <a:cubicBezTo>
                    <a:pt x="0" y="1718597"/>
                    <a:pt x="55880" y="1774477"/>
                    <a:pt x="124460" y="1774477"/>
                  </a:cubicBezTo>
                  <a:lnTo>
                    <a:pt x="34648769" y="1774477"/>
                  </a:lnTo>
                  <a:cubicBezTo>
                    <a:pt x="34717348" y="1774477"/>
                    <a:pt x="34773229" y="1718597"/>
                    <a:pt x="34773229" y="1650017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5896" y="717072"/>
            <a:ext cx="15996208" cy="1146598"/>
            <a:chOff x="0" y="0"/>
            <a:chExt cx="17491459" cy="12537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946487" y="2607466"/>
            <a:ext cx="514303" cy="514303"/>
          </a:xfrm>
          <a:custGeom>
            <a:avLst/>
            <a:gdLst/>
            <a:ahLst/>
            <a:cxnLst/>
            <a:rect r="r" b="b" t="t" l="l"/>
            <a:pathLst>
              <a:path h="514303" w="514303">
                <a:moveTo>
                  <a:pt x="0" y="0"/>
                </a:moveTo>
                <a:lnTo>
                  <a:pt x="514304" y="0"/>
                </a:lnTo>
                <a:lnTo>
                  <a:pt x="514304" y="514303"/>
                </a:lnTo>
                <a:lnTo>
                  <a:pt x="0" y="514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56667" y="3397887"/>
            <a:ext cx="524396" cy="384132"/>
          </a:xfrm>
          <a:custGeom>
            <a:avLst/>
            <a:gdLst/>
            <a:ahLst/>
            <a:cxnLst/>
            <a:rect r="r" b="b" t="t" l="l"/>
            <a:pathLst>
              <a:path h="384132" w="524396">
                <a:moveTo>
                  <a:pt x="0" y="0"/>
                </a:moveTo>
                <a:lnTo>
                  <a:pt x="524395" y="0"/>
                </a:lnTo>
                <a:lnTo>
                  <a:pt x="524395" y="384132"/>
                </a:lnTo>
                <a:lnTo>
                  <a:pt x="0" y="384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178" r="0" b="-18335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18748" y="4703601"/>
            <a:ext cx="542043" cy="542043"/>
          </a:xfrm>
          <a:custGeom>
            <a:avLst/>
            <a:gdLst/>
            <a:ahLst/>
            <a:cxnLst/>
            <a:rect r="r" b="b" t="t" l="l"/>
            <a:pathLst>
              <a:path h="542043" w="542043">
                <a:moveTo>
                  <a:pt x="0" y="0"/>
                </a:moveTo>
                <a:lnTo>
                  <a:pt x="542043" y="0"/>
                </a:lnTo>
                <a:lnTo>
                  <a:pt x="542043" y="542043"/>
                </a:lnTo>
                <a:lnTo>
                  <a:pt x="0" y="5420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918748" y="5529507"/>
            <a:ext cx="418673" cy="414756"/>
          </a:xfrm>
          <a:custGeom>
            <a:avLst/>
            <a:gdLst/>
            <a:ahLst/>
            <a:cxnLst/>
            <a:rect r="r" b="b" t="t" l="l"/>
            <a:pathLst>
              <a:path h="414756" w="418673">
                <a:moveTo>
                  <a:pt x="0" y="0"/>
                </a:moveTo>
                <a:lnTo>
                  <a:pt x="418673" y="0"/>
                </a:lnTo>
                <a:lnTo>
                  <a:pt x="418673" y="414756"/>
                </a:lnTo>
                <a:lnTo>
                  <a:pt x="0" y="4147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4438" t="0" r="-44255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361649" y="834837"/>
            <a:ext cx="911068" cy="911068"/>
          </a:xfrm>
          <a:custGeom>
            <a:avLst/>
            <a:gdLst/>
            <a:ahLst/>
            <a:cxnLst/>
            <a:rect r="r" b="b" t="t" l="l"/>
            <a:pathLst>
              <a:path h="911068" w="911068">
                <a:moveTo>
                  <a:pt x="0" y="0"/>
                </a:moveTo>
                <a:lnTo>
                  <a:pt x="911068" y="0"/>
                </a:lnTo>
                <a:lnTo>
                  <a:pt x="911068" y="911068"/>
                </a:lnTo>
                <a:lnTo>
                  <a:pt x="0" y="9110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575026" y="4679347"/>
            <a:ext cx="4970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4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Cuestionarios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27551" y="3286574"/>
            <a:ext cx="13202142" cy="45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 u="sng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  <a:hlinkClick r:id="rId8" tooltip="https://youtu.be/yjm7jdeiDno"/>
              </a:rPr>
              <a:t>Arbol BST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18915" y="5408632"/>
            <a:ext cx="13310779" cy="45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https://quizziz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81062" y="80618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RECURSOS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6789" y="2584719"/>
            <a:ext cx="14667236" cy="6673581"/>
            <a:chOff x="0" y="0"/>
            <a:chExt cx="34708896" cy="157925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34645395" cy="15729020"/>
            </a:xfrm>
            <a:custGeom>
              <a:avLst/>
              <a:gdLst/>
              <a:ahLst/>
              <a:cxnLst/>
              <a:rect r="r" b="b" t="t" l="l"/>
              <a:pathLst>
                <a:path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08895" cy="15792520"/>
            </a:xfrm>
            <a:custGeom>
              <a:avLst/>
              <a:gdLst/>
              <a:ahLst/>
              <a:cxnLst/>
              <a:rect r="r" b="b" t="t" l="l"/>
              <a:pathLst>
                <a:path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5896" y="717072"/>
            <a:ext cx="15996208" cy="1146598"/>
            <a:chOff x="0" y="0"/>
            <a:chExt cx="17491459" cy="1253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945739" y="2954357"/>
            <a:ext cx="535323" cy="535323"/>
          </a:xfrm>
          <a:custGeom>
            <a:avLst/>
            <a:gdLst/>
            <a:ahLst/>
            <a:cxnLst/>
            <a:rect r="r" b="b" t="t" l="l"/>
            <a:pathLst>
              <a:path h="535323" w="535323">
                <a:moveTo>
                  <a:pt x="0" y="0"/>
                </a:moveTo>
                <a:lnTo>
                  <a:pt x="535323" y="0"/>
                </a:lnTo>
                <a:lnTo>
                  <a:pt x="535323" y="535323"/>
                </a:lnTo>
                <a:lnTo>
                  <a:pt x="0" y="5353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45369" y="870220"/>
            <a:ext cx="840302" cy="840302"/>
          </a:xfrm>
          <a:custGeom>
            <a:avLst/>
            <a:gdLst/>
            <a:ahLst/>
            <a:cxnLst/>
            <a:rect r="r" b="b" t="t" l="l"/>
            <a:pathLst>
              <a:path h="840302" w="840302">
                <a:moveTo>
                  <a:pt x="0" y="0"/>
                </a:moveTo>
                <a:lnTo>
                  <a:pt x="840302" y="0"/>
                </a:lnTo>
                <a:lnTo>
                  <a:pt x="840302" y="840302"/>
                </a:lnTo>
                <a:lnTo>
                  <a:pt x="0" y="840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52972" y="3011507"/>
            <a:ext cx="13120586" cy="150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995" spc="30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Implementa estructuras de datos como listas, pilas, colas y árobles empleando programación orientada a objetos y puntos  para desarrollar soluciones modulares y eficienteas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1062" y="80618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COMPETENCIAS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5896" y="4570201"/>
            <a:ext cx="15996208" cy="1146598"/>
            <a:chOff x="0" y="0"/>
            <a:chExt cx="17491459" cy="1253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386616" y="0"/>
            <a:ext cx="1901384" cy="1669115"/>
            <a:chOff x="0" y="0"/>
            <a:chExt cx="2535179" cy="222548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535179" cy="2225487"/>
              <a:chOff x="0" y="0"/>
              <a:chExt cx="2569361" cy="225549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31750" y="31750"/>
                <a:ext cx="2505861" cy="2191993"/>
              </a:xfrm>
              <a:custGeom>
                <a:avLst/>
                <a:gdLst/>
                <a:ahLst/>
                <a:cxnLst/>
                <a:rect r="r" b="b" t="t" l="l"/>
                <a:pathLst>
                  <a:path h="2191993" w="2505861">
                    <a:moveTo>
                      <a:pt x="2413151" y="2191993"/>
                    </a:moveTo>
                    <a:lnTo>
                      <a:pt x="92710" y="2191993"/>
                    </a:lnTo>
                    <a:cubicBezTo>
                      <a:pt x="41910" y="2191993"/>
                      <a:pt x="0" y="2150083"/>
                      <a:pt x="0" y="209928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411881" y="0"/>
                    </a:lnTo>
                    <a:cubicBezTo>
                      <a:pt x="2462681" y="0"/>
                      <a:pt x="2504591" y="41910"/>
                      <a:pt x="2504591" y="92710"/>
                    </a:cubicBezTo>
                    <a:lnTo>
                      <a:pt x="2504591" y="2098013"/>
                    </a:lnTo>
                    <a:cubicBezTo>
                      <a:pt x="2505861" y="2150083"/>
                      <a:pt x="2463951" y="2191993"/>
                      <a:pt x="2413151" y="2191993"/>
                    </a:cubicBezTo>
                    <a:close/>
                  </a:path>
                </a:pathLst>
              </a:custGeom>
              <a:solidFill>
                <a:srgbClr val="DFDFDF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569361" cy="2255494"/>
              </a:xfrm>
              <a:custGeom>
                <a:avLst/>
                <a:gdLst/>
                <a:ahLst/>
                <a:cxnLst/>
                <a:rect r="r" b="b" t="t" l="l"/>
                <a:pathLst>
                  <a:path h="2255494" w="2569361">
                    <a:moveTo>
                      <a:pt x="2444901" y="59690"/>
                    </a:moveTo>
                    <a:cubicBezTo>
                      <a:pt x="2480461" y="59690"/>
                      <a:pt x="2509671" y="88900"/>
                      <a:pt x="2509671" y="124460"/>
                    </a:cubicBezTo>
                    <a:lnTo>
                      <a:pt x="2509671" y="2131033"/>
                    </a:lnTo>
                    <a:cubicBezTo>
                      <a:pt x="2509671" y="2166594"/>
                      <a:pt x="2480461" y="2195803"/>
                      <a:pt x="2444901" y="2195803"/>
                    </a:cubicBezTo>
                    <a:lnTo>
                      <a:pt x="124460" y="2195803"/>
                    </a:lnTo>
                    <a:cubicBezTo>
                      <a:pt x="88900" y="2195803"/>
                      <a:pt x="59690" y="2166594"/>
                      <a:pt x="59690" y="213103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444901" y="59690"/>
                    </a:lnTo>
                    <a:moveTo>
                      <a:pt x="244490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31033"/>
                    </a:lnTo>
                    <a:cubicBezTo>
                      <a:pt x="0" y="2199613"/>
                      <a:pt x="55880" y="2255494"/>
                      <a:pt x="124460" y="2255494"/>
                    </a:cubicBezTo>
                    <a:lnTo>
                      <a:pt x="2444901" y="2255494"/>
                    </a:lnTo>
                    <a:cubicBezTo>
                      <a:pt x="2513481" y="2255494"/>
                      <a:pt x="2569361" y="2199613"/>
                      <a:pt x="2569361" y="2131033"/>
                    </a:cubicBezTo>
                    <a:lnTo>
                      <a:pt x="2569361" y="124460"/>
                    </a:lnTo>
                    <a:cubicBezTo>
                      <a:pt x="2569361" y="55880"/>
                      <a:pt x="2513481" y="0"/>
                      <a:pt x="2444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57219" y="45250"/>
              <a:ext cx="2425168" cy="2134148"/>
            </a:xfrm>
            <a:custGeom>
              <a:avLst/>
              <a:gdLst/>
              <a:ahLst/>
              <a:cxnLst/>
              <a:rect r="r" b="b" t="t" l="l"/>
              <a:pathLst>
                <a:path h="2134148" w="2425168">
                  <a:moveTo>
                    <a:pt x="0" y="0"/>
                  </a:moveTo>
                  <a:lnTo>
                    <a:pt x="2425168" y="0"/>
                  </a:lnTo>
                  <a:lnTo>
                    <a:pt x="2425168" y="2134148"/>
                  </a:lnTo>
                  <a:lnTo>
                    <a:pt x="0" y="2134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481062" y="465931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Arboles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69737" y="1818466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52803" y="1405985"/>
            <a:ext cx="14694421" cy="1008859"/>
            <a:chOff x="0" y="0"/>
            <a:chExt cx="16067986" cy="110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52803" y="2311760"/>
            <a:ext cx="14694421" cy="2434715"/>
            <a:chOff x="0" y="0"/>
            <a:chExt cx="34773228" cy="57615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34709726" cy="5698067"/>
            </a:xfrm>
            <a:custGeom>
              <a:avLst/>
              <a:gdLst/>
              <a:ahLst/>
              <a:cxnLst/>
              <a:rect r="r" b="b" t="t" l="l"/>
              <a:pathLst>
                <a:path h="5698067" w="34709726">
                  <a:moveTo>
                    <a:pt x="34617019" y="5698067"/>
                  </a:moveTo>
                  <a:lnTo>
                    <a:pt x="92710" y="5698067"/>
                  </a:lnTo>
                  <a:cubicBezTo>
                    <a:pt x="41910" y="5698067"/>
                    <a:pt x="0" y="5656157"/>
                    <a:pt x="0" y="560535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5604087"/>
                  </a:lnTo>
                  <a:cubicBezTo>
                    <a:pt x="34709726" y="5656157"/>
                    <a:pt x="34667819" y="5698067"/>
                    <a:pt x="34617019" y="569806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773229" cy="5761567"/>
            </a:xfrm>
            <a:custGeom>
              <a:avLst/>
              <a:gdLst/>
              <a:ahLst/>
              <a:cxnLst/>
              <a:rect r="r" b="b" t="t" l="l"/>
              <a:pathLst>
                <a:path h="5761567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5637107"/>
                  </a:lnTo>
                  <a:cubicBezTo>
                    <a:pt x="34713537" y="5672667"/>
                    <a:pt x="34684326" y="5701877"/>
                    <a:pt x="34648769" y="5701877"/>
                  </a:cubicBezTo>
                  <a:lnTo>
                    <a:pt x="124460" y="5701877"/>
                  </a:lnTo>
                  <a:cubicBezTo>
                    <a:pt x="88900" y="5701877"/>
                    <a:pt x="59690" y="5672667"/>
                    <a:pt x="59690" y="563710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5637107"/>
                  </a:lnTo>
                  <a:cubicBezTo>
                    <a:pt x="0" y="5705687"/>
                    <a:pt x="55880" y="5761567"/>
                    <a:pt x="124460" y="5761567"/>
                  </a:cubicBezTo>
                  <a:lnTo>
                    <a:pt x="34648769" y="5761567"/>
                  </a:lnTo>
                  <a:cubicBezTo>
                    <a:pt x="34717348" y="5761567"/>
                    <a:pt x="34773229" y="5705687"/>
                    <a:pt x="34773229" y="5637107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397976" y="1649132"/>
            <a:ext cx="522565" cy="522565"/>
          </a:xfrm>
          <a:custGeom>
            <a:avLst/>
            <a:gdLst/>
            <a:ahLst/>
            <a:cxnLst/>
            <a:rect r="r" b="b" t="t" l="l"/>
            <a:pathLst>
              <a:path h="522565" w="522565">
                <a:moveTo>
                  <a:pt x="0" y="0"/>
                </a:moveTo>
                <a:lnTo>
                  <a:pt x="522566" y="0"/>
                </a:lnTo>
                <a:lnTo>
                  <a:pt x="522566" y="522565"/>
                </a:lnTo>
                <a:lnTo>
                  <a:pt x="0" y="5225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19598" y="5639453"/>
            <a:ext cx="6580416" cy="4097100"/>
          </a:xfrm>
          <a:custGeom>
            <a:avLst/>
            <a:gdLst/>
            <a:ahLst/>
            <a:cxnLst/>
            <a:rect r="r" b="b" t="t" l="l"/>
            <a:pathLst>
              <a:path h="4097100" w="6580416">
                <a:moveTo>
                  <a:pt x="0" y="0"/>
                </a:moveTo>
                <a:lnTo>
                  <a:pt x="6580416" y="0"/>
                </a:lnTo>
                <a:lnTo>
                  <a:pt x="6580416" y="4097100"/>
                </a:lnTo>
                <a:lnTo>
                  <a:pt x="0" y="4097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61" t="0" r="-2740" b="-5653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594656" y="1450609"/>
            <a:ext cx="13368147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Concepto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69737" y="2356544"/>
            <a:ext cx="13993066" cy="368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1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Un árbol es una estructura de datos jerárquica compuesta por nodos. El nodo superior se llama raíz, y cada nodo puede tener hijos, formando subestructuras similares a ramas.</a:t>
            </a:r>
          </a:p>
          <a:p>
            <a:pPr algn="l">
              <a:lnSpc>
                <a:spcPts val="5991"/>
              </a:lnSpc>
            </a:pPr>
          </a:p>
          <a:p>
            <a:pPr algn="l">
              <a:lnSpc>
                <a:spcPts val="5991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063037" y="6965195"/>
            <a:ext cx="5119510" cy="1445616"/>
          </a:xfrm>
          <a:custGeom>
            <a:avLst/>
            <a:gdLst/>
            <a:ahLst/>
            <a:cxnLst/>
            <a:rect r="r" b="b" t="t" l="l"/>
            <a:pathLst>
              <a:path h="1445616" w="5119510">
                <a:moveTo>
                  <a:pt x="0" y="0"/>
                </a:moveTo>
                <a:lnTo>
                  <a:pt x="5119510" y="0"/>
                </a:lnTo>
                <a:lnTo>
                  <a:pt x="5119510" y="1445616"/>
                </a:lnTo>
                <a:lnTo>
                  <a:pt x="0" y="14456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26" t="-246238" r="-260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6789" y="2584719"/>
            <a:ext cx="14667236" cy="6673581"/>
            <a:chOff x="0" y="0"/>
            <a:chExt cx="34708896" cy="157925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34645395" cy="15729020"/>
            </a:xfrm>
            <a:custGeom>
              <a:avLst/>
              <a:gdLst/>
              <a:ahLst/>
              <a:cxnLst/>
              <a:rect r="r" b="b" t="t" l="l"/>
              <a:pathLst>
                <a:path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08895" cy="15792520"/>
            </a:xfrm>
            <a:custGeom>
              <a:avLst/>
              <a:gdLst/>
              <a:ahLst/>
              <a:cxnLst/>
              <a:rect r="r" b="b" t="t" l="l"/>
              <a:pathLst>
                <a:path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377959" y="963221"/>
            <a:ext cx="603251" cy="603251"/>
          </a:xfrm>
          <a:custGeom>
            <a:avLst/>
            <a:gdLst/>
            <a:ahLst/>
            <a:cxnLst/>
            <a:rect r="r" b="b" t="t" l="l"/>
            <a:pathLst>
              <a:path h="603251" w="603251">
                <a:moveTo>
                  <a:pt x="0" y="0"/>
                </a:moveTo>
                <a:lnTo>
                  <a:pt x="603250" y="0"/>
                </a:lnTo>
                <a:lnTo>
                  <a:pt x="603250" y="603251"/>
                </a:lnTo>
                <a:lnTo>
                  <a:pt x="0" y="603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13723" y="3042530"/>
            <a:ext cx="343148" cy="343148"/>
          </a:xfrm>
          <a:custGeom>
            <a:avLst/>
            <a:gdLst/>
            <a:ahLst/>
            <a:cxnLst/>
            <a:rect r="r" b="b" t="t" l="l"/>
            <a:pathLst>
              <a:path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52972" y="3011507"/>
            <a:ext cx="13120586" cy="261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Un solo nodo raíz.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Cada nodo puede tener varios hijos (excepto las hojas).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No hay ciclos: es una estructura acíclica.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Se puede recorrer de forma recursiva o iterativa.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67959" y="887021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Caracteristicas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113723" y="3806596"/>
            <a:ext cx="343148" cy="343148"/>
          </a:xfrm>
          <a:custGeom>
            <a:avLst/>
            <a:gdLst/>
            <a:ahLst/>
            <a:cxnLst/>
            <a:rect r="r" b="b" t="t" l="l"/>
            <a:pathLst>
              <a:path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13723" y="4568844"/>
            <a:ext cx="343148" cy="343148"/>
          </a:xfrm>
          <a:custGeom>
            <a:avLst/>
            <a:gdLst/>
            <a:ahLst/>
            <a:cxnLst/>
            <a:rect r="r" b="b" t="t" l="l"/>
            <a:pathLst>
              <a:path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13723" y="5287632"/>
            <a:ext cx="343148" cy="343148"/>
          </a:xfrm>
          <a:custGeom>
            <a:avLst/>
            <a:gdLst/>
            <a:ahLst/>
            <a:cxnLst/>
            <a:rect r="r" b="b" t="t" l="l"/>
            <a:pathLst>
              <a:path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6789" y="2584719"/>
            <a:ext cx="14667236" cy="6673581"/>
            <a:chOff x="0" y="0"/>
            <a:chExt cx="34708896" cy="157925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34645395" cy="15729020"/>
            </a:xfrm>
            <a:custGeom>
              <a:avLst/>
              <a:gdLst/>
              <a:ahLst/>
              <a:cxnLst/>
              <a:rect r="r" b="b" t="t" l="l"/>
              <a:pathLst>
                <a:path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08895" cy="15792520"/>
            </a:xfrm>
            <a:custGeom>
              <a:avLst/>
              <a:gdLst/>
              <a:ahLst/>
              <a:cxnLst/>
              <a:rect r="r" b="b" t="t" l="l"/>
              <a:pathLst>
                <a:path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274064" y="989456"/>
            <a:ext cx="603251" cy="603251"/>
          </a:xfrm>
          <a:custGeom>
            <a:avLst/>
            <a:gdLst/>
            <a:ahLst/>
            <a:cxnLst/>
            <a:rect r="r" b="b" t="t" l="l"/>
            <a:pathLst>
              <a:path h="603251" w="603251">
                <a:moveTo>
                  <a:pt x="0" y="0"/>
                </a:moveTo>
                <a:lnTo>
                  <a:pt x="603251" y="0"/>
                </a:lnTo>
                <a:lnTo>
                  <a:pt x="603251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08576" y="2954357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3" y="0"/>
                </a:lnTo>
                <a:lnTo>
                  <a:pt x="577633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08576" y="4096612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3" y="0"/>
                </a:lnTo>
                <a:lnTo>
                  <a:pt x="577633" y="577633"/>
                </a:lnTo>
                <a:lnTo>
                  <a:pt x="0" y="57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08576" y="5550283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3" y="0"/>
                </a:lnTo>
                <a:lnTo>
                  <a:pt x="577633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08576" y="7038933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3" y="0"/>
                </a:lnTo>
                <a:lnTo>
                  <a:pt x="577633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928044" y="6315266"/>
            <a:ext cx="3834997" cy="2024969"/>
          </a:xfrm>
          <a:custGeom>
            <a:avLst/>
            <a:gdLst/>
            <a:ahLst/>
            <a:cxnLst/>
            <a:rect r="r" b="b" t="t" l="l"/>
            <a:pathLst>
              <a:path h="2024969" w="3834997">
                <a:moveTo>
                  <a:pt x="0" y="0"/>
                </a:moveTo>
                <a:lnTo>
                  <a:pt x="3834997" y="0"/>
                </a:lnTo>
                <a:lnTo>
                  <a:pt x="3834997" y="2024968"/>
                </a:lnTo>
                <a:lnTo>
                  <a:pt x="0" y="20249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07" t="-166536" r="-8027" b="-2536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52972" y="3011507"/>
            <a:ext cx="6477435" cy="596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Nodos: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Se le llama nodo a cada 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elemento que contiene el árbol .</a:t>
            </a:r>
          </a:p>
          <a:p>
            <a:pPr algn="just">
              <a:lnSpc>
                <a:spcPts val="2995"/>
              </a:lnSpc>
            </a:pPr>
          </a:p>
          <a:p>
            <a:pPr algn="just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Nodo padre: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Se utiliza este término para llamar a todos aquellos nodos  que tienen al menos un hijo.  </a:t>
            </a:r>
          </a:p>
          <a:p>
            <a:pPr algn="just">
              <a:lnSpc>
                <a:spcPts val="2995"/>
              </a:lnSpc>
            </a:pPr>
          </a:p>
          <a:p>
            <a:pPr algn="just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Nodo hijo: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Los hijos son</a:t>
            </a:r>
          </a:p>
          <a:p>
            <a:pPr algn="just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todos aquellos nodos que tienen un padre. </a:t>
            </a:r>
          </a:p>
          <a:p>
            <a:pPr algn="just">
              <a:lnSpc>
                <a:spcPts val="2995"/>
              </a:lnSpc>
            </a:pPr>
          </a:p>
          <a:p>
            <a:pPr algn="just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Nodo hermano: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Los nodos hermanos son aquellos nodos que  comparten un mismo padre en común dentro de la estructura.</a:t>
            </a:r>
          </a:p>
          <a:p>
            <a:pPr algn="just">
              <a:lnSpc>
                <a:spcPts val="2995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481062" y="913256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Relación con otros Nodos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995920" y="3151996"/>
            <a:ext cx="3699245" cy="2398287"/>
          </a:xfrm>
          <a:custGeom>
            <a:avLst/>
            <a:gdLst/>
            <a:ahLst/>
            <a:cxnLst/>
            <a:rect r="r" b="b" t="t" l="l"/>
            <a:pathLst>
              <a:path h="2398287" w="3699245">
                <a:moveTo>
                  <a:pt x="0" y="0"/>
                </a:moveTo>
                <a:lnTo>
                  <a:pt x="3699245" y="0"/>
                </a:lnTo>
                <a:lnTo>
                  <a:pt x="3699245" y="2398287"/>
                </a:lnTo>
                <a:lnTo>
                  <a:pt x="0" y="23982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52" t="-5772" r="-11816" b="-140695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6789" y="2584719"/>
            <a:ext cx="14667236" cy="6673581"/>
            <a:chOff x="0" y="0"/>
            <a:chExt cx="34708896" cy="157925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34645395" cy="15729020"/>
            </a:xfrm>
            <a:custGeom>
              <a:avLst/>
              <a:gdLst/>
              <a:ahLst/>
              <a:cxnLst/>
              <a:rect r="r" b="b" t="t" l="l"/>
              <a:pathLst>
                <a:path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08895" cy="15792520"/>
            </a:xfrm>
            <a:custGeom>
              <a:avLst/>
              <a:gdLst/>
              <a:ahLst/>
              <a:cxnLst/>
              <a:rect r="r" b="b" t="t" l="l"/>
              <a:pathLst>
                <a:path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274064" y="989456"/>
            <a:ext cx="603251" cy="603251"/>
          </a:xfrm>
          <a:custGeom>
            <a:avLst/>
            <a:gdLst/>
            <a:ahLst/>
            <a:cxnLst/>
            <a:rect r="r" b="b" t="t" l="l"/>
            <a:pathLst>
              <a:path h="603251" w="603251">
                <a:moveTo>
                  <a:pt x="0" y="0"/>
                </a:moveTo>
                <a:lnTo>
                  <a:pt x="603251" y="0"/>
                </a:lnTo>
                <a:lnTo>
                  <a:pt x="603251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08576" y="2954357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3" y="0"/>
                </a:lnTo>
                <a:lnTo>
                  <a:pt x="577633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08576" y="4481243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3" y="0"/>
                </a:lnTo>
                <a:lnTo>
                  <a:pt x="577633" y="577633"/>
                </a:lnTo>
                <a:lnTo>
                  <a:pt x="0" y="57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08576" y="6315266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3" y="0"/>
                </a:lnTo>
                <a:lnTo>
                  <a:pt x="577633" y="577633"/>
                </a:lnTo>
                <a:lnTo>
                  <a:pt x="0" y="57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556028" y="4375428"/>
            <a:ext cx="5107796" cy="3092164"/>
          </a:xfrm>
          <a:custGeom>
            <a:avLst/>
            <a:gdLst/>
            <a:ahLst/>
            <a:cxnLst/>
            <a:rect r="r" b="b" t="t" l="l"/>
            <a:pathLst>
              <a:path h="3092164" w="5107796">
                <a:moveTo>
                  <a:pt x="0" y="0"/>
                </a:moveTo>
                <a:lnTo>
                  <a:pt x="5107796" y="0"/>
                </a:lnTo>
                <a:lnTo>
                  <a:pt x="5107796" y="3092163"/>
                </a:lnTo>
                <a:lnTo>
                  <a:pt x="0" y="3092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52972" y="3011507"/>
            <a:ext cx="6477435" cy="48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Nodo Raíz: 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Se refiere al primer nodo de un árbol. Solo un nodo del árbol puede ser la raíz.</a:t>
            </a:r>
          </a:p>
          <a:p>
            <a:pPr algn="just">
              <a:lnSpc>
                <a:spcPts val="2995"/>
              </a:lnSpc>
            </a:pPr>
          </a:p>
          <a:p>
            <a:pPr algn="just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Nodo Hoja: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Son todos aquellos nodos que no tienen hijos, los cuales siempre se encuentran en los extremos de la estructura. </a:t>
            </a:r>
          </a:p>
          <a:p>
            <a:pPr algn="just">
              <a:lnSpc>
                <a:spcPts val="2995"/>
              </a:lnSpc>
            </a:pPr>
          </a:p>
          <a:p>
            <a:pPr algn="just">
              <a:lnSpc>
                <a:spcPts val="2995"/>
              </a:lnSpc>
            </a:pPr>
            <a:r>
              <a:rPr lang="en-US" b="true" sz="2995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Nodo Interior o Rama: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Estos son todos aquellos nodos que no son la raíz y que además tiene al menos un hijo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97393" y="887021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Relación a la Posición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6789" y="2584719"/>
            <a:ext cx="14667236" cy="6673581"/>
            <a:chOff x="0" y="0"/>
            <a:chExt cx="34708896" cy="157925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34645395" cy="15729020"/>
            </a:xfrm>
            <a:custGeom>
              <a:avLst/>
              <a:gdLst/>
              <a:ahLst/>
              <a:cxnLst/>
              <a:rect r="r" b="b" t="t" l="l"/>
              <a:pathLst>
                <a:path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08895" cy="15792520"/>
            </a:xfrm>
            <a:custGeom>
              <a:avLst/>
              <a:gdLst/>
              <a:ahLst/>
              <a:cxnLst/>
              <a:rect r="r" b="b" t="t" l="l"/>
              <a:pathLst>
                <a:path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274064" y="989456"/>
            <a:ext cx="603251" cy="603251"/>
          </a:xfrm>
          <a:custGeom>
            <a:avLst/>
            <a:gdLst/>
            <a:ahLst/>
            <a:cxnLst/>
            <a:rect r="r" b="b" t="t" l="l"/>
            <a:pathLst>
              <a:path h="603251" w="603251">
                <a:moveTo>
                  <a:pt x="0" y="0"/>
                </a:moveTo>
                <a:lnTo>
                  <a:pt x="603251" y="0"/>
                </a:lnTo>
                <a:lnTo>
                  <a:pt x="603251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08576" y="2954357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3" y="0"/>
                </a:lnTo>
                <a:lnTo>
                  <a:pt x="577633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08576" y="4481243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3" y="0"/>
                </a:lnTo>
                <a:lnTo>
                  <a:pt x="577633" y="577633"/>
                </a:lnTo>
                <a:lnTo>
                  <a:pt x="0" y="57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08576" y="6315266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3" y="0"/>
                </a:lnTo>
                <a:lnTo>
                  <a:pt x="577633" y="577633"/>
                </a:lnTo>
                <a:lnTo>
                  <a:pt x="0" y="57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81181" y="2870786"/>
            <a:ext cx="4454840" cy="3220913"/>
          </a:xfrm>
          <a:custGeom>
            <a:avLst/>
            <a:gdLst/>
            <a:ahLst/>
            <a:cxnLst/>
            <a:rect r="r" b="b" t="t" l="l"/>
            <a:pathLst>
              <a:path h="3220913" w="4454840">
                <a:moveTo>
                  <a:pt x="0" y="0"/>
                </a:moveTo>
                <a:lnTo>
                  <a:pt x="4454840" y="0"/>
                </a:lnTo>
                <a:lnTo>
                  <a:pt x="4454840" y="3220913"/>
                </a:lnTo>
                <a:lnTo>
                  <a:pt x="0" y="32209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459792" y="6221094"/>
            <a:ext cx="4497617" cy="2791983"/>
          </a:xfrm>
          <a:custGeom>
            <a:avLst/>
            <a:gdLst/>
            <a:ahLst/>
            <a:cxnLst/>
            <a:rect r="r" b="b" t="t" l="l"/>
            <a:pathLst>
              <a:path h="2791983" w="4497617">
                <a:moveTo>
                  <a:pt x="0" y="0"/>
                </a:moveTo>
                <a:lnTo>
                  <a:pt x="4497617" y="0"/>
                </a:lnTo>
                <a:lnTo>
                  <a:pt x="4497617" y="2791982"/>
                </a:lnTo>
                <a:lnTo>
                  <a:pt x="0" y="27919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499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52972" y="3011507"/>
            <a:ext cx="6477435" cy="410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Nivel: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El nivel de un nodo es su </a:t>
            </a:r>
          </a:p>
          <a:p>
            <a:pPr algn="just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distancia a la raíz. Por lo tanto: </a:t>
            </a:r>
          </a:p>
          <a:p>
            <a:pPr algn="just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  - 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Un árbol vacío tiene 0 niveles</a:t>
            </a:r>
          </a:p>
          <a:p>
            <a:pPr algn="just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  - 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El nivel de la raíz es 1 </a:t>
            </a:r>
          </a:p>
          <a:p>
            <a:pPr algn="just">
              <a:lnSpc>
                <a:spcPts val="2995"/>
              </a:lnSpc>
            </a:pPr>
          </a:p>
          <a:p>
            <a:pPr algn="just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Altura: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Se le llama altura al número máximo de niveles de un árbol</a:t>
            </a:r>
          </a:p>
          <a:p>
            <a:pPr algn="just">
              <a:lnSpc>
                <a:spcPts val="2995"/>
              </a:lnSpc>
            </a:pPr>
          </a:p>
          <a:p>
            <a:pPr algn="just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Peso: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Es el número de nodos que </a:t>
            </a:r>
          </a:p>
          <a:p>
            <a:pPr algn="just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tiene un árbol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08576" y="887021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Relación al Tamaño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48165" y="2648641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31232" y="2236160"/>
            <a:ext cx="7623098" cy="1008859"/>
            <a:chOff x="0" y="0"/>
            <a:chExt cx="8335669" cy="11031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31232" y="3141935"/>
            <a:ext cx="7623098" cy="2755318"/>
            <a:chOff x="0" y="0"/>
            <a:chExt cx="18039480" cy="652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7975980" cy="6456750"/>
            </a:xfrm>
            <a:custGeom>
              <a:avLst/>
              <a:gdLst/>
              <a:ahLst/>
              <a:cxnLst/>
              <a:rect r="r" b="b" t="t" l="l"/>
              <a:pathLst>
                <a:path h="6456750" w="17975980">
                  <a:moveTo>
                    <a:pt x="17883270" y="6456750"/>
                  </a:moveTo>
                  <a:lnTo>
                    <a:pt x="92710" y="6456750"/>
                  </a:lnTo>
                  <a:cubicBezTo>
                    <a:pt x="41910" y="6456750"/>
                    <a:pt x="0" y="6414840"/>
                    <a:pt x="0" y="636404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6362770"/>
                  </a:lnTo>
                  <a:cubicBezTo>
                    <a:pt x="17975980" y="6414840"/>
                    <a:pt x="17934070" y="6456750"/>
                    <a:pt x="17883270" y="645675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39480" cy="6520250"/>
            </a:xfrm>
            <a:custGeom>
              <a:avLst/>
              <a:gdLst/>
              <a:ahLst/>
              <a:cxnLst/>
              <a:rect r="r" b="b" t="t" l="l"/>
              <a:pathLst>
                <a:path h="6520250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6395790"/>
                  </a:lnTo>
                  <a:cubicBezTo>
                    <a:pt x="17979789" y="6431350"/>
                    <a:pt x="17950580" y="6460560"/>
                    <a:pt x="17915020" y="6460560"/>
                  </a:cubicBezTo>
                  <a:lnTo>
                    <a:pt x="124460" y="6460560"/>
                  </a:lnTo>
                  <a:cubicBezTo>
                    <a:pt x="88900" y="6460560"/>
                    <a:pt x="59690" y="6431350"/>
                    <a:pt x="59690" y="639579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6395790"/>
                  </a:lnTo>
                  <a:cubicBezTo>
                    <a:pt x="0" y="6464370"/>
                    <a:pt x="55880" y="6520250"/>
                    <a:pt x="124460" y="6520250"/>
                  </a:cubicBezTo>
                  <a:lnTo>
                    <a:pt x="17915020" y="6520250"/>
                  </a:lnTo>
                  <a:cubicBezTo>
                    <a:pt x="17983600" y="6520250"/>
                    <a:pt x="18039480" y="6464370"/>
                    <a:pt x="18039480" y="6395790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695488" y="989456"/>
            <a:ext cx="637216" cy="637216"/>
          </a:xfrm>
          <a:custGeom>
            <a:avLst/>
            <a:gdLst/>
            <a:ahLst/>
            <a:cxnLst/>
            <a:rect r="r" b="b" t="t" l="l"/>
            <a:pathLst>
              <a:path h="637216" w="637216">
                <a:moveTo>
                  <a:pt x="0" y="0"/>
                </a:moveTo>
                <a:lnTo>
                  <a:pt x="637216" y="0"/>
                </a:lnTo>
                <a:lnTo>
                  <a:pt x="637216" y="637216"/>
                </a:lnTo>
                <a:lnTo>
                  <a:pt x="0" y="637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953136" y="2648641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636202" y="2236160"/>
            <a:ext cx="7623098" cy="1008859"/>
            <a:chOff x="0" y="0"/>
            <a:chExt cx="8335669" cy="11031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36202" y="3141935"/>
            <a:ext cx="7623098" cy="2755318"/>
            <a:chOff x="0" y="0"/>
            <a:chExt cx="18039480" cy="65202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1750" y="31750"/>
              <a:ext cx="17975980" cy="6456750"/>
            </a:xfrm>
            <a:custGeom>
              <a:avLst/>
              <a:gdLst/>
              <a:ahLst/>
              <a:cxnLst/>
              <a:rect r="r" b="b" t="t" l="l"/>
              <a:pathLst>
                <a:path h="6456750" w="17975980">
                  <a:moveTo>
                    <a:pt x="17883270" y="6456750"/>
                  </a:moveTo>
                  <a:lnTo>
                    <a:pt x="92710" y="6456750"/>
                  </a:lnTo>
                  <a:cubicBezTo>
                    <a:pt x="41910" y="6456750"/>
                    <a:pt x="0" y="6414840"/>
                    <a:pt x="0" y="636404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6362770"/>
                  </a:lnTo>
                  <a:cubicBezTo>
                    <a:pt x="17975980" y="6414840"/>
                    <a:pt x="17934070" y="6456750"/>
                    <a:pt x="17883270" y="645675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039480" cy="6520250"/>
            </a:xfrm>
            <a:custGeom>
              <a:avLst/>
              <a:gdLst/>
              <a:ahLst/>
              <a:cxnLst/>
              <a:rect r="r" b="b" t="t" l="l"/>
              <a:pathLst>
                <a:path h="6520250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6395790"/>
                  </a:lnTo>
                  <a:cubicBezTo>
                    <a:pt x="17979789" y="6431350"/>
                    <a:pt x="17950580" y="6460560"/>
                    <a:pt x="17915020" y="6460560"/>
                  </a:cubicBezTo>
                  <a:lnTo>
                    <a:pt x="124460" y="6460560"/>
                  </a:lnTo>
                  <a:cubicBezTo>
                    <a:pt x="88900" y="6460560"/>
                    <a:pt x="59690" y="6431350"/>
                    <a:pt x="59690" y="639579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6395790"/>
                  </a:lnTo>
                  <a:cubicBezTo>
                    <a:pt x="0" y="6464370"/>
                    <a:pt x="55880" y="6520250"/>
                    <a:pt x="124460" y="6520250"/>
                  </a:cubicBezTo>
                  <a:lnTo>
                    <a:pt x="17915020" y="6520250"/>
                  </a:lnTo>
                  <a:cubicBezTo>
                    <a:pt x="17983600" y="6520250"/>
                    <a:pt x="18039480" y="6464370"/>
                    <a:pt x="18039480" y="6395790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2584855" y="2387705"/>
            <a:ext cx="705769" cy="705769"/>
          </a:xfrm>
          <a:custGeom>
            <a:avLst/>
            <a:gdLst/>
            <a:ahLst/>
            <a:cxnLst/>
            <a:rect r="r" b="b" t="t" l="l"/>
            <a:pathLst>
              <a:path h="705769" w="705769">
                <a:moveTo>
                  <a:pt x="0" y="0"/>
                </a:moveTo>
                <a:lnTo>
                  <a:pt x="705769" y="0"/>
                </a:lnTo>
                <a:lnTo>
                  <a:pt x="705769" y="705769"/>
                </a:lnTo>
                <a:lnTo>
                  <a:pt x="0" y="70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053384" y="2326822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AVL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002728" y="2387705"/>
            <a:ext cx="705769" cy="705769"/>
          </a:xfrm>
          <a:custGeom>
            <a:avLst/>
            <a:gdLst/>
            <a:ahLst/>
            <a:cxnLst/>
            <a:rect r="r" b="b" t="t" l="l"/>
            <a:pathLst>
              <a:path h="705769" w="705769">
                <a:moveTo>
                  <a:pt x="0" y="0"/>
                </a:moveTo>
                <a:lnTo>
                  <a:pt x="705769" y="0"/>
                </a:lnTo>
                <a:lnTo>
                  <a:pt x="705769" y="705769"/>
                </a:lnTo>
                <a:lnTo>
                  <a:pt x="0" y="70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00692" y="6635171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283758" y="6222690"/>
            <a:ext cx="7623098" cy="1008859"/>
            <a:chOff x="0" y="0"/>
            <a:chExt cx="8335669" cy="11031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83758" y="7128465"/>
            <a:ext cx="7623098" cy="2755318"/>
            <a:chOff x="0" y="0"/>
            <a:chExt cx="18039480" cy="65202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31750" y="31750"/>
              <a:ext cx="17975980" cy="6456750"/>
            </a:xfrm>
            <a:custGeom>
              <a:avLst/>
              <a:gdLst/>
              <a:ahLst/>
              <a:cxnLst/>
              <a:rect r="r" b="b" t="t" l="l"/>
              <a:pathLst>
                <a:path h="6456750" w="17975980">
                  <a:moveTo>
                    <a:pt x="17883270" y="6456750"/>
                  </a:moveTo>
                  <a:lnTo>
                    <a:pt x="92710" y="6456750"/>
                  </a:lnTo>
                  <a:cubicBezTo>
                    <a:pt x="41910" y="6456750"/>
                    <a:pt x="0" y="6414840"/>
                    <a:pt x="0" y="636404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6362770"/>
                  </a:lnTo>
                  <a:cubicBezTo>
                    <a:pt x="17975980" y="6414840"/>
                    <a:pt x="17934070" y="6456750"/>
                    <a:pt x="17883270" y="645675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039480" cy="6520250"/>
            </a:xfrm>
            <a:custGeom>
              <a:avLst/>
              <a:gdLst/>
              <a:ahLst/>
              <a:cxnLst/>
              <a:rect r="r" b="b" t="t" l="l"/>
              <a:pathLst>
                <a:path h="6520250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6395790"/>
                  </a:lnTo>
                  <a:cubicBezTo>
                    <a:pt x="17979789" y="6431350"/>
                    <a:pt x="17950580" y="6460560"/>
                    <a:pt x="17915020" y="6460560"/>
                  </a:cubicBezTo>
                  <a:lnTo>
                    <a:pt x="124460" y="6460560"/>
                  </a:lnTo>
                  <a:cubicBezTo>
                    <a:pt x="88900" y="6460560"/>
                    <a:pt x="59690" y="6431350"/>
                    <a:pt x="59690" y="639579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6395790"/>
                  </a:lnTo>
                  <a:cubicBezTo>
                    <a:pt x="0" y="6464370"/>
                    <a:pt x="55880" y="6520250"/>
                    <a:pt x="124460" y="6520250"/>
                  </a:cubicBezTo>
                  <a:lnTo>
                    <a:pt x="17915020" y="6520250"/>
                  </a:lnTo>
                  <a:cubicBezTo>
                    <a:pt x="17983600" y="6520250"/>
                    <a:pt x="18039480" y="6464370"/>
                    <a:pt x="18039480" y="6395790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9905663" y="6635171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9588729" y="6222690"/>
            <a:ext cx="7623098" cy="1008859"/>
            <a:chOff x="0" y="0"/>
            <a:chExt cx="8335669" cy="110316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588729" y="7128465"/>
            <a:ext cx="7623098" cy="2755318"/>
            <a:chOff x="0" y="0"/>
            <a:chExt cx="18039480" cy="65202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31750" y="31750"/>
              <a:ext cx="17975980" cy="6456750"/>
            </a:xfrm>
            <a:custGeom>
              <a:avLst/>
              <a:gdLst/>
              <a:ahLst/>
              <a:cxnLst/>
              <a:rect r="r" b="b" t="t" l="l"/>
              <a:pathLst>
                <a:path h="6456750" w="17975980">
                  <a:moveTo>
                    <a:pt x="17883270" y="6456750"/>
                  </a:moveTo>
                  <a:lnTo>
                    <a:pt x="92710" y="6456750"/>
                  </a:lnTo>
                  <a:cubicBezTo>
                    <a:pt x="41910" y="6456750"/>
                    <a:pt x="0" y="6414840"/>
                    <a:pt x="0" y="636404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6362770"/>
                  </a:lnTo>
                  <a:cubicBezTo>
                    <a:pt x="17975980" y="6414840"/>
                    <a:pt x="17934070" y="6456750"/>
                    <a:pt x="17883270" y="645675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039480" cy="6520250"/>
            </a:xfrm>
            <a:custGeom>
              <a:avLst/>
              <a:gdLst/>
              <a:ahLst/>
              <a:cxnLst/>
              <a:rect r="r" b="b" t="t" l="l"/>
              <a:pathLst>
                <a:path h="6520250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6395790"/>
                  </a:lnTo>
                  <a:cubicBezTo>
                    <a:pt x="17979789" y="6431350"/>
                    <a:pt x="17950580" y="6460560"/>
                    <a:pt x="17915020" y="6460560"/>
                  </a:cubicBezTo>
                  <a:lnTo>
                    <a:pt x="124460" y="6460560"/>
                  </a:lnTo>
                  <a:cubicBezTo>
                    <a:pt x="88900" y="6460560"/>
                    <a:pt x="59690" y="6431350"/>
                    <a:pt x="59690" y="639579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6395790"/>
                  </a:lnTo>
                  <a:cubicBezTo>
                    <a:pt x="0" y="6464370"/>
                    <a:pt x="55880" y="6520250"/>
                    <a:pt x="124460" y="6520250"/>
                  </a:cubicBezTo>
                  <a:lnTo>
                    <a:pt x="17915020" y="6520250"/>
                  </a:lnTo>
                  <a:cubicBezTo>
                    <a:pt x="17983600" y="6520250"/>
                    <a:pt x="18039480" y="6464370"/>
                    <a:pt x="18039480" y="6395790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2537382" y="6374235"/>
            <a:ext cx="705769" cy="705769"/>
          </a:xfrm>
          <a:custGeom>
            <a:avLst/>
            <a:gdLst/>
            <a:ahLst/>
            <a:cxnLst/>
            <a:rect r="r" b="b" t="t" l="l"/>
            <a:pathLst>
              <a:path h="705769" w="705769">
                <a:moveTo>
                  <a:pt x="0" y="0"/>
                </a:moveTo>
                <a:lnTo>
                  <a:pt x="705768" y="0"/>
                </a:lnTo>
                <a:lnTo>
                  <a:pt x="705768" y="705769"/>
                </a:lnTo>
                <a:lnTo>
                  <a:pt x="0" y="70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0005911" y="6313352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E-nario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0955255" y="6374235"/>
            <a:ext cx="705769" cy="705769"/>
          </a:xfrm>
          <a:custGeom>
            <a:avLst/>
            <a:gdLst/>
            <a:ahLst/>
            <a:cxnLst/>
            <a:rect r="r" b="b" t="t" l="l"/>
            <a:pathLst>
              <a:path h="705769" w="705769">
                <a:moveTo>
                  <a:pt x="0" y="0"/>
                </a:moveTo>
                <a:lnTo>
                  <a:pt x="705769" y="0"/>
                </a:lnTo>
                <a:lnTo>
                  <a:pt x="705769" y="705769"/>
                </a:lnTo>
                <a:lnTo>
                  <a:pt x="0" y="70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890266" y="3425044"/>
            <a:ext cx="4805222" cy="2226810"/>
          </a:xfrm>
          <a:custGeom>
            <a:avLst/>
            <a:gdLst/>
            <a:ahLst/>
            <a:cxnLst/>
            <a:rect r="r" b="b" t="t" l="l"/>
            <a:pathLst>
              <a:path h="2226810" w="4805222">
                <a:moveTo>
                  <a:pt x="0" y="0"/>
                </a:moveTo>
                <a:lnTo>
                  <a:pt x="4805222" y="0"/>
                </a:lnTo>
                <a:lnTo>
                  <a:pt x="4805222" y="2226810"/>
                </a:lnTo>
                <a:lnTo>
                  <a:pt x="0" y="2226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374083" y="3325196"/>
            <a:ext cx="4052389" cy="2426507"/>
          </a:xfrm>
          <a:custGeom>
            <a:avLst/>
            <a:gdLst/>
            <a:ahLst/>
            <a:cxnLst/>
            <a:rect r="r" b="b" t="t" l="l"/>
            <a:pathLst>
              <a:path h="2426507" w="4052389">
                <a:moveTo>
                  <a:pt x="0" y="0"/>
                </a:moveTo>
                <a:lnTo>
                  <a:pt x="4052389" y="0"/>
                </a:lnTo>
                <a:lnTo>
                  <a:pt x="4052389" y="2426507"/>
                </a:lnTo>
                <a:lnTo>
                  <a:pt x="0" y="24265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912633" y="7450624"/>
            <a:ext cx="6631764" cy="2175721"/>
          </a:xfrm>
          <a:custGeom>
            <a:avLst/>
            <a:gdLst/>
            <a:ahLst/>
            <a:cxnLst/>
            <a:rect r="r" b="b" t="t" l="l"/>
            <a:pathLst>
              <a:path h="2175721" w="6631764">
                <a:moveTo>
                  <a:pt x="0" y="0"/>
                </a:moveTo>
                <a:lnTo>
                  <a:pt x="6631764" y="0"/>
                </a:lnTo>
                <a:lnTo>
                  <a:pt x="6631764" y="2175720"/>
                </a:lnTo>
                <a:lnTo>
                  <a:pt x="0" y="21757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1987263" y="7307749"/>
            <a:ext cx="2867758" cy="2453526"/>
          </a:xfrm>
          <a:custGeom>
            <a:avLst/>
            <a:gdLst/>
            <a:ahLst/>
            <a:cxnLst/>
            <a:rect r="r" b="b" t="t" l="l"/>
            <a:pathLst>
              <a:path h="2453526" w="2867758">
                <a:moveTo>
                  <a:pt x="0" y="0"/>
                </a:moveTo>
                <a:lnTo>
                  <a:pt x="2867758" y="0"/>
                </a:lnTo>
                <a:lnTo>
                  <a:pt x="2867758" y="2453526"/>
                </a:lnTo>
                <a:lnTo>
                  <a:pt x="0" y="24535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2398694" y="913256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Tipos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31835" y="2326822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BST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700940" y="6313352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4437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27439" y="2720472"/>
            <a:ext cx="7623098" cy="1008859"/>
            <a:chOff x="0" y="0"/>
            <a:chExt cx="8335669" cy="11031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7439" y="3626246"/>
            <a:ext cx="7623098" cy="5632054"/>
            <a:chOff x="0" y="0"/>
            <a:chExt cx="18039480" cy="133278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4934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40" y="0"/>
                </a:lnTo>
                <a:lnTo>
                  <a:pt x="367340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532410" y="2720472"/>
            <a:ext cx="7623098" cy="1008859"/>
            <a:chOff x="0" y="0"/>
            <a:chExt cx="8335669" cy="11031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32410" y="3626246"/>
            <a:ext cx="7623098" cy="5632054"/>
            <a:chOff x="0" y="0"/>
            <a:chExt cx="18039480" cy="133278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364262" y="864021"/>
            <a:ext cx="854120" cy="854120"/>
          </a:xfrm>
          <a:custGeom>
            <a:avLst/>
            <a:gdLst/>
            <a:ahLst/>
            <a:cxnLst/>
            <a:rect r="r" b="b" t="t" l="l"/>
            <a:pathLst>
              <a:path h="854120" w="854120">
                <a:moveTo>
                  <a:pt x="0" y="0"/>
                </a:moveTo>
                <a:lnTo>
                  <a:pt x="854120" y="0"/>
                </a:lnTo>
                <a:lnTo>
                  <a:pt x="854120" y="854120"/>
                </a:lnTo>
                <a:lnTo>
                  <a:pt x="0" y="854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258608" y="2897075"/>
            <a:ext cx="603217" cy="603217"/>
          </a:xfrm>
          <a:custGeom>
            <a:avLst/>
            <a:gdLst/>
            <a:ahLst/>
            <a:cxnLst/>
            <a:rect r="r" b="b" t="t" l="l"/>
            <a:pathLst>
              <a:path h="603217" w="603217">
                <a:moveTo>
                  <a:pt x="0" y="0"/>
                </a:moveTo>
                <a:lnTo>
                  <a:pt x="603217" y="0"/>
                </a:lnTo>
                <a:lnTo>
                  <a:pt x="603217" y="603217"/>
                </a:lnTo>
                <a:lnTo>
                  <a:pt x="0" y="603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472797" y="2967764"/>
            <a:ext cx="485735" cy="485735"/>
          </a:xfrm>
          <a:custGeom>
            <a:avLst/>
            <a:gdLst/>
            <a:ahLst/>
            <a:cxnLst/>
            <a:rect r="r" b="b" t="t" l="l"/>
            <a:pathLst>
              <a:path h="485735" w="485735">
                <a:moveTo>
                  <a:pt x="0" y="0"/>
                </a:moveTo>
                <a:lnTo>
                  <a:pt x="485735" y="0"/>
                </a:lnTo>
                <a:lnTo>
                  <a:pt x="485735" y="485735"/>
                </a:lnTo>
                <a:lnTo>
                  <a:pt x="0" y="4857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81062" y="913256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Comparación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4621" y="2811133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Ventajas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49592" y="2811133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Desventajas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67136" y="3781137"/>
            <a:ext cx="6719371" cy="2600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Organiza datos jerárquicamente.</a:t>
            </a:r>
          </a:p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Búsqueda, inserción y eliminación eficientes.</a:t>
            </a:r>
          </a:p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Facilita representación de estructuras complejas.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99468" y="3781137"/>
            <a:ext cx="6893580" cy="312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Requiere más memoria que estructuras lineales.</a:t>
            </a:r>
          </a:p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La eficiencia depende de su balance.</a:t>
            </a:r>
          </a:p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Puede ser difícil de visualizar o depurar.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4437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27439" y="2720472"/>
            <a:ext cx="7623098" cy="1008859"/>
            <a:chOff x="0" y="0"/>
            <a:chExt cx="8335669" cy="11031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7439" y="3626246"/>
            <a:ext cx="7623098" cy="5632054"/>
            <a:chOff x="0" y="0"/>
            <a:chExt cx="18039480" cy="133278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4934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40" y="0"/>
                </a:lnTo>
                <a:lnTo>
                  <a:pt x="367340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532410" y="2720472"/>
            <a:ext cx="7623098" cy="1008859"/>
            <a:chOff x="0" y="0"/>
            <a:chExt cx="8335669" cy="11031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32410" y="3626246"/>
            <a:ext cx="7623098" cy="5632054"/>
            <a:chOff x="0" y="0"/>
            <a:chExt cx="18039480" cy="133278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771465" y="989456"/>
            <a:ext cx="663650" cy="663650"/>
          </a:xfrm>
          <a:custGeom>
            <a:avLst/>
            <a:gdLst/>
            <a:ahLst/>
            <a:cxnLst/>
            <a:rect r="r" b="b" t="t" l="l"/>
            <a:pathLst>
              <a:path h="663650" w="663650">
                <a:moveTo>
                  <a:pt x="0" y="0"/>
                </a:moveTo>
                <a:lnTo>
                  <a:pt x="663651" y="0"/>
                </a:lnTo>
                <a:lnTo>
                  <a:pt x="663651" y="663650"/>
                </a:lnTo>
                <a:lnTo>
                  <a:pt x="0" y="663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949592" y="2811133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Inteligencia Artificial (IA)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849343" y="2922658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4" y="0"/>
                </a:lnTo>
                <a:lnTo>
                  <a:pt x="577634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067974" y="6070089"/>
            <a:ext cx="3269939" cy="3017975"/>
          </a:xfrm>
          <a:custGeom>
            <a:avLst/>
            <a:gdLst/>
            <a:ahLst/>
            <a:cxnLst/>
            <a:rect r="r" b="b" t="t" l="l"/>
            <a:pathLst>
              <a:path h="3017975" w="3269939">
                <a:moveTo>
                  <a:pt x="0" y="0"/>
                </a:moveTo>
                <a:lnTo>
                  <a:pt x="3269939" y="0"/>
                </a:lnTo>
                <a:lnTo>
                  <a:pt x="3269939" y="3017974"/>
                </a:lnTo>
                <a:lnTo>
                  <a:pt x="0" y="3017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868230" y="6250502"/>
            <a:ext cx="4103444" cy="2657148"/>
          </a:xfrm>
          <a:custGeom>
            <a:avLst/>
            <a:gdLst/>
            <a:ahLst/>
            <a:cxnLst/>
            <a:rect r="r" b="b" t="t" l="l"/>
            <a:pathLst>
              <a:path h="2657148" w="4103444">
                <a:moveTo>
                  <a:pt x="0" y="0"/>
                </a:moveTo>
                <a:lnTo>
                  <a:pt x="4103445" y="0"/>
                </a:lnTo>
                <a:lnTo>
                  <a:pt x="4103445" y="2657148"/>
                </a:lnTo>
                <a:lnTo>
                  <a:pt x="0" y="26571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385" t="-7909" r="-29153" b="-1746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481062" y="913256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Aplicaciones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1057" y="2811133"/>
            <a:ext cx="751948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Directorio y Sistemas de Archivos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67136" y="3781137"/>
            <a:ext cx="6719371" cy="207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4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Los árboles se usan para representar carpetas y subcarpetas, permitiendo organizar y acceder a archivos de forma jerárquica.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99468" y="3781137"/>
            <a:ext cx="6893580" cy="2600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En IA se usan árboles de decisión para tomar elecciones lógicas, simulando procesos de pensamiento paso a paso.</a:t>
            </a:r>
          </a:p>
          <a:p>
            <a:pPr algn="just">
              <a:lnSpc>
                <a:spcPts val="4194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5896" y="4570201"/>
            <a:ext cx="15996208" cy="1146598"/>
            <a:chOff x="0" y="0"/>
            <a:chExt cx="17491459" cy="1253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386616" y="0"/>
            <a:ext cx="1901384" cy="1669115"/>
            <a:chOff x="0" y="0"/>
            <a:chExt cx="2535179" cy="222548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535179" cy="2225487"/>
              <a:chOff x="0" y="0"/>
              <a:chExt cx="2569361" cy="225549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31750" y="31750"/>
                <a:ext cx="2505861" cy="2191993"/>
              </a:xfrm>
              <a:custGeom>
                <a:avLst/>
                <a:gdLst/>
                <a:ahLst/>
                <a:cxnLst/>
                <a:rect r="r" b="b" t="t" l="l"/>
                <a:pathLst>
                  <a:path h="2191993" w="2505861">
                    <a:moveTo>
                      <a:pt x="2413151" y="2191993"/>
                    </a:moveTo>
                    <a:lnTo>
                      <a:pt x="92710" y="2191993"/>
                    </a:lnTo>
                    <a:cubicBezTo>
                      <a:pt x="41910" y="2191993"/>
                      <a:pt x="0" y="2150083"/>
                      <a:pt x="0" y="209928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2411881" y="0"/>
                    </a:lnTo>
                    <a:cubicBezTo>
                      <a:pt x="2462681" y="0"/>
                      <a:pt x="2504591" y="41910"/>
                      <a:pt x="2504591" y="92710"/>
                    </a:cubicBezTo>
                    <a:lnTo>
                      <a:pt x="2504591" y="2098013"/>
                    </a:lnTo>
                    <a:cubicBezTo>
                      <a:pt x="2505861" y="2150083"/>
                      <a:pt x="2463951" y="2191993"/>
                      <a:pt x="2413151" y="2191993"/>
                    </a:cubicBezTo>
                    <a:close/>
                  </a:path>
                </a:pathLst>
              </a:custGeom>
              <a:solidFill>
                <a:srgbClr val="DFDFDF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569361" cy="2255494"/>
              </a:xfrm>
              <a:custGeom>
                <a:avLst/>
                <a:gdLst/>
                <a:ahLst/>
                <a:cxnLst/>
                <a:rect r="r" b="b" t="t" l="l"/>
                <a:pathLst>
                  <a:path h="2255494" w="2569361">
                    <a:moveTo>
                      <a:pt x="2444901" y="59690"/>
                    </a:moveTo>
                    <a:cubicBezTo>
                      <a:pt x="2480461" y="59690"/>
                      <a:pt x="2509671" y="88900"/>
                      <a:pt x="2509671" y="124460"/>
                    </a:cubicBezTo>
                    <a:lnTo>
                      <a:pt x="2509671" y="2131033"/>
                    </a:lnTo>
                    <a:cubicBezTo>
                      <a:pt x="2509671" y="2166594"/>
                      <a:pt x="2480461" y="2195803"/>
                      <a:pt x="2444901" y="2195803"/>
                    </a:cubicBezTo>
                    <a:lnTo>
                      <a:pt x="124460" y="2195803"/>
                    </a:lnTo>
                    <a:cubicBezTo>
                      <a:pt x="88900" y="2195803"/>
                      <a:pt x="59690" y="2166594"/>
                      <a:pt x="59690" y="213103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2444901" y="59690"/>
                    </a:lnTo>
                    <a:moveTo>
                      <a:pt x="244490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31033"/>
                    </a:lnTo>
                    <a:cubicBezTo>
                      <a:pt x="0" y="2199613"/>
                      <a:pt x="55880" y="2255494"/>
                      <a:pt x="124460" y="2255494"/>
                    </a:cubicBezTo>
                    <a:lnTo>
                      <a:pt x="2444901" y="2255494"/>
                    </a:lnTo>
                    <a:cubicBezTo>
                      <a:pt x="2513481" y="2255494"/>
                      <a:pt x="2569361" y="2199613"/>
                      <a:pt x="2569361" y="2131033"/>
                    </a:cubicBezTo>
                    <a:lnTo>
                      <a:pt x="2569361" y="124460"/>
                    </a:lnTo>
                    <a:cubicBezTo>
                      <a:pt x="2569361" y="55880"/>
                      <a:pt x="2513481" y="0"/>
                      <a:pt x="2444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57219" y="45250"/>
              <a:ext cx="2425168" cy="2134148"/>
            </a:xfrm>
            <a:custGeom>
              <a:avLst/>
              <a:gdLst/>
              <a:ahLst/>
              <a:cxnLst/>
              <a:rect r="r" b="b" t="t" l="l"/>
              <a:pathLst>
                <a:path h="2134148" w="2425168">
                  <a:moveTo>
                    <a:pt x="0" y="0"/>
                  </a:moveTo>
                  <a:lnTo>
                    <a:pt x="2425168" y="0"/>
                  </a:lnTo>
                  <a:lnTo>
                    <a:pt x="2425168" y="2134148"/>
                  </a:lnTo>
                  <a:lnTo>
                    <a:pt x="0" y="2134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481062" y="465931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Arbol BST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3723" y="132251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96789" y="910033"/>
            <a:ext cx="14694421" cy="1008859"/>
            <a:chOff x="0" y="0"/>
            <a:chExt cx="16067986" cy="110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96789" y="1815807"/>
            <a:ext cx="14694421" cy="3327693"/>
            <a:chOff x="0" y="0"/>
            <a:chExt cx="34773228" cy="78747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34709726" cy="7811231"/>
            </a:xfrm>
            <a:custGeom>
              <a:avLst/>
              <a:gdLst/>
              <a:ahLst/>
              <a:cxnLst/>
              <a:rect r="r" b="b" t="t" l="l"/>
              <a:pathLst>
                <a:path h="7811231" w="34709726">
                  <a:moveTo>
                    <a:pt x="34617019" y="7811231"/>
                  </a:moveTo>
                  <a:lnTo>
                    <a:pt x="92710" y="7811231"/>
                  </a:lnTo>
                  <a:cubicBezTo>
                    <a:pt x="41910" y="7811231"/>
                    <a:pt x="0" y="7769321"/>
                    <a:pt x="0" y="771852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7717251"/>
                  </a:lnTo>
                  <a:cubicBezTo>
                    <a:pt x="34709726" y="7769321"/>
                    <a:pt x="34667819" y="7811231"/>
                    <a:pt x="34617019" y="7811231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773229" cy="7874731"/>
            </a:xfrm>
            <a:custGeom>
              <a:avLst/>
              <a:gdLst/>
              <a:ahLst/>
              <a:cxnLst/>
              <a:rect r="r" b="b" t="t" l="l"/>
              <a:pathLst>
                <a:path h="7874731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7750271"/>
                  </a:lnTo>
                  <a:cubicBezTo>
                    <a:pt x="34713537" y="7785831"/>
                    <a:pt x="34684326" y="7815041"/>
                    <a:pt x="34648769" y="7815041"/>
                  </a:cubicBezTo>
                  <a:lnTo>
                    <a:pt x="124460" y="7815041"/>
                  </a:lnTo>
                  <a:cubicBezTo>
                    <a:pt x="88900" y="7815041"/>
                    <a:pt x="59690" y="7785831"/>
                    <a:pt x="59690" y="775027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750271"/>
                  </a:lnTo>
                  <a:cubicBezTo>
                    <a:pt x="0" y="7818851"/>
                    <a:pt x="55880" y="7874731"/>
                    <a:pt x="124460" y="7874731"/>
                  </a:cubicBezTo>
                  <a:lnTo>
                    <a:pt x="34648769" y="7874731"/>
                  </a:lnTo>
                  <a:cubicBezTo>
                    <a:pt x="34717348" y="7874731"/>
                    <a:pt x="34773229" y="7818851"/>
                    <a:pt x="34773229" y="7750271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541963" y="1153179"/>
            <a:ext cx="522565" cy="522565"/>
          </a:xfrm>
          <a:custGeom>
            <a:avLst/>
            <a:gdLst/>
            <a:ahLst/>
            <a:cxnLst/>
            <a:rect r="r" b="b" t="t" l="l"/>
            <a:pathLst>
              <a:path h="522565" w="522565">
                <a:moveTo>
                  <a:pt x="0" y="0"/>
                </a:moveTo>
                <a:lnTo>
                  <a:pt x="522565" y="0"/>
                </a:lnTo>
                <a:lnTo>
                  <a:pt x="522565" y="522566"/>
                </a:lnTo>
                <a:lnTo>
                  <a:pt x="0" y="522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233060" y="5600700"/>
            <a:ext cx="5754393" cy="3978623"/>
          </a:xfrm>
          <a:custGeom>
            <a:avLst/>
            <a:gdLst/>
            <a:ahLst/>
            <a:cxnLst/>
            <a:rect r="r" b="b" t="t" l="l"/>
            <a:pathLst>
              <a:path h="3978623" w="5754393">
                <a:moveTo>
                  <a:pt x="0" y="0"/>
                </a:moveTo>
                <a:lnTo>
                  <a:pt x="5754393" y="0"/>
                </a:lnTo>
                <a:lnTo>
                  <a:pt x="5754393" y="3978623"/>
                </a:lnTo>
                <a:lnTo>
                  <a:pt x="0" y="39786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38642" y="954657"/>
            <a:ext cx="13368147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Concepto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3723" y="1860591"/>
            <a:ext cx="13993066" cy="293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1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Es un tipo de árbol binario donde, por cada nodo:</a:t>
            </a:r>
          </a:p>
          <a:p>
            <a:pPr algn="just" marL="646829" indent="-323414" lvl="1">
              <a:lnSpc>
                <a:spcPts val="5991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Los valores menores están en su subárbol izquierdo.</a:t>
            </a:r>
          </a:p>
          <a:p>
            <a:pPr algn="just" marL="646829" indent="-323414" lvl="1">
              <a:lnSpc>
                <a:spcPts val="5991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Los valores mayores están en su subárbol derecho.</a:t>
            </a:r>
          </a:p>
          <a:p>
            <a:pPr algn="l">
              <a:lnSpc>
                <a:spcPts val="5991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Esto permite buscar, insertar o eliminar datos de forma eficiente.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6789" y="2584719"/>
            <a:ext cx="14667236" cy="6673581"/>
            <a:chOff x="0" y="0"/>
            <a:chExt cx="34708896" cy="157925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34645395" cy="15729020"/>
            </a:xfrm>
            <a:custGeom>
              <a:avLst/>
              <a:gdLst/>
              <a:ahLst/>
              <a:cxnLst/>
              <a:rect r="r" b="b" t="t" l="l"/>
              <a:pathLst>
                <a:path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08895" cy="15792520"/>
            </a:xfrm>
            <a:custGeom>
              <a:avLst/>
              <a:gdLst/>
              <a:ahLst/>
              <a:cxnLst/>
              <a:rect r="r" b="b" t="t" l="l"/>
              <a:pathLst>
                <a:path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377959" y="963221"/>
            <a:ext cx="603251" cy="603251"/>
          </a:xfrm>
          <a:custGeom>
            <a:avLst/>
            <a:gdLst/>
            <a:ahLst/>
            <a:cxnLst/>
            <a:rect r="r" b="b" t="t" l="l"/>
            <a:pathLst>
              <a:path h="603251" w="603251">
                <a:moveTo>
                  <a:pt x="0" y="0"/>
                </a:moveTo>
                <a:lnTo>
                  <a:pt x="603250" y="0"/>
                </a:lnTo>
                <a:lnTo>
                  <a:pt x="603250" y="603251"/>
                </a:lnTo>
                <a:lnTo>
                  <a:pt x="0" y="603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13723" y="3042530"/>
            <a:ext cx="343148" cy="343148"/>
          </a:xfrm>
          <a:custGeom>
            <a:avLst/>
            <a:gdLst/>
            <a:ahLst/>
            <a:cxnLst/>
            <a:rect r="r" b="b" t="t" l="l"/>
            <a:pathLst>
              <a:path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52972" y="3011507"/>
            <a:ext cx="13120586" cy="261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Estructura jerárquica.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Cada nodo tiene máximo dos hijos.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Permite recorrer los datos en orden ascendente (in-order).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El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rendimiento depende de si está balanceado o no.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67959" y="887021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Caracteristicas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113723" y="3806596"/>
            <a:ext cx="343148" cy="343148"/>
          </a:xfrm>
          <a:custGeom>
            <a:avLst/>
            <a:gdLst/>
            <a:ahLst/>
            <a:cxnLst/>
            <a:rect r="r" b="b" t="t" l="l"/>
            <a:pathLst>
              <a:path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13723" y="4568844"/>
            <a:ext cx="343148" cy="343148"/>
          </a:xfrm>
          <a:custGeom>
            <a:avLst/>
            <a:gdLst/>
            <a:ahLst/>
            <a:cxnLst/>
            <a:rect r="r" b="b" t="t" l="l"/>
            <a:pathLst>
              <a:path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13723" y="5287632"/>
            <a:ext cx="343148" cy="343148"/>
          </a:xfrm>
          <a:custGeom>
            <a:avLst/>
            <a:gdLst/>
            <a:ahLst/>
            <a:cxnLst/>
            <a:rect r="r" b="b" t="t" l="l"/>
            <a:pathLst>
              <a:path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4437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27439" y="2720472"/>
            <a:ext cx="7623098" cy="1008859"/>
            <a:chOff x="0" y="0"/>
            <a:chExt cx="8335669" cy="11031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7439" y="3626246"/>
            <a:ext cx="7623098" cy="5632054"/>
            <a:chOff x="0" y="0"/>
            <a:chExt cx="18039480" cy="133278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4934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40" y="0"/>
                </a:lnTo>
                <a:lnTo>
                  <a:pt x="367340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532410" y="2720472"/>
            <a:ext cx="7623098" cy="1008859"/>
            <a:chOff x="0" y="0"/>
            <a:chExt cx="8335669" cy="11031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32410" y="3626246"/>
            <a:ext cx="7623098" cy="5632054"/>
            <a:chOff x="0" y="0"/>
            <a:chExt cx="18039480" cy="133278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364262" y="864021"/>
            <a:ext cx="854120" cy="854120"/>
          </a:xfrm>
          <a:custGeom>
            <a:avLst/>
            <a:gdLst/>
            <a:ahLst/>
            <a:cxnLst/>
            <a:rect r="r" b="b" t="t" l="l"/>
            <a:pathLst>
              <a:path h="854120" w="854120">
                <a:moveTo>
                  <a:pt x="0" y="0"/>
                </a:moveTo>
                <a:lnTo>
                  <a:pt x="854120" y="0"/>
                </a:lnTo>
                <a:lnTo>
                  <a:pt x="854120" y="854120"/>
                </a:lnTo>
                <a:lnTo>
                  <a:pt x="0" y="854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258608" y="2897075"/>
            <a:ext cx="603217" cy="603217"/>
          </a:xfrm>
          <a:custGeom>
            <a:avLst/>
            <a:gdLst/>
            <a:ahLst/>
            <a:cxnLst/>
            <a:rect r="r" b="b" t="t" l="l"/>
            <a:pathLst>
              <a:path h="603217" w="603217">
                <a:moveTo>
                  <a:pt x="0" y="0"/>
                </a:moveTo>
                <a:lnTo>
                  <a:pt x="603217" y="0"/>
                </a:lnTo>
                <a:lnTo>
                  <a:pt x="603217" y="603217"/>
                </a:lnTo>
                <a:lnTo>
                  <a:pt x="0" y="603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472797" y="2967764"/>
            <a:ext cx="485735" cy="485735"/>
          </a:xfrm>
          <a:custGeom>
            <a:avLst/>
            <a:gdLst/>
            <a:ahLst/>
            <a:cxnLst/>
            <a:rect r="r" b="b" t="t" l="l"/>
            <a:pathLst>
              <a:path h="485735" w="485735">
                <a:moveTo>
                  <a:pt x="0" y="0"/>
                </a:moveTo>
                <a:lnTo>
                  <a:pt x="485735" y="0"/>
                </a:lnTo>
                <a:lnTo>
                  <a:pt x="485735" y="485735"/>
                </a:lnTo>
                <a:lnTo>
                  <a:pt x="0" y="4857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81062" y="913256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Comparación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4621" y="2811133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Ventajas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49592" y="2811133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Desventajas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67136" y="3781137"/>
            <a:ext cx="6719371" cy="312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Búsqueda, inserción y eliminación eficientes.</a:t>
            </a:r>
          </a:p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Recorrido in-order da los datos ordenados.</a:t>
            </a:r>
          </a:p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Base para árboles más avanzados (AVL, Red-Black).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99468" y="3781137"/>
            <a:ext cx="6893580" cy="312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Puede volverse lento si se desbalancea.</a:t>
            </a:r>
          </a:p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No admite duplicados de forma directa.</a:t>
            </a:r>
          </a:p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Requiere manejo extra para balancearlo.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4437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27439" y="2720472"/>
            <a:ext cx="7623098" cy="1008859"/>
            <a:chOff x="0" y="0"/>
            <a:chExt cx="8335669" cy="11031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7439" y="3626246"/>
            <a:ext cx="7623098" cy="5632054"/>
            <a:chOff x="0" y="0"/>
            <a:chExt cx="18039480" cy="133278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4934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40" y="0"/>
                </a:lnTo>
                <a:lnTo>
                  <a:pt x="367340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532410" y="2720472"/>
            <a:ext cx="7623098" cy="1008859"/>
            <a:chOff x="0" y="0"/>
            <a:chExt cx="8335669" cy="11031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32410" y="3626246"/>
            <a:ext cx="7623098" cy="5632054"/>
            <a:chOff x="0" y="0"/>
            <a:chExt cx="18039480" cy="133278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771465" y="989456"/>
            <a:ext cx="663650" cy="663650"/>
          </a:xfrm>
          <a:custGeom>
            <a:avLst/>
            <a:gdLst/>
            <a:ahLst/>
            <a:cxnLst/>
            <a:rect r="r" b="b" t="t" l="l"/>
            <a:pathLst>
              <a:path h="663650" w="663650">
                <a:moveTo>
                  <a:pt x="0" y="0"/>
                </a:moveTo>
                <a:lnTo>
                  <a:pt x="663651" y="0"/>
                </a:lnTo>
                <a:lnTo>
                  <a:pt x="663651" y="663650"/>
                </a:lnTo>
                <a:lnTo>
                  <a:pt x="0" y="663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949592" y="2811133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Índices en bases de datos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849343" y="2922658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4" y="0"/>
                </a:lnTo>
                <a:lnTo>
                  <a:pt x="577634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31057" y="2811133"/>
            <a:ext cx="7519480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Autocompletado de texto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67136" y="2936084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3" y="0"/>
                </a:lnTo>
                <a:lnTo>
                  <a:pt x="577633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532242" y="5515766"/>
            <a:ext cx="3013491" cy="3390178"/>
          </a:xfrm>
          <a:custGeom>
            <a:avLst/>
            <a:gdLst/>
            <a:ahLst/>
            <a:cxnLst/>
            <a:rect r="r" b="b" t="t" l="l"/>
            <a:pathLst>
              <a:path h="3390178" w="3013491">
                <a:moveTo>
                  <a:pt x="0" y="0"/>
                </a:moveTo>
                <a:lnTo>
                  <a:pt x="3013492" y="0"/>
                </a:lnTo>
                <a:lnTo>
                  <a:pt x="3013492" y="3390177"/>
                </a:lnTo>
                <a:lnTo>
                  <a:pt x="0" y="3390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3960" t="-5980" r="-52463" b="-584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342696" y="5733864"/>
            <a:ext cx="4281312" cy="3093967"/>
          </a:xfrm>
          <a:custGeom>
            <a:avLst/>
            <a:gdLst/>
            <a:ahLst/>
            <a:cxnLst/>
            <a:rect r="r" b="b" t="t" l="l"/>
            <a:pathLst>
              <a:path h="3093967" w="4281312">
                <a:moveTo>
                  <a:pt x="0" y="0"/>
                </a:moveTo>
                <a:lnTo>
                  <a:pt x="4281313" y="0"/>
                </a:lnTo>
                <a:lnTo>
                  <a:pt x="4281313" y="3093967"/>
                </a:lnTo>
                <a:lnTo>
                  <a:pt x="0" y="30939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7746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481062" y="913256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Aplicaciones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67136" y="3781137"/>
            <a:ext cx="6719371" cy="102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4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Ayudan a organizar y buscar palabras al momento de escribir.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99468" y="3781137"/>
            <a:ext cx="6893580" cy="102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4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Organiza datos para facilitar el acceso rápido a registros.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6789" y="2584719"/>
            <a:ext cx="14667236" cy="6673581"/>
            <a:chOff x="0" y="0"/>
            <a:chExt cx="34708896" cy="157925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34645395" cy="15729020"/>
            </a:xfrm>
            <a:custGeom>
              <a:avLst/>
              <a:gdLst/>
              <a:ahLst/>
              <a:cxnLst/>
              <a:rect r="r" b="b" t="t" l="l"/>
              <a:pathLst>
                <a:path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08895" cy="15792520"/>
            </a:xfrm>
            <a:custGeom>
              <a:avLst/>
              <a:gdLst/>
              <a:ahLst/>
              <a:cxnLst/>
              <a:rect r="r" b="b" t="t" l="l"/>
              <a:pathLst>
                <a:path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377959" y="963221"/>
            <a:ext cx="603251" cy="603251"/>
          </a:xfrm>
          <a:custGeom>
            <a:avLst/>
            <a:gdLst/>
            <a:ahLst/>
            <a:cxnLst/>
            <a:rect r="r" b="b" t="t" l="l"/>
            <a:pathLst>
              <a:path h="603251" w="603251">
                <a:moveTo>
                  <a:pt x="0" y="0"/>
                </a:moveTo>
                <a:lnTo>
                  <a:pt x="603250" y="0"/>
                </a:lnTo>
                <a:lnTo>
                  <a:pt x="603250" y="603251"/>
                </a:lnTo>
                <a:lnTo>
                  <a:pt x="0" y="603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52972" y="3011507"/>
            <a:ext cx="13120586" cy="559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Arbol: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Un árbol es una estructura de datos jerárquica compuesta por nodos. El nodo superior se llama raíz, y cada nodo puede tener hijos, formando subestructuras similares a ramas.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Nodos: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Se le llama nodo a cada elemento que contiene el árbol 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Nodo Raíz: 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Se refiere al primer nodo de un árbol. Solo un nodo del árbol puede ser la raíz.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Nivel: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El nivel de un nodo es su distancia a la raíz.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071542" y="2954357"/>
            <a:ext cx="451702" cy="451702"/>
          </a:xfrm>
          <a:custGeom>
            <a:avLst/>
            <a:gdLst/>
            <a:ahLst/>
            <a:cxnLst/>
            <a:rect r="r" b="b" t="t" l="l"/>
            <a:pathLst>
              <a:path h="451702" w="451702">
                <a:moveTo>
                  <a:pt x="0" y="0"/>
                </a:moveTo>
                <a:lnTo>
                  <a:pt x="451702" y="0"/>
                </a:lnTo>
                <a:lnTo>
                  <a:pt x="451702" y="451702"/>
                </a:lnTo>
                <a:lnTo>
                  <a:pt x="0" y="4517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67959" y="887021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Conceptos Claves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071542" y="4498760"/>
            <a:ext cx="451702" cy="451702"/>
          </a:xfrm>
          <a:custGeom>
            <a:avLst/>
            <a:gdLst/>
            <a:ahLst/>
            <a:cxnLst/>
            <a:rect r="r" b="b" t="t" l="l"/>
            <a:pathLst>
              <a:path h="451702" w="451702">
                <a:moveTo>
                  <a:pt x="0" y="0"/>
                </a:moveTo>
                <a:lnTo>
                  <a:pt x="451702" y="0"/>
                </a:lnTo>
                <a:lnTo>
                  <a:pt x="451702" y="451702"/>
                </a:lnTo>
                <a:lnTo>
                  <a:pt x="0" y="4517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71542" y="5601282"/>
            <a:ext cx="451702" cy="451702"/>
          </a:xfrm>
          <a:custGeom>
            <a:avLst/>
            <a:gdLst/>
            <a:ahLst/>
            <a:cxnLst/>
            <a:rect r="r" b="b" t="t" l="l"/>
            <a:pathLst>
              <a:path h="451702" w="451702">
                <a:moveTo>
                  <a:pt x="0" y="0"/>
                </a:moveTo>
                <a:lnTo>
                  <a:pt x="451702" y="0"/>
                </a:lnTo>
                <a:lnTo>
                  <a:pt x="451702" y="451702"/>
                </a:lnTo>
                <a:lnTo>
                  <a:pt x="0" y="4517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071542" y="6700684"/>
            <a:ext cx="451702" cy="451702"/>
          </a:xfrm>
          <a:custGeom>
            <a:avLst/>
            <a:gdLst/>
            <a:ahLst/>
            <a:cxnLst/>
            <a:rect r="r" b="b" t="t" l="l"/>
            <a:pathLst>
              <a:path h="451702" w="451702">
                <a:moveTo>
                  <a:pt x="0" y="0"/>
                </a:moveTo>
                <a:lnTo>
                  <a:pt x="451702" y="0"/>
                </a:lnTo>
                <a:lnTo>
                  <a:pt x="451702" y="451701"/>
                </a:lnTo>
                <a:lnTo>
                  <a:pt x="0" y="4517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5896" y="717072"/>
            <a:ext cx="15996208" cy="1146598"/>
            <a:chOff x="0" y="0"/>
            <a:chExt cx="17491459" cy="1253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13723" y="2954357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96789" y="2541876"/>
            <a:ext cx="14694421" cy="844899"/>
            <a:chOff x="0" y="0"/>
            <a:chExt cx="16067986" cy="9238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16004487" cy="860376"/>
            </a:xfrm>
            <a:custGeom>
              <a:avLst/>
              <a:gdLst/>
              <a:ahLst/>
              <a:cxnLst/>
              <a:rect r="r" b="b" t="t" l="l"/>
              <a:pathLst>
                <a:path h="860376" w="16004487">
                  <a:moveTo>
                    <a:pt x="15911776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766396"/>
                  </a:lnTo>
                  <a:cubicBezTo>
                    <a:pt x="16004487" y="818466"/>
                    <a:pt x="15962576" y="860376"/>
                    <a:pt x="15911776" y="860376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7987" cy="923876"/>
            </a:xfrm>
            <a:custGeom>
              <a:avLst/>
              <a:gdLst/>
              <a:ahLst/>
              <a:cxnLst/>
              <a:rect r="r" b="b" t="t" l="l"/>
              <a:pathLst>
                <a:path h="923876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799416"/>
                  </a:lnTo>
                  <a:cubicBezTo>
                    <a:pt x="16008296" y="834976"/>
                    <a:pt x="15979087" y="864186"/>
                    <a:pt x="15943526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15943526" y="923876"/>
                  </a:lnTo>
                  <a:cubicBezTo>
                    <a:pt x="16012106" y="923876"/>
                    <a:pt x="16067987" y="867996"/>
                    <a:pt x="16067987" y="799416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96789" y="3351660"/>
            <a:ext cx="14694421" cy="1582152"/>
            <a:chOff x="0" y="0"/>
            <a:chExt cx="34773228" cy="374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1750" y="31750"/>
              <a:ext cx="34709726" cy="3680542"/>
            </a:xfrm>
            <a:custGeom>
              <a:avLst/>
              <a:gdLst/>
              <a:ahLst/>
              <a:cxnLst/>
              <a:rect r="r" b="b" t="t" l="l"/>
              <a:pathLst>
                <a:path h="3680542" w="34709726">
                  <a:moveTo>
                    <a:pt x="34617019" y="3680542"/>
                  </a:moveTo>
                  <a:lnTo>
                    <a:pt x="92710" y="3680542"/>
                  </a:lnTo>
                  <a:cubicBezTo>
                    <a:pt x="41910" y="3680542"/>
                    <a:pt x="0" y="3638632"/>
                    <a:pt x="0" y="358783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3586562"/>
                  </a:lnTo>
                  <a:cubicBezTo>
                    <a:pt x="34709726" y="3638632"/>
                    <a:pt x="34667819" y="3680542"/>
                    <a:pt x="34617019" y="3680542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773229" cy="3744042"/>
            </a:xfrm>
            <a:custGeom>
              <a:avLst/>
              <a:gdLst/>
              <a:ahLst/>
              <a:cxnLst/>
              <a:rect r="r" b="b" t="t" l="l"/>
              <a:pathLst>
                <a:path h="3744042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3619583"/>
                  </a:lnTo>
                  <a:cubicBezTo>
                    <a:pt x="34713537" y="3655142"/>
                    <a:pt x="34684326" y="3684352"/>
                    <a:pt x="34648769" y="3684352"/>
                  </a:cubicBezTo>
                  <a:lnTo>
                    <a:pt x="124460" y="3684352"/>
                  </a:lnTo>
                  <a:cubicBezTo>
                    <a:pt x="88900" y="3684352"/>
                    <a:pt x="59690" y="3655142"/>
                    <a:pt x="59690" y="361958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619583"/>
                  </a:lnTo>
                  <a:cubicBezTo>
                    <a:pt x="0" y="3688162"/>
                    <a:pt x="55880" y="3744042"/>
                    <a:pt x="124460" y="3744042"/>
                  </a:cubicBezTo>
                  <a:lnTo>
                    <a:pt x="34648769" y="3744042"/>
                  </a:lnTo>
                  <a:cubicBezTo>
                    <a:pt x="34717348" y="3744042"/>
                    <a:pt x="34773229" y="3688162"/>
                    <a:pt x="34773229" y="3619583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447249" y="867442"/>
            <a:ext cx="845857" cy="845857"/>
          </a:xfrm>
          <a:custGeom>
            <a:avLst/>
            <a:gdLst/>
            <a:ahLst/>
            <a:cxnLst/>
            <a:rect r="r" b="b" t="t" l="l"/>
            <a:pathLst>
              <a:path h="845857" w="845857">
                <a:moveTo>
                  <a:pt x="0" y="0"/>
                </a:moveTo>
                <a:lnTo>
                  <a:pt x="845856" y="0"/>
                </a:lnTo>
                <a:lnTo>
                  <a:pt x="845856" y="845857"/>
                </a:lnTo>
                <a:lnTo>
                  <a:pt x="0" y="8458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90640" y="2657573"/>
            <a:ext cx="613506" cy="613506"/>
          </a:xfrm>
          <a:custGeom>
            <a:avLst/>
            <a:gdLst/>
            <a:ahLst/>
            <a:cxnLst/>
            <a:rect r="r" b="b" t="t" l="l"/>
            <a:pathLst>
              <a:path h="613506" w="613506">
                <a:moveTo>
                  <a:pt x="0" y="0"/>
                </a:moveTo>
                <a:lnTo>
                  <a:pt x="613506" y="0"/>
                </a:lnTo>
                <a:lnTo>
                  <a:pt x="613506" y="613506"/>
                </a:lnTo>
                <a:lnTo>
                  <a:pt x="0" y="613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pic>
        <p:nvPicPr>
          <p:cNvPr name="Picture 15" id="15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7080141" y="5489395"/>
            <a:ext cx="4127717" cy="4127717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481062" y="80618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VALOR SEMANAL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46864" y="2669051"/>
            <a:ext cx="4970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4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Pensamiento Crítico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13723" y="3312610"/>
            <a:ext cx="13993066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00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“La eficiencia no es hacer las cosas rápido, sino hacerlas bien, con el menor esfuerzo y el mejor resultado”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1551" y="2442168"/>
            <a:ext cx="14694421" cy="844899"/>
            <a:chOff x="0" y="0"/>
            <a:chExt cx="19592561" cy="112653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592561" cy="1126532"/>
              <a:chOff x="0" y="0"/>
              <a:chExt cx="16067986" cy="9238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31750" y="31750"/>
                <a:ext cx="16004487" cy="860376"/>
              </a:xfrm>
              <a:custGeom>
                <a:avLst/>
                <a:gdLst/>
                <a:ahLst/>
                <a:cxnLst/>
                <a:rect r="r" b="b" t="t" l="l"/>
                <a:pathLst>
                  <a:path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6067987" cy="923876"/>
              </a:xfrm>
              <a:custGeom>
                <a:avLst/>
                <a:gdLst/>
                <a:ahLst/>
                <a:cxnLst/>
                <a:rect r="r" b="b" t="t" l="l"/>
                <a:pathLst>
                  <a:path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1110551" y="191791"/>
              <a:ext cx="662722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44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Videos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91551" y="4552173"/>
            <a:ext cx="14694421" cy="844899"/>
            <a:chOff x="0" y="0"/>
            <a:chExt cx="16067986" cy="923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16004487" cy="860376"/>
            </a:xfrm>
            <a:custGeom>
              <a:avLst/>
              <a:gdLst/>
              <a:ahLst/>
              <a:cxnLst/>
              <a:rect r="r" b="b" t="t" l="l"/>
              <a:pathLst>
                <a:path h="860376" w="16004487">
                  <a:moveTo>
                    <a:pt x="15911776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766396"/>
                  </a:lnTo>
                  <a:cubicBezTo>
                    <a:pt x="16004487" y="818466"/>
                    <a:pt x="15962576" y="860376"/>
                    <a:pt x="15911776" y="860376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67987" cy="923876"/>
            </a:xfrm>
            <a:custGeom>
              <a:avLst/>
              <a:gdLst/>
              <a:ahLst/>
              <a:cxnLst/>
              <a:rect r="r" b="b" t="t" l="l"/>
              <a:pathLst>
                <a:path h="923876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799416"/>
                  </a:lnTo>
                  <a:cubicBezTo>
                    <a:pt x="16008296" y="834976"/>
                    <a:pt x="15979087" y="864186"/>
                    <a:pt x="15943526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15943526" y="923876"/>
                  </a:lnTo>
                  <a:cubicBezTo>
                    <a:pt x="16012106" y="923876"/>
                    <a:pt x="16067987" y="867996"/>
                    <a:pt x="16067987" y="799416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96789" y="3252860"/>
            <a:ext cx="14667236" cy="674186"/>
            <a:chOff x="0" y="0"/>
            <a:chExt cx="34708896" cy="15954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34645395" cy="1531911"/>
            </a:xfrm>
            <a:custGeom>
              <a:avLst/>
              <a:gdLst/>
              <a:ahLst/>
              <a:cxnLst/>
              <a:rect r="r" b="b" t="t" l="l"/>
              <a:pathLst>
                <a:path h="1531911" w="34645395">
                  <a:moveTo>
                    <a:pt x="34552685" y="1531911"/>
                  </a:moveTo>
                  <a:lnTo>
                    <a:pt x="92710" y="1531911"/>
                  </a:lnTo>
                  <a:cubicBezTo>
                    <a:pt x="41910" y="1531911"/>
                    <a:pt x="0" y="1490001"/>
                    <a:pt x="0" y="143920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437931"/>
                  </a:lnTo>
                  <a:cubicBezTo>
                    <a:pt x="34645395" y="1490001"/>
                    <a:pt x="34603485" y="1531911"/>
                    <a:pt x="34552685" y="1531911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08895" cy="1595411"/>
            </a:xfrm>
            <a:custGeom>
              <a:avLst/>
              <a:gdLst/>
              <a:ahLst/>
              <a:cxnLst/>
              <a:rect r="r" b="b" t="t" l="l"/>
              <a:pathLst>
                <a:path h="1595411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470951"/>
                  </a:lnTo>
                  <a:cubicBezTo>
                    <a:pt x="34649206" y="1506511"/>
                    <a:pt x="34619995" y="1535721"/>
                    <a:pt x="34584435" y="1535721"/>
                  </a:cubicBezTo>
                  <a:lnTo>
                    <a:pt x="124460" y="1535721"/>
                  </a:lnTo>
                  <a:cubicBezTo>
                    <a:pt x="88900" y="1535721"/>
                    <a:pt x="59690" y="1506511"/>
                    <a:pt x="59690" y="147095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0951"/>
                  </a:lnTo>
                  <a:cubicBezTo>
                    <a:pt x="0" y="1539531"/>
                    <a:pt x="55880" y="1595411"/>
                    <a:pt x="124460" y="1595411"/>
                  </a:cubicBezTo>
                  <a:lnTo>
                    <a:pt x="34584435" y="1595411"/>
                  </a:lnTo>
                  <a:cubicBezTo>
                    <a:pt x="34653017" y="1595411"/>
                    <a:pt x="34708895" y="1539531"/>
                    <a:pt x="34708895" y="147095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91551" y="5361957"/>
            <a:ext cx="14694421" cy="1433538"/>
            <a:chOff x="0" y="0"/>
            <a:chExt cx="34773228" cy="33923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750" y="31750"/>
              <a:ext cx="34709726" cy="3328859"/>
            </a:xfrm>
            <a:custGeom>
              <a:avLst/>
              <a:gdLst/>
              <a:ahLst/>
              <a:cxnLst/>
              <a:rect r="r" b="b" t="t" l="l"/>
              <a:pathLst>
                <a:path h="3328859" w="34709726">
                  <a:moveTo>
                    <a:pt x="34617019" y="3328859"/>
                  </a:moveTo>
                  <a:lnTo>
                    <a:pt x="92710" y="3328859"/>
                  </a:lnTo>
                  <a:cubicBezTo>
                    <a:pt x="41910" y="3328859"/>
                    <a:pt x="0" y="3286949"/>
                    <a:pt x="0" y="3236149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3234879"/>
                  </a:lnTo>
                  <a:cubicBezTo>
                    <a:pt x="34709726" y="3286949"/>
                    <a:pt x="34667819" y="3328859"/>
                    <a:pt x="34617019" y="3328859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773229" cy="3392359"/>
            </a:xfrm>
            <a:custGeom>
              <a:avLst/>
              <a:gdLst/>
              <a:ahLst/>
              <a:cxnLst/>
              <a:rect r="r" b="b" t="t" l="l"/>
              <a:pathLst>
                <a:path h="3392359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3267899"/>
                  </a:lnTo>
                  <a:cubicBezTo>
                    <a:pt x="34713537" y="3303459"/>
                    <a:pt x="34684326" y="3332669"/>
                    <a:pt x="34648769" y="3332669"/>
                  </a:cubicBezTo>
                  <a:lnTo>
                    <a:pt x="124460" y="3332669"/>
                  </a:lnTo>
                  <a:cubicBezTo>
                    <a:pt x="88900" y="3332669"/>
                    <a:pt x="59690" y="3303459"/>
                    <a:pt x="59690" y="3267899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267899"/>
                  </a:lnTo>
                  <a:cubicBezTo>
                    <a:pt x="0" y="3336479"/>
                    <a:pt x="55880" y="3392359"/>
                    <a:pt x="124460" y="3392359"/>
                  </a:cubicBezTo>
                  <a:lnTo>
                    <a:pt x="34648769" y="3392359"/>
                  </a:lnTo>
                  <a:cubicBezTo>
                    <a:pt x="34717348" y="3392359"/>
                    <a:pt x="34773229" y="3336479"/>
                    <a:pt x="34773229" y="3267899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5896" y="717072"/>
            <a:ext cx="15996208" cy="1146598"/>
            <a:chOff x="0" y="0"/>
            <a:chExt cx="17491459" cy="12537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946487" y="2607466"/>
            <a:ext cx="514303" cy="514303"/>
          </a:xfrm>
          <a:custGeom>
            <a:avLst/>
            <a:gdLst/>
            <a:ahLst/>
            <a:cxnLst/>
            <a:rect r="r" b="b" t="t" l="l"/>
            <a:pathLst>
              <a:path h="514303" w="514303">
                <a:moveTo>
                  <a:pt x="0" y="0"/>
                </a:moveTo>
                <a:lnTo>
                  <a:pt x="514304" y="0"/>
                </a:lnTo>
                <a:lnTo>
                  <a:pt x="514304" y="514303"/>
                </a:lnTo>
                <a:lnTo>
                  <a:pt x="0" y="514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56667" y="3397887"/>
            <a:ext cx="524396" cy="384132"/>
          </a:xfrm>
          <a:custGeom>
            <a:avLst/>
            <a:gdLst/>
            <a:ahLst/>
            <a:cxnLst/>
            <a:rect r="r" b="b" t="t" l="l"/>
            <a:pathLst>
              <a:path h="384132" w="524396">
                <a:moveTo>
                  <a:pt x="0" y="0"/>
                </a:moveTo>
                <a:lnTo>
                  <a:pt x="524395" y="0"/>
                </a:lnTo>
                <a:lnTo>
                  <a:pt x="524395" y="384132"/>
                </a:lnTo>
                <a:lnTo>
                  <a:pt x="0" y="384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178" r="0" b="-18335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56667" y="4746060"/>
            <a:ext cx="628687" cy="502850"/>
          </a:xfrm>
          <a:custGeom>
            <a:avLst/>
            <a:gdLst/>
            <a:ahLst/>
            <a:cxnLst/>
            <a:rect r="r" b="b" t="t" l="l"/>
            <a:pathLst>
              <a:path h="502850" w="628687">
                <a:moveTo>
                  <a:pt x="0" y="0"/>
                </a:moveTo>
                <a:lnTo>
                  <a:pt x="628686" y="0"/>
                </a:lnTo>
                <a:lnTo>
                  <a:pt x="628686" y="502850"/>
                </a:lnTo>
                <a:lnTo>
                  <a:pt x="0" y="502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894" r="0" b="-1213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08812" y="5549688"/>
            <a:ext cx="262198" cy="374394"/>
          </a:xfrm>
          <a:custGeom>
            <a:avLst/>
            <a:gdLst/>
            <a:ahLst/>
            <a:cxnLst/>
            <a:rect r="r" b="b" t="t" l="l"/>
            <a:pathLst>
              <a:path h="374394" w="262198">
                <a:moveTo>
                  <a:pt x="0" y="0"/>
                </a:moveTo>
                <a:lnTo>
                  <a:pt x="262198" y="0"/>
                </a:lnTo>
                <a:lnTo>
                  <a:pt x="262198" y="374394"/>
                </a:lnTo>
                <a:lnTo>
                  <a:pt x="0" y="3743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738" t="-1915" r="-24546" b="-1932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973586" y="870124"/>
            <a:ext cx="840494" cy="840494"/>
          </a:xfrm>
          <a:custGeom>
            <a:avLst/>
            <a:gdLst/>
            <a:ahLst/>
            <a:cxnLst/>
            <a:rect r="r" b="b" t="t" l="l"/>
            <a:pathLst>
              <a:path h="840494" w="840494">
                <a:moveTo>
                  <a:pt x="0" y="0"/>
                </a:moveTo>
                <a:lnTo>
                  <a:pt x="840494" y="0"/>
                </a:lnTo>
                <a:lnTo>
                  <a:pt x="840494" y="840494"/>
                </a:lnTo>
                <a:lnTo>
                  <a:pt x="0" y="8404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710954" y="4679385"/>
            <a:ext cx="4970417" cy="52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4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Libros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27551" y="3286574"/>
            <a:ext cx="13202142" cy="45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 u="sng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  <a:hlinkClick r:id="rId8" tooltip="https://www.youtube.com/watch?v=tBaOQeyXYqg&amp;t=256s"/>
              </a:rPr>
              <a:t>Arboles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18915" y="5408632"/>
            <a:ext cx="13628771" cy="959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Cormen, T. H., Leiserson, C. E., Rivest, R. L., &amp; Stein, C. (2010). Introducción a los algoritmos (3.ª ed., trad. Alfonso Martín Cerdá). Editorial Reverté.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81062" y="80618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REFERENCIAS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5896" y="717072"/>
            <a:ext cx="15996208" cy="1146598"/>
            <a:chOff x="0" y="0"/>
            <a:chExt cx="17491459" cy="1253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21346"/>
          <a:stretch>
            <a:fillRect/>
          </a:stretch>
        </p:blipFill>
        <p:spPr>
          <a:xfrm flipH="false" flipV="false" rot="0">
            <a:off x="5477334" y="3318061"/>
            <a:ext cx="7333332" cy="5155113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4599681" y="851544"/>
            <a:ext cx="877653" cy="877653"/>
          </a:xfrm>
          <a:custGeom>
            <a:avLst/>
            <a:gdLst/>
            <a:ahLst/>
            <a:cxnLst/>
            <a:rect r="r" b="b" t="t" l="l"/>
            <a:pathLst>
              <a:path h="877653" w="877653">
                <a:moveTo>
                  <a:pt x="0" y="0"/>
                </a:moveTo>
                <a:lnTo>
                  <a:pt x="877653" y="0"/>
                </a:lnTo>
                <a:lnTo>
                  <a:pt x="877653" y="877653"/>
                </a:lnTo>
                <a:lnTo>
                  <a:pt x="0" y="877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81062" y="80618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DUDAS/COMENTARIOS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3" tooltip="https://tenor.com/view/gracias-por-su-atenci%C3%B3n-gif-26313656"/>
          </p:cNvPr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5896" y="1371968"/>
            <a:ext cx="15996208" cy="1146598"/>
            <a:chOff x="0" y="0"/>
            <a:chExt cx="17491459" cy="1253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24291" r="0" b="0"/>
          <a:stretch>
            <a:fillRect/>
          </a:stretch>
        </p:blipFill>
        <p:spPr>
          <a:xfrm flipH="false" flipV="false" rot="0">
            <a:off x="4921955" y="3460633"/>
            <a:ext cx="8444090" cy="479468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481062" y="1461080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!Gracias por su Atención!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DAGoZXNdlGQ</dc:identifier>
  <dcterms:modified xsi:type="dcterms:W3CDTF">2011-08-01T06:04:30Z</dcterms:modified>
  <cp:revision>1</cp:revision>
  <dc:title>Semana7</dc:title>
</cp:coreProperties>
</file>