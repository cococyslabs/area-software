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</p:sldIdLst>
  <p:sldSz cy="10287000" cx="18288000"/>
  <p:notesSz cx="6858000" cy="9144000"/>
  <p:embeddedFontLst>
    <p:embeddedFont>
      <p:font typeface="League Spartan"/>
      <p:regular r:id="rId25"/>
      <p:bold r:id="rId26"/>
    </p:embeddedFont>
    <p:embeddedFont>
      <p:font typeface="Raleway Light"/>
      <p:regular r:id="rId27"/>
      <p:bold r:id="rId28"/>
      <p:italic r:id="rId29"/>
      <p:boldItalic r:id="rId30"/>
    </p:embeddedFont>
    <p:embeddedFont>
      <p:font typeface="Open Sans"/>
      <p:bold r:id="rId31"/>
      <p:boldItalic r:id="rId3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r:id="rId33" roundtripDataSignature="AMtx7mhsp5YJc+Wbg3Lve0REpBRRBPrdN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LeagueSpartan-bold.fntdata"/><Relationship Id="rId25" Type="http://schemas.openxmlformats.org/officeDocument/2006/relationships/font" Target="fonts/LeagueSpartan-regular.fntdata"/><Relationship Id="rId28" Type="http://schemas.openxmlformats.org/officeDocument/2006/relationships/font" Target="fonts/RalewayLight-bold.fntdata"/><Relationship Id="rId27" Type="http://schemas.openxmlformats.org/officeDocument/2006/relationships/font" Target="fonts/RalewayLight-regular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RalewayLight-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OpenSans-bold.fntdata"/><Relationship Id="rId30" Type="http://schemas.openxmlformats.org/officeDocument/2006/relationships/font" Target="fonts/RalewayLight-boldItalic.fntdata"/><Relationship Id="rId11" Type="http://schemas.openxmlformats.org/officeDocument/2006/relationships/slide" Target="slides/slide6.xml"/><Relationship Id="rId33" Type="http://customschemas.google.com/relationships/presentationmetadata" Target="metadata"/><Relationship Id="rId10" Type="http://schemas.openxmlformats.org/officeDocument/2006/relationships/slide" Target="slides/slide5.xml"/><Relationship Id="rId32" Type="http://schemas.openxmlformats.org/officeDocument/2006/relationships/font" Target="fonts/OpenSans-boldItalic.fnt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2857500" y="512763"/>
            <a:ext cx="3429000" cy="256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35d06c2da84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g35d06c2da84_0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:notes"/>
          <p:cNvSpPr txBox="1"/>
          <p:nvPr>
            <p:ph idx="1" type="body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" name="Google Shape;96;p1:notes"/>
          <p:cNvSpPr/>
          <p:nvPr>
            <p:ph idx="2" type="sldImg"/>
          </p:nvPr>
        </p:nvSpPr>
        <p:spPr>
          <a:xfrm>
            <a:off x="2857500" y="512763"/>
            <a:ext cx="3429000" cy="256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2:notes"/>
          <p:cNvSpPr txBox="1"/>
          <p:nvPr>
            <p:ph idx="1" type="body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" name="Google Shape;109;p2:notes"/>
          <p:cNvSpPr/>
          <p:nvPr>
            <p:ph idx="2" type="sldImg"/>
          </p:nvPr>
        </p:nvSpPr>
        <p:spPr>
          <a:xfrm>
            <a:off x="2857500" y="512763"/>
            <a:ext cx="3429000" cy="256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3:notes"/>
          <p:cNvSpPr txBox="1"/>
          <p:nvPr>
            <p:ph idx="1" type="body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" name="Google Shape;148;p3:notes"/>
          <p:cNvSpPr/>
          <p:nvPr>
            <p:ph idx="2" type="sldImg"/>
          </p:nvPr>
        </p:nvSpPr>
        <p:spPr>
          <a:xfrm>
            <a:off x="2857500" y="512763"/>
            <a:ext cx="3429000" cy="256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4:notes"/>
          <p:cNvSpPr txBox="1"/>
          <p:nvPr>
            <p:ph idx="1" type="body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" name="Google Shape;158;p4:notes"/>
          <p:cNvSpPr/>
          <p:nvPr>
            <p:ph idx="2" type="sldImg"/>
          </p:nvPr>
        </p:nvSpPr>
        <p:spPr>
          <a:xfrm>
            <a:off x="2857500" y="512763"/>
            <a:ext cx="3429000" cy="256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5:notes"/>
          <p:cNvSpPr txBox="1"/>
          <p:nvPr>
            <p:ph idx="1" type="body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" name="Google Shape;165;p5:notes"/>
          <p:cNvSpPr/>
          <p:nvPr>
            <p:ph idx="2" type="sldImg"/>
          </p:nvPr>
        </p:nvSpPr>
        <p:spPr>
          <a:xfrm>
            <a:off x="2857500" y="512763"/>
            <a:ext cx="3429000" cy="256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6:notes"/>
          <p:cNvSpPr txBox="1"/>
          <p:nvPr>
            <p:ph idx="1" type="body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" name="Google Shape;170;p6:notes"/>
          <p:cNvSpPr/>
          <p:nvPr>
            <p:ph idx="2" type="sldImg"/>
          </p:nvPr>
        </p:nvSpPr>
        <p:spPr>
          <a:xfrm>
            <a:off x="2857500" y="512763"/>
            <a:ext cx="3429000" cy="256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7:notes"/>
          <p:cNvSpPr txBox="1"/>
          <p:nvPr>
            <p:ph idx="1" type="body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" name="Google Shape;180;p7:notes"/>
          <p:cNvSpPr/>
          <p:nvPr>
            <p:ph idx="2" type="sldImg"/>
          </p:nvPr>
        </p:nvSpPr>
        <p:spPr>
          <a:xfrm>
            <a:off x="2857500" y="512763"/>
            <a:ext cx="3429000" cy="256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8:notes"/>
          <p:cNvSpPr txBox="1"/>
          <p:nvPr>
            <p:ph idx="1" type="body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7" name="Google Shape;197;p8:notes"/>
          <p:cNvSpPr/>
          <p:nvPr>
            <p:ph idx="2" type="sldImg"/>
          </p:nvPr>
        </p:nvSpPr>
        <p:spPr>
          <a:xfrm>
            <a:off x="2857500" y="512763"/>
            <a:ext cx="3429000" cy="256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9:notes"/>
          <p:cNvSpPr txBox="1"/>
          <p:nvPr>
            <p:ph idx="1" type="body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4" name="Google Shape;204;p9:notes"/>
          <p:cNvSpPr/>
          <p:nvPr>
            <p:ph idx="2" type="sldImg"/>
          </p:nvPr>
        </p:nvSpPr>
        <p:spPr>
          <a:xfrm>
            <a:off x="2857500" y="512763"/>
            <a:ext cx="3429000" cy="256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10:notes"/>
          <p:cNvSpPr txBox="1"/>
          <p:nvPr>
            <p:ph idx="1" type="body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4" name="Google Shape;214;p10:notes"/>
          <p:cNvSpPr/>
          <p:nvPr>
            <p:ph idx="2" type="sldImg"/>
          </p:nvPr>
        </p:nvSpPr>
        <p:spPr>
          <a:xfrm>
            <a:off x="2857500" y="512763"/>
            <a:ext cx="3429000" cy="256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11:notes"/>
          <p:cNvSpPr txBox="1"/>
          <p:nvPr>
            <p:ph idx="1" type="body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1" name="Google Shape;231;p11:notes"/>
          <p:cNvSpPr/>
          <p:nvPr>
            <p:ph idx="2" type="sldImg"/>
          </p:nvPr>
        </p:nvSpPr>
        <p:spPr>
          <a:xfrm>
            <a:off x="2857500" y="512763"/>
            <a:ext cx="3429000" cy="256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12:notes"/>
          <p:cNvSpPr txBox="1"/>
          <p:nvPr>
            <p:ph idx="1" type="body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8" name="Google Shape;248;p12:notes"/>
          <p:cNvSpPr/>
          <p:nvPr>
            <p:ph idx="2" type="sldImg"/>
          </p:nvPr>
        </p:nvSpPr>
        <p:spPr>
          <a:xfrm>
            <a:off x="2857500" y="512763"/>
            <a:ext cx="3429000" cy="256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13:notes"/>
          <p:cNvSpPr txBox="1"/>
          <p:nvPr>
            <p:ph idx="1" type="body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3" name="Google Shape;253;p13:notes"/>
          <p:cNvSpPr/>
          <p:nvPr>
            <p:ph idx="2" type="sldImg"/>
          </p:nvPr>
        </p:nvSpPr>
        <p:spPr>
          <a:xfrm>
            <a:off x="2857500" y="512763"/>
            <a:ext cx="3429000" cy="256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p14:notes"/>
          <p:cNvSpPr txBox="1"/>
          <p:nvPr>
            <p:ph idx="1" type="body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3" name="Google Shape;263;p14:notes"/>
          <p:cNvSpPr/>
          <p:nvPr>
            <p:ph idx="2" type="sldImg"/>
          </p:nvPr>
        </p:nvSpPr>
        <p:spPr>
          <a:xfrm>
            <a:off x="2857500" y="512763"/>
            <a:ext cx="3429000" cy="256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15:notes"/>
          <p:cNvSpPr txBox="1"/>
          <p:nvPr>
            <p:ph idx="2" type="hdr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273" name="Google Shape;273;p15:notes"/>
          <p:cNvSpPr txBox="1"/>
          <p:nvPr>
            <p:ph idx="10" type="dt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1.7.2013</a:t>
            </a:r>
            <a:endParaRPr/>
          </a:p>
        </p:txBody>
      </p:sp>
      <p:sp>
        <p:nvSpPr>
          <p:cNvPr id="274" name="Google Shape;274;p15:notes"/>
          <p:cNvSpPr/>
          <p:nvPr>
            <p:ph idx="3" type="sldImg"/>
          </p:nvPr>
        </p:nvSpPr>
        <p:spPr>
          <a:xfrm>
            <a:off x="2857500" y="512763"/>
            <a:ext cx="3429000" cy="256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5" name="Google Shape;275;p15:notes"/>
          <p:cNvSpPr txBox="1"/>
          <p:nvPr>
            <p:ph idx="1" type="body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6" name="Google Shape;276;p15:notes"/>
          <p:cNvSpPr txBox="1"/>
          <p:nvPr>
            <p:ph idx="11" type="ftr"/>
          </p:nvPr>
        </p:nvSpPr>
        <p:spPr>
          <a:xfrm>
            <a:off x="0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277" name="Google Shape;277;p15:notes"/>
          <p:cNvSpPr txBox="1"/>
          <p:nvPr>
            <p:ph idx="12" type="sldNum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3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p16:notes"/>
          <p:cNvSpPr txBox="1"/>
          <p:nvPr>
            <p:ph idx="1" type="body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5" name="Google Shape;295;p16:notes"/>
          <p:cNvSpPr/>
          <p:nvPr>
            <p:ph idx="2" type="sldImg"/>
          </p:nvPr>
        </p:nvSpPr>
        <p:spPr>
          <a:xfrm>
            <a:off x="2857500" y="512763"/>
            <a:ext cx="3429000" cy="256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9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p17:notes"/>
          <p:cNvSpPr txBox="1"/>
          <p:nvPr>
            <p:ph idx="1" type="body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1" name="Google Shape;301;p17:notes"/>
          <p:cNvSpPr/>
          <p:nvPr>
            <p:ph idx="2" type="sldImg"/>
          </p:nvPr>
        </p:nvSpPr>
        <p:spPr>
          <a:xfrm>
            <a:off x="2857500" y="512763"/>
            <a:ext cx="3429000" cy="256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5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p18:notes"/>
          <p:cNvSpPr txBox="1"/>
          <p:nvPr>
            <p:ph idx="1" type="body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7" name="Google Shape;307;p18:notes"/>
          <p:cNvSpPr/>
          <p:nvPr>
            <p:ph idx="2" type="sldImg"/>
          </p:nvPr>
        </p:nvSpPr>
        <p:spPr>
          <a:xfrm>
            <a:off x="2857500" y="512763"/>
            <a:ext cx="3429000" cy="256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2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2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21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21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2" name="Google Shape;22;p2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2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2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2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22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8" name="Google Shape;28;p2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2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2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23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23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4" name="Google Shape;34;p2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2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2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2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24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40" name="Google Shape;40;p24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41" name="Google Shape;41;p2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2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2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2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" name="Google Shape;46;p25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7" name="Google Shape;47;p25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8" name="Google Shape;48;p25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9" name="Google Shape;49;p25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50" name="Google Shape;50;p2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2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2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2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2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2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2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27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27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61" name="Google Shape;61;p27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2" name="Google Shape;62;p2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2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2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28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28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28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9" name="Google Shape;69;p2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2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2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2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29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5" name="Google Shape;75;p2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2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30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30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1" name="Google Shape;81;p3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3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3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19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1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1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1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3.png"/><Relationship Id="rId4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5.png"/><Relationship Id="rId4" Type="http://schemas.openxmlformats.org/officeDocument/2006/relationships/image" Target="../media/image3.png"/><Relationship Id="rId5" Type="http://schemas.openxmlformats.org/officeDocument/2006/relationships/image" Target="../media/image6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0.png"/><Relationship Id="rId4" Type="http://schemas.openxmlformats.org/officeDocument/2006/relationships/image" Target="../media/image4.png"/><Relationship Id="rId5" Type="http://schemas.openxmlformats.org/officeDocument/2006/relationships/image" Target="../media/image2.png"/><Relationship Id="rId6" Type="http://schemas.openxmlformats.org/officeDocument/2006/relationships/hyperlink" Target="https://youtu.be/kEGg2WtRFvE" TargetMode="Externa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6.png"/><Relationship Id="rId4" Type="http://schemas.openxmlformats.org/officeDocument/2006/relationships/image" Target="../media/image3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png"/><Relationship Id="rId4" Type="http://schemas.openxmlformats.org/officeDocument/2006/relationships/image" Target="../media/image6.png"/><Relationship Id="rId5" Type="http://schemas.openxmlformats.org/officeDocument/2006/relationships/image" Target="../media/image1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png"/><Relationship Id="rId4" Type="http://schemas.openxmlformats.org/officeDocument/2006/relationships/image" Target="../media/image7.png"/><Relationship Id="rId5" Type="http://schemas.openxmlformats.org/officeDocument/2006/relationships/image" Target="../media/image9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3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7.png"/><Relationship Id="rId4" Type="http://schemas.openxmlformats.org/officeDocument/2006/relationships/image" Target="../media/image12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3.png"/><Relationship Id="rId4" Type="http://schemas.openxmlformats.org/officeDocument/2006/relationships/image" Target="../media/image6.png"/><Relationship Id="rId5" Type="http://schemas.openxmlformats.org/officeDocument/2006/relationships/image" Target="../media/image16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3.png"/><Relationship Id="rId4" Type="http://schemas.openxmlformats.org/officeDocument/2006/relationships/image" Target="../media/image20.jp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5.jpg"/><Relationship Id="rId4" Type="http://schemas.openxmlformats.org/officeDocument/2006/relationships/image" Target="../media/image21.png"/><Relationship Id="rId5" Type="http://schemas.openxmlformats.org/officeDocument/2006/relationships/image" Target="../media/image6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8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35d06c2da84_0_0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38877" l="0" r="0" t="-38887"/>
            </a:stretch>
          </a:blipFill>
          <a:ln>
            <a:noFill/>
          </a:ln>
        </p:spPr>
      </p:sp>
      <p:sp>
        <p:nvSpPr>
          <p:cNvPr id="89" name="Google Shape;89;g35d06c2da84_0_0"/>
          <p:cNvSpPr/>
          <p:nvPr/>
        </p:nvSpPr>
        <p:spPr>
          <a:xfrm>
            <a:off x="19050" y="0"/>
            <a:ext cx="18288000" cy="10260918"/>
          </a:xfrm>
          <a:custGeom>
            <a:rect b="b" l="l" r="r" t="t"/>
            <a:pathLst>
              <a:path extrusionOk="0" h="10260918" w="18288000">
                <a:moveTo>
                  <a:pt x="0" y="0"/>
                </a:moveTo>
                <a:lnTo>
                  <a:pt x="18288000" y="0"/>
                </a:lnTo>
                <a:lnTo>
                  <a:pt x="18288000" y="10260918"/>
                </a:lnTo>
                <a:lnTo>
                  <a:pt x="0" y="1026091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90" name="Google Shape;90;g35d06c2da84_0_0"/>
          <p:cNvSpPr txBox="1"/>
          <p:nvPr/>
        </p:nvSpPr>
        <p:spPr>
          <a:xfrm>
            <a:off x="0" y="5320707"/>
            <a:ext cx="18288000" cy="8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499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Laboratorio Estructuras de Datos </a:t>
            </a:r>
            <a:endParaRPr/>
          </a:p>
        </p:txBody>
      </p:sp>
      <p:sp>
        <p:nvSpPr>
          <p:cNvPr id="91" name="Google Shape;91;g35d06c2da84_0_0"/>
          <p:cNvSpPr txBox="1"/>
          <p:nvPr/>
        </p:nvSpPr>
        <p:spPr>
          <a:xfrm>
            <a:off x="3221750" y="6388899"/>
            <a:ext cx="81153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1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999"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b="1" i="0" lang="en-US" sz="3999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Aux.</a:t>
            </a:r>
            <a:endParaRPr/>
          </a:p>
        </p:txBody>
      </p:sp>
      <p:sp>
        <p:nvSpPr>
          <p:cNvPr id="92" name="Google Shape;92;g35d06c2da84_0_0"/>
          <p:cNvSpPr txBox="1"/>
          <p:nvPr/>
        </p:nvSpPr>
        <p:spPr>
          <a:xfrm>
            <a:off x="14269539" y="2363391"/>
            <a:ext cx="36945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5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00/00/0000</a:t>
            </a:r>
            <a:endParaRPr/>
          </a:p>
        </p:txBody>
      </p:sp>
      <p:sp>
        <p:nvSpPr>
          <p:cNvPr id="93" name="Google Shape;93;g35d06c2da84_0_0"/>
          <p:cNvSpPr txBox="1"/>
          <p:nvPr/>
        </p:nvSpPr>
        <p:spPr>
          <a:xfrm>
            <a:off x="14269539" y="3097188"/>
            <a:ext cx="36945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5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17:20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041C4D"/>
            </a:gs>
            <a:gs pos="100000">
              <a:srgbClr val="000000"/>
            </a:gs>
          </a:gsLst>
          <a:lin ang="0" scaled="0"/>
        </a:gradFill>
      </p:bgPr>
    </p:bg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"/>
          <p:cNvSpPr/>
          <p:nvPr/>
        </p:nvSpPr>
        <p:spPr>
          <a:xfrm>
            <a:off x="12541309" y="0"/>
            <a:ext cx="5746691" cy="1711780"/>
          </a:xfrm>
          <a:custGeom>
            <a:rect b="b" l="l" r="r" t="t"/>
            <a:pathLst>
              <a:path extrusionOk="0" h="1711780" w="5746691">
                <a:moveTo>
                  <a:pt x="0" y="0"/>
                </a:moveTo>
                <a:lnTo>
                  <a:pt x="5746691" y="0"/>
                </a:lnTo>
                <a:lnTo>
                  <a:pt x="5746691" y="1711780"/>
                </a:lnTo>
                <a:lnTo>
                  <a:pt x="0" y="171178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99" name="Google Shape;99;p1"/>
          <p:cNvSpPr txBox="1"/>
          <p:nvPr/>
        </p:nvSpPr>
        <p:spPr>
          <a:xfrm>
            <a:off x="1028700" y="7929243"/>
            <a:ext cx="7718392" cy="86363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000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ESTRUCTURAS DE DATOS</a:t>
            </a:r>
            <a:endParaRPr/>
          </a:p>
        </p:txBody>
      </p:sp>
      <p:sp>
        <p:nvSpPr>
          <p:cNvPr id="100" name="Google Shape;100;p1"/>
          <p:cNvSpPr txBox="1"/>
          <p:nvPr/>
        </p:nvSpPr>
        <p:spPr>
          <a:xfrm>
            <a:off x="1324438" y="4090229"/>
            <a:ext cx="15934862" cy="156661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200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TABLA HASH - BLOCKCHAIN</a:t>
            </a:r>
            <a:endParaRPr/>
          </a:p>
        </p:txBody>
      </p:sp>
      <p:sp>
        <p:nvSpPr>
          <p:cNvPr id="101" name="Google Shape;101;p1"/>
          <p:cNvSpPr txBox="1"/>
          <p:nvPr/>
        </p:nvSpPr>
        <p:spPr>
          <a:xfrm>
            <a:off x="1063303" y="8745251"/>
            <a:ext cx="6981379" cy="4222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99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Escuela de Ingenieria de Ciencias Y Sistemas</a:t>
            </a:r>
            <a:endParaRPr/>
          </a:p>
        </p:txBody>
      </p:sp>
      <p:sp>
        <p:nvSpPr>
          <p:cNvPr id="102" name="Google Shape;102;p1"/>
          <p:cNvSpPr txBox="1"/>
          <p:nvPr/>
        </p:nvSpPr>
        <p:spPr>
          <a:xfrm>
            <a:off x="1028700" y="9210675"/>
            <a:ext cx="3525292" cy="4222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99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Facultad de Ingenieria</a:t>
            </a:r>
            <a:endParaRPr/>
          </a:p>
        </p:txBody>
      </p:sp>
      <p:sp>
        <p:nvSpPr>
          <p:cNvPr id="103" name="Google Shape;103;p1"/>
          <p:cNvSpPr txBox="1"/>
          <p:nvPr/>
        </p:nvSpPr>
        <p:spPr>
          <a:xfrm>
            <a:off x="1028700" y="9585325"/>
            <a:ext cx="6407944" cy="4222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99" u="none" cap="none" strike="noStrik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Universidad de San Carlos de Guatemala</a:t>
            </a:r>
            <a:endParaRPr/>
          </a:p>
        </p:txBody>
      </p:sp>
      <p:sp>
        <p:nvSpPr>
          <p:cNvPr id="104" name="Google Shape;104;p1"/>
          <p:cNvSpPr/>
          <p:nvPr/>
        </p:nvSpPr>
        <p:spPr>
          <a:xfrm>
            <a:off x="7372862" y="2318984"/>
            <a:ext cx="3799594" cy="678844"/>
          </a:xfrm>
          <a:custGeom>
            <a:rect b="b" l="l" r="r" t="t"/>
            <a:pathLst>
              <a:path extrusionOk="0" h="678844" w="3799594">
                <a:moveTo>
                  <a:pt x="0" y="0"/>
                </a:moveTo>
                <a:lnTo>
                  <a:pt x="3799594" y="0"/>
                </a:lnTo>
                <a:lnTo>
                  <a:pt x="3799594" y="678844"/>
                </a:lnTo>
                <a:lnTo>
                  <a:pt x="0" y="67884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05" name="Google Shape;105;p1"/>
          <p:cNvSpPr/>
          <p:nvPr/>
        </p:nvSpPr>
        <p:spPr>
          <a:xfrm>
            <a:off x="0" y="0"/>
            <a:ext cx="3513477" cy="1884501"/>
          </a:xfrm>
          <a:custGeom>
            <a:rect b="b" l="l" r="r" t="t"/>
            <a:pathLst>
              <a:path extrusionOk="0" h="1884501" w="3513477">
                <a:moveTo>
                  <a:pt x="0" y="0"/>
                </a:moveTo>
                <a:lnTo>
                  <a:pt x="3513477" y="0"/>
                </a:lnTo>
                <a:lnTo>
                  <a:pt x="3513477" y="1884501"/>
                </a:lnTo>
                <a:lnTo>
                  <a:pt x="0" y="188450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06" name="Google Shape;106;p1"/>
          <p:cNvSpPr/>
          <p:nvPr/>
        </p:nvSpPr>
        <p:spPr>
          <a:xfrm>
            <a:off x="14774523" y="8413447"/>
            <a:ext cx="3513477" cy="1884501"/>
          </a:xfrm>
          <a:custGeom>
            <a:rect b="b" l="l" r="r" t="t"/>
            <a:pathLst>
              <a:path extrusionOk="0" h="1884501" w="3513477">
                <a:moveTo>
                  <a:pt x="0" y="0"/>
                </a:moveTo>
                <a:lnTo>
                  <a:pt x="3513477" y="0"/>
                </a:lnTo>
                <a:lnTo>
                  <a:pt x="3513477" y="1884501"/>
                </a:lnTo>
                <a:lnTo>
                  <a:pt x="0" y="188450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041C4D"/>
            </a:gs>
            <a:gs pos="100000">
              <a:srgbClr val="3B616F"/>
            </a:gs>
          </a:gsLst>
          <a:lin ang="0" scaled="0"/>
        </a:gradFill>
      </p:bgPr>
    </p:bg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1" name="Google Shape;111;p2"/>
          <p:cNvGrpSpPr/>
          <p:nvPr/>
        </p:nvGrpSpPr>
        <p:grpSpPr>
          <a:xfrm>
            <a:off x="176619" y="4520484"/>
            <a:ext cx="4613551" cy="845385"/>
            <a:chOff x="0" y="-76200"/>
            <a:chExt cx="1964221" cy="359923"/>
          </a:xfrm>
        </p:grpSpPr>
        <p:sp>
          <p:nvSpPr>
            <p:cNvPr id="112" name="Google Shape;112;p2"/>
            <p:cNvSpPr/>
            <p:nvPr/>
          </p:nvSpPr>
          <p:spPr>
            <a:xfrm>
              <a:off x="0" y="0"/>
              <a:ext cx="1964221" cy="283723"/>
            </a:xfrm>
            <a:custGeom>
              <a:rect b="b" l="l" r="r" t="t"/>
              <a:pathLst>
                <a:path extrusionOk="0" h="283723" w="1964221">
                  <a:moveTo>
                    <a:pt x="1761021" y="0"/>
                  </a:moveTo>
                  <a:lnTo>
                    <a:pt x="0" y="0"/>
                  </a:lnTo>
                  <a:lnTo>
                    <a:pt x="0" y="283723"/>
                  </a:lnTo>
                  <a:lnTo>
                    <a:pt x="1761021" y="283723"/>
                  </a:lnTo>
                  <a:lnTo>
                    <a:pt x="1964221" y="141862"/>
                  </a:lnTo>
                  <a:lnTo>
                    <a:pt x="176102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113" name="Google Shape;113;p2"/>
            <p:cNvSpPr txBox="1"/>
            <p:nvPr/>
          </p:nvSpPr>
          <p:spPr>
            <a:xfrm>
              <a:off x="0" y="-76200"/>
              <a:ext cx="1849921" cy="35992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801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799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FORO 10</a:t>
              </a:r>
              <a:endParaRPr/>
            </a:p>
          </p:txBody>
        </p:sp>
      </p:grpSp>
      <p:sp>
        <p:nvSpPr>
          <p:cNvPr id="114" name="Google Shape;114;p2"/>
          <p:cNvSpPr/>
          <p:nvPr/>
        </p:nvSpPr>
        <p:spPr>
          <a:xfrm>
            <a:off x="878654" y="4740441"/>
            <a:ext cx="453358" cy="550094"/>
          </a:xfrm>
          <a:custGeom>
            <a:rect b="b" l="l" r="r" t="t"/>
            <a:pathLst>
              <a:path extrusionOk="0" h="550094" w="453358">
                <a:moveTo>
                  <a:pt x="0" y="0"/>
                </a:moveTo>
                <a:lnTo>
                  <a:pt x="453359" y="0"/>
                </a:lnTo>
                <a:lnTo>
                  <a:pt x="453359" y="550094"/>
                </a:lnTo>
                <a:lnTo>
                  <a:pt x="0" y="55009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115" name="Google Shape;115;p2"/>
          <p:cNvGrpSpPr/>
          <p:nvPr/>
        </p:nvGrpSpPr>
        <p:grpSpPr>
          <a:xfrm>
            <a:off x="1866989" y="3013983"/>
            <a:ext cx="4115190" cy="1556484"/>
            <a:chOff x="0" y="-76200"/>
            <a:chExt cx="1083836" cy="409938"/>
          </a:xfrm>
        </p:grpSpPr>
        <p:sp>
          <p:nvSpPr>
            <p:cNvPr id="116" name="Google Shape;116;p2"/>
            <p:cNvSpPr/>
            <p:nvPr/>
          </p:nvSpPr>
          <p:spPr>
            <a:xfrm>
              <a:off x="0" y="0"/>
              <a:ext cx="1083836" cy="333738"/>
            </a:xfrm>
            <a:custGeom>
              <a:rect b="b" l="l" r="r" t="t"/>
              <a:pathLst>
                <a:path extrusionOk="0" h="333738" w="1083836">
                  <a:moveTo>
                    <a:pt x="880636" y="0"/>
                  </a:moveTo>
                  <a:lnTo>
                    <a:pt x="0" y="0"/>
                  </a:lnTo>
                  <a:lnTo>
                    <a:pt x="0" y="333738"/>
                  </a:lnTo>
                  <a:lnTo>
                    <a:pt x="880636" y="333738"/>
                  </a:lnTo>
                  <a:lnTo>
                    <a:pt x="1083836" y="166869"/>
                  </a:lnTo>
                  <a:lnTo>
                    <a:pt x="88063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117" name="Google Shape;117;p2"/>
            <p:cNvSpPr txBox="1"/>
            <p:nvPr/>
          </p:nvSpPr>
          <p:spPr>
            <a:xfrm>
              <a:off x="0" y="-76200"/>
              <a:ext cx="969536" cy="40993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801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799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RECORDATORIOS</a:t>
              </a:r>
              <a:endParaRPr/>
            </a:p>
          </p:txBody>
        </p:sp>
      </p:grpSp>
      <p:sp>
        <p:nvSpPr>
          <p:cNvPr id="118" name="Google Shape;118;p2"/>
          <p:cNvSpPr/>
          <p:nvPr/>
        </p:nvSpPr>
        <p:spPr>
          <a:xfrm>
            <a:off x="651754" y="3429735"/>
            <a:ext cx="753892" cy="872928"/>
          </a:xfrm>
          <a:custGeom>
            <a:rect b="b" l="l" r="r" t="t"/>
            <a:pathLst>
              <a:path extrusionOk="0" h="872928" w="753892">
                <a:moveTo>
                  <a:pt x="0" y="0"/>
                </a:moveTo>
                <a:lnTo>
                  <a:pt x="753892" y="0"/>
                </a:lnTo>
                <a:lnTo>
                  <a:pt x="753892" y="872927"/>
                </a:lnTo>
                <a:lnTo>
                  <a:pt x="0" y="87292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119" name="Google Shape;119;p2"/>
          <p:cNvGrpSpPr/>
          <p:nvPr/>
        </p:nvGrpSpPr>
        <p:grpSpPr>
          <a:xfrm>
            <a:off x="651754" y="-320555"/>
            <a:ext cx="7251050" cy="3052155"/>
            <a:chOff x="0" y="-95250"/>
            <a:chExt cx="9668066" cy="4069539"/>
          </a:xfrm>
        </p:grpSpPr>
        <p:sp>
          <p:nvSpPr>
            <p:cNvPr id="120" name="Google Shape;120;p2"/>
            <p:cNvSpPr txBox="1"/>
            <p:nvPr/>
          </p:nvSpPr>
          <p:spPr>
            <a:xfrm>
              <a:off x="0" y="1005752"/>
              <a:ext cx="9668066" cy="296853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5000" u="none" cap="none" strike="noStrike">
                  <a:solidFill>
                    <a:srgbClr val="FFFFFF"/>
                  </a:solidFill>
                  <a:latin typeface="Open Sans"/>
                  <a:ea typeface="Open Sans"/>
                  <a:cs typeface="Open Sans"/>
                  <a:sym typeface="Open Sans"/>
                </a:rPr>
                <a:t>Agenda</a:t>
              </a:r>
              <a:endParaRPr/>
            </a:p>
          </p:txBody>
        </p:sp>
        <p:sp>
          <p:nvSpPr>
            <p:cNvPr id="121" name="Google Shape;121;p2"/>
            <p:cNvSpPr txBox="1"/>
            <p:nvPr/>
          </p:nvSpPr>
          <p:spPr>
            <a:xfrm>
              <a:off x="0" y="-95250"/>
              <a:ext cx="9668066" cy="92735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3185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22" name="Google Shape;122;p2"/>
          <p:cNvGrpSpPr/>
          <p:nvPr/>
        </p:nvGrpSpPr>
        <p:grpSpPr>
          <a:xfrm>
            <a:off x="9871138" y="-202574"/>
            <a:ext cx="8416862" cy="2901791"/>
            <a:chOff x="0" y="-76200"/>
            <a:chExt cx="11222483" cy="3869055"/>
          </a:xfrm>
        </p:grpSpPr>
        <p:sp>
          <p:nvSpPr>
            <p:cNvPr id="123" name="Google Shape;123;p2"/>
            <p:cNvSpPr txBox="1"/>
            <p:nvPr/>
          </p:nvSpPr>
          <p:spPr>
            <a:xfrm>
              <a:off x="0" y="824318"/>
              <a:ext cx="11222483" cy="296853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5000" u="none" cap="none" strike="noStrike">
                  <a:solidFill>
                    <a:srgbClr val="FFFFFF"/>
                  </a:solidFill>
                  <a:latin typeface="Open Sans"/>
                  <a:ea typeface="Open Sans"/>
                  <a:cs typeface="Open Sans"/>
                  <a:sym typeface="Open Sans"/>
                </a:rPr>
                <a:t>Recursos</a:t>
              </a:r>
              <a:endParaRPr/>
            </a:p>
          </p:txBody>
        </p:sp>
        <p:sp>
          <p:nvSpPr>
            <p:cNvPr id="124" name="Google Shape;124;p2"/>
            <p:cNvSpPr txBox="1"/>
            <p:nvPr/>
          </p:nvSpPr>
          <p:spPr>
            <a:xfrm>
              <a:off x="0" y="-76200"/>
              <a:ext cx="11222483" cy="74754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256944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25" name="Google Shape;125;p2"/>
          <p:cNvGrpSpPr/>
          <p:nvPr/>
        </p:nvGrpSpPr>
        <p:grpSpPr>
          <a:xfrm>
            <a:off x="176619" y="5444302"/>
            <a:ext cx="4613551" cy="845385"/>
            <a:chOff x="0" y="-76200"/>
            <a:chExt cx="1964221" cy="359923"/>
          </a:xfrm>
        </p:grpSpPr>
        <p:sp>
          <p:nvSpPr>
            <p:cNvPr id="126" name="Google Shape;126;p2"/>
            <p:cNvSpPr/>
            <p:nvPr/>
          </p:nvSpPr>
          <p:spPr>
            <a:xfrm>
              <a:off x="0" y="0"/>
              <a:ext cx="1964221" cy="283723"/>
            </a:xfrm>
            <a:custGeom>
              <a:rect b="b" l="l" r="r" t="t"/>
              <a:pathLst>
                <a:path extrusionOk="0" h="283723" w="1964221">
                  <a:moveTo>
                    <a:pt x="1761021" y="0"/>
                  </a:moveTo>
                  <a:lnTo>
                    <a:pt x="0" y="0"/>
                  </a:lnTo>
                  <a:lnTo>
                    <a:pt x="0" y="283723"/>
                  </a:lnTo>
                  <a:lnTo>
                    <a:pt x="1761021" y="283723"/>
                  </a:lnTo>
                  <a:lnTo>
                    <a:pt x="1964221" y="141862"/>
                  </a:lnTo>
                  <a:lnTo>
                    <a:pt x="176102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127" name="Google Shape;127;p2"/>
            <p:cNvSpPr txBox="1"/>
            <p:nvPr/>
          </p:nvSpPr>
          <p:spPr>
            <a:xfrm>
              <a:off x="0" y="-76200"/>
              <a:ext cx="1849921" cy="35992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801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799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Dudas</a:t>
              </a:r>
              <a:endParaRPr/>
            </a:p>
          </p:txBody>
        </p:sp>
      </p:grpSp>
      <p:grpSp>
        <p:nvGrpSpPr>
          <p:cNvPr id="128" name="Google Shape;128;p2"/>
          <p:cNvGrpSpPr/>
          <p:nvPr/>
        </p:nvGrpSpPr>
        <p:grpSpPr>
          <a:xfrm>
            <a:off x="176619" y="6425875"/>
            <a:ext cx="4613551" cy="845385"/>
            <a:chOff x="0" y="-76200"/>
            <a:chExt cx="1964221" cy="359923"/>
          </a:xfrm>
        </p:grpSpPr>
        <p:sp>
          <p:nvSpPr>
            <p:cNvPr id="129" name="Google Shape;129;p2"/>
            <p:cNvSpPr/>
            <p:nvPr/>
          </p:nvSpPr>
          <p:spPr>
            <a:xfrm>
              <a:off x="0" y="0"/>
              <a:ext cx="1964221" cy="283723"/>
            </a:xfrm>
            <a:custGeom>
              <a:rect b="b" l="l" r="r" t="t"/>
              <a:pathLst>
                <a:path extrusionOk="0" h="283723" w="1964221">
                  <a:moveTo>
                    <a:pt x="1761021" y="0"/>
                  </a:moveTo>
                  <a:lnTo>
                    <a:pt x="0" y="0"/>
                  </a:lnTo>
                  <a:lnTo>
                    <a:pt x="0" y="283723"/>
                  </a:lnTo>
                  <a:lnTo>
                    <a:pt x="1761021" y="283723"/>
                  </a:lnTo>
                  <a:lnTo>
                    <a:pt x="1964221" y="141862"/>
                  </a:lnTo>
                  <a:lnTo>
                    <a:pt x="176102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130" name="Google Shape;130;p2"/>
            <p:cNvSpPr txBox="1"/>
            <p:nvPr/>
          </p:nvSpPr>
          <p:spPr>
            <a:xfrm>
              <a:off x="0" y="-76200"/>
              <a:ext cx="1849921" cy="35992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801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799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Tabla Hash</a:t>
              </a:r>
              <a:endParaRPr/>
            </a:p>
          </p:txBody>
        </p:sp>
      </p:grpSp>
      <p:grpSp>
        <p:nvGrpSpPr>
          <p:cNvPr id="131" name="Google Shape;131;p2"/>
          <p:cNvGrpSpPr/>
          <p:nvPr/>
        </p:nvGrpSpPr>
        <p:grpSpPr>
          <a:xfrm>
            <a:off x="176619" y="7349457"/>
            <a:ext cx="4613551" cy="839504"/>
            <a:chOff x="0" y="-76200"/>
            <a:chExt cx="1964221" cy="357419"/>
          </a:xfrm>
        </p:grpSpPr>
        <p:sp>
          <p:nvSpPr>
            <p:cNvPr id="132" name="Google Shape;132;p2"/>
            <p:cNvSpPr/>
            <p:nvPr/>
          </p:nvSpPr>
          <p:spPr>
            <a:xfrm>
              <a:off x="0" y="0"/>
              <a:ext cx="1964221" cy="281219"/>
            </a:xfrm>
            <a:custGeom>
              <a:rect b="b" l="l" r="r" t="t"/>
              <a:pathLst>
                <a:path extrusionOk="0" h="281219" w="1964221">
                  <a:moveTo>
                    <a:pt x="1761021" y="0"/>
                  </a:moveTo>
                  <a:lnTo>
                    <a:pt x="0" y="0"/>
                  </a:lnTo>
                  <a:lnTo>
                    <a:pt x="0" y="281219"/>
                  </a:lnTo>
                  <a:lnTo>
                    <a:pt x="1761021" y="281219"/>
                  </a:lnTo>
                  <a:lnTo>
                    <a:pt x="1964221" y="140610"/>
                  </a:lnTo>
                  <a:lnTo>
                    <a:pt x="176102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133" name="Google Shape;133;p2"/>
            <p:cNvSpPr txBox="1"/>
            <p:nvPr/>
          </p:nvSpPr>
          <p:spPr>
            <a:xfrm>
              <a:off x="0" y="-76200"/>
              <a:ext cx="1849921" cy="35741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801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799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Blockchain</a:t>
              </a:r>
              <a:endParaRPr/>
            </a:p>
          </p:txBody>
        </p:sp>
      </p:grpSp>
      <p:grpSp>
        <p:nvGrpSpPr>
          <p:cNvPr id="134" name="Google Shape;134;p2"/>
          <p:cNvGrpSpPr/>
          <p:nvPr/>
        </p:nvGrpSpPr>
        <p:grpSpPr>
          <a:xfrm>
            <a:off x="176619" y="8412915"/>
            <a:ext cx="4613551" cy="845385"/>
            <a:chOff x="0" y="-76200"/>
            <a:chExt cx="1964221" cy="359923"/>
          </a:xfrm>
        </p:grpSpPr>
        <p:sp>
          <p:nvSpPr>
            <p:cNvPr id="135" name="Google Shape;135;p2"/>
            <p:cNvSpPr/>
            <p:nvPr/>
          </p:nvSpPr>
          <p:spPr>
            <a:xfrm>
              <a:off x="0" y="0"/>
              <a:ext cx="1964221" cy="283723"/>
            </a:xfrm>
            <a:custGeom>
              <a:rect b="b" l="l" r="r" t="t"/>
              <a:pathLst>
                <a:path extrusionOk="0" h="283723" w="1964221">
                  <a:moveTo>
                    <a:pt x="1761021" y="0"/>
                  </a:moveTo>
                  <a:lnTo>
                    <a:pt x="0" y="0"/>
                  </a:lnTo>
                  <a:lnTo>
                    <a:pt x="0" y="283723"/>
                  </a:lnTo>
                  <a:lnTo>
                    <a:pt x="1761021" y="283723"/>
                  </a:lnTo>
                  <a:lnTo>
                    <a:pt x="1964221" y="141862"/>
                  </a:lnTo>
                  <a:lnTo>
                    <a:pt x="176102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136" name="Google Shape;136;p2"/>
            <p:cNvSpPr txBox="1"/>
            <p:nvPr/>
          </p:nvSpPr>
          <p:spPr>
            <a:xfrm>
              <a:off x="0" y="-76200"/>
              <a:ext cx="1849921" cy="35992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801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799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Ejemplo</a:t>
              </a:r>
              <a:endParaRPr/>
            </a:p>
          </p:txBody>
        </p:sp>
      </p:grpSp>
      <p:sp>
        <p:nvSpPr>
          <p:cNvPr id="137" name="Google Shape;137;p2"/>
          <p:cNvSpPr/>
          <p:nvPr/>
        </p:nvSpPr>
        <p:spPr>
          <a:xfrm>
            <a:off x="878654" y="5623280"/>
            <a:ext cx="453358" cy="550094"/>
          </a:xfrm>
          <a:custGeom>
            <a:rect b="b" l="l" r="r" t="t"/>
            <a:pathLst>
              <a:path extrusionOk="0" h="550094" w="453358">
                <a:moveTo>
                  <a:pt x="0" y="0"/>
                </a:moveTo>
                <a:lnTo>
                  <a:pt x="453359" y="0"/>
                </a:lnTo>
                <a:lnTo>
                  <a:pt x="453359" y="550094"/>
                </a:lnTo>
                <a:lnTo>
                  <a:pt x="0" y="55009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38" name="Google Shape;138;p2"/>
          <p:cNvSpPr/>
          <p:nvPr/>
        </p:nvSpPr>
        <p:spPr>
          <a:xfrm>
            <a:off x="878654" y="6604853"/>
            <a:ext cx="453358" cy="550094"/>
          </a:xfrm>
          <a:custGeom>
            <a:rect b="b" l="l" r="r" t="t"/>
            <a:pathLst>
              <a:path extrusionOk="0" h="550094" w="453358">
                <a:moveTo>
                  <a:pt x="0" y="0"/>
                </a:moveTo>
                <a:lnTo>
                  <a:pt x="453359" y="0"/>
                </a:lnTo>
                <a:lnTo>
                  <a:pt x="453359" y="550094"/>
                </a:lnTo>
                <a:lnTo>
                  <a:pt x="0" y="55009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39" name="Google Shape;139;p2"/>
          <p:cNvSpPr/>
          <p:nvPr/>
        </p:nvSpPr>
        <p:spPr>
          <a:xfrm>
            <a:off x="878654" y="7604635"/>
            <a:ext cx="453358" cy="550094"/>
          </a:xfrm>
          <a:custGeom>
            <a:rect b="b" l="l" r="r" t="t"/>
            <a:pathLst>
              <a:path extrusionOk="0" h="550094" w="453358">
                <a:moveTo>
                  <a:pt x="0" y="0"/>
                </a:moveTo>
                <a:lnTo>
                  <a:pt x="453359" y="0"/>
                </a:lnTo>
                <a:lnTo>
                  <a:pt x="453359" y="550094"/>
                </a:lnTo>
                <a:lnTo>
                  <a:pt x="0" y="55009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40" name="Google Shape;140;p2"/>
          <p:cNvSpPr/>
          <p:nvPr/>
        </p:nvSpPr>
        <p:spPr>
          <a:xfrm>
            <a:off x="878654" y="8605540"/>
            <a:ext cx="453358" cy="550094"/>
          </a:xfrm>
          <a:custGeom>
            <a:rect b="b" l="l" r="r" t="t"/>
            <a:pathLst>
              <a:path extrusionOk="0" h="550094" w="453358">
                <a:moveTo>
                  <a:pt x="0" y="0"/>
                </a:moveTo>
                <a:lnTo>
                  <a:pt x="453359" y="0"/>
                </a:lnTo>
                <a:lnTo>
                  <a:pt x="453359" y="550095"/>
                </a:lnTo>
                <a:lnTo>
                  <a:pt x="0" y="55009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141" name="Google Shape;141;p2"/>
          <p:cNvGrpSpPr/>
          <p:nvPr/>
        </p:nvGrpSpPr>
        <p:grpSpPr>
          <a:xfrm>
            <a:off x="11739805" y="2798381"/>
            <a:ext cx="5353682" cy="1701155"/>
            <a:chOff x="0" y="-114300"/>
            <a:chExt cx="1410014" cy="448038"/>
          </a:xfrm>
        </p:grpSpPr>
        <p:sp>
          <p:nvSpPr>
            <p:cNvPr id="142" name="Google Shape;142;p2"/>
            <p:cNvSpPr/>
            <p:nvPr/>
          </p:nvSpPr>
          <p:spPr>
            <a:xfrm>
              <a:off x="0" y="0"/>
              <a:ext cx="1410014" cy="333738"/>
            </a:xfrm>
            <a:custGeom>
              <a:rect b="b" l="l" r="r" t="t"/>
              <a:pathLst>
                <a:path extrusionOk="0" h="333738" w="1410014">
                  <a:moveTo>
                    <a:pt x="1206814" y="0"/>
                  </a:moveTo>
                  <a:lnTo>
                    <a:pt x="0" y="0"/>
                  </a:lnTo>
                  <a:lnTo>
                    <a:pt x="0" y="333738"/>
                  </a:lnTo>
                  <a:lnTo>
                    <a:pt x="1206814" y="333738"/>
                  </a:lnTo>
                  <a:lnTo>
                    <a:pt x="1410014" y="166869"/>
                  </a:lnTo>
                  <a:lnTo>
                    <a:pt x="1206814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143" name="Google Shape;143;p2"/>
            <p:cNvSpPr txBox="1"/>
            <p:nvPr/>
          </p:nvSpPr>
          <p:spPr>
            <a:xfrm>
              <a:off x="0" y="-114300"/>
              <a:ext cx="1295700" cy="447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801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44" name="Google Shape;144;p2"/>
          <p:cNvSpPr/>
          <p:nvPr/>
        </p:nvSpPr>
        <p:spPr>
          <a:xfrm>
            <a:off x="11936017" y="3600162"/>
            <a:ext cx="524396" cy="384132"/>
          </a:xfrm>
          <a:custGeom>
            <a:rect b="b" l="l" r="r" t="t"/>
            <a:pathLst>
              <a:path extrusionOk="0" h="384132" w="524396">
                <a:moveTo>
                  <a:pt x="0" y="0"/>
                </a:moveTo>
                <a:lnTo>
                  <a:pt x="524395" y="0"/>
                </a:lnTo>
                <a:lnTo>
                  <a:pt x="524395" y="384132"/>
                </a:lnTo>
                <a:lnTo>
                  <a:pt x="0" y="38413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-18328" l="0" r="0" t="-18178"/>
            </a:stretch>
          </a:blipFill>
          <a:ln>
            <a:noFill/>
          </a:ln>
        </p:spPr>
      </p:sp>
      <p:sp>
        <p:nvSpPr>
          <p:cNvPr id="145" name="Google Shape;145;p2"/>
          <p:cNvSpPr txBox="1"/>
          <p:nvPr/>
        </p:nvSpPr>
        <p:spPr>
          <a:xfrm>
            <a:off x="12161775" y="3650650"/>
            <a:ext cx="47826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2000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/>
              <a:t>        </a:t>
            </a:r>
            <a:r>
              <a:rPr lang="en-US" sz="2800" u="sng">
                <a:solidFill>
                  <a:schemeClr val="hlink"/>
                </a:solidFill>
                <a:hlinkClick r:id="rId6"/>
              </a:rPr>
              <a:t>BLOCKCHAIN</a:t>
            </a:r>
            <a:endParaRPr sz="28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041C4D"/>
            </a:gs>
            <a:gs pos="100000">
              <a:srgbClr val="3B616F"/>
            </a:gs>
          </a:gsLst>
          <a:lin ang="0" scaled="0"/>
        </a:gradFill>
      </p:bgPr>
    </p:bg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3"/>
          <p:cNvSpPr/>
          <p:nvPr/>
        </p:nvSpPr>
        <p:spPr>
          <a:xfrm>
            <a:off x="16419691" y="1084613"/>
            <a:ext cx="839609" cy="450336"/>
          </a:xfrm>
          <a:custGeom>
            <a:rect b="b" l="l" r="r" t="t"/>
            <a:pathLst>
              <a:path extrusionOk="0" h="450336" w="839609">
                <a:moveTo>
                  <a:pt x="0" y="0"/>
                </a:moveTo>
                <a:lnTo>
                  <a:pt x="839609" y="0"/>
                </a:lnTo>
                <a:lnTo>
                  <a:pt x="839609" y="450335"/>
                </a:lnTo>
                <a:lnTo>
                  <a:pt x="0" y="45033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51" name="Google Shape;151;p3"/>
          <p:cNvSpPr/>
          <p:nvPr/>
        </p:nvSpPr>
        <p:spPr>
          <a:xfrm>
            <a:off x="15580083" y="1084613"/>
            <a:ext cx="839609" cy="450336"/>
          </a:xfrm>
          <a:custGeom>
            <a:rect b="b" l="l" r="r" t="t"/>
            <a:pathLst>
              <a:path extrusionOk="0" h="450336" w="839609">
                <a:moveTo>
                  <a:pt x="0" y="0"/>
                </a:moveTo>
                <a:lnTo>
                  <a:pt x="839608" y="0"/>
                </a:lnTo>
                <a:lnTo>
                  <a:pt x="839608" y="450335"/>
                </a:lnTo>
                <a:lnTo>
                  <a:pt x="0" y="45033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52" name="Google Shape;152;p3"/>
          <p:cNvSpPr/>
          <p:nvPr/>
        </p:nvSpPr>
        <p:spPr>
          <a:xfrm>
            <a:off x="1776071" y="9014517"/>
            <a:ext cx="2728988" cy="487567"/>
          </a:xfrm>
          <a:custGeom>
            <a:rect b="b" l="l" r="r" t="t"/>
            <a:pathLst>
              <a:path extrusionOk="0" h="487567" w="2728988">
                <a:moveTo>
                  <a:pt x="0" y="0"/>
                </a:moveTo>
                <a:lnTo>
                  <a:pt x="2728988" y="0"/>
                </a:lnTo>
                <a:lnTo>
                  <a:pt x="2728988" y="487566"/>
                </a:lnTo>
                <a:lnTo>
                  <a:pt x="0" y="48756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53" name="Google Shape;153;p3"/>
          <p:cNvSpPr txBox="1"/>
          <p:nvPr/>
        </p:nvSpPr>
        <p:spPr>
          <a:xfrm>
            <a:off x="1631182" y="2769968"/>
            <a:ext cx="8056247" cy="95401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600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6060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SEGURIDAD</a:t>
            </a:r>
            <a:endParaRPr/>
          </a:p>
        </p:txBody>
      </p:sp>
      <p:sp>
        <p:nvSpPr>
          <p:cNvPr id="154" name="Google Shape;154;p3"/>
          <p:cNvSpPr txBox="1"/>
          <p:nvPr/>
        </p:nvSpPr>
        <p:spPr>
          <a:xfrm>
            <a:off x="5080662" y="4548651"/>
            <a:ext cx="12691603" cy="14292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800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5258" u="none" cap="none" strike="noStrike">
                <a:solidFill>
                  <a:srgbClr val="FFFFFF"/>
                </a:solidFill>
                <a:latin typeface="Raleway Light"/>
                <a:ea typeface="Raleway Light"/>
                <a:cs typeface="Raleway Light"/>
                <a:sym typeface="Raleway Light"/>
              </a:rPr>
              <a:t>"Trabajar con seguridad es trabajar con dignidad"</a:t>
            </a:r>
            <a:endParaRPr/>
          </a:p>
        </p:txBody>
      </p:sp>
      <p:sp>
        <p:nvSpPr>
          <p:cNvPr id="155" name="Google Shape;155;p3"/>
          <p:cNvSpPr txBox="1"/>
          <p:nvPr/>
        </p:nvSpPr>
        <p:spPr>
          <a:xfrm>
            <a:off x="651754" y="-344397"/>
            <a:ext cx="6140237" cy="7193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318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041C4D"/>
            </a:gs>
            <a:gs pos="100000">
              <a:srgbClr val="3B616F"/>
            </a:gs>
          </a:gsLst>
          <a:lin ang="0" scaled="0"/>
        </a:gradFill>
      </p:bgPr>
    </p:bg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4"/>
          <p:cNvSpPr txBox="1"/>
          <p:nvPr/>
        </p:nvSpPr>
        <p:spPr>
          <a:xfrm>
            <a:off x="1535035" y="3302955"/>
            <a:ext cx="14327710" cy="4311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77825" lvl="1" marL="755651" marR="0" rtl="0" algn="just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500"/>
              <a:buFont typeface="Arial"/>
              <a:buChar char="•"/>
            </a:pPr>
            <a:r>
              <a:rPr b="0" i="0" lang="en-US" sz="3500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Utiliza técnicas de hashing y comprensión aplicando algoritmos como Huffman y Tablas Hash para optimizar el almacenamiento y recuperación de datos </a:t>
            </a:r>
            <a:endParaRPr/>
          </a:p>
          <a:p>
            <a:pPr indent="0" lvl="0" marL="0" marR="0" rtl="0" algn="just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3500" u="none" cap="none" strike="noStrike">
              <a:solidFill>
                <a:srgbClr val="FFFFFF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377825" lvl="1" marL="755651" marR="0" rtl="0" algn="just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500"/>
              <a:buFont typeface="Arial"/>
              <a:buChar char="•"/>
            </a:pPr>
            <a:r>
              <a:rPr b="0" i="0" lang="en-US" sz="3500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Desarrolla soluciones que integran blockchain y criptografía implementando algoritmos de consenso y cifrado para asegurar la integridad y seguridad de los datos </a:t>
            </a:r>
            <a:endParaRPr/>
          </a:p>
        </p:txBody>
      </p:sp>
      <p:sp>
        <p:nvSpPr>
          <p:cNvPr id="161" name="Google Shape;161;p4"/>
          <p:cNvSpPr txBox="1"/>
          <p:nvPr/>
        </p:nvSpPr>
        <p:spPr>
          <a:xfrm>
            <a:off x="1374889" y="721039"/>
            <a:ext cx="13991174" cy="260711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1298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6098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COMPETENCIA(S) QUE DESARROLLAREMOS</a:t>
            </a:r>
            <a:endParaRPr/>
          </a:p>
          <a:p>
            <a:pPr indent="0" lvl="0" marL="0" marR="0" rtl="0" algn="just">
              <a:lnSpc>
                <a:spcPct val="11298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6098" u="none" cap="none" strike="noStrike">
              <a:solidFill>
                <a:srgbClr val="FFFFF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62" name="Google Shape;162;p4"/>
          <p:cNvSpPr txBox="1"/>
          <p:nvPr/>
        </p:nvSpPr>
        <p:spPr>
          <a:xfrm>
            <a:off x="651754" y="-344430"/>
            <a:ext cx="6140237" cy="7193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318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041C4D"/>
            </a:gs>
            <a:gs pos="100000">
              <a:srgbClr val="3B616F"/>
            </a:gs>
          </a:gsLst>
          <a:lin ang="0" scaled="0"/>
        </a:gradFill>
      </p:bgPr>
    </p:bg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5"/>
          <p:cNvSpPr txBox="1"/>
          <p:nvPr/>
        </p:nvSpPr>
        <p:spPr>
          <a:xfrm>
            <a:off x="3745875" y="3961594"/>
            <a:ext cx="10796249" cy="23161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600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279" u="none" cap="none" strike="noStrike">
                <a:solidFill>
                  <a:srgbClr val="99FFFF"/>
                </a:solidFill>
                <a:latin typeface="Arial"/>
                <a:ea typeface="Arial"/>
                <a:cs typeface="Arial"/>
                <a:sym typeface="Arial"/>
              </a:rPr>
              <a:t>TABLAS DE DISPERSIÓN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041C4D"/>
            </a:gs>
            <a:gs pos="100000">
              <a:srgbClr val="3B616F"/>
            </a:gs>
          </a:gsLst>
          <a:lin ang="0" scaled="0"/>
        </a:gradFill>
      </p:bgPr>
    </p:bg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6"/>
          <p:cNvSpPr txBox="1"/>
          <p:nvPr/>
        </p:nvSpPr>
        <p:spPr>
          <a:xfrm>
            <a:off x="1028700" y="1920798"/>
            <a:ext cx="9631133" cy="782506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7302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599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Las tablas de dispersión son una estructura de datos que permite el almacenamiento y la recuperación eficiente de datos mediante el uso de una función especial llamada función de dispersión o función hash. Estas tablas utilizan una técnica conocida como hashing para mapear claves o identificadores a posiciones específicas dentro de una tabla, lo que facilita el acceso rápido a los datos. A diferencia de otras estructuras de datos, como los arreglos o las listas enlazadas, las tablas de dispersión no almacenan los elementos en orden secuencial, sino que utilizan una función de hash para calcular la posición de almacenamiento de cada elemento.</a:t>
            </a:r>
            <a:endParaRPr/>
          </a:p>
          <a:p>
            <a:pPr indent="0" lvl="0" marL="0" marR="0" rtl="0" algn="just">
              <a:lnSpc>
                <a:spcPct val="17302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599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3" name="Google Shape;173;p6"/>
          <p:cNvSpPr txBox="1"/>
          <p:nvPr/>
        </p:nvSpPr>
        <p:spPr>
          <a:xfrm>
            <a:off x="1056696" y="887354"/>
            <a:ext cx="4787571" cy="88295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1298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6098" u="none" cap="none" strike="noStrike">
                <a:solidFill>
                  <a:srgbClr val="99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¿QUÉ SON?</a:t>
            </a:r>
            <a:endParaRPr/>
          </a:p>
        </p:txBody>
      </p:sp>
      <p:sp>
        <p:nvSpPr>
          <p:cNvPr id="174" name="Google Shape;174;p6"/>
          <p:cNvSpPr/>
          <p:nvPr/>
        </p:nvSpPr>
        <p:spPr>
          <a:xfrm>
            <a:off x="254740" y="9258300"/>
            <a:ext cx="2728988" cy="487567"/>
          </a:xfrm>
          <a:custGeom>
            <a:rect b="b" l="l" r="r" t="t"/>
            <a:pathLst>
              <a:path extrusionOk="0" h="487567" w="2728988">
                <a:moveTo>
                  <a:pt x="0" y="0"/>
                </a:moveTo>
                <a:lnTo>
                  <a:pt x="2728988" y="0"/>
                </a:lnTo>
                <a:lnTo>
                  <a:pt x="2728988" y="487567"/>
                </a:lnTo>
                <a:lnTo>
                  <a:pt x="0" y="48756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75" name="Google Shape;175;p6"/>
          <p:cNvSpPr/>
          <p:nvPr/>
        </p:nvSpPr>
        <p:spPr>
          <a:xfrm>
            <a:off x="16419691" y="1084613"/>
            <a:ext cx="839609" cy="450336"/>
          </a:xfrm>
          <a:custGeom>
            <a:rect b="b" l="l" r="r" t="t"/>
            <a:pathLst>
              <a:path extrusionOk="0" h="450336" w="839609">
                <a:moveTo>
                  <a:pt x="0" y="0"/>
                </a:moveTo>
                <a:lnTo>
                  <a:pt x="839609" y="0"/>
                </a:lnTo>
                <a:lnTo>
                  <a:pt x="839609" y="450335"/>
                </a:lnTo>
                <a:lnTo>
                  <a:pt x="0" y="45033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76" name="Google Shape;176;p6"/>
          <p:cNvSpPr/>
          <p:nvPr/>
        </p:nvSpPr>
        <p:spPr>
          <a:xfrm>
            <a:off x="15580083" y="1084613"/>
            <a:ext cx="839609" cy="450336"/>
          </a:xfrm>
          <a:custGeom>
            <a:rect b="b" l="l" r="r" t="t"/>
            <a:pathLst>
              <a:path extrusionOk="0" h="450336" w="839609">
                <a:moveTo>
                  <a:pt x="0" y="0"/>
                </a:moveTo>
                <a:lnTo>
                  <a:pt x="839608" y="0"/>
                </a:lnTo>
                <a:lnTo>
                  <a:pt x="839608" y="450335"/>
                </a:lnTo>
                <a:lnTo>
                  <a:pt x="0" y="45033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77" name="Google Shape;177;p6"/>
          <p:cNvSpPr/>
          <p:nvPr/>
        </p:nvSpPr>
        <p:spPr>
          <a:xfrm>
            <a:off x="11613200" y="2524305"/>
            <a:ext cx="5646100" cy="6116600"/>
          </a:xfrm>
          <a:custGeom>
            <a:rect b="b" l="l" r="r" t="t"/>
            <a:pathLst>
              <a:path extrusionOk="0" h="6116600" w="5646100">
                <a:moveTo>
                  <a:pt x="0" y="0"/>
                </a:moveTo>
                <a:lnTo>
                  <a:pt x="5646100" y="0"/>
                </a:lnTo>
                <a:lnTo>
                  <a:pt x="5646100" y="6116600"/>
                </a:lnTo>
                <a:lnTo>
                  <a:pt x="0" y="61166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041C4D"/>
            </a:gs>
            <a:gs pos="100000">
              <a:srgbClr val="3B616F"/>
            </a:gs>
          </a:gsLst>
          <a:lin ang="0" scaled="0"/>
        </a:gradFill>
      </p:bgPr>
    </p:bg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7"/>
          <p:cNvSpPr/>
          <p:nvPr/>
        </p:nvSpPr>
        <p:spPr>
          <a:xfrm>
            <a:off x="399629" y="9258300"/>
            <a:ext cx="2728988" cy="487567"/>
          </a:xfrm>
          <a:custGeom>
            <a:rect b="b" l="l" r="r" t="t"/>
            <a:pathLst>
              <a:path extrusionOk="0" h="487567" w="2728988">
                <a:moveTo>
                  <a:pt x="0" y="0"/>
                </a:moveTo>
                <a:lnTo>
                  <a:pt x="2728987" y="0"/>
                </a:lnTo>
                <a:lnTo>
                  <a:pt x="2728987" y="487567"/>
                </a:lnTo>
                <a:lnTo>
                  <a:pt x="0" y="48756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83" name="Google Shape;183;p7"/>
          <p:cNvSpPr/>
          <p:nvPr/>
        </p:nvSpPr>
        <p:spPr>
          <a:xfrm>
            <a:off x="2144084" y="741901"/>
            <a:ext cx="984533" cy="1566814"/>
          </a:xfrm>
          <a:custGeom>
            <a:rect b="b" l="l" r="r" t="t"/>
            <a:pathLst>
              <a:path extrusionOk="0" h="1566814" w="984533">
                <a:moveTo>
                  <a:pt x="0" y="0"/>
                </a:moveTo>
                <a:lnTo>
                  <a:pt x="984532" y="0"/>
                </a:lnTo>
                <a:lnTo>
                  <a:pt x="984532" y="1566814"/>
                </a:lnTo>
                <a:lnTo>
                  <a:pt x="0" y="156681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84" name="Google Shape;184;p7"/>
          <p:cNvSpPr txBox="1"/>
          <p:nvPr/>
        </p:nvSpPr>
        <p:spPr>
          <a:xfrm>
            <a:off x="3512781" y="864090"/>
            <a:ext cx="12421547" cy="14446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5000" u="none" cap="none" strike="noStrike">
                <a:solidFill>
                  <a:srgbClr val="99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FUNCIÓN DE HASHING: CLAVE PARA LAS TABLAS DE DISPERSIÓN</a:t>
            </a:r>
            <a:endParaRPr/>
          </a:p>
        </p:txBody>
      </p:sp>
      <p:grpSp>
        <p:nvGrpSpPr>
          <p:cNvPr id="185" name="Google Shape;185;p7"/>
          <p:cNvGrpSpPr/>
          <p:nvPr/>
        </p:nvGrpSpPr>
        <p:grpSpPr>
          <a:xfrm>
            <a:off x="1966950" y="3247400"/>
            <a:ext cx="4393200" cy="3395009"/>
            <a:chOff x="0" y="0"/>
            <a:chExt cx="5857600" cy="4526678"/>
          </a:xfrm>
        </p:grpSpPr>
        <p:sp>
          <p:nvSpPr>
            <p:cNvPr id="186" name="Google Shape;186;p7"/>
            <p:cNvSpPr/>
            <p:nvPr/>
          </p:nvSpPr>
          <p:spPr>
            <a:xfrm>
              <a:off x="0" y="0"/>
              <a:ext cx="5857600" cy="4526678"/>
            </a:xfrm>
            <a:custGeom>
              <a:rect b="b" l="l" r="r" t="t"/>
              <a:pathLst>
                <a:path extrusionOk="0" h="4526678" w="5857600">
                  <a:moveTo>
                    <a:pt x="0" y="0"/>
                  </a:moveTo>
                  <a:lnTo>
                    <a:pt x="5857600" y="0"/>
                  </a:lnTo>
                  <a:lnTo>
                    <a:pt x="5857600" y="4526678"/>
                  </a:lnTo>
                  <a:lnTo>
                    <a:pt x="0" y="452667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187" name="Google Shape;187;p7"/>
            <p:cNvSpPr txBox="1"/>
            <p:nvPr/>
          </p:nvSpPr>
          <p:spPr>
            <a:xfrm>
              <a:off x="0" y="9525"/>
              <a:ext cx="5857600" cy="451715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just">
                <a:lnSpc>
                  <a:spcPct val="11995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400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La función de hashing es un componente fundamental de las tablas de dispersión. Toma una clave como entrada y devuelve un valor hash único, que se utiliza para determinar la posición de almacenamiento del elemento asociado.</a:t>
              </a:r>
              <a:endParaRPr/>
            </a:p>
          </p:txBody>
        </p:sp>
      </p:grpSp>
      <p:grpSp>
        <p:nvGrpSpPr>
          <p:cNvPr id="188" name="Google Shape;188;p7"/>
          <p:cNvGrpSpPr/>
          <p:nvPr/>
        </p:nvGrpSpPr>
        <p:grpSpPr>
          <a:xfrm>
            <a:off x="7110514" y="3247400"/>
            <a:ext cx="4393200" cy="3336600"/>
            <a:chOff x="0" y="0"/>
            <a:chExt cx="5857600" cy="4448800"/>
          </a:xfrm>
        </p:grpSpPr>
        <p:sp>
          <p:nvSpPr>
            <p:cNvPr id="189" name="Google Shape;189;p7"/>
            <p:cNvSpPr/>
            <p:nvPr/>
          </p:nvSpPr>
          <p:spPr>
            <a:xfrm>
              <a:off x="0" y="0"/>
              <a:ext cx="5857600" cy="4448800"/>
            </a:xfrm>
            <a:custGeom>
              <a:rect b="b" l="l" r="r" t="t"/>
              <a:pathLst>
                <a:path extrusionOk="0" h="4448800" w="5857600">
                  <a:moveTo>
                    <a:pt x="0" y="0"/>
                  </a:moveTo>
                  <a:lnTo>
                    <a:pt x="5857600" y="0"/>
                  </a:lnTo>
                  <a:lnTo>
                    <a:pt x="5857600" y="4448800"/>
                  </a:lnTo>
                  <a:lnTo>
                    <a:pt x="0" y="444880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190" name="Google Shape;190;p7"/>
            <p:cNvSpPr txBox="1"/>
            <p:nvPr/>
          </p:nvSpPr>
          <p:spPr>
            <a:xfrm>
              <a:off x="0" y="9525"/>
              <a:ext cx="5857600" cy="44392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just">
                <a:lnSpc>
                  <a:spcPct val="11995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400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La función de hash debe ser determinística, es decir, debe producir el mismo valor hash para la misma clave en cada invocación.</a:t>
              </a:r>
              <a:endParaRPr/>
            </a:p>
          </p:txBody>
        </p:sp>
      </p:grpSp>
      <p:grpSp>
        <p:nvGrpSpPr>
          <p:cNvPr id="191" name="Google Shape;191;p7"/>
          <p:cNvGrpSpPr/>
          <p:nvPr/>
        </p:nvGrpSpPr>
        <p:grpSpPr>
          <a:xfrm>
            <a:off x="12254092" y="3247400"/>
            <a:ext cx="4393200" cy="3336600"/>
            <a:chOff x="0" y="0"/>
            <a:chExt cx="5857600" cy="4448800"/>
          </a:xfrm>
        </p:grpSpPr>
        <p:sp>
          <p:nvSpPr>
            <p:cNvPr id="192" name="Google Shape;192;p7"/>
            <p:cNvSpPr/>
            <p:nvPr/>
          </p:nvSpPr>
          <p:spPr>
            <a:xfrm>
              <a:off x="0" y="0"/>
              <a:ext cx="5857600" cy="4448800"/>
            </a:xfrm>
            <a:custGeom>
              <a:rect b="b" l="l" r="r" t="t"/>
              <a:pathLst>
                <a:path extrusionOk="0" h="4448800" w="5857600">
                  <a:moveTo>
                    <a:pt x="0" y="0"/>
                  </a:moveTo>
                  <a:lnTo>
                    <a:pt x="5857600" y="0"/>
                  </a:lnTo>
                  <a:lnTo>
                    <a:pt x="5857600" y="4448800"/>
                  </a:lnTo>
                  <a:lnTo>
                    <a:pt x="0" y="444880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193" name="Google Shape;193;p7"/>
            <p:cNvSpPr txBox="1"/>
            <p:nvPr/>
          </p:nvSpPr>
          <p:spPr>
            <a:xfrm>
              <a:off x="0" y="9525"/>
              <a:ext cx="5857600" cy="44392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just">
                <a:lnSpc>
                  <a:spcPct val="11995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400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Una buena función de hash distribuye uniformemente las claves en la tabla, minimizando las colisiones y garantizando un acceso eficiente a los datos.</a:t>
              </a:r>
              <a:endParaRPr/>
            </a:p>
          </p:txBody>
        </p:sp>
      </p:grpSp>
      <p:sp>
        <p:nvSpPr>
          <p:cNvPr id="194" name="Google Shape;194;p7"/>
          <p:cNvSpPr/>
          <p:nvPr/>
        </p:nvSpPr>
        <p:spPr>
          <a:xfrm>
            <a:off x="6037832" y="6275144"/>
            <a:ext cx="7371445" cy="3470723"/>
          </a:xfrm>
          <a:custGeom>
            <a:rect b="b" l="l" r="r" t="t"/>
            <a:pathLst>
              <a:path extrusionOk="0" h="3470723" w="7371445">
                <a:moveTo>
                  <a:pt x="0" y="0"/>
                </a:moveTo>
                <a:lnTo>
                  <a:pt x="7371445" y="0"/>
                </a:lnTo>
                <a:lnTo>
                  <a:pt x="7371445" y="3470723"/>
                </a:lnTo>
                <a:lnTo>
                  <a:pt x="0" y="347072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041C4D"/>
            </a:gs>
            <a:gs pos="100000">
              <a:srgbClr val="3B616F"/>
            </a:gs>
          </a:gsLst>
          <a:lin ang="0" scaled="0"/>
        </a:gradFill>
      </p:bgPr>
    </p:bg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8"/>
          <p:cNvSpPr txBox="1"/>
          <p:nvPr/>
        </p:nvSpPr>
        <p:spPr>
          <a:xfrm>
            <a:off x="606149" y="2013734"/>
            <a:ext cx="10361544" cy="786107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259079" lvl="1" marL="518160" marR="0" rt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Veamos cómo funciona el proceso de hashing en las tablas de dispersión:</a:t>
            </a:r>
            <a:endParaRPr/>
          </a:p>
          <a:p>
            <a:pPr indent="-345439" lvl="2" marL="1036320" marR="0" rt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Arial"/>
              <a:buChar char="⚬"/>
            </a:pPr>
            <a:r>
              <a:rPr b="0" i="0" lang="en-US" sz="2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Se aplica la función de hash a la clave del elemento.</a:t>
            </a:r>
            <a:endParaRPr/>
          </a:p>
          <a:p>
            <a:pPr indent="-345439" lvl="2" marL="1036320" marR="0" rt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Arial"/>
              <a:buChar char="⚬"/>
            </a:pPr>
            <a:r>
              <a:rPr b="0" i="0" lang="en-US" sz="2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El valor hash resultante se traduce en una posición de la tabla de dispersión.</a:t>
            </a:r>
            <a:endParaRPr/>
          </a:p>
          <a:p>
            <a:pPr indent="-345439" lvl="2" marL="1036320" marR="0" rt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Arial"/>
              <a:buChar char="⚬"/>
            </a:pPr>
            <a:r>
              <a:rPr b="0" i="0" lang="en-US" sz="2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El elemento se almacena en esa posición.</a:t>
            </a:r>
            <a:endParaRPr/>
          </a:p>
          <a:p>
            <a:pPr indent="-259079" lvl="1" marL="518160" marR="0" rt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Cuando se necesita recuperar un elemento, se aplica la función de hash a la clave buscada y se busca en la posición correspondiente de la tabla.</a:t>
            </a:r>
            <a:endParaRPr/>
          </a:p>
          <a:p>
            <a:pPr indent="-259079" lvl="1" marL="518160" marR="0" rt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Si la función de hash es efectiva, este proceso permite un acceso rápido y eficiente a los datos, incluso en grandes conjuntos de información.</a:t>
            </a:r>
            <a:endParaRPr/>
          </a:p>
          <a:p>
            <a:pPr indent="0" lvl="0" marL="0" marR="0" rt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0" name="Google Shape;200;p8"/>
          <p:cNvSpPr txBox="1"/>
          <p:nvPr/>
        </p:nvSpPr>
        <p:spPr>
          <a:xfrm>
            <a:off x="4572001" y="813100"/>
            <a:ext cx="10175700" cy="9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1298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6098" u="none" cap="none" strike="noStrike">
                <a:solidFill>
                  <a:srgbClr val="99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PROCESO DE HASHING</a:t>
            </a:r>
            <a:endParaRPr/>
          </a:p>
        </p:txBody>
      </p:sp>
      <p:sp>
        <p:nvSpPr>
          <p:cNvPr id="201" name="Google Shape;201;p8"/>
          <p:cNvSpPr/>
          <p:nvPr/>
        </p:nvSpPr>
        <p:spPr>
          <a:xfrm>
            <a:off x="11523099" y="3468975"/>
            <a:ext cx="6383500" cy="4271150"/>
          </a:xfrm>
          <a:custGeom>
            <a:rect b="b" l="l" r="r" t="t"/>
            <a:pathLst>
              <a:path extrusionOk="0" h="4271150" w="6383500">
                <a:moveTo>
                  <a:pt x="0" y="0"/>
                </a:moveTo>
                <a:lnTo>
                  <a:pt x="6383500" y="0"/>
                </a:lnTo>
                <a:lnTo>
                  <a:pt x="6383500" y="4271150"/>
                </a:lnTo>
                <a:lnTo>
                  <a:pt x="0" y="427115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041C4D"/>
            </a:gs>
            <a:gs pos="100000">
              <a:srgbClr val="3B616F"/>
            </a:gs>
          </a:gsLst>
          <a:lin ang="0" scaled="0"/>
        </a:gradFill>
      </p:bgPr>
    </p:bg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9"/>
          <p:cNvSpPr/>
          <p:nvPr/>
        </p:nvSpPr>
        <p:spPr>
          <a:xfrm>
            <a:off x="661115" y="3713737"/>
            <a:ext cx="4996206" cy="4996206"/>
          </a:xfrm>
          <a:custGeom>
            <a:rect b="b" l="l" r="r" t="t"/>
            <a:pathLst>
              <a:path extrusionOk="0" h="4996206" w="4996206">
                <a:moveTo>
                  <a:pt x="0" y="0"/>
                </a:moveTo>
                <a:lnTo>
                  <a:pt x="4996206" y="0"/>
                </a:lnTo>
                <a:lnTo>
                  <a:pt x="4996206" y="4996206"/>
                </a:lnTo>
                <a:lnTo>
                  <a:pt x="0" y="499620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07" name="Google Shape;207;p9"/>
          <p:cNvSpPr/>
          <p:nvPr/>
        </p:nvSpPr>
        <p:spPr>
          <a:xfrm>
            <a:off x="6645897" y="3858626"/>
            <a:ext cx="4996206" cy="4996206"/>
          </a:xfrm>
          <a:custGeom>
            <a:rect b="b" l="l" r="r" t="t"/>
            <a:pathLst>
              <a:path extrusionOk="0" h="4996206" w="4996206">
                <a:moveTo>
                  <a:pt x="0" y="0"/>
                </a:moveTo>
                <a:lnTo>
                  <a:pt x="4996206" y="0"/>
                </a:lnTo>
                <a:lnTo>
                  <a:pt x="4996206" y="4996206"/>
                </a:lnTo>
                <a:lnTo>
                  <a:pt x="0" y="499620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08" name="Google Shape;208;p9"/>
          <p:cNvSpPr/>
          <p:nvPr/>
        </p:nvSpPr>
        <p:spPr>
          <a:xfrm>
            <a:off x="11907732" y="3379984"/>
            <a:ext cx="5953490" cy="5953490"/>
          </a:xfrm>
          <a:custGeom>
            <a:rect b="b" l="l" r="r" t="t"/>
            <a:pathLst>
              <a:path extrusionOk="0" h="5953490" w="5953490">
                <a:moveTo>
                  <a:pt x="0" y="0"/>
                </a:moveTo>
                <a:lnTo>
                  <a:pt x="5953490" y="0"/>
                </a:lnTo>
                <a:lnTo>
                  <a:pt x="5953490" y="5953490"/>
                </a:lnTo>
                <a:lnTo>
                  <a:pt x="0" y="595349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09" name="Google Shape;209;p9"/>
          <p:cNvSpPr txBox="1"/>
          <p:nvPr/>
        </p:nvSpPr>
        <p:spPr>
          <a:xfrm>
            <a:off x="1028700" y="763348"/>
            <a:ext cx="10613403" cy="261663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1298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6098" u="none" cap="none" strike="noStrike">
                <a:solidFill>
                  <a:srgbClr val="99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RESOLUCIÓN DE COLISIONES EN TABLAS DE DISPERSIÓN</a:t>
            </a:r>
            <a:endParaRPr/>
          </a:p>
        </p:txBody>
      </p:sp>
      <p:sp>
        <p:nvSpPr>
          <p:cNvPr id="210" name="Google Shape;210;p9"/>
          <p:cNvSpPr txBox="1"/>
          <p:nvPr/>
        </p:nvSpPr>
        <p:spPr>
          <a:xfrm>
            <a:off x="1216672" y="4352764"/>
            <a:ext cx="4174868" cy="372767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Las colisiones ocurren cuando dos o más elementos tienen el mismo valor hash y, por lo tanto, se asignan a la misma posición en la tabla de dispersión. Es crucial tener estrategias para manejar estas situaciones.</a:t>
            </a:r>
            <a:endParaRPr/>
          </a:p>
        </p:txBody>
      </p:sp>
      <p:sp>
        <p:nvSpPr>
          <p:cNvPr id="211" name="Google Shape;211;p9"/>
          <p:cNvSpPr txBox="1"/>
          <p:nvPr/>
        </p:nvSpPr>
        <p:spPr>
          <a:xfrm>
            <a:off x="7207034" y="4497652"/>
            <a:ext cx="4174868" cy="372767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La resolución de colisiones es el proceso de gestionar las colisiones que se producen en una tabla de dispersión, garantizando que los datos se almacenen y recuperen correctamente.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041C4D"/>
            </a:gs>
            <a:gs pos="100000">
              <a:srgbClr val="3B616F"/>
            </a:gs>
          </a:gsLst>
          <a:lin ang="0" scaled="0"/>
        </a:gradFill>
      </p:bgPr>
    </p:bg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10"/>
          <p:cNvSpPr txBox="1"/>
          <p:nvPr/>
        </p:nvSpPr>
        <p:spPr>
          <a:xfrm>
            <a:off x="3178264" y="569645"/>
            <a:ext cx="11931473" cy="17497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1298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6098" u="none" cap="none" strike="noStrike">
                <a:solidFill>
                  <a:srgbClr val="99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MÉTODOS COMUNES DE RESOLUCIÓN DE COLISIONES</a:t>
            </a:r>
            <a:endParaRPr/>
          </a:p>
        </p:txBody>
      </p:sp>
      <p:grpSp>
        <p:nvGrpSpPr>
          <p:cNvPr id="217" name="Google Shape;217;p10"/>
          <p:cNvGrpSpPr/>
          <p:nvPr/>
        </p:nvGrpSpPr>
        <p:grpSpPr>
          <a:xfrm>
            <a:off x="1409857" y="2560873"/>
            <a:ext cx="5484000" cy="1124944"/>
            <a:chOff x="0" y="-9525"/>
            <a:chExt cx="7312000" cy="1499925"/>
          </a:xfrm>
        </p:grpSpPr>
        <p:sp>
          <p:nvSpPr>
            <p:cNvPr id="218" name="Google Shape;218;p10"/>
            <p:cNvSpPr/>
            <p:nvPr/>
          </p:nvSpPr>
          <p:spPr>
            <a:xfrm>
              <a:off x="0" y="0"/>
              <a:ext cx="7312000" cy="1490400"/>
            </a:xfrm>
            <a:custGeom>
              <a:rect b="b" l="l" r="r" t="t"/>
              <a:pathLst>
                <a:path extrusionOk="0" h="1490400" w="7312000">
                  <a:moveTo>
                    <a:pt x="0" y="0"/>
                  </a:moveTo>
                  <a:lnTo>
                    <a:pt x="7312000" y="0"/>
                  </a:lnTo>
                  <a:lnTo>
                    <a:pt x="7312000" y="1490400"/>
                  </a:lnTo>
                  <a:lnTo>
                    <a:pt x="0" y="149040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219" name="Google Shape;219;p10"/>
            <p:cNvSpPr txBox="1"/>
            <p:nvPr/>
          </p:nvSpPr>
          <p:spPr>
            <a:xfrm>
              <a:off x="0" y="-9525"/>
              <a:ext cx="7312000" cy="149992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b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3600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Encadenamiento</a:t>
              </a:r>
              <a:endParaRPr/>
            </a:p>
          </p:txBody>
        </p:sp>
      </p:grpSp>
      <p:grpSp>
        <p:nvGrpSpPr>
          <p:cNvPr id="220" name="Google Shape;220;p10"/>
          <p:cNvGrpSpPr/>
          <p:nvPr/>
        </p:nvGrpSpPr>
        <p:grpSpPr>
          <a:xfrm>
            <a:off x="9106420" y="3866809"/>
            <a:ext cx="8152880" cy="6290873"/>
            <a:chOff x="0" y="0"/>
            <a:chExt cx="10870507" cy="8387830"/>
          </a:xfrm>
        </p:grpSpPr>
        <p:sp>
          <p:nvSpPr>
            <p:cNvPr id="221" name="Google Shape;221;p10"/>
            <p:cNvSpPr/>
            <p:nvPr/>
          </p:nvSpPr>
          <p:spPr>
            <a:xfrm>
              <a:off x="0" y="0"/>
              <a:ext cx="10870507" cy="8387830"/>
            </a:xfrm>
            <a:custGeom>
              <a:rect b="b" l="l" r="r" t="t"/>
              <a:pathLst>
                <a:path extrusionOk="0" h="8387830" w="10870507">
                  <a:moveTo>
                    <a:pt x="0" y="0"/>
                  </a:moveTo>
                  <a:lnTo>
                    <a:pt x="10870507" y="0"/>
                  </a:lnTo>
                  <a:lnTo>
                    <a:pt x="10870507" y="8387830"/>
                  </a:lnTo>
                  <a:lnTo>
                    <a:pt x="0" y="838783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222" name="Google Shape;222;p10"/>
            <p:cNvSpPr txBox="1"/>
            <p:nvPr/>
          </p:nvSpPr>
          <p:spPr>
            <a:xfrm>
              <a:off x="0" y="9525"/>
              <a:ext cx="10870507" cy="837830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-441960" lvl="1" marL="883920" marR="0" rtl="0" algn="l">
                <a:lnSpc>
                  <a:spcPct val="119958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2400"/>
                <a:buFont typeface="Arial"/>
                <a:buChar char="•"/>
              </a:pPr>
              <a:r>
                <a:rPr b="0" i="0" lang="en-US" sz="2400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En el método de direccionamiento abierto, cuando ocurre una colisión, se busca una nueva posición dentro de la tabla de dispersión para almacenar el elemento adicional.</a:t>
              </a:r>
              <a:endParaRPr/>
            </a:p>
            <a:p>
              <a:pPr indent="-441960" lvl="1" marL="883920" marR="0" rtl="0" algn="l">
                <a:lnSpc>
                  <a:spcPct val="119958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2400"/>
                <a:buFont typeface="Arial"/>
                <a:buChar char="•"/>
              </a:pPr>
              <a:r>
                <a:rPr b="0" i="0" lang="en-US" sz="2400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Esta nueva posición se determina utilizando una técnica de exploración, como la exploración lineal o la exploración cuadrática, que busca una posición vacía en la tabla.</a:t>
              </a:r>
              <a:endParaRPr/>
            </a:p>
            <a:p>
              <a:pPr indent="-441960" lvl="1" marL="883920" marR="0" rtl="0" algn="l">
                <a:lnSpc>
                  <a:spcPct val="119958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2400"/>
                <a:buFont typeface="Arial"/>
                <a:buChar char="•"/>
              </a:pPr>
              <a:r>
                <a:rPr b="0" i="0" lang="en-US" sz="2400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El direccionamiento abierto puede ser más eficiente en términos de espacio que el encadenamiento, ya que no requiere estructuras de datos adicionales, pero puede ser más complicado de implementar y puede tener peor rendimiento en casos de alta carga.</a:t>
              </a:r>
              <a:endParaRPr/>
            </a:p>
            <a:p>
              <a:pPr indent="-441960" lvl="1" marL="883920" marR="0" rtl="0" algn="l">
                <a:lnSpc>
                  <a:spcPct val="11995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23" name="Google Shape;223;p10"/>
          <p:cNvGrpSpPr/>
          <p:nvPr/>
        </p:nvGrpSpPr>
        <p:grpSpPr>
          <a:xfrm>
            <a:off x="767690" y="3802712"/>
            <a:ext cx="7276435" cy="5928890"/>
            <a:chOff x="0" y="0"/>
            <a:chExt cx="9701913" cy="7905186"/>
          </a:xfrm>
        </p:grpSpPr>
        <p:sp>
          <p:nvSpPr>
            <p:cNvPr id="224" name="Google Shape;224;p10"/>
            <p:cNvSpPr/>
            <p:nvPr/>
          </p:nvSpPr>
          <p:spPr>
            <a:xfrm>
              <a:off x="0" y="0"/>
              <a:ext cx="9701913" cy="7905186"/>
            </a:xfrm>
            <a:custGeom>
              <a:rect b="b" l="l" r="r" t="t"/>
              <a:pathLst>
                <a:path extrusionOk="0" h="7905186" w="9701913">
                  <a:moveTo>
                    <a:pt x="0" y="0"/>
                  </a:moveTo>
                  <a:lnTo>
                    <a:pt x="9701913" y="0"/>
                  </a:lnTo>
                  <a:lnTo>
                    <a:pt x="9701913" y="7905186"/>
                  </a:lnTo>
                  <a:lnTo>
                    <a:pt x="0" y="7905186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225" name="Google Shape;225;p10"/>
            <p:cNvSpPr txBox="1"/>
            <p:nvPr/>
          </p:nvSpPr>
          <p:spPr>
            <a:xfrm>
              <a:off x="0" y="9525"/>
              <a:ext cx="9701913" cy="789566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-441960" lvl="1" marL="883920" marR="0" rtl="0" algn="l">
                <a:lnSpc>
                  <a:spcPct val="119958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2400"/>
                <a:buFont typeface="Arial"/>
                <a:buChar char="•"/>
              </a:pPr>
              <a:r>
                <a:rPr b="0" i="0" lang="en-US" sz="2400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En el método de encadenamiento, cada posición de la tabla de dispersión contiene una lista enlazada de elementos que han colisionado en esa posición.</a:t>
              </a:r>
              <a:endParaRPr/>
            </a:p>
            <a:p>
              <a:pPr indent="-441960" lvl="1" marL="883920" marR="0" rtl="0" algn="l">
                <a:lnSpc>
                  <a:spcPct val="119958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2400"/>
                <a:buFont typeface="Arial"/>
                <a:buChar char="•"/>
              </a:pPr>
              <a:r>
                <a:rPr b="0" i="0" lang="en-US" sz="2400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Cuando ocurre una colisión, el nuevo elemento se agrega a la lista enlazada correspondiente en esa posición, lo que permite múltiples elementos asociados a la misma clave.</a:t>
              </a:r>
              <a:endParaRPr/>
            </a:p>
            <a:p>
              <a:pPr indent="-441960" lvl="1" marL="883920" marR="0" rtl="0" algn="l">
                <a:lnSpc>
                  <a:spcPct val="119958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2400"/>
                <a:buFont typeface="Arial"/>
                <a:buChar char="•"/>
              </a:pPr>
              <a:r>
                <a:rPr b="0" i="0" lang="en-US" sz="2400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El encadenamiento es una solución simple y efectiva para las colisiones, ya que no requiere espacio adicional en la tabla y permite una alta carga de elementos.</a:t>
              </a:r>
              <a:endParaRPr/>
            </a:p>
            <a:p>
              <a:pPr indent="-441960" lvl="1" marL="883920" marR="0" rtl="0" algn="l">
                <a:lnSpc>
                  <a:spcPct val="11995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26" name="Google Shape;226;p10"/>
          <p:cNvGrpSpPr/>
          <p:nvPr/>
        </p:nvGrpSpPr>
        <p:grpSpPr>
          <a:xfrm>
            <a:off x="9675639" y="2560873"/>
            <a:ext cx="6763851" cy="1124944"/>
            <a:chOff x="0" y="-9525"/>
            <a:chExt cx="9018467" cy="1499925"/>
          </a:xfrm>
        </p:grpSpPr>
        <p:sp>
          <p:nvSpPr>
            <p:cNvPr id="227" name="Google Shape;227;p10"/>
            <p:cNvSpPr/>
            <p:nvPr/>
          </p:nvSpPr>
          <p:spPr>
            <a:xfrm>
              <a:off x="0" y="0"/>
              <a:ext cx="9018467" cy="1490400"/>
            </a:xfrm>
            <a:custGeom>
              <a:rect b="b" l="l" r="r" t="t"/>
              <a:pathLst>
                <a:path extrusionOk="0" h="1490400" w="9018467">
                  <a:moveTo>
                    <a:pt x="0" y="0"/>
                  </a:moveTo>
                  <a:lnTo>
                    <a:pt x="9018467" y="0"/>
                  </a:lnTo>
                  <a:lnTo>
                    <a:pt x="9018467" y="1490400"/>
                  </a:lnTo>
                  <a:lnTo>
                    <a:pt x="0" y="149040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228" name="Google Shape;228;p10"/>
            <p:cNvSpPr txBox="1"/>
            <p:nvPr/>
          </p:nvSpPr>
          <p:spPr>
            <a:xfrm>
              <a:off x="0" y="-9525"/>
              <a:ext cx="9018466" cy="149992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b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3600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Direccionamiento Abierto</a:t>
              </a:r>
              <a:endParaRPr/>
            </a:p>
          </p:txBody>
        </p:sp>
      </p:grp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041C4D"/>
            </a:gs>
            <a:gs pos="100000">
              <a:srgbClr val="3B616F"/>
            </a:gs>
          </a:gsLst>
          <a:lin ang="0" scaled="0"/>
        </a:gradFill>
      </p:bgPr>
    </p:bg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11"/>
          <p:cNvSpPr txBox="1"/>
          <p:nvPr/>
        </p:nvSpPr>
        <p:spPr>
          <a:xfrm>
            <a:off x="3178264" y="569645"/>
            <a:ext cx="11931473" cy="17496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1298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6098" u="none" cap="none" strike="noStrike">
                <a:solidFill>
                  <a:srgbClr val="99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TAMAÑO Y REDISPERSIÓN (REHASHING)</a:t>
            </a:r>
            <a:endParaRPr/>
          </a:p>
        </p:txBody>
      </p:sp>
      <p:grpSp>
        <p:nvGrpSpPr>
          <p:cNvPr id="234" name="Google Shape;234;p11"/>
          <p:cNvGrpSpPr/>
          <p:nvPr/>
        </p:nvGrpSpPr>
        <p:grpSpPr>
          <a:xfrm>
            <a:off x="1028700" y="2560873"/>
            <a:ext cx="5484000" cy="1298734"/>
            <a:chOff x="0" y="-9525"/>
            <a:chExt cx="7312000" cy="1731645"/>
          </a:xfrm>
        </p:grpSpPr>
        <p:sp>
          <p:nvSpPr>
            <p:cNvPr id="235" name="Google Shape;235;p11"/>
            <p:cNvSpPr/>
            <p:nvPr/>
          </p:nvSpPr>
          <p:spPr>
            <a:xfrm>
              <a:off x="0" y="0"/>
              <a:ext cx="7312000" cy="1722120"/>
            </a:xfrm>
            <a:custGeom>
              <a:rect b="b" l="l" r="r" t="t"/>
              <a:pathLst>
                <a:path extrusionOk="0" h="1722120" w="7312000">
                  <a:moveTo>
                    <a:pt x="0" y="0"/>
                  </a:moveTo>
                  <a:lnTo>
                    <a:pt x="7312000" y="0"/>
                  </a:lnTo>
                  <a:lnTo>
                    <a:pt x="7312000" y="1722120"/>
                  </a:lnTo>
                  <a:lnTo>
                    <a:pt x="0" y="172212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236" name="Google Shape;236;p11"/>
            <p:cNvSpPr txBox="1"/>
            <p:nvPr/>
          </p:nvSpPr>
          <p:spPr>
            <a:xfrm>
              <a:off x="0" y="-9525"/>
              <a:ext cx="7312000" cy="173164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b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3600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 ¿Qué es el Tamaño en una Tabla Hash?</a:t>
              </a:r>
              <a:endParaRPr/>
            </a:p>
          </p:txBody>
        </p:sp>
      </p:grpSp>
      <p:grpSp>
        <p:nvGrpSpPr>
          <p:cNvPr id="237" name="Google Shape;237;p11"/>
          <p:cNvGrpSpPr/>
          <p:nvPr/>
        </p:nvGrpSpPr>
        <p:grpSpPr>
          <a:xfrm>
            <a:off x="9412712" y="4027603"/>
            <a:ext cx="8152880" cy="5447944"/>
            <a:chOff x="0" y="-9525"/>
            <a:chExt cx="10870507" cy="7263925"/>
          </a:xfrm>
        </p:grpSpPr>
        <p:sp>
          <p:nvSpPr>
            <p:cNvPr id="238" name="Google Shape;238;p11"/>
            <p:cNvSpPr/>
            <p:nvPr/>
          </p:nvSpPr>
          <p:spPr>
            <a:xfrm>
              <a:off x="0" y="0"/>
              <a:ext cx="10870507" cy="7254400"/>
            </a:xfrm>
            <a:custGeom>
              <a:rect b="b" l="l" r="r" t="t"/>
              <a:pathLst>
                <a:path extrusionOk="0" h="7254400" w="10870507">
                  <a:moveTo>
                    <a:pt x="0" y="0"/>
                  </a:moveTo>
                  <a:lnTo>
                    <a:pt x="10870507" y="0"/>
                  </a:lnTo>
                  <a:lnTo>
                    <a:pt x="10870507" y="7254400"/>
                  </a:lnTo>
                  <a:lnTo>
                    <a:pt x="0" y="725440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239" name="Google Shape;239;p11"/>
            <p:cNvSpPr txBox="1"/>
            <p:nvPr/>
          </p:nvSpPr>
          <p:spPr>
            <a:xfrm>
              <a:off x="0" y="-9525"/>
              <a:ext cx="10870507" cy="726392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just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600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El rehashing es el proceso de redimensionar una tabla hash y reubicar todos sus elementos para mantener la eficiencia.</a:t>
              </a:r>
              <a:endParaRPr/>
            </a:p>
            <a:p>
              <a:pPr indent="0" lvl="0" marL="0" marR="0" rtl="0" algn="just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just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600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¿Por qué es necesario?</a:t>
              </a:r>
              <a:endParaRPr/>
            </a:p>
            <a:p>
              <a:pPr indent="-374227" lvl="2" marL="1122681" marR="0" rtl="0" algn="just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2600"/>
                <a:buFont typeface="Arial"/>
                <a:buChar char="⚬"/>
              </a:pPr>
              <a:r>
                <a:rPr b="0" i="0" lang="en-US" sz="2600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Si la tabla se llena demasiado, las colisiones aumentan y las operaciones (inserción, búsqueda) se vuelven más lentas (O(n) en el peor caso).</a:t>
              </a:r>
              <a:endParaRPr/>
            </a:p>
            <a:p>
              <a:pPr indent="-374227" lvl="2" marL="1122681" marR="0" rtl="0" algn="just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2600"/>
                <a:buFont typeface="Arial"/>
                <a:buChar char="⚬"/>
              </a:pPr>
              <a:r>
                <a:rPr b="0" i="0" lang="en-US" sz="2600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El rehashing garantiza que la tabla siga operando en tiempo constante promedio (O(1)).</a:t>
              </a:r>
              <a:endParaRPr/>
            </a:p>
            <a:p>
              <a:pPr indent="0" lvl="0" marL="0" marR="0" rtl="0" algn="just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40" name="Google Shape;240;p11"/>
          <p:cNvGrpSpPr/>
          <p:nvPr/>
        </p:nvGrpSpPr>
        <p:grpSpPr>
          <a:xfrm>
            <a:off x="1028700" y="4029379"/>
            <a:ext cx="6673582" cy="5621308"/>
            <a:chOff x="0" y="-9525"/>
            <a:chExt cx="11840886" cy="9973845"/>
          </a:xfrm>
        </p:grpSpPr>
        <p:sp>
          <p:nvSpPr>
            <p:cNvPr id="241" name="Google Shape;241;p11"/>
            <p:cNvSpPr/>
            <p:nvPr/>
          </p:nvSpPr>
          <p:spPr>
            <a:xfrm>
              <a:off x="0" y="0"/>
              <a:ext cx="11840886" cy="9964320"/>
            </a:xfrm>
            <a:custGeom>
              <a:rect b="b" l="l" r="r" t="t"/>
              <a:pathLst>
                <a:path extrusionOk="0" h="9964320" w="11840886">
                  <a:moveTo>
                    <a:pt x="0" y="0"/>
                  </a:moveTo>
                  <a:lnTo>
                    <a:pt x="11840886" y="0"/>
                  </a:lnTo>
                  <a:lnTo>
                    <a:pt x="11840886" y="9964320"/>
                  </a:lnTo>
                  <a:lnTo>
                    <a:pt x="0" y="996432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242" name="Google Shape;242;p11"/>
            <p:cNvSpPr txBox="1"/>
            <p:nvPr/>
          </p:nvSpPr>
          <p:spPr>
            <a:xfrm>
              <a:off x="0" y="-9525"/>
              <a:ext cx="11840886" cy="997384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just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600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El tamaño de una tabla hash se refiere al número de cubetas (buckets) disponibles para almacenar datos.</a:t>
              </a:r>
              <a:endParaRPr/>
            </a:p>
            <a:p>
              <a:pPr indent="0" lvl="0" marL="0" marR="0" rtl="0" algn="just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just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600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Tamaño inicial:</a:t>
              </a:r>
              <a:endParaRPr/>
            </a:p>
            <a:p>
              <a:pPr indent="-374227" lvl="2" marL="1122681" marR="0" rtl="0" algn="just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2600"/>
                <a:buFont typeface="Arial"/>
                <a:buChar char="⚬"/>
              </a:pPr>
              <a:r>
                <a:rPr b="0" i="0" lang="en-US" sz="2600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Generalmente se elige un número primo (ej. 7, 17, 31) para minimizar colisiones.</a:t>
              </a:r>
              <a:endParaRPr/>
            </a:p>
            <a:p>
              <a:pPr indent="-374227" lvl="2" marL="1122681" marR="0" rtl="0" algn="just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2600"/>
                <a:buFont typeface="Arial"/>
                <a:buChar char="⚬"/>
              </a:pPr>
              <a:r>
                <a:rPr b="0" i="0" lang="en-US" sz="2600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Un tamaño demasiado pequeño aumenta las colisiones; uno demasiado grande desperdicia memoria.</a:t>
              </a:r>
              <a:endParaRPr/>
            </a:p>
            <a:p>
              <a:pPr indent="0" lvl="0" marL="0" marR="0" rtl="0" algn="just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just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43" name="Google Shape;243;p11"/>
          <p:cNvGrpSpPr/>
          <p:nvPr/>
        </p:nvGrpSpPr>
        <p:grpSpPr>
          <a:xfrm>
            <a:off x="9412712" y="2560873"/>
            <a:ext cx="6763851" cy="1841659"/>
            <a:chOff x="0" y="-9525"/>
            <a:chExt cx="9018467" cy="2455545"/>
          </a:xfrm>
        </p:grpSpPr>
        <p:sp>
          <p:nvSpPr>
            <p:cNvPr id="244" name="Google Shape;244;p11"/>
            <p:cNvSpPr/>
            <p:nvPr/>
          </p:nvSpPr>
          <p:spPr>
            <a:xfrm>
              <a:off x="0" y="0"/>
              <a:ext cx="9018467" cy="2446020"/>
            </a:xfrm>
            <a:custGeom>
              <a:rect b="b" l="l" r="r" t="t"/>
              <a:pathLst>
                <a:path extrusionOk="0" h="2446020" w="9018467">
                  <a:moveTo>
                    <a:pt x="0" y="0"/>
                  </a:moveTo>
                  <a:lnTo>
                    <a:pt x="9018467" y="0"/>
                  </a:lnTo>
                  <a:lnTo>
                    <a:pt x="9018467" y="2446020"/>
                  </a:lnTo>
                  <a:lnTo>
                    <a:pt x="0" y="244602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245" name="Google Shape;245;p11"/>
            <p:cNvSpPr txBox="1"/>
            <p:nvPr/>
          </p:nvSpPr>
          <p:spPr>
            <a:xfrm>
              <a:off x="0" y="-9525"/>
              <a:ext cx="9018466" cy="245554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b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3600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 ¿Qué es la Redispersión (Rehashing)?</a:t>
              </a:r>
              <a:endParaRPr/>
            </a:p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i="0" sz="3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041C4D"/>
            </a:gs>
            <a:gs pos="100000">
              <a:srgbClr val="3B616F"/>
            </a:gs>
          </a:gsLst>
          <a:lin ang="0" scaled="0"/>
        </a:gradFill>
      </p:bgPr>
    </p:bg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12"/>
          <p:cNvSpPr txBox="1"/>
          <p:nvPr/>
        </p:nvSpPr>
        <p:spPr>
          <a:xfrm>
            <a:off x="3721727" y="3390244"/>
            <a:ext cx="10844545" cy="345888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600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279" u="none" cap="none" strike="noStrike">
                <a:solidFill>
                  <a:srgbClr val="99FFFF"/>
                </a:solidFill>
                <a:latin typeface="Arial"/>
                <a:ea typeface="Arial"/>
                <a:cs typeface="Arial"/>
                <a:sym typeface="Arial"/>
              </a:rPr>
              <a:t>INTRODUCCIÓN A</a:t>
            </a:r>
            <a:endParaRPr/>
          </a:p>
          <a:p>
            <a:pPr indent="0" lvl="0" marL="0" marR="0" rtl="0" algn="ctr">
              <a:lnSpc>
                <a:spcPct val="12600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279" u="none" cap="none" strike="noStrike">
                <a:solidFill>
                  <a:srgbClr val="99FFFF"/>
                </a:solidFill>
                <a:latin typeface="Arial"/>
                <a:ea typeface="Arial"/>
                <a:cs typeface="Arial"/>
                <a:sym typeface="Arial"/>
              </a:rPr>
              <a:t>BLOCKCHAIN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041C4D"/>
            </a:gs>
            <a:gs pos="100000">
              <a:srgbClr val="3B616F"/>
            </a:gs>
          </a:gsLst>
          <a:lin ang="0" scaled="0"/>
        </a:gradFill>
      </p:bgPr>
    </p:bg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13"/>
          <p:cNvSpPr/>
          <p:nvPr/>
        </p:nvSpPr>
        <p:spPr>
          <a:xfrm>
            <a:off x="254740" y="9258300"/>
            <a:ext cx="2728988" cy="487567"/>
          </a:xfrm>
          <a:custGeom>
            <a:rect b="b" l="l" r="r" t="t"/>
            <a:pathLst>
              <a:path extrusionOk="0" h="487567" w="2728988">
                <a:moveTo>
                  <a:pt x="0" y="0"/>
                </a:moveTo>
                <a:lnTo>
                  <a:pt x="2728988" y="0"/>
                </a:lnTo>
                <a:lnTo>
                  <a:pt x="2728988" y="487567"/>
                </a:lnTo>
                <a:lnTo>
                  <a:pt x="0" y="48756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56" name="Google Shape;256;p13"/>
          <p:cNvSpPr/>
          <p:nvPr/>
        </p:nvSpPr>
        <p:spPr>
          <a:xfrm>
            <a:off x="16419691" y="1084613"/>
            <a:ext cx="839609" cy="450336"/>
          </a:xfrm>
          <a:custGeom>
            <a:rect b="b" l="l" r="r" t="t"/>
            <a:pathLst>
              <a:path extrusionOk="0" h="450336" w="839609">
                <a:moveTo>
                  <a:pt x="0" y="0"/>
                </a:moveTo>
                <a:lnTo>
                  <a:pt x="839609" y="0"/>
                </a:lnTo>
                <a:lnTo>
                  <a:pt x="839609" y="450335"/>
                </a:lnTo>
                <a:lnTo>
                  <a:pt x="0" y="45033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57" name="Google Shape;257;p13"/>
          <p:cNvSpPr/>
          <p:nvPr/>
        </p:nvSpPr>
        <p:spPr>
          <a:xfrm>
            <a:off x="15580083" y="1084613"/>
            <a:ext cx="839609" cy="450336"/>
          </a:xfrm>
          <a:custGeom>
            <a:rect b="b" l="l" r="r" t="t"/>
            <a:pathLst>
              <a:path extrusionOk="0" h="450336" w="839609">
                <a:moveTo>
                  <a:pt x="0" y="0"/>
                </a:moveTo>
                <a:lnTo>
                  <a:pt x="839608" y="0"/>
                </a:lnTo>
                <a:lnTo>
                  <a:pt x="839608" y="450335"/>
                </a:lnTo>
                <a:lnTo>
                  <a:pt x="0" y="45033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58" name="Google Shape;258;p13"/>
          <p:cNvSpPr/>
          <p:nvPr/>
        </p:nvSpPr>
        <p:spPr>
          <a:xfrm>
            <a:off x="8538643" y="3216275"/>
            <a:ext cx="8720657" cy="6529592"/>
          </a:xfrm>
          <a:custGeom>
            <a:rect b="b" l="l" r="r" t="t"/>
            <a:pathLst>
              <a:path extrusionOk="0" h="6529592" w="8720657">
                <a:moveTo>
                  <a:pt x="0" y="0"/>
                </a:moveTo>
                <a:lnTo>
                  <a:pt x="8720657" y="0"/>
                </a:lnTo>
                <a:lnTo>
                  <a:pt x="8720657" y="6529592"/>
                </a:lnTo>
                <a:lnTo>
                  <a:pt x="0" y="652959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59" name="Google Shape;259;p13"/>
          <p:cNvSpPr txBox="1"/>
          <p:nvPr/>
        </p:nvSpPr>
        <p:spPr>
          <a:xfrm>
            <a:off x="2025489" y="3044825"/>
            <a:ext cx="4964316" cy="36575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7302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399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En un blockchain cada bloque contiene información.</a:t>
            </a:r>
            <a:endParaRPr/>
          </a:p>
          <a:p>
            <a:pPr indent="0" lvl="0" marL="0" marR="0" rtl="0" algn="just">
              <a:lnSpc>
                <a:spcPct val="17302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3399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7302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3399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0" name="Google Shape;260;p13"/>
          <p:cNvSpPr txBox="1"/>
          <p:nvPr/>
        </p:nvSpPr>
        <p:spPr>
          <a:xfrm>
            <a:off x="2025489" y="1191312"/>
            <a:ext cx="6093300" cy="2586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6000" u="none" cap="none" strike="noStrike">
                <a:solidFill>
                  <a:srgbClr val="99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¿QUÉ ES</a:t>
            </a:r>
            <a:endParaRPr/>
          </a:p>
          <a:p>
            <a:pPr indent="0" lvl="0" marL="0" marR="0" rtl="0" algn="just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6000" u="none" cap="none" strike="noStrike">
                <a:solidFill>
                  <a:srgbClr val="99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Blockchain? </a:t>
            </a:r>
            <a:endParaRPr/>
          </a:p>
          <a:p>
            <a:pPr indent="0" lvl="0" marL="0" marR="0" rtl="0" algn="just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6000" u="none" cap="none" strike="noStrike">
              <a:solidFill>
                <a:srgbClr val="99FFFF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041C4D"/>
            </a:gs>
            <a:gs pos="100000">
              <a:srgbClr val="3B616F"/>
            </a:gs>
          </a:gsLst>
          <a:lin ang="0" scaled="0"/>
        </a:gradFill>
      </p:bgPr>
    </p:bg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14"/>
          <p:cNvSpPr/>
          <p:nvPr/>
        </p:nvSpPr>
        <p:spPr>
          <a:xfrm>
            <a:off x="254740" y="9258300"/>
            <a:ext cx="2728988" cy="487567"/>
          </a:xfrm>
          <a:custGeom>
            <a:rect b="b" l="l" r="r" t="t"/>
            <a:pathLst>
              <a:path extrusionOk="0" h="487567" w="2728988">
                <a:moveTo>
                  <a:pt x="0" y="0"/>
                </a:moveTo>
                <a:lnTo>
                  <a:pt x="2728988" y="0"/>
                </a:lnTo>
                <a:lnTo>
                  <a:pt x="2728988" y="487567"/>
                </a:lnTo>
                <a:lnTo>
                  <a:pt x="0" y="48756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66" name="Google Shape;266;p14"/>
          <p:cNvSpPr txBox="1"/>
          <p:nvPr/>
        </p:nvSpPr>
        <p:spPr>
          <a:xfrm>
            <a:off x="1028700" y="3805640"/>
            <a:ext cx="5287351" cy="51766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7299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992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Un bloque es la unidad fundamental de una blockchain. Contiene datos transaccionales y metadatos que garantizan su integridad y orden en la cadena.</a:t>
            </a:r>
            <a:endParaRPr/>
          </a:p>
          <a:p>
            <a:pPr indent="0" lvl="0" marL="0" marR="0" rtl="0" algn="just">
              <a:lnSpc>
                <a:spcPct val="17299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992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7" name="Google Shape;267;p14"/>
          <p:cNvSpPr txBox="1"/>
          <p:nvPr/>
        </p:nvSpPr>
        <p:spPr>
          <a:xfrm>
            <a:off x="725870" y="1122713"/>
            <a:ext cx="6870542" cy="313486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1300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5499" u="none" cap="none" strike="noStrike">
                <a:solidFill>
                  <a:srgbClr val="99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ESTRUCTURA DE UN BLOQUE EN BLOCKCHAIN</a:t>
            </a:r>
            <a:endParaRPr/>
          </a:p>
          <a:p>
            <a:pPr indent="0" lvl="0" marL="0" marR="0" rtl="0" algn="just">
              <a:lnSpc>
                <a:spcPct val="11300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5499" u="none" cap="none" strike="noStrike">
              <a:solidFill>
                <a:srgbClr val="99FFFF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</p:txBody>
      </p:sp>
      <p:sp>
        <p:nvSpPr>
          <p:cNvPr id="268" name="Google Shape;268;p14"/>
          <p:cNvSpPr txBox="1"/>
          <p:nvPr/>
        </p:nvSpPr>
        <p:spPr>
          <a:xfrm>
            <a:off x="9144000" y="3442345"/>
            <a:ext cx="7653556" cy="24371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7304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834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Es el primer bloque de una blockchain, creado manualmente y sin referencia a un bloque anterior.</a:t>
            </a:r>
            <a:endParaRPr/>
          </a:p>
          <a:p>
            <a:pPr indent="0" lvl="0" marL="0" marR="0" rtl="0" algn="just">
              <a:lnSpc>
                <a:spcPct val="17304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834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9" name="Google Shape;269;p14"/>
          <p:cNvSpPr txBox="1"/>
          <p:nvPr/>
        </p:nvSpPr>
        <p:spPr>
          <a:xfrm>
            <a:off x="9129345" y="1076325"/>
            <a:ext cx="6269644" cy="3125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1301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5464" u="none" cap="none" strike="noStrike">
                <a:solidFill>
                  <a:srgbClr val="99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GENESIS BLOCK (BLOQUE GÉNESIS)</a:t>
            </a:r>
            <a:endParaRPr/>
          </a:p>
          <a:p>
            <a:pPr indent="0" lvl="0" marL="0" marR="0" rtl="0" algn="just">
              <a:lnSpc>
                <a:spcPct val="11301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5464" u="none" cap="none" strike="noStrike">
              <a:solidFill>
                <a:srgbClr val="99FFFF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</p:txBody>
      </p:sp>
      <p:sp>
        <p:nvSpPr>
          <p:cNvPr id="270" name="Google Shape;270;p14"/>
          <p:cNvSpPr/>
          <p:nvPr/>
        </p:nvSpPr>
        <p:spPr>
          <a:xfrm>
            <a:off x="9129345" y="5748020"/>
            <a:ext cx="7904849" cy="3754063"/>
          </a:xfrm>
          <a:custGeom>
            <a:rect b="b" l="l" r="r" t="t"/>
            <a:pathLst>
              <a:path extrusionOk="0" h="3754063" w="7904849">
                <a:moveTo>
                  <a:pt x="0" y="0"/>
                </a:moveTo>
                <a:lnTo>
                  <a:pt x="7904849" y="0"/>
                </a:lnTo>
                <a:lnTo>
                  <a:pt x="7904849" y="3754063"/>
                </a:lnTo>
                <a:lnTo>
                  <a:pt x="0" y="375406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-194" l="0" r="0" t="0"/>
            </a:stretch>
          </a:blipFill>
          <a:ln>
            <a:noFill/>
          </a:ln>
        </p:spPr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p15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3716000" w="24384000">
                <a:moveTo>
                  <a:pt x="24384000" y="13716000"/>
                </a:moveTo>
                <a:lnTo>
                  <a:pt x="0" y="13716000"/>
                </a:lnTo>
                <a:lnTo>
                  <a:pt x="0" y="0"/>
                </a:lnTo>
                <a:lnTo>
                  <a:pt x="24384000" y="0"/>
                </a:lnTo>
                <a:lnTo>
                  <a:pt x="24384000" y="13716000"/>
                </a:lnTo>
                <a:close/>
              </a:path>
            </a:pathLst>
          </a:custGeom>
          <a:gradFill>
            <a:gsLst>
              <a:gs pos="0">
                <a:srgbClr val="041C4D"/>
              </a:gs>
              <a:gs pos="100000">
                <a:srgbClr val="3B616F"/>
              </a:gs>
            </a:gsLst>
            <a:lin ang="0" scaled="0"/>
          </a:gradFill>
          <a:ln>
            <a:noFill/>
          </a:ln>
        </p:spPr>
      </p:sp>
      <p:sp>
        <p:nvSpPr>
          <p:cNvPr id="280" name="Google Shape;280;p15"/>
          <p:cNvSpPr/>
          <p:nvPr/>
        </p:nvSpPr>
        <p:spPr>
          <a:xfrm>
            <a:off x="9963127" y="1927543"/>
            <a:ext cx="6743699" cy="6429374"/>
          </a:xfrm>
          <a:custGeom>
            <a:rect b="b" l="l" r="r" t="t"/>
            <a:pathLst>
              <a:path extrusionOk="0" h="6429374" w="6743699">
                <a:moveTo>
                  <a:pt x="0" y="0"/>
                </a:moveTo>
                <a:lnTo>
                  <a:pt x="6743699" y="0"/>
                </a:lnTo>
                <a:lnTo>
                  <a:pt x="6743699" y="6429374"/>
                </a:lnTo>
                <a:lnTo>
                  <a:pt x="0" y="642937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-26" t="0"/>
            </a:stretch>
          </a:blipFill>
          <a:ln>
            <a:noFill/>
          </a:ln>
        </p:spPr>
      </p:sp>
      <p:grpSp>
        <p:nvGrpSpPr>
          <p:cNvPr id="281" name="Google Shape;281;p15"/>
          <p:cNvGrpSpPr/>
          <p:nvPr/>
        </p:nvGrpSpPr>
        <p:grpSpPr>
          <a:xfrm>
            <a:off x="1042174" y="1806100"/>
            <a:ext cx="9726750" cy="3240675"/>
            <a:chOff x="-12" y="-161924"/>
            <a:chExt cx="12969000" cy="4320900"/>
          </a:xfrm>
        </p:grpSpPr>
        <p:sp>
          <p:nvSpPr>
            <p:cNvPr id="282" name="Google Shape;282;p15"/>
            <p:cNvSpPr/>
            <p:nvPr/>
          </p:nvSpPr>
          <p:spPr>
            <a:xfrm>
              <a:off x="0" y="0"/>
              <a:ext cx="11709522" cy="4158935"/>
            </a:xfrm>
            <a:custGeom>
              <a:rect b="b" l="l" r="r" t="t"/>
              <a:pathLst>
                <a:path extrusionOk="0" h="4158935" w="11709522">
                  <a:moveTo>
                    <a:pt x="0" y="0"/>
                  </a:moveTo>
                  <a:lnTo>
                    <a:pt x="11709522" y="0"/>
                  </a:lnTo>
                  <a:lnTo>
                    <a:pt x="11709522" y="4158935"/>
                  </a:lnTo>
                  <a:lnTo>
                    <a:pt x="0" y="4158935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283" name="Google Shape;283;p15"/>
            <p:cNvSpPr txBox="1"/>
            <p:nvPr/>
          </p:nvSpPr>
          <p:spPr>
            <a:xfrm>
              <a:off x="-12" y="-161924"/>
              <a:ext cx="12969000" cy="4320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395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8100" u="none" cap="none" strike="noStrike">
                  <a:solidFill>
                    <a:srgbClr val="99FFFF"/>
                  </a:solidFill>
                  <a:latin typeface="Arial"/>
                  <a:ea typeface="Arial"/>
                  <a:cs typeface="Arial"/>
                  <a:sym typeface="Arial"/>
                </a:rPr>
                <a:t>Características  Clave</a:t>
              </a:r>
              <a:endParaRPr/>
            </a:p>
          </p:txBody>
        </p:sp>
      </p:grpSp>
      <p:sp>
        <p:nvSpPr>
          <p:cNvPr id="284" name="Google Shape;284;p15"/>
          <p:cNvSpPr/>
          <p:nvPr/>
        </p:nvSpPr>
        <p:spPr>
          <a:xfrm>
            <a:off x="1602592" y="5862454"/>
            <a:ext cx="114300" cy="114299"/>
          </a:xfrm>
          <a:custGeom>
            <a:rect b="b" l="l" r="r" t="t"/>
            <a:pathLst>
              <a:path extrusionOk="0" h="114299" w="114300">
                <a:moveTo>
                  <a:pt x="0" y="0"/>
                </a:moveTo>
                <a:lnTo>
                  <a:pt x="114300" y="0"/>
                </a:lnTo>
                <a:lnTo>
                  <a:pt x="114300" y="114299"/>
                </a:lnTo>
                <a:lnTo>
                  <a:pt x="0" y="11429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85" name="Google Shape;285;p15"/>
          <p:cNvSpPr/>
          <p:nvPr/>
        </p:nvSpPr>
        <p:spPr>
          <a:xfrm>
            <a:off x="1602592" y="6300604"/>
            <a:ext cx="114300" cy="114299"/>
          </a:xfrm>
          <a:custGeom>
            <a:rect b="b" l="l" r="r" t="t"/>
            <a:pathLst>
              <a:path extrusionOk="0" h="114299" w="114300">
                <a:moveTo>
                  <a:pt x="0" y="0"/>
                </a:moveTo>
                <a:lnTo>
                  <a:pt x="114300" y="0"/>
                </a:lnTo>
                <a:lnTo>
                  <a:pt x="114300" y="114299"/>
                </a:lnTo>
                <a:lnTo>
                  <a:pt x="0" y="11429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86" name="Google Shape;286;p15"/>
          <p:cNvSpPr/>
          <p:nvPr/>
        </p:nvSpPr>
        <p:spPr>
          <a:xfrm>
            <a:off x="1602592" y="6738753"/>
            <a:ext cx="114300" cy="114299"/>
          </a:xfrm>
          <a:custGeom>
            <a:rect b="b" l="l" r="r" t="t"/>
            <a:pathLst>
              <a:path extrusionOk="0" h="114299" w="114300">
                <a:moveTo>
                  <a:pt x="0" y="0"/>
                </a:moveTo>
                <a:lnTo>
                  <a:pt x="114300" y="0"/>
                </a:lnTo>
                <a:lnTo>
                  <a:pt x="114300" y="114299"/>
                </a:lnTo>
                <a:lnTo>
                  <a:pt x="0" y="11429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87" name="Google Shape;287;p15"/>
          <p:cNvSpPr/>
          <p:nvPr/>
        </p:nvSpPr>
        <p:spPr>
          <a:xfrm>
            <a:off x="1602592" y="7176903"/>
            <a:ext cx="114300" cy="114299"/>
          </a:xfrm>
          <a:custGeom>
            <a:rect b="b" l="l" r="r" t="t"/>
            <a:pathLst>
              <a:path extrusionOk="0" h="114299" w="114300">
                <a:moveTo>
                  <a:pt x="0" y="0"/>
                </a:moveTo>
                <a:lnTo>
                  <a:pt x="114300" y="0"/>
                </a:lnTo>
                <a:lnTo>
                  <a:pt x="114300" y="114299"/>
                </a:lnTo>
                <a:lnTo>
                  <a:pt x="0" y="11429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288" name="Google Shape;288;p15"/>
          <p:cNvGrpSpPr/>
          <p:nvPr/>
        </p:nvGrpSpPr>
        <p:grpSpPr>
          <a:xfrm>
            <a:off x="1884275" y="5611106"/>
            <a:ext cx="3548979" cy="2560941"/>
            <a:chOff x="0" y="-47625"/>
            <a:chExt cx="4731973" cy="3414588"/>
          </a:xfrm>
        </p:grpSpPr>
        <p:sp>
          <p:nvSpPr>
            <p:cNvPr id="289" name="Google Shape;289;p15"/>
            <p:cNvSpPr/>
            <p:nvPr/>
          </p:nvSpPr>
          <p:spPr>
            <a:xfrm>
              <a:off x="0" y="0"/>
              <a:ext cx="4731972" cy="3366963"/>
            </a:xfrm>
            <a:custGeom>
              <a:rect b="b" l="l" r="r" t="t"/>
              <a:pathLst>
                <a:path extrusionOk="0" h="3366963" w="4731972">
                  <a:moveTo>
                    <a:pt x="0" y="0"/>
                  </a:moveTo>
                  <a:lnTo>
                    <a:pt x="4731972" y="0"/>
                  </a:lnTo>
                  <a:lnTo>
                    <a:pt x="4731972" y="3366963"/>
                  </a:lnTo>
                  <a:lnTo>
                    <a:pt x="0" y="3366963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290" name="Google Shape;290;p15"/>
            <p:cNvSpPr txBox="1"/>
            <p:nvPr/>
          </p:nvSpPr>
          <p:spPr>
            <a:xfrm>
              <a:off x="0" y="-47625"/>
              <a:ext cx="4731973" cy="341458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38013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799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Descentralización Inmutabilidad  Transparencia  Trazabilidad  Consenso</a:t>
              </a:r>
              <a:endParaRPr/>
            </a:p>
          </p:txBody>
        </p:sp>
      </p:grpSp>
      <p:sp>
        <p:nvSpPr>
          <p:cNvPr id="291" name="Google Shape;291;p15"/>
          <p:cNvSpPr/>
          <p:nvPr/>
        </p:nvSpPr>
        <p:spPr>
          <a:xfrm>
            <a:off x="16419691" y="1084613"/>
            <a:ext cx="839609" cy="450336"/>
          </a:xfrm>
          <a:custGeom>
            <a:rect b="b" l="l" r="r" t="t"/>
            <a:pathLst>
              <a:path extrusionOk="0" h="450336" w="839609">
                <a:moveTo>
                  <a:pt x="0" y="0"/>
                </a:moveTo>
                <a:lnTo>
                  <a:pt x="839609" y="0"/>
                </a:lnTo>
                <a:lnTo>
                  <a:pt x="839609" y="450335"/>
                </a:lnTo>
                <a:lnTo>
                  <a:pt x="0" y="45033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92" name="Google Shape;292;p15"/>
          <p:cNvSpPr/>
          <p:nvPr/>
        </p:nvSpPr>
        <p:spPr>
          <a:xfrm>
            <a:off x="15580083" y="1084613"/>
            <a:ext cx="839609" cy="450336"/>
          </a:xfrm>
          <a:custGeom>
            <a:rect b="b" l="l" r="r" t="t"/>
            <a:pathLst>
              <a:path extrusionOk="0" h="450336" w="839609">
                <a:moveTo>
                  <a:pt x="0" y="0"/>
                </a:moveTo>
                <a:lnTo>
                  <a:pt x="839608" y="0"/>
                </a:lnTo>
                <a:lnTo>
                  <a:pt x="839608" y="450335"/>
                </a:lnTo>
                <a:lnTo>
                  <a:pt x="0" y="45033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041C4D"/>
            </a:gs>
            <a:gs pos="100000">
              <a:srgbClr val="3B616F"/>
            </a:gs>
          </a:gsLst>
          <a:lin ang="0" scaled="0"/>
        </a:gradFill>
      </p:bgPr>
    </p:bg>
    <p:spTree>
      <p:nvGrpSpPr>
        <p:cNvPr id="296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p16"/>
          <p:cNvSpPr txBox="1"/>
          <p:nvPr/>
        </p:nvSpPr>
        <p:spPr>
          <a:xfrm>
            <a:off x="2507390" y="1000125"/>
            <a:ext cx="13503315" cy="20520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6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CONCEPTOS CLAVE APRENDIDOS </a:t>
            </a:r>
            <a:endParaRPr/>
          </a:p>
        </p:txBody>
      </p:sp>
      <p:sp>
        <p:nvSpPr>
          <p:cNvPr id="298" name="Google Shape;298;p16"/>
          <p:cNvSpPr txBox="1"/>
          <p:nvPr/>
        </p:nvSpPr>
        <p:spPr>
          <a:xfrm>
            <a:off x="6354041" y="4187281"/>
            <a:ext cx="5579919" cy="222186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77825" lvl="1" marL="755651" marR="0" rtl="0" algn="just">
              <a:lnSpc>
                <a:spcPct val="173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500"/>
              <a:buFont typeface="Arial"/>
              <a:buChar char="•"/>
            </a:pPr>
            <a:r>
              <a:rPr b="0" i="0" lang="en-US" sz="35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Hash</a:t>
            </a:r>
            <a:endParaRPr/>
          </a:p>
          <a:p>
            <a:pPr indent="-377825" lvl="1" marL="755651" marR="0" rtl="0" algn="just">
              <a:lnSpc>
                <a:spcPct val="173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500"/>
              <a:buFont typeface="Arial"/>
              <a:buChar char="•"/>
            </a:pPr>
            <a:r>
              <a:rPr b="0" i="0" lang="en-US" sz="35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Blockchain</a:t>
            </a:r>
            <a:endParaRPr/>
          </a:p>
          <a:p>
            <a:pPr indent="-377825" lvl="1" marL="755651" marR="0" rtl="0" algn="just">
              <a:lnSpc>
                <a:spcPct val="173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500"/>
              <a:buFont typeface="Arial"/>
              <a:buChar char="•"/>
            </a:pPr>
            <a:r>
              <a:rPr b="0" i="0" lang="en-US" sz="35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Genesis Block</a:t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041C4D"/>
            </a:gs>
            <a:gs pos="100000">
              <a:srgbClr val="3B616F"/>
            </a:gs>
          </a:gsLst>
          <a:lin ang="0" scaled="0"/>
        </a:gradFill>
      </p:bgPr>
    </p:bg>
    <p:spTree>
      <p:nvGrpSpPr>
        <p:cNvPr id="302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p17"/>
          <p:cNvSpPr txBox="1"/>
          <p:nvPr/>
        </p:nvSpPr>
        <p:spPr>
          <a:xfrm>
            <a:off x="2507390" y="1000125"/>
            <a:ext cx="13503315" cy="107099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6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REFERENCIAS </a:t>
            </a:r>
            <a:endParaRPr/>
          </a:p>
        </p:txBody>
      </p:sp>
      <p:sp>
        <p:nvSpPr>
          <p:cNvPr id="304" name="Google Shape;304;p17"/>
          <p:cNvSpPr txBox="1"/>
          <p:nvPr/>
        </p:nvSpPr>
        <p:spPr>
          <a:xfrm>
            <a:off x="3426618" y="2673500"/>
            <a:ext cx="11664859" cy="716890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40217" lvl="1" marL="680435" marR="0" rtl="0" algn="just">
              <a:lnSpc>
                <a:spcPct val="140019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151"/>
              <a:buFont typeface="Arial"/>
              <a:buChar char="•"/>
            </a:pPr>
            <a:r>
              <a:rPr b="0" i="0" lang="en-US" sz="3151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Cormen, T. H., Leiserson, C. E., Rivest, R. L., &amp; Stein, C. (2009). Introduction to Algorithms (3rd ed.). MIT Press.</a:t>
            </a:r>
            <a:endParaRPr/>
          </a:p>
          <a:p>
            <a:pPr indent="-453623" lvl="2" marL="1360870" marR="0" rtl="0" algn="just">
              <a:lnSpc>
                <a:spcPct val="140019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151"/>
              <a:buFont typeface="Arial"/>
              <a:buChar char="⚬"/>
            </a:pPr>
            <a:r>
              <a:rPr b="0" i="0" lang="en-US" sz="3151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Explicación detallada de funciones hash, colisiones y rehashing (Cap. 11).</a:t>
            </a:r>
            <a:endParaRPr/>
          </a:p>
          <a:p>
            <a:pPr indent="0" lvl="0" marL="0" marR="0" rtl="0" algn="just">
              <a:lnSpc>
                <a:spcPct val="14001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3151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0217" lvl="1" marL="680435" marR="0" rtl="0" algn="just">
              <a:lnSpc>
                <a:spcPct val="140019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151"/>
              <a:buFont typeface="Arial"/>
              <a:buChar char="•"/>
            </a:pPr>
            <a:r>
              <a:rPr b="0" i="0" lang="en-US" sz="3151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Menezes, A. J., van Oorschot, P. C., &amp; Vanstone, S. A. (1996). Handbook of Applied Cryptography. CRC Press.</a:t>
            </a:r>
            <a:endParaRPr/>
          </a:p>
          <a:p>
            <a:pPr indent="-453623" lvl="2" marL="1360870" marR="0" rtl="0" algn="just">
              <a:lnSpc>
                <a:spcPct val="140019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151"/>
              <a:buFont typeface="Arial"/>
              <a:buChar char="⚬"/>
            </a:pPr>
            <a:r>
              <a:rPr b="0" i="0" lang="en-US" sz="3151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Funciones hash criptográficas y su aplicación en estructuras de datos (Cap. 9).</a:t>
            </a:r>
            <a:endParaRPr/>
          </a:p>
          <a:p>
            <a:pPr indent="0" lvl="0" marL="0" marR="0" rtl="0" algn="just">
              <a:lnSpc>
                <a:spcPct val="14001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3151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4001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3151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041C4D"/>
            </a:gs>
            <a:gs pos="100000">
              <a:srgbClr val="3B616F"/>
            </a:gs>
          </a:gsLst>
          <a:lin ang="0" scaled="0"/>
        </a:gradFill>
      </p:bgPr>
    </p:bg>
    <p:spTree>
      <p:nvGrpSpPr>
        <p:cNvPr id="308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p18"/>
          <p:cNvSpPr txBox="1"/>
          <p:nvPr/>
        </p:nvSpPr>
        <p:spPr>
          <a:xfrm>
            <a:off x="4437795" y="3389104"/>
            <a:ext cx="8658828" cy="24954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6099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¡GRACIAS POR SU  ATENCIÓN!</a:t>
            </a:r>
            <a:endParaRPr/>
          </a:p>
          <a:p>
            <a:pPr indent="0" lvl="0" marL="0" marR="0" rtl="0" algn="just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6099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0" name="Google Shape;310;p18"/>
          <p:cNvSpPr txBox="1"/>
          <p:nvPr/>
        </p:nvSpPr>
        <p:spPr>
          <a:xfrm>
            <a:off x="5414714" y="5958103"/>
            <a:ext cx="6704991" cy="8985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5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DUDAS</a:t>
            </a:r>
            <a:endParaRPr/>
          </a:p>
        </p:txBody>
      </p:sp>
      <p:sp>
        <p:nvSpPr>
          <p:cNvPr id="311" name="Google Shape;311;p18"/>
          <p:cNvSpPr/>
          <p:nvPr/>
        </p:nvSpPr>
        <p:spPr>
          <a:xfrm>
            <a:off x="13963751" y="1028700"/>
            <a:ext cx="2757268" cy="3770970"/>
          </a:xfrm>
          <a:custGeom>
            <a:rect b="b" l="l" r="r" t="t"/>
            <a:pathLst>
              <a:path extrusionOk="0" h="3770970" w="2757268">
                <a:moveTo>
                  <a:pt x="0" y="0"/>
                </a:moveTo>
                <a:lnTo>
                  <a:pt x="2757268" y="0"/>
                </a:lnTo>
                <a:lnTo>
                  <a:pt x="2757268" y="3770970"/>
                </a:lnTo>
                <a:lnTo>
                  <a:pt x="0" y="377097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12" name="Google Shape;312;p18"/>
          <p:cNvSpPr txBox="1"/>
          <p:nvPr/>
        </p:nvSpPr>
        <p:spPr>
          <a:xfrm>
            <a:off x="2411098" y="7899735"/>
            <a:ext cx="13465804" cy="7194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RECUERDA QUE TENEMOS NUESTRO FORO SEMANAL DONDE PUEDES CONSULTAR CUALQUIER DUDA QUE TE SURJA EN LA SEMANA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2006-08-16T00:00:00Z</dcterms:created>
</cp:coreProperties>
</file>