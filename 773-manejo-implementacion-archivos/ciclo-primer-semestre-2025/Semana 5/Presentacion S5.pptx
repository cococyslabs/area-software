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Poppins Light"/>
      <p:regular r:id="rId15"/>
      <p:bold r:id="rId16"/>
      <p:italic r:id="rId17"/>
      <p:boldItalic r:id="rId18"/>
    </p:embeddedFont>
    <p:embeddedFont>
      <p:font typeface="Roboto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uvDdYiaC2Oss8qLcbmaomeWle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Light-bold.fntdata"/><Relationship Id="rId11" Type="http://schemas.openxmlformats.org/officeDocument/2006/relationships/slide" Target="slides/slide7.xml"/><Relationship Id="rId22" Type="http://schemas.openxmlformats.org/officeDocument/2006/relationships/font" Target="fonts/RobotoLight-boldItalic.fntdata"/><Relationship Id="rId10" Type="http://schemas.openxmlformats.org/officeDocument/2006/relationships/slide" Target="slides/slide6.xml"/><Relationship Id="rId21" Type="http://schemas.openxmlformats.org/officeDocument/2006/relationships/font" Target="fonts/RobotoLight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oppinsLight-regular.fntdata"/><Relationship Id="rId14" Type="http://schemas.openxmlformats.org/officeDocument/2006/relationships/slide" Target="slides/slide10.xml"/><Relationship Id="rId17" Type="http://schemas.openxmlformats.org/officeDocument/2006/relationships/font" Target="fonts/PoppinsLight-italic.fntdata"/><Relationship Id="rId16" Type="http://schemas.openxmlformats.org/officeDocument/2006/relationships/font" Target="fonts/PoppinsLight-bold.fntdata"/><Relationship Id="rId5" Type="http://schemas.openxmlformats.org/officeDocument/2006/relationships/slide" Target="slides/slide1.xml"/><Relationship Id="rId19" Type="http://schemas.openxmlformats.org/officeDocument/2006/relationships/font" Target="fonts/RobotoLight-regular.fntdata"/><Relationship Id="rId6" Type="http://schemas.openxmlformats.org/officeDocument/2006/relationships/slide" Target="slides/slide2.xml"/><Relationship Id="rId18" Type="http://schemas.openxmlformats.org/officeDocument/2006/relationships/font" Target="fonts/PoppinsLigh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" name="Google Shape;1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" name="Google Shape;2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" name="Google Shape;2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" name="Google Shape;2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" name="Google Shape;3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" name="Google Shape;3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" name="Google Shape;4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" name="Google Shape;4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" name="Google Shape;4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6280190" y="1062633"/>
            <a:ext cx="7556421" cy="2934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6150"/>
              <a:buFont typeface="Poppins Light"/>
              <a:buNone/>
            </a:pPr>
            <a:r>
              <a:rPr b="0" i="0" lang="en-US" sz="61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Fundamentos de los sistemas de archivos</a:t>
            </a:r>
            <a:endParaRPr b="0" i="0" sz="6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6280190" y="4337447"/>
            <a:ext cx="7556421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sistemas de archivos son la piedra angular de cualquier sistema operativo, responsables de gestionar y organizar los datos almacenados en los dispositivos de almacenamiento. Exploraremos los conceptos fundamentales que sustentan la estructura y funcionamiento de los sistemas de archivos, sentando las bases para una comprensión más profunda de este elemento crucial de la tecnología informática.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726638" y="1032986"/>
            <a:ext cx="7690723" cy="1297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050"/>
              <a:buFont typeface="Poppins Light"/>
              <a:buNone/>
            </a:pPr>
            <a:r>
              <a:rPr b="0" i="0" lang="en-US" sz="40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Introducción a los sistemas de archivos</a:t>
            </a:r>
            <a:endParaRPr b="0" i="0" sz="4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26638" y="2875597"/>
            <a:ext cx="467082" cy="467082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914638" y="2953345"/>
            <a:ext cx="90964" cy="311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50"/>
              <a:buFont typeface="Poppins Light"/>
              <a:buNone/>
            </a:pPr>
            <a:r>
              <a:rPr b="0" i="0" lang="en-US" sz="24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  <a:endParaRPr b="0" i="0" sz="2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401247" y="2875597"/>
            <a:ext cx="3067050" cy="648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¿Qué son los sistemas de archivos?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401247" y="3649028"/>
            <a:ext cx="3067050" cy="1993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sistemas de archivos son el mecanismo que permite a los sistemas operativos organizar y gestionar los datos almacenados en los dispositivos de almacenamiento.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675823" y="2875597"/>
            <a:ext cx="467082" cy="467082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820245" y="2953345"/>
            <a:ext cx="178118" cy="311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50"/>
              <a:buFont typeface="Poppins Light"/>
              <a:buNone/>
            </a:pPr>
            <a:r>
              <a:rPr b="0" i="0" lang="en-US" sz="24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  <a:endParaRPr b="0" i="0" sz="2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350431" y="2875597"/>
            <a:ext cx="3067050" cy="648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Importancia de los sistemas de archivos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350431" y="3649028"/>
            <a:ext cx="3067050" cy="1993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Desempeñan un papel crucial en la estructura y funcionamiento de los sistemas operativos, facilitando el acceso, la organización y la seguridad de la información.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726638" y="6083141"/>
            <a:ext cx="467082" cy="467082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869037" y="6160889"/>
            <a:ext cx="182166" cy="311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50"/>
              <a:buFont typeface="Poppins Light"/>
              <a:buNone/>
            </a:pPr>
            <a:r>
              <a:rPr b="0" i="0" lang="en-US" sz="24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  <a:endParaRPr b="0" i="0" sz="2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1401247" y="6083141"/>
            <a:ext cx="2728793" cy="324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Características clave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1401247" y="6532126"/>
            <a:ext cx="7016115" cy="664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Incluyen la capacidad de crear, modificar, eliminar y organizar archivos y directorios, así como controlar el acceso y la integridad de los datos.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793790" y="2358509"/>
            <a:ext cx="1248429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450"/>
              <a:buFont typeface="Poppins Light"/>
              <a:buNone/>
            </a:pPr>
            <a:r>
              <a:rPr b="0" i="0" lang="en-US" sz="44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Estructura básica de un sistema de archivos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Archivos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archivos son la unidad básica de almacenamiento de datos, que contienen información estructurada y organizada.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Directorios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332928" y="4215408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directorios son contenedores que agrupan y organizan archivos y otros directorios en una estructura jerárquica.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Metadatos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metadatos son información adicional asociada a los archivos y directorios, como permisos, fechas de creación y modificación.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/>
          <p:nvPr/>
        </p:nvSpPr>
        <p:spPr>
          <a:xfrm>
            <a:off x="6201489" y="1048107"/>
            <a:ext cx="7713821" cy="1276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000"/>
              <a:buFont typeface="Poppins Light"/>
              <a:buNone/>
            </a:pPr>
            <a:r>
              <a:rPr b="0" i="0" lang="en-US" sz="40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Gestión de archivos y directorios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201489" y="2631400"/>
            <a:ext cx="3754755" cy="2172891"/>
          </a:xfrm>
          <a:prstGeom prst="roundRect">
            <a:avLst>
              <a:gd fmla="val 3949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413421" y="2843332"/>
            <a:ext cx="2909054" cy="31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Creación y eliminación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413421" y="3285053"/>
            <a:ext cx="3330893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sistemas de archivos permiten crear, renombrar, mover y eliminar archivos y directorios de manera eficiente.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0160556" y="2631400"/>
            <a:ext cx="3754755" cy="2172891"/>
          </a:xfrm>
          <a:prstGeom prst="roundRect">
            <a:avLst>
              <a:gd fmla="val 3949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0372487" y="2843332"/>
            <a:ext cx="2553891" cy="31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Permisos y accesos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0372487" y="3285053"/>
            <a:ext cx="3330893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sistemas de archivos controlan los permisos de acceso a archivos y directorios, asegurando la privacidad y seguridad de la información.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201489" y="5008602"/>
            <a:ext cx="3754755" cy="2172891"/>
          </a:xfrm>
          <a:prstGeom prst="roundRect">
            <a:avLst>
              <a:gd fmla="val 3949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413421" y="5220533"/>
            <a:ext cx="3050262" cy="31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Organización jerárquica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413421" y="5662255"/>
            <a:ext cx="3330893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La estructura de directorios y subdirectorios permite a los usuarios organizar y navegar fácilmente a través de sus archivos.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0160556" y="5008602"/>
            <a:ext cx="3754755" cy="2172891"/>
          </a:xfrm>
          <a:prstGeom prst="roundRect">
            <a:avLst>
              <a:gd fmla="val 3949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372487" y="5220533"/>
            <a:ext cx="2553891" cy="31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Búsqueda y filtrado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372487" y="5662255"/>
            <a:ext cx="3330893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Las funciones de búsqueda y filtrado facilitan la localización de archivos específicos dentro del sistema de archivos.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612219" y="599242"/>
            <a:ext cx="7919561" cy="109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3400"/>
              <a:buFont typeface="Poppins Light"/>
              <a:buNone/>
            </a:pPr>
            <a:r>
              <a:rPr b="0" i="0" lang="en-US" sz="34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Operaciones de entrada/salida en sistemas de archivos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863203" y="1954887"/>
            <a:ext cx="22860" cy="5675352"/>
          </a:xfrm>
          <a:prstGeom prst="roundRect">
            <a:avLst>
              <a:gd fmla="val 321430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048583" y="2337078"/>
            <a:ext cx="612219" cy="22860"/>
          </a:xfrm>
          <a:prstGeom prst="roundRect">
            <a:avLst>
              <a:gd fmla="val 321430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77823" y="2151698"/>
            <a:ext cx="393621" cy="393621"/>
          </a:xfrm>
          <a:prstGeom prst="roundRect">
            <a:avLst>
              <a:gd fmla="val 18667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836295" y="2217301"/>
            <a:ext cx="76676" cy="262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836777" y="2129790"/>
            <a:ext cx="2186821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00"/>
              <a:buFont typeface="Poppins Light"/>
              <a:buNone/>
            </a:pPr>
            <a:r>
              <a:rPr b="0" i="0" lang="en-US" sz="17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Abrir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836777" y="2508052"/>
            <a:ext cx="6695003" cy="559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Roboto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La operación de abrir un archivo permite acceder a su contenido y prepararlo para posteriores operaciones de lectura y escritura.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048583" y="3799642"/>
            <a:ext cx="612219" cy="22860"/>
          </a:xfrm>
          <a:prstGeom prst="roundRect">
            <a:avLst>
              <a:gd fmla="val 321430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77823" y="3614261"/>
            <a:ext cx="393621" cy="393621"/>
          </a:xfrm>
          <a:prstGeom prst="roundRect">
            <a:avLst>
              <a:gd fmla="val 18667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99505" y="3679865"/>
            <a:ext cx="150138" cy="262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836777" y="3592354"/>
            <a:ext cx="2186821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00"/>
              <a:buFont typeface="Poppins Light"/>
              <a:buNone/>
            </a:pPr>
            <a:r>
              <a:rPr b="0" i="0" lang="en-US" sz="17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Leer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836777" y="3970615"/>
            <a:ext cx="6695003" cy="559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Roboto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La lectura de un archivo extrae datos desde el dispositivo de almacenamiento y los transfiere a la memoria del sistema operativo.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048583" y="5262205"/>
            <a:ext cx="612219" cy="22860"/>
          </a:xfrm>
          <a:prstGeom prst="roundRect">
            <a:avLst>
              <a:gd fmla="val 321430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77823" y="5076825"/>
            <a:ext cx="393621" cy="393621"/>
          </a:xfrm>
          <a:prstGeom prst="roundRect">
            <a:avLst>
              <a:gd fmla="val 18667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797838" y="5142428"/>
            <a:ext cx="153472" cy="262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836777" y="5054918"/>
            <a:ext cx="2186821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00"/>
              <a:buFont typeface="Poppins Light"/>
              <a:buNone/>
            </a:pPr>
            <a:r>
              <a:rPr b="0" i="0" lang="en-US" sz="17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Escribir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836777" y="5433179"/>
            <a:ext cx="6695003" cy="559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Roboto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La escritura de un archivo transfiere datos desde la memoria del sistema operativo al dispositivo de almacenamiento.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048583" y="6724769"/>
            <a:ext cx="612219" cy="22860"/>
          </a:xfrm>
          <a:prstGeom prst="roundRect">
            <a:avLst>
              <a:gd fmla="val 321430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77823" y="6539389"/>
            <a:ext cx="393621" cy="393621"/>
          </a:xfrm>
          <a:prstGeom prst="roundRect">
            <a:avLst>
              <a:gd fmla="val 18667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94147" y="6604992"/>
            <a:ext cx="160853" cy="262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4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836777" y="6517481"/>
            <a:ext cx="2186821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00"/>
              <a:buFont typeface="Poppins Light"/>
              <a:buNone/>
            </a:pPr>
            <a:r>
              <a:rPr b="0" i="0" lang="en-US" sz="17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Cerrar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836777" y="6895743"/>
            <a:ext cx="6695003" cy="559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Roboto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La operación de cerrar un archivo completa las transacciones pendientes y libera los recursos utilizados por el archivo.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/>
          <p:nvPr/>
        </p:nvSpPr>
        <p:spPr>
          <a:xfrm>
            <a:off x="722114" y="889040"/>
            <a:ext cx="7690842" cy="644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050"/>
              <a:buFont typeface="Poppins Light"/>
              <a:buNone/>
            </a:pPr>
            <a:r>
              <a:rPr b="0" i="0" lang="en-US" sz="40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Tipos de sistemas de archivos</a:t>
            </a:r>
            <a:endParaRPr b="0" i="0" sz="4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4" name="Google Shape;1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114" y="1843207"/>
            <a:ext cx="515779" cy="51577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722114" y="2565202"/>
            <a:ext cx="2578894" cy="322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Windows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722114" y="3011210"/>
            <a:ext cx="3695105" cy="66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Sistemas de archivos comunes: FAT, NTFS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7" name="Google Shape;14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6662" y="1843207"/>
            <a:ext cx="515779" cy="51577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4726662" y="2565202"/>
            <a:ext cx="2578894" cy="322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Linux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726662" y="3011210"/>
            <a:ext cx="3695224" cy="66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Sistemas de archivos comunes: ext2, ext3, ext4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2114" y="4290179"/>
            <a:ext cx="515779" cy="51577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722114" y="5012174"/>
            <a:ext cx="2578894" cy="322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macOS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722114" y="5458182"/>
            <a:ext cx="3695105" cy="66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Sistemas de archivos comunes: HFS, HFS+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3" name="Google Shape;1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6662" y="4290179"/>
            <a:ext cx="515779" cy="51577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4726662" y="5012174"/>
            <a:ext cx="2578894" cy="322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Cloud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726662" y="5458182"/>
            <a:ext cx="3695224" cy="66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Sistemas de archivos comunes: HDFS, Amazon S3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722114" y="6350317"/>
            <a:ext cx="7699772" cy="99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sistemas operativos utilizan diferentes sistemas de archivos, cada uno con sus propias características y funcionalidades. En las siguientes secciones, exploraremos algunos de los sistemas de archivos más comunes.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6229350" y="751642"/>
            <a:ext cx="6356509" cy="66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150"/>
              <a:buFont typeface="Poppins Light"/>
              <a:buNone/>
            </a:pPr>
            <a:r>
              <a:rPr b="0" i="0" lang="en-US" sz="41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Sistema de archivos FAT</a:t>
            </a:r>
            <a:endParaRPr b="0" i="0" sz="4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229350" y="1733312"/>
            <a:ext cx="3722965" cy="2935962"/>
          </a:xfrm>
          <a:prstGeom prst="roundRect">
            <a:avLst>
              <a:gd fmla="val 3037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449139" y="1953101"/>
            <a:ext cx="2653427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Introducción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449139" y="2412087"/>
            <a:ext cx="3283387" cy="203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Roboto Light"/>
              <a:buNone/>
            </a:pPr>
            <a:r>
              <a:rPr b="0" i="0" lang="en-US" sz="16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El sistema de archivos FAT (File Allocation Table) es uno de los más antiguos y ampliamente utilizados, especialmente en dispositivos más antiguos y sistemas operativos más simples.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0164485" y="1733312"/>
            <a:ext cx="3722965" cy="2935962"/>
          </a:xfrm>
          <a:prstGeom prst="roundRect">
            <a:avLst>
              <a:gd fmla="val 3037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0384274" y="1953101"/>
            <a:ext cx="2653427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Estructura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0384274" y="2412087"/>
            <a:ext cx="3283387" cy="169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Roboto Light"/>
              <a:buNone/>
            </a:pPr>
            <a:r>
              <a:rPr b="0" i="0" lang="en-US" sz="16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FAT utiliza una tabla de asignación de archivos para rastrear la ubicación de los datos en el disco, así como directorios para organizar los archivos.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229350" y="4881443"/>
            <a:ext cx="3722965" cy="2596396"/>
          </a:xfrm>
          <a:prstGeom prst="roundRect">
            <a:avLst>
              <a:gd fmla="val 3434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449139" y="5101233"/>
            <a:ext cx="2653427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Ventajas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449139" y="5560219"/>
            <a:ext cx="3283387" cy="1358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Roboto Light"/>
              <a:buNone/>
            </a:pPr>
            <a:r>
              <a:rPr b="0" i="0" lang="en-US" sz="16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FAT es simple, de fácil implementación y ofrece compatibilidad entre diversos sistemas operativos.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0164485" y="4881443"/>
            <a:ext cx="3722965" cy="2596396"/>
          </a:xfrm>
          <a:prstGeom prst="roundRect">
            <a:avLst>
              <a:gd fmla="val 3434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0384274" y="5101233"/>
            <a:ext cx="2653427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Limitaciones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0384274" y="5560219"/>
            <a:ext cx="3283387" cy="169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Roboto Light"/>
              <a:buNone/>
            </a:pPr>
            <a:r>
              <a:rPr b="0" i="0" lang="en-US" sz="16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Tiene limitaciones en cuanto al tamaño máximo de archivos y volúmenes, así como en la seguridad y la capacidad de recuperación de datos.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793790" y="1995607"/>
            <a:ext cx="713660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450"/>
              <a:buFont typeface="Poppins Light"/>
              <a:buNone/>
            </a:pPr>
            <a:r>
              <a:rPr b="0" i="0" lang="en-US" sz="44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Sistema de archivos NTFS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93790" y="32713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Introducción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93790" y="3852505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NTFS (New Technology File System) es el sistema de archivos nativo de los sistemas operativos Windows, diseñado para superar las limitaciones de FAT.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332928" y="32713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Estructura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332928" y="3852505"/>
            <a:ext cx="3978116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NTFS utiliza una tabla maestra de archivos (Master File Table) para rastrear la ubicación y metadatos de los archivos, y ofrece características avanzadas de seguridad y recuperación de datos.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9872067" y="32713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Ventajas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9872067" y="3852505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NTFS proporciona un mejor rendimiento, mayor seguridad, y mayor capacidad de gestión de archivos y directorios en comparación con FAT.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793790" y="650319"/>
            <a:ext cx="698861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450"/>
              <a:buFont typeface="Poppins Light"/>
              <a:buNone/>
            </a:pPr>
            <a:r>
              <a:rPr b="0" i="0" lang="en-US" sz="44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Sistema de archivos ext2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5" name="Google Shape;19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1699260"/>
            <a:ext cx="1134070" cy="203275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/>
          <p:nvPr/>
        </p:nvSpPr>
        <p:spPr>
          <a:xfrm>
            <a:off x="2268022" y="192607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Introducción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2268022" y="2416493"/>
            <a:ext cx="608218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ext2 (Second Extended Filesystem) es uno de los sistemas de archivos más antiguos y comunes en sistemas operativos Linux.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8" name="Google Shape;19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3732014"/>
            <a:ext cx="1134070" cy="181451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9"/>
          <p:cNvSpPr/>
          <p:nvPr/>
        </p:nvSpPr>
        <p:spPr>
          <a:xfrm>
            <a:off x="2268022" y="395882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Estructura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2268022" y="4449247"/>
            <a:ext cx="608218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ext2 utiliza una estructura basada en inodos para rastrear los metadatos y la ubicación de los archivos y directorios.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1" name="Google Shape;20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5546527"/>
            <a:ext cx="1134070" cy="203275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2268022" y="57733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Características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2268022" y="6263759"/>
            <a:ext cx="608218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ext2 ofrece características como enlaces simbólicos, permisos de usuario y grupo, y un buen rendimiento en dispositivos de almacenamiento más antiguos.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9" name="Google Shape;2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71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/>
          <p:cNvSpPr/>
          <p:nvPr/>
        </p:nvSpPr>
        <p:spPr>
          <a:xfrm>
            <a:off x="6115645" y="494348"/>
            <a:ext cx="5544503" cy="56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3500"/>
              <a:buFont typeface="Poppins Light"/>
              <a:buNone/>
            </a:pPr>
            <a:r>
              <a:rPr b="0" i="0" lang="en-US" sz="35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Sistema de archivos ext3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373892" y="1325761"/>
            <a:ext cx="22860" cy="6409611"/>
          </a:xfrm>
          <a:prstGeom prst="roundRect">
            <a:avLst>
              <a:gd fmla="val 330335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564690" y="1718667"/>
            <a:ext cx="629245" cy="22860"/>
          </a:xfrm>
          <a:prstGeom prst="roundRect">
            <a:avLst>
              <a:gd fmla="val 330335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183094" y="1527929"/>
            <a:ext cx="404455" cy="404455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345853" y="1595318"/>
            <a:ext cx="78819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00"/>
              <a:buFont typeface="Poppins Light"/>
              <a:buNone/>
            </a:pPr>
            <a:r>
              <a:rPr b="0" i="0" lang="en-US" sz="21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7374136" y="1505545"/>
            <a:ext cx="224742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Poppins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Introducción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7374136" y="1894403"/>
            <a:ext cx="6627019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Roboto Light"/>
              <a:buNone/>
            </a:pPr>
            <a:r>
              <a:rPr b="0" i="0" lang="en-US" sz="14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ext3 (Third Extended Filesystem) es una evolución del sistema de archivos ext2, introducida para mejorar la fiabilidad y la recuperación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564690" y="3222188"/>
            <a:ext cx="629245" cy="22860"/>
          </a:xfrm>
          <a:prstGeom prst="roundRect">
            <a:avLst>
              <a:gd fmla="val 330335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183094" y="3031450"/>
            <a:ext cx="404455" cy="404455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308110" y="3098840"/>
            <a:ext cx="154305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00"/>
              <a:buFont typeface="Poppins Light"/>
              <a:buNone/>
            </a:pPr>
            <a:r>
              <a:rPr b="0" i="0" lang="en-US" sz="21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7374136" y="3009067"/>
            <a:ext cx="224742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Poppins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Características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7374136" y="3397925"/>
            <a:ext cx="6627019" cy="862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Roboto Light"/>
              <a:buNone/>
            </a:pPr>
            <a:r>
              <a:rPr b="0" i="0" lang="en-US" sz="14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ext3 agrega un sistema de registro (journaling) que mejora la integridad de los datos y reduce el tiempo de recuperación después de un cierre forzado o una falla del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564690" y="5013365"/>
            <a:ext cx="629245" cy="22860"/>
          </a:xfrm>
          <a:prstGeom prst="roundRect">
            <a:avLst>
              <a:gd fmla="val 330335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6183094" y="4822627"/>
            <a:ext cx="404455" cy="404455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6306443" y="4890016"/>
            <a:ext cx="157758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00"/>
              <a:buFont typeface="Poppins Light"/>
              <a:buNone/>
            </a:pPr>
            <a:r>
              <a:rPr b="0" i="0" lang="en-US" sz="21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7374136" y="4800243"/>
            <a:ext cx="224742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Poppins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Ventajas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7374136" y="5189101"/>
            <a:ext cx="6627019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Roboto Light"/>
              <a:buNone/>
            </a:pPr>
            <a:r>
              <a:rPr b="0" i="0" lang="en-US" sz="14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ext3 ofrece mayor seguridad y confiabilidad en comparación con ext2, mientras mantiene una gran parte de su funcionalidad y rendimiento.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564690" y="6516886"/>
            <a:ext cx="629245" cy="22860"/>
          </a:xfrm>
          <a:prstGeom prst="roundRect">
            <a:avLst>
              <a:gd fmla="val 330335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183094" y="6326148"/>
            <a:ext cx="404455" cy="404455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302633" y="6393537"/>
            <a:ext cx="165259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00"/>
              <a:buFont typeface="Poppins Light"/>
              <a:buNone/>
            </a:pPr>
            <a:r>
              <a:rPr b="0" i="0" lang="en-US" sz="21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4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7374136" y="6303764"/>
            <a:ext cx="224742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Poppins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Adopción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7374136" y="6692622"/>
            <a:ext cx="6627019" cy="862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Roboto Light"/>
              <a:buNone/>
            </a:pPr>
            <a:r>
              <a:rPr b="0" i="0" lang="en-US" sz="14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ext3 se convirtió en el sistema de archivos predeterminado en muchas distribuciones de Linux, debido a sus mejoras en cuanto a integridad de datos y fiabilidad.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2024-11-04T01:59:09Z</dcterms:created>
  <dc:creator>PptxGenJS</dc:creator>
</cp:coreProperties>
</file>