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8229600" cx="14630400"/>
  <p:notesSz cx="8229600" cy="14630400"/>
  <p:embeddedFontLst>
    <p:embeddedFont>
      <p:font typeface="Roboto"/>
      <p:regular r:id="rId29"/>
      <p:bold r:id="rId30"/>
      <p:italic r:id="rId31"/>
      <p:boldItalic r:id="rId32"/>
    </p:embeddedFont>
    <p:embeddedFont>
      <p:font typeface="Lobster"/>
      <p:regular r:id="rId33"/>
    </p:embeddedFont>
    <p:embeddedFont>
      <p:font typeface="Pacifico"/>
      <p:regular r:id="rId34"/>
    </p:embeddedFont>
    <p:embeddedFont>
      <p:font typeface="Saira Medium"/>
      <p:regular r:id="rId35"/>
      <p:bold r:id="rId36"/>
      <p:italic r:id="rId37"/>
      <p:boldItalic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i4/DMsT9g/wCn+U/VpMhnYTO9m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D37C1A-22A2-4DAB-9A13-31B1704486CD}">
  <a:tblStyle styleId="{1DD37C1A-22A2-4DAB-9A13-31B1704486C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5.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Lobster-regular.fnt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35" Type="http://schemas.openxmlformats.org/officeDocument/2006/relationships/font" Target="fonts/SairaMedium-regular.fntdata"/><Relationship Id="rId12" Type="http://schemas.openxmlformats.org/officeDocument/2006/relationships/slide" Target="slides/slide7.xml"/><Relationship Id="rId34" Type="http://schemas.openxmlformats.org/officeDocument/2006/relationships/font" Target="fonts/Pacifico-regular.fntdata"/><Relationship Id="rId15" Type="http://schemas.openxmlformats.org/officeDocument/2006/relationships/slide" Target="slides/slide10.xml"/><Relationship Id="rId37" Type="http://schemas.openxmlformats.org/officeDocument/2006/relationships/font" Target="fonts/SairaMedium-italic.fntdata"/><Relationship Id="rId14" Type="http://schemas.openxmlformats.org/officeDocument/2006/relationships/slide" Target="slides/slide9.xml"/><Relationship Id="rId36" Type="http://schemas.openxmlformats.org/officeDocument/2006/relationships/font" Target="fonts/SairaMedium-bold.fntdata"/><Relationship Id="rId17" Type="http://schemas.openxmlformats.org/officeDocument/2006/relationships/slide" Target="slides/slide12.xml"/><Relationship Id="rId39" Type="http://schemas.openxmlformats.org/officeDocument/2006/relationships/font" Target="fonts/OpenSans-regular.fntdata"/><Relationship Id="rId16" Type="http://schemas.openxmlformats.org/officeDocument/2006/relationships/slide" Target="slides/slide11.xml"/><Relationship Id="rId38" Type="http://schemas.openxmlformats.org/officeDocument/2006/relationships/font" Target="fonts/Saira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5c6db477ef_0_0: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dk1"/>
              </a:buClr>
              <a:buSzPts val="1600"/>
              <a:buFont typeface="Calibri"/>
              <a:buNone/>
            </a:pPr>
            <a:r>
              <a:t/>
            </a:r>
            <a:endParaRPr/>
          </a:p>
        </p:txBody>
      </p:sp>
      <p:sp>
        <p:nvSpPr>
          <p:cNvPr id="53" name="Google Shape;53;g35c6db477ef_0_0:notes"/>
          <p:cNvSpPr/>
          <p:nvPr>
            <p:ph idx="2" type="sldImg"/>
          </p:nvPr>
        </p:nvSpPr>
        <p:spPr>
          <a:xfrm>
            <a:off x="45720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5c6db477ef_0_86: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
        <p:nvSpPr>
          <p:cNvPr id="61" name="Google Shape;61;g35c6db477ef_0_86:notes"/>
          <p:cNvSpPr/>
          <p:nvPr>
            <p:ph idx="2" type="sldImg"/>
          </p:nvPr>
        </p:nvSpPr>
        <p:spPr>
          <a:xfrm>
            <a:off x="1371870" y="1097280"/>
            <a:ext cx="54867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5c6db477ef_0_177: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
        <p:nvSpPr>
          <p:cNvPr id="78" name="Google Shape;78;g35c6db477ef_0_177:notes"/>
          <p:cNvSpPr/>
          <p:nvPr>
            <p:ph idx="2" type="sldImg"/>
          </p:nvPr>
        </p:nvSpPr>
        <p:spPr>
          <a:xfrm>
            <a:off x="1371870" y="1097280"/>
            <a:ext cx="54867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6db477ef_0_291: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
        <p:nvSpPr>
          <p:cNvPr id="117" name="Google Shape;117;g35c6db477ef_0_291:notes"/>
          <p:cNvSpPr/>
          <p:nvPr>
            <p:ph idx="2" type="sldImg"/>
          </p:nvPr>
        </p:nvSpPr>
        <p:spPr>
          <a:xfrm>
            <a:off x="1371870" y="1097280"/>
            <a:ext cx="54867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c6db477ef_0_3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5c6db477ef_0_3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5c6db477ef_0_3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5c6db477ef_0_4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5c6db477ef_0_4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5c6db477ef_0_4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5c6db477ef_0_4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35c6db477ef_0_4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5c6db477ef_0_4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5c6db477ef_0_5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35c6db477ef_0_5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g35c6db477ef_0_5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5c6db477ef_0_5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g35c6db477ef_0_5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g35c6db477ef_0_5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5c6db477ef_0_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g35c6db477ef_0_6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g35c6db477ef_0_6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5c6db477ef_0_6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g35c6db477ef_0_6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5c6db477ef_0_6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5c6db477ef_0_756:notes"/>
          <p:cNvSpPr txBox="1"/>
          <p:nvPr>
            <p:ph idx="1" type="body"/>
          </p:nvPr>
        </p:nvSpPr>
        <p:spPr>
          <a:xfrm>
            <a:off x="822960" y="6949440"/>
            <a:ext cx="6583800" cy="6583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g35c6db477ef_0_756:notes"/>
          <p:cNvSpPr/>
          <p:nvPr>
            <p:ph idx="2" type="sldImg"/>
          </p:nvPr>
        </p:nvSpPr>
        <p:spPr>
          <a:xfrm>
            <a:off x="1371870" y="1097280"/>
            <a:ext cx="548670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5c6db477ef_0_836:notes"/>
          <p:cNvSpPr/>
          <p:nvPr>
            <p:ph idx="2" type="sldImg"/>
          </p:nvPr>
        </p:nvSpPr>
        <p:spPr>
          <a:xfrm>
            <a:off x="1371870" y="1097280"/>
            <a:ext cx="5486700" cy="54864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5c6db477ef_0_836:notes"/>
          <p:cNvSpPr txBox="1"/>
          <p:nvPr>
            <p:ph idx="1" type="body"/>
          </p:nvPr>
        </p:nvSpPr>
        <p:spPr>
          <a:xfrm>
            <a:off x="822960" y="6949440"/>
            <a:ext cx="6583800" cy="6583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5c6db477ef_0_924: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
        <p:nvSpPr>
          <p:cNvPr id="395" name="Google Shape;395;g35c6db477ef_0_924:notes"/>
          <p:cNvSpPr/>
          <p:nvPr>
            <p:ph idx="2" type="sldImg"/>
          </p:nvPr>
        </p:nvSpPr>
        <p:spPr>
          <a:xfrm>
            <a:off x="1371870" y="1097280"/>
            <a:ext cx="54867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5c6db477ef_0_1004: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
        <p:nvSpPr>
          <p:cNvPr id="401" name="Google Shape;401;g35c6db477ef_0_1004:notes"/>
          <p:cNvSpPr/>
          <p:nvPr>
            <p:ph idx="2" type="sldImg"/>
          </p:nvPr>
        </p:nvSpPr>
        <p:spPr>
          <a:xfrm>
            <a:off x="1371870" y="1097280"/>
            <a:ext cx="54867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10"/>
          <p:cNvSpPr/>
          <p:nvPr/>
        </p:nvSpPr>
        <p:spPr>
          <a:xfrm>
            <a:off x="0" y="0"/>
            <a:ext cx="14630400" cy="8229600"/>
          </a:xfrm>
          <a:prstGeom prst="rect">
            <a:avLst/>
          </a:prstGeom>
          <a:solidFill>
            <a:srgbClr val="030303">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 name="Google Shape;13;p1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11"/>
          <p:cNvSpPr/>
          <p:nvPr/>
        </p:nvSpPr>
        <p:spPr>
          <a:xfrm>
            <a:off x="0" y="0"/>
            <a:ext cx="14630400" cy="8229600"/>
          </a:xfrm>
          <a:prstGeom prst="rect">
            <a:avLst/>
          </a:prstGeom>
          <a:solidFill>
            <a:srgbClr val="030303">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 name="Google Shape;17;p1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1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12"/>
          <p:cNvSpPr/>
          <p:nvPr/>
        </p:nvSpPr>
        <p:spPr>
          <a:xfrm>
            <a:off x="0" y="0"/>
            <a:ext cx="14630400" cy="8229600"/>
          </a:xfrm>
          <a:prstGeom prst="rect">
            <a:avLst/>
          </a:prstGeom>
          <a:solidFill>
            <a:srgbClr val="030303">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 name="Google Shape;21;p1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1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13"/>
          <p:cNvSpPr/>
          <p:nvPr/>
        </p:nvSpPr>
        <p:spPr>
          <a:xfrm>
            <a:off x="0" y="0"/>
            <a:ext cx="14630400" cy="8229600"/>
          </a:xfrm>
          <a:prstGeom prst="rect">
            <a:avLst/>
          </a:prstGeom>
          <a:solidFill>
            <a:srgbClr val="030303">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 name="Google Shape;25;p1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1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14"/>
          <p:cNvSpPr/>
          <p:nvPr/>
        </p:nvSpPr>
        <p:spPr>
          <a:xfrm>
            <a:off x="0" y="0"/>
            <a:ext cx="14630400" cy="8229600"/>
          </a:xfrm>
          <a:prstGeom prst="rect">
            <a:avLst/>
          </a:prstGeom>
          <a:solidFill>
            <a:srgbClr val="030303">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 name="Google Shape;29;p1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1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15"/>
          <p:cNvSpPr/>
          <p:nvPr/>
        </p:nvSpPr>
        <p:spPr>
          <a:xfrm>
            <a:off x="0" y="0"/>
            <a:ext cx="14630400" cy="8229600"/>
          </a:xfrm>
          <a:prstGeom prst="rect">
            <a:avLst/>
          </a:prstGeom>
          <a:solidFill>
            <a:srgbClr val="030303">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 name="Google Shape;33;p1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1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16"/>
          <p:cNvSpPr/>
          <p:nvPr/>
        </p:nvSpPr>
        <p:spPr>
          <a:xfrm>
            <a:off x="0" y="0"/>
            <a:ext cx="14630400" cy="8229600"/>
          </a:xfrm>
          <a:prstGeom prst="rect">
            <a:avLst/>
          </a:prstGeom>
          <a:solidFill>
            <a:srgbClr val="030303">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 name="Google Shape;37;p1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1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17"/>
          <p:cNvSpPr/>
          <p:nvPr/>
        </p:nvSpPr>
        <p:spPr>
          <a:xfrm>
            <a:off x="0" y="0"/>
            <a:ext cx="14630400" cy="8229600"/>
          </a:xfrm>
          <a:prstGeom prst="rect">
            <a:avLst/>
          </a:prstGeom>
          <a:solidFill>
            <a:srgbClr val="030303">
              <a:alpha val="7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1" name="Google Shape;41;p1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 name="Shape 4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g35c6db477ef_0_82"/>
          <p:cNvSpPr txBox="1"/>
          <p:nvPr>
            <p:ph idx="10" type="dt"/>
          </p:nvPr>
        </p:nvSpPr>
        <p:spPr>
          <a:xfrm>
            <a:off x="365760" y="5085080"/>
            <a:ext cx="1707000" cy="292200"/>
          </a:xfrm>
          <a:prstGeom prst="rect">
            <a:avLst/>
          </a:prstGeom>
          <a:noFill/>
          <a:ln>
            <a:noFill/>
          </a:ln>
        </p:spPr>
        <p:txBody>
          <a:bodyPr anchorCtr="0" anchor="ctr" bIns="36550" lIns="73150" spcFirstLastPara="1" rIns="73150" wrap="square" tIns="3655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45" name="Google Shape;45;g35c6db477ef_0_82"/>
          <p:cNvSpPr txBox="1"/>
          <p:nvPr>
            <p:ph idx="11" type="ftr"/>
          </p:nvPr>
        </p:nvSpPr>
        <p:spPr>
          <a:xfrm>
            <a:off x="2499360" y="5085080"/>
            <a:ext cx="2316600" cy="292200"/>
          </a:xfrm>
          <a:prstGeom prst="rect">
            <a:avLst/>
          </a:prstGeom>
          <a:noFill/>
          <a:ln>
            <a:noFill/>
          </a:ln>
        </p:spPr>
        <p:txBody>
          <a:bodyPr anchorCtr="0" anchor="ctr" bIns="36550" lIns="73150" spcFirstLastPara="1" rIns="73150" wrap="square" tIns="3655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46" name="Google Shape;46;g35c6db477ef_0_82"/>
          <p:cNvSpPr txBox="1"/>
          <p:nvPr>
            <p:ph idx="12" type="sldNum"/>
          </p:nvPr>
        </p:nvSpPr>
        <p:spPr>
          <a:xfrm>
            <a:off x="5242560" y="5085080"/>
            <a:ext cx="1707000" cy="292200"/>
          </a:xfrm>
          <a:prstGeom prst="rect">
            <a:avLst/>
          </a:prstGeom>
          <a:noFill/>
          <a:ln>
            <a:noFill/>
          </a:ln>
        </p:spPr>
        <p:txBody>
          <a:bodyPr anchorCtr="0" anchor="ctr" bIns="36550" lIns="73150" spcFirstLastPara="1" rIns="73150" wrap="square" tIns="36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7" name="Shape 47"/>
        <p:cNvGrpSpPr/>
        <p:nvPr/>
      </p:nvGrpSpPr>
      <p:grpSpPr>
        <a:xfrm>
          <a:off x="0" y="0"/>
          <a:ext cx="0" cy="0"/>
          <a:chOff x="0" y="0"/>
          <a:chExt cx="0" cy="0"/>
        </a:xfrm>
      </p:grpSpPr>
      <p:pic>
        <p:nvPicPr>
          <p:cNvPr descr="preencoded.png" id="48" name="Google Shape;48;g35c6db477ef_0_75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9" name="Google Shape;49;g35c6db477ef_0_752"/>
          <p:cNvSpPr/>
          <p:nvPr/>
        </p:nvSpPr>
        <p:spPr>
          <a:xfrm>
            <a:off x="0" y="0"/>
            <a:ext cx="14630400" cy="8229600"/>
          </a:xfrm>
          <a:prstGeom prst="rect">
            <a:avLst/>
          </a:prstGeom>
          <a:solidFill>
            <a:srgbClr val="030303">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 name="Google Shape;50;g35c6db477ef_0_752">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29.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19.png"/><Relationship Id="rId7" Type="http://schemas.openxmlformats.org/officeDocument/2006/relationships/image" Target="../media/image13.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24.png"/><Relationship Id="rId5" Type="http://schemas.openxmlformats.org/officeDocument/2006/relationships/image" Target="../media/image43.png"/><Relationship Id="rId6" Type="http://schemas.openxmlformats.org/officeDocument/2006/relationships/image" Target="../media/image34.png"/><Relationship Id="rId7" Type="http://schemas.openxmlformats.org/officeDocument/2006/relationships/image" Target="../media/image14.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3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31.png"/><Relationship Id="rId6"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33.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48.png"/><Relationship Id="rId4" Type="http://schemas.openxmlformats.org/officeDocument/2006/relationships/image" Target="../media/image40.png"/><Relationship Id="rId5" Type="http://schemas.openxmlformats.org/officeDocument/2006/relationships/image" Target="../media/image49.png"/><Relationship Id="rId6"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43.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19.png"/><Relationship Id="rId5"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g35c6db477ef_0_0"/>
          <p:cNvSpPr/>
          <p:nvPr/>
        </p:nvSpPr>
        <p:spPr>
          <a:xfrm>
            <a:off x="0" y="-1"/>
            <a:ext cx="14648994" cy="8255319"/>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blip>
            <a:stretch>
              <a:fillRect b="0" l="0" r="0" t="0"/>
            </a:stretch>
          </a:blipFill>
          <a:ln>
            <a:noFill/>
          </a:ln>
        </p:spPr>
        <p:txBody>
          <a:bodyPr anchorCtr="0" anchor="t" bIns="54850" lIns="109725" spcFirstLastPara="1" rIns="109725" wrap="square" tIns="5485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aphicFrame>
        <p:nvGraphicFramePr>
          <p:cNvPr id="56" name="Google Shape;56;g35c6db477ef_0_0"/>
          <p:cNvGraphicFramePr/>
          <p:nvPr/>
        </p:nvGraphicFramePr>
        <p:xfrm>
          <a:off x="8525121" y="1552041"/>
          <a:ext cx="3000000" cy="3000000"/>
        </p:xfrm>
        <a:graphic>
          <a:graphicData uri="http://schemas.openxmlformats.org/drawingml/2006/table">
            <a:tbl>
              <a:tblPr>
                <a:noFill/>
                <a:tableStyleId>{1DD37C1A-22A2-4DAB-9A13-31B1704486CD}</a:tableStyleId>
              </a:tblPr>
              <a:tblGrid>
                <a:gridCol w="2424150"/>
                <a:gridCol w="3468650"/>
              </a:tblGrid>
              <a:tr h="573400">
                <a:tc>
                  <a:txBody>
                    <a:bodyPr/>
                    <a:lstStyle/>
                    <a:p>
                      <a:pPr indent="0" lvl="0" marL="0" marR="0" rtl="0" algn="l">
                        <a:lnSpc>
                          <a:spcPct val="120000"/>
                        </a:lnSpc>
                        <a:spcBef>
                          <a:spcPts val="0"/>
                        </a:spcBef>
                        <a:spcAft>
                          <a:spcPts val="0"/>
                        </a:spcAft>
                        <a:buClr>
                          <a:srgbClr val="000000"/>
                        </a:buClr>
                        <a:buSzPts val="2300"/>
                        <a:buFont typeface="Arial"/>
                        <a:buNone/>
                      </a:pPr>
                      <a:r>
                        <a:rPr b="1" lang="en-US" sz="2300" u="none" cap="none" strike="noStrike">
                          <a:solidFill>
                            <a:srgbClr val="000000"/>
                          </a:solidFill>
                          <a:latin typeface="Arial"/>
                          <a:ea typeface="Arial"/>
                          <a:cs typeface="Arial"/>
                          <a:sym typeface="Arial"/>
                        </a:rPr>
                        <a:t>Día, Fecha:</a:t>
                      </a:r>
                      <a:endParaRPr sz="900" u="none" cap="none" strike="noStrike"/>
                    </a:p>
                  </a:txBody>
                  <a:tcPr marT="73150" marB="73150" marR="73150" marL="73150" anchor="ctr">
                    <a:lnL cap="flat" cmpd="sng" w="11450">
                      <a:solidFill>
                        <a:srgbClr val="000000"/>
                      </a:solidFill>
                      <a:prstDash val="solid"/>
                      <a:round/>
                      <a:headEnd len="sm" w="sm" type="none"/>
                      <a:tailEnd len="sm" w="sm" type="none"/>
                    </a:lnL>
                    <a:lnR cap="flat" cmpd="sng" w="11450">
                      <a:solidFill>
                        <a:srgbClr val="000000"/>
                      </a:solidFill>
                      <a:prstDash val="solid"/>
                      <a:round/>
                      <a:headEnd len="sm" w="sm" type="none"/>
                      <a:tailEnd len="sm" w="sm" type="none"/>
                    </a:lnR>
                    <a:lnT cap="flat" cmpd="sng" w="11450">
                      <a:solidFill>
                        <a:srgbClr val="000000"/>
                      </a:solidFill>
                      <a:prstDash val="solid"/>
                      <a:round/>
                      <a:headEnd len="sm" w="sm" type="none"/>
                      <a:tailEnd len="sm" w="sm" type="none"/>
                    </a:lnT>
                    <a:lnB cap="flat" cmpd="sng" w="1145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2300"/>
                        <a:buFont typeface="Arial"/>
                        <a:buNone/>
                      </a:pPr>
                      <a:r>
                        <a:rPr b="1" lang="en-US" sz="2300" u="none" cap="none" strike="noStrike"/>
                        <a:t>Lunes</a:t>
                      </a:r>
                      <a:r>
                        <a:rPr b="1" lang="en-US" sz="2300" u="none" cap="none" strike="noStrike">
                          <a:solidFill>
                            <a:srgbClr val="000000"/>
                          </a:solidFill>
                          <a:latin typeface="Arial"/>
                          <a:ea typeface="Arial"/>
                          <a:cs typeface="Arial"/>
                          <a:sym typeface="Arial"/>
                        </a:rPr>
                        <a:t>, </a:t>
                      </a:r>
                      <a:r>
                        <a:rPr b="1" lang="en-US" sz="2300" u="none" cap="none" strike="noStrike"/>
                        <a:t>00</a:t>
                      </a:r>
                      <a:r>
                        <a:rPr b="1" lang="en-US" sz="2300" u="none" cap="none" strike="noStrike">
                          <a:solidFill>
                            <a:srgbClr val="000000"/>
                          </a:solidFill>
                          <a:latin typeface="Arial"/>
                          <a:ea typeface="Arial"/>
                          <a:cs typeface="Arial"/>
                          <a:sym typeface="Arial"/>
                        </a:rPr>
                        <a:t>/0</a:t>
                      </a:r>
                      <a:r>
                        <a:rPr b="1" lang="en-US" sz="2300" u="none" cap="none" strike="noStrike"/>
                        <a:t>0</a:t>
                      </a:r>
                      <a:endParaRPr sz="900" u="none" cap="none" strike="noStrike"/>
                    </a:p>
                  </a:txBody>
                  <a:tcPr marT="73150" marB="73150" marR="73150" marL="73150" anchor="ctr">
                    <a:lnL cap="flat" cmpd="sng" w="11450">
                      <a:solidFill>
                        <a:srgbClr val="000000"/>
                      </a:solidFill>
                      <a:prstDash val="solid"/>
                      <a:round/>
                      <a:headEnd len="sm" w="sm" type="none"/>
                      <a:tailEnd len="sm" w="sm" type="none"/>
                    </a:lnL>
                    <a:lnR cap="flat" cmpd="sng" w="11450">
                      <a:solidFill>
                        <a:srgbClr val="000000"/>
                      </a:solidFill>
                      <a:prstDash val="solid"/>
                      <a:round/>
                      <a:headEnd len="sm" w="sm" type="none"/>
                      <a:tailEnd len="sm" w="sm" type="none"/>
                    </a:lnR>
                    <a:lnT cap="flat" cmpd="sng" w="11450">
                      <a:solidFill>
                        <a:srgbClr val="000000"/>
                      </a:solidFill>
                      <a:prstDash val="solid"/>
                      <a:round/>
                      <a:headEnd len="sm" w="sm" type="none"/>
                      <a:tailEnd len="sm" w="sm" type="none"/>
                    </a:lnT>
                    <a:lnB cap="flat" cmpd="sng" w="11450">
                      <a:solidFill>
                        <a:srgbClr val="000000"/>
                      </a:solidFill>
                      <a:prstDash val="solid"/>
                      <a:round/>
                      <a:headEnd len="sm" w="sm" type="none"/>
                      <a:tailEnd len="sm" w="sm" type="none"/>
                    </a:lnB>
                  </a:tcPr>
                </a:tc>
              </a:tr>
              <a:tr h="573400">
                <a:tc>
                  <a:txBody>
                    <a:bodyPr/>
                    <a:lstStyle/>
                    <a:p>
                      <a:pPr indent="0" lvl="0" marL="0" marR="0" rtl="0" algn="l">
                        <a:lnSpc>
                          <a:spcPct val="120000"/>
                        </a:lnSpc>
                        <a:spcBef>
                          <a:spcPts val="0"/>
                        </a:spcBef>
                        <a:spcAft>
                          <a:spcPts val="0"/>
                        </a:spcAft>
                        <a:buClr>
                          <a:srgbClr val="000000"/>
                        </a:buClr>
                        <a:buSzPts val="2300"/>
                        <a:buFont typeface="Arial"/>
                        <a:buNone/>
                      </a:pPr>
                      <a:r>
                        <a:rPr b="1" lang="en-US" sz="2300" u="none" cap="none" strike="noStrike">
                          <a:solidFill>
                            <a:srgbClr val="000000"/>
                          </a:solidFill>
                          <a:latin typeface="Arial"/>
                          <a:ea typeface="Arial"/>
                          <a:cs typeface="Arial"/>
                          <a:sym typeface="Arial"/>
                        </a:rPr>
                        <a:t>Hora de inicio:</a:t>
                      </a:r>
                      <a:endParaRPr sz="900" u="none" cap="none" strike="noStrike"/>
                    </a:p>
                  </a:txBody>
                  <a:tcPr marT="73150" marB="73150" marR="73150" marL="73150" anchor="ctr">
                    <a:lnL cap="flat" cmpd="sng" w="11450">
                      <a:solidFill>
                        <a:srgbClr val="000000"/>
                      </a:solidFill>
                      <a:prstDash val="solid"/>
                      <a:round/>
                      <a:headEnd len="sm" w="sm" type="none"/>
                      <a:tailEnd len="sm" w="sm" type="none"/>
                    </a:lnL>
                    <a:lnR cap="flat" cmpd="sng" w="11450">
                      <a:solidFill>
                        <a:srgbClr val="000000"/>
                      </a:solidFill>
                      <a:prstDash val="solid"/>
                      <a:round/>
                      <a:headEnd len="sm" w="sm" type="none"/>
                      <a:tailEnd len="sm" w="sm" type="none"/>
                    </a:lnR>
                    <a:lnT cap="flat" cmpd="sng" w="11450">
                      <a:solidFill>
                        <a:srgbClr val="000000"/>
                      </a:solidFill>
                      <a:prstDash val="solid"/>
                      <a:round/>
                      <a:headEnd len="sm" w="sm" type="none"/>
                      <a:tailEnd len="sm" w="sm" type="none"/>
                    </a:lnT>
                    <a:lnB cap="flat" cmpd="sng" w="1145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2300"/>
                        <a:buFont typeface="Arial"/>
                        <a:buNone/>
                      </a:pPr>
                      <a:r>
                        <a:rPr b="1" lang="en-US" sz="2300" u="none" cap="none" strike="noStrike"/>
                        <a:t>00</a:t>
                      </a:r>
                      <a:r>
                        <a:rPr b="1" lang="en-US" sz="2300" u="none" cap="none" strike="noStrike">
                          <a:solidFill>
                            <a:srgbClr val="000000"/>
                          </a:solidFill>
                          <a:latin typeface="Arial"/>
                          <a:ea typeface="Arial"/>
                          <a:cs typeface="Arial"/>
                          <a:sym typeface="Arial"/>
                        </a:rPr>
                        <a:t>:00</a:t>
                      </a:r>
                      <a:endParaRPr sz="900" u="none" cap="none" strike="noStrike"/>
                    </a:p>
                  </a:txBody>
                  <a:tcPr marT="73150" marB="73150" marR="73150" marL="73150" anchor="ctr">
                    <a:lnL cap="flat" cmpd="sng" w="11450">
                      <a:solidFill>
                        <a:srgbClr val="000000"/>
                      </a:solidFill>
                      <a:prstDash val="solid"/>
                      <a:round/>
                      <a:headEnd len="sm" w="sm" type="none"/>
                      <a:tailEnd len="sm" w="sm" type="none"/>
                    </a:lnL>
                    <a:lnR cap="flat" cmpd="sng" w="11450">
                      <a:solidFill>
                        <a:srgbClr val="000000"/>
                      </a:solidFill>
                      <a:prstDash val="solid"/>
                      <a:round/>
                      <a:headEnd len="sm" w="sm" type="none"/>
                      <a:tailEnd len="sm" w="sm" type="none"/>
                    </a:lnR>
                    <a:lnT cap="flat" cmpd="sng" w="11450">
                      <a:solidFill>
                        <a:srgbClr val="000000"/>
                      </a:solidFill>
                      <a:prstDash val="solid"/>
                      <a:round/>
                      <a:headEnd len="sm" w="sm" type="none"/>
                      <a:tailEnd len="sm" w="sm" type="none"/>
                    </a:lnT>
                    <a:lnB cap="flat" cmpd="sng" w="11450">
                      <a:solidFill>
                        <a:srgbClr val="000000"/>
                      </a:solidFill>
                      <a:prstDash val="solid"/>
                      <a:round/>
                      <a:headEnd len="sm" w="sm" type="none"/>
                      <a:tailEnd len="sm" w="sm" type="none"/>
                    </a:lnB>
                  </a:tcPr>
                </a:tc>
              </a:tr>
            </a:tbl>
          </a:graphicData>
        </a:graphic>
      </p:graphicFrame>
      <p:sp>
        <p:nvSpPr>
          <p:cNvPr id="57" name="Google Shape;57;g35c6db477ef_0_0"/>
          <p:cNvSpPr txBox="1"/>
          <p:nvPr/>
        </p:nvSpPr>
        <p:spPr>
          <a:xfrm>
            <a:off x="2377419" y="3610221"/>
            <a:ext cx="10720800" cy="6156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Manejo e Implementación de Archivos X</a:t>
            </a:r>
            <a:endParaRPr b="0" i="0" sz="1100" u="none" cap="none" strike="noStrike">
              <a:solidFill>
                <a:srgbClr val="000000"/>
              </a:solidFill>
              <a:latin typeface="Arial"/>
              <a:ea typeface="Arial"/>
              <a:cs typeface="Arial"/>
              <a:sym typeface="Arial"/>
            </a:endParaRPr>
          </a:p>
        </p:txBody>
      </p:sp>
      <p:sp>
        <p:nvSpPr>
          <p:cNvPr id="58" name="Google Shape;58;g35c6db477ef_0_0"/>
          <p:cNvSpPr txBox="1"/>
          <p:nvPr/>
        </p:nvSpPr>
        <p:spPr>
          <a:xfrm>
            <a:off x="7620938" y="4690601"/>
            <a:ext cx="5477400" cy="492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xxxxxxxxxxxxxxxxxxxxxxxx</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g35c6db477ef_0_86"/>
          <p:cNvSpPr/>
          <p:nvPr/>
        </p:nvSpPr>
        <p:spPr>
          <a:xfrm>
            <a:off x="0" y="0"/>
            <a:ext cx="14630400" cy="82296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67" l="0" r="0" t="-38878"/>
            </a:stretch>
          </a:blipFill>
          <a:ln>
            <a:noFill/>
          </a:ln>
        </p:spPr>
      </p:sp>
      <p:sp>
        <p:nvSpPr>
          <p:cNvPr id="64" name="Google Shape;64;g35c6db477ef_0_86"/>
          <p:cNvSpPr/>
          <p:nvPr/>
        </p:nvSpPr>
        <p:spPr>
          <a:xfrm>
            <a:off x="-128554" y="-119698"/>
            <a:ext cx="14884820" cy="8471731"/>
          </a:xfrm>
          <a:custGeom>
            <a:rect b="b" l="l" r="r" t="t"/>
            <a:pathLst>
              <a:path extrusionOk="0" h="1970170" w="3461586">
                <a:moveTo>
                  <a:pt x="0" y="0"/>
                </a:moveTo>
                <a:lnTo>
                  <a:pt x="3461586" y="0"/>
                </a:lnTo>
                <a:lnTo>
                  <a:pt x="3461586" y="1970170"/>
                </a:lnTo>
                <a:lnTo>
                  <a:pt x="0" y="1970170"/>
                </a:lnTo>
                <a:close/>
              </a:path>
            </a:pathLst>
          </a:custGeom>
          <a:solidFill>
            <a:srgbClr val="14056D">
              <a:alpha val="18040"/>
            </a:srgbClr>
          </a:solidFill>
          <a:ln>
            <a:noFill/>
          </a:ln>
        </p:spPr>
      </p:sp>
      <p:sp>
        <p:nvSpPr>
          <p:cNvPr id="65" name="Google Shape;65;g35c6db477ef_0_86"/>
          <p:cNvSpPr/>
          <p:nvPr/>
        </p:nvSpPr>
        <p:spPr>
          <a:xfrm rot="9456024">
            <a:off x="-1084312" y="-1199714"/>
            <a:ext cx="5368259" cy="4060356"/>
          </a:xfrm>
          <a:custGeom>
            <a:rect b="b" l="l" r="r" t="t"/>
            <a:pathLst>
              <a:path extrusionOk="0" h="5072968" w="6707049">
                <a:moveTo>
                  <a:pt x="0" y="0"/>
                </a:moveTo>
                <a:lnTo>
                  <a:pt x="6707049" y="0"/>
                </a:lnTo>
                <a:lnTo>
                  <a:pt x="6707049" y="5072968"/>
                </a:lnTo>
                <a:lnTo>
                  <a:pt x="0" y="5072968"/>
                </a:lnTo>
                <a:lnTo>
                  <a:pt x="0" y="0"/>
                </a:lnTo>
                <a:close/>
              </a:path>
            </a:pathLst>
          </a:custGeom>
          <a:blipFill rotWithShape="1">
            <a:blip r:embed="rId4">
              <a:alphaModFix/>
            </a:blip>
            <a:stretch>
              <a:fillRect b="0" l="0" r="0" t="0"/>
            </a:stretch>
          </a:blipFill>
          <a:ln>
            <a:noFill/>
          </a:ln>
        </p:spPr>
      </p:sp>
      <p:sp>
        <p:nvSpPr>
          <p:cNvPr id="66" name="Google Shape;66;g35c6db477ef_0_86"/>
          <p:cNvSpPr/>
          <p:nvPr/>
        </p:nvSpPr>
        <p:spPr>
          <a:xfrm>
            <a:off x="-1930877" y="-2463017"/>
            <a:ext cx="5307256" cy="5278308"/>
          </a:xfrm>
          <a:custGeom>
            <a:rect b="b" l="l" r="r" t="t"/>
            <a:pathLst>
              <a:path extrusionOk="0" h="6597885" w="6634070">
                <a:moveTo>
                  <a:pt x="0" y="0"/>
                </a:moveTo>
                <a:lnTo>
                  <a:pt x="6634070" y="0"/>
                </a:lnTo>
                <a:lnTo>
                  <a:pt x="6634070" y="6597884"/>
                </a:lnTo>
                <a:lnTo>
                  <a:pt x="0" y="6597884"/>
                </a:lnTo>
                <a:lnTo>
                  <a:pt x="0" y="0"/>
                </a:lnTo>
                <a:close/>
              </a:path>
            </a:pathLst>
          </a:custGeom>
          <a:blipFill rotWithShape="1">
            <a:blip r:embed="rId5">
              <a:alphaModFix/>
            </a:blip>
            <a:stretch>
              <a:fillRect b="0" l="0" r="0" t="0"/>
            </a:stretch>
          </a:blipFill>
          <a:ln>
            <a:noFill/>
          </a:ln>
        </p:spPr>
      </p:sp>
      <p:sp>
        <p:nvSpPr>
          <p:cNvPr id="67" name="Google Shape;67;g35c6db477ef_0_86"/>
          <p:cNvSpPr/>
          <p:nvPr/>
        </p:nvSpPr>
        <p:spPr>
          <a:xfrm rot="-2311187">
            <a:off x="7931329" y="1720863"/>
            <a:ext cx="10105372" cy="7643336"/>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6">
              <a:alphaModFix amt="37000"/>
            </a:blip>
            <a:stretch>
              <a:fillRect b="0" l="0" r="0" t="0"/>
            </a:stretch>
          </a:blipFill>
          <a:ln>
            <a:noFill/>
          </a:ln>
        </p:spPr>
      </p:sp>
      <p:sp>
        <p:nvSpPr>
          <p:cNvPr id="68" name="Google Shape;68;g35c6db477ef_0_86"/>
          <p:cNvSpPr/>
          <p:nvPr/>
        </p:nvSpPr>
        <p:spPr>
          <a:xfrm>
            <a:off x="14395619" y="5365685"/>
            <a:ext cx="257617" cy="972011"/>
          </a:xfrm>
          <a:custGeom>
            <a:rect b="b" l="l" r="r" t="t"/>
            <a:pathLst>
              <a:path extrusionOk="0" h="754960" w="200091">
                <a:moveTo>
                  <a:pt x="0" y="0"/>
                </a:moveTo>
                <a:lnTo>
                  <a:pt x="200091" y="0"/>
                </a:lnTo>
                <a:lnTo>
                  <a:pt x="200091" y="754960"/>
                </a:lnTo>
                <a:lnTo>
                  <a:pt x="0" y="754960"/>
                </a:lnTo>
                <a:close/>
              </a:path>
            </a:pathLst>
          </a:custGeom>
          <a:solidFill>
            <a:srgbClr val="5CE1E6"/>
          </a:solidFill>
          <a:ln>
            <a:noFill/>
          </a:ln>
        </p:spPr>
      </p:sp>
      <p:sp>
        <p:nvSpPr>
          <p:cNvPr id="69" name="Google Shape;69;g35c6db477ef_0_86"/>
          <p:cNvSpPr/>
          <p:nvPr/>
        </p:nvSpPr>
        <p:spPr>
          <a:xfrm>
            <a:off x="11875846" y="6856071"/>
            <a:ext cx="3863187" cy="3856163"/>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7">
              <a:alphaModFix/>
            </a:blip>
            <a:stretch>
              <a:fillRect b="0" l="0" r="0" t="0"/>
            </a:stretch>
          </a:blipFill>
          <a:ln>
            <a:noFill/>
          </a:ln>
        </p:spPr>
      </p:sp>
      <p:sp>
        <p:nvSpPr>
          <p:cNvPr id="70" name="Google Shape;70;g35c6db477ef_0_86"/>
          <p:cNvSpPr/>
          <p:nvPr/>
        </p:nvSpPr>
        <p:spPr>
          <a:xfrm>
            <a:off x="10033047" y="0"/>
            <a:ext cx="4597353" cy="1369424"/>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8">
              <a:alphaModFix/>
            </a:blip>
            <a:stretch>
              <a:fillRect b="0" l="0" r="0" t="0"/>
            </a:stretch>
          </a:blipFill>
          <a:ln>
            <a:noFill/>
          </a:ln>
        </p:spPr>
      </p:sp>
      <p:sp>
        <p:nvSpPr>
          <p:cNvPr id="71" name="Google Shape;71;g35c6db477ef_0_86"/>
          <p:cNvSpPr txBox="1"/>
          <p:nvPr/>
        </p:nvSpPr>
        <p:spPr>
          <a:xfrm>
            <a:off x="654360" y="2743200"/>
            <a:ext cx="12998700" cy="198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400"/>
              <a:buFont typeface="Arial"/>
              <a:buNone/>
            </a:pPr>
            <a:r>
              <a:rPr b="1" i="0" lang="en-US" sz="3400" u="none" cap="none" strike="noStrike">
                <a:solidFill>
                  <a:schemeClr val="lt1"/>
                </a:solidFill>
                <a:latin typeface="Open Sans"/>
                <a:ea typeface="Open Sans"/>
                <a:cs typeface="Open Sans"/>
                <a:sym typeface="Open Sans"/>
              </a:rPr>
              <a:t>Introducción a las tecnologías de almacenamiento y arquitecturas de los sistemas de </a:t>
            </a:r>
            <a:endParaRPr b="0" i="0" sz="100" u="none" cap="none" strike="noStrike">
              <a:solidFill>
                <a:schemeClr val="lt1"/>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3400"/>
              <a:buFont typeface="Arial"/>
              <a:buNone/>
            </a:pPr>
            <a:r>
              <a:rPr b="1" i="0" lang="en-US" sz="3400" u="none" cap="none" strike="noStrike">
                <a:solidFill>
                  <a:schemeClr val="lt1"/>
                </a:solidFill>
                <a:latin typeface="Open Sans"/>
                <a:ea typeface="Open Sans"/>
                <a:cs typeface="Open Sans"/>
                <a:sym typeface="Open Sans"/>
              </a:rPr>
              <a:t>almacenamiento enfocadas en GNU/LINUX</a:t>
            </a:r>
            <a:endParaRPr b="0" i="0" sz="100" u="none" cap="none" strike="noStrike">
              <a:solidFill>
                <a:schemeClr val="lt1"/>
              </a:solidFill>
              <a:latin typeface="Arial"/>
              <a:ea typeface="Arial"/>
              <a:cs typeface="Arial"/>
              <a:sym typeface="Arial"/>
            </a:endParaRPr>
          </a:p>
        </p:txBody>
      </p:sp>
      <p:sp>
        <p:nvSpPr>
          <p:cNvPr id="72" name="Google Shape;72;g35c6db477ef_0_86"/>
          <p:cNvSpPr txBox="1"/>
          <p:nvPr/>
        </p:nvSpPr>
        <p:spPr>
          <a:xfrm>
            <a:off x="755000" y="6315941"/>
            <a:ext cx="113613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Manejo e Implementación de Archivos</a:t>
            </a:r>
            <a:endParaRPr b="0" i="0" sz="1100" u="none" cap="none" strike="noStrike">
              <a:solidFill>
                <a:schemeClr val="lt1"/>
              </a:solidFill>
              <a:latin typeface="Arial"/>
              <a:ea typeface="Arial"/>
              <a:cs typeface="Arial"/>
              <a:sym typeface="Arial"/>
            </a:endParaRPr>
          </a:p>
        </p:txBody>
      </p:sp>
      <p:sp>
        <p:nvSpPr>
          <p:cNvPr id="73" name="Google Shape;73;g35c6db477ef_0_86"/>
          <p:cNvSpPr txBox="1"/>
          <p:nvPr/>
        </p:nvSpPr>
        <p:spPr>
          <a:xfrm>
            <a:off x="850651" y="6996200"/>
            <a:ext cx="5969700" cy="307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000"/>
              <a:buFont typeface="Arial"/>
              <a:buNone/>
            </a:pPr>
            <a:r>
              <a:rPr b="1" i="0" lang="en-US" sz="2000" u="none" cap="none" strike="noStrike">
                <a:solidFill>
                  <a:schemeClr val="lt1"/>
                </a:solidFill>
                <a:latin typeface="Open Sans"/>
                <a:ea typeface="Open Sans"/>
                <a:cs typeface="Open Sans"/>
                <a:sym typeface="Open Sans"/>
              </a:rPr>
              <a:t>Escuela de Ingeniería de Ciencias Y Sistemas</a:t>
            </a:r>
            <a:endParaRPr b="0" i="0" sz="1100" u="none" cap="none" strike="noStrike">
              <a:solidFill>
                <a:schemeClr val="lt1"/>
              </a:solidFill>
              <a:latin typeface="Arial"/>
              <a:ea typeface="Arial"/>
              <a:cs typeface="Arial"/>
              <a:sym typeface="Arial"/>
            </a:endParaRPr>
          </a:p>
        </p:txBody>
      </p:sp>
      <p:sp>
        <p:nvSpPr>
          <p:cNvPr id="74" name="Google Shape;74;g35c6db477ef_0_86"/>
          <p:cNvSpPr txBox="1"/>
          <p:nvPr/>
        </p:nvSpPr>
        <p:spPr>
          <a:xfrm>
            <a:off x="822960" y="7368540"/>
            <a:ext cx="2820300" cy="3078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000"/>
              <a:buFont typeface="Arial"/>
              <a:buNone/>
            </a:pPr>
            <a:r>
              <a:rPr b="1" i="0" lang="en-US" sz="2000" u="none" cap="none" strike="noStrike">
                <a:solidFill>
                  <a:schemeClr val="lt1"/>
                </a:solidFill>
                <a:latin typeface="Open Sans"/>
                <a:ea typeface="Open Sans"/>
                <a:cs typeface="Open Sans"/>
                <a:sym typeface="Open Sans"/>
              </a:rPr>
              <a:t>Facultad de Ingeniería</a:t>
            </a:r>
            <a:endParaRPr b="0" i="0" sz="1100" u="none" cap="none" strike="noStrike">
              <a:solidFill>
                <a:schemeClr val="lt1"/>
              </a:solidFill>
              <a:latin typeface="Arial"/>
              <a:ea typeface="Arial"/>
              <a:cs typeface="Arial"/>
              <a:sym typeface="Arial"/>
            </a:endParaRPr>
          </a:p>
        </p:txBody>
      </p:sp>
      <p:sp>
        <p:nvSpPr>
          <p:cNvPr id="75" name="Google Shape;75;g35c6db477ef_0_86"/>
          <p:cNvSpPr txBox="1"/>
          <p:nvPr/>
        </p:nvSpPr>
        <p:spPr>
          <a:xfrm>
            <a:off x="822960" y="7668260"/>
            <a:ext cx="5126400" cy="3078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000"/>
              <a:buFont typeface="Arial"/>
              <a:buNone/>
            </a:pPr>
            <a:r>
              <a:rPr b="1" i="0" lang="en-US" sz="2000" u="none" cap="none" strike="noStrike">
                <a:solidFill>
                  <a:schemeClr val="lt1"/>
                </a:solidFill>
                <a:latin typeface="Open Sans"/>
                <a:ea typeface="Open Sans"/>
                <a:cs typeface="Open Sans"/>
                <a:sym typeface="Open Sans"/>
              </a:rPr>
              <a:t>Universidad de San Carlos de Guatemala</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5c6db477ef_0_177"/>
          <p:cNvSpPr/>
          <p:nvPr/>
        </p:nvSpPr>
        <p:spPr>
          <a:xfrm>
            <a:off x="-128554" y="-72402"/>
            <a:ext cx="14875717" cy="8378053"/>
          </a:xfrm>
          <a:custGeom>
            <a:rect b="b" l="l" r="r" t="t"/>
            <a:pathLst>
              <a:path extrusionOk="0" h="1913890" w="3398222">
                <a:moveTo>
                  <a:pt x="0" y="0"/>
                </a:moveTo>
                <a:lnTo>
                  <a:pt x="3398222" y="0"/>
                </a:lnTo>
                <a:lnTo>
                  <a:pt x="3398222" y="1913890"/>
                </a:lnTo>
                <a:lnTo>
                  <a:pt x="0" y="1913890"/>
                </a:lnTo>
                <a:close/>
              </a:path>
            </a:pathLst>
          </a:custGeom>
          <a:solidFill>
            <a:srgbClr val="D9D9D9">
              <a:alpha val="46670"/>
            </a:srgbClr>
          </a:solidFill>
          <a:ln>
            <a:noFill/>
          </a:ln>
        </p:spPr>
      </p:sp>
      <p:sp>
        <p:nvSpPr>
          <p:cNvPr id="81" name="Google Shape;81;g35c6db477ef_0_177"/>
          <p:cNvSpPr/>
          <p:nvPr/>
        </p:nvSpPr>
        <p:spPr>
          <a:xfrm rot="9456024">
            <a:off x="-923575" y="-1464811"/>
            <a:ext cx="4276677" cy="3234723"/>
          </a:xfrm>
          <a:custGeom>
            <a:rect b="b" l="l" r="r" t="t"/>
            <a:pathLst>
              <a:path extrusionOk="0" h="4041431" w="5343238">
                <a:moveTo>
                  <a:pt x="0" y="0"/>
                </a:moveTo>
                <a:lnTo>
                  <a:pt x="5343238" y="0"/>
                </a:lnTo>
                <a:lnTo>
                  <a:pt x="5343238" y="4041431"/>
                </a:lnTo>
                <a:lnTo>
                  <a:pt x="0" y="4041431"/>
                </a:lnTo>
                <a:lnTo>
                  <a:pt x="0" y="0"/>
                </a:lnTo>
                <a:close/>
              </a:path>
            </a:pathLst>
          </a:custGeom>
          <a:blipFill rotWithShape="1">
            <a:blip r:embed="rId3">
              <a:alphaModFix/>
            </a:blip>
            <a:stretch>
              <a:fillRect b="0" l="0" r="0" t="0"/>
            </a:stretch>
          </a:blipFill>
          <a:ln>
            <a:noFill/>
          </a:ln>
        </p:spPr>
      </p:sp>
      <p:sp>
        <p:nvSpPr>
          <p:cNvPr id="82" name="Google Shape;82;g35c6db477ef_0_177"/>
          <p:cNvSpPr/>
          <p:nvPr/>
        </p:nvSpPr>
        <p:spPr>
          <a:xfrm>
            <a:off x="-1137501" y="-2942959"/>
            <a:ext cx="4228079" cy="4205017"/>
          </a:xfrm>
          <a:custGeom>
            <a:rect b="b" l="l" r="r" t="t"/>
            <a:pathLst>
              <a:path extrusionOk="0" h="5256271" w="5285099">
                <a:moveTo>
                  <a:pt x="0" y="0"/>
                </a:moveTo>
                <a:lnTo>
                  <a:pt x="5285099" y="0"/>
                </a:lnTo>
                <a:lnTo>
                  <a:pt x="5285099" y="5256271"/>
                </a:lnTo>
                <a:lnTo>
                  <a:pt x="0" y="5256271"/>
                </a:lnTo>
                <a:lnTo>
                  <a:pt x="0" y="0"/>
                </a:lnTo>
                <a:close/>
              </a:path>
            </a:pathLst>
          </a:custGeom>
          <a:blipFill rotWithShape="1">
            <a:blip r:embed="rId4">
              <a:alphaModFix/>
            </a:blip>
            <a:stretch>
              <a:fillRect b="0" l="0" r="0" t="0"/>
            </a:stretch>
          </a:blipFill>
          <a:ln>
            <a:noFill/>
          </a:ln>
        </p:spPr>
      </p:sp>
      <p:sp>
        <p:nvSpPr>
          <p:cNvPr id="83" name="Google Shape;83;g35c6db477ef_0_177"/>
          <p:cNvSpPr/>
          <p:nvPr/>
        </p:nvSpPr>
        <p:spPr>
          <a:xfrm rot="-2311187">
            <a:off x="7756517" y="1734471"/>
            <a:ext cx="10105372" cy="7643336"/>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5">
              <a:alphaModFix amt="7000"/>
            </a:blip>
            <a:stretch>
              <a:fillRect b="0" l="0" r="0" t="0"/>
            </a:stretch>
          </a:blipFill>
          <a:ln>
            <a:noFill/>
          </a:ln>
        </p:spPr>
      </p:sp>
      <p:sp>
        <p:nvSpPr>
          <p:cNvPr id="84" name="Google Shape;84;g35c6db477ef_0_177"/>
          <p:cNvSpPr/>
          <p:nvPr/>
        </p:nvSpPr>
        <p:spPr>
          <a:xfrm>
            <a:off x="14385081" y="7257504"/>
            <a:ext cx="257617" cy="972011"/>
          </a:xfrm>
          <a:custGeom>
            <a:rect b="b" l="l" r="r" t="t"/>
            <a:pathLst>
              <a:path extrusionOk="0" h="754960" w="200091">
                <a:moveTo>
                  <a:pt x="0" y="0"/>
                </a:moveTo>
                <a:lnTo>
                  <a:pt x="200091" y="0"/>
                </a:lnTo>
                <a:lnTo>
                  <a:pt x="200091" y="754960"/>
                </a:lnTo>
                <a:lnTo>
                  <a:pt x="0" y="754960"/>
                </a:lnTo>
                <a:close/>
              </a:path>
            </a:pathLst>
          </a:custGeom>
          <a:solidFill>
            <a:srgbClr val="1B4A9B"/>
          </a:solidFill>
          <a:ln>
            <a:noFill/>
          </a:ln>
        </p:spPr>
      </p:sp>
      <p:sp>
        <p:nvSpPr>
          <p:cNvPr id="85" name="Google Shape;85;g35c6db477ef_0_177"/>
          <p:cNvSpPr/>
          <p:nvPr/>
        </p:nvSpPr>
        <p:spPr>
          <a:xfrm>
            <a:off x="13637411" y="2546374"/>
            <a:ext cx="3863187" cy="3856163"/>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86" name="Google Shape;86;g35c6db477ef_0_177"/>
          <p:cNvSpPr/>
          <p:nvPr/>
        </p:nvSpPr>
        <p:spPr>
          <a:xfrm>
            <a:off x="12137818" y="5158579"/>
            <a:ext cx="1669622" cy="2487915"/>
          </a:xfrm>
          <a:custGeom>
            <a:rect b="b" l="l" r="r" t="t"/>
            <a:pathLst>
              <a:path extrusionOk="0" h="3109894" w="2087028">
                <a:moveTo>
                  <a:pt x="0" y="0"/>
                </a:moveTo>
                <a:lnTo>
                  <a:pt x="2087028" y="0"/>
                </a:lnTo>
                <a:lnTo>
                  <a:pt x="2087028" y="3109894"/>
                </a:lnTo>
                <a:lnTo>
                  <a:pt x="0" y="3109894"/>
                </a:lnTo>
                <a:lnTo>
                  <a:pt x="0" y="0"/>
                </a:lnTo>
                <a:close/>
              </a:path>
            </a:pathLst>
          </a:custGeom>
          <a:blipFill rotWithShape="1">
            <a:blip r:embed="rId7">
              <a:alphaModFix/>
            </a:blip>
            <a:stretch>
              <a:fillRect b="0" l="0" r="0" t="0"/>
            </a:stretch>
          </a:blipFill>
          <a:ln>
            <a:noFill/>
          </a:ln>
        </p:spPr>
      </p:sp>
      <p:grpSp>
        <p:nvGrpSpPr>
          <p:cNvPr id="87" name="Google Shape;87;g35c6db477ef_0_177"/>
          <p:cNvGrpSpPr/>
          <p:nvPr/>
        </p:nvGrpSpPr>
        <p:grpSpPr>
          <a:xfrm>
            <a:off x="141295" y="3616389"/>
            <a:ext cx="3690771" cy="676440"/>
            <a:chOff x="0" y="-76200"/>
            <a:chExt cx="1964221" cy="360000"/>
          </a:xfrm>
        </p:grpSpPr>
        <p:sp>
          <p:nvSpPr>
            <p:cNvPr id="88" name="Google Shape;88;g35c6db477ef_0_177"/>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89" name="Google Shape;89;g35c6db477ef_0_177"/>
            <p:cNvSpPr txBox="1"/>
            <p:nvPr/>
          </p:nvSpPr>
          <p:spPr>
            <a:xfrm>
              <a:off x="0" y="-76200"/>
              <a:ext cx="1849800" cy="360000"/>
            </a:xfrm>
            <a:prstGeom prst="rect">
              <a:avLst/>
            </a:prstGeom>
            <a:noFill/>
            <a:ln>
              <a:noFill/>
            </a:ln>
          </p:spPr>
          <p:txBody>
            <a:bodyPr anchorCtr="0" anchor="ctr" bIns="40650" lIns="40650" spcFirstLastPara="1" rIns="40650" wrap="square" tIns="40650">
              <a:noAutofit/>
            </a:bodyPr>
            <a:lstStyle/>
            <a:p>
              <a:pPr indent="0" lvl="0" marL="0" marR="0" rtl="0" algn="ctr">
                <a:lnSpc>
                  <a:spcPct val="148017"/>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Corto </a:t>
              </a:r>
              <a:r>
                <a:rPr lang="en-US" sz="2200"/>
                <a:t>3</a:t>
              </a:r>
              <a:endParaRPr b="0" i="0" sz="1100" u="none" cap="none" strike="noStrike">
                <a:solidFill>
                  <a:srgbClr val="000000"/>
                </a:solidFill>
                <a:latin typeface="Arial"/>
                <a:ea typeface="Arial"/>
                <a:cs typeface="Arial"/>
                <a:sym typeface="Arial"/>
              </a:endParaRPr>
            </a:p>
          </p:txBody>
        </p:sp>
      </p:grpSp>
      <p:sp>
        <p:nvSpPr>
          <p:cNvPr id="90" name="Google Shape;90;g35c6db477ef_0_177"/>
          <p:cNvSpPr/>
          <p:nvPr/>
        </p:nvSpPr>
        <p:spPr>
          <a:xfrm>
            <a:off x="702923" y="3792353"/>
            <a:ext cx="362686" cy="440075"/>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8">
              <a:alphaModFix/>
            </a:blip>
            <a:stretch>
              <a:fillRect b="0" l="0" r="0" t="0"/>
            </a:stretch>
          </a:blipFill>
          <a:ln>
            <a:noFill/>
          </a:ln>
        </p:spPr>
      </p:sp>
      <p:grpSp>
        <p:nvGrpSpPr>
          <p:cNvPr id="91" name="Google Shape;91;g35c6db477ef_0_177"/>
          <p:cNvGrpSpPr/>
          <p:nvPr/>
        </p:nvGrpSpPr>
        <p:grpSpPr>
          <a:xfrm>
            <a:off x="1493591" y="2411186"/>
            <a:ext cx="3292152" cy="1245187"/>
            <a:chOff x="0" y="-76200"/>
            <a:chExt cx="1083836" cy="409938"/>
          </a:xfrm>
        </p:grpSpPr>
        <p:sp>
          <p:nvSpPr>
            <p:cNvPr id="92" name="Google Shape;92;g35c6db477ef_0_177"/>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93" name="Google Shape;93;g35c6db477ef_0_177"/>
            <p:cNvSpPr txBox="1"/>
            <p:nvPr/>
          </p:nvSpPr>
          <p:spPr>
            <a:xfrm>
              <a:off x="0" y="-76200"/>
              <a:ext cx="969600" cy="409800"/>
            </a:xfrm>
            <a:prstGeom prst="rect">
              <a:avLst/>
            </a:prstGeom>
            <a:noFill/>
            <a:ln>
              <a:noFill/>
            </a:ln>
          </p:spPr>
          <p:txBody>
            <a:bodyPr anchorCtr="0" anchor="ctr" bIns="40650" lIns="40650" spcFirstLastPara="1" rIns="40650" wrap="square" tIns="40650">
              <a:noAutofit/>
            </a:bodyPr>
            <a:lstStyle/>
            <a:p>
              <a:pPr indent="0" lvl="0" marL="0" marR="0" rtl="0" algn="ctr">
                <a:lnSpc>
                  <a:spcPct val="148017"/>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RECORDATORIOS</a:t>
              </a:r>
              <a:endParaRPr b="0" i="0" sz="1100" u="none" cap="none" strike="noStrike">
                <a:solidFill>
                  <a:srgbClr val="000000"/>
                </a:solidFill>
                <a:latin typeface="Arial"/>
                <a:ea typeface="Arial"/>
                <a:cs typeface="Arial"/>
                <a:sym typeface="Arial"/>
              </a:endParaRPr>
            </a:p>
          </p:txBody>
        </p:sp>
      </p:grpSp>
      <p:sp>
        <p:nvSpPr>
          <p:cNvPr id="94" name="Google Shape;94;g35c6db477ef_0_177"/>
          <p:cNvSpPr/>
          <p:nvPr/>
        </p:nvSpPr>
        <p:spPr>
          <a:xfrm>
            <a:off x="521403" y="2743788"/>
            <a:ext cx="603114" cy="698342"/>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9">
              <a:alphaModFix/>
            </a:blip>
            <a:stretch>
              <a:fillRect b="0" l="0" r="0" t="0"/>
            </a:stretch>
          </a:blipFill>
          <a:ln>
            <a:noFill/>
          </a:ln>
        </p:spPr>
      </p:sp>
      <p:grpSp>
        <p:nvGrpSpPr>
          <p:cNvPr id="95" name="Google Shape;95;g35c6db477ef_0_177"/>
          <p:cNvGrpSpPr/>
          <p:nvPr/>
        </p:nvGrpSpPr>
        <p:grpSpPr>
          <a:xfrm>
            <a:off x="141295" y="4355444"/>
            <a:ext cx="3690771" cy="676440"/>
            <a:chOff x="0" y="-76200"/>
            <a:chExt cx="1964221" cy="360000"/>
          </a:xfrm>
        </p:grpSpPr>
        <p:sp>
          <p:nvSpPr>
            <p:cNvPr id="96" name="Google Shape;96;g35c6db477ef_0_177"/>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97" name="Google Shape;97;g35c6db477ef_0_177"/>
            <p:cNvSpPr txBox="1"/>
            <p:nvPr/>
          </p:nvSpPr>
          <p:spPr>
            <a:xfrm>
              <a:off x="0" y="-76200"/>
              <a:ext cx="1849800" cy="360000"/>
            </a:xfrm>
            <a:prstGeom prst="rect">
              <a:avLst/>
            </a:prstGeom>
            <a:noFill/>
            <a:ln>
              <a:noFill/>
            </a:ln>
          </p:spPr>
          <p:txBody>
            <a:bodyPr anchorCtr="0" anchor="ctr" bIns="40650" lIns="40650" spcFirstLastPara="1" rIns="40650" wrap="square" tIns="40650">
              <a:noAutofit/>
            </a:bodyPr>
            <a:lstStyle/>
            <a:p>
              <a:pPr indent="0" lvl="0" marL="0" marR="0" rtl="0" algn="ctr">
                <a:lnSpc>
                  <a:spcPct val="148017"/>
                </a:lnSpc>
                <a:spcBef>
                  <a:spcPts val="0"/>
                </a:spcBef>
                <a:spcAft>
                  <a:spcPts val="0"/>
                </a:spcAft>
                <a:buClr>
                  <a:srgbClr val="000000"/>
                </a:buClr>
                <a:buSzPts val="2200"/>
                <a:buFont typeface="Arial"/>
                <a:buNone/>
              </a:pPr>
              <a:r>
                <a:rPr lang="en-US" sz="2200"/>
                <a:t>Tarea 2</a:t>
              </a:r>
              <a:endParaRPr b="0" i="0" sz="1100" u="none" cap="none" strike="noStrike">
                <a:solidFill>
                  <a:srgbClr val="000000"/>
                </a:solidFill>
                <a:latin typeface="Arial"/>
                <a:ea typeface="Arial"/>
                <a:cs typeface="Arial"/>
                <a:sym typeface="Arial"/>
              </a:endParaRPr>
            </a:p>
          </p:txBody>
        </p:sp>
      </p:grpSp>
      <p:grpSp>
        <p:nvGrpSpPr>
          <p:cNvPr id="98" name="Google Shape;98;g35c6db477ef_0_177"/>
          <p:cNvGrpSpPr/>
          <p:nvPr/>
        </p:nvGrpSpPr>
        <p:grpSpPr>
          <a:xfrm>
            <a:off x="141295" y="5219565"/>
            <a:ext cx="3794449" cy="676440"/>
            <a:chOff x="0" y="-34230"/>
            <a:chExt cx="2019398" cy="360000"/>
          </a:xfrm>
        </p:grpSpPr>
        <p:sp>
          <p:nvSpPr>
            <p:cNvPr id="99" name="Google Shape;99;g35c6db477ef_0_177"/>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00" name="Google Shape;100;g35c6db477ef_0_177"/>
            <p:cNvSpPr txBox="1"/>
            <p:nvPr/>
          </p:nvSpPr>
          <p:spPr>
            <a:xfrm>
              <a:off x="169598" y="-34230"/>
              <a:ext cx="1849800" cy="360000"/>
            </a:xfrm>
            <a:prstGeom prst="rect">
              <a:avLst/>
            </a:prstGeom>
            <a:noFill/>
            <a:ln>
              <a:noFill/>
            </a:ln>
          </p:spPr>
          <p:txBody>
            <a:bodyPr anchorCtr="0" anchor="ctr" bIns="40650" lIns="40650" spcFirstLastPara="1" rIns="40650" wrap="square" tIns="40650">
              <a:noAutofit/>
            </a:bodyPr>
            <a:lstStyle/>
            <a:p>
              <a:pPr indent="0" lvl="0" marL="0" marR="0" rtl="0" algn="ctr">
                <a:lnSpc>
                  <a:spcPct val="148017"/>
                </a:lnSpc>
                <a:spcBef>
                  <a:spcPts val="0"/>
                </a:spcBef>
                <a:spcAft>
                  <a:spcPts val="0"/>
                </a:spcAft>
                <a:buClr>
                  <a:srgbClr val="000000"/>
                </a:buClr>
                <a:buSzPts val="2200"/>
                <a:buFont typeface="Arial"/>
                <a:buNone/>
              </a:pPr>
              <a:r>
                <a:rPr lang="en-US" sz="2200"/>
                <a:t>Introducción a RAID</a:t>
              </a:r>
              <a:endParaRPr b="0" i="0" sz="1100" u="none" cap="none" strike="noStrike">
                <a:solidFill>
                  <a:srgbClr val="000000"/>
                </a:solidFill>
                <a:latin typeface="Arial"/>
                <a:ea typeface="Arial"/>
                <a:cs typeface="Arial"/>
                <a:sym typeface="Arial"/>
              </a:endParaRPr>
            </a:p>
          </p:txBody>
        </p:sp>
      </p:grpSp>
      <p:grpSp>
        <p:nvGrpSpPr>
          <p:cNvPr id="101" name="Google Shape;101;g35c6db477ef_0_177"/>
          <p:cNvGrpSpPr/>
          <p:nvPr/>
        </p:nvGrpSpPr>
        <p:grpSpPr>
          <a:xfrm>
            <a:off x="141295" y="5879568"/>
            <a:ext cx="3855874" cy="676440"/>
            <a:chOff x="0" y="-76200"/>
            <a:chExt cx="2052088" cy="360000"/>
          </a:xfrm>
        </p:grpSpPr>
        <p:sp>
          <p:nvSpPr>
            <p:cNvPr id="102" name="Google Shape;102;g35c6db477ef_0_177"/>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03" name="Google Shape;103;g35c6db477ef_0_177"/>
            <p:cNvSpPr txBox="1"/>
            <p:nvPr/>
          </p:nvSpPr>
          <p:spPr>
            <a:xfrm>
              <a:off x="202288" y="-76200"/>
              <a:ext cx="1849800" cy="360000"/>
            </a:xfrm>
            <a:prstGeom prst="rect">
              <a:avLst/>
            </a:prstGeom>
            <a:noFill/>
            <a:ln>
              <a:noFill/>
            </a:ln>
          </p:spPr>
          <p:txBody>
            <a:bodyPr anchorCtr="0" anchor="ctr" bIns="40650" lIns="40650" spcFirstLastPara="1" rIns="40650" wrap="square" tIns="40650">
              <a:noAutofit/>
            </a:bodyPr>
            <a:lstStyle/>
            <a:p>
              <a:pPr indent="0" lvl="0" marL="0" marR="0" rtl="0" algn="ctr">
                <a:lnSpc>
                  <a:spcPct val="148017"/>
                </a:lnSpc>
                <a:spcBef>
                  <a:spcPts val="0"/>
                </a:spcBef>
                <a:spcAft>
                  <a:spcPts val="0"/>
                </a:spcAft>
                <a:buClr>
                  <a:srgbClr val="000000"/>
                </a:buClr>
                <a:buSzPts val="2200"/>
                <a:buFont typeface="Arial"/>
                <a:buNone/>
              </a:pPr>
              <a:r>
                <a:rPr lang="en-US" sz="2200"/>
                <a:t>Ventajas y Desventajas</a:t>
              </a:r>
              <a:endParaRPr b="0" i="0" sz="1100" u="none" cap="none" strike="noStrike">
                <a:solidFill>
                  <a:srgbClr val="000000"/>
                </a:solidFill>
                <a:latin typeface="Arial"/>
                <a:ea typeface="Arial"/>
                <a:cs typeface="Arial"/>
                <a:sym typeface="Arial"/>
              </a:endParaRPr>
            </a:p>
          </p:txBody>
        </p:sp>
      </p:grpSp>
      <p:grpSp>
        <p:nvGrpSpPr>
          <p:cNvPr id="104" name="Google Shape;104;g35c6db477ef_0_177"/>
          <p:cNvGrpSpPr/>
          <p:nvPr/>
        </p:nvGrpSpPr>
        <p:grpSpPr>
          <a:xfrm>
            <a:off x="141302" y="6772302"/>
            <a:ext cx="5572495" cy="676440"/>
            <a:chOff x="0" y="-53861"/>
            <a:chExt cx="1964221" cy="360000"/>
          </a:xfrm>
        </p:grpSpPr>
        <p:sp>
          <p:nvSpPr>
            <p:cNvPr id="105" name="Google Shape;105;g35c6db477ef_0_177"/>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06" name="Google Shape;106;g35c6db477ef_0_177"/>
            <p:cNvSpPr txBox="1"/>
            <p:nvPr/>
          </p:nvSpPr>
          <p:spPr>
            <a:xfrm>
              <a:off x="0" y="-53861"/>
              <a:ext cx="1849800" cy="360000"/>
            </a:xfrm>
            <a:prstGeom prst="rect">
              <a:avLst/>
            </a:prstGeom>
            <a:noFill/>
            <a:ln>
              <a:noFill/>
            </a:ln>
          </p:spPr>
          <p:txBody>
            <a:bodyPr anchorCtr="0" anchor="ctr" bIns="40650" lIns="40650" spcFirstLastPara="1" rIns="40650" wrap="square" tIns="40650">
              <a:noAutofit/>
            </a:bodyPr>
            <a:lstStyle/>
            <a:p>
              <a:pPr indent="0" lvl="0" marL="0" marR="0" rtl="0" algn="ctr">
                <a:lnSpc>
                  <a:spcPct val="148017"/>
                </a:lnSpc>
                <a:spcBef>
                  <a:spcPts val="0"/>
                </a:spcBef>
                <a:spcAft>
                  <a:spcPts val="0"/>
                </a:spcAft>
                <a:buClr>
                  <a:srgbClr val="000000"/>
                </a:buClr>
                <a:buSzPts val="2200"/>
                <a:buFont typeface="Arial"/>
                <a:buNone/>
              </a:pPr>
              <a:r>
                <a:rPr lang="en-US" sz="2200"/>
                <a:t>RAID en Entornos Virtualizados</a:t>
              </a:r>
              <a:endParaRPr b="0" i="0" sz="1100" u="none" cap="none" strike="noStrike">
                <a:solidFill>
                  <a:srgbClr val="000000"/>
                </a:solidFill>
                <a:latin typeface="Arial"/>
                <a:ea typeface="Arial"/>
                <a:cs typeface="Arial"/>
                <a:sym typeface="Arial"/>
              </a:endParaRPr>
            </a:p>
          </p:txBody>
        </p:sp>
      </p:grpSp>
      <p:sp>
        <p:nvSpPr>
          <p:cNvPr id="107" name="Google Shape;107;g35c6db477ef_0_177"/>
          <p:cNvSpPr/>
          <p:nvPr/>
        </p:nvSpPr>
        <p:spPr>
          <a:xfrm>
            <a:off x="702923" y="4498624"/>
            <a:ext cx="362686" cy="440075"/>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8">
              <a:alphaModFix/>
            </a:blip>
            <a:stretch>
              <a:fillRect b="0" l="0" r="0" t="0"/>
            </a:stretch>
          </a:blipFill>
          <a:ln>
            <a:noFill/>
          </a:ln>
        </p:spPr>
      </p:sp>
      <p:sp>
        <p:nvSpPr>
          <p:cNvPr id="108" name="Google Shape;108;g35c6db477ef_0_177"/>
          <p:cNvSpPr/>
          <p:nvPr/>
        </p:nvSpPr>
        <p:spPr>
          <a:xfrm>
            <a:off x="423373" y="5337757"/>
            <a:ext cx="362686" cy="440075"/>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8">
              <a:alphaModFix/>
            </a:blip>
            <a:stretch>
              <a:fillRect b="0" l="0" r="0" t="0"/>
            </a:stretch>
          </a:blipFill>
          <a:ln>
            <a:noFill/>
          </a:ln>
        </p:spPr>
      </p:sp>
      <p:sp>
        <p:nvSpPr>
          <p:cNvPr id="109" name="Google Shape;109;g35c6db477ef_0_177"/>
          <p:cNvSpPr/>
          <p:nvPr/>
        </p:nvSpPr>
        <p:spPr>
          <a:xfrm>
            <a:off x="423373" y="6093133"/>
            <a:ext cx="362686" cy="440075"/>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8">
              <a:alphaModFix/>
            </a:blip>
            <a:stretch>
              <a:fillRect b="0" l="0" r="0" t="0"/>
            </a:stretch>
          </a:blipFill>
          <a:ln>
            <a:noFill/>
          </a:ln>
        </p:spPr>
      </p:sp>
      <p:sp>
        <p:nvSpPr>
          <p:cNvPr id="110" name="Google Shape;110;g35c6db477ef_0_177"/>
          <p:cNvSpPr/>
          <p:nvPr/>
        </p:nvSpPr>
        <p:spPr>
          <a:xfrm>
            <a:off x="423373" y="6883157"/>
            <a:ext cx="362686" cy="440075"/>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8">
              <a:alphaModFix/>
            </a:blip>
            <a:stretch>
              <a:fillRect b="0" l="0" r="0" t="0"/>
            </a:stretch>
          </a:blipFill>
          <a:ln>
            <a:noFill/>
          </a:ln>
        </p:spPr>
      </p:sp>
      <p:sp>
        <p:nvSpPr>
          <p:cNvPr id="111" name="Google Shape;111;g35c6db477ef_0_177"/>
          <p:cNvSpPr/>
          <p:nvPr/>
        </p:nvSpPr>
        <p:spPr>
          <a:xfrm>
            <a:off x="521403" y="2743788"/>
            <a:ext cx="603114" cy="698342"/>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9">
              <a:alphaModFix/>
            </a:blip>
            <a:stretch>
              <a:fillRect b="0" l="0" r="0" t="0"/>
            </a:stretch>
          </a:blipFill>
          <a:ln>
            <a:noFill/>
          </a:ln>
        </p:spPr>
      </p:sp>
      <p:sp>
        <p:nvSpPr>
          <p:cNvPr id="112" name="Google Shape;112;g35c6db477ef_0_177"/>
          <p:cNvSpPr txBox="1"/>
          <p:nvPr/>
        </p:nvSpPr>
        <p:spPr>
          <a:xfrm>
            <a:off x="702919" y="546520"/>
            <a:ext cx="6168300" cy="1847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0" lang="en-US" sz="12000" u="none" cap="none" strike="noStrike">
                <a:solidFill>
                  <a:srgbClr val="131416"/>
                </a:solidFill>
                <a:latin typeface="Pacifico"/>
                <a:ea typeface="Pacifico"/>
                <a:cs typeface="Pacifico"/>
                <a:sym typeface="Pacifico"/>
              </a:rPr>
              <a:t>Agenda</a:t>
            </a:r>
            <a:endParaRPr sz="1100">
              <a:latin typeface="Pacifico"/>
              <a:ea typeface="Pacifico"/>
              <a:cs typeface="Pacifico"/>
              <a:sym typeface="Pacifico"/>
            </a:endParaRPr>
          </a:p>
        </p:txBody>
      </p:sp>
      <p:sp>
        <p:nvSpPr>
          <p:cNvPr id="113" name="Google Shape;113;g35c6db477ef_0_177"/>
          <p:cNvSpPr txBox="1"/>
          <p:nvPr/>
        </p:nvSpPr>
        <p:spPr>
          <a:xfrm>
            <a:off x="7816432" y="546514"/>
            <a:ext cx="6733500" cy="1847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0" lang="en-US" sz="12000" u="none" cap="none" strike="noStrike">
                <a:solidFill>
                  <a:srgbClr val="131416"/>
                </a:solidFill>
                <a:latin typeface="Lobster"/>
                <a:ea typeface="Lobster"/>
                <a:cs typeface="Lobster"/>
                <a:sym typeface="Lobster"/>
              </a:rPr>
              <a:t>Recursos</a:t>
            </a:r>
            <a:endParaRPr sz="1100">
              <a:latin typeface="Lobster"/>
              <a:ea typeface="Lobster"/>
              <a:cs typeface="Lobster"/>
              <a:sym typeface="Lobster"/>
            </a:endParaRPr>
          </a:p>
        </p:txBody>
      </p:sp>
      <p:sp>
        <p:nvSpPr>
          <p:cNvPr id="114" name="Google Shape;114;g35c6db477ef_0_177"/>
          <p:cNvSpPr txBox="1"/>
          <p:nvPr/>
        </p:nvSpPr>
        <p:spPr>
          <a:xfrm>
            <a:off x="8342860" y="2842918"/>
            <a:ext cx="4733100" cy="1993800"/>
          </a:xfrm>
          <a:prstGeom prst="rect">
            <a:avLst/>
          </a:prstGeom>
          <a:noFill/>
          <a:ln>
            <a:noFill/>
          </a:ln>
        </p:spPr>
        <p:txBody>
          <a:bodyPr anchorCtr="0" anchor="ctr" bIns="40650" lIns="40650" spcFirstLastPara="1" rIns="40650" wrap="square" tIns="40650">
            <a:noAutofit/>
          </a:bodyPr>
          <a:lstStyle/>
          <a:p>
            <a:pPr indent="0" lvl="0" marL="0" rtl="0" algn="ctr">
              <a:lnSpc>
                <a:spcPct val="148010"/>
              </a:lnSpc>
              <a:spcBef>
                <a:spcPts val="0"/>
              </a:spcBef>
              <a:spcAft>
                <a:spcPts val="0"/>
              </a:spcAft>
              <a:buClr>
                <a:schemeClr val="dk1"/>
              </a:buClr>
              <a:buSzPts val="3600"/>
              <a:buFont typeface="Arial"/>
              <a:buNone/>
            </a:pPr>
            <a:r>
              <a:rPr lang="en-US" sz="3600">
                <a:solidFill>
                  <a:schemeClr val="dk1"/>
                </a:solidFill>
              </a:rPr>
              <a:t>https://youtu.be/Ptm0APFPHPE</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5c6db477ef_0_291"/>
          <p:cNvSpPr/>
          <p:nvPr/>
        </p:nvSpPr>
        <p:spPr>
          <a:xfrm>
            <a:off x="-128554" y="-72402"/>
            <a:ext cx="14875717" cy="8378053"/>
          </a:xfrm>
          <a:custGeom>
            <a:rect b="b" l="l" r="r" t="t"/>
            <a:pathLst>
              <a:path extrusionOk="0" h="1913890" w="3398222">
                <a:moveTo>
                  <a:pt x="0" y="0"/>
                </a:moveTo>
                <a:lnTo>
                  <a:pt x="3398222" y="0"/>
                </a:lnTo>
                <a:lnTo>
                  <a:pt x="3398222" y="1913890"/>
                </a:lnTo>
                <a:lnTo>
                  <a:pt x="0" y="1913890"/>
                </a:lnTo>
                <a:close/>
              </a:path>
            </a:pathLst>
          </a:custGeom>
          <a:solidFill>
            <a:srgbClr val="D9D9D9">
              <a:alpha val="46670"/>
            </a:srgbClr>
          </a:solidFill>
          <a:ln>
            <a:noFill/>
          </a:ln>
        </p:spPr>
      </p:sp>
      <p:sp>
        <p:nvSpPr>
          <p:cNvPr id="120" name="Google Shape;120;g35c6db477ef_0_291"/>
          <p:cNvSpPr/>
          <p:nvPr/>
        </p:nvSpPr>
        <p:spPr>
          <a:xfrm rot="-2311187">
            <a:off x="7756517" y="1734471"/>
            <a:ext cx="10105372" cy="7643336"/>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7000"/>
            </a:blip>
            <a:stretch>
              <a:fillRect b="0" l="0" r="0" t="0"/>
            </a:stretch>
          </a:blipFill>
          <a:ln>
            <a:noFill/>
          </a:ln>
        </p:spPr>
      </p:sp>
      <p:grpSp>
        <p:nvGrpSpPr>
          <p:cNvPr id="121" name="Google Shape;121;g35c6db477ef_0_291"/>
          <p:cNvGrpSpPr/>
          <p:nvPr/>
        </p:nvGrpSpPr>
        <p:grpSpPr>
          <a:xfrm rot="9869719">
            <a:off x="11544373" y="5253546"/>
            <a:ext cx="5190987" cy="5411352"/>
            <a:chOff x="-8061" y="0"/>
            <a:chExt cx="8651124" cy="9018376"/>
          </a:xfrm>
        </p:grpSpPr>
        <p:sp>
          <p:nvSpPr>
            <p:cNvPr id="122" name="Google Shape;122;g35c6db477ef_0_291"/>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23" name="Google Shape;123;g35c6db477ef_0_291"/>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24" name="Google Shape;124;g35c6db477ef_0_291"/>
          <p:cNvSpPr/>
          <p:nvPr/>
        </p:nvSpPr>
        <p:spPr>
          <a:xfrm>
            <a:off x="8070329" y="-3207010"/>
            <a:ext cx="3863187" cy="3856163"/>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125" name="Google Shape;125;g35c6db477ef_0_291"/>
          <p:cNvSpPr txBox="1"/>
          <p:nvPr/>
        </p:nvSpPr>
        <p:spPr>
          <a:xfrm>
            <a:off x="4346460" y="397660"/>
            <a:ext cx="6336900" cy="1377000"/>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Clr>
                <a:srgbClr val="000000"/>
              </a:buClr>
              <a:buSzPts val="4200"/>
              <a:buFont typeface="Arial"/>
              <a:buNone/>
            </a:pPr>
            <a:r>
              <a:rPr b="0" i="0" lang="en-US" sz="4200" u="none" cap="none" strike="noStrike">
                <a:solidFill>
                  <a:srgbClr val="131416"/>
                </a:solidFill>
                <a:latin typeface="Arial"/>
                <a:ea typeface="Arial"/>
                <a:cs typeface="Arial"/>
                <a:sym typeface="Arial"/>
              </a:rPr>
              <a:t>COMPETENCIA(S) QUE DESARROLLAREMOS</a:t>
            </a:r>
            <a:endParaRPr b="0" i="0" sz="400" u="none" cap="none" strike="noStrike">
              <a:solidFill>
                <a:srgbClr val="000000"/>
              </a:solidFill>
              <a:latin typeface="Arial"/>
              <a:ea typeface="Arial"/>
              <a:cs typeface="Arial"/>
              <a:sym typeface="Arial"/>
            </a:endParaRPr>
          </a:p>
        </p:txBody>
      </p:sp>
      <p:sp>
        <p:nvSpPr>
          <p:cNvPr id="126" name="Google Shape;126;g35c6db477ef_0_291"/>
          <p:cNvSpPr txBox="1"/>
          <p:nvPr/>
        </p:nvSpPr>
        <p:spPr>
          <a:xfrm>
            <a:off x="855682" y="2186680"/>
            <a:ext cx="12545700" cy="51720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4200"/>
              <a:buFont typeface="Arial"/>
              <a:buNone/>
            </a:pPr>
            <a:r>
              <a:rPr b="1" lang="en-US" sz="4200">
                <a:solidFill>
                  <a:srgbClr val="131416"/>
                </a:solidFill>
                <a:latin typeface="Open Sans"/>
                <a:ea typeface="Open Sans"/>
                <a:cs typeface="Open Sans"/>
                <a:sym typeface="Open Sans"/>
              </a:rPr>
              <a:t>Comprende el modelo de seguridad integral para almacenamiento de datos mediante el análisis de amenazas, controles de acceso y técnicas de respaldo para garantizar la confidencialidad, integridad y disponibilidad de la información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descr="preencoded.png" id="132" name="Google Shape;132;p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33" name="Google Shape;133;p1"/>
          <p:cNvSpPr/>
          <p:nvPr/>
        </p:nvSpPr>
        <p:spPr>
          <a:xfrm>
            <a:off x="6280190" y="825937"/>
            <a:ext cx="7556421" cy="1956435"/>
          </a:xfrm>
          <a:prstGeom prst="rect">
            <a:avLst/>
          </a:prstGeom>
          <a:noFill/>
          <a:ln>
            <a:noFill/>
          </a:ln>
        </p:spPr>
        <p:txBody>
          <a:bodyPr anchorCtr="0" anchor="t" bIns="0" lIns="0" spcFirstLastPara="1" rIns="0" wrap="square" tIns="0">
            <a:noAutofit/>
          </a:bodyPr>
          <a:lstStyle/>
          <a:p>
            <a:pPr indent="0" lvl="0" marL="0" marR="0" rtl="0" algn="l">
              <a:lnSpc>
                <a:spcPct val="125203"/>
              </a:lnSpc>
              <a:spcBef>
                <a:spcPts val="0"/>
              </a:spcBef>
              <a:spcAft>
                <a:spcPts val="0"/>
              </a:spcAft>
              <a:buClr>
                <a:srgbClr val="FFFFFF"/>
              </a:buClr>
              <a:buSzPts val="6150"/>
              <a:buFont typeface="Saira Medium"/>
              <a:buNone/>
            </a:pPr>
            <a:r>
              <a:rPr b="0" i="0" lang="en-US" sz="6150" u="none" cap="none" strike="noStrike">
                <a:solidFill>
                  <a:srgbClr val="FFFFFF"/>
                </a:solidFill>
                <a:latin typeface="Saira Medium"/>
                <a:ea typeface="Saira Medium"/>
                <a:cs typeface="Saira Medium"/>
                <a:sym typeface="Saira Medium"/>
              </a:rPr>
              <a:t>Introducción a RAID: Concepto y Tipos</a:t>
            </a:r>
            <a:endParaRPr b="0" i="0" sz="6150" u="none" cap="none" strike="noStrike">
              <a:solidFill>
                <a:srgbClr val="000000"/>
              </a:solidFill>
              <a:latin typeface="Arial"/>
              <a:ea typeface="Arial"/>
              <a:cs typeface="Arial"/>
              <a:sym typeface="Arial"/>
            </a:endParaRPr>
          </a:p>
        </p:txBody>
      </p:sp>
      <p:sp>
        <p:nvSpPr>
          <p:cNvPr id="134" name="Google Shape;134;p1"/>
          <p:cNvSpPr/>
          <p:nvPr/>
        </p:nvSpPr>
        <p:spPr>
          <a:xfrm>
            <a:off x="6280190" y="3122533"/>
            <a:ext cx="7556421"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(Redundant Array of Independent Disks) es una tecnología de almacenamiento que combina múltiples unidades de disco duro para mejorar el rendimiento, la fiabilidad y la capacidad de los sistemas de almacenamiento. Al agrupar varios discos duros, RAID ofrece una variedad de beneficios, como una mayor velocidad de lectura/escritura, redundancia de datos y tolerancia a fallos. Existen diferentes niveles de RAID, cada uno con sus propias características y aplicaciones específicas. En esta presentación, </a:t>
            </a:r>
            <a:r>
              <a:rPr lang="en-US" sz="1750">
                <a:solidFill>
                  <a:srgbClr val="E5E0DF"/>
                </a:solidFill>
                <a:latin typeface="Roboto"/>
                <a:ea typeface="Roboto"/>
                <a:cs typeface="Roboto"/>
                <a:sym typeface="Roboto"/>
              </a:rPr>
              <a:t>exploramos</a:t>
            </a:r>
            <a:r>
              <a:rPr b="0" i="0" lang="en-US" sz="1750" u="none" cap="none" strike="noStrike">
                <a:solidFill>
                  <a:srgbClr val="E5E0DF"/>
                </a:solidFill>
                <a:latin typeface="Roboto"/>
                <a:ea typeface="Roboto"/>
                <a:cs typeface="Roboto"/>
                <a:sym typeface="Roboto"/>
              </a:rPr>
              <a:t> los conceptos clave de RAID y los principales niveles, desde el RAID 0 orientado al rendimiento hasta el RAID 6 y RAID 10 que priorizan la tolerancia a fallos.</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descr="preencoded.png" id="140" name="Google Shape;140;g35c6db477ef_0_37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41" name="Google Shape;141;g35c6db477ef_0_377"/>
          <p:cNvSpPr/>
          <p:nvPr/>
        </p:nvSpPr>
        <p:spPr>
          <a:xfrm>
            <a:off x="793790" y="1098232"/>
            <a:ext cx="71106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Conceptos Básicos de RAID</a:t>
            </a:r>
            <a:endParaRPr b="0" i="0" sz="4450" u="none" cap="none" strike="noStrike"/>
          </a:p>
        </p:txBody>
      </p:sp>
      <p:sp>
        <p:nvSpPr>
          <p:cNvPr id="142" name="Google Shape;142;g35c6db477ef_0_377"/>
          <p:cNvSpPr/>
          <p:nvPr/>
        </p:nvSpPr>
        <p:spPr>
          <a:xfrm>
            <a:off x="793790" y="2402324"/>
            <a:ext cx="510300" cy="510300"/>
          </a:xfrm>
          <a:prstGeom prst="roundRect">
            <a:avLst>
              <a:gd fmla="val 4000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5c6db477ef_0_377"/>
          <p:cNvSpPr/>
          <p:nvPr/>
        </p:nvSpPr>
        <p:spPr>
          <a:xfrm>
            <a:off x="983694" y="2487335"/>
            <a:ext cx="130500" cy="340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650"/>
              <a:buFont typeface="Saira Medium"/>
              <a:buNone/>
            </a:pPr>
            <a:r>
              <a:rPr b="0" i="0" lang="en-US" sz="2650" u="none" cap="none" strike="noStrike">
                <a:solidFill>
                  <a:srgbClr val="E5E0DF"/>
                </a:solidFill>
                <a:latin typeface="Saira Medium"/>
                <a:ea typeface="Saira Medium"/>
                <a:cs typeface="Saira Medium"/>
                <a:sym typeface="Saira Medium"/>
              </a:rPr>
              <a:t>1</a:t>
            </a:r>
            <a:endParaRPr b="0" i="0" sz="2650" u="none" cap="none" strike="noStrike"/>
          </a:p>
        </p:txBody>
      </p:sp>
      <p:sp>
        <p:nvSpPr>
          <p:cNvPr id="144" name="Google Shape;144;g35c6db477ef_0_377"/>
          <p:cNvSpPr/>
          <p:nvPr/>
        </p:nvSpPr>
        <p:spPr>
          <a:xfrm>
            <a:off x="1530906" y="2402324"/>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Definición de RAID</a:t>
            </a:r>
            <a:endParaRPr b="0" i="0" sz="2200" u="none" cap="none" strike="noStrike"/>
          </a:p>
        </p:txBody>
      </p:sp>
      <p:sp>
        <p:nvSpPr>
          <p:cNvPr id="145" name="Google Shape;145;g35c6db477ef_0_377"/>
          <p:cNvSpPr/>
          <p:nvPr/>
        </p:nvSpPr>
        <p:spPr>
          <a:xfrm>
            <a:off x="1530906" y="2892743"/>
            <a:ext cx="2927700" cy="2177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es una tecnología que combina múltiples discos duros para mejorar el rendimiento, la fiabilidad y la capacidad de almacenamiento.</a:t>
            </a:r>
            <a:endParaRPr b="0" i="0" sz="1750" u="none" cap="none" strike="noStrike"/>
          </a:p>
        </p:txBody>
      </p:sp>
      <p:sp>
        <p:nvSpPr>
          <p:cNvPr id="146" name="Google Shape;146;g35c6db477ef_0_377"/>
          <p:cNvSpPr/>
          <p:nvPr/>
        </p:nvSpPr>
        <p:spPr>
          <a:xfrm>
            <a:off x="4685467" y="2402324"/>
            <a:ext cx="510300" cy="510300"/>
          </a:xfrm>
          <a:prstGeom prst="roundRect">
            <a:avLst>
              <a:gd fmla="val 4000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5c6db477ef_0_377"/>
          <p:cNvSpPr/>
          <p:nvPr/>
        </p:nvSpPr>
        <p:spPr>
          <a:xfrm>
            <a:off x="4836676" y="2487335"/>
            <a:ext cx="207900" cy="340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650"/>
              <a:buFont typeface="Saira Medium"/>
              <a:buNone/>
            </a:pPr>
            <a:r>
              <a:rPr b="0" i="0" lang="en-US" sz="2650" u="none" cap="none" strike="noStrike">
                <a:solidFill>
                  <a:srgbClr val="E5E0DF"/>
                </a:solidFill>
                <a:latin typeface="Saira Medium"/>
                <a:ea typeface="Saira Medium"/>
                <a:cs typeface="Saira Medium"/>
                <a:sym typeface="Saira Medium"/>
              </a:rPr>
              <a:t>2</a:t>
            </a:r>
            <a:endParaRPr b="0" i="0" sz="2650" u="none" cap="none" strike="noStrike"/>
          </a:p>
        </p:txBody>
      </p:sp>
      <p:sp>
        <p:nvSpPr>
          <p:cNvPr id="148" name="Google Shape;148;g35c6db477ef_0_377"/>
          <p:cNvSpPr/>
          <p:nvPr/>
        </p:nvSpPr>
        <p:spPr>
          <a:xfrm>
            <a:off x="5422583" y="2402324"/>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Niveles de RAID</a:t>
            </a:r>
            <a:endParaRPr b="0" i="0" sz="2200" u="none" cap="none" strike="noStrike"/>
          </a:p>
        </p:txBody>
      </p:sp>
      <p:sp>
        <p:nvSpPr>
          <p:cNvPr id="149" name="Google Shape;149;g35c6db477ef_0_377"/>
          <p:cNvSpPr/>
          <p:nvPr/>
        </p:nvSpPr>
        <p:spPr>
          <a:xfrm>
            <a:off x="5422583" y="2892743"/>
            <a:ext cx="2927700" cy="181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Existen diferentes niveles de RAID, cada uno con sus propias características y objetivos, como RAID 0, RAID 1, RAID 5, RAID 6, etc.</a:t>
            </a:r>
            <a:endParaRPr b="0" i="0" sz="1750" u="none" cap="none" strike="noStrike"/>
          </a:p>
        </p:txBody>
      </p:sp>
      <p:sp>
        <p:nvSpPr>
          <p:cNvPr id="150" name="Google Shape;150;g35c6db477ef_0_377"/>
          <p:cNvSpPr/>
          <p:nvPr/>
        </p:nvSpPr>
        <p:spPr>
          <a:xfrm>
            <a:off x="793790" y="5552123"/>
            <a:ext cx="510300" cy="510300"/>
          </a:xfrm>
          <a:prstGeom prst="roundRect">
            <a:avLst>
              <a:gd fmla="val 4000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5c6db477ef_0_377"/>
          <p:cNvSpPr/>
          <p:nvPr/>
        </p:nvSpPr>
        <p:spPr>
          <a:xfrm>
            <a:off x="946190" y="5637133"/>
            <a:ext cx="205500" cy="340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650"/>
              <a:buFont typeface="Saira Medium"/>
              <a:buNone/>
            </a:pPr>
            <a:r>
              <a:rPr b="0" i="0" lang="en-US" sz="2650" u="none" cap="none" strike="noStrike">
                <a:solidFill>
                  <a:srgbClr val="E5E0DF"/>
                </a:solidFill>
                <a:latin typeface="Saira Medium"/>
                <a:ea typeface="Saira Medium"/>
                <a:cs typeface="Saira Medium"/>
                <a:sym typeface="Saira Medium"/>
              </a:rPr>
              <a:t>3</a:t>
            </a:r>
            <a:endParaRPr b="0" i="0" sz="2650" u="none" cap="none" strike="noStrike"/>
          </a:p>
        </p:txBody>
      </p:sp>
      <p:sp>
        <p:nvSpPr>
          <p:cNvPr id="152" name="Google Shape;152;g35c6db477ef_0_377"/>
          <p:cNvSpPr/>
          <p:nvPr/>
        </p:nvSpPr>
        <p:spPr>
          <a:xfrm>
            <a:off x="1530906" y="5552123"/>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Técnicas Clave</a:t>
            </a:r>
            <a:endParaRPr b="0" i="0" sz="2200" u="none" cap="none" strike="noStrike"/>
          </a:p>
        </p:txBody>
      </p:sp>
      <p:sp>
        <p:nvSpPr>
          <p:cNvPr id="153" name="Google Shape;153;g35c6db477ef_0_377"/>
          <p:cNvSpPr/>
          <p:nvPr/>
        </p:nvSpPr>
        <p:spPr>
          <a:xfrm>
            <a:off x="1530906" y="6042541"/>
            <a:ext cx="68193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Conceptos fundamentales como striping (división de datos en bloques) y mirroring (duplicación de datos) son esenciales en la implementación de RAID.</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
          <p:cNvSpPr/>
          <p:nvPr/>
        </p:nvSpPr>
        <p:spPr>
          <a:xfrm>
            <a:off x="721043" y="731282"/>
            <a:ext cx="7351871" cy="643771"/>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FFFFFF"/>
              </a:buClr>
              <a:buSzPts val="4050"/>
              <a:buFont typeface="Saira Medium"/>
              <a:buNone/>
            </a:pPr>
            <a:r>
              <a:rPr b="0" i="0" lang="en-US" sz="4050" u="none" cap="none" strike="noStrike">
                <a:solidFill>
                  <a:srgbClr val="FFFFFF"/>
                </a:solidFill>
                <a:latin typeface="Saira Medium"/>
                <a:ea typeface="Saira Medium"/>
                <a:cs typeface="Saira Medium"/>
                <a:sym typeface="Saira Medium"/>
              </a:rPr>
              <a:t>RAID 0: Rendimiento mejorado</a:t>
            </a:r>
            <a:endParaRPr b="0" i="0" sz="4050" u="none" cap="none" strike="noStrike">
              <a:solidFill>
                <a:srgbClr val="000000"/>
              </a:solidFill>
              <a:latin typeface="Arial"/>
              <a:ea typeface="Arial"/>
              <a:cs typeface="Arial"/>
              <a:sym typeface="Arial"/>
            </a:endParaRPr>
          </a:p>
        </p:txBody>
      </p:sp>
      <p:sp>
        <p:nvSpPr>
          <p:cNvPr id="160" name="Google Shape;160;p2"/>
          <p:cNvSpPr/>
          <p:nvPr/>
        </p:nvSpPr>
        <p:spPr>
          <a:xfrm>
            <a:off x="721043" y="5136952"/>
            <a:ext cx="13188315" cy="22860"/>
          </a:xfrm>
          <a:prstGeom prst="roundRect">
            <a:avLst>
              <a:gd fmla="val 811156" name="adj"/>
            </a:avLst>
          </a:prstGeom>
          <a:solidFill>
            <a:srgbClr val="FFFFFF">
              <a:alpha val="2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
          <p:cNvSpPr/>
          <p:nvPr/>
        </p:nvSpPr>
        <p:spPr>
          <a:xfrm>
            <a:off x="3955018" y="4415969"/>
            <a:ext cx="22860" cy="721043"/>
          </a:xfrm>
          <a:prstGeom prst="roundRect">
            <a:avLst>
              <a:gd fmla="val 811156" name="adj"/>
            </a:avLst>
          </a:prstGeom>
          <a:solidFill>
            <a:srgbClr val="FC83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p:nvPr/>
        </p:nvSpPr>
        <p:spPr>
          <a:xfrm>
            <a:off x="3734752" y="4905196"/>
            <a:ext cx="463510" cy="463510"/>
          </a:xfrm>
          <a:prstGeom prst="roundRect">
            <a:avLst>
              <a:gd fmla="val 40006"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
          <p:cNvSpPr/>
          <p:nvPr/>
        </p:nvSpPr>
        <p:spPr>
          <a:xfrm>
            <a:off x="3907274" y="4982349"/>
            <a:ext cx="118348" cy="3090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1</a:t>
            </a:r>
            <a:endParaRPr b="0" i="0" sz="2400" u="none" cap="none" strike="noStrike">
              <a:solidFill>
                <a:srgbClr val="000000"/>
              </a:solidFill>
              <a:latin typeface="Arial"/>
              <a:ea typeface="Arial"/>
              <a:cs typeface="Arial"/>
              <a:sym typeface="Arial"/>
            </a:endParaRPr>
          </a:p>
        </p:txBody>
      </p:sp>
      <p:sp>
        <p:nvSpPr>
          <p:cNvPr id="164" name="Google Shape;164;p2"/>
          <p:cNvSpPr/>
          <p:nvPr/>
        </p:nvSpPr>
        <p:spPr>
          <a:xfrm>
            <a:off x="2571155" y="1787009"/>
            <a:ext cx="2790944" cy="321826"/>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Segmentación de datos</a:t>
            </a:r>
            <a:endParaRPr b="0" i="0" sz="2000" u="none" cap="none" strike="noStrike">
              <a:solidFill>
                <a:srgbClr val="000000"/>
              </a:solidFill>
              <a:latin typeface="Arial"/>
              <a:ea typeface="Arial"/>
              <a:cs typeface="Arial"/>
              <a:sym typeface="Arial"/>
            </a:endParaRPr>
          </a:p>
        </p:txBody>
      </p:sp>
      <p:sp>
        <p:nvSpPr>
          <p:cNvPr id="165" name="Google Shape;165;p2"/>
          <p:cNvSpPr/>
          <p:nvPr/>
        </p:nvSpPr>
        <p:spPr>
          <a:xfrm>
            <a:off x="927021" y="2232422"/>
            <a:ext cx="6079212" cy="1977390"/>
          </a:xfrm>
          <a:prstGeom prst="rect">
            <a:avLst/>
          </a:prstGeom>
          <a:noFill/>
          <a:ln>
            <a:noFill/>
          </a:ln>
        </p:spPr>
        <p:txBody>
          <a:bodyPr anchorCtr="0" anchor="t" bIns="0" lIns="0" spcFirstLastPara="1" rIns="0" wrap="square" tIns="0">
            <a:noAutofit/>
          </a:bodyPr>
          <a:lstStyle/>
          <a:p>
            <a:pPr indent="0" lvl="0" marL="0" marR="0" rtl="0" algn="ctr">
              <a:lnSpc>
                <a:spcPct val="159375"/>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El RAID 0 divide los datos en bloques más pequeños y los distribuye uniformemente entre las unidades de disco. Esto permite una lectura y escritura simultánea en varios discos, lo que mejora significativamente el rendimiento en aplicaciones que requieren un alto ancho de banda, como edición de vídeo o servidores de archivos.</a:t>
            </a:r>
            <a:endParaRPr b="0" i="0" sz="1600" u="none" cap="none" strike="noStrike">
              <a:solidFill>
                <a:srgbClr val="000000"/>
              </a:solidFill>
              <a:latin typeface="Arial"/>
              <a:ea typeface="Arial"/>
              <a:cs typeface="Arial"/>
              <a:sym typeface="Arial"/>
            </a:endParaRPr>
          </a:p>
        </p:txBody>
      </p:sp>
      <p:sp>
        <p:nvSpPr>
          <p:cNvPr id="166" name="Google Shape;166;p2"/>
          <p:cNvSpPr/>
          <p:nvPr/>
        </p:nvSpPr>
        <p:spPr>
          <a:xfrm>
            <a:off x="7303532" y="5136892"/>
            <a:ext cx="22860" cy="721043"/>
          </a:xfrm>
          <a:prstGeom prst="roundRect">
            <a:avLst>
              <a:gd fmla="val 811156" name="adj"/>
            </a:avLst>
          </a:prstGeom>
          <a:solidFill>
            <a:srgbClr val="FC83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
          <p:cNvSpPr/>
          <p:nvPr/>
        </p:nvSpPr>
        <p:spPr>
          <a:xfrm>
            <a:off x="7083266" y="4905196"/>
            <a:ext cx="463510" cy="463510"/>
          </a:xfrm>
          <a:prstGeom prst="roundRect">
            <a:avLst>
              <a:gd fmla="val 40006"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
          <p:cNvSpPr/>
          <p:nvPr/>
        </p:nvSpPr>
        <p:spPr>
          <a:xfrm>
            <a:off x="7220545" y="4982349"/>
            <a:ext cx="188833" cy="3090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2</a:t>
            </a:r>
            <a:endParaRPr b="0" i="0" sz="2400" u="none" cap="none" strike="noStrike">
              <a:solidFill>
                <a:srgbClr val="000000"/>
              </a:solidFill>
              <a:latin typeface="Arial"/>
              <a:ea typeface="Arial"/>
              <a:cs typeface="Arial"/>
              <a:sym typeface="Arial"/>
            </a:endParaRPr>
          </a:p>
        </p:txBody>
      </p:sp>
      <p:sp>
        <p:nvSpPr>
          <p:cNvPr id="169" name="Google Shape;169;p2"/>
          <p:cNvSpPr/>
          <p:nvPr/>
        </p:nvSpPr>
        <p:spPr>
          <a:xfrm>
            <a:off x="6027420" y="6064091"/>
            <a:ext cx="2575322" cy="321826"/>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Sin redundancia</a:t>
            </a:r>
            <a:endParaRPr b="0" i="0" sz="2000" u="none" cap="none" strike="noStrike">
              <a:solidFill>
                <a:srgbClr val="000000"/>
              </a:solidFill>
              <a:latin typeface="Arial"/>
              <a:ea typeface="Arial"/>
              <a:cs typeface="Arial"/>
              <a:sym typeface="Arial"/>
            </a:endParaRPr>
          </a:p>
        </p:txBody>
      </p:sp>
      <p:sp>
        <p:nvSpPr>
          <p:cNvPr id="170" name="Google Shape;170;p2"/>
          <p:cNvSpPr/>
          <p:nvPr/>
        </p:nvSpPr>
        <p:spPr>
          <a:xfrm>
            <a:off x="4275534" y="6509504"/>
            <a:ext cx="6079212" cy="988695"/>
          </a:xfrm>
          <a:prstGeom prst="rect">
            <a:avLst/>
          </a:prstGeom>
          <a:noFill/>
          <a:ln>
            <a:noFill/>
          </a:ln>
        </p:spPr>
        <p:txBody>
          <a:bodyPr anchorCtr="0" anchor="t" bIns="0" lIns="0" spcFirstLastPara="1" rIns="0" wrap="square" tIns="0">
            <a:noAutofit/>
          </a:bodyPr>
          <a:lstStyle/>
          <a:p>
            <a:pPr indent="0" lvl="0" marL="0" marR="0" rtl="0" algn="ctr">
              <a:lnSpc>
                <a:spcPct val="159375"/>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A diferencia de otros niveles de RAID, el RAID 0 no proporciona redundancia de datos. Si falla uno de los discos, se perderán todos los datos almacenados en el conjunto RAID 0.</a:t>
            </a:r>
            <a:endParaRPr b="0" i="0" sz="1600" u="none" cap="none" strike="noStrike">
              <a:solidFill>
                <a:srgbClr val="000000"/>
              </a:solidFill>
              <a:latin typeface="Arial"/>
              <a:ea typeface="Arial"/>
              <a:cs typeface="Arial"/>
              <a:sym typeface="Arial"/>
            </a:endParaRPr>
          </a:p>
        </p:txBody>
      </p:sp>
      <p:sp>
        <p:nvSpPr>
          <p:cNvPr id="171" name="Google Shape;171;p2"/>
          <p:cNvSpPr/>
          <p:nvPr/>
        </p:nvSpPr>
        <p:spPr>
          <a:xfrm>
            <a:off x="10652165" y="4415969"/>
            <a:ext cx="22860" cy="721043"/>
          </a:xfrm>
          <a:prstGeom prst="roundRect">
            <a:avLst>
              <a:gd fmla="val 811156" name="adj"/>
            </a:avLst>
          </a:prstGeom>
          <a:solidFill>
            <a:srgbClr val="FC83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
          <p:cNvSpPr/>
          <p:nvPr/>
        </p:nvSpPr>
        <p:spPr>
          <a:xfrm>
            <a:off x="10431899" y="4905196"/>
            <a:ext cx="463510" cy="463510"/>
          </a:xfrm>
          <a:prstGeom prst="roundRect">
            <a:avLst>
              <a:gd fmla="val 40006"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
          <p:cNvSpPr/>
          <p:nvPr/>
        </p:nvSpPr>
        <p:spPr>
          <a:xfrm>
            <a:off x="10570250" y="4982349"/>
            <a:ext cx="186690" cy="3090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3</a:t>
            </a:r>
            <a:endParaRPr b="0" i="0" sz="2400" u="none" cap="none" strike="noStrike">
              <a:solidFill>
                <a:srgbClr val="000000"/>
              </a:solidFill>
              <a:latin typeface="Arial"/>
              <a:ea typeface="Arial"/>
              <a:cs typeface="Arial"/>
              <a:sym typeface="Arial"/>
            </a:endParaRPr>
          </a:p>
        </p:txBody>
      </p:sp>
      <p:sp>
        <p:nvSpPr>
          <p:cNvPr id="174" name="Google Shape;174;p2"/>
          <p:cNvSpPr/>
          <p:nvPr/>
        </p:nvSpPr>
        <p:spPr>
          <a:xfrm>
            <a:off x="9013388" y="2116574"/>
            <a:ext cx="3300651" cy="321826"/>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Aplicaciones recomendadas</a:t>
            </a:r>
            <a:endParaRPr b="0" i="0" sz="2000" u="none" cap="none" strike="noStrike">
              <a:solidFill>
                <a:srgbClr val="000000"/>
              </a:solidFill>
              <a:latin typeface="Arial"/>
              <a:ea typeface="Arial"/>
              <a:cs typeface="Arial"/>
              <a:sym typeface="Arial"/>
            </a:endParaRPr>
          </a:p>
        </p:txBody>
      </p:sp>
      <p:sp>
        <p:nvSpPr>
          <p:cNvPr id="175" name="Google Shape;175;p2"/>
          <p:cNvSpPr/>
          <p:nvPr/>
        </p:nvSpPr>
        <p:spPr>
          <a:xfrm>
            <a:off x="7624167" y="2561987"/>
            <a:ext cx="6079212" cy="1647825"/>
          </a:xfrm>
          <a:prstGeom prst="rect">
            <a:avLst/>
          </a:prstGeom>
          <a:noFill/>
          <a:ln>
            <a:noFill/>
          </a:ln>
        </p:spPr>
        <p:txBody>
          <a:bodyPr anchorCtr="0" anchor="t" bIns="0" lIns="0" spcFirstLastPara="1" rIns="0" wrap="square" tIns="0">
            <a:noAutofit/>
          </a:bodyPr>
          <a:lstStyle/>
          <a:p>
            <a:pPr indent="0" lvl="0" marL="0" marR="0" rtl="0" algn="ctr">
              <a:lnSpc>
                <a:spcPct val="159375"/>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El RAID 0 es ideal para aplicaciones que requieren un rendimiento de lectura/escritura elevado, como servidores de bases de datos, edición de vídeo y procesamiento de imágenes. Sin embargo, es importante tener en cuenta el riesgo de pérdida de datos en caso de fallo de disco.</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
          <p:cNvSpPr/>
          <p:nvPr/>
        </p:nvSpPr>
        <p:spPr>
          <a:xfrm>
            <a:off x="793790" y="1455539"/>
            <a:ext cx="667392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RAID 1: Tolerancia a fallos</a:t>
            </a:r>
            <a:endParaRPr b="0" i="0" sz="4450" u="none" cap="none" strike="noStrike">
              <a:solidFill>
                <a:srgbClr val="000000"/>
              </a:solidFill>
              <a:latin typeface="Arial"/>
              <a:ea typeface="Arial"/>
              <a:cs typeface="Arial"/>
              <a:sym typeface="Arial"/>
            </a:endParaRPr>
          </a:p>
        </p:txBody>
      </p:sp>
      <p:sp>
        <p:nvSpPr>
          <p:cNvPr id="182" name="Google Shape;182;p3"/>
          <p:cNvSpPr/>
          <p:nvPr/>
        </p:nvSpPr>
        <p:spPr>
          <a:xfrm>
            <a:off x="793790" y="273129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Duplicación de datos</a:t>
            </a:r>
            <a:endParaRPr b="0" i="0" sz="2200" u="none" cap="none" strike="noStrike">
              <a:solidFill>
                <a:srgbClr val="000000"/>
              </a:solidFill>
              <a:latin typeface="Arial"/>
              <a:ea typeface="Arial"/>
              <a:cs typeface="Arial"/>
              <a:sym typeface="Arial"/>
            </a:endParaRPr>
          </a:p>
        </p:txBody>
      </p:sp>
      <p:sp>
        <p:nvSpPr>
          <p:cNvPr id="183" name="Google Shape;183;p3"/>
          <p:cNvSpPr/>
          <p:nvPr/>
        </p:nvSpPr>
        <p:spPr>
          <a:xfrm>
            <a:off x="793790" y="3312438"/>
            <a:ext cx="3978116"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En el RAID 1, los datos se escriben simultáneamente en dos o más unidades de disco. Esto crea una copia exacta (espejo) de los datos en cada disco, lo que proporciona redundancia y tolerancia a fallos.</a:t>
            </a:r>
            <a:endParaRPr b="0" i="0" sz="1750" u="none" cap="none" strike="noStrike">
              <a:solidFill>
                <a:srgbClr val="000000"/>
              </a:solidFill>
              <a:latin typeface="Arial"/>
              <a:ea typeface="Arial"/>
              <a:cs typeface="Arial"/>
              <a:sym typeface="Arial"/>
            </a:endParaRPr>
          </a:p>
        </p:txBody>
      </p:sp>
      <p:sp>
        <p:nvSpPr>
          <p:cNvPr id="184" name="Google Shape;184;p3"/>
          <p:cNvSpPr/>
          <p:nvPr/>
        </p:nvSpPr>
        <p:spPr>
          <a:xfrm>
            <a:off x="5332928" y="2731294"/>
            <a:ext cx="3978116"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Lectura mejorada, escritura reducida</a:t>
            </a:r>
            <a:endParaRPr b="0" i="0" sz="2200" u="none" cap="none" strike="noStrike">
              <a:solidFill>
                <a:srgbClr val="000000"/>
              </a:solidFill>
              <a:latin typeface="Arial"/>
              <a:ea typeface="Arial"/>
              <a:cs typeface="Arial"/>
              <a:sym typeface="Arial"/>
            </a:endParaRPr>
          </a:p>
        </p:txBody>
      </p:sp>
      <p:sp>
        <p:nvSpPr>
          <p:cNvPr id="185" name="Google Shape;185;p3"/>
          <p:cNvSpPr/>
          <p:nvPr/>
        </p:nvSpPr>
        <p:spPr>
          <a:xfrm>
            <a:off x="5332928" y="3666768"/>
            <a:ext cx="3978116"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Aunque la capacidad total del conjunto RAID 1 es igual a la de un solo disco, el rendimiento de lectura se ve mejorado, ya que los datos pueden leerse de cualquiera de los discos. Sin embargo, la escritura se ve ligeramente reducida, ya que los datos deben escribirse en múltiples discos.</a:t>
            </a:r>
            <a:endParaRPr b="0" i="0" sz="1750" u="none" cap="none" strike="noStrike">
              <a:solidFill>
                <a:srgbClr val="000000"/>
              </a:solidFill>
              <a:latin typeface="Arial"/>
              <a:ea typeface="Arial"/>
              <a:cs typeface="Arial"/>
              <a:sym typeface="Arial"/>
            </a:endParaRPr>
          </a:p>
        </p:txBody>
      </p:sp>
      <p:sp>
        <p:nvSpPr>
          <p:cNvPr id="186" name="Google Shape;186;p3"/>
          <p:cNvSpPr/>
          <p:nvPr/>
        </p:nvSpPr>
        <p:spPr>
          <a:xfrm>
            <a:off x="9872067" y="2731294"/>
            <a:ext cx="363343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Aplicaciones recomendadas</a:t>
            </a:r>
            <a:endParaRPr b="0" i="0" sz="2200" u="none" cap="none" strike="noStrike">
              <a:solidFill>
                <a:srgbClr val="000000"/>
              </a:solidFill>
              <a:latin typeface="Arial"/>
              <a:ea typeface="Arial"/>
              <a:cs typeface="Arial"/>
              <a:sym typeface="Arial"/>
            </a:endParaRPr>
          </a:p>
        </p:txBody>
      </p:sp>
      <p:sp>
        <p:nvSpPr>
          <p:cNvPr id="187" name="Google Shape;187;p3"/>
          <p:cNvSpPr/>
          <p:nvPr/>
        </p:nvSpPr>
        <p:spPr>
          <a:xfrm>
            <a:off x="9872067" y="3312438"/>
            <a:ext cx="3978116"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El RAID 1 es ideal para entornos que requieren una alta disponibilidad y tolerancia a fallos (redundancia de datos), como servidores web, bases de datos críticas y sistemas de almacenamiento de archivos importantes.</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4"/>
          <p:cNvSpPr/>
          <p:nvPr/>
        </p:nvSpPr>
        <p:spPr>
          <a:xfrm>
            <a:off x="760690" y="768191"/>
            <a:ext cx="13109019" cy="1358503"/>
          </a:xfrm>
          <a:prstGeom prst="rect">
            <a:avLst/>
          </a:prstGeom>
          <a:noFill/>
          <a:ln>
            <a:noFill/>
          </a:ln>
        </p:spPr>
        <p:txBody>
          <a:bodyPr anchorCtr="0" anchor="t" bIns="0" lIns="0" spcFirstLastPara="1" rIns="0" wrap="square" tIns="0">
            <a:noAutofit/>
          </a:bodyPr>
          <a:lstStyle/>
          <a:p>
            <a:pPr indent="0" lvl="0" marL="0" marR="0" rtl="0" algn="l">
              <a:lnSpc>
                <a:spcPct val="124705"/>
              </a:lnSpc>
              <a:spcBef>
                <a:spcPts val="0"/>
              </a:spcBef>
              <a:spcAft>
                <a:spcPts val="0"/>
              </a:spcAft>
              <a:buClr>
                <a:srgbClr val="FFFFFF"/>
              </a:buClr>
              <a:buSzPts val="4250"/>
              <a:buFont typeface="Saira Medium"/>
              <a:buNone/>
            </a:pPr>
            <a:r>
              <a:rPr b="0" i="0" lang="en-US" sz="4250" u="none" cap="none" strike="noStrike">
                <a:solidFill>
                  <a:srgbClr val="FFFFFF"/>
                </a:solidFill>
                <a:latin typeface="Saira Medium"/>
                <a:ea typeface="Saira Medium"/>
                <a:cs typeface="Saira Medium"/>
                <a:sym typeface="Saira Medium"/>
              </a:rPr>
              <a:t>RAID 5: Equilibrio entre rendimiento y tolerancia a fallos</a:t>
            </a:r>
            <a:endParaRPr b="0" i="0" sz="4250" u="none" cap="none" strike="noStrike">
              <a:solidFill>
                <a:srgbClr val="000000"/>
              </a:solidFill>
              <a:latin typeface="Arial"/>
              <a:ea typeface="Arial"/>
              <a:cs typeface="Arial"/>
              <a:sym typeface="Arial"/>
            </a:endParaRPr>
          </a:p>
        </p:txBody>
      </p:sp>
      <p:sp>
        <p:nvSpPr>
          <p:cNvPr id="194" name="Google Shape;194;p4"/>
          <p:cNvSpPr/>
          <p:nvPr/>
        </p:nvSpPr>
        <p:spPr>
          <a:xfrm>
            <a:off x="760690" y="2561392"/>
            <a:ext cx="6445925" cy="2341364"/>
          </a:xfrm>
          <a:prstGeom prst="roundRect">
            <a:avLst>
              <a:gd fmla="val 835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4"/>
          <p:cNvSpPr/>
          <p:nvPr/>
        </p:nvSpPr>
        <p:spPr>
          <a:xfrm>
            <a:off x="1000839" y="2801541"/>
            <a:ext cx="3973830" cy="33956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Bloques de paridad distribuidos</a:t>
            </a:r>
            <a:endParaRPr b="0" i="0" sz="2100" u="none" cap="none" strike="noStrike">
              <a:solidFill>
                <a:srgbClr val="000000"/>
              </a:solidFill>
              <a:latin typeface="Arial"/>
              <a:ea typeface="Arial"/>
              <a:cs typeface="Arial"/>
              <a:sym typeface="Arial"/>
            </a:endParaRPr>
          </a:p>
        </p:txBody>
      </p:sp>
      <p:sp>
        <p:nvSpPr>
          <p:cNvPr id="196" name="Google Shape;196;p4"/>
          <p:cNvSpPr/>
          <p:nvPr/>
        </p:nvSpPr>
        <p:spPr>
          <a:xfrm>
            <a:off x="1000839" y="3271480"/>
            <a:ext cx="5965627" cy="139112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5E0DF"/>
              </a:buClr>
              <a:buSzPts val="1700"/>
              <a:buFont typeface="Roboto"/>
              <a:buNone/>
            </a:pPr>
            <a:r>
              <a:rPr b="0" i="0" lang="en-US" sz="1700" u="none" cap="none" strike="noStrike">
                <a:solidFill>
                  <a:srgbClr val="E5E0DF"/>
                </a:solidFill>
                <a:latin typeface="Roboto"/>
                <a:ea typeface="Roboto"/>
                <a:cs typeface="Roboto"/>
                <a:sym typeface="Roboto"/>
              </a:rPr>
              <a:t>El RAID 5 distribuye los bloques de paridad entre todos los discos del conjunto. Esto permite una mayor tolerancia a fallos en comparación con el RAID 0, ya que puede sobrevivir a la falla de un disco sin perder datos.</a:t>
            </a:r>
            <a:endParaRPr b="0" i="0" sz="1700" u="none" cap="none" strike="noStrike">
              <a:solidFill>
                <a:srgbClr val="000000"/>
              </a:solidFill>
              <a:latin typeface="Arial"/>
              <a:ea typeface="Arial"/>
              <a:cs typeface="Arial"/>
              <a:sym typeface="Arial"/>
            </a:endParaRPr>
          </a:p>
        </p:txBody>
      </p:sp>
      <p:sp>
        <p:nvSpPr>
          <p:cNvPr id="197" name="Google Shape;197;p4"/>
          <p:cNvSpPr/>
          <p:nvPr/>
        </p:nvSpPr>
        <p:spPr>
          <a:xfrm>
            <a:off x="7423904" y="2561392"/>
            <a:ext cx="6445925" cy="2341364"/>
          </a:xfrm>
          <a:prstGeom prst="roundRect">
            <a:avLst>
              <a:gd fmla="val 835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4"/>
          <p:cNvSpPr/>
          <p:nvPr/>
        </p:nvSpPr>
        <p:spPr>
          <a:xfrm>
            <a:off x="7664053" y="2801541"/>
            <a:ext cx="3091220" cy="33956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Rendimiento equilibrado</a:t>
            </a:r>
            <a:endParaRPr b="0" i="0" sz="2100" u="none" cap="none" strike="noStrike">
              <a:solidFill>
                <a:srgbClr val="000000"/>
              </a:solidFill>
              <a:latin typeface="Arial"/>
              <a:ea typeface="Arial"/>
              <a:cs typeface="Arial"/>
              <a:sym typeface="Arial"/>
            </a:endParaRPr>
          </a:p>
        </p:txBody>
      </p:sp>
      <p:sp>
        <p:nvSpPr>
          <p:cNvPr id="199" name="Google Shape;199;p4"/>
          <p:cNvSpPr/>
          <p:nvPr/>
        </p:nvSpPr>
        <p:spPr>
          <a:xfrm>
            <a:off x="7664053" y="3271480"/>
            <a:ext cx="5965627" cy="139112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5E0DF"/>
              </a:buClr>
              <a:buSzPts val="1700"/>
              <a:buFont typeface="Roboto"/>
              <a:buNone/>
            </a:pPr>
            <a:r>
              <a:rPr b="0" i="0" lang="en-US" sz="1700" u="none" cap="none" strike="noStrike">
                <a:solidFill>
                  <a:srgbClr val="E5E0DF"/>
                </a:solidFill>
                <a:latin typeface="Roboto"/>
                <a:ea typeface="Roboto"/>
                <a:cs typeface="Roboto"/>
                <a:sym typeface="Roboto"/>
              </a:rPr>
              <a:t>RAID 5 ofrece un buen equilibrio entre rendimiento y tolerancia a fallos. La lectura de datos es rápida, mientras que la escritura se ve ligeramente ralentizada debido al cálculo y la escritura de los bloques de paridad.</a:t>
            </a:r>
            <a:endParaRPr b="0" i="0" sz="1700" u="none" cap="none" strike="noStrike">
              <a:solidFill>
                <a:srgbClr val="000000"/>
              </a:solidFill>
              <a:latin typeface="Arial"/>
              <a:ea typeface="Arial"/>
              <a:cs typeface="Arial"/>
              <a:sym typeface="Arial"/>
            </a:endParaRPr>
          </a:p>
        </p:txBody>
      </p:sp>
      <p:sp>
        <p:nvSpPr>
          <p:cNvPr id="200" name="Google Shape;200;p4"/>
          <p:cNvSpPr/>
          <p:nvPr/>
        </p:nvSpPr>
        <p:spPr>
          <a:xfrm>
            <a:off x="760690" y="5120045"/>
            <a:ext cx="6445925" cy="2341364"/>
          </a:xfrm>
          <a:prstGeom prst="roundRect">
            <a:avLst>
              <a:gd fmla="val 835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
          <p:cNvSpPr/>
          <p:nvPr/>
        </p:nvSpPr>
        <p:spPr>
          <a:xfrm>
            <a:off x="1000839" y="5360194"/>
            <a:ext cx="3482340" cy="33956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Aplicaciones recomendadas</a:t>
            </a:r>
            <a:endParaRPr b="0" i="0" sz="2100" u="none" cap="none" strike="noStrike">
              <a:solidFill>
                <a:srgbClr val="000000"/>
              </a:solidFill>
              <a:latin typeface="Arial"/>
              <a:ea typeface="Arial"/>
              <a:cs typeface="Arial"/>
              <a:sym typeface="Arial"/>
            </a:endParaRPr>
          </a:p>
        </p:txBody>
      </p:sp>
      <p:sp>
        <p:nvSpPr>
          <p:cNvPr id="202" name="Google Shape;202;p4"/>
          <p:cNvSpPr/>
          <p:nvPr/>
        </p:nvSpPr>
        <p:spPr>
          <a:xfrm>
            <a:off x="1000839" y="5830133"/>
            <a:ext cx="5965627" cy="139112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5E0DF"/>
              </a:buClr>
              <a:buSzPts val="1700"/>
              <a:buFont typeface="Roboto"/>
              <a:buNone/>
            </a:pPr>
            <a:r>
              <a:rPr b="0" i="0" lang="en-US" sz="1700" u="none" cap="none" strike="noStrike">
                <a:solidFill>
                  <a:srgbClr val="E5E0DF"/>
                </a:solidFill>
                <a:latin typeface="Roboto"/>
                <a:ea typeface="Roboto"/>
                <a:cs typeface="Roboto"/>
                <a:sym typeface="Roboto"/>
              </a:rPr>
              <a:t>RAID 5 es adecuado para una amplia gama de aplicaciones, como servidores de archivos, bases de datos empresariales y sistemas de almacenamiento que requieren un buen balance entre rendimiento y redundancia.</a:t>
            </a:r>
            <a:endParaRPr b="0" i="0" sz="1700" u="none" cap="none" strike="noStrike">
              <a:solidFill>
                <a:srgbClr val="000000"/>
              </a:solidFill>
              <a:latin typeface="Arial"/>
              <a:ea typeface="Arial"/>
              <a:cs typeface="Arial"/>
              <a:sym typeface="Arial"/>
            </a:endParaRPr>
          </a:p>
        </p:txBody>
      </p:sp>
      <p:sp>
        <p:nvSpPr>
          <p:cNvPr id="203" name="Google Shape;203;p4"/>
          <p:cNvSpPr/>
          <p:nvPr/>
        </p:nvSpPr>
        <p:spPr>
          <a:xfrm>
            <a:off x="7423904" y="5120045"/>
            <a:ext cx="6445925" cy="2341364"/>
          </a:xfrm>
          <a:prstGeom prst="roundRect">
            <a:avLst>
              <a:gd fmla="val 835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4"/>
          <p:cNvSpPr/>
          <p:nvPr/>
        </p:nvSpPr>
        <p:spPr>
          <a:xfrm>
            <a:off x="7664053" y="5360194"/>
            <a:ext cx="2717006" cy="33956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Capacidad útil</a:t>
            </a:r>
            <a:endParaRPr b="0" i="0" sz="2100" u="none" cap="none" strike="noStrike">
              <a:solidFill>
                <a:srgbClr val="000000"/>
              </a:solidFill>
              <a:latin typeface="Arial"/>
              <a:ea typeface="Arial"/>
              <a:cs typeface="Arial"/>
              <a:sym typeface="Arial"/>
            </a:endParaRPr>
          </a:p>
        </p:txBody>
      </p:sp>
      <p:sp>
        <p:nvSpPr>
          <p:cNvPr id="205" name="Google Shape;205;p4"/>
          <p:cNvSpPr/>
          <p:nvPr/>
        </p:nvSpPr>
        <p:spPr>
          <a:xfrm>
            <a:off x="7664053" y="5830133"/>
            <a:ext cx="5965627" cy="1043345"/>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5E0DF"/>
              </a:buClr>
              <a:buSzPts val="1700"/>
              <a:buFont typeface="Roboto"/>
              <a:buNone/>
            </a:pPr>
            <a:r>
              <a:rPr b="0" i="0" lang="en-US" sz="1700" u="none" cap="none" strike="noStrike">
                <a:solidFill>
                  <a:srgbClr val="E5E0DF"/>
                </a:solidFill>
                <a:latin typeface="Roboto"/>
                <a:ea typeface="Roboto"/>
                <a:cs typeface="Roboto"/>
                <a:sym typeface="Roboto"/>
              </a:rPr>
              <a:t>La capacidad útil de un conjunto RAID 5 es igual al tamaño de un disco menos uno, lo que significa que se pierde un disco de capacidad para garantizar la redundancia.</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5"/>
          <p:cNvSpPr/>
          <p:nvPr/>
        </p:nvSpPr>
        <p:spPr>
          <a:xfrm>
            <a:off x="750689" y="591383"/>
            <a:ext cx="8137088" cy="67032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200"/>
              <a:buFont typeface="Saira Medium"/>
              <a:buNone/>
            </a:pPr>
            <a:r>
              <a:rPr b="0" i="0" lang="en-US" sz="4200" u="none" cap="none" strike="noStrike">
                <a:solidFill>
                  <a:srgbClr val="FFFFFF"/>
                </a:solidFill>
                <a:latin typeface="Saira Medium"/>
                <a:ea typeface="Saira Medium"/>
                <a:cs typeface="Saira Medium"/>
                <a:sym typeface="Saira Medium"/>
              </a:rPr>
              <a:t>RAID 6: Mayor tolerancia a fallos</a:t>
            </a:r>
            <a:endParaRPr b="0" i="0" sz="4200" u="none" cap="none" strike="noStrike">
              <a:solidFill>
                <a:srgbClr val="000000"/>
              </a:solidFill>
              <a:latin typeface="Arial"/>
              <a:ea typeface="Arial"/>
              <a:cs typeface="Arial"/>
              <a:sym typeface="Arial"/>
            </a:endParaRPr>
          </a:p>
        </p:txBody>
      </p:sp>
      <p:sp>
        <p:nvSpPr>
          <p:cNvPr id="212" name="Google Shape;212;p5"/>
          <p:cNvSpPr/>
          <p:nvPr/>
        </p:nvSpPr>
        <p:spPr>
          <a:xfrm>
            <a:off x="750689" y="4836081"/>
            <a:ext cx="13129022" cy="30480"/>
          </a:xfrm>
          <a:prstGeom prst="roundRect">
            <a:avLst>
              <a:gd fmla="val 633405" name="adj"/>
            </a:avLst>
          </a:prstGeom>
          <a:solidFill>
            <a:srgbClr val="FFFFFF">
              <a:alpha val="2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5"/>
          <p:cNvSpPr/>
          <p:nvPr/>
        </p:nvSpPr>
        <p:spPr>
          <a:xfrm>
            <a:off x="3963948" y="4085451"/>
            <a:ext cx="30480" cy="750689"/>
          </a:xfrm>
          <a:prstGeom prst="roundRect">
            <a:avLst>
              <a:gd fmla="val 633405" name="adj"/>
            </a:avLst>
          </a:prstGeom>
          <a:solidFill>
            <a:srgbClr val="FC83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5"/>
          <p:cNvSpPr/>
          <p:nvPr/>
        </p:nvSpPr>
        <p:spPr>
          <a:xfrm>
            <a:off x="3737967" y="4594800"/>
            <a:ext cx="482560" cy="482560"/>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5"/>
          <p:cNvSpPr/>
          <p:nvPr/>
        </p:nvSpPr>
        <p:spPr>
          <a:xfrm>
            <a:off x="3917633" y="4675168"/>
            <a:ext cx="123230" cy="32182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500"/>
              <a:buFont typeface="Saira Medium"/>
              <a:buNone/>
            </a:pPr>
            <a:r>
              <a:rPr b="0" i="0" lang="en-US" sz="2500" u="none" cap="none" strike="noStrike">
                <a:solidFill>
                  <a:srgbClr val="E5E0DF"/>
                </a:solidFill>
                <a:latin typeface="Saira Medium"/>
                <a:ea typeface="Saira Medium"/>
                <a:cs typeface="Saira Medium"/>
                <a:sym typeface="Saira Medium"/>
              </a:rPr>
              <a:t>1</a:t>
            </a:r>
            <a:endParaRPr b="0" i="0" sz="2500" u="none" cap="none" strike="noStrike">
              <a:solidFill>
                <a:srgbClr val="000000"/>
              </a:solidFill>
              <a:latin typeface="Arial"/>
              <a:ea typeface="Arial"/>
              <a:cs typeface="Arial"/>
              <a:sym typeface="Arial"/>
            </a:endParaRPr>
          </a:p>
        </p:txBody>
      </p:sp>
      <p:sp>
        <p:nvSpPr>
          <p:cNvPr id="216" name="Google Shape;216;p5"/>
          <p:cNvSpPr/>
          <p:nvPr/>
        </p:nvSpPr>
        <p:spPr>
          <a:xfrm>
            <a:off x="2638544" y="2033945"/>
            <a:ext cx="2681407" cy="335161"/>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Doble paridad</a:t>
            </a:r>
            <a:endParaRPr b="0" i="0" sz="2100" u="none" cap="none" strike="noStrike">
              <a:solidFill>
                <a:srgbClr val="000000"/>
              </a:solidFill>
              <a:latin typeface="Arial"/>
              <a:ea typeface="Arial"/>
              <a:cs typeface="Arial"/>
              <a:sym typeface="Arial"/>
            </a:endParaRPr>
          </a:p>
        </p:txBody>
      </p:sp>
      <p:sp>
        <p:nvSpPr>
          <p:cNvPr id="217" name="Google Shape;217;p5"/>
          <p:cNvSpPr/>
          <p:nvPr/>
        </p:nvSpPr>
        <p:spPr>
          <a:xfrm>
            <a:off x="965121" y="2497812"/>
            <a:ext cx="6028373" cy="1373029"/>
          </a:xfrm>
          <a:prstGeom prst="rect">
            <a:avLst/>
          </a:prstGeom>
          <a:noFill/>
          <a:ln>
            <a:noFill/>
          </a:ln>
        </p:spPr>
        <p:txBody>
          <a:bodyPr anchorCtr="0" anchor="t" bIns="0" lIns="0" spcFirstLastPara="1" rIns="0" wrap="square" tIns="0">
            <a:noAutofit/>
          </a:bodyPr>
          <a:lstStyle/>
          <a:p>
            <a:pPr indent="0" lvl="0" marL="0" marR="0" rtl="0" algn="ctr">
              <a:lnSpc>
                <a:spcPct val="163636"/>
              </a:lnSpc>
              <a:spcBef>
                <a:spcPts val="0"/>
              </a:spcBef>
              <a:spcAft>
                <a:spcPts val="0"/>
              </a:spcAft>
              <a:buClr>
                <a:srgbClr val="E5E0DF"/>
              </a:buClr>
              <a:buSzPts val="1650"/>
              <a:buFont typeface="Roboto"/>
              <a:buNone/>
            </a:pPr>
            <a:r>
              <a:rPr b="0" i="0" lang="en-US" sz="1650" u="none" cap="none" strike="noStrike">
                <a:solidFill>
                  <a:srgbClr val="E5E0DF"/>
                </a:solidFill>
                <a:latin typeface="Roboto"/>
                <a:ea typeface="Roboto"/>
                <a:cs typeface="Roboto"/>
                <a:sym typeface="Roboto"/>
              </a:rPr>
              <a:t>A diferencia del RAID 5, el RAID 6 utiliza dos bloques de paridad distribuidos entre todos los discos del conjunto. Esto proporciona una mayor tolerancia a fallos, ya que el sistema puede sobrevivir a la falla de hasta dos discos sin perder datos.</a:t>
            </a:r>
            <a:endParaRPr b="0" i="0" sz="1650" u="none" cap="none" strike="noStrike">
              <a:solidFill>
                <a:srgbClr val="000000"/>
              </a:solidFill>
              <a:latin typeface="Arial"/>
              <a:ea typeface="Arial"/>
              <a:cs typeface="Arial"/>
              <a:sym typeface="Arial"/>
            </a:endParaRPr>
          </a:p>
        </p:txBody>
      </p:sp>
      <p:sp>
        <p:nvSpPr>
          <p:cNvPr id="218" name="Google Shape;218;p5"/>
          <p:cNvSpPr/>
          <p:nvPr/>
        </p:nvSpPr>
        <p:spPr>
          <a:xfrm>
            <a:off x="7299722" y="4836021"/>
            <a:ext cx="30480" cy="750689"/>
          </a:xfrm>
          <a:prstGeom prst="roundRect">
            <a:avLst>
              <a:gd fmla="val 633405" name="adj"/>
            </a:avLst>
          </a:prstGeom>
          <a:solidFill>
            <a:srgbClr val="FC83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5"/>
          <p:cNvSpPr/>
          <p:nvPr/>
        </p:nvSpPr>
        <p:spPr>
          <a:xfrm>
            <a:off x="7073741" y="4594800"/>
            <a:ext cx="482560" cy="482560"/>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5"/>
          <p:cNvSpPr/>
          <p:nvPr/>
        </p:nvSpPr>
        <p:spPr>
          <a:xfrm>
            <a:off x="7216735" y="4675168"/>
            <a:ext cx="196572" cy="32182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500"/>
              <a:buFont typeface="Saira Medium"/>
              <a:buNone/>
            </a:pPr>
            <a:r>
              <a:rPr b="0" i="0" lang="en-US" sz="2500" u="none" cap="none" strike="noStrike">
                <a:solidFill>
                  <a:srgbClr val="E5E0DF"/>
                </a:solidFill>
                <a:latin typeface="Saira Medium"/>
                <a:ea typeface="Saira Medium"/>
                <a:cs typeface="Saira Medium"/>
                <a:sym typeface="Saira Medium"/>
              </a:rPr>
              <a:t>2</a:t>
            </a:r>
            <a:endParaRPr b="0" i="0" sz="2500" u="none" cap="none" strike="noStrike">
              <a:solidFill>
                <a:srgbClr val="000000"/>
              </a:solidFill>
              <a:latin typeface="Arial"/>
              <a:ea typeface="Arial"/>
              <a:cs typeface="Arial"/>
              <a:sym typeface="Arial"/>
            </a:endParaRPr>
          </a:p>
        </p:txBody>
      </p:sp>
      <p:sp>
        <p:nvSpPr>
          <p:cNvPr id="221" name="Google Shape;221;p5"/>
          <p:cNvSpPr/>
          <p:nvPr/>
        </p:nvSpPr>
        <p:spPr>
          <a:xfrm>
            <a:off x="5880378" y="5801320"/>
            <a:ext cx="2869406" cy="335161"/>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Rendimiento más lento</a:t>
            </a:r>
            <a:endParaRPr b="0" i="0" sz="2100" u="none" cap="none" strike="noStrike">
              <a:solidFill>
                <a:srgbClr val="000000"/>
              </a:solidFill>
              <a:latin typeface="Arial"/>
              <a:ea typeface="Arial"/>
              <a:cs typeface="Arial"/>
              <a:sym typeface="Arial"/>
            </a:endParaRPr>
          </a:p>
        </p:txBody>
      </p:sp>
      <p:sp>
        <p:nvSpPr>
          <p:cNvPr id="222" name="Google Shape;222;p5"/>
          <p:cNvSpPr/>
          <p:nvPr/>
        </p:nvSpPr>
        <p:spPr>
          <a:xfrm>
            <a:off x="4300895" y="6265188"/>
            <a:ext cx="6028492" cy="1373029"/>
          </a:xfrm>
          <a:prstGeom prst="rect">
            <a:avLst/>
          </a:prstGeom>
          <a:noFill/>
          <a:ln>
            <a:noFill/>
          </a:ln>
        </p:spPr>
        <p:txBody>
          <a:bodyPr anchorCtr="0" anchor="t" bIns="0" lIns="0" spcFirstLastPara="1" rIns="0" wrap="square" tIns="0">
            <a:noAutofit/>
          </a:bodyPr>
          <a:lstStyle/>
          <a:p>
            <a:pPr indent="0" lvl="0" marL="0" marR="0" rtl="0" algn="ctr">
              <a:lnSpc>
                <a:spcPct val="163636"/>
              </a:lnSpc>
              <a:spcBef>
                <a:spcPts val="0"/>
              </a:spcBef>
              <a:spcAft>
                <a:spcPts val="0"/>
              </a:spcAft>
              <a:buClr>
                <a:srgbClr val="E5E0DF"/>
              </a:buClr>
              <a:buSzPts val="1650"/>
              <a:buFont typeface="Roboto"/>
              <a:buNone/>
            </a:pPr>
            <a:r>
              <a:rPr b="0" i="0" lang="en-US" sz="1650" u="none" cap="none" strike="noStrike">
                <a:solidFill>
                  <a:srgbClr val="E5E0DF"/>
                </a:solidFill>
                <a:latin typeface="Roboto"/>
                <a:ea typeface="Roboto"/>
                <a:cs typeface="Roboto"/>
                <a:sym typeface="Roboto"/>
              </a:rPr>
              <a:t>Debido a la sobrecarga adicional del cálculo y la escritura de los dos bloques de paridad, el rendimiento de escritura en RAID 6 es ligeramente más lento que en RAID 5. Sin embargo, el rendimiento de lectura sigue siendo bueno.</a:t>
            </a:r>
            <a:endParaRPr b="0" i="0" sz="1650" u="none" cap="none" strike="noStrike">
              <a:solidFill>
                <a:srgbClr val="000000"/>
              </a:solidFill>
              <a:latin typeface="Arial"/>
              <a:ea typeface="Arial"/>
              <a:cs typeface="Arial"/>
              <a:sym typeface="Arial"/>
            </a:endParaRPr>
          </a:p>
        </p:txBody>
      </p:sp>
      <p:sp>
        <p:nvSpPr>
          <p:cNvPr id="223" name="Google Shape;223;p5"/>
          <p:cNvSpPr/>
          <p:nvPr/>
        </p:nvSpPr>
        <p:spPr>
          <a:xfrm>
            <a:off x="10635615" y="4085451"/>
            <a:ext cx="30480" cy="750689"/>
          </a:xfrm>
          <a:prstGeom prst="roundRect">
            <a:avLst>
              <a:gd fmla="val 633405" name="adj"/>
            </a:avLst>
          </a:prstGeom>
          <a:solidFill>
            <a:srgbClr val="FC83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5"/>
          <p:cNvSpPr/>
          <p:nvPr/>
        </p:nvSpPr>
        <p:spPr>
          <a:xfrm>
            <a:off x="10409634" y="4594800"/>
            <a:ext cx="482560" cy="482560"/>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5"/>
          <p:cNvSpPr/>
          <p:nvPr/>
        </p:nvSpPr>
        <p:spPr>
          <a:xfrm>
            <a:off x="10553700" y="4675168"/>
            <a:ext cx="194429" cy="32182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500"/>
              <a:buFont typeface="Saira Medium"/>
              <a:buNone/>
            </a:pPr>
            <a:r>
              <a:rPr b="0" i="0" lang="en-US" sz="2500" u="none" cap="none" strike="noStrike">
                <a:solidFill>
                  <a:srgbClr val="E5E0DF"/>
                </a:solidFill>
                <a:latin typeface="Saira Medium"/>
                <a:ea typeface="Saira Medium"/>
                <a:cs typeface="Saira Medium"/>
                <a:sym typeface="Saira Medium"/>
              </a:rPr>
              <a:t>3</a:t>
            </a:r>
            <a:endParaRPr b="0" i="0" sz="2500" u="none" cap="none" strike="noStrike">
              <a:solidFill>
                <a:srgbClr val="000000"/>
              </a:solidFill>
              <a:latin typeface="Arial"/>
              <a:ea typeface="Arial"/>
              <a:cs typeface="Arial"/>
              <a:sym typeface="Arial"/>
            </a:endParaRPr>
          </a:p>
        </p:txBody>
      </p:sp>
      <p:sp>
        <p:nvSpPr>
          <p:cNvPr id="226" name="Google Shape;226;p5"/>
          <p:cNvSpPr/>
          <p:nvPr/>
        </p:nvSpPr>
        <p:spPr>
          <a:xfrm>
            <a:off x="8932783" y="1690687"/>
            <a:ext cx="3436501" cy="335161"/>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Aplicaciones recomendadas</a:t>
            </a:r>
            <a:endParaRPr b="0" i="0" sz="2100" u="none" cap="none" strike="noStrike">
              <a:solidFill>
                <a:srgbClr val="000000"/>
              </a:solidFill>
              <a:latin typeface="Arial"/>
              <a:ea typeface="Arial"/>
              <a:cs typeface="Arial"/>
              <a:sym typeface="Arial"/>
            </a:endParaRPr>
          </a:p>
        </p:txBody>
      </p:sp>
      <p:sp>
        <p:nvSpPr>
          <p:cNvPr id="227" name="Google Shape;227;p5"/>
          <p:cNvSpPr/>
          <p:nvPr/>
        </p:nvSpPr>
        <p:spPr>
          <a:xfrm>
            <a:off x="7636788" y="2154555"/>
            <a:ext cx="6028492" cy="1716286"/>
          </a:xfrm>
          <a:prstGeom prst="rect">
            <a:avLst/>
          </a:prstGeom>
          <a:noFill/>
          <a:ln>
            <a:noFill/>
          </a:ln>
        </p:spPr>
        <p:txBody>
          <a:bodyPr anchorCtr="0" anchor="t" bIns="0" lIns="0" spcFirstLastPara="1" rIns="0" wrap="square" tIns="0">
            <a:noAutofit/>
          </a:bodyPr>
          <a:lstStyle/>
          <a:p>
            <a:pPr indent="0" lvl="0" marL="0" marR="0" rtl="0" algn="ctr">
              <a:lnSpc>
                <a:spcPct val="163636"/>
              </a:lnSpc>
              <a:spcBef>
                <a:spcPts val="0"/>
              </a:spcBef>
              <a:spcAft>
                <a:spcPts val="0"/>
              </a:spcAft>
              <a:buClr>
                <a:srgbClr val="E5E0DF"/>
              </a:buClr>
              <a:buSzPts val="1650"/>
              <a:buFont typeface="Roboto"/>
              <a:buNone/>
            </a:pPr>
            <a:r>
              <a:rPr b="0" i="0" lang="en-US" sz="1650" u="none" cap="none" strike="noStrike">
                <a:solidFill>
                  <a:srgbClr val="E5E0DF"/>
                </a:solidFill>
                <a:latin typeface="Roboto"/>
                <a:ea typeface="Roboto"/>
                <a:cs typeface="Roboto"/>
                <a:sym typeface="Roboto"/>
              </a:rPr>
              <a:t>RAID 6 es ideal para entornos que requieren un alto nivel de tolerancia a fallos y redundancia, como almacenamiento de datos a largo plazo, copias de seguridad y sistemas críticos que no pueden permitirse perder datos, incluso en caso de fallo de dos discos.</a:t>
            </a:r>
            <a:endParaRPr b="0" i="0" sz="165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6"/>
          <p:cNvSpPr/>
          <p:nvPr/>
        </p:nvSpPr>
        <p:spPr>
          <a:xfrm>
            <a:off x="793790" y="1258372"/>
            <a:ext cx="929901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RAID 10: Combinación de RAID 0 y 1</a:t>
            </a:r>
            <a:endParaRPr b="0" i="0" sz="4450" u="none" cap="none" strike="noStrike">
              <a:solidFill>
                <a:srgbClr val="000000"/>
              </a:solidFill>
              <a:latin typeface="Arial"/>
              <a:ea typeface="Arial"/>
              <a:cs typeface="Arial"/>
              <a:sym typeface="Arial"/>
            </a:endParaRPr>
          </a:p>
        </p:txBody>
      </p:sp>
      <p:pic>
        <p:nvPicPr>
          <p:cNvPr descr="preencoded.png" id="234" name="Google Shape;234;p6"/>
          <p:cNvPicPr preferRelativeResize="0"/>
          <p:nvPr/>
        </p:nvPicPr>
        <p:blipFill rotWithShape="1">
          <a:blip r:embed="rId3">
            <a:alphaModFix/>
          </a:blip>
          <a:srcRect b="0" l="0" r="0" t="0"/>
          <a:stretch/>
        </p:blipFill>
        <p:spPr>
          <a:xfrm>
            <a:off x="793790" y="2420779"/>
            <a:ext cx="566976" cy="566976"/>
          </a:xfrm>
          <a:prstGeom prst="rect">
            <a:avLst/>
          </a:prstGeom>
          <a:noFill/>
          <a:ln>
            <a:noFill/>
          </a:ln>
        </p:spPr>
      </p:pic>
      <p:sp>
        <p:nvSpPr>
          <p:cNvPr id="235" name="Google Shape;235;p6"/>
          <p:cNvSpPr/>
          <p:nvPr/>
        </p:nvSpPr>
        <p:spPr>
          <a:xfrm>
            <a:off x="793790" y="3214568"/>
            <a:ext cx="299216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Rendimiento Mejorado</a:t>
            </a:r>
            <a:endParaRPr b="0" i="0" sz="2200" u="none" cap="none" strike="noStrike">
              <a:solidFill>
                <a:srgbClr val="000000"/>
              </a:solidFill>
              <a:latin typeface="Arial"/>
              <a:ea typeface="Arial"/>
              <a:cs typeface="Arial"/>
              <a:sym typeface="Arial"/>
            </a:endParaRPr>
          </a:p>
        </p:txBody>
      </p:sp>
      <p:sp>
        <p:nvSpPr>
          <p:cNvPr id="236" name="Google Shape;236;p6"/>
          <p:cNvSpPr/>
          <p:nvPr/>
        </p:nvSpPr>
        <p:spPr>
          <a:xfrm>
            <a:off x="793790" y="3704987"/>
            <a:ext cx="3005495"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10 combina las ventajas del RAID 0 (segmentación de datos) con la redundancia del RAID 1 (duplicación de datos). Esto proporciona un alto rendimiento de lectura/escritura junto con una excelente tolerancia a fallos.</a:t>
            </a:r>
            <a:endParaRPr b="0" i="0" sz="1750" u="none" cap="none" strike="noStrike">
              <a:solidFill>
                <a:srgbClr val="000000"/>
              </a:solidFill>
              <a:latin typeface="Arial"/>
              <a:ea typeface="Arial"/>
              <a:cs typeface="Arial"/>
              <a:sym typeface="Arial"/>
            </a:endParaRPr>
          </a:p>
        </p:txBody>
      </p:sp>
      <p:pic>
        <p:nvPicPr>
          <p:cNvPr descr="preencoded.png" id="237" name="Google Shape;237;p6"/>
          <p:cNvPicPr preferRelativeResize="0"/>
          <p:nvPr/>
        </p:nvPicPr>
        <p:blipFill rotWithShape="1">
          <a:blip r:embed="rId4">
            <a:alphaModFix/>
          </a:blip>
          <a:srcRect b="0" l="0" r="0" t="0"/>
          <a:stretch/>
        </p:blipFill>
        <p:spPr>
          <a:xfrm>
            <a:off x="4139446" y="2420779"/>
            <a:ext cx="566976" cy="566976"/>
          </a:xfrm>
          <a:prstGeom prst="rect">
            <a:avLst/>
          </a:prstGeom>
          <a:noFill/>
          <a:ln>
            <a:noFill/>
          </a:ln>
        </p:spPr>
      </p:pic>
      <p:sp>
        <p:nvSpPr>
          <p:cNvPr id="238" name="Google Shape;238;p6"/>
          <p:cNvSpPr/>
          <p:nvPr/>
        </p:nvSpPr>
        <p:spPr>
          <a:xfrm>
            <a:off x="4139446" y="321456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Tolerancia a Fallos</a:t>
            </a:r>
            <a:endParaRPr b="0" i="0" sz="2200" u="none" cap="none" strike="noStrike">
              <a:solidFill>
                <a:srgbClr val="000000"/>
              </a:solidFill>
              <a:latin typeface="Arial"/>
              <a:ea typeface="Arial"/>
              <a:cs typeface="Arial"/>
              <a:sym typeface="Arial"/>
            </a:endParaRPr>
          </a:p>
        </p:txBody>
      </p:sp>
      <p:sp>
        <p:nvSpPr>
          <p:cNvPr id="239" name="Google Shape;239;p6"/>
          <p:cNvSpPr/>
          <p:nvPr/>
        </p:nvSpPr>
        <p:spPr>
          <a:xfrm>
            <a:off x="4139446" y="3704987"/>
            <a:ext cx="3005614"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10 puede sobrevivir a la falla de uno o más discos en cada uno de los conjuntos espejo, lo que lo convierte en una solución robusta y confiable para aplicaciones críticas que requieren tanto alto rendimiento como alta disponibilidad.</a:t>
            </a:r>
            <a:endParaRPr b="0" i="0" sz="1750" u="none" cap="none" strike="noStrike">
              <a:solidFill>
                <a:srgbClr val="000000"/>
              </a:solidFill>
              <a:latin typeface="Arial"/>
              <a:ea typeface="Arial"/>
              <a:cs typeface="Arial"/>
              <a:sym typeface="Arial"/>
            </a:endParaRPr>
          </a:p>
        </p:txBody>
      </p:sp>
      <p:pic>
        <p:nvPicPr>
          <p:cNvPr descr="preencoded.png" id="240" name="Google Shape;240;p6"/>
          <p:cNvPicPr preferRelativeResize="0"/>
          <p:nvPr/>
        </p:nvPicPr>
        <p:blipFill rotWithShape="1">
          <a:blip r:embed="rId5">
            <a:alphaModFix/>
          </a:blip>
          <a:srcRect b="0" l="0" r="0" t="0"/>
          <a:stretch/>
        </p:blipFill>
        <p:spPr>
          <a:xfrm>
            <a:off x="7485221" y="2420779"/>
            <a:ext cx="566976" cy="566976"/>
          </a:xfrm>
          <a:prstGeom prst="rect">
            <a:avLst/>
          </a:prstGeom>
          <a:noFill/>
          <a:ln>
            <a:noFill/>
          </a:ln>
        </p:spPr>
      </p:pic>
      <p:sp>
        <p:nvSpPr>
          <p:cNvPr id="241" name="Google Shape;241;p6"/>
          <p:cNvSpPr/>
          <p:nvPr/>
        </p:nvSpPr>
        <p:spPr>
          <a:xfrm>
            <a:off x="7485221" y="321456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Capacidad Reducida</a:t>
            </a:r>
            <a:endParaRPr b="0" i="0" sz="2200" u="none" cap="none" strike="noStrike">
              <a:solidFill>
                <a:srgbClr val="000000"/>
              </a:solidFill>
              <a:latin typeface="Arial"/>
              <a:ea typeface="Arial"/>
              <a:cs typeface="Arial"/>
              <a:sym typeface="Arial"/>
            </a:endParaRPr>
          </a:p>
        </p:txBody>
      </p:sp>
      <p:sp>
        <p:nvSpPr>
          <p:cNvPr id="242" name="Google Shape;242;p6"/>
          <p:cNvSpPr/>
          <p:nvPr/>
        </p:nvSpPr>
        <p:spPr>
          <a:xfrm>
            <a:off x="7485221" y="3704987"/>
            <a:ext cx="300561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La capacidad útil de un conjunto RAID 10 es la mitad del total de los discos, ya que se reserva espacio para la duplicación de datos.</a:t>
            </a:r>
            <a:endParaRPr b="0" i="0" sz="1750" u="none" cap="none" strike="noStrike">
              <a:solidFill>
                <a:srgbClr val="000000"/>
              </a:solidFill>
              <a:latin typeface="Arial"/>
              <a:ea typeface="Arial"/>
              <a:cs typeface="Arial"/>
              <a:sym typeface="Arial"/>
            </a:endParaRPr>
          </a:p>
        </p:txBody>
      </p:sp>
      <p:pic>
        <p:nvPicPr>
          <p:cNvPr descr="preencoded.png" id="243" name="Google Shape;243;p6"/>
          <p:cNvPicPr preferRelativeResize="0"/>
          <p:nvPr/>
        </p:nvPicPr>
        <p:blipFill rotWithShape="1">
          <a:blip r:embed="rId6">
            <a:alphaModFix/>
          </a:blip>
          <a:srcRect b="0" l="0" r="0" t="0"/>
          <a:stretch/>
        </p:blipFill>
        <p:spPr>
          <a:xfrm>
            <a:off x="10830997" y="2420779"/>
            <a:ext cx="566976" cy="566976"/>
          </a:xfrm>
          <a:prstGeom prst="rect">
            <a:avLst/>
          </a:prstGeom>
          <a:noFill/>
          <a:ln>
            <a:noFill/>
          </a:ln>
        </p:spPr>
      </p:pic>
      <p:sp>
        <p:nvSpPr>
          <p:cNvPr id="244" name="Google Shape;244;p6"/>
          <p:cNvSpPr/>
          <p:nvPr/>
        </p:nvSpPr>
        <p:spPr>
          <a:xfrm>
            <a:off x="10830997" y="3214568"/>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Configuración Compleja</a:t>
            </a:r>
            <a:endParaRPr b="0" i="0" sz="2200" u="none" cap="none" strike="noStrike">
              <a:solidFill>
                <a:srgbClr val="000000"/>
              </a:solidFill>
              <a:latin typeface="Arial"/>
              <a:ea typeface="Arial"/>
              <a:cs typeface="Arial"/>
              <a:sym typeface="Arial"/>
            </a:endParaRPr>
          </a:p>
        </p:txBody>
      </p:sp>
      <p:sp>
        <p:nvSpPr>
          <p:cNvPr id="245" name="Google Shape;245;p6"/>
          <p:cNvSpPr/>
          <p:nvPr/>
        </p:nvSpPr>
        <p:spPr>
          <a:xfrm>
            <a:off x="10830997" y="4059317"/>
            <a:ext cx="3005614"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La implementación de RAID 10 es más compleja que otros niveles de RAID, ya que requiere la configuración de conjuntos de discos espejo y una capa adicional de agregación.</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7"/>
          <p:cNvSpPr/>
          <p:nvPr/>
        </p:nvSpPr>
        <p:spPr>
          <a:xfrm>
            <a:off x="793790" y="1814155"/>
            <a:ext cx="9568934"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RAID 50: Combinación de RAID 5 y 0</a:t>
            </a:r>
            <a:endParaRPr b="0" i="0" sz="4450" u="none" cap="none" strike="noStrike">
              <a:solidFill>
                <a:srgbClr val="000000"/>
              </a:solidFill>
              <a:latin typeface="Arial"/>
              <a:ea typeface="Arial"/>
              <a:cs typeface="Arial"/>
              <a:sym typeface="Arial"/>
            </a:endParaRPr>
          </a:p>
        </p:txBody>
      </p:sp>
      <p:sp>
        <p:nvSpPr>
          <p:cNvPr id="252" name="Google Shape;252;p7"/>
          <p:cNvSpPr/>
          <p:nvPr/>
        </p:nvSpPr>
        <p:spPr>
          <a:xfrm>
            <a:off x="793790" y="3089910"/>
            <a:ext cx="320301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Segmentación y Paridad</a:t>
            </a:r>
            <a:endParaRPr b="0" i="0" sz="2200" u="none" cap="none" strike="noStrike">
              <a:solidFill>
                <a:srgbClr val="000000"/>
              </a:solidFill>
              <a:latin typeface="Arial"/>
              <a:ea typeface="Arial"/>
              <a:cs typeface="Arial"/>
              <a:sym typeface="Arial"/>
            </a:endParaRPr>
          </a:p>
        </p:txBody>
      </p:sp>
      <p:sp>
        <p:nvSpPr>
          <p:cNvPr id="253" name="Google Shape;253;p7"/>
          <p:cNvSpPr/>
          <p:nvPr/>
        </p:nvSpPr>
        <p:spPr>
          <a:xfrm>
            <a:off x="793790" y="3671054"/>
            <a:ext cx="3978116"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50 combina las ventajas del RAID 5 (paridad distribuida) con la segmentación de datos del RAID 0. Esto proporciona un equilibrio entre rendimiento, tolerancia a fallos y capacidad.</a:t>
            </a:r>
            <a:endParaRPr b="0" i="0" sz="1750" u="none" cap="none" strike="noStrike">
              <a:solidFill>
                <a:srgbClr val="000000"/>
              </a:solidFill>
              <a:latin typeface="Arial"/>
              <a:ea typeface="Arial"/>
              <a:cs typeface="Arial"/>
              <a:sym typeface="Arial"/>
            </a:endParaRPr>
          </a:p>
        </p:txBody>
      </p:sp>
      <p:sp>
        <p:nvSpPr>
          <p:cNvPr id="254" name="Google Shape;254;p7"/>
          <p:cNvSpPr/>
          <p:nvPr/>
        </p:nvSpPr>
        <p:spPr>
          <a:xfrm>
            <a:off x="5332928" y="308991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Mejor Rendimiento</a:t>
            </a:r>
            <a:endParaRPr b="0" i="0" sz="2200" u="none" cap="none" strike="noStrike">
              <a:solidFill>
                <a:srgbClr val="000000"/>
              </a:solidFill>
              <a:latin typeface="Arial"/>
              <a:ea typeface="Arial"/>
              <a:cs typeface="Arial"/>
              <a:sym typeface="Arial"/>
            </a:endParaRPr>
          </a:p>
        </p:txBody>
      </p:sp>
      <p:sp>
        <p:nvSpPr>
          <p:cNvPr id="255" name="Google Shape;255;p7"/>
          <p:cNvSpPr/>
          <p:nvPr/>
        </p:nvSpPr>
        <p:spPr>
          <a:xfrm>
            <a:off x="5332928" y="3671054"/>
            <a:ext cx="3978116"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Al distribuir los datos en varias unidades de disco y utilizar paridad, RAID 50 ofrece un mejor rendimiento de lectura/escritura en comparación con el RAID 5 tradicional.</a:t>
            </a:r>
            <a:endParaRPr b="0" i="0" sz="1750" u="none" cap="none" strike="noStrike">
              <a:solidFill>
                <a:srgbClr val="000000"/>
              </a:solidFill>
              <a:latin typeface="Arial"/>
              <a:ea typeface="Arial"/>
              <a:cs typeface="Arial"/>
              <a:sym typeface="Arial"/>
            </a:endParaRPr>
          </a:p>
        </p:txBody>
      </p:sp>
      <p:sp>
        <p:nvSpPr>
          <p:cNvPr id="256" name="Google Shape;256;p7"/>
          <p:cNvSpPr/>
          <p:nvPr/>
        </p:nvSpPr>
        <p:spPr>
          <a:xfrm>
            <a:off x="9872067" y="308991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Tolerancia a Fallos</a:t>
            </a:r>
            <a:endParaRPr b="0" i="0" sz="2200" u="none" cap="none" strike="noStrike">
              <a:solidFill>
                <a:srgbClr val="000000"/>
              </a:solidFill>
              <a:latin typeface="Arial"/>
              <a:ea typeface="Arial"/>
              <a:cs typeface="Arial"/>
              <a:sym typeface="Arial"/>
            </a:endParaRPr>
          </a:p>
        </p:txBody>
      </p:sp>
      <p:sp>
        <p:nvSpPr>
          <p:cNvPr id="257" name="Google Shape;257;p7"/>
          <p:cNvSpPr/>
          <p:nvPr/>
        </p:nvSpPr>
        <p:spPr>
          <a:xfrm>
            <a:off x="9872067" y="3671054"/>
            <a:ext cx="3978116"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50 puede sobrevivir a la falla de uno o más discos en cada uno de los conjuntos RAID 5 que lo componen. Esto lo convierte en una solución robusta y confiable para aplicaciones que requieren un alto nivel de redundancia.</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preencoded.png" id="263" name="Google Shape;263;p8"/>
          <p:cNvPicPr preferRelativeResize="0"/>
          <p:nvPr/>
        </p:nvPicPr>
        <p:blipFill rotWithShape="1">
          <a:blip r:embed="rId3">
            <a:alphaModFix/>
          </a:blip>
          <a:srcRect b="0" l="0" r="0" t="0"/>
          <a:stretch/>
        </p:blipFill>
        <p:spPr>
          <a:xfrm>
            <a:off x="0" y="0"/>
            <a:ext cx="14630400" cy="2580799"/>
          </a:xfrm>
          <a:prstGeom prst="rect">
            <a:avLst/>
          </a:prstGeom>
          <a:noFill/>
          <a:ln>
            <a:noFill/>
          </a:ln>
        </p:spPr>
      </p:pic>
      <p:sp>
        <p:nvSpPr>
          <p:cNvPr id="264" name="Google Shape;264;p8"/>
          <p:cNvSpPr/>
          <p:nvPr/>
        </p:nvSpPr>
        <p:spPr>
          <a:xfrm>
            <a:off x="722590" y="3267313"/>
            <a:ext cx="8840391" cy="645081"/>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FFFFFF"/>
              </a:buClr>
              <a:buSzPts val="4050"/>
              <a:buFont typeface="Saira Medium"/>
              <a:buNone/>
            </a:pPr>
            <a:r>
              <a:rPr b="0" i="0" lang="en-US" sz="4050" u="none" cap="none" strike="noStrike">
                <a:solidFill>
                  <a:srgbClr val="FFFFFF"/>
                </a:solidFill>
                <a:latin typeface="Saira Medium"/>
                <a:ea typeface="Saira Medium"/>
                <a:cs typeface="Saira Medium"/>
                <a:sym typeface="Saira Medium"/>
              </a:rPr>
              <a:t>Otros niveles RAID y consideraciones</a:t>
            </a:r>
            <a:endParaRPr b="0" i="0" sz="4050" u="none" cap="none" strike="noStrike">
              <a:solidFill>
                <a:srgbClr val="000000"/>
              </a:solidFill>
              <a:latin typeface="Arial"/>
              <a:ea typeface="Arial"/>
              <a:cs typeface="Arial"/>
              <a:sym typeface="Arial"/>
            </a:endParaRPr>
          </a:p>
        </p:txBody>
      </p:sp>
      <p:sp>
        <p:nvSpPr>
          <p:cNvPr id="265" name="Google Shape;265;p8"/>
          <p:cNvSpPr/>
          <p:nvPr/>
        </p:nvSpPr>
        <p:spPr>
          <a:xfrm>
            <a:off x="722590" y="4454247"/>
            <a:ext cx="464463" cy="464463"/>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8"/>
          <p:cNvSpPr/>
          <p:nvPr/>
        </p:nvSpPr>
        <p:spPr>
          <a:xfrm>
            <a:off x="895469" y="4531638"/>
            <a:ext cx="118586" cy="30968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1</a:t>
            </a:r>
            <a:endParaRPr b="0" i="0" sz="2400" u="none" cap="none" strike="noStrike">
              <a:solidFill>
                <a:srgbClr val="000000"/>
              </a:solidFill>
              <a:latin typeface="Arial"/>
              <a:ea typeface="Arial"/>
              <a:cs typeface="Arial"/>
              <a:sym typeface="Arial"/>
            </a:endParaRPr>
          </a:p>
        </p:txBody>
      </p:sp>
      <p:sp>
        <p:nvSpPr>
          <p:cNvPr id="267" name="Google Shape;267;p8"/>
          <p:cNvSpPr/>
          <p:nvPr/>
        </p:nvSpPr>
        <p:spPr>
          <a:xfrm>
            <a:off x="1393508" y="4454247"/>
            <a:ext cx="2976920" cy="32265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Niveles RAID Adicionales</a:t>
            </a:r>
            <a:endParaRPr b="0" i="0" sz="2000" u="none" cap="none" strike="noStrike">
              <a:solidFill>
                <a:srgbClr val="000000"/>
              </a:solidFill>
              <a:latin typeface="Arial"/>
              <a:ea typeface="Arial"/>
              <a:cs typeface="Arial"/>
              <a:sym typeface="Arial"/>
            </a:endParaRPr>
          </a:p>
        </p:txBody>
      </p:sp>
      <p:sp>
        <p:nvSpPr>
          <p:cNvPr id="268" name="Google Shape;268;p8"/>
          <p:cNvSpPr/>
          <p:nvPr/>
        </p:nvSpPr>
        <p:spPr>
          <a:xfrm>
            <a:off x="1393508" y="4900732"/>
            <a:ext cx="3586520" cy="1981676"/>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Además de los niveles cubiertos anteriormente, existen otros niveles RAID, como RAID 2, 3, 4, 6, 60 y 61, cada uno con sus propias características y aplicaciones específicas.</a:t>
            </a:r>
            <a:endParaRPr b="0" i="0" sz="1600" u="none" cap="none" strike="noStrike">
              <a:solidFill>
                <a:srgbClr val="000000"/>
              </a:solidFill>
              <a:latin typeface="Arial"/>
              <a:ea typeface="Arial"/>
              <a:cs typeface="Arial"/>
              <a:sym typeface="Arial"/>
            </a:endParaRPr>
          </a:p>
        </p:txBody>
      </p:sp>
      <p:sp>
        <p:nvSpPr>
          <p:cNvPr id="269" name="Google Shape;269;p8"/>
          <p:cNvSpPr/>
          <p:nvPr/>
        </p:nvSpPr>
        <p:spPr>
          <a:xfrm>
            <a:off x="5186482" y="4454247"/>
            <a:ext cx="464463" cy="464463"/>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8"/>
          <p:cNvSpPr/>
          <p:nvPr/>
        </p:nvSpPr>
        <p:spPr>
          <a:xfrm>
            <a:off x="5324118" y="4531638"/>
            <a:ext cx="189190" cy="30968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2</a:t>
            </a:r>
            <a:endParaRPr b="0" i="0" sz="2400" u="none" cap="none" strike="noStrike">
              <a:solidFill>
                <a:srgbClr val="000000"/>
              </a:solidFill>
              <a:latin typeface="Arial"/>
              <a:ea typeface="Arial"/>
              <a:cs typeface="Arial"/>
              <a:sym typeface="Arial"/>
            </a:endParaRPr>
          </a:p>
        </p:txBody>
      </p:sp>
      <p:sp>
        <p:nvSpPr>
          <p:cNvPr id="271" name="Google Shape;271;p8"/>
          <p:cNvSpPr/>
          <p:nvPr/>
        </p:nvSpPr>
        <p:spPr>
          <a:xfrm>
            <a:off x="5857399" y="4454247"/>
            <a:ext cx="2734985" cy="32265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Elección del Nivel RAID</a:t>
            </a:r>
            <a:endParaRPr b="0" i="0" sz="2000" u="none" cap="none" strike="noStrike">
              <a:solidFill>
                <a:srgbClr val="000000"/>
              </a:solidFill>
              <a:latin typeface="Arial"/>
              <a:ea typeface="Arial"/>
              <a:cs typeface="Arial"/>
              <a:sym typeface="Arial"/>
            </a:endParaRPr>
          </a:p>
        </p:txBody>
      </p:sp>
      <p:sp>
        <p:nvSpPr>
          <p:cNvPr id="272" name="Google Shape;272;p8"/>
          <p:cNvSpPr/>
          <p:nvPr/>
        </p:nvSpPr>
        <p:spPr>
          <a:xfrm>
            <a:off x="5857399" y="4900732"/>
            <a:ext cx="3586520" cy="2642235"/>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La selección del nivel de RAID adecuado depende de los requisitos de la aplicación, como el rendimiento, la tolerancia a fallos, la capacidad y el presupuesto. Es importante evaluar cuidadosamente las necesidades del sistema para elegir la configuración RAID más apropiada.</a:t>
            </a:r>
            <a:endParaRPr b="0" i="0" sz="1600" u="none" cap="none" strike="noStrike">
              <a:solidFill>
                <a:srgbClr val="000000"/>
              </a:solidFill>
              <a:latin typeface="Arial"/>
              <a:ea typeface="Arial"/>
              <a:cs typeface="Arial"/>
              <a:sym typeface="Arial"/>
            </a:endParaRPr>
          </a:p>
        </p:txBody>
      </p:sp>
      <p:sp>
        <p:nvSpPr>
          <p:cNvPr id="273" name="Google Shape;273;p8"/>
          <p:cNvSpPr/>
          <p:nvPr/>
        </p:nvSpPr>
        <p:spPr>
          <a:xfrm>
            <a:off x="9650373" y="4454247"/>
            <a:ext cx="464463" cy="464463"/>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8"/>
          <p:cNvSpPr/>
          <p:nvPr/>
        </p:nvSpPr>
        <p:spPr>
          <a:xfrm>
            <a:off x="9789081" y="4531638"/>
            <a:ext cx="187047" cy="30968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3</a:t>
            </a:r>
            <a:endParaRPr b="0" i="0" sz="2400" u="none" cap="none" strike="noStrike">
              <a:solidFill>
                <a:srgbClr val="000000"/>
              </a:solidFill>
              <a:latin typeface="Arial"/>
              <a:ea typeface="Arial"/>
              <a:cs typeface="Arial"/>
              <a:sym typeface="Arial"/>
            </a:endParaRPr>
          </a:p>
        </p:txBody>
      </p:sp>
      <p:sp>
        <p:nvSpPr>
          <p:cNvPr id="275" name="Google Shape;275;p8"/>
          <p:cNvSpPr/>
          <p:nvPr/>
        </p:nvSpPr>
        <p:spPr>
          <a:xfrm>
            <a:off x="10321290" y="4454247"/>
            <a:ext cx="3379232" cy="32265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Consideraciones Adicionales</a:t>
            </a:r>
            <a:endParaRPr b="0" i="0" sz="2000" u="none" cap="none" strike="noStrike">
              <a:solidFill>
                <a:srgbClr val="000000"/>
              </a:solidFill>
              <a:latin typeface="Arial"/>
              <a:ea typeface="Arial"/>
              <a:cs typeface="Arial"/>
              <a:sym typeface="Arial"/>
            </a:endParaRPr>
          </a:p>
        </p:txBody>
      </p:sp>
      <p:sp>
        <p:nvSpPr>
          <p:cNvPr id="276" name="Google Shape;276;p8"/>
          <p:cNvSpPr/>
          <p:nvPr/>
        </p:nvSpPr>
        <p:spPr>
          <a:xfrm>
            <a:off x="10321290" y="4900732"/>
            <a:ext cx="3586520" cy="2311956"/>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Otros factores a tener en cuenta al implementar RAID incluyen la compatibilidad de los controladores, la complejidad de la configuración, la sobrecarga de procesamiento y los costos de implementación y mantenimiento.</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descr="preencoded.png" id="282" name="Google Shape;282;g35c6db477ef_0_433"/>
          <p:cNvPicPr preferRelativeResize="0"/>
          <p:nvPr/>
        </p:nvPicPr>
        <p:blipFill rotWithShape="1">
          <a:blip r:embed="rId3">
            <a:alphaModFix/>
          </a:blip>
          <a:srcRect b="0" l="0" r="0" t="0"/>
          <a:stretch/>
        </p:blipFill>
        <p:spPr>
          <a:xfrm>
            <a:off x="0" y="0"/>
            <a:ext cx="14630400" cy="2835235"/>
          </a:xfrm>
          <a:prstGeom prst="rect">
            <a:avLst/>
          </a:prstGeom>
          <a:noFill/>
          <a:ln>
            <a:noFill/>
          </a:ln>
        </p:spPr>
      </p:pic>
      <p:sp>
        <p:nvSpPr>
          <p:cNvPr id="283" name="Google Shape;283;g35c6db477ef_0_433"/>
          <p:cNvSpPr/>
          <p:nvPr/>
        </p:nvSpPr>
        <p:spPr>
          <a:xfrm>
            <a:off x="793790" y="3968710"/>
            <a:ext cx="83760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Ventajas y Desventajas de RAID</a:t>
            </a:r>
            <a:endParaRPr b="0" i="0" sz="4450" u="none" cap="none" strike="noStrike"/>
          </a:p>
        </p:txBody>
      </p:sp>
      <p:sp>
        <p:nvSpPr>
          <p:cNvPr id="284" name="Google Shape;284;g35c6db477ef_0_433"/>
          <p:cNvSpPr/>
          <p:nvPr/>
        </p:nvSpPr>
        <p:spPr>
          <a:xfrm>
            <a:off x="793790" y="5017651"/>
            <a:ext cx="6408000" cy="2078400"/>
          </a:xfrm>
          <a:prstGeom prst="roundRect">
            <a:avLst>
              <a:gd fmla="val 9822"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35c6db477ef_0_433"/>
          <p:cNvSpPr/>
          <p:nvPr/>
        </p:nvSpPr>
        <p:spPr>
          <a:xfrm>
            <a:off x="1043464" y="5267325"/>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Ventajas</a:t>
            </a:r>
            <a:endParaRPr b="0" i="0" sz="2200" u="none" cap="none" strike="noStrike"/>
          </a:p>
        </p:txBody>
      </p:sp>
      <p:sp>
        <p:nvSpPr>
          <p:cNvPr id="286" name="Google Shape;286;g35c6db477ef_0_433"/>
          <p:cNvSpPr/>
          <p:nvPr/>
        </p:nvSpPr>
        <p:spPr>
          <a:xfrm>
            <a:off x="1043464" y="5757743"/>
            <a:ext cx="59088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Mejora del rendimiento, mayor fiabilidad y disponibilidad de los datos, mejor escalabilidad y tolerancia a fallos.</a:t>
            </a:r>
            <a:endParaRPr b="0" i="0" sz="1750" u="none" cap="none" strike="noStrike"/>
          </a:p>
        </p:txBody>
      </p:sp>
      <p:sp>
        <p:nvSpPr>
          <p:cNvPr id="287" name="Google Shape;287;g35c6db477ef_0_433"/>
          <p:cNvSpPr/>
          <p:nvPr/>
        </p:nvSpPr>
        <p:spPr>
          <a:xfrm>
            <a:off x="7428667" y="5017651"/>
            <a:ext cx="6408000" cy="2078400"/>
          </a:xfrm>
          <a:prstGeom prst="roundRect">
            <a:avLst>
              <a:gd fmla="val 9822"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5c6db477ef_0_433"/>
          <p:cNvSpPr/>
          <p:nvPr/>
        </p:nvSpPr>
        <p:spPr>
          <a:xfrm>
            <a:off x="7678341" y="5267325"/>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Desventajas</a:t>
            </a:r>
            <a:endParaRPr b="0" i="0" sz="2200" u="none" cap="none" strike="noStrike"/>
          </a:p>
        </p:txBody>
      </p:sp>
      <p:sp>
        <p:nvSpPr>
          <p:cNvPr id="289" name="Google Shape;289;g35c6db477ef_0_433"/>
          <p:cNvSpPr/>
          <p:nvPr/>
        </p:nvSpPr>
        <p:spPr>
          <a:xfrm>
            <a:off x="7678341" y="5757743"/>
            <a:ext cx="59088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Complejidad de implementación, costo adicional de los discos, mayor consumo de energía y espacio físico requerido.</a:t>
            </a:r>
            <a:endParaRPr b="0" i="0" sz="175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descr="preencoded.png" id="295" name="Google Shape;295;g35c6db477ef_0_48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96" name="Google Shape;296;g35c6db477ef_0_483"/>
          <p:cNvSpPr/>
          <p:nvPr/>
        </p:nvSpPr>
        <p:spPr>
          <a:xfrm>
            <a:off x="683300" y="843677"/>
            <a:ext cx="7563600" cy="6102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FFFFF"/>
              </a:buClr>
              <a:buSzPts val="3800"/>
              <a:buFont typeface="Saira Medium"/>
              <a:buNone/>
            </a:pPr>
            <a:r>
              <a:rPr b="0" i="0" lang="en-US" sz="3800" u="none" cap="none" strike="noStrike">
                <a:solidFill>
                  <a:srgbClr val="FFFFFF"/>
                </a:solidFill>
                <a:latin typeface="Saira Medium"/>
                <a:ea typeface="Saira Medium"/>
                <a:cs typeface="Saira Medium"/>
                <a:sym typeface="Saira Medium"/>
              </a:rPr>
              <a:t>Rendimiento y Fiabilidad en RAID</a:t>
            </a:r>
            <a:endParaRPr b="0" i="0" sz="3800" u="none" cap="none" strike="noStrike"/>
          </a:p>
        </p:txBody>
      </p:sp>
      <p:sp>
        <p:nvSpPr>
          <p:cNvPr id="297" name="Google Shape;297;g35c6db477ef_0_483"/>
          <p:cNvSpPr/>
          <p:nvPr/>
        </p:nvSpPr>
        <p:spPr>
          <a:xfrm>
            <a:off x="964644" y="1746647"/>
            <a:ext cx="22800" cy="5639100"/>
          </a:xfrm>
          <a:prstGeom prst="roundRect">
            <a:avLst>
              <a:gd fmla="val 768736" name="adj"/>
            </a:avLst>
          </a:prstGeom>
          <a:solidFill>
            <a:srgbClr val="FFFFFF">
              <a:alpha val="23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5c6db477ef_0_483"/>
          <p:cNvSpPr/>
          <p:nvPr/>
        </p:nvSpPr>
        <p:spPr>
          <a:xfrm>
            <a:off x="1172825" y="2174319"/>
            <a:ext cx="683400" cy="22800"/>
          </a:xfrm>
          <a:prstGeom prst="roundRect">
            <a:avLst>
              <a:gd fmla="val 768736" name="adj"/>
            </a:avLst>
          </a:prstGeom>
          <a:solidFill>
            <a:srgbClr val="FC8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5c6db477ef_0_483"/>
          <p:cNvSpPr/>
          <p:nvPr/>
        </p:nvSpPr>
        <p:spPr>
          <a:xfrm>
            <a:off x="756464" y="1966198"/>
            <a:ext cx="439200" cy="439200"/>
          </a:xfrm>
          <a:prstGeom prst="roundRect">
            <a:avLst>
              <a:gd fmla="val 40010"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5c6db477ef_0_483"/>
          <p:cNvSpPr/>
          <p:nvPr/>
        </p:nvSpPr>
        <p:spPr>
          <a:xfrm>
            <a:off x="919936" y="2039303"/>
            <a:ext cx="112200" cy="292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300"/>
              <a:buFont typeface="Saira Medium"/>
              <a:buNone/>
            </a:pPr>
            <a:r>
              <a:rPr b="0" i="0" lang="en-US" sz="2300" u="none" cap="none" strike="noStrike">
                <a:solidFill>
                  <a:srgbClr val="E5E0DF"/>
                </a:solidFill>
                <a:latin typeface="Saira Medium"/>
                <a:ea typeface="Saira Medium"/>
                <a:cs typeface="Saira Medium"/>
                <a:sym typeface="Saira Medium"/>
              </a:rPr>
              <a:t>1</a:t>
            </a:r>
            <a:endParaRPr b="0" i="0" sz="2300" u="none" cap="none" strike="noStrike"/>
          </a:p>
        </p:txBody>
      </p:sp>
      <p:sp>
        <p:nvSpPr>
          <p:cNvPr id="301" name="Google Shape;301;g35c6db477ef_0_483"/>
          <p:cNvSpPr/>
          <p:nvPr/>
        </p:nvSpPr>
        <p:spPr>
          <a:xfrm>
            <a:off x="2049899" y="1941790"/>
            <a:ext cx="2440800" cy="30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5E0DF"/>
              </a:buClr>
              <a:buSzPts val="1900"/>
              <a:buFont typeface="Saira Medium"/>
              <a:buNone/>
            </a:pPr>
            <a:r>
              <a:rPr b="0" i="0" lang="en-US" sz="1900" u="none" cap="none" strike="noStrike">
                <a:solidFill>
                  <a:srgbClr val="E5E0DF"/>
                </a:solidFill>
                <a:latin typeface="Saira Medium"/>
                <a:ea typeface="Saira Medium"/>
                <a:cs typeface="Saira Medium"/>
                <a:sym typeface="Saira Medium"/>
              </a:rPr>
              <a:t>Rendimiento</a:t>
            </a:r>
            <a:endParaRPr b="0" i="0" sz="1900" u="none" cap="none" strike="noStrike"/>
          </a:p>
        </p:txBody>
      </p:sp>
      <p:sp>
        <p:nvSpPr>
          <p:cNvPr id="302" name="Google Shape;302;g35c6db477ef_0_483"/>
          <p:cNvSpPr/>
          <p:nvPr/>
        </p:nvSpPr>
        <p:spPr>
          <a:xfrm>
            <a:off x="2049899" y="2363867"/>
            <a:ext cx="6410700" cy="9372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E5E0DF"/>
              </a:buClr>
              <a:buSzPts val="1500"/>
              <a:buFont typeface="Roboto"/>
              <a:buNone/>
            </a:pPr>
            <a:r>
              <a:rPr b="0" i="0" lang="en-US" sz="1500" u="none" cap="none" strike="noStrike">
                <a:solidFill>
                  <a:srgbClr val="E5E0DF"/>
                </a:solidFill>
                <a:latin typeface="Roboto"/>
                <a:ea typeface="Roboto"/>
                <a:cs typeface="Roboto"/>
                <a:sym typeface="Roboto"/>
              </a:rPr>
              <a:t>Los sistemas RAID pueden mejorar significativamente el rendimiento de lectura y escritura al distribuir los datos entre múltiples discos, reduciendo los cuellos de botella.</a:t>
            </a:r>
            <a:endParaRPr b="0" i="0" sz="1500" u="none" cap="none" strike="noStrike"/>
          </a:p>
        </p:txBody>
      </p:sp>
      <p:sp>
        <p:nvSpPr>
          <p:cNvPr id="303" name="Google Shape;303;g35c6db477ef_0_483"/>
          <p:cNvSpPr/>
          <p:nvPr/>
        </p:nvSpPr>
        <p:spPr>
          <a:xfrm>
            <a:off x="1172825" y="4119086"/>
            <a:ext cx="683400" cy="22800"/>
          </a:xfrm>
          <a:prstGeom prst="roundRect">
            <a:avLst>
              <a:gd fmla="val 768736" name="adj"/>
            </a:avLst>
          </a:prstGeom>
          <a:solidFill>
            <a:srgbClr val="FC8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5c6db477ef_0_483"/>
          <p:cNvSpPr/>
          <p:nvPr/>
        </p:nvSpPr>
        <p:spPr>
          <a:xfrm>
            <a:off x="756464" y="3910965"/>
            <a:ext cx="439200" cy="439200"/>
          </a:xfrm>
          <a:prstGeom prst="roundRect">
            <a:avLst>
              <a:gd fmla="val 40010"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35c6db477ef_0_483"/>
          <p:cNvSpPr/>
          <p:nvPr/>
        </p:nvSpPr>
        <p:spPr>
          <a:xfrm>
            <a:off x="886599" y="3984069"/>
            <a:ext cx="179100" cy="292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300"/>
              <a:buFont typeface="Saira Medium"/>
              <a:buNone/>
            </a:pPr>
            <a:r>
              <a:rPr b="0" i="0" lang="en-US" sz="2300" u="none" cap="none" strike="noStrike">
                <a:solidFill>
                  <a:srgbClr val="E5E0DF"/>
                </a:solidFill>
                <a:latin typeface="Saira Medium"/>
                <a:ea typeface="Saira Medium"/>
                <a:cs typeface="Saira Medium"/>
                <a:sym typeface="Saira Medium"/>
              </a:rPr>
              <a:t>2</a:t>
            </a:r>
            <a:endParaRPr b="0" i="0" sz="2300" u="none" cap="none" strike="noStrike"/>
          </a:p>
        </p:txBody>
      </p:sp>
      <p:sp>
        <p:nvSpPr>
          <p:cNvPr id="306" name="Google Shape;306;g35c6db477ef_0_483"/>
          <p:cNvSpPr/>
          <p:nvPr/>
        </p:nvSpPr>
        <p:spPr>
          <a:xfrm>
            <a:off x="2049899" y="3886557"/>
            <a:ext cx="2440800" cy="30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5E0DF"/>
              </a:buClr>
              <a:buSzPts val="1900"/>
              <a:buFont typeface="Saira Medium"/>
              <a:buNone/>
            </a:pPr>
            <a:r>
              <a:rPr b="0" i="0" lang="en-US" sz="1900" u="none" cap="none" strike="noStrike">
                <a:solidFill>
                  <a:srgbClr val="E5E0DF"/>
                </a:solidFill>
                <a:latin typeface="Saira Medium"/>
                <a:ea typeface="Saira Medium"/>
                <a:cs typeface="Saira Medium"/>
                <a:sym typeface="Saira Medium"/>
              </a:rPr>
              <a:t>Fiabilidad</a:t>
            </a:r>
            <a:endParaRPr b="0" i="0" sz="1900" u="none" cap="none" strike="noStrike"/>
          </a:p>
        </p:txBody>
      </p:sp>
      <p:sp>
        <p:nvSpPr>
          <p:cNvPr id="307" name="Google Shape;307;g35c6db477ef_0_483"/>
          <p:cNvSpPr/>
          <p:nvPr/>
        </p:nvSpPr>
        <p:spPr>
          <a:xfrm>
            <a:off x="2049899" y="4308634"/>
            <a:ext cx="6410700" cy="9372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E5E0DF"/>
              </a:buClr>
              <a:buSzPts val="1500"/>
              <a:buFont typeface="Roboto"/>
              <a:buNone/>
            </a:pPr>
            <a:r>
              <a:rPr b="0" i="0" lang="en-US" sz="1500" u="none" cap="none" strike="noStrike">
                <a:solidFill>
                  <a:srgbClr val="E5E0DF"/>
                </a:solidFill>
                <a:latin typeface="Roboto"/>
                <a:ea typeface="Roboto"/>
                <a:cs typeface="Roboto"/>
                <a:sym typeface="Roboto"/>
              </a:rPr>
              <a:t>La redundancia inherente de los niveles RAID, como la duplicación de datos (mirroring) o la paridad, aumenta la tolerancia a fallos y garantiza la disponibilidad de los datos.</a:t>
            </a:r>
            <a:endParaRPr b="0" i="0" sz="1500" u="none" cap="none" strike="noStrike"/>
          </a:p>
        </p:txBody>
      </p:sp>
      <p:sp>
        <p:nvSpPr>
          <p:cNvPr id="308" name="Google Shape;308;g35c6db477ef_0_483"/>
          <p:cNvSpPr/>
          <p:nvPr/>
        </p:nvSpPr>
        <p:spPr>
          <a:xfrm>
            <a:off x="1172825" y="6063853"/>
            <a:ext cx="683400" cy="22800"/>
          </a:xfrm>
          <a:prstGeom prst="roundRect">
            <a:avLst>
              <a:gd fmla="val 768736" name="adj"/>
            </a:avLst>
          </a:prstGeom>
          <a:solidFill>
            <a:srgbClr val="FC8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35c6db477ef_0_483"/>
          <p:cNvSpPr/>
          <p:nvPr/>
        </p:nvSpPr>
        <p:spPr>
          <a:xfrm>
            <a:off x="756464" y="5855732"/>
            <a:ext cx="439200" cy="439200"/>
          </a:xfrm>
          <a:prstGeom prst="roundRect">
            <a:avLst>
              <a:gd fmla="val 40010"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5c6db477ef_0_483"/>
          <p:cNvSpPr/>
          <p:nvPr/>
        </p:nvSpPr>
        <p:spPr>
          <a:xfrm>
            <a:off x="887551" y="5928836"/>
            <a:ext cx="177000" cy="292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300"/>
              <a:buFont typeface="Saira Medium"/>
              <a:buNone/>
            </a:pPr>
            <a:r>
              <a:rPr b="0" i="0" lang="en-US" sz="2300" u="none" cap="none" strike="noStrike">
                <a:solidFill>
                  <a:srgbClr val="E5E0DF"/>
                </a:solidFill>
                <a:latin typeface="Saira Medium"/>
                <a:ea typeface="Saira Medium"/>
                <a:cs typeface="Saira Medium"/>
                <a:sym typeface="Saira Medium"/>
              </a:rPr>
              <a:t>3</a:t>
            </a:r>
            <a:endParaRPr b="0" i="0" sz="2300" u="none" cap="none" strike="noStrike"/>
          </a:p>
        </p:txBody>
      </p:sp>
      <p:sp>
        <p:nvSpPr>
          <p:cNvPr id="311" name="Google Shape;311;g35c6db477ef_0_483"/>
          <p:cNvSpPr/>
          <p:nvPr/>
        </p:nvSpPr>
        <p:spPr>
          <a:xfrm>
            <a:off x="2049899" y="5831324"/>
            <a:ext cx="2440800" cy="30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5E0DF"/>
              </a:buClr>
              <a:buSzPts val="1900"/>
              <a:buFont typeface="Saira Medium"/>
              <a:buNone/>
            </a:pPr>
            <a:r>
              <a:rPr b="0" i="0" lang="en-US" sz="1900" u="none" cap="none" strike="noStrike">
                <a:solidFill>
                  <a:srgbClr val="E5E0DF"/>
                </a:solidFill>
                <a:latin typeface="Saira Medium"/>
                <a:ea typeface="Saira Medium"/>
                <a:cs typeface="Saira Medium"/>
                <a:sym typeface="Saira Medium"/>
              </a:rPr>
              <a:t>Consideraciones</a:t>
            </a:r>
            <a:endParaRPr b="0" i="0" sz="1900" u="none" cap="none" strike="noStrike"/>
          </a:p>
        </p:txBody>
      </p:sp>
      <p:sp>
        <p:nvSpPr>
          <p:cNvPr id="312" name="Google Shape;312;g35c6db477ef_0_483"/>
          <p:cNvSpPr/>
          <p:nvPr/>
        </p:nvSpPr>
        <p:spPr>
          <a:xfrm>
            <a:off x="2049899" y="6253401"/>
            <a:ext cx="6410700" cy="9372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E5E0DF"/>
              </a:buClr>
              <a:buSzPts val="1500"/>
              <a:buFont typeface="Roboto"/>
              <a:buNone/>
            </a:pPr>
            <a:r>
              <a:rPr b="0" i="0" lang="en-US" sz="1500" u="none" cap="none" strike="noStrike">
                <a:solidFill>
                  <a:srgbClr val="E5E0DF"/>
                </a:solidFill>
                <a:latin typeface="Roboto"/>
                <a:ea typeface="Roboto"/>
                <a:cs typeface="Roboto"/>
                <a:sym typeface="Roboto"/>
              </a:rPr>
              <a:t>El nivel de RAID elegido, la calidad de los discos y la implementación adecuada son factores clave para optimizar el rendimiento y la fiabilidad del sistema.</a:t>
            </a:r>
            <a:endParaRPr b="0" i="0" sz="150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5c6db477ef_0_543"/>
          <p:cNvSpPr/>
          <p:nvPr/>
        </p:nvSpPr>
        <p:spPr>
          <a:xfrm>
            <a:off x="793790" y="2004060"/>
            <a:ext cx="13042800" cy="14175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Implementación de RAID por Software vs Hardware</a:t>
            </a:r>
            <a:endParaRPr b="0" i="0" sz="4450" u="none" cap="none" strike="noStrike"/>
          </a:p>
        </p:txBody>
      </p:sp>
      <p:sp>
        <p:nvSpPr>
          <p:cNvPr id="319" name="Google Shape;319;g35c6db477ef_0_543"/>
          <p:cNvSpPr/>
          <p:nvPr/>
        </p:nvSpPr>
        <p:spPr>
          <a:xfrm>
            <a:off x="793790" y="3988594"/>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RAID por Software</a:t>
            </a:r>
            <a:endParaRPr b="0" i="0" sz="2200" u="none" cap="none" strike="noStrike"/>
          </a:p>
        </p:txBody>
      </p:sp>
      <p:sp>
        <p:nvSpPr>
          <p:cNvPr id="320" name="Google Shape;320;g35c6db477ef_0_543"/>
          <p:cNvSpPr/>
          <p:nvPr/>
        </p:nvSpPr>
        <p:spPr>
          <a:xfrm>
            <a:off x="793790" y="4569738"/>
            <a:ext cx="6244800" cy="1451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La implementación de RAID por software utiliza el procesador del sistema para gestionar la redundancia y la distribución de datos, lo que es más económico pero puede tener un impacto en el rendimiento.</a:t>
            </a:r>
            <a:endParaRPr b="0" i="0" sz="1750" u="none" cap="none" strike="noStrike"/>
          </a:p>
        </p:txBody>
      </p:sp>
      <p:sp>
        <p:nvSpPr>
          <p:cNvPr id="321" name="Google Shape;321;g35c6db477ef_0_543"/>
          <p:cNvSpPr/>
          <p:nvPr/>
        </p:nvSpPr>
        <p:spPr>
          <a:xfrm>
            <a:off x="7599521" y="3988594"/>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RAID por Hardware</a:t>
            </a:r>
            <a:endParaRPr b="0" i="0" sz="2200" u="none" cap="none" strike="noStrike"/>
          </a:p>
        </p:txBody>
      </p:sp>
      <p:sp>
        <p:nvSpPr>
          <p:cNvPr id="322" name="Google Shape;322;g35c6db477ef_0_543"/>
          <p:cNvSpPr/>
          <p:nvPr/>
        </p:nvSpPr>
        <p:spPr>
          <a:xfrm>
            <a:off x="7599521" y="4569738"/>
            <a:ext cx="6244800" cy="1451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Los controladores RAID dedicados ofrecen un mejor rendimiento y fiabilidad, ya que cuentan con procesadores y memoria propios para gestionar las operaciones RAID, pero conllevan un mayor costo de implementación.</a:t>
            </a:r>
            <a:endParaRPr b="0" i="0" sz="1750" u="none" cap="none" strike="noStrik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descr="preencoded.png" id="328" name="Google Shape;328;g35c6db477ef_0_590"/>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329" name="Google Shape;329;g35c6db477ef_0_590"/>
          <p:cNvSpPr/>
          <p:nvPr/>
        </p:nvSpPr>
        <p:spPr>
          <a:xfrm>
            <a:off x="793790" y="748189"/>
            <a:ext cx="7556400" cy="14175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Consideraciones de Rendimiento y Fiabilidad</a:t>
            </a:r>
            <a:endParaRPr b="0" i="0" sz="4450" u="none" cap="none" strike="noStrike"/>
          </a:p>
        </p:txBody>
      </p:sp>
      <p:sp>
        <p:nvSpPr>
          <p:cNvPr id="330" name="Google Shape;330;g35c6db477ef_0_590"/>
          <p:cNvSpPr/>
          <p:nvPr/>
        </p:nvSpPr>
        <p:spPr>
          <a:xfrm>
            <a:off x="793790" y="2761059"/>
            <a:ext cx="510300" cy="510300"/>
          </a:xfrm>
          <a:prstGeom prst="roundRect">
            <a:avLst>
              <a:gd fmla="val 4000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35c6db477ef_0_590"/>
          <p:cNvSpPr/>
          <p:nvPr/>
        </p:nvSpPr>
        <p:spPr>
          <a:xfrm>
            <a:off x="983694" y="2846070"/>
            <a:ext cx="130500" cy="340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650"/>
              <a:buFont typeface="Saira Medium"/>
              <a:buNone/>
            </a:pPr>
            <a:r>
              <a:rPr b="0" i="0" lang="en-US" sz="2650" u="none" cap="none" strike="noStrike">
                <a:solidFill>
                  <a:srgbClr val="E5E0DF"/>
                </a:solidFill>
                <a:latin typeface="Saira Medium"/>
                <a:ea typeface="Saira Medium"/>
                <a:cs typeface="Saira Medium"/>
                <a:sym typeface="Saira Medium"/>
              </a:rPr>
              <a:t>1</a:t>
            </a:r>
            <a:endParaRPr b="0" i="0" sz="2650" u="none" cap="none" strike="noStrike"/>
          </a:p>
        </p:txBody>
      </p:sp>
      <p:sp>
        <p:nvSpPr>
          <p:cNvPr id="332" name="Google Shape;332;g35c6db477ef_0_590"/>
          <p:cNvSpPr/>
          <p:nvPr/>
        </p:nvSpPr>
        <p:spPr>
          <a:xfrm>
            <a:off x="1530906" y="2761059"/>
            <a:ext cx="2927700" cy="708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Selección del Nivel RAID</a:t>
            </a:r>
            <a:endParaRPr b="0" i="0" sz="2200" u="none" cap="none" strike="noStrike"/>
          </a:p>
        </p:txBody>
      </p:sp>
      <p:sp>
        <p:nvSpPr>
          <p:cNvPr id="333" name="Google Shape;333;g35c6db477ef_0_590"/>
          <p:cNvSpPr/>
          <p:nvPr/>
        </p:nvSpPr>
        <p:spPr>
          <a:xfrm>
            <a:off x="1530906" y="3605808"/>
            <a:ext cx="2927700" cy="181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Elegir el nivel RAID adecuado es crucial para equilibrar las necesidades de rendimiento, capacidad y fiabilidad de la aplicación.</a:t>
            </a:r>
            <a:endParaRPr b="0" i="0" sz="1750" u="none" cap="none" strike="noStrike"/>
          </a:p>
        </p:txBody>
      </p:sp>
      <p:sp>
        <p:nvSpPr>
          <p:cNvPr id="334" name="Google Shape;334;g35c6db477ef_0_590"/>
          <p:cNvSpPr/>
          <p:nvPr/>
        </p:nvSpPr>
        <p:spPr>
          <a:xfrm>
            <a:off x="4685467" y="2761059"/>
            <a:ext cx="510300" cy="510300"/>
          </a:xfrm>
          <a:prstGeom prst="roundRect">
            <a:avLst>
              <a:gd fmla="val 4000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5c6db477ef_0_590"/>
          <p:cNvSpPr/>
          <p:nvPr/>
        </p:nvSpPr>
        <p:spPr>
          <a:xfrm>
            <a:off x="4836676" y="2846070"/>
            <a:ext cx="207900" cy="340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650"/>
              <a:buFont typeface="Saira Medium"/>
              <a:buNone/>
            </a:pPr>
            <a:r>
              <a:rPr b="0" i="0" lang="en-US" sz="2650" u="none" cap="none" strike="noStrike">
                <a:solidFill>
                  <a:srgbClr val="E5E0DF"/>
                </a:solidFill>
                <a:latin typeface="Saira Medium"/>
                <a:ea typeface="Saira Medium"/>
                <a:cs typeface="Saira Medium"/>
                <a:sym typeface="Saira Medium"/>
              </a:rPr>
              <a:t>2</a:t>
            </a:r>
            <a:endParaRPr b="0" i="0" sz="2650" u="none" cap="none" strike="noStrike"/>
          </a:p>
        </p:txBody>
      </p:sp>
      <p:sp>
        <p:nvSpPr>
          <p:cNvPr id="336" name="Google Shape;336;g35c6db477ef_0_590"/>
          <p:cNvSpPr/>
          <p:nvPr/>
        </p:nvSpPr>
        <p:spPr>
          <a:xfrm>
            <a:off x="5422583" y="2761059"/>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Calidad de los Discos</a:t>
            </a:r>
            <a:endParaRPr b="0" i="0" sz="2200" u="none" cap="none" strike="noStrike"/>
          </a:p>
        </p:txBody>
      </p:sp>
      <p:sp>
        <p:nvSpPr>
          <p:cNvPr id="337" name="Google Shape;337;g35c6db477ef_0_590"/>
          <p:cNvSpPr/>
          <p:nvPr/>
        </p:nvSpPr>
        <p:spPr>
          <a:xfrm>
            <a:off x="5422583" y="3251478"/>
            <a:ext cx="2927700" cy="181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Utilizar discos de alta calidad y fiabilidad es fundamental para garantizar el correcto funcionamiento del sistema RAID.</a:t>
            </a:r>
            <a:endParaRPr b="0" i="0" sz="1750" u="none" cap="none" strike="noStrike"/>
          </a:p>
        </p:txBody>
      </p:sp>
      <p:sp>
        <p:nvSpPr>
          <p:cNvPr id="338" name="Google Shape;338;g35c6db477ef_0_590"/>
          <p:cNvSpPr/>
          <p:nvPr/>
        </p:nvSpPr>
        <p:spPr>
          <a:xfrm>
            <a:off x="793790" y="5902285"/>
            <a:ext cx="510300" cy="510300"/>
          </a:xfrm>
          <a:prstGeom prst="roundRect">
            <a:avLst>
              <a:gd fmla="val 4000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5c6db477ef_0_590"/>
          <p:cNvSpPr/>
          <p:nvPr/>
        </p:nvSpPr>
        <p:spPr>
          <a:xfrm>
            <a:off x="946190" y="5987296"/>
            <a:ext cx="205500" cy="340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650"/>
              <a:buFont typeface="Saira Medium"/>
              <a:buNone/>
            </a:pPr>
            <a:r>
              <a:rPr b="0" i="0" lang="en-US" sz="2650" u="none" cap="none" strike="noStrike">
                <a:solidFill>
                  <a:srgbClr val="E5E0DF"/>
                </a:solidFill>
                <a:latin typeface="Saira Medium"/>
                <a:ea typeface="Saira Medium"/>
                <a:cs typeface="Saira Medium"/>
                <a:sym typeface="Saira Medium"/>
              </a:rPr>
              <a:t>3</a:t>
            </a:r>
            <a:endParaRPr b="0" i="0" sz="2650" u="none" cap="none" strike="noStrike"/>
          </a:p>
        </p:txBody>
      </p:sp>
      <p:sp>
        <p:nvSpPr>
          <p:cNvPr id="340" name="Google Shape;340;g35c6db477ef_0_590"/>
          <p:cNvSpPr/>
          <p:nvPr/>
        </p:nvSpPr>
        <p:spPr>
          <a:xfrm>
            <a:off x="1530906" y="5902285"/>
            <a:ext cx="31317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Implementación Óptima</a:t>
            </a:r>
            <a:endParaRPr b="0" i="0" sz="2200" u="none" cap="none" strike="noStrike"/>
          </a:p>
        </p:txBody>
      </p:sp>
      <p:sp>
        <p:nvSpPr>
          <p:cNvPr id="341" name="Google Shape;341;g35c6db477ef_0_590"/>
          <p:cNvSpPr/>
          <p:nvPr/>
        </p:nvSpPr>
        <p:spPr>
          <a:xfrm>
            <a:off x="1530906" y="6392704"/>
            <a:ext cx="68193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Una implementación cuidadosa, que incluya un diseño adecuado, configuración y monitorización, es esencial para maximizar el rendimiento y fiabilidad del RAID.</a:t>
            </a:r>
            <a:endParaRPr b="0" i="0" sz="1750" u="none" cap="none" strike="noStrik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descr="preencoded.png" id="347" name="Google Shape;347;g35c6db477ef_0_646"/>
          <p:cNvPicPr preferRelativeResize="0"/>
          <p:nvPr/>
        </p:nvPicPr>
        <p:blipFill rotWithShape="1">
          <a:blip r:embed="rId3">
            <a:alphaModFix/>
          </a:blip>
          <a:srcRect b="0" l="0" r="0" t="0"/>
          <a:stretch/>
        </p:blipFill>
        <p:spPr>
          <a:xfrm>
            <a:off x="0" y="0"/>
            <a:ext cx="14630400" cy="2835235"/>
          </a:xfrm>
          <a:prstGeom prst="rect">
            <a:avLst/>
          </a:prstGeom>
          <a:noFill/>
          <a:ln>
            <a:noFill/>
          </a:ln>
        </p:spPr>
      </p:pic>
      <p:sp>
        <p:nvSpPr>
          <p:cNvPr id="348" name="Google Shape;348;g35c6db477ef_0_646"/>
          <p:cNvSpPr/>
          <p:nvPr/>
        </p:nvSpPr>
        <p:spPr>
          <a:xfrm>
            <a:off x="793790" y="3459004"/>
            <a:ext cx="82371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RAID en Entornos Virtualizados</a:t>
            </a:r>
            <a:endParaRPr b="0" i="0" sz="4450" u="none" cap="none" strike="noStrike"/>
          </a:p>
        </p:txBody>
      </p:sp>
      <p:pic>
        <p:nvPicPr>
          <p:cNvPr descr="preencoded.png" id="349" name="Google Shape;349;g35c6db477ef_0_646"/>
          <p:cNvPicPr preferRelativeResize="0"/>
          <p:nvPr/>
        </p:nvPicPr>
        <p:blipFill rotWithShape="1">
          <a:blip r:embed="rId4">
            <a:alphaModFix/>
          </a:blip>
          <a:srcRect b="0" l="0" r="0" t="0"/>
          <a:stretch/>
        </p:blipFill>
        <p:spPr>
          <a:xfrm>
            <a:off x="793790" y="4507944"/>
            <a:ext cx="566976" cy="566976"/>
          </a:xfrm>
          <a:prstGeom prst="rect">
            <a:avLst/>
          </a:prstGeom>
          <a:noFill/>
          <a:ln>
            <a:noFill/>
          </a:ln>
        </p:spPr>
      </p:pic>
      <p:sp>
        <p:nvSpPr>
          <p:cNvPr id="350" name="Google Shape;350;g35c6db477ef_0_646"/>
          <p:cNvSpPr/>
          <p:nvPr/>
        </p:nvSpPr>
        <p:spPr>
          <a:xfrm>
            <a:off x="793790" y="5301734"/>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Flexibilidad</a:t>
            </a:r>
            <a:endParaRPr b="0" i="0" sz="2200" u="none" cap="none" strike="noStrike"/>
          </a:p>
        </p:txBody>
      </p:sp>
      <p:sp>
        <p:nvSpPr>
          <p:cNvPr id="351" name="Google Shape;351;g35c6db477ef_0_646"/>
          <p:cNvSpPr/>
          <p:nvPr/>
        </p:nvSpPr>
        <p:spPr>
          <a:xfrm>
            <a:off x="793790" y="5792153"/>
            <a:ext cx="4120800" cy="181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Los sistemas RAID en entornos virtualizados ofrecen mayor flexibilidad y escalabilidad, permitiendo la asignación dinámica de recursos de almacenamiento.</a:t>
            </a:r>
            <a:endParaRPr b="0" i="0" sz="1750" u="none" cap="none" strike="noStrike"/>
          </a:p>
        </p:txBody>
      </p:sp>
      <p:pic>
        <p:nvPicPr>
          <p:cNvPr descr="preencoded.png" id="352" name="Google Shape;352;g35c6db477ef_0_646"/>
          <p:cNvPicPr preferRelativeResize="0"/>
          <p:nvPr/>
        </p:nvPicPr>
        <p:blipFill rotWithShape="1">
          <a:blip r:embed="rId5">
            <a:alphaModFix/>
          </a:blip>
          <a:srcRect b="0" l="0" r="0" t="0"/>
          <a:stretch/>
        </p:blipFill>
        <p:spPr>
          <a:xfrm>
            <a:off x="5254704" y="4507944"/>
            <a:ext cx="566976" cy="566976"/>
          </a:xfrm>
          <a:prstGeom prst="rect">
            <a:avLst/>
          </a:prstGeom>
          <a:noFill/>
          <a:ln>
            <a:noFill/>
          </a:ln>
        </p:spPr>
      </p:pic>
      <p:sp>
        <p:nvSpPr>
          <p:cNvPr id="353" name="Google Shape;353;g35c6db477ef_0_646"/>
          <p:cNvSpPr/>
          <p:nvPr/>
        </p:nvSpPr>
        <p:spPr>
          <a:xfrm>
            <a:off x="5254704" y="5301734"/>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Alta Disponibilidad</a:t>
            </a:r>
            <a:endParaRPr b="0" i="0" sz="2200" u="none" cap="none" strike="noStrike"/>
          </a:p>
        </p:txBody>
      </p:sp>
      <p:sp>
        <p:nvSpPr>
          <p:cNvPr id="354" name="Google Shape;354;g35c6db477ef_0_646"/>
          <p:cNvSpPr/>
          <p:nvPr/>
        </p:nvSpPr>
        <p:spPr>
          <a:xfrm>
            <a:off x="5254704" y="5792153"/>
            <a:ext cx="4120800" cy="1451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La redundancia inherente de RAID, combinada con la movilidad de las máquinas virtuales, mejora la disponibilidad y tolerancia a fallos.</a:t>
            </a:r>
            <a:endParaRPr b="0" i="0" sz="1750" u="none" cap="none" strike="noStrike"/>
          </a:p>
        </p:txBody>
      </p:sp>
      <p:pic>
        <p:nvPicPr>
          <p:cNvPr descr="preencoded.png" id="355" name="Google Shape;355;g35c6db477ef_0_646"/>
          <p:cNvPicPr preferRelativeResize="0"/>
          <p:nvPr/>
        </p:nvPicPr>
        <p:blipFill rotWithShape="1">
          <a:blip r:embed="rId6">
            <a:alphaModFix/>
          </a:blip>
          <a:srcRect b="0" l="0" r="0" t="0"/>
          <a:stretch/>
        </p:blipFill>
        <p:spPr>
          <a:xfrm>
            <a:off x="9715738" y="4507944"/>
            <a:ext cx="566976" cy="566976"/>
          </a:xfrm>
          <a:prstGeom prst="rect">
            <a:avLst/>
          </a:prstGeom>
          <a:noFill/>
          <a:ln>
            <a:noFill/>
          </a:ln>
        </p:spPr>
      </p:pic>
      <p:sp>
        <p:nvSpPr>
          <p:cNvPr id="356" name="Google Shape;356;g35c6db477ef_0_646"/>
          <p:cNvSpPr/>
          <p:nvPr/>
        </p:nvSpPr>
        <p:spPr>
          <a:xfrm>
            <a:off x="9715738" y="5301734"/>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Eficiencia</a:t>
            </a:r>
            <a:endParaRPr b="0" i="0" sz="2200" u="none" cap="none" strike="noStrike"/>
          </a:p>
        </p:txBody>
      </p:sp>
      <p:sp>
        <p:nvSpPr>
          <p:cNvPr id="357" name="Google Shape;357;g35c6db477ef_0_646"/>
          <p:cNvSpPr/>
          <p:nvPr/>
        </p:nvSpPr>
        <p:spPr>
          <a:xfrm>
            <a:off x="9715738" y="5792153"/>
            <a:ext cx="4120800" cy="1451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La implementación de RAID en entornos virtualizados puede optimizar el uso de recursos, reduciendo costos y mejorando la eficiencia general.</a:t>
            </a:r>
            <a:endParaRPr b="0" i="0" sz="1750" u="none" cap="none" strike="noStrike"/>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descr="preencoded.png" id="363" name="Google Shape;363;g35c6db477ef_0_699"/>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364" name="Google Shape;364;g35c6db477ef_0_699"/>
          <p:cNvSpPr/>
          <p:nvPr/>
        </p:nvSpPr>
        <p:spPr>
          <a:xfrm>
            <a:off x="717471" y="564713"/>
            <a:ext cx="7709100" cy="1281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000"/>
              <a:buFont typeface="Saira Medium"/>
              <a:buNone/>
            </a:pPr>
            <a:r>
              <a:rPr b="0" i="0" lang="en-US" sz="4000" u="none" cap="none" strike="noStrike">
                <a:solidFill>
                  <a:srgbClr val="FFFFFF"/>
                </a:solidFill>
                <a:latin typeface="Saira Medium"/>
                <a:ea typeface="Saira Medium"/>
                <a:cs typeface="Saira Medium"/>
                <a:sym typeface="Saira Medium"/>
              </a:rPr>
              <a:t>Implementación de RAID en Entornos Virtuales</a:t>
            </a:r>
            <a:endParaRPr b="0" i="0" sz="4000" u="none" cap="none" strike="noStrike"/>
          </a:p>
        </p:txBody>
      </p:sp>
      <p:pic>
        <p:nvPicPr>
          <p:cNvPr descr="preencoded.png" id="365" name="Google Shape;365;g35c6db477ef_0_699"/>
          <p:cNvPicPr preferRelativeResize="0"/>
          <p:nvPr/>
        </p:nvPicPr>
        <p:blipFill rotWithShape="1">
          <a:blip r:embed="rId4">
            <a:alphaModFix/>
          </a:blip>
          <a:srcRect b="0" l="0" r="0" t="0"/>
          <a:stretch/>
        </p:blipFill>
        <p:spPr>
          <a:xfrm>
            <a:off x="717471" y="2153483"/>
            <a:ext cx="1025009" cy="1837134"/>
          </a:xfrm>
          <a:prstGeom prst="rect">
            <a:avLst/>
          </a:prstGeom>
          <a:noFill/>
          <a:ln>
            <a:noFill/>
          </a:ln>
        </p:spPr>
      </p:pic>
      <p:sp>
        <p:nvSpPr>
          <p:cNvPr id="366" name="Google Shape;366;g35c6db477ef_0_699"/>
          <p:cNvSpPr/>
          <p:nvPr/>
        </p:nvSpPr>
        <p:spPr>
          <a:xfrm>
            <a:off x="2049899" y="2358390"/>
            <a:ext cx="3231900" cy="32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Diseño de Almacenamiento</a:t>
            </a:r>
            <a:endParaRPr b="0" i="0" sz="2000" u="none" cap="none" strike="noStrike"/>
          </a:p>
        </p:txBody>
      </p:sp>
      <p:sp>
        <p:nvSpPr>
          <p:cNvPr id="367" name="Google Shape;367;g35c6db477ef_0_699"/>
          <p:cNvSpPr/>
          <p:nvPr/>
        </p:nvSpPr>
        <p:spPr>
          <a:xfrm>
            <a:off x="2049899" y="2801660"/>
            <a:ext cx="6376500" cy="9840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El diseño del almacenamiento RAID debe considerar la arquitectura de la infraestructura virtual, los requisitos de rendimiento y fiabilidad de las aplicaciones.</a:t>
            </a:r>
            <a:endParaRPr b="0" i="0" sz="1600" u="none" cap="none" strike="noStrike"/>
          </a:p>
        </p:txBody>
      </p:sp>
      <p:pic>
        <p:nvPicPr>
          <p:cNvPr descr="preencoded.png" id="368" name="Google Shape;368;g35c6db477ef_0_699"/>
          <p:cNvPicPr preferRelativeResize="0"/>
          <p:nvPr/>
        </p:nvPicPr>
        <p:blipFill rotWithShape="1">
          <a:blip r:embed="rId5">
            <a:alphaModFix/>
          </a:blip>
          <a:srcRect b="0" l="0" r="0" t="0"/>
          <a:stretch/>
        </p:blipFill>
        <p:spPr>
          <a:xfrm>
            <a:off x="717471" y="3990618"/>
            <a:ext cx="1025009" cy="1837134"/>
          </a:xfrm>
          <a:prstGeom prst="rect">
            <a:avLst/>
          </a:prstGeom>
          <a:noFill/>
          <a:ln>
            <a:noFill/>
          </a:ln>
        </p:spPr>
      </p:pic>
      <p:sp>
        <p:nvSpPr>
          <p:cNvPr id="369" name="Google Shape;369;g35c6db477ef_0_699"/>
          <p:cNvSpPr/>
          <p:nvPr/>
        </p:nvSpPr>
        <p:spPr>
          <a:xfrm>
            <a:off x="2049899" y="4195524"/>
            <a:ext cx="2562600" cy="32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Configuración RAID</a:t>
            </a:r>
            <a:endParaRPr b="0" i="0" sz="2000" u="none" cap="none" strike="noStrike"/>
          </a:p>
        </p:txBody>
      </p:sp>
      <p:sp>
        <p:nvSpPr>
          <p:cNvPr id="370" name="Google Shape;370;g35c6db477ef_0_699"/>
          <p:cNvSpPr/>
          <p:nvPr/>
        </p:nvSpPr>
        <p:spPr>
          <a:xfrm>
            <a:off x="2049899" y="4638794"/>
            <a:ext cx="6376500" cy="9840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La configuración RAID en entornos virtualizados debe ser cuidadosamente planificada y probada para garantizar un alto rendimiento y disponibilidad.</a:t>
            </a:r>
            <a:endParaRPr b="0" i="0" sz="1600" u="none" cap="none" strike="noStrike"/>
          </a:p>
        </p:txBody>
      </p:sp>
      <p:pic>
        <p:nvPicPr>
          <p:cNvPr descr="preencoded.png" id="371" name="Google Shape;371;g35c6db477ef_0_699"/>
          <p:cNvPicPr preferRelativeResize="0"/>
          <p:nvPr/>
        </p:nvPicPr>
        <p:blipFill rotWithShape="1">
          <a:blip r:embed="rId6">
            <a:alphaModFix/>
          </a:blip>
          <a:srcRect b="0" l="0" r="0" t="0"/>
          <a:stretch/>
        </p:blipFill>
        <p:spPr>
          <a:xfrm>
            <a:off x="717471" y="5827752"/>
            <a:ext cx="1025009" cy="1837134"/>
          </a:xfrm>
          <a:prstGeom prst="rect">
            <a:avLst/>
          </a:prstGeom>
          <a:noFill/>
          <a:ln>
            <a:noFill/>
          </a:ln>
        </p:spPr>
      </p:pic>
      <p:sp>
        <p:nvSpPr>
          <p:cNvPr id="372" name="Google Shape;372;g35c6db477ef_0_699"/>
          <p:cNvSpPr/>
          <p:nvPr/>
        </p:nvSpPr>
        <p:spPr>
          <a:xfrm>
            <a:off x="2049899" y="6032659"/>
            <a:ext cx="3593700" cy="32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Monitorización y Optimización</a:t>
            </a:r>
            <a:endParaRPr b="0" i="0" sz="2000" u="none" cap="none" strike="noStrike"/>
          </a:p>
        </p:txBody>
      </p:sp>
      <p:sp>
        <p:nvSpPr>
          <p:cNvPr id="373" name="Google Shape;373;g35c6db477ef_0_699"/>
          <p:cNvSpPr/>
          <p:nvPr/>
        </p:nvSpPr>
        <p:spPr>
          <a:xfrm>
            <a:off x="2049899" y="6475928"/>
            <a:ext cx="6376500" cy="9840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El monitoreo continuo del rendimiento y la fiabilidad del RAID, junto con ajustes y optimizaciones cuando sea necesario, son esenciales para mantener un sistema de almacenamiento eficiente.</a:t>
            </a:r>
            <a:endParaRPr b="0" i="0" sz="1600" u="none" cap="none" strike="noStrike"/>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5c6db477ef_0_756"/>
          <p:cNvSpPr txBox="1"/>
          <p:nvPr/>
        </p:nvSpPr>
        <p:spPr>
          <a:xfrm>
            <a:off x="2005912" y="800100"/>
            <a:ext cx="10802700" cy="8466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i="0" lang="en-US" sz="5500" u="none" cap="none" strike="noStrike">
                <a:solidFill>
                  <a:srgbClr val="131416"/>
                </a:solidFill>
                <a:latin typeface="Impact"/>
                <a:ea typeface="Impact"/>
                <a:cs typeface="Impact"/>
                <a:sym typeface="Impact"/>
              </a:rPr>
              <a:t>CONCEPTOS CLAVE APRENDIDOS </a:t>
            </a:r>
            <a:endParaRPr sz="1100">
              <a:latin typeface="Impact"/>
              <a:ea typeface="Impact"/>
              <a:cs typeface="Impact"/>
              <a:sym typeface="Impact"/>
            </a:endParaRPr>
          </a:p>
        </p:txBody>
      </p:sp>
      <p:sp>
        <p:nvSpPr>
          <p:cNvPr id="379" name="Google Shape;379;g35c6db477ef_0_756"/>
          <p:cNvSpPr txBox="1"/>
          <p:nvPr/>
        </p:nvSpPr>
        <p:spPr>
          <a:xfrm>
            <a:off x="4969950" y="3088666"/>
            <a:ext cx="5529000" cy="14625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lang="en-US" sz="2500">
                <a:solidFill>
                  <a:srgbClr val="131416"/>
                </a:solidFill>
              </a:rPr>
              <a:t>RAID, sus clasificaciones, su uso y los distintos niveles de RAID considerando ventajas, desventajas y sus usos.</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5c6db477ef_0_836"/>
          <p:cNvSpPr/>
          <p:nvPr/>
        </p:nvSpPr>
        <p:spPr>
          <a:xfrm>
            <a:off x="0" y="-147974"/>
            <a:ext cx="14875717" cy="8378053"/>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385" name="Google Shape;385;g35c6db477ef_0_836"/>
          <p:cNvSpPr/>
          <p:nvPr/>
        </p:nvSpPr>
        <p:spPr>
          <a:xfrm>
            <a:off x="0" y="-147974"/>
            <a:ext cx="14875717" cy="8378053"/>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386" name="Google Shape;386;g35c6db477ef_0_836"/>
          <p:cNvSpPr txBox="1"/>
          <p:nvPr/>
        </p:nvSpPr>
        <p:spPr>
          <a:xfrm>
            <a:off x="3863140" y="1560360"/>
            <a:ext cx="7248000" cy="732600"/>
          </a:xfrm>
          <a:prstGeom prst="rect">
            <a:avLst/>
          </a:prstGeom>
          <a:noFill/>
          <a:ln>
            <a:noFill/>
          </a:ln>
        </p:spPr>
        <p:txBody>
          <a:bodyPr anchorCtr="0" anchor="t" bIns="73150" lIns="73150" spcFirstLastPara="1" rIns="73150" wrap="square" tIns="73150">
            <a:spAutoFit/>
          </a:bodyPr>
          <a:lstStyle/>
          <a:p>
            <a:pPr indent="0" lvl="0" marL="0" rtl="0" algn="l">
              <a:spcBef>
                <a:spcPts val="0"/>
              </a:spcBef>
              <a:spcAft>
                <a:spcPts val="0"/>
              </a:spcAft>
              <a:buNone/>
            </a:pPr>
            <a:r>
              <a:rPr b="1" lang="en-US" sz="3800">
                <a:solidFill>
                  <a:schemeClr val="dk1"/>
                </a:solidFill>
                <a:latin typeface="Calibri"/>
                <a:ea typeface="Calibri"/>
                <a:cs typeface="Calibri"/>
                <a:sym typeface="Calibri"/>
              </a:rPr>
              <a:t>Compromiso</a:t>
            </a:r>
            <a:endParaRPr b="1" sz="3800">
              <a:solidFill>
                <a:schemeClr val="dk1"/>
              </a:solidFill>
              <a:latin typeface="Calibri"/>
              <a:ea typeface="Calibri"/>
              <a:cs typeface="Calibri"/>
              <a:sym typeface="Calibri"/>
            </a:endParaRPr>
          </a:p>
        </p:txBody>
      </p:sp>
      <p:sp>
        <p:nvSpPr>
          <p:cNvPr id="387" name="Google Shape;387;g35c6db477ef_0_836"/>
          <p:cNvSpPr/>
          <p:nvPr/>
        </p:nvSpPr>
        <p:spPr>
          <a:xfrm rot="-2311187">
            <a:off x="7756517" y="1734471"/>
            <a:ext cx="10105372" cy="7643336"/>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7000"/>
            </a:blip>
            <a:stretch>
              <a:fillRect b="0" l="0" r="0" t="0"/>
            </a:stretch>
          </a:blipFill>
          <a:ln>
            <a:noFill/>
          </a:ln>
        </p:spPr>
      </p:sp>
      <p:grpSp>
        <p:nvGrpSpPr>
          <p:cNvPr id="388" name="Google Shape;388;g35c6db477ef_0_836"/>
          <p:cNvGrpSpPr/>
          <p:nvPr/>
        </p:nvGrpSpPr>
        <p:grpSpPr>
          <a:xfrm rot="9869719">
            <a:off x="11544373" y="5253546"/>
            <a:ext cx="5190987" cy="5411352"/>
            <a:chOff x="-8061" y="0"/>
            <a:chExt cx="8651124" cy="9018376"/>
          </a:xfrm>
        </p:grpSpPr>
        <p:sp>
          <p:nvSpPr>
            <p:cNvPr id="389" name="Google Shape;389;g35c6db477ef_0_836"/>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390" name="Google Shape;390;g35c6db477ef_0_836"/>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391" name="Google Shape;391;g35c6db477ef_0_836"/>
          <p:cNvSpPr/>
          <p:nvPr/>
        </p:nvSpPr>
        <p:spPr>
          <a:xfrm>
            <a:off x="8070329" y="-3207010"/>
            <a:ext cx="3863187" cy="3856163"/>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392" name="Google Shape;392;g35c6db477ef_0_836"/>
          <p:cNvSpPr txBox="1"/>
          <p:nvPr/>
        </p:nvSpPr>
        <p:spPr>
          <a:xfrm>
            <a:off x="1739420" y="3314700"/>
            <a:ext cx="10897500" cy="2148900"/>
          </a:xfrm>
          <a:prstGeom prst="rect">
            <a:avLst/>
          </a:prstGeom>
          <a:noFill/>
          <a:ln>
            <a:noFill/>
          </a:ln>
        </p:spPr>
        <p:txBody>
          <a:bodyPr anchorCtr="0" anchor="t" bIns="73150" lIns="73150" spcFirstLastPara="1" rIns="73150" wrap="square" tIns="73150">
            <a:spAutoFit/>
          </a:bodyPr>
          <a:lstStyle/>
          <a:p>
            <a:pPr indent="0" lvl="0" marL="0" rtl="0" algn="l">
              <a:spcBef>
                <a:spcPts val="0"/>
              </a:spcBef>
              <a:spcAft>
                <a:spcPts val="0"/>
              </a:spcAft>
              <a:buNone/>
            </a:pPr>
            <a:r>
              <a:rPr lang="en-US" sz="2600">
                <a:solidFill>
                  <a:schemeClr val="dk1"/>
                </a:solidFill>
                <a:latin typeface="Calibri"/>
                <a:ea typeface="Calibri"/>
                <a:cs typeface="Calibri"/>
                <a:sym typeface="Calibri"/>
              </a:rPr>
              <a:t> La implementación de sistemas de archivos y la gestión de datos y/o información requieren un enfoque constante y responsable para garantizar la correcta </a:t>
            </a:r>
            <a:r>
              <a:rPr lang="en-US" sz="2600">
                <a:solidFill>
                  <a:schemeClr val="dk1"/>
                </a:solidFill>
                <a:latin typeface="Calibri"/>
                <a:ea typeface="Calibri"/>
                <a:cs typeface="Calibri"/>
                <a:sym typeface="Calibri"/>
              </a:rPr>
              <a:t>ejecución</a:t>
            </a:r>
            <a:r>
              <a:rPr lang="en-US" sz="2600">
                <a:solidFill>
                  <a:schemeClr val="dk1"/>
                </a:solidFill>
                <a:latin typeface="Calibri"/>
                <a:ea typeface="Calibri"/>
                <a:cs typeface="Calibri"/>
                <a:sym typeface="Calibri"/>
              </a:rPr>
              <a:t> de las operaciones. Fomentar este valor permitirá a los estudiantes mantener un alto estándar en el trabajo técnico, asegurando soluciones efectivas y seguras. </a:t>
            </a:r>
            <a:endParaRPr sz="26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5c6db477ef_0_924"/>
          <p:cNvSpPr txBox="1"/>
          <p:nvPr/>
        </p:nvSpPr>
        <p:spPr>
          <a:xfrm>
            <a:off x="2005912" y="800100"/>
            <a:ext cx="10802700" cy="8466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5500"/>
              <a:buFont typeface="Arial"/>
              <a:buNone/>
            </a:pPr>
            <a:r>
              <a:rPr b="0" i="0" lang="en-US" sz="5500" u="none" cap="none" strike="noStrike">
                <a:solidFill>
                  <a:srgbClr val="131416"/>
                </a:solidFill>
                <a:latin typeface="Arial"/>
                <a:ea typeface="Arial"/>
                <a:cs typeface="Arial"/>
                <a:sym typeface="Arial"/>
              </a:rPr>
              <a:t>REFERENCIAS </a:t>
            </a:r>
            <a:endParaRPr b="0" i="0" sz="1100" u="none" cap="none" strike="noStrike">
              <a:solidFill>
                <a:srgbClr val="000000"/>
              </a:solidFill>
              <a:latin typeface="Arial"/>
              <a:ea typeface="Arial"/>
              <a:cs typeface="Arial"/>
              <a:sym typeface="Arial"/>
            </a:endParaRPr>
          </a:p>
        </p:txBody>
      </p:sp>
      <p:sp>
        <p:nvSpPr>
          <p:cNvPr id="398" name="Google Shape;398;g35c6db477ef_0_924"/>
          <p:cNvSpPr txBox="1"/>
          <p:nvPr/>
        </p:nvSpPr>
        <p:spPr>
          <a:xfrm>
            <a:off x="4642705" y="3424483"/>
            <a:ext cx="5529000" cy="3849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2500"/>
              <a:buFont typeface="Arial"/>
              <a:buNone/>
            </a:pPr>
            <a:r>
              <a:rPr b="0" i="0" lang="en-US" sz="2500" u="none" cap="none" strike="noStrike">
                <a:solidFill>
                  <a:srgbClr val="131416"/>
                </a:solidFill>
                <a:latin typeface="Arial"/>
                <a:ea typeface="Arial"/>
                <a:cs typeface="Arial"/>
                <a:sym typeface="Arial"/>
              </a:rPr>
              <a:t>COCOCYS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5c6db477ef_0_1004"/>
          <p:cNvSpPr/>
          <p:nvPr/>
        </p:nvSpPr>
        <p:spPr>
          <a:xfrm>
            <a:off x="0" y="0"/>
            <a:ext cx="14630400" cy="82296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67" l="0" r="0" t="-38878"/>
            </a:stretch>
          </a:blipFill>
          <a:ln>
            <a:noFill/>
          </a:ln>
        </p:spPr>
      </p:sp>
      <p:sp>
        <p:nvSpPr>
          <p:cNvPr id="404" name="Google Shape;404;g35c6db477ef_0_1004"/>
          <p:cNvSpPr/>
          <p:nvPr/>
        </p:nvSpPr>
        <p:spPr>
          <a:xfrm>
            <a:off x="-128554" y="-119698"/>
            <a:ext cx="14884820" cy="8471731"/>
          </a:xfrm>
          <a:custGeom>
            <a:rect b="b" l="l" r="r" t="t"/>
            <a:pathLst>
              <a:path extrusionOk="0" h="1970170" w="3461586">
                <a:moveTo>
                  <a:pt x="0" y="0"/>
                </a:moveTo>
                <a:lnTo>
                  <a:pt x="3461586" y="0"/>
                </a:lnTo>
                <a:lnTo>
                  <a:pt x="3461586" y="1970170"/>
                </a:lnTo>
                <a:lnTo>
                  <a:pt x="0" y="1970170"/>
                </a:lnTo>
                <a:close/>
              </a:path>
            </a:pathLst>
          </a:custGeom>
          <a:solidFill>
            <a:srgbClr val="14056D">
              <a:alpha val="18040"/>
            </a:srgbClr>
          </a:solidFill>
          <a:ln>
            <a:noFill/>
          </a:ln>
        </p:spPr>
      </p:sp>
      <p:sp>
        <p:nvSpPr>
          <p:cNvPr id="405" name="Google Shape;405;g35c6db477ef_0_1004"/>
          <p:cNvSpPr/>
          <p:nvPr/>
        </p:nvSpPr>
        <p:spPr>
          <a:xfrm rot="-2311187">
            <a:off x="7662389" y="1765215"/>
            <a:ext cx="10105372" cy="7643336"/>
          </a:xfrm>
          <a:custGeom>
            <a:rect b="b" l="l" r="r" t="t"/>
            <a:pathLst>
              <a:path extrusionOk="0" h="9568149" w="12650197">
                <a:moveTo>
                  <a:pt x="0" y="0"/>
                </a:moveTo>
                <a:lnTo>
                  <a:pt x="12650196" y="0"/>
                </a:lnTo>
                <a:lnTo>
                  <a:pt x="12650196" y="9568148"/>
                </a:lnTo>
                <a:lnTo>
                  <a:pt x="0" y="9568148"/>
                </a:lnTo>
                <a:lnTo>
                  <a:pt x="0" y="0"/>
                </a:lnTo>
                <a:close/>
              </a:path>
            </a:pathLst>
          </a:custGeom>
          <a:blipFill rotWithShape="1">
            <a:blip r:embed="rId4">
              <a:alphaModFix amt="37000"/>
            </a:blip>
            <a:stretch>
              <a:fillRect b="0" l="0" r="0" t="0"/>
            </a:stretch>
          </a:blipFill>
          <a:ln>
            <a:noFill/>
          </a:ln>
        </p:spPr>
      </p:sp>
      <p:sp>
        <p:nvSpPr>
          <p:cNvPr id="406" name="Google Shape;406;g35c6db477ef_0_1004"/>
          <p:cNvSpPr txBox="1"/>
          <p:nvPr/>
        </p:nvSpPr>
        <p:spPr>
          <a:xfrm>
            <a:off x="3550236" y="2711283"/>
            <a:ext cx="6927000" cy="23229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4900"/>
              <a:buFont typeface="Arial"/>
              <a:buNone/>
            </a:pPr>
            <a:r>
              <a:rPr b="0" i="0" lang="en-US" sz="4900" u="none" cap="none" strike="noStrike">
                <a:solidFill>
                  <a:schemeClr val="lt1"/>
                </a:solidFill>
                <a:latin typeface="Arial"/>
                <a:ea typeface="Arial"/>
                <a:cs typeface="Arial"/>
                <a:sym typeface="Arial"/>
              </a:rPr>
              <a:t>¡GRACIAS POR SU  ATENCIÓN!</a:t>
            </a:r>
            <a:endParaRPr b="0" i="0" sz="1100" u="none" cap="none" strike="noStrike">
              <a:solidFill>
                <a:schemeClr val="lt1"/>
              </a:solidFill>
              <a:latin typeface="Arial"/>
              <a:ea typeface="Arial"/>
              <a:cs typeface="Arial"/>
              <a:sym typeface="Arial"/>
            </a:endParaRPr>
          </a:p>
          <a:p>
            <a:pPr indent="0" lvl="0" marL="0" marR="0" rtl="0" algn="just">
              <a:lnSpc>
                <a:spcPct val="104000"/>
              </a:lnSpc>
              <a:spcBef>
                <a:spcPts val="0"/>
              </a:spcBef>
              <a:spcAft>
                <a:spcPts val="0"/>
              </a:spcAft>
              <a:buClr>
                <a:srgbClr val="000000"/>
              </a:buClr>
              <a:buSzPts val="4900"/>
              <a:buFont typeface="Arial"/>
              <a:buNone/>
            </a:pPr>
            <a:r>
              <a:t/>
            </a:r>
            <a:endParaRPr b="0" i="0" sz="4900" u="none" cap="none" strike="noStrike">
              <a:solidFill>
                <a:srgbClr val="131416"/>
              </a:solidFill>
              <a:latin typeface="Arial"/>
              <a:ea typeface="Arial"/>
              <a:cs typeface="Arial"/>
              <a:sym typeface="Arial"/>
            </a:endParaRPr>
          </a:p>
        </p:txBody>
      </p:sp>
      <p:sp>
        <p:nvSpPr>
          <p:cNvPr id="407" name="Google Shape;407;g35c6db477ef_0_1004"/>
          <p:cNvSpPr txBox="1"/>
          <p:nvPr/>
        </p:nvSpPr>
        <p:spPr>
          <a:xfrm>
            <a:off x="4331791" y="5283493"/>
            <a:ext cx="5364000" cy="6156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DUDAS</a:t>
            </a:r>
            <a:endParaRPr b="0" i="0" sz="1100" u="none" cap="none" strike="noStrike">
              <a:solidFill>
                <a:schemeClr val="lt1"/>
              </a:solidFill>
              <a:latin typeface="Arial"/>
              <a:ea typeface="Arial"/>
              <a:cs typeface="Arial"/>
              <a:sym typeface="Arial"/>
            </a:endParaRPr>
          </a:p>
        </p:txBody>
      </p:sp>
      <p:sp>
        <p:nvSpPr>
          <p:cNvPr id="408" name="Google Shape;408;g35c6db477ef_0_1004"/>
          <p:cNvSpPr/>
          <p:nvPr/>
        </p:nvSpPr>
        <p:spPr>
          <a:xfrm>
            <a:off x="11171001" y="822960"/>
            <a:ext cx="2205814" cy="3016776"/>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5">
              <a:alphaModFix/>
            </a:blip>
            <a:stretch>
              <a:fillRect b="0" l="0" r="0" t="0"/>
            </a:stretch>
          </a:blipFill>
          <a:ln>
            <a:noFill/>
          </a:ln>
        </p:spPr>
      </p:sp>
      <p:sp>
        <p:nvSpPr>
          <p:cNvPr id="409" name="Google Shape;409;g35c6db477ef_0_1004"/>
          <p:cNvSpPr txBox="1"/>
          <p:nvPr/>
        </p:nvSpPr>
        <p:spPr>
          <a:xfrm>
            <a:off x="1928878" y="6319788"/>
            <a:ext cx="10772700" cy="6108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RECUERDA QUE TENEMOS NUESTRO FORO SEMANAL DONDE PUEDES CONSULTAR CUALQUIER DUDA QUE TE SURJA EN LA SEMANA</a:t>
            </a:r>
            <a:endParaRPr b="0" i="0" sz="11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2024-11-03T23:58:36Z</dcterms:created>
  <dc:creator>PptxGenJS</dc:creator>
</cp:coreProperties>
</file>