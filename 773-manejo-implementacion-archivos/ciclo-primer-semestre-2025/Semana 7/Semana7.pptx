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y="6858000" cx="12192000"/>
  <p:notesSz cx="6858000" cy="9144000"/>
  <p:embeddedFontLst>
    <p:embeddedFont>
      <p:font typeface="Libre Franklin"/>
      <p:regular r:id="rId55"/>
      <p:bold r:id="rId56"/>
      <p:italic r:id="rId57"/>
      <p:boldItalic r:id="rId58"/>
    </p:embeddedFont>
    <p:embeddedFont>
      <p:font typeface="Franklin Gothic"/>
      <p:bold r:id="rId59"/>
    </p:embeddedFont>
    <p:embeddedFont>
      <p:font typeface="Inter"/>
      <p:regular r:id="rId60"/>
      <p:bold r:id="rId61"/>
      <p:italic r:id="rId62"/>
      <p:boldItalic r:id="rId63"/>
    </p:embeddedFont>
    <p:embeddedFont>
      <p:font typeface="Open Sans"/>
      <p:regular r:id="rId64"/>
      <p:bold r:id="rId65"/>
      <p:italic r:id="rId66"/>
      <p:boldItalic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8" roundtripDataSignature="AMtx7miFzDc5Fj4nmQYBTgn43YDfqGxV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DFF1D5C-998D-4E89-8581-255050E093EF}">
  <a:tblStyle styleId="{FDFF1D5C-998D-4E89-8581-255050E093E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Inter-italic.fntdata"/><Relationship Id="rId61" Type="http://schemas.openxmlformats.org/officeDocument/2006/relationships/font" Target="fonts/Inter-bold.fntdata"/><Relationship Id="rId20" Type="http://schemas.openxmlformats.org/officeDocument/2006/relationships/slide" Target="slides/slide14.xml"/><Relationship Id="rId64" Type="http://schemas.openxmlformats.org/officeDocument/2006/relationships/font" Target="fonts/OpenSans-regular.fntdata"/><Relationship Id="rId63" Type="http://schemas.openxmlformats.org/officeDocument/2006/relationships/font" Target="fonts/Inter-boldItalic.fntdata"/><Relationship Id="rId22" Type="http://schemas.openxmlformats.org/officeDocument/2006/relationships/slide" Target="slides/slide16.xml"/><Relationship Id="rId66" Type="http://schemas.openxmlformats.org/officeDocument/2006/relationships/font" Target="fonts/OpenSans-italic.fntdata"/><Relationship Id="rId21" Type="http://schemas.openxmlformats.org/officeDocument/2006/relationships/slide" Target="slides/slide15.xml"/><Relationship Id="rId65" Type="http://schemas.openxmlformats.org/officeDocument/2006/relationships/font" Target="fonts/OpenSans-bold.fntdata"/><Relationship Id="rId24" Type="http://schemas.openxmlformats.org/officeDocument/2006/relationships/slide" Target="slides/slide18.xml"/><Relationship Id="rId68" Type="http://customschemas.google.com/relationships/presentationmetadata" Target="metadata"/><Relationship Id="rId23" Type="http://schemas.openxmlformats.org/officeDocument/2006/relationships/slide" Target="slides/slide17.xml"/><Relationship Id="rId67" Type="http://schemas.openxmlformats.org/officeDocument/2006/relationships/font" Target="fonts/OpenSans-boldItalic.fntdata"/><Relationship Id="rId60" Type="http://schemas.openxmlformats.org/officeDocument/2006/relationships/font" Target="fonts/Inter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LibreFranklin-regular.fntdata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LibreFranklin-italic.fntdata"/><Relationship Id="rId12" Type="http://schemas.openxmlformats.org/officeDocument/2006/relationships/slide" Target="slides/slide6.xml"/><Relationship Id="rId56" Type="http://schemas.openxmlformats.org/officeDocument/2006/relationships/font" Target="fonts/LibreFranklin-bold.fntdata"/><Relationship Id="rId15" Type="http://schemas.openxmlformats.org/officeDocument/2006/relationships/slide" Target="slides/slide9.xml"/><Relationship Id="rId59" Type="http://schemas.openxmlformats.org/officeDocument/2006/relationships/font" Target="fonts/FranklinGothic-bold.fntdata"/><Relationship Id="rId14" Type="http://schemas.openxmlformats.org/officeDocument/2006/relationships/slide" Target="slides/slide8.xml"/><Relationship Id="rId58" Type="http://schemas.openxmlformats.org/officeDocument/2006/relationships/font" Target="fonts/LibreFranklin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3" name="Google Shape;20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2" name="Google Shape;652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0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7" name="Google Shape;17;p50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8" name="Google Shape;18;p50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5"/>
          <p:cNvSpPr txBox="1"/>
          <p:nvPr>
            <p:ph type="ctrTitle"/>
          </p:nvPr>
        </p:nvSpPr>
        <p:spPr>
          <a:xfrm>
            <a:off x="457200" y="1420283"/>
            <a:ext cx="5181600" cy="9800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5"/>
          <p:cNvSpPr txBox="1"/>
          <p:nvPr>
            <p:ph idx="1" type="subTitle"/>
          </p:nvPr>
        </p:nvSpPr>
        <p:spPr>
          <a:xfrm>
            <a:off x="914400" y="2590800"/>
            <a:ext cx="4267200" cy="1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65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3" name="Google Shape;23;p65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4" name="Google Shape;24;p65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6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6"/>
          <p:cNvSpPr txBox="1"/>
          <p:nvPr>
            <p:ph idx="1" type="body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66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9" name="Google Shape;29;p66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30" name="Google Shape;30;p66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7"/>
          <p:cNvSpPr txBox="1"/>
          <p:nvPr>
            <p:ph type="title"/>
          </p:nvPr>
        </p:nvSpPr>
        <p:spPr>
          <a:xfrm>
            <a:off x="481542" y="2937934"/>
            <a:ext cx="5181600" cy="908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2667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7"/>
          <p:cNvSpPr txBox="1"/>
          <p:nvPr>
            <p:ph idx="1" type="body"/>
          </p:nvPr>
        </p:nvSpPr>
        <p:spPr>
          <a:xfrm>
            <a:off x="481542" y="1937809"/>
            <a:ext cx="51816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1333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2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13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067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67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35" name="Google Shape;35;p67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36" name="Google Shape;36;p67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8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8"/>
          <p:cNvSpPr txBox="1"/>
          <p:nvPr>
            <p:ph idx="1" type="body"/>
          </p:nvPr>
        </p:nvSpPr>
        <p:spPr>
          <a:xfrm>
            <a:off x="304800" y="1066800"/>
            <a:ext cx="2692400" cy="3017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1867"/>
            </a:lvl1pPr>
            <a:lvl2pPr indent="-3810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1600"/>
            </a:lvl2pPr>
            <a:lvl3pPr indent="-355600" lvl="2" marL="1371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3pPr>
            <a:lvl4pPr indent="-3429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200"/>
            </a:lvl4pPr>
            <a:lvl5pPr indent="-3429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6pPr>
            <a:lvl7pPr indent="-342900" lvl="6" marL="3200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7pPr>
            <a:lvl8pPr indent="-342900" lvl="7" marL="3657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8pPr>
            <a:lvl9pPr indent="-342900" lvl="8" marL="411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9pPr>
          </a:lstStyle>
          <a:p/>
        </p:txBody>
      </p:sp>
      <p:sp>
        <p:nvSpPr>
          <p:cNvPr id="40" name="Google Shape;40;p68"/>
          <p:cNvSpPr txBox="1"/>
          <p:nvPr>
            <p:ph idx="2" type="body"/>
          </p:nvPr>
        </p:nvSpPr>
        <p:spPr>
          <a:xfrm>
            <a:off x="3098800" y="1066800"/>
            <a:ext cx="2692400" cy="3017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1867"/>
            </a:lvl1pPr>
            <a:lvl2pPr indent="-3810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1600"/>
            </a:lvl2pPr>
            <a:lvl3pPr indent="-355600" lvl="2" marL="1371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3pPr>
            <a:lvl4pPr indent="-3429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200"/>
            </a:lvl4pPr>
            <a:lvl5pPr indent="-3429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6pPr>
            <a:lvl7pPr indent="-342900" lvl="6" marL="3200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7pPr>
            <a:lvl8pPr indent="-342900" lvl="7" marL="3657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8pPr>
            <a:lvl9pPr indent="-342900" lvl="8" marL="411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9pPr>
          </a:lstStyle>
          <a:p/>
        </p:txBody>
      </p:sp>
      <p:sp>
        <p:nvSpPr>
          <p:cNvPr id="41" name="Google Shape;41;p68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42" name="Google Shape;42;p68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43" name="Google Shape;43;p68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9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9"/>
          <p:cNvSpPr txBox="1"/>
          <p:nvPr>
            <p:ph idx="1" type="body"/>
          </p:nvPr>
        </p:nvSpPr>
        <p:spPr>
          <a:xfrm>
            <a:off x="304800" y="1023409"/>
            <a:ext cx="2693459" cy="4265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1600"/>
            </a:lvl1pPr>
            <a:lvl2pPr indent="-228600" lvl="1" marL="9144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1333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200"/>
            </a:lvl3pPr>
            <a:lvl4pPr indent="-228600" lvl="3" marL="1828800" algn="l">
              <a:lnSpc>
                <a:spcPct val="100000"/>
              </a:lnSpc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067"/>
            </a:lvl4pPr>
            <a:lvl5pPr indent="-228600" lvl="4" marL="2286000" algn="l">
              <a:lnSpc>
                <a:spcPct val="100000"/>
              </a:lnSpc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067"/>
            </a:lvl5pPr>
            <a:lvl6pPr indent="-228600" lvl="5" marL="2743200" algn="l">
              <a:lnSpc>
                <a:spcPct val="100000"/>
              </a:lnSpc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067"/>
            </a:lvl6pPr>
            <a:lvl7pPr indent="-228600" lvl="6" marL="3200400" algn="l">
              <a:lnSpc>
                <a:spcPct val="100000"/>
              </a:lnSpc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067"/>
            </a:lvl7pPr>
            <a:lvl8pPr indent="-228600" lvl="7" marL="3657600" algn="l">
              <a:lnSpc>
                <a:spcPct val="100000"/>
              </a:lnSpc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067"/>
            </a:lvl8pPr>
            <a:lvl9pPr indent="-228600" lvl="8" marL="4114800" algn="l">
              <a:lnSpc>
                <a:spcPct val="100000"/>
              </a:lnSpc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067"/>
            </a:lvl9pPr>
          </a:lstStyle>
          <a:p/>
        </p:txBody>
      </p:sp>
      <p:sp>
        <p:nvSpPr>
          <p:cNvPr id="47" name="Google Shape;47;p69"/>
          <p:cNvSpPr txBox="1"/>
          <p:nvPr>
            <p:ph idx="2" type="body"/>
          </p:nvPr>
        </p:nvSpPr>
        <p:spPr>
          <a:xfrm>
            <a:off x="304800" y="1449917"/>
            <a:ext cx="2693459" cy="2634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600"/>
            </a:lvl1pPr>
            <a:lvl2pPr indent="-355600" lvl="1" marL="9144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333"/>
            </a:lvl2pPr>
            <a:lvl3pPr indent="-3429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3pPr>
            <a:lvl4pPr indent="-330200" lvl="3" marL="1828800" algn="l">
              <a:lnSpc>
                <a:spcPct val="100000"/>
              </a:lnSpc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067"/>
            </a:lvl4pPr>
            <a:lvl5pPr indent="-330200" lvl="4" marL="2286000" algn="l">
              <a:lnSpc>
                <a:spcPct val="100000"/>
              </a:lnSpc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067"/>
            </a:lvl5pPr>
            <a:lvl6pPr indent="-330200" lvl="5" marL="2743200" algn="l">
              <a:lnSpc>
                <a:spcPct val="100000"/>
              </a:lnSpc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6pPr>
            <a:lvl7pPr indent="-330200" lvl="6" marL="3200400" algn="l">
              <a:lnSpc>
                <a:spcPct val="100000"/>
              </a:lnSpc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7pPr>
            <a:lvl8pPr indent="-330200" lvl="7" marL="3657600" algn="l">
              <a:lnSpc>
                <a:spcPct val="100000"/>
              </a:lnSpc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8pPr>
            <a:lvl9pPr indent="-330200" lvl="8" marL="4114800" algn="l">
              <a:lnSpc>
                <a:spcPct val="100000"/>
              </a:lnSpc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9pPr>
          </a:lstStyle>
          <a:p/>
        </p:txBody>
      </p:sp>
      <p:sp>
        <p:nvSpPr>
          <p:cNvPr id="48" name="Google Shape;48;p69"/>
          <p:cNvSpPr txBox="1"/>
          <p:nvPr>
            <p:ph idx="3" type="body"/>
          </p:nvPr>
        </p:nvSpPr>
        <p:spPr>
          <a:xfrm>
            <a:off x="3096684" y="1023409"/>
            <a:ext cx="2694517" cy="4265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1600"/>
            </a:lvl1pPr>
            <a:lvl2pPr indent="-228600" lvl="1" marL="9144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1333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200"/>
            </a:lvl3pPr>
            <a:lvl4pPr indent="-228600" lvl="3" marL="1828800" algn="l">
              <a:lnSpc>
                <a:spcPct val="100000"/>
              </a:lnSpc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067"/>
            </a:lvl4pPr>
            <a:lvl5pPr indent="-228600" lvl="4" marL="2286000" algn="l">
              <a:lnSpc>
                <a:spcPct val="100000"/>
              </a:lnSpc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067"/>
            </a:lvl5pPr>
            <a:lvl6pPr indent="-228600" lvl="5" marL="2743200" algn="l">
              <a:lnSpc>
                <a:spcPct val="100000"/>
              </a:lnSpc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067"/>
            </a:lvl6pPr>
            <a:lvl7pPr indent="-228600" lvl="6" marL="3200400" algn="l">
              <a:lnSpc>
                <a:spcPct val="100000"/>
              </a:lnSpc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067"/>
            </a:lvl7pPr>
            <a:lvl8pPr indent="-228600" lvl="7" marL="3657600" algn="l">
              <a:lnSpc>
                <a:spcPct val="100000"/>
              </a:lnSpc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067"/>
            </a:lvl8pPr>
            <a:lvl9pPr indent="-228600" lvl="8" marL="4114800" algn="l">
              <a:lnSpc>
                <a:spcPct val="100000"/>
              </a:lnSpc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067"/>
            </a:lvl9pPr>
          </a:lstStyle>
          <a:p/>
        </p:txBody>
      </p:sp>
      <p:sp>
        <p:nvSpPr>
          <p:cNvPr id="49" name="Google Shape;49;p69"/>
          <p:cNvSpPr txBox="1"/>
          <p:nvPr>
            <p:ph idx="4" type="body"/>
          </p:nvPr>
        </p:nvSpPr>
        <p:spPr>
          <a:xfrm>
            <a:off x="3096684" y="1449917"/>
            <a:ext cx="2694517" cy="2634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600"/>
            </a:lvl1pPr>
            <a:lvl2pPr indent="-355600" lvl="1" marL="9144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333"/>
            </a:lvl2pPr>
            <a:lvl3pPr indent="-3429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3pPr>
            <a:lvl4pPr indent="-330200" lvl="3" marL="1828800" algn="l">
              <a:lnSpc>
                <a:spcPct val="100000"/>
              </a:lnSpc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067"/>
            </a:lvl4pPr>
            <a:lvl5pPr indent="-330200" lvl="4" marL="2286000" algn="l">
              <a:lnSpc>
                <a:spcPct val="100000"/>
              </a:lnSpc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067"/>
            </a:lvl5pPr>
            <a:lvl6pPr indent="-330200" lvl="5" marL="2743200" algn="l">
              <a:lnSpc>
                <a:spcPct val="100000"/>
              </a:lnSpc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6pPr>
            <a:lvl7pPr indent="-330200" lvl="6" marL="3200400" algn="l">
              <a:lnSpc>
                <a:spcPct val="100000"/>
              </a:lnSpc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7pPr>
            <a:lvl8pPr indent="-330200" lvl="7" marL="3657600" algn="l">
              <a:lnSpc>
                <a:spcPct val="100000"/>
              </a:lnSpc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8pPr>
            <a:lvl9pPr indent="-330200" lvl="8" marL="4114800" algn="l">
              <a:lnSpc>
                <a:spcPct val="100000"/>
              </a:lnSpc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9pPr>
          </a:lstStyle>
          <a:p/>
        </p:txBody>
      </p:sp>
      <p:sp>
        <p:nvSpPr>
          <p:cNvPr id="50" name="Google Shape;50;p69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51" name="Google Shape;51;p69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52" name="Google Shape;52;p69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0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0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56" name="Google Shape;56;p70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57" name="Google Shape;57;p70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1"/>
          <p:cNvSpPr txBox="1"/>
          <p:nvPr>
            <p:ph type="title"/>
          </p:nvPr>
        </p:nvSpPr>
        <p:spPr>
          <a:xfrm>
            <a:off x="304800" y="182033"/>
            <a:ext cx="2005542" cy="774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13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1"/>
          <p:cNvSpPr txBox="1"/>
          <p:nvPr>
            <p:ph idx="1" type="body"/>
          </p:nvPr>
        </p:nvSpPr>
        <p:spPr>
          <a:xfrm>
            <a:off x="2383367" y="182034"/>
            <a:ext cx="3407833" cy="390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2133"/>
            </a:lvl1pPr>
            <a:lvl2pPr indent="-406400" lvl="1" marL="914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1867"/>
            </a:lvl2pPr>
            <a:lvl3pPr indent="-3810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600"/>
            </a:lvl3pPr>
            <a:lvl4pPr indent="-355600" lvl="3" marL="1828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333"/>
            </a:lvl4pPr>
            <a:lvl5pPr indent="-355600" lvl="4" marL="22860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1333"/>
            </a:lvl5pPr>
            <a:lvl6pPr indent="-355600" lvl="5" marL="27432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6pPr>
            <a:lvl7pPr indent="-355600" lvl="6" marL="32004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7pPr>
            <a:lvl8pPr indent="-355600" lvl="7" marL="3657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8pPr>
            <a:lvl9pPr indent="-355600" lvl="8" marL="411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9pPr>
          </a:lstStyle>
          <a:p/>
        </p:txBody>
      </p:sp>
      <p:sp>
        <p:nvSpPr>
          <p:cNvPr id="61" name="Google Shape;61;p71"/>
          <p:cNvSpPr txBox="1"/>
          <p:nvPr>
            <p:ph idx="2" type="body"/>
          </p:nvPr>
        </p:nvSpPr>
        <p:spPr>
          <a:xfrm>
            <a:off x="304800" y="956734"/>
            <a:ext cx="2005542" cy="3127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933"/>
            </a:lvl1pPr>
            <a:lvl2pPr indent="-228600" lvl="1" marL="914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800"/>
            </a:lvl2pPr>
            <a:lvl3pPr indent="-228600" lvl="2" marL="137160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667"/>
            </a:lvl3pPr>
            <a:lvl4pPr indent="-228600" lvl="3" marL="182880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4pPr>
            <a:lvl5pPr indent="-228600" lvl="4" marL="228600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5pPr>
            <a:lvl6pPr indent="-228600" lvl="5" marL="274320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6pPr>
            <a:lvl7pPr indent="-228600" lvl="6" marL="320040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7pPr>
            <a:lvl8pPr indent="-228600" lvl="7" marL="365760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8pPr>
            <a:lvl9pPr indent="-228600" lvl="8" marL="411480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9pPr>
          </a:lstStyle>
          <a:p/>
        </p:txBody>
      </p:sp>
      <p:sp>
        <p:nvSpPr>
          <p:cNvPr id="62" name="Google Shape;62;p71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63" name="Google Shape;63;p71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64" name="Google Shape;64;p71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2"/>
          <p:cNvSpPr txBox="1"/>
          <p:nvPr>
            <p:ph type="title"/>
          </p:nvPr>
        </p:nvSpPr>
        <p:spPr>
          <a:xfrm>
            <a:off x="1194859" y="3200400"/>
            <a:ext cx="36576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13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2"/>
          <p:cNvSpPr/>
          <p:nvPr>
            <p:ph idx="2" type="pic"/>
          </p:nvPr>
        </p:nvSpPr>
        <p:spPr>
          <a:xfrm>
            <a:off x="1194859" y="408517"/>
            <a:ext cx="3657600" cy="27432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72"/>
          <p:cNvSpPr txBox="1"/>
          <p:nvPr>
            <p:ph idx="1" type="body"/>
          </p:nvPr>
        </p:nvSpPr>
        <p:spPr>
          <a:xfrm>
            <a:off x="1194859" y="3578225"/>
            <a:ext cx="3657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933"/>
            </a:lvl1pPr>
            <a:lvl2pPr indent="-228600" lvl="1" marL="914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800"/>
            </a:lvl2pPr>
            <a:lvl3pPr indent="-228600" lvl="2" marL="137160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667"/>
            </a:lvl3pPr>
            <a:lvl4pPr indent="-228600" lvl="3" marL="182880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4pPr>
            <a:lvl5pPr indent="-228600" lvl="4" marL="228600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5pPr>
            <a:lvl6pPr indent="-228600" lvl="5" marL="274320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6pPr>
            <a:lvl7pPr indent="-228600" lvl="6" marL="320040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7pPr>
            <a:lvl8pPr indent="-228600" lvl="7" marL="365760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8pPr>
            <a:lvl9pPr indent="-228600" lvl="8" marL="411480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9pPr>
          </a:lstStyle>
          <a:p/>
        </p:txBody>
      </p:sp>
      <p:sp>
        <p:nvSpPr>
          <p:cNvPr id="69" name="Google Shape;69;p72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70" name="Google Shape;70;p72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71" name="Google Shape;71;p72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3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3"/>
          <p:cNvSpPr txBox="1"/>
          <p:nvPr>
            <p:ph idx="1" type="body"/>
          </p:nvPr>
        </p:nvSpPr>
        <p:spPr>
          <a:xfrm rot="5400000">
            <a:off x="1539346" y="-167745"/>
            <a:ext cx="3017309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73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76" name="Google Shape;76;p73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77" name="Google Shape;77;p73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4"/>
          <p:cNvSpPr txBox="1"/>
          <p:nvPr>
            <p:ph type="title"/>
          </p:nvPr>
        </p:nvSpPr>
        <p:spPr>
          <a:xfrm rot="5400000">
            <a:off x="3154892" y="1447801"/>
            <a:ext cx="3901017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74"/>
          <p:cNvSpPr txBox="1"/>
          <p:nvPr>
            <p:ph idx="1" type="body"/>
          </p:nvPr>
        </p:nvSpPr>
        <p:spPr>
          <a:xfrm rot="5400000">
            <a:off x="360892" y="127000"/>
            <a:ext cx="3901017" cy="40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74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82" name="Google Shape;82;p74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83" name="Google Shape;83;p74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1">
  <p:cSld name="Título 1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2"/>
          <p:cNvSpPr txBox="1"/>
          <p:nvPr>
            <p:ph type="ctrTitle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b="1" i="0" sz="60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1" name="Google Shape;91;p52"/>
          <p:cNvGrpSpPr/>
          <p:nvPr/>
        </p:nvGrpSpPr>
        <p:grpSpPr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92" name="Google Shape;92;p52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3" name="Google Shape;93;p52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4" name="Google Shape;94;p52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cxnSp>
        <p:nvCxnSpPr>
          <p:cNvPr id="95" name="Google Shape;95;p52"/>
          <p:cNvCxnSpPr/>
          <p:nvPr/>
        </p:nvCxnSpPr>
        <p:spPr>
          <a:xfrm>
            <a:off x="6309360" y="39502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e imagen del título">
  <p:cSld name="Contenido e imagen del título"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3"/>
          <p:cNvSpPr txBox="1"/>
          <p:nvPr>
            <p:ph type="title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3"/>
          <p:cNvSpPr txBox="1"/>
          <p:nvPr>
            <p:ph idx="1" type="body"/>
          </p:nvPr>
        </p:nvSpPr>
        <p:spPr>
          <a:xfrm>
            <a:off x="594360" y="3279579"/>
            <a:ext cx="5044440" cy="2994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86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99" name="Google Shape;99;p53"/>
          <p:cNvCxnSpPr/>
          <p:nvPr/>
        </p:nvCxnSpPr>
        <p:spPr>
          <a:xfrm>
            <a:off x="594360" y="2997459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" name="Google Shape;100;p53"/>
          <p:cNvSpPr/>
          <p:nvPr>
            <p:ph idx="2" type="pic"/>
          </p:nvPr>
        </p:nvSpPr>
        <p:spPr>
          <a:xfrm>
            <a:off x="6096000" y="0"/>
            <a:ext cx="6118225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53"/>
          <p:cNvSpPr txBox="1"/>
          <p:nvPr>
            <p:ph idx="12" type="sldNum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02" name="Google Shape;102;p53"/>
          <p:cNvSpPr txBox="1"/>
          <p:nvPr>
            <p:ph idx="10" type="dt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">
  <p:cSld name="Título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4"/>
          <p:cNvSpPr txBox="1"/>
          <p:nvPr>
            <p:ph type="ctrTitle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b="1" i="0" sz="60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05" name="Google Shape;105;p54"/>
          <p:cNvGrpSpPr/>
          <p:nvPr/>
        </p:nvGrpSpPr>
        <p:grpSpPr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6" name="Google Shape;106;p54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7" name="Google Shape;107;p54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8" name="Google Shape;108;p54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cxnSp>
        <p:nvCxnSpPr>
          <p:cNvPr id="109" name="Google Shape;109;p54"/>
          <p:cNvCxnSpPr/>
          <p:nvPr/>
        </p:nvCxnSpPr>
        <p:spPr>
          <a:xfrm>
            <a:off x="6309360" y="39502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0" name="Google Shape;110;p54"/>
          <p:cNvSpPr txBox="1"/>
          <p:nvPr>
            <p:ph idx="1" type="body"/>
          </p:nvPr>
        </p:nvSpPr>
        <p:spPr>
          <a:xfrm>
            <a:off x="6309905" y="4549552"/>
            <a:ext cx="5486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2400"/>
              <a:buNone/>
              <a:defRPr b="1" i="0" sz="2400">
                <a:solidFill>
                  <a:srgbClr val="5D7C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ntenidos 2">
  <p:cSld name="Título y dos contenidos 2"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55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13" name="Google Shape;113;p55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4" name="Google Shape;114;p55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5" name="Google Shape;115;p55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16" name="Google Shape;116;p55"/>
          <p:cNvSpPr txBox="1"/>
          <p:nvPr>
            <p:ph type="title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55"/>
          <p:cNvSpPr txBox="1"/>
          <p:nvPr>
            <p:ph idx="1" type="body"/>
          </p:nvPr>
        </p:nvSpPr>
        <p:spPr>
          <a:xfrm>
            <a:off x="594360" y="2676525"/>
            <a:ext cx="4490827" cy="3597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55"/>
          <p:cNvSpPr txBox="1"/>
          <p:nvPr>
            <p:ph idx="2" type="body"/>
          </p:nvPr>
        </p:nvSpPr>
        <p:spPr>
          <a:xfrm>
            <a:off x="5881898" y="2676525"/>
            <a:ext cx="4490827" cy="3597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55"/>
          <p:cNvSpPr txBox="1"/>
          <p:nvPr>
            <p:ph idx="12" type="sldNum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20" name="Google Shape;120;p55"/>
          <p:cNvSpPr txBox="1"/>
          <p:nvPr>
            <p:ph idx="10" type="dt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1" name="Google Shape;121;p55"/>
          <p:cNvCxnSpPr/>
          <p:nvPr/>
        </p:nvCxnSpPr>
        <p:spPr>
          <a:xfrm>
            <a:off x="594360" y="2148840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y tabla del título">
  <p:cSld name="Contenido y tabla del título"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56"/>
          <p:cNvGrpSpPr/>
          <p:nvPr/>
        </p:nvGrpSpPr>
        <p:grpSpPr>
          <a:xfrm flipH="1" rot="5400000">
            <a:off x="0" y="3900132"/>
            <a:ext cx="2959226" cy="2959226"/>
            <a:chOff x="0" y="12289"/>
            <a:chExt cx="3550" cy="3551"/>
          </a:xfrm>
        </p:grpSpPr>
        <p:sp>
          <p:nvSpPr>
            <p:cNvPr id="124" name="Google Shape;124;p56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25" name="Google Shape;125;p56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26" name="Google Shape;126;p56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27" name="Google Shape;127;p56"/>
          <p:cNvSpPr txBox="1"/>
          <p:nvPr>
            <p:ph type="title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8" name="Google Shape;128;p56"/>
          <p:cNvCxnSpPr/>
          <p:nvPr/>
        </p:nvCxnSpPr>
        <p:spPr>
          <a:xfrm>
            <a:off x="3670935" y="6313170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56"/>
          <p:cNvSpPr txBox="1"/>
          <p:nvPr>
            <p:ph idx="1" type="body"/>
          </p:nvPr>
        </p:nvSpPr>
        <p:spPr>
          <a:xfrm>
            <a:off x="603885" y="584005"/>
            <a:ext cx="2825115" cy="3999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2743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indent="-228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56"/>
          <p:cNvSpPr txBox="1"/>
          <p:nvPr>
            <p:ph idx="2" type="body"/>
          </p:nvPr>
        </p:nvSpPr>
        <p:spPr>
          <a:xfrm>
            <a:off x="3670934" y="584005"/>
            <a:ext cx="7926705" cy="3999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56"/>
          <p:cNvSpPr txBox="1"/>
          <p:nvPr>
            <p:ph idx="12" type="sldNum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32" name="Google Shape;132;p56"/>
          <p:cNvSpPr txBox="1"/>
          <p:nvPr>
            <p:ph idx="10" type="dt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ontenido ">
  <p:cSld name="Título y contenido "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oogle Shape;134;p57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35" name="Google Shape;135;p57"/>
            <p:cNvSpPr/>
            <p:nvPr/>
          </p:nvSpPr>
          <p:spPr>
            <a:xfrm>
              <a:off x="5612972" y="1"/>
              <a:ext cx="4408998" cy="3672246"/>
            </a:xfrm>
            <a:custGeom>
              <a:rect b="b" l="l" r="r" t="t"/>
              <a:pathLst>
                <a:path extrusionOk="0" h="2980" w="3578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6" name="Google Shape;136;p57"/>
            <p:cNvSpPr/>
            <p:nvPr/>
          </p:nvSpPr>
          <p:spPr>
            <a:xfrm>
              <a:off x="6341233" y="1463970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7" name="Google Shape;137;p57"/>
            <p:cNvSpPr/>
            <p:nvPr/>
          </p:nvSpPr>
          <p:spPr>
            <a:xfrm>
              <a:off x="8555590" y="1"/>
              <a:ext cx="1457754" cy="729520"/>
            </a:xfrm>
            <a:custGeom>
              <a:rect b="b" l="l" r="r" t="t"/>
              <a:pathLst>
                <a:path extrusionOk="0" h="592" w="1183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8" name="Google Shape;138;p57"/>
            <p:cNvSpPr/>
            <p:nvPr/>
          </p:nvSpPr>
          <p:spPr>
            <a:xfrm>
              <a:off x="7076887" y="728289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9" name="Google Shape;139;p57"/>
            <p:cNvSpPr/>
            <p:nvPr/>
          </p:nvSpPr>
          <p:spPr>
            <a:xfrm>
              <a:off x="9285083" y="728289"/>
              <a:ext cx="2943850" cy="2943958"/>
            </a:xfrm>
            <a:custGeom>
              <a:rect b="b" l="l" r="r" t="t"/>
              <a:pathLst>
                <a:path extrusionOk="0" h="2389" w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40" name="Google Shape;140;p57"/>
          <p:cNvSpPr txBox="1"/>
          <p:nvPr>
            <p:ph type="title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41" name="Google Shape;141;p57"/>
          <p:cNvCxnSpPr/>
          <p:nvPr/>
        </p:nvCxnSpPr>
        <p:spPr>
          <a:xfrm>
            <a:off x="6347460" y="6313170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2" name="Google Shape;142;p57"/>
          <p:cNvSpPr txBox="1"/>
          <p:nvPr>
            <p:ph idx="1" type="body"/>
          </p:nvPr>
        </p:nvSpPr>
        <p:spPr>
          <a:xfrm>
            <a:off x="603885" y="457201"/>
            <a:ext cx="5198269" cy="2305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2743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AutoNum type="arabicPeriod"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AutoNum type="alphaLcPeriod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AutoNum type="arabicParenR"/>
              <a:defRPr sz="2000"/>
            </a:lvl3pPr>
            <a:lvl4pPr indent="-228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None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AutoNum type="arabicPeriod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57"/>
          <p:cNvSpPr txBox="1"/>
          <p:nvPr>
            <p:ph idx="2" type="body"/>
          </p:nvPr>
        </p:nvSpPr>
        <p:spPr>
          <a:xfrm>
            <a:off x="594360" y="2810595"/>
            <a:ext cx="5198269" cy="3319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57"/>
          <p:cNvSpPr txBox="1"/>
          <p:nvPr>
            <p:ph idx="12" type="sldNum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45" name="Google Shape;145;p57"/>
          <p:cNvSpPr txBox="1"/>
          <p:nvPr>
            <p:ph idx="10" type="dt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a 2">
  <p:cSld name="Tabla 2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8"/>
          <p:cNvSpPr txBox="1"/>
          <p:nvPr>
            <p:ph type="title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58"/>
          <p:cNvSpPr txBox="1"/>
          <p:nvPr>
            <p:ph idx="12" type="sldNum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49" name="Google Shape;149;p58"/>
          <p:cNvSpPr txBox="1"/>
          <p:nvPr>
            <p:ph idx="10" type="dt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50" name="Google Shape;150;p58"/>
          <p:cNvCxnSpPr/>
          <p:nvPr/>
        </p:nvCxnSpPr>
        <p:spPr>
          <a:xfrm>
            <a:off x="594360" y="2148840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ntenidos">
  <p:cSld name="Título y dos contenidos"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59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53" name="Google Shape;153;p59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54" name="Google Shape;154;p59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55" name="Google Shape;155;p59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56" name="Google Shape;156;p59"/>
          <p:cNvSpPr txBox="1"/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57" name="Google Shape;157;p59"/>
          <p:cNvCxnSpPr/>
          <p:nvPr/>
        </p:nvCxnSpPr>
        <p:spPr>
          <a:xfrm>
            <a:off x="594360" y="2148840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8" name="Google Shape;158;p59"/>
          <p:cNvSpPr txBox="1"/>
          <p:nvPr>
            <p:ph idx="1" type="body"/>
          </p:nvPr>
        </p:nvSpPr>
        <p:spPr>
          <a:xfrm>
            <a:off x="595523" y="2676525"/>
            <a:ext cx="5746750" cy="3597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59"/>
          <p:cNvSpPr txBox="1"/>
          <p:nvPr>
            <p:ph idx="2" type="body"/>
          </p:nvPr>
        </p:nvSpPr>
        <p:spPr>
          <a:xfrm>
            <a:off x="7620000" y="2676525"/>
            <a:ext cx="3947160" cy="3597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0" name="Google Shape;160;p59"/>
          <p:cNvSpPr txBox="1"/>
          <p:nvPr>
            <p:ph idx="10" type="dt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59"/>
          <p:cNvSpPr txBox="1"/>
          <p:nvPr>
            <p:ph idx="12" type="sldNum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2">
  <p:cSld name="Título 2"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0"/>
          <p:cNvSpPr txBox="1"/>
          <p:nvPr>
            <p:ph type="ctrTitle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b="1" i="0" sz="60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60"/>
          <p:cNvSpPr/>
          <p:nvPr>
            <p:ph idx="2" type="pic"/>
          </p:nvPr>
        </p:nvSpPr>
        <p:spPr>
          <a:xfrm>
            <a:off x="0" y="-11113"/>
            <a:ext cx="5791200" cy="6880226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p60"/>
          <p:cNvSpPr txBox="1"/>
          <p:nvPr>
            <p:ph idx="1" type="body"/>
          </p:nvPr>
        </p:nvSpPr>
        <p:spPr>
          <a:xfrm>
            <a:off x="6299835" y="4568602"/>
            <a:ext cx="5486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2400"/>
              <a:buNone/>
              <a:defRPr b="1" i="0" sz="2400">
                <a:solidFill>
                  <a:srgbClr val="5D7C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66" name="Google Shape;166;p60"/>
          <p:cNvCxnSpPr/>
          <p:nvPr/>
        </p:nvCxnSpPr>
        <p:spPr>
          <a:xfrm>
            <a:off x="6309360" y="39502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1">
  <p:cSld name="Agenda 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61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69" name="Google Shape;169;p61"/>
            <p:cNvSpPr/>
            <p:nvPr/>
          </p:nvSpPr>
          <p:spPr>
            <a:xfrm>
              <a:off x="5612972" y="1"/>
              <a:ext cx="4408998" cy="3672246"/>
            </a:xfrm>
            <a:custGeom>
              <a:rect b="b" l="l" r="r" t="t"/>
              <a:pathLst>
                <a:path extrusionOk="0" h="2980" w="3578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70" name="Google Shape;170;p61"/>
            <p:cNvSpPr/>
            <p:nvPr/>
          </p:nvSpPr>
          <p:spPr>
            <a:xfrm>
              <a:off x="6341233" y="1463970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71" name="Google Shape;171;p61"/>
            <p:cNvSpPr/>
            <p:nvPr/>
          </p:nvSpPr>
          <p:spPr>
            <a:xfrm>
              <a:off x="8555590" y="1"/>
              <a:ext cx="1457754" cy="729520"/>
            </a:xfrm>
            <a:custGeom>
              <a:rect b="b" l="l" r="r" t="t"/>
              <a:pathLst>
                <a:path extrusionOk="0" h="592" w="1183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72" name="Google Shape;172;p61"/>
            <p:cNvSpPr/>
            <p:nvPr/>
          </p:nvSpPr>
          <p:spPr>
            <a:xfrm>
              <a:off x="7076887" y="728289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73" name="Google Shape;173;p61"/>
            <p:cNvSpPr/>
            <p:nvPr/>
          </p:nvSpPr>
          <p:spPr>
            <a:xfrm>
              <a:off x="9285083" y="728289"/>
              <a:ext cx="2943850" cy="2943958"/>
            </a:xfrm>
            <a:custGeom>
              <a:rect b="b" l="l" r="r" t="t"/>
              <a:pathLst>
                <a:path extrusionOk="0" h="2389" w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74" name="Google Shape;174;p61"/>
          <p:cNvSpPr txBox="1"/>
          <p:nvPr>
            <p:ph type="title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61"/>
          <p:cNvSpPr txBox="1"/>
          <p:nvPr>
            <p:ph idx="1" type="body"/>
          </p:nvPr>
        </p:nvSpPr>
        <p:spPr>
          <a:xfrm>
            <a:off x="594359" y="2281918"/>
            <a:ext cx="6787747" cy="37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8600">
            <a:normAutofit/>
          </a:bodyPr>
          <a:lstStyle>
            <a:lvl1pPr indent="-381000" lvl="0" marL="457200" algn="l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rgbClr val="5D7C3F"/>
              </a:buClr>
              <a:buSzPts val="2400"/>
              <a:buFont typeface="Arial"/>
              <a:buChar char="•"/>
              <a:defRPr b="1" i="0" sz="2400">
                <a:solidFill>
                  <a:srgbClr val="5D7C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55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p61"/>
          <p:cNvSpPr txBox="1"/>
          <p:nvPr>
            <p:ph idx="12" type="sldNum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77" name="Google Shape;177;p61"/>
          <p:cNvSpPr txBox="1"/>
          <p:nvPr>
            <p:ph idx="10" type="dt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78" name="Google Shape;178;p61"/>
          <p:cNvCxnSpPr/>
          <p:nvPr/>
        </p:nvCxnSpPr>
        <p:spPr>
          <a:xfrm>
            <a:off x="594360" y="2148840"/>
            <a:ext cx="2130552" cy="0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sumen 2">
  <p:cSld name="Resumen 2"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62"/>
          <p:cNvCxnSpPr/>
          <p:nvPr/>
        </p:nvCxnSpPr>
        <p:spPr>
          <a:xfrm>
            <a:off x="594360" y="2148840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81" name="Google Shape;181;p62"/>
          <p:cNvGrpSpPr/>
          <p:nvPr/>
        </p:nvGrpSpPr>
        <p:grpSpPr>
          <a:xfrm flipH="1" rot="5400000">
            <a:off x="0" y="3900132"/>
            <a:ext cx="2959226" cy="2959226"/>
            <a:chOff x="0" y="12289"/>
            <a:chExt cx="3550" cy="3551"/>
          </a:xfrm>
        </p:grpSpPr>
        <p:sp>
          <p:nvSpPr>
            <p:cNvPr id="182" name="Google Shape;182;p62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3" name="Google Shape;183;p62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4" name="Google Shape;184;p62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85" name="Google Shape;185;p62"/>
          <p:cNvSpPr txBox="1"/>
          <p:nvPr>
            <p:ph type="title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62"/>
          <p:cNvSpPr txBox="1"/>
          <p:nvPr>
            <p:ph idx="1" type="body"/>
          </p:nvPr>
        </p:nvSpPr>
        <p:spPr>
          <a:xfrm>
            <a:off x="3657600" y="2282008"/>
            <a:ext cx="7810500" cy="3699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86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62"/>
          <p:cNvSpPr txBox="1"/>
          <p:nvPr>
            <p:ph idx="12" type="sldNum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88" name="Google Shape;188;p62"/>
          <p:cNvSpPr txBox="1"/>
          <p:nvPr>
            <p:ph idx="10" type="dt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de sección">
  <p:cSld name="Título de sección">
    <p:bg>
      <p:bgPr>
        <a:solidFill>
          <a:schemeClr val="accent3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3"/>
          <p:cNvSpPr/>
          <p:nvPr>
            <p:ph idx="2" type="pic"/>
          </p:nvPr>
        </p:nvSpPr>
        <p:spPr>
          <a:xfrm>
            <a:off x="0" y="0"/>
            <a:ext cx="12192000" cy="6880543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63"/>
          <p:cNvSpPr txBox="1"/>
          <p:nvPr>
            <p:ph type="title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ranklin Gothic"/>
              <a:buNone/>
              <a:defRPr b="1" i="0" sz="60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63"/>
          <p:cNvSpPr/>
          <p:nvPr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104">
          <p15:clr>
            <a:srgbClr val="FBAE40"/>
          </p15:clr>
        </p15:guide>
        <p15:guide id="2" pos="4344">
          <p15:clr>
            <a:srgbClr val="FBAE40"/>
          </p15:clr>
        </p15:guide>
        <p15:guide id="3" pos="4560">
          <p15:clr>
            <a:srgbClr val="FBAE40"/>
          </p15:clr>
        </p15:guide>
        <p15:guide id="4" orient="horz" pos="184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3">
  <p:cSld name="Título 3">
    <p:bg>
      <p:bgPr>
        <a:solidFill>
          <a:schemeClr val="lt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4"/>
          <p:cNvSpPr txBox="1"/>
          <p:nvPr>
            <p:ph type="ctrTitle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b="1" i="0" sz="60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95" name="Google Shape;195;p64"/>
          <p:cNvGrpSpPr/>
          <p:nvPr/>
        </p:nvGrpSpPr>
        <p:grpSpPr>
          <a:xfrm rot="10800000">
            <a:off x="6092752" y="0"/>
            <a:ext cx="6099248" cy="6099248"/>
            <a:chOff x="0" y="12289"/>
            <a:chExt cx="3550" cy="3551"/>
          </a:xfrm>
        </p:grpSpPr>
        <p:sp>
          <p:nvSpPr>
            <p:cNvPr id="196" name="Google Shape;196;p64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7" name="Google Shape;197;p64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8" name="Google Shape;198;p64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99" name="Google Shape;199;p64"/>
          <p:cNvSpPr txBox="1"/>
          <p:nvPr>
            <p:ph idx="1" type="body"/>
          </p:nvPr>
        </p:nvSpPr>
        <p:spPr>
          <a:xfrm>
            <a:off x="594360" y="4549552"/>
            <a:ext cx="5486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2400"/>
              <a:buNone/>
              <a:defRPr b="1" i="0" sz="2400">
                <a:solidFill>
                  <a:srgbClr val="5D7C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00" name="Google Shape;200;p64"/>
          <p:cNvCxnSpPr/>
          <p:nvPr/>
        </p:nvCxnSpPr>
        <p:spPr>
          <a:xfrm>
            <a:off x="594360" y="39502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9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9"/>
          <p:cNvSpPr txBox="1"/>
          <p:nvPr>
            <p:ph idx="1" type="body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9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9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9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Clr>
                <a:srgbClr val="888888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1"/>
          <p:cNvSpPr txBox="1"/>
          <p:nvPr>
            <p:ph idx="1" type="body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6" name="Google Shape;86;p51"/>
          <p:cNvSpPr txBox="1"/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7" name="Google Shape;87;p51"/>
          <p:cNvSpPr txBox="1"/>
          <p:nvPr>
            <p:ph idx="10" type="dt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8" name="Google Shape;88;p51"/>
          <p:cNvSpPr txBox="1"/>
          <p:nvPr>
            <p:ph idx="12" type="sldNum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Relationship Id="rId4" Type="http://schemas.openxmlformats.org/officeDocument/2006/relationships/image" Target="../media/image38.png"/><Relationship Id="rId5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0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0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7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3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8.png"/><Relationship Id="rId4" Type="http://schemas.openxmlformats.org/officeDocument/2006/relationships/image" Target="../media/image3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5.jpg"/><Relationship Id="rId4" Type="http://schemas.openxmlformats.org/officeDocument/2006/relationships/image" Target="../media/image41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6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2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8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"/>
          <p:cNvSpPr/>
          <p:nvPr/>
        </p:nvSpPr>
        <p:spPr>
          <a:xfrm>
            <a:off x="0" y="-1"/>
            <a:ext cx="12169465" cy="6858001"/>
          </a:xfrm>
          <a:custGeom>
            <a:rect b="b" l="l" r="r" t="t"/>
            <a:pathLst>
              <a:path extrusionOk="0" h="10287002" w="18254198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r>
              <a:t/>
            </a:r>
            <a:endParaRPr b="0" i="0" sz="9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6" name="Google Shape;206;p1"/>
          <p:cNvGraphicFramePr/>
          <p:nvPr/>
        </p:nvGraphicFramePr>
        <p:xfrm>
          <a:off x="7104267" y="12933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{FDFF1D5C-998D-4E89-8581-255050E093EF}</a:tableStyleId>
              </a:tblPr>
              <a:tblGrid>
                <a:gridCol w="2020125"/>
                <a:gridCol w="2890550"/>
              </a:tblGrid>
              <a:tr h="4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s-MX" sz="1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700" u="none" cap="none" strike="noStrike"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s-MX" sz="1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b="1" lang="es-MX" sz="1900"/>
                        <a:t>00</a:t>
                      </a:r>
                      <a:r>
                        <a:rPr b="1" lang="es-MX" sz="1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/0</a:t>
                      </a:r>
                      <a:r>
                        <a:rPr b="1" lang="es-MX" sz="1900"/>
                        <a:t>0</a:t>
                      </a:r>
                      <a:endParaRPr sz="700" u="none" cap="none" strike="noStrike"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s-MX" sz="1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700" u="none" cap="none" strike="noStrike"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s-MX" sz="1900"/>
                        <a:t>00</a:t>
                      </a:r>
                      <a:r>
                        <a:rPr b="1" lang="es-MX" sz="1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:00</a:t>
                      </a:r>
                      <a:endParaRPr sz="700" u="none" cap="none" strike="noStrike"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7" name="Google Shape;207;p1"/>
          <p:cNvSpPr txBox="1"/>
          <p:nvPr/>
        </p:nvSpPr>
        <p:spPr>
          <a:xfrm>
            <a:off x="1981183" y="3008517"/>
            <a:ext cx="8934100" cy="615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Font typeface="Arial"/>
              <a:buNone/>
            </a:pPr>
            <a:r>
              <a:rPr b="0" i="0" lang="es-MX" sz="33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Manejo e Implementación de Archivos C</a:t>
            </a:r>
            <a:endParaRPr b="0" i="0" sz="9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"/>
          <p:cNvSpPr txBox="1"/>
          <p:nvPr/>
        </p:nvSpPr>
        <p:spPr>
          <a:xfrm>
            <a:off x="6350782" y="3908834"/>
            <a:ext cx="45645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MX" sz="2667"/>
              <a:t>xxxxxxxxxxxxxxxxxxxxxxxx</a:t>
            </a:r>
            <a:endParaRPr b="0" i="0" sz="9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"/>
          <p:cNvSpPr txBox="1"/>
          <p:nvPr>
            <p:ph type="ctrTitle"/>
          </p:nvPr>
        </p:nvSpPr>
        <p:spPr>
          <a:xfrm>
            <a:off x="4600372" y="398227"/>
            <a:ext cx="6663975" cy="32918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</a:pPr>
            <a:r>
              <a:rPr b="1" i="0" lang="es-MX" sz="60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Tipos de almacenamientos en red</a:t>
            </a:r>
            <a:endParaRPr b="1" i="0" sz="6000" u="none" cap="none" strike="noStrik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15" name="Google Shape;215;p2"/>
          <p:cNvSpPr/>
          <p:nvPr/>
        </p:nvSpPr>
        <p:spPr>
          <a:xfrm>
            <a:off x="8360873" y="0"/>
            <a:ext cx="3831127" cy="1141187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16" name="Google Shape;216;p2"/>
          <p:cNvSpPr txBox="1"/>
          <p:nvPr/>
        </p:nvSpPr>
        <p:spPr>
          <a:xfrm>
            <a:off x="488824" y="4662826"/>
            <a:ext cx="8223096" cy="718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3334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Manejo e implementacion de archivos</a:t>
            </a:r>
            <a:endParaRPr b="1" sz="3334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7" name="Google Shape;217;p2"/>
          <p:cNvSpPr txBox="1"/>
          <p:nvPr/>
        </p:nvSpPr>
        <p:spPr>
          <a:xfrm>
            <a:off x="152278" y="5381164"/>
            <a:ext cx="6129252" cy="358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66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sz="1666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" name="Google Shape;218;p2"/>
          <p:cNvSpPr txBox="1"/>
          <p:nvPr/>
        </p:nvSpPr>
        <p:spPr>
          <a:xfrm>
            <a:off x="337931" y="5740621"/>
            <a:ext cx="5410200" cy="358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66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sz="1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"/>
          <p:cNvSpPr txBox="1"/>
          <p:nvPr>
            <p:ph type="title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b="1" i="0" lang="es-MX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Agenda </a:t>
            </a:r>
            <a:endParaRPr/>
          </a:p>
        </p:txBody>
      </p:sp>
      <p:sp>
        <p:nvSpPr>
          <p:cNvPr id="225" name="Google Shape;225;p3"/>
          <p:cNvSpPr txBox="1"/>
          <p:nvPr>
            <p:ph idx="1" type="body"/>
          </p:nvPr>
        </p:nvSpPr>
        <p:spPr>
          <a:xfrm>
            <a:off x="594360" y="3279579"/>
            <a:ext cx="5044440" cy="2994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2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xxxxxxxxxxxxxxxxxx</a:t>
            </a:r>
            <a:endParaRPr b="0" i="0" sz="20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xxxxxxxxxxxxxxxxxx</a:t>
            </a:r>
            <a:endParaRPr b="0" i="0" sz="20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xxxxxxxxxxxxxxxxxx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xxxxxxxxxxxxxxxxxx</a:t>
            </a:r>
            <a:endParaRPr b="0" i="0" sz="20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descr="Organizadores de diferentes colores" id="226" name="Google Shape;226;p3"/>
          <p:cNvPicPr preferRelativeResize="0"/>
          <p:nvPr/>
        </p:nvPicPr>
        <p:blipFill rotWithShape="1">
          <a:blip r:embed="rId3">
            <a:alphaModFix/>
          </a:blip>
          <a:srcRect b="1" l="23066" r="22960" t="0"/>
          <a:stretch/>
        </p:blipFill>
        <p:spPr>
          <a:xfrm>
            <a:off x="6096000" y="10"/>
            <a:ext cx="6118225" cy="6857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"/>
          <p:cNvSpPr txBox="1"/>
          <p:nvPr>
            <p:ph type="ctrTitle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5400"/>
              <a:buFont typeface="Impact"/>
              <a:buNone/>
            </a:pPr>
            <a:r>
              <a:rPr b="0" i="0" lang="es-MX" sz="54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br>
              <a:rPr b="0" i="0" lang="es-MX" sz="54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</a:br>
            <a:endParaRPr b="0" i="0" sz="5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3" name="Google Shape;233;p4"/>
          <p:cNvSpPr txBox="1"/>
          <p:nvPr>
            <p:ph idx="1" type="body"/>
          </p:nvPr>
        </p:nvSpPr>
        <p:spPr>
          <a:xfrm>
            <a:off x="6309905" y="4549552"/>
            <a:ext cx="5486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7C3F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rgbClr val="5D7C3F"/>
                </a:solidFill>
                <a:latin typeface="Arial"/>
                <a:ea typeface="Arial"/>
                <a:cs typeface="Arial"/>
                <a:sym typeface="Arial"/>
              </a:rPr>
              <a:t>Supervisa el desempeño de sistemas de almacenamiento masivo mediante el uso de herramientas de monitoreo y análisis de métricas para identificar oportunidades de mejora en la disponibilidad, eficiencia y seguridad de los datos </a:t>
            </a:r>
            <a:endParaRPr b="1" i="0" sz="2400" u="none" cap="none" strike="noStrike">
              <a:solidFill>
                <a:srgbClr val="5D7C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"/>
          <p:cNvSpPr txBox="1"/>
          <p:nvPr>
            <p:ph type="title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b="1" i="0" lang="es-MX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Contenido</a:t>
            </a:r>
            <a:endParaRPr b="1" i="0" sz="4400" u="none" cap="none" strike="noStrik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40" name="Google Shape;240;p5"/>
          <p:cNvSpPr txBox="1"/>
          <p:nvPr>
            <p:ph idx="2" type="body"/>
          </p:nvPr>
        </p:nvSpPr>
        <p:spPr>
          <a:xfrm>
            <a:off x="4698298" y="2014538"/>
            <a:ext cx="5674428" cy="42594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El almacenamiento en red es una solución que permite a múltiples usuarios y dispositivos acceder y compartir datos a través de una red.</a:t>
            </a:r>
            <a:endParaRPr/>
          </a:p>
          <a:p>
            <a:pPr indent="-114300" lvl="0" marL="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En la era digital, el volumen de datos generados crece exponencialmente, lo que hace esencial contar con sistemas de almacenamiento eficientes y escalables.</a:t>
            </a:r>
            <a:endParaRPr/>
          </a:p>
          <a:p>
            <a:pPr indent="-114300" lvl="0" marL="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Objetivos de la presentación: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Comprender los diferentes tipos de almacenamiento en red.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Analizar sus ventajas y desventajas.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Identificar casos de uso y tendencias futuras.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241" name="Google Shape;241;p5"/>
          <p:cNvGrpSpPr/>
          <p:nvPr/>
        </p:nvGrpSpPr>
        <p:grpSpPr>
          <a:xfrm>
            <a:off x="1041038" y="2676525"/>
            <a:ext cx="3597470" cy="3597470"/>
            <a:chOff x="0" y="12289"/>
            <a:chExt cx="3550" cy="3551"/>
          </a:xfrm>
        </p:grpSpPr>
        <p:sp>
          <p:nvSpPr>
            <p:cNvPr id="242" name="Google Shape;242;p5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43" name="Google Shape;243;p5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6"/>
          <p:cNvSpPr txBox="1"/>
          <p:nvPr>
            <p:ph type="ctrTitle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"/>
              <a:buNone/>
            </a:pPr>
            <a:r>
              <a:rPr b="1" i="0" lang="es-MX" sz="6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Conceptos básicos</a:t>
            </a:r>
            <a:endParaRPr/>
          </a:p>
        </p:txBody>
      </p:sp>
      <p:sp>
        <p:nvSpPr>
          <p:cNvPr id="251" name="Google Shape;251;p6"/>
          <p:cNvSpPr txBox="1"/>
          <p:nvPr>
            <p:ph idx="1" type="body"/>
          </p:nvPr>
        </p:nvSpPr>
        <p:spPr>
          <a:xfrm>
            <a:off x="6309905" y="4549552"/>
            <a:ext cx="5486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7C3F"/>
              </a:buClr>
              <a:buSzPts val="2400"/>
              <a:buFont typeface="Arial"/>
              <a:buNone/>
            </a:pPr>
            <a:r>
              <a:rPr b="1" i="0" lang="es-MX" sz="2400" u="none" cap="none" strike="noStrike">
                <a:solidFill>
                  <a:srgbClr val="5D7C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Almacenamiento en red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"/>
          <p:cNvSpPr txBox="1"/>
          <p:nvPr>
            <p:ph type="title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b="1" i="0" lang="es-MX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Almacenamiento</a:t>
            </a:r>
            <a:endParaRPr/>
          </a:p>
        </p:txBody>
      </p:sp>
      <p:sp>
        <p:nvSpPr>
          <p:cNvPr id="258" name="Google Shape;258;p7"/>
          <p:cNvSpPr txBox="1"/>
          <p:nvPr>
            <p:ph idx="1" type="body"/>
          </p:nvPr>
        </p:nvSpPr>
        <p:spPr>
          <a:xfrm>
            <a:off x="603885" y="584005"/>
            <a:ext cx="2825115" cy="3999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274300">
            <a:normAutofit/>
          </a:bodyPr>
          <a:lstStyle/>
          <a:p>
            <a:pPr indent="-1270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MX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Diferencias clave: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MX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Acceso</a:t>
            </a:r>
            <a:r>
              <a:rPr b="0" i="0" lang="es-MX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 En red (multiusuario) vs. local (un usuario).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MX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Escalabilidad</a:t>
            </a:r>
            <a:r>
              <a:rPr b="0" i="0" lang="es-MX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 El almacenamiento en red es más fácil de escalar.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259" name="Google Shape;259;p7"/>
          <p:cNvGrpSpPr/>
          <p:nvPr/>
        </p:nvGrpSpPr>
        <p:grpSpPr>
          <a:xfrm>
            <a:off x="3719286" y="783534"/>
            <a:ext cx="7830000" cy="3600001"/>
            <a:chOff x="48352" y="199529"/>
            <a:chExt cx="7830000" cy="3600001"/>
          </a:xfrm>
        </p:grpSpPr>
        <p:sp>
          <p:nvSpPr>
            <p:cNvPr id="260" name="Google Shape;260;p7"/>
            <p:cNvSpPr/>
            <p:nvPr/>
          </p:nvSpPr>
          <p:spPr>
            <a:xfrm>
              <a:off x="750352" y="199529"/>
              <a:ext cx="2196000" cy="2196000"/>
            </a:xfrm>
            <a:prstGeom prst="ellipse">
              <a:avLst/>
            </a:prstGeom>
            <a:solidFill>
              <a:srgbClr val="FDF4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7"/>
            <p:cNvSpPr/>
            <p:nvPr/>
          </p:nvSpPr>
          <p:spPr>
            <a:xfrm>
              <a:off x="1218352" y="667529"/>
              <a:ext cx="1260000" cy="1260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7"/>
            <p:cNvSpPr/>
            <p:nvPr/>
          </p:nvSpPr>
          <p:spPr>
            <a:xfrm>
              <a:off x="48352" y="3079530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7"/>
            <p:cNvSpPr txBox="1"/>
            <p:nvPr/>
          </p:nvSpPr>
          <p:spPr>
            <a:xfrm>
              <a:off x="48352" y="3079530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Libre Franklin"/>
                <a:buNone/>
              </a:pPr>
              <a:r>
                <a:rPr b="1" lang="es-MX" sz="1300" cap="none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ALMACENAMIENTO EN RED</a:t>
              </a:r>
              <a:r>
                <a:rPr lang="es-MX" sz="1300" cap="none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: SISTEMAS QUE PERMITEN ALMACENAR Y ACCEDER A DATOS A TRAVÉS DE UNA RED, EN LUGAR DE HACERLO DIRECTAMENTE DESDE UN DISPOSITIVO LOCAL</a:t>
              </a:r>
              <a:r>
                <a:rPr lang="es-MX" sz="1300" cap="non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.</a:t>
              </a:r>
              <a:endParaRPr sz="13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4" name="Google Shape;264;p7"/>
            <p:cNvSpPr/>
            <p:nvPr/>
          </p:nvSpPr>
          <p:spPr>
            <a:xfrm>
              <a:off x="4980352" y="199529"/>
              <a:ext cx="2196000" cy="2196000"/>
            </a:xfrm>
            <a:prstGeom prst="ellipse">
              <a:avLst/>
            </a:prstGeom>
            <a:solidFill>
              <a:srgbClr val="FDF4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7"/>
            <p:cNvSpPr/>
            <p:nvPr/>
          </p:nvSpPr>
          <p:spPr>
            <a:xfrm>
              <a:off x="5448352" y="667529"/>
              <a:ext cx="1260000" cy="1260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7"/>
            <p:cNvSpPr/>
            <p:nvPr/>
          </p:nvSpPr>
          <p:spPr>
            <a:xfrm>
              <a:off x="4278352" y="3079530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7"/>
            <p:cNvSpPr txBox="1"/>
            <p:nvPr/>
          </p:nvSpPr>
          <p:spPr>
            <a:xfrm>
              <a:off x="4278352" y="3079530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Libre Franklin"/>
                <a:buNone/>
              </a:pPr>
              <a:r>
                <a:rPr b="1" lang="es-MX" sz="1300" cap="none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ALMACENAMIENTO LOCAL</a:t>
              </a:r>
              <a:r>
                <a:rPr lang="es-MX" sz="1300" cap="none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: DATOS ALMACENADOS EN DISPOSITIVOS FÍSICOS CONECTADOS DIRECTAMENTE A UNA COMPUTADORA (EJEMPLO: DISCOS DUROS INTERNOS).</a:t>
              </a:r>
              <a:endParaRPr sz="13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"/>
          <p:cNvSpPr txBox="1"/>
          <p:nvPr>
            <p:ph type="title"/>
          </p:nvPr>
        </p:nvSpPr>
        <p:spPr>
          <a:xfrm>
            <a:off x="6318885" y="3499667"/>
            <a:ext cx="4547897" cy="254281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br>
              <a:rPr b="1" i="0" lang="es-MX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b="1" i="0" lang="es-MX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Beneficios del almacenamiento en red</a:t>
            </a:r>
            <a:br>
              <a:rPr b="1" i="0" lang="es-MX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endParaRPr b="1" i="0" sz="4400" u="none" cap="none" strike="noStrik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74" name="Google Shape;274;p8"/>
          <p:cNvSpPr txBox="1"/>
          <p:nvPr>
            <p:ph idx="1" type="body"/>
          </p:nvPr>
        </p:nvSpPr>
        <p:spPr>
          <a:xfrm>
            <a:off x="564129" y="1232452"/>
            <a:ext cx="5198269" cy="43930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274300">
            <a:normAutofit/>
          </a:bodyPr>
          <a:lstStyle/>
          <a:p>
            <a:pPr indent="-4572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MX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Escalabilidad</a:t>
            </a:r>
            <a:r>
              <a:rPr b="0" i="0" lang="es-MX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 Añadir más capacidad de almacenamiento sin interrumpir operaciones.</a:t>
            </a:r>
            <a:endParaRPr/>
          </a:p>
          <a:p>
            <a:pPr indent="-457200" lvl="0" marL="457200" marR="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MX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Acceso remoto</a:t>
            </a:r>
            <a:r>
              <a:rPr b="0" i="0" lang="es-MX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 Los usuarios pueden acceder a los datos desde cualquier lugar con conexión </a:t>
            </a:r>
            <a:r>
              <a:rPr b="0" i="0" lang="es-MX" sz="2000" u="none" cap="none" strike="noStrike">
                <a:solidFill>
                  <a:srgbClr val="F8FAFF"/>
                </a:solidFill>
                <a:latin typeface="Inter"/>
                <a:ea typeface="Inter"/>
                <a:cs typeface="Inter"/>
                <a:sym typeface="Inter"/>
              </a:rPr>
              <a:t>a la red.</a:t>
            </a:r>
            <a:endParaRPr/>
          </a:p>
          <a:p>
            <a:pPr indent="-457200" lvl="0" marL="457200" marR="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MX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Redundancia y seguridad</a:t>
            </a:r>
            <a:r>
              <a:rPr b="0" i="0" lang="es-MX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 Copias de seguridad automáticas y protección contra pérdida de datos.</a:t>
            </a:r>
            <a:endParaRPr/>
          </a:p>
          <a:p>
            <a:pPr indent="-457200" lvl="0" marL="457200" marR="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MX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Colaboración eficiente</a:t>
            </a:r>
            <a:r>
              <a:rPr b="0" i="0" lang="es-MX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 Múltiples usuarios pueden trabajar en los mismos archivos simultáneamente</a:t>
            </a:r>
            <a:r>
              <a:rPr b="0" i="0" lang="es-MX" sz="2000" u="none" cap="none" strike="noStrike">
                <a:solidFill>
                  <a:srgbClr val="F8FA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  <a:p>
            <a:pPr indent="-330200" lvl="0" marL="4572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"/>
          <p:cNvSpPr txBox="1"/>
          <p:nvPr>
            <p:ph type="title"/>
          </p:nvPr>
        </p:nvSpPr>
        <p:spPr>
          <a:xfrm>
            <a:off x="575310" y="278129"/>
            <a:ext cx="4805073" cy="23540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</a:pPr>
            <a:r>
              <a:rPr b="1" i="0" lang="es-MX" sz="4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Desafíos del almacenamiento en red</a:t>
            </a:r>
            <a:endParaRPr/>
          </a:p>
        </p:txBody>
      </p:sp>
      <p:sp>
        <p:nvSpPr>
          <p:cNvPr id="281" name="Google Shape;281;p9"/>
          <p:cNvSpPr txBox="1"/>
          <p:nvPr>
            <p:ph idx="1" type="body"/>
          </p:nvPr>
        </p:nvSpPr>
        <p:spPr>
          <a:xfrm>
            <a:off x="593725" y="3279775"/>
            <a:ext cx="5188239" cy="2994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86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s-MX" sz="2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La seguridad, la escalabilidad, la gestión de identidades, el cumplimiento normativo y el rendimiento. </a:t>
            </a:r>
            <a:endParaRPr b="0" i="0" sz="21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descr="Imagen que contiene persona, sostener, mano, usando&#10;&#10;Descripción generada automáticamente" id="282" name="Google Shape;282;p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5239" r="25239" t="0"/>
          <a:stretch/>
        </p:blipFill>
        <p:spPr>
          <a:xfrm>
            <a:off x="6096000" y="-149225"/>
            <a:ext cx="61182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0"/>
          <p:cNvSpPr txBox="1"/>
          <p:nvPr>
            <p:ph type="title"/>
          </p:nvPr>
        </p:nvSpPr>
        <p:spPr>
          <a:xfrm>
            <a:off x="3648157" y="4767734"/>
            <a:ext cx="6644993" cy="1380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b="1" i="0" lang="es-MX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Desafíos del almacenamiento en red</a:t>
            </a:r>
            <a:endParaRPr b="1" i="0" sz="4400" u="none" cap="none" strike="noStrik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89" name="Google Shape;289;p10"/>
          <p:cNvSpPr txBox="1"/>
          <p:nvPr>
            <p:ph idx="1" type="body"/>
          </p:nvPr>
        </p:nvSpPr>
        <p:spPr>
          <a:xfrm>
            <a:off x="1161459" y="874644"/>
            <a:ext cx="9869081" cy="3392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2743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s-MX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Costos iniciales: </a:t>
            </a:r>
            <a:r>
              <a:rPr b="0" i="0" lang="es-MX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La implementación puede ser costosa, especialmente para soluciones avanzadas como SAN.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s-MX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Complejidad de implementación: </a:t>
            </a:r>
            <a:r>
              <a:rPr b="0" i="0" lang="es-MX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Requiere conocimientos técnicos para configurar y mantener.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s-MX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Latencia y rendimiento: </a:t>
            </a:r>
            <a:r>
              <a:rPr b="0" i="0" lang="es-MX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Depende de la calidad de la red y puede ser un problema en entornos con alto tráfico.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"/>
          <p:cNvSpPr txBox="1"/>
          <p:nvPr>
            <p:ph type="title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b="1" i="0" lang="es-MX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Tipos de almacenamiento en red</a:t>
            </a:r>
            <a:br>
              <a:rPr b="1" i="0" lang="es-MX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endParaRPr b="1" i="0" sz="4400" u="none" cap="none" strike="noStrik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grpSp>
        <p:nvGrpSpPr>
          <p:cNvPr id="296" name="Google Shape;296;p11"/>
          <p:cNvGrpSpPr/>
          <p:nvPr/>
        </p:nvGrpSpPr>
        <p:grpSpPr>
          <a:xfrm>
            <a:off x="594360" y="2630138"/>
            <a:ext cx="10972800" cy="3633720"/>
            <a:chOff x="0" y="1509"/>
            <a:chExt cx="10972800" cy="3633720"/>
          </a:xfrm>
        </p:grpSpPr>
        <p:sp>
          <p:nvSpPr>
            <p:cNvPr id="297" name="Google Shape;297;p11"/>
            <p:cNvSpPr/>
            <p:nvPr/>
          </p:nvSpPr>
          <p:spPr>
            <a:xfrm>
              <a:off x="0" y="1509"/>
              <a:ext cx="10972800" cy="764993"/>
            </a:xfrm>
            <a:prstGeom prst="roundRect">
              <a:avLst>
                <a:gd fmla="val 10000" name="adj"/>
              </a:avLst>
            </a:prstGeom>
            <a:solidFill>
              <a:srgbClr val="64B1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1"/>
            <p:cNvSpPr/>
            <p:nvPr/>
          </p:nvSpPr>
          <p:spPr>
            <a:xfrm>
              <a:off x="231410" y="173633"/>
              <a:ext cx="420746" cy="420746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1"/>
            <p:cNvSpPr/>
            <p:nvPr/>
          </p:nvSpPr>
          <p:spPr>
            <a:xfrm>
              <a:off x="883568" y="1509"/>
              <a:ext cx="10089231" cy="764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1"/>
            <p:cNvSpPr txBox="1"/>
            <p:nvPr/>
          </p:nvSpPr>
          <p:spPr>
            <a:xfrm>
              <a:off x="883568" y="1509"/>
              <a:ext cx="10089231" cy="764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950" lIns="80950" spcFirstLastPara="1" rIns="80950" wrap="square" tIns="8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Libre Franklin"/>
                <a:buNone/>
              </a:pPr>
              <a:r>
                <a:rPr b="1" lang="es-MX" sz="17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DAS (Direct-Attached Storage): </a:t>
              </a:r>
              <a:r>
                <a:rPr lang="es-MX" sz="17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Almacenamiento conectado directamente a un servidor o computadora.</a:t>
              </a:r>
              <a:endParaRPr sz="17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01" name="Google Shape;301;p11"/>
            <p:cNvSpPr/>
            <p:nvPr/>
          </p:nvSpPr>
          <p:spPr>
            <a:xfrm>
              <a:off x="0" y="957751"/>
              <a:ext cx="10972800" cy="764993"/>
            </a:xfrm>
            <a:prstGeom prst="roundRect">
              <a:avLst>
                <a:gd fmla="val 10000" name="adj"/>
              </a:avLst>
            </a:prstGeom>
            <a:solidFill>
              <a:srgbClr val="64B1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1"/>
            <p:cNvSpPr/>
            <p:nvPr/>
          </p:nvSpPr>
          <p:spPr>
            <a:xfrm>
              <a:off x="231410" y="1129875"/>
              <a:ext cx="420746" cy="420746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1"/>
            <p:cNvSpPr/>
            <p:nvPr/>
          </p:nvSpPr>
          <p:spPr>
            <a:xfrm>
              <a:off x="883568" y="957751"/>
              <a:ext cx="10089231" cy="764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1"/>
            <p:cNvSpPr txBox="1"/>
            <p:nvPr/>
          </p:nvSpPr>
          <p:spPr>
            <a:xfrm>
              <a:off x="883568" y="957751"/>
              <a:ext cx="10089231" cy="764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950" lIns="80950" spcFirstLastPara="1" rIns="80950" wrap="square" tIns="8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Libre Franklin"/>
                <a:buNone/>
              </a:pPr>
              <a:r>
                <a:rPr b="1" lang="es-MX" sz="17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NAS (Network-Attached Storage): </a:t>
              </a:r>
              <a:r>
                <a:rPr lang="es-MX" sz="17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Dispositivos de almacenamiento conectados a una red, accesibles por múltiples usuarios.</a:t>
              </a:r>
              <a:endParaRPr sz="17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05" name="Google Shape;305;p11"/>
            <p:cNvSpPr/>
            <p:nvPr/>
          </p:nvSpPr>
          <p:spPr>
            <a:xfrm>
              <a:off x="0" y="1913994"/>
              <a:ext cx="10972800" cy="764993"/>
            </a:xfrm>
            <a:prstGeom prst="roundRect">
              <a:avLst>
                <a:gd fmla="val 10000" name="adj"/>
              </a:avLst>
            </a:prstGeom>
            <a:solidFill>
              <a:srgbClr val="64B1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1"/>
            <p:cNvSpPr/>
            <p:nvPr/>
          </p:nvSpPr>
          <p:spPr>
            <a:xfrm>
              <a:off x="231410" y="2086117"/>
              <a:ext cx="420746" cy="42074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1"/>
            <p:cNvSpPr/>
            <p:nvPr/>
          </p:nvSpPr>
          <p:spPr>
            <a:xfrm>
              <a:off x="883568" y="1913994"/>
              <a:ext cx="10089231" cy="764993"/>
            </a:xfrm>
            <a:prstGeom prst="rect">
              <a:avLst/>
            </a:prstGeom>
            <a:solidFill>
              <a:srgbClr val="64B1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1"/>
            <p:cNvSpPr txBox="1"/>
            <p:nvPr/>
          </p:nvSpPr>
          <p:spPr>
            <a:xfrm>
              <a:off x="883568" y="1913994"/>
              <a:ext cx="10089231" cy="764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950" lIns="80950" spcFirstLastPara="1" rIns="80950" wrap="square" tIns="8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Libre Franklin"/>
                <a:buNone/>
              </a:pPr>
              <a:r>
                <a:rPr b="1" lang="es-MX" sz="17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SAN (Storage Area Network): </a:t>
              </a:r>
              <a:r>
                <a:rPr lang="es-MX" sz="17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Red dedicada de alta velocidad que conecta servidores y unidades de almacenamiento.</a:t>
              </a:r>
              <a:endParaRPr sz="17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09" name="Google Shape;309;p11"/>
            <p:cNvSpPr/>
            <p:nvPr/>
          </p:nvSpPr>
          <p:spPr>
            <a:xfrm>
              <a:off x="0" y="2870236"/>
              <a:ext cx="10972800" cy="764993"/>
            </a:xfrm>
            <a:prstGeom prst="roundRect">
              <a:avLst>
                <a:gd fmla="val 10000" name="adj"/>
              </a:avLst>
            </a:prstGeom>
            <a:solidFill>
              <a:srgbClr val="64B1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1"/>
            <p:cNvSpPr/>
            <p:nvPr/>
          </p:nvSpPr>
          <p:spPr>
            <a:xfrm>
              <a:off x="231410" y="3042360"/>
              <a:ext cx="420746" cy="420746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1"/>
            <p:cNvSpPr/>
            <p:nvPr/>
          </p:nvSpPr>
          <p:spPr>
            <a:xfrm>
              <a:off x="883568" y="2870236"/>
              <a:ext cx="10089231" cy="764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1"/>
            <p:cNvSpPr txBox="1"/>
            <p:nvPr/>
          </p:nvSpPr>
          <p:spPr>
            <a:xfrm>
              <a:off x="883568" y="2870236"/>
              <a:ext cx="10089231" cy="764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950" lIns="80950" spcFirstLastPara="1" rIns="80950" wrap="square" tIns="8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Libre Franklin"/>
                <a:buNone/>
              </a:pPr>
              <a:r>
                <a:rPr b="1" lang="es-MX" sz="17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Almacenamiento en la nube: </a:t>
              </a:r>
              <a:r>
                <a:rPr lang="es-MX" sz="17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Datos almacenados en servidores remotos accesibles a través de Internet.</a:t>
              </a:r>
              <a:br>
                <a:rPr lang="es-MX" sz="17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</a:br>
              <a:endParaRPr sz="17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2"/>
          <p:cNvSpPr txBox="1"/>
          <p:nvPr>
            <p:ph type="title"/>
          </p:nvPr>
        </p:nvSpPr>
        <p:spPr>
          <a:xfrm>
            <a:off x="3670934" y="5019525"/>
            <a:ext cx="6343982" cy="1380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Franklin Gothic"/>
              <a:buNone/>
            </a:pPr>
            <a:r>
              <a:rPr b="1" i="0" lang="es-MX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Almacenamiento DAS (Direct-Attached Storage)</a:t>
            </a:r>
            <a:br>
              <a:rPr b="1" i="0" lang="es-MX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endParaRPr b="1" i="0" sz="4400" u="none" cap="none" strike="noStrik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319" name="Google Shape;319;p12"/>
          <p:cNvSpPr txBox="1"/>
          <p:nvPr>
            <p:ph idx="1" type="body"/>
          </p:nvPr>
        </p:nvSpPr>
        <p:spPr>
          <a:xfrm>
            <a:off x="219572" y="123240"/>
            <a:ext cx="3451362" cy="5681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274300">
            <a:normAutofit fontScale="8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s-MX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Dispositivos de almacenamiento conectados directamente a una computadora o servidor</a:t>
            </a:r>
            <a:endParaRPr/>
          </a:p>
          <a:p>
            <a:pPr indent="-113347" lvl="0" marL="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s-MX" sz="2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b="1" i="0" lang="es-MX" sz="2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Características</a:t>
            </a:r>
            <a:r>
              <a:rPr b="0" i="0" lang="es-MX" sz="2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s-MX" sz="2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Bajo costo inicial.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s-MX" sz="2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Fácil de configurar.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s-MX" sz="2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Ideal para entornos pequeños.</a:t>
            </a:r>
            <a:endParaRPr/>
          </a:p>
          <a:p>
            <a:pPr indent="-113347" lvl="0" marL="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s-MX" sz="2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Ventajas</a:t>
            </a:r>
            <a:r>
              <a:rPr b="0" i="0" lang="es-MX" sz="2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s-MX" sz="2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Alto rendimiento.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s-MX" sz="2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Simplicidad.</a:t>
            </a:r>
            <a:endParaRPr/>
          </a:p>
          <a:p>
            <a:pPr indent="-113347" lvl="0" marL="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s-MX" sz="2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Desventajas</a:t>
            </a:r>
            <a:r>
              <a:rPr b="0" i="0" lang="es-MX" sz="2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s-MX" sz="2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Escalabilidad limitada.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s-MX" sz="2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 es accesible desde la red.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320" name="Google Shape;320;p12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2485" l="0" r="1" t="7827"/>
          <a:stretch/>
        </p:blipFill>
        <p:spPr>
          <a:xfrm>
            <a:off x="3420610" y="457715"/>
            <a:ext cx="8206068" cy="41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3"/>
          <p:cNvSpPr txBox="1"/>
          <p:nvPr>
            <p:ph type="title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b="1" i="0" lang="es-MX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Ejemplo DAS</a:t>
            </a:r>
            <a:endParaRPr/>
          </a:p>
        </p:txBody>
      </p:sp>
      <p:sp>
        <p:nvSpPr>
          <p:cNvPr id="327" name="Google Shape;327;p13"/>
          <p:cNvSpPr txBox="1"/>
          <p:nvPr>
            <p:ph idx="1" type="body"/>
          </p:nvPr>
        </p:nvSpPr>
        <p:spPr>
          <a:xfrm>
            <a:off x="603885" y="584005"/>
            <a:ext cx="2825115" cy="3999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2743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s-MX" sz="1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Discos duros externos</a:t>
            </a:r>
            <a:r>
              <a:rPr b="0" i="0" lang="es-MX" sz="1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 Conectados vía USB, Thunderbolt o eSATA.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s-MX" sz="1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Unidades SSD: </a:t>
            </a:r>
            <a:r>
              <a:rPr b="0" i="0" lang="es-MX" sz="1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Ofrecen mayor velocidad que los discos duros tradicionales.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s-MX" sz="1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Casos de uso: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MX" sz="1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Backup local.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MX" sz="1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Almacenamiento temporal para proyectos.</a:t>
            </a:r>
            <a:endParaRPr/>
          </a:p>
        </p:txBody>
      </p:sp>
      <p:pic>
        <p:nvPicPr>
          <p:cNvPr descr="Imagen de la pantalla de un computador&#10;&#10;Descripción generada automáticamente con confianza baja" id="328" name="Google Shape;328;p13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-2" l="0" r="890" t="0"/>
          <a:stretch/>
        </p:blipFill>
        <p:spPr>
          <a:xfrm>
            <a:off x="3670934" y="584005"/>
            <a:ext cx="7926705" cy="3999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4"/>
          <p:cNvSpPr txBox="1"/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ranklin Gothic"/>
              <a:buNone/>
            </a:pPr>
            <a:r>
              <a:rPr b="1" i="0" lang="es-MX" sz="37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Almacenamiento NAS (Network-Attached Storage)</a:t>
            </a:r>
            <a:br>
              <a:rPr b="1" i="0" lang="es-MX" sz="37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endParaRPr b="1" i="0" sz="3700" u="none" cap="none" strike="noStrik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335" name="Google Shape;335;p14"/>
          <p:cNvSpPr txBox="1"/>
          <p:nvPr>
            <p:ph idx="1" type="body"/>
          </p:nvPr>
        </p:nvSpPr>
        <p:spPr>
          <a:xfrm>
            <a:off x="595523" y="2676525"/>
            <a:ext cx="5746750" cy="3597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s-MX" sz="22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Dispositivos de almacenamiento conectados a una red, accesibles por múltiples usuarios.</a:t>
            </a:r>
            <a:endParaRPr b="0" i="0" sz="22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129222" lvl="0" marL="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s-MX" sz="22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b="1" i="0" lang="es-MX" sz="22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Características</a:t>
            </a:r>
            <a:r>
              <a:rPr b="0" i="0" lang="es-MX" sz="22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s-MX" sz="22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Usa protocolos como NFS y SMB/CIFS.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s-MX" sz="22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Fácil de administrar.</a:t>
            </a:r>
            <a:endParaRPr/>
          </a:p>
          <a:p>
            <a:pPr indent="-129222" lvl="0" marL="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s-MX" sz="22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Ventajas</a:t>
            </a:r>
            <a:r>
              <a:rPr b="0" i="0" lang="es-MX" sz="22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s-MX" sz="22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Acceso multiusuario.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s-MX" sz="22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Escalabilidad moderada.</a:t>
            </a:r>
            <a:endParaRPr/>
          </a:p>
          <a:p>
            <a:pPr indent="-129222" lvl="0" marL="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s-MX" sz="22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Desventajas</a:t>
            </a:r>
            <a:r>
              <a:rPr b="0" i="0" lang="es-MX" sz="22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s-MX" sz="22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Rendimiento limitado por la red.</a:t>
            </a:r>
            <a:endParaRPr/>
          </a:p>
        </p:txBody>
      </p:sp>
      <p:pic>
        <p:nvPicPr>
          <p:cNvPr id="336" name="Google Shape;336;p14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6360" y="2520379"/>
            <a:ext cx="5176216" cy="3597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5"/>
          <p:cNvSpPr txBox="1"/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br>
              <a:rPr b="1" i="0" lang="es-MX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br>
              <a:rPr b="1" i="0" lang="es-MX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br>
              <a:rPr b="1" i="0" lang="es-MX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br>
              <a:rPr b="1" i="0" lang="es-MX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b="1" i="0" lang="es-MX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Arquitectura de NAS</a:t>
            </a:r>
            <a:br>
              <a:rPr b="1" i="0" lang="es-MX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endParaRPr b="1" i="0" sz="4400" u="none" cap="none" strike="noStrik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343" name="Google Shape;343;p15"/>
          <p:cNvSpPr txBox="1"/>
          <p:nvPr>
            <p:ph idx="2" type="body"/>
          </p:nvPr>
        </p:nvSpPr>
        <p:spPr>
          <a:xfrm>
            <a:off x="742121" y="2703029"/>
            <a:ext cx="5102087" cy="3141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i="0" lang="es-MX" sz="2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Componentes</a:t>
            </a:r>
            <a:r>
              <a:rPr b="1" i="0" lang="es-MX" sz="2000" u="none" cap="none" strike="noStrike">
                <a:solidFill>
                  <a:srgbClr val="F8FA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s-MX" sz="2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principales</a:t>
            </a:r>
            <a:r>
              <a:rPr b="0" i="0" lang="es-MX" sz="2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i="0" lang="es-MX" sz="2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Servidor NAS</a:t>
            </a:r>
            <a:r>
              <a:rPr b="0" i="0" lang="es-MX" sz="2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 Hardware dedicado que gestiona el almacenamiento.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i="0" lang="es-MX" sz="2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Discos: </a:t>
            </a:r>
            <a:r>
              <a:rPr b="0" i="0" lang="es-MX" sz="2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HDDs o SSDs donde se almacenan los datos.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i="0" lang="es-MX" sz="2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Software:</a:t>
            </a:r>
            <a:r>
              <a:rPr b="0" i="0" lang="es-MX" sz="2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 Sistema operativo especializado para gestionar el almacenamiento</a:t>
            </a:r>
            <a:r>
              <a:rPr b="0" i="0" lang="es-MX" sz="2000" u="none" cap="none" strike="noStrike">
                <a:solidFill>
                  <a:srgbClr val="F8FA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  <a:p>
            <a:pPr indent="-215900" lvl="0" marL="3429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44" name="Google Shape;344;p15"/>
          <p:cNvSpPr txBox="1"/>
          <p:nvPr/>
        </p:nvSpPr>
        <p:spPr>
          <a:xfrm>
            <a:off x="6347792" y="2703029"/>
            <a:ext cx="5102087" cy="3141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i="0" lang="es-MX" sz="2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Protocolos comunes: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s-MX" sz="2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NFS (Network File System): Usado en entornos Unix/Linux.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s-MX" sz="2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SMB/CIFS (Server Message Block/Common Internet File System): Usado en entornos Windows.</a:t>
            </a:r>
            <a:br>
              <a:rPr b="0" i="0" lang="es-MX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endParaRPr b="0" i="0" sz="20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15900" lvl="0" marL="3429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5963478" y="2478157"/>
            <a:ext cx="119270" cy="3551582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69591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6"/>
          <p:cNvSpPr txBox="1"/>
          <p:nvPr>
            <p:ph type="title"/>
          </p:nvPr>
        </p:nvSpPr>
        <p:spPr>
          <a:xfrm>
            <a:off x="6318885" y="3499667"/>
            <a:ext cx="4547897" cy="254281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br>
              <a:rPr b="1" i="0" lang="es-MX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b="1" i="0" lang="es-MX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Casos de uso de NAS</a:t>
            </a:r>
            <a:br>
              <a:rPr b="1" i="0" lang="es-MX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endParaRPr b="1" i="0" sz="4400" u="none" cap="none" strike="noStrik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352" name="Google Shape;352;p16"/>
          <p:cNvSpPr txBox="1"/>
          <p:nvPr>
            <p:ph idx="1" type="body"/>
          </p:nvPr>
        </p:nvSpPr>
        <p:spPr>
          <a:xfrm>
            <a:off x="564129" y="1232452"/>
            <a:ext cx="5198269" cy="43930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2743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MX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Pequeñas y medianas empresas</a:t>
            </a:r>
            <a:r>
              <a:rPr b="0" i="0" lang="es-MX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Almacenamiento compartido para documentos.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Backup centralizado.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MX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Uso doméstico</a:t>
            </a:r>
            <a:r>
              <a:rPr b="0" i="0" lang="es-MX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Almacenamiento de multimedia (fotos, videos, música).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Acceso remoto a archivos.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7"/>
          <p:cNvSpPr txBox="1"/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Franklin Gothic"/>
              <a:buNone/>
            </a:pPr>
            <a:r>
              <a:rPr b="1" i="0" lang="es-MX" sz="41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Almacenamiento SAN (Storage Area Network)</a:t>
            </a:r>
            <a:br>
              <a:rPr b="1" i="0" lang="es-MX" sz="41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endParaRPr b="1" i="0" sz="4100" u="none" cap="none" strike="noStrik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pic>
        <p:nvPicPr>
          <p:cNvPr descr="Imagen que contiene electrónica, monitor, computadora, escritorio&#10;&#10;Descripción generada automáticamente" id="359" name="Google Shape;359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523" y="2858987"/>
            <a:ext cx="5746750" cy="3232546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7"/>
          <p:cNvSpPr txBox="1"/>
          <p:nvPr>
            <p:ph idx="2" type="body"/>
          </p:nvPr>
        </p:nvSpPr>
        <p:spPr>
          <a:xfrm>
            <a:off x="6692348" y="1669359"/>
            <a:ext cx="4874812" cy="46121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Red dedicada de alta velocidad que conecta servidores y unidades de almacenamiento.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i="0" lang="es-MX" sz="1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Características</a:t>
            </a:r>
            <a:r>
              <a:rPr b="0" i="0" lang="es-MX" sz="1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MX" sz="1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Alto rendimiento.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MX" sz="1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Escalabilidad avanzada.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s-MX" sz="1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Ventajas</a:t>
            </a:r>
            <a:r>
              <a:rPr b="0" i="0" lang="es-MX" sz="1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MX" sz="1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Ideal para grandes volúmenes de datos.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MX" sz="1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Alta disponibilidad.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s-MX" sz="1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Desventajas</a:t>
            </a:r>
            <a:r>
              <a:rPr b="0" i="0" lang="es-MX" sz="1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MX" sz="1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Costo elevado.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MX" sz="1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Complejidad de implementación</a:t>
            </a:r>
            <a:endParaRPr b="0" i="0" sz="16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8"/>
          <p:cNvSpPr txBox="1"/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br>
              <a:rPr b="1" i="0" lang="es-MX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br>
              <a:rPr b="1" i="0" lang="es-MX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br>
              <a:rPr b="1" i="0" lang="es-MX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br>
              <a:rPr b="1" i="0" lang="es-MX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b="1" i="0" lang="es-MX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Arquitectura de SAN</a:t>
            </a:r>
            <a:br>
              <a:rPr b="1" i="0" lang="es-MX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endParaRPr b="1" i="0" sz="4400" u="none" cap="none" strike="noStrik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367" name="Google Shape;367;p18"/>
          <p:cNvSpPr txBox="1"/>
          <p:nvPr>
            <p:ph idx="2" type="body"/>
          </p:nvPr>
        </p:nvSpPr>
        <p:spPr>
          <a:xfrm>
            <a:off x="596347" y="3299377"/>
            <a:ext cx="5102087" cy="19484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i="0" lang="es-MX" sz="2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Fibre Channel </a:t>
            </a:r>
            <a:r>
              <a:rPr b="0" i="0" lang="es-MX" sz="2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(FC): Tecnología de alta velocidad para conectar servidores y almacenamiento.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i="0" lang="es-MX" sz="2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iSCSI</a:t>
            </a:r>
            <a:r>
              <a:rPr b="0" i="0" lang="es-MX" sz="2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 Protocolo que permite el uso de redes Ethernet para SAN.</a:t>
            </a:r>
            <a:endParaRPr/>
          </a:p>
          <a:p>
            <a:pPr indent="-215900" lvl="0" marL="3429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68" name="Google Shape;368;p18"/>
          <p:cNvSpPr txBox="1"/>
          <p:nvPr/>
        </p:nvSpPr>
        <p:spPr>
          <a:xfrm>
            <a:off x="6347792" y="3082495"/>
            <a:ext cx="5102087" cy="23822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i="0" lang="es-MX" sz="2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Componentes</a:t>
            </a:r>
            <a:endParaRPr b="1" i="0" sz="21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42931" lvl="0" marL="3429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s-MX" sz="2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Switches</a:t>
            </a:r>
            <a:r>
              <a:rPr b="0" i="0" lang="es-MX" sz="2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 Conectan servidores y almacenamiento.</a:t>
            </a:r>
            <a:endParaRPr/>
          </a:p>
          <a:p>
            <a:pPr indent="-342931" lvl="0" marL="3429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s-MX" sz="2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Matrices de almacenamiento</a:t>
            </a:r>
            <a:r>
              <a:rPr b="0" i="0" lang="es-MX" sz="2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 Unidades de disco de alta capacidad.</a:t>
            </a:r>
            <a:endParaRPr/>
          </a:p>
          <a:p>
            <a:pPr indent="-342931" lvl="0" marL="3429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s-MX" sz="2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Servidores</a:t>
            </a:r>
            <a:r>
              <a:rPr b="0" i="0" lang="es-MX" sz="2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 Acceden al almacenamiento a través de la red.</a:t>
            </a:r>
            <a:endParaRPr/>
          </a:p>
          <a:p>
            <a:pPr indent="-225425" lvl="0" marL="3429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0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69" name="Google Shape;369;p18"/>
          <p:cNvSpPr/>
          <p:nvPr/>
        </p:nvSpPr>
        <p:spPr>
          <a:xfrm>
            <a:off x="5963478" y="2478157"/>
            <a:ext cx="119270" cy="3551582"/>
          </a:xfrm>
          <a:prstGeom prst="rect">
            <a:avLst/>
          </a:prstGeom>
          <a:solidFill>
            <a:srgbClr val="87C3CD"/>
          </a:solidFill>
          <a:ln cap="flat" cmpd="sng" w="12700">
            <a:solidFill>
              <a:srgbClr val="69591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9"/>
          <p:cNvSpPr txBox="1"/>
          <p:nvPr>
            <p:ph type="title"/>
          </p:nvPr>
        </p:nvSpPr>
        <p:spPr>
          <a:xfrm>
            <a:off x="6318885" y="3499667"/>
            <a:ext cx="4547897" cy="254281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br>
              <a:rPr b="1" i="0" lang="es-MX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b="1" i="0" lang="es-MX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Casos de uso de SAN</a:t>
            </a:r>
            <a:br>
              <a:rPr b="1" i="0" lang="es-MX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endParaRPr b="1" i="0" sz="4400" u="none" cap="none" strike="noStrik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376" name="Google Shape;376;p19"/>
          <p:cNvSpPr txBox="1"/>
          <p:nvPr>
            <p:ph idx="1" type="body"/>
          </p:nvPr>
        </p:nvSpPr>
        <p:spPr>
          <a:xfrm>
            <a:off x="564129" y="1232452"/>
            <a:ext cx="5198269" cy="43930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2743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None/>
            </a:pPr>
            <a:r>
              <a:rPr b="1" i="0" lang="es-MX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Grandes empresas y centros de datos</a:t>
            </a:r>
            <a:endParaRPr/>
          </a:p>
          <a:p>
            <a:pPr indent="-342900" lvl="1" marL="8001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Bases de datos críticas.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Virtualización de servidores.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MX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Aplicaciones de alto rendimiento</a:t>
            </a:r>
            <a:r>
              <a:rPr b="0" i="0" lang="es-MX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Análisis de big data.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Transacciones financieras.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0"/>
          <p:cNvSpPr txBox="1"/>
          <p:nvPr>
            <p:ph type="title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b="1" i="0" lang="es-MX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Comparación entre NAS y SAN</a:t>
            </a:r>
            <a:endParaRPr b="1" i="0" sz="4400" u="none" cap="none" strike="noStrik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383" name="Google Shape;383;p20"/>
          <p:cNvSpPr txBox="1"/>
          <p:nvPr>
            <p:ph idx="1" type="body"/>
          </p:nvPr>
        </p:nvSpPr>
        <p:spPr>
          <a:xfrm>
            <a:off x="603885" y="584005"/>
            <a:ext cx="2825115" cy="3999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274300">
            <a:normAutofit/>
          </a:bodyPr>
          <a:lstStyle/>
          <a:p>
            <a:pPr indent="-1016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s-MX" sz="1600"/>
              <a:t>¿Cuándo elegir NAS?</a:t>
            </a:r>
            <a:endParaRPr b="0" i="0" sz="1600"/>
          </a:p>
          <a:p>
            <a:pPr indent="-285750" lvl="1" marL="7429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MX" sz="1600"/>
              <a:t>Para entornos pequeños o medianos.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MX" sz="1600"/>
              <a:t>Cuando se necesita acceso multiusuario.</a:t>
            </a:r>
            <a:endParaRPr/>
          </a:p>
          <a:p>
            <a:pPr indent="-10160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s-MX" sz="1600"/>
              <a:t>¿Cuándo elegir SAN?</a:t>
            </a:r>
            <a:endParaRPr b="0" i="0" sz="1600"/>
          </a:p>
          <a:p>
            <a:pPr indent="-285750" lvl="1" marL="7429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MX" sz="1600"/>
              <a:t>Para grandes volúmenes de datos.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MX" sz="1600"/>
              <a:t>Cuando se requiere alto rendimiento.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b="0" i="0" sz="1600"/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/>
          </a:p>
        </p:txBody>
      </p:sp>
      <p:grpSp>
        <p:nvGrpSpPr>
          <p:cNvPr id="384" name="Google Shape;384;p20"/>
          <p:cNvGrpSpPr/>
          <p:nvPr/>
        </p:nvGrpSpPr>
        <p:grpSpPr>
          <a:xfrm>
            <a:off x="3670934" y="584493"/>
            <a:ext cx="7926705" cy="3998083"/>
            <a:chOff x="0" y="488"/>
            <a:chExt cx="7926705" cy="3998083"/>
          </a:xfrm>
        </p:grpSpPr>
        <p:sp>
          <p:nvSpPr>
            <p:cNvPr id="385" name="Google Shape;385;p20"/>
            <p:cNvSpPr/>
            <p:nvPr/>
          </p:nvSpPr>
          <p:spPr>
            <a:xfrm>
              <a:off x="0" y="488"/>
              <a:ext cx="7926705" cy="1142309"/>
            </a:xfrm>
            <a:prstGeom prst="roundRect">
              <a:avLst>
                <a:gd fmla="val 10000" name="adj"/>
              </a:avLst>
            </a:prstGeom>
            <a:solidFill>
              <a:srgbClr val="64B1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0"/>
            <p:cNvSpPr/>
            <p:nvPr/>
          </p:nvSpPr>
          <p:spPr>
            <a:xfrm>
              <a:off x="345548" y="257507"/>
              <a:ext cx="628270" cy="62827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0"/>
            <p:cNvSpPr/>
            <p:nvPr/>
          </p:nvSpPr>
          <p:spPr>
            <a:xfrm>
              <a:off x="1319367" y="488"/>
              <a:ext cx="6607337" cy="11423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0"/>
            <p:cNvSpPr txBox="1"/>
            <p:nvPr/>
          </p:nvSpPr>
          <p:spPr>
            <a:xfrm>
              <a:off x="1319367" y="488"/>
              <a:ext cx="6607337" cy="11423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0875" lIns="120875" spcFirstLastPara="1" rIns="120875" wrap="square" tIns="1208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Libre Franklin"/>
                <a:buNone/>
              </a:pPr>
              <a:r>
                <a:rPr b="1" lang="es-MX" sz="25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Rendimiento</a:t>
              </a:r>
              <a:r>
                <a:rPr lang="es-MX" sz="25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: SAN es más rápido que NAS.</a:t>
              </a:r>
              <a:endParaRPr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89" name="Google Shape;389;p20"/>
            <p:cNvSpPr/>
            <p:nvPr/>
          </p:nvSpPr>
          <p:spPr>
            <a:xfrm>
              <a:off x="0" y="1428375"/>
              <a:ext cx="7926705" cy="1142309"/>
            </a:xfrm>
            <a:prstGeom prst="roundRect">
              <a:avLst>
                <a:gd fmla="val 10000" name="adj"/>
              </a:avLst>
            </a:prstGeom>
            <a:solidFill>
              <a:srgbClr val="64B1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0"/>
            <p:cNvSpPr/>
            <p:nvPr/>
          </p:nvSpPr>
          <p:spPr>
            <a:xfrm>
              <a:off x="345548" y="1685394"/>
              <a:ext cx="628270" cy="62827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0"/>
            <p:cNvSpPr/>
            <p:nvPr/>
          </p:nvSpPr>
          <p:spPr>
            <a:xfrm>
              <a:off x="1319367" y="1428375"/>
              <a:ext cx="6607337" cy="11423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0"/>
            <p:cNvSpPr txBox="1"/>
            <p:nvPr/>
          </p:nvSpPr>
          <p:spPr>
            <a:xfrm>
              <a:off x="1319367" y="1428375"/>
              <a:ext cx="6607337" cy="11423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0875" lIns="120875" spcFirstLastPara="1" rIns="120875" wrap="square" tIns="1208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Libre Franklin"/>
                <a:buNone/>
              </a:pPr>
              <a:r>
                <a:rPr b="1" lang="es-MX" sz="25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Escalabilidad</a:t>
              </a:r>
              <a:r>
                <a:rPr lang="es-MX" sz="25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: SAN es más escalable.</a:t>
              </a:r>
              <a:endParaRPr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93" name="Google Shape;393;p20"/>
            <p:cNvSpPr/>
            <p:nvPr/>
          </p:nvSpPr>
          <p:spPr>
            <a:xfrm>
              <a:off x="0" y="2856262"/>
              <a:ext cx="7926705" cy="1142309"/>
            </a:xfrm>
            <a:prstGeom prst="roundRect">
              <a:avLst>
                <a:gd fmla="val 10000" name="adj"/>
              </a:avLst>
            </a:prstGeom>
            <a:solidFill>
              <a:srgbClr val="64B1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0"/>
            <p:cNvSpPr/>
            <p:nvPr/>
          </p:nvSpPr>
          <p:spPr>
            <a:xfrm>
              <a:off x="345548" y="3113281"/>
              <a:ext cx="628270" cy="62827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0"/>
            <p:cNvSpPr/>
            <p:nvPr/>
          </p:nvSpPr>
          <p:spPr>
            <a:xfrm>
              <a:off x="1319367" y="2856262"/>
              <a:ext cx="6607337" cy="11423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0"/>
            <p:cNvSpPr txBox="1"/>
            <p:nvPr/>
          </p:nvSpPr>
          <p:spPr>
            <a:xfrm>
              <a:off x="1319367" y="2856262"/>
              <a:ext cx="6607337" cy="11423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0875" lIns="120875" spcFirstLastPara="1" rIns="120875" wrap="square" tIns="1208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Libre Franklin"/>
                <a:buNone/>
              </a:pPr>
              <a:r>
                <a:rPr b="1" lang="es-MX" sz="25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Costos</a:t>
              </a:r>
              <a:r>
                <a:rPr lang="es-MX" sz="25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: NAS es más económico.</a:t>
              </a:r>
              <a:endParaRPr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1"/>
          <p:cNvSpPr txBox="1"/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b="1" i="0" lang="es-MX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Almacenamiento en la nube</a:t>
            </a:r>
            <a:br>
              <a:rPr b="1" i="0" lang="es-MX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endParaRPr b="1" i="0" sz="4400" u="none" cap="none" strike="noStrik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403" name="Google Shape;403;p21"/>
          <p:cNvSpPr txBox="1"/>
          <p:nvPr>
            <p:ph idx="2" type="body"/>
          </p:nvPr>
        </p:nvSpPr>
        <p:spPr>
          <a:xfrm>
            <a:off x="1470991" y="2676525"/>
            <a:ext cx="10096169" cy="3141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Arial"/>
              <a:buNone/>
            </a:pPr>
            <a:r>
              <a:rPr b="0" i="0" lang="es-MX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Datos almacenados en servidores remotos accesibles a través de Internet.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Arial"/>
              <a:buChar char="•"/>
            </a:pPr>
            <a:r>
              <a:rPr b="1" i="0" lang="es-MX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Características:</a:t>
            </a:r>
            <a:endParaRPr b="0" i="0" sz="2000" u="none" cap="none" strike="noStrike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Arial"/>
              <a:buChar char="•"/>
            </a:pPr>
            <a:r>
              <a:rPr b="0" i="0" lang="es-MX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Escalabilidad ilimitada.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Arial"/>
              <a:buChar char="•"/>
            </a:pPr>
            <a:r>
              <a:rPr b="0" i="0" lang="es-MX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Acceso desde cualquier lugar.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Arial"/>
              <a:buChar char="•"/>
            </a:pPr>
            <a:r>
              <a:rPr b="1" i="0" lang="es-MX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Diferencias con NAS, SAN y DAS:</a:t>
            </a:r>
            <a:endParaRPr b="0" i="0" sz="2000" u="none" cap="none" strike="noStrike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Arial"/>
              <a:buChar char="•"/>
            </a:pPr>
            <a:r>
              <a:rPr b="0" i="0" lang="es-MX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No requiere hardware local.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Arial"/>
              <a:buChar char="•"/>
            </a:pPr>
            <a:r>
              <a:rPr b="0" i="0" lang="es-MX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Pago por uso.</a:t>
            </a:r>
            <a:br>
              <a:rPr b="0" i="0" lang="es-MX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endParaRPr b="0" i="0" sz="20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25425" lvl="0" marL="3429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2"/>
          <p:cNvSpPr txBox="1"/>
          <p:nvPr>
            <p:ph type="title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b="1" i="0" lang="es-MX"/>
              <a:t>Tipos de almacenamiento en la nube</a:t>
            </a:r>
            <a:br>
              <a:rPr b="1" i="0" lang="es-MX"/>
            </a:br>
            <a:endParaRPr/>
          </a:p>
        </p:txBody>
      </p:sp>
      <p:sp>
        <p:nvSpPr>
          <p:cNvPr id="409" name="Google Shape;409;p22"/>
          <p:cNvSpPr txBox="1"/>
          <p:nvPr>
            <p:ph idx="1" type="body"/>
          </p:nvPr>
        </p:nvSpPr>
        <p:spPr>
          <a:xfrm>
            <a:off x="594360" y="2895267"/>
            <a:ext cx="5044440" cy="3684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8600">
            <a:normAutofit fontScale="47500" lnSpcReduction="20000"/>
          </a:bodyPr>
          <a:lstStyle/>
          <a:p>
            <a:pPr indent="-457231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s-MX" sz="3300"/>
              <a:t>Público:</a:t>
            </a:r>
            <a:r>
              <a:rPr b="0" i="0" lang="es-MX" sz="3300"/>
              <a:t> Servicios ofrecidos por proveedores como AWS, Google Cloud y Azure.</a:t>
            </a:r>
            <a:endParaRPr/>
          </a:p>
          <a:p>
            <a:pPr indent="-457231" lvl="0" marL="4572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s-MX" sz="3300"/>
              <a:t>Privado:</a:t>
            </a:r>
            <a:r>
              <a:rPr b="0" i="0" lang="es-MX" sz="3300"/>
              <a:t> Infraestructura dedicada para una sola organización.</a:t>
            </a:r>
            <a:endParaRPr/>
          </a:p>
          <a:p>
            <a:pPr indent="-457231" lvl="0" marL="4572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s-MX" sz="3300"/>
              <a:t>Híbrido:</a:t>
            </a:r>
            <a:r>
              <a:rPr b="0" i="0" lang="es-MX" sz="3300"/>
              <a:t> Combinación de nube pública y privada.</a:t>
            </a:r>
            <a:endParaRPr/>
          </a:p>
          <a:p>
            <a:pPr indent="-457231" lvl="0" marL="4572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Arial"/>
              <a:buChar char="•"/>
            </a:pPr>
            <a:r>
              <a:rPr b="1" i="0" lang="es-MX" sz="3300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Ejemplos:</a:t>
            </a:r>
            <a:endParaRPr b="0" i="0" sz="3300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3495" lvl="1" marL="6858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ct val="100000"/>
              <a:buChar char="•"/>
            </a:pPr>
            <a:r>
              <a:rPr b="1" i="0" lang="es-MX" sz="3300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AWS S3:</a:t>
            </a:r>
            <a:r>
              <a:rPr b="0" i="0" lang="es-MX" sz="3300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 Almacenamiento de objetos.</a:t>
            </a:r>
            <a:endParaRPr/>
          </a:p>
          <a:p>
            <a:pPr indent="-283495" lvl="1" marL="6858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ct val="100000"/>
              <a:buChar char="•"/>
            </a:pPr>
            <a:r>
              <a:rPr b="1" i="0" lang="es-MX" sz="3300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Google Cloud Storage:</a:t>
            </a:r>
            <a:r>
              <a:rPr b="0" i="0" lang="es-MX" sz="3300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 Solución escalable.</a:t>
            </a:r>
            <a:endParaRPr/>
          </a:p>
          <a:p>
            <a:pPr indent="-283495" lvl="1" marL="6858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ct val="100000"/>
              <a:buChar char="•"/>
            </a:pPr>
            <a:r>
              <a:rPr b="1" i="0" lang="es-MX" sz="3300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Azure Blob Storage:</a:t>
            </a:r>
            <a:r>
              <a:rPr b="0" i="0" lang="es-MX" sz="3300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 Ideal para big data.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br>
              <a:rPr lang="es-MX"/>
            </a:br>
            <a:endParaRPr b="0" i="0"/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Logotipo&#10;&#10;Descripción generada automáticamente" id="410" name="Google Shape;410;p2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1" l="24628" r="15821" t="0"/>
          <a:stretch/>
        </p:blipFill>
        <p:spPr>
          <a:xfrm>
            <a:off x="6096000" y="10"/>
            <a:ext cx="6118225" cy="6857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3"/>
          <p:cNvSpPr txBox="1"/>
          <p:nvPr>
            <p:ph type="title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4400"/>
              <a:buFont typeface="Inter"/>
              <a:buNone/>
            </a:pPr>
            <a:r>
              <a:rPr b="1" i="0" lang="es-MX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Ventajas del almacenamiento en la nube</a:t>
            </a:r>
            <a:endParaRPr/>
          </a:p>
        </p:txBody>
      </p:sp>
      <p:sp>
        <p:nvSpPr>
          <p:cNvPr id="416" name="Google Shape;416;p23"/>
          <p:cNvSpPr txBox="1"/>
          <p:nvPr>
            <p:ph idx="1" type="body"/>
          </p:nvPr>
        </p:nvSpPr>
        <p:spPr>
          <a:xfrm>
            <a:off x="603885" y="584005"/>
            <a:ext cx="2825115" cy="3999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274300">
            <a:normAutofit/>
          </a:bodyPr>
          <a:lstStyle/>
          <a:p>
            <a:pPr indent="-1270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Char char="•"/>
            </a:pPr>
            <a:r>
              <a:rPr b="1" i="0" lang="es-MX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Escalabilidad ilimitada:</a:t>
            </a:r>
            <a:r>
              <a:rPr b="0" i="0" lang="es-MX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 Añadir capacidad según sea necesario.</a:t>
            </a:r>
            <a:endParaRPr/>
          </a:p>
          <a:p>
            <a:pPr indent="-12700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Char char="•"/>
            </a:pPr>
            <a:r>
              <a:rPr b="1" i="0" lang="es-MX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Acceso desde cualquier lugar:</a:t>
            </a:r>
            <a:r>
              <a:rPr b="0" i="0" lang="es-MX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 Datos disponibles en cualquier dispositivo con Internet.</a:t>
            </a:r>
            <a:endParaRPr/>
          </a:p>
          <a:p>
            <a:pPr indent="-12700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Char char="•"/>
            </a:pPr>
            <a:r>
              <a:rPr b="1" i="0" lang="es-MX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Reducción de costos:</a:t>
            </a:r>
            <a:r>
              <a:rPr b="0" i="0" lang="es-MX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 No se necesita invertir en hardware local.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Gráfico de red en la nube" id="417" name="Google Shape;417;p23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9698" y="584200"/>
            <a:ext cx="7109178" cy="3998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4"/>
          <p:cNvSpPr txBox="1"/>
          <p:nvPr>
            <p:ph type="title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b="1" i="0" lang="es-MX"/>
              <a:t>Desventajas del almacenamiento en la nube</a:t>
            </a:r>
            <a:endParaRPr/>
          </a:p>
        </p:txBody>
      </p:sp>
      <p:pic>
        <p:nvPicPr>
          <p:cNvPr descr="Gráfico de red en la nube" id="423" name="Google Shape;423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956" y="457201"/>
            <a:ext cx="5684895" cy="3197755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24"/>
          <p:cNvSpPr txBox="1"/>
          <p:nvPr>
            <p:ph idx="2" type="body"/>
          </p:nvPr>
        </p:nvSpPr>
        <p:spPr>
          <a:xfrm>
            <a:off x="603884" y="3767198"/>
            <a:ext cx="5198269" cy="2422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/>
          <a:p>
            <a:pPr indent="-1270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MX"/>
              <a:t>Dependencia de la conexión a Internet:</a:t>
            </a:r>
            <a:r>
              <a:rPr b="0" i="0" lang="es-MX"/>
              <a:t> Sin conexión, no hay acceso.</a:t>
            </a:r>
            <a:endParaRPr/>
          </a:p>
          <a:p>
            <a:pPr indent="-12700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MX"/>
              <a:t>Seguridad y privacidad:</a:t>
            </a:r>
            <a:r>
              <a:rPr b="0" i="0" lang="es-MX"/>
              <a:t> Preocupaciones sobre la protección de datos sensibles.</a:t>
            </a:r>
            <a:endParaRPr/>
          </a:p>
          <a:p>
            <a:pPr indent="-12700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MX"/>
              <a:t>Costos a largo plazo:</a:t>
            </a:r>
            <a:r>
              <a:rPr b="0" i="0" lang="es-MX"/>
              <a:t> El pago por uso puede acumularse con el tiempo.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5"/>
          <p:cNvSpPr txBox="1"/>
          <p:nvPr>
            <p:ph type="title"/>
          </p:nvPr>
        </p:nvSpPr>
        <p:spPr>
          <a:xfrm>
            <a:off x="308610" y="278129"/>
            <a:ext cx="5063490" cy="23540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4400"/>
              <a:buFont typeface="Inter"/>
              <a:buNone/>
            </a:pPr>
            <a:r>
              <a:rPr b="1" i="0" lang="es-MX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Almacenamiento híbrido</a:t>
            </a:r>
            <a:endParaRPr/>
          </a:p>
        </p:txBody>
      </p:sp>
      <p:sp>
        <p:nvSpPr>
          <p:cNvPr id="430" name="Google Shape;430;p25"/>
          <p:cNvSpPr txBox="1"/>
          <p:nvPr>
            <p:ph idx="1" type="body"/>
          </p:nvPr>
        </p:nvSpPr>
        <p:spPr>
          <a:xfrm>
            <a:off x="308610" y="3420000"/>
            <a:ext cx="5044440" cy="3054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86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Arial"/>
              <a:buNone/>
            </a:pPr>
            <a:r>
              <a:rPr b="0" i="0" lang="es-MX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Combinación de almacenamiento local y en la nube.</a:t>
            </a:r>
            <a:endParaRPr/>
          </a:p>
          <a:p>
            <a:pPr indent="-117475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Arial"/>
              <a:buChar char="•"/>
            </a:pPr>
            <a:r>
              <a:rPr b="1" i="0" lang="es-MX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Ventajas:</a:t>
            </a:r>
            <a:endParaRPr b="0" i="0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Arial"/>
              <a:buChar char="•"/>
            </a:pPr>
            <a:r>
              <a:rPr b="0" i="0" lang="es-MX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Flexibilidad.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Arial"/>
              <a:buChar char="•"/>
            </a:pPr>
            <a:r>
              <a:rPr b="0" i="0" lang="es-MX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Balance entre costos y rendimiento.</a:t>
            </a:r>
            <a:endParaRPr/>
          </a:p>
          <a:p>
            <a:pPr indent="-117475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Arial"/>
              <a:buChar char="•"/>
            </a:pPr>
            <a:r>
              <a:rPr b="1" i="0" lang="es-MX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Casos de uso:</a:t>
            </a:r>
            <a:endParaRPr b="0" i="0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Arial"/>
              <a:buChar char="•"/>
            </a:pPr>
            <a:r>
              <a:rPr b="0" i="0" lang="es-MX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Empresas que necesitan acceso rápido a datos locales y respaldo en la nube.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Diagrama, Dibujo de ingeniería&#10;&#10;Descripción generada automáticamente" id="431" name="Google Shape;431;p2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2113" l="24433" r="28731" t="-2114"/>
          <a:stretch/>
        </p:blipFill>
        <p:spPr>
          <a:xfrm>
            <a:off x="5857876" y="0"/>
            <a:ext cx="6339666" cy="68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6"/>
          <p:cNvSpPr txBox="1"/>
          <p:nvPr>
            <p:ph type="ctrTitle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Franklin Gothic"/>
              <a:buNone/>
            </a:pPr>
            <a:r>
              <a:rPr b="1" i="0" lang="es-MX" sz="5600"/>
              <a:t>Protocolos de almacenamiento en red</a:t>
            </a:r>
            <a:endParaRPr/>
          </a:p>
        </p:txBody>
      </p:sp>
      <p:pic>
        <p:nvPicPr>
          <p:cNvPr descr="Diagrama&#10;&#10;Descripción generada automáticamente" id="437" name="Google Shape;437;p2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5260" r="27743" t="0"/>
          <a:stretch/>
        </p:blipFill>
        <p:spPr>
          <a:xfrm>
            <a:off x="20" y="-11113"/>
            <a:ext cx="5791180" cy="6880226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26"/>
          <p:cNvSpPr txBox="1"/>
          <p:nvPr>
            <p:ph idx="1" type="body"/>
          </p:nvPr>
        </p:nvSpPr>
        <p:spPr>
          <a:xfrm>
            <a:off x="6299835" y="4568602"/>
            <a:ext cx="5486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0160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7C3F"/>
              </a:buClr>
              <a:buSzPts val="1600"/>
              <a:buFont typeface="Arial"/>
              <a:buChar char="•"/>
            </a:pPr>
            <a:r>
              <a:rPr b="1" i="0" lang="es-MX" sz="1600"/>
              <a:t>NFS (Network File System):</a:t>
            </a:r>
            <a:r>
              <a:rPr b="0" i="0" lang="es-MX" sz="1600"/>
              <a:t> Usado en entornos Unix/Linux para compartir archivos.</a:t>
            </a:r>
            <a:endParaRPr/>
          </a:p>
          <a:p>
            <a:pPr indent="-10160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600"/>
              <a:buFont typeface="Arial"/>
              <a:buChar char="•"/>
            </a:pPr>
            <a:r>
              <a:rPr b="1" i="0" lang="es-MX" sz="1600"/>
              <a:t>SMB/CIFS (Server Message Block/Common Internet File System):</a:t>
            </a:r>
            <a:r>
              <a:rPr b="0" i="0" lang="es-MX" sz="1600"/>
              <a:t> Usado en entornos Windows.</a:t>
            </a:r>
            <a:endParaRPr/>
          </a:p>
          <a:p>
            <a:pPr indent="-10160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600"/>
              <a:buFont typeface="Arial"/>
              <a:buChar char="•"/>
            </a:pPr>
            <a:r>
              <a:rPr b="1" i="0" lang="es-MX" sz="1600"/>
              <a:t>iSCSI (Internet Small Computer System Interface):</a:t>
            </a:r>
            <a:r>
              <a:rPr b="0" i="0" lang="es-MX" sz="1600"/>
              <a:t> Permite el uso de redes Ethernet para SAN.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500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7"/>
          <p:cNvSpPr txBox="1"/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s-MX"/>
              <a:t>Seguridad en el almacenamiento en red</a:t>
            </a:r>
            <a:endParaRPr b="1" i="0"/>
          </a:p>
        </p:txBody>
      </p:sp>
      <p:pic>
        <p:nvPicPr>
          <p:cNvPr id="444" name="Google Shape;444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313" y="2861349"/>
            <a:ext cx="5746750" cy="3227626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7"/>
          <p:cNvSpPr txBox="1"/>
          <p:nvPr>
            <p:ph idx="2" type="body"/>
          </p:nvPr>
        </p:nvSpPr>
        <p:spPr>
          <a:xfrm>
            <a:off x="7620000" y="2676525"/>
            <a:ext cx="3947160" cy="3597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MX"/>
              <a:t>Encriptación de datos:</a:t>
            </a:r>
            <a:r>
              <a:rPr b="0" i="0" lang="es-MX"/>
              <a:t> Protege la información en tránsito y en reposo.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MX"/>
              <a:t>Control de acceso:</a:t>
            </a:r>
            <a:r>
              <a:rPr b="0" i="0" lang="es-MX"/>
              <a:t> Autenticación y autorización para limitar el acceso.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MX"/>
              <a:t>Copias de seguridad:</a:t>
            </a:r>
            <a:r>
              <a:rPr b="0" i="0" lang="es-MX"/>
              <a:t> Planes de recuperación ante desastres.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8"/>
          <p:cNvSpPr txBox="1"/>
          <p:nvPr>
            <p:ph type="title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b="1" i="0" lang="es-MX"/>
              <a:t>Redundancia y RAID</a:t>
            </a:r>
            <a:endParaRPr/>
          </a:p>
        </p:txBody>
      </p:sp>
      <p:sp>
        <p:nvSpPr>
          <p:cNvPr id="451" name="Google Shape;451;p28"/>
          <p:cNvSpPr txBox="1"/>
          <p:nvPr>
            <p:ph idx="1" type="body"/>
          </p:nvPr>
        </p:nvSpPr>
        <p:spPr>
          <a:xfrm>
            <a:off x="375285" y="584005"/>
            <a:ext cx="3286124" cy="4759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2743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s-MX" sz="1600"/>
              <a:t>RAID (Redundant Array of Independent Disks):</a:t>
            </a:r>
            <a:r>
              <a:rPr b="0" i="0" lang="es-MX" sz="1600"/>
              <a:t> Técnica para mejorar la fiabilidad y el rendimiento.</a:t>
            </a:r>
            <a:endParaRPr/>
          </a:p>
          <a:p>
            <a:pPr indent="-10160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s-MX" sz="1600"/>
              <a:t>Niveles comunes:</a:t>
            </a:r>
            <a:endParaRPr b="0" i="0" sz="1600"/>
          </a:p>
          <a:p>
            <a:pPr indent="-285750" lvl="1" marL="7429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s-MX" sz="1600"/>
              <a:t>RAID 0:</a:t>
            </a:r>
            <a:r>
              <a:rPr b="0" i="0" lang="es-MX" sz="1600"/>
              <a:t> Striping (mejora el rendimiento, sin redundancia).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s-MX" sz="1600"/>
              <a:t>RAID 1:</a:t>
            </a:r>
            <a:r>
              <a:rPr b="0" i="0" lang="es-MX" sz="1600"/>
              <a:t> Mirroring (duplicación de datos).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s-MX" sz="1600"/>
              <a:t>RAID 5:</a:t>
            </a:r>
            <a:r>
              <a:rPr b="0" i="0" lang="es-MX" sz="1600"/>
              <a:t> Striping con paridad (equilibrio entre rendimiento y redundancia).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s-MX" sz="1600"/>
              <a:t>RAID 10:</a:t>
            </a:r>
            <a:r>
              <a:rPr b="0" i="0" lang="es-MX" sz="1600"/>
              <a:t> Combinación de RAID 1 y RAID 0 (alto rendimiento y redundancia).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/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</p:txBody>
      </p:sp>
      <p:pic>
        <p:nvPicPr>
          <p:cNvPr id="452" name="Google Shape;452;p28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9568" y="584005"/>
            <a:ext cx="7109437" cy="3999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9"/>
          <p:cNvSpPr txBox="1"/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b="1" i="0" lang="es-MX"/>
              <a:t>Virtualización del almacenamiento</a:t>
            </a:r>
            <a:endParaRPr/>
          </a:p>
        </p:txBody>
      </p:sp>
      <p:sp>
        <p:nvSpPr>
          <p:cNvPr id="458" name="Google Shape;458;p29"/>
          <p:cNvSpPr txBox="1"/>
          <p:nvPr>
            <p:ph idx="1" type="body"/>
          </p:nvPr>
        </p:nvSpPr>
        <p:spPr>
          <a:xfrm>
            <a:off x="595523" y="2676525"/>
            <a:ext cx="5746750" cy="3597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0" i="0" lang="es-MX"/>
              <a:t>Creación de una capa abstracta sobre el almacenamiento físico.</a:t>
            </a:r>
            <a:endParaRPr/>
          </a:p>
          <a:p>
            <a:pPr indent="-12700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MX"/>
              <a:t>Beneficios:</a:t>
            </a:r>
            <a:endParaRPr b="0" i="0"/>
          </a:p>
          <a:p>
            <a:pPr indent="-285750" lvl="1" marL="7429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/>
              <a:t>Mayor flexibilidad.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/>
              <a:t>Uso eficiente de recursos.</a:t>
            </a:r>
            <a:endParaRPr/>
          </a:p>
          <a:p>
            <a:pPr indent="-12700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MX"/>
              <a:t>Ejemplos:</a:t>
            </a:r>
            <a:endParaRPr b="0" i="0"/>
          </a:p>
          <a:p>
            <a:pPr indent="-285750" lvl="1" marL="7429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MX"/>
              <a:t>VMware vSAN:</a:t>
            </a:r>
            <a:r>
              <a:rPr b="0" i="0" lang="es-MX"/>
              <a:t> Solución de almacenamiento definido por software.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MX"/>
              <a:t>Microsoft Storage Spaces:</a:t>
            </a:r>
            <a:r>
              <a:rPr b="0" i="0" lang="es-MX"/>
              <a:t> Virtualización en entornos Windows.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descr="Imagen que contiene Gráfico&#10;&#10;Descripción generada automáticamente" id="459" name="Google Shape;459;p29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3" l="15771" r="14010" t="0"/>
          <a:stretch/>
        </p:blipFill>
        <p:spPr>
          <a:xfrm>
            <a:off x="7620000" y="2676525"/>
            <a:ext cx="3947160" cy="3597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0"/>
          <p:cNvSpPr txBox="1"/>
          <p:nvPr>
            <p:ph type="title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b="1" i="0" lang="es-MX"/>
              <a:t>Almacenamiento definido por software (SDS)</a:t>
            </a:r>
            <a:endParaRPr/>
          </a:p>
        </p:txBody>
      </p:sp>
      <p:pic>
        <p:nvPicPr>
          <p:cNvPr descr="Imagen que contiene Calendario&#10;&#10;Descripción generada automáticamente" id="465" name="Google Shape;465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" l="10867" r="6432" t="0"/>
          <a:stretch/>
        </p:blipFill>
        <p:spPr>
          <a:xfrm>
            <a:off x="594360" y="2676525"/>
            <a:ext cx="4490827" cy="359747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30"/>
          <p:cNvSpPr txBox="1"/>
          <p:nvPr>
            <p:ph idx="2" type="body"/>
          </p:nvPr>
        </p:nvSpPr>
        <p:spPr>
          <a:xfrm>
            <a:off x="5881898" y="2676525"/>
            <a:ext cx="4490827" cy="3597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s-MX" sz="1700"/>
              <a:t>Separación del software de almacenamiento del hardware.</a:t>
            </a:r>
            <a:endParaRPr/>
          </a:p>
          <a:p>
            <a:pPr indent="-10795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1" i="0" lang="es-MX" sz="1700"/>
              <a:t>Ventajas:</a:t>
            </a:r>
            <a:endParaRPr b="0" i="0" sz="1700"/>
          </a:p>
          <a:p>
            <a:pPr indent="-285750" lvl="1" marL="7429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s-MX" sz="1700"/>
              <a:t>Mayor flexibilidad.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s-MX" sz="1700"/>
              <a:t>Reducción de costos.</a:t>
            </a:r>
            <a:endParaRPr/>
          </a:p>
          <a:p>
            <a:pPr indent="-10795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1" i="0" lang="es-MX" sz="1700"/>
              <a:t>Diferencias con el almacenamiento tradicional:</a:t>
            </a:r>
            <a:endParaRPr b="0" i="0" sz="1700"/>
          </a:p>
          <a:p>
            <a:pPr indent="-285750" lvl="1" marL="7429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s-MX" sz="1700"/>
              <a:t>No depende de hardware específico.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s-MX" sz="1700"/>
              <a:t>Escalabilidad más fácil.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1"/>
          <p:cNvSpPr txBox="1"/>
          <p:nvPr>
            <p:ph type="title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b="1" i="0" lang="es-MX"/>
              <a:t>Tendencias en almacenamiento en red</a:t>
            </a:r>
            <a:endParaRPr/>
          </a:p>
        </p:txBody>
      </p:sp>
      <p:sp>
        <p:nvSpPr>
          <p:cNvPr id="472" name="Google Shape;472;p31"/>
          <p:cNvSpPr txBox="1"/>
          <p:nvPr>
            <p:ph idx="1" type="body"/>
          </p:nvPr>
        </p:nvSpPr>
        <p:spPr>
          <a:xfrm>
            <a:off x="594360" y="3279579"/>
            <a:ext cx="5044440" cy="2994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86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s-MX" sz="1600"/>
              <a:t>Almacenamiento hiperconvergente:</a:t>
            </a:r>
            <a:r>
              <a:rPr b="0" i="0" lang="es-MX" sz="1600"/>
              <a:t> Integración de almacenamiento, computación y redes en una sola solución.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s-MX" sz="1600"/>
              <a:t>Edge computing:</a:t>
            </a:r>
            <a:r>
              <a:rPr b="0" i="0" lang="es-MX" sz="1600"/>
              <a:t> Almacenamiento descentralizado para procesar datos cerca de la fuente.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s-MX" sz="1600"/>
              <a:t>Tendencias emergentes:</a:t>
            </a:r>
            <a:endParaRPr b="0" i="0" sz="1600"/>
          </a:p>
          <a:p>
            <a:pPr indent="-285750" lvl="1" marL="7429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MX" sz="1600"/>
              <a:t>Almacenamiento cuántico.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MX" sz="1600"/>
              <a:t>Almacenamiento en ADN.</a:t>
            </a:r>
            <a:endParaRPr/>
          </a:p>
        </p:txBody>
      </p:sp>
      <p:pic>
        <p:nvPicPr>
          <p:cNvPr descr="Un dibujo de una persona&#10;&#10;Descripción generada automáticamente con confianza baja" id="473" name="Google Shape;473;p3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478816"/>
            <a:ext cx="6118225" cy="3900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2"/>
          <p:cNvSpPr txBox="1"/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b="1" i="0" lang="es-MX"/>
              <a:t>Almacenamiento para Big Data</a:t>
            </a:r>
            <a:endParaRPr/>
          </a:p>
        </p:txBody>
      </p:sp>
      <p:pic>
        <p:nvPicPr>
          <p:cNvPr id="479" name="Google Shape;479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162" y="2676525"/>
            <a:ext cx="5577472" cy="359747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2"/>
          <p:cNvSpPr txBox="1"/>
          <p:nvPr>
            <p:ph idx="2" type="body"/>
          </p:nvPr>
        </p:nvSpPr>
        <p:spPr>
          <a:xfrm>
            <a:off x="7620000" y="2676525"/>
            <a:ext cx="3947160" cy="3597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MX"/>
              <a:t>Requerimientos:</a:t>
            </a:r>
            <a:endParaRPr b="0" i="0"/>
          </a:p>
          <a:p>
            <a:pPr indent="-285750" lvl="1" marL="7429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/>
              <a:t>Alta capacidad.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/>
              <a:t>Escalabilidad.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MX"/>
              <a:t>Soluciones:</a:t>
            </a:r>
            <a:endParaRPr b="0" i="0"/>
          </a:p>
          <a:p>
            <a:pPr indent="-285750" lvl="1" marL="7429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MX"/>
              <a:t>Hadoop Distributed File System (HDFS):</a:t>
            </a:r>
            <a:r>
              <a:rPr b="0" i="0" lang="es-MX"/>
              <a:t> Diseñado para grandes volúmenes de datos.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3"/>
          <p:cNvSpPr txBox="1"/>
          <p:nvPr>
            <p:ph type="title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b="1" i="0" lang="es-MX"/>
              <a:t>Almacenamiento para IA y Machine Learning</a:t>
            </a:r>
            <a:endParaRPr b="1" i="0"/>
          </a:p>
        </p:txBody>
      </p:sp>
      <p:sp>
        <p:nvSpPr>
          <p:cNvPr id="486" name="Google Shape;486;p33"/>
          <p:cNvSpPr txBox="1"/>
          <p:nvPr>
            <p:ph idx="1" type="body"/>
          </p:nvPr>
        </p:nvSpPr>
        <p:spPr>
          <a:xfrm>
            <a:off x="603885" y="584005"/>
            <a:ext cx="2825115" cy="3999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274300">
            <a:normAutofit/>
          </a:bodyPr>
          <a:lstStyle/>
          <a:p>
            <a:pPr indent="-10795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1" i="0" lang="es-MX" sz="1700"/>
              <a:t>Necesidades:</a:t>
            </a:r>
            <a:endParaRPr b="0" i="0" sz="1700"/>
          </a:p>
          <a:p>
            <a:pPr indent="-285750" lvl="1" marL="7429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s-MX" sz="1700"/>
              <a:t>Almacenamiento rápido para grandes conjuntos de datos.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s-MX" sz="1700"/>
              <a:t>Acceso concurrente.</a:t>
            </a:r>
            <a:endParaRPr/>
          </a:p>
          <a:p>
            <a:pPr indent="-10795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1" i="0" lang="es-MX" sz="1700"/>
              <a:t>Ejemplos de soluciones:</a:t>
            </a:r>
            <a:endParaRPr b="0" i="0" sz="1700"/>
          </a:p>
          <a:p>
            <a:pPr indent="-285750" lvl="1" marL="7429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s-MX" sz="1700"/>
              <a:t>Almacenamiento en la nube con GPUs integradas.</a:t>
            </a:r>
            <a:endParaRPr/>
          </a:p>
        </p:txBody>
      </p:sp>
      <p:pic>
        <p:nvPicPr>
          <p:cNvPr id="487" name="Google Shape;487;p33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0934" y="829752"/>
            <a:ext cx="7926705" cy="35075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4"/>
          <p:cNvSpPr txBox="1"/>
          <p:nvPr>
            <p:ph type="title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b="1" i="0" lang="es-MX"/>
              <a:t>Almacenamiento en red para empresas pequeñas</a:t>
            </a:r>
            <a:endParaRPr/>
          </a:p>
        </p:txBody>
      </p:sp>
      <p:sp>
        <p:nvSpPr>
          <p:cNvPr id="493" name="Google Shape;493;p34"/>
          <p:cNvSpPr txBox="1"/>
          <p:nvPr>
            <p:ph idx="1" type="body"/>
          </p:nvPr>
        </p:nvSpPr>
        <p:spPr>
          <a:xfrm>
            <a:off x="603885" y="584005"/>
            <a:ext cx="2825115" cy="3999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274300">
            <a:normAutofit/>
          </a:bodyPr>
          <a:lstStyle/>
          <a:p>
            <a:pPr indent="-1270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MX"/>
              <a:t>Soluciones asequibles:</a:t>
            </a:r>
            <a:endParaRPr b="0" i="0"/>
          </a:p>
          <a:p>
            <a:pPr indent="-285750" lvl="1" marL="7429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/>
              <a:t>NAS de gama media.</a:t>
            </a:r>
            <a:endParaRPr/>
          </a:p>
          <a:p>
            <a:pPr indent="-12700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MX"/>
              <a:t>Escalabilidad:</a:t>
            </a:r>
            <a:endParaRPr b="0" i="0"/>
          </a:p>
          <a:p>
            <a:pPr indent="-285750" lvl="1" marL="7429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/>
              <a:t>Añadir discos según sea necesario.</a:t>
            </a:r>
            <a:endParaRPr/>
          </a:p>
          <a:p>
            <a:pPr indent="-12700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MX"/>
              <a:t>Ejemplos:</a:t>
            </a:r>
            <a:endParaRPr b="0" i="0"/>
          </a:p>
          <a:p>
            <a:pPr indent="-285750" lvl="1" marL="7429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/>
              <a:t>Synology, QNAP.</a:t>
            </a:r>
            <a:endParaRPr/>
          </a:p>
        </p:txBody>
      </p:sp>
      <p:pic>
        <p:nvPicPr>
          <p:cNvPr id="494" name="Google Shape;494;p34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8570" l="0" r="-3" t="7174"/>
          <a:stretch/>
        </p:blipFill>
        <p:spPr>
          <a:xfrm>
            <a:off x="3670934" y="584005"/>
            <a:ext cx="7926705" cy="3999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5"/>
          <p:cNvSpPr txBox="1"/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b="1" i="0" lang="es-MX"/>
              <a:t>Almacenamiento en red para grandes empresas</a:t>
            </a:r>
            <a:endParaRPr/>
          </a:p>
        </p:txBody>
      </p:sp>
      <p:pic>
        <p:nvPicPr>
          <p:cNvPr id="500" name="Google Shape;500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" l="4986" r="5159" t="0"/>
          <a:stretch/>
        </p:blipFill>
        <p:spPr>
          <a:xfrm>
            <a:off x="595523" y="2676525"/>
            <a:ext cx="5746750" cy="359747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5"/>
          <p:cNvSpPr txBox="1"/>
          <p:nvPr>
            <p:ph idx="2" type="body"/>
          </p:nvPr>
        </p:nvSpPr>
        <p:spPr>
          <a:xfrm>
            <a:off x="7620000" y="2676525"/>
            <a:ext cx="3947160" cy="3597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MX"/>
              <a:t>Soluciones de alta disponibilidad:</a:t>
            </a:r>
            <a:endParaRPr b="0" i="0"/>
          </a:p>
          <a:p>
            <a:pPr indent="-285750" lvl="1" marL="7429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/>
              <a:t>SAN.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/>
              <a:t>Almacenamiento en la nube híbrido.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MX"/>
              <a:t>Rendimiento:</a:t>
            </a:r>
            <a:endParaRPr b="0" i="0"/>
          </a:p>
          <a:p>
            <a:pPr indent="-285750" lvl="1" marL="7429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/>
              <a:t>Fibre Channel.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/>
              <a:t>iSCSI.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6"/>
          <p:cNvSpPr txBox="1"/>
          <p:nvPr>
            <p:ph type="title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b="1" i="0" lang="es-MX"/>
              <a:t>Almacenamiento en red para uso doméstico</a:t>
            </a:r>
            <a:endParaRPr/>
          </a:p>
        </p:txBody>
      </p:sp>
      <p:sp>
        <p:nvSpPr>
          <p:cNvPr id="507" name="Google Shape;507;p36"/>
          <p:cNvSpPr txBox="1"/>
          <p:nvPr>
            <p:ph idx="1" type="body"/>
          </p:nvPr>
        </p:nvSpPr>
        <p:spPr>
          <a:xfrm>
            <a:off x="594360" y="3279579"/>
            <a:ext cx="5044440" cy="2994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8600">
            <a:normAutofit/>
          </a:bodyPr>
          <a:lstStyle/>
          <a:p>
            <a:pPr indent="-1270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MX"/>
              <a:t>Soluciones NAS:</a:t>
            </a:r>
            <a:endParaRPr b="0" i="0"/>
          </a:p>
          <a:p>
            <a:pPr indent="-285750" lvl="1" marL="7429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/>
              <a:t>Almacenamiento multimedia.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/>
              <a:t>Backup automático.</a:t>
            </a:r>
            <a:endParaRPr/>
          </a:p>
          <a:p>
            <a:pPr indent="-12700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MX"/>
              <a:t>Acceso remoto:</a:t>
            </a:r>
            <a:endParaRPr b="0" i="0"/>
          </a:p>
          <a:p>
            <a:pPr indent="-285750" lvl="1" marL="7429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/>
              <a:t>Aplicaciones móviles.</a:t>
            </a:r>
            <a:endParaRPr/>
          </a:p>
        </p:txBody>
      </p:sp>
      <p:pic>
        <p:nvPicPr>
          <p:cNvPr id="508" name="Google Shape;508;p3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046" r="3046" t="0"/>
          <a:stretch/>
        </p:blipFill>
        <p:spPr>
          <a:xfrm>
            <a:off x="6096000" y="10"/>
            <a:ext cx="6118225" cy="6857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7"/>
          <p:cNvSpPr txBox="1"/>
          <p:nvPr>
            <p:ph type="title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Franklin Gothic"/>
              <a:buNone/>
            </a:pPr>
            <a:r>
              <a:rPr b="1" i="0" lang="es-MX" sz="4100"/>
              <a:t>Costos del almacenamiento en red</a:t>
            </a:r>
            <a:br>
              <a:rPr b="1" i="0" lang="es-MX" sz="4100"/>
            </a:br>
            <a:endParaRPr sz="4100"/>
          </a:p>
        </p:txBody>
      </p:sp>
      <p:grpSp>
        <p:nvGrpSpPr>
          <p:cNvPr id="514" name="Google Shape;514;p37"/>
          <p:cNvGrpSpPr/>
          <p:nvPr/>
        </p:nvGrpSpPr>
        <p:grpSpPr>
          <a:xfrm>
            <a:off x="594359" y="2293223"/>
            <a:ext cx="6787747" cy="3685905"/>
            <a:chOff x="0" y="11305"/>
            <a:chExt cx="6787747" cy="3685905"/>
          </a:xfrm>
        </p:grpSpPr>
        <p:sp>
          <p:nvSpPr>
            <p:cNvPr id="515" name="Google Shape;515;p37"/>
            <p:cNvSpPr/>
            <p:nvPr/>
          </p:nvSpPr>
          <p:spPr>
            <a:xfrm>
              <a:off x="0" y="291746"/>
              <a:ext cx="6787747" cy="1645875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rgbClr val="A7D3DA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37"/>
            <p:cNvSpPr txBox="1"/>
            <p:nvPr/>
          </p:nvSpPr>
          <p:spPr>
            <a:xfrm>
              <a:off x="0" y="291746"/>
              <a:ext cx="6787747" cy="1645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5125" lIns="526800" spcFirstLastPara="1" rIns="526800" wrap="square" tIns="3957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Libre Franklin"/>
                <a:buChar char="•"/>
              </a:pPr>
              <a:r>
                <a:rPr b="0" i="0" lang="es-MX" sz="1900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DAS: Bajo costo inicial.</a:t>
              </a:r>
              <a:endParaRPr b="0" i="0" sz="19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85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Libre Franklin"/>
                <a:buChar char="•"/>
              </a:pPr>
              <a:r>
                <a:rPr b="0" i="0" lang="es-MX" sz="1900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NAS: Costo moderado.</a:t>
              </a:r>
              <a:endParaRPr b="0" i="0" sz="19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85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Libre Franklin"/>
                <a:buChar char="•"/>
              </a:pPr>
              <a:r>
                <a:rPr b="0" i="0" lang="es-MX" sz="1900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SAN: Alto costo.</a:t>
              </a:r>
              <a:endParaRPr b="0" i="0" sz="19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85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Libre Franklin"/>
                <a:buChar char="•"/>
              </a:pPr>
              <a:r>
                <a:rPr b="0" i="0" lang="es-MX" sz="1900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Nube: Pago por uso.</a:t>
              </a:r>
              <a:endParaRPr b="0" i="0" sz="19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17" name="Google Shape;517;p37"/>
            <p:cNvSpPr/>
            <p:nvPr/>
          </p:nvSpPr>
          <p:spPr>
            <a:xfrm>
              <a:off x="339387" y="11305"/>
              <a:ext cx="4751422" cy="560880"/>
            </a:xfrm>
            <a:prstGeom prst="roundRect">
              <a:avLst>
                <a:gd fmla="val 16667" name="adj"/>
              </a:avLst>
            </a:prstGeom>
            <a:solidFill>
              <a:srgbClr val="A7D3DA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37"/>
            <p:cNvSpPr txBox="1"/>
            <p:nvPr/>
          </p:nvSpPr>
          <p:spPr>
            <a:xfrm>
              <a:off x="366767" y="38685"/>
              <a:ext cx="4696662" cy="506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79575" spcFirstLastPara="1" rIns="1795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Libre Franklin"/>
                <a:buNone/>
              </a:pPr>
              <a:r>
                <a:rPr b="1" i="0" lang="es-MX" sz="19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Comparación de costos:</a:t>
              </a:r>
              <a:endParaRPr sz="19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19" name="Google Shape;519;p37"/>
            <p:cNvSpPr/>
            <p:nvPr/>
          </p:nvSpPr>
          <p:spPr>
            <a:xfrm>
              <a:off x="0" y="2320660"/>
              <a:ext cx="6787747" cy="137655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rgbClr val="A7D3DA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37"/>
            <p:cNvSpPr txBox="1"/>
            <p:nvPr/>
          </p:nvSpPr>
          <p:spPr>
            <a:xfrm>
              <a:off x="0" y="2320660"/>
              <a:ext cx="6787747" cy="137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5125" lIns="526800" spcFirstLastPara="1" rIns="526800" wrap="square" tIns="3957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Libre Franklin"/>
                <a:buChar char="•"/>
              </a:pPr>
              <a:r>
                <a:rPr b="0" i="0" lang="es-MX" sz="1900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Capacidad.</a:t>
              </a:r>
              <a:endParaRPr b="0" i="0" sz="19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85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Libre Franklin"/>
                <a:buChar char="•"/>
              </a:pPr>
              <a:r>
                <a:rPr b="0" i="0" lang="es-MX" sz="1900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Rendimiento.</a:t>
              </a:r>
              <a:endParaRPr b="0" i="0" sz="19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85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Libre Franklin"/>
                <a:buChar char="•"/>
              </a:pPr>
              <a:r>
                <a:rPr b="0" i="0" lang="es-MX" sz="1900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Seguridad.</a:t>
              </a:r>
              <a:endParaRPr b="0" i="0" sz="19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21" name="Google Shape;521;p37"/>
            <p:cNvSpPr/>
            <p:nvPr/>
          </p:nvSpPr>
          <p:spPr>
            <a:xfrm>
              <a:off x="339387" y="2040221"/>
              <a:ext cx="4751422" cy="560880"/>
            </a:xfrm>
            <a:prstGeom prst="roundRect">
              <a:avLst>
                <a:gd fmla="val 16667" name="adj"/>
              </a:avLst>
            </a:prstGeom>
            <a:solidFill>
              <a:srgbClr val="A7D3DA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37"/>
            <p:cNvSpPr txBox="1"/>
            <p:nvPr/>
          </p:nvSpPr>
          <p:spPr>
            <a:xfrm>
              <a:off x="366767" y="2067601"/>
              <a:ext cx="4696662" cy="506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79575" spcFirstLastPara="1" rIns="1795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Libre Franklin"/>
                <a:buNone/>
              </a:pPr>
              <a:r>
                <a:rPr b="1" i="0" lang="es-MX" sz="19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Factores que influyen en el costo:</a:t>
              </a:r>
              <a:endParaRPr sz="19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8"/>
          <p:cNvSpPr txBox="1"/>
          <p:nvPr>
            <p:ph type="title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b="1" i="0" lang="es-MX"/>
              <a:t>Implementación de almacenamiento en red</a:t>
            </a:r>
            <a:endParaRPr/>
          </a:p>
        </p:txBody>
      </p:sp>
      <p:grpSp>
        <p:nvGrpSpPr>
          <p:cNvPr id="528" name="Google Shape;528;p38"/>
          <p:cNvGrpSpPr/>
          <p:nvPr/>
        </p:nvGrpSpPr>
        <p:grpSpPr>
          <a:xfrm>
            <a:off x="3657600" y="2282053"/>
            <a:ext cx="7810499" cy="3699237"/>
            <a:chOff x="0" y="45"/>
            <a:chExt cx="7810499" cy="3699237"/>
          </a:xfrm>
        </p:grpSpPr>
        <p:sp>
          <p:nvSpPr>
            <p:cNvPr id="529" name="Google Shape;529;p38"/>
            <p:cNvSpPr/>
            <p:nvPr/>
          </p:nvSpPr>
          <p:spPr>
            <a:xfrm rot="5400000">
              <a:off x="4589337" y="-1597061"/>
              <a:ext cx="1443604" cy="499872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DDCDF">
                <a:alpha val="89803"/>
              </a:srgbClr>
            </a:solidFill>
            <a:ln cap="flat" cmpd="sng" w="12700">
              <a:solidFill>
                <a:srgbClr val="CDDCD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38"/>
            <p:cNvSpPr txBox="1"/>
            <p:nvPr/>
          </p:nvSpPr>
          <p:spPr>
            <a:xfrm>
              <a:off x="2811780" y="250967"/>
              <a:ext cx="4928249" cy="1302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525" lIns="99050" spcFirstLastPara="1" rIns="99050" wrap="square" tIns="4952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Libre Franklin"/>
                <a:buChar char="•"/>
              </a:pPr>
              <a:r>
                <a:rPr b="0" i="0" lang="es-MX" sz="2600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Evaluar necesidades.</a:t>
              </a:r>
              <a:endParaRPr b="0" i="0" sz="2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9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Libre Franklin"/>
                <a:buChar char="•"/>
              </a:pPr>
              <a:r>
                <a:rPr b="0" i="0" lang="es-MX" sz="2600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Elegir la solución adecuada.</a:t>
              </a:r>
              <a:endParaRPr b="0" i="0" sz="2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9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Libre Franklin"/>
                <a:buChar char="•"/>
              </a:pPr>
              <a:r>
                <a:rPr b="0" i="0" lang="es-MX" sz="2600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Configurar hardware y software.</a:t>
              </a:r>
              <a:endParaRPr b="0" i="0" sz="2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31" name="Google Shape;531;p38"/>
            <p:cNvSpPr/>
            <p:nvPr/>
          </p:nvSpPr>
          <p:spPr>
            <a:xfrm>
              <a:off x="0" y="45"/>
              <a:ext cx="2811780" cy="1804506"/>
            </a:xfrm>
            <a:prstGeom prst="roundRect">
              <a:avLst>
                <a:gd fmla="val 16667" name="adj"/>
              </a:avLst>
            </a:prstGeom>
            <a:solidFill>
              <a:srgbClr val="4295A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8"/>
            <p:cNvSpPr txBox="1"/>
            <p:nvPr/>
          </p:nvSpPr>
          <p:spPr>
            <a:xfrm>
              <a:off x="88089" y="88134"/>
              <a:ext cx="2635602" cy="1628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525" lIns="99050" spcFirstLastPara="1" rIns="99050" wrap="square" tIns="495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Libre Franklin"/>
                <a:buNone/>
              </a:pPr>
              <a:r>
                <a:rPr b="1" i="0" lang="es-MX" sz="26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Pasos:</a:t>
              </a:r>
              <a:endParaRPr sz="26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33" name="Google Shape;533;p38"/>
            <p:cNvSpPr/>
            <p:nvPr/>
          </p:nvSpPr>
          <p:spPr>
            <a:xfrm rot="5400000">
              <a:off x="4589337" y="297669"/>
              <a:ext cx="1443604" cy="499872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DDCDF">
                <a:alpha val="89803"/>
              </a:srgbClr>
            </a:solidFill>
            <a:ln cap="flat" cmpd="sng" w="12700">
              <a:solidFill>
                <a:srgbClr val="CDDCD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38"/>
            <p:cNvSpPr txBox="1"/>
            <p:nvPr/>
          </p:nvSpPr>
          <p:spPr>
            <a:xfrm>
              <a:off x="2811780" y="2145698"/>
              <a:ext cx="4928249" cy="1302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525" lIns="99050" spcFirstLastPara="1" rIns="99050" wrap="square" tIns="4952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Libre Franklin"/>
                <a:buChar char="•"/>
              </a:pPr>
              <a:r>
                <a:rPr b="0" i="0" lang="es-MX" sz="2600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Rendimiento.</a:t>
              </a:r>
              <a:endParaRPr b="0" i="0" sz="2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9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Libre Franklin"/>
                <a:buChar char="•"/>
              </a:pPr>
              <a:r>
                <a:rPr b="0" i="0" lang="es-MX" sz="2600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Escalabilidad.</a:t>
              </a:r>
              <a:endParaRPr b="0" i="0" sz="2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9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Libre Franklin"/>
                <a:buChar char="•"/>
              </a:pPr>
              <a:r>
                <a:rPr b="0" i="0" lang="es-MX" sz="2600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Seguridad.</a:t>
              </a:r>
              <a:endParaRPr b="0" i="0" sz="2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35" name="Google Shape;535;p38"/>
            <p:cNvSpPr/>
            <p:nvPr/>
          </p:nvSpPr>
          <p:spPr>
            <a:xfrm>
              <a:off x="0" y="1894776"/>
              <a:ext cx="2811780" cy="1804506"/>
            </a:xfrm>
            <a:prstGeom prst="roundRect">
              <a:avLst>
                <a:gd fmla="val 16667" name="adj"/>
              </a:avLst>
            </a:prstGeom>
            <a:solidFill>
              <a:srgbClr val="4295A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38"/>
            <p:cNvSpPr txBox="1"/>
            <p:nvPr/>
          </p:nvSpPr>
          <p:spPr>
            <a:xfrm>
              <a:off x="88089" y="1982865"/>
              <a:ext cx="2635602" cy="1628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525" lIns="99050" spcFirstLastPara="1" rIns="99050" wrap="square" tIns="495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Libre Franklin"/>
                <a:buNone/>
              </a:pPr>
              <a:r>
                <a:rPr b="1" i="0" lang="es-MX" sz="26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Consideraciones clave:</a:t>
              </a:r>
              <a:endParaRPr sz="26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9"/>
          <p:cNvSpPr txBox="1"/>
          <p:nvPr>
            <p:ph type="title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b="1" i="0" lang="es-MX"/>
              <a:t>Mantenimiento del almacenamiento en red</a:t>
            </a:r>
            <a:endParaRPr/>
          </a:p>
        </p:txBody>
      </p:sp>
      <p:grpSp>
        <p:nvGrpSpPr>
          <p:cNvPr id="542" name="Google Shape;542;p39"/>
          <p:cNvGrpSpPr/>
          <p:nvPr/>
        </p:nvGrpSpPr>
        <p:grpSpPr>
          <a:xfrm>
            <a:off x="594360" y="3219599"/>
            <a:ext cx="10972800" cy="2454799"/>
            <a:chOff x="0" y="590970"/>
            <a:chExt cx="10972800" cy="2454799"/>
          </a:xfrm>
        </p:grpSpPr>
        <p:sp>
          <p:nvSpPr>
            <p:cNvPr id="543" name="Google Shape;543;p39"/>
            <p:cNvSpPr/>
            <p:nvPr/>
          </p:nvSpPr>
          <p:spPr>
            <a:xfrm>
              <a:off x="0" y="590970"/>
              <a:ext cx="10972800" cy="1091022"/>
            </a:xfrm>
            <a:prstGeom prst="roundRect">
              <a:avLst>
                <a:gd fmla="val 10000" name="adj"/>
              </a:avLst>
            </a:prstGeom>
            <a:solidFill>
              <a:srgbClr val="64B1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39"/>
            <p:cNvSpPr/>
            <p:nvPr/>
          </p:nvSpPr>
          <p:spPr>
            <a:xfrm>
              <a:off x="330034" y="836450"/>
              <a:ext cx="600062" cy="60006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39"/>
            <p:cNvSpPr/>
            <p:nvPr/>
          </p:nvSpPr>
          <p:spPr>
            <a:xfrm>
              <a:off x="1260130" y="590970"/>
              <a:ext cx="4937760" cy="10910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39"/>
            <p:cNvSpPr txBox="1"/>
            <p:nvPr/>
          </p:nvSpPr>
          <p:spPr>
            <a:xfrm>
              <a:off x="1260130" y="590970"/>
              <a:ext cx="4937760" cy="10910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5450" lIns="115450" spcFirstLastPara="1" rIns="115450" wrap="square" tIns="1154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Libre Franklin"/>
                <a:buNone/>
              </a:pPr>
              <a:r>
                <a:rPr b="1" i="0" lang="es-MX" sz="25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Monitoreo:</a:t>
              </a:r>
              <a:endParaRPr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47" name="Google Shape;547;p39"/>
            <p:cNvSpPr/>
            <p:nvPr/>
          </p:nvSpPr>
          <p:spPr>
            <a:xfrm>
              <a:off x="6197890" y="590970"/>
              <a:ext cx="4774909" cy="10910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9"/>
            <p:cNvSpPr txBox="1"/>
            <p:nvPr/>
          </p:nvSpPr>
          <p:spPr>
            <a:xfrm>
              <a:off x="6197890" y="590970"/>
              <a:ext cx="4774909" cy="10910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5450" lIns="115450" spcFirstLastPara="1" rIns="115450" wrap="square" tIns="1154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ibre Franklin"/>
                <a:buNone/>
              </a:pPr>
              <a:r>
                <a:rPr b="0" i="0" lang="es-MX" sz="18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Uso de recursos.</a:t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ibre Franklin"/>
                <a:buNone/>
              </a:pPr>
              <a:r>
                <a:rPr b="0" i="0" lang="es-MX" sz="18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Detección de fallos.</a:t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49" name="Google Shape;549;p39"/>
            <p:cNvSpPr/>
            <p:nvPr/>
          </p:nvSpPr>
          <p:spPr>
            <a:xfrm>
              <a:off x="0" y="1954747"/>
              <a:ext cx="10972800" cy="1091022"/>
            </a:xfrm>
            <a:prstGeom prst="roundRect">
              <a:avLst>
                <a:gd fmla="val 10000" name="adj"/>
              </a:avLst>
            </a:prstGeom>
            <a:solidFill>
              <a:srgbClr val="64B1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9"/>
            <p:cNvSpPr/>
            <p:nvPr/>
          </p:nvSpPr>
          <p:spPr>
            <a:xfrm>
              <a:off x="330034" y="2200227"/>
              <a:ext cx="600062" cy="60006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9"/>
            <p:cNvSpPr/>
            <p:nvPr/>
          </p:nvSpPr>
          <p:spPr>
            <a:xfrm>
              <a:off x="1260130" y="1954747"/>
              <a:ext cx="4937760" cy="10910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39"/>
            <p:cNvSpPr txBox="1"/>
            <p:nvPr/>
          </p:nvSpPr>
          <p:spPr>
            <a:xfrm>
              <a:off x="1260130" y="1954747"/>
              <a:ext cx="4937760" cy="10910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5450" lIns="115450" spcFirstLastPara="1" rIns="115450" wrap="square" tIns="1154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Libre Franklin"/>
                <a:buNone/>
              </a:pPr>
              <a:r>
                <a:rPr b="1" i="0" lang="es-MX" sz="25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Actualizaciones:</a:t>
              </a:r>
              <a:endParaRPr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53" name="Google Shape;553;p39"/>
            <p:cNvSpPr/>
            <p:nvPr/>
          </p:nvSpPr>
          <p:spPr>
            <a:xfrm>
              <a:off x="6197890" y="1954747"/>
              <a:ext cx="4774909" cy="10910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39"/>
            <p:cNvSpPr txBox="1"/>
            <p:nvPr/>
          </p:nvSpPr>
          <p:spPr>
            <a:xfrm>
              <a:off x="6197890" y="1954747"/>
              <a:ext cx="4774909" cy="10910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5450" lIns="115450" spcFirstLastPara="1" rIns="115450" wrap="square" tIns="1154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ibre Franklin"/>
                <a:buNone/>
              </a:pPr>
              <a:r>
                <a:rPr b="0" i="0" lang="es-MX" sz="18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Parches de seguridad.</a:t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ibre Franklin"/>
                <a:buNone/>
              </a:pPr>
              <a:r>
                <a:rPr b="0" i="0" lang="es-MX" sz="18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Mejoras de rendimiento.</a:t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0"/>
          <p:cNvSpPr txBox="1"/>
          <p:nvPr>
            <p:ph type="title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ranklin Gothic"/>
              <a:buNone/>
            </a:pPr>
            <a:r>
              <a:rPr b="1" i="0" lang="es-MX" sz="3700"/>
              <a:t>Migración a soluciones de almacenamiento en red</a:t>
            </a:r>
            <a:br>
              <a:rPr b="1" i="0" lang="es-MX" sz="3700"/>
            </a:br>
            <a:endParaRPr sz="3700"/>
          </a:p>
        </p:txBody>
      </p:sp>
      <p:pic>
        <p:nvPicPr>
          <p:cNvPr id="560" name="Google Shape;560;p4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719" y="1641848"/>
            <a:ext cx="2825750" cy="18833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1" name="Google Shape;561;p40"/>
          <p:cNvGrpSpPr/>
          <p:nvPr/>
        </p:nvGrpSpPr>
        <p:grpSpPr>
          <a:xfrm>
            <a:off x="3670934" y="584493"/>
            <a:ext cx="7926705" cy="3998083"/>
            <a:chOff x="0" y="488"/>
            <a:chExt cx="7926705" cy="3998083"/>
          </a:xfrm>
        </p:grpSpPr>
        <p:sp>
          <p:nvSpPr>
            <p:cNvPr id="562" name="Google Shape;562;p40"/>
            <p:cNvSpPr/>
            <p:nvPr/>
          </p:nvSpPr>
          <p:spPr>
            <a:xfrm>
              <a:off x="0" y="488"/>
              <a:ext cx="7926705" cy="1142309"/>
            </a:xfrm>
            <a:prstGeom prst="roundRect">
              <a:avLst>
                <a:gd fmla="val 10000" name="adj"/>
              </a:avLst>
            </a:prstGeom>
            <a:solidFill>
              <a:srgbClr val="CDDC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40"/>
            <p:cNvSpPr/>
            <p:nvPr/>
          </p:nvSpPr>
          <p:spPr>
            <a:xfrm>
              <a:off x="345548" y="257507"/>
              <a:ext cx="628270" cy="62827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40"/>
            <p:cNvSpPr/>
            <p:nvPr/>
          </p:nvSpPr>
          <p:spPr>
            <a:xfrm>
              <a:off x="1319367" y="488"/>
              <a:ext cx="3567017" cy="11423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40"/>
            <p:cNvSpPr txBox="1"/>
            <p:nvPr/>
          </p:nvSpPr>
          <p:spPr>
            <a:xfrm>
              <a:off x="1319367" y="488"/>
              <a:ext cx="3567017" cy="11423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0875" lIns="120875" spcFirstLastPara="1" rIns="120875" wrap="square" tIns="1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Libre Franklin"/>
                <a:buNone/>
              </a:pPr>
              <a:r>
                <a:rPr b="1" i="0" lang="es-MX" sz="25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Cómo migrar:</a:t>
              </a:r>
              <a:endParaRPr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66" name="Google Shape;566;p40"/>
            <p:cNvSpPr/>
            <p:nvPr/>
          </p:nvSpPr>
          <p:spPr>
            <a:xfrm>
              <a:off x="4886384" y="488"/>
              <a:ext cx="3040320" cy="11423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40"/>
            <p:cNvSpPr txBox="1"/>
            <p:nvPr/>
          </p:nvSpPr>
          <p:spPr>
            <a:xfrm>
              <a:off x="4886384" y="488"/>
              <a:ext cx="3040320" cy="11423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0875" lIns="120875" spcFirstLastPara="1" rIns="120875" wrap="square" tIns="1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Libre Franklin"/>
                <a:buNone/>
              </a:pPr>
              <a:r>
                <a:rPr b="0" i="0" lang="es-MX" sz="14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Evaluar datos existentes.</a:t>
              </a: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Libre Franklin"/>
                <a:buNone/>
              </a:pPr>
              <a:r>
                <a:rPr b="0" i="0" lang="es-MX" sz="14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Elegir la solución adecuada.</a:t>
              </a: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Libre Franklin"/>
                <a:buNone/>
              </a:pPr>
              <a:r>
                <a:rPr b="0" i="0" lang="es-MX" sz="14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Transferir datos de manera segura.</a:t>
              </a: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68" name="Google Shape;568;p40"/>
            <p:cNvSpPr/>
            <p:nvPr/>
          </p:nvSpPr>
          <p:spPr>
            <a:xfrm>
              <a:off x="0" y="1428375"/>
              <a:ext cx="7926705" cy="1142309"/>
            </a:xfrm>
            <a:prstGeom prst="roundRect">
              <a:avLst>
                <a:gd fmla="val 10000" name="adj"/>
              </a:avLst>
            </a:prstGeom>
            <a:solidFill>
              <a:srgbClr val="CDDC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40"/>
            <p:cNvSpPr/>
            <p:nvPr/>
          </p:nvSpPr>
          <p:spPr>
            <a:xfrm>
              <a:off x="345548" y="1685394"/>
              <a:ext cx="628270" cy="62827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40"/>
            <p:cNvSpPr/>
            <p:nvPr/>
          </p:nvSpPr>
          <p:spPr>
            <a:xfrm>
              <a:off x="1319367" y="1428375"/>
              <a:ext cx="3567017" cy="11423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40"/>
            <p:cNvSpPr txBox="1"/>
            <p:nvPr/>
          </p:nvSpPr>
          <p:spPr>
            <a:xfrm>
              <a:off x="1319367" y="1428375"/>
              <a:ext cx="3567017" cy="11423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0875" lIns="120875" spcFirstLastPara="1" rIns="120875" wrap="square" tIns="1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Libre Franklin"/>
                <a:buNone/>
              </a:pPr>
              <a:r>
                <a:rPr b="1" i="0" lang="es-MX" sz="25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Herramientas:</a:t>
              </a:r>
              <a:endParaRPr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72" name="Google Shape;572;p40"/>
            <p:cNvSpPr/>
            <p:nvPr/>
          </p:nvSpPr>
          <p:spPr>
            <a:xfrm>
              <a:off x="4886384" y="1428375"/>
              <a:ext cx="3040320" cy="11423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40"/>
            <p:cNvSpPr txBox="1"/>
            <p:nvPr/>
          </p:nvSpPr>
          <p:spPr>
            <a:xfrm>
              <a:off x="4886384" y="1428375"/>
              <a:ext cx="3040320" cy="11423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0875" lIns="120875" spcFirstLastPara="1" rIns="120875" wrap="square" tIns="1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Libre Franklin"/>
                <a:buNone/>
              </a:pPr>
              <a:r>
                <a:rPr b="0" i="0" lang="es-MX" sz="14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Software de migración.</a:t>
              </a: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74" name="Google Shape;574;p40"/>
            <p:cNvSpPr/>
            <p:nvPr/>
          </p:nvSpPr>
          <p:spPr>
            <a:xfrm>
              <a:off x="0" y="2856262"/>
              <a:ext cx="7926705" cy="1142309"/>
            </a:xfrm>
            <a:prstGeom prst="roundRect">
              <a:avLst>
                <a:gd fmla="val 10000" name="adj"/>
              </a:avLst>
            </a:prstGeom>
            <a:solidFill>
              <a:srgbClr val="CDDC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40"/>
            <p:cNvSpPr/>
            <p:nvPr/>
          </p:nvSpPr>
          <p:spPr>
            <a:xfrm>
              <a:off x="345548" y="3113281"/>
              <a:ext cx="628270" cy="62827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40"/>
            <p:cNvSpPr/>
            <p:nvPr/>
          </p:nvSpPr>
          <p:spPr>
            <a:xfrm>
              <a:off x="1319367" y="2856262"/>
              <a:ext cx="3567017" cy="11423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40"/>
            <p:cNvSpPr txBox="1"/>
            <p:nvPr/>
          </p:nvSpPr>
          <p:spPr>
            <a:xfrm>
              <a:off x="1319367" y="2856262"/>
              <a:ext cx="3567017" cy="11423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0875" lIns="120875" spcFirstLastPara="1" rIns="120875" wrap="square" tIns="1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Libre Franklin"/>
                <a:buNone/>
              </a:pPr>
              <a:r>
                <a:rPr b="1" i="0" lang="es-MX" sz="25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Mejores prácticas:</a:t>
              </a:r>
              <a:endParaRPr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78" name="Google Shape;578;p40"/>
            <p:cNvSpPr/>
            <p:nvPr/>
          </p:nvSpPr>
          <p:spPr>
            <a:xfrm>
              <a:off x="4886384" y="2856262"/>
              <a:ext cx="3040320" cy="11423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40"/>
            <p:cNvSpPr txBox="1"/>
            <p:nvPr/>
          </p:nvSpPr>
          <p:spPr>
            <a:xfrm>
              <a:off x="4886384" y="2856262"/>
              <a:ext cx="3040320" cy="11423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0875" lIns="120875" spcFirstLastPara="1" rIns="120875" wrap="square" tIns="1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Libre Franklin"/>
                <a:buNone/>
              </a:pPr>
              <a:r>
                <a:rPr b="0" i="0" lang="es-MX" sz="14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Planificación.</a:t>
              </a: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Libre Franklin"/>
                <a:buNone/>
              </a:pPr>
              <a:r>
                <a:rPr b="0" i="0" lang="es-MX" sz="14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Pruebas.</a:t>
              </a: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1"/>
          <p:cNvSpPr txBox="1"/>
          <p:nvPr>
            <p:ph type="title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b="1" i="0" lang="es-MX"/>
              <a:t>Casos de éxito</a:t>
            </a:r>
            <a:br>
              <a:rPr b="1" i="0" lang="es-MX"/>
            </a:br>
            <a:endParaRPr/>
          </a:p>
        </p:txBody>
      </p:sp>
      <p:grpSp>
        <p:nvGrpSpPr>
          <p:cNvPr id="585" name="Google Shape;585;p41"/>
          <p:cNvGrpSpPr/>
          <p:nvPr/>
        </p:nvGrpSpPr>
        <p:grpSpPr>
          <a:xfrm>
            <a:off x="3670934" y="652494"/>
            <a:ext cx="7926705" cy="3862080"/>
            <a:chOff x="0" y="68489"/>
            <a:chExt cx="7926705" cy="3862080"/>
          </a:xfrm>
        </p:grpSpPr>
        <p:sp>
          <p:nvSpPr>
            <p:cNvPr id="586" name="Google Shape;586;p41"/>
            <p:cNvSpPr/>
            <p:nvPr/>
          </p:nvSpPr>
          <p:spPr>
            <a:xfrm>
              <a:off x="0" y="422729"/>
              <a:ext cx="7926705" cy="16632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rgbClr val="4295A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41"/>
            <p:cNvSpPr txBox="1"/>
            <p:nvPr/>
          </p:nvSpPr>
          <p:spPr>
            <a:xfrm>
              <a:off x="0" y="422729"/>
              <a:ext cx="7926705" cy="166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0675" lIns="615200" spcFirstLastPara="1" rIns="615200" wrap="square" tIns="49985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Libre Franklin"/>
                <a:buChar char="•"/>
              </a:pPr>
              <a:r>
                <a:rPr b="0" i="0" lang="es-MX" sz="2400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Empresa X: Implementó NAS y redujo costos.</a:t>
              </a:r>
              <a:endParaRPr b="0" i="0" sz="24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Libre Franklin"/>
                <a:buChar char="•"/>
              </a:pPr>
              <a:r>
                <a:rPr b="0" i="0" lang="es-MX" sz="2400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Empresa Y: Migró a la nube y mejoró la colaboración.</a:t>
              </a:r>
              <a:endParaRPr b="0" i="0" sz="24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88" name="Google Shape;588;p41"/>
            <p:cNvSpPr/>
            <p:nvPr/>
          </p:nvSpPr>
          <p:spPr>
            <a:xfrm>
              <a:off x="396335" y="68489"/>
              <a:ext cx="5548693" cy="708480"/>
            </a:xfrm>
            <a:prstGeom prst="roundRect">
              <a:avLst>
                <a:gd fmla="val 16667" name="adj"/>
              </a:avLst>
            </a:prstGeom>
            <a:solidFill>
              <a:srgbClr val="4295A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41"/>
            <p:cNvSpPr txBox="1"/>
            <p:nvPr/>
          </p:nvSpPr>
          <p:spPr>
            <a:xfrm>
              <a:off x="430920" y="103074"/>
              <a:ext cx="5479523" cy="639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09725" spcFirstLastPara="1" rIns="2097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Libre Franklin"/>
                <a:buNone/>
              </a:pPr>
              <a:r>
                <a:rPr b="1" i="0" lang="es-MX" sz="24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Ejemplos:</a:t>
              </a:r>
              <a:endParaRPr sz="2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0" name="Google Shape;590;p41"/>
            <p:cNvSpPr/>
            <p:nvPr/>
          </p:nvSpPr>
          <p:spPr>
            <a:xfrm>
              <a:off x="0" y="2569769"/>
              <a:ext cx="7926705" cy="13608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rgbClr val="4295A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41"/>
            <p:cNvSpPr txBox="1"/>
            <p:nvPr/>
          </p:nvSpPr>
          <p:spPr>
            <a:xfrm>
              <a:off x="0" y="2569769"/>
              <a:ext cx="7926705" cy="136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0675" lIns="615200" spcFirstLastPara="1" rIns="615200" wrap="square" tIns="49985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Libre Franklin"/>
                <a:buChar char="•"/>
              </a:pPr>
              <a:r>
                <a:rPr b="0" i="0" lang="es-MX" sz="2400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Mayor eficiencia.</a:t>
              </a:r>
              <a:endParaRPr b="0" i="0" sz="24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Libre Franklin"/>
                <a:buChar char="•"/>
              </a:pPr>
              <a:r>
                <a:rPr b="0" i="0" lang="es-MX" sz="2400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Reducción de costos.</a:t>
              </a:r>
              <a:endParaRPr b="0" i="0" sz="24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2" name="Google Shape;592;p41"/>
            <p:cNvSpPr/>
            <p:nvPr/>
          </p:nvSpPr>
          <p:spPr>
            <a:xfrm>
              <a:off x="396335" y="2215530"/>
              <a:ext cx="5548693" cy="708480"/>
            </a:xfrm>
            <a:prstGeom prst="roundRect">
              <a:avLst>
                <a:gd fmla="val 16667" name="adj"/>
              </a:avLst>
            </a:prstGeom>
            <a:solidFill>
              <a:srgbClr val="4295A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41"/>
            <p:cNvSpPr txBox="1"/>
            <p:nvPr/>
          </p:nvSpPr>
          <p:spPr>
            <a:xfrm>
              <a:off x="430920" y="2250115"/>
              <a:ext cx="5479523" cy="639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09725" spcFirstLastPara="1" rIns="2097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Libre Franklin"/>
                <a:buNone/>
              </a:pPr>
              <a:r>
                <a:rPr b="1" i="0" lang="es-MX" sz="24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Resultados:</a:t>
              </a:r>
              <a:endParaRPr sz="2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pic>
        <p:nvPicPr>
          <p:cNvPr descr="Dibujo de una persona&#10;&#10;Descripción generada automáticamente con confianza media" id="594" name="Google Shape;594;p4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559" y="2147510"/>
            <a:ext cx="3276662" cy="1820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2"/>
          <p:cNvSpPr txBox="1"/>
          <p:nvPr>
            <p:ph type="title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Franklin Gothic"/>
              <a:buNone/>
            </a:pPr>
            <a:r>
              <a:rPr b="1" i="0" lang="es-MX" sz="4100"/>
              <a:t>Errores comunes al implementar almacenamiento en red</a:t>
            </a:r>
            <a:br>
              <a:rPr b="1" i="0" lang="es-MX" sz="4100"/>
            </a:br>
            <a:endParaRPr sz="4100"/>
          </a:p>
        </p:txBody>
      </p:sp>
      <p:grpSp>
        <p:nvGrpSpPr>
          <p:cNvPr id="600" name="Google Shape;600;p42"/>
          <p:cNvGrpSpPr/>
          <p:nvPr/>
        </p:nvGrpSpPr>
        <p:grpSpPr>
          <a:xfrm>
            <a:off x="594360" y="2628629"/>
            <a:ext cx="10972799" cy="3636740"/>
            <a:chOff x="0" y="0"/>
            <a:chExt cx="10972799" cy="3636740"/>
          </a:xfrm>
        </p:grpSpPr>
        <p:sp>
          <p:nvSpPr>
            <p:cNvPr id="601" name="Google Shape;601;p42"/>
            <p:cNvSpPr/>
            <p:nvPr/>
          </p:nvSpPr>
          <p:spPr>
            <a:xfrm>
              <a:off x="0" y="0"/>
              <a:ext cx="3428999" cy="3636740"/>
            </a:xfrm>
            <a:prstGeom prst="rect">
              <a:avLst/>
            </a:prstGeom>
            <a:solidFill>
              <a:srgbClr val="CDDCDF">
                <a:alpha val="89803"/>
              </a:srgbClr>
            </a:solidFill>
            <a:ln cap="flat" cmpd="sng" w="12700">
              <a:solidFill>
                <a:srgbClr val="CDDCD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42"/>
            <p:cNvSpPr txBox="1"/>
            <p:nvPr/>
          </p:nvSpPr>
          <p:spPr>
            <a:xfrm>
              <a:off x="0" y="1381961"/>
              <a:ext cx="3428999" cy="21820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267325" spcFirstLastPara="1" rIns="267325" wrap="square" tIns="330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Libre Franklin"/>
                <a:buNone/>
              </a:pPr>
              <a:r>
                <a:rPr b="1" i="0" lang="es-MX" sz="26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Subestimar necesidades:</a:t>
              </a:r>
              <a:endParaRPr sz="26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Libre Franklin"/>
                <a:buChar char="•"/>
              </a:pPr>
              <a:r>
                <a:rPr b="0" i="0" lang="es-MX" sz="2000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Capacidad insuficiente.</a:t>
              </a:r>
              <a:endParaRPr b="0" i="0" sz="20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03" name="Google Shape;603;p42"/>
            <p:cNvSpPr/>
            <p:nvPr/>
          </p:nvSpPr>
          <p:spPr>
            <a:xfrm>
              <a:off x="1168988" y="363673"/>
              <a:ext cx="1091022" cy="1091022"/>
            </a:xfrm>
            <a:prstGeom prst="ellipse">
              <a:avLst/>
            </a:prstGeom>
            <a:solidFill>
              <a:srgbClr val="4295A2"/>
            </a:solidFill>
            <a:ln cap="flat" cmpd="sng" w="12700">
              <a:solidFill>
                <a:srgbClr val="4295A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42"/>
            <p:cNvSpPr txBox="1"/>
            <p:nvPr/>
          </p:nvSpPr>
          <p:spPr>
            <a:xfrm>
              <a:off x="1328764" y="523449"/>
              <a:ext cx="771470" cy="771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85050" spcFirstLastPara="1" rIns="8505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800"/>
                <a:buFont typeface="Libre Franklin"/>
                <a:buNone/>
              </a:pPr>
              <a:r>
                <a:rPr lang="es-MX" sz="48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1</a:t>
              </a:r>
              <a:endParaRPr/>
            </a:p>
          </p:txBody>
        </p:sp>
        <p:sp>
          <p:nvSpPr>
            <p:cNvPr id="605" name="Google Shape;605;p42"/>
            <p:cNvSpPr/>
            <p:nvPr/>
          </p:nvSpPr>
          <p:spPr>
            <a:xfrm>
              <a:off x="0" y="3636668"/>
              <a:ext cx="3428999" cy="72"/>
            </a:xfrm>
            <a:prstGeom prst="rect">
              <a:avLst/>
            </a:prstGeom>
            <a:solidFill>
              <a:srgbClr val="4295A2"/>
            </a:solidFill>
            <a:ln cap="flat" cmpd="sng" w="12700">
              <a:solidFill>
                <a:srgbClr val="4295A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42"/>
            <p:cNvSpPr/>
            <p:nvPr/>
          </p:nvSpPr>
          <p:spPr>
            <a:xfrm>
              <a:off x="3771899" y="0"/>
              <a:ext cx="3428999" cy="3636740"/>
            </a:xfrm>
            <a:prstGeom prst="rect">
              <a:avLst/>
            </a:prstGeom>
            <a:solidFill>
              <a:srgbClr val="CDDCDF">
                <a:alpha val="89803"/>
              </a:srgbClr>
            </a:solidFill>
            <a:ln cap="flat" cmpd="sng" w="12700">
              <a:solidFill>
                <a:srgbClr val="CDDCD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42"/>
            <p:cNvSpPr txBox="1"/>
            <p:nvPr/>
          </p:nvSpPr>
          <p:spPr>
            <a:xfrm>
              <a:off x="3771899" y="1381961"/>
              <a:ext cx="3428999" cy="21820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267325" spcFirstLastPara="1" rIns="267325" wrap="square" tIns="330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Libre Franklin"/>
                <a:buNone/>
              </a:pPr>
              <a:r>
                <a:rPr b="1" i="0" lang="es-MX" sz="26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Ignorar seguridad:</a:t>
              </a:r>
              <a:endParaRPr sz="26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Libre Franklin"/>
                <a:buChar char="•"/>
              </a:pPr>
              <a:r>
                <a:rPr b="0" i="0" lang="es-MX" sz="2000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Falta de encriptación.</a:t>
              </a:r>
              <a:endParaRPr b="0" i="0" sz="20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08" name="Google Shape;608;p42"/>
            <p:cNvSpPr/>
            <p:nvPr/>
          </p:nvSpPr>
          <p:spPr>
            <a:xfrm>
              <a:off x="4940888" y="363673"/>
              <a:ext cx="1091022" cy="1091022"/>
            </a:xfrm>
            <a:prstGeom prst="ellipse">
              <a:avLst/>
            </a:prstGeom>
            <a:solidFill>
              <a:srgbClr val="4295A2"/>
            </a:solidFill>
            <a:ln cap="flat" cmpd="sng" w="12700">
              <a:solidFill>
                <a:srgbClr val="4295A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42"/>
            <p:cNvSpPr txBox="1"/>
            <p:nvPr/>
          </p:nvSpPr>
          <p:spPr>
            <a:xfrm>
              <a:off x="5100664" y="523449"/>
              <a:ext cx="771470" cy="771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85050" spcFirstLastPara="1" rIns="8505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800"/>
                <a:buFont typeface="Libre Franklin"/>
                <a:buNone/>
              </a:pPr>
              <a:r>
                <a:rPr lang="es-MX" sz="48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2</a:t>
              </a:r>
              <a:endParaRPr/>
            </a:p>
          </p:txBody>
        </p:sp>
        <p:sp>
          <p:nvSpPr>
            <p:cNvPr id="610" name="Google Shape;610;p42"/>
            <p:cNvSpPr/>
            <p:nvPr/>
          </p:nvSpPr>
          <p:spPr>
            <a:xfrm>
              <a:off x="3771899" y="3636668"/>
              <a:ext cx="3428999" cy="72"/>
            </a:xfrm>
            <a:prstGeom prst="rect">
              <a:avLst/>
            </a:prstGeom>
            <a:solidFill>
              <a:srgbClr val="4295A2"/>
            </a:solidFill>
            <a:ln cap="flat" cmpd="sng" w="12700">
              <a:solidFill>
                <a:srgbClr val="4295A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42"/>
            <p:cNvSpPr/>
            <p:nvPr/>
          </p:nvSpPr>
          <p:spPr>
            <a:xfrm>
              <a:off x="7543800" y="0"/>
              <a:ext cx="3428999" cy="3636740"/>
            </a:xfrm>
            <a:prstGeom prst="rect">
              <a:avLst/>
            </a:prstGeom>
            <a:solidFill>
              <a:srgbClr val="CDDCDF">
                <a:alpha val="89803"/>
              </a:srgbClr>
            </a:solidFill>
            <a:ln cap="flat" cmpd="sng" w="12700">
              <a:solidFill>
                <a:srgbClr val="CDDCD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42"/>
            <p:cNvSpPr txBox="1"/>
            <p:nvPr/>
          </p:nvSpPr>
          <p:spPr>
            <a:xfrm>
              <a:off x="7543800" y="1381961"/>
              <a:ext cx="3428999" cy="21820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267325" spcFirstLastPara="1" rIns="267325" wrap="square" tIns="330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Libre Franklin"/>
                <a:buNone/>
              </a:pPr>
              <a:r>
                <a:rPr b="1" i="0" lang="es-MX" sz="26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No planificar la escalabilidad:</a:t>
              </a:r>
              <a:endParaRPr sz="26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Libre Franklin"/>
                <a:buChar char="•"/>
              </a:pPr>
              <a:r>
                <a:rPr b="0" i="0" lang="es-MX" sz="2000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Crecimiento imprevisto.</a:t>
              </a:r>
              <a:endParaRPr b="0" i="0" sz="20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13" name="Google Shape;613;p42"/>
            <p:cNvSpPr/>
            <p:nvPr/>
          </p:nvSpPr>
          <p:spPr>
            <a:xfrm>
              <a:off x="8712788" y="363673"/>
              <a:ext cx="1091022" cy="1091022"/>
            </a:xfrm>
            <a:prstGeom prst="ellipse">
              <a:avLst/>
            </a:prstGeom>
            <a:solidFill>
              <a:srgbClr val="4295A2"/>
            </a:solidFill>
            <a:ln cap="flat" cmpd="sng" w="12700">
              <a:solidFill>
                <a:srgbClr val="4295A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42"/>
            <p:cNvSpPr txBox="1"/>
            <p:nvPr/>
          </p:nvSpPr>
          <p:spPr>
            <a:xfrm>
              <a:off x="8872564" y="523449"/>
              <a:ext cx="771470" cy="771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85050" spcFirstLastPara="1" rIns="8505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800"/>
                <a:buFont typeface="Libre Franklin"/>
                <a:buNone/>
              </a:pPr>
              <a:r>
                <a:rPr lang="es-MX" sz="48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3</a:t>
              </a:r>
              <a:endParaRPr/>
            </a:p>
          </p:txBody>
        </p:sp>
        <p:sp>
          <p:nvSpPr>
            <p:cNvPr id="615" name="Google Shape;615;p42"/>
            <p:cNvSpPr/>
            <p:nvPr/>
          </p:nvSpPr>
          <p:spPr>
            <a:xfrm>
              <a:off x="7543800" y="3636668"/>
              <a:ext cx="3428999" cy="72"/>
            </a:xfrm>
            <a:prstGeom prst="rect">
              <a:avLst/>
            </a:prstGeom>
            <a:solidFill>
              <a:srgbClr val="4295A2"/>
            </a:solidFill>
            <a:ln cap="flat" cmpd="sng" w="12700">
              <a:solidFill>
                <a:srgbClr val="4295A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43"/>
          <p:cNvSpPr txBox="1"/>
          <p:nvPr>
            <p:ph type="title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b="1" i="0" lang="es-MX"/>
              <a:t>Futuro del almacenamiento en red</a:t>
            </a:r>
            <a:br>
              <a:rPr b="1" i="0" lang="es-MX"/>
            </a:br>
            <a:endParaRPr/>
          </a:p>
        </p:txBody>
      </p:sp>
      <p:sp>
        <p:nvSpPr>
          <p:cNvPr id="621" name="Google Shape;621;p43"/>
          <p:cNvSpPr txBox="1"/>
          <p:nvPr>
            <p:ph idx="1" type="body"/>
          </p:nvPr>
        </p:nvSpPr>
        <p:spPr>
          <a:xfrm>
            <a:off x="594360" y="3279579"/>
            <a:ext cx="5044440" cy="2994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8600">
            <a:normAutofit/>
          </a:bodyPr>
          <a:lstStyle/>
          <a:p>
            <a:pPr indent="-1270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MX"/>
              <a:t>Tendencias emergentes:</a:t>
            </a:r>
            <a:endParaRPr b="0" i="0"/>
          </a:p>
          <a:p>
            <a:pPr indent="-285750" lvl="1" marL="7429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/>
              <a:t>Almacenamiento cuántico.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/>
              <a:t>Almacenamiento en ADN.</a:t>
            </a:r>
            <a:endParaRPr/>
          </a:p>
          <a:p>
            <a:pPr indent="-12700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MX"/>
              <a:t>Impacto de la 5G y el IoT:</a:t>
            </a:r>
            <a:endParaRPr b="0" i="0"/>
          </a:p>
          <a:p>
            <a:pPr indent="-285750" lvl="1" marL="74295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/>
              <a:t>Mayor demanda de almacenamiento descentralizado.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Patrón de fondo&#10;&#10;Descripción generada automáticamente" id="622" name="Google Shape;622;p43"/>
          <p:cNvPicPr preferRelativeResize="0"/>
          <p:nvPr/>
        </p:nvPicPr>
        <p:blipFill rotWithShape="1">
          <a:blip r:embed="rId3">
            <a:alphaModFix/>
          </a:blip>
          <a:srcRect b="2" l="9138" r="3880" t="0"/>
          <a:stretch/>
        </p:blipFill>
        <p:spPr>
          <a:xfrm>
            <a:off x="6096000" y="10"/>
            <a:ext cx="6118225" cy="6857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44"/>
          <p:cNvSpPr txBox="1"/>
          <p:nvPr>
            <p:ph type="ctrTitle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</a:pPr>
            <a:r>
              <a:rPr b="1" i="0" lang="es-MX"/>
              <a:t>Preguntas frecuentes</a:t>
            </a:r>
            <a:br>
              <a:rPr b="1" i="0" lang="es-MX"/>
            </a:br>
            <a:endParaRPr/>
          </a:p>
        </p:txBody>
      </p:sp>
      <p:pic>
        <p:nvPicPr>
          <p:cNvPr descr="Imagen que contiene Icono&#10;&#10;Descripción generada automáticamente" id="628" name="Google Shape;628;p4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7914" r="7914" t="0"/>
          <a:stretch/>
        </p:blipFill>
        <p:spPr>
          <a:xfrm>
            <a:off x="0" y="-11113"/>
            <a:ext cx="5791200" cy="6880226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4"/>
          <p:cNvSpPr txBox="1"/>
          <p:nvPr>
            <p:ph idx="1" type="body"/>
          </p:nvPr>
        </p:nvSpPr>
        <p:spPr>
          <a:xfrm>
            <a:off x="6299835" y="4568602"/>
            <a:ext cx="5486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9525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7C3F"/>
              </a:buClr>
              <a:buSzPts val="1500"/>
              <a:buFont typeface="Arial"/>
              <a:buChar char="•"/>
            </a:pPr>
            <a:r>
              <a:rPr b="1" i="0" lang="es-MX" sz="1500"/>
              <a:t>¿Qué tipo de almacenamiento en red es mejor para mi negocio?</a:t>
            </a:r>
            <a:endParaRPr b="0" i="0" sz="1500"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7C3F"/>
              </a:buClr>
              <a:buSzPts val="1500"/>
              <a:buFont typeface="Arial"/>
              <a:buChar char="•"/>
            </a:pPr>
            <a:r>
              <a:rPr b="0" i="0" lang="es-MX" sz="1500">
                <a:solidFill>
                  <a:srgbClr val="5D7C3F"/>
                </a:solidFill>
              </a:rPr>
              <a:t>Depende de tus necesidades: NAS para pequeñas empresas, SAN para grandes volúmenes de datos.</a:t>
            </a:r>
            <a:endParaRPr/>
          </a:p>
          <a:p>
            <a:pPr indent="-9525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500"/>
              <a:buFont typeface="Arial"/>
              <a:buChar char="•"/>
            </a:pPr>
            <a:r>
              <a:rPr b="1" i="0" lang="es-MX" sz="1500"/>
              <a:t>¿Cómo garantizar la seguridad de mis datos en la nube?</a:t>
            </a:r>
            <a:endParaRPr b="0" i="0" sz="1500"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7C3F"/>
              </a:buClr>
              <a:buSzPts val="1500"/>
              <a:buFont typeface="Arial"/>
              <a:buChar char="•"/>
            </a:pPr>
            <a:r>
              <a:rPr b="0" i="0" lang="es-MX" sz="1500">
                <a:solidFill>
                  <a:srgbClr val="5D7C3F"/>
                </a:solidFill>
              </a:rPr>
              <a:t>Usar encriptación y controles de acceso.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500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5"/>
          <p:cNvSpPr txBox="1"/>
          <p:nvPr>
            <p:ph type="ctrTitle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</a:pPr>
            <a:r>
              <a:rPr b="1" i="0" lang="es-MX"/>
              <a:t>Conclusión</a:t>
            </a:r>
            <a:br>
              <a:rPr b="1" i="0" lang="es-MX"/>
            </a:br>
            <a:endParaRPr/>
          </a:p>
        </p:txBody>
      </p:sp>
      <p:sp>
        <p:nvSpPr>
          <p:cNvPr id="635" name="Google Shape;635;p45"/>
          <p:cNvSpPr txBox="1"/>
          <p:nvPr>
            <p:ph idx="1" type="body"/>
          </p:nvPr>
        </p:nvSpPr>
        <p:spPr>
          <a:xfrm>
            <a:off x="6309905" y="4549552"/>
            <a:ext cx="5486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9525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0" i="0" lang="es-MX" sz="1500">
                <a:solidFill>
                  <a:schemeClr val="dk1"/>
                </a:solidFill>
              </a:rPr>
              <a:t>Resumen de los puntos clave: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0" i="0" lang="es-MX" sz="1500"/>
              <a:t>DAS, NAS, SAN y nube tienen ventajas y desventajas.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0" i="0" lang="es-MX" sz="1500"/>
              <a:t>La elección depende de las necesidades específicas.</a:t>
            </a:r>
            <a:endParaRPr/>
          </a:p>
          <a:p>
            <a:pPr indent="-9525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0" i="0" lang="es-MX" sz="1500">
                <a:solidFill>
                  <a:schemeClr val="dk1"/>
                </a:solidFill>
              </a:rPr>
              <a:t>Importancia de evaluar cuidadosamente antes de implementar.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500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6"/>
          <p:cNvSpPr txBox="1"/>
          <p:nvPr>
            <p:ph type="title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b="1" i="0" lang="es-MX"/>
              <a:t>Recomendaciones finales</a:t>
            </a:r>
            <a:br>
              <a:rPr b="1" i="0" lang="es-MX"/>
            </a:br>
            <a:endParaRPr/>
          </a:p>
        </p:txBody>
      </p:sp>
      <p:sp>
        <p:nvSpPr>
          <p:cNvPr id="641" name="Google Shape;641;p46"/>
          <p:cNvSpPr txBox="1"/>
          <p:nvPr>
            <p:ph idx="1" type="body"/>
          </p:nvPr>
        </p:nvSpPr>
        <p:spPr>
          <a:xfrm>
            <a:off x="594360" y="3279579"/>
            <a:ext cx="5044440" cy="2994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8600">
            <a:normAutofit/>
          </a:bodyPr>
          <a:lstStyle/>
          <a:p>
            <a:pPr indent="-1270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/>
              <a:t>Evaluar necesidades antes de elegir una solución.</a:t>
            </a:r>
            <a:endParaRPr/>
          </a:p>
          <a:p>
            <a:pPr indent="-12700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/>
              <a:t>Considerar la escalabilidad y seguridad.</a:t>
            </a:r>
            <a:endParaRPr/>
          </a:p>
          <a:p>
            <a:pPr indent="-12700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/>
              <a:t>Planificar para el futuro.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Persona entregando llaves" id="642" name="Google Shape;642;p46"/>
          <p:cNvPicPr preferRelativeResize="0"/>
          <p:nvPr/>
        </p:nvPicPr>
        <p:blipFill rotWithShape="1">
          <a:blip r:embed="rId3">
            <a:alphaModFix/>
          </a:blip>
          <a:srcRect b="-1" l="14064" r="26385" t="0"/>
          <a:stretch/>
        </p:blipFill>
        <p:spPr>
          <a:xfrm>
            <a:off x="6096000" y="10"/>
            <a:ext cx="6118225" cy="6857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47"/>
          <p:cNvSpPr txBox="1"/>
          <p:nvPr>
            <p:ph type="title"/>
          </p:nvPr>
        </p:nvSpPr>
        <p:spPr>
          <a:xfrm>
            <a:off x="567855" y="1355765"/>
            <a:ext cx="6787747" cy="10428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Franklin Gothic"/>
              <a:buNone/>
            </a:pPr>
            <a:r>
              <a:rPr b="1" i="0" lang="es-MX" sz="6600"/>
              <a:t>Colaboración</a:t>
            </a:r>
            <a:br>
              <a:rPr b="1" i="0" lang="es-MX" sz="4100"/>
            </a:br>
            <a:endParaRPr sz="4100"/>
          </a:p>
        </p:txBody>
      </p:sp>
      <p:sp>
        <p:nvSpPr>
          <p:cNvPr id="648" name="Google Shape;648;p47"/>
          <p:cNvSpPr txBox="1"/>
          <p:nvPr/>
        </p:nvSpPr>
        <p:spPr>
          <a:xfrm>
            <a:off x="954157" y="332629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649" name="Google Shape;649;p47"/>
          <p:cNvSpPr txBox="1"/>
          <p:nvPr/>
        </p:nvSpPr>
        <p:spPr>
          <a:xfrm>
            <a:off x="567855" y="4623279"/>
            <a:ext cx="10762754" cy="10428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anklin Gothic"/>
              <a:buNone/>
            </a:pPr>
            <a:r>
              <a:rPr b="0" i="0" lang="es-MX" sz="2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"Fomentamos la colaboración entre estudiantes como una herramienta clave para el aprendizaje efectivo. A través de los proyectos, incentivamos el trabajo en equipo, la división responsable de tareas y el apoyo mutuo para resolver desafíos técnicos y de implementación."</a:t>
            </a:r>
            <a:br>
              <a:rPr b="0" i="0" lang="es-MX" sz="2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endParaRPr b="0" i="0" sz="280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48"/>
          <p:cNvSpPr txBox="1"/>
          <p:nvPr>
            <p:ph type="ctrTitle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6000"/>
              <a:buFont typeface="Impact"/>
              <a:buNone/>
            </a:pPr>
            <a:r>
              <a:rPr b="1" i="0" lang="es-MX" sz="60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br>
              <a:rPr b="1" i="0" lang="es-MX" sz="60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</a:br>
            <a:endParaRPr b="1" i="0" sz="6000" u="none" cap="none" strike="noStrik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656" name="Google Shape;656;p48"/>
          <p:cNvSpPr txBox="1"/>
          <p:nvPr>
            <p:ph idx="1" type="body"/>
          </p:nvPr>
        </p:nvSpPr>
        <p:spPr>
          <a:xfrm>
            <a:off x="6309905" y="4549552"/>
            <a:ext cx="5486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000"/>
              <a:buNone/>
            </a:pPr>
            <a:r>
              <a:rPr b="0" i="0" lang="es-MX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  <p:sp>
        <p:nvSpPr>
          <p:cNvPr id="657" name="Google Shape;657;p48"/>
          <p:cNvSpPr/>
          <p:nvPr/>
        </p:nvSpPr>
        <p:spPr>
          <a:xfrm>
            <a:off x="2888975" y="721248"/>
            <a:ext cx="2080591" cy="2672301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ersonalizar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2025-03-09T22:27:04Z</dcterms:created>
  <dc:creator>Saul Andre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0x010100B1ECE7E405C86F4AAC9D57B5C1A0129E</vt:lpwstr>
  </property>
</Properties>
</file>