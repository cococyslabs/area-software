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Gelasio"/>
      <p:regular r:id="rId15"/>
      <p:bold r:id="rId16"/>
      <p:italic r:id="rId17"/>
      <p:boldItalic r:id="rId18"/>
    </p:embeddedFont>
    <p:embeddedFont>
      <p:font typeface="Gelasio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wT7ZYLse1CLQd4eGOWT2bkIik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lasioSemiBold-bold.fntdata"/><Relationship Id="rId11" Type="http://schemas.openxmlformats.org/officeDocument/2006/relationships/slide" Target="slides/slide7.xml"/><Relationship Id="rId22" Type="http://schemas.openxmlformats.org/officeDocument/2006/relationships/font" Target="fonts/GelasioSemiBold-boldItalic.fntdata"/><Relationship Id="rId10" Type="http://schemas.openxmlformats.org/officeDocument/2006/relationships/slide" Target="slides/slide6.xml"/><Relationship Id="rId21" Type="http://schemas.openxmlformats.org/officeDocument/2006/relationships/font" Target="fonts/GelasioSemiBol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elasio-regular.fntdata"/><Relationship Id="rId14" Type="http://schemas.openxmlformats.org/officeDocument/2006/relationships/slide" Target="slides/slide10.xml"/><Relationship Id="rId17" Type="http://schemas.openxmlformats.org/officeDocument/2006/relationships/font" Target="fonts/Gelasio-italic.fntdata"/><Relationship Id="rId16" Type="http://schemas.openxmlformats.org/officeDocument/2006/relationships/font" Target="fonts/Gelasio-bold.fntdata"/><Relationship Id="rId5" Type="http://schemas.openxmlformats.org/officeDocument/2006/relationships/slide" Target="slides/slide1.xml"/><Relationship Id="rId19" Type="http://schemas.openxmlformats.org/officeDocument/2006/relationships/font" Target="fonts/GelasioSemiBold-regular.fntdata"/><Relationship Id="rId6" Type="http://schemas.openxmlformats.org/officeDocument/2006/relationships/slide" Target="slides/slide2.xml"/><Relationship Id="rId18" Type="http://schemas.openxmlformats.org/officeDocument/2006/relationships/font" Target="fonts/Gelasi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6280190" y="1656755"/>
            <a:ext cx="7556421" cy="283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1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Conceptos fundamentales del manejo de archivos y Operaciones básicas de archivos</a:t>
            </a:r>
            <a:endParaRPr b="0" i="0" sz="44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6280190" y="4832033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 continuación verán los </a:t>
            </a: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 conceptos fundamentales y las operaciones básicas relacionadas con el manejo de archivos, un tema esencial para los futuros ingenieros en ciencias y sistemas.</a:t>
            </a:r>
            <a:endParaRPr b="0" i="0" sz="1750" u="none" cap="none" strike="noStrike"/>
          </a:p>
        </p:txBody>
      </p:sp>
      <p:sp>
        <p:nvSpPr>
          <p:cNvPr id="59" name="Google Shape;59;p1"/>
          <p:cNvSpPr/>
          <p:nvPr/>
        </p:nvSpPr>
        <p:spPr>
          <a:xfrm>
            <a:off x="6280190" y="6192798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793790" y="257454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1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¿Qué es un archivo?</a:t>
            </a:r>
            <a:endParaRPr b="0" i="0" sz="445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793800" y="2099450"/>
            <a:ext cx="3664800" cy="2426400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020604" y="19940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Definición</a:t>
            </a:r>
            <a:endParaRPr b="0" i="0" sz="22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020604" y="2484477"/>
            <a:ext cx="321123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Un archivo es una unidad de almacenamiento de datos que se guarda en un dispositivo digital, como un disco duro o una memoria USB.</a:t>
            </a:r>
            <a:endParaRPr b="0" i="0" sz="175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4685467" y="1767245"/>
            <a:ext cx="3664863" cy="2758559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912281" y="1994059"/>
            <a:ext cx="321123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Información Almacenada</a:t>
            </a:r>
            <a:endParaRPr b="0" i="0" sz="22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4912281" y="2838807"/>
            <a:ext cx="32112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Puede contener texto, imágenes, audio, video u otros tipos de información digital.</a:t>
            </a:r>
            <a:endParaRPr b="0" i="0" sz="17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793790" y="4752618"/>
            <a:ext cx="3664863" cy="2758559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Organización</a:t>
            </a:r>
            <a:endParaRPr b="0" i="0" sz="22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1020604" y="5469850"/>
            <a:ext cx="32112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Los archivos se organizan en directorios o carpetas para facilitar su gestión y acceso.</a:t>
            </a:r>
            <a:endParaRPr b="0" i="0" sz="175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4685467" y="4752618"/>
            <a:ext cx="3664863" cy="2758559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912281" y="49794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Importancia</a:t>
            </a:r>
            <a:endParaRPr b="0" i="0" sz="2200" u="none" cap="none" strike="noStrike"/>
          </a:p>
        </p:txBody>
      </p:sp>
      <p:sp>
        <p:nvSpPr>
          <p:cNvPr id="78" name="Google Shape;78;p2"/>
          <p:cNvSpPr/>
          <p:nvPr/>
        </p:nvSpPr>
        <p:spPr>
          <a:xfrm>
            <a:off x="4912281" y="5469850"/>
            <a:ext cx="321123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Los archivos son fundamentales para el almacenamiento y la gestión de la información digital en cualquier sistema informático.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1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Tipos de archivos</a:t>
            </a:r>
            <a:endParaRPr b="0" i="0" sz="44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de Texto</a:t>
            </a:r>
            <a:endParaRPr b="0" i="0" sz="220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Contienen información en formato de texto plano, como documentos, scripts o código fuente.</a:t>
            </a:r>
            <a:endParaRPr b="0" i="0" sz="17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Binarios</a:t>
            </a:r>
            <a:endParaRPr b="0" i="0" sz="220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Almacenan datos en un formato específico, como programas ejecutables, imágenes o bases de datos.</a:t>
            </a:r>
            <a:endParaRPr b="0" i="0" sz="175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9872067" y="3394115"/>
            <a:ext cx="2930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Multimedia</a:t>
            </a:r>
            <a:endParaRPr b="0" i="0" sz="220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Incluyen archivos de audio, video e imágenes que se utilizan para reproducir contenido multimedia.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114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300"/>
              <a:buFont typeface="Gelasio SemiBold"/>
              <a:buNone/>
            </a:pPr>
            <a:r>
              <a:rPr b="1" i="0" lang="en-US" sz="43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Estructura básica de un archivo</a:t>
            </a:r>
            <a:endParaRPr b="0" i="0" sz="43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510695" y="2645569"/>
            <a:ext cx="155972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00"/>
              <a:buFont typeface="Gelasio SemiBold"/>
              <a:buNone/>
            </a:pPr>
            <a:r>
              <a:rPr b="1" i="0" lang="en-US" sz="26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1</a:t>
            </a:r>
            <a:endParaRPr b="0" i="0" sz="260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1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Encabezado</a:t>
            </a:r>
            <a:endParaRPr b="0" i="0" sz="21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Contiene información sobre el tipo de archivo, tamaño, permisos y otros metadatos.</a:t>
            </a:r>
            <a:endParaRPr b="0" i="0" sz="17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488430" y="4489013"/>
            <a:ext cx="200382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00"/>
              <a:buFont typeface="Gelasio SemiBold"/>
              <a:buNone/>
            </a:pPr>
            <a:r>
              <a:rPr b="1" i="0" lang="en-US" sz="26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2</a:t>
            </a:r>
            <a:endParaRPr b="0" i="0" sz="26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1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Datos</a:t>
            </a:r>
            <a:endParaRPr b="0" i="0" sz="215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información real almacenada en el archivo, ya sea texto, números, imágenes, etc.</a:t>
            </a:r>
            <a:endParaRPr b="0" i="0" sz="17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489025" y="6332458"/>
            <a:ext cx="199311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00"/>
              <a:buFont typeface="Gelasio SemiBold"/>
              <a:buNone/>
            </a:pPr>
            <a:r>
              <a:rPr b="1" i="0" lang="en-US" sz="26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3</a:t>
            </a:r>
            <a:endParaRPr b="0" i="0" sz="260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1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Metadatos</a:t>
            </a:r>
            <a:endParaRPr b="0" i="0" sz="215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Datos adicionales sobre el archivo, como fecha de creación, autor, palabras clave, etc.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793790" y="933807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1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Operaciones fundamentales con archivos</a:t>
            </a:r>
            <a:endParaRPr b="0" i="0" sz="44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93790" y="36554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968693" y="3740468"/>
            <a:ext cx="16049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1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1</a:t>
            </a:r>
            <a:endParaRPr b="0" i="0" sz="265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1530906" y="36554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Creación</a:t>
            </a:r>
            <a:endParaRPr b="0" i="0" sz="220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1530906" y="4145875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Generar un nuevo archivo en el sistema de archivos.</a:t>
            </a:r>
            <a:endParaRPr b="0" i="0" sz="175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4685467" y="36554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837509" y="3740468"/>
            <a:ext cx="20621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1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2</a:t>
            </a:r>
            <a:endParaRPr b="0" i="0" sz="26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5422583" y="36554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Apertura</a:t>
            </a:r>
            <a:endParaRPr b="0" i="0" sz="22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5422583" y="4145875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Acceder a un archivo existente para leer o modificar su contenido.</a:t>
            </a:r>
            <a:endParaRPr b="0" i="0" sz="17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793790" y="571654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946428" y="5801558"/>
            <a:ext cx="20502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1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3</a:t>
            </a:r>
            <a:endParaRPr b="0" i="0" sz="265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1530906" y="5716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Escritura</a:t>
            </a:r>
            <a:endParaRPr b="0" i="0" sz="220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1530906" y="6206966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Guardar información nueva o actualizada en un archivo.</a:t>
            </a:r>
            <a:endParaRPr b="0" i="0" sz="175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4685467" y="571654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834533" y="5801558"/>
            <a:ext cx="21216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1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4</a:t>
            </a:r>
            <a:endParaRPr b="0" i="0" sz="26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5422583" y="5716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Cierre</a:t>
            </a:r>
            <a:endParaRPr b="0" i="0" sz="220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5422583" y="6206966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Terminar el acceso a un archivo y liberar los recursos utilizados.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793804" y="3481275"/>
            <a:ext cx="9215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1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Abrir y cerrar archivos</a:t>
            </a:r>
            <a:endParaRPr b="0" i="0" sz="4450" u="none" cap="none" strike="noStrike"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530209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020604" y="57776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Apertura</a:t>
            </a:r>
            <a:endParaRPr b="0" i="0" sz="22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1020604" y="6268045"/>
            <a:ext cx="389393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Utilizar funciones del sistema operativo para abrir un archivo y obtener un identificador de archivo.</a:t>
            </a:r>
            <a:endParaRPr b="0" i="0" sz="1750" u="none" cap="none" strike="noStrike"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1357" y="4530209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5368171" y="57776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Permisos</a:t>
            </a:r>
            <a:endParaRPr b="0" i="0" sz="22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5368171" y="6268045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Especificar los permisos de acceso, como lectura, escritura o ejecución.</a:t>
            </a:r>
            <a:endParaRPr b="0" i="0" sz="1750" u="none" cap="none" strike="noStrike"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8924" y="4530209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9715738" y="57776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Cierre</a:t>
            </a:r>
            <a:endParaRPr b="0" i="0" sz="22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9715738" y="6268045"/>
            <a:ext cx="389393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Liberar el identificador de archivo y asegurar que todos los cambios se hayan guardado.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793790" y="2196435"/>
            <a:ext cx="7355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1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Leer y escribir en archivos</a:t>
            </a:r>
            <a:endParaRPr b="0" i="0" sz="445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Lectura</a:t>
            </a:r>
            <a:endParaRPr b="0" i="0" sz="220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Extraer información del archivo y almacenarla en variables o buffers de memoria.</a:t>
            </a:r>
            <a:endParaRPr b="0" i="0" sz="175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Escritura</a:t>
            </a:r>
            <a:endParaRPr b="0" i="0" sz="220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Transferir datos desde la memoria al archivo, ya sea reemplazando o anexando información.</a:t>
            </a:r>
            <a:endParaRPr b="0" i="0" sz="175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Formatos</a:t>
            </a:r>
            <a:endParaRPr b="0" i="0" sz="22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Conocer los formatos de archivo y sus convenciones de lectura/escritura es crucial.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11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300"/>
              <a:buFont typeface="Gelasio SemiBold"/>
              <a:buNone/>
            </a:pPr>
            <a:r>
              <a:rPr b="1" i="0" lang="en-US" sz="43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Posicionamiento en archivos</a:t>
            </a:r>
            <a:endParaRPr b="0" i="0" sz="430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024295" y="2645569"/>
            <a:ext cx="155972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00"/>
              <a:buFont typeface="Gelasio SemiBold"/>
              <a:buNone/>
            </a:pPr>
            <a:r>
              <a:rPr b="1" i="0" lang="en-US" sz="26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1</a:t>
            </a:r>
            <a:endParaRPr b="0" i="0" sz="260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1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Inicio</a:t>
            </a:r>
            <a:endParaRPr b="0" i="0" sz="215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Mover el puntero al principio del archivo para leer o escribir desde el comienzo.</a:t>
            </a:r>
            <a:endParaRPr b="0" i="0" sz="17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1002030" y="4489013"/>
            <a:ext cx="200382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00"/>
              <a:buFont typeface="Gelasio SemiBold"/>
              <a:buNone/>
            </a:pPr>
            <a:r>
              <a:rPr b="1" i="0" lang="en-US" sz="26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2</a:t>
            </a:r>
            <a:endParaRPr b="0" i="0" sz="260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2314932" y="4378762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1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Desplazamiento</a:t>
            </a:r>
            <a:endParaRPr b="0" i="0" sz="215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Avanzar o retroceder la posición del puntero dentro del archivo.</a:t>
            </a:r>
            <a:endParaRPr b="0" i="0" sz="1700" u="none" cap="none" strike="noStrike"/>
          </a:p>
        </p:txBody>
      </p:sp>
      <p:sp>
        <p:nvSpPr>
          <p:cNvPr id="183" name="Google Shape;183;p8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fmla="val 108513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002625" y="6332458"/>
            <a:ext cx="199311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00"/>
              <a:buFont typeface="Gelasio SemiBold"/>
              <a:buNone/>
            </a:pPr>
            <a:r>
              <a:rPr b="1" i="0" lang="en-US" sz="26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3</a:t>
            </a:r>
            <a:endParaRPr b="0" i="0" sz="260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2314932" y="6222206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1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Fin</a:t>
            </a:r>
            <a:endParaRPr b="0" i="0" sz="215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Posicionar el puntero al final del archivo, ya sea para agregar nuevos datos o verificar el tamaño.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8140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750701" y="3273025"/>
            <a:ext cx="135681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200"/>
              <a:buFont typeface="Gelasio SemiBold"/>
              <a:buNone/>
            </a:pPr>
            <a:r>
              <a:rPr b="1" i="0" lang="en-US" sz="4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Manejo de errores en operaciones de archivos</a:t>
            </a:r>
            <a:endParaRPr b="0" i="0" sz="4200" u="none" cap="none" strike="noStrike"/>
          </a:p>
        </p:txBody>
      </p:sp>
      <p:sp>
        <p:nvSpPr>
          <p:cNvPr id="195" name="Google Shape;195;p9"/>
          <p:cNvSpPr/>
          <p:nvPr/>
        </p:nvSpPr>
        <p:spPr>
          <a:xfrm>
            <a:off x="750689" y="4265057"/>
            <a:ext cx="6457355" cy="1579245"/>
          </a:xfrm>
          <a:prstGeom prst="roundRect">
            <a:avLst>
              <a:gd fmla="val 203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965129" y="4479500"/>
            <a:ext cx="5874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00"/>
              <a:buFont typeface="Gelasio SemiBold"/>
              <a:buNone/>
            </a:pPr>
            <a:r>
              <a:rPr b="1" i="0" lang="en-US" sz="21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Permisos Insuficientes</a:t>
            </a:r>
            <a:endParaRPr b="0" i="0" sz="2100" u="none" cap="none" strike="noStrike"/>
          </a:p>
        </p:txBody>
      </p:sp>
      <p:sp>
        <p:nvSpPr>
          <p:cNvPr id="197" name="Google Shape;197;p9"/>
          <p:cNvSpPr/>
          <p:nvPr/>
        </p:nvSpPr>
        <p:spPr>
          <a:xfrm>
            <a:off x="965121" y="4943356"/>
            <a:ext cx="6028492" cy="686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Verificar que el usuario tenga los permisos necesarios para realizar operaciones de lectura, escritura o ejecución.</a:t>
            </a:r>
            <a:endParaRPr b="0" i="0" sz="1650" u="none" cap="none" strike="noStrike"/>
          </a:p>
        </p:txBody>
      </p:sp>
      <p:sp>
        <p:nvSpPr>
          <p:cNvPr id="198" name="Google Shape;198;p9"/>
          <p:cNvSpPr/>
          <p:nvPr/>
        </p:nvSpPr>
        <p:spPr>
          <a:xfrm>
            <a:off x="7422475" y="4265057"/>
            <a:ext cx="6457355" cy="1579245"/>
          </a:xfrm>
          <a:prstGeom prst="roundRect">
            <a:avLst>
              <a:gd fmla="val 203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7636894" y="4479500"/>
            <a:ext cx="6028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00"/>
              <a:buFont typeface="Gelasio SemiBold"/>
              <a:buNone/>
            </a:pPr>
            <a:r>
              <a:rPr b="1" i="0" lang="en-US" sz="21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No Encontrados</a:t>
            </a:r>
            <a:endParaRPr b="0" i="0" sz="210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7636907" y="4943356"/>
            <a:ext cx="6028492" cy="686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Comprobar que la ruta y el nombre del archivo sean correctos antes de intentar acceder a él.</a:t>
            </a:r>
            <a:endParaRPr b="0" i="0" sz="165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750689" y="6058733"/>
            <a:ext cx="6457355" cy="1579245"/>
          </a:xfrm>
          <a:prstGeom prst="roundRect">
            <a:avLst>
              <a:gd fmla="val 203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965128" y="6273175"/>
            <a:ext cx="6123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00"/>
              <a:buFont typeface="Gelasio SemiBold"/>
              <a:buNone/>
            </a:pPr>
            <a:r>
              <a:rPr b="1" i="0" lang="en-US" sz="21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Errores de Entrada/Salida</a:t>
            </a:r>
            <a:endParaRPr b="0" i="0" sz="210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965121" y="6737033"/>
            <a:ext cx="6028492" cy="686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Manejar adecuadamente los errores de lectura o escritura que puedan ocurrir durante las operaciones de archivo.</a:t>
            </a:r>
            <a:endParaRPr b="0" i="0" sz="165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7422475" y="6058733"/>
            <a:ext cx="6457355" cy="1579245"/>
          </a:xfrm>
          <a:prstGeom prst="roundRect">
            <a:avLst>
              <a:gd fmla="val 203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7636907" y="6273165"/>
            <a:ext cx="2681407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00"/>
              <a:buFont typeface="Gelasio SemiBold"/>
              <a:buNone/>
            </a:pPr>
            <a:r>
              <a:rPr b="1" i="0" lang="en-US" sz="21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Excepciones</a:t>
            </a:r>
            <a:endParaRPr b="0" i="0" sz="210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7636907" y="6737033"/>
            <a:ext cx="6028492" cy="686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Implementar un manejo de excepciones robusto para capturar y procesar errores de manera controlada.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793790" y="3467100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1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Buenas prácticas para el manejo eficiente de archivos</a:t>
            </a:r>
            <a:endParaRPr b="0" i="0" sz="4450" u="none" cap="none" strike="noStrike"/>
          </a:p>
        </p:txBody>
      </p:sp>
      <p:pic>
        <p:nvPicPr>
          <p:cNvPr descr="preencoded.png" id="214" name="Google Shape;2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522482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793790" y="60186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Organización</a:t>
            </a:r>
            <a:endParaRPr b="0" i="0" sz="2200" u="none" cap="none" strike="noStrike"/>
          </a:p>
        </p:txBody>
      </p:sp>
      <p:sp>
        <p:nvSpPr>
          <p:cNvPr id="216" name="Google Shape;216;p10"/>
          <p:cNvSpPr/>
          <p:nvPr/>
        </p:nvSpPr>
        <p:spPr>
          <a:xfrm>
            <a:off x="793790" y="6509028"/>
            <a:ext cx="30054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Mantener una estructura de directorios clara y coherente.</a:t>
            </a:r>
            <a:endParaRPr b="0" i="0" sz="1750" u="none" cap="none" strike="noStrike"/>
          </a:p>
        </p:txBody>
      </p:sp>
      <p:pic>
        <p:nvPicPr>
          <p:cNvPr descr="preencoded.png" id="217" name="Google Shape;2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9446" y="522482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4139446" y="60186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Respaldos</a:t>
            </a:r>
            <a:endParaRPr b="0" i="0" sz="2200" u="none" cap="none" strike="noStrike"/>
          </a:p>
        </p:txBody>
      </p:sp>
      <p:sp>
        <p:nvSpPr>
          <p:cNvPr id="219" name="Google Shape;219;p10"/>
          <p:cNvSpPr/>
          <p:nvPr/>
        </p:nvSpPr>
        <p:spPr>
          <a:xfrm>
            <a:off x="4139446" y="6509028"/>
            <a:ext cx="300561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Realizar copias de seguridad periódicas de los archivos importantes.</a:t>
            </a:r>
            <a:endParaRPr b="0" i="0" sz="1750" u="none" cap="none" strike="noStrike"/>
          </a:p>
        </p:txBody>
      </p:sp>
      <p:pic>
        <p:nvPicPr>
          <p:cNvPr descr="preencoded.png" id="220" name="Google Shape;22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5221" y="522482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7485221" y="60186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Seguridad</a:t>
            </a:r>
            <a:endParaRPr b="0" i="0" sz="220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7485221" y="6509028"/>
            <a:ext cx="300561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Implementar controles de acceso y protección de datos confidenciales.</a:t>
            </a:r>
            <a:endParaRPr b="0" i="0" sz="1750" u="none" cap="none" strike="noStrike"/>
          </a:p>
        </p:txBody>
      </p:sp>
      <p:pic>
        <p:nvPicPr>
          <p:cNvPr descr="preencoded.png" id="223" name="Google Shape;22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30997" y="522482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10830997" y="60186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1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Eficiencia</a:t>
            </a:r>
            <a:endParaRPr b="0" i="0" sz="22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10830997" y="6509028"/>
            <a:ext cx="300561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Optimizar el uso de recursos y el tiempo invertido en el manejo de archivos.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2024-11-04T00:00:26Z</dcterms:created>
  <dc:creator>PptxGenJS</dc:creator>
</cp:coreProperties>
</file>