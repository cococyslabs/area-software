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10287000" cx="18288000"/>
  <p:notesSz cx="6858000" cy="9144000"/>
  <p:embeddedFontLst>
    <p:embeddedFont>
      <p:font typeface="IBM Plex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7" roundtripDataSignature="AMtx7mhMpiD833+Z5RzMiFZA9KRV3j7N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F991C9-8054-40A9-A66D-35CEF091A4C7}">
  <a:tblStyle styleId="{FAF991C9-8054-40A9-A66D-35CEF091A4C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IBMPlexSans-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IBMPlexSans-italic.fntdata"/><Relationship Id="rId10" Type="http://schemas.openxmlformats.org/officeDocument/2006/relationships/slide" Target="slides/slide4.xml"/><Relationship Id="rId54" Type="http://schemas.openxmlformats.org/officeDocument/2006/relationships/font" Target="fonts/IBMPlexSans-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IBMPlex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1.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1.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8288" y="0"/>
            <a:ext cx="18251424" cy="10287000"/>
          </a:xfrm>
          <a:custGeom>
            <a:rect b="b" l="l" r="r" t="t"/>
            <a:pathLst>
              <a:path extrusionOk="0" h="10287000" w="18251424">
                <a:moveTo>
                  <a:pt x="0" y="0"/>
                </a:moveTo>
                <a:lnTo>
                  <a:pt x="18251424" y="0"/>
                </a:lnTo>
                <a:lnTo>
                  <a:pt x="18251424" y="10287000"/>
                </a:lnTo>
                <a:lnTo>
                  <a:pt x="0" y="10287000"/>
                </a:lnTo>
                <a:lnTo>
                  <a:pt x="0" y="0"/>
                </a:lnTo>
                <a:close/>
              </a:path>
            </a:pathLst>
          </a:custGeom>
          <a:blipFill rotWithShape="1">
            <a:blip r:embed="rId3">
              <a:alphaModFix/>
            </a:blip>
            <a:stretch>
              <a:fillRect b="-45" l="0" r="0" t="0"/>
            </a:stretch>
          </a:blipFill>
          <a:ln>
            <a:noFill/>
          </a:ln>
        </p:spPr>
      </p:sp>
      <p:sp>
        <p:nvSpPr>
          <p:cNvPr id="85" name="Google Shape;85;p1"/>
          <p:cNvSpPr/>
          <p:nvPr/>
        </p:nvSpPr>
        <p:spPr>
          <a:xfrm>
            <a:off x="10519791" y="1803406"/>
            <a:ext cx="7654290" cy="1870329"/>
          </a:xfrm>
          <a:custGeom>
            <a:rect b="b" l="l" r="r" t="t"/>
            <a:pathLst>
              <a:path extrusionOk="0" h="1870329" w="7654290">
                <a:moveTo>
                  <a:pt x="0" y="0"/>
                </a:moveTo>
                <a:lnTo>
                  <a:pt x="7654290" y="0"/>
                </a:lnTo>
                <a:lnTo>
                  <a:pt x="7654290" y="1870329"/>
                </a:lnTo>
                <a:lnTo>
                  <a:pt x="0" y="1870329"/>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841222" y="1870310"/>
            <a:ext cx="2551862" cy="1489424"/>
          </a:xfrm>
          <a:prstGeom prst="rect">
            <a:avLst/>
          </a:prstGeom>
          <a:noFill/>
          <a:ln>
            <a:noFill/>
          </a:ln>
        </p:spPr>
        <p:txBody>
          <a:bodyPr anchorCtr="0" anchor="t" bIns="0" lIns="0" spcFirstLastPara="1" rIns="0" wrap="square" tIns="0">
            <a:spAutoFit/>
          </a:bodyPr>
          <a:lstStyle/>
          <a:p>
            <a:pPr indent="0" lvl="0" marL="0" marR="0" rtl="0" algn="l">
              <a:lnSpc>
                <a:spcPct val="222077"/>
              </a:lnSpc>
              <a:spcBef>
                <a:spcPts val="0"/>
              </a:spcBef>
              <a:spcAft>
                <a:spcPts val="0"/>
              </a:spcAft>
              <a:buNone/>
            </a:pPr>
            <a:r>
              <a:rPr b="0" i="0" lang="en-US" sz="2831" u="none" cap="none" strike="noStrike">
                <a:solidFill>
                  <a:srgbClr val="000000"/>
                </a:solidFill>
                <a:latin typeface="IBM Plex Sans"/>
                <a:ea typeface="IBM Plex Sans"/>
                <a:cs typeface="IBM Plex Sans"/>
                <a:sym typeface="IBM Plex Sans"/>
              </a:rPr>
              <a:t>Día, Fecha: Hora de inicio:</a:t>
            </a:r>
            <a:endParaRPr/>
          </a:p>
        </p:txBody>
      </p:sp>
      <p:sp>
        <p:nvSpPr>
          <p:cNvPr id="87" name="Google Shape;87;p1"/>
          <p:cNvSpPr txBox="1"/>
          <p:nvPr/>
        </p:nvSpPr>
        <p:spPr>
          <a:xfrm>
            <a:off x="13878058" y="1857546"/>
            <a:ext cx="3510976" cy="1467801"/>
          </a:xfrm>
          <a:prstGeom prst="rect">
            <a:avLst/>
          </a:prstGeom>
          <a:noFill/>
          <a:ln>
            <a:noFill/>
          </a:ln>
        </p:spPr>
        <p:txBody>
          <a:bodyPr anchorCtr="0" anchor="t" bIns="0" lIns="0" spcFirstLastPara="1" rIns="0" wrap="square" tIns="0">
            <a:spAutoFit/>
          </a:bodyPr>
          <a:lstStyle/>
          <a:p>
            <a:pPr indent="0" lvl="0" marL="0" marR="0" rtl="0" algn="l">
              <a:lnSpc>
                <a:spcPct val="223896"/>
              </a:lnSpc>
              <a:spcBef>
                <a:spcPts val="0"/>
              </a:spcBef>
              <a:spcAft>
                <a:spcPts val="0"/>
              </a:spcAft>
              <a:buNone/>
            </a:pPr>
            <a:r>
              <a:rPr b="0" i="0" lang="en-US" sz="2808" u="none" cap="none" strike="noStrike">
                <a:solidFill>
                  <a:srgbClr val="000000"/>
                </a:solidFill>
                <a:latin typeface="IBM Plex Sans"/>
                <a:ea typeface="IBM Plex Sans"/>
                <a:cs typeface="IBM Plex Sans"/>
                <a:sym typeface="IBM Plex Sans"/>
              </a:rPr>
              <a:t>XXX, xx/xx/xxxx</a:t>
            </a:r>
            <a:endParaRPr/>
          </a:p>
          <a:p>
            <a:pPr indent="0" lvl="0" marL="0" marR="0" rtl="0" algn="l">
              <a:lnSpc>
                <a:spcPct val="223975"/>
              </a:lnSpc>
              <a:spcBef>
                <a:spcPts val="0"/>
              </a:spcBef>
              <a:spcAft>
                <a:spcPts val="0"/>
              </a:spcAft>
              <a:buNone/>
            </a:pPr>
            <a:r>
              <a:rPr b="0" i="0" lang="en-US" sz="2807" u="none" cap="none" strike="noStrike">
                <a:solidFill>
                  <a:srgbClr val="000000"/>
                </a:solidFill>
                <a:latin typeface="IBM Plex Sans"/>
                <a:ea typeface="IBM Plex Sans"/>
                <a:cs typeface="IBM Plex Sans"/>
                <a:sym typeface="IBM Plex Sans"/>
              </a:rPr>
              <a:t> XXXX</a:t>
            </a:r>
            <a:endParaRPr/>
          </a:p>
        </p:txBody>
      </p:sp>
      <p:sp>
        <p:nvSpPr>
          <p:cNvPr id="88" name="Google Shape;88;p1"/>
          <p:cNvSpPr txBox="1"/>
          <p:nvPr/>
        </p:nvSpPr>
        <p:spPr>
          <a:xfrm>
            <a:off x="2967476" y="4868075"/>
            <a:ext cx="12349216" cy="844753"/>
          </a:xfrm>
          <a:prstGeom prst="rect">
            <a:avLst/>
          </a:prstGeom>
          <a:noFill/>
          <a:ln>
            <a:noFill/>
          </a:ln>
        </p:spPr>
        <p:txBody>
          <a:bodyPr anchorCtr="0" anchor="t" bIns="0" lIns="0" spcFirstLastPara="1" rIns="0" wrap="square" tIns="0">
            <a:spAutoFit/>
          </a:bodyPr>
          <a:lstStyle/>
          <a:p>
            <a:pPr indent="0" lvl="0" marL="0" marR="0" rtl="0" algn="l">
              <a:lnSpc>
                <a:spcPct val="139983"/>
              </a:lnSpc>
              <a:spcBef>
                <a:spcPts val="0"/>
              </a:spcBef>
              <a:spcAft>
                <a:spcPts val="0"/>
              </a:spcAft>
              <a:buNone/>
            </a:pPr>
            <a:r>
              <a:rPr b="1" i="0" lang="en-US" sz="4992" u="none" cap="none" strike="noStrike">
                <a:solidFill>
                  <a:srgbClr val="000000"/>
                </a:solidFill>
                <a:latin typeface="IBM Plex Sans"/>
                <a:ea typeface="IBM Plex Sans"/>
                <a:cs typeface="IBM Plex Sans"/>
                <a:sym typeface="IBM Plex Sans"/>
              </a:rPr>
              <a:t>Manejo e Implementación de Archivos [X]</a:t>
            </a:r>
            <a:endParaRPr/>
          </a:p>
        </p:txBody>
      </p:sp>
      <p:sp>
        <p:nvSpPr>
          <p:cNvPr id="89" name="Google Shape;89;p1"/>
          <p:cNvSpPr txBox="1"/>
          <p:nvPr/>
        </p:nvSpPr>
        <p:spPr>
          <a:xfrm>
            <a:off x="3741172" y="5808097"/>
            <a:ext cx="9104302" cy="679125"/>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i="0" lang="en-US" sz="4012" u="none" cap="none" strike="noStrike">
                <a:solidFill>
                  <a:srgbClr val="000000"/>
                </a:solidFill>
                <a:latin typeface="IBM Plex Sans"/>
                <a:ea typeface="IBM Plex Sans"/>
                <a:cs typeface="IBM Plex Sans"/>
                <a:sym typeface="IBM Plex Sans"/>
              </a:rPr>
              <a:t>Nombre auxiliar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95" name="Google Shape;95;p2"/>
          <p:cNvSpPr txBox="1"/>
          <p:nvPr/>
        </p:nvSpPr>
        <p:spPr>
          <a:xfrm>
            <a:off x="921986" y="1142755"/>
            <a:ext cx="4549390" cy="1221991"/>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7599" u="none" cap="none" strike="noStrike">
                <a:solidFill>
                  <a:srgbClr val="FFFFFF"/>
                </a:solidFill>
                <a:latin typeface="Arial"/>
                <a:ea typeface="Arial"/>
                <a:cs typeface="Arial"/>
                <a:sym typeface="Arial"/>
              </a:rPr>
              <a:t>Agenda</a:t>
            </a:r>
            <a:endParaRPr/>
          </a:p>
        </p:txBody>
      </p:sp>
      <p:grpSp>
        <p:nvGrpSpPr>
          <p:cNvPr id="96" name="Google Shape;96;p2"/>
          <p:cNvGrpSpPr/>
          <p:nvPr/>
        </p:nvGrpSpPr>
        <p:grpSpPr>
          <a:xfrm>
            <a:off x="921986" y="2955991"/>
            <a:ext cx="4286250" cy="2502304"/>
            <a:chOff x="0" y="-38100"/>
            <a:chExt cx="5715000" cy="3336405"/>
          </a:xfrm>
        </p:grpSpPr>
        <p:sp>
          <p:nvSpPr>
            <p:cNvPr id="97" name="Google Shape;97;p2"/>
            <p:cNvSpPr txBox="1"/>
            <p:nvPr/>
          </p:nvSpPr>
          <p:spPr>
            <a:xfrm>
              <a:off x="0" y="-38100"/>
              <a:ext cx="5715000"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Recordatorios</a:t>
              </a:r>
              <a:endParaRPr/>
            </a:p>
          </p:txBody>
        </p:sp>
        <p:sp>
          <p:nvSpPr>
            <p:cNvPr id="98" name="Google Shape;98;p2"/>
            <p:cNvSpPr txBox="1"/>
            <p:nvPr/>
          </p:nvSpPr>
          <p:spPr>
            <a:xfrm>
              <a:off x="0" y="911763"/>
              <a:ext cx="5715000" cy="2386542"/>
            </a:xfrm>
            <a:prstGeom prst="rect">
              <a:avLst/>
            </a:prstGeom>
            <a:noFill/>
            <a:ln>
              <a:noFill/>
            </a:ln>
          </p:spPr>
          <p:txBody>
            <a:bodyPr anchorCtr="0" anchor="t" bIns="0" lIns="0" spcFirstLastPara="1" rIns="0" wrap="square" tIns="0">
              <a:spAutoFit/>
            </a:bodyPr>
            <a:lstStyle/>
            <a:p>
              <a:pPr indent="-215900" lvl="1" marL="431801" marR="0" rtl="0" algn="l">
                <a:lnSpc>
                  <a:spcPct val="140000"/>
                </a:lnSpc>
                <a:spcBef>
                  <a:spcPts val="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XXX</a:t>
              </a:r>
              <a:endParaRPr/>
            </a:p>
            <a:p>
              <a:pPr indent="-215900" lvl="1" marL="431801" marR="0" rtl="0" algn="l">
                <a:lnSpc>
                  <a:spcPct val="140000"/>
                </a:lnSpc>
                <a:spcBef>
                  <a:spcPts val="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XXX</a:t>
              </a:r>
              <a:endParaRPr/>
            </a:p>
            <a:p>
              <a:pPr indent="-215900" lvl="1" marL="431801" marR="0" rtl="0" algn="l">
                <a:lnSpc>
                  <a:spcPct val="140000"/>
                </a:lnSpc>
                <a:spcBef>
                  <a:spcPts val="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XXX</a:t>
              </a:r>
              <a:endParaRPr/>
            </a:p>
            <a:p>
              <a:pPr indent="-215900" lvl="1" marL="431801" marR="0" rtl="0" algn="l">
                <a:lnSpc>
                  <a:spcPct val="140000"/>
                </a:lnSpc>
                <a:spcBef>
                  <a:spcPts val="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XXX</a:t>
              </a:r>
              <a:endParaRPr/>
            </a:p>
            <a:p>
              <a:pPr indent="-215900" lvl="1" marL="431801" marR="0" rtl="0" algn="l">
                <a:lnSpc>
                  <a:spcPct val="140000"/>
                </a:lnSpc>
                <a:spcBef>
                  <a:spcPts val="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XXX</a:t>
              </a:r>
              <a:endParaRPr/>
            </a:p>
          </p:txBody>
        </p:sp>
      </p:grpSp>
      <p:sp>
        <p:nvSpPr>
          <p:cNvPr id="99" name="Google Shape;99;p2"/>
          <p:cNvSpPr txBox="1"/>
          <p:nvPr/>
        </p:nvSpPr>
        <p:spPr>
          <a:xfrm>
            <a:off x="12017653" y="962025"/>
            <a:ext cx="4549390" cy="1221991"/>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7599" u="none" cap="none" strike="noStrike">
                <a:solidFill>
                  <a:srgbClr val="FFFFFF"/>
                </a:solidFill>
                <a:latin typeface="Arial"/>
                <a:ea typeface="Arial"/>
                <a:cs typeface="Arial"/>
                <a:sym typeface="Arial"/>
              </a:rPr>
              <a:t>Recursos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105" name="Google Shape;105;p3"/>
          <p:cNvSpPr txBox="1"/>
          <p:nvPr/>
        </p:nvSpPr>
        <p:spPr>
          <a:xfrm>
            <a:off x="921986" y="1142755"/>
            <a:ext cx="14147308" cy="1221991"/>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7599" u="none" cap="none" strike="noStrike">
                <a:solidFill>
                  <a:srgbClr val="FFFFFF"/>
                </a:solidFill>
                <a:latin typeface="Arial"/>
                <a:ea typeface="Arial"/>
                <a:cs typeface="Arial"/>
                <a:sym typeface="Arial"/>
              </a:rPr>
              <a:t>Competencias a desarrollar</a:t>
            </a:r>
            <a:endParaRPr/>
          </a:p>
        </p:txBody>
      </p:sp>
      <p:grpSp>
        <p:nvGrpSpPr>
          <p:cNvPr id="106" name="Google Shape;106;p3"/>
          <p:cNvGrpSpPr/>
          <p:nvPr/>
        </p:nvGrpSpPr>
        <p:grpSpPr>
          <a:xfrm>
            <a:off x="643072" y="2680318"/>
            <a:ext cx="15972193" cy="4897789"/>
            <a:chOff x="0" y="-38100"/>
            <a:chExt cx="21296258" cy="6530385"/>
          </a:xfrm>
        </p:grpSpPr>
        <p:sp>
          <p:nvSpPr>
            <p:cNvPr id="107" name="Google Shape;107;p3"/>
            <p:cNvSpPr txBox="1"/>
            <p:nvPr/>
          </p:nvSpPr>
          <p:spPr>
            <a:xfrm>
              <a:off x="0" y="-38100"/>
              <a:ext cx="21296258" cy="997327"/>
            </a:xfrm>
            <a:prstGeom prst="rect">
              <a:avLst/>
            </a:prstGeom>
            <a:noFill/>
            <a:ln>
              <a:noFill/>
            </a:ln>
          </p:spPr>
          <p:txBody>
            <a:bodyPr anchorCtr="0" anchor="t" bIns="0" lIns="0" spcFirstLastPara="1" rIns="0" wrap="square" tIns="0">
              <a:spAutoFit/>
            </a:bodyPr>
            <a:lstStyle/>
            <a:p>
              <a:pPr indent="0" lvl="1" marL="0" marR="0" rtl="0" algn="l">
                <a:lnSpc>
                  <a:spcPct val="258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3"/>
            <p:cNvSpPr txBox="1"/>
            <p:nvPr/>
          </p:nvSpPr>
          <p:spPr>
            <a:xfrm>
              <a:off x="0" y="1071338"/>
              <a:ext cx="21296258" cy="5420947"/>
            </a:xfrm>
            <a:prstGeom prst="rect">
              <a:avLst/>
            </a:prstGeom>
            <a:noFill/>
            <a:ln>
              <a:noFill/>
            </a:ln>
          </p:spPr>
          <p:txBody>
            <a:bodyPr anchorCtr="0" anchor="t" bIns="0" lIns="0" spcFirstLastPara="1" rIns="0" wrap="square" tIns="0">
              <a:spAutoFit/>
            </a:bodyPr>
            <a:lstStyle/>
            <a:p>
              <a:pPr indent="-309835" lvl="1" marL="619671" marR="0" rtl="0" algn="l">
                <a:lnSpc>
                  <a:spcPct val="140000"/>
                </a:lnSpc>
                <a:spcBef>
                  <a:spcPts val="0"/>
                </a:spcBef>
                <a:spcAft>
                  <a:spcPts val="0"/>
                </a:spcAft>
                <a:buClr>
                  <a:srgbClr val="FFFFFF"/>
                </a:buClr>
                <a:buSzPts val="2870"/>
                <a:buFont typeface="Arial"/>
                <a:buChar char="•"/>
              </a:pPr>
              <a:r>
                <a:rPr b="1" i="0" lang="en-US" sz="2870" u="none" cap="none" strike="noStrike">
                  <a:solidFill>
                    <a:srgbClr val="FFFFFF"/>
                  </a:solidFill>
                  <a:latin typeface="Arial"/>
                  <a:ea typeface="Arial"/>
                  <a:cs typeface="Arial"/>
                  <a:sym typeface="Arial"/>
                </a:rPr>
                <a:t>Comprender el modelo de seguridad integral para almacenamiento de datos mediante el análisis de amenazas, controles de acceso y técnicas de respaldo para garantizar la confidencialidad, integridad y disponibilidad de la información </a:t>
              </a:r>
              <a:endParaRPr/>
            </a:p>
            <a:p>
              <a:pPr indent="0" lvl="0" marL="0" marR="0" rtl="0" algn="l">
                <a:lnSpc>
                  <a:spcPct val="140000"/>
                </a:lnSpc>
                <a:spcBef>
                  <a:spcPts val="0"/>
                </a:spcBef>
                <a:spcAft>
                  <a:spcPts val="0"/>
                </a:spcAft>
                <a:buNone/>
              </a:pPr>
              <a:r>
                <a:t/>
              </a:r>
              <a:endParaRPr b="1" i="0" sz="2870" u="none" cap="none" strike="noStrike">
                <a:solidFill>
                  <a:srgbClr val="FFFFFF"/>
                </a:solidFill>
                <a:latin typeface="Arial"/>
                <a:ea typeface="Arial"/>
                <a:cs typeface="Arial"/>
                <a:sym typeface="Arial"/>
              </a:endParaRPr>
            </a:p>
            <a:p>
              <a:pPr indent="-309835" lvl="1" marL="619671" marR="0" rtl="0" algn="l">
                <a:lnSpc>
                  <a:spcPct val="140000"/>
                </a:lnSpc>
                <a:spcBef>
                  <a:spcPts val="0"/>
                </a:spcBef>
                <a:spcAft>
                  <a:spcPts val="0"/>
                </a:spcAft>
                <a:buClr>
                  <a:srgbClr val="FFFFFF"/>
                </a:buClr>
                <a:buSzPts val="2870"/>
                <a:buFont typeface="Arial"/>
                <a:buChar char="•"/>
              </a:pPr>
              <a:r>
                <a:rPr b="1" i="0" lang="en-US" sz="2870" u="none" cap="none" strike="noStrike">
                  <a:solidFill>
                    <a:srgbClr val="FFFFFF"/>
                  </a:solidFill>
                  <a:latin typeface="Arial"/>
                  <a:ea typeface="Arial"/>
                  <a:cs typeface="Arial"/>
                  <a:sym typeface="Arial"/>
                </a:rPr>
                <a:t>Explicar los fundamentos de conectividad, administración y evolución de tecnologías de red y almacenamiento mediante la identificación de componentes clave y su interacción funcional para comprender su rol en infraestructuras tecnológicas actuales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grpSp>
        <p:nvGrpSpPr>
          <p:cNvPr id="114" name="Google Shape;114;p4"/>
          <p:cNvGrpSpPr/>
          <p:nvPr/>
        </p:nvGrpSpPr>
        <p:grpSpPr>
          <a:xfrm>
            <a:off x="1028700" y="4240462"/>
            <a:ext cx="16230600" cy="1957975"/>
            <a:chOff x="0" y="-171450"/>
            <a:chExt cx="21640800" cy="2610635"/>
          </a:xfrm>
        </p:grpSpPr>
        <p:sp>
          <p:nvSpPr>
            <p:cNvPr id="115" name="Google Shape;115;p4"/>
            <p:cNvSpPr txBox="1"/>
            <p:nvPr/>
          </p:nvSpPr>
          <p:spPr>
            <a:xfrm>
              <a:off x="0" y="-171450"/>
              <a:ext cx="21640800" cy="1791124"/>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i="0" lang="en-US" sz="8000" u="none" cap="none" strike="noStrike">
                  <a:solidFill>
                    <a:srgbClr val="FFFFFF"/>
                  </a:solidFill>
                  <a:latin typeface="Arial"/>
                  <a:ea typeface="Arial"/>
                  <a:cs typeface="Arial"/>
                  <a:sym typeface="Arial"/>
                </a:rPr>
                <a:t>SEGURIDAD</a:t>
              </a:r>
              <a:endParaRPr/>
            </a:p>
          </p:txBody>
        </p:sp>
        <p:sp>
          <p:nvSpPr>
            <p:cNvPr id="116" name="Google Shape;116;p4"/>
            <p:cNvSpPr txBox="1"/>
            <p:nvPr/>
          </p:nvSpPr>
          <p:spPr>
            <a:xfrm>
              <a:off x="0" y="1777515"/>
              <a:ext cx="21640800" cy="661670"/>
            </a:xfrm>
            <a:prstGeom prst="rect">
              <a:avLst/>
            </a:prstGeom>
            <a:noFill/>
            <a:ln>
              <a:noFill/>
            </a:ln>
          </p:spPr>
          <p:txBody>
            <a:bodyPr anchorCtr="0" anchor="t" bIns="0" lIns="0" spcFirstLastPara="1" rIns="0" wrap="square" tIns="0">
              <a:spAutoFit/>
            </a:bodyPr>
            <a:lstStyle/>
            <a:p>
              <a:pPr indent="0" lvl="0" marL="0" marR="0" rtl="0" algn="ctr">
                <a:lnSpc>
                  <a:spcPct val="185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7" name="Google Shape;117;p4"/>
          <p:cNvSpPr txBox="1"/>
          <p:nvPr/>
        </p:nvSpPr>
        <p:spPr>
          <a:xfrm>
            <a:off x="3140155" y="8499475"/>
            <a:ext cx="12007690" cy="406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AUXILIAR xxxxxx</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123" name="Google Shape;123;p5"/>
          <p:cNvSpPr txBox="1"/>
          <p:nvPr/>
        </p:nvSpPr>
        <p:spPr>
          <a:xfrm>
            <a:off x="921986" y="1171330"/>
            <a:ext cx="11013628" cy="645160"/>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Temas principales</a:t>
            </a:r>
            <a:endParaRPr/>
          </a:p>
        </p:txBody>
      </p:sp>
      <p:grpSp>
        <p:nvGrpSpPr>
          <p:cNvPr id="124" name="Google Shape;124;p5"/>
          <p:cNvGrpSpPr/>
          <p:nvPr/>
        </p:nvGrpSpPr>
        <p:grpSpPr>
          <a:xfrm>
            <a:off x="1906776" y="2884545"/>
            <a:ext cx="4286250" cy="1092604"/>
            <a:chOff x="0" y="-38100"/>
            <a:chExt cx="5715000" cy="1456805"/>
          </a:xfrm>
        </p:grpSpPr>
        <p:sp>
          <p:nvSpPr>
            <p:cNvPr id="125" name="Google Shape;125;p5"/>
            <p:cNvSpPr txBox="1"/>
            <p:nvPr/>
          </p:nvSpPr>
          <p:spPr>
            <a:xfrm>
              <a:off x="0" y="-38100"/>
              <a:ext cx="5715000"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1.</a:t>
              </a:r>
              <a:endParaRPr/>
            </a:p>
          </p:txBody>
        </p:sp>
        <p:sp>
          <p:nvSpPr>
            <p:cNvPr id="126" name="Google Shape;126;p5"/>
            <p:cNvSpPr txBox="1"/>
            <p:nvPr/>
          </p:nvSpPr>
          <p:spPr>
            <a:xfrm>
              <a:off x="0" y="911763"/>
              <a:ext cx="5715000"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Cifrado de Datos</a:t>
              </a:r>
              <a:endParaRPr/>
            </a:p>
          </p:txBody>
        </p:sp>
      </p:grpSp>
      <p:grpSp>
        <p:nvGrpSpPr>
          <p:cNvPr id="127" name="Google Shape;127;p5"/>
          <p:cNvGrpSpPr/>
          <p:nvPr/>
        </p:nvGrpSpPr>
        <p:grpSpPr>
          <a:xfrm>
            <a:off x="1906776" y="6049538"/>
            <a:ext cx="4286250" cy="1445432"/>
            <a:chOff x="0" y="-38100"/>
            <a:chExt cx="5715000" cy="1927243"/>
          </a:xfrm>
        </p:grpSpPr>
        <p:sp>
          <p:nvSpPr>
            <p:cNvPr id="128" name="Google Shape;128;p5"/>
            <p:cNvSpPr txBox="1"/>
            <p:nvPr/>
          </p:nvSpPr>
          <p:spPr>
            <a:xfrm>
              <a:off x="0" y="-38100"/>
              <a:ext cx="5715000"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4.</a:t>
              </a:r>
              <a:endParaRPr/>
            </a:p>
          </p:txBody>
        </p:sp>
        <p:sp>
          <p:nvSpPr>
            <p:cNvPr id="129" name="Google Shape;129;p5"/>
            <p:cNvSpPr txBox="1"/>
            <p:nvPr/>
          </p:nvSpPr>
          <p:spPr>
            <a:xfrm>
              <a:off x="0" y="912301"/>
              <a:ext cx="5715000"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Monitoreo y Detección de Intrusos</a:t>
              </a:r>
              <a:endParaRPr/>
            </a:p>
          </p:txBody>
        </p:sp>
      </p:grpSp>
      <p:grpSp>
        <p:nvGrpSpPr>
          <p:cNvPr id="130" name="Google Shape;130;p5"/>
          <p:cNvGrpSpPr/>
          <p:nvPr/>
        </p:nvGrpSpPr>
        <p:grpSpPr>
          <a:xfrm>
            <a:off x="7002280" y="2884545"/>
            <a:ext cx="4286250" cy="1445029"/>
            <a:chOff x="0" y="-38100"/>
            <a:chExt cx="5715000" cy="1926705"/>
          </a:xfrm>
        </p:grpSpPr>
        <p:sp>
          <p:nvSpPr>
            <p:cNvPr id="131" name="Google Shape;131;p5"/>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2.</a:t>
              </a:r>
              <a:endParaRPr/>
            </a:p>
          </p:txBody>
        </p:sp>
        <p:sp>
          <p:nvSpPr>
            <p:cNvPr id="132" name="Google Shape;132;p5"/>
            <p:cNvSpPr txBox="1"/>
            <p:nvPr/>
          </p:nvSpPr>
          <p:spPr>
            <a:xfrm>
              <a:off x="2857" y="911763"/>
              <a:ext cx="5712143"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Control de Acceso y Autenticación</a:t>
              </a:r>
              <a:endParaRPr/>
            </a:p>
          </p:txBody>
        </p:sp>
      </p:grpSp>
      <p:grpSp>
        <p:nvGrpSpPr>
          <p:cNvPr id="133" name="Google Shape;133;p5"/>
          <p:cNvGrpSpPr/>
          <p:nvPr/>
        </p:nvGrpSpPr>
        <p:grpSpPr>
          <a:xfrm>
            <a:off x="7002280" y="6049538"/>
            <a:ext cx="4286250" cy="1445432"/>
            <a:chOff x="0" y="-38100"/>
            <a:chExt cx="5715000" cy="1927243"/>
          </a:xfrm>
        </p:grpSpPr>
        <p:sp>
          <p:nvSpPr>
            <p:cNvPr id="134" name="Google Shape;134;p5"/>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5.</a:t>
              </a:r>
              <a:endParaRPr/>
            </a:p>
          </p:txBody>
        </p:sp>
        <p:sp>
          <p:nvSpPr>
            <p:cNvPr id="135" name="Google Shape;135;p5"/>
            <p:cNvSpPr txBox="1"/>
            <p:nvPr/>
          </p:nvSpPr>
          <p:spPr>
            <a:xfrm>
              <a:off x="2857" y="912301"/>
              <a:ext cx="5712143"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Políticas de Retención y Eliminación de Datos</a:t>
              </a:r>
              <a:endParaRPr/>
            </a:p>
          </p:txBody>
        </p:sp>
      </p:grpSp>
      <p:grpSp>
        <p:nvGrpSpPr>
          <p:cNvPr id="136" name="Google Shape;136;p5"/>
          <p:cNvGrpSpPr/>
          <p:nvPr/>
        </p:nvGrpSpPr>
        <p:grpSpPr>
          <a:xfrm>
            <a:off x="12094974" y="2884545"/>
            <a:ext cx="4286250" cy="1092604"/>
            <a:chOff x="0" y="-38100"/>
            <a:chExt cx="5715000" cy="1456805"/>
          </a:xfrm>
        </p:grpSpPr>
        <p:sp>
          <p:nvSpPr>
            <p:cNvPr id="137" name="Google Shape;137;p5"/>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3.</a:t>
              </a:r>
              <a:endParaRPr/>
            </a:p>
          </p:txBody>
        </p:sp>
        <p:sp>
          <p:nvSpPr>
            <p:cNvPr id="138" name="Google Shape;138;p5"/>
            <p:cNvSpPr txBox="1"/>
            <p:nvPr/>
          </p:nvSpPr>
          <p:spPr>
            <a:xfrm>
              <a:off x="2857" y="911763"/>
              <a:ext cx="5712143"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Seguridad Física</a:t>
              </a:r>
              <a:endParaRPr/>
            </a:p>
          </p:txBody>
        </p:sp>
      </p:grpSp>
      <p:grpSp>
        <p:nvGrpSpPr>
          <p:cNvPr id="139" name="Google Shape;139;p5"/>
          <p:cNvGrpSpPr/>
          <p:nvPr/>
        </p:nvGrpSpPr>
        <p:grpSpPr>
          <a:xfrm>
            <a:off x="12094974" y="6049538"/>
            <a:ext cx="4286250" cy="1445432"/>
            <a:chOff x="0" y="-38100"/>
            <a:chExt cx="5715000" cy="1927243"/>
          </a:xfrm>
        </p:grpSpPr>
        <p:sp>
          <p:nvSpPr>
            <p:cNvPr id="140" name="Google Shape;140;p5"/>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6.</a:t>
              </a:r>
              <a:endParaRPr/>
            </a:p>
          </p:txBody>
        </p:sp>
        <p:sp>
          <p:nvSpPr>
            <p:cNvPr id="141" name="Google Shape;141;p5"/>
            <p:cNvSpPr txBox="1"/>
            <p:nvPr/>
          </p:nvSpPr>
          <p:spPr>
            <a:xfrm>
              <a:off x="2857" y="912301"/>
              <a:ext cx="5712143"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Seguridad en Almacenamiento en la Nube</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4116" l="-2624" r="-1774" t="-3017"/>
            </a:stretch>
          </a:blipFill>
          <a:ln>
            <a:noFill/>
          </a:ln>
        </p:spPr>
      </p:sp>
      <p:grpSp>
        <p:nvGrpSpPr>
          <p:cNvPr id="147" name="Google Shape;147;p6"/>
          <p:cNvGrpSpPr/>
          <p:nvPr/>
        </p:nvGrpSpPr>
        <p:grpSpPr>
          <a:xfrm>
            <a:off x="1845028" y="3396470"/>
            <a:ext cx="9245202" cy="3178882"/>
            <a:chOff x="0" y="-114300"/>
            <a:chExt cx="12326936" cy="4238509"/>
          </a:xfrm>
        </p:grpSpPr>
        <p:sp>
          <p:nvSpPr>
            <p:cNvPr id="148" name="Google Shape;148;p6"/>
            <p:cNvSpPr txBox="1"/>
            <p:nvPr/>
          </p:nvSpPr>
          <p:spPr>
            <a:xfrm>
              <a:off x="0" y="-114300"/>
              <a:ext cx="12326936" cy="921173"/>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Introducción</a:t>
              </a:r>
              <a:endParaRPr/>
            </a:p>
          </p:txBody>
        </p:sp>
        <p:sp>
          <p:nvSpPr>
            <p:cNvPr id="149" name="Google Shape;149;p6"/>
            <p:cNvSpPr txBox="1"/>
            <p:nvPr/>
          </p:nvSpPr>
          <p:spPr>
            <a:xfrm>
              <a:off x="0" y="1049793"/>
              <a:ext cx="12326936" cy="3074416"/>
            </a:xfrm>
            <a:prstGeom prst="rect">
              <a:avLst/>
            </a:prstGeom>
            <a:noFill/>
            <a:ln>
              <a:noFill/>
            </a:ln>
          </p:spPr>
          <p:txBody>
            <a:bodyPr anchorCtr="0" anchor="t" bIns="0" lIns="0" spcFirstLastPara="1" rIns="0" wrap="square" tIns="0">
              <a:spAutoFit/>
            </a:bodyPr>
            <a:lstStyle/>
            <a:p>
              <a:pPr indent="0" lvl="0" marL="0" marR="0" rtl="0" algn="just">
                <a:lnSpc>
                  <a:spcPct val="151021"/>
                </a:lnSpc>
                <a:spcBef>
                  <a:spcPts val="0"/>
                </a:spcBef>
                <a:spcAft>
                  <a:spcPts val="0"/>
                </a:spcAft>
                <a:buNone/>
              </a:pPr>
              <a:r>
                <a:rPr b="0" i="0" lang="en-US" sz="2399" u="none" cap="none" strike="noStrike">
                  <a:solidFill>
                    <a:srgbClr val="FFFFFF"/>
                  </a:solidFill>
                  <a:latin typeface="Arial"/>
                  <a:ea typeface="Arial"/>
                  <a:cs typeface="Arial"/>
                  <a:sym typeface="Arial"/>
                </a:rPr>
                <a:t>La seguridad de la información en almacenamiento se refiere a las medidas y prácticas implementadas para proteger los datos almacenados, ya sea en servidores, discos duros, almacenamiento en la nube, u otros dispositivos. Aquí algunos elementos clave:</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068" l="-4629" r="-2124" t="-3684"/>
            </a:stretch>
          </a:blipFill>
          <a:ln>
            <a:noFill/>
          </a:ln>
        </p:spPr>
      </p:sp>
      <p:sp>
        <p:nvSpPr>
          <p:cNvPr id="155" name="Google Shape;155;p7"/>
          <p:cNvSpPr txBox="1"/>
          <p:nvPr/>
        </p:nvSpPr>
        <p:spPr>
          <a:xfrm>
            <a:off x="1360064" y="1573798"/>
            <a:ext cx="5635078" cy="776986"/>
          </a:xfrm>
          <a:prstGeom prst="rect">
            <a:avLst/>
          </a:prstGeom>
          <a:noFill/>
          <a:ln>
            <a:noFill/>
          </a:ln>
        </p:spPr>
        <p:txBody>
          <a:bodyPr anchorCtr="0" anchor="t" bIns="0" lIns="0" spcFirstLastPara="1" rIns="0" wrap="square" tIns="0">
            <a:spAutoFit/>
          </a:bodyPr>
          <a:lstStyle/>
          <a:p>
            <a:pPr indent="0" lvl="0" marL="0" marR="0" rtl="0" algn="l">
              <a:lnSpc>
                <a:spcPct val="119004"/>
              </a:lnSpc>
              <a:spcBef>
                <a:spcPts val="0"/>
              </a:spcBef>
              <a:spcAft>
                <a:spcPts val="0"/>
              </a:spcAft>
              <a:buNone/>
            </a:pPr>
            <a:r>
              <a:rPr b="1" i="0" lang="en-US" sz="4299" u="none" cap="none" strike="noStrike">
                <a:solidFill>
                  <a:srgbClr val="FFFFFF"/>
                </a:solidFill>
                <a:latin typeface="Arial"/>
                <a:ea typeface="Arial"/>
                <a:cs typeface="Arial"/>
                <a:sym typeface="Arial"/>
              </a:rPr>
              <a:t>Cifrado de Datos</a:t>
            </a:r>
            <a:endParaRPr/>
          </a:p>
        </p:txBody>
      </p:sp>
      <p:sp>
        <p:nvSpPr>
          <p:cNvPr id="156" name="Google Shape;156;p7"/>
          <p:cNvSpPr txBox="1"/>
          <p:nvPr/>
        </p:nvSpPr>
        <p:spPr>
          <a:xfrm>
            <a:off x="3052200" y="3214804"/>
            <a:ext cx="6776542" cy="192595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800" u="none" cap="none" strike="noStrike">
                <a:solidFill>
                  <a:srgbClr val="FFFFFF"/>
                </a:solidFill>
                <a:latin typeface="Arial"/>
                <a:ea typeface="Arial"/>
                <a:cs typeface="Arial"/>
                <a:sym typeface="Arial"/>
              </a:rPr>
              <a:t>El cifrado es esencial para proteger los datos tanto en reposo como en tránsito. En el almacenamiento, el cifrado de datos garantiza que, si alguien accede sin autorización, no pueda interpretarlos sin la clave de desencriptación. Existen varios algoritmos de cifrado, como AES (Advanced Encryption Standard) y RSA.</a:t>
            </a:r>
            <a:endParaRPr/>
          </a:p>
        </p:txBody>
      </p:sp>
      <p:sp>
        <p:nvSpPr>
          <p:cNvPr id="157" name="Google Shape;157;p7"/>
          <p:cNvSpPr txBox="1"/>
          <p:nvPr/>
        </p:nvSpPr>
        <p:spPr>
          <a:xfrm>
            <a:off x="9933383" y="5812937"/>
            <a:ext cx="6776542" cy="9829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1800" u="none" cap="none" strike="noStrike">
                <a:solidFill>
                  <a:srgbClr val="FFFFFF"/>
                </a:solidFill>
                <a:latin typeface="Arial"/>
                <a:ea typeface="Arial"/>
                <a:cs typeface="Arial"/>
                <a:sym typeface="Arial"/>
              </a:rPr>
              <a:t>La gestión de claves es fundamental, ya que estas deben ser almacenadas de forma segura y administradas cuidadosamente para evitar fugas.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163" name="Google Shape;163;p8"/>
          <p:cNvSpPr/>
          <p:nvPr/>
        </p:nvSpPr>
        <p:spPr>
          <a:xfrm>
            <a:off x="7787393" y="2268196"/>
            <a:ext cx="9200973" cy="5750608"/>
          </a:xfrm>
          <a:custGeom>
            <a:rect b="b" l="l" r="r" t="t"/>
            <a:pathLst>
              <a:path extrusionOk="0" h="5750608" w="9200973">
                <a:moveTo>
                  <a:pt x="0" y="0"/>
                </a:moveTo>
                <a:lnTo>
                  <a:pt x="9200973" y="0"/>
                </a:lnTo>
                <a:lnTo>
                  <a:pt x="9200973" y="5750608"/>
                </a:lnTo>
                <a:lnTo>
                  <a:pt x="0" y="5750608"/>
                </a:lnTo>
                <a:lnTo>
                  <a:pt x="0" y="0"/>
                </a:lnTo>
                <a:close/>
              </a:path>
            </a:pathLst>
          </a:custGeom>
          <a:blipFill rotWithShape="1">
            <a:blip r:embed="rId4">
              <a:alphaModFix/>
            </a:blip>
            <a:stretch>
              <a:fillRect b="0" l="0" r="0" t="0"/>
            </a:stretch>
          </a:blipFill>
          <a:ln>
            <a:noFill/>
          </a:ln>
        </p:spPr>
      </p:sp>
      <p:grpSp>
        <p:nvGrpSpPr>
          <p:cNvPr id="164" name="Google Shape;164;p8"/>
          <p:cNvGrpSpPr/>
          <p:nvPr/>
        </p:nvGrpSpPr>
        <p:grpSpPr>
          <a:xfrm>
            <a:off x="1531819" y="1236568"/>
            <a:ext cx="4270685" cy="7061779"/>
            <a:chOff x="0" y="-114300"/>
            <a:chExt cx="5694247" cy="9415706"/>
          </a:xfrm>
        </p:grpSpPr>
        <p:sp>
          <p:nvSpPr>
            <p:cNvPr id="165" name="Google Shape;165;p8"/>
            <p:cNvSpPr txBox="1"/>
            <p:nvPr/>
          </p:nvSpPr>
          <p:spPr>
            <a:xfrm>
              <a:off x="0" y="-114300"/>
              <a:ext cx="5694247" cy="2521373"/>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Control de Acceso y Autenticación</a:t>
              </a:r>
              <a:endParaRPr/>
            </a:p>
          </p:txBody>
        </p:sp>
        <p:sp>
          <p:nvSpPr>
            <p:cNvPr id="166" name="Google Shape;166;p8"/>
            <p:cNvSpPr txBox="1"/>
            <p:nvPr/>
          </p:nvSpPr>
          <p:spPr>
            <a:xfrm>
              <a:off x="0" y="2678568"/>
              <a:ext cx="5694247" cy="6622838"/>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Implementar controles de acceso es vital para garantizar que solo usuarios autorizados puedan acceder a los datos. Esto se logra con sistemas de autenticación multifactor (MFA), permisos basados en roles (RBAC), y políticas de acceso mínimas.</a:t>
              </a:r>
              <a:endParaRPr/>
            </a:p>
            <a:p>
              <a:pPr indent="0" lvl="0" marL="0" marR="0" rtl="0" algn="l">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l">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Autenticación multifactor agrega una capa adicional de seguridad, donde el acceso requiere dos o más verificaciones.</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cxnSp>
        <p:nvCxnSpPr>
          <p:cNvPr id="172" name="Google Shape;172;p9"/>
          <p:cNvCxnSpPr/>
          <p:nvPr/>
        </p:nvCxnSpPr>
        <p:spPr>
          <a:xfrm>
            <a:off x="2695283" y="2661383"/>
            <a:ext cx="6055058" cy="0"/>
          </a:xfrm>
          <a:prstGeom prst="straightConnector1">
            <a:avLst/>
          </a:prstGeom>
          <a:noFill/>
          <a:ln cap="flat" cmpd="sng" w="38100">
            <a:solidFill>
              <a:srgbClr val="FFFFFF"/>
            </a:solidFill>
            <a:prstDash val="solid"/>
            <a:round/>
            <a:headEnd len="lg" w="lg" type="oval"/>
            <a:tailEnd len="med" w="med" type="stealth"/>
          </a:ln>
        </p:spPr>
      </p:cxnSp>
      <p:cxnSp>
        <p:nvCxnSpPr>
          <p:cNvPr id="173" name="Google Shape;173;p9"/>
          <p:cNvCxnSpPr/>
          <p:nvPr/>
        </p:nvCxnSpPr>
        <p:spPr>
          <a:xfrm>
            <a:off x="9521089" y="2661383"/>
            <a:ext cx="6055058" cy="0"/>
          </a:xfrm>
          <a:prstGeom prst="straightConnector1">
            <a:avLst/>
          </a:prstGeom>
          <a:noFill/>
          <a:ln cap="flat" cmpd="sng" w="38100">
            <a:solidFill>
              <a:srgbClr val="FFFFFF"/>
            </a:solidFill>
            <a:prstDash val="solid"/>
            <a:round/>
            <a:headEnd len="med" w="med" type="stealth"/>
            <a:tailEnd len="lg" w="lg" type="oval"/>
          </a:ln>
        </p:spPr>
      </p:cxnSp>
      <p:sp>
        <p:nvSpPr>
          <p:cNvPr id="174" name="Google Shape;174;p9"/>
          <p:cNvSpPr/>
          <p:nvPr/>
        </p:nvSpPr>
        <p:spPr>
          <a:xfrm>
            <a:off x="9959768" y="3706356"/>
            <a:ext cx="5869435" cy="3301557"/>
          </a:xfrm>
          <a:custGeom>
            <a:rect b="b" l="l" r="r" t="t"/>
            <a:pathLst>
              <a:path extrusionOk="0" h="3301557" w="5869435">
                <a:moveTo>
                  <a:pt x="0" y="0"/>
                </a:moveTo>
                <a:lnTo>
                  <a:pt x="5869435" y="0"/>
                </a:lnTo>
                <a:lnTo>
                  <a:pt x="5869435" y="3301557"/>
                </a:lnTo>
                <a:lnTo>
                  <a:pt x="0" y="3301557"/>
                </a:lnTo>
                <a:lnTo>
                  <a:pt x="0" y="0"/>
                </a:lnTo>
                <a:close/>
              </a:path>
            </a:pathLst>
          </a:custGeom>
          <a:blipFill rotWithShape="1">
            <a:blip r:embed="rId4">
              <a:alphaModFix/>
            </a:blip>
            <a:stretch>
              <a:fillRect b="0" l="0" r="0" t="0"/>
            </a:stretch>
          </a:blipFill>
          <a:ln>
            <a:noFill/>
          </a:ln>
        </p:spPr>
      </p:sp>
      <p:sp>
        <p:nvSpPr>
          <p:cNvPr id="175" name="Google Shape;175;p9"/>
          <p:cNvSpPr txBox="1"/>
          <p:nvPr/>
        </p:nvSpPr>
        <p:spPr>
          <a:xfrm>
            <a:off x="3637186" y="1171330"/>
            <a:ext cx="11013628" cy="645160"/>
          </a:xfrm>
          <a:prstGeom prst="rect">
            <a:avLst/>
          </a:prstGeom>
          <a:noFill/>
          <a:ln>
            <a:noFill/>
          </a:ln>
        </p:spPr>
        <p:txBody>
          <a:bodyPr anchorCtr="0" anchor="t" bIns="0" lIns="0" spcFirstLastPara="1" rIns="0" wrap="square" tIns="0">
            <a:spAutoFit/>
          </a:bodyPr>
          <a:lstStyle/>
          <a:p>
            <a:pPr indent="0" lvl="0" marL="0" marR="0" rtl="0" algn="ctr">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 Seguridad Física</a:t>
            </a:r>
            <a:endParaRPr/>
          </a:p>
        </p:txBody>
      </p:sp>
      <p:sp>
        <p:nvSpPr>
          <p:cNvPr id="176" name="Google Shape;176;p9"/>
          <p:cNvSpPr txBox="1"/>
          <p:nvPr/>
        </p:nvSpPr>
        <p:spPr>
          <a:xfrm>
            <a:off x="3206079" y="3582531"/>
            <a:ext cx="5072935" cy="2712085"/>
          </a:xfrm>
          <a:prstGeom prst="rect">
            <a:avLst/>
          </a:prstGeom>
          <a:noFill/>
          <a:ln>
            <a:noFill/>
          </a:ln>
        </p:spPr>
        <p:txBody>
          <a:bodyPr anchorCtr="0" anchor="t" bIns="0" lIns="0" spcFirstLastPara="1" rIns="0" wrap="square" tIns="0">
            <a:spAutoFit/>
          </a:bodyPr>
          <a:lstStyle/>
          <a:p>
            <a:pPr indent="0" lvl="0" marL="0" marR="0" rtl="0" algn="just">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En entornos físicos, como centros de datos, es necesario proteger los dispositivos de almacenamiento de acceso físico no autorizado. Esto incluye el uso de cámaras, control de acceso biométrico, y monitoreo de los dispositivos.</a:t>
            </a:r>
            <a:endParaRPr/>
          </a:p>
        </p:txBody>
      </p:sp>
      <p:sp>
        <p:nvSpPr>
          <p:cNvPr id="177" name="Google Shape;177;p9"/>
          <p:cNvSpPr txBox="1"/>
          <p:nvPr/>
        </p:nvSpPr>
        <p:spPr>
          <a:xfrm>
            <a:off x="3206079" y="6963117"/>
            <a:ext cx="5072935" cy="1569085"/>
          </a:xfrm>
          <a:prstGeom prst="rect">
            <a:avLst/>
          </a:prstGeom>
          <a:noFill/>
          <a:ln>
            <a:noFill/>
          </a:ln>
        </p:spPr>
        <p:txBody>
          <a:bodyPr anchorCtr="0" anchor="t" bIns="0" lIns="0" spcFirstLastPara="1" rIns="0" wrap="square" tIns="0">
            <a:spAutoFit/>
          </a:bodyPr>
          <a:lstStyle/>
          <a:p>
            <a:pPr indent="0" lvl="0" marL="0" marR="0" rtl="0" algn="just">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También se deben implementar medidas de seguridad ambiental, como control de temperatura y humedad, para evitar daños físicos.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183" name="Google Shape;183;p10"/>
          <p:cNvSpPr/>
          <p:nvPr/>
        </p:nvSpPr>
        <p:spPr>
          <a:xfrm>
            <a:off x="2193603" y="3339697"/>
            <a:ext cx="6075968" cy="3607606"/>
          </a:xfrm>
          <a:custGeom>
            <a:rect b="b" l="l" r="r" t="t"/>
            <a:pathLst>
              <a:path extrusionOk="0" h="3607606" w="6075968">
                <a:moveTo>
                  <a:pt x="0" y="0"/>
                </a:moveTo>
                <a:lnTo>
                  <a:pt x="6075969" y="0"/>
                </a:lnTo>
                <a:lnTo>
                  <a:pt x="6075969" y="3607606"/>
                </a:lnTo>
                <a:lnTo>
                  <a:pt x="0" y="3607606"/>
                </a:lnTo>
                <a:lnTo>
                  <a:pt x="0" y="0"/>
                </a:lnTo>
                <a:close/>
              </a:path>
            </a:pathLst>
          </a:custGeom>
          <a:blipFill rotWithShape="1">
            <a:blip r:embed="rId4">
              <a:alphaModFix/>
            </a:blip>
            <a:stretch>
              <a:fillRect b="0" l="0" r="0" t="0"/>
            </a:stretch>
          </a:blipFill>
          <a:ln>
            <a:noFill/>
          </a:ln>
        </p:spPr>
      </p:sp>
      <p:sp>
        <p:nvSpPr>
          <p:cNvPr id="184" name="Google Shape;184;p10"/>
          <p:cNvSpPr txBox="1"/>
          <p:nvPr/>
        </p:nvSpPr>
        <p:spPr>
          <a:xfrm>
            <a:off x="3637186" y="1171330"/>
            <a:ext cx="11013628" cy="645160"/>
          </a:xfrm>
          <a:prstGeom prst="rect">
            <a:avLst/>
          </a:prstGeom>
          <a:noFill/>
          <a:ln>
            <a:noFill/>
          </a:ln>
        </p:spPr>
        <p:txBody>
          <a:bodyPr anchorCtr="0" anchor="t" bIns="0" lIns="0" spcFirstLastPara="1" rIns="0" wrap="square" tIns="0">
            <a:spAutoFit/>
          </a:bodyPr>
          <a:lstStyle/>
          <a:p>
            <a:pPr indent="0" lvl="0" marL="0" marR="0" rtl="0" algn="ctr">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MONITOREO Y DETECCIÓN DE INTRUSOS</a:t>
            </a:r>
            <a:endParaRPr/>
          </a:p>
        </p:txBody>
      </p:sp>
      <p:sp>
        <p:nvSpPr>
          <p:cNvPr id="185" name="Google Shape;185;p10"/>
          <p:cNvSpPr txBox="1"/>
          <p:nvPr/>
        </p:nvSpPr>
        <p:spPr>
          <a:xfrm>
            <a:off x="10129843" y="2963545"/>
            <a:ext cx="5072935" cy="4236085"/>
          </a:xfrm>
          <a:prstGeom prst="rect">
            <a:avLst/>
          </a:prstGeom>
          <a:noFill/>
          <a:ln>
            <a:noFill/>
          </a:ln>
        </p:spPr>
        <p:txBody>
          <a:bodyPr anchorCtr="0" anchor="t" bIns="0" lIns="0" spcFirstLastPara="1" rIns="0" wrap="square" tIns="0">
            <a:spAutoFit/>
          </a:bodyPr>
          <a:lstStyle/>
          <a:p>
            <a:pPr indent="0" lvl="0" marL="0" marR="0" rtl="0" algn="just">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Implementar sistemas de detección de intrusos (IDS) y herramientas de monitoreo en tiempo real para detectar actividades sospechosas en el almacenamiento y evitar brechas.</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Las herramientas de monitoreo permiten registrar quién accede a los datos, qué cambios se hacen y alertar en caso de comportamientos anómalos.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191" name="Google Shape;191;p11"/>
          <p:cNvSpPr/>
          <p:nvPr/>
        </p:nvSpPr>
        <p:spPr>
          <a:xfrm>
            <a:off x="8583787" y="2703512"/>
            <a:ext cx="8675513" cy="4879976"/>
          </a:xfrm>
          <a:custGeom>
            <a:rect b="b" l="l" r="r" t="t"/>
            <a:pathLst>
              <a:path extrusionOk="0" h="4879976" w="8675513">
                <a:moveTo>
                  <a:pt x="0" y="0"/>
                </a:moveTo>
                <a:lnTo>
                  <a:pt x="8675513" y="0"/>
                </a:lnTo>
                <a:lnTo>
                  <a:pt x="8675513" y="4879976"/>
                </a:lnTo>
                <a:lnTo>
                  <a:pt x="0" y="4879976"/>
                </a:lnTo>
                <a:lnTo>
                  <a:pt x="0" y="0"/>
                </a:lnTo>
                <a:close/>
              </a:path>
            </a:pathLst>
          </a:custGeom>
          <a:blipFill rotWithShape="1">
            <a:blip r:embed="rId4">
              <a:alphaModFix/>
            </a:blip>
            <a:stretch>
              <a:fillRect b="0" l="0" r="0" t="0"/>
            </a:stretch>
          </a:blipFill>
          <a:ln>
            <a:noFill/>
          </a:ln>
        </p:spPr>
      </p:sp>
      <p:sp>
        <p:nvSpPr>
          <p:cNvPr id="192" name="Google Shape;192;p11"/>
          <p:cNvSpPr txBox="1"/>
          <p:nvPr/>
        </p:nvSpPr>
        <p:spPr>
          <a:xfrm>
            <a:off x="1427177" y="914400"/>
            <a:ext cx="8538485" cy="1319530"/>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Políticas de Retención y Eliminación de Datos</a:t>
            </a:r>
            <a:endParaRPr/>
          </a:p>
        </p:txBody>
      </p:sp>
      <p:sp>
        <p:nvSpPr>
          <p:cNvPr id="193" name="Google Shape;193;p11"/>
          <p:cNvSpPr txBox="1"/>
          <p:nvPr/>
        </p:nvSpPr>
        <p:spPr>
          <a:xfrm>
            <a:off x="1427177" y="2824023"/>
            <a:ext cx="5072935" cy="4998085"/>
          </a:xfrm>
          <a:prstGeom prst="rect">
            <a:avLst/>
          </a:prstGeom>
          <a:noFill/>
          <a:ln>
            <a:noFill/>
          </a:ln>
        </p:spPr>
        <p:txBody>
          <a:bodyPr anchorCtr="0" anchor="t" bIns="0" lIns="0" spcFirstLastPara="1" rIns="0" wrap="square" tIns="0">
            <a:spAutoFit/>
          </a:bodyPr>
          <a:lstStyle/>
          <a:p>
            <a:pPr indent="-215900" lvl="1" marL="431801" marR="0" rtl="0" algn="just">
              <a:lnSpc>
                <a:spcPct val="151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Definir políticas para la retención y eliminación de datos garantiza que solo se almacene la información necesaria y que los datos antiguos se destruyan de manera segura.</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215900" lvl="1" marL="431801" marR="0" rtl="0" algn="just">
              <a:lnSpc>
                <a:spcPct val="151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Para eliminar datos, se emplean métodos como el borrado seguro o destrucción física, y en algunos casos, el borrado criptográfico, donde las claves de cifrado se eliminan para hacer inaccesible el contenido.</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199" name="Google Shape;199;p12"/>
          <p:cNvSpPr/>
          <p:nvPr/>
        </p:nvSpPr>
        <p:spPr>
          <a:xfrm>
            <a:off x="8236307" y="2398871"/>
            <a:ext cx="9248815" cy="5271824"/>
          </a:xfrm>
          <a:custGeom>
            <a:rect b="b" l="l" r="r" t="t"/>
            <a:pathLst>
              <a:path extrusionOk="0" h="5271824" w="9248815">
                <a:moveTo>
                  <a:pt x="0" y="0"/>
                </a:moveTo>
                <a:lnTo>
                  <a:pt x="9248815" y="0"/>
                </a:lnTo>
                <a:lnTo>
                  <a:pt x="9248815" y="5271824"/>
                </a:lnTo>
                <a:lnTo>
                  <a:pt x="0" y="5271824"/>
                </a:lnTo>
                <a:lnTo>
                  <a:pt x="0" y="0"/>
                </a:lnTo>
                <a:close/>
              </a:path>
            </a:pathLst>
          </a:custGeom>
          <a:blipFill rotWithShape="1">
            <a:blip r:embed="rId4">
              <a:alphaModFix/>
            </a:blip>
            <a:stretch>
              <a:fillRect b="0" l="0" r="0" t="0"/>
            </a:stretch>
          </a:blipFill>
          <a:ln>
            <a:noFill/>
          </a:ln>
        </p:spPr>
      </p:sp>
      <p:sp>
        <p:nvSpPr>
          <p:cNvPr id="200" name="Google Shape;200;p12"/>
          <p:cNvSpPr txBox="1"/>
          <p:nvPr/>
        </p:nvSpPr>
        <p:spPr>
          <a:xfrm>
            <a:off x="1427177" y="914400"/>
            <a:ext cx="10666190" cy="719455"/>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Seguridad en Almacenamiento en la Nube</a:t>
            </a:r>
            <a:endParaRPr/>
          </a:p>
        </p:txBody>
      </p:sp>
      <p:sp>
        <p:nvSpPr>
          <p:cNvPr id="201" name="Google Shape;201;p12"/>
          <p:cNvSpPr txBox="1"/>
          <p:nvPr/>
        </p:nvSpPr>
        <p:spPr>
          <a:xfrm>
            <a:off x="1427177" y="2824023"/>
            <a:ext cx="5072935" cy="4617085"/>
          </a:xfrm>
          <a:prstGeom prst="rect">
            <a:avLst/>
          </a:prstGeom>
          <a:noFill/>
          <a:ln>
            <a:noFill/>
          </a:ln>
        </p:spPr>
        <p:txBody>
          <a:bodyPr anchorCtr="0" anchor="t" bIns="0" lIns="0" spcFirstLastPara="1" rIns="0" wrap="square" tIns="0">
            <a:spAutoFit/>
          </a:bodyPr>
          <a:lstStyle/>
          <a:p>
            <a:pPr indent="-215900" lvl="1" marL="431801" marR="0" rtl="0" algn="just">
              <a:lnSpc>
                <a:spcPct val="151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En el almacenamiento en la nube, es crucial validar la seguridad del proveedor. Asegúrate de que cumpla con normas de seguridad como ISO 27001, SOC 2, o GDPR.</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215900" lvl="1" marL="431801" marR="0" rtl="0" algn="just">
              <a:lnSpc>
                <a:spcPct val="151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Revisa las políticas de cifrado del proveedor y opta por herramientas de cifrado de extremo a extremo, donde el proveedor no pueda acceder a las claves de cifrado.</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207" name="Google Shape;207;p13"/>
          <p:cNvSpPr/>
          <p:nvPr/>
        </p:nvSpPr>
        <p:spPr>
          <a:xfrm>
            <a:off x="8264000" y="2163438"/>
            <a:ext cx="8003595" cy="5960124"/>
          </a:xfrm>
          <a:custGeom>
            <a:rect b="b" l="l" r="r" t="t"/>
            <a:pathLst>
              <a:path extrusionOk="0" h="5960124" w="8003595">
                <a:moveTo>
                  <a:pt x="0" y="0"/>
                </a:moveTo>
                <a:lnTo>
                  <a:pt x="8003596" y="0"/>
                </a:lnTo>
                <a:lnTo>
                  <a:pt x="8003596" y="5960124"/>
                </a:lnTo>
                <a:lnTo>
                  <a:pt x="0" y="5960124"/>
                </a:lnTo>
                <a:lnTo>
                  <a:pt x="0" y="0"/>
                </a:lnTo>
                <a:close/>
              </a:path>
            </a:pathLst>
          </a:custGeom>
          <a:blipFill rotWithShape="1">
            <a:blip r:embed="rId4">
              <a:alphaModFix/>
            </a:blip>
            <a:stretch>
              <a:fillRect b="0" l="0" r="0" t="0"/>
            </a:stretch>
          </a:blipFill>
          <a:ln>
            <a:noFill/>
          </a:ln>
        </p:spPr>
      </p:sp>
      <p:sp>
        <p:nvSpPr>
          <p:cNvPr id="208" name="Google Shape;208;p13"/>
          <p:cNvSpPr txBox="1"/>
          <p:nvPr/>
        </p:nvSpPr>
        <p:spPr>
          <a:xfrm>
            <a:off x="1427177" y="914400"/>
            <a:ext cx="9915129" cy="719455"/>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Políticas y Concienciación de Seguridad</a:t>
            </a:r>
            <a:endParaRPr/>
          </a:p>
        </p:txBody>
      </p:sp>
      <p:sp>
        <p:nvSpPr>
          <p:cNvPr id="209" name="Google Shape;209;p13"/>
          <p:cNvSpPr txBox="1"/>
          <p:nvPr/>
        </p:nvSpPr>
        <p:spPr>
          <a:xfrm>
            <a:off x="1512163" y="2161295"/>
            <a:ext cx="5072935" cy="5379085"/>
          </a:xfrm>
          <a:prstGeom prst="rect">
            <a:avLst/>
          </a:prstGeom>
          <a:noFill/>
          <a:ln>
            <a:noFill/>
          </a:ln>
        </p:spPr>
        <p:txBody>
          <a:bodyPr anchorCtr="0" anchor="t" bIns="0" lIns="0" spcFirstLastPara="1" rIns="0" wrap="square" tIns="0">
            <a:spAutoFit/>
          </a:bodyPr>
          <a:lstStyle/>
          <a:p>
            <a:pPr indent="-215900" lvl="1" marL="431801" marR="0" rtl="0" algn="just">
              <a:lnSpc>
                <a:spcPct val="151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Capacitar a los empleados sobre la importancia de la seguridad en almacenamiento de datos es esencial para reducir errores humanos, que suelen ser una de las principales causas de vulnerabilidades.</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215900" lvl="1" marL="431801" marR="0" rtl="0" algn="just">
              <a:lnSpc>
                <a:spcPct val="151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Define políticas claras de almacenamiento y manejo de datos, incluyendo cómo deben manejarse los dispositivos de almacenamiento removibles y cómo gestionar el acceso a la información confidencial.</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215" name="Google Shape;215;p14"/>
          <p:cNvSpPr/>
          <p:nvPr/>
        </p:nvSpPr>
        <p:spPr>
          <a:xfrm>
            <a:off x="3600426" y="4596008"/>
            <a:ext cx="11301259" cy="4139086"/>
          </a:xfrm>
          <a:custGeom>
            <a:rect b="b" l="l" r="r" t="t"/>
            <a:pathLst>
              <a:path extrusionOk="0" h="4139086" w="11301259">
                <a:moveTo>
                  <a:pt x="0" y="0"/>
                </a:moveTo>
                <a:lnTo>
                  <a:pt x="11301259" y="0"/>
                </a:lnTo>
                <a:lnTo>
                  <a:pt x="11301259" y="4139086"/>
                </a:lnTo>
                <a:lnTo>
                  <a:pt x="0" y="4139086"/>
                </a:lnTo>
                <a:lnTo>
                  <a:pt x="0" y="0"/>
                </a:lnTo>
                <a:close/>
              </a:path>
            </a:pathLst>
          </a:custGeom>
          <a:blipFill rotWithShape="1">
            <a:blip r:embed="rId4">
              <a:alphaModFix/>
            </a:blip>
            <a:stretch>
              <a:fillRect b="0" l="0" r="0" t="0"/>
            </a:stretch>
          </a:blipFill>
          <a:ln>
            <a:noFill/>
          </a:ln>
        </p:spPr>
      </p:sp>
      <p:sp>
        <p:nvSpPr>
          <p:cNvPr id="216" name="Google Shape;216;p14"/>
          <p:cNvSpPr txBox="1"/>
          <p:nvPr/>
        </p:nvSpPr>
        <p:spPr>
          <a:xfrm>
            <a:off x="3342710" y="611823"/>
            <a:ext cx="11816689" cy="719455"/>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Implementación de Normas y Buenas Prácticas</a:t>
            </a:r>
            <a:endParaRPr/>
          </a:p>
        </p:txBody>
      </p:sp>
      <p:sp>
        <p:nvSpPr>
          <p:cNvPr id="217" name="Google Shape;217;p14"/>
          <p:cNvSpPr txBox="1"/>
          <p:nvPr/>
        </p:nvSpPr>
        <p:spPr>
          <a:xfrm>
            <a:off x="2105130" y="2050415"/>
            <a:ext cx="5823359" cy="1950085"/>
          </a:xfrm>
          <a:prstGeom prst="rect">
            <a:avLst/>
          </a:prstGeom>
          <a:noFill/>
          <a:ln>
            <a:noFill/>
          </a:ln>
        </p:spPr>
        <p:txBody>
          <a:bodyPr anchorCtr="0" anchor="t" bIns="0" lIns="0" spcFirstLastPara="1" rIns="0" wrap="square" tIns="0">
            <a:spAutoFit/>
          </a:bodyPr>
          <a:lstStyle/>
          <a:p>
            <a:pPr indent="0" lvl="0" marL="0" marR="0" rtl="0" algn="just">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Adopta normas como ISO/IEC 27001, NIST y GDPR para definir un marco de trabajo que ayude a estandarizar la seguridad en el almacenamiento de información.</a:t>
            </a:r>
            <a:endParaRPr/>
          </a:p>
          <a:p>
            <a:pPr indent="0" lvl="0" marL="0" marR="0" rtl="0" algn="just">
              <a:lnSpc>
                <a:spcPct val="151000"/>
              </a:lnSpc>
              <a:spcBef>
                <a:spcPts val="0"/>
              </a:spcBef>
              <a:spcAft>
                <a:spcPts val="0"/>
              </a:spcAft>
              <a:buNone/>
            </a:pPr>
            <a:r>
              <a:t/>
            </a:r>
            <a:endParaRPr b="0" i="0" sz="2000" u="none" cap="none" strike="noStrike">
              <a:solidFill>
                <a:srgbClr val="FFFFFF"/>
              </a:solidFill>
              <a:latin typeface="Arial"/>
              <a:ea typeface="Arial"/>
              <a:cs typeface="Arial"/>
              <a:sym typeface="Arial"/>
            </a:endParaRPr>
          </a:p>
        </p:txBody>
      </p:sp>
      <p:sp>
        <p:nvSpPr>
          <p:cNvPr id="218" name="Google Shape;218;p14"/>
          <p:cNvSpPr txBox="1"/>
          <p:nvPr/>
        </p:nvSpPr>
        <p:spPr>
          <a:xfrm>
            <a:off x="9251055" y="2050415"/>
            <a:ext cx="5823359" cy="1188085"/>
          </a:xfrm>
          <a:prstGeom prst="rect">
            <a:avLst/>
          </a:prstGeom>
          <a:noFill/>
          <a:ln>
            <a:noFill/>
          </a:ln>
        </p:spPr>
        <p:txBody>
          <a:bodyPr anchorCtr="0" anchor="t" bIns="0" lIns="0" spcFirstLastPara="1" rIns="0" wrap="square" tIns="0">
            <a:spAutoFit/>
          </a:bodyPr>
          <a:lstStyle/>
          <a:p>
            <a:pPr indent="0" lvl="0" marL="0" marR="0" rtl="0" algn="just">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Estas medidas fortalecen la seguridad de los datos en almacenamiento, protegiéndolos de accesos no autorizados, pérdida, y daños.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sp>
        <p:nvSpPr>
          <p:cNvPr id="224" name="Google Shape;224;p15"/>
          <p:cNvSpPr txBox="1"/>
          <p:nvPr/>
        </p:nvSpPr>
        <p:spPr>
          <a:xfrm>
            <a:off x="1028700" y="4364672"/>
            <a:ext cx="16230600" cy="251968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i="0" lang="en-US" sz="8000" u="none" cap="none" strike="noStrike">
                <a:solidFill>
                  <a:srgbClr val="FFFFFF"/>
                </a:solidFill>
                <a:latin typeface="Arial"/>
                <a:ea typeface="Arial"/>
                <a:cs typeface="Arial"/>
                <a:sym typeface="Arial"/>
              </a:rPr>
              <a:t>ELEMENTOS CLAVE DE LA SEGURIDAD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230" name="Google Shape;230;p16"/>
          <p:cNvSpPr/>
          <p:nvPr/>
        </p:nvSpPr>
        <p:spPr>
          <a:xfrm>
            <a:off x="0" y="5621978"/>
            <a:ext cx="8293372" cy="4665022"/>
          </a:xfrm>
          <a:custGeom>
            <a:rect b="b" l="l" r="r" t="t"/>
            <a:pathLst>
              <a:path extrusionOk="0" h="4665022" w="8293372">
                <a:moveTo>
                  <a:pt x="0" y="0"/>
                </a:moveTo>
                <a:lnTo>
                  <a:pt x="8293372" y="0"/>
                </a:lnTo>
                <a:lnTo>
                  <a:pt x="8293372" y="4665022"/>
                </a:lnTo>
                <a:lnTo>
                  <a:pt x="0" y="4665022"/>
                </a:lnTo>
                <a:lnTo>
                  <a:pt x="0" y="0"/>
                </a:lnTo>
                <a:close/>
              </a:path>
            </a:pathLst>
          </a:custGeom>
          <a:blipFill rotWithShape="1">
            <a:blip r:embed="rId4">
              <a:alphaModFix/>
            </a:blip>
            <a:stretch>
              <a:fillRect b="0" l="0" r="0" t="0"/>
            </a:stretch>
          </a:blipFill>
          <a:ln>
            <a:noFill/>
          </a:ln>
        </p:spPr>
      </p:sp>
      <p:grpSp>
        <p:nvGrpSpPr>
          <p:cNvPr id="231" name="Google Shape;231;p16"/>
          <p:cNvGrpSpPr/>
          <p:nvPr/>
        </p:nvGrpSpPr>
        <p:grpSpPr>
          <a:xfrm>
            <a:off x="1464238" y="1019529"/>
            <a:ext cx="5709761" cy="4093229"/>
            <a:chOff x="0" y="-133350"/>
            <a:chExt cx="7613014" cy="5457637"/>
          </a:xfrm>
        </p:grpSpPr>
        <p:sp>
          <p:nvSpPr>
            <p:cNvPr id="232" name="Google Shape;232;p16"/>
            <p:cNvSpPr txBox="1"/>
            <p:nvPr/>
          </p:nvSpPr>
          <p:spPr>
            <a:xfrm>
              <a:off x="0" y="-133350"/>
              <a:ext cx="7613014" cy="1090727"/>
            </a:xfrm>
            <a:prstGeom prst="rect">
              <a:avLst/>
            </a:prstGeom>
            <a:noFill/>
            <a:ln>
              <a:noFill/>
            </a:ln>
          </p:spPr>
          <p:txBody>
            <a:bodyPr anchorCtr="0" anchor="t" bIns="0" lIns="0" spcFirstLastPara="1" rIns="0" wrap="square" tIns="0">
              <a:spAutoFit/>
            </a:bodyPr>
            <a:lstStyle/>
            <a:p>
              <a:pPr indent="0" lvl="1" marL="0" marR="0" rtl="0" algn="l">
                <a:lnSpc>
                  <a:spcPct val="118984"/>
                </a:lnSpc>
                <a:spcBef>
                  <a:spcPts val="0"/>
                </a:spcBef>
                <a:spcAft>
                  <a:spcPts val="0"/>
                </a:spcAft>
                <a:buNone/>
              </a:pPr>
              <a:r>
                <a:rPr b="1" i="0" lang="en-US" sz="4746" u="none" cap="none" strike="noStrike">
                  <a:solidFill>
                    <a:srgbClr val="FFFFFF"/>
                  </a:solidFill>
                  <a:latin typeface="Arial"/>
                  <a:ea typeface="Arial"/>
                  <a:cs typeface="Arial"/>
                  <a:sym typeface="Arial"/>
                </a:rPr>
                <a:t>Confidencialidad</a:t>
              </a:r>
              <a:endParaRPr/>
            </a:p>
          </p:txBody>
        </p:sp>
        <p:sp>
          <p:nvSpPr>
            <p:cNvPr id="233" name="Google Shape;233;p16"/>
            <p:cNvSpPr txBox="1"/>
            <p:nvPr/>
          </p:nvSpPr>
          <p:spPr>
            <a:xfrm>
              <a:off x="0" y="1127682"/>
              <a:ext cx="7613014" cy="4196605"/>
            </a:xfrm>
            <a:prstGeom prst="rect">
              <a:avLst/>
            </a:prstGeom>
            <a:noFill/>
            <a:ln>
              <a:noFill/>
            </a:ln>
          </p:spPr>
          <p:txBody>
            <a:bodyPr anchorCtr="0" anchor="t" bIns="0" lIns="0" spcFirstLastPara="1" rIns="0" wrap="square" tIns="0">
              <a:spAutoFit/>
            </a:bodyPr>
            <a:lstStyle/>
            <a:p>
              <a:pPr indent="0" lvl="0" marL="0" marR="0" rtl="0" algn="just">
                <a:lnSpc>
                  <a:spcPct val="150990"/>
                </a:lnSpc>
                <a:spcBef>
                  <a:spcPts val="0"/>
                </a:spcBef>
                <a:spcAft>
                  <a:spcPts val="0"/>
                </a:spcAft>
                <a:buNone/>
              </a:pPr>
              <a:r>
                <a:rPr b="0" i="0" lang="en-US" sz="2373" u="none" cap="none" strike="noStrike">
                  <a:solidFill>
                    <a:srgbClr val="FFFFFF"/>
                  </a:solidFill>
                  <a:latin typeface="Arial"/>
                  <a:ea typeface="Arial"/>
                  <a:cs typeface="Arial"/>
                  <a:sym typeface="Arial"/>
                </a:rPr>
                <a:t>La confidencialidad es el principio que garantiza que a la información solo pueden acceder las personas que dispongan de autorización, la cual se basa en la necesidad de conocer los datos necesarios para el desempeño de la actividad laboral</a:t>
              </a:r>
              <a:endParaRPr/>
            </a:p>
          </p:txBody>
        </p:sp>
      </p:grpSp>
      <p:grpSp>
        <p:nvGrpSpPr>
          <p:cNvPr id="234" name="Google Shape;234;p16"/>
          <p:cNvGrpSpPr/>
          <p:nvPr/>
        </p:nvGrpSpPr>
        <p:grpSpPr>
          <a:xfrm>
            <a:off x="8293372" y="2127374"/>
            <a:ext cx="8965928" cy="5883929"/>
            <a:chOff x="0" y="-133350"/>
            <a:chExt cx="11954571" cy="7845237"/>
          </a:xfrm>
        </p:grpSpPr>
        <p:sp>
          <p:nvSpPr>
            <p:cNvPr id="235" name="Google Shape;235;p16"/>
            <p:cNvSpPr txBox="1"/>
            <p:nvPr/>
          </p:nvSpPr>
          <p:spPr>
            <a:xfrm>
              <a:off x="0" y="-133350"/>
              <a:ext cx="11954571" cy="1090727"/>
            </a:xfrm>
            <a:prstGeom prst="rect">
              <a:avLst/>
            </a:prstGeom>
            <a:noFill/>
            <a:ln>
              <a:noFill/>
            </a:ln>
          </p:spPr>
          <p:txBody>
            <a:bodyPr anchorCtr="0" anchor="t" bIns="0" lIns="0" spcFirstLastPara="1" rIns="0" wrap="square" tIns="0">
              <a:spAutoFit/>
            </a:bodyPr>
            <a:lstStyle/>
            <a:p>
              <a:pPr indent="0" lvl="1" marL="0" marR="0" rtl="0" algn="l">
                <a:lnSpc>
                  <a:spcPct val="313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6"/>
            <p:cNvSpPr txBox="1"/>
            <p:nvPr/>
          </p:nvSpPr>
          <p:spPr>
            <a:xfrm>
              <a:off x="0" y="1127682"/>
              <a:ext cx="11954571" cy="6584205"/>
            </a:xfrm>
            <a:prstGeom prst="rect">
              <a:avLst/>
            </a:prstGeom>
            <a:noFill/>
            <a:ln>
              <a:noFill/>
            </a:ln>
          </p:spPr>
          <p:txBody>
            <a:bodyPr anchorCtr="0" anchor="t" bIns="0" lIns="0" spcFirstLastPara="1" rIns="0" wrap="square" tIns="0">
              <a:spAutoFit/>
            </a:bodyPr>
            <a:lstStyle/>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Propósito: Asegura que la información solo esté accesible a las personas autorizadas y evita el acceso no autorizado.</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Medidas clave: Se implementan mecanismos como el cifrado de datos, control de acceso basado en roles (RBAC), autenticación multifactor (MFA), y políticas de manejo de contraseñas para limitar el acceso a la información.</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Ejemplos: El cifrado de correos electrónicos o datos sensibles, y la aplicación de permisos específicos en sistemas.</a:t>
              </a:r>
              <a:endParaRPr/>
            </a:p>
            <a:p>
              <a:pPr indent="0" lvl="0" marL="0" marR="0" rtl="0" algn="just">
                <a:lnSpc>
                  <a:spcPct val="150990"/>
                </a:lnSpc>
                <a:spcBef>
                  <a:spcPts val="0"/>
                </a:spcBef>
                <a:spcAft>
                  <a:spcPts val="0"/>
                </a:spcAft>
                <a:buNone/>
              </a:pPr>
              <a:r>
                <a:t/>
              </a:r>
              <a:endParaRPr b="0" i="0" sz="2373" u="none" cap="none" strike="noStrike">
                <a:solidFill>
                  <a:srgbClr val="FFFFFF"/>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242" name="Google Shape;242;p17"/>
          <p:cNvSpPr/>
          <p:nvPr/>
        </p:nvSpPr>
        <p:spPr>
          <a:xfrm>
            <a:off x="0" y="5713552"/>
            <a:ext cx="8130575" cy="4573448"/>
          </a:xfrm>
          <a:custGeom>
            <a:rect b="b" l="l" r="r" t="t"/>
            <a:pathLst>
              <a:path extrusionOk="0" h="4573448" w="8130575">
                <a:moveTo>
                  <a:pt x="0" y="0"/>
                </a:moveTo>
                <a:lnTo>
                  <a:pt x="8130575" y="0"/>
                </a:lnTo>
                <a:lnTo>
                  <a:pt x="8130575" y="4573448"/>
                </a:lnTo>
                <a:lnTo>
                  <a:pt x="0" y="4573448"/>
                </a:lnTo>
                <a:lnTo>
                  <a:pt x="0" y="0"/>
                </a:lnTo>
                <a:close/>
              </a:path>
            </a:pathLst>
          </a:custGeom>
          <a:blipFill rotWithShape="1">
            <a:blip r:embed="rId4">
              <a:alphaModFix/>
            </a:blip>
            <a:stretch>
              <a:fillRect b="0" l="0" r="0" t="0"/>
            </a:stretch>
          </a:blipFill>
          <a:ln>
            <a:noFill/>
          </a:ln>
        </p:spPr>
      </p:sp>
      <p:grpSp>
        <p:nvGrpSpPr>
          <p:cNvPr id="243" name="Google Shape;243;p17"/>
          <p:cNvGrpSpPr/>
          <p:nvPr/>
        </p:nvGrpSpPr>
        <p:grpSpPr>
          <a:xfrm>
            <a:off x="1360539" y="397331"/>
            <a:ext cx="5709761" cy="4988579"/>
            <a:chOff x="0" y="-133350"/>
            <a:chExt cx="7613014" cy="6651437"/>
          </a:xfrm>
        </p:grpSpPr>
        <p:sp>
          <p:nvSpPr>
            <p:cNvPr id="244" name="Google Shape;244;p17"/>
            <p:cNvSpPr txBox="1"/>
            <p:nvPr/>
          </p:nvSpPr>
          <p:spPr>
            <a:xfrm>
              <a:off x="0" y="-133350"/>
              <a:ext cx="7613014" cy="1090727"/>
            </a:xfrm>
            <a:prstGeom prst="rect">
              <a:avLst/>
            </a:prstGeom>
            <a:noFill/>
            <a:ln>
              <a:noFill/>
            </a:ln>
          </p:spPr>
          <p:txBody>
            <a:bodyPr anchorCtr="0" anchor="t" bIns="0" lIns="0" spcFirstLastPara="1" rIns="0" wrap="square" tIns="0">
              <a:spAutoFit/>
            </a:bodyPr>
            <a:lstStyle/>
            <a:p>
              <a:pPr indent="0" lvl="1" marL="0" marR="0" rtl="0" algn="l">
                <a:lnSpc>
                  <a:spcPct val="118984"/>
                </a:lnSpc>
                <a:spcBef>
                  <a:spcPts val="0"/>
                </a:spcBef>
                <a:spcAft>
                  <a:spcPts val="0"/>
                </a:spcAft>
                <a:buNone/>
              </a:pPr>
              <a:r>
                <a:rPr b="1" i="0" lang="en-US" sz="4746" u="none" cap="none" strike="noStrike">
                  <a:solidFill>
                    <a:srgbClr val="FFFFFF"/>
                  </a:solidFill>
                  <a:latin typeface="Arial"/>
                  <a:ea typeface="Arial"/>
                  <a:cs typeface="Arial"/>
                  <a:sym typeface="Arial"/>
                </a:rPr>
                <a:t>Integridad</a:t>
              </a:r>
              <a:endParaRPr/>
            </a:p>
          </p:txBody>
        </p:sp>
        <p:sp>
          <p:nvSpPr>
            <p:cNvPr id="245" name="Google Shape;245;p17"/>
            <p:cNvSpPr txBox="1"/>
            <p:nvPr/>
          </p:nvSpPr>
          <p:spPr>
            <a:xfrm>
              <a:off x="0" y="1127682"/>
              <a:ext cx="7613014" cy="5390405"/>
            </a:xfrm>
            <a:prstGeom prst="rect">
              <a:avLst/>
            </a:prstGeom>
            <a:noFill/>
            <a:ln>
              <a:noFill/>
            </a:ln>
          </p:spPr>
          <p:txBody>
            <a:bodyPr anchorCtr="0" anchor="t" bIns="0" lIns="0" spcFirstLastPara="1" rIns="0" wrap="square" tIns="0">
              <a:spAutoFit/>
            </a:bodyPr>
            <a:lstStyle/>
            <a:p>
              <a:pPr indent="0" lvl="0" marL="0" marR="0" rtl="0" algn="just">
                <a:lnSpc>
                  <a:spcPct val="150990"/>
                </a:lnSpc>
                <a:spcBef>
                  <a:spcPts val="0"/>
                </a:spcBef>
                <a:spcAft>
                  <a:spcPts val="0"/>
                </a:spcAft>
                <a:buNone/>
              </a:pPr>
              <a:r>
                <a:rPr b="0" i="0" lang="en-US" sz="2373" u="none" cap="none" strike="noStrike">
                  <a:solidFill>
                    <a:srgbClr val="FFFFFF"/>
                  </a:solidFill>
                  <a:latin typeface="Arial"/>
                  <a:ea typeface="Arial"/>
                  <a:cs typeface="Arial"/>
                  <a:sym typeface="Arial"/>
                </a:rPr>
                <a:t>La integridad implica mantener la exactitud y completitud de la información. Garantiza que los datos no sean alterados de forma no autorizada durante su almacenamiento, procesamiento o transmisión. La integridad de la información es vital para asegurar que los datos sean confiables y no estén corruptos.</a:t>
              </a:r>
              <a:endParaRPr/>
            </a:p>
          </p:txBody>
        </p:sp>
      </p:grpSp>
      <p:grpSp>
        <p:nvGrpSpPr>
          <p:cNvPr id="246" name="Google Shape;246;p17"/>
          <p:cNvGrpSpPr/>
          <p:nvPr/>
        </p:nvGrpSpPr>
        <p:grpSpPr>
          <a:xfrm>
            <a:off x="8293372" y="2151529"/>
            <a:ext cx="8965928" cy="5883929"/>
            <a:chOff x="0" y="-133350"/>
            <a:chExt cx="11954571" cy="7845237"/>
          </a:xfrm>
        </p:grpSpPr>
        <p:sp>
          <p:nvSpPr>
            <p:cNvPr id="247" name="Google Shape;247;p17"/>
            <p:cNvSpPr txBox="1"/>
            <p:nvPr/>
          </p:nvSpPr>
          <p:spPr>
            <a:xfrm>
              <a:off x="0" y="-133350"/>
              <a:ext cx="11954571" cy="1090727"/>
            </a:xfrm>
            <a:prstGeom prst="rect">
              <a:avLst/>
            </a:prstGeom>
            <a:noFill/>
            <a:ln>
              <a:noFill/>
            </a:ln>
          </p:spPr>
          <p:txBody>
            <a:bodyPr anchorCtr="0" anchor="t" bIns="0" lIns="0" spcFirstLastPara="1" rIns="0" wrap="square" tIns="0">
              <a:spAutoFit/>
            </a:bodyPr>
            <a:lstStyle/>
            <a:p>
              <a:pPr indent="0" lvl="1" marL="0" marR="0" rtl="0" algn="l">
                <a:lnSpc>
                  <a:spcPct val="313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17"/>
            <p:cNvSpPr txBox="1"/>
            <p:nvPr/>
          </p:nvSpPr>
          <p:spPr>
            <a:xfrm>
              <a:off x="0" y="1127682"/>
              <a:ext cx="11954571" cy="6584205"/>
            </a:xfrm>
            <a:prstGeom prst="rect">
              <a:avLst/>
            </a:prstGeom>
            <a:noFill/>
            <a:ln>
              <a:noFill/>
            </a:ln>
          </p:spPr>
          <p:txBody>
            <a:bodyPr anchorCtr="0" anchor="t" bIns="0" lIns="0" spcFirstLastPara="1" rIns="0" wrap="square" tIns="0">
              <a:spAutoFit/>
            </a:bodyPr>
            <a:lstStyle/>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Propósito: Garantiza que la información se mantenga exacta, completa y sin alteraciones no autorizadas, preservando su veracidad a lo largo del tiempo.</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Medidas clave: La implementación de firmas digitales, códigos de verificación de integridad (checksums), controles de acceso y hashing son técnicas comunes para mantener la integridad.</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Ejemplos: Los sistemas bancarios utilizan controles de integridad para asegurar que las transacciones no sean manipuladas durante su procesamiento.</a:t>
              </a:r>
              <a:endParaRPr/>
            </a:p>
            <a:p>
              <a:pPr indent="0" lvl="0" marL="0" marR="0" rtl="0" algn="just">
                <a:lnSpc>
                  <a:spcPct val="150990"/>
                </a:lnSpc>
                <a:spcBef>
                  <a:spcPts val="0"/>
                </a:spcBef>
                <a:spcAft>
                  <a:spcPts val="0"/>
                </a:spcAft>
                <a:buNone/>
              </a:pPr>
              <a:r>
                <a:t/>
              </a:r>
              <a:endParaRPr b="0" i="0" sz="2373" u="none" cap="none" strike="noStrike">
                <a:solidFill>
                  <a:srgbClr val="FFFFFF"/>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254" name="Google Shape;254;p18"/>
          <p:cNvGrpSpPr/>
          <p:nvPr/>
        </p:nvGrpSpPr>
        <p:grpSpPr>
          <a:xfrm>
            <a:off x="8293372" y="2127374"/>
            <a:ext cx="8965928" cy="5883929"/>
            <a:chOff x="0" y="-133350"/>
            <a:chExt cx="11954571" cy="7845237"/>
          </a:xfrm>
        </p:grpSpPr>
        <p:sp>
          <p:nvSpPr>
            <p:cNvPr id="255" name="Google Shape;255;p18"/>
            <p:cNvSpPr txBox="1"/>
            <p:nvPr/>
          </p:nvSpPr>
          <p:spPr>
            <a:xfrm>
              <a:off x="0" y="-133350"/>
              <a:ext cx="11954571" cy="1090727"/>
            </a:xfrm>
            <a:prstGeom prst="rect">
              <a:avLst/>
            </a:prstGeom>
            <a:noFill/>
            <a:ln>
              <a:noFill/>
            </a:ln>
          </p:spPr>
          <p:txBody>
            <a:bodyPr anchorCtr="0" anchor="t" bIns="0" lIns="0" spcFirstLastPara="1" rIns="0" wrap="square" tIns="0">
              <a:spAutoFit/>
            </a:bodyPr>
            <a:lstStyle/>
            <a:p>
              <a:pPr indent="0" lvl="1" marL="0" marR="0" rtl="0" algn="l">
                <a:lnSpc>
                  <a:spcPct val="313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18"/>
            <p:cNvSpPr txBox="1"/>
            <p:nvPr/>
          </p:nvSpPr>
          <p:spPr>
            <a:xfrm>
              <a:off x="0" y="1127682"/>
              <a:ext cx="11954571" cy="6584205"/>
            </a:xfrm>
            <a:prstGeom prst="rect">
              <a:avLst/>
            </a:prstGeom>
            <a:noFill/>
            <a:ln>
              <a:noFill/>
            </a:ln>
          </p:spPr>
          <p:txBody>
            <a:bodyPr anchorCtr="0" anchor="t" bIns="0" lIns="0" spcFirstLastPara="1" rIns="0" wrap="square" tIns="0">
              <a:spAutoFit/>
            </a:bodyPr>
            <a:lstStyle/>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Propósito: Asegura que la información esté accesible cuando se necesite y que los sistemas funcionen de manera continua.</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Medidas clave: La disponibilidad se fortalece con copias de seguridad, redundancia de sistemas y datos, recuperación ante desastres y protección contra ataques de denegación de servicio (DDoS).</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Ejemplos: Servicios en la nube que replican datos en varios servidores para evitar interrupciones y garantizar el acceso ininterrumpido.</a:t>
              </a:r>
              <a:endParaRPr/>
            </a:p>
            <a:p>
              <a:pPr indent="0" lvl="0" marL="0" marR="0" rtl="0" algn="just">
                <a:lnSpc>
                  <a:spcPct val="150990"/>
                </a:lnSpc>
                <a:spcBef>
                  <a:spcPts val="0"/>
                </a:spcBef>
                <a:spcAft>
                  <a:spcPts val="0"/>
                </a:spcAft>
                <a:buNone/>
              </a:pPr>
              <a:r>
                <a:t/>
              </a:r>
              <a:endParaRPr b="0" i="0" sz="2373" u="none" cap="none" strike="noStrike">
                <a:solidFill>
                  <a:srgbClr val="FFFFFF"/>
                </a:solidFill>
                <a:latin typeface="Arial"/>
                <a:ea typeface="Arial"/>
                <a:cs typeface="Arial"/>
                <a:sym typeface="Arial"/>
              </a:endParaRPr>
            </a:p>
          </p:txBody>
        </p:sp>
      </p:grpSp>
      <p:sp>
        <p:nvSpPr>
          <p:cNvPr id="257" name="Google Shape;257;p18"/>
          <p:cNvSpPr/>
          <p:nvPr/>
        </p:nvSpPr>
        <p:spPr>
          <a:xfrm>
            <a:off x="0" y="3141802"/>
            <a:ext cx="8130575" cy="4573448"/>
          </a:xfrm>
          <a:custGeom>
            <a:rect b="b" l="l" r="r" t="t"/>
            <a:pathLst>
              <a:path extrusionOk="0" h="4573448" w="8130575">
                <a:moveTo>
                  <a:pt x="0" y="0"/>
                </a:moveTo>
                <a:lnTo>
                  <a:pt x="8130575" y="0"/>
                </a:lnTo>
                <a:lnTo>
                  <a:pt x="8130575" y="4573448"/>
                </a:lnTo>
                <a:lnTo>
                  <a:pt x="0" y="4573448"/>
                </a:lnTo>
                <a:lnTo>
                  <a:pt x="0" y="0"/>
                </a:lnTo>
                <a:close/>
              </a:path>
            </a:pathLst>
          </a:custGeom>
          <a:blipFill rotWithShape="1">
            <a:blip r:embed="rId4">
              <a:alphaModFix/>
            </a:blip>
            <a:stretch>
              <a:fillRect b="0" l="0" r="0" t="0"/>
            </a:stretch>
          </a:blipFill>
          <a:ln>
            <a:noFill/>
          </a:ln>
        </p:spPr>
      </p:sp>
      <p:sp>
        <p:nvSpPr>
          <p:cNvPr id="258" name="Google Shape;258;p18"/>
          <p:cNvSpPr txBox="1"/>
          <p:nvPr/>
        </p:nvSpPr>
        <p:spPr>
          <a:xfrm>
            <a:off x="8915814" y="895350"/>
            <a:ext cx="4106598" cy="853753"/>
          </a:xfrm>
          <a:prstGeom prst="rect">
            <a:avLst/>
          </a:prstGeom>
          <a:noFill/>
          <a:ln>
            <a:noFill/>
          </a:ln>
        </p:spPr>
        <p:txBody>
          <a:bodyPr anchorCtr="0" anchor="t" bIns="0" lIns="0" spcFirstLastPara="1" rIns="0" wrap="square" tIns="0">
            <a:spAutoFit/>
          </a:bodyPr>
          <a:lstStyle/>
          <a:p>
            <a:pPr indent="0" lvl="0" marL="0" marR="0" rtl="0" algn="ctr">
              <a:lnSpc>
                <a:spcPct val="118984"/>
              </a:lnSpc>
              <a:spcBef>
                <a:spcPts val="0"/>
              </a:spcBef>
              <a:spcAft>
                <a:spcPts val="0"/>
              </a:spcAft>
              <a:buNone/>
            </a:pPr>
            <a:r>
              <a:rPr b="1" i="0" lang="en-US" sz="4746" u="none" cap="none" strike="noStrike">
                <a:solidFill>
                  <a:srgbClr val="FFFFFF"/>
                </a:solidFill>
                <a:latin typeface="Arial"/>
                <a:ea typeface="Arial"/>
                <a:cs typeface="Arial"/>
                <a:sym typeface="Arial"/>
              </a:rPr>
              <a:t>Disponibilidad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264" name="Google Shape;264;p19"/>
          <p:cNvGrpSpPr/>
          <p:nvPr/>
        </p:nvGrpSpPr>
        <p:grpSpPr>
          <a:xfrm>
            <a:off x="8293372" y="2127374"/>
            <a:ext cx="8965928" cy="5883929"/>
            <a:chOff x="0" y="-133350"/>
            <a:chExt cx="11954571" cy="7845237"/>
          </a:xfrm>
        </p:grpSpPr>
        <p:sp>
          <p:nvSpPr>
            <p:cNvPr id="265" name="Google Shape;265;p19"/>
            <p:cNvSpPr txBox="1"/>
            <p:nvPr/>
          </p:nvSpPr>
          <p:spPr>
            <a:xfrm>
              <a:off x="0" y="-133350"/>
              <a:ext cx="11954571" cy="1090727"/>
            </a:xfrm>
            <a:prstGeom prst="rect">
              <a:avLst/>
            </a:prstGeom>
            <a:noFill/>
            <a:ln>
              <a:noFill/>
            </a:ln>
          </p:spPr>
          <p:txBody>
            <a:bodyPr anchorCtr="0" anchor="t" bIns="0" lIns="0" spcFirstLastPara="1" rIns="0" wrap="square" tIns="0">
              <a:spAutoFit/>
            </a:bodyPr>
            <a:lstStyle/>
            <a:p>
              <a:pPr indent="0" lvl="1" marL="0" marR="0" rtl="0" algn="l">
                <a:lnSpc>
                  <a:spcPct val="313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19"/>
            <p:cNvSpPr txBox="1"/>
            <p:nvPr/>
          </p:nvSpPr>
          <p:spPr>
            <a:xfrm>
              <a:off x="0" y="1127682"/>
              <a:ext cx="11954571" cy="6584205"/>
            </a:xfrm>
            <a:prstGeom prst="rect">
              <a:avLst/>
            </a:prstGeom>
            <a:noFill/>
            <a:ln>
              <a:noFill/>
            </a:ln>
          </p:spPr>
          <p:txBody>
            <a:bodyPr anchorCtr="0" anchor="t" bIns="0" lIns="0" spcFirstLastPara="1" rIns="0" wrap="square" tIns="0">
              <a:spAutoFit/>
            </a:bodyPr>
            <a:lstStyle/>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Propósito: Verifica que los usuarios y los datos sean genuinos y no hayan sido manipulados, lo que evita suplantaciones de identidad y asegura la fuente de la información.</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Medidas clave: Para autenticar identidades y datos se utilizan certificados digitales, autenticación multifactor y tokens de seguridad.</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Ejemplos: Un usuario inicia sesión en un sistema con una contraseña y un código enviado a su teléfono, autenticándose como una persona autorizada.</a:t>
              </a:r>
              <a:endParaRPr/>
            </a:p>
            <a:p>
              <a:pPr indent="0" lvl="0" marL="0" marR="0" rtl="0" algn="just">
                <a:lnSpc>
                  <a:spcPct val="150990"/>
                </a:lnSpc>
                <a:spcBef>
                  <a:spcPts val="0"/>
                </a:spcBef>
                <a:spcAft>
                  <a:spcPts val="0"/>
                </a:spcAft>
                <a:buNone/>
              </a:pPr>
              <a:r>
                <a:t/>
              </a:r>
              <a:endParaRPr b="0" i="0" sz="2373" u="none" cap="none" strike="noStrike">
                <a:solidFill>
                  <a:srgbClr val="FFFFFF"/>
                </a:solidFill>
                <a:latin typeface="Arial"/>
                <a:ea typeface="Arial"/>
                <a:cs typeface="Arial"/>
                <a:sym typeface="Arial"/>
              </a:endParaRPr>
            </a:p>
          </p:txBody>
        </p:sp>
      </p:grpSp>
      <p:sp>
        <p:nvSpPr>
          <p:cNvPr id="267" name="Google Shape;267;p19"/>
          <p:cNvSpPr/>
          <p:nvPr/>
        </p:nvSpPr>
        <p:spPr>
          <a:xfrm>
            <a:off x="0" y="3141802"/>
            <a:ext cx="8130575" cy="4573448"/>
          </a:xfrm>
          <a:custGeom>
            <a:rect b="b" l="l" r="r" t="t"/>
            <a:pathLst>
              <a:path extrusionOk="0" h="4573448" w="8130575">
                <a:moveTo>
                  <a:pt x="0" y="0"/>
                </a:moveTo>
                <a:lnTo>
                  <a:pt x="8130575" y="0"/>
                </a:lnTo>
                <a:lnTo>
                  <a:pt x="8130575" y="4573448"/>
                </a:lnTo>
                <a:lnTo>
                  <a:pt x="0" y="4573448"/>
                </a:lnTo>
                <a:lnTo>
                  <a:pt x="0" y="0"/>
                </a:lnTo>
                <a:close/>
              </a:path>
            </a:pathLst>
          </a:custGeom>
          <a:blipFill rotWithShape="1">
            <a:blip r:embed="rId4">
              <a:alphaModFix/>
            </a:blip>
            <a:stretch>
              <a:fillRect b="0" l="0" r="0" t="0"/>
            </a:stretch>
          </a:blipFill>
          <a:ln>
            <a:noFill/>
          </a:ln>
        </p:spPr>
      </p:sp>
      <p:sp>
        <p:nvSpPr>
          <p:cNvPr id="268" name="Google Shape;268;p19"/>
          <p:cNvSpPr txBox="1"/>
          <p:nvPr/>
        </p:nvSpPr>
        <p:spPr>
          <a:xfrm>
            <a:off x="9030974" y="895350"/>
            <a:ext cx="3876278" cy="853753"/>
          </a:xfrm>
          <a:prstGeom prst="rect">
            <a:avLst/>
          </a:prstGeom>
          <a:noFill/>
          <a:ln>
            <a:noFill/>
          </a:ln>
        </p:spPr>
        <p:txBody>
          <a:bodyPr anchorCtr="0" anchor="t" bIns="0" lIns="0" spcFirstLastPara="1" rIns="0" wrap="square" tIns="0">
            <a:spAutoFit/>
          </a:bodyPr>
          <a:lstStyle/>
          <a:p>
            <a:pPr indent="0" lvl="0" marL="0" marR="0" rtl="0" algn="ctr">
              <a:lnSpc>
                <a:spcPct val="118984"/>
              </a:lnSpc>
              <a:spcBef>
                <a:spcPts val="0"/>
              </a:spcBef>
              <a:spcAft>
                <a:spcPts val="0"/>
              </a:spcAft>
              <a:buNone/>
            </a:pPr>
            <a:r>
              <a:rPr b="1" i="0" lang="en-US" sz="4746" u="none" cap="none" strike="noStrike">
                <a:solidFill>
                  <a:srgbClr val="FFFFFF"/>
                </a:solidFill>
                <a:latin typeface="Arial"/>
                <a:ea typeface="Arial"/>
                <a:cs typeface="Arial"/>
                <a:sym typeface="Arial"/>
              </a:rPr>
              <a:t>Autenticidad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274" name="Google Shape;274;p20"/>
          <p:cNvGrpSpPr/>
          <p:nvPr/>
        </p:nvGrpSpPr>
        <p:grpSpPr>
          <a:xfrm>
            <a:off x="8293372" y="2127374"/>
            <a:ext cx="8965928" cy="5883929"/>
            <a:chOff x="0" y="-133350"/>
            <a:chExt cx="11954571" cy="7845237"/>
          </a:xfrm>
        </p:grpSpPr>
        <p:sp>
          <p:nvSpPr>
            <p:cNvPr id="275" name="Google Shape;275;p20"/>
            <p:cNvSpPr txBox="1"/>
            <p:nvPr/>
          </p:nvSpPr>
          <p:spPr>
            <a:xfrm>
              <a:off x="0" y="-133350"/>
              <a:ext cx="11954571" cy="1090727"/>
            </a:xfrm>
            <a:prstGeom prst="rect">
              <a:avLst/>
            </a:prstGeom>
            <a:noFill/>
            <a:ln>
              <a:noFill/>
            </a:ln>
          </p:spPr>
          <p:txBody>
            <a:bodyPr anchorCtr="0" anchor="t" bIns="0" lIns="0" spcFirstLastPara="1" rIns="0" wrap="square" tIns="0">
              <a:spAutoFit/>
            </a:bodyPr>
            <a:lstStyle/>
            <a:p>
              <a:pPr indent="0" lvl="1" marL="0" marR="0" rtl="0" algn="l">
                <a:lnSpc>
                  <a:spcPct val="313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0"/>
            <p:cNvSpPr txBox="1"/>
            <p:nvPr/>
          </p:nvSpPr>
          <p:spPr>
            <a:xfrm>
              <a:off x="0" y="1127682"/>
              <a:ext cx="11954571" cy="6584205"/>
            </a:xfrm>
            <a:prstGeom prst="rect">
              <a:avLst/>
            </a:prstGeom>
            <a:noFill/>
            <a:ln>
              <a:noFill/>
            </a:ln>
          </p:spPr>
          <p:txBody>
            <a:bodyPr anchorCtr="0" anchor="t" bIns="0" lIns="0" spcFirstLastPara="1" rIns="0" wrap="square" tIns="0">
              <a:spAutoFit/>
            </a:bodyPr>
            <a:lstStyle/>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Propósito: Asegura que todas las acciones en el sistema puedan ser rastreadas hasta los usuarios y dispositivos responsables, promoviendo transparencia y cumplimiento.</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Medidas clave: El registro de auditorías y logs de actividad permiten rastrear cambios y accesos, mientras que las políticas de retención de registros ayudan a mantener esta información disponible.</a:t>
              </a:r>
              <a:endParaRPr/>
            </a:p>
            <a:p>
              <a:pPr indent="-256171" lvl="1" marL="512344" marR="0" rtl="0" algn="just">
                <a:lnSpc>
                  <a:spcPct val="150990"/>
                </a:lnSpc>
                <a:spcBef>
                  <a:spcPts val="0"/>
                </a:spcBef>
                <a:spcAft>
                  <a:spcPts val="0"/>
                </a:spcAft>
                <a:buClr>
                  <a:srgbClr val="FFFFFF"/>
                </a:buClr>
                <a:buSzPts val="2373"/>
                <a:buFont typeface="Arial"/>
                <a:buChar char="•"/>
              </a:pPr>
              <a:r>
                <a:rPr b="0" i="0" lang="en-US" sz="2373" u="none" cap="none" strike="noStrike">
                  <a:solidFill>
                    <a:srgbClr val="FFFFFF"/>
                  </a:solidFill>
                  <a:latin typeface="Arial"/>
                  <a:ea typeface="Arial"/>
                  <a:cs typeface="Arial"/>
                  <a:sym typeface="Arial"/>
                </a:rPr>
                <a:t>Ejemplos: En un sistema bancario, cada operación realizada por un empleado queda registrada, lo que permite rastrear las acciones en caso de inconsistencias o problemas.</a:t>
              </a:r>
              <a:endParaRPr/>
            </a:p>
            <a:p>
              <a:pPr indent="0" lvl="0" marL="0" marR="0" rtl="0" algn="just">
                <a:lnSpc>
                  <a:spcPct val="150990"/>
                </a:lnSpc>
                <a:spcBef>
                  <a:spcPts val="0"/>
                </a:spcBef>
                <a:spcAft>
                  <a:spcPts val="0"/>
                </a:spcAft>
                <a:buNone/>
              </a:pPr>
              <a:r>
                <a:t/>
              </a:r>
              <a:endParaRPr b="0" i="0" sz="2373" u="none" cap="none" strike="noStrike">
                <a:solidFill>
                  <a:srgbClr val="FFFFFF"/>
                </a:solidFill>
                <a:latin typeface="Arial"/>
                <a:ea typeface="Arial"/>
                <a:cs typeface="Arial"/>
                <a:sym typeface="Arial"/>
              </a:endParaRPr>
            </a:p>
          </p:txBody>
        </p:sp>
      </p:grpSp>
      <p:sp>
        <p:nvSpPr>
          <p:cNvPr id="277" name="Google Shape;277;p20"/>
          <p:cNvSpPr/>
          <p:nvPr/>
        </p:nvSpPr>
        <p:spPr>
          <a:xfrm>
            <a:off x="0" y="3141802"/>
            <a:ext cx="8130575" cy="4573448"/>
          </a:xfrm>
          <a:custGeom>
            <a:rect b="b" l="l" r="r" t="t"/>
            <a:pathLst>
              <a:path extrusionOk="0" h="4573448" w="8130575">
                <a:moveTo>
                  <a:pt x="0" y="0"/>
                </a:moveTo>
                <a:lnTo>
                  <a:pt x="8130575" y="0"/>
                </a:lnTo>
                <a:lnTo>
                  <a:pt x="8130575" y="4573448"/>
                </a:lnTo>
                <a:lnTo>
                  <a:pt x="0" y="4573448"/>
                </a:lnTo>
                <a:lnTo>
                  <a:pt x="0" y="0"/>
                </a:lnTo>
                <a:close/>
              </a:path>
            </a:pathLst>
          </a:custGeom>
          <a:blipFill rotWithShape="1">
            <a:blip r:embed="rId4">
              <a:alphaModFix/>
            </a:blip>
            <a:stretch>
              <a:fillRect b="0" l="0" r="0" t="0"/>
            </a:stretch>
          </a:blipFill>
          <a:ln>
            <a:noFill/>
          </a:ln>
        </p:spPr>
      </p:sp>
      <p:sp>
        <p:nvSpPr>
          <p:cNvPr id="278" name="Google Shape;278;p20"/>
          <p:cNvSpPr txBox="1"/>
          <p:nvPr/>
        </p:nvSpPr>
        <p:spPr>
          <a:xfrm>
            <a:off x="6214126" y="895350"/>
            <a:ext cx="4864232" cy="853753"/>
          </a:xfrm>
          <a:prstGeom prst="rect">
            <a:avLst/>
          </a:prstGeom>
          <a:noFill/>
          <a:ln>
            <a:noFill/>
          </a:ln>
        </p:spPr>
        <p:txBody>
          <a:bodyPr anchorCtr="0" anchor="t" bIns="0" lIns="0" spcFirstLastPara="1" rIns="0" wrap="square" tIns="0">
            <a:spAutoFit/>
          </a:bodyPr>
          <a:lstStyle/>
          <a:p>
            <a:pPr indent="0" lvl="0" marL="0" marR="0" rtl="0" algn="ctr">
              <a:lnSpc>
                <a:spcPct val="118984"/>
              </a:lnSpc>
              <a:spcBef>
                <a:spcPts val="0"/>
              </a:spcBef>
              <a:spcAft>
                <a:spcPts val="0"/>
              </a:spcAft>
              <a:buNone/>
            </a:pPr>
            <a:r>
              <a:rPr b="1" i="0" lang="en-US" sz="4746" u="none" cap="none" strike="noStrike">
                <a:solidFill>
                  <a:srgbClr val="FFFFFF"/>
                </a:solidFill>
                <a:latin typeface="Arial"/>
                <a:ea typeface="Arial"/>
                <a:cs typeface="Arial"/>
                <a:sym typeface="Arial"/>
              </a:rPr>
              <a:t>Responsabilidad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284" name="Google Shape;284;p21"/>
          <p:cNvGrpSpPr/>
          <p:nvPr/>
        </p:nvGrpSpPr>
        <p:grpSpPr>
          <a:xfrm>
            <a:off x="11022362" y="7391260"/>
            <a:ext cx="5127331" cy="2565401"/>
            <a:chOff x="0" y="-76200"/>
            <a:chExt cx="6836442" cy="3420534"/>
          </a:xfrm>
        </p:grpSpPr>
        <p:sp>
          <p:nvSpPr>
            <p:cNvPr id="285" name="Google Shape;285;p21"/>
            <p:cNvSpPr txBox="1"/>
            <p:nvPr/>
          </p:nvSpPr>
          <p:spPr>
            <a:xfrm>
              <a:off x="0" y="-76200"/>
              <a:ext cx="6836442" cy="2891367"/>
            </a:xfrm>
            <a:prstGeom prst="rect">
              <a:avLst/>
            </a:prstGeom>
            <a:noFill/>
            <a:ln>
              <a:noFill/>
            </a:ln>
          </p:spPr>
          <p:txBody>
            <a:bodyPr anchorCtr="0" anchor="t" bIns="0" lIns="0" spcFirstLastPara="1" rIns="0" wrap="square" tIns="0">
              <a:spAutoFit/>
            </a:bodyPr>
            <a:lstStyle/>
            <a:p>
              <a:pPr indent="0" lvl="0" marL="0" marR="0" rtl="0" algn="l">
                <a:lnSpc>
                  <a:spcPct val="107000"/>
                </a:lnSpc>
                <a:spcBef>
                  <a:spcPts val="0"/>
                </a:spcBef>
                <a:spcAft>
                  <a:spcPts val="0"/>
                </a:spcAft>
                <a:buNone/>
              </a:pPr>
              <a:r>
                <a:rPr b="1" i="0" lang="en-US" sz="5000" u="none" cap="none" strike="noStrike">
                  <a:solidFill>
                    <a:srgbClr val="FFFFFF"/>
                  </a:solidFill>
                  <a:latin typeface="Arial"/>
                  <a:ea typeface="Arial"/>
                  <a:cs typeface="Arial"/>
                  <a:sym typeface="Arial"/>
                </a:rPr>
                <a:t>Cifrado de Datos y Gestión de Claves</a:t>
              </a:r>
              <a:endParaRPr/>
            </a:p>
          </p:txBody>
        </p:sp>
        <p:sp>
          <p:nvSpPr>
            <p:cNvPr id="286" name="Google Shape;286;p21"/>
            <p:cNvSpPr txBox="1"/>
            <p:nvPr/>
          </p:nvSpPr>
          <p:spPr>
            <a:xfrm>
              <a:off x="0" y="2837392"/>
              <a:ext cx="6836442" cy="506942"/>
            </a:xfrm>
            <a:prstGeom prst="rect">
              <a:avLst/>
            </a:prstGeom>
            <a:noFill/>
            <a:ln>
              <a:noFill/>
            </a:ln>
          </p:spPr>
          <p:txBody>
            <a:bodyPr anchorCtr="0" anchor="t" bIns="0" lIns="0" spcFirstLastPara="1" rIns="0" wrap="square" tIns="0">
              <a:spAutoFit/>
            </a:bodyPr>
            <a:lstStyle/>
            <a:p>
              <a:pPr indent="0" lvl="0" marL="0" marR="0" rtl="0" algn="l">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21"/>
          <p:cNvGrpSpPr/>
          <p:nvPr/>
        </p:nvGrpSpPr>
        <p:grpSpPr>
          <a:xfrm>
            <a:off x="9570461" y="674494"/>
            <a:ext cx="5125893" cy="1891999"/>
            <a:chOff x="0" y="-76200"/>
            <a:chExt cx="6834524" cy="2522665"/>
          </a:xfrm>
        </p:grpSpPr>
        <p:sp>
          <p:nvSpPr>
            <p:cNvPr id="288" name="Google Shape;288;p21"/>
            <p:cNvSpPr txBox="1"/>
            <p:nvPr/>
          </p:nvSpPr>
          <p:spPr>
            <a:xfrm>
              <a:off x="0" y="-76200"/>
              <a:ext cx="6834524" cy="1989667"/>
            </a:xfrm>
            <a:prstGeom prst="rect">
              <a:avLst/>
            </a:prstGeom>
            <a:noFill/>
            <a:ln>
              <a:noFill/>
            </a:ln>
          </p:spPr>
          <p:txBody>
            <a:bodyPr anchorCtr="0" anchor="t" bIns="0" lIns="0" spcFirstLastPara="1" rIns="0" wrap="square" tIns="0">
              <a:spAutoFit/>
            </a:bodyPr>
            <a:lstStyle/>
            <a:p>
              <a:pPr indent="0" lvl="1" marL="0" marR="0" rtl="0" algn="l">
                <a:lnSpc>
                  <a:spcPct val="107000"/>
                </a:lnSpc>
                <a:spcBef>
                  <a:spcPts val="0"/>
                </a:spcBef>
                <a:spcAft>
                  <a:spcPts val="0"/>
                </a:spcAft>
                <a:buNone/>
              </a:pPr>
              <a:r>
                <a:rPr b="1" i="0" lang="en-US" sz="5000" u="none" cap="none" strike="noStrike">
                  <a:solidFill>
                    <a:srgbClr val="FFFFFF"/>
                  </a:solidFill>
                  <a:latin typeface="Arial"/>
                  <a:ea typeface="Arial"/>
                  <a:cs typeface="Arial"/>
                  <a:sym typeface="Arial"/>
                </a:rPr>
                <a:t>Implementación de Firewalls</a:t>
              </a:r>
              <a:endParaRPr/>
            </a:p>
          </p:txBody>
        </p:sp>
        <p:sp>
          <p:nvSpPr>
            <p:cNvPr id="289" name="Google Shape;289;p21"/>
            <p:cNvSpPr txBox="1"/>
            <p:nvPr/>
          </p:nvSpPr>
          <p:spPr>
            <a:xfrm>
              <a:off x="0" y="1939523"/>
              <a:ext cx="6834524" cy="506942"/>
            </a:xfrm>
            <a:prstGeom prst="rect">
              <a:avLst/>
            </a:prstGeom>
            <a:noFill/>
            <a:ln>
              <a:noFill/>
            </a:ln>
          </p:spPr>
          <p:txBody>
            <a:bodyPr anchorCtr="0" anchor="t" bIns="0" lIns="0" spcFirstLastPara="1" rIns="0" wrap="square" tIns="0">
              <a:spAutoFit/>
            </a:bodyPr>
            <a:lstStyle/>
            <a:p>
              <a:pPr indent="0" lvl="0" marL="0" marR="0" rtl="0" algn="l">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0" name="Google Shape;290;p21"/>
          <p:cNvGrpSpPr/>
          <p:nvPr/>
        </p:nvGrpSpPr>
        <p:grpSpPr>
          <a:xfrm>
            <a:off x="1028700" y="2509342"/>
            <a:ext cx="4998018" cy="2568274"/>
            <a:chOff x="0" y="-76200"/>
            <a:chExt cx="6664024" cy="3424365"/>
          </a:xfrm>
        </p:grpSpPr>
        <p:sp>
          <p:nvSpPr>
            <p:cNvPr id="291" name="Google Shape;291;p21"/>
            <p:cNvSpPr txBox="1"/>
            <p:nvPr/>
          </p:nvSpPr>
          <p:spPr>
            <a:xfrm>
              <a:off x="0" y="-76200"/>
              <a:ext cx="6664024" cy="2891367"/>
            </a:xfrm>
            <a:prstGeom prst="rect">
              <a:avLst/>
            </a:prstGeom>
            <a:noFill/>
            <a:ln>
              <a:noFill/>
            </a:ln>
          </p:spPr>
          <p:txBody>
            <a:bodyPr anchorCtr="0" anchor="t" bIns="0" lIns="0" spcFirstLastPara="1" rIns="0" wrap="square" tIns="0">
              <a:spAutoFit/>
            </a:bodyPr>
            <a:lstStyle/>
            <a:p>
              <a:pPr indent="0" lvl="0" marL="0" marR="0" rtl="0" algn="r">
                <a:lnSpc>
                  <a:spcPct val="107000"/>
                </a:lnSpc>
                <a:spcBef>
                  <a:spcPts val="0"/>
                </a:spcBef>
                <a:spcAft>
                  <a:spcPts val="0"/>
                </a:spcAft>
                <a:buNone/>
              </a:pPr>
              <a:r>
                <a:rPr b="1" i="0" lang="en-US" sz="5000" u="none" cap="none" strike="noStrike">
                  <a:solidFill>
                    <a:srgbClr val="FFFFFF"/>
                  </a:solidFill>
                  <a:latin typeface="Arial"/>
                  <a:ea typeface="Arial"/>
                  <a:cs typeface="Arial"/>
                  <a:sym typeface="Arial"/>
                </a:rPr>
                <a:t>Evaluación y Gestión de Riesgos</a:t>
              </a:r>
              <a:endParaRPr/>
            </a:p>
          </p:txBody>
        </p:sp>
        <p:sp>
          <p:nvSpPr>
            <p:cNvPr id="292" name="Google Shape;292;p21"/>
            <p:cNvSpPr txBox="1"/>
            <p:nvPr/>
          </p:nvSpPr>
          <p:spPr>
            <a:xfrm>
              <a:off x="0" y="2841223"/>
              <a:ext cx="6664024" cy="506942"/>
            </a:xfrm>
            <a:prstGeom prst="rect">
              <a:avLst/>
            </a:prstGeom>
            <a:noFill/>
            <a:ln>
              <a:noFill/>
            </a:ln>
          </p:spPr>
          <p:txBody>
            <a:bodyPr anchorCtr="0" anchor="t" bIns="0" lIns="0" spcFirstLastPara="1" rIns="0" wrap="square" tIns="0">
              <a:spAutoFit/>
            </a:bodyPr>
            <a:lstStyle/>
            <a:p>
              <a:pPr indent="0" lvl="0" marL="0" marR="0" rtl="0" algn="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p21"/>
          <p:cNvGrpSpPr/>
          <p:nvPr/>
        </p:nvGrpSpPr>
        <p:grpSpPr>
          <a:xfrm>
            <a:off x="1706204" y="5951834"/>
            <a:ext cx="4998018" cy="2565401"/>
            <a:chOff x="0" y="-76200"/>
            <a:chExt cx="6664024" cy="3420534"/>
          </a:xfrm>
        </p:grpSpPr>
        <p:sp>
          <p:nvSpPr>
            <p:cNvPr id="294" name="Google Shape;294;p21"/>
            <p:cNvSpPr txBox="1"/>
            <p:nvPr/>
          </p:nvSpPr>
          <p:spPr>
            <a:xfrm>
              <a:off x="0" y="-76200"/>
              <a:ext cx="6664024" cy="2891367"/>
            </a:xfrm>
            <a:prstGeom prst="rect">
              <a:avLst/>
            </a:prstGeom>
            <a:noFill/>
            <a:ln>
              <a:noFill/>
            </a:ln>
          </p:spPr>
          <p:txBody>
            <a:bodyPr anchorCtr="0" anchor="t" bIns="0" lIns="0" spcFirstLastPara="1" rIns="0" wrap="square" tIns="0">
              <a:spAutoFit/>
            </a:bodyPr>
            <a:lstStyle/>
            <a:p>
              <a:pPr indent="0" lvl="0" marL="0" marR="0" rtl="0" algn="r">
                <a:lnSpc>
                  <a:spcPct val="107000"/>
                </a:lnSpc>
                <a:spcBef>
                  <a:spcPts val="0"/>
                </a:spcBef>
                <a:spcAft>
                  <a:spcPts val="0"/>
                </a:spcAft>
                <a:buNone/>
              </a:pPr>
              <a:r>
                <a:rPr b="1" i="0" lang="en-US" sz="5000" u="none" cap="none" strike="noStrike">
                  <a:solidFill>
                    <a:srgbClr val="FFFFFF"/>
                  </a:solidFill>
                  <a:latin typeface="Arial"/>
                  <a:ea typeface="Arial"/>
                  <a:cs typeface="Arial"/>
                  <a:sym typeface="Arial"/>
                </a:rPr>
                <a:t>Capacitación y Políticas de Seguridad:</a:t>
              </a:r>
              <a:endParaRPr/>
            </a:p>
          </p:txBody>
        </p:sp>
        <p:sp>
          <p:nvSpPr>
            <p:cNvPr id="295" name="Google Shape;295;p21"/>
            <p:cNvSpPr txBox="1"/>
            <p:nvPr/>
          </p:nvSpPr>
          <p:spPr>
            <a:xfrm>
              <a:off x="0" y="2837392"/>
              <a:ext cx="6664024" cy="506942"/>
            </a:xfrm>
            <a:prstGeom prst="rect">
              <a:avLst/>
            </a:prstGeom>
            <a:noFill/>
            <a:ln>
              <a:noFill/>
            </a:ln>
          </p:spPr>
          <p:txBody>
            <a:bodyPr anchorCtr="0" anchor="t" bIns="0" lIns="0" spcFirstLastPara="1" rIns="0" wrap="square" tIns="0">
              <a:spAutoFit/>
            </a:bodyPr>
            <a:lstStyle/>
            <a:p>
              <a:pPr indent="0" lvl="0" marL="0" marR="0" rtl="0" algn="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6" name="Google Shape;296;p21"/>
          <p:cNvGrpSpPr/>
          <p:nvPr/>
        </p:nvGrpSpPr>
        <p:grpSpPr>
          <a:xfrm>
            <a:off x="12133407" y="4006053"/>
            <a:ext cx="5125893" cy="2565401"/>
            <a:chOff x="0" y="-76200"/>
            <a:chExt cx="6834524" cy="3420534"/>
          </a:xfrm>
        </p:grpSpPr>
        <p:sp>
          <p:nvSpPr>
            <p:cNvPr id="297" name="Google Shape;297;p21"/>
            <p:cNvSpPr txBox="1"/>
            <p:nvPr/>
          </p:nvSpPr>
          <p:spPr>
            <a:xfrm>
              <a:off x="0" y="-76200"/>
              <a:ext cx="6834524" cy="2891367"/>
            </a:xfrm>
            <a:prstGeom prst="rect">
              <a:avLst/>
            </a:prstGeom>
            <a:noFill/>
            <a:ln>
              <a:noFill/>
            </a:ln>
          </p:spPr>
          <p:txBody>
            <a:bodyPr anchorCtr="0" anchor="t" bIns="0" lIns="0" spcFirstLastPara="1" rIns="0" wrap="square" tIns="0">
              <a:spAutoFit/>
            </a:bodyPr>
            <a:lstStyle/>
            <a:p>
              <a:pPr indent="0" lvl="1" marL="0" marR="0" rtl="0" algn="l">
                <a:lnSpc>
                  <a:spcPct val="107000"/>
                </a:lnSpc>
                <a:spcBef>
                  <a:spcPts val="0"/>
                </a:spcBef>
                <a:spcAft>
                  <a:spcPts val="0"/>
                </a:spcAft>
                <a:buNone/>
              </a:pPr>
              <a:r>
                <a:rPr b="1" i="0" lang="en-US" sz="5000" u="none" cap="none" strike="noStrike">
                  <a:solidFill>
                    <a:srgbClr val="FFFFFF"/>
                  </a:solidFill>
                  <a:latin typeface="Arial"/>
                  <a:ea typeface="Arial"/>
                  <a:cs typeface="Arial"/>
                  <a:sym typeface="Arial"/>
                </a:rPr>
                <a:t>sistemas de Detección de Intrusos</a:t>
              </a:r>
              <a:endParaRPr/>
            </a:p>
          </p:txBody>
        </p:sp>
        <p:sp>
          <p:nvSpPr>
            <p:cNvPr id="298" name="Google Shape;298;p21"/>
            <p:cNvSpPr txBox="1"/>
            <p:nvPr/>
          </p:nvSpPr>
          <p:spPr>
            <a:xfrm>
              <a:off x="0" y="2837392"/>
              <a:ext cx="6834524" cy="506942"/>
            </a:xfrm>
            <a:prstGeom prst="rect">
              <a:avLst/>
            </a:prstGeom>
            <a:noFill/>
            <a:ln>
              <a:noFill/>
            </a:ln>
          </p:spPr>
          <p:txBody>
            <a:bodyPr anchorCtr="0" anchor="t" bIns="0" lIns="0" spcFirstLastPara="1" rIns="0" wrap="square" tIns="0">
              <a:spAutoFit/>
            </a:bodyPr>
            <a:lstStyle/>
            <a:p>
              <a:pPr indent="0" lvl="0" marL="0" marR="0" rtl="0" algn="l">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9" name="Google Shape;299;p21"/>
          <p:cNvGrpSpPr/>
          <p:nvPr/>
        </p:nvGrpSpPr>
        <p:grpSpPr>
          <a:xfrm>
            <a:off x="6704222" y="2532175"/>
            <a:ext cx="4879556" cy="5051103"/>
            <a:chOff x="0" y="-28575"/>
            <a:chExt cx="812800" cy="841375"/>
          </a:xfrm>
        </p:grpSpPr>
        <p:sp>
          <p:nvSpPr>
            <p:cNvPr id="300" name="Google Shape;300;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21"/>
          <p:cNvSpPr txBox="1"/>
          <p:nvPr/>
        </p:nvSpPr>
        <p:spPr>
          <a:xfrm>
            <a:off x="6975778" y="4459605"/>
            <a:ext cx="4336444" cy="1319530"/>
          </a:xfrm>
          <a:prstGeom prst="rect">
            <a:avLst/>
          </a:prstGeom>
          <a:noFill/>
          <a:ln>
            <a:noFill/>
          </a:ln>
        </p:spPr>
        <p:txBody>
          <a:bodyPr anchorCtr="0" anchor="t" bIns="0" lIns="0" spcFirstLastPara="1" rIns="0" wrap="square" tIns="0">
            <a:spAutoFit/>
          </a:bodyPr>
          <a:lstStyle/>
          <a:p>
            <a:pPr indent="0" lvl="0" marL="0" marR="0" rtl="0" algn="ctr">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ESTRATEGIAS DE SEGURIDAD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4659" l="-5914" r="-4429" t="-5683"/>
            </a:stretch>
          </a:blipFill>
          <a:ln>
            <a:noFill/>
          </a:ln>
        </p:spPr>
      </p:sp>
      <p:graphicFrame>
        <p:nvGraphicFramePr>
          <p:cNvPr id="308" name="Google Shape;308;p22"/>
          <p:cNvGraphicFramePr/>
          <p:nvPr/>
        </p:nvGraphicFramePr>
        <p:xfrm>
          <a:off x="1028700" y="2380788"/>
          <a:ext cx="3000000" cy="3000000"/>
        </p:xfrm>
        <a:graphic>
          <a:graphicData uri="http://schemas.openxmlformats.org/drawingml/2006/table">
            <a:tbl>
              <a:tblPr>
                <a:noFill/>
                <a:tableStyleId>{FAF991C9-8054-40A9-A66D-35CEF091A4C7}</a:tableStyleId>
              </a:tblPr>
              <a:tblGrid>
                <a:gridCol w="5450300"/>
                <a:gridCol w="10777975"/>
              </a:tblGrid>
              <a:tr h="792775">
                <a:tc>
                  <a:txBody>
                    <a:bodyPr/>
                    <a:lstStyle/>
                    <a:p>
                      <a:pPr indent="0" lvl="0" marL="0" marR="0" rtl="0" algn="l">
                        <a:lnSpc>
                          <a:spcPct val="140000"/>
                        </a:lnSpc>
                        <a:spcBef>
                          <a:spcPts val="0"/>
                        </a:spcBef>
                        <a:spcAft>
                          <a:spcPts val="0"/>
                        </a:spcAft>
                        <a:buNone/>
                      </a:pPr>
                      <a:r>
                        <a:rPr b="1" lang="en-US" sz="2000" u="none" cap="none" strike="noStrike">
                          <a:solidFill>
                            <a:srgbClr val="FFFFFF"/>
                          </a:solidFill>
                          <a:latin typeface="Arial"/>
                          <a:ea typeface="Arial"/>
                          <a:cs typeface="Arial"/>
                          <a:sym typeface="Arial"/>
                        </a:rPr>
                        <a:t>AMENAZA</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gradFill>
                      <a:gsLst>
                        <a:gs pos="0">
                          <a:srgbClr val="FF5757"/>
                        </a:gs>
                        <a:gs pos="100000">
                          <a:srgbClr val="6B44ED"/>
                        </a:gs>
                      </a:gsLst>
                      <a:lin ang="0" scaled="0"/>
                    </a:gradFill>
                  </a:tcPr>
                </a:tc>
                <a:tc>
                  <a:txBody>
                    <a:bodyPr/>
                    <a:lstStyle/>
                    <a:p>
                      <a:pPr indent="0" lvl="0" marL="0" marR="0" rtl="0" algn="l">
                        <a:lnSpc>
                          <a:spcPct val="140000"/>
                        </a:lnSpc>
                        <a:spcBef>
                          <a:spcPts val="0"/>
                        </a:spcBef>
                        <a:spcAft>
                          <a:spcPts val="0"/>
                        </a:spcAft>
                        <a:buNone/>
                      </a:pPr>
                      <a:r>
                        <a:rPr b="1" lang="en-US" sz="2000" u="none" cap="none" strike="noStrike">
                          <a:solidFill>
                            <a:srgbClr val="FFFFFF"/>
                          </a:solidFill>
                          <a:latin typeface="Arial"/>
                          <a:ea typeface="Arial"/>
                          <a:cs typeface="Arial"/>
                          <a:sym typeface="Arial"/>
                        </a:rPr>
                        <a:t>DESCRIPCION</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gradFill>
                      <a:gsLst>
                        <a:gs pos="0">
                          <a:srgbClr val="FF5757"/>
                        </a:gs>
                        <a:gs pos="100000">
                          <a:srgbClr val="6B44ED"/>
                        </a:gs>
                      </a:gsLst>
                      <a:lin ang="0" scaled="0"/>
                    </a:gradFill>
                  </a:tcPr>
                </a:tc>
              </a:tr>
              <a:tr h="96705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 Malware</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 Software malicioso diseñado para dañar, explotar o infectar sistemas. Incluye virus, gusanos, troyanos, ransomware y spyware.</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1174825">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Phishing</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Tipo de ataque en el que un atacante se hace pasar por una entidad confiable, normalmente a través de correos electrónicos o mensajes, para engañar a los usuarios y obtener información sensible como contraseñas o datos de tarjetas de crédito</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92650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Ataques de Ingeniería Social</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 Manipulación psicológica para obtener información confidencial. Los atacantes engañan a las personas para que realicen ciertas acciones o divulguen información.</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96705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Ataques de Denegación de Servicio</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Intentos de sobrecargar un sistema o red para que deje de funcionar, afectando su disponibilidad. Los ataques DDoS son realizados por múltiples dispositivos coordinados.</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96705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Ataques de Fuerza Bruta</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Método de prueba y error en el que los atacantes intentan todas las combinaciones posibles para adivinar contraseñas o claves de cifrado.</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1069775">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Explotación de Vulnerabilidades de Software</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Ataques que aprovechan vulnerabilidades o errores en el software para ganar acceso o ejecutar código malicioso.</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bl>
          </a:graphicData>
        </a:graphic>
      </p:graphicFrame>
      <p:sp>
        <p:nvSpPr>
          <p:cNvPr id="309" name="Google Shape;309;p22"/>
          <p:cNvSpPr txBox="1"/>
          <p:nvPr/>
        </p:nvSpPr>
        <p:spPr>
          <a:xfrm>
            <a:off x="1031011" y="1099289"/>
            <a:ext cx="10256306" cy="719455"/>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Amenazas comunes en seguridad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4659" l="-5914" r="-4429" t="-5683"/>
            </a:stretch>
          </a:blipFill>
          <a:ln>
            <a:noFill/>
          </a:ln>
        </p:spPr>
      </p:sp>
      <p:graphicFrame>
        <p:nvGraphicFramePr>
          <p:cNvPr id="315" name="Google Shape;315;p23"/>
          <p:cNvGraphicFramePr/>
          <p:nvPr/>
        </p:nvGraphicFramePr>
        <p:xfrm>
          <a:off x="1028700" y="2608927"/>
          <a:ext cx="3000000" cy="3000000"/>
        </p:xfrm>
        <a:graphic>
          <a:graphicData uri="http://schemas.openxmlformats.org/drawingml/2006/table">
            <a:tbl>
              <a:tblPr>
                <a:noFill/>
                <a:tableStyleId>{FAF991C9-8054-40A9-A66D-35CEF091A4C7}</a:tableStyleId>
              </a:tblPr>
              <a:tblGrid>
                <a:gridCol w="5450300"/>
                <a:gridCol w="10777975"/>
              </a:tblGrid>
              <a:tr h="793025">
                <a:tc>
                  <a:txBody>
                    <a:bodyPr/>
                    <a:lstStyle/>
                    <a:p>
                      <a:pPr indent="0" lvl="0" marL="0" marR="0" rtl="0" algn="l">
                        <a:lnSpc>
                          <a:spcPct val="140000"/>
                        </a:lnSpc>
                        <a:spcBef>
                          <a:spcPts val="0"/>
                        </a:spcBef>
                        <a:spcAft>
                          <a:spcPts val="0"/>
                        </a:spcAft>
                        <a:buNone/>
                      </a:pPr>
                      <a:r>
                        <a:rPr b="1" lang="en-US" sz="2000" u="none" cap="none" strike="noStrike">
                          <a:solidFill>
                            <a:srgbClr val="FFFFFF"/>
                          </a:solidFill>
                          <a:latin typeface="Arial"/>
                          <a:ea typeface="Arial"/>
                          <a:cs typeface="Arial"/>
                          <a:sym typeface="Arial"/>
                        </a:rPr>
                        <a:t>AMENAZA</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gradFill>
                      <a:gsLst>
                        <a:gs pos="0">
                          <a:srgbClr val="FF5757"/>
                        </a:gs>
                        <a:gs pos="100000">
                          <a:srgbClr val="6B44ED"/>
                        </a:gs>
                      </a:gsLst>
                      <a:lin ang="0" scaled="0"/>
                    </a:gradFill>
                  </a:tcPr>
                </a:tc>
                <a:tc>
                  <a:txBody>
                    <a:bodyPr/>
                    <a:lstStyle/>
                    <a:p>
                      <a:pPr indent="0" lvl="0" marL="0" marR="0" rtl="0" algn="l">
                        <a:lnSpc>
                          <a:spcPct val="140000"/>
                        </a:lnSpc>
                        <a:spcBef>
                          <a:spcPts val="0"/>
                        </a:spcBef>
                        <a:spcAft>
                          <a:spcPts val="0"/>
                        </a:spcAft>
                        <a:buNone/>
                      </a:pPr>
                      <a:r>
                        <a:rPr b="1" lang="en-US" sz="2000" u="none" cap="none" strike="noStrike">
                          <a:solidFill>
                            <a:srgbClr val="FFFFFF"/>
                          </a:solidFill>
                          <a:latin typeface="Arial"/>
                          <a:ea typeface="Arial"/>
                          <a:cs typeface="Arial"/>
                          <a:sym typeface="Arial"/>
                        </a:rPr>
                        <a:t>DESCRIPCION</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gradFill>
                      <a:gsLst>
                        <a:gs pos="0">
                          <a:srgbClr val="FF5757"/>
                        </a:gs>
                        <a:gs pos="100000">
                          <a:srgbClr val="6B44ED"/>
                        </a:gs>
                      </a:gsLst>
                      <a:lin ang="0" scaled="0"/>
                    </a:gradFill>
                  </a:tcPr>
                </a:tc>
              </a:tr>
              <a:tr h="926775">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Amenazas internas </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Riesgos que provienen de empleados o personas internas que, intencionalmente o por negligencia, comprometen la seguridad.</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96735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Secuestro de Sesiones</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 Ocurre cuando un atacante intercepta y toma control de una sesión activa entre un usuario y un servidor.</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75480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Ataques de Inyección</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 Tipo de ataque en el que el atacante inserta código malicioso en una aplicación para ejecutar comandos no autorizados.</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96735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Ataques de Man-in-the-Middle</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Ocurre cuando un atacante intercepta la comunicación entre dos partes para robar o manipular datos sin que las víctimas se den cuenta.</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926775">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Robo o Pérdida de Dispositivos Físicos</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Pérdida o robo de dispositivos de almacenamiento, como computadoras portátiles o discos duros, que pueden contener datos sensibles.</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r h="845500">
                <a:tc>
                  <a:txBody>
                    <a:bodyPr/>
                    <a:lstStyle/>
                    <a:p>
                      <a:pPr indent="0" lvl="0" marL="0" marR="0" rtl="0" algn="l">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Cross-Site Scripting</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c>
                  <a:txBody>
                    <a:bodyPr/>
                    <a:lstStyle/>
                    <a:p>
                      <a:pPr indent="0" lvl="0" marL="0" marR="0" rtl="0" algn="l">
                        <a:lnSpc>
                          <a:spcPct val="140000"/>
                        </a:lnSpc>
                        <a:spcBef>
                          <a:spcPts val="0"/>
                        </a:spcBef>
                        <a:spcAft>
                          <a:spcPts val="0"/>
                        </a:spcAft>
                        <a:buNone/>
                      </a:pPr>
                      <a:r>
                        <a:rPr lang="en-US" sz="1400" u="none" cap="none" strike="noStrike">
                          <a:solidFill>
                            <a:srgbClr val="FFFFFF"/>
                          </a:solidFill>
                          <a:latin typeface="Arial"/>
                          <a:ea typeface="Arial"/>
                          <a:cs typeface="Arial"/>
                          <a:sym typeface="Arial"/>
                        </a:rPr>
                        <a:t> Permite que los atacantes inserten código malicioso en sitios web, que luego es ejecutado por los usuarios.</a:t>
                      </a:r>
                      <a:endParaRPr sz="1100" u="none" cap="none" strike="noStrike"/>
                    </a:p>
                  </a:txBody>
                  <a:tcPr marT="190500" marB="190500" marR="190500" marL="1905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0000"/>
                    </a:solidFill>
                  </a:tcPr>
                </a:tc>
              </a:tr>
            </a:tbl>
          </a:graphicData>
        </a:graphic>
      </p:graphicFrame>
      <p:sp>
        <p:nvSpPr>
          <p:cNvPr id="316" name="Google Shape;316;p23"/>
          <p:cNvSpPr txBox="1"/>
          <p:nvPr/>
        </p:nvSpPr>
        <p:spPr>
          <a:xfrm>
            <a:off x="1031011" y="1099289"/>
            <a:ext cx="10256306" cy="719455"/>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Amenazas comunes en seguridad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sp>
        <p:nvSpPr>
          <p:cNvPr id="322" name="Google Shape;322;p24"/>
          <p:cNvSpPr txBox="1"/>
          <p:nvPr/>
        </p:nvSpPr>
        <p:spPr>
          <a:xfrm>
            <a:off x="1028700" y="4364672"/>
            <a:ext cx="16230600" cy="251968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i="0" lang="en-US" sz="8000" u="none" cap="none" strike="noStrike">
                <a:solidFill>
                  <a:srgbClr val="FFFFFF"/>
                </a:solidFill>
                <a:latin typeface="Arial"/>
                <a:ea typeface="Arial"/>
                <a:cs typeface="Arial"/>
                <a:sym typeface="Arial"/>
              </a:rPr>
              <a:t>MODELO DE SEGURIDAD </a:t>
            </a:r>
            <a:endParaRPr/>
          </a:p>
          <a:p>
            <a:pPr indent="0" lvl="0" marL="0" marR="0" rtl="0" algn="ctr">
              <a:lnSpc>
                <a:spcPct val="112000"/>
              </a:lnSpc>
              <a:spcBef>
                <a:spcPts val="0"/>
              </a:spcBef>
              <a:spcAft>
                <a:spcPts val="0"/>
              </a:spcAft>
              <a:buNone/>
            </a:pPr>
            <a:r>
              <a:rPr b="1" i="0" lang="en-US" sz="8000" u="none" cap="none" strike="noStrike">
                <a:solidFill>
                  <a:srgbClr val="FFFFFF"/>
                </a:solidFill>
                <a:latin typeface="Arial"/>
                <a:ea typeface="Arial"/>
                <a:cs typeface="Arial"/>
                <a:sym typeface="Arial"/>
              </a:rPr>
              <a:t>PARA ALMACENAMIENTO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5473" l="-4352" r="-4850" t="-3730"/>
            </a:stretch>
          </a:blipFill>
          <a:ln>
            <a:noFill/>
          </a:ln>
        </p:spPr>
      </p:sp>
      <p:grpSp>
        <p:nvGrpSpPr>
          <p:cNvPr id="328" name="Google Shape;328;p25"/>
          <p:cNvGrpSpPr/>
          <p:nvPr/>
        </p:nvGrpSpPr>
        <p:grpSpPr>
          <a:xfrm>
            <a:off x="7587963" y="1291109"/>
            <a:ext cx="1228220" cy="1271400"/>
            <a:chOff x="0" y="-28575"/>
            <a:chExt cx="812800" cy="841375"/>
          </a:xfrm>
        </p:grpSpPr>
        <p:sp>
          <p:nvSpPr>
            <p:cNvPr id="329" name="Google Shape;329;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5"/>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25"/>
          <p:cNvGrpSpPr/>
          <p:nvPr/>
        </p:nvGrpSpPr>
        <p:grpSpPr>
          <a:xfrm>
            <a:off x="7587963" y="3609184"/>
            <a:ext cx="1228220" cy="1271400"/>
            <a:chOff x="0" y="-28575"/>
            <a:chExt cx="812800" cy="841375"/>
          </a:xfrm>
        </p:grpSpPr>
        <p:sp>
          <p:nvSpPr>
            <p:cNvPr id="332" name="Google Shape;332;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4" name="Google Shape;334;p25"/>
          <p:cNvGrpSpPr/>
          <p:nvPr/>
        </p:nvGrpSpPr>
        <p:grpSpPr>
          <a:xfrm>
            <a:off x="7587963" y="7681311"/>
            <a:ext cx="1228220" cy="1271400"/>
            <a:chOff x="0" y="-28575"/>
            <a:chExt cx="812800" cy="841375"/>
          </a:xfrm>
        </p:grpSpPr>
        <p:sp>
          <p:nvSpPr>
            <p:cNvPr id="335" name="Google Shape;335;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5"/>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7" name="Google Shape;337;p25"/>
          <p:cNvGrpSpPr/>
          <p:nvPr/>
        </p:nvGrpSpPr>
        <p:grpSpPr>
          <a:xfrm>
            <a:off x="7587963" y="5316821"/>
            <a:ext cx="1228220" cy="1271400"/>
            <a:chOff x="0" y="-28575"/>
            <a:chExt cx="812800" cy="841375"/>
          </a:xfrm>
        </p:grpSpPr>
        <p:sp>
          <p:nvSpPr>
            <p:cNvPr id="338" name="Google Shape;338;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0" name="Google Shape;340;p25"/>
          <p:cNvSpPr/>
          <p:nvPr/>
        </p:nvSpPr>
        <p:spPr>
          <a:xfrm>
            <a:off x="7943673" y="1725901"/>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sp>
        <p:nvSpPr>
          <p:cNvPr id="341" name="Google Shape;341;p25"/>
          <p:cNvSpPr/>
          <p:nvPr/>
        </p:nvSpPr>
        <p:spPr>
          <a:xfrm>
            <a:off x="7943673" y="4043976"/>
            <a:ext cx="516800" cy="398582"/>
          </a:xfrm>
          <a:custGeom>
            <a:rect b="b" l="l" r="r" t="t"/>
            <a:pathLst>
              <a:path extrusionOk="0" h="398582" w="516800">
                <a:moveTo>
                  <a:pt x="0" y="0"/>
                </a:moveTo>
                <a:lnTo>
                  <a:pt x="516801" y="0"/>
                </a:lnTo>
                <a:lnTo>
                  <a:pt x="516801" y="398583"/>
                </a:lnTo>
                <a:lnTo>
                  <a:pt x="0" y="398583"/>
                </a:lnTo>
                <a:lnTo>
                  <a:pt x="0" y="0"/>
                </a:lnTo>
                <a:close/>
              </a:path>
            </a:pathLst>
          </a:custGeom>
          <a:blipFill rotWithShape="1">
            <a:blip r:embed="rId4">
              <a:alphaModFix/>
            </a:blip>
            <a:stretch>
              <a:fillRect b="0" l="0" r="0" t="0"/>
            </a:stretch>
          </a:blipFill>
          <a:ln>
            <a:noFill/>
          </a:ln>
        </p:spPr>
      </p:sp>
      <p:sp>
        <p:nvSpPr>
          <p:cNvPr id="342" name="Google Shape;342;p25"/>
          <p:cNvSpPr/>
          <p:nvPr/>
        </p:nvSpPr>
        <p:spPr>
          <a:xfrm>
            <a:off x="7943673" y="5794985"/>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sp>
        <p:nvSpPr>
          <p:cNvPr id="343" name="Google Shape;343;p25"/>
          <p:cNvSpPr/>
          <p:nvPr/>
        </p:nvSpPr>
        <p:spPr>
          <a:xfrm>
            <a:off x="7943673" y="8139310"/>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grpSp>
        <p:nvGrpSpPr>
          <p:cNvPr id="344" name="Google Shape;344;p25"/>
          <p:cNvGrpSpPr/>
          <p:nvPr/>
        </p:nvGrpSpPr>
        <p:grpSpPr>
          <a:xfrm>
            <a:off x="9179075" y="1269995"/>
            <a:ext cx="7143750" cy="1858494"/>
            <a:chOff x="0" y="-85725"/>
            <a:chExt cx="9525000" cy="2477992"/>
          </a:xfrm>
        </p:grpSpPr>
        <p:sp>
          <p:nvSpPr>
            <p:cNvPr id="345" name="Google Shape;345;p25"/>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 Evaluación de Requisitos de Seguridad</a:t>
              </a:r>
              <a:endParaRPr/>
            </a:p>
          </p:txBody>
        </p:sp>
        <p:sp>
          <p:nvSpPr>
            <p:cNvPr id="346" name="Google Shape;346;p25"/>
            <p:cNvSpPr txBox="1"/>
            <p:nvPr/>
          </p:nvSpPr>
          <p:spPr>
            <a:xfrm>
              <a:off x="0" y="553180"/>
              <a:ext cx="9525000" cy="18390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 Categorizar la información según su sensibilidad para aplicar controles de seguridad proporcionales. Por ejemplo, datos confidenciales pueden requerir cifrado más estricto que los datos públicos.</a:t>
              </a:r>
              <a:endParaRPr/>
            </a:p>
          </p:txBody>
        </p:sp>
      </p:grpSp>
      <p:grpSp>
        <p:nvGrpSpPr>
          <p:cNvPr id="347" name="Google Shape;347;p25"/>
          <p:cNvGrpSpPr/>
          <p:nvPr/>
        </p:nvGrpSpPr>
        <p:grpSpPr>
          <a:xfrm>
            <a:off x="9182646" y="3588070"/>
            <a:ext cx="7140179" cy="1534644"/>
            <a:chOff x="0" y="-85725"/>
            <a:chExt cx="9520239" cy="2046192"/>
          </a:xfrm>
        </p:grpSpPr>
        <p:sp>
          <p:nvSpPr>
            <p:cNvPr id="348" name="Google Shape;348;p25"/>
            <p:cNvSpPr txBox="1"/>
            <p:nvPr/>
          </p:nvSpPr>
          <p:spPr>
            <a:xfrm>
              <a:off x="0" y="-85725"/>
              <a:ext cx="9520239" cy="10468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Definición de Políticas de Seguridad de Almacenamiento</a:t>
              </a:r>
              <a:endParaRPr/>
            </a:p>
          </p:txBody>
        </p:sp>
        <p:sp>
          <p:nvSpPr>
            <p:cNvPr id="349" name="Google Shape;349;p25"/>
            <p:cNvSpPr txBox="1"/>
            <p:nvPr/>
          </p:nvSpPr>
          <p:spPr>
            <a:xfrm>
              <a:off x="0" y="1035780"/>
              <a:ext cx="9520239" cy="9246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Definir reglas claras sobre quién puede acceder a qué datos y bajo qué condiciones. </a:t>
              </a:r>
              <a:endParaRPr/>
            </a:p>
          </p:txBody>
        </p:sp>
      </p:grpSp>
      <p:grpSp>
        <p:nvGrpSpPr>
          <p:cNvPr id="350" name="Google Shape;350;p25"/>
          <p:cNvGrpSpPr/>
          <p:nvPr/>
        </p:nvGrpSpPr>
        <p:grpSpPr>
          <a:xfrm>
            <a:off x="9182646" y="5342121"/>
            <a:ext cx="7140179" cy="1858494"/>
            <a:chOff x="0" y="-85725"/>
            <a:chExt cx="9520239" cy="2477992"/>
          </a:xfrm>
        </p:grpSpPr>
        <p:sp>
          <p:nvSpPr>
            <p:cNvPr id="351" name="Google Shape;351;p25"/>
            <p:cNvSpPr txBox="1"/>
            <p:nvPr/>
          </p:nvSpPr>
          <p:spPr>
            <a:xfrm>
              <a:off x="0" y="-85725"/>
              <a:ext cx="9520239"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Implementación de Controles de Acceso</a:t>
              </a:r>
              <a:endParaRPr/>
            </a:p>
          </p:txBody>
        </p:sp>
        <p:sp>
          <p:nvSpPr>
            <p:cNvPr id="352" name="Google Shape;352;p25"/>
            <p:cNvSpPr txBox="1"/>
            <p:nvPr/>
          </p:nvSpPr>
          <p:spPr>
            <a:xfrm>
              <a:off x="0" y="553180"/>
              <a:ext cx="9520239" cy="18390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Configurar sistemas de autenticación sólida, como la autenticación multifactor (MFA) y los controles de acceso basados en roles (RBAC) para verificar la identidad de los usuarios y restringir el acceso según los permisos.</a:t>
              </a:r>
              <a:endParaRPr/>
            </a:p>
          </p:txBody>
        </p:sp>
      </p:grpSp>
      <p:grpSp>
        <p:nvGrpSpPr>
          <p:cNvPr id="353" name="Google Shape;353;p25"/>
          <p:cNvGrpSpPr/>
          <p:nvPr/>
        </p:nvGrpSpPr>
        <p:grpSpPr>
          <a:xfrm>
            <a:off x="9182646" y="7660197"/>
            <a:ext cx="7140179" cy="1515594"/>
            <a:chOff x="0" y="-85725"/>
            <a:chExt cx="9520239" cy="2020792"/>
          </a:xfrm>
        </p:grpSpPr>
        <p:sp>
          <p:nvSpPr>
            <p:cNvPr id="354" name="Google Shape;354;p25"/>
            <p:cNvSpPr txBox="1"/>
            <p:nvPr/>
          </p:nvSpPr>
          <p:spPr>
            <a:xfrm>
              <a:off x="0" y="-85725"/>
              <a:ext cx="9520239"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Cifrado de Datos en Reposo</a:t>
              </a:r>
              <a:endParaRPr/>
            </a:p>
          </p:txBody>
        </p:sp>
        <p:sp>
          <p:nvSpPr>
            <p:cNvPr id="355" name="Google Shape;355;p25"/>
            <p:cNvSpPr txBox="1"/>
            <p:nvPr/>
          </p:nvSpPr>
          <p:spPr>
            <a:xfrm>
              <a:off x="0" y="553180"/>
              <a:ext cx="9520239" cy="13818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Implementar cifrado en todo el disco para proteger la información almacenada. Esto es útil en caso de robo físico del medio de almacenamiento.</a:t>
              </a:r>
              <a:endParaRPr/>
            </a:p>
          </p:txBody>
        </p:sp>
      </p:grpSp>
      <p:grpSp>
        <p:nvGrpSpPr>
          <p:cNvPr id="356" name="Google Shape;356;p25"/>
          <p:cNvGrpSpPr/>
          <p:nvPr/>
        </p:nvGrpSpPr>
        <p:grpSpPr>
          <a:xfrm>
            <a:off x="1445163" y="1931810"/>
            <a:ext cx="4812162" cy="4935773"/>
            <a:chOff x="0" y="-114300"/>
            <a:chExt cx="6416216" cy="6581030"/>
          </a:xfrm>
        </p:grpSpPr>
        <p:sp>
          <p:nvSpPr>
            <p:cNvPr id="357" name="Google Shape;357;p25"/>
            <p:cNvSpPr txBox="1"/>
            <p:nvPr/>
          </p:nvSpPr>
          <p:spPr>
            <a:xfrm>
              <a:off x="0" y="-114300"/>
              <a:ext cx="6416216" cy="1721273"/>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Puntos importantes</a:t>
              </a:r>
              <a:endParaRPr/>
            </a:p>
          </p:txBody>
        </p:sp>
        <p:sp>
          <p:nvSpPr>
            <p:cNvPr id="358" name="Google Shape;358;p25"/>
            <p:cNvSpPr txBox="1"/>
            <p:nvPr/>
          </p:nvSpPr>
          <p:spPr>
            <a:xfrm>
              <a:off x="0" y="1875892"/>
              <a:ext cx="6416216" cy="4590838"/>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Desarrollar un modelo de seguridad para almacenamiento implica definir estrategias y mecanismos para proteger los datos en reposo contra accesos no autorizados, pérdidas y otros riesgos. Este proceso abarca múltiples capas de seguridad y se basa en los principios fundamentales de la seguridad de la información</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5473" l="-4352" r="-4850" t="-3730"/>
            </a:stretch>
          </a:blipFill>
          <a:ln>
            <a:noFill/>
          </a:ln>
        </p:spPr>
      </p:sp>
      <p:grpSp>
        <p:nvGrpSpPr>
          <p:cNvPr id="364" name="Google Shape;364;p26"/>
          <p:cNvGrpSpPr/>
          <p:nvPr/>
        </p:nvGrpSpPr>
        <p:grpSpPr>
          <a:xfrm>
            <a:off x="7587963" y="1291109"/>
            <a:ext cx="1228220" cy="1271400"/>
            <a:chOff x="0" y="-28575"/>
            <a:chExt cx="812800" cy="841375"/>
          </a:xfrm>
        </p:grpSpPr>
        <p:sp>
          <p:nvSpPr>
            <p:cNvPr id="365" name="Google Shape;365;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6"/>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7" name="Google Shape;367;p26"/>
          <p:cNvGrpSpPr/>
          <p:nvPr/>
        </p:nvGrpSpPr>
        <p:grpSpPr>
          <a:xfrm>
            <a:off x="7587963" y="3609184"/>
            <a:ext cx="1228220" cy="1271400"/>
            <a:chOff x="0" y="-28575"/>
            <a:chExt cx="812800" cy="841375"/>
          </a:xfrm>
        </p:grpSpPr>
        <p:sp>
          <p:nvSpPr>
            <p:cNvPr id="368" name="Google Shape;368;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6"/>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0" name="Google Shape;370;p26"/>
          <p:cNvGrpSpPr/>
          <p:nvPr/>
        </p:nvGrpSpPr>
        <p:grpSpPr>
          <a:xfrm>
            <a:off x="7587963" y="7681311"/>
            <a:ext cx="1228220" cy="1271400"/>
            <a:chOff x="0" y="-28575"/>
            <a:chExt cx="812800" cy="841375"/>
          </a:xfrm>
        </p:grpSpPr>
        <p:sp>
          <p:nvSpPr>
            <p:cNvPr id="371" name="Google Shape;371;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6"/>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3" name="Google Shape;373;p26"/>
          <p:cNvGrpSpPr/>
          <p:nvPr/>
        </p:nvGrpSpPr>
        <p:grpSpPr>
          <a:xfrm>
            <a:off x="7587963" y="5316821"/>
            <a:ext cx="1228220" cy="1271400"/>
            <a:chOff x="0" y="-28575"/>
            <a:chExt cx="812800" cy="841375"/>
          </a:xfrm>
        </p:grpSpPr>
        <p:sp>
          <p:nvSpPr>
            <p:cNvPr id="374" name="Google Shape;374;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6"/>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6" name="Google Shape;376;p26"/>
          <p:cNvSpPr/>
          <p:nvPr/>
        </p:nvSpPr>
        <p:spPr>
          <a:xfrm>
            <a:off x="7943673" y="1725901"/>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sp>
        <p:nvSpPr>
          <p:cNvPr id="377" name="Google Shape;377;p26"/>
          <p:cNvSpPr/>
          <p:nvPr/>
        </p:nvSpPr>
        <p:spPr>
          <a:xfrm>
            <a:off x="7943673" y="4043976"/>
            <a:ext cx="516800" cy="398582"/>
          </a:xfrm>
          <a:custGeom>
            <a:rect b="b" l="l" r="r" t="t"/>
            <a:pathLst>
              <a:path extrusionOk="0" h="398582" w="516800">
                <a:moveTo>
                  <a:pt x="0" y="0"/>
                </a:moveTo>
                <a:lnTo>
                  <a:pt x="516801" y="0"/>
                </a:lnTo>
                <a:lnTo>
                  <a:pt x="516801" y="398583"/>
                </a:lnTo>
                <a:lnTo>
                  <a:pt x="0" y="398583"/>
                </a:lnTo>
                <a:lnTo>
                  <a:pt x="0" y="0"/>
                </a:lnTo>
                <a:close/>
              </a:path>
            </a:pathLst>
          </a:custGeom>
          <a:blipFill rotWithShape="1">
            <a:blip r:embed="rId4">
              <a:alphaModFix/>
            </a:blip>
            <a:stretch>
              <a:fillRect b="0" l="0" r="0" t="0"/>
            </a:stretch>
          </a:blipFill>
          <a:ln>
            <a:noFill/>
          </a:ln>
        </p:spPr>
      </p:sp>
      <p:sp>
        <p:nvSpPr>
          <p:cNvPr id="378" name="Google Shape;378;p26"/>
          <p:cNvSpPr/>
          <p:nvPr/>
        </p:nvSpPr>
        <p:spPr>
          <a:xfrm>
            <a:off x="7943673" y="5794985"/>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sp>
        <p:nvSpPr>
          <p:cNvPr id="379" name="Google Shape;379;p26"/>
          <p:cNvSpPr/>
          <p:nvPr/>
        </p:nvSpPr>
        <p:spPr>
          <a:xfrm>
            <a:off x="7943673" y="8139310"/>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grpSp>
        <p:nvGrpSpPr>
          <p:cNvPr id="380" name="Google Shape;380;p26"/>
          <p:cNvGrpSpPr/>
          <p:nvPr/>
        </p:nvGrpSpPr>
        <p:grpSpPr>
          <a:xfrm>
            <a:off x="9179075" y="1269995"/>
            <a:ext cx="7143750" cy="1515594"/>
            <a:chOff x="0" y="-85725"/>
            <a:chExt cx="9525000" cy="2020792"/>
          </a:xfrm>
        </p:grpSpPr>
        <p:sp>
          <p:nvSpPr>
            <p:cNvPr id="381" name="Google Shape;381;p26"/>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Monitoreo y Registro de Actividades</a:t>
              </a:r>
              <a:endParaRPr/>
            </a:p>
          </p:txBody>
        </p:sp>
        <p:sp>
          <p:nvSpPr>
            <p:cNvPr id="382" name="Google Shape;382;p26"/>
            <p:cNvSpPr txBox="1"/>
            <p:nvPr/>
          </p:nvSpPr>
          <p:spPr>
            <a:xfrm>
              <a:off x="0" y="553180"/>
              <a:ext cx="9525000" cy="13818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 Registrar todos los accesos, cambios y eliminaciones de datos en los sistemas de almacenamiento para poder auditar y rastrear cualquier acción sospechosa.</a:t>
              </a:r>
              <a:endParaRPr/>
            </a:p>
          </p:txBody>
        </p:sp>
      </p:grpSp>
      <p:grpSp>
        <p:nvGrpSpPr>
          <p:cNvPr id="383" name="Google Shape;383;p26"/>
          <p:cNvGrpSpPr/>
          <p:nvPr/>
        </p:nvGrpSpPr>
        <p:grpSpPr>
          <a:xfrm>
            <a:off x="9182646" y="3588070"/>
            <a:ext cx="7140179" cy="1172694"/>
            <a:chOff x="0" y="-85725"/>
            <a:chExt cx="9520239" cy="1563592"/>
          </a:xfrm>
        </p:grpSpPr>
        <p:sp>
          <p:nvSpPr>
            <p:cNvPr id="384" name="Google Shape;384;p26"/>
            <p:cNvSpPr txBox="1"/>
            <p:nvPr/>
          </p:nvSpPr>
          <p:spPr>
            <a:xfrm>
              <a:off x="0" y="-85725"/>
              <a:ext cx="9520239"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Respaldo y Recuperación de Datos</a:t>
              </a:r>
              <a:endParaRPr/>
            </a:p>
          </p:txBody>
        </p:sp>
        <p:sp>
          <p:nvSpPr>
            <p:cNvPr id="385" name="Google Shape;385;p26"/>
            <p:cNvSpPr txBox="1"/>
            <p:nvPr/>
          </p:nvSpPr>
          <p:spPr>
            <a:xfrm>
              <a:off x="0" y="553180"/>
              <a:ext cx="9520239" cy="9246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Crear copias de seguridad de los datos de forma periódica para garantizar su disponibilidad en caso de pérdida o corrupción.</a:t>
              </a:r>
              <a:endParaRPr/>
            </a:p>
          </p:txBody>
        </p:sp>
      </p:grpSp>
      <p:grpSp>
        <p:nvGrpSpPr>
          <p:cNvPr id="386" name="Google Shape;386;p26"/>
          <p:cNvGrpSpPr/>
          <p:nvPr/>
        </p:nvGrpSpPr>
        <p:grpSpPr>
          <a:xfrm>
            <a:off x="9182646" y="5342121"/>
            <a:ext cx="7140179" cy="1877544"/>
            <a:chOff x="0" y="-85725"/>
            <a:chExt cx="9520239" cy="2503392"/>
          </a:xfrm>
        </p:grpSpPr>
        <p:sp>
          <p:nvSpPr>
            <p:cNvPr id="387" name="Google Shape;387;p26"/>
            <p:cNvSpPr txBox="1"/>
            <p:nvPr/>
          </p:nvSpPr>
          <p:spPr>
            <a:xfrm>
              <a:off x="0" y="-85725"/>
              <a:ext cx="9520239" cy="10468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 Protección Física de los Medios de Almacenamiento</a:t>
              </a:r>
              <a:endParaRPr/>
            </a:p>
          </p:txBody>
        </p:sp>
        <p:sp>
          <p:nvSpPr>
            <p:cNvPr id="388" name="Google Shape;388;p26"/>
            <p:cNvSpPr txBox="1"/>
            <p:nvPr/>
          </p:nvSpPr>
          <p:spPr>
            <a:xfrm>
              <a:off x="0" y="1035780"/>
              <a:ext cx="9520239" cy="13818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 Implementar controles físicos en los centros de datos, como cámaras de vigilancia, sistemas de control de acceso y protección contra incendios.</a:t>
              </a:r>
              <a:endParaRPr/>
            </a:p>
          </p:txBody>
        </p:sp>
      </p:grpSp>
      <p:grpSp>
        <p:nvGrpSpPr>
          <p:cNvPr id="389" name="Google Shape;389;p26"/>
          <p:cNvGrpSpPr/>
          <p:nvPr/>
        </p:nvGrpSpPr>
        <p:grpSpPr>
          <a:xfrm>
            <a:off x="9182646" y="7660197"/>
            <a:ext cx="7140179" cy="1515594"/>
            <a:chOff x="0" y="-85725"/>
            <a:chExt cx="9520239" cy="2020792"/>
          </a:xfrm>
        </p:grpSpPr>
        <p:sp>
          <p:nvSpPr>
            <p:cNvPr id="390" name="Google Shape;390;p26"/>
            <p:cNvSpPr txBox="1"/>
            <p:nvPr/>
          </p:nvSpPr>
          <p:spPr>
            <a:xfrm>
              <a:off x="0" y="-85725"/>
              <a:ext cx="9520239"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 Capacitación y Concientización de Usuarios</a:t>
              </a:r>
              <a:endParaRPr/>
            </a:p>
          </p:txBody>
        </p:sp>
        <p:sp>
          <p:nvSpPr>
            <p:cNvPr id="391" name="Google Shape;391;p26"/>
            <p:cNvSpPr txBox="1"/>
            <p:nvPr/>
          </p:nvSpPr>
          <p:spPr>
            <a:xfrm>
              <a:off x="0" y="553180"/>
              <a:ext cx="9520239" cy="1381887"/>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1800" u="none" cap="none" strike="noStrike">
                  <a:solidFill>
                    <a:srgbClr val="FFFFFF"/>
                  </a:solidFill>
                  <a:latin typeface="Arial"/>
                  <a:ea typeface="Arial"/>
                  <a:cs typeface="Arial"/>
                  <a:sym typeface="Arial"/>
                </a:rPr>
                <a:t>Capacitar a los empleados sobre prácticas de seguridad, la importancia de proteger la información almacenada y cómo detectar posibles amenazas como ataques de phishing.</a:t>
              </a:r>
              <a:endParaRPr/>
            </a:p>
          </p:txBody>
        </p:sp>
      </p:grpSp>
      <p:grpSp>
        <p:nvGrpSpPr>
          <p:cNvPr id="392" name="Google Shape;392;p26"/>
          <p:cNvGrpSpPr/>
          <p:nvPr/>
        </p:nvGrpSpPr>
        <p:grpSpPr>
          <a:xfrm>
            <a:off x="1445163" y="1931810"/>
            <a:ext cx="4812162" cy="4935773"/>
            <a:chOff x="0" y="-114300"/>
            <a:chExt cx="6416216" cy="6581030"/>
          </a:xfrm>
        </p:grpSpPr>
        <p:sp>
          <p:nvSpPr>
            <p:cNvPr id="393" name="Google Shape;393;p26"/>
            <p:cNvSpPr txBox="1"/>
            <p:nvPr/>
          </p:nvSpPr>
          <p:spPr>
            <a:xfrm>
              <a:off x="0" y="-114300"/>
              <a:ext cx="6416216" cy="1721273"/>
            </a:xfrm>
            <a:prstGeom prst="rect">
              <a:avLst/>
            </a:prstGeom>
            <a:noFill/>
            <a:ln>
              <a:noFill/>
            </a:ln>
          </p:spPr>
          <p:txBody>
            <a:bodyPr anchorCtr="0" anchor="t" bIns="0" lIns="0" spcFirstLastPara="1" rIns="0" wrap="square" tIns="0">
              <a:spAutoFit/>
            </a:bodyPr>
            <a:lstStyle/>
            <a:p>
              <a:pPr indent="0" lvl="1" marL="0" marR="0" rtl="0" algn="l">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Puntos importantes</a:t>
              </a:r>
              <a:endParaRPr/>
            </a:p>
          </p:txBody>
        </p:sp>
        <p:sp>
          <p:nvSpPr>
            <p:cNvPr id="394" name="Google Shape;394;p26"/>
            <p:cNvSpPr txBox="1"/>
            <p:nvPr/>
          </p:nvSpPr>
          <p:spPr>
            <a:xfrm>
              <a:off x="0" y="1875892"/>
              <a:ext cx="6416216" cy="4590838"/>
            </a:xfrm>
            <a:prstGeom prst="rect">
              <a:avLst/>
            </a:prstGeom>
            <a:noFill/>
            <a:ln>
              <a:noFill/>
            </a:ln>
          </p:spPr>
          <p:txBody>
            <a:bodyPr anchorCtr="0" anchor="t" bIns="0" lIns="0" spcFirstLastPara="1" rIns="0" wrap="square" tIns="0">
              <a:spAutoFit/>
            </a:bodyPr>
            <a:lstStyle/>
            <a:p>
              <a:pPr indent="0" lvl="0" marL="0" marR="0" rtl="0" algn="l">
                <a:lnSpc>
                  <a:spcPct val="151000"/>
                </a:lnSpc>
                <a:spcBef>
                  <a:spcPts val="0"/>
                </a:spcBef>
                <a:spcAft>
                  <a:spcPts val="0"/>
                </a:spcAft>
                <a:buNone/>
              </a:pPr>
              <a:r>
                <a:rPr b="0" i="0" lang="en-US" sz="2000" u="none" cap="none" strike="noStrike">
                  <a:solidFill>
                    <a:srgbClr val="FFFFFF"/>
                  </a:solidFill>
                  <a:latin typeface="Arial"/>
                  <a:ea typeface="Arial"/>
                  <a:cs typeface="Arial"/>
                  <a:sym typeface="Arial"/>
                </a:rPr>
                <a:t>Desarrollar un modelo de seguridad para almacenamiento implica definir estrategias y mecanismos para proteger los datos en reposo contra accesos no autorizados, pérdidas y otros riesgos. Este proceso abarca múltiples capas de seguridad y se basa en los principios fundamentales de la seguridad de la información</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400" name="Google Shape;400;p27"/>
          <p:cNvGrpSpPr/>
          <p:nvPr/>
        </p:nvGrpSpPr>
        <p:grpSpPr>
          <a:xfrm>
            <a:off x="7290730" y="2116862"/>
            <a:ext cx="3706540" cy="1434251"/>
            <a:chOff x="0" y="-104775"/>
            <a:chExt cx="976208" cy="377745"/>
          </a:xfrm>
        </p:grpSpPr>
        <p:sp>
          <p:nvSpPr>
            <p:cNvPr id="401" name="Google Shape;401;p27"/>
            <p:cNvSpPr/>
            <p:nvPr/>
          </p:nvSpPr>
          <p:spPr>
            <a:xfrm>
              <a:off x="0" y="0"/>
              <a:ext cx="976208" cy="272970"/>
            </a:xfrm>
            <a:custGeom>
              <a:rect b="b" l="l" r="r" t="t"/>
              <a:pathLst>
                <a:path extrusionOk="0" h="272970" w="976208">
                  <a:moveTo>
                    <a:pt x="106525" y="0"/>
                  </a:moveTo>
                  <a:lnTo>
                    <a:pt x="869683" y="0"/>
                  </a:lnTo>
                  <a:cubicBezTo>
                    <a:pt x="928515" y="0"/>
                    <a:pt x="976208" y="47693"/>
                    <a:pt x="976208" y="106525"/>
                  </a:cubicBezTo>
                  <a:lnTo>
                    <a:pt x="976208" y="166445"/>
                  </a:lnTo>
                  <a:cubicBezTo>
                    <a:pt x="976208" y="194697"/>
                    <a:pt x="964985" y="221792"/>
                    <a:pt x="945008" y="241770"/>
                  </a:cubicBezTo>
                  <a:cubicBezTo>
                    <a:pt x="925030" y="261747"/>
                    <a:pt x="897936" y="272970"/>
                    <a:pt x="869683" y="272970"/>
                  </a:cubicBezTo>
                  <a:lnTo>
                    <a:pt x="106525" y="272970"/>
                  </a:lnTo>
                  <a:cubicBezTo>
                    <a:pt x="78273" y="272970"/>
                    <a:pt x="51178" y="261747"/>
                    <a:pt x="31200" y="241770"/>
                  </a:cubicBezTo>
                  <a:cubicBezTo>
                    <a:pt x="11223" y="221792"/>
                    <a:pt x="0" y="194697"/>
                    <a:pt x="0" y="166445"/>
                  </a:cubicBezTo>
                  <a:lnTo>
                    <a:pt x="0" y="106525"/>
                  </a:lnTo>
                  <a:cubicBezTo>
                    <a:pt x="0" y="78273"/>
                    <a:pt x="11223" y="51178"/>
                    <a:pt x="31200" y="31200"/>
                  </a:cubicBezTo>
                  <a:cubicBezTo>
                    <a:pt x="51178" y="11223"/>
                    <a:pt x="78273" y="0"/>
                    <a:pt x="106525"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txBox="1"/>
            <p:nvPr/>
          </p:nvSpPr>
          <p:spPr>
            <a:xfrm>
              <a:off x="0" y="-104775"/>
              <a:ext cx="976208" cy="37774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Modelos de Control de Acceso</a:t>
              </a:r>
              <a:endParaRPr/>
            </a:p>
          </p:txBody>
        </p:sp>
      </p:grpSp>
      <p:grpSp>
        <p:nvGrpSpPr>
          <p:cNvPr id="403" name="Google Shape;403;p27"/>
          <p:cNvGrpSpPr/>
          <p:nvPr/>
        </p:nvGrpSpPr>
        <p:grpSpPr>
          <a:xfrm>
            <a:off x="2005912" y="4264305"/>
            <a:ext cx="3219051" cy="1223743"/>
            <a:chOff x="0" y="-104775"/>
            <a:chExt cx="847816" cy="322303"/>
          </a:xfrm>
        </p:grpSpPr>
        <p:sp>
          <p:nvSpPr>
            <p:cNvPr id="404" name="Google Shape;404;p27"/>
            <p:cNvSpPr/>
            <p:nvPr/>
          </p:nvSpPr>
          <p:spPr>
            <a:xfrm>
              <a:off x="0" y="0"/>
              <a:ext cx="847816" cy="217528"/>
            </a:xfrm>
            <a:custGeom>
              <a:rect b="b" l="l" r="r" t="t"/>
              <a:pathLst>
                <a:path extrusionOk="0" h="217528" w="847816">
                  <a:moveTo>
                    <a:pt x="108764" y="0"/>
                  </a:moveTo>
                  <a:lnTo>
                    <a:pt x="739052" y="0"/>
                  </a:lnTo>
                  <a:cubicBezTo>
                    <a:pt x="799121" y="0"/>
                    <a:pt x="847816" y="48695"/>
                    <a:pt x="847816" y="108764"/>
                  </a:cubicBezTo>
                  <a:lnTo>
                    <a:pt x="847816" y="108764"/>
                  </a:lnTo>
                  <a:cubicBezTo>
                    <a:pt x="847816" y="168833"/>
                    <a:pt x="799121" y="217528"/>
                    <a:pt x="739052" y="217528"/>
                  </a:cubicBezTo>
                  <a:lnTo>
                    <a:pt x="108764" y="217528"/>
                  </a:lnTo>
                  <a:cubicBezTo>
                    <a:pt x="48695" y="217528"/>
                    <a:pt x="0" y="168833"/>
                    <a:pt x="0" y="108764"/>
                  </a:cubicBezTo>
                  <a:lnTo>
                    <a:pt x="0" y="108764"/>
                  </a:lnTo>
                  <a:cubicBezTo>
                    <a:pt x="0" y="48695"/>
                    <a:pt x="48695" y="0"/>
                    <a:pt x="108764"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txBox="1"/>
            <p:nvPr/>
          </p:nvSpPr>
          <p:spPr>
            <a:xfrm>
              <a:off x="0" y="-104775"/>
              <a:ext cx="847816" cy="322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TipoControl de Acceso Basado en Roles  </a:t>
              </a:r>
              <a:endParaRPr/>
            </a:p>
          </p:txBody>
        </p:sp>
      </p:grpSp>
      <p:grpSp>
        <p:nvGrpSpPr>
          <p:cNvPr id="406" name="Google Shape;406;p27"/>
          <p:cNvGrpSpPr/>
          <p:nvPr/>
        </p:nvGrpSpPr>
        <p:grpSpPr>
          <a:xfrm>
            <a:off x="2005912" y="6435042"/>
            <a:ext cx="3219051" cy="1974744"/>
            <a:chOff x="0" y="-66675"/>
            <a:chExt cx="847816" cy="520097"/>
          </a:xfrm>
        </p:grpSpPr>
        <p:sp>
          <p:nvSpPr>
            <p:cNvPr id="407" name="Google Shape;407;p27"/>
            <p:cNvSpPr/>
            <p:nvPr/>
          </p:nvSpPr>
          <p:spPr>
            <a:xfrm>
              <a:off x="0" y="0"/>
              <a:ext cx="847816" cy="453422"/>
            </a:xfrm>
            <a:custGeom>
              <a:rect b="b" l="l" r="r" t="t"/>
              <a:pathLst>
                <a:path extrusionOk="0" h="453422" w="847816">
                  <a:moveTo>
                    <a:pt x="122657" y="0"/>
                  </a:moveTo>
                  <a:lnTo>
                    <a:pt x="725159" y="0"/>
                  </a:lnTo>
                  <a:cubicBezTo>
                    <a:pt x="792901" y="0"/>
                    <a:pt x="847816" y="54915"/>
                    <a:pt x="847816" y="122657"/>
                  </a:cubicBezTo>
                  <a:lnTo>
                    <a:pt x="847816" y="330765"/>
                  </a:lnTo>
                  <a:cubicBezTo>
                    <a:pt x="847816" y="398507"/>
                    <a:pt x="792901" y="453422"/>
                    <a:pt x="725159" y="453422"/>
                  </a:cubicBezTo>
                  <a:lnTo>
                    <a:pt x="122657" y="453422"/>
                  </a:lnTo>
                  <a:cubicBezTo>
                    <a:pt x="54915" y="453422"/>
                    <a:pt x="0" y="398507"/>
                    <a:pt x="0" y="330765"/>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7"/>
            <p:cNvSpPr txBox="1"/>
            <p:nvPr/>
          </p:nvSpPr>
          <p:spPr>
            <a:xfrm>
              <a:off x="0" y="-66675"/>
              <a:ext cx="847816" cy="520097"/>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roles pueden incluir “Administrador,” “Gerente,” “Empleado,” o “Cliente,” y cada uno tendrá distintos niveles de acceso.</a:t>
              </a:r>
              <a:endParaRPr/>
            </a:p>
          </p:txBody>
        </p:sp>
      </p:grpSp>
      <p:grpSp>
        <p:nvGrpSpPr>
          <p:cNvPr id="409" name="Google Shape;409;p27"/>
          <p:cNvGrpSpPr/>
          <p:nvPr/>
        </p:nvGrpSpPr>
        <p:grpSpPr>
          <a:xfrm>
            <a:off x="7533589" y="6516378"/>
            <a:ext cx="3219051" cy="1974744"/>
            <a:chOff x="0" y="-66675"/>
            <a:chExt cx="847816" cy="520097"/>
          </a:xfrm>
        </p:grpSpPr>
        <p:sp>
          <p:nvSpPr>
            <p:cNvPr id="410" name="Google Shape;410;p27"/>
            <p:cNvSpPr/>
            <p:nvPr/>
          </p:nvSpPr>
          <p:spPr>
            <a:xfrm>
              <a:off x="0" y="0"/>
              <a:ext cx="847816" cy="453422"/>
            </a:xfrm>
            <a:custGeom>
              <a:rect b="b" l="l" r="r" t="t"/>
              <a:pathLst>
                <a:path extrusionOk="0" h="453422" w="847816">
                  <a:moveTo>
                    <a:pt x="122657" y="0"/>
                  </a:moveTo>
                  <a:lnTo>
                    <a:pt x="725159" y="0"/>
                  </a:lnTo>
                  <a:cubicBezTo>
                    <a:pt x="792901" y="0"/>
                    <a:pt x="847816" y="54915"/>
                    <a:pt x="847816" y="122657"/>
                  </a:cubicBezTo>
                  <a:lnTo>
                    <a:pt x="847816" y="330765"/>
                  </a:lnTo>
                  <a:cubicBezTo>
                    <a:pt x="847816" y="398507"/>
                    <a:pt x="792901" y="453422"/>
                    <a:pt x="725159" y="453422"/>
                  </a:cubicBezTo>
                  <a:lnTo>
                    <a:pt x="122657" y="453422"/>
                  </a:lnTo>
                  <a:cubicBezTo>
                    <a:pt x="54915" y="453422"/>
                    <a:pt x="0" y="398507"/>
                    <a:pt x="0" y="330765"/>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txBox="1"/>
            <p:nvPr/>
          </p:nvSpPr>
          <p:spPr>
            <a:xfrm>
              <a:off x="0" y="-66675"/>
              <a:ext cx="847816" cy="520097"/>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ABAC utiliza atributos de los usuarios, los datos y el contexto (como ubicación, hora o tipo de dispositivo) para definir reglas de acceso.</a:t>
              </a:r>
              <a:endParaRPr/>
            </a:p>
          </p:txBody>
        </p:sp>
      </p:grpSp>
      <p:grpSp>
        <p:nvGrpSpPr>
          <p:cNvPr id="412" name="Google Shape;412;p27"/>
          <p:cNvGrpSpPr/>
          <p:nvPr/>
        </p:nvGrpSpPr>
        <p:grpSpPr>
          <a:xfrm>
            <a:off x="13061266" y="6268728"/>
            <a:ext cx="3219051" cy="2470044"/>
            <a:chOff x="0" y="-66675"/>
            <a:chExt cx="847816" cy="650546"/>
          </a:xfrm>
        </p:grpSpPr>
        <p:sp>
          <p:nvSpPr>
            <p:cNvPr id="413" name="Google Shape;413;p27"/>
            <p:cNvSpPr/>
            <p:nvPr/>
          </p:nvSpPr>
          <p:spPr>
            <a:xfrm>
              <a:off x="0" y="0"/>
              <a:ext cx="847816" cy="583871"/>
            </a:xfrm>
            <a:custGeom>
              <a:rect b="b" l="l" r="r" t="t"/>
              <a:pathLst>
                <a:path extrusionOk="0" h="583871" w="847816">
                  <a:moveTo>
                    <a:pt x="122657" y="0"/>
                  </a:moveTo>
                  <a:lnTo>
                    <a:pt x="725159" y="0"/>
                  </a:lnTo>
                  <a:cubicBezTo>
                    <a:pt x="792901" y="0"/>
                    <a:pt x="847816" y="54915"/>
                    <a:pt x="847816" y="122657"/>
                  </a:cubicBezTo>
                  <a:lnTo>
                    <a:pt x="847816" y="461215"/>
                  </a:lnTo>
                  <a:cubicBezTo>
                    <a:pt x="847816" y="493745"/>
                    <a:pt x="834893" y="524944"/>
                    <a:pt x="811891" y="547946"/>
                  </a:cubicBezTo>
                  <a:cubicBezTo>
                    <a:pt x="788888" y="570949"/>
                    <a:pt x="757690" y="583871"/>
                    <a:pt x="725159" y="583871"/>
                  </a:cubicBezTo>
                  <a:lnTo>
                    <a:pt x="122657" y="583871"/>
                  </a:lnTo>
                  <a:cubicBezTo>
                    <a:pt x="54915" y="583871"/>
                    <a:pt x="0" y="528956"/>
                    <a:pt x="0" y="461215"/>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txBox="1"/>
            <p:nvPr/>
          </p:nvSpPr>
          <p:spPr>
            <a:xfrm>
              <a:off x="0" y="-66675"/>
              <a:ext cx="847816" cy="650546"/>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 la administración de seguridad define reglas estrictas de acceso basadas en niveles de clasificación de información (como “Confidencial,” “Secreto”) y en el nivel de autorización del usuario.</a:t>
              </a:r>
              <a:endParaRPr/>
            </a:p>
          </p:txBody>
        </p:sp>
      </p:grpSp>
      <p:grpSp>
        <p:nvGrpSpPr>
          <p:cNvPr id="415" name="Google Shape;415;p27"/>
          <p:cNvGrpSpPr/>
          <p:nvPr/>
        </p:nvGrpSpPr>
        <p:grpSpPr>
          <a:xfrm>
            <a:off x="7534474" y="4264305"/>
            <a:ext cx="3238101" cy="1390804"/>
            <a:chOff x="0" y="-104775"/>
            <a:chExt cx="852833" cy="366303"/>
          </a:xfrm>
        </p:grpSpPr>
        <p:sp>
          <p:nvSpPr>
            <p:cNvPr id="416" name="Google Shape;416;p27"/>
            <p:cNvSpPr/>
            <p:nvPr/>
          </p:nvSpPr>
          <p:spPr>
            <a:xfrm>
              <a:off x="0" y="0"/>
              <a:ext cx="852833" cy="261528"/>
            </a:xfrm>
            <a:custGeom>
              <a:rect b="b" l="l" r="r" t="t"/>
              <a:pathLst>
                <a:path extrusionOk="0" h="261528" w="852833">
                  <a:moveTo>
                    <a:pt x="121935" y="0"/>
                  </a:moveTo>
                  <a:lnTo>
                    <a:pt x="730898" y="0"/>
                  </a:lnTo>
                  <a:cubicBezTo>
                    <a:pt x="798241" y="0"/>
                    <a:pt x="852833" y="54592"/>
                    <a:pt x="852833" y="121935"/>
                  </a:cubicBezTo>
                  <a:lnTo>
                    <a:pt x="852833" y="139593"/>
                  </a:lnTo>
                  <a:cubicBezTo>
                    <a:pt x="852833" y="206935"/>
                    <a:pt x="798241" y="261528"/>
                    <a:pt x="730898" y="261528"/>
                  </a:cubicBezTo>
                  <a:lnTo>
                    <a:pt x="121935" y="261528"/>
                  </a:lnTo>
                  <a:cubicBezTo>
                    <a:pt x="54592" y="261528"/>
                    <a:pt x="0" y="206935"/>
                    <a:pt x="0" y="139593"/>
                  </a:cubicBezTo>
                  <a:lnTo>
                    <a:pt x="0" y="121935"/>
                  </a:lnTo>
                  <a:cubicBezTo>
                    <a:pt x="0" y="54592"/>
                    <a:pt x="54592" y="0"/>
                    <a:pt x="121935"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txBox="1"/>
            <p:nvPr/>
          </p:nvSpPr>
          <p:spPr>
            <a:xfrm>
              <a:off x="0" y="-104775"/>
              <a:ext cx="852833" cy="366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ontrol de Acceso Basado en Atributos </a:t>
              </a:r>
              <a:endParaRPr/>
            </a:p>
          </p:txBody>
        </p:sp>
      </p:grpSp>
      <p:grpSp>
        <p:nvGrpSpPr>
          <p:cNvPr id="418" name="Google Shape;418;p27"/>
          <p:cNvGrpSpPr/>
          <p:nvPr/>
        </p:nvGrpSpPr>
        <p:grpSpPr>
          <a:xfrm>
            <a:off x="13058576" y="4264305"/>
            <a:ext cx="3219051" cy="1223743"/>
            <a:chOff x="0" y="-104775"/>
            <a:chExt cx="847816" cy="322303"/>
          </a:xfrm>
        </p:grpSpPr>
        <p:sp>
          <p:nvSpPr>
            <p:cNvPr id="419" name="Google Shape;419;p27"/>
            <p:cNvSpPr/>
            <p:nvPr/>
          </p:nvSpPr>
          <p:spPr>
            <a:xfrm>
              <a:off x="0" y="0"/>
              <a:ext cx="847816" cy="217528"/>
            </a:xfrm>
            <a:custGeom>
              <a:rect b="b" l="l" r="r" t="t"/>
              <a:pathLst>
                <a:path extrusionOk="0" h="217528" w="847816">
                  <a:moveTo>
                    <a:pt x="108764" y="0"/>
                  </a:moveTo>
                  <a:lnTo>
                    <a:pt x="739052" y="0"/>
                  </a:lnTo>
                  <a:cubicBezTo>
                    <a:pt x="799121" y="0"/>
                    <a:pt x="847816" y="48695"/>
                    <a:pt x="847816" y="108764"/>
                  </a:cubicBezTo>
                  <a:lnTo>
                    <a:pt x="847816" y="108764"/>
                  </a:lnTo>
                  <a:cubicBezTo>
                    <a:pt x="847816" y="168833"/>
                    <a:pt x="799121" y="217528"/>
                    <a:pt x="739052" y="217528"/>
                  </a:cubicBezTo>
                  <a:lnTo>
                    <a:pt x="108764" y="217528"/>
                  </a:lnTo>
                  <a:cubicBezTo>
                    <a:pt x="48695" y="217528"/>
                    <a:pt x="0" y="168833"/>
                    <a:pt x="0" y="108764"/>
                  </a:cubicBezTo>
                  <a:lnTo>
                    <a:pt x="0" y="108764"/>
                  </a:lnTo>
                  <a:cubicBezTo>
                    <a:pt x="0" y="48695"/>
                    <a:pt x="48695" y="0"/>
                    <a:pt x="108764"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txBox="1"/>
            <p:nvPr/>
          </p:nvSpPr>
          <p:spPr>
            <a:xfrm>
              <a:off x="0" y="-104775"/>
              <a:ext cx="847816" cy="322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Control de Acceso Obligatorio</a:t>
              </a:r>
              <a:endParaRPr/>
            </a:p>
          </p:txBody>
        </p:sp>
      </p:grpSp>
      <p:sp>
        <p:nvSpPr>
          <p:cNvPr id="421" name="Google Shape;421;p27"/>
          <p:cNvSpPr txBox="1"/>
          <p:nvPr/>
        </p:nvSpPr>
        <p:spPr>
          <a:xfrm>
            <a:off x="3409047" y="581087"/>
            <a:ext cx="11013600" cy="1327200"/>
          </a:xfrm>
          <a:prstGeom prst="rect">
            <a:avLst/>
          </a:prstGeom>
          <a:noFill/>
          <a:ln>
            <a:noFill/>
          </a:ln>
        </p:spPr>
        <p:txBody>
          <a:bodyPr anchorCtr="0" anchor="t" bIns="0" lIns="0" spcFirstLastPara="1" rIns="0" wrap="square" tIns="0">
            <a:spAutoFit/>
          </a:bodyPr>
          <a:lstStyle/>
          <a:p>
            <a:pPr indent="0" lvl="0" marL="0" marR="0" rtl="0" algn="ctr">
              <a:lnSpc>
                <a:spcPct val="97999"/>
              </a:lnSpc>
              <a:spcBef>
                <a:spcPts val="0"/>
              </a:spcBef>
              <a:spcAft>
                <a:spcPts val="0"/>
              </a:spcAft>
              <a:buNone/>
            </a:pPr>
            <a:r>
              <a:rPr b="1" i="0" lang="en-US" sz="4399" u="none" cap="none" strike="noStrike">
                <a:solidFill>
                  <a:srgbClr val="FFFFFF"/>
                </a:solidFill>
                <a:latin typeface="Arial"/>
                <a:ea typeface="Arial"/>
                <a:cs typeface="Arial"/>
                <a:sym typeface="Arial"/>
              </a:rPr>
              <a:t>Control de acceso de usuarios a los datos</a:t>
            </a:r>
            <a:endParaRPr/>
          </a:p>
        </p:txBody>
      </p:sp>
      <p:cxnSp>
        <p:nvCxnSpPr>
          <p:cNvPr id="422" name="Google Shape;422;p27"/>
          <p:cNvCxnSpPr/>
          <p:nvPr/>
        </p:nvCxnSpPr>
        <p:spPr>
          <a:xfrm flipH="1">
            <a:off x="3615438" y="3032897"/>
            <a:ext cx="3675292" cy="1629226"/>
          </a:xfrm>
          <a:prstGeom prst="straightConnector1">
            <a:avLst/>
          </a:prstGeom>
          <a:noFill/>
          <a:ln cap="flat" cmpd="sng" w="38100">
            <a:solidFill>
              <a:srgbClr val="FFFFFF"/>
            </a:solidFill>
            <a:prstDash val="solid"/>
            <a:round/>
            <a:headEnd len="sm" w="sm" type="none"/>
            <a:tailEnd len="med" w="med" type="stealth"/>
          </a:ln>
        </p:spPr>
      </p:cxnSp>
      <p:cxnSp>
        <p:nvCxnSpPr>
          <p:cNvPr id="423" name="Google Shape;423;p27"/>
          <p:cNvCxnSpPr/>
          <p:nvPr/>
        </p:nvCxnSpPr>
        <p:spPr>
          <a:xfrm rot="10800000">
            <a:off x="9144000" y="3551113"/>
            <a:ext cx="9525" cy="1111009"/>
          </a:xfrm>
          <a:prstGeom prst="straightConnector1">
            <a:avLst/>
          </a:prstGeom>
          <a:noFill/>
          <a:ln cap="flat" cmpd="sng" w="38100">
            <a:solidFill>
              <a:srgbClr val="FFFFFF"/>
            </a:solidFill>
            <a:prstDash val="solid"/>
            <a:round/>
            <a:headEnd len="med" w="med" type="stealth"/>
            <a:tailEnd len="sm" w="sm" type="none"/>
          </a:ln>
        </p:spPr>
      </p:cxnSp>
      <p:cxnSp>
        <p:nvCxnSpPr>
          <p:cNvPr id="424" name="Google Shape;424;p27"/>
          <p:cNvCxnSpPr/>
          <p:nvPr/>
        </p:nvCxnSpPr>
        <p:spPr>
          <a:xfrm>
            <a:off x="10997270" y="3032897"/>
            <a:ext cx="3670831" cy="1629226"/>
          </a:xfrm>
          <a:prstGeom prst="straightConnector1">
            <a:avLst/>
          </a:prstGeom>
          <a:noFill/>
          <a:ln cap="flat" cmpd="sng" w="38100">
            <a:solidFill>
              <a:srgbClr val="FFFFFF"/>
            </a:solidFill>
            <a:prstDash val="solid"/>
            <a:round/>
            <a:headEnd len="sm" w="sm" type="none"/>
            <a:tailEnd len="med" w="med" type="stealth"/>
          </a:ln>
        </p:spPr>
      </p:cxnSp>
      <p:cxnSp>
        <p:nvCxnSpPr>
          <p:cNvPr id="425" name="Google Shape;425;p27"/>
          <p:cNvCxnSpPr/>
          <p:nvPr/>
        </p:nvCxnSpPr>
        <p:spPr>
          <a:xfrm>
            <a:off x="3615438" y="5488049"/>
            <a:ext cx="0" cy="1200150"/>
          </a:xfrm>
          <a:prstGeom prst="straightConnector1">
            <a:avLst/>
          </a:prstGeom>
          <a:noFill/>
          <a:ln cap="flat" cmpd="sng" w="38100">
            <a:solidFill>
              <a:srgbClr val="FFFFFF"/>
            </a:solidFill>
            <a:prstDash val="solid"/>
            <a:round/>
            <a:headEnd len="sm" w="sm" type="none"/>
            <a:tailEnd len="med" w="med" type="stealth"/>
          </a:ln>
        </p:spPr>
      </p:cxnSp>
      <p:cxnSp>
        <p:nvCxnSpPr>
          <p:cNvPr id="426" name="Google Shape;426;p27"/>
          <p:cNvCxnSpPr/>
          <p:nvPr/>
        </p:nvCxnSpPr>
        <p:spPr>
          <a:xfrm flipH="1">
            <a:off x="9143115" y="5655110"/>
            <a:ext cx="10410" cy="1114425"/>
          </a:xfrm>
          <a:prstGeom prst="straightConnector1">
            <a:avLst/>
          </a:prstGeom>
          <a:noFill/>
          <a:ln cap="flat" cmpd="sng" w="38100">
            <a:solidFill>
              <a:srgbClr val="FFFFFF"/>
            </a:solidFill>
            <a:prstDash val="solid"/>
            <a:round/>
            <a:headEnd len="sm" w="sm" type="none"/>
            <a:tailEnd len="med" w="med" type="stealth"/>
          </a:ln>
        </p:spPr>
      </p:cxnSp>
      <p:cxnSp>
        <p:nvCxnSpPr>
          <p:cNvPr id="427" name="Google Shape;427;p27"/>
          <p:cNvCxnSpPr/>
          <p:nvPr/>
        </p:nvCxnSpPr>
        <p:spPr>
          <a:xfrm rot="10800000">
            <a:off x="14668101" y="5488049"/>
            <a:ext cx="2690" cy="1033836"/>
          </a:xfrm>
          <a:prstGeom prst="straightConnector1">
            <a:avLst/>
          </a:prstGeom>
          <a:noFill/>
          <a:ln cap="flat" cmpd="sng" w="38100">
            <a:solidFill>
              <a:srgbClr val="FFFFFF"/>
            </a:solidFill>
            <a:prstDash val="solid"/>
            <a:round/>
            <a:headEnd len="med" w="med" type="stealth"/>
            <a:tailEnd len="sm" w="sm"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433" name="Google Shape;433;p28"/>
          <p:cNvGrpSpPr/>
          <p:nvPr/>
        </p:nvGrpSpPr>
        <p:grpSpPr>
          <a:xfrm>
            <a:off x="7290730" y="2116862"/>
            <a:ext cx="3706540" cy="1434251"/>
            <a:chOff x="0" y="-104775"/>
            <a:chExt cx="976208" cy="377745"/>
          </a:xfrm>
        </p:grpSpPr>
        <p:sp>
          <p:nvSpPr>
            <p:cNvPr id="434" name="Google Shape;434;p28"/>
            <p:cNvSpPr/>
            <p:nvPr/>
          </p:nvSpPr>
          <p:spPr>
            <a:xfrm>
              <a:off x="0" y="0"/>
              <a:ext cx="976208" cy="272970"/>
            </a:xfrm>
            <a:custGeom>
              <a:rect b="b" l="l" r="r" t="t"/>
              <a:pathLst>
                <a:path extrusionOk="0" h="272970" w="976208">
                  <a:moveTo>
                    <a:pt x="106525" y="0"/>
                  </a:moveTo>
                  <a:lnTo>
                    <a:pt x="869683" y="0"/>
                  </a:lnTo>
                  <a:cubicBezTo>
                    <a:pt x="928515" y="0"/>
                    <a:pt x="976208" y="47693"/>
                    <a:pt x="976208" y="106525"/>
                  </a:cubicBezTo>
                  <a:lnTo>
                    <a:pt x="976208" y="166445"/>
                  </a:lnTo>
                  <a:cubicBezTo>
                    <a:pt x="976208" y="194697"/>
                    <a:pt x="964985" y="221792"/>
                    <a:pt x="945008" y="241770"/>
                  </a:cubicBezTo>
                  <a:cubicBezTo>
                    <a:pt x="925030" y="261747"/>
                    <a:pt x="897936" y="272970"/>
                    <a:pt x="869683" y="272970"/>
                  </a:cubicBezTo>
                  <a:lnTo>
                    <a:pt x="106525" y="272970"/>
                  </a:lnTo>
                  <a:cubicBezTo>
                    <a:pt x="78273" y="272970"/>
                    <a:pt x="51178" y="261747"/>
                    <a:pt x="31200" y="241770"/>
                  </a:cubicBezTo>
                  <a:cubicBezTo>
                    <a:pt x="11223" y="221792"/>
                    <a:pt x="0" y="194697"/>
                    <a:pt x="0" y="166445"/>
                  </a:cubicBezTo>
                  <a:lnTo>
                    <a:pt x="0" y="106525"/>
                  </a:lnTo>
                  <a:cubicBezTo>
                    <a:pt x="0" y="78273"/>
                    <a:pt x="11223" y="51178"/>
                    <a:pt x="31200" y="31200"/>
                  </a:cubicBezTo>
                  <a:cubicBezTo>
                    <a:pt x="51178" y="11223"/>
                    <a:pt x="78273" y="0"/>
                    <a:pt x="106525"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8"/>
            <p:cNvSpPr txBox="1"/>
            <p:nvPr/>
          </p:nvSpPr>
          <p:spPr>
            <a:xfrm>
              <a:off x="0" y="-104775"/>
              <a:ext cx="976208" cy="37774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Modelos de Control de Acceso</a:t>
              </a:r>
              <a:endParaRPr/>
            </a:p>
          </p:txBody>
        </p:sp>
      </p:grpSp>
      <p:grpSp>
        <p:nvGrpSpPr>
          <p:cNvPr id="436" name="Google Shape;436;p28"/>
          <p:cNvGrpSpPr/>
          <p:nvPr/>
        </p:nvGrpSpPr>
        <p:grpSpPr>
          <a:xfrm>
            <a:off x="2005912" y="4264305"/>
            <a:ext cx="3219051" cy="1223743"/>
            <a:chOff x="0" y="-104775"/>
            <a:chExt cx="847816" cy="322303"/>
          </a:xfrm>
        </p:grpSpPr>
        <p:sp>
          <p:nvSpPr>
            <p:cNvPr id="437" name="Google Shape;437;p28"/>
            <p:cNvSpPr/>
            <p:nvPr/>
          </p:nvSpPr>
          <p:spPr>
            <a:xfrm>
              <a:off x="0" y="0"/>
              <a:ext cx="847816" cy="217528"/>
            </a:xfrm>
            <a:custGeom>
              <a:rect b="b" l="l" r="r" t="t"/>
              <a:pathLst>
                <a:path extrusionOk="0" h="217528" w="847816">
                  <a:moveTo>
                    <a:pt x="108764" y="0"/>
                  </a:moveTo>
                  <a:lnTo>
                    <a:pt x="739052" y="0"/>
                  </a:lnTo>
                  <a:cubicBezTo>
                    <a:pt x="799121" y="0"/>
                    <a:pt x="847816" y="48695"/>
                    <a:pt x="847816" y="108764"/>
                  </a:cubicBezTo>
                  <a:lnTo>
                    <a:pt x="847816" y="108764"/>
                  </a:lnTo>
                  <a:cubicBezTo>
                    <a:pt x="847816" y="168833"/>
                    <a:pt x="799121" y="217528"/>
                    <a:pt x="739052" y="217528"/>
                  </a:cubicBezTo>
                  <a:lnTo>
                    <a:pt x="108764" y="217528"/>
                  </a:lnTo>
                  <a:cubicBezTo>
                    <a:pt x="48695" y="217528"/>
                    <a:pt x="0" y="168833"/>
                    <a:pt x="0" y="108764"/>
                  </a:cubicBezTo>
                  <a:lnTo>
                    <a:pt x="0" y="108764"/>
                  </a:lnTo>
                  <a:cubicBezTo>
                    <a:pt x="0" y="48695"/>
                    <a:pt x="48695" y="0"/>
                    <a:pt x="108764"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8"/>
            <p:cNvSpPr txBox="1"/>
            <p:nvPr/>
          </p:nvSpPr>
          <p:spPr>
            <a:xfrm>
              <a:off x="0" y="-104775"/>
              <a:ext cx="847816" cy="322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Autenticación y Autorización</a:t>
              </a:r>
              <a:endParaRPr/>
            </a:p>
          </p:txBody>
        </p:sp>
      </p:grpSp>
      <p:grpSp>
        <p:nvGrpSpPr>
          <p:cNvPr id="439" name="Google Shape;439;p28"/>
          <p:cNvGrpSpPr/>
          <p:nvPr/>
        </p:nvGrpSpPr>
        <p:grpSpPr>
          <a:xfrm>
            <a:off x="2005912" y="6435042"/>
            <a:ext cx="3219051" cy="2222394"/>
            <a:chOff x="0" y="-66675"/>
            <a:chExt cx="847816" cy="585322"/>
          </a:xfrm>
        </p:grpSpPr>
        <p:sp>
          <p:nvSpPr>
            <p:cNvPr id="440" name="Google Shape;440;p28"/>
            <p:cNvSpPr/>
            <p:nvPr/>
          </p:nvSpPr>
          <p:spPr>
            <a:xfrm>
              <a:off x="0" y="0"/>
              <a:ext cx="847816" cy="518647"/>
            </a:xfrm>
            <a:custGeom>
              <a:rect b="b" l="l" r="r" t="t"/>
              <a:pathLst>
                <a:path extrusionOk="0" h="518647" w="847816">
                  <a:moveTo>
                    <a:pt x="122657" y="0"/>
                  </a:moveTo>
                  <a:lnTo>
                    <a:pt x="725159" y="0"/>
                  </a:lnTo>
                  <a:cubicBezTo>
                    <a:pt x="792901" y="0"/>
                    <a:pt x="847816" y="54915"/>
                    <a:pt x="847816" y="122657"/>
                  </a:cubicBezTo>
                  <a:lnTo>
                    <a:pt x="847816" y="395990"/>
                  </a:lnTo>
                  <a:cubicBezTo>
                    <a:pt x="847816" y="428521"/>
                    <a:pt x="834893" y="459719"/>
                    <a:pt x="811891" y="482721"/>
                  </a:cubicBezTo>
                  <a:cubicBezTo>
                    <a:pt x="788888" y="505724"/>
                    <a:pt x="757690" y="518647"/>
                    <a:pt x="725159" y="518647"/>
                  </a:cubicBezTo>
                  <a:lnTo>
                    <a:pt x="122657" y="518647"/>
                  </a:lnTo>
                  <a:cubicBezTo>
                    <a:pt x="54915" y="518647"/>
                    <a:pt x="0" y="463731"/>
                    <a:pt x="0" y="395990"/>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8"/>
            <p:cNvSpPr txBox="1"/>
            <p:nvPr/>
          </p:nvSpPr>
          <p:spPr>
            <a:xfrm>
              <a:off x="0" y="-66675"/>
              <a:ext cx="847816" cy="585322"/>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La MFA combina múltiples métodos de autenticación, como contraseñas, autenticación biométrica o tokens, para verificar la identidad de los usuarios</a:t>
              </a:r>
              <a:endParaRPr/>
            </a:p>
          </p:txBody>
        </p:sp>
      </p:grpSp>
      <p:grpSp>
        <p:nvGrpSpPr>
          <p:cNvPr id="442" name="Google Shape;442;p28"/>
          <p:cNvGrpSpPr/>
          <p:nvPr/>
        </p:nvGrpSpPr>
        <p:grpSpPr>
          <a:xfrm>
            <a:off x="7533589" y="6516378"/>
            <a:ext cx="3219051" cy="1974744"/>
            <a:chOff x="0" y="-66675"/>
            <a:chExt cx="847816" cy="520097"/>
          </a:xfrm>
        </p:grpSpPr>
        <p:sp>
          <p:nvSpPr>
            <p:cNvPr id="443" name="Google Shape;443;p28"/>
            <p:cNvSpPr/>
            <p:nvPr/>
          </p:nvSpPr>
          <p:spPr>
            <a:xfrm>
              <a:off x="0" y="0"/>
              <a:ext cx="847816" cy="453422"/>
            </a:xfrm>
            <a:custGeom>
              <a:rect b="b" l="l" r="r" t="t"/>
              <a:pathLst>
                <a:path extrusionOk="0" h="453422" w="847816">
                  <a:moveTo>
                    <a:pt x="122657" y="0"/>
                  </a:moveTo>
                  <a:lnTo>
                    <a:pt x="725159" y="0"/>
                  </a:lnTo>
                  <a:cubicBezTo>
                    <a:pt x="792901" y="0"/>
                    <a:pt x="847816" y="54915"/>
                    <a:pt x="847816" y="122657"/>
                  </a:cubicBezTo>
                  <a:lnTo>
                    <a:pt x="847816" y="330765"/>
                  </a:lnTo>
                  <a:cubicBezTo>
                    <a:pt x="847816" y="398507"/>
                    <a:pt x="792901" y="453422"/>
                    <a:pt x="725159" y="453422"/>
                  </a:cubicBezTo>
                  <a:lnTo>
                    <a:pt x="122657" y="453422"/>
                  </a:lnTo>
                  <a:cubicBezTo>
                    <a:pt x="54915" y="453422"/>
                    <a:pt x="0" y="398507"/>
                    <a:pt x="0" y="330765"/>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8"/>
            <p:cNvSpPr txBox="1"/>
            <p:nvPr/>
          </p:nvSpPr>
          <p:spPr>
            <a:xfrm>
              <a:off x="0" y="-66675"/>
              <a:ext cx="847816" cy="520097"/>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Configurar permisos detallados que definan qué usuarios o grupos pueden leer, escribir, modificar o eliminar archivos o carpetas específicos.</a:t>
              </a:r>
              <a:endParaRPr/>
            </a:p>
          </p:txBody>
        </p:sp>
      </p:grpSp>
      <p:grpSp>
        <p:nvGrpSpPr>
          <p:cNvPr id="445" name="Google Shape;445;p28"/>
          <p:cNvGrpSpPr/>
          <p:nvPr/>
        </p:nvGrpSpPr>
        <p:grpSpPr>
          <a:xfrm>
            <a:off x="13061266" y="6268728"/>
            <a:ext cx="3219051" cy="1910030"/>
            <a:chOff x="0" y="-66675"/>
            <a:chExt cx="847816" cy="503053"/>
          </a:xfrm>
        </p:grpSpPr>
        <p:sp>
          <p:nvSpPr>
            <p:cNvPr id="446" name="Google Shape;446;p28"/>
            <p:cNvSpPr/>
            <p:nvPr/>
          </p:nvSpPr>
          <p:spPr>
            <a:xfrm>
              <a:off x="0" y="0"/>
              <a:ext cx="847816" cy="436378"/>
            </a:xfrm>
            <a:custGeom>
              <a:rect b="b" l="l" r="r" t="t"/>
              <a:pathLst>
                <a:path extrusionOk="0" h="436378" w="847816">
                  <a:moveTo>
                    <a:pt x="122657" y="0"/>
                  </a:moveTo>
                  <a:lnTo>
                    <a:pt x="725159" y="0"/>
                  </a:lnTo>
                  <a:cubicBezTo>
                    <a:pt x="792901" y="0"/>
                    <a:pt x="847816" y="54915"/>
                    <a:pt x="847816" y="122657"/>
                  </a:cubicBezTo>
                  <a:lnTo>
                    <a:pt x="847816" y="313721"/>
                  </a:lnTo>
                  <a:cubicBezTo>
                    <a:pt x="847816" y="346252"/>
                    <a:pt x="834893" y="377450"/>
                    <a:pt x="811891" y="400453"/>
                  </a:cubicBezTo>
                  <a:cubicBezTo>
                    <a:pt x="788888" y="423455"/>
                    <a:pt x="757690" y="436378"/>
                    <a:pt x="725159" y="436378"/>
                  </a:cubicBezTo>
                  <a:lnTo>
                    <a:pt x="122657" y="436378"/>
                  </a:lnTo>
                  <a:cubicBezTo>
                    <a:pt x="54915" y="436378"/>
                    <a:pt x="0" y="381463"/>
                    <a:pt x="0" y="313721"/>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8"/>
            <p:cNvSpPr txBox="1"/>
            <p:nvPr/>
          </p:nvSpPr>
          <p:spPr>
            <a:xfrm>
              <a:off x="0" y="-66675"/>
              <a:ext cx="847816" cy="503053"/>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gistrar las actividades de acceso a los datos, como accesos exitosos, intentos fallidos o modificaciones</a:t>
              </a:r>
              <a:endParaRPr/>
            </a:p>
          </p:txBody>
        </p:sp>
      </p:grpSp>
      <p:grpSp>
        <p:nvGrpSpPr>
          <p:cNvPr id="448" name="Google Shape;448;p28"/>
          <p:cNvGrpSpPr/>
          <p:nvPr/>
        </p:nvGrpSpPr>
        <p:grpSpPr>
          <a:xfrm>
            <a:off x="7534474" y="4264305"/>
            <a:ext cx="3238101" cy="1390804"/>
            <a:chOff x="0" y="-104775"/>
            <a:chExt cx="852833" cy="366303"/>
          </a:xfrm>
        </p:grpSpPr>
        <p:sp>
          <p:nvSpPr>
            <p:cNvPr id="449" name="Google Shape;449;p28"/>
            <p:cNvSpPr/>
            <p:nvPr/>
          </p:nvSpPr>
          <p:spPr>
            <a:xfrm>
              <a:off x="0" y="0"/>
              <a:ext cx="852833" cy="261528"/>
            </a:xfrm>
            <a:custGeom>
              <a:rect b="b" l="l" r="r" t="t"/>
              <a:pathLst>
                <a:path extrusionOk="0" h="261528" w="852833">
                  <a:moveTo>
                    <a:pt x="121935" y="0"/>
                  </a:moveTo>
                  <a:lnTo>
                    <a:pt x="730898" y="0"/>
                  </a:lnTo>
                  <a:cubicBezTo>
                    <a:pt x="798241" y="0"/>
                    <a:pt x="852833" y="54592"/>
                    <a:pt x="852833" y="121935"/>
                  </a:cubicBezTo>
                  <a:lnTo>
                    <a:pt x="852833" y="139593"/>
                  </a:lnTo>
                  <a:cubicBezTo>
                    <a:pt x="852833" y="206935"/>
                    <a:pt x="798241" y="261528"/>
                    <a:pt x="730898" y="261528"/>
                  </a:cubicBezTo>
                  <a:lnTo>
                    <a:pt x="121935" y="261528"/>
                  </a:lnTo>
                  <a:cubicBezTo>
                    <a:pt x="54592" y="261528"/>
                    <a:pt x="0" y="206935"/>
                    <a:pt x="0" y="139593"/>
                  </a:cubicBezTo>
                  <a:lnTo>
                    <a:pt x="0" y="121935"/>
                  </a:lnTo>
                  <a:cubicBezTo>
                    <a:pt x="0" y="54592"/>
                    <a:pt x="54592" y="0"/>
                    <a:pt x="121935"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8"/>
            <p:cNvSpPr txBox="1"/>
            <p:nvPr/>
          </p:nvSpPr>
          <p:spPr>
            <a:xfrm>
              <a:off x="0" y="-104775"/>
              <a:ext cx="852833" cy="366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Implementación de Permisos Granulares</a:t>
              </a:r>
              <a:endParaRPr/>
            </a:p>
          </p:txBody>
        </p:sp>
      </p:grpSp>
      <p:grpSp>
        <p:nvGrpSpPr>
          <p:cNvPr id="451" name="Google Shape;451;p28"/>
          <p:cNvGrpSpPr/>
          <p:nvPr/>
        </p:nvGrpSpPr>
        <p:grpSpPr>
          <a:xfrm>
            <a:off x="13058576" y="4264305"/>
            <a:ext cx="3219051" cy="1223743"/>
            <a:chOff x="0" y="-104775"/>
            <a:chExt cx="847816" cy="322303"/>
          </a:xfrm>
        </p:grpSpPr>
        <p:sp>
          <p:nvSpPr>
            <p:cNvPr id="452" name="Google Shape;452;p28"/>
            <p:cNvSpPr/>
            <p:nvPr/>
          </p:nvSpPr>
          <p:spPr>
            <a:xfrm>
              <a:off x="0" y="0"/>
              <a:ext cx="847816" cy="217528"/>
            </a:xfrm>
            <a:custGeom>
              <a:rect b="b" l="l" r="r" t="t"/>
              <a:pathLst>
                <a:path extrusionOk="0" h="217528" w="847816">
                  <a:moveTo>
                    <a:pt x="108764" y="0"/>
                  </a:moveTo>
                  <a:lnTo>
                    <a:pt x="739052" y="0"/>
                  </a:lnTo>
                  <a:cubicBezTo>
                    <a:pt x="799121" y="0"/>
                    <a:pt x="847816" y="48695"/>
                    <a:pt x="847816" y="108764"/>
                  </a:cubicBezTo>
                  <a:lnTo>
                    <a:pt x="847816" y="108764"/>
                  </a:lnTo>
                  <a:cubicBezTo>
                    <a:pt x="847816" y="168833"/>
                    <a:pt x="799121" y="217528"/>
                    <a:pt x="739052" y="217528"/>
                  </a:cubicBezTo>
                  <a:lnTo>
                    <a:pt x="108764" y="217528"/>
                  </a:lnTo>
                  <a:cubicBezTo>
                    <a:pt x="48695" y="217528"/>
                    <a:pt x="0" y="168833"/>
                    <a:pt x="0" y="108764"/>
                  </a:cubicBezTo>
                  <a:lnTo>
                    <a:pt x="0" y="108764"/>
                  </a:lnTo>
                  <a:cubicBezTo>
                    <a:pt x="0" y="48695"/>
                    <a:pt x="48695" y="0"/>
                    <a:pt x="108764"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
            <p:cNvSpPr txBox="1"/>
            <p:nvPr/>
          </p:nvSpPr>
          <p:spPr>
            <a:xfrm>
              <a:off x="0" y="-104775"/>
              <a:ext cx="847816" cy="322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Monitoreo y Registro de Accesos</a:t>
              </a:r>
              <a:endParaRPr/>
            </a:p>
          </p:txBody>
        </p:sp>
      </p:grpSp>
      <p:sp>
        <p:nvSpPr>
          <p:cNvPr id="454" name="Google Shape;454;p28"/>
          <p:cNvSpPr txBox="1"/>
          <p:nvPr/>
        </p:nvSpPr>
        <p:spPr>
          <a:xfrm>
            <a:off x="3409047" y="581087"/>
            <a:ext cx="11013600" cy="1327200"/>
          </a:xfrm>
          <a:prstGeom prst="rect">
            <a:avLst/>
          </a:prstGeom>
          <a:noFill/>
          <a:ln>
            <a:noFill/>
          </a:ln>
        </p:spPr>
        <p:txBody>
          <a:bodyPr anchorCtr="0" anchor="t" bIns="0" lIns="0" spcFirstLastPara="1" rIns="0" wrap="square" tIns="0">
            <a:spAutoFit/>
          </a:bodyPr>
          <a:lstStyle/>
          <a:p>
            <a:pPr indent="0" lvl="0" marL="0" marR="0" rtl="0" algn="ctr">
              <a:lnSpc>
                <a:spcPct val="97999"/>
              </a:lnSpc>
              <a:spcBef>
                <a:spcPts val="0"/>
              </a:spcBef>
              <a:spcAft>
                <a:spcPts val="0"/>
              </a:spcAft>
              <a:buNone/>
            </a:pPr>
            <a:r>
              <a:rPr b="1" i="0" lang="en-US" sz="4399" u="none" cap="none" strike="noStrike">
                <a:solidFill>
                  <a:srgbClr val="FFFFFF"/>
                </a:solidFill>
                <a:latin typeface="Arial"/>
                <a:ea typeface="Arial"/>
                <a:cs typeface="Arial"/>
                <a:sym typeface="Arial"/>
              </a:rPr>
              <a:t>Control de acceso de usuarios a los datos</a:t>
            </a:r>
            <a:endParaRPr/>
          </a:p>
        </p:txBody>
      </p:sp>
      <p:cxnSp>
        <p:nvCxnSpPr>
          <p:cNvPr id="455" name="Google Shape;455;p28"/>
          <p:cNvCxnSpPr/>
          <p:nvPr/>
        </p:nvCxnSpPr>
        <p:spPr>
          <a:xfrm flipH="1">
            <a:off x="3615438" y="3032897"/>
            <a:ext cx="3675292" cy="1629226"/>
          </a:xfrm>
          <a:prstGeom prst="straightConnector1">
            <a:avLst/>
          </a:prstGeom>
          <a:noFill/>
          <a:ln cap="flat" cmpd="sng" w="38100">
            <a:solidFill>
              <a:srgbClr val="FFFFFF"/>
            </a:solidFill>
            <a:prstDash val="solid"/>
            <a:round/>
            <a:headEnd len="sm" w="sm" type="none"/>
            <a:tailEnd len="med" w="med" type="stealth"/>
          </a:ln>
        </p:spPr>
      </p:cxnSp>
      <p:cxnSp>
        <p:nvCxnSpPr>
          <p:cNvPr id="456" name="Google Shape;456;p28"/>
          <p:cNvCxnSpPr/>
          <p:nvPr/>
        </p:nvCxnSpPr>
        <p:spPr>
          <a:xfrm rot="10800000">
            <a:off x="9144000" y="3551113"/>
            <a:ext cx="9525" cy="1111009"/>
          </a:xfrm>
          <a:prstGeom prst="straightConnector1">
            <a:avLst/>
          </a:prstGeom>
          <a:noFill/>
          <a:ln cap="flat" cmpd="sng" w="38100">
            <a:solidFill>
              <a:srgbClr val="FFFFFF"/>
            </a:solidFill>
            <a:prstDash val="solid"/>
            <a:round/>
            <a:headEnd len="med" w="med" type="stealth"/>
            <a:tailEnd len="sm" w="sm" type="none"/>
          </a:ln>
        </p:spPr>
      </p:cxnSp>
      <p:cxnSp>
        <p:nvCxnSpPr>
          <p:cNvPr id="457" name="Google Shape;457;p28"/>
          <p:cNvCxnSpPr/>
          <p:nvPr/>
        </p:nvCxnSpPr>
        <p:spPr>
          <a:xfrm>
            <a:off x="10997270" y="3032897"/>
            <a:ext cx="3670831" cy="1629226"/>
          </a:xfrm>
          <a:prstGeom prst="straightConnector1">
            <a:avLst/>
          </a:prstGeom>
          <a:noFill/>
          <a:ln cap="flat" cmpd="sng" w="38100">
            <a:solidFill>
              <a:srgbClr val="FFFFFF"/>
            </a:solidFill>
            <a:prstDash val="solid"/>
            <a:round/>
            <a:headEnd len="sm" w="sm" type="none"/>
            <a:tailEnd len="med" w="med" type="stealth"/>
          </a:ln>
        </p:spPr>
      </p:cxnSp>
      <p:cxnSp>
        <p:nvCxnSpPr>
          <p:cNvPr id="458" name="Google Shape;458;p28"/>
          <p:cNvCxnSpPr/>
          <p:nvPr/>
        </p:nvCxnSpPr>
        <p:spPr>
          <a:xfrm>
            <a:off x="3615438" y="5488049"/>
            <a:ext cx="0" cy="1200150"/>
          </a:xfrm>
          <a:prstGeom prst="straightConnector1">
            <a:avLst/>
          </a:prstGeom>
          <a:noFill/>
          <a:ln cap="flat" cmpd="sng" w="38100">
            <a:solidFill>
              <a:srgbClr val="FFFFFF"/>
            </a:solidFill>
            <a:prstDash val="solid"/>
            <a:round/>
            <a:headEnd len="sm" w="sm" type="none"/>
            <a:tailEnd len="med" w="med" type="stealth"/>
          </a:ln>
        </p:spPr>
      </p:cxnSp>
      <p:cxnSp>
        <p:nvCxnSpPr>
          <p:cNvPr id="459" name="Google Shape;459;p28"/>
          <p:cNvCxnSpPr/>
          <p:nvPr/>
        </p:nvCxnSpPr>
        <p:spPr>
          <a:xfrm flipH="1">
            <a:off x="9143115" y="5655110"/>
            <a:ext cx="10410" cy="1114425"/>
          </a:xfrm>
          <a:prstGeom prst="straightConnector1">
            <a:avLst/>
          </a:prstGeom>
          <a:noFill/>
          <a:ln cap="flat" cmpd="sng" w="38100">
            <a:solidFill>
              <a:srgbClr val="FFFFFF"/>
            </a:solidFill>
            <a:prstDash val="solid"/>
            <a:round/>
            <a:headEnd len="sm" w="sm" type="none"/>
            <a:tailEnd len="med" w="med" type="stealth"/>
          </a:ln>
        </p:spPr>
      </p:cxnSp>
      <p:cxnSp>
        <p:nvCxnSpPr>
          <p:cNvPr id="460" name="Google Shape;460;p28"/>
          <p:cNvCxnSpPr/>
          <p:nvPr/>
        </p:nvCxnSpPr>
        <p:spPr>
          <a:xfrm rot="10800000">
            <a:off x="14668101" y="5488049"/>
            <a:ext cx="2690" cy="1033836"/>
          </a:xfrm>
          <a:prstGeom prst="straightConnector1">
            <a:avLst/>
          </a:prstGeom>
          <a:noFill/>
          <a:ln cap="flat" cmpd="sng" w="38100">
            <a:solidFill>
              <a:srgbClr val="FFFFFF"/>
            </a:solidFill>
            <a:prstDash val="solid"/>
            <a:round/>
            <a:headEnd len="med" w="med" type="stealth"/>
            <a:tailEnd len="sm" w="sm"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466" name="Google Shape;466;p29"/>
          <p:cNvGrpSpPr/>
          <p:nvPr/>
        </p:nvGrpSpPr>
        <p:grpSpPr>
          <a:xfrm>
            <a:off x="7290730" y="2116862"/>
            <a:ext cx="3706540" cy="1434251"/>
            <a:chOff x="0" y="-104775"/>
            <a:chExt cx="976208" cy="377745"/>
          </a:xfrm>
        </p:grpSpPr>
        <p:sp>
          <p:nvSpPr>
            <p:cNvPr id="467" name="Google Shape;467;p29"/>
            <p:cNvSpPr/>
            <p:nvPr/>
          </p:nvSpPr>
          <p:spPr>
            <a:xfrm>
              <a:off x="0" y="0"/>
              <a:ext cx="976208" cy="272970"/>
            </a:xfrm>
            <a:custGeom>
              <a:rect b="b" l="l" r="r" t="t"/>
              <a:pathLst>
                <a:path extrusionOk="0" h="272970" w="976208">
                  <a:moveTo>
                    <a:pt x="106525" y="0"/>
                  </a:moveTo>
                  <a:lnTo>
                    <a:pt x="869683" y="0"/>
                  </a:lnTo>
                  <a:cubicBezTo>
                    <a:pt x="928515" y="0"/>
                    <a:pt x="976208" y="47693"/>
                    <a:pt x="976208" y="106525"/>
                  </a:cubicBezTo>
                  <a:lnTo>
                    <a:pt x="976208" y="166445"/>
                  </a:lnTo>
                  <a:cubicBezTo>
                    <a:pt x="976208" y="194697"/>
                    <a:pt x="964985" y="221792"/>
                    <a:pt x="945008" y="241770"/>
                  </a:cubicBezTo>
                  <a:cubicBezTo>
                    <a:pt x="925030" y="261747"/>
                    <a:pt x="897936" y="272970"/>
                    <a:pt x="869683" y="272970"/>
                  </a:cubicBezTo>
                  <a:lnTo>
                    <a:pt x="106525" y="272970"/>
                  </a:lnTo>
                  <a:cubicBezTo>
                    <a:pt x="78273" y="272970"/>
                    <a:pt x="51178" y="261747"/>
                    <a:pt x="31200" y="241770"/>
                  </a:cubicBezTo>
                  <a:cubicBezTo>
                    <a:pt x="11223" y="221792"/>
                    <a:pt x="0" y="194697"/>
                    <a:pt x="0" y="166445"/>
                  </a:cubicBezTo>
                  <a:lnTo>
                    <a:pt x="0" y="106525"/>
                  </a:lnTo>
                  <a:cubicBezTo>
                    <a:pt x="0" y="78273"/>
                    <a:pt x="11223" y="51178"/>
                    <a:pt x="31200" y="31200"/>
                  </a:cubicBezTo>
                  <a:cubicBezTo>
                    <a:pt x="51178" y="11223"/>
                    <a:pt x="78273" y="0"/>
                    <a:pt x="106525"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9"/>
            <p:cNvSpPr txBox="1"/>
            <p:nvPr/>
          </p:nvSpPr>
          <p:spPr>
            <a:xfrm>
              <a:off x="0" y="-104775"/>
              <a:ext cx="976208" cy="37774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Modelos de Control de Acceso</a:t>
              </a:r>
              <a:endParaRPr/>
            </a:p>
          </p:txBody>
        </p:sp>
      </p:grpSp>
      <p:grpSp>
        <p:nvGrpSpPr>
          <p:cNvPr id="469" name="Google Shape;469;p29"/>
          <p:cNvGrpSpPr/>
          <p:nvPr/>
        </p:nvGrpSpPr>
        <p:grpSpPr>
          <a:xfrm>
            <a:off x="2005912" y="4264304"/>
            <a:ext cx="3219051" cy="1568631"/>
            <a:chOff x="0" y="-104775"/>
            <a:chExt cx="847816" cy="413137"/>
          </a:xfrm>
        </p:grpSpPr>
        <p:sp>
          <p:nvSpPr>
            <p:cNvPr id="470" name="Google Shape;470;p29"/>
            <p:cNvSpPr/>
            <p:nvPr/>
          </p:nvSpPr>
          <p:spPr>
            <a:xfrm>
              <a:off x="0" y="0"/>
              <a:ext cx="847816" cy="308362"/>
            </a:xfrm>
            <a:custGeom>
              <a:rect b="b" l="l" r="r" t="t"/>
              <a:pathLst>
                <a:path extrusionOk="0" h="308362" w="847816">
                  <a:moveTo>
                    <a:pt x="122657" y="0"/>
                  </a:moveTo>
                  <a:lnTo>
                    <a:pt x="725159" y="0"/>
                  </a:lnTo>
                  <a:cubicBezTo>
                    <a:pt x="792901" y="0"/>
                    <a:pt x="847816" y="54915"/>
                    <a:pt x="847816" y="122657"/>
                  </a:cubicBezTo>
                  <a:lnTo>
                    <a:pt x="847816" y="185706"/>
                  </a:lnTo>
                  <a:cubicBezTo>
                    <a:pt x="847816" y="253447"/>
                    <a:pt x="792901" y="308362"/>
                    <a:pt x="725159" y="308362"/>
                  </a:cubicBezTo>
                  <a:lnTo>
                    <a:pt x="122657" y="308362"/>
                  </a:lnTo>
                  <a:cubicBezTo>
                    <a:pt x="54915" y="308362"/>
                    <a:pt x="0" y="253447"/>
                    <a:pt x="0" y="185706"/>
                  </a:cubicBezTo>
                  <a:lnTo>
                    <a:pt x="0" y="122657"/>
                  </a:lnTo>
                  <a:cubicBezTo>
                    <a:pt x="0" y="54915"/>
                    <a:pt x="54915" y="0"/>
                    <a:pt x="122657"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9"/>
            <p:cNvSpPr txBox="1"/>
            <p:nvPr/>
          </p:nvSpPr>
          <p:spPr>
            <a:xfrm>
              <a:off x="0" y="-104775"/>
              <a:ext cx="847816" cy="413137"/>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Políticas y Procedimientos de Control de Acceso</a:t>
              </a:r>
              <a:endParaRPr/>
            </a:p>
          </p:txBody>
        </p:sp>
      </p:grpSp>
      <p:grpSp>
        <p:nvGrpSpPr>
          <p:cNvPr id="472" name="Google Shape;472;p29"/>
          <p:cNvGrpSpPr/>
          <p:nvPr/>
        </p:nvGrpSpPr>
        <p:grpSpPr>
          <a:xfrm>
            <a:off x="2005912" y="6435042"/>
            <a:ext cx="3219051" cy="1910030"/>
            <a:chOff x="0" y="-66675"/>
            <a:chExt cx="847816" cy="503053"/>
          </a:xfrm>
        </p:grpSpPr>
        <p:sp>
          <p:nvSpPr>
            <p:cNvPr id="473" name="Google Shape;473;p29"/>
            <p:cNvSpPr/>
            <p:nvPr/>
          </p:nvSpPr>
          <p:spPr>
            <a:xfrm>
              <a:off x="0" y="0"/>
              <a:ext cx="847816" cy="436378"/>
            </a:xfrm>
            <a:custGeom>
              <a:rect b="b" l="l" r="r" t="t"/>
              <a:pathLst>
                <a:path extrusionOk="0" h="436378" w="847816">
                  <a:moveTo>
                    <a:pt x="122657" y="0"/>
                  </a:moveTo>
                  <a:lnTo>
                    <a:pt x="725159" y="0"/>
                  </a:lnTo>
                  <a:cubicBezTo>
                    <a:pt x="792901" y="0"/>
                    <a:pt x="847816" y="54915"/>
                    <a:pt x="847816" y="122657"/>
                  </a:cubicBezTo>
                  <a:lnTo>
                    <a:pt x="847816" y="313721"/>
                  </a:lnTo>
                  <a:cubicBezTo>
                    <a:pt x="847816" y="346252"/>
                    <a:pt x="834893" y="377450"/>
                    <a:pt x="811891" y="400453"/>
                  </a:cubicBezTo>
                  <a:cubicBezTo>
                    <a:pt x="788888" y="423455"/>
                    <a:pt x="757690" y="436378"/>
                    <a:pt x="725159" y="436378"/>
                  </a:cubicBezTo>
                  <a:lnTo>
                    <a:pt x="122657" y="436378"/>
                  </a:lnTo>
                  <a:cubicBezTo>
                    <a:pt x="54915" y="436378"/>
                    <a:pt x="0" y="381463"/>
                    <a:pt x="0" y="313721"/>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9"/>
            <p:cNvSpPr txBox="1"/>
            <p:nvPr/>
          </p:nvSpPr>
          <p:spPr>
            <a:xfrm>
              <a:off x="0" y="-66675"/>
              <a:ext cx="847816" cy="503053"/>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Los usuarios solo deben tener los permisos estrictamente necesarios para realizar su trabajo.</a:t>
              </a:r>
              <a:endParaRPr/>
            </a:p>
          </p:txBody>
        </p:sp>
      </p:grpSp>
      <p:grpSp>
        <p:nvGrpSpPr>
          <p:cNvPr id="475" name="Google Shape;475;p29"/>
          <p:cNvGrpSpPr/>
          <p:nvPr/>
        </p:nvGrpSpPr>
        <p:grpSpPr>
          <a:xfrm>
            <a:off x="7533589" y="6516378"/>
            <a:ext cx="3219051" cy="1974744"/>
            <a:chOff x="0" y="-66675"/>
            <a:chExt cx="847816" cy="520097"/>
          </a:xfrm>
        </p:grpSpPr>
        <p:sp>
          <p:nvSpPr>
            <p:cNvPr id="476" name="Google Shape;476;p29"/>
            <p:cNvSpPr/>
            <p:nvPr/>
          </p:nvSpPr>
          <p:spPr>
            <a:xfrm>
              <a:off x="0" y="0"/>
              <a:ext cx="847816" cy="453422"/>
            </a:xfrm>
            <a:custGeom>
              <a:rect b="b" l="l" r="r" t="t"/>
              <a:pathLst>
                <a:path extrusionOk="0" h="453422" w="847816">
                  <a:moveTo>
                    <a:pt x="122657" y="0"/>
                  </a:moveTo>
                  <a:lnTo>
                    <a:pt x="725159" y="0"/>
                  </a:lnTo>
                  <a:cubicBezTo>
                    <a:pt x="792901" y="0"/>
                    <a:pt x="847816" y="54915"/>
                    <a:pt x="847816" y="122657"/>
                  </a:cubicBezTo>
                  <a:lnTo>
                    <a:pt x="847816" y="330765"/>
                  </a:lnTo>
                  <a:cubicBezTo>
                    <a:pt x="847816" y="398507"/>
                    <a:pt x="792901" y="453422"/>
                    <a:pt x="725159" y="453422"/>
                  </a:cubicBezTo>
                  <a:lnTo>
                    <a:pt x="122657" y="453422"/>
                  </a:lnTo>
                  <a:cubicBezTo>
                    <a:pt x="54915" y="453422"/>
                    <a:pt x="0" y="398507"/>
                    <a:pt x="0" y="330765"/>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9"/>
            <p:cNvSpPr txBox="1"/>
            <p:nvPr/>
          </p:nvSpPr>
          <p:spPr>
            <a:xfrm>
              <a:off x="0" y="-66675"/>
              <a:ext cx="847816" cy="520097"/>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Los proveedores de nube suelen ofrecer controles granulares de acceso a recursos, como AWS Identity and Access Management (IAM).</a:t>
              </a:r>
              <a:endParaRPr/>
            </a:p>
          </p:txBody>
        </p:sp>
      </p:grpSp>
      <p:grpSp>
        <p:nvGrpSpPr>
          <p:cNvPr id="478" name="Google Shape;478;p29"/>
          <p:cNvGrpSpPr/>
          <p:nvPr/>
        </p:nvGrpSpPr>
        <p:grpSpPr>
          <a:xfrm>
            <a:off x="13061266" y="6268728"/>
            <a:ext cx="3219051" cy="2222394"/>
            <a:chOff x="0" y="-66675"/>
            <a:chExt cx="847816" cy="585322"/>
          </a:xfrm>
        </p:grpSpPr>
        <p:sp>
          <p:nvSpPr>
            <p:cNvPr id="479" name="Google Shape;479;p29"/>
            <p:cNvSpPr/>
            <p:nvPr/>
          </p:nvSpPr>
          <p:spPr>
            <a:xfrm>
              <a:off x="0" y="0"/>
              <a:ext cx="847816" cy="518647"/>
            </a:xfrm>
            <a:custGeom>
              <a:rect b="b" l="l" r="r" t="t"/>
              <a:pathLst>
                <a:path extrusionOk="0" h="518647" w="847816">
                  <a:moveTo>
                    <a:pt x="122657" y="0"/>
                  </a:moveTo>
                  <a:lnTo>
                    <a:pt x="725159" y="0"/>
                  </a:lnTo>
                  <a:cubicBezTo>
                    <a:pt x="792901" y="0"/>
                    <a:pt x="847816" y="54915"/>
                    <a:pt x="847816" y="122657"/>
                  </a:cubicBezTo>
                  <a:lnTo>
                    <a:pt x="847816" y="395990"/>
                  </a:lnTo>
                  <a:cubicBezTo>
                    <a:pt x="847816" y="428521"/>
                    <a:pt x="834893" y="459719"/>
                    <a:pt x="811891" y="482721"/>
                  </a:cubicBezTo>
                  <a:cubicBezTo>
                    <a:pt x="788888" y="505724"/>
                    <a:pt x="757690" y="518647"/>
                    <a:pt x="725159" y="518647"/>
                  </a:cubicBezTo>
                  <a:lnTo>
                    <a:pt x="122657" y="518647"/>
                  </a:lnTo>
                  <a:cubicBezTo>
                    <a:pt x="54915" y="518647"/>
                    <a:pt x="0" y="463731"/>
                    <a:pt x="0" y="395990"/>
                  </a:cubicBezTo>
                  <a:lnTo>
                    <a:pt x="0" y="122657"/>
                  </a:lnTo>
                  <a:cubicBezTo>
                    <a:pt x="0" y="54915"/>
                    <a:pt x="54915" y="0"/>
                    <a:pt x="122657" y="0"/>
                  </a:cubicBezTo>
                  <a:close/>
                </a:path>
              </a:pathLst>
            </a:custGeom>
            <a:solidFill>
              <a:srgbClr val="000000">
                <a:alpha val="0"/>
              </a:srgbClr>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9"/>
            <p:cNvSpPr txBox="1"/>
            <p:nvPr/>
          </p:nvSpPr>
          <p:spPr>
            <a:xfrm>
              <a:off x="0" y="-66675"/>
              <a:ext cx="847816" cy="585322"/>
            </a:xfrm>
            <a:prstGeom prst="rect">
              <a:avLst/>
            </a:prstGeom>
            <a:noFill/>
            <a:ln>
              <a:noFill/>
            </a:ln>
          </p:spPr>
          <p:txBody>
            <a:bodyPr anchorCtr="0" anchor="t" bIns="254000" lIns="254000" spcFirstLastPara="1" rIns="254000" wrap="square" tIns="254000">
              <a:noAutofit/>
            </a:bodyPr>
            <a:lstStyle/>
            <a:p>
              <a:pPr indent="0" lvl="0" marL="0" marR="0" rtl="0" algn="l">
                <a:lnSpc>
                  <a:spcPct val="140000"/>
                </a:lnSpc>
                <a:spcBef>
                  <a:spcPts val="0"/>
                </a:spcBef>
                <a:spcAft>
                  <a:spcPts val="0"/>
                </a:spcAft>
                <a:buNone/>
              </a:pPr>
              <a:r>
                <a:rPr b="0" i="0" lang="en-US" sz="1400" u="none" cap="none" strike="noStrike">
                  <a:solidFill>
                    <a:srgbClr val="FFFFFF"/>
                  </a:solidFill>
                  <a:latin typeface="Arial"/>
                  <a:ea typeface="Arial"/>
                  <a:cs typeface="Arial"/>
                  <a:sym typeface="Arial"/>
                </a:rPr>
                <a:t>Realizar auditorías regulares para verificar que los permisos y roles están alineados con las necesidades actuales del personal y los requisitos de seguridad</a:t>
              </a:r>
              <a:endParaRPr/>
            </a:p>
          </p:txBody>
        </p:sp>
      </p:grpSp>
      <p:grpSp>
        <p:nvGrpSpPr>
          <p:cNvPr id="481" name="Google Shape;481;p29"/>
          <p:cNvGrpSpPr/>
          <p:nvPr/>
        </p:nvGrpSpPr>
        <p:grpSpPr>
          <a:xfrm>
            <a:off x="7534474" y="4264305"/>
            <a:ext cx="3238101" cy="1390804"/>
            <a:chOff x="0" y="-104775"/>
            <a:chExt cx="852833" cy="366303"/>
          </a:xfrm>
        </p:grpSpPr>
        <p:sp>
          <p:nvSpPr>
            <p:cNvPr id="482" name="Google Shape;482;p29"/>
            <p:cNvSpPr/>
            <p:nvPr/>
          </p:nvSpPr>
          <p:spPr>
            <a:xfrm>
              <a:off x="0" y="0"/>
              <a:ext cx="852833" cy="261528"/>
            </a:xfrm>
            <a:custGeom>
              <a:rect b="b" l="l" r="r" t="t"/>
              <a:pathLst>
                <a:path extrusionOk="0" h="261528" w="852833">
                  <a:moveTo>
                    <a:pt x="121935" y="0"/>
                  </a:moveTo>
                  <a:lnTo>
                    <a:pt x="730898" y="0"/>
                  </a:lnTo>
                  <a:cubicBezTo>
                    <a:pt x="798241" y="0"/>
                    <a:pt x="852833" y="54592"/>
                    <a:pt x="852833" y="121935"/>
                  </a:cubicBezTo>
                  <a:lnTo>
                    <a:pt x="852833" y="139593"/>
                  </a:lnTo>
                  <a:cubicBezTo>
                    <a:pt x="852833" y="206935"/>
                    <a:pt x="798241" y="261528"/>
                    <a:pt x="730898" y="261528"/>
                  </a:cubicBezTo>
                  <a:lnTo>
                    <a:pt x="121935" y="261528"/>
                  </a:lnTo>
                  <a:cubicBezTo>
                    <a:pt x="54592" y="261528"/>
                    <a:pt x="0" y="206935"/>
                    <a:pt x="0" y="139593"/>
                  </a:cubicBezTo>
                  <a:lnTo>
                    <a:pt x="0" y="121935"/>
                  </a:lnTo>
                  <a:cubicBezTo>
                    <a:pt x="0" y="54592"/>
                    <a:pt x="54592" y="0"/>
                    <a:pt x="121935"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9"/>
            <p:cNvSpPr txBox="1"/>
            <p:nvPr/>
          </p:nvSpPr>
          <p:spPr>
            <a:xfrm>
              <a:off x="0" y="-104775"/>
              <a:ext cx="852833" cy="366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Mecanismos de Control de Acceso en la Nube</a:t>
              </a:r>
              <a:endParaRPr/>
            </a:p>
          </p:txBody>
        </p:sp>
      </p:grpSp>
      <p:grpSp>
        <p:nvGrpSpPr>
          <p:cNvPr id="484" name="Google Shape;484;p29"/>
          <p:cNvGrpSpPr/>
          <p:nvPr/>
        </p:nvGrpSpPr>
        <p:grpSpPr>
          <a:xfrm>
            <a:off x="13058576" y="4264305"/>
            <a:ext cx="3219051" cy="1223743"/>
            <a:chOff x="0" y="-104775"/>
            <a:chExt cx="847816" cy="322303"/>
          </a:xfrm>
        </p:grpSpPr>
        <p:sp>
          <p:nvSpPr>
            <p:cNvPr id="485" name="Google Shape;485;p29"/>
            <p:cNvSpPr/>
            <p:nvPr/>
          </p:nvSpPr>
          <p:spPr>
            <a:xfrm>
              <a:off x="0" y="0"/>
              <a:ext cx="847816" cy="217528"/>
            </a:xfrm>
            <a:custGeom>
              <a:rect b="b" l="l" r="r" t="t"/>
              <a:pathLst>
                <a:path extrusionOk="0" h="217528" w="847816">
                  <a:moveTo>
                    <a:pt x="108764" y="0"/>
                  </a:moveTo>
                  <a:lnTo>
                    <a:pt x="739052" y="0"/>
                  </a:lnTo>
                  <a:cubicBezTo>
                    <a:pt x="799121" y="0"/>
                    <a:pt x="847816" y="48695"/>
                    <a:pt x="847816" y="108764"/>
                  </a:cubicBezTo>
                  <a:lnTo>
                    <a:pt x="847816" y="108764"/>
                  </a:lnTo>
                  <a:cubicBezTo>
                    <a:pt x="847816" y="168833"/>
                    <a:pt x="799121" y="217528"/>
                    <a:pt x="739052" y="217528"/>
                  </a:cubicBezTo>
                  <a:lnTo>
                    <a:pt x="108764" y="217528"/>
                  </a:lnTo>
                  <a:cubicBezTo>
                    <a:pt x="48695" y="217528"/>
                    <a:pt x="0" y="168833"/>
                    <a:pt x="0" y="108764"/>
                  </a:cubicBezTo>
                  <a:lnTo>
                    <a:pt x="0" y="108764"/>
                  </a:lnTo>
                  <a:cubicBezTo>
                    <a:pt x="0" y="48695"/>
                    <a:pt x="48695" y="0"/>
                    <a:pt x="108764" y="0"/>
                  </a:cubicBezTo>
                  <a:close/>
                </a:path>
              </a:pathLst>
            </a:custGeom>
            <a:gradFill>
              <a:gsLst>
                <a:gs pos="0">
                  <a:srgbClr val="FF5757"/>
                </a:gs>
                <a:gs pos="100000">
                  <a:srgbClr val="6B44E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9"/>
            <p:cNvSpPr txBox="1"/>
            <p:nvPr/>
          </p:nvSpPr>
          <p:spPr>
            <a:xfrm>
              <a:off x="0" y="-104775"/>
              <a:ext cx="847816" cy="3223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Auditoría y Revisión Periódica</a:t>
              </a:r>
              <a:endParaRPr/>
            </a:p>
          </p:txBody>
        </p:sp>
      </p:grpSp>
      <p:sp>
        <p:nvSpPr>
          <p:cNvPr id="487" name="Google Shape;487;p29"/>
          <p:cNvSpPr txBox="1"/>
          <p:nvPr/>
        </p:nvSpPr>
        <p:spPr>
          <a:xfrm>
            <a:off x="3409047" y="581087"/>
            <a:ext cx="11013600" cy="1327200"/>
          </a:xfrm>
          <a:prstGeom prst="rect">
            <a:avLst/>
          </a:prstGeom>
          <a:noFill/>
          <a:ln>
            <a:noFill/>
          </a:ln>
        </p:spPr>
        <p:txBody>
          <a:bodyPr anchorCtr="0" anchor="t" bIns="0" lIns="0" spcFirstLastPara="1" rIns="0" wrap="square" tIns="0">
            <a:spAutoFit/>
          </a:bodyPr>
          <a:lstStyle/>
          <a:p>
            <a:pPr indent="0" lvl="0" marL="0" marR="0" rtl="0" algn="ctr">
              <a:lnSpc>
                <a:spcPct val="97999"/>
              </a:lnSpc>
              <a:spcBef>
                <a:spcPts val="0"/>
              </a:spcBef>
              <a:spcAft>
                <a:spcPts val="0"/>
              </a:spcAft>
              <a:buNone/>
            </a:pPr>
            <a:r>
              <a:rPr b="1" i="0" lang="en-US" sz="4399" u="none" cap="none" strike="noStrike">
                <a:solidFill>
                  <a:srgbClr val="FFFFFF"/>
                </a:solidFill>
                <a:latin typeface="Arial"/>
                <a:ea typeface="Arial"/>
                <a:cs typeface="Arial"/>
                <a:sym typeface="Arial"/>
              </a:rPr>
              <a:t>C</a:t>
            </a:r>
            <a:r>
              <a:rPr b="1" lang="en-US" sz="4399">
                <a:solidFill>
                  <a:srgbClr val="FFFFFF"/>
                </a:solidFill>
              </a:rPr>
              <a:t>ontrol</a:t>
            </a:r>
            <a:r>
              <a:rPr b="1" i="0" lang="en-US" sz="4399" u="none" cap="none" strike="noStrike">
                <a:solidFill>
                  <a:srgbClr val="FFFFFF"/>
                </a:solidFill>
                <a:latin typeface="Arial"/>
                <a:ea typeface="Arial"/>
                <a:cs typeface="Arial"/>
                <a:sym typeface="Arial"/>
              </a:rPr>
              <a:t> de acceso de usuarios a los datos</a:t>
            </a:r>
            <a:endParaRPr/>
          </a:p>
        </p:txBody>
      </p:sp>
      <p:cxnSp>
        <p:nvCxnSpPr>
          <p:cNvPr id="488" name="Google Shape;488;p29"/>
          <p:cNvCxnSpPr/>
          <p:nvPr/>
        </p:nvCxnSpPr>
        <p:spPr>
          <a:xfrm flipH="1">
            <a:off x="3615438" y="3032897"/>
            <a:ext cx="3675292" cy="1629226"/>
          </a:xfrm>
          <a:prstGeom prst="straightConnector1">
            <a:avLst/>
          </a:prstGeom>
          <a:noFill/>
          <a:ln cap="flat" cmpd="sng" w="38100">
            <a:solidFill>
              <a:srgbClr val="FFFFFF"/>
            </a:solidFill>
            <a:prstDash val="solid"/>
            <a:round/>
            <a:headEnd len="sm" w="sm" type="none"/>
            <a:tailEnd len="med" w="med" type="stealth"/>
          </a:ln>
        </p:spPr>
      </p:cxnSp>
      <p:cxnSp>
        <p:nvCxnSpPr>
          <p:cNvPr id="489" name="Google Shape;489;p29"/>
          <p:cNvCxnSpPr/>
          <p:nvPr/>
        </p:nvCxnSpPr>
        <p:spPr>
          <a:xfrm rot="10800000">
            <a:off x="9144000" y="3551113"/>
            <a:ext cx="9525" cy="1111009"/>
          </a:xfrm>
          <a:prstGeom prst="straightConnector1">
            <a:avLst/>
          </a:prstGeom>
          <a:noFill/>
          <a:ln cap="flat" cmpd="sng" w="38100">
            <a:solidFill>
              <a:srgbClr val="FFFFFF"/>
            </a:solidFill>
            <a:prstDash val="solid"/>
            <a:round/>
            <a:headEnd len="med" w="med" type="stealth"/>
            <a:tailEnd len="sm" w="sm" type="none"/>
          </a:ln>
        </p:spPr>
      </p:cxnSp>
      <p:cxnSp>
        <p:nvCxnSpPr>
          <p:cNvPr id="490" name="Google Shape;490;p29"/>
          <p:cNvCxnSpPr/>
          <p:nvPr/>
        </p:nvCxnSpPr>
        <p:spPr>
          <a:xfrm>
            <a:off x="10997270" y="3032897"/>
            <a:ext cx="3670831" cy="1629226"/>
          </a:xfrm>
          <a:prstGeom prst="straightConnector1">
            <a:avLst/>
          </a:prstGeom>
          <a:noFill/>
          <a:ln cap="flat" cmpd="sng" w="38100">
            <a:solidFill>
              <a:srgbClr val="FFFFFF"/>
            </a:solidFill>
            <a:prstDash val="solid"/>
            <a:round/>
            <a:headEnd len="sm" w="sm" type="none"/>
            <a:tailEnd len="med" w="med" type="stealth"/>
          </a:ln>
        </p:spPr>
      </p:cxnSp>
      <p:cxnSp>
        <p:nvCxnSpPr>
          <p:cNvPr id="491" name="Google Shape;491;p29"/>
          <p:cNvCxnSpPr/>
          <p:nvPr/>
        </p:nvCxnSpPr>
        <p:spPr>
          <a:xfrm>
            <a:off x="3615438" y="5832935"/>
            <a:ext cx="0" cy="855263"/>
          </a:xfrm>
          <a:prstGeom prst="straightConnector1">
            <a:avLst/>
          </a:prstGeom>
          <a:noFill/>
          <a:ln cap="flat" cmpd="sng" w="38100">
            <a:solidFill>
              <a:srgbClr val="FFFFFF"/>
            </a:solidFill>
            <a:prstDash val="solid"/>
            <a:round/>
            <a:headEnd len="sm" w="sm" type="none"/>
            <a:tailEnd len="med" w="med" type="stealth"/>
          </a:ln>
        </p:spPr>
      </p:cxnSp>
      <p:cxnSp>
        <p:nvCxnSpPr>
          <p:cNvPr id="492" name="Google Shape;492;p29"/>
          <p:cNvCxnSpPr/>
          <p:nvPr/>
        </p:nvCxnSpPr>
        <p:spPr>
          <a:xfrm flipH="1">
            <a:off x="9143115" y="5655110"/>
            <a:ext cx="10410" cy="1114425"/>
          </a:xfrm>
          <a:prstGeom prst="straightConnector1">
            <a:avLst/>
          </a:prstGeom>
          <a:noFill/>
          <a:ln cap="flat" cmpd="sng" w="38100">
            <a:solidFill>
              <a:srgbClr val="FFFFFF"/>
            </a:solidFill>
            <a:prstDash val="solid"/>
            <a:round/>
            <a:headEnd len="sm" w="sm" type="none"/>
            <a:tailEnd len="med" w="med" type="stealth"/>
          </a:ln>
        </p:spPr>
      </p:cxnSp>
      <p:cxnSp>
        <p:nvCxnSpPr>
          <p:cNvPr id="493" name="Google Shape;493;p29"/>
          <p:cNvCxnSpPr/>
          <p:nvPr/>
        </p:nvCxnSpPr>
        <p:spPr>
          <a:xfrm rot="10800000">
            <a:off x="14668101" y="5488049"/>
            <a:ext cx="2690" cy="1033836"/>
          </a:xfrm>
          <a:prstGeom prst="straightConnector1">
            <a:avLst/>
          </a:prstGeom>
          <a:noFill/>
          <a:ln cap="flat" cmpd="sng" w="38100">
            <a:solidFill>
              <a:srgbClr val="FFFFFF"/>
            </a:solidFill>
            <a:prstDash val="solid"/>
            <a:round/>
            <a:headEnd len="med" w="med" type="stealth"/>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grpSp>
        <p:nvGrpSpPr>
          <p:cNvPr id="499" name="Google Shape;499;p30"/>
          <p:cNvGrpSpPr/>
          <p:nvPr/>
        </p:nvGrpSpPr>
        <p:grpSpPr>
          <a:xfrm>
            <a:off x="1028700" y="4074543"/>
            <a:ext cx="16230600" cy="3091450"/>
            <a:chOff x="0" y="-171450"/>
            <a:chExt cx="21640800" cy="4121935"/>
          </a:xfrm>
        </p:grpSpPr>
        <p:sp>
          <p:nvSpPr>
            <p:cNvPr id="500" name="Google Shape;500;p30"/>
            <p:cNvSpPr txBox="1"/>
            <p:nvPr/>
          </p:nvSpPr>
          <p:spPr>
            <a:xfrm>
              <a:off x="0" y="-171450"/>
              <a:ext cx="21640800" cy="3302424"/>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i="0" lang="en-US" sz="8000" u="none" cap="none" strike="noStrike">
                  <a:solidFill>
                    <a:srgbClr val="FFFFFF"/>
                  </a:solidFill>
                  <a:latin typeface="Arial"/>
                  <a:ea typeface="Arial"/>
                  <a:cs typeface="Arial"/>
                  <a:sym typeface="Arial"/>
                </a:rPr>
                <a:t>SEGURIDAD EN EL ALMACENAMIENTO </a:t>
              </a:r>
              <a:endParaRPr/>
            </a:p>
          </p:txBody>
        </p:sp>
        <p:sp>
          <p:nvSpPr>
            <p:cNvPr id="501" name="Google Shape;501;p30"/>
            <p:cNvSpPr txBox="1"/>
            <p:nvPr/>
          </p:nvSpPr>
          <p:spPr>
            <a:xfrm>
              <a:off x="0" y="3288815"/>
              <a:ext cx="21640800" cy="661670"/>
            </a:xfrm>
            <a:prstGeom prst="rect">
              <a:avLst/>
            </a:prstGeom>
            <a:noFill/>
            <a:ln>
              <a:noFill/>
            </a:ln>
          </p:spPr>
          <p:txBody>
            <a:bodyPr anchorCtr="0" anchor="t" bIns="0" lIns="0" spcFirstLastPara="1" rIns="0" wrap="square" tIns="0">
              <a:spAutoFit/>
            </a:bodyPr>
            <a:lstStyle/>
            <a:p>
              <a:pPr indent="0" lvl="0" marL="0" marR="0" rtl="0" algn="ctr">
                <a:lnSpc>
                  <a:spcPct val="185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2" name="Google Shape;502;p30"/>
          <p:cNvSpPr txBox="1"/>
          <p:nvPr/>
        </p:nvSpPr>
        <p:spPr>
          <a:xfrm>
            <a:off x="3140155" y="8499475"/>
            <a:ext cx="12007690" cy="406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AUXILIAR xxxxx</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4116" l="-2624" r="-1774" t="-3017"/>
            </a:stretch>
          </a:blipFill>
          <a:ln>
            <a:noFill/>
          </a:ln>
        </p:spPr>
      </p:sp>
      <p:grpSp>
        <p:nvGrpSpPr>
          <p:cNvPr id="508" name="Google Shape;508;p31"/>
          <p:cNvGrpSpPr/>
          <p:nvPr/>
        </p:nvGrpSpPr>
        <p:grpSpPr>
          <a:xfrm>
            <a:off x="2449303" y="1767007"/>
            <a:ext cx="7828018" cy="5542829"/>
            <a:chOff x="0" y="-171450"/>
            <a:chExt cx="10437357" cy="7390438"/>
          </a:xfrm>
        </p:grpSpPr>
        <p:sp>
          <p:nvSpPr>
            <p:cNvPr id="509" name="Google Shape;509;p31"/>
            <p:cNvSpPr txBox="1"/>
            <p:nvPr/>
          </p:nvSpPr>
          <p:spPr>
            <a:xfrm>
              <a:off x="0" y="-171450"/>
              <a:ext cx="10437357" cy="1399120"/>
            </a:xfrm>
            <a:prstGeom prst="rect">
              <a:avLst/>
            </a:prstGeom>
            <a:noFill/>
            <a:ln>
              <a:noFill/>
            </a:ln>
          </p:spPr>
          <p:txBody>
            <a:bodyPr anchorCtr="0" anchor="t" bIns="0" lIns="0" spcFirstLastPara="1" rIns="0" wrap="square" tIns="0">
              <a:spAutoFit/>
            </a:bodyPr>
            <a:lstStyle/>
            <a:p>
              <a:pPr indent="0" lvl="1" marL="0" marR="0" rtl="0" algn="l">
                <a:lnSpc>
                  <a:spcPct val="118995"/>
                </a:lnSpc>
                <a:spcBef>
                  <a:spcPts val="0"/>
                </a:spcBef>
                <a:spcAft>
                  <a:spcPts val="0"/>
                </a:spcAft>
                <a:buNone/>
              </a:pPr>
              <a:r>
                <a:rPr b="1" i="0" lang="en-US" sz="6112" u="none" cap="none" strike="noStrike">
                  <a:solidFill>
                    <a:srgbClr val="FFFFFF"/>
                  </a:solidFill>
                  <a:latin typeface="Arial"/>
                  <a:ea typeface="Arial"/>
                  <a:cs typeface="Arial"/>
                  <a:sym typeface="Arial"/>
                </a:rPr>
                <a:t>introducción</a:t>
              </a:r>
              <a:endParaRPr/>
            </a:p>
          </p:txBody>
        </p:sp>
        <p:sp>
          <p:nvSpPr>
            <p:cNvPr id="510" name="Google Shape;510;p31"/>
            <p:cNvSpPr txBox="1"/>
            <p:nvPr/>
          </p:nvSpPr>
          <p:spPr>
            <a:xfrm>
              <a:off x="0" y="1614906"/>
              <a:ext cx="10437357" cy="5604082"/>
            </a:xfrm>
            <a:prstGeom prst="rect">
              <a:avLst/>
            </a:prstGeom>
            <a:noFill/>
            <a:ln>
              <a:noFill/>
            </a:ln>
          </p:spPr>
          <p:txBody>
            <a:bodyPr anchorCtr="0" anchor="t" bIns="0" lIns="0" spcFirstLastPara="1" rIns="0" wrap="square" tIns="0">
              <a:spAutoFit/>
            </a:bodyPr>
            <a:lstStyle/>
            <a:p>
              <a:pPr indent="0" lvl="0" marL="0" marR="0" rtl="0" algn="just">
                <a:lnSpc>
                  <a:spcPct val="151007"/>
                </a:lnSpc>
                <a:spcBef>
                  <a:spcPts val="0"/>
                </a:spcBef>
                <a:spcAft>
                  <a:spcPts val="0"/>
                </a:spcAft>
                <a:buNone/>
              </a:pPr>
              <a:r>
                <a:rPr b="0" i="0" lang="en-US" sz="2778" u="none" cap="none" strike="noStrike">
                  <a:solidFill>
                    <a:srgbClr val="FFFFFF"/>
                  </a:solidFill>
                  <a:latin typeface="Arial"/>
                  <a:ea typeface="Arial"/>
                  <a:cs typeface="Arial"/>
                  <a:sym typeface="Arial"/>
                </a:rPr>
                <a:t>La seguridad en el almacenamiento de datos es esencial para proteger la información confidencial y garantizar su integridad y disponibilidad. A medida que los volúmenes de datos crecen y las amenazas se vuelven más sofisticadas, implementar mecanismos de seguridad en los sistemas de almacenamiento es fundamental.</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516" name="Google Shape;516;p32"/>
          <p:cNvSpPr txBox="1"/>
          <p:nvPr/>
        </p:nvSpPr>
        <p:spPr>
          <a:xfrm>
            <a:off x="921986" y="1171330"/>
            <a:ext cx="11013628" cy="645160"/>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Tipos de seguridad</a:t>
            </a:r>
            <a:endParaRPr/>
          </a:p>
        </p:txBody>
      </p:sp>
      <p:grpSp>
        <p:nvGrpSpPr>
          <p:cNvPr id="517" name="Google Shape;517;p32"/>
          <p:cNvGrpSpPr/>
          <p:nvPr/>
        </p:nvGrpSpPr>
        <p:grpSpPr>
          <a:xfrm>
            <a:off x="1906776" y="2884545"/>
            <a:ext cx="4286250" cy="2545301"/>
            <a:chOff x="0" y="-38100"/>
            <a:chExt cx="5715000" cy="3393734"/>
          </a:xfrm>
        </p:grpSpPr>
        <p:sp>
          <p:nvSpPr>
            <p:cNvPr id="518" name="Google Shape;518;p32"/>
            <p:cNvSpPr txBox="1"/>
            <p:nvPr/>
          </p:nvSpPr>
          <p:spPr>
            <a:xfrm>
              <a:off x="0" y="-38100"/>
              <a:ext cx="5715000"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1.</a:t>
              </a:r>
              <a:endParaRPr/>
            </a:p>
          </p:txBody>
        </p:sp>
        <p:sp>
          <p:nvSpPr>
            <p:cNvPr id="519" name="Google Shape;519;p32"/>
            <p:cNvSpPr txBox="1"/>
            <p:nvPr/>
          </p:nvSpPr>
          <p:spPr>
            <a:xfrm>
              <a:off x="0" y="911763"/>
              <a:ext cx="5715000"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Cifrado de Datos</a:t>
              </a:r>
              <a:endParaRPr/>
            </a:p>
          </p:txBody>
        </p:sp>
        <p:sp>
          <p:nvSpPr>
            <p:cNvPr id="520" name="Google Shape;520;p32"/>
            <p:cNvSpPr txBox="1"/>
            <p:nvPr/>
          </p:nvSpPr>
          <p:spPr>
            <a:xfrm>
              <a:off x="0" y="1709248"/>
              <a:ext cx="5715000" cy="16463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Protege los datos almacenados en discos o bases de datos para evitar que sean legibles en caso de robo físico o acceso no autorizado.</a:t>
              </a:r>
              <a:endParaRPr/>
            </a:p>
          </p:txBody>
        </p:sp>
      </p:grpSp>
      <p:grpSp>
        <p:nvGrpSpPr>
          <p:cNvPr id="521" name="Google Shape;521;p32"/>
          <p:cNvGrpSpPr/>
          <p:nvPr/>
        </p:nvGrpSpPr>
        <p:grpSpPr>
          <a:xfrm>
            <a:off x="1906776" y="6049538"/>
            <a:ext cx="4286250" cy="2545705"/>
            <a:chOff x="0" y="-38100"/>
            <a:chExt cx="5715000" cy="3394273"/>
          </a:xfrm>
        </p:grpSpPr>
        <p:sp>
          <p:nvSpPr>
            <p:cNvPr id="522" name="Google Shape;522;p32"/>
            <p:cNvSpPr txBox="1"/>
            <p:nvPr/>
          </p:nvSpPr>
          <p:spPr>
            <a:xfrm>
              <a:off x="0" y="-38100"/>
              <a:ext cx="5715000"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4.</a:t>
              </a:r>
              <a:endParaRPr/>
            </a:p>
          </p:txBody>
        </p:sp>
        <p:sp>
          <p:nvSpPr>
            <p:cNvPr id="523" name="Google Shape;523;p32"/>
            <p:cNvSpPr txBox="1"/>
            <p:nvPr/>
          </p:nvSpPr>
          <p:spPr>
            <a:xfrm>
              <a:off x="0" y="912301"/>
              <a:ext cx="5715000"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Autenticación Multifactor</a:t>
              </a:r>
              <a:endParaRPr/>
            </a:p>
          </p:txBody>
        </p:sp>
        <p:sp>
          <p:nvSpPr>
            <p:cNvPr id="524" name="Google Shape;524;p32"/>
            <p:cNvSpPr txBox="1"/>
            <p:nvPr/>
          </p:nvSpPr>
          <p:spPr>
            <a:xfrm>
              <a:off x="0" y="1709787"/>
              <a:ext cx="5715000" cy="16463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La MFA añade una capa de seguridad adicional que requiere que los usuarios proporcionen dos o más pruebas de identidad</a:t>
              </a:r>
              <a:endParaRPr/>
            </a:p>
          </p:txBody>
        </p:sp>
      </p:grpSp>
      <p:grpSp>
        <p:nvGrpSpPr>
          <p:cNvPr id="525" name="Google Shape;525;p32"/>
          <p:cNvGrpSpPr/>
          <p:nvPr/>
        </p:nvGrpSpPr>
        <p:grpSpPr>
          <a:xfrm>
            <a:off x="7002280" y="2884545"/>
            <a:ext cx="4286250" cy="2545301"/>
            <a:chOff x="0" y="-38100"/>
            <a:chExt cx="5715000" cy="3393734"/>
          </a:xfrm>
        </p:grpSpPr>
        <p:sp>
          <p:nvSpPr>
            <p:cNvPr id="526" name="Google Shape;526;p32"/>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2.</a:t>
              </a:r>
              <a:endParaRPr/>
            </a:p>
          </p:txBody>
        </p:sp>
        <p:sp>
          <p:nvSpPr>
            <p:cNvPr id="527" name="Google Shape;527;p32"/>
            <p:cNvSpPr txBox="1"/>
            <p:nvPr/>
          </p:nvSpPr>
          <p:spPr>
            <a:xfrm>
              <a:off x="2857" y="911763"/>
              <a:ext cx="5712143"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Cifrado en Tránsito</a:t>
              </a:r>
              <a:endParaRPr/>
            </a:p>
          </p:txBody>
        </p:sp>
        <p:sp>
          <p:nvSpPr>
            <p:cNvPr id="528" name="Google Shape;528;p32"/>
            <p:cNvSpPr txBox="1"/>
            <p:nvPr/>
          </p:nvSpPr>
          <p:spPr>
            <a:xfrm>
              <a:off x="2857" y="1709248"/>
              <a:ext cx="5712143" cy="16463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Protege los datos mientras se mueven entre el almacenamiento y el usuario o entre diferentes sistemas, evitando que sean interceptados por terceros</a:t>
              </a:r>
              <a:endParaRPr/>
            </a:p>
          </p:txBody>
        </p:sp>
      </p:grpSp>
      <p:grpSp>
        <p:nvGrpSpPr>
          <p:cNvPr id="529" name="Google Shape;529;p32"/>
          <p:cNvGrpSpPr/>
          <p:nvPr/>
        </p:nvGrpSpPr>
        <p:grpSpPr>
          <a:xfrm>
            <a:off x="7002280" y="6049538"/>
            <a:ext cx="4286250" cy="2898130"/>
            <a:chOff x="0" y="-38100"/>
            <a:chExt cx="5715000" cy="3864173"/>
          </a:xfrm>
        </p:grpSpPr>
        <p:sp>
          <p:nvSpPr>
            <p:cNvPr id="530" name="Google Shape;530;p32"/>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5.</a:t>
              </a:r>
              <a:endParaRPr/>
            </a:p>
          </p:txBody>
        </p:sp>
        <p:sp>
          <p:nvSpPr>
            <p:cNvPr id="531" name="Google Shape;531;p32"/>
            <p:cNvSpPr txBox="1"/>
            <p:nvPr/>
          </p:nvSpPr>
          <p:spPr>
            <a:xfrm>
              <a:off x="2857" y="912301"/>
              <a:ext cx="5712143"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 Protección Contra Malware y Amenazas</a:t>
              </a:r>
              <a:endParaRPr/>
            </a:p>
          </p:txBody>
        </p:sp>
        <p:sp>
          <p:nvSpPr>
            <p:cNvPr id="532" name="Google Shape;532;p32"/>
            <p:cNvSpPr txBox="1"/>
            <p:nvPr/>
          </p:nvSpPr>
          <p:spPr>
            <a:xfrm>
              <a:off x="2857" y="2179687"/>
              <a:ext cx="5712143" cy="16463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mplementar soluciones antimalware en los sistemas de almacenamiento para detectar y mitigar amenazas antes de que infecten o comprometan los datos</a:t>
              </a:r>
              <a:endParaRPr/>
            </a:p>
          </p:txBody>
        </p:sp>
      </p:grpSp>
      <p:grpSp>
        <p:nvGrpSpPr>
          <p:cNvPr id="533" name="Google Shape;533;p32"/>
          <p:cNvGrpSpPr/>
          <p:nvPr/>
        </p:nvGrpSpPr>
        <p:grpSpPr>
          <a:xfrm>
            <a:off x="12094974" y="2884545"/>
            <a:ext cx="4286250" cy="2545301"/>
            <a:chOff x="0" y="-38100"/>
            <a:chExt cx="5715000" cy="3393734"/>
          </a:xfrm>
        </p:grpSpPr>
        <p:sp>
          <p:nvSpPr>
            <p:cNvPr id="534" name="Google Shape;534;p32"/>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3.</a:t>
              </a:r>
              <a:endParaRPr/>
            </a:p>
          </p:txBody>
        </p:sp>
        <p:sp>
          <p:nvSpPr>
            <p:cNvPr id="535" name="Google Shape;535;p32"/>
            <p:cNvSpPr txBox="1"/>
            <p:nvPr/>
          </p:nvSpPr>
          <p:spPr>
            <a:xfrm>
              <a:off x="2857" y="911763"/>
              <a:ext cx="5712143"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Control de Acceso</a:t>
              </a:r>
              <a:endParaRPr/>
            </a:p>
          </p:txBody>
        </p:sp>
        <p:sp>
          <p:nvSpPr>
            <p:cNvPr id="536" name="Google Shape;536;p32"/>
            <p:cNvSpPr txBox="1"/>
            <p:nvPr/>
          </p:nvSpPr>
          <p:spPr>
            <a:xfrm>
              <a:off x="2857" y="1709248"/>
              <a:ext cx="5712143" cy="16463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Definir roles específicos y permisos de acceso a los datos asegura que solo los usuarios autorizados puedan acceder a información crítica.</a:t>
              </a:r>
              <a:endParaRPr/>
            </a:p>
          </p:txBody>
        </p:sp>
      </p:grpSp>
      <p:grpSp>
        <p:nvGrpSpPr>
          <p:cNvPr id="537" name="Google Shape;537;p32"/>
          <p:cNvGrpSpPr/>
          <p:nvPr/>
        </p:nvGrpSpPr>
        <p:grpSpPr>
          <a:xfrm>
            <a:off x="12094974" y="6049538"/>
            <a:ext cx="4286250" cy="2850505"/>
            <a:chOff x="0" y="-38100"/>
            <a:chExt cx="5715000" cy="3800673"/>
          </a:xfrm>
        </p:grpSpPr>
        <p:sp>
          <p:nvSpPr>
            <p:cNvPr id="538" name="Google Shape;538;p32"/>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6.</a:t>
              </a:r>
              <a:endParaRPr/>
            </a:p>
          </p:txBody>
        </p:sp>
        <p:sp>
          <p:nvSpPr>
            <p:cNvPr id="539" name="Google Shape;539;p32"/>
            <p:cNvSpPr txBox="1"/>
            <p:nvPr/>
          </p:nvSpPr>
          <p:spPr>
            <a:xfrm>
              <a:off x="2857" y="912301"/>
              <a:ext cx="5712143"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Análisis de Comportamiento</a:t>
              </a:r>
              <a:endParaRPr/>
            </a:p>
          </p:txBody>
        </p:sp>
        <p:sp>
          <p:nvSpPr>
            <p:cNvPr id="540" name="Google Shape;540;p32"/>
            <p:cNvSpPr txBox="1"/>
            <p:nvPr/>
          </p:nvSpPr>
          <p:spPr>
            <a:xfrm>
              <a:off x="2857" y="1709787"/>
              <a:ext cx="5712143" cy="20527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El monitoreo y análisis del comportamiento de usuarios permite identificar patrones inusuales, como accesos masivos o actividades sospechosas, que podrían indicar una amenaza interna.</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546" name="Google Shape;546;p33"/>
          <p:cNvSpPr txBox="1"/>
          <p:nvPr/>
        </p:nvSpPr>
        <p:spPr>
          <a:xfrm>
            <a:off x="921986" y="1171330"/>
            <a:ext cx="11013628" cy="645160"/>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Tipos de seguridad</a:t>
            </a:r>
            <a:endParaRPr/>
          </a:p>
        </p:txBody>
      </p:sp>
      <p:grpSp>
        <p:nvGrpSpPr>
          <p:cNvPr id="547" name="Google Shape;547;p33"/>
          <p:cNvGrpSpPr/>
          <p:nvPr/>
        </p:nvGrpSpPr>
        <p:grpSpPr>
          <a:xfrm>
            <a:off x="1720117" y="2484151"/>
            <a:ext cx="4286250" cy="2897726"/>
            <a:chOff x="0" y="-38100"/>
            <a:chExt cx="5715000" cy="3863634"/>
          </a:xfrm>
        </p:grpSpPr>
        <p:sp>
          <p:nvSpPr>
            <p:cNvPr id="548" name="Google Shape;548;p33"/>
            <p:cNvSpPr txBox="1"/>
            <p:nvPr/>
          </p:nvSpPr>
          <p:spPr>
            <a:xfrm>
              <a:off x="0" y="-38100"/>
              <a:ext cx="5715000"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1.</a:t>
              </a:r>
              <a:endParaRPr/>
            </a:p>
          </p:txBody>
        </p:sp>
        <p:sp>
          <p:nvSpPr>
            <p:cNvPr id="549" name="Google Shape;549;p33"/>
            <p:cNvSpPr txBox="1"/>
            <p:nvPr/>
          </p:nvSpPr>
          <p:spPr>
            <a:xfrm>
              <a:off x="0" y="911763"/>
              <a:ext cx="5715000"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Redundancia y Recuperación de Datos</a:t>
              </a:r>
              <a:endParaRPr/>
            </a:p>
          </p:txBody>
        </p:sp>
        <p:sp>
          <p:nvSpPr>
            <p:cNvPr id="550" name="Google Shape;550;p33"/>
            <p:cNvSpPr txBox="1"/>
            <p:nvPr/>
          </p:nvSpPr>
          <p:spPr>
            <a:xfrm>
              <a:off x="0" y="2179148"/>
              <a:ext cx="5715000" cy="16463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Realizar copias de seguridad de los datos regularmente y almacenarlas en ubicaciones seguras y separadas para recuperar datos en caso de pérdida o ataque.</a:t>
              </a:r>
              <a:endParaRPr/>
            </a:p>
          </p:txBody>
        </p:sp>
      </p:grpSp>
      <p:grpSp>
        <p:nvGrpSpPr>
          <p:cNvPr id="551" name="Google Shape;551;p33"/>
          <p:cNvGrpSpPr/>
          <p:nvPr/>
        </p:nvGrpSpPr>
        <p:grpSpPr>
          <a:xfrm>
            <a:off x="1906776" y="6049538"/>
            <a:ext cx="4286250" cy="3202930"/>
            <a:chOff x="0" y="-38100"/>
            <a:chExt cx="5715000" cy="4270573"/>
          </a:xfrm>
        </p:grpSpPr>
        <p:sp>
          <p:nvSpPr>
            <p:cNvPr id="552" name="Google Shape;552;p33"/>
            <p:cNvSpPr txBox="1"/>
            <p:nvPr/>
          </p:nvSpPr>
          <p:spPr>
            <a:xfrm>
              <a:off x="0" y="-38100"/>
              <a:ext cx="5715000"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4.</a:t>
              </a:r>
              <a:endParaRPr/>
            </a:p>
          </p:txBody>
        </p:sp>
        <p:sp>
          <p:nvSpPr>
            <p:cNvPr id="553" name="Google Shape;553;p33"/>
            <p:cNvSpPr txBox="1"/>
            <p:nvPr/>
          </p:nvSpPr>
          <p:spPr>
            <a:xfrm>
              <a:off x="0" y="912301"/>
              <a:ext cx="5715000"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Auditoría y Cumplimiento de Normativas</a:t>
              </a:r>
              <a:endParaRPr/>
            </a:p>
          </p:txBody>
        </p:sp>
        <p:sp>
          <p:nvSpPr>
            <p:cNvPr id="554" name="Google Shape;554;p33"/>
            <p:cNvSpPr txBox="1"/>
            <p:nvPr/>
          </p:nvSpPr>
          <p:spPr>
            <a:xfrm>
              <a:off x="0" y="2179687"/>
              <a:ext cx="5715000" cy="20527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Realizar auditorías periódicas de los accesos y actividades en los sistemas de almacenamiento permite detectar cambios no autorizados y corregir problemas de seguridad.</a:t>
              </a:r>
              <a:endParaRPr/>
            </a:p>
          </p:txBody>
        </p:sp>
      </p:grpSp>
      <p:grpSp>
        <p:nvGrpSpPr>
          <p:cNvPr id="555" name="Google Shape;555;p33"/>
          <p:cNvGrpSpPr/>
          <p:nvPr/>
        </p:nvGrpSpPr>
        <p:grpSpPr>
          <a:xfrm>
            <a:off x="7002280" y="2089171"/>
            <a:ext cx="4286250" cy="3812126"/>
            <a:chOff x="0" y="-38100"/>
            <a:chExt cx="5715000" cy="5082834"/>
          </a:xfrm>
        </p:grpSpPr>
        <p:sp>
          <p:nvSpPr>
            <p:cNvPr id="556" name="Google Shape;556;p33"/>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2.</a:t>
              </a:r>
              <a:endParaRPr/>
            </a:p>
          </p:txBody>
        </p:sp>
        <p:sp>
          <p:nvSpPr>
            <p:cNvPr id="557" name="Google Shape;557;p33"/>
            <p:cNvSpPr txBox="1"/>
            <p:nvPr/>
          </p:nvSpPr>
          <p:spPr>
            <a:xfrm>
              <a:off x="2857" y="911763"/>
              <a:ext cx="5712143"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Monitoreo y Detección de Amenazas</a:t>
              </a:r>
              <a:endParaRPr/>
            </a:p>
          </p:txBody>
        </p:sp>
        <p:sp>
          <p:nvSpPr>
            <p:cNvPr id="558" name="Google Shape;558;p33"/>
            <p:cNvSpPr txBox="1"/>
            <p:nvPr/>
          </p:nvSpPr>
          <p:spPr>
            <a:xfrm>
              <a:off x="2857" y="2179148"/>
              <a:ext cx="5712143" cy="28655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Mantener registros detallados de acceso a datos y acciones realizadas en los sistemas de almacenamiento permite detectar anomalías y responder rápidamente a incidentes.</a:t>
              </a:r>
              <a:endParaRPr/>
            </a:p>
            <a:p>
              <a:pPr indent="0" lvl="0" marL="0" marR="0" rtl="0" algn="l">
                <a:lnSpc>
                  <a:spcPct val="151031"/>
                </a:lnSpc>
                <a:spcBef>
                  <a:spcPts val="0"/>
                </a:spcBef>
                <a:spcAft>
                  <a:spcPts val="0"/>
                </a:spcAft>
                <a:buNone/>
              </a:pPr>
              <a:r>
                <a:t/>
              </a:r>
              <a:endParaRPr b="0" i="0" sz="1599" u="none" cap="none" strike="noStrike">
                <a:solidFill>
                  <a:srgbClr val="FFFFFF"/>
                </a:solidFill>
                <a:latin typeface="Arial"/>
                <a:ea typeface="Arial"/>
                <a:cs typeface="Arial"/>
                <a:sym typeface="Arial"/>
              </a:endParaRPr>
            </a:p>
            <a:p>
              <a:pPr indent="0" lvl="0" marL="0" marR="0" rtl="0" algn="l">
                <a:lnSpc>
                  <a:spcPct val="151031"/>
                </a:lnSpc>
                <a:spcBef>
                  <a:spcPts val="0"/>
                </a:spcBef>
                <a:spcAft>
                  <a:spcPts val="0"/>
                </a:spcAft>
                <a:buNone/>
              </a:pPr>
              <a:r>
                <a:t/>
              </a:r>
              <a:endParaRPr b="0" i="0" sz="1599" u="none" cap="none" strike="noStrike">
                <a:solidFill>
                  <a:srgbClr val="FFFFFF"/>
                </a:solidFill>
                <a:latin typeface="Arial"/>
                <a:ea typeface="Arial"/>
                <a:cs typeface="Arial"/>
                <a:sym typeface="Arial"/>
              </a:endParaRPr>
            </a:p>
          </p:txBody>
        </p:sp>
      </p:grpSp>
      <p:grpSp>
        <p:nvGrpSpPr>
          <p:cNvPr id="559" name="Google Shape;559;p33"/>
          <p:cNvGrpSpPr/>
          <p:nvPr/>
        </p:nvGrpSpPr>
        <p:grpSpPr>
          <a:xfrm>
            <a:off x="7002280" y="6173978"/>
            <a:ext cx="4286250" cy="2850505"/>
            <a:chOff x="0" y="-38100"/>
            <a:chExt cx="5715000" cy="3800673"/>
          </a:xfrm>
        </p:grpSpPr>
        <p:sp>
          <p:nvSpPr>
            <p:cNvPr id="560" name="Google Shape;560;p33"/>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5.</a:t>
              </a:r>
              <a:endParaRPr/>
            </a:p>
          </p:txBody>
        </p:sp>
        <p:sp>
          <p:nvSpPr>
            <p:cNvPr id="561" name="Google Shape;561;p33"/>
            <p:cNvSpPr txBox="1"/>
            <p:nvPr/>
          </p:nvSpPr>
          <p:spPr>
            <a:xfrm>
              <a:off x="2857" y="912301"/>
              <a:ext cx="5712143" cy="5069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Cumplimiento de Normativas:</a:t>
              </a:r>
              <a:endParaRPr/>
            </a:p>
          </p:txBody>
        </p:sp>
        <p:sp>
          <p:nvSpPr>
            <p:cNvPr id="562" name="Google Shape;562;p33"/>
            <p:cNvSpPr txBox="1"/>
            <p:nvPr/>
          </p:nvSpPr>
          <p:spPr>
            <a:xfrm>
              <a:off x="2857" y="1709787"/>
              <a:ext cx="5712143" cy="20527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Implementar medidas para cumplir con regulaciones como el GDPR, HIPAA o ISO/IEC 27001, que exigen controles específicos para la seguridad de los datos y la privacidad.</a:t>
              </a:r>
              <a:endParaRPr/>
            </a:p>
          </p:txBody>
        </p:sp>
      </p:grpSp>
      <p:grpSp>
        <p:nvGrpSpPr>
          <p:cNvPr id="563" name="Google Shape;563;p33"/>
          <p:cNvGrpSpPr/>
          <p:nvPr/>
        </p:nvGrpSpPr>
        <p:grpSpPr>
          <a:xfrm>
            <a:off x="12094974" y="2089171"/>
            <a:ext cx="4286250" cy="3507326"/>
            <a:chOff x="0" y="-38100"/>
            <a:chExt cx="5715000" cy="4676434"/>
          </a:xfrm>
        </p:grpSpPr>
        <p:sp>
          <p:nvSpPr>
            <p:cNvPr id="564" name="Google Shape;564;p33"/>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3.</a:t>
              </a:r>
              <a:endParaRPr/>
            </a:p>
          </p:txBody>
        </p:sp>
        <p:sp>
          <p:nvSpPr>
            <p:cNvPr id="565" name="Google Shape;565;p33"/>
            <p:cNvSpPr txBox="1"/>
            <p:nvPr/>
          </p:nvSpPr>
          <p:spPr>
            <a:xfrm>
              <a:off x="2857" y="911763"/>
              <a:ext cx="5712143"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Clasificación y Segmentación de Datos</a:t>
              </a:r>
              <a:endParaRPr/>
            </a:p>
          </p:txBody>
        </p:sp>
        <p:sp>
          <p:nvSpPr>
            <p:cNvPr id="566" name="Google Shape;566;p33"/>
            <p:cNvSpPr txBox="1"/>
            <p:nvPr/>
          </p:nvSpPr>
          <p:spPr>
            <a:xfrm>
              <a:off x="2857" y="2179148"/>
              <a:ext cx="5712143" cy="24591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Identificar y clasificar los datos en función de su sensibilidad (como datos personales, financieros o de propiedad intelectual) para aplicar diferentes niveles de protección.</a:t>
              </a:r>
              <a:endParaRPr/>
            </a:p>
            <a:p>
              <a:pPr indent="-71183" lvl="1" marL="345439" marR="0" rtl="0" algn="l">
                <a:lnSpc>
                  <a:spcPct val="151031"/>
                </a:lnSpc>
                <a:spcBef>
                  <a:spcPts val="0"/>
                </a:spcBef>
                <a:spcAft>
                  <a:spcPts val="0"/>
                </a:spcAft>
                <a:buClr>
                  <a:schemeClr val="dk1"/>
                </a:buClr>
                <a:buSzPts val="1599"/>
                <a:buFont typeface="Arial"/>
                <a:buNone/>
              </a:pPr>
              <a:r>
                <a:t/>
              </a:r>
              <a:endParaRPr b="0" i="0" sz="1599" u="none" cap="none" strike="noStrike">
                <a:solidFill>
                  <a:srgbClr val="FFFFFF"/>
                </a:solidFill>
                <a:latin typeface="Arial"/>
                <a:ea typeface="Arial"/>
                <a:cs typeface="Arial"/>
                <a:sym typeface="Arial"/>
              </a:endParaRPr>
            </a:p>
            <a:p>
              <a:pPr indent="0" lvl="0" marL="0" marR="0" rtl="0" algn="l">
                <a:lnSpc>
                  <a:spcPct val="151031"/>
                </a:lnSpc>
                <a:spcBef>
                  <a:spcPts val="0"/>
                </a:spcBef>
                <a:spcAft>
                  <a:spcPts val="0"/>
                </a:spcAft>
                <a:buNone/>
              </a:pPr>
              <a:r>
                <a:t/>
              </a:r>
              <a:endParaRPr b="0" i="0" sz="1599" u="none" cap="none" strike="noStrike">
                <a:solidFill>
                  <a:srgbClr val="FFFFFF"/>
                </a:solidFill>
                <a:latin typeface="Arial"/>
                <a:ea typeface="Arial"/>
                <a:cs typeface="Arial"/>
                <a:sym typeface="Arial"/>
              </a:endParaRPr>
            </a:p>
          </p:txBody>
        </p:sp>
      </p:grpSp>
      <p:grpSp>
        <p:nvGrpSpPr>
          <p:cNvPr id="567" name="Google Shape;567;p33"/>
          <p:cNvGrpSpPr/>
          <p:nvPr/>
        </p:nvGrpSpPr>
        <p:grpSpPr>
          <a:xfrm>
            <a:off x="12094974" y="6049538"/>
            <a:ext cx="4286250" cy="2898130"/>
            <a:chOff x="0" y="-38100"/>
            <a:chExt cx="5715000" cy="3864173"/>
          </a:xfrm>
        </p:grpSpPr>
        <p:sp>
          <p:nvSpPr>
            <p:cNvPr id="568" name="Google Shape;568;p33"/>
            <p:cNvSpPr txBox="1"/>
            <p:nvPr/>
          </p:nvSpPr>
          <p:spPr>
            <a:xfrm>
              <a:off x="0" y="-38100"/>
              <a:ext cx="5712143" cy="847513"/>
            </a:xfrm>
            <a:prstGeom prst="rect">
              <a:avLst/>
            </a:prstGeom>
            <a:noFill/>
            <a:ln>
              <a:noFill/>
            </a:ln>
          </p:spPr>
          <p:txBody>
            <a:bodyPr anchorCtr="0" anchor="t" bIns="0" lIns="0" spcFirstLastPara="1" rIns="0" wrap="square" tIns="0">
              <a:spAutoFit/>
            </a:bodyPr>
            <a:lstStyle/>
            <a:p>
              <a:pPr indent="0" lvl="1" marL="0" marR="0" rtl="0" algn="l">
                <a:lnSpc>
                  <a:spcPct val="97999"/>
                </a:lnSpc>
                <a:spcBef>
                  <a:spcPts val="0"/>
                </a:spcBef>
                <a:spcAft>
                  <a:spcPts val="0"/>
                </a:spcAft>
                <a:buNone/>
              </a:pPr>
              <a:r>
                <a:rPr b="1" i="0" lang="en-US" sz="3999" u="none" cap="none" strike="noStrike">
                  <a:solidFill>
                    <a:srgbClr val="FFFFFF"/>
                  </a:solidFill>
                  <a:latin typeface="Arial"/>
                  <a:ea typeface="Arial"/>
                  <a:cs typeface="Arial"/>
                  <a:sym typeface="Arial"/>
                </a:rPr>
                <a:t>6.</a:t>
              </a:r>
              <a:endParaRPr/>
            </a:p>
          </p:txBody>
        </p:sp>
        <p:sp>
          <p:nvSpPr>
            <p:cNvPr id="569" name="Google Shape;569;p33"/>
            <p:cNvSpPr txBox="1"/>
            <p:nvPr/>
          </p:nvSpPr>
          <p:spPr>
            <a:xfrm>
              <a:off x="2857" y="912301"/>
              <a:ext cx="5712143" cy="97684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Arial"/>
                  <a:ea typeface="Arial"/>
                  <a:cs typeface="Arial"/>
                  <a:sym typeface="Arial"/>
                </a:rPr>
                <a:t> Tecnologías de Seguridad en la Nube para Almacenamiento</a:t>
              </a:r>
              <a:endParaRPr/>
            </a:p>
          </p:txBody>
        </p:sp>
        <p:sp>
          <p:nvSpPr>
            <p:cNvPr id="570" name="Google Shape;570;p33"/>
            <p:cNvSpPr txBox="1"/>
            <p:nvPr/>
          </p:nvSpPr>
          <p:spPr>
            <a:xfrm>
              <a:off x="2857" y="2179687"/>
              <a:ext cx="5712143" cy="1646386"/>
            </a:xfrm>
            <a:prstGeom prst="rect">
              <a:avLst/>
            </a:prstGeom>
            <a:noFill/>
            <a:ln>
              <a:noFill/>
            </a:ln>
          </p:spPr>
          <p:txBody>
            <a:bodyPr anchorCtr="0" anchor="t" bIns="0" lIns="0" spcFirstLastPara="1" rIns="0" wrap="square" tIns="0">
              <a:spAutoFit/>
            </a:bodyPr>
            <a:lstStyle/>
            <a:p>
              <a:pPr indent="0" lvl="0" marL="0" marR="0" rtl="0" algn="l">
                <a:lnSpc>
                  <a:spcPct val="151031"/>
                </a:lnSpc>
                <a:spcBef>
                  <a:spcPts val="0"/>
                </a:spcBef>
                <a:spcAft>
                  <a:spcPts val="0"/>
                </a:spcAft>
                <a:buNone/>
              </a:pPr>
              <a:r>
                <a:rPr b="0" i="0" lang="en-US" sz="1599" u="none" cap="none" strike="noStrike">
                  <a:solidFill>
                    <a:srgbClr val="FFFFFF"/>
                  </a:solidFill>
                  <a:latin typeface="Arial"/>
                  <a:ea typeface="Arial"/>
                  <a:cs typeface="Arial"/>
                  <a:sym typeface="Arial"/>
                </a:rPr>
                <a:t>Configurar roles y permisos específicos para el acceso a los datos almacenados en servicios de nube pública o privada.</a:t>
              </a:r>
              <a:endParaRPr/>
            </a:p>
            <a:p>
              <a:pPr indent="0" lvl="0" marL="0" marR="0" rtl="0" algn="l">
                <a:lnSpc>
                  <a:spcPct val="151031"/>
                </a:lnSpc>
                <a:spcBef>
                  <a:spcPts val="0"/>
                </a:spcBef>
                <a:spcAft>
                  <a:spcPts val="0"/>
                </a:spcAft>
                <a:buNone/>
              </a:pPr>
              <a:r>
                <a:t/>
              </a:r>
              <a:endParaRPr b="0" i="0" sz="1599" u="none" cap="none" strike="noStrike">
                <a:solidFill>
                  <a:srgbClr val="FFFFFF"/>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3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grpSp>
        <p:nvGrpSpPr>
          <p:cNvPr id="576" name="Google Shape;576;p34"/>
          <p:cNvGrpSpPr/>
          <p:nvPr/>
        </p:nvGrpSpPr>
        <p:grpSpPr>
          <a:xfrm>
            <a:off x="1028700" y="2966744"/>
            <a:ext cx="16230600" cy="4224925"/>
            <a:chOff x="0" y="-171450"/>
            <a:chExt cx="21640800" cy="5633235"/>
          </a:xfrm>
        </p:grpSpPr>
        <p:sp>
          <p:nvSpPr>
            <p:cNvPr id="577" name="Google Shape;577;p34"/>
            <p:cNvSpPr txBox="1"/>
            <p:nvPr/>
          </p:nvSpPr>
          <p:spPr>
            <a:xfrm>
              <a:off x="0" y="-171450"/>
              <a:ext cx="21640800" cy="4813724"/>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i="0" lang="en-US" sz="8000" u="none" cap="none" strike="noStrike">
                  <a:solidFill>
                    <a:srgbClr val="FFFFFF"/>
                  </a:solidFill>
                  <a:latin typeface="Arial"/>
                  <a:ea typeface="Arial"/>
                  <a:cs typeface="Arial"/>
                  <a:sym typeface="Arial"/>
                </a:rPr>
                <a:t>TÉCNICAS DE RESPALDO Y RECUPERACION DE ARCHIVOS</a:t>
              </a:r>
              <a:endParaRPr/>
            </a:p>
          </p:txBody>
        </p:sp>
        <p:sp>
          <p:nvSpPr>
            <p:cNvPr id="578" name="Google Shape;578;p34"/>
            <p:cNvSpPr txBox="1"/>
            <p:nvPr/>
          </p:nvSpPr>
          <p:spPr>
            <a:xfrm>
              <a:off x="0" y="4800115"/>
              <a:ext cx="21640800" cy="661670"/>
            </a:xfrm>
            <a:prstGeom prst="rect">
              <a:avLst/>
            </a:prstGeom>
            <a:noFill/>
            <a:ln>
              <a:noFill/>
            </a:ln>
          </p:spPr>
          <p:txBody>
            <a:bodyPr anchorCtr="0" anchor="t" bIns="0" lIns="0" spcFirstLastPara="1" rIns="0" wrap="square" tIns="0">
              <a:spAutoFit/>
            </a:bodyPr>
            <a:lstStyle/>
            <a:p>
              <a:pPr indent="0" lvl="0" marL="0" marR="0" rtl="0" algn="ctr">
                <a:lnSpc>
                  <a:spcPct val="185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9" name="Google Shape;579;p34"/>
          <p:cNvSpPr txBox="1"/>
          <p:nvPr/>
        </p:nvSpPr>
        <p:spPr>
          <a:xfrm>
            <a:off x="3140155" y="8499475"/>
            <a:ext cx="12007690" cy="406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AUXILIAR xxxxx</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068" l="-4629" r="-2124" t="-3684"/>
            </a:stretch>
          </a:blipFill>
          <a:ln>
            <a:noFill/>
          </a:ln>
        </p:spPr>
      </p:sp>
      <p:sp>
        <p:nvSpPr>
          <p:cNvPr id="585" name="Google Shape;585;p35"/>
          <p:cNvSpPr txBox="1"/>
          <p:nvPr/>
        </p:nvSpPr>
        <p:spPr>
          <a:xfrm>
            <a:off x="6184875" y="2146525"/>
            <a:ext cx="5635078" cy="719455"/>
          </a:xfrm>
          <a:prstGeom prst="rect">
            <a:avLst/>
          </a:prstGeom>
          <a:noFill/>
          <a:ln>
            <a:noFill/>
          </a:ln>
        </p:spPr>
        <p:txBody>
          <a:bodyPr anchorCtr="0" anchor="t" bIns="0" lIns="0" spcFirstLastPara="1" rIns="0" wrap="square" tIns="0">
            <a:spAutoFit/>
          </a:bodyPr>
          <a:lstStyle/>
          <a:p>
            <a:pPr indent="0" lvl="0" marL="0" marR="0" rtl="0" algn="ctr">
              <a:lnSpc>
                <a:spcPct val="119004"/>
              </a:lnSpc>
              <a:spcBef>
                <a:spcPts val="0"/>
              </a:spcBef>
              <a:spcAft>
                <a:spcPts val="0"/>
              </a:spcAft>
              <a:buNone/>
            </a:pPr>
            <a:r>
              <a:rPr b="1" i="0" lang="en-US" sz="3999" u="none" cap="none" strike="noStrike">
                <a:solidFill>
                  <a:srgbClr val="FFFFFF"/>
                </a:solidFill>
                <a:latin typeface="Arial"/>
                <a:ea typeface="Arial"/>
                <a:cs typeface="Arial"/>
                <a:sym typeface="Arial"/>
              </a:rPr>
              <a:t>Introducción</a:t>
            </a:r>
            <a:endParaRPr/>
          </a:p>
        </p:txBody>
      </p:sp>
      <p:sp>
        <p:nvSpPr>
          <p:cNvPr id="586" name="Google Shape;586;p35"/>
          <p:cNvSpPr txBox="1"/>
          <p:nvPr/>
        </p:nvSpPr>
        <p:spPr>
          <a:xfrm>
            <a:off x="1569858" y="4138295"/>
            <a:ext cx="14865111" cy="1886586"/>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0" i="0" lang="en-US" sz="2599" u="none" cap="none" strike="noStrike">
                <a:solidFill>
                  <a:srgbClr val="FFFFFF"/>
                </a:solidFill>
                <a:latin typeface="Arial"/>
                <a:ea typeface="Arial"/>
                <a:cs typeface="Arial"/>
                <a:sym typeface="Arial"/>
              </a:rPr>
              <a:t>Las técnicas de respaldo y recuperación de archivos son fundamentales para garantizar que los datos críticos puedan recuperarse tras un fallo, ataque o pérdida accidental. Estas técnicas no solo protegen la información contra el borrado o la corrupción, sino que también aseguran la continuidad del negocio en caso de desastre.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3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grpSp>
        <p:nvGrpSpPr>
          <p:cNvPr id="592" name="Google Shape;592;p36"/>
          <p:cNvGrpSpPr/>
          <p:nvPr/>
        </p:nvGrpSpPr>
        <p:grpSpPr>
          <a:xfrm>
            <a:off x="7629443" y="1253676"/>
            <a:ext cx="1228220" cy="1271400"/>
            <a:chOff x="0" y="-28575"/>
            <a:chExt cx="812800" cy="841375"/>
          </a:xfrm>
        </p:grpSpPr>
        <p:sp>
          <p:nvSpPr>
            <p:cNvPr id="593" name="Google Shape;593;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6"/>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5" name="Google Shape;595;p36"/>
          <p:cNvSpPr/>
          <p:nvPr/>
        </p:nvSpPr>
        <p:spPr>
          <a:xfrm>
            <a:off x="7985153" y="1688468"/>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grpSp>
        <p:nvGrpSpPr>
          <p:cNvPr id="596" name="Google Shape;596;p36"/>
          <p:cNvGrpSpPr/>
          <p:nvPr/>
        </p:nvGrpSpPr>
        <p:grpSpPr>
          <a:xfrm>
            <a:off x="9220555" y="1232562"/>
            <a:ext cx="7143750" cy="3230094"/>
            <a:chOff x="0" y="-85725"/>
            <a:chExt cx="9525000" cy="4306792"/>
          </a:xfrm>
        </p:grpSpPr>
        <p:sp>
          <p:nvSpPr>
            <p:cNvPr id="597" name="Google Shape;597;p36"/>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Respaldo Completo:</a:t>
              </a:r>
              <a:endParaRPr/>
            </a:p>
          </p:txBody>
        </p:sp>
        <p:sp>
          <p:nvSpPr>
            <p:cNvPr id="598" name="Google Shape;598;p36"/>
            <p:cNvSpPr txBox="1"/>
            <p:nvPr/>
          </p:nvSpPr>
          <p:spPr>
            <a:xfrm>
              <a:off x="0" y="553180"/>
              <a:ext cx="9525000" cy="36678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Consiste en copiar todos los datos seleccionados en un solo respaldo, proporcionando una copia completa del sistema o carpeta.</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Ventaja: Es más fácil de restaurar porque toda la información está en un solo archivo o conjunto de archivos.</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Desventaja: Consume mucho tiempo y espacio de almacenamiento.</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nvGrpSpPr>
          <p:cNvPr id="599" name="Google Shape;599;p36"/>
          <p:cNvGrpSpPr/>
          <p:nvPr/>
        </p:nvGrpSpPr>
        <p:grpSpPr>
          <a:xfrm>
            <a:off x="1590342" y="4369787"/>
            <a:ext cx="4812162" cy="2067129"/>
            <a:chOff x="0" y="-123825"/>
            <a:chExt cx="6416216" cy="2756171"/>
          </a:xfrm>
        </p:grpSpPr>
        <p:sp>
          <p:nvSpPr>
            <p:cNvPr id="600" name="Google Shape;600;p36"/>
            <p:cNvSpPr txBox="1"/>
            <p:nvPr/>
          </p:nvSpPr>
          <p:spPr>
            <a:xfrm>
              <a:off x="0" y="-123825"/>
              <a:ext cx="6416216" cy="1960414"/>
            </a:xfrm>
            <a:prstGeom prst="rect">
              <a:avLst/>
            </a:prstGeom>
            <a:noFill/>
            <a:ln>
              <a:noFill/>
            </a:ln>
          </p:spPr>
          <p:txBody>
            <a:bodyPr anchorCtr="0" anchor="t" bIns="0" lIns="0" spcFirstLastPara="1" rIns="0" wrap="square" tIns="0">
              <a:spAutoFit/>
            </a:bodyPr>
            <a:lstStyle/>
            <a:p>
              <a:pPr indent="0" lvl="0" marL="0" marR="0" rtl="0" algn="ctr">
                <a:lnSpc>
                  <a:spcPct val="119004"/>
                </a:lnSpc>
                <a:spcBef>
                  <a:spcPts val="0"/>
                </a:spcBef>
                <a:spcAft>
                  <a:spcPts val="0"/>
                </a:spcAft>
                <a:buNone/>
              </a:pPr>
              <a:r>
                <a:rPr b="1" i="0" lang="en-US" sz="4599" u="none" cap="none" strike="noStrike">
                  <a:solidFill>
                    <a:srgbClr val="FFFFFF"/>
                  </a:solidFill>
                  <a:latin typeface="Arial"/>
                  <a:ea typeface="Arial"/>
                  <a:cs typeface="Arial"/>
                  <a:sym typeface="Arial"/>
                </a:rPr>
                <a:t>Tipos de Respaldo</a:t>
              </a:r>
              <a:endParaRPr/>
            </a:p>
          </p:txBody>
        </p:sp>
        <p:sp>
          <p:nvSpPr>
            <p:cNvPr id="601" name="Google Shape;601;p36"/>
            <p:cNvSpPr txBox="1"/>
            <p:nvPr/>
          </p:nvSpPr>
          <p:spPr>
            <a:xfrm>
              <a:off x="0" y="2105508"/>
              <a:ext cx="6416216" cy="526838"/>
            </a:xfrm>
            <a:prstGeom prst="rect">
              <a:avLst/>
            </a:prstGeom>
            <a:noFill/>
            <a:ln>
              <a:noFill/>
            </a:ln>
          </p:spPr>
          <p:txBody>
            <a:bodyPr anchorCtr="0" anchor="t" bIns="0" lIns="0" spcFirstLastPara="1" rIns="0" wrap="square" tIns="0">
              <a:spAutoFit/>
            </a:bodyPr>
            <a:lstStyle/>
            <a:p>
              <a:pPr indent="0" lvl="0" marL="0" marR="0" rtl="0" algn="l">
                <a:lnSpc>
                  <a:spcPct val="167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2" name="Google Shape;602;p36"/>
          <p:cNvGrpSpPr/>
          <p:nvPr/>
        </p:nvGrpSpPr>
        <p:grpSpPr>
          <a:xfrm>
            <a:off x="7774623" y="5350110"/>
            <a:ext cx="1228220" cy="1271400"/>
            <a:chOff x="0" y="-28575"/>
            <a:chExt cx="812800" cy="841375"/>
          </a:xfrm>
        </p:grpSpPr>
        <p:sp>
          <p:nvSpPr>
            <p:cNvPr id="603" name="Google Shape;603;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6"/>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05" name="Google Shape;605;p36"/>
          <p:cNvSpPr/>
          <p:nvPr/>
        </p:nvSpPr>
        <p:spPr>
          <a:xfrm>
            <a:off x="8130333" y="5784902"/>
            <a:ext cx="516800" cy="398582"/>
          </a:xfrm>
          <a:custGeom>
            <a:rect b="b" l="l" r="r" t="t"/>
            <a:pathLst>
              <a:path extrusionOk="0" h="398582" w="516800">
                <a:moveTo>
                  <a:pt x="0" y="0"/>
                </a:moveTo>
                <a:lnTo>
                  <a:pt x="516800" y="0"/>
                </a:lnTo>
                <a:lnTo>
                  <a:pt x="516800" y="398582"/>
                </a:lnTo>
                <a:lnTo>
                  <a:pt x="0" y="398582"/>
                </a:lnTo>
                <a:lnTo>
                  <a:pt x="0" y="0"/>
                </a:lnTo>
                <a:close/>
              </a:path>
            </a:pathLst>
          </a:custGeom>
          <a:blipFill rotWithShape="1">
            <a:blip r:embed="rId4">
              <a:alphaModFix/>
            </a:blip>
            <a:stretch>
              <a:fillRect b="0" l="0" r="0" t="0"/>
            </a:stretch>
          </a:blipFill>
          <a:ln>
            <a:noFill/>
          </a:ln>
        </p:spPr>
      </p:sp>
      <p:grpSp>
        <p:nvGrpSpPr>
          <p:cNvPr id="606" name="Google Shape;606;p36"/>
          <p:cNvGrpSpPr/>
          <p:nvPr/>
        </p:nvGrpSpPr>
        <p:grpSpPr>
          <a:xfrm>
            <a:off x="9365734" y="5328996"/>
            <a:ext cx="7143750" cy="3230094"/>
            <a:chOff x="0" y="-85725"/>
            <a:chExt cx="9525000" cy="4306792"/>
          </a:xfrm>
        </p:grpSpPr>
        <p:sp>
          <p:nvSpPr>
            <p:cNvPr id="607" name="Google Shape;607;p36"/>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Respaldo Incremental:</a:t>
              </a:r>
              <a:endParaRPr/>
            </a:p>
          </p:txBody>
        </p:sp>
        <p:sp>
          <p:nvSpPr>
            <p:cNvPr id="608" name="Google Shape;608;p36"/>
            <p:cNvSpPr txBox="1"/>
            <p:nvPr/>
          </p:nvSpPr>
          <p:spPr>
            <a:xfrm>
              <a:off x="0" y="553180"/>
              <a:ext cx="9525000" cy="36678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Solo copia los datos que han cambiado desde el último respaldo (completo o incremental).</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Ventaja: Requiere menos tiempo y espacio de almacenamiento.</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Desventaja: La restauración puede ser más lenta, ya que depende de una serie de respaldos anteriores.</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grpSp>
        <p:nvGrpSpPr>
          <p:cNvPr id="614" name="Google Shape;614;p37"/>
          <p:cNvGrpSpPr/>
          <p:nvPr/>
        </p:nvGrpSpPr>
        <p:grpSpPr>
          <a:xfrm>
            <a:off x="7629443" y="1253676"/>
            <a:ext cx="1228220" cy="1271400"/>
            <a:chOff x="0" y="-28575"/>
            <a:chExt cx="812800" cy="841375"/>
          </a:xfrm>
        </p:grpSpPr>
        <p:sp>
          <p:nvSpPr>
            <p:cNvPr id="615" name="Google Shape;615;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7"/>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7" name="Google Shape;617;p37"/>
          <p:cNvSpPr/>
          <p:nvPr/>
        </p:nvSpPr>
        <p:spPr>
          <a:xfrm>
            <a:off x="7985153" y="1688468"/>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grpSp>
        <p:nvGrpSpPr>
          <p:cNvPr id="618" name="Google Shape;618;p37"/>
          <p:cNvGrpSpPr/>
          <p:nvPr/>
        </p:nvGrpSpPr>
        <p:grpSpPr>
          <a:xfrm>
            <a:off x="9220555" y="1232562"/>
            <a:ext cx="7143750" cy="3230094"/>
            <a:chOff x="0" y="-85725"/>
            <a:chExt cx="9525000" cy="4306792"/>
          </a:xfrm>
        </p:grpSpPr>
        <p:sp>
          <p:nvSpPr>
            <p:cNvPr id="619" name="Google Shape;619;p37"/>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Respaldo Diferencial:</a:t>
              </a:r>
              <a:endParaRPr/>
            </a:p>
          </p:txBody>
        </p:sp>
        <p:sp>
          <p:nvSpPr>
            <p:cNvPr id="620" name="Google Shape;620;p37"/>
            <p:cNvSpPr txBox="1"/>
            <p:nvPr/>
          </p:nvSpPr>
          <p:spPr>
            <a:xfrm>
              <a:off x="0" y="553180"/>
              <a:ext cx="9525000" cy="36678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Copia todos los cambios realizados desde el último respaldo completo.</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Ventaja: Es más rápido de restaurar que un respaldo incremental, ya que solo necesita el último respaldo completo y el último diferencial.</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Desventaja: Consume más espacio y tiempo que el respaldo incremental, pero menos que el respaldo completo.</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nvGrpSpPr>
          <p:cNvPr id="621" name="Google Shape;621;p37"/>
          <p:cNvGrpSpPr/>
          <p:nvPr/>
        </p:nvGrpSpPr>
        <p:grpSpPr>
          <a:xfrm>
            <a:off x="1590342" y="4369787"/>
            <a:ext cx="4812162" cy="2067129"/>
            <a:chOff x="0" y="-123825"/>
            <a:chExt cx="6416216" cy="2756171"/>
          </a:xfrm>
        </p:grpSpPr>
        <p:sp>
          <p:nvSpPr>
            <p:cNvPr id="622" name="Google Shape;622;p37"/>
            <p:cNvSpPr txBox="1"/>
            <p:nvPr/>
          </p:nvSpPr>
          <p:spPr>
            <a:xfrm>
              <a:off x="0" y="-123825"/>
              <a:ext cx="6416216" cy="1960414"/>
            </a:xfrm>
            <a:prstGeom prst="rect">
              <a:avLst/>
            </a:prstGeom>
            <a:noFill/>
            <a:ln>
              <a:noFill/>
            </a:ln>
          </p:spPr>
          <p:txBody>
            <a:bodyPr anchorCtr="0" anchor="t" bIns="0" lIns="0" spcFirstLastPara="1" rIns="0" wrap="square" tIns="0">
              <a:spAutoFit/>
            </a:bodyPr>
            <a:lstStyle/>
            <a:p>
              <a:pPr indent="0" lvl="0" marL="0" marR="0" rtl="0" algn="ctr">
                <a:lnSpc>
                  <a:spcPct val="119004"/>
                </a:lnSpc>
                <a:spcBef>
                  <a:spcPts val="0"/>
                </a:spcBef>
                <a:spcAft>
                  <a:spcPts val="0"/>
                </a:spcAft>
                <a:buNone/>
              </a:pPr>
              <a:r>
                <a:rPr b="1" i="0" lang="en-US" sz="4599" u="none" cap="none" strike="noStrike">
                  <a:solidFill>
                    <a:srgbClr val="FFFFFF"/>
                  </a:solidFill>
                  <a:latin typeface="Arial"/>
                  <a:ea typeface="Arial"/>
                  <a:cs typeface="Arial"/>
                  <a:sym typeface="Arial"/>
                </a:rPr>
                <a:t>Tipos de Respaldo</a:t>
              </a:r>
              <a:endParaRPr/>
            </a:p>
          </p:txBody>
        </p:sp>
        <p:sp>
          <p:nvSpPr>
            <p:cNvPr id="623" name="Google Shape;623;p37"/>
            <p:cNvSpPr txBox="1"/>
            <p:nvPr/>
          </p:nvSpPr>
          <p:spPr>
            <a:xfrm>
              <a:off x="0" y="2105508"/>
              <a:ext cx="6416216" cy="526838"/>
            </a:xfrm>
            <a:prstGeom prst="rect">
              <a:avLst/>
            </a:prstGeom>
            <a:noFill/>
            <a:ln>
              <a:noFill/>
            </a:ln>
          </p:spPr>
          <p:txBody>
            <a:bodyPr anchorCtr="0" anchor="t" bIns="0" lIns="0" spcFirstLastPara="1" rIns="0" wrap="square" tIns="0">
              <a:spAutoFit/>
            </a:bodyPr>
            <a:lstStyle/>
            <a:p>
              <a:pPr indent="0" lvl="0" marL="0" marR="0" rtl="0" algn="l">
                <a:lnSpc>
                  <a:spcPct val="167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4" name="Google Shape;624;p37"/>
          <p:cNvGrpSpPr/>
          <p:nvPr/>
        </p:nvGrpSpPr>
        <p:grpSpPr>
          <a:xfrm>
            <a:off x="7774623" y="5350110"/>
            <a:ext cx="1228220" cy="1271400"/>
            <a:chOff x="0" y="-28575"/>
            <a:chExt cx="812800" cy="841375"/>
          </a:xfrm>
        </p:grpSpPr>
        <p:sp>
          <p:nvSpPr>
            <p:cNvPr id="625" name="Google Shape;625;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7"/>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27" name="Google Shape;627;p37"/>
          <p:cNvSpPr/>
          <p:nvPr/>
        </p:nvSpPr>
        <p:spPr>
          <a:xfrm>
            <a:off x="8130333" y="5784902"/>
            <a:ext cx="516800" cy="398582"/>
          </a:xfrm>
          <a:custGeom>
            <a:rect b="b" l="l" r="r" t="t"/>
            <a:pathLst>
              <a:path extrusionOk="0" h="398582" w="516800">
                <a:moveTo>
                  <a:pt x="0" y="0"/>
                </a:moveTo>
                <a:lnTo>
                  <a:pt x="516800" y="0"/>
                </a:lnTo>
                <a:lnTo>
                  <a:pt x="516800" y="398582"/>
                </a:lnTo>
                <a:lnTo>
                  <a:pt x="0" y="398582"/>
                </a:lnTo>
                <a:lnTo>
                  <a:pt x="0" y="0"/>
                </a:lnTo>
                <a:close/>
              </a:path>
            </a:pathLst>
          </a:custGeom>
          <a:blipFill rotWithShape="1">
            <a:blip r:embed="rId4">
              <a:alphaModFix/>
            </a:blip>
            <a:stretch>
              <a:fillRect b="0" l="0" r="0" t="0"/>
            </a:stretch>
          </a:blipFill>
          <a:ln>
            <a:noFill/>
          </a:ln>
        </p:spPr>
      </p:sp>
      <p:grpSp>
        <p:nvGrpSpPr>
          <p:cNvPr id="628" name="Google Shape;628;p37"/>
          <p:cNvGrpSpPr/>
          <p:nvPr/>
        </p:nvGrpSpPr>
        <p:grpSpPr>
          <a:xfrm>
            <a:off x="9365734" y="5328996"/>
            <a:ext cx="7143750" cy="3230094"/>
            <a:chOff x="0" y="-85725"/>
            <a:chExt cx="9525000" cy="4306792"/>
          </a:xfrm>
        </p:grpSpPr>
        <p:sp>
          <p:nvSpPr>
            <p:cNvPr id="629" name="Google Shape;629;p37"/>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Respaldo Espejo (Mirror Backup)</a:t>
              </a:r>
              <a:endParaRPr/>
            </a:p>
          </p:txBody>
        </p:sp>
        <p:sp>
          <p:nvSpPr>
            <p:cNvPr id="630" name="Google Shape;630;p37"/>
            <p:cNvSpPr txBox="1"/>
            <p:nvPr/>
          </p:nvSpPr>
          <p:spPr>
            <a:xfrm>
              <a:off x="0" y="553180"/>
              <a:ext cx="9525000" cy="36678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Crea una copia exacta (espejo) de los archivos y carpetas seleccionados.</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Ventaja: La copia siempre está actualizada con los cambios realizados.</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Desventaja: Los datos eliminados también se eliminan del respaldo, lo que puede ser una desventaja si ocurre un borrado accidental.</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3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grpSp>
        <p:nvGrpSpPr>
          <p:cNvPr id="636" name="Google Shape;636;p38"/>
          <p:cNvGrpSpPr/>
          <p:nvPr/>
        </p:nvGrpSpPr>
        <p:grpSpPr>
          <a:xfrm>
            <a:off x="7629443" y="1253676"/>
            <a:ext cx="1228220" cy="1271400"/>
            <a:chOff x="0" y="-28575"/>
            <a:chExt cx="812800" cy="841375"/>
          </a:xfrm>
        </p:grpSpPr>
        <p:sp>
          <p:nvSpPr>
            <p:cNvPr id="637" name="Google Shape;637;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8"/>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9" name="Google Shape;639;p38"/>
          <p:cNvSpPr/>
          <p:nvPr/>
        </p:nvSpPr>
        <p:spPr>
          <a:xfrm>
            <a:off x="7985153" y="1688468"/>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grpSp>
        <p:nvGrpSpPr>
          <p:cNvPr id="640" name="Google Shape;640;p38"/>
          <p:cNvGrpSpPr/>
          <p:nvPr/>
        </p:nvGrpSpPr>
        <p:grpSpPr>
          <a:xfrm>
            <a:off x="9220555" y="1232562"/>
            <a:ext cx="7143750" cy="2887194"/>
            <a:chOff x="0" y="-85725"/>
            <a:chExt cx="9525000" cy="3849592"/>
          </a:xfrm>
        </p:grpSpPr>
        <p:sp>
          <p:nvSpPr>
            <p:cNvPr id="641" name="Google Shape;641;p38"/>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Dispositivos Locales</a:t>
              </a:r>
              <a:endParaRPr/>
            </a:p>
          </p:txBody>
        </p:sp>
        <p:sp>
          <p:nvSpPr>
            <p:cNvPr id="642" name="Google Shape;642;p38"/>
            <p:cNvSpPr txBox="1"/>
            <p:nvPr/>
          </p:nvSpPr>
          <p:spPr>
            <a:xfrm>
              <a:off x="0" y="553180"/>
              <a:ext cx="9525000" cy="32106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Los respaldos se almacenan en dispositivos como discos duros externos, cintas de respaldo o servidores de almacenamiento interno.</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Ventaja: Acceso rápido y bajo costo.</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Desventaja: Vulnerabilidad ante desastres locales, como incendios o fallos de hardware.</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nvGrpSpPr>
          <p:cNvPr id="643" name="Google Shape;643;p38"/>
          <p:cNvGrpSpPr/>
          <p:nvPr/>
        </p:nvGrpSpPr>
        <p:grpSpPr>
          <a:xfrm>
            <a:off x="1028700" y="4369787"/>
            <a:ext cx="5621019" cy="2752929"/>
            <a:chOff x="0" y="-123825"/>
            <a:chExt cx="7494692" cy="3670571"/>
          </a:xfrm>
        </p:grpSpPr>
        <p:sp>
          <p:nvSpPr>
            <p:cNvPr id="644" name="Google Shape;644;p38"/>
            <p:cNvSpPr txBox="1"/>
            <p:nvPr/>
          </p:nvSpPr>
          <p:spPr>
            <a:xfrm>
              <a:off x="0" y="-123825"/>
              <a:ext cx="7494692" cy="2874814"/>
            </a:xfrm>
            <a:prstGeom prst="rect">
              <a:avLst/>
            </a:prstGeom>
            <a:noFill/>
            <a:ln>
              <a:noFill/>
            </a:ln>
          </p:spPr>
          <p:txBody>
            <a:bodyPr anchorCtr="0" anchor="t" bIns="0" lIns="0" spcFirstLastPara="1" rIns="0" wrap="square" tIns="0">
              <a:spAutoFit/>
            </a:bodyPr>
            <a:lstStyle/>
            <a:p>
              <a:pPr indent="0" lvl="0" marL="0" marR="0" rtl="0" algn="ctr">
                <a:lnSpc>
                  <a:spcPct val="119004"/>
                </a:lnSpc>
                <a:spcBef>
                  <a:spcPts val="0"/>
                </a:spcBef>
                <a:spcAft>
                  <a:spcPts val="0"/>
                </a:spcAft>
                <a:buNone/>
              </a:pPr>
              <a:r>
                <a:rPr b="1" i="0" lang="en-US" sz="4599" u="none" cap="none" strike="noStrike">
                  <a:solidFill>
                    <a:srgbClr val="FFFFFF"/>
                  </a:solidFill>
                  <a:latin typeface="Arial"/>
                  <a:ea typeface="Arial"/>
                  <a:cs typeface="Arial"/>
                  <a:sym typeface="Arial"/>
                </a:rPr>
                <a:t>Métodos de Almacenamiento de Respaldo</a:t>
              </a:r>
              <a:endParaRPr/>
            </a:p>
          </p:txBody>
        </p:sp>
        <p:sp>
          <p:nvSpPr>
            <p:cNvPr id="645" name="Google Shape;645;p38"/>
            <p:cNvSpPr txBox="1"/>
            <p:nvPr/>
          </p:nvSpPr>
          <p:spPr>
            <a:xfrm>
              <a:off x="0" y="3019908"/>
              <a:ext cx="7494692" cy="526838"/>
            </a:xfrm>
            <a:prstGeom prst="rect">
              <a:avLst/>
            </a:prstGeom>
            <a:noFill/>
            <a:ln>
              <a:noFill/>
            </a:ln>
          </p:spPr>
          <p:txBody>
            <a:bodyPr anchorCtr="0" anchor="t" bIns="0" lIns="0" spcFirstLastPara="1" rIns="0" wrap="square" tIns="0">
              <a:spAutoFit/>
            </a:bodyPr>
            <a:lstStyle/>
            <a:p>
              <a:pPr indent="0" lvl="0" marL="0" marR="0" rtl="0" algn="l">
                <a:lnSpc>
                  <a:spcPct val="167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6" name="Google Shape;646;p38"/>
          <p:cNvGrpSpPr/>
          <p:nvPr/>
        </p:nvGrpSpPr>
        <p:grpSpPr>
          <a:xfrm>
            <a:off x="7774623" y="5350110"/>
            <a:ext cx="1228220" cy="1271400"/>
            <a:chOff x="0" y="-28575"/>
            <a:chExt cx="812800" cy="841375"/>
          </a:xfrm>
        </p:grpSpPr>
        <p:sp>
          <p:nvSpPr>
            <p:cNvPr id="647" name="Google Shape;647;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8"/>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9" name="Google Shape;649;p38"/>
          <p:cNvSpPr/>
          <p:nvPr/>
        </p:nvSpPr>
        <p:spPr>
          <a:xfrm>
            <a:off x="8130333" y="5784902"/>
            <a:ext cx="516800" cy="398582"/>
          </a:xfrm>
          <a:custGeom>
            <a:rect b="b" l="l" r="r" t="t"/>
            <a:pathLst>
              <a:path extrusionOk="0" h="398582" w="516800">
                <a:moveTo>
                  <a:pt x="0" y="0"/>
                </a:moveTo>
                <a:lnTo>
                  <a:pt x="516800" y="0"/>
                </a:lnTo>
                <a:lnTo>
                  <a:pt x="516800" y="398582"/>
                </a:lnTo>
                <a:lnTo>
                  <a:pt x="0" y="398582"/>
                </a:lnTo>
                <a:lnTo>
                  <a:pt x="0" y="0"/>
                </a:lnTo>
                <a:close/>
              </a:path>
            </a:pathLst>
          </a:custGeom>
          <a:blipFill rotWithShape="1">
            <a:blip r:embed="rId4">
              <a:alphaModFix/>
            </a:blip>
            <a:stretch>
              <a:fillRect b="0" l="0" r="0" t="0"/>
            </a:stretch>
          </a:blipFill>
          <a:ln>
            <a:noFill/>
          </a:ln>
        </p:spPr>
      </p:sp>
      <p:grpSp>
        <p:nvGrpSpPr>
          <p:cNvPr id="650" name="Google Shape;650;p38"/>
          <p:cNvGrpSpPr/>
          <p:nvPr/>
        </p:nvGrpSpPr>
        <p:grpSpPr>
          <a:xfrm>
            <a:off x="9365734" y="5328996"/>
            <a:ext cx="7143750" cy="2887194"/>
            <a:chOff x="0" y="-85725"/>
            <a:chExt cx="9525000" cy="3849592"/>
          </a:xfrm>
        </p:grpSpPr>
        <p:sp>
          <p:nvSpPr>
            <p:cNvPr id="651" name="Google Shape;651;p38"/>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Almacenamiento en Red (NAS)</a:t>
              </a:r>
              <a:endParaRPr/>
            </a:p>
          </p:txBody>
        </p:sp>
        <p:sp>
          <p:nvSpPr>
            <p:cNvPr id="652" name="Google Shape;652;p38"/>
            <p:cNvSpPr txBox="1"/>
            <p:nvPr/>
          </p:nvSpPr>
          <p:spPr>
            <a:xfrm>
              <a:off x="0" y="553180"/>
              <a:ext cx="9525000" cy="32106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Utiliza dispositivos de almacenamiento conectados a la red que permiten el acceso desde varios dispositivos y usuarios.</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Ventaja: Flexibilidad para gestionar grandes volúmenes de datos.</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Desventaja: Puede estar expuesto a ataques de red si no se protege adecuadamente</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grpSp>
        <p:nvGrpSpPr>
          <p:cNvPr id="658" name="Google Shape;658;p39"/>
          <p:cNvGrpSpPr/>
          <p:nvPr/>
        </p:nvGrpSpPr>
        <p:grpSpPr>
          <a:xfrm>
            <a:off x="7629443" y="1253676"/>
            <a:ext cx="1228220" cy="1271400"/>
            <a:chOff x="0" y="-28575"/>
            <a:chExt cx="812800" cy="841375"/>
          </a:xfrm>
        </p:grpSpPr>
        <p:sp>
          <p:nvSpPr>
            <p:cNvPr id="659" name="Google Shape;659;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9"/>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61" name="Google Shape;661;p39"/>
          <p:cNvSpPr/>
          <p:nvPr/>
        </p:nvSpPr>
        <p:spPr>
          <a:xfrm>
            <a:off x="7985153" y="1688468"/>
            <a:ext cx="516800" cy="398582"/>
          </a:xfrm>
          <a:custGeom>
            <a:rect b="b" l="l" r="r" t="t"/>
            <a:pathLst>
              <a:path extrusionOk="0" h="398582" w="516800">
                <a:moveTo>
                  <a:pt x="0" y="0"/>
                </a:moveTo>
                <a:lnTo>
                  <a:pt x="516801" y="0"/>
                </a:lnTo>
                <a:lnTo>
                  <a:pt x="516801" y="398582"/>
                </a:lnTo>
                <a:lnTo>
                  <a:pt x="0" y="398582"/>
                </a:lnTo>
                <a:lnTo>
                  <a:pt x="0" y="0"/>
                </a:lnTo>
                <a:close/>
              </a:path>
            </a:pathLst>
          </a:custGeom>
          <a:blipFill rotWithShape="1">
            <a:blip r:embed="rId4">
              <a:alphaModFix/>
            </a:blip>
            <a:stretch>
              <a:fillRect b="0" l="0" r="0" t="0"/>
            </a:stretch>
          </a:blipFill>
          <a:ln>
            <a:noFill/>
          </a:ln>
        </p:spPr>
      </p:sp>
      <p:grpSp>
        <p:nvGrpSpPr>
          <p:cNvPr id="662" name="Google Shape;662;p39"/>
          <p:cNvGrpSpPr/>
          <p:nvPr/>
        </p:nvGrpSpPr>
        <p:grpSpPr>
          <a:xfrm>
            <a:off x="9220555" y="1232562"/>
            <a:ext cx="7143750" cy="2887194"/>
            <a:chOff x="0" y="-85725"/>
            <a:chExt cx="9525000" cy="3849592"/>
          </a:xfrm>
        </p:grpSpPr>
        <p:sp>
          <p:nvSpPr>
            <p:cNvPr id="663" name="Google Shape;663;p39"/>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Almacenamiento en Cintas (Tape Backup)</a:t>
              </a:r>
              <a:endParaRPr/>
            </a:p>
          </p:txBody>
        </p:sp>
        <p:sp>
          <p:nvSpPr>
            <p:cNvPr id="664" name="Google Shape;664;p39"/>
            <p:cNvSpPr txBox="1"/>
            <p:nvPr/>
          </p:nvSpPr>
          <p:spPr>
            <a:xfrm>
              <a:off x="0" y="553180"/>
              <a:ext cx="9525000" cy="32106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Utiliza cintas magnéticas para almacenar copias de seguridad, que son fiables para almacenamiento a largo plazo.</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Ventaja: Alta capacidad y durabilidad para respaldos de archivo y almacenamiento a largo plazo.</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Desventaja: Tiempo de acceso más lento y mayor esfuerzo de mantenimiento.</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grpSp>
        <p:nvGrpSpPr>
          <p:cNvPr id="665" name="Google Shape;665;p39"/>
          <p:cNvGrpSpPr/>
          <p:nvPr/>
        </p:nvGrpSpPr>
        <p:grpSpPr>
          <a:xfrm>
            <a:off x="1590342" y="4369787"/>
            <a:ext cx="4812162" cy="2752929"/>
            <a:chOff x="0" y="-123825"/>
            <a:chExt cx="6416216" cy="3670571"/>
          </a:xfrm>
        </p:grpSpPr>
        <p:sp>
          <p:nvSpPr>
            <p:cNvPr id="666" name="Google Shape;666;p39"/>
            <p:cNvSpPr txBox="1"/>
            <p:nvPr/>
          </p:nvSpPr>
          <p:spPr>
            <a:xfrm>
              <a:off x="0" y="-123825"/>
              <a:ext cx="6416216" cy="2874814"/>
            </a:xfrm>
            <a:prstGeom prst="rect">
              <a:avLst/>
            </a:prstGeom>
            <a:noFill/>
            <a:ln>
              <a:noFill/>
            </a:ln>
          </p:spPr>
          <p:txBody>
            <a:bodyPr anchorCtr="0" anchor="t" bIns="0" lIns="0" spcFirstLastPara="1" rIns="0" wrap="square" tIns="0">
              <a:spAutoFit/>
            </a:bodyPr>
            <a:lstStyle/>
            <a:p>
              <a:pPr indent="0" lvl="0" marL="0" marR="0" rtl="0" algn="ctr">
                <a:lnSpc>
                  <a:spcPct val="119004"/>
                </a:lnSpc>
                <a:spcBef>
                  <a:spcPts val="0"/>
                </a:spcBef>
                <a:spcAft>
                  <a:spcPts val="0"/>
                </a:spcAft>
                <a:buNone/>
              </a:pPr>
              <a:r>
                <a:rPr b="1" i="0" lang="en-US" sz="4599" u="none" cap="none" strike="noStrike">
                  <a:solidFill>
                    <a:srgbClr val="FFFFFF"/>
                  </a:solidFill>
                  <a:latin typeface="Arial"/>
                  <a:ea typeface="Arial"/>
                  <a:cs typeface="Arial"/>
                  <a:sym typeface="Arial"/>
                </a:rPr>
                <a:t>Métodos de Almacenamiento de Respaldo</a:t>
              </a:r>
              <a:endParaRPr/>
            </a:p>
          </p:txBody>
        </p:sp>
        <p:sp>
          <p:nvSpPr>
            <p:cNvPr id="667" name="Google Shape;667;p39"/>
            <p:cNvSpPr txBox="1"/>
            <p:nvPr/>
          </p:nvSpPr>
          <p:spPr>
            <a:xfrm>
              <a:off x="0" y="3019908"/>
              <a:ext cx="6416216" cy="526838"/>
            </a:xfrm>
            <a:prstGeom prst="rect">
              <a:avLst/>
            </a:prstGeom>
            <a:noFill/>
            <a:ln>
              <a:noFill/>
            </a:ln>
          </p:spPr>
          <p:txBody>
            <a:bodyPr anchorCtr="0" anchor="t" bIns="0" lIns="0" spcFirstLastPara="1" rIns="0" wrap="square" tIns="0">
              <a:spAutoFit/>
            </a:bodyPr>
            <a:lstStyle/>
            <a:p>
              <a:pPr indent="0" lvl="0" marL="0" marR="0" rtl="0" algn="l">
                <a:lnSpc>
                  <a:spcPct val="167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8" name="Google Shape;668;p39"/>
          <p:cNvGrpSpPr/>
          <p:nvPr/>
        </p:nvGrpSpPr>
        <p:grpSpPr>
          <a:xfrm>
            <a:off x="7774623" y="5350110"/>
            <a:ext cx="1228220" cy="1271400"/>
            <a:chOff x="0" y="-28575"/>
            <a:chExt cx="812800" cy="841375"/>
          </a:xfrm>
        </p:grpSpPr>
        <p:sp>
          <p:nvSpPr>
            <p:cNvPr id="669" name="Google Shape;669;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9"/>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71" name="Google Shape;671;p39"/>
          <p:cNvSpPr/>
          <p:nvPr/>
        </p:nvSpPr>
        <p:spPr>
          <a:xfrm>
            <a:off x="8130333" y="5784902"/>
            <a:ext cx="516800" cy="398582"/>
          </a:xfrm>
          <a:custGeom>
            <a:rect b="b" l="l" r="r" t="t"/>
            <a:pathLst>
              <a:path extrusionOk="0" h="398582" w="516800">
                <a:moveTo>
                  <a:pt x="0" y="0"/>
                </a:moveTo>
                <a:lnTo>
                  <a:pt x="516800" y="0"/>
                </a:lnTo>
                <a:lnTo>
                  <a:pt x="516800" y="398582"/>
                </a:lnTo>
                <a:lnTo>
                  <a:pt x="0" y="398582"/>
                </a:lnTo>
                <a:lnTo>
                  <a:pt x="0" y="0"/>
                </a:lnTo>
                <a:close/>
              </a:path>
            </a:pathLst>
          </a:custGeom>
          <a:blipFill rotWithShape="1">
            <a:blip r:embed="rId4">
              <a:alphaModFix/>
            </a:blip>
            <a:stretch>
              <a:fillRect b="0" l="0" r="0" t="0"/>
            </a:stretch>
          </a:blipFill>
          <a:ln>
            <a:noFill/>
          </a:ln>
        </p:spPr>
      </p:sp>
      <p:grpSp>
        <p:nvGrpSpPr>
          <p:cNvPr id="672" name="Google Shape;672;p39"/>
          <p:cNvGrpSpPr/>
          <p:nvPr/>
        </p:nvGrpSpPr>
        <p:grpSpPr>
          <a:xfrm>
            <a:off x="9365734" y="5328996"/>
            <a:ext cx="7143750" cy="1858494"/>
            <a:chOff x="0" y="-85725"/>
            <a:chExt cx="9525000" cy="2477992"/>
          </a:xfrm>
        </p:grpSpPr>
        <p:sp>
          <p:nvSpPr>
            <p:cNvPr id="673" name="Google Shape;673;p39"/>
            <p:cNvSpPr txBox="1"/>
            <p:nvPr/>
          </p:nvSpPr>
          <p:spPr>
            <a:xfrm>
              <a:off x="0" y="-85725"/>
              <a:ext cx="9525000" cy="564261"/>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i="0" lang="en-US" sz="2400" u="none" cap="none" strike="noStrike">
                  <a:solidFill>
                    <a:srgbClr val="FFFFFF"/>
                  </a:solidFill>
                  <a:latin typeface="Arial"/>
                  <a:ea typeface="Arial"/>
                  <a:cs typeface="Arial"/>
                  <a:sym typeface="Arial"/>
                </a:rPr>
                <a:t>Estrategias de Respaldo</a:t>
              </a:r>
              <a:endParaRPr/>
            </a:p>
          </p:txBody>
        </p:sp>
        <p:sp>
          <p:nvSpPr>
            <p:cNvPr id="674" name="Google Shape;674;p39"/>
            <p:cNvSpPr txBox="1"/>
            <p:nvPr/>
          </p:nvSpPr>
          <p:spPr>
            <a:xfrm>
              <a:off x="0" y="553180"/>
              <a:ext cx="9525000" cy="1839087"/>
            </a:xfrm>
            <a:prstGeom prst="rect">
              <a:avLst/>
            </a:prstGeom>
            <a:noFill/>
            <a:ln>
              <a:noFill/>
            </a:ln>
          </p:spPr>
          <p:txBody>
            <a:bodyPr anchorCtr="0" anchor="t" bIns="0" lIns="0" spcFirstLastPara="1" rIns="0" wrap="square" tIns="0">
              <a:spAutoFit/>
            </a:bodyPr>
            <a:lstStyle/>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Respaldo en Tiempo Real (Real-Time Backup)</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Respaldo Programado.</a:t>
              </a:r>
              <a:endParaRPr/>
            </a:p>
            <a:p>
              <a:pPr indent="-194310" lvl="1" marL="388620" marR="0" rtl="0" algn="l">
                <a:lnSpc>
                  <a:spcPct val="151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Respaldo Offsite (Externo).</a:t>
              </a:r>
              <a:endParaRPr/>
            </a:p>
            <a:p>
              <a:pPr indent="0" lvl="0" marL="0" marR="0" rtl="0" algn="l">
                <a:lnSpc>
                  <a:spcPct val="151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grpSp>
        <p:nvGrpSpPr>
          <p:cNvPr id="680" name="Google Shape;680;p40"/>
          <p:cNvGrpSpPr/>
          <p:nvPr/>
        </p:nvGrpSpPr>
        <p:grpSpPr>
          <a:xfrm>
            <a:off x="6980351" y="3525494"/>
            <a:ext cx="4078420" cy="4221802"/>
            <a:chOff x="0" y="-28575"/>
            <a:chExt cx="812800" cy="841375"/>
          </a:xfrm>
        </p:grpSpPr>
        <p:sp>
          <p:nvSpPr>
            <p:cNvPr id="681" name="Google Shape;681;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5757"/>
                </a:gs>
                <a:gs pos="100000">
                  <a:srgbClr val="8C52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0"/>
            <p:cNvSpPr txBox="1"/>
            <p:nvPr/>
          </p:nvSpPr>
          <p:spPr>
            <a:xfrm>
              <a:off x="76200" y="-28575"/>
              <a:ext cx="660400" cy="765175"/>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83" name="Google Shape;683;p40"/>
          <p:cNvSpPr txBox="1"/>
          <p:nvPr/>
        </p:nvSpPr>
        <p:spPr>
          <a:xfrm>
            <a:off x="-1340395" y="2607410"/>
            <a:ext cx="11013628" cy="699516"/>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1" i="0" lang="en-US" sz="3900" u="none" cap="none" strike="noStrike">
                <a:solidFill>
                  <a:srgbClr val="FFFFFF"/>
                </a:solidFill>
                <a:latin typeface="Arial"/>
                <a:ea typeface="Arial"/>
                <a:cs typeface="Arial"/>
                <a:sym typeface="Arial"/>
              </a:rPr>
              <a:t>Seguridad de Respaldo</a:t>
            </a:r>
            <a:endParaRPr/>
          </a:p>
        </p:txBody>
      </p:sp>
      <p:sp>
        <p:nvSpPr>
          <p:cNvPr id="684" name="Google Shape;684;p40"/>
          <p:cNvSpPr txBox="1"/>
          <p:nvPr/>
        </p:nvSpPr>
        <p:spPr>
          <a:xfrm>
            <a:off x="7135900" y="4450683"/>
            <a:ext cx="3767321" cy="2391093"/>
          </a:xfrm>
          <a:prstGeom prst="rect">
            <a:avLst/>
          </a:prstGeom>
          <a:noFill/>
          <a:ln>
            <a:noFill/>
          </a:ln>
        </p:spPr>
        <p:txBody>
          <a:bodyPr anchorCtr="0" anchor="t" bIns="0" lIns="0" spcFirstLastPara="1" rIns="0" wrap="square" tIns="0">
            <a:spAutoFit/>
          </a:bodyPr>
          <a:lstStyle/>
          <a:p>
            <a:pPr indent="0" lvl="0" marL="0" marR="0" rtl="0" algn="ctr">
              <a:lnSpc>
                <a:spcPct val="117987"/>
              </a:lnSpc>
              <a:spcBef>
                <a:spcPts val="0"/>
              </a:spcBef>
              <a:spcAft>
                <a:spcPts val="0"/>
              </a:spcAft>
              <a:buNone/>
            </a:pPr>
            <a:r>
              <a:rPr b="1" i="0" lang="en-US" sz="3875" u="none" cap="none" strike="noStrike">
                <a:solidFill>
                  <a:srgbClr val="FFFFFF"/>
                </a:solidFill>
                <a:latin typeface="Arial"/>
                <a:ea typeface="Arial"/>
                <a:cs typeface="Arial"/>
                <a:sym typeface="Arial"/>
              </a:rPr>
              <a:t>Buenas Prácticas en Respaldo y Recuperación</a:t>
            </a:r>
            <a:endParaRPr/>
          </a:p>
        </p:txBody>
      </p:sp>
      <p:sp>
        <p:nvSpPr>
          <p:cNvPr id="685" name="Google Shape;685;p40"/>
          <p:cNvSpPr txBox="1"/>
          <p:nvPr/>
        </p:nvSpPr>
        <p:spPr>
          <a:xfrm>
            <a:off x="8272923" y="2570561"/>
            <a:ext cx="11013628" cy="653034"/>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1" i="0" lang="en-US" sz="3600" u="none" cap="none" strike="noStrike">
                <a:solidFill>
                  <a:srgbClr val="FFFFFF"/>
                </a:solidFill>
                <a:latin typeface="Arial"/>
                <a:ea typeface="Arial"/>
                <a:cs typeface="Arial"/>
                <a:sym typeface="Arial"/>
              </a:rPr>
              <a:t>Rotación de Medios</a:t>
            </a:r>
            <a:endParaRPr/>
          </a:p>
        </p:txBody>
      </p:sp>
      <p:sp>
        <p:nvSpPr>
          <p:cNvPr id="686" name="Google Shape;686;p40"/>
          <p:cNvSpPr txBox="1"/>
          <p:nvPr/>
        </p:nvSpPr>
        <p:spPr>
          <a:xfrm>
            <a:off x="-1994068" y="5123498"/>
            <a:ext cx="11013628" cy="1045464"/>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1" i="0" lang="en-US" sz="3200" u="none" cap="none" strike="noStrike">
                <a:solidFill>
                  <a:srgbClr val="FFFFFF"/>
                </a:solidFill>
                <a:latin typeface="Arial"/>
                <a:ea typeface="Arial"/>
                <a:cs typeface="Arial"/>
                <a:sym typeface="Arial"/>
              </a:rPr>
              <a:t>Documentación de Proceso</a:t>
            </a:r>
            <a:endParaRPr/>
          </a:p>
          <a:p>
            <a:pPr indent="0" lvl="0" marL="0" marR="0" rtl="0" algn="ctr">
              <a:lnSpc>
                <a:spcPct val="123000"/>
              </a:lnSpc>
              <a:spcBef>
                <a:spcPts val="0"/>
              </a:spcBef>
              <a:spcAft>
                <a:spcPts val="0"/>
              </a:spcAft>
              <a:buNone/>
            </a:pPr>
            <a:r>
              <a:rPr b="1" i="0" lang="en-US" sz="3000" u="none" cap="none" strike="noStrike">
                <a:solidFill>
                  <a:srgbClr val="FFFFFF"/>
                </a:solidFill>
                <a:latin typeface="Arial"/>
                <a:ea typeface="Arial"/>
                <a:cs typeface="Arial"/>
                <a:sym typeface="Arial"/>
              </a:rPr>
              <a:t> de Recuperación</a:t>
            </a:r>
            <a:endParaRPr/>
          </a:p>
        </p:txBody>
      </p:sp>
      <p:sp>
        <p:nvSpPr>
          <p:cNvPr id="687" name="Google Shape;687;p40"/>
          <p:cNvSpPr txBox="1"/>
          <p:nvPr/>
        </p:nvSpPr>
        <p:spPr>
          <a:xfrm>
            <a:off x="8666982" y="5314950"/>
            <a:ext cx="11013628" cy="653034"/>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1" i="0" lang="en-US" sz="3600" u="none" cap="none" strike="noStrike">
                <a:solidFill>
                  <a:srgbClr val="FFFFFF"/>
                </a:solidFill>
                <a:latin typeface="Arial"/>
                <a:ea typeface="Arial"/>
                <a:cs typeface="Arial"/>
                <a:sym typeface="Arial"/>
              </a:rPr>
              <a:t>Backup en Frío</a:t>
            </a:r>
            <a:endParaRPr/>
          </a:p>
        </p:txBody>
      </p:sp>
      <p:sp>
        <p:nvSpPr>
          <p:cNvPr id="688" name="Google Shape;688;p40"/>
          <p:cNvSpPr txBox="1"/>
          <p:nvPr/>
        </p:nvSpPr>
        <p:spPr>
          <a:xfrm>
            <a:off x="-521534" y="8004471"/>
            <a:ext cx="11013628" cy="653034"/>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1" i="0" lang="en-US" sz="3600" u="none" cap="none" strike="noStrike">
                <a:solidFill>
                  <a:srgbClr val="FFFFFF"/>
                </a:solidFill>
                <a:latin typeface="Arial"/>
                <a:ea typeface="Arial"/>
                <a:cs typeface="Arial"/>
                <a:sym typeface="Arial"/>
              </a:rPr>
              <a:t>Seguridad de Respaldo</a:t>
            </a:r>
            <a:endParaRPr/>
          </a:p>
        </p:txBody>
      </p:sp>
      <p:sp>
        <p:nvSpPr>
          <p:cNvPr id="689" name="Google Shape;689;p40"/>
          <p:cNvSpPr txBox="1"/>
          <p:nvPr/>
        </p:nvSpPr>
        <p:spPr>
          <a:xfrm>
            <a:off x="8666982" y="7732437"/>
            <a:ext cx="11013628" cy="653034"/>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1" i="0" lang="en-US" sz="3600" u="none" cap="none" strike="noStrike">
                <a:solidFill>
                  <a:srgbClr val="FFFFFF"/>
                </a:solidFill>
                <a:latin typeface="Arial"/>
                <a:ea typeface="Arial"/>
                <a:cs typeface="Arial"/>
                <a:sym typeface="Arial"/>
              </a:rPr>
              <a:t>Backup en caliente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4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4116" l="-2624" r="-1774" t="-3017"/>
            </a:stretch>
          </a:blipFill>
          <a:ln>
            <a:noFill/>
          </a:ln>
        </p:spPr>
      </p:sp>
      <p:grpSp>
        <p:nvGrpSpPr>
          <p:cNvPr id="695" name="Google Shape;695;p41"/>
          <p:cNvGrpSpPr/>
          <p:nvPr/>
        </p:nvGrpSpPr>
        <p:grpSpPr>
          <a:xfrm>
            <a:off x="1287868" y="2700995"/>
            <a:ext cx="10000768" cy="4224012"/>
            <a:chOff x="0" y="-142875"/>
            <a:chExt cx="13334357" cy="5632017"/>
          </a:xfrm>
        </p:grpSpPr>
        <p:sp>
          <p:nvSpPr>
            <p:cNvPr id="696" name="Google Shape;696;p41"/>
            <p:cNvSpPr txBox="1"/>
            <p:nvPr/>
          </p:nvSpPr>
          <p:spPr>
            <a:xfrm>
              <a:off x="0" y="-142875"/>
              <a:ext cx="13334357" cy="1209588"/>
            </a:xfrm>
            <a:prstGeom prst="rect">
              <a:avLst/>
            </a:prstGeom>
            <a:noFill/>
            <a:ln>
              <a:noFill/>
            </a:ln>
          </p:spPr>
          <p:txBody>
            <a:bodyPr anchorCtr="0" anchor="t" bIns="0" lIns="0" spcFirstLastPara="1" rIns="0" wrap="square" tIns="0">
              <a:spAutoFit/>
            </a:bodyPr>
            <a:lstStyle/>
            <a:p>
              <a:pPr indent="0" lvl="1" marL="0" marR="0" rtl="0" algn="l">
                <a:lnSpc>
                  <a:spcPct val="118986"/>
                </a:lnSpc>
                <a:spcBef>
                  <a:spcPts val="0"/>
                </a:spcBef>
                <a:spcAft>
                  <a:spcPts val="0"/>
                </a:spcAft>
                <a:buNone/>
              </a:pPr>
              <a:r>
                <a:rPr b="1" i="0" lang="en-US" sz="5288" u="none" cap="none" strike="noStrike">
                  <a:solidFill>
                    <a:srgbClr val="FFFFFF"/>
                  </a:solidFill>
                  <a:latin typeface="Arial"/>
                  <a:ea typeface="Arial"/>
                  <a:cs typeface="Arial"/>
                  <a:sym typeface="Arial"/>
                </a:rPr>
                <a:t>Conclusión</a:t>
              </a:r>
              <a:endParaRPr/>
            </a:p>
          </p:txBody>
        </p:sp>
        <p:sp>
          <p:nvSpPr>
            <p:cNvPr id="697" name="Google Shape;697;p41"/>
            <p:cNvSpPr txBox="1"/>
            <p:nvPr/>
          </p:nvSpPr>
          <p:spPr>
            <a:xfrm>
              <a:off x="0" y="1436938"/>
              <a:ext cx="13334357" cy="4052204"/>
            </a:xfrm>
            <a:prstGeom prst="rect">
              <a:avLst/>
            </a:prstGeom>
            <a:noFill/>
            <a:ln>
              <a:noFill/>
            </a:ln>
          </p:spPr>
          <p:txBody>
            <a:bodyPr anchorCtr="0" anchor="t" bIns="0" lIns="0" spcFirstLastPara="1" rIns="0" wrap="square" tIns="0">
              <a:spAutoFit/>
            </a:bodyPr>
            <a:lstStyle/>
            <a:p>
              <a:pPr indent="0" lvl="0" marL="0" marR="0" rtl="0" algn="just">
                <a:lnSpc>
                  <a:spcPct val="150983"/>
                </a:lnSpc>
                <a:spcBef>
                  <a:spcPts val="0"/>
                </a:spcBef>
                <a:spcAft>
                  <a:spcPts val="0"/>
                </a:spcAft>
                <a:buNone/>
              </a:pPr>
              <a:r>
                <a:rPr b="0" i="0" lang="en-US" sz="2644" u="none" cap="none" strike="noStrike">
                  <a:solidFill>
                    <a:srgbClr val="FFFFFF"/>
                  </a:solidFill>
                  <a:latin typeface="Arial"/>
                  <a:ea typeface="Arial"/>
                  <a:cs typeface="Arial"/>
                  <a:sym typeface="Arial"/>
                </a:rPr>
                <a:t>La estrategia de respaldo y recuperación debe estar alineada con los requisitos de seguridad, tiempo y disponibilidad de los datos de la organización. Implementar varias técnicas y prácticas asegura que los datos puedan recuperarse rápidamente en caso de pérdida, garantizando la continuidad del negocio y minimizando el impacto de posibles incidentes.</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703" name="Google Shape;703;p42"/>
          <p:cNvSpPr txBox="1"/>
          <p:nvPr/>
        </p:nvSpPr>
        <p:spPr>
          <a:xfrm>
            <a:off x="921986" y="1142755"/>
            <a:ext cx="14147308" cy="1221991"/>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7599" u="none" cap="none" strike="noStrike">
                <a:solidFill>
                  <a:srgbClr val="FFFFFF"/>
                </a:solidFill>
                <a:latin typeface="Arial"/>
                <a:ea typeface="Arial"/>
                <a:cs typeface="Arial"/>
                <a:sym typeface="Arial"/>
              </a:rPr>
              <a:t>Conceptos claves aprendidos</a:t>
            </a:r>
            <a:endParaRPr/>
          </a:p>
        </p:txBody>
      </p:sp>
      <p:sp>
        <p:nvSpPr>
          <p:cNvPr id="704" name="Google Shape;704;p42"/>
          <p:cNvSpPr txBox="1"/>
          <p:nvPr/>
        </p:nvSpPr>
        <p:spPr>
          <a:xfrm>
            <a:off x="698516" y="3094672"/>
            <a:ext cx="16890969" cy="5875399"/>
          </a:xfrm>
          <a:prstGeom prst="rect">
            <a:avLst/>
          </a:prstGeom>
          <a:noFill/>
          <a:ln>
            <a:noFill/>
          </a:ln>
        </p:spPr>
        <p:txBody>
          <a:bodyPr anchorCtr="0" anchor="t" bIns="0" lIns="0" spcFirstLastPara="1" rIns="0" wrap="square" tIns="0">
            <a:spAutoFit/>
          </a:bodyPr>
          <a:lstStyle/>
          <a:p>
            <a:pPr indent="-269874" lvl="1" marL="539749" marR="0" rtl="0" algn="l">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Arial"/>
                <a:ea typeface="Arial"/>
                <a:cs typeface="Arial"/>
                <a:sym typeface="Arial"/>
              </a:rPr>
              <a:t>Cifrado de datos:  </a:t>
            </a:r>
            <a:r>
              <a:rPr b="0" i="0" lang="en-US" sz="2499" u="none" cap="none" strike="noStrike">
                <a:solidFill>
                  <a:srgbClr val="FFFFFF"/>
                </a:solidFill>
                <a:latin typeface="Arial"/>
                <a:ea typeface="Arial"/>
                <a:cs typeface="Arial"/>
                <a:sym typeface="Arial"/>
              </a:rPr>
              <a:t>Proceso que transforma información legible en datos codificados para evitar accesos no autorizados. Solo quienes tienen la clave pueden descifrar y leer la información.</a:t>
            </a:r>
            <a:endParaRPr/>
          </a:p>
          <a:p>
            <a:pPr indent="0" lvl="0" marL="0" marR="0" rtl="0" algn="l">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a:p>
            <a:pPr indent="-269874" lvl="1" marL="539749" marR="0" rtl="0" algn="l">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Arial"/>
                <a:ea typeface="Arial"/>
                <a:cs typeface="Arial"/>
                <a:sym typeface="Arial"/>
              </a:rPr>
              <a:t>Elementos claves de seguridad: </a:t>
            </a:r>
            <a:r>
              <a:rPr b="0" i="0" lang="en-US" sz="2499" u="none" cap="none" strike="noStrike">
                <a:solidFill>
                  <a:srgbClr val="FFFFFF"/>
                </a:solidFill>
                <a:latin typeface="Arial"/>
                <a:ea typeface="Arial"/>
                <a:cs typeface="Arial"/>
                <a:sym typeface="Arial"/>
              </a:rPr>
              <a:t> Principios que garantizan la protección de la información: asegurar su confidencialidad, integridad, disponibilidad, y controlar quién accede y qué puede hacer</a:t>
            </a:r>
            <a:r>
              <a:rPr b="1" i="0" lang="en-US" sz="2499" u="none" cap="none" strike="noStrike">
                <a:solidFill>
                  <a:srgbClr val="FFFFFF"/>
                </a:solidFill>
                <a:latin typeface="Arial"/>
                <a:ea typeface="Arial"/>
                <a:cs typeface="Arial"/>
                <a:sym typeface="Arial"/>
              </a:rPr>
              <a:t>.</a:t>
            </a:r>
            <a:endParaRPr/>
          </a:p>
          <a:p>
            <a:pPr indent="0" lvl="0" marL="0" marR="0" rtl="0" algn="l">
              <a:lnSpc>
                <a:spcPct val="140016"/>
              </a:lnSpc>
              <a:spcBef>
                <a:spcPts val="0"/>
              </a:spcBef>
              <a:spcAft>
                <a:spcPts val="0"/>
              </a:spcAft>
              <a:buNone/>
            </a:pPr>
            <a:r>
              <a:t/>
            </a:r>
            <a:endParaRPr b="1" i="0" sz="2499" u="none" cap="none" strike="noStrike">
              <a:solidFill>
                <a:srgbClr val="FFFFFF"/>
              </a:solidFill>
              <a:latin typeface="Arial"/>
              <a:ea typeface="Arial"/>
              <a:cs typeface="Arial"/>
              <a:sym typeface="Arial"/>
            </a:endParaRPr>
          </a:p>
          <a:p>
            <a:pPr indent="-269874" lvl="1" marL="539749" marR="0" rtl="0" algn="l">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Arial"/>
                <a:ea typeface="Arial"/>
                <a:cs typeface="Arial"/>
                <a:sym typeface="Arial"/>
              </a:rPr>
              <a:t>Estrategias de seguridad: </a:t>
            </a:r>
            <a:r>
              <a:rPr b="0" i="0" lang="en-US" sz="2499" u="none" cap="none" strike="noStrike">
                <a:solidFill>
                  <a:srgbClr val="FFFFFF"/>
                </a:solidFill>
                <a:latin typeface="Arial"/>
                <a:ea typeface="Arial"/>
                <a:cs typeface="Arial"/>
                <a:sym typeface="Arial"/>
              </a:rPr>
              <a:t>Conjunto de medidas que se aplican para prevenir ataques y proteger los sistemas, como el uso de contraseñas seguras, cifrado, actualizaciones y respaldos.</a:t>
            </a:r>
            <a:endParaRPr/>
          </a:p>
          <a:p>
            <a:pPr indent="0" lvl="0" marL="0" marR="0" rtl="0" algn="l">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a:p>
            <a:pPr indent="-269874" lvl="1" marL="539749" marR="0" rtl="0" algn="l">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Arial"/>
                <a:ea typeface="Arial"/>
                <a:cs typeface="Arial"/>
                <a:sym typeface="Arial"/>
              </a:rPr>
              <a:t>Amenazas comunes de seguridad: </a:t>
            </a:r>
            <a:r>
              <a:rPr b="0" i="0" lang="en-US" sz="2499" u="none" cap="none" strike="noStrike">
                <a:solidFill>
                  <a:srgbClr val="FFFFFF"/>
                </a:solidFill>
                <a:latin typeface="Arial"/>
                <a:ea typeface="Arial"/>
                <a:cs typeface="Arial"/>
                <a:sym typeface="Arial"/>
              </a:rPr>
              <a:t>Riesgos frecuentes que afectan la información o los sistemas, como virus, fraudes, bloqueos maliciosos y accesos no autorizados.</a:t>
            </a:r>
            <a:endParaRPr/>
          </a:p>
          <a:p>
            <a:pPr indent="0" lvl="0" marL="0" marR="0" rtl="0" algn="l">
              <a:lnSpc>
                <a:spcPct val="160784"/>
              </a:lnSpc>
              <a:spcBef>
                <a:spcPts val="0"/>
              </a:spcBef>
              <a:spcAft>
                <a:spcPts val="0"/>
              </a:spcAft>
              <a:buNone/>
            </a:pPr>
            <a:r>
              <a:t/>
            </a:r>
            <a:endParaRPr b="0" i="0" sz="2499" u="none" cap="none" strike="noStrike">
              <a:solidFill>
                <a:srgbClr val="FFFFFF"/>
              </a:solidFill>
              <a:latin typeface="Arial"/>
              <a:ea typeface="Arial"/>
              <a:cs typeface="Arial"/>
              <a:sym typeface="Arial"/>
            </a:endParaRPr>
          </a:p>
          <a:p>
            <a:pPr indent="0" lvl="0" marL="0" marR="0" rtl="0" algn="l">
              <a:lnSpc>
                <a:spcPct val="160784"/>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4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710" name="Google Shape;710;p43"/>
          <p:cNvSpPr txBox="1"/>
          <p:nvPr/>
        </p:nvSpPr>
        <p:spPr>
          <a:xfrm>
            <a:off x="921986" y="1142755"/>
            <a:ext cx="14147308" cy="1221991"/>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7599" u="none" cap="none" strike="noStrike">
                <a:solidFill>
                  <a:srgbClr val="FFFFFF"/>
                </a:solidFill>
                <a:latin typeface="Arial"/>
                <a:ea typeface="Arial"/>
                <a:cs typeface="Arial"/>
                <a:sym typeface="Arial"/>
              </a:rPr>
              <a:t>Conceptos claves aprendidos</a:t>
            </a:r>
            <a:endParaRPr/>
          </a:p>
        </p:txBody>
      </p:sp>
      <p:sp>
        <p:nvSpPr>
          <p:cNvPr id="711" name="Google Shape;711;p43"/>
          <p:cNvSpPr txBox="1"/>
          <p:nvPr/>
        </p:nvSpPr>
        <p:spPr>
          <a:xfrm>
            <a:off x="698516" y="3094672"/>
            <a:ext cx="16890969" cy="3684649"/>
          </a:xfrm>
          <a:prstGeom prst="rect">
            <a:avLst/>
          </a:prstGeom>
          <a:noFill/>
          <a:ln>
            <a:noFill/>
          </a:ln>
        </p:spPr>
        <p:txBody>
          <a:bodyPr anchorCtr="0" anchor="t" bIns="0" lIns="0" spcFirstLastPara="1" rIns="0" wrap="square" tIns="0">
            <a:spAutoFit/>
          </a:bodyPr>
          <a:lstStyle/>
          <a:p>
            <a:pPr indent="-269874" lvl="1" marL="539749" marR="0" rtl="0" algn="l">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Arial"/>
                <a:ea typeface="Arial"/>
                <a:cs typeface="Arial"/>
                <a:sym typeface="Arial"/>
              </a:rPr>
              <a:t>Seguridad en el almacenamiento: </a:t>
            </a:r>
            <a:r>
              <a:rPr b="0" i="0" lang="en-US" sz="2499" u="none" cap="none" strike="noStrike">
                <a:solidFill>
                  <a:srgbClr val="FFFFFF"/>
                </a:solidFill>
                <a:latin typeface="Arial"/>
                <a:ea typeface="Arial"/>
                <a:cs typeface="Arial"/>
                <a:sym typeface="Arial"/>
              </a:rPr>
              <a:t>Conjunto de prácticas que protegen la información guardada en dispositivos físicos o en la nube, evitando accesos no autorizados, pérdidas o daños.</a:t>
            </a:r>
            <a:endParaRPr/>
          </a:p>
          <a:p>
            <a:pPr indent="0" lvl="0" marL="0" marR="0" rtl="0" algn="l">
              <a:lnSpc>
                <a:spcPct val="140016"/>
              </a:lnSpc>
              <a:spcBef>
                <a:spcPts val="0"/>
              </a:spcBef>
              <a:spcAft>
                <a:spcPts val="0"/>
              </a:spcAft>
              <a:buNone/>
            </a:pPr>
            <a:r>
              <a:t/>
            </a:r>
            <a:endParaRPr b="0" i="0" sz="2499" u="none" cap="none" strike="noStrike">
              <a:solidFill>
                <a:srgbClr val="FFFFFF"/>
              </a:solidFill>
              <a:latin typeface="Arial"/>
              <a:ea typeface="Arial"/>
              <a:cs typeface="Arial"/>
              <a:sym typeface="Arial"/>
            </a:endParaRPr>
          </a:p>
          <a:p>
            <a:pPr indent="-269874" lvl="1" marL="539749" marR="0" rtl="0" algn="l">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Arial"/>
                <a:ea typeface="Arial"/>
                <a:cs typeface="Arial"/>
                <a:sym typeface="Arial"/>
              </a:rPr>
              <a:t>Técnicas de respaldo y recuperación de archivos: </a:t>
            </a:r>
            <a:r>
              <a:rPr b="0" i="0" lang="en-US" sz="2499" u="none" cap="none" strike="noStrike">
                <a:solidFill>
                  <a:srgbClr val="FFFFFF"/>
                </a:solidFill>
                <a:latin typeface="Arial"/>
                <a:ea typeface="Arial"/>
                <a:cs typeface="Arial"/>
                <a:sym typeface="Arial"/>
              </a:rPr>
              <a:t>Métodos para crear copias de seguridad y restaurar datos en caso de fallos, errores humanos o ataques, asegurando la disponibilidad y continuidad de la información.</a:t>
            </a:r>
            <a:endParaRPr/>
          </a:p>
          <a:p>
            <a:pPr indent="0" lvl="0" marL="0" marR="0" rtl="0" algn="l">
              <a:lnSpc>
                <a:spcPct val="160784"/>
              </a:lnSpc>
              <a:spcBef>
                <a:spcPts val="0"/>
              </a:spcBef>
              <a:spcAft>
                <a:spcPts val="0"/>
              </a:spcAft>
              <a:buNone/>
            </a:pPr>
            <a:r>
              <a:t/>
            </a:r>
            <a:endParaRPr b="0" i="0" sz="2499" u="none" cap="none" strike="noStrike">
              <a:solidFill>
                <a:srgbClr val="FFFFFF"/>
              </a:solidFill>
              <a:latin typeface="Arial"/>
              <a:ea typeface="Arial"/>
              <a:cs typeface="Arial"/>
              <a:sym typeface="Arial"/>
            </a:endParaRPr>
          </a:p>
          <a:p>
            <a:pPr indent="0" lvl="0" marL="0" marR="0" rtl="0" algn="l">
              <a:lnSpc>
                <a:spcPct val="160784"/>
              </a:lnSpc>
              <a:spcBef>
                <a:spcPts val="0"/>
              </a:spcBef>
              <a:spcAft>
                <a:spcPts val="0"/>
              </a:spcAft>
              <a:buNone/>
            </a:pPr>
            <a:r>
              <a:t/>
            </a:r>
            <a:endParaRPr b="0" i="0" sz="2499" u="none" cap="none" strike="noStrike">
              <a:solidFill>
                <a:srgbClr val="FFFFFF"/>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4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717" name="Google Shape;717;p44"/>
          <p:cNvSpPr txBox="1"/>
          <p:nvPr/>
        </p:nvSpPr>
        <p:spPr>
          <a:xfrm>
            <a:off x="921986" y="1142755"/>
            <a:ext cx="14147308" cy="1221991"/>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7599" u="none" cap="none" strike="noStrike">
                <a:solidFill>
                  <a:srgbClr val="FFFFFF"/>
                </a:solidFill>
                <a:latin typeface="Arial"/>
                <a:ea typeface="Arial"/>
                <a:cs typeface="Arial"/>
                <a:sym typeface="Arial"/>
              </a:rPr>
              <a:t>Integridad</a:t>
            </a:r>
            <a:endParaRPr/>
          </a:p>
        </p:txBody>
      </p:sp>
      <p:sp>
        <p:nvSpPr>
          <p:cNvPr id="718" name="Google Shape;718;p44"/>
          <p:cNvSpPr txBox="1"/>
          <p:nvPr/>
        </p:nvSpPr>
        <p:spPr>
          <a:xfrm>
            <a:off x="698516" y="3075622"/>
            <a:ext cx="17284729" cy="1574923"/>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870" u="none" cap="none" strike="noStrike">
                <a:solidFill>
                  <a:srgbClr val="FFFFFF"/>
                </a:solidFill>
                <a:latin typeface="Arial"/>
                <a:ea typeface="Arial"/>
                <a:cs typeface="Arial"/>
                <a:sym typeface="Arial"/>
              </a:rPr>
              <a:t>Fomenta el compromiso del estudiante con el manejo responsable, coherente y honesto de la información, promoviendo prácticas que aseguren la confidencialidad, disponibilidad y veracidad de los datos almacenados.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4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156" l="-3087" r="-1619" t="-3156"/>
            </a:stretch>
          </a:blipFill>
          <a:ln>
            <a:noFill/>
          </a:ln>
        </p:spPr>
      </p:sp>
      <p:sp>
        <p:nvSpPr>
          <p:cNvPr id="724" name="Google Shape;724;p45"/>
          <p:cNvSpPr txBox="1"/>
          <p:nvPr/>
        </p:nvSpPr>
        <p:spPr>
          <a:xfrm>
            <a:off x="921986" y="1142755"/>
            <a:ext cx="14147308" cy="1221991"/>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1" i="0" lang="en-US" sz="7599" u="none" cap="none" strike="noStrike">
                <a:solidFill>
                  <a:srgbClr val="FFFFFF"/>
                </a:solidFill>
                <a:latin typeface="Arial"/>
                <a:ea typeface="Arial"/>
                <a:cs typeface="Arial"/>
                <a:sym typeface="Arial"/>
              </a:rPr>
              <a:t>Referencias</a:t>
            </a:r>
            <a:endParaRPr/>
          </a:p>
        </p:txBody>
      </p:sp>
      <p:sp>
        <p:nvSpPr>
          <p:cNvPr id="725" name="Google Shape;725;p45"/>
          <p:cNvSpPr txBox="1"/>
          <p:nvPr/>
        </p:nvSpPr>
        <p:spPr>
          <a:xfrm>
            <a:off x="460619" y="2597408"/>
            <a:ext cx="17366763" cy="65500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INCIBE. (s.f.). Cifrado y firma digital. Instituto Nacional de Ciberseguridad. https://www.incibe.es/protege-tu-empresa/blog/cifrado-y-firma-digital</a:t>
            </a:r>
            <a:endParaRPr/>
          </a:p>
          <a:p>
            <a:pPr indent="0" lvl="0" marL="0" marR="0" rtl="0" algn="just">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ESET. (2023). Los pilares de la seguridad informática: confidencialidad, integridad y disponibilidad. WeLiveSecurity. https://www.welivesecurity.com/la-es/2023/01/20/pilares-seguridad-confidencialidad-integridad-disponibilidad/</a:t>
            </a:r>
            <a:endParaRPr/>
          </a:p>
          <a:p>
            <a:pPr indent="0" lvl="0" marL="0" marR="0" rtl="0" algn="just">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Kaspersky. (s.f.). 10 consejos de ciberseguridad para empresas. https://latam.kaspersky.com/blog/10-consejos-de-ciberseguridad-para-empresas/21410/</a:t>
            </a:r>
            <a:endParaRPr/>
          </a:p>
          <a:p>
            <a:pPr indent="0" lvl="0" marL="0" marR="0" rtl="0" algn="just">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INCIBE. (2023). Principales amenazas de ciberseguridad en 2023. https://www.incibe.es/protege-tu-empresa/blog/principales-amenazas-ciberseguridad-2023</a:t>
            </a:r>
            <a:endParaRPr/>
          </a:p>
          <a:p>
            <a:pPr indent="0" lvl="0" marL="0" marR="0" rtl="0" algn="just">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IBM. (s.f.). ¿Qué es la seguridad del almacenamiento?. IBM Docs. https://www.ibm.com/es-es/topics/storage-security</a:t>
            </a:r>
            <a:endParaRPr/>
          </a:p>
          <a:p>
            <a:pPr indent="0" lvl="0" marL="0" marR="0" rtl="0" algn="just">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Acronis. (2022). Seguridad en almacenamiento de datos: amenazas y soluciones. https://www.acronis.com/es-es/blog/posts/seguridad-en-almacenamiento-datos/</a:t>
            </a:r>
            <a:endParaRPr/>
          </a:p>
          <a:p>
            <a:pPr indent="0" lvl="0" marL="0" marR="0" rtl="0" algn="just">
              <a:lnSpc>
                <a:spcPct val="2009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just">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Blog Panda Security. (2021). ¿Qué es una copia de seguridad y para qué sirve?. https://www.pandasecurity.com/es/mediacenter/consejos/copia-de-seguridad/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4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962" l="-2679" r="-2334" t="-2486"/>
            </a:stretch>
          </a:blipFill>
          <a:ln>
            <a:noFill/>
          </a:ln>
        </p:spPr>
      </p:sp>
      <p:sp>
        <p:nvSpPr>
          <p:cNvPr id="731" name="Google Shape;731;p46"/>
          <p:cNvSpPr/>
          <p:nvPr/>
        </p:nvSpPr>
        <p:spPr>
          <a:xfrm>
            <a:off x="14832034" y="595031"/>
            <a:ext cx="2952281" cy="4036525"/>
          </a:xfrm>
          <a:custGeom>
            <a:rect b="b" l="l" r="r" t="t"/>
            <a:pathLst>
              <a:path extrusionOk="0" h="4036525" w="2952281">
                <a:moveTo>
                  <a:pt x="0" y="0"/>
                </a:moveTo>
                <a:lnTo>
                  <a:pt x="2952280" y="0"/>
                </a:lnTo>
                <a:lnTo>
                  <a:pt x="2952280" y="4036525"/>
                </a:lnTo>
                <a:lnTo>
                  <a:pt x="0" y="4036525"/>
                </a:lnTo>
                <a:lnTo>
                  <a:pt x="0" y="0"/>
                </a:lnTo>
                <a:close/>
              </a:path>
            </a:pathLst>
          </a:custGeom>
          <a:blipFill rotWithShape="1">
            <a:blip r:embed="rId4">
              <a:alphaModFix/>
            </a:blip>
            <a:stretch>
              <a:fillRect b="0" l="0" r="0" t="0"/>
            </a:stretch>
          </a:blipFill>
          <a:ln>
            <a:noFill/>
          </a:ln>
        </p:spPr>
      </p:sp>
      <p:grpSp>
        <p:nvGrpSpPr>
          <p:cNvPr id="732" name="Google Shape;732;p46"/>
          <p:cNvGrpSpPr/>
          <p:nvPr/>
        </p:nvGrpSpPr>
        <p:grpSpPr>
          <a:xfrm>
            <a:off x="1028700" y="4552975"/>
            <a:ext cx="16230600" cy="2153714"/>
            <a:chOff x="0" y="-104775"/>
            <a:chExt cx="21640800" cy="2871619"/>
          </a:xfrm>
        </p:grpSpPr>
        <p:sp>
          <p:nvSpPr>
            <p:cNvPr id="733" name="Google Shape;733;p46"/>
            <p:cNvSpPr txBox="1"/>
            <p:nvPr/>
          </p:nvSpPr>
          <p:spPr>
            <a:xfrm>
              <a:off x="0" y="-104775"/>
              <a:ext cx="21640800" cy="2052108"/>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1" i="0" lang="en-US" sz="5000" u="none" cap="none" strike="noStrike">
                  <a:solidFill>
                    <a:srgbClr val="FFFFFF"/>
                  </a:solidFill>
                  <a:latin typeface="Arial"/>
                  <a:ea typeface="Arial"/>
                  <a:cs typeface="Arial"/>
                  <a:sym typeface="Arial"/>
                </a:rPr>
                <a:t>¡GRACIAS POR SU ATENTCIÓN!</a:t>
              </a:r>
              <a:endParaRPr/>
            </a:p>
            <a:p>
              <a:pPr indent="0" lvl="0" marL="0" marR="0" rtl="0" algn="ctr">
                <a:lnSpc>
                  <a:spcPct val="112000"/>
                </a:lnSpc>
                <a:spcBef>
                  <a:spcPts val="0"/>
                </a:spcBef>
                <a:spcAft>
                  <a:spcPts val="0"/>
                </a:spcAft>
                <a:buNone/>
              </a:pPr>
              <a:r>
                <a:rPr b="1" i="0" lang="en-US" sz="5000" u="none" cap="none" strike="noStrike">
                  <a:solidFill>
                    <a:srgbClr val="FFFFFF"/>
                  </a:solidFill>
                  <a:latin typeface="Arial"/>
                  <a:ea typeface="Arial"/>
                  <a:cs typeface="Arial"/>
                  <a:sym typeface="Arial"/>
                </a:rPr>
                <a:t>¿DUDAS?</a:t>
              </a:r>
              <a:endParaRPr/>
            </a:p>
          </p:txBody>
        </p:sp>
        <p:sp>
          <p:nvSpPr>
            <p:cNvPr id="734" name="Google Shape;734;p46"/>
            <p:cNvSpPr txBox="1"/>
            <p:nvPr/>
          </p:nvSpPr>
          <p:spPr>
            <a:xfrm>
              <a:off x="0" y="2105174"/>
              <a:ext cx="21640800" cy="661670"/>
            </a:xfrm>
            <a:prstGeom prst="rect">
              <a:avLst/>
            </a:prstGeom>
            <a:noFill/>
            <a:ln>
              <a:noFill/>
            </a:ln>
          </p:spPr>
          <p:txBody>
            <a:bodyPr anchorCtr="0" anchor="t" bIns="0" lIns="0" spcFirstLastPara="1" rIns="0" wrap="square" tIns="0">
              <a:spAutoFit/>
            </a:bodyPr>
            <a:lstStyle/>
            <a:p>
              <a:pPr indent="0" lvl="0" marL="0" marR="0" rtl="0" algn="ctr">
                <a:lnSpc>
                  <a:spcPct val="185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5" name="Google Shape;735;p46"/>
          <p:cNvSpPr txBox="1"/>
          <p:nvPr/>
        </p:nvSpPr>
        <p:spPr>
          <a:xfrm>
            <a:off x="3632356" y="8368221"/>
            <a:ext cx="12007690" cy="11112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RECUERDA QUE TENEMOS NUESTRO FORO SEMANAL DONDE PUEDES CONSULTAR CUALQUIER DUDA QUE TE SURJA EN LA SEMANA</a:t>
            </a:r>
            <a:endParaRPr/>
          </a:p>
          <a:p>
            <a:pPr indent="0" lvl="0" marL="0" marR="0" rtl="0" algn="ctr">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