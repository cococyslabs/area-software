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Lst>
  <p:sldSz cy="10287000" cx="18288000"/>
  <p:notesSz cx="6858000" cy="9144000"/>
  <p:embeddedFontLst>
    <p:embeddedFont>
      <p:font typeface="Lobster"/>
      <p:regular r:id="rId40"/>
    </p:embeddedFont>
    <p:embeddedFont>
      <p:font typeface="Poppins"/>
      <p:regular r:id="rId41"/>
      <p:bold r:id="rId42"/>
      <p:italic r:id="rId43"/>
      <p:boldItalic r:id="rId44"/>
    </p:embeddedFont>
    <p:embeddedFont>
      <p:font typeface="Pacifico"/>
      <p:regular r:id="rId45"/>
    </p:embeddedFont>
    <p:embeddedFont>
      <p:font typeface="Poppins Medium"/>
      <p:regular r:id="rId46"/>
      <p:bold r:id="rId47"/>
      <p:italic r:id="rId48"/>
      <p:boldItalic r:id="rId49"/>
    </p:embeddedFont>
    <p:embeddedFont>
      <p:font typeface="Open Sans"/>
      <p:regular r:id="rId50"/>
      <p:bold r:id="rId51"/>
      <p:italic r:id="rId52"/>
      <p:boldItalic r:id="rId5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4" roundtripDataSignature="AMtx7mgj2luUKAxrY5UTSgbmPoybBnov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95E7327-9638-4ACB-9310-0E430D16AA3D}">
  <a:tblStyle styleId="{695E7327-9638-4ACB-9310-0E430D16AA3D}"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obster-regular.fntdata"/><Relationship Id="rId42" Type="http://schemas.openxmlformats.org/officeDocument/2006/relationships/font" Target="fonts/Poppins-bold.fntdata"/><Relationship Id="rId41" Type="http://schemas.openxmlformats.org/officeDocument/2006/relationships/font" Target="fonts/Poppins-regular.fntdata"/><Relationship Id="rId44" Type="http://schemas.openxmlformats.org/officeDocument/2006/relationships/font" Target="fonts/Poppins-boldItalic.fntdata"/><Relationship Id="rId43" Type="http://schemas.openxmlformats.org/officeDocument/2006/relationships/font" Target="fonts/Poppins-italic.fntdata"/><Relationship Id="rId46" Type="http://schemas.openxmlformats.org/officeDocument/2006/relationships/font" Target="fonts/PoppinsMedium-regular.fntdata"/><Relationship Id="rId45" Type="http://schemas.openxmlformats.org/officeDocument/2006/relationships/font" Target="fonts/Pacific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PoppinsMedium-italic.fntdata"/><Relationship Id="rId47" Type="http://schemas.openxmlformats.org/officeDocument/2006/relationships/font" Target="fonts/PoppinsMedium-bold.fntdata"/><Relationship Id="rId49" Type="http://schemas.openxmlformats.org/officeDocument/2006/relationships/font" Target="fonts/PoppinsMedium-boldItalic.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OpenSans-bold.fntdata"/><Relationship Id="rId50" Type="http://schemas.openxmlformats.org/officeDocument/2006/relationships/font" Target="fonts/OpenSans-regular.fntdata"/><Relationship Id="rId53" Type="http://schemas.openxmlformats.org/officeDocument/2006/relationships/font" Target="fonts/OpenSans-boldItalic.fntdata"/><Relationship Id="rId52" Type="http://schemas.openxmlformats.org/officeDocument/2006/relationships/font" Target="fonts/OpenSans-italic.fntdata"/><Relationship Id="rId11" Type="http://schemas.openxmlformats.org/officeDocument/2006/relationships/slide" Target="slides/slide5.xml"/><Relationship Id="rId10" Type="http://schemas.openxmlformats.org/officeDocument/2006/relationships/slide" Target="slides/slide4.xml"/><Relationship Id="rId54" Type="http://customschemas.google.com/relationships/presentationmetadata" Target="metadata"/><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5d9113ccd5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82" name="Google Shape;82;g35d9113ccd5_1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5d9113ccd5_1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g35d9113ccd5_1_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d9113ccd5_1_1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5d9113ccd5_1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5d9113ccd5_1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6" name="Google Shape;146;g35d9113ccd5_1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8" name="Google Shape;15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3" name="Google Shape;1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8" name="Google Shape;18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1" name="Google Shape;201;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5" name="Google Shape;22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7" name="Google Shape;23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9" name="Google Shape;2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1" name="Google Shape;26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3" name="Google Shape;273;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8" name="Google Shape;28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1" name="Google Shape;301;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6" name="Google Shape;316;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8" name="Google Shape;32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0" name="Google Shape;340;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7" name="Google Shape;367;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0" name="Google Shape;38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2c9b27100e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3" name="Google Shape;393;g32c9b27100e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3" name="Google Shape;423;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5" name="Google Shape;43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50" name="Google Shape;45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66" name="Google Shape;466;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78" name="Google Shape;47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g35d9113ccd5_3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g35d9113ccd5_3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g35d9113ccd5_1_6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9" name="Google Shape;499;g35d9113ccd5_1_6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5d9113ccd5_1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2" name="Google Shape;512;g35d9113ccd5_1_37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g35d9113ccd5_1_4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18" name="Google Shape;518;g35d9113ccd5_1_4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47"/>
          <p:cNvSpPr/>
          <p:nvPr>
            <p:ph idx="2" type="pic"/>
          </p:nvPr>
        </p:nvSpPr>
        <p:spPr>
          <a:xfrm>
            <a:off x="1792288" y="612775"/>
            <a:ext cx="5486400" cy="4114800"/>
          </a:xfrm>
          <a:prstGeom prst="rect">
            <a:avLst/>
          </a:prstGeom>
          <a:noFill/>
          <a:ln>
            <a:noFill/>
          </a:ln>
        </p:spPr>
      </p:sp>
      <p:sp>
        <p:nvSpPr>
          <p:cNvPr id="64" name="Google Shape;6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1.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21.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2.png"/><Relationship Id="rId8"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24.png"/><Relationship Id="rId9" Type="http://schemas.openxmlformats.org/officeDocument/2006/relationships/image" Target="../media/image45.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33.png"/><Relationship Id="rId8"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12.png"/><Relationship Id="rId9" Type="http://schemas.openxmlformats.org/officeDocument/2006/relationships/image" Target="../media/image3.png"/><Relationship Id="rId5" Type="http://schemas.openxmlformats.org/officeDocument/2006/relationships/image" Target="../media/image33.png"/><Relationship Id="rId6" Type="http://schemas.openxmlformats.org/officeDocument/2006/relationships/image" Target="../media/image14.png"/><Relationship Id="rId7" Type="http://schemas.openxmlformats.org/officeDocument/2006/relationships/image" Target="../media/image23.png"/><Relationship Id="rId8" Type="http://schemas.openxmlformats.org/officeDocument/2006/relationships/image" Target="../media/image2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3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4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2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3.png"/><Relationship Id="rId5" Type="http://schemas.openxmlformats.org/officeDocument/2006/relationships/image" Target="../media/image17.png"/><Relationship Id="rId6"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4.png"/><Relationship Id="rId4" Type="http://schemas.openxmlformats.org/officeDocument/2006/relationships/image" Target="../media/image3.png"/><Relationship Id="rId9" Type="http://schemas.openxmlformats.org/officeDocument/2006/relationships/image" Target="../media/image39.png"/><Relationship Id="rId5" Type="http://schemas.openxmlformats.org/officeDocument/2006/relationships/image" Target="../media/image17.png"/><Relationship Id="rId6" Type="http://schemas.openxmlformats.org/officeDocument/2006/relationships/image" Target="../media/image12.png"/><Relationship Id="rId7" Type="http://schemas.openxmlformats.org/officeDocument/2006/relationships/image" Target="../media/image29.png"/><Relationship Id="rId8"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36.png"/><Relationship Id="rId8" Type="http://schemas.openxmlformats.org/officeDocument/2006/relationships/image" Target="../media/image3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28.png"/><Relationship Id="rId8"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7.png"/><Relationship Id="rId4" Type="http://schemas.openxmlformats.org/officeDocument/2006/relationships/image" Target="../media/image24.png"/><Relationship Id="rId9" Type="http://schemas.openxmlformats.org/officeDocument/2006/relationships/image" Target="../media/image30.jpg"/><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33.png"/><Relationship Id="rId8"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4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27.xml.rels><?xml version="1.0" encoding="UTF-8" standalone="yes"?><Relationships xmlns="http://schemas.openxmlformats.org/package/2006/relationships"><Relationship Id="rId11" Type="http://schemas.openxmlformats.org/officeDocument/2006/relationships/hyperlink" Target="https://www.bing.com/ck/a?!&amp;&amp;p=1f88f537ca03a68dJmltdHM9MTcwNjY1OTIwMCZpZ3VpZD0zODViYjVkMy0zMDY5LTYxY2QtMTI5Yy1hMWMwMzFkNzYwNzcmaW5zaWQ9NTYzNQ&amp;ptn=3&amp;ver=2&amp;hsh=3&amp;fclid=385bb5d3-3069-61cd-129c-a1c031d76077&amp;u=a1L3NlYXJjaD9xPU1lbW9yaWElMjBubyUyMHZvbMOhdGlsJTIwd2lraXBlZGlhJmZvcm09V0lLSVJF&amp;ntb=1" TargetMode="External"/><Relationship Id="rId10" Type="http://schemas.openxmlformats.org/officeDocument/2006/relationships/hyperlink" Target="https://www.bing.com/ck/a?!&amp;&amp;p=dd58507a487d5759JmltdHM9MTcwNjY1OTIwMCZpZ3VpZD0zODViYjVkMy0zMDY5LTYxY2QtMTI5Yy1hMWMwMzFkNzYwNzcmaW5zaWQ9NTYzNA&amp;ptn=3&amp;ver=2&amp;hsh=3&amp;fclid=385bb5d3-3069-61cd-129c-a1c031d76077&amp;u=a1L3NlYXJjaD9xPURpc3Bvc2l0aXZvJTIwZGUlMjBhbG1hY2VuYW1pZW50byUyMGRlJTIwZGF0b3MlMjB3aWtpcGVkaWEmZm9ybT1XSUtJUkU&amp;ntb=1" TargetMode="External"/><Relationship Id="rId13" Type="http://schemas.openxmlformats.org/officeDocument/2006/relationships/hyperlink" Target="https://www.bing.com/ck/a?!&amp;&amp;p=607f2e49e5628378JmltdHM9MTcwNjY1OTIwMCZpZ3VpZD0zODViYjVkMy0zMDY5LTYxY2QtMTI5Yy1hMWMwMzFkNzYwNzcmaW5zaWQ9NTYzNw&amp;ptn=3&amp;ver=2&amp;hsh=3&amp;fclid=385bb5d3-3069-61cd-129c-a1c031d76077&amp;u=a1L3NlYXJjaD9xPVBsYXRvJTIwKGRpc2NvJTIwZHVybyklMjB3aWtpcGVkaWEmZm9ybT1XSUtJUkU&amp;ntb=1" TargetMode="External"/><Relationship Id="rId12" Type="http://schemas.openxmlformats.org/officeDocument/2006/relationships/hyperlink" Target="https://www.bing.com/ck/a?!&amp;&amp;p=511f87e63e39871bJmltdHM9MTcwNjY1OTIwMCZpZ3VpZD0zODViYjVkMy0zMDY5LTYxY2QtMTI5Yy1hMWMwMzFkNzYwNzcmaW5zaWQ9NTYzNg&amp;ptn=3&amp;ver=2&amp;hsh=3&amp;fclid=385bb5d3-3069-61cd-129c-a1c031d76077&amp;u=a1L3NlYXJjaD9xPU1lbW9yaWElMjBmbGFzaCUyMHdpa2lwZWRpYSZmb3JtPVdJS0lSRQ&amp;ntb=1" TargetMode="External"/><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7.png"/><Relationship Id="rId4" Type="http://schemas.openxmlformats.org/officeDocument/2006/relationships/image" Target="../media/image24.png"/><Relationship Id="rId9" Type="http://schemas.openxmlformats.org/officeDocument/2006/relationships/image" Target="../media/image43.png"/><Relationship Id="rId15" Type="http://schemas.openxmlformats.org/officeDocument/2006/relationships/hyperlink" Target="https://www.bing.com/ck/a?!&amp;&amp;p=7f29b9a33cf0adb2JmltdHM9MTcwNjY1OTIwMCZpZ3VpZD0zODViYjVkMy0zMDY5LTYxY2QtMTI5Yy1hMWMwMzFkNzYwNzcmaW5zaWQ9NTYzOQ&amp;ptn=3&amp;ver=2&amp;hsh=3&amp;fclid=385bb5d3-3069-61cd-129c-a1c031d76077&amp;u=a1L3NlYXJjaD9xPVVuaWRhZCUyMGRlJTIwZGlzY28lMjBkdXJvJTIwd2lraXBlZGlhJmZvcm09V0lLSVJF&amp;ntb=1" TargetMode="External"/><Relationship Id="rId14" Type="http://schemas.openxmlformats.org/officeDocument/2006/relationships/hyperlink" Target="https://www.bing.com/ck/a?!&amp;&amp;p=66d6df4e40e62bb0JmltdHM9MTcwNjY1OTIwMCZpZ3VpZD0zODViYjVkMy0zMDY5LTYxY2QtMTI5Yy1hMWMwMzFkNzYwNzcmaW5zaWQ9NTYzOA&amp;ptn=3&amp;ver=2&amp;hsh=3&amp;fclid=385bb5d3-3069-61cd-129c-a1c031d76077&amp;u=a1L3NlYXJjaD9xPURpc2NvJTIwbWFnbsOpdGljbyUyMHdpa2lwZWRpYSZmb3JtPVdJS0lSRQ&amp;ntb=1" TargetMode="External"/><Relationship Id="rId5" Type="http://schemas.openxmlformats.org/officeDocument/2006/relationships/image" Target="../media/image3.png"/><Relationship Id="rId6" Type="http://schemas.openxmlformats.org/officeDocument/2006/relationships/image" Target="../media/image12.png"/><Relationship Id="rId7" Type="http://schemas.openxmlformats.org/officeDocument/2006/relationships/image" Target="../media/image33.png"/><Relationship Id="rId8"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7.png"/><Relationship Id="rId4" Type="http://schemas.openxmlformats.org/officeDocument/2006/relationships/image" Target="../media/image12.png"/><Relationship Id="rId5" Type="http://schemas.openxmlformats.org/officeDocument/2006/relationships/image" Target="../media/image24.png"/><Relationship Id="rId6" Type="http://schemas.openxmlformats.org/officeDocument/2006/relationships/image" Target="../media/image3.png"/><Relationship Id="rId7" Type="http://schemas.openxmlformats.org/officeDocument/2006/relationships/image" Target="../media/image3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7.png"/><Relationship Id="rId4" Type="http://schemas.openxmlformats.org/officeDocument/2006/relationships/image" Target="../media/image24.png"/><Relationship Id="rId5" Type="http://schemas.openxmlformats.org/officeDocument/2006/relationships/image" Target="../media/image3.png"/><Relationship Id="rId6"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35d9113ccd5_1_0"/>
          <p:cNvSpPr/>
          <p:nvPr/>
        </p:nvSpPr>
        <p:spPr>
          <a:xfrm>
            <a:off x="0" y="-1"/>
            <a:ext cx="18299833" cy="10312720"/>
          </a:xfrm>
          <a:custGeom>
            <a:rect b="b" l="l" r="r" t="t"/>
            <a:pathLst>
              <a:path extrusionOk="0" h="10287002" w="18254198">
                <a:moveTo>
                  <a:pt x="0" y="0"/>
                </a:moveTo>
                <a:lnTo>
                  <a:pt x="18254198" y="0"/>
                </a:lnTo>
                <a:lnTo>
                  <a:pt x="18254198" y="10287002"/>
                </a:lnTo>
                <a:lnTo>
                  <a:pt x="0" y="10287002"/>
                </a:lnTo>
                <a:lnTo>
                  <a:pt x="0" y="0"/>
                </a:lnTo>
                <a:close/>
              </a:path>
            </a:pathLst>
          </a:custGeom>
          <a:blipFill rotWithShape="1">
            <a:blip r:embed="rId3">
              <a:alphaModFix/>
            </a:blip>
            <a:stretch>
              <a:fillRect b="0" l="0" r="0" t="0"/>
            </a:stretch>
          </a:blipFill>
          <a:ln>
            <a:noFill/>
          </a:ln>
        </p:spPr>
        <p:txBody>
          <a:bodyPr anchorCtr="0" anchor="t" bIns="68550" lIns="137150" spcFirstLastPara="1" rIns="137150" wrap="square" tIns="6855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85" name="Google Shape;85;g35d9113ccd5_1_0"/>
          <p:cNvGraphicFramePr/>
          <p:nvPr/>
        </p:nvGraphicFramePr>
        <p:xfrm>
          <a:off x="10656401" y="1940051"/>
          <a:ext cx="3000000" cy="3000000"/>
        </p:xfrm>
        <a:graphic>
          <a:graphicData uri="http://schemas.openxmlformats.org/drawingml/2006/table">
            <a:tbl>
              <a:tblPr>
                <a:noFill/>
                <a:tableStyleId>{695E7327-9638-4ACB-9310-0E430D16AA3D}</a:tableStyleId>
              </a:tblPr>
              <a:tblGrid>
                <a:gridCol w="3030200"/>
                <a:gridCol w="4335825"/>
              </a:tblGrid>
              <a:tr h="716750">
                <a:tc>
                  <a:txBody>
                    <a:bodyPr/>
                    <a:lstStyle/>
                    <a:p>
                      <a:pPr indent="0" lvl="0" marL="0" marR="0" rtl="0" algn="l">
                        <a:lnSpc>
                          <a:spcPct val="120000"/>
                        </a:lnSpc>
                        <a:spcBef>
                          <a:spcPts val="0"/>
                        </a:spcBef>
                        <a:spcAft>
                          <a:spcPts val="0"/>
                        </a:spcAft>
                        <a:buClr>
                          <a:srgbClr val="000000"/>
                        </a:buClr>
                        <a:buSzPts val="2900"/>
                        <a:buFont typeface="Arial"/>
                        <a:buNone/>
                      </a:pPr>
                      <a:r>
                        <a:rPr b="1" lang="en-US" sz="2900" u="none" cap="none" strike="noStrike">
                          <a:solidFill>
                            <a:srgbClr val="000000"/>
                          </a:solidFill>
                          <a:latin typeface="Arial"/>
                          <a:ea typeface="Arial"/>
                          <a:cs typeface="Arial"/>
                          <a:sym typeface="Arial"/>
                        </a:rPr>
                        <a:t>Día, Fecha:</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2900"/>
                        <a:buFont typeface="Arial"/>
                        <a:buNone/>
                      </a:pPr>
                      <a:r>
                        <a:rPr b="1" lang="en-US" sz="2900" u="none" cap="none" strike="noStrike"/>
                        <a:t>Lunes</a:t>
                      </a:r>
                      <a:r>
                        <a:rPr b="1" lang="en-US" sz="2900" u="none" cap="none" strike="noStrike">
                          <a:solidFill>
                            <a:srgbClr val="000000"/>
                          </a:solidFill>
                          <a:latin typeface="Arial"/>
                          <a:ea typeface="Arial"/>
                          <a:cs typeface="Arial"/>
                          <a:sym typeface="Arial"/>
                        </a:rPr>
                        <a:t>, </a:t>
                      </a:r>
                      <a:r>
                        <a:rPr b="1" lang="en-US" sz="2900" u="none" cap="none" strike="noStrike"/>
                        <a:t>00</a:t>
                      </a:r>
                      <a:r>
                        <a:rPr b="1" lang="en-US" sz="2900" u="none" cap="none" strike="noStrike">
                          <a:solidFill>
                            <a:srgbClr val="000000"/>
                          </a:solidFill>
                          <a:latin typeface="Arial"/>
                          <a:ea typeface="Arial"/>
                          <a:cs typeface="Arial"/>
                          <a:sym typeface="Arial"/>
                        </a:rPr>
                        <a:t>/0</a:t>
                      </a:r>
                      <a:r>
                        <a:rPr b="1" lang="en-US" sz="2900" u="none" cap="none" strike="noStrike"/>
                        <a:t>0</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r h="716750">
                <a:tc>
                  <a:txBody>
                    <a:bodyPr/>
                    <a:lstStyle/>
                    <a:p>
                      <a:pPr indent="0" lvl="0" marL="0" marR="0" rtl="0" algn="l">
                        <a:lnSpc>
                          <a:spcPct val="120000"/>
                        </a:lnSpc>
                        <a:spcBef>
                          <a:spcPts val="0"/>
                        </a:spcBef>
                        <a:spcAft>
                          <a:spcPts val="0"/>
                        </a:spcAft>
                        <a:buClr>
                          <a:srgbClr val="000000"/>
                        </a:buClr>
                        <a:buSzPts val="2900"/>
                        <a:buFont typeface="Arial"/>
                        <a:buNone/>
                      </a:pPr>
                      <a:r>
                        <a:rPr b="1" lang="en-US" sz="2900" u="none" cap="none" strike="noStrike">
                          <a:solidFill>
                            <a:srgbClr val="000000"/>
                          </a:solidFill>
                          <a:latin typeface="Arial"/>
                          <a:ea typeface="Arial"/>
                          <a:cs typeface="Arial"/>
                          <a:sym typeface="Arial"/>
                        </a:rPr>
                        <a:t>Hora de inicio:</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2900"/>
                        <a:buFont typeface="Arial"/>
                        <a:buNone/>
                      </a:pPr>
                      <a:r>
                        <a:rPr b="1" lang="en-US" sz="2900" u="none" cap="none" strike="noStrike"/>
                        <a:t>00</a:t>
                      </a:r>
                      <a:r>
                        <a:rPr b="1" lang="en-US" sz="2900" u="none" cap="none" strike="noStrike">
                          <a:solidFill>
                            <a:srgbClr val="000000"/>
                          </a:solidFill>
                          <a:latin typeface="Arial"/>
                          <a:ea typeface="Arial"/>
                          <a:cs typeface="Arial"/>
                          <a:sym typeface="Arial"/>
                        </a:rPr>
                        <a:t>:00</a:t>
                      </a:r>
                      <a:endParaRPr sz="1100" u="none" cap="none" strike="noStrike"/>
                    </a:p>
                  </a:txBody>
                  <a:tcPr marT="91425" marB="91425" marR="91425" marL="91425" anchor="ctr">
                    <a:lnL cap="flat" cmpd="sng" w="14300">
                      <a:solidFill>
                        <a:srgbClr val="000000"/>
                      </a:solidFill>
                      <a:prstDash val="solid"/>
                      <a:round/>
                      <a:headEnd len="sm" w="sm" type="none"/>
                      <a:tailEnd len="sm" w="sm" type="none"/>
                    </a:lnL>
                    <a:lnR cap="flat" cmpd="sng" w="14300">
                      <a:solidFill>
                        <a:srgbClr val="000000"/>
                      </a:solidFill>
                      <a:prstDash val="solid"/>
                      <a:round/>
                      <a:headEnd len="sm" w="sm" type="none"/>
                      <a:tailEnd len="sm" w="sm" type="none"/>
                    </a:lnR>
                    <a:lnT cap="flat" cmpd="sng" w="14300">
                      <a:solidFill>
                        <a:srgbClr val="000000"/>
                      </a:solidFill>
                      <a:prstDash val="solid"/>
                      <a:round/>
                      <a:headEnd len="sm" w="sm" type="none"/>
                      <a:tailEnd len="sm" w="sm" type="none"/>
                    </a:lnT>
                    <a:lnB cap="flat" cmpd="sng" w="14300">
                      <a:solidFill>
                        <a:srgbClr val="000000"/>
                      </a:solidFill>
                      <a:prstDash val="solid"/>
                      <a:round/>
                      <a:headEnd len="sm" w="sm" type="none"/>
                      <a:tailEnd len="sm" w="sm" type="none"/>
                    </a:lnB>
                  </a:tcPr>
                </a:tc>
              </a:tr>
            </a:tbl>
          </a:graphicData>
        </a:graphic>
      </p:graphicFrame>
      <p:sp>
        <p:nvSpPr>
          <p:cNvPr id="86" name="Google Shape;86;g35d9113ccd5_1_0"/>
          <p:cNvSpPr txBox="1"/>
          <p:nvPr/>
        </p:nvSpPr>
        <p:spPr>
          <a:xfrm>
            <a:off x="2971774" y="4512776"/>
            <a:ext cx="13401000" cy="769500"/>
          </a:xfrm>
          <a:prstGeom prst="rect">
            <a:avLst/>
          </a:prstGeom>
          <a:noFill/>
          <a:ln>
            <a:noFill/>
          </a:ln>
        </p:spPr>
        <p:txBody>
          <a:bodyPr anchorCtr="0" anchor="t" bIns="0" lIns="0" spcFirstLastPara="1" rIns="0" wrap="square" tIns="0">
            <a:spAutoFit/>
          </a:bodyPr>
          <a:lstStyle/>
          <a:p>
            <a:pPr indent="0" lvl="0" marL="0" marR="0" rtl="0" algn="l">
              <a:lnSpc>
                <a:spcPct val="120004"/>
              </a:lnSpc>
              <a:spcBef>
                <a:spcPts val="0"/>
              </a:spcBef>
              <a:spcAft>
                <a:spcPts val="0"/>
              </a:spcAft>
              <a:buClr>
                <a:srgbClr val="000000"/>
              </a:buClr>
              <a:buSzPts val="5000"/>
              <a:buFont typeface="Arial"/>
              <a:buNone/>
            </a:pPr>
            <a:r>
              <a:rPr b="0" i="0" lang="en-US" sz="5000" u="none" cap="none" strike="noStrike">
                <a:solidFill>
                  <a:srgbClr val="000000"/>
                </a:solidFill>
                <a:latin typeface="Arial"/>
                <a:ea typeface="Arial"/>
                <a:cs typeface="Arial"/>
                <a:sym typeface="Arial"/>
              </a:rPr>
              <a:t>Manejo e Implementación de Archivos X</a:t>
            </a:r>
            <a:endParaRPr b="0" i="0" sz="1400" u="none" cap="none" strike="noStrike">
              <a:solidFill>
                <a:srgbClr val="000000"/>
              </a:solidFill>
              <a:latin typeface="Arial"/>
              <a:ea typeface="Arial"/>
              <a:cs typeface="Arial"/>
              <a:sym typeface="Arial"/>
            </a:endParaRPr>
          </a:p>
        </p:txBody>
      </p:sp>
      <p:sp>
        <p:nvSpPr>
          <p:cNvPr id="87" name="Google Shape;87;g35d9113ccd5_1_0"/>
          <p:cNvSpPr txBox="1"/>
          <p:nvPr/>
        </p:nvSpPr>
        <p:spPr>
          <a:xfrm>
            <a:off x="9526173" y="5863251"/>
            <a:ext cx="6846900" cy="6156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4000"/>
              <a:buFont typeface="Arial"/>
              <a:buNone/>
            </a:pPr>
            <a:r>
              <a:rPr b="0" i="0" lang="en-US" sz="4000" u="none" cap="none" strike="noStrike">
                <a:solidFill>
                  <a:srgbClr val="000000"/>
                </a:solidFill>
                <a:latin typeface="Arial"/>
                <a:ea typeface="Arial"/>
                <a:cs typeface="Arial"/>
                <a:sym typeface="Arial"/>
              </a:rPr>
              <a:t>xxxxxxxxxxxxxxxxxxxxxxxx</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5d9113ccd5_1_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67" l="0" r="0" t="-38878"/>
            </a:stretch>
          </a:blipFill>
          <a:ln>
            <a:noFill/>
          </a:ln>
        </p:spPr>
      </p:sp>
      <p:sp>
        <p:nvSpPr>
          <p:cNvPr id="93" name="Google Shape;93;g35d9113ccd5_1_82"/>
          <p:cNvSpPr/>
          <p:nvPr/>
        </p:nvSpPr>
        <p:spPr>
          <a:xfrm>
            <a:off x="-160692" y="-149623"/>
            <a:ext cx="18606025" cy="10589664"/>
          </a:xfrm>
          <a:custGeom>
            <a:rect b="b" l="l" r="r" t="t"/>
            <a:pathLst>
              <a:path extrusionOk="0" h="1970170" w="3461586">
                <a:moveTo>
                  <a:pt x="0" y="0"/>
                </a:moveTo>
                <a:lnTo>
                  <a:pt x="3461586" y="0"/>
                </a:lnTo>
                <a:lnTo>
                  <a:pt x="3461586" y="1970170"/>
                </a:lnTo>
                <a:lnTo>
                  <a:pt x="0" y="1970170"/>
                </a:lnTo>
                <a:close/>
              </a:path>
            </a:pathLst>
          </a:custGeom>
          <a:solidFill>
            <a:srgbClr val="14056D">
              <a:alpha val="18040"/>
            </a:srgbClr>
          </a:solidFill>
          <a:ln>
            <a:noFill/>
          </a:ln>
        </p:spPr>
      </p:sp>
      <p:sp>
        <p:nvSpPr>
          <p:cNvPr id="94" name="Google Shape;94;g35d9113ccd5_1_82"/>
          <p:cNvSpPr/>
          <p:nvPr/>
        </p:nvSpPr>
        <p:spPr>
          <a:xfrm rot="9452055">
            <a:off x="-1360160" y="-1496661"/>
            <a:ext cx="6713522" cy="5077864"/>
          </a:xfrm>
          <a:custGeom>
            <a:rect b="b" l="l" r="r" t="t"/>
            <a:pathLst>
              <a:path extrusionOk="0" h="5072968" w="6707049">
                <a:moveTo>
                  <a:pt x="0" y="0"/>
                </a:moveTo>
                <a:lnTo>
                  <a:pt x="6707049" y="0"/>
                </a:lnTo>
                <a:lnTo>
                  <a:pt x="6707049" y="5072968"/>
                </a:lnTo>
                <a:lnTo>
                  <a:pt x="0" y="5072968"/>
                </a:lnTo>
                <a:lnTo>
                  <a:pt x="0" y="0"/>
                </a:lnTo>
                <a:close/>
              </a:path>
            </a:pathLst>
          </a:custGeom>
          <a:blipFill rotWithShape="1">
            <a:blip r:embed="rId4">
              <a:alphaModFix/>
            </a:blip>
            <a:stretch>
              <a:fillRect b="0" l="0" r="0" t="0"/>
            </a:stretch>
          </a:blipFill>
          <a:ln>
            <a:noFill/>
          </a:ln>
        </p:spPr>
      </p:sp>
      <p:sp>
        <p:nvSpPr>
          <p:cNvPr id="95" name="Google Shape;95;g35d9113ccd5_1_82"/>
          <p:cNvSpPr/>
          <p:nvPr/>
        </p:nvSpPr>
        <p:spPr>
          <a:xfrm>
            <a:off x="-2413596" y="-3078771"/>
            <a:ext cx="6634070" cy="6597885"/>
          </a:xfrm>
          <a:custGeom>
            <a:rect b="b" l="l" r="r" t="t"/>
            <a:pathLst>
              <a:path extrusionOk="0" h="6597885" w="6634070">
                <a:moveTo>
                  <a:pt x="0" y="0"/>
                </a:moveTo>
                <a:lnTo>
                  <a:pt x="6634070" y="0"/>
                </a:lnTo>
                <a:lnTo>
                  <a:pt x="6634070" y="6597884"/>
                </a:lnTo>
                <a:lnTo>
                  <a:pt x="0" y="6597884"/>
                </a:lnTo>
                <a:lnTo>
                  <a:pt x="0" y="0"/>
                </a:lnTo>
                <a:close/>
              </a:path>
            </a:pathLst>
          </a:custGeom>
          <a:blipFill rotWithShape="1">
            <a:blip r:embed="rId5">
              <a:alphaModFix/>
            </a:blip>
            <a:stretch>
              <a:fillRect b="0" l="0" r="0" t="0"/>
            </a:stretch>
          </a:blipFill>
          <a:ln>
            <a:noFill/>
          </a:ln>
        </p:spPr>
      </p:sp>
      <p:sp>
        <p:nvSpPr>
          <p:cNvPr id="96" name="Google Shape;96;g35d9113ccd5_1_82"/>
          <p:cNvSpPr/>
          <p:nvPr/>
        </p:nvSpPr>
        <p:spPr>
          <a:xfrm rot="-2310192">
            <a:off x="9916410" y="214656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6">
              <a:alphaModFix amt="37000"/>
            </a:blip>
            <a:stretch>
              <a:fillRect b="0" l="0" r="0" t="0"/>
            </a:stretch>
          </a:blipFill>
          <a:ln>
            <a:noFill/>
          </a:ln>
        </p:spPr>
      </p:sp>
      <p:sp>
        <p:nvSpPr>
          <p:cNvPr id="97" name="Google Shape;97;g35d9113ccd5_1_82"/>
          <p:cNvSpPr/>
          <p:nvPr/>
        </p:nvSpPr>
        <p:spPr>
          <a:xfrm>
            <a:off x="17994524" y="6707106"/>
            <a:ext cx="322147" cy="1215486"/>
          </a:xfrm>
          <a:custGeom>
            <a:rect b="b" l="l" r="r" t="t"/>
            <a:pathLst>
              <a:path extrusionOk="0" h="754960" w="200091">
                <a:moveTo>
                  <a:pt x="0" y="0"/>
                </a:moveTo>
                <a:lnTo>
                  <a:pt x="200091" y="0"/>
                </a:lnTo>
                <a:lnTo>
                  <a:pt x="200091" y="754960"/>
                </a:lnTo>
                <a:lnTo>
                  <a:pt x="0" y="754960"/>
                </a:lnTo>
                <a:close/>
              </a:path>
            </a:pathLst>
          </a:custGeom>
          <a:solidFill>
            <a:srgbClr val="5CE1E6"/>
          </a:solidFill>
          <a:ln>
            <a:noFill/>
          </a:ln>
        </p:spPr>
      </p:sp>
      <p:sp>
        <p:nvSpPr>
          <p:cNvPr id="98" name="Google Shape;98;g35d9113ccd5_1_82"/>
          <p:cNvSpPr/>
          <p:nvPr/>
        </p:nvSpPr>
        <p:spPr>
          <a:xfrm>
            <a:off x="14844808" y="8570089"/>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7">
              <a:alphaModFix/>
            </a:blip>
            <a:stretch>
              <a:fillRect b="0" l="0" r="0" t="0"/>
            </a:stretch>
          </a:blipFill>
          <a:ln>
            <a:noFill/>
          </a:ln>
        </p:spPr>
      </p:sp>
      <p:sp>
        <p:nvSpPr>
          <p:cNvPr id="99" name="Google Shape;99;g35d9113ccd5_1_82"/>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8">
              <a:alphaModFix/>
            </a:blip>
            <a:stretch>
              <a:fillRect b="0" l="0" r="0" t="0"/>
            </a:stretch>
          </a:blipFill>
          <a:ln>
            <a:noFill/>
          </a:ln>
        </p:spPr>
      </p:sp>
      <p:sp>
        <p:nvSpPr>
          <p:cNvPr id="100" name="Google Shape;100;g35d9113ccd5_1_82"/>
          <p:cNvSpPr txBox="1"/>
          <p:nvPr/>
        </p:nvSpPr>
        <p:spPr>
          <a:xfrm>
            <a:off x="817950" y="3429000"/>
            <a:ext cx="16248300" cy="24567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000000"/>
              </a:buClr>
              <a:buSzPts val="4200"/>
              <a:buFont typeface="Arial"/>
              <a:buNone/>
            </a:pPr>
            <a:r>
              <a:rPr b="1" i="0" lang="en-US" sz="4200" u="none" cap="none" strike="noStrike">
                <a:solidFill>
                  <a:schemeClr val="lt1"/>
                </a:solidFill>
                <a:latin typeface="Open Sans"/>
                <a:ea typeface="Open Sans"/>
                <a:cs typeface="Open Sans"/>
                <a:sym typeface="Open Sans"/>
              </a:rPr>
              <a:t>Introducción a las tecnologías de almacenamiento y arquitecturas de los sistemas de </a:t>
            </a:r>
            <a:endParaRPr b="0" i="0" sz="100" u="none" cap="none" strike="noStrike">
              <a:solidFill>
                <a:schemeClr val="lt1"/>
              </a:solidFill>
              <a:latin typeface="Arial"/>
              <a:ea typeface="Arial"/>
              <a:cs typeface="Arial"/>
              <a:sym typeface="Arial"/>
            </a:endParaRPr>
          </a:p>
          <a:p>
            <a:pPr indent="0" lvl="0" marL="0" marR="0" rtl="0" algn="ctr">
              <a:lnSpc>
                <a:spcPct val="140000"/>
              </a:lnSpc>
              <a:spcBef>
                <a:spcPts val="0"/>
              </a:spcBef>
              <a:spcAft>
                <a:spcPts val="0"/>
              </a:spcAft>
              <a:buClr>
                <a:srgbClr val="000000"/>
              </a:buClr>
              <a:buSzPts val="4200"/>
              <a:buFont typeface="Arial"/>
              <a:buNone/>
            </a:pPr>
            <a:r>
              <a:rPr b="1" i="0" lang="en-US" sz="4200" u="none" cap="none" strike="noStrike">
                <a:solidFill>
                  <a:schemeClr val="lt1"/>
                </a:solidFill>
                <a:latin typeface="Open Sans"/>
                <a:ea typeface="Open Sans"/>
                <a:cs typeface="Open Sans"/>
                <a:sym typeface="Open Sans"/>
              </a:rPr>
              <a:t>almacenamiento enfocadas en GNU/LINUX</a:t>
            </a:r>
            <a:endParaRPr b="0" i="0" sz="100" u="none" cap="none" strike="noStrike">
              <a:solidFill>
                <a:schemeClr val="lt1"/>
              </a:solidFill>
              <a:latin typeface="Arial"/>
              <a:ea typeface="Arial"/>
              <a:cs typeface="Arial"/>
              <a:sym typeface="Arial"/>
            </a:endParaRPr>
          </a:p>
        </p:txBody>
      </p:sp>
      <p:sp>
        <p:nvSpPr>
          <p:cNvPr id="101" name="Google Shape;101;g35d9113ccd5_1_82"/>
          <p:cNvSpPr txBox="1"/>
          <p:nvPr/>
        </p:nvSpPr>
        <p:spPr>
          <a:xfrm>
            <a:off x="943750" y="7894926"/>
            <a:ext cx="14201700" cy="7695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5000"/>
              <a:buFont typeface="Arial"/>
              <a:buNone/>
            </a:pPr>
            <a:r>
              <a:rPr b="1" i="0" lang="en-US" sz="5000" u="none" cap="none" strike="noStrike">
                <a:solidFill>
                  <a:schemeClr val="lt1"/>
                </a:solidFill>
                <a:latin typeface="Open Sans"/>
                <a:ea typeface="Open Sans"/>
                <a:cs typeface="Open Sans"/>
                <a:sym typeface="Open Sans"/>
              </a:rPr>
              <a:t>Manejo e Implementación de Archivos</a:t>
            </a:r>
            <a:endParaRPr b="0" i="0" sz="1400" u="none" cap="none" strike="noStrike">
              <a:solidFill>
                <a:schemeClr val="lt1"/>
              </a:solidFill>
              <a:latin typeface="Arial"/>
              <a:ea typeface="Arial"/>
              <a:cs typeface="Arial"/>
              <a:sym typeface="Arial"/>
            </a:endParaRPr>
          </a:p>
        </p:txBody>
      </p:sp>
      <p:sp>
        <p:nvSpPr>
          <p:cNvPr id="102" name="Google Shape;102;g35d9113ccd5_1_82"/>
          <p:cNvSpPr txBox="1"/>
          <p:nvPr/>
        </p:nvSpPr>
        <p:spPr>
          <a:xfrm>
            <a:off x="1063303" y="8745251"/>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chemeClr val="lt1"/>
                </a:solidFill>
                <a:latin typeface="Open Sans"/>
                <a:ea typeface="Open Sans"/>
                <a:cs typeface="Open Sans"/>
                <a:sym typeface="Open Sans"/>
              </a:rPr>
              <a:t>Escuela de Ingeniería de Ciencias Y Sistemas</a:t>
            </a:r>
            <a:endParaRPr b="0" i="0" sz="1400" u="none" cap="none" strike="noStrike">
              <a:solidFill>
                <a:schemeClr val="lt1"/>
              </a:solidFill>
              <a:latin typeface="Arial"/>
              <a:ea typeface="Arial"/>
              <a:cs typeface="Arial"/>
              <a:sym typeface="Arial"/>
            </a:endParaRPr>
          </a:p>
        </p:txBody>
      </p:sp>
      <p:sp>
        <p:nvSpPr>
          <p:cNvPr id="103" name="Google Shape;103;g35d9113ccd5_1_82"/>
          <p:cNvSpPr txBox="1"/>
          <p:nvPr/>
        </p:nvSpPr>
        <p:spPr>
          <a:xfrm>
            <a:off x="1028700" y="9210675"/>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chemeClr val="lt1"/>
                </a:solidFill>
                <a:latin typeface="Open Sans"/>
                <a:ea typeface="Open Sans"/>
                <a:cs typeface="Open Sans"/>
                <a:sym typeface="Open Sans"/>
              </a:rPr>
              <a:t>Facultad de Ingeniería</a:t>
            </a:r>
            <a:endParaRPr b="0" i="0" sz="1400" u="none" cap="none" strike="noStrike">
              <a:solidFill>
                <a:schemeClr val="lt1"/>
              </a:solidFill>
              <a:latin typeface="Arial"/>
              <a:ea typeface="Arial"/>
              <a:cs typeface="Arial"/>
              <a:sym typeface="Arial"/>
            </a:endParaRPr>
          </a:p>
        </p:txBody>
      </p:sp>
      <p:sp>
        <p:nvSpPr>
          <p:cNvPr id="104" name="Google Shape;104;g35d9113ccd5_1_82"/>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chemeClr val="lt1"/>
                </a:solidFill>
                <a:latin typeface="Open Sans"/>
                <a:ea typeface="Open Sans"/>
                <a:cs typeface="Open Sans"/>
                <a:sym typeface="Open Sans"/>
              </a:rPr>
              <a:t>Universidad de San Carlos de Guatemala</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g35d9113ccd5_1_173"/>
          <p:cNvSpPr/>
          <p:nvPr/>
        </p:nvSpPr>
        <p:spPr>
          <a:xfrm>
            <a:off x="-160692" y="-90502"/>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6670"/>
            </a:srgbClr>
          </a:solidFill>
          <a:ln>
            <a:noFill/>
          </a:ln>
        </p:spPr>
      </p:sp>
      <p:sp>
        <p:nvSpPr>
          <p:cNvPr id="110" name="Google Shape;110;g35d9113ccd5_1_173"/>
          <p:cNvSpPr/>
          <p:nvPr/>
        </p:nvSpPr>
        <p:spPr>
          <a:xfrm rot="9452055">
            <a:off x="-1158268" y="-1828638"/>
            <a:ext cx="5348395" cy="4045332"/>
          </a:xfrm>
          <a:custGeom>
            <a:rect b="b" l="l" r="r" t="t"/>
            <a:pathLst>
              <a:path extrusionOk="0" h="4041431" w="5343238">
                <a:moveTo>
                  <a:pt x="0" y="0"/>
                </a:moveTo>
                <a:lnTo>
                  <a:pt x="5343238" y="0"/>
                </a:lnTo>
                <a:lnTo>
                  <a:pt x="5343238" y="4041431"/>
                </a:lnTo>
                <a:lnTo>
                  <a:pt x="0" y="4041431"/>
                </a:lnTo>
                <a:lnTo>
                  <a:pt x="0" y="0"/>
                </a:lnTo>
                <a:close/>
              </a:path>
            </a:pathLst>
          </a:custGeom>
          <a:blipFill rotWithShape="1">
            <a:blip r:embed="rId3">
              <a:alphaModFix/>
            </a:blip>
            <a:stretch>
              <a:fillRect b="0" l="0" r="0" t="0"/>
            </a:stretch>
          </a:blipFill>
          <a:ln>
            <a:noFill/>
          </a:ln>
        </p:spPr>
      </p:sp>
      <p:sp>
        <p:nvSpPr>
          <p:cNvPr id="111" name="Google Shape;111;g35d9113ccd5_1_173"/>
          <p:cNvSpPr/>
          <p:nvPr/>
        </p:nvSpPr>
        <p:spPr>
          <a:xfrm>
            <a:off x="-1421876" y="-3678699"/>
            <a:ext cx="5285099" cy="5256271"/>
          </a:xfrm>
          <a:custGeom>
            <a:rect b="b" l="l" r="r" t="t"/>
            <a:pathLst>
              <a:path extrusionOk="0" h="5256271" w="5285099">
                <a:moveTo>
                  <a:pt x="0" y="0"/>
                </a:moveTo>
                <a:lnTo>
                  <a:pt x="5285099" y="0"/>
                </a:lnTo>
                <a:lnTo>
                  <a:pt x="5285099" y="5256271"/>
                </a:lnTo>
                <a:lnTo>
                  <a:pt x="0" y="5256271"/>
                </a:lnTo>
                <a:lnTo>
                  <a:pt x="0" y="0"/>
                </a:lnTo>
                <a:close/>
              </a:path>
            </a:pathLst>
          </a:custGeom>
          <a:blipFill rotWithShape="1">
            <a:blip r:embed="rId4">
              <a:alphaModFix/>
            </a:blip>
            <a:stretch>
              <a:fillRect b="0" l="0" r="0" t="0"/>
            </a:stretch>
          </a:blipFill>
          <a:ln>
            <a:noFill/>
          </a:ln>
        </p:spPr>
      </p:sp>
      <p:sp>
        <p:nvSpPr>
          <p:cNvPr id="112" name="Google Shape;112;g35d9113ccd5_1_173"/>
          <p:cNvSpPr/>
          <p:nvPr/>
        </p:nvSpPr>
        <p:spPr>
          <a:xfrm rot="-2310192">
            <a:off x="9697895" y="216357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7000"/>
            </a:blip>
            <a:stretch>
              <a:fillRect b="0" l="0" r="0" t="0"/>
            </a:stretch>
          </a:blipFill>
          <a:ln>
            <a:noFill/>
          </a:ln>
        </p:spPr>
      </p:sp>
      <p:sp>
        <p:nvSpPr>
          <p:cNvPr id="113" name="Google Shape;113;g35d9113ccd5_1_173"/>
          <p:cNvSpPr/>
          <p:nvPr/>
        </p:nvSpPr>
        <p:spPr>
          <a:xfrm>
            <a:off x="17981351" y="9071880"/>
            <a:ext cx="322147" cy="1215486"/>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114" name="Google Shape;114;g35d9113ccd5_1_173"/>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15" name="Google Shape;115;g35d9113ccd5_1_173"/>
          <p:cNvSpPr/>
          <p:nvPr/>
        </p:nvSpPr>
        <p:spPr>
          <a:xfrm>
            <a:off x="15172272" y="6448224"/>
            <a:ext cx="2087028" cy="3109894"/>
          </a:xfrm>
          <a:custGeom>
            <a:rect b="b" l="l" r="r" t="t"/>
            <a:pathLst>
              <a:path extrusionOk="0" h="3109894" w="2087028">
                <a:moveTo>
                  <a:pt x="0" y="0"/>
                </a:moveTo>
                <a:lnTo>
                  <a:pt x="2087028" y="0"/>
                </a:lnTo>
                <a:lnTo>
                  <a:pt x="2087028" y="3109894"/>
                </a:lnTo>
                <a:lnTo>
                  <a:pt x="0" y="3109894"/>
                </a:lnTo>
                <a:lnTo>
                  <a:pt x="0" y="0"/>
                </a:lnTo>
                <a:close/>
              </a:path>
            </a:pathLst>
          </a:custGeom>
          <a:blipFill rotWithShape="1">
            <a:blip r:embed="rId7">
              <a:alphaModFix/>
            </a:blip>
            <a:stretch>
              <a:fillRect b="0" l="0" r="0" t="0"/>
            </a:stretch>
          </a:blipFill>
          <a:ln>
            <a:noFill/>
          </a:ln>
        </p:spPr>
      </p:sp>
      <p:grpSp>
        <p:nvGrpSpPr>
          <p:cNvPr id="116" name="Google Shape;116;g35d9113ccd5_1_173"/>
          <p:cNvGrpSpPr/>
          <p:nvPr/>
        </p:nvGrpSpPr>
        <p:grpSpPr>
          <a:xfrm>
            <a:off x="176619" y="4520483"/>
            <a:ext cx="4613562" cy="845568"/>
            <a:chOff x="0" y="-76200"/>
            <a:chExt cx="1964221" cy="360000"/>
          </a:xfrm>
        </p:grpSpPr>
        <p:sp>
          <p:nvSpPr>
            <p:cNvPr id="117" name="Google Shape;117;g35d9113ccd5_1_17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8" name="Google Shape;118;g35d9113ccd5_1_173"/>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Corto </a:t>
              </a:r>
              <a:r>
                <a:rPr lang="en-US" sz="2799"/>
                <a:t>2</a:t>
              </a:r>
              <a:endParaRPr b="0" i="0" sz="1400" u="none" cap="none" strike="noStrike">
                <a:solidFill>
                  <a:srgbClr val="000000"/>
                </a:solidFill>
                <a:latin typeface="Arial"/>
                <a:ea typeface="Arial"/>
                <a:cs typeface="Arial"/>
                <a:sym typeface="Arial"/>
              </a:endParaRPr>
            </a:p>
          </p:txBody>
        </p:sp>
      </p:grpSp>
      <p:sp>
        <p:nvSpPr>
          <p:cNvPr id="119" name="Google Shape;119;g35d9113ccd5_1_173"/>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grpSp>
        <p:nvGrpSpPr>
          <p:cNvPr id="120" name="Google Shape;120;g35d9113ccd5_1_173"/>
          <p:cNvGrpSpPr/>
          <p:nvPr/>
        </p:nvGrpSpPr>
        <p:grpSpPr>
          <a:xfrm>
            <a:off x="1866989" y="3013981"/>
            <a:ext cx="4115217" cy="1556494"/>
            <a:chOff x="0" y="-76200"/>
            <a:chExt cx="1083836" cy="409938"/>
          </a:xfrm>
        </p:grpSpPr>
        <p:sp>
          <p:nvSpPr>
            <p:cNvPr id="121" name="Google Shape;121;g35d9113ccd5_1_173"/>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22" name="Google Shape;122;g35d9113ccd5_1_173"/>
            <p:cNvSpPr txBox="1"/>
            <p:nvPr/>
          </p:nvSpPr>
          <p:spPr>
            <a:xfrm>
              <a:off x="0" y="-76200"/>
              <a:ext cx="969600" cy="4098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b="0" i="0" sz="1400" u="none" cap="none" strike="noStrike">
                <a:solidFill>
                  <a:srgbClr val="000000"/>
                </a:solidFill>
                <a:latin typeface="Arial"/>
                <a:ea typeface="Arial"/>
                <a:cs typeface="Arial"/>
                <a:sym typeface="Arial"/>
              </a:endParaRPr>
            </a:p>
          </p:txBody>
        </p:sp>
      </p:grpSp>
      <p:sp>
        <p:nvSpPr>
          <p:cNvPr id="123" name="Google Shape;123;g35d9113ccd5_1_173"/>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9">
              <a:alphaModFix/>
            </a:blip>
            <a:stretch>
              <a:fillRect b="0" l="0" r="0" t="0"/>
            </a:stretch>
          </a:blipFill>
          <a:ln>
            <a:noFill/>
          </a:ln>
        </p:spPr>
      </p:sp>
      <p:grpSp>
        <p:nvGrpSpPr>
          <p:cNvPr id="124" name="Google Shape;124;g35d9113ccd5_1_173"/>
          <p:cNvGrpSpPr/>
          <p:nvPr/>
        </p:nvGrpSpPr>
        <p:grpSpPr>
          <a:xfrm>
            <a:off x="176619" y="5444301"/>
            <a:ext cx="4613562" cy="845568"/>
            <a:chOff x="0" y="-76200"/>
            <a:chExt cx="1964221" cy="360000"/>
          </a:xfrm>
        </p:grpSpPr>
        <p:sp>
          <p:nvSpPr>
            <p:cNvPr id="125" name="Google Shape;125;g35d9113ccd5_1_17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6" name="Google Shape;126;g35d9113ccd5_1_173"/>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lang="en-US" sz="2799"/>
                <a:t>TEMA 2</a:t>
              </a:r>
              <a:endParaRPr b="0" i="0" sz="1400" u="none" cap="none" strike="noStrike">
                <a:solidFill>
                  <a:srgbClr val="000000"/>
                </a:solidFill>
                <a:latin typeface="Arial"/>
                <a:ea typeface="Arial"/>
                <a:cs typeface="Arial"/>
                <a:sym typeface="Arial"/>
              </a:endParaRPr>
            </a:p>
          </p:txBody>
        </p:sp>
      </p:grpSp>
      <p:grpSp>
        <p:nvGrpSpPr>
          <p:cNvPr id="127" name="Google Shape;127;g35d9113ccd5_1_173"/>
          <p:cNvGrpSpPr/>
          <p:nvPr/>
        </p:nvGrpSpPr>
        <p:grpSpPr>
          <a:xfrm>
            <a:off x="176619" y="6425874"/>
            <a:ext cx="4613562" cy="845568"/>
            <a:chOff x="0" y="-76200"/>
            <a:chExt cx="1964221" cy="360000"/>
          </a:xfrm>
        </p:grpSpPr>
        <p:sp>
          <p:nvSpPr>
            <p:cNvPr id="128" name="Google Shape;128;g35d9113ccd5_1_17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29" name="Google Shape;129;g35d9113ccd5_1_173"/>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3</a:t>
              </a:r>
              <a:endParaRPr b="0" i="0" sz="1400" u="none" cap="none" strike="noStrike">
                <a:solidFill>
                  <a:srgbClr val="000000"/>
                </a:solidFill>
                <a:latin typeface="Arial"/>
                <a:ea typeface="Arial"/>
                <a:cs typeface="Arial"/>
                <a:sym typeface="Arial"/>
              </a:endParaRPr>
            </a:p>
          </p:txBody>
        </p:sp>
      </p:grpSp>
      <p:grpSp>
        <p:nvGrpSpPr>
          <p:cNvPr id="130" name="Google Shape;130;g35d9113ccd5_1_173"/>
          <p:cNvGrpSpPr/>
          <p:nvPr/>
        </p:nvGrpSpPr>
        <p:grpSpPr>
          <a:xfrm>
            <a:off x="176619" y="7349456"/>
            <a:ext cx="4613562" cy="845568"/>
            <a:chOff x="0" y="-76200"/>
            <a:chExt cx="1964221" cy="360000"/>
          </a:xfrm>
        </p:grpSpPr>
        <p:sp>
          <p:nvSpPr>
            <p:cNvPr id="131" name="Google Shape;131;g35d9113ccd5_1_17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2" name="Google Shape;132;g35d9113ccd5_1_173"/>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4</a:t>
              </a:r>
              <a:endParaRPr b="0" i="0" sz="1400" u="none" cap="none" strike="noStrike">
                <a:solidFill>
                  <a:srgbClr val="000000"/>
                </a:solidFill>
                <a:latin typeface="Arial"/>
                <a:ea typeface="Arial"/>
                <a:cs typeface="Arial"/>
                <a:sym typeface="Arial"/>
              </a:endParaRPr>
            </a:p>
          </p:txBody>
        </p:sp>
      </p:grpSp>
      <p:grpSp>
        <p:nvGrpSpPr>
          <p:cNvPr id="133" name="Google Shape;133;g35d9113ccd5_1_173"/>
          <p:cNvGrpSpPr/>
          <p:nvPr/>
        </p:nvGrpSpPr>
        <p:grpSpPr>
          <a:xfrm>
            <a:off x="176619" y="8412914"/>
            <a:ext cx="4613562" cy="845568"/>
            <a:chOff x="0" y="-76200"/>
            <a:chExt cx="1964221" cy="360000"/>
          </a:xfrm>
        </p:grpSpPr>
        <p:sp>
          <p:nvSpPr>
            <p:cNvPr id="134" name="Google Shape;134;g35d9113ccd5_1_173"/>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35" name="Google Shape;135;g35d9113ccd5_1_173"/>
            <p:cNvSpPr txBox="1"/>
            <p:nvPr/>
          </p:nvSpPr>
          <p:spPr>
            <a:xfrm>
              <a:off x="0" y="-76200"/>
              <a:ext cx="1849800" cy="360000"/>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TEMA 5</a:t>
              </a:r>
              <a:endParaRPr b="0" i="0" sz="1400" u="none" cap="none" strike="noStrike">
                <a:solidFill>
                  <a:srgbClr val="000000"/>
                </a:solidFill>
                <a:latin typeface="Arial"/>
                <a:ea typeface="Arial"/>
                <a:cs typeface="Arial"/>
                <a:sym typeface="Arial"/>
              </a:endParaRPr>
            </a:p>
          </p:txBody>
        </p:sp>
      </p:grpSp>
      <p:sp>
        <p:nvSpPr>
          <p:cNvPr id="136" name="Google Shape;136;g35d9113ccd5_1_173"/>
          <p:cNvSpPr/>
          <p:nvPr/>
        </p:nvSpPr>
        <p:spPr>
          <a:xfrm>
            <a:off x="878654" y="562328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37" name="Google Shape;137;g35d9113ccd5_1_173"/>
          <p:cNvSpPr/>
          <p:nvPr/>
        </p:nvSpPr>
        <p:spPr>
          <a:xfrm>
            <a:off x="878654" y="660485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38" name="Google Shape;138;g35d9113ccd5_1_173"/>
          <p:cNvSpPr/>
          <p:nvPr/>
        </p:nvSpPr>
        <p:spPr>
          <a:xfrm>
            <a:off x="878654" y="7604635"/>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8">
              <a:alphaModFix/>
            </a:blip>
            <a:stretch>
              <a:fillRect b="0" l="0" r="0" t="0"/>
            </a:stretch>
          </a:blipFill>
          <a:ln>
            <a:noFill/>
          </a:ln>
        </p:spPr>
      </p:sp>
      <p:sp>
        <p:nvSpPr>
          <p:cNvPr id="139" name="Google Shape;139;g35d9113ccd5_1_173"/>
          <p:cNvSpPr/>
          <p:nvPr/>
        </p:nvSpPr>
        <p:spPr>
          <a:xfrm>
            <a:off x="878654" y="8605540"/>
            <a:ext cx="453358" cy="550094"/>
          </a:xfrm>
          <a:custGeom>
            <a:rect b="b" l="l" r="r" t="t"/>
            <a:pathLst>
              <a:path extrusionOk="0" h="550094" w="453358">
                <a:moveTo>
                  <a:pt x="0" y="0"/>
                </a:moveTo>
                <a:lnTo>
                  <a:pt x="453359" y="0"/>
                </a:lnTo>
                <a:lnTo>
                  <a:pt x="453359" y="550095"/>
                </a:lnTo>
                <a:lnTo>
                  <a:pt x="0" y="550095"/>
                </a:lnTo>
                <a:lnTo>
                  <a:pt x="0" y="0"/>
                </a:lnTo>
                <a:close/>
              </a:path>
            </a:pathLst>
          </a:custGeom>
          <a:blipFill rotWithShape="1">
            <a:blip r:embed="rId8">
              <a:alphaModFix/>
            </a:blip>
            <a:stretch>
              <a:fillRect b="0" l="0" r="0" t="0"/>
            </a:stretch>
          </a:blipFill>
          <a:ln>
            <a:noFill/>
          </a:ln>
        </p:spPr>
      </p:sp>
      <p:sp>
        <p:nvSpPr>
          <p:cNvPr id="140" name="Google Shape;140;g35d9113ccd5_1_173"/>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9">
              <a:alphaModFix/>
            </a:blip>
            <a:stretch>
              <a:fillRect b="0" l="0" r="0" t="0"/>
            </a:stretch>
          </a:blipFill>
          <a:ln>
            <a:noFill/>
          </a:ln>
        </p:spPr>
      </p:sp>
      <p:sp>
        <p:nvSpPr>
          <p:cNvPr id="141" name="Google Shape;141;g35d9113ccd5_1_173"/>
          <p:cNvSpPr txBox="1"/>
          <p:nvPr/>
        </p:nvSpPr>
        <p:spPr>
          <a:xfrm>
            <a:off x="878649" y="683150"/>
            <a:ext cx="77103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5000" u="none" cap="none" strike="noStrike">
                <a:solidFill>
                  <a:srgbClr val="131416"/>
                </a:solidFill>
                <a:latin typeface="Pacifico"/>
                <a:ea typeface="Pacifico"/>
                <a:cs typeface="Pacifico"/>
                <a:sym typeface="Pacifico"/>
              </a:rPr>
              <a:t>Agenda</a:t>
            </a:r>
            <a:endParaRPr>
              <a:latin typeface="Pacifico"/>
              <a:ea typeface="Pacifico"/>
              <a:cs typeface="Pacifico"/>
              <a:sym typeface="Pacifico"/>
            </a:endParaRPr>
          </a:p>
        </p:txBody>
      </p:sp>
      <p:sp>
        <p:nvSpPr>
          <p:cNvPr id="142" name="Google Shape;142;g35d9113ccd5_1_173"/>
          <p:cNvSpPr txBox="1"/>
          <p:nvPr/>
        </p:nvSpPr>
        <p:spPr>
          <a:xfrm>
            <a:off x="9770540" y="683142"/>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i="0" lang="en-US" sz="15000" u="none" cap="none" strike="noStrike">
                <a:solidFill>
                  <a:srgbClr val="131416"/>
                </a:solidFill>
                <a:latin typeface="Lobster"/>
                <a:ea typeface="Lobster"/>
                <a:cs typeface="Lobster"/>
                <a:sym typeface="Lobster"/>
              </a:rPr>
              <a:t>Recursos</a:t>
            </a:r>
            <a:endParaRPr>
              <a:latin typeface="Lobster"/>
              <a:ea typeface="Lobster"/>
              <a:cs typeface="Lobster"/>
              <a:sym typeface="Lobster"/>
            </a:endParaRPr>
          </a:p>
        </p:txBody>
      </p:sp>
      <p:sp>
        <p:nvSpPr>
          <p:cNvPr id="143" name="Google Shape;143;g35d9113ccd5_1_173"/>
          <p:cNvSpPr txBox="1"/>
          <p:nvPr/>
        </p:nvSpPr>
        <p:spPr>
          <a:xfrm>
            <a:off x="10428575" y="3553647"/>
            <a:ext cx="5916300" cy="2492400"/>
          </a:xfrm>
          <a:prstGeom prst="rect">
            <a:avLst/>
          </a:prstGeom>
          <a:noFill/>
          <a:ln>
            <a:noFill/>
          </a:ln>
        </p:spPr>
        <p:txBody>
          <a:bodyPr anchorCtr="0" anchor="ctr" bIns="50800" lIns="50800" spcFirstLastPara="1" rIns="50800" wrap="square" tIns="50800">
            <a:noAutofit/>
          </a:bodyPr>
          <a:lstStyle/>
          <a:p>
            <a:pPr indent="0" lvl="0" marL="0" rtl="0" algn="ctr">
              <a:lnSpc>
                <a:spcPct val="148010"/>
              </a:lnSpc>
              <a:spcBef>
                <a:spcPts val="0"/>
              </a:spcBef>
              <a:spcAft>
                <a:spcPts val="0"/>
              </a:spcAft>
              <a:buClr>
                <a:schemeClr val="dk1"/>
              </a:buClr>
              <a:buSzPts val="4499"/>
              <a:buFont typeface="Arial"/>
              <a:buNone/>
            </a:pPr>
            <a:r>
              <a:rPr lang="en-US" sz="4499">
                <a:solidFill>
                  <a:schemeClr val="dk1"/>
                </a:solidFill>
              </a:rPr>
              <a:t>https://youtu.be/LAe3pJc4cko?si=ftSNPTeKmknWA_4m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5d9113ccd5_1_285"/>
          <p:cNvSpPr/>
          <p:nvPr/>
        </p:nvSpPr>
        <p:spPr>
          <a:xfrm>
            <a:off x="-160692" y="-90502"/>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6670"/>
            </a:srgbClr>
          </a:solidFill>
          <a:ln>
            <a:noFill/>
          </a:ln>
        </p:spPr>
      </p:sp>
      <p:sp>
        <p:nvSpPr>
          <p:cNvPr id="149" name="Google Shape;149;g35d9113ccd5_1_285"/>
          <p:cNvSpPr/>
          <p:nvPr/>
        </p:nvSpPr>
        <p:spPr>
          <a:xfrm rot="-2310192">
            <a:off x="9697895" y="216357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150" name="Google Shape;150;g35d9113ccd5_1_285"/>
          <p:cNvGrpSpPr/>
          <p:nvPr/>
        </p:nvGrpSpPr>
        <p:grpSpPr>
          <a:xfrm rot="9869657">
            <a:off x="14430890" y="6567375"/>
            <a:ext cx="6488317" cy="6763755"/>
            <a:chOff x="-8061" y="0"/>
            <a:chExt cx="8651124" cy="9018376"/>
          </a:xfrm>
        </p:grpSpPr>
        <p:sp>
          <p:nvSpPr>
            <p:cNvPr id="151" name="Google Shape;151;g35d9113ccd5_1_285"/>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52" name="Google Shape;152;g35d9113ccd5_1_28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53" name="Google Shape;153;g35d9113ccd5_1_28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54" name="Google Shape;154;g35d9113ccd5_1_285"/>
          <p:cNvSpPr txBox="1"/>
          <p:nvPr/>
        </p:nvSpPr>
        <p:spPr>
          <a:xfrm>
            <a:off x="5433075" y="497075"/>
            <a:ext cx="7921200" cy="1704000"/>
          </a:xfrm>
          <a:prstGeom prst="rect">
            <a:avLst/>
          </a:prstGeom>
          <a:noFill/>
          <a:ln>
            <a:noFill/>
          </a:ln>
        </p:spPr>
        <p:txBody>
          <a:bodyPr anchorCtr="0" anchor="t" bIns="0" lIns="0" spcFirstLastPara="1" rIns="0" wrap="square" tIns="0">
            <a:spAutoFit/>
          </a:bodyPr>
          <a:lstStyle/>
          <a:p>
            <a:pPr indent="0" lvl="0" marL="0" marR="0" rtl="0" algn="l">
              <a:lnSpc>
                <a:spcPct val="112987"/>
              </a:lnSpc>
              <a:spcBef>
                <a:spcPts val="0"/>
              </a:spcBef>
              <a:spcAft>
                <a:spcPts val="0"/>
              </a:spcAft>
              <a:buClr>
                <a:srgbClr val="000000"/>
              </a:buClr>
              <a:buSzPts val="5198"/>
              <a:buFont typeface="Arial"/>
              <a:buNone/>
            </a:pPr>
            <a:r>
              <a:rPr b="0" i="0" lang="en-US" sz="5198" u="none" cap="none" strike="noStrike">
                <a:solidFill>
                  <a:srgbClr val="131416"/>
                </a:solidFill>
                <a:latin typeface="Arial"/>
                <a:ea typeface="Arial"/>
                <a:cs typeface="Arial"/>
                <a:sym typeface="Arial"/>
              </a:rPr>
              <a:t>COMPETENCIA(S) QUE DESARROLLAREMOS</a:t>
            </a:r>
            <a:endParaRPr b="0" i="0" sz="500" u="none" cap="none" strike="noStrike">
              <a:solidFill>
                <a:srgbClr val="000000"/>
              </a:solidFill>
              <a:latin typeface="Arial"/>
              <a:ea typeface="Arial"/>
              <a:cs typeface="Arial"/>
              <a:sym typeface="Arial"/>
            </a:endParaRPr>
          </a:p>
        </p:txBody>
      </p:sp>
      <p:sp>
        <p:nvSpPr>
          <p:cNvPr id="155" name="Google Shape;155;g35d9113ccd5_1_285"/>
          <p:cNvSpPr txBox="1"/>
          <p:nvPr/>
        </p:nvSpPr>
        <p:spPr>
          <a:xfrm>
            <a:off x="1069602" y="2733350"/>
            <a:ext cx="15682200" cy="6402300"/>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1" lang="en-US" sz="5199">
                <a:solidFill>
                  <a:srgbClr val="131416"/>
                </a:solidFill>
                <a:latin typeface="Open Sans"/>
                <a:ea typeface="Open Sans"/>
                <a:cs typeface="Open Sans"/>
                <a:sym typeface="Open Sans"/>
              </a:rPr>
              <a:t>Comprende el modelo de seguridad integral para almacenamiento de datos mediante el análisis de amenazas, controles de acceso y técnicas de respaldo para garantizar la confidencialidad, integridad y disponibilidad de la información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5"/>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161" name="Google Shape;161;p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62" name="Google Shape;162;p5"/>
          <p:cNvGrpSpPr/>
          <p:nvPr/>
        </p:nvGrpSpPr>
        <p:grpSpPr>
          <a:xfrm rot="9869556">
            <a:off x="14431083" y="6569611"/>
            <a:ext cx="6482297" cy="6762426"/>
            <a:chOff x="0" y="0"/>
            <a:chExt cx="8643063" cy="9016568"/>
          </a:xfrm>
        </p:grpSpPr>
        <p:sp>
          <p:nvSpPr>
            <p:cNvPr id="163" name="Google Shape;163;p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64" name="Google Shape;164;p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65" name="Google Shape;165;p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166" name="Google Shape;166;p5"/>
          <p:cNvGrpSpPr/>
          <p:nvPr/>
        </p:nvGrpSpPr>
        <p:grpSpPr>
          <a:xfrm>
            <a:off x="540010" y="1789670"/>
            <a:ext cx="6707659" cy="6707659"/>
            <a:chOff x="0" y="0"/>
            <a:chExt cx="8943546" cy="8943546"/>
          </a:xfrm>
        </p:grpSpPr>
        <p:sp>
          <p:nvSpPr>
            <p:cNvPr id="167" name="Google Shape;167;p5"/>
            <p:cNvSpPr/>
            <p:nvPr/>
          </p:nvSpPr>
          <p:spPr>
            <a:xfrm>
              <a:off x="0" y="0"/>
              <a:ext cx="8943546" cy="8943546"/>
            </a:xfrm>
            <a:custGeom>
              <a:rect b="b" l="l" r="r" t="t"/>
              <a:pathLst>
                <a:path extrusionOk="0" h="8943546" w="8943546">
                  <a:moveTo>
                    <a:pt x="0" y="0"/>
                  </a:moveTo>
                  <a:lnTo>
                    <a:pt x="8943546" y="0"/>
                  </a:lnTo>
                  <a:lnTo>
                    <a:pt x="8943546" y="8943546"/>
                  </a:lnTo>
                  <a:lnTo>
                    <a:pt x="0" y="8943546"/>
                  </a:lnTo>
                  <a:lnTo>
                    <a:pt x="0" y="0"/>
                  </a:lnTo>
                  <a:close/>
                </a:path>
              </a:pathLst>
            </a:custGeom>
            <a:blipFill rotWithShape="1">
              <a:blip r:embed="rId7">
                <a:alphaModFix amt="12000"/>
              </a:blip>
              <a:stretch>
                <a:fillRect b="0" l="0" r="0" t="0"/>
              </a:stretch>
            </a:blipFill>
            <a:ln>
              <a:noFill/>
            </a:ln>
          </p:spPr>
        </p:sp>
        <p:sp>
          <p:nvSpPr>
            <p:cNvPr id="168" name="Google Shape;168;p5"/>
            <p:cNvSpPr/>
            <p:nvPr/>
          </p:nvSpPr>
          <p:spPr>
            <a:xfrm>
              <a:off x="476944" y="476944"/>
              <a:ext cx="7989659" cy="7989659"/>
            </a:xfrm>
            <a:custGeom>
              <a:rect b="b" l="l" r="r" t="t"/>
              <a:pathLst>
                <a:path extrusionOk="0" h="7989659" w="7989659">
                  <a:moveTo>
                    <a:pt x="0" y="0"/>
                  </a:moveTo>
                  <a:lnTo>
                    <a:pt x="7989658" y="0"/>
                  </a:lnTo>
                  <a:lnTo>
                    <a:pt x="7989658" y="7989658"/>
                  </a:lnTo>
                  <a:lnTo>
                    <a:pt x="0" y="7989658"/>
                  </a:lnTo>
                  <a:lnTo>
                    <a:pt x="0" y="0"/>
                  </a:lnTo>
                  <a:close/>
                </a:path>
              </a:pathLst>
            </a:custGeom>
            <a:blipFill rotWithShape="1">
              <a:blip r:embed="rId8">
                <a:alphaModFix/>
              </a:blip>
              <a:stretch>
                <a:fillRect b="0" l="0" r="0" t="0"/>
              </a:stretch>
            </a:blipFill>
            <a:ln>
              <a:noFill/>
            </a:ln>
          </p:spPr>
        </p:sp>
      </p:grpSp>
      <p:sp>
        <p:nvSpPr>
          <p:cNvPr id="169" name="Google Shape;169;p5"/>
          <p:cNvSpPr/>
          <p:nvPr/>
        </p:nvSpPr>
        <p:spPr>
          <a:xfrm>
            <a:off x="1003789" y="2310208"/>
            <a:ext cx="5648705" cy="5648705"/>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25180" r="-2517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5"/>
          <p:cNvSpPr txBox="1"/>
          <p:nvPr/>
        </p:nvSpPr>
        <p:spPr>
          <a:xfrm>
            <a:off x="8731010" y="4354907"/>
            <a:ext cx="8528290" cy="154305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999"/>
              <a:buFont typeface="Arial"/>
              <a:buNone/>
            </a:pPr>
            <a:r>
              <a:rPr b="1" i="1" lang="en-US" sz="4999" u="none" cap="none" strike="noStrike">
                <a:solidFill>
                  <a:srgbClr val="1B4A9B"/>
                </a:solidFill>
                <a:latin typeface="Poppins"/>
                <a:ea typeface="Poppins"/>
                <a:cs typeface="Poppins"/>
                <a:sym typeface="Poppins"/>
              </a:rPr>
              <a:t>Tipos de Almacenamiento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176" name="Google Shape;176;p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177" name="Google Shape;177;p6"/>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sp>
        <p:nvSpPr>
          <p:cNvPr id="178" name="Google Shape;178;p6"/>
          <p:cNvSpPr/>
          <p:nvPr/>
        </p:nvSpPr>
        <p:spPr>
          <a:xfrm>
            <a:off x="8926759" y="646468"/>
            <a:ext cx="8998026" cy="8998026"/>
          </a:xfrm>
          <a:custGeom>
            <a:rect b="b" l="l" r="r" t="t"/>
            <a:pathLst>
              <a:path extrusionOk="0" h="8998026" w="8998026">
                <a:moveTo>
                  <a:pt x="0" y="0"/>
                </a:moveTo>
                <a:lnTo>
                  <a:pt x="8998027" y="0"/>
                </a:lnTo>
                <a:lnTo>
                  <a:pt x="8998027" y="8998027"/>
                </a:lnTo>
                <a:lnTo>
                  <a:pt x="0" y="8998027"/>
                </a:lnTo>
                <a:lnTo>
                  <a:pt x="0" y="0"/>
                </a:lnTo>
                <a:close/>
              </a:path>
            </a:pathLst>
          </a:custGeom>
          <a:blipFill rotWithShape="1">
            <a:blip r:embed="rId5">
              <a:alphaModFix amt="12000"/>
            </a:blip>
            <a:stretch>
              <a:fillRect b="0" l="0" r="0" t="0"/>
            </a:stretch>
          </a:blipFill>
          <a:ln>
            <a:noFill/>
          </a:ln>
        </p:spPr>
      </p:sp>
      <p:sp>
        <p:nvSpPr>
          <p:cNvPr id="179" name="Google Shape;179;p6"/>
          <p:cNvSpPr/>
          <p:nvPr/>
        </p:nvSpPr>
        <p:spPr>
          <a:xfrm>
            <a:off x="9467671" y="1185398"/>
            <a:ext cx="7916204" cy="7916204"/>
          </a:xfrm>
          <a:custGeom>
            <a:rect b="b" l="l" r="r" t="t"/>
            <a:pathLst>
              <a:path extrusionOk="0" h="7916204" w="7916204">
                <a:moveTo>
                  <a:pt x="0" y="0"/>
                </a:moveTo>
                <a:lnTo>
                  <a:pt x="7916203" y="0"/>
                </a:lnTo>
                <a:lnTo>
                  <a:pt x="7916203" y="7916204"/>
                </a:lnTo>
                <a:lnTo>
                  <a:pt x="0" y="7916204"/>
                </a:lnTo>
                <a:lnTo>
                  <a:pt x="0" y="0"/>
                </a:lnTo>
                <a:close/>
              </a:path>
            </a:pathLst>
          </a:custGeom>
          <a:blipFill rotWithShape="1">
            <a:blip r:embed="rId6">
              <a:alphaModFix/>
            </a:blip>
            <a:stretch>
              <a:fillRect b="0" l="0" r="0" t="0"/>
            </a:stretch>
          </a:blipFill>
          <a:ln>
            <a:noFill/>
          </a:ln>
        </p:spPr>
      </p:sp>
      <p:sp>
        <p:nvSpPr>
          <p:cNvPr id="180" name="Google Shape;180;p6"/>
          <p:cNvSpPr/>
          <p:nvPr/>
        </p:nvSpPr>
        <p:spPr>
          <a:xfrm>
            <a:off x="9641273" y="1355508"/>
            <a:ext cx="7550751" cy="7550751"/>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7">
              <a:alphaModFix/>
            </a:blip>
            <a:stretch>
              <a:fillRect b="0" l="-4352" r="-36083"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181" name="Google Shape;181;p6"/>
          <p:cNvGrpSpPr/>
          <p:nvPr/>
        </p:nvGrpSpPr>
        <p:grpSpPr>
          <a:xfrm>
            <a:off x="-1722197" y="-3678699"/>
            <a:ext cx="6482297" cy="6762426"/>
            <a:chOff x="0" y="0"/>
            <a:chExt cx="8643063" cy="9016568"/>
          </a:xfrm>
        </p:grpSpPr>
        <p:sp>
          <p:nvSpPr>
            <p:cNvPr id="182" name="Google Shape;182;p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8">
                <a:alphaModFix/>
              </a:blip>
              <a:stretch>
                <a:fillRect b="0" l="0" r="0" t="0"/>
              </a:stretch>
            </a:blipFill>
            <a:ln>
              <a:noFill/>
            </a:ln>
          </p:spPr>
        </p:sp>
        <p:sp>
          <p:nvSpPr>
            <p:cNvPr id="183" name="Google Shape;183;p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9">
                <a:alphaModFix/>
              </a:blip>
              <a:stretch>
                <a:fillRect b="0" l="0" r="0" t="0"/>
              </a:stretch>
            </a:blipFill>
            <a:ln>
              <a:noFill/>
            </a:ln>
          </p:spPr>
        </p:sp>
      </p:grpSp>
      <p:sp>
        <p:nvSpPr>
          <p:cNvPr id="184" name="Google Shape;184;p6"/>
          <p:cNvSpPr txBox="1"/>
          <p:nvPr/>
        </p:nvSpPr>
        <p:spPr>
          <a:xfrm>
            <a:off x="1028700" y="3234034"/>
            <a:ext cx="6471258"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Historia</a:t>
            </a:r>
            <a:endParaRPr b="0" i="0" sz="1400" u="none" cap="none" strike="noStrike">
              <a:solidFill>
                <a:srgbClr val="000000"/>
              </a:solidFill>
              <a:latin typeface="Arial"/>
              <a:ea typeface="Arial"/>
              <a:cs typeface="Arial"/>
              <a:sym typeface="Arial"/>
            </a:endParaRPr>
          </a:p>
        </p:txBody>
      </p:sp>
      <p:sp>
        <p:nvSpPr>
          <p:cNvPr id="185" name="Google Shape;185;p6"/>
          <p:cNvSpPr txBox="1"/>
          <p:nvPr/>
        </p:nvSpPr>
        <p:spPr>
          <a:xfrm>
            <a:off x="1116036" y="4498410"/>
            <a:ext cx="6296585" cy="4826508"/>
          </a:xfrm>
          <a:prstGeom prst="rect">
            <a:avLst/>
          </a:prstGeom>
          <a:noFill/>
          <a:ln>
            <a:noFill/>
          </a:ln>
        </p:spPr>
        <p:txBody>
          <a:bodyPr anchorCtr="0" anchor="t" bIns="0" lIns="0" spcFirstLastPara="1" rIns="0" wrap="square" tIns="0">
            <a:spAutoFit/>
          </a:bodyPr>
          <a:lstStyle/>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Las </a:t>
            </a:r>
            <a:r>
              <a:rPr b="1" i="0" lang="en-US" sz="2699" u="none" cap="none" strike="noStrike">
                <a:solidFill>
                  <a:srgbClr val="737373"/>
                </a:solidFill>
                <a:latin typeface="Poppins Medium"/>
                <a:ea typeface="Poppins Medium"/>
                <a:cs typeface="Poppins Medium"/>
                <a:sym typeface="Poppins Medium"/>
              </a:rPr>
              <a:t>tarjetas perforadas</a:t>
            </a:r>
            <a:r>
              <a:rPr b="0" i="0" lang="en-US" sz="2699" u="none" cap="none" strike="noStrike">
                <a:solidFill>
                  <a:srgbClr val="737373"/>
                </a:solidFill>
                <a:latin typeface="Poppins"/>
                <a:ea typeface="Poppins"/>
                <a:cs typeface="Poppins"/>
                <a:sym typeface="Poppins"/>
              </a:rPr>
              <a:t> fueron los primeros dispositivos de almacenamiento.</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Fritz Pfleumer, en ingeniero alemán, patentó la cinta magnética en 1928.</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a:p>
            <a:pPr indent="-291464" lvl="1" marL="582928" marR="0" rtl="0" algn="just">
              <a:lnSpc>
                <a:spcPct val="118006"/>
              </a:lnSpc>
              <a:spcBef>
                <a:spcPts val="0"/>
              </a:spcBef>
              <a:spcAft>
                <a:spcPts val="0"/>
              </a:spcAft>
              <a:buClr>
                <a:srgbClr val="737373"/>
              </a:buClr>
              <a:buSzPts val="2699"/>
              <a:buFont typeface="Arial"/>
              <a:buChar char="•"/>
            </a:pPr>
            <a:r>
              <a:rPr b="0" i="0" lang="en-US" sz="2699" u="none" cap="none" strike="noStrike">
                <a:solidFill>
                  <a:srgbClr val="737373"/>
                </a:solidFill>
                <a:latin typeface="Poppins"/>
                <a:ea typeface="Poppins"/>
                <a:cs typeface="Poppins"/>
                <a:sym typeface="Poppins"/>
              </a:rPr>
              <a:t>El profesor Fredrick C. Williams junto con Tom Kilburn, desarrollaron el tubo de Williams</a:t>
            </a:r>
            <a:endParaRPr b="0" i="0" sz="1400" u="none" cap="none" strike="noStrike">
              <a:solidFill>
                <a:srgbClr val="000000"/>
              </a:solidFill>
              <a:latin typeface="Arial"/>
              <a:ea typeface="Arial"/>
              <a:cs typeface="Arial"/>
              <a:sym typeface="Arial"/>
            </a:endParaRPr>
          </a:p>
          <a:p>
            <a:pPr indent="0" lvl="0" marL="0" marR="0" rtl="0" algn="just">
              <a:lnSpc>
                <a:spcPct val="118006"/>
              </a:lnSpc>
              <a:spcBef>
                <a:spcPts val="0"/>
              </a:spcBef>
              <a:spcAft>
                <a:spcPts val="0"/>
              </a:spcAft>
              <a:buClr>
                <a:srgbClr val="000000"/>
              </a:buClr>
              <a:buSzPts val="2699"/>
              <a:buFont typeface="Arial"/>
              <a:buNone/>
            </a:pPr>
            <a:r>
              <a:t/>
            </a:r>
            <a:endParaRPr b="0" i="0" sz="2699" u="none" cap="none" strike="noStrike">
              <a:solidFill>
                <a:srgbClr val="737373"/>
              </a:solidFill>
              <a:latin typeface="Poppins"/>
              <a:ea typeface="Poppins"/>
              <a:cs typeface="Poppins"/>
              <a:sym typeface="Poppi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191" name="Google Shape;191;p7"/>
          <p:cNvSpPr/>
          <p:nvPr/>
        </p:nvSpPr>
        <p:spPr>
          <a:xfrm rot="-2308677">
            <a:off x="9237581" y="2396877"/>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192" name="Google Shape;192;p7"/>
          <p:cNvGrpSpPr/>
          <p:nvPr/>
        </p:nvGrpSpPr>
        <p:grpSpPr>
          <a:xfrm rot="9869556">
            <a:off x="14431083" y="6569611"/>
            <a:ext cx="6482297" cy="6762426"/>
            <a:chOff x="0" y="0"/>
            <a:chExt cx="8643063" cy="9016568"/>
          </a:xfrm>
        </p:grpSpPr>
        <p:sp>
          <p:nvSpPr>
            <p:cNvPr id="193" name="Google Shape;193;p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194" name="Google Shape;194;p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195" name="Google Shape;195;p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196" name="Google Shape;196;p7"/>
          <p:cNvSpPr txBox="1"/>
          <p:nvPr/>
        </p:nvSpPr>
        <p:spPr>
          <a:xfrm>
            <a:off x="2829315" y="3368493"/>
            <a:ext cx="12613570" cy="49720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Esta es una de las funcionalidades básica de cualquier computadora o dispositivo cuya funcionalidad sea la manipulación de información.</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El almacenamiento de información en todo este tipo de dispositivos se puede clasificar en 2 tipos los cuales son:</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Almacenamiento Secundario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p:txBody>
      </p:sp>
      <p:sp>
        <p:nvSpPr>
          <p:cNvPr id="197" name="Google Shape;197;p7"/>
          <p:cNvSpPr/>
          <p:nvPr/>
        </p:nvSpPr>
        <p:spPr>
          <a:xfrm>
            <a:off x="14916895" y="5883093"/>
            <a:ext cx="3143707" cy="4114800"/>
          </a:xfrm>
          <a:custGeom>
            <a:rect b="b" l="l" r="r" t="t"/>
            <a:pathLst>
              <a:path extrusionOk="0" h="4114800" w="3143707">
                <a:moveTo>
                  <a:pt x="0" y="0"/>
                </a:moveTo>
                <a:lnTo>
                  <a:pt x="3143707" y="0"/>
                </a:lnTo>
                <a:lnTo>
                  <a:pt x="3143707" y="4114800"/>
                </a:lnTo>
                <a:lnTo>
                  <a:pt x="0" y="4114800"/>
                </a:lnTo>
                <a:lnTo>
                  <a:pt x="0" y="0"/>
                </a:lnTo>
                <a:close/>
              </a:path>
            </a:pathLst>
          </a:custGeom>
          <a:blipFill rotWithShape="1">
            <a:blip r:embed="rId7">
              <a:alphaModFix/>
            </a:blip>
            <a:stretch>
              <a:fillRect b="0" l="0" r="0" t="0"/>
            </a:stretch>
          </a:blipFill>
          <a:ln>
            <a:noFill/>
          </a:ln>
        </p:spPr>
      </p:sp>
      <p:sp>
        <p:nvSpPr>
          <p:cNvPr id="198" name="Google Shape;198;p7"/>
          <p:cNvSpPr txBox="1"/>
          <p:nvPr/>
        </p:nvSpPr>
        <p:spPr>
          <a:xfrm>
            <a:off x="3686177" y="1673089"/>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de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8"/>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04" name="Google Shape;204;p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05" name="Google Shape;205;p8"/>
          <p:cNvGrpSpPr/>
          <p:nvPr/>
        </p:nvGrpSpPr>
        <p:grpSpPr>
          <a:xfrm rot="9869556">
            <a:off x="14431083" y="6569611"/>
            <a:ext cx="6482297" cy="6762426"/>
            <a:chOff x="0" y="0"/>
            <a:chExt cx="8643063" cy="9016568"/>
          </a:xfrm>
        </p:grpSpPr>
        <p:sp>
          <p:nvSpPr>
            <p:cNvPr id="206" name="Google Shape;206;p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07" name="Google Shape;207;p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08" name="Google Shape;208;p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09" name="Google Shape;209;p8"/>
          <p:cNvSpPr txBox="1"/>
          <p:nvPr/>
        </p:nvSpPr>
        <p:spPr>
          <a:xfrm>
            <a:off x="3451366" y="1751927"/>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a:t>
            </a:r>
            <a:endParaRPr b="0" i="0" sz="1400" u="none" cap="none" strike="noStrike">
              <a:solidFill>
                <a:srgbClr val="000000"/>
              </a:solidFill>
              <a:latin typeface="Arial"/>
              <a:ea typeface="Arial"/>
              <a:cs typeface="Arial"/>
              <a:sym typeface="Arial"/>
            </a:endParaRPr>
          </a:p>
        </p:txBody>
      </p:sp>
      <p:sp>
        <p:nvSpPr>
          <p:cNvPr id="210" name="Google Shape;210;p8"/>
          <p:cNvSpPr txBox="1"/>
          <p:nvPr/>
        </p:nvSpPr>
        <p:spPr>
          <a:xfrm>
            <a:off x="2394032" y="3311538"/>
            <a:ext cx="13030200" cy="58644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Tal y como su nombre lo indica este es </a:t>
            </a:r>
            <a:r>
              <a:rPr b="1" i="0" lang="en-US" sz="3000" u="none" cap="none" strike="noStrike">
                <a:solidFill>
                  <a:srgbClr val="737373"/>
                </a:solidFill>
                <a:latin typeface="Poppins"/>
                <a:ea typeface="Poppins"/>
                <a:cs typeface="Poppins"/>
                <a:sym typeface="Poppins"/>
              </a:rPr>
              <a:t>almacenamiento principal</a:t>
            </a:r>
            <a:r>
              <a:rPr b="0" i="0" lang="en-US" sz="3000" u="none" cap="none" strike="noStrike">
                <a:solidFill>
                  <a:srgbClr val="737373"/>
                </a:solidFill>
                <a:latin typeface="Poppins"/>
                <a:ea typeface="Poppins"/>
                <a:cs typeface="Poppins"/>
                <a:sym typeface="Poppins"/>
              </a:rPr>
              <a:t> que utiliza el sistema para llevar a cabo su funcionamiento.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tipo de dispositivos se caracterizan que todos los datos almacenados son volátiles sin embargo la velocidad de escritura y lectura es muy alta.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volatilidad nos indica que solo estará presente mientras el dispositivo cuente con una fuente de electricidad que lo alimente</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9"/>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16" name="Google Shape;216;p9"/>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17" name="Google Shape;217;p9"/>
          <p:cNvGrpSpPr/>
          <p:nvPr/>
        </p:nvGrpSpPr>
        <p:grpSpPr>
          <a:xfrm rot="9869556">
            <a:off x="14431083" y="6569611"/>
            <a:ext cx="6482297" cy="6762426"/>
            <a:chOff x="0" y="0"/>
            <a:chExt cx="8643063" cy="9016568"/>
          </a:xfrm>
        </p:grpSpPr>
        <p:sp>
          <p:nvSpPr>
            <p:cNvPr id="218" name="Google Shape;218;p9"/>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19" name="Google Shape;219;p9"/>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20" name="Google Shape;220;p9"/>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21" name="Google Shape;221;p9"/>
          <p:cNvSpPr/>
          <p:nvPr/>
        </p:nvSpPr>
        <p:spPr>
          <a:xfrm>
            <a:off x="11777923" y="6374488"/>
            <a:ext cx="6101621" cy="3432162"/>
          </a:xfrm>
          <a:custGeom>
            <a:rect b="b" l="l" r="r" t="t"/>
            <a:pathLst>
              <a:path extrusionOk="0" h="3432162" w="6101621">
                <a:moveTo>
                  <a:pt x="0" y="0"/>
                </a:moveTo>
                <a:lnTo>
                  <a:pt x="6101621" y="0"/>
                </a:lnTo>
                <a:lnTo>
                  <a:pt x="6101621" y="3432161"/>
                </a:lnTo>
                <a:lnTo>
                  <a:pt x="0" y="3432161"/>
                </a:lnTo>
                <a:lnTo>
                  <a:pt x="0" y="0"/>
                </a:lnTo>
                <a:close/>
              </a:path>
            </a:pathLst>
          </a:custGeom>
          <a:blipFill rotWithShape="1">
            <a:blip r:embed="rId7">
              <a:alphaModFix/>
            </a:blip>
            <a:stretch>
              <a:fillRect b="0" l="0" r="0" t="0"/>
            </a:stretch>
          </a:blipFill>
          <a:ln>
            <a:noFill/>
          </a:ln>
        </p:spPr>
      </p:sp>
      <p:sp>
        <p:nvSpPr>
          <p:cNvPr id="222" name="Google Shape;222;p9"/>
          <p:cNvSpPr txBox="1"/>
          <p:nvPr/>
        </p:nvSpPr>
        <p:spPr>
          <a:xfrm>
            <a:off x="3443466" y="2816222"/>
            <a:ext cx="11385267" cy="44767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Su principal función es almacenar toda aquella información de importancia para el sistema, de esta manera reducir los accesos al almacenamiento secundario lo cual ralentizaría los procesos.</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Ejemplo:</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RAM</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ROM</a:t>
            </a:r>
            <a:endParaRPr b="0" i="0" sz="1400" u="none" cap="none" strike="noStrike">
              <a:solidFill>
                <a:srgbClr val="000000"/>
              </a:solidFill>
              <a:latin typeface="Arial"/>
              <a:ea typeface="Arial"/>
              <a:cs typeface="Arial"/>
              <a:sym typeface="Arial"/>
            </a:endParaRPr>
          </a:p>
          <a:p>
            <a:pPr indent="-323850" lvl="1" marL="647700" marR="0" rtl="0" algn="just">
              <a:lnSpc>
                <a:spcPct val="130000"/>
              </a:lnSpc>
              <a:spcBef>
                <a:spcPts val="0"/>
              </a:spcBef>
              <a:spcAft>
                <a:spcPts val="0"/>
              </a:spcAft>
              <a:buClr>
                <a:srgbClr val="737373"/>
              </a:buClr>
              <a:buSzPts val="3000"/>
              <a:buFont typeface="Arial"/>
              <a:buChar char="•"/>
            </a:pPr>
            <a:r>
              <a:rPr b="0" i="0" lang="en-US" sz="3000" u="none" cap="none" strike="noStrike">
                <a:solidFill>
                  <a:srgbClr val="737373"/>
                </a:solidFill>
                <a:latin typeface="Poppins"/>
                <a:ea typeface="Poppins"/>
                <a:cs typeface="Poppins"/>
                <a:sym typeface="Poppins"/>
              </a:rPr>
              <a:t>Memoria Cache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0"/>
          <p:cNvSpPr/>
          <p:nvPr/>
        </p:nvSpPr>
        <p:spPr>
          <a:xfrm>
            <a:off x="-91581"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28" name="Google Shape;228;p10"/>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29" name="Google Shape;229;p10"/>
          <p:cNvGrpSpPr/>
          <p:nvPr/>
        </p:nvGrpSpPr>
        <p:grpSpPr>
          <a:xfrm rot="9869556">
            <a:off x="14431083" y="6569611"/>
            <a:ext cx="6482297" cy="6762426"/>
            <a:chOff x="0" y="0"/>
            <a:chExt cx="8643063" cy="9016568"/>
          </a:xfrm>
        </p:grpSpPr>
        <p:sp>
          <p:nvSpPr>
            <p:cNvPr id="230" name="Google Shape;230;p10"/>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31" name="Google Shape;231;p1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32" name="Google Shape;232;p1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33" name="Google Shape;233;p10"/>
          <p:cNvSpPr txBox="1"/>
          <p:nvPr/>
        </p:nvSpPr>
        <p:spPr>
          <a:xfrm>
            <a:off x="3747388" y="3045939"/>
            <a:ext cx="10915646" cy="123825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RAM</a:t>
            </a:r>
            <a:endParaRPr b="0" i="0" sz="1400" u="none" cap="none" strike="noStrike">
              <a:solidFill>
                <a:srgbClr val="000000"/>
              </a:solidFill>
              <a:latin typeface="Arial"/>
              <a:ea typeface="Arial"/>
              <a:cs typeface="Arial"/>
              <a:sym typeface="Arial"/>
            </a:endParaRPr>
          </a:p>
        </p:txBody>
      </p:sp>
      <p:sp>
        <p:nvSpPr>
          <p:cNvPr id="234" name="Google Shape;234;p10"/>
          <p:cNvSpPr txBox="1"/>
          <p:nvPr/>
        </p:nvSpPr>
        <p:spPr>
          <a:xfrm>
            <a:off x="2727545" y="5327545"/>
            <a:ext cx="12832910" cy="24955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dispositivo es donde se almacenan de forma temporal los datos de los programas que estás utilizando en este momento.</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memoria RAM se puede encontrar en casi cualquier dispositivo, desde ordenadores de sobremesa hasta teléfonos móviles.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11"/>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40" name="Google Shape;240;p11"/>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41" name="Google Shape;241;p11"/>
          <p:cNvGrpSpPr/>
          <p:nvPr/>
        </p:nvGrpSpPr>
        <p:grpSpPr>
          <a:xfrm rot="9869556">
            <a:off x="14431083" y="6569611"/>
            <a:ext cx="6482297" cy="6762426"/>
            <a:chOff x="0" y="0"/>
            <a:chExt cx="8643063" cy="9016568"/>
          </a:xfrm>
        </p:grpSpPr>
        <p:sp>
          <p:nvSpPr>
            <p:cNvPr id="242" name="Google Shape;242;p11"/>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43" name="Google Shape;243;p1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44" name="Google Shape;244;p11"/>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45" name="Google Shape;245;p11"/>
          <p:cNvSpPr txBox="1"/>
          <p:nvPr/>
        </p:nvSpPr>
        <p:spPr>
          <a:xfrm>
            <a:off x="3443466" y="2816222"/>
            <a:ext cx="11385267" cy="39814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Algunas de sus principales características que la diferencian del resto de tipos de almacenamiento. Por una parte tiene una </a:t>
            </a:r>
            <a:r>
              <a:rPr b="1" i="0" lang="en-US" sz="3000" u="none" cap="none" strike="noStrike">
                <a:solidFill>
                  <a:srgbClr val="737373"/>
                </a:solidFill>
                <a:latin typeface="Poppins"/>
                <a:ea typeface="Poppins"/>
                <a:cs typeface="Poppins"/>
                <a:sym typeface="Poppins"/>
              </a:rPr>
              <a:t>enorme velocidad</a:t>
            </a:r>
            <a:r>
              <a:rPr b="0" i="0" lang="en-US" sz="3000" u="none" cap="none" strike="noStrike">
                <a:solidFill>
                  <a:srgbClr val="737373"/>
                </a:solidFill>
                <a:latin typeface="Poppins"/>
                <a:ea typeface="Poppins"/>
                <a:cs typeface="Poppins"/>
                <a:sym typeface="Poppins"/>
              </a:rPr>
              <a:t>, y por otra los datos sólo se </a:t>
            </a:r>
            <a:r>
              <a:rPr b="1" i="0" lang="en-US" sz="3000" u="none" cap="none" strike="noStrike">
                <a:solidFill>
                  <a:srgbClr val="737373"/>
                </a:solidFill>
                <a:latin typeface="Poppins"/>
                <a:ea typeface="Poppins"/>
                <a:cs typeface="Poppins"/>
                <a:sym typeface="Poppins"/>
              </a:rPr>
              <a:t>almacenan de forma temporal</a:t>
            </a:r>
            <a:r>
              <a:rPr b="0" i="0" lang="en-US" sz="3000" u="none" cap="none" strike="noStrike">
                <a:solidFill>
                  <a:srgbClr val="737373"/>
                </a:solidFill>
                <a:latin typeface="Poppins"/>
                <a:ea typeface="Poppins"/>
                <a:cs typeface="Poppins"/>
                <a:sym typeface="Poppins"/>
              </a:rPr>
              <a:t>.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3000"/>
              <a:buFont typeface="Arial"/>
              <a:buNone/>
            </a:pPr>
            <a:r>
              <a:t/>
            </a:r>
            <a:endParaRPr b="0" i="0" sz="3000" u="none" cap="none" strike="noStrike">
              <a:solidFill>
                <a:srgbClr val="737373"/>
              </a:solidFill>
              <a:latin typeface="Poppins"/>
              <a:ea typeface="Poppins"/>
              <a:cs typeface="Poppins"/>
              <a:sym typeface="Poppins"/>
            </a:endParaRPr>
          </a:p>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Esto quiere decir que cada vez que reinicies o apagues tu ordenador, lo normal es que los datos que haya almacenados en la RAM se pierdan</a:t>
            </a:r>
            <a:endParaRPr b="0" i="0" sz="1400" u="none" cap="none" strike="noStrike">
              <a:solidFill>
                <a:srgbClr val="000000"/>
              </a:solidFill>
              <a:latin typeface="Arial"/>
              <a:ea typeface="Arial"/>
              <a:cs typeface="Arial"/>
              <a:sym typeface="Arial"/>
            </a:endParaRPr>
          </a:p>
        </p:txBody>
      </p:sp>
      <p:sp>
        <p:nvSpPr>
          <p:cNvPr id="246" name="Google Shape;246;p11"/>
          <p:cNvSpPr/>
          <p:nvPr/>
        </p:nvSpPr>
        <p:spPr>
          <a:xfrm>
            <a:off x="13388021" y="6950677"/>
            <a:ext cx="4618165" cy="2990262"/>
          </a:xfrm>
          <a:custGeom>
            <a:rect b="b" l="l" r="r" t="t"/>
            <a:pathLst>
              <a:path extrusionOk="0" h="2990262" w="4618165">
                <a:moveTo>
                  <a:pt x="0" y="0"/>
                </a:moveTo>
                <a:lnTo>
                  <a:pt x="4618164" y="0"/>
                </a:lnTo>
                <a:lnTo>
                  <a:pt x="4618164" y="2990261"/>
                </a:lnTo>
                <a:lnTo>
                  <a:pt x="0" y="2990261"/>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2"/>
          <p:cNvSpPr/>
          <p:nvPr/>
        </p:nvSpPr>
        <p:spPr>
          <a:xfrm>
            <a:off x="-72531"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52" name="Google Shape;252;p12"/>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53" name="Google Shape;253;p12"/>
          <p:cNvGrpSpPr/>
          <p:nvPr/>
        </p:nvGrpSpPr>
        <p:grpSpPr>
          <a:xfrm rot="9869556">
            <a:off x="14431083" y="6569611"/>
            <a:ext cx="6482297" cy="6762426"/>
            <a:chOff x="0" y="0"/>
            <a:chExt cx="8643063" cy="9016568"/>
          </a:xfrm>
        </p:grpSpPr>
        <p:sp>
          <p:nvSpPr>
            <p:cNvPr id="254" name="Google Shape;254;p12"/>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55" name="Google Shape;255;p12"/>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56" name="Google Shape;256;p12"/>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57" name="Google Shape;257;p12"/>
          <p:cNvSpPr txBox="1"/>
          <p:nvPr/>
        </p:nvSpPr>
        <p:spPr>
          <a:xfrm>
            <a:off x="3525164" y="3015976"/>
            <a:ext cx="10915646" cy="123825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Memorias Caché</a:t>
            </a:r>
            <a:endParaRPr b="0" i="0" sz="1400" u="none" cap="none" strike="noStrike">
              <a:solidFill>
                <a:srgbClr val="000000"/>
              </a:solidFill>
              <a:latin typeface="Arial"/>
              <a:ea typeface="Arial"/>
              <a:cs typeface="Arial"/>
              <a:sym typeface="Arial"/>
            </a:endParaRPr>
          </a:p>
        </p:txBody>
      </p:sp>
      <p:sp>
        <p:nvSpPr>
          <p:cNvPr id="258" name="Google Shape;258;p12"/>
          <p:cNvSpPr txBox="1"/>
          <p:nvPr/>
        </p:nvSpPr>
        <p:spPr>
          <a:xfrm>
            <a:off x="2391061" y="5086350"/>
            <a:ext cx="13183853" cy="20002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Estos son pequeños dispositivos cuya función es almacenar temporalmente datos </a:t>
            </a:r>
            <a:r>
              <a:rPr b="1" i="0" lang="en-US" sz="3000" u="none" cap="none" strike="noStrike">
                <a:solidFill>
                  <a:srgbClr val="737373"/>
                </a:solidFill>
                <a:latin typeface="Poppins"/>
                <a:ea typeface="Poppins"/>
                <a:cs typeface="Poppins"/>
                <a:sym typeface="Poppins"/>
              </a:rPr>
              <a:t>recientemente procesados</a:t>
            </a:r>
            <a:r>
              <a:rPr b="0" i="0" lang="en-US" sz="3000" u="none" cap="none" strike="noStrike">
                <a:solidFill>
                  <a:srgbClr val="737373"/>
                </a:solidFill>
                <a:latin typeface="Poppins"/>
                <a:ea typeface="Poppins"/>
                <a:cs typeface="Poppins"/>
                <a:sym typeface="Poppins"/>
              </a:rPr>
              <a:t> en una memoria auxiliar. También son conocidos como memoria estática de acceso aleatorio SRAM son muy veloces, suelen ubicarse cerca del CPU.</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3"/>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64" name="Google Shape;264;p13"/>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65" name="Google Shape;265;p13"/>
          <p:cNvGrpSpPr/>
          <p:nvPr/>
        </p:nvGrpSpPr>
        <p:grpSpPr>
          <a:xfrm rot="9869556">
            <a:off x="14431083" y="6569611"/>
            <a:ext cx="6482297" cy="6762426"/>
            <a:chOff x="0" y="0"/>
            <a:chExt cx="8643063" cy="9016568"/>
          </a:xfrm>
        </p:grpSpPr>
        <p:sp>
          <p:nvSpPr>
            <p:cNvPr id="266" name="Google Shape;266;p13"/>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67" name="Google Shape;267;p13"/>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68" name="Google Shape;268;p13"/>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69" name="Google Shape;269;p13"/>
          <p:cNvSpPr/>
          <p:nvPr/>
        </p:nvSpPr>
        <p:spPr>
          <a:xfrm>
            <a:off x="12867333" y="6596274"/>
            <a:ext cx="5031824" cy="3354550"/>
          </a:xfrm>
          <a:custGeom>
            <a:rect b="b" l="l" r="r" t="t"/>
            <a:pathLst>
              <a:path extrusionOk="0" h="3354550" w="5031824">
                <a:moveTo>
                  <a:pt x="0" y="0"/>
                </a:moveTo>
                <a:lnTo>
                  <a:pt x="5031824" y="0"/>
                </a:lnTo>
                <a:lnTo>
                  <a:pt x="5031824" y="3354550"/>
                </a:lnTo>
                <a:lnTo>
                  <a:pt x="0" y="3354550"/>
                </a:lnTo>
                <a:lnTo>
                  <a:pt x="0" y="0"/>
                </a:lnTo>
                <a:close/>
              </a:path>
            </a:pathLst>
          </a:custGeom>
          <a:blipFill rotWithShape="1">
            <a:blip r:embed="rId7">
              <a:alphaModFix/>
            </a:blip>
            <a:stretch>
              <a:fillRect b="0" l="0" r="0" t="0"/>
            </a:stretch>
          </a:blipFill>
          <a:ln>
            <a:noFill/>
          </a:ln>
        </p:spPr>
      </p:sp>
      <p:sp>
        <p:nvSpPr>
          <p:cNvPr id="270" name="Google Shape;270;p13"/>
          <p:cNvSpPr txBox="1"/>
          <p:nvPr/>
        </p:nvSpPr>
        <p:spPr>
          <a:xfrm>
            <a:off x="3443466" y="2816222"/>
            <a:ext cx="11385267" cy="34861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Pese a su poca capacidad de almacenamiento son de suma importancia para almacenar datos o instrucciones que la CPU va a necesitar en un futuro inmediato, de esta manera que se gana velocidad en la ejecución de procesos, evitando que la CPU tenga que esperar por mucho tiempo de esa manera se aumenta el rendimiento del equipo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4"/>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276" name="Google Shape;276;p1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277" name="Google Shape;277;p14"/>
          <p:cNvGrpSpPr/>
          <p:nvPr/>
        </p:nvGrpSpPr>
        <p:grpSpPr>
          <a:xfrm rot="9869556">
            <a:off x="14431083" y="6569611"/>
            <a:ext cx="6482297" cy="6762426"/>
            <a:chOff x="0" y="0"/>
            <a:chExt cx="8643063" cy="9016568"/>
          </a:xfrm>
        </p:grpSpPr>
        <p:sp>
          <p:nvSpPr>
            <p:cNvPr id="278" name="Google Shape;278;p1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279" name="Google Shape;279;p14"/>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280" name="Google Shape;280;p1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81" name="Google Shape;281;p14"/>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Almacenamiento Primario </a:t>
            </a:r>
            <a:endParaRPr b="0" i="0" sz="1400" u="none" cap="none" strike="noStrike">
              <a:solidFill>
                <a:srgbClr val="000000"/>
              </a:solidFill>
              <a:latin typeface="Arial"/>
              <a:ea typeface="Arial"/>
              <a:cs typeface="Arial"/>
              <a:sym typeface="Arial"/>
            </a:endParaRPr>
          </a:p>
        </p:txBody>
      </p:sp>
      <p:sp>
        <p:nvSpPr>
          <p:cNvPr id="282" name="Google Shape;282;p14"/>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283" name="Google Shape;283;p14"/>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284" name="Google Shape;284;p14"/>
          <p:cNvSpPr txBox="1"/>
          <p:nvPr/>
        </p:nvSpPr>
        <p:spPr>
          <a:xfrm>
            <a:off x="1425541" y="6740460"/>
            <a:ext cx="11385267" cy="86233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velocidad de escritura y lectura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t/>
            </a:r>
            <a:endParaRPr b="0" i="0" sz="2600" u="none" cap="none" strike="noStrike">
              <a:solidFill>
                <a:srgbClr val="737373"/>
              </a:solidFill>
              <a:latin typeface="Poppins"/>
              <a:ea typeface="Poppins"/>
              <a:cs typeface="Poppins"/>
              <a:sym typeface="Poppins"/>
            </a:endParaRPr>
          </a:p>
        </p:txBody>
      </p:sp>
      <p:sp>
        <p:nvSpPr>
          <p:cNvPr id="285" name="Google Shape;285;p14"/>
          <p:cNvSpPr txBox="1"/>
          <p:nvPr/>
        </p:nvSpPr>
        <p:spPr>
          <a:xfrm>
            <a:off x="9649643" y="6882052"/>
            <a:ext cx="11385267" cy="86233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Poca capacidad de almacenamiento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Información volátil</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15"/>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grpSp>
        <p:nvGrpSpPr>
          <p:cNvPr id="291" name="Google Shape;291;p15"/>
          <p:cNvGrpSpPr/>
          <p:nvPr/>
        </p:nvGrpSpPr>
        <p:grpSpPr>
          <a:xfrm>
            <a:off x="-1722197" y="-3678699"/>
            <a:ext cx="6482297" cy="6762426"/>
            <a:chOff x="0" y="0"/>
            <a:chExt cx="8643063" cy="9016568"/>
          </a:xfrm>
        </p:grpSpPr>
        <p:sp>
          <p:nvSpPr>
            <p:cNvPr id="292" name="Google Shape;292;p1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3">
                <a:alphaModFix/>
              </a:blip>
              <a:stretch>
                <a:fillRect b="0" l="0" r="0" t="0"/>
              </a:stretch>
            </a:blipFill>
            <a:ln>
              <a:noFill/>
            </a:ln>
          </p:spPr>
        </p:sp>
        <p:sp>
          <p:nvSpPr>
            <p:cNvPr id="293" name="Google Shape;293;p1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4">
                <a:alphaModFix/>
              </a:blip>
              <a:stretch>
                <a:fillRect b="0" l="0" r="0" t="0"/>
              </a:stretch>
            </a:blipFill>
            <a:ln>
              <a:noFill/>
            </a:ln>
          </p:spPr>
        </p:sp>
      </p:grpSp>
      <p:sp>
        <p:nvSpPr>
          <p:cNvPr id="294" name="Google Shape;294;p1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295" name="Google Shape;295;p15"/>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296" name="Google Shape;296;p15"/>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297" name="Google Shape;297;p15"/>
          <p:cNvSpPr txBox="1"/>
          <p:nvPr/>
        </p:nvSpPr>
        <p:spPr>
          <a:xfrm>
            <a:off x="2994738" y="3327293"/>
            <a:ext cx="12282724" cy="809625"/>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Clr>
                <a:srgbClr val="000000"/>
              </a:buClr>
              <a:buSzPts val="5000"/>
              <a:buFont typeface="Arial"/>
              <a:buNone/>
            </a:pPr>
            <a:r>
              <a:rPr b="1" i="1" lang="en-US" sz="5000" u="none" cap="none" strike="noStrike">
                <a:solidFill>
                  <a:srgbClr val="1B4A9B"/>
                </a:solidFill>
                <a:latin typeface="Poppins"/>
                <a:ea typeface="Poppins"/>
                <a:cs typeface="Poppins"/>
                <a:sym typeface="Poppins"/>
              </a:rPr>
              <a:t>Almacenamiento Secundario</a:t>
            </a:r>
            <a:endParaRPr b="0" i="0" sz="1400" u="none" cap="none" strike="noStrike">
              <a:solidFill>
                <a:srgbClr val="000000"/>
              </a:solidFill>
              <a:latin typeface="Arial"/>
              <a:ea typeface="Arial"/>
              <a:cs typeface="Arial"/>
              <a:sym typeface="Arial"/>
            </a:endParaRPr>
          </a:p>
        </p:txBody>
      </p:sp>
      <p:sp>
        <p:nvSpPr>
          <p:cNvPr id="298" name="Google Shape;298;p15"/>
          <p:cNvSpPr txBox="1"/>
          <p:nvPr/>
        </p:nvSpPr>
        <p:spPr>
          <a:xfrm>
            <a:off x="1380628" y="4767537"/>
            <a:ext cx="15510944" cy="3043682"/>
          </a:xfrm>
          <a:prstGeom prst="rect">
            <a:avLst/>
          </a:prstGeom>
          <a:noFill/>
          <a:ln>
            <a:noFill/>
          </a:ln>
        </p:spPr>
        <p:txBody>
          <a:bodyPr anchorCtr="0" anchor="t" bIns="0" lIns="0" spcFirstLastPara="1" rIns="0" wrap="square" tIns="0">
            <a:spAutoFit/>
          </a:bodyPr>
          <a:lstStyle/>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Estos son dispositivos que cumplen la función de </a:t>
            </a:r>
            <a:r>
              <a:rPr b="1" i="0" lang="en-US" sz="3200" u="none" cap="none" strike="noStrike">
                <a:solidFill>
                  <a:srgbClr val="737373"/>
                </a:solidFill>
                <a:latin typeface="Poppins"/>
                <a:ea typeface="Poppins"/>
                <a:cs typeface="Poppins"/>
                <a:sym typeface="Poppins"/>
              </a:rPr>
              <a:t>almacenar información de manera persistente</a:t>
            </a:r>
            <a:r>
              <a:rPr b="0" i="0" lang="en-US" sz="3200" u="none" cap="none" strike="noStrike">
                <a:solidFill>
                  <a:srgbClr val="737373"/>
                </a:solidFill>
                <a:latin typeface="Poppins"/>
                <a:ea typeface="Poppins"/>
                <a:cs typeface="Poppins"/>
                <a:sym typeface="Poppins"/>
              </a:rPr>
              <a:t>, incluso cuando se retira la alimentación eléctrica a la computadora.</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0"/>
              </a:spcBef>
              <a:spcAft>
                <a:spcPts val="0"/>
              </a:spcAft>
              <a:buClr>
                <a:srgbClr val="000000"/>
              </a:buClr>
              <a:buSzPts val="3200"/>
              <a:buFont typeface="Arial"/>
              <a:buNone/>
            </a:pPr>
            <a:r>
              <a:t/>
            </a:r>
            <a:endParaRPr b="0" i="0" sz="3200" u="none" cap="none" strike="noStrike">
              <a:solidFill>
                <a:srgbClr val="737373"/>
              </a:solidFill>
              <a:latin typeface="Poppins"/>
              <a:ea typeface="Poppins"/>
              <a:cs typeface="Poppins"/>
              <a:sym typeface="Poppins"/>
            </a:endParaRPr>
          </a:p>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Se caracterizan por poseer una </a:t>
            </a:r>
            <a:r>
              <a:rPr b="1" i="0" lang="en-US" sz="3200" u="none" cap="none" strike="noStrike">
                <a:solidFill>
                  <a:srgbClr val="737373"/>
                </a:solidFill>
                <a:latin typeface="Poppins"/>
                <a:ea typeface="Poppins"/>
                <a:cs typeface="Poppins"/>
                <a:sym typeface="Poppins"/>
              </a:rPr>
              <a:t>mayor capacidad de almacenamiento</a:t>
            </a:r>
            <a:r>
              <a:rPr b="0" i="0" lang="en-US" sz="3200" u="none" cap="none" strike="noStrike">
                <a:solidFill>
                  <a:srgbClr val="737373"/>
                </a:solidFill>
                <a:latin typeface="Poppins"/>
                <a:ea typeface="Poppins"/>
                <a:cs typeface="Poppins"/>
                <a:sym typeface="Poppins"/>
              </a:rPr>
              <a:t> que los dispositivos de almacenamiento primario, sin embargo estos poseen una menor velocidad para manejar la información.</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grpSp>
        <p:nvGrpSpPr>
          <p:cNvPr id="304" name="Google Shape;304;p16"/>
          <p:cNvGrpSpPr/>
          <p:nvPr/>
        </p:nvGrpSpPr>
        <p:grpSpPr>
          <a:xfrm>
            <a:off x="-1722197" y="-3678699"/>
            <a:ext cx="6482297" cy="6762426"/>
            <a:chOff x="0" y="0"/>
            <a:chExt cx="8643063" cy="9016568"/>
          </a:xfrm>
        </p:grpSpPr>
        <p:sp>
          <p:nvSpPr>
            <p:cNvPr id="305" name="Google Shape;305;p1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3">
                <a:alphaModFix/>
              </a:blip>
              <a:stretch>
                <a:fillRect b="0" l="0" r="0" t="0"/>
              </a:stretch>
            </a:blipFill>
            <a:ln>
              <a:noFill/>
            </a:ln>
          </p:spPr>
        </p:sp>
        <p:sp>
          <p:nvSpPr>
            <p:cNvPr id="306" name="Google Shape;306;p16"/>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4">
                <a:alphaModFix/>
              </a:blip>
              <a:stretch>
                <a:fillRect b="0" l="0" r="0" t="0"/>
              </a:stretch>
            </a:blipFill>
            <a:ln>
              <a:noFill/>
            </a:ln>
          </p:spPr>
        </p:sp>
      </p:grpSp>
      <p:sp>
        <p:nvSpPr>
          <p:cNvPr id="307" name="Google Shape;307;p1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5">
              <a:alphaModFix amt="6999"/>
            </a:blip>
            <a:stretch>
              <a:fillRect b="0" l="0" r="0" t="0"/>
            </a:stretch>
          </a:blipFill>
          <a:ln>
            <a:noFill/>
          </a:ln>
        </p:spPr>
      </p:sp>
      <p:sp>
        <p:nvSpPr>
          <p:cNvPr id="308" name="Google Shape;308;p16"/>
          <p:cNvSpPr/>
          <p:nvPr/>
        </p:nvSpPr>
        <p:spPr>
          <a:xfrm>
            <a:off x="17981351" y="9071880"/>
            <a:ext cx="322049" cy="1215120"/>
          </a:xfrm>
          <a:custGeom>
            <a:rect b="b" l="l" r="r" t="t"/>
            <a:pathLst>
              <a:path extrusionOk="0" h="754960" w="200091">
                <a:moveTo>
                  <a:pt x="0" y="0"/>
                </a:moveTo>
                <a:lnTo>
                  <a:pt x="200091" y="0"/>
                </a:lnTo>
                <a:lnTo>
                  <a:pt x="200091" y="754960"/>
                </a:lnTo>
                <a:lnTo>
                  <a:pt x="0" y="754960"/>
                </a:lnTo>
                <a:close/>
              </a:path>
            </a:pathLst>
          </a:custGeom>
          <a:solidFill>
            <a:srgbClr val="1B4A9B"/>
          </a:solidFill>
          <a:ln>
            <a:noFill/>
          </a:ln>
        </p:spPr>
      </p:sp>
      <p:sp>
        <p:nvSpPr>
          <p:cNvPr id="309" name="Google Shape;309;p16"/>
          <p:cNvSpPr/>
          <p:nvPr/>
        </p:nvSpPr>
        <p:spPr>
          <a:xfrm>
            <a:off x="17046764" y="3182967"/>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10" name="Google Shape;310;p16"/>
          <p:cNvSpPr/>
          <p:nvPr/>
        </p:nvSpPr>
        <p:spPr>
          <a:xfrm>
            <a:off x="15308047" y="8003171"/>
            <a:ext cx="1823028" cy="1823028"/>
          </a:xfrm>
          <a:custGeom>
            <a:rect b="b" l="l" r="r" t="t"/>
            <a:pathLst>
              <a:path extrusionOk="0" h="1823028" w="1823028">
                <a:moveTo>
                  <a:pt x="0" y="0"/>
                </a:moveTo>
                <a:lnTo>
                  <a:pt x="1823028" y="0"/>
                </a:lnTo>
                <a:lnTo>
                  <a:pt x="1823028" y="1823027"/>
                </a:lnTo>
                <a:lnTo>
                  <a:pt x="0" y="1823027"/>
                </a:lnTo>
                <a:lnTo>
                  <a:pt x="0" y="0"/>
                </a:lnTo>
                <a:close/>
              </a:path>
            </a:pathLst>
          </a:custGeom>
          <a:blipFill rotWithShape="1">
            <a:blip r:embed="rId7">
              <a:alphaModFix/>
            </a:blip>
            <a:stretch>
              <a:fillRect b="0" l="0" r="0" t="0"/>
            </a:stretch>
          </a:blipFill>
          <a:ln>
            <a:noFill/>
          </a:ln>
        </p:spPr>
      </p:sp>
      <p:sp>
        <p:nvSpPr>
          <p:cNvPr id="311" name="Google Shape;311;p16"/>
          <p:cNvSpPr/>
          <p:nvPr/>
        </p:nvSpPr>
        <p:spPr>
          <a:xfrm>
            <a:off x="14268300" y="6657171"/>
            <a:ext cx="2079495" cy="1346000"/>
          </a:xfrm>
          <a:custGeom>
            <a:rect b="b" l="l" r="r" t="t"/>
            <a:pathLst>
              <a:path extrusionOk="0" h="1346000" w="2079495">
                <a:moveTo>
                  <a:pt x="0" y="0"/>
                </a:moveTo>
                <a:lnTo>
                  <a:pt x="2079495" y="0"/>
                </a:lnTo>
                <a:lnTo>
                  <a:pt x="2079495" y="1346000"/>
                </a:lnTo>
                <a:lnTo>
                  <a:pt x="0" y="1346000"/>
                </a:lnTo>
                <a:lnTo>
                  <a:pt x="0" y="0"/>
                </a:lnTo>
                <a:close/>
              </a:path>
            </a:pathLst>
          </a:custGeom>
          <a:blipFill rotWithShape="1">
            <a:blip r:embed="rId8">
              <a:alphaModFix/>
            </a:blip>
            <a:stretch>
              <a:fillRect b="0" l="0" r="0" t="0"/>
            </a:stretch>
          </a:blipFill>
          <a:ln>
            <a:noFill/>
          </a:ln>
        </p:spPr>
      </p:sp>
      <p:sp>
        <p:nvSpPr>
          <p:cNvPr id="312" name="Google Shape;312;p16"/>
          <p:cNvSpPr/>
          <p:nvPr/>
        </p:nvSpPr>
        <p:spPr>
          <a:xfrm>
            <a:off x="12722030" y="8253141"/>
            <a:ext cx="1254335" cy="818739"/>
          </a:xfrm>
          <a:custGeom>
            <a:rect b="b" l="l" r="r" t="t"/>
            <a:pathLst>
              <a:path extrusionOk="0" h="818739" w="1254335">
                <a:moveTo>
                  <a:pt x="0" y="0"/>
                </a:moveTo>
                <a:lnTo>
                  <a:pt x="1254335" y="0"/>
                </a:lnTo>
                <a:lnTo>
                  <a:pt x="1254335" y="818739"/>
                </a:lnTo>
                <a:lnTo>
                  <a:pt x="0" y="818739"/>
                </a:lnTo>
                <a:lnTo>
                  <a:pt x="0" y="0"/>
                </a:lnTo>
                <a:close/>
              </a:path>
            </a:pathLst>
          </a:custGeom>
          <a:blipFill rotWithShape="1">
            <a:blip r:embed="rId9">
              <a:alphaModFix/>
            </a:blip>
            <a:stretch>
              <a:fillRect b="0" l="0" r="0" t="0"/>
            </a:stretch>
          </a:blipFill>
          <a:ln>
            <a:noFill/>
          </a:ln>
        </p:spPr>
      </p:sp>
      <p:sp>
        <p:nvSpPr>
          <p:cNvPr id="313" name="Google Shape;313;p16"/>
          <p:cNvSpPr txBox="1"/>
          <p:nvPr/>
        </p:nvSpPr>
        <p:spPr>
          <a:xfrm>
            <a:off x="1518952" y="4075990"/>
            <a:ext cx="15510900" cy="3654900"/>
          </a:xfrm>
          <a:prstGeom prst="rect">
            <a:avLst/>
          </a:prstGeom>
          <a:noFill/>
          <a:ln>
            <a:noFill/>
          </a:ln>
        </p:spPr>
        <p:txBody>
          <a:bodyPr anchorCtr="0" anchor="t" bIns="0" lIns="0" spcFirstLastPara="1" rIns="0" wrap="square" tIns="0">
            <a:spAutoFit/>
          </a:bodyPr>
          <a:lstStyle/>
          <a:p>
            <a:pPr indent="0" lvl="0" marL="0" marR="0" rtl="0" algn="just">
              <a:lnSpc>
                <a:spcPct val="107000"/>
              </a:lnSpc>
              <a:spcBef>
                <a:spcPts val="0"/>
              </a:spcBef>
              <a:spcAft>
                <a:spcPts val="0"/>
              </a:spcAft>
              <a:buClr>
                <a:srgbClr val="000000"/>
              </a:buClr>
              <a:buSzPts val="3200"/>
              <a:buFont typeface="Arial"/>
              <a:buNone/>
            </a:pPr>
            <a:r>
              <a:rPr b="0" i="0" lang="en-US" sz="3200" u="none" cap="none" strike="noStrike">
                <a:solidFill>
                  <a:srgbClr val="737373"/>
                </a:solidFill>
                <a:latin typeface="Poppins"/>
                <a:ea typeface="Poppins"/>
                <a:cs typeface="Poppins"/>
                <a:sym typeface="Poppins"/>
              </a:rPr>
              <a:t>Entre este tipo de dispositivos podemos encontrar los siguientes dispositivos: </a:t>
            </a:r>
            <a:endParaRPr b="0" i="0" sz="1400" u="none" cap="none" strike="noStrike">
              <a:solidFill>
                <a:srgbClr val="000000"/>
              </a:solidFill>
              <a:latin typeface="Arial"/>
              <a:ea typeface="Arial"/>
              <a:cs typeface="Arial"/>
              <a:sym typeface="Arial"/>
            </a:endParaRPr>
          </a:p>
          <a:p>
            <a:pPr indent="0" lvl="0" marL="0" marR="0" rtl="0" algn="just">
              <a:lnSpc>
                <a:spcPct val="107000"/>
              </a:lnSpc>
              <a:spcBef>
                <a:spcPts val="0"/>
              </a:spcBef>
              <a:spcAft>
                <a:spcPts val="0"/>
              </a:spcAft>
              <a:buClr>
                <a:srgbClr val="000000"/>
              </a:buClr>
              <a:buSzPts val="3200"/>
              <a:buFont typeface="Arial"/>
              <a:buNone/>
            </a:pPr>
            <a:r>
              <a:t/>
            </a:r>
            <a:endParaRPr b="0" i="0" sz="3200" u="none" cap="none" strike="noStrike">
              <a:solidFill>
                <a:srgbClr val="737373"/>
              </a:solidFill>
              <a:latin typeface="Poppins"/>
              <a:ea typeface="Poppins"/>
              <a:cs typeface="Poppins"/>
              <a:sym typeface="Poppins"/>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Cinta Magnética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Almacenamiento óptico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Unidad de disco duro </a:t>
            </a:r>
            <a:endParaRPr b="0" i="0" sz="1400" u="none" cap="none" strike="noStrike">
              <a:solidFill>
                <a:srgbClr val="000000"/>
              </a:solidFill>
              <a:latin typeface="Arial"/>
              <a:ea typeface="Arial"/>
              <a:cs typeface="Arial"/>
              <a:sym typeface="Arial"/>
            </a:endParaRPr>
          </a:p>
          <a:p>
            <a:pPr indent="-345439" lvl="1" marL="690881" marR="0" rtl="0" algn="just">
              <a:lnSpc>
                <a:spcPct val="107000"/>
              </a:lnSpc>
              <a:spcBef>
                <a:spcPts val="0"/>
              </a:spcBef>
              <a:spcAft>
                <a:spcPts val="0"/>
              </a:spcAft>
              <a:buClr>
                <a:srgbClr val="737373"/>
              </a:buClr>
              <a:buSzPts val="3200"/>
              <a:buFont typeface="Arial"/>
              <a:buChar char="•"/>
            </a:pPr>
            <a:r>
              <a:rPr b="0" i="0" lang="en-US" sz="3200" u="none" cap="none" strike="noStrike">
                <a:solidFill>
                  <a:srgbClr val="737373"/>
                </a:solidFill>
                <a:latin typeface="Poppins"/>
                <a:ea typeface="Poppins"/>
                <a:cs typeface="Poppins"/>
                <a:sym typeface="Poppins"/>
              </a:rPr>
              <a:t>Unidad de estado sólido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1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19" name="Google Shape;319;p17"/>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20" name="Google Shape;320;p1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21" name="Google Shape;321;p17"/>
          <p:cNvGrpSpPr/>
          <p:nvPr/>
        </p:nvGrpSpPr>
        <p:grpSpPr>
          <a:xfrm>
            <a:off x="-1722197" y="-3678699"/>
            <a:ext cx="6482297" cy="6762426"/>
            <a:chOff x="0" y="0"/>
            <a:chExt cx="8643063" cy="9016568"/>
          </a:xfrm>
        </p:grpSpPr>
        <p:sp>
          <p:nvSpPr>
            <p:cNvPr id="322" name="Google Shape;322;p1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23" name="Google Shape;323;p1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24" name="Google Shape;324;p17"/>
          <p:cNvSpPr txBox="1"/>
          <p:nvPr/>
        </p:nvSpPr>
        <p:spPr>
          <a:xfrm>
            <a:off x="1905021" y="5324569"/>
            <a:ext cx="14477958" cy="240842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un tipo de almacenamiento en el cual la información es grabada en </a:t>
            </a:r>
            <a:r>
              <a:rPr b="1" i="0" lang="en-US" sz="3199" u="none" cap="none" strike="noStrike">
                <a:solidFill>
                  <a:srgbClr val="737373"/>
                </a:solidFill>
                <a:latin typeface="Poppins"/>
                <a:ea typeface="Poppins"/>
                <a:cs typeface="Poppins"/>
                <a:sym typeface="Poppins"/>
              </a:rPr>
              <a:t>pistas magnéticas</a:t>
            </a:r>
            <a:r>
              <a:rPr b="0" i="0" lang="en-US" sz="3199" u="none" cap="none" strike="noStrike">
                <a:solidFill>
                  <a:srgbClr val="737373"/>
                </a:solidFill>
                <a:latin typeface="Poppins"/>
                <a:ea typeface="Poppins"/>
                <a:cs typeface="Poppins"/>
                <a:sym typeface="Poppins"/>
              </a:rPr>
              <a:t> ubicadas a lo largo de la cinta magnética, su capacidad de almacenamiento puede variar dependiendo de los materiales que conforman la cinta, como también por su longitud.</a:t>
            </a:r>
            <a:endParaRPr b="0" i="0" sz="1400" u="none" cap="none" strike="noStrike">
              <a:solidFill>
                <a:srgbClr val="000000"/>
              </a:solidFill>
              <a:latin typeface="Arial"/>
              <a:ea typeface="Arial"/>
              <a:cs typeface="Arial"/>
              <a:sym typeface="Arial"/>
            </a:endParaRPr>
          </a:p>
        </p:txBody>
      </p:sp>
      <p:sp>
        <p:nvSpPr>
          <p:cNvPr id="325" name="Google Shape;325;p17"/>
          <p:cNvSpPr txBox="1"/>
          <p:nvPr/>
        </p:nvSpPr>
        <p:spPr>
          <a:xfrm>
            <a:off x="5864503" y="3650631"/>
            <a:ext cx="6558994" cy="7143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Cintas Magnéticas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18"/>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31" name="Google Shape;331;p1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32" name="Google Shape;332;p1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33" name="Google Shape;333;p18"/>
          <p:cNvGrpSpPr/>
          <p:nvPr/>
        </p:nvGrpSpPr>
        <p:grpSpPr>
          <a:xfrm>
            <a:off x="-1722197" y="-3678699"/>
            <a:ext cx="6482297" cy="6762426"/>
            <a:chOff x="0" y="0"/>
            <a:chExt cx="8643063" cy="9016568"/>
          </a:xfrm>
        </p:grpSpPr>
        <p:sp>
          <p:nvSpPr>
            <p:cNvPr id="334" name="Google Shape;334;p1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35" name="Google Shape;335;p1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36" name="Google Shape;336;p18"/>
          <p:cNvSpPr/>
          <p:nvPr/>
        </p:nvSpPr>
        <p:spPr>
          <a:xfrm>
            <a:off x="12326931" y="6356918"/>
            <a:ext cx="5543384" cy="3427797"/>
          </a:xfrm>
          <a:custGeom>
            <a:rect b="b" l="l" r="r" t="t"/>
            <a:pathLst>
              <a:path extrusionOk="0" h="3427797" w="5543384">
                <a:moveTo>
                  <a:pt x="0" y="0"/>
                </a:moveTo>
                <a:lnTo>
                  <a:pt x="5543385" y="0"/>
                </a:lnTo>
                <a:lnTo>
                  <a:pt x="5543385" y="3427797"/>
                </a:lnTo>
                <a:lnTo>
                  <a:pt x="0" y="3427797"/>
                </a:lnTo>
                <a:lnTo>
                  <a:pt x="0" y="0"/>
                </a:lnTo>
                <a:close/>
              </a:path>
            </a:pathLst>
          </a:custGeom>
          <a:blipFill rotWithShape="1">
            <a:blip r:embed="rId7">
              <a:alphaModFix/>
            </a:blip>
            <a:stretch>
              <a:fillRect b="-23744" l="0" r="0" t="-31602"/>
            </a:stretch>
          </a:blipFill>
          <a:ln>
            <a:noFill/>
          </a:ln>
        </p:spPr>
      </p:sp>
      <p:sp>
        <p:nvSpPr>
          <p:cNvPr id="337" name="Google Shape;337;p18"/>
          <p:cNvSpPr txBox="1"/>
          <p:nvPr/>
        </p:nvSpPr>
        <p:spPr>
          <a:xfrm>
            <a:off x="1028700" y="3656855"/>
            <a:ext cx="10222800" cy="57219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a:t>
            </a:r>
            <a:r>
              <a:rPr b="1" i="0" lang="en-US" sz="3199" u="none" cap="none" strike="noStrike">
                <a:solidFill>
                  <a:srgbClr val="737373"/>
                </a:solidFill>
                <a:latin typeface="Poppins"/>
                <a:ea typeface="Poppins"/>
                <a:cs typeface="Poppins"/>
                <a:sym typeface="Poppins"/>
              </a:rPr>
              <a:t>uno de los primeros dispositivos de almacenamiento</a:t>
            </a:r>
            <a:r>
              <a:rPr b="0" i="0" lang="en-US" sz="3199" u="none" cap="none" strike="noStrike">
                <a:solidFill>
                  <a:srgbClr val="737373"/>
                </a:solidFill>
                <a:latin typeface="Poppins"/>
                <a:ea typeface="Poppins"/>
                <a:cs typeface="Poppins"/>
                <a:sym typeface="Poppins"/>
              </a:rPr>
              <a:t> su creación se remonta al año 1878, en sus principios fue empleada en los telégrafos.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 la actualidad aún es utilizada en ciertas áreas que requieran un </a:t>
            </a:r>
            <a:r>
              <a:rPr b="1" i="0" lang="en-US" sz="3199" u="none" cap="none" strike="noStrike">
                <a:solidFill>
                  <a:srgbClr val="737373"/>
                </a:solidFill>
                <a:latin typeface="Poppins"/>
                <a:ea typeface="Poppins"/>
                <a:cs typeface="Poppins"/>
                <a:sym typeface="Poppins"/>
              </a:rPr>
              <a:t>almacenamiento masivo</a:t>
            </a:r>
            <a:r>
              <a:rPr b="0" i="0" lang="en-US" sz="3199" u="none" cap="none" strike="noStrike">
                <a:solidFill>
                  <a:srgbClr val="737373"/>
                </a:solidFill>
                <a:latin typeface="Poppins"/>
                <a:ea typeface="Poppins"/>
                <a:cs typeface="Poppins"/>
                <a:sym typeface="Poppins"/>
              </a:rPr>
              <a:t> y no sea necesario un acceso veloz a los datos. Su principal uso es el de respaldar información de otras unidades de almacenamiento secundario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9"/>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43" name="Google Shape;343;p19"/>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344" name="Google Shape;344;p19"/>
          <p:cNvGrpSpPr/>
          <p:nvPr/>
        </p:nvGrpSpPr>
        <p:grpSpPr>
          <a:xfrm rot="9869556">
            <a:off x="14431083" y="6569611"/>
            <a:ext cx="6482297" cy="6762426"/>
            <a:chOff x="0" y="0"/>
            <a:chExt cx="8643063" cy="9016568"/>
          </a:xfrm>
        </p:grpSpPr>
        <p:sp>
          <p:nvSpPr>
            <p:cNvPr id="345" name="Google Shape;345;p19"/>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346" name="Google Shape;346;p19"/>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347" name="Google Shape;347;p19"/>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348" name="Google Shape;348;p19"/>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Cintas Magnéticas</a:t>
            </a:r>
            <a:endParaRPr b="0" i="0" sz="1400" u="none" cap="none" strike="noStrike">
              <a:solidFill>
                <a:srgbClr val="000000"/>
              </a:solidFill>
              <a:latin typeface="Arial"/>
              <a:ea typeface="Arial"/>
              <a:cs typeface="Arial"/>
              <a:sym typeface="Arial"/>
            </a:endParaRPr>
          </a:p>
        </p:txBody>
      </p:sp>
      <p:sp>
        <p:nvSpPr>
          <p:cNvPr id="349" name="Google Shape;349;p19"/>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350" name="Google Shape;350;p19"/>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351" name="Google Shape;351;p19"/>
          <p:cNvSpPr txBox="1"/>
          <p:nvPr/>
        </p:nvSpPr>
        <p:spPr>
          <a:xfrm>
            <a:off x="1425541" y="6740460"/>
            <a:ext cx="11385267" cy="1290955"/>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Capacidad de Almacenamiento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Fácil manipulación de su información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Bajo Costo</a:t>
            </a:r>
            <a:endParaRPr b="0" i="0" sz="1400" u="none" cap="none" strike="noStrike">
              <a:solidFill>
                <a:srgbClr val="000000"/>
              </a:solidFill>
              <a:latin typeface="Arial"/>
              <a:ea typeface="Arial"/>
              <a:cs typeface="Arial"/>
              <a:sym typeface="Arial"/>
            </a:endParaRPr>
          </a:p>
        </p:txBody>
      </p:sp>
      <p:sp>
        <p:nvSpPr>
          <p:cNvPr id="352" name="Google Shape;352;p19"/>
          <p:cNvSpPr txBox="1"/>
          <p:nvPr/>
        </p:nvSpPr>
        <p:spPr>
          <a:xfrm>
            <a:off x="9649643" y="6882052"/>
            <a:ext cx="11385300" cy="24813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Pérdida de calidad con cada copia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Se estira con el uso, deteriorando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rPr b="0" i="0" lang="en-US" sz="2600" u="none" cap="none" strike="noStrike">
                <a:solidFill>
                  <a:srgbClr val="737373"/>
                </a:solidFill>
                <a:latin typeface="Poppins"/>
                <a:ea typeface="Poppins"/>
                <a:cs typeface="Poppins"/>
                <a:sym typeface="Poppins"/>
              </a:rPr>
              <a:t>    la información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Necesidad de un mecanismo complejo </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rPr b="0" i="0" lang="en-US" sz="2600" u="none" cap="none" strike="noStrike">
                <a:solidFill>
                  <a:srgbClr val="737373"/>
                </a:solidFill>
                <a:latin typeface="Poppins"/>
                <a:ea typeface="Poppins"/>
                <a:cs typeface="Poppins"/>
                <a:sym typeface="Poppins"/>
              </a:rPr>
              <a:t>   para la lectura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0"/>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58" name="Google Shape;358;p20"/>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59" name="Google Shape;359;p2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60" name="Google Shape;360;p20"/>
          <p:cNvGrpSpPr/>
          <p:nvPr/>
        </p:nvGrpSpPr>
        <p:grpSpPr>
          <a:xfrm>
            <a:off x="-1722197" y="-3678699"/>
            <a:ext cx="6482297" cy="6762426"/>
            <a:chOff x="0" y="0"/>
            <a:chExt cx="8643063" cy="9016568"/>
          </a:xfrm>
        </p:grpSpPr>
        <p:sp>
          <p:nvSpPr>
            <p:cNvPr id="361" name="Google Shape;361;p20"/>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62" name="Google Shape;362;p2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63" name="Google Shape;363;p20"/>
          <p:cNvSpPr txBox="1"/>
          <p:nvPr/>
        </p:nvSpPr>
        <p:spPr>
          <a:xfrm>
            <a:off x="1905021" y="5324569"/>
            <a:ext cx="14478000" cy="22356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Este es un tipo de almacenamiento cuenta con la particularidad de ser bastante compactos ya que la información es grabada sobre la superficie, su capacidad puede variar dependiendo del dispositivo o el tipo de escritura. </a:t>
            </a:r>
            <a:endParaRPr b="0" i="0" sz="1400" u="none" cap="none" strike="noStrike">
              <a:solidFill>
                <a:srgbClr val="000000"/>
              </a:solidFill>
              <a:latin typeface="Arial"/>
              <a:ea typeface="Arial"/>
              <a:cs typeface="Arial"/>
              <a:sym typeface="Arial"/>
            </a:endParaRPr>
          </a:p>
        </p:txBody>
      </p:sp>
      <p:sp>
        <p:nvSpPr>
          <p:cNvPr id="364" name="Google Shape;364;p20"/>
          <p:cNvSpPr txBox="1"/>
          <p:nvPr/>
        </p:nvSpPr>
        <p:spPr>
          <a:xfrm>
            <a:off x="5864503" y="3650631"/>
            <a:ext cx="7853099" cy="714375"/>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Almacenamiento óptico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sp>
        <p:nvSpPr>
          <p:cNvPr id="369" name="Google Shape;369;p21"/>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70" name="Google Shape;370;p21"/>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71" name="Google Shape;371;p21"/>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72" name="Google Shape;372;p21"/>
          <p:cNvGrpSpPr/>
          <p:nvPr/>
        </p:nvGrpSpPr>
        <p:grpSpPr>
          <a:xfrm>
            <a:off x="-1722197" y="-3678699"/>
            <a:ext cx="6482297" cy="6762426"/>
            <a:chOff x="0" y="0"/>
            <a:chExt cx="8643063" cy="9016568"/>
          </a:xfrm>
        </p:grpSpPr>
        <p:sp>
          <p:nvSpPr>
            <p:cNvPr id="373" name="Google Shape;373;p21"/>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74" name="Google Shape;374;p21"/>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75" name="Google Shape;375;p21"/>
          <p:cNvSpPr/>
          <p:nvPr/>
        </p:nvSpPr>
        <p:spPr>
          <a:xfrm>
            <a:off x="14916895" y="6771166"/>
            <a:ext cx="3086862" cy="3013549"/>
          </a:xfrm>
          <a:custGeom>
            <a:rect b="b" l="l" r="r" t="t"/>
            <a:pathLst>
              <a:path extrusionOk="0" h="3013549" w="3086862">
                <a:moveTo>
                  <a:pt x="0" y="0"/>
                </a:moveTo>
                <a:lnTo>
                  <a:pt x="3086862" y="0"/>
                </a:lnTo>
                <a:lnTo>
                  <a:pt x="3086862" y="3013549"/>
                </a:lnTo>
                <a:lnTo>
                  <a:pt x="0" y="3013549"/>
                </a:lnTo>
                <a:lnTo>
                  <a:pt x="0" y="0"/>
                </a:lnTo>
                <a:close/>
              </a:path>
            </a:pathLst>
          </a:custGeom>
          <a:blipFill rotWithShape="1">
            <a:blip r:embed="rId7">
              <a:alphaModFix/>
            </a:blip>
            <a:stretch>
              <a:fillRect b="0" l="0" r="0" t="0"/>
            </a:stretch>
          </a:blipFill>
          <a:ln>
            <a:noFill/>
          </a:ln>
        </p:spPr>
      </p:sp>
      <p:sp>
        <p:nvSpPr>
          <p:cNvPr id="376" name="Google Shape;376;p21"/>
          <p:cNvSpPr txBox="1"/>
          <p:nvPr/>
        </p:nvSpPr>
        <p:spPr>
          <a:xfrm>
            <a:off x="1028700" y="3656855"/>
            <a:ext cx="10222767" cy="336092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Entre los dispositivos de almacenamiento de este tipo podemos encontrar: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CD (700MB)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MINI DVD (1.5GB)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DVD (4.7GB)</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HD DVD (30GB)</a:t>
            </a:r>
            <a:endParaRPr b="0" i="0" sz="1400" u="none" cap="none" strike="noStrike">
              <a:solidFill>
                <a:srgbClr val="000000"/>
              </a:solidFill>
              <a:latin typeface="Arial"/>
              <a:ea typeface="Arial"/>
              <a:cs typeface="Arial"/>
              <a:sym typeface="Arial"/>
            </a:endParaRPr>
          </a:p>
        </p:txBody>
      </p:sp>
      <p:sp>
        <p:nvSpPr>
          <p:cNvPr id="377" name="Google Shape;377;p21"/>
          <p:cNvSpPr/>
          <p:nvPr/>
        </p:nvSpPr>
        <p:spPr>
          <a:xfrm>
            <a:off x="11583938" y="6811816"/>
            <a:ext cx="3000486" cy="2913200"/>
          </a:xfrm>
          <a:custGeom>
            <a:rect b="b" l="l" r="r" t="t"/>
            <a:pathLst>
              <a:path extrusionOk="0" h="2913200" w="3000486">
                <a:moveTo>
                  <a:pt x="0" y="0"/>
                </a:moveTo>
                <a:lnTo>
                  <a:pt x="3000486" y="0"/>
                </a:lnTo>
                <a:lnTo>
                  <a:pt x="3000486" y="2913200"/>
                </a:lnTo>
                <a:lnTo>
                  <a:pt x="0" y="2913200"/>
                </a:lnTo>
                <a:lnTo>
                  <a:pt x="0" y="0"/>
                </a:lnTo>
                <a:close/>
              </a:path>
            </a:pathLst>
          </a:custGeom>
          <a:blipFill rotWithShape="1">
            <a:blip r:embed="rId8">
              <a:alphaModFix/>
            </a:blip>
            <a:stretch>
              <a:fillRect b="0" l="0" r="0" t="0"/>
            </a:stretch>
          </a:blipFill>
          <a:ln>
            <a:noFill/>
          </a:ln>
        </p:spPr>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2"/>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83" name="Google Shape;383;p22"/>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384" name="Google Shape;384;p22"/>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85" name="Google Shape;385;p22"/>
          <p:cNvGrpSpPr/>
          <p:nvPr/>
        </p:nvGrpSpPr>
        <p:grpSpPr>
          <a:xfrm>
            <a:off x="-1722197" y="-3678699"/>
            <a:ext cx="6482297" cy="6762426"/>
            <a:chOff x="0" y="0"/>
            <a:chExt cx="8643063" cy="9016568"/>
          </a:xfrm>
        </p:grpSpPr>
        <p:sp>
          <p:nvSpPr>
            <p:cNvPr id="386" name="Google Shape;386;p22"/>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387" name="Google Shape;387;p22"/>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388" name="Google Shape;388;p22"/>
          <p:cNvSpPr/>
          <p:nvPr/>
        </p:nvSpPr>
        <p:spPr>
          <a:xfrm>
            <a:off x="1028700" y="4135710"/>
            <a:ext cx="6994387" cy="4683496"/>
          </a:xfrm>
          <a:custGeom>
            <a:rect b="b" l="l" r="r" t="t"/>
            <a:pathLst>
              <a:path extrusionOk="0" h="4683496" w="6994387">
                <a:moveTo>
                  <a:pt x="0" y="0"/>
                </a:moveTo>
                <a:lnTo>
                  <a:pt x="6994387" y="0"/>
                </a:lnTo>
                <a:lnTo>
                  <a:pt x="6994387" y="4683496"/>
                </a:lnTo>
                <a:lnTo>
                  <a:pt x="0" y="4683496"/>
                </a:lnTo>
                <a:lnTo>
                  <a:pt x="0" y="0"/>
                </a:lnTo>
                <a:close/>
              </a:path>
            </a:pathLst>
          </a:custGeom>
          <a:blipFill rotWithShape="1">
            <a:blip r:embed="rId7">
              <a:alphaModFix/>
            </a:blip>
            <a:stretch>
              <a:fillRect b="0" l="0" r="0" t="0"/>
            </a:stretch>
          </a:blipFill>
          <a:ln>
            <a:noFill/>
          </a:ln>
        </p:spPr>
      </p:sp>
      <p:sp>
        <p:nvSpPr>
          <p:cNvPr id="389" name="Google Shape;389;p22"/>
          <p:cNvSpPr/>
          <p:nvPr/>
        </p:nvSpPr>
        <p:spPr>
          <a:xfrm>
            <a:off x="10388230" y="4135710"/>
            <a:ext cx="6871070" cy="4961532"/>
          </a:xfrm>
          <a:custGeom>
            <a:rect b="b" l="l" r="r" t="t"/>
            <a:pathLst>
              <a:path extrusionOk="0" h="4961532" w="6871070">
                <a:moveTo>
                  <a:pt x="0" y="0"/>
                </a:moveTo>
                <a:lnTo>
                  <a:pt x="6871070" y="0"/>
                </a:lnTo>
                <a:lnTo>
                  <a:pt x="6871070" y="4961533"/>
                </a:lnTo>
                <a:lnTo>
                  <a:pt x="0" y="4961533"/>
                </a:lnTo>
                <a:lnTo>
                  <a:pt x="0" y="0"/>
                </a:lnTo>
                <a:close/>
              </a:path>
            </a:pathLst>
          </a:custGeom>
          <a:blipFill rotWithShape="1">
            <a:blip r:embed="rId8">
              <a:alphaModFix/>
            </a:blip>
            <a:stretch>
              <a:fillRect b="0" l="0" r="0" t="0"/>
            </a:stretch>
          </a:blipFill>
          <a:ln>
            <a:noFill/>
          </a:ln>
        </p:spPr>
      </p:sp>
      <p:sp>
        <p:nvSpPr>
          <p:cNvPr id="390" name="Google Shape;390;p22"/>
          <p:cNvSpPr txBox="1"/>
          <p:nvPr/>
        </p:nvSpPr>
        <p:spPr>
          <a:xfrm>
            <a:off x="3241296" y="1316502"/>
            <a:ext cx="11789609" cy="1390650"/>
          </a:xfrm>
          <a:prstGeom prst="rect">
            <a:avLst/>
          </a:prstGeom>
          <a:noFill/>
          <a:ln>
            <a:noFill/>
          </a:ln>
        </p:spPr>
        <p:txBody>
          <a:bodyPr anchorCtr="0" anchor="t" bIns="0" lIns="0" spcFirstLastPara="1" rIns="0" wrap="square" tIns="0">
            <a:spAutoFit/>
          </a:bodyPr>
          <a:lstStyle/>
          <a:p>
            <a:pPr indent="0" lvl="0" marL="0" marR="0" rtl="0" algn="ctr">
              <a:lnSpc>
                <a:spcPct val="120004"/>
              </a:lnSpc>
              <a:spcBef>
                <a:spcPts val="0"/>
              </a:spcBef>
              <a:spcAft>
                <a:spcPts val="0"/>
              </a:spcAft>
              <a:buClr>
                <a:srgbClr val="000000"/>
              </a:buClr>
              <a:buSzPts val="4499"/>
              <a:buFont typeface="Arial"/>
              <a:buNone/>
            </a:pPr>
            <a:r>
              <a:rPr b="1" i="1" lang="en-US" sz="4499" u="none" cap="none" strike="noStrike">
                <a:solidFill>
                  <a:srgbClr val="1B4A9B"/>
                </a:solidFill>
                <a:latin typeface="Poppins"/>
                <a:ea typeface="Poppins"/>
                <a:cs typeface="Poppins"/>
                <a:sym typeface="Poppins"/>
              </a:rPr>
              <a:t>Principales aplicaciones de las unidades de almacenamiento óptico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2c9b27100e_1_0"/>
          <p:cNvSpPr/>
          <p:nvPr/>
        </p:nvSpPr>
        <p:spPr>
          <a:xfrm>
            <a:off x="-160692" y="-90502"/>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396" name="Google Shape;396;g32c9b27100e_1_0"/>
          <p:cNvSpPr/>
          <p:nvPr/>
        </p:nvSpPr>
        <p:spPr>
          <a:xfrm rot="-2310192">
            <a:off x="9697895" y="216357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sp>
        <p:nvSpPr>
          <p:cNvPr id="397" name="Google Shape;397;g32c9b27100e_1_0"/>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398" name="Google Shape;398;g32c9b27100e_1_0"/>
          <p:cNvGrpSpPr/>
          <p:nvPr/>
        </p:nvGrpSpPr>
        <p:grpSpPr>
          <a:xfrm>
            <a:off x="-1728242" y="-3678699"/>
            <a:ext cx="6488343" cy="6763782"/>
            <a:chOff x="-8061" y="0"/>
            <a:chExt cx="8651124" cy="9018377"/>
          </a:xfrm>
        </p:grpSpPr>
        <p:sp>
          <p:nvSpPr>
            <p:cNvPr id="399" name="Google Shape;399;g32c9b27100e_1_0"/>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400" name="Google Shape;400;g32c9b27100e_1_0"/>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401" name="Google Shape;401;g32c9b27100e_1_0"/>
          <p:cNvSpPr txBox="1"/>
          <p:nvPr/>
        </p:nvSpPr>
        <p:spPr>
          <a:xfrm>
            <a:off x="1425541" y="3121198"/>
            <a:ext cx="43134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402" name="Google Shape;402;g32c9b27100e_1_0"/>
          <p:cNvSpPr txBox="1"/>
          <p:nvPr/>
        </p:nvSpPr>
        <p:spPr>
          <a:xfrm>
            <a:off x="9545990" y="3189648"/>
            <a:ext cx="43134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403" name="Google Shape;403;g32c9b27100e_1_0"/>
          <p:cNvSpPr txBox="1"/>
          <p:nvPr/>
        </p:nvSpPr>
        <p:spPr>
          <a:xfrm>
            <a:off x="849375" y="4423200"/>
            <a:ext cx="7678200" cy="50826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Almacenamiento a largo plazo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inmutabilidad (una vez grabados, en discos de solo lectura, no pueden ser modificados o eliminados).</a:t>
            </a:r>
            <a:endParaRPr b="0" i="0" sz="2600" u="none" cap="none" strike="noStrike">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No son afectados por campos magnéticos, a diferencia de discos duros y algunas memorias flash.</a:t>
            </a:r>
            <a:endParaRPr b="0" i="0" sz="2600" u="none" cap="none" strike="noStrike">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Bajo costo por unidad</a:t>
            </a:r>
            <a:endParaRPr b="0" i="0" sz="2600" u="none" cap="none" strike="noStrike">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Compatibilidad con múltiples dispositivos que incluyen lectores ópticos. </a:t>
            </a:r>
            <a:endParaRPr b="0" i="0" sz="1400" u="none" cap="none" strike="noStrike">
              <a:solidFill>
                <a:srgbClr val="000000"/>
              </a:solidFill>
              <a:latin typeface="Arial"/>
              <a:ea typeface="Arial"/>
              <a:cs typeface="Arial"/>
              <a:sym typeface="Arial"/>
            </a:endParaRPr>
          </a:p>
        </p:txBody>
      </p:sp>
      <p:sp>
        <p:nvSpPr>
          <p:cNvPr id="404" name="Google Shape;404;g32c9b27100e_1_0"/>
          <p:cNvSpPr txBox="1"/>
          <p:nvPr/>
        </p:nvSpPr>
        <p:spPr>
          <a:xfrm>
            <a:off x="9287873" y="4423200"/>
            <a:ext cx="7526700" cy="456240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Capacidad limitada en comparación con los HDD y SSD</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Velocidad de escritura/lectura es considerablemente más baja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Son propensos a rayarse y deteriorarse con el tiempo</a:t>
            </a:r>
            <a:endParaRPr b="0" i="0" sz="2600" u="none" cap="none" strike="noStrike">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Poppins"/>
              <a:buChar char="•"/>
            </a:pPr>
            <a:r>
              <a:rPr b="0" i="0" lang="en-US" sz="2600" u="none" cap="none" strike="noStrike">
                <a:solidFill>
                  <a:srgbClr val="737373"/>
                </a:solidFill>
                <a:latin typeface="Poppins"/>
                <a:ea typeface="Poppins"/>
                <a:cs typeface="Poppins"/>
                <a:sym typeface="Poppins"/>
              </a:rPr>
              <a:t>Poca portabilidad comparados con memorias usb</a:t>
            </a:r>
            <a:endParaRPr b="0" i="0" sz="2600" u="none" cap="none" strike="noStrike">
              <a:solidFill>
                <a:srgbClr val="737373"/>
              </a:solidFill>
              <a:latin typeface="Poppins"/>
              <a:ea typeface="Poppins"/>
              <a:cs typeface="Poppins"/>
              <a:sym typeface="Poppins"/>
            </a:endParaRPr>
          </a:p>
          <a:p>
            <a:pPr indent="-280671" lvl="1" marL="561342" marR="0" rtl="0" algn="just">
              <a:lnSpc>
                <a:spcPct val="130000"/>
              </a:lnSpc>
              <a:spcBef>
                <a:spcPts val="0"/>
              </a:spcBef>
              <a:spcAft>
                <a:spcPts val="0"/>
              </a:spcAft>
              <a:buClr>
                <a:srgbClr val="737373"/>
              </a:buClr>
              <a:buSzPts val="2600"/>
              <a:buFont typeface="Poppins"/>
              <a:buChar char="•"/>
            </a:pPr>
            <a:r>
              <a:rPr b="0" i="0" lang="en-US" sz="2600" u="none" cap="none" strike="noStrike">
                <a:solidFill>
                  <a:srgbClr val="737373"/>
                </a:solidFill>
                <a:latin typeface="Poppins"/>
                <a:ea typeface="Poppins"/>
                <a:cs typeface="Poppins"/>
                <a:sym typeface="Poppins"/>
              </a:rPr>
              <a:t>Obsolescencia.</a:t>
            </a:r>
            <a:endParaRPr b="0" i="0" sz="2600" u="none" cap="none" strike="noStrike">
              <a:solidFill>
                <a:srgbClr val="737373"/>
              </a:solidFill>
              <a:latin typeface="Poppins"/>
              <a:ea typeface="Poppins"/>
              <a:cs typeface="Poppins"/>
              <a:sym typeface="Poppins"/>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23"/>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10" name="Google Shape;410;p23"/>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11" name="Google Shape;411;p23"/>
          <p:cNvGrpSpPr/>
          <p:nvPr/>
        </p:nvGrpSpPr>
        <p:grpSpPr>
          <a:xfrm rot="9869657">
            <a:off x="15094882" y="6832190"/>
            <a:ext cx="6482272" cy="7020689"/>
            <a:chOff x="0" y="-344387"/>
            <a:chExt cx="8643063" cy="9360955"/>
          </a:xfrm>
        </p:grpSpPr>
        <p:sp>
          <p:nvSpPr>
            <p:cNvPr id="412" name="Google Shape;412;p23"/>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13" name="Google Shape;413;p23"/>
            <p:cNvSpPr/>
            <p:nvPr/>
          </p:nvSpPr>
          <p:spPr>
            <a:xfrm>
              <a:off x="22055" y="-344387"/>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14" name="Google Shape;414;p23"/>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415" name="Google Shape;415;p23"/>
          <p:cNvSpPr txBox="1"/>
          <p:nvPr/>
        </p:nvSpPr>
        <p:spPr>
          <a:xfrm>
            <a:off x="10369964" y="910554"/>
            <a:ext cx="6858000" cy="6156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DISCO DURO (HDD)</a:t>
            </a:r>
            <a:endParaRPr b="0" i="0" sz="1400" u="none" cap="none" strike="noStrike">
              <a:solidFill>
                <a:srgbClr val="000000"/>
              </a:solidFill>
              <a:latin typeface="Arial"/>
              <a:ea typeface="Arial"/>
              <a:cs typeface="Arial"/>
              <a:sym typeface="Arial"/>
            </a:endParaRPr>
          </a:p>
        </p:txBody>
      </p:sp>
      <p:grpSp>
        <p:nvGrpSpPr>
          <p:cNvPr id="416" name="Google Shape;416;p23"/>
          <p:cNvGrpSpPr/>
          <p:nvPr/>
        </p:nvGrpSpPr>
        <p:grpSpPr>
          <a:xfrm>
            <a:off x="211000" y="-48746"/>
            <a:ext cx="10384491" cy="10384491"/>
            <a:chOff x="0" y="0"/>
            <a:chExt cx="13845988" cy="13845988"/>
          </a:xfrm>
        </p:grpSpPr>
        <p:sp>
          <p:nvSpPr>
            <p:cNvPr id="417" name="Google Shape;417;p23"/>
            <p:cNvSpPr/>
            <p:nvPr/>
          </p:nvSpPr>
          <p:spPr>
            <a:xfrm>
              <a:off x="0" y="0"/>
              <a:ext cx="13845988" cy="13845988"/>
            </a:xfrm>
            <a:custGeom>
              <a:rect b="b" l="l" r="r" t="t"/>
              <a:pathLst>
                <a:path extrusionOk="0" h="13845988" w="13845988">
                  <a:moveTo>
                    <a:pt x="0" y="0"/>
                  </a:moveTo>
                  <a:lnTo>
                    <a:pt x="13845988" y="0"/>
                  </a:lnTo>
                  <a:lnTo>
                    <a:pt x="13845988" y="13845988"/>
                  </a:lnTo>
                  <a:lnTo>
                    <a:pt x="0" y="13845988"/>
                  </a:lnTo>
                  <a:lnTo>
                    <a:pt x="0" y="0"/>
                  </a:lnTo>
                  <a:close/>
                </a:path>
              </a:pathLst>
            </a:custGeom>
            <a:blipFill rotWithShape="1">
              <a:blip r:embed="rId7">
                <a:alphaModFix amt="12000"/>
              </a:blip>
              <a:stretch>
                <a:fillRect b="0" l="0" r="0" t="0"/>
              </a:stretch>
            </a:blipFill>
            <a:ln>
              <a:noFill/>
            </a:ln>
          </p:spPr>
        </p:sp>
        <p:sp>
          <p:nvSpPr>
            <p:cNvPr id="418" name="Google Shape;418;p23"/>
            <p:cNvSpPr/>
            <p:nvPr/>
          </p:nvSpPr>
          <p:spPr>
            <a:xfrm>
              <a:off x="738382" y="738382"/>
              <a:ext cx="12369224" cy="12369224"/>
            </a:xfrm>
            <a:custGeom>
              <a:rect b="b" l="l" r="r" t="t"/>
              <a:pathLst>
                <a:path extrusionOk="0" h="12369224" w="12369224">
                  <a:moveTo>
                    <a:pt x="0" y="0"/>
                  </a:moveTo>
                  <a:lnTo>
                    <a:pt x="12369224" y="0"/>
                  </a:lnTo>
                  <a:lnTo>
                    <a:pt x="12369224" y="12369224"/>
                  </a:lnTo>
                  <a:lnTo>
                    <a:pt x="0" y="12369224"/>
                  </a:lnTo>
                  <a:lnTo>
                    <a:pt x="0" y="0"/>
                  </a:lnTo>
                  <a:close/>
                </a:path>
              </a:pathLst>
            </a:custGeom>
            <a:blipFill rotWithShape="1">
              <a:blip r:embed="rId8">
                <a:alphaModFix/>
              </a:blip>
              <a:stretch>
                <a:fillRect b="0" l="0" r="0" t="0"/>
              </a:stretch>
            </a:blipFill>
            <a:ln>
              <a:noFill/>
            </a:ln>
          </p:spPr>
        </p:sp>
      </p:grpSp>
      <p:sp>
        <p:nvSpPr>
          <p:cNvPr id="419" name="Google Shape;419;p23"/>
          <p:cNvSpPr/>
          <p:nvPr/>
        </p:nvSpPr>
        <p:spPr>
          <a:xfrm>
            <a:off x="998078" y="733941"/>
            <a:ext cx="8789098" cy="8789098"/>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24897" r="-24897"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23"/>
          <p:cNvSpPr txBox="1"/>
          <p:nvPr/>
        </p:nvSpPr>
        <p:spPr>
          <a:xfrm>
            <a:off x="10946990" y="1801416"/>
            <a:ext cx="6709500" cy="766530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Este tipo de dispositivo deben su nombre a su estructura compuesto uno o varios platos o discos rígidos unidos por un mismo eje que gira a gran velocidad dentro de una caja metálica sellada, en tanto, sobre cada plato y en cada una de sus caras, se encuentra situado un cabezal de lectura/escritura que flota sobre una delgada lámina de aire generada por la rotación de los discos.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24"/>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26" name="Google Shape;426;p24"/>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427" name="Google Shape;427;p24"/>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428" name="Google Shape;428;p24"/>
          <p:cNvGrpSpPr/>
          <p:nvPr/>
        </p:nvGrpSpPr>
        <p:grpSpPr>
          <a:xfrm>
            <a:off x="-1675026" y="-3788799"/>
            <a:ext cx="6482302" cy="6998352"/>
            <a:chOff x="-5" y="-314567"/>
            <a:chExt cx="8643069" cy="9331135"/>
          </a:xfrm>
        </p:grpSpPr>
        <p:sp>
          <p:nvSpPr>
            <p:cNvPr id="429" name="Google Shape;429;p24"/>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430" name="Google Shape;430;p24"/>
            <p:cNvSpPr/>
            <p:nvPr/>
          </p:nvSpPr>
          <p:spPr>
            <a:xfrm>
              <a:off x="-5" y="-314567"/>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431" name="Google Shape;431;p24"/>
          <p:cNvSpPr txBox="1"/>
          <p:nvPr/>
        </p:nvSpPr>
        <p:spPr>
          <a:xfrm>
            <a:off x="1233175" y="1786100"/>
            <a:ext cx="10222800" cy="8627100"/>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Para su funcionamiento tanto en lectura y escritura consiste en el movimiento del cabezal a lo largo del disco en busca del sector deseado, realizando acciones tales como: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Tiempo medio de acceso (el tiempo medio que tarda la aguja en situarse en la pista y el sector deseado)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Tiempo de lectura/escritura (el tiempo medio que tarda el disco en leer o escribir una nueva información)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Velocidad de rotación (revoluciones por minuto de los platos) </a:t>
            </a:r>
            <a:endParaRPr b="0" i="0" sz="1400" u="none" cap="none" strike="noStrike">
              <a:solidFill>
                <a:srgbClr val="000000"/>
              </a:solidFill>
              <a:latin typeface="Arial"/>
              <a:ea typeface="Arial"/>
              <a:cs typeface="Arial"/>
              <a:sym typeface="Arial"/>
            </a:endParaRPr>
          </a:p>
          <a:p>
            <a:pPr indent="-345437" lvl="1" marL="690876" marR="0" rtl="0" algn="just">
              <a:lnSpc>
                <a:spcPct val="118005"/>
              </a:lnSpc>
              <a:spcBef>
                <a:spcPts val="0"/>
              </a:spcBef>
              <a:spcAft>
                <a:spcPts val="0"/>
              </a:spcAft>
              <a:buClr>
                <a:srgbClr val="737373"/>
              </a:buClr>
              <a:buSzPts val="3199"/>
              <a:buFont typeface="Arial"/>
              <a:buChar char="•"/>
            </a:pPr>
            <a:r>
              <a:rPr b="0" i="0" lang="en-US" sz="3199" u="none" cap="none" strike="noStrike">
                <a:solidFill>
                  <a:srgbClr val="737373"/>
                </a:solidFill>
                <a:latin typeface="Poppins"/>
                <a:ea typeface="Poppins"/>
                <a:cs typeface="Poppins"/>
                <a:sym typeface="Poppins"/>
              </a:rPr>
              <a:t>Tasa de transferencia (velocidad con la cual traslada la información a la computadora)</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p:txBody>
      </p:sp>
      <p:sp>
        <p:nvSpPr>
          <p:cNvPr id="432" name="Google Shape;432;p24"/>
          <p:cNvSpPr/>
          <p:nvPr/>
        </p:nvSpPr>
        <p:spPr>
          <a:xfrm>
            <a:off x="13548445" y="4042252"/>
            <a:ext cx="2880360" cy="4114800"/>
          </a:xfrm>
          <a:custGeom>
            <a:rect b="b" l="l" r="r" t="t"/>
            <a:pathLst>
              <a:path extrusionOk="0" h="4114800" w="2880360">
                <a:moveTo>
                  <a:pt x="0" y="0"/>
                </a:moveTo>
                <a:lnTo>
                  <a:pt x="2880360" y="0"/>
                </a:lnTo>
                <a:lnTo>
                  <a:pt x="2880360"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5"/>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38" name="Google Shape;438;p25"/>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39" name="Google Shape;439;p25"/>
          <p:cNvGrpSpPr/>
          <p:nvPr/>
        </p:nvGrpSpPr>
        <p:grpSpPr>
          <a:xfrm rot="9869556">
            <a:off x="14431083" y="6569611"/>
            <a:ext cx="6482297" cy="6762426"/>
            <a:chOff x="0" y="0"/>
            <a:chExt cx="8643063" cy="9016568"/>
          </a:xfrm>
        </p:grpSpPr>
        <p:sp>
          <p:nvSpPr>
            <p:cNvPr id="440" name="Google Shape;440;p25"/>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41" name="Google Shape;441;p25"/>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42" name="Google Shape;442;p25"/>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443" name="Google Shape;443;p25"/>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Disco duro (HDD)</a:t>
            </a:r>
            <a:endParaRPr b="0" i="0" sz="1400" u="none" cap="none" strike="noStrike">
              <a:solidFill>
                <a:srgbClr val="000000"/>
              </a:solidFill>
              <a:latin typeface="Arial"/>
              <a:ea typeface="Arial"/>
              <a:cs typeface="Arial"/>
              <a:sym typeface="Arial"/>
            </a:endParaRPr>
          </a:p>
        </p:txBody>
      </p:sp>
      <p:sp>
        <p:nvSpPr>
          <p:cNvPr id="444" name="Google Shape;444;p25"/>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445" name="Google Shape;445;p25"/>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446" name="Google Shape;446;p25"/>
          <p:cNvSpPr txBox="1"/>
          <p:nvPr/>
        </p:nvSpPr>
        <p:spPr>
          <a:xfrm>
            <a:off x="1425541" y="6740460"/>
            <a:ext cx="11385267" cy="1290955"/>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capacidad de almacenamiento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Costo accesible</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Promedio de vida largo</a:t>
            </a:r>
            <a:endParaRPr b="0" i="0" sz="1400" u="none" cap="none" strike="noStrike">
              <a:solidFill>
                <a:srgbClr val="000000"/>
              </a:solidFill>
              <a:latin typeface="Arial"/>
              <a:ea typeface="Arial"/>
              <a:cs typeface="Arial"/>
              <a:sym typeface="Arial"/>
            </a:endParaRPr>
          </a:p>
        </p:txBody>
      </p:sp>
      <p:sp>
        <p:nvSpPr>
          <p:cNvPr id="447" name="Google Shape;447;p25"/>
          <p:cNvSpPr txBox="1"/>
          <p:nvPr/>
        </p:nvSpPr>
        <p:spPr>
          <a:xfrm>
            <a:off x="9649643" y="6882052"/>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Ruidosos por su mecanismo mecánico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Tiende a dañarse ante movimientos o golpes </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Alto consumo energético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Lento procesamiento de datos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6"/>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53" name="Google Shape;453;p26"/>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54" name="Google Shape;454;p26"/>
          <p:cNvGrpSpPr/>
          <p:nvPr/>
        </p:nvGrpSpPr>
        <p:grpSpPr>
          <a:xfrm rot="9869657">
            <a:off x="14762811" y="7190944"/>
            <a:ext cx="6794274" cy="6932277"/>
            <a:chOff x="-416005" y="-226504"/>
            <a:chExt cx="9059069" cy="9243072"/>
          </a:xfrm>
        </p:grpSpPr>
        <p:sp>
          <p:nvSpPr>
            <p:cNvPr id="455" name="Google Shape;455;p26"/>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56" name="Google Shape;456;p26"/>
            <p:cNvSpPr/>
            <p:nvPr/>
          </p:nvSpPr>
          <p:spPr>
            <a:xfrm>
              <a:off x="-416005" y="-226504"/>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57" name="Google Shape;457;p26"/>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grpSp>
        <p:nvGrpSpPr>
          <p:cNvPr id="458" name="Google Shape;458;p26"/>
          <p:cNvGrpSpPr/>
          <p:nvPr/>
        </p:nvGrpSpPr>
        <p:grpSpPr>
          <a:xfrm>
            <a:off x="211000" y="-48746"/>
            <a:ext cx="10384491" cy="10384491"/>
            <a:chOff x="0" y="0"/>
            <a:chExt cx="13845988" cy="13845988"/>
          </a:xfrm>
        </p:grpSpPr>
        <p:sp>
          <p:nvSpPr>
            <p:cNvPr id="459" name="Google Shape;459;p26"/>
            <p:cNvSpPr/>
            <p:nvPr/>
          </p:nvSpPr>
          <p:spPr>
            <a:xfrm>
              <a:off x="0" y="0"/>
              <a:ext cx="13845988" cy="13845988"/>
            </a:xfrm>
            <a:custGeom>
              <a:rect b="b" l="l" r="r" t="t"/>
              <a:pathLst>
                <a:path extrusionOk="0" h="13845988" w="13845988">
                  <a:moveTo>
                    <a:pt x="0" y="0"/>
                  </a:moveTo>
                  <a:lnTo>
                    <a:pt x="13845988" y="0"/>
                  </a:lnTo>
                  <a:lnTo>
                    <a:pt x="13845988" y="13845988"/>
                  </a:lnTo>
                  <a:lnTo>
                    <a:pt x="0" y="13845988"/>
                  </a:lnTo>
                  <a:lnTo>
                    <a:pt x="0" y="0"/>
                  </a:lnTo>
                  <a:close/>
                </a:path>
              </a:pathLst>
            </a:custGeom>
            <a:blipFill rotWithShape="1">
              <a:blip r:embed="rId7">
                <a:alphaModFix amt="12000"/>
              </a:blip>
              <a:stretch>
                <a:fillRect b="0" l="0" r="0" t="0"/>
              </a:stretch>
            </a:blipFill>
            <a:ln>
              <a:noFill/>
            </a:ln>
          </p:spPr>
        </p:sp>
        <p:sp>
          <p:nvSpPr>
            <p:cNvPr id="460" name="Google Shape;460;p26"/>
            <p:cNvSpPr/>
            <p:nvPr/>
          </p:nvSpPr>
          <p:spPr>
            <a:xfrm>
              <a:off x="738382" y="738382"/>
              <a:ext cx="12369224" cy="12369224"/>
            </a:xfrm>
            <a:custGeom>
              <a:rect b="b" l="l" r="r" t="t"/>
              <a:pathLst>
                <a:path extrusionOk="0" h="12369224" w="12369224">
                  <a:moveTo>
                    <a:pt x="0" y="0"/>
                  </a:moveTo>
                  <a:lnTo>
                    <a:pt x="12369224" y="0"/>
                  </a:lnTo>
                  <a:lnTo>
                    <a:pt x="12369224" y="12369224"/>
                  </a:lnTo>
                  <a:lnTo>
                    <a:pt x="0" y="12369224"/>
                  </a:lnTo>
                  <a:lnTo>
                    <a:pt x="0" y="0"/>
                  </a:lnTo>
                  <a:close/>
                </a:path>
              </a:pathLst>
            </a:custGeom>
            <a:blipFill rotWithShape="1">
              <a:blip r:embed="rId8">
                <a:alphaModFix/>
              </a:blip>
              <a:stretch>
                <a:fillRect b="0" l="0" r="0" t="0"/>
              </a:stretch>
            </a:blipFill>
            <a:ln>
              <a:noFill/>
            </a:ln>
          </p:spPr>
        </p:sp>
      </p:grpSp>
      <p:sp>
        <p:nvSpPr>
          <p:cNvPr id="461" name="Google Shape;461;p26"/>
          <p:cNvSpPr/>
          <p:nvPr/>
        </p:nvSpPr>
        <p:spPr>
          <a:xfrm>
            <a:off x="998078" y="733941"/>
            <a:ext cx="8789098" cy="8789098"/>
          </a:xfrm>
          <a:custGeom>
            <a:rect b="b" l="l" r="r" t="t"/>
            <a:pathLst>
              <a:path extrusionOk="0" h="5255260" w="5255260">
                <a:moveTo>
                  <a:pt x="2627630" y="0"/>
                </a:moveTo>
                <a:cubicBezTo>
                  <a:pt x="1176430" y="0"/>
                  <a:pt x="0" y="1176430"/>
                  <a:pt x="0" y="2627630"/>
                </a:cubicBezTo>
                <a:cubicBezTo>
                  <a:pt x="0" y="4078830"/>
                  <a:pt x="1176430" y="5255260"/>
                  <a:pt x="2627630" y="5255260"/>
                </a:cubicBezTo>
                <a:cubicBezTo>
                  <a:pt x="4078830" y="5255260"/>
                  <a:pt x="5255260" y="4078830"/>
                  <a:pt x="5255260" y="2627630"/>
                </a:cubicBezTo>
                <a:cubicBezTo>
                  <a:pt x="5255260" y="1176430"/>
                  <a:pt x="4078830" y="0"/>
                  <a:pt x="2627630" y="0"/>
                </a:cubicBezTo>
                <a:close/>
              </a:path>
            </a:pathLst>
          </a:custGeom>
          <a:blipFill rotWithShape="1">
            <a:blip r:embed="rId9">
              <a:alphaModFix/>
            </a:blip>
            <a:stretch>
              <a:fillRect b="0" l="0" r="-39852" t="0"/>
            </a:stretch>
          </a:blip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2" name="Google Shape;462;p26"/>
          <p:cNvSpPr txBox="1"/>
          <p:nvPr/>
        </p:nvSpPr>
        <p:spPr>
          <a:xfrm>
            <a:off x="11850749" y="890049"/>
            <a:ext cx="5067600" cy="1354200"/>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UNIDAD DE ESTADO SÓLIDO (SDD)</a:t>
            </a:r>
            <a:endParaRPr b="0" i="0" sz="1400" u="none" cap="none" strike="noStrike">
              <a:solidFill>
                <a:srgbClr val="000000"/>
              </a:solidFill>
              <a:latin typeface="Arial"/>
              <a:ea typeface="Arial"/>
              <a:cs typeface="Arial"/>
              <a:sym typeface="Arial"/>
            </a:endParaRPr>
          </a:p>
        </p:txBody>
      </p:sp>
      <p:sp>
        <p:nvSpPr>
          <p:cNvPr id="463" name="Google Shape;463;p26"/>
          <p:cNvSpPr txBox="1"/>
          <p:nvPr/>
        </p:nvSpPr>
        <p:spPr>
          <a:xfrm>
            <a:off x="11096874" y="2463060"/>
            <a:ext cx="6575358" cy="596265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Clr>
                <a:srgbClr val="000000"/>
              </a:buClr>
              <a:buSzPts val="3000"/>
              <a:buFont typeface="Arial"/>
              <a:buNone/>
            </a:pPr>
            <a:r>
              <a:rPr b="0" i="0" lang="en-US" sz="3000" u="none" cap="none" strike="noStrike">
                <a:solidFill>
                  <a:srgbClr val="737373"/>
                </a:solidFill>
                <a:latin typeface="Poppins"/>
                <a:ea typeface="Poppins"/>
                <a:cs typeface="Poppins"/>
                <a:sym typeface="Poppins"/>
              </a:rPr>
              <a:t>La </a:t>
            </a:r>
            <a:r>
              <a:rPr b="1" i="0" lang="en-US" sz="3000" u="none" cap="none" strike="noStrike">
                <a:solidFill>
                  <a:srgbClr val="737373"/>
                </a:solidFill>
                <a:latin typeface="Poppins"/>
                <a:ea typeface="Poppins"/>
                <a:cs typeface="Poppins"/>
                <a:sym typeface="Poppins"/>
              </a:rPr>
              <a:t>unidad de estado sólido</a:t>
            </a:r>
            <a:r>
              <a:rPr b="0" i="0" lang="en-US" sz="3000" u="none" cap="none" strike="noStrike">
                <a:solidFill>
                  <a:srgbClr val="737373"/>
                </a:solidFill>
                <a:latin typeface="Poppins"/>
                <a:ea typeface="Poppins"/>
                <a:cs typeface="Poppins"/>
                <a:sym typeface="Poppins"/>
              </a:rPr>
              <a:t>, la o el SSD (acrónimo inglés de Solid State Drive), también llamado a veces incorrectamente </a:t>
            </a:r>
            <a:r>
              <a:rPr b="1" i="0" lang="en-US" sz="3000" u="none" cap="none" strike="noStrike">
                <a:solidFill>
                  <a:srgbClr val="737373"/>
                </a:solidFill>
                <a:latin typeface="Poppins"/>
                <a:ea typeface="Poppins"/>
                <a:cs typeface="Poppins"/>
                <a:sym typeface="Poppins"/>
              </a:rPr>
              <a:t>disco de estado sólido</a:t>
            </a:r>
            <a:r>
              <a:rPr b="0" i="0" lang="en-US" sz="3000" u="none" cap="none" strike="noStrike">
                <a:solidFill>
                  <a:srgbClr val="737373"/>
                </a:solidFill>
                <a:latin typeface="Poppins"/>
                <a:ea typeface="Poppins"/>
                <a:cs typeface="Poppins"/>
                <a:sym typeface="Poppins"/>
              </a:rPr>
              <a:t> pues carece de disco, es un tipo de </a:t>
            </a:r>
            <a:r>
              <a:rPr b="0" i="0" lang="en-US" sz="3000" u="sng" cap="none" strike="noStrike">
                <a:solidFill>
                  <a:srgbClr val="737373"/>
                </a:solidFill>
                <a:latin typeface="Poppins"/>
                <a:ea typeface="Poppins"/>
                <a:cs typeface="Poppins"/>
                <a:sym typeface="Poppins"/>
                <a:hlinkClick r:id="rId10">
                  <a:extLst>
                    <a:ext uri="{A12FA001-AC4F-418D-AE19-62706E023703}">
                      <ahyp:hlinkClr val="tx"/>
                    </a:ext>
                  </a:extLst>
                </a:hlinkClick>
              </a:rPr>
              <a:t>dispositivo de almacenamiento de datos</a:t>
            </a:r>
            <a:r>
              <a:rPr b="0" i="0" lang="en-US" sz="3000" u="none" cap="none" strike="noStrike">
                <a:solidFill>
                  <a:srgbClr val="737373"/>
                </a:solidFill>
                <a:latin typeface="Poppins"/>
                <a:ea typeface="Poppins"/>
                <a:cs typeface="Poppins"/>
                <a:sym typeface="Poppins"/>
              </a:rPr>
              <a:t> que utiliza </a:t>
            </a:r>
            <a:r>
              <a:rPr b="1" i="0" lang="en-US" sz="3000" u="sng" cap="none" strike="noStrike">
                <a:solidFill>
                  <a:srgbClr val="737373"/>
                </a:solidFill>
                <a:latin typeface="Poppins"/>
                <a:ea typeface="Poppins"/>
                <a:cs typeface="Poppins"/>
                <a:sym typeface="Poppins"/>
                <a:hlinkClick r:id="rId11">
                  <a:extLst>
                    <a:ext uri="{A12FA001-AC4F-418D-AE19-62706E023703}">
                      <ahyp:hlinkClr val="tx"/>
                    </a:ext>
                  </a:extLst>
                </a:hlinkClick>
              </a:rPr>
              <a:t>memoria no volátil</a:t>
            </a:r>
            <a:r>
              <a:rPr b="0" i="0" lang="en-US" sz="3000" u="none" cap="none" strike="noStrike">
                <a:solidFill>
                  <a:srgbClr val="737373"/>
                </a:solidFill>
                <a:latin typeface="Poppins"/>
                <a:ea typeface="Poppins"/>
                <a:cs typeface="Poppins"/>
                <a:sym typeface="Poppins"/>
              </a:rPr>
              <a:t>, como la </a:t>
            </a:r>
            <a:r>
              <a:rPr b="0" i="0" lang="en-US" sz="3000" u="sng" cap="none" strike="noStrike">
                <a:solidFill>
                  <a:srgbClr val="737373"/>
                </a:solidFill>
                <a:latin typeface="Poppins"/>
                <a:ea typeface="Poppins"/>
                <a:cs typeface="Poppins"/>
                <a:sym typeface="Poppins"/>
                <a:hlinkClick r:id="rId12">
                  <a:extLst>
                    <a:ext uri="{A12FA001-AC4F-418D-AE19-62706E023703}">
                      <ahyp:hlinkClr val="tx"/>
                    </a:ext>
                  </a:extLst>
                </a:hlinkClick>
              </a:rPr>
              <a:t>memoria flash</a:t>
            </a:r>
            <a:r>
              <a:rPr b="0" i="0" lang="en-US" sz="3000" u="none" cap="none" strike="noStrike">
                <a:solidFill>
                  <a:srgbClr val="737373"/>
                </a:solidFill>
                <a:latin typeface="Poppins"/>
                <a:ea typeface="Poppins"/>
                <a:cs typeface="Poppins"/>
                <a:sym typeface="Poppins"/>
              </a:rPr>
              <a:t>, para almacenar datos, en lugar de los </a:t>
            </a:r>
            <a:r>
              <a:rPr b="0" i="0" lang="en-US" sz="3000" u="sng" cap="none" strike="noStrike">
                <a:solidFill>
                  <a:srgbClr val="737373"/>
                </a:solidFill>
                <a:latin typeface="Poppins"/>
                <a:ea typeface="Poppins"/>
                <a:cs typeface="Poppins"/>
                <a:sym typeface="Poppins"/>
                <a:hlinkClick r:id="rId13">
                  <a:extLst>
                    <a:ext uri="{A12FA001-AC4F-418D-AE19-62706E023703}">
                      <ahyp:hlinkClr val="tx"/>
                    </a:ext>
                  </a:extLst>
                </a:hlinkClick>
              </a:rPr>
              <a:t>platos o discos</a:t>
            </a:r>
            <a:r>
              <a:rPr b="0" i="0" lang="en-US" sz="3000" u="none" cap="none" strike="noStrike">
                <a:solidFill>
                  <a:srgbClr val="737373"/>
                </a:solidFill>
                <a:latin typeface="Poppins"/>
                <a:ea typeface="Poppins"/>
                <a:cs typeface="Poppins"/>
                <a:sym typeface="Poppins"/>
              </a:rPr>
              <a:t> </a:t>
            </a:r>
            <a:r>
              <a:rPr b="0" i="0" lang="en-US" sz="3000" u="sng" cap="none" strike="noStrike">
                <a:solidFill>
                  <a:srgbClr val="737373"/>
                </a:solidFill>
                <a:latin typeface="Poppins"/>
                <a:ea typeface="Poppins"/>
                <a:cs typeface="Poppins"/>
                <a:sym typeface="Poppins"/>
                <a:hlinkClick r:id="rId14">
                  <a:extLst>
                    <a:ext uri="{A12FA001-AC4F-418D-AE19-62706E023703}">
                      <ahyp:hlinkClr val="tx"/>
                    </a:ext>
                  </a:extLst>
                </a:hlinkClick>
              </a:rPr>
              <a:t>magnéticos</a:t>
            </a:r>
            <a:r>
              <a:rPr b="0" i="0" lang="en-US" sz="3000" u="none" cap="none" strike="noStrike">
                <a:solidFill>
                  <a:srgbClr val="737373"/>
                </a:solidFill>
                <a:latin typeface="Poppins"/>
                <a:ea typeface="Poppins"/>
                <a:cs typeface="Poppins"/>
                <a:sym typeface="Poppins"/>
              </a:rPr>
              <a:t> de las </a:t>
            </a:r>
            <a:r>
              <a:rPr b="0" i="0" lang="en-US" sz="3000" u="sng" cap="none" strike="noStrike">
                <a:solidFill>
                  <a:srgbClr val="737373"/>
                </a:solidFill>
                <a:latin typeface="Poppins"/>
                <a:ea typeface="Poppins"/>
                <a:cs typeface="Poppins"/>
                <a:sym typeface="Poppins"/>
                <a:hlinkClick r:id="rId15">
                  <a:extLst>
                    <a:ext uri="{A12FA001-AC4F-418D-AE19-62706E023703}">
                      <ahyp:hlinkClr val="tx"/>
                    </a:ext>
                  </a:extLst>
                </a:hlinkClick>
              </a:rPr>
              <a:t>unidades de discos duros</a:t>
            </a:r>
            <a:r>
              <a:rPr b="0" i="0" lang="en-US" sz="3000" u="none" cap="none" strike="noStrike">
                <a:solidFill>
                  <a:srgbClr val="737373"/>
                </a:solidFill>
                <a:latin typeface="Poppins"/>
                <a:ea typeface="Poppins"/>
                <a:cs typeface="Poppins"/>
                <a:sym typeface="Poppins"/>
              </a:rPr>
              <a:t> (HDD)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7"/>
          <p:cNvSpPr/>
          <p:nvPr/>
        </p:nvSpPr>
        <p:spPr>
          <a:xfrm>
            <a:off x="-160692" y="-90502"/>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69" name="Google Shape;469;p27"/>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sp>
        <p:nvSpPr>
          <p:cNvPr id="470" name="Google Shape;470;p27"/>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4">
              <a:alphaModFix amt="47000"/>
            </a:blip>
            <a:stretch>
              <a:fillRect b="0" l="0" r="0" t="0"/>
            </a:stretch>
          </a:blipFill>
          <a:ln>
            <a:noFill/>
          </a:ln>
        </p:spPr>
      </p:sp>
      <p:grpSp>
        <p:nvGrpSpPr>
          <p:cNvPr id="471" name="Google Shape;471;p27"/>
          <p:cNvGrpSpPr/>
          <p:nvPr/>
        </p:nvGrpSpPr>
        <p:grpSpPr>
          <a:xfrm>
            <a:off x="-1722197" y="-3678699"/>
            <a:ext cx="6482297" cy="6762426"/>
            <a:chOff x="0" y="0"/>
            <a:chExt cx="8643063" cy="9016568"/>
          </a:xfrm>
        </p:grpSpPr>
        <p:sp>
          <p:nvSpPr>
            <p:cNvPr id="472" name="Google Shape;472;p27"/>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5">
                <a:alphaModFix/>
              </a:blip>
              <a:stretch>
                <a:fillRect b="0" l="0" r="0" t="0"/>
              </a:stretch>
            </a:blipFill>
            <a:ln>
              <a:noFill/>
            </a:ln>
          </p:spPr>
        </p:sp>
        <p:sp>
          <p:nvSpPr>
            <p:cNvPr id="473" name="Google Shape;473;p27"/>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6">
                <a:alphaModFix/>
              </a:blip>
              <a:stretch>
                <a:fillRect b="0" l="0" r="0" t="0"/>
              </a:stretch>
            </a:blipFill>
            <a:ln>
              <a:noFill/>
            </a:ln>
          </p:spPr>
        </p:sp>
      </p:grpSp>
      <p:sp>
        <p:nvSpPr>
          <p:cNvPr id="474" name="Google Shape;474;p27"/>
          <p:cNvSpPr txBox="1"/>
          <p:nvPr/>
        </p:nvSpPr>
        <p:spPr>
          <a:xfrm>
            <a:off x="1028700" y="3255788"/>
            <a:ext cx="10222767" cy="4789678"/>
          </a:xfrm>
          <a:prstGeom prst="rect">
            <a:avLst/>
          </a:prstGeom>
          <a:noFill/>
          <a:ln>
            <a:noFill/>
          </a:ln>
        </p:spPr>
        <p:txBody>
          <a:bodyPr anchorCtr="0" anchor="t" bIns="0" lIns="0" spcFirstLastPara="1" rIns="0" wrap="square" tIns="0">
            <a:spAutoFit/>
          </a:bodyPr>
          <a:lstStyle/>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En su estructura este tipo de dispositivos almacena los datos como un dispositivo flash, reemplazando los mecanismos utilizados por un disco duro tradicional. </a:t>
            </a:r>
            <a:endParaRPr b="0" i="0" sz="1400" u="none" cap="none" strike="noStrike">
              <a:solidFill>
                <a:srgbClr val="000000"/>
              </a:solidFill>
              <a:latin typeface="Arial"/>
              <a:ea typeface="Arial"/>
              <a:cs typeface="Arial"/>
              <a:sym typeface="Arial"/>
            </a:endParaRPr>
          </a:p>
          <a:p>
            <a:pPr indent="0" lvl="0" marL="0" marR="0" rtl="0" algn="just">
              <a:lnSpc>
                <a:spcPct val="118005"/>
              </a:lnSpc>
              <a:spcBef>
                <a:spcPts val="0"/>
              </a:spcBef>
              <a:spcAft>
                <a:spcPts val="0"/>
              </a:spcAft>
              <a:buClr>
                <a:srgbClr val="000000"/>
              </a:buClr>
              <a:buSzPts val="3199"/>
              <a:buFont typeface="Arial"/>
              <a:buNone/>
            </a:pPr>
            <a:r>
              <a:t/>
            </a:r>
            <a:endParaRPr b="0" i="0" sz="3199" u="none" cap="none" strike="noStrike">
              <a:solidFill>
                <a:srgbClr val="737373"/>
              </a:solidFill>
              <a:latin typeface="Poppins"/>
              <a:ea typeface="Poppins"/>
              <a:cs typeface="Poppins"/>
              <a:sym typeface="Poppins"/>
            </a:endParaRPr>
          </a:p>
          <a:p>
            <a:pPr indent="0" lvl="0" marL="0" marR="0" rtl="0" algn="just">
              <a:lnSpc>
                <a:spcPct val="118005"/>
              </a:lnSpc>
              <a:spcBef>
                <a:spcPts val="0"/>
              </a:spcBef>
              <a:spcAft>
                <a:spcPts val="0"/>
              </a:spcAft>
              <a:buClr>
                <a:srgbClr val="000000"/>
              </a:buClr>
              <a:buSzPts val="3199"/>
              <a:buFont typeface="Arial"/>
              <a:buNone/>
            </a:pPr>
            <a:r>
              <a:rPr b="0" i="0" lang="en-US" sz="3199" u="none" cap="none" strike="noStrike">
                <a:solidFill>
                  <a:srgbClr val="737373"/>
                </a:solidFill>
                <a:latin typeface="Poppins"/>
                <a:ea typeface="Poppins"/>
                <a:cs typeface="Poppins"/>
                <a:sym typeface="Poppins"/>
              </a:rPr>
              <a:t>Su mejor característica es su alta capacidad para la manipulación de la información, lo cual beneficia gratamente a los equipos consiguiendo menores tiempos en el encendido, tiempos de espera, copia de información, etc</a:t>
            </a:r>
            <a:endParaRPr b="0" i="0" sz="1400" u="none" cap="none" strike="noStrike">
              <a:solidFill>
                <a:srgbClr val="000000"/>
              </a:solidFill>
              <a:latin typeface="Arial"/>
              <a:ea typeface="Arial"/>
              <a:cs typeface="Arial"/>
              <a:sym typeface="Arial"/>
            </a:endParaRPr>
          </a:p>
        </p:txBody>
      </p:sp>
      <p:sp>
        <p:nvSpPr>
          <p:cNvPr id="475" name="Google Shape;475;p27"/>
          <p:cNvSpPr/>
          <p:nvPr/>
        </p:nvSpPr>
        <p:spPr>
          <a:xfrm>
            <a:off x="13079519" y="6641963"/>
            <a:ext cx="4773080" cy="3089484"/>
          </a:xfrm>
          <a:custGeom>
            <a:rect b="b" l="l" r="r" t="t"/>
            <a:pathLst>
              <a:path extrusionOk="0" h="3089484" w="4773080">
                <a:moveTo>
                  <a:pt x="0" y="0"/>
                </a:moveTo>
                <a:lnTo>
                  <a:pt x="4773080" y="0"/>
                </a:lnTo>
                <a:lnTo>
                  <a:pt x="4773080" y="3089485"/>
                </a:lnTo>
                <a:lnTo>
                  <a:pt x="0" y="3089485"/>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8"/>
          <p:cNvSpPr/>
          <p:nvPr/>
        </p:nvSpPr>
        <p:spPr>
          <a:xfrm>
            <a:off x="0" y="-184968"/>
            <a:ext cx="18593584" cy="10471968"/>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481" name="Google Shape;481;p28"/>
          <p:cNvSpPr/>
          <p:nvPr/>
        </p:nvSpPr>
        <p:spPr>
          <a:xfrm rot="-2308677">
            <a:off x="9698130" y="2166602"/>
            <a:ext cx="12650197" cy="9568149"/>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6999"/>
            </a:blip>
            <a:stretch>
              <a:fillRect b="0" l="0" r="0" t="0"/>
            </a:stretch>
          </a:blipFill>
          <a:ln>
            <a:noFill/>
          </a:ln>
        </p:spPr>
      </p:sp>
      <p:grpSp>
        <p:nvGrpSpPr>
          <p:cNvPr id="482" name="Google Shape;482;p28"/>
          <p:cNvGrpSpPr/>
          <p:nvPr/>
        </p:nvGrpSpPr>
        <p:grpSpPr>
          <a:xfrm rot="9869556">
            <a:off x="14431083" y="6569611"/>
            <a:ext cx="6482297" cy="6762426"/>
            <a:chOff x="0" y="0"/>
            <a:chExt cx="8643063" cy="9016568"/>
          </a:xfrm>
        </p:grpSpPr>
        <p:sp>
          <p:nvSpPr>
            <p:cNvPr id="483" name="Google Shape;483;p28"/>
            <p:cNvSpPr/>
            <p:nvPr/>
          </p:nvSpPr>
          <p:spPr>
            <a:xfrm rot="9451627">
              <a:off x="759373" y="2470974"/>
              <a:ext cx="7124318" cy="5388575"/>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484" name="Google Shape;484;p2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485" name="Google Shape;485;p2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486" name="Google Shape;486;p28"/>
          <p:cNvSpPr txBox="1"/>
          <p:nvPr/>
        </p:nvSpPr>
        <p:spPr>
          <a:xfrm>
            <a:off x="3686177" y="3456863"/>
            <a:ext cx="10915646"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Unidades de estado solido (SSD)</a:t>
            </a:r>
            <a:endParaRPr b="0" i="0" sz="1400" u="none" cap="none" strike="noStrike">
              <a:solidFill>
                <a:srgbClr val="000000"/>
              </a:solidFill>
              <a:latin typeface="Arial"/>
              <a:ea typeface="Arial"/>
              <a:cs typeface="Arial"/>
              <a:sym typeface="Arial"/>
            </a:endParaRPr>
          </a:p>
        </p:txBody>
      </p:sp>
      <p:sp>
        <p:nvSpPr>
          <p:cNvPr id="487" name="Google Shape;487;p28"/>
          <p:cNvSpPr txBox="1"/>
          <p:nvPr/>
        </p:nvSpPr>
        <p:spPr>
          <a:xfrm>
            <a:off x="1425541"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Ventajas</a:t>
            </a:r>
            <a:endParaRPr b="0" i="0" sz="1400" u="none" cap="none" strike="noStrike">
              <a:solidFill>
                <a:srgbClr val="000000"/>
              </a:solidFill>
              <a:latin typeface="Arial"/>
              <a:ea typeface="Arial"/>
              <a:cs typeface="Arial"/>
              <a:sym typeface="Arial"/>
            </a:endParaRPr>
          </a:p>
        </p:txBody>
      </p:sp>
      <p:sp>
        <p:nvSpPr>
          <p:cNvPr id="488" name="Google Shape;488;p28"/>
          <p:cNvSpPr txBox="1"/>
          <p:nvPr/>
        </p:nvSpPr>
        <p:spPr>
          <a:xfrm>
            <a:off x="9199940" y="5659148"/>
            <a:ext cx="4313520" cy="638175"/>
          </a:xfrm>
          <a:prstGeom prst="rect">
            <a:avLst/>
          </a:prstGeom>
          <a:noFill/>
          <a:ln>
            <a:noFill/>
          </a:ln>
        </p:spPr>
        <p:txBody>
          <a:bodyPr anchorCtr="0" anchor="t" bIns="0" lIns="0" spcFirstLastPara="1" rIns="0" wrap="square" tIns="0">
            <a:spAutoFit/>
          </a:bodyPr>
          <a:lstStyle/>
          <a:p>
            <a:pPr indent="0" lvl="0" marL="0" marR="0" rtl="0" algn="ctr">
              <a:lnSpc>
                <a:spcPct val="120005"/>
              </a:lnSpc>
              <a:spcBef>
                <a:spcPts val="0"/>
              </a:spcBef>
              <a:spcAft>
                <a:spcPts val="0"/>
              </a:spcAft>
              <a:buClr>
                <a:srgbClr val="000000"/>
              </a:buClr>
              <a:buSzPts val="3999"/>
              <a:buFont typeface="Arial"/>
              <a:buNone/>
            </a:pPr>
            <a:r>
              <a:rPr b="1" i="1" lang="en-US" sz="3999" u="none" cap="none" strike="noStrike">
                <a:solidFill>
                  <a:srgbClr val="1B4A9B"/>
                </a:solidFill>
                <a:latin typeface="Poppins"/>
                <a:ea typeface="Poppins"/>
                <a:cs typeface="Poppins"/>
                <a:sym typeface="Poppins"/>
              </a:rPr>
              <a:t>Desventajas</a:t>
            </a:r>
            <a:endParaRPr b="0" i="0" sz="1400" u="none" cap="none" strike="noStrike">
              <a:solidFill>
                <a:srgbClr val="000000"/>
              </a:solidFill>
              <a:latin typeface="Arial"/>
              <a:ea typeface="Arial"/>
              <a:cs typeface="Arial"/>
              <a:sym typeface="Arial"/>
            </a:endParaRPr>
          </a:p>
        </p:txBody>
      </p:sp>
      <p:sp>
        <p:nvSpPr>
          <p:cNvPr id="489" name="Google Shape;489;p28"/>
          <p:cNvSpPr txBox="1"/>
          <p:nvPr/>
        </p:nvSpPr>
        <p:spPr>
          <a:xfrm>
            <a:off x="1425541" y="6740460"/>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Alta capacidad de lectura y escritura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Bajo consumo de energía</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Compactos</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Duraderos </a:t>
            </a:r>
            <a:endParaRPr b="0" i="0" sz="1400" u="none" cap="none" strike="noStrike">
              <a:solidFill>
                <a:srgbClr val="000000"/>
              </a:solidFill>
              <a:latin typeface="Arial"/>
              <a:ea typeface="Arial"/>
              <a:cs typeface="Arial"/>
              <a:sym typeface="Arial"/>
            </a:endParaRPr>
          </a:p>
        </p:txBody>
      </p:sp>
      <p:sp>
        <p:nvSpPr>
          <p:cNvPr id="490" name="Google Shape;490;p28"/>
          <p:cNvSpPr txBox="1"/>
          <p:nvPr/>
        </p:nvSpPr>
        <p:spPr>
          <a:xfrm>
            <a:off x="9649643" y="6882052"/>
            <a:ext cx="11385267" cy="1719580"/>
          </a:xfrm>
          <a:prstGeom prst="rect">
            <a:avLst/>
          </a:prstGeom>
          <a:noFill/>
          <a:ln>
            <a:noFill/>
          </a:ln>
        </p:spPr>
        <p:txBody>
          <a:bodyPr anchorCtr="0" anchor="t" bIns="0" lIns="0" spcFirstLastPara="1" rIns="0" wrap="square" tIns="0">
            <a:spAutoFit/>
          </a:bodyPr>
          <a:lstStyle/>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Alto costo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Menos ciclos de escritura y borrado</a:t>
            </a:r>
            <a:endParaRPr b="0" i="0" sz="1400" u="none" cap="none" strike="noStrike">
              <a:solidFill>
                <a:srgbClr val="000000"/>
              </a:solidFill>
              <a:latin typeface="Arial"/>
              <a:ea typeface="Arial"/>
              <a:cs typeface="Arial"/>
              <a:sym typeface="Arial"/>
            </a:endParaRPr>
          </a:p>
          <a:p>
            <a:pPr indent="-280671" lvl="1" marL="561342" marR="0" rtl="0" algn="just">
              <a:lnSpc>
                <a:spcPct val="130000"/>
              </a:lnSpc>
              <a:spcBef>
                <a:spcPts val="0"/>
              </a:spcBef>
              <a:spcAft>
                <a:spcPts val="0"/>
              </a:spcAft>
              <a:buClr>
                <a:srgbClr val="737373"/>
              </a:buClr>
              <a:buSzPts val="2600"/>
              <a:buFont typeface="Arial"/>
              <a:buChar char="•"/>
            </a:pPr>
            <a:r>
              <a:rPr b="0" i="0" lang="en-US" sz="2600" u="none" cap="none" strike="noStrike">
                <a:solidFill>
                  <a:srgbClr val="737373"/>
                </a:solidFill>
                <a:latin typeface="Poppins"/>
                <a:ea typeface="Poppins"/>
                <a:cs typeface="Poppins"/>
                <a:sym typeface="Poppins"/>
              </a:rPr>
              <a:t>Difícil recuperación de datos</a:t>
            </a:r>
            <a:endParaRPr b="0" i="0" sz="1400" u="none" cap="none" strike="noStrike">
              <a:solidFill>
                <a:srgbClr val="000000"/>
              </a:solidFill>
              <a:latin typeface="Arial"/>
              <a:ea typeface="Arial"/>
              <a:cs typeface="Arial"/>
              <a:sym typeface="Arial"/>
            </a:endParaRPr>
          </a:p>
          <a:p>
            <a:pPr indent="0" lvl="0" marL="0" marR="0" rtl="0" algn="just">
              <a:lnSpc>
                <a:spcPct val="130000"/>
              </a:lnSpc>
              <a:spcBef>
                <a:spcPts val="0"/>
              </a:spcBef>
              <a:spcAft>
                <a:spcPts val="0"/>
              </a:spcAft>
              <a:buClr>
                <a:srgbClr val="000000"/>
              </a:buClr>
              <a:buSzPts val="2600"/>
              <a:buFont typeface="Arial"/>
              <a:buNone/>
            </a:pPr>
            <a:r>
              <a:t/>
            </a:r>
            <a:endParaRPr b="0" i="0" sz="2600" u="none" cap="none" strike="noStrike">
              <a:solidFill>
                <a:srgbClr val="737373"/>
              </a:solidFill>
              <a:latin typeface="Poppins"/>
              <a:ea typeface="Poppins"/>
              <a:cs typeface="Poppins"/>
              <a:sym typeface="Poppins"/>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g35d9113ccd5_3_36"/>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i="0" lang="en-US" sz="6900" u="none" cap="none" strike="noStrike">
                <a:solidFill>
                  <a:srgbClr val="131416"/>
                </a:solidFill>
                <a:latin typeface="Impact"/>
                <a:ea typeface="Impact"/>
                <a:cs typeface="Impact"/>
                <a:sym typeface="Impact"/>
              </a:rPr>
              <a:t>CONCEPTOS CLAVE APRENDIDOS </a:t>
            </a:r>
            <a:endParaRPr>
              <a:latin typeface="Impact"/>
              <a:ea typeface="Impact"/>
              <a:cs typeface="Impact"/>
              <a:sym typeface="Impact"/>
            </a:endParaRPr>
          </a:p>
        </p:txBody>
      </p:sp>
      <p:sp>
        <p:nvSpPr>
          <p:cNvPr id="496" name="Google Shape;496;g35d9113ccd5_3_36"/>
          <p:cNvSpPr txBox="1"/>
          <p:nvPr/>
        </p:nvSpPr>
        <p:spPr>
          <a:xfrm>
            <a:off x="6212437" y="3860833"/>
            <a:ext cx="6911400" cy="3201600"/>
          </a:xfrm>
          <a:prstGeom prst="rect">
            <a:avLst/>
          </a:prstGeom>
          <a:noFill/>
          <a:ln>
            <a:noFill/>
          </a:ln>
        </p:spPr>
        <p:txBody>
          <a:bodyPr anchorCtr="0" anchor="t" bIns="0" lIns="0" spcFirstLastPara="1" rIns="0" wrap="square" tIns="0">
            <a:spAutoFit/>
          </a:bodyPr>
          <a:lstStyle/>
          <a:p>
            <a:pPr indent="0" lvl="0" marL="0" marR="0" rtl="0" algn="ctr">
              <a:lnSpc>
                <a:spcPct val="140019"/>
              </a:lnSpc>
              <a:spcBef>
                <a:spcPts val="0"/>
              </a:spcBef>
              <a:spcAft>
                <a:spcPts val="0"/>
              </a:spcAft>
              <a:buNone/>
            </a:pPr>
            <a:r>
              <a:rPr lang="en-US" sz="3151">
                <a:solidFill>
                  <a:srgbClr val="131416"/>
                </a:solidFill>
              </a:rPr>
              <a:t>Almacenamiento primario y secundario y las diferencias, ventajas y desventajas de los discos duros (HDD) vs los discos </a:t>
            </a:r>
            <a:r>
              <a:rPr lang="en-US" sz="3151">
                <a:solidFill>
                  <a:srgbClr val="131416"/>
                </a:solidFill>
              </a:rPr>
              <a:t>de</a:t>
            </a:r>
            <a:r>
              <a:rPr lang="en-US" sz="3151">
                <a:solidFill>
                  <a:srgbClr val="131416"/>
                </a:solidFill>
              </a:rPr>
              <a:t> estado </a:t>
            </a:r>
            <a:r>
              <a:rPr lang="en-US" sz="3151">
                <a:solidFill>
                  <a:srgbClr val="131416"/>
                </a:solidFill>
              </a:rPr>
              <a:t>sólido</a:t>
            </a:r>
            <a:r>
              <a:rPr lang="en-US" sz="3151">
                <a:solidFill>
                  <a:srgbClr val="131416"/>
                </a:solidFill>
              </a:rPr>
              <a:t> (SSD)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g35d9113ccd5_1_698"/>
          <p:cNvSpPr/>
          <p:nvPr/>
        </p:nvSpPr>
        <p:spPr>
          <a:xfrm>
            <a:off x="0" y="-184968"/>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502" name="Google Shape;502;g35d9113ccd5_1_698"/>
          <p:cNvSpPr/>
          <p:nvPr/>
        </p:nvSpPr>
        <p:spPr>
          <a:xfrm>
            <a:off x="0" y="-184968"/>
            <a:ext cx="18596770" cy="10473763"/>
          </a:xfrm>
          <a:custGeom>
            <a:rect b="b" l="l" r="r" t="t"/>
            <a:pathLst>
              <a:path extrusionOk="0" h="1913890" w="3398222">
                <a:moveTo>
                  <a:pt x="0" y="0"/>
                </a:moveTo>
                <a:lnTo>
                  <a:pt x="3398222" y="0"/>
                </a:lnTo>
                <a:lnTo>
                  <a:pt x="3398222" y="1913890"/>
                </a:lnTo>
                <a:lnTo>
                  <a:pt x="0" y="1913890"/>
                </a:lnTo>
                <a:close/>
              </a:path>
            </a:pathLst>
          </a:custGeom>
          <a:solidFill>
            <a:srgbClr val="D9D9D9">
              <a:alpha val="47450"/>
            </a:srgbClr>
          </a:solidFill>
          <a:ln>
            <a:noFill/>
          </a:ln>
        </p:spPr>
      </p:sp>
      <p:sp>
        <p:nvSpPr>
          <p:cNvPr id="503" name="Google Shape;503;g35d9113ccd5_1_698"/>
          <p:cNvSpPr txBox="1"/>
          <p:nvPr/>
        </p:nvSpPr>
        <p:spPr>
          <a:xfrm>
            <a:off x="4828925" y="1950450"/>
            <a:ext cx="9060000" cy="90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700">
                <a:solidFill>
                  <a:schemeClr val="dk1"/>
                </a:solidFill>
                <a:latin typeface="Calibri"/>
                <a:ea typeface="Calibri"/>
                <a:cs typeface="Calibri"/>
                <a:sym typeface="Calibri"/>
              </a:rPr>
              <a:t>Toma de Decisiones Tecnológicas</a:t>
            </a:r>
            <a:endParaRPr b="1" sz="4700">
              <a:solidFill>
                <a:schemeClr val="dk1"/>
              </a:solidFill>
              <a:latin typeface="Calibri"/>
              <a:ea typeface="Calibri"/>
              <a:cs typeface="Calibri"/>
              <a:sym typeface="Calibri"/>
            </a:endParaRPr>
          </a:p>
        </p:txBody>
      </p:sp>
      <p:sp>
        <p:nvSpPr>
          <p:cNvPr id="504" name="Google Shape;504;g35d9113ccd5_1_698"/>
          <p:cNvSpPr/>
          <p:nvPr/>
        </p:nvSpPr>
        <p:spPr>
          <a:xfrm rot="-2310192">
            <a:off x="9697895" y="2163575"/>
            <a:ext cx="12649011" cy="9567252"/>
          </a:xfrm>
          <a:custGeom>
            <a:rect b="b" l="l" r="r" t="t"/>
            <a:pathLst>
              <a:path extrusionOk="0" h="9568149" w="12650197">
                <a:moveTo>
                  <a:pt x="0" y="0"/>
                </a:moveTo>
                <a:lnTo>
                  <a:pt x="12650197" y="0"/>
                </a:lnTo>
                <a:lnTo>
                  <a:pt x="12650197" y="9568149"/>
                </a:lnTo>
                <a:lnTo>
                  <a:pt x="0" y="9568149"/>
                </a:lnTo>
                <a:lnTo>
                  <a:pt x="0" y="0"/>
                </a:lnTo>
                <a:close/>
              </a:path>
            </a:pathLst>
          </a:custGeom>
          <a:blipFill rotWithShape="1">
            <a:blip r:embed="rId3">
              <a:alphaModFix amt="7000"/>
            </a:blip>
            <a:stretch>
              <a:fillRect b="0" l="0" r="0" t="0"/>
            </a:stretch>
          </a:blipFill>
          <a:ln>
            <a:noFill/>
          </a:ln>
        </p:spPr>
      </p:sp>
      <p:grpSp>
        <p:nvGrpSpPr>
          <p:cNvPr id="505" name="Google Shape;505;g35d9113ccd5_1_698"/>
          <p:cNvGrpSpPr/>
          <p:nvPr/>
        </p:nvGrpSpPr>
        <p:grpSpPr>
          <a:xfrm rot="9869657">
            <a:off x="14430890" y="6567375"/>
            <a:ext cx="6488317" cy="6763755"/>
            <a:chOff x="-8061" y="0"/>
            <a:chExt cx="8651124" cy="9018376"/>
          </a:xfrm>
        </p:grpSpPr>
        <p:sp>
          <p:nvSpPr>
            <p:cNvPr id="506" name="Google Shape;506;g35d9113ccd5_1_698"/>
            <p:cNvSpPr/>
            <p:nvPr/>
          </p:nvSpPr>
          <p:spPr>
            <a:xfrm rot="9452055">
              <a:off x="751904" y="2466747"/>
              <a:ext cx="7131194" cy="5393776"/>
            </a:xfrm>
            <a:custGeom>
              <a:rect b="b" l="l" r="r" t="t"/>
              <a:pathLst>
                <a:path extrusionOk="0" h="5388575" w="7124318">
                  <a:moveTo>
                    <a:pt x="0" y="0"/>
                  </a:moveTo>
                  <a:lnTo>
                    <a:pt x="7124317" y="0"/>
                  </a:lnTo>
                  <a:lnTo>
                    <a:pt x="7124317" y="5388575"/>
                  </a:lnTo>
                  <a:lnTo>
                    <a:pt x="0" y="5388575"/>
                  </a:lnTo>
                  <a:lnTo>
                    <a:pt x="0" y="0"/>
                  </a:lnTo>
                  <a:close/>
                </a:path>
              </a:pathLst>
            </a:custGeom>
            <a:blipFill rotWithShape="1">
              <a:blip r:embed="rId4">
                <a:alphaModFix/>
              </a:blip>
              <a:stretch>
                <a:fillRect b="0" l="0" r="0" t="0"/>
              </a:stretch>
            </a:blipFill>
            <a:ln>
              <a:noFill/>
            </a:ln>
          </p:spPr>
        </p:sp>
        <p:sp>
          <p:nvSpPr>
            <p:cNvPr id="507" name="Google Shape;507;g35d9113ccd5_1_698"/>
            <p:cNvSpPr/>
            <p:nvPr/>
          </p:nvSpPr>
          <p:spPr>
            <a:xfrm>
              <a:off x="400428" y="0"/>
              <a:ext cx="7046798" cy="7008361"/>
            </a:xfrm>
            <a:custGeom>
              <a:rect b="b" l="l" r="r" t="t"/>
              <a:pathLst>
                <a:path extrusionOk="0" h="7008361" w="7046798">
                  <a:moveTo>
                    <a:pt x="0" y="0"/>
                  </a:moveTo>
                  <a:lnTo>
                    <a:pt x="7046798" y="0"/>
                  </a:lnTo>
                  <a:lnTo>
                    <a:pt x="7046798" y="7008361"/>
                  </a:lnTo>
                  <a:lnTo>
                    <a:pt x="0" y="7008361"/>
                  </a:lnTo>
                  <a:lnTo>
                    <a:pt x="0" y="0"/>
                  </a:lnTo>
                  <a:close/>
                </a:path>
              </a:pathLst>
            </a:custGeom>
            <a:blipFill rotWithShape="1">
              <a:blip r:embed="rId5">
                <a:alphaModFix/>
              </a:blip>
              <a:stretch>
                <a:fillRect b="0" l="0" r="0" t="0"/>
              </a:stretch>
            </a:blipFill>
            <a:ln>
              <a:noFill/>
            </a:ln>
          </p:spPr>
        </p:sp>
      </p:grpSp>
      <p:sp>
        <p:nvSpPr>
          <p:cNvPr id="508" name="Google Shape;508;g35d9113ccd5_1_698"/>
          <p:cNvSpPr/>
          <p:nvPr/>
        </p:nvSpPr>
        <p:spPr>
          <a:xfrm>
            <a:off x="10087911" y="-4008763"/>
            <a:ext cx="4828984" cy="4820204"/>
          </a:xfrm>
          <a:custGeom>
            <a:rect b="b" l="l" r="r" t="t"/>
            <a:pathLst>
              <a:path extrusionOk="0" h="4820204" w="4828984">
                <a:moveTo>
                  <a:pt x="0" y="0"/>
                </a:moveTo>
                <a:lnTo>
                  <a:pt x="4828984" y="0"/>
                </a:lnTo>
                <a:lnTo>
                  <a:pt x="4828984" y="4820204"/>
                </a:lnTo>
                <a:lnTo>
                  <a:pt x="0" y="4820204"/>
                </a:lnTo>
                <a:lnTo>
                  <a:pt x="0" y="0"/>
                </a:lnTo>
                <a:close/>
              </a:path>
            </a:pathLst>
          </a:custGeom>
          <a:blipFill rotWithShape="1">
            <a:blip r:embed="rId6">
              <a:alphaModFix amt="47000"/>
            </a:blip>
            <a:stretch>
              <a:fillRect b="0" l="0" r="0" t="0"/>
            </a:stretch>
          </a:blipFill>
          <a:ln>
            <a:noFill/>
          </a:ln>
        </p:spPr>
      </p:sp>
      <p:sp>
        <p:nvSpPr>
          <p:cNvPr id="509" name="Google Shape;509;g35d9113ccd5_1_698"/>
          <p:cNvSpPr txBox="1"/>
          <p:nvPr/>
        </p:nvSpPr>
        <p:spPr>
          <a:xfrm>
            <a:off x="2174275" y="4143375"/>
            <a:ext cx="136218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La selección de soluciones de almacenamiento requiere comparar tecnologías físicas y virtualizadas, evaluando ventajas, desventajas y evolución de dispositivos como HDD, SDD, almacenamiento distribuido y  en la nube. Este valor </a:t>
            </a:r>
            <a:r>
              <a:rPr lang="en-US" sz="3200">
                <a:solidFill>
                  <a:schemeClr val="dk1"/>
                </a:solidFill>
                <a:latin typeface="Calibri"/>
                <a:ea typeface="Calibri"/>
                <a:cs typeface="Calibri"/>
                <a:sym typeface="Calibri"/>
              </a:rPr>
              <a:t>permitirá</a:t>
            </a:r>
            <a:r>
              <a:rPr lang="en-US" sz="3200">
                <a:solidFill>
                  <a:schemeClr val="dk1"/>
                </a:solidFill>
                <a:latin typeface="Calibri"/>
                <a:ea typeface="Calibri"/>
                <a:cs typeface="Calibri"/>
                <a:sym typeface="Calibri"/>
              </a:rPr>
              <a:t> a los estudiantes diseñar infraestructuras eligiendo las mejores opciones según las necesidades de cada sistema.</a:t>
            </a:r>
            <a:endParaRPr sz="3200">
              <a:solidFill>
                <a:schemeClr val="dk1"/>
              </a:solidFill>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5d9113ccd5_1_371"/>
          <p:cNvSpPr txBox="1"/>
          <p:nvPr/>
        </p:nvSpPr>
        <p:spPr>
          <a:xfrm>
            <a:off x="2507390" y="1000125"/>
            <a:ext cx="13503300" cy="1062000"/>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Clr>
                <a:srgbClr val="000000"/>
              </a:buClr>
              <a:buSzPts val="6900"/>
              <a:buFont typeface="Arial"/>
              <a:buNone/>
            </a:pPr>
            <a:r>
              <a:rPr b="0" i="0" lang="en-US" sz="6900" u="none" cap="none" strike="noStrike">
                <a:solidFill>
                  <a:srgbClr val="131416"/>
                </a:solidFill>
                <a:latin typeface="Arial"/>
                <a:ea typeface="Arial"/>
                <a:cs typeface="Arial"/>
                <a:sym typeface="Arial"/>
              </a:rPr>
              <a:t>REFERENCIAS </a:t>
            </a:r>
            <a:endParaRPr b="0" i="0" sz="1400" u="none" cap="none" strike="noStrike">
              <a:solidFill>
                <a:srgbClr val="000000"/>
              </a:solidFill>
              <a:latin typeface="Arial"/>
              <a:ea typeface="Arial"/>
              <a:cs typeface="Arial"/>
              <a:sym typeface="Arial"/>
            </a:endParaRPr>
          </a:p>
        </p:txBody>
      </p:sp>
      <p:sp>
        <p:nvSpPr>
          <p:cNvPr id="515" name="Google Shape;515;g35d9113ccd5_1_371"/>
          <p:cNvSpPr txBox="1"/>
          <p:nvPr/>
        </p:nvSpPr>
        <p:spPr>
          <a:xfrm>
            <a:off x="1467576" y="3717851"/>
            <a:ext cx="15514500" cy="2929200"/>
          </a:xfrm>
          <a:prstGeom prst="rect">
            <a:avLst/>
          </a:prstGeom>
          <a:noFill/>
          <a:ln>
            <a:noFill/>
          </a:ln>
        </p:spPr>
        <p:txBody>
          <a:bodyPr anchorCtr="0" anchor="t" bIns="0" lIns="0" spcFirstLastPara="1" rIns="0" wrap="square" tIns="0">
            <a:spAutoFit/>
          </a:bodyPr>
          <a:lstStyle/>
          <a:p>
            <a:pPr indent="0" lvl="0" marL="457200" rtl="0" algn="l">
              <a:lnSpc>
                <a:spcPct val="115000"/>
              </a:lnSpc>
              <a:spcBef>
                <a:spcPts val="1200"/>
              </a:spcBef>
              <a:spcAft>
                <a:spcPts val="0"/>
              </a:spcAft>
              <a:buNone/>
            </a:pPr>
            <a:r>
              <a:t/>
            </a:r>
            <a:endParaRPr sz="1100">
              <a:solidFill>
                <a:schemeClr val="dk1"/>
              </a:solidFill>
            </a:endParaRPr>
          </a:p>
          <a:p>
            <a:pPr indent="-342900" lvl="0" marL="457200" rtl="0" algn="l">
              <a:lnSpc>
                <a:spcPct val="115000"/>
              </a:lnSpc>
              <a:spcBef>
                <a:spcPts val="1200"/>
              </a:spcBef>
              <a:spcAft>
                <a:spcPts val="0"/>
              </a:spcAft>
              <a:buSzPts val="1800"/>
              <a:buChar char="●"/>
            </a:pPr>
            <a:r>
              <a:rPr b="1" lang="en-US" sz="1800">
                <a:solidFill>
                  <a:schemeClr val="dk1"/>
                </a:solidFill>
              </a:rPr>
              <a:t>1.</a:t>
            </a:r>
            <a:r>
              <a:rPr lang="en-US" sz="1800">
                <a:solidFill>
                  <a:schemeClr val="dk1"/>
                </a:solidFill>
              </a:rPr>
              <a:t> Silberschatz, A., Galvin, P. B., &amp; Gagne, G. (2020). </a:t>
            </a:r>
            <a:r>
              <a:rPr i="1" lang="en-US" sz="1800">
                <a:solidFill>
                  <a:schemeClr val="dk1"/>
                </a:solidFill>
              </a:rPr>
              <a:t>Operating system concepts</a:t>
            </a:r>
            <a:r>
              <a:rPr lang="en-US" sz="1800">
                <a:solidFill>
                  <a:schemeClr val="dk1"/>
                </a:solidFill>
              </a:rPr>
              <a:t> (10th ed.). Wiley.</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SzPts val="1800"/>
              <a:buChar char="●"/>
            </a:pPr>
            <a:r>
              <a:rPr b="1" lang="en-US" sz="1800">
                <a:solidFill>
                  <a:schemeClr val="dk1"/>
                </a:solidFill>
              </a:rPr>
              <a:t>2.</a:t>
            </a:r>
            <a:r>
              <a:rPr lang="en-US" sz="1800">
                <a:solidFill>
                  <a:schemeClr val="dk1"/>
                </a:solidFill>
              </a:rPr>
              <a:t> Stallings, W. (2018). </a:t>
            </a:r>
            <a:r>
              <a:rPr i="1" lang="en-US" sz="1800">
                <a:solidFill>
                  <a:schemeClr val="dk1"/>
                </a:solidFill>
              </a:rPr>
              <a:t>Operating systems: Internals and design principles</a:t>
            </a:r>
            <a:r>
              <a:rPr lang="en-US" sz="1800">
                <a:solidFill>
                  <a:schemeClr val="dk1"/>
                </a:solidFill>
              </a:rPr>
              <a:t> (9th ed.). Pearson.</a:t>
            </a:r>
            <a:br>
              <a:rPr lang="en-US" sz="1800">
                <a:solidFill>
                  <a:schemeClr val="dk1"/>
                </a:solidFill>
              </a:rPr>
            </a:br>
            <a:endParaRPr sz="1800">
              <a:solidFill>
                <a:schemeClr val="dk1"/>
              </a:solidFill>
            </a:endParaRPr>
          </a:p>
          <a:p>
            <a:pPr indent="-342900" lvl="0" marL="457200" rtl="0" algn="l">
              <a:lnSpc>
                <a:spcPct val="115000"/>
              </a:lnSpc>
              <a:spcBef>
                <a:spcPts val="0"/>
              </a:spcBef>
              <a:spcAft>
                <a:spcPts val="0"/>
              </a:spcAft>
              <a:buSzPts val="1800"/>
              <a:buChar char="●"/>
            </a:pPr>
            <a:r>
              <a:rPr b="1" lang="en-US" sz="1800">
                <a:solidFill>
                  <a:schemeClr val="dk1"/>
                </a:solidFill>
              </a:rPr>
              <a:t>3.</a:t>
            </a:r>
            <a:r>
              <a:rPr lang="en-US" sz="1800">
                <a:solidFill>
                  <a:schemeClr val="dk1"/>
                </a:solidFill>
              </a:rPr>
              <a:t> Tanenbaum, A. S., &amp; Bos, H. (2015). </a:t>
            </a:r>
            <a:r>
              <a:rPr i="1" lang="en-US" sz="1800">
                <a:solidFill>
                  <a:schemeClr val="dk1"/>
                </a:solidFill>
              </a:rPr>
              <a:t>Modern operating systems</a:t>
            </a:r>
            <a:r>
              <a:rPr lang="en-US" sz="1800">
                <a:solidFill>
                  <a:schemeClr val="dk1"/>
                </a:solidFill>
              </a:rPr>
              <a:t> (4th ed.). Pearson.</a:t>
            </a:r>
            <a:endParaRPr sz="1800">
              <a:solidFill>
                <a:schemeClr val="dk1"/>
              </a:solidFill>
            </a:endParaRPr>
          </a:p>
          <a:p>
            <a:pPr indent="0" lvl="0" marL="457200" rtl="0" algn="l">
              <a:lnSpc>
                <a:spcPct val="115000"/>
              </a:lnSpc>
              <a:spcBef>
                <a:spcPts val="1200"/>
              </a:spcBef>
              <a:spcAft>
                <a:spcPts val="0"/>
              </a:spcAft>
              <a:buNone/>
            </a:pPr>
            <a:r>
              <a:t/>
            </a:r>
            <a:endParaRPr sz="1100">
              <a:solidFill>
                <a:schemeClr val="dk1"/>
              </a:solidFill>
            </a:endParaRPr>
          </a:p>
          <a:p>
            <a:pPr indent="0" lvl="0" marL="457200" marR="0" rtl="0" algn="ctr">
              <a:lnSpc>
                <a:spcPct val="140019"/>
              </a:lnSpc>
              <a:spcBef>
                <a:spcPts val="1200"/>
              </a:spcBef>
              <a:spcAft>
                <a:spcPts val="0"/>
              </a:spcAft>
              <a:buNone/>
            </a:pPr>
            <a:r>
              <a:t/>
            </a:r>
            <a:endParaRPr sz="3151">
              <a:solidFill>
                <a:srgbClr val="131416"/>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35d9113ccd5_1_45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38867" l="0" r="0" t="-38878"/>
            </a:stretch>
          </a:blipFill>
          <a:ln>
            <a:noFill/>
          </a:ln>
        </p:spPr>
      </p:sp>
      <p:sp>
        <p:nvSpPr>
          <p:cNvPr id="521" name="Google Shape;521;g35d9113ccd5_1_451"/>
          <p:cNvSpPr/>
          <p:nvPr/>
        </p:nvSpPr>
        <p:spPr>
          <a:xfrm>
            <a:off x="-160692" y="-149623"/>
            <a:ext cx="18606025" cy="10589664"/>
          </a:xfrm>
          <a:custGeom>
            <a:rect b="b" l="l" r="r" t="t"/>
            <a:pathLst>
              <a:path extrusionOk="0" h="1970170" w="3461586">
                <a:moveTo>
                  <a:pt x="0" y="0"/>
                </a:moveTo>
                <a:lnTo>
                  <a:pt x="3461586" y="0"/>
                </a:lnTo>
                <a:lnTo>
                  <a:pt x="3461586" y="1970170"/>
                </a:lnTo>
                <a:lnTo>
                  <a:pt x="0" y="1970170"/>
                </a:lnTo>
                <a:close/>
              </a:path>
            </a:pathLst>
          </a:custGeom>
          <a:solidFill>
            <a:srgbClr val="14056D">
              <a:alpha val="18040"/>
            </a:srgbClr>
          </a:solidFill>
          <a:ln>
            <a:noFill/>
          </a:ln>
        </p:spPr>
      </p:sp>
      <p:sp>
        <p:nvSpPr>
          <p:cNvPr id="522" name="Google Shape;522;g35d9113ccd5_1_451"/>
          <p:cNvSpPr/>
          <p:nvPr/>
        </p:nvSpPr>
        <p:spPr>
          <a:xfrm rot="-2310192">
            <a:off x="9580234" y="2202005"/>
            <a:ext cx="12649011" cy="9567252"/>
          </a:xfrm>
          <a:custGeom>
            <a:rect b="b" l="l" r="r" t="t"/>
            <a:pathLst>
              <a:path extrusionOk="0" h="9568149" w="12650197">
                <a:moveTo>
                  <a:pt x="0" y="0"/>
                </a:moveTo>
                <a:lnTo>
                  <a:pt x="12650196" y="0"/>
                </a:lnTo>
                <a:lnTo>
                  <a:pt x="12650196" y="9568148"/>
                </a:lnTo>
                <a:lnTo>
                  <a:pt x="0" y="9568148"/>
                </a:lnTo>
                <a:lnTo>
                  <a:pt x="0" y="0"/>
                </a:lnTo>
                <a:close/>
              </a:path>
            </a:pathLst>
          </a:custGeom>
          <a:blipFill rotWithShape="1">
            <a:blip r:embed="rId4">
              <a:alphaModFix amt="37000"/>
            </a:blip>
            <a:stretch>
              <a:fillRect b="0" l="0" r="0" t="0"/>
            </a:stretch>
          </a:blipFill>
          <a:ln>
            <a:noFill/>
          </a:ln>
        </p:spPr>
      </p:sp>
      <p:sp>
        <p:nvSpPr>
          <p:cNvPr id="523" name="Google Shape;523;g35d9113ccd5_1_451"/>
          <p:cNvSpPr txBox="1"/>
          <p:nvPr/>
        </p:nvSpPr>
        <p:spPr>
          <a:xfrm>
            <a:off x="4437795" y="3389104"/>
            <a:ext cx="8658900" cy="2891400"/>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Clr>
                <a:srgbClr val="000000"/>
              </a:buClr>
              <a:buSzPts val="6099"/>
              <a:buFont typeface="Arial"/>
              <a:buNone/>
            </a:pPr>
            <a:r>
              <a:rPr b="0" i="0" lang="en-US" sz="6099" u="none" cap="none" strike="noStrike">
                <a:solidFill>
                  <a:schemeClr val="lt1"/>
                </a:solidFill>
                <a:latin typeface="Arial"/>
                <a:ea typeface="Arial"/>
                <a:cs typeface="Arial"/>
                <a:sym typeface="Arial"/>
              </a:rPr>
              <a:t>¡GRACIAS POR SU  ATENCIÓN!</a:t>
            </a:r>
            <a:endParaRPr b="0" i="0" sz="1400" u="none" cap="none" strike="noStrike">
              <a:solidFill>
                <a:schemeClr val="lt1"/>
              </a:solidFill>
              <a:latin typeface="Arial"/>
              <a:ea typeface="Arial"/>
              <a:cs typeface="Arial"/>
              <a:sym typeface="Arial"/>
            </a:endParaRPr>
          </a:p>
          <a:p>
            <a:pPr indent="0" lvl="0" marL="0" marR="0" rtl="0" algn="just">
              <a:lnSpc>
                <a:spcPct val="104000"/>
              </a:lnSpc>
              <a:spcBef>
                <a:spcPts val="0"/>
              </a:spcBef>
              <a:spcAft>
                <a:spcPts val="0"/>
              </a:spcAft>
              <a:buClr>
                <a:srgbClr val="000000"/>
              </a:buClr>
              <a:buSzPts val="6099"/>
              <a:buFont typeface="Arial"/>
              <a:buNone/>
            </a:pPr>
            <a:r>
              <a:t/>
            </a:r>
            <a:endParaRPr b="0" i="0" sz="6099" u="none" cap="none" strike="noStrike">
              <a:solidFill>
                <a:srgbClr val="131416"/>
              </a:solidFill>
              <a:latin typeface="Arial"/>
              <a:ea typeface="Arial"/>
              <a:cs typeface="Arial"/>
              <a:sym typeface="Arial"/>
            </a:endParaRPr>
          </a:p>
        </p:txBody>
      </p:sp>
      <p:sp>
        <p:nvSpPr>
          <p:cNvPr id="524" name="Google Shape;524;g35d9113ccd5_1_451"/>
          <p:cNvSpPr txBox="1"/>
          <p:nvPr/>
        </p:nvSpPr>
        <p:spPr>
          <a:xfrm>
            <a:off x="5414739" y="6604366"/>
            <a:ext cx="6705000" cy="769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5000"/>
              <a:buFont typeface="Arial"/>
              <a:buNone/>
            </a:pPr>
            <a:r>
              <a:rPr b="0" i="0" lang="en-US" sz="5000" u="none" cap="none" strike="noStrike">
                <a:solidFill>
                  <a:schemeClr val="lt1"/>
                </a:solidFill>
                <a:latin typeface="Arial"/>
                <a:ea typeface="Arial"/>
                <a:cs typeface="Arial"/>
                <a:sym typeface="Arial"/>
              </a:rPr>
              <a:t>DUDAS</a:t>
            </a:r>
            <a:endParaRPr b="0" i="0" sz="1400" u="none" cap="none" strike="noStrike">
              <a:solidFill>
                <a:schemeClr val="lt1"/>
              </a:solidFill>
              <a:latin typeface="Arial"/>
              <a:ea typeface="Arial"/>
              <a:cs typeface="Arial"/>
              <a:sym typeface="Arial"/>
            </a:endParaRPr>
          </a:p>
        </p:txBody>
      </p:sp>
      <p:sp>
        <p:nvSpPr>
          <p:cNvPr id="525" name="Google Shape;525;g35d9113ccd5_1_451"/>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5">
              <a:alphaModFix/>
            </a:blip>
            <a:stretch>
              <a:fillRect b="0" l="0" r="0" t="0"/>
            </a:stretch>
          </a:blipFill>
          <a:ln>
            <a:noFill/>
          </a:ln>
        </p:spPr>
      </p:sp>
      <p:sp>
        <p:nvSpPr>
          <p:cNvPr id="526" name="Google Shape;526;g35d9113ccd5_1_451"/>
          <p:cNvSpPr txBox="1"/>
          <p:nvPr/>
        </p:nvSpPr>
        <p:spPr>
          <a:xfrm>
            <a:off x="2411098" y="7899735"/>
            <a:ext cx="13465800" cy="763500"/>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000000"/>
              </a:buClr>
              <a:buSzPts val="2000"/>
              <a:buFont typeface="Arial"/>
              <a:buNone/>
            </a:pPr>
            <a:r>
              <a:rPr b="0" i="0" lang="en-US" sz="2000" u="none" cap="none" strike="noStrike">
                <a:solidFill>
                  <a:schemeClr val="lt1"/>
                </a:solidFill>
                <a:latin typeface="Arial"/>
                <a:ea typeface="Arial"/>
                <a:cs typeface="Arial"/>
                <a:sym typeface="Arial"/>
              </a:rPr>
              <a:t>RECUERDA QUE TENEMOS NUESTRO FORO SEMANAL DONDE PUEDES CONSULTAR CUALQUIER DUDA QUE TE SURJA EN LA SEMANA</a:t>
            </a:r>
            <a:endParaRPr b="0" i="0" sz="1400" u="none" cap="none" strike="noStrike">
              <a:solidFill>
                <a:schemeClr val="lt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