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10287000" cx="18288000"/>
  <p:notesSz cx="6858000" cy="9144000"/>
  <p:embeddedFontLst>
    <p:embeddedFont>
      <p:font typeface="Caveat"/>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jqKWbYs0BTL19OGW0nWOlDTx6pC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34190C-297F-494A-AB3A-388EFB6B3643}">
  <a:tblStyle styleId="{4734190C-297F-494A-AB3A-388EFB6B364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Caveat-bold.fntdata"/><Relationship Id="rId50" Type="http://schemas.openxmlformats.org/officeDocument/2006/relationships/font" Target="fonts/Caveat-regular.fntdata"/><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17500" y="428625"/>
            <a:ext cx="5079900" cy="2143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1:notes"/>
          <p:cNvSpPr txBox="1"/>
          <p:nvPr>
            <p:ph idx="1" type="body"/>
          </p:nvPr>
        </p:nvSpPr>
        <p:spPr>
          <a:xfrm>
            <a:off x="571500" y="2714625"/>
            <a:ext cx="4572000" cy="2571900"/>
          </a:xfrm>
          <a:prstGeom prst="rect">
            <a:avLst/>
          </a:prstGeom>
          <a:noFill/>
          <a:ln>
            <a:noFill/>
          </a:ln>
        </p:spPr>
        <p:txBody>
          <a:bodyPr anchorCtr="0" anchor="t" bIns="69850" lIns="69850" spcFirstLastPara="1" rIns="69850" wrap="square" tIns="69850">
            <a:noAutofit/>
          </a:bodyPr>
          <a:lstStyle/>
          <a:p>
            <a:pPr indent="0" lvl="0" marL="0" marR="0" rtl="0" algn="l">
              <a:lnSpc>
                <a:spcPct val="100000"/>
              </a:lnSpc>
              <a:spcBef>
                <a:spcPts val="0"/>
              </a:spcBef>
              <a:spcAft>
                <a:spcPts val="0"/>
              </a:spcAft>
              <a:buClr>
                <a:schemeClr val="dk1"/>
              </a:buClr>
              <a:buSzPts val="800"/>
              <a:buFont typeface="Arial"/>
              <a:buNone/>
            </a:pPr>
            <a:r>
              <a:t/>
            </a:r>
            <a:endParaRPr b="0" i="0" sz="9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6" name="Google Shape;37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7" name="Google Shape;3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1" name="Google Shape;41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5" name="Google Shape;42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9" name="Google Shape;43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8" name="Google Shape;44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2" name="Google Shape;462;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3" name="Google Shape;473;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5" name="Google Shape;495;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62e4e04b8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6" name="Google Shape;506;g362e4e04b8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3" name="Google Shape;513;p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4" name="Google Shape;524;p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5" name="Google Shape;535;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4" name="Google Shape;544;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3" name="Google Shape;553;p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5" name="Google Shape;565;p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7" name="Google Shape;577;p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8" name="Google Shape;588;p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9" name="Google Shape;599;p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0" name="Google Shape;610;p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1" name="Google Shape;621;p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2" name="Google Shape;632;p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44"/>
          <p:cNvSpPr txBox="1"/>
          <p:nvPr>
            <p:ph type="title"/>
          </p:nvPr>
        </p:nvSpPr>
        <p:spPr>
          <a:xfrm>
            <a:off x="623400" y="890050"/>
            <a:ext cx="17041200" cy="1145400"/>
          </a:xfrm>
          <a:prstGeom prst="rect">
            <a:avLst/>
          </a:prstGeom>
          <a:noFill/>
          <a:ln>
            <a:noFill/>
          </a:ln>
        </p:spPr>
        <p:txBody>
          <a:bodyPr anchorCtr="0" anchor="t" bIns="114300" lIns="114300" spcFirstLastPara="1" rIns="114300" wrap="square" tIns="114300">
            <a:normAutofit/>
          </a:bodyPr>
          <a:lstStyle>
            <a:lvl1pPr lvl="0" marR="0" algn="l">
              <a:lnSpc>
                <a:spcPct val="100000"/>
              </a:lnSpc>
              <a:spcBef>
                <a:spcPts val="0"/>
              </a:spcBef>
              <a:spcAft>
                <a:spcPts val="0"/>
              </a:spcAft>
              <a:buClr>
                <a:schemeClr val="dk1"/>
              </a:buClr>
              <a:buSzPts val="3500"/>
              <a:buFont typeface="Calibri"/>
              <a:buNone/>
              <a:defRPr b="0" i="0" sz="5600" u="none" cap="none" strike="noStrike">
                <a:solidFill>
                  <a:schemeClr val="dk1"/>
                </a:solidFill>
                <a:latin typeface="Calibri"/>
                <a:ea typeface="Calibri"/>
                <a:cs typeface="Calibri"/>
                <a:sym typeface="Calibri"/>
              </a:defRPr>
            </a:lvl1pPr>
            <a:lvl2pPr lvl="1" algn="l">
              <a:lnSpc>
                <a:spcPct val="100000"/>
              </a:lnSpc>
              <a:spcBef>
                <a:spcPts val="0"/>
              </a:spcBef>
              <a:spcAft>
                <a:spcPts val="0"/>
              </a:spcAft>
              <a:buSzPts val="3500"/>
              <a:buFont typeface="Arial"/>
              <a:buNone/>
              <a:defRPr sz="2300"/>
            </a:lvl2pPr>
            <a:lvl3pPr lvl="2" algn="l">
              <a:lnSpc>
                <a:spcPct val="100000"/>
              </a:lnSpc>
              <a:spcBef>
                <a:spcPts val="0"/>
              </a:spcBef>
              <a:spcAft>
                <a:spcPts val="0"/>
              </a:spcAft>
              <a:buSzPts val="3500"/>
              <a:buFont typeface="Arial"/>
              <a:buNone/>
              <a:defRPr sz="2300"/>
            </a:lvl3pPr>
            <a:lvl4pPr lvl="3" algn="l">
              <a:lnSpc>
                <a:spcPct val="100000"/>
              </a:lnSpc>
              <a:spcBef>
                <a:spcPts val="0"/>
              </a:spcBef>
              <a:spcAft>
                <a:spcPts val="0"/>
              </a:spcAft>
              <a:buSzPts val="3500"/>
              <a:buFont typeface="Arial"/>
              <a:buNone/>
              <a:defRPr sz="2300"/>
            </a:lvl4pPr>
            <a:lvl5pPr lvl="4" algn="l">
              <a:lnSpc>
                <a:spcPct val="100000"/>
              </a:lnSpc>
              <a:spcBef>
                <a:spcPts val="0"/>
              </a:spcBef>
              <a:spcAft>
                <a:spcPts val="0"/>
              </a:spcAft>
              <a:buSzPts val="3500"/>
              <a:buFont typeface="Arial"/>
              <a:buNone/>
              <a:defRPr sz="2300"/>
            </a:lvl5pPr>
            <a:lvl6pPr lvl="5" algn="l">
              <a:lnSpc>
                <a:spcPct val="100000"/>
              </a:lnSpc>
              <a:spcBef>
                <a:spcPts val="0"/>
              </a:spcBef>
              <a:spcAft>
                <a:spcPts val="0"/>
              </a:spcAft>
              <a:buSzPts val="3500"/>
              <a:buFont typeface="Arial"/>
              <a:buNone/>
              <a:defRPr sz="2300"/>
            </a:lvl6pPr>
            <a:lvl7pPr lvl="6" algn="l">
              <a:lnSpc>
                <a:spcPct val="100000"/>
              </a:lnSpc>
              <a:spcBef>
                <a:spcPts val="0"/>
              </a:spcBef>
              <a:spcAft>
                <a:spcPts val="0"/>
              </a:spcAft>
              <a:buSzPts val="3500"/>
              <a:buFont typeface="Arial"/>
              <a:buNone/>
              <a:defRPr sz="2300"/>
            </a:lvl7pPr>
            <a:lvl8pPr lvl="7" algn="l">
              <a:lnSpc>
                <a:spcPct val="100000"/>
              </a:lnSpc>
              <a:spcBef>
                <a:spcPts val="0"/>
              </a:spcBef>
              <a:spcAft>
                <a:spcPts val="0"/>
              </a:spcAft>
              <a:buSzPts val="3500"/>
              <a:buFont typeface="Arial"/>
              <a:buNone/>
              <a:defRPr sz="2300"/>
            </a:lvl8pPr>
            <a:lvl9pPr lvl="8" algn="l">
              <a:lnSpc>
                <a:spcPct val="100000"/>
              </a:lnSpc>
              <a:spcBef>
                <a:spcPts val="0"/>
              </a:spcBef>
              <a:spcAft>
                <a:spcPts val="0"/>
              </a:spcAft>
              <a:buSzPts val="3500"/>
              <a:buFont typeface="Arial"/>
              <a:buNone/>
              <a:defRPr sz="2300"/>
            </a:lvl9pPr>
          </a:lstStyle>
          <a:p/>
        </p:txBody>
      </p:sp>
      <p:sp>
        <p:nvSpPr>
          <p:cNvPr id="13" name="Google Shape;13;p44"/>
          <p:cNvSpPr txBox="1"/>
          <p:nvPr>
            <p:ph idx="1" type="body"/>
          </p:nvPr>
        </p:nvSpPr>
        <p:spPr>
          <a:xfrm>
            <a:off x="623400" y="2304950"/>
            <a:ext cx="17041200" cy="6832800"/>
          </a:xfrm>
          <a:prstGeom prst="rect">
            <a:avLst/>
          </a:prstGeom>
          <a:noFill/>
          <a:ln>
            <a:noFill/>
          </a:ln>
        </p:spPr>
        <p:txBody>
          <a:bodyPr anchorCtr="0" anchor="t" bIns="114300" lIns="114300" spcFirstLastPara="1" rIns="114300" wrap="square" tIns="114300">
            <a:normAutofit/>
          </a:bodyPr>
          <a:lstStyle>
            <a:lvl1pPr indent="-374650" lvl="0" marL="457200" marR="0" algn="l">
              <a:lnSpc>
                <a:spcPct val="115000"/>
              </a:lnSpc>
              <a:spcBef>
                <a:spcPts val="0"/>
              </a:spcBef>
              <a:spcAft>
                <a:spcPts val="0"/>
              </a:spcAft>
              <a:buClr>
                <a:schemeClr val="dk1"/>
              </a:buClr>
              <a:buSzPts val="2300"/>
              <a:buFont typeface="Arial"/>
              <a:buChar char="●"/>
              <a:defRPr b="0" i="0" sz="4100" u="none" cap="none" strike="noStrike">
                <a:solidFill>
                  <a:schemeClr val="dk1"/>
                </a:solidFill>
                <a:latin typeface="Calibri"/>
                <a:ea typeface="Calibri"/>
                <a:cs typeface="Calibri"/>
                <a:sym typeface="Calibri"/>
              </a:defRPr>
            </a:lvl1pPr>
            <a:lvl2pPr indent="-342900" lvl="1" marL="914400" marR="0" algn="l">
              <a:lnSpc>
                <a:spcPct val="115000"/>
              </a:lnSpc>
              <a:spcBef>
                <a:spcPts val="0"/>
              </a:spcBef>
              <a:spcAft>
                <a:spcPts val="0"/>
              </a:spcAft>
              <a:buClr>
                <a:schemeClr val="dk1"/>
              </a:buClr>
              <a:buSzPts val="1800"/>
              <a:buFont typeface="Arial"/>
              <a:buChar char="○"/>
              <a:defRPr b="0" i="0" sz="3500" u="none" cap="none" strike="noStrike">
                <a:solidFill>
                  <a:schemeClr val="dk1"/>
                </a:solidFill>
                <a:latin typeface="Calibri"/>
                <a:ea typeface="Calibri"/>
                <a:cs typeface="Calibri"/>
                <a:sym typeface="Calibri"/>
              </a:defRPr>
            </a:lvl2pPr>
            <a:lvl3pPr indent="-342900" lvl="2" marL="1371600" marR="0" algn="l">
              <a:lnSpc>
                <a:spcPct val="115000"/>
              </a:lnSpc>
              <a:spcBef>
                <a:spcPts val="0"/>
              </a:spcBef>
              <a:spcAft>
                <a:spcPts val="0"/>
              </a:spcAft>
              <a:buClr>
                <a:schemeClr val="dk1"/>
              </a:buClr>
              <a:buSzPts val="1800"/>
              <a:buFont typeface="Arial"/>
              <a:buChar char="■"/>
              <a:defRPr b="0" i="0" sz="3000" u="none" cap="none" strike="noStrike">
                <a:solidFill>
                  <a:schemeClr val="dk1"/>
                </a:solidFill>
                <a:latin typeface="Calibri"/>
                <a:ea typeface="Calibri"/>
                <a:cs typeface="Calibri"/>
                <a:sym typeface="Calibri"/>
              </a:defRPr>
            </a:lvl3pPr>
            <a:lvl4pPr indent="-342900" lvl="3" marL="1828800" marR="0" algn="l">
              <a:lnSpc>
                <a:spcPct val="115000"/>
              </a:lnSpc>
              <a:spcBef>
                <a:spcPts val="0"/>
              </a:spcBef>
              <a:spcAft>
                <a:spcPts val="0"/>
              </a:spcAft>
              <a:buClr>
                <a:schemeClr val="dk1"/>
              </a:buClr>
              <a:buSzPts val="1800"/>
              <a:buFont typeface="Arial"/>
              <a:buChar char="●"/>
              <a:defRPr b="0" i="0" sz="2600" u="none" cap="none" strike="noStrike">
                <a:solidFill>
                  <a:schemeClr val="dk1"/>
                </a:solidFill>
                <a:latin typeface="Calibri"/>
                <a:ea typeface="Calibri"/>
                <a:cs typeface="Calibri"/>
                <a:sym typeface="Calibri"/>
              </a:defRPr>
            </a:lvl4pPr>
            <a:lvl5pPr indent="-342900" lvl="4" marL="2286000" marR="0" algn="l">
              <a:lnSpc>
                <a:spcPct val="115000"/>
              </a:lnSpc>
              <a:spcBef>
                <a:spcPts val="0"/>
              </a:spcBef>
              <a:spcAft>
                <a:spcPts val="0"/>
              </a:spcAft>
              <a:buClr>
                <a:schemeClr val="dk1"/>
              </a:buClr>
              <a:buSzPts val="1800"/>
              <a:buFont typeface="Arial"/>
              <a:buChar char="○"/>
              <a:defRPr b="0" i="0" sz="2600" u="none" cap="none" strike="noStrike">
                <a:solidFill>
                  <a:schemeClr val="dk1"/>
                </a:solidFill>
                <a:latin typeface="Calibri"/>
                <a:ea typeface="Calibri"/>
                <a:cs typeface="Calibri"/>
                <a:sym typeface="Calibri"/>
              </a:defRPr>
            </a:lvl5pPr>
            <a:lvl6pPr indent="-342900" lvl="5" marL="2743200" marR="0" algn="l">
              <a:lnSpc>
                <a:spcPct val="115000"/>
              </a:lnSpc>
              <a:spcBef>
                <a:spcPts val="0"/>
              </a:spcBef>
              <a:spcAft>
                <a:spcPts val="0"/>
              </a:spcAft>
              <a:buClr>
                <a:schemeClr val="dk1"/>
              </a:buClr>
              <a:buSzPts val="1800"/>
              <a:buFont typeface="Arial"/>
              <a:buChar char="■"/>
              <a:defRPr b="0" i="0" sz="2600" u="none" cap="none" strike="noStrike">
                <a:solidFill>
                  <a:schemeClr val="dk1"/>
                </a:solidFill>
                <a:latin typeface="Calibri"/>
                <a:ea typeface="Calibri"/>
                <a:cs typeface="Calibri"/>
                <a:sym typeface="Calibri"/>
              </a:defRPr>
            </a:lvl6pPr>
            <a:lvl7pPr indent="-342900" lvl="6" marL="3200400" marR="0" algn="l">
              <a:lnSpc>
                <a:spcPct val="115000"/>
              </a:lnSpc>
              <a:spcBef>
                <a:spcPts val="0"/>
              </a:spcBef>
              <a:spcAft>
                <a:spcPts val="0"/>
              </a:spcAft>
              <a:buClr>
                <a:schemeClr val="dk1"/>
              </a:buClr>
              <a:buSzPts val="1800"/>
              <a:buFont typeface="Arial"/>
              <a:buChar char="●"/>
              <a:defRPr b="0" i="0" sz="2600" u="none" cap="none" strike="noStrike">
                <a:solidFill>
                  <a:schemeClr val="dk1"/>
                </a:solidFill>
                <a:latin typeface="Calibri"/>
                <a:ea typeface="Calibri"/>
                <a:cs typeface="Calibri"/>
                <a:sym typeface="Calibri"/>
              </a:defRPr>
            </a:lvl7pPr>
            <a:lvl8pPr indent="-342900" lvl="7" marL="3657600" marR="0" algn="l">
              <a:lnSpc>
                <a:spcPct val="115000"/>
              </a:lnSpc>
              <a:spcBef>
                <a:spcPts val="0"/>
              </a:spcBef>
              <a:spcAft>
                <a:spcPts val="0"/>
              </a:spcAft>
              <a:buClr>
                <a:schemeClr val="dk1"/>
              </a:buClr>
              <a:buSzPts val="1800"/>
              <a:buFont typeface="Arial"/>
              <a:buChar char="○"/>
              <a:defRPr b="0" i="0" sz="2600" u="none" cap="none" strike="noStrike">
                <a:solidFill>
                  <a:schemeClr val="dk1"/>
                </a:solidFill>
                <a:latin typeface="Calibri"/>
                <a:ea typeface="Calibri"/>
                <a:cs typeface="Calibri"/>
                <a:sym typeface="Calibri"/>
              </a:defRPr>
            </a:lvl8pPr>
            <a:lvl9pPr indent="-342900" lvl="8" marL="4114800" marR="0" algn="l">
              <a:lnSpc>
                <a:spcPct val="115000"/>
              </a:lnSpc>
              <a:spcBef>
                <a:spcPts val="0"/>
              </a:spcBef>
              <a:spcAft>
                <a:spcPts val="0"/>
              </a:spcAft>
              <a:buClr>
                <a:schemeClr val="dk1"/>
              </a:buClr>
              <a:buSzPts val="1800"/>
              <a:buFont typeface="Arial"/>
              <a:buChar char="■"/>
              <a:defRPr b="0" i="0" sz="2600" u="none" cap="none" strike="noStrike">
                <a:solidFill>
                  <a:schemeClr val="dk1"/>
                </a:solidFill>
                <a:latin typeface="Calibri"/>
                <a:ea typeface="Calibri"/>
                <a:cs typeface="Calibri"/>
                <a:sym typeface="Calibri"/>
              </a:defRPr>
            </a:lvl9pPr>
          </a:lstStyle>
          <a:p/>
        </p:txBody>
      </p:sp>
      <p:sp>
        <p:nvSpPr>
          <p:cNvPr id="14" name="Google Shape;14;p44"/>
          <p:cNvSpPr txBox="1"/>
          <p:nvPr>
            <p:ph idx="12" type="sldNum"/>
          </p:nvPr>
        </p:nvSpPr>
        <p:spPr>
          <a:xfrm>
            <a:off x="16944916" y="9326434"/>
            <a:ext cx="1097100" cy="786900"/>
          </a:xfrm>
          <a:prstGeom prst="rect">
            <a:avLst/>
          </a:prstGeom>
          <a:noFill/>
          <a:ln>
            <a:noFill/>
          </a:ln>
        </p:spPr>
        <p:txBody>
          <a:bodyPr anchorCtr="0" anchor="ctr" bIns="114300" lIns="114300" spcFirstLastPara="1" rIns="114300" wrap="square" tIns="114300">
            <a:normAutofit/>
          </a:bodyPr>
          <a:lstStyle>
            <a:lvl1pPr indent="0" lvl="0"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4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5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5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5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5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3"/>
          <p:cNvSpPr/>
          <p:nvPr>
            <p:ph idx="2" type="pic"/>
          </p:nvPr>
        </p:nvSpPr>
        <p:spPr>
          <a:xfrm>
            <a:off x="1792288" y="612775"/>
            <a:ext cx="5486400" cy="4114800"/>
          </a:xfrm>
          <a:prstGeom prst="rect">
            <a:avLst/>
          </a:prstGeom>
          <a:noFill/>
          <a:ln>
            <a:noFill/>
          </a:ln>
        </p:spPr>
      </p:sp>
      <p:sp>
        <p:nvSpPr>
          <p:cNvPr id="68" name="Google Shape;68;p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5.jpg"/><Relationship Id="rId5" Type="http://schemas.openxmlformats.org/officeDocument/2006/relationships/image" Target="../media/image3.jpg"/><Relationship Id="rId6"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6.jp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15.jpg"/><Relationship Id="rId5" Type="http://schemas.openxmlformats.org/officeDocument/2006/relationships/image" Target="../media/image3.jpg"/><Relationship Id="rId6"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1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2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jp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jp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jp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mt="62000"/>
          </a:blip>
          <a:srcRect b="0" l="0" r="0" t="0"/>
          <a:stretch/>
        </p:blipFill>
        <p:spPr>
          <a:xfrm>
            <a:off x="16904" y="1"/>
            <a:ext cx="18254198" cy="10287004"/>
          </a:xfrm>
          <a:prstGeom prst="rect">
            <a:avLst/>
          </a:prstGeom>
          <a:noFill/>
          <a:ln>
            <a:noFill/>
          </a:ln>
        </p:spPr>
      </p:pic>
      <p:graphicFrame>
        <p:nvGraphicFramePr>
          <p:cNvPr id="89" name="Google Shape;89;p1"/>
          <p:cNvGraphicFramePr/>
          <p:nvPr/>
        </p:nvGraphicFramePr>
        <p:xfrm>
          <a:off x="10656401" y="1940050"/>
          <a:ext cx="3000000" cy="3000000"/>
        </p:xfrm>
        <a:graphic>
          <a:graphicData uri="http://schemas.openxmlformats.org/drawingml/2006/table">
            <a:tbl>
              <a:tblPr>
                <a:noFill/>
                <a:tableStyleId>{4734190C-297F-494A-AB3A-388EFB6B3643}</a:tableStyleId>
              </a:tblPr>
              <a:tblGrid>
                <a:gridCol w="3036425"/>
                <a:gridCol w="4344750"/>
              </a:tblGrid>
              <a:tr h="798525">
                <a:tc>
                  <a:txBody>
                    <a:bodyPr/>
                    <a:lstStyle/>
                    <a:p>
                      <a:pPr indent="0" lvl="0" marL="0" marR="0" rtl="0" algn="l">
                        <a:lnSpc>
                          <a:spcPct val="100000"/>
                        </a:lnSpc>
                        <a:spcBef>
                          <a:spcPts val="0"/>
                        </a:spcBef>
                        <a:spcAft>
                          <a:spcPts val="0"/>
                        </a:spcAft>
                        <a:buClr>
                          <a:srgbClr val="000000"/>
                        </a:buClr>
                        <a:buSzPts val="1800"/>
                        <a:buFont typeface="Arial"/>
                        <a:buNone/>
                      </a:pPr>
                      <a:r>
                        <a:rPr b="1" lang="en-US" sz="2700" u="none" cap="none" strike="noStrike">
                          <a:solidFill>
                            <a:schemeClr val="dk1"/>
                          </a:solidFill>
                        </a:rPr>
                        <a:t>Día, Fecha:</a:t>
                      </a:r>
                      <a:endParaRPr sz="18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1800"/>
                        <a:buFont typeface="Arial"/>
                        <a:buNone/>
                      </a:pPr>
                      <a:r>
                        <a:rPr lang="en-US" sz="2700" u="none" cap="none" strike="noStrike"/>
                        <a:t>XXXX, xx/xx/xx</a:t>
                      </a:r>
                      <a:endParaRPr sz="1800" u="none" cap="none" strike="noStrike"/>
                    </a:p>
                  </a:txBody>
                  <a:tcPr marT="182850" marB="182850" marR="182850" marL="182850"/>
                </a:tc>
              </a:tr>
              <a:tr h="798525">
                <a:tc>
                  <a:txBody>
                    <a:bodyPr/>
                    <a:lstStyle/>
                    <a:p>
                      <a:pPr indent="0" lvl="0" marL="0" marR="0" rtl="0" algn="l">
                        <a:lnSpc>
                          <a:spcPct val="100000"/>
                        </a:lnSpc>
                        <a:spcBef>
                          <a:spcPts val="0"/>
                        </a:spcBef>
                        <a:spcAft>
                          <a:spcPts val="0"/>
                        </a:spcAft>
                        <a:buClr>
                          <a:srgbClr val="000000"/>
                        </a:buClr>
                        <a:buSzPts val="1800"/>
                        <a:buFont typeface="Arial"/>
                        <a:buNone/>
                      </a:pPr>
                      <a:r>
                        <a:rPr b="1" lang="en-US" sz="2700" u="none" cap="none" strike="noStrike">
                          <a:solidFill>
                            <a:schemeClr val="dk1"/>
                          </a:solidFill>
                        </a:rPr>
                        <a:t>Hora de inicio:</a:t>
                      </a:r>
                      <a:endParaRPr sz="18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1800"/>
                        <a:buFont typeface="Arial"/>
                        <a:buNone/>
                      </a:pPr>
                      <a:r>
                        <a:rPr lang="en-US" sz="2700" u="none" cap="none" strike="noStrike"/>
                        <a:t>xx:xx xx</a:t>
                      </a:r>
                      <a:endParaRPr sz="1800" u="none" cap="none" strike="noStrike"/>
                    </a:p>
                  </a:txBody>
                  <a:tcPr marT="182850" marB="182850" marR="182850" marL="182850"/>
                </a:tc>
              </a:tr>
            </a:tbl>
          </a:graphicData>
        </a:graphic>
      </p:graphicFrame>
      <p:sp>
        <p:nvSpPr>
          <p:cNvPr id="90" name="Google Shape;90;p1"/>
          <p:cNvSpPr txBox="1"/>
          <p:nvPr/>
        </p:nvSpPr>
        <p:spPr>
          <a:xfrm>
            <a:off x="2880350" y="4516600"/>
            <a:ext cx="13584300" cy="11391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0" i="0" lang="en-US" sz="5000" u="none" cap="none" strike="noStrike">
                <a:solidFill>
                  <a:schemeClr val="dk1"/>
                </a:solidFill>
                <a:latin typeface="Calibri"/>
                <a:ea typeface="Calibri"/>
                <a:cs typeface="Calibri"/>
                <a:sym typeface="Calibri"/>
              </a:rPr>
              <a:t>Manejo e Implementación de Archivos [X]</a:t>
            </a:r>
            <a:endParaRPr b="0" i="0" sz="1800" u="none" cap="none" strike="noStrike">
              <a:solidFill>
                <a:srgbClr val="000000"/>
              </a:solidFill>
              <a:latin typeface="Arial"/>
              <a:ea typeface="Arial"/>
              <a:cs typeface="Arial"/>
              <a:sym typeface="Arial"/>
            </a:endParaRPr>
          </a:p>
        </p:txBody>
      </p:sp>
      <p:sp>
        <p:nvSpPr>
          <p:cNvPr id="91" name="Google Shape;91;p1"/>
          <p:cNvSpPr txBox="1"/>
          <p:nvPr/>
        </p:nvSpPr>
        <p:spPr>
          <a:xfrm>
            <a:off x="3557400" y="6134000"/>
            <a:ext cx="11173200" cy="10005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100"/>
              <a:buFont typeface="Arial"/>
              <a:buNone/>
            </a:pPr>
            <a:r>
              <a:rPr b="0" i="0" lang="en-US" sz="4100" u="none" cap="none" strike="noStrike">
                <a:solidFill>
                  <a:schemeClr val="dk1"/>
                </a:solidFill>
                <a:latin typeface="Calibri"/>
                <a:ea typeface="Calibri"/>
                <a:cs typeface="Calibri"/>
                <a:sym typeface="Calibri"/>
              </a:rPr>
              <a:t>Nombre del auxiliar</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97" name="Google Shape;97;p2"/>
          <p:cNvGrpSpPr/>
          <p:nvPr/>
        </p:nvGrpSpPr>
        <p:grpSpPr>
          <a:xfrm>
            <a:off x="1097450" y="861623"/>
            <a:ext cx="16230707" cy="8427185"/>
            <a:chOff x="0" y="-47625"/>
            <a:chExt cx="4274726" cy="2219491"/>
          </a:xfrm>
        </p:grpSpPr>
        <p:sp>
          <p:nvSpPr>
            <p:cNvPr id="98" name="Google Shape;98;p2"/>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
            <p:cNvSpPr txBox="1"/>
            <p:nvPr/>
          </p:nvSpPr>
          <p:spPr>
            <a:xfrm>
              <a:off x="0" y="-47625"/>
              <a:ext cx="42747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0" name="Google Shape;100;p2"/>
          <p:cNvGrpSpPr/>
          <p:nvPr/>
        </p:nvGrpSpPr>
        <p:grpSpPr>
          <a:xfrm>
            <a:off x="1550998" y="2797375"/>
            <a:ext cx="7543947" cy="3769142"/>
            <a:chOff x="0" y="9525"/>
            <a:chExt cx="13536600" cy="5025522"/>
          </a:xfrm>
        </p:grpSpPr>
        <p:sp>
          <p:nvSpPr>
            <p:cNvPr id="101" name="Google Shape;101;p2"/>
            <p:cNvSpPr txBox="1"/>
            <p:nvPr/>
          </p:nvSpPr>
          <p:spPr>
            <a:xfrm>
              <a:off x="0" y="9525"/>
              <a:ext cx="13536600" cy="28500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AGENDA</a:t>
              </a:r>
              <a:endParaRPr b="1" i="0" sz="6399" u="none" cap="none" strike="noStrike">
                <a:solidFill>
                  <a:srgbClr val="000000"/>
                </a:solidFill>
                <a:latin typeface="Arial"/>
                <a:ea typeface="Arial"/>
                <a:cs typeface="Arial"/>
                <a:sym typeface="Arial"/>
              </a:endParaRPr>
            </a:p>
            <a:p>
              <a:pPr indent="0" lvl="0" marL="0" marR="0" rtl="0" algn="ctr">
                <a:lnSpc>
                  <a:spcPct val="117002"/>
                </a:lnSpc>
                <a:spcBef>
                  <a:spcPts val="0"/>
                </a:spcBef>
                <a:spcAft>
                  <a:spcPts val="0"/>
                </a:spcAft>
                <a:buClr>
                  <a:srgbClr val="000000"/>
                </a:buClr>
                <a:buSzPts val="6399"/>
                <a:buFont typeface="Arial"/>
                <a:buNone/>
              </a:pPr>
              <a:r>
                <a:t/>
              </a:r>
              <a:endParaRPr b="0" i="0" sz="6399" u="none" cap="none" strike="noStrike">
                <a:solidFill>
                  <a:srgbClr val="000000"/>
                </a:solidFill>
                <a:latin typeface="Arial"/>
                <a:ea typeface="Arial"/>
                <a:cs typeface="Arial"/>
                <a:sym typeface="Arial"/>
              </a:endParaRPr>
            </a:p>
          </p:txBody>
        </p:sp>
        <p:sp>
          <p:nvSpPr>
            <p:cNvPr id="102" name="Google Shape;102;p2"/>
            <p:cNvSpPr txBox="1"/>
            <p:nvPr/>
          </p:nvSpPr>
          <p:spPr>
            <a:xfrm>
              <a:off x="0" y="1674147"/>
              <a:ext cx="13536600" cy="33609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4099"/>
                <a:buFont typeface="Arial"/>
                <a:buNone/>
              </a:pPr>
              <a:r>
                <a:rPr b="1" i="0" lang="en-US" sz="4099" u="none" cap="none" strike="noStrike">
                  <a:solidFill>
                    <a:srgbClr val="000000"/>
                  </a:solidFill>
                  <a:latin typeface="Arial"/>
                  <a:ea typeface="Arial"/>
                  <a:cs typeface="Arial"/>
                  <a:sym typeface="Arial"/>
                </a:rPr>
                <a:t>Recordatorios</a:t>
              </a:r>
              <a:endParaRPr b="0" i="0" sz="2799"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1. xxx</a:t>
              </a:r>
              <a:endParaRPr b="0" i="0" sz="2799"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2. xxx</a:t>
              </a:r>
              <a:endParaRPr b="0" i="0" sz="2799"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3. xxx</a:t>
              </a:r>
              <a:endParaRPr b="0" i="0" sz="2799" u="none" cap="none" strike="noStrike">
                <a:solidFill>
                  <a:srgbClr val="000000"/>
                </a:solidFill>
                <a:latin typeface="Arial"/>
                <a:ea typeface="Arial"/>
                <a:cs typeface="Arial"/>
                <a:sym typeface="Arial"/>
              </a:endParaRPr>
            </a:p>
          </p:txBody>
        </p:sp>
      </p:grpSp>
      <p:grpSp>
        <p:nvGrpSpPr>
          <p:cNvPr id="103" name="Google Shape;103;p2"/>
          <p:cNvGrpSpPr/>
          <p:nvPr/>
        </p:nvGrpSpPr>
        <p:grpSpPr>
          <a:xfrm>
            <a:off x="9446148" y="2797375"/>
            <a:ext cx="7543947" cy="1679342"/>
            <a:chOff x="0" y="9525"/>
            <a:chExt cx="13536600" cy="2239122"/>
          </a:xfrm>
        </p:grpSpPr>
        <p:sp>
          <p:nvSpPr>
            <p:cNvPr id="104" name="Google Shape;104;p2"/>
            <p:cNvSpPr txBox="1"/>
            <p:nvPr/>
          </p:nvSpPr>
          <p:spPr>
            <a:xfrm>
              <a:off x="0" y="9525"/>
              <a:ext cx="13536600" cy="13134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RECURSOS</a:t>
              </a:r>
              <a:endParaRPr b="1" i="0" sz="1400" u="none" cap="none" strike="noStrike">
                <a:solidFill>
                  <a:srgbClr val="000000"/>
                </a:solidFill>
                <a:latin typeface="Arial"/>
                <a:ea typeface="Arial"/>
                <a:cs typeface="Arial"/>
                <a:sym typeface="Arial"/>
              </a:endParaRPr>
            </a:p>
          </p:txBody>
        </p:sp>
        <p:sp>
          <p:nvSpPr>
            <p:cNvPr id="105" name="Google Shape;105;p2"/>
            <p:cNvSpPr txBox="1"/>
            <p:nvPr/>
          </p:nvSpPr>
          <p:spPr>
            <a:xfrm>
              <a:off x="0" y="1674147"/>
              <a:ext cx="13536600" cy="5745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111" name="Google Shape;111;p3"/>
          <p:cNvGrpSpPr/>
          <p:nvPr/>
        </p:nvGrpSpPr>
        <p:grpSpPr>
          <a:xfrm>
            <a:off x="1138700" y="929910"/>
            <a:ext cx="16230707" cy="8427185"/>
            <a:chOff x="0" y="-47625"/>
            <a:chExt cx="4274726" cy="2219491"/>
          </a:xfrm>
        </p:grpSpPr>
        <p:sp>
          <p:nvSpPr>
            <p:cNvPr id="112" name="Google Shape;112;p3"/>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0" y="-47625"/>
              <a:ext cx="42747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14" name="Google Shape;114;p3"/>
          <p:cNvGrpSpPr/>
          <p:nvPr/>
        </p:nvGrpSpPr>
        <p:grpSpPr>
          <a:xfrm>
            <a:off x="1621275" y="1903425"/>
            <a:ext cx="15045428" cy="6782277"/>
            <a:chOff x="-6730212" y="-765065"/>
            <a:chExt cx="26997000" cy="5696042"/>
          </a:xfrm>
        </p:grpSpPr>
        <p:sp>
          <p:nvSpPr>
            <p:cNvPr id="115" name="Google Shape;115;p3"/>
            <p:cNvSpPr txBox="1"/>
            <p:nvPr/>
          </p:nvSpPr>
          <p:spPr>
            <a:xfrm>
              <a:off x="-6730212" y="-765065"/>
              <a:ext cx="26997000" cy="8271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Competencias que se desarrollaran</a:t>
              </a:r>
              <a:endParaRPr b="0" i="0" sz="6399" u="none" cap="none" strike="noStrike">
                <a:solidFill>
                  <a:srgbClr val="000000"/>
                </a:solidFill>
                <a:latin typeface="Arial"/>
                <a:ea typeface="Arial"/>
                <a:cs typeface="Arial"/>
                <a:sym typeface="Arial"/>
              </a:endParaRPr>
            </a:p>
          </p:txBody>
        </p:sp>
        <p:sp>
          <p:nvSpPr>
            <p:cNvPr id="116" name="Google Shape;116;p3"/>
            <p:cNvSpPr txBox="1"/>
            <p:nvPr/>
          </p:nvSpPr>
          <p:spPr>
            <a:xfrm>
              <a:off x="-5552390" y="516177"/>
              <a:ext cx="24570600" cy="4414800"/>
            </a:xfrm>
            <a:prstGeom prst="rect">
              <a:avLst/>
            </a:prstGeom>
            <a:noFill/>
            <a:ln>
              <a:noFill/>
            </a:ln>
          </p:spPr>
          <p:txBody>
            <a:bodyPr anchorCtr="0" anchor="t" bIns="0" lIns="0" spcFirstLastPara="1" rIns="0" wrap="square" tIns="0">
              <a:spAutoFit/>
            </a:bodyPr>
            <a:lstStyle/>
            <a:p>
              <a:pPr indent="-406336" lvl="0" marL="457200"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Analizar arquitecturas de virtualización de almacenamiento mediante la comparación de modelos y evaluación de retos operativos para optimizar la administración de recursos en entornos virtualizados </a:t>
              </a:r>
              <a:endParaRPr b="0" i="0" sz="2799"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a:p>
              <a:pPr indent="-406336" lvl="0" marL="457200"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Analizar soluciones de almacenamiento en entornos híbridos mediante la comparación de sus características operativas y criterios de implementación para seleccionar alternativas que respondan a necesidades de eficiencia, escalabilidad y disponibilidad </a:t>
              </a:r>
              <a:endParaRPr b="0" i="0" sz="2799"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122" name="Google Shape;122;p4"/>
          <p:cNvGrpSpPr/>
          <p:nvPr/>
        </p:nvGrpSpPr>
        <p:grpSpPr>
          <a:xfrm>
            <a:off x="2350147" y="2006524"/>
            <a:ext cx="13587966" cy="6093163"/>
            <a:chOff x="0" y="-47625"/>
            <a:chExt cx="3578700" cy="1604773"/>
          </a:xfrm>
        </p:grpSpPr>
        <p:sp>
          <p:nvSpPr>
            <p:cNvPr id="123" name="Google Shape;123;p4"/>
            <p:cNvSpPr/>
            <p:nvPr/>
          </p:nvSpPr>
          <p:spPr>
            <a:xfrm>
              <a:off x="0" y="0"/>
              <a:ext cx="3578655" cy="1557148"/>
            </a:xfrm>
            <a:custGeom>
              <a:rect b="b" l="l" r="r" t="t"/>
              <a:pathLst>
                <a:path extrusionOk="0" h="1557148" w="3578655">
                  <a:moveTo>
                    <a:pt x="29058" y="0"/>
                  </a:moveTo>
                  <a:lnTo>
                    <a:pt x="3549597" y="0"/>
                  </a:lnTo>
                  <a:cubicBezTo>
                    <a:pt x="3565645" y="0"/>
                    <a:pt x="3578655" y="13010"/>
                    <a:pt x="3578655" y="29058"/>
                  </a:cubicBezTo>
                  <a:lnTo>
                    <a:pt x="3578655" y="1528090"/>
                  </a:lnTo>
                  <a:cubicBezTo>
                    <a:pt x="3578655" y="1544138"/>
                    <a:pt x="3565645" y="1557148"/>
                    <a:pt x="3549597" y="1557148"/>
                  </a:cubicBezTo>
                  <a:lnTo>
                    <a:pt x="29058" y="1557148"/>
                  </a:lnTo>
                  <a:cubicBezTo>
                    <a:pt x="13010" y="1557148"/>
                    <a:pt x="0" y="1544138"/>
                    <a:pt x="0" y="1528090"/>
                  </a:cubicBezTo>
                  <a:lnTo>
                    <a:pt x="0" y="29058"/>
                  </a:lnTo>
                  <a:cubicBezTo>
                    <a:pt x="0" y="13010"/>
                    <a:pt x="13010" y="0"/>
                    <a:pt x="290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4"/>
            <p:cNvSpPr txBox="1"/>
            <p:nvPr/>
          </p:nvSpPr>
          <p:spPr>
            <a:xfrm>
              <a:off x="0" y="-47625"/>
              <a:ext cx="3578700" cy="1604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5" name="Google Shape;125;p4"/>
          <p:cNvSpPr txBox="1"/>
          <p:nvPr/>
        </p:nvSpPr>
        <p:spPr>
          <a:xfrm>
            <a:off x="3524148" y="3930867"/>
            <a:ext cx="11508000" cy="1385400"/>
          </a:xfrm>
          <a:prstGeom prst="rect">
            <a:avLst/>
          </a:prstGeom>
          <a:noFill/>
          <a:ln>
            <a:noFill/>
          </a:ln>
        </p:spPr>
        <p:txBody>
          <a:bodyPr anchorCtr="0" anchor="t" bIns="0" lIns="0" spcFirstLastPara="1" rIns="0" wrap="square" tIns="0">
            <a:spAutoFit/>
          </a:bodyPr>
          <a:lstStyle/>
          <a:p>
            <a:pPr indent="0" lvl="0" marL="0" marR="0" rtl="0" algn="ctr">
              <a:lnSpc>
                <a:spcPct val="117000"/>
              </a:lnSpc>
              <a:spcBef>
                <a:spcPts val="0"/>
              </a:spcBef>
              <a:spcAft>
                <a:spcPts val="0"/>
              </a:spcAft>
              <a:buClr>
                <a:srgbClr val="000000"/>
              </a:buClr>
              <a:buSzPts val="9000"/>
              <a:buFont typeface="Arial"/>
              <a:buNone/>
            </a:pPr>
            <a:r>
              <a:rPr b="0" i="0" lang="en-US" sz="9000" u="none" cap="none" strike="noStrike">
                <a:solidFill>
                  <a:srgbClr val="000000"/>
                </a:solidFill>
                <a:latin typeface="Arial"/>
                <a:ea typeface="Arial"/>
                <a:cs typeface="Arial"/>
                <a:sym typeface="Arial"/>
              </a:rPr>
              <a:t>VIRTUALIZACIÓN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131" name="Google Shape;131;p5"/>
          <p:cNvGrpSpPr/>
          <p:nvPr/>
        </p:nvGrpSpPr>
        <p:grpSpPr>
          <a:xfrm>
            <a:off x="2350147" y="2006525"/>
            <a:ext cx="13587705" cy="6093123"/>
            <a:chOff x="0" y="-47625"/>
            <a:chExt cx="3578655" cy="1604773"/>
          </a:xfrm>
        </p:grpSpPr>
        <p:sp>
          <p:nvSpPr>
            <p:cNvPr id="132" name="Google Shape;132;p5"/>
            <p:cNvSpPr/>
            <p:nvPr/>
          </p:nvSpPr>
          <p:spPr>
            <a:xfrm>
              <a:off x="0" y="0"/>
              <a:ext cx="3578655" cy="1557148"/>
            </a:xfrm>
            <a:custGeom>
              <a:rect b="b" l="l" r="r" t="t"/>
              <a:pathLst>
                <a:path extrusionOk="0" h="1557148" w="3578655">
                  <a:moveTo>
                    <a:pt x="29058" y="0"/>
                  </a:moveTo>
                  <a:lnTo>
                    <a:pt x="3549597" y="0"/>
                  </a:lnTo>
                  <a:cubicBezTo>
                    <a:pt x="3565645" y="0"/>
                    <a:pt x="3578655" y="13010"/>
                    <a:pt x="3578655" y="29058"/>
                  </a:cubicBezTo>
                  <a:lnTo>
                    <a:pt x="3578655" y="1528090"/>
                  </a:lnTo>
                  <a:cubicBezTo>
                    <a:pt x="3578655" y="1544138"/>
                    <a:pt x="3565645" y="1557148"/>
                    <a:pt x="3549597" y="1557148"/>
                  </a:cubicBezTo>
                  <a:lnTo>
                    <a:pt x="29058" y="1557148"/>
                  </a:lnTo>
                  <a:cubicBezTo>
                    <a:pt x="13010" y="1557148"/>
                    <a:pt x="0" y="1544138"/>
                    <a:pt x="0" y="1528090"/>
                  </a:cubicBezTo>
                  <a:lnTo>
                    <a:pt x="0" y="29058"/>
                  </a:lnTo>
                  <a:cubicBezTo>
                    <a:pt x="0" y="13010"/>
                    <a:pt x="13010" y="0"/>
                    <a:pt x="290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5"/>
            <p:cNvSpPr txBox="1"/>
            <p:nvPr/>
          </p:nvSpPr>
          <p:spPr>
            <a:xfrm>
              <a:off x="0" y="-47625"/>
              <a:ext cx="3578655" cy="16047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4" name="Google Shape;134;p5"/>
          <p:cNvSpPr txBox="1"/>
          <p:nvPr/>
        </p:nvSpPr>
        <p:spPr>
          <a:xfrm>
            <a:off x="3390048" y="4643242"/>
            <a:ext cx="11508000" cy="1000500"/>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Clr>
                <a:srgbClr val="000000"/>
              </a:buClr>
              <a:buSzPts val="9000"/>
              <a:buFont typeface="Arial"/>
              <a:buNone/>
            </a:pPr>
            <a:r>
              <a:rPr i="0" lang="en-US" sz="6500" u="none" cap="none" strike="noStrike">
                <a:solidFill>
                  <a:srgbClr val="000000"/>
                </a:solidFill>
                <a:latin typeface="Caveat"/>
                <a:ea typeface="Caveat"/>
                <a:cs typeface="Caveat"/>
                <a:sym typeface="Caveat"/>
              </a:rPr>
              <a:t>FUNCIONALIDAD DE ALMACENAJE</a:t>
            </a:r>
            <a:endParaRPr i="0" sz="6500" u="none" cap="none" strike="noStrike">
              <a:solidFill>
                <a:srgbClr val="000000"/>
              </a:solidFill>
              <a:latin typeface="Caveat"/>
              <a:ea typeface="Caveat"/>
              <a:cs typeface="Caveat"/>
              <a:sym typeface="Cave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140" name="Google Shape;140;p6"/>
          <p:cNvGrpSpPr/>
          <p:nvPr/>
        </p:nvGrpSpPr>
        <p:grpSpPr>
          <a:xfrm>
            <a:off x="1028700" y="847874"/>
            <a:ext cx="16230600" cy="8427131"/>
            <a:chOff x="0" y="-47625"/>
            <a:chExt cx="4274726" cy="2219491"/>
          </a:xfrm>
        </p:grpSpPr>
        <p:sp>
          <p:nvSpPr>
            <p:cNvPr id="141" name="Google Shape;141;p6"/>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6"/>
            <p:cNvSpPr txBox="1"/>
            <p:nvPr/>
          </p:nvSpPr>
          <p:spPr>
            <a:xfrm>
              <a:off x="0" y="-47625"/>
              <a:ext cx="4274726"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43" name="Google Shape;143;p6"/>
          <p:cNvGrpSpPr/>
          <p:nvPr/>
        </p:nvGrpSpPr>
        <p:grpSpPr>
          <a:xfrm>
            <a:off x="4067742" y="2796274"/>
            <a:ext cx="10152517" cy="4701596"/>
            <a:chOff x="0" y="9525"/>
            <a:chExt cx="13536689" cy="6268795"/>
          </a:xfrm>
        </p:grpSpPr>
        <p:sp>
          <p:nvSpPr>
            <p:cNvPr id="144" name="Google Shape;144;p6"/>
            <p:cNvSpPr txBox="1"/>
            <p:nvPr/>
          </p:nvSpPr>
          <p:spPr>
            <a:xfrm>
              <a:off x="0" y="9525"/>
              <a:ext cx="13536689" cy="1280287"/>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Introducción</a:t>
              </a:r>
              <a:endParaRPr b="0" i="0" sz="1400" u="none" cap="none" strike="noStrike">
                <a:solidFill>
                  <a:srgbClr val="000000"/>
                </a:solidFill>
                <a:latin typeface="Arial"/>
                <a:ea typeface="Arial"/>
                <a:cs typeface="Arial"/>
                <a:sym typeface="Arial"/>
              </a:endParaRPr>
            </a:p>
          </p:txBody>
        </p:sp>
        <p:sp>
          <p:nvSpPr>
            <p:cNvPr id="145" name="Google Shape;145;p6"/>
            <p:cNvSpPr txBox="1"/>
            <p:nvPr/>
          </p:nvSpPr>
          <p:spPr>
            <a:xfrm>
              <a:off x="0" y="1674147"/>
              <a:ext cx="13536689" cy="4604173"/>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La funcionalidad de almacenaje abarca las características, tecnologías y prácticas que permiten el manejo eficiente, seguro y accesible de datos dentro de una organización. Con una infraestructura adecuada, las empresas pueden almacenar, gestionar y recuperar información de manera efectiva.</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151" name="Google Shape;151;p7"/>
          <p:cNvGrpSpPr/>
          <p:nvPr/>
        </p:nvGrpSpPr>
        <p:grpSpPr>
          <a:xfrm>
            <a:off x="1028700" y="847874"/>
            <a:ext cx="13324941" cy="8427131"/>
            <a:chOff x="0" y="-47625"/>
            <a:chExt cx="3509449" cy="2219491"/>
          </a:xfrm>
        </p:grpSpPr>
        <p:sp>
          <p:nvSpPr>
            <p:cNvPr id="152" name="Google Shape;152;p7"/>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7"/>
            <p:cNvSpPr txBox="1"/>
            <p:nvPr/>
          </p:nvSpPr>
          <p:spPr>
            <a:xfrm>
              <a:off x="0" y="-47625"/>
              <a:ext cx="3509449"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4" name="Google Shape;154;p7"/>
          <p:cNvGrpSpPr/>
          <p:nvPr/>
        </p:nvGrpSpPr>
        <p:grpSpPr>
          <a:xfrm>
            <a:off x="11473281" y="1045405"/>
            <a:ext cx="5760720" cy="8229600"/>
            <a:chOff x="0" y="0"/>
            <a:chExt cx="4445000" cy="6350000"/>
          </a:xfrm>
        </p:grpSpPr>
        <p:sp>
          <p:nvSpPr>
            <p:cNvPr id="155" name="Google Shape;155;p7"/>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49811" r="-64596"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7"/>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7" name="Google Shape;157;p7"/>
          <p:cNvGrpSpPr/>
          <p:nvPr/>
        </p:nvGrpSpPr>
        <p:grpSpPr>
          <a:xfrm>
            <a:off x="2244781" y="1316294"/>
            <a:ext cx="8289385" cy="6790143"/>
            <a:chOff x="0" y="0"/>
            <a:chExt cx="11052513" cy="9053524"/>
          </a:xfrm>
        </p:grpSpPr>
        <p:sp>
          <p:nvSpPr>
            <p:cNvPr id="158" name="Google Shape;158;p7"/>
            <p:cNvSpPr txBox="1"/>
            <p:nvPr/>
          </p:nvSpPr>
          <p:spPr>
            <a:xfrm>
              <a:off x="0" y="0"/>
              <a:ext cx="11052513" cy="2083816"/>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Clr>
                  <a:srgbClr val="000000"/>
                </a:buClr>
                <a:buSzPts val="5200"/>
                <a:buFont typeface="Arial"/>
                <a:buNone/>
              </a:pPr>
              <a:r>
                <a:rPr b="0" i="0" lang="en-US" sz="5200" u="none" cap="none" strike="noStrike">
                  <a:solidFill>
                    <a:srgbClr val="000000"/>
                  </a:solidFill>
                  <a:latin typeface="Arial"/>
                  <a:ea typeface="Arial"/>
                  <a:cs typeface="Arial"/>
                  <a:sym typeface="Arial"/>
                </a:rPr>
                <a:t>Capacidad de Almacenamiento</a:t>
              </a:r>
              <a:endParaRPr b="0" i="0" sz="1400" u="none" cap="none" strike="noStrike">
                <a:solidFill>
                  <a:srgbClr val="000000"/>
                </a:solidFill>
                <a:latin typeface="Arial"/>
                <a:ea typeface="Arial"/>
                <a:cs typeface="Arial"/>
                <a:sym typeface="Arial"/>
              </a:endParaRPr>
            </a:p>
          </p:txBody>
        </p:sp>
        <p:sp>
          <p:nvSpPr>
            <p:cNvPr id="159" name="Google Shape;159;p7"/>
            <p:cNvSpPr txBox="1"/>
            <p:nvPr/>
          </p:nvSpPr>
          <p:spPr>
            <a:xfrm>
              <a:off x="0" y="2468151"/>
              <a:ext cx="11052513" cy="6585373"/>
            </a:xfrm>
            <a:prstGeom prst="rect">
              <a:avLst/>
            </a:prstGeom>
            <a:noFill/>
            <a:ln>
              <a:noFill/>
            </a:ln>
          </p:spPr>
          <p:txBody>
            <a:bodyPr anchorCtr="0" anchor="t" bIns="0" lIns="0" spcFirstLastPara="1" rIns="0" wrap="square" tIns="0">
              <a:spAutoFit/>
            </a:bodyPr>
            <a:lstStyle/>
            <a:p>
              <a:pPr indent="-302260" lvl="1" marL="604519"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La funcionalidad de almacenaje debe ofrecer suficiente espacio para guardar los datos actuales y permitir el crecimiento de la información en el tiempo.</a:t>
              </a:r>
              <a:endParaRPr b="0" i="0" sz="1400" u="none" cap="none" strike="noStrike">
                <a:solidFill>
                  <a:srgbClr val="000000"/>
                </a:solidFill>
                <a:latin typeface="Arial"/>
                <a:ea typeface="Arial"/>
                <a:cs typeface="Arial"/>
                <a:sym typeface="Arial"/>
              </a:endParaRPr>
            </a:p>
            <a:p>
              <a:pPr indent="-302260" lvl="1" marL="604519"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Esto implica considerar el tipo de almacenamiento (HDD, SSD, almacenamiento en la nube, etc.) y la cantidad de datos proyectada.</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165" name="Google Shape;165;p8"/>
          <p:cNvGrpSpPr/>
          <p:nvPr/>
        </p:nvGrpSpPr>
        <p:grpSpPr>
          <a:xfrm>
            <a:off x="1028700" y="847874"/>
            <a:ext cx="13324941" cy="8427131"/>
            <a:chOff x="0" y="-47625"/>
            <a:chExt cx="3509449" cy="2219491"/>
          </a:xfrm>
        </p:grpSpPr>
        <p:sp>
          <p:nvSpPr>
            <p:cNvPr id="166" name="Google Shape;166;p8"/>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8"/>
            <p:cNvSpPr txBox="1"/>
            <p:nvPr/>
          </p:nvSpPr>
          <p:spPr>
            <a:xfrm>
              <a:off x="0" y="-47625"/>
              <a:ext cx="3509449"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8"/>
          <p:cNvGrpSpPr/>
          <p:nvPr/>
        </p:nvGrpSpPr>
        <p:grpSpPr>
          <a:xfrm>
            <a:off x="11473281" y="1045405"/>
            <a:ext cx="5760720" cy="8229600"/>
            <a:chOff x="0" y="0"/>
            <a:chExt cx="4445000" cy="6350000"/>
          </a:xfrm>
        </p:grpSpPr>
        <p:sp>
          <p:nvSpPr>
            <p:cNvPr id="169" name="Google Shape;169;p8"/>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49811" r="-64596"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8"/>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p8"/>
          <p:cNvGrpSpPr/>
          <p:nvPr/>
        </p:nvGrpSpPr>
        <p:grpSpPr>
          <a:xfrm>
            <a:off x="2244781" y="1454407"/>
            <a:ext cx="8289385" cy="6513918"/>
            <a:chOff x="0" y="0"/>
            <a:chExt cx="11052513" cy="8685224"/>
          </a:xfrm>
        </p:grpSpPr>
        <p:sp>
          <p:nvSpPr>
            <p:cNvPr id="172" name="Google Shape;172;p8"/>
            <p:cNvSpPr txBox="1"/>
            <p:nvPr/>
          </p:nvSpPr>
          <p:spPr>
            <a:xfrm>
              <a:off x="0" y="0"/>
              <a:ext cx="11052513" cy="1055116"/>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Clr>
                  <a:srgbClr val="000000"/>
                </a:buClr>
                <a:buSzPts val="5200"/>
                <a:buFont typeface="Arial"/>
                <a:buNone/>
              </a:pPr>
              <a:r>
                <a:rPr b="0" i="0" lang="en-US" sz="5200" u="none" cap="none" strike="noStrike">
                  <a:solidFill>
                    <a:srgbClr val="000000"/>
                  </a:solidFill>
                  <a:latin typeface="Arial"/>
                  <a:ea typeface="Arial"/>
                  <a:cs typeface="Arial"/>
                  <a:sym typeface="Arial"/>
                </a:rPr>
                <a:t>Escalabilidad:</a:t>
              </a:r>
              <a:endParaRPr b="0" i="0" sz="1400" u="none" cap="none" strike="noStrike">
                <a:solidFill>
                  <a:srgbClr val="000000"/>
                </a:solidFill>
                <a:latin typeface="Arial"/>
                <a:ea typeface="Arial"/>
                <a:cs typeface="Arial"/>
                <a:sym typeface="Arial"/>
              </a:endParaRPr>
            </a:p>
          </p:txBody>
        </p:sp>
        <p:sp>
          <p:nvSpPr>
            <p:cNvPr id="173" name="Google Shape;173;p8"/>
            <p:cNvSpPr txBox="1"/>
            <p:nvPr/>
          </p:nvSpPr>
          <p:spPr>
            <a:xfrm>
              <a:off x="0" y="1439451"/>
              <a:ext cx="11052513" cy="7245773"/>
            </a:xfrm>
            <a:prstGeom prst="rect">
              <a:avLst/>
            </a:prstGeom>
            <a:noFill/>
            <a:ln>
              <a:noFill/>
            </a:ln>
          </p:spPr>
          <p:txBody>
            <a:bodyPr anchorCtr="0" anchor="t" bIns="0" lIns="0" spcFirstLastPara="1" rIns="0" wrap="square" tIns="0">
              <a:spAutoFit/>
            </a:bodyPr>
            <a:lstStyle/>
            <a:p>
              <a:pPr indent="-302260" lvl="1" marL="604519"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Un sistema de almacenamiento escalable permite aumentar o reducir la capacidad sin afectar las operaciones.</a:t>
              </a:r>
              <a:endParaRPr b="0" i="0" sz="1400" u="none" cap="none" strike="noStrike">
                <a:solidFill>
                  <a:srgbClr val="000000"/>
                </a:solidFill>
                <a:latin typeface="Arial"/>
                <a:ea typeface="Arial"/>
                <a:cs typeface="Arial"/>
                <a:sym typeface="Arial"/>
              </a:endParaRPr>
            </a:p>
            <a:p>
              <a:pPr indent="-302260" lvl="1" marL="604519"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La escalabilidad vertical permite aumentar la capacidad de un único servidor de almacenamiento, mientras que la escalabilidad horizontal distribuye los datos entre varios dispositivos o nodos.</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179" name="Google Shape;179;p9"/>
          <p:cNvGrpSpPr/>
          <p:nvPr/>
        </p:nvGrpSpPr>
        <p:grpSpPr>
          <a:xfrm>
            <a:off x="1028700" y="847874"/>
            <a:ext cx="13324941" cy="8427131"/>
            <a:chOff x="0" y="-47625"/>
            <a:chExt cx="3509449" cy="2219491"/>
          </a:xfrm>
        </p:grpSpPr>
        <p:sp>
          <p:nvSpPr>
            <p:cNvPr id="180" name="Google Shape;180;p9"/>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9"/>
            <p:cNvSpPr txBox="1"/>
            <p:nvPr/>
          </p:nvSpPr>
          <p:spPr>
            <a:xfrm>
              <a:off x="0" y="-47625"/>
              <a:ext cx="3509449"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p9"/>
          <p:cNvGrpSpPr/>
          <p:nvPr/>
        </p:nvGrpSpPr>
        <p:grpSpPr>
          <a:xfrm>
            <a:off x="11473281" y="1045405"/>
            <a:ext cx="5760720" cy="8229600"/>
            <a:chOff x="0" y="0"/>
            <a:chExt cx="4445000" cy="6350000"/>
          </a:xfrm>
        </p:grpSpPr>
        <p:sp>
          <p:nvSpPr>
            <p:cNvPr id="183" name="Google Shape;183;p9"/>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49811" r="-64596"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9"/>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5" name="Google Shape;185;p9"/>
          <p:cNvGrpSpPr/>
          <p:nvPr/>
        </p:nvGrpSpPr>
        <p:grpSpPr>
          <a:xfrm>
            <a:off x="2244781" y="1206757"/>
            <a:ext cx="8289385" cy="7009218"/>
            <a:chOff x="0" y="0"/>
            <a:chExt cx="11052513" cy="9345624"/>
          </a:xfrm>
        </p:grpSpPr>
        <p:sp>
          <p:nvSpPr>
            <p:cNvPr id="186" name="Google Shape;186;p9"/>
            <p:cNvSpPr txBox="1"/>
            <p:nvPr/>
          </p:nvSpPr>
          <p:spPr>
            <a:xfrm>
              <a:off x="0" y="0"/>
              <a:ext cx="11052513" cy="1055116"/>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Clr>
                  <a:srgbClr val="000000"/>
                </a:buClr>
                <a:buSzPts val="5200"/>
                <a:buFont typeface="Arial"/>
                <a:buNone/>
              </a:pPr>
              <a:r>
                <a:rPr b="0" i="0" lang="en-US" sz="5200" u="none" cap="none" strike="noStrike">
                  <a:solidFill>
                    <a:srgbClr val="000000"/>
                  </a:solidFill>
                  <a:latin typeface="Arial"/>
                  <a:ea typeface="Arial"/>
                  <a:cs typeface="Arial"/>
                  <a:sym typeface="Arial"/>
                </a:rPr>
                <a:t>Accesibilidad</a:t>
              </a:r>
              <a:endParaRPr b="0" i="0" sz="1400" u="none" cap="none" strike="noStrike">
                <a:solidFill>
                  <a:srgbClr val="000000"/>
                </a:solidFill>
                <a:latin typeface="Arial"/>
                <a:ea typeface="Arial"/>
                <a:cs typeface="Arial"/>
                <a:sym typeface="Arial"/>
              </a:endParaRPr>
            </a:p>
          </p:txBody>
        </p:sp>
        <p:sp>
          <p:nvSpPr>
            <p:cNvPr id="187" name="Google Shape;187;p9"/>
            <p:cNvSpPr txBox="1"/>
            <p:nvPr/>
          </p:nvSpPr>
          <p:spPr>
            <a:xfrm>
              <a:off x="0" y="1439451"/>
              <a:ext cx="11052513" cy="7906173"/>
            </a:xfrm>
            <a:prstGeom prst="rect">
              <a:avLst/>
            </a:prstGeom>
            <a:noFill/>
            <a:ln>
              <a:noFill/>
            </a:ln>
          </p:spPr>
          <p:txBody>
            <a:bodyPr anchorCtr="0" anchor="t" bIns="0" lIns="0" spcFirstLastPara="1" rIns="0" wrap="square" tIns="0">
              <a:spAutoFit/>
            </a:bodyPr>
            <a:lstStyle/>
            <a:p>
              <a:pPr indent="-302260" lvl="1" marL="604519"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La infraestructura de almacenamiento debe permitir el acceso rápido y eficiente a los datos, lo cual es crucial en entornos de negocio dinámicos donde los usuarios necesitan acceder a la información de manera inmediata.</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a:p>
              <a:pPr indent="-302260" lvl="1" marL="604519"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Deben implementarse medidas para permitir el acceso remoto seguro, facilitando el trabajo desde cualquier ubicación y dispositivo autorizado</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193" name="Google Shape;193;p10"/>
          <p:cNvGrpSpPr/>
          <p:nvPr/>
        </p:nvGrpSpPr>
        <p:grpSpPr>
          <a:xfrm>
            <a:off x="1028700" y="847874"/>
            <a:ext cx="13324941" cy="8427131"/>
            <a:chOff x="0" y="-47625"/>
            <a:chExt cx="3509449" cy="2219491"/>
          </a:xfrm>
        </p:grpSpPr>
        <p:sp>
          <p:nvSpPr>
            <p:cNvPr id="194" name="Google Shape;194;p10"/>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0"/>
            <p:cNvSpPr txBox="1"/>
            <p:nvPr/>
          </p:nvSpPr>
          <p:spPr>
            <a:xfrm>
              <a:off x="0" y="-47625"/>
              <a:ext cx="3509449"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10"/>
          <p:cNvGrpSpPr/>
          <p:nvPr/>
        </p:nvGrpSpPr>
        <p:grpSpPr>
          <a:xfrm>
            <a:off x="11473281" y="1045405"/>
            <a:ext cx="5760720" cy="8229600"/>
            <a:chOff x="0" y="0"/>
            <a:chExt cx="4445000" cy="6350000"/>
          </a:xfrm>
        </p:grpSpPr>
        <p:sp>
          <p:nvSpPr>
            <p:cNvPr id="197" name="Google Shape;197;p10"/>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49811" r="-64596"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0"/>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9" name="Google Shape;199;p10"/>
          <p:cNvGrpSpPr/>
          <p:nvPr/>
        </p:nvGrpSpPr>
        <p:grpSpPr>
          <a:xfrm>
            <a:off x="2265521" y="1391241"/>
            <a:ext cx="8289385" cy="7504518"/>
            <a:chOff x="0" y="0"/>
            <a:chExt cx="11052513" cy="10006024"/>
          </a:xfrm>
        </p:grpSpPr>
        <p:sp>
          <p:nvSpPr>
            <p:cNvPr id="200" name="Google Shape;200;p10"/>
            <p:cNvSpPr txBox="1"/>
            <p:nvPr/>
          </p:nvSpPr>
          <p:spPr>
            <a:xfrm>
              <a:off x="0" y="0"/>
              <a:ext cx="11052513" cy="1055116"/>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Clr>
                  <a:srgbClr val="000000"/>
                </a:buClr>
                <a:buSzPts val="5200"/>
                <a:buFont typeface="Arial"/>
                <a:buNone/>
              </a:pPr>
              <a:r>
                <a:rPr b="0" i="0" lang="en-US" sz="5200" u="none" cap="none" strike="noStrike">
                  <a:solidFill>
                    <a:srgbClr val="000000"/>
                  </a:solidFill>
                  <a:latin typeface="Arial"/>
                  <a:ea typeface="Arial"/>
                  <a:cs typeface="Arial"/>
                  <a:sym typeface="Arial"/>
                </a:rPr>
                <a:t>Disponibilidad</a:t>
              </a:r>
              <a:endParaRPr b="0" i="0" sz="1400" u="none" cap="none" strike="noStrike">
                <a:solidFill>
                  <a:srgbClr val="000000"/>
                </a:solidFill>
                <a:latin typeface="Arial"/>
                <a:ea typeface="Arial"/>
                <a:cs typeface="Arial"/>
                <a:sym typeface="Arial"/>
              </a:endParaRPr>
            </a:p>
          </p:txBody>
        </p:sp>
        <p:sp>
          <p:nvSpPr>
            <p:cNvPr id="201" name="Google Shape;201;p10"/>
            <p:cNvSpPr txBox="1"/>
            <p:nvPr/>
          </p:nvSpPr>
          <p:spPr>
            <a:xfrm>
              <a:off x="0" y="1439451"/>
              <a:ext cx="11052513" cy="8566573"/>
            </a:xfrm>
            <a:prstGeom prst="rect">
              <a:avLst/>
            </a:prstGeom>
            <a:noFill/>
            <a:ln>
              <a:noFill/>
            </a:ln>
          </p:spPr>
          <p:txBody>
            <a:bodyPr anchorCtr="0" anchor="t" bIns="0" lIns="0" spcFirstLastPara="1" rIns="0" wrap="square" tIns="0">
              <a:spAutoFit/>
            </a:bodyPr>
            <a:lstStyle/>
            <a:p>
              <a:pPr indent="-302260" lvl="1" marL="604519"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Los sistemas de almacenamiento deben estar disponibles en todo momento para evitar interrupciones en los servicios o en el acceso a la información.</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a:p>
              <a:pPr indent="-302260" lvl="1" marL="604519" marR="0" rtl="0" algn="just">
                <a:lnSpc>
                  <a:spcPct val="140014"/>
                </a:lnSpc>
                <a:spcBef>
                  <a:spcPts val="0"/>
                </a:spcBef>
                <a:spcAft>
                  <a:spcPts val="0"/>
                </a:spcAft>
                <a:buClr>
                  <a:srgbClr val="000000"/>
                </a:buClr>
                <a:buSzPts val="2799"/>
                <a:buFont typeface="Arial"/>
                <a:buChar char="•"/>
              </a:pPr>
              <a:r>
                <a:rPr b="0" i="0" lang="en-US" sz="2799" u="none" cap="none" strike="noStrike">
                  <a:solidFill>
                    <a:srgbClr val="000000"/>
                  </a:solidFill>
                  <a:latin typeface="Arial"/>
                  <a:ea typeface="Arial"/>
                  <a:cs typeface="Arial"/>
                  <a:sym typeface="Arial"/>
                </a:rPr>
                <a:t>Los sistemas de alta disponibilidad incluyen mecanismos de redundancia y recuperación automática ante fallos, como el uso de clústeres y balanceo de carga, para garantizar la continuidad.</a:t>
              </a:r>
              <a:endParaRPr b="0" i="0" sz="14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207" name="Google Shape;207;p11"/>
          <p:cNvGrpSpPr/>
          <p:nvPr/>
        </p:nvGrpSpPr>
        <p:grpSpPr>
          <a:xfrm>
            <a:off x="2350147" y="2006525"/>
            <a:ext cx="13587705" cy="6093123"/>
            <a:chOff x="0" y="-47625"/>
            <a:chExt cx="3578655" cy="1604773"/>
          </a:xfrm>
        </p:grpSpPr>
        <p:sp>
          <p:nvSpPr>
            <p:cNvPr id="208" name="Google Shape;208;p11"/>
            <p:cNvSpPr/>
            <p:nvPr/>
          </p:nvSpPr>
          <p:spPr>
            <a:xfrm>
              <a:off x="0" y="0"/>
              <a:ext cx="3578655" cy="1557148"/>
            </a:xfrm>
            <a:custGeom>
              <a:rect b="b" l="l" r="r" t="t"/>
              <a:pathLst>
                <a:path extrusionOk="0" h="1557148" w="3578655">
                  <a:moveTo>
                    <a:pt x="29058" y="0"/>
                  </a:moveTo>
                  <a:lnTo>
                    <a:pt x="3549597" y="0"/>
                  </a:lnTo>
                  <a:cubicBezTo>
                    <a:pt x="3565645" y="0"/>
                    <a:pt x="3578655" y="13010"/>
                    <a:pt x="3578655" y="29058"/>
                  </a:cubicBezTo>
                  <a:lnTo>
                    <a:pt x="3578655" y="1528090"/>
                  </a:lnTo>
                  <a:cubicBezTo>
                    <a:pt x="3578655" y="1544138"/>
                    <a:pt x="3565645" y="1557148"/>
                    <a:pt x="3549597" y="1557148"/>
                  </a:cubicBezTo>
                  <a:lnTo>
                    <a:pt x="29058" y="1557148"/>
                  </a:lnTo>
                  <a:cubicBezTo>
                    <a:pt x="13010" y="1557148"/>
                    <a:pt x="0" y="1544138"/>
                    <a:pt x="0" y="1528090"/>
                  </a:cubicBezTo>
                  <a:lnTo>
                    <a:pt x="0" y="29058"/>
                  </a:lnTo>
                  <a:cubicBezTo>
                    <a:pt x="0" y="13010"/>
                    <a:pt x="13010" y="0"/>
                    <a:pt x="290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1"/>
            <p:cNvSpPr txBox="1"/>
            <p:nvPr/>
          </p:nvSpPr>
          <p:spPr>
            <a:xfrm>
              <a:off x="0" y="-47625"/>
              <a:ext cx="3578655" cy="16047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11"/>
          <p:cNvGrpSpPr/>
          <p:nvPr/>
        </p:nvGrpSpPr>
        <p:grpSpPr>
          <a:xfrm>
            <a:off x="3197044" y="3555167"/>
            <a:ext cx="11893913" cy="3515648"/>
            <a:chOff x="0" y="9525"/>
            <a:chExt cx="15858550" cy="4687531"/>
          </a:xfrm>
        </p:grpSpPr>
        <p:sp>
          <p:nvSpPr>
            <p:cNvPr id="211" name="Google Shape;211;p11"/>
            <p:cNvSpPr txBox="1"/>
            <p:nvPr/>
          </p:nvSpPr>
          <p:spPr>
            <a:xfrm>
              <a:off x="0" y="9525"/>
              <a:ext cx="15858550" cy="3592195"/>
            </a:xfrm>
            <a:prstGeom prst="rect">
              <a:avLst/>
            </a:prstGeom>
            <a:noFill/>
            <a:ln>
              <a:noFill/>
            </a:ln>
          </p:spPr>
          <p:txBody>
            <a:bodyPr anchorCtr="0" anchor="t" bIns="0" lIns="0" spcFirstLastPara="1" rIns="0" wrap="square" tIns="0">
              <a:spAutoFit/>
            </a:bodyPr>
            <a:lstStyle/>
            <a:p>
              <a:pPr indent="0" lvl="0" marL="0" marR="0" rtl="0" algn="ctr">
                <a:lnSpc>
                  <a:spcPct val="117001"/>
                </a:lnSpc>
                <a:spcBef>
                  <a:spcPts val="0"/>
                </a:spcBef>
                <a:spcAft>
                  <a:spcPts val="0"/>
                </a:spcAft>
                <a:buClr>
                  <a:srgbClr val="000000"/>
                </a:buClr>
                <a:buSzPts val="8999"/>
                <a:buFont typeface="Arial"/>
                <a:buNone/>
              </a:pPr>
              <a:r>
                <a:rPr b="0" i="0" lang="en-US" sz="8999" u="none" cap="none" strike="noStrike">
                  <a:solidFill>
                    <a:srgbClr val="000000"/>
                  </a:solidFill>
                  <a:latin typeface="Arial"/>
                  <a:ea typeface="Arial"/>
                  <a:cs typeface="Arial"/>
                  <a:sym typeface="Arial"/>
                </a:rPr>
                <a:t>Seguridad de Almacenamiento</a:t>
              </a:r>
              <a:endParaRPr b="0" i="0" sz="1400" u="none" cap="none" strike="noStrike">
                <a:solidFill>
                  <a:srgbClr val="000000"/>
                </a:solidFill>
                <a:latin typeface="Arial"/>
                <a:ea typeface="Arial"/>
                <a:cs typeface="Arial"/>
                <a:sym typeface="Arial"/>
              </a:endParaRPr>
            </a:p>
          </p:txBody>
        </p:sp>
        <p:sp>
          <p:nvSpPr>
            <p:cNvPr id="212" name="Google Shape;212;p11"/>
            <p:cNvSpPr txBox="1"/>
            <p:nvPr/>
          </p:nvSpPr>
          <p:spPr>
            <a:xfrm>
              <a:off x="0" y="3925578"/>
              <a:ext cx="15858550" cy="771478"/>
            </a:xfrm>
            <a:prstGeom prst="rect">
              <a:avLst/>
            </a:prstGeom>
            <a:noFill/>
            <a:ln>
              <a:noFill/>
            </a:ln>
          </p:spPr>
          <p:txBody>
            <a:bodyPr anchorCtr="0" anchor="t" bIns="0" lIns="0" spcFirstLastPara="1" rIns="0" wrap="square" tIns="0">
              <a:spAutoFit/>
            </a:bodyPr>
            <a:lstStyle/>
            <a:p>
              <a:pPr indent="0" lvl="0" marL="0" marR="0" rtl="0" algn="l">
                <a:lnSpc>
                  <a:spcPct val="269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218" name="Google Shape;218;p12"/>
          <p:cNvGrpSpPr/>
          <p:nvPr/>
        </p:nvGrpSpPr>
        <p:grpSpPr>
          <a:xfrm>
            <a:off x="1028700" y="847874"/>
            <a:ext cx="16230600" cy="2006234"/>
            <a:chOff x="0" y="-47625"/>
            <a:chExt cx="4274726" cy="528391"/>
          </a:xfrm>
        </p:grpSpPr>
        <p:sp>
          <p:nvSpPr>
            <p:cNvPr id="219" name="Google Shape;219;p12"/>
            <p:cNvSpPr/>
            <p:nvPr/>
          </p:nvSpPr>
          <p:spPr>
            <a:xfrm>
              <a:off x="0" y="0"/>
              <a:ext cx="4274726" cy="480766"/>
            </a:xfrm>
            <a:custGeom>
              <a:rect b="b" l="l" r="r" t="t"/>
              <a:pathLst>
                <a:path extrusionOk="0" h="480766" w="4274726">
                  <a:moveTo>
                    <a:pt x="24327" y="0"/>
                  </a:moveTo>
                  <a:lnTo>
                    <a:pt x="4250399" y="0"/>
                  </a:lnTo>
                  <a:cubicBezTo>
                    <a:pt x="4263834" y="0"/>
                    <a:pt x="4274726" y="10891"/>
                    <a:pt x="4274726" y="24327"/>
                  </a:cubicBezTo>
                  <a:lnTo>
                    <a:pt x="4274726" y="456439"/>
                  </a:lnTo>
                  <a:cubicBezTo>
                    <a:pt x="4274726" y="469875"/>
                    <a:pt x="4263834" y="480766"/>
                    <a:pt x="4250399" y="480766"/>
                  </a:cubicBezTo>
                  <a:lnTo>
                    <a:pt x="24327" y="480766"/>
                  </a:lnTo>
                  <a:cubicBezTo>
                    <a:pt x="10891" y="480766"/>
                    <a:pt x="0" y="469875"/>
                    <a:pt x="0" y="456439"/>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2"/>
            <p:cNvSpPr txBox="1"/>
            <p:nvPr/>
          </p:nvSpPr>
          <p:spPr>
            <a:xfrm>
              <a:off x="0" y="-47625"/>
              <a:ext cx="4274726" cy="5283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1" name="Google Shape;221;p12"/>
          <p:cNvGrpSpPr/>
          <p:nvPr/>
        </p:nvGrpSpPr>
        <p:grpSpPr>
          <a:xfrm>
            <a:off x="2400189" y="4238208"/>
            <a:ext cx="4305416" cy="5020092"/>
            <a:chOff x="0" y="-47625"/>
            <a:chExt cx="1133937" cy="1322164"/>
          </a:xfrm>
        </p:grpSpPr>
        <p:sp>
          <p:nvSpPr>
            <p:cNvPr id="222" name="Google Shape;222;p12"/>
            <p:cNvSpPr/>
            <p:nvPr/>
          </p:nvSpPr>
          <p:spPr>
            <a:xfrm>
              <a:off x="0" y="0"/>
              <a:ext cx="1133937" cy="1274539"/>
            </a:xfrm>
            <a:custGeom>
              <a:rect b="b" l="l" r="r" t="t"/>
              <a:pathLst>
                <a:path extrusionOk="0" h="1274539" w="1133937">
                  <a:moveTo>
                    <a:pt x="91707" y="0"/>
                  </a:moveTo>
                  <a:lnTo>
                    <a:pt x="1042230" y="0"/>
                  </a:lnTo>
                  <a:cubicBezTo>
                    <a:pt x="1092878" y="0"/>
                    <a:pt x="1133937" y="41059"/>
                    <a:pt x="1133937" y="91707"/>
                  </a:cubicBezTo>
                  <a:lnTo>
                    <a:pt x="1133937" y="1182832"/>
                  </a:lnTo>
                  <a:cubicBezTo>
                    <a:pt x="1133937" y="1233481"/>
                    <a:pt x="1092878" y="1274539"/>
                    <a:pt x="1042230" y="1274539"/>
                  </a:cubicBezTo>
                  <a:lnTo>
                    <a:pt x="91707" y="1274539"/>
                  </a:lnTo>
                  <a:cubicBezTo>
                    <a:pt x="41059" y="1274539"/>
                    <a:pt x="0" y="1233481"/>
                    <a:pt x="0" y="1182832"/>
                  </a:cubicBezTo>
                  <a:lnTo>
                    <a:pt x="0" y="91707"/>
                  </a:lnTo>
                  <a:cubicBezTo>
                    <a:pt x="0" y="41059"/>
                    <a:pt x="41059" y="0"/>
                    <a:pt x="9170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2"/>
            <p:cNvSpPr txBox="1"/>
            <p:nvPr/>
          </p:nvSpPr>
          <p:spPr>
            <a:xfrm>
              <a:off x="0" y="-47625"/>
              <a:ext cx="1133937" cy="13221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p12"/>
          <p:cNvGrpSpPr/>
          <p:nvPr/>
        </p:nvGrpSpPr>
        <p:grpSpPr>
          <a:xfrm>
            <a:off x="6991228" y="4238208"/>
            <a:ext cx="4305416" cy="5020092"/>
            <a:chOff x="0" y="-47625"/>
            <a:chExt cx="1133937" cy="1322164"/>
          </a:xfrm>
        </p:grpSpPr>
        <p:sp>
          <p:nvSpPr>
            <p:cNvPr id="225" name="Google Shape;225;p12"/>
            <p:cNvSpPr/>
            <p:nvPr/>
          </p:nvSpPr>
          <p:spPr>
            <a:xfrm>
              <a:off x="0" y="0"/>
              <a:ext cx="1133937" cy="1274539"/>
            </a:xfrm>
            <a:custGeom>
              <a:rect b="b" l="l" r="r" t="t"/>
              <a:pathLst>
                <a:path extrusionOk="0" h="1274539" w="1133937">
                  <a:moveTo>
                    <a:pt x="91707" y="0"/>
                  </a:moveTo>
                  <a:lnTo>
                    <a:pt x="1042230" y="0"/>
                  </a:lnTo>
                  <a:cubicBezTo>
                    <a:pt x="1092878" y="0"/>
                    <a:pt x="1133937" y="41059"/>
                    <a:pt x="1133937" y="91707"/>
                  </a:cubicBezTo>
                  <a:lnTo>
                    <a:pt x="1133937" y="1182832"/>
                  </a:lnTo>
                  <a:cubicBezTo>
                    <a:pt x="1133937" y="1233481"/>
                    <a:pt x="1092878" y="1274539"/>
                    <a:pt x="1042230" y="1274539"/>
                  </a:cubicBezTo>
                  <a:lnTo>
                    <a:pt x="91707" y="1274539"/>
                  </a:lnTo>
                  <a:cubicBezTo>
                    <a:pt x="41059" y="1274539"/>
                    <a:pt x="0" y="1233481"/>
                    <a:pt x="0" y="1182832"/>
                  </a:cubicBezTo>
                  <a:lnTo>
                    <a:pt x="0" y="91707"/>
                  </a:lnTo>
                  <a:cubicBezTo>
                    <a:pt x="0" y="41059"/>
                    <a:pt x="41059" y="0"/>
                    <a:pt x="9170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2"/>
            <p:cNvSpPr txBox="1"/>
            <p:nvPr/>
          </p:nvSpPr>
          <p:spPr>
            <a:xfrm>
              <a:off x="0" y="-47625"/>
              <a:ext cx="1133937" cy="13221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p12"/>
          <p:cNvGrpSpPr/>
          <p:nvPr/>
        </p:nvGrpSpPr>
        <p:grpSpPr>
          <a:xfrm>
            <a:off x="11582395" y="4238208"/>
            <a:ext cx="4305416" cy="5020092"/>
            <a:chOff x="0" y="-47625"/>
            <a:chExt cx="1133937" cy="1322164"/>
          </a:xfrm>
        </p:grpSpPr>
        <p:sp>
          <p:nvSpPr>
            <p:cNvPr id="228" name="Google Shape;228;p12"/>
            <p:cNvSpPr/>
            <p:nvPr/>
          </p:nvSpPr>
          <p:spPr>
            <a:xfrm>
              <a:off x="0" y="0"/>
              <a:ext cx="1133937" cy="1274539"/>
            </a:xfrm>
            <a:custGeom>
              <a:rect b="b" l="l" r="r" t="t"/>
              <a:pathLst>
                <a:path extrusionOk="0" h="1274539" w="1133937">
                  <a:moveTo>
                    <a:pt x="91707" y="0"/>
                  </a:moveTo>
                  <a:lnTo>
                    <a:pt x="1042230" y="0"/>
                  </a:lnTo>
                  <a:cubicBezTo>
                    <a:pt x="1092878" y="0"/>
                    <a:pt x="1133937" y="41059"/>
                    <a:pt x="1133937" y="91707"/>
                  </a:cubicBezTo>
                  <a:lnTo>
                    <a:pt x="1133937" y="1182832"/>
                  </a:lnTo>
                  <a:cubicBezTo>
                    <a:pt x="1133937" y="1233481"/>
                    <a:pt x="1092878" y="1274539"/>
                    <a:pt x="1042230" y="1274539"/>
                  </a:cubicBezTo>
                  <a:lnTo>
                    <a:pt x="91707" y="1274539"/>
                  </a:lnTo>
                  <a:cubicBezTo>
                    <a:pt x="41059" y="1274539"/>
                    <a:pt x="0" y="1233481"/>
                    <a:pt x="0" y="1182832"/>
                  </a:cubicBezTo>
                  <a:lnTo>
                    <a:pt x="0" y="91707"/>
                  </a:lnTo>
                  <a:cubicBezTo>
                    <a:pt x="0" y="41059"/>
                    <a:pt x="41059" y="0"/>
                    <a:pt x="9170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2"/>
            <p:cNvSpPr txBox="1"/>
            <p:nvPr/>
          </p:nvSpPr>
          <p:spPr>
            <a:xfrm>
              <a:off x="0" y="-47625"/>
              <a:ext cx="1133937" cy="13221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0" name="Google Shape;230;p12"/>
          <p:cNvSpPr/>
          <p:nvPr/>
        </p:nvSpPr>
        <p:spPr>
          <a:xfrm>
            <a:off x="3610645" y="3289812"/>
            <a:ext cx="1884504" cy="1884497"/>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4">
              <a:alphaModFix/>
            </a:blip>
            <a:stretch>
              <a:fillRect b="0" l="-24899" r="-24899"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2"/>
          <p:cNvSpPr/>
          <p:nvPr/>
        </p:nvSpPr>
        <p:spPr>
          <a:xfrm>
            <a:off x="8201684" y="3289812"/>
            <a:ext cx="1884504" cy="1884497"/>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5">
              <a:alphaModFix/>
            </a:blip>
            <a:stretch>
              <a:fillRect b="0" l="-24971" r="-24971"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2"/>
          <p:cNvSpPr/>
          <p:nvPr/>
        </p:nvSpPr>
        <p:spPr>
          <a:xfrm>
            <a:off x="12792851" y="3289812"/>
            <a:ext cx="1884504" cy="1884497"/>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6">
              <a:alphaModFix/>
            </a:blip>
            <a:stretch>
              <a:fillRect b="0" l="-25043" r="-25041"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2"/>
          <p:cNvSpPr txBox="1"/>
          <p:nvPr/>
        </p:nvSpPr>
        <p:spPr>
          <a:xfrm>
            <a:off x="2076451" y="1535040"/>
            <a:ext cx="14074140" cy="957834"/>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Puntos clave </a:t>
            </a:r>
            <a:endParaRPr b="0" i="0" sz="1400" u="none" cap="none" strike="noStrike">
              <a:solidFill>
                <a:srgbClr val="000000"/>
              </a:solidFill>
              <a:latin typeface="Arial"/>
              <a:ea typeface="Arial"/>
              <a:cs typeface="Arial"/>
              <a:sym typeface="Arial"/>
            </a:endParaRPr>
          </a:p>
        </p:txBody>
      </p:sp>
      <p:grpSp>
        <p:nvGrpSpPr>
          <p:cNvPr id="234" name="Google Shape;234;p12"/>
          <p:cNvGrpSpPr/>
          <p:nvPr/>
        </p:nvGrpSpPr>
        <p:grpSpPr>
          <a:xfrm>
            <a:off x="2918951" y="5902332"/>
            <a:ext cx="3267891" cy="2332868"/>
            <a:chOff x="0" y="0"/>
            <a:chExt cx="4357189" cy="3110490"/>
          </a:xfrm>
        </p:grpSpPr>
        <p:sp>
          <p:nvSpPr>
            <p:cNvPr id="235" name="Google Shape;235;p12"/>
            <p:cNvSpPr txBox="1"/>
            <p:nvPr/>
          </p:nvSpPr>
          <p:spPr>
            <a:xfrm>
              <a:off x="0" y="0"/>
              <a:ext cx="4357189" cy="781735"/>
            </a:xfrm>
            <a:prstGeom prst="rect">
              <a:avLst/>
            </a:prstGeom>
            <a:noFill/>
            <a:ln>
              <a:noFill/>
            </a:ln>
          </p:spPr>
          <p:txBody>
            <a:bodyPr anchorCtr="0" anchor="t" bIns="0" lIns="0" spcFirstLastPara="1" rIns="0" wrap="square" tIns="0">
              <a:spAutoFit/>
            </a:bodyPr>
            <a:lstStyle/>
            <a:p>
              <a:pPr indent="0" lvl="0" marL="0" marR="0" rtl="0" algn="ctr">
                <a:lnSpc>
                  <a:spcPct val="117018"/>
                </a:lnSpc>
                <a:spcBef>
                  <a:spcPts val="0"/>
                </a:spcBef>
                <a:spcAft>
                  <a:spcPts val="0"/>
                </a:spcAft>
                <a:buClr>
                  <a:srgbClr val="000000"/>
                </a:buClr>
                <a:buSzPts val="3884"/>
                <a:buFont typeface="Arial"/>
                <a:buNone/>
              </a:pPr>
              <a:r>
                <a:rPr b="0" i="0" lang="en-US" sz="3884" u="none" cap="none" strike="noStrike">
                  <a:solidFill>
                    <a:srgbClr val="000000"/>
                  </a:solidFill>
                  <a:latin typeface="Arial"/>
                  <a:ea typeface="Arial"/>
                  <a:cs typeface="Arial"/>
                  <a:sym typeface="Arial"/>
                </a:rPr>
                <a:t>Cifrado</a:t>
              </a:r>
              <a:endParaRPr b="0" i="0" sz="1400" u="none" cap="none" strike="noStrike">
                <a:solidFill>
                  <a:srgbClr val="000000"/>
                </a:solidFill>
                <a:latin typeface="Arial"/>
                <a:ea typeface="Arial"/>
                <a:cs typeface="Arial"/>
                <a:sym typeface="Arial"/>
              </a:endParaRPr>
            </a:p>
          </p:txBody>
        </p:sp>
        <p:sp>
          <p:nvSpPr>
            <p:cNvPr id="236" name="Google Shape;236;p12"/>
            <p:cNvSpPr txBox="1"/>
            <p:nvPr/>
          </p:nvSpPr>
          <p:spPr>
            <a:xfrm>
              <a:off x="0" y="1161449"/>
              <a:ext cx="4357189" cy="1949041"/>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z="1699" u="none" cap="none" strike="noStrike">
                  <a:solidFill>
                    <a:srgbClr val="000000"/>
                  </a:solidFill>
                  <a:latin typeface="Arial"/>
                  <a:ea typeface="Arial"/>
                  <a:cs typeface="Arial"/>
                  <a:sym typeface="Arial"/>
                </a:rPr>
                <a:t>Cifrar los datos almacenados asegura que, en caso de acceso no autorizado, la información no sea legible.</a:t>
              </a:r>
              <a:endParaRPr b="0" i="0" sz="1400" u="none" cap="none" strike="noStrike">
                <a:solidFill>
                  <a:srgbClr val="000000"/>
                </a:solidFill>
                <a:latin typeface="Arial"/>
                <a:ea typeface="Arial"/>
                <a:cs typeface="Arial"/>
                <a:sym typeface="Arial"/>
              </a:endParaRPr>
            </a:p>
          </p:txBody>
        </p:sp>
      </p:grpSp>
      <p:grpSp>
        <p:nvGrpSpPr>
          <p:cNvPr id="237" name="Google Shape;237;p12"/>
          <p:cNvGrpSpPr/>
          <p:nvPr/>
        </p:nvGrpSpPr>
        <p:grpSpPr>
          <a:xfrm>
            <a:off x="7509991" y="5321307"/>
            <a:ext cx="3267891" cy="3494918"/>
            <a:chOff x="0" y="0"/>
            <a:chExt cx="4357189" cy="4659890"/>
          </a:xfrm>
        </p:grpSpPr>
        <p:sp>
          <p:nvSpPr>
            <p:cNvPr id="238" name="Google Shape;238;p12"/>
            <p:cNvSpPr txBox="1"/>
            <p:nvPr/>
          </p:nvSpPr>
          <p:spPr>
            <a:xfrm>
              <a:off x="0" y="0"/>
              <a:ext cx="4357189" cy="1543735"/>
            </a:xfrm>
            <a:prstGeom prst="rect">
              <a:avLst/>
            </a:prstGeom>
            <a:noFill/>
            <a:ln>
              <a:noFill/>
            </a:ln>
          </p:spPr>
          <p:txBody>
            <a:bodyPr anchorCtr="0" anchor="t" bIns="0" lIns="0" spcFirstLastPara="1" rIns="0" wrap="square" tIns="0">
              <a:spAutoFit/>
            </a:bodyPr>
            <a:lstStyle/>
            <a:p>
              <a:pPr indent="0" lvl="0" marL="0" marR="0" rtl="0" algn="ctr">
                <a:lnSpc>
                  <a:spcPct val="117018"/>
                </a:lnSpc>
                <a:spcBef>
                  <a:spcPts val="0"/>
                </a:spcBef>
                <a:spcAft>
                  <a:spcPts val="0"/>
                </a:spcAft>
                <a:buClr>
                  <a:srgbClr val="000000"/>
                </a:buClr>
                <a:buSzPts val="3884"/>
                <a:buFont typeface="Arial"/>
                <a:buNone/>
              </a:pPr>
              <a:r>
                <a:rPr b="0" i="0" lang="en-US" sz="3884" u="none" cap="none" strike="noStrike">
                  <a:solidFill>
                    <a:srgbClr val="000000"/>
                  </a:solidFill>
                  <a:latin typeface="Arial"/>
                  <a:ea typeface="Arial"/>
                  <a:cs typeface="Arial"/>
                  <a:sym typeface="Arial"/>
                </a:rPr>
                <a:t>Control de acceso</a:t>
              </a:r>
              <a:endParaRPr b="0" i="0" sz="1400" u="none" cap="none" strike="noStrike">
                <a:solidFill>
                  <a:srgbClr val="000000"/>
                </a:solidFill>
                <a:latin typeface="Arial"/>
                <a:ea typeface="Arial"/>
                <a:cs typeface="Arial"/>
                <a:sym typeface="Arial"/>
              </a:endParaRPr>
            </a:p>
          </p:txBody>
        </p:sp>
        <p:sp>
          <p:nvSpPr>
            <p:cNvPr id="239" name="Google Shape;239;p12"/>
            <p:cNvSpPr txBox="1"/>
            <p:nvPr/>
          </p:nvSpPr>
          <p:spPr>
            <a:xfrm>
              <a:off x="0" y="1923449"/>
              <a:ext cx="4357189" cy="2736441"/>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z="1699" u="none" cap="none" strike="noStrike">
                  <a:solidFill>
                    <a:srgbClr val="000000"/>
                  </a:solidFill>
                  <a:latin typeface="Arial"/>
                  <a:ea typeface="Arial"/>
                  <a:cs typeface="Arial"/>
                  <a:sym typeface="Arial"/>
                </a:rPr>
                <a:t>Los sistemas deben incorporar mecanismos de control de acceso, permitiendo solo a usuarios autorizados visualizar o modificar la información.</a:t>
              </a:r>
              <a:endParaRPr b="0" i="0" sz="1400" u="none" cap="none" strike="noStrike">
                <a:solidFill>
                  <a:srgbClr val="000000"/>
                </a:solidFill>
                <a:latin typeface="Arial"/>
                <a:ea typeface="Arial"/>
                <a:cs typeface="Arial"/>
                <a:sym typeface="Arial"/>
              </a:endParaRPr>
            </a:p>
          </p:txBody>
        </p:sp>
      </p:grpSp>
      <p:grpSp>
        <p:nvGrpSpPr>
          <p:cNvPr id="240" name="Google Shape;240;p12"/>
          <p:cNvGrpSpPr/>
          <p:nvPr/>
        </p:nvGrpSpPr>
        <p:grpSpPr>
          <a:xfrm>
            <a:off x="12101157" y="5616582"/>
            <a:ext cx="3267891" cy="2904368"/>
            <a:chOff x="0" y="0"/>
            <a:chExt cx="4357189" cy="3872490"/>
          </a:xfrm>
        </p:grpSpPr>
        <p:sp>
          <p:nvSpPr>
            <p:cNvPr id="241" name="Google Shape;241;p12"/>
            <p:cNvSpPr txBox="1"/>
            <p:nvPr/>
          </p:nvSpPr>
          <p:spPr>
            <a:xfrm>
              <a:off x="0" y="0"/>
              <a:ext cx="4357189" cy="1543735"/>
            </a:xfrm>
            <a:prstGeom prst="rect">
              <a:avLst/>
            </a:prstGeom>
            <a:noFill/>
            <a:ln>
              <a:noFill/>
            </a:ln>
          </p:spPr>
          <p:txBody>
            <a:bodyPr anchorCtr="0" anchor="t" bIns="0" lIns="0" spcFirstLastPara="1" rIns="0" wrap="square" tIns="0">
              <a:spAutoFit/>
            </a:bodyPr>
            <a:lstStyle/>
            <a:p>
              <a:pPr indent="0" lvl="0" marL="0" marR="0" rtl="0" algn="ctr">
                <a:lnSpc>
                  <a:spcPct val="117018"/>
                </a:lnSpc>
                <a:spcBef>
                  <a:spcPts val="0"/>
                </a:spcBef>
                <a:spcAft>
                  <a:spcPts val="0"/>
                </a:spcAft>
                <a:buClr>
                  <a:srgbClr val="000000"/>
                </a:buClr>
                <a:buSzPts val="3884"/>
                <a:buFont typeface="Arial"/>
                <a:buNone/>
              </a:pPr>
              <a:r>
                <a:rPr b="0" i="0" lang="en-US" sz="3884" u="none" cap="none" strike="noStrike">
                  <a:solidFill>
                    <a:srgbClr val="000000"/>
                  </a:solidFill>
                  <a:latin typeface="Arial"/>
                  <a:ea typeface="Arial"/>
                  <a:cs typeface="Arial"/>
                  <a:sym typeface="Arial"/>
                </a:rPr>
                <a:t>Monitoreo y Auditoría:</a:t>
              </a:r>
              <a:endParaRPr b="0" i="0" sz="1400" u="none" cap="none" strike="noStrike">
                <a:solidFill>
                  <a:srgbClr val="000000"/>
                </a:solidFill>
                <a:latin typeface="Arial"/>
                <a:ea typeface="Arial"/>
                <a:cs typeface="Arial"/>
                <a:sym typeface="Arial"/>
              </a:endParaRPr>
            </a:p>
          </p:txBody>
        </p:sp>
        <p:sp>
          <p:nvSpPr>
            <p:cNvPr id="242" name="Google Shape;242;p12"/>
            <p:cNvSpPr txBox="1"/>
            <p:nvPr/>
          </p:nvSpPr>
          <p:spPr>
            <a:xfrm>
              <a:off x="0" y="1923449"/>
              <a:ext cx="4357189" cy="1949041"/>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z="1699" u="none" cap="none" strike="noStrike">
                  <a:solidFill>
                    <a:srgbClr val="000000"/>
                  </a:solidFill>
                  <a:latin typeface="Arial"/>
                  <a:ea typeface="Arial"/>
                  <a:cs typeface="Arial"/>
                  <a:sym typeface="Arial"/>
                </a:rPr>
                <a:t>El monitoreo continuo del almacenamiento permite identificar accesos y acciones sospechosas o no autorizadas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248" name="Google Shape;248;p13"/>
          <p:cNvGrpSpPr/>
          <p:nvPr/>
        </p:nvGrpSpPr>
        <p:grpSpPr>
          <a:xfrm>
            <a:off x="3060629" y="847874"/>
            <a:ext cx="14198671" cy="8427131"/>
            <a:chOff x="0" y="-47625"/>
            <a:chExt cx="3739568" cy="2219491"/>
          </a:xfrm>
        </p:grpSpPr>
        <p:sp>
          <p:nvSpPr>
            <p:cNvPr id="249" name="Google Shape;249;p13"/>
            <p:cNvSpPr/>
            <p:nvPr/>
          </p:nvSpPr>
          <p:spPr>
            <a:xfrm>
              <a:off x="0" y="0"/>
              <a:ext cx="3739567" cy="2171866"/>
            </a:xfrm>
            <a:custGeom>
              <a:rect b="b" l="l" r="r" t="t"/>
              <a:pathLst>
                <a:path extrusionOk="0" h="2171866" w="3739567">
                  <a:moveTo>
                    <a:pt x="27808" y="0"/>
                  </a:moveTo>
                  <a:lnTo>
                    <a:pt x="3711759" y="0"/>
                  </a:lnTo>
                  <a:cubicBezTo>
                    <a:pt x="3727117" y="0"/>
                    <a:pt x="3739567" y="12450"/>
                    <a:pt x="3739567" y="27808"/>
                  </a:cubicBezTo>
                  <a:lnTo>
                    <a:pt x="3739567" y="2144058"/>
                  </a:lnTo>
                  <a:cubicBezTo>
                    <a:pt x="3739567" y="2159416"/>
                    <a:pt x="3727117" y="2171866"/>
                    <a:pt x="3711759" y="2171866"/>
                  </a:cubicBezTo>
                  <a:lnTo>
                    <a:pt x="27808" y="2171866"/>
                  </a:lnTo>
                  <a:cubicBezTo>
                    <a:pt x="12450" y="2171866"/>
                    <a:pt x="0" y="2159416"/>
                    <a:pt x="0" y="2144058"/>
                  </a:cubicBezTo>
                  <a:lnTo>
                    <a:pt x="0" y="27808"/>
                  </a:lnTo>
                  <a:cubicBezTo>
                    <a:pt x="0" y="12450"/>
                    <a:pt x="12450" y="0"/>
                    <a:pt x="2780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3"/>
            <p:cNvSpPr txBox="1"/>
            <p:nvPr/>
          </p:nvSpPr>
          <p:spPr>
            <a:xfrm>
              <a:off x="0" y="-47625"/>
              <a:ext cx="3739568"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1" name="Google Shape;251;p13"/>
          <p:cNvGrpSpPr/>
          <p:nvPr/>
        </p:nvGrpSpPr>
        <p:grpSpPr>
          <a:xfrm>
            <a:off x="1028700" y="1045405"/>
            <a:ext cx="5760720" cy="8229600"/>
            <a:chOff x="0" y="0"/>
            <a:chExt cx="4445000" cy="6350000"/>
          </a:xfrm>
        </p:grpSpPr>
        <p:sp>
          <p:nvSpPr>
            <p:cNvPr id="252" name="Google Shape;252;p13"/>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19498" r="-9476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3"/>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4" name="Google Shape;254;p13"/>
          <p:cNvSpPr/>
          <p:nvPr/>
        </p:nvSpPr>
        <p:spPr>
          <a:xfrm>
            <a:off x="11271392" y="1946099"/>
            <a:ext cx="1491012" cy="672819"/>
          </a:xfrm>
          <a:custGeom>
            <a:rect b="b" l="l" r="r" t="t"/>
            <a:pathLst>
              <a:path extrusionOk="0" h="672819" w="1491012">
                <a:moveTo>
                  <a:pt x="0" y="0"/>
                </a:moveTo>
                <a:lnTo>
                  <a:pt x="1491012" y="0"/>
                </a:lnTo>
                <a:lnTo>
                  <a:pt x="1491012" y="672819"/>
                </a:lnTo>
                <a:lnTo>
                  <a:pt x="0" y="672819"/>
                </a:lnTo>
                <a:lnTo>
                  <a:pt x="0" y="0"/>
                </a:lnTo>
                <a:close/>
              </a:path>
            </a:pathLst>
          </a:custGeom>
          <a:blipFill rotWithShape="1">
            <a:blip r:embed="rId5">
              <a:alphaModFix/>
            </a:blip>
            <a:stretch>
              <a:fillRect b="0" l="0" r="0" t="0"/>
            </a:stretch>
          </a:blipFill>
          <a:ln>
            <a:noFill/>
          </a:ln>
        </p:spPr>
      </p:sp>
      <p:grpSp>
        <p:nvGrpSpPr>
          <p:cNvPr id="255" name="Google Shape;255;p13"/>
          <p:cNvGrpSpPr/>
          <p:nvPr/>
        </p:nvGrpSpPr>
        <p:grpSpPr>
          <a:xfrm>
            <a:off x="8352830" y="3198841"/>
            <a:ext cx="7328135" cy="5196896"/>
            <a:chOff x="0" y="9525"/>
            <a:chExt cx="9770846" cy="6929195"/>
          </a:xfrm>
        </p:grpSpPr>
        <p:sp>
          <p:nvSpPr>
            <p:cNvPr id="256" name="Google Shape;256;p13"/>
            <p:cNvSpPr txBox="1"/>
            <p:nvPr/>
          </p:nvSpPr>
          <p:spPr>
            <a:xfrm>
              <a:off x="0" y="9525"/>
              <a:ext cx="9770846" cy="1280287"/>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Solución</a:t>
              </a:r>
              <a:endParaRPr b="0" i="0" sz="1400" u="none" cap="none" strike="noStrike">
                <a:solidFill>
                  <a:srgbClr val="000000"/>
                </a:solidFill>
                <a:latin typeface="Arial"/>
                <a:ea typeface="Arial"/>
                <a:cs typeface="Arial"/>
                <a:sym typeface="Arial"/>
              </a:endParaRPr>
            </a:p>
          </p:txBody>
        </p:sp>
        <p:sp>
          <p:nvSpPr>
            <p:cNvPr id="257" name="Google Shape;257;p13"/>
            <p:cNvSpPr txBox="1"/>
            <p:nvPr/>
          </p:nvSpPr>
          <p:spPr>
            <a:xfrm>
              <a:off x="0" y="1674147"/>
              <a:ext cx="9770846" cy="5264573"/>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Lorem ipsum dolor sit amet, consectetur adipiscing elit. Sed semper consectetur porta. Curabitur malesuada sodales urna at molestie. Nulla faucibus, odio at porta mollis, tortor leo mollis lacus, at imperdiet diam leo sed velit. Nulla malesuada sit amet ex eget venenatis.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263" name="Google Shape;263;p14"/>
          <p:cNvGrpSpPr/>
          <p:nvPr/>
        </p:nvGrpSpPr>
        <p:grpSpPr>
          <a:xfrm>
            <a:off x="1028700" y="847874"/>
            <a:ext cx="16230600" cy="2006234"/>
            <a:chOff x="0" y="-47625"/>
            <a:chExt cx="4274726" cy="528391"/>
          </a:xfrm>
        </p:grpSpPr>
        <p:sp>
          <p:nvSpPr>
            <p:cNvPr id="264" name="Google Shape;264;p14"/>
            <p:cNvSpPr/>
            <p:nvPr/>
          </p:nvSpPr>
          <p:spPr>
            <a:xfrm>
              <a:off x="0" y="0"/>
              <a:ext cx="4274726" cy="480766"/>
            </a:xfrm>
            <a:custGeom>
              <a:rect b="b" l="l" r="r" t="t"/>
              <a:pathLst>
                <a:path extrusionOk="0" h="480766" w="4274726">
                  <a:moveTo>
                    <a:pt x="24327" y="0"/>
                  </a:moveTo>
                  <a:lnTo>
                    <a:pt x="4250399" y="0"/>
                  </a:lnTo>
                  <a:cubicBezTo>
                    <a:pt x="4263834" y="0"/>
                    <a:pt x="4274726" y="10891"/>
                    <a:pt x="4274726" y="24327"/>
                  </a:cubicBezTo>
                  <a:lnTo>
                    <a:pt x="4274726" y="456439"/>
                  </a:lnTo>
                  <a:cubicBezTo>
                    <a:pt x="4274726" y="469875"/>
                    <a:pt x="4263834" y="480766"/>
                    <a:pt x="4250399" y="480766"/>
                  </a:cubicBezTo>
                  <a:lnTo>
                    <a:pt x="24327" y="480766"/>
                  </a:lnTo>
                  <a:cubicBezTo>
                    <a:pt x="10891" y="480766"/>
                    <a:pt x="0" y="469875"/>
                    <a:pt x="0" y="456439"/>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4"/>
            <p:cNvSpPr txBox="1"/>
            <p:nvPr/>
          </p:nvSpPr>
          <p:spPr>
            <a:xfrm>
              <a:off x="0" y="-47625"/>
              <a:ext cx="4274726" cy="5283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6" name="Google Shape;266;p14"/>
          <p:cNvGrpSpPr/>
          <p:nvPr/>
        </p:nvGrpSpPr>
        <p:grpSpPr>
          <a:xfrm>
            <a:off x="2400189" y="4238208"/>
            <a:ext cx="4305416" cy="5020092"/>
            <a:chOff x="0" y="-47625"/>
            <a:chExt cx="1133937" cy="1322164"/>
          </a:xfrm>
        </p:grpSpPr>
        <p:sp>
          <p:nvSpPr>
            <p:cNvPr id="267" name="Google Shape;267;p14"/>
            <p:cNvSpPr/>
            <p:nvPr/>
          </p:nvSpPr>
          <p:spPr>
            <a:xfrm>
              <a:off x="0" y="0"/>
              <a:ext cx="1133937" cy="1274539"/>
            </a:xfrm>
            <a:custGeom>
              <a:rect b="b" l="l" r="r" t="t"/>
              <a:pathLst>
                <a:path extrusionOk="0" h="1274539" w="1133937">
                  <a:moveTo>
                    <a:pt x="91707" y="0"/>
                  </a:moveTo>
                  <a:lnTo>
                    <a:pt x="1042230" y="0"/>
                  </a:lnTo>
                  <a:cubicBezTo>
                    <a:pt x="1092878" y="0"/>
                    <a:pt x="1133937" y="41059"/>
                    <a:pt x="1133937" y="91707"/>
                  </a:cubicBezTo>
                  <a:lnTo>
                    <a:pt x="1133937" y="1182832"/>
                  </a:lnTo>
                  <a:cubicBezTo>
                    <a:pt x="1133937" y="1233481"/>
                    <a:pt x="1092878" y="1274539"/>
                    <a:pt x="1042230" y="1274539"/>
                  </a:cubicBezTo>
                  <a:lnTo>
                    <a:pt x="91707" y="1274539"/>
                  </a:lnTo>
                  <a:cubicBezTo>
                    <a:pt x="41059" y="1274539"/>
                    <a:pt x="0" y="1233481"/>
                    <a:pt x="0" y="1182832"/>
                  </a:cubicBezTo>
                  <a:lnTo>
                    <a:pt x="0" y="91707"/>
                  </a:lnTo>
                  <a:cubicBezTo>
                    <a:pt x="0" y="41059"/>
                    <a:pt x="41059" y="0"/>
                    <a:pt x="9170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4"/>
            <p:cNvSpPr txBox="1"/>
            <p:nvPr/>
          </p:nvSpPr>
          <p:spPr>
            <a:xfrm>
              <a:off x="0" y="-47625"/>
              <a:ext cx="1133937" cy="13221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9" name="Google Shape;269;p14"/>
          <p:cNvGrpSpPr/>
          <p:nvPr/>
        </p:nvGrpSpPr>
        <p:grpSpPr>
          <a:xfrm>
            <a:off x="6991228" y="4238208"/>
            <a:ext cx="4305416" cy="5020092"/>
            <a:chOff x="0" y="-47625"/>
            <a:chExt cx="1133937" cy="1322164"/>
          </a:xfrm>
        </p:grpSpPr>
        <p:sp>
          <p:nvSpPr>
            <p:cNvPr id="270" name="Google Shape;270;p14"/>
            <p:cNvSpPr/>
            <p:nvPr/>
          </p:nvSpPr>
          <p:spPr>
            <a:xfrm>
              <a:off x="0" y="0"/>
              <a:ext cx="1133937" cy="1274539"/>
            </a:xfrm>
            <a:custGeom>
              <a:rect b="b" l="l" r="r" t="t"/>
              <a:pathLst>
                <a:path extrusionOk="0" h="1274539" w="1133937">
                  <a:moveTo>
                    <a:pt x="91707" y="0"/>
                  </a:moveTo>
                  <a:lnTo>
                    <a:pt x="1042230" y="0"/>
                  </a:lnTo>
                  <a:cubicBezTo>
                    <a:pt x="1092878" y="0"/>
                    <a:pt x="1133937" y="41059"/>
                    <a:pt x="1133937" y="91707"/>
                  </a:cubicBezTo>
                  <a:lnTo>
                    <a:pt x="1133937" y="1182832"/>
                  </a:lnTo>
                  <a:cubicBezTo>
                    <a:pt x="1133937" y="1233481"/>
                    <a:pt x="1092878" y="1274539"/>
                    <a:pt x="1042230" y="1274539"/>
                  </a:cubicBezTo>
                  <a:lnTo>
                    <a:pt x="91707" y="1274539"/>
                  </a:lnTo>
                  <a:cubicBezTo>
                    <a:pt x="41059" y="1274539"/>
                    <a:pt x="0" y="1233481"/>
                    <a:pt x="0" y="1182832"/>
                  </a:cubicBezTo>
                  <a:lnTo>
                    <a:pt x="0" y="91707"/>
                  </a:lnTo>
                  <a:cubicBezTo>
                    <a:pt x="0" y="41059"/>
                    <a:pt x="41059" y="0"/>
                    <a:pt x="9170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14"/>
            <p:cNvSpPr txBox="1"/>
            <p:nvPr/>
          </p:nvSpPr>
          <p:spPr>
            <a:xfrm>
              <a:off x="0" y="-47625"/>
              <a:ext cx="1133937" cy="13221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2" name="Google Shape;272;p14"/>
          <p:cNvGrpSpPr/>
          <p:nvPr/>
        </p:nvGrpSpPr>
        <p:grpSpPr>
          <a:xfrm>
            <a:off x="11582395" y="4238208"/>
            <a:ext cx="4305416" cy="5020092"/>
            <a:chOff x="0" y="-47625"/>
            <a:chExt cx="1133937" cy="1322164"/>
          </a:xfrm>
        </p:grpSpPr>
        <p:sp>
          <p:nvSpPr>
            <p:cNvPr id="273" name="Google Shape;273;p14"/>
            <p:cNvSpPr/>
            <p:nvPr/>
          </p:nvSpPr>
          <p:spPr>
            <a:xfrm>
              <a:off x="0" y="0"/>
              <a:ext cx="1133937" cy="1274539"/>
            </a:xfrm>
            <a:custGeom>
              <a:rect b="b" l="l" r="r" t="t"/>
              <a:pathLst>
                <a:path extrusionOk="0" h="1274539" w="1133937">
                  <a:moveTo>
                    <a:pt x="91707" y="0"/>
                  </a:moveTo>
                  <a:lnTo>
                    <a:pt x="1042230" y="0"/>
                  </a:lnTo>
                  <a:cubicBezTo>
                    <a:pt x="1092878" y="0"/>
                    <a:pt x="1133937" y="41059"/>
                    <a:pt x="1133937" y="91707"/>
                  </a:cubicBezTo>
                  <a:lnTo>
                    <a:pt x="1133937" y="1182832"/>
                  </a:lnTo>
                  <a:cubicBezTo>
                    <a:pt x="1133937" y="1233481"/>
                    <a:pt x="1092878" y="1274539"/>
                    <a:pt x="1042230" y="1274539"/>
                  </a:cubicBezTo>
                  <a:lnTo>
                    <a:pt x="91707" y="1274539"/>
                  </a:lnTo>
                  <a:cubicBezTo>
                    <a:pt x="41059" y="1274539"/>
                    <a:pt x="0" y="1233481"/>
                    <a:pt x="0" y="1182832"/>
                  </a:cubicBezTo>
                  <a:lnTo>
                    <a:pt x="0" y="91707"/>
                  </a:lnTo>
                  <a:cubicBezTo>
                    <a:pt x="0" y="41059"/>
                    <a:pt x="41059" y="0"/>
                    <a:pt x="9170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4"/>
            <p:cNvSpPr txBox="1"/>
            <p:nvPr/>
          </p:nvSpPr>
          <p:spPr>
            <a:xfrm>
              <a:off x="0" y="-47625"/>
              <a:ext cx="1133937" cy="132216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5" name="Google Shape;275;p14"/>
          <p:cNvSpPr/>
          <p:nvPr/>
        </p:nvSpPr>
        <p:spPr>
          <a:xfrm>
            <a:off x="3610645" y="3289812"/>
            <a:ext cx="1884504" cy="1884497"/>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alphaModFix/>
            </a:blip>
            <a:stretch>
              <a:fillRect b="0" l="-24899" r="-24899"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14"/>
          <p:cNvSpPr/>
          <p:nvPr/>
        </p:nvSpPr>
        <p:spPr>
          <a:xfrm>
            <a:off x="8201684" y="3289812"/>
            <a:ext cx="1884504" cy="1884497"/>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5">
              <a:alphaModFix/>
            </a:blip>
            <a:stretch>
              <a:fillRect b="0" l="-24971" r="-24971"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14"/>
          <p:cNvSpPr/>
          <p:nvPr/>
        </p:nvSpPr>
        <p:spPr>
          <a:xfrm>
            <a:off x="12792851" y="3289812"/>
            <a:ext cx="1884504" cy="1884497"/>
          </a:xfrm>
          <a:custGeom>
            <a:rect b="b" l="l" r="r" t="t"/>
            <a:pathLst>
              <a:path extrusionOk="0"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6">
              <a:alphaModFix/>
            </a:blip>
            <a:stretch>
              <a:fillRect b="0" l="-25043" r="-25041"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4"/>
          <p:cNvSpPr txBox="1"/>
          <p:nvPr/>
        </p:nvSpPr>
        <p:spPr>
          <a:xfrm>
            <a:off x="2076451" y="1535040"/>
            <a:ext cx="14074140" cy="957834"/>
          </a:xfrm>
          <a:prstGeom prst="rect">
            <a:avLst/>
          </a:prstGeom>
          <a:noFill/>
          <a:ln>
            <a:noFill/>
          </a:ln>
        </p:spPr>
        <p:txBody>
          <a:bodyPr anchorCtr="0" anchor="t" bIns="0" lIns="0" spcFirstLastPara="1" rIns="0" wrap="square" tIns="0">
            <a:spAutoFit/>
          </a:bodyPr>
          <a:lstStyle/>
          <a:p>
            <a:pPr indent="0" lvl="0" marL="0" marR="0" rtl="0" algn="l">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Objetivos</a:t>
            </a:r>
            <a:endParaRPr b="0" i="0" sz="1400" u="none" cap="none" strike="noStrike">
              <a:solidFill>
                <a:srgbClr val="000000"/>
              </a:solidFill>
              <a:latin typeface="Arial"/>
              <a:ea typeface="Arial"/>
              <a:cs typeface="Arial"/>
              <a:sym typeface="Arial"/>
            </a:endParaRPr>
          </a:p>
        </p:txBody>
      </p:sp>
      <p:grpSp>
        <p:nvGrpSpPr>
          <p:cNvPr id="279" name="Google Shape;279;p14"/>
          <p:cNvGrpSpPr/>
          <p:nvPr/>
        </p:nvGrpSpPr>
        <p:grpSpPr>
          <a:xfrm>
            <a:off x="2918951" y="5754694"/>
            <a:ext cx="3267891" cy="2628143"/>
            <a:chOff x="0" y="0"/>
            <a:chExt cx="4357189" cy="3504190"/>
          </a:xfrm>
        </p:grpSpPr>
        <p:sp>
          <p:nvSpPr>
            <p:cNvPr id="280" name="Google Shape;280;p14"/>
            <p:cNvSpPr txBox="1"/>
            <p:nvPr/>
          </p:nvSpPr>
          <p:spPr>
            <a:xfrm>
              <a:off x="0" y="0"/>
              <a:ext cx="4357189" cy="781735"/>
            </a:xfrm>
            <a:prstGeom prst="rect">
              <a:avLst/>
            </a:prstGeom>
            <a:noFill/>
            <a:ln>
              <a:noFill/>
            </a:ln>
          </p:spPr>
          <p:txBody>
            <a:bodyPr anchorCtr="0" anchor="t" bIns="0" lIns="0" spcFirstLastPara="1" rIns="0" wrap="square" tIns="0">
              <a:spAutoFit/>
            </a:bodyPr>
            <a:lstStyle/>
            <a:p>
              <a:pPr indent="0" lvl="0" marL="0" marR="0" rtl="0" algn="ctr">
                <a:lnSpc>
                  <a:spcPct val="117018"/>
                </a:lnSpc>
                <a:spcBef>
                  <a:spcPts val="0"/>
                </a:spcBef>
                <a:spcAft>
                  <a:spcPts val="0"/>
                </a:spcAft>
                <a:buClr>
                  <a:srgbClr val="000000"/>
                </a:buClr>
                <a:buSzPts val="3884"/>
                <a:buFont typeface="Arial"/>
                <a:buNone/>
              </a:pPr>
              <a:r>
                <a:rPr b="0" i="0" lang="en-US" sz="3884" u="none" cap="none" strike="noStrike">
                  <a:solidFill>
                    <a:srgbClr val="000000"/>
                  </a:solidFill>
                  <a:latin typeface="Arial"/>
                  <a:ea typeface="Arial"/>
                  <a:cs typeface="Arial"/>
                  <a:sym typeface="Arial"/>
                </a:rPr>
                <a:t>Concienciar</a:t>
              </a:r>
              <a:endParaRPr b="0" i="0" sz="1400" u="none" cap="none" strike="noStrike">
                <a:solidFill>
                  <a:srgbClr val="000000"/>
                </a:solidFill>
                <a:latin typeface="Arial"/>
                <a:ea typeface="Arial"/>
                <a:cs typeface="Arial"/>
                <a:sym typeface="Arial"/>
              </a:endParaRPr>
            </a:p>
          </p:txBody>
        </p:sp>
        <p:sp>
          <p:nvSpPr>
            <p:cNvPr id="281" name="Google Shape;281;p14"/>
            <p:cNvSpPr txBox="1"/>
            <p:nvPr/>
          </p:nvSpPr>
          <p:spPr>
            <a:xfrm>
              <a:off x="0" y="1161449"/>
              <a:ext cx="4357189" cy="2342741"/>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z="1699" u="none" cap="none" strike="noStrike">
                  <a:solidFill>
                    <a:srgbClr val="000000"/>
                  </a:solidFill>
                  <a:latin typeface="Arial"/>
                  <a:ea typeface="Arial"/>
                  <a:cs typeface="Arial"/>
                  <a:sym typeface="Arial"/>
                </a:rPr>
                <a:t>Lorem ipsum dolor sit amet, consectetur adipiscing elit. Ut a enim nec nisl ullamcorper eleifend. Praesent risus leo, fringilla et ipsum.</a:t>
              </a:r>
              <a:endParaRPr b="0" i="0" sz="1400" u="none" cap="none" strike="noStrike">
                <a:solidFill>
                  <a:srgbClr val="000000"/>
                </a:solidFill>
                <a:latin typeface="Arial"/>
                <a:ea typeface="Arial"/>
                <a:cs typeface="Arial"/>
                <a:sym typeface="Arial"/>
              </a:endParaRPr>
            </a:p>
          </p:txBody>
        </p:sp>
      </p:grpSp>
      <p:grpSp>
        <p:nvGrpSpPr>
          <p:cNvPr id="282" name="Google Shape;282;p14"/>
          <p:cNvGrpSpPr/>
          <p:nvPr/>
        </p:nvGrpSpPr>
        <p:grpSpPr>
          <a:xfrm>
            <a:off x="7509991" y="5754694"/>
            <a:ext cx="3267891" cy="2628143"/>
            <a:chOff x="0" y="0"/>
            <a:chExt cx="4357189" cy="3504190"/>
          </a:xfrm>
        </p:grpSpPr>
        <p:sp>
          <p:nvSpPr>
            <p:cNvPr id="283" name="Google Shape;283;p14"/>
            <p:cNvSpPr txBox="1"/>
            <p:nvPr/>
          </p:nvSpPr>
          <p:spPr>
            <a:xfrm>
              <a:off x="0" y="0"/>
              <a:ext cx="4357189" cy="781735"/>
            </a:xfrm>
            <a:prstGeom prst="rect">
              <a:avLst/>
            </a:prstGeom>
            <a:noFill/>
            <a:ln>
              <a:noFill/>
            </a:ln>
          </p:spPr>
          <p:txBody>
            <a:bodyPr anchorCtr="0" anchor="t" bIns="0" lIns="0" spcFirstLastPara="1" rIns="0" wrap="square" tIns="0">
              <a:spAutoFit/>
            </a:bodyPr>
            <a:lstStyle/>
            <a:p>
              <a:pPr indent="0" lvl="0" marL="0" marR="0" rtl="0" algn="ctr">
                <a:lnSpc>
                  <a:spcPct val="117018"/>
                </a:lnSpc>
                <a:spcBef>
                  <a:spcPts val="0"/>
                </a:spcBef>
                <a:spcAft>
                  <a:spcPts val="0"/>
                </a:spcAft>
                <a:buClr>
                  <a:srgbClr val="000000"/>
                </a:buClr>
                <a:buSzPts val="3884"/>
                <a:buFont typeface="Arial"/>
                <a:buNone/>
              </a:pPr>
              <a:r>
                <a:rPr b="0" i="0" lang="en-US" sz="3884" u="none" cap="none" strike="noStrike">
                  <a:solidFill>
                    <a:srgbClr val="000000"/>
                  </a:solidFill>
                  <a:latin typeface="Arial"/>
                  <a:ea typeface="Arial"/>
                  <a:cs typeface="Arial"/>
                  <a:sym typeface="Arial"/>
                </a:rPr>
                <a:t>Proteger</a:t>
              </a:r>
              <a:endParaRPr b="0" i="0" sz="1400" u="none" cap="none" strike="noStrike">
                <a:solidFill>
                  <a:srgbClr val="000000"/>
                </a:solidFill>
                <a:latin typeface="Arial"/>
                <a:ea typeface="Arial"/>
                <a:cs typeface="Arial"/>
                <a:sym typeface="Arial"/>
              </a:endParaRPr>
            </a:p>
          </p:txBody>
        </p:sp>
        <p:sp>
          <p:nvSpPr>
            <p:cNvPr id="284" name="Google Shape;284;p14"/>
            <p:cNvSpPr txBox="1"/>
            <p:nvPr/>
          </p:nvSpPr>
          <p:spPr>
            <a:xfrm>
              <a:off x="0" y="1161449"/>
              <a:ext cx="4357189" cy="2342741"/>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z="1699" u="none" cap="none" strike="noStrike">
                  <a:solidFill>
                    <a:srgbClr val="000000"/>
                  </a:solidFill>
                  <a:latin typeface="Arial"/>
                  <a:ea typeface="Arial"/>
                  <a:cs typeface="Arial"/>
                  <a:sym typeface="Arial"/>
                </a:rPr>
                <a:t>Lorem ipsum dolor sit amet, consectetur adipiscing elit. Ut a enim nec nisl ullamcorper eleifend. Praesent risus leo, fringilla et ipsum.</a:t>
              </a:r>
              <a:endParaRPr b="0" i="0" sz="1400" u="none" cap="none" strike="noStrike">
                <a:solidFill>
                  <a:srgbClr val="000000"/>
                </a:solidFill>
                <a:latin typeface="Arial"/>
                <a:ea typeface="Arial"/>
                <a:cs typeface="Arial"/>
                <a:sym typeface="Arial"/>
              </a:endParaRPr>
            </a:p>
          </p:txBody>
        </p:sp>
      </p:grpSp>
      <p:grpSp>
        <p:nvGrpSpPr>
          <p:cNvPr id="285" name="Google Shape;285;p14"/>
          <p:cNvGrpSpPr/>
          <p:nvPr/>
        </p:nvGrpSpPr>
        <p:grpSpPr>
          <a:xfrm>
            <a:off x="12101157" y="5754694"/>
            <a:ext cx="3267891" cy="2628143"/>
            <a:chOff x="0" y="0"/>
            <a:chExt cx="4357189" cy="3504190"/>
          </a:xfrm>
        </p:grpSpPr>
        <p:sp>
          <p:nvSpPr>
            <p:cNvPr id="286" name="Google Shape;286;p14"/>
            <p:cNvSpPr txBox="1"/>
            <p:nvPr/>
          </p:nvSpPr>
          <p:spPr>
            <a:xfrm>
              <a:off x="0" y="0"/>
              <a:ext cx="4357189" cy="781735"/>
            </a:xfrm>
            <a:prstGeom prst="rect">
              <a:avLst/>
            </a:prstGeom>
            <a:noFill/>
            <a:ln>
              <a:noFill/>
            </a:ln>
          </p:spPr>
          <p:txBody>
            <a:bodyPr anchorCtr="0" anchor="t" bIns="0" lIns="0" spcFirstLastPara="1" rIns="0" wrap="square" tIns="0">
              <a:spAutoFit/>
            </a:bodyPr>
            <a:lstStyle/>
            <a:p>
              <a:pPr indent="0" lvl="0" marL="0" marR="0" rtl="0" algn="ctr">
                <a:lnSpc>
                  <a:spcPct val="117018"/>
                </a:lnSpc>
                <a:spcBef>
                  <a:spcPts val="0"/>
                </a:spcBef>
                <a:spcAft>
                  <a:spcPts val="0"/>
                </a:spcAft>
                <a:buClr>
                  <a:srgbClr val="000000"/>
                </a:buClr>
                <a:buSzPts val="3884"/>
                <a:buFont typeface="Arial"/>
                <a:buNone/>
              </a:pPr>
              <a:r>
                <a:rPr b="0" i="0" lang="en-US" sz="3884" u="none" cap="none" strike="noStrike">
                  <a:solidFill>
                    <a:srgbClr val="000000"/>
                  </a:solidFill>
                  <a:latin typeface="Arial"/>
                  <a:ea typeface="Arial"/>
                  <a:cs typeface="Arial"/>
                  <a:sym typeface="Arial"/>
                </a:rPr>
                <a:t>Informar</a:t>
              </a:r>
              <a:endParaRPr b="0" i="0" sz="1400" u="none" cap="none" strike="noStrike">
                <a:solidFill>
                  <a:srgbClr val="000000"/>
                </a:solidFill>
                <a:latin typeface="Arial"/>
                <a:ea typeface="Arial"/>
                <a:cs typeface="Arial"/>
                <a:sym typeface="Arial"/>
              </a:endParaRPr>
            </a:p>
          </p:txBody>
        </p:sp>
        <p:sp>
          <p:nvSpPr>
            <p:cNvPr id="287" name="Google Shape;287;p14"/>
            <p:cNvSpPr txBox="1"/>
            <p:nvPr/>
          </p:nvSpPr>
          <p:spPr>
            <a:xfrm>
              <a:off x="0" y="1161449"/>
              <a:ext cx="4357189" cy="2342741"/>
            </a:xfrm>
            <a:prstGeom prst="rect">
              <a:avLst/>
            </a:prstGeom>
            <a:noFill/>
            <a:ln>
              <a:noFill/>
            </a:ln>
          </p:spPr>
          <p:txBody>
            <a:bodyPr anchorCtr="0" anchor="t" bIns="0" lIns="0" spcFirstLastPara="1" rIns="0" wrap="square" tIns="0">
              <a:spAutoFit/>
            </a:bodyPr>
            <a:lstStyle/>
            <a:p>
              <a:pPr indent="0" lvl="0" marL="0" marR="0" rtl="0" algn="ctr">
                <a:lnSpc>
                  <a:spcPct val="140023"/>
                </a:lnSpc>
                <a:spcBef>
                  <a:spcPts val="0"/>
                </a:spcBef>
                <a:spcAft>
                  <a:spcPts val="0"/>
                </a:spcAft>
                <a:buClr>
                  <a:srgbClr val="000000"/>
                </a:buClr>
                <a:buSzPts val="1699"/>
                <a:buFont typeface="Arial"/>
                <a:buNone/>
              </a:pPr>
              <a:r>
                <a:rPr b="0" i="0" lang="en-US" sz="1699" u="none" cap="none" strike="noStrike">
                  <a:solidFill>
                    <a:srgbClr val="000000"/>
                  </a:solidFill>
                  <a:latin typeface="Arial"/>
                  <a:ea typeface="Arial"/>
                  <a:cs typeface="Arial"/>
                  <a:sym typeface="Arial"/>
                </a:rPr>
                <a:t>Lorem ipsum dolor sit amet, consectetur adipiscing elit. Ut a enim nec nisl ullamcorper eleifend. Praesent risus leo, fringilla et ipsum.</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293" name="Google Shape;293;p15"/>
          <p:cNvGrpSpPr/>
          <p:nvPr/>
        </p:nvGrpSpPr>
        <p:grpSpPr>
          <a:xfrm>
            <a:off x="2350147" y="2006525"/>
            <a:ext cx="13587705" cy="6093123"/>
            <a:chOff x="0" y="-47625"/>
            <a:chExt cx="3578655" cy="1604773"/>
          </a:xfrm>
        </p:grpSpPr>
        <p:sp>
          <p:nvSpPr>
            <p:cNvPr id="294" name="Google Shape;294;p15"/>
            <p:cNvSpPr/>
            <p:nvPr/>
          </p:nvSpPr>
          <p:spPr>
            <a:xfrm>
              <a:off x="0" y="0"/>
              <a:ext cx="3578655" cy="1557148"/>
            </a:xfrm>
            <a:custGeom>
              <a:rect b="b" l="l" r="r" t="t"/>
              <a:pathLst>
                <a:path extrusionOk="0" h="1557148" w="3578655">
                  <a:moveTo>
                    <a:pt x="29058" y="0"/>
                  </a:moveTo>
                  <a:lnTo>
                    <a:pt x="3549597" y="0"/>
                  </a:lnTo>
                  <a:cubicBezTo>
                    <a:pt x="3565645" y="0"/>
                    <a:pt x="3578655" y="13010"/>
                    <a:pt x="3578655" y="29058"/>
                  </a:cubicBezTo>
                  <a:lnTo>
                    <a:pt x="3578655" y="1528090"/>
                  </a:lnTo>
                  <a:cubicBezTo>
                    <a:pt x="3578655" y="1544138"/>
                    <a:pt x="3565645" y="1557148"/>
                    <a:pt x="3549597" y="1557148"/>
                  </a:cubicBezTo>
                  <a:lnTo>
                    <a:pt x="29058" y="1557148"/>
                  </a:lnTo>
                  <a:cubicBezTo>
                    <a:pt x="13010" y="1557148"/>
                    <a:pt x="0" y="1544138"/>
                    <a:pt x="0" y="1528090"/>
                  </a:cubicBezTo>
                  <a:lnTo>
                    <a:pt x="0" y="29058"/>
                  </a:lnTo>
                  <a:cubicBezTo>
                    <a:pt x="0" y="13010"/>
                    <a:pt x="13010" y="0"/>
                    <a:pt x="290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5"/>
            <p:cNvSpPr txBox="1"/>
            <p:nvPr/>
          </p:nvSpPr>
          <p:spPr>
            <a:xfrm>
              <a:off x="0" y="-47625"/>
              <a:ext cx="3578655" cy="16047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6" name="Google Shape;296;p15"/>
          <p:cNvGrpSpPr/>
          <p:nvPr/>
        </p:nvGrpSpPr>
        <p:grpSpPr>
          <a:xfrm>
            <a:off x="3197044" y="3555167"/>
            <a:ext cx="11893913" cy="3515648"/>
            <a:chOff x="0" y="9525"/>
            <a:chExt cx="15858550" cy="4687531"/>
          </a:xfrm>
        </p:grpSpPr>
        <p:sp>
          <p:nvSpPr>
            <p:cNvPr id="297" name="Google Shape;297;p15"/>
            <p:cNvSpPr txBox="1"/>
            <p:nvPr/>
          </p:nvSpPr>
          <p:spPr>
            <a:xfrm>
              <a:off x="0" y="9525"/>
              <a:ext cx="15858550" cy="3592195"/>
            </a:xfrm>
            <a:prstGeom prst="rect">
              <a:avLst/>
            </a:prstGeom>
            <a:noFill/>
            <a:ln>
              <a:noFill/>
            </a:ln>
          </p:spPr>
          <p:txBody>
            <a:bodyPr anchorCtr="0" anchor="t" bIns="0" lIns="0" spcFirstLastPara="1" rIns="0" wrap="square" tIns="0">
              <a:spAutoFit/>
            </a:bodyPr>
            <a:lstStyle/>
            <a:p>
              <a:pPr indent="0" lvl="0" marL="0" marR="0" rtl="0" algn="ctr">
                <a:lnSpc>
                  <a:spcPct val="117001"/>
                </a:lnSpc>
                <a:spcBef>
                  <a:spcPts val="0"/>
                </a:spcBef>
                <a:spcAft>
                  <a:spcPts val="0"/>
                </a:spcAft>
                <a:buClr>
                  <a:srgbClr val="000000"/>
                </a:buClr>
                <a:buSzPts val="8999"/>
                <a:buFont typeface="Arial"/>
                <a:buNone/>
              </a:pPr>
              <a:r>
                <a:rPr b="0" i="0" lang="en-US" sz="8999" u="none" cap="none" strike="noStrike">
                  <a:solidFill>
                    <a:srgbClr val="000000"/>
                  </a:solidFill>
                  <a:latin typeface="Arial"/>
                  <a:ea typeface="Arial"/>
                  <a:cs typeface="Arial"/>
                  <a:sym typeface="Arial"/>
                </a:rPr>
                <a:t>Almacenamiento virtual </a:t>
              </a:r>
              <a:endParaRPr b="0" i="0" sz="1400" u="none" cap="none" strike="noStrike">
                <a:solidFill>
                  <a:srgbClr val="000000"/>
                </a:solidFill>
                <a:latin typeface="Arial"/>
                <a:ea typeface="Arial"/>
                <a:cs typeface="Arial"/>
                <a:sym typeface="Arial"/>
              </a:endParaRPr>
            </a:p>
          </p:txBody>
        </p:sp>
        <p:sp>
          <p:nvSpPr>
            <p:cNvPr id="298" name="Google Shape;298;p15"/>
            <p:cNvSpPr txBox="1"/>
            <p:nvPr/>
          </p:nvSpPr>
          <p:spPr>
            <a:xfrm>
              <a:off x="0" y="3925578"/>
              <a:ext cx="15858550" cy="771478"/>
            </a:xfrm>
            <a:prstGeom prst="rect">
              <a:avLst/>
            </a:prstGeom>
            <a:noFill/>
            <a:ln>
              <a:noFill/>
            </a:ln>
          </p:spPr>
          <p:txBody>
            <a:bodyPr anchorCtr="0" anchor="t" bIns="0" lIns="0" spcFirstLastPara="1" rIns="0" wrap="square" tIns="0">
              <a:spAutoFit/>
            </a:bodyPr>
            <a:lstStyle/>
            <a:p>
              <a:pPr indent="0" lvl="0" marL="0" marR="0" rtl="0" algn="l">
                <a:lnSpc>
                  <a:spcPct val="269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304" name="Google Shape;304;p16"/>
          <p:cNvGrpSpPr/>
          <p:nvPr/>
        </p:nvGrpSpPr>
        <p:grpSpPr>
          <a:xfrm>
            <a:off x="1028700" y="847874"/>
            <a:ext cx="16230600" cy="8427131"/>
            <a:chOff x="0" y="-47625"/>
            <a:chExt cx="4274726" cy="2219491"/>
          </a:xfrm>
        </p:grpSpPr>
        <p:sp>
          <p:nvSpPr>
            <p:cNvPr id="305" name="Google Shape;305;p16"/>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6"/>
            <p:cNvSpPr txBox="1"/>
            <p:nvPr/>
          </p:nvSpPr>
          <p:spPr>
            <a:xfrm>
              <a:off x="0" y="-47625"/>
              <a:ext cx="4274726"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7" name="Google Shape;307;p16"/>
          <p:cNvSpPr txBox="1"/>
          <p:nvPr/>
        </p:nvSpPr>
        <p:spPr>
          <a:xfrm>
            <a:off x="4067742" y="3369310"/>
            <a:ext cx="10152517" cy="347218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El almacenamiento virtual es una tecnología que abstrae el almacenamiento físico en varias ubicaciones, agrupándolo en un solo recurso de almacenamiento virtualizado. Esto permite gestionar y utilizar el almacenamiento de una forma centralizada, sin importar la ubicación física de los datos.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313" name="Google Shape;313;p17"/>
          <p:cNvGrpSpPr/>
          <p:nvPr/>
        </p:nvGrpSpPr>
        <p:grpSpPr>
          <a:xfrm>
            <a:off x="1028700" y="3201924"/>
            <a:ext cx="7738110" cy="6056376"/>
            <a:chOff x="0" y="-47625"/>
            <a:chExt cx="2038021" cy="1595095"/>
          </a:xfrm>
        </p:grpSpPr>
        <p:sp>
          <p:nvSpPr>
            <p:cNvPr id="314" name="Google Shape;314;p17"/>
            <p:cNvSpPr/>
            <p:nvPr/>
          </p:nvSpPr>
          <p:spPr>
            <a:xfrm>
              <a:off x="0" y="0"/>
              <a:ext cx="2038021" cy="1547470"/>
            </a:xfrm>
            <a:custGeom>
              <a:rect b="b" l="l" r="r" t="t"/>
              <a:pathLst>
                <a:path extrusionOk="0" h="1547470" w="2038021">
                  <a:moveTo>
                    <a:pt x="51025" y="0"/>
                  </a:moveTo>
                  <a:lnTo>
                    <a:pt x="1986996" y="0"/>
                  </a:lnTo>
                  <a:cubicBezTo>
                    <a:pt x="2000528" y="0"/>
                    <a:pt x="2013507" y="5376"/>
                    <a:pt x="2023076" y="14945"/>
                  </a:cubicBezTo>
                  <a:cubicBezTo>
                    <a:pt x="2032645" y="24514"/>
                    <a:pt x="2038021" y="37492"/>
                    <a:pt x="2038021" y="51025"/>
                  </a:cubicBezTo>
                  <a:lnTo>
                    <a:pt x="2038021" y="1496445"/>
                  </a:lnTo>
                  <a:cubicBezTo>
                    <a:pt x="2038021" y="1524625"/>
                    <a:pt x="2015176" y="1547470"/>
                    <a:pt x="1986996" y="1547470"/>
                  </a:cubicBezTo>
                  <a:lnTo>
                    <a:pt x="51025" y="1547470"/>
                  </a:lnTo>
                  <a:cubicBezTo>
                    <a:pt x="22845" y="1547470"/>
                    <a:pt x="0" y="1524625"/>
                    <a:pt x="0" y="1496445"/>
                  </a:cubicBezTo>
                  <a:lnTo>
                    <a:pt x="0" y="51025"/>
                  </a:lnTo>
                  <a:cubicBezTo>
                    <a:pt x="0" y="22845"/>
                    <a:pt x="22845" y="0"/>
                    <a:pt x="51025"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7"/>
            <p:cNvSpPr txBox="1"/>
            <p:nvPr/>
          </p:nvSpPr>
          <p:spPr>
            <a:xfrm>
              <a:off x="0" y="-47625"/>
              <a:ext cx="2038021" cy="15950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6" name="Google Shape;316;p17"/>
          <p:cNvGrpSpPr/>
          <p:nvPr/>
        </p:nvGrpSpPr>
        <p:grpSpPr>
          <a:xfrm>
            <a:off x="9601200" y="3201924"/>
            <a:ext cx="7658100" cy="6056376"/>
            <a:chOff x="0" y="-47625"/>
            <a:chExt cx="2016948" cy="1595095"/>
          </a:xfrm>
        </p:grpSpPr>
        <p:sp>
          <p:nvSpPr>
            <p:cNvPr id="317" name="Google Shape;317;p17"/>
            <p:cNvSpPr/>
            <p:nvPr/>
          </p:nvSpPr>
          <p:spPr>
            <a:xfrm>
              <a:off x="0" y="0"/>
              <a:ext cx="2016948" cy="1547470"/>
            </a:xfrm>
            <a:custGeom>
              <a:rect b="b" l="l" r="r" t="t"/>
              <a:pathLst>
                <a:path extrusionOk="0" h="1547470" w="2016948">
                  <a:moveTo>
                    <a:pt x="51558" y="0"/>
                  </a:moveTo>
                  <a:lnTo>
                    <a:pt x="1965390" y="0"/>
                  </a:lnTo>
                  <a:cubicBezTo>
                    <a:pt x="1979064" y="0"/>
                    <a:pt x="1992178" y="5432"/>
                    <a:pt x="2001847" y="15101"/>
                  </a:cubicBezTo>
                  <a:cubicBezTo>
                    <a:pt x="2011516" y="24770"/>
                    <a:pt x="2016948" y="37884"/>
                    <a:pt x="2016948" y="51558"/>
                  </a:cubicBezTo>
                  <a:lnTo>
                    <a:pt x="2016948" y="1495912"/>
                  </a:lnTo>
                  <a:cubicBezTo>
                    <a:pt x="2016948" y="1509586"/>
                    <a:pt x="2011516" y="1522700"/>
                    <a:pt x="2001847" y="1532369"/>
                  </a:cubicBezTo>
                  <a:cubicBezTo>
                    <a:pt x="1992178" y="1542038"/>
                    <a:pt x="1979064" y="1547470"/>
                    <a:pt x="1965390" y="1547470"/>
                  </a:cubicBezTo>
                  <a:lnTo>
                    <a:pt x="51558" y="1547470"/>
                  </a:lnTo>
                  <a:cubicBezTo>
                    <a:pt x="37884" y="1547470"/>
                    <a:pt x="24770" y="1542038"/>
                    <a:pt x="15101" y="1532369"/>
                  </a:cubicBezTo>
                  <a:cubicBezTo>
                    <a:pt x="5432" y="1522700"/>
                    <a:pt x="0" y="1509586"/>
                    <a:pt x="0" y="1495912"/>
                  </a:cubicBezTo>
                  <a:lnTo>
                    <a:pt x="0" y="51558"/>
                  </a:lnTo>
                  <a:cubicBezTo>
                    <a:pt x="0" y="37884"/>
                    <a:pt x="5432" y="24770"/>
                    <a:pt x="15101" y="15101"/>
                  </a:cubicBezTo>
                  <a:cubicBezTo>
                    <a:pt x="24770" y="5432"/>
                    <a:pt x="37884" y="0"/>
                    <a:pt x="515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7"/>
            <p:cNvSpPr txBox="1"/>
            <p:nvPr/>
          </p:nvSpPr>
          <p:spPr>
            <a:xfrm>
              <a:off x="0" y="-47625"/>
              <a:ext cx="2016948" cy="15950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9" name="Google Shape;319;p17"/>
          <p:cNvGrpSpPr/>
          <p:nvPr/>
        </p:nvGrpSpPr>
        <p:grpSpPr>
          <a:xfrm>
            <a:off x="1028700" y="847874"/>
            <a:ext cx="16230600" cy="2006234"/>
            <a:chOff x="0" y="-47625"/>
            <a:chExt cx="4274726" cy="528391"/>
          </a:xfrm>
        </p:grpSpPr>
        <p:sp>
          <p:nvSpPr>
            <p:cNvPr id="320" name="Google Shape;320;p17"/>
            <p:cNvSpPr/>
            <p:nvPr/>
          </p:nvSpPr>
          <p:spPr>
            <a:xfrm>
              <a:off x="0" y="0"/>
              <a:ext cx="4274726" cy="480766"/>
            </a:xfrm>
            <a:custGeom>
              <a:rect b="b" l="l" r="r" t="t"/>
              <a:pathLst>
                <a:path extrusionOk="0" h="480766" w="4274726">
                  <a:moveTo>
                    <a:pt x="24327" y="0"/>
                  </a:moveTo>
                  <a:lnTo>
                    <a:pt x="4250399" y="0"/>
                  </a:lnTo>
                  <a:cubicBezTo>
                    <a:pt x="4263834" y="0"/>
                    <a:pt x="4274726" y="10891"/>
                    <a:pt x="4274726" y="24327"/>
                  </a:cubicBezTo>
                  <a:lnTo>
                    <a:pt x="4274726" y="456439"/>
                  </a:lnTo>
                  <a:cubicBezTo>
                    <a:pt x="4274726" y="469875"/>
                    <a:pt x="4263834" y="480766"/>
                    <a:pt x="4250399" y="480766"/>
                  </a:cubicBezTo>
                  <a:lnTo>
                    <a:pt x="24327" y="480766"/>
                  </a:lnTo>
                  <a:cubicBezTo>
                    <a:pt x="10891" y="480766"/>
                    <a:pt x="0" y="469875"/>
                    <a:pt x="0" y="456439"/>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7"/>
            <p:cNvSpPr txBox="1"/>
            <p:nvPr/>
          </p:nvSpPr>
          <p:spPr>
            <a:xfrm>
              <a:off x="0" y="-47625"/>
              <a:ext cx="4274726" cy="5283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2" name="Google Shape;322;p17"/>
          <p:cNvSpPr txBox="1"/>
          <p:nvPr/>
        </p:nvSpPr>
        <p:spPr>
          <a:xfrm>
            <a:off x="2075229" y="1038225"/>
            <a:ext cx="14137542" cy="1900809"/>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Concepto de Almacenamiento Virtual</a:t>
            </a:r>
            <a:endParaRPr b="0" i="0" sz="1400" u="none" cap="none" strike="noStrike">
              <a:solidFill>
                <a:srgbClr val="000000"/>
              </a:solidFill>
              <a:latin typeface="Arial"/>
              <a:ea typeface="Arial"/>
              <a:cs typeface="Arial"/>
              <a:sym typeface="Arial"/>
            </a:endParaRPr>
          </a:p>
        </p:txBody>
      </p:sp>
      <p:grpSp>
        <p:nvGrpSpPr>
          <p:cNvPr id="323" name="Google Shape;323;p17"/>
          <p:cNvGrpSpPr/>
          <p:nvPr/>
        </p:nvGrpSpPr>
        <p:grpSpPr>
          <a:xfrm>
            <a:off x="1553145" y="3617156"/>
            <a:ext cx="6689220" cy="4252447"/>
            <a:chOff x="0" y="9525"/>
            <a:chExt cx="8918960" cy="5669930"/>
          </a:xfrm>
        </p:grpSpPr>
        <p:sp>
          <p:nvSpPr>
            <p:cNvPr id="324" name="Google Shape;324;p17"/>
            <p:cNvSpPr txBox="1"/>
            <p:nvPr/>
          </p:nvSpPr>
          <p:spPr>
            <a:xfrm>
              <a:off x="0" y="9525"/>
              <a:ext cx="8918960" cy="1280287"/>
            </a:xfrm>
            <a:prstGeom prst="rect">
              <a:avLst/>
            </a:prstGeom>
            <a:noFill/>
            <a:ln>
              <a:noFill/>
            </a:ln>
          </p:spPr>
          <p:txBody>
            <a:bodyPr anchorCtr="0" anchor="t" bIns="0" lIns="0" spcFirstLastPara="1" rIns="0" wrap="square" tIns="0">
              <a:spAutoFit/>
            </a:bodyPr>
            <a:lstStyle/>
            <a:p>
              <a:pPr indent="0" lvl="0" marL="0" marR="0" rtl="0" algn="ctr">
                <a:lnSpc>
                  <a:spcPct val="415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5" name="Google Shape;325;p17"/>
            <p:cNvSpPr txBox="1"/>
            <p:nvPr/>
          </p:nvSpPr>
          <p:spPr>
            <a:xfrm>
              <a:off x="0" y="1540737"/>
              <a:ext cx="8918960" cy="413871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La virtualización de almacenamiento implica la creación de un “espacio de almacenamiento virtual” que reúne múltiples recursos físicos. Este espacio puede distribuirse en diferentes servidores, discos duros, redes de área de almacenamiento (SAN) o dispositivos de almacenamiento en red (NAS).</a:t>
              </a:r>
              <a:endParaRPr b="0" i="0" sz="1400" u="none" cap="none" strike="noStrike">
                <a:solidFill>
                  <a:srgbClr val="000000"/>
                </a:solidFill>
                <a:latin typeface="Arial"/>
                <a:ea typeface="Arial"/>
                <a:cs typeface="Arial"/>
                <a:sym typeface="Arial"/>
              </a:endParaRPr>
            </a:p>
          </p:txBody>
        </p:sp>
      </p:grpSp>
      <p:sp>
        <p:nvSpPr>
          <p:cNvPr id="326" name="Google Shape;326;p17"/>
          <p:cNvSpPr txBox="1"/>
          <p:nvPr/>
        </p:nvSpPr>
        <p:spPr>
          <a:xfrm>
            <a:off x="10085640" y="4793985"/>
            <a:ext cx="6689220" cy="297688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Los usuarios y aplicaciones pueden acceder a los datos sin necesidad de conocer la ubicación exacta de los archivos, lo que simplifica el acceso y la gestión.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332" name="Google Shape;332;p18"/>
          <p:cNvGrpSpPr/>
          <p:nvPr/>
        </p:nvGrpSpPr>
        <p:grpSpPr>
          <a:xfrm>
            <a:off x="1028700" y="3201924"/>
            <a:ext cx="7738110" cy="6056376"/>
            <a:chOff x="0" y="-47625"/>
            <a:chExt cx="2038021" cy="1595095"/>
          </a:xfrm>
        </p:grpSpPr>
        <p:sp>
          <p:nvSpPr>
            <p:cNvPr id="333" name="Google Shape;333;p18"/>
            <p:cNvSpPr/>
            <p:nvPr/>
          </p:nvSpPr>
          <p:spPr>
            <a:xfrm>
              <a:off x="0" y="0"/>
              <a:ext cx="2038021" cy="1547470"/>
            </a:xfrm>
            <a:custGeom>
              <a:rect b="b" l="l" r="r" t="t"/>
              <a:pathLst>
                <a:path extrusionOk="0" h="1547470" w="2038021">
                  <a:moveTo>
                    <a:pt x="51025" y="0"/>
                  </a:moveTo>
                  <a:lnTo>
                    <a:pt x="1986996" y="0"/>
                  </a:lnTo>
                  <a:cubicBezTo>
                    <a:pt x="2000528" y="0"/>
                    <a:pt x="2013507" y="5376"/>
                    <a:pt x="2023076" y="14945"/>
                  </a:cubicBezTo>
                  <a:cubicBezTo>
                    <a:pt x="2032645" y="24514"/>
                    <a:pt x="2038021" y="37492"/>
                    <a:pt x="2038021" y="51025"/>
                  </a:cubicBezTo>
                  <a:lnTo>
                    <a:pt x="2038021" y="1496445"/>
                  </a:lnTo>
                  <a:cubicBezTo>
                    <a:pt x="2038021" y="1524625"/>
                    <a:pt x="2015176" y="1547470"/>
                    <a:pt x="1986996" y="1547470"/>
                  </a:cubicBezTo>
                  <a:lnTo>
                    <a:pt x="51025" y="1547470"/>
                  </a:lnTo>
                  <a:cubicBezTo>
                    <a:pt x="22845" y="1547470"/>
                    <a:pt x="0" y="1524625"/>
                    <a:pt x="0" y="1496445"/>
                  </a:cubicBezTo>
                  <a:lnTo>
                    <a:pt x="0" y="51025"/>
                  </a:lnTo>
                  <a:cubicBezTo>
                    <a:pt x="0" y="22845"/>
                    <a:pt x="22845" y="0"/>
                    <a:pt x="51025"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8"/>
            <p:cNvSpPr txBox="1"/>
            <p:nvPr/>
          </p:nvSpPr>
          <p:spPr>
            <a:xfrm>
              <a:off x="0" y="-47625"/>
              <a:ext cx="2038021" cy="15950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5" name="Google Shape;335;p18"/>
          <p:cNvGrpSpPr/>
          <p:nvPr/>
        </p:nvGrpSpPr>
        <p:grpSpPr>
          <a:xfrm>
            <a:off x="9601200" y="3201924"/>
            <a:ext cx="7658100" cy="6056376"/>
            <a:chOff x="0" y="-47625"/>
            <a:chExt cx="2016948" cy="1595095"/>
          </a:xfrm>
        </p:grpSpPr>
        <p:sp>
          <p:nvSpPr>
            <p:cNvPr id="336" name="Google Shape;336;p18"/>
            <p:cNvSpPr/>
            <p:nvPr/>
          </p:nvSpPr>
          <p:spPr>
            <a:xfrm>
              <a:off x="0" y="0"/>
              <a:ext cx="2016948" cy="1547470"/>
            </a:xfrm>
            <a:custGeom>
              <a:rect b="b" l="l" r="r" t="t"/>
              <a:pathLst>
                <a:path extrusionOk="0" h="1547470" w="2016948">
                  <a:moveTo>
                    <a:pt x="51558" y="0"/>
                  </a:moveTo>
                  <a:lnTo>
                    <a:pt x="1965390" y="0"/>
                  </a:lnTo>
                  <a:cubicBezTo>
                    <a:pt x="1979064" y="0"/>
                    <a:pt x="1992178" y="5432"/>
                    <a:pt x="2001847" y="15101"/>
                  </a:cubicBezTo>
                  <a:cubicBezTo>
                    <a:pt x="2011516" y="24770"/>
                    <a:pt x="2016948" y="37884"/>
                    <a:pt x="2016948" y="51558"/>
                  </a:cubicBezTo>
                  <a:lnTo>
                    <a:pt x="2016948" y="1495912"/>
                  </a:lnTo>
                  <a:cubicBezTo>
                    <a:pt x="2016948" y="1509586"/>
                    <a:pt x="2011516" y="1522700"/>
                    <a:pt x="2001847" y="1532369"/>
                  </a:cubicBezTo>
                  <a:cubicBezTo>
                    <a:pt x="1992178" y="1542038"/>
                    <a:pt x="1979064" y="1547470"/>
                    <a:pt x="1965390" y="1547470"/>
                  </a:cubicBezTo>
                  <a:lnTo>
                    <a:pt x="51558" y="1547470"/>
                  </a:lnTo>
                  <a:cubicBezTo>
                    <a:pt x="37884" y="1547470"/>
                    <a:pt x="24770" y="1542038"/>
                    <a:pt x="15101" y="1532369"/>
                  </a:cubicBezTo>
                  <a:cubicBezTo>
                    <a:pt x="5432" y="1522700"/>
                    <a:pt x="0" y="1509586"/>
                    <a:pt x="0" y="1495912"/>
                  </a:cubicBezTo>
                  <a:lnTo>
                    <a:pt x="0" y="51558"/>
                  </a:lnTo>
                  <a:cubicBezTo>
                    <a:pt x="0" y="37884"/>
                    <a:pt x="5432" y="24770"/>
                    <a:pt x="15101" y="15101"/>
                  </a:cubicBezTo>
                  <a:cubicBezTo>
                    <a:pt x="24770" y="5432"/>
                    <a:pt x="37884" y="0"/>
                    <a:pt x="515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18"/>
            <p:cNvSpPr txBox="1"/>
            <p:nvPr/>
          </p:nvSpPr>
          <p:spPr>
            <a:xfrm>
              <a:off x="0" y="-47625"/>
              <a:ext cx="2016948" cy="15950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8" name="Google Shape;338;p18"/>
          <p:cNvGrpSpPr/>
          <p:nvPr/>
        </p:nvGrpSpPr>
        <p:grpSpPr>
          <a:xfrm>
            <a:off x="1028700" y="847877"/>
            <a:ext cx="16230707" cy="2327827"/>
            <a:chOff x="0" y="-47625"/>
            <a:chExt cx="4274726" cy="528391"/>
          </a:xfrm>
        </p:grpSpPr>
        <p:sp>
          <p:nvSpPr>
            <p:cNvPr id="339" name="Google Shape;339;p18"/>
            <p:cNvSpPr/>
            <p:nvPr/>
          </p:nvSpPr>
          <p:spPr>
            <a:xfrm>
              <a:off x="0" y="0"/>
              <a:ext cx="4274726" cy="480766"/>
            </a:xfrm>
            <a:custGeom>
              <a:rect b="b" l="l" r="r" t="t"/>
              <a:pathLst>
                <a:path extrusionOk="0" h="480766" w="4274726">
                  <a:moveTo>
                    <a:pt x="24327" y="0"/>
                  </a:moveTo>
                  <a:lnTo>
                    <a:pt x="4250399" y="0"/>
                  </a:lnTo>
                  <a:cubicBezTo>
                    <a:pt x="4263834" y="0"/>
                    <a:pt x="4274726" y="10891"/>
                    <a:pt x="4274726" y="24327"/>
                  </a:cubicBezTo>
                  <a:lnTo>
                    <a:pt x="4274726" y="456439"/>
                  </a:lnTo>
                  <a:cubicBezTo>
                    <a:pt x="4274726" y="469875"/>
                    <a:pt x="4263834" y="480766"/>
                    <a:pt x="4250399" y="480766"/>
                  </a:cubicBezTo>
                  <a:lnTo>
                    <a:pt x="24327" y="480766"/>
                  </a:lnTo>
                  <a:cubicBezTo>
                    <a:pt x="10891" y="480766"/>
                    <a:pt x="0" y="469875"/>
                    <a:pt x="0" y="456439"/>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8"/>
            <p:cNvSpPr txBox="1"/>
            <p:nvPr/>
          </p:nvSpPr>
          <p:spPr>
            <a:xfrm>
              <a:off x="0" y="-47625"/>
              <a:ext cx="4274726" cy="5283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1" name="Google Shape;341;p18"/>
          <p:cNvSpPr txBox="1"/>
          <p:nvPr/>
        </p:nvSpPr>
        <p:spPr>
          <a:xfrm>
            <a:off x="2075225" y="1038225"/>
            <a:ext cx="14638200" cy="21375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Componentes del Almacenamiento Virtual</a:t>
            </a:r>
            <a:endParaRPr b="0" i="0" sz="1400" u="none" cap="none" strike="noStrike">
              <a:solidFill>
                <a:srgbClr val="000000"/>
              </a:solidFill>
              <a:latin typeface="Arial"/>
              <a:ea typeface="Arial"/>
              <a:cs typeface="Arial"/>
              <a:sym typeface="Arial"/>
            </a:endParaRPr>
          </a:p>
        </p:txBody>
      </p:sp>
      <p:grpSp>
        <p:nvGrpSpPr>
          <p:cNvPr id="342" name="Google Shape;342;p18"/>
          <p:cNvGrpSpPr/>
          <p:nvPr/>
        </p:nvGrpSpPr>
        <p:grpSpPr>
          <a:xfrm>
            <a:off x="1553145" y="3617156"/>
            <a:ext cx="6689220" cy="4252447"/>
            <a:chOff x="0" y="9525"/>
            <a:chExt cx="8918960" cy="5669930"/>
          </a:xfrm>
        </p:grpSpPr>
        <p:sp>
          <p:nvSpPr>
            <p:cNvPr id="343" name="Google Shape;343;p18"/>
            <p:cNvSpPr txBox="1"/>
            <p:nvPr/>
          </p:nvSpPr>
          <p:spPr>
            <a:xfrm>
              <a:off x="0" y="9525"/>
              <a:ext cx="8918960" cy="1280287"/>
            </a:xfrm>
            <a:prstGeom prst="rect">
              <a:avLst/>
            </a:prstGeom>
            <a:noFill/>
            <a:ln>
              <a:noFill/>
            </a:ln>
          </p:spPr>
          <p:txBody>
            <a:bodyPr anchorCtr="0" anchor="t" bIns="0" lIns="0" spcFirstLastPara="1" rIns="0" wrap="square" tIns="0">
              <a:spAutoFit/>
            </a:bodyPr>
            <a:lstStyle/>
            <a:p>
              <a:pPr indent="0" lvl="0" marL="0" marR="0" rtl="0" algn="ctr">
                <a:lnSpc>
                  <a:spcPct val="415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p18"/>
            <p:cNvSpPr txBox="1"/>
            <p:nvPr/>
          </p:nvSpPr>
          <p:spPr>
            <a:xfrm>
              <a:off x="0" y="1540737"/>
              <a:ext cx="8918960" cy="413871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Capas de Abstracción: Una capa de software o hipervisor de almacenamiento convierte el almacenamiento físico en un recurso virtual, creando una "capa de abstracción". Este software permite la unificación y administración centralizada de los diferentes dispositivos de almacenamiento.</a:t>
              </a:r>
              <a:endParaRPr b="0" i="0" sz="1400" u="none" cap="none" strike="noStrike">
                <a:solidFill>
                  <a:srgbClr val="000000"/>
                </a:solidFill>
                <a:latin typeface="Arial"/>
                <a:ea typeface="Arial"/>
                <a:cs typeface="Arial"/>
                <a:sym typeface="Arial"/>
              </a:endParaRPr>
            </a:p>
          </p:txBody>
        </p:sp>
      </p:grpSp>
      <p:sp>
        <p:nvSpPr>
          <p:cNvPr id="345" name="Google Shape;345;p18"/>
          <p:cNvSpPr txBox="1"/>
          <p:nvPr/>
        </p:nvSpPr>
        <p:spPr>
          <a:xfrm>
            <a:off x="10085640" y="4793985"/>
            <a:ext cx="6689220" cy="297688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Controladores Virtuales: Gestionan las operaciones de entrada/salida (I/O) de datos y los distribuyen de manera eficiente entre los recursos físicos disponibles.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351" name="Google Shape;351;p19"/>
          <p:cNvGrpSpPr/>
          <p:nvPr/>
        </p:nvGrpSpPr>
        <p:grpSpPr>
          <a:xfrm>
            <a:off x="1028700" y="3201924"/>
            <a:ext cx="7738110" cy="6056376"/>
            <a:chOff x="0" y="-47625"/>
            <a:chExt cx="2038021" cy="1595095"/>
          </a:xfrm>
        </p:grpSpPr>
        <p:sp>
          <p:nvSpPr>
            <p:cNvPr id="352" name="Google Shape;352;p19"/>
            <p:cNvSpPr/>
            <p:nvPr/>
          </p:nvSpPr>
          <p:spPr>
            <a:xfrm>
              <a:off x="0" y="0"/>
              <a:ext cx="2038021" cy="1547470"/>
            </a:xfrm>
            <a:custGeom>
              <a:rect b="b" l="l" r="r" t="t"/>
              <a:pathLst>
                <a:path extrusionOk="0" h="1547470" w="2038021">
                  <a:moveTo>
                    <a:pt x="51025" y="0"/>
                  </a:moveTo>
                  <a:lnTo>
                    <a:pt x="1986996" y="0"/>
                  </a:lnTo>
                  <a:cubicBezTo>
                    <a:pt x="2000528" y="0"/>
                    <a:pt x="2013507" y="5376"/>
                    <a:pt x="2023076" y="14945"/>
                  </a:cubicBezTo>
                  <a:cubicBezTo>
                    <a:pt x="2032645" y="24514"/>
                    <a:pt x="2038021" y="37492"/>
                    <a:pt x="2038021" y="51025"/>
                  </a:cubicBezTo>
                  <a:lnTo>
                    <a:pt x="2038021" y="1496445"/>
                  </a:lnTo>
                  <a:cubicBezTo>
                    <a:pt x="2038021" y="1524625"/>
                    <a:pt x="2015176" y="1547470"/>
                    <a:pt x="1986996" y="1547470"/>
                  </a:cubicBezTo>
                  <a:lnTo>
                    <a:pt x="51025" y="1547470"/>
                  </a:lnTo>
                  <a:cubicBezTo>
                    <a:pt x="22845" y="1547470"/>
                    <a:pt x="0" y="1524625"/>
                    <a:pt x="0" y="1496445"/>
                  </a:cubicBezTo>
                  <a:lnTo>
                    <a:pt x="0" y="51025"/>
                  </a:lnTo>
                  <a:cubicBezTo>
                    <a:pt x="0" y="22845"/>
                    <a:pt x="22845" y="0"/>
                    <a:pt x="51025"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9"/>
            <p:cNvSpPr txBox="1"/>
            <p:nvPr/>
          </p:nvSpPr>
          <p:spPr>
            <a:xfrm>
              <a:off x="0" y="-47625"/>
              <a:ext cx="2038021" cy="15950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4" name="Google Shape;354;p19"/>
          <p:cNvGrpSpPr/>
          <p:nvPr/>
        </p:nvGrpSpPr>
        <p:grpSpPr>
          <a:xfrm>
            <a:off x="9601200" y="3201924"/>
            <a:ext cx="7658100" cy="6056376"/>
            <a:chOff x="0" y="-47625"/>
            <a:chExt cx="2016948" cy="1595095"/>
          </a:xfrm>
        </p:grpSpPr>
        <p:sp>
          <p:nvSpPr>
            <p:cNvPr id="355" name="Google Shape;355;p19"/>
            <p:cNvSpPr/>
            <p:nvPr/>
          </p:nvSpPr>
          <p:spPr>
            <a:xfrm>
              <a:off x="0" y="0"/>
              <a:ext cx="2016948" cy="1547470"/>
            </a:xfrm>
            <a:custGeom>
              <a:rect b="b" l="l" r="r" t="t"/>
              <a:pathLst>
                <a:path extrusionOk="0" h="1547470" w="2016948">
                  <a:moveTo>
                    <a:pt x="51558" y="0"/>
                  </a:moveTo>
                  <a:lnTo>
                    <a:pt x="1965390" y="0"/>
                  </a:lnTo>
                  <a:cubicBezTo>
                    <a:pt x="1979064" y="0"/>
                    <a:pt x="1992178" y="5432"/>
                    <a:pt x="2001847" y="15101"/>
                  </a:cubicBezTo>
                  <a:cubicBezTo>
                    <a:pt x="2011516" y="24770"/>
                    <a:pt x="2016948" y="37884"/>
                    <a:pt x="2016948" y="51558"/>
                  </a:cubicBezTo>
                  <a:lnTo>
                    <a:pt x="2016948" y="1495912"/>
                  </a:lnTo>
                  <a:cubicBezTo>
                    <a:pt x="2016948" y="1509586"/>
                    <a:pt x="2011516" y="1522700"/>
                    <a:pt x="2001847" y="1532369"/>
                  </a:cubicBezTo>
                  <a:cubicBezTo>
                    <a:pt x="1992178" y="1542038"/>
                    <a:pt x="1979064" y="1547470"/>
                    <a:pt x="1965390" y="1547470"/>
                  </a:cubicBezTo>
                  <a:lnTo>
                    <a:pt x="51558" y="1547470"/>
                  </a:lnTo>
                  <a:cubicBezTo>
                    <a:pt x="37884" y="1547470"/>
                    <a:pt x="24770" y="1542038"/>
                    <a:pt x="15101" y="1532369"/>
                  </a:cubicBezTo>
                  <a:cubicBezTo>
                    <a:pt x="5432" y="1522700"/>
                    <a:pt x="0" y="1509586"/>
                    <a:pt x="0" y="1495912"/>
                  </a:cubicBezTo>
                  <a:lnTo>
                    <a:pt x="0" y="51558"/>
                  </a:lnTo>
                  <a:cubicBezTo>
                    <a:pt x="0" y="37884"/>
                    <a:pt x="5432" y="24770"/>
                    <a:pt x="15101" y="15101"/>
                  </a:cubicBezTo>
                  <a:cubicBezTo>
                    <a:pt x="24770" y="5432"/>
                    <a:pt x="37884" y="0"/>
                    <a:pt x="515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9"/>
            <p:cNvSpPr txBox="1"/>
            <p:nvPr/>
          </p:nvSpPr>
          <p:spPr>
            <a:xfrm>
              <a:off x="0" y="-47625"/>
              <a:ext cx="2016948" cy="15950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7" name="Google Shape;357;p19"/>
          <p:cNvGrpSpPr/>
          <p:nvPr/>
        </p:nvGrpSpPr>
        <p:grpSpPr>
          <a:xfrm>
            <a:off x="1028700" y="847874"/>
            <a:ext cx="16230600" cy="2006234"/>
            <a:chOff x="0" y="-47625"/>
            <a:chExt cx="4274726" cy="528391"/>
          </a:xfrm>
        </p:grpSpPr>
        <p:sp>
          <p:nvSpPr>
            <p:cNvPr id="358" name="Google Shape;358;p19"/>
            <p:cNvSpPr/>
            <p:nvPr/>
          </p:nvSpPr>
          <p:spPr>
            <a:xfrm>
              <a:off x="0" y="0"/>
              <a:ext cx="4274726" cy="480766"/>
            </a:xfrm>
            <a:custGeom>
              <a:rect b="b" l="l" r="r" t="t"/>
              <a:pathLst>
                <a:path extrusionOk="0" h="480766" w="4274726">
                  <a:moveTo>
                    <a:pt x="24327" y="0"/>
                  </a:moveTo>
                  <a:lnTo>
                    <a:pt x="4250399" y="0"/>
                  </a:lnTo>
                  <a:cubicBezTo>
                    <a:pt x="4263834" y="0"/>
                    <a:pt x="4274726" y="10891"/>
                    <a:pt x="4274726" y="24327"/>
                  </a:cubicBezTo>
                  <a:lnTo>
                    <a:pt x="4274726" y="456439"/>
                  </a:lnTo>
                  <a:cubicBezTo>
                    <a:pt x="4274726" y="469875"/>
                    <a:pt x="4263834" y="480766"/>
                    <a:pt x="4250399" y="480766"/>
                  </a:cubicBezTo>
                  <a:lnTo>
                    <a:pt x="24327" y="480766"/>
                  </a:lnTo>
                  <a:cubicBezTo>
                    <a:pt x="10891" y="480766"/>
                    <a:pt x="0" y="469875"/>
                    <a:pt x="0" y="456439"/>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9"/>
            <p:cNvSpPr txBox="1"/>
            <p:nvPr/>
          </p:nvSpPr>
          <p:spPr>
            <a:xfrm>
              <a:off x="0" y="-47625"/>
              <a:ext cx="4274726" cy="5283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0" name="Google Shape;360;p19"/>
          <p:cNvSpPr txBox="1"/>
          <p:nvPr/>
        </p:nvSpPr>
        <p:spPr>
          <a:xfrm>
            <a:off x="2075229" y="1038225"/>
            <a:ext cx="14137542" cy="1900809"/>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Tipos de almacenamiento virtual</a:t>
            </a:r>
            <a:endParaRPr b="0" i="0" sz="1400" u="none" cap="none" strike="noStrike">
              <a:solidFill>
                <a:srgbClr val="000000"/>
              </a:solidFill>
              <a:latin typeface="Arial"/>
              <a:ea typeface="Arial"/>
              <a:cs typeface="Arial"/>
              <a:sym typeface="Arial"/>
            </a:endParaRPr>
          </a:p>
        </p:txBody>
      </p:sp>
      <p:sp>
        <p:nvSpPr>
          <p:cNvPr id="361" name="Google Shape;361;p19"/>
          <p:cNvSpPr txBox="1"/>
          <p:nvPr/>
        </p:nvSpPr>
        <p:spPr>
          <a:xfrm>
            <a:off x="1553145" y="5102703"/>
            <a:ext cx="6689220" cy="233489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Almacenamiento de Bloques: Virtualiza los bloques de datos, que son la unidad básica de almacenamiento en discos duros. Este método se usa comúnmente en entornos de alto rendimiento y bases de datos, como en redes SAN.</a:t>
            </a:r>
            <a:endParaRPr b="0" i="0" sz="1400" u="none" cap="none" strike="noStrike">
              <a:solidFill>
                <a:srgbClr val="000000"/>
              </a:solidFill>
              <a:latin typeface="Arial"/>
              <a:ea typeface="Arial"/>
              <a:cs typeface="Arial"/>
              <a:sym typeface="Arial"/>
            </a:endParaRPr>
          </a:p>
        </p:txBody>
      </p:sp>
      <p:sp>
        <p:nvSpPr>
          <p:cNvPr id="362" name="Google Shape;362;p19"/>
          <p:cNvSpPr txBox="1"/>
          <p:nvPr/>
        </p:nvSpPr>
        <p:spPr>
          <a:xfrm>
            <a:off x="10085640" y="4298685"/>
            <a:ext cx="6689220" cy="396748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Almacenamiento de Bloques: Virtualiza los bloques de datos, que son la unidad básica de almacenamiento en discos duros. Este método se usa comúnmente en entornos de alto rendimiento y bases de datos, como en redes SAN.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368" name="Google Shape;368;p20"/>
          <p:cNvGrpSpPr/>
          <p:nvPr/>
        </p:nvGrpSpPr>
        <p:grpSpPr>
          <a:xfrm>
            <a:off x="1028700" y="847874"/>
            <a:ext cx="16230600" cy="8410426"/>
            <a:chOff x="0" y="-47625"/>
            <a:chExt cx="4274726" cy="2215092"/>
          </a:xfrm>
        </p:grpSpPr>
        <p:sp>
          <p:nvSpPr>
            <p:cNvPr id="369" name="Google Shape;369;p20"/>
            <p:cNvSpPr/>
            <p:nvPr/>
          </p:nvSpPr>
          <p:spPr>
            <a:xfrm>
              <a:off x="0" y="0"/>
              <a:ext cx="4274726" cy="2167467"/>
            </a:xfrm>
            <a:custGeom>
              <a:rect b="b" l="l" r="r" t="t"/>
              <a:pathLst>
                <a:path extrusionOk="0" h="2167467" w="4274726">
                  <a:moveTo>
                    <a:pt x="24327" y="0"/>
                  </a:moveTo>
                  <a:lnTo>
                    <a:pt x="4250399" y="0"/>
                  </a:lnTo>
                  <a:cubicBezTo>
                    <a:pt x="4263834" y="0"/>
                    <a:pt x="4274726" y="10891"/>
                    <a:pt x="4274726" y="24327"/>
                  </a:cubicBezTo>
                  <a:lnTo>
                    <a:pt x="4274726" y="2143140"/>
                  </a:lnTo>
                  <a:cubicBezTo>
                    <a:pt x="4274726" y="2156575"/>
                    <a:pt x="4263834" y="2167467"/>
                    <a:pt x="4250399" y="2167467"/>
                  </a:cubicBezTo>
                  <a:lnTo>
                    <a:pt x="24327" y="2167467"/>
                  </a:lnTo>
                  <a:cubicBezTo>
                    <a:pt x="10891" y="2167467"/>
                    <a:pt x="0" y="2156575"/>
                    <a:pt x="0" y="21431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20"/>
            <p:cNvSpPr txBox="1"/>
            <p:nvPr/>
          </p:nvSpPr>
          <p:spPr>
            <a:xfrm>
              <a:off x="0" y="-47625"/>
              <a:ext cx="4274726" cy="2215092"/>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aphicFrame>
        <p:nvGraphicFramePr>
          <p:cNvPr id="371" name="Google Shape;371;p20"/>
          <p:cNvGraphicFramePr/>
          <p:nvPr/>
        </p:nvGraphicFramePr>
        <p:xfrm>
          <a:off x="1483761" y="3425881"/>
          <a:ext cx="3000000" cy="3000000"/>
        </p:xfrm>
        <a:graphic>
          <a:graphicData uri="http://schemas.openxmlformats.org/drawingml/2006/table">
            <a:tbl>
              <a:tblPr>
                <a:noFill/>
                <a:tableStyleId>{4734190C-297F-494A-AB3A-388EFB6B3643}</a:tableStyleId>
              </a:tblPr>
              <a:tblGrid>
                <a:gridCol w="3246375"/>
                <a:gridCol w="3246375"/>
                <a:gridCol w="3246375"/>
              </a:tblGrid>
              <a:tr h="1128725">
                <a:tc>
                  <a:txBody>
                    <a:bodyPr/>
                    <a:lstStyle/>
                    <a:p>
                      <a:pPr indent="0" lvl="0" marL="0" marR="0" rtl="0" algn="ctr">
                        <a:lnSpc>
                          <a:spcPct val="190909"/>
                        </a:lnSpc>
                        <a:spcBef>
                          <a:spcPts val="0"/>
                        </a:spcBef>
                        <a:spcAft>
                          <a:spcPts val="0"/>
                        </a:spcAft>
                        <a:buClr>
                          <a:srgbClr val="000000"/>
                        </a:buClr>
                        <a:buSzPts val="1100"/>
                        <a:buFont typeface="Arial"/>
                        <a:buNone/>
                      </a:pPr>
                      <a:r>
                        <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40000"/>
                        </a:lnSpc>
                        <a:spcBef>
                          <a:spcPts val="0"/>
                        </a:spcBef>
                        <a:spcAft>
                          <a:spcPts val="0"/>
                        </a:spcAft>
                        <a:buClr>
                          <a:srgbClr val="000000"/>
                        </a:buClr>
                        <a:buSzPts val="2000"/>
                        <a:buFont typeface="Arial"/>
                        <a:buNone/>
                      </a:pPr>
                      <a:r>
                        <a:rPr lang="en-US" sz="2000" u="none" cap="none" strike="noStrike">
                          <a:solidFill>
                            <a:srgbClr val="FFFFFF"/>
                          </a:solidFill>
                          <a:latin typeface="Arial"/>
                          <a:ea typeface="Arial"/>
                          <a:cs typeface="Arial"/>
                          <a:sym typeface="Arial"/>
                        </a:rPr>
                        <a:t>Escalabilidad</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293D79"/>
                    </a:solidFill>
                  </a:tcPr>
                </a:tc>
                <a:tc>
                  <a:txBody>
                    <a:bodyPr/>
                    <a:lstStyle/>
                    <a:p>
                      <a:pPr indent="0" lvl="0" marL="0" marR="0" rtl="0" algn="ctr">
                        <a:lnSpc>
                          <a:spcPct val="140000"/>
                        </a:lnSpc>
                        <a:spcBef>
                          <a:spcPts val="0"/>
                        </a:spcBef>
                        <a:spcAft>
                          <a:spcPts val="0"/>
                        </a:spcAft>
                        <a:buClr>
                          <a:srgbClr val="000000"/>
                        </a:buClr>
                        <a:buSzPts val="2000"/>
                        <a:buFont typeface="Arial"/>
                        <a:buNone/>
                      </a:pPr>
                      <a:r>
                        <a:rPr lang="en-US" sz="2000" u="none" cap="none" strike="noStrike">
                          <a:solidFill>
                            <a:srgbClr val="FFFFFF"/>
                          </a:solidFill>
                          <a:latin typeface="Arial"/>
                          <a:ea typeface="Arial"/>
                          <a:cs typeface="Arial"/>
                          <a:sym typeface="Arial"/>
                        </a:rPr>
                        <a:t>Flexibilidad</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293D79"/>
                    </a:solidFill>
                  </a:tcPr>
                </a:tc>
              </a:tr>
              <a:tr h="1206250">
                <a:tc>
                  <a:txBody>
                    <a:bodyPr/>
                    <a:lstStyle/>
                    <a:p>
                      <a:pPr indent="0" lvl="0" marL="0" marR="0" rtl="0" algn="ctr">
                        <a:lnSpc>
                          <a:spcPct val="140000"/>
                        </a:lnSpc>
                        <a:spcBef>
                          <a:spcPts val="0"/>
                        </a:spcBef>
                        <a:spcAft>
                          <a:spcPts val="0"/>
                        </a:spcAft>
                        <a:buClr>
                          <a:srgbClr val="000000"/>
                        </a:buClr>
                        <a:buSzPts val="2000"/>
                        <a:buFont typeface="Arial"/>
                        <a:buNone/>
                      </a:pPr>
                      <a:r>
                        <a:rPr lang="en-US" sz="2000" u="none" cap="none" strike="noStrike">
                          <a:solidFill>
                            <a:srgbClr val="FFFFFF"/>
                          </a:solidFill>
                          <a:latin typeface="Arial"/>
                          <a:ea typeface="Arial"/>
                          <a:cs typeface="Arial"/>
                          <a:sym typeface="Arial"/>
                        </a:rPr>
                        <a:t>Alta disponibilidad</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c>
                  <a:txBody>
                    <a:bodyPr/>
                    <a:lstStyle/>
                    <a:p>
                      <a:pPr indent="0" lvl="0" marL="0" marR="0" rtl="0" algn="ctr">
                        <a:lnSpc>
                          <a:spcPct val="140000"/>
                        </a:lnSpc>
                        <a:spcBef>
                          <a:spcPts val="0"/>
                        </a:spcBef>
                        <a:spcAft>
                          <a:spcPts val="0"/>
                        </a:spcAft>
                        <a:buClr>
                          <a:srgbClr val="000000"/>
                        </a:buClr>
                        <a:buSzPts val="1900"/>
                        <a:buFont typeface="Arial"/>
                        <a:buNone/>
                      </a:pPr>
                      <a:r>
                        <a:rPr lang="en-US" sz="1900" u="none" cap="none" strike="noStrike">
                          <a:solidFill>
                            <a:srgbClr val="FFFFFF"/>
                          </a:solidFill>
                          <a:latin typeface="Arial"/>
                          <a:ea typeface="Arial"/>
                          <a:cs typeface="Arial"/>
                          <a:sym typeface="Arial"/>
                        </a:rPr>
                        <a:t>Alta redundancia</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c>
                  <a:txBody>
                    <a:bodyPr/>
                    <a:lstStyle/>
                    <a:p>
                      <a:pPr indent="0" lvl="0" marL="0" marR="0" rtl="0" algn="ctr">
                        <a:lnSpc>
                          <a:spcPct val="140021"/>
                        </a:lnSpc>
                        <a:spcBef>
                          <a:spcPts val="0"/>
                        </a:spcBef>
                        <a:spcAft>
                          <a:spcPts val="0"/>
                        </a:spcAft>
                        <a:buClr>
                          <a:srgbClr val="000000"/>
                        </a:buClr>
                        <a:buSzPts val="1899"/>
                        <a:buFont typeface="Arial"/>
                        <a:buNone/>
                      </a:pPr>
                      <a:r>
                        <a:rPr lang="en-US" sz="1899" u="none" cap="none" strike="noStrike">
                          <a:solidFill>
                            <a:srgbClr val="FFFFFF"/>
                          </a:solidFill>
                          <a:latin typeface="Arial"/>
                          <a:ea typeface="Arial"/>
                          <a:cs typeface="Arial"/>
                          <a:sym typeface="Arial"/>
                        </a:rPr>
                        <a:t>Optimizacion y rendimeinto </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r>
              <a:tr h="1359325">
                <a:tc>
                  <a:txBody>
                    <a:bodyPr/>
                    <a:lstStyle/>
                    <a:p>
                      <a:pPr indent="0" lvl="0" marL="0" marR="0" rtl="0" algn="ctr">
                        <a:lnSpc>
                          <a:spcPct val="140020"/>
                        </a:lnSpc>
                        <a:spcBef>
                          <a:spcPts val="0"/>
                        </a:spcBef>
                        <a:spcAft>
                          <a:spcPts val="0"/>
                        </a:spcAft>
                        <a:buClr>
                          <a:srgbClr val="000000"/>
                        </a:buClr>
                        <a:buSzPts val="1999"/>
                        <a:buFont typeface="Arial"/>
                        <a:buNone/>
                      </a:pPr>
                      <a:r>
                        <a:rPr lang="en-US" sz="1999" u="none" cap="none" strike="noStrike">
                          <a:solidFill>
                            <a:srgbClr val="FFFFFF"/>
                          </a:solidFill>
                          <a:latin typeface="Arial"/>
                          <a:ea typeface="Arial"/>
                          <a:cs typeface="Arial"/>
                          <a:sym typeface="Arial"/>
                        </a:rPr>
                        <a:t>Facilidad de gestion</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lang="en-US" sz="1999" u="none" cap="none" strike="noStrike">
                          <a:solidFill>
                            <a:srgbClr val="FFFFFF"/>
                          </a:solidFill>
                          <a:latin typeface="Arial"/>
                          <a:ea typeface="Arial"/>
                          <a:cs typeface="Arial"/>
                          <a:sym typeface="Arial"/>
                        </a:rPr>
                        <a:t>Facilidad de gestion</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c>
                  <a:txBody>
                    <a:bodyPr/>
                    <a:lstStyle/>
                    <a:p>
                      <a:pPr indent="0" lvl="0" marL="0" marR="0" rtl="0" algn="ctr">
                        <a:lnSpc>
                          <a:spcPct val="140000"/>
                        </a:lnSpc>
                        <a:spcBef>
                          <a:spcPts val="0"/>
                        </a:spcBef>
                        <a:spcAft>
                          <a:spcPts val="0"/>
                        </a:spcAft>
                        <a:buClr>
                          <a:srgbClr val="000000"/>
                        </a:buClr>
                        <a:buSzPts val="1900"/>
                        <a:buFont typeface="Arial"/>
                        <a:buNone/>
                      </a:pPr>
                      <a:r>
                        <a:rPr lang="en-US" sz="1900" u="none" cap="none" strike="noStrike">
                          <a:solidFill>
                            <a:srgbClr val="FFFFFF"/>
                          </a:solidFill>
                          <a:latin typeface="Arial"/>
                          <a:ea typeface="Arial"/>
                          <a:cs typeface="Arial"/>
                          <a:sym typeface="Arial"/>
                        </a:rPr>
                        <a:t>Detección de problemas</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r>
              <a:tr h="1249325">
                <a:tc>
                  <a:txBody>
                    <a:bodyPr/>
                    <a:lstStyle/>
                    <a:p>
                      <a:pPr indent="0" lvl="0" marL="0" marR="0" rtl="0" algn="ctr">
                        <a:lnSpc>
                          <a:spcPct val="140000"/>
                        </a:lnSpc>
                        <a:spcBef>
                          <a:spcPts val="0"/>
                        </a:spcBef>
                        <a:spcAft>
                          <a:spcPts val="0"/>
                        </a:spcAft>
                        <a:buClr>
                          <a:srgbClr val="000000"/>
                        </a:buClr>
                        <a:buSzPts val="2000"/>
                        <a:buFont typeface="Arial"/>
                        <a:buNone/>
                      </a:pPr>
                      <a:r>
                        <a:rPr lang="en-US" sz="2000" u="none" cap="none" strike="noStrike">
                          <a:solidFill>
                            <a:srgbClr val="FFFFFF"/>
                          </a:solidFill>
                          <a:latin typeface="Arial"/>
                          <a:ea typeface="Arial"/>
                          <a:cs typeface="Arial"/>
                          <a:sym typeface="Arial"/>
                        </a:rPr>
                        <a:t>Consolidación de Almacenamiento</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c>
                  <a:txBody>
                    <a:bodyPr/>
                    <a:lstStyle/>
                    <a:p>
                      <a:pPr indent="0" lvl="0" marL="0" marR="0" rtl="0" algn="ctr">
                        <a:lnSpc>
                          <a:spcPct val="140000"/>
                        </a:lnSpc>
                        <a:spcBef>
                          <a:spcPts val="0"/>
                        </a:spcBef>
                        <a:spcAft>
                          <a:spcPts val="0"/>
                        </a:spcAft>
                        <a:buClr>
                          <a:srgbClr val="000000"/>
                        </a:buClr>
                        <a:buSzPts val="1900"/>
                        <a:buFont typeface="Arial"/>
                        <a:buNone/>
                      </a:pPr>
                      <a:r>
                        <a:rPr lang="en-US" sz="1900" u="none" cap="none" strike="noStrike">
                          <a:solidFill>
                            <a:srgbClr val="FFFFFF"/>
                          </a:solidFill>
                          <a:latin typeface="Arial"/>
                          <a:ea typeface="Arial"/>
                          <a:cs typeface="Arial"/>
                          <a:sym typeface="Arial"/>
                        </a:rPr>
                        <a:t>Desarrollo y Pruebas</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c>
                  <a:txBody>
                    <a:bodyPr/>
                    <a:lstStyle/>
                    <a:p>
                      <a:pPr indent="0" lvl="0" marL="0" marR="0" rtl="0" algn="ctr">
                        <a:lnSpc>
                          <a:spcPct val="140000"/>
                        </a:lnSpc>
                        <a:spcBef>
                          <a:spcPts val="0"/>
                        </a:spcBef>
                        <a:spcAft>
                          <a:spcPts val="0"/>
                        </a:spcAft>
                        <a:buClr>
                          <a:srgbClr val="000000"/>
                        </a:buClr>
                        <a:buSzPts val="1900"/>
                        <a:buFont typeface="Arial"/>
                        <a:buNone/>
                      </a:pPr>
                      <a:r>
                        <a:rPr lang="en-US" sz="1900" u="none" cap="none" strike="noStrike">
                          <a:solidFill>
                            <a:srgbClr val="FFFFFF"/>
                          </a:solidFill>
                          <a:latin typeface="Arial"/>
                          <a:ea typeface="Arial"/>
                          <a:cs typeface="Arial"/>
                          <a:sym typeface="Arial"/>
                        </a:rPr>
                        <a:t>Entornos de Nube e Híbridos</a:t>
                      </a:r>
                      <a:endParaRPr sz="1100" u="none" cap="none" strike="noStrike"/>
                    </a:p>
                  </a:txBody>
                  <a:tcPr marT="190500" marB="190500" marR="190500" marL="190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6E8ADE"/>
                    </a:solidFill>
                  </a:tcPr>
                </a:tc>
              </a:tr>
            </a:tbl>
          </a:graphicData>
        </a:graphic>
      </p:graphicFrame>
      <p:sp>
        <p:nvSpPr>
          <p:cNvPr id="372" name="Google Shape;372;p20"/>
          <p:cNvSpPr txBox="1"/>
          <p:nvPr/>
        </p:nvSpPr>
        <p:spPr>
          <a:xfrm>
            <a:off x="1483761" y="1655273"/>
            <a:ext cx="14960489" cy="1900809"/>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 Ventajas del Almacenamiento Virtual</a:t>
            </a:r>
            <a:endParaRPr b="0" i="0" sz="1400" u="none" cap="none" strike="noStrike">
              <a:solidFill>
                <a:srgbClr val="000000"/>
              </a:solidFill>
              <a:latin typeface="Arial"/>
              <a:ea typeface="Arial"/>
              <a:cs typeface="Arial"/>
              <a:sym typeface="Arial"/>
            </a:endParaRPr>
          </a:p>
        </p:txBody>
      </p:sp>
      <p:sp>
        <p:nvSpPr>
          <p:cNvPr id="373" name="Google Shape;373;p20"/>
          <p:cNvSpPr txBox="1"/>
          <p:nvPr/>
        </p:nvSpPr>
        <p:spPr>
          <a:xfrm>
            <a:off x="11830701" y="3642492"/>
            <a:ext cx="5053844" cy="428752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El almacenamiento virtual proporciona una solución eficiente y flexible para gestionar grandes volúmenes de datos en infraestructuras modernas. Su capacidad para combinar múltiples recursos de almacenamiento físico en una interfaz unificada permite una administración más sencilla y optimiza el uso de recursos.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379" name="Google Shape;379;p21"/>
          <p:cNvGrpSpPr/>
          <p:nvPr/>
        </p:nvGrpSpPr>
        <p:grpSpPr>
          <a:xfrm>
            <a:off x="1028700" y="3201924"/>
            <a:ext cx="7738110" cy="6056376"/>
            <a:chOff x="0" y="-47625"/>
            <a:chExt cx="2038021" cy="1595095"/>
          </a:xfrm>
        </p:grpSpPr>
        <p:sp>
          <p:nvSpPr>
            <p:cNvPr id="380" name="Google Shape;380;p21"/>
            <p:cNvSpPr/>
            <p:nvPr/>
          </p:nvSpPr>
          <p:spPr>
            <a:xfrm>
              <a:off x="0" y="0"/>
              <a:ext cx="2038021" cy="1547470"/>
            </a:xfrm>
            <a:custGeom>
              <a:rect b="b" l="l" r="r" t="t"/>
              <a:pathLst>
                <a:path extrusionOk="0" h="1547470" w="2038021">
                  <a:moveTo>
                    <a:pt x="51025" y="0"/>
                  </a:moveTo>
                  <a:lnTo>
                    <a:pt x="1986996" y="0"/>
                  </a:lnTo>
                  <a:cubicBezTo>
                    <a:pt x="2000528" y="0"/>
                    <a:pt x="2013507" y="5376"/>
                    <a:pt x="2023076" y="14945"/>
                  </a:cubicBezTo>
                  <a:cubicBezTo>
                    <a:pt x="2032645" y="24514"/>
                    <a:pt x="2038021" y="37492"/>
                    <a:pt x="2038021" y="51025"/>
                  </a:cubicBezTo>
                  <a:lnTo>
                    <a:pt x="2038021" y="1496445"/>
                  </a:lnTo>
                  <a:cubicBezTo>
                    <a:pt x="2038021" y="1524625"/>
                    <a:pt x="2015176" y="1547470"/>
                    <a:pt x="1986996" y="1547470"/>
                  </a:cubicBezTo>
                  <a:lnTo>
                    <a:pt x="51025" y="1547470"/>
                  </a:lnTo>
                  <a:cubicBezTo>
                    <a:pt x="22845" y="1547470"/>
                    <a:pt x="0" y="1524625"/>
                    <a:pt x="0" y="1496445"/>
                  </a:cubicBezTo>
                  <a:lnTo>
                    <a:pt x="0" y="51025"/>
                  </a:lnTo>
                  <a:cubicBezTo>
                    <a:pt x="0" y="22845"/>
                    <a:pt x="22845" y="0"/>
                    <a:pt x="51025"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1"/>
            <p:cNvSpPr txBox="1"/>
            <p:nvPr/>
          </p:nvSpPr>
          <p:spPr>
            <a:xfrm>
              <a:off x="0" y="-47625"/>
              <a:ext cx="2038021" cy="15950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2" name="Google Shape;382;p21"/>
          <p:cNvGrpSpPr/>
          <p:nvPr/>
        </p:nvGrpSpPr>
        <p:grpSpPr>
          <a:xfrm>
            <a:off x="9601200" y="3201924"/>
            <a:ext cx="7658100" cy="6056376"/>
            <a:chOff x="0" y="-47625"/>
            <a:chExt cx="2016948" cy="1595095"/>
          </a:xfrm>
        </p:grpSpPr>
        <p:sp>
          <p:nvSpPr>
            <p:cNvPr id="383" name="Google Shape;383;p21"/>
            <p:cNvSpPr/>
            <p:nvPr/>
          </p:nvSpPr>
          <p:spPr>
            <a:xfrm>
              <a:off x="0" y="0"/>
              <a:ext cx="2016948" cy="1547470"/>
            </a:xfrm>
            <a:custGeom>
              <a:rect b="b" l="l" r="r" t="t"/>
              <a:pathLst>
                <a:path extrusionOk="0" h="1547470" w="2016948">
                  <a:moveTo>
                    <a:pt x="51558" y="0"/>
                  </a:moveTo>
                  <a:lnTo>
                    <a:pt x="1965390" y="0"/>
                  </a:lnTo>
                  <a:cubicBezTo>
                    <a:pt x="1979064" y="0"/>
                    <a:pt x="1992178" y="5432"/>
                    <a:pt x="2001847" y="15101"/>
                  </a:cubicBezTo>
                  <a:cubicBezTo>
                    <a:pt x="2011516" y="24770"/>
                    <a:pt x="2016948" y="37884"/>
                    <a:pt x="2016948" y="51558"/>
                  </a:cubicBezTo>
                  <a:lnTo>
                    <a:pt x="2016948" y="1495912"/>
                  </a:lnTo>
                  <a:cubicBezTo>
                    <a:pt x="2016948" y="1509586"/>
                    <a:pt x="2011516" y="1522700"/>
                    <a:pt x="2001847" y="1532369"/>
                  </a:cubicBezTo>
                  <a:cubicBezTo>
                    <a:pt x="1992178" y="1542038"/>
                    <a:pt x="1979064" y="1547470"/>
                    <a:pt x="1965390" y="1547470"/>
                  </a:cubicBezTo>
                  <a:lnTo>
                    <a:pt x="51558" y="1547470"/>
                  </a:lnTo>
                  <a:cubicBezTo>
                    <a:pt x="37884" y="1547470"/>
                    <a:pt x="24770" y="1542038"/>
                    <a:pt x="15101" y="1532369"/>
                  </a:cubicBezTo>
                  <a:cubicBezTo>
                    <a:pt x="5432" y="1522700"/>
                    <a:pt x="0" y="1509586"/>
                    <a:pt x="0" y="1495912"/>
                  </a:cubicBezTo>
                  <a:lnTo>
                    <a:pt x="0" y="51558"/>
                  </a:lnTo>
                  <a:cubicBezTo>
                    <a:pt x="0" y="37884"/>
                    <a:pt x="5432" y="24770"/>
                    <a:pt x="15101" y="15101"/>
                  </a:cubicBezTo>
                  <a:cubicBezTo>
                    <a:pt x="24770" y="5432"/>
                    <a:pt x="37884" y="0"/>
                    <a:pt x="515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21"/>
            <p:cNvSpPr txBox="1"/>
            <p:nvPr/>
          </p:nvSpPr>
          <p:spPr>
            <a:xfrm>
              <a:off x="0" y="-47625"/>
              <a:ext cx="2016948" cy="159509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5" name="Google Shape;385;p21"/>
          <p:cNvGrpSpPr/>
          <p:nvPr/>
        </p:nvGrpSpPr>
        <p:grpSpPr>
          <a:xfrm>
            <a:off x="1028700" y="847874"/>
            <a:ext cx="16230600" cy="2006234"/>
            <a:chOff x="0" y="-47625"/>
            <a:chExt cx="4274726" cy="528391"/>
          </a:xfrm>
        </p:grpSpPr>
        <p:sp>
          <p:nvSpPr>
            <p:cNvPr id="386" name="Google Shape;386;p21"/>
            <p:cNvSpPr/>
            <p:nvPr/>
          </p:nvSpPr>
          <p:spPr>
            <a:xfrm>
              <a:off x="0" y="0"/>
              <a:ext cx="4274726" cy="480766"/>
            </a:xfrm>
            <a:custGeom>
              <a:rect b="b" l="l" r="r" t="t"/>
              <a:pathLst>
                <a:path extrusionOk="0" h="480766" w="4274726">
                  <a:moveTo>
                    <a:pt x="24327" y="0"/>
                  </a:moveTo>
                  <a:lnTo>
                    <a:pt x="4250399" y="0"/>
                  </a:lnTo>
                  <a:cubicBezTo>
                    <a:pt x="4263834" y="0"/>
                    <a:pt x="4274726" y="10891"/>
                    <a:pt x="4274726" y="24327"/>
                  </a:cubicBezTo>
                  <a:lnTo>
                    <a:pt x="4274726" y="456439"/>
                  </a:lnTo>
                  <a:cubicBezTo>
                    <a:pt x="4274726" y="469875"/>
                    <a:pt x="4263834" y="480766"/>
                    <a:pt x="4250399" y="480766"/>
                  </a:cubicBezTo>
                  <a:lnTo>
                    <a:pt x="24327" y="480766"/>
                  </a:lnTo>
                  <a:cubicBezTo>
                    <a:pt x="10891" y="480766"/>
                    <a:pt x="0" y="469875"/>
                    <a:pt x="0" y="456439"/>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21"/>
            <p:cNvSpPr txBox="1"/>
            <p:nvPr/>
          </p:nvSpPr>
          <p:spPr>
            <a:xfrm>
              <a:off x="0" y="-47625"/>
              <a:ext cx="4274726" cy="5283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8" name="Google Shape;388;p21"/>
          <p:cNvSpPr txBox="1"/>
          <p:nvPr/>
        </p:nvSpPr>
        <p:spPr>
          <a:xfrm>
            <a:off x="2076451" y="1535040"/>
            <a:ext cx="14137542" cy="957834"/>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0" i="0" lang="en-US" sz="6399" u="none" cap="none" strike="noStrike">
                <a:solidFill>
                  <a:srgbClr val="000000"/>
                </a:solidFill>
                <a:latin typeface="Arial"/>
                <a:ea typeface="Arial"/>
                <a:cs typeface="Arial"/>
                <a:sym typeface="Arial"/>
              </a:rPr>
              <a:t>Comparación de arquitecturas</a:t>
            </a:r>
            <a:endParaRPr b="0" i="0" sz="1400" u="none" cap="none" strike="noStrike">
              <a:solidFill>
                <a:srgbClr val="000000"/>
              </a:solidFill>
              <a:latin typeface="Arial"/>
              <a:ea typeface="Arial"/>
              <a:cs typeface="Arial"/>
              <a:sym typeface="Arial"/>
            </a:endParaRPr>
          </a:p>
        </p:txBody>
      </p:sp>
      <p:grpSp>
        <p:nvGrpSpPr>
          <p:cNvPr id="389" name="Google Shape;389;p21"/>
          <p:cNvGrpSpPr/>
          <p:nvPr/>
        </p:nvGrpSpPr>
        <p:grpSpPr>
          <a:xfrm>
            <a:off x="1553145" y="3811952"/>
            <a:ext cx="6689220" cy="4655578"/>
            <a:chOff x="0" y="0"/>
            <a:chExt cx="8918960" cy="6207437"/>
          </a:xfrm>
        </p:grpSpPr>
        <p:sp>
          <p:nvSpPr>
            <p:cNvPr id="390" name="Google Shape;390;p21"/>
            <p:cNvSpPr txBox="1"/>
            <p:nvPr/>
          </p:nvSpPr>
          <p:spPr>
            <a:xfrm>
              <a:off x="0" y="0"/>
              <a:ext cx="8918960" cy="80772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Hipervisor Bare-metal</a:t>
              </a:r>
              <a:endParaRPr b="0" i="0" sz="1400" u="none" cap="none" strike="noStrike">
                <a:solidFill>
                  <a:srgbClr val="000000"/>
                </a:solidFill>
                <a:latin typeface="Arial"/>
                <a:ea typeface="Arial"/>
                <a:cs typeface="Arial"/>
                <a:sym typeface="Arial"/>
              </a:endParaRPr>
            </a:p>
          </p:txBody>
        </p:sp>
        <p:sp>
          <p:nvSpPr>
            <p:cNvPr id="391" name="Google Shape;391;p21"/>
            <p:cNvSpPr txBox="1"/>
            <p:nvPr/>
          </p:nvSpPr>
          <p:spPr>
            <a:xfrm>
              <a:off x="0" y="1049120"/>
              <a:ext cx="8918960" cy="5158317"/>
            </a:xfrm>
            <a:prstGeom prst="rect">
              <a:avLst/>
            </a:prstGeom>
            <a:noFill/>
            <a:ln>
              <a:noFill/>
            </a:ln>
          </p:spPr>
          <p:txBody>
            <a:bodyPr anchorCtr="0" anchor="t" bIns="0" lIns="0" spcFirstLastPara="1" rIns="0" wrap="square" tIns="0">
              <a:spAutoFit/>
            </a:bodyPr>
            <a:lstStyle/>
            <a:p>
              <a:pPr indent="-215900" lvl="1" marL="431801" marR="0" rtl="0" algn="just">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Ventajas: Al ejecutarse directamente sobre el hardware, ofrece un mejor rendimiento, menor latencia y mayor control sobre los recursos. Es más adecuado para entornos empresariales y servidores de alto rendimiento.</a:t>
              </a:r>
              <a:endParaRPr b="0" i="0" sz="1400" u="none" cap="none" strike="noStrike">
                <a:solidFill>
                  <a:srgbClr val="000000"/>
                </a:solidFill>
                <a:latin typeface="Arial"/>
                <a:ea typeface="Arial"/>
                <a:cs typeface="Arial"/>
                <a:sym typeface="Arial"/>
              </a:endParaRPr>
            </a:p>
            <a:p>
              <a:pPr indent="-215900" lvl="1" marL="431801" marR="0" rtl="0" algn="just">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Desventajas: Generalmente requiere hardware dedicado y una administración más especializada, lo que puede incrementar los costos de configuración y mantenimiento.</a:t>
              </a:r>
              <a:endParaRPr b="0" i="0" sz="1400" u="none" cap="none" strike="noStrike">
                <a:solidFill>
                  <a:srgbClr val="000000"/>
                </a:solidFill>
                <a:latin typeface="Arial"/>
                <a:ea typeface="Arial"/>
                <a:cs typeface="Arial"/>
                <a:sym typeface="Arial"/>
              </a:endParaRPr>
            </a:p>
          </p:txBody>
        </p:sp>
      </p:grpSp>
      <p:grpSp>
        <p:nvGrpSpPr>
          <p:cNvPr id="392" name="Google Shape;392;p21"/>
          <p:cNvGrpSpPr/>
          <p:nvPr/>
        </p:nvGrpSpPr>
        <p:grpSpPr>
          <a:xfrm>
            <a:off x="10085640" y="3811952"/>
            <a:ext cx="6689220" cy="5008003"/>
            <a:chOff x="0" y="0"/>
            <a:chExt cx="8918960" cy="6677337"/>
          </a:xfrm>
        </p:grpSpPr>
        <p:sp>
          <p:nvSpPr>
            <p:cNvPr id="393" name="Google Shape;393;p21"/>
            <p:cNvSpPr txBox="1"/>
            <p:nvPr/>
          </p:nvSpPr>
          <p:spPr>
            <a:xfrm>
              <a:off x="0" y="0"/>
              <a:ext cx="8918960" cy="80772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Hipervisor Hospedado</a:t>
              </a:r>
              <a:endParaRPr b="0" i="0" sz="1400" u="none" cap="none" strike="noStrike">
                <a:solidFill>
                  <a:srgbClr val="000000"/>
                </a:solidFill>
                <a:latin typeface="Arial"/>
                <a:ea typeface="Arial"/>
                <a:cs typeface="Arial"/>
                <a:sym typeface="Arial"/>
              </a:endParaRPr>
            </a:p>
          </p:txBody>
        </p:sp>
        <p:sp>
          <p:nvSpPr>
            <p:cNvPr id="394" name="Google Shape;394;p21"/>
            <p:cNvSpPr txBox="1"/>
            <p:nvPr/>
          </p:nvSpPr>
          <p:spPr>
            <a:xfrm>
              <a:off x="0" y="1049120"/>
              <a:ext cx="8918960" cy="5628217"/>
            </a:xfrm>
            <a:prstGeom prst="rect">
              <a:avLst/>
            </a:prstGeom>
            <a:noFill/>
            <a:ln>
              <a:noFill/>
            </a:ln>
          </p:spPr>
          <p:txBody>
            <a:bodyPr anchorCtr="0" anchor="t" bIns="0" lIns="0" spcFirstLastPara="1" rIns="0" wrap="square" tIns="0">
              <a:spAutoFit/>
            </a:bodyPr>
            <a:lstStyle/>
            <a:p>
              <a:pPr indent="-215900" lvl="1" marL="431801" marR="0" rtl="0" algn="just">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Ventajas: Es fácil de configurar y utilizar, especialmente en entornos de prueba o de desarrollo en computadoras personales, ya que se ejecuta como una aplicación normal en un sistema operativo existente.</a:t>
              </a:r>
              <a:endParaRPr b="0" i="0" sz="1400" u="none" cap="none" strike="noStrike">
                <a:solidFill>
                  <a:srgbClr val="000000"/>
                </a:solidFill>
                <a:latin typeface="Arial"/>
                <a:ea typeface="Arial"/>
                <a:cs typeface="Arial"/>
                <a:sym typeface="Arial"/>
              </a:endParaRPr>
            </a:p>
            <a:p>
              <a:pPr indent="-215900" lvl="1" marL="431801" marR="0" rtl="0" algn="just">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Desventajas: La dependencia del sistema operativo anfitrión puede llevar a un rendimiento menor comparado con la virtualización de Tipo 1, y es menos adecuado para cargas de trabajo pesadas o entornos empresariales de producción.</a:t>
              </a:r>
              <a:endParaRPr b="0" i="0" sz="14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400" name="Google Shape;400;p22"/>
          <p:cNvGrpSpPr/>
          <p:nvPr/>
        </p:nvGrpSpPr>
        <p:grpSpPr>
          <a:xfrm>
            <a:off x="3060629" y="847874"/>
            <a:ext cx="14198671" cy="8427131"/>
            <a:chOff x="0" y="-47625"/>
            <a:chExt cx="3739568" cy="2219491"/>
          </a:xfrm>
        </p:grpSpPr>
        <p:sp>
          <p:nvSpPr>
            <p:cNvPr id="401" name="Google Shape;401;p22"/>
            <p:cNvSpPr/>
            <p:nvPr/>
          </p:nvSpPr>
          <p:spPr>
            <a:xfrm>
              <a:off x="0" y="0"/>
              <a:ext cx="3739567" cy="2171866"/>
            </a:xfrm>
            <a:custGeom>
              <a:rect b="b" l="l" r="r" t="t"/>
              <a:pathLst>
                <a:path extrusionOk="0" h="2171866" w="3739567">
                  <a:moveTo>
                    <a:pt x="27808" y="0"/>
                  </a:moveTo>
                  <a:lnTo>
                    <a:pt x="3711759" y="0"/>
                  </a:lnTo>
                  <a:cubicBezTo>
                    <a:pt x="3727117" y="0"/>
                    <a:pt x="3739567" y="12450"/>
                    <a:pt x="3739567" y="27808"/>
                  </a:cubicBezTo>
                  <a:lnTo>
                    <a:pt x="3739567" y="2144058"/>
                  </a:lnTo>
                  <a:cubicBezTo>
                    <a:pt x="3739567" y="2159416"/>
                    <a:pt x="3727117" y="2171866"/>
                    <a:pt x="3711759" y="2171866"/>
                  </a:cubicBezTo>
                  <a:lnTo>
                    <a:pt x="27808" y="2171866"/>
                  </a:lnTo>
                  <a:cubicBezTo>
                    <a:pt x="12450" y="2171866"/>
                    <a:pt x="0" y="2159416"/>
                    <a:pt x="0" y="2144058"/>
                  </a:cubicBezTo>
                  <a:lnTo>
                    <a:pt x="0" y="27808"/>
                  </a:lnTo>
                  <a:cubicBezTo>
                    <a:pt x="0" y="12450"/>
                    <a:pt x="12450" y="0"/>
                    <a:pt x="2780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22"/>
            <p:cNvSpPr txBox="1"/>
            <p:nvPr/>
          </p:nvSpPr>
          <p:spPr>
            <a:xfrm>
              <a:off x="0" y="-47625"/>
              <a:ext cx="3739568"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3" name="Google Shape;403;p22"/>
          <p:cNvGrpSpPr/>
          <p:nvPr/>
        </p:nvGrpSpPr>
        <p:grpSpPr>
          <a:xfrm>
            <a:off x="1028700" y="1045405"/>
            <a:ext cx="5760720" cy="8229600"/>
            <a:chOff x="0" y="0"/>
            <a:chExt cx="4445000" cy="6350000"/>
          </a:xfrm>
        </p:grpSpPr>
        <p:sp>
          <p:nvSpPr>
            <p:cNvPr id="404" name="Google Shape;404;p22"/>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19498" r="-9476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22"/>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6" name="Google Shape;406;p22"/>
          <p:cNvGrpSpPr/>
          <p:nvPr/>
        </p:nvGrpSpPr>
        <p:grpSpPr>
          <a:xfrm>
            <a:off x="8373570" y="2640802"/>
            <a:ext cx="7328135" cy="5421591"/>
            <a:chOff x="0" y="0"/>
            <a:chExt cx="9770846" cy="7228788"/>
          </a:xfrm>
        </p:grpSpPr>
        <p:sp>
          <p:nvSpPr>
            <p:cNvPr id="407" name="Google Shape;407;p22"/>
            <p:cNvSpPr txBox="1"/>
            <p:nvPr/>
          </p:nvSpPr>
          <p:spPr>
            <a:xfrm>
              <a:off x="0" y="0"/>
              <a:ext cx="9770846" cy="159512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Virtualización a nivel de</a:t>
              </a:r>
              <a:endParaRPr b="0" i="0" sz="1400" u="none" cap="none" strike="noStrike">
                <a:solidFill>
                  <a:srgbClr val="000000"/>
                </a:solidFill>
                <a:latin typeface="Arial"/>
                <a:ea typeface="Arial"/>
                <a:cs typeface="Arial"/>
                <a:sym typeface="Arial"/>
              </a:endParaRPr>
            </a:p>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bloque</a:t>
              </a:r>
              <a:endParaRPr b="0" i="0" sz="1400" u="none" cap="none" strike="noStrike">
                <a:solidFill>
                  <a:srgbClr val="000000"/>
                </a:solidFill>
                <a:latin typeface="Arial"/>
                <a:ea typeface="Arial"/>
                <a:cs typeface="Arial"/>
                <a:sym typeface="Arial"/>
              </a:endParaRPr>
            </a:p>
          </p:txBody>
        </p:sp>
        <p:sp>
          <p:nvSpPr>
            <p:cNvPr id="408" name="Google Shape;408;p22"/>
            <p:cNvSpPr txBox="1"/>
            <p:nvPr/>
          </p:nvSpPr>
          <p:spPr>
            <a:xfrm>
              <a:off x="0" y="1998505"/>
              <a:ext cx="9770846" cy="523028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Arial"/>
                  <a:ea typeface="Arial"/>
                  <a:cs typeface="Arial"/>
                  <a:sym typeface="Arial"/>
                </a:rPr>
                <a:t>La virtualización a nivel de bloque es un enfoque de virtualización de almacenamiento donde los datos se dividen y se almacenan en bloques de tamaño fijo. Estos bloques pueden residir en diferentes dispositivos de almacenamiento físico, pero se presentan a los sistemas y aplicaciones como un solo recurso lógico.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414" name="Google Shape;414;p23"/>
          <p:cNvGrpSpPr/>
          <p:nvPr/>
        </p:nvGrpSpPr>
        <p:grpSpPr>
          <a:xfrm>
            <a:off x="3060629" y="847874"/>
            <a:ext cx="14198671" cy="8427131"/>
            <a:chOff x="0" y="-47625"/>
            <a:chExt cx="3739568" cy="2219491"/>
          </a:xfrm>
        </p:grpSpPr>
        <p:sp>
          <p:nvSpPr>
            <p:cNvPr id="415" name="Google Shape;415;p23"/>
            <p:cNvSpPr/>
            <p:nvPr/>
          </p:nvSpPr>
          <p:spPr>
            <a:xfrm>
              <a:off x="0" y="0"/>
              <a:ext cx="3739567" cy="2171866"/>
            </a:xfrm>
            <a:custGeom>
              <a:rect b="b" l="l" r="r" t="t"/>
              <a:pathLst>
                <a:path extrusionOk="0" h="2171866" w="3739567">
                  <a:moveTo>
                    <a:pt x="27808" y="0"/>
                  </a:moveTo>
                  <a:lnTo>
                    <a:pt x="3711759" y="0"/>
                  </a:lnTo>
                  <a:cubicBezTo>
                    <a:pt x="3727117" y="0"/>
                    <a:pt x="3739567" y="12450"/>
                    <a:pt x="3739567" y="27808"/>
                  </a:cubicBezTo>
                  <a:lnTo>
                    <a:pt x="3739567" y="2144058"/>
                  </a:lnTo>
                  <a:cubicBezTo>
                    <a:pt x="3739567" y="2159416"/>
                    <a:pt x="3727117" y="2171866"/>
                    <a:pt x="3711759" y="2171866"/>
                  </a:cubicBezTo>
                  <a:lnTo>
                    <a:pt x="27808" y="2171866"/>
                  </a:lnTo>
                  <a:cubicBezTo>
                    <a:pt x="12450" y="2171866"/>
                    <a:pt x="0" y="2159416"/>
                    <a:pt x="0" y="2144058"/>
                  </a:cubicBezTo>
                  <a:lnTo>
                    <a:pt x="0" y="27808"/>
                  </a:lnTo>
                  <a:cubicBezTo>
                    <a:pt x="0" y="12450"/>
                    <a:pt x="12450" y="0"/>
                    <a:pt x="2780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23"/>
            <p:cNvSpPr txBox="1"/>
            <p:nvPr/>
          </p:nvSpPr>
          <p:spPr>
            <a:xfrm>
              <a:off x="0" y="-47625"/>
              <a:ext cx="3739568"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7" name="Google Shape;417;p23"/>
          <p:cNvGrpSpPr/>
          <p:nvPr/>
        </p:nvGrpSpPr>
        <p:grpSpPr>
          <a:xfrm>
            <a:off x="1028700" y="1045405"/>
            <a:ext cx="5760720" cy="8229600"/>
            <a:chOff x="0" y="0"/>
            <a:chExt cx="4445000" cy="6350000"/>
          </a:xfrm>
        </p:grpSpPr>
        <p:sp>
          <p:nvSpPr>
            <p:cNvPr id="418" name="Google Shape;418;p23"/>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19498" r="-9476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23"/>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0" name="Google Shape;420;p23"/>
          <p:cNvGrpSpPr/>
          <p:nvPr/>
        </p:nvGrpSpPr>
        <p:grpSpPr>
          <a:xfrm>
            <a:off x="8373570" y="2202652"/>
            <a:ext cx="7328135" cy="6297891"/>
            <a:chOff x="0" y="0"/>
            <a:chExt cx="9770846" cy="8397188"/>
          </a:xfrm>
        </p:grpSpPr>
        <p:sp>
          <p:nvSpPr>
            <p:cNvPr id="421" name="Google Shape;421;p23"/>
            <p:cNvSpPr txBox="1"/>
            <p:nvPr/>
          </p:nvSpPr>
          <p:spPr>
            <a:xfrm>
              <a:off x="0" y="0"/>
              <a:ext cx="9770846" cy="159512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Virtualización a nivel de</a:t>
              </a:r>
              <a:endParaRPr b="0" i="0" sz="1400" u="none" cap="none" strike="noStrike">
                <a:solidFill>
                  <a:srgbClr val="000000"/>
                </a:solidFill>
                <a:latin typeface="Arial"/>
                <a:ea typeface="Arial"/>
                <a:cs typeface="Arial"/>
                <a:sym typeface="Arial"/>
              </a:endParaRPr>
            </a:p>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archivo</a:t>
              </a:r>
              <a:endParaRPr b="0" i="0" sz="1400" u="none" cap="none" strike="noStrike">
                <a:solidFill>
                  <a:srgbClr val="000000"/>
                </a:solidFill>
                <a:latin typeface="Arial"/>
                <a:ea typeface="Arial"/>
                <a:cs typeface="Arial"/>
                <a:sym typeface="Arial"/>
              </a:endParaRPr>
            </a:p>
          </p:txBody>
        </p:sp>
        <p:sp>
          <p:nvSpPr>
            <p:cNvPr id="422" name="Google Shape;422;p23"/>
            <p:cNvSpPr txBox="1"/>
            <p:nvPr/>
          </p:nvSpPr>
          <p:spPr>
            <a:xfrm>
              <a:off x="0" y="1998505"/>
              <a:ext cx="9770846" cy="6398683"/>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Clr>
                  <a:srgbClr val="000000"/>
                </a:buClr>
                <a:buSzPts val="2499"/>
                <a:buFont typeface="Arial"/>
                <a:buNone/>
              </a:pPr>
              <a:r>
                <a:rPr b="0" i="0" lang="en-US" sz="2499" u="none" cap="none" strike="noStrike">
                  <a:solidFill>
                    <a:srgbClr val="000000"/>
                  </a:solidFill>
                  <a:latin typeface="Arial"/>
                  <a:ea typeface="Arial"/>
                  <a:cs typeface="Arial"/>
                  <a:sym typeface="Arial"/>
                </a:rPr>
                <a:t>La virtualización a nivel de archivo es una técnica que permite gestionar y acceder a archivos distribuidos en distintos sistemas de almacenamiento como si estuvieran en un solo repositorio unificado. Esta capa de virtualización abstrae la ubicación física de los archivos y permite a los usuarios y aplicaciones acceder a los datos sin tener que preocuparse por su ubicación real.</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428" name="Google Shape;428;p24"/>
          <p:cNvGrpSpPr/>
          <p:nvPr/>
        </p:nvGrpSpPr>
        <p:grpSpPr>
          <a:xfrm>
            <a:off x="1028700" y="847874"/>
            <a:ext cx="13324941" cy="8427131"/>
            <a:chOff x="0" y="-47625"/>
            <a:chExt cx="3509449" cy="2219491"/>
          </a:xfrm>
        </p:grpSpPr>
        <p:sp>
          <p:nvSpPr>
            <p:cNvPr id="429" name="Google Shape;429;p24"/>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24"/>
            <p:cNvSpPr txBox="1"/>
            <p:nvPr/>
          </p:nvSpPr>
          <p:spPr>
            <a:xfrm>
              <a:off x="0" y="-47625"/>
              <a:ext cx="3509449"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31" name="Google Shape;431;p24"/>
          <p:cNvGrpSpPr/>
          <p:nvPr/>
        </p:nvGrpSpPr>
        <p:grpSpPr>
          <a:xfrm>
            <a:off x="11473281" y="1045405"/>
            <a:ext cx="5760720" cy="8229600"/>
            <a:chOff x="0" y="0"/>
            <a:chExt cx="4445000" cy="6350000"/>
          </a:xfrm>
        </p:grpSpPr>
        <p:sp>
          <p:nvSpPr>
            <p:cNvPr id="432" name="Google Shape;432;p24"/>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49811" r="-64596"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24"/>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4" name="Google Shape;434;p24"/>
          <p:cNvGrpSpPr/>
          <p:nvPr/>
        </p:nvGrpSpPr>
        <p:grpSpPr>
          <a:xfrm>
            <a:off x="2472920" y="2328210"/>
            <a:ext cx="8289385" cy="5015192"/>
            <a:chOff x="0" y="0"/>
            <a:chExt cx="11052513" cy="6686922"/>
          </a:xfrm>
        </p:grpSpPr>
        <p:sp>
          <p:nvSpPr>
            <p:cNvPr id="435" name="Google Shape;435;p24"/>
            <p:cNvSpPr txBox="1"/>
            <p:nvPr/>
          </p:nvSpPr>
          <p:spPr>
            <a:xfrm>
              <a:off x="0" y="0"/>
              <a:ext cx="11052513" cy="159512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Retos de la Virtualización del</a:t>
              </a:r>
              <a:endParaRPr b="0" i="0" sz="1400" u="none" cap="none" strike="noStrike">
                <a:solidFill>
                  <a:srgbClr val="000000"/>
                </a:solidFill>
                <a:latin typeface="Arial"/>
                <a:ea typeface="Arial"/>
                <a:cs typeface="Arial"/>
                <a:sym typeface="Arial"/>
              </a:endParaRPr>
            </a:p>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Almacenamiento</a:t>
              </a:r>
              <a:endParaRPr b="0" i="0" sz="1400" u="none" cap="none" strike="noStrike">
                <a:solidFill>
                  <a:srgbClr val="000000"/>
                </a:solidFill>
                <a:latin typeface="Arial"/>
                <a:ea typeface="Arial"/>
                <a:cs typeface="Arial"/>
                <a:sym typeface="Arial"/>
              </a:endParaRPr>
            </a:p>
          </p:txBody>
        </p:sp>
        <p:sp>
          <p:nvSpPr>
            <p:cNvPr id="436" name="Google Shape;436;p24"/>
            <p:cNvSpPr txBox="1"/>
            <p:nvPr/>
          </p:nvSpPr>
          <p:spPr>
            <a:xfrm>
              <a:off x="0" y="1998505"/>
              <a:ext cx="11052513" cy="4688417"/>
            </a:xfrm>
            <a:prstGeom prst="rect">
              <a:avLst/>
            </a:prstGeom>
            <a:noFill/>
            <a:ln>
              <a:noFill/>
            </a:ln>
          </p:spPr>
          <p:txBody>
            <a:bodyPr anchorCtr="0" anchor="t" bIns="0" lIns="0" spcFirstLastPara="1" rIns="0" wrap="square" tIns="0">
              <a:spAutoFit/>
            </a:bodyPr>
            <a:lstStyle/>
            <a:p>
              <a:pPr indent="-215900" lvl="1" marL="431801" marR="0" rtl="0" algn="ctr">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Latencia: La abstracción que introduce la virtualización puede generar una mayor latencia en el acceso a los datos si no se optimizan adecuadamente los recursos de almacenamiento.</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215900" lvl="1" marL="431801" marR="0" rtl="0" algn="ctr">
                <a:lnSpc>
                  <a:spcPct val="140000"/>
                </a:lnSpc>
                <a:spcBef>
                  <a:spcPts val="0"/>
                </a:spcBef>
                <a:spcAft>
                  <a:spcPts val="0"/>
                </a:spcAft>
                <a:buClr>
                  <a:srgbClr val="000000"/>
                </a:buClr>
                <a:buSzPts val="2000"/>
                <a:buFont typeface="Arial"/>
                <a:buChar char="•"/>
              </a:pPr>
              <a:r>
                <a:rPr b="0" i="0" lang="en-US" sz="2000" u="none" cap="none" strike="noStrike">
                  <a:solidFill>
                    <a:srgbClr val="000000"/>
                  </a:solidFill>
                  <a:latin typeface="Arial"/>
                  <a:ea typeface="Arial"/>
                  <a:cs typeface="Arial"/>
                  <a:sym typeface="Arial"/>
                </a:rPr>
                <a:t>Seguridad: Compartir almacenamiento entre múltiples VMs aumenta el riesgo de brechas de seguridad. Se deben implementar controles estrictos de acceso y cifrado de datos para mitigar este riesgo.</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2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442" name="Google Shape;442;p25"/>
          <p:cNvGrpSpPr/>
          <p:nvPr/>
        </p:nvGrpSpPr>
        <p:grpSpPr>
          <a:xfrm>
            <a:off x="2350147" y="2006525"/>
            <a:ext cx="13587705" cy="6093123"/>
            <a:chOff x="0" y="-47625"/>
            <a:chExt cx="3578655" cy="1604773"/>
          </a:xfrm>
        </p:grpSpPr>
        <p:sp>
          <p:nvSpPr>
            <p:cNvPr id="443" name="Google Shape;443;p25"/>
            <p:cNvSpPr/>
            <p:nvPr/>
          </p:nvSpPr>
          <p:spPr>
            <a:xfrm>
              <a:off x="0" y="0"/>
              <a:ext cx="3578655" cy="1557148"/>
            </a:xfrm>
            <a:custGeom>
              <a:rect b="b" l="l" r="r" t="t"/>
              <a:pathLst>
                <a:path extrusionOk="0" h="1557148" w="3578655">
                  <a:moveTo>
                    <a:pt x="29058" y="0"/>
                  </a:moveTo>
                  <a:lnTo>
                    <a:pt x="3549597" y="0"/>
                  </a:lnTo>
                  <a:cubicBezTo>
                    <a:pt x="3565645" y="0"/>
                    <a:pt x="3578655" y="13010"/>
                    <a:pt x="3578655" y="29058"/>
                  </a:cubicBezTo>
                  <a:lnTo>
                    <a:pt x="3578655" y="1528090"/>
                  </a:lnTo>
                  <a:cubicBezTo>
                    <a:pt x="3578655" y="1544138"/>
                    <a:pt x="3565645" y="1557148"/>
                    <a:pt x="3549597" y="1557148"/>
                  </a:cubicBezTo>
                  <a:lnTo>
                    <a:pt x="29058" y="1557148"/>
                  </a:lnTo>
                  <a:cubicBezTo>
                    <a:pt x="13010" y="1557148"/>
                    <a:pt x="0" y="1544138"/>
                    <a:pt x="0" y="1528090"/>
                  </a:cubicBezTo>
                  <a:lnTo>
                    <a:pt x="0" y="29058"/>
                  </a:lnTo>
                  <a:cubicBezTo>
                    <a:pt x="0" y="13010"/>
                    <a:pt x="13010" y="0"/>
                    <a:pt x="29058"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5"/>
            <p:cNvSpPr txBox="1"/>
            <p:nvPr/>
          </p:nvSpPr>
          <p:spPr>
            <a:xfrm>
              <a:off x="0" y="-47625"/>
              <a:ext cx="3578655" cy="160477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5" name="Google Shape;445;p25"/>
          <p:cNvSpPr txBox="1"/>
          <p:nvPr/>
        </p:nvSpPr>
        <p:spPr>
          <a:xfrm>
            <a:off x="2750488" y="3619768"/>
            <a:ext cx="12786900" cy="2538600"/>
          </a:xfrm>
          <a:prstGeom prst="rect">
            <a:avLst/>
          </a:prstGeom>
          <a:noFill/>
          <a:ln>
            <a:noFill/>
          </a:ln>
        </p:spPr>
        <p:txBody>
          <a:bodyPr anchorCtr="0" anchor="t" bIns="0" lIns="0" spcFirstLastPara="1" rIns="0" wrap="square" tIns="0">
            <a:spAutoFit/>
          </a:bodyPr>
          <a:lstStyle/>
          <a:p>
            <a:pPr indent="0" lvl="0" marL="0" marR="0" rtl="0" algn="ctr">
              <a:lnSpc>
                <a:spcPct val="116999"/>
              </a:lnSpc>
              <a:spcBef>
                <a:spcPts val="0"/>
              </a:spcBef>
              <a:spcAft>
                <a:spcPts val="0"/>
              </a:spcAft>
              <a:buClr>
                <a:srgbClr val="000000"/>
              </a:buClr>
              <a:buSzPts val="7600"/>
              <a:buFont typeface="Arial"/>
              <a:buNone/>
            </a:pPr>
            <a:r>
              <a:rPr b="0" i="0" lang="en-US" sz="7600" u="none" cap="none" strike="noStrike">
                <a:solidFill>
                  <a:srgbClr val="000000"/>
                </a:solidFill>
                <a:latin typeface="Arial"/>
                <a:ea typeface="Arial"/>
                <a:cs typeface="Arial"/>
                <a:sym typeface="Arial"/>
              </a:rPr>
              <a:t>Administración de recursos y entornos virtualizados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2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5" r="-3312" t="0"/>
            </a:stretch>
          </a:blipFill>
          <a:ln>
            <a:noFill/>
          </a:ln>
        </p:spPr>
      </p:sp>
      <p:grpSp>
        <p:nvGrpSpPr>
          <p:cNvPr id="451" name="Google Shape;451;p26"/>
          <p:cNvGrpSpPr/>
          <p:nvPr/>
        </p:nvGrpSpPr>
        <p:grpSpPr>
          <a:xfrm>
            <a:off x="1028700" y="847874"/>
            <a:ext cx="13324941" cy="8427131"/>
            <a:chOff x="0" y="-47625"/>
            <a:chExt cx="3509449" cy="2219491"/>
          </a:xfrm>
        </p:grpSpPr>
        <p:sp>
          <p:nvSpPr>
            <p:cNvPr id="452" name="Google Shape;452;p26"/>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26"/>
            <p:cNvSpPr txBox="1"/>
            <p:nvPr/>
          </p:nvSpPr>
          <p:spPr>
            <a:xfrm>
              <a:off x="0" y="-47625"/>
              <a:ext cx="3509449" cy="221949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4" name="Google Shape;454;p26"/>
          <p:cNvGrpSpPr/>
          <p:nvPr/>
        </p:nvGrpSpPr>
        <p:grpSpPr>
          <a:xfrm>
            <a:off x="11473281" y="1045405"/>
            <a:ext cx="5760720" cy="8229600"/>
            <a:chOff x="0" y="0"/>
            <a:chExt cx="4445000" cy="6350000"/>
          </a:xfrm>
        </p:grpSpPr>
        <p:sp>
          <p:nvSpPr>
            <p:cNvPr id="455" name="Google Shape;455;p26"/>
            <p:cNvSpPr/>
            <p:nvPr/>
          </p:nvSpPr>
          <p:spPr>
            <a:xfrm>
              <a:off x="0" y="0"/>
              <a:ext cx="4445000" cy="6350000"/>
            </a:xfrm>
            <a:custGeom>
              <a:rect b="b" l="l" r="r" t="t"/>
              <a:pathLst>
                <a:path extrusionOk="0" h="6350000" w="4445000">
                  <a:moveTo>
                    <a:pt x="3429000" y="6350000"/>
                  </a:moveTo>
                  <a:lnTo>
                    <a:pt x="1016000" y="6350000"/>
                  </a:lnTo>
                  <a:cubicBezTo>
                    <a:pt x="454660" y="6350000"/>
                    <a:pt x="0" y="5895340"/>
                    <a:pt x="0" y="5334000"/>
                  </a:cubicBezTo>
                  <a:lnTo>
                    <a:pt x="0" y="1016000"/>
                  </a:lnTo>
                  <a:cubicBezTo>
                    <a:pt x="0" y="454660"/>
                    <a:pt x="454660" y="0"/>
                    <a:pt x="1016000" y="0"/>
                  </a:cubicBezTo>
                  <a:lnTo>
                    <a:pt x="3429000" y="0"/>
                  </a:lnTo>
                  <a:cubicBezTo>
                    <a:pt x="3990340" y="0"/>
                    <a:pt x="4445000" y="454660"/>
                    <a:pt x="4445000" y="1016000"/>
                  </a:cubicBezTo>
                  <a:lnTo>
                    <a:pt x="4445000" y="5334000"/>
                  </a:lnTo>
                  <a:cubicBezTo>
                    <a:pt x="4445000" y="5895340"/>
                    <a:pt x="3990340" y="6350000"/>
                    <a:pt x="3429000" y="6350000"/>
                  </a:cubicBezTo>
                  <a:close/>
                </a:path>
              </a:pathLst>
            </a:custGeom>
            <a:blipFill rotWithShape="1">
              <a:blip r:embed="rId4">
                <a:alphaModFix/>
              </a:blip>
              <a:stretch>
                <a:fillRect b="0" l="-49811" r="-64596"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26"/>
            <p:cNvSpPr/>
            <p:nvPr/>
          </p:nvSpPr>
          <p:spPr>
            <a:xfrm>
              <a:off x="0" y="0"/>
              <a:ext cx="4445000" cy="6350000"/>
            </a:xfrm>
            <a:custGeom>
              <a:rect b="b" l="l" r="r" t="t"/>
              <a:pathLst>
                <a:path extrusionOk="0" h="6350000" w="4445000">
                  <a:moveTo>
                    <a:pt x="3429000" y="19050"/>
                  </a:moveTo>
                  <a:cubicBezTo>
                    <a:pt x="3978910" y="19050"/>
                    <a:pt x="4425950" y="466090"/>
                    <a:pt x="4425950" y="1016000"/>
                  </a:cubicBezTo>
                  <a:lnTo>
                    <a:pt x="4425950" y="5334000"/>
                  </a:lnTo>
                  <a:cubicBezTo>
                    <a:pt x="4425950" y="5883910"/>
                    <a:pt x="3978910" y="6330950"/>
                    <a:pt x="3429000" y="6330950"/>
                  </a:cubicBezTo>
                  <a:lnTo>
                    <a:pt x="1016000" y="6330950"/>
                  </a:lnTo>
                  <a:cubicBezTo>
                    <a:pt x="466090" y="6330950"/>
                    <a:pt x="19050" y="5883910"/>
                    <a:pt x="19050" y="5334000"/>
                  </a:cubicBezTo>
                  <a:lnTo>
                    <a:pt x="19050" y="1016000"/>
                  </a:lnTo>
                  <a:cubicBezTo>
                    <a:pt x="19050" y="466090"/>
                    <a:pt x="466090" y="19050"/>
                    <a:pt x="1016000" y="19050"/>
                  </a:cubicBezTo>
                  <a:lnTo>
                    <a:pt x="3429000" y="19050"/>
                  </a:lnTo>
                  <a:moveTo>
                    <a:pt x="3429000" y="0"/>
                  </a:moveTo>
                  <a:lnTo>
                    <a:pt x="1016000" y="0"/>
                  </a:lnTo>
                  <a:cubicBezTo>
                    <a:pt x="454660" y="0"/>
                    <a:pt x="0" y="454660"/>
                    <a:pt x="0" y="1016000"/>
                  </a:cubicBezTo>
                  <a:lnTo>
                    <a:pt x="0" y="5334000"/>
                  </a:lnTo>
                  <a:cubicBezTo>
                    <a:pt x="0" y="5895340"/>
                    <a:pt x="454660" y="6350000"/>
                    <a:pt x="1016000" y="6350000"/>
                  </a:cubicBezTo>
                  <a:lnTo>
                    <a:pt x="3429000" y="6350000"/>
                  </a:lnTo>
                  <a:cubicBezTo>
                    <a:pt x="3990340" y="6350000"/>
                    <a:pt x="4445000" y="5895340"/>
                    <a:pt x="4445000" y="5334000"/>
                  </a:cubicBezTo>
                  <a:lnTo>
                    <a:pt x="4445000" y="1016000"/>
                  </a:lnTo>
                  <a:cubicBezTo>
                    <a:pt x="4445000" y="454660"/>
                    <a:pt x="3990340" y="0"/>
                    <a:pt x="3429000" y="0"/>
                  </a:cubicBezTo>
                  <a:lnTo>
                    <a:pt x="3429000"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7" name="Google Shape;457;p26"/>
          <p:cNvGrpSpPr/>
          <p:nvPr/>
        </p:nvGrpSpPr>
        <p:grpSpPr>
          <a:xfrm>
            <a:off x="2452180" y="2227795"/>
            <a:ext cx="8289450" cy="6277186"/>
            <a:chOff x="0" y="0"/>
            <a:chExt cx="11052600" cy="8369580"/>
          </a:xfrm>
        </p:grpSpPr>
        <p:sp>
          <p:nvSpPr>
            <p:cNvPr id="458" name="Google Shape;458;p26"/>
            <p:cNvSpPr txBox="1"/>
            <p:nvPr/>
          </p:nvSpPr>
          <p:spPr>
            <a:xfrm>
              <a:off x="0" y="0"/>
              <a:ext cx="11052513" cy="238252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Elementos Clave en la Administración de Recursos Virtualizados</a:t>
              </a:r>
              <a:endParaRPr b="0" i="0" sz="1400" u="none" cap="none" strike="noStrike">
                <a:solidFill>
                  <a:srgbClr val="000000"/>
                </a:solidFill>
                <a:latin typeface="Arial"/>
                <a:ea typeface="Arial"/>
                <a:cs typeface="Arial"/>
                <a:sym typeface="Arial"/>
              </a:endParaRPr>
            </a:p>
          </p:txBody>
        </p:sp>
        <p:sp>
          <p:nvSpPr>
            <p:cNvPr id="459" name="Google Shape;459;p26"/>
            <p:cNvSpPr txBox="1"/>
            <p:nvPr/>
          </p:nvSpPr>
          <p:spPr>
            <a:xfrm>
              <a:off x="0" y="2776380"/>
              <a:ext cx="11052600" cy="5593200"/>
            </a:xfrm>
            <a:prstGeom prst="rect">
              <a:avLst/>
            </a:prstGeom>
            <a:noFill/>
            <a:ln>
              <a:noFill/>
            </a:ln>
          </p:spPr>
          <p:txBody>
            <a:bodyPr anchorCtr="0" anchor="t" bIns="0" lIns="0" spcFirstLastPara="1" rIns="0" wrap="square" tIns="0">
              <a:spAutoFit/>
            </a:bodyPr>
            <a:lstStyle/>
            <a:p>
              <a:pPr indent="-313053" lvl="1" marL="626106" marR="0" rtl="0" algn="ctr">
                <a:lnSpc>
                  <a:spcPct val="140013"/>
                </a:lnSpc>
                <a:spcBef>
                  <a:spcPts val="0"/>
                </a:spcBef>
                <a:spcAft>
                  <a:spcPts val="0"/>
                </a:spcAft>
                <a:buClr>
                  <a:srgbClr val="000000"/>
                </a:buClr>
                <a:buSzPts val="2899"/>
                <a:buFont typeface="Arial"/>
                <a:buChar char="•"/>
              </a:pPr>
              <a:r>
                <a:rPr b="0" i="0" lang="en-US" sz="2899" u="none" cap="none" strike="noStrike">
                  <a:solidFill>
                    <a:srgbClr val="000000"/>
                  </a:solidFill>
                  <a:latin typeface="Arial"/>
                  <a:ea typeface="Arial"/>
                  <a:cs typeface="Arial"/>
                  <a:sym typeface="Arial"/>
                </a:rPr>
                <a:t>Asignación de Recursos</a:t>
              </a:r>
              <a:endParaRPr b="0" i="0" sz="1400" u="none" cap="none" strike="noStrike">
                <a:solidFill>
                  <a:srgbClr val="000000"/>
                </a:solidFill>
                <a:latin typeface="Arial"/>
                <a:ea typeface="Arial"/>
                <a:cs typeface="Arial"/>
                <a:sym typeface="Arial"/>
              </a:endParaRPr>
            </a:p>
            <a:p>
              <a:pPr indent="-313053" lvl="1" marL="626106" marR="0" rtl="0" algn="ctr">
                <a:lnSpc>
                  <a:spcPct val="140013"/>
                </a:lnSpc>
                <a:spcBef>
                  <a:spcPts val="0"/>
                </a:spcBef>
                <a:spcAft>
                  <a:spcPts val="0"/>
                </a:spcAft>
                <a:buClr>
                  <a:srgbClr val="000000"/>
                </a:buClr>
                <a:buSzPts val="2899"/>
                <a:buFont typeface="Arial"/>
                <a:buChar char="•"/>
              </a:pPr>
              <a:r>
                <a:rPr b="0" i="0" lang="en-US" sz="2899" u="none" cap="none" strike="noStrike">
                  <a:solidFill>
                    <a:srgbClr val="000000"/>
                  </a:solidFill>
                  <a:latin typeface="Arial"/>
                  <a:ea typeface="Arial"/>
                  <a:cs typeface="Arial"/>
                  <a:sym typeface="Arial"/>
                </a:rPr>
                <a:t>Balanceo de carga </a:t>
              </a:r>
              <a:endParaRPr b="0" i="0" sz="1400" u="none" cap="none" strike="noStrike">
                <a:solidFill>
                  <a:srgbClr val="000000"/>
                </a:solidFill>
                <a:latin typeface="Arial"/>
                <a:ea typeface="Arial"/>
                <a:cs typeface="Arial"/>
                <a:sym typeface="Arial"/>
              </a:endParaRPr>
            </a:p>
            <a:p>
              <a:pPr indent="-313053" lvl="1" marL="626106" marR="0" rtl="0" algn="ctr">
                <a:lnSpc>
                  <a:spcPct val="140013"/>
                </a:lnSpc>
                <a:spcBef>
                  <a:spcPts val="0"/>
                </a:spcBef>
                <a:spcAft>
                  <a:spcPts val="0"/>
                </a:spcAft>
                <a:buClr>
                  <a:srgbClr val="000000"/>
                </a:buClr>
                <a:buSzPts val="2899"/>
                <a:buFont typeface="Arial"/>
                <a:buChar char="•"/>
              </a:pPr>
              <a:r>
                <a:rPr b="0" i="0" lang="en-US" sz="2899" u="none" cap="none" strike="noStrike">
                  <a:solidFill>
                    <a:srgbClr val="000000"/>
                  </a:solidFill>
                  <a:latin typeface="Arial"/>
                  <a:ea typeface="Arial"/>
                  <a:cs typeface="Arial"/>
                  <a:sym typeface="Arial"/>
                </a:rPr>
                <a:t>Monitoreo de recursos </a:t>
              </a:r>
              <a:endParaRPr b="0" i="0" sz="1400" u="none" cap="none" strike="noStrike">
                <a:solidFill>
                  <a:srgbClr val="000000"/>
                </a:solidFill>
                <a:latin typeface="Arial"/>
                <a:ea typeface="Arial"/>
                <a:cs typeface="Arial"/>
                <a:sym typeface="Arial"/>
              </a:endParaRPr>
            </a:p>
            <a:p>
              <a:pPr indent="-313053" lvl="1" marL="626106" marR="0" rtl="0" algn="ctr">
                <a:lnSpc>
                  <a:spcPct val="140013"/>
                </a:lnSpc>
                <a:spcBef>
                  <a:spcPts val="0"/>
                </a:spcBef>
                <a:spcAft>
                  <a:spcPts val="0"/>
                </a:spcAft>
                <a:buClr>
                  <a:srgbClr val="000000"/>
                </a:buClr>
                <a:buSzPts val="2899"/>
                <a:buFont typeface="Arial"/>
                <a:buChar char="•"/>
              </a:pPr>
              <a:r>
                <a:rPr b="0" i="0" lang="en-US" sz="2899" u="none" cap="none" strike="noStrike">
                  <a:solidFill>
                    <a:srgbClr val="000000"/>
                  </a:solidFill>
                  <a:latin typeface="Arial"/>
                  <a:ea typeface="Arial"/>
                  <a:cs typeface="Arial"/>
                  <a:sym typeface="Arial"/>
                </a:rPr>
                <a:t>Optimización de rendimiento</a:t>
              </a:r>
              <a:endParaRPr b="0" i="0" sz="1400" u="none" cap="none" strike="noStrike">
                <a:solidFill>
                  <a:srgbClr val="000000"/>
                </a:solidFill>
                <a:latin typeface="Arial"/>
                <a:ea typeface="Arial"/>
                <a:cs typeface="Arial"/>
                <a:sym typeface="Arial"/>
              </a:endParaRPr>
            </a:p>
            <a:p>
              <a:pPr indent="-313053" lvl="1" marL="626106" marR="0" rtl="0" algn="ctr">
                <a:lnSpc>
                  <a:spcPct val="140013"/>
                </a:lnSpc>
                <a:spcBef>
                  <a:spcPts val="0"/>
                </a:spcBef>
                <a:spcAft>
                  <a:spcPts val="0"/>
                </a:spcAft>
                <a:buClr>
                  <a:srgbClr val="000000"/>
                </a:buClr>
                <a:buSzPts val="2899"/>
                <a:buFont typeface="Arial"/>
                <a:buChar char="•"/>
              </a:pPr>
              <a:r>
                <a:rPr b="0" i="0" lang="en-US" sz="2899" u="none" cap="none" strike="noStrike">
                  <a:solidFill>
                    <a:srgbClr val="000000"/>
                  </a:solidFill>
                  <a:latin typeface="Arial"/>
                  <a:ea typeface="Arial"/>
                  <a:cs typeface="Arial"/>
                  <a:sym typeface="Arial"/>
                </a:rPr>
                <a:t>Escalabilidad </a:t>
              </a:r>
              <a:endParaRPr b="0" i="0" sz="1400" u="none" cap="none" strike="noStrike">
                <a:solidFill>
                  <a:srgbClr val="000000"/>
                </a:solidFill>
                <a:latin typeface="Arial"/>
                <a:ea typeface="Arial"/>
                <a:cs typeface="Arial"/>
                <a:sym typeface="Arial"/>
              </a:endParaRPr>
            </a:p>
            <a:p>
              <a:pPr indent="-313053" lvl="1" marL="626106" marR="0" rtl="0" algn="ctr">
                <a:lnSpc>
                  <a:spcPct val="140013"/>
                </a:lnSpc>
                <a:spcBef>
                  <a:spcPts val="0"/>
                </a:spcBef>
                <a:spcAft>
                  <a:spcPts val="0"/>
                </a:spcAft>
                <a:buClr>
                  <a:srgbClr val="000000"/>
                </a:buClr>
                <a:buSzPts val="2899"/>
                <a:buFont typeface="Arial"/>
                <a:buChar char="•"/>
              </a:pPr>
              <a:r>
                <a:rPr b="0" i="0" lang="en-US" sz="2899" u="none" cap="none" strike="noStrike">
                  <a:solidFill>
                    <a:srgbClr val="000000"/>
                  </a:solidFill>
                  <a:latin typeface="Arial"/>
                  <a:ea typeface="Arial"/>
                  <a:cs typeface="Arial"/>
                  <a:sym typeface="Arial"/>
                </a:rPr>
                <a:t>Seguridad y Aislamiento </a:t>
              </a:r>
              <a:endParaRPr b="0" i="0" sz="1400" u="none" cap="none" strike="noStrike">
                <a:solidFill>
                  <a:srgbClr val="000000"/>
                </a:solidFill>
                <a:latin typeface="Arial"/>
                <a:ea typeface="Arial"/>
                <a:cs typeface="Arial"/>
                <a:sym typeface="Arial"/>
              </a:endParaRPr>
            </a:p>
            <a:p>
              <a:pPr indent="0" lvl="0" marL="0" marR="0" rtl="0" algn="ctr">
                <a:lnSpc>
                  <a:spcPct val="140013"/>
                </a:lnSpc>
                <a:spcBef>
                  <a:spcPts val="0"/>
                </a:spcBef>
                <a:spcAft>
                  <a:spcPts val="0"/>
                </a:spcAft>
                <a:buClr>
                  <a:srgbClr val="000000"/>
                </a:buClr>
                <a:buSzPts val="2899"/>
                <a:buFont typeface="Arial"/>
                <a:buNone/>
              </a:pPr>
              <a:r>
                <a:t/>
              </a:r>
              <a:endParaRPr b="0" i="0" sz="2899" u="none" cap="none" strike="noStrike">
                <a:solidFill>
                  <a:srgbClr val="000000"/>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465" name="Google Shape;465;p27"/>
          <p:cNvGrpSpPr/>
          <p:nvPr/>
        </p:nvGrpSpPr>
        <p:grpSpPr>
          <a:xfrm>
            <a:off x="-2749996" y="2006524"/>
            <a:ext cx="22670910" cy="6093163"/>
            <a:chOff x="0" y="-47625"/>
            <a:chExt cx="5970900" cy="1604773"/>
          </a:xfrm>
        </p:grpSpPr>
        <p:sp>
          <p:nvSpPr>
            <p:cNvPr id="466" name="Google Shape;466;p27"/>
            <p:cNvSpPr/>
            <p:nvPr/>
          </p:nvSpPr>
          <p:spPr>
            <a:xfrm>
              <a:off x="0" y="0"/>
              <a:ext cx="5970813" cy="1557148"/>
            </a:xfrm>
            <a:custGeom>
              <a:rect b="b" l="l" r="r" t="t"/>
              <a:pathLst>
                <a:path extrusionOk="0" h="1557148" w="5970813">
                  <a:moveTo>
                    <a:pt x="17416" y="0"/>
                  </a:moveTo>
                  <a:lnTo>
                    <a:pt x="5953396" y="0"/>
                  </a:lnTo>
                  <a:cubicBezTo>
                    <a:pt x="5958015" y="0"/>
                    <a:pt x="5962445" y="1835"/>
                    <a:pt x="5965711" y="5101"/>
                  </a:cubicBezTo>
                  <a:cubicBezTo>
                    <a:pt x="5968978" y="8367"/>
                    <a:pt x="5970813" y="12797"/>
                    <a:pt x="5970813" y="17416"/>
                  </a:cubicBezTo>
                  <a:lnTo>
                    <a:pt x="5970813" y="1539732"/>
                  </a:lnTo>
                  <a:cubicBezTo>
                    <a:pt x="5970813" y="1544351"/>
                    <a:pt x="5968978" y="1548781"/>
                    <a:pt x="5965711" y="1552047"/>
                  </a:cubicBezTo>
                  <a:cubicBezTo>
                    <a:pt x="5962445" y="1555313"/>
                    <a:pt x="5958015" y="1557148"/>
                    <a:pt x="5953396" y="1557148"/>
                  </a:cubicBezTo>
                  <a:lnTo>
                    <a:pt x="17416" y="1557148"/>
                  </a:lnTo>
                  <a:cubicBezTo>
                    <a:pt x="12797" y="1557148"/>
                    <a:pt x="8367" y="1555313"/>
                    <a:pt x="5101" y="1552047"/>
                  </a:cubicBezTo>
                  <a:cubicBezTo>
                    <a:pt x="1835" y="1548781"/>
                    <a:pt x="0" y="1544351"/>
                    <a:pt x="0" y="1539732"/>
                  </a:cubicBezTo>
                  <a:lnTo>
                    <a:pt x="0" y="17416"/>
                  </a:lnTo>
                  <a:cubicBezTo>
                    <a:pt x="0" y="12797"/>
                    <a:pt x="1835" y="8367"/>
                    <a:pt x="5101" y="5101"/>
                  </a:cubicBezTo>
                  <a:cubicBezTo>
                    <a:pt x="8367" y="1835"/>
                    <a:pt x="12797" y="0"/>
                    <a:pt x="17416"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27"/>
            <p:cNvSpPr txBox="1"/>
            <p:nvPr/>
          </p:nvSpPr>
          <p:spPr>
            <a:xfrm>
              <a:off x="0" y="-47625"/>
              <a:ext cx="5970900" cy="1604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8" name="Google Shape;468;p27"/>
          <p:cNvGrpSpPr/>
          <p:nvPr/>
        </p:nvGrpSpPr>
        <p:grpSpPr>
          <a:xfrm>
            <a:off x="4390336" y="3595548"/>
            <a:ext cx="8390250" cy="1880515"/>
            <a:chOff x="0" y="9525"/>
            <a:chExt cx="11187000" cy="2507353"/>
          </a:xfrm>
        </p:grpSpPr>
        <p:sp>
          <p:nvSpPr>
            <p:cNvPr id="469" name="Google Shape;469;p27"/>
            <p:cNvSpPr txBox="1"/>
            <p:nvPr/>
          </p:nvSpPr>
          <p:spPr>
            <a:xfrm>
              <a:off x="0" y="9525"/>
              <a:ext cx="11187000" cy="1846800"/>
            </a:xfrm>
            <a:prstGeom prst="rect">
              <a:avLst/>
            </a:prstGeom>
            <a:noFill/>
            <a:ln>
              <a:noFill/>
            </a:ln>
          </p:spPr>
          <p:txBody>
            <a:bodyPr anchorCtr="0" anchor="t" bIns="0" lIns="0" spcFirstLastPara="1" rIns="0" wrap="square" tIns="0">
              <a:spAutoFit/>
            </a:bodyPr>
            <a:lstStyle/>
            <a:p>
              <a:pPr indent="0" lvl="0" marL="0" marR="0" rtl="0" algn="ctr">
                <a:lnSpc>
                  <a:spcPct val="117001"/>
                </a:lnSpc>
                <a:spcBef>
                  <a:spcPts val="0"/>
                </a:spcBef>
                <a:spcAft>
                  <a:spcPts val="0"/>
                </a:spcAft>
                <a:buClr>
                  <a:srgbClr val="000000"/>
                </a:buClr>
                <a:buSzPts val="8999"/>
                <a:buFont typeface="Arial"/>
                <a:buNone/>
              </a:pPr>
              <a:r>
                <a:rPr b="0" i="0" lang="en-US" sz="8999" u="none" cap="none" strike="noStrike">
                  <a:solidFill>
                    <a:srgbClr val="000000"/>
                  </a:solidFill>
                  <a:latin typeface="Arial"/>
                  <a:ea typeface="Arial"/>
                  <a:cs typeface="Arial"/>
                  <a:sym typeface="Arial"/>
                </a:rPr>
                <a:t>EC2</a:t>
              </a:r>
              <a:endParaRPr b="0" i="0" sz="1400" u="none" cap="none" strike="noStrike">
                <a:solidFill>
                  <a:srgbClr val="000000"/>
                </a:solidFill>
                <a:latin typeface="Arial"/>
                <a:ea typeface="Arial"/>
                <a:cs typeface="Arial"/>
                <a:sym typeface="Arial"/>
              </a:endParaRPr>
            </a:p>
          </p:txBody>
        </p:sp>
        <p:sp>
          <p:nvSpPr>
            <p:cNvPr id="470" name="Google Shape;470;p27"/>
            <p:cNvSpPr txBox="1"/>
            <p:nvPr/>
          </p:nvSpPr>
          <p:spPr>
            <a:xfrm>
              <a:off x="0" y="2147578"/>
              <a:ext cx="11187000" cy="369300"/>
            </a:xfrm>
            <a:prstGeom prst="rect">
              <a:avLst/>
            </a:prstGeom>
            <a:noFill/>
            <a:ln>
              <a:noFill/>
            </a:ln>
          </p:spPr>
          <p:txBody>
            <a:bodyPr anchorCtr="0" anchor="t" bIns="0" lIns="0" spcFirstLastPara="1" rIns="0" wrap="square" tIns="0">
              <a:spAutoFit/>
            </a:bodyPr>
            <a:lstStyle/>
            <a:p>
              <a:pPr indent="0" lvl="0" marL="0" marR="0" rtl="0" algn="ctr">
                <a:lnSpc>
                  <a:spcPct val="269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476" name="Google Shape;476;p28"/>
          <p:cNvGrpSpPr/>
          <p:nvPr/>
        </p:nvGrpSpPr>
        <p:grpSpPr>
          <a:xfrm>
            <a:off x="-2749996" y="2006524"/>
            <a:ext cx="22670910" cy="6093163"/>
            <a:chOff x="0" y="-47625"/>
            <a:chExt cx="5970900" cy="1604773"/>
          </a:xfrm>
        </p:grpSpPr>
        <p:sp>
          <p:nvSpPr>
            <p:cNvPr id="477" name="Google Shape;477;p28"/>
            <p:cNvSpPr/>
            <p:nvPr/>
          </p:nvSpPr>
          <p:spPr>
            <a:xfrm>
              <a:off x="0" y="0"/>
              <a:ext cx="5970813" cy="1557148"/>
            </a:xfrm>
            <a:custGeom>
              <a:rect b="b" l="l" r="r" t="t"/>
              <a:pathLst>
                <a:path extrusionOk="0" h="1557148" w="5970813">
                  <a:moveTo>
                    <a:pt x="17416" y="0"/>
                  </a:moveTo>
                  <a:lnTo>
                    <a:pt x="5953396" y="0"/>
                  </a:lnTo>
                  <a:cubicBezTo>
                    <a:pt x="5958015" y="0"/>
                    <a:pt x="5962445" y="1835"/>
                    <a:pt x="5965711" y="5101"/>
                  </a:cubicBezTo>
                  <a:cubicBezTo>
                    <a:pt x="5968978" y="8367"/>
                    <a:pt x="5970813" y="12797"/>
                    <a:pt x="5970813" y="17416"/>
                  </a:cubicBezTo>
                  <a:lnTo>
                    <a:pt x="5970813" y="1539732"/>
                  </a:lnTo>
                  <a:cubicBezTo>
                    <a:pt x="5970813" y="1544351"/>
                    <a:pt x="5968978" y="1548781"/>
                    <a:pt x="5965711" y="1552047"/>
                  </a:cubicBezTo>
                  <a:cubicBezTo>
                    <a:pt x="5962445" y="1555313"/>
                    <a:pt x="5958015" y="1557148"/>
                    <a:pt x="5953396" y="1557148"/>
                  </a:cubicBezTo>
                  <a:lnTo>
                    <a:pt x="17416" y="1557148"/>
                  </a:lnTo>
                  <a:cubicBezTo>
                    <a:pt x="12797" y="1557148"/>
                    <a:pt x="8367" y="1555313"/>
                    <a:pt x="5101" y="1552047"/>
                  </a:cubicBezTo>
                  <a:cubicBezTo>
                    <a:pt x="1835" y="1548781"/>
                    <a:pt x="0" y="1544351"/>
                    <a:pt x="0" y="1539732"/>
                  </a:cubicBezTo>
                  <a:lnTo>
                    <a:pt x="0" y="17416"/>
                  </a:lnTo>
                  <a:cubicBezTo>
                    <a:pt x="0" y="12797"/>
                    <a:pt x="1835" y="8367"/>
                    <a:pt x="5101" y="5101"/>
                  </a:cubicBezTo>
                  <a:cubicBezTo>
                    <a:pt x="8367" y="1835"/>
                    <a:pt x="12797" y="0"/>
                    <a:pt x="17416"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28"/>
            <p:cNvSpPr txBox="1"/>
            <p:nvPr/>
          </p:nvSpPr>
          <p:spPr>
            <a:xfrm>
              <a:off x="0" y="-47625"/>
              <a:ext cx="5970900" cy="1604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79" name="Google Shape;479;p28"/>
          <p:cNvGrpSpPr/>
          <p:nvPr/>
        </p:nvGrpSpPr>
        <p:grpSpPr>
          <a:xfrm>
            <a:off x="4390336" y="3595548"/>
            <a:ext cx="8390250" cy="4125825"/>
            <a:chOff x="0" y="9525"/>
            <a:chExt cx="11187000" cy="5501100"/>
          </a:xfrm>
        </p:grpSpPr>
        <p:sp>
          <p:nvSpPr>
            <p:cNvPr id="480" name="Google Shape;480;p28"/>
            <p:cNvSpPr txBox="1"/>
            <p:nvPr/>
          </p:nvSpPr>
          <p:spPr>
            <a:xfrm>
              <a:off x="0" y="9525"/>
              <a:ext cx="11187000" cy="5501100"/>
            </a:xfrm>
            <a:prstGeom prst="rect">
              <a:avLst/>
            </a:prstGeom>
            <a:noFill/>
            <a:ln>
              <a:noFill/>
            </a:ln>
          </p:spPr>
          <p:txBody>
            <a:bodyPr anchorCtr="0" anchor="t" bIns="0" lIns="0" spcFirstLastPara="1" rIns="0" wrap="square" tIns="0">
              <a:spAutoFit/>
            </a:bodyPr>
            <a:lstStyle/>
            <a:p>
              <a:pPr indent="0" lvl="0" marL="0" marR="0" rtl="0" algn="just">
                <a:lnSpc>
                  <a:spcPct val="117001"/>
                </a:lnSpc>
                <a:spcBef>
                  <a:spcPts val="0"/>
                </a:spcBef>
                <a:spcAft>
                  <a:spcPts val="0"/>
                </a:spcAft>
                <a:buClr>
                  <a:schemeClr val="dk1"/>
                </a:buClr>
                <a:buSzPts val="1100"/>
                <a:buFont typeface="Arial"/>
                <a:buNone/>
              </a:pPr>
              <a:r>
                <a:rPr b="0" i="0" lang="en-US" sz="2400" u="none" cap="none" strike="noStrike">
                  <a:solidFill>
                    <a:srgbClr val="000000"/>
                  </a:solidFill>
                  <a:latin typeface="Arial"/>
                  <a:ea typeface="Arial"/>
                  <a:cs typeface="Arial"/>
                  <a:sym typeface="Arial"/>
                </a:rPr>
                <a:t>Amazon Elastic Compute Cloud (Amazon EC2) proporciona capacidad de computación escalable bajo demanda en la nube de Amazon Web Services (AWS). El uso de Amazon EC2 reduce los costos de hardware para que pueda desarrollar e implementar aplicaciones con mayor rapidez. Puede usar Amazon EC2 para lanzar tantos servidores virtuales como necesite, configurar la seguridad y las redes, y administrar el almacenamiento.</a:t>
              </a:r>
              <a:endParaRPr b="0" i="0" sz="2400" u="none" cap="none" strike="noStrike">
                <a:solidFill>
                  <a:srgbClr val="000000"/>
                </a:solidFill>
                <a:latin typeface="Arial"/>
                <a:ea typeface="Arial"/>
                <a:cs typeface="Arial"/>
                <a:sym typeface="Arial"/>
              </a:endParaRPr>
            </a:p>
            <a:p>
              <a:pPr indent="0" lvl="0" marL="0" marR="0" rtl="0" algn="ctr">
                <a:lnSpc>
                  <a:spcPct val="117001"/>
                </a:lnSpc>
                <a:spcBef>
                  <a:spcPts val="0"/>
                </a:spcBef>
                <a:spcAft>
                  <a:spcPts val="0"/>
                </a:spcAft>
                <a:buClr>
                  <a:schemeClr val="dk1"/>
                </a:buClr>
                <a:buSzPts val="1100"/>
                <a:buFont typeface="Arial"/>
                <a:buNone/>
              </a:pPr>
              <a:r>
                <a:t/>
              </a:r>
              <a:endParaRPr b="0" i="0" sz="2000" u="none" cap="none" strike="noStrike">
                <a:solidFill>
                  <a:srgbClr val="000000"/>
                </a:solidFill>
                <a:latin typeface="Arial"/>
                <a:ea typeface="Arial"/>
                <a:cs typeface="Arial"/>
                <a:sym typeface="Arial"/>
              </a:endParaRPr>
            </a:p>
            <a:p>
              <a:pPr indent="0" lvl="0" marL="0" marR="0" rtl="0" algn="ctr">
                <a:lnSpc>
                  <a:spcPct val="117001"/>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481" name="Google Shape;481;p28"/>
            <p:cNvSpPr txBox="1"/>
            <p:nvPr/>
          </p:nvSpPr>
          <p:spPr>
            <a:xfrm>
              <a:off x="0" y="2147578"/>
              <a:ext cx="11187000" cy="369300"/>
            </a:xfrm>
            <a:prstGeom prst="rect">
              <a:avLst/>
            </a:prstGeom>
            <a:noFill/>
            <a:ln>
              <a:noFill/>
            </a:ln>
          </p:spPr>
          <p:txBody>
            <a:bodyPr anchorCtr="0" anchor="t" bIns="0" lIns="0" spcFirstLastPara="1" rIns="0" wrap="square" tIns="0">
              <a:spAutoFit/>
            </a:bodyPr>
            <a:lstStyle/>
            <a:p>
              <a:pPr indent="0" lvl="0" marL="0" marR="0" rtl="0" algn="ctr">
                <a:lnSpc>
                  <a:spcPct val="269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487" name="Google Shape;487;p29"/>
          <p:cNvGrpSpPr/>
          <p:nvPr/>
        </p:nvGrpSpPr>
        <p:grpSpPr>
          <a:xfrm>
            <a:off x="-2749996" y="2006524"/>
            <a:ext cx="22670910" cy="6093163"/>
            <a:chOff x="0" y="-47625"/>
            <a:chExt cx="5970900" cy="1604773"/>
          </a:xfrm>
        </p:grpSpPr>
        <p:sp>
          <p:nvSpPr>
            <p:cNvPr id="488" name="Google Shape;488;p29"/>
            <p:cNvSpPr/>
            <p:nvPr/>
          </p:nvSpPr>
          <p:spPr>
            <a:xfrm>
              <a:off x="0" y="0"/>
              <a:ext cx="5970813" cy="1557148"/>
            </a:xfrm>
            <a:custGeom>
              <a:rect b="b" l="l" r="r" t="t"/>
              <a:pathLst>
                <a:path extrusionOk="0" h="1557148" w="5970813">
                  <a:moveTo>
                    <a:pt x="17416" y="0"/>
                  </a:moveTo>
                  <a:lnTo>
                    <a:pt x="5953396" y="0"/>
                  </a:lnTo>
                  <a:cubicBezTo>
                    <a:pt x="5958015" y="0"/>
                    <a:pt x="5962445" y="1835"/>
                    <a:pt x="5965711" y="5101"/>
                  </a:cubicBezTo>
                  <a:cubicBezTo>
                    <a:pt x="5968978" y="8367"/>
                    <a:pt x="5970813" y="12797"/>
                    <a:pt x="5970813" y="17416"/>
                  </a:cubicBezTo>
                  <a:lnTo>
                    <a:pt x="5970813" y="1539732"/>
                  </a:lnTo>
                  <a:cubicBezTo>
                    <a:pt x="5970813" y="1544351"/>
                    <a:pt x="5968978" y="1548781"/>
                    <a:pt x="5965711" y="1552047"/>
                  </a:cubicBezTo>
                  <a:cubicBezTo>
                    <a:pt x="5962445" y="1555313"/>
                    <a:pt x="5958015" y="1557148"/>
                    <a:pt x="5953396" y="1557148"/>
                  </a:cubicBezTo>
                  <a:lnTo>
                    <a:pt x="17416" y="1557148"/>
                  </a:lnTo>
                  <a:cubicBezTo>
                    <a:pt x="12797" y="1557148"/>
                    <a:pt x="8367" y="1555313"/>
                    <a:pt x="5101" y="1552047"/>
                  </a:cubicBezTo>
                  <a:cubicBezTo>
                    <a:pt x="1835" y="1548781"/>
                    <a:pt x="0" y="1544351"/>
                    <a:pt x="0" y="1539732"/>
                  </a:cubicBezTo>
                  <a:lnTo>
                    <a:pt x="0" y="17416"/>
                  </a:lnTo>
                  <a:cubicBezTo>
                    <a:pt x="0" y="12797"/>
                    <a:pt x="1835" y="8367"/>
                    <a:pt x="5101" y="5101"/>
                  </a:cubicBezTo>
                  <a:cubicBezTo>
                    <a:pt x="8367" y="1835"/>
                    <a:pt x="12797" y="0"/>
                    <a:pt x="17416"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29"/>
            <p:cNvSpPr txBox="1"/>
            <p:nvPr/>
          </p:nvSpPr>
          <p:spPr>
            <a:xfrm>
              <a:off x="0" y="-47625"/>
              <a:ext cx="5970900" cy="1604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0" name="Google Shape;490;p29"/>
          <p:cNvGrpSpPr/>
          <p:nvPr/>
        </p:nvGrpSpPr>
        <p:grpSpPr>
          <a:xfrm>
            <a:off x="4390336" y="3595548"/>
            <a:ext cx="8390250" cy="1880515"/>
            <a:chOff x="0" y="9525"/>
            <a:chExt cx="11187000" cy="2507353"/>
          </a:xfrm>
        </p:grpSpPr>
        <p:sp>
          <p:nvSpPr>
            <p:cNvPr id="491" name="Google Shape;491;p29"/>
            <p:cNvSpPr txBox="1"/>
            <p:nvPr/>
          </p:nvSpPr>
          <p:spPr>
            <a:xfrm>
              <a:off x="0" y="9525"/>
              <a:ext cx="11187000" cy="1846800"/>
            </a:xfrm>
            <a:prstGeom prst="rect">
              <a:avLst/>
            </a:prstGeom>
            <a:noFill/>
            <a:ln>
              <a:noFill/>
            </a:ln>
          </p:spPr>
          <p:txBody>
            <a:bodyPr anchorCtr="0" anchor="t" bIns="0" lIns="0" spcFirstLastPara="1" rIns="0" wrap="square" tIns="0">
              <a:spAutoFit/>
            </a:bodyPr>
            <a:lstStyle/>
            <a:p>
              <a:pPr indent="0" lvl="0" marL="0" marR="0" rtl="0" algn="ctr">
                <a:lnSpc>
                  <a:spcPct val="117001"/>
                </a:lnSpc>
                <a:spcBef>
                  <a:spcPts val="0"/>
                </a:spcBef>
                <a:spcAft>
                  <a:spcPts val="0"/>
                </a:spcAft>
                <a:buClr>
                  <a:srgbClr val="000000"/>
                </a:buClr>
                <a:buSzPts val="8999"/>
                <a:buFont typeface="Arial"/>
                <a:buNone/>
              </a:pPr>
              <a:r>
                <a:rPr b="0" i="0" lang="en-US" sz="8999" u="none" cap="none" strike="noStrike">
                  <a:solidFill>
                    <a:srgbClr val="000000"/>
                  </a:solidFill>
                  <a:latin typeface="Arial"/>
                  <a:ea typeface="Arial"/>
                  <a:cs typeface="Arial"/>
                  <a:sym typeface="Arial"/>
                </a:rPr>
                <a:t>S3</a:t>
              </a:r>
              <a:endParaRPr b="0" i="0" sz="1400" u="none" cap="none" strike="noStrike">
                <a:solidFill>
                  <a:srgbClr val="000000"/>
                </a:solidFill>
                <a:latin typeface="Arial"/>
                <a:ea typeface="Arial"/>
                <a:cs typeface="Arial"/>
                <a:sym typeface="Arial"/>
              </a:endParaRPr>
            </a:p>
          </p:txBody>
        </p:sp>
        <p:sp>
          <p:nvSpPr>
            <p:cNvPr id="492" name="Google Shape;492;p29"/>
            <p:cNvSpPr txBox="1"/>
            <p:nvPr/>
          </p:nvSpPr>
          <p:spPr>
            <a:xfrm>
              <a:off x="0" y="2147578"/>
              <a:ext cx="11187000" cy="369300"/>
            </a:xfrm>
            <a:prstGeom prst="rect">
              <a:avLst/>
            </a:prstGeom>
            <a:noFill/>
            <a:ln>
              <a:noFill/>
            </a:ln>
          </p:spPr>
          <p:txBody>
            <a:bodyPr anchorCtr="0" anchor="t" bIns="0" lIns="0" spcFirstLastPara="1" rIns="0" wrap="square" tIns="0">
              <a:spAutoFit/>
            </a:bodyPr>
            <a:lstStyle/>
            <a:p>
              <a:pPr indent="0" lvl="0" marL="0" marR="0" rtl="0" algn="ctr">
                <a:lnSpc>
                  <a:spcPct val="269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498" name="Google Shape;498;p30"/>
          <p:cNvGrpSpPr/>
          <p:nvPr/>
        </p:nvGrpSpPr>
        <p:grpSpPr>
          <a:xfrm>
            <a:off x="-2749996" y="2006524"/>
            <a:ext cx="22670910" cy="6093163"/>
            <a:chOff x="0" y="-47625"/>
            <a:chExt cx="5970900" cy="1604773"/>
          </a:xfrm>
        </p:grpSpPr>
        <p:sp>
          <p:nvSpPr>
            <p:cNvPr id="499" name="Google Shape;499;p30"/>
            <p:cNvSpPr/>
            <p:nvPr/>
          </p:nvSpPr>
          <p:spPr>
            <a:xfrm>
              <a:off x="0" y="0"/>
              <a:ext cx="5970813" cy="1557148"/>
            </a:xfrm>
            <a:custGeom>
              <a:rect b="b" l="l" r="r" t="t"/>
              <a:pathLst>
                <a:path extrusionOk="0" h="1557148" w="5970813">
                  <a:moveTo>
                    <a:pt x="17416" y="0"/>
                  </a:moveTo>
                  <a:lnTo>
                    <a:pt x="5953396" y="0"/>
                  </a:lnTo>
                  <a:cubicBezTo>
                    <a:pt x="5958015" y="0"/>
                    <a:pt x="5962445" y="1835"/>
                    <a:pt x="5965711" y="5101"/>
                  </a:cubicBezTo>
                  <a:cubicBezTo>
                    <a:pt x="5968978" y="8367"/>
                    <a:pt x="5970813" y="12797"/>
                    <a:pt x="5970813" y="17416"/>
                  </a:cubicBezTo>
                  <a:lnTo>
                    <a:pt x="5970813" y="1539732"/>
                  </a:lnTo>
                  <a:cubicBezTo>
                    <a:pt x="5970813" y="1544351"/>
                    <a:pt x="5968978" y="1548781"/>
                    <a:pt x="5965711" y="1552047"/>
                  </a:cubicBezTo>
                  <a:cubicBezTo>
                    <a:pt x="5962445" y="1555313"/>
                    <a:pt x="5958015" y="1557148"/>
                    <a:pt x="5953396" y="1557148"/>
                  </a:cubicBezTo>
                  <a:lnTo>
                    <a:pt x="17416" y="1557148"/>
                  </a:lnTo>
                  <a:cubicBezTo>
                    <a:pt x="12797" y="1557148"/>
                    <a:pt x="8367" y="1555313"/>
                    <a:pt x="5101" y="1552047"/>
                  </a:cubicBezTo>
                  <a:cubicBezTo>
                    <a:pt x="1835" y="1548781"/>
                    <a:pt x="0" y="1544351"/>
                    <a:pt x="0" y="1539732"/>
                  </a:cubicBezTo>
                  <a:lnTo>
                    <a:pt x="0" y="17416"/>
                  </a:lnTo>
                  <a:cubicBezTo>
                    <a:pt x="0" y="12797"/>
                    <a:pt x="1835" y="8367"/>
                    <a:pt x="5101" y="5101"/>
                  </a:cubicBezTo>
                  <a:cubicBezTo>
                    <a:pt x="8367" y="1835"/>
                    <a:pt x="12797" y="0"/>
                    <a:pt x="17416"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30"/>
            <p:cNvSpPr txBox="1"/>
            <p:nvPr/>
          </p:nvSpPr>
          <p:spPr>
            <a:xfrm>
              <a:off x="0" y="-47625"/>
              <a:ext cx="5970900" cy="1604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1" name="Google Shape;501;p30"/>
          <p:cNvGrpSpPr/>
          <p:nvPr/>
        </p:nvGrpSpPr>
        <p:grpSpPr>
          <a:xfrm>
            <a:off x="3368146" y="2756650"/>
            <a:ext cx="12755546" cy="4990275"/>
            <a:chOff x="-1165844" y="101225"/>
            <a:chExt cx="12352844" cy="6653700"/>
          </a:xfrm>
        </p:grpSpPr>
        <p:sp>
          <p:nvSpPr>
            <p:cNvPr id="502" name="Google Shape;502;p30"/>
            <p:cNvSpPr txBox="1"/>
            <p:nvPr/>
          </p:nvSpPr>
          <p:spPr>
            <a:xfrm>
              <a:off x="-1165844" y="101225"/>
              <a:ext cx="11187000" cy="6653700"/>
            </a:xfrm>
            <a:prstGeom prst="rect">
              <a:avLst/>
            </a:prstGeom>
            <a:noFill/>
            <a:ln>
              <a:noFill/>
            </a:ln>
          </p:spPr>
          <p:txBody>
            <a:bodyPr anchorCtr="0" anchor="t" bIns="0" lIns="0" spcFirstLastPara="1" rIns="0" wrap="square" tIns="0">
              <a:spAutoFit/>
            </a:bodyPr>
            <a:lstStyle/>
            <a:p>
              <a:pPr indent="0" lvl="0" marL="0" marR="0" rtl="0" algn="just">
                <a:lnSpc>
                  <a:spcPct val="117001"/>
                </a:lnSpc>
                <a:spcBef>
                  <a:spcPts val="0"/>
                </a:spcBef>
                <a:spcAft>
                  <a:spcPts val="0"/>
                </a:spcAft>
                <a:buClr>
                  <a:schemeClr val="dk1"/>
                </a:buClr>
                <a:buSzPts val="1100"/>
                <a:buFont typeface="Arial"/>
                <a:buNone/>
              </a:pPr>
              <a:r>
                <a:rPr b="0" i="0" lang="en-US" sz="2400" u="none" cap="none" strike="noStrike">
                  <a:solidFill>
                    <a:srgbClr val="000000"/>
                  </a:solidFill>
                  <a:latin typeface="Arial"/>
                  <a:ea typeface="Arial"/>
                  <a:cs typeface="Arial"/>
                  <a:sym typeface="Arial"/>
                </a:rPr>
                <a:t>Un bucket de uso general es un contenedor para objetos almacenados en Amazon S3. Puede almacenar cualquier cantidad de objetos en un bucket y todas las cuentas tienen una cuota predeterminada de 10 000 buckets de uso general</a:t>
              </a:r>
              <a:endParaRPr b="0" i="0" sz="2400" u="none" cap="none" strike="noStrike">
                <a:solidFill>
                  <a:srgbClr val="000000"/>
                </a:solidFill>
                <a:latin typeface="Arial"/>
                <a:ea typeface="Arial"/>
                <a:cs typeface="Arial"/>
                <a:sym typeface="Arial"/>
              </a:endParaRPr>
            </a:p>
            <a:p>
              <a:pPr indent="0" lvl="0" marL="0" marR="0" rtl="0" algn="just">
                <a:lnSpc>
                  <a:spcPct val="117001"/>
                </a:lnSpc>
                <a:spcBef>
                  <a:spcPts val="0"/>
                </a:spcBef>
                <a:spcAft>
                  <a:spcPts val="0"/>
                </a:spcAft>
                <a:buClr>
                  <a:schemeClr val="dk1"/>
                </a:buClr>
                <a:buSzPts val="1100"/>
                <a:buFont typeface="Arial"/>
                <a:buNone/>
              </a:pPr>
              <a:r>
                <a:t/>
              </a:r>
              <a:endParaRPr b="0" i="0" sz="2400" u="none" cap="none" strike="noStrike">
                <a:solidFill>
                  <a:srgbClr val="000000"/>
                </a:solidFill>
                <a:latin typeface="Arial"/>
                <a:ea typeface="Arial"/>
                <a:cs typeface="Arial"/>
                <a:sym typeface="Arial"/>
              </a:endParaRPr>
            </a:p>
            <a:p>
              <a:pPr indent="0" lvl="0" marL="0" marR="0" rtl="0" algn="just">
                <a:lnSpc>
                  <a:spcPct val="117001"/>
                </a:lnSpc>
                <a:spcBef>
                  <a:spcPts val="0"/>
                </a:spcBef>
                <a:spcAft>
                  <a:spcPts val="0"/>
                </a:spcAft>
                <a:buClr>
                  <a:schemeClr val="dk1"/>
                </a:buClr>
                <a:buSzPts val="1100"/>
                <a:buFont typeface="Arial"/>
                <a:buNone/>
              </a:pPr>
              <a:r>
                <a:rPr b="0" i="0" lang="en-US" sz="2400" u="none" cap="none" strike="noStrike">
                  <a:solidFill>
                    <a:srgbClr val="000000"/>
                  </a:solidFill>
                  <a:latin typeface="Arial"/>
                  <a:ea typeface="Arial"/>
                  <a:cs typeface="Arial"/>
                  <a:sym typeface="Arial"/>
                </a:rPr>
                <a:t>En términos de implementación, los buckets y los objetos son recursos de AWS, y Amazon S3 proporciona API para que pueda administrarlos. Por ejemplo, puede crear un bucket y cargar objetos con la API de Amazon S3. También puede usar la consola de Amazon S3 para realizar estas operaciones. La consola utiliza las API de Amazon S3 para enviar solicitudes a Amazon S3.</a:t>
              </a:r>
              <a:endParaRPr b="0" i="0" sz="2400" u="none" cap="none" strike="noStrike">
                <a:solidFill>
                  <a:srgbClr val="000000"/>
                </a:solidFill>
                <a:latin typeface="Arial"/>
                <a:ea typeface="Arial"/>
                <a:cs typeface="Arial"/>
                <a:sym typeface="Arial"/>
              </a:endParaRPr>
            </a:p>
            <a:p>
              <a:pPr indent="0" lvl="0" marL="0" marR="0" rtl="0" algn="just">
                <a:lnSpc>
                  <a:spcPct val="117001"/>
                </a:lnSpc>
                <a:spcBef>
                  <a:spcPts val="0"/>
                </a:spcBef>
                <a:spcAft>
                  <a:spcPts val="0"/>
                </a:spcAft>
                <a:buClr>
                  <a:srgbClr val="000000"/>
                </a:buClr>
                <a:buSzPts val="11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17001"/>
                </a:lnSpc>
                <a:spcBef>
                  <a:spcPts val="0"/>
                </a:spcBef>
                <a:spcAft>
                  <a:spcPts val="0"/>
                </a:spcAft>
                <a:buClr>
                  <a:srgbClr val="000000"/>
                </a:buClr>
                <a:buSzPts val="1100"/>
                <a:buFont typeface="Arial"/>
                <a:buNone/>
              </a:pPr>
              <a:r>
                <a:t/>
              </a:r>
              <a:endParaRPr b="0" i="0" sz="2000" u="none" cap="none" strike="noStrike">
                <a:solidFill>
                  <a:srgbClr val="000000"/>
                </a:solidFill>
                <a:latin typeface="Arial"/>
                <a:ea typeface="Arial"/>
                <a:cs typeface="Arial"/>
                <a:sym typeface="Arial"/>
              </a:endParaRPr>
            </a:p>
            <a:p>
              <a:pPr indent="0" lvl="0" marL="0" marR="0" rtl="0" algn="ctr">
                <a:lnSpc>
                  <a:spcPct val="117001"/>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503" name="Google Shape;503;p30"/>
            <p:cNvSpPr txBox="1"/>
            <p:nvPr/>
          </p:nvSpPr>
          <p:spPr>
            <a:xfrm>
              <a:off x="0" y="2147578"/>
              <a:ext cx="11187000" cy="369300"/>
            </a:xfrm>
            <a:prstGeom prst="rect">
              <a:avLst/>
            </a:prstGeom>
            <a:noFill/>
            <a:ln>
              <a:noFill/>
            </a:ln>
          </p:spPr>
          <p:txBody>
            <a:bodyPr anchorCtr="0" anchor="t" bIns="0" lIns="0" spcFirstLastPara="1" rIns="0" wrap="square" tIns="0">
              <a:spAutoFit/>
            </a:bodyPr>
            <a:lstStyle/>
            <a:p>
              <a:pPr indent="0" lvl="0" marL="0" marR="0" rtl="0" algn="ctr">
                <a:lnSpc>
                  <a:spcPct val="269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362e4e04b85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9" r="-3309" t="0"/>
            </a:stretch>
          </a:blipFill>
          <a:ln>
            <a:noFill/>
          </a:ln>
        </p:spPr>
      </p:sp>
      <p:sp>
        <p:nvSpPr>
          <p:cNvPr id="509" name="Google Shape;509;g362e4e04b85_0_0"/>
          <p:cNvSpPr txBox="1"/>
          <p:nvPr/>
        </p:nvSpPr>
        <p:spPr>
          <a:xfrm>
            <a:off x="4571996" y="4291415"/>
            <a:ext cx="11551800" cy="277200"/>
          </a:xfrm>
          <a:prstGeom prst="rect">
            <a:avLst/>
          </a:prstGeom>
          <a:noFill/>
          <a:ln>
            <a:noFill/>
          </a:ln>
        </p:spPr>
        <p:txBody>
          <a:bodyPr anchorCtr="0" anchor="t" bIns="0" lIns="0" spcFirstLastPara="1" rIns="0" wrap="square" tIns="0">
            <a:spAutoFit/>
          </a:bodyPr>
          <a:lstStyle/>
          <a:p>
            <a:pPr indent="0" lvl="0" marL="0" marR="0" rtl="0" algn="ctr">
              <a:lnSpc>
                <a:spcPct val="269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10" name="Google Shape;510;g362e4e04b85_0_0" title="amazon_s3.jpg"/>
          <p:cNvPicPr preferRelativeResize="0"/>
          <p:nvPr/>
        </p:nvPicPr>
        <p:blipFill>
          <a:blip r:embed="rId4">
            <a:alphaModFix/>
          </a:blip>
          <a:stretch>
            <a:fillRect/>
          </a:stretch>
        </p:blipFill>
        <p:spPr>
          <a:xfrm>
            <a:off x="3703878" y="1769475"/>
            <a:ext cx="10711175" cy="67480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516" name="Google Shape;516;p31"/>
          <p:cNvGrpSpPr/>
          <p:nvPr/>
        </p:nvGrpSpPr>
        <p:grpSpPr>
          <a:xfrm>
            <a:off x="-2749996" y="2006524"/>
            <a:ext cx="22670910" cy="6093163"/>
            <a:chOff x="0" y="-47625"/>
            <a:chExt cx="5970900" cy="1604773"/>
          </a:xfrm>
        </p:grpSpPr>
        <p:sp>
          <p:nvSpPr>
            <p:cNvPr id="517" name="Google Shape;517;p31"/>
            <p:cNvSpPr/>
            <p:nvPr/>
          </p:nvSpPr>
          <p:spPr>
            <a:xfrm>
              <a:off x="0" y="0"/>
              <a:ext cx="5970813" cy="1557148"/>
            </a:xfrm>
            <a:custGeom>
              <a:rect b="b" l="l" r="r" t="t"/>
              <a:pathLst>
                <a:path extrusionOk="0" h="1557148" w="5970813">
                  <a:moveTo>
                    <a:pt x="17416" y="0"/>
                  </a:moveTo>
                  <a:lnTo>
                    <a:pt x="5953396" y="0"/>
                  </a:lnTo>
                  <a:cubicBezTo>
                    <a:pt x="5958015" y="0"/>
                    <a:pt x="5962445" y="1835"/>
                    <a:pt x="5965711" y="5101"/>
                  </a:cubicBezTo>
                  <a:cubicBezTo>
                    <a:pt x="5968978" y="8367"/>
                    <a:pt x="5970813" y="12797"/>
                    <a:pt x="5970813" y="17416"/>
                  </a:cubicBezTo>
                  <a:lnTo>
                    <a:pt x="5970813" y="1539732"/>
                  </a:lnTo>
                  <a:cubicBezTo>
                    <a:pt x="5970813" y="1544351"/>
                    <a:pt x="5968978" y="1548781"/>
                    <a:pt x="5965711" y="1552047"/>
                  </a:cubicBezTo>
                  <a:cubicBezTo>
                    <a:pt x="5962445" y="1555313"/>
                    <a:pt x="5958015" y="1557148"/>
                    <a:pt x="5953396" y="1557148"/>
                  </a:cubicBezTo>
                  <a:lnTo>
                    <a:pt x="17416" y="1557148"/>
                  </a:lnTo>
                  <a:cubicBezTo>
                    <a:pt x="12797" y="1557148"/>
                    <a:pt x="8367" y="1555313"/>
                    <a:pt x="5101" y="1552047"/>
                  </a:cubicBezTo>
                  <a:cubicBezTo>
                    <a:pt x="1835" y="1548781"/>
                    <a:pt x="0" y="1544351"/>
                    <a:pt x="0" y="1539732"/>
                  </a:cubicBezTo>
                  <a:lnTo>
                    <a:pt x="0" y="17416"/>
                  </a:lnTo>
                  <a:cubicBezTo>
                    <a:pt x="0" y="12797"/>
                    <a:pt x="1835" y="8367"/>
                    <a:pt x="5101" y="5101"/>
                  </a:cubicBezTo>
                  <a:cubicBezTo>
                    <a:pt x="8367" y="1835"/>
                    <a:pt x="12797" y="0"/>
                    <a:pt x="17416"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31"/>
            <p:cNvSpPr txBox="1"/>
            <p:nvPr/>
          </p:nvSpPr>
          <p:spPr>
            <a:xfrm>
              <a:off x="0" y="-47625"/>
              <a:ext cx="5970900" cy="16047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9" name="Google Shape;519;p31"/>
          <p:cNvGrpSpPr/>
          <p:nvPr/>
        </p:nvGrpSpPr>
        <p:grpSpPr>
          <a:xfrm>
            <a:off x="4390336" y="3595548"/>
            <a:ext cx="8390250" cy="1880515"/>
            <a:chOff x="0" y="9525"/>
            <a:chExt cx="11187000" cy="2507353"/>
          </a:xfrm>
        </p:grpSpPr>
        <p:sp>
          <p:nvSpPr>
            <p:cNvPr id="520" name="Google Shape;520;p31"/>
            <p:cNvSpPr txBox="1"/>
            <p:nvPr/>
          </p:nvSpPr>
          <p:spPr>
            <a:xfrm>
              <a:off x="0" y="9525"/>
              <a:ext cx="11187000" cy="1846800"/>
            </a:xfrm>
            <a:prstGeom prst="rect">
              <a:avLst/>
            </a:prstGeom>
            <a:noFill/>
            <a:ln>
              <a:noFill/>
            </a:ln>
          </p:spPr>
          <p:txBody>
            <a:bodyPr anchorCtr="0" anchor="t" bIns="0" lIns="0" spcFirstLastPara="1" rIns="0" wrap="square" tIns="0">
              <a:spAutoFit/>
            </a:bodyPr>
            <a:lstStyle/>
            <a:p>
              <a:pPr indent="0" lvl="0" marL="0" marR="0" rtl="0" algn="ctr">
                <a:lnSpc>
                  <a:spcPct val="117001"/>
                </a:lnSpc>
                <a:spcBef>
                  <a:spcPts val="0"/>
                </a:spcBef>
                <a:spcAft>
                  <a:spcPts val="0"/>
                </a:spcAft>
                <a:buClr>
                  <a:srgbClr val="000000"/>
                </a:buClr>
                <a:buSzPts val="8999"/>
                <a:buFont typeface="Arial"/>
                <a:buNone/>
              </a:pPr>
              <a:r>
                <a:rPr b="0" i="0" lang="en-US" sz="8999" u="none" cap="none" strike="noStrike">
                  <a:solidFill>
                    <a:srgbClr val="000000"/>
                  </a:solidFill>
                  <a:latin typeface="Arial"/>
                  <a:ea typeface="Arial"/>
                  <a:cs typeface="Arial"/>
                  <a:sym typeface="Arial"/>
                </a:rPr>
                <a:t>DOCKER</a:t>
              </a:r>
              <a:endParaRPr b="0" i="0" sz="1400" u="none" cap="none" strike="noStrike">
                <a:solidFill>
                  <a:srgbClr val="000000"/>
                </a:solidFill>
                <a:latin typeface="Arial"/>
                <a:ea typeface="Arial"/>
                <a:cs typeface="Arial"/>
                <a:sym typeface="Arial"/>
              </a:endParaRPr>
            </a:p>
          </p:txBody>
        </p:sp>
        <p:sp>
          <p:nvSpPr>
            <p:cNvPr id="521" name="Google Shape;521;p31"/>
            <p:cNvSpPr txBox="1"/>
            <p:nvPr/>
          </p:nvSpPr>
          <p:spPr>
            <a:xfrm>
              <a:off x="0" y="2147578"/>
              <a:ext cx="11187000" cy="369300"/>
            </a:xfrm>
            <a:prstGeom prst="rect">
              <a:avLst/>
            </a:prstGeom>
            <a:noFill/>
            <a:ln>
              <a:noFill/>
            </a:ln>
          </p:spPr>
          <p:txBody>
            <a:bodyPr anchorCtr="0" anchor="t" bIns="0" lIns="0" spcFirstLastPara="1" rIns="0" wrap="square" tIns="0">
              <a:spAutoFit/>
            </a:bodyPr>
            <a:lstStyle/>
            <a:p>
              <a:pPr indent="0" lvl="0" marL="0" marR="0" rtl="0" algn="ctr">
                <a:lnSpc>
                  <a:spcPct val="269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527" name="Google Shape;527;p32"/>
          <p:cNvGrpSpPr/>
          <p:nvPr/>
        </p:nvGrpSpPr>
        <p:grpSpPr>
          <a:xfrm>
            <a:off x="2481488" y="1095398"/>
            <a:ext cx="13325027" cy="8427185"/>
            <a:chOff x="0" y="-47625"/>
            <a:chExt cx="3509449" cy="2219491"/>
          </a:xfrm>
        </p:grpSpPr>
        <p:sp>
          <p:nvSpPr>
            <p:cNvPr id="528" name="Google Shape;528;p32"/>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32"/>
            <p:cNvSpPr txBox="1"/>
            <p:nvPr/>
          </p:nvSpPr>
          <p:spPr>
            <a:xfrm>
              <a:off x="0" y="-47625"/>
              <a:ext cx="35094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0" name="Google Shape;530;p32"/>
          <p:cNvGrpSpPr/>
          <p:nvPr/>
        </p:nvGrpSpPr>
        <p:grpSpPr>
          <a:xfrm>
            <a:off x="3440139" y="2438200"/>
            <a:ext cx="11201414" cy="6409929"/>
            <a:chOff x="0" y="0"/>
            <a:chExt cx="11259966" cy="8546572"/>
          </a:xfrm>
        </p:grpSpPr>
        <p:sp>
          <p:nvSpPr>
            <p:cNvPr id="531" name="Google Shape;531;p32"/>
            <p:cNvSpPr txBox="1"/>
            <p:nvPr/>
          </p:nvSpPr>
          <p:spPr>
            <a:xfrm>
              <a:off x="0" y="0"/>
              <a:ext cx="11052600" cy="82080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¿Qué es?</a:t>
              </a:r>
              <a:endParaRPr b="0" i="0" sz="1400" u="none" cap="none" strike="noStrike">
                <a:solidFill>
                  <a:srgbClr val="000000"/>
                </a:solidFill>
                <a:latin typeface="Arial"/>
                <a:ea typeface="Arial"/>
                <a:cs typeface="Arial"/>
                <a:sym typeface="Arial"/>
              </a:endParaRPr>
            </a:p>
          </p:txBody>
        </p:sp>
        <p:sp>
          <p:nvSpPr>
            <p:cNvPr id="532" name="Google Shape;532;p32"/>
            <p:cNvSpPr txBox="1"/>
            <p:nvPr/>
          </p:nvSpPr>
          <p:spPr>
            <a:xfrm>
              <a:off x="207366" y="1833472"/>
              <a:ext cx="11052600" cy="6713100"/>
            </a:xfrm>
            <a:prstGeom prst="rect">
              <a:avLst/>
            </a:prstGeom>
            <a:noFill/>
            <a:ln>
              <a:noFill/>
            </a:ln>
          </p:spPr>
          <p:txBody>
            <a:bodyPr anchorCtr="0" anchor="t" bIns="0" lIns="0" spcFirstLastPara="1" rIns="0" wrap="square" tIns="0">
              <a:spAutoFit/>
            </a:bodyPr>
            <a:lstStyle/>
            <a:p>
              <a:pPr indent="-438150" lvl="1" marL="914400" marR="0" rtl="0" algn="just">
                <a:lnSpc>
                  <a:spcPct val="115000"/>
                </a:lnSpc>
                <a:spcBef>
                  <a:spcPts val="1200"/>
                </a:spcBef>
                <a:spcAft>
                  <a:spcPts val="0"/>
                </a:spcAft>
                <a:buClr>
                  <a:srgbClr val="000000"/>
                </a:buClr>
                <a:buSzPts val="3300"/>
                <a:buFont typeface="Arial"/>
                <a:buChar char="•"/>
              </a:pPr>
              <a:r>
                <a:rPr b="1" i="0" lang="en-US" sz="2400" u="none" cap="none" strike="noStrike">
                  <a:solidFill>
                    <a:schemeClr val="dk1"/>
                  </a:solidFill>
                  <a:latin typeface="Arial"/>
                  <a:ea typeface="Arial"/>
                  <a:cs typeface="Arial"/>
                  <a:sym typeface="Arial"/>
                </a:rPr>
                <a:t>Docker</a:t>
              </a:r>
              <a:r>
                <a:rPr b="0" i="0" lang="en-US" sz="2400" u="none" cap="none" strike="noStrike">
                  <a:solidFill>
                    <a:schemeClr val="dk1"/>
                  </a:solidFill>
                  <a:latin typeface="Arial"/>
                  <a:ea typeface="Arial"/>
                  <a:cs typeface="Arial"/>
                  <a:sym typeface="Arial"/>
                </a:rPr>
                <a:t> es un proyecto de código abierto que automatiza el despliegue de aplicaciones dentro de contenedores de software, proporcionando una capa adicional de abstracción y automatización de Virtualización a nivel de sistema operativo en Linux.</a:t>
              </a:r>
              <a:endParaRPr b="0" i="0" sz="2400" u="none" cap="none" strike="noStrike">
                <a:solidFill>
                  <a:schemeClr val="dk1"/>
                </a:solidFill>
                <a:latin typeface="Arial"/>
                <a:ea typeface="Arial"/>
                <a:cs typeface="Arial"/>
                <a:sym typeface="Arial"/>
              </a:endParaRPr>
            </a:p>
            <a:p>
              <a:pPr indent="-438150" lvl="1" marL="914400" marR="0" rtl="0" algn="just">
                <a:lnSpc>
                  <a:spcPct val="115000"/>
                </a:lnSpc>
                <a:spcBef>
                  <a:spcPts val="0"/>
                </a:spcBef>
                <a:spcAft>
                  <a:spcPts val="0"/>
                </a:spcAft>
                <a:buClr>
                  <a:srgbClr val="000000"/>
                </a:buClr>
                <a:buSzPts val="3300"/>
                <a:buFont typeface="Arial"/>
                <a:buChar char="•"/>
              </a:pPr>
              <a:r>
                <a:rPr b="0" i="0" lang="en-US" sz="2400" u="none" cap="none" strike="noStrike">
                  <a:solidFill>
                    <a:schemeClr val="dk1"/>
                  </a:solidFill>
                  <a:latin typeface="Arial"/>
                  <a:ea typeface="Arial"/>
                  <a:cs typeface="Arial"/>
                  <a:sym typeface="Arial"/>
                </a:rPr>
                <a:t>Se ha convertido en una herramienta muy utilizada dentro de la comunidad de desarrolladores por su gran capacidad de dar al desarrollador la flexibilidad de que sus aplicaciones se ejecuten siempre de la misma manera, sin importar el sistema operativo en el que se estén ejecutando.</a:t>
              </a:r>
              <a:endParaRPr b="0" i="0" sz="2400" u="none" cap="none" strike="noStrike">
                <a:solidFill>
                  <a:schemeClr val="dk1"/>
                </a:solidFill>
                <a:latin typeface="Arial"/>
                <a:ea typeface="Arial"/>
                <a:cs typeface="Arial"/>
                <a:sym typeface="Arial"/>
              </a:endParaRPr>
            </a:p>
            <a:p>
              <a:pPr indent="0" lvl="0" marL="914400" marR="0" rtl="0" algn="ctr">
                <a:lnSpc>
                  <a:spcPct val="140000"/>
                </a:lnSpc>
                <a:spcBef>
                  <a:spcPts val="12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538" name="Google Shape;538;p33"/>
          <p:cNvGrpSpPr/>
          <p:nvPr/>
        </p:nvGrpSpPr>
        <p:grpSpPr>
          <a:xfrm>
            <a:off x="2481488" y="1067898"/>
            <a:ext cx="13325027" cy="8427185"/>
            <a:chOff x="0" y="-47625"/>
            <a:chExt cx="3509449" cy="2219491"/>
          </a:xfrm>
        </p:grpSpPr>
        <p:sp>
          <p:nvSpPr>
            <p:cNvPr id="539" name="Google Shape;539;p33"/>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33"/>
            <p:cNvSpPr txBox="1"/>
            <p:nvPr/>
          </p:nvSpPr>
          <p:spPr>
            <a:xfrm>
              <a:off x="0" y="-47625"/>
              <a:ext cx="35094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541" name="Google Shape;541;p33"/>
          <p:cNvPicPr preferRelativeResize="0"/>
          <p:nvPr/>
        </p:nvPicPr>
        <p:blipFill rotWithShape="1">
          <a:blip r:embed="rId4">
            <a:alphaModFix/>
          </a:blip>
          <a:srcRect b="0" l="0" r="0" t="0"/>
          <a:stretch/>
        </p:blipFill>
        <p:spPr>
          <a:xfrm>
            <a:off x="3205150" y="2114413"/>
            <a:ext cx="11877675" cy="6334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547" name="Google Shape;547;p34"/>
          <p:cNvGrpSpPr/>
          <p:nvPr/>
        </p:nvGrpSpPr>
        <p:grpSpPr>
          <a:xfrm>
            <a:off x="2481488" y="1067898"/>
            <a:ext cx="13325027" cy="8427185"/>
            <a:chOff x="0" y="-47625"/>
            <a:chExt cx="3509449" cy="2219491"/>
          </a:xfrm>
        </p:grpSpPr>
        <p:sp>
          <p:nvSpPr>
            <p:cNvPr id="548" name="Google Shape;548;p34"/>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34"/>
            <p:cNvSpPr txBox="1"/>
            <p:nvPr/>
          </p:nvSpPr>
          <p:spPr>
            <a:xfrm>
              <a:off x="0" y="-47625"/>
              <a:ext cx="35094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550" name="Google Shape;550;p34"/>
          <p:cNvPicPr preferRelativeResize="0"/>
          <p:nvPr/>
        </p:nvPicPr>
        <p:blipFill rotWithShape="1">
          <a:blip r:embed="rId4">
            <a:alphaModFix/>
          </a:blip>
          <a:srcRect b="0" l="0" r="0" t="0"/>
          <a:stretch/>
        </p:blipFill>
        <p:spPr>
          <a:xfrm>
            <a:off x="3014663" y="2106538"/>
            <a:ext cx="12258675" cy="64865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556" name="Google Shape;556;p35"/>
          <p:cNvGrpSpPr/>
          <p:nvPr/>
        </p:nvGrpSpPr>
        <p:grpSpPr>
          <a:xfrm>
            <a:off x="2481488" y="1095398"/>
            <a:ext cx="13325027" cy="8427185"/>
            <a:chOff x="0" y="-47625"/>
            <a:chExt cx="3509449" cy="2219491"/>
          </a:xfrm>
        </p:grpSpPr>
        <p:sp>
          <p:nvSpPr>
            <p:cNvPr id="557" name="Google Shape;557;p35"/>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35"/>
            <p:cNvSpPr txBox="1"/>
            <p:nvPr/>
          </p:nvSpPr>
          <p:spPr>
            <a:xfrm>
              <a:off x="0" y="-47625"/>
              <a:ext cx="35094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9" name="Google Shape;559;p35"/>
          <p:cNvGrpSpPr/>
          <p:nvPr/>
        </p:nvGrpSpPr>
        <p:grpSpPr>
          <a:xfrm>
            <a:off x="3646427" y="1640550"/>
            <a:ext cx="10995138" cy="3490354"/>
            <a:chOff x="207366" y="-1063533"/>
            <a:chExt cx="11052612" cy="4653805"/>
          </a:xfrm>
        </p:grpSpPr>
        <p:sp>
          <p:nvSpPr>
            <p:cNvPr id="560" name="Google Shape;560;p35"/>
            <p:cNvSpPr txBox="1"/>
            <p:nvPr/>
          </p:nvSpPr>
          <p:spPr>
            <a:xfrm>
              <a:off x="207378" y="-1063533"/>
              <a:ext cx="11052600" cy="82080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¿Cómo funciona?</a:t>
              </a:r>
              <a:endParaRPr b="0" i="0" sz="1400" u="none" cap="none" strike="noStrike">
                <a:solidFill>
                  <a:srgbClr val="000000"/>
                </a:solidFill>
                <a:latin typeface="Arial"/>
                <a:ea typeface="Arial"/>
                <a:cs typeface="Arial"/>
                <a:sym typeface="Arial"/>
              </a:endParaRPr>
            </a:p>
          </p:txBody>
        </p:sp>
        <p:sp>
          <p:nvSpPr>
            <p:cNvPr id="561" name="Google Shape;561;p35"/>
            <p:cNvSpPr txBox="1"/>
            <p:nvPr/>
          </p:nvSpPr>
          <p:spPr>
            <a:xfrm>
              <a:off x="207366" y="1833472"/>
              <a:ext cx="11052600" cy="17568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12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914400" marR="0" rtl="0" algn="ctr">
                <a:lnSpc>
                  <a:spcPct val="140000"/>
                </a:lnSpc>
                <a:spcBef>
                  <a:spcPts val="12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pic>
        <p:nvPicPr>
          <p:cNvPr id="562" name="Google Shape;562;p35"/>
          <p:cNvPicPr preferRelativeResize="0"/>
          <p:nvPr/>
        </p:nvPicPr>
        <p:blipFill rotWithShape="1">
          <a:blip r:embed="rId4">
            <a:alphaModFix/>
          </a:blip>
          <a:srcRect b="0" l="0" r="0" t="0"/>
          <a:stretch/>
        </p:blipFill>
        <p:spPr>
          <a:xfrm>
            <a:off x="5125700" y="2371675"/>
            <a:ext cx="8036600" cy="68523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3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568" name="Google Shape;568;p36"/>
          <p:cNvGrpSpPr/>
          <p:nvPr/>
        </p:nvGrpSpPr>
        <p:grpSpPr>
          <a:xfrm>
            <a:off x="2481488" y="1095398"/>
            <a:ext cx="13325027" cy="8427185"/>
            <a:chOff x="0" y="-47625"/>
            <a:chExt cx="3509449" cy="2219491"/>
          </a:xfrm>
        </p:grpSpPr>
        <p:sp>
          <p:nvSpPr>
            <p:cNvPr id="569" name="Google Shape;569;p36"/>
            <p:cNvSpPr/>
            <p:nvPr/>
          </p:nvSpPr>
          <p:spPr>
            <a:xfrm>
              <a:off x="0" y="0"/>
              <a:ext cx="3509449" cy="2171866"/>
            </a:xfrm>
            <a:custGeom>
              <a:rect b="b" l="l" r="r" t="t"/>
              <a:pathLst>
                <a:path extrusionOk="0" h="2171866" w="3509449">
                  <a:moveTo>
                    <a:pt x="29631" y="0"/>
                  </a:moveTo>
                  <a:lnTo>
                    <a:pt x="3479818" y="0"/>
                  </a:lnTo>
                  <a:cubicBezTo>
                    <a:pt x="3496183" y="0"/>
                    <a:pt x="3509449" y="13266"/>
                    <a:pt x="3509449" y="29631"/>
                  </a:cubicBezTo>
                  <a:lnTo>
                    <a:pt x="3509449" y="2142235"/>
                  </a:lnTo>
                  <a:cubicBezTo>
                    <a:pt x="3509449" y="2158600"/>
                    <a:pt x="3496183" y="2171866"/>
                    <a:pt x="3479818" y="2171866"/>
                  </a:cubicBezTo>
                  <a:lnTo>
                    <a:pt x="29631" y="2171866"/>
                  </a:lnTo>
                  <a:cubicBezTo>
                    <a:pt x="13266" y="2171866"/>
                    <a:pt x="0" y="2158600"/>
                    <a:pt x="0" y="2142235"/>
                  </a:cubicBezTo>
                  <a:lnTo>
                    <a:pt x="0" y="29631"/>
                  </a:lnTo>
                  <a:cubicBezTo>
                    <a:pt x="0" y="13266"/>
                    <a:pt x="13266" y="0"/>
                    <a:pt x="29631"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36"/>
            <p:cNvSpPr txBox="1"/>
            <p:nvPr/>
          </p:nvSpPr>
          <p:spPr>
            <a:xfrm>
              <a:off x="0" y="-47625"/>
              <a:ext cx="35094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1" name="Google Shape;571;p36"/>
          <p:cNvGrpSpPr/>
          <p:nvPr/>
        </p:nvGrpSpPr>
        <p:grpSpPr>
          <a:xfrm>
            <a:off x="3646427" y="1640550"/>
            <a:ext cx="10995138" cy="3490354"/>
            <a:chOff x="207366" y="-1063533"/>
            <a:chExt cx="11052612" cy="4653805"/>
          </a:xfrm>
        </p:grpSpPr>
        <p:sp>
          <p:nvSpPr>
            <p:cNvPr id="572" name="Google Shape;572;p36"/>
            <p:cNvSpPr txBox="1"/>
            <p:nvPr/>
          </p:nvSpPr>
          <p:spPr>
            <a:xfrm>
              <a:off x="207378" y="-1063533"/>
              <a:ext cx="11052600" cy="820800"/>
            </a:xfrm>
            <a:prstGeom prst="rect">
              <a:avLst/>
            </a:prstGeom>
            <a:noFill/>
            <a:ln>
              <a:noFill/>
            </a:ln>
          </p:spPr>
          <p:txBody>
            <a:bodyPr anchorCtr="0" anchor="t" bIns="0" lIns="0" spcFirstLastPara="1" rIns="0" wrap="square" tIns="0">
              <a:spAutoFit/>
            </a:bodyPr>
            <a:lstStyle/>
            <a:p>
              <a:pPr indent="0" lvl="0" marL="0" marR="0" rtl="0" algn="ctr">
                <a:lnSpc>
                  <a:spcPct val="117004"/>
                </a:lnSpc>
                <a:spcBef>
                  <a:spcPts val="0"/>
                </a:spcBef>
                <a:spcAft>
                  <a:spcPts val="0"/>
                </a:spcAft>
                <a:buClr>
                  <a:srgbClr val="000000"/>
                </a:buClr>
                <a:buSzPts val="3999"/>
                <a:buFont typeface="Arial"/>
                <a:buNone/>
              </a:pPr>
              <a:r>
                <a:rPr b="0" i="0" lang="en-US" sz="3999" u="none" cap="none" strike="noStrike">
                  <a:solidFill>
                    <a:srgbClr val="000000"/>
                  </a:solidFill>
                  <a:latin typeface="Arial"/>
                  <a:ea typeface="Arial"/>
                  <a:cs typeface="Arial"/>
                  <a:sym typeface="Arial"/>
                </a:rPr>
                <a:t>Docker vs VM</a:t>
              </a:r>
              <a:endParaRPr b="0" i="0" sz="1400" u="none" cap="none" strike="noStrike">
                <a:solidFill>
                  <a:srgbClr val="000000"/>
                </a:solidFill>
                <a:latin typeface="Arial"/>
                <a:ea typeface="Arial"/>
                <a:cs typeface="Arial"/>
                <a:sym typeface="Arial"/>
              </a:endParaRPr>
            </a:p>
          </p:txBody>
        </p:sp>
        <p:sp>
          <p:nvSpPr>
            <p:cNvPr id="573" name="Google Shape;573;p36"/>
            <p:cNvSpPr txBox="1"/>
            <p:nvPr/>
          </p:nvSpPr>
          <p:spPr>
            <a:xfrm>
              <a:off x="207366" y="1833472"/>
              <a:ext cx="11052600" cy="1756800"/>
            </a:xfrm>
            <a:prstGeom prst="rect">
              <a:avLst/>
            </a:prstGeom>
            <a:noFill/>
            <a:ln>
              <a:noFill/>
            </a:ln>
          </p:spPr>
          <p:txBody>
            <a:bodyPr anchorCtr="0" anchor="t" bIns="0" lIns="0" spcFirstLastPara="1" rIns="0" wrap="square" tIns="0">
              <a:spAutoFit/>
            </a:bodyPr>
            <a:lstStyle/>
            <a:p>
              <a:pPr indent="0" lvl="0" marL="0" marR="0" rtl="0" algn="just">
                <a:lnSpc>
                  <a:spcPct val="115000"/>
                </a:lnSpc>
                <a:spcBef>
                  <a:spcPts val="12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914400" marR="0" rtl="0" algn="ctr">
                <a:lnSpc>
                  <a:spcPct val="140000"/>
                </a:lnSpc>
                <a:spcBef>
                  <a:spcPts val="120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grpSp>
      <p:pic>
        <p:nvPicPr>
          <p:cNvPr id="574" name="Google Shape;574;p36"/>
          <p:cNvPicPr preferRelativeResize="0"/>
          <p:nvPr/>
        </p:nvPicPr>
        <p:blipFill rotWithShape="1">
          <a:blip r:embed="rId4">
            <a:alphaModFix/>
          </a:blip>
          <a:srcRect b="0" l="0" r="0" t="0"/>
          <a:stretch/>
        </p:blipFill>
        <p:spPr>
          <a:xfrm>
            <a:off x="3838575" y="2668900"/>
            <a:ext cx="10610850" cy="60769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3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580" name="Google Shape;580;p37"/>
          <p:cNvGrpSpPr/>
          <p:nvPr/>
        </p:nvGrpSpPr>
        <p:grpSpPr>
          <a:xfrm>
            <a:off x="1138700" y="929910"/>
            <a:ext cx="16230707" cy="8427185"/>
            <a:chOff x="0" y="-47625"/>
            <a:chExt cx="4274726" cy="2219491"/>
          </a:xfrm>
        </p:grpSpPr>
        <p:sp>
          <p:nvSpPr>
            <p:cNvPr id="581" name="Google Shape;581;p37"/>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37"/>
            <p:cNvSpPr txBox="1"/>
            <p:nvPr/>
          </p:nvSpPr>
          <p:spPr>
            <a:xfrm>
              <a:off x="0" y="-47625"/>
              <a:ext cx="42747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83" name="Google Shape;583;p37"/>
          <p:cNvGrpSpPr/>
          <p:nvPr/>
        </p:nvGrpSpPr>
        <p:grpSpPr>
          <a:xfrm>
            <a:off x="1621275" y="1903425"/>
            <a:ext cx="15045428" cy="7559923"/>
            <a:chOff x="-6730212" y="-765065"/>
            <a:chExt cx="26997000" cy="6349142"/>
          </a:xfrm>
        </p:grpSpPr>
        <p:sp>
          <p:nvSpPr>
            <p:cNvPr id="584" name="Google Shape;584;p37"/>
            <p:cNvSpPr txBox="1"/>
            <p:nvPr/>
          </p:nvSpPr>
          <p:spPr>
            <a:xfrm>
              <a:off x="-6730212" y="-765065"/>
              <a:ext cx="26997000" cy="8271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Conceptos claves aprendidos</a:t>
              </a:r>
              <a:endParaRPr b="0" i="0" sz="6399" u="none" cap="none" strike="noStrike">
                <a:solidFill>
                  <a:srgbClr val="000000"/>
                </a:solidFill>
                <a:latin typeface="Arial"/>
                <a:ea typeface="Arial"/>
                <a:cs typeface="Arial"/>
                <a:sym typeface="Arial"/>
              </a:endParaRPr>
            </a:p>
          </p:txBody>
        </p:sp>
        <p:sp>
          <p:nvSpPr>
            <p:cNvPr id="585" name="Google Shape;585;p37"/>
            <p:cNvSpPr txBox="1"/>
            <p:nvPr/>
          </p:nvSpPr>
          <p:spPr>
            <a:xfrm>
              <a:off x="-5552390" y="516177"/>
              <a:ext cx="24570600" cy="5067900"/>
            </a:xfrm>
            <a:prstGeom prst="rect">
              <a:avLst/>
            </a:prstGeom>
            <a:noFill/>
            <a:ln>
              <a:noFill/>
            </a:ln>
          </p:spPr>
          <p:txBody>
            <a:bodyPr anchorCtr="0" anchor="t" bIns="0" lIns="0" spcFirstLastPara="1" rIns="0" wrap="square" tIns="0">
              <a:spAutoFit/>
            </a:bodyPr>
            <a:lstStyle/>
            <a:p>
              <a:pPr indent="-355600" lvl="0" marL="457200" marR="0" rtl="0" algn="just">
                <a:lnSpc>
                  <a:spcPct val="140014"/>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Funcionalidad del almacenaje:</a:t>
              </a:r>
              <a:r>
                <a:rPr b="0" i="0" lang="en-US" sz="2000" u="none" cap="none" strike="noStrike">
                  <a:solidFill>
                    <a:srgbClr val="000000"/>
                  </a:solidFill>
                  <a:latin typeface="Arial"/>
                  <a:ea typeface="Arial"/>
                  <a:cs typeface="Arial"/>
                  <a:sym typeface="Arial"/>
                </a:rPr>
                <a:t> Capacidad de un sistema para guardar, organizar y recuperar datos de forma eficiente y segura según las necesidades del usuario o la aplicación.</a:t>
              </a:r>
              <a:endParaRPr b="0"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55600" lvl="0" marL="457200" marR="0" rtl="0" algn="just">
                <a:lnSpc>
                  <a:spcPct val="140014"/>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Seguridad de almacenamiento:</a:t>
              </a:r>
              <a:r>
                <a:rPr b="0" i="0" lang="en-US" sz="2000" u="none" cap="none" strike="noStrike">
                  <a:solidFill>
                    <a:srgbClr val="000000"/>
                  </a:solidFill>
                  <a:latin typeface="Arial"/>
                  <a:ea typeface="Arial"/>
                  <a:cs typeface="Arial"/>
                  <a:sym typeface="Arial"/>
                </a:rPr>
                <a:t> Conjunto de medidas que protegen los datos guardados frente a accesos no autorizados, pérdidas, manipulaciones o robos, ya sea en medios físicos o virtuales.</a:t>
              </a:r>
              <a:endParaRPr b="0"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55600" lvl="0" marL="457200" marR="0" rtl="0" algn="just">
                <a:lnSpc>
                  <a:spcPct val="140014"/>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Almacenamiento virtual:</a:t>
              </a:r>
              <a:r>
                <a:rPr b="0" i="0" lang="en-US" sz="2000" u="none" cap="none" strike="noStrike">
                  <a:solidFill>
                    <a:srgbClr val="000000"/>
                  </a:solidFill>
                  <a:latin typeface="Arial"/>
                  <a:ea typeface="Arial"/>
                  <a:cs typeface="Arial"/>
                  <a:sym typeface="Arial"/>
                </a:rPr>
                <a:t> Tecnología que permite abstraer el almacenamiento físico y presentarlo como una unidad lógica, facilitando la gestión y el acceso desde múltiples ubicaciones o sistemas.</a:t>
              </a:r>
              <a:endParaRPr b="0"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355600" lvl="0" marL="457200" marR="0" rtl="0" algn="just">
                <a:lnSpc>
                  <a:spcPct val="140014"/>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Administración de recursos y entornos virtualizados:</a:t>
              </a:r>
              <a:r>
                <a:rPr b="0" i="0" lang="en-US" sz="2000" u="none" cap="none" strike="noStrike">
                  <a:solidFill>
                    <a:srgbClr val="000000"/>
                  </a:solidFill>
                  <a:latin typeface="Arial"/>
                  <a:ea typeface="Arial"/>
                  <a:cs typeface="Arial"/>
                  <a:sym typeface="Arial"/>
                </a:rPr>
                <a:t> Proceso de gestionar de forma centralizada los recursos informáticos (como CPU, memoria, red y almacenamiento) en entornos donde se usan máquinas virtuales o contenedores.</a:t>
              </a:r>
              <a:endParaRPr b="0"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3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591" name="Google Shape;591;p38"/>
          <p:cNvGrpSpPr/>
          <p:nvPr/>
        </p:nvGrpSpPr>
        <p:grpSpPr>
          <a:xfrm>
            <a:off x="1138700" y="929910"/>
            <a:ext cx="16230707" cy="8427185"/>
            <a:chOff x="0" y="-47625"/>
            <a:chExt cx="4274726" cy="2219491"/>
          </a:xfrm>
        </p:grpSpPr>
        <p:sp>
          <p:nvSpPr>
            <p:cNvPr id="592" name="Google Shape;592;p38"/>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38"/>
            <p:cNvSpPr txBox="1"/>
            <p:nvPr/>
          </p:nvSpPr>
          <p:spPr>
            <a:xfrm>
              <a:off x="0" y="-47625"/>
              <a:ext cx="42747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94" name="Google Shape;594;p38"/>
          <p:cNvGrpSpPr/>
          <p:nvPr/>
        </p:nvGrpSpPr>
        <p:grpSpPr>
          <a:xfrm>
            <a:off x="1621275" y="1903425"/>
            <a:ext cx="15045428" cy="5835671"/>
            <a:chOff x="-6730212" y="-765065"/>
            <a:chExt cx="26997000" cy="4901042"/>
          </a:xfrm>
        </p:grpSpPr>
        <p:sp>
          <p:nvSpPr>
            <p:cNvPr id="595" name="Google Shape;595;p38"/>
            <p:cNvSpPr txBox="1"/>
            <p:nvPr/>
          </p:nvSpPr>
          <p:spPr>
            <a:xfrm>
              <a:off x="-6730212" y="-765065"/>
              <a:ext cx="26997000" cy="8271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Conceptos claves aprendidos</a:t>
              </a:r>
              <a:endParaRPr b="0" i="0" sz="6399" u="none" cap="none" strike="noStrike">
                <a:solidFill>
                  <a:srgbClr val="000000"/>
                </a:solidFill>
                <a:latin typeface="Arial"/>
                <a:ea typeface="Arial"/>
                <a:cs typeface="Arial"/>
                <a:sym typeface="Arial"/>
              </a:endParaRPr>
            </a:p>
          </p:txBody>
        </p:sp>
        <p:sp>
          <p:nvSpPr>
            <p:cNvPr id="596" name="Google Shape;596;p38"/>
            <p:cNvSpPr txBox="1"/>
            <p:nvPr/>
          </p:nvSpPr>
          <p:spPr>
            <a:xfrm>
              <a:off x="-5552390" y="516177"/>
              <a:ext cx="24570600" cy="3619800"/>
            </a:xfrm>
            <a:prstGeom prst="rect">
              <a:avLst/>
            </a:prstGeom>
            <a:noFill/>
            <a:ln>
              <a:noFill/>
            </a:ln>
          </p:spPr>
          <p:txBody>
            <a:bodyPr anchorCtr="0" anchor="t" bIns="0" lIns="0" spcFirstLastPara="1" rIns="0" wrap="square" tIns="0">
              <a:spAutoFit/>
            </a:bodyPr>
            <a:lstStyle/>
            <a:p>
              <a:pPr indent="-355600" lvl="0" marL="457200" marR="0" rtl="0" algn="just">
                <a:lnSpc>
                  <a:spcPct val="140014"/>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EC2: </a:t>
              </a:r>
              <a:r>
                <a:rPr b="0" i="0" lang="en-US" sz="2000" u="none" cap="none" strike="noStrike">
                  <a:solidFill>
                    <a:srgbClr val="000000"/>
                  </a:solidFill>
                  <a:latin typeface="Arial"/>
                  <a:ea typeface="Arial"/>
                  <a:cs typeface="Arial"/>
                  <a:sym typeface="Arial"/>
                </a:rPr>
                <a:t>Servicio de Amazon Web Services (AWS) que permite ejecutar servidores virtuales en la nube de forma escalable, según demanda y con control total del sistema operativo.</a:t>
              </a:r>
              <a:endParaRPr b="0"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355600" lvl="0" marL="457200" marR="0" rtl="0" algn="just">
                <a:lnSpc>
                  <a:spcPct val="140014"/>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S3: </a:t>
              </a:r>
              <a:r>
                <a:rPr b="0" i="0" lang="en-US" sz="2000" u="none" cap="none" strike="noStrike">
                  <a:solidFill>
                    <a:srgbClr val="000000"/>
                  </a:solidFill>
                  <a:latin typeface="Arial"/>
                  <a:ea typeface="Arial"/>
                  <a:cs typeface="Arial"/>
                  <a:sym typeface="Arial"/>
                </a:rPr>
                <a:t>Servicio de almacenamiento en la nube de AWS que permite guardar y recuperar grandes cantidades de datos mediante objetos, ideal para copias de seguridad, archivos y contenido estático.</a:t>
              </a:r>
              <a:endParaRPr b="0"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355600" lvl="0" marL="457200" marR="0" rtl="0" algn="just">
                <a:lnSpc>
                  <a:spcPct val="140014"/>
                </a:lnSpc>
                <a:spcBef>
                  <a:spcPts val="0"/>
                </a:spcBef>
                <a:spcAft>
                  <a:spcPts val="0"/>
                </a:spcAft>
                <a:buClr>
                  <a:srgbClr val="000000"/>
                </a:buClr>
                <a:buSzPts val="2000"/>
                <a:buFont typeface="Arial"/>
                <a:buChar char="●"/>
              </a:pPr>
              <a:r>
                <a:rPr b="1" i="0" lang="en-US" sz="2000" u="none" cap="none" strike="noStrike">
                  <a:solidFill>
                    <a:srgbClr val="000000"/>
                  </a:solidFill>
                  <a:latin typeface="Arial"/>
                  <a:ea typeface="Arial"/>
                  <a:cs typeface="Arial"/>
                  <a:sym typeface="Arial"/>
                </a:rPr>
                <a:t>Docker: </a:t>
              </a:r>
              <a:r>
                <a:rPr b="0" i="0" lang="en-US" sz="2000" u="none" cap="none" strike="noStrike">
                  <a:solidFill>
                    <a:srgbClr val="000000"/>
                  </a:solidFill>
                  <a:latin typeface="Arial"/>
                  <a:ea typeface="Arial"/>
                  <a:cs typeface="Arial"/>
                  <a:sym typeface="Arial"/>
                </a:rPr>
                <a:t>Plataforma que permite crear, ejecutar y gestionar aplicaciones en contenedores ligeros, aislados y portables, facilitando la compatibilidad entre distintos entornos.</a:t>
              </a:r>
              <a:endParaRPr b="0"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3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602" name="Google Shape;602;p39"/>
          <p:cNvGrpSpPr/>
          <p:nvPr/>
        </p:nvGrpSpPr>
        <p:grpSpPr>
          <a:xfrm>
            <a:off x="1138700" y="929910"/>
            <a:ext cx="16230707" cy="8427185"/>
            <a:chOff x="0" y="-47625"/>
            <a:chExt cx="4274726" cy="2219491"/>
          </a:xfrm>
        </p:grpSpPr>
        <p:sp>
          <p:nvSpPr>
            <p:cNvPr id="603" name="Google Shape;603;p39"/>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39"/>
            <p:cNvSpPr txBox="1"/>
            <p:nvPr/>
          </p:nvSpPr>
          <p:spPr>
            <a:xfrm>
              <a:off x="0" y="-47625"/>
              <a:ext cx="42747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05" name="Google Shape;605;p39"/>
          <p:cNvGrpSpPr/>
          <p:nvPr/>
        </p:nvGrpSpPr>
        <p:grpSpPr>
          <a:xfrm>
            <a:off x="1621275" y="1903425"/>
            <a:ext cx="15045428" cy="4068553"/>
            <a:chOff x="-6730212" y="-765065"/>
            <a:chExt cx="26997000" cy="3416942"/>
          </a:xfrm>
        </p:grpSpPr>
        <p:sp>
          <p:nvSpPr>
            <p:cNvPr id="606" name="Google Shape;606;p39"/>
            <p:cNvSpPr txBox="1"/>
            <p:nvPr/>
          </p:nvSpPr>
          <p:spPr>
            <a:xfrm>
              <a:off x="-6730212" y="-765065"/>
              <a:ext cx="26997000" cy="8271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Proactividad</a:t>
              </a:r>
              <a:endParaRPr b="0" i="0" sz="6399" u="none" cap="none" strike="noStrike">
                <a:solidFill>
                  <a:srgbClr val="000000"/>
                </a:solidFill>
                <a:latin typeface="Arial"/>
                <a:ea typeface="Arial"/>
                <a:cs typeface="Arial"/>
                <a:sym typeface="Arial"/>
              </a:endParaRPr>
            </a:p>
          </p:txBody>
        </p:sp>
        <p:sp>
          <p:nvSpPr>
            <p:cNvPr id="607" name="Google Shape;607;p39"/>
            <p:cNvSpPr txBox="1"/>
            <p:nvPr/>
          </p:nvSpPr>
          <p:spPr>
            <a:xfrm>
              <a:off x="-5552390" y="516177"/>
              <a:ext cx="24570600" cy="21357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Fomenta la iniciativa del estudiante para anticiparse a los desafíos tecnológicos, buscar soluciones eficaces y adaptarse con disposición a los cambios en los entornos virtualizados de almacenamiento.</a:t>
              </a:r>
              <a:endParaRPr b="0" i="0" sz="26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4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613" name="Google Shape;613;p40"/>
          <p:cNvGrpSpPr/>
          <p:nvPr/>
        </p:nvGrpSpPr>
        <p:grpSpPr>
          <a:xfrm>
            <a:off x="1138700" y="929910"/>
            <a:ext cx="16230707" cy="8427185"/>
            <a:chOff x="0" y="-47625"/>
            <a:chExt cx="4274726" cy="2219491"/>
          </a:xfrm>
        </p:grpSpPr>
        <p:sp>
          <p:nvSpPr>
            <p:cNvPr id="614" name="Google Shape;614;p40"/>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40"/>
            <p:cNvSpPr txBox="1"/>
            <p:nvPr/>
          </p:nvSpPr>
          <p:spPr>
            <a:xfrm>
              <a:off x="0" y="-47625"/>
              <a:ext cx="42747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6" name="Google Shape;616;p40"/>
          <p:cNvGrpSpPr/>
          <p:nvPr/>
        </p:nvGrpSpPr>
        <p:grpSpPr>
          <a:xfrm>
            <a:off x="1621484" y="1903426"/>
            <a:ext cx="15747350" cy="7128769"/>
            <a:chOff x="-6730212" y="-765065"/>
            <a:chExt cx="26997000" cy="5987041"/>
          </a:xfrm>
        </p:grpSpPr>
        <p:sp>
          <p:nvSpPr>
            <p:cNvPr id="617" name="Google Shape;617;p40"/>
            <p:cNvSpPr txBox="1"/>
            <p:nvPr/>
          </p:nvSpPr>
          <p:spPr>
            <a:xfrm>
              <a:off x="-6730212" y="-765065"/>
              <a:ext cx="26997000" cy="8271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Referencias</a:t>
              </a:r>
              <a:endParaRPr b="0" i="0" sz="6399" u="none" cap="none" strike="noStrike">
                <a:solidFill>
                  <a:srgbClr val="000000"/>
                </a:solidFill>
                <a:latin typeface="Arial"/>
                <a:ea typeface="Arial"/>
                <a:cs typeface="Arial"/>
                <a:sym typeface="Arial"/>
              </a:endParaRPr>
            </a:p>
          </p:txBody>
        </p:sp>
        <p:sp>
          <p:nvSpPr>
            <p:cNvPr id="618" name="Google Shape;618;p40"/>
            <p:cNvSpPr txBox="1"/>
            <p:nvPr/>
          </p:nvSpPr>
          <p:spPr>
            <a:xfrm>
              <a:off x="-6390908" y="516176"/>
              <a:ext cx="25887900" cy="47058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chemeClr val="dk1"/>
                </a:buClr>
                <a:buSzPts val="1100"/>
                <a:buFont typeface="Arial"/>
                <a:buNone/>
              </a:pPr>
              <a:r>
                <a:t/>
              </a:r>
              <a:endParaRPr b="1"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Cisco. (s.f.). Fundamentos del almacenamiento de datos. Cisco Networking Academy. https://www.netacad.com/es/courses/it-essentials</a:t>
              </a:r>
              <a:endParaRPr b="1" i="0" sz="2000" u="none" cap="none" strike="noStrike">
                <a:solidFill>
                  <a:schemeClr val="dk1"/>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IBM. (s.f.). ¿Qué es la seguridad del almacenamiento?. https://www.ibm.com/es-es/topics/storage-security</a:t>
              </a:r>
              <a:endParaRPr b="1" i="0" sz="2000" u="none" cap="none" strike="noStrike">
                <a:solidFill>
                  <a:schemeClr val="dk1"/>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Microsoft Learn. (2023). Conceptos básicos sobre el almacenamiento virtualizado. https://learn.microsoft.com/es-es/windows-server/storage/storage-spaces/overview</a:t>
              </a:r>
              <a:endParaRPr b="1" i="0" sz="2000" u="none" cap="none" strike="noStrike">
                <a:solidFill>
                  <a:schemeClr val="dk1"/>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t/>
              </a:r>
              <a:endParaRPr b="1" i="0" sz="2000" u="none" cap="none" strike="noStrike">
                <a:solidFill>
                  <a:schemeClr val="dk1"/>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VMware. (s.f.). ¿Qué es la virtualización?. https://www.vmware.com/es/topics/glossary/content/virtualization.html</a:t>
              </a:r>
              <a:endParaRPr b="1"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624" name="Google Shape;624;p41"/>
          <p:cNvGrpSpPr/>
          <p:nvPr/>
        </p:nvGrpSpPr>
        <p:grpSpPr>
          <a:xfrm>
            <a:off x="1138700" y="929910"/>
            <a:ext cx="16230707" cy="8427185"/>
            <a:chOff x="0" y="-47625"/>
            <a:chExt cx="4274726" cy="2219491"/>
          </a:xfrm>
        </p:grpSpPr>
        <p:sp>
          <p:nvSpPr>
            <p:cNvPr id="625" name="Google Shape;625;p41"/>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41"/>
            <p:cNvSpPr txBox="1"/>
            <p:nvPr/>
          </p:nvSpPr>
          <p:spPr>
            <a:xfrm>
              <a:off x="0" y="-47625"/>
              <a:ext cx="42747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27" name="Google Shape;627;p41"/>
          <p:cNvGrpSpPr/>
          <p:nvPr/>
        </p:nvGrpSpPr>
        <p:grpSpPr>
          <a:xfrm>
            <a:off x="1621484" y="1903426"/>
            <a:ext cx="15747350" cy="5404517"/>
            <a:chOff x="-6730212" y="-765065"/>
            <a:chExt cx="26997000" cy="4538941"/>
          </a:xfrm>
        </p:grpSpPr>
        <p:sp>
          <p:nvSpPr>
            <p:cNvPr id="628" name="Google Shape;628;p41"/>
            <p:cNvSpPr txBox="1"/>
            <p:nvPr/>
          </p:nvSpPr>
          <p:spPr>
            <a:xfrm>
              <a:off x="-6730212" y="-765065"/>
              <a:ext cx="26997000" cy="8271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Referencias</a:t>
              </a:r>
              <a:endParaRPr b="0" i="0" sz="6399" u="none" cap="none" strike="noStrike">
                <a:solidFill>
                  <a:srgbClr val="000000"/>
                </a:solidFill>
                <a:latin typeface="Arial"/>
                <a:ea typeface="Arial"/>
                <a:cs typeface="Arial"/>
                <a:sym typeface="Arial"/>
              </a:endParaRPr>
            </a:p>
          </p:txBody>
        </p:sp>
        <p:sp>
          <p:nvSpPr>
            <p:cNvPr id="629" name="Google Shape;629;p41"/>
            <p:cNvSpPr txBox="1"/>
            <p:nvPr/>
          </p:nvSpPr>
          <p:spPr>
            <a:xfrm>
              <a:off x="-6390908" y="516176"/>
              <a:ext cx="23813100" cy="32577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Amazon Web Services. (s.f.). Amazon EC2: Introducción. https://aws.amazon.com/es/ec2/</a:t>
              </a:r>
              <a:endParaRPr b="1"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Amazon Web Services. (s.f.). Amazon Simple Storage Service (Amazon S3). https://aws.amazon.com/es/s3/</a:t>
              </a:r>
              <a:endParaRPr b="1"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Docker Inc. (s.f.). ¿Qué es Docker?. https://www.docker.com/resources/what-container/html</a:t>
              </a:r>
              <a:endParaRPr b="1"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457200" marR="0" rtl="0" algn="just">
                <a:lnSpc>
                  <a:spcPct val="140014"/>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just">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4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3318" r="-3307" t="0"/>
            </a:stretch>
          </a:blipFill>
          <a:ln>
            <a:noFill/>
          </a:ln>
        </p:spPr>
      </p:sp>
      <p:grpSp>
        <p:nvGrpSpPr>
          <p:cNvPr id="635" name="Google Shape;635;p42"/>
          <p:cNvGrpSpPr/>
          <p:nvPr/>
        </p:nvGrpSpPr>
        <p:grpSpPr>
          <a:xfrm>
            <a:off x="1138700" y="1026185"/>
            <a:ext cx="16230707" cy="8427185"/>
            <a:chOff x="0" y="-47625"/>
            <a:chExt cx="4274726" cy="2219491"/>
          </a:xfrm>
        </p:grpSpPr>
        <p:sp>
          <p:nvSpPr>
            <p:cNvPr id="636" name="Google Shape;636;p42"/>
            <p:cNvSpPr/>
            <p:nvPr/>
          </p:nvSpPr>
          <p:spPr>
            <a:xfrm>
              <a:off x="0" y="0"/>
              <a:ext cx="4274726" cy="2171866"/>
            </a:xfrm>
            <a:custGeom>
              <a:rect b="b" l="l" r="r" t="t"/>
              <a:pathLst>
                <a:path extrusionOk="0" h="2171866" w="4274726">
                  <a:moveTo>
                    <a:pt x="24327" y="0"/>
                  </a:moveTo>
                  <a:lnTo>
                    <a:pt x="4250399" y="0"/>
                  </a:lnTo>
                  <a:cubicBezTo>
                    <a:pt x="4263834" y="0"/>
                    <a:pt x="4274726" y="10891"/>
                    <a:pt x="4274726" y="24327"/>
                  </a:cubicBezTo>
                  <a:lnTo>
                    <a:pt x="4274726" y="2147540"/>
                  </a:lnTo>
                  <a:cubicBezTo>
                    <a:pt x="4274726" y="2160975"/>
                    <a:pt x="4263834" y="2171866"/>
                    <a:pt x="4250399" y="2171866"/>
                  </a:cubicBezTo>
                  <a:lnTo>
                    <a:pt x="24327" y="2171866"/>
                  </a:lnTo>
                  <a:cubicBezTo>
                    <a:pt x="10891" y="2171866"/>
                    <a:pt x="0" y="2160975"/>
                    <a:pt x="0" y="2147540"/>
                  </a:cubicBezTo>
                  <a:lnTo>
                    <a:pt x="0" y="24327"/>
                  </a:lnTo>
                  <a:cubicBezTo>
                    <a:pt x="0" y="10891"/>
                    <a:pt x="10891" y="0"/>
                    <a:pt x="24327" y="0"/>
                  </a:cubicBezTo>
                  <a:close/>
                </a:path>
              </a:pathLst>
            </a:custGeom>
            <a:solidFill>
              <a:srgbClr val="FFFFFF">
                <a:alpha val="8705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42"/>
            <p:cNvSpPr txBox="1"/>
            <p:nvPr/>
          </p:nvSpPr>
          <p:spPr>
            <a:xfrm>
              <a:off x="0" y="-47625"/>
              <a:ext cx="4274700" cy="221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38" name="Google Shape;638;p42"/>
          <p:cNvGrpSpPr/>
          <p:nvPr/>
        </p:nvGrpSpPr>
        <p:grpSpPr>
          <a:xfrm>
            <a:off x="1555046" y="3429001"/>
            <a:ext cx="15747350" cy="4015907"/>
            <a:chOff x="-7127028" y="-835192"/>
            <a:chExt cx="26997000" cy="3372728"/>
          </a:xfrm>
        </p:grpSpPr>
        <p:sp>
          <p:nvSpPr>
            <p:cNvPr id="639" name="Google Shape;639;p42"/>
            <p:cNvSpPr txBox="1"/>
            <p:nvPr/>
          </p:nvSpPr>
          <p:spPr>
            <a:xfrm>
              <a:off x="-7127028" y="-835192"/>
              <a:ext cx="26997000" cy="1795200"/>
            </a:xfrm>
            <a:prstGeom prst="rect">
              <a:avLst/>
            </a:prstGeom>
            <a:noFill/>
            <a:ln>
              <a:noFill/>
            </a:ln>
          </p:spPr>
          <p:txBody>
            <a:bodyPr anchorCtr="0" anchor="t" bIns="0" lIns="0" spcFirstLastPara="1" rIns="0" wrap="square" tIns="0">
              <a:spAutoFit/>
            </a:bodyPr>
            <a:lstStyle/>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¡Gracias por su atención!</a:t>
              </a:r>
              <a:endParaRPr b="1" i="0" sz="6399" u="none" cap="none" strike="noStrike">
                <a:solidFill>
                  <a:srgbClr val="000000"/>
                </a:solidFill>
                <a:latin typeface="Arial"/>
                <a:ea typeface="Arial"/>
                <a:cs typeface="Arial"/>
                <a:sym typeface="Arial"/>
              </a:endParaRPr>
            </a:p>
            <a:p>
              <a:pPr indent="0" lvl="0" marL="0" marR="0" rtl="0" algn="ctr">
                <a:lnSpc>
                  <a:spcPct val="117002"/>
                </a:lnSpc>
                <a:spcBef>
                  <a:spcPts val="0"/>
                </a:spcBef>
                <a:spcAft>
                  <a:spcPts val="0"/>
                </a:spcAft>
                <a:buClr>
                  <a:srgbClr val="000000"/>
                </a:buClr>
                <a:buSzPts val="6399"/>
                <a:buFont typeface="Arial"/>
                <a:buNone/>
              </a:pPr>
              <a:r>
                <a:rPr b="1" i="0" lang="en-US" sz="6399" u="none" cap="none" strike="noStrike">
                  <a:solidFill>
                    <a:srgbClr val="000000"/>
                  </a:solidFill>
                  <a:latin typeface="Arial"/>
                  <a:ea typeface="Arial"/>
                  <a:cs typeface="Arial"/>
                  <a:sym typeface="Arial"/>
                </a:rPr>
                <a:t>¿Dudas?</a:t>
              </a:r>
              <a:endParaRPr b="1" i="0" sz="6399" u="none" cap="none" strike="noStrike">
                <a:solidFill>
                  <a:srgbClr val="000000"/>
                </a:solidFill>
                <a:latin typeface="Arial"/>
                <a:ea typeface="Arial"/>
                <a:cs typeface="Arial"/>
                <a:sym typeface="Arial"/>
              </a:endParaRPr>
            </a:p>
          </p:txBody>
        </p:sp>
        <p:sp>
          <p:nvSpPr>
            <p:cNvPr id="640" name="Google Shape;640;p42"/>
            <p:cNvSpPr txBox="1"/>
            <p:nvPr/>
          </p:nvSpPr>
          <p:spPr>
            <a:xfrm>
              <a:off x="-5551567" y="1534336"/>
              <a:ext cx="23846100" cy="100320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2799" u="none" cap="none" strike="noStrike">
                <a:solidFill>
                  <a:srgbClr val="000000"/>
                </a:solidFill>
                <a:latin typeface="Arial"/>
                <a:ea typeface="Arial"/>
                <a:cs typeface="Arial"/>
                <a:sym typeface="Arial"/>
              </a:endParaRPr>
            </a:p>
          </p:txBody>
        </p:sp>
      </p:grpSp>
      <p:pic>
        <p:nvPicPr>
          <p:cNvPr id="641" name="Google Shape;641;p42"/>
          <p:cNvPicPr preferRelativeResize="0"/>
          <p:nvPr/>
        </p:nvPicPr>
        <p:blipFill rotWithShape="1">
          <a:blip r:embed="rId4">
            <a:alphaModFix/>
          </a:blip>
          <a:srcRect b="0" l="0" r="0" t="0"/>
          <a:stretch/>
        </p:blipFill>
        <p:spPr>
          <a:xfrm>
            <a:off x="14637850" y="1979436"/>
            <a:ext cx="2116975" cy="28991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