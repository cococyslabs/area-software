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Sora Medium"/>
      <p:regular r:id="rId16"/>
    </p:embeddedFont>
    <p:embeddedFont>
      <p:font typeface="Sora Medium"/>
      <p:regular r:id="rId17"/>
    </p:embeddedFont>
    <p:embeddedFont>
      <p:font typeface="Noto Sans TC"/>
      <p:regular r:id="rId18"/>
    </p:embeddedFont>
    <p:embeddedFont>
      <p:font typeface="Noto Sans TC"/>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4970" y="925354"/>
            <a:ext cx="7714059" cy="3524250"/>
          </a:xfrm>
          <a:prstGeom prst="rect">
            <a:avLst/>
          </a:prstGeom>
          <a:noFill/>
          <a:ln/>
        </p:spPr>
        <p:txBody>
          <a:bodyPr wrap="square" lIns="0" tIns="0" rIns="0" bIns="0" rtlCol="0" anchor="t"/>
          <a:lstStyle/>
          <a:p>
            <a:pPr indent="0" marL="0">
              <a:lnSpc>
                <a:spcPts val="6900"/>
              </a:lnSpc>
              <a:buNone/>
            </a:pPr>
            <a:r>
              <a:rPr lang="en-US" sz="5550" dirty="0">
                <a:solidFill>
                  <a:srgbClr val="97B8FF"/>
                </a:solidFill>
                <a:latin typeface="Sora Medium" pitchFamily="34" charset="0"/>
                <a:ea typeface="Sora Medium" pitchFamily="34" charset="-122"/>
                <a:cs typeface="Sora Medium" pitchFamily="34" charset="-120"/>
              </a:rPr>
              <a:t>Arquitectura del Sistema Operativo Linux y Gestión de Procesos y Recursos</a:t>
            </a:r>
            <a:endParaRPr lang="en-US" sz="5550" dirty="0"/>
          </a:p>
        </p:txBody>
      </p:sp>
      <p:sp>
        <p:nvSpPr>
          <p:cNvPr id="4" name="Text 1"/>
          <p:cNvSpPr/>
          <p:nvPr/>
        </p:nvSpPr>
        <p:spPr>
          <a:xfrm>
            <a:off x="714970" y="4755952"/>
            <a:ext cx="7714059" cy="1960959"/>
          </a:xfrm>
          <a:prstGeom prst="rect">
            <a:avLst/>
          </a:prstGeom>
          <a:noFill/>
          <a:ln/>
        </p:spPr>
        <p:txBody>
          <a:bodyPr wrap="square" lIns="0" tIns="0" rIns="0" bIns="0" rtlCol="0" anchor="t"/>
          <a:lstStyle/>
          <a:p>
            <a:pPr indent="0" marL="0">
              <a:lnSpc>
                <a:spcPts val="2550"/>
              </a:lnSpc>
              <a:buNone/>
            </a:pPr>
            <a:r>
              <a:rPr lang="en-US" sz="1600" dirty="0">
                <a:solidFill>
                  <a:srgbClr val="E0D6DE"/>
                </a:solidFill>
                <a:latin typeface="Noto Sans TC" pitchFamily="34" charset="0"/>
                <a:ea typeface="Noto Sans TC" pitchFamily="34" charset="-122"/>
                <a:cs typeface="Noto Sans TC" pitchFamily="34" charset="-120"/>
              </a:rPr>
              <a:t>Bienvenidos a esta presentación sobre la arquitectura del sistema operativo Linux y la gestión de procesos y recursos. Exploraremos los elementos clave que conforman la robusta estructura de este sistema operativo de código abierto, así como las técnicas utilizadas para administrar eficientemente los recursos del sistema. Juntos, descubriremos cómo Linux se ha convertido en una herramienta indispensable en el mundo de la informática.</a:t>
            </a:r>
            <a:endParaRPr lang="en-US" sz="1600" dirty="0"/>
          </a:p>
        </p:txBody>
      </p:sp>
      <p:sp>
        <p:nvSpPr>
          <p:cNvPr id="5" name="Shape 2"/>
          <p:cNvSpPr/>
          <p:nvPr/>
        </p:nvSpPr>
        <p:spPr>
          <a:xfrm>
            <a:off x="714970" y="6962061"/>
            <a:ext cx="326827" cy="326827"/>
          </a:xfrm>
          <a:prstGeom prst="roundRect">
            <a:avLst>
              <a:gd name="adj" fmla="val 27975307"/>
            </a:avLst>
          </a:prstGeom>
          <a:noFill/>
          <a:ln w="7620">
            <a:solidFill>
              <a:srgbClr val="FFFFFF"/>
            </a:solidFill>
            <a:prstDash val="solid"/>
          </a:ln>
        </p:spPr>
      </p:sp>
      <p:pic>
        <p:nvPicPr>
          <p:cNvPr id="6" name="Image 1" descr="preencoded.png">    </p:cNvPr>
          <p:cNvPicPr>
            <a:picLocks noChangeAspect="1"/>
          </p:cNvPicPr>
          <p:nvPr/>
        </p:nvPicPr>
        <p:blipFill>
          <a:blip r:embed="rId2"/>
          <a:stretch>
            <a:fillRect/>
          </a:stretch>
        </p:blipFill>
        <p:spPr>
          <a:xfrm>
            <a:off x="722590" y="6969681"/>
            <a:ext cx="311587" cy="311587"/>
          </a:xfrm>
          <a:prstGeom prst="rect">
            <a:avLst/>
          </a:prstGeom>
        </p:spPr>
      </p:pic>
      <p:sp>
        <p:nvSpPr>
          <p:cNvPr id="7" name="Text 3"/>
          <p:cNvSpPr/>
          <p:nvPr/>
        </p:nvSpPr>
        <p:spPr>
          <a:xfrm>
            <a:off x="1143833" y="6946702"/>
            <a:ext cx="5110043" cy="357545"/>
          </a:xfrm>
          <a:prstGeom prst="rect">
            <a:avLst/>
          </a:prstGeom>
          <a:noFill/>
          <a:ln/>
        </p:spPr>
        <p:txBody>
          <a:bodyPr wrap="none" lIns="0" tIns="0" rIns="0" bIns="0" rtlCol="0" anchor="t"/>
          <a:lstStyle/>
          <a:p>
            <a:pPr algn="l" indent="0" marL="0">
              <a:lnSpc>
                <a:spcPts val="2800"/>
              </a:lnSpc>
              <a:buNone/>
            </a:pPr>
            <a:r>
              <a:rPr lang="en-US" sz="2000" b="1" dirty="0">
                <a:solidFill>
                  <a:srgbClr val="E0D6DE"/>
                </a:solidFill>
                <a:latin typeface="Noto Sans TC Bold" pitchFamily="34" charset="0"/>
                <a:ea typeface="Noto Sans TC Bold" pitchFamily="34" charset="-122"/>
                <a:cs typeface="Noto Sans TC Bold" pitchFamily="34" charset="-120"/>
              </a:rPr>
              <a:t>por KEVIN ERNESTO GARCIA HERNANDEZ</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83669" y="616387"/>
            <a:ext cx="7576661" cy="1399461"/>
          </a:xfrm>
          <a:prstGeom prst="rect">
            <a:avLst/>
          </a:prstGeom>
          <a:noFill/>
          <a:ln/>
        </p:spPr>
        <p:txBody>
          <a:bodyPr wrap="square" lIns="0" tIns="0" rIns="0" bIns="0" rtlCol="0" anchor="t"/>
          <a:lstStyle/>
          <a:p>
            <a:pPr indent="0" marL="0">
              <a:lnSpc>
                <a:spcPts val="5500"/>
              </a:lnSpc>
              <a:buNone/>
            </a:pPr>
            <a:r>
              <a:rPr lang="en-US" sz="4400" dirty="0">
                <a:solidFill>
                  <a:srgbClr val="97B8FF"/>
                </a:solidFill>
                <a:latin typeface="Sora Medium" pitchFamily="34" charset="0"/>
                <a:ea typeface="Sora Medium" pitchFamily="34" charset="-122"/>
                <a:cs typeface="Sora Medium" pitchFamily="34" charset="-120"/>
              </a:rPr>
              <a:t>Objetivos de la Presentación</a:t>
            </a:r>
            <a:endParaRPr lang="en-US" sz="4400" dirty="0"/>
          </a:p>
        </p:txBody>
      </p:sp>
      <p:sp>
        <p:nvSpPr>
          <p:cNvPr id="4" name="Shape 1"/>
          <p:cNvSpPr/>
          <p:nvPr/>
        </p:nvSpPr>
        <p:spPr>
          <a:xfrm>
            <a:off x="783669" y="2603540"/>
            <a:ext cx="503753" cy="503753"/>
          </a:xfrm>
          <a:prstGeom prst="roundRect">
            <a:avLst>
              <a:gd name="adj" fmla="val 6668"/>
            </a:avLst>
          </a:prstGeom>
          <a:solidFill>
            <a:srgbClr val="26262B"/>
          </a:solidFill>
          <a:ln/>
        </p:spPr>
      </p:sp>
      <p:sp>
        <p:nvSpPr>
          <p:cNvPr id="5" name="Text 2"/>
          <p:cNvSpPr/>
          <p:nvPr/>
        </p:nvSpPr>
        <p:spPr>
          <a:xfrm>
            <a:off x="964525" y="2687479"/>
            <a:ext cx="142042" cy="335875"/>
          </a:xfrm>
          <a:prstGeom prst="rect">
            <a:avLst/>
          </a:prstGeom>
          <a:noFill/>
          <a:ln/>
        </p:spPr>
        <p:txBody>
          <a:bodyPr wrap="none" lIns="0" tIns="0" rIns="0" bIns="0" rtlCol="0" anchor="t"/>
          <a:lstStyle/>
          <a:p>
            <a:pPr algn="ctr" indent="0" marL="0">
              <a:lnSpc>
                <a:spcPts val="2600"/>
              </a:lnSpc>
              <a:buNone/>
            </a:pPr>
            <a:r>
              <a:rPr lang="en-US" sz="2600" dirty="0">
                <a:solidFill>
                  <a:srgbClr val="E0D6DE"/>
                </a:solidFill>
                <a:latin typeface="Sora Medium" pitchFamily="34" charset="0"/>
                <a:ea typeface="Sora Medium" pitchFamily="34" charset="-122"/>
                <a:cs typeface="Sora Medium" pitchFamily="34" charset="-120"/>
              </a:rPr>
              <a:t>1</a:t>
            </a:r>
            <a:endParaRPr lang="en-US" sz="2600" dirty="0"/>
          </a:p>
        </p:txBody>
      </p:sp>
      <p:sp>
        <p:nvSpPr>
          <p:cNvPr id="6" name="Text 3"/>
          <p:cNvSpPr/>
          <p:nvPr/>
        </p:nvSpPr>
        <p:spPr>
          <a:xfrm>
            <a:off x="1511260" y="2603540"/>
            <a:ext cx="2948821" cy="1049417"/>
          </a:xfrm>
          <a:prstGeom prst="rect">
            <a:avLst/>
          </a:prstGeom>
          <a:noFill/>
          <a:ln/>
        </p:spPr>
        <p:txBody>
          <a:bodyPr wrap="squar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Comprender la Arquitectura de Linux</a:t>
            </a:r>
            <a:endParaRPr lang="en-US" sz="2200" dirty="0"/>
          </a:p>
        </p:txBody>
      </p:sp>
      <p:sp>
        <p:nvSpPr>
          <p:cNvPr id="7" name="Text 4"/>
          <p:cNvSpPr/>
          <p:nvPr/>
        </p:nvSpPr>
        <p:spPr>
          <a:xfrm>
            <a:off x="1511260" y="3787259"/>
            <a:ext cx="2948821" cy="1791295"/>
          </a:xfrm>
          <a:prstGeom prst="rect">
            <a:avLst/>
          </a:prstGeom>
          <a:noFill/>
          <a:ln/>
        </p:spPr>
        <p:txBody>
          <a:bodyPr wrap="square" lIns="0" tIns="0" rIns="0" bIns="0" rtlCol="0" anchor="t"/>
          <a:lstStyle/>
          <a:p>
            <a:pPr indent="0" marL="0">
              <a:lnSpc>
                <a:spcPts val="2800"/>
              </a:lnSpc>
              <a:buNone/>
            </a:pPr>
            <a:r>
              <a:rPr lang="en-US" sz="1750" dirty="0">
                <a:solidFill>
                  <a:srgbClr val="E0D6DE"/>
                </a:solidFill>
                <a:latin typeface="Noto Sans TC" pitchFamily="34" charset="0"/>
                <a:ea typeface="Noto Sans TC" pitchFamily="34" charset="-122"/>
                <a:cs typeface="Noto Sans TC" pitchFamily="34" charset="-120"/>
              </a:rPr>
              <a:t>Conocer los principios fundamentales y los componentes clave que conforman la estructura del sistema operativo Linux.</a:t>
            </a:r>
            <a:endParaRPr lang="en-US" sz="1750" dirty="0"/>
          </a:p>
        </p:txBody>
      </p:sp>
      <p:sp>
        <p:nvSpPr>
          <p:cNvPr id="8" name="Shape 5"/>
          <p:cNvSpPr/>
          <p:nvPr/>
        </p:nvSpPr>
        <p:spPr>
          <a:xfrm>
            <a:off x="4683919" y="2603540"/>
            <a:ext cx="503753" cy="503753"/>
          </a:xfrm>
          <a:prstGeom prst="roundRect">
            <a:avLst>
              <a:gd name="adj" fmla="val 6668"/>
            </a:avLst>
          </a:prstGeom>
          <a:solidFill>
            <a:srgbClr val="26262B"/>
          </a:solidFill>
          <a:ln/>
        </p:spPr>
      </p:sp>
      <p:sp>
        <p:nvSpPr>
          <p:cNvPr id="9" name="Text 6"/>
          <p:cNvSpPr/>
          <p:nvPr/>
        </p:nvSpPr>
        <p:spPr>
          <a:xfrm>
            <a:off x="4831199" y="2687479"/>
            <a:ext cx="209193" cy="335875"/>
          </a:xfrm>
          <a:prstGeom prst="rect">
            <a:avLst/>
          </a:prstGeom>
          <a:noFill/>
          <a:ln/>
        </p:spPr>
        <p:txBody>
          <a:bodyPr wrap="none" lIns="0" tIns="0" rIns="0" bIns="0" rtlCol="0" anchor="t"/>
          <a:lstStyle/>
          <a:p>
            <a:pPr algn="ctr" indent="0" marL="0">
              <a:lnSpc>
                <a:spcPts val="2600"/>
              </a:lnSpc>
              <a:buNone/>
            </a:pPr>
            <a:r>
              <a:rPr lang="en-US" sz="2600" dirty="0">
                <a:solidFill>
                  <a:srgbClr val="E0D6DE"/>
                </a:solidFill>
                <a:latin typeface="Sora Medium" pitchFamily="34" charset="0"/>
                <a:ea typeface="Sora Medium" pitchFamily="34" charset="-122"/>
                <a:cs typeface="Sora Medium" pitchFamily="34" charset="-120"/>
              </a:rPr>
              <a:t>2</a:t>
            </a:r>
            <a:endParaRPr lang="en-US" sz="2600" dirty="0"/>
          </a:p>
        </p:txBody>
      </p:sp>
      <p:sp>
        <p:nvSpPr>
          <p:cNvPr id="10" name="Text 7"/>
          <p:cNvSpPr/>
          <p:nvPr/>
        </p:nvSpPr>
        <p:spPr>
          <a:xfrm>
            <a:off x="5411510" y="2603540"/>
            <a:ext cx="2948821" cy="699611"/>
          </a:xfrm>
          <a:prstGeom prst="rect">
            <a:avLst/>
          </a:prstGeom>
          <a:noFill/>
          <a:ln/>
        </p:spPr>
        <p:txBody>
          <a:bodyPr wrap="squar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Explorar la Gestión de Procesos</a:t>
            </a:r>
            <a:endParaRPr lang="en-US" sz="2200" dirty="0"/>
          </a:p>
        </p:txBody>
      </p:sp>
      <p:sp>
        <p:nvSpPr>
          <p:cNvPr id="11" name="Text 8"/>
          <p:cNvSpPr/>
          <p:nvPr/>
        </p:nvSpPr>
        <p:spPr>
          <a:xfrm>
            <a:off x="5411510" y="3437453"/>
            <a:ext cx="2948821" cy="1791295"/>
          </a:xfrm>
          <a:prstGeom prst="rect">
            <a:avLst/>
          </a:prstGeom>
          <a:noFill/>
          <a:ln/>
        </p:spPr>
        <p:txBody>
          <a:bodyPr wrap="square" lIns="0" tIns="0" rIns="0" bIns="0" rtlCol="0" anchor="t"/>
          <a:lstStyle/>
          <a:p>
            <a:pPr indent="0" marL="0">
              <a:lnSpc>
                <a:spcPts val="2800"/>
              </a:lnSpc>
              <a:buNone/>
            </a:pPr>
            <a:r>
              <a:rPr lang="en-US" sz="1750" dirty="0">
                <a:solidFill>
                  <a:srgbClr val="E0D6DE"/>
                </a:solidFill>
                <a:latin typeface="Noto Sans TC" pitchFamily="34" charset="0"/>
                <a:ea typeface="Noto Sans TC" pitchFamily="34" charset="-122"/>
                <a:cs typeface="Noto Sans TC" pitchFamily="34" charset="-120"/>
              </a:rPr>
              <a:t>Analizar cómo Linux maneja y programa los procesos y threads para optimizar el uso de los recursos del sistema.</a:t>
            </a:r>
            <a:endParaRPr lang="en-US" sz="1750" dirty="0"/>
          </a:p>
        </p:txBody>
      </p:sp>
      <p:sp>
        <p:nvSpPr>
          <p:cNvPr id="12" name="Shape 9"/>
          <p:cNvSpPr/>
          <p:nvPr/>
        </p:nvSpPr>
        <p:spPr>
          <a:xfrm>
            <a:off x="783669" y="6054209"/>
            <a:ext cx="503753" cy="503753"/>
          </a:xfrm>
          <a:prstGeom prst="roundRect">
            <a:avLst>
              <a:gd name="adj" fmla="val 6668"/>
            </a:avLst>
          </a:prstGeom>
          <a:solidFill>
            <a:srgbClr val="26262B"/>
          </a:solidFill>
          <a:ln/>
        </p:spPr>
      </p:sp>
      <p:sp>
        <p:nvSpPr>
          <p:cNvPr id="13" name="Text 10"/>
          <p:cNvSpPr/>
          <p:nvPr/>
        </p:nvSpPr>
        <p:spPr>
          <a:xfrm>
            <a:off x="931426" y="6138148"/>
            <a:ext cx="208240" cy="335875"/>
          </a:xfrm>
          <a:prstGeom prst="rect">
            <a:avLst/>
          </a:prstGeom>
          <a:noFill/>
          <a:ln/>
        </p:spPr>
        <p:txBody>
          <a:bodyPr wrap="none" lIns="0" tIns="0" rIns="0" bIns="0" rtlCol="0" anchor="t"/>
          <a:lstStyle/>
          <a:p>
            <a:pPr algn="ctr" indent="0" marL="0">
              <a:lnSpc>
                <a:spcPts val="2600"/>
              </a:lnSpc>
              <a:buNone/>
            </a:pPr>
            <a:r>
              <a:rPr lang="en-US" sz="2600" dirty="0">
                <a:solidFill>
                  <a:srgbClr val="E0D6DE"/>
                </a:solidFill>
                <a:latin typeface="Sora Medium" pitchFamily="34" charset="0"/>
                <a:ea typeface="Sora Medium" pitchFamily="34" charset="-122"/>
                <a:cs typeface="Sora Medium" pitchFamily="34" charset="-120"/>
              </a:rPr>
              <a:t>3</a:t>
            </a:r>
            <a:endParaRPr lang="en-US" sz="2600" dirty="0"/>
          </a:p>
        </p:txBody>
      </p:sp>
      <p:sp>
        <p:nvSpPr>
          <p:cNvPr id="14" name="Text 11"/>
          <p:cNvSpPr/>
          <p:nvPr/>
        </p:nvSpPr>
        <p:spPr>
          <a:xfrm>
            <a:off x="1511260" y="6054209"/>
            <a:ext cx="6642497" cy="349806"/>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Aprender sobre la Administración de Recursos</a:t>
            </a:r>
            <a:endParaRPr lang="en-US" sz="2200" dirty="0"/>
          </a:p>
        </p:txBody>
      </p:sp>
      <p:sp>
        <p:nvSpPr>
          <p:cNvPr id="15" name="Text 12"/>
          <p:cNvSpPr/>
          <p:nvPr/>
        </p:nvSpPr>
        <p:spPr>
          <a:xfrm>
            <a:off x="1511260" y="6538317"/>
            <a:ext cx="6849070" cy="1074777"/>
          </a:xfrm>
          <a:prstGeom prst="rect">
            <a:avLst/>
          </a:prstGeom>
          <a:noFill/>
          <a:ln/>
        </p:spPr>
        <p:txBody>
          <a:bodyPr wrap="square" lIns="0" tIns="0" rIns="0" bIns="0" rtlCol="0" anchor="t"/>
          <a:lstStyle/>
          <a:p>
            <a:pPr indent="0" marL="0">
              <a:lnSpc>
                <a:spcPts val="2800"/>
              </a:lnSpc>
              <a:buNone/>
            </a:pPr>
            <a:r>
              <a:rPr lang="en-US" sz="1750" dirty="0">
                <a:solidFill>
                  <a:srgbClr val="E0D6DE"/>
                </a:solidFill>
                <a:latin typeface="Noto Sans TC" pitchFamily="34" charset="0"/>
                <a:ea typeface="Noto Sans TC" pitchFamily="34" charset="-122"/>
                <a:cs typeface="Noto Sans TC" pitchFamily="34" charset="-120"/>
              </a:rPr>
              <a:t>Comprender las técnicas utilizadas para asignar y optimizar el uso de los recursos del sistema, como la memoria, el CPU y el almacenamiento.</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69802"/>
            <a:ext cx="11587282" cy="708779"/>
          </a:xfrm>
          <a:prstGeom prst="rect">
            <a:avLst/>
          </a:prstGeom>
          <a:noFill/>
          <a:ln/>
        </p:spPr>
        <p:txBody>
          <a:bodyPr wrap="none" lIns="0" tIns="0" rIns="0" bIns="0" rtlCol="0" anchor="t"/>
          <a:lstStyle/>
          <a:p>
            <a:pPr indent="0" marL="0">
              <a:lnSpc>
                <a:spcPts val="5550"/>
              </a:lnSpc>
              <a:buNone/>
            </a:pPr>
            <a:r>
              <a:rPr lang="en-US" sz="4450" dirty="0">
                <a:solidFill>
                  <a:srgbClr val="97B8FF"/>
                </a:solidFill>
                <a:latin typeface="Sora Medium" pitchFamily="34" charset="0"/>
                <a:ea typeface="Sora Medium" pitchFamily="34" charset="-122"/>
                <a:cs typeface="Sora Medium" pitchFamily="34" charset="-120"/>
              </a:rPr>
              <a:t>Introducción al Sistema Operativo Linux</a:t>
            </a:r>
            <a:endParaRPr lang="en-US" sz="4450" dirty="0"/>
          </a:p>
        </p:txBody>
      </p:sp>
      <p:sp>
        <p:nvSpPr>
          <p:cNvPr id="3" name="Text 1"/>
          <p:cNvSpPr/>
          <p:nvPr/>
        </p:nvSpPr>
        <p:spPr>
          <a:xfrm>
            <a:off x="793790" y="2545556"/>
            <a:ext cx="2835235" cy="354330"/>
          </a:xfrm>
          <a:prstGeom prst="rect">
            <a:avLst/>
          </a:prstGeom>
          <a:noFill/>
          <a:ln/>
        </p:spPr>
        <p:txBody>
          <a:bodyPr wrap="none" lIns="0" tIns="0" rIns="0" bIns="0" rtlCol="0" anchor="t"/>
          <a:lstStyle/>
          <a:p>
            <a:pPr indent="0" marL="0">
              <a:lnSpc>
                <a:spcPts val="2750"/>
              </a:lnSpc>
              <a:buNone/>
            </a:pPr>
            <a:r>
              <a:rPr lang="en-US" sz="2200" dirty="0">
                <a:solidFill>
                  <a:srgbClr val="97B8FF"/>
                </a:solidFill>
                <a:latin typeface="Sora Medium" pitchFamily="34" charset="0"/>
                <a:ea typeface="Sora Medium" pitchFamily="34" charset="-122"/>
                <a:cs typeface="Sora Medium" pitchFamily="34" charset="-120"/>
              </a:rPr>
              <a:t>Historia y Orígenes</a:t>
            </a:r>
            <a:endParaRPr lang="en-US" sz="2200" dirty="0"/>
          </a:p>
        </p:txBody>
      </p:sp>
      <p:sp>
        <p:nvSpPr>
          <p:cNvPr id="4" name="Text 2"/>
          <p:cNvSpPr/>
          <p:nvPr/>
        </p:nvSpPr>
        <p:spPr>
          <a:xfrm>
            <a:off x="793790" y="3126700"/>
            <a:ext cx="3978116" cy="3629025"/>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Linux fue originalmente desarrollado por Linus Torvalds en 1991 como un proyecto de software libre y de código abierto. Desde entonces, ha evolucionado convirtiéndose en uno de los sistemas operativos más utilizados en el mundo, especialmente en servidores, supercomputadoras y dispositivos embebidos.</a:t>
            </a:r>
            <a:endParaRPr lang="en-US" sz="1750" dirty="0"/>
          </a:p>
        </p:txBody>
      </p:sp>
      <p:sp>
        <p:nvSpPr>
          <p:cNvPr id="5" name="Text 3"/>
          <p:cNvSpPr/>
          <p:nvPr/>
        </p:nvSpPr>
        <p:spPr>
          <a:xfrm>
            <a:off x="5332928" y="2545556"/>
            <a:ext cx="3072289" cy="354330"/>
          </a:xfrm>
          <a:prstGeom prst="rect">
            <a:avLst/>
          </a:prstGeom>
          <a:noFill/>
          <a:ln/>
        </p:spPr>
        <p:txBody>
          <a:bodyPr wrap="none" lIns="0" tIns="0" rIns="0" bIns="0" rtlCol="0" anchor="t"/>
          <a:lstStyle/>
          <a:p>
            <a:pPr indent="0" marL="0">
              <a:lnSpc>
                <a:spcPts val="2750"/>
              </a:lnSpc>
              <a:buNone/>
            </a:pPr>
            <a:r>
              <a:rPr lang="en-US" sz="2200" dirty="0">
                <a:solidFill>
                  <a:srgbClr val="97B8FF"/>
                </a:solidFill>
                <a:latin typeface="Sora Medium" pitchFamily="34" charset="0"/>
                <a:ea typeface="Sora Medium" pitchFamily="34" charset="-122"/>
                <a:cs typeface="Sora Medium" pitchFamily="34" charset="-120"/>
              </a:rPr>
              <a:t>Características Clave</a:t>
            </a:r>
            <a:endParaRPr lang="en-US" sz="2200" dirty="0"/>
          </a:p>
        </p:txBody>
      </p:sp>
      <p:sp>
        <p:nvSpPr>
          <p:cNvPr id="6" name="Text 4"/>
          <p:cNvSpPr/>
          <p:nvPr/>
        </p:nvSpPr>
        <p:spPr>
          <a:xfrm>
            <a:off x="5332928" y="3126700"/>
            <a:ext cx="3978116" cy="290322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Linux se destaca por su estabilidad, seguridad, escalabilidad y flexibilidad. Cuenta con una amplia variedad de distribuciones, cada una con sus propias características y funcionalidades, lo que lo convierte en una opción adaptable a diversas necesidades.</a:t>
            </a:r>
            <a:endParaRPr lang="en-US" sz="1750" dirty="0"/>
          </a:p>
        </p:txBody>
      </p:sp>
      <p:sp>
        <p:nvSpPr>
          <p:cNvPr id="7" name="Text 5"/>
          <p:cNvSpPr/>
          <p:nvPr/>
        </p:nvSpPr>
        <p:spPr>
          <a:xfrm>
            <a:off x="9872067" y="2545556"/>
            <a:ext cx="2894648" cy="354330"/>
          </a:xfrm>
          <a:prstGeom prst="rect">
            <a:avLst/>
          </a:prstGeom>
          <a:noFill/>
          <a:ln/>
        </p:spPr>
        <p:txBody>
          <a:bodyPr wrap="none" lIns="0" tIns="0" rIns="0" bIns="0" rtlCol="0" anchor="t"/>
          <a:lstStyle/>
          <a:p>
            <a:pPr indent="0" marL="0">
              <a:lnSpc>
                <a:spcPts val="2750"/>
              </a:lnSpc>
              <a:buNone/>
            </a:pPr>
            <a:r>
              <a:rPr lang="en-US" sz="2200" dirty="0">
                <a:solidFill>
                  <a:srgbClr val="97B8FF"/>
                </a:solidFill>
                <a:latin typeface="Sora Medium" pitchFamily="34" charset="0"/>
                <a:ea typeface="Sora Medium" pitchFamily="34" charset="-122"/>
                <a:cs typeface="Sora Medium" pitchFamily="34" charset="-120"/>
              </a:rPr>
              <a:t>Aplicaciones y Usos</a:t>
            </a:r>
            <a:endParaRPr lang="en-US" sz="2200" dirty="0"/>
          </a:p>
        </p:txBody>
      </p:sp>
      <p:sp>
        <p:nvSpPr>
          <p:cNvPr id="8" name="Text 6"/>
          <p:cNvSpPr/>
          <p:nvPr/>
        </p:nvSpPr>
        <p:spPr>
          <a:xfrm>
            <a:off x="9872067" y="3126700"/>
            <a:ext cx="3978116" cy="290322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Además de su uso en servidores y supercomputadoras, Linux también se ha extendido a entornos de escritorio, móviles, IoT y en una amplia gama de dispositivos. Su código abierto y su comunidad activa lo convierten en una plataforma innovadora y en constante evolución.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182297"/>
          </a:xfrm>
          <a:prstGeom prst="rect">
            <a:avLst/>
          </a:prstGeom>
        </p:spPr>
      </p:pic>
      <p:sp>
        <p:nvSpPr>
          <p:cNvPr id="3" name="Text 0"/>
          <p:cNvSpPr/>
          <p:nvPr/>
        </p:nvSpPr>
        <p:spPr>
          <a:xfrm>
            <a:off x="611029" y="2801660"/>
            <a:ext cx="9734907" cy="545544"/>
          </a:xfrm>
          <a:prstGeom prst="rect">
            <a:avLst/>
          </a:prstGeom>
          <a:noFill/>
          <a:ln/>
        </p:spPr>
        <p:txBody>
          <a:bodyPr wrap="none" lIns="0" tIns="0" rIns="0" bIns="0" rtlCol="0" anchor="t"/>
          <a:lstStyle/>
          <a:p>
            <a:pPr indent="0" marL="0">
              <a:lnSpc>
                <a:spcPts val="4250"/>
              </a:lnSpc>
              <a:buNone/>
            </a:pPr>
            <a:r>
              <a:rPr lang="en-US" sz="3400" dirty="0">
                <a:solidFill>
                  <a:srgbClr val="97B8FF"/>
                </a:solidFill>
                <a:latin typeface="Sora Medium" pitchFamily="34" charset="0"/>
                <a:ea typeface="Sora Medium" pitchFamily="34" charset="-122"/>
                <a:cs typeface="Sora Medium" pitchFamily="34" charset="-120"/>
              </a:rPr>
              <a:t>Elementos Clave de la Arquitectura de Linux</a:t>
            </a:r>
            <a:endParaRPr lang="en-US" sz="3400" dirty="0"/>
          </a:p>
        </p:txBody>
      </p:sp>
      <p:sp>
        <p:nvSpPr>
          <p:cNvPr id="4" name="Shape 1"/>
          <p:cNvSpPr/>
          <p:nvPr/>
        </p:nvSpPr>
        <p:spPr>
          <a:xfrm>
            <a:off x="611029" y="5609630"/>
            <a:ext cx="13408343" cy="22860"/>
          </a:xfrm>
          <a:prstGeom prst="roundRect">
            <a:avLst>
              <a:gd name="adj" fmla="val 114557"/>
            </a:avLst>
          </a:prstGeom>
          <a:solidFill>
            <a:srgbClr val="3F3F44"/>
          </a:solidFill>
          <a:ln/>
        </p:spPr>
      </p:sp>
      <p:sp>
        <p:nvSpPr>
          <p:cNvPr id="5" name="Shape 2"/>
          <p:cNvSpPr/>
          <p:nvPr/>
        </p:nvSpPr>
        <p:spPr>
          <a:xfrm>
            <a:off x="3907869" y="4998660"/>
            <a:ext cx="22860" cy="611029"/>
          </a:xfrm>
          <a:prstGeom prst="roundRect">
            <a:avLst>
              <a:gd name="adj" fmla="val 114557"/>
            </a:avLst>
          </a:prstGeom>
          <a:solidFill>
            <a:srgbClr val="3F3F44"/>
          </a:solidFill>
          <a:ln/>
        </p:spPr>
      </p:sp>
      <p:sp>
        <p:nvSpPr>
          <p:cNvPr id="6" name="Shape 3"/>
          <p:cNvSpPr/>
          <p:nvPr/>
        </p:nvSpPr>
        <p:spPr>
          <a:xfrm>
            <a:off x="3722965" y="5413236"/>
            <a:ext cx="392787" cy="392787"/>
          </a:xfrm>
          <a:prstGeom prst="roundRect">
            <a:avLst>
              <a:gd name="adj" fmla="val 6667"/>
            </a:avLst>
          </a:prstGeom>
          <a:solidFill>
            <a:srgbClr val="26262B"/>
          </a:solidFill>
          <a:ln/>
        </p:spPr>
      </p:sp>
      <p:sp>
        <p:nvSpPr>
          <p:cNvPr id="7" name="Text 4"/>
          <p:cNvSpPr/>
          <p:nvPr/>
        </p:nvSpPr>
        <p:spPr>
          <a:xfrm>
            <a:off x="3863935" y="5478720"/>
            <a:ext cx="110847" cy="261818"/>
          </a:xfrm>
          <a:prstGeom prst="rect">
            <a:avLst/>
          </a:prstGeom>
          <a:noFill/>
          <a:ln/>
        </p:spPr>
        <p:txBody>
          <a:bodyPr wrap="none" lIns="0" tIns="0" rIns="0" bIns="0" rtlCol="0" anchor="t"/>
          <a:lstStyle/>
          <a:p>
            <a:pPr algn="ctr" indent="0" marL="0">
              <a:lnSpc>
                <a:spcPts val="2050"/>
              </a:lnSpc>
              <a:buNone/>
            </a:pPr>
            <a:r>
              <a:rPr lang="en-US" sz="2050" dirty="0">
                <a:solidFill>
                  <a:srgbClr val="E0D6DE"/>
                </a:solidFill>
                <a:latin typeface="Sora Medium" pitchFamily="34" charset="0"/>
                <a:ea typeface="Sora Medium" pitchFamily="34" charset="-122"/>
                <a:cs typeface="Sora Medium" pitchFamily="34" charset="-120"/>
              </a:rPr>
              <a:t>1</a:t>
            </a:r>
            <a:endParaRPr lang="en-US" sz="2050" dirty="0"/>
          </a:p>
        </p:txBody>
      </p:sp>
      <p:sp>
        <p:nvSpPr>
          <p:cNvPr id="8" name="Text 5"/>
          <p:cNvSpPr/>
          <p:nvPr/>
        </p:nvSpPr>
        <p:spPr>
          <a:xfrm>
            <a:off x="2828330" y="3609023"/>
            <a:ext cx="2182297" cy="272772"/>
          </a:xfrm>
          <a:prstGeom prst="rect">
            <a:avLst/>
          </a:prstGeom>
          <a:noFill/>
          <a:ln/>
        </p:spPr>
        <p:txBody>
          <a:bodyPr wrap="none" lIns="0" tIns="0" rIns="0" bIns="0" rtlCol="0" anchor="t"/>
          <a:lstStyle/>
          <a:p>
            <a:pPr algn="ctr" indent="0" marL="0">
              <a:lnSpc>
                <a:spcPts val="2100"/>
              </a:lnSpc>
              <a:buNone/>
            </a:pPr>
            <a:r>
              <a:rPr lang="en-US" sz="1700" dirty="0">
                <a:solidFill>
                  <a:srgbClr val="E0D6DE"/>
                </a:solidFill>
                <a:latin typeface="Sora Medium" pitchFamily="34" charset="0"/>
                <a:ea typeface="Sora Medium" pitchFamily="34" charset="-122"/>
                <a:cs typeface="Sora Medium" pitchFamily="34" charset="-120"/>
              </a:rPr>
              <a:t>Kernel</a:t>
            </a:r>
            <a:endParaRPr lang="en-US" sz="1700" dirty="0"/>
          </a:p>
        </p:txBody>
      </p:sp>
      <p:sp>
        <p:nvSpPr>
          <p:cNvPr id="9" name="Text 6"/>
          <p:cNvSpPr/>
          <p:nvPr/>
        </p:nvSpPr>
        <p:spPr>
          <a:xfrm>
            <a:off x="785574" y="3986451"/>
            <a:ext cx="6267807" cy="837605"/>
          </a:xfrm>
          <a:prstGeom prst="rect">
            <a:avLst/>
          </a:prstGeom>
          <a:noFill/>
          <a:ln/>
        </p:spPr>
        <p:txBody>
          <a:bodyPr wrap="square" lIns="0" tIns="0" rIns="0" bIns="0" rtlCol="0" anchor="t"/>
          <a:lstStyle/>
          <a:p>
            <a:pPr algn="ctr" indent="0" marL="0">
              <a:lnSpc>
                <a:spcPts val="2150"/>
              </a:lnSpc>
              <a:buNone/>
            </a:pPr>
            <a:r>
              <a:rPr lang="en-US" sz="1350" dirty="0">
                <a:solidFill>
                  <a:srgbClr val="E0D6DE"/>
                </a:solidFill>
                <a:latin typeface="Noto Sans TC" pitchFamily="34" charset="0"/>
                <a:ea typeface="Noto Sans TC" pitchFamily="34" charset="-122"/>
                <a:cs typeface="Noto Sans TC" pitchFamily="34" charset="-120"/>
              </a:rPr>
              <a:t>El núcleo o kernel de Linux es el componente central del sistema operativo, responsable del control y la gestión de los recursos del hardware, así como de la comunicación entre el software y el hardware.</a:t>
            </a:r>
            <a:endParaRPr lang="en-US" sz="1350" dirty="0"/>
          </a:p>
        </p:txBody>
      </p:sp>
      <p:sp>
        <p:nvSpPr>
          <p:cNvPr id="10" name="Shape 7"/>
          <p:cNvSpPr/>
          <p:nvPr/>
        </p:nvSpPr>
        <p:spPr>
          <a:xfrm>
            <a:off x="7303532" y="5609570"/>
            <a:ext cx="22860" cy="611029"/>
          </a:xfrm>
          <a:prstGeom prst="roundRect">
            <a:avLst>
              <a:gd name="adj" fmla="val 114557"/>
            </a:avLst>
          </a:prstGeom>
          <a:solidFill>
            <a:srgbClr val="3F3F44"/>
          </a:solidFill>
          <a:ln/>
        </p:spPr>
      </p:sp>
      <p:sp>
        <p:nvSpPr>
          <p:cNvPr id="11" name="Shape 8"/>
          <p:cNvSpPr/>
          <p:nvPr/>
        </p:nvSpPr>
        <p:spPr>
          <a:xfrm>
            <a:off x="7118628" y="5413236"/>
            <a:ext cx="392787" cy="392787"/>
          </a:xfrm>
          <a:prstGeom prst="roundRect">
            <a:avLst>
              <a:gd name="adj" fmla="val 6667"/>
            </a:avLst>
          </a:prstGeom>
          <a:solidFill>
            <a:srgbClr val="26262B"/>
          </a:solidFill>
          <a:ln/>
        </p:spPr>
      </p:sp>
      <p:sp>
        <p:nvSpPr>
          <p:cNvPr id="12" name="Text 9"/>
          <p:cNvSpPr/>
          <p:nvPr/>
        </p:nvSpPr>
        <p:spPr>
          <a:xfrm>
            <a:off x="7233404" y="5478720"/>
            <a:ext cx="163116" cy="261818"/>
          </a:xfrm>
          <a:prstGeom prst="rect">
            <a:avLst/>
          </a:prstGeom>
          <a:noFill/>
          <a:ln/>
        </p:spPr>
        <p:txBody>
          <a:bodyPr wrap="none" lIns="0" tIns="0" rIns="0" bIns="0" rtlCol="0" anchor="t"/>
          <a:lstStyle/>
          <a:p>
            <a:pPr algn="ctr" indent="0" marL="0">
              <a:lnSpc>
                <a:spcPts val="2050"/>
              </a:lnSpc>
              <a:buNone/>
            </a:pPr>
            <a:r>
              <a:rPr lang="en-US" sz="2050" dirty="0">
                <a:solidFill>
                  <a:srgbClr val="E0D6DE"/>
                </a:solidFill>
                <a:latin typeface="Sora Medium" pitchFamily="34" charset="0"/>
                <a:ea typeface="Sora Medium" pitchFamily="34" charset="-122"/>
                <a:cs typeface="Sora Medium" pitchFamily="34" charset="-120"/>
              </a:rPr>
              <a:t>2</a:t>
            </a:r>
            <a:endParaRPr lang="en-US" sz="2050" dirty="0"/>
          </a:p>
        </p:txBody>
      </p:sp>
      <p:sp>
        <p:nvSpPr>
          <p:cNvPr id="13" name="Text 10"/>
          <p:cNvSpPr/>
          <p:nvPr/>
        </p:nvSpPr>
        <p:spPr>
          <a:xfrm>
            <a:off x="6223992" y="6395204"/>
            <a:ext cx="2182297" cy="272772"/>
          </a:xfrm>
          <a:prstGeom prst="rect">
            <a:avLst/>
          </a:prstGeom>
          <a:noFill/>
          <a:ln/>
        </p:spPr>
        <p:txBody>
          <a:bodyPr wrap="none" lIns="0" tIns="0" rIns="0" bIns="0" rtlCol="0" anchor="t"/>
          <a:lstStyle/>
          <a:p>
            <a:pPr algn="ctr" indent="0" marL="0">
              <a:lnSpc>
                <a:spcPts val="2100"/>
              </a:lnSpc>
              <a:buNone/>
            </a:pPr>
            <a:r>
              <a:rPr lang="en-US" sz="1700" dirty="0">
                <a:solidFill>
                  <a:srgbClr val="E0D6DE"/>
                </a:solidFill>
                <a:latin typeface="Sora Medium" pitchFamily="34" charset="0"/>
                <a:ea typeface="Sora Medium" pitchFamily="34" charset="-122"/>
                <a:cs typeface="Sora Medium" pitchFamily="34" charset="-120"/>
              </a:rPr>
              <a:t>Shell</a:t>
            </a:r>
            <a:endParaRPr lang="en-US" sz="1700" dirty="0"/>
          </a:p>
        </p:txBody>
      </p:sp>
      <p:sp>
        <p:nvSpPr>
          <p:cNvPr id="14" name="Text 11"/>
          <p:cNvSpPr/>
          <p:nvPr/>
        </p:nvSpPr>
        <p:spPr>
          <a:xfrm>
            <a:off x="4181237" y="6772632"/>
            <a:ext cx="6267807" cy="837605"/>
          </a:xfrm>
          <a:prstGeom prst="rect">
            <a:avLst/>
          </a:prstGeom>
          <a:noFill/>
          <a:ln/>
        </p:spPr>
        <p:txBody>
          <a:bodyPr wrap="square" lIns="0" tIns="0" rIns="0" bIns="0" rtlCol="0" anchor="t"/>
          <a:lstStyle/>
          <a:p>
            <a:pPr algn="ctr" indent="0" marL="0">
              <a:lnSpc>
                <a:spcPts val="2150"/>
              </a:lnSpc>
              <a:buNone/>
            </a:pPr>
            <a:r>
              <a:rPr lang="en-US" sz="1350" dirty="0">
                <a:solidFill>
                  <a:srgbClr val="E0D6DE"/>
                </a:solidFill>
                <a:latin typeface="Noto Sans TC" pitchFamily="34" charset="0"/>
                <a:ea typeface="Noto Sans TC" pitchFamily="34" charset="-122"/>
                <a:cs typeface="Noto Sans TC" pitchFamily="34" charset="-120"/>
              </a:rPr>
              <a:t>La shell de Linux, también conocida como intérprete de comandos, es la interfaz de usuario que permite a los usuarios interactuar con el sistema operativo a través de comandos y scripts.</a:t>
            </a:r>
            <a:endParaRPr lang="en-US" sz="1350" dirty="0"/>
          </a:p>
        </p:txBody>
      </p:sp>
      <p:sp>
        <p:nvSpPr>
          <p:cNvPr id="15" name="Shape 12"/>
          <p:cNvSpPr/>
          <p:nvPr/>
        </p:nvSpPr>
        <p:spPr>
          <a:xfrm>
            <a:off x="10699313" y="4998660"/>
            <a:ext cx="22860" cy="611029"/>
          </a:xfrm>
          <a:prstGeom prst="roundRect">
            <a:avLst>
              <a:gd name="adj" fmla="val 114557"/>
            </a:avLst>
          </a:prstGeom>
          <a:solidFill>
            <a:srgbClr val="3F3F44"/>
          </a:solidFill>
          <a:ln/>
        </p:spPr>
      </p:sp>
      <p:sp>
        <p:nvSpPr>
          <p:cNvPr id="16" name="Shape 13"/>
          <p:cNvSpPr/>
          <p:nvPr/>
        </p:nvSpPr>
        <p:spPr>
          <a:xfrm>
            <a:off x="10514409" y="5413236"/>
            <a:ext cx="392787" cy="392787"/>
          </a:xfrm>
          <a:prstGeom prst="roundRect">
            <a:avLst>
              <a:gd name="adj" fmla="val 6667"/>
            </a:avLst>
          </a:prstGeom>
          <a:solidFill>
            <a:srgbClr val="26262B"/>
          </a:solidFill>
          <a:ln/>
        </p:spPr>
      </p:sp>
      <p:sp>
        <p:nvSpPr>
          <p:cNvPr id="17" name="Text 14"/>
          <p:cNvSpPr/>
          <p:nvPr/>
        </p:nvSpPr>
        <p:spPr>
          <a:xfrm>
            <a:off x="10629543" y="5478720"/>
            <a:ext cx="162401" cy="261818"/>
          </a:xfrm>
          <a:prstGeom prst="rect">
            <a:avLst/>
          </a:prstGeom>
          <a:noFill/>
          <a:ln/>
        </p:spPr>
        <p:txBody>
          <a:bodyPr wrap="none" lIns="0" tIns="0" rIns="0" bIns="0" rtlCol="0" anchor="t"/>
          <a:lstStyle/>
          <a:p>
            <a:pPr algn="ctr" indent="0" marL="0">
              <a:lnSpc>
                <a:spcPts val="2050"/>
              </a:lnSpc>
              <a:buNone/>
            </a:pPr>
            <a:r>
              <a:rPr lang="en-US" sz="2050" dirty="0">
                <a:solidFill>
                  <a:srgbClr val="E0D6DE"/>
                </a:solidFill>
                <a:latin typeface="Sora Medium" pitchFamily="34" charset="0"/>
                <a:ea typeface="Sora Medium" pitchFamily="34" charset="-122"/>
                <a:cs typeface="Sora Medium" pitchFamily="34" charset="-120"/>
              </a:rPr>
              <a:t>3</a:t>
            </a:r>
            <a:endParaRPr lang="en-US" sz="2050" dirty="0"/>
          </a:p>
        </p:txBody>
      </p:sp>
      <p:sp>
        <p:nvSpPr>
          <p:cNvPr id="18" name="Text 15"/>
          <p:cNvSpPr/>
          <p:nvPr/>
        </p:nvSpPr>
        <p:spPr>
          <a:xfrm>
            <a:off x="9454039" y="3609023"/>
            <a:ext cx="2513647" cy="272772"/>
          </a:xfrm>
          <a:prstGeom prst="rect">
            <a:avLst/>
          </a:prstGeom>
          <a:noFill/>
          <a:ln/>
        </p:spPr>
        <p:txBody>
          <a:bodyPr wrap="none" lIns="0" tIns="0" rIns="0" bIns="0" rtlCol="0" anchor="t"/>
          <a:lstStyle/>
          <a:p>
            <a:pPr algn="ctr" indent="0" marL="0">
              <a:lnSpc>
                <a:spcPts val="2100"/>
              </a:lnSpc>
              <a:buNone/>
            </a:pPr>
            <a:r>
              <a:rPr lang="en-US" sz="1700" dirty="0">
                <a:solidFill>
                  <a:srgbClr val="E0D6DE"/>
                </a:solidFill>
                <a:latin typeface="Sora Medium" pitchFamily="34" charset="0"/>
                <a:ea typeface="Sora Medium" pitchFamily="34" charset="-122"/>
                <a:cs typeface="Sora Medium" pitchFamily="34" charset="-120"/>
              </a:rPr>
              <a:t>Servicios y Bibliotecas</a:t>
            </a:r>
            <a:endParaRPr lang="en-US" sz="1700" dirty="0"/>
          </a:p>
        </p:txBody>
      </p:sp>
      <p:sp>
        <p:nvSpPr>
          <p:cNvPr id="19" name="Text 16"/>
          <p:cNvSpPr/>
          <p:nvPr/>
        </p:nvSpPr>
        <p:spPr>
          <a:xfrm>
            <a:off x="7577018" y="3986451"/>
            <a:ext cx="6267807" cy="837605"/>
          </a:xfrm>
          <a:prstGeom prst="rect">
            <a:avLst/>
          </a:prstGeom>
          <a:noFill/>
          <a:ln/>
        </p:spPr>
        <p:txBody>
          <a:bodyPr wrap="square" lIns="0" tIns="0" rIns="0" bIns="0" rtlCol="0" anchor="t"/>
          <a:lstStyle/>
          <a:p>
            <a:pPr algn="ctr" indent="0" marL="0">
              <a:lnSpc>
                <a:spcPts val="2150"/>
              </a:lnSpc>
              <a:buNone/>
            </a:pPr>
            <a:r>
              <a:rPr lang="en-US" sz="1350" dirty="0">
                <a:solidFill>
                  <a:srgbClr val="E0D6DE"/>
                </a:solidFill>
                <a:latin typeface="Noto Sans TC" pitchFamily="34" charset="0"/>
                <a:ea typeface="Noto Sans TC" pitchFamily="34" charset="-122"/>
                <a:cs typeface="Noto Sans TC" pitchFamily="34" charset="-120"/>
              </a:rPr>
              <a:t>Linux cuenta con una amplia variedad de servicios y bibliotecas que brindan funcionalidades específicas, como la gestión de archivos, la red, la seguridad y la interoperabilidad con otros sistemas.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24533"/>
            <a:ext cx="12348210" cy="708779"/>
          </a:xfrm>
          <a:prstGeom prst="rect">
            <a:avLst/>
          </a:prstGeom>
          <a:noFill/>
          <a:ln/>
        </p:spPr>
        <p:txBody>
          <a:bodyPr wrap="none" lIns="0" tIns="0" rIns="0" bIns="0" rtlCol="0" anchor="t"/>
          <a:lstStyle/>
          <a:p>
            <a:pPr indent="0" marL="0">
              <a:lnSpc>
                <a:spcPts val="5550"/>
              </a:lnSpc>
              <a:buNone/>
            </a:pPr>
            <a:r>
              <a:rPr lang="en-US" sz="4450" dirty="0">
                <a:solidFill>
                  <a:srgbClr val="97B8FF"/>
                </a:solidFill>
                <a:latin typeface="Sora Medium" pitchFamily="34" charset="0"/>
                <a:ea typeface="Sora Medium" pitchFamily="34" charset="-122"/>
                <a:cs typeface="Sora Medium" pitchFamily="34" charset="-120"/>
              </a:rPr>
              <a:t>Kernel de Linux: Funciones y Componentes</a:t>
            </a:r>
            <a:endParaRPr lang="en-US" sz="4450" dirty="0"/>
          </a:p>
        </p:txBody>
      </p:sp>
      <p:sp>
        <p:nvSpPr>
          <p:cNvPr id="3" name="Shape 1"/>
          <p:cNvSpPr/>
          <p:nvPr/>
        </p:nvSpPr>
        <p:spPr>
          <a:xfrm>
            <a:off x="793790" y="2186940"/>
            <a:ext cx="6408063" cy="2395657"/>
          </a:xfrm>
          <a:prstGeom prst="roundRect">
            <a:avLst>
              <a:gd name="adj" fmla="val 1420"/>
            </a:avLst>
          </a:prstGeom>
          <a:solidFill>
            <a:srgbClr val="26262B"/>
          </a:solidFill>
          <a:ln/>
        </p:spPr>
      </p:sp>
      <p:sp>
        <p:nvSpPr>
          <p:cNvPr id="4" name="Text 2"/>
          <p:cNvSpPr/>
          <p:nvPr/>
        </p:nvSpPr>
        <p:spPr>
          <a:xfrm>
            <a:off x="1020604" y="2413754"/>
            <a:ext cx="2986802"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Gestión de Procesos</a:t>
            </a:r>
            <a:endParaRPr lang="en-US" sz="2200" dirty="0"/>
          </a:p>
        </p:txBody>
      </p:sp>
      <p:sp>
        <p:nvSpPr>
          <p:cNvPr id="5" name="Text 3"/>
          <p:cNvSpPr/>
          <p:nvPr/>
        </p:nvSpPr>
        <p:spPr>
          <a:xfrm>
            <a:off x="1020604" y="2904173"/>
            <a:ext cx="5954435" cy="1088708"/>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El kernel de Linux es responsable de la creación, planificación, ejecución y finalización de los procesos, asegurando un uso eficiente de los recursos del sistema.</a:t>
            </a:r>
            <a:endParaRPr lang="en-US" sz="1750" dirty="0"/>
          </a:p>
        </p:txBody>
      </p:sp>
      <p:sp>
        <p:nvSpPr>
          <p:cNvPr id="6" name="Shape 4"/>
          <p:cNvSpPr/>
          <p:nvPr/>
        </p:nvSpPr>
        <p:spPr>
          <a:xfrm>
            <a:off x="7428667" y="2186940"/>
            <a:ext cx="6408063" cy="2395657"/>
          </a:xfrm>
          <a:prstGeom prst="roundRect">
            <a:avLst>
              <a:gd name="adj" fmla="val 1420"/>
            </a:avLst>
          </a:prstGeom>
          <a:solidFill>
            <a:srgbClr val="26262B"/>
          </a:solidFill>
          <a:ln/>
        </p:spPr>
      </p:sp>
      <p:sp>
        <p:nvSpPr>
          <p:cNvPr id="7" name="Text 5"/>
          <p:cNvSpPr/>
          <p:nvPr/>
        </p:nvSpPr>
        <p:spPr>
          <a:xfrm>
            <a:off x="7655481" y="2413754"/>
            <a:ext cx="4019669"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Administración de Memoria</a:t>
            </a:r>
            <a:endParaRPr lang="en-US" sz="2200" dirty="0"/>
          </a:p>
        </p:txBody>
      </p:sp>
      <p:sp>
        <p:nvSpPr>
          <p:cNvPr id="8" name="Text 6"/>
          <p:cNvSpPr/>
          <p:nvPr/>
        </p:nvSpPr>
        <p:spPr>
          <a:xfrm>
            <a:off x="7655481" y="2904173"/>
            <a:ext cx="5954435"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El kernel gestiona la memoria del sistema, asignando y liberando espacios de memoria para los procesos, y aplicando técnicas como la paginación y la memoria virtual.</a:t>
            </a:r>
            <a:endParaRPr lang="en-US" sz="1750" dirty="0"/>
          </a:p>
        </p:txBody>
      </p:sp>
      <p:sp>
        <p:nvSpPr>
          <p:cNvPr id="9" name="Shape 7"/>
          <p:cNvSpPr/>
          <p:nvPr/>
        </p:nvSpPr>
        <p:spPr>
          <a:xfrm>
            <a:off x="793790" y="4809411"/>
            <a:ext cx="6408063" cy="2395657"/>
          </a:xfrm>
          <a:prstGeom prst="roundRect">
            <a:avLst>
              <a:gd name="adj" fmla="val 1420"/>
            </a:avLst>
          </a:prstGeom>
          <a:solidFill>
            <a:srgbClr val="26262B"/>
          </a:solidFill>
          <a:ln/>
        </p:spPr>
      </p:sp>
      <p:sp>
        <p:nvSpPr>
          <p:cNvPr id="10" name="Text 8"/>
          <p:cNvSpPr/>
          <p:nvPr/>
        </p:nvSpPr>
        <p:spPr>
          <a:xfrm>
            <a:off x="1020604" y="5036225"/>
            <a:ext cx="3384113"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Manejo de Dispositivos</a:t>
            </a:r>
            <a:endParaRPr lang="en-US" sz="2200" dirty="0"/>
          </a:p>
        </p:txBody>
      </p:sp>
      <p:sp>
        <p:nvSpPr>
          <p:cNvPr id="11" name="Text 9"/>
          <p:cNvSpPr/>
          <p:nvPr/>
        </p:nvSpPr>
        <p:spPr>
          <a:xfrm>
            <a:off x="1020604" y="5526643"/>
            <a:ext cx="5954435"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El kernel proporciona una interfaz unificada para que los programas interactúen con los dispositivos de hardware, ya sean internos o periféricos, a través de los controladores de dispositivo.</a:t>
            </a:r>
            <a:endParaRPr lang="en-US" sz="1750" dirty="0"/>
          </a:p>
        </p:txBody>
      </p:sp>
      <p:sp>
        <p:nvSpPr>
          <p:cNvPr id="12" name="Shape 10"/>
          <p:cNvSpPr/>
          <p:nvPr/>
        </p:nvSpPr>
        <p:spPr>
          <a:xfrm>
            <a:off x="7428667" y="4809411"/>
            <a:ext cx="6408063" cy="2395657"/>
          </a:xfrm>
          <a:prstGeom prst="roundRect">
            <a:avLst>
              <a:gd name="adj" fmla="val 1420"/>
            </a:avLst>
          </a:prstGeom>
          <a:solidFill>
            <a:srgbClr val="26262B"/>
          </a:solidFill>
          <a:ln/>
        </p:spPr>
      </p:sp>
      <p:sp>
        <p:nvSpPr>
          <p:cNvPr id="13" name="Text 11"/>
          <p:cNvSpPr/>
          <p:nvPr/>
        </p:nvSpPr>
        <p:spPr>
          <a:xfrm>
            <a:off x="7655481" y="5036225"/>
            <a:ext cx="2951917"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Sistema de Archivos</a:t>
            </a:r>
            <a:endParaRPr lang="en-US" sz="2200" dirty="0"/>
          </a:p>
        </p:txBody>
      </p:sp>
      <p:sp>
        <p:nvSpPr>
          <p:cNvPr id="14" name="Text 12"/>
          <p:cNvSpPr/>
          <p:nvPr/>
        </p:nvSpPr>
        <p:spPr>
          <a:xfrm>
            <a:off x="7655481" y="5526643"/>
            <a:ext cx="5954435"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El kernel de Linux implementa diversos sistemas de archivos, permitiendo a los usuarios almacenar, organizar y acceder a sus datos de manera eficiente y segura.</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17577"/>
          </a:xfrm>
          <a:prstGeom prst="rect">
            <a:avLst/>
          </a:prstGeom>
        </p:spPr>
      </p:pic>
      <p:sp>
        <p:nvSpPr>
          <p:cNvPr id="3" name="Text 0"/>
          <p:cNvSpPr/>
          <p:nvPr/>
        </p:nvSpPr>
        <p:spPr>
          <a:xfrm>
            <a:off x="704850" y="3229928"/>
            <a:ext cx="7533680" cy="629364"/>
          </a:xfrm>
          <a:prstGeom prst="rect">
            <a:avLst/>
          </a:prstGeom>
          <a:noFill/>
          <a:ln/>
        </p:spPr>
        <p:txBody>
          <a:bodyPr wrap="none" lIns="0" tIns="0" rIns="0" bIns="0" rtlCol="0" anchor="t"/>
          <a:lstStyle/>
          <a:p>
            <a:pPr indent="0" marL="0">
              <a:lnSpc>
                <a:spcPts val="4950"/>
              </a:lnSpc>
              <a:buNone/>
            </a:pPr>
            <a:r>
              <a:rPr lang="en-US" sz="3950" dirty="0">
                <a:solidFill>
                  <a:srgbClr val="97B8FF"/>
                </a:solidFill>
                <a:latin typeface="Sora Medium" pitchFamily="34" charset="0"/>
                <a:ea typeface="Sora Medium" pitchFamily="34" charset="-122"/>
                <a:cs typeface="Sora Medium" pitchFamily="34" charset="-120"/>
              </a:rPr>
              <a:t>Gestión de Procesos en Linux</a:t>
            </a:r>
            <a:endParaRPr lang="en-US" sz="3950" dirty="0"/>
          </a:p>
        </p:txBody>
      </p:sp>
      <p:pic>
        <p:nvPicPr>
          <p:cNvPr id="4" name="Image 1" descr="preencoded.png">    </p:cNvPr>
          <p:cNvPicPr>
            <a:picLocks noChangeAspect="1"/>
          </p:cNvPicPr>
          <p:nvPr/>
        </p:nvPicPr>
        <p:blipFill>
          <a:blip r:embed="rId2"/>
          <a:stretch>
            <a:fillRect/>
          </a:stretch>
        </p:blipFill>
        <p:spPr>
          <a:xfrm>
            <a:off x="704850" y="4161353"/>
            <a:ext cx="4406860" cy="805577"/>
          </a:xfrm>
          <a:prstGeom prst="rect">
            <a:avLst/>
          </a:prstGeom>
        </p:spPr>
      </p:pic>
      <p:sp>
        <p:nvSpPr>
          <p:cNvPr id="5" name="Text 1"/>
          <p:cNvSpPr/>
          <p:nvPr/>
        </p:nvSpPr>
        <p:spPr>
          <a:xfrm>
            <a:off x="906185" y="5268992"/>
            <a:ext cx="2801660" cy="314682"/>
          </a:xfrm>
          <a:prstGeom prst="rect">
            <a:avLst/>
          </a:prstGeom>
          <a:noFill/>
          <a:ln/>
        </p:spPr>
        <p:txBody>
          <a:bodyPr wrap="none" lIns="0" tIns="0" rIns="0" bIns="0" rtlCol="0" anchor="t"/>
          <a:lstStyle/>
          <a:p>
            <a:pPr algn="l" indent="0" marL="0">
              <a:lnSpc>
                <a:spcPts val="2450"/>
              </a:lnSpc>
              <a:buNone/>
            </a:pPr>
            <a:r>
              <a:rPr lang="en-US" sz="1950" dirty="0">
                <a:solidFill>
                  <a:srgbClr val="E0D6DE"/>
                </a:solidFill>
                <a:latin typeface="Sora Medium" pitchFamily="34" charset="0"/>
                <a:ea typeface="Sora Medium" pitchFamily="34" charset="-122"/>
                <a:cs typeface="Sora Medium" pitchFamily="34" charset="-120"/>
              </a:rPr>
              <a:t>Creación de Procesos</a:t>
            </a:r>
            <a:endParaRPr lang="en-US" sz="1950" dirty="0"/>
          </a:p>
        </p:txBody>
      </p:sp>
      <p:sp>
        <p:nvSpPr>
          <p:cNvPr id="6" name="Text 2"/>
          <p:cNvSpPr/>
          <p:nvPr/>
        </p:nvSpPr>
        <p:spPr>
          <a:xfrm>
            <a:off x="906185" y="5704403"/>
            <a:ext cx="4004191" cy="966907"/>
          </a:xfrm>
          <a:prstGeom prst="rect">
            <a:avLst/>
          </a:prstGeom>
          <a:noFill/>
          <a:ln/>
        </p:spPr>
        <p:txBody>
          <a:bodyPr wrap="square" lIns="0" tIns="0" rIns="0" bIns="0" rtlCol="0" anchor="t"/>
          <a:lstStyle/>
          <a:p>
            <a:pPr algn="l" indent="0" marL="0">
              <a:lnSpc>
                <a:spcPts val="2500"/>
              </a:lnSpc>
              <a:buNone/>
            </a:pPr>
            <a:r>
              <a:rPr lang="en-US" sz="1550" dirty="0">
                <a:solidFill>
                  <a:srgbClr val="E0D6DE"/>
                </a:solidFill>
                <a:latin typeface="Noto Sans TC" pitchFamily="34" charset="0"/>
                <a:ea typeface="Noto Sans TC" pitchFamily="34" charset="-122"/>
                <a:cs typeface="Noto Sans TC" pitchFamily="34" charset="-120"/>
              </a:rPr>
              <a:t>Linux utiliza el sistema de llamadas a funciones fork() y exec() para crear nuevos procesos a partir de procesos existentes.</a:t>
            </a:r>
            <a:endParaRPr lang="en-US" sz="1550" dirty="0"/>
          </a:p>
        </p:txBody>
      </p:sp>
      <p:pic>
        <p:nvPicPr>
          <p:cNvPr id="7" name="Image 2" descr="preencoded.png">    </p:cNvPr>
          <p:cNvPicPr>
            <a:picLocks noChangeAspect="1"/>
          </p:cNvPicPr>
          <p:nvPr/>
        </p:nvPicPr>
        <p:blipFill>
          <a:blip r:embed="rId3"/>
          <a:stretch>
            <a:fillRect/>
          </a:stretch>
        </p:blipFill>
        <p:spPr>
          <a:xfrm>
            <a:off x="5111710" y="4161353"/>
            <a:ext cx="4406860" cy="805577"/>
          </a:xfrm>
          <a:prstGeom prst="rect">
            <a:avLst/>
          </a:prstGeom>
        </p:spPr>
      </p:pic>
      <p:sp>
        <p:nvSpPr>
          <p:cNvPr id="8" name="Text 3"/>
          <p:cNvSpPr/>
          <p:nvPr/>
        </p:nvSpPr>
        <p:spPr>
          <a:xfrm>
            <a:off x="5313045" y="5268992"/>
            <a:ext cx="3297079" cy="314682"/>
          </a:xfrm>
          <a:prstGeom prst="rect">
            <a:avLst/>
          </a:prstGeom>
          <a:noFill/>
          <a:ln/>
        </p:spPr>
        <p:txBody>
          <a:bodyPr wrap="none" lIns="0" tIns="0" rIns="0" bIns="0" rtlCol="0" anchor="t"/>
          <a:lstStyle/>
          <a:p>
            <a:pPr algn="l" indent="0" marL="0">
              <a:lnSpc>
                <a:spcPts val="2450"/>
              </a:lnSpc>
              <a:buNone/>
            </a:pPr>
            <a:r>
              <a:rPr lang="en-US" sz="1950" dirty="0">
                <a:solidFill>
                  <a:srgbClr val="E0D6DE"/>
                </a:solidFill>
                <a:latin typeface="Sora Medium" pitchFamily="34" charset="0"/>
                <a:ea typeface="Sora Medium" pitchFamily="34" charset="-122"/>
                <a:cs typeface="Sora Medium" pitchFamily="34" charset="-120"/>
              </a:rPr>
              <a:t>Planificación de Procesos</a:t>
            </a:r>
            <a:endParaRPr lang="en-US" sz="1950" dirty="0"/>
          </a:p>
        </p:txBody>
      </p:sp>
      <p:sp>
        <p:nvSpPr>
          <p:cNvPr id="9" name="Text 4"/>
          <p:cNvSpPr/>
          <p:nvPr/>
        </p:nvSpPr>
        <p:spPr>
          <a:xfrm>
            <a:off x="5313045" y="5704403"/>
            <a:ext cx="4004191" cy="1611511"/>
          </a:xfrm>
          <a:prstGeom prst="rect">
            <a:avLst/>
          </a:prstGeom>
          <a:noFill/>
          <a:ln/>
        </p:spPr>
        <p:txBody>
          <a:bodyPr wrap="square" lIns="0" tIns="0" rIns="0" bIns="0" rtlCol="0" anchor="t"/>
          <a:lstStyle/>
          <a:p>
            <a:pPr algn="l" indent="0" marL="0">
              <a:lnSpc>
                <a:spcPts val="2500"/>
              </a:lnSpc>
              <a:buNone/>
            </a:pPr>
            <a:r>
              <a:rPr lang="en-US" sz="1550" dirty="0">
                <a:solidFill>
                  <a:srgbClr val="E0D6DE"/>
                </a:solidFill>
                <a:latin typeface="Noto Sans TC" pitchFamily="34" charset="0"/>
                <a:ea typeface="Noto Sans TC" pitchFamily="34" charset="-122"/>
                <a:cs typeface="Noto Sans TC" pitchFamily="34" charset="-120"/>
              </a:rPr>
              <a:t>El kernel de Linux emplea algoritmos de planificación, como el Round-Robin y el CFS (Completely Fair Scheduler), para decidir qué procesos se ejecutan en un momento dado.</a:t>
            </a:r>
            <a:endParaRPr lang="en-US" sz="1550" dirty="0"/>
          </a:p>
        </p:txBody>
      </p:sp>
      <p:pic>
        <p:nvPicPr>
          <p:cNvPr id="10" name="Image 3" descr="preencoded.png">    </p:cNvPr>
          <p:cNvPicPr>
            <a:picLocks noChangeAspect="1"/>
          </p:cNvPicPr>
          <p:nvPr/>
        </p:nvPicPr>
        <p:blipFill>
          <a:blip r:embed="rId4"/>
          <a:stretch>
            <a:fillRect/>
          </a:stretch>
        </p:blipFill>
        <p:spPr>
          <a:xfrm>
            <a:off x="9518571" y="4161353"/>
            <a:ext cx="4406860" cy="805577"/>
          </a:xfrm>
          <a:prstGeom prst="rect">
            <a:avLst/>
          </a:prstGeom>
        </p:spPr>
      </p:pic>
      <p:sp>
        <p:nvSpPr>
          <p:cNvPr id="11" name="Text 5"/>
          <p:cNvSpPr/>
          <p:nvPr/>
        </p:nvSpPr>
        <p:spPr>
          <a:xfrm>
            <a:off x="9719905" y="5268992"/>
            <a:ext cx="3867150" cy="314682"/>
          </a:xfrm>
          <a:prstGeom prst="rect">
            <a:avLst/>
          </a:prstGeom>
          <a:noFill/>
          <a:ln/>
        </p:spPr>
        <p:txBody>
          <a:bodyPr wrap="none" lIns="0" tIns="0" rIns="0" bIns="0" rtlCol="0" anchor="t"/>
          <a:lstStyle/>
          <a:p>
            <a:pPr algn="l" indent="0" marL="0">
              <a:lnSpc>
                <a:spcPts val="2450"/>
              </a:lnSpc>
              <a:buNone/>
            </a:pPr>
            <a:r>
              <a:rPr lang="en-US" sz="1950" dirty="0">
                <a:solidFill>
                  <a:srgbClr val="E0D6DE"/>
                </a:solidFill>
                <a:latin typeface="Sora Medium" pitchFamily="34" charset="0"/>
                <a:ea typeface="Sora Medium" pitchFamily="34" charset="-122"/>
                <a:cs typeface="Sora Medium" pitchFamily="34" charset="-120"/>
              </a:rPr>
              <a:t>Comunicación entre Procesos</a:t>
            </a:r>
            <a:endParaRPr lang="en-US" sz="1950" dirty="0"/>
          </a:p>
        </p:txBody>
      </p:sp>
      <p:sp>
        <p:nvSpPr>
          <p:cNvPr id="12" name="Text 6"/>
          <p:cNvSpPr/>
          <p:nvPr/>
        </p:nvSpPr>
        <p:spPr>
          <a:xfrm>
            <a:off x="9719905" y="5704403"/>
            <a:ext cx="4004191" cy="1611511"/>
          </a:xfrm>
          <a:prstGeom prst="rect">
            <a:avLst/>
          </a:prstGeom>
          <a:noFill/>
          <a:ln/>
        </p:spPr>
        <p:txBody>
          <a:bodyPr wrap="square" lIns="0" tIns="0" rIns="0" bIns="0" rtlCol="0" anchor="t"/>
          <a:lstStyle/>
          <a:p>
            <a:pPr algn="l" indent="0" marL="0">
              <a:lnSpc>
                <a:spcPts val="2500"/>
              </a:lnSpc>
              <a:buNone/>
            </a:pPr>
            <a:r>
              <a:rPr lang="en-US" sz="1550" dirty="0">
                <a:solidFill>
                  <a:srgbClr val="E0D6DE"/>
                </a:solidFill>
                <a:latin typeface="Noto Sans TC" pitchFamily="34" charset="0"/>
                <a:ea typeface="Noto Sans TC" pitchFamily="34" charset="-122"/>
                <a:cs typeface="Noto Sans TC" pitchFamily="34" charset="-120"/>
              </a:rPr>
              <a:t>Linux proporciona mecanismos de comunicación entre procesos, como tuberías, sockets y semáforos, para permitir el intercambio de datos y la sincronización entre ellos.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0791"/>
          </a:xfrm>
          <a:prstGeom prst="rect">
            <a:avLst/>
          </a:prstGeom>
        </p:spPr>
      </p:pic>
      <p:sp>
        <p:nvSpPr>
          <p:cNvPr id="3" name="Text 0"/>
          <p:cNvSpPr/>
          <p:nvPr/>
        </p:nvSpPr>
        <p:spPr>
          <a:xfrm>
            <a:off x="6172795" y="539234"/>
            <a:ext cx="7771209" cy="1225629"/>
          </a:xfrm>
          <a:prstGeom prst="rect">
            <a:avLst/>
          </a:prstGeom>
          <a:noFill/>
          <a:ln/>
        </p:spPr>
        <p:txBody>
          <a:bodyPr wrap="square" lIns="0" tIns="0" rIns="0" bIns="0" rtlCol="0" anchor="t"/>
          <a:lstStyle/>
          <a:p>
            <a:pPr indent="0" marL="0">
              <a:lnSpc>
                <a:spcPts val="4800"/>
              </a:lnSpc>
              <a:buNone/>
            </a:pPr>
            <a:r>
              <a:rPr lang="en-US" sz="3850" dirty="0">
                <a:solidFill>
                  <a:srgbClr val="97B8FF"/>
                </a:solidFill>
                <a:latin typeface="Sora Medium" pitchFamily="34" charset="0"/>
                <a:ea typeface="Sora Medium" pitchFamily="34" charset="-122"/>
                <a:cs typeface="Sora Medium" pitchFamily="34" charset="-120"/>
              </a:rPr>
              <a:t>Programación de Procesos y Threads</a:t>
            </a:r>
            <a:endParaRPr lang="en-US" sz="3850" dirty="0"/>
          </a:p>
        </p:txBody>
      </p:sp>
      <p:pic>
        <p:nvPicPr>
          <p:cNvPr id="4" name="Image 1" descr="preencoded.png">    </p:cNvPr>
          <p:cNvPicPr>
            <a:picLocks noChangeAspect="1"/>
          </p:cNvPicPr>
          <p:nvPr/>
        </p:nvPicPr>
        <p:blipFill>
          <a:blip r:embed="rId2"/>
          <a:stretch>
            <a:fillRect/>
          </a:stretch>
        </p:blipFill>
        <p:spPr>
          <a:xfrm>
            <a:off x="6172795" y="2058948"/>
            <a:ext cx="490299" cy="490299"/>
          </a:xfrm>
          <a:prstGeom prst="rect">
            <a:avLst/>
          </a:prstGeom>
        </p:spPr>
      </p:pic>
      <p:sp>
        <p:nvSpPr>
          <p:cNvPr id="5" name="Text 1"/>
          <p:cNvSpPr/>
          <p:nvPr/>
        </p:nvSpPr>
        <p:spPr>
          <a:xfrm>
            <a:off x="6172795" y="2745343"/>
            <a:ext cx="2451497" cy="306348"/>
          </a:xfrm>
          <a:prstGeom prst="rect">
            <a:avLst/>
          </a:prstGeom>
          <a:noFill/>
          <a:ln/>
        </p:spPr>
        <p:txBody>
          <a:bodyPr wrap="none" lIns="0" tIns="0" rIns="0" bIns="0" rtlCol="0" anchor="t"/>
          <a:lstStyle/>
          <a:p>
            <a:pPr algn="l" indent="0" marL="0">
              <a:lnSpc>
                <a:spcPts val="2400"/>
              </a:lnSpc>
              <a:buNone/>
            </a:pPr>
            <a:r>
              <a:rPr lang="en-US" sz="1900" dirty="0">
                <a:solidFill>
                  <a:srgbClr val="E0D6DE"/>
                </a:solidFill>
                <a:latin typeface="Sora Medium" pitchFamily="34" charset="0"/>
                <a:ea typeface="Sora Medium" pitchFamily="34" charset="-122"/>
                <a:cs typeface="Sora Medium" pitchFamily="34" charset="-120"/>
              </a:rPr>
              <a:t>fork()</a:t>
            </a:r>
            <a:endParaRPr lang="en-US" sz="1900" dirty="0"/>
          </a:p>
        </p:txBody>
      </p:sp>
      <p:sp>
        <p:nvSpPr>
          <p:cNvPr id="6" name="Text 2"/>
          <p:cNvSpPr/>
          <p:nvPr/>
        </p:nvSpPr>
        <p:spPr>
          <a:xfrm>
            <a:off x="6172795" y="3169325"/>
            <a:ext cx="3738563" cy="1254919"/>
          </a:xfrm>
          <a:prstGeom prst="rect">
            <a:avLst/>
          </a:prstGeom>
          <a:noFill/>
          <a:ln/>
        </p:spPr>
        <p:txBody>
          <a:bodyPr wrap="square" lIns="0" tIns="0" rIns="0" bIns="0" rtlCol="0" anchor="t"/>
          <a:lstStyle/>
          <a:p>
            <a:pPr algn="l" indent="0" marL="0">
              <a:lnSpc>
                <a:spcPts val="2450"/>
              </a:lnSpc>
              <a:buNone/>
            </a:pPr>
            <a:r>
              <a:rPr lang="en-US" sz="1500" dirty="0">
                <a:solidFill>
                  <a:srgbClr val="E0D6DE"/>
                </a:solidFill>
                <a:latin typeface="Noto Sans TC" pitchFamily="34" charset="0"/>
                <a:ea typeface="Noto Sans TC" pitchFamily="34" charset="-122"/>
                <a:cs typeface="Noto Sans TC" pitchFamily="34" charset="-120"/>
              </a:rPr>
              <a:t>La llamada a sistema fork() crea un nuevo proceso que es una copia exacta del proceso original, con su propio espacio de memoria y recursos.</a:t>
            </a:r>
            <a:endParaRPr lang="en-US" sz="1500" dirty="0"/>
          </a:p>
        </p:txBody>
      </p:sp>
      <p:pic>
        <p:nvPicPr>
          <p:cNvPr id="7" name="Image 2" descr="preencoded.png">    </p:cNvPr>
          <p:cNvPicPr>
            <a:picLocks noChangeAspect="1"/>
          </p:cNvPicPr>
          <p:nvPr/>
        </p:nvPicPr>
        <p:blipFill>
          <a:blip r:embed="rId3"/>
          <a:stretch>
            <a:fillRect/>
          </a:stretch>
        </p:blipFill>
        <p:spPr>
          <a:xfrm>
            <a:off x="10205442" y="2058948"/>
            <a:ext cx="490299" cy="490299"/>
          </a:xfrm>
          <a:prstGeom prst="rect">
            <a:avLst/>
          </a:prstGeom>
        </p:spPr>
      </p:pic>
      <p:sp>
        <p:nvSpPr>
          <p:cNvPr id="8" name="Text 3"/>
          <p:cNvSpPr/>
          <p:nvPr/>
        </p:nvSpPr>
        <p:spPr>
          <a:xfrm>
            <a:off x="10205442" y="2745343"/>
            <a:ext cx="2451497" cy="306348"/>
          </a:xfrm>
          <a:prstGeom prst="rect">
            <a:avLst/>
          </a:prstGeom>
          <a:noFill/>
          <a:ln/>
        </p:spPr>
        <p:txBody>
          <a:bodyPr wrap="none" lIns="0" tIns="0" rIns="0" bIns="0" rtlCol="0" anchor="t"/>
          <a:lstStyle/>
          <a:p>
            <a:pPr algn="l" indent="0" marL="0">
              <a:lnSpc>
                <a:spcPts val="2400"/>
              </a:lnSpc>
              <a:buNone/>
            </a:pPr>
            <a:r>
              <a:rPr lang="en-US" sz="1900" dirty="0">
                <a:solidFill>
                  <a:srgbClr val="E0D6DE"/>
                </a:solidFill>
                <a:latin typeface="Sora Medium" pitchFamily="34" charset="0"/>
                <a:ea typeface="Sora Medium" pitchFamily="34" charset="-122"/>
                <a:cs typeface="Sora Medium" pitchFamily="34" charset="-120"/>
              </a:rPr>
              <a:t>exec()</a:t>
            </a:r>
            <a:endParaRPr lang="en-US" sz="1900" dirty="0"/>
          </a:p>
        </p:txBody>
      </p:sp>
      <p:sp>
        <p:nvSpPr>
          <p:cNvPr id="9" name="Text 4"/>
          <p:cNvSpPr/>
          <p:nvPr/>
        </p:nvSpPr>
        <p:spPr>
          <a:xfrm>
            <a:off x="10205442" y="3169325"/>
            <a:ext cx="3738563" cy="1254919"/>
          </a:xfrm>
          <a:prstGeom prst="rect">
            <a:avLst/>
          </a:prstGeom>
          <a:noFill/>
          <a:ln/>
        </p:spPr>
        <p:txBody>
          <a:bodyPr wrap="square" lIns="0" tIns="0" rIns="0" bIns="0" rtlCol="0" anchor="t"/>
          <a:lstStyle/>
          <a:p>
            <a:pPr algn="l" indent="0" marL="0">
              <a:lnSpc>
                <a:spcPts val="2450"/>
              </a:lnSpc>
              <a:buNone/>
            </a:pPr>
            <a:r>
              <a:rPr lang="en-US" sz="1500" dirty="0">
                <a:solidFill>
                  <a:srgbClr val="E0D6DE"/>
                </a:solidFill>
                <a:latin typeface="Noto Sans TC" pitchFamily="34" charset="0"/>
                <a:ea typeface="Noto Sans TC" pitchFamily="34" charset="-122"/>
                <a:cs typeface="Noto Sans TC" pitchFamily="34" charset="-120"/>
              </a:rPr>
              <a:t>La función exec() reemplaza el espacio de memoria de un proceso por un nuevo programa, permitiendo la ejecución de diferentes aplicaciones.</a:t>
            </a:r>
            <a:endParaRPr lang="en-US" sz="1500" dirty="0"/>
          </a:p>
        </p:txBody>
      </p:sp>
      <p:pic>
        <p:nvPicPr>
          <p:cNvPr id="10" name="Image 3" descr="preencoded.png">    </p:cNvPr>
          <p:cNvPicPr>
            <a:picLocks noChangeAspect="1"/>
          </p:cNvPicPr>
          <p:nvPr/>
        </p:nvPicPr>
        <p:blipFill>
          <a:blip r:embed="rId4"/>
          <a:stretch>
            <a:fillRect/>
          </a:stretch>
        </p:blipFill>
        <p:spPr>
          <a:xfrm>
            <a:off x="6172795" y="5012531"/>
            <a:ext cx="490299" cy="490299"/>
          </a:xfrm>
          <a:prstGeom prst="rect">
            <a:avLst/>
          </a:prstGeom>
        </p:spPr>
      </p:pic>
      <p:sp>
        <p:nvSpPr>
          <p:cNvPr id="11" name="Text 5"/>
          <p:cNvSpPr/>
          <p:nvPr/>
        </p:nvSpPr>
        <p:spPr>
          <a:xfrm>
            <a:off x="6172795" y="5698927"/>
            <a:ext cx="2451497" cy="306348"/>
          </a:xfrm>
          <a:prstGeom prst="rect">
            <a:avLst/>
          </a:prstGeom>
          <a:noFill/>
          <a:ln/>
        </p:spPr>
        <p:txBody>
          <a:bodyPr wrap="none" lIns="0" tIns="0" rIns="0" bIns="0" rtlCol="0" anchor="t"/>
          <a:lstStyle/>
          <a:p>
            <a:pPr algn="l" indent="0" marL="0">
              <a:lnSpc>
                <a:spcPts val="2400"/>
              </a:lnSpc>
              <a:buNone/>
            </a:pPr>
            <a:r>
              <a:rPr lang="en-US" sz="1900" dirty="0">
                <a:solidFill>
                  <a:srgbClr val="E0D6DE"/>
                </a:solidFill>
                <a:latin typeface="Sora Medium" pitchFamily="34" charset="0"/>
                <a:ea typeface="Sora Medium" pitchFamily="34" charset="-122"/>
                <a:cs typeface="Sora Medium" pitchFamily="34" charset="-120"/>
              </a:rPr>
              <a:t>Threads</a:t>
            </a:r>
            <a:endParaRPr lang="en-US" sz="1900" dirty="0"/>
          </a:p>
        </p:txBody>
      </p:sp>
      <p:sp>
        <p:nvSpPr>
          <p:cNvPr id="12" name="Text 6"/>
          <p:cNvSpPr/>
          <p:nvPr/>
        </p:nvSpPr>
        <p:spPr>
          <a:xfrm>
            <a:off x="6172795" y="6122908"/>
            <a:ext cx="3738563" cy="1568648"/>
          </a:xfrm>
          <a:prstGeom prst="rect">
            <a:avLst/>
          </a:prstGeom>
          <a:noFill/>
          <a:ln/>
        </p:spPr>
        <p:txBody>
          <a:bodyPr wrap="square" lIns="0" tIns="0" rIns="0" bIns="0" rtlCol="0" anchor="t"/>
          <a:lstStyle/>
          <a:p>
            <a:pPr algn="l" indent="0" marL="0">
              <a:lnSpc>
                <a:spcPts val="2450"/>
              </a:lnSpc>
              <a:buNone/>
            </a:pPr>
            <a:r>
              <a:rPr lang="en-US" sz="1500" dirty="0">
                <a:solidFill>
                  <a:srgbClr val="E0D6DE"/>
                </a:solidFill>
                <a:latin typeface="Noto Sans TC" pitchFamily="34" charset="0"/>
                <a:ea typeface="Noto Sans TC" pitchFamily="34" charset="-122"/>
                <a:cs typeface="Noto Sans TC" pitchFamily="34" charset="-120"/>
              </a:rPr>
              <a:t>Los threads son unidades de ejecución ligera dentro de un mismo proceso, compartiendo recursos como memoria y archivos, lo que mejora el rendimiento y la concurrencia.</a:t>
            </a:r>
            <a:endParaRPr lang="en-US" sz="1500" dirty="0"/>
          </a:p>
        </p:txBody>
      </p:sp>
      <p:pic>
        <p:nvPicPr>
          <p:cNvPr id="13" name="Image 4" descr="preencoded.png">    </p:cNvPr>
          <p:cNvPicPr>
            <a:picLocks noChangeAspect="1"/>
          </p:cNvPicPr>
          <p:nvPr/>
        </p:nvPicPr>
        <p:blipFill>
          <a:blip r:embed="rId5"/>
          <a:stretch>
            <a:fillRect/>
          </a:stretch>
        </p:blipFill>
        <p:spPr>
          <a:xfrm>
            <a:off x="10205442" y="5012531"/>
            <a:ext cx="490299" cy="490299"/>
          </a:xfrm>
          <a:prstGeom prst="rect">
            <a:avLst/>
          </a:prstGeom>
        </p:spPr>
      </p:pic>
      <p:sp>
        <p:nvSpPr>
          <p:cNvPr id="14" name="Text 7"/>
          <p:cNvSpPr/>
          <p:nvPr/>
        </p:nvSpPr>
        <p:spPr>
          <a:xfrm>
            <a:off x="10205442" y="5698927"/>
            <a:ext cx="2451497" cy="306348"/>
          </a:xfrm>
          <a:prstGeom prst="rect">
            <a:avLst/>
          </a:prstGeom>
          <a:noFill/>
          <a:ln/>
        </p:spPr>
        <p:txBody>
          <a:bodyPr wrap="none" lIns="0" tIns="0" rIns="0" bIns="0" rtlCol="0" anchor="t"/>
          <a:lstStyle/>
          <a:p>
            <a:pPr algn="l" indent="0" marL="0">
              <a:lnSpc>
                <a:spcPts val="2400"/>
              </a:lnSpc>
              <a:buNone/>
            </a:pPr>
            <a:r>
              <a:rPr lang="en-US" sz="1900" dirty="0">
                <a:solidFill>
                  <a:srgbClr val="E0D6DE"/>
                </a:solidFill>
                <a:latin typeface="Sora Medium" pitchFamily="34" charset="0"/>
                <a:ea typeface="Sora Medium" pitchFamily="34" charset="-122"/>
                <a:cs typeface="Sora Medium" pitchFamily="34" charset="-120"/>
              </a:rPr>
              <a:t>Sincronización</a:t>
            </a:r>
            <a:endParaRPr lang="en-US" sz="1900" dirty="0"/>
          </a:p>
        </p:txBody>
      </p:sp>
      <p:sp>
        <p:nvSpPr>
          <p:cNvPr id="15" name="Text 8"/>
          <p:cNvSpPr/>
          <p:nvPr/>
        </p:nvSpPr>
        <p:spPr>
          <a:xfrm>
            <a:off x="10205442" y="6122908"/>
            <a:ext cx="3738563" cy="1568648"/>
          </a:xfrm>
          <a:prstGeom prst="rect">
            <a:avLst/>
          </a:prstGeom>
          <a:noFill/>
          <a:ln/>
        </p:spPr>
        <p:txBody>
          <a:bodyPr wrap="square" lIns="0" tIns="0" rIns="0" bIns="0" rtlCol="0" anchor="t"/>
          <a:lstStyle/>
          <a:p>
            <a:pPr algn="l" indent="0" marL="0">
              <a:lnSpc>
                <a:spcPts val="2450"/>
              </a:lnSpc>
              <a:buNone/>
            </a:pPr>
            <a:r>
              <a:rPr lang="en-US" sz="1500" dirty="0">
                <a:solidFill>
                  <a:srgbClr val="E0D6DE"/>
                </a:solidFill>
                <a:latin typeface="Noto Sans TC" pitchFamily="34" charset="0"/>
                <a:ea typeface="Noto Sans TC" pitchFamily="34" charset="-122"/>
                <a:cs typeface="Noto Sans TC" pitchFamily="34" charset="-120"/>
              </a:rPr>
              <a:t>Linux proporciona mecanismos de sincronización, como mutexes y semáforos, para coordinar el acceso a recursos compartidos entre procesos y threads.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57793" y="725567"/>
            <a:ext cx="7801213" cy="1198959"/>
          </a:xfrm>
          <a:prstGeom prst="rect">
            <a:avLst/>
          </a:prstGeom>
          <a:noFill/>
          <a:ln/>
        </p:spPr>
        <p:txBody>
          <a:bodyPr wrap="square" lIns="0" tIns="0" rIns="0" bIns="0" rtlCol="0" anchor="t"/>
          <a:lstStyle/>
          <a:p>
            <a:pPr indent="0" marL="0">
              <a:lnSpc>
                <a:spcPts val="4700"/>
              </a:lnSpc>
              <a:buNone/>
            </a:pPr>
            <a:r>
              <a:rPr lang="en-US" sz="3750" dirty="0">
                <a:solidFill>
                  <a:srgbClr val="97B8FF"/>
                </a:solidFill>
                <a:latin typeface="Sora Medium" pitchFamily="34" charset="0"/>
                <a:ea typeface="Sora Medium" pitchFamily="34" charset="-122"/>
                <a:cs typeface="Sora Medium" pitchFamily="34" charset="-120"/>
              </a:rPr>
              <a:t>Administración de Recursos del Sistema</a:t>
            </a:r>
            <a:endParaRPr lang="en-US" sz="3750" dirty="0"/>
          </a:p>
        </p:txBody>
      </p:sp>
      <p:sp>
        <p:nvSpPr>
          <p:cNvPr id="4" name="Shape 1"/>
          <p:cNvSpPr/>
          <p:nvPr/>
        </p:nvSpPr>
        <p:spPr>
          <a:xfrm>
            <a:off x="6157793" y="2212181"/>
            <a:ext cx="7801213" cy="5291852"/>
          </a:xfrm>
          <a:prstGeom prst="roundRect">
            <a:avLst>
              <a:gd name="adj" fmla="val 544"/>
            </a:avLst>
          </a:prstGeom>
          <a:noFill/>
          <a:ln w="7620">
            <a:solidFill>
              <a:srgbClr val="FFFFFF">
                <a:alpha val="24000"/>
              </a:srgbClr>
            </a:solidFill>
            <a:prstDash val="solid"/>
          </a:ln>
        </p:spPr>
      </p:sp>
      <p:sp>
        <p:nvSpPr>
          <p:cNvPr id="5" name="Shape 2"/>
          <p:cNvSpPr/>
          <p:nvPr/>
        </p:nvSpPr>
        <p:spPr>
          <a:xfrm>
            <a:off x="6165413" y="2219801"/>
            <a:ext cx="7785140" cy="858917"/>
          </a:xfrm>
          <a:prstGeom prst="rect">
            <a:avLst/>
          </a:prstGeom>
          <a:solidFill>
            <a:srgbClr val="FFFFFF">
              <a:alpha val="4000"/>
            </a:srgbClr>
          </a:solidFill>
          <a:ln/>
        </p:spPr>
      </p:sp>
      <p:sp>
        <p:nvSpPr>
          <p:cNvPr id="6" name="Text 3"/>
          <p:cNvSpPr/>
          <p:nvPr/>
        </p:nvSpPr>
        <p:spPr>
          <a:xfrm>
            <a:off x="6358176" y="2342436"/>
            <a:ext cx="2207300" cy="306824"/>
          </a:xfrm>
          <a:prstGeom prst="rect">
            <a:avLst/>
          </a:prstGeom>
          <a:noFill/>
          <a:ln/>
        </p:spPr>
        <p:txBody>
          <a:bodyPr wrap="non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Recurso</a:t>
            </a:r>
            <a:endParaRPr lang="en-US" sz="1500" dirty="0"/>
          </a:p>
        </p:txBody>
      </p:sp>
      <p:sp>
        <p:nvSpPr>
          <p:cNvPr id="7" name="Text 4"/>
          <p:cNvSpPr/>
          <p:nvPr/>
        </p:nvSpPr>
        <p:spPr>
          <a:xfrm>
            <a:off x="8956715" y="2342436"/>
            <a:ext cx="2203490" cy="613648"/>
          </a:xfrm>
          <a:prstGeom prst="rect">
            <a:avLst/>
          </a:prstGeom>
          <a:noFill/>
          <a:ln/>
        </p:spPr>
        <p:txBody>
          <a:bodyPr wrap="squar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Funciones de Administración</a:t>
            </a:r>
            <a:endParaRPr lang="en-US" sz="1500" dirty="0"/>
          </a:p>
        </p:txBody>
      </p:sp>
      <p:sp>
        <p:nvSpPr>
          <p:cNvPr id="8" name="Text 5"/>
          <p:cNvSpPr/>
          <p:nvPr/>
        </p:nvSpPr>
        <p:spPr>
          <a:xfrm>
            <a:off x="11551444" y="2342436"/>
            <a:ext cx="2207300" cy="613648"/>
          </a:xfrm>
          <a:prstGeom prst="rect">
            <a:avLst/>
          </a:prstGeom>
          <a:noFill/>
          <a:ln/>
        </p:spPr>
        <p:txBody>
          <a:bodyPr wrap="squar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Técnicas de Optimización</a:t>
            </a:r>
            <a:endParaRPr lang="en-US" sz="1500" dirty="0"/>
          </a:p>
        </p:txBody>
      </p:sp>
      <p:sp>
        <p:nvSpPr>
          <p:cNvPr id="9" name="Shape 6"/>
          <p:cNvSpPr/>
          <p:nvPr/>
        </p:nvSpPr>
        <p:spPr>
          <a:xfrm>
            <a:off x="6165413" y="3078718"/>
            <a:ext cx="7785140" cy="1472565"/>
          </a:xfrm>
          <a:prstGeom prst="rect">
            <a:avLst/>
          </a:prstGeom>
          <a:solidFill>
            <a:srgbClr val="000000">
              <a:alpha val="4000"/>
            </a:srgbClr>
          </a:solidFill>
          <a:ln/>
        </p:spPr>
      </p:sp>
      <p:sp>
        <p:nvSpPr>
          <p:cNvPr id="10" name="Text 7"/>
          <p:cNvSpPr/>
          <p:nvPr/>
        </p:nvSpPr>
        <p:spPr>
          <a:xfrm>
            <a:off x="6358176" y="3201353"/>
            <a:ext cx="2207300" cy="306824"/>
          </a:xfrm>
          <a:prstGeom prst="rect">
            <a:avLst/>
          </a:prstGeom>
          <a:noFill/>
          <a:ln/>
        </p:spPr>
        <p:txBody>
          <a:bodyPr wrap="non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Memoria</a:t>
            </a:r>
            <a:endParaRPr lang="en-US" sz="1500" dirty="0"/>
          </a:p>
        </p:txBody>
      </p:sp>
      <p:sp>
        <p:nvSpPr>
          <p:cNvPr id="11" name="Text 8"/>
          <p:cNvSpPr/>
          <p:nvPr/>
        </p:nvSpPr>
        <p:spPr>
          <a:xfrm>
            <a:off x="8956715" y="3201353"/>
            <a:ext cx="2203490" cy="920472"/>
          </a:xfrm>
          <a:prstGeom prst="rect">
            <a:avLst/>
          </a:prstGeom>
          <a:noFill/>
          <a:ln/>
        </p:spPr>
        <p:txBody>
          <a:bodyPr wrap="squar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Asignación, liberación, paginación, memoria virtual</a:t>
            </a:r>
            <a:endParaRPr lang="en-US" sz="1500" dirty="0"/>
          </a:p>
        </p:txBody>
      </p:sp>
      <p:sp>
        <p:nvSpPr>
          <p:cNvPr id="12" name="Text 9"/>
          <p:cNvSpPr/>
          <p:nvPr/>
        </p:nvSpPr>
        <p:spPr>
          <a:xfrm>
            <a:off x="11551444" y="3201353"/>
            <a:ext cx="2207300" cy="1227296"/>
          </a:xfrm>
          <a:prstGeom prst="rect">
            <a:avLst/>
          </a:prstGeom>
          <a:noFill/>
          <a:ln/>
        </p:spPr>
        <p:txBody>
          <a:bodyPr wrap="squar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Técnicas de caching, compresión de datos, uso eficiente de la memoria</a:t>
            </a:r>
            <a:endParaRPr lang="en-US" sz="1500" dirty="0"/>
          </a:p>
        </p:txBody>
      </p:sp>
      <p:sp>
        <p:nvSpPr>
          <p:cNvPr id="13" name="Shape 10"/>
          <p:cNvSpPr/>
          <p:nvPr/>
        </p:nvSpPr>
        <p:spPr>
          <a:xfrm>
            <a:off x="6165413" y="4551283"/>
            <a:ext cx="7785140" cy="1472565"/>
          </a:xfrm>
          <a:prstGeom prst="rect">
            <a:avLst/>
          </a:prstGeom>
          <a:solidFill>
            <a:srgbClr val="FFFFFF">
              <a:alpha val="4000"/>
            </a:srgbClr>
          </a:solidFill>
          <a:ln/>
        </p:spPr>
      </p:sp>
      <p:sp>
        <p:nvSpPr>
          <p:cNvPr id="14" name="Text 11"/>
          <p:cNvSpPr/>
          <p:nvPr/>
        </p:nvSpPr>
        <p:spPr>
          <a:xfrm>
            <a:off x="6358176" y="4673918"/>
            <a:ext cx="2207300" cy="306824"/>
          </a:xfrm>
          <a:prstGeom prst="rect">
            <a:avLst/>
          </a:prstGeom>
          <a:noFill/>
          <a:ln/>
        </p:spPr>
        <p:txBody>
          <a:bodyPr wrap="non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CPU</a:t>
            </a:r>
            <a:endParaRPr lang="en-US" sz="1500" dirty="0"/>
          </a:p>
        </p:txBody>
      </p:sp>
      <p:sp>
        <p:nvSpPr>
          <p:cNvPr id="15" name="Text 12"/>
          <p:cNvSpPr/>
          <p:nvPr/>
        </p:nvSpPr>
        <p:spPr>
          <a:xfrm>
            <a:off x="8956715" y="4673918"/>
            <a:ext cx="2203490" cy="920472"/>
          </a:xfrm>
          <a:prstGeom prst="rect">
            <a:avLst/>
          </a:prstGeom>
          <a:noFill/>
          <a:ln/>
        </p:spPr>
        <p:txBody>
          <a:bodyPr wrap="squar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Planificación de procesos, asignación de tiempo de CPU</a:t>
            </a:r>
            <a:endParaRPr lang="en-US" sz="1500" dirty="0"/>
          </a:p>
        </p:txBody>
      </p:sp>
      <p:sp>
        <p:nvSpPr>
          <p:cNvPr id="16" name="Text 13"/>
          <p:cNvSpPr/>
          <p:nvPr/>
        </p:nvSpPr>
        <p:spPr>
          <a:xfrm>
            <a:off x="11551444" y="4673918"/>
            <a:ext cx="2207300" cy="1227296"/>
          </a:xfrm>
          <a:prstGeom prst="rect">
            <a:avLst/>
          </a:prstGeom>
          <a:noFill/>
          <a:ln/>
        </p:spPr>
        <p:txBody>
          <a:bodyPr wrap="squar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Algoritmos de planificación eficientes, balanceo de carga, uso de multi-core</a:t>
            </a:r>
            <a:endParaRPr lang="en-US" sz="1500" dirty="0"/>
          </a:p>
        </p:txBody>
      </p:sp>
      <p:sp>
        <p:nvSpPr>
          <p:cNvPr id="17" name="Shape 14"/>
          <p:cNvSpPr/>
          <p:nvPr/>
        </p:nvSpPr>
        <p:spPr>
          <a:xfrm>
            <a:off x="6165413" y="6023848"/>
            <a:ext cx="7785140" cy="1472565"/>
          </a:xfrm>
          <a:prstGeom prst="rect">
            <a:avLst/>
          </a:prstGeom>
          <a:solidFill>
            <a:srgbClr val="000000">
              <a:alpha val="4000"/>
            </a:srgbClr>
          </a:solidFill>
          <a:ln/>
        </p:spPr>
      </p:sp>
      <p:sp>
        <p:nvSpPr>
          <p:cNvPr id="18" name="Text 15"/>
          <p:cNvSpPr/>
          <p:nvPr/>
        </p:nvSpPr>
        <p:spPr>
          <a:xfrm>
            <a:off x="6358176" y="6146483"/>
            <a:ext cx="2207300" cy="306824"/>
          </a:xfrm>
          <a:prstGeom prst="rect">
            <a:avLst/>
          </a:prstGeom>
          <a:noFill/>
          <a:ln/>
        </p:spPr>
        <p:txBody>
          <a:bodyPr wrap="non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Almacenamiento</a:t>
            </a:r>
            <a:endParaRPr lang="en-US" sz="1500" dirty="0"/>
          </a:p>
        </p:txBody>
      </p:sp>
      <p:sp>
        <p:nvSpPr>
          <p:cNvPr id="19" name="Text 16"/>
          <p:cNvSpPr/>
          <p:nvPr/>
        </p:nvSpPr>
        <p:spPr>
          <a:xfrm>
            <a:off x="8956715" y="6146483"/>
            <a:ext cx="2203490" cy="920472"/>
          </a:xfrm>
          <a:prstGeom prst="rect">
            <a:avLst/>
          </a:prstGeom>
          <a:noFill/>
          <a:ln/>
        </p:spPr>
        <p:txBody>
          <a:bodyPr wrap="squar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Organización y acceso a archivos, gestión de discos</a:t>
            </a:r>
            <a:endParaRPr lang="en-US" sz="1500" dirty="0"/>
          </a:p>
        </p:txBody>
      </p:sp>
      <p:sp>
        <p:nvSpPr>
          <p:cNvPr id="20" name="Text 17"/>
          <p:cNvSpPr/>
          <p:nvPr/>
        </p:nvSpPr>
        <p:spPr>
          <a:xfrm>
            <a:off x="11551444" y="6146483"/>
            <a:ext cx="2207300" cy="1227296"/>
          </a:xfrm>
          <a:prstGeom prst="rect">
            <a:avLst/>
          </a:prstGeom>
          <a:noFill/>
          <a:ln/>
        </p:spPr>
        <p:txBody>
          <a:bodyPr wrap="square" lIns="0" tIns="0" rIns="0" bIns="0" rtlCol="0" anchor="t"/>
          <a:lstStyle/>
          <a:p>
            <a:pPr indent="0" marL="0">
              <a:lnSpc>
                <a:spcPts val="2400"/>
              </a:lnSpc>
              <a:buNone/>
            </a:pPr>
            <a:r>
              <a:rPr lang="en-US" sz="1500" dirty="0">
                <a:solidFill>
                  <a:srgbClr val="E0D6DE"/>
                </a:solidFill>
                <a:latin typeface="Noto Sans TC" pitchFamily="34" charset="0"/>
                <a:ea typeface="Noto Sans TC" pitchFamily="34" charset="-122"/>
                <a:cs typeface="Noto Sans TC" pitchFamily="34" charset="-120"/>
              </a:rPr>
              <a:t>Sistemas de archivos avanzados, técnicas de cache y buffering, desfragmentación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0932" y="621387"/>
            <a:ext cx="11078647" cy="706160"/>
          </a:xfrm>
          <a:prstGeom prst="rect">
            <a:avLst/>
          </a:prstGeom>
          <a:noFill/>
          <a:ln/>
        </p:spPr>
        <p:txBody>
          <a:bodyPr wrap="none" lIns="0" tIns="0" rIns="0" bIns="0" rtlCol="0" anchor="t"/>
          <a:lstStyle/>
          <a:p>
            <a:pPr indent="0" marL="0">
              <a:lnSpc>
                <a:spcPts val="5550"/>
              </a:lnSpc>
              <a:buNone/>
            </a:pPr>
            <a:r>
              <a:rPr lang="en-US" sz="4400" dirty="0">
                <a:solidFill>
                  <a:srgbClr val="97B8FF"/>
                </a:solidFill>
                <a:latin typeface="Sora Medium" pitchFamily="34" charset="0"/>
                <a:ea typeface="Sora Medium" pitchFamily="34" charset="-122"/>
                <a:cs typeface="Sora Medium" pitchFamily="34" charset="-120"/>
              </a:rPr>
              <a:t>Técnicas de Optimización de Recursos</a:t>
            </a:r>
            <a:endParaRPr lang="en-US" sz="4400" dirty="0"/>
          </a:p>
        </p:txBody>
      </p:sp>
      <p:pic>
        <p:nvPicPr>
          <p:cNvPr id="3" name="Image 0" descr="preencoded.png">    </p:cNvPr>
          <p:cNvPicPr>
            <a:picLocks noChangeAspect="1"/>
          </p:cNvPicPr>
          <p:nvPr/>
        </p:nvPicPr>
        <p:blipFill>
          <a:blip r:embed="rId1"/>
          <a:stretch>
            <a:fillRect/>
          </a:stretch>
        </p:blipFill>
        <p:spPr>
          <a:xfrm>
            <a:off x="790932" y="1779508"/>
            <a:ext cx="4123492" cy="2548414"/>
          </a:xfrm>
          <a:prstGeom prst="rect">
            <a:avLst/>
          </a:prstGeom>
        </p:spPr>
      </p:pic>
      <p:sp>
        <p:nvSpPr>
          <p:cNvPr id="4" name="Text 1"/>
          <p:cNvSpPr/>
          <p:nvPr/>
        </p:nvSpPr>
        <p:spPr>
          <a:xfrm>
            <a:off x="790932" y="4610338"/>
            <a:ext cx="4034314" cy="353139"/>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Optimización de la Memoria</a:t>
            </a:r>
            <a:endParaRPr lang="en-US" sz="2200" dirty="0"/>
          </a:p>
        </p:txBody>
      </p:sp>
      <p:sp>
        <p:nvSpPr>
          <p:cNvPr id="5" name="Text 2"/>
          <p:cNvSpPr/>
          <p:nvPr/>
        </p:nvSpPr>
        <p:spPr>
          <a:xfrm>
            <a:off x="790932" y="5098971"/>
            <a:ext cx="4123492" cy="1807369"/>
          </a:xfrm>
          <a:prstGeom prst="rect">
            <a:avLst/>
          </a:prstGeom>
          <a:noFill/>
          <a:ln/>
        </p:spPr>
        <p:txBody>
          <a:bodyPr wrap="square" lIns="0" tIns="0" rIns="0" bIns="0" rtlCol="0" anchor="t"/>
          <a:lstStyle/>
          <a:p>
            <a:pPr algn="l" indent="0" marL="0">
              <a:lnSpc>
                <a:spcPts val="2800"/>
              </a:lnSpc>
              <a:buNone/>
            </a:pPr>
            <a:r>
              <a:rPr lang="en-US" sz="1750" dirty="0">
                <a:solidFill>
                  <a:srgbClr val="E0D6DE"/>
                </a:solidFill>
                <a:latin typeface="Noto Sans TC" pitchFamily="34" charset="0"/>
                <a:ea typeface="Noto Sans TC" pitchFamily="34" charset="-122"/>
                <a:cs typeface="Noto Sans TC" pitchFamily="34" charset="-120"/>
              </a:rPr>
              <a:t>Linux implementa técnicas como la paginación, el uso de la memoria virtual y el caching para optimizar el uso de la memoria y mejorar el rendimiento del sistema.</a:t>
            </a:r>
            <a:endParaRPr lang="en-US" sz="1750" dirty="0"/>
          </a:p>
        </p:txBody>
      </p:sp>
      <p:pic>
        <p:nvPicPr>
          <p:cNvPr id="6" name="Image 1" descr="preencoded.png">    </p:cNvPr>
          <p:cNvPicPr>
            <a:picLocks noChangeAspect="1"/>
          </p:cNvPicPr>
          <p:nvPr/>
        </p:nvPicPr>
        <p:blipFill>
          <a:blip r:embed="rId2"/>
          <a:stretch>
            <a:fillRect/>
          </a:stretch>
        </p:blipFill>
        <p:spPr>
          <a:xfrm>
            <a:off x="5253395" y="1779508"/>
            <a:ext cx="4123492" cy="2548414"/>
          </a:xfrm>
          <a:prstGeom prst="rect">
            <a:avLst/>
          </a:prstGeom>
        </p:spPr>
      </p:pic>
      <p:sp>
        <p:nvSpPr>
          <p:cNvPr id="7" name="Text 3"/>
          <p:cNvSpPr/>
          <p:nvPr/>
        </p:nvSpPr>
        <p:spPr>
          <a:xfrm>
            <a:off x="5253395" y="4610338"/>
            <a:ext cx="3162300" cy="353139"/>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Optimización del CPU</a:t>
            </a:r>
            <a:endParaRPr lang="en-US" sz="2200" dirty="0"/>
          </a:p>
        </p:txBody>
      </p:sp>
      <p:sp>
        <p:nvSpPr>
          <p:cNvPr id="8" name="Text 4"/>
          <p:cNvSpPr/>
          <p:nvPr/>
        </p:nvSpPr>
        <p:spPr>
          <a:xfrm>
            <a:off x="5253395" y="5098971"/>
            <a:ext cx="4123492" cy="1807369"/>
          </a:xfrm>
          <a:prstGeom prst="rect">
            <a:avLst/>
          </a:prstGeom>
          <a:noFill/>
          <a:ln/>
        </p:spPr>
        <p:txBody>
          <a:bodyPr wrap="square" lIns="0" tIns="0" rIns="0" bIns="0" rtlCol="0" anchor="t"/>
          <a:lstStyle/>
          <a:p>
            <a:pPr algn="l" indent="0" marL="0">
              <a:lnSpc>
                <a:spcPts val="2800"/>
              </a:lnSpc>
              <a:buNone/>
            </a:pPr>
            <a:r>
              <a:rPr lang="en-US" sz="1750" dirty="0">
                <a:solidFill>
                  <a:srgbClr val="E0D6DE"/>
                </a:solidFill>
                <a:latin typeface="Noto Sans TC" pitchFamily="34" charset="0"/>
                <a:ea typeface="Noto Sans TC" pitchFamily="34" charset="-122"/>
                <a:cs typeface="Noto Sans TC" pitchFamily="34" charset="-120"/>
              </a:rPr>
              <a:t>El kernel de Linux emplea algoritmos de planificación avanzados y técnicas de balanceo de carga para distribuir eficientemente las tareas entre los núcleos del procesador.</a:t>
            </a:r>
            <a:endParaRPr lang="en-US" sz="1750" dirty="0"/>
          </a:p>
        </p:txBody>
      </p:sp>
      <p:pic>
        <p:nvPicPr>
          <p:cNvPr id="9" name="Image 2" descr="preencoded.png">    </p:cNvPr>
          <p:cNvPicPr>
            <a:picLocks noChangeAspect="1"/>
          </p:cNvPicPr>
          <p:nvPr/>
        </p:nvPicPr>
        <p:blipFill>
          <a:blip r:embed="rId3"/>
          <a:stretch>
            <a:fillRect/>
          </a:stretch>
        </p:blipFill>
        <p:spPr>
          <a:xfrm>
            <a:off x="9715857" y="1779508"/>
            <a:ext cx="4123492" cy="2548414"/>
          </a:xfrm>
          <a:prstGeom prst="rect">
            <a:avLst/>
          </a:prstGeom>
        </p:spPr>
      </p:pic>
      <p:sp>
        <p:nvSpPr>
          <p:cNvPr id="10" name="Text 5"/>
          <p:cNvSpPr/>
          <p:nvPr/>
        </p:nvSpPr>
        <p:spPr>
          <a:xfrm>
            <a:off x="9715857" y="4610338"/>
            <a:ext cx="4123492" cy="706279"/>
          </a:xfrm>
          <a:prstGeom prst="rect">
            <a:avLst/>
          </a:prstGeom>
          <a:noFill/>
          <a:ln/>
        </p:spPr>
        <p:txBody>
          <a:bodyPr wrap="square" lIns="0" tIns="0" rIns="0" bIns="0" rtlCol="0" anchor="t"/>
          <a:lstStyle/>
          <a:p>
            <a:pPr algn="l"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Optimización del Almacenamiento</a:t>
            </a:r>
            <a:endParaRPr lang="en-US" sz="2200" dirty="0"/>
          </a:p>
        </p:txBody>
      </p:sp>
      <p:sp>
        <p:nvSpPr>
          <p:cNvPr id="11" name="Text 6"/>
          <p:cNvSpPr/>
          <p:nvPr/>
        </p:nvSpPr>
        <p:spPr>
          <a:xfrm>
            <a:off x="9715857" y="5452110"/>
            <a:ext cx="4123492" cy="2168843"/>
          </a:xfrm>
          <a:prstGeom prst="rect">
            <a:avLst/>
          </a:prstGeom>
          <a:noFill/>
          <a:ln/>
        </p:spPr>
        <p:txBody>
          <a:bodyPr wrap="square" lIns="0" tIns="0" rIns="0" bIns="0" rtlCol="0" anchor="t"/>
          <a:lstStyle/>
          <a:p>
            <a:pPr algn="l" indent="0" marL="0">
              <a:lnSpc>
                <a:spcPts val="2800"/>
              </a:lnSpc>
              <a:buNone/>
            </a:pPr>
            <a:r>
              <a:rPr lang="en-US" sz="1750" dirty="0">
                <a:solidFill>
                  <a:srgbClr val="E0D6DE"/>
                </a:solidFill>
                <a:latin typeface="Noto Sans TC" pitchFamily="34" charset="0"/>
                <a:ea typeface="Noto Sans TC" pitchFamily="34" charset="-122"/>
                <a:cs typeface="Noto Sans TC" pitchFamily="34" charset="-120"/>
              </a:rPr>
              <a:t>Linux utiliza sistemas de archivos avanzados, técnicas de cache y buffering, y procedimientos de desfragmentación para optimizar el acceso y la gestión del almacenamiento del sistema.</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2024-11-04T02:01:06Z</dcterms:created>
  <dcterms:modified xsi:type="dcterms:W3CDTF">2024-11-04T02:01:06Z</dcterms:modified>
</cp:coreProperties>
</file>