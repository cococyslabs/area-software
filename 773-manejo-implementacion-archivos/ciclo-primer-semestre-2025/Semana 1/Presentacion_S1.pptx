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10287000" cx="18288000"/>
  <p:notesSz cx="6858000" cy="9144000"/>
  <p:embeddedFontLst>
    <p:embeddedFont>
      <p:font typeface="Play"/>
      <p:regular r:id="rId33"/>
      <p:bold r:id="rId34"/>
    </p:embeddedFont>
    <p:embeddedFont>
      <p:font typeface="Poppins"/>
      <p:regular r:id="rId35"/>
      <p:bold r:id="rId36"/>
      <p:italic r:id="rId37"/>
      <p:boldItalic r:id="rId38"/>
    </p:embeddedFont>
    <p:embeddedFont>
      <p:font typeface="Poppins Medium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hYgvwBqf6dONIy5hooIbxe+zrY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D20DEC-8470-40B2-AB11-91379B331498}">
  <a:tblStyle styleId="{CBD20DEC-8470-40B2-AB11-91379B33149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.fntdata"/><Relationship Id="rId20" Type="http://schemas.openxmlformats.org/officeDocument/2006/relationships/slide" Target="slides/slide14.xml"/><Relationship Id="rId42" Type="http://schemas.openxmlformats.org/officeDocument/2006/relationships/font" Target="fonts/PoppinsMedium-boldItalic.fntdata"/><Relationship Id="rId41" Type="http://schemas.openxmlformats.org/officeDocument/2006/relationships/font" Target="fonts/PoppinsMedium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bold.fntdata"/><Relationship Id="rId21" Type="http://schemas.openxmlformats.org/officeDocument/2006/relationships/slide" Target="slides/slide15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lay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oppins-regular.fntdata"/><Relationship Id="rId12" Type="http://schemas.openxmlformats.org/officeDocument/2006/relationships/slide" Target="slides/slide6.xml"/><Relationship Id="rId34" Type="http://schemas.openxmlformats.org/officeDocument/2006/relationships/font" Target="fonts/Play-bold.fntdata"/><Relationship Id="rId15" Type="http://schemas.openxmlformats.org/officeDocument/2006/relationships/slide" Target="slides/slide9.xml"/><Relationship Id="rId37" Type="http://schemas.openxmlformats.org/officeDocument/2006/relationships/font" Target="fonts/Poppins-italic.fntdata"/><Relationship Id="rId14" Type="http://schemas.openxmlformats.org/officeDocument/2006/relationships/slide" Target="slides/slide8.xml"/><Relationship Id="rId36" Type="http://schemas.openxmlformats.org/officeDocument/2006/relationships/font" Target="fonts/Poppins-bold.fntdata"/><Relationship Id="rId17" Type="http://schemas.openxmlformats.org/officeDocument/2006/relationships/slide" Target="slides/slide11.xml"/><Relationship Id="rId39" Type="http://schemas.openxmlformats.org/officeDocument/2006/relationships/font" Target="fonts/PoppinsMedium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c6d437e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2" name="Google Shape;82;g35c6d437eb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5c6d7beb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5c6d7beb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5c6d7bebe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5c6d7bebe3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5" name="Google Shape;49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8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28.png"/><Relationship Id="rId6" Type="http://schemas.openxmlformats.org/officeDocument/2006/relationships/image" Target="../media/image14.png"/><Relationship Id="rId7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11" Type="http://schemas.openxmlformats.org/officeDocument/2006/relationships/image" Target="../media/image31.png"/><Relationship Id="rId10" Type="http://schemas.openxmlformats.org/officeDocument/2006/relationships/image" Target="../media/image34.png"/><Relationship Id="rId12" Type="http://schemas.openxmlformats.org/officeDocument/2006/relationships/image" Target="../media/image38.png"/><Relationship Id="rId9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2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Relationship Id="rId8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9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28.png"/><Relationship Id="rId8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46.jp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8.png"/><Relationship Id="rId8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44.jp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8.png"/><Relationship Id="rId8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49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4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c6d437eb8_0_0"/>
          <p:cNvSpPr/>
          <p:nvPr/>
        </p:nvSpPr>
        <p:spPr>
          <a:xfrm>
            <a:off x="0" y="-1"/>
            <a:ext cx="18299833" cy="10312720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8550" lIns="137150" spcFirstLastPara="1" rIns="1371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" name="Google Shape;85;g35c6d437eb8_0_0"/>
          <p:cNvGraphicFramePr/>
          <p:nvPr/>
        </p:nvGraphicFramePr>
        <p:xfrm>
          <a:off x="10656401" y="1940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{CBD20DEC-8470-40B2-AB11-91379B331498}</a:tableStyleId>
              </a:tblPr>
              <a:tblGrid>
                <a:gridCol w="3030200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Lunes</a:t>
                      </a: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b="1" lang="en-US" sz="2900" u="none" cap="none" strike="noStrike"/>
                        <a:t>00</a:t>
                      </a: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/0</a:t>
                      </a:r>
                      <a:r>
                        <a:rPr b="1" lang="en-US" sz="29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00</a:t>
                      </a:r>
                      <a:r>
                        <a:rPr b="1" lang="en-US" sz="2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:00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g35c6d437eb8_0_0"/>
          <p:cNvSpPr txBox="1"/>
          <p:nvPr/>
        </p:nvSpPr>
        <p:spPr>
          <a:xfrm>
            <a:off x="2971774" y="4512776"/>
            <a:ext cx="13401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5c6d437eb8_0_0"/>
          <p:cNvSpPr txBox="1"/>
          <p:nvPr/>
        </p:nvSpPr>
        <p:spPr>
          <a:xfrm>
            <a:off x="9526173" y="5863251"/>
            <a:ext cx="68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xxxxxxxxxxxxxxxxxxxxxxxx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4" l="0" r="0" t="-38878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-160692" y="-149623"/>
            <a:ext cx="18606025" cy="10589664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8431"/>
            </a:srgbClr>
          </a:solid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 rot="-2308677">
            <a:off x="9916645" y="214959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7994524" y="6707106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5CE1E6"/>
          </a:solid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 txBox="1"/>
          <p:nvPr/>
        </p:nvSpPr>
        <p:spPr>
          <a:xfrm>
            <a:off x="817950" y="3429000"/>
            <a:ext cx="16248300" cy="24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Introducción a las tecnologías de almacenamiento y arquitecturas de los sistemas de </a:t>
            </a:r>
            <a:endParaRPr b="0" i="0" sz="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almacenamiento enfocadas en GNU/LINUX</a:t>
            </a:r>
            <a:endParaRPr b="0" i="0" sz="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943750" y="7894926"/>
            <a:ext cx="14201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Manejo e Implementación de Archivos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80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-160692" y="-90502"/>
            <a:ext cx="18596770" cy="10473763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5172272" y="6448224"/>
            <a:ext cx="2087028" cy="3109894"/>
          </a:xfrm>
          <a:custGeom>
            <a:rect b="b" l="l" r="r" t="t"/>
            <a:pathLst>
              <a:path extrusionOk="0" h="3109894" w="2087028">
                <a:moveTo>
                  <a:pt x="0" y="0"/>
                </a:moveTo>
                <a:lnTo>
                  <a:pt x="2087028" y="0"/>
                </a:lnTo>
                <a:lnTo>
                  <a:pt x="2087028" y="3109894"/>
                </a:lnTo>
                <a:lnTo>
                  <a:pt x="0" y="310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2"/>
          <p:cNvSpPr txBox="1"/>
          <p:nvPr/>
        </p:nvSpPr>
        <p:spPr>
          <a:xfrm>
            <a:off x="2327950" y="874175"/>
            <a:ext cx="6197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0"/>
              <a:buFont typeface="Arial"/>
              <a:buNone/>
            </a:pPr>
            <a:r>
              <a:rPr b="0" i="0" lang="en-US" sz="13200" u="none" cap="none" strike="noStrike">
                <a:solidFill>
                  <a:srgbClr val="131416"/>
                </a:solidFill>
                <a:latin typeface="Play"/>
                <a:ea typeface="Play"/>
                <a:cs typeface="Play"/>
                <a:sym typeface="Play"/>
              </a:rPr>
              <a:t>Agenda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2"/>
          <p:cNvGrpSpPr/>
          <p:nvPr/>
        </p:nvGrpSpPr>
        <p:grpSpPr>
          <a:xfrm>
            <a:off x="176619" y="4520483"/>
            <a:ext cx="4613562" cy="845568"/>
            <a:chOff x="0" y="-76200"/>
            <a:chExt cx="1964221" cy="36000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Corto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1" name="Google Shape;121;p2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5" name="Google Shape;125;p2"/>
          <p:cNvGrpSpPr/>
          <p:nvPr/>
        </p:nvGrpSpPr>
        <p:grpSpPr>
          <a:xfrm>
            <a:off x="176619" y="5444301"/>
            <a:ext cx="4613562" cy="845568"/>
            <a:chOff x="0" y="-76200"/>
            <a:chExt cx="1964221" cy="360000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Tarea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6425874"/>
            <a:ext cx="4613562" cy="845568"/>
            <a:chOff x="0" y="-76200"/>
            <a:chExt cx="1964221" cy="36000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" name="Google Shape;130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176619" y="7349456"/>
            <a:ext cx="4613562" cy="845568"/>
            <a:chOff x="0" y="-76200"/>
            <a:chExt cx="1964221" cy="360000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76619" y="8412914"/>
            <a:ext cx="4613562" cy="845568"/>
            <a:chOff x="0" y="-76200"/>
            <a:chExt cx="1964221" cy="360000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6" name="Google Shape;136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2"/>
          <p:cNvSpPr txBox="1"/>
          <p:nvPr/>
        </p:nvSpPr>
        <p:spPr>
          <a:xfrm>
            <a:off x="9135575" y="874175"/>
            <a:ext cx="74433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0"/>
              <a:buFont typeface="Arial"/>
              <a:buNone/>
            </a:pPr>
            <a:r>
              <a:rPr b="0" i="0" lang="en-US" sz="12800" u="none" cap="none" strike="noStrike">
                <a:solidFill>
                  <a:srgbClr val="131416"/>
                </a:solidFill>
                <a:latin typeface="Play"/>
                <a:ea typeface="Play"/>
                <a:cs typeface="Play"/>
                <a:sym typeface="Play"/>
              </a:rPr>
              <a:t>Recursos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9135575" y="3429000"/>
            <a:ext cx="7238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0" i="0" lang="en-US" sz="4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https://youtu.be/rQJuchC8MKc?si=9jMoxD6zCzyv90UT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148" name="Google Shape;148;p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9" name="Google Shape;149;p3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50" name="Google Shape;150;p3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1" name="Google Shape;151;p3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2" name="Google Shape;152;p3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3"/>
          <p:cNvSpPr txBox="1"/>
          <p:nvPr/>
        </p:nvSpPr>
        <p:spPr>
          <a:xfrm>
            <a:off x="5433075" y="497075"/>
            <a:ext cx="7921200" cy="17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8"/>
              <a:buFont typeface="Arial"/>
              <a:buNone/>
            </a:pPr>
            <a:r>
              <a:rPr b="0" i="0" lang="en-US" sz="51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1069602" y="2733350"/>
            <a:ext cx="15682200" cy="6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Supervisa el desempeño de sistemas de almacenamiento masivo mediante el uso de herramientas de monitoreo y análisis de métricas para identificar oportunidades de mejora en la disponibilidad, eficiencia y seguridad de los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160" name="Google Shape;160;p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1" name="Google Shape;161;p4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62" name="Google Shape;162;p4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3" name="Google Shape;163;p4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4" name="Google Shape;164;p4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5" name="Google Shape;165;p4"/>
          <p:cNvGrpSpPr/>
          <p:nvPr/>
        </p:nvGrpSpPr>
        <p:grpSpPr>
          <a:xfrm>
            <a:off x="540010" y="1789670"/>
            <a:ext cx="6707659" cy="6707659"/>
            <a:chOff x="0" y="0"/>
            <a:chExt cx="8943546" cy="8943546"/>
          </a:xfrm>
        </p:grpSpPr>
        <p:sp>
          <p:nvSpPr>
            <p:cNvPr id="166" name="Google Shape;166;p4"/>
            <p:cNvSpPr/>
            <p:nvPr/>
          </p:nvSpPr>
          <p:spPr>
            <a:xfrm>
              <a:off x="0" y="0"/>
              <a:ext cx="8943546" cy="8943546"/>
            </a:xfrm>
            <a:custGeom>
              <a:rect b="b" l="l" r="r" t="t"/>
              <a:pathLst>
                <a:path extrusionOk="0" h="8943546" w="8943546">
                  <a:moveTo>
                    <a:pt x="0" y="0"/>
                  </a:moveTo>
                  <a:lnTo>
                    <a:pt x="8943546" y="0"/>
                  </a:lnTo>
                  <a:lnTo>
                    <a:pt x="8943546" y="8943546"/>
                  </a:lnTo>
                  <a:lnTo>
                    <a:pt x="0" y="8943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7" name="Google Shape;167;p4"/>
            <p:cNvSpPr/>
            <p:nvPr/>
          </p:nvSpPr>
          <p:spPr>
            <a:xfrm>
              <a:off x="476944" y="476944"/>
              <a:ext cx="7989659" cy="7989659"/>
            </a:xfrm>
            <a:custGeom>
              <a:rect b="b" l="l" r="r" t="t"/>
              <a:pathLst>
                <a:path extrusionOk="0" h="7989659" w="7989659">
                  <a:moveTo>
                    <a:pt x="0" y="0"/>
                  </a:moveTo>
                  <a:lnTo>
                    <a:pt x="7989658" y="0"/>
                  </a:lnTo>
                  <a:lnTo>
                    <a:pt x="7989658" y="7989658"/>
                  </a:lnTo>
                  <a:lnTo>
                    <a:pt x="0" y="7989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8" name="Google Shape;168;p4"/>
          <p:cNvSpPr/>
          <p:nvPr/>
        </p:nvSpPr>
        <p:spPr>
          <a:xfrm>
            <a:off x="1003789" y="2310208"/>
            <a:ext cx="5648705" cy="564870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38878" r="-3887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8094925" y="4659326"/>
            <a:ext cx="7054388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1" lang="en-US" sz="4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Elementos básicos de almacenamiento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175" name="Google Shape;175;p5"/>
          <p:cNvSpPr/>
          <p:nvPr/>
        </p:nvSpPr>
        <p:spPr>
          <a:xfrm rot="-2308677">
            <a:off x="9237581" y="2396877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6" name="Google Shape;176;p5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77" name="Google Shape;177;p5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8" name="Google Shape;178;p5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9" name="Google Shape;179;p5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5"/>
          <p:cNvSpPr/>
          <p:nvPr/>
        </p:nvSpPr>
        <p:spPr>
          <a:xfrm>
            <a:off x="5328086" y="5687786"/>
            <a:ext cx="7631828" cy="3750347"/>
          </a:xfrm>
          <a:custGeom>
            <a:rect b="b" l="l" r="r" t="t"/>
            <a:pathLst>
              <a:path extrusionOk="0" h="3750347" w="7631828">
                <a:moveTo>
                  <a:pt x="0" y="0"/>
                </a:moveTo>
                <a:lnTo>
                  <a:pt x="7631828" y="0"/>
                </a:lnTo>
                <a:lnTo>
                  <a:pt x="7631828" y="3750346"/>
                </a:lnTo>
                <a:lnTo>
                  <a:pt x="0" y="3750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048" l="0" r="0" t="-4045"/>
            </a:stretch>
          </a:blipFill>
          <a:ln>
            <a:noFill/>
          </a:ln>
        </p:spPr>
      </p:sp>
      <p:sp>
        <p:nvSpPr>
          <p:cNvPr id="181" name="Google Shape;181;p5"/>
          <p:cNvSpPr txBox="1"/>
          <p:nvPr/>
        </p:nvSpPr>
        <p:spPr>
          <a:xfrm>
            <a:off x="3686177" y="1373051"/>
            <a:ext cx="1091564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¿Qué son los elementos básicos de almacenamientos?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531628" y="3368493"/>
            <a:ext cx="1138526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Se refieren a los componentes esenciales y conceptos fundamentales que juegan un papel crucial en el almacenamiento y gestión de datos.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188" name="Google Shape;188;p6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9" name="Google Shape;189;p6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90" name="Google Shape;190;p6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1" name="Google Shape;191;p6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2" name="Google Shape;192;p6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6"/>
          <p:cNvSpPr/>
          <p:nvPr/>
        </p:nvSpPr>
        <p:spPr>
          <a:xfrm>
            <a:off x="11351941" y="4558332"/>
            <a:ext cx="5131837" cy="4114800"/>
          </a:xfrm>
          <a:custGeom>
            <a:rect b="b" l="l" r="r" t="t"/>
            <a:pathLst>
              <a:path extrusionOk="0" h="4114800" w="5131837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6"/>
          <p:cNvSpPr txBox="1"/>
          <p:nvPr/>
        </p:nvSpPr>
        <p:spPr>
          <a:xfrm>
            <a:off x="3451366" y="3089807"/>
            <a:ext cx="1091564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¿Cuáles son los elementos básicos de almacenamientos?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3451366" y="5296676"/>
            <a:ext cx="11385267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Las unidades de Medida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201" name="Google Shape;201;p7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7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7"/>
          <p:cNvSpPr/>
          <p:nvPr/>
        </p:nvSpPr>
        <p:spPr>
          <a:xfrm>
            <a:off x="8926759" y="646468"/>
            <a:ext cx="8998026" cy="8998026"/>
          </a:xfrm>
          <a:custGeom>
            <a:rect b="b" l="l" r="r" t="t"/>
            <a:pathLst>
              <a:path extrusionOk="0" h="8998026" w="8998026">
                <a:moveTo>
                  <a:pt x="0" y="0"/>
                </a:moveTo>
                <a:lnTo>
                  <a:pt x="8998027" y="0"/>
                </a:lnTo>
                <a:lnTo>
                  <a:pt x="8998027" y="8998027"/>
                </a:lnTo>
                <a:lnTo>
                  <a:pt x="0" y="8998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7"/>
          <p:cNvSpPr/>
          <p:nvPr/>
        </p:nvSpPr>
        <p:spPr>
          <a:xfrm>
            <a:off x="9467671" y="1185398"/>
            <a:ext cx="7916204" cy="7916204"/>
          </a:xfrm>
          <a:custGeom>
            <a:rect b="b" l="l" r="r" t="t"/>
            <a:pathLst>
              <a:path extrusionOk="0" h="7916204" w="7916204">
                <a:moveTo>
                  <a:pt x="0" y="0"/>
                </a:moveTo>
                <a:lnTo>
                  <a:pt x="7916203" y="0"/>
                </a:lnTo>
                <a:lnTo>
                  <a:pt x="7916203" y="7916204"/>
                </a:lnTo>
                <a:lnTo>
                  <a:pt x="0" y="7916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7"/>
          <p:cNvSpPr/>
          <p:nvPr/>
        </p:nvSpPr>
        <p:spPr>
          <a:xfrm>
            <a:off x="9641273" y="1355508"/>
            <a:ext cx="7550751" cy="7550751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7775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07" name="Google Shape;207;p7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8" name="Google Shape;208;p7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09" name="Google Shape;209;p7"/>
          <p:cNvSpPr txBox="1"/>
          <p:nvPr/>
        </p:nvSpPr>
        <p:spPr>
          <a:xfrm>
            <a:off x="1028700" y="3234034"/>
            <a:ext cx="647125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Historia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1116036" y="4498410"/>
            <a:ext cx="6296585" cy="4026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Antes de “bit” la unidades eran menos estándar.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Claude Shannon en 1948  introdujo el concepto de "bit".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IBM en 1956 crea IBM 704 una de las primeras computadoras comerciales en usar el termino “bit”.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grpSp>
        <p:nvGrpSpPr>
          <p:cNvPr id="216" name="Google Shape;216;p8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17" name="Google Shape;217;p8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8" name="Google Shape;218;p8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19" name="Google Shape;219;p8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8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221" name="Google Shape;221;p8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2" name="Google Shape;222;p8"/>
          <p:cNvGrpSpPr/>
          <p:nvPr/>
        </p:nvGrpSpPr>
        <p:grpSpPr>
          <a:xfrm>
            <a:off x="359440" y="5364501"/>
            <a:ext cx="2042376" cy="2245489"/>
            <a:chOff x="0" y="-19050"/>
            <a:chExt cx="537910" cy="591404"/>
          </a:xfrm>
        </p:grpSpPr>
        <p:sp>
          <p:nvSpPr>
            <p:cNvPr id="223" name="Google Shape;223;p8"/>
            <p:cNvSpPr/>
            <p:nvPr/>
          </p:nvSpPr>
          <p:spPr>
            <a:xfrm>
              <a:off x="0" y="0"/>
              <a:ext cx="537910" cy="572354"/>
            </a:xfrm>
            <a:custGeom>
              <a:rect b="b" l="l" r="r" t="t"/>
              <a:pathLst>
                <a:path extrusionOk="0" h="572354" w="537910">
                  <a:moveTo>
                    <a:pt x="0" y="0"/>
                  </a:moveTo>
                  <a:lnTo>
                    <a:pt x="537910" y="0"/>
                  </a:lnTo>
                  <a:lnTo>
                    <a:pt x="537910" y="572354"/>
                  </a:lnTo>
                  <a:lnTo>
                    <a:pt x="0" y="572354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24" name="Google Shape;224;p8"/>
            <p:cNvSpPr txBox="1"/>
            <p:nvPr/>
          </p:nvSpPr>
          <p:spPr>
            <a:xfrm>
              <a:off x="0" y="-19050"/>
              <a:ext cx="537910" cy="591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8"/>
          <p:cNvSpPr/>
          <p:nvPr/>
        </p:nvSpPr>
        <p:spPr>
          <a:xfrm>
            <a:off x="570760" y="5673523"/>
            <a:ext cx="1545306" cy="1723337"/>
          </a:xfrm>
          <a:custGeom>
            <a:rect b="b" l="l" r="r" t="t"/>
            <a:pathLst>
              <a:path extrusionOk="0" h="1723337" w="1545306">
                <a:moveTo>
                  <a:pt x="0" y="0"/>
                </a:moveTo>
                <a:lnTo>
                  <a:pt x="1545306" y="0"/>
                </a:lnTo>
                <a:lnTo>
                  <a:pt x="1545306" y="1723336"/>
                </a:lnTo>
                <a:lnTo>
                  <a:pt x="0" y="1723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6" name="Google Shape;226;p8"/>
          <p:cNvGrpSpPr/>
          <p:nvPr/>
        </p:nvGrpSpPr>
        <p:grpSpPr>
          <a:xfrm>
            <a:off x="2822656" y="5351230"/>
            <a:ext cx="3234602" cy="2234566"/>
            <a:chOff x="0" y="-19050"/>
            <a:chExt cx="1003436" cy="693206"/>
          </a:xfrm>
        </p:grpSpPr>
        <p:sp>
          <p:nvSpPr>
            <p:cNvPr id="227" name="Google Shape;227;p8"/>
            <p:cNvSpPr/>
            <p:nvPr/>
          </p:nvSpPr>
          <p:spPr>
            <a:xfrm>
              <a:off x="0" y="0"/>
              <a:ext cx="1003436" cy="674156"/>
            </a:xfrm>
            <a:custGeom>
              <a:rect b="b" l="l" r="r" t="t"/>
              <a:pathLst>
                <a:path extrusionOk="0" h="674156" w="1003436">
                  <a:moveTo>
                    <a:pt x="0" y="0"/>
                  </a:moveTo>
                  <a:lnTo>
                    <a:pt x="1003436" y="0"/>
                  </a:lnTo>
                  <a:lnTo>
                    <a:pt x="1003436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28" name="Google Shape;228;p8"/>
            <p:cNvSpPr txBox="1"/>
            <p:nvPr/>
          </p:nvSpPr>
          <p:spPr>
            <a:xfrm>
              <a:off x="0" y="-19050"/>
              <a:ext cx="1003436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8"/>
          <p:cNvSpPr/>
          <p:nvPr/>
        </p:nvSpPr>
        <p:spPr>
          <a:xfrm>
            <a:off x="3016523" y="5602478"/>
            <a:ext cx="2826678" cy="1793479"/>
          </a:xfrm>
          <a:custGeom>
            <a:rect b="b" l="l" r="r" t="t"/>
            <a:pathLst>
              <a:path extrusionOk="0" h="1793479" w="2826678">
                <a:moveTo>
                  <a:pt x="0" y="0"/>
                </a:moveTo>
                <a:lnTo>
                  <a:pt x="2826678" y="0"/>
                </a:lnTo>
                <a:lnTo>
                  <a:pt x="2826678" y="1793479"/>
                </a:lnTo>
                <a:lnTo>
                  <a:pt x="0" y="1793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0" name="Google Shape;230;p8"/>
          <p:cNvGrpSpPr/>
          <p:nvPr/>
        </p:nvGrpSpPr>
        <p:grpSpPr>
          <a:xfrm>
            <a:off x="6478098" y="5388216"/>
            <a:ext cx="3234602" cy="2234566"/>
            <a:chOff x="0" y="-19050"/>
            <a:chExt cx="1003436" cy="693206"/>
          </a:xfrm>
        </p:grpSpPr>
        <p:sp>
          <p:nvSpPr>
            <p:cNvPr id="231" name="Google Shape;231;p8"/>
            <p:cNvSpPr/>
            <p:nvPr/>
          </p:nvSpPr>
          <p:spPr>
            <a:xfrm>
              <a:off x="0" y="0"/>
              <a:ext cx="1003436" cy="674156"/>
            </a:xfrm>
            <a:custGeom>
              <a:rect b="b" l="l" r="r" t="t"/>
              <a:pathLst>
                <a:path extrusionOk="0" h="674156" w="1003436">
                  <a:moveTo>
                    <a:pt x="0" y="0"/>
                  </a:moveTo>
                  <a:lnTo>
                    <a:pt x="1003436" y="0"/>
                  </a:lnTo>
                  <a:lnTo>
                    <a:pt x="1003436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32" name="Google Shape;232;p8"/>
            <p:cNvSpPr txBox="1"/>
            <p:nvPr/>
          </p:nvSpPr>
          <p:spPr>
            <a:xfrm>
              <a:off x="0" y="-19050"/>
              <a:ext cx="1003436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8"/>
          <p:cNvSpPr/>
          <p:nvPr/>
        </p:nvSpPr>
        <p:spPr>
          <a:xfrm>
            <a:off x="6628339" y="5698661"/>
            <a:ext cx="2934121" cy="1700669"/>
          </a:xfrm>
          <a:custGeom>
            <a:rect b="b" l="l" r="r" t="t"/>
            <a:pathLst>
              <a:path extrusionOk="0" h="1700669" w="2934121">
                <a:moveTo>
                  <a:pt x="0" y="0"/>
                </a:moveTo>
                <a:lnTo>
                  <a:pt x="2934121" y="0"/>
                </a:lnTo>
                <a:lnTo>
                  <a:pt x="2934121" y="1700668"/>
                </a:lnTo>
                <a:lnTo>
                  <a:pt x="0" y="1700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4" name="Google Shape;234;p8"/>
          <p:cNvGrpSpPr/>
          <p:nvPr/>
        </p:nvGrpSpPr>
        <p:grpSpPr>
          <a:xfrm>
            <a:off x="10131801" y="5351230"/>
            <a:ext cx="1968318" cy="2234566"/>
            <a:chOff x="0" y="-19050"/>
            <a:chExt cx="610610" cy="693206"/>
          </a:xfrm>
        </p:grpSpPr>
        <p:sp>
          <p:nvSpPr>
            <p:cNvPr id="235" name="Google Shape;235;p8"/>
            <p:cNvSpPr/>
            <p:nvPr/>
          </p:nvSpPr>
          <p:spPr>
            <a:xfrm>
              <a:off x="0" y="0"/>
              <a:ext cx="610610" cy="674156"/>
            </a:xfrm>
            <a:custGeom>
              <a:rect b="b" l="l" r="r" t="t"/>
              <a:pathLst>
                <a:path extrusionOk="0" h="674156" w="610610">
                  <a:moveTo>
                    <a:pt x="0" y="0"/>
                  </a:moveTo>
                  <a:lnTo>
                    <a:pt x="610610" y="0"/>
                  </a:lnTo>
                  <a:lnTo>
                    <a:pt x="610610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36" name="Google Shape;236;p8"/>
            <p:cNvSpPr txBox="1"/>
            <p:nvPr/>
          </p:nvSpPr>
          <p:spPr>
            <a:xfrm>
              <a:off x="0" y="-19050"/>
              <a:ext cx="610610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8"/>
          <p:cNvSpPr/>
          <p:nvPr/>
        </p:nvSpPr>
        <p:spPr>
          <a:xfrm>
            <a:off x="10455652" y="5661675"/>
            <a:ext cx="1320615" cy="1705794"/>
          </a:xfrm>
          <a:custGeom>
            <a:rect b="b" l="l" r="r" t="t"/>
            <a:pathLst>
              <a:path extrusionOk="0" h="1705794" w="1320615">
                <a:moveTo>
                  <a:pt x="0" y="0"/>
                </a:moveTo>
                <a:lnTo>
                  <a:pt x="1320615" y="0"/>
                </a:lnTo>
                <a:lnTo>
                  <a:pt x="1320615" y="1705794"/>
                </a:lnTo>
                <a:lnTo>
                  <a:pt x="0" y="1705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8"/>
          <p:cNvSpPr txBox="1"/>
          <p:nvPr/>
        </p:nvSpPr>
        <p:spPr>
          <a:xfrm>
            <a:off x="0" y="7984121"/>
            <a:ext cx="296492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2886022" y="7993646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5722069" y="7993646"/>
            <a:ext cx="4746661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KILOBYTE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9288916" y="7993646"/>
            <a:ext cx="3654087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MEGABYTE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2994738" y="981075"/>
            <a:ext cx="12282724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Unidades de Medida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1380628" y="2421319"/>
            <a:ext cx="15510944" cy="1757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Así como empleamos medidas para determinar el tamaño o las dimensiones físicas de objetos, también existen unidades de medida específicas que nos permiten cuantificar la capacidad de almacenamiento de información o procesamiento de datos.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8"/>
          <p:cNvGrpSpPr/>
          <p:nvPr/>
        </p:nvGrpSpPr>
        <p:grpSpPr>
          <a:xfrm>
            <a:off x="12519219" y="5375424"/>
            <a:ext cx="2532715" cy="2234566"/>
            <a:chOff x="0" y="-19050"/>
            <a:chExt cx="785697" cy="693206"/>
          </a:xfrm>
        </p:grpSpPr>
        <p:sp>
          <p:nvSpPr>
            <p:cNvPr id="245" name="Google Shape;245;p8"/>
            <p:cNvSpPr/>
            <p:nvPr/>
          </p:nvSpPr>
          <p:spPr>
            <a:xfrm>
              <a:off x="0" y="0"/>
              <a:ext cx="785697" cy="674156"/>
            </a:xfrm>
            <a:custGeom>
              <a:rect b="b" l="l" r="r" t="t"/>
              <a:pathLst>
                <a:path extrusionOk="0" h="674156" w="785697">
                  <a:moveTo>
                    <a:pt x="0" y="0"/>
                  </a:moveTo>
                  <a:lnTo>
                    <a:pt x="785697" y="0"/>
                  </a:lnTo>
                  <a:lnTo>
                    <a:pt x="785697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46" name="Google Shape;246;p8"/>
            <p:cNvSpPr txBox="1"/>
            <p:nvPr/>
          </p:nvSpPr>
          <p:spPr>
            <a:xfrm>
              <a:off x="0" y="-19050"/>
              <a:ext cx="785697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8"/>
          <p:cNvSpPr/>
          <p:nvPr/>
        </p:nvSpPr>
        <p:spPr>
          <a:xfrm>
            <a:off x="12804969" y="5992738"/>
            <a:ext cx="1909016" cy="1112514"/>
          </a:xfrm>
          <a:custGeom>
            <a:rect b="b" l="l" r="r" t="t"/>
            <a:pathLst>
              <a:path extrusionOk="0" h="1112514" w="1909016">
                <a:moveTo>
                  <a:pt x="0" y="0"/>
                </a:moveTo>
                <a:lnTo>
                  <a:pt x="1909015" y="0"/>
                </a:lnTo>
                <a:lnTo>
                  <a:pt x="1909015" y="1112514"/>
                </a:lnTo>
                <a:lnTo>
                  <a:pt x="0" y="1112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-20538" t="0"/>
            </a:stretch>
          </a:blipFill>
          <a:ln>
            <a:noFill/>
          </a:ln>
        </p:spPr>
      </p:sp>
      <p:sp>
        <p:nvSpPr>
          <p:cNvPr id="248" name="Google Shape;248;p8"/>
          <p:cNvSpPr txBox="1"/>
          <p:nvPr/>
        </p:nvSpPr>
        <p:spPr>
          <a:xfrm>
            <a:off x="12157606" y="7974342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GIGABYTE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8"/>
          <p:cNvGrpSpPr/>
          <p:nvPr/>
        </p:nvGrpSpPr>
        <p:grpSpPr>
          <a:xfrm>
            <a:off x="15471034" y="5364383"/>
            <a:ext cx="2671342" cy="2221413"/>
            <a:chOff x="0" y="-19050"/>
            <a:chExt cx="833609" cy="693206"/>
          </a:xfrm>
        </p:grpSpPr>
        <p:sp>
          <p:nvSpPr>
            <p:cNvPr id="250" name="Google Shape;250;p8"/>
            <p:cNvSpPr/>
            <p:nvPr/>
          </p:nvSpPr>
          <p:spPr>
            <a:xfrm>
              <a:off x="0" y="0"/>
              <a:ext cx="833609" cy="674156"/>
            </a:xfrm>
            <a:custGeom>
              <a:rect b="b" l="l" r="r" t="t"/>
              <a:pathLst>
                <a:path extrusionOk="0" h="674156" w="833609">
                  <a:moveTo>
                    <a:pt x="0" y="0"/>
                  </a:moveTo>
                  <a:lnTo>
                    <a:pt x="833609" y="0"/>
                  </a:lnTo>
                  <a:lnTo>
                    <a:pt x="833609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51" name="Google Shape;251;p8"/>
            <p:cNvSpPr txBox="1"/>
            <p:nvPr/>
          </p:nvSpPr>
          <p:spPr>
            <a:xfrm>
              <a:off x="0" y="-19050"/>
              <a:ext cx="833609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8"/>
          <p:cNvSpPr/>
          <p:nvPr/>
        </p:nvSpPr>
        <p:spPr>
          <a:xfrm>
            <a:off x="15794884" y="5775913"/>
            <a:ext cx="1997372" cy="1520580"/>
          </a:xfrm>
          <a:custGeom>
            <a:rect b="b" l="l" r="r" t="t"/>
            <a:pathLst>
              <a:path extrusionOk="0" h="1520580" w="1997372">
                <a:moveTo>
                  <a:pt x="0" y="0"/>
                </a:moveTo>
                <a:lnTo>
                  <a:pt x="1997372" y="0"/>
                </a:lnTo>
                <a:lnTo>
                  <a:pt x="1997372" y="1520580"/>
                </a:lnTo>
                <a:lnTo>
                  <a:pt x="0" y="152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8"/>
          <p:cNvSpPr txBox="1"/>
          <p:nvPr/>
        </p:nvSpPr>
        <p:spPr>
          <a:xfrm>
            <a:off x="14518242" y="7993646"/>
            <a:ext cx="4746661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TERABYTE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259" name="Google Shape;259;p9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9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9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62" name="Google Shape;262;p9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3" name="Google Shape;263;p9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64" name="Google Shape;264;p9"/>
          <p:cNvSpPr txBox="1"/>
          <p:nvPr/>
        </p:nvSpPr>
        <p:spPr>
          <a:xfrm>
            <a:off x="1028700" y="3971994"/>
            <a:ext cx="10222767" cy="3626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 la unidad mínima de información empleada en informática.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Este puede utilizarse para representar dos valores: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0 y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Apagado y Encendido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Verdadero y Falso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Abierto y Cerrado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5379132" y="6061758"/>
            <a:ext cx="1880168" cy="3547486"/>
          </a:xfrm>
          <a:custGeom>
            <a:rect b="b" l="l" r="r" t="t"/>
            <a:pathLst>
              <a:path extrusionOk="0" h="3547486" w="1880168">
                <a:moveTo>
                  <a:pt x="0" y="0"/>
                </a:moveTo>
                <a:lnTo>
                  <a:pt x="1880168" y="0"/>
                </a:lnTo>
                <a:lnTo>
                  <a:pt x="1880168" y="3547486"/>
                </a:lnTo>
                <a:lnTo>
                  <a:pt x="0" y="354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9"/>
          <p:cNvSpPr txBox="1"/>
          <p:nvPr/>
        </p:nvSpPr>
        <p:spPr>
          <a:xfrm>
            <a:off x="5053984" y="2707490"/>
            <a:ext cx="217219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272" name="Google Shape;272;p10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0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4" name="Google Shape;274;p10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75" name="Google Shape;275;p10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6" name="Google Shape;276;p10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7" name="Google Shape;277;p10"/>
          <p:cNvSpPr/>
          <p:nvPr/>
        </p:nvSpPr>
        <p:spPr>
          <a:xfrm>
            <a:off x="14916895" y="7116828"/>
            <a:ext cx="1592951" cy="1619451"/>
          </a:xfrm>
          <a:custGeom>
            <a:rect b="b" l="l" r="r" t="t"/>
            <a:pathLst>
              <a:path extrusionOk="0" h="1619451" w="1592951">
                <a:moveTo>
                  <a:pt x="0" y="0"/>
                </a:moveTo>
                <a:lnTo>
                  <a:pt x="1592951" y="0"/>
                </a:lnTo>
                <a:lnTo>
                  <a:pt x="1592951" y="1619450"/>
                </a:lnTo>
                <a:lnTo>
                  <a:pt x="0" y="1619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0"/>
          <p:cNvSpPr txBox="1"/>
          <p:nvPr/>
        </p:nvSpPr>
        <p:spPr>
          <a:xfrm>
            <a:off x="1028700" y="3971994"/>
            <a:ext cx="10222767" cy="282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 un conjunto de  8 bits, de ahí su similitud con el concepto de “octeto”.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tamaño en bits de un byte se basa a su vez en la codificación de caracteres ASCII, en los cuales es posible representar cada uno de los caracteres de este como una cadena binaria equivalente a 1 byte.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5053984" y="2707490"/>
            <a:ext cx="217219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4539639" y="8919845"/>
            <a:ext cx="2369106" cy="6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01000001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286" name="Google Shape;286;p11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1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8" name="Google Shape;288;p11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89" name="Google Shape;289;p11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0" name="Google Shape;290;p11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91" name="Google Shape;291;p11"/>
          <p:cNvSpPr/>
          <p:nvPr/>
        </p:nvSpPr>
        <p:spPr>
          <a:xfrm>
            <a:off x="15614441" y="6585981"/>
            <a:ext cx="1783166" cy="2672319"/>
          </a:xfrm>
          <a:custGeom>
            <a:rect b="b" l="l" r="r" t="t"/>
            <a:pathLst>
              <a:path extrusionOk="0" h="2672319" w="1783166">
                <a:moveTo>
                  <a:pt x="0" y="0"/>
                </a:moveTo>
                <a:lnTo>
                  <a:pt x="1783165" y="0"/>
                </a:lnTo>
                <a:lnTo>
                  <a:pt x="1783165" y="2672319"/>
                </a:lnTo>
                <a:lnTo>
                  <a:pt x="0" y="2672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1"/>
          <p:cNvSpPr txBox="1"/>
          <p:nvPr/>
        </p:nvSpPr>
        <p:spPr>
          <a:xfrm>
            <a:off x="1028700" y="4695815"/>
            <a:ext cx="10222767" cy="282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bit y el byte son las principales unidades de almacenamiento.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 representar una cantidad grande de almacenamiento puede resultar demasiado complejo por esto mismo se usan los prefijos para representar grandes cantidades de manera mas sencilla.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3623120" y="2707490"/>
            <a:ext cx="503392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Otras 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299" name="Google Shape;299;p12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12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12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12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303" name="Google Shape;303;p12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2"/>
          <p:cNvSpPr/>
          <p:nvPr/>
        </p:nvSpPr>
        <p:spPr>
          <a:xfrm>
            <a:off x="5979223" y="2854141"/>
            <a:ext cx="6329554" cy="6404159"/>
          </a:xfrm>
          <a:custGeom>
            <a:rect b="b" l="l" r="r" t="t"/>
            <a:pathLst>
              <a:path extrusionOk="0" h="6404159" w="6329554">
                <a:moveTo>
                  <a:pt x="0" y="0"/>
                </a:moveTo>
                <a:lnTo>
                  <a:pt x="6329554" y="0"/>
                </a:lnTo>
                <a:lnTo>
                  <a:pt x="6329554" y="6404159"/>
                </a:lnTo>
                <a:lnTo>
                  <a:pt x="0" y="6404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77260" t="0"/>
            </a:stretch>
          </a:blipFill>
          <a:ln>
            <a:noFill/>
          </a:ln>
        </p:spPr>
      </p:sp>
      <p:sp>
        <p:nvSpPr>
          <p:cNvPr id="305" name="Google Shape;305;p12"/>
          <p:cNvSpPr txBox="1"/>
          <p:nvPr/>
        </p:nvSpPr>
        <p:spPr>
          <a:xfrm>
            <a:off x="3908316" y="1529947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Tabla de 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311" name="Google Shape;311;p13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13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4" name="Google Shape;314;p13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315" name="Google Shape;315;p13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316" name="Google Shape;316;p13"/>
          <p:cNvGraphicFramePr/>
          <p:nvPr/>
        </p:nvGraphicFramePr>
        <p:xfrm>
          <a:off x="4278504" y="3609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{CBD20DEC-8470-40B2-AB11-91379B331498}</a:tableStyleId>
              </a:tblPr>
              <a:tblGrid>
                <a:gridCol w="3243675"/>
                <a:gridCol w="3243675"/>
                <a:gridCol w="3243675"/>
              </a:tblGrid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Potencia de 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Cantidad de Bytes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=10^12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13"/>
          <p:cNvSpPr txBox="1"/>
          <p:nvPr/>
        </p:nvSpPr>
        <p:spPr>
          <a:xfrm>
            <a:off x="3908316" y="1379222"/>
            <a:ext cx="1047136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Tablas Unidades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Potencia de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323" name="Google Shape;323;p14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14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5" name="Google Shape;325;p1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14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grpSp>
        <p:nvGrpSpPr>
          <p:cNvPr id="327" name="Google Shape;327;p14"/>
          <p:cNvGrpSpPr/>
          <p:nvPr/>
        </p:nvGrpSpPr>
        <p:grpSpPr>
          <a:xfrm>
            <a:off x="1230955" y="4506446"/>
            <a:ext cx="4837579" cy="4837579"/>
            <a:chOff x="0" y="0"/>
            <a:chExt cx="6450106" cy="6450106"/>
          </a:xfrm>
        </p:grpSpPr>
        <p:sp>
          <p:nvSpPr>
            <p:cNvPr id="328" name="Google Shape;328;p14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29" name="Google Shape;329;p14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" name="Google Shape;332;p14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33" name="Google Shape;333;p14"/>
          <p:cNvSpPr txBox="1"/>
          <p:nvPr/>
        </p:nvSpPr>
        <p:spPr>
          <a:xfrm>
            <a:off x="1404263" y="5947726"/>
            <a:ext cx="4490964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4448110" y="2274102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Tres Conceptos Claves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6" name="Google Shape;336;p14"/>
          <p:cNvGrpSpPr/>
          <p:nvPr/>
        </p:nvGrpSpPr>
        <p:grpSpPr>
          <a:xfrm>
            <a:off x="6735492" y="4506446"/>
            <a:ext cx="4837579" cy="4837579"/>
            <a:chOff x="0" y="0"/>
            <a:chExt cx="6450106" cy="6450106"/>
          </a:xfrm>
        </p:grpSpPr>
        <p:sp>
          <p:nvSpPr>
            <p:cNvPr id="337" name="Google Shape;337;p14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38" name="Google Shape;338;p14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339" name="Google Shape;339;p1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" name="Google Shape;341;p14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42" name="Google Shape;342;p14"/>
          <p:cNvSpPr txBox="1"/>
          <p:nvPr/>
        </p:nvSpPr>
        <p:spPr>
          <a:xfrm>
            <a:off x="7351002" y="5947726"/>
            <a:ext cx="3606559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14"/>
          <p:cNvGrpSpPr/>
          <p:nvPr/>
        </p:nvGrpSpPr>
        <p:grpSpPr>
          <a:xfrm>
            <a:off x="12209184" y="4506446"/>
            <a:ext cx="4837579" cy="4837579"/>
            <a:chOff x="0" y="0"/>
            <a:chExt cx="6450106" cy="6450106"/>
          </a:xfrm>
        </p:grpSpPr>
        <p:sp>
          <p:nvSpPr>
            <p:cNvPr id="344" name="Google Shape;344;p14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45" name="Google Shape;345;p14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346" name="Google Shape;346;p1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8" name="Google Shape;348;p14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49" name="Google Shape;349;p14"/>
          <p:cNvSpPr txBox="1"/>
          <p:nvPr/>
        </p:nvSpPr>
        <p:spPr>
          <a:xfrm>
            <a:off x="12808511" y="5744272"/>
            <a:ext cx="3638926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13030396" y="6151180"/>
            <a:ext cx="3164682" cy="189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una mezcla de experiencia,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valores, información que sirve como marco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incorporación de nuevas experiencias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7594981" y="6613034"/>
            <a:ext cx="3082238" cy="109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la agrupación de datos cuya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organización permite transmitir un significado.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 txBox="1"/>
          <p:nvPr/>
        </p:nvSpPr>
        <p:spPr>
          <a:xfrm>
            <a:off x="2073301" y="6732097"/>
            <a:ext cx="3152886" cy="823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Por sí mismo tiene poca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ninguna relevancia o propósito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grpSp>
        <p:nvGrpSpPr>
          <p:cNvPr id="358" name="Google Shape;358;p15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359" name="Google Shape;359;p15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0" name="Google Shape;360;p15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61" name="Google Shape;361;p15"/>
          <p:cNvSpPr/>
          <p:nvPr/>
        </p:nvSpPr>
        <p:spPr>
          <a:xfrm rot="-2308677">
            <a:off x="10033075" y="2145668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15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363" name="Google Shape;363;p15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15"/>
          <p:cNvGrpSpPr/>
          <p:nvPr/>
        </p:nvGrpSpPr>
        <p:grpSpPr>
          <a:xfrm>
            <a:off x="677610" y="2992467"/>
            <a:ext cx="4783600" cy="4783600"/>
            <a:chOff x="0" y="0"/>
            <a:chExt cx="6378133" cy="6378133"/>
          </a:xfrm>
        </p:grpSpPr>
        <p:sp>
          <p:nvSpPr>
            <p:cNvPr id="365" name="Google Shape;365;p15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6" name="Google Shape;366;p15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67" name="Google Shape;367;p15"/>
          <p:cNvSpPr/>
          <p:nvPr/>
        </p:nvSpPr>
        <p:spPr>
          <a:xfrm>
            <a:off x="1200854" y="3555427"/>
            <a:ext cx="3643592" cy="3643592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20822" l="-28456" r="-34822" t="-12468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7203135" y="3448506"/>
            <a:ext cx="3856609" cy="3856609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25655" l="-42465" r="-44765" t="-1569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p15"/>
          <p:cNvGrpSpPr/>
          <p:nvPr/>
        </p:nvGrpSpPr>
        <p:grpSpPr>
          <a:xfrm>
            <a:off x="12831200" y="2930662"/>
            <a:ext cx="4783600" cy="4783600"/>
            <a:chOff x="0" y="0"/>
            <a:chExt cx="6378133" cy="6378133"/>
          </a:xfrm>
        </p:grpSpPr>
        <p:sp>
          <p:nvSpPr>
            <p:cNvPr id="370" name="Google Shape;370;p15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1" name="Google Shape;371;p15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72" name="Google Shape;372;p15"/>
          <p:cNvSpPr/>
          <p:nvPr/>
        </p:nvSpPr>
        <p:spPr>
          <a:xfrm>
            <a:off x="13329389" y="3426112"/>
            <a:ext cx="3778092" cy="3778092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-10070" r="-1007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5"/>
          <p:cNvSpPr txBox="1"/>
          <p:nvPr/>
        </p:nvSpPr>
        <p:spPr>
          <a:xfrm>
            <a:off x="1586948" y="8136848"/>
            <a:ext cx="296492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 txBox="1"/>
          <p:nvPr/>
        </p:nvSpPr>
        <p:spPr>
          <a:xfrm>
            <a:off x="7434491" y="8175456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12940441" y="8197554"/>
            <a:ext cx="4746661" cy="662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0" i="0" sz="2199" u="none" cap="none" strike="noStrike">
              <a:solidFill>
                <a:srgbClr val="1B4A9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7738197" y="1315818"/>
            <a:ext cx="30298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p15"/>
          <p:cNvGrpSpPr/>
          <p:nvPr/>
        </p:nvGrpSpPr>
        <p:grpSpPr>
          <a:xfrm>
            <a:off x="6752200" y="2992467"/>
            <a:ext cx="4783600" cy="4783600"/>
            <a:chOff x="0" y="0"/>
            <a:chExt cx="6378133" cy="6378133"/>
          </a:xfrm>
        </p:grpSpPr>
        <p:sp>
          <p:nvSpPr>
            <p:cNvPr id="378" name="Google Shape;378;p15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9" name="Google Shape;379;p15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385" name="Google Shape;385;p16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6" name="Google Shape;386;p16"/>
          <p:cNvGrpSpPr/>
          <p:nvPr/>
        </p:nvGrpSpPr>
        <p:grpSpPr>
          <a:xfrm rot="9869556">
            <a:off x="14835267" y="6905787"/>
            <a:ext cx="6482297" cy="6762426"/>
            <a:chOff x="0" y="0"/>
            <a:chExt cx="8643063" cy="9016568"/>
          </a:xfrm>
        </p:grpSpPr>
        <p:sp>
          <p:nvSpPr>
            <p:cNvPr id="387" name="Google Shape;387;p16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8" name="Google Shape;388;p16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89" name="Google Shape;389;p16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6"/>
          <p:cNvSpPr txBox="1"/>
          <p:nvPr/>
        </p:nvSpPr>
        <p:spPr>
          <a:xfrm>
            <a:off x="11430139" y="545720"/>
            <a:ext cx="685786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Principales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16"/>
          <p:cNvGrpSpPr/>
          <p:nvPr/>
        </p:nvGrpSpPr>
        <p:grpSpPr>
          <a:xfrm>
            <a:off x="211000" y="-48746"/>
            <a:ext cx="10384491" cy="10384491"/>
            <a:chOff x="0" y="0"/>
            <a:chExt cx="13845988" cy="13845988"/>
          </a:xfrm>
        </p:grpSpPr>
        <p:sp>
          <p:nvSpPr>
            <p:cNvPr id="392" name="Google Shape;392;p16"/>
            <p:cNvSpPr/>
            <p:nvPr/>
          </p:nvSpPr>
          <p:spPr>
            <a:xfrm>
              <a:off x="0" y="0"/>
              <a:ext cx="13845988" cy="13845988"/>
            </a:xfrm>
            <a:custGeom>
              <a:rect b="b" l="l" r="r" t="t"/>
              <a:pathLst>
                <a:path extrusionOk="0" h="13845988" w="13845988">
                  <a:moveTo>
                    <a:pt x="0" y="0"/>
                  </a:moveTo>
                  <a:lnTo>
                    <a:pt x="13845988" y="0"/>
                  </a:lnTo>
                  <a:lnTo>
                    <a:pt x="13845988" y="13845988"/>
                  </a:lnTo>
                  <a:lnTo>
                    <a:pt x="0" y="138459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93" name="Google Shape;393;p16"/>
            <p:cNvSpPr/>
            <p:nvPr/>
          </p:nvSpPr>
          <p:spPr>
            <a:xfrm>
              <a:off x="738382" y="738382"/>
              <a:ext cx="12369224" cy="12369224"/>
            </a:xfrm>
            <a:custGeom>
              <a:rect b="b" l="l" r="r" t="t"/>
              <a:pathLst>
                <a:path extrusionOk="0" h="12369224" w="12369224">
                  <a:moveTo>
                    <a:pt x="0" y="0"/>
                  </a:moveTo>
                  <a:lnTo>
                    <a:pt x="12369224" y="0"/>
                  </a:lnTo>
                  <a:lnTo>
                    <a:pt x="12369224" y="12369224"/>
                  </a:lnTo>
                  <a:lnTo>
                    <a:pt x="0" y="12369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94" name="Google Shape;394;p16"/>
          <p:cNvSpPr/>
          <p:nvPr/>
        </p:nvSpPr>
        <p:spPr>
          <a:xfrm>
            <a:off x="998078" y="733941"/>
            <a:ext cx="8789098" cy="8789098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5460" r="-2546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6"/>
          <p:cNvSpPr txBox="1"/>
          <p:nvPr/>
        </p:nvSpPr>
        <p:spPr>
          <a:xfrm>
            <a:off x="11181593" y="1917320"/>
            <a:ext cx="6296585" cy="299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Son representaciones simbólicas.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Por sí solos no tienen significado.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No pueden transmitir un mensaje.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6"/>
          <p:cNvSpPr txBox="1"/>
          <p:nvPr/>
        </p:nvSpPr>
        <p:spPr>
          <a:xfrm>
            <a:off x="10900955" y="6032120"/>
            <a:ext cx="6857861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Clasificación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 txBox="1"/>
          <p:nvPr/>
        </p:nvSpPr>
        <p:spPr>
          <a:xfrm>
            <a:off x="11181593" y="6762750"/>
            <a:ext cx="6296585" cy="249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Cualitativos: Estos indican cualidades.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Cuantitativos: Estos hacen referencia a la característica numérica.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7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403" name="Google Shape;403;p17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4" name="Google Shape;404;p17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405" name="Google Shape;405;p17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6" name="Google Shape;406;p17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07" name="Google Shape;407;p17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8" name="Google Shape;408;p17"/>
          <p:cNvSpPr txBox="1"/>
          <p:nvPr/>
        </p:nvSpPr>
        <p:spPr>
          <a:xfrm>
            <a:off x="10770530" y="2680615"/>
            <a:ext cx="685786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Características de la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17"/>
          <p:cNvGrpSpPr/>
          <p:nvPr/>
        </p:nvGrpSpPr>
        <p:grpSpPr>
          <a:xfrm>
            <a:off x="211000" y="-48746"/>
            <a:ext cx="10384491" cy="10384491"/>
            <a:chOff x="0" y="0"/>
            <a:chExt cx="13845988" cy="13845988"/>
          </a:xfrm>
        </p:grpSpPr>
        <p:sp>
          <p:nvSpPr>
            <p:cNvPr id="410" name="Google Shape;410;p17"/>
            <p:cNvSpPr/>
            <p:nvPr/>
          </p:nvSpPr>
          <p:spPr>
            <a:xfrm>
              <a:off x="0" y="0"/>
              <a:ext cx="13845988" cy="13845988"/>
            </a:xfrm>
            <a:custGeom>
              <a:rect b="b" l="l" r="r" t="t"/>
              <a:pathLst>
                <a:path extrusionOk="0" h="13845988" w="13845988">
                  <a:moveTo>
                    <a:pt x="0" y="0"/>
                  </a:moveTo>
                  <a:lnTo>
                    <a:pt x="13845988" y="0"/>
                  </a:lnTo>
                  <a:lnTo>
                    <a:pt x="13845988" y="13845988"/>
                  </a:lnTo>
                  <a:lnTo>
                    <a:pt x="0" y="138459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1" name="Google Shape;411;p17"/>
            <p:cNvSpPr/>
            <p:nvPr/>
          </p:nvSpPr>
          <p:spPr>
            <a:xfrm>
              <a:off x="738382" y="738382"/>
              <a:ext cx="12369224" cy="12369224"/>
            </a:xfrm>
            <a:custGeom>
              <a:rect b="b" l="l" r="r" t="t"/>
              <a:pathLst>
                <a:path extrusionOk="0" h="12369224" w="12369224">
                  <a:moveTo>
                    <a:pt x="0" y="0"/>
                  </a:moveTo>
                  <a:lnTo>
                    <a:pt x="12369224" y="0"/>
                  </a:lnTo>
                  <a:lnTo>
                    <a:pt x="12369224" y="12369224"/>
                  </a:lnTo>
                  <a:lnTo>
                    <a:pt x="0" y="12369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12" name="Google Shape;412;p17"/>
          <p:cNvSpPr/>
          <p:nvPr/>
        </p:nvSpPr>
        <p:spPr>
          <a:xfrm>
            <a:off x="998078" y="733941"/>
            <a:ext cx="8789098" cy="8789098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4895" r="-2489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10682850" y="4289386"/>
            <a:ext cx="6945541" cy="348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Relevancia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Exactitud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Completa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Fuente Confiable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Control de acceso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Detalle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Comprensión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419" name="Google Shape;419;p18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18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1" name="Google Shape;421;p18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22" name="Google Shape;422;p18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23" name="Google Shape;423;p18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24" name="Google Shape;424;p18"/>
          <p:cNvSpPr/>
          <p:nvPr/>
        </p:nvSpPr>
        <p:spPr>
          <a:xfrm>
            <a:off x="14187526" y="6594798"/>
            <a:ext cx="3671405" cy="3284238"/>
          </a:xfrm>
          <a:custGeom>
            <a:rect b="b" l="l" r="r" t="t"/>
            <a:pathLst>
              <a:path extrusionOk="0" h="3284238" w="3671405">
                <a:moveTo>
                  <a:pt x="0" y="0"/>
                </a:moveTo>
                <a:lnTo>
                  <a:pt x="3671405" y="0"/>
                </a:lnTo>
                <a:lnTo>
                  <a:pt x="3671405" y="3284239"/>
                </a:lnTo>
                <a:lnTo>
                  <a:pt x="0" y="3284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18"/>
          <p:cNvSpPr txBox="1"/>
          <p:nvPr/>
        </p:nvSpPr>
        <p:spPr>
          <a:xfrm>
            <a:off x="1028700" y="3971994"/>
            <a:ext cx="10222767" cy="522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se refiere al rápido crecimiento y expansión de la cantidad de datos disponibles en el mundo.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Esta explosión de datos ha sido impulsada por diversos factores: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aumento en la cantidad de dispositivos conectados a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avance de tecnologías como el Internet de las cosas (IoT), la automatización, las redes sociales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 recopilación masiva de datos en tiempo real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entre otros.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p18"/>
          <p:cNvSpPr txBox="1"/>
          <p:nvPr/>
        </p:nvSpPr>
        <p:spPr>
          <a:xfrm>
            <a:off x="1028700" y="2707490"/>
            <a:ext cx="986291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Proliferación de los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9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432" name="Google Shape;432;p19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p19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4" name="Google Shape;434;p19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35" name="Google Shape;435;p19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6" name="Google Shape;436;p19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437" name="Google Shape;43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52772" y="6679356"/>
            <a:ext cx="3480605" cy="3236963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9"/>
          <p:cNvSpPr txBox="1"/>
          <p:nvPr/>
        </p:nvSpPr>
        <p:spPr>
          <a:xfrm>
            <a:off x="1028700" y="6056802"/>
            <a:ext cx="10222767" cy="122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Se refiere a la idea de que el valor de los datos puede cambiar dependiendo del momento en el tiempo y del contexto en el que se utilicen.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 txBox="1"/>
          <p:nvPr/>
        </p:nvSpPr>
        <p:spPr>
          <a:xfrm>
            <a:off x="1028700" y="3865415"/>
            <a:ext cx="9862911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Variabilidad de su valor en el tiempo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445" name="Google Shape;445;p20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p20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7" name="Google Shape;447;p20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48" name="Google Shape;448;p20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49" name="Google Shape;449;p20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50" name="Google Shape;450;p20"/>
          <p:cNvSpPr/>
          <p:nvPr/>
        </p:nvSpPr>
        <p:spPr>
          <a:xfrm>
            <a:off x="13554500" y="6394777"/>
            <a:ext cx="3997981" cy="3176578"/>
          </a:xfrm>
          <a:custGeom>
            <a:rect b="b" l="l" r="r" t="t"/>
            <a:pathLst>
              <a:path extrusionOk="0" h="3176578" w="3997981">
                <a:moveTo>
                  <a:pt x="0" y="0"/>
                </a:moveTo>
                <a:lnTo>
                  <a:pt x="3997981" y="0"/>
                </a:lnTo>
                <a:lnTo>
                  <a:pt x="3997981" y="3176578"/>
                </a:lnTo>
                <a:lnTo>
                  <a:pt x="0" y="3176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1" name="Google Shape;451;p20"/>
          <p:cNvSpPr txBox="1"/>
          <p:nvPr/>
        </p:nvSpPr>
        <p:spPr>
          <a:xfrm>
            <a:off x="1028700" y="5572198"/>
            <a:ext cx="10222767" cy="162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Toma de decisiones empresariales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Marketing y publicidad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Análisis de riesgos y 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Ciencia de datos y aprendizaje automático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1028700" y="3733444"/>
            <a:ext cx="986291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Principales usos de los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458" name="Google Shape;458;p21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9" name="Google Shape;459;p21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0" name="Google Shape;460;p21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61" name="Google Shape;461;p21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2" name="Google Shape;462;p21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63" name="Google Shape;463;p21"/>
          <p:cNvSpPr/>
          <p:nvPr/>
        </p:nvSpPr>
        <p:spPr>
          <a:xfrm>
            <a:off x="15310868" y="6950677"/>
            <a:ext cx="2520401" cy="2734163"/>
          </a:xfrm>
          <a:custGeom>
            <a:rect b="b" l="l" r="r" t="t"/>
            <a:pathLst>
              <a:path extrusionOk="0" h="2734163" w="2520401">
                <a:moveTo>
                  <a:pt x="0" y="0"/>
                </a:moveTo>
                <a:lnTo>
                  <a:pt x="2520401" y="0"/>
                </a:lnTo>
                <a:lnTo>
                  <a:pt x="2520401" y="2734162"/>
                </a:lnTo>
                <a:lnTo>
                  <a:pt x="0" y="2734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4" name="Google Shape;464;p21"/>
          <p:cNvSpPr/>
          <p:nvPr/>
        </p:nvSpPr>
        <p:spPr>
          <a:xfrm>
            <a:off x="12502403" y="7200363"/>
            <a:ext cx="2580353" cy="2491214"/>
          </a:xfrm>
          <a:custGeom>
            <a:rect b="b" l="l" r="r" t="t"/>
            <a:pathLst>
              <a:path extrusionOk="0" h="2491214" w="2580353">
                <a:moveTo>
                  <a:pt x="0" y="0"/>
                </a:moveTo>
                <a:lnTo>
                  <a:pt x="2580353" y="0"/>
                </a:lnTo>
                <a:lnTo>
                  <a:pt x="2580353" y="2491214"/>
                </a:lnTo>
                <a:lnTo>
                  <a:pt x="0" y="2491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5" name="Google Shape;465;p21"/>
          <p:cNvSpPr txBox="1"/>
          <p:nvPr/>
        </p:nvSpPr>
        <p:spPr>
          <a:xfrm>
            <a:off x="1028700" y="4236283"/>
            <a:ext cx="10222767" cy="442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1" i="0" lang="en-US" sz="2699" u="none" cap="none" strike="noStrike">
                <a:solidFill>
                  <a:srgbClr val="7373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 un lugar donde se recoge la información</a:t>
            </a: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 La fuente puede ser una base de datos, un archivo plano, un documento XML o cualquier otro formato que un sistema pueda leer.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Ejemplos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de sensores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Sociales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de encuestas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Transaccionales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1"/>
          <p:cNvSpPr txBox="1"/>
          <p:nvPr/>
        </p:nvSpPr>
        <p:spPr>
          <a:xfrm>
            <a:off x="1028700" y="3045627"/>
            <a:ext cx="1022276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Las fuentes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58"/>
            </a:srgbClr>
          </a:solidFill>
          <a:ln>
            <a:noFill/>
          </a:ln>
        </p:spPr>
      </p:sp>
      <p:sp>
        <p:nvSpPr>
          <p:cNvPr id="472" name="Google Shape;472;p22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3" name="Google Shape;473;p22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4" name="Google Shape;474;p22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75" name="Google Shape;475;p22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6" name="Google Shape;476;p22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77" name="Google Shape;477;p22"/>
          <p:cNvSpPr/>
          <p:nvPr/>
        </p:nvSpPr>
        <p:spPr>
          <a:xfrm>
            <a:off x="14219401" y="6244592"/>
            <a:ext cx="3303243" cy="3303243"/>
          </a:xfrm>
          <a:custGeom>
            <a:rect b="b" l="l" r="r" t="t"/>
            <a:pathLst>
              <a:path extrusionOk="0" h="3303243" w="3303243">
                <a:moveTo>
                  <a:pt x="0" y="0"/>
                </a:moveTo>
                <a:lnTo>
                  <a:pt x="3303243" y="0"/>
                </a:lnTo>
                <a:lnTo>
                  <a:pt x="3303243" y="3303243"/>
                </a:lnTo>
                <a:lnTo>
                  <a:pt x="0" y="3303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8" name="Google Shape;478;p22"/>
          <p:cNvSpPr txBox="1"/>
          <p:nvPr/>
        </p:nvSpPr>
        <p:spPr>
          <a:xfrm>
            <a:off x="1028700" y="3937358"/>
            <a:ext cx="10222800" cy="7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Los datos atraviesan diversos estados durante su ciclo de vida, desde su creación hasta su eventual eliminación o archivado.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Los estados comunes de la creación de datos: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Generación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Captura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Almacenamiento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Procesamiento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Análisis y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Actualización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Archivado o eliminación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22"/>
          <p:cNvSpPr txBox="1"/>
          <p:nvPr/>
        </p:nvSpPr>
        <p:spPr>
          <a:xfrm>
            <a:off x="1028700" y="2369352"/>
            <a:ext cx="10222767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Estados de la creación de los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5c6d7bebe3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rgbClr val="131416"/>
                </a:solidFill>
              </a:rPr>
              <a:t>Pensamiento </a:t>
            </a:r>
            <a:r>
              <a:rPr lang="en-US" sz="6900">
                <a:solidFill>
                  <a:srgbClr val="131416"/>
                </a:solidFill>
              </a:rPr>
              <a:t>Crítico</a:t>
            </a:r>
            <a:endParaRPr/>
          </a:p>
        </p:txBody>
      </p:sp>
      <p:sp>
        <p:nvSpPr>
          <p:cNvPr id="485" name="Google Shape;485;g35c6d7bebe3_0_0"/>
          <p:cNvSpPr txBox="1"/>
          <p:nvPr/>
        </p:nvSpPr>
        <p:spPr>
          <a:xfrm>
            <a:off x="1028700" y="3337625"/>
            <a:ext cx="161163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El manejo de datos y la implementación de sistemas de archivos requieren evaluar la calidad, relevancia y seguridad de la </a:t>
            </a:r>
            <a:r>
              <a:rPr lang="en-US" sz="3151">
                <a:solidFill>
                  <a:srgbClr val="131416"/>
                </a:solidFill>
              </a:rPr>
              <a:t>información</a:t>
            </a:r>
            <a:r>
              <a:rPr lang="en-US" sz="3151">
                <a:solidFill>
                  <a:srgbClr val="131416"/>
                </a:solidFill>
              </a:rPr>
              <a:t>. Fomentar el pensamiento crítico permitirá a los estudiantes tomar decisiones informadas para optimizar la gestión y garantizar soluciones eficientes y seguras.</a:t>
            </a:r>
            <a:endParaRPr/>
          </a:p>
        </p:txBody>
      </p:sp>
      <p:sp>
        <p:nvSpPr>
          <p:cNvPr id="486" name="Google Shape;486;g35c6d7bebe3_0_0"/>
          <p:cNvSpPr/>
          <p:nvPr/>
        </p:nvSpPr>
        <p:spPr>
          <a:xfrm>
            <a:off x="-160692" y="-90502"/>
            <a:ext cx="18596770" cy="10473763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060"/>
            </a:srgbClr>
          </a:solid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c6d7bebe3_0_8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492" name="Google Shape;492;g35c6d7bebe3_0_86"/>
          <p:cNvSpPr txBox="1"/>
          <p:nvPr/>
        </p:nvSpPr>
        <p:spPr>
          <a:xfrm>
            <a:off x="5803381" y="4280604"/>
            <a:ext cx="6911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COCOCYS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74" l="0" r="0" t="-38878"/>
            </a:stretch>
          </a:blipFill>
          <a:ln>
            <a:noFill/>
          </a:ln>
        </p:spPr>
      </p:sp>
      <p:sp>
        <p:nvSpPr>
          <p:cNvPr id="498" name="Google Shape;498;p24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8431"/>
            </a:srgbClr>
          </a:solidFill>
          <a:ln>
            <a:noFill/>
          </a:ln>
        </p:spPr>
      </p:sp>
      <p:sp>
        <p:nvSpPr>
          <p:cNvPr id="499" name="Google Shape;499;p24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p24"/>
          <p:cNvSpPr txBox="1"/>
          <p:nvPr/>
        </p:nvSpPr>
        <p:spPr>
          <a:xfrm>
            <a:off x="4437795" y="3389104"/>
            <a:ext cx="8658900" cy="28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4"/>
          <p:cNvSpPr txBox="1"/>
          <p:nvPr/>
        </p:nvSpPr>
        <p:spPr>
          <a:xfrm>
            <a:off x="5414739" y="6604366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14173539" y="1964613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3" name="Google Shape;503;p24"/>
          <p:cNvSpPr txBox="1"/>
          <p:nvPr/>
        </p:nvSpPr>
        <p:spPr>
          <a:xfrm>
            <a:off x="2411098" y="7899735"/>
            <a:ext cx="13465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