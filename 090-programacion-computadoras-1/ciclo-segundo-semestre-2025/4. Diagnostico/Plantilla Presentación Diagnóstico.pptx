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O+iGp+9oNSRALVTRh146cAaxH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75b4d7e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d75b4d7ed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75b4d7e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d75b4d7ed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75b4d7e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d75b4d7ed6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75b4d7ed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d75b4d7ed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75b4d7ed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d75b4d7ed6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oleObject" Target="../embeddings/oleObject1.bin"/><Relationship Id="rId7" Type="http://schemas.openxmlformats.org/officeDocument/2006/relationships/oleObject" Target="../embeddings/oleObject1.bin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6" name="Google Shape;86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>
              <mc:Choice Requires="v">
                <p:oleObj r:id="rId6" imgH="1881100" imgW="9524676" progId="Excel.Sheet.12" spid="_x0000_s1">
                  <p:embed/>
                </p:oleObj>
              </mc:Choice>
              <mc:Fallback>
                <p:oleObj r:id="rId7" imgH="1881100" imgW="9524676" progId="Excel.Sheet.12">
                  <p:embed/>
                  <p:pic>
                    <p:nvPicPr>
                      <p:cNvPr id="86" name="Google Shape;86;p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Google Shape;87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48639" y="9201150"/>
            <a:ext cx="4067111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904236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27878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lang="en-US" sz="8799"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4000075" y="2756063"/>
            <a:ext cx="9896507" cy="7627980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4"/>
          <p:cNvSpPr/>
          <p:nvPr/>
        </p:nvSpPr>
        <p:spPr>
          <a:xfrm>
            <a:off x="3493371" y="-730682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4"/>
          <p:cNvSpPr/>
          <p:nvPr/>
        </p:nvSpPr>
        <p:spPr>
          <a:xfrm>
            <a:off x="4875920" y="3204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4"/>
          <p:cNvSpPr txBox="1"/>
          <p:nvPr/>
        </p:nvSpPr>
        <p:spPr>
          <a:xfrm>
            <a:off x="5720910" y="3500263"/>
            <a:ext cx="48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75920" y="423285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4"/>
          <p:cNvSpPr txBox="1"/>
          <p:nvPr/>
        </p:nvSpPr>
        <p:spPr>
          <a:xfrm>
            <a:off x="5695422" y="4589013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24745" y="531092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4"/>
          <p:cNvSpPr/>
          <p:nvPr/>
        </p:nvSpPr>
        <p:spPr>
          <a:xfrm>
            <a:off x="4824745" y="64136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4"/>
          <p:cNvSpPr/>
          <p:nvPr/>
        </p:nvSpPr>
        <p:spPr>
          <a:xfrm>
            <a:off x="4824745" y="7516297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4"/>
          <p:cNvSpPr txBox="1"/>
          <p:nvPr/>
        </p:nvSpPr>
        <p:spPr>
          <a:xfrm>
            <a:off x="5720893" y="5677738"/>
            <a:ext cx="79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682599" y="6710914"/>
            <a:ext cx="59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4.  </a:t>
            </a: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Censo</a:t>
            </a: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 de Horarios de Calificación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720892" y="7744063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5. Programa del Curso                 					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5307667" y="8717000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4618192" y="9689925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. Tarea de fortalecimiento académico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24745" y="844472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4"/>
          <p:cNvSpPr/>
          <p:nvPr/>
        </p:nvSpPr>
        <p:spPr>
          <a:xfrm>
            <a:off x="4875920" y="946217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489650" y="7311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1407021" y="2665080"/>
            <a:ext cx="67923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Datos tutor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AutoNum type="arabicPeriod"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22" name="Google Shape;122;p6"/>
          <p:cNvGrpSpPr/>
          <p:nvPr/>
        </p:nvGrpSpPr>
        <p:grpSpPr>
          <a:xfrm>
            <a:off x="12612839" y="4500985"/>
            <a:ext cx="4646461" cy="5000494"/>
            <a:chOff x="0" y="-38100"/>
            <a:chExt cx="4013925" cy="4319762"/>
          </a:xfrm>
        </p:grpSpPr>
        <p:sp>
          <p:nvSpPr>
            <p:cNvPr id="123" name="Google Shape;123;p6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24" name="Google Shape;124;p6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 txBox="1"/>
            <p:nvPr/>
          </p:nvSpPr>
          <p:spPr>
            <a:xfrm>
              <a:off x="0" y="-38100"/>
              <a:ext cx="4013925" cy="37609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lang="en-US" sz="2160">
                  <a:latin typeface="Open Sans"/>
                  <a:ea typeface="Open Sans"/>
                  <a:cs typeface="Open Sans"/>
                  <a:sym typeface="Open Sans"/>
                </a:rPr>
                <a:t>Editar con estilos a su conveniencia.</a:t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2042550" y="1118800"/>
            <a:ext cx="14202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sz="5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31" name="Google Shape;131;p7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132" name="Google Shape;132;p7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33" name="Google Shape;133;p7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7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75b4d7ed6_0_12"/>
          <p:cNvSpPr txBox="1"/>
          <p:nvPr/>
        </p:nvSpPr>
        <p:spPr>
          <a:xfrm>
            <a:off x="489650" y="596275"/>
            <a:ext cx="17588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latin typeface="Open Sans"/>
                <a:ea typeface="Open Sans"/>
                <a:cs typeface="Open Sans"/>
                <a:sym typeface="Open Sans"/>
              </a:rPr>
              <a:t>3. Presentación de los Estudiantes </a:t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g3d75b4d7ed6_0_12"/>
          <p:cNvSpPr txBox="1"/>
          <p:nvPr/>
        </p:nvSpPr>
        <p:spPr>
          <a:xfrm>
            <a:off x="1407021" y="2522705"/>
            <a:ext cx="67923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Presentación de 5 estudiantes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AutoNum type="arabicPeriod"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41" name="Google Shape;141;g3d75b4d7ed6_0_12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142" name="Google Shape;142;g3d75b4d7ed6_0_12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43" name="Google Shape;143;g3d75b4d7ed6_0_12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d75b4d7ed6_0_12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75b4d7ed6_0_21"/>
          <p:cNvSpPr txBox="1"/>
          <p:nvPr/>
        </p:nvSpPr>
        <p:spPr>
          <a:xfrm>
            <a:off x="489650" y="596275"/>
            <a:ext cx="1607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latin typeface="Open Sans"/>
                <a:ea typeface="Open Sans"/>
                <a:cs typeface="Open Sans"/>
                <a:sym typeface="Open Sans"/>
              </a:rPr>
              <a:t>4.  Senso de Horarios de Calificación                          </a:t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g3d75b4d7ed6_0_21"/>
          <p:cNvSpPr txBox="1"/>
          <p:nvPr/>
        </p:nvSpPr>
        <p:spPr>
          <a:xfrm>
            <a:off x="1407021" y="2522705"/>
            <a:ext cx="679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Horarios tentativos de calificación.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1" name="Google Shape;151;g3d75b4d7ed6_0_21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152" name="Google Shape;152;g3d75b4d7ed6_0_21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53" name="Google Shape;153;g3d75b4d7ed6_0_21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g3d75b4d7ed6_0_21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75b4d7ed6_0_30"/>
          <p:cNvSpPr txBox="1"/>
          <p:nvPr/>
        </p:nvSpPr>
        <p:spPr>
          <a:xfrm>
            <a:off x="489650" y="5962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latin typeface="Open Sans"/>
                <a:ea typeface="Open Sans"/>
                <a:cs typeface="Open Sans"/>
                <a:sym typeface="Open Sans"/>
              </a:rPr>
              <a:t>5. Programa del Curso </a:t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g3d75b4d7ed6_0_30"/>
          <p:cNvSpPr txBox="1"/>
          <p:nvPr/>
        </p:nvSpPr>
        <p:spPr>
          <a:xfrm>
            <a:off x="1407021" y="2522705"/>
            <a:ext cx="679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Presentación del programa del curso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61" name="Google Shape;161;g3d75b4d7ed6_0_30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162" name="Google Shape;162;g3d75b4d7ed6_0_30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63" name="Google Shape;163;g3d75b4d7ed6_0_30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g3d75b4d7ed6_0_30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75b4d7ed6_0_39"/>
          <p:cNvSpPr txBox="1"/>
          <p:nvPr/>
        </p:nvSpPr>
        <p:spPr>
          <a:xfrm>
            <a:off x="3410550" y="969200"/>
            <a:ext cx="114669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sz="5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70" name="Google Shape;170;g3d75b4d7ed6_0_39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171" name="Google Shape;171;g3d75b4d7ed6_0_39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72" name="Google Shape;172;g3d75b4d7ed6_0_39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g3d75b4d7ed6_0_39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75b4d7ed6_1_10"/>
          <p:cNvSpPr txBox="1"/>
          <p:nvPr/>
        </p:nvSpPr>
        <p:spPr>
          <a:xfrm>
            <a:off x="489650" y="596275"/>
            <a:ext cx="18288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lang="en-US" sz="5600">
                <a:latin typeface="Open Sans"/>
                <a:ea typeface="Open Sans"/>
                <a:cs typeface="Open Sans"/>
                <a:sym typeface="Open Sans"/>
              </a:rPr>
              <a:t>7. Tarea de fortalecimiento académico </a:t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sz="5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g3d75b4d7ed6_1_10"/>
          <p:cNvSpPr txBox="1"/>
          <p:nvPr/>
        </p:nvSpPr>
        <p:spPr>
          <a:xfrm>
            <a:off x="1407021" y="2522705"/>
            <a:ext cx="67923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latin typeface="Open Sans"/>
                <a:ea typeface="Open Sans"/>
                <a:cs typeface="Open Sans"/>
                <a:sym typeface="Open Sans"/>
              </a:rPr>
              <a:t>Datos tutor</a:t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2400"/>
              <a:buFont typeface="Open Sans"/>
              <a:buAutoNum type="arabicPeriod"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80" name="Google Shape;180;g3d75b4d7ed6_1_10"/>
          <p:cNvGrpSpPr/>
          <p:nvPr/>
        </p:nvGrpSpPr>
        <p:grpSpPr>
          <a:xfrm>
            <a:off x="12612839" y="4500984"/>
            <a:ext cx="4646606" cy="5000556"/>
            <a:chOff x="0" y="-38100"/>
            <a:chExt cx="4014000" cy="4319762"/>
          </a:xfrm>
        </p:grpSpPr>
        <p:sp>
          <p:nvSpPr>
            <p:cNvPr id="181" name="Google Shape;181;g3d75b4d7ed6_1_10"/>
            <p:cNvSpPr/>
            <p:nvPr/>
          </p:nvSpPr>
          <p:spPr>
            <a:xfrm>
              <a:off x="0" y="0"/>
              <a:ext cx="4013925" cy="4180062"/>
            </a:xfrm>
            <a:custGeom>
              <a:rect b="b" l="l" r="r" t="t"/>
              <a:pathLst>
                <a:path extrusionOk="0" h="4180062" w="4013925">
                  <a:moveTo>
                    <a:pt x="0" y="0"/>
                  </a:moveTo>
                  <a:lnTo>
                    <a:pt x="4013925" y="0"/>
                  </a:lnTo>
                  <a:lnTo>
                    <a:pt x="4013925" y="4180062"/>
                  </a:lnTo>
                  <a:lnTo>
                    <a:pt x="0" y="418006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182" name="Google Shape;182;g3d75b4d7ed6_1_10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d75b4d7ed6_1_10"/>
            <p:cNvSpPr txBox="1"/>
            <p:nvPr/>
          </p:nvSpPr>
          <p:spPr>
            <a:xfrm>
              <a:off x="0" y="-38100"/>
              <a:ext cx="4014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rPr b="0" i="0" lang="en-US" sz="216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Queda a tu discreción de donde te guías para generar el contenido que agregaras(libros, paginas web, etc.) que fundamente teóricamente los temas que estas exponiendo a los compañeros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b="0" i="0" sz="216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