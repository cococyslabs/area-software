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AN Headline" charset="1" panose="00000000000000000000"/>
      <p:regular r:id="rId24"/>
    </p:embeddedFont>
    <p:embeddedFont>
      <p:font typeface="Fraunces" charset="1" panose="00000000000000000000"/>
      <p:regular r:id="rId25"/>
    </p:embeddedFont>
    <p:embeddedFont>
      <p:font typeface="Poppins Medium" charset="1" panose="02000000000000000000"/>
      <p:regular r:id="rId26"/>
    </p:embeddedFont>
    <p:embeddedFont>
      <p:font typeface="Poppins Light" charset="1" panose="02000000000000000000"/>
      <p:regular r:id="rId27"/>
    </p:embeddedFont>
    <p:embeddedFont>
      <p:font typeface="Poppins Medium Bold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Practice: 20 points</a:t>
            </a:r>
          </a:p>
          <a:p>
            <a:r>
              <a:rPr lang="en-US"/>
              <a:t/>
            </a:r>
          </a:p>
          <a:p>
            <a:r>
              <a:rPr lang="en-US"/>
              <a:t>One practical exercise evaluated on accuracy and application of concepts.</a:t>
            </a:r>
          </a:p>
          <a:p>
            <a:r>
              <a:rPr lang="en-US"/>
              <a:t>Project: 40 points</a:t>
            </a:r>
          </a:p>
          <a:p>
            <a:r>
              <a:rPr lang="en-US"/>
              <a:t/>
            </a:r>
          </a:p>
          <a:p>
            <a:r>
              <a:rPr lang="en-US"/>
              <a:t>Comprehensive project encompassing various elements of the course.</a:t>
            </a:r>
          </a:p>
          <a:p>
            <a:r>
              <a:rPr lang="en-US"/>
              <a:t>Short Exams: 15 points (5 points each)</a:t>
            </a:r>
          </a:p>
          <a:p>
            <a:r>
              <a:rPr lang="en-US"/>
              <a:t/>
            </a:r>
          </a:p>
          <a:p>
            <a:r>
              <a:rPr lang="en-US"/>
              <a:t>Three short exams focused on recent topics covered in the class.</a:t>
            </a:r>
          </a:p>
          <a:p>
            <a:r>
              <a:rPr lang="en-US"/>
              <a:t>Tasks: 15 points (3 points each)</a:t>
            </a:r>
          </a:p>
          <a:p>
            <a:r>
              <a:rPr lang="en-US"/>
              <a:t/>
            </a:r>
          </a:p>
          <a:p>
            <a:r>
              <a:rPr lang="en-US"/>
              <a:t>Five tasks assigned periodically to reinforce learning and application of concepts.</a:t>
            </a:r>
          </a:p>
          <a:p>
            <a:r>
              <a:rPr lang="en-US"/>
              <a:t>Final Exam: 10 points</a:t>
            </a:r>
          </a:p>
          <a:p>
            <a:r>
              <a:rPr lang="en-US"/>
              <a:t/>
            </a:r>
          </a:p>
          <a:p>
            <a:r>
              <a:rPr lang="en-US"/>
              <a:t>Cumulative exam covering all topics discussed throughout the semester.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Practice: 20 points</a:t>
            </a:r>
          </a:p>
          <a:p>
            <a:r>
              <a:rPr lang="en-US"/>
              <a:t/>
            </a:r>
          </a:p>
          <a:p>
            <a:r>
              <a:rPr lang="en-US"/>
              <a:t>One practical exercise evaluated on accuracy and application of concepts.</a:t>
            </a:r>
          </a:p>
          <a:p>
            <a:r>
              <a:rPr lang="en-US"/>
              <a:t>Project: 40 points</a:t>
            </a:r>
          </a:p>
          <a:p>
            <a:r>
              <a:rPr lang="en-US"/>
              <a:t/>
            </a:r>
          </a:p>
          <a:p>
            <a:r>
              <a:rPr lang="en-US"/>
              <a:t>Comprehensive project encompassing various elements of the course.</a:t>
            </a:r>
          </a:p>
          <a:p>
            <a:r>
              <a:rPr lang="en-US"/>
              <a:t>Short Exams: 15 points (5 points each)</a:t>
            </a:r>
          </a:p>
          <a:p>
            <a:r>
              <a:rPr lang="en-US"/>
              <a:t/>
            </a:r>
          </a:p>
          <a:p>
            <a:r>
              <a:rPr lang="en-US"/>
              <a:t>Three short exams focused on recent topics covered in the class.</a:t>
            </a:r>
          </a:p>
          <a:p>
            <a:r>
              <a:rPr lang="en-US"/>
              <a:t>Tasks: 15 points (3 points each)</a:t>
            </a:r>
          </a:p>
          <a:p>
            <a:r>
              <a:rPr lang="en-US"/>
              <a:t/>
            </a:r>
          </a:p>
          <a:p>
            <a:r>
              <a:rPr lang="en-US"/>
              <a:t>Five tasks assigned periodically to reinforce learning and application of concepts.</a:t>
            </a:r>
          </a:p>
          <a:p>
            <a:r>
              <a:rPr lang="en-US"/>
              <a:t>Final Exam: 10 points</a:t>
            </a:r>
          </a:p>
          <a:p>
            <a:r>
              <a:rPr lang="en-US"/>
              <a:t/>
            </a:r>
          </a:p>
          <a:p>
            <a:r>
              <a:rPr lang="en-US"/>
              <a:t>Cumulative exam covering all topics discussed throughout the semester.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Practice: 20 points</a:t>
            </a:r>
          </a:p>
          <a:p>
            <a:r>
              <a:rPr lang="en-US"/>
              <a:t/>
            </a:r>
          </a:p>
          <a:p>
            <a:r>
              <a:rPr lang="en-US"/>
              <a:t>One practical exercise evaluated on accuracy and application of concepts.</a:t>
            </a:r>
          </a:p>
          <a:p>
            <a:r>
              <a:rPr lang="en-US"/>
              <a:t>Project: 40 points</a:t>
            </a:r>
          </a:p>
          <a:p>
            <a:r>
              <a:rPr lang="en-US"/>
              <a:t/>
            </a:r>
          </a:p>
          <a:p>
            <a:r>
              <a:rPr lang="en-US"/>
              <a:t>Comprehensive project encompassing various elements of the course.</a:t>
            </a:r>
          </a:p>
          <a:p>
            <a:r>
              <a:rPr lang="en-US"/>
              <a:t>Short Exams: 15 points (5 points each)</a:t>
            </a:r>
          </a:p>
          <a:p>
            <a:r>
              <a:rPr lang="en-US"/>
              <a:t/>
            </a:r>
          </a:p>
          <a:p>
            <a:r>
              <a:rPr lang="en-US"/>
              <a:t>Three short exams focused on recent topics covered in the class.</a:t>
            </a:r>
          </a:p>
          <a:p>
            <a:r>
              <a:rPr lang="en-US"/>
              <a:t>Tasks: 15 points (3 points each)</a:t>
            </a:r>
          </a:p>
          <a:p>
            <a:r>
              <a:rPr lang="en-US"/>
              <a:t/>
            </a:r>
          </a:p>
          <a:p>
            <a:r>
              <a:rPr lang="en-US"/>
              <a:t>Five tasks assigned periodically to reinforce learning and application of concepts.</a:t>
            </a:r>
          </a:p>
          <a:p>
            <a:r>
              <a:rPr lang="en-US"/>
              <a:t>Final Exam: 10 points</a:t>
            </a:r>
          </a:p>
          <a:p>
            <a:r>
              <a:rPr lang="en-US"/>
              <a:t/>
            </a:r>
          </a:p>
          <a:p>
            <a:r>
              <a:rPr lang="en-US"/>
              <a:t>Cumulative exam covering all topics discussed throughout the semester.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Lenguajes de Programación:</a:t>
            </a:r>
          </a:p>
          <a:p>
            <a:r>
              <a:rPr lang="en-US"/>
              <a:t>Herramientas que los programadores usan para escribir código (ej. Python, Java, C++).</a:t>
            </a:r>
          </a:p>
          <a:p>
            <a:r>
              <a:rPr lang="en-US"/>
              <a:t/>
            </a:r>
          </a:p>
          <a:p>
            <a:r>
              <a:rPr lang="en-US"/>
              <a:t>Algoritmos:</a:t>
            </a:r>
          </a:p>
          <a:p>
            <a:r>
              <a:rPr lang="en-US"/>
              <a:t>Secuencias de pasos lógicos para resolver un problema.</a:t>
            </a:r>
          </a:p>
          <a:p>
            <a:r>
              <a:rPr lang="en-US"/>
              <a:t/>
            </a:r>
          </a:p>
          <a:p>
            <a:r>
              <a:rPr lang="en-US"/>
              <a:t>Código Fuente:</a:t>
            </a:r>
          </a:p>
          <a:p>
            <a:r>
              <a:rPr lang="en-US"/>
              <a:t>Conjunto de instrucciones escritas por el programador.</a:t>
            </a:r>
          </a:p>
          <a:p>
            <a:r>
              <a:rPr lang="en-US"/>
              <a:t/>
            </a:r>
          </a:p>
          <a:p>
            <a:r>
              <a:rPr lang="en-US"/>
              <a:t>Tipos de Lenguajes de Programación:</a:t>
            </a:r>
          </a:p>
          <a:p>
            <a:r>
              <a:rPr lang="en-US"/>
              <a:t/>
            </a:r>
          </a:p>
          <a:p>
            <a:r>
              <a:rPr lang="en-US"/>
              <a:t>Lenguajes de Bajo Nivel:</a:t>
            </a:r>
          </a:p>
          <a:p>
            <a:r>
              <a:rPr lang="en-US"/>
              <a:t>Más cercanos al lenguaje máquina (ej. Ensamblador).</a:t>
            </a:r>
          </a:p>
          <a:p>
            <a:r>
              <a:rPr lang="en-US"/>
              <a:t/>
            </a:r>
          </a:p>
          <a:p>
            <a:r>
              <a:rPr lang="en-US"/>
              <a:t>Lenguajes de Alto Nivel:</a:t>
            </a:r>
          </a:p>
          <a:p>
            <a:r>
              <a:rPr lang="en-US"/>
              <a:t>Más cercanos al lenguaje humano, fáciles de entender y escribir (ej. Python, Java, C++).</a:t>
            </a:r>
          </a:p>
          <a:p>
            <a:r>
              <a:rPr lang="en-US"/>
              <a:t/>
            </a:r>
          </a:p>
          <a:p>
            <a:r>
              <a:rPr lang="en-US"/>
              <a:t>Ejemplos Comunes:</a:t>
            </a:r>
          </a:p>
          <a:p>
            <a:r>
              <a:rPr lang="en-US"/>
              <a:t>Python:</a:t>
            </a:r>
          </a:p>
          <a:p>
            <a:r>
              <a:rPr lang="en-US"/>
              <a:t>Conocido por su simplicidad y versatilidad.</a:t>
            </a:r>
          </a:p>
          <a:p>
            <a:r>
              <a:rPr lang="en-US"/>
              <a:t>Java:</a:t>
            </a:r>
          </a:p>
          <a:p>
            <a:r>
              <a:rPr lang="en-US"/>
              <a:t>Amplio uso en aplicaciones empresariales.</a:t>
            </a:r>
          </a:p>
          <a:p>
            <a:r>
              <a:rPr lang="en-US"/>
              <a:t>C++:</a:t>
            </a:r>
          </a:p>
          <a:p>
            <a:r>
              <a:rPr lang="en-US"/>
              <a:t>Uso en sistemas de alto rendimiento.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>Permiten la creación de software.</a:t>
            </a:r>
          </a:p>
          <a:p>
            <a:r>
              <a:rPr lang="en-US"/>
              <a:t>Facilitan la comunicación entre el programador y la máquina.</a:t>
            </a:r>
          </a:p>
          <a:p>
            <a:r>
              <a:rPr lang="en-US"/>
              <a:t>Diferentes lenguajes son adecuados para diferentes tipos de tareas.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</a:t>
            </a:r>
          </a:p>
          <a:p>
            <a:r>
              <a:rPr lang="en-US"/>
              <a:t/>
            </a:r>
          </a:p>
          <a:p>
            <a:r>
              <a:rPr lang="en-US"/>
              <a:t>Propósito:</a:t>
            </a:r>
          </a:p>
          <a:p>
            <a:r>
              <a:rPr lang="en-US"/>
              <a:t>Permitir que un programa almacene, recupere y manipule datos de manera dinámica.</a:t>
            </a:r>
          </a:p>
          <a:p>
            <a:r>
              <a:rPr lang="en-US"/>
              <a:t/>
            </a:r>
          </a:p>
          <a:p>
            <a:r>
              <a:rPr lang="en-US"/>
              <a:t>Tipos Comunes de Variables:</a:t>
            </a:r>
          </a:p>
          <a:p>
            <a:r>
              <a:rPr lang="en-US"/>
              <a:t>Enteros (int):</a:t>
            </a:r>
          </a:p>
          <a:p>
            <a:r>
              <a:rPr lang="en-US"/>
              <a:t>Números enteros sin decimales.</a:t>
            </a:r>
          </a:p>
          <a:p>
            <a:r>
              <a:rPr lang="en-US"/>
              <a:t>Flotantes (float):</a:t>
            </a:r>
          </a:p>
          <a:p>
            <a:r>
              <a:rPr lang="en-US"/>
              <a:t>Números con decimales.</a:t>
            </a:r>
          </a:p>
          <a:p>
            <a:r>
              <a:rPr lang="en-US"/>
              <a:t>Cadenas de texto (string):</a:t>
            </a:r>
          </a:p>
          <a:p>
            <a:r>
              <a:rPr lang="en-US"/>
              <a:t>Secuencias de caracteres.</a:t>
            </a:r>
          </a:p>
          <a:p>
            <a:r>
              <a:rPr lang="en-US"/>
              <a:t>Booleanos (bool):</a:t>
            </a:r>
          </a:p>
          <a:p>
            <a:r>
              <a:rPr lang="en-US"/>
              <a:t>Valores de verdadero o falso.</a:t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/>
            </a:r>
          </a:p>
          <a:p>
            <a:r>
              <a:rPr lang="en-US"/>
              <a:t>Facilitan el manejo de datos en los programas.</a:t>
            </a:r>
          </a:p>
          <a:p>
            <a:r>
              <a:rPr lang="en-US"/>
              <a:t>Permiten que los programas sean más flexibles y dinámicos.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2.</a:t>
            </a:r>
          </a:p>
          <a:p>
            <a:r>
              <a:rPr lang="en-US"/>
              <a:t/>
            </a:r>
          </a:p>
          <a:p>
            <a:r>
              <a:rPr lang="en-US"/>
              <a:t>Uso en Expresiones:</a:t>
            </a:r>
          </a:p>
          <a:p>
            <a:r>
              <a:rPr lang="en-US"/>
              <a:t>Explicar cómo usar variables en cálculos y operaciones.</a:t>
            </a:r>
          </a:p>
          <a:p>
            <a:r>
              <a:rPr lang="en-US"/>
              <a:t>Proporcionar ejemplos de incremento de una variable.</a:t>
            </a:r>
          </a:p>
          <a:p>
            <a:r>
              <a:rPr lang="en-US"/>
              <a:t>Concatenación de Cadenas:</a:t>
            </a:r>
          </a:p>
          <a:p>
            <a:r>
              <a:rPr lang="en-US"/>
              <a:t>Describir cómo combinar texto con el valor de una variable.</a:t>
            </a:r>
          </a:p>
          <a:p>
            <a:r>
              <a:rPr lang="en-US"/>
              <a:t>Proporcionar ejemplos en ambos lenguajes.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las estructuras de control condicional son esenciales para la toma de decisiones dentro de un programa.</a:t>
            </a:r>
          </a:p>
          <a:p>
            <a:r>
              <a:rPr lang="en-US"/>
              <a:t/>
            </a:r>
          </a:p>
          <a:p>
            <a:r>
              <a:rPr lang="en-US"/>
              <a:t>¿Para qué sirven?:</a:t>
            </a:r>
          </a:p>
          <a:p>
            <a:r>
              <a:rPr lang="en-US"/>
              <a:t>Describir cómo permiten tomar decisiones y controlar el flujo del programa.</a:t>
            </a:r>
          </a:p>
          <a:p>
            <a:r>
              <a:rPr lang="en-US"/>
              <a:t/>
            </a:r>
          </a:p>
          <a:p>
            <a:r>
              <a:rPr lang="en-US"/>
              <a:t>Ejemplo Común:</a:t>
            </a:r>
          </a:p>
          <a:p>
            <a:r>
              <a:rPr lang="en-US"/>
              <a:t>Proporcionar ejemplos claros en Python y Visual Basic para ilustrar el uso de estructuras condicionales.</a:t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la importancia de estas estructuras para crear programas versátiles y adaptativos.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las estructuras de control condicional son esenciales para la toma de decisiones dentro de un programa.</a:t>
            </a:r>
          </a:p>
          <a:p>
            <a:r>
              <a:rPr lang="en-US"/>
              <a:t/>
            </a:r>
          </a:p>
          <a:p>
            <a:r>
              <a:rPr lang="en-US"/>
              <a:t>¿Para qué sirven?:</a:t>
            </a:r>
          </a:p>
          <a:p>
            <a:r>
              <a:rPr lang="en-US"/>
              <a:t>Describir cómo permiten tomar decisiones y controlar el flujo del programa.</a:t>
            </a:r>
          </a:p>
          <a:p>
            <a:r>
              <a:rPr lang="en-US"/>
              <a:t/>
            </a:r>
          </a:p>
          <a:p>
            <a:r>
              <a:rPr lang="en-US"/>
              <a:t>Ejemplo Común:</a:t>
            </a:r>
          </a:p>
          <a:p>
            <a:r>
              <a:rPr lang="en-US"/>
              <a:t>Proporcionar ejemplos claros en Python y Visual Basic para ilustrar el uso de estructuras condicionales.</a:t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la importancia de estas estructuras para crear programas versátiles y adaptativos.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las estructuras de control condicional son esenciales para la toma de decisiones dentro de un programa.</a:t>
            </a:r>
          </a:p>
          <a:p>
            <a:r>
              <a:rPr lang="en-US"/>
              <a:t/>
            </a:r>
          </a:p>
          <a:p>
            <a:r>
              <a:rPr lang="en-US"/>
              <a:t>¿Para qué sirven?:</a:t>
            </a:r>
          </a:p>
          <a:p>
            <a:r>
              <a:rPr lang="en-US"/>
              <a:t>Describir cómo permiten tomar decisiones y controlar el flujo del programa.</a:t>
            </a:r>
          </a:p>
          <a:p>
            <a:r>
              <a:rPr lang="en-US"/>
              <a:t/>
            </a:r>
          </a:p>
          <a:p>
            <a:r>
              <a:rPr lang="en-US"/>
              <a:t>Ejemplo Común:</a:t>
            </a:r>
          </a:p>
          <a:p>
            <a:r>
              <a:rPr lang="en-US"/>
              <a:t>Proporcionar ejemplos claros en Python y Visual Basic para ilustrar el uso de estructuras condicionales.</a:t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la importancia de estas estructuras para crear programas versátiles y adaptativos.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 estructura if es fundamental para la toma de decisiones en programación.</a:t>
            </a:r>
          </a:p>
          <a:p>
            <a:r>
              <a:rPr lang="en-US"/>
              <a:t/>
            </a:r>
          </a:p>
          <a:p>
            <a:r>
              <a:rPr lang="en-US"/>
              <a:t>¿Cómo usar el condicional if?</a:t>
            </a:r>
          </a:p>
          <a:p>
            <a:r>
              <a:rPr lang="en-US"/>
              <a:t>Describir la sintaxis básica de if en Python y Visual Basic.</a:t>
            </a:r>
          </a:p>
          <a:p>
            <a:r>
              <a:rPr lang="en-US"/>
              <a:t>Explicar detalladamente cada parte de la sintaxis y su función.</a:t>
            </a:r>
          </a:p>
          <a:p>
            <a:r>
              <a:rPr lang="en-US"/>
              <a:t>Ejemplos:</a:t>
            </a:r>
          </a:p>
          <a:p>
            <a:r>
              <a:rPr lang="en-US"/>
              <a:t>Proporcionar ejemplos claros y simples en ambos lenguajes para ilustrar el uso del condicional if.</a:t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cómo el condicional if permite controlar el flujo de ejecución del programa y tomar decisiones basadas en condiciones específicas.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 estructura if es fundamental para la toma de decisiones en programación.</a:t>
            </a:r>
          </a:p>
          <a:p>
            <a:r>
              <a:rPr lang="en-US"/>
              <a:t/>
            </a:r>
          </a:p>
          <a:p>
            <a:r>
              <a:rPr lang="en-US"/>
              <a:t>¿Cómo usar el condicional if?</a:t>
            </a:r>
          </a:p>
          <a:p>
            <a:r>
              <a:rPr lang="en-US"/>
              <a:t>Describir la sintaxis básica de if en Python y Visual Basic.</a:t>
            </a:r>
          </a:p>
          <a:p>
            <a:r>
              <a:rPr lang="en-US"/>
              <a:t>Explicar detalladamente cada parte de la sintaxis y su función.</a:t>
            </a:r>
          </a:p>
          <a:p>
            <a:r>
              <a:rPr lang="en-US"/>
              <a:t>Ejemplos:</a:t>
            </a:r>
          </a:p>
          <a:p>
            <a:r>
              <a:rPr lang="en-US"/>
              <a:t>Proporcionar ejemplos claros y simples en ambos lenguajes para ilustrar el uso del condicional if.</a:t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cómo el condicional if permite controlar el flujo de ejecución del programa y tomar decisiones basadas en condiciones específicas.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Concepto General:</a:t>
            </a:r>
          </a:p>
          <a:p>
            <a:r>
              <a:rPr lang="en-US"/>
              <a:t>Explicar que la estructura switch o select se utiliza para seleccionar una opción entre varias basadas en el valor de una expresión.</a:t>
            </a:r>
          </a:p>
          <a:p>
            <a:r>
              <a:rPr lang="en-US"/>
              <a:t/>
            </a:r>
          </a:p>
          <a:p>
            <a:r>
              <a:rPr lang="en-US"/>
              <a:t>¿Cómo usar el condicional switch?</a:t>
            </a:r>
          </a:p>
          <a:p>
            <a:r>
              <a:rPr lang="en-US"/>
              <a:t>Describir la sintaxis básica de Select Case en Visual Basic.</a:t>
            </a:r>
          </a:p>
          <a:p>
            <a:r>
              <a:rPr lang="en-US"/>
              <a:t>Explicar detalladamente cada parte de la sintaxis y su función.</a:t>
            </a:r>
          </a:p>
          <a:p>
            <a:r>
              <a:rPr lang="en-US"/>
              <a:t/>
            </a:r>
          </a:p>
          <a:p>
            <a:r>
              <a:rPr lang="en-US"/>
              <a:t>Proporcionar un ejemplo claro y simple de cómo emular switch en Python utilizando if...elif...else.</a:t>
            </a:r>
          </a:p>
          <a:p>
            <a:r>
              <a:rPr lang="en-US"/>
              <a:t/>
            </a:r>
          </a:p>
          <a:p>
            <a:r>
              <a:rPr lang="en-US"/>
              <a:t>Importancia:</a:t>
            </a:r>
          </a:p>
          <a:p>
            <a:r>
              <a:rPr lang="en-US"/>
              <a:t>Resaltar cómo el switch o select facilita la toma de decisiones cuando se manejan múltiples opciones y simplifica el código.</a:t>
            </a:r>
          </a:p>
          <a:p>
            <a:r>
              <a:rPr lang="en-US"/>
              <a:t/>
            </a:r>
          </a:p>
          <a:p>
            <a:r>
              <a:rPr lang="en-US"/>
              <a:t>Diferencias Clave:</a:t>
            </a:r>
          </a:p>
          <a:p>
            <a:r>
              <a:rPr lang="en-US"/>
              <a:t>Uso de if:</a:t>
            </a:r>
          </a:p>
          <a:p>
            <a:r>
              <a:rPr lang="en-US"/>
              <a:t>Adecuado para condiciones simples y comparaciones complejas.</a:t>
            </a:r>
          </a:p>
          <a:p>
            <a:r>
              <a:rPr lang="en-US"/>
              <a:t>Se utiliza cuando se deben evaluar múltiples condiciones diferentes.</a:t>
            </a:r>
          </a:p>
          <a:p>
            <a:r>
              <a:rPr lang="en-US"/>
              <a:t>Uso de switch:</a:t>
            </a:r>
          </a:p>
          <a:p>
            <a:r>
              <a:rPr lang="en-US"/>
              <a:t>Ideal para múltiples opciones basadas en el valor de una sola expresión.</a:t>
            </a:r>
          </a:p>
          <a:p>
            <a:r>
              <a:rPr lang="en-US"/>
              <a:t>Simplifica el código al evitar múltiples estructuras if...elif...else.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www.virtualbox.org/wiki/Downloads" TargetMode="External" Type="http://schemas.openxmlformats.org/officeDocument/2006/relationships/hyperlink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5853" y="258676"/>
            <a:ext cx="5375629" cy="4114800"/>
          </a:xfrm>
          <a:custGeom>
            <a:avLst/>
            <a:gdLst/>
            <a:ahLst/>
            <a:cxnLst/>
            <a:rect r="r" b="b" t="t" l="l"/>
            <a:pathLst>
              <a:path h="4114800" w="5375629">
                <a:moveTo>
                  <a:pt x="0" y="0"/>
                </a:moveTo>
                <a:lnTo>
                  <a:pt x="5375629" y="0"/>
                </a:lnTo>
                <a:lnTo>
                  <a:pt x="53756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38886"/>
            <a:ext cx="2923946" cy="3148126"/>
          </a:xfrm>
          <a:custGeom>
            <a:avLst/>
            <a:gdLst/>
            <a:ahLst/>
            <a:cxnLst/>
            <a:rect r="r" b="b" t="t" l="l"/>
            <a:pathLst>
              <a:path h="3148126" w="2923946">
                <a:moveTo>
                  <a:pt x="0" y="0"/>
                </a:moveTo>
                <a:lnTo>
                  <a:pt x="2923946" y="0"/>
                </a:lnTo>
                <a:lnTo>
                  <a:pt x="2923946" y="3148126"/>
                </a:lnTo>
                <a:lnTo>
                  <a:pt x="0" y="3148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9609" y="3786886"/>
            <a:ext cx="12491512" cy="2994597"/>
            <a:chOff x="0" y="0"/>
            <a:chExt cx="16655349" cy="399279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57175"/>
              <a:ext cx="16655349" cy="144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43"/>
                </a:lnSpc>
              </a:pPr>
              <a:r>
                <a:rPr lang="en-US" sz="8440">
                  <a:solidFill>
                    <a:srgbClr val="597C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Clase 2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0711"/>
              <a:ext cx="16655349" cy="2632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4"/>
                </a:lnSpc>
              </a:pPr>
              <a:r>
                <a:rPr lang="en-US" sz="5774" spc="577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PRÁCTICA PROGRAMACIÓN DE COMPUTADORAS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706548" y="7773688"/>
            <a:ext cx="249763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38B6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SECCIÓN 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7399" y="9020175"/>
            <a:ext cx="4595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0877" y="1694119"/>
            <a:ext cx="5887373" cy="6856852"/>
            <a:chOff x="0" y="0"/>
            <a:chExt cx="7849830" cy="91424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57150"/>
              <a:ext cx="784983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del DTT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1114568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677533"/>
              <a:ext cx="7849830" cy="55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de las máquinas virtuales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2844172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407137"/>
              <a:ext cx="7849830" cy="55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Instalación y Configuración de VM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573775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5136740"/>
              <a:ext cx="7849830" cy="55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Practica 1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6303378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6866343"/>
              <a:ext cx="7849830" cy="55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Foro de la semana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8032982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8595947"/>
              <a:ext cx="7849830" cy="55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¿Dudas?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24863" y="4992920"/>
            <a:ext cx="4887991" cy="4114800"/>
          </a:xfrm>
          <a:custGeom>
            <a:avLst/>
            <a:gdLst/>
            <a:ahLst/>
            <a:cxnLst/>
            <a:rect r="r" b="b" t="t" l="l"/>
            <a:pathLst>
              <a:path h="4114800" w="4887991">
                <a:moveTo>
                  <a:pt x="0" y="0"/>
                </a:moveTo>
                <a:lnTo>
                  <a:pt x="4887992" y="0"/>
                </a:lnTo>
                <a:lnTo>
                  <a:pt x="4887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71708" y="1975808"/>
            <a:ext cx="6077873" cy="3839448"/>
            <a:chOff x="0" y="0"/>
            <a:chExt cx="8103830" cy="511926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500139"/>
              <a:ext cx="810383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8103830" cy="2768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89"/>
                </a:lnSpc>
              </a:pPr>
              <a:r>
                <a:rPr lang="en-US" sz="6825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AGENDA DE LA CLASE: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97392">
            <a:off x="2528294" y="5344833"/>
            <a:ext cx="4848618" cy="4804172"/>
          </a:xfrm>
          <a:custGeom>
            <a:avLst/>
            <a:gdLst/>
            <a:ahLst/>
            <a:cxnLst/>
            <a:rect r="r" b="b" t="t" l="l"/>
            <a:pathLst>
              <a:path h="4804172" w="4848618">
                <a:moveTo>
                  <a:pt x="0" y="0"/>
                </a:moveTo>
                <a:lnTo>
                  <a:pt x="4848618" y="0"/>
                </a:lnTo>
                <a:lnTo>
                  <a:pt x="4848618" y="4804173"/>
                </a:lnTo>
                <a:lnTo>
                  <a:pt x="0" y="4804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4259" y="2419420"/>
            <a:ext cx="7962860" cy="3906842"/>
          </a:xfrm>
          <a:custGeom>
            <a:avLst/>
            <a:gdLst/>
            <a:ahLst/>
            <a:cxnLst/>
            <a:rect r="r" b="b" t="t" l="l"/>
            <a:pathLst>
              <a:path h="3906842" w="7962860">
                <a:moveTo>
                  <a:pt x="0" y="0"/>
                </a:moveTo>
                <a:lnTo>
                  <a:pt x="7962860" y="0"/>
                </a:lnTo>
                <a:lnTo>
                  <a:pt x="7962860" y="3906843"/>
                </a:lnTo>
                <a:lnTo>
                  <a:pt x="0" y="3906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0" t="0" r="-5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6419" y="5002387"/>
            <a:ext cx="7932881" cy="4762678"/>
          </a:xfrm>
          <a:custGeom>
            <a:avLst/>
            <a:gdLst/>
            <a:ahLst/>
            <a:cxnLst/>
            <a:rect r="r" b="b" t="t" l="l"/>
            <a:pathLst>
              <a:path h="4762678" w="7932881">
                <a:moveTo>
                  <a:pt x="0" y="0"/>
                </a:moveTo>
                <a:lnTo>
                  <a:pt x="7932881" y="0"/>
                </a:lnTo>
                <a:lnTo>
                  <a:pt x="7932881" y="4762677"/>
                </a:lnTo>
                <a:lnTo>
                  <a:pt x="0" y="4762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0333" y="1485970"/>
            <a:ext cx="1484733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57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HTTPS://DTT-ECYS.ORG/USER/LOGIN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26419" y="3283147"/>
            <a:ext cx="809509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INICIO DE SESSION</a:t>
            </a:r>
          </a:p>
          <a:p>
            <a:pPr algn="ctr" marL="647700" indent="-323850" lvl="1">
              <a:lnSpc>
                <a:spcPts val="36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CONTRASENA PERDIDA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87395" y="474877"/>
            <a:ext cx="6842769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73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USO DEL </a:t>
            </a:r>
            <a:r>
              <a:rPr lang="en-US" sz="3734">
                <a:solidFill>
                  <a:srgbClr val="FF57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DTT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21" y="3106012"/>
            <a:ext cx="5646026" cy="3093952"/>
          </a:xfrm>
          <a:custGeom>
            <a:avLst/>
            <a:gdLst/>
            <a:ahLst/>
            <a:cxnLst/>
            <a:rect r="r" b="b" t="t" l="l"/>
            <a:pathLst>
              <a:path h="3093952" w="5646026">
                <a:moveTo>
                  <a:pt x="0" y="0"/>
                </a:moveTo>
                <a:lnTo>
                  <a:pt x="5646026" y="0"/>
                </a:lnTo>
                <a:lnTo>
                  <a:pt x="5646026" y="3093953"/>
                </a:lnTo>
                <a:lnTo>
                  <a:pt x="0" y="309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9708" y="5044594"/>
            <a:ext cx="12081771" cy="4537462"/>
          </a:xfrm>
          <a:custGeom>
            <a:avLst/>
            <a:gdLst/>
            <a:ahLst/>
            <a:cxnLst/>
            <a:rect r="r" b="b" t="t" l="l"/>
            <a:pathLst>
              <a:path h="4537462" w="12081771">
                <a:moveTo>
                  <a:pt x="0" y="0"/>
                </a:moveTo>
                <a:lnTo>
                  <a:pt x="12081771" y="0"/>
                </a:lnTo>
                <a:lnTo>
                  <a:pt x="12081771" y="4537462"/>
                </a:lnTo>
                <a:lnTo>
                  <a:pt x="0" y="4537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87395" y="474877"/>
            <a:ext cx="6842769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73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USO DEL </a:t>
            </a:r>
            <a:r>
              <a:rPr lang="en-US" sz="3734">
                <a:solidFill>
                  <a:srgbClr val="FF57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DTT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7395" y="1628179"/>
            <a:ext cx="68427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0"/>
              </a:lnSpc>
              <a:spcBef>
                <a:spcPct val="0"/>
              </a:spcBef>
            </a:pPr>
            <a:r>
              <a:rPr lang="en-US" sz="3434">
                <a:solidFill>
                  <a:srgbClr val="FF57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AREA DE CURSOS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68863"/>
            <a:ext cx="16315716" cy="83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  <a:spcBef>
                <a:spcPct val="0"/>
              </a:spcBef>
            </a:pPr>
            <a:r>
              <a:rPr lang="en-US" sz="277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PARA VISUALIZAR SI ESTAN ASIGNADOS AL CURSO, PUEDEN VERIFICAR DE LA SIGUIENTE MANERA: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5103" y="1115267"/>
            <a:ext cx="8217793" cy="2295766"/>
            <a:chOff x="0" y="0"/>
            <a:chExt cx="10957058" cy="306102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425777"/>
              <a:ext cx="10957058" cy="439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0957058" cy="145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1"/>
                </a:lnSpc>
              </a:pPr>
              <a:r>
                <a:rPr lang="en-US" sz="7176" b="true">
                  <a:solidFill>
                    <a:srgbClr val="FFDE59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PRACTICA UNICA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91793" y="3924280"/>
            <a:ext cx="12704415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FECHA DE ENTREGA: 12 DE AGOSTO DEL 2024 ANTES DE LAS 23:59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PRACTICA SE REALIZARÁ COMO MÁXIMO EN PAREJAS. 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RECOMENDADO USAR ORACLE VM VIRTUALBOX 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LAS DUDAS DE LA PRÁCTICA SE RESOLVERÁN ÚNICAMENTE POR MEDIO DE LOS FOROS OFICIALES QUE SE ENCUENTRAN EN UEDI.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5324805" y="5133975"/>
            <a:ext cx="7638389" cy="0"/>
          </a:xfrm>
          <a:prstGeom prst="line">
            <a:avLst/>
          </a:prstGeom>
          <a:ln cap="rnd" w="19050">
            <a:solidFill>
              <a:srgbClr val="10B5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47306" y="4536405"/>
            <a:ext cx="3808937" cy="2964045"/>
          </a:xfrm>
          <a:custGeom>
            <a:avLst/>
            <a:gdLst/>
            <a:ahLst/>
            <a:cxnLst/>
            <a:rect r="r" b="b" t="t" l="l"/>
            <a:pathLst>
              <a:path h="2964045" w="3808937">
                <a:moveTo>
                  <a:pt x="0" y="0"/>
                </a:moveTo>
                <a:lnTo>
                  <a:pt x="3808937" y="0"/>
                </a:lnTo>
                <a:lnTo>
                  <a:pt x="3808937" y="2964045"/>
                </a:lnTo>
                <a:lnTo>
                  <a:pt x="0" y="2964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26083" y="3118003"/>
            <a:ext cx="7331968" cy="2295766"/>
            <a:chOff x="0" y="0"/>
            <a:chExt cx="9775958" cy="30610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425777"/>
              <a:ext cx="9775958" cy="439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9775958" cy="145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1"/>
                </a:lnSpc>
              </a:pPr>
              <a:r>
                <a:rPr lang="en-US" sz="7176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Recursos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28226" y="3108478"/>
            <a:ext cx="63028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ORACLE VM VIRTUALBOX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8226" y="3691458"/>
            <a:ext cx="6302836" cy="31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https://www.virtualbox.org/wiki/Downloads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4793" y="6179900"/>
            <a:ext cx="63028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WINDOWS 10 ISO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4793" y="6762881"/>
            <a:ext cx="6302836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https://www.microsoft.com/en-us/software-download/windows10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5324805" y="5133975"/>
            <a:ext cx="7638389" cy="0"/>
          </a:xfrm>
          <a:prstGeom prst="line">
            <a:avLst/>
          </a:prstGeom>
          <a:ln cap="rnd" w="19050">
            <a:solidFill>
              <a:srgbClr val="10B5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47306" y="4536405"/>
            <a:ext cx="3808937" cy="2964045"/>
          </a:xfrm>
          <a:custGeom>
            <a:avLst/>
            <a:gdLst/>
            <a:ahLst/>
            <a:cxnLst/>
            <a:rect r="r" b="b" t="t" l="l"/>
            <a:pathLst>
              <a:path h="2964045" w="3808937">
                <a:moveTo>
                  <a:pt x="0" y="0"/>
                </a:moveTo>
                <a:lnTo>
                  <a:pt x="3808937" y="0"/>
                </a:lnTo>
                <a:lnTo>
                  <a:pt x="3808937" y="2964045"/>
                </a:lnTo>
                <a:lnTo>
                  <a:pt x="0" y="2964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26083" y="3118003"/>
            <a:ext cx="7331968" cy="2295766"/>
            <a:chOff x="0" y="0"/>
            <a:chExt cx="9775958" cy="30610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425777"/>
              <a:ext cx="9775958" cy="439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9775958" cy="1455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1"/>
                </a:lnSpc>
              </a:pPr>
              <a:r>
                <a:rPr lang="en-US" sz="7176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Recursos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28226" y="3108478"/>
            <a:ext cx="63028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ORACLE VM VIRTUALBOX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8226" y="3691458"/>
            <a:ext cx="6302836" cy="31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https://www.virtualbox.org/wiki/Downloads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4793" y="6179900"/>
            <a:ext cx="63028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WINDOWS 10 ISO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4793" y="6762881"/>
            <a:ext cx="6302836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https://www.microsoft.com/en-us/software-download/windows10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9495" y="1963773"/>
            <a:ext cx="12045829" cy="4688863"/>
            <a:chOff x="0" y="0"/>
            <a:chExt cx="16061106" cy="625181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967446"/>
              <a:ext cx="16061106" cy="208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1: Descargar desde </a:t>
              </a:r>
              <a:r>
                <a:rPr lang="en-US" sz="2614" u="sng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  <a:hlinkClick r:id="rId3" tooltip="https://www.virtualbox.org/wiki/Downloads"/>
                </a:rPr>
                <a:t>virtualbox.org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2: Activar el Windows Feature: Hypervisor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3: Ejecutar el instalador y seguir las instrucciones</a:t>
              </a:r>
            </a:p>
            <a:p>
              <a:pPr algn="l">
                <a:lnSpc>
                  <a:spcPts val="3137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6061106" cy="2978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61"/>
                </a:lnSpc>
              </a:pPr>
              <a:r>
                <a:rPr lang="en-US" sz="7384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INSTALACIÓN DE MÁQUINA VIRTUAL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9495" y="6295462"/>
            <a:ext cx="5196818" cy="2248480"/>
          </a:xfrm>
          <a:custGeom>
            <a:avLst/>
            <a:gdLst/>
            <a:ahLst/>
            <a:cxnLst/>
            <a:rect r="r" b="b" t="t" l="l"/>
            <a:pathLst>
              <a:path h="2248480" w="5196818">
                <a:moveTo>
                  <a:pt x="0" y="0"/>
                </a:moveTo>
                <a:lnTo>
                  <a:pt x="5196818" y="0"/>
                </a:lnTo>
                <a:lnTo>
                  <a:pt x="5196818" y="2248480"/>
                </a:lnTo>
                <a:lnTo>
                  <a:pt x="0" y="224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6313" y="6295462"/>
            <a:ext cx="10412193" cy="2248480"/>
          </a:xfrm>
          <a:custGeom>
            <a:avLst/>
            <a:gdLst/>
            <a:ahLst/>
            <a:cxnLst/>
            <a:rect r="r" b="b" t="t" l="l"/>
            <a:pathLst>
              <a:path h="2248480" w="10412193">
                <a:moveTo>
                  <a:pt x="0" y="0"/>
                </a:moveTo>
                <a:lnTo>
                  <a:pt x="10412192" y="0"/>
                </a:lnTo>
                <a:lnTo>
                  <a:pt x="10412192" y="2248480"/>
                </a:lnTo>
                <a:lnTo>
                  <a:pt x="0" y="2248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60557" y="2128488"/>
            <a:ext cx="2532312" cy="3165390"/>
          </a:xfrm>
          <a:custGeom>
            <a:avLst/>
            <a:gdLst/>
            <a:ahLst/>
            <a:cxnLst/>
            <a:rect r="r" b="b" t="t" l="l"/>
            <a:pathLst>
              <a:path h="3165390" w="2532312">
                <a:moveTo>
                  <a:pt x="0" y="0"/>
                </a:moveTo>
                <a:lnTo>
                  <a:pt x="2532312" y="0"/>
                </a:lnTo>
                <a:lnTo>
                  <a:pt x="2532312" y="3165391"/>
                </a:lnTo>
                <a:lnTo>
                  <a:pt x="0" y="3165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16574" y="572565"/>
            <a:ext cx="2735854" cy="4114800"/>
          </a:xfrm>
          <a:custGeom>
            <a:avLst/>
            <a:gdLst/>
            <a:ahLst/>
            <a:cxnLst/>
            <a:rect r="r" b="b" t="t" l="l"/>
            <a:pathLst>
              <a:path h="4114800" w="2735854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9495" y="1963773"/>
            <a:ext cx="12045829" cy="5469913"/>
            <a:chOff x="0" y="0"/>
            <a:chExt cx="16061106" cy="729321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967446"/>
              <a:ext cx="16061106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1: Abrir Oracle VM VirtualBox.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2: Hacer clic en "Nueva".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3: Asignar un nombre y seleccionar el tipo de SO.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4: Configurar la memoria RAM asignada.</a:t>
              </a:r>
            </a:p>
            <a:p>
              <a:pPr algn="l" marL="564496" indent="-282248" lvl="1">
                <a:lnSpc>
                  <a:spcPts val="3137"/>
                </a:lnSpc>
                <a:buFont typeface="Arial"/>
                <a:buChar char="•"/>
              </a:pPr>
              <a:r>
                <a:rPr lang="en-US" sz="2614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Paso 5: Configurar la memoria de disco asignada.</a:t>
              </a:r>
            </a:p>
            <a:p>
              <a:pPr algn="l">
                <a:lnSpc>
                  <a:spcPts val="3137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16061106" cy="2978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61"/>
                </a:lnSpc>
              </a:pPr>
              <a:r>
                <a:rPr lang="en-US" sz="7384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INSTALACIÓN DE MÁQUINA VIRTUAL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20502" y="1970244"/>
            <a:ext cx="3370155" cy="5546125"/>
          </a:xfrm>
          <a:custGeom>
            <a:avLst/>
            <a:gdLst/>
            <a:ahLst/>
            <a:cxnLst/>
            <a:rect r="r" b="b" t="t" l="l"/>
            <a:pathLst>
              <a:path h="5546125" w="3370155">
                <a:moveTo>
                  <a:pt x="0" y="0"/>
                </a:moveTo>
                <a:lnTo>
                  <a:pt x="3370155" y="0"/>
                </a:lnTo>
                <a:lnTo>
                  <a:pt x="3370155" y="5546125"/>
                </a:lnTo>
                <a:lnTo>
                  <a:pt x="0" y="554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32119"/>
            <a:ext cx="63028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REQUESITOS MINIMOS PC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84361"/>
            <a:ext cx="9223074" cy="235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473" indent="-292237" lvl="1">
              <a:lnSpc>
                <a:spcPts val="3790"/>
              </a:lnSpc>
              <a:buFont typeface="Arial"/>
              <a:buChar char="•"/>
            </a:pPr>
            <a:r>
              <a:rPr lang="en-US" sz="270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Procesador: CPU de doble núcleo</a:t>
            </a:r>
          </a:p>
          <a:p>
            <a:pPr algn="l" marL="584473" indent="-292237" lvl="1">
              <a:lnSpc>
                <a:spcPts val="3790"/>
              </a:lnSpc>
              <a:buFont typeface="Arial"/>
              <a:buChar char="•"/>
            </a:pPr>
            <a:r>
              <a:rPr lang="en-US" sz="270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RAM: 4 GB</a:t>
            </a:r>
          </a:p>
          <a:p>
            <a:pPr algn="l" marL="584473" indent="-292237" lvl="1">
              <a:lnSpc>
                <a:spcPts val="3790"/>
              </a:lnSpc>
              <a:buFont typeface="Arial"/>
              <a:buChar char="•"/>
            </a:pPr>
            <a:r>
              <a:rPr lang="en-US" sz="270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Espacio de almacenamiento: Al menos 50 GB de espacio libre </a:t>
            </a:r>
          </a:p>
          <a:p>
            <a:pPr algn="l" marL="584473" indent="-292237" lvl="1">
              <a:lnSpc>
                <a:spcPts val="3790"/>
              </a:lnSpc>
              <a:buFont typeface="Arial"/>
              <a:buChar char="•"/>
            </a:pPr>
            <a:r>
              <a:rPr lang="en-US" sz="270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operativo: Windows, macOS, Linux o Solaris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485060"/>
            <a:ext cx="75147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1F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REQUESITOS MINIMOS VM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218485"/>
            <a:ext cx="10764608" cy="139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46" indent="-286073" lvl="1">
              <a:lnSpc>
                <a:spcPts val="3710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Procesador: 1 GHz o superior </a:t>
            </a:r>
          </a:p>
          <a:p>
            <a:pPr algn="l" marL="572146" indent="-286073" lvl="1">
              <a:lnSpc>
                <a:spcPts val="3710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RAM: 2 GB para 64 bits o 1 GB para 32 bits</a:t>
            </a:r>
          </a:p>
          <a:p>
            <a:pPr algn="l" marL="572146" indent="-286073" lvl="1">
              <a:lnSpc>
                <a:spcPts val="3710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Almacenamiento: 20 GB para 64 bits o 16 GB para 32 bits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9388" y="4809208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Espero, </a:t>
              </a: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que hayas aprendido algo nuevo.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¿Tienes alguna pregunta?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-1400753"/>
            <a:ext cx="7160084" cy="5477464"/>
          </a:xfrm>
          <a:custGeom>
            <a:avLst/>
            <a:gdLst/>
            <a:ahLst/>
            <a:cxnLst/>
            <a:rect r="r" b="b" t="t" l="l"/>
            <a:pathLst>
              <a:path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7698346">
            <a:off x="14309952" y="2598981"/>
            <a:ext cx="2866797" cy="2955461"/>
          </a:xfrm>
          <a:custGeom>
            <a:avLst/>
            <a:gdLst/>
            <a:ahLst/>
            <a:cxnLst/>
            <a:rect r="r" b="b" t="t" l="l"/>
            <a:pathLst>
              <a:path h="2955461" w="2866797">
                <a:moveTo>
                  <a:pt x="2866796" y="0"/>
                </a:moveTo>
                <a:lnTo>
                  <a:pt x="0" y="0"/>
                </a:lnTo>
                <a:lnTo>
                  <a:pt x="0" y="2955460"/>
                </a:lnTo>
                <a:lnTo>
                  <a:pt x="2866796" y="2955460"/>
                </a:lnTo>
                <a:lnTo>
                  <a:pt x="286679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2892" y="4310835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¡Gracias por su atención!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7647" y="496725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7200" y="5642972"/>
            <a:ext cx="4887991" cy="4114800"/>
          </a:xfrm>
          <a:custGeom>
            <a:avLst/>
            <a:gdLst/>
            <a:ahLst/>
            <a:cxnLst/>
            <a:rect r="r" b="b" t="t" l="l"/>
            <a:pathLst>
              <a:path h="4114800" w="4887991">
                <a:moveTo>
                  <a:pt x="0" y="0"/>
                </a:moveTo>
                <a:lnTo>
                  <a:pt x="4887992" y="0"/>
                </a:lnTo>
                <a:lnTo>
                  <a:pt x="4887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DAGMX9pc5eQ</dc:identifier>
  <dcterms:modified xsi:type="dcterms:W3CDTF">2011-08-01T06:04:30Z</dcterms:modified>
  <cp:revision>1</cp:revision>
  <dc:title>Lab 090 - Presentacion 2</dc:title>
</cp:coreProperties>
</file>