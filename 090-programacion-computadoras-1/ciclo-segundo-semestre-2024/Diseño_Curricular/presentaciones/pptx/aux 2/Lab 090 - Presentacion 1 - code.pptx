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31"/>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x="18288000" cy="10287000"/>
  <p:notesSz cx="6858000" cy="9144000"/>
  <p:embeddedFontLst>
    <p:embeddedFont>
      <p:font typeface="TAN Headline" charset="1" panose="00000000000000000000"/>
      <p:regular r:id="rId26"/>
    </p:embeddedFont>
    <p:embeddedFont>
      <p:font typeface="Fraunces" charset="1" panose="00000000000000000000"/>
      <p:regular r:id="rId27"/>
    </p:embeddedFont>
    <p:embeddedFont>
      <p:font typeface="Poppins Medium" charset="1" panose="02000000000000000000"/>
      <p:regular r:id="rId28"/>
    </p:embeddedFont>
    <p:embeddedFont>
      <p:font typeface="Poppins Light" charset="1" panose="02000000000000000000"/>
      <p:regular r:id="rId29"/>
    </p:embeddedFont>
    <p:embeddedFont>
      <p:font typeface="Poppins Medium Bold" charset="1" panose="02000000000000000000"/>
      <p:regular r:id="rId3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fonts/font26.fntdata" Type="http://schemas.openxmlformats.org/officeDocument/2006/relationships/font"/><Relationship Id="rId27" Target="fonts/font27.fntdata" Type="http://schemas.openxmlformats.org/officeDocument/2006/relationships/font"/><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31" Target="notesMasters/notesMaster1.xml" Type="http://schemas.openxmlformats.org/officeDocument/2006/relationships/notesMaster"/><Relationship Id="rId32" Target="theme/theme2.xml" Type="http://schemas.openxmlformats.org/officeDocument/2006/relationships/theme"/><Relationship Id="rId33" Target="notesSlides/notesSlide1.xml" Type="http://schemas.openxmlformats.org/officeDocument/2006/relationships/notesSlide"/><Relationship Id="rId34" Target="notesSlides/notesSlide2.xml" Type="http://schemas.openxmlformats.org/officeDocument/2006/relationships/notesSlide"/><Relationship Id="rId35" Target="notesSlides/notesSlide3.xml" Type="http://schemas.openxmlformats.org/officeDocument/2006/relationships/notesSlide"/><Relationship Id="rId36" Target="notesSlides/notesSlide4.xml" Type="http://schemas.openxmlformats.org/officeDocument/2006/relationships/notesSlide"/><Relationship Id="rId37" Target="notesSlides/notesSlide5.xml" Type="http://schemas.openxmlformats.org/officeDocument/2006/relationships/notesSlide"/><Relationship Id="rId38" Target="notesSlides/notesSlide6.xml" Type="http://schemas.openxmlformats.org/officeDocument/2006/relationships/notesSlide"/><Relationship Id="rId39" Target="notesSlides/notesSlide7.xml" Type="http://schemas.openxmlformats.org/officeDocument/2006/relationships/notesSlide"/><Relationship Id="rId4" Target="theme/theme1.xml" Type="http://schemas.openxmlformats.org/officeDocument/2006/relationships/theme"/><Relationship Id="rId40" Target="notesSlides/notesSlide8.xml" Type="http://schemas.openxmlformats.org/officeDocument/2006/relationships/notesSlide"/><Relationship Id="rId41" Target="notesSlides/notesSlide9.xml" Type="http://schemas.openxmlformats.org/officeDocument/2006/relationships/notesSlide"/><Relationship Id="rId42" Target="notesSlides/notesSlide10.xml" Type="http://schemas.openxmlformats.org/officeDocument/2006/relationships/notesSlide"/><Relationship Id="rId43" Target="notesSlides/notesSlide11.xml" Type="http://schemas.openxmlformats.org/officeDocument/2006/relationships/notesSlide"/><Relationship Id="rId44" Target="notesSlides/notesSlide12.xml" Type="http://schemas.openxmlformats.org/officeDocument/2006/relationships/notesSlide"/><Relationship Id="rId45" Target="notesSlides/notesSlide13.xml" Type="http://schemas.openxmlformats.org/officeDocument/2006/relationships/notesSlid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Practice: 20 points</a:t>
            </a:r>
          </a:p>
          <a:p>
            <a:r>
              <a:rPr lang="en-US"/>
              <a:t/>
            </a:r>
          </a:p>
          <a:p>
            <a:r>
              <a:rPr lang="en-US"/>
              <a:t>One practical exercise evaluated on accuracy and application of concepts.</a:t>
            </a:r>
          </a:p>
          <a:p>
            <a:r>
              <a:rPr lang="en-US"/>
              <a:t>Project: 40 points</a:t>
            </a:r>
          </a:p>
          <a:p>
            <a:r>
              <a:rPr lang="en-US"/>
              <a:t/>
            </a:r>
          </a:p>
          <a:p>
            <a:r>
              <a:rPr lang="en-US"/>
              <a:t>Comprehensive project encompassing various elements of the course.</a:t>
            </a:r>
          </a:p>
          <a:p>
            <a:r>
              <a:rPr lang="en-US"/>
              <a:t>Short Exams: 15 points (5 points each)</a:t>
            </a:r>
          </a:p>
          <a:p>
            <a:r>
              <a:rPr lang="en-US"/>
              <a:t/>
            </a:r>
          </a:p>
          <a:p>
            <a:r>
              <a:rPr lang="en-US"/>
              <a:t>Three short exams focused on recent topics covered in the class.</a:t>
            </a:r>
          </a:p>
          <a:p>
            <a:r>
              <a:rPr lang="en-US"/>
              <a:t>Tasks: 15 points (3 points each)</a:t>
            </a:r>
          </a:p>
          <a:p>
            <a:r>
              <a:rPr lang="en-US"/>
              <a:t/>
            </a:r>
          </a:p>
          <a:p>
            <a:r>
              <a:rPr lang="en-US"/>
              <a:t>Five tasks assigned periodically to reinforce learning and application of concepts.</a:t>
            </a:r>
          </a:p>
          <a:p>
            <a:r>
              <a:rPr lang="en-US"/>
              <a:t>Final Exam: 10 points</a:t>
            </a:r>
          </a:p>
          <a:p>
            <a:r>
              <a:rPr lang="en-US"/>
              <a:t/>
            </a:r>
          </a:p>
          <a:p>
            <a:r>
              <a:rPr lang="en-US"/>
              <a:t>Cumulative exam covering all topics discussed throughout the semester.</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Practice: 20 points</a:t>
            </a:r>
          </a:p>
          <a:p>
            <a:r>
              <a:rPr lang="en-US"/>
              <a:t/>
            </a:r>
          </a:p>
          <a:p>
            <a:r>
              <a:rPr lang="en-US"/>
              <a:t>One practical exercise evaluated on accuracy and application of concepts.</a:t>
            </a:r>
          </a:p>
          <a:p>
            <a:r>
              <a:rPr lang="en-US"/>
              <a:t>Project: 40 points</a:t>
            </a:r>
          </a:p>
          <a:p>
            <a:r>
              <a:rPr lang="en-US"/>
              <a:t/>
            </a:r>
          </a:p>
          <a:p>
            <a:r>
              <a:rPr lang="en-US"/>
              <a:t>Comprehensive project encompassing various elements of the course.</a:t>
            </a:r>
          </a:p>
          <a:p>
            <a:r>
              <a:rPr lang="en-US"/>
              <a:t>Short Exams: 15 points (5 points each)</a:t>
            </a:r>
          </a:p>
          <a:p>
            <a:r>
              <a:rPr lang="en-US"/>
              <a:t/>
            </a:r>
          </a:p>
          <a:p>
            <a:r>
              <a:rPr lang="en-US"/>
              <a:t>Three short exams focused on recent topics covered in the class.</a:t>
            </a:r>
          </a:p>
          <a:p>
            <a:r>
              <a:rPr lang="en-US"/>
              <a:t>Tasks: 15 points (3 points each)</a:t>
            </a:r>
          </a:p>
          <a:p>
            <a:r>
              <a:rPr lang="en-US"/>
              <a:t/>
            </a:r>
          </a:p>
          <a:p>
            <a:r>
              <a:rPr lang="en-US"/>
              <a:t>Five tasks assigned periodically to reinforce learning and application of concepts.</a:t>
            </a:r>
          </a:p>
          <a:p>
            <a:r>
              <a:rPr lang="en-US"/>
              <a:t>Final Exam: 10 points</a:t>
            </a:r>
          </a:p>
          <a:p>
            <a:r>
              <a:rPr lang="en-US"/>
              <a:t/>
            </a:r>
          </a:p>
          <a:p>
            <a:r>
              <a:rPr lang="en-US"/>
              <a:t>Cumulative exam covering all topics discussed throughout the semester.</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Practice: 20 points</a:t>
            </a:r>
          </a:p>
          <a:p>
            <a:r>
              <a:rPr lang="en-US"/>
              <a:t/>
            </a:r>
          </a:p>
          <a:p>
            <a:r>
              <a:rPr lang="en-US"/>
              <a:t>One practical exercise evaluated on accuracy and application of concepts.</a:t>
            </a:r>
          </a:p>
          <a:p>
            <a:r>
              <a:rPr lang="en-US"/>
              <a:t>Project: 40 points</a:t>
            </a:r>
          </a:p>
          <a:p>
            <a:r>
              <a:rPr lang="en-US"/>
              <a:t/>
            </a:r>
          </a:p>
          <a:p>
            <a:r>
              <a:rPr lang="en-US"/>
              <a:t>Comprehensive project encompassing various elements of the course.</a:t>
            </a:r>
          </a:p>
          <a:p>
            <a:r>
              <a:rPr lang="en-US"/>
              <a:t>Short Exams: 15 points (5 points each)</a:t>
            </a:r>
          </a:p>
          <a:p>
            <a:r>
              <a:rPr lang="en-US"/>
              <a:t/>
            </a:r>
          </a:p>
          <a:p>
            <a:r>
              <a:rPr lang="en-US"/>
              <a:t>Three short exams focused on recent topics covered in the class.</a:t>
            </a:r>
          </a:p>
          <a:p>
            <a:r>
              <a:rPr lang="en-US"/>
              <a:t>Tasks: 15 points (3 points each)</a:t>
            </a:r>
          </a:p>
          <a:p>
            <a:r>
              <a:rPr lang="en-US"/>
              <a:t/>
            </a:r>
          </a:p>
          <a:p>
            <a:r>
              <a:rPr lang="en-US"/>
              <a:t>Five tasks assigned periodically to reinforce learning and application of concepts.</a:t>
            </a:r>
          </a:p>
          <a:p>
            <a:r>
              <a:rPr lang="en-US"/>
              <a:t>Final Exam: 10 points</a:t>
            </a:r>
          </a:p>
          <a:p>
            <a:r>
              <a:rPr lang="en-US"/>
              <a:t/>
            </a:r>
          </a:p>
          <a:p>
            <a:r>
              <a:rPr lang="en-US"/>
              <a:t>Cumulative exam covering all topics discussed throughout the semester.</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Practice: 20 points</a:t>
            </a:r>
          </a:p>
          <a:p>
            <a:r>
              <a:rPr lang="en-US"/>
              <a:t/>
            </a:r>
          </a:p>
          <a:p>
            <a:r>
              <a:rPr lang="en-US"/>
              <a:t>One practical exercise evaluated on accuracy and application of concepts.</a:t>
            </a:r>
          </a:p>
          <a:p>
            <a:r>
              <a:rPr lang="en-US"/>
              <a:t>Project: 40 points</a:t>
            </a:r>
          </a:p>
          <a:p>
            <a:r>
              <a:rPr lang="en-US"/>
              <a:t/>
            </a:r>
          </a:p>
          <a:p>
            <a:r>
              <a:rPr lang="en-US"/>
              <a:t>Comprehensive project encompassing various elements of the course.</a:t>
            </a:r>
          </a:p>
          <a:p>
            <a:r>
              <a:rPr lang="en-US"/>
              <a:t>Short Exams: 15 points (5 points each)</a:t>
            </a:r>
          </a:p>
          <a:p>
            <a:r>
              <a:rPr lang="en-US"/>
              <a:t/>
            </a:r>
          </a:p>
          <a:p>
            <a:r>
              <a:rPr lang="en-US"/>
              <a:t>Three short exams focused on recent topics covered in the class.</a:t>
            </a:r>
          </a:p>
          <a:p>
            <a:r>
              <a:rPr lang="en-US"/>
              <a:t>Tasks: 15 points (3 points each)</a:t>
            </a:r>
          </a:p>
          <a:p>
            <a:r>
              <a:rPr lang="en-US"/>
              <a:t/>
            </a:r>
          </a:p>
          <a:p>
            <a:r>
              <a:rPr lang="en-US"/>
              <a:t>Five tasks assigned periodically to reinforce learning and application of concepts.</a:t>
            </a:r>
          </a:p>
          <a:p>
            <a:r>
              <a:rPr lang="en-US"/>
              <a:t>Final Exam: 10 points</a:t>
            </a:r>
          </a:p>
          <a:p>
            <a:r>
              <a:rPr lang="en-US"/>
              <a:t/>
            </a:r>
          </a:p>
          <a:p>
            <a:r>
              <a:rPr lang="en-US"/>
              <a:t>Cumulative exam covering all topics discussed throughout the semester.</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Definición:</a:t>
            </a:r>
          </a:p>
          <a:p>
            <a:r>
              <a:rPr lang="en-US"/>
              <a:t>Explicar que la programación implica crear instrucciones específicas para que una computadora realice tareas.</a:t>
            </a:r>
          </a:p>
          <a:p>
            <a:r>
              <a:rPr lang="en-US"/>
              <a:t/>
            </a:r>
          </a:p>
          <a:p>
            <a:r>
              <a:rPr lang="en-US"/>
              <a:t>Objetivo:</a:t>
            </a:r>
          </a:p>
          <a:p>
            <a:r>
              <a:rPr lang="en-US"/>
              <a:t>Resaltar cómo la programación se utiliza para resolver problemas de manera efectiva.</a:t>
            </a:r>
          </a:p>
          <a:p>
            <a:r>
              <a:rPr lang="en-US"/>
              <a:t/>
            </a:r>
          </a:p>
          <a:p>
            <a:r>
              <a:rPr lang="en-US"/>
              <a:t>Componentes Clave:</a:t>
            </a:r>
          </a:p>
          <a:p>
            <a:r>
              <a:rPr lang="en-US"/>
              <a:t>Describir los lenguajes de programación, algoritmos y código fuente como elementos esenciales.</a:t>
            </a:r>
          </a:p>
          <a:p>
            <a:r>
              <a:rPr lang="en-US"/>
              <a:t/>
            </a:r>
          </a:p>
          <a:p>
            <a:r>
              <a:rPr lang="en-US"/>
              <a:t>Importancia:</a:t>
            </a:r>
          </a:p>
          <a:p>
            <a:r>
              <a:rPr lang="en-US"/>
              <a:t>Enfatizar la relevancia de la programación en la automación, creación de software y avance tecnológico.</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Lenguajes de Programación:</a:t>
            </a:r>
          </a:p>
          <a:p>
            <a:r>
              <a:rPr lang="en-US"/>
              <a:t>Herramientas que los programadores usan para escribir código (ej. Python, Java, C++).</a:t>
            </a:r>
          </a:p>
          <a:p>
            <a:r>
              <a:rPr lang="en-US"/>
              <a:t/>
            </a:r>
          </a:p>
          <a:p>
            <a:r>
              <a:rPr lang="en-US"/>
              <a:t>Algoritmos:</a:t>
            </a:r>
          </a:p>
          <a:p>
            <a:r>
              <a:rPr lang="en-US"/>
              <a:t>Secuencias de pasos lógicos para resolver un problema.</a:t>
            </a:r>
          </a:p>
          <a:p>
            <a:r>
              <a:rPr lang="en-US"/>
              <a:t/>
            </a:r>
          </a:p>
          <a:p>
            <a:r>
              <a:rPr lang="en-US"/>
              <a:t>Código Fuente:</a:t>
            </a:r>
          </a:p>
          <a:p>
            <a:r>
              <a:rPr lang="en-US"/>
              <a:t>Conjunto de instrucciones escritas por el programador.</a:t>
            </a:r>
          </a:p>
          <a:p>
            <a:r>
              <a:rPr lang="en-US"/>
              <a:t/>
            </a:r>
          </a:p>
          <a:p>
            <a:r>
              <a:rPr lang="en-US"/>
              <a:t>Tipos de Lenguajes de Programación:</a:t>
            </a:r>
          </a:p>
          <a:p>
            <a:r>
              <a:rPr lang="en-US"/>
              <a:t/>
            </a:r>
          </a:p>
          <a:p>
            <a:r>
              <a:rPr lang="en-US"/>
              <a:t>Lenguajes de Bajo Nivel:</a:t>
            </a:r>
          </a:p>
          <a:p>
            <a:r>
              <a:rPr lang="en-US"/>
              <a:t>Más cercanos al lenguaje máquina (ej. Ensamblador).</a:t>
            </a:r>
          </a:p>
          <a:p>
            <a:r>
              <a:rPr lang="en-US"/>
              <a:t/>
            </a:r>
          </a:p>
          <a:p>
            <a:r>
              <a:rPr lang="en-US"/>
              <a:t>Lenguajes de Alto Nivel:</a:t>
            </a:r>
          </a:p>
          <a:p>
            <a:r>
              <a:rPr lang="en-US"/>
              <a:t>Más cercanos al lenguaje humano, fáciles de entender y escribir (ej. Python, Java, C++).</a:t>
            </a:r>
          </a:p>
          <a:p>
            <a:r>
              <a:rPr lang="en-US"/>
              <a:t/>
            </a:r>
          </a:p>
          <a:p>
            <a:r>
              <a:rPr lang="en-US"/>
              <a:t>Ejemplos Comunes:</a:t>
            </a:r>
          </a:p>
          <a:p>
            <a:r>
              <a:rPr lang="en-US"/>
              <a:t>Python:</a:t>
            </a:r>
          </a:p>
          <a:p>
            <a:r>
              <a:rPr lang="en-US"/>
              <a:t>Conocido por su simplicidad y versatilidad.</a:t>
            </a:r>
          </a:p>
          <a:p>
            <a:r>
              <a:rPr lang="en-US"/>
              <a:t>Java:</a:t>
            </a:r>
          </a:p>
          <a:p>
            <a:r>
              <a:rPr lang="en-US"/>
              <a:t>Amplio uso en aplicaciones empresariales.</a:t>
            </a:r>
          </a:p>
          <a:p>
            <a:r>
              <a:rPr lang="en-US"/>
              <a:t>C++:</a:t>
            </a:r>
          </a:p>
          <a:p>
            <a:r>
              <a:rPr lang="en-US"/>
              <a:t>Uso en sistemas de alto rendimiento.</a:t>
            </a:r>
          </a:p>
          <a:p>
            <a:r>
              <a:rPr lang="en-US"/>
              <a:t/>
            </a:r>
          </a:p>
          <a:p>
            <a:r>
              <a:rPr lang="en-US"/>
              <a:t/>
            </a:r>
          </a:p>
          <a:p>
            <a:r>
              <a:rPr lang="en-US"/>
              <a:t/>
            </a:r>
          </a:p>
          <a:p>
            <a:r>
              <a:rPr lang="en-US"/>
              <a:t>Importancia:</a:t>
            </a:r>
          </a:p>
          <a:p>
            <a:r>
              <a:rPr lang="en-US"/>
              <a:t>Permiten la creación de software.</a:t>
            </a:r>
          </a:p>
          <a:p>
            <a:r>
              <a:rPr lang="en-US"/>
              <a:t>Facilitan la comunicación entre el programador y la máquina.</a:t>
            </a:r>
          </a:p>
          <a:p>
            <a:r>
              <a:rPr lang="en-US"/>
              <a:t>Diferentes lenguajes son adecuados para diferentes tipos de tareas.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p>
          <a:p>
            <a:r>
              <a:rPr lang="en-US"/>
              <a:t/>
            </a:r>
          </a:p>
          <a:p>
            <a:r>
              <a:rPr lang="en-US"/>
              <a:t>Propósito:</a:t>
            </a:r>
          </a:p>
          <a:p>
            <a:r>
              <a:rPr lang="en-US"/>
              <a:t>Permitir que un programa almacene, recupere y manipule datos de manera dinámica.</a:t>
            </a:r>
          </a:p>
          <a:p>
            <a:r>
              <a:rPr lang="en-US"/>
              <a:t/>
            </a:r>
          </a:p>
          <a:p>
            <a:r>
              <a:rPr lang="en-US"/>
              <a:t>Tipos Comunes de Variables:</a:t>
            </a:r>
          </a:p>
          <a:p>
            <a:r>
              <a:rPr lang="en-US"/>
              <a:t>Enteros (int):</a:t>
            </a:r>
          </a:p>
          <a:p>
            <a:r>
              <a:rPr lang="en-US"/>
              <a:t>Números enteros sin decimales.</a:t>
            </a:r>
          </a:p>
          <a:p>
            <a:r>
              <a:rPr lang="en-US"/>
              <a:t>Flotantes (float):</a:t>
            </a:r>
          </a:p>
          <a:p>
            <a:r>
              <a:rPr lang="en-US"/>
              <a:t>Números con decimales.</a:t>
            </a:r>
          </a:p>
          <a:p>
            <a:r>
              <a:rPr lang="en-US"/>
              <a:t>Cadenas de texto (string):</a:t>
            </a:r>
          </a:p>
          <a:p>
            <a:r>
              <a:rPr lang="en-US"/>
              <a:t>Secuencias de caracteres.</a:t>
            </a:r>
          </a:p>
          <a:p>
            <a:r>
              <a:rPr lang="en-US"/>
              <a:t>Booleanos (bool):</a:t>
            </a:r>
          </a:p>
          <a:p>
            <a:r>
              <a:rPr lang="en-US"/>
              <a:t>Valores de verdadero o falso.</a:t>
            </a:r>
          </a:p>
          <a:p>
            <a:r>
              <a:rPr lang="en-US"/>
              <a:t/>
            </a:r>
          </a:p>
          <a:p>
            <a:r>
              <a:rPr lang="en-US"/>
              <a:t>Importancia:</a:t>
            </a:r>
          </a:p>
          <a:p>
            <a:r>
              <a:rPr lang="en-US"/>
              <a:t/>
            </a:r>
          </a:p>
          <a:p>
            <a:r>
              <a:rPr lang="en-US"/>
              <a:t>Facilitan el manejo de datos en los programas.</a:t>
            </a:r>
          </a:p>
          <a:p>
            <a:r>
              <a:rPr lang="en-US"/>
              <a:t>Permiten que los programas sean más flexibles y dinámicos.</a:t>
            </a:r>
          </a:p>
          <a:p>
            <a:r>
              <a:rPr lang="en-US"/>
              <a:t/>
            </a:r>
          </a:p>
          <a:p>
            <a:r>
              <a:rPr lang="en-US"/>
              <a:t/>
            </a:r>
          </a:p>
          <a:p>
            <a:r>
              <a:rPr lang="en-US"/>
              <a:t/>
            </a:r>
          </a:p>
          <a:p>
            <a:r>
              <a:rPr lang="en-US"/>
              <a:t>2.</a:t>
            </a:r>
          </a:p>
          <a:p>
            <a:r>
              <a:rPr lang="en-US"/>
              <a:t/>
            </a:r>
          </a:p>
          <a:p>
            <a:r>
              <a:rPr lang="en-US"/>
              <a:t>Uso en Expresiones:</a:t>
            </a:r>
          </a:p>
          <a:p>
            <a:r>
              <a:rPr lang="en-US"/>
              <a:t>Explicar cómo usar variables en cálculos y operaciones.</a:t>
            </a:r>
          </a:p>
          <a:p>
            <a:r>
              <a:rPr lang="en-US"/>
              <a:t>Proporcionar ejemplos de incremento de una variable.</a:t>
            </a:r>
          </a:p>
          <a:p>
            <a:r>
              <a:rPr lang="en-US"/>
              <a:t>Concatenación de Cadenas:</a:t>
            </a:r>
          </a:p>
          <a:p>
            <a:r>
              <a:rPr lang="en-US"/>
              <a:t>Describir cómo combinar texto con el valor de una variable.</a:t>
            </a:r>
          </a:p>
          <a:p>
            <a:r>
              <a:rPr lang="en-US"/>
              <a:t>Proporcionar ejemplos en ambos lenguajes.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Concepto General:</a:t>
            </a:r>
          </a:p>
          <a:p>
            <a:r>
              <a:rPr lang="en-US"/>
              <a:t>Explicar que las estructuras de control condicional son esenciales para la toma de decisiones dentro de un programa.</a:t>
            </a:r>
          </a:p>
          <a:p>
            <a:r>
              <a:rPr lang="en-US"/>
              <a:t/>
            </a:r>
          </a:p>
          <a:p>
            <a:r>
              <a:rPr lang="en-US"/>
              <a:t>¿Para qué sirven?:</a:t>
            </a:r>
          </a:p>
          <a:p>
            <a:r>
              <a:rPr lang="en-US"/>
              <a:t>Describir cómo permiten tomar decisiones y controlar el flujo del programa.</a:t>
            </a:r>
          </a:p>
          <a:p>
            <a:r>
              <a:rPr lang="en-US"/>
              <a:t/>
            </a:r>
          </a:p>
          <a:p>
            <a:r>
              <a:rPr lang="en-US"/>
              <a:t>Ejemplo Común:</a:t>
            </a:r>
          </a:p>
          <a:p>
            <a:r>
              <a:rPr lang="en-US"/>
              <a:t>Proporcionar ejemplos claros en Python y Visual Basic para ilustrar el uso de estructuras condicionales.</a:t>
            </a:r>
          </a:p>
          <a:p>
            <a:r>
              <a:rPr lang="en-US"/>
              <a:t/>
            </a:r>
          </a:p>
          <a:p>
            <a:r>
              <a:rPr lang="en-US"/>
              <a:t>Importancia:</a:t>
            </a:r>
          </a:p>
          <a:p>
            <a:r>
              <a:rPr lang="en-US"/>
              <a:t>Resaltar la importancia de estas estructuras para crear programas versátiles y adaptativos.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Concepto General:</a:t>
            </a:r>
          </a:p>
          <a:p>
            <a:r>
              <a:rPr lang="en-US"/>
              <a:t>Explicar que la estructura if es fundamental para la toma de decisiones en programación.</a:t>
            </a:r>
          </a:p>
          <a:p>
            <a:r>
              <a:rPr lang="en-US"/>
              <a:t/>
            </a:r>
          </a:p>
          <a:p>
            <a:r>
              <a:rPr lang="en-US"/>
              <a:t>¿Cómo usar el condicional if?</a:t>
            </a:r>
          </a:p>
          <a:p>
            <a:r>
              <a:rPr lang="en-US"/>
              <a:t>Describir la sintaxis básica de if en Python y Visual Basic.</a:t>
            </a:r>
          </a:p>
          <a:p>
            <a:r>
              <a:rPr lang="en-US"/>
              <a:t>Explicar detalladamente cada parte de la sintaxis y su función.</a:t>
            </a:r>
          </a:p>
          <a:p>
            <a:r>
              <a:rPr lang="en-US"/>
              <a:t>Ejemplos:</a:t>
            </a:r>
          </a:p>
          <a:p>
            <a:r>
              <a:rPr lang="en-US"/>
              <a:t>Proporcionar ejemplos claros y simples en ambos lenguajes para ilustrar el uso del condicional if.</a:t>
            </a:r>
          </a:p>
          <a:p>
            <a:r>
              <a:rPr lang="en-US"/>
              <a:t>Importancia:</a:t>
            </a:r>
          </a:p>
          <a:p>
            <a:r>
              <a:rPr lang="en-US"/>
              <a:t>Resaltar cómo el condicional if permite controlar el flujo de ejecución del programa y tomar decisiones basadas en condiciones específicas.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Concepto General:</a:t>
            </a:r>
          </a:p>
          <a:p>
            <a:r>
              <a:rPr lang="en-US"/>
              <a:t>Explicar que la estructura switch o select se utiliza para seleccionar una opción entre varias basadas en el valor de una expresión.</a:t>
            </a:r>
          </a:p>
          <a:p>
            <a:r>
              <a:rPr lang="en-US"/>
              <a:t/>
            </a:r>
          </a:p>
          <a:p>
            <a:r>
              <a:rPr lang="en-US"/>
              <a:t>¿Cómo usar el condicional switch?</a:t>
            </a:r>
          </a:p>
          <a:p>
            <a:r>
              <a:rPr lang="en-US"/>
              <a:t>Describir la sintaxis básica de Select Case en Visual Basic.</a:t>
            </a:r>
          </a:p>
          <a:p>
            <a:r>
              <a:rPr lang="en-US"/>
              <a:t>Explicar detalladamente cada parte de la sintaxis y su función.</a:t>
            </a:r>
          </a:p>
          <a:p>
            <a:r>
              <a:rPr lang="en-US"/>
              <a:t/>
            </a:r>
          </a:p>
          <a:p>
            <a:r>
              <a:rPr lang="en-US"/>
              <a:t>Proporcionar un ejemplo claro y simple de cómo emular switch en Python utilizando if...elif...else.</a:t>
            </a:r>
          </a:p>
          <a:p>
            <a:r>
              <a:rPr lang="en-US"/>
              <a:t/>
            </a:r>
          </a:p>
          <a:p>
            <a:r>
              <a:rPr lang="en-US"/>
              <a:t>Importancia:</a:t>
            </a:r>
          </a:p>
          <a:p>
            <a:r>
              <a:rPr lang="en-US"/>
              <a:t>Resaltar cómo el switch o select facilita la toma de decisiones cuando se manejan múltiples opciones y simplifica el código.</a:t>
            </a:r>
          </a:p>
          <a:p>
            <a:r>
              <a:rPr lang="en-US"/>
              <a:t/>
            </a:r>
          </a:p>
          <a:p>
            <a:r>
              <a:rPr lang="en-US"/>
              <a:t>Diferencias Clave:</a:t>
            </a:r>
          </a:p>
          <a:p>
            <a:r>
              <a:rPr lang="en-US"/>
              <a:t>Uso de if:</a:t>
            </a:r>
          </a:p>
          <a:p>
            <a:r>
              <a:rPr lang="en-US"/>
              <a:t>Adecuado para condiciones simples y comparaciones complejas.</a:t>
            </a:r>
          </a:p>
          <a:p>
            <a:r>
              <a:rPr lang="en-US"/>
              <a:t>Se utiliza cuando se deben evaluar múltiples condiciones diferentes.</a:t>
            </a:r>
          </a:p>
          <a:p>
            <a:r>
              <a:rPr lang="en-US"/>
              <a:t>Uso de switch:</a:t>
            </a:r>
          </a:p>
          <a:p>
            <a:r>
              <a:rPr lang="en-US"/>
              <a:t>Ideal para múltiples opciones basadas en el valor de una sola expresión.</a:t>
            </a:r>
          </a:p>
          <a:p>
            <a:r>
              <a:rPr lang="en-US"/>
              <a:t>Simplifica el código al evitar múltiples estructuras if...elif...else.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¿Para qué sirven?</a:t>
            </a:r>
          </a:p>
          <a:p>
            <a:r>
              <a:rPr lang="en-US"/>
              <a:t>Automatización:</a:t>
            </a:r>
          </a:p>
          <a:p>
            <a:r>
              <a:rPr lang="en-US"/>
              <a:t>Permiten la ejecución automática de tareas repetitivas sin necesidad de escribir el mismo código varias veces.</a:t>
            </a:r>
          </a:p>
          <a:p>
            <a:r>
              <a:rPr lang="en-US"/>
              <a:t>Procesamiento de Datos:</a:t>
            </a:r>
          </a:p>
          <a:p>
            <a:r>
              <a:rPr lang="en-US"/>
              <a:t>Facilitan la manipulación y análisis de grandes volúmenes de datos.</a:t>
            </a:r>
          </a:p>
          <a:p>
            <a:r>
              <a:rPr lang="en-US"/>
              <a:t>Iteración:</a:t>
            </a:r>
          </a:p>
          <a:p>
            <a:r>
              <a:rPr lang="en-US"/>
              <a:t>Permiten recorrer estructuras de datos como arreglos y listas para realizar operaciones en cada elemento.</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Concepto General:</a:t>
            </a:r>
          </a:p>
          <a:p>
            <a:r>
              <a:rPr lang="en-US"/>
              <a:t>Explicar que el bucle For es útil para repetir un bloque de código un número específico de veces, especialmente cuando se conoce de antemano el número de iteraciones.</a:t>
            </a:r>
          </a:p>
          <a:p>
            <a:r>
              <a:rPr lang="en-US"/>
              <a:t/>
            </a:r>
          </a:p>
          <a:p>
            <a:r>
              <a:rPr lang="en-US"/>
              <a:t>¿Cómo usar el bucle For?:</a:t>
            </a:r>
          </a:p>
          <a:p>
            <a:r>
              <a:rPr lang="en-US"/>
              <a:t>Describir brevemente la estructura y el funcionamiento del bucle For.</a:t>
            </a:r>
          </a:p>
          <a:p>
            <a:r>
              <a:rPr lang="en-US"/>
              <a:t/>
            </a:r>
          </a:p>
          <a:p>
            <a:r>
              <a:rPr lang="en-US"/>
              <a:t>Ejemplos:</a:t>
            </a:r>
          </a:p>
          <a:p>
            <a:r>
              <a:rPr lang="en-US"/>
              <a:t>Proporcionar ejemplos claros y simples del bucle For en Visual Basic.</a:t>
            </a:r>
          </a:p>
          <a:p>
            <a:r>
              <a:rPr lang="en-US"/>
              <a:t>Explicar detalladamente cada parte de la sintaxis y su función en los ejemplos proporcionados.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Concepto General:</a:t>
            </a:r>
          </a:p>
          <a:p>
            <a:r>
              <a:rPr lang="en-US"/>
              <a:t>Explicar que el bucle While es útil para repetir un bloque de código mientras una condición sea verdadera, especialmente cuando no se conoce de antemano el número de iteraciones.</a:t>
            </a:r>
          </a:p>
          <a:p>
            <a:r>
              <a:rPr lang="en-US"/>
              <a:t/>
            </a:r>
          </a:p>
          <a:p>
            <a:r>
              <a:rPr lang="en-US"/>
              <a:t>¿Cómo usar el bucle While?:</a:t>
            </a:r>
          </a:p>
          <a:p>
            <a:r>
              <a:rPr lang="en-US"/>
              <a:t>Describir brevemente la estructura y el funcionamiento del bucle While.</a:t>
            </a:r>
          </a:p>
          <a:p>
            <a:r>
              <a:rPr lang="en-US"/>
              <a:t/>
            </a:r>
          </a:p>
          <a:p>
            <a:r>
              <a:rPr lang="en-US"/>
              <a:t>Ejemplos:</a:t>
            </a:r>
          </a:p>
          <a:p>
            <a:r>
              <a:rPr lang="en-US"/>
              <a:t>Proporcionar ejemplos claros y simples del bucle While en Visual Basic.</a:t>
            </a:r>
          </a:p>
          <a:p>
            <a:r>
              <a:rPr lang="en-US"/>
              <a:t/>
            </a:r>
          </a:p>
          <a:p>
            <a:r>
              <a:rPr lang="en-US"/>
              <a:t>Explicar detalladamente cada parte de la sintaxis y su función en los ejemplos proporcionados.</a:t>
            </a:r>
          </a:p>
          <a:p>
            <a:r>
              <a:rPr lang="en-US"/>
              <a:t/>
            </a:r>
          </a:p>
          <a:p>
            <a:r>
              <a:rPr lang="en-US"/>
              <a:t/>
            </a:r>
          </a:p>
          <a:p>
            <a:r>
              <a:rPr lang="en-US"/>
              <a:t>Diferencias entre Bucle For y Bucle While en Visual Basic</a:t>
            </a:r>
          </a:p>
          <a:p>
            <a:r>
              <a:rPr lang="en-US"/>
              <a:t/>
            </a:r>
          </a:p>
          <a:p>
            <a:r>
              <a:rPr lang="en-US"/>
              <a:t>Ambos bucles permiten repetir un bloque de código, pero se utilizan en diferentes situaciones.</a:t>
            </a:r>
          </a:p>
          <a:p>
            <a:r>
              <a:rPr lang="en-US"/>
              <a:t/>
            </a:r>
          </a:p>
          <a:p>
            <a:r>
              <a:rPr lang="en-US"/>
              <a:t>Bucle For:</a:t>
            </a:r>
          </a:p>
          <a:p>
            <a:r>
              <a:rPr lang="en-US"/>
              <a:t>Uso Principal:</a:t>
            </a:r>
          </a:p>
          <a:p>
            <a:r>
              <a:rPr lang="en-US"/>
              <a:t>Se utiliza cuando se conoce de antemano el número de iteraciones.</a:t>
            </a:r>
          </a:p>
          <a:p>
            <a:r>
              <a:rPr lang="en-US"/>
              <a:t/>
            </a:r>
          </a:p>
          <a:p>
            <a:r>
              <a:rPr lang="en-US"/>
              <a:t>Bucle While:</a:t>
            </a:r>
          </a:p>
          <a:p>
            <a:r>
              <a:rPr lang="en-US"/>
              <a:t>Uso Principal:</a:t>
            </a:r>
          </a:p>
          <a:p>
            <a:r>
              <a:rPr lang="en-US"/>
              <a:t>Se utiliza cuando no se conoce de antemano el número de iteraciones. El bucle continúa ejecutándose mientras una condición sea verdadera.</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8.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9.png" Type="http://schemas.openxmlformats.org/officeDocument/2006/relationships/image"/><Relationship Id="rId4" Target="../media/image10.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11.png" Type="http://schemas.openxmlformats.org/officeDocument/2006/relationships/image"/><Relationship Id="rId4" Target="../media/image12.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13.png" Type="http://schemas.openxmlformats.org/officeDocument/2006/relationships/image"/><Relationship Id="rId4" Target="../media/image14.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16.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15.png" Type="http://schemas.openxmlformats.org/officeDocument/2006/relationships/image"/><Relationship Id="rId4" Target="../media/image17.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15.png" Type="http://schemas.openxmlformats.org/officeDocument/2006/relationships/image"/><Relationship Id="rId4" Target="../media/image17.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18.png" Type="http://schemas.openxmlformats.org/officeDocument/2006/relationships/image"/><Relationship Id="rId4" Target="../media/image19.svg" Type="http://schemas.openxmlformats.org/officeDocument/2006/relationships/image"/><Relationship Id="rId5" Target="../media/image20.png" Type="http://schemas.openxmlformats.org/officeDocument/2006/relationships/image"/><Relationship Id="rId6" Target="../media/image21.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22.png" Type="http://schemas.openxmlformats.org/officeDocument/2006/relationships/image"/><Relationship Id="rId4" Target="../media/image23.svg" Type="http://schemas.openxmlformats.org/officeDocument/2006/relationships/image"/><Relationship Id="rId5" Target="../media/image24.png" Type="http://schemas.openxmlformats.org/officeDocument/2006/relationships/image"/><Relationship Id="rId6" Target="../media/image25.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26.png" Type="http://schemas.openxmlformats.org/officeDocument/2006/relationships/image"/><Relationship Id="rId4" Target="../media/image27.svg" Type="http://schemas.openxmlformats.org/officeDocument/2006/relationships/image"/><Relationship Id="rId5" Target="../media/image28.png" Type="http://schemas.openxmlformats.org/officeDocument/2006/relationships/image"/><Relationship Id="rId6" Target="../media/image29.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 Id="rId3" Target="../media/image30.png" Type="http://schemas.openxmlformats.org/officeDocument/2006/relationships/image"/><Relationship Id="rId4" Target="../media/image31.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 Id="rId3" Target="../media/image32.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3.xml" Type="http://schemas.openxmlformats.org/officeDocument/2006/relationships/notesSlide"/><Relationship Id="rId3" Target="../media/image33.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4.png" Type="http://schemas.openxmlformats.org/officeDocument/2006/relationships/image"/><Relationship Id="rId3" Target="../media/image35.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4.png" Type="http://schemas.openxmlformats.org/officeDocument/2006/relationships/image"/><Relationship Id="rId3" Target="../media/image15.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6.png" Type="http://schemas.openxmlformats.org/officeDocument/2006/relationships/image"/><Relationship Id="rId3" Target="../media/image37.svg" Type="http://schemas.openxmlformats.org/officeDocument/2006/relationships/image"/><Relationship Id="rId4" Target="../media/image38.png" Type="http://schemas.openxmlformats.org/officeDocument/2006/relationships/image"/><Relationship Id="rId5" Target="../media/image39.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141414"/>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141414"/>
        </a:solidFill>
      </p:bgPr>
    </p:bg>
    <p:spTree>
      <p:nvGrpSpPr>
        <p:cNvPr id="1" name=""/>
        <p:cNvGrpSpPr/>
        <p:nvPr/>
      </p:nvGrpSpPr>
      <p:grpSpPr>
        <a:xfrm>
          <a:off x="0" y="0"/>
          <a:ext cx="0" cy="0"/>
          <a:chOff x="0" y="0"/>
          <a:chExt cx="0" cy="0"/>
        </a:xfrm>
      </p:grpSpPr>
      <p:sp>
        <p:nvSpPr>
          <p:cNvPr name="Freeform 2" id="2"/>
          <p:cNvSpPr/>
          <p:nvPr/>
        </p:nvSpPr>
        <p:spPr>
          <a:xfrm flipH="false" flipV="false" rot="0">
            <a:off x="12685853" y="258676"/>
            <a:ext cx="5375629" cy="4114800"/>
          </a:xfrm>
          <a:custGeom>
            <a:avLst/>
            <a:gdLst/>
            <a:ahLst/>
            <a:cxnLst/>
            <a:rect r="r" b="b" t="t" l="l"/>
            <a:pathLst>
              <a:path h="4114800" w="5375629">
                <a:moveTo>
                  <a:pt x="0" y="0"/>
                </a:moveTo>
                <a:lnTo>
                  <a:pt x="5375629" y="0"/>
                </a:lnTo>
                <a:lnTo>
                  <a:pt x="5375629"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28700" y="638886"/>
            <a:ext cx="2923946" cy="3148126"/>
          </a:xfrm>
          <a:custGeom>
            <a:avLst/>
            <a:gdLst/>
            <a:ahLst/>
            <a:cxnLst/>
            <a:rect r="r" b="b" t="t" l="l"/>
            <a:pathLst>
              <a:path h="3148126" w="2923946">
                <a:moveTo>
                  <a:pt x="0" y="0"/>
                </a:moveTo>
                <a:lnTo>
                  <a:pt x="2923946" y="0"/>
                </a:lnTo>
                <a:lnTo>
                  <a:pt x="2923946" y="3148126"/>
                </a:lnTo>
                <a:lnTo>
                  <a:pt x="0" y="314812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 id="4"/>
          <p:cNvGrpSpPr/>
          <p:nvPr/>
        </p:nvGrpSpPr>
        <p:grpSpPr>
          <a:xfrm rot="0">
            <a:off x="2709609" y="3787012"/>
            <a:ext cx="12491512" cy="3002511"/>
            <a:chOff x="0" y="0"/>
            <a:chExt cx="16655349" cy="4003348"/>
          </a:xfrm>
        </p:grpSpPr>
        <p:sp>
          <p:nvSpPr>
            <p:cNvPr name="TextBox 5" id="5"/>
            <p:cNvSpPr txBox="true"/>
            <p:nvPr/>
          </p:nvSpPr>
          <p:spPr>
            <a:xfrm rot="0">
              <a:off x="0" y="257175"/>
              <a:ext cx="16655349" cy="1447131"/>
            </a:xfrm>
            <a:prstGeom prst="rect">
              <a:avLst/>
            </a:prstGeom>
          </p:spPr>
          <p:txBody>
            <a:bodyPr anchor="t" rtlCol="false" tIns="0" lIns="0" bIns="0" rIns="0">
              <a:spAutoFit/>
            </a:bodyPr>
            <a:lstStyle/>
            <a:p>
              <a:pPr algn="ctr">
                <a:lnSpc>
                  <a:spcPts val="7343"/>
                </a:lnSpc>
              </a:pPr>
              <a:r>
                <a:rPr lang="en-US" sz="8440">
                  <a:solidFill>
                    <a:srgbClr val="597CFF"/>
                  </a:solidFill>
                  <a:latin typeface="TAN Headline"/>
                  <a:ea typeface="TAN Headline"/>
                  <a:cs typeface="TAN Headline"/>
                  <a:sym typeface="TAN Headline"/>
                </a:rPr>
                <a:t>Clase 1</a:t>
              </a:r>
            </a:p>
          </p:txBody>
        </p:sp>
        <p:sp>
          <p:nvSpPr>
            <p:cNvPr name="TextBox 6" id="6"/>
            <p:cNvSpPr txBox="true"/>
            <p:nvPr/>
          </p:nvSpPr>
          <p:spPr>
            <a:xfrm rot="0">
              <a:off x="0" y="1360544"/>
              <a:ext cx="16655349" cy="2642805"/>
            </a:xfrm>
            <a:prstGeom prst="rect">
              <a:avLst/>
            </a:prstGeom>
          </p:spPr>
          <p:txBody>
            <a:bodyPr anchor="t" rtlCol="false" tIns="0" lIns="0" bIns="0" rIns="0">
              <a:spAutoFit/>
            </a:bodyPr>
            <a:lstStyle/>
            <a:p>
              <a:pPr algn="ctr">
                <a:lnSpc>
                  <a:spcPts val="8084"/>
                </a:lnSpc>
              </a:pPr>
              <a:r>
                <a:rPr lang="en-US" sz="5774" spc="577">
                  <a:solidFill>
                    <a:srgbClr val="FFFFFF"/>
                  </a:solidFill>
                  <a:latin typeface="Fraunces"/>
                  <a:ea typeface="Fraunces"/>
                  <a:cs typeface="Fraunces"/>
                  <a:sym typeface="Fraunces"/>
                </a:rPr>
                <a:t>PRÁCTICA PROGRAMACIÓN DE COMPUTADORAS 1</a:t>
              </a:r>
            </a:p>
          </p:txBody>
        </p:sp>
      </p:grpSp>
      <p:sp>
        <p:nvSpPr>
          <p:cNvPr name="TextBox 7" id="7"/>
          <p:cNvSpPr txBox="true"/>
          <p:nvPr/>
        </p:nvSpPr>
        <p:spPr>
          <a:xfrm rot="0">
            <a:off x="7706548" y="7773688"/>
            <a:ext cx="2497633" cy="542925"/>
          </a:xfrm>
          <a:prstGeom prst="rect">
            <a:avLst/>
          </a:prstGeom>
        </p:spPr>
        <p:txBody>
          <a:bodyPr anchor="t" rtlCol="false" tIns="0" lIns="0" bIns="0" rIns="0">
            <a:spAutoFit/>
          </a:bodyPr>
          <a:lstStyle/>
          <a:p>
            <a:pPr algn="ctr">
              <a:lnSpc>
                <a:spcPts val="4319"/>
              </a:lnSpc>
              <a:spcBef>
                <a:spcPct val="0"/>
              </a:spcBef>
            </a:pPr>
            <a:r>
              <a:rPr lang="en-US" sz="3599">
                <a:solidFill>
                  <a:srgbClr val="38B6FF"/>
                </a:solidFill>
                <a:latin typeface="Poppins Medium"/>
                <a:ea typeface="Poppins Medium"/>
                <a:cs typeface="Poppins Medium"/>
                <a:sym typeface="Poppins Medium"/>
              </a:rPr>
              <a:t>SECCIÓN N</a:t>
            </a:r>
          </a:p>
        </p:txBody>
      </p:sp>
      <p:sp>
        <p:nvSpPr>
          <p:cNvPr name="TextBox 8" id="8"/>
          <p:cNvSpPr txBox="true"/>
          <p:nvPr/>
        </p:nvSpPr>
        <p:spPr>
          <a:xfrm rot="0">
            <a:off x="6657399" y="8524720"/>
            <a:ext cx="4595931" cy="466725"/>
          </a:xfrm>
          <a:prstGeom prst="rect">
            <a:avLst/>
          </a:prstGeom>
        </p:spPr>
        <p:txBody>
          <a:bodyPr anchor="t" rtlCol="false" tIns="0" lIns="0" bIns="0" rIns="0">
            <a:spAutoFit/>
          </a:bodyPr>
          <a:lstStyle/>
          <a:p>
            <a:pPr algn="ctr">
              <a:lnSpc>
                <a:spcPts val="3600"/>
              </a:lnSpc>
              <a:spcBef>
                <a:spcPct val="0"/>
              </a:spcBef>
            </a:pPr>
            <a:r>
              <a:rPr lang="en-US" sz="3000">
                <a:solidFill>
                  <a:srgbClr val="FFFFFF"/>
                </a:solidFill>
                <a:latin typeface="Poppins Medium"/>
                <a:ea typeface="Poppins Medium"/>
                <a:cs typeface="Poppins Medium"/>
                <a:sym typeface="Poppins Medium"/>
              </a:rPr>
              <a:t>CÓDIGO DEL CURSO 090</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141414"/>
        </a:solidFill>
      </p:bgPr>
    </p:bg>
    <p:spTree>
      <p:nvGrpSpPr>
        <p:cNvPr id="1" name=""/>
        <p:cNvGrpSpPr/>
        <p:nvPr/>
      </p:nvGrpSpPr>
      <p:grpSpPr>
        <a:xfrm>
          <a:off x="0" y="0"/>
          <a:ext cx="0" cy="0"/>
          <a:chOff x="0" y="0"/>
          <a:chExt cx="0" cy="0"/>
        </a:xfrm>
      </p:grpSpPr>
      <p:grpSp>
        <p:nvGrpSpPr>
          <p:cNvPr name="Group 2" id="2"/>
          <p:cNvGrpSpPr/>
          <p:nvPr/>
        </p:nvGrpSpPr>
        <p:grpSpPr>
          <a:xfrm rot="0">
            <a:off x="10590877" y="1694119"/>
            <a:ext cx="5887373" cy="6875664"/>
            <a:chOff x="0" y="0"/>
            <a:chExt cx="7849830" cy="9167552"/>
          </a:xfrm>
        </p:grpSpPr>
        <p:sp>
          <p:nvSpPr>
            <p:cNvPr name="TextBox 3" id="3"/>
            <p:cNvSpPr txBox="true"/>
            <p:nvPr/>
          </p:nvSpPr>
          <p:spPr>
            <a:xfrm rot="0">
              <a:off x="0" y="-57150"/>
              <a:ext cx="7849830" cy="556683"/>
            </a:xfrm>
            <a:prstGeom prst="rect">
              <a:avLst/>
            </a:prstGeom>
          </p:spPr>
          <p:txBody>
            <a:bodyPr anchor="t" rtlCol="false" tIns="0" lIns="0" bIns="0" rIns="0">
              <a:spAutoFit/>
            </a:bodyPr>
            <a:lstStyle/>
            <a:p>
              <a:pPr algn="l">
                <a:lnSpc>
                  <a:spcPts val="3500"/>
                </a:lnSpc>
              </a:pPr>
              <a:r>
                <a:rPr lang="en-US" sz="2500">
                  <a:solidFill>
                    <a:srgbClr val="FFFFFF"/>
                  </a:solidFill>
                  <a:latin typeface="Poppins Light"/>
                  <a:ea typeface="Poppins Light"/>
                  <a:cs typeface="Poppins Light"/>
                  <a:sym typeface="Poppins Light"/>
                </a:rPr>
                <a:t>Presentación del programa del curso</a:t>
              </a:r>
            </a:p>
          </p:txBody>
        </p:sp>
        <p:sp>
          <p:nvSpPr>
            <p:cNvPr name="AutoShape 4" id="4"/>
            <p:cNvSpPr/>
            <p:nvPr/>
          </p:nvSpPr>
          <p:spPr>
            <a:xfrm>
              <a:off x="0" y="1114568"/>
              <a:ext cx="7849830" cy="0"/>
            </a:xfrm>
            <a:prstGeom prst="line">
              <a:avLst/>
            </a:prstGeom>
            <a:ln cap="rnd" w="25400">
              <a:solidFill>
                <a:srgbClr val="10B5BF"/>
              </a:solidFill>
              <a:prstDash val="solid"/>
              <a:headEnd type="none" len="sm" w="sm"/>
              <a:tailEnd type="none" len="sm" w="sm"/>
            </a:ln>
          </p:spPr>
        </p:sp>
        <p:sp>
          <p:nvSpPr>
            <p:cNvPr name="TextBox 5" id="5"/>
            <p:cNvSpPr txBox="true"/>
            <p:nvPr/>
          </p:nvSpPr>
          <p:spPr>
            <a:xfrm rot="0">
              <a:off x="0" y="1677533"/>
              <a:ext cx="7849830" cy="556683"/>
            </a:xfrm>
            <a:prstGeom prst="rect">
              <a:avLst/>
            </a:prstGeom>
          </p:spPr>
          <p:txBody>
            <a:bodyPr anchor="t" rtlCol="false" tIns="0" lIns="0" bIns="0" rIns="0">
              <a:spAutoFit/>
            </a:bodyPr>
            <a:lstStyle/>
            <a:p>
              <a:pPr algn="l">
                <a:lnSpc>
                  <a:spcPts val="3500"/>
                </a:lnSpc>
              </a:pPr>
              <a:r>
                <a:rPr lang="en-US" sz="2500">
                  <a:solidFill>
                    <a:srgbClr val="FFFFFF"/>
                  </a:solidFill>
                  <a:latin typeface="Poppins Light"/>
                  <a:ea typeface="Poppins Light"/>
                  <a:cs typeface="Poppins Light"/>
                  <a:sym typeface="Poppins Light"/>
                </a:rPr>
                <a:t>Distribución de la zona</a:t>
              </a:r>
            </a:p>
          </p:txBody>
        </p:sp>
        <p:sp>
          <p:nvSpPr>
            <p:cNvPr name="AutoShape 6" id="6"/>
            <p:cNvSpPr/>
            <p:nvPr/>
          </p:nvSpPr>
          <p:spPr>
            <a:xfrm>
              <a:off x="0" y="2849252"/>
              <a:ext cx="7849830" cy="0"/>
            </a:xfrm>
            <a:prstGeom prst="line">
              <a:avLst/>
            </a:prstGeom>
            <a:ln cap="rnd" w="25400">
              <a:solidFill>
                <a:srgbClr val="10B5BF"/>
              </a:solidFill>
              <a:prstDash val="solid"/>
              <a:headEnd type="none" len="sm" w="sm"/>
              <a:tailEnd type="none" len="sm" w="sm"/>
            </a:ln>
          </p:spPr>
        </p:sp>
        <p:sp>
          <p:nvSpPr>
            <p:cNvPr name="TextBox 7" id="7"/>
            <p:cNvSpPr txBox="true"/>
            <p:nvPr/>
          </p:nvSpPr>
          <p:spPr>
            <a:xfrm rot="0">
              <a:off x="0" y="3412217"/>
              <a:ext cx="7849830" cy="556604"/>
            </a:xfrm>
            <a:prstGeom prst="rect">
              <a:avLst/>
            </a:prstGeom>
          </p:spPr>
          <p:txBody>
            <a:bodyPr anchor="t" rtlCol="false" tIns="0" lIns="0" bIns="0" rIns="0">
              <a:spAutoFit/>
            </a:bodyPr>
            <a:lstStyle/>
            <a:p>
              <a:pPr algn="l">
                <a:lnSpc>
                  <a:spcPts val="3500"/>
                </a:lnSpc>
              </a:pPr>
              <a:r>
                <a:rPr lang="en-US" sz="2500">
                  <a:solidFill>
                    <a:srgbClr val="FFFFFF"/>
                  </a:solidFill>
                  <a:latin typeface="Poppins Light"/>
                  <a:ea typeface="Poppins Light"/>
                  <a:cs typeface="Poppins Light"/>
                  <a:sym typeface="Poppins Light"/>
                </a:rPr>
                <a:t>Formulario de asistencia</a:t>
              </a:r>
            </a:p>
          </p:txBody>
        </p:sp>
        <p:sp>
          <p:nvSpPr>
            <p:cNvPr name="AutoShape 8" id="8"/>
            <p:cNvSpPr/>
            <p:nvPr/>
          </p:nvSpPr>
          <p:spPr>
            <a:xfrm>
              <a:off x="0" y="4583856"/>
              <a:ext cx="7849830" cy="0"/>
            </a:xfrm>
            <a:prstGeom prst="line">
              <a:avLst/>
            </a:prstGeom>
            <a:ln cap="rnd" w="25400">
              <a:solidFill>
                <a:srgbClr val="10B5BF"/>
              </a:solidFill>
              <a:prstDash val="solid"/>
              <a:headEnd type="none" len="sm" w="sm"/>
              <a:tailEnd type="none" len="sm" w="sm"/>
            </a:ln>
          </p:spPr>
        </p:sp>
        <p:sp>
          <p:nvSpPr>
            <p:cNvPr name="TextBox 9" id="9"/>
            <p:cNvSpPr txBox="true"/>
            <p:nvPr/>
          </p:nvSpPr>
          <p:spPr>
            <a:xfrm rot="0">
              <a:off x="0" y="5146821"/>
              <a:ext cx="7849830" cy="556604"/>
            </a:xfrm>
            <a:prstGeom prst="rect">
              <a:avLst/>
            </a:prstGeom>
          </p:spPr>
          <p:txBody>
            <a:bodyPr anchor="t" rtlCol="false" tIns="0" lIns="0" bIns="0" rIns="0">
              <a:spAutoFit/>
            </a:bodyPr>
            <a:lstStyle/>
            <a:p>
              <a:pPr algn="l">
                <a:lnSpc>
                  <a:spcPts val="3500"/>
                </a:lnSpc>
              </a:pPr>
              <a:r>
                <a:rPr lang="en-US" sz="2500">
                  <a:solidFill>
                    <a:srgbClr val="FFFFFF"/>
                  </a:solidFill>
                  <a:latin typeface="Poppins Light"/>
                  <a:ea typeface="Poppins Light"/>
                  <a:cs typeface="Poppins Light"/>
                  <a:sym typeface="Poppins Light"/>
                </a:rPr>
                <a:t>Conceptos de programación</a:t>
              </a:r>
            </a:p>
          </p:txBody>
        </p:sp>
        <p:sp>
          <p:nvSpPr>
            <p:cNvPr name="AutoShape 10" id="10"/>
            <p:cNvSpPr/>
            <p:nvPr/>
          </p:nvSpPr>
          <p:spPr>
            <a:xfrm>
              <a:off x="0" y="6318459"/>
              <a:ext cx="7849830" cy="0"/>
            </a:xfrm>
            <a:prstGeom prst="line">
              <a:avLst/>
            </a:prstGeom>
            <a:ln cap="rnd" w="25400">
              <a:solidFill>
                <a:srgbClr val="10B5BF"/>
              </a:solidFill>
              <a:prstDash val="solid"/>
              <a:headEnd type="none" len="sm" w="sm"/>
              <a:tailEnd type="none" len="sm" w="sm"/>
            </a:ln>
          </p:spPr>
        </p:sp>
        <p:sp>
          <p:nvSpPr>
            <p:cNvPr name="TextBox 11" id="11"/>
            <p:cNvSpPr txBox="true"/>
            <p:nvPr/>
          </p:nvSpPr>
          <p:spPr>
            <a:xfrm rot="0">
              <a:off x="0" y="6881424"/>
              <a:ext cx="7849830" cy="556604"/>
            </a:xfrm>
            <a:prstGeom prst="rect">
              <a:avLst/>
            </a:prstGeom>
          </p:spPr>
          <p:txBody>
            <a:bodyPr anchor="t" rtlCol="false" tIns="0" lIns="0" bIns="0" rIns="0">
              <a:spAutoFit/>
            </a:bodyPr>
            <a:lstStyle/>
            <a:p>
              <a:pPr algn="l">
                <a:lnSpc>
                  <a:spcPts val="3500"/>
                </a:lnSpc>
              </a:pPr>
              <a:r>
                <a:rPr lang="en-US" sz="2500">
                  <a:solidFill>
                    <a:srgbClr val="FFFFFF"/>
                  </a:solidFill>
                  <a:latin typeface="Poppins Light"/>
                  <a:ea typeface="Poppins Light"/>
                  <a:cs typeface="Poppins Light"/>
                  <a:sym typeface="Poppins Light"/>
                </a:rPr>
                <a:t>Foro de la semana</a:t>
              </a:r>
            </a:p>
          </p:txBody>
        </p:sp>
        <p:sp>
          <p:nvSpPr>
            <p:cNvPr name="AutoShape 12" id="12"/>
            <p:cNvSpPr/>
            <p:nvPr/>
          </p:nvSpPr>
          <p:spPr>
            <a:xfrm>
              <a:off x="0" y="8053063"/>
              <a:ext cx="7849830" cy="0"/>
            </a:xfrm>
            <a:prstGeom prst="line">
              <a:avLst/>
            </a:prstGeom>
            <a:ln cap="rnd" w="25400">
              <a:solidFill>
                <a:srgbClr val="10B5BF"/>
              </a:solidFill>
              <a:prstDash val="solid"/>
              <a:headEnd type="none" len="sm" w="sm"/>
              <a:tailEnd type="none" len="sm" w="sm"/>
            </a:ln>
          </p:spPr>
        </p:sp>
        <p:sp>
          <p:nvSpPr>
            <p:cNvPr name="TextBox 13" id="13"/>
            <p:cNvSpPr txBox="true"/>
            <p:nvPr/>
          </p:nvSpPr>
          <p:spPr>
            <a:xfrm rot="0">
              <a:off x="0" y="8616028"/>
              <a:ext cx="7849830" cy="556604"/>
            </a:xfrm>
            <a:prstGeom prst="rect">
              <a:avLst/>
            </a:prstGeom>
          </p:spPr>
          <p:txBody>
            <a:bodyPr anchor="t" rtlCol="false" tIns="0" lIns="0" bIns="0" rIns="0">
              <a:spAutoFit/>
            </a:bodyPr>
            <a:lstStyle/>
            <a:p>
              <a:pPr algn="l">
                <a:lnSpc>
                  <a:spcPts val="3500"/>
                </a:lnSpc>
              </a:pPr>
              <a:r>
                <a:rPr lang="en-US" sz="2500">
                  <a:solidFill>
                    <a:srgbClr val="FFFFFF"/>
                  </a:solidFill>
                  <a:latin typeface="Poppins Light"/>
                  <a:ea typeface="Poppins Light"/>
                  <a:cs typeface="Poppins Light"/>
                  <a:sym typeface="Poppins Light"/>
                </a:rPr>
                <a:t>¿Dudas?</a:t>
              </a:r>
            </a:p>
          </p:txBody>
        </p:sp>
      </p:grpSp>
      <p:sp>
        <p:nvSpPr>
          <p:cNvPr name="Freeform 14" id="14"/>
          <p:cNvSpPr/>
          <p:nvPr/>
        </p:nvSpPr>
        <p:spPr>
          <a:xfrm flipH="false" flipV="false" rot="0">
            <a:off x="1624863" y="4992920"/>
            <a:ext cx="4887991" cy="4114800"/>
          </a:xfrm>
          <a:custGeom>
            <a:avLst/>
            <a:gdLst/>
            <a:ahLst/>
            <a:cxnLst/>
            <a:rect r="r" b="b" t="t" l="l"/>
            <a:pathLst>
              <a:path h="4114800" w="4887991">
                <a:moveTo>
                  <a:pt x="0" y="0"/>
                </a:moveTo>
                <a:lnTo>
                  <a:pt x="4887992" y="0"/>
                </a:lnTo>
                <a:lnTo>
                  <a:pt x="4887992"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5" id="15"/>
          <p:cNvGrpSpPr/>
          <p:nvPr/>
        </p:nvGrpSpPr>
        <p:grpSpPr>
          <a:xfrm rot="0">
            <a:off x="1171708" y="1975808"/>
            <a:ext cx="6077873" cy="3839448"/>
            <a:chOff x="0" y="0"/>
            <a:chExt cx="8103830" cy="5119264"/>
          </a:xfrm>
        </p:grpSpPr>
        <p:sp>
          <p:nvSpPr>
            <p:cNvPr name="TextBox 16" id="16"/>
            <p:cNvSpPr txBox="true"/>
            <p:nvPr/>
          </p:nvSpPr>
          <p:spPr>
            <a:xfrm rot="0">
              <a:off x="0" y="4500139"/>
              <a:ext cx="8103830" cy="619125"/>
            </a:xfrm>
            <a:prstGeom prst="rect">
              <a:avLst/>
            </a:prstGeom>
          </p:spPr>
          <p:txBody>
            <a:bodyPr anchor="t" rtlCol="false" tIns="0" lIns="0" bIns="0" rIns="0">
              <a:spAutoFit/>
            </a:bodyPr>
            <a:lstStyle/>
            <a:p>
              <a:pPr algn="l">
                <a:lnSpc>
                  <a:spcPts val="3600"/>
                </a:lnSpc>
              </a:pPr>
            </a:p>
          </p:txBody>
        </p:sp>
        <p:sp>
          <p:nvSpPr>
            <p:cNvPr name="TextBox 17" id="17"/>
            <p:cNvSpPr txBox="true"/>
            <p:nvPr/>
          </p:nvSpPr>
          <p:spPr>
            <a:xfrm rot="0">
              <a:off x="0" y="0"/>
              <a:ext cx="8103830" cy="2768441"/>
            </a:xfrm>
            <a:prstGeom prst="rect">
              <a:avLst/>
            </a:prstGeom>
          </p:spPr>
          <p:txBody>
            <a:bodyPr anchor="t" rtlCol="false" tIns="0" lIns="0" bIns="0" rIns="0">
              <a:spAutoFit/>
            </a:bodyPr>
            <a:lstStyle/>
            <a:p>
              <a:pPr algn="l">
                <a:lnSpc>
                  <a:spcPts val="8189"/>
                </a:lnSpc>
              </a:pPr>
              <a:r>
                <a:rPr lang="en-US" sz="6825" b="true">
                  <a:solidFill>
                    <a:srgbClr val="FFFFFF"/>
                  </a:solidFill>
                  <a:latin typeface="Poppins Medium Bold"/>
                  <a:ea typeface="Poppins Medium Bold"/>
                  <a:cs typeface="Poppins Medium Bold"/>
                  <a:sym typeface="Poppins Medium Bold"/>
                </a:rPr>
                <a:t>AGENDA DE LA CLASE:</a:t>
              </a: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141414"/>
        </a:solidFill>
      </p:bgPr>
    </p:bg>
    <p:spTree>
      <p:nvGrpSpPr>
        <p:cNvPr id="1" name=""/>
        <p:cNvGrpSpPr/>
        <p:nvPr/>
      </p:nvGrpSpPr>
      <p:grpSpPr>
        <a:xfrm>
          <a:off x="0" y="0"/>
          <a:ext cx="0" cy="0"/>
          <a:chOff x="0" y="0"/>
          <a:chExt cx="0" cy="0"/>
        </a:xfrm>
      </p:grpSpPr>
      <p:sp>
        <p:nvSpPr>
          <p:cNvPr name="Freeform 2" id="2"/>
          <p:cNvSpPr/>
          <p:nvPr/>
        </p:nvSpPr>
        <p:spPr>
          <a:xfrm flipH="false" flipV="false" rot="0">
            <a:off x="12949745" y="4771541"/>
            <a:ext cx="4848618" cy="4804172"/>
          </a:xfrm>
          <a:custGeom>
            <a:avLst/>
            <a:gdLst/>
            <a:ahLst/>
            <a:cxnLst/>
            <a:rect r="r" b="b" t="t" l="l"/>
            <a:pathLst>
              <a:path h="4804172" w="4848618">
                <a:moveTo>
                  <a:pt x="0" y="0"/>
                </a:moveTo>
                <a:lnTo>
                  <a:pt x="4848618" y="0"/>
                </a:lnTo>
                <a:lnTo>
                  <a:pt x="4848618" y="4804172"/>
                </a:lnTo>
                <a:lnTo>
                  <a:pt x="0" y="4804172"/>
                </a:lnTo>
                <a:lnTo>
                  <a:pt x="0" y="0"/>
                </a:lnTo>
                <a:close/>
              </a:path>
            </a:pathLst>
          </a:custGeom>
          <a:blipFill>
            <a:blip r:embed="rId3"/>
            <a:stretch>
              <a:fillRect l="0" t="0" r="0" b="0"/>
            </a:stretch>
          </a:blipFill>
        </p:spPr>
      </p:sp>
      <p:sp>
        <p:nvSpPr>
          <p:cNvPr name="TextBox 3" id="3"/>
          <p:cNvSpPr txBox="true"/>
          <p:nvPr/>
        </p:nvSpPr>
        <p:spPr>
          <a:xfrm rot="0">
            <a:off x="5587395" y="484402"/>
            <a:ext cx="6842769" cy="544298"/>
          </a:xfrm>
          <a:prstGeom prst="rect">
            <a:avLst/>
          </a:prstGeom>
        </p:spPr>
        <p:txBody>
          <a:bodyPr anchor="t" rtlCol="false" tIns="0" lIns="0" bIns="0" rIns="0">
            <a:spAutoFit/>
          </a:bodyPr>
          <a:lstStyle/>
          <a:p>
            <a:pPr algn="ctr">
              <a:lnSpc>
                <a:spcPts val="4360"/>
              </a:lnSpc>
              <a:spcBef>
                <a:spcPct val="0"/>
              </a:spcBef>
            </a:pPr>
            <a:r>
              <a:rPr lang="en-US" b="true" sz="3634">
                <a:solidFill>
                  <a:srgbClr val="FFFFFF"/>
                </a:solidFill>
                <a:latin typeface="Poppins Medium"/>
                <a:ea typeface="Poppins Medium"/>
                <a:cs typeface="Poppins Medium"/>
                <a:sym typeface="Poppins Medium"/>
              </a:rPr>
              <a:t>DISTRIBUCIÓN DE LA ZONA</a:t>
            </a:r>
          </a:p>
        </p:txBody>
      </p:sp>
      <p:sp>
        <p:nvSpPr>
          <p:cNvPr name="TextBox 4" id="4"/>
          <p:cNvSpPr txBox="true"/>
          <p:nvPr/>
        </p:nvSpPr>
        <p:spPr>
          <a:xfrm rot="0">
            <a:off x="1585113" y="3751145"/>
            <a:ext cx="14847333" cy="3209925"/>
          </a:xfrm>
          <a:prstGeom prst="rect">
            <a:avLst/>
          </a:prstGeom>
        </p:spPr>
        <p:txBody>
          <a:bodyPr anchor="t" rtlCol="false" tIns="0" lIns="0" bIns="0" rIns="0">
            <a:spAutoFit/>
          </a:bodyPr>
          <a:lstStyle/>
          <a:p>
            <a:pPr algn="ctr">
              <a:lnSpc>
                <a:spcPts val="3600"/>
              </a:lnSpc>
            </a:pPr>
            <a:r>
              <a:rPr lang="en-US" sz="3000">
                <a:solidFill>
                  <a:srgbClr val="FFFFFF"/>
                </a:solidFill>
                <a:latin typeface="Poppins Medium"/>
                <a:ea typeface="Poppins Medium"/>
                <a:cs typeface="Poppins Medium"/>
                <a:sym typeface="Poppins Medium"/>
              </a:rPr>
              <a:t>EL LABORATORIO CORRESPONDE A 30 PUNTOS DE ZONA Y ESTÁ PONDERADO DE LA SIGUIENTE MANERA: </a:t>
            </a:r>
          </a:p>
          <a:p>
            <a:pPr algn="l">
              <a:lnSpc>
                <a:spcPts val="3600"/>
              </a:lnSpc>
            </a:pPr>
            <a:r>
              <a:rPr lang="en-US" sz="3000">
                <a:solidFill>
                  <a:srgbClr val="FFFFFF"/>
                </a:solidFill>
                <a:latin typeface="Poppins Medium"/>
                <a:ea typeface="Poppins Medium"/>
                <a:cs typeface="Poppins Medium"/>
                <a:sym typeface="Poppins Medium"/>
              </a:rPr>
              <a:t>• 1 PRÁCTICA …………………………………………………………………..…….……………..…… 20 PTS. </a:t>
            </a:r>
          </a:p>
          <a:p>
            <a:pPr algn="l">
              <a:lnSpc>
                <a:spcPts val="3600"/>
              </a:lnSpc>
            </a:pPr>
            <a:r>
              <a:rPr lang="en-US" sz="3000">
                <a:solidFill>
                  <a:srgbClr val="FFFFFF"/>
                </a:solidFill>
                <a:latin typeface="Poppins Medium"/>
                <a:ea typeface="Poppins Medium"/>
                <a:cs typeface="Poppins Medium"/>
                <a:sym typeface="Poppins Medium"/>
              </a:rPr>
              <a:t>• 1 PROYECTO ……………………………………………………………………….……………..……. 40 PTS. </a:t>
            </a:r>
          </a:p>
          <a:p>
            <a:pPr algn="l">
              <a:lnSpc>
                <a:spcPts val="3600"/>
              </a:lnSpc>
            </a:pPr>
            <a:r>
              <a:rPr lang="en-US" sz="3000">
                <a:solidFill>
                  <a:srgbClr val="FFFFFF"/>
                </a:solidFill>
                <a:latin typeface="Poppins Medium"/>
                <a:ea typeface="Poppins Medium"/>
                <a:cs typeface="Poppins Medium"/>
                <a:sym typeface="Poppins Medium"/>
              </a:rPr>
              <a:t>• 3 EXÁMENES CORTOS (5 PTS C/U) ……..…………………………………….…. 15 PTS. </a:t>
            </a:r>
          </a:p>
          <a:p>
            <a:pPr algn="l">
              <a:lnSpc>
                <a:spcPts val="3600"/>
              </a:lnSpc>
            </a:pPr>
            <a:r>
              <a:rPr lang="en-US" sz="3000">
                <a:solidFill>
                  <a:srgbClr val="FFFFFF"/>
                </a:solidFill>
                <a:latin typeface="Poppins Medium"/>
                <a:ea typeface="Poppins Medium"/>
                <a:cs typeface="Poppins Medium"/>
                <a:sym typeface="Poppins Medium"/>
              </a:rPr>
              <a:t>• 5 TAREAS (3 PTS C/U) ………….………..………………………………………….......... 15 PTS. </a:t>
            </a:r>
          </a:p>
          <a:p>
            <a:pPr algn="l">
              <a:lnSpc>
                <a:spcPts val="3600"/>
              </a:lnSpc>
              <a:spcBef>
                <a:spcPct val="0"/>
              </a:spcBef>
            </a:pPr>
            <a:r>
              <a:rPr lang="en-US" sz="3000">
                <a:solidFill>
                  <a:srgbClr val="FFFFFF"/>
                </a:solidFill>
                <a:latin typeface="Poppins Medium"/>
                <a:ea typeface="Poppins Medium"/>
                <a:cs typeface="Poppins Medium"/>
                <a:sym typeface="Poppins Medium"/>
              </a:rPr>
              <a:t>• EXAMEN FINAL ……………………………..…………………………………..…..................... 10 PTS.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141414"/>
        </a:solidFill>
      </p:bgPr>
    </p:bg>
    <p:spTree>
      <p:nvGrpSpPr>
        <p:cNvPr id="1" name=""/>
        <p:cNvGrpSpPr/>
        <p:nvPr/>
      </p:nvGrpSpPr>
      <p:grpSpPr>
        <a:xfrm>
          <a:off x="0" y="0"/>
          <a:ext cx="0" cy="0"/>
          <a:chOff x="0" y="0"/>
          <a:chExt cx="0" cy="0"/>
        </a:xfrm>
      </p:grpSpPr>
      <p:sp>
        <p:nvSpPr>
          <p:cNvPr name="TextBox 2" id="2"/>
          <p:cNvSpPr txBox="true"/>
          <p:nvPr/>
        </p:nvSpPr>
        <p:spPr>
          <a:xfrm rot="0">
            <a:off x="1720333" y="3762375"/>
            <a:ext cx="14847333" cy="3209925"/>
          </a:xfrm>
          <a:prstGeom prst="rect">
            <a:avLst/>
          </a:prstGeom>
        </p:spPr>
        <p:txBody>
          <a:bodyPr anchor="t" rtlCol="false" tIns="0" lIns="0" bIns="0" rIns="0">
            <a:spAutoFit/>
          </a:bodyPr>
          <a:lstStyle/>
          <a:p>
            <a:pPr algn="ctr">
              <a:lnSpc>
                <a:spcPts val="3600"/>
              </a:lnSpc>
            </a:pPr>
            <a:r>
              <a:rPr lang="en-US" sz="3000">
                <a:solidFill>
                  <a:srgbClr val="FFFFFF"/>
                </a:solidFill>
                <a:latin typeface="Poppins Medium"/>
                <a:ea typeface="Poppins Medium"/>
                <a:cs typeface="Poppins Medium"/>
                <a:sym typeface="Poppins Medium"/>
              </a:rPr>
              <a:t>TAREA [PDC1]T#_#CARNÉ</a:t>
            </a:r>
          </a:p>
          <a:p>
            <a:pPr algn="ctr">
              <a:lnSpc>
                <a:spcPts val="3600"/>
              </a:lnSpc>
            </a:pPr>
          </a:p>
          <a:p>
            <a:pPr algn="ctr">
              <a:lnSpc>
                <a:spcPts val="3600"/>
              </a:lnSpc>
            </a:pPr>
            <a:r>
              <a:rPr lang="en-US" sz="3000">
                <a:solidFill>
                  <a:srgbClr val="FFFFFF"/>
                </a:solidFill>
                <a:latin typeface="Poppins Medium"/>
                <a:ea typeface="Poppins Medium"/>
                <a:cs typeface="Poppins Medium"/>
                <a:sym typeface="Poppins Medium"/>
              </a:rPr>
              <a:t>PROYECTO: [PDC1]PROY_#CARNÉ</a:t>
            </a:r>
          </a:p>
          <a:p>
            <a:pPr algn="ctr">
              <a:lnSpc>
                <a:spcPts val="3600"/>
              </a:lnSpc>
            </a:pPr>
          </a:p>
          <a:p>
            <a:pPr algn="ctr">
              <a:lnSpc>
                <a:spcPts val="3600"/>
              </a:lnSpc>
            </a:pPr>
            <a:r>
              <a:rPr lang="en-US" sz="3000">
                <a:solidFill>
                  <a:srgbClr val="FFFFFF"/>
                </a:solidFill>
                <a:latin typeface="Poppins Medium"/>
                <a:ea typeface="Poppins Medium"/>
                <a:cs typeface="Poppins Medium"/>
                <a:sym typeface="Poppins Medium"/>
              </a:rPr>
              <a:t>PRACTICA: [PDC1]PRA_#CARNÉ</a:t>
            </a:r>
          </a:p>
          <a:p>
            <a:pPr algn="ctr">
              <a:lnSpc>
                <a:spcPts val="3600"/>
              </a:lnSpc>
            </a:pPr>
          </a:p>
          <a:p>
            <a:pPr algn="ctr">
              <a:lnSpc>
                <a:spcPts val="3600"/>
              </a:lnSpc>
              <a:spcBef>
                <a:spcPct val="0"/>
              </a:spcBef>
            </a:pPr>
          </a:p>
        </p:txBody>
      </p:sp>
      <p:sp>
        <p:nvSpPr>
          <p:cNvPr name="Freeform 3" id="3"/>
          <p:cNvSpPr/>
          <p:nvPr/>
        </p:nvSpPr>
        <p:spPr>
          <a:xfrm flipH="false" flipV="false" rot="0">
            <a:off x="13428879" y="3080202"/>
            <a:ext cx="3830421" cy="6178098"/>
          </a:xfrm>
          <a:custGeom>
            <a:avLst/>
            <a:gdLst/>
            <a:ahLst/>
            <a:cxnLst/>
            <a:rect r="r" b="b" t="t" l="l"/>
            <a:pathLst>
              <a:path h="6178098" w="3830421">
                <a:moveTo>
                  <a:pt x="0" y="0"/>
                </a:moveTo>
                <a:lnTo>
                  <a:pt x="3830421" y="0"/>
                </a:lnTo>
                <a:lnTo>
                  <a:pt x="3830421" y="6178098"/>
                </a:lnTo>
                <a:lnTo>
                  <a:pt x="0" y="617809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5866894" y="1038225"/>
            <a:ext cx="6842769" cy="544298"/>
          </a:xfrm>
          <a:prstGeom prst="rect">
            <a:avLst/>
          </a:prstGeom>
        </p:spPr>
        <p:txBody>
          <a:bodyPr anchor="t" rtlCol="false" tIns="0" lIns="0" bIns="0" rIns="0">
            <a:spAutoFit/>
          </a:bodyPr>
          <a:lstStyle/>
          <a:p>
            <a:pPr algn="ctr">
              <a:lnSpc>
                <a:spcPts val="4360"/>
              </a:lnSpc>
              <a:spcBef>
                <a:spcPct val="0"/>
              </a:spcBef>
            </a:pPr>
            <a:r>
              <a:rPr lang="en-US" sz="3634">
                <a:solidFill>
                  <a:srgbClr val="FFFFFF"/>
                </a:solidFill>
                <a:latin typeface="Poppins Medium"/>
                <a:ea typeface="Poppins Medium"/>
                <a:cs typeface="Poppins Medium"/>
                <a:sym typeface="Poppins Medium"/>
              </a:rPr>
              <a:t>FORMATOS DE ENTREGA</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141414"/>
        </a:solidFill>
      </p:bgPr>
    </p:bg>
    <p:spTree>
      <p:nvGrpSpPr>
        <p:cNvPr id="1" name=""/>
        <p:cNvGrpSpPr/>
        <p:nvPr/>
      </p:nvGrpSpPr>
      <p:grpSpPr>
        <a:xfrm>
          <a:off x="0" y="0"/>
          <a:ext cx="0" cy="0"/>
          <a:chOff x="0" y="0"/>
          <a:chExt cx="0" cy="0"/>
        </a:xfrm>
      </p:grpSpPr>
      <p:sp>
        <p:nvSpPr>
          <p:cNvPr name="TextBox 2" id="2"/>
          <p:cNvSpPr txBox="true"/>
          <p:nvPr/>
        </p:nvSpPr>
        <p:spPr>
          <a:xfrm rot="0">
            <a:off x="1720333" y="1933575"/>
            <a:ext cx="14847333" cy="7553325"/>
          </a:xfrm>
          <a:prstGeom prst="rect">
            <a:avLst/>
          </a:prstGeom>
        </p:spPr>
        <p:txBody>
          <a:bodyPr anchor="t" rtlCol="false" tIns="0" lIns="0" bIns="0" rIns="0">
            <a:spAutoFit/>
          </a:bodyPr>
          <a:lstStyle/>
          <a:p>
            <a:pPr algn="ctr">
              <a:lnSpc>
                <a:spcPts val="3600"/>
              </a:lnSpc>
            </a:pPr>
            <a:r>
              <a:rPr lang="en-US" sz="3000">
                <a:solidFill>
                  <a:srgbClr val="FFFFFF"/>
                </a:solidFill>
                <a:latin typeface="Poppins Medium"/>
                <a:ea typeface="Poppins Medium"/>
                <a:cs typeface="Poppins Medium"/>
                <a:sym typeface="Poppins Medium"/>
              </a:rPr>
              <a:t>FECHAS DE PRÁCTICAS Y PROYECTOS: </a:t>
            </a:r>
          </a:p>
          <a:p>
            <a:pPr algn="l">
              <a:lnSpc>
                <a:spcPts val="3600"/>
              </a:lnSpc>
            </a:pPr>
            <a:r>
              <a:rPr lang="en-US" sz="3000">
                <a:solidFill>
                  <a:srgbClr val="FFFFFF"/>
                </a:solidFill>
                <a:latin typeface="Poppins Medium"/>
                <a:ea typeface="Poppins Medium"/>
                <a:cs typeface="Poppins Medium"/>
                <a:sym typeface="Poppins Medium"/>
              </a:rPr>
              <a:t>PUBLICACIÓN DE LA PRÁCTICA ………………………………………………….………. 03/08/24</a:t>
            </a:r>
          </a:p>
          <a:p>
            <a:pPr algn="l">
              <a:lnSpc>
                <a:spcPts val="3600"/>
              </a:lnSpc>
            </a:pPr>
            <a:r>
              <a:rPr lang="en-US" sz="3000">
                <a:solidFill>
                  <a:srgbClr val="FFFFFF"/>
                </a:solidFill>
                <a:latin typeface="Poppins Medium"/>
                <a:ea typeface="Poppins Medium"/>
                <a:cs typeface="Poppins Medium"/>
                <a:sym typeface="Poppins Medium"/>
              </a:rPr>
              <a:t>ENTREGA DE LA PRÁCTICA …………………………………………………………….……… 12/08/24 CALIFICACIÓN DE LA PRÁCTICA …………………………………………………….…... 14/08/24 PUBLICACIÓN DEL PROYECTO ………………………………………………………….….. 31/08/24 ENTREGA DEL PROYECTO ……………………………………………………………….………. 12/09/24 CALIFICACIÓN DEL PROYECTO …..………………………………………………………… 16/09/24 </a:t>
            </a:r>
          </a:p>
          <a:p>
            <a:pPr algn="l">
              <a:lnSpc>
                <a:spcPts val="3600"/>
              </a:lnSpc>
            </a:pPr>
            <a:r>
              <a:rPr lang="en-US" sz="3000">
                <a:solidFill>
                  <a:srgbClr val="FFFFFF"/>
                </a:solidFill>
                <a:latin typeface="Poppins Medium"/>
                <a:ea typeface="Poppins Medium"/>
                <a:cs typeface="Poppins Medium"/>
                <a:sym typeface="Poppins Medium"/>
              </a:rPr>
              <a:t>FECHAS DE EVALUACIONES: </a:t>
            </a:r>
          </a:p>
          <a:p>
            <a:pPr algn="l">
              <a:lnSpc>
                <a:spcPts val="3000"/>
              </a:lnSpc>
            </a:pPr>
            <a:r>
              <a:rPr lang="en-US" sz="2500">
                <a:solidFill>
                  <a:srgbClr val="FFFFFF"/>
                </a:solidFill>
                <a:latin typeface="Poppins Medium"/>
                <a:ea typeface="Poppins Medium"/>
                <a:cs typeface="Poppins Medium"/>
                <a:sym typeface="Poppins Medium"/>
              </a:rPr>
              <a:t>• CORTO 1 ……………………………………………………………………………… 13/08/24 </a:t>
            </a:r>
          </a:p>
          <a:p>
            <a:pPr algn="l">
              <a:lnSpc>
                <a:spcPts val="3000"/>
              </a:lnSpc>
            </a:pPr>
            <a:r>
              <a:rPr lang="en-US" sz="2500">
                <a:solidFill>
                  <a:srgbClr val="FFFFFF"/>
                </a:solidFill>
                <a:latin typeface="Poppins Medium"/>
                <a:ea typeface="Poppins Medium"/>
                <a:cs typeface="Poppins Medium"/>
                <a:sym typeface="Poppins Medium"/>
              </a:rPr>
              <a:t>• CORTO 2 …………………………………………………………………………….. 17/09/24 </a:t>
            </a:r>
          </a:p>
          <a:p>
            <a:pPr algn="l">
              <a:lnSpc>
                <a:spcPts val="3000"/>
              </a:lnSpc>
            </a:pPr>
            <a:r>
              <a:rPr lang="en-US" sz="2500">
                <a:solidFill>
                  <a:srgbClr val="FFFFFF"/>
                </a:solidFill>
                <a:latin typeface="Poppins Medium"/>
                <a:ea typeface="Poppins Medium"/>
                <a:cs typeface="Poppins Medium"/>
                <a:sym typeface="Poppins Medium"/>
              </a:rPr>
              <a:t>• CORTO 3 …………………………………………………………………………..... 15/10/24 </a:t>
            </a:r>
          </a:p>
          <a:p>
            <a:pPr algn="l">
              <a:lnSpc>
                <a:spcPts val="3000"/>
              </a:lnSpc>
            </a:pPr>
            <a:r>
              <a:rPr lang="en-US" sz="2500">
                <a:solidFill>
                  <a:srgbClr val="FFFFFF"/>
                </a:solidFill>
                <a:latin typeface="Poppins Medium"/>
                <a:ea typeface="Poppins Medium"/>
                <a:cs typeface="Poppins Medium"/>
                <a:sym typeface="Poppins Medium"/>
              </a:rPr>
              <a:t>• EXAMEN FINAL ………………………………………………………………….. 22/10/24 </a:t>
            </a:r>
          </a:p>
          <a:p>
            <a:pPr algn="l">
              <a:lnSpc>
                <a:spcPts val="3600"/>
              </a:lnSpc>
            </a:pPr>
            <a:r>
              <a:rPr lang="en-US" sz="3000">
                <a:solidFill>
                  <a:srgbClr val="FFFFFF"/>
                </a:solidFill>
                <a:latin typeface="Poppins Medium"/>
                <a:ea typeface="Poppins Medium"/>
                <a:cs typeface="Poppins Medium"/>
                <a:sym typeface="Poppins Medium"/>
              </a:rPr>
              <a:t>FECHAS DE TAREAS: </a:t>
            </a:r>
          </a:p>
          <a:p>
            <a:pPr algn="l">
              <a:lnSpc>
                <a:spcPts val="3000"/>
              </a:lnSpc>
            </a:pPr>
            <a:r>
              <a:rPr lang="en-US" sz="2500">
                <a:solidFill>
                  <a:srgbClr val="FFFFFF"/>
                </a:solidFill>
                <a:latin typeface="Poppins Medium"/>
                <a:ea typeface="Poppins Medium"/>
                <a:cs typeface="Poppins Medium"/>
                <a:sym typeface="Poppins Medium"/>
              </a:rPr>
              <a:t>• TAREA 1 ……………………………………………………………………………… 06/08/24 </a:t>
            </a:r>
          </a:p>
          <a:p>
            <a:pPr algn="l">
              <a:lnSpc>
                <a:spcPts val="3000"/>
              </a:lnSpc>
            </a:pPr>
            <a:r>
              <a:rPr lang="en-US" sz="2500">
                <a:solidFill>
                  <a:srgbClr val="FFFFFF"/>
                </a:solidFill>
                <a:latin typeface="Poppins Medium"/>
                <a:ea typeface="Poppins Medium"/>
                <a:cs typeface="Poppins Medium"/>
                <a:sym typeface="Poppins Medium"/>
              </a:rPr>
              <a:t>• TAREA 2 ……………………………………………………………………………… 27/08/24 </a:t>
            </a:r>
          </a:p>
          <a:p>
            <a:pPr algn="l">
              <a:lnSpc>
                <a:spcPts val="3000"/>
              </a:lnSpc>
            </a:pPr>
            <a:r>
              <a:rPr lang="en-US" sz="2500">
                <a:solidFill>
                  <a:srgbClr val="FFFFFF"/>
                </a:solidFill>
                <a:latin typeface="Poppins Medium"/>
                <a:ea typeface="Poppins Medium"/>
                <a:cs typeface="Poppins Medium"/>
                <a:sym typeface="Poppins Medium"/>
              </a:rPr>
              <a:t>• TAREA 3 ……………………………………………………………………………… 10/09/24 </a:t>
            </a:r>
          </a:p>
          <a:p>
            <a:pPr algn="l">
              <a:lnSpc>
                <a:spcPts val="3000"/>
              </a:lnSpc>
            </a:pPr>
            <a:r>
              <a:rPr lang="en-US" sz="2500">
                <a:solidFill>
                  <a:srgbClr val="FFFFFF"/>
                </a:solidFill>
                <a:latin typeface="Poppins Medium"/>
                <a:ea typeface="Poppins Medium"/>
                <a:cs typeface="Poppins Medium"/>
                <a:sym typeface="Poppins Medium"/>
              </a:rPr>
              <a:t>• TAREA 4 ……………………………………………………………………………… 24/09/24 </a:t>
            </a:r>
          </a:p>
          <a:p>
            <a:pPr algn="l">
              <a:lnSpc>
                <a:spcPts val="3000"/>
              </a:lnSpc>
              <a:spcBef>
                <a:spcPct val="0"/>
              </a:spcBef>
            </a:pPr>
            <a:r>
              <a:rPr lang="en-US" sz="2500">
                <a:solidFill>
                  <a:srgbClr val="FFFFFF"/>
                </a:solidFill>
                <a:latin typeface="Poppins Medium"/>
                <a:ea typeface="Poppins Medium"/>
                <a:cs typeface="Poppins Medium"/>
                <a:sym typeface="Poppins Medium"/>
              </a:rPr>
              <a:t>• TAREA 5 ……………………………………………………………………………… 15/10/24 </a:t>
            </a:r>
          </a:p>
        </p:txBody>
      </p:sp>
      <p:sp>
        <p:nvSpPr>
          <p:cNvPr name="Freeform 3" id="3"/>
          <p:cNvSpPr/>
          <p:nvPr/>
        </p:nvSpPr>
        <p:spPr>
          <a:xfrm flipH="false" flipV="false" rot="0">
            <a:off x="12056679" y="5372100"/>
            <a:ext cx="5202621" cy="4114800"/>
          </a:xfrm>
          <a:custGeom>
            <a:avLst/>
            <a:gdLst/>
            <a:ahLst/>
            <a:cxnLst/>
            <a:rect r="r" b="b" t="t" l="l"/>
            <a:pathLst>
              <a:path h="4114800" w="5202621">
                <a:moveTo>
                  <a:pt x="0" y="0"/>
                </a:moveTo>
                <a:lnTo>
                  <a:pt x="5202621" y="0"/>
                </a:lnTo>
                <a:lnTo>
                  <a:pt x="5202621"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4792018" y="1038225"/>
            <a:ext cx="8703964" cy="544298"/>
          </a:xfrm>
          <a:prstGeom prst="rect">
            <a:avLst/>
          </a:prstGeom>
        </p:spPr>
        <p:txBody>
          <a:bodyPr anchor="t" rtlCol="false" tIns="0" lIns="0" bIns="0" rIns="0">
            <a:spAutoFit/>
          </a:bodyPr>
          <a:lstStyle/>
          <a:p>
            <a:pPr algn="ctr">
              <a:lnSpc>
                <a:spcPts val="4360"/>
              </a:lnSpc>
              <a:spcBef>
                <a:spcPct val="0"/>
              </a:spcBef>
            </a:pPr>
            <a:r>
              <a:rPr lang="en-US" sz="3634">
                <a:solidFill>
                  <a:srgbClr val="FFFFFF"/>
                </a:solidFill>
                <a:latin typeface="Poppins Medium"/>
                <a:ea typeface="Poppins Medium"/>
                <a:cs typeface="Poppins Medium"/>
                <a:sym typeface="Poppins Medium"/>
              </a:rPr>
              <a:t>CALENDARIZACIÓN DE ACTIVIDADES </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141414"/>
        </a:solidFill>
      </p:bgPr>
    </p:bg>
    <p:spTree>
      <p:nvGrpSpPr>
        <p:cNvPr id="1" name=""/>
        <p:cNvGrpSpPr/>
        <p:nvPr/>
      </p:nvGrpSpPr>
      <p:grpSpPr>
        <a:xfrm>
          <a:off x="0" y="0"/>
          <a:ext cx="0" cy="0"/>
          <a:chOff x="0" y="0"/>
          <a:chExt cx="0" cy="0"/>
        </a:xfrm>
      </p:grpSpPr>
      <p:sp>
        <p:nvSpPr>
          <p:cNvPr name="TextBox 2" id="2"/>
          <p:cNvSpPr txBox="true"/>
          <p:nvPr/>
        </p:nvSpPr>
        <p:spPr>
          <a:xfrm rot="0">
            <a:off x="1720333" y="1933575"/>
            <a:ext cx="14847333" cy="466725"/>
          </a:xfrm>
          <a:prstGeom prst="rect">
            <a:avLst/>
          </a:prstGeom>
        </p:spPr>
        <p:txBody>
          <a:bodyPr anchor="t" rtlCol="false" tIns="0" lIns="0" bIns="0" rIns="0">
            <a:spAutoFit/>
          </a:bodyPr>
          <a:lstStyle/>
          <a:p>
            <a:pPr algn="ctr">
              <a:lnSpc>
                <a:spcPts val="3600"/>
              </a:lnSpc>
              <a:spcBef>
                <a:spcPct val="0"/>
              </a:spcBef>
            </a:pPr>
            <a:r>
              <a:rPr lang="en-US" sz="3000">
                <a:solidFill>
                  <a:srgbClr val="FFFFFF"/>
                </a:solidFill>
                <a:latin typeface="Poppins Medium"/>
                <a:ea typeface="Poppins Medium"/>
                <a:cs typeface="Poppins Medium"/>
                <a:sym typeface="Poppins Medium"/>
              </a:rPr>
              <a:t>HTTPS://WWW.MICROSOFT.COM/EN-US/EDUCATION/PRODUCTS/OFFICE</a:t>
            </a:r>
          </a:p>
        </p:txBody>
      </p:sp>
      <p:sp>
        <p:nvSpPr>
          <p:cNvPr name="Freeform 3" id="3"/>
          <p:cNvSpPr/>
          <p:nvPr/>
        </p:nvSpPr>
        <p:spPr>
          <a:xfrm flipH="false" flipV="false" rot="0">
            <a:off x="1720333" y="4358519"/>
            <a:ext cx="7650490" cy="3942945"/>
          </a:xfrm>
          <a:custGeom>
            <a:avLst/>
            <a:gdLst/>
            <a:ahLst/>
            <a:cxnLst/>
            <a:rect r="r" b="b" t="t" l="l"/>
            <a:pathLst>
              <a:path h="3942945" w="7650490">
                <a:moveTo>
                  <a:pt x="0" y="0"/>
                </a:moveTo>
                <a:lnTo>
                  <a:pt x="7650490" y="0"/>
                </a:lnTo>
                <a:lnTo>
                  <a:pt x="7650490" y="3942944"/>
                </a:lnTo>
                <a:lnTo>
                  <a:pt x="0" y="3942944"/>
                </a:lnTo>
                <a:lnTo>
                  <a:pt x="0" y="0"/>
                </a:lnTo>
                <a:close/>
              </a:path>
            </a:pathLst>
          </a:custGeom>
          <a:blipFill>
            <a:blip r:embed="rId3"/>
            <a:stretch>
              <a:fillRect l="0" t="0" r="0" b="0"/>
            </a:stretch>
          </a:blipFill>
        </p:spPr>
      </p:sp>
      <p:sp>
        <p:nvSpPr>
          <p:cNvPr name="Freeform 4" id="4"/>
          <p:cNvSpPr/>
          <p:nvPr/>
        </p:nvSpPr>
        <p:spPr>
          <a:xfrm flipH="false" flipV="false" rot="0">
            <a:off x="9639053" y="4358519"/>
            <a:ext cx="7171194" cy="5444186"/>
          </a:xfrm>
          <a:custGeom>
            <a:avLst/>
            <a:gdLst/>
            <a:ahLst/>
            <a:cxnLst/>
            <a:rect r="r" b="b" t="t" l="l"/>
            <a:pathLst>
              <a:path h="5444186" w="7171194">
                <a:moveTo>
                  <a:pt x="0" y="0"/>
                </a:moveTo>
                <a:lnTo>
                  <a:pt x="7171194" y="0"/>
                </a:lnTo>
                <a:lnTo>
                  <a:pt x="7171194" y="5444186"/>
                </a:lnTo>
                <a:lnTo>
                  <a:pt x="0" y="5444186"/>
                </a:lnTo>
                <a:lnTo>
                  <a:pt x="0" y="0"/>
                </a:lnTo>
                <a:close/>
              </a:path>
            </a:pathLst>
          </a:custGeom>
          <a:blipFill>
            <a:blip r:embed="rId4"/>
            <a:stretch>
              <a:fillRect l="0" t="0" r="0" b="0"/>
            </a:stretch>
          </a:blipFill>
        </p:spPr>
      </p:sp>
      <p:sp>
        <p:nvSpPr>
          <p:cNvPr name="TextBox 5" id="5"/>
          <p:cNvSpPr txBox="true"/>
          <p:nvPr/>
        </p:nvSpPr>
        <p:spPr>
          <a:xfrm rot="0">
            <a:off x="3940774" y="1038225"/>
            <a:ext cx="10406452" cy="544298"/>
          </a:xfrm>
          <a:prstGeom prst="rect">
            <a:avLst/>
          </a:prstGeom>
        </p:spPr>
        <p:txBody>
          <a:bodyPr anchor="t" rtlCol="false" tIns="0" lIns="0" bIns="0" rIns="0">
            <a:spAutoFit/>
          </a:bodyPr>
          <a:lstStyle/>
          <a:p>
            <a:pPr algn="ctr">
              <a:lnSpc>
                <a:spcPts val="4360"/>
              </a:lnSpc>
              <a:spcBef>
                <a:spcPct val="0"/>
              </a:spcBef>
            </a:pPr>
            <a:r>
              <a:rPr lang="en-US" sz="3634">
                <a:solidFill>
                  <a:srgbClr val="FFFFFF"/>
                </a:solidFill>
                <a:latin typeface="Poppins Medium"/>
                <a:ea typeface="Poppins Medium"/>
                <a:cs typeface="Poppins Medium"/>
                <a:sym typeface="Poppins Medium"/>
              </a:rPr>
              <a:t>DESCARGAR MICROSOFT OFFICE EDUCATIVO</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141414"/>
        </a:solidFill>
      </p:bgPr>
    </p:bg>
    <p:spTree>
      <p:nvGrpSpPr>
        <p:cNvPr id="1" name=""/>
        <p:cNvGrpSpPr/>
        <p:nvPr/>
      </p:nvGrpSpPr>
      <p:grpSpPr>
        <a:xfrm>
          <a:off x="0" y="0"/>
          <a:ext cx="0" cy="0"/>
          <a:chOff x="0" y="0"/>
          <a:chExt cx="0" cy="0"/>
        </a:xfrm>
      </p:grpSpPr>
      <p:sp>
        <p:nvSpPr>
          <p:cNvPr name="Freeform 2" id="2"/>
          <p:cNvSpPr/>
          <p:nvPr/>
        </p:nvSpPr>
        <p:spPr>
          <a:xfrm flipH="false" flipV="false" rot="0">
            <a:off x="14436964" y="410048"/>
            <a:ext cx="3282359" cy="3383875"/>
          </a:xfrm>
          <a:custGeom>
            <a:avLst/>
            <a:gdLst/>
            <a:ahLst/>
            <a:cxnLst/>
            <a:rect r="r" b="b" t="t" l="l"/>
            <a:pathLst>
              <a:path h="3383875" w="3282359">
                <a:moveTo>
                  <a:pt x="0" y="0"/>
                </a:moveTo>
                <a:lnTo>
                  <a:pt x="3282359" y="0"/>
                </a:lnTo>
                <a:lnTo>
                  <a:pt x="3282359" y="3383875"/>
                </a:lnTo>
                <a:lnTo>
                  <a:pt x="0" y="3383875"/>
                </a:lnTo>
                <a:lnTo>
                  <a:pt x="0" y="0"/>
                </a:lnTo>
                <a:close/>
              </a:path>
            </a:pathLst>
          </a:custGeom>
          <a:blipFill>
            <a:blip r:embed="rId2"/>
            <a:stretch>
              <a:fillRect l="0" t="0" r="0" b="0"/>
            </a:stretch>
          </a:blipFill>
        </p:spPr>
      </p:sp>
      <p:grpSp>
        <p:nvGrpSpPr>
          <p:cNvPr name="Group 3" id="3"/>
          <p:cNvGrpSpPr/>
          <p:nvPr/>
        </p:nvGrpSpPr>
        <p:grpSpPr>
          <a:xfrm rot="0">
            <a:off x="3153690" y="3307297"/>
            <a:ext cx="11790175" cy="5075233"/>
            <a:chOff x="0" y="0"/>
            <a:chExt cx="15720234" cy="6766978"/>
          </a:xfrm>
        </p:grpSpPr>
        <p:sp>
          <p:nvSpPr>
            <p:cNvPr name="TextBox 4" id="4"/>
            <p:cNvSpPr txBox="true"/>
            <p:nvPr/>
          </p:nvSpPr>
          <p:spPr>
            <a:xfrm rot="0">
              <a:off x="0" y="67805"/>
              <a:ext cx="15720234" cy="4745908"/>
            </a:xfrm>
            <a:prstGeom prst="rect">
              <a:avLst/>
            </a:prstGeom>
          </p:spPr>
          <p:txBody>
            <a:bodyPr anchor="t" rtlCol="false" tIns="0" lIns="0" bIns="0" rIns="0">
              <a:spAutoFit/>
            </a:bodyPr>
            <a:lstStyle/>
            <a:p>
              <a:pPr algn="l">
                <a:lnSpc>
                  <a:spcPts val="14054"/>
                </a:lnSpc>
              </a:pPr>
              <a:r>
                <a:rPr lang="en-US" sz="11712" b="true">
                  <a:solidFill>
                    <a:srgbClr val="FFFFFF"/>
                  </a:solidFill>
                  <a:latin typeface="Poppins Medium Bold"/>
                  <a:ea typeface="Poppins Medium Bold"/>
                  <a:cs typeface="Poppins Medium Bold"/>
                  <a:sym typeface="Poppins Medium Bold"/>
                </a:rPr>
                <a:t>Conceptos de Programación</a:t>
              </a:r>
            </a:p>
          </p:txBody>
        </p:sp>
        <p:sp>
          <p:nvSpPr>
            <p:cNvPr name="TextBox 5" id="5"/>
            <p:cNvSpPr txBox="true"/>
            <p:nvPr/>
          </p:nvSpPr>
          <p:spPr>
            <a:xfrm rot="0">
              <a:off x="0" y="5816308"/>
              <a:ext cx="15720234" cy="845572"/>
            </a:xfrm>
            <a:prstGeom prst="rect">
              <a:avLst/>
            </a:prstGeom>
          </p:spPr>
          <p:txBody>
            <a:bodyPr anchor="t" rtlCol="false" tIns="0" lIns="0" bIns="0" rIns="0">
              <a:spAutoFit/>
            </a:bodyPr>
            <a:lstStyle/>
            <a:p>
              <a:pPr algn="l">
                <a:lnSpc>
                  <a:spcPts val="5325"/>
                </a:lnSpc>
              </a:pPr>
            </a:p>
          </p:txBody>
        </p:sp>
      </p:grpSp>
      <p:sp>
        <p:nvSpPr>
          <p:cNvPr name="Freeform 6" id="6"/>
          <p:cNvSpPr/>
          <p:nvPr/>
        </p:nvSpPr>
        <p:spPr>
          <a:xfrm flipH="false" flipV="false" rot="0">
            <a:off x="274488" y="67944"/>
            <a:ext cx="3384702" cy="3384702"/>
          </a:xfrm>
          <a:custGeom>
            <a:avLst/>
            <a:gdLst/>
            <a:ahLst/>
            <a:cxnLst/>
            <a:rect r="r" b="b" t="t" l="l"/>
            <a:pathLst>
              <a:path h="3384702" w="3384702">
                <a:moveTo>
                  <a:pt x="0" y="0"/>
                </a:moveTo>
                <a:lnTo>
                  <a:pt x="3384702" y="0"/>
                </a:lnTo>
                <a:lnTo>
                  <a:pt x="3384702" y="3384702"/>
                </a:lnTo>
                <a:lnTo>
                  <a:pt x="0" y="3384702"/>
                </a:lnTo>
                <a:lnTo>
                  <a:pt x="0" y="0"/>
                </a:lnTo>
                <a:close/>
              </a:path>
            </a:pathLst>
          </a:custGeom>
          <a:blipFill>
            <a:blip r:embed="rId3"/>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141414"/>
        </a:solidFill>
      </p:bgPr>
    </p:bg>
    <p:spTree>
      <p:nvGrpSpPr>
        <p:cNvPr id="1" name=""/>
        <p:cNvGrpSpPr/>
        <p:nvPr/>
      </p:nvGrpSpPr>
      <p:grpSpPr>
        <a:xfrm>
          <a:off x="0" y="0"/>
          <a:ext cx="0" cy="0"/>
          <a:chOff x="0" y="0"/>
          <a:chExt cx="0" cy="0"/>
        </a:xfrm>
      </p:grpSpPr>
      <p:sp>
        <p:nvSpPr>
          <p:cNvPr name="Freeform 2" id="2"/>
          <p:cNvSpPr/>
          <p:nvPr/>
        </p:nvSpPr>
        <p:spPr>
          <a:xfrm flipH="false" flipV="false" rot="0">
            <a:off x="14436964" y="410048"/>
            <a:ext cx="3282359" cy="3383875"/>
          </a:xfrm>
          <a:custGeom>
            <a:avLst/>
            <a:gdLst/>
            <a:ahLst/>
            <a:cxnLst/>
            <a:rect r="r" b="b" t="t" l="l"/>
            <a:pathLst>
              <a:path h="3383875" w="3282359">
                <a:moveTo>
                  <a:pt x="0" y="0"/>
                </a:moveTo>
                <a:lnTo>
                  <a:pt x="3282359" y="0"/>
                </a:lnTo>
                <a:lnTo>
                  <a:pt x="3282359" y="3383875"/>
                </a:lnTo>
                <a:lnTo>
                  <a:pt x="0" y="3383875"/>
                </a:lnTo>
                <a:lnTo>
                  <a:pt x="0" y="0"/>
                </a:lnTo>
                <a:close/>
              </a:path>
            </a:pathLst>
          </a:custGeom>
          <a:blipFill>
            <a:blip r:embed="rId3"/>
            <a:stretch>
              <a:fillRect l="0" t="0" r="0" b="0"/>
            </a:stretch>
          </a:blipFill>
        </p:spPr>
      </p:sp>
      <p:grpSp>
        <p:nvGrpSpPr>
          <p:cNvPr name="Group 3" id="3"/>
          <p:cNvGrpSpPr>
            <a:grpSpLocks noChangeAspect="true"/>
          </p:cNvGrpSpPr>
          <p:nvPr/>
        </p:nvGrpSpPr>
        <p:grpSpPr>
          <a:xfrm rot="0">
            <a:off x="1914361" y="1028700"/>
            <a:ext cx="4159154" cy="8229600"/>
            <a:chOff x="0" y="0"/>
            <a:chExt cx="2620010" cy="5184140"/>
          </a:xfrm>
        </p:grpSpPr>
        <p:sp>
          <p:nvSpPr>
            <p:cNvPr name="Freeform 4" id="4"/>
            <p:cNvSpPr/>
            <p:nvPr/>
          </p:nvSpPr>
          <p:spPr>
            <a:xfrm flipH="false" flipV="false" rot="0">
              <a:off x="53340" y="25400"/>
              <a:ext cx="2513330" cy="5132070"/>
            </a:xfrm>
            <a:custGeom>
              <a:avLst/>
              <a:gdLst/>
              <a:ahLst/>
              <a:cxnLst/>
              <a:rect r="r" b="b" t="t" l="l"/>
              <a:pathLst>
                <a:path h="5132070" w="251333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141414"/>
            </a:solidFill>
          </p:spPr>
        </p:sp>
        <p:sp>
          <p:nvSpPr>
            <p:cNvPr name="Freeform 5" id="5"/>
            <p:cNvSpPr/>
            <p:nvPr/>
          </p:nvSpPr>
          <p:spPr>
            <a:xfrm flipH="false" flipV="false" rot="0">
              <a:off x="185420" y="156210"/>
              <a:ext cx="2251710" cy="4876800"/>
            </a:xfrm>
            <a:custGeom>
              <a:avLst/>
              <a:gdLst/>
              <a:ahLst/>
              <a:cxnLst/>
              <a:rect r="r" b="b" t="t" l="l"/>
              <a:pathLst>
                <a:path h="4876800" w="2251710">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a:blip r:embed="rId4"/>
              <a:stretch>
                <a:fillRect l="-112476" t="0" r="-112476" b="0"/>
              </a:stretch>
            </a:blipFill>
          </p:spPr>
        </p:sp>
        <p:sp>
          <p:nvSpPr>
            <p:cNvPr name="Freeform 6" id="6"/>
            <p:cNvSpPr/>
            <p:nvPr/>
          </p:nvSpPr>
          <p:spPr>
            <a:xfrm flipH="false" flipV="false" rot="0">
              <a:off x="1121410" y="198120"/>
              <a:ext cx="347980" cy="43180"/>
            </a:xfrm>
            <a:custGeom>
              <a:avLst/>
              <a:gdLst/>
              <a:ahLst/>
              <a:cxnLst/>
              <a:rect r="r" b="b" t="t" l="l"/>
              <a:pathLst>
                <a:path h="43180" w="3479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FFFFFF"/>
            </a:solidFill>
          </p:spPr>
        </p:sp>
        <p:sp>
          <p:nvSpPr>
            <p:cNvPr name="Freeform 7" id="7"/>
            <p:cNvSpPr/>
            <p:nvPr/>
          </p:nvSpPr>
          <p:spPr>
            <a:xfrm flipH="false" flipV="false" rot="0">
              <a:off x="1578312" y="187909"/>
              <a:ext cx="66636" cy="63602"/>
            </a:xfrm>
            <a:custGeom>
              <a:avLst/>
              <a:gdLst/>
              <a:ahLst/>
              <a:cxnLst/>
              <a:rect r="r" b="b" t="t" l="l"/>
              <a:pathLst>
                <a:path h="63602" w="66636">
                  <a:moveTo>
                    <a:pt x="33318" y="51"/>
                  </a:moveTo>
                  <a:cubicBezTo>
                    <a:pt x="21941" y="0"/>
                    <a:pt x="11406" y="6040"/>
                    <a:pt x="5703" y="15885"/>
                  </a:cubicBezTo>
                  <a:cubicBezTo>
                    <a:pt x="0" y="25729"/>
                    <a:pt x="0" y="37873"/>
                    <a:pt x="5703" y="47717"/>
                  </a:cubicBezTo>
                  <a:cubicBezTo>
                    <a:pt x="11406" y="57562"/>
                    <a:pt x="21941" y="63602"/>
                    <a:pt x="33318" y="63551"/>
                  </a:cubicBezTo>
                  <a:cubicBezTo>
                    <a:pt x="44695" y="63602"/>
                    <a:pt x="55230" y="57562"/>
                    <a:pt x="60933" y="47717"/>
                  </a:cubicBezTo>
                  <a:cubicBezTo>
                    <a:pt x="66636" y="37873"/>
                    <a:pt x="66636" y="25729"/>
                    <a:pt x="60933" y="15885"/>
                  </a:cubicBezTo>
                  <a:cubicBezTo>
                    <a:pt x="55230" y="6040"/>
                    <a:pt x="44695" y="0"/>
                    <a:pt x="33318" y="51"/>
                  </a:cubicBezTo>
                  <a:close/>
                </a:path>
              </a:pathLst>
            </a:custGeom>
            <a:solidFill>
              <a:srgbClr val="FFFFFF"/>
            </a:solidFill>
          </p:spPr>
        </p:sp>
        <p:sp>
          <p:nvSpPr>
            <p:cNvPr name="Freeform 8" id="8"/>
            <p:cNvSpPr/>
            <p:nvPr/>
          </p:nvSpPr>
          <p:spPr>
            <a:xfrm flipH="false" flipV="false" rot="0">
              <a:off x="0" y="685800"/>
              <a:ext cx="27940" cy="213360"/>
            </a:xfrm>
            <a:custGeom>
              <a:avLst/>
              <a:gdLst/>
              <a:ahLst/>
              <a:cxnLst/>
              <a:rect r="r" b="b" t="t" l="l"/>
              <a:pathLst>
                <a:path h="213360" w="2794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FFFFFF"/>
            </a:solidFill>
          </p:spPr>
        </p:sp>
        <p:sp>
          <p:nvSpPr>
            <p:cNvPr name="Freeform 9" id="9"/>
            <p:cNvSpPr/>
            <p:nvPr/>
          </p:nvSpPr>
          <p:spPr>
            <a:xfrm flipH="false" flipV="false" rot="0">
              <a:off x="0" y="1057910"/>
              <a:ext cx="27940" cy="384810"/>
            </a:xfrm>
            <a:custGeom>
              <a:avLst/>
              <a:gdLst/>
              <a:ahLst/>
              <a:cxnLst/>
              <a:rect r="r" b="b" t="t" l="l"/>
              <a:pathLst>
                <a:path h="384810" w="2794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FFFFFF"/>
            </a:solidFill>
          </p:spPr>
        </p:sp>
        <p:sp>
          <p:nvSpPr>
            <p:cNvPr name="Freeform 10" id="10"/>
            <p:cNvSpPr/>
            <p:nvPr/>
          </p:nvSpPr>
          <p:spPr>
            <a:xfrm flipH="false" flipV="false" rot="0">
              <a:off x="0" y="1526540"/>
              <a:ext cx="27940" cy="386080"/>
            </a:xfrm>
            <a:custGeom>
              <a:avLst/>
              <a:gdLst/>
              <a:ahLst/>
              <a:cxnLst/>
              <a:rect r="r" b="b" t="t" l="l"/>
              <a:pathLst>
                <a:path h="386080" w="2794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FFFFFF"/>
            </a:solidFill>
          </p:spPr>
        </p:sp>
        <p:sp>
          <p:nvSpPr>
            <p:cNvPr name="Freeform 11" id="11"/>
            <p:cNvSpPr/>
            <p:nvPr/>
          </p:nvSpPr>
          <p:spPr>
            <a:xfrm flipH="false" flipV="false" rot="0">
              <a:off x="2592070" y="1184910"/>
              <a:ext cx="27940" cy="618490"/>
            </a:xfrm>
            <a:custGeom>
              <a:avLst/>
              <a:gdLst/>
              <a:ahLst/>
              <a:cxnLst/>
              <a:rect r="r" b="b" t="t" l="l"/>
              <a:pathLst>
                <a:path h="618490" w="2794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FFFFFF"/>
            </a:solidFill>
          </p:spPr>
        </p:sp>
        <p:sp>
          <p:nvSpPr>
            <p:cNvPr name="Freeform 12" id="12"/>
            <p:cNvSpPr/>
            <p:nvPr/>
          </p:nvSpPr>
          <p:spPr>
            <a:xfrm flipH="false" flipV="false" rot="0">
              <a:off x="27940" y="0"/>
              <a:ext cx="2564130" cy="5182870"/>
            </a:xfrm>
            <a:custGeom>
              <a:avLst/>
              <a:gdLst/>
              <a:ahLst/>
              <a:cxnLst/>
              <a:rect r="r" b="b" t="t" l="l"/>
              <a:pathLst>
                <a:path h="5182870" w="256413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10B5BF"/>
            </a:solidFill>
          </p:spPr>
        </p:sp>
      </p:grpSp>
      <p:sp>
        <p:nvSpPr>
          <p:cNvPr name="TextBox 13" id="13"/>
          <p:cNvSpPr txBox="true"/>
          <p:nvPr/>
        </p:nvSpPr>
        <p:spPr>
          <a:xfrm rot="0">
            <a:off x="7639050" y="2564886"/>
            <a:ext cx="8833319" cy="2600325"/>
          </a:xfrm>
          <a:prstGeom prst="rect">
            <a:avLst/>
          </a:prstGeom>
        </p:spPr>
        <p:txBody>
          <a:bodyPr anchor="t" rtlCol="false" tIns="0" lIns="0" bIns="0" rIns="0">
            <a:spAutoFit/>
          </a:bodyPr>
          <a:lstStyle/>
          <a:p>
            <a:pPr algn="l">
              <a:lnSpc>
                <a:spcPts val="10290"/>
              </a:lnSpc>
            </a:pPr>
            <a:r>
              <a:rPr lang="en-US" sz="8575" b="true">
                <a:solidFill>
                  <a:srgbClr val="FFFFFF"/>
                </a:solidFill>
                <a:latin typeface="Poppins Medium Bold"/>
                <a:ea typeface="Poppins Medium Bold"/>
                <a:cs typeface="Poppins Medium Bold"/>
                <a:sym typeface="Poppins Medium Bold"/>
              </a:rPr>
              <a:t>¿Qué es Programación?</a:t>
            </a:r>
          </a:p>
        </p:txBody>
      </p:sp>
      <p:sp>
        <p:nvSpPr>
          <p:cNvPr name="TextBox 14" id="14"/>
          <p:cNvSpPr txBox="true"/>
          <p:nvPr/>
        </p:nvSpPr>
        <p:spPr>
          <a:xfrm rot="0">
            <a:off x="7639050" y="5710315"/>
            <a:ext cx="8833319" cy="2004060"/>
          </a:xfrm>
          <a:prstGeom prst="rect">
            <a:avLst/>
          </a:prstGeom>
        </p:spPr>
        <p:txBody>
          <a:bodyPr anchor="t" rtlCol="false" tIns="0" lIns="0" bIns="0" rIns="0">
            <a:spAutoFit/>
          </a:bodyPr>
          <a:lstStyle/>
          <a:p>
            <a:pPr algn="l">
              <a:lnSpc>
                <a:spcPts val="3990"/>
              </a:lnSpc>
            </a:pPr>
            <a:r>
              <a:rPr lang="en-US" sz="2850">
                <a:solidFill>
                  <a:srgbClr val="FFFFFF"/>
                </a:solidFill>
                <a:latin typeface="Poppins Light"/>
                <a:ea typeface="Poppins Light"/>
                <a:cs typeface="Poppins Light"/>
                <a:sym typeface="Poppins Light"/>
              </a:rPr>
              <a:t>La programación es el proceso de diseñar y construir un conjunto de instrucciones que le dicen a una computadora cómo realizar una tarea específica.</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141414"/>
        </a:solidFill>
      </p:bgPr>
    </p:bg>
    <p:spTree>
      <p:nvGrpSpPr>
        <p:cNvPr id="1" name=""/>
        <p:cNvGrpSpPr/>
        <p:nvPr/>
      </p:nvGrpSpPr>
      <p:grpSpPr>
        <a:xfrm>
          <a:off x="0" y="0"/>
          <a:ext cx="0" cy="0"/>
          <a:chOff x="0" y="0"/>
          <a:chExt cx="0" cy="0"/>
        </a:xfrm>
      </p:grpSpPr>
      <p:sp>
        <p:nvSpPr>
          <p:cNvPr name="Freeform 2" id="2"/>
          <p:cNvSpPr/>
          <p:nvPr/>
        </p:nvSpPr>
        <p:spPr>
          <a:xfrm flipH="false" flipV="false" rot="0">
            <a:off x="14436964" y="410048"/>
            <a:ext cx="3282359" cy="3383875"/>
          </a:xfrm>
          <a:custGeom>
            <a:avLst/>
            <a:gdLst/>
            <a:ahLst/>
            <a:cxnLst/>
            <a:rect r="r" b="b" t="t" l="l"/>
            <a:pathLst>
              <a:path h="3383875" w="3282359">
                <a:moveTo>
                  <a:pt x="0" y="0"/>
                </a:moveTo>
                <a:lnTo>
                  <a:pt x="3282359" y="0"/>
                </a:lnTo>
                <a:lnTo>
                  <a:pt x="3282359" y="3383875"/>
                </a:lnTo>
                <a:lnTo>
                  <a:pt x="0" y="3383875"/>
                </a:lnTo>
                <a:lnTo>
                  <a:pt x="0" y="0"/>
                </a:lnTo>
                <a:close/>
              </a:path>
            </a:pathLst>
          </a:custGeom>
          <a:blipFill>
            <a:blip r:embed="rId3"/>
            <a:stretch>
              <a:fillRect l="0" t="0" r="0" b="0"/>
            </a:stretch>
          </a:blipFill>
        </p:spPr>
      </p:sp>
      <p:grpSp>
        <p:nvGrpSpPr>
          <p:cNvPr name="Group 3" id="3"/>
          <p:cNvGrpSpPr>
            <a:grpSpLocks noChangeAspect="true"/>
          </p:cNvGrpSpPr>
          <p:nvPr/>
        </p:nvGrpSpPr>
        <p:grpSpPr>
          <a:xfrm rot="0">
            <a:off x="1914361" y="1028700"/>
            <a:ext cx="4159154" cy="8229600"/>
            <a:chOff x="0" y="0"/>
            <a:chExt cx="2620010" cy="5184140"/>
          </a:xfrm>
        </p:grpSpPr>
        <p:sp>
          <p:nvSpPr>
            <p:cNvPr name="Freeform 4" id="4"/>
            <p:cNvSpPr/>
            <p:nvPr/>
          </p:nvSpPr>
          <p:spPr>
            <a:xfrm flipH="false" flipV="false" rot="0">
              <a:off x="53340" y="25400"/>
              <a:ext cx="2513330" cy="5132070"/>
            </a:xfrm>
            <a:custGeom>
              <a:avLst/>
              <a:gdLst/>
              <a:ahLst/>
              <a:cxnLst/>
              <a:rect r="r" b="b" t="t" l="l"/>
              <a:pathLst>
                <a:path h="5132070" w="251333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141414"/>
            </a:solidFill>
          </p:spPr>
        </p:sp>
        <p:sp>
          <p:nvSpPr>
            <p:cNvPr name="Freeform 5" id="5"/>
            <p:cNvSpPr/>
            <p:nvPr/>
          </p:nvSpPr>
          <p:spPr>
            <a:xfrm flipH="false" flipV="false" rot="0">
              <a:off x="185420" y="156210"/>
              <a:ext cx="2251710" cy="4876800"/>
            </a:xfrm>
            <a:custGeom>
              <a:avLst/>
              <a:gdLst/>
              <a:ahLst/>
              <a:cxnLst/>
              <a:rect r="r" b="b" t="t" l="l"/>
              <a:pathLst>
                <a:path h="4876800" w="2251710">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a:blip r:embed="rId4"/>
              <a:stretch>
                <a:fillRect l="-112476" t="0" r="-112476" b="0"/>
              </a:stretch>
            </a:blipFill>
          </p:spPr>
        </p:sp>
        <p:sp>
          <p:nvSpPr>
            <p:cNvPr name="Freeform 6" id="6"/>
            <p:cNvSpPr/>
            <p:nvPr/>
          </p:nvSpPr>
          <p:spPr>
            <a:xfrm flipH="false" flipV="false" rot="0">
              <a:off x="1121410" y="198120"/>
              <a:ext cx="347980" cy="43180"/>
            </a:xfrm>
            <a:custGeom>
              <a:avLst/>
              <a:gdLst/>
              <a:ahLst/>
              <a:cxnLst/>
              <a:rect r="r" b="b" t="t" l="l"/>
              <a:pathLst>
                <a:path h="43180" w="3479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FFFFFF"/>
            </a:solidFill>
          </p:spPr>
        </p:sp>
        <p:sp>
          <p:nvSpPr>
            <p:cNvPr name="Freeform 7" id="7"/>
            <p:cNvSpPr/>
            <p:nvPr/>
          </p:nvSpPr>
          <p:spPr>
            <a:xfrm flipH="false" flipV="false" rot="0">
              <a:off x="1578312" y="187909"/>
              <a:ext cx="66636" cy="63602"/>
            </a:xfrm>
            <a:custGeom>
              <a:avLst/>
              <a:gdLst/>
              <a:ahLst/>
              <a:cxnLst/>
              <a:rect r="r" b="b" t="t" l="l"/>
              <a:pathLst>
                <a:path h="63602" w="66636">
                  <a:moveTo>
                    <a:pt x="33318" y="51"/>
                  </a:moveTo>
                  <a:cubicBezTo>
                    <a:pt x="21941" y="0"/>
                    <a:pt x="11406" y="6040"/>
                    <a:pt x="5703" y="15885"/>
                  </a:cubicBezTo>
                  <a:cubicBezTo>
                    <a:pt x="0" y="25729"/>
                    <a:pt x="0" y="37873"/>
                    <a:pt x="5703" y="47717"/>
                  </a:cubicBezTo>
                  <a:cubicBezTo>
                    <a:pt x="11406" y="57562"/>
                    <a:pt x="21941" y="63602"/>
                    <a:pt x="33318" y="63551"/>
                  </a:cubicBezTo>
                  <a:cubicBezTo>
                    <a:pt x="44695" y="63602"/>
                    <a:pt x="55230" y="57562"/>
                    <a:pt x="60933" y="47717"/>
                  </a:cubicBezTo>
                  <a:cubicBezTo>
                    <a:pt x="66636" y="37873"/>
                    <a:pt x="66636" y="25729"/>
                    <a:pt x="60933" y="15885"/>
                  </a:cubicBezTo>
                  <a:cubicBezTo>
                    <a:pt x="55230" y="6040"/>
                    <a:pt x="44695" y="0"/>
                    <a:pt x="33318" y="51"/>
                  </a:cubicBezTo>
                  <a:close/>
                </a:path>
              </a:pathLst>
            </a:custGeom>
            <a:solidFill>
              <a:srgbClr val="FFFFFF"/>
            </a:solidFill>
          </p:spPr>
        </p:sp>
        <p:sp>
          <p:nvSpPr>
            <p:cNvPr name="Freeform 8" id="8"/>
            <p:cNvSpPr/>
            <p:nvPr/>
          </p:nvSpPr>
          <p:spPr>
            <a:xfrm flipH="false" flipV="false" rot="0">
              <a:off x="0" y="685800"/>
              <a:ext cx="27940" cy="213360"/>
            </a:xfrm>
            <a:custGeom>
              <a:avLst/>
              <a:gdLst/>
              <a:ahLst/>
              <a:cxnLst/>
              <a:rect r="r" b="b" t="t" l="l"/>
              <a:pathLst>
                <a:path h="213360" w="2794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FFFFFF"/>
            </a:solidFill>
          </p:spPr>
        </p:sp>
        <p:sp>
          <p:nvSpPr>
            <p:cNvPr name="Freeform 9" id="9"/>
            <p:cNvSpPr/>
            <p:nvPr/>
          </p:nvSpPr>
          <p:spPr>
            <a:xfrm flipH="false" flipV="false" rot="0">
              <a:off x="0" y="1057910"/>
              <a:ext cx="27940" cy="384810"/>
            </a:xfrm>
            <a:custGeom>
              <a:avLst/>
              <a:gdLst/>
              <a:ahLst/>
              <a:cxnLst/>
              <a:rect r="r" b="b" t="t" l="l"/>
              <a:pathLst>
                <a:path h="384810" w="2794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FFFFFF"/>
            </a:solidFill>
          </p:spPr>
        </p:sp>
        <p:sp>
          <p:nvSpPr>
            <p:cNvPr name="Freeform 10" id="10"/>
            <p:cNvSpPr/>
            <p:nvPr/>
          </p:nvSpPr>
          <p:spPr>
            <a:xfrm flipH="false" flipV="false" rot="0">
              <a:off x="0" y="1526540"/>
              <a:ext cx="27940" cy="386080"/>
            </a:xfrm>
            <a:custGeom>
              <a:avLst/>
              <a:gdLst/>
              <a:ahLst/>
              <a:cxnLst/>
              <a:rect r="r" b="b" t="t" l="l"/>
              <a:pathLst>
                <a:path h="386080" w="2794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FFFFFF"/>
            </a:solidFill>
          </p:spPr>
        </p:sp>
        <p:sp>
          <p:nvSpPr>
            <p:cNvPr name="Freeform 11" id="11"/>
            <p:cNvSpPr/>
            <p:nvPr/>
          </p:nvSpPr>
          <p:spPr>
            <a:xfrm flipH="false" flipV="false" rot="0">
              <a:off x="2592070" y="1184910"/>
              <a:ext cx="27940" cy="618490"/>
            </a:xfrm>
            <a:custGeom>
              <a:avLst/>
              <a:gdLst/>
              <a:ahLst/>
              <a:cxnLst/>
              <a:rect r="r" b="b" t="t" l="l"/>
              <a:pathLst>
                <a:path h="618490" w="2794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FFFFFF"/>
            </a:solidFill>
          </p:spPr>
        </p:sp>
        <p:sp>
          <p:nvSpPr>
            <p:cNvPr name="Freeform 12" id="12"/>
            <p:cNvSpPr/>
            <p:nvPr/>
          </p:nvSpPr>
          <p:spPr>
            <a:xfrm flipH="false" flipV="false" rot="0">
              <a:off x="27940" y="0"/>
              <a:ext cx="2564130" cy="5182870"/>
            </a:xfrm>
            <a:custGeom>
              <a:avLst/>
              <a:gdLst/>
              <a:ahLst/>
              <a:cxnLst/>
              <a:rect r="r" b="b" t="t" l="l"/>
              <a:pathLst>
                <a:path h="5182870" w="256413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10B5BF"/>
            </a:solidFill>
          </p:spPr>
        </p:sp>
      </p:grpSp>
      <p:sp>
        <p:nvSpPr>
          <p:cNvPr name="TextBox 13" id="13"/>
          <p:cNvSpPr txBox="true"/>
          <p:nvPr/>
        </p:nvSpPr>
        <p:spPr>
          <a:xfrm rot="0">
            <a:off x="7639050" y="1912423"/>
            <a:ext cx="8833319" cy="3905250"/>
          </a:xfrm>
          <a:prstGeom prst="rect">
            <a:avLst/>
          </a:prstGeom>
        </p:spPr>
        <p:txBody>
          <a:bodyPr anchor="t" rtlCol="false" tIns="0" lIns="0" bIns="0" rIns="0">
            <a:spAutoFit/>
          </a:bodyPr>
          <a:lstStyle/>
          <a:p>
            <a:pPr algn="l">
              <a:lnSpc>
                <a:spcPts val="10290"/>
              </a:lnSpc>
            </a:pPr>
            <a:r>
              <a:rPr lang="en-US" sz="8575" b="true">
                <a:solidFill>
                  <a:srgbClr val="FFFFFF"/>
                </a:solidFill>
                <a:latin typeface="Poppins Medium Bold"/>
                <a:ea typeface="Poppins Medium Bold"/>
                <a:cs typeface="Poppins Medium Bold"/>
                <a:sym typeface="Poppins Medium Bold"/>
              </a:rPr>
              <a:t>¿Qué es un lenguaje de Programación?</a:t>
            </a:r>
          </a:p>
        </p:txBody>
      </p:sp>
      <p:sp>
        <p:nvSpPr>
          <p:cNvPr name="TextBox 14" id="14"/>
          <p:cNvSpPr txBox="true"/>
          <p:nvPr/>
        </p:nvSpPr>
        <p:spPr>
          <a:xfrm rot="0">
            <a:off x="7639050" y="6362718"/>
            <a:ext cx="8833319" cy="2004060"/>
          </a:xfrm>
          <a:prstGeom prst="rect">
            <a:avLst/>
          </a:prstGeom>
        </p:spPr>
        <p:txBody>
          <a:bodyPr anchor="t" rtlCol="false" tIns="0" lIns="0" bIns="0" rIns="0">
            <a:spAutoFit/>
          </a:bodyPr>
          <a:lstStyle/>
          <a:p>
            <a:pPr algn="l">
              <a:lnSpc>
                <a:spcPts val="3990"/>
              </a:lnSpc>
            </a:pPr>
            <a:r>
              <a:rPr lang="en-US" sz="2850">
                <a:solidFill>
                  <a:srgbClr val="FFFFFF"/>
                </a:solidFill>
                <a:latin typeface="Poppins Light"/>
                <a:ea typeface="Poppins Light"/>
                <a:cs typeface="Poppins Light"/>
                <a:sym typeface="Poppins Light"/>
              </a:rPr>
              <a:t>Un lenguaje de programación es un conjunto de reglas y sintaxis que permiten a los programadores escribir instrucciones que una computadora puede entender y ejecutar.</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141414"/>
        </a:solidFill>
      </p:bgPr>
    </p:bg>
    <p:spTree>
      <p:nvGrpSpPr>
        <p:cNvPr id="1" name=""/>
        <p:cNvGrpSpPr/>
        <p:nvPr/>
      </p:nvGrpSpPr>
      <p:grpSpPr>
        <a:xfrm>
          <a:off x="0" y="0"/>
          <a:ext cx="0" cy="0"/>
          <a:chOff x="0" y="0"/>
          <a:chExt cx="0" cy="0"/>
        </a:xfrm>
      </p:grpSpPr>
      <p:sp>
        <p:nvSpPr>
          <p:cNvPr name="AutoShape 2" id="2"/>
          <p:cNvSpPr/>
          <p:nvPr/>
        </p:nvSpPr>
        <p:spPr>
          <a:xfrm rot="-5400000">
            <a:off x="5324805" y="5133975"/>
            <a:ext cx="7638389" cy="0"/>
          </a:xfrm>
          <a:prstGeom prst="line">
            <a:avLst/>
          </a:prstGeom>
          <a:ln cap="rnd" w="19050">
            <a:solidFill>
              <a:srgbClr val="10B5BF"/>
            </a:solidFill>
            <a:prstDash val="solid"/>
            <a:headEnd type="none" len="sm" w="sm"/>
            <a:tailEnd type="none" len="sm" w="sm"/>
          </a:ln>
        </p:spPr>
      </p:sp>
      <p:grpSp>
        <p:nvGrpSpPr>
          <p:cNvPr name="Group 3" id="3"/>
          <p:cNvGrpSpPr/>
          <p:nvPr/>
        </p:nvGrpSpPr>
        <p:grpSpPr>
          <a:xfrm rot="0">
            <a:off x="1264842" y="3118003"/>
            <a:ext cx="6167680" cy="2143413"/>
            <a:chOff x="0" y="0"/>
            <a:chExt cx="8223573" cy="2857883"/>
          </a:xfrm>
        </p:grpSpPr>
        <p:sp>
          <p:nvSpPr>
            <p:cNvPr name="TextBox 4" id="4"/>
            <p:cNvSpPr txBox="true"/>
            <p:nvPr/>
          </p:nvSpPr>
          <p:spPr>
            <a:xfrm rot="0">
              <a:off x="0" y="2255903"/>
              <a:ext cx="8223573" cy="419100"/>
            </a:xfrm>
            <a:prstGeom prst="rect">
              <a:avLst/>
            </a:prstGeom>
          </p:spPr>
          <p:txBody>
            <a:bodyPr anchor="t" rtlCol="false" tIns="0" lIns="0" bIns="0" rIns="0">
              <a:spAutoFit/>
            </a:bodyPr>
            <a:lstStyle/>
            <a:p>
              <a:pPr algn="l">
                <a:lnSpc>
                  <a:spcPts val="2520"/>
                </a:lnSpc>
              </a:pPr>
              <a:r>
                <a:rPr lang="en-US" sz="2100">
                  <a:solidFill>
                    <a:srgbClr val="10B5BF"/>
                  </a:solidFill>
                  <a:latin typeface="Poppins Medium"/>
                  <a:ea typeface="Poppins Medium"/>
                  <a:cs typeface="Poppins Medium"/>
                  <a:sym typeface="Poppins Medium"/>
                </a:rPr>
                <a:t>¿Qué es una variable?</a:t>
              </a:r>
            </a:p>
          </p:txBody>
        </p:sp>
        <p:sp>
          <p:nvSpPr>
            <p:cNvPr name="TextBox 5" id="5"/>
            <p:cNvSpPr txBox="true"/>
            <p:nvPr/>
          </p:nvSpPr>
          <p:spPr>
            <a:xfrm rot="0">
              <a:off x="0" y="0"/>
              <a:ext cx="8223573" cy="1358900"/>
            </a:xfrm>
            <a:prstGeom prst="rect">
              <a:avLst/>
            </a:prstGeom>
          </p:spPr>
          <p:txBody>
            <a:bodyPr anchor="t" rtlCol="false" tIns="0" lIns="0" bIns="0" rIns="0">
              <a:spAutoFit/>
            </a:bodyPr>
            <a:lstStyle/>
            <a:p>
              <a:pPr algn="l">
                <a:lnSpc>
                  <a:spcPts val="8039"/>
                </a:lnSpc>
              </a:pPr>
              <a:r>
                <a:rPr lang="en-US" sz="6700" b="true">
                  <a:solidFill>
                    <a:srgbClr val="FFFFFF"/>
                  </a:solidFill>
                  <a:latin typeface="Poppins Medium Bold"/>
                  <a:ea typeface="Poppins Medium Bold"/>
                  <a:cs typeface="Poppins Medium Bold"/>
                  <a:sym typeface="Poppins Medium Bold"/>
                </a:rPr>
                <a:t>Variables</a:t>
              </a:r>
            </a:p>
          </p:txBody>
        </p:sp>
      </p:grpSp>
      <p:sp>
        <p:nvSpPr>
          <p:cNvPr name="Freeform 6" id="6"/>
          <p:cNvSpPr/>
          <p:nvPr/>
        </p:nvSpPr>
        <p:spPr>
          <a:xfrm flipH="false" flipV="false" rot="0">
            <a:off x="5741579" y="446083"/>
            <a:ext cx="2923946" cy="3148126"/>
          </a:xfrm>
          <a:custGeom>
            <a:avLst/>
            <a:gdLst/>
            <a:ahLst/>
            <a:cxnLst/>
            <a:rect r="r" b="b" t="t" l="l"/>
            <a:pathLst>
              <a:path h="3148126" w="2923946">
                <a:moveTo>
                  <a:pt x="0" y="0"/>
                </a:moveTo>
                <a:lnTo>
                  <a:pt x="2923946" y="0"/>
                </a:lnTo>
                <a:lnTo>
                  <a:pt x="2923946" y="3148126"/>
                </a:lnTo>
                <a:lnTo>
                  <a:pt x="0" y="314812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10114793" y="742940"/>
            <a:ext cx="6302836" cy="466725"/>
          </a:xfrm>
          <a:prstGeom prst="rect">
            <a:avLst/>
          </a:prstGeom>
        </p:spPr>
        <p:txBody>
          <a:bodyPr anchor="t" rtlCol="false" tIns="0" lIns="0" bIns="0" rIns="0">
            <a:spAutoFit/>
          </a:bodyPr>
          <a:lstStyle/>
          <a:p>
            <a:pPr algn="l">
              <a:lnSpc>
                <a:spcPts val="3600"/>
              </a:lnSpc>
            </a:pPr>
            <a:r>
              <a:rPr lang="en-US" sz="3000">
                <a:solidFill>
                  <a:srgbClr val="FFFFFF"/>
                </a:solidFill>
                <a:latin typeface="Poppins Medium"/>
                <a:ea typeface="Poppins Medium"/>
                <a:cs typeface="Poppins Medium"/>
                <a:sym typeface="Poppins Medium"/>
              </a:rPr>
              <a:t>CONCEPTO GENERAL</a:t>
            </a:r>
          </a:p>
        </p:txBody>
      </p:sp>
      <p:sp>
        <p:nvSpPr>
          <p:cNvPr name="TextBox 8" id="8"/>
          <p:cNvSpPr txBox="true"/>
          <p:nvPr/>
        </p:nvSpPr>
        <p:spPr>
          <a:xfrm rot="0">
            <a:off x="10114793" y="1325921"/>
            <a:ext cx="6302836" cy="962660"/>
          </a:xfrm>
          <a:prstGeom prst="rect">
            <a:avLst/>
          </a:prstGeom>
        </p:spPr>
        <p:txBody>
          <a:bodyPr anchor="t" rtlCol="false" tIns="0" lIns="0" bIns="0" rIns="0">
            <a:spAutoFit/>
          </a:bodyPr>
          <a:lstStyle/>
          <a:p>
            <a:pPr algn="l">
              <a:lnSpc>
                <a:spcPts val="2590"/>
              </a:lnSpc>
            </a:pPr>
            <a:r>
              <a:rPr lang="en-US" sz="1850">
                <a:solidFill>
                  <a:srgbClr val="FFFFFF"/>
                </a:solidFill>
                <a:latin typeface="Poppins Light"/>
                <a:ea typeface="Poppins Light"/>
                <a:cs typeface="Poppins Light"/>
                <a:sym typeface="Poppins Light"/>
              </a:rPr>
              <a:t>Una variable es un contenedor que almacena datos que pueden ser cambiados durante la ejecución de un programa.</a:t>
            </a:r>
          </a:p>
        </p:txBody>
      </p:sp>
      <p:sp>
        <p:nvSpPr>
          <p:cNvPr name="TextBox 9" id="9"/>
          <p:cNvSpPr txBox="true"/>
          <p:nvPr/>
        </p:nvSpPr>
        <p:spPr>
          <a:xfrm rot="0">
            <a:off x="10114793" y="3027721"/>
            <a:ext cx="6302836" cy="466725"/>
          </a:xfrm>
          <a:prstGeom prst="rect">
            <a:avLst/>
          </a:prstGeom>
        </p:spPr>
        <p:txBody>
          <a:bodyPr anchor="t" rtlCol="false" tIns="0" lIns="0" bIns="0" rIns="0">
            <a:spAutoFit/>
          </a:bodyPr>
          <a:lstStyle/>
          <a:p>
            <a:pPr algn="l">
              <a:lnSpc>
                <a:spcPts val="3600"/>
              </a:lnSpc>
            </a:pPr>
            <a:r>
              <a:rPr lang="en-US" sz="3000">
                <a:solidFill>
                  <a:srgbClr val="FFFFFF"/>
                </a:solidFill>
                <a:latin typeface="Poppins Medium"/>
                <a:ea typeface="Poppins Medium"/>
                <a:cs typeface="Poppins Medium"/>
                <a:sym typeface="Poppins Medium"/>
              </a:rPr>
              <a:t>IMPORTANCIA DE VARIABLES</a:t>
            </a:r>
          </a:p>
        </p:txBody>
      </p:sp>
      <p:sp>
        <p:nvSpPr>
          <p:cNvPr name="TextBox 10" id="10"/>
          <p:cNvSpPr txBox="true"/>
          <p:nvPr/>
        </p:nvSpPr>
        <p:spPr>
          <a:xfrm rot="0">
            <a:off x="10114793" y="3610701"/>
            <a:ext cx="6302836" cy="1286510"/>
          </a:xfrm>
          <a:prstGeom prst="rect">
            <a:avLst/>
          </a:prstGeom>
        </p:spPr>
        <p:txBody>
          <a:bodyPr anchor="t" rtlCol="false" tIns="0" lIns="0" bIns="0" rIns="0">
            <a:spAutoFit/>
          </a:bodyPr>
          <a:lstStyle/>
          <a:p>
            <a:pPr algn="l" marL="399416" indent="-199708" lvl="1">
              <a:lnSpc>
                <a:spcPts val="2590"/>
              </a:lnSpc>
              <a:buFont typeface="Arial"/>
              <a:buChar char="•"/>
            </a:pPr>
            <a:r>
              <a:rPr lang="en-US" sz="1850">
                <a:solidFill>
                  <a:srgbClr val="FFFFFF"/>
                </a:solidFill>
                <a:latin typeface="Poppins Light"/>
                <a:ea typeface="Poppins Light"/>
                <a:cs typeface="Poppins Light"/>
                <a:sym typeface="Poppins Light"/>
              </a:rPr>
              <a:t>F</a:t>
            </a:r>
            <a:r>
              <a:rPr lang="en-US" sz="1850">
                <a:solidFill>
                  <a:srgbClr val="FFFFFF"/>
                </a:solidFill>
                <a:latin typeface="Poppins Light"/>
                <a:ea typeface="Poppins Light"/>
                <a:cs typeface="Poppins Light"/>
                <a:sym typeface="Poppins Light"/>
              </a:rPr>
              <a:t>acilita la manipulación y procesamiento de datos.</a:t>
            </a:r>
          </a:p>
          <a:p>
            <a:pPr algn="l" marL="399416" indent="-199708" lvl="1">
              <a:lnSpc>
                <a:spcPts val="2590"/>
              </a:lnSpc>
              <a:buFont typeface="Arial"/>
              <a:buChar char="•"/>
            </a:pPr>
            <a:r>
              <a:rPr lang="en-US" sz="1850">
                <a:solidFill>
                  <a:srgbClr val="FFFFFF"/>
                </a:solidFill>
                <a:latin typeface="Poppins Light"/>
                <a:ea typeface="Poppins Light"/>
                <a:cs typeface="Poppins Light"/>
                <a:sym typeface="Poppins Light"/>
              </a:rPr>
              <a:t>Permite realizar cálculos y operaciones dinámicas.</a:t>
            </a:r>
          </a:p>
          <a:p>
            <a:pPr algn="l" marL="399415" indent="-199708" lvl="1">
              <a:lnSpc>
                <a:spcPts val="2590"/>
              </a:lnSpc>
              <a:buFont typeface="Arial"/>
              <a:buChar char="•"/>
            </a:pPr>
            <a:r>
              <a:rPr lang="en-US" sz="1850">
                <a:solidFill>
                  <a:srgbClr val="FFFFFF"/>
                </a:solidFill>
                <a:latin typeface="Poppins Light"/>
                <a:ea typeface="Poppins Light"/>
                <a:cs typeface="Poppins Light"/>
                <a:sym typeface="Poppins Light"/>
              </a:rPr>
              <a:t>Mejora la legibilidad y mantenibilidad del código.</a:t>
            </a:r>
          </a:p>
          <a:p>
            <a:pPr algn="l">
              <a:lnSpc>
                <a:spcPts val="2590"/>
              </a:lnSpc>
            </a:pPr>
          </a:p>
        </p:txBody>
      </p:sp>
      <p:grpSp>
        <p:nvGrpSpPr>
          <p:cNvPr name="Group 11" id="11"/>
          <p:cNvGrpSpPr/>
          <p:nvPr/>
        </p:nvGrpSpPr>
        <p:grpSpPr>
          <a:xfrm rot="0">
            <a:off x="10114793" y="4965257"/>
            <a:ext cx="6302836" cy="4293043"/>
            <a:chOff x="0" y="0"/>
            <a:chExt cx="8403782" cy="5724057"/>
          </a:xfrm>
        </p:grpSpPr>
        <p:sp>
          <p:nvSpPr>
            <p:cNvPr name="Freeform 12" id="12"/>
            <p:cNvSpPr/>
            <p:nvPr/>
          </p:nvSpPr>
          <p:spPr>
            <a:xfrm flipH="false" flipV="false" rot="0">
              <a:off x="0" y="584121"/>
              <a:ext cx="3946033" cy="2137435"/>
            </a:xfrm>
            <a:custGeom>
              <a:avLst/>
              <a:gdLst/>
              <a:ahLst/>
              <a:cxnLst/>
              <a:rect r="r" b="b" t="t" l="l"/>
              <a:pathLst>
                <a:path h="2137435" w="3946033">
                  <a:moveTo>
                    <a:pt x="0" y="0"/>
                  </a:moveTo>
                  <a:lnTo>
                    <a:pt x="3946033" y="0"/>
                  </a:lnTo>
                  <a:lnTo>
                    <a:pt x="3946033" y="2137434"/>
                  </a:lnTo>
                  <a:lnTo>
                    <a:pt x="0" y="2137434"/>
                  </a:lnTo>
                  <a:lnTo>
                    <a:pt x="0" y="0"/>
                  </a:lnTo>
                  <a:close/>
                </a:path>
              </a:pathLst>
            </a:custGeom>
            <a:blipFill>
              <a:blip r:embed="rId5"/>
              <a:stretch>
                <a:fillRect l="0" t="0" r="0" b="0"/>
              </a:stretch>
            </a:blipFill>
          </p:spPr>
        </p:sp>
        <p:sp>
          <p:nvSpPr>
            <p:cNvPr name="Freeform 13" id="13"/>
            <p:cNvSpPr/>
            <p:nvPr/>
          </p:nvSpPr>
          <p:spPr>
            <a:xfrm flipH="false" flipV="false" rot="0">
              <a:off x="0" y="3649998"/>
              <a:ext cx="6087748" cy="2074059"/>
            </a:xfrm>
            <a:custGeom>
              <a:avLst/>
              <a:gdLst/>
              <a:ahLst/>
              <a:cxnLst/>
              <a:rect r="r" b="b" t="t" l="l"/>
              <a:pathLst>
                <a:path h="2074059" w="6087748">
                  <a:moveTo>
                    <a:pt x="0" y="0"/>
                  </a:moveTo>
                  <a:lnTo>
                    <a:pt x="6087748" y="0"/>
                  </a:lnTo>
                  <a:lnTo>
                    <a:pt x="6087748" y="2074059"/>
                  </a:lnTo>
                  <a:lnTo>
                    <a:pt x="0" y="2074059"/>
                  </a:lnTo>
                  <a:lnTo>
                    <a:pt x="0" y="0"/>
                  </a:lnTo>
                  <a:close/>
                </a:path>
              </a:pathLst>
            </a:custGeom>
            <a:blipFill>
              <a:blip r:embed="rId6"/>
              <a:stretch>
                <a:fillRect l="0" t="0" r="0" b="0"/>
              </a:stretch>
            </a:blipFill>
          </p:spPr>
        </p:sp>
        <p:sp>
          <p:nvSpPr>
            <p:cNvPr name="TextBox 14" id="14"/>
            <p:cNvSpPr txBox="true"/>
            <p:nvPr/>
          </p:nvSpPr>
          <p:spPr>
            <a:xfrm rot="0">
              <a:off x="0" y="0"/>
              <a:ext cx="8403782" cy="584121"/>
            </a:xfrm>
            <a:prstGeom prst="rect">
              <a:avLst/>
            </a:prstGeom>
          </p:spPr>
          <p:txBody>
            <a:bodyPr anchor="t" rtlCol="false" tIns="0" lIns="0" bIns="0" rIns="0">
              <a:spAutoFit/>
            </a:bodyPr>
            <a:lstStyle/>
            <a:p>
              <a:pPr algn="l">
                <a:lnSpc>
                  <a:spcPts val="3510"/>
                </a:lnSpc>
              </a:pPr>
              <a:r>
                <a:rPr lang="en-US" sz="2925">
                  <a:solidFill>
                    <a:srgbClr val="FFFFFF"/>
                  </a:solidFill>
                  <a:latin typeface="Poppins Medium"/>
                  <a:ea typeface="Poppins Medium"/>
                  <a:cs typeface="Poppins Medium"/>
                  <a:sym typeface="Poppins Medium"/>
                </a:rPr>
                <a:t>EJEMPLO 1:</a:t>
              </a:r>
            </a:p>
          </p:txBody>
        </p:sp>
        <p:sp>
          <p:nvSpPr>
            <p:cNvPr name="TextBox 15" id="15"/>
            <p:cNvSpPr txBox="true"/>
            <p:nvPr/>
          </p:nvSpPr>
          <p:spPr>
            <a:xfrm rot="0">
              <a:off x="0" y="3041214"/>
              <a:ext cx="8403782" cy="584121"/>
            </a:xfrm>
            <a:prstGeom prst="rect">
              <a:avLst/>
            </a:prstGeom>
          </p:spPr>
          <p:txBody>
            <a:bodyPr anchor="t" rtlCol="false" tIns="0" lIns="0" bIns="0" rIns="0">
              <a:spAutoFit/>
            </a:bodyPr>
            <a:lstStyle/>
            <a:p>
              <a:pPr algn="l">
                <a:lnSpc>
                  <a:spcPts val="3510"/>
                </a:lnSpc>
              </a:pPr>
              <a:r>
                <a:rPr lang="en-US" sz="2925">
                  <a:solidFill>
                    <a:srgbClr val="FFFFFF"/>
                  </a:solidFill>
                  <a:latin typeface="Poppins Medium"/>
                  <a:ea typeface="Poppins Medium"/>
                  <a:cs typeface="Poppins Medium"/>
                  <a:sym typeface="Poppins Medium"/>
                </a:rPr>
                <a:t>EJEMPLO 2:</a:t>
              </a:r>
            </a:p>
          </p:txBody>
        </p:sp>
      </p:grpSp>
    </p:spTree>
  </p:cSld>
  <p:clrMapOvr>
    <a:masterClrMapping/>
  </p:clrMapOvr>
</p:sld>
</file>

<file path=ppt/slides/slide12.xml><?xml version="1.0" encoding="utf-8"?>
<p:sld xmlns:p="http://schemas.openxmlformats.org/presentationml/2006/main" xmlns:a="http://schemas.openxmlformats.org/drawingml/2006/main">
  <p:cSld>
    <p:bg>
      <p:bgPr>
        <a:solidFill>
          <a:srgbClr val="141414"/>
        </a:solidFill>
      </p:bgPr>
    </p:bg>
    <p:spTree>
      <p:nvGrpSpPr>
        <p:cNvPr id="1" name=""/>
        <p:cNvGrpSpPr/>
        <p:nvPr/>
      </p:nvGrpSpPr>
      <p:grpSpPr>
        <a:xfrm>
          <a:off x="0" y="0"/>
          <a:ext cx="0" cy="0"/>
          <a:chOff x="0" y="0"/>
          <a:chExt cx="0" cy="0"/>
        </a:xfrm>
      </p:grpSpPr>
      <p:grpSp>
        <p:nvGrpSpPr>
          <p:cNvPr name="Group 2" id="2"/>
          <p:cNvGrpSpPr/>
          <p:nvPr/>
        </p:nvGrpSpPr>
        <p:grpSpPr>
          <a:xfrm rot="0">
            <a:off x="1264842" y="3118003"/>
            <a:ext cx="7331968" cy="4478618"/>
            <a:chOff x="0" y="0"/>
            <a:chExt cx="9775958" cy="5971491"/>
          </a:xfrm>
        </p:grpSpPr>
        <p:sp>
          <p:nvSpPr>
            <p:cNvPr name="TextBox 3" id="3"/>
            <p:cNvSpPr txBox="true"/>
            <p:nvPr/>
          </p:nvSpPr>
          <p:spPr>
            <a:xfrm rot="0">
              <a:off x="0" y="5336248"/>
              <a:ext cx="9775958" cy="439364"/>
            </a:xfrm>
            <a:prstGeom prst="rect">
              <a:avLst/>
            </a:prstGeom>
          </p:spPr>
          <p:txBody>
            <a:bodyPr anchor="t" rtlCol="false" tIns="0" lIns="0" bIns="0" rIns="0">
              <a:spAutoFit/>
            </a:bodyPr>
            <a:lstStyle/>
            <a:p>
              <a:pPr algn="l">
                <a:lnSpc>
                  <a:spcPts val="2699"/>
                </a:lnSpc>
              </a:pPr>
            </a:p>
          </p:txBody>
        </p:sp>
        <p:sp>
          <p:nvSpPr>
            <p:cNvPr name="TextBox 4" id="4"/>
            <p:cNvSpPr txBox="true"/>
            <p:nvPr/>
          </p:nvSpPr>
          <p:spPr>
            <a:xfrm rot="0">
              <a:off x="0" y="0"/>
              <a:ext cx="9775958" cy="4365961"/>
            </a:xfrm>
            <a:prstGeom prst="rect">
              <a:avLst/>
            </a:prstGeom>
          </p:spPr>
          <p:txBody>
            <a:bodyPr anchor="t" rtlCol="false" tIns="0" lIns="0" bIns="0" rIns="0">
              <a:spAutoFit/>
            </a:bodyPr>
            <a:lstStyle/>
            <a:p>
              <a:pPr algn="l">
                <a:lnSpc>
                  <a:spcPts val="8611"/>
                </a:lnSpc>
              </a:pPr>
              <a:r>
                <a:rPr lang="en-US" sz="7176" b="true">
                  <a:solidFill>
                    <a:srgbClr val="FFFFFF"/>
                  </a:solidFill>
                  <a:latin typeface="Poppins Medium Bold"/>
                  <a:ea typeface="Poppins Medium Bold"/>
                  <a:cs typeface="Poppins Medium Bold"/>
                  <a:sym typeface="Poppins Medium Bold"/>
                </a:rPr>
                <a:t>Estrucuturas de Control Condicional</a:t>
              </a:r>
            </a:p>
          </p:txBody>
        </p:sp>
      </p:grpSp>
      <p:sp>
        <p:nvSpPr>
          <p:cNvPr name="TextBox 5" id="5"/>
          <p:cNvSpPr txBox="true"/>
          <p:nvPr/>
        </p:nvSpPr>
        <p:spPr>
          <a:xfrm rot="0">
            <a:off x="10114793" y="2032210"/>
            <a:ext cx="6302836" cy="466725"/>
          </a:xfrm>
          <a:prstGeom prst="rect">
            <a:avLst/>
          </a:prstGeom>
        </p:spPr>
        <p:txBody>
          <a:bodyPr anchor="t" rtlCol="false" tIns="0" lIns="0" bIns="0" rIns="0">
            <a:spAutoFit/>
          </a:bodyPr>
          <a:lstStyle/>
          <a:p>
            <a:pPr algn="l">
              <a:lnSpc>
                <a:spcPts val="3600"/>
              </a:lnSpc>
            </a:pPr>
            <a:r>
              <a:rPr lang="en-US" sz="3000">
                <a:solidFill>
                  <a:srgbClr val="FFFFFF"/>
                </a:solidFill>
                <a:latin typeface="Poppins Medium"/>
                <a:ea typeface="Poppins Medium"/>
                <a:cs typeface="Poppins Medium"/>
                <a:sym typeface="Poppins Medium"/>
              </a:rPr>
              <a:t>CONCEPTO GENERAL</a:t>
            </a:r>
          </a:p>
        </p:txBody>
      </p:sp>
      <p:sp>
        <p:nvSpPr>
          <p:cNvPr name="TextBox 6" id="6"/>
          <p:cNvSpPr txBox="true"/>
          <p:nvPr/>
        </p:nvSpPr>
        <p:spPr>
          <a:xfrm rot="0">
            <a:off x="10114793" y="2615191"/>
            <a:ext cx="6302836" cy="1286510"/>
          </a:xfrm>
          <a:prstGeom prst="rect">
            <a:avLst/>
          </a:prstGeom>
        </p:spPr>
        <p:txBody>
          <a:bodyPr anchor="t" rtlCol="false" tIns="0" lIns="0" bIns="0" rIns="0">
            <a:spAutoFit/>
          </a:bodyPr>
          <a:lstStyle/>
          <a:p>
            <a:pPr algn="l">
              <a:lnSpc>
                <a:spcPts val="2590"/>
              </a:lnSpc>
            </a:pPr>
            <a:r>
              <a:rPr lang="en-US" sz="1850">
                <a:solidFill>
                  <a:srgbClr val="FFFFFF"/>
                </a:solidFill>
                <a:latin typeface="Poppins Light"/>
                <a:ea typeface="Poppins Light"/>
                <a:cs typeface="Poppins Light"/>
                <a:sym typeface="Poppins Light"/>
              </a:rPr>
              <a:t>Las estructuras de control condicional permiten que un programa tome decisiones y ejecute diferentes bloques de código en función de ciertas condiciones.</a:t>
            </a:r>
          </a:p>
          <a:p>
            <a:pPr algn="l">
              <a:lnSpc>
                <a:spcPts val="2590"/>
              </a:lnSpc>
            </a:pPr>
          </a:p>
        </p:txBody>
      </p:sp>
      <p:sp>
        <p:nvSpPr>
          <p:cNvPr name="AutoShape 7" id="7"/>
          <p:cNvSpPr/>
          <p:nvPr/>
        </p:nvSpPr>
        <p:spPr>
          <a:xfrm rot="-5400000">
            <a:off x="5324805" y="5133975"/>
            <a:ext cx="7638389" cy="0"/>
          </a:xfrm>
          <a:prstGeom prst="line">
            <a:avLst/>
          </a:prstGeom>
          <a:ln cap="rnd" w="19050">
            <a:solidFill>
              <a:srgbClr val="10B5BF"/>
            </a:solidFill>
            <a:prstDash val="solid"/>
            <a:headEnd type="none" len="sm" w="sm"/>
            <a:tailEnd type="none" len="sm" w="sm"/>
          </a:ln>
        </p:spPr>
      </p:sp>
      <p:sp>
        <p:nvSpPr>
          <p:cNvPr name="TextBox 8" id="8"/>
          <p:cNvSpPr txBox="true"/>
          <p:nvPr/>
        </p:nvSpPr>
        <p:spPr>
          <a:xfrm rot="0">
            <a:off x="10114793" y="4044576"/>
            <a:ext cx="6302836" cy="466725"/>
          </a:xfrm>
          <a:prstGeom prst="rect">
            <a:avLst/>
          </a:prstGeom>
        </p:spPr>
        <p:txBody>
          <a:bodyPr anchor="t" rtlCol="false" tIns="0" lIns="0" bIns="0" rIns="0">
            <a:spAutoFit/>
          </a:bodyPr>
          <a:lstStyle/>
          <a:p>
            <a:pPr algn="l">
              <a:lnSpc>
                <a:spcPts val="3600"/>
              </a:lnSpc>
            </a:pPr>
            <a:r>
              <a:rPr lang="en-US" sz="3000">
                <a:solidFill>
                  <a:srgbClr val="FFFFFF"/>
                </a:solidFill>
                <a:latin typeface="Poppins Medium"/>
                <a:ea typeface="Poppins Medium"/>
                <a:cs typeface="Poppins Medium"/>
                <a:sym typeface="Poppins Medium"/>
              </a:rPr>
              <a:t>¿PARA QUÉ SIRVEN?</a:t>
            </a:r>
          </a:p>
        </p:txBody>
      </p:sp>
      <p:sp>
        <p:nvSpPr>
          <p:cNvPr name="TextBox 9" id="9"/>
          <p:cNvSpPr txBox="true"/>
          <p:nvPr/>
        </p:nvSpPr>
        <p:spPr>
          <a:xfrm rot="0">
            <a:off x="10114793" y="4627556"/>
            <a:ext cx="6302836" cy="2258060"/>
          </a:xfrm>
          <a:prstGeom prst="rect">
            <a:avLst/>
          </a:prstGeom>
        </p:spPr>
        <p:txBody>
          <a:bodyPr anchor="t" rtlCol="false" tIns="0" lIns="0" bIns="0" rIns="0">
            <a:spAutoFit/>
          </a:bodyPr>
          <a:lstStyle/>
          <a:p>
            <a:pPr algn="l" marL="399416" indent="-199708" lvl="1">
              <a:lnSpc>
                <a:spcPts val="2590"/>
              </a:lnSpc>
              <a:buFont typeface="Arial"/>
              <a:buChar char="•"/>
            </a:pPr>
            <a:r>
              <a:rPr lang="en-US" sz="1850">
                <a:solidFill>
                  <a:srgbClr val="FFFFFF"/>
                </a:solidFill>
                <a:latin typeface="Poppins Light"/>
                <a:ea typeface="Poppins Light"/>
                <a:cs typeface="Poppins Light"/>
                <a:sym typeface="Poppins Light"/>
              </a:rPr>
              <a:t>Toma de </a:t>
            </a:r>
            <a:r>
              <a:rPr lang="en-US" sz="1850">
                <a:solidFill>
                  <a:srgbClr val="FFFFFF"/>
                </a:solidFill>
                <a:latin typeface="Poppins Light"/>
                <a:ea typeface="Poppins Light"/>
                <a:cs typeface="Poppins Light"/>
                <a:sym typeface="Poppins Light"/>
              </a:rPr>
              <a:t>Decisiones:</a:t>
            </a:r>
          </a:p>
          <a:p>
            <a:pPr algn="l">
              <a:lnSpc>
                <a:spcPts val="2590"/>
              </a:lnSpc>
            </a:pPr>
            <a:r>
              <a:rPr lang="en-US" sz="1850">
                <a:solidFill>
                  <a:srgbClr val="FFFFFF"/>
                </a:solidFill>
                <a:latin typeface="Poppins Light"/>
                <a:ea typeface="Poppins Light"/>
                <a:cs typeface="Poppins Light"/>
                <a:sym typeface="Poppins Light"/>
              </a:rPr>
              <a:t>Ejecutar diferentes acciones según el valor de una variable o el resultado de una expresión.</a:t>
            </a:r>
          </a:p>
          <a:p>
            <a:pPr algn="l" marL="399416" indent="-199708" lvl="1">
              <a:lnSpc>
                <a:spcPts val="2590"/>
              </a:lnSpc>
              <a:buFont typeface="Arial"/>
              <a:buChar char="•"/>
            </a:pPr>
            <a:r>
              <a:rPr lang="en-US" sz="1850">
                <a:solidFill>
                  <a:srgbClr val="FFFFFF"/>
                </a:solidFill>
                <a:latin typeface="Poppins Light"/>
                <a:ea typeface="Poppins Light"/>
                <a:cs typeface="Poppins Light"/>
                <a:sym typeface="Poppins Light"/>
              </a:rPr>
              <a:t>Flujo de Control:</a:t>
            </a:r>
          </a:p>
          <a:p>
            <a:pPr algn="l">
              <a:lnSpc>
                <a:spcPts val="2590"/>
              </a:lnSpc>
            </a:pPr>
            <a:r>
              <a:rPr lang="en-US" sz="1850">
                <a:solidFill>
                  <a:srgbClr val="FFFFFF"/>
                </a:solidFill>
                <a:latin typeface="Poppins Light"/>
                <a:ea typeface="Poppins Light"/>
                <a:cs typeface="Poppins Light"/>
                <a:sym typeface="Poppins Light"/>
              </a:rPr>
              <a:t>Alterar el flujo de ejecución del programa en                  respuesta a condiciones específicas.</a:t>
            </a:r>
          </a:p>
          <a:p>
            <a:pPr algn="l">
              <a:lnSpc>
                <a:spcPts val="2590"/>
              </a:lnSpc>
            </a:pPr>
          </a:p>
        </p:txBody>
      </p:sp>
      <p:grpSp>
        <p:nvGrpSpPr>
          <p:cNvPr name="Group 10" id="10"/>
          <p:cNvGrpSpPr/>
          <p:nvPr/>
        </p:nvGrpSpPr>
        <p:grpSpPr>
          <a:xfrm rot="0">
            <a:off x="10114793" y="6887807"/>
            <a:ext cx="6302836" cy="1664267"/>
            <a:chOff x="0" y="0"/>
            <a:chExt cx="8403782" cy="2219023"/>
          </a:xfrm>
        </p:grpSpPr>
        <p:sp>
          <p:nvSpPr>
            <p:cNvPr name="TextBox 11" id="11"/>
            <p:cNvSpPr txBox="true"/>
            <p:nvPr/>
          </p:nvSpPr>
          <p:spPr>
            <a:xfrm rot="0">
              <a:off x="0" y="9525"/>
              <a:ext cx="8403782" cy="663416"/>
            </a:xfrm>
            <a:prstGeom prst="rect">
              <a:avLst/>
            </a:prstGeom>
          </p:spPr>
          <p:txBody>
            <a:bodyPr anchor="t" rtlCol="false" tIns="0" lIns="0" bIns="0" rIns="0">
              <a:spAutoFit/>
            </a:bodyPr>
            <a:lstStyle/>
            <a:p>
              <a:pPr algn="l">
                <a:lnSpc>
                  <a:spcPts val="3989"/>
                </a:lnSpc>
              </a:pPr>
              <a:r>
                <a:rPr lang="en-US" sz="3324">
                  <a:solidFill>
                    <a:srgbClr val="FFFFFF"/>
                  </a:solidFill>
                  <a:latin typeface="Poppins Medium"/>
                  <a:ea typeface="Poppins Medium"/>
                  <a:cs typeface="Poppins Medium"/>
                  <a:sym typeface="Poppins Medium"/>
                </a:rPr>
                <a:t>EJEMPLOS:</a:t>
              </a:r>
            </a:p>
          </p:txBody>
        </p:sp>
        <p:sp>
          <p:nvSpPr>
            <p:cNvPr name="TextBox 12" id="12"/>
            <p:cNvSpPr txBox="true"/>
            <p:nvPr/>
          </p:nvSpPr>
          <p:spPr>
            <a:xfrm rot="0">
              <a:off x="0" y="832393"/>
              <a:ext cx="8403782" cy="1386629"/>
            </a:xfrm>
            <a:prstGeom prst="rect">
              <a:avLst/>
            </a:prstGeom>
          </p:spPr>
          <p:txBody>
            <a:bodyPr anchor="t" rtlCol="false" tIns="0" lIns="0" bIns="0" rIns="0">
              <a:spAutoFit/>
            </a:bodyPr>
            <a:lstStyle/>
            <a:p>
              <a:pPr algn="l" marL="653092" indent="-326546" lvl="1">
                <a:lnSpc>
                  <a:spcPts val="4234"/>
                </a:lnSpc>
                <a:buFont typeface="Arial"/>
                <a:buChar char="•"/>
              </a:pPr>
              <a:r>
                <a:rPr lang="en-US" sz="3024">
                  <a:solidFill>
                    <a:srgbClr val="FFFFFF"/>
                  </a:solidFill>
                  <a:latin typeface="Poppins Light"/>
                  <a:ea typeface="Poppins Light"/>
                  <a:cs typeface="Poppins Light"/>
                  <a:sym typeface="Poppins Light"/>
                </a:rPr>
                <a:t>if</a:t>
              </a:r>
            </a:p>
            <a:p>
              <a:pPr algn="l" marL="653092" indent="-326546" lvl="1">
                <a:lnSpc>
                  <a:spcPts val="4234"/>
                </a:lnSpc>
                <a:buFont typeface="Arial"/>
                <a:buChar char="•"/>
              </a:pPr>
              <a:r>
                <a:rPr lang="en-US" sz="3024">
                  <a:solidFill>
                    <a:srgbClr val="FFFFFF"/>
                  </a:solidFill>
                  <a:latin typeface="Poppins Light"/>
                  <a:ea typeface="Poppins Light"/>
                  <a:cs typeface="Poppins Light"/>
                  <a:sym typeface="Poppins Light"/>
                </a:rPr>
                <a:t>switch/select</a:t>
              </a:r>
            </a:p>
          </p:txBody>
        </p:sp>
      </p:gr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141414"/>
        </a:solidFill>
      </p:bgPr>
    </p:bg>
    <p:spTree>
      <p:nvGrpSpPr>
        <p:cNvPr id="1" name=""/>
        <p:cNvGrpSpPr/>
        <p:nvPr/>
      </p:nvGrpSpPr>
      <p:grpSpPr>
        <a:xfrm>
          <a:off x="0" y="0"/>
          <a:ext cx="0" cy="0"/>
          <a:chOff x="0" y="0"/>
          <a:chExt cx="0" cy="0"/>
        </a:xfrm>
      </p:grpSpPr>
      <p:sp>
        <p:nvSpPr>
          <p:cNvPr name="AutoShape 2" id="2"/>
          <p:cNvSpPr/>
          <p:nvPr/>
        </p:nvSpPr>
        <p:spPr>
          <a:xfrm flipV="true">
            <a:off x="4615303" y="1442101"/>
            <a:ext cx="0" cy="7638389"/>
          </a:xfrm>
          <a:prstGeom prst="line">
            <a:avLst/>
          </a:prstGeom>
          <a:ln cap="rnd" w="19050">
            <a:solidFill>
              <a:srgbClr val="10B5BF"/>
            </a:solidFill>
            <a:prstDash val="solid"/>
            <a:headEnd type="none" len="sm" w="sm"/>
            <a:tailEnd type="none" len="sm" w="sm"/>
          </a:ln>
        </p:spPr>
      </p:sp>
      <p:sp>
        <p:nvSpPr>
          <p:cNvPr name="Freeform 3" id="3"/>
          <p:cNvSpPr/>
          <p:nvPr/>
        </p:nvSpPr>
        <p:spPr>
          <a:xfrm flipH="false" flipV="false" rot="0">
            <a:off x="14016574" y="572565"/>
            <a:ext cx="2735854" cy="4114800"/>
          </a:xfrm>
          <a:custGeom>
            <a:avLst/>
            <a:gdLst/>
            <a:ahLst/>
            <a:cxnLst/>
            <a:rect r="r" b="b" t="t" l="l"/>
            <a:pathLst>
              <a:path h="4114800" w="2735854">
                <a:moveTo>
                  <a:pt x="0" y="0"/>
                </a:moveTo>
                <a:lnTo>
                  <a:pt x="2735854" y="0"/>
                </a:lnTo>
                <a:lnTo>
                  <a:pt x="2735854"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0">
            <a:off x="1264842" y="3118003"/>
            <a:ext cx="6167680" cy="2143293"/>
            <a:chOff x="0" y="0"/>
            <a:chExt cx="8223573" cy="2857725"/>
          </a:xfrm>
        </p:grpSpPr>
        <p:sp>
          <p:nvSpPr>
            <p:cNvPr name="TextBox 5" id="5"/>
            <p:cNvSpPr txBox="true"/>
            <p:nvPr/>
          </p:nvSpPr>
          <p:spPr>
            <a:xfrm rot="0">
              <a:off x="0" y="2255745"/>
              <a:ext cx="8223573" cy="419100"/>
            </a:xfrm>
            <a:prstGeom prst="rect">
              <a:avLst/>
            </a:prstGeom>
          </p:spPr>
          <p:txBody>
            <a:bodyPr anchor="t" rtlCol="false" tIns="0" lIns="0" bIns="0" rIns="0">
              <a:spAutoFit/>
            </a:bodyPr>
            <a:lstStyle/>
            <a:p>
              <a:pPr algn="l">
                <a:lnSpc>
                  <a:spcPts val="2520"/>
                </a:lnSpc>
              </a:pPr>
            </a:p>
          </p:txBody>
        </p:sp>
        <p:sp>
          <p:nvSpPr>
            <p:cNvPr name="TextBox 6" id="6"/>
            <p:cNvSpPr txBox="true"/>
            <p:nvPr/>
          </p:nvSpPr>
          <p:spPr>
            <a:xfrm rot="0">
              <a:off x="0" y="0"/>
              <a:ext cx="8223573" cy="1358741"/>
            </a:xfrm>
            <a:prstGeom prst="rect">
              <a:avLst/>
            </a:prstGeom>
          </p:spPr>
          <p:txBody>
            <a:bodyPr anchor="t" rtlCol="false" tIns="0" lIns="0" bIns="0" rIns="0">
              <a:spAutoFit/>
            </a:bodyPr>
            <a:lstStyle/>
            <a:p>
              <a:pPr algn="l">
                <a:lnSpc>
                  <a:spcPts val="8039"/>
                </a:lnSpc>
              </a:pPr>
              <a:r>
                <a:rPr lang="en-US" sz="6700" b="true">
                  <a:solidFill>
                    <a:srgbClr val="FFFFFF"/>
                  </a:solidFill>
                  <a:latin typeface="Poppins Medium Bold"/>
                  <a:ea typeface="Poppins Medium Bold"/>
                  <a:cs typeface="Poppins Medium Bold"/>
                  <a:sym typeface="Poppins Medium Bold"/>
                </a:rPr>
                <a:t>IF</a:t>
              </a:r>
            </a:p>
          </p:txBody>
        </p:sp>
      </p:grpSp>
      <p:sp>
        <p:nvSpPr>
          <p:cNvPr name="TextBox 7" id="7"/>
          <p:cNvSpPr txBox="true"/>
          <p:nvPr/>
        </p:nvSpPr>
        <p:spPr>
          <a:xfrm rot="0">
            <a:off x="5076889" y="1132972"/>
            <a:ext cx="6302836" cy="466725"/>
          </a:xfrm>
          <a:prstGeom prst="rect">
            <a:avLst/>
          </a:prstGeom>
        </p:spPr>
        <p:txBody>
          <a:bodyPr anchor="t" rtlCol="false" tIns="0" lIns="0" bIns="0" rIns="0">
            <a:spAutoFit/>
          </a:bodyPr>
          <a:lstStyle/>
          <a:p>
            <a:pPr algn="l">
              <a:lnSpc>
                <a:spcPts val="3600"/>
              </a:lnSpc>
            </a:pPr>
            <a:r>
              <a:rPr lang="en-US" sz="3000">
                <a:solidFill>
                  <a:srgbClr val="FFFFFF"/>
                </a:solidFill>
                <a:latin typeface="Poppins Medium"/>
                <a:ea typeface="Poppins Medium"/>
                <a:cs typeface="Poppins Medium"/>
                <a:sym typeface="Poppins Medium"/>
              </a:rPr>
              <a:t>CONCEPTO GENERAL</a:t>
            </a:r>
          </a:p>
        </p:txBody>
      </p:sp>
      <p:sp>
        <p:nvSpPr>
          <p:cNvPr name="TextBox 8" id="8"/>
          <p:cNvSpPr txBox="true"/>
          <p:nvPr/>
        </p:nvSpPr>
        <p:spPr>
          <a:xfrm rot="0">
            <a:off x="5076889" y="1715952"/>
            <a:ext cx="6302836" cy="1286510"/>
          </a:xfrm>
          <a:prstGeom prst="rect">
            <a:avLst/>
          </a:prstGeom>
        </p:spPr>
        <p:txBody>
          <a:bodyPr anchor="t" rtlCol="false" tIns="0" lIns="0" bIns="0" rIns="0">
            <a:spAutoFit/>
          </a:bodyPr>
          <a:lstStyle/>
          <a:p>
            <a:pPr algn="l">
              <a:lnSpc>
                <a:spcPts val="2590"/>
              </a:lnSpc>
            </a:pPr>
            <a:r>
              <a:rPr lang="en-US" sz="1850">
                <a:solidFill>
                  <a:srgbClr val="FFFFFF"/>
                </a:solidFill>
                <a:latin typeface="Poppins Light"/>
                <a:ea typeface="Poppins Light"/>
                <a:cs typeface="Poppins Light"/>
                <a:sym typeface="Poppins Light"/>
              </a:rPr>
              <a:t>La estructura condicional if permite que un programa ejecute ciertos bloques de código solo si se cumple una condición específica.</a:t>
            </a:r>
          </a:p>
          <a:p>
            <a:pPr algn="l">
              <a:lnSpc>
                <a:spcPts val="2590"/>
              </a:lnSpc>
            </a:pPr>
          </a:p>
        </p:txBody>
      </p:sp>
      <p:sp>
        <p:nvSpPr>
          <p:cNvPr name="TextBox 9" id="9"/>
          <p:cNvSpPr txBox="true"/>
          <p:nvPr/>
        </p:nvSpPr>
        <p:spPr>
          <a:xfrm rot="0">
            <a:off x="5076889" y="2942789"/>
            <a:ext cx="8804234" cy="466725"/>
          </a:xfrm>
          <a:prstGeom prst="rect">
            <a:avLst/>
          </a:prstGeom>
        </p:spPr>
        <p:txBody>
          <a:bodyPr anchor="t" rtlCol="false" tIns="0" lIns="0" bIns="0" rIns="0">
            <a:spAutoFit/>
          </a:bodyPr>
          <a:lstStyle/>
          <a:p>
            <a:pPr algn="l">
              <a:lnSpc>
                <a:spcPts val="3600"/>
              </a:lnSpc>
            </a:pPr>
            <a:r>
              <a:rPr lang="en-US" sz="3000">
                <a:solidFill>
                  <a:srgbClr val="FFFFFF"/>
                </a:solidFill>
                <a:latin typeface="Poppins Medium"/>
                <a:ea typeface="Poppins Medium"/>
                <a:cs typeface="Poppins Medium"/>
                <a:sym typeface="Poppins Medium"/>
              </a:rPr>
              <a:t>¿CÓMO USAR EL CONDICIONAL IF?</a:t>
            </a:r>
          </a:p>
        </p:txBody>
      </p:sp>
      <p:sp>
        <p:nvSpPr>
          <p:cNvPr name="TextBox 10" id="10"/>
          <p:cNvSpPr txBox="true"/>
          <p:nvPr/>
        </p:nvSpPr>
        <p:spPr>
          <a:xfrm rot="0">
            <a:off x="5076889" y="3525770"/>
            <a:ext cx="8804234" cy="2581910"/>
          </a:xfrm>
          <a:prstGeom prst="rect">
            <a:avLst/>
          </a:prstGeom>
        </p:spPr>
        <p:txBody>
          <a:bodyPr anchor="t" rtlCol="false" tIns="0" lIns="0" bIns="0" rIns="0">
            <a:spAutoFit/>
          </a:bodyPr>
          <a:lstStyle/>
          <a:p>
            <a:pPr algn="l" marL="399416" indent="-199708" lvl="1">
              <a:lnSpc>
                <a:spcPts val="2590"/>
              </a:lnSpc>
              <a:buFont typeface="Arial"/>
              <a:buChar char="•"/>
            </a:pPr>
            <a:r>
              <a:rPr lang="en-US" sz="1850">
                <a:solidFill>
                  <a:srgbClr val="FFFFFF"/>
                </a:solidFill>
                <a:latin typeface="Poppins Light"/>
                <a:ea typeface="Poppins Light"/>
                <a:cs typeface="Poppins Light"/>
                <a:sym typeface="Poppins Light"/>
              </a:rPr>
              <a:t>L</a:t>
            </a:r>
            <a:r>
              <a:rPr lang="en-US" sz="1850">
                <a:solidFill>
                  <a:srgbClr val="FFFFFF"/>
                </a:solidFill>
                <a:latin typeface="Poppins Light"/>
                <a:ea typeface="Poppins Light"/>
                <a:cs typeface="Poppins Light"/>
                <a:sym typeface="Poppins Light"/>
              </a:rPr>
              <a:t>a palabra clave if se usa para comprobar una condición.</a:t>
            </a:r>
          </a:p>
          <a:p>
            <a:pPr algn="l" marL="399416" indent="-199708" lvl="1">
              <a:lnSpc>
                <a:spcPts val="2590"/>
              </a:lnSpc>
              <a:buFont typeface="Arial"/>
              <a:buChar char="•"/>
            </a:pPr>
            <a:r>
              <a:rPr lang="en-US" sz="1850">
                <a:solidFill>
                  <a:srgbClr val="FFFFFF"/>
                </a:solidFill>
                <a:latin typeface="Poppins Light"/>
                <a:ea typeface="Poppins Light"/>
                <a:cs typeface="Poppins Light"/>
                <a:sym typeface="Poppins Light"/>
              </a:rPr>
              <a:t>Si la condición es verdadera, se ejecuta el bloque de código inmediatamente después de if.</a:t>
            </a:r>
          </a:p>
          <a:p>
            <a:pPr algn="l" marL="399416" indent="-199708" lvl="1">
              <a:lnSpc>
                <a:spcPts val="2590"/>
              </a:lnSpc>
              <a:buFont typeface="Arial"/>
              <a:buChar char="•"/>
            </a:pPr>
            <a:r>
              <a:rPr lang="en-US" sz="1850">
                <a:solidFill>
                  <a:srgbClr val="FFFFFF"/>
                </a:solidFill>
                <a:latin typeface="Poppins Light"/>
                <a:ea typeface="Poppins Light"/>
                <a:cs typeface="Poppins Light"/>
                <a:sym typeface="Poppins Light"/>
              </a:rPr>
              <a:t>La palabra clave elif (abreviatura de "else if") permite verificar condiciones adicionales si la primera condición es falsa.</a:t>
            </a:r>
          </a:p>
          <a:p>
            <a:pPr algn="l" marL="399415" indent="-199708" lvl="1">
              <a:lnSpc>
                <a:spcPts val="2590"/>
              </a:lnSpc>
              <a:buFont typeface="Arial"/>
              <a:buChar char="•"/>
            </a:pPr>
            <a:r>
              <a:rPr lang="en-US" sz="1850">
                <a:solidFill>
                  <a:srgbClr val="FFFFFF"/>
                </a:solidFill>
                <a:latin typeface="Poppins Light"/>
                <a:ea typeface="Poppins Light"/>
                <a:cs typeface="Poppins Light"/>
                <a:sym typeface="Poppins Light"/>
              </a:rPr>
              <a:t>La palabra clave else se usa para ejecutar un bloque de código si ninguna de las condiciones anteriores es verdadera.</a:t>
            </a:r>
          </a:p>
          <a:p>
            <a:pPr algn="l">
              <a:lnSpc>
                <a:spcPts val="2590"/>
              </a:lnSpc>
            </a:pPr>
          </a:p>
        </p:txBody>
      </p:sp>
      <p:grpSp>
        <p:nvGrpSpPr>
          <p:cNvPr name="Group 11" id="11"/>
          <p:cNvGrpSpPr/>
          <p:nvPr/>
        </p:nvGrpSpPr>
        <p:grpSpPr>
          <a:xfrm rot="0">
            <a:off x="5076889" y="6153399"/>
            <a:ext cx="12605673" cy="2550447"/>
            <a:chOff x="0" y="0"/>
            <a:chExt cx="16807564" cy="3400595"/>
          </a:xfrm>
        </p:grpSpPr>
        <p:sp>
          <p:nvSpPr>
            <p:cNvPr name="Freeform 12" id="12"/>
            <p:cNvSpPr/>
            <p:nvPr/>
          </p:nvSpPr>
          <p:spPr>
            <a:xfrm flipH="false" flipV="false" rot="0">
              <a:off x="0" y="674520"/>
              <a:ext cx="5716620" cy="2726075"/>
            </a:xfrm>
            <a:custGeom>
              <a:avLst/>
              <a:gdLst/>
              <a:ahLst/>
              <a:cxnLst/>
              <a:rect r="r" b="b" t="t" l="l"/>
              <a:pathLst>
                <a:path h="2726075" w="5716620">
                  <a:moveTo>
                    <a:pt x="0" y="0"/>
                  </a:moveTo>
                  <a:lnTo>
                    <a:pt x="5716620" y="0"/>
                  </a:lnTo>
                  <a:lnTo>
                    <a:pt x="5716620" y="2726075"/>
                  </a:lnTo>
                  <a:lnTo>
                    <a:pt x="0" y="2726075"/>
                  </a:lnTo>
                  <a:lnTo>
                    <a:pt x="0" y="0"/>
                  </a:lnTo>
                  <a:close/>
                </a:path>
              </a:pathLst>
            </a:custGeom>
            <a:blipFill>
              <a:blip r:embed="rId5"/>
              <a:stretch>
                <a:fillRect l="0" t="0" r="0" b="0"/>
              </a:stretch>
            </a:blipFill>
          </p:spPr>
        </p:sp>
        <p:sp>
          <p:nvSpPr>
            <p:cNvPr name="Freeform 13" id="13"/>
            <p:cNvSpPr/>
            <p:nvPr/>
          </p:nvSpPr>
          <p:spPr>
            <a:xfrm flipH="false" flipV="false" rot="0">
              <a:off x="8403782" y="674520"/>
              <a:ext cx="6528233" cy="2726075"/>
            </a:xfrm>
            <a:custGeom>
              <a:avLst/>
              <a:gdLst/>
              <a:ahLst/>
              <a:cxnLst/>
              <a:rect r="r" b="b" t="t" l="l"/>
              <a:pathLst>
                <a:path h="2726075" w="6528233">
                  <a:moveTo>
                    <a:pt x="0" y="0"/>
                  </a:moveTo>
                  <a:lnTo>
                    <a:pt x="6528233" y="0"/>
                  </a:lnTo>
                  <a:lnTo>
                    <a:pt x="6528233" y="2726075"/>
                  </a:lnTo>
                  <a:lnTo>
                    <a:pt x="0" y="2726075"/>
                  </a:lnTo>
                  <a:lnTo>
                    <a:pt x="0" y="0"/>
                  </a:lnTo>
                  <a:close/>
                </a:path>
              </a:pathLst>
            </a:custGeom>
            <a:blipFill>
              <a:blip r:embed="rId6"/>
              <a:stretch>
                <a:fillRect l="0" t="0" r="0" b="0"/>
              </a:stretch>
            </a:blipFill>
          </p:spPr>
        </p:sp>
        <p:sp>
          <p:nvSpPr>
            <p:cNvPr name="TextBox 14" id="14"/>
            <p:cNvSpPr txBox="true"/>
            <p:nvPr/>
          </p:nvSpPr>
          <p:spPr>
            <a:xfrm rot="0">
              <a:off x="0" y="46802"/>
              <a:ext cx="8403782" cy="584121"/>
            </a:xfrm>
            <a:prstGeom prst="rect">
              <a:avLst/>
            </a:prstGeom>
          </p:spPr>
          <p:txBody>
            <a:bodyPr anchor="t" rtlCol="false" tIns="0" lIns="0" bIns="0" rIns="0">
              <a:spAutoFit/>
            </a:bodyPr>
            <a:lstStyle/>
            <a:p>
              <a:pPr algn="l">
                <a:lnSpc>
                  <a:spcPts val="3510"/>
                </a:lnSpc>
              </a:pPr>
              <a:r>
                <a:rPr lang="en-US" sz="2925">
                  <a:solidFill>
                    <a:srgbClr val="FFFFFF"/>
                  </a:solidFill>
                  <a:latin typeface="Poppins Medium"/>
                  <a:ea typeface="Poppins Medium"/>
                  <a:cs typeface="Poppins Medium"/>
                  <a:sym typeface="Poppins Medium"/>
                </a:rPr>
                <a:t>EJEMPLO 1:</a:t>
              </a:r>
            </a:p>
          </p:txBody>
        </p:sp>
        <p:sp>
          <p:nvSpPr>
            <p:cNvPr name="TextBox 15" id="15"/>
            <p:cNvSpPr txBox="true"/>
            <p:nvPr/>
          </p:nvSpPr>
          <p:spPr>
            <a:xfrm rot="0">
              <a:off x="0" y="828475"/>
              <a:ext cx="8403782" cy="407723"/>
            </a:xfrm>
            <a:prstGeom prst="rect">
              <a:avLst/>
            </a:prstGeom>
          </p:spPr>
          <p:txBody>
            <a:bodyPr anchor="t" rtlCol="false" tIns="0" lIns="0" bIns="0" rIns="0">
              <a:spAutoFit/>
            </a:bodyPr>
            <a:lstStyle/>
            <a:p>
              <a:pPr algn="l">
                <a:lnSpc>
                  <a:spcPts val="2695"/>
                </a:lnSpc>
              </a:pPr>
            </a:p>
          </p:txBody>
        </p:sp>
        <p:sp>
          <p:nvSpPr>
            <p:cNvPr name="TextBox 16" id="16"/>
            <p:cNvSpPr txBox="true"/>
            <p:nvPr/>
          </p:nvSpPr>
          <p:spPr>
            <a:xfrm rot="0">
              <a:off x="8403782" y="0"/>
              <a:ext cx="8403782" cy="584121"/>
            </a:xfrm>
            <a:prstGeom prst="rect">
              <a:avLst/>
            </a:prstGeom>
          </p:spPr>
          <p:txBody>
            <a:bodyPr anchor="t" rtlCol="false" tIns="0" lIns="0" bIns="0" rIns="0">
              <a:spAutoFit/>
            </a:bodyPr>
            <a:lstStyle/>
            <a:p>
              <a:pPr algn="l">
                <a:lnSpc>
                  <a:spcPts val="3510"/>
                </a:lnSpc>
              </a:pPr>
              <a:r>
                <a:rPr lang="en-US" sz="2925">
                  <a:solidFill>
                    <a:srgbClr val="FFFFFF"/>
                  </a:solidFill>
                  <a:latin typeface="Poppins Medium"/>
                  <a:ea typeface="Poppins Medium"/>
                  <a:cs typeface="Poppins Medium"/>
                  <a:sym typeface="Poppins Medium"/>
                </a:rPr>
                <a:t>EJEMPLO 2:</a:t>
              </a:r>
            </a:p>
          </p:txBody>
        </p:sp>
        <p:sp>
          <p:nvSpPr>
            <p:cNvPr name="TextBox 17" id="17"/>
            <p:cNvSpPr txBox="true"/>
            <p:nvPr/>
          </p:nvSpPr>
          <p:spPr>
            <a:xfrm rot="0">
              <a:off x="8403782" y="781673"/>
              <a:ext cx="8403782" cy="407723"/>
            </a:xfrm>
            <a:prstGeom prst="rect">
              <a:avLst/>
            </a:prstGeom>
          </p:spPr>
          <p:txBody>
            <a:bodyPr anchor="t" rtlCol="false" tIns="0" lIns="0" bIns="0" rIns="0">
              <a:spAutoFit/>
            </a:bodyPr>
            <a:lstStyle/>
            <a:p>
              <a:pPr algn="l">
                <a:lnSpc>
                  <a:spcPts val="2695"/>
                </a:lnSpc>
              </a:pPr>
            </a:p>
          </p:txBody>
        </p:sp>
      </p:gr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141414"/>
        </a:solidFill>
      </p:bgPr>
    </p:bg>
    <p:spTree>
      <p:nvGrpSpPr>
        <p:cNvPr id="1" name=""/>
        <p:cNvGrpSpPr/>
        <p:nvPr/>
      </p:nvGrpSpPr>
      <p:grpSpPr>
        <a:xfrm>
          <a:off x="0" y="0"/>
          <a:ext cx="0" cy="0"/>
          <a:chOff x="0" y="0"/>
          <a:chExt cx="0" cy="0"/>
        </a:xfrm>
      </p:grpSpPr>
      <p:sp>
        <p:nvSpPr>
          <p:cNvPr name="AutoShape 2" id="2"/>
          <p:cNvSpPr/>
          <p:nvPr/>
        </p:nvSpPr>
        <p:spPr>
          <a:xfrm flipV="true">
            <a:off x="4615303" y="1442101"/>
            <a:ext cx="0" cy="7638389"/>
          </a:xfrm>
          <a:prstGeom prst="line">
            <a:avLst/>
          </a:prstGeom>
          <a:ln cap="rnd" w="19050">
            <a:solidFill>
              <a:srgbClr val="10B5BF"/>
            </a:solidFill>
            <a:prstDash val="solid"/>
            <a:headEnd type="none" len="sm" w="sm"/>
            <a:tailEnd type="none" len="sm" w="sm"/>
          </a:ln>
        </p:spPr>
      </p:sp>
      <p:sp>
        <p:nvSpPr>
          <p:cNvPr name="TextBox 3" id="3"/>
          <p:cNvSpPr txBox="true"/>
          <p:nvPr/>
        </p:nvSpPr>
        <p:spPr>
          <a:xfrm rot="0">
            <a:off x="5076889" y="1132972"/>
            <a:ext cx="6302836" cy="466725"/>
          </a:xfrm>
          <a:prstGeom prst="rect">
            <a:avLst/>
          </a:prstGeom>
        </p:spPr>
        <p:txBody>
          <a:bodyPr anchor="t" rtlCol="false" tIns="0" lIns="0" bIns="0" rIns="0">
            <a:spAutoFit/>
          </a:bodyPr>
          <a:lstStyle/>
          <a:p>
            <a:pPr algn="l">
              <a:lnSpc>
                <a:spcPts val="3600"/>
              </a:lnSpc>
            </a:pPr>
            <a:r>
              <a:rPr lang="en-US" sz="3000">
                <a:solidFill>
                  <a:srgbClr val="FFFFFF"/>
                </a:solidFill>
                <a:latin typeface="Poppins Medium"/>
                <a:ea typeface="Poppins Medium"/>
                <a:cs typeface="Poppins Medium"/>
                <a:sym typeface="Poppins Medium"/>
              </a:rPr>
              <a:t>CONCEPTO GENERAL</a:t>
            </a:r>
          </a:p>
        </p:txBody>
      </p:sp>
      <p:sp>
        <p:nvSpPr>
          <p:cNvPr name="TextBox 4" id="4"/>
          <p:cNvSpPr txBox="true"/>
          <p:nvPr/>
        </p:nvSpPr>
        <p:spPr>
          <a:xfrm rot="0">
            <a:off x="5076889" y="1715952"/>
            <a:ext cx="6302836" cy="1286510"/>
          </a:xfrm>
          <a:prstGeom prst="rect">
            <a:avLst/>
          </a:prstGeom>
        </p:spPr>
        <p:txBody>
          <a:bodyPr anchor="t" rtlCol="false" tIns="0" lIns="0" bIns="0" rIns="0">
            <a:spAutoFit/>
          </a:bodyPr>
          <a:lstStyle/>
          <a:p>
            <a:pPr algn="l">
              <a:lnSpc>
                <a:spcPts val="2590"/>
              </a:lnSpc>
            </a:pPr>
            <a:r>
              <a:rPr lang="en-US" sz="1850">
                <a:solidFill>
                  <a:srgbClr val="FFFFFF"/>
                </a:solidFill>
                <a:latin typeface="Poppins Light"/>
                <a:ea typeface="Poppins Light"/>
                <a:cs typeface="Poppins Light"/>
                <a:sym typeface="Poppins Light"/>
              </a:rPr>
              <a:t>La estructura condicional switch (en algunos lenguajes también conocida como select) permite seleccionar una de varias opciones basadas en el valor de una expresión.</a:t>
            </a:r>
          </a:p>
        </p:txBody>
      </p:sp>
      <p:sp>
        <p:nvSpPr>
          <p:cNvPr name="TextBox 5" id="5"/>
          <p:cNvSpPr txBox="true"/>
          <p:nvPr/>
        </p:nvSpPr>
        <p:spPr>
          <a:xfrm rot="0">
            <a:off x="4936044" y="3219885"/>
            <a:ext cx="7514777" cy="923925"/>
          </a:xfrm>
          <a:prstGeom prst="rect">
            <a:avLst/>
          </a:prstGeom>
        </p:spPr>
        <p:txBody>
          <a:bodyPr anchor="t" rtlCol="false" tIns="0" lIns="0" bIns="0" rIns="0">
            <a:spAutoFit/>
          </a:bodyPr>
          <a:lstStyle/>
          <a:p>
            <a:pPr algn="l">
              <a:lnSpc>
                <a:spcPts val="3600"/>
              </a:lnSpc>
            </a:pPr>
            <a:r>
              <a:rPr lang="en-US" sz="3000">
                <a:solidFill>
                  <a:srgbClr val="FFFFFF"/>
                </a:solidFill>
                <a:latin typeface="Poppins Medium"/>
                <a:ea typeface="Poppins Medium"/>
                <a:cs typeface="Poppins Medium"/>
                <a:sym typeface="Poppins Medium"/>
              </a:rPr>
              <a:t>¿CÓMO USAR EL CONDICIONAL SWITCH?</a:t>
            </a:r>
          </a:p>
        </p:txBody>
      </p:sp>
      <p:sp>
        <p:nvSpPr>
          <p:cNvPr name="TextBox 6" id="6"/>
          <p:cNvSpPr txBox="true"/>
          <p:nvPr/>
        </p:nvSpPr>
        <p:spPr>
          <a:xfrm rot="0">
            <a:off x="4936044" y="4260065"/>
            <a:ext cx="7514777" cy="1934210"/>
          </a:xfrm>
          <a:prstGeom prst="rect">
            <a:avLst/>
          </a:prstGeom>
        </p:spPr>
        <p:txBody>
          <a:bodyPr anchor="t" rtlCol="false" tIns="0" lIns="0" bIns="0" rIns="0">
            <a:spAutoFit/>
          </a:bodyPr>
          <a:lstStyle/>
          <a:p>
            <a:pPr algn="l" marL="399416" indent="-199708" lvl="1">
              <a:lnSpc>
                <a:spcPts val="2590"/>
              </a:lnSpc>
              <a:buFont typeface="Arial"/>
              <a:buChar char="•"/>
            </a:pPr>
            <a:r>
              <a:rPr lang="en-US" sz="1850">
                <a:solidFill>
                  <a:srgbClr val="FFFFFF"/>
                </a:solidFill>
                <a:latin typeface="Poppins Light"/>
                <a:ea typeface="Poppins Light"/>
                <a:cs typeface="Poppins Light"/>
                <a:sym typeface="Poppins Light"/>
              </a:rPr>
              <a:t>L</a:t>
            </a:r>
            <a:r>
              <a:rPr lang="en-US" sz="1850">
                <a:solidFill>
                  <a:srgbClr val="FFFFFF"/>
                </a:solidFill>
                <a:latin typeface="Poppins Light"/>
                <a:ea typeface="Poppins Light"/>
                <a:cs typeface="Poppins Light"/>
                <a:sym typeface="Poppins Light"/>
              </a:rPr>
              <a:t>a palabra clave Select Case inicia la estructura condicional.</a:t>
            </a:r>
          </a:p>
          <a:p>
            <a:pPr algn="l" marL="399416" indent="-199708" lvl="1">
              <a:lnSpc>
                <a:spcPts val="2590"/>
              </a:lnSpc>
              <a:buFont typeface="Arial"/>
              <a:buChar char="•"/>
            </a:pPr>
            <a:r>
              <a:rPr lang="en-US" sz="1850">
                <a:solidFill>
                  <a:srgbClr val="FFFFFF"/>
                </a:solidFill>
                <a:latin typeface="Poppins Light"/>
                <a:ea typeface="Poppins Light"/>
                <a:cs typeface="Poppins Light"/>
                <a:sym typeface="Poppins Light"/>
              </a:rPr>
              <a:t>expresión es el valor que se evalúa.</a:t>
            </a:r>
          </a:p>
          <a:p>
            <a:pPr algn="l" marL="399416" indent="-199708" lvl="1">
              <a:lnSpc>
                <a:spcPts val="2590"/>
              </a:lnSpc>
              <a:buFont typeface="Arial"/>
              <a:buChar char="•"/>
            </a:pPr>
            <a:r>
              <a:rPr lang="en-US" sz="1850">
                <a:solidFill>
                  <a:srgbClr val="FFFFFF"/>
                </a:solidFill>
                <a:latin typeface="Poppins Light"/>
                <a:ea typeface="Poppins Light"/>
                <a:cs typeface="Poppins Light"/>
                <a:sym typeface="Poppins Light"/>
              </a:rPr>
              <a:t>Cada Case compara la expresión con un valor específico.</a:t>
            </a:r>
          </a:p>
          <a:p>
            <a:pPr algn="l" marL="399415" indent="-199708" lvl="1">
              <a:lnSpc>
                <a:spcPts val="2590"/>
              </a:lnSpc>
              <a:buFont typeface="Arial"/>
              <a:buChar char="•"/>
            </a:pPr>
            <a:r>
              <a:rPr lang="en-US" sz="1850">
                <a:solidFill>
                  <a:srgbClr val="FFFFFF"/>
                </a:solidFill>
                <a:latin typeface="Poppins Light"/>
                <a:ea typeface="Poppins Light"/>
                <a:cs typeface="Poppins Light"/>
                <a:sym typeface="Poppins Light"/>
              </a:rPr>
              <a:t>Case Else se ejecuta si ninguna de las condiciones anteriores es verdadera.</a:t>
            </a:r>
          </a:p>
          <a:p>
            <a:pPr algn="l">
              <a:lnSpc>
                <a:spcPts val="2590"/>
              </a:lnSpc>
            </a:pPr>
          </a:p>
        </p:txBody>
      </p:sp>
      <p:sp>
        <p:nvSpPr>
          <p:cNvPr name="Freeform 7" id="7"/>
          <p:cNvSpPr/>
          <p:nvPr/>
        </p:nvSpPr>
        <p:spPr>
          <a:xfrm flipH="false" flipV="false" rot="0">
            <a:off x="11379725" y="257841"/>
            <a:ext cx="7276977" cy="4114800"/>
          </a:xfrm>
          <a:custGeom>
            <a:avLst/>
            <a:gdLst/>
            <a:ahLst/>
            <a:cxnLst/>
            <a:rect r="r" b="b" t="t" l="l"/>
            <a:pathLst>
              <a:path h="4114800" w="7276977">
                <a:moveTo>
                  <a:pt x="0" y="0"/>
                </a:moveTo>
                <a:lnTo>
                  <a:pt x="7276978" y="0"/>
                </a:lnTo>
                <a:lnTo>
                  <a:pt x="7276978"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8" id="8"/>
          <p:cNvGrpSpPr/>
          <p:nvPr/>
        </p:nvGrpSpPr>
        <p:grpSpPr>
          <a:xfrm rot="0">
            <a:off x="300758" y="3519645"/>
            <a:ext cx="3860844" cy="3162588"/>
            <a:chOff x="0" y="0"/>
            <a:chExt cx="5147792" cy="4216783"/>
          </a:xfrm>
        </p:grpSpPr>
        <p:sp>
          <p:nvSpPr>
            <p:cNvPr name="TextBox 9" id="9"/>
            <p:cNvSpPr txBox="true"/>
            <p:nvPr/>
          </p:nvSpPr>
          <p:spPr>
            <a:xfrm rot="0">
              <a:off x="0" y="3614803"/>
              <a:ext cx="5147792" cy="419100"/>
            </a:xfrm>
            <a:prstGeom prst="rect">
              <a:avLst/>
            </a:prstGeom>
          </p:spPr>
          <p:txBody>
            <a:bodyPr anchor="t" rtlCol="false" tIns="0" lIns="0" bIns="0" rIns="0">
              <a:spAutoFit/>
            </a:bodyPr>
            <a:lstStyle/>
            <a:p>
              <a:pPr algn="l">
                <a:lnSpc>
                  <a:spcPts val="2520"/>
                </a:lnSpc>
              </a:pPr>
            </a:p>
          </p:txBody>
        </p:sp>
        <p:sp>
          <p:nvSpPr>
            <p:cNvPr name="TextBox 10" id="10"/>
            <p:cNvSpPr txBox="true"/>
            <p:nvPr/>
          </p:nvSpPr>
          <p:spPr>
            <a:xfrm rot="0">
              <a:off x="0" y="0"/>
              <a:ext cx="5147792" cy="2717800"/>
            </a:xfrm>
            <a:prstGeom prst="rect">
              <a:avLst/>
            </a:prstGeom>
          </p:spPr>
          <p:txBody>
            <a:bodyPr anchor="t" rtlCol="false" tIns="0" lIns="0" bIns="0" rIns="0">
              <a:spAutoFit/>
            </a:bodyPr>
            <a:lstStyle/>
            <a:p>
              <a:pPr algn="l">
                <a:lnSpc>
                  <a:spcPts val="8039"/>
                </a:lnSpc>
              </a:pPr>
              <a:r>
                <a:rPr lang="en-US" sz="6700" b="true">
                  <a:solidFill>
                    <a:srgbClr val="FFFFFF"/>
                  </a:solidFill>
                  <a:latin typeface="Poppins Medium Bold"/>
                  <a:ea typeface="Poppins Medium Bold"/>
                  <a:cs typeface="Poppins Medium Bold"/>
                  <a:sym typeface="Poppins Medium Bold"/>
                </a:rPr>
                <a:t>SWITCHSELECT</a:t>
              </a:r>
            </a:p>
          </p:txBody>
        </p:sp>
      </p:grpSp>
      <p:grpSp>
        <p:nvGrpSpPr>
          <p:cNvPr name="Group 11" id="11"/>
          <p:cNvGrpSpPr/>
          <p:nvPr/>
        </p:nvGrpSpPr>
        <p:grpSpPr>
          <a:xfrm rot="0">
            <a:off x="4850858" y="6211444"/>
            <a:ext cx="12831703" cy="3801809"/>
            <a:chOff x="0" y="0"/>
            <a:chExt cx="17108938" cy="5069078"/>
          </a:xfrm>
        </p:grpSpPr>
        <p:sp>
          <p:nvSpPr>
            <p:cNvPr name="Freeform 12" id="12"/>
            <p:cNvSpPr/>
            <p:nvPr/>
          </p:nvSpPr>
          <p:spPr>
            <a:xfrm flipH="false" flipV="false" rot="0">
              <a:off x="8705156" y="665786"/>
              <a:ext cx="6624697" cy="4293785"/>
            </a:xfrm>
            <a:custGeom>
              <a:avLst/>
              <a:gdLst/>
              <a:ahLst/>
              <a:cxnLst/>
              <a:rect r="r" b="b" t="t" l="l"/>
              <a:pathLst>
                <a:path h="4293785" w="6624697">
                  <a:moveTo>
                    <a:pt x="0" y="0"/>
                  </a:moveTo>
                  <a:lnTo>
                    <a:pt x="6624697" y="0"/>
                  </a:lnTo>
                  <a:lnTo>
                    <a:pt x="6624697" y="4293784"/>
                  </a:lnTo>
                  <a:lnTo>
                    <a:pt x="0" y="4293784"/>
                  </a:lnTo>
                  <a:lnTo>
                    <a:pt x="0" y="0"/>
                  </a:lnTo>
                  <a:close/>
                </a:path>
              </a:pathLst>
            </a:custGeom>
            <a:blipFill>
              <a:blip r:embed="rId5"/>
              <a:stretch>
                <a:fillRect l="0" t="0" r="0" b="0"/>
              </a:stretch>
            </a:blipFill>
          </p:spPr>
        </p:sp>
        <p:sp>
          <p:nvSpPr>
            <p:cNvPr name="Freeform 13" id="13"/>
            <p:cNvSpPr/>
            <p:nvPr/>
          </p:nvSpPr>
          <p:spPr>
            <a:xfrm flipH="false" flipV="false" rot="0">
              <a:off x="113581" y="665786"/>
              <a:ext cx="5396956" cy="4403293"/>
            </a:xfrm>
            <a:custGeom>
              <a:avLst/>
              <a:gdLst/>
              <a:ahLst/>
              <a:cxnLst/>
              <a:rect r="r" b="b" t="t" l="l"/>
              <a:pathLst>
                <a:path h="4403293" w="5396956">
                  <a:moveTo>
                    <a:pt x="0" y="0"/>
                  </a:moveTo>
                  <a:lnTo>
                    <a:pt x="5396956" y="0"/>
                  </a:lnTo>
                  <a:lnTo>
                    <a:pt x="5396956" y="4403292"/>
                  </a:lnTo>
                  <a:lnTo>
                    <a:pt x="0" y="4403292"/>
                  </a:lnTo>
                  <a:lnTo>
                    <a:pt x="0" y="0"/>
                  </a:lnTo>
                  <a:close/>
                </a:path>
              </a:pathLst>
            </a:custGeom>
            <a:blipFill>
              <a:blip r:embed="rId6"/>
              <a:stretch>
                <a:fillRect l="0" t="0" r="0" b="0"/>
              </a:stretch>
            </a:blipFill>
          </p:spPr>
        </p:sp>
        <p:sp>
          <p:nvSpPr>
            <p:cNvPr name="TextBox 14" id="14"/>
            <p:cNvSpPr txBox="true"/>
            <p:nvPr/>
          </p:nvSpPr>
          <p:spPr>
            <a:xfrm rot="0">
              <a:off x="0" y="0"/>
              <a:ext cx="8403782" cy="584121"/>
            </a:xfrm>
            <a:prstGeom prst="rect">
              <a:avLst/>
            </a:prstGeom>
          </p:spPr>
          <p:txBody>
            <a:bodyPr anchor="t" rtlCol="false" tIns="0" lIns="0" bIns="0" rIns="0">
              <a:spAutoFit/>
            </a:bodyPr>
            <a:lstStyle/>
            <a:p>
              <a:pPr algn="l">
                <a:lnSpc>
                  <a:spcPts val="3510"/>
                </a:lnSpc>
              </a:pPr>
              <a:r>
                <a:rPr lang="en-US" sz="2925">
                  <a:solidFill>
                    <a:srgbClr val="FFFFFF"/>
                  </a:solidFill>
                  <a:latin typeface="Poppins Medium"/>
                  <a:ea typeface="Poppins Medium"/>
                  <a:cs typeface="Poppins Medium"/>
                  <a:sym typeface="Poppins Medium"/>
                </a:rPr>
                <a:t>EJEMPLO 1:</a:t>
              </a:r>
            </a:p>
          </p:txBody>
        </p:sp>
        <p:sp>
          <p:nvSpPr>
            <p:cNvPr name="TextBox 15" id="15"/>
            <p:cNvSpPr txBox="true"/>
            <p:nvPr/>
          </p:nvSpPr>
          <p:spPr>
            <a:xfrm rot="0">
              <a:off x="0" y="781673"/>
              <a:ext cx="8403782" cy="407723"/>
            </a:xfrm>
            <a:prstGeom prst="rect">
              <a:avLst/>
            </a:prstGeom>
          </p:spPr>
          <p:txBody>
            <a:bodyPr anchor="t" rtlCol="false" tIns="0" lIns="0" bIns="0" rIns="0">
              <a:spAutoFit/>
            </a:bodyPr>
            <a:lstStyle/>
            <a:p>
              <a:pPr algn="l">
                <a:lnSpc>
                  <a:spcPts val="2695"/>
                </a:lnSpc>
              </a:pPr>
            </a:p>
          </p:txBody>
        </p:sp>
        <p:sp>
          <p:nvSpPr>
            <p:cNvPr name="TextBox 16" id="16"/>
            <p:cNvSpPr txBox="true"/>
            <p:nvPr/>
          </p:nvSpPr>
          <p:spPr>
            <a:xfrm rot="0">
              <a:off x="8705156" y="38068"/>
              <a:ext cx="8403782" cy="584121"/>
            </a:xfrm>
            <a:prstGeom prst="rect">
              <a:avLst/>
            </a:prstGeom>
          </p:spPr>
          <p:txBody>
            <a:bodyPr anchor="t" rtlCol="false" tIns="0" lIns="0" bIns="0" rIns="0">
              <a:spAutoFit/>
            </a:bodyPr>
            <a:lstStyle/>
            <a:p>
              <a:pPr algn="l">
                <a:lnSpc>
                  <a:spcPts val="3510"/>
                </a:lnSpc>
              </a:pPr>
              <a:r>
                <a:rPr lang="en-US" sz="2925">
                  <a:solidFill>
                    <a:srgbClr val="FFFFFF"/>
                  </a:solidFill>
                  <a:latin typeface="Poppins Medium"/>
                  <a:ea typeface="Poppins Medium"/>
                  <a:cs typeface="Poppins Medium"/>
                  <a:sym typeface="Poppins Medium"/>
                </a:rPr>
                <a:t>EJEMPLO 2:</a:t>
              </a:r>
            </a:p>
          </p:txBody>
        </p:sp>
        <p:sp>
          <p:nvSpPr>
            <p:cNvPr name="TextBox 17" id="17"/>
            <p:cNvSpPr txBox="true"/>
            <p:nvPr/>
          </p:nvSpPr>
          <p:spPr>
            <a:xfrm rot="0">
              <a:off x="8705156" y="819740"/>
              <a:ext cx="8403782" cy="407723"/>
            </a:xfrm>
            <a:prstGeom prst="rect">
              <a:avLst/>
            </a:prstGeom>
          </p:spPr>
          <p:txBody>
            <a:bodyPr anchor="t" rtlCol="false" tIns="0" lIns="0" bIns="0" rIns="0">
              <a:spAutoFit/>
            </a:bodyPr>
            <a:lstStyle/>
            <a:p>
              <a:pPr algn="l">
                <a:lnSpc>
                  <a:spcPts val="2695"/>
                </a:lnSpc>
              </a:pPr>
            </a:p>
          </p:txBody>
        </p:sp>
      </p:gr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141414"/>
        </a:solidFill>
      </p:bgPr>
    </p:bg>
    <p:spTree>
      <p:nvGrpSpPr>
        <p:cNvPr id="1" name=""/>
        <p:cNvGrpSpPr/>
        <p:nvPr/>
      </p:nvGrpSpPr>
      <p:grpSpPr>
        <a:xfrm>
          <a:off x="0" y="0"/>
          <a:ext cx="0" cy="0"/>
          <a:chOff x="0" y="0"/>
          <a:chExt cx="0" cy="0"/>
        </a:xfrm>
      </p:grpSpPr>
      <p:sp>
        <p:nvSpPr>
          <p:cNvPr name="AutoShape 2" id="2"/>
          <p:cNvSpPr/>
          <p:nvPr/>
        </p:nvSpPr>
        <p:spPr>
          <a:xfrm flipV="true">
            <a:off x="7475533" y="1324305"/>
            <a:ext cx="0" cy="7638389"/>
          </a:xfrm>
          <a:prstGeom prst="line">
            <a:avLst/>
          </a:prstGeom>
          <a:ln cap="rnd" w="19050">
            <a:solidFill>
              <a:srgbClr val="10B5BF"/>
            </a:solidFill>
            <a:prstDash val="solid"/>
            <a:headEnd type="none" len="sm" w="sm"/>
            <a:tailEnd type="none" len="sm" w="sm"/>
          </a:ln>
        </p:spPr>
      </p:sp>
      <p:sp>
        <p:nvSpPr>
          <p:cNvPr name="Freeform 3" id="3"/>
          <p:cNvSpPr/>
          <p:nvPr/>
        </p:nvSpPr>
        <p:spPr>
          <a:xfrm flipH="false" flipV="false" rot="0">
            <a:off x="1333883" y="4364536"/>
            <a:ext cx="4374330" cy="4114800"/>
          </a:xfrm>
          <a:custGeom>
            <a:avLst/>
            <a:gdLst/>
            <a:ahLst/>
            <a:cxnLst/>
            <a:rect r="r" b="b" t="t" l="l"/>
            <a:pathLst>
              <a:path h="4114800" w="4374330">
                <a:moveTo>
                  <a:pt x="0" y="0"/>
                </a:moveTo>
                <a:lnTo>
                  <a:pt x="4374330" y="0"/>
                </a:lnTo>
                <a:lnTo>
                  <a:pt x="4374330"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0">
            <a:off x="1658959" y="3119816"/>
            <a:ext cx="4612583" cy="2295638"/>
            <a:chOff x="0" y="0"/>
            <a:chExt cx="6150111" cy="3060851"/>
          </a:xfrm>
        </p:grpSpPr>
        <p:sp>
          <p:nvSpPr>
            <p:cNvPr name="TextBox 5" id="5"/>
            <p:cNvSpPr txBox="true"/>
            <p:nvPr/>
          </p:nvSpPr>
          <p:spPr>
            <a:xfrm rot="0">
              <a:off x="0" y="2425607"/>
              <a:ext cx="6150111" cy="439364"/>
            </a:xfrm>
            <a:prstGeom prst="rect">
              <a:avLst/>
            </a:prstGeom>
          </p:spPr>
          <p:txBody>
            <a:bodyPr anchor="t" rtlCol="false" tIns="0" lIns="0" bIns="0" rIns="0">
              <a:spAutoFit/>
            </a:bodyPr>
            <a:lstStyle/>
            <a:p>
              <a:pPr algn="l">
                <a:lnSpc>
                  <a:spcPts val="2699"/>
                </a:lnSpc>
              </a:pPr>
            </a:p>
          </p:txBody>
        </p:sp>
        <p:sp>
          <p:nvSpPr>
            <p:cNvPr name="TextBox 6" id="6"/>
            <p:cNvSpPr txBox="true"/>
            <p:nvPr/>
          </p:nvSpPr>
          <p:spPr>
            <a:xfrm rot="0">
              <a:off x="0" y="0"/>
              <a:ext cx="6150111" cy="1455320"/>
            </a:xfrm>
            <a:prstGeom prst="rect">
              <a:avLst/>
            </a:prstGeom>
          </p:spPr>
          <p:txBody>
            <a:bodyPr anchor="t" rtlCol="false" tIns="0" lIns="0" bIns="0" rIns="0">
              <a:spAutoFit/>
            </a:bodyPr>
            <a:lstStyle/>
            <a:p>
              <a:pPr algn="l">
                <a:lnSpc>
                  <a:spcPts val="8611"/>
                </a:lnSpc>
              </a:pPr>
              <a:r>
                <a:rPr lang="en-US" sz="7176" b="true">
                  <a:solidFill>
                    <a:srgbClr val="FFFFFF"/>
                  </a:solidFill>
                  <a:latin typeface="Poppins Medium Bold"/>
                  <a:ea typeface="Poppins Medium Bold"/>
                  <a:cs typeface="Poppins Medium Bold"/>
                  <a:sym typeface="Poppins Medium Bold"/>
                </a:rPr>
                <a:t>Bucles</a:t>
              </a:r>
            </a:p>
          </p:txBody>
        </p:sp>
      </p:grpSp>
      <p:sp>
        <p:nvSpPr>
          <p:cNvPr name="TextBox 7" id="7"/>
          <p:cNvSpPr txBox="true"/>
          <p:nvPr/>
        </p:nvSpPr>
        <p:spPr>
          <a:xfrm rot="0">
            <a:off x="10114793" y="2032210"/>
            <a:ext cx="6302836" cy="466725"/>
          </a:xfrm>
          <a:prstGeom prst="rect">
            <a:avLst/>
          </a:prstGeom>
        </p:spPr>
        <p:txBody>
          <a:bodyPr anchor="t" rtlCol="false" tIns="0" lIns="0" bIns="0" rIns="0">
            <a:spAutoFit/>
          </a:bodyPr>
          <a:lstStyle/>
          <a:p>
            <a:pPr algn="l">
              <a:lnSpc>
                <a:spcPts val="3600"/>
              </a:lnSpc>
            </a:pPr>
            <a:r>
              <a:rPr lang="en-US" sz="3000">
                <a:solidFill>
                  <a:srgbClr val="FFFFFF"/>
                </a:solidFill>
                <a:latin typeface="Poppins Medium"/>
                <a:ea typeface="Poppins Medium"/>
                <a:cs typeface="Poppins Medium"/>
                <a:sym typeface="Poppins Medium"/>
              </a:rPr>
              <a:t>CONCEPTO GENERAL</a:t>
            </a:r>
          </a:p>
        </p:txBody>
      </p:sp>
      <p:sp>
        <p:nvSpPr>
          <p:cNvPr name="TextBox 8" id="8"/>
          <p:cNvSpPr txBox="true"/>
          <p:nvPr/>
        </p:nvSpPr>
        <p:spPr>
          <a:xfrm rot="0">
            <a:off x="10114793" y="2615191"/>
            <a:ext cx="6302836" cy="1286510"/>
          </a:xfrm>
          <a:prstGeom prst="rect">
            <a:avLst/>
          </a:prstGeom>
        </p:spPr>
        <p:txBody>
          <a:bodyPr anchor="t" rtlCol="false" tIns="0" lIns="0" bIns="0" rIns="0">
            <a:spAutoFit/>
          </a:bodyPr>
          <a:lstStyle/>
          <a:p>
            <a:pPr algn="l">
              <a:lnSpc>
                <a:spcPts val="2590"/>
              </a:lnSpc>
            </a:pPr>
            <a:r>
              <a:rPr lang="en-US" sz="1850">
                <a:solidFill>
                  <a:srgbClr val="FFFFFF"/>
                </a:solidFill>
                <a:latin typeface="Poppins Light"/>
                <a:ea typeface="Poppins Light"/>
                <a:cs typeface="Poppins Light"/>
                <a:sym typeface="Poppins Light"/>
              </a:rPr>
              <a:t>Los bucles permiten repetir un bloque de código múltiples veces, lo que es útil para tareas repetitivas y automatización.</a:t>
            </a:r>
          </a:p>
          <a:p>
            <a:pPr algn="l">
              <a:lnSpc>
                <a:spcPts val="2590"/>
              </a:lnSpc>
            </a:pPr>
          </a:p>
        </p:txBody>
      </p:sp>
      <p:sp>
        <p:nvSpPr>
          <p:cNvPr name="TextBox 9" id="9"/>
          <p:cNvSpPr txBox="true"/>
          <p:nvPr/>
        </p:nvSpPr>
        <p:spPr>
          <a:xfrm rot="0">
            <a:off x="10114793" y="4631459"/>
            <a:ext cx="6302836" cy="466725"/>
          </a:xfrm>
          <a:prstGeom prst="rect">
            <a:avLst/>
          </a:prstGeom>
        </p:spPr>
        <p:txBody>
          <a:bodyPr anchor="t" rtlCol="false" tIns="0" lIns="0" bIns="0" rIns="0">
            <a:spAutoFit/>
          </a:bodyPr>
          <a:lstStyle/>
          <a:p>
            <a:pPr algn="l">
              <a:lnSpc>
                <a:spcPts val="3600"/>
              </a:lnSpc>
            </a:pPr>
            <a:r>
              <a:rPr lang="en-US" sz="3000">
                <a:solidFill>
                  <a:srgbClr val="FFFFFF"/>
                </a:solidFill>
                <a:latin typeface="Poppins Medium"/>
                <a:ea typeface="Poppins Medium"/>
                <a:cs typeface="Poppins Medium"/>
                <a:sym typeface="Poppins Medium"/>
              </a:rPr>
              <a:t>¿PARA QUÉ SIRVEN?</a:t>
            </a:r>
          </a:p>
        </p:txBody>
      </p:sp>
      <p:sp>
        <p:nvSpPr>
          <p:cNvPr name="TextBox 10" id="10"/>
          <p:cNvSpPr txBox="true"/>
          <p:nvPr/>
        </p:nvSpPr>
        <p:spPr>
          <a:xfrm rot="0">
            <a:off x="10114793" y="5214439"/>
            <a:ext cx="6302836" cy="962660"/>
          </a:xfrm>
          <a:prstGeom prst="rect">
            <a:avLst/>
          </a:prstGeom>
        </p:spPr>
        <p:txBody>
          <a:bodyPr anchor="t" rtlCol="false" tIns="0" lIns="0" bIns="0" rIns="0">
            <a:spAutoFit/>
          </a:bodyPr>
          <a:lstStyle/>
          <a:p>
            <a:pPr algn="l" marL="399416" indent="-199708" lvl="1">
              <a:lnSpc>
                <a:spcPts val="2590"/>
              </a:lnSpc>
              <a:buFont typeface="Arial"/>
              <a:buChar char="•"/>
            </a:pPr>
            <a:r>
              <a:rPr lang="en-US" sz="1850">
                <a:solidFill>
                  <a:srgbClr val="FFFFFF"/>
                </a:solidFill>
                <a:latin typeface="Poppins Light"/>
                <a:ea typeface="Poppins Light"/>
                <a:cs typeface="Poppins Light"/>
                <a:sym typeface="Poppins Light"/>
              </a:rPr>
              <a:t>Automatización</a:t>
            </a:r>
          </a:p>
          <a:p>
            <a:pPr algn="l" marL="399416" indent="-199708" lvl="1">
              <a:lnSpc>
                <a:spcPts val="2590"/>
              </a:lnSpc>
              <a:buFont typeface="Arial"/>
              <a:buChar char="•"/>
            </a:pPr>
            <a:r>
              <a:rPr lang="en-US" sz="1850">
                <a:solidFill>
                  <a:srgbClr val="FFFFFF"/>
                </a:solidFill>
                <a:latin typeface="Poppins Light"/>
                <a:ea typeface="Poppins Light"/>
                <a:cs typeface="Poppins Light"/>
                <a:sym typeface="Poppins Light"/>
              </a:rPr>
              <a:t>Procesamiento de Datos</a:t>
            </a:r>
          </a:p>
          <a:p>
            <a:pPr algn="l" marL="399415" indent="-199708" lvl="1">
              <a:lnSpc>
                <a:spcPts val="2590"/>
              </a:lnSpc>
              <a:buFont typeface="Arial"/>
              <a:buChar char="•"/>
            </a:pPr>
            <a:r>
              <a:rPr lang="en-US" sz="1850">
                <a:solidFill>
                  <a:srgbClr val="FFFFFF"/>
                </a:solidFill>
                <a:latin typeface="Poppins Light"/>
                <a:ea typeface="Poppins Light"/>
                <a:cs typeface="Poppins Light"/>
                <a:sym typeface="Poppins Light"/>
              </a:rPr>
              <a:t>Iteración</a:t>
            </a:r>
          </a:p>
        </p:txBody>
      </p:sp>
      <p:grpSp>
        <p:nvGrpSpPr>
          <p:cNvPr name="Group 11" id="11"/>
          <p:cNvGrpSpPr/>
          <p:nvPr/>
        </p:nvGrpSpPr>
        <p:grpSpPr>
          <a:xfrm rot="0">
            <a:off x="10114793" y="6887807"/>
            <a:ext cx="6302836" cy="1664386"/>
            <a:chOff x="0" y="0"/>
            <a:chExt cx="8403782" cy="2219181"/>
          </a:xfrm>
        </p:grpSpPr>
        <p:sp>
          <p:nvSpPr>
            <p:cNvPr name="TextBox 12" id="12"/>
            <p:cNvSpPr txBox="true"/>
            <p:nvPr/>
          </p:nvSpPr>
          <p:spPr>
            <a:xfrm rot="0">
              <a:off x="0" y="9525"/>
              <a:ext cx="8403782" cy="663575"/>
            </a:xfrm>
            <a:prstGeom prst="rect">
              <a:avLst/>
            </a:prstGeom>
          </p:spPr>
          <p:txBody>
            <a:bodyPr anchor="t" rtlCol="false" tIns="0" lIns="0" bIns="0" rIns="0">
              <a:spAutoFit/>
            </a:bodyPr>
            <a:lstStyle/>
            <a:p>
              <a:pPr algn="l">
                <a:lnSpc>
                  <a:spcPts val="3989"/>
                </a:lnSpc>
              </a:pPr>
              <a:r>
                <a:rPr lang="en-US" sz="3324">
                  <a:solidFill>
                    <a:srgbClr val="FFFFFF"/>
                  </a:solidFill>
                  <a:latin typeface="Poppins Medium"/>
                  <a:ea typeface="Poppins Medium"/>
                  <a:cs typeface="Poppins Medium"/>
                  <a:sym typeface="Poppins Medium"/>
                </a:rPr>
                <a:t>EJEMPLOS:</a:t>
              </a:r>
            </a:p>
          </p:txBody>
        </p:sp>
        <p:sp>
          <p:nvSpPr>
            <p:cNvPr name="TextBox 13" id="13"/>
            <p:cNvSpPr txBox="true"/>
            <p:nvPr/>
          </p:nvSpPr>
          <p:spPr>
            <a:xfrm rot="0">
              <a:off x="0" y="832552"/>
              <a:ext cx="8403782" cy="1386629"/>
            </a:xfrm>
            <a:prstGeom prst="rect">
              <a:avLst/>
            </a:prstGeom>
          </p:spPr>
          <p:txBody>
            <a:bodyPr anchor="t" rtlCol="false" tIns="0" lIns="0" bIns="0" rIns="0">
              <a:spAutoFit/>
            </a:bodyPr>
            <a:lstStyle/>
            <a:p>
              <a:pPr algn="l" marL="653092" indent="-326546" lvl="1">
                <a:lnSpc>
                  <a:spcPts val="4234"/>
                </a:lnSpc>
                <a:buFont typeface="Arial"/>
                <a:buChar char="•"/>
              </a:pPr>
              <a:r>
                <a:rPr lang="en-US" sz="3024">
                  <a:solidFill>
                    <a:srgbClr val="FFFFFF"/>
                  </a:solidFill>
                  <a:latin typeface="Poppins Light"/>
                  <a:ea typeface="Poppins Light"/>
                  <a:cs typeface="Poppins Light"/>
                  <a:sym typeface="Poppins Light"/>
                </a:rPr>
                <a:t>for</a:t>
              </a:r>
            </a:p>
            <a:p>
              <a:pPr algn="l" marL="653092" indent="-326546" lvl="1">
                <a:lnSpc>
                  <a:spcPts val="4234"/>
                </a:lnSpc>
                <a:buFont typeface="Arial"/>
                <a:buChar char="•"/>
              </a:pPr>
              <a:r>
                <a:rPr lang="en-US" sz="3024">
                  <a:solidFill>
                    <a:srgbClr val="FFFFFF"/>
                  </a:solidFill>
                  <a:latin typeface="Poppins Light"/>
                  <a:ea typeface="Poppins Light"/>
                  <a:cs typeface="Poppins Light"/>
                  <a:sym typeface="Poppins Light"/>
                </a:rPr>
                <a:t>do while</a:t>
              </a:r>
            </a:p>
          </p:txBody>
        </p:sp>
      </p:gr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141414"/>
        </a:solidFill>
      </p:bgPr>
    </p:bg>
    <p:spTree>
      <p:nvGrpSpPr>
        <p:cNvPr id="1" name=""/>
        <p:cNvGrpSpPr/>
        <p:nvPr/>
      </p:nvGrpSpPr>
      <p:grpSpPr>
        <a:xfrm>
          <a:off x="0" y="0"/>
          <a:ext cx="0" cy="0"/>
          <a:chOff x="0" y="0"/>
          <a:chExt cx="0" cy="0"/>
        </a:xfrm>
      </p:grpSpPr>
      <p:sp>
        <p:nvSpPr>
          <p:cNvPr name="AutoShape 2" id="2"/>
          <p:cNvSpPr/>
          <p:nvPr/>
        </p:nvSpPr>
        <p:spPr>
          <a:xfrm flipV="true">
            <a:off x="4236106" y="1442101"/>
            <a:ext cx="0" cy="7638389"/>
          </a:xfrm>
          <a:prstGeom prst="line">
            <a:avLst/>
          </a:prstGeom>
          <a:ln cap="rnd" w="19050">
            <a:solidFill>
              <a:srgbClr val="10B5BF"/>
            </a:solidFill>
            <a:prstDash val="solid"/>
            <a:headEnd type="none" len="sm" w="sm"/>
            <a:tailEnd type="none" len="sm" w="sm"/>
          </a:ln>
        </p:spPr>
      </p:sp>
      <p:grpSp>
        <p:nvGrpSpPr>
          <p:cNvPr name="Group 3" id="3"/>
          <p:cNvGrpSpPr/>
          <p:nvPr/>
        </p:nvGrpSpPr>
        <p:grpSpPr>
          <a:xfrm rot="0">
            <a:off x="1264842" y="3118003"/>
            <a:ext cx="2657398" cy="2143293"/>
            <a:chOff x="0" y="0"/>
            <a:chExt cx="3543197" cy="2857725"/>
          </a:xfrm>
        </p:grpSpPr>
        <p:sp>
          <p:nvSpPr>
            <p:cNvPr name="TextBox 4" id="4"/>
            <p:cNvSpPr txBox="true"/>
            <p:nvPr/>
          </p:nvSpPr>
          <p:spPr>
            <a:xfrm rot="0">
              <a:off x="0" y="2255745"/>
              <a:ext cx="3543197" cy="419100"/>
            </a:xfrm>
            <a:prstGeom prst="rect">
              <a:avLst/>
            </a:prstGeom>
          </p:spPr>
          <p:txBody>
            <a:bodyPr anchor="t" rtlCol="false" tIns="0" lIns="0" bIns="0" rIns="0">
              <a:spAutoFit/>
            </a:bodyPr>
            <a:lstStyle/>
            <a:p>
              <a:pPr algn="l">
                <a:lnSpc>
                  <a:spcPts val="2520"/>
                </a:lnSpc>
              </a:pPr>
            </a:p>
          </p:txBody>
        </p:sp>
        <p:sp>
          <p:nvSpPr>
            <p:cNvPr name="TextBox 5" id="5"/>
            <p:cNvSpPr txBox="true"/>
            <p:nvPr/>
          </p:nvSpPr>
          <p:spPr>
            <a:xfrm rot="0">
              <a:off x="0" y="0"/>
              <a:ext cx="3543197" cy="1358741"/>
            </a:xfrm>
            <a:prstGeom prst="rect">
              <a:avLst/>
            </a:prstGeom>
          </p:spPr>
          <p:txBody>
            <a:bodyPr anchor="t" rtlCol="false" tIns="0" lIns="0" bIns="0" rIns="0">
              <a:spAutoFit/>
            </a:bodyPr>
            <a:lstStyle/>
            <a:p>
              <a:pPr algn="l">
                <a:lnSpc>
                  <a:spcPts val="8039"/>
                </a:lnSpc>
              </a:pPr>
              <a:r>
                <a:rPr lang="en-US" sz="6700" b="true">
                  <a:solidFill>
                    <a:srgbClr val="FFFFFF"/>
                  </a:solidFill>
                  <a:latin typeface="Poppins Medium Bold"/>
                  <a:ea typeface="Poppins Medium Bold"/>
                  <a:cs typeface="Poppins Medium Bold"/>
                  <a:sym typeface="Poppins Medium Bold"/>
                </a:rPr>
                <a:t>For</a:t>
              </a:r>
            </a:p>
          </p:txBody>
        </p:sp>
      </p:grpSp>
      <p:sp>
        <p:nvSpPr>
          <p:cNvPr name="TextBox 6" id="6"/>
          <p:cNvSpPr txBox="true"/>
          <p:nvPr/>
        </p:nvSpPr>
        <p:spPr>
          <a:xfrm rot="0">
            <a:off x="5076889" y="1132972"/>
            <a:ext cx="6302836" cy="466725"/>
          </a:xfrm>
          <a:prstGeom prst="rect">
            <a:avLst/>
          </a:prstGeom>
        </p:spPr>
        <p:txBody>
          <a:bodyPr anchor="t" rtlCol="false" tIns="0" lIns="0" bIns="0" rIns="0">
            <a:spAutoFit/>
          </a:bodyPr>
          <a:lstStyle/>
          <a:p>
            <a:pPr algn="l">
              <a:lnSpc>
                <a:spcPts val="3600"/>
              </a:lnSpc>
            </a:pPr>
            <a:r>
              <a:rPr lang="en-US" sz="3000">
                <a:solidFill>
                  <a:srgbClr val="FFFFFF"/>
                </a:solidFill>
                <a:latin typeface="Poppins Medium"/>
                <a:ea typeface="Poppins Medium"/>
                <a:cs typeface="Poppins Medium"/>
                <a:sym typeface="Poppins Medium"/>
              </a:rPr>
              <a:t>CONCEPTO GENERAL</a:t>
            </a:r>
          </a:p>
        </p:txBody>
      </p:sp>
      <p:sp>
        <p:nvSpPr>
          <p:cNvPr name="TextBox 7" id="7"/>
          <p:cNvSpPr txBox="true"/>
          <p:nvPr/>
        </p:nvSpPr>
        <p:spPr>
          <a:xfrm rot="0">
            <a:off x="5076889" y="1715952"/>
            <a:ext cx="6302836" cy="1286510"/>
          </a:xfrm>
          <a:prstGeom prst="rect">
            <a:avLst/>
          </a:prstGeom>
        </p:spPr>
        <p:txBody>
          <a:bodyPr anchor="t" rtlCol="false" tIns="0" lIns="0" bIns="0" rIns="0">
            <a:spAutoFit/>
          </a:bodyPr>
          <a:lstStyle/>
          <a:p>
            <a:pPr algn="l">
              <a:lnSpc>
                <a:spcPts val="2590"/>
              </a:lnSpc>
            </a:pPr>
            <a:r>
              <a:rPr lang="en-US" sz="1850">
                <a:solidFill>
                  <a:srgbClr val="FFFFFF"/>
                </a:solidFill>
                <a:latin typeface="Poppins Light"/>
                <a:ea typeface="Poppins Light"/>
                <a:cs typeface="Poppins Light"/>
                <a:sym typeface="Poppins Light"/>
              </a:rPr>
              <a:t>El bucle For permite repetir un bloque de código un número específico de veces. Es útil cuando se conoce de antemano el número de iteraciones.</a:t>
            </a:r>
          </a:p>
          <a:p>
            <a:pPr algn="l">
              <a:lnSpc>
                <a:spcPts val="2590"/>
              </a:lnSpc>
            </a:pPr>
          </a:p>
        </p:txBody>
      </p:sp>
      <p:sp>
        <p:nvSpPr>
          <p:cNvPr name="TextBox 8" id="8"/>
          <p:cNvSpPr txBox="true"/>
          <p:nvPr/>
        </p:nvSpPr>
        <p:spPr>
          <a:xfrm rot="0">
            <a:off x="5076889" y="3418909"/>
            <a:ext cx="6302836" cy="466725"/>
          </a:xfrm>
          <a:prstGeom prst="rect">
            <a:avLst/>
          </a:prstGeom>
        </p:spPr>
        <p:txBody>
          <a:bodyPr anchor="t" rtlCol="false" tIns="0" lIns="0" bIns="0" rIns="0">
            <a:spAutoFit/>
          </a:bodyPr>
          <a:lstStyle/>
          <a:p>
            <a:pPr algn="l">
              <a:lnSpc>
                <a:spcPts val="3600"/>
              </a:lnSpc>
            </a:pPr>
            <a:r>
              <a:rPr lang="en-US" sz="3000">
                <a:solidFill>
                  <a:srgbClr val="FFFFFF"/>
                </a:solidFill>
                <a:latin typeface="Poppins Medium"/>
                <a:ea typeface="Poppins Medium"/>
                <a:cs typeface="Poppins Medium"/>
                <a:sym typeface="Poppins Medium"/>
              </a:rPr>
              <a:t>¿CÓMO USAR EL BUCLE FOR?</a:t>
            </a:r>
          </a:p>
        </p:txBody>
      </p:sp>
      <p:sp>
        <p:nvSpPr>
          <p:cNvPr name="TextBox 9" id="9"/>
          <p:cNvSpPr txBox="true"/>
          <p:nvPr/>
        </p:nvSpPr>
        <p:spPr>
          <a:xfrm rot="0">
            <a:off x="5076889" y="4001889"/>
            <a:ext cx="6302836" cy="1610360"/>
          </a:xfrm>
          <a:prstGeom prst="rect">
            <a:avLst/>
          </a:prstGeom>
        </p:spPr>
        <p:txBody>
          <a:bodyPr anchor="t" rtlCol="false" tIns="0" lIns="0" bIns="0" rIns="0">
            <a:spAutoFit/>
          </a:bodyPr>
          <a:lstStyle/>
          <a:p>
            <a:pPr algn="l">
              <a:lnSpc>
                <a:spcPts val="2590"/>
              </a:lnSpc>
            </a:pPr>
            <a:r>
              <a:rPr lang="en-US" sz="1850">
                <a:solidFill>
                  <a:srgbClr val="FFFFFF"/>
                </a:solidFill>
                <a:latin typeface="Poppins Light"/>
                <a:ea typeface="Poppins Light"/>
                <a:cs typeface="Poppins Light"/>
                <a:sym typeface="Poppins Light"/>
              </a:rPr>
              <a:t>La estructura del bucle For consta de un contador que se inicializa, una condición que se evalúa antes de cada iteración y una actualización del contador al final de cada iteración.</a:t>
            </a:r>
          </a:p>
          <a:p>
            <a:pPr algn="l">
              <a:lnSpc>
                <a:spcPts val="2590"/>
              </a:lnSpc>
            </a:pPr>
          </a:p>
        </p:txBody>
      </p:sp>
      <p:grpSp>
        <p:nvGrpSpPr>
          <p:cNvPr name="Group 10" id="10"/>
          <p:cNvGrpSpPr/>
          <p:nvPr/>
        </p:nvGrpSpPr>
        <p:grpSpPr>
          <a:xfrm rot="0">
            <a:off x="5076889" y="6010394"/>
            <a:ext cx="6302836" cy="2141621"/>
            <a:chOff x="0" y="0"/>
            <a:chExt cx="8403782" cy="2855495"/>
          </a:xfrm>
        </p:grpSpPr>
        <p:sp>
          <p:nvSpPr>
            <p:cNvPr name="Freeform 11" id="11"/>
            <p:cNvSpPr/>
            <p:nvPr/>
          </p:nvSpPr>
          <p:spPr>
            <a:xfrm flipH="false" flipV="false" rot="0">
              <a:off x="0" y="807782"/>
              <a:ext cx="7804061" cy="2047713"/>
            </a:xfrm>
            <a:custGeom>
              <a:avLst/>
              <a:gdLst/>
              <a:ahLst/>
              <a:cxnLst/>
              <a:rect r="r" b="b" t="t" l="l"/>
              <a:pathLst>
                <a:path h="2047713" w="7804061">
                  <a:moveTo>
                    <a:pt x="0" y="0"/>
                  </a:moveTo>
                  <a:lnTo>
                    <a:pt x="7804061" y="0"/>
                  </a:lnTo>
                  <a:lnTo>
                    <a:pt x="7804061" y="2047713"/>
                  </a:lnTo>
                  <a:lnTo>
                    <a:pt x="0" y="2047713"/>
                  </a:lnTo>
                  <a:lnTo>
                    <a:pt x="0" y="0"/>
                  </a:lnTo>
                  <a:close/>
                </a:path>
              </a:pathLst>
            </a:custGeom>
            <a:blipFill>
              <a:blip r:embed="rId3"/>
              <a:stretch>
                <a:fillRect l="0" t="0" r="0" b="0"/>
              </a:stretch>
            </a:blipFill>
          </p:spPr>
        </p:sp>
        <p:sp>
          <p:nvSpPr>
            <p:cNvPr name="TextBox 12" id="12"/>
            <p:cNvSpPr txBox="true"/>
            <p:nvPr/>
          </p:nvSpPr>
          <p:spPr>
            <a:xfrm rot="0">
              <a:off x="0" y="0"/>
              <a:ext cx="8403782" cy="584121"/>
            </a:xfrm>
            <a:prstGeom prst="rect">
              <a:avLst/>
            </a:prstGeom>
          </p:spPr>
          <p:txBody>
            <a:bodyPr anchor="t" rtlCol="false" tIns="0" lIns="0" bIns="0" rIns="0">
              <a:spAutoFit/>
            </a:bodyPr>
            <a:lstStyle/>
            <a:p>
              <a:pPr algn="l">
                <a:lnSpc>
                  <a:spcPts val="3510"/>
                </a:lnSpc>
              </a:pPr>
              <a:r>
                <a:rPr lang="en-US" sz="2925">
                  <a:solidFill>
                    <a:srgbClr val="FFFFFF"/>
                  </a:solidFill>
                  <a:latin typeface="Poppins Medium"/>
                  <a:ea typeface="Poppins Medium"/>
                  <a:cs typeface="Poppins Medium"/>
                  <a:sym typeface="Poppins Medium"/>
                </a:rPr>
                <a:t>EJEMPLO :</a:t>
              </a:r>
            </a:p>
          </p:txBody>
        </p:sp>
        <p:sp>
          <p:nvSpPr>
            <p:cNvPr name="TextBox 13" id="13"/>
            <p:cNvSpPr txBox="true"/>
            <p:nvPr/>
          </p:nvSpPr>
          <p:spPr>
            <a:xfrm rot="0">
              <a:off x="0" y="781673"/>
              <a:ext cx="8403782" cy="407723"/>
            </a:xfrm>
            <a:prstGeom prst="rect">
              <a:avLst/>
            </a:prstGeom>
          </p:spPr>
          <p:txBody>
            <a:bodyPr anchor="t" rtlCol="false" tIns="0" lIns="0" bIns="0" rIns="0">
              <a:spAutoFit/>
            </a:bodyPr>
            <a:lstStyle/>
            <a:p>
              <a:pPr algn="l">
                <a:lnSpc>
                  <a:spcPts val="2695"/>
                </a:lnSpc>
              </a:pPr>
            </a:p>
          </p:txBody>
        </p:sp>
      </p:gr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141414"/>
        </a:solidFill>
      </p:bgPr>
    </p:bg>
    <p:spTree>
      <p:nvGrpSpPr>
        <p:cNvPr id="1" name=""/>
        <p:cNvGrpSpPr/>
        <p:nvPr/>
      </p:nvGrpSpPr>
      <p:grpSpPr>
        <a:xfrm>
          <a:off x="0" y="0"/>
          <a:ext cx="0" cy="0"/>
          <a:chOff x="0" y="0"/>
          <a:chExt cx="0" cy="0"/>
        </a:xfrm>
      </p:grpSpPr>
      <p:sp>
        <p:nvSpPr>
          <p:cNvPr name="AutoShape 2" id="2"/>
          <p:cNvSpPr/>
          <p:nvPr/>
        </p:nvSpPr>
        <p:spPr>
          <a:xfrm flipV="true">
            <a:off x="4236106" y="1442101"/>
            <a:ext cx="0" cy="7638389"/>
          </a:xfrm>
          <a:prstGeom prst="line">
            <a:avLst/>
          </a:prstGeom>
          <a:ln cap="rnd" w="19050">
            <a:solidFill>
              <a:srgbClr val="10B5BF"/>
            </a:solidFill>
            <a:prstDash val="solid"/>
            <a:headEnd type="none" len="sm" w="sm"/>
            <a:tailEnd type="none" len="sm" w="sm"/>
          </a:ln>
        </p:spPr>
      </p:sp>
      <p:grpSp>
        <p:nvGrpSpPr>
          <p:cNvPr name="Group 3" id="3"/>
          <p:cNvGrpSpPr/>
          <p:nvPr/>
        </p:nvGrpSpPr>
        <p:grpSpPr>
          <a:xfrm rot="0">
            <a:off x="1264842" y="3118003"/>
            <a:ext cx="2657398" cy="2143413"/>
            <a:chOff x="0" y="0"/>
            <a:chExt cx="3543197" cy="2857883"/>
          </a:xfrm>
        </p:grpSpPr>
        <p:sp>
          <p:nvSpPr>
            <p:cNvPr name="TextBox 4" id="4"/>
            <p:cNvSpPr txBox="true"/>
            <p:nvPr/>
          </p:nvSpPr>
          <p:spPr>
            <a:xfrm rot="0">
              <a:off x="0" y="2255903"/>
              <a:ext cx="3543197" cy="419100"/>
            </a:xfrm>
            <a:prstGeom prst="rect">
              <a:avLst/>
            </a:prstGeom>
          </p:spPr>
          <p:txBody>
            <a:bodyPr anchor="t" rtlCol="false" tIns="0" lIns="0" bIns="0" rIns="0">
              <a:spAutoFit/>
            </a:bodyPr>
            <a:lstStyle/>
            <a:p>
              <a:pPr algn="l">
                <a:lnSpc>
                  <a:spcPts val="2520"/>
                </a:lnSpc>
              </a:pPr>
            </a:p>
          </p:txBody>
        </p:sp>
        <p:sp>
          <p:nvSpPr>
            <p:cNvPr name="TextBox 5" id="5"/>
            <p:cNvSpPr txBox="true"/>
            <p:nvPr/>
          </p:nvSpPr>
          <p:spPr>
            <a:xfrm rot="0">
              <a:off x="0" y="0"/>
              <a:ext cx="3543197" cy="1358900"/>
            </a:xfrm>
            <a:prstGeom prst="rect">
              <a:avLst/>
            </a:prstGeom>
          </p:spPr>
          <p:txBody>
            <a:bodyPr anchor="t" rtlCol="false" tIns="0" lIns="0" bIns="0" rIns="0">
              <a:spAutoFit/>
            </a:bodyPr>
            <a:lstStyle/>
            <a:p>
              <a:pPr algn="l">
                <a:lnSpc>
                  <a:spcPts val="8039"/>
                </a:lnSpc>
              </a:pPr>
              <a:r>
                <a:rPr lang="en-US" sz="6700" b="true">
                  <a:solidFill>
                    <a:srgbClr val="FFFFFF"/>
                  </a:solidFill>
                  <a:latin typeface="Poppins Medium Bold"/>
                  <a:ea typeface="Poppins Medium Bold"/>
                  <a:cs typeface="Poppins Medium Bold"/>
                  <a:sym typeface="Poppins Medium Bold"/>
                </a:rPr>
                <a:t>WHILE</a:t>
              </a:r>
            </a:p>
          </p:txBody>
        </p:sp>
      </p:grpSp>
      <p:sp>
        <p:nvSpPr>
          <p:cNvPr name="TextBox 6" id="6"/>
          <p:cNvSpPr txBox="true"/>
          <p:nvPr/>
        </p:nvSpPr>
        <p:spPr>
          <a:xfrm rot="0">
            <a:off x="5076889" y="1132972"/>
            <a:ext cx="6302836" cy="466725"/>
          </a:xfrm>
          <a:prstGeom prst="rect">
            <a:avLst/>
          </a:prstGeom>
        </p:spPr>
        <p:txBody>
          <a:bodyPr anchor="t" rtlCol="false" tIns="0" lIns="0" bIns="0" rIns="0">
            <a:spAutoFit/>
          </a:bodyPr>
          <a:lstStyle/>
          <a:p>
            <a:pPr algn="l">
              <a:lnSpc>
                <a:spcPts val="3600"/>
              </a:lnSpc>
            </a:pPr>
            <a:r>
              <a:rPr lang="en-US" sz="3000">
                <a:solidFill>
                  <a:srgbClr val="FFFFFF"/>
                </a:solidFill>
                <a:latin typeface="Poppins Medium"/>
                <a:ea typeface="Poppins Medium"/>
                <a:cs typeface="Poppins Medium"/>
                <a:sym typeface="Poppins Medium"/>
              </a:rPr>
              <a:t>CONCEPTO GENERAL</a:t>
            </a:r>
          </a:p>
        </p:txBody>
      </p:sp>
      <p:sp>
        <p:nvSpPr>
          <p:cNvPr name="TextBox 7" id="7"/>
          <p:cNvSpPr txBox="true"/>
          <p:nvPr/>
        </p:nvSpPr>
        <p:spPr>
          <a:xfrm rot="0">
            <a:off x="5076889" y="1715952"/>
            <a:ext cx="6302836" cy="1610360"/>
          </a:xfrm>
          <a:prstGeom prst="rect">
            <a:avLst/>
          </a:prstGeom>
        </p:spPr>
        <p:txBody>
          <a:bodyPr anchor="t" rtlCol="false" tIns="0" lIns="0" bIns="0" rIns="0">
            <a:spAutoFit/>
          </a:bodyPr>
          <a:lstStyle/>
          <a:p>
            <a:pPr algn="l">
              <a:lnSpc>
                <a:spcPts val="2590"/>
              </a:lnSpc>
            </a:pPr>
            <a:r>
              <a:rPr lang="en-US" sz="1850">
                <a:solidFill>
                  <a:srgbClr val="FFFFFF"/>
                </a:solidFill>
                <a:latin typeface="Poppins Light"/>
                <a:ea typeface="Poppins Light"/>
                <a:cs typeface="Poppins Light"/>
                <a:sym typeface="Poppins Light"/>
              </a:rPr>
              <a:t>El bucle While permite repetir un bloque de código mientras se cumpla una condición específica. Es útil para situaciones en las que no se conoce de antemano cuántas veces se ejecutará el bucle.</a:t>
            </a:r>
          </a:p>
          <a:p>
            <a:pPr algn="l">
              <a:lnSpc>
                <a:spcPts val="2590"/>
              </a:lnSpc>
            </a:pPr>
          </a:p>
        </p:txBody>
      </p:sp>
      <p:sp>
        <p:nvSpPr>
          <p:cNvPr name="TextBox 8" id="8"/>
          <p:cNvSpPr txBox="true"/>
          <p:nvPr/>
        </p:nvSpPr>
        <p:spPr>
          <a:xfrm rot="0">
            <a:off x="5076889" y="3418909"/>
            <a:ext cx="6302836" cy="466725"/>
          </a:xfrm>
          <a:prstGeom prst="rect">
            <a:avLst/>
          </a:prstGeom>
        </p:spPr>
        <p:txBody>
          <a:bodyPr anchor="t" rtlCol="false" tIns="0" lIns="0" bIns="0" rIns="0">
            <a:spAutoFit/>
          </a:bodyPr>
          <a:lstStyle/>
          <a:p>
            <a:pPr algn="l">
              <a:lnSpc>
                <a:spcPts val="3600"/>
              </a:lnSpc>
            </a:pPr>
            <a:r>
              <a:rPr lang="en-US" sz="3000">
                <a:solidFill>
                  <a:srgbClr val="FFFFFF"/>
                </a:solidFill>
                <a:latin typeface="Poppins Medium"/>
                <a:ea typeface="Poppins Medium"/>
                <a:cs typeface="Poppins Medium"/>
                <a:sym typeface="Poppins Medium"/>
              </a:rPr>
              <a:t>¿CÓMO USAR EL BUCLE WHILE?</a:t>
            </a:r>
          </a:p>
        </p:txBody>
      </p:sp>
      <p:sp>
        <p:nvSpPr>
          <p:cNvPr name="TextBox 9" id="9"/>
          <p:cNvSpPr txBox="true"/>
          <p:nvPr/>
        </p:nvSpPr>
        <p:spPr>
          <a:xfrm rot="0">
            <a:off x="5076889" y="4001889"/>
            <a:ext cx="6302836" cy="1610360"/>
          </a:xfrm>
          <a:prstGeom prst="rect">
            <a:avLst/>
          </a:prstGeom>
        </p:spPr>
        <p:txBody>
          <a:bodyPr anchor="t" rtlCol="false" tIns="0" lIns="0" bIns="0" rIns="0">
            <a:spAutoFit/>
          </a:bodyPr>
          <a:lstStyle/>
          <a:p>
            <a:pPr algn="l">
              <a:lnSpc>
                <a:spcPts val="2590"/>
              </a:lnSpc>
            </a:pPr>
            <a:r>
              <a:rPr lang="en-US" sz="1850">
                <a:solidFill>
                  <a:srgbClr val="FFFFFF"/>
                </a:solidFill>
                <a:latin typeface="Poppins Light"/>
                <a:ea typeface="Poppins Light"/>
                <a:cs typeface="Poppins Light"/>
                <a:sym typeface="Poppins Light"/>
              </a:rPr>
              <a:t>La estructura del bucle While evalúa una condición antes de cada iteración. Si la condición es verdadera, el bloque de código se ejecuta. Esto continúa hasta que la condición se vuelve falsa.</a:t>
            </a:r>
          </a:p>
          <a:p>
            <a:pPr algn="l">
              <a:lnSpc>
                <a:spcPts val="2590"/>
              </a:lnSpc>
            </a:pPr>
          </a:p>
        </p:txBody>
      </p:sp>
      <p:grpSp>
        <p:nvGrpSpPr>
          <p:cNvPr name="Group 10" id="10"/>
          <p:cNvGrpSpPr/>
          <p:nvPr/>
        </p:nvGrpSpPr>
        <p:grpSpPr>
          <a:xfrm rot="0">
            <a:off x="5076889" y="5686544"/>
            <a:ext cx="6302970" cy="2820600"/>
            <a:chOff x="0" y="0"/>
            <a:chExt cx="8403960" cy="3760800"/>
          </a:xfrm>
        </p:grpSpPr>
        <p:sp>
          <p:nvSpPr>
            <p:cNvPr name="Freeform 11" id="11"/>
            <p:cNvSpPr/>
            <p:nvPr/>
          </p:nvSpPr>
          <p:spPr>
            <a:xfrm flipH="false" flipV="false" rot="0">
              <a:off x="0" y="627718"/>
              <a:ext cx="7249115" cy="3133082"/>
            </a:xfrm>
            <a:custGeom>
              <a:avLst/>
              <a:gdLst/>
              <a:ahLst/>
              <a:cxnLst/>
              <a:rect r="r" b="b" t="t" l="l"/>
              <a:pathLst>
                <a:path h="3133082" w="7249115">
                  <a:moveTo>
                    <a:pt x="0" y="0"/>
                  </a:moveTo>
                  <a:lnTo>
                    <a:pt x="7249115" y="0"/>
                  </a:lnTo>
                  <a:lnTo>
                    <a:pt x="7249115" y="3133082"/>
                  </a:lnTo>
                  <a:lnTo>
                    <a:pt x="0" y="3133082"/>
                  </a:lnTo>
                  <a:lnTo>
                    <a:pt x="0" y="0"/>
                  </a:lnTo>
                  <a:close/>
                </a:path>
              </a:pathLst>
            </a:custGeom>
            <a:blipFill>
              <a:blip r:embed="rId3"/>
              <a:stretch>
                <a:fillRect l="0" t="0" r="-19106" b="0"/>
              </a:stretch>
            </a:blipFill>
          </p:spPr>
        </p:sp>
        <p:sp>
          <p:nvSpPr>
            <p:cNvPr name="TextBox 12" id="12"/>
            <p:cNvSpPr txBox="true"/>
            <p:nvPr/>
          </p:nvSpPr>
          <p:spPr>
            <a:xfrm rot="0">
              <a:off x="178" y="0"/>
              <a:ext cx="8403782" cy="584121"/>
            </a:xfrm>
            <a:prstGeom prst="rect">
              <a:avLst/>
            </a:prstGeom>
          </p:spPr>
          <p:txBody>
            <a:bodyPr anchor="t" rtlCol="false" tIns="0" lIns="0" bIns="0" rIns="0">
              <a:spAutoFit/>
            </a:bodyPr>
            <a:lstStyle/>
            <a:p>
              <a:pPr algn="l">
                <a:lnSpc>
                  <a:spcPts val="3510"/>
                </a:lnSpc>
              </a:pPr>
              <a:r>
                <a:rPr lang="en-US" sz="2925">
                  <a:solidFill>
                    <a:srgbClr val="FFFFFF"/>
                  </a:solidFill>
                  <a:latin typeface="Poppins Medium"/>
                  <a:ea typeface="Poppins Medium"/>
                  <a:cs typeface="Poppins Medium"/>
                  <a:sym typeface="Poppins Medium"/>
                </a:rPr>
                <a:t>EJEMPLO :</a:t>
              </a:r>
            </a:p>
          </p:txBody>
        </p:sp>
        <p:sp>
          <p:nvSpPr>
            <p:cNvPr name="TextBox 13" id="13"/>
            <p:cNvSpPr txBox="true"/>
            <p:nvPr/>
          </p:nvSpPr>
          <p:spPr>
            <a:xfrm rot="0">
              <a:off x="178" y="781673"/>
              <a:ext cx="8403782" cy="407723"/>
            </a:xfrm>
            <a:prstGeom prst="rect">
              <a:avLst/>
            </a:prstGeom>
          </p:spPr>
          <p:txBody>
            <a:bodyPr anchor="t" rtlCol="false" tIns="0" lIns="0" bIns="0" rIns="0">
              <a:spAutoFit/>
            </a:bodyPr>
            <a:lstStyle/>
            <a:p>
              <a:pPr algn="l">
                <a:lnSpc>
                  <a:spcPts val="2695"/>
                </a:lnSpc>
              </a:pPr>
            </a:p>
          </p:txBody>
        </p:sp>
      </p:gr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141414"/>
        </a:solidFill>
      </p:bgPr>
    </p:bg>
    <p:spTree>
      <p:nvGrpSpPr>
        <p:cNvPr id="1" name=""/>
        <p:cNvGrpSpPr/>
        <p:nvPr/>
      </p:nvGrpSpPr>
      <p:grpSpPr>
        <a:xfrm>
          <a:off x="0" y="0"/>
          <a:ext cx="0" cy="0"/>
          <a:chOff x="0" y="0"/>
          <a:chExt cx="0" cy="0"/>
        </a:xfrm>
      </p:grpSpPr>
      <p:sp>
        <p:nvSpPr>
          <p:cNvPr name="Freeform 2" id="2"/>
          <p:cNvSpPr/>
          <p:nvPr/>
        </p:nvSpPr>
        <p:spPr>
          <a:xfrm flipH="false" flipV="false" rot="0">
            <a:off x="-1333500" y="4920320"/>
            <a:ext cx="5172523" cy="3956980"/>
          </a:xfrm>
          <a:custGeom>
            <a:avLst/>
            <a:gdLst/>
            <a:ahLst/>
            <a:cxnLst/>
            <a:rect r="r" b="b" t="t" l="l"/>
            <a:pathLst>
              <a:path h="3956980" w="5172523">
                <a:moveTo>
                  <a:pt x="0" y="0"/>
                </a:moveTo>
                <a:lnTo>
                  <a:pt x="5172523" y="0"/>
                </a:lnTo>
                <a:lnTo>
                  <a:pt x="5172523" y="3956980"/>
                </a:lnTo>
                <a:lnTo>
                  <a:pt x="0" y="3956980"/>
                </a:lnTo>
                <a:lnTo>
                  <a:pt x="0" y="0"/>
                </a:lnTo>
                <a:close/>
              </a:path>
            </a:pathLst>
          </a:custGeom>
          <a:blipFill>
            <a:blip r:embed="rId2"/>
            <a:stretch>
              <a:fillRect l="0" t="0" r="0" b="0"/>
            </a:stretch>
          </a:blipFill>
        </p:spPr>
      </p:sp>
      <p:sp>
        <p:nvSpPr>
          <p:cNvPr name="TextBox 3" id="3"/>
          <p:cNvSpPr txBox="true"/>
          <p:nvPr/>
        </p:nvSpPr>
        <p:spPr>
          <a:xfrm rot="0">
            <a:off x="3158420" y="3136155"/>
            <a:ext cx="11646135" cy="1838325"/>
          </a:xfrm>
          <a:prstGeom prst="rect">
            <a:avLst/>
          </a:prstGeom>
        </p:spPr>
        <p:txBody>
          <a:bodyPr anchor="t" rtlCol="false" tIns="0" lIns="0" bIns="0" rIns="0">
            <a:spAutoFit/>
          </a:bodyPr>
          <a:lstStyle/>
          <a:p>
            <a:pPr algn="ctr">
              <a:lnSpc>
                <a:spcPts val="14400"/>
              </a:lnSpc>
            </a:pPr>
            <a:r>
              <a:rPr lang="en-US" sz="12000" b="true">
                <a:solidFill>
                  <a:srgbClr val="FFFFFF"/>
                </a:solidFill>
                <a:latin typeface="Poppins Medium Bold"/>
                <a:ea typeface="Poppins Medium Bold"/>
                <a:cs typeface="Poppins Medium Bold"/>
                <a:sym typeface="Poppins Medium Bold"/>
              </a:rPr>
              <a:t>Fin del repaso</a:t>
            </a:r>
          </a:p>
        </p:txBody>
      </p:sp>
      <p:sp>
        <p:nvSpPr>
          <p:cNvPr name="Freeform 4" id="4"/>
          <p:cNvSpPr/>
          <p:nvPr/>
        </p:nvSpPr>
        <p:spPr>
          <a:xfrm flipH="false" flipV="false" rot="-479821">
            <a:off x="15520716" y="1619948"/>
            <a:ext cx="3477167" cy="2886049"/>
          </a:xfrm>
          <a:custGeom>
            <a:avLst/>
            <a:gdLst/>
            <a:ahLst/>
            <a:cxnLst/>
            <a:rect r="r" b="b" t="t" l="l"/>
            <a:pathLst>
              <a:path h="2886049" w="3477167">
                <a:moveTo>
                  <a:pt x="0" y="0"/>
                </a:moveTo>
                <a:lnTo>
                  <a:pt x="3477168" y="0"/>
                </a:lnTo>
                <a:lnTo>
                  <a:pt x="3477168" y="2886049"/>
                </a:lnTo>
                <a:lnTo>
                  <a:pt x="0" y="2886049"/>
                </a:lnTo>
                <a:lnTo>
                  <a:pt x="0" y="0"/>
                </a:lnTo>
                <a:close/>
              </a:path>
            </a:pathLst>
          </a:custGeom>
          <a:blipFill>
            <a:blip r:embed="rId3"/>
            <a:stretch>
              <a:fillRect l="0" t="0" r="0" b="0"/>
            </a:stretch>
          </a:blipFill>
        </p:spPr>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141414"/>
        </a:solidFill>
      </p:bgPr>
    </p:bg>
    <p:spTree>
      <p:nvGrpSpPr>
        <p:cNvPr id="1" name=""/>
        <p:cNvGrpSpPr/>
        <p:nvPr/>
      </p:nvGrpSpPr>
      <p:grpSpPr>
        <a:xfrm>
          <a:off x="0" y="0"/>
          <a:ext cx="0" cy="0"/>
          <a:chOff x="0" y="0"/>
          <a:chExt cx="0" cy="0"/>
        </a:xfrm>
      </p:grpSpPr>
      <p:grpSp>
        <p:nvGrpSpPr>
          <p:cNvPr name="Group 2" id="2"/>
          <p:cNvGrpSpPr/>
          <p:nvPr/>
        </p:nvGrpSpPr>
        <p:grpSpPr>
          <a:xfrm rot="0">
            <a:off x="1639388" y="4809208"/>
            <a:ext cx="10336162" cy="3833793"/>
            <a:chOff x="0" y="0"/>
            <a:chExt cx="13781550" cy="5111724"/>
          </a:xfrm>
        </p:grpSpPr>
        <p:sp>
          <p:nvSpPr>
            <p:cNvPr name="TextBox 3" id="3"/>
            <p:cNvSpPr txBox="true"/>
            <p:nvPr/>
          </p:nvSpPr>
          <p:spPr>
            <a:xfrm rot="0">
              <a:off x="0" y="4575228"/>
              <a:ext cx="13781550" cy="536496"/>
            </a:xfrm>
            <a:prstGeom prst="rect">
              <a:avLst/>
            </a:prstGeom>
          </p:spPr>
          <p:txBody>
            <a:bodyPr anchor="t" rtlCol="false" tIns="0" lIns="0" bIns="0" rIns="0">
              <a:spAutoFit/>
            </a:bodyPr>
            <a:lstStyle/>
            <a:p>
              <a:pPr algn="l">
                <a:lnSpc>
                  <a:spcPts val="3240"/>
                </a:lnSpc>
              </a:pPr>
              <a:r>
                <a:rPr lang="en-US" sz="2700">
                  <a:solidFill>
                    <a:srgbClr val="10B5BF"/>
                  </a:solidFill>
                  <a:latin typeface="Poppins Medium"/>
                  <a:ea typeface="Poppins Medium"/>
                  <a:cs typeface="Poppins Medium"/>
                  <a:sym typeface="Poppins Medium"/>
                </a:rPr>
                <a:t>Espero, </a:t>
              </a:r>
              <a:r>
                <a:rPr lang="en-US" sz="2700">
                  <a:solidFill>
                    <a:srgbClr val="10B5BF"/>
                  </a:solidFill>
                  <a:latin typeface="Poppins Medium"/>
                  <a:ea typeface="Poppins Medium"/>
                  <a:cs typeface="Poppins Medium"/>
                  <a:sym typeface="Poppins Medium"/>
                </a:rPr>
                <a:t>que hayas aprendido algo nuevo.</a:t>
              </a:r>
            </a:p>
          </p:txBody>
        </p:sp>
        <p:sp>
          <p:nvSpPr>
            <p:cNvPr name="TextBox 4" id="4"/>
            <p:cNvSpPr txBox="true"/>
            <p:nvPr/>
          </p:nvSpPr>
          <p:spPr>
            <a:xfrm rot="0">
              <a:off x="0" y="0"/>
              <a:ext cx="13781550" cy="3657600"/>
            </a:xfrm>
            <a:prstGeom prst="rect">
              <a:avLst/>
            </a:prstGeom>
          </p:spPr>
          <p:txBody>
            <a:bodyPr anchor="t" rtlCol="false" tIns="0" lIns="0" bIns="0" rIns="0">
              <a:spAutoFit/>
            </a:bodyPr>
            <a:lstStyle/>
            <a:p>
              <a:pPr algn="l">
                <a:lnSpc>
                  <a:spcPts val="10800"/>
                </a:lnSpc>
              </a:pPr>
              <a:r>
                <a:rPr lang="en-US" sz="9000" b="true">
                  <a:solidFill>
                    <a:srgbClr val="FFFFFF"/>
                  </a:solidFill>
                  <a:latin typeface="Poppins Medium Bold"/>
                  <a:ea typeface="Poppins Medium Bold"/>
                  <a:cs typeface="Poppins Medium Bold"/>
                  <a:sym typeface="Poppins Medium Bold"/>
                </a:rPr>
                <a:t>¿Tienes alguna pregunta?</a:t>
              </a:r>
            </a:p>
          </p:txBody>
        </p:sp>
      </p:grpSp>
      <p:sp>
        <p:nvSpPr>
          <p:cNvPr name="Freeform 5" id="5"/>
          <p:cNvSpPr/>
          <p:nvPr/>
        </p:nvSpPr>
        <p:spPr>
          <a:xfrm flipH="false" flipV="false" rot="0">
            <a:off x="9144000" y="-1400753"/>
            <a:ext cx="7160084" cy="5477464"/>
          </a:xfrm>
          <a:custGeom>
            <a:avLst/>
            <a:gdLst/>
            <a:ahLst/>
            <a:cxnLst/>
            <a:rect r="r" b="b" t="t" l="l"/>
            <a:pathLst>
              <a:path h="5477464" w="7160084">
                <a:moveTo>
                  <a:pt x="0" y="0"/>
                </a:moveTo>
                <a:lnTo>
                  <a:pt x="7160084" y="0"/>
                </a:lnTo>
                <a:lnTo>
                  <a:pt x="7160084" y="5477464"/>
                </a:lnTo>
                <a:lnTo>
                  <a:pt x="0" y="5477464"/>
                </a:lnTo>
                <a:lnTo>
                  <a:pt x="0" y="0"/>
                </a:lnTo>
                <a:close/>
              </a:path>
            </a:pathLst>
          </a:custGeom>
          <a:blipFill>
            <a:blip r:embed="rId2"/>
            <a:stretch>
              <a:fillRect l="0" t="0" r="0" b="0"/>
            </a:stretch>
          </a:blipFill>
        </p:spPr>
      </p:sp>
      <p:sp>
        <p:nvSpPr>
          <p:cNvPr name="Freeform 6" id="6"/>
          <p:cNvSpPr/>
          <p:nvPr/>
        </p:nvSpPr>
        <p:spPr>
          <a:xfrm flipH="true" flipV="false" rot="-7698346">
            <a:off x="14309952" y="2598981"/>
            <a:ext cx="2866797" cy="2955461"/>
          </a:xfrm>
          <a:custGeom>
            <a:avLst/>
            <a:gdLst/>
            <a:ahLst/>
            <a:cxnLst/>
            <a:rect r="r" b="b" t="t" l="l"/>
            <a:pathLst>
              <a:path h="2955461" w="2866797">
                <a:moveTo>
                  <a:pt x="2866796" y="0"/>
                </a:moveTo>
                <a:lnTo>
                  <a:pt x="0" y="0"/>
                </a:lnTo>
                <a:lnTo>
                  <a:pt x="0" y="2955460"/>
                </a:lnTo>
                <a:lnTo>
                  <a:pt x="2866796" y="2955460"/>
                </a:lnTo>
                <a:lnTo>
                  <a:pt x="2866796" y="0"/>
                </a:lnTo>
                <a:close/>
              </a:path>
            </a:pathLst>
          </a:custGeom>
          <a:blipFill>
            <a:blip r:embed="rId3"/>
            <a:stretch>
              <a:fillRect l="0" t="0" r="0" b="0"/>
            </a:stretch>
          </a:blipFill>
        </p:spPr>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141414"/>
        </a:solidFill>
      </p:bgPr>
    </p:bg>
    <p:spTree>
      <p:nvGrpSpPr>
        <p:cNvPr id="1" name=""/>
        <p:cNvGrpSpPr/>
        <p:nvPr/>
      </p:nvGrpSpPr>
      <p:grpSpPr>
        <a:xfrm>
          <a:off x="0" y="0"/>
          <a:ext cx="0" cy="0"/>
          <a:chOff x="0" y="0"/>
          <a:chExt cx="0" cy="0"/>
        </a:xfrm>
      </p:grpSpPr>
      <p:grpSp>
        <p:nvGrpSpPr>
          <p:cNvPr name="Group 2" id="2"/>
          <p:cNvGrpSpPr/>
          <p:nvPr/>
        </p:nvGrpSpPr>
        <p:grpSpPr>
          <a:xfrm rot="0">
            <a:off x="3762892" y="4310835"/>
            <a:ext cx="10336162" cy="3833793"/>
            <a:chOff x="0" y="0"/>
            <a:chExt cx="13781550" cy="5111724"/>
          </a:xfrm>
        </p:grpSpPr>
        <p:sp>
          <p:nvSpPr>
            <p:cNvPr name="TextBox 3" id="3"/>
            <p:cNvSpPr txBox="true"/>
            <p:nvPr/>
          </p:nvSpPr>
          <p:spPr>
            <a:xfrm rot="0">
              <a:off x="0" y="4575228"/>
              <a:ext cx="13781550" cy="536496"/>
            </a:xfrm>
            <a:prstGeom prst="rect">
              <a:avLst/>
            </a:prstGeom>
          </p:spPr>
          <p:txBody>
            <a:bodyPr anchor="t" rtlCol="false" tIns="0" lIns="0" bIns="0" rIns="0">
              <a:spAutoFit/>
            </a:bodyPr>
            <a:lstStyle/>
            <a:p>
              <a:pPr algn="l">
                <a:lnSpc>
                  <a:spcPts val="3240"/>
                </a:lnSpc>
              </a:pPr>
            </a:p>
          </p:txBody>
        </p:sp>
        <p:sp>
          <p:nvSpPr>
            <p:cNvPr name="TextBox 4" id="4"/>
            <p:cNvSpPr txBox="true"/>
            <p:nvPr/>
          </p:nvSpPr>
          <p:spPr>
            <a:xfrm rot="0">
              <a:off x="0" y="0"/>
              <a:ext cx="13781550" cy="3657600"/>
            </a:xfrm>
            <a:prstGeom prst="rect">
              <a:avLst/>
            </a:prstGeom>
          </p:spPr>
          <p:txBody>
            <a:bodyPr anchor="t" rtlCol="false" tIns="0" lIns="0" bIns="0" rIns="0">
              <a:spAutoFit/>
            </a:bodyPr>
            <a:lstStyle/>
            <a:p>
              <a:pPr algn="ctr">
                <a:lnSpc>
                  <a:spcPts val="10800"/>
                </a:lnSpc>
              </a:pPr>
              <a:r>
                <a:rPr lang="en-US" sz="9000" b="true">
                  <a:solidFill>
                    <a:srgbClr val="FFFFFF"/>
                  </a:solidFill>
                  <a:latin typeface="Poppins Medium Bold"/>
                  <a:ea typeface="Poppins Medium Bold"/>
                  <a:cs typeface="Poppins Medium Bold"/>
                  <a:sym typeface="Poppins Medium Bold"/>
                </a:rPr>
                <a:t>¡Gracias por su atención!</a:t>
              </a:r>
            </a:p>
          </p:txBody>
        </p:sp>
      </p:grpSp>
      <p:sp>
        <p:nvSpPr>
          <p:cNvPr name="Freeform 5" id="5"/>
          <p:cNvSpPr/>
          <p:nvPr/>
        </p:nvSpPr>
        <p:spPr>
          <a:xfrm flipH="false" flipV="false" rot="0">
            <a:off x="267647" y="496725"/>
            <a:ext cx="4144945" cy="4114800"/>
          </a:xfrm>
          <a:custGeom>
            <a:avLst/>
            <a:gdLst/>
            <a:ahLst/>
            <a:cxnLst/>
            <a:rect r="r" b="b" t="t" l="l"/>
            <a:pathLst>
              <a:path h="4114800" w="4144945">
                <a:moveTo>
                  <a:pt x="0" y="0"/>
                </a:moveTo>
                <a:lnTo>
                  <a:pt x="4144945" y="0"/>
                </a:lnTo>
                <a:lnTo>
                  <a:pt x="4144945"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3287200" y="5642972"/>
            <a:ext cx="4887991" cy="4114800"/>
          </a:xfrm>
          <a:custGeom>
            <a:avLst/>
            <a:gdLst/>
            <a:ahLst/>
            <a:cxnLst/>
            <a:rect r="r" b="b" t="t" l="l"/>
            <a:pathLst>
              <a:path h="4114800" w="4887991">
                <a:moveTo>
                  <a:pt x="0" y="0"/>
                </a:moveTo>
                <a:lnTo>
                  <a:pt x="4887992" y="0"/>
                </a:lnTo>
                <a:lnTo>
                  <a:pt x="4887992"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DAGLusz6tVo</dc:identifier>
  <dcterms:modified xsi:type="dcterms:W3CDTF">2011-08-01T06:04:30Z</dcterms:modified>
  <cp:revision>1</cp:revision>
  <dc:title>Lab 090 - Presentacion 1</dc:title>
</cp:coreProperties>
</file>