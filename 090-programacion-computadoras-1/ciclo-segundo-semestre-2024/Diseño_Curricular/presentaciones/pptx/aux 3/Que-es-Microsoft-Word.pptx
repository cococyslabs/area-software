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4630400" cy="8229600"/>
  <p:notesSz cx="8229600" cy="14630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3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8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0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8610" y="2745343"/>
            <a:ext cx="4869180" cy="273891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50437" y="1720096"/>
            <a:ext cx="7415927" cy="2129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8350"/>
              </a:lnSpc>
              <a:buNone/>
            </a:pPr>
            <a:r>
              <a:rPr lang="en-US" sz="6700" b="1" spc="-201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¿Qué es Microsoft Word?</a:t>
            </a:r>
            <a:endParaRPr lang="en-US" sz="6700" dirty="0"/>
          </a:p>
        </p:txBody>
      </p:sp>
      <p:sp>
        <p:nvSpPr>
          <p:cNvPr id="4" name="Text 1"/>
          <p:cNvSpPr/>
          <p:nvPr/>
        </p:nvSpPr>
        <p:spPr>
          <a:xfrm>
            <a:off x="6350437" y="4219694"/>
            <a:ext cx="7415927" cy="15801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100"/>
              </a:lnSpc>
              <a:buNone/>
            </a:pPr>
            <a:r>
              <a:rPr lang="en-US" sz="1900" spc="-39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Microsoft Word es un software de procesamiento de texto desarrollado por Microsoft. Se utiliza para crear, editar y dar formato a documentos. Word ofrece diversas herramientas para trabajar con texto, tablas, imágenes y más.</a:t>
            </a:r>
            <a:endParaRPr lang="en-US" sz="1900" dirty="0"/>
          </a:p>
        </p:txBody>
      </p:sp>
      <p:sp>
        <p:nvSpPr>
          <p:cNvPr id="5" name="Shape 2"/>
          <p:cNvSpPr/>
          <p:nvPr/>
        </p:nvSpPr>
        <p:spPr>
          <a:xfrm>
            <a:off x="6350437" y="6096000"/>
            <a:ext cx="394930" cy="394930"/>
          </a:xfrm>
          <a:prstGeom prst="roundRect">
            <a:avLst>
              <a:gd name="adj" fmla="val 23151155"/>
            </a:avLst>
          </a:prstGeom>
          <a:noFill/>
          <a:ln w="7620">
            <a:solidFill>
              <a:srgbClr val="FFFFFF"/>
            </a:solidFill>
            <a:prstDash val="solid"/>
          </a:ln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8057" y="6103620"/>
            <a:ext cx="379690" cy="37969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868716" y="6077545"/>
            <a:ext cx="5844778" cy="4319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2400" b="1" spc="-39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by DEIVID ALEXANDER LUX REVOLORIO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4037" y="2494478"/>
            <a:ext cx="8926711" cy="771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6050"/>
              </a:lnSpc>
              <a:buNone/>
            </a:pPr>
            <a:r>
              <a:rPr lang="en-US" sz="4850" b="1" spc="-146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¿Cómo nacen  las normas APA?</a:t>
            </a:r>
            <a:endParaRPr lang="en-US" sz="4850" dirty="0"/>
          </a:p>
        </p:txBody>
      </p:sp>
      <p:sp>
        <p:nvSpPr>
          <p:cNvPr id="3" name="Text 1"/>
          <p:cNvSpPr/>
          <p:nvPr/>
        </p:nvSpPr>
        <p:spPr>
          <a:xfrm>
            <a:off x="864037" y="3759756"/>
            <a:ext cx="12902327" cy="19752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100"/>
              </a:lnSpc>
              <a:buNone/>
            </a:pPr>
            <a:r>
              <a:rPr lang="en-US" sz="1900" spc="-39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Las normas APA son un conjunto de reglas y pautas que se utilizan en la escritura académica y científica. Fueron desarrolladas por la American Psychological Association (APA) con el objetivo de establecer estándares para la presentación de trabajos de investigación y documentos profesionales y facilitar la comunicación entre los diferentes campos de estudio. Las normas APA abarcan aspectos como la estructura del documento, las citas y referencias bibliográficas, el formato de las tablas y figuras, entre otros.</a:t>
            </a:r>
            <a:endParaRPr lang="en-US" sz="1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4037" y="1163241"/>
            <a:ext cx="8661559" cy="771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6050"/>
              </a:lnSpc>
              <a:buNone/>
            </a:pPr>
            <a:r>
              <a:rPr lang="en-US" sz="4850" b="1" spc="-146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Introducción a las normas APA</a:t>
            </a:r>
            <a:endParaRPr lang="en-US" sz="4850" dirty="0"/>
          </a:p>
        </p:txBody>
      </p:sp>
      <p:sp>
        <p:nvSpPr>
          <p:cNvPr id="3" name="Shape 1"/>
          <p:cNvSpPr/>
          <p:nvPr/>
        </p:nvSpPr>
        <p:spPr>
          <a:xfrm>
            <a:off x="1219081" y="2305050"/>
            <a:ext cx="30480" cy="4761309"/>
          </a:xfrm>
          <a:prstGeom prst="roundRect">
            <a:avLst>
              <a:gd name="adj" fmla="val 340200"/>
            </a:avLst>
          </a:prstGeom>
          <a:solidFill>
            <a:srgbClr val="C0C1D7"/>
          </a:solidFill>
          <a:ln/>
        </p:spPr>
      </p:sp>
      <p:sp>
        <p:nvSpPr>
          <p:cNvPr id="4" name="Shape 2"/>
          <p:cNvSpPr/>
          <p:nvPr/>
        </p:nvSpPr>
        <p:spPr>
          <a:xfrm>
            <a:off x="1481554" y="2845118"/>
            <a:ext cx="864037" cy="30480"/>
          </a:xfrm>
          <a:prstGeom prst="roundRect">
            <a:avLst>
              <a:gd name="adj" fmla="val 340200"/>
            </a:avLst>
          </a:prstGeom>
          <a:solidFill>
            <a:srgbClr val="C0C1D7"/>
          </a:solidFill>
          <a:ln/>
        </p:spPr>
      </p:sp>
      <p:sp>
        <p:nvSpPr>
          <p:cNvPr id="5" name="Shape 3"/>
          <p:cNvSpPr/>
          <p:nvPr/>
        </p:nvSpPr>
        <p:spPr>
          <a:xfrm>
            <a:off x="956608" y="2582704"/>
            <a:ext cx="555427" cy="555427"/>
          </a:xfrm>
          <a:prstGeom prst="roundRect">
            <a:avLst>
              <a:gd name="adj" fmla="val 18669"/>
            </a:avLst>
          </a:prstGeom>
          <a:solidFill>
            <a:srgbClr val="DADBF1"/>
          </a:solidFill>
          <a:ln w="15240">
            <a:solidFill>
              <a:srgbClr val="C0C1D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59966" y="2675215"/>
            <a:ext cx="148590" cy="3702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900"/>
              </a:lnSpc>
              <a:buNone/>
            </a:pPr>
            <a:r>
              <a:rPr lang="en-US" sz="2900" b="1" spc="-87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</a:t>
            </a:r>
            <a:endParaRPr lang="en-US" sz="2900" dirty="0"/>
          </a:p>
        </p:txBody>
      </p:sp>
      <p:sp>
        <p:nvSpPr>
          <p:cNvPr id="7" name="Text 5"/>
          <p:cNvSpPr/>
          <p:nvPr/>
        </p:nvSpPr>
        <p:spPr>
          <a:xfrm>
            <a:off x="2592110" y="2551867"/>
            <a:ext cx="4887158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400" b="1" spc="-73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Formato de márgenes y espaciado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2592110" y="3085743"/>
            <a:ext cx="11174254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00" spc="-39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Las normas APA requieren márgenes de 2.54 cm y doble espaciado.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1481554" y="4514493"/>
            <a:ext cx="864037" cy="30480"/>
          </a:xfrm>
          <a:prstGeom prst="roundRect">
            <a:avLst>
              <a:gd name="adj" fmla="val 340200"/>
            </a:avLst>
          </a:prstGeom>
          <a:solidFill>
            <a:srgbClr val="C0C1D7"/>
          </a:solidFill>
          <a:ln/>
        </p:spPr>
      </p:sp>
      <p:sp>
        <p:nvSpPr>
          <p:cNvPr id="10" name="Shape 8"/>
          <p:cNvSpPr/>
          <p:nvPr/>
        </p:nvSpPr>
        <p:spPr>
          <a:xfrm>
            <a:off x="956608" y="4252079"/>
            <a:ext cx="555427" cy="555427"/>
          </a:xfrm>
          <a:prstGeom prst="roundRect">
            <a:avLst>
              <a:gd name="adj" fmla="val 18669"/>
            </a:avLst>
          </a:prstGeom>
          <a:solidFill>
            <a:srgbClr val="DADBF1"/>
          </a:solidFill>
          <a:ln w="15240">
            <a:solidFill>
              <a:srgbClr val="C0C1D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23176" y="4344591"/>
            <a:ext cx="222171" cy="3702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900"/>
              </a:lnSpc>
              <a:buNone/>
            </a:pPr>
            <a:r>
              <a:rPr lang="en-US" sz="2900" b="1" spc="-87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</a:t>
            </a:r>
            <a:endParaRPr lang="en-US" sz="2900" dirty="0"/>
          </a:p>
        </p:txBody>
      </p:sp>
      <p:sp>
        <p:nvSpPr>
          <p:cNvPr id="12" name="Text 10"/>
          <p:cNvSpPr/>
          <p:nvPr/>
        </p:nvSpPr>
        <p:spPr>
          <a:xfrm>
            <a:off x="2592110" y="4221242"/>
            <a:ext cx="3739158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400" b="1" spc="-73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Estilos de fuente y tamaño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2592110" y="4755118"/>
            <a:ext cx="11174254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00" spc="-39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 utilizan fuentes sans serif como Arial o Calibri, tamaño 12.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1481554" y="6183868"/>
            <a:ext cx="864037" cy="30480"/>
          </a:xfrm>
          <a:prstGeom prst="roundRect">
            <a:avLst>
              <a:gd name="adj" fmla="val 340200"/>
            </a:avLst>
          </a:prstGeom>
          <a:solidFill>
            <a:srgbClr val="C0C1D7"/>
          </a:solidFill>
          <a:ln/>
        </p:spPr>
      </p:sp>
      <p:sp>
        <p:nvSpPr>
          <p:cNvPr id="15" name="Shape 13"/>
          <p:cNvSpPr/>
          <p:nvPr/>
        </p:nvSpPr>
        <p:spPr>
          <a:xfrm>
            <a:off x="956608" y="5921454"/>
            <a:ext cx="555427" cy="555427"/>
          </a:xfrm>
          <a:prstGeom prst="roundRect">
            <a:avLst>
              <a:gd name="adj" fmla="val 18669"/>
            </a:avLst>
          </a:prstGeom>
          <a:solidFill>
            <a:srgbClr val="DADBF1"/>
          </a:solidFill>
          <a:ln w="15240">
            <a:solidFill>
              <a:srgbClr val="C0C1D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20319" y="6013966"/>
            <a:ext cx="228005" cy="3702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900"/>
              </a:lnSpc>
              <a:buNone/>
            </a:pPr>
            <a:r>
              <a:rPr lang="en-US" sz="2900" b="1" spc="-87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</a:t>
            </a:r>
            <a:endParaRPr lang="en-US" sz="2900" dirty="0"/>
          </a:p>
        </p:txBody>
      </p:sp>
      <p:sp>
        <p:nvSpPr>
          <p:cNvPr id="17" name="Text 15"/>
          <p:cNvSpPr/>
          <p:nvPr/>
        </p:nvSpPr>
        <p:spPr>
          <a:xfrm>
            <a:off x="2592110" y="5890617"/>
            <a:ext cx="3086100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400" b="1" spc="-73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Citas y referencias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2592110" y="6424493"/>
            <a:ext cx="11174254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00" spc="-39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Esencial para dar crédito a fuentes en trabajos académicos.</a:t>
            </a:r>
            <a:endParaRPr lang="en-US" sz="1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4037" y="2554843"/>
            <a:ext cx="12902327" cy="1543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6050"/>
              </a:lnSpc>
              <a:buNone/>
            </a:pPr>
            <a:r>
              <a:rPr lang="en-US" sz="4850" b="1" spc="-146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Formato de márgenes y espaciado en normas APA</a:t>
            </a:r>
            <a:endParaRPr lang="en-US" sz="4850" dirty="0"/>
          </a:p>
        </p:txBody>
      </p:sp>
      <p:sp>
        <p:nvSpPr>
          <p:cNvPr id="3" name="Shape 1"/>
          <p:cNvSpPr/>
          <p:nvPr/>
        </p:nvSpPr>
        <p:spPr>
          <a:xfrm>
            <a:off x="864037" y="4745831"/>
            <a:ext cx="555427" cy="555427"/>
          </a:xfrm>
          <a:prstGeom prst="roundRect">
            <a:avLst>
              <a:gd name="adj" fmla="val 18669"/>
            </a:avLst>
          </a:prstGeom>
          <a:solidFill>
            <a:srgbClr val="DADBF1"/>
          </a:solidFill>
          <a:ln w="15240">
            <a:solidFill>
              <a:srgbClr val="C0C1D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67395" y="4838343"/>
            <a:ext cx="148590" cy="3702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900"/>
              </a:lnSpc>
              <a:buNone/>
            </a:pPr>
            <a:r>
              <a:rPr lang="en-US" sz="2900" b="1" spc="-87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1666280" y="4745831"/>
            <a:ext cx="3086100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3000"/>
              </a:lnSpc>
              <a:buNone/>
            </a:pPr>
            <a:r>
              <a:rPr lang="en-US" sz="2400" b="1" spc="-73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Márgenes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666280" y="5279708"/>
            <a:ext cx="5525572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3100"/>
              </a:lnSpc>
              <a:buNone/>
            </a:pPr>
            <a:r>
              <a:rPr lang="en-US" sz="1900" spc="-39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Superior, inferior, izquierdo y derecho: 2.54 cm.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7438668" y="4745831"/>
            <a:ext cx="555427" cy="555427"/>
          </a:xfrm>
          <a:prstGeom prst="roundRect">
            <a:avLst>
              <a:gd name="adj" fmla="val 18669"/>
            </a:avLst>
          </a:prstGeom>
          <a:solidFill>
            <a:srgbClr val="DADBF1"/>
          </a:solidFill>
          <a:ln w="15240">
            <a:solidFill>
              <a:srgbClr val="C0C1D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05236" y="4838343"/>
            <a:ext cx="222171" cy="3702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900"/>
              </a:lnSpc>
              <a:buNone/>
            </a:pPr>
            <a:r>
              <a:rPr lang="en-US" sz="2900" b="1" spc="-87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</a:t>
            </a:r>
            <a:endParaRPr lang="en-US" sz="2900" dirty="0"/>
          </a:p>
        </p:txBody>
      </p:sp>
      <p:sp>
        <p:nvSpPr>
          <p:cNvPr id="9" name="Text 7"/>
          <p:cNvSpPr/>
          <p:nvPr/>
        </p:nvSpPr>
        <p:spPr>
          <a:xfrm>
            <a:off x="8240911" y="4745831"/>
            <a:ext cx="3086100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3000"/>
              </a:lnSpc>
              <a:buNone/>
            </a:pPr>
            <a:r>
              <a:rPr lang="en-US" sz="2400" b="1" spc="-73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Espaciado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8240911" y="5279708"/>
            <a:ext cx="5525572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3100"/>
              </a:lnSpc>
              <a:buNone/>
            </a:pPr>
            <a:r>
              <a:rPr lang="en-US" sz="1900" spc="-39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Doble espaciado en todo el documento.</a:t>
            </a:r>
            <a:endParaRPr lang="en-US" sz="1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4037" y="2598063"/>
            <a:ext cx="11965662" cy="771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6050"/>
              </a:lnSpc>
              <a:buNone/>
            </a:pPr>
            <a:r>
              <a:rPr lang="en-US" sz="4850" b="1" spc="-146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Estilos de fuente y tamaño en normas APA</a:t>
            </a:r>
            <a:endParaRPr lang="en-US" sz="4850" dirty="0"/>
          </a:p>
        </p:txBody>
      </p:sp>
      <p:sp>
        <p:nvSpPr>
          <p:cNvPr id="3" name="Text 1"/>
          <p:cNvSpPr/>
          <p:nvPr/>
        </p:nvSpPr>
        <p:spPr>
          <a:xfrm>
            <a:off x="864037" y="3986689"/>
            <a:ext cx="3086100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3000"/>
              </a:lnSpc>
              <a:buNone/>
            </a:pPr>
            <a:r>
              <a:rPr lang="en-US" sz="2400" b="1" spc="-73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Fuentes Permitidas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64037" y="4619268"/>
            <a:ext cx="6150054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100"/>
              </a:lnSpc>
              <a:buNone/>
            </a:pPr>
            <a:r>
              <a:rPr lang="en-US" sz="1900" spc="-39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 permite el uso de Arial, Calibri y otras fuentes sans serif.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7623929" y="3986689"/>
            <a:ext cx="3086100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3000"/>
              </a:lnSpc>
              <a:buNone/>
            </a:pPr>
            <a:r>
              <a:rPr lang="en-US" sz="2400" b="1" spc="-73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Tamaño de Fuente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623929" y="4619268"/>
            <a:ext cx="6150054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3100"/>
              </a:lnSpc>
              <a:buNone/>
            </a:pPr>
            <a:r>
              <a:rPr lang="en-US" sz="1900" spc="-39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 tamaño de la fuente recomendado es 12 puntos.</a:t>
            </a:r>
            <a:endParaRPr lang="en-US" sz="1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0" y="0"/>
            <a:ext cx="36576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4037" y="2164437"/>
            <a:ext cx="9244727" cy="1543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6050"/>
              </a:lnSpc>
              <a:buNone/>
            </a:pPr>
            <a:r>
              <a:rPr lang="en-US" sz="4850" b="1" spc="-146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Citas y referencias en normas APA</a:t>
            </a:r>
            <a:endParaRPr lang="en-US" sz="4850" dirty="0"/>
          </a:p>
        </p:txBody>
      </p:sp>
      <p:sp>
        <p:nvSpPr>
          <p:cNvPr id="4" name="Shape 1"/>
          <p:cNvSpPr/>
          <p:nvPr/>
        </p:nvSpPr>
        <p:spPr>
          <a:xfrm>
            <a:off x="864037" y="4355425"/>
            <a:ext cx="555427" cy="555427"/>
          </a:xfrm>
          <a:prstGeom prst="roundRect">
            <a:avLst>
              <a:gd name="adj" fmla="val 18669"/>
            </a:avLst>
          </a:prstGeom>
          <a:solidFill>
            <a:srgbClr val="DADBF1"/>
          </a:solidFill>
          <a:ln w="15240">
            <a:solidFill>
              <a:srgbClr val="C0C1D7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067395" y="4447937"/>
            <a:ext cx="148590" cy="3702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900"/>
              </a:lnSpc>
              <a:buNone/>
            </a:pPr>
            <a:r>
              <a:rPr lang="en-US" sz="2900" b="1" spc="-87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</a:t>
            </a:r>
            <a:endParaRPr lang="en-US" sz="2900" dirty="0"/>
          </a:p>
        </p:txBody>
      </p:sp>
      <p:sp>
        <p:nvSpPr>
          <p:cNvPr id="6" name="Text 3"/>
          <p:cNvSpPr/>
          <p:nvPr/>
        </p:nvSpPr>
        <p:spPr>
          <a:xfrm>
            <a:off x="1666280" y="4355425"/>
            <a:ext cx="3086100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3000"/>
              </a:lnSpc>
              <a:buNone/>
            </a:pPr>
            <a:r>
              <a:rPr lang="en-US" sz="2400" b="1" spc="-73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Citas dentro del texto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1666280" y="4889302"/>
            <a:ext cx="3696772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100"/>
              </a:lnSpc>
              <a:buNone/>
            </a:pPr>
            <a:r>
              <a:rPr lang="en-US" sz="1900" spc="-39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 usan apellidos de autores y año de publicación.</a:t>
            </a:r>
            <a:endParaRPr lang="en-US" sz="1900" dirty="0"/>
          </a:p>
        </p:txBody>
      </p:sp>
      <p:sp>
        <p:nvSpPr>
          <p:cNvPr id="8" name="Shape 5"/>
          <p:cNvSpPr/>
          <p:nvPr/>
        </p:nvSpPr>
        <p:spPr>
          <a:xfrm>
            <a:off x="5609868" y="4355425"/>
            <a:ext cx="555427" cy="555427"/>
          </a:xfrm>
          <a:prstGeom prst="roundRect">
            <a:avLst>
              <a:gd name="adj" fmla="val 18669"/>
            </a:avLst>
          </a:prstGeom>
          <a:solidFill>
            <a:srgbClr val="DADBF1"/>
          </a:solidFill>
          <a:ln w="15240">
            <a:solidFill>
              <a:srgbClr val="C0C1D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776436" y="4447937"/>
            <a:ext cx="222171" cy="3702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900"/>
              </a:lnSpc>
              <a:buNone/>
            </a:pPr>
            <a:r>
              <a:rPr lang="en-US" sz="2900" b="1" spc="-87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</a:t>
            </a:r>
            <a:endParaRPr lang="en-US" sz="2900" dirty="0"/>
          </a:p>
        </p:txBody>
      </p:sp>
      <p:sp>
        <p:nvSpPr>
          <p:cNvPr id="10" name="Text 7"/>
          <p:cNvSpPr/>
          <p:nvPr/>
        </p:nvSpPr>
        <p:spPr>
          <a:xfrm>
            <a:off x="6412111" y="4355425"/>
            <a:ext cx="3696772" cy="771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000"/>
              </a:lnSpc>
              <a:buNone/>
            </a:pPr>
            <a:r>
              <a:rPr lang="en-US" sz="2400" b="1" spc="-73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Referencias bibliográficas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6412111" y="5275064"/>
            <a:ext cx="3696772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100"/>
              </a:lnSpc>
              <a:buNone/>
            </a:pPr>
            <a:r>
              <a:rPr lang="en-US" sz="1900" spc="-39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Lista alfabética de todas las fuentes citadas en el trabajo.</a:t>
            </a:r>
            <a:endParaRPr lang="en-US" sz="1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4037" y="2017871"/>
            <a:ext cx="12734092" cy="771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6050"/>
              </a:lnSpc>
              <a:buNone/>
            </a:pPr>
            <a:r>
              <a:rPr lang="en-US" sz="4850" b="1" spc="-146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Encabezados y pie de página en normas APA</a:t>
            </a:r>
            <a:endParaRPr lang="en-US" sz="48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4037" y="3283148"/>
            <a:ext cx="6451163" cy="98750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10853" y="4640937"/>
            <a:ext cx="3086100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400" b="1" spc="-73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Encabezados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1110853" y="5174813"/>
            <a:ext cx="5957530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00" spc="-39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Incluyen el título corto del tema y el número de página.</a:t>
            </a:r>
            <a:endParaRPr lang="en-US" sz="19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3283148"/>
            <a:ext cx="6451163" cy="98750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562017" y="4640937"/>
            <a:ext cx="3086100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400" b="1" spc="-73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Pie de página</a:t>
            </a:r>
            <a:endParaRPr lang="en-US" sz="2400" dirty="0"/>
          </a:p>
        </p:txBody>
      </p:sp>
      <p:sp>
        <p:nvSpPr>
          <p:cNvPr id="8" name="Text 4"/>
          <p:cNvSpPr/>
          <p:nvPr/>
        </p:nvSpPr>
        <p:spPr>
          <a:xfrm>
            <a:off x="7562017" y="5174813"/>
            <a:ext cx="5957530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00" spc="-39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Puede tener notas aclaratorias o explicativas.</a:t>
            </a:r>
            <a:endParaRPr lang="en-US" sz="1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6576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21637" y="2619851"/>
            <a:ext cx="8872538" cy="771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6050"/>
              </a:lnSpc>
              <a:buNone/>
            </a:pPr>
            <a:r>
              <a:rPr lang="en-US" sz="4850" b="1" spc="-146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Listas y viñetas en normas APA</a:t>
            </a:r>
            <a:endParaRPr lang="en-US" sz="4850" dirty="0"/>
          </a:p>
        </p:txBody>
      </p:sp>
      <p:sp>
        <p:nvSpPr>
          <p:cNvPr id="4" name="Shape 1"/>
          <p:cNvSpPr/>
          <p:nvPr/>
        </p:nvSpPr>
        <p:spPr>
          <a:xfrm>
            <a:off x="4521637" y="3761661"/>
            <a:ext cx="4499015" cy="1848088"/>
          </a:xfrm>
          <a:prstGeom prst="roundRect">
            <a:avLst>
              <a:gd name="adj" fmla="val 5611"/>
            </a:avLst>
          </a:prstGeom>
          <a:solidFill>
            <a:srgbClr val="DADBF1"/>
          </a:solidFill>
          <a:ln w="15240">
            <a:solidFill>
              <a:srgbClr val="C0C1D7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783693" y="4023717"/>
            <a:ext cx="3086100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3000"/>
              </a:lnSpc>
              <a:buNone/>
            </a:pPr>
            <a:r>
              <a:rPr lang="en-US" sz="2400" b="1" spc="-73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Listas numeradas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4783693" y="4557593"/>
            <a:ext cx="3974902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100"/>
              </a:lnSpc>
              <a:buNone/>
            </a:pPr>
            <a:r>
              <a:rPr lang="en-US" sz="1900" spc="-39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Utilizadas para secuenciar elementos o pasos.</a:t>
            </a:r>
            <a:endParaRPr lang="en-US" sz="1900" dirty="0"/>
          </a:p>
        </p:txBody>
      </p:sp>
      <p:sp>
        <p:nvSpPr>
          <p:cNvPr id="7" name="Shape 4"/>
          <p:cNvSpPr/>
          <p:nvPr/>
        </p:nvSpPr>
        <p:spPr>
          <a:xfrm>
            <a:off x="9267468" y="3761661"/>
            <a:ext cx="4499015" cy="1848088"/>
          </a:xfrm>
          <a:prstGeom prst="roundRect">
            <a:avLst>
              <a:gd name="adj" fmla="val 5611"/>
            </a:avLst>
          </a:prstGeom>
          <a:solidFill>
            <a:srgbClr val="DADBF1"/>
          </a:solidFill>
          <a:ln w="15240">
            <a:solidFill>
              <a:srgbClr val="C0C1D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529524" y="4023717"/>
            <a:ext cx="3086100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3000"/>
              </a:lnSpc>
              <a:buNone/>
            </a:pPr>
            <a:r>
              <a:rPr lang="en-US" sz="2400" b="1" spc="-73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Listas con viñetas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9529524" y="4557593"/>
            <a:ext cx="3974902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100"/>
              </a:lnSpc>
              <a:buNone/>
            </a:pPr>
            <a:r>
              <a:rPr lang="en-US" sz="1900" spc="-39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Para enumerar elementos o puntos sin una secuencia específica.</a:t>
            </a:r>
            <a:endParaRPr lang="en-US" sz="1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4037" y="729496"/>
            <a:ext cx="12294751" cy="771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6050"/>
              </a:lnSpc>
              <a:buNone/>
            </a:pPr>
            <a:r>
              <a:rPr lang="en-US" sz="4850" b="1" spc="-146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Páginas de título y resumen en normas APA</a:t>
            </a:r>
            <a:endParaRPr lang="en-US" sz="48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4037" y="1994773"/>
            <a:ext cx="6266021" cy="387262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64037" y="6176010"/>
            <a:ext cx="3086100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400" b="1" spc="-73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Página de Título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864037" y="6709886"/>
            <a:ext cx="6266021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00" spc="-39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Incluye título del trabajo, nombre del autor y afiliación institucional.</a:t>
            </a:r>
            <a:endParaRPr lang="en-US" sz="19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0342" y="1994773"/>
            <a:ext cx="6266021" cy="3872627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500342" y="6176010"/>
            <a:ext cx="3086100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400" b="1" spc="-73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Resumen</a:t>
            </a:r>
            <a:endParaRPr lang="en-US" sz="2400" dirty="0"/>
          </a:p>
        </p:txBody>
      </p:sp>
      <p:sp>
        <p:nvSpPr>
          <p:cNvPr id="8" name="Text 4"/>
          <p:cNvSpPr/>
          <p:nvPr/>
        </p:nvSpPr>
        <p:spPr>
          <a:xfrm>
            <a:off x="7500342" y="6709886"/>
            <a:ext cx="6266021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00" spc="-39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 una breve descripción del contenido y conclusiones del trabajo.</a:t>
            </a:r>
            <a:endParaRPr lang="en-US" sz="1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4037" y="2562820"/>
            <a:ext cx="9646444" cy="771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6050"/>
              </a:lnSpc>
              <a:buNone/>
            </a:pPr>
            <a:r>
              <a:rPr lang="en-US" sz="4850" b="1" spc="-146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Conclusiones y recomendaciones</a:t>
            </a:r>
            <a:endParaRPr lang="en-US" sz="4850" dirty="0"/>
          </a:p>
        </p:txBody>
      </p:sp>
      <p:sp>
        <p:nvSpPr>
          <p:cNvPr id="3" name="Shape 1"/>
          <p:cNvSpPr/>
          <p:nvPr/>
        </p:nvSpPr>
        <p:spPr>
          <a:xfrm>
            <a:off x="864037" y="3828098"/>
            <a:ext cx="12902327" cy="1838563"/>
          </a:xfrm>
          <a:prstGeom prst="roundRect">
            <a:avLst>
              <a:gd name="adj" fmla="val 5640"/>
            </a:avLst>
          </a:prstGeom>
          <a:noFill/>
          <a:ln w="1524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79277" y="3843337"/>
            <a:ext cx="12871847" cy="706517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1126093" y="3999071"/>
            <a:ext cx="5938480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3100"/>
              </a:lnSpc>
              <a:buNone/>
            </a:pPr>
            <a:r>
              <a:rPr lang="en-US" sz="1900" spc="-39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Conclusión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7565827" y="3999071"/>
            <a:ext cx="5938480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3100"/>
              </a:lnSpc>
              <a:buNone/>
            </a:pPr>
            <a:r>
              <a:rPr lang="en-US" sz="1900" spc="-39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Resumen de los hallazgos y cierre del trabajo.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879277" y="4549854"/>
            <a:ext cx="12871847" cy="1101566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1126093" y="4705588"/>
            <a:ext cx="5938480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3100"/>
              </a:lnSpc>
              <a:buNone/>
            </a:pPr>
            <a:r>
              <a:rPr lang="en-US" sz="1900" spc="-39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Recomendaciones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7565827" y="4705588"/>
            <a:ext cx="5938480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100"/>
              </a:lnSpc>
              <a:buNone/>
            </a:pPr>
            <a:r>
              <a:rPr lang="en-US" sz="1900" spc="-39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Sugerencias basadas en los resultados para futuras investigaciones o acciones.</a:t>
            </a:r>
            <a:endParaRPr lang="en-US" sz="1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2024-11-03T16:35:35Z</dcterms:created>
  <dcterms:modified xsi:type="dcterms:W3CDTF">2024-11-03T16:35:35Z</dcterms:modified>
</cp:coreProperties>
</file>