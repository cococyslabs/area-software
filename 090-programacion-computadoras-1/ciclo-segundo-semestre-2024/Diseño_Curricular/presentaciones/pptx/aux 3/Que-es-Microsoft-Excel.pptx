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4630400" cy="8229600"/>
  <p:notesSz cx="8229600" cy="14630400"/>
  <p:embeddedFontLst>
    <p:embeddedFont>
      <p:font typeface="Roboto Mono Medium"/>
      <p:regular r:id="rId19"/>
    </p:embeddedFont>
    <p:embeddedFont>
      <p:font typeface="Roboto Mono Medium"/>
      <p:regular r:id="rId20"/>
    </p:embeddedFont>
    <p:embeddedFont>
      <p:font typeface="Roboto Mono Medium"/>
      <p:regular r:id="rId21"/>
    </p:embeddedFont>
    <p:embeddedFont>
      <p:font typeface="Roboto Mono Medium"/>
      <p:regular r:id="rId22"/>
    </p:embeddedFont>
    <p:embeddedFont>
      <p:font typeface="Roboto"/>
      <p:regular r:id="rId23"/>
    </p:embeddedFont>
    <p:embeddedFont>
      <p:font typeface="Roboto"/>
      <p:regular r:id="rId24"/>
    </p:embeddedFont>
    <p:embeddedFont>
      <p:font typeface="Roboto"/>
      <p:regular r:id="rId25"/>
    </p:embeddedFont>
    <p:embeddedFont>
      <p:font typeface="Roboto"/>
      <p:regular r:id="rId26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openxmlformats.org/officeDocument/2006/relationships/font" Target="fonts/font1.fntdata"/><Relationship Id="rId20" Type="http://schemas.openxmlformats.org/officeDocument/2006/relationships/font" Target="fonts/font2.fntdata"/><Relationship Id="rId21" Type="http://schemas.openxmlformats.org/officeDocument/2006/relationships/font" Target="fonts/font3.fntdata"/><Relationship Id="rId22" Type="http://schemas.openxmlformats.org/officeDocument/2006/relationships/font" Target="fonts/font4.fntdata"/><Relationship Id="rId23" Type="http://schemas.openxmlformats.org/officeDocument/2006/relationships/font" Target="fonts/font5.fntdata"/><Relationship Id="rId24" Type="http://schemas.openxmlformats.org/officeDocument/2006/relationships/font" Target="fonts/font6.fntdata"/><Relationship Id="rId25" Type="http://schemas.openxmlformats.org/officeDocument/2006/relationships/font" Target="fonts/font7.fntdata"/><Relationship Id="rId26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3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2-1.png"/><Relationship Id="rId3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3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1030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12121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1030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12121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1030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12121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1030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12121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1030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12121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1030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12121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1030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12121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1030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12121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1030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12121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1030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12121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1030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12121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1030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12121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7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8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0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50437" y="1187768"/>
            <a:ext cx="7415927" cy="3193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8350"/>
              </a:lnSpc>
              <a:buNone/>
            </a:pPr>
            <a:r>
              <a:rPr lang="en-US" sz="6700" spc="-201" kern="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¿Qué es Microsoft Excel?</a:t>
            </a:r>
            <a:endParaRPr lang="en-US" sz="6700" dirty="0"/>
          </a:p>
        </p:txBody>
      </p:sp>
      <p:sp>
        <p:nvSpPr>
          <p:cNvPr id="4" name="Text 1"/>
          <p:cNvSpPr/>
          <p:nvPr/>
        </p:nvSpPr>
        <p:spPr>
          <a:xfrm>
            <a:off x="6350437" y="4752023"/>
            <a:ext cx="7415927" cy="15801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100"/>
              </a:lnSpc>
              <a:buNone/>
            </a:pPr>
            <a:r>
              <a:rPr lang="en-US" sz="1900" spc="-19" kern="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Microsoft Excel es una aplicación de hojas de cálculo desarrollada por Microsoft. Permite a los usuarios realizar cálculos, análisis de datos y representación gráfica de información utilizando fórmulas y funciones integradas.</a:t>
            </a:r>
            <a:endParaRPr lang="en-US" sz="1900" dirty="0"/>
          </a:p>
        </p:txBody>
      </p:sp>
      <p:sp>
        <p:nvSpPr>
          <p:cNvPr id="5" name="Shape 2"/>
          <p:cNvSpPr/>
          <p:nvPr/>
        </p:nvSpPr>
        <p:spPr>
          <a:xfrm>
            <a:off x="6350437" y="6628328"/>
            <a:ext cx="394930" cy="394930"/>
          </a:xfrm>
          <a:prstGeom prst="roundRect">
            <a:avLst>
              <a:gd name="adj" fmla="val 23151155"/>
            </a:avLst>
          </a:prstGeom>
          <a:noFill/>
          <a:ln w="7620">
            <a:solidFill>
              <a:srgbClr val="FFFFFF"/>
            </a:solidFill>
            <a:prstDash val="solid"/>
          </a:ln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8057" y="6635948"/>
            <a:ext cx="379690" cy="37969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868716" y="6609874"/>
            <a:ext cx="5467112" cy="4319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2400" b="1" spc="-19" kern="0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by DEIVID ALEXANDER LUX REVOLORIO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4037" y="903923"/>
            <a:ext cx="9500711" cy="771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6050"/>
              </a:lnSpc>
              <a:buNone/>
            </a:pPr>
            <a:r>
              <a:rPr lang="en-US" sz="4850" spc="-146" kern="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Historia de Microsoft Excel</a:t>
            </a:r>
            <a:endParaRPr lang="en-US" sz="4850" dirty="0"/>
          </a:p>
        </p:txBody>
      </p:sp>
      <p:sp>
        <p:nvSpPr>
          <p:cNvPr id="3" name="Shape 1"/>
          <p:cNvSpPr/>
          <p:nvPr/>
        </p:nvSpPr>
        <p:spPr>
          <a:xfrm>
            <a:off x="1219081" y="2169200"/>
            <a:ext cx="30480" cy="5156359"/>
          </a:xfrm>
          <a:prstGeom prst="roundRect">
            <a:avLst>
              <a:gd name="adj" fmla="val 121500"/>
            </a:avLst>
          </a:prstGeom>
          <a:solidFill>
            <a:srgbClr val="595959"/>
          </a:solidFill>
          <a:ln/>
        </p:spPr>
      </p:sp>
      <p:sp>
        <p:nvSpPr>
          <p:cNvPr id="4" name="Shape 2"/>
          <p:cNvSpPr/>
          <p:nvPr/>
        </p:nvSpPr>
        <p:spPr>
          <a:xfrm>
            <a:off x="1481554" y="2709267"/>
            <a:ext cx="864037" cy="30480"/>
          </a:xfrm>
          <a:prstGeom prst="roundRect">
            <a:avLst>
              <a:gd name="adj" fmla="val 121500"/>
            </a:avLst>
          </a:prstGeom>
          <a:solidFill>
            <a:srgbClr val="595959"/>
          </a:solidFill>
          <a:ln/>
        </p:spPr>
      </p:sp>
      <p:sp>
        <p:nvSpPr>
          <p:cNvPr id="5" name="Shape 3"/>
          <p:cNvSpPr/>
          <p:nvPr/>
        </p:nvSpPr>
        <p:spPr>
          <a:xfrm>
            <a:off x="956608" y="2446853"/>
            <a:ext cx="555427" cy="555427"/>
          </a:xfrm>
          <a:prstGeom prst="roundRect">
            <a:avLst>
              <a:gd name="adj" fmla="val 6668"/>
            </a:avLst>
          </a:prstGeom>
          <a:solidFill>
            <a:srgbClr val="404040"/>
          </a:solidFill>
          <a:ln/>
        </p:spPr>
      </p:sp>
      <p:sp>
        <p:nvSpPr>
          <p:cNvPr id="6" name="Text 4"/>
          <p:cNvSpPr/>
          <p:nvPr/>
        </p:nvSpPr>
        <p:spPr>
          <a:xfrm>
            <a:off x="1128772" y="2539365"/>
            <a:ext cx="211098" cy="3702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900"/>
              </a:lnSpc>
              <a:buNone/>
            </a:pPr>
            <a:r>
              <a:rPr lang="en-US" sz="2900" spc="-87" kern="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1</a:t>
            </a:r>
            <a:endParaRPr lang="en-US" sz="2900" dirty="0"/>
          </a:p>
        </p:txBody>
      </p:sp>
      <p:sp>
        <p:nvSpPr>
          <p:cNvPr id="7" name="Text 5"/>
          <p:cNvSpPr/>
          <p:nvPr/>
        </p:nvSpPr>
        <p:spPr>
          <a:xfrm>
            <a:off x="2592110" y="2416016"/>
            <a:ext cx="3166943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400" spc="-73" kern="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Desarrollo Inicial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2592110" y="2949893"/>
            <a:ext cx="11174254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spc="-19" kern="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Microsoft Excel fue lanzado por primera vez en 1985 para Apple Macintosh.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1481554" y="4378643"/>
            <a:ext cx="864037" cy="30480"/>
          </a:xfrm>
          <a:prstGeom prst="roundRect">
            <a:avLst>
              <a:gd name="adj" fmla="val 121500"/>
            </a:avLst>
          </a:prstGeom>
          <a:solidFill>
            <a:srgbClr val="595959"/>
          </a:solidFill>
          <a:ln/>
        </p:spPr>
      </p:sp>
      <p:sp>
        <p:nvSpPr>
          <p:cNvPr id="10" name="Shape 8"/>
          <p:cNvSpPr/>
          <p:nvPr/>
        </p:nvSpPr>
        <p:spPr>
          <a:xfrm>
            <a:off x="956608" y="4116229"/>
            <a:ext cx="555427" cy="555427"/>
          </a:xfrm>
          <a:prstGeom prst="roundRect">
            <a:avLst>
              <a:gd name="adj" fmla="val 6668"/>
            </a:avLst>
          </a:prstGeom>
          <a:solidFill>
            <a:srgbClr val="404040"/>
          </a:solidFill>
          <a:ln/>
        </p:spPr>
      </p:sp>
      <p:sp>
        <p:nvSpPr>
          <p:cNvPr id="11" name="Text 9"/>
          <p:cNvSpPr/>
          <p:nvPr/>
        </p:nvSpPr>
        <p:spPr>
          <a:xfrm>
            <a:off x="1128772" y="4208740"/>
            <a:ext cx="211098" cy="3702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900"/>
              </a:lnSpc>
              <a:buNone/>
            </a:pPr>
            <a:r>
              <a:rPr lang="en-US" sz="2900" spc="-87" kern="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2</a:t>
            </a:r>
            <a:endParaRPr lang="en-US" sz="2900" dirty="0"/>
          </a:p>
        </p:txBody>
      </p:sp>
      <p:sp>
        <p:nvSpPr>
          <p:cNvPr id="12" name="Text 10"/>
          <p:cNvSpPr/>
          <p:nvPr/>
        </p:nvSpPr>
        <p:spPr>
          <a:xfrm>
            <a:off x="2592110" y="4085392"/>
            <a:ext cx="3342918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400" spc="-73" kern="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Expansión a Windows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2592110" y="4619268"/>
            <a:ext cx="11174254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spc="-19" kern="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 1987, Microsoft Excel se trasladó al sistema operativo Windows, lo que aumentó su popularidad.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1481554" y="6048018"/>
            <a:ext cx="864037" cy="30480"/>
          </a:xfrm>
          <a:prstGeom prst="roundRect">
            <a:avLst>
              <a:gd name="adj" fmla="val 121500"/>
            </a:avLst>
          </a:prstGeom>
          <a:solidFill>
            <a:srgbClr val="595959"/>
          </a:solidFill>
          <a:ln/>
        </p:spPr>
      </p:sp>
      <p:sp>
        <p:nvSpPr>
          <p:cNvPr id="15" name="Shape 13"/>
          <p:cNvSpPr/>
          <p:nvPr/>
        </p:nvSpPr>
        <p:spPr>
          <a:xfrm>
            <a:off x="956608" y="5785604"/>
            <a:ext cx="555427" cy="555427"/>
          </a:xfrm>
          <a:prstGeom prst="roundRect">
            <a:avLst>
              <a:gd name="adj" fmla="val 6668"/>
            </a:avLst>
          </a:prstGeom>
          <a:solidFill>
            <a:srgbClr val="404040"/>
          </a:solidFill>
          <a:ln/>
        </p:spPr>
      </p:sp>
      <p:sp>
        <p:nvSpPr>
          <p:cNvPr id="16" name="Text 14"/>
          <p:cNvSpPr/>
          <p:nvPr/>
        </p:nvSpPr>
        <p:spPr>
          <a:xfrm>
            <a:off x="1128772" y="5878116"/>
            <a:ext cx="211098" cy="3702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900"/>
              </a:lnSpc>
              <a:buNone/>
            </a:pPr>
            <a:r>
              <a:rPr lang="en-US" sz="2900" spc="-87" kern="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3</a:t>
            </a:r>
            <a:endParaRPr lang="en-US" sz="2900" dirty="0"/>
          </a:p>
        </p:txBody>
      </p:sp>
      <p:sp>
        <p:nvSpPr>
          <p:cNvPr id="17" name="Text 15"/>
          <p:cNvSpPr/>
          <p:nvPr/>
        </p:nvSpPr>
        <p:spPr>
          <a:xfrm>
            <a:off x="2592110" y="5754767"/>
            <a:ext cx="3694748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400" spc="-73" kern="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Versiones Posteriores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2592110" y="6288643"/>
            <a:ext cx="11174254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spc="-19" kern="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lo largo de los años, se han lanzado numerosas versiones mejoradas con características y capacidades avanzadas.</a:t>
            </a:r>
            <a:endParaRPr lang="en-US" sz="1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4037" y="2019419"/>
            <a:ext cx="12902327" cy="1543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6050"/>
              </a:lnSpc>
              <a:buNone/>
            </a:pPr>
            <a:r>
              <a:rPr lang="en-US" sz="4850" spc="-146" kern="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Herramientas para desarrolladores en Microsoft Excel</a:t>
            </a:r>
            <a:endParaRPr lang="en-US" sz="4850" dirty="0"/>
          </a:p>
        </p:txBody>
      </p:sp>
      <p:sp>
        <p:nvSpPr>
          <p:cNvPr id="3" name="Text 1"/>
          <p:cNvSpPr/>
          <p:nvPr/>
        </p:nvSpPr>
        <p:spPr>
          <a:xfrm>
            <a:off x="864037" y="4179570"/>
            <a:ext cx="6150054" cy="771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000"/>
              </a:lnSpc>
              <a:buNone/>
            </a:pPr>
            <a:r>
              <a:rPr lang="en-US" sz="2400" spc="-73" kern="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Visual Basic for Applications (VBA)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64037" y="5197912"/>
            <a:ext cx="6150054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100"/>
              </a:lnSpc>
              <a:buNone/>
            </a:pPr>
            <a:r>
              <a:rPr lang="en-US" sz="1900" spc="-19" kern="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Ofrece un entorno de programación para la creación de aplicaciones personalizadas y automatización de tareas.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7623929" y="4179570"/>
            <a:ext cx="4926330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3000"/>
              </a:lnSpc>
              <a:buNone/>
            </a:pPr>
            <a:r>
              <a:rPr lang="en-US" sz="2400" spc="-73" kern="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Aplicaciones de Complementos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623929" y="4812149"/>
            <a:ext cx="6150054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100"/>
              </a:lnSpc>
              <a:buNone/>
            </a:pPr>
            <a:r>
              <a:rPr lang="en-US" sz="1900" spc="-19" kern="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Permiten extender las funcionalidades de Excel con herramientas especializadas para diferentes propósitos.</a:t>
            </a:r>
            <a:endParaRPr lang="en-US" sz="1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6576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21637" y="1962269"/>
            <a:ext cx="9244727" cy="1543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6050"/>
              </a:lnSpc>
              <a:buNone/>
            </a:pPr>
            <a:r>
              <a:rPr lang="en-US" sz="4850" spc="-146" kern="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Creación de formularios en Microsoft Excel</a:t>
            </a:r>
            <a:endParaRPr lang="en-US" sz="4850" dirty="0"/>
          </a:p>
        </p:txBody>
      </p:sp>
      <p:sp>
        <p:nvSpPr>
          <p:cNvPr id="4" name="Shape 1"/>
          <p:cNvSpPr/>
          <p:nvPr/>
        </p:nvSpPr>
        <p:spPr>
          <a:xfrm>
            <a:off x="4521637" y="4153257"/>
            <a:ext cx="555427" cy="555427"/>
          </a:xfrm>
          <a:prstGeom prst="roundRect">
            <a:avLst>
              <a:gd name="adj" fmla="val 6668"/>
            </a:avLst>
          </a:prstGeom>
          <a:solidFill>
            <a:srgbClr val="404040"/>
          </a:solidFill>
          <a:ln/>
        </p:spPr>
      </p:sp>
      <p:sp>
        <p:nvSpPr>
          <p:cNvPr id="5" name="Text 2"/>
          <p:cNvSpPr/>
          <p:nvPr/>
        </p:nvSpPr>
        <p:spPr>
          <a:xfrm>
            <a:off x="4693801" y="4245769"/>
            <a:ext cx="211098" cy="3702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900"/>
              </a:lnSpc>
              <a:buNone/>
            </a:pPr>
            <a:r>
              <a:rPr lang="en-US" sz="2900" spc="-87" kern="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1</a:t>
            </a:r>
            <a:endParaRPr lang="en-US" sz="2900" dirty="0"/>
          </a:p>
        </p:txBody>
      </p:sp>
      <p:sp>
        <p:nvSpPr>
          <p:cNvPr id="6" name="Text 3"/>
          <p:cNvSpPr/>
          <p:nvPr/>
        </p:nvSpPr>
        <p:spPr>
          <a:xfrm>
            <a:off x="5323880" y="4153257"/>
            <a:ext cx="3086100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3000"/>
              </a:lnSpc>
              <a:buNone/>
            </a:pPr>
            <a:r>
              <a:rPr lang="en-US" sz="2400" spc="-73" kern="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Utilidad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5323880" y="4687133"/>
            <a:ext cx="3696772" cy="15801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100"/>
              </a:lnSpc>
              <a:buNone/>
            </a:pPr>
            <a:r>
              <a:rPr lang="en-US" sz="1900" spc="-19" kern="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Los formularios en Excel son útiles para la recolección organizada de datos, encuestas y respuestas.</a:t>
            </a:r>
            <a:endParaRPr lang="en-US" sz="1900" dirty="0"/>
          </a:p>
        </p:txBody>
      </p:sp>
      <p:sp>
        <p:nvSpPr>
          <p:cNvPr id="8" name="Shape 5"/>
          <p:cNvSpPr/>
          <p:nvPr/>
        </p:nvSpPr>
        <p:spPr>
          <a:xfrm>
            <a:off x="9267468" y="4153257"/>
            <a:ext cx="555427" cy="555427"/>
          </a:xfrm>
          <a:prstGeom prst="roundRect">
            <a:avLst>
              <a:gd name="adj" fmla="val 6668"/>
            </a:avLst>
          </a:prstGeom>
          <a:solidFill>
            <a:srgbClr val="404040"/>
          </a:solidFill>
          <a:ln/>
        </p:spPr>
      </p:sp>
      <p:sp>
        <p:nvSpPr>
          <p:cNvPr id="9" name="Text 6"/>
          <p:cNvSpPr/>
          <p:nvPr/>
        </p:nvSpPr>
        <p:spPr>
          <a:xfrm>
            <a:off x="9439632" y="4245769"/>
            <a:ext cx="211098" cy="3702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900"/>
              </a:lnSpc>
              <a:buNone/>
            </a:pPr>
            <a:r>
              <a:rPr lang="en-US" sz="2900" spc="-87" kern="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2</a:t>
            </a:r>
            <a:endParaRPr lang="en-US" sz="2900" dirty="0"/>
          </a:p>
        </p:txBody>
      </p:sp>
      <p:sp>
        <p:nvSpPr>
          <p:cNvPr id="10" name="Text 7"/>
          <p:cNvSpPr/>
          <p:nvPr/>
        </p:nvSpPr>
        <p:spPr>
          <a:xfrm>
            <a:off x="10069711" y="4153257"/>
            <a:ext cx="3518773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3000"/>
              </a:lnSpc>
              <a:buNone/>
            </a:pPr>
            <a:r>
              <a:rPr lang="en-US" sz="2400" spc="-73" kern="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Configuración Simple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10069711" y="4687133"/>
            <a:ext cx="3696772" cy="15801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100"/>
              </a:lnSpc>
              <a:buNone/>
            </a:pPr>
            <a:r>
              <a:rPr lang="en-US" sz="1900" spc="-19" kern="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Excel facilita la creación y personalización de formularios sin necesidad de conocimientos avanzados de programación.</a:t>
            </a:r>
            <a:endParaRPr lang="en-US" sz="1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0" y="0"/>
            <a:ext cx="36576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4037" y="1661398"/>
            <a:ext cx="9244727" cy="1543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6050"/>
              </a:lnSpc>
              <a:buNone/>
            </a:pPr>
            <a:r>
              <a:rPr lang="en-US" sz="4850" spc="-146" kern="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Tipos de formularios en Microsoft Excel</a:t>
            </a:r>
            <a:endParaRPr lang="en-US" sz="4850" dirty="0"/>
          </a:p>
        </p:txBody>
      </p:sp>
      <p:sp>
        <p:nvSpPr>
          <p:cNvPr id="4" name="Shape 1"/>
          <p:cNvSpPr/>
          <p:nvPr/>
        </p:nvSpPr>
        <p:spPr>
          <a:xfrm>
            <a:off x="864037" y="3574733"/>
            <a:ext cx="4499015" cy="2993469"/>
          </a:xfrm>
          <a:prstGeom prst="roundRect">
            <a:avLst>
              <a:gd name="adj" fmla="val 1237"/>
            </a:avLst>
          </a:prstGeom>
          <a:solidFill>
            <a:srgbClr val="404040"/>
          </a:solidFill>
          <a:ln/>
        </p:spPr>
      </p:sp>
      <p:sp>
        <p:nvSpPr>
          <p:cNvPr id="5" name="Text 2"/>
          <p:cNvSpPr/>
          <p:nvPr/>
        </p:nvSpPr>
        <p:spPr>
          <a:xfrm>
            <a:off x="1110853" y="3821549"/>
            <a:ext cx="4005382" cy="771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000"/>
              </a:lnSpc>
              <a:buNone/>
            </a:pPr>
            <a:r>
              <a:rPr lang="en-US" sz="2400" spc="-73" kern="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Formularios de Entrada de Datos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1110853" y="4741188"/>
            <a:ext cx="4005382" cy="11851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100"/>
              </a:lnSpc>
              <a:buNone/>
            </a:pPr>
            <a:r>
              <a:rPr lang="en-US" sz="1900" spc="-19" kern="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Permiten la introducción fácil y rápida de datos directamente en las celdas del formulario.</a:t>
            </a:r>
            <a:endParaRPr lang="en-US" sz="1900" dirty="0"/>
          </a:p>
        </p:txBody>
      </p:sp>
      <p:sp>
        <p:nvSpPr>
          <p:cNvPr id="7" name="Shape 4"/>
          <p:cNvSpPr/>
          <p:nvPr/>
        </p:nvSpPr>
        <p:spPr>
          <a:xfrm>
            <a:off x="5609868" y="3574733"/>
            <a:ext cx="4499015" cy="2993469"/>
          </a:xfrm>
          <a:prstGeom prst="roundRect">
            <a:avLst>
              <a:gd name="adj" fmla="val 1237"/>
            </a:avLst>
          </a:prstGeom>
          <a:solidFill>
            <a:srgbClr val="404040"/>
          </a:solidFill>
          <a:ln/>
        </p:spPr>
      </p:sp>
      <p:sp>
        <p:nvSpPr>
          <p:cNvPr id="8" name="Text 5"/>
          <p:cNvSpPr/>
          <p:nvPr/>
        </p:nvSpPr>
        <p:spPr>
          <a:xfrm>
            <a:off x="5856684" y="3821549"/>
            <a:ext cx="4005382" cy="771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000"/>
              </a:lnSpc>
              <a:buNone/>
            </a:pPr>
            <a:r>
              <a:rPr lang="en-US" sz="2400" spc="-73" kern="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Formularios Interactivos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5856684" y="4741188"/>
            <a:ext cx="4005382" cy="15801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100"/>
              </a:lnSpc>
              <a:buNone/>
            </a:pPr>
            <a:r>
              <a:rPr lang="en-US" sz="1900" spc="-19" kern="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Pueden incluir botones, listas desplegables y otras características interactivas para una experiencia más dinámica.</a:t>
            </a:r>
            <a:endParaRPr lang="en-US" sz="1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12121">
              <a:alpha val="80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864037" y="1693783"/>
            <a:ext cx="12902327" cy="1543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6050"/>
              </a:lnSpc>
              <a:buNone/>
            </a:pPr>
            <a:r>
              <a:rPr lang="en-US" sz="4850" spc="-146" kern="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Funciones y características de los formularios en Microsoft Excel</a:t>
            </a:r>
            <a:endParaRPr lang="en-US" sz="485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4037" y="3607118"/>
            <a:ext cx="6451163" cy="987504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110853" y="4964906"/>
            <a:ext cx="3342918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400" spc="-73" kern="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Validación de Datos</a:t>
            </a:r>
            <a:endParaRPr lang="en-US" sz="2400" dirty="0"/>
          </a:p>
        </p:txBody>
      </p:sp>
      <p:sp>
        <p:nvSpPr>
          <p:cNvPr id="7" name="Text 3"/>
          <p:cNvSpPr/>
          <p:nvPr/>
        </p:nvSpPr>
        <p:spPr>
          <a:xfrm>
            <a:off x="1110853" y="5498783"/>
            <a:ext cx="5957530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spc="-19" kern="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Permite restringir la entrada de datos según ciertos criterios predefinidos.</a:t>
            </a:r>
            <a:endParaRPr lang="en-US" sz="19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3607118"/>
            <a:ext cx="6451163" cy="987504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7562017" y="4964906"/>
            <a:ext cx="5454134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400" spc="-73" kern="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Auto-completar y Autocorrección</a:t>
            </a:r>
            <a:endParaRPr lang="en-US" sz="2400" dirty="0"/>
          </a:p>
        </p:txBody>
      </p:sp>
      <p:sp>
        <p:nvSpPr>
          <p:cNvPr id="10" name="Text 5"/>
          <p:cNvSpPr/>
          <p:nvPr/>
        </p:nvSpPr>
        <p:spPr>
          <a:xfrm>
            <a:off x="7562017" y="5498783"/>
            <a:ext cx="5957530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spc="-19" kern="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Facilitan la introducción y corrección de datos, mejorando la eficiencia del formulario.</a:t>
            </a:r>
            <a:endParaRPr lang="en-US" sz="1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6576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21637" y="1576507"/>
            <a:ext cx="9244727" cy="231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6050"/>
              </a:lnSpc>
              <a:buNone/>
            </a:pPr>
            <a:r>
              <a:rPr lang="en-US" sz="4850" spc="-146" kern="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Ventajas de utilizar formularios en Microsoft Excel</a:t>
            </a:r>
            <a:endParaRPr lang="en-US" sz="4850" dirty="0"/>
          </a:p>
        </p:txBody>
      </p:sp>
      <p:sp>
        <p:nvSpPr>
          <p:cNvPr id="4" name="Shape 1"/>
          <p:cNvSpPr/>
          <p:nvPr/>
        </p:nvSpPr>
        <p:spPr>
          <a:xfrm>
            <a:off x="4521637" y="4539020"/>
            <a:ext cx="555427" cy="555427"/>
          </a:xfrm>
          <a:prstGeom prst="roundRect">
            <a:avLst>
              <a:gd name="adj" fmla="val 6668"/>
            </a:avLst>
          </a:prstGeom>
          <a:solidFill>
            <a:srgbClr val="404040"/>
          </a:solidFill>
          <a:ln/>
        </p:spPr>
      </p:sp>
      <p:sp>
        <p:nvSpPr>
          <p:cNvPr id="5" name="Text 2"/>
          <p:cNvSpPr/>
          <p:nvPr/>
        </p:nvSpPr>
        <p:spPr>
          <a:xfrm>
            <a:off x="4693801" y="4631531"/>
            <a:ext cx="211098" cy="3702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900"/>
              </a:lnSpc>
              <a:buNone/>
            </a:pPr>
            <a:r>
              <a:rPr lang="en-US" sz="2900" spc="-87" kern="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1</a:t>
            </a:r>
            <a:endParaRPr lang="en-US" sz="2900" dirty="0"/>
          </a:p>
        </p:txBody>
      </p:sp>
      <p:sp>
        <p:nvSpPr>
          <p:cNvPr id="6" name="Text 3"/>
          <p:cNvSpPr/>
          <p:nvPr/>
        </p:nvSpPr>
        <p:spPr>
          <a:xfrm>
            <a:off x="5323880" y="4539020"/>
            <a:ext cx="3694748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3000"/>
              </a:lnSpc>
              <a:buNone/>
            </a:pPr>
            <a:r>
              <a:rPr lang="en-US" sz="2400" spc="-73" kern="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Organización de Datos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5323880" y="5072896"/>
            <a:ext cx="3696772" cy="11851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100"/>
              </a:lnSpc>
              <a:buNone/>
            </a:pPr>
            <a:r>
              <a:rPr lang="en-US" sz="1900" spc="-19" kern="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Permite recopilar y almacenar información de manera estructurada y legible.</a:t>
            </a:r>
            <a:endParaRPr lang="en-US" sz="1900" dirty="0"/>
          </a:p>
        </p:txBody>
      </p:sp>
      <p:sp>
        <p:nvSpPr>
          <p:cNvPr id="8" name="Shape 5"/>
          <p:cNvSpPr/>
          <p:nvPr/>
        </p:nvSpPr>
        <p:spPr>
          <a:xfrm>
            <a:off x="9267468" y="4539020"/>
            <a:ext cx="555427" cy="555427"/>
          </a:xfrm>
          <a:prstGeom prst="roundRect">
            <a:avLst>
              <a:gd name="adj" fmla="val 6668"/>
            </a:avLst>
          </a:prstGeom>
          <a:solidFill>
            <a:srgbClr val="404040"/>
          </a:solidFill>
          <a:ln/>
        </p:spPr>
      </p:sp>
      <p:sp>
        <p:nvSpPr>
          <p:cNvPr id="9" name="Text 6"/>
          <p:cNvSpPr/>
          <p:nvPr/>
        </p:nvSpPr>
        <p:spPr>
          <a:xfrm>
            <a:off x="9439632" y="4631531"/>
            <a:ext cx="211098" cy="3702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900"/>
              </a:lnSpc>
              <a:buNone/>
            </a:pPr>
            <a:r>
              <a:rPr lang="en-US" sz="2900" spc="-87" kern="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2</a:t>
            </a:r>
            <a:endParaRPr lang="en-US" sz="2900" dirty="0"/>
          </a:p>
        </p:txBody>
      </p:sp>
      <p:sp>
        <p:nvSpPr>
          <p:cNvPr id="10" name="Text 7"/>
          <p:cNvSpPr/>
          <p:nvPr/>
        </p:nvSpPr>
        <p:spPr>
          <a:xfrm>
            <a:off x="10069711" y="4539020"/>
            <a:ext cx="3694748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3000"/>
              </a:lnSpc>
              <a:buNone/>
            </a:pPr>
            <a:r>
              <a:rPr lang="en-US" sz="2400" spc="-73" kern="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Facilidad de Análisis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10069711" y="5072896"/>
            <a:ext cx="3696772" cy="15801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100"/>
              </a:lnSpc>
              <a:buNone/>
            </a:pPr>
            <a:r>
              <a:rPr lang="en-US" sz="1900" spc="-19" kern="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Los datos recopilados con formularios son fáciles de analizar y visualizar mediante gráficos y tablas dinámicas.</a:t>
            </a:r>
            <a:endParaRPr lang="en-US" sz="1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4037" y="1618298"/>
            <a:ext cx="12902327" cy="1543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6050"/>
              </a:lnSpc>
              <a:buNone/>
            </a:pPr>
            <a:r>
              <a:rPr lang="en-US" sz="4850" spc="-146" kern="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Pasos para crear un formulario en Microsoft Excel</a:t>
            </a:r>
            <a:endParaRPr lang="en-US" sz="4850" dirty="0"/>
          </a:p>
        </p:txBody>
      </p:sp>
      <p:sp>
        <p:nvSpPr>
          <p:cNvPr id="3" name="Text 1"/>
          <p:cNvSpPr/>
          <p:nvPr/>
        </p:nvSpPr>
        <p:spPr>
          <a:xfrm>
            <a:off x="864037" y="3778448"/>
            <a:ext cx="6266021" cy="8146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6400"/>
              </a:lnSpc>
              <a:buNone/>
            </a:pPr>
            <a:r>
              <a:rPr lang="en-US" sz="6400" spc="-192" kern="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1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1533882" y="4901565"/>
            <a:ext cx="4926330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000"/>
              </a:lnSpc>
              <a:buNone/>
            </a:pPr>
            <a:r>
              <a:rPr lang="en-US" sz="2400" spc="-73" kern="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Abre un Nuevo Libro de Excel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64037" y="5435441"/>
            <a:ext cx="6266021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100"/>
              </a:lnSpc>
              <a:buNone/>
            </a:pPr>
            <a:r>
              <a:rPr lang="en-US" sz="1900" spc="-19" kern="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Comienza creando un nuevo libro de trabajo en Excel para diseñar el formulario.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7500342" y="3778448"/>
            <a:ext cx="6266021" cy="8146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6400"/>
              </a:lnSpc>
              <a:buNone/>
            </a:pPr>
            <a:r>
              <a:rPr lang="en-US" sz="6400" spc="-192" kern="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2</a:t>
            </a:r>
            <a:endParaRPr lang="en-US" sz="6400" dirty="0"/>
          </a:p>
        </p:txBody>
      </p:sp>
      <p:sp>
        <p:nvSpPr>
          <p:cNvPr id="7" name="Text 5"/>
          <p:cNvSpPr/>
          <p:nvPr/>
        </p:nvSpPr>
        <p:spPr>
          <a:xfrm>
            <a:off x="7500342" y="4901565"/>
            <a:ext cx="6266021" cy="771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000"/>
              </a:lnSpc>
              <a:buNone/>
            </a:pPr>
            <a:r>
              <a:rPr lang="en-US" sz="2400" spc="-73" kern="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Selecciona la Pestaña 'Desarrollador'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7500342" y="5821204"/>
            <a:ext cx="6266021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100"/>
              </a:lnSpc>
              <a:buNone/>
            </a:pPr>
            <a:r>
              <a:rPr lang="en-US" sz="1900" spc="-19" kern="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Asegúrate de que la pestaña de desarrollador esté habilitada para acceder a las funciones de formulario.</a:t>
            </a:r>
            <a:endParaRPr lang="en-US" sz="1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8909" y="627698"/>
            <a:ext cx="13032581" cy="14266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600"/>
              </a:lnSpc>
              <a:buNone/>
            </a:pPr>
            <a:r>
              <a:rPr lang="en-US" sz="4450" spc="-135" kern="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Ejemplos de formularios en Microsoft Excel</a:t>
            </a:r>
            <a:endParaRPr lang="en-US" sz="4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8909" y="2510790"/>
            <a:ext cx="6345079" cy="392144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8909" y="6717506"/>
            <a:ext cx="4878943" cy="356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spc="-67" kern="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Formulario de Entrada de Datos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98909" y="7211139"/>
            <a:ext cx="6345079" cy="7303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spc="-18" kern="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 ejemplo de un formulario simple para la introducción de datos específicos.</a:t>
            </a:r>
            <a:endParaRPr lang="en-US" sz="17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86412" y="2510790"/>
            <a:ext cx="6345079" cy="392144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486412" y="6717506"/>
            <a:ext cx="3577947" cy="356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spc="-67" kern="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Formulario Interactivo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7486412" y="7211139"/>
            <a:ext cx="6345079" cy="7303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spc="-18" kern="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 formulario avanzado con características interactivas y opciones seleccionables.</a:t>
            </a:r>
            <a:endParaRPr lang="en-US" sz="1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4037" y="3087053"/>
            <a:ext cx="10204490" cy="771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6050"/>
              </a:lnSpc>
              <a:buNone/>
            </a:pPr>
            <a:r>
              <a:rPr lang="en-US" sz="4850" spc="-146" kern="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¿Qué son los macros en Excel?</a:t>
            </a:r>
            <a:endParaRPr lang="en-US" sz="4850" dirty="0"/>
          </a:p>
        </p:txBody>
      </p:sp>
      <p:sp>
        <p:nvSpPr>
          <p:cNvPr id="3" name="Text 1"/>
          <p:cNvSpPr/>
          <p:nvPr/>
        </p:nvSpPr>
        <p:spPr>
          <a:xfrm>
            <a:off x="864037" y="4352330"/>
            <a:ext cx="12902327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100"/>
              </a:lnSpc>
              <a:buNone/>
            </a:pPr>
            <a:r>
              <a:rPr lang="en-US" sz="1900" spc="-19" kern="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Los macros son secuencias de comandos que automatizan tareas repetitivas en Excel. Pueden ser muy útiles para ahorrar tiempo.</a:t>
            </a:r>
            <a:endParaRPr lang="en-US" sz="1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76293" y="1179909"/>
            <a:ext cx="7277814" cy="586966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4037" y="1894403"/>
            <a:ext cx="10556319" cy="771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6050"/>
              </a:lnSpc>
              <a:buNone/>
            </a:pPr>
            <a:r>
              <a:rPr lang="en-US" sz="4850" spc="-146" kern="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Conclusiones y recomendaciones</a:t>
            </a:r>
            <a:endParaRPr lang="en-US" sz="4850" dirty="0"/>
          </a:p>
        </p:txBody>
      </p:sp>
      <p:sp>
        <p:nvSpPr>
          <p:cNvPr id="3" name="Text 1"/>
          <p:cNvSpPr/>
          <p:nvPr/>
        </p:nvSpPr>
        <p:spPr>
          <a:xfrm>
            <a:off x="864037" y="3283029"/>
            <a:ext cx="5805964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3000"/>
              </a:lnSpc>
              <a:buNone/>
            </a:pPr>
            <a:r>
              <a:rPr lang="en-US" sz="2400" spc="-73" kern="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Optimización de Flujos de Trabajo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64037" y="3915608"/>
            <a:ext cx="6150054" cy="11851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100"/>
              </a:lnSpc>
              <a:buNone/>
            </a:pPr>
            <a:r>
              <a:rPr lang="en-US" sz="1900" spc="-19" kern="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El uso de formularios en Microsoft Excel puede mejorar la eficiencia y organización de diferentes tareas y procesos.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864037" y="5322927"/>
            <a:ext cx="6150054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100"/>
              </a:lnSpc>
              <a:buNone/>
            </a:pPr>
            <a:r>
              <a:rPr lang="en-US" sz="1900" spc="-19" kern="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Recomendamos explorar las capacidades de formularios para simplificar la recopilación y análisis de datos.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7623929" y="3283029"/>
            <a:ext cx="5981938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3000"/>
              </a:lnSpc>
              <a:buNone/>
            </a:pPr>
            <a:r>
              <a:rPr lang="en-US" sz="2400" spc="-73" kern="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Implementación en Diversos Ámbitos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7623929" y="3915608"/>
            <a:ext cx="6150054" cy="11851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100"/>
              </a:lnSpc>
              <a:buNone/>
            </a:pPr>
            <a:r>
              <a:rPr lang="en-US" sz="1900" spc="-19" kern="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Los formularios en Excel pueden ser aplicados en empresas, investigación, educación y otras áreas para gestionar información de manera efectiva.</a:t>
            </a:r>
            <a:endParaRPr lang="en-US" sz="1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2024-11-03T16:40:51Z</dcterms:created>
  <dcterms:modified xsi:type="dcterms:W3CDTF">2024-11-03T16:40:51Z</dcterms:modified>
</cp:coreProperties>
</file>